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6" r:id="rId3"/>
  </p:sldMasterIdLst>
  <p:notesMasterIdLst>
    <p:notesMasterId r:id="rId38"/>
  </p:notesMasterIdLst>
  <p:handoutMasterIdLst>
    <p:handoutMasterId r:id="rId39"/>
  </p:handoutMasterIdLst>
  <p:sldIdLst>
    <p:sldId id="277" r:id="rId4"/>
    <p:sldId id="283" r:id="rId5"/>
    <p:sldId id="6216" r:id="rId6"/>
    <p:sldId id="5478" r:id="rId7"/>
    <p:sldId id="5475" r:id="rId8"/>
    <p:sldId id="257" r:id="rId9"/>
    <p:sldId id="258" r:id="rId10"/>
    <p:sldId id="6217" r:id="rId11"/>
    <p:sldId id="259" r:id="rId12"/>
    <p:sldId id="6220" r:id="rId13"/>
    <p:sldId id="6221" r:id="rId14"/>
    <p:sldId id="6222" r:id="rId15"/>
    <p:sldId id="281" r:id="rId16"/>
    <p:sldId id="261" r:id="rId17"/>
    <p:sldId id="262" r:id="rId18"/>
    <p:sldId id="6223" r:id="rId19"/>
    <p:sldId id="290" r:id="rId20"/>
    <p:sldId id="263" r:id="rId21"/>
    <p:sldId id="6224" r:id="rId22"/>
    <p:sldId id="305" r:id="rId23"/>
    <p:sldId id="306" r:id="rId24"/>
    <p:sldId id="307" r:id="rId25"/>
    <p:sldId id="308" r:id="rId26"/>
    <p:sldId id="309" r:id="rId27"/>
    <p:sldId id="4794" r:id="rId28"/>
    <p:sldId id="4795" r:id="rId29"/>
    <p:sldId id="4796" r:id="rId30"/>
    <p:sldId id="5671" r:id="rId31"/>
    <p:sldId id="264" r:id="rId32"/>
    <p:sldId id="6225" r:id="rId33"/>
    <p:sldId id="5740" r:id="rId34"/>
    <p:sldId id="6026" r:id="rId35"/>
    <p:sldId id="6027" r:id="rId36"/>
    <p:sldId id="6182" r:id="rId37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3399FF"/>
    <a:srgbClr val="FFFF66"/>
    <a:srgbClr val="FFFF00"/>
    <a:srgbClr val="66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3" d="100"/>
          <a:sy n="73" d="100"/>
        </p:scale>
        <p:origin x="356" y="3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  <a:t>‹#›</a:t>
            </a:fld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单击以编辑母版文本样式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  <a:t>‹#›</a:t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E584D-DA30-42E6-B6AB-C9D2BEA4D81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931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CE584D-DA30-42E6-B6AB-C9D2BEA4D8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9586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1.png"/><Relationship Id="rId4" Type="http://schemas.openxmlformats.org/officeDocument/2006/relationships/tags" Target="../tags/tag5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2.xml"/><Relationship Id="rId7" Type="http://schemas.openxmlformats.org/officeDocument/2006/relationships/image" Target="../media/image3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2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10" Type="http://schemas.openxmlformats.org/officeDocument/2006/relationships/image" Target="../media/image1.png"/><Relationship Id="rId4" Type="http://schemas.openxmlformats.org/officeDocument/2006/relationships/tags" Target="../tags/tag49.xml"/><Relationship Id="rId9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image" Target="../media/image1.png"/><Relationship Id="rId5" Type="http://schemas.openxmlformats.org/officeDocument/2006/relationships/tags" Target="../tags/tag58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57.xml"/><Relationship Id="rId9" Type="http://schemas.openxmlformats.org/officeDocument/2006/relationships/tags" Target="../tags/tag6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image" Target="../media/image1.png"/><Relationship Id="rId5" Type="http://schemas.openxmlformats.org/officeDocument/2006/relationships/tags" Target="../tags/tag67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66.xml"/><Relationship Id="rId9" Type="http://schemas.openxmlformats.org/officeDocument/2006/relationships/tags" Target="../tags/tag7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image" Target="../media/image1.png"/><Relationship Id="rId5" Type="http://schemas.openxmlformats.org/officeDocument/2006/relationships/tags" Target="../tags/tag76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75.xml"/><Relationship Id="rId9" Type="http://schemas.openxmlformats.org/officeDocument/2006/relationships/tags" Target="../tags/tag8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13" Type="http://schemas.openxmlformats.org/officeDocument/2006/relationships/image" Target="../media/image1.png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12" Type="http://schemas.openxmlformats.org/officeDocument/2006/relationships/slideMaster" Target="../slideMasters/slideMaster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5" Type="http://schemas.openxmlformats.org/officeDocument/2006/relationships/tags" Target="../tags/tag85.xml"/><Relationship Id="rId10" Type="http://schemas.openxmlformats.org/officeDocument/2006/relationships/tags" Target="../tags/tag90.xml"/><Relationship Id="rId4" Type="http://schemas.openxmlformats.org/officeDocument/2006/relationships/tags" Target="../tags/tag84.xml"/><Relationship Id="rId9" Type="http://schemas.openxmlformats.org/officeDocument/2006/relationships/tags" Target="../tags/tag89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10" Type="http://schemas.openxmlformats.org/officeDocument/2006/relationships/image" Target="../media/image1.png"/><Relationship Id="rId4" Type="http://schemas.openxmlformats.org/officeDocument/2006/relationships/tags" Target="../tags/tag95.xml"/><Relationship Id="rId9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5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Calibri" panose="020F0502020204030204" pitchFamily="34" charset="0"/>
              </a:rPr>
              <a:t>‹#›</a:t>
            </a:fld>
            <a:r>
              <a:rPr lang="en-US" altLang="zh-CN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/28</a:t>
            </a:r>
            <a:endParaRPr lang="en-US" altLang="zh-CN" sz="1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ll dir="l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Calibri" panose="020F0502020204030204" pitchFamily="34" charset="0"/>
              </a:rPr>
              <a:t>‹#›</a:t>
            </a:fld>
            <a:r>
              <a:rPr lang="en-US" altLang="zh-CN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/28</a:t>
            </a:r>
            <a:endParaRPr lang="en-US" altLang="zh-CN" sz="1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ll dir="l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20950" y="302400"/>
            <a:ext cx="8702097" cy="62531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0" y="302400"/>
            <a:ext cx="540068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982" y="58355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61200" y="1249200"/>
            <a:ext cx="7219800" cy="723600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60835" y="2163600"/>
            <a:ext cx="721995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987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43234"/>
            <a:ext cx="8139178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2447" y="952509"/>
            <a:ext cx="3962432" cy="5388907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9158" y="952509"/>
            <a:ext cx="396243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16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09DBEFC-B148-A61C-F602-CA1CE3E1AF6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9398-3255-4238-B5BE-D23FD56F1D88}" type="slidenum">
              <a:rPr lang="en-US" altLang="zh-CN"/>
              <a:pPr/>
              <a:t>‹#›</a:t>
            </a:fld>
            <a:r>
              <a:rPr lang="en-US" altLang="zh-C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1126524448"/>
      </p:ext>
    </p:extLst>
  </p:cSld>
  <p:clrMapOvr>
    <a:masterClrMapping/>
  </p:clrMapOvr>
  <p:transition spd="med">
    <p:pull dir="l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5F99F87-5761-AE51-3398-4CCD4A69B30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785C93-F471-4668-81FC-169CADC06A9C}" type="slidenum">
              <a:rPr lang="en-US" altLang="zh-CN"/>
              <a:pPr/>
              <a:t>‹#›</a:t>
            </a:fld>
            <a:r>
              <a:rPr lang="en-US" altLang="zh-C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208868853"/>
      </p:ext>
    </p:extLst>
  </p:cSld>
  <p:clrMapOvr>
    <a:masterClrMapping/>
  </p:clrMapOvr>
  <p:transition spd="med">
    <p:pull dir="l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"/>
            <a:ext cx="9144000" cy="6856796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副标题 2"/>
          <p:cNvSpPr>
            <a:spLocks noGrp="1"/>
          </p:cNvSpPr>
          <p:nvPr>
            <p:ph type="subTitle" idx="3" hasCustomPrompt="1"/>
            <p:custDataLst>
              <p:tags r:id="rId2"/>
            </p:custDataLst>
          </p:nvPr>
        </p:nvSpPr>
        <p:spPr>
          <a:xfrm>
            <a:off x="601290" y="3280637"/>
            <a:ext cx="3589744" cy="1291843"/>
          </a:xfrm>
        </p:spPr>
        <p:txBody>
          <a:bodyPr vert="horz" wrap="square" lIns="0" tIns="0" rIns="0" bIns="0" rtlCol="0" anchor="t">
            <a:normAutofit/>
          </a:bodyPr>
          <a:lstStyle>
            <a:lvl1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350" b="0" i="0" u="none" strike="noStrike" kern="1200" cap="none" spc="15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3429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sz="150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6858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35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0287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20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3716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20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3" name="标题 4"/>
          <p:cNvSpPr>
            <a:spLocks noGrp="1"/>
          </p:cNvSpPr>
          <p:nvPr>
            <p:ph type="ctrTitle" idx="2" hasCustomPrompt="1"/>
            <p:custDataLst>
              <p:tags r:id="rId3"/>
            </p:custDataLst>
          </p:nvPr>
        </p:nvSpPr>
        <p:spPr>
          <a:xfrm>
            <a:off x="571504" y="2285526"/>
            <a:ext cx="3619529" cy="833120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3675" b="1" i="0" u="none" strike="noStrike" kern="1200" cap="none" spc="45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</p:spTree>
    <p:extLst>
      <p:ext uri="{BB962C8B-B14F-4D97-AF65-F5344CB8AC3E}">
        <p14:creationId xmlns:p14="http://schemas.microsoft.com/office/powerpoint/2010/main" val="3636555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43234"/>
            <a:ext cx="8139178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412" y="952509"/>
            <a:ext cx="8139178" cy="5388907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993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161365" y="1811319"/>
            <a:ext cx="1650602" cy="32353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72009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ctrTitle" idx="2" hasCustomPrompt="1"/>
            <p:custDataLst>
              <p:tags r:id="rId4"/>
            </p:custDataLst>
          </p:nvPr>
        </p:nvSpPr>
        <p:spPr>
          <a:xfrm>
            <a:off x="3619529" y="3808212"/>
            <a:ext cx="5143500" cy="543560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2063" b="1" i="0" u="none" strike="noStrike" kern="1200" cap="none" spc="225" normalizeH="0" baseline="0" noProof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副标题 2"/>
          <p:cNvSpPr>
            <a:spLocks noGrp="1"/>
          </p:cNvSpPr>
          <p:nvPr>
            <p:ph type="subTitle" idx="3" hasCustomPrompt="1"/>
            <p:custDataLst>
              <p:tags r:id="rId5"/>
            </p:custDataLst>
          </p:nvPr>
        </p:nvSpPr>
        <p:spPr>
          <a:xfrm>
            <a:off x="3619529" y="4461627"/>
            <a:ext cx="5143500" cy="1318880"/>
          </a:xfrm>
        </p:spPr>
        <p:txBody>
          <a:bodyPr vert="horz" wrap="square" lIns="0" tIns="0" rIns="0" bIns="0" rtlCol="0">
            <a:normAutofit/>
          </a:bodyPr>
          <a:lstStyle>
            <a:lvl1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sz="1500" u="none" strike="noStrike" kern="1200" cap="none" spc="113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2pPr>
            <a:lvl3pPr marL="68580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350" u="none" strike="noStrike" kern="1200" cap="none" spc="113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3pPr>
            <a:lvl4pPr marL="102870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200" u="none" strike="noStrike" kern="1200" cap="none" spc="113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4pPr>
            <a:lvl5pPr marL="137160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200" u="none" strike="noStrike" kern="1200" cap="none" spc="113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</p:spTree>
    <p:extLst>
      <p:ext uri="{BB962C8B-B14F-4D97-AF65-F5344CB8AC3E}">
        <p14:creationId xmlns:p14="http://schemas.microsoft.com/office/powerpoint/2010/main" val="1171514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43234"/>
            <a:ext cx="8139178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2447" y="952509"/>
            <a:ext cx="3962432" cy="5388907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9158" y="952509"/>
            <a:ext cx="396243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528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43234"/>
            <a:ext cx="8139178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502447" y="952509"/>
            <a:ext cx="396243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444" y="1406525"/>
            <a:ext cx="3962400" cy="4934752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76812" y="952509"/>
            <a:ext cx="396243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76812" y="1406525"/>
            <a:ext cx="3962432" cy="4934752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573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59203" y="1234440"/>
            <a:ext cx="2239230" cy="4389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9411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730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48" y="443234"/>
            <a:ext cx="8139178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02447" y="952509"/>
            <a:ext cx="396243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79194" y="952509"/>
            <a:ext cx="3962432" cy="5388907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2024/5/18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671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28351" y="952509"/>
            <a:ext cx="713238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2444" y="952501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298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02448" y="952509"/>
            <a:ext cx="8139178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76643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"/>
            <a:ext cx="9144000" cy="6856796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71504" y="3436286"/>
            <a:ext cx="3619529" cy="1326554"/>
          </a:xfrm>
        </p:spPr>
        <p:txBody>
          <a:bodyPr vert="horz" wrap="square" lIns="0" tIns="0" rIns="0" bIns="0" rtlCol="0" anchor="t">
            <a:normAutofit/>
          </a:bodyPr>
          <a:lstStyle>
            <a:lvl1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500" b="0" i="0" u="none" strike="noStrike" kern="1200" cap="none" spc="15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3429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sz="150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6858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35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0287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20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3716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20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7" name="标题 4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71505" y="2095167"/>
            <a:ext cx="3619052" cy="120459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5273" b="1" i="0" u="none" strike="noStrike" kern="1200" cap="none" spc="525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</p:spTree>
    <p:extLst>
      <p:ext uri="{BB962C8B-B14F-4D97-AF65-F5344CB8AC3E}">
        <p14:creationId xmlns:p14="http://schemas.microsoft.com/office/powerpoint/2010/main" val="34126196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58800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20950" y="302400"/>
            <a:ext cx="8702097" cy="62531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0" y="302400"/>
            <a:ext cx="540068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982" y="58355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61200" y="1249200"/>
            <a:ext cx="7219800" cy="723600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60835" y="2163600"/>
            <a:ext cx="721995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04431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3620691" cy="68687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37400" y="770400"/>
            <a:ext cx="2970000" cy="882000"/>
          </a:xfrm>
        </p:spPr>
        <p:txBody>
          <a:bodyPr anchor="ctr" anchorCtr="0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440100" y="1764000"/>
            <a:ext cx="29673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3825900" y="769939"/>
            <a:ext cx="486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800702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9142200" cy="266039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00"/>
            <a:ext cx="540068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9000" y="781200"/>
            <a:ext cx="8232300" cy="626400"/>
          </a:xfrm>
        </p:spPr>
        <p:txBody>
          <a:bodyPr anchor="ctr"/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459000" y="1659600"/>
            <a:ext cx="8231981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459581" y="2808000"/>
            <a:ext cx="82242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137788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5029200"/>
            <a:ext cx="9142200" cy="182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3600" y="669600"/>
            <a:ext cx="8232300" cy="565200"/>
          </a:xfrm>
        </p:spPr>
        <p:txBody>
          <a:bodyPr anchor="ctr" anchorCtr="0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453628" y="1681200"/>
            <a:ext cx="82431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445500" y="5180400"/>
            <a:ext cx="82512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481230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9142200" cy="91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34700" y="237600"/>
            <a:ext cx="82782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434700" y="1663200"/>
            <a:ext cx="40068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4681800" y="1663200"/>
            <a:ext cx="40257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429300" y="4816800"/>
            <a:ext cx="40068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4689900" y="4813200"/>
            <a:ext cx="40257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230244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959401"/>
            <a:ext cx="9142200" cy="49391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046" y="-10801"/>
            <a:ext cx="1315145" cy="175352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104462"/>
            <a:ext cx="1315145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42100" y="1339200"/>
            <a:ext cx="6858000" cy="2386800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141810" y="3862800"/>
            <a:ext cx="6858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395775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>
            <a:off x="8468196" y="6595549"/>
            <a:ext cx="185166" cy="246888"/>
          </a:xfrm>
          <a:prstGeom prst="ellipse">
            <a:avLst/>
          </a:prstGeom>
          <a:solidFill>
            <a:srgbClr val="1387B7"/>
          </a:solidFill>
          <a:ln>
            <a:solidFill>
              <a:srgbClr val="138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65867" y="257615"/>
            <a:ext cx="7886700" cy="617641"/>
          </a:xfrm>
        </p:spPr>
        <p:txBody>
          <a:bodyPr>
            <a:normAutofit/>
          </a:bodyPr>
          <a:lstStyle>
            <a:lvl1pPr>
              <a:defRPr sz="2100" b="1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8572" y="6692475"/>
            <a:ext cx="9135428" cy="169469"/>
          </a:xfrm>
          <a:prstGeom prst="rect">
            <a:avLst/>
          </a:prstGeom>
          <a:solidFill>
            <a:srgbClr val="138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矩形 4"/>
          <p:cNvSpPr/>
          <p:nvPr userDrawn="1"/>
        </p:nvSpPr>
        <p:spPr>
          <a:xfrm>
            <a:off x="-953" y="6692475"/>
            <a:ext cx="569415" cy="169469"/>
          </a:xfrm>
          <a:prstGeom prst="rect">
            <a:avLst/>
          </a:prstGeom>
          <a:solidFill>
            <a:srgbClr val="2E4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灯片编号占位符 3"/>
          <p:cNvSpPr txBox="1"/>
          <p:nvPr userDrawn="1"/>
        </p:nvSpPr>
        <p:spPr>
          <a:xfrm>
            <a:off x="8451256" y="6589900"/>
            <a:ext cx="219046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183D58-648D-4475-BEF8-624F48514A30}" type="slidenum">
              <a:rPr lang="zh-CN" altLang="en-US" sz="9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‹#›</a:t>
            </a:fld>
            <a:endParaRPr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65867" y="942764"/>
            <a:ext cx="7886699" cy="5637024"/>
          </a:xfrm>
          <a:prstGeom prst="rect">
            <a:avLst/>
          </a:prstGeom>
        </p:spPr>
        <p:txBody>
          <a:bodyPr/>
          <a:lstStyle>
            <a:lvl1pPr marL="257175" indent="-257175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19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-26670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15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857250" indent="-17145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任意多边形 20"/>
          <p:cNvSpPr/>
          <p:nvPr userDrawn="1"/>
        </p:nvSpPr>
        <p:spPr>
          <a:xfrm flipV="1">
            <a:off x="244929" y="359908"/>
            <a:ext cx="1040092" cy="4320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463083" y="6665667"/>
            <a:ext cx="1035206" cy="25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05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21" Type="http://schemas.openxmlformats.org/officeDocument/2006/relationships/tags" Target="../tags/tag12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23" Type="http://schemas.openxmlformats.org/officeDocument/2006/relationships/tags" Target="../tags/tag14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Relationship Id="rId22" Type="http://schemas.openxmlformats.org/officeDocument/2006/relationships/tags" Target="../tags/tag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1589"/>
            <a:ext cx="9132888" cy="6845300"/>
            <a:chOff x="0" y="1"/>
            <a:chExt cx="5753" cy="4312"/>
          </a:xfrm>
        </p:grpSpPr>
        <p:sp>
          <p:nvSpPr>
            <p:cNvPr id="54275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l" defTabSz="9143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9" name="Arc 4"/>
            <p:cNvSpPr/>
            <p:nvPr/>
          </p:nvSpPr>
          <p:spPr>
            <a:xfrm>
              <a:off x="0" y="1"/>
              <a:ext cx="5298" cy="43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9" y="172"/>
                </a:cxn>
                <a:cxn ang="0">
                  <a:pos x="0" y="172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542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27992" y="6400800"/>
            <a:ext cx="1116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6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Calibri" panose="020F0502020204030204" pitchFamily="34" charset="0"/>
              </a:rPr>
              <a:t>‹#›</a:t>
            </a:fld>
            <a:r>
              <a:rPr lang="en-US" altLang="zh-CN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/28</a:t>
            </a:r>
            <a:endParaRPr lang="en-US" altLang="zh-CN" sz="1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transition spd="med">
    <p:pull dir="l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189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377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566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754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4CFDE00E-66E9-BB27-18BC-8074AC85C92E}"/>
              </a:ext>
            </a:extLst>
          </p:cNvPr>
          <p:cNvGrpSpPr>
            <a:grpSpLocks/>
          </p:cNvGrpSpPr>
          <p:nvPr/>
        </p:nvGrpSpPr>
        <p:grpSpPr bwMode="auto"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54275" name="Freeform 3">
              <a:extLst>
                <a:ext uri="{FF2B5EF4-FFF2-40B4-BE49-F238E27FC236}">
                  <a16:creationId xmlns:a16="http://schemas.microsoft.com/office/drawing/2014/main" id="{578012D1-F55C-C7E4-607A-406DF8641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29" name="Arc 4">
              <a:extLst>
                <a:ext uri="{FF2B5EF4-FFF2-40B4-BE49-F238E27FC236}">
                  <a16:creationId xmlns:a16="http://schemas.microsoft.com/office/drawing/2014/main" id="{86BC0221-46F5-1A56-715F-9D14415B0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T0" fmla="*/ 0 w 21600"/>
                <a:gd name="T1" fmla="*/ 0 h 21600"/>
                <a:gd name="T2" fmla="*/ 319 w 21600"/>
                <a:gd name="T3" fmla="*/ 172 h 21600"/>
                <a:gd name="T4" fmla="*/ 0 w 21600"/>
                <a:gd name="T5" fmla="*/ 17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54278" name="Rectangle 6">
            <a:extLst>
              <a:ext uri="{FF2B5EF4-FFF2-40B4-BE49-F238E27FC236}">
                <a16:creationId xmlns:a16="http://schemas.microsoft.com/office/drawing/2014/main" id="{0EDA5372-EA0B-44DB-63AB-0B4D31A51D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27988" y="6400800"/>
            <a:ext cx="1116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2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fld id="{7BA9A251-7813-4F85-94C7-9B0EE98D1477}" type="slidenum">
              <a:rPr lang="en-US" altLang="zh-CN"/>
              <a:pPr/>
              <a:t>‹#›</a:t>
            </a:fld>
            <a:r>
              <a:rPr lang="en-US" altLang="zh-C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206711339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ransition spd="med">
    <p:pull dir="lu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502412" y="443230"/>
            <a:ext cx="8139178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502412" y="961398"/>
            <a:ext cx="8139178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6349833"/>
            <a:ext cx="2025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6349833"/>
            <a:ext cx="297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49833"/>
            <a:ext cx="2025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82296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15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113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bd.baidu.com/newspage/data/landingsuper?context=%7B%22nid%22%3A%22news_8797177462503944486%22%7D&amp;n_type=1&amp;p_from=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haokan.baidu.com/v?pd=wisenatural&amp;vid=2759744305447473457" TargetMode="External"/><Relationship Id="rId4" Type="http://schemas.openxmlformats.org/officeDocument/2006/relationships/hyperlink" Target="https://baijiahao.baidu.com/s?id=1761115585887532002&amp;wfr=spider&amp;for=pc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0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0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0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1115061" y="116528"/>
            <a:ext cx="7531100" cy="70788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4.2  </a:t>
            </a:r>
            <a:r>
              <a:rPr kumimoji="1" lang="zh-CN" alt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半导体存储原理及芯片</a:t>
            </a:r>
          </a:p>
        </p:txBody>
      </p:sp>
      <p:sp>
        <p:nvSpPr>
          <p:cNvPr id="2052" name="Text Box 3"/>
          <p:cNvSpPr txBox="1"/>
          <p:nvPr/>
        </p:nvSpPr>
        <p:spPr>
          <a:xfrm>
            <a:off x="0" y="1371605"/>
            <a:ext cx="1600200" cy="5847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ea typeface="黑体" panose="02010609060101010101" pitchFamily="49" charset="-122"/>
              </a:rPr>
              <a:t>工艺</a:t>
            </a:r>
          </a:p>
        </p:txBody>
      </p:sp>
      <p:sp>
        <p:nvSpPr>
          <p:cNvPr id="2053" name="AutoShape 4"/>
          <p:cNvSpPr/>
          <p:nvPr/>
        </p:nvSpPr>
        <p:spPr>
          <a:xfrm>
            <a:off x="1066800" y="1143000"/>
            <a:ext cx="152400" cy="1600200"/>
          </a:xfrm>
          <a:prstGeom prst="leftBrace">
            <a:avLst>
              <a:gd name="adj1" fmla="val 87500"/>
              <a:gd name="adj2" fmla="val 50000"/>
            </a:avLst>
          </a:prstGeom>
          <a:noFill/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2054" name="Text Box 5"/>
          <p:cNvSpPr txBox="1"/>
          <p:nvPr/>
        </p:nvSpPr>
        <p:spPr>
          <a:xfrm>
            <a:off x="1295400" y="914405"/>
            <a:ext cx="22860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双极型</a:t>
            </a:r>
          </a:p>
        </p:txBody>
      </p:sp>
      <p:sp>
        <p:nvSpPr>
          <p:cNvPr id="2055" name="Text Box 6"/>
          <p:cNvSpPr txBox="1"/>
          <p:nvPr/>
        </p:nvSpPr>
        <p:spPr>
          <a:xfrm>
            <a:off x="1219200" y="2438405"/>
            <a:ext cx="17526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MOS</a:t>
            </a: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</a:p>
        </p:txBody>
      </p:sp>
      <p:sp>
        <p:nvSpPr>
          <p:cNvPr id="2056" name="AutoShape 7"/>
          <p:cNvSpPr/>
          <p:nvPr/>
        </p:nvSpPr>
        <p:spPr>
          <a:xfrm>
            <a:off x="2819400" y="914400"/>
            <a:ext cx="152400" cy="762000"/>
          </a:xfrm>
          <a:prstGeom prst="leftBrace">
            <a:avLst>
              <a:gd name="adj1" fmla="val 41666"/>
              <a:gd name="adj2" fmla="val 50000"/>
            </a:avLst>
          </a:prstGeom>
          <a:noFill/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2057" name="Text Box 8"/>
          <p:cNvSpPr txBox="1"/>
          <p:nvPr/>
        </p:nvSpPr>
        <p:spPr>
          <a:xfrm>
            <a:off x="3124200" y="685805"/>
            <a:ext cx="22860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TTL</a:t>
            </a: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</a:p>
        </p:txBody>
      </p:sp>
      <p:sp>
        <p:nvSpPr>
          <p:cNvPr id="2058" name="Text Box 9"/>
          <p:cNvSpPr txBox="1"/>
          <p:nvPr/>
        </p:nvSpPr>
        <p:spPr>
          <a:xfrm>
            <a:off x="3124200" y="1219205"/>
            <a:ext cx="19050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ECL</a:t>
            </a: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</a:p>
        </p:txBody>
      </p:sp>
      <p:grpSp>
        <p:nvGrpSpPr>
          <p:cNvPr id="2059" name="Group 10"/>
          <p:cNvGrpSpPr/>
          <p:nvPr/>
        </p:nvGrpSpPr>
        <p:grpSpPr>
          <a:xfrm>
            <a:off x="4419600" y="990600"/>
            <a:ext cx="381000" cy="457200"/>
            <a:chOff x="2784" y="624"/>
            <a:chExt cx="240" cy="288"/>
          </a:xfrm>
        </p:grpSpPr>
        <p:sp>
          <p:nvSpPr>
            <p:cNvPr id="2089" name="Line 11"/>
            <p:cNvSpPr/>
            <p:nvPr/>
          </p:nvSpPr>
          <p:spPr>
            <a:xfrm>
              <a:off x="2784" y="624"/>
              <a:ext cx="240" cy="9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90" name="Line 12"/>
            <p:cNvSpPr/>
            <p:nvPr/>
          </p:nvSpPr>
          <p:spPr>
            <a:xfrm flipV="1">
              <a:off x="2784" y="720"/>
              <a:ext cx="240" cy="19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060" name="Text Box 13"/>
          <p:cNvSpPr txBox="1"/>
          <p:nvPr/>
        </p:nvSpPr>
        <p:spPr>
          <a:xfrm>
            <a:off x="4876800" y="838205"/>
            <a:ext cx="26670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速度很快、</a:t>
            </a:r>
          </a:p>
        </p:txBody>
      </p:sp>
      <p:sp>
        <p:nvSpPr>
          <p:cNvPr id="2061" name="Text Box 14"/>
          <p:cNvSpPr txBox="1"/>
          <p:nvPr/>
        </p:nvSpPr>
        <p:spPr>
          <a:xfrm>
            <a:off x="6858000" y="838205"/>
            <a:ext cx="19050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功耗大、</a:t>
            </a:r>
          </a:p>
        </p:txBody>
      </p:sp>
      <p:sp>
        <p:nvSpPr>
          <p:cNvPr id="2062" name="Text Box 15"/>
          <p:cNvSpPr txBox="1"/>
          <p:nvPr/>
        </p:nvSpPr>
        <p:spPr>
          <a:xfrm>
            <a:off x="4876800" y="1295405"/>
            <a:ext cx="19050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容量小</a:t>
            </a:r>
          </a:p>
        </p:txBody>
      </p:sp>
      <p:sp>
        <p:nvSpPr>
          <p:cNvPr id="2063" name="AutoShape 16"/>
          <p:cNvSpPr/>
          <p:nvPr/>
        </p:nvSpPr>
        <p:spPr>
          <a:xfrm>
            <a:off x="2438400" y="2286000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2064" name="Text Box 17"/>
          <p:cNvSpPr txBox="1"/>
          <p:nvPr/>
        </p:nvSpPr>
        <p:spPr>
          <a:xfrm>
            <a:off x="2590800" y="2057404"/>
            <a:ext cx="19050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电路结构</a:t>
            </a:r>
          </a:p>
        </p:txBody>
      </p:sp>
      <p:sp>
        <p:nvSpPr>
          <p:cNvPr id="2065" name="AutoShape 18"/>
          <p:cNvSpPr/>
          <p:nvPr/>
        </p:nvSpPr>
        <p:spPr>
          <a:xfrm>
            <a:off x="4419600" y="1981200"/>
            <a:ext cx="152400" cy="990600"/>
          </a:xfrm>
          <a:prstGeom prst="leftBrace">
            <a:avLst>
              <a:gd name="adj1" fmla="val 54166"/>
              <a:gd name="adj2" fmla="val 50000"/>
            </a:avLst>
          </a:prstGeom>
          <a:noFill/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2066" name="Text Box 19"/>
          <p:cNvSpPr txBox="1"/>
          <p:nvPr/>
        </p:nvSpPr>
        <p:spPr>
          <a:xfrm>
            <a:off x="4648200" y="1752605"/>
            <a:ext cx="17526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PMOS</a:t>
            </a:r>
          </a:p>
        </p:txBody>
      </p:sp>
      <p:sp>
        <p:nvSpPr>
          <p:cNvPr id="2067" name="Text Box 20"/>
          <p:cNvSpPr txBox="1"/>
          <p:nvPr/>
        </p:nvSpPr>
        <p:spPr>
          <a:xfrm>
            <a:off x="4648200" y="2133605"/>
            <a:ext cx="17526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NMOS</a:t>
            </a:r>
          </a:p>
        </p:txBody>
      </p:sp>
      <p:sp>
        <p:nvSpPr>
          <p:cNvPr id="2068" name="Text Box 21"/>
          <p:cNvSpPr txBox="1"/>
          <p:nvPr/>
        </p:nvSpPr>
        <p:spPr>
          <a:xfrm>
            <a:off x="4648200" y="2514605"/>
            <a:ext cx="17526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CMOS</a:t>
            </a:r>
          </a:p>
        </p:txBody>
      </p:sp>
      <p:sp>
        <p:nvSpPr>
          <p:cNvPr id="2069" name="Text Box 22"/>
          <p:cNvSpPr txBox="1"/>
          <p:nvPr/>
        </p:nvSpPr>
        <p:spPr>
          <a:xfrm>
            <a:off x="6019800" y="1905005"/>
            <a:ext cx="19050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功耗小、</a:t>
            </a:r>
          </a:p>
        </p:txBody>
      </p:sp>
      <p:sp>
        <p:nvSpPr>
          <p:cNvPr id="2070" name="Text Box 23"/>
          <p:cNvSpPr txBox="1"/>
          <p:nvPr/>
        </p:nvSpPr>
        <p:spPr>
          <a:xfrm>
            <a:off x="7543800" y="1905005"/>
            <a:ext cx="19050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容量大</a:t>
            </a:r>
          </a:p>
        </p:txBody>
      </p:sp>
      <p:grpSp>
        <p:nvGrpSpPr>
          <p:cNvPr id="2071" name="Group 24"/>
          <p:cNvGrpSpPr/>
          <p:nvPr/>
        </p:nvGrpSpPr>
        <p:grpSpPr>
          <a:xfrm>
            <a:off x="5638800" y="2209800"/>
            <a:ext cx="381000" cy="457200"/>
            <a:chOff x="2784" y="624"/>
            <a:chExt cx="240" cy="288"/>
          </a:xfrm>
        </p:grpSpPr>
        <p:sp>
          <p:nvSpPr>
            <p:cNvPr id="2087" name="Line 25"/>
            <p:cNvSpPr/>
            <p:nvPr/>
          </p:nvSpPr>
          <p:spPr>
            <a:xfrm>
              <a:off x="2784" y="624"/>
              <a:ext cx="240" cy="9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88" name="Line 26"/>
            <p:cNvSpPr/>
            <p:nvPr/>
          </p:nvSpPr>
          <p:spPr>
            <a:xfrm flipV="1">
              <a:off x="2784" y="720"/>
              <a:ext cx="240" cy="19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072" name="Text Box 27"/>
          <p:cNvSpPr txBox="1"/>
          <p:nvPr/>
        </p:nvSpPr>
        <p:spPr>
          <a:xfrm>
            <a:off x="2590800" y="3124204"/>
            <a:ext cx="19050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工作方式</a:t>
            </a:r>
          </a:p>
        </p:txBody>
      </p:sp>
      <p:sp>
        <p:nvSpPr>
          <p:cNvPr id="2073" name="AutoShape 28"/>
          <p:cNvSpPr/>
          <p:nvPr/>
        </p:nvSpPr>
        <p:spPr>
          <a:xfrm>
            <a:off x="4419600" y="3124200"/>
            <a:ext cx="152400" cy="762000"/>
          </a:xfrm>
          <a:prstGeom prst="leftBrace">
            <a:avLst>
              <a:gd name="adj1" fmla="val 41666"/>
              <a:gd name="adj2" fmla="val 50000"/>
            </a:avLst>
          </a:prstGeom>
          <a:noFill/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2074" name="Text Box 29"/>
          <p:cNvSpPr txBox="1"/>
          <p:nvPr/>
        </p:nvSpPr>
        <p:spPr>
          <a:xfrm>
            <a:off x="4648200" y="2971804"/>
            <a:ext cx="17526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</a:t>
            </a: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MOS</a:t>
            </a:r>
          </a:p>
        </p:txBody>
      </p:sp>
      <p:sp>
        <p:nvSpPr>
          <p:cNvPr id="2075" name="Text Box 30"/>
          <p:cNvSpPr txBox="1"/>
          <p:nvPr/>
        </p:nvSpPr>
        <p:spPr>
          <a:xfrm>
            <a:off x="4648200" y="3459484"/>
            <a:ext cx="17526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</a:t>
            </a: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MOS</a:t>
            </a:r>
          </a:p>
        </p:txBody>
      </p:sp>
      <p:sp>
        <p:nvSpPr>
          <p:cNvPr id="2076" name="Text Box 31"/>
          <p:cNvSpPr txBox="1"/>
          <p:nvPr/>
        </p:nvSpPr>
        <p:spPr>
          <a:xfrm>
            <a:off x="0" y="4343400"/>
            <a:ext cx="1600200" cy="107721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ea typeface="黑体" panose="02010609060101010101" pitchFamily="49" charset="-122"/>
              </a:rPr>
              <a:t>存储信息原理</a:t>
            </a:r>
          </a:p>
        </p:txBody>
      </p:sp>
      <p:sp>
        <p:nvSpPr>
          <p:cNvPr id="2077" name="AutoShape 32"/>
          <p:cNvSpPr/>
          <p:nvPr/>
        </p:nvSpPr>
        <p:spPr>
          <a:xfrm>
            <a:off x="1447800" y="4419600"/>
            <a:ext cx="152400" cy="1295400"/>
          </a:xfrm>
          <a:prstGeom prst="leftBrace">
            <a:avLst>
              <a:gd name="adj1" fmla="val 70833"/>
              <a:gd name="adj2" fmla="val 50000"/>
            </a:avLst>
          </a:prstGeom>
          <a:noFill/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2078" name="Text Box 33"/>
          <p:cNvSpPr txBox="1"/>
          <p:nvPr/>
        </p:nvSpPr>
        <p:spPr>
          <a:xfrm>
            <a:off x="1600200" y="3886204"/>
            <a:ext cx="37338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静态存储器</a:t>
            </a: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SRAM</a:t>
            </a:r>
          </a:p>
        </p:txBody>
      </p:sp>
      <p:sp>
        <p:nvSpPr>
          <p:cNvPr id="2079" name="Text Box 34"/>
          <p:cNvSpPr txBox="1"/>
          <p:nvPr/>
        </p:nvSpPr>
        <p:spPr>
          <a:xfrm>
            <a:off x="1600200" y="5334005"/>
            <a:ext cx="41910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动态存储器</a:t>
            </a: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DRAM</a:t>
            </a:r>
          </a:p>
        </p:txBody>
      </p:sp>
      <p:sp>
        <p:nvSpPr>
          <p:cNvPr id="2080" name="Text Box 35"/>
          <p:cNvSpPr txBox="1"/>
          <p:nvPr/>
        </p:nvSpPr>
        <p:spPr>
          <a:xfrm>
            <a:off x="4343400" y="3886204"/>
            <a:ext cx="50292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（双极型、静态</a:t>
            </a: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MOS</a:t>
            </a: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型）：</a:t>
            </a:r>
          </a:p>
        </p:txBody>
      </p:sp>
      <p:sp>
        <p:nvSpPr>
          <p:cNvPr id="2081" name="Text Box 36"/>
          <p:cNvSpPr txBox="1"/>
          <p:nvPr/>
        </p:nvSpPr>
        <p:spPr>
          <a:xfrm>
            <a:off x="1600200" y="4343400"/>
            <a:ext cx="7239000" cy="107721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依靠双稳态电路内部交叉反馈的机制存储信息。</a:t>
            </a:r>
          </a:p>
        </p:txBody>
      </p:sp>
      <p:sp>
        <p:nvSpPr>
          <p:cNvPr id="2082" name="Text Box 37"/>
          <p:cNvSpPr txBox="1"/>
          <p:nvPr/>
        </p:nvSpPr>
        <p:spPr>
          <a:xfrm>
            <a:off x="4419600" y="5334005"/>
            <a:ext cx="41910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（动态</a:t>
            </a: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MOS</a:t>
            </a: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型）：</a:t>
            </a:r>
          </a:p>
        </p:txBody>
      </p:sp>
      <p:sp>
        <p:nvSpPr>
          <p:cNvPr id="2083" name="Text Box 38"/>
          <p:cNvSpPr txBox="1"/>
          <p:nvPr/>
        </p:nvSpPr>
        <p:spPr>
          <a:xfrm>
            <a:off x="1600200" y="5791204"/>
            <a:ext cx="81534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依靠电容存储电荷的原理存储信息。</a:t>
            </a:r>
          </a:p>
        </p:txBody>
      </p:sp>
      <p:sp>
        <p:nvSpPr>
          <p:cNvPr id="2084" name="Text Box 39"/>
          <p:cNvSpPr txBox="1"/>
          <p:nvPr/>
        </p:nvSpPr>
        <p:spPr>
          <a:xfrm>
            <a:off x="3962400" y="4800604"/>
            <a:ext cx="59436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功耗较大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速度快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作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Cache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085" name="Text Box 40"/>
          <p:cNvSpPr txBox="1"/>
          <p:nvPr/>
        </p:nvSpPr>
        <p:spPr>
          <a:xfrm>
            <a:off x="1600200" y="6278884"/>
            <a:ext cx="75438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功耗较小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容量大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速度较快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作主存。</a:t>
            </a:r>
          </a:p>
        </p:txBody>
      </p:sp>
      <p:sp>
        <p:nvSpPr>
          <p:cNvPr id="2086" name="Text Box 41"/>
          <p:cNvSpPr txBox="1"/>
          <p:nvPr/>
        </p:nvSpPr>
        <p:spPr>
          <a:xfrm>
            <a:off x="5867400" y="2362204"/>
            <a:ext cx="35814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（静态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MOS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除外）</a:t>
            </a:r>
          </a:p>
        </p:txBody>
      </p:sp>
    </p:spTree>
  </p:cSld>
  <p:clrMapOvr>
    <a:masterClrMapping/>
  </p:clrMapOvr>
  <p:transition spd="med">
    <p:pull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>
            <a:extLst>
              <a:ext uri="{FF2B5EF4-FFF2-40B4-BE49-F238E27FC236}">
                <a16:creationId xmlns:a16="http://schemas.microsoft.com/office/drawing/2014/main" id="{660413A0-7641-FEFB-F8C3-A34521AB2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1538289"/>
            <a:ext cx="6286500" cy="43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/>
            <a:r>
              <a:rPr lang="en-US" altLang="zh-CN" sz="2100" b="1">
                <a:solidFill>
                  <a:srgbClr val="FFFF00"/>
                </a:solidFill>
                <a:latin typeface="Calibri" panose="020F0502020204030204" pitchFamily="34" charset="0"/>
              </a:rPr>
              <a:t>TTL</a:t>
            </a:r>
            <a:r>
              <a:rPr lang="en-US" altLang="zh-CN" sz="2100" b="1">
                <a:solidFill>
                  <a:srgbClr val="FFFFFF"/>
                </a:solidFill>
                <a:latin typeface="Calibri" panose="020F0502020204030204" pitchFamily="34" charset="0"/>
              </a:rPr>
              <a:t>(Transistor-Transistor Logic), </a:t>
            </a:r>
            <a:r>
              <a:rPr lang="zh-CN" altLang="en-US" sz="2100" b="1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晶体管</a:t>
            </a:r>
            <a:r>
              <a:rPr lang="en-US" altLang="zh-CN" sz="2100" b="1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-</a:t>
            </a:r>
            <a:r>
              <a:rPr lang="zh-CN" altLang="en-US" sz="2100" b="1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晶体管逻辑</a:t>
            </a:r>
            <a:endParaRPr lang="en-US" altLang="zh-CN" sz="21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C81EBDB6-2C18-AD22-2BB5-8F52824AB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1" y="3892155"/>
            <a:ext cx="6384131" cy="725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>
              <a:lnSpc>
                <a:spcPts val="3000"/>
              </a:lnSpc>
            </a:pPr>
            <a:r>
              <a:rPr lang="en-US" altLang="zh-CN" sz="2100" b="1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CMOS</a:t>
            </a:r>
            <a:r>
              <a:rPr lang="en-US" altLang="zh-CN" sz="2100" b="1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(Complementary Metal-Oxide Semiconductor), </a:t>
            </a:r>
            <a:r>
              <a:rPr lang="zh-CN" altLang="en-US" sz="2100" b="1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即</a:t>
            </a:r>
            <a:r>
              <a:rPr lang="en-US" altLang="zh-CN" sz="2100" b="1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zh-CN" altLang="en-US" sz="2100" b="1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互补对称金属氧化物半导体</a:t>
            </a:r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09C00F62-BC54-FA3C-3451-2E75EB4D6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420" y="1863330"/>
            <a:ext cx="3259931" cy="696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/>
            <a:r>
              <a:rPr lang="zh-CN" altLang="en-US" sz="1800" b="1" dirty="0">
                <a:solidFill>
                  <a:srgbClr val="00FFFF"/>
                </a:solidFill>
              </a:rPr>
              <a:t>输出 </a:t>
            </a:r>
            <a:r>
              <a:rPr lang="en-US" altLang="zh-CN" sz="1800" b="1" dirty="0">
                <a:solidFill>
                  <a:srgbClr val="00FFFF"/>
                </a:solidFill>
              </a:rPr>
              <a:t>L</a:t>
            </a:r>
            <a:r>
              <a:rPr lang="zh-CN" altLang="en-US" sz="1800" b="1" dirty="0">
                <a:solidFill>
                  <a:srgbClr val="00FFFF"/>
                </a:solidFill>
              </a:rPr>
              <a:t>： </a:t>
            </a:r>
            <a:r>
              <a:rPr lang="en-US" altLang="zh-CN" sz="1800" b="1" dirty="0">
                <a:solidFill>
                  <a:srgbClr val="00FFFF"/>
                </a:solidFill>
              </a:rPr>
              <a:t>&lt;0.8V </a:t>
            </a:r>
            <a:r>
              <a:rPr lang="zh-CN" altLang="en-US" sz="1800" b="1" dirty="0">
                <a:solidFill>
                  <a:srgbClr val="00FFFF"/>
                </a:solidFill>
              </a:rPr>
              <a:t>； </a:t>
            </a:r>
            <a:r>
              <a:rPr lang="en-US" altLang="zh-CN" sz="1800" b="1" dirty="0">
                <a:solidFill>
                  <a:srgbClr val="00FFFF"/>
                </a:solidFill>
              </a:rPr>
              <a:t>H</a:t>
            </a:r>
            <a:r>
              <a:rPr lang="zh-CN" altLang="en-US" sz="1800" b="1" dirty="0">
                <a:solidFill>
                  <a:srgbClr val="00FFFF"/>
                </a:solidFill>
              </a:rPr>
              <a:t>：</a:t>
            </a:r>
            <a:r>
              <a:rPr lang="en-US" altLang="zh-CN" sz="1800" b="1" dirty="0">
                <a:solidFill>
                  <a:srgbClr val="00FFFF"/>
                </a:solidFill>
              </a:rPr>
              <a:t>&gt;2.4V</a:t>
            </a:r>
            <a:r>
              <a:rPr lang="zh-CN" altLang="en-US" sz="1800" b="1" dirty="0">
                <a:solidFill>
                  <a:srgbClr val="00FFFF"/>
                </a:solidFill>
              </a:rPr>
              <a:t>。 </a:t>
            </a:r>
            <a:br>
              <a:rPr lang="zh-CN" altLang="en-US" sz="1800" b="1" dirty="0">
                <a:solidFill>
                  <a:srgbClr val="00FFFF"/>
                </a:solidFill>
              </a:rPr>
            </a:br>
            <a:r>
              <a:rPr lang="zh-CN" altLang="en-US" sz="1800" b="1" dirty="0">
                <a:solidFill>
                  <a:srgbClr val="00FFFF"/>
                </a:solidFill>
              </a:rPr>
              <a:t>输入 </a:t>
            </a:r>
            <a:r>
              <a:rPr lang="en-US" altLang="zh-CN" sz="1800" b="1" dirty="0">
                <a:solidFill>
                  <a:srgbClr val="00FFFF"/>
                </a:solidFill>
              </a:rPr>
              <a:t>L</a:t>
            </a:r>
            <a:r>
              <a:rPr lang="zh-CN" altLang="en-US" sz="1800" b="1" dirty="0">
                <a:solidFill>
                  <a:srgbClr val="00FFFF"/>
                </a:solidFill>
              </a:rPr>
              <a:t>： </a:t>
            </a:r>
            <a:r>
              <a:rPr lang="en-US" altLang="zh-CN" sz="1800" b="1" dirty="0">
                <a:solidFill>
                  <a:srgbClr val="00FFFF"/>
                </a:solidFill>
              </a:rPr>
              <a:t>&lt;1.2V </a:t>
            </a:r>
            <a:r>
              <a:rPr lang="zh-CN" altLang="en-US" sz="1800" b="1" dirty="0">
                <a:solidFill>
                  <a:srgbClr val="00FFFF"/>
                </a:solidFill>
              </a:rPr>
              <a:t>； </a:t>
            </a:r>
            <a:r>
              <a:rPr lang="en-US" altLang="zh-CN" sz="1800" b="1" dirty="0">
                <a:solidFill>
                  <a:srgbClr val="00FFFF"/>
                </a:solidFill>
              </a:rPr>
              <a:t>H</a:t>
            </a:r>
            <a:r>
              <a:rPr lang="zh-CN" altLang="en-US" sz="1800" b="1" dirty="0">
                <a:solidFill>
                  <a:srgbClr val="00FFFF"/>
                </a:solidFill>
              </a:rPr>
              <a:t>：</a:t>
            </a:r>
            <a:r>
              <a:rPr lang="en-US" altLang="zh-CN" sz="1800" b="1" dirty="0">
                <a:solidFill>
                  <a:srgbClr val="00FFFF"/>
                </a:solidFill>
              </a:rPr>
              <a:t>&gt;2.0V </a:t>
            </a:r>
          </a:p>
        </p:txBody>
      </p:sp>
      <p:sp>
        <p:nvSpPr>
          <p:cNvPr id="40969" name="Rectangle 9">
            <a:extLst>
              <a:ext uri="{FF2B5EF4-FFF2-40B4-BE49-F238E27FC236}">
                <a16:creationId xmlns:a16="http://schemas.microsoft.com/office/drawing/2014/main" id="{3ECE9BED-AB5A-F554-ACB9-1A1B5DC0F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419" y="4697016"/>
            <a:ext cx="4854179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/>
            <a:r>
              <a:rPr lang="zh-CN" altLang="en-US" sz="1800" b="1" dirty="0">
                <a:solidFill>
                  <a:srgbClr val="00FFFF"/>
                </a:solidFill>
              </a:rPr>
              <a:t>输出 </a:t>
            </a:r>
            <a:r>
              <a:rPr lang="en-US" altLang="zh-CN" sz="1800" b="1" dirty="0">
                <a:solidFill>
                  <a:srgbClr val="00FFFF"/>
                </a:solidFill>
              </a:rPr>
              <a:t>L</a:t>
            </a:r>
            <a:r>
              <a:rPr lang="zh-CN" altLang="en-US" sz="1800" b="1" dirty="0">
                <a:solidFill>
                  <a:srgbClr val="00FFFF"/>
                </a:solidFill>
              </a:rPr>
              <a:t>： </a:t>
            </a:r>
            <a:r>
              <a:rPr lang="en-US" altLang="zh-CN" sz="1800" b="1" dirty="0">
                <a:solidFill>
                  <a:srgbClr val="00FFFF"/>
                </a:solidFill>
              </a:rPr>
              <a:t>&lt;0.1×Vcc </a:t>
            </a:r>
            <a:r>
              <a:rPr lang="zh-CN" altLang="en-US" sz="1800" b="1" dirty="0">
                <a:solidFill>
                  <a:srgbClr val="00FFFF"/>
                </a:solidFill>
              </a:rPr>
              <a:t>； </a:t>
            </a:r>
            <a:r>
              <a:rPr lang="en-US" altLang="zh-CN" sz="1800" b="1" dirty="0">
                <a:solidFill>
                  <a:srgbClr val="00FFFF"/>
                </a:solidFill>
              </a:rPr>
              <a:t>H</a:t>
            </a:r>
            <a:r>
              <a:rPr lang="zh-CN" altLang="en-US" sz="1800" b="1" dirty="0">
                <a:solidFill>
                  <a:srgbClr val="00FFFF"/>
                </a:solidFill>
              </a:rPr>
              <a:t>：</a:t>
            </a:r>
            <a:r>
              <a:rPr lang="en-US" altLang="zh-CN" sz="1800" b="1" dirty="0">
                <a:solidFill>
                  <a:srgbClr val="00FFFF"/>
                </a:solidFill>
              </a:rPr>
              <a:t>&gt;0.9×Vcc</a:t>
            </a:r>
            <a:r>
              <a:rPr lang="zh-CN" altLang="en-US" sz="1800" b="1" dirty="0">
                <a:solidFill>
                  <a:srgbClr val="00FFFF"/>
                </a:solidFill>
              </a:rPr>
              <a:t> </a:t>
            </a:r>
            <a:br>
              <a:rPr lang="zh-CN" altLang="en-US" sz="1800" b="1" dirty="0">
                <a:solidFill>
                  <a:srgbClr val="00FFFF"/>
                </a:solidFill>
              </a:rPr>
            </a:br>
            <a:r>
              <a:rPr lang="zh-CN" altLang="en-US" sz="1800" b="1" dirty="0">
                <a:solidFill>
                  <a:srgbClr val="00FFFF"/>
                </a:solidFill>
              </a:rPr>
              <a:t>输入 </a:t>
            </a:r>
            <a:r>
              <a:rPr lang="en-US" altLang="zh-CN" sz="1800" b="1" dirty="0">
                <a:solidFill>
                  <a:srgbClr val="00FFFF"/>
                </a:solidFill>
              </a:rPr>
              <a:t>L</a:t>
            </a:r>
            <a:r>
              <a:rPr lang="zh-CN" altLang="en-US" sz="1800" b="1" dirty="0">
                <a:solidFill>
                  <a:srgbClr val="00FFFF"/>
                </a:solidFill>
              </a:rPr>
              <a:t>： </a:t>
            </a:r>
            <a:r>
              <a:rPr lang="en-US" altLang="zh-CN" sz="1800" b="1" dirty="0">
                <a:solidFill>
                  <a:srgbClr val="00FFFF"/>
                </a:solidFill>
              </a:rPr>
              <a:t>&lt;0.3×Vcc </a:t>
            </a:r>
            <a:r>
              <a:rPr lang="zh-CN" altLang="en-US" sz="1800" b="1" dirty="0">
                <a:solidFill>
                  <a:srgbClr val="00FFFF"/>
                </a:solidFill>
              </a:rPr>
              <a:t>； </a:t>
            </a:r>
            <a:r>
              <a:rPr lang="en-US" altLang="zh-CN" sz="1800" b="1" dirty="0">
                <a:solidFill>
                  <a:srgbClr val="00FFFF"/>
                </a:solidFill>
              </a:rPr>
              <a:t>H</a:t>
            </a:r>
            <a:r>
              <a:rPr lang="zh-CN" altLang="en-US" sz="1800" b="1" dirty="0">
                <a:solidFill>
                  <a:srgbClr val="00FFFF"/>
                </a:solidFill>
              </a:rPr>
              <a:t>：</a:t>
            </a:r>
            <a:r>
              <a:rPr lang="en-US" altLang="zh-CN" sz="1800" b="1" dirty="0">
                <a:solidFill>
                  <a:srgbClr val="00FFFF"/>
                </a:solidFill>
              </a:rPr>
              <a:t>&gt;0.7×Vcc </a:t>
            </a:r>
          </a:p>
        </p:txBody>
      </p:sp>
      <p:sp>
        <p:nvSpPr>
          <p:cNvPr id="40970" name="Text Box 10">
            <a:extLst>
              <a:ext uri="{FF2B5EF4-FFF2-40B4-BE49-F238E27FC236}">
                <a16:creationId xmlns:a16="http://schemas.microsoft.com/office/drawing/2014/main" id="{EDAC0237-9197-A3B1-4CCE-FEE6C9C50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1107282"/>
            <a:ext cx="2387204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/>
            <a:r>
              <a:rPr lang="en-US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※</a:t>
            </a:r>
            <a:r>
              <a:rPr lang="zh-CN" alt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相关术语</a:t>
            </a:r>
          </a:p>
        </p:txBody>
      </p:sp>
      <p:sp>
        <p:nvSpPr>
          <p:cNvPr id="40971" name="Rectangle 11">
            <a:extLst>
              <a:ext uri="{FF2B5EF4-FFF2-40B4-BE49-F238E27FC236}">
                <a16:creationId xmlns:a16="http://schemas.microsoft.com/office/drawing/2014/main" id="{39608296-3B72-C775-6D41-66C51F71F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1" y="2564606"/>
            <a:ext cx="5985272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/>
            <a:r>
              <a:rPr lang="en-US" altLang="zh-CN" sz="2100" b="1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ECL</a:t>
            </a:r>
            <a:r>
              <a:rPr lang="en-US" altLang="zh-CN" sz="2100" b="1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(Emitter Couple Logic), </a:t>
            </a:r>
            <a:r>
              <a:rPr lang="zh-CN" altLang="en-US" sz="2100" b="1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射极耦合逻辑</a:t>
            </a:r>
            <a:endParaRPr lang="zh-CN" altLang="en-US" sz="2100" b="1">
              <a:solidFill>
                <a:srgbClr val="333333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0972" name="Rectangle 12">
            <a:extLst>
              <a:ext uri="{FF2B5EF4-FFF2-40B4-BE49-F238E27FC236}">
                <a16:creationId xmlns:a16="http://schemas.microsoft.com/office/drawing/2014/main" id="{0EF0467B-66ED-A7FB-DBE4-AEDD8EABF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1" y="2968230"/>
            <a:ext cx="6437710" cy="831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>
              <a:lnSpc>
                <a:spcPts val="3000"/>
              </a:lnSpc>
            </a:pPr>
            <a:r>
              <a:rPr lang="en-US" altLang="zh-CN" sz="2100" b="1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MOS</a:t>
            </a:r>
            <a:r>
              <a:rPr lang="en-US" altLang="zh-CN" sz="2100" b="1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(Metal-Oxide Semiconductor), </a:t>
            </a:r>
            <a:r>
              <a:rPr lang="zh-CN" altLang="en-US" sz="2100" b="1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金属氧化物半导体</a:t>
            </a:r>
            <a:r>
              <a:rPr lang="en-US" altLang="zh-CN" sz="2100" b="1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, </a:t>
            </a:r>
            <a:r>
              <a:rPr lang="zh-CN" altLang="en-US" sz="2100" b="1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即场效应管</a:t>
            </a:r>
            <a:r>
              <a:rPr lang="en-US" altLang="zh-CN" sz="2100" b="1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081" name="灯片编号占位符 1">
            <a:extLst>
              <a:ext uri="{FF2B5EF4-FFF2-40B4-BE49-F238E27FC236}">
                <a16:creationId xmlns:a16="http://schemas.microsoft.com/office/drawing/2014/main" id="{1078EAAC-50B9-9DF4-0153-297D9656C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213" indent="-214313" eaLnBrk="0" hangingPunct="0"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 eaLnBrk="1" hangingPunct="1"/>
            <a:fld id="{F2CA346B-008C-4357-B937-133FDA20A3FC}" type="slidenum">
              <a:rPr kumimoji="0" lang="en-US" altLang="zh-CN" sz="1200">
                <a:solidFill>
                  <a:srgbClr val="00FFFF"/>
                </a:solidFill>
                <a:latin typeface="Calibri" panose="020F0502020204030204" pitchFamily="34" charset="0"/>
              </a:rPr>
              <a:pPr defTabSz="685800" eaLnBrk="1" hangingPunct="1"/>
              <a:t>2</a:t>
            </a:fld>
            <a:r>
              <a:rPr kumimoji="0" lang="en-US" altLang="zh-CN" sz="1200">
                <a:solidFill>
                  <a:srgbClr val="00FFFF"/>
                </a:solidFill>
                <a:latin typeface="Calibri" panose="020F0502020204030204" pitchFamily="34" charset="0"/>
              </a:rPr>
              <a:t>/28</a:t>
            </a:r>
          </a:p>
        </p:txBody>
      </p:sp>
    </p:spTree>
  </p:cSld>
  <p:clrMapOvr>
    <a:masterClrMapping/>
  </p:clrMapOvr>
  <p:transition spd="med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utoUpdateAnimBg="0"/>
      <p:bldP spid="40965" grpId="0" autoUpdateAnimBg="0"/>
      <p:bldP spid="40967" grpId="0" autoUpdateAnimBg="0"/>
      <p:bldP spid="40969" grpId="0" autoUpdateAnimBg="0"/>
      <p:bldP spid="40970" grpId="0" autoUpdateAnimBg="0"/>
      <p:bldP spid="40971" grpId="0" autoUpdateAnimBg="0"/>
      <p:bldP spid="4097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C00AC-F78C-A27F-F93A-27A21EAA8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4777BA-D328-8293-FA3B-5AE914D92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linkClick r:id="rId3"/>
              </a:rPr>
              <a:t>我国氧化镓新进展！从硅到氧化镓，半导体是如何“进化”的？ </a:t>
            </a:r>
            <a:r>
              <a:rPr lang="en-US" altLang="zh-CN" dirty="0">
                <a:hlinkClick r:id="rId3"/>
              </a:rPr>
              <a:t>(baidu.com)</a:t>
            </a:r>
            <a:endParaRPr lang="en-US" altLang="zh-CN" dirty="0"/>
          </a:p>
          <a:p>
            <a:r>
              <a:rPr lang="zh-CN" altLang="en-US" dirty="0">
                <a:hlinkClick r:id="rId4"/>
              </a:rPr>
              <a:t>美对华芯片限制细则公布，施压台积电、英特尔等头部企业 </a:t>
            </a:r>
            <a:r>
              <a:rPr lang="en-US" altLang="zh-CN" dirty="0">
                <a:hlinkClick r:id="rId4"/>
              </a:rPr>
              <a:t>(baidu.com)</a:t>
            </a:r>
            <a:endParaRPr lang="en-US" altLang="zh-CN" dirty="0"/>
          </a:p>
          <a:p>
            <a:r>
              <a:rPr lang="zh-CN" altLang="en-US" dirty="0">
                <a:hlinkClick r:id="rId5"/>
              </a:rPr>
              <a:t>近三年来，美国不断加强对中国半导体产业的管制，中国作出应对</a:t>
            </a:r>
            <a:r>
              <a:rPr lang="en-US" altLang="zh-CN" dirty="0">
                <a:hlinkClick r:id="rId5"/>
              </a:rPr>
              <a:t>,</a:t>
            </a:r>
            <a:r>
              <a:rPr lang="zh-CN" altLang="en-US" dirty="0">
                <a:hlinkClick r:id="rId5"/>
              </a:rPr>
              <a:t>财经</a:t>
            </a:r>
            <a:r>
              <a:rPr lang="en-US" altLang="zh-CN" dirty="0">
                <a:hlinkClick r:id="rId5"/>
              </a:rPr>
              <a:t>,</a:t>
            </a:r>
            <a:r>
              <a:rPr lang="zh-CN" altLang="en-US" dirty="0">
                <a:hlinkClick r:id="rId5"/>
              </a:rPr>
              <a:t>国际经济</a:t>
            </a:r>
            <a:r>
              <a:rPr lang="en-US" altLang="zh-CN" dirty="0">
                <a:hlinkClick r:id="rId5"/>
              </a:rPr>
              <a:t>,</a:t>
            </a:r>
            <a:r>
              <a:rPr lang="zh-CN" altLang="en-US" dirty="0">
                <a:hlinkClick r:id="rId5"/>
              </a:rPr>
              <a:t>好看视频 </a:t>
            </a:r>
            <a:r>
              <a:rPr lang="en-US" altLang="zh-CN" dirty="0">
                <a:hlinkClick r:id="rId5"/>
              </a:rPr>
              <a:t>(baidu.com)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0986483"/>
      </p:ext>
    </p:extLst>
  </p:cSld>
  <p:clrMapOvr>
    <a:masterClrMapping/>
  </p:clrMapOvr>
  <p:transition spd="med">
    <p:pull dir="l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9512" y="404664"/>
            <a:ext cx="7219800" cy="563135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9525">
              <a:spcBef>
                <a:spcPts val="71"/>
              </a:spcBef>
            </a:pPr>
            <a:r>
              <a:rPr lang="en-US" altLang="zh-CN" sz="3600" b="1" kern="1200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4.2.1 </a:t>
            </a:r>
            <a:r>
              <a:rPr lang="zh-CN" altLang="en-US" sz="3600" b="1" kern="1200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静态</a:t>
            </a:r>
            <a:r>
              <a:rPr lang="en-US" altLang="zh-CN" sz="3600" b="1" kern="1200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MOS</a:t>
            </a:r>
            <a:r>
              <a:rPr lang="zh-CN" altLang="en-US" sz="3600" b="1" kern="1200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存储单元与芯片</a:t>
            </a:r>
          </a:p>
        </p:txBody>
      </p:sp>
      <p:pic>
        <p:nvPicPr>
          <p:cNvPr id="2" name="内容占位符 1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51520" y="1484784"/>
            <a:ext cx="8557878" cy="17712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FE194E1-A6D0-E6FB-2F3E-B64E21B2B28E}"/>
              </a:ext>
            </a:extLst>
          </p:cNvPr>
          <p:cNvSpPr txBox="1"/>
          <p:nvPr/>
        </p:nvSpPr>
        <p:spPr>
          <a:xfrm>
            <a:off x="395536" y="3772969"/>
            <a:ext cx="84138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存储元：存储器中最小存储单位。</a:t>
            </a:r>
            <a:endParaRPr lang="en-US" altLang="zh-CN" sz="2800" dirty="0"/>
          </a:p>
          <a:p>
            <a:r>
              <a:rPr lang="zh-CN" altLang="en-US" sz="2800" dirty="0"/>
              <a:t>若干存储元形成存储单元，若干存储单元形成存储器。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27584" y="889122"/>
            <a:ext cx="8139178" cy="332303"/>
          </a:xfrm>
          <a:prstGeom prst="rect">
            <a:avLst/>
          </a:prstGeom>
        </p:spPr>
        <p:txBody>
          <a:bodyPr vert="horz" wrap="square" lIns="0" tIns="9049" rIns="0" bIns="0" rtlCol="0" anchor="ctr" anchorCtr="0">
            <a:spAutoFit/>
          </a:bodyPr>
          <a:lstStyle/>
          <a:p>
            <a:pPr marL="9525">
              <a:spcBef>
                <a:spcPts val="71"/>
              </a:spcBef>
            </a:pPr>
            <a:r>
              <a:rPr lang="en-US" altLang="zh-CN" sz="2100" spc="-4" dirty="0">
                <a:latin typeface="微软雅黑" panose="020B0503020204020204" pitchFamily="34" charset="-122"/>
                <a:cs typeface="微软雅黑" panose="020B0503020204020204" pitchFamily="34" charset="-122"/>
              </a:rPr>
              <a:t>4.2.1 </a:t>
            </a:r>
            <a:r>
              <a:rPr sz="2100" spc="-4" dirty="0">
                <a:latin typeface="微软雅黑" panose="020B0503020204020204" pitchFamily="34" charset="-122"/>
                <a:cs typeface="微软雅黑" panose="020B0503020204020204" pitchFamily="34" charset="-122"/>
              </a:rPr>
              <a:t>静态</a:t>
            </a:r>
            <a:r>
              <a:rPr lang="en-US" sz="2100" spc="-4" dirty="0">
                <a:latin typeface="微软雅黑" panose="020B0503020204020204" pitchFamily="34" charset="-122"/>
                <a:cs typeface="微软雅黑" panose="020B0503020204020204" pitchFamily="34" charset="-122"/>
              </a:rPr>
              <a:t>MOS</a:t>
            </a:r>
            <a:r>
              <a:rPr lang="zh-CN" altLang="en-US" sz="2100" spc="-4" dirty="0">
                <a:latin typeface="微软雅黑" panose="020B0503020204020204" pitchFamily="34" charset="-122"/>
                <a:cs typeface="微软雅黑" panose="020B0503020204020204" pitchFamily="34" charset="-122"/>
              </a:rPr>
              <a:t>存储器</a:t>
            </a:r>
            <a:r>
              <a:rPr lang="en-US" altLang="zh-CN" sz="2100" spc="-4" dirty="0">
                <a:latin typeface="微软雅黑" panose="020B0503020204020204" pitchFamily="34" charset="-122"/>
                <a:cs typeface="微软雅黑" panose="020B0503020204020204" pitchFamily="34" charset="-122"/>
              </a:rPr>
              <a:t>SRAM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E8B7B0-D658-C4E9-179F-B7B549F771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6726" y="1698486"/>
            <a:ext cx="3962432" cy="4041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1" dirty="0"/>
              <a:t>静态</a:t>
            </a:r>
            <a:r>
              <a:rPr lang="en-US" altLang="zh-CN" sz="2400" b="1" dirty="0"/>
              <a:t>MOS</a:t>
            </a:r>
            <a:r>
              <a:rPr lang="zh-CN" altLang="en-US" sz="2400" b="1" dirty="0"/>
              <a:t>存储器的组成：</a:t>
            </a:r>
            <a:endParaRPr lang="en-US" altLang="zh-CN" sz="24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b="1" dirty="0"/>
              <a:t>存储体</a:t>
            </a:r>
            <a:endParaRPr lang="en-US" altLang="zh-CN" sz="24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b="1" dirty="0"/>
              <a:t>地址译码电路</a:t>
            </a:r>
            <a:endParaRPr lang="en-US" altLang="zh-CN" sz="24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b="1" dirty="0"/>
              <a:t>驱动电路</a:t>
            </a:r>
            <a:endParaRPr lang="en-US" altLang="zh-CN" sz="24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2400" b="1" dirty="0"/>
              <a:t>I/O</a:t>
            </a:r>
            <a:r>
              <a:rPr lang="zh-CN" altLang="en-US" sz="2400" b="1" dirty="0"/>
              <a:t>电路</a:t>
            </a:r>
            <a:endParaRPr lang="en-US" altLang="zh-CN" sz="24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b="1" dirty="0"/>
              <a:t>控制电路</a:t>
            </a:r>
            <a:endParaRPr lang="en-US" altLang="zh-CN" sz="24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7D1561-FA30-0D96-676E-40E3AA50D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88" y="2482852"/>
            <a:ext cx="5119951" cy="2676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Text Box 7"/>
          <p:cNvSpPr txBox="1"/>
          <p:nvPr/>
        </p:nvSpPr>
        <p:spPr>
          <a:xfrm>
            <a:off x="0" y="833443"/>
            <a:ext cx="3995739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六管单元存储电路</a:t>
            </a:r>
          </a:p>
        </p:txBody>
      </p:sp>
      <p:sp>
        <p:nvSpPr>
          <p:cNvPr id="10248" name="Text Box 8"/>
          <p:cNvSpPr txBox="1"/>
          <p:nvPr/>
        </p:nvSpPr>
        <p:spPr>
          <a:xfrm>
            <a:off x="79375" y="1555753"/>
            <a:ext cx="3124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）组成</a:t>
            </a:r>
          </a:p>
        </p:txBody>
      </p:sp>
      <p:sp>
        <p:nvSpPr>
          <p:cNvPr id="10250" name="Text Box 10"/>
          <p:cNvSpPr txBox="1"/>
          <p:nvPr/>
        </p:nvSpPr>
        <p:spPr>
          <a:xfrm>
            <a:off x="0" y="2089154"/>
            <a:ext cx="3886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T1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T3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：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MOS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反相器</a:t>
            </a:r>
          </a:p>
        </p:txBody>
      </p:sp>
      <p:sp>
        <p:nvSpPr>
          <p:cNvPr id="10252" name="Text Box 12"/>
          <p:cNvSpPr txBox="1"/>
          <p:nvPr/>
        </p:nvSpPr>
        <p:spPr>
          <a:xfrm>
            <a:off x="6553200" y="1250953"/>
            <a:ext cx="12954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Vcc</a:t>
            </a:r>
          </a:p>
        </p:txBody>
      </p:sp>
      <p:sp>
        <p:nvSpPr>
          <p:cNvPr id="10253" name="Text Box 13"/>
          <p:cNvSpPr txBox="1"/>
          <p:nvPr/>
        </p:nvSpPr>
        <p:spPr>
          <a:xfrm>
            <a:off x="863605" y="3268663"/>
            <a:ext cx="17938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触发器</a:t>
            </a:r>
          </a:p>
        </p:txBody>
      </p:sp>
      <p:grpSp>
        <p:nvGrpSpPr>
          <p:cNvPr id="2" name="Group 35"/>
          <p:cNvGrpSpPr/>
          <p:nvPr/>
        </p:nvGrpSpPr>
        <p:grpSpPr>
          <a:xfrm>
            <a:off x="4724400" y="1860551"/>
            <a:ext cx="1447800" cy="1993900"/>
            <a:chOff x="2352" y="1296"/>
            <a:chExt cx="912" cy="1256"/>
          </a:xfrm>
        </p:grpSpPr>
        <p:grpSp>
          <p:nvGrpSpPr>
            <p:cNvPr id="6221" name="Group 22"/>
            <p:cNvGrpSpPr/>
            <p:nvPr/>
          </p:nvGrpSpPr>
          <p:grpSpPr>
            <a:xfrm>
              <a:off x="2400" y="1296"/>
              <a:ext cx="864" cy="624"/>
              <a:chOff x="2400" y="1296"/>
              <a:chExt cx="864" cy="624"/>
            </a:xfrm>
          </p:grpSpPr>
          <p:sp>
            <p:nvSpPr>
              <p:cNvPr id="6234" name="Text Box 9"/>
              <p:cNvSpPr txBox="1"/>
              <p:nvPr/>
            </p:nvSpPr>
            <p:spPr>
              <a:xfrm>
                <a:off x="2400" y="1440"/>
                <a:ext cx="480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T3</a:t>
                </a:r>
              </a:p>
            </p:txBody>
          </p:sp>
          <p:grpSp>
            <p:nvGrpSpPr>
              <p:cNvPr id="6235" name="Group 21"/>
              <p:cNvGrpSpPr/>
              <p:nvPr/>
            </p:nvGrpSpPr>
            <p:grpSpPr>
              <a:xfrm>
                <a:off x="2784" y="1296"/>
                <a:ext cx="480" cy="624"/>
                <a:chOff x="2784" y="1296"/>
                <a:chExt cx="480" cy="624"/>
              </a:xfrm>
            </p:grpSpPr>
            <p:sp>
              <p:nvSpPr>
                <p:cNvPr id="6236" name="Line 14"/>
                <p:cNvSpPr/>
                <p:nvPr/>
              </p:nvSpPr>
              <p:spPr>
                <a:xfrm>
                  <a:off x="2784" y="1296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237" name="Line 15"/>
                <p:cNvSpPr/>
                <p:nvPr/>
              </p:nvSpPr>
              <p:spPr>
                <a:xfrm>
                  <a:off x="2784" y="1536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238" name="Line 16"/>
                <p:cNvSpPr/>
                <p:nvPr/>
              </p:nvSpPr>
              <p:spPr>
                <a:xfrm>
                  <a:off x="2784" y="1680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239" name="Line 17"/>
                <p:cNvSpPr/>
                <p:nvPr/>
              </p:nvSpPr>
              <p:spPr>
                <a:xfrm>
                  <a:off x="2976" y="1488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240" name="Line 18"/>
                <p:cNvSpPr/>
                <p:nvPr/>
              </p:nvSpPr>
              <p:spPr>
                <a:xfrm>
                  <a:off x="2784" y="1680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241" name="Line 19"/>
                <p:cNvSpPr/>
                <p:nvPr/>
              </p:nvSpPr>
              <p:spPr>
                <a:xfrm>
                  <a:off x="3072" y="1536"/>
                  <a:ext cx="0" cy="144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242" name="Line 20"/>
                <p:cNvSpPr/>
                <p:nvPr/>
              </p:nvSpPr>
              <p:spPr>
                <a:xfrm>
                  <a:off x="3072" y="1632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grpSp>
          <p:nvGrpSpPr>
            <p:cNvPr id="6222" name="Group 23"/>
            <p:cNvGrpSpPr/>
            <p:nvPr/>
          </p:nvGrpSpPr>
          <p:grpSpPr>
            <a:xfrm>
              <a:off x="2400" y="1920"/>
              <a:ext cx="864" cy="624"/>
              <a:chOff x="2400" y="1296"/>
              <a:chExt cx="864" cy="624"/>
            </a:xfrm>
          </p:grpSpPr>
          <p:sp>
            <p:nvSpPr>
              <p:cNvPr id="6225" name="Text Box 24"/>
              <p:cNvSpPr txBox="1"/>
              <p:nvPr/>
            </p:nvSpPr>
            <p:spPr>
              <a:xfrm>
                <a:off x="2400" y="1440"/>
                <a:ext cx="480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T1</a:t>
                </a:r>
              </a:p>
            </p:txBody>
          </p:sp>
          <p:grpSp>
            <p:nvGrpSpPr>
              <p:cNvPr id="6226" name="Group 25"/>
              <p:cNvGrpSpPr/>
              <p:nvPr/>
            </p:nvGrpSpPr>
            <p:grpSpPr>
              <a:xfrm>
                <a:off x="2784" y="1296"/>
                <a:ext cx="480" cy="624"/>
                <a:chOff x="2784" y="1296"/>
                <a:chExt cx="480" cy="624"/>
              </a:xfrm>
            </p:grpSpPr>
            <p:sp>
              <p:nvSpPr>
                <p:cNvPr id="6227" name="Line 26"/>
                <p:cNvSpPr/>
                <p:nvPr/>
              </p:nvSpPr>
              <p:spPr>
                <a:xfrm>
                  <a:off x="2784" y="1296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228" name="Line 27"/>
                <p:cNvSpPr/>
                <p:nvPr/>
              </p:nvSpPr>
              <p:spPr>
                <a:xfrm>
                  <a:off x="2784" y="1536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229" name="Line 28"/>
                <p:cNvSpPr/>
                <p:nvPr/>
              </p:nvSpPr>
              <p:spPr>
                <a:xfrm>
                  <a:off x="2784" y="1680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230" name="Line 29"/>
                <p:cNvSpPr/>
                <p:nvPr/>
              </p:nvSpPr>
              <p:spPr>
                <a:xfrm>
                  <a:off x="2976" y="1488"/>
                  <a:ext cx="0" cy="240"/>
                </a:xfrm>
                <a:prstGeom prst="line">
                  <a:avLst/>
                </a:prstGeom>
                <a:ln w="76200" cap="sq" cmpd="sng">
                  <a:solidFill>
                    <a:srgbClr val="FFFF00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231" name="Line 30"/>
                <p:cNvSpPr/>
                <p:nvPr/>
              </p:nvSpPr>
              <p:spPr>
                <a:xfrm>
                  <a:off x="2784" y="1680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232" name="Line 31"/>
                <p:cNvSpPr/>
                <p:nvPr/>
              </p:nvSpPr>
              <p:spPr>
                <a:xfrm>
                  <a:off x="3072" y="1536"/>
                  <a:ext cx="0" cy="144"/>
                </a:xfrm>
                <a:prstGeom prst="line">
                  <a:avLst/>
                </a:prstGeom>
                <a:ln w="76200" cap="sq" cmpd="sng">
                  <a:solidFill>
                    <a:srgbClr val="FFFF00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233" name="Line 32"/>
                <p:cNvSpPr/>
                <p:nvPr/>
              </p:nvSpPr>
              <p:spPr>
                <a:xfrm>
                  <a:off x="3072" y="1632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sp>
          <p:nvSpPr>
            <p:cNvPr id="6223" name="Line 33"/>
            <p:cNvSpPr/>
            <p:nvPr/>
          </p:nvSpPr>
          <p:spPr>
            <a:xfrm>
              <a:off x="2688" y="2552"/>
              <a:ext cx="192" cy="0"/>
            </a:xfrm>
            <a:prstGeom prst="line">
              <a:avLst/>
            </a:prstGeom>
            <a:ln w="19050" cap="sq" cmpd="sng">
              <a:solidFill>
                <a:schemeClr val="accent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224" name="Line 34"/>
            <p:cNvSpPr/>
            <p:nvPr/>
          </p:nvSpPr>
          <p:spPr>
            <a:xfrm>
              <a:off x="2352" y="1920"/>
              <a:ext cx="432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24" name="Group 59"/>
          <p:cNvGrpSpPr/>
          <p:nvPr/>
        </p:nvGrpSpPr>
        <p:grpSpPr>
          <a:xfrm>
            <a:off x="6629400" y="1860551"/>
            <a:ext cx="1600200" cy="1993900"/>
            <a:chOff x="3648" y="1296"/>
            <a:chExt cx="1008" cy="1256"/>
          </a:xfrm>
        </p:grpSpPr>
        <p:sp>
          <p:nvSpPr>
            <p:cNvPr id="6201" name="Text Box 38"/>
            <p:cNvSpPr txBox="1"/>
            <p:nvPr/>
          </p:nvSpPr>
          <p:spPr>
            <a:xfrm flipH="1">
              <a:off x="4128" y="1440"/>
              <a:ext cx="480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T4</a:t>
              </a:r>
            </a:p>
          </p:txBody>
        </p:sp>
        <p:grpSp>
          <p:nvGrpSpPr>
            <p:cNvPr id="6202" name="Group 39"/>
            <p:cNvGrpSpPr/>
            <p:nvPr/>
          </p:nvGrpSpPr>
          <p:grpSpPr>
            <a:xfrm flipH="1">
              <a:off x="3648" y="1296"/>
              <a:ext cx="480" cy="624"/>
              <a:chOff x="2784" y="1296"/>
              <a:chExt cx="480" cy="624"/>
            </a:xfrm>
          </p:grpSpPr>
          <p:sp>
            <p:nvSpPr>
              <p:cNvPr id="6214" name="Line 40"/>
              <p:cNvSpPr/>
              <p:nvPr/>
            </p:nvSpPr>
            <p:spPr>
              <a:xfrm>
                <a:off x="2784" y="1296"/>
                <a:ext cx="0" cy="24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215" name="Line 41"/>
              <p:cNvSpPr/>
              <p:nvPr/>
            </p:nvSpPr>
            <p:spPr>
              <a:xfrm>
                <a:off x="2784" y="1536"/>
                <a:ext cx="19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216" name="Line 42"/>
              <p:cNvSpPr/>
              <p:nvPr/>
            </p:nvSpPr>
            <p:spPr>
              <a:xfrm>
                <a:off x="2784" y="1680"/>
                <a:ext cx="19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217" name="Line 43"/>
              <p:cNvSpPr/>
              <p:nvPr/>
            </p:nvSpPr>
            <p:spPr>
              <a:xfrm>
                <a:off x="2976" y="1488"/>
                <a:ext cx="0" cy="24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218" name="Line 44"/>
              <p:cNvSpPr/>
              <p:nvPr/>
            </p:nvSpPr>
            <p:spPr>
              <a:xfrm>
                <a:off x="2784" y="1680"/>
                <a:ext cx="0" cy="24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219" name="Line 45"/>
              <p:cNvSpPr/>
              <p:nvPr/>
            </p:nvSpPr>
            <p:spPr>
              <a:xfrm>
                <a:off x="3072" y="1536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220" name="Line 46"/>
              <p:cNvSpPr/>
              <p:nvPr/>
            </p:nvSpPr>
            <p:spPr>
              <a:xfrm>
                <a:off x="3072" y="1632"/>
                <a:ext cx="19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6203" name="Text Box 48"/>
            <p:cNvSpPr txBox="1"/>
            <p:nvPr/>
          </p:nvSpPr>
          <p:spPr>
            <a:xfrm flipH="1">
              <a:off x="4176" y="2016"/>
              <a:ext cx="480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T2</a:t>
              </a:r>
            </a:p>
          </p:txBody>
        </p:sp>
        <p:grpSp>
          <p:nvGrpSpPr>
            <p:cNvPr id="6204" name="Group 49"/>
            <p:cNvGrpSpPr/>
            <p:nvPr/>
          </p:nvGrpSpPr>
          <p:grpSpPr>
            <a:xfrm flipH="1">
              <a:off x="3648" y="1920"/>
              <a:ext cx="480" cy="624"/>
              <a:chOff x="2784" y="1296"/>
              <a:chExt cx="480" cy="624"/>
            </a:xfrm>
          </p:grpSpPr>
          <p:sp>
            <p:nvSpPr>
              <p:cNvPr id="6207" name="Line 50"/>
              <p:cNvSpPr/>
              <p:nvPr/>
            </p:nvSpPr>
            <p:spPr>
              <a:xfrm>
                <a:off x="2784" y="1296"/>
                <a:ext cx="0" cy="24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208" name="Line 51"/>
              <p:cNvSpPr/>
              <p:nvPr/>
            </p:nvSpPr>
            <p:spPr>
              <a:xfrm>
                <a:off x="2784" y="1536"/>
                <a:ext cx="19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209" name="Line 52"/>
              <p:cNvSpPr/>
              <p:nvPr/>
            </p:nvSpPr>
            <p:spPr>
              <a:xfrm>
                <a:off x="2784" y="1680"/>
                <a:ext cx="19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210" name="Line 53"/>
              <p:cNvSpPr/>
              <p:nvPr/>
            </p:nvSpPr>
            <p:spPr>
              <a:xfrm>
                <a:off x="2976" y="1488"/>
                <a:ext cx="0" cy="240"/>
              </a:xfrm>
              <a:prstGeom prst="line">
                <a:avLst/>
              </a:prstGeom>
              <a:ln w="762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211" name="Line 54"/>
              <p:cNvSpPr/>
              <p:nvPr/>
            </p:nvSpPr>
            <p:spPr>
              <a:xfrm>
                <a:off x="2784" y="1680"/>
                <a:ext cx="0" cy="24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212" name="Line 55"/>
              <p:cNvSpPr/>
              <p:nvPr/>
            </p:nvSpPr>
            <p:spPr>
              <a:xfrm>
                <a:off x="3072" y="1536"/>
                <a:ext cx="0" cy="144"/>
              </a:xfrm>
              <a:prstGeom prst="line">
                <a:avLst/>
              </a:prstGeom>
              <a:ln w="762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213" name="Line 56"/>
              <p:cNvSpPr/>
              <p:nvPr/>
            </p:nvSpPr>
            <p:spPr>
              <a:xfrm>
                <a:off x="3072" y="1632"/>
                <a:ext cx="19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6205" name="Line 57"/>
            <p:cNvSpPr/>
            <p:nvPr/>
          </p:nvSpPr>
          <p:spPr>
            <a:xfrm flipH="1">
              <a:off x="4032" y="2552"/>
              <a:ext cx="192" cy="0"/>
            </a:xfrm>
            <a:prstGeom prst="line">
              <a:avLst/>
            </a:prstGeom>
            <a:ln w="19050" cap="sq" cmpd="sng">
              <a:solidFill>
                <a:schemeClr val="accent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206" name="Line 58"/>
            <p:cNvSpPr/>
            <p:nvPr/>
          </p:nvSpPr>
          <p:spPr>
            <a:xfrm flipH="1">
              <a:off x="4128" y="1920"/>
              <a:ext cx="432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0300" name="Text Box 60"/>
          <p:cNvSpPr txBox="1"/>
          <p:nvPr/>
        </p:nvSpPr>
        <p:spPr>
          <a:xfrm>
            <a:off x="0" y="2546354"/>
            <a:ext cx="3886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T2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T4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：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MOS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反相器</a:t>
            </a:r>
          </a:p>
        </p:txBody>
      </p:sp>
      <p:sp>
        <p:nvSpPr>
          <p:cNvPr id="10301" name="Line 61"/>
          <p:cNvSpPr/>
          <p:nvPr/>
        </p:nvSpPr>
        <p:spPr>
          <a:xfrm>
            <a:off x="5410200" y="2851151"/>
            <a:ext cx="762000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02" name="Line 62"/>
          <p:cNvSpPr/>
          <p:nvPr/>
        </p:nvSpPr>
        <p:spPr>
          <a:xfrm>
            <a:off x="6172200" y="2851151"/>
            <a:ext cx="457200" cy="5334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03" name="Line 63"/>
          <p:cNvSpPr/>
          <p:nvPr/>
        </p:nvSpPr>
        <p:spPr>
          <a:xfrm flipV="1">
            <a:off x="6172200" y="2851151"/>
            <a:ext cx="457200" cy="5334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04" name="Line 64"/>
          <p:cNvSpPr/>
          <p:nvPr/>
        </p:nvSpPr>
        <p:spPr>
          <a:xfrm>
            <a:off x="6629400" y="2851151"/>
            <a:ext cx="762000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05" name="Line 65"/>
          <p:cNvSpPr/>
          <p:nvPr/>
        </p:nvSpPr>
        <p:spPr>
          <a:xfrm>
            <a:off x="5410200" y="1860551"/>
            <a:ext cx="1981200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06" name="Line 66"/>
          <p:cNvSpPr/>
          <p:nvPr/>
        </p:nvSpPr>
        <p:spPr>
          <a:xfrm>
            <a:off x="6172200" y="2393951"/>
            <a:ext cx="457200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07" name="Line 67"/>
          <p:cNvSpPr/>
          <p:nvPr/>
        </p:nvSpPr>
        <p:spPr>
          <a:xfrm>
            <a:off x="6400800" y="1479551"/>
            <a:ext cx="0" cy="9144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0308" name="AutoShape 68"/>
          <p:cNvSpPr/>
          <p:nvPr/>
        </p:nvSpPr>
        <p:spPr>
          <a:xfrm rot="-5400000">
            <a:off x="1671643" y="1681168"/>
            <a:ext cx="180975" cy="3024187"/>
          </a:xfrm>
          <a:prstGeom prst="leftBrace">
            <a:avLst>
              <a:gd name="adj1" fmla="val 63515"/>
              <a:gd name="adj2" fmla="val 50000"/>
            </a:avLst>
          </a:prstGeom>
          <a:noFill/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grpSp>
        <p:nvGrpSpPr>
          <p:cNvPr id="27" name="Group 76"/>
          <p:cNvGrpSpPr/>
          <p:nvPr/>
        </p:nvGrpSpPr>
        <p:grpSpPr>
          <a:xfrm>
            <a:off x="4140200" y="2317751"/>
            <a:ext cx="965200" cy="1828800"/>
            <a:chOff x="2608" y="1008"/>
            <a:chExt cx="608" cy="1152"/>
          </a:xfrm>
        </p:grpSpPr>
        <p:sp>
          <p:nvSpPr>
            <p:cNvPr id="6194" name="Line 69"/>
            <p:cNvSpPr/>
            <p:nvPr/>
          </p:nvSpPr>
          <p:spPr>
            <a:xfrm>
              <a:off x="2976" y="1344"/>
              <a:ext cx="0" cy="14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95" name="Line 70"/>
            <p:cNvSpPr/>
            <p:nvPr/>
          </p:nvSpPr>
          <p:spPr>
            <a:xfrm>
              <a:off x="2832" y="1344"/>
              <a:ext cx="0" cy="14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96" name="Line 71"/>
            <p:cNvSpPr/>
            <p:nvPr/>
          </p:nvSpPr>
          <p:spPr>
            <a:xfrm>
              <a:off x="2736" y="1488"/>
              <a:ext cx="336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97" name="Line 72"/>
            <p:cNvSpPr/>
            <p:nvPr/>
          </p:nvSpPr>
          <p:spPr>
            <a:xfrm>
              <a:off x="2608" y="1344"/>
              <a:ext cx="227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98" name="Line 73"/>
            <p:cNvSpPr/>
            <p:nvPr/>
          </p:nvSpPr>
          <p:spPr>
            <a:xfrm>
              <a:off x="2832" y="1536"/>
              <a:ext cx="144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99" name="Line 74"/>
            <p:cNvSpPr/>
            <p:nvPr/>
          </p:nvSpPr>
          <p:spPr>
            <a:xfrm>
              <a:off x="2913" y="1536"/>
              <a:ext cx="0" cy="62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200" name="Text Box 75"/>
            <p:cNvSpPr txBox="1"/>
            <p:nvPr/>
          </p:nvSpPr>
          <p:spPr>
            <a:xfrm>
              <a:off x="2688" y="1008"/>
              <a:ext cx="528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T5</a:t>
              </a:r>
            </a:p>
          </p:txBody>
        </p:sp>
      </p:grpSp>
      <p:grpSp>
        <p:nvGrpSpPr>
          <p:cNvPr id="28" name="Group 88"/>
          <p:cNvGrpSpPr/>
          <p:nvPr/>
        </p:nvGrpSpPr>
        <p:grpSpPr>
          <a:xfrm>
            <a:off x="7924800" y="2317751"/>
            <a:ext cx="838200" cy="1828800"/>
            <a:chOff x="4992" y="1008"/>
            <a:chExt cx="528" cy="1152"/>
          </a:xfrm>
        </p:grpSpPr>
        <p:sp>
          <p:nvSpPr>
            <p:cNvPr id="6187" name="Line 78"/>
            <p:cNvSpPr/>
            <p:nvPr/>
          </p:nvSpPr>
          <p:spPr>
            <a:xfrm>
              <a:off x="5232" y="1344"/>
              <a:ext cx="0" cy="14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88" name="Line 79"/>
            <p:cNvSpPr/>
            <p:nvPr/>
          </p:nvSpPr>
          <p:spPr>
            <a:xfrm>
              <a:off x="5088" y="1344"/>
              <a:ext cx="0" cy="14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89" name="Line 80"/>
            <p:cNvSpPr/>
            <p:nvPr/>
          </p:nvSpPr>
          <p:spPr>
            <a:xfrm>
              <a:off x="4992" y="1488"/>
              <a:ext cx="336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90" name="Line 81"/>
            <p:cNvSpPr/>
            <p:nvPr/>
          </p:nvSpPr>
          <p:spPr>
            <a:xfrm>
              <a:off x="5232" y="1344"/>
              <a:ext cx="227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91" name="Line 82"/>
            <p:cNvSpPr/>
            <p:nvPr/>
          </p:nvSpPr>
          <p:spPr>
            <a:xfrm>
              <a:off x="5088" y="1536"/>
              <a:ext cx="144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92" name="Line 83"/>
            <p:cNvSpPr/>
            <p:nvPr/>
          </p:nvSpPr>
          <p:spPr>
            <a:xfrm>
              <a:off x="5161" y="1536"/>
              <a:ext cx="0" cy="62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93" name="Text Box 84"/>
            <p:cNvSpPr txBox="1"/>
            <p:nvPr/>
          </p:nvSpPr>
          <p:spPr>
            <a:xfrm>
              <a:off x="4992" y="1008"/>
              <a:ext cx="528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T6</a:t>
              </a:r>
            </a:p>
          </p:txBody>
        </p:sp>
      </p:grpSp>
      <p:sp>
        <p:nvSpPr>
          <p:cNvPr id="10327" name="Line 87"/>
          <p:cNvSpPr/>
          <p:nvPr/>
        </p:nvSpPr>
        <p:spPr>
          <a:xfrm>
            <a:off x="4648205" y="4146551"/>
            <a:ext cx="3527425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29" name="Text Box 89"/>
          <p:cNvSpPr txBox="1"/>
          <p:nvPr/>
        </p:nvSpPr>
        <p:spPr>
          <a:xfrm>
            <a:off x="0" y="3917954"/>
            <a:ext cx="3886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T5</a:t>
            </a:r>
            <a:r>
              <a:rPr lang="zh-CN" altLang="en-US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T6</a:t>
            </a:r>
            <a:r>
              <a:rPr lang="zh-CN" altLang="en-US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控制门管</a:t>
            </a:r>
          </a:p>
        </p:txBody>
      </p:sp>
      <p:sp>
        <p:nvSpPr>
          <p:cNvPr id="10330" name="Line 90"/>
          <p:cNvSpPr/>
          <p:nvPr/>
        </p:nvSpPr>
        <p:spPr>
          <a:xfrm>
            <a:off x="6400800" y="4146551"/>
            <a:ext cx="0" cy="3810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oval" w="lg" len="lg"/>
            <a:tailEnd type="none" w="lg" len="lg"/>
          </a:ln>
        </p:spPr>
      </p:sp>
      <p:sp>
        <p:nvSpPr>
          <p:cNvPr id="10332" name="Text Box 92"/>
          <p:cNvSpPr txBox="1"/>
          <p:nvPr/>
        </p:nvSpPr>
        <p:spPr>
          <a:xfrm>
            <a:off x="6210300" y="4451353"/>
            <a:ext cx="381000" cy="52322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</a:p>
        </p:txBody>
      </p:sp>
      <p:sp>
        <p:nvSpPr>
          <p:cNvPr id="10333" name="Text Box 93"/>
          <p:cNvSpPr txBox="1"/>
          <p:nvPr/>
        </p:nvSpPr>
        <p:spPr>
          <a:xfrm>
            <a:off x="36513" y="4451354"/>
            <a:ext cx="58674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Z</a:t>
            </a:r>
            <a:r>
              <a:rPr lang="zh-CN" altLang="en-US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：字线，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选择存储单元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高电平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0334" name="Text Box 94"/>
          <p:cNvSpPr txBox="1"/>
          <p:nvPr/>
        </p:nvSpPr>
        <p:spPr>
          <a:xfrm>
            <a:off x="1327151" y="4984753"/>
            <a:ext cx="4876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位线，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完成读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写操作</a:t>
            </a:r>
          </a:p>
        </p:txBody>
      </p:sp>
      <p:sp>
        <p:nvSpPr>
          <p:cNvPr id="10335" name="Line 95"/>
          <p:cNvSpPr/>
          <p:nvPr/>
        </p:nvSpPr>
        <p:spPr>
          <a:xfrm>
            <a:off x="4140200" y="1860551"/>
            <a:ext cx="0" cy="23622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36" name="Line 96"/>
          <p:cNvSpPr/>
          <p:nvPr/>
        </p:nvSpPr>
        <p:spPr>
          <a:xfrm>
            <a:off x="8675688" y="1860551"/>
            <a:ext cx="0" cy="23622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109"/>
          <p:cNvGrpSpPr/>
          <p:nvPr/>
        </p:nvGrpSpPr>
        <p:grpSpPr>
          <a:xfrm>
            <a:off x="3873500" y="1390652"/>
            <a:ext cx="914400" cy="523875"/>
            <a:chOff x="2479" y="432"/>
            <a:chExt cx="576" cy="330"/>
          </a:xfrm>
        </p:grpSpPr>
        <p:sp>
          <p:nvSpPr>
            <p:cNvPr id="6185" name="Text Box 97"/>
            <p:cNvSpPr txBox="1"/>
            <p:nvPr/>
          </p:nvSpPr>
          <p:spPr>
            <a:xfrm>
              <a:off x="2479" y="432"/>
              <a:ext cx="576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W</a:t>
              </a:r>
            </a:p>
          </p:txBody>
        </p:sp>
        <p:sp>
          <p:nvSpPr>
            <p:cNvPr id="6186" name="Line 98"/>
            <p:cNvSpPr/>
            <p:nvPr/>
          </p:nvSpPr>
          <p:spPr>
            <a:xfrm>
              <a:off x="2544" y="480"/>
              <a:ext cx="204" cy="0"/>
            </a:xfrm>
            <a:prstGeom prst="line">
              <a:avLst/>
            </a:prstGeom>
            <a:ln w="28575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0340" name="Text Box 100"/>
          <p:cNvSpPr txBox="1"/>
          <p:nvPr/>
        </p:nvSpPr>
        <p:spPr>
          <a:xfrm>
            <a:off x="8293100" y="1366837"/>
            <a:ext cx="762000" cy="52322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W</a:t>
            </a:r>
          </a:p>
        </p:txBody>
      </p:sp>
      <p:grpSp>
        <p:nvGrpSpPr>
          <p:cNvPr id="30" name="Group 114"/>
          <p:cNvGrpSpPr/>
          <p:nvPr/>
        </p:nvGrpSpPr>
        <p:grpSpPr>
          <a:xfrm>
            <a:off x="34930" y="5021264"/>
            <a:ext cx="1268413" cy="523875"/>
            <a:chOff x="2" y="2711"/>
            <a:chExt cx="799" cy="330"/>
          </a:xfrm>
        </p:grpSpPr>
        <p:sp>
          <p:nvSpPr>
            <p:cNvPr id="10342" name="Text Box 102"/>
            <p:cNvSpPr txBox="1">
              <a:spLocks noChangeArrowheads="1"/>
            </p:cNvSpPr>
            <p:nvPr/>
          </p:nvSpPr>
          <p:spPr bwMode="auto">
            <a:xfrm>
              <a:off x="2" y="2711"/>
              <a:ext cx="799" cy="33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en-US" altLang="zh-CN" sz="2800" b="1" dirty="0">
                  <a:solidFill>
                    <a:srgbClr val="FFFF00"/>
                  </a:solidFill>
                  <a:latin typeface="+mn-lt"/>
                  <a:ea typeface="黑体" panose="02010609060101010101" pitchFamily="49" charset="-122"/>
                  <a:cs typeface="Calibri" panose="020F0502020204030204" pitchFamily="34" charset="0"/>
                </a:rPr>
                <a:t>W</a:t>
              </a:r>
              <a:r>
                <a:rPr kumimoji="1" lang="zh-CN" altLang="en-US" sz="2800" b="1" dirty="0">
                  <a:solidFill>
                    <a:srgbClr val="FFFF00"/>
                  </a:solidFill>
                  <a:latin typeface="+mn-lt"/>
                  <a:ea typeface="黑体" panose="02010609060101010101" pitchFamily="49" charset="-122"/>
                  <a:cs typeface="Calibri" panose="020F0502020204030204" pitchFamily="34" charset="0"/>
                </a:rPr>
                <a:t>、</a:t>
              </a:r>
            </a:p>
          </p:txBody>
        </p:sp>
        <p:sp>
          <p:nvSpPr>
            <p:cNvPr id="6184" name="Line 103"/>
            <p:cNvSpPr/>
            <p:nvPr/>
          </p:nvSpPr>
          <p:spPr>
            <a:xfrm>
              <a:off x="64" y="2752"/>
              <a:ext cx="204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0345" name="Text Box 105"/>
          <p:cNvSpPr txBox="1">
            <a:spLocks noChangeArrowheads="1"/>
          </p:cNvSpPr>
          <p:nvPr/>
        </p:nvSpPr>
        <p:spPr bwMode="auto">
          <a:xfrm>
            <a:off x="601663" y="5008567"/>
            <a:ext cx="91440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 dirty="0">
                <a:solidFill>
                  <a:srgbClr val="FFFF00"/>
                </a:solidFill>
                <a:latin typeface="+mn-lt"/>
                <a:ea typeface="黑体" panose="02010609060101010101" pitchFamily="49" charset="-122"/>
                <a:cs typeface="Calibri" panose="020F0502020204030204" pitchFamily="34" charset="0"/>
              </a:rPr>
              <a:t>W</a:t>
            </a:r>
            <a:r>
              <a:rPr kumimoji="1" lang="zh-CN" altLang="en-US" sz="2800" b="1" dirty="0">
                <a:solidFill>
                  <a:srgbClr val="FFFF00"/>
                </a:solidFill>
                <a:latin typeface="+mn-lt"/>
                <a:ea typeface="黑体" panose="02010609060101010101" pitchFamily="49" charset="-122"/>
                <a:cs typeface="Calibri" panose="020F0502020204030204" pitchFamily="34" charset="0"/>
              </a:rPr>
              <a:t>：</a:t>
            </a:r>
          </a:p>
        </p:txBody>
      </p:sp>
      <p:sp>
        <p:nvSpPr>
          <p:cNvPr id="10346" name="Text Box 106"/>
          <p:cNvSpPr txBox="1"/>
          <p:nvPr/>
        </p:nvSpPr>
        <p:spPr>
          <a:xfrm>
            <a:off x="60325" y="5659441"/>
            <a:ext cx="3124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）定义</a:t>
            </a:r>
          </a:p>
        </p:txBody>
      </p:sp>
      <p:sp>
        <p:nvSpPr>
          <p:cNvPr id="10347" name="Text Box 107"/>
          <p:cNvSpPr txBox="1"/>
          <p:nvPr/>
        </p:nvSpPr>
        <p:spPr>
          <a:xfrm>
            <a:off x="152400" y="6280153"/>
            <a:ext cx="4876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导通，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截止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━</a:t>
            </a:r>
            <a:r>
              <a:rPr lang="zh-CN" altLang="en-US" sz="800" b="1" dirty="0"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sp>
        <p:nvSpPr>
          <p:cNvPr id="10348" name="Text Box 108"/>
          <p:cNvSpPr txBox="1"/>
          <p:nvPr/>
        </p:nvSpPr>
        <p:spPr>
          <a:xfrm>
            <a:off x="3587750" y="6283330"/>
            <a:ext cx="3576639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截止，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━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351" name="Oval 111"/>
          <p:cNvSpPr/>
          <p:nvPr/>
        </p:nvSpPr>
        <p:spPr>
          <a:xfrm>
            <a:off x="6324600" y="1784351"/>
            <a:ext cx="152400" cy="152400"/>
          </a:xfrm>
          <a:prstGeom prst="ellipse">
            <a:avLst/>
          </a:prstGeom>
          <a:solidFill>
            <a:schemeClr val="tx1"/>
          </a:solidFill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10352" name="Oval 112"/>
          <p:cNvSpPr/>
          <p:nvPr/>
        </p:nvSpPr>
        <p:spPr>
          <a:xfrm>
            <a:off x="5334000" y="2774951"/>
            <a:ext cx="152400" cy="152400"/>
          </a:xfrm>
          <a:prstGeom prst="ellipse">
            <a:avLst/>
          </a:prstGeom>
          <a:solidFill>
            <a:schemeClr val="tx1"/>
          </a:solidFill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10353" name="Oval 113"/>
          <p:cNvSpPr/>
          <p:nvPr/>
        </p:nvSpPr>
        <p:spPr>
          <a:xfrm>
            <a:off x="7315200" y="2774951"/>
            <a:ext cx="152400" cy="152400"/>
          </a:xfrm>
          <a:prstGeom prst="ellipse">
            <a:avLst/>
          </a:prstGeom>
          <a:solidFill>
            <a:schemeClr val="tx1"/>
          </a:solidFill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36866" name="Text Box 2"/>
          <p:cNvSpPr txBox="1"/>
          <p:nvPr/>
        </p:nvSpPr>
        <p:spPr>
          <a:xfrm>
            <a:off x="152405" y="44451"/>
            <a:ext cx="7286625" cy="6463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4.2.1 </a:t>
            </a:r>
            <a:r>
              <a:rPr lang="zh-CN" altLang="en-US" sz="36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静态</a:t>
            </a:r>
            <a:r>
              <a:rPr lang="en-US" altLang="zh-CN" sz="36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MOS</a:t>
            </a:r>
            <a:r>
              <a:rPr lang="zh-CN" altLang="en-US" sz="36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存储单元与芯片</a:t>
            </a:r>
          </a:p>
        </p:txBody>
      </p:sp>
    </p:spTree>
  </p:cSld>
  <p:clrMapOvr>
    <a:masterClrMapping/>
  </p:clrMapOvr>
  <p:transition spd="med">
    <p:pull dir="l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Text Box 4"/>
          <p:cNvSpPr txBox="1"/>
          <p:nvPr/>
        </p:nvSpPr>
        <p:spPr>
          <a:xfrm>
            <a:off x="0" y="44453"/>
            <a:ext cx="3124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）工作</a:t>
            </a:r>
          </a:p>
        </p:txBody>
      </p:sp>
      <p:sp>
        <p:nvSpPr>
          <p:cNvPr id="12366" name="Text Box 78"/>
          <p:cNvSpPr txBox="1"/>
          <p:nvPr/>
        </p:nvSpPr>
        <p:spPr>
          <a:xfrm>
            <a:off x="2260600" y="552454"/>
            <a:ext cx="1447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T5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T6</a:t>
            </a:r>
          </a:p>
        </p:txBody>
      </p:sp>
      <p:sp>
        <p:nvSpPr>
          <p:cNvPr id="12370" name="Text Box 82"/>
          <p:cNvSpPr txBox="1"/>
          <p:nvPr/>
        </p:nvSpPr>
        <p:spPr>
          <a:xfrm>
            <a:off x="50800" y="552453"/>
            <a:ext cx="28956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加高电平，</a:t>
            </a:r>
          </a:p>
        </p:txBody>
      </p:sp>
      <p:sp>
        <p:nvSpPr>
          <p:cNvPr id="12371" name="Text Box 83"/>
          <p:cNvSpPr txBox="1"/>
          <p:nvPr/>
        </p:nvSpPr>
        <p:spPr>
          <a:xfrm>
            <a:off x="0" y="1924054"/>
            <a:ext cx="35814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低电平，写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1/0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2382" name="Text Box 94"/>
          <p:cNvSpPr txBox="1"/>
          <p:nvPr/>
        </p:nvSpPr>
        <p:spPr>
          <a:xfrm>
            <a:off x="0" y="3500442"/>
            <a:ext cx="3124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）数据保持</a:t>
            </a:r>
          </a:p>
        </p:txBody>
      </p:sp>
      <p:sp>
        <p:nvSpPr>
          <p:cNvPr id="12384" name="Text Box 96"/>
          <p:cNvSpPr txBox="1"/>
          <p:nvPr/>
        </p:nvSpPr>
        <p:spPr>
          <a:xfrm>
            <a:off x="0" y="4546601"/>
            <a:ext cx="9144000" cy="9541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只要电源正常，保证向导通管提供电流，便能维持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一管导通、另一管截止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的状态不变，故称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静态存储单元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2" name="Group 100"/>
          <p:cNvGrpSpPr/>
          <p:nvPr/>
        </p:nvGrpSpPr>
        <p:grpSpPr>
          <a:xfrm>
            <a:off x="3944939" y="198437"/>
            <a:ext cx="5091112" cy="3308351"/>
            <a:chOff x="2445" y="364"/>
            <a:chExt cx="3207" cy="2084"/>
          </a:xfrm>
        </p:grpSpPr>
        <p:sp>
          <p:nvSpPr>
            <p:cNvPr id="7192" name="Text Box 6"/>
            <p:cNvSpPr txBox="1"/>
            <p:nvPr/>
          </p:nvSpPr>
          <p:spPr>
            <a:xfrm>
              <a:off x="4019" y="364"/>
              <a:ext cx="816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Vcc</a:t>
              </a:r>
            </a:p>
          </p:txBody>
        </p:sp>
        <p:grpSp>
          <p:nvGrpSpPr>
            <p:cNvPr id="7193" name="Group 8"/>
            <p:cNvGrpSpPr/>
            <p:nvPr/>
          </p:nvGrpSpPr>
          <p:grpSpPr>
            <a:xfrm>
              <a:off x="2976" y="720"/>
              <a:ext cx="912" cy="1263"/>
              <a:chOff x="2352" y="1296"/>
              <a:chExt cx="912" cy="1263"/>
            </a:xfrm>
          </p:grpSpPr>
          <p:grpSp>
            <p:nvGrpSpPr>
              <p:cNvPr id="7250" name="Group 9"/>
              <p:cNvGrpSpPr/>
              <p:nvPr/>
            </p:nvGrpSpPr>
            <p:grpSpPr>
              <a:xfrm>
                <a:off x="2461" y="1296"/>
                <a:ext cx="803" cy="624"/>
                <a:chOff x="2461" y="1296"/>
                <a:chExt cx="803" cy="624"/>
              </a:xfrm>
            </p:grpSpPr>
            <p:sp>
              <p:nvSpPr>
                <p:cNvPr id="7263" name="Text Box 10"/>
                <p:cNvSpPr txBox="1"/>
                <p:nvPr/>
              </p:nvSpPr>
              <p:spPr>
                <a:xfrm>
                  <a:off x="2461" y="1440"/>
                  <a:ext cx="480" cy="33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b="1" dirty="0">
                      <a:solidFill>
                        <a:srgbClr val="FFFF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T3</a:t>
                  </a:r>
                </a:p>
              </p:txBody>
            </p:sp>
            <p:grpSp>
              <p:nvGrpSpPr>
                <p:cNvPr id="7264" name="Group 11"/>
                <p:cNvGrpSpPr/>
                <p:nvPr/>
              </p:nvGrpSpPr>
              <p:grpSpPr>
                <a:xfrm>
                  <a:off x="2784" y="1296"/>
                  <a:ext cx="480" cy="624"/>
                  <a:chOff x="2784" y="1296"/>
                  <a:chExt cx="480" cy="624"/>
                </a:xfrm>
              </p:grpSpPr>
              <p:sp>
                <p:nvSpPr>
                  <p:cNvPr id="7265" name="Line 12"/>
                  <p:cNvSpPr/>
                  <p:nvPr/>
                </p:nvSpPr>
                <p:spPr>
                  <a:xfrm>
                    <a:off x="2784" y="1296"/>
                    <a:ext cx="0" cy="24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7266" name="Line 13"/>
                  <p:cNvSpPr/>
                  <p:nvPr/>
                </p:nvSpPr>
                <p:spPr>
                  <a:xfrm>
                    <a:off x="2784" y="1536"/>
                    <a:ext cx="192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7267" name="Line 14"/>
                  <p:cNvSpPr/>
                  <p:nvPr/>
                </p:nvSpPr>
                <p:spPr>
                  <a:xfrm>
                    <a:off x="2784" y="1680"/>
                    <a:ext cx="192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7268" name="Line 15"/>
                  <p:cNvSpPr/>
                  <p:nvPr/>
                </p:nvSpPr>
                <p:spPr>
                  <a:xfrm>
                    <a:off x="2976" y="1488"/>
                    <a:ext cx="0" cy="24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7269" name="Line 16"/>
                  <p:cNvSpPr/>
                  <p:nvPr/>
                </p:nvSpPr>
                <p:spPr>
                  <a:xfrm>
                    <a:off x="2784" y="1680"/>
                    <a:ext cx="0" cy="24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7270" name="Line 17"/>
                  <p:cNvSpPr/>
                  <p:nvPr/>
                </p:nvSpPr>
                <p:spPr>
                  <a:xfrm>
                    <a:off x="3072" y="1536"/>
                    <a:ext cx="0" cy="144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7271" name="Line 18"/>
                  <p:cNvSpPr/>
                  <p:nvPr/>
                </p:nvSpPr>
                <p:spPr>
                  <a:xfrm>
                    <a:off x="3072" y="1632"/>
                    <a:ext cx="192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</p:grpSp>
          <p:grpSp>
            <p:nvGrpSpPr>
              <p:cNvPr id="7251" name="Group 19"/>
              <p:cNvGrpSpPr/>
              <p:nvPr/>
            </p:nvGrpSpPr>
            <p:grpSpPr>
              <a:xfrm>
                <a:off x="2473" y="1920"/>
                <a:ext cx="791" cy="624"/>
                <a:chOff x="2473" y="1296"/>
                <a:chExt cx="791" cy="624"/>
              </a:xfrm>
            </p:grpSpPr>
            <p:sp>
              <p:nvSpPr>
                <p:cNvPr id="7254" name="Text Box 20"/>
                <p:cNvSpPr txBox="1"/>
                <p:nvPr/>
              </p:nvSpPr>
              <p:spPr>
                <a:xfrm>
                  <a:off x="2473" y="1440"/>
                  <a:ext cx="480" cy="33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b="1" dirty="0">
                      <a:solidFill>
                        <a:srgbClr val="FFFF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T1</a:t>
                  </a:r>
                </a:p>
              </p:txBody>
            </p:sp>
            <p:grpSp>
              <p:nvGrpSpPr>
                <p:cNvPr id="7255" name="Group 21"/>
                <p:cNvGrpSpPr/>
                <p:nvPr/>
              </p:nvGrpSpPr>
              <p:grpSpPr>
                <a:xfrm>
                  <a:off x="2784" y="1296"/>
                  <a:ext cx="480" cy="624"/>
                  <a:chOff x="2784" y="1296"/>
                  <a:chExt cx="480" cy="624"/>
                </a:xfrm>
              </p:grpSpPr>
              <p:sp>
                <p:nvSpPr>
                  <p:cNvPr id="7256" name="Line 22"/>
                  <p:cNvSpPr/>
                  <p:nvPr/>
                </p:nvSpPr>
                <p:spPr>
                  <a:xfrm>
                    <a:off x="2784" y="1296"/>
                    <a:ext cx="0" cy="24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7257" name="Line 23"/>
                  <p:cNvSpPr/>
                  <p:nvPr/>
                </p:nvSpPr>
                <p:spPr>
                  <a:xfrm>
                    <a:off x="2784" y="1536"/>
                    <a:ext cx="192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7258" name="Line 24"/>
                  <p:cNvSpPr/>
                  <p:nvPr/>
                </p:nvSpPr>
                <p:spPr>
                  <a:xfrm>
                    <a:off x="2784" y="1680"/>
                    <a:ext cx="192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7259" name="Line 25"/>
                  <p:cNvSpPr/>
                  <p:nvPr/>
                </p:nvSpPr>
                <p:spPr>
                  <a:xfrm>
                    <a:off x="2976" y="1488"/>
                    <a:ext cx="0" cy="240"/>
                  </a:xfrm>
                  <a:prstGeom prst="line">
                    <a:avLst/>
                  </a:prstGeom>
                  <a:ln w="76200" cap="sq" cmpd="sng">
                    <a:solidFill>
                      <a:srgbClr val="FFFF00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7260" name="Line 26"/>
                  <p:cNvSpPr/>
                  <p:nvPr/>
                </p:nvSpPr>
                <p:spPr>
                  <a:xfrm>
                    <a:off x="2784" y="1680"/>
                    <a:ext cx="0" cy="24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7261" name="Line 27"/>
                  <p:cNvSpPr/>
                  <p:nvPr/>
                </p:nvSpPr>
                <p:spPr>
                  <a:xfrm>
                    <a:off x="3072" y="1536"/>
                    <a:ext cx="0" cy="144"/>
                  </a:xfrm>
                  <a:prstGeom prst="line">
                    <a:avLst/>
                  </a:prstGeom>
                  <a:ln w="76200" cap="sq" cmpd="sng">
                    <a:solidFill>
                      <a:srgbClr val="FFFF00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7262" name="Line 28"/>
                  <p:cNvSpPr/>
                  <p:nvPr/>
                </p:nvSpPr>
                <p:spPr>
                  <a:xfrm>
                    <a:off x="3072" y="1632"/>
                    <a:ext cx="192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</p:grpSp>
          <p:sp>
            <p:nvSpPr>
              <p:cNvPr id="7252" name="Line 29"/>
              <p:cNvSpPr/>
              <p:nvPr/>
            </p:nvSpPr>
            <p:spPr>
              <a:xfrm>
                <a:off x="2688" y="2559"/>
                <a:ext cx="192" cy="0"/>
              </a:xfrm>
              <a:prstGeom prst="line">
                <a:avLst/>
              </a:prstGeom>
              <a:ln w="1905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53" name="Line 30"/>
              <p:cNvSpPr/>
              <p:nvPr/>
            </p:nvSpPr>
            <p:spPr>
              <a:xfrm>
                <a:off x="2352" y="1920"/>
                <a:ext cx="43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7194" name="Group 31"/>
            <p:cNvGrpSpPr/>
            <p:nvPr/>
          </p:nvGrpSpPr>
          <p:grpSpPr>
            <a:xfrm>
              <a:off x="4176" y="720"/>
              <a:ext cx="928" cy="1263"/>
              <a:chOff x="3648" y="1296"/>
              <a:chExt cx="928" cy="1263"/>
            </a:xfrm>
          </p:grpSpPr>
          <p:sp>
            <p:nvSpPr>
              <p:cNvPr id="7230" name="Text Box 32"/>
              <p:cNvSpPr txBox="1"/>
              <p:nvPr/>
            </p:nvSpPr>
            <p:spPr>
              <a:xfrm flipH="1">
                <a:off x="4090" y="1440"/>
                <a:ext cx="480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T4</a:t>
                </a:r>
              </a:p>
            </p:txBody>
          </p:sp>
          <p:grpSp>
            <p:nvGrpSpPr>
              <p:cNvPr id="7231" name="Group 33"/>
              <p:cNvGrpSpPr/>
              <p:nvPr/>
            </p:nvGrpSpPr>
            <p:grpSpPr>
              <a:xfrm flipH="1">
                <a:off x="3648" y="1296"/>
                <a:ext cx="480" cy="624"/>
                <a:chOff x="2784" y="1296"/>
                <a:chExt cx="480" cy="624"/>
              </a:xfrm>
            </p:grpSpPr>
            <p:sp>
              <p:nvSpPr>
                <p:cNvPr id="7243" name="Line 34"/>
                <p:cNvSpPr/>
                <p:nvPr/>
              </p:nvSpPr>
              <p:spPr>
                <a:xfrm>
                  <a:off x="2784" y="1296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7244" name="Line 35"/>
                <p:cNvSpPr/>
                <p:nvPr/>
              </p:nvSpPr>
              <p:spPr>
                <a:xfrm>
                  <a:off x="2784" y="1536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7245" name="Line 36"/>
                <p:cNvSpPr/>
                <p:nvPr/>
              </p:nvSpPr>
              <p:spPr>
                <a:xfrm>
                  <a:off x="2784" y="1680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7246" name="Line 37"/>
                <p:cNvSpPr/>
                <p:nvPr/>
              </p:nvSpPr>
              <p:spPr>
                <a:xfrm>
                  <a:off x="2976" y="1488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7247" name="Line 38"/>
                <p:cNvSpPr/>
                <p:nvPr/>
              </p:nvSpPr>
              <p:spPr>
                <a:xfrm>
                  <a:off x="2784" y="1680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7248" name="Line 39"/>
                <p:cNvSpPr/>
                <p:nvPr/>
              </p:nvSpPr>
              <p:spPr>
                <a:xfrm>
                  <a:off x="3072" y="1536"/>
                  <a:ext cx="0" cy="144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7249" name="Line 40"/>
                <p:cNvSpPr/>
                <p:nvPr/>
              </p:nvSpPr>
              <p:spPr>
                <a:xfrm>
                  <a:off x="3072" y="1632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7232" name="Text Box 41"/>
              <p:cNvSpPr txBox="1"/>
              <p:nvPr/>
            </p:nvSpPr>
            <p:spPr>
              <a:xfrm flipH="1">
                <a:off x="4096" y="2060"/>
                <a:ext cx="480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T2</a:t>
                </a:r>
              </a:p>
            </p:txBody>
          </p:sp>
          <p:grpSp>
            <p:nvGrpSpPr>
              <p:cNvPr id="7233" name="Group 42"/>
              <p:cNvGrpSpPr/>
              <p:nvPr/>
            </p:nvGrpSpPr>
            <p:grpSpPr>
              <a:xfrm flipH="1">
                <a:off x="3648" y="1920"/>
                <a:ext cx="480" cy="624"/>
                <a:chOff x="2784" y="1296"/>
                <a:chExt cx="480" cy="624"/>
              </a:xfrm>
            </p:grpSpPr>
            <p:sp>
              <p:nvSpPr>
                <p:cNvPr id="7236" name="Line 43"/>
                <p:cNvSpPr/>
                <p:nvPr/>
              </p:nvSpPr>
              <p:spPr>
                <a:xfrm>
                  <a:off x="2784" y="1296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7237" name="Line 44"/>
                <p:cNvSpPr/>
                <p:nvPr/>
              </p:nvSpPr>
              <p:spPr>
                <a:xfrm>
                  <a:off x="2784" y="1536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7238" name="Line 45"/>
                <p:cNvSpPr/>
                <p:nvPr/>
              </p:nvSpPr>
              <p:spPr>
                <a:xfrm>
                  <a:off x="2784" y="1680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7239" name="Line 46"/>
                <p:cNvSpPr/>
                <p:nvPr/>
              </p:nvSpPr>
              <p:spPr>
                <a:xfrm>
                  <a:off x="2976" y="1488"/>
                  <a:ext cx="0" cy="240"/>
                </a:xfrm>
                <a:prstGeom prst="line">
                  <a:avLst/>
                </a:prstGeom>
                <a:ln w="76200" cap="sq" cmpd="sng">
                  <a:solidFill>
                    <a:srgbClr val="FFFF00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7240" name="Line 47"/>
                <p:cNvSpPr/>
                <p:nvPr/>
              </p:nvSpPr>
              <p:spPr>
                <a:xfrm>
                  <a:off x="2784" y="1680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7241" name="Line 48"/>
                <p:cNvSpPr/>
                <p:nvPr/>
              </p:nvSpPr>
              <p:spPr>
                <a:xfrm>
                  <a:off x="3072" y="1536"/>
                  <a:ext cx="0" cy="144"/>
                </a:xfrm>
                <a:prstGeom prst="line">
                  <a:avLst/>
                </a:prstGeom>
                <a:ln w="76200" cap="sq" cmpd="sng">
                  <a:solidFill>
                    <a:srgbClr val="FFFF00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7242" name="Line 49"/>
                <p:cNvSpPr/>
                <p:nvPr/>
              </p:nvSpPr>
              <p:spPr>
                <a:xfrm>
                  <a:off x="3072" y="1632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7234" name="Line 50"/>
              <p:cNvSpPr/>
              <p:nvPr/>
            </p:nvSpPr>
            <p:spPr>
              <a:xfrm flipH="1">
                <a:off x="4032" y="2559"/>
                <a:ext cx="192" cy="0"/>
              </a:xfrm>
              <a:prstGeom prst="line">
                <a:avLst/>
              </a:prstGeom>
              <a:ln w="1905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35" name="Line 51"/>
              <p:cNvSpPr/>
              <p:nvPr/>
            </p:nvSpPr>
            <p:spPr>
              <a:xfrm flipH="1">
                <a:off x="4128" y="1920"/>
                <a:ext cx="43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7195" name="Line 53"/>
            <p:cNvSpPr/>
            <p:nvPr/>
          </p:nvSpPr>
          <p:spPr>
            <a:xfrm>
              <a:off x="3408" y="1344"/>
              <a:ext cx="480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96" name="Line 54"/>
            <p:cNvSpPr/>
            <p:nvPr/>
          </p:nvSpPr>
          <p:spPr>
            <a:xfrm>
              <a:off x="3888" y="1344"/>
              <a:ext cx="288" cy="336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97" name="Line 55"/>
            <p:cNvSpPr/>
            <p:nvPr/>
          </p:nvSpPr>
          <p:spPr>
            <a:xfrm flipV="1">
              <a:off x="3888" y="1344"/>
              <a:ext cx="288" cy="336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98" name="Line 56"/>
            <p:cNvSpPr/>
            <p:nvPr/>
          </p:nvSpPr>
          <p:spPr>
            <a:xfrm>
              <a:off x="4176" y="1344"/>
              <a:ext cx="480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99" name="Line 57"/>
            <p:cNvSpPr/>
            <p:nvPr/>
          </p:nvSpPr>
          <p:spPr>
            <a:xfrm>
              <a:off x="3408" y="720"/>
              <a:ext cx="1248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200" name="Line 58"/>
            <p:cNvSpPr/>
            <p:nvPr/>
          </p:nvSpPr>
          <p:spPr>
            <a:xfrm>
              <a:off x="3888" y="1056"/>
              <a:ext cx="288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201" name="Line 59"/>
            <p:cNvSpPr/>
            <p:nvPr/>
          </p:nvSpPr>
          <p:spPr>
            <a:xfrm>
              <a:off x="4032" y="480"/>
              <a:ext cx="0" cy="576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oval" w="lg" len="lg"/>
            </a:ln>
          </p:spPr>
        </p:sp>
        <p:grpSp>
          <p:nvGrpSpPr>
            <p:cNvPr id="7202" name="Group 61"/>
            <p:cNvGrpSpPr/>
            <p:nvPr/>
          </p:nvGrpSpPr>
          <p:grpSpPr>
            <a:xfrm>
              <a:off x="2606" y="1008"/>
              <a:ext cx="610" cy="1152"/>
              <a:chOff x="2606" y="1008"/>
              <a:chExt cx="610" cy="1152"/>
            </a:xfrm>
          </p:grpSpPr>
          <p:sp>
            <p:nvSpPr>
              <p:cNvPr id="7223" name="Line 62"/>
              <p:cNvSpPr/>
              <p:nvPr/>
            </p:nvSpPr>
            <p:spPr>
              <a:xfrm>
                <a:off x="2976" y="1344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24" name="Line 63"/>
              <p:cNvSpPr/>
              <p:nvPr/>
            </p:nvSpPr>
            <p:spPr>
              <a:xfrm>
                <a:off x="2832" y="1344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25" name="Line 64"/>
              <p:cNvSpPr/>
              <p:nvPr/>
            </p:nvSpPr>
            <p:spPr>
              <a:xfrm>
                <a:off x="2736" y="1488"/>
                <a:ext cx="336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26" name="Line 65"/>
              <p:cNvSpPr/>
              <p:nvPr/>
            </p:nvSpPr>
            <p:spPr>
              <a:xfrm>
                <a:off x="2606" y="1344"/>
                <a:ext cx="227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27" name="Line 66"/>
              <p:cNvSpPr/>
              <p:nvPr/>
            </p:nvSpPr>
            <p:spPr>
              <a:xfrm>
                <a:off x="2832" y="1536"/>
                <a:ext cx="144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28" name="Line 67"/>
              <p:cNvSpPr/>
              <p:nvPr/>
            </p:nvSpPr>
            <p:spPr>
              <a:xfrm>
                <a:off x="2905" y="1536"/>
                <a:ext cx="0" cy="62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29" name="Text Box 68"/>
              <p:cNvSpPr txBox="1"/>
              <p:nvPr/>
            </p:nvSpPr>
            <p:spPr>
              <a:xfrm>
                <a:off x="2688" y="1008"/>
                <a:ext cx="528" cy="33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T5</a:t>
                </a:r>
              </a:p>
            </p:txBody>
          </p:sp>
        </p:grpSp>
        <p:grpSp>
          <p:nvGrpSpPr>
            <p:cNvPr id="7203" name="Group 69"/>
            <p:cNvGrpSpPr/>
            <p:nvPr/>
          </p:nvGrpSpPr>
          <p:grpSpPr>
            <a:xfrm>
              <a:off x="4992" y="1008"/>
              <a:ext cx="528" cy="1152"/>
              <a:chOff x="4992" y="1008"/>
              <a:chExt cx="528" cy="1152"/>
            </a:xfrm>
          </p:grpSpPr>
          <p:sp>
            <p:nvSpPr>
              <p:cNvPr id="7216" name="Line 70"/>
              <p:cNvSpPr/>
              <p:nvPr/>
            </p:nvSpPr>
            <p:spPr>
              <a:xfrm>
                <a:off x="5232" y="1344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17" name="Line 71"/>
              <p:cNvSpPr/>
              <p:nvPr/>
            </p:nvSpPr>
            <p:spPr>
              <a:xfrm>
                <a:off x="5088" y="1344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18" name="Line 72"/>
              <p:cNvSpPr/>
              <p:nvPr/>
            </p:nvSpPr>
            <p:spPr>
              <a:xfrm>
                <a:off x="4992" y="1488"/>
                <a:ext cx="336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19" name="Line 73"/>
              <p:cNvSpPr/>
              <p:nvPr/>
            </p:nvSpPr>
            <p:spPr>
              <a:xfrm>
                <a:off x="5232" y="1344"/>
                <a:ext cx="227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20" name="Line 74"/>
              <p:cNvSpPr/>
              <p:nvPr/>
            </p:nvSpPr>
            <p:spPr>
              <a:xfrm>
                <a:off x="5088" y="1536"/>
                <a:ext cx="144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21" name="Line 75"/>
              <p:cNvSpPr/>
              <p:nvPr/>
            </p:nvSpPr>
            <p:spPr>
              <a:xfrm>
                <a:off x="5169" y="1536"/>
                <a:ext cx="0" cy="62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22" name="Text Box 76"/>
              <p:cNvSpPr txBox="1"/>
              <p:nvPr/>
            </p:nvSpPr>
            <p:spPr>
              <a:xfrm>
                <a:off x="4992" y="1008"/>
                <a:ext cx="528" cy="33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T6</a:t>
                </a:r>
              </a:p>
            </p:txBody>
          </p:sp>
        </p:grpSp>
        <p:sp>
          <p:nvSpPr>
            <p:cNvPr id="7204" name="Line 77"/>
            <p:cNvSpPr/>
            <p:nvPr/>
          </p:nvSpPr>
          <p:spPr>
            <a:xfrm>
              <a:off x="2928" y="2160"/>
              <a:ext cx="2222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205" name="Line 79"/>
            <p:cNvSpPr/>
            <p:nvPr/>
          </p:nvSpPr>
          <p:spPr>
            <a:xfrm>
              <a:off x="4032" y="2160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206" name="Text Box 81"/>
            <p:cNvSpPr txBox="1"/>
            <p:nvPr/>
          </p:nvSpPr>
          <p:spPr>
            <a:xfrm>
              <a:off x="4042" y="2157"/>
              <a:ext cx="335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Z</a:t>
              </a:r>
            </a:p>
          </p:txBody>
        </p:sp>
        <p:sp>
          <p:nvSpPr>
            <p:cNvPr id="7207" name="Line 84"/>
            <p:cNvSpPr/>
            <p:nvPr/>
          </p:nvSpPr>
          <p:spPr>
            <a:xfrm>
              <a:off x="2598" y="720"/>
              <a:ext cx="0" cy="1488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208" name="Line 85"/>
            <p:cNvSpPr/>
            <p:nvPr/>
          </p:nvSpPr>
          <p:spPr>
            <a:xfrm>
              <a:off x="5471" y="720"/>
              <a:ext cx="0" cy="1488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209" name="Group 86"/>
            <p:cNvGrpSpPr/>
            <p:nvPr/>
          </p:nvGrpSpPr>
          <p:grpSpPr>
            <a:xfrm>
              <a:off x="2445" y="482"/>
              <a:ext cx="440" cy="291"/>
              <a:chOff x="2445" y="482"/>
              <a:chExt cx="440" cy="291"/>
            </a:xfrm>
          </p:grpSpPr>
          <p:sp>
            <p:nvSpPr>
              <p:cNvPr id="7214" name="Text Box 87"/>
              <p:cNvSpPr txBox="1"/>
              <p:nvPr/>
            </p:nvSpPr>
            <p:spPr>
              <a:xfrm>
                <a:off x="2445" y="482"/>
                <a:ext cx="440" cy="29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FF00"/>
                    </a:solidFill>
                    <a:ea typeface="黑体" panose="02010609060101010101" pitchFamily="49" charset="-122"/>
                  </a:rPr>
                  <a:t>W</a:t>
                </a:r>
              </a:p>
            </p:txBody>
          </p:sp>
          <p:sp>
            <p:nvSpPr>
              <p:cNvPr id="7215" name="Line 88"/>
              <p:cNvSpPr/>
              <p:nvPr/>
            </p:nvSpPr>
            <p:spPr>
              <a:xfrm>
                <a:off x="2504" y="510"/>
                <a:ext cx="192" cy="0"/>
              </a:xfrm>
              <a:prstGeom prst="line">
                <a:avLst/>
              </a:prstGeom>
              <a:ln w="28575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7210" name="Text Box 89"/>
            <p:cNvSpPr txBox="1"/>
            <p:nvPr/>
          </p:nvSpPr>
          <p:spPr>
            <a:xfrm>
              <a:off x="5280" y="474"/>
              <a:ext cx="372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W</a:t>
              </a:r>
            </a:p>
          </p:txBody>
        </p:sp>
        <p:sp>
          <p:nvSpPr>
            <p:cNvPr id="7211" name="Oval 97"/>
            <p:cNvSpPr/>
            <p:nvPr/>
          </p:nvSpPr>
          <p:spPr>
            <a:xfrm>
              <a:off x="3984" y="672"/>
              <a:ext cx="96" cy="96"/>
            </a:xfrm>
            <a:prstGeom prst="ellipse">
              <a:avLst/>
            </a:prstGeom>
            <a:solidFill>
              <a:schemeClr val="tx1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/>
            </a:p>
          </p:txBody>
        </p:sp>
        <p:sp>
          <p:nvSpPr>
            <p:cNvPr id="7212" name="Oval 98"/>
            <p:cNvSpPr/>
            <p:nvPr/>
          </p:nvSpPr>
          <p:spPr>
            <a:xfrm>
              <a:off x="3360" y="1296"/>
              <a:ext cx="96" cy="96"/>
            </a:xfrm>
            <a:prstGeom prst="ellipse">
              <a:avLst/>
            </a:prstGeom>
            <a:solidFill>
              <a:schemeClr val="tx1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/>
            </a:p>
          </p:txBody>
        </p:sp>
        <p:sp>
          <p:nvSpPr>
            <p:cNvPr id="7213" name="Oval 99"/>
            <p:cNvSpPr/>
            <p:nvPr/>
          </p:nvSpPr>
          <p:spPr>
            <a:xfrm>
              <a:off x="4608" y="1296"/>
              <a:ext cx="96" cy="96"/>
            </a:xfrm>
            <a:prstGeom prst="ellipse">
              <a:avLst/>
            </a:prstGeom>
            <a:solidFill>
              <a:schemeClr val="tx1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/>
            </a:p>
          </p:txBody>
        </p:sp>
      </p:grpSp>
      <p:sp>
        <p:nvSpPr>
          <p:cNvPr id="12389" name="Text Box 101"/>
          <p:cNvSpPr txBox="1"/>
          <p:nvPr/>
        </p:nvSpPr>
        <p:spPr>
          <a:xfrm>
            <a:off x="0" y="1009654"/>
            <a:ext cx="36576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导通，选中该单元。</a:t>
            </a:r>
          </a:p>
        </p:txBody>
      </p:sp>
      <p:grpSp>
        <p:nvGrpSpPr>
          <p:cNvPr id="14" name="Group 104"/>
          <p:cNvGrpSpPr/>
          <p:nvPr/>
        </p:nvGrpSpPr>
        <p:grpSpPr>
          <a:xfrm>
            <a:off x="0" y="1481140"/>
            <a:ext cx="4191000" cy="523875"/>
            <a:chOff x="0" y="933"/>
            <a:chExt cx="2640" cy="330"/>
          </a:xfrm>
        </p:grpSpPr>
        <p:sp>
          <p:nvSpPr>
            <p:cNvPr id="7190" name="Text Box 95"/>
            <p:cNvSpPr txBox="1"/>
            <p:nvPr/>
          </p:nvSpPr>
          <p:spPr>
            <a:xfrm>
              <a:off x="0" y="933"/>
              <a:ext cx="2640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写入：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在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W/W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上分别加</a:t>
              </a:r>
            </a:p>
          </p:txBody>
        </p:sp>
        <p:sp>
          <p:nvSpPr>
            <p:cNvPr id="7191" name="Line 103"/>
            <p:cNvSpPr/>
            <p:nvPr/>
          </p:nvSpPr>
          <p:spPr>
            <a:xfrm>
              <a:off x="982" y="996"/>
              <a:ext cx="113" cy="0"/>
            </a:xfrm>
            <a:prstGeom prst="line">
              <a:avLst/>
            </a:prstGeom>
            <a:ln w="28575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5" name="Group 108"/>
          <p:cNvGrpSpPr/>
          <p:nvPr/>
        </p:nvGrpSpPr>
        <p:grpSpPr>
          <a:xfrm>
            <a:off x="6" y="2405071"/>
            <a:ext cx="4067175" cy="954087"/>
            <a:chOff x="0" y="1488"/>
            <a:chExt cx="2153" cy="601"/>
          </a:xfrm>
        </p:grpSpPr>
        <p:sp>
          <p:nvSpPr>
            <p:cNvPr id="7188" name="Text Box 106"/>
            <p:cNvSpPr txBox="1"/>
            <p:nvPr/>
          </p:nvSpPr>
          <p:spPr>
            <a:xfrm>
              <a:off x="0" y="1488"/>
              <a:ext cx="2153" cy="60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读出：</a:t>
              </a:r>
              <a:r>
                <a:rPr lang="zh-CN" altLang="en-US" sz="28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充电后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根据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W/W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上</a:t>
              </a:r>
              <a:r>
                <a:rPr lang="zh-CN" altLang="en-US" sz="2800" b="1" dirty="0">
                  <a:solidFill>
                    <a:srgbClr val="00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</a:t>
              </a:r>
              <a:r>
                <a:rPr lang="en-US" altLang="zh-CN" sz="2800" b="1" dirty="0">
                  <a:solidFill>
                    <a:srgbClr val="00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r>
                <a:rPr lang="zh-CN" altLang="en-US" sz="2800" b="1" dirty="0">
                  <a:solidFill>
                    <a:srgbClr val="00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无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电流，读出</a:t>
              </a:r>
              <a:r>
                <a:rPr lang="en-US" altLang="zh-CN" sz="2800" b="1" dirty="0">
                  <a:solidFill>
                    <a:srgbClr val="00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0/1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  <a:endPara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89" name="Line 107"/>
            <p:cNvSpPr/>
            <p:nvPr/>
          </p:nvSpPr>
          <p:spPr>
            <a:xfrm>
              <a:off x="1581" y="1551"/>
              <a:ext cx="95" cy="0"/>
            </a:xfrm>
            <a:prstGeom prst="line">
              <a:avLst/>
            </a:prstGeom>
            <a:ln w="28575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2399" name="Text Box 111"/>
          <p:cNvSpPr txBox="1"/>
          <p:nvPr/>
        </p:nvSpPr>
        <p:spPr>
          <a:xfrm>
            <a:off x="92075" y="4025904"/>
            <a:ext cx="28956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加低电平，</a:t>
            </a:r>
          </a:p>
        </p:txBody>
      </p:sp>
      <p:sp>
        <p:nvSpPr>
          <p:cNvPr id="12400" name="Text Box 112"/>
          <p:cNvSpPr txBox="1"/>
          <p:nvPr/>
        </p:nvSpPr>
        <p:spPr>
          <a:xfrm>
            <a:off x="2263775" y="4025905"/>
            <a:ext cx="7132639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T5/T6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截止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，该单元未选中，保持原状态</a:t>
            </a:r>
          </a:p>
        </p:txBody>
      </p:sp>
      <p:sp>
        <p:nvSpPr>
          <p:cNvPr id="12405" name="Text Box 117"/>
          <p:cNvSpPr txBox="1"/>
          <p:nvPr/>
        </p:nvSpPr>
        <p:spPr>
          <a:xfrm>
            <a:off x="50800" y="5573714"/>
            <a:ext cx="82296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静态单元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是非破坏性读出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，读出后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不需重写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16" name="组合 103"/>
          <p:cNvGrpSpPr/>
          <p:nvPr/>
        </p:nvGrpSpPr>
        <p:grpSpPr>
          <a:xfrm>
            <a:off x="3919539" y="3489328"/>
            <a:ext cx="5080000" cy="408946"/>
            <a:chOff x="3920331" y="3488976"/>
            <a:chExt cx="5079653" cy="409927"/>
          </a:xfrm>
        </p:grpSpPr>
        <p:sp>
          <p:nvSpPr>
            <p:cNvPr id="7186" name="Text Box 107"/>
            <p:cNvSpPr txBox="1"/>
            <p:nvPr/>
          </p:nvSpPr>
          <p:spPr>
            <a:xfrm>
              <a:off x="3920331" y="3497833"/>
              <a:ext cx="2955925" cy="4010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T1</a:t>
              </a:r>
              <a:r>
                <a:rPr lang="zh-CN" altLang="en-US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导通，</a:t>
              </a:r>
              <a:r>
                <a:rPr lang="en-US" altLang="zh-CN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T2</a:t>
              </a:r>
              <a:r>
                <a:rPr lang="zh-CN" altLang="en-US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截止</a:t>
              </a:r>
              <a:r>
                <a:rPr lang="zh-CN" altLang="en-US" sz="2000" b="1" dirty="0">
                  <a:solidFill>
                    <a:schemeClr val="accent1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━ </a:t>
              </a:r>
              <a:r>
                <a:rPr lang="en-US" altLang="zh-CN" sz="20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</a:t>
              </a:r>
            </a:p>
          </p:txBody>
        </p:sp>
        <p:sp>
          <p:nvSpPr>
            <p:cNvPr id="7187" name="Text Box 108"/>
            <p:cNvSpPr txBox="1"/>
            <p:nvPr/>
          </p:nvSpPr>
          <p:spPr>
            <a:xfrm>
              <a:off x="6444208" y="3488976"/>
              <a:ext cx="2555776" cy="4010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T1</a:t>
              </a:r>
              <a:r>
                <a:rPr lang="zh-CN" altLang="en-US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截止，</a:t>
              </a:r>
              <a:r>
                <a:rPr lang="en-US" altLang="zh-CN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T2</a:t>
              </a:r>
              <a:r>
                <a:rPr lang="zh-CN" altLang="en-US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导通━</a:t>
              </a:r>
              <a:r>
                <a:rPr lang="en-US" altLang="zh-CN" sz="20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zh-CN" altLang="en-US" sz="20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03" name="圆角矩形 102"/>
          <p:cNvSpPr/>
          <p:nvPr/>
        </p:nvSpPr>
        <p:spPr>
          <a:xfrm>
            <a:off x="5000625" y="285751"/>
            <a:ext cx="2928939" cy="2643188"/>
          </a:xfrm>
          <a:prstGeom prst="roundRect">
            <a:avLst>
              <a:gd name="adj" fmla="val 16667"/>
            </a:avLst>
          </a:prstGeom>
          <a:noFill/>
          <a:ln w="19050" cap="sq" cmpd="sng">
            <a:solidFill>
              <a:srgbClr val="FFC000"/>
            </a:solidFill>
            <a:prstDash val="sysDash"/>
            <a:headEnd type="none" w="sm" len="sm"/>
            <a:tailEnd type="none" w="sm" len="sm"/>
          </a:ln>
        </p:spPr>
        <p:txBody>
          <a:bodyPr wrap="none"/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3C2EEA-81F8-5FE2-D90C-5C791C1E19F4}"/>
              </a:ext>
            </a:extLst>
          </p:cNvPr>
          <p:cNvSpPr txBox="1"/>
          <p:nvPr/>
        </p:nvSpPr>
        <p:spPr>
          <a:xfrm>
            <a:off x="863600" y="6081027"/>
            <a:ext cx="7181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Arial"/>
                <a:ea typeface="微软雅黑"/>
              </a:rPr>
              <a:t>存储原理：依靠双稳态触发内部交叉反馈电路存储信息</a:t>
            </a:r>
          </a:p>
        </p:txBody>
      </p:sp>
    </p:spTree>
  </p:cSld>
  <p:clrMapOvr>
    <a:masterClrMapping/>
  </p:clrMapOvr>
  <p:transition spd="med">
    <p:pull dir="l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43608" y="404664"/>
            <a:ext cx="2416016" cy="332303"/>
          </a:xfrm>
          <a:prstGeom prst="rect">
            <a:avLst/>
          </a:prstGeom>
        </p:spPr>
        <p:txBody>
          <a:bodyPr vert="horz" wrap="square" lIns="0" tIns="9049" rIns="0" bIns="0" rtlCol="0" anchor="ctr" anchorCtr="0">
            <a:spAutoFit/>
          </a:bodyPr>
          <a:lstStyle/>
          <a:p>
            <a:pPr marL="9525">
              <a:spcBef>
                <a:spcPts val="71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补充知识点：</a:t>
            </a:r>
            <a:endParaRPr sz="21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528" y="942206"/>
            <a:ext cx="8424936" cy="5527154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200025" indent="-171450" defTabSz="685800" fontAlgn="auto">
              <a:spcBef>
                <a:spcPts val="1320"/>
              </a:spcBef>
              <a:spcAft>
                <a:spcPts val="0"/>
              </a:spcAft>
              <a:buSzPct val="96000"/>
              <a:buFont typeface="Wingdings" panose="05000000000000000000"/>
              <a:buChar char=""/>
              <a:tabLst>
                <a:tab pos="200025" algn="l"/>
              </a:tabLst>
            </a:pPr>
            <a:r>
              <a:rPr spc="-4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存储体</a:t>
            </a:r>
            <a:endParaRPr dirty="0">
              <a:solidFill>
                <a:srgbClr val="000000"/>
              </a:solidFill>
              <a:latin typeface="微软雅黑" panose="020B0503020204020204" pitchFamily="34" charset="-122"/>
              <a:ea typeface="微软雅黑"/>
              <a:cs typeface="微软雅黑" panose="020B0503020204020204" pitchFamily="34" charset="-122"/>
            </a:endParaRPr>
          </a:p>
          <a:p>
            <a:pPr marL="553403" lvl="1" indent="-182404" defTabSz="685800" fontAlgn="auto">
              <a:spcBef>
                <a:spcPts val="1241"/>
              </a:spcBef>
              <a:spcAft>
                <a:spcPts val="0"/>
              </a:spcAft>
              <a:buSzPct val="96000"/>
              <a:buFont typeface="Wingdings" panose="05000000000000000000"/>
              <a:buChar char=""/>
              <a:tabLst>
                <a:tab pos="553879" algn="l"/>
              </a:tabLst>
            </a:pPr>
            <a:r>
              <a:rPr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每个存储单元具有一个唯一的地址，可存</a:t>
            </a:r>
            <a:r>
              <a:rPr spc="4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储</a:t>
            </a:r>
            <a:r>
              <a:rPr dirty="0">
                <a:solidFill>
                  <a:srgbClr val="000000"/>
                </a:solidFill>
                <a:latin typeface="Times New Roman" panose="02020603050405020304"/>
                <a:ea typeface="微软雅黑"/>
                <a:cs typeface="Times New Roman" panose="02020603050405020304"/>
              </a:rPr>
              <a:t>1</a:t>
            </a:r>
            <a:r>
              <a:rPr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位（位片结构）或多位</a:t>
            </a:r>
          </a:p>
          <a:p>
            <a:pPr marL="542925" defTabSz="685800" fontAlgn="auto">
              <a:spcBef>
                <a:spcPts val="863"/>
              </a:spcBef>
              <a:spcAft>
                <a:spcPts val="0"/>
              </a:spcAft>
            </a:pPr>
            <a:r>
              <a:rPr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（字片结构）二进制数据</a:t>
            </a:r>
          </a:p>
          <a:p>
            <a:pPr marL="553403" lvl="1" indent="-182404" defTabSz="685800" fontAlgn="auto">
              <a:spcBef>
                <a:spcPts val="1234"/>
              </a:spcBef>
              <a:spcAft>
                <a:spcPts val="0"/>
              </a:spcAft>
              <a:buSzPct val="96000"/>
              <a:buFont typeface="Wingdings" panose="05000000000000000000"/>
              <a:buChar char=""/>
              <a:tabLst>
                <a:tab pos="553879" algn="l"/>
              </a:tabLst>
            </a:pPr>
            <a:r>
              <a:rPr spc="-4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存储容量</a:t>
            </a:r>
            <a:r>
              <a:rPr lang="zh-CN" altLang="en-US" spc="-4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与</a:t>
            </a:r>
            <a:r>
              <a:rPr spc="-4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地址、数据线</a:t>
            </a:r>
            <a:r>
              <a:rPr lang="zh-CN" altLang="en-US" spc="-4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数目</a:t>
            </a:r>
            <a:r>
              <a:rPr spc="-4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有关：</a:t>
            </a:r>
            <a:endParaRPr dirty="0">
              <a:solidFill>
                <a:srgbClr val="000000"/>
              </a:solidFill>
              <a:latin typeface="微软雅黑" panose="020B0503020204020204" pitchFamily="34" charset="-122"/>
              <a:ea typeface="微软雅黑"/>
              <a:cs typeface="微软雅黑" panose="020B0503020204020204" pitchFamily="34" charset="-122"/>
            </a:endParaRPr>
          </a:p>
          <a:p>
            <a:pPr marL="713899" defTabSz="685800" fontAlgn="auto">
              <a:spcBef>
                <a:spcPts val="1620"/>
              </a:spcBef>
              <a:spcAft>
                <a:spcPts val="0"/>
              </a:spcAft>
            </a:pPr>
            <a:r>
              <a:rPr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芯片的</a:t>
            </a:r>
            <a:r>
              <a:rPr dirty="0">
                <a:solidFill>
                  <a:srgbClr val="FF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存储容量</a:t>
            </a:r>
            <a:endParaRPr dirty="0">
              <a:solidFill>
                <a:srgbClr val="000000"/>
              </a:solidFill>
              <a:latin typeface="微软雅黑" panose="020B0503020204020204" pitchFamily="34" charset="-122"/>
              <a:ea typeface="微软雅黑"/>
              <a:cs typeface="微软雅黑" panose="020B0503020204020204" pitchFamily="34" charset="-122"/>
            </a:endParaRPr>
          </a:p>
          <a:p>
            <a:pPr marL="713899" marR="2652236" defTabSz="685800" fontAlgn="auto">
              <a:lnSpc>
                <a:spcPct val="175000"/>
              </a:lnSpc>
              <a:spcBef>
                <a:spcPts val="4"/>
              </a:spcBef>
              <a:spcAft>
                <a:spcPts val="0"/>
              </a:spcAft>
            </a:pPr>
            <a:r>
              <a:rPr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＝</a:t>
            </a:r>
            <a:r>
              <a:rPr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存储单元数</a:t>
            </a:r>
            <a:r>
              <a:rPr spc="-4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×</a:t>
            </a:r>
            <a:r>
              <a:rPr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存储单元的位数</a:t>
            </a:r>
            <a:r>
              <a:rPr 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=</a:t>
            </a:r>
            <a:r>
              <a:rPr dirty="0">
                <a:solidFill>
                  <a:srgbClr val="0000FF"/>
                </a:solidFill>
                <a:latin typeface="Times New Roman" panose="02020603050405020304"/>
                <a:ea typeface="微软雅黑"/>
                <a:cs typeface="Times New Roman" panose="02020603050405020304"/>
              </a:rPr>
              <a:t>2</a:t>
            </a:r>
            <a:r>
              <a:rPr spc="-11" baseline="24000" dirty="0">
                <a:solidFill>
                  <a:srgbClr val="FF0000"/>
                </a:solidFill>
                <a:latin typeface="Times New Roman" panose="02020603050405020304"/>
                <a:ea typeface="微软雅黑"/>
                <a:cs typeface="Times New Roman" panose="02020603050405020304"/>
              </a:rPr>
              <a:t>M</a:t>
            </a:r>
            <a:r>
              <a:rPr spc="-4" dirty="0">
                <a:solidFill>
                  <a:srgbClr val="0000FF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×</a:t>
            </a:r>
            <a:r>
              <a:rPr spc="-4" dirty="0">
                <a:solidFill>
                  <a:srgbClr val="FF0000"/>
                </a:solidFill>
                <a:latin typeface="Times New Roman" panose="02020603050405020304"/>
                <a:ea typeface="微软雅黑"/>
                <a:cs typeface="Times New Roman" panose="02020603050405020304"/>
              </a:rPr>
              <a:t>N  </a:t>
            </a:r>
            <a:endParaRPr lang="en-US" spc="-4" dirty="0">
              <a:solidFill>
                <a:srgbClr val="FF0000"/>
              </a:solidFill>
              <a:latin typeface="Times New Roman" panose="02020603050405020304"/>
              <a:ea typeface="微软雅黑"/>
              <a:cs typeface="Times New Roman" panose="02020603050405020304"/>
            </a:endParaRPr>
          </a:p>
          <a:p>
            <a:pPr marL="713899" marR="2652236" defTabSz="685800" fontAlgn="auto">
              <a:lnSpc>
                <a:spcPct val="175000"/>
              </a:lnSpc>
              <a:spcBef>
                <a:spcPts val="4"/>
              </a:spcBef>
              <a:spcAft>
                <a:spcPts val="0"/>
              </a:spcAft>
            </a:pPr>
            <a:r>
              <a:rPr spc="-4" dirty="0" err="1">
                <a:solidFill>
                  <a:srgbClr val="FF0000"/>
                </a:solidFill>
                <a:latin typeface="Times New Roman" panose="02020603050405020304"/>
                <a:ea typeface="微软雅黑"/>
                <a:cs typeface="Times New Roman" panose="02020603050405020304"/>
              </a:rPr>
              <a:t>M</a:t>
            </a:r>
            <a:r>
              <a:rPr spc="-4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：</a:t>
            </a:r>
            <a:r>
              <a:rPr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芯片的</a:t>
            </a:r>
            <a:r>
              <a:rPr dirty="0" err="1">
                <a:solidFill>
                  <a:srgbClr val="008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地址线根数</a:t>
            </a:r>
            <a:endParaRPr dirty="0">
              <a:solidFill>
                <a:srgbClr val="000000"/>
              </a:solidFill>
              <a:latin typeface="微软雅黑" panose="020B0503020204020204" pitchFamily="34" charset="-122"/>
              <a:ea typeface="微软雅黑"/>
              <a:cs typeface="微软雅黑" panose="020B0503020204020204" pitchFamily="34" charset="-122"/>
            </a:endParaRPr>
          </a:p>
          <a:p>
            <a:pPr marL="713899" defTabSz="685800" fontAlgn="auto">
              <a:spcBef>
                <a:spcPts val="1620"/>
              </a:spcBef>
              <a:spcAft>
                <a:spcPts val="0"/>
              </a:spcAft>
            </a:pPr>
            <a:r>
              <a:rPr spc="-4" dirty="0">
                <a:solidFill>
                  <a:srgbClr val="FF0000"/>
                </a:solidFill>
                <a:latin typeface="Times New Roman" panose="02020603050405020304"/>
                <a:ea typeface="微软雅黑"/>
                <a:cs typeface="Times New Roman" panose="02020603050405020304"/>
              </a:rPr>
              <a:t>N</a:t>
            </a:r>
            <a:r>
              <a:rPr spc="-4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：</a:t>
            </a:r>
            <a:r>
              <a:rPr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芯片的</a:t>
            </a:r>
            <a:r>
              <a:rPr dirty="0">
                <a:solidFill>
                  <a:srgbClr val="008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数据线根数</a:t>
            </a:r>
            <a:endParaRPr dirty="0">
              <a:solidFill>
                <a:srgbClr val="000000"/>
              </a:solidFill>
              <a:latin typeface="微软雅黑" panose="020B0503020204020204" pitchFamily="34" charset="-122"/>
              <a:ea typeface="微软雅黑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1" name="Text Box 99"/>
          <p:cNvSpPr txBox="1"/>
          <p:nvPr/>
        </p:nvSpPr>
        <p:spPr>
          <a:xfrm>
            <a:off x="323851" y="3429004"/>
            <a:ext cx="19050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地址：</a:t>
            </a:r>
          </a:p>
        </p:txBody>
      </p:sp>
      <p:grpSp>
        <p:nvGrpSpPr>
          <p:cNvPr id="2" name="Group 129"/>
          <p:cNvGrpSpPr/>
          <p:nvPr/>
        </p:nvGrpSpPr>
        <p:grpSpPr>
          <a:xfrm>
            <a:off x="1619251" y="1608138"/>
            <a:ext cx="4267200" cy="1338262"/>
            <a:chOff x="1344" y="310"/>
            <a:chExt cx="2688" cy="843"/>
          </a:xfrm>
        </p:grpSpPr>
        <p:sp>
          <p:nvSpPr>
            <p:cNvPr id="8222" name="Line 104"/>
            <p:cNvSpPr/>
            <p:nvPr/>
          </p:nvSpPr>
          <p:spPr>
            <a:xfrm>
              <a:off x="2688" y="913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23" name="Line 105"/>
            <p:cNvSpPr/>
            <p:nvPr/>
          </p:nvSpPr>
          <p:spPr>
            <a:xfrm>
              <a:off x="2976" y="913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24" name="Line 106"/>
            <p:cNvSpPr/>
            <p:nvPr/>
          </p:nvSpPr>
          <p:spPr>
            <a:xfrm>
              <a:off x="3264" y="913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25" name="Line 107"/>
            <p:cNvSpPr/>
            <p:nvPr/>
          </p:nvSpPr>
          <p:spPr>
            <a:xfrm>
              <a:off x="3568" y="913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26" name="Line 108"/>
            <p:cNvSpPr/>
            <p:nvPr/>
          </p:nvSpPr>
          <p:spPr>
            <a:xfrm>
              <a:off x="3878" y="913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27" name="Line 109"/>
            <p:cNvSpPr/>
            <p:nvPr/>
          </p:nvSpPr>
          <p:spPr>
            <a:xfrm>
              <a:off x="2400" y="913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28" name="Line 110"/>
            <p:cNvSpPr/>
            <p:nvPr/>
          </p:nvSpPr>
          <p:spPr>
            <a:xfrm>
              <a:off x="2112" y="913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29" name="Line 111"/>
            <p:cNvSpPr/>
            <p:nvPr/>
          </p:nvSpPr>
          <p:spPr>
            <a:xfrm>
              <a:off x="1824" y="913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30" name="Line 112"/>
            <p:cNvSpPr/>
            <p:nvPr/>
          </p:nvSpPr>
          <p:spPr>
            <a:xfrm>
              <a:off x="1536" y="913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31" name="Line 113"/>
            <p:cNvSpPr/>
            <p:nvPr/>
          </p:nvSpPr>
          <p:spPr>
            <a:xfrm>
              <a:off x="2688" y="310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32" name="Line 114"/>
            <p:cNvSpPr/>
            <p:nvPr/>
          </p:nvSpPr>
          <p:spPr>
            <a:xfrm>
              <a:off x="2976" y="310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33" name="Line 115"/>
            <p:cNvSpPr/>
            <p:nvPr/>
          </p:nvSpPr>
          <p:spPr>
            <a:xfrm>
              <a:off x="3264" y="310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34" name="Line 116"/>
            <p:cNvSpPr/>
            <p:nvPr/>
          </p:nvSpPr>
          <p:spPr>
            <a:xfrm>
              <a:off x="3504" y="310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35" name="Line 117"/>
            <p:cNvSpPr/>
            <p:nvPr/>
          </p:nvSpPr>
          <p:spPr>
            <a:xfrm>
              <a:off x="3878" y="310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36" name="Line 118"/>
            <p:cNvSpPr/>
            <p:nvPr/>
          </p:nvSpPr>
          <p:spPr>
            <a:xfrm>
              <a:off x="2400" y="310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37" name="Line 119"/>
            <p:cNvSpPr/>
            <p:nvPr/>
          </p:nvSpPr>
          <p:spPr>
            <a:xfrm>
              <a:off x="2112" y="310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38" name="Line 120"/>
            <p:cNvSpPr/>
            <p:nvPr/>
          </p:nvSpPr>
          <p:spPr>
            <a:xfrm>
              <a:off x="1824" y="310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39" name="Line 121"/>
            <p:cNvSpPr/>
            <p:nvPr/>
          </p:nvSpPr>
          <p:spPr>
            <a:xfrm>
              <a:off x="1536" y="310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40" name="Rectangle 103"/>
            <p:cNvSpPr/>
            <p:nvPr/>
          </p:nvSpPr>
          <p:spPr>
            <a:xfrm>
              <a:off x="1344" y="432"/>
              <a:ext cx="2688" cy="576"/>
            </a:xfrm>
            <a:prstGeom prst="rect">
              <a:avLst/>
            </a:prstGeom>
            <a:solidFill>
              <a:schemeClr val="bg1"/>
            </a:solidFill>
            <a:ln w="381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/>
            </a:p>
          </p:txBody>
        </p:sp>
        <p:sp>
          <p:nvSpPr>
            <p:cNvPr id="8241" name="Text Box 123"/>
            <p:cNvSpPr txBox="1"/>
            <p:nvPr/>
          </p:nvSpPr>
          <p:spPr>
            <a:xfrm>
              <a:off x="1968" y="578"/>
              <a:ext cx="1680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lang="en-US" altLang="zh-CN" sz="2800" b="1" dirty="0">
                  <a:solidFill>
                    <a:schemeClr val="accent1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2114</a:t>
              </a:r>
              <a:r>
                <a:rPr lang="zh-CN" altLang="en-US" sz="2800" b="1" dirty="0">
                  <a:solidFill>
                    <a:schemeClr val="accent1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（</a:t>
              </a:r>
              <a:r>
                <a:rPr lang="en-US" altLang="zh-CN" sz="2800" b="1" dirty="0">
                  <a:solidFill>
                    <a:schemeClr val="accent1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1K×4</a:t>
              </a:r>
              <a:r>
                <a:rPr lang="zh-CN" altLang="en-US" sz="2800" b="1" dirty="0">
                  <a:solidFill>
                    <a:schemeClr val="accent1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3" name="Group 131"/>
          <p:cNvGrpSpPr/>
          <p:nvPr/>
        </p:nvGrpSpPr>
        <p:grpSpPr>
          <a:xfrm>
            <a:off x="1681163" y="2924178"/>
            <a:ext cx="4419600" cy="461963"/>
            <a:chOff x="1344" y="1392"/>
            <a:chExt cx="2784" cy="291"/>
          </a:xfrm>
        </p:grpSpPr>
        <p:sp>
          <p:nvSpPr>
            <p:cNvPr id="8220" name="Text Box 98"/>
            <p:cNvSpPr txBox="1"/>
            <p:nvPr/>
          </p:nvSpPr>
          <p:spPr>
            <a:xfrm>
              <a:off x="1344" y="1392"/>
              <a:ext cx="278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A6 A5 A4 A3 A0 A1 A2 CS GND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221" name="Line 130"/>
            <p:cNvSpPr/>
            <p:nvPr/>
          </p:nvSpPr>
          <p:spPr>
            <a:xfrm>
              <a:off x="3438" y="1455"/>
              <a:ext cx="192" cy="0"/>
            </a:xfrm>
            <a:prstGeom prst="line">
              <a:avLst/>
            </a:prstGeom>
            <a:ln w="1905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4" name="Group 135"/>
          <p:cNvGrpSpPr/>
          <p:nvPr/>
        </p:nvGrpSpPr>
        <p:grpSpPr>
          <a:xfrm>
            <a:off x="1536700" y="1125539"/>
            <a:ext cx="4681539" cy="461963"/>
            <a:chOff x="1248" y="48"/>
            <a:chExt cx="3408" cy="291"/>
          </a:xfrm>
        </p:grpSpPr>
        <p:sp>
          <p:nvSpPr>
            <p:cNvPr id="8218" name="Text Box 133"/>
            <p:cNvSpPr txBox="1"/>
            <p:nvPr/>
          </p:nvSpPr>
          <p:spPr>
            <a:xfrm>
              <a:off x="1248" y="48"/>
              <a:ext cx="340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Vcc A7 A8 A9 D0 D1 D2 D3 WE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219" name="Line 134"/>
            <p:cNvSpPr/>
            <p:nvPr/>
          </p:nvSpPr>
          <p:spPr>
            <a:xfrm>
              <a:off x="4130" y="103"/>
              <a:ext cx="192" cy="0"/>
            </a:xfrm>
            <a:prstGeom prst="line">
              <a:avLst/>
            </a:prstGeom>
            <a:ln w="1905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3448" name="Text Box 136"/>
          <p:cNvSpPr txBox="1"/>
          <p:nvPr/>
        </p:nvSpPr>
        <p:spPr>
          <a:xfrm>
            <a:off x="1403349" y="3429004"/>
            <a:ext cx="1873251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A9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sp>
        <p:nvSpPr>
          <p:cNvPr id="13449" name="Text Box 137"/>
          <p:cNvSpPr txBox="1"/>
          <p:nvPr/>
        </p:nvSpPr>
        <p:spPr>
          <a:xfrm>
            <a:off x="2843217" y="3429004"/>
            <a:ext cx="1296987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数据：</a:t>
            </a:r>
          </a:p>
        </p:txBody>
      </p:sp>
      <p:sp>
        <p:nvSpPr>
          <p:cNvPr id="13450" name="Text Box 138"/>
          <p:cNvSpPr txBox="1"/>
          <p:nvPr/>
        </p:nvSpPr>
        <p:spPr>
          <a:xfrm>
            <a:off x="3924301" y="3429005"/>
            <a:ext cx="4751388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D3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D0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双向输入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13451" name="Text Box 139"/>
          <p:cNvSpPr txBox="1"/>
          <p:nvPr/>
        </p:nvSpPr>
        <p:spPr>
          <a:xfrm>
            <a:off x="323851" y="4500563"/>
            <a:ext cx="19050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控制端：</a:t>
            </a:r>
          </a:p>
        </p:txBody>
      </p:sp>
      <p:sp>
        <p:nvSpPr>
          <p:cNvPr id="13452" name="AutoShape 140"/>
          <p:cNvSpPr/>
          <p:nvPr/>
        </p:nvSpPr>
        <p:spPr>
          <a:xfrm>
            <a:off x="1763713" y="4213225"/>
            <a:ext cx="228600" cy="1143000"/>
          </a:xfrm>
          <a:prstGeom prst="leftBrace">
            <a:avLst>
              <a:gd name="adj1" fmla="val 41666"/>
              <a:gd name="adj2" fmla="val 50000"/>
            </a:avLst>
          </a:prstGeom>
          <a:noFill/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13453" name="Text Box 141"/>
          <p:cNvSpPr txBox="1"/>
          <p:nvPr/>
        </p:nvSpPr>
        <p:spPr>
          <a:xfrm>
            <a:off x="1908175" y="4127504"/>
            <a:ext cx="19050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片选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CS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454" name="AutoShape 142"/>
          <p:cNvSpPr/>
          <p:nvPr/>
        </p:nvSpPr>
        <p:spPr>
          <a:xfrm>
            <a:off x="3155951" y="4068763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13455" name="Text Box 143"/>
          <p:cNvSpPr txBox="1"/>
          <p:nvPr/>
        </p:nvSpPr>
        <p:spPr>
          <a:xfrm>
            <a:off x="3276600" y="3925893"/>
            <a:ext cx="30480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 </a:t>
            </a: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选中芯片</a:t>
            </a:r>
          </a:p>
        </p:txBody>
      </p:sp>
      <p:sp>
        <p:nvSpPr>
          <p:cNvPr id="13456" name="Text Box 144"/>
          <p:cNvSpPr txBox="1"/>
          <p:nvPr/>
        </p:nvSpPr>
        <p:spPr>
          <a:xfrm>
            <a:off x="3276600" y="4322763"/>
            <a:ext cx="30480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 </a:t>
            </a: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未选中芯片</a:t>
            </a:r>
          </a:p>
        </p:txBody>
      </p:sp>
      <p:sp>
        <p:nvSpPr>
          <p:cNvPr id="13457" name="Line 145"/>
          <p:cNvSpPr/>
          <p:nvPr/>
        </p:nvSpPr>
        <p:spPr>
          <a:xfrm>
            <a:off x="2771775" y="4203700"/>
            <a:ext cx="304800" cy="0"/>
          </a:xfrm>
          <a:prstGeom prst="line">
            <a:avLst/>
          </a:prstGeom>
          <a:ln w="28575" cap="sq" cmpd="sng">
            <a:solidFill>
              <a:srgbClr val="FFFF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458" name="Text Box 146"/>
          <p:cNvSpPr txBox="1"/>
          <p:nvPr/>
        </p:nvSpPr>
        <p:spPr>
          <a:xfrm>
            <a:off x="1908175" y="4897438"/>
            <a:ext cx="19050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写使能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WE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459" name="Line 147"/>
          <p:cNvSpPr/>
          <p:nvPr/>
        </p:nvSpPr>
        <p:spPr>
          <a:xfrm>
            <a:off x="3071813" y="4989513"/>
            <a:ext cx="381000" cy="0"/>
          </a:xfrm>
          <a:prstGeom prst="line">
            <a:avLst/>
          </a:prstGeom>
          <a:ln w="28575" cap="sq" cmpd="sng">
            <a:solidFill>
              <a:srgbClr val="FFFF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460" name="AutoShape 148"/>
          <p:cNvSpPr/>
          <p:nvPr/>
        </p:nvSpPr>
        <p:spPr>
          <a:xfrm>
            <a:off x="3527425" y="4838700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13461" name="Text Box 149"/>
          <p:cNvSpPr txBox="1"/>
          <p:nvPr/>
        </p:nvSpPr>
        <p:spPr>
          <a:xfrm>
            <a:off x="3708404" y="4724405"/>
            <a:ext cx="1584325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 </a:t>
            </a: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写</a:t>
            </a:r>
          </a:p>
        </p:txBody>
      </p:sp>
      <p:sp>
        <p:nvSpPr>
          <p:cNvPr id="13462" name="Text Box 150"/>
          <p:cNvSpPr txBox="1"/>
          <p:nvPr/>
        </p:nvSpPr>
        <p:spPr>
          <a:xfrm>
            <a:off x="3708404" y="5113340"/>
            <a:ext cx="1584325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 </a:t>
            </a: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</a:t>
            </a:r>
          </a:p>
        </p:txBody>
      </p:sp>
      <p:sp>
        <p:nvSpPr>
          <p:cNvPr id="13463" name="Text Box 151"/>
          <p:cNvSpPr txBox="1">
            <a:spLocks noChangeArrowheads="1"/>
          </p:cNvSpPr>
          <p:nvPr/>
        </p:nvSpPr>
        <p:spPr bwMode="auto">
          <a:xfrm>
            <a:off x="395293" y="5661030"/>
            <a:ext cx="5040313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800" b="1" dirty="0">
                <a:solidFill>
                  <a:srgbClr val="FFFF00"/>
                </a:solidFill>
                <a:latin typeface="+mn-lt"/>
                <a:ea typeface="黑体" panose="02010609060101010101" pitchFamily="49" charset="-122"/>
                <a:cs typeface="Calibri" panose="020F0502020204030204" pitchFamily="34" charset="0"/>
              </a:rPr>
              <a:t>V</a:t>
            </a:r>
            <a:r>
              <a:rPr kumimoji="1" lang="en-US" altLang="zh-CN" sz="2800" b="1" baseline="-25000" dirty="0">
                <a:solidFill>
                  <a:srgbClr val="FFFF00"/>
                </a:solidFill>
                <a:latin typeface="+mn-lt"/>
                <a:ea typeface="黑体" panose="02010609060101010101" pitchFamily="49" charset="-122"/>
                <a:cs typeface="Calibri" panose="020F0502020204030204" pitchFamily="34" charset="0"/>
              </a:rPr>
              <a:t>CC</a:t>
            </a:r>
            <a:r>
              <a:rPr kumimoji="1" lang="zh-CN" altLang="en-US" sz="2800" b="1" dirty="0">
                <a:latin typeface="+mn-lt"/>
                <a:ea typeface="黑体" panose="02010609060101010101" pitchFamily="49" charset="-122"/>
                <a:cs typeface="Calibri" panose="020F0502020204030204" pitchFamily="34" charset="0"/>
              </a:rPr>
              <a:t>：电源，</a:t>
            </a:r>
            <a:r>
              <a:rPr kumimoji="1" lang="en-US" altLang="zh-CN" sz="2800" b="1" dirty="0">
                <a:solidFill>
                  <a:srgbClr val="FFFF00"/>
                </a:solidFill>
                <a:latin typeface="+mn-lt"/>
                <a:ea typeface="黑体" panose="02010609060101010101" pitchFamily="49" charset="-122"/>
                <a:cs typeface="Calibri" panose="020F0502020204030204" pitchFamily="34" charset="0"/>
              </a:rPr>
              <a:t>GND</a:t>
            </a:r>
            <a:r>
              <a:rPr kumimoji="1" lang="zh-CN" altLang="en-US" sz="2800" b="1" dirty="0">
                <a:latin typeface="+mn-lt"/>
                <a:ea typeface="黑体" panose="02010609060101010101" pitchFamily="49" charset="-122"/>
                <a:cs typeface="Calibri" panose="020F0502020204030204" pitchFamily="34" charset="0"/>
              </a:rPr>
              <a:t>：接地</a:t>
            </a:r>
            <a:endParaRPr kumimoji="1" lang="en-US" altLang="zh-CN" sz="2800" b="1" dirty="0">
              <a:latin typeface="+mn-lt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470" name="Text Box 158"/>
          <p:cNvSpPr txBox="1"/>
          <p:nvPr/>
        </p:nvSpPr>
        <p:spPr>
          <a:xfrm>
            <a:off x="377825" y="115892"/>
            <a:ext cx="35052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存储芯片举例</a:t>
            </a:r>
          </a:p>
        </p:txBody>
      </p:sp>
      <p:sp>
        <p:nvSpPr>
          <p:cNvPr id="13471" name="Text Box 159"/>
          <p:cNvSpPr txBox="1"/>
          <p:nvPr/>
        </p:nvSpPr>
        <p:spPr>
          <a:xfrm>
            <a:off x="323855" y="657230"/>
            <a:ext cx="6264275" cy="52322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SRAM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芯片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Intel 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2114（</a:t>
            </a:r>
            <a:r>
              <a:rPr lang="zh-CN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K×4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13472" name="Text Box 160"/>
          <p:cNvSpPr txBox="1"/>
          <p:nvPr/>
        </p:nvSpPr>
        <p:spPr>
          <a:xfrm>
            <a:off x="323851" y="1984379"/>
            <a:ext cx="15240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外特性</a:t>
            </a:r>
          </a:p>
        </p:txBody>
      </p:sp>
    </p:spTree>
  </p:cSld>
  <p:clrMapOvr>
    <a:masterClrMapping/>
  </p:clrMapOvr>
  <p:transition spd="med">
    <p:pull dir="l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练习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2886" y="1571625"/>
            <a:ext cx="8408670" cy="4041458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altLang="zh-CN" sz="2100" dirty="0"/>
              <a:t>1  </a:t>
            </a:r>
            <a:r>
              <a:rPr lang="zh-CN" altLang="en-US" sz="2100" dirty="0"/>
              <a:t>一个</a:t>
            </a:r>
            <a:r>
              <a:rPr lang="en-US" altLang="zh-CN" sz="2100" dirty="0"/>
              <a:t>16K*32</a:t>
            </a:r>
            <a:r>
              <a:rPr lang="zh-CN" altLang="en-US" sz="2100" dirty="0"/>
              <a:t>位的</a:t>
            </a:r>
            <a:r>
              <a:rPr lang="en-US" altLang="zh-CN" sz="2100" dirty="0"/>
              <a:t>SRAM</a:t>
            </a:r>
            <a:r>
              <a:rPr lang="zh-CN" altLang="en-US" sz="2100" dirty="0"/>
              <a:t>的芯片，其数据线和地址线和为（）</a:t>
            </a:r>
          </a:p>
          <a:p>
            <a:pPr marL="0" indent="0">
              <a:buNone/>
            </a:pPr>
            <a:r>
              <a:rPr lang="en-US" altLang="zh-CN" sz="2100" dirty="0"/>
              <a:t>A  48  B 46  C 36  D 39</a:t>
            </a:r>
          </a:p>
          <a:p>
            <a:pPr marL="0" indent="0">
              <a:buNone/>
            </a:pPr>
            <a:endParaRPr lang="en-US" altLang="zh-CN" sz="2100" dirty="0"/>
          </a:p>
        </p:txBody>
      </p:sp>
      <p:sp>
        <p:nvSpPr>
          <p:cNvPr id="5" name="文本框 4"/>
          <p:cNvSpPr txBox="1"/>
          <p:nvPr/>
        </p:nvSpPr>
        <p:spPr>
          <a:xfrm>
            <a:off x="4729401" y="1237541"/>
            <a:ext cx="319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FF0000"/>
                </a:solidFill>
                <a:latin typeface="Arial"/>
                <a:ea typeface="微软雅黑"/>
              </a:rPr>
              <a:t> 2^14*32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88B2F0-4703-EAF0-5EAB-92F8AAECD806}"/>
              </a:ext>
            </a:extLst>
          </p:cNvPr>
          <p:cNvSpPr txBox="1"/>
          <p:nvPr/>
        </p:nvSpPr>
        <p:spPr>
          <a:xfrm>
            <a:off x="7525174" y="1630688"/>
            <a:ext cx="18192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srgbClr val="000000"/>
                </a:solidFill>
                <a:latin typeface="Arial"/>
                <a:ea typeface="微软雅黑"/>
              </a:rPr>
              <a:t>B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49D8F1-92E0-D73B-18A4-94F1E088D1D5}"/>
              </a:ext>
            </a:extLst>
          </p:cNvPr>
          <p:cNvSpPr txBox="1"/>
          <p:nvPr/>
        </p:nvSpPr>
        <p:spPr>
          <a:xfrm>
            <a:off x="4328719" y="3084526"/>
            <a:ext cx="6858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zh-CN" altLang="en-US" sz="1350" dirty="0">
              <a:solidFill>
                <a:srgbClr val="000000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28040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/>
          <p:nvPr/>
        </p:nvSpPr>
        <p:spPr>
          <a:xfrm>
            <a:off x="304800" y="260351"/>
            <a:ext cx="6553200" cy="6463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4.2.2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动态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MOS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存储单元与芯片</a:t>
            </a:r>
          </a:p>
        </p:txBody>
      </p:sp>
      <p:grpSp>
        <p:nvGrpSpPr>
          <p:cNvPr id="3" name="组合 4179">
            <a:extLst>
              <a:ext uri="{FF2B5EF4-FFF2-40B4-BE49-F238E27FC236}">
                <a16:creationId xmlns:a16="http://schemas.microsoft.com/office/drawing/2014/main" id="{00087671-18F1-63A0-68BC-428C7BC5B531}"/>
              </a:ext>
            </a:extLst>
          </p:cNvPr>
          <p:cNvGrpSpPr/>
          <p:nvPr/>
        </p:nvGrpSpPr>
        <p:grpSpPr bwMode="auto">
          <a:xfrm>
            <a:off x="776142" y="912830"/>
            <a:ext cx="6940992" cy="459986"/>
            <a:chOff x="-96346" y="0"/>
            <a:chExt cx="5282511" cy="524627"/>
          </a:xfrm>
        </p:grpSpPr>
        <p:sp>
          <p:nvSpPr>
            <p:cNvPr id="4" name="椭圆 4181">
              <a:extLst>
                <a:ext uri="{FF2B5EF4-FFF2-40B4-BE49-F238E27FC236}">
                  <a16:creationId xmlns:a16="http://schemas.microsoft.com/office/drawing/2014/main" id="{BD38C24F-BBDC-45D1-5906-AA40B9A25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346" y="31744"/>
              <a:ext cx="293915" cy="441920"/>
            </a:xfrm>
            <a:prstGeom prst="ellipse">
              <a:avLst/>
            </a:prstGeom>
            <a:solidFill>
              <a:srgbClr val="59B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</a:pPr>
              <a:r>
                <a:rPr lang="en-US" altLang="zh-CN" sz="2275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27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五边形 4182">
              <a:extLst>
                <a:ext uri="{FF2B5EF4-FFF2-40B4-BE49-F238E27FC236}">
                  <a16:creationId xmlns:a16="http://schemas.microsoft.com/office/drawing/2014/main" id="{54CF1765-C54E-18CE-1895-4F293E112F3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78470" y="0"/>
              <a:ext cx="4707695" cy="505407"/>
            </a:xfrm>
            <a:prstGeom prst="homePlate">
              <a:avLst>
                <a:gd name="adj" fmla="val 37135"/>
              </a:avLst>
            </a:prstGeom>
            <a:solidFill>
              <a:srgbClr val="FF69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</a:pPr>
              <a:endParaRPr lang="zh-CN" altLang="en-US" sz="2275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4183">
              <a:extLst>
                <a:ext uri="{FF2B5EF4-FFF2-40B4-BE49-F238E27FC236}">
                  <a16:creationId xmlns:a16="http://schemas.microsoft.com/office/drawing/2014/main" id="{B90815EE-2EE6-2A35-5042-3096145F4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132" y="20024"/>
              <a:ext cx="4558352" cy="5046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zh-CN" sz="2275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SRAM</a:t>
              </a:r>
              <a:r>
                <a:rPr lang="zh-CN" altLang="en-US" sz="2275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存储单元的不足</a:t>
              </a:r>
            </a:p>
          </p:txBody>
        </p:sp>
      </p:grpSp>
      <p:sp>
        <p:nvSpPr>
          <p:cNvPr id="7" name="Rectangle 166">
            <a:extLst>
              <a:ext uri="{FF2B5EF4-FFF2-40B4-BE49-F238E27FC236}">
                <a16:creationId xmlns:a16="http://schemas.microsoft.com/office/drawing/2014/main" id="{DCF43F6A-E790-4216-C518-D8E6795D8EDB}"/>
              </a:ext>
            </a:extLst>
          </p:cNvPr>
          <p:cNvSpPr txBox="1">
            <a:spLocks noChangeArrowheads="1"/>
          </p:cNvSpPr>
          <p:nvPr/>
        </p:nvSpPr>
        <p:spPr>
          <a:xfrm>
            <a:off x="5802143" y="2709837"/>
            <a:ext cx="2918686" cy="17205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3705" lvl="1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Arial" panose="020B0604020202020204" pitchFamily="34" charset="0"/>
              <a:buNone/>
              <a:defRPr/>
            </a:pPr>
            <a:r>
              <a:rPr lang="zh-CN" altLang="en-US" sz="2275" dirty="0">
                <a:latin typeface="Arial"/>
                <a:ea typeface="微软雅黑"/>
                <a:sym typeface="Symbol" panose="05050102010706020507" pitchFamily="18" charset="2"/>
              </a:rPr>
              <a:t></a:t>
            </a:r>
            <a:r>
              <a:rPr lang="zh-CN" altLang="en-US" sz="22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晶体管过多</a:t>
            </a:r>
          </a:p>
          <a:p>
            <a:pPr marL="433705" lvl="1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Arial" panose="020B0604020202020204" pitchFamily="34" charset="0"/>
              <a:buNone/>
              <a:defRPr/>
            </a:pPr>
            <a:r>
              <a:rPr lang="zh-CN" altLang="en-US" sz="2275" dirty="0">
                <a:latin typeface="Arial"/>
                <a:ea typeface="微软雅黑"/>
                <a:sym typeface="Symbol" panose="05050102010706020507" pitchFamily="18" charset="2"/>
              </a:rPr>
              <a:t></a:t>
            </a:r>
            <a:r>
              <a:rPr lang="zh-CN" altLang="en-US" sz="22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存储密度低</a:t>
            </a:r>
          </a:p>
          <a:p>
            <a:pPr marL="433705" lvl="1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Arial" panose="020B0604020202020204" pitchFamily="34" charset="0"/>
              <a:buNone/>
              <a:defRPr/>
            </a:pPr>
            <a:r>
              <a:rPr lang="zh-CN" altLang="en-US" sz="2275" dirty="0">
                <a:latin typeface="Arial"/>
                <a:ea typeface="微软雅黑"/>
                <a:sym typeface="Symbol" panose="05050102010706020507" pitchFamily="18" charset="2"/>
              </a:rPr>
              <a:t></a:t>
            </a:r>
            <a:r>
              <a:rPr lang="zh-CN" altLang="en-US" sz="22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功耗大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2C385D8-7A36-E619-7BD1-5A1972611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60" y="1844824"/>
            <a:ext cx="5057065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66582"/>
      </p:ext>
    </p:extLst>
  </p:cSld>
  <p:clrMapOvr>
    <a:masterClrMapping/>
  </p:clrMapOvr>
  <p:transition spd="med">
    <p:pull dir="l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/>
          <p:nvPr/>
        </p:nvSpPr>
        <p:spPr>
          <a:xfrm>
            <a:off x="304800" y="260351"/>
            <a:ext cx="6553200" cy="6463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4.2.2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动态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MOS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存储单元与芯片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131769" y="1389064"/>
            <a:ext cx="5794375" cy="3807293"/>
            <a:chOff x="2330" y="738"/>
            <a:chExt cx="3650" cy="2090"/>
          </a:xfrm>
        </p:grpSpPr>
        <p:grpSp>
          <p:nvGrpSpPr>
            <p:cNvPr id="9234" name="Group 4"/>
            <p:cNvGrpSpPr/>
            <p:nvPr/>
          </p:nvGrpSpPr>
          <p:grpSpPr>
            <a:xfrm>
              <a:off x="3024" y="1344"/>
              <a:ext cx="864" cy="624"/>
              <a:chOff x="2400" y="1296"/>
              <a:chExt cx="864" cy="624"/>
            </a:xfrm>
          </p:grpSpPr>
          <p:sp>
            <p:nvSpPr>
              <p:cNvPr id="38917" name="Text Box 5"/>
              <p:cNvSpPr txBox="1">
                <a:spLocks noChangeArrowheads="1"/>
              </p:cNvSpPr>
              <p:nvPr/>
            </p:nvSpPr>
            <p:spPr bwMode="auto">
              <a:xfrm>
                <a:off x="2400" y="1439"/>
                <a:ext cx="480" cy="28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/>
                    <a:ea typeface="黑体" panose="02010609060101010101" pitchFamily="49" charset="-122"/>
                    <a:cs typeface="+mn-cs"/>
                  </a:rPr>
                  <a:t>T1</a:t>
                </a:r>
              </a:p>
            </p:txBody>
          </p:sp>
          <p:grpSp>
            <p:nvGrpSpPr>
              <p:cNvPr id="9298" name="Group 6"/>
              <p:cNvGrpSpPr/>
              <p:nvPr/>
            </p:nvGrpSpPr>
            <p:grpSpPr>
              <a:xfrm>
                <a:off x="2784" y="1296"/>
                <a:ext cx="480" cy="624"/>
                <a:chOff x="2784" y="1296"/>
                <a:chExt cx="480" cy="624"/>
              </a:xfrm>
            </p:grpSpPr>
            <p:sp>
              <p:nvSpPr>
                <p:cNvPr id="38919" name="Line 7"/>
                <p:cNvSpPr>
                  <a:spLocks noChangeShapeType="1"/>
                </p:cNvSpPr>
                <p:nvPr/>
              </p:nvSpPr>
              <p:spPr bwMode="auto">
                <a:xfrm>
                  <a:off x="2784" y="1296"/>
                  <a:ext cx="0" cy="24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920" name="Line 8"/>
                <p:cNvSpPr>
                  <a:spLocks noChangeShapeType="1"/>
                </p:cNvSpPr>
                <p:nvPr/>
              </p:nvSpPr>
              <p:spPr bwMode="auto">
                <a:xfrm>
                  <a:off x="2784" y="1534"/>
                  <a:ext cx="192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921" name="Line 9"/>
                <p:cNvSpPr>
                  <a:spLocks noChangeShapeType="1"/>
                </p:cNvSpPr>
                <p:nvPr/>
              </p:nvSpPr>
              <p:spPr bwMode="auto">
                <a:xfrm>
                  <a:off x="2784" y="1680"/>
                  <a:ext cx="192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922" name="Line 10"/>
                <p:cNvSpPr>
                  <a:spLocks noChangeShapeType="1"/>
                </p:cNvSpPr>
                <p:nvPr/>
              </p:nvSpPr>
              <p:spPr bwMode="auto">
                <a:xfrm>
                  <a:off x="2976" y="1487"/>
                  <a:ext cx="0" cy="241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923" name="Line 11"/>
                <p:cNvSpPr>
                  <a:spLocks noChangeShapeType="1"/>
                </p:cNvSpPr>
                <p:nvPr/>
              </p:nvSpPr>
              <p:spPr bwMode="auto">
                <a:xfrm>
                  <a:off x="2784" y="1680"/>
                  <a:ext cx="0" cy="24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924" name="Line 12"/>
                <p:cNvSpPr>
                  <a:spLocks noChangeShapeType="1"/>
                </p:cNvSpPr>
                <p:nvPr/>
              </p:nvSpPr>
              <p:spPr bwMode="auto">
                <a:xfrm>
                  <a:off x="3072" y="1534"/>
                  <a:ext cx="0" cy="146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925" name="Line 13"/>
                <p:cNvSpPr>
                  <a:spLocks noChangeShapeType="1"/>
                </p:cNvSpPr>
                <p:nvPr/>
              </p:nvSpPr>
              <p:spPr bwMode="auto">
                <a:xfrm>
                  <a:off x="3072" y="1632"/>
                  <a:ext cx="192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38926" name="Line 14"/>
            <p:cNvSpPr>
              <a:spLocks noChangeShapeType="1"/>
            </p:cNvSpPr>
            <p:nvPr/>
          </p:nvSpPr>
          <p:spPr bwMode="auto">
            <a:xfrm>
              <a:off x="2976" y="1344"/>
              <a:ext cx="432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27" name="Text Box 15"/>
            <p:cNvSpPr txBox="1">
              <a:spLocks noChangeArrowheads="1"/>
            </p:cNvSpPr>
            <p:nvPr/>
          </p:nvSpPr>
          <p:spPr bwMode="auto">
            <a:xfrm flipH="1">
              <a:off x="4704" y="1440"/>
              <a:ext cx="480" cy="2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/>
                  <a:ea typeface="黑体" panose="02010609060101010101" pitchFamily="49" charset="-122"/>
                  <a:cs typeface="+mn-cs"/>
                </a:rPr>
                <a:t>T2</a:t>
              </a:r>
            </a:p>
          </p:txBody>
        </p:sp>
        <p:grpSp>
          <p:nvGrpSpPr>
            <p:cNvPr id="9237" name="Group 16"/>
            <p:cNvGrpSpPr/>
            <p:nvPr/>
          </p:nvGrpSpPr>
          <p:grpSpPr>
            <a:xfrm flipH="1">
              <a:off x="4176" y="1344"/>
              <a:ext cx="480" cy="624"/>
              <a:chOff x="2784" y="1296"/>
              <a:chExt cx="480" cy="624"/>
            </a:xfrm>
          </p:grpSpPr>
          <p:sp>
            <p:nvSpPr>
              <p:cNvPr id="38929" name="Line 17"/>
              <p:cNvSpPr>
                <a:spLocks noChangeShapeType="1"/>
              </p:cNvSpPr>
              <p:nvPr/>
            </p:nvSpPr>
            <p:spPr bwMode="auto">
              <a:xfrm>
                <a:off x="2784" y="1296"/>
                <a:ext cx="0" cy="24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30" name="Line 18"/>
              <p:cNvSpPr>
                <a:spLocks noChangeShapeType="1"/>
              </p:cNvSpPr>
              <p:nvPr/>
            </p:nvSpPr>
            <p:spPr bwMode="auto">
              <a:xfrm>
                <a:off x="2784" y="1548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31" name="Line 19"/>
              <p:cNvSpPr>
                <a:spLocks noChangeShapeType="1"/>
              </p:cNvSpPr>
              <p:nvPr/>
            </p:nvSpPr>
            <p:spPr bwMode="auto">
              <a:xfrm>
                <a:off x="2784" y="1680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32" name="Line 20"/>
              <p:cNvSpPr>
                <a:spLocks noChangeShapeType="1"/>
              </p:cNvSpPr>
              <p:nvPr/>
            </p:nvSpPr>
            <p:spPr bwMode="auto">
              <a:xfrm>
                <a:off x="2976" y="1487"/>
                <a:ext cx="0" cy="241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33" name="Line 21"/>
              <p:cNvSpPr>
                <a:spLocks noChangeShapeType="1"/>
              </p:cNvSpPr>
              <p:nvPr/>
            </p:nvSpPr>
            <p:spPr bwMode="auto">
              <a:xfrm>
                <a:off x="2784" y="1680"/>
                <a:ext cx="0" cy="24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34" name="Line 22"/>
              <p:cNvSpPr>
                <a:spLocks noChangeShapeType="1"/>
              </p:cNvSpPr>
              <p:nvPr/>
            </p:nvSpPr>
            <p:spPr bwMode="auto">
              <a:xfrm>
                <a:off x="3072" y="1534"/>
                <a:ext cx="0" cy="146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35" name="Line 23"/>
              <p:cNvSpPr>
                <a:spLocks noChangeShapeType="1"/>
              </p:cNvSpPr>
              <p:nvPr/>
            </p:nvSpPr>
            <p:spPr bwMode="auto">
              <a:xfrm>
                <a:off x="3072" y="1632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8936" name="Line 24"/>
            <p:cNvSpPr>
              <a:spLocks noChangeShapeType="1"/>
            </p:cNvSpPr>
            <p:nvPr/>
          </p:nvSpPr>
          <p:spPr bwMode="auto">
            <a:xfrm flipH="1">
              <a:off x="3888" y="2311"/>
              <a:ext cx="192" cy="0"/>
            </a:xfrm>
            <a:prstGeom prst="line">
              <a:avLst/>
            </a:prstGeom>
            <a:noFill/>
            <a:ln w="28575" cap="sq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37" name="Line 25"/>
            <p:cNvSpPr>
              <a:spLocks noChangeShapeType="1"/>
            </p:cNvSpPr>
            <p:nvPr/>
          </p:nvSpPr>
          <p:spPr bwMode="auto">
            <a:xfrm flipH="1">
              <a:off x="4656" y="1344"/>
              <a:ext cx="432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38" name="Line 26"/>
            <p:cNvSpPr>
              <a:spLocks noChangeShapeType="1"/>
            </p:cNvSpPr>
            <p:nvPr/>
          </p:nvSpPr>
          <p:spPr bwMode="auto">
            <a:xfrm>
              <a:off x="3408" y="1344"/>
              <a:ext cx="48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39" name="Line 27"/>
            <p:cNvSpPr>
              <a:spLocks noChangeShapeType="1"/>
            </p:cNvSpPr>
            <p:nvPr/>
          </p:nvSpPr>
          <p:spPr bwMode="auto">
            <a:xfrm>
              <a:off x="3888" y="1344"/>
              <a:ext cx="288" cy="33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40" name="Line 28"/>
            <p:cNvSpPr>
              <a:spLocks noChangeShapeType="1"/>
            </p:cNvSpPr>
            <p:nvPr/>
          </p:nvSpPr>
          <p:spPr bwMode="auto">
            <a:xfrm flipV="1">
              <a:off x="3888" y="1344"/>
              <a:ext cx="288" cy="33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41" name="Line 29"/>
            <p:cNvSpPr>
              <a:spLocks noChangeShapeType="1"/>
            </p:cNvSpPr>
            <p:nvPr/>
          </p:nvSpPr>
          <p:spPr bwMode="auto">
            <a:xfrm>
              <a:off x="4176" y="1344"/>
              <a:ext cx="48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9244" name="Group 30"/>
            <p:cNvGrpSpPr/>
            <p:nvPr/>
          </p:nvGrpSpPr>
          <p:grpSpPr>
            <a:xfrm>
              <a:off x="2496" y="1008"/>
              <a:ext cx="720" cy="1152"/>
              <a:chOff x="2496" y="1008"/>
              <a:chExt cx="720" cy="1152"/>
            </a:xfrm>
          </p:grpSpPr>
          <p:sp>
            <p:nvSpPr>
              <p:cNvPr id="38943" name="Line 31"/>
              <p:cNvSpPr>
                <a:spLocks noChangeShapeType="1"/>
              </p:cNvSpPr>
              <p:nvPr/>
            </p:nvSpPr>
            <p:spPr bwMode="auto">
              <a:xfrm>
                <a:off x="2976" y="1345"/>
                <a:ext cx="0" cy="14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44" name="Line 32"/>
              <p:cNvSpPr>
                <a:spLocks noChangeShapeType="1"/>
              </p:cNvSpPr>
              <p:nvPr/>
            </p:nvSpPr>
            <p:spPr bwMode="auto">
              <a:xfrm>
                <a:off x="2832" y="1345"/>
                <a:ext cx="0" cy="14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45" name="Line 33"/>
              <p:cNvSpPr>
                <a:spLocks noChangeShapeType="1"/>
              </p:cNvSpPr>
              <p:nvPr/>
            </p:nvSpPr>
            <p:spPr bwMode="auto">
              <a:xfrm>
                <a:off x="2736" y="1488"/>
                <a:ext cx="33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46" name="Line 34"/>
              <p:cNvSpPr>
                <a:spLocks noChangeShapeType="1"/>
              </p:cNvSpPr>
              <p:nvPr/>
            </p:nvSpPr>
            <p:spPr bwMode="auto">
              <a:xfrm>
                <a:off x="2496" y="1345"/>
                <a:ext cx="33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47" name="Line 35"/>
              <p:cNvSpPr>
                <a:spLocks noChangeShapeType="1"/>
              </p:cNvSpPr>
              <p:nvPr/>
            </p:nvSpPr>
            <p:spPr bwMode="auto">
              <a:xfrm>
                <a:off x="2832" y="1536"/>
                <a:ext cx="14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48" name="Line 36"/>
              <p:cNvSpPr>
                <a:spLocks noChangeShapeType="1"/>
              </p:cNvSpPr>
              <p:nvPr/>
            </p:nvSpPr>
            <p:spPr bwMode="auto">
              <a:xfrm>
                <a:off x="2905" y="1536"/>
                <a:ext cx="0" cy="62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49" name="Text Box 37"/>
              <p:cNvSpPr txBox="1">
                <a:spLocks noChangeArrowheads="1"/>
              </p:cNvSpPr>
              <p:nvPr/>
            </p:nvSpPr>
            <p:spPr bwMode="auto">
              <a:xfrm>
                <a:off x="2688" y="1008"/>
                <a:ext cx="528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/>
                    <a:ea typeface="黑体" panose="02010609060101010101" pitchFamily="49" charset="-122"/>
                    <a:cs typeface="+mn-cs"/>
                  </a:rPr>
                  <a:t>T3</a:t>
                </a:r>
              </a:p>
            </p:txBody>
          </p:sp>
        </p:grpSp>
        <p:grpSp>
          <p:nvGrpSpPr>
            <p:cNvPr id="9245" name="Group 38"/>
            <p:cNvGrpSpPr/>
            <p:nvPr/>
          </p:nvGrpSpPr>
          <p:grpSpPr>
            <a:xfrm>
              <a:off x="4992" y="1008"/>
              <a:ext cx="576" cy="1152"/>
              <a:chOff x="4992" y="1008"/>
              <a:chExt cx="576" cy="1152"/>
            </a:xfrm>
          </p:grpSpPr>
          <p:sp>
            <p:nvSpPr>
              <p:cNvPr id="38951" name="Line 39"/>
              <p:cNvSpPr>
                <a:spLocks noChangeShapeType="1"/>
              </p:cNvSpPr>
              <p:nvPr/>
            </p:nvSpPr>
            <p:spPr bwMode="auto">
              <a:xfrm>
                <a:off x="5232" y="1345"/>
                <a:ext cx="0" cy="14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2" name="Line 40"/>
              <p:cNvSpPr>
                <a:spLocks noChangeShapeType="1"/>
              </p:cNvSpPr>
              <p:nvPr/>
            </p:nvSpPr>
            <p:spPr bwMode="auto">
              <a:xfrm>
                <a:off x="5088" y="1345"/>
                <a:ext cx="0" cy="14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3" name="Line 41"/>
              <p:cNvSpPr>
                <a:spLocks noChangeShapeType="1"/>
              </p:cNvSpPr>
              <p:nvPr/>
            </p:nvSpPr>
            <p:spPr bwMode="auto">
              <a:xfrm>
                <a:off x="4992" y="1488"/>
                <a:ext cx="33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4" name="Line 42"/>
              <p:cNvSpPr>
                <a:spLocks noChangeShapeType="1"/>
              </p:cNvSpPr>
              <p:nvPr/>
            </p:nvSpPr>
            <p:spPr bwMode="auto">
              <a:xfrm>
                <a:off x="5232" y="1345"/>
                <a:ext cx="33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5" name="Line 43"/>
              <p:cNvSpPr>
                <a:spLocks noChangeShapeType="1"/>
              </p:cNvSpPr>
              <p:nvPr/>
            </p:nvSpPr>
            <p:spPr bwMode="auto">
              <a:xfrm>
                <a:off x="5088" y="1536"/>
                <a:ext cx="14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6" name="Line 44"/>
              <p:cNvSpPr>
                <a:spLocks noChangeShapeType="1"/>
              </p:cNvSpPr>
              <p:nvPr/>
            </p:nvSpPr>
            <p:spPr bwMode="auto">
              <a:xfrm>
                <a:off x="5161" y="1536"/>
                <a:ext cx="0" cy="62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7" name="Text Box 45"/>
              <p:cNvSpPr txBox="1">
                <a:spLocks noChangeArrowheads="1"/>
              </p:cNvSpPr>
              <p:nvPr/>
            </p:nvSpPr>
            <p:spPr bwMode="auto">
              <a:xfrm>
                <a:off x="4992" y="1008"/>
                <a:ext cx="528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/>
                    <a:ea typeface="黑体" panose="02010609060101010101" pitchFamily="49" charset="-122"/>
                    <a:cs typeface="+mn-cs"/>
                  </a:rPr>
                  <a:t>T4</a:t>
                </a:r>
              </a:p>
            </p:txBody>
          </p:sp>
        </p:grpSp>
        <p:sp>
          <p:nvSpPr>
            <p:cNvPr id="38958" name="Line 46"/>
            <p:cNvSpPr>
              <a:spLocks noChangeShapeType="1"/>
            </p:cNvSpPr>
            <p:nvPr/>
          </p:nvSpPr>
          <p:spPr bwMode="auto">
            <a:xfrm>
              <a:off x="2905" y="2448"/>
              <a:ext cx="2256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59" name="Line 47"/>
            <p:cNvSpPr>
              <a:spLocks noChangeShapeType="1"/>
            </p:cNvSpPr>
            <p:nvPr/>
          </p:nvSpPr>
          <p:spPr bwMode="auto">
            <a:xfrm>
              <a:off x="3984" y="2448"/>
              <a:ext cx="0" cy="24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60" name="Line 48"/>
            <p:cNvSpPr>
              <a:spLocks noChangeShapeType="1"/>
            </p:cNvSpPr>
            <p:nvPr/>
          </p:nvSpPr>
          <p:spPr bwMode="auto">
            <a:xfrm>
              <a:off x="3024" y="2688"/>
              <a:ext cx="1814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49" name="Text Box 49"/>
            <p:cNvSpPr txBox="1"/>
            <p:nvPr/>
          </p:nvSpPr>
          <p:spPr>
            <a:xfrm>
              <a:off x="4840" y="2541"/>
              <a:ext cx="378" cy="28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Z</a:t>
              </a:r>
            </a:p>
          </p:txBody>
        </p:sp>
        <p:sp>
          <p:nvSpPr>
            <p:cNvPr id="38962" name="Line 50"/>
            <p:cNvSpPr>
              <a:spLocks noChangeShapeType="1"/>
            </p:cNvSpPr>
            <p:nvPr/>
          </p:nvSpPr>
          <p:spPr bwMode="auto">
            <a:xfrm>
              <a:off x="2496" y="1008"/>
              <a:ext cx="0" cy="148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63" name="Line 51"/>
            <p:cNvSpPr>
              <a:spLocks noChangeShapeType="1"/>
            </p:cNvSpPr>
            <p:nvPr/>
          </p:nvSpPr>
          <p:spPr bwMode="auto">
            <a:xfrm>
              <a:off x="5568" y="1008"/>
              <a:ext cx="0" cy="148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9252" name="Group 52"/>
            <p:cNvGrpSpPr/>
            <p:nvPr/>
          </p:nvGrpSpPr>
          <p:grpSpPr>
            <a:xfrm>
              <a:off x="2330" y="743"/>
              <a:ext cx="576" cy="287"/>
              <a:chOff x="2378" y="503"/>
              <a:chExt cx="576" cy="287"/>
            </a:xfrm>
          </p:grpSpPr>
          <p:sp>
            <p:nvSpPr>
              <p:cNvPr id="9274" name="Text Box 53"/>
              <p:cNvSpPr txBox="1"/>
              <p:nvPr/>
            </p:nvSpPr>
            <p:spPr>
              <a:xfrm>
                <a:off x="2378" y="503"/>
                <a:ext cx="576" cy="28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W</a:t>
                </a:r>
              </a:p>
            </p:txBody>
          </p:sp>
          <p:sp>
            <p:nvSpPr>
              <p:cNvPr id="38966" name="Line 54"/>
              <p:cNvSpPr>
                <a:spLocks noChangeShapeType="1"/>
              </p:cNvSpPr>
              <p:nvPr/>
            </p:nvSpPr>
            <p:spPr bwMode="auto">
              <a:xfrm>
                <a:off x="2461" y="531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253" name="Text Box 55"/>
            <p:cNvSpPr txBox="1"/>
            <p:nvPr/>
          </p:nvSpPr>
          <p:spPr>
            <a:xfrm>
              <a:off x="5404" y="738"/>
              <a:ext cx="576" cy="28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W</a:t>
              </a:r>
            </a:p>
          </p:txBody>
        </p:sp>
        <p:sp>
          <p:nvSpPr>
            <p:cNvPr id="38968" name="Oval 56"/>
            <p:cNvSpPr>
              <a:spLocks noChangeArrowheads="1"/>
            </p:cNvSpPr>
            <p:nvPr/>
          </p:nvSpPr>
          <p:spPr bwMode="auto">
            <a:xfrm>
              <a:off x="3360" y="1296"/>
              <a:ext cx="96" cy="96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69" name="Oval 57"/>
            <p:cNvSpPr>
              <a:spLocks noChangeArrowheads="1"/>
            </p:cNvSpPr>
            <p:nvPr/>
          </p:nvSpPr>
          <p:spPr bwMode="auto">
            <a:xfrm>
              <a:off x="4608" y="1296"/>
              <a:ext cx="96" cy="96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9256" name="Group 58"/>
            <p:cNvGrpSpPr/>
            <p:nvPr/>
          </p:nvGrpSpPr>
          <p:grpSpPr>
            <a:xfrm>
              <a:off x="3696" y="1680"/>
              <a:ext cx="192" cy="480"/>
              <a:chOff x="3696" y="1680"/>
              <a:chExt cx="192" cy="480"/>
            </a:xfrm>
          </p:grpSpPr>
          <p:sp>
            <p:nvSpPr>
              <p:cNvPr id="38971" name="Line 59"/>
              <p:cNvSpPr>
                <a:spLocks noChangeShapeType="1"/>
              </p:cNvSpPr>
              <p:nvPr/>
            </p:nvSpPr>
            <p:spPr bwMode="auto">
              <a:xfrm>
                <a:off x="3696" y="1872"/>
                <a:ext cx="192" cy="0"/>
              </a:xfrm>
              <a:prstGeom prst="line">
                <a:avLst/>
              </a:prstGeom>
              <a:noFill/>
              <a:ln w="76200" cap="sq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72" name="Line 60"/>
              <p:cNvSpPr>
                <a:spLocks noChangeShapeType="1"/>
              </p:cNvSpPr>
              <p:nvPr/>
            </p:nvSpPr>
            <p:spPr bwMode="auto">
              <a:xfrm>
                <a:off x="3792" y="1680"/>
                <a:ext cx="0" cy="192"/>
              </a:xfrm>
              <a:prstGeom prst="line">
                <a:avLst/>
              </a:prstGeom>
              <a:noFill/>
              <a:ln w="28575" cap="rnd">
                <a:solidFill>
                  <a:srgbClr val="FFFF00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73" name="Line 61"/>
              <p:cNvSpPr>
                <a:spLocks noChangeShapeType="1"/>
              </p:cNvSpPr>
              <p:nvPr/>
            </p:nvSpPr>
            <p:spPr bwMode="auto">
              <a:xfrm>
                <a:off x="3696" y="1957"/>
                <a:ext cx="192" cy="0"/>
              </a:xfrm>
              <a:prstGeom prst="line">
                <a:avLst/>
              </a:prstGeom>
              <a:noFill/>
              <a:ln w="76200" cap="sq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74" name="Line 62"/>
              <p:cNvSpPr>
                <a:spLocks noChangeShapeType="1"/>
              </p:cNvSpPr>
              <p:nvPr/>
            </p:nvSpPr>
            <p:spPr bwMode="auto">
              <a:xfrm>
                <a:off x="3792" y="1968"/>
                <a:ext cx="0" cy="192"/>
              </a:xfrm>
              <a:prstGeom prst="line">
                <a:avLst/>
              </a:prstGeom>
              <a:noFill/>
              <a:ln w="28575" cap="rnd">
                <a:solidFill>
                  <a:srgbClr val="FFFF00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257" name="Group 63"/>
            <p:cNvGrpSpPr/>
            <p:nvPr/>
          </p:nvGrpSpPr>
          <p:grpSpPr>
            <a:xfrm>
              <a:off x="4128" y="1680"/>
              <a:ext cx="192" cy="480"/>
              <a:chOff x="3696" y="1680"/>
              <a:chExt cx="192" cy="480"/>
            </a:xfrm>
          </p:grpSpPr>
          <p:sp>
            <p:nvSpPr>
              <p:cNvPr id="38976" name="Line 64"/>
              <p:cNvSpPr>
                <a:spLocks noChangeShapeType="1"/>
              </p:cNvSpPr>
              <p:nvPr/>
            </p:nvSpPr>
            <p:spPr bwMode="auto">
              <a:xfrm>
                <a:off x="3696" y="1872"/>
                <a:ext cx="192" cy="0"/>
              </a:xfrm>
              <a:prstGeom prst="line">
                <a:avLst/>
              </a:prstGeom>
              <a:noFill/>
              <a:ln w="76200" cap="sq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77" name="Line 65"/>
              <p:cNvSpPr>
                <a:spLocks noChangeShapeType="1"/>
              </p:cNvSpPr>
              <p:nvPr/>
            </p:nvSpPr>
            <p:spPr bwMode="auto">
              <a:xfrm>
                <a:off x="3792" y="1680"/>
                <a:ext cx="0" cy="192"/>
              </a:xfrm>
              <a:prstGeom prst="line">
                <a:avLst/>
              </a:prstGeom>
              <a:noFill/>
              <a:ln w="28575" cap="rnd">
                <a:solidFill>
                  <a:srgbClr val="FFFF00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78" name="Line 66"/>
              <p:cNvSpPr>
                <a:spLocks noChangeShapeType="1"/>
              </p:cNvSpPr>
              <p:nvPr/>
            </p:nvSpPr>
            <p:spPr bwMode="auto">
              <a:xfrm>
                <a:off x="3696" y="1957"/>
                <a:ext cx="192" cy="0"/>
              </a:xfrm>
              <a:prstGeom prst="line">
                <a:avLst/>
              </a:prstGeom>
              <a:noFill/>
              <a:ln w="76200" cap="sq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79" name="Line 67"/>
              <p:cNvSpPr>
                <a:spLocks noChangeShapeType="1"/>
              </p:cNvSpPr>
              <p:nvPr/>
            </p:nvSpPr>
            <p:spPr bwMode="auto">
              <a:xfrm>
                <a:off x="3792" y="1968"/>
                <a:ext cx="0" cy="192"/>
              </a:xfrm>
              <a:prstGeom prst="line">
                <a:avLst/>
              </a:prstGeom>
              <a:noFill/>
              <a:ln w="28575" cap="rnd">
                <a:solidFill>
                  <a:srgbClr val="FFFF00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8980" name="Line 68"/>
            <p:cNvSpPr>
              <a:spLocks noChangeShapeType="1"/>
            </p:cNvSpPr>
            <p:nvPr/>
          </p:nvSpPr>
          <p:spPr bwMode="auto">
            <a:xfrm>
              <a:off x="3408" y="2160"/>
              <a:ext cx="1248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81" name="Line 69"/>
            <p:cNvSpPr>
              <a:spLocks noChangeShapeType="1"/>
            </p:cNvSpPr>
            <p:nvPr/>
          </p:nvSpPr>
          <p:spPr bwMode="auto">
            <a:xfrm>
              <a:off x="4656" y="1968"/>
              <a:ext cx="0" cy="19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82" name="Line 70"/>
            <p:cNvSpPr>
              <a:spLocks noChangeShapeType="1"/>
            </p:cNvSpPr>
            <p:nvPr/>
          </p:nvSpPr>
          <p:spPr bwMode="auto">
            <a:xfrm>
              <a:off x="3408" y="1968"/>
              <a:ext cx="0" cy="19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83" name="Line 71"/>
            <p:cNvSpPr>
              <a:spLocks noChangeShapeType="1"/>
            </p:cNvSpPr>
            <p:nvPr/>
          </p:nvSpPr>
          <p:spPr bwMode="auto">
            <a:xfrm>
              <a:off x="3984" y="2160"/>
              <a:ext cx="0" cy="14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84" name="Text Box 72"/>
            <p:cNvSpPr txBox="1">
              <a:spLocks noChangeArrowheads="1"/>
            </p:cNvSpPr>
            <p:nvPr/>
          </p:nvSpPr>
          <p:spPr bwMode="auto">
            <a:xfrm>
              <a:off x="3381" y="1785"/>
              <a:ext cx="480" cy="25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/>
                  <a:ea typeface="黑体" panose="02010609060101010101" pitchFamily="49" charset="-122"/>
                  <a:cs typeface="+mn-cs"/>
                </a:rPr>
                <a:t>C1</a:t>
              </a:r>
            </a:p>
          </p:txBody>
        </p:sp>
        <p:sp>
          <p:nvSpPr>
            <p:cNvPr id="38985" name="Text Box 73"/>
            <p:cNvSpPr txBox="1">
              <a:spLocks noChangeArrowheads="1"/>
            </p:cNvSpPr>
            <p:nvPr/>
          </p:nvSpPr>
          <p:spPr bwMode="auto">
            <a:xfrm>
              <a:off x="4302" y="1785"/>
              <a:ext cx="480" cy="25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/>
                  <a:ea typeface="黑体" panose="02010609060101010101" pitchFamily="49" charset="-122"/>
                  <a:cs typeface="+mn-cs"/>
                </a:rPr>
                <a:t>C2</a:t>
              </a:r>
            </a:p>
          </p:txBody>
        </p:sp>
        <p:sp>
          <p:nvSpPr>
            <p:cNvPr id="38986" name="Line 74"/>
            <p:cNvSpPr>
              <a:spLocks noChangeShapeType="1"/>
            </p:cNvSpPr>
            <p:nvPr/>
          </p:nvSpPr>
          <p:spPr bwMode="auto">
            <a:xfrm>
              <a:off x="5161" y="2160"/>
              <a:ext cx="0" cy="28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87" name="Line 75"/>
            <p:cNvSpPr>
              <a:spLocks noChangeShapeType="1"/>
            </p:cNvSpPr>
            <p:nvPr/>
          </p:nvSpPr>
          <p:spPr bwMode="auto">
            <a:xfrm>
              <a:off x="2905" y="2160"/>
              <a:ext cx="0" cy="28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988" name="Text Box 76"/>
          <p:cNvSpPr txBox="1"/>
          <p:nvPr/>
        </p:nvSpPr>
        <p:spPr>
          <a:xfrm>
            <a:off x="900113" y="5275263"/>
            <a:ext cx="3733800" cy="4616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动态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MOS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四管存储单元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33A499-1F7B-69A0-1255-AFFEB2A2A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078" y="2394266"/>
            <a:ext cx="3624795" cy="307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02995"/>
      </p:ext>
    </p:extLst>
  </p:cSld>
  <p:clrMapOvr>
    <a:masterClrMapping/>
  </p:clrMapOvr>
  <p:transition spd="med">
    <p:pull dir="l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/>
          <p:nvPr/>
        </p:nvSpPr>
        <p:spPr>
          <a:xfrm>
            <a:off x="304800" y="260351"/>
            <a:ext cx="6553200" cy="6463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4.2.2 </a:t>
            </a:r>
            <a:r>
              <a:rPr lang="zh-CN" altLang="en-US" sz="36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动态</a:t>
            </a:r>
            <a:r>
              <a:rPr lang="en-US" altLang="zh-CN" sz="36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MOS</a:t>
            </a:r>
            <a:r>
              <a:rPr lang="zh-CN" altLang="en-US" sz="36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存储单元与芯片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131769" y="1389064"/>
            <a:ext cx="5794375" cy="3807293"/>
            <a:chOff x="2330" y="738"/>
            <a:chExt cx="3650" cy="2090"/>
          </a:xfrm>
        </p:grpSpPr>
        <p:grpSp>
          <p:nvGrpSpPr>
            <p:cNvPr id="9234" name="Group 4"/>
            <p:cNvGrpSpPr/>
            <p:nvPr/>
          </p:nvGrpSpPr>
          <p:grpSpPr>
            <a:xfrm>
              <a:off x="3024" y="1344"/>
              <a:ext cx="864" cy="624"/>
              <a:chOff x="2400" y="1296"/>
              <a:chExt cx="864" cy="624"/>
            </a:xfrm>
          </p:grpSpPr>
          <p:sp>
            <p:nvSpPr>
              <p:cNvPr id="38917" name="Text Box 5"/>
              <p:cNvSpPr txBox="1">
                <a:spLocks noChangeArrowheads="1"/>
              </p:cNvSpPr>
              <p:nvPr/>
            </p:nvSpPr>
            <p:spPr bwMode="auto">
              <a:xfrm>
                <a:off x="2400" y="1439"/>
                <a:ext cx="480" cy="28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kumimoji="1" lang="en-US" altLang="zh-CN" sz="2800" b="1">
                    <a:solidFill>
                      <a:srgbClr val="FFFF00"/>
                    </a:solidFill>
                    <a:latin typeface="+mn-lt"/>
                    <a:ea typeface="黑体" panose="02010609060101010101" pitchFamily="49" charset="-122"/>
                  </a:rPr>
                  <a:t>T1</a:t>
                </a:r>
              </a:p>
            </p:txBody>
          </p:sp>
          <p:grpSp>
            <p:nvGrpSpPr>
              <p:cNvPr id="9298" name="Group 6"/>
              <p:cNvGrpSpPr/>
              <p:nvPr/>
            </p:nvGrpSpPr>
            <p:grpSpPr>
              <a:xfrm>
                <a:off x="2784" y="1296"/>
                <a:ext cx="480" cy="624"/>
                <a:chOff x="2784" y="1296"/>
                <a:chExt cx="480" cy="624"/>
              </a:xfrm>
            </p:grpSpPr>
            <p:sp>
              <p:nvSpPr>
                <p:cNvPr id="38919" name="Line 7"/>
                <p:cNvSpPr>
                  <a:spLocks noChangeShapeType="1"/>
                </p:cNvSpPr>
                <p:nvPr/>
              </p:nvSpPr>
              <p:spPr bwMode="auto">
                <a:xfrm>
                  <a:off x="2784" y="1296"/>
                  <a:ext cx="0" cy="24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>
                    <a:latin typeface="+mn-lt"/>
                  </a:endParaRPr>
                </a:p>
              </p:txBody>
            </p:sp>
            <p:sp>
              <p:nvSpPr>
                <p:cNvPr id="38920" name="Line 8"/>
                <p:cNvSpPr>
                  <a:spLocks noChangeShapeType="1"/>
                </p:cNvSpPr>
                <p:nvPr/>
              </p:nvSpPr>
              <p:spPr bwMode="auto">
                <a:xfrm>
                  <a:off x="2784" y="1534"/>
                  <a:ext cx="192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>
                    <a:latin typeface="+mn-lt"/>
                  </a:endParaRPr>
                </a:p>
              </p:txBody>
            </p:sp>
            <p:sp>
              <p:nvSpPr>
                <p:cNvPr id="38921" name="Line 9"/>
                <p:cNvSpPr>
                  <a:spLocks noChangeShapeType="1"/>
                </p:cNvSpPr>
                <p:nvPr/>
              </p:nvSpPr>
              <p:spPr bwMode="auto">
                <a:xfrm>
                  <a:off x="2784" y="1680"/>
                  <a:ext cx="192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>
                    <a:latin typeface="+mn-lt"/>
                  </a:endParaRPr>
                </a:p>
              </p:txBody>
            </p:sp>
            <p:sp>
              <p:nvSpPr>
                <p:cNvPr id="38922" name="Line 10"/>
                <p:cNvSpPr>
                  <a:spLocks noChangeShapeType="1"/>
                </p:cNvSpPr>
                <p:nvPr/>
              </p:nvSpPr>
              <p:spPr bwMode="auto">
                <a:xfrm>
                  <a:off x="2976" y="1487"/>
                  <a:ext cx="0" cy="241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>
                    <a:latin typeface="+mn-lt"/>
                  </a:endParaRPr>
                </a:p>
              </p:txBody>
            </p:sp>
            <p:sp>
              <p:nvSpPr>
                <p:cNvPr id="38923" name="Line 11"/>
                <p:cNvSpPr>
                  <a:spLocks noChangeShapeType="1"/>
                </p:cNvSpPr>
                <p:nvPr/>
              </p:nvSpPr>
              <p:spPr bwMode="auto">
                <a:xfrm>
                  <a:off x="2784" y="1680"/>
                  <a:ext cx="0" cy="24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>
                    <a:latin typeface="+mn-lt"/>
                  </a:endParaRPr>
                </a:p>
              </p:txBody>
            </p:sp>
            <p:sp>
              <p:nvSpPr>
                <p:cNvPr id="38924" name="Line 12"/>
                <p:cNvSpPr>
                  <a:spLocks noChangeShapeType="1"/>
                </p:cNvSpPr>
                <p:nvPr/>
              </p:nvSpPr>
              <p:spPr bwMode="auto">
                <a:xfrm>
                  <a:off x="3072" y="1534"/>
                  <a:ext cx="0" cy="146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>
                    <a:latin typeface="+mn-lt"/>
                  </a:endParaRPr>
                </a:p>
              </p:txBody>
            </p:sp>
            <p:sp>
              <p:nvSpPr>
                <p:cNvPr id="38925" name="Line 13"/>
                <p:cNvSpPr>
                  <a:spLocks noChangeShapeType="1"/>
                </p:cNvSpPr>
                <p:nvPr/>
              </p:nvSpPr>
              <p:spPr bwMode="auto">
                <a:xfrm>
                  <a:off x="3072" y="1632"/>
                  <a:ext cx="192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>
                    <a:latin typeface="+mn-lt"/>
                  </a:endParaRPr>
                </a:p>
              </p:txBody>
            </p:sp>
          </p:grpSp>
        </p:grpSp>
        <p:sp>
          <p:nvSpPr>
            <p:cNvPr id="38926" name="Line 14"/>
            <p:cNvSpPr>
              <a:spLocks noChangeShapeType="1"/>
            </p:cNvSpPr>
            <p:nvPr/>
          </p:nvSpPr>
          <p:spPr bwMode="auto">
            <a:xfrm>
              <a:off x="2976" y="1344"/>
              <a:ext cx="432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27" name="Text Box 15"/>
            <p:cNvSpPr txBox="1">
              <a:spLocks noChangeArrowheads="1"/>
            </p:cNvSpPr>
            <p:nvPr/>
          </p:nvSpPr>
          <p:spPr bwMode="auto">
            <a:xfrm flipH="1">
              <a:off x="4704" y="1440"/>
              <a:ext cx="480" cy="2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en-US" altLang="zh-CN" sz="2800" b="1">
                  <a:solidFill>
                    <a:srgbClr val="FFFF00"/>
                  </a:solidFill>
                  <a:latin typeface="+mn-lt"/>
                  <a:ea typeface="黑体" panose="02010609060101010101" pitchFamily="49" charset="-122"/>
                </a:rPr>
                <a:t>T2</a:t>
              </a:r>
            </a:p>
          </p:txBody>
        </p:sp>
        <p:grpSp>
          <p:nvGrpSpPr>
            <p:cNvPr id="9237" name="Group 16"/>
            <p:cNvGrpSpPr/>
            <p:nvPr/>
          </p:nvGrpSpPr>
          <p:grpSpPr>
            <a:xfrm flipH="1">
              <a:off x="4176" y="1344"/>
              <a:ext cx="480" cy="624"/>
              <a:chOff x="2784" y="1296"/>
              <a:chExt cx="480" cy="624"/>
            </a:xfrm>
          </p:grpSpPr>
          <p:sp>
            <p:nvSpPr>
              <p:cNvPr id="38929" name="Line 17"/>
              <p:cNvSpPr>
                <a:spLocks noChangeShapeType="1"/>
              </p:cNvSpPr>
              <p:nvPr/>
            </p:nvSpPr>
            <p:spPr bwMode="auto">
              <a:xfrm>
                <a:off x="2784" y="1296"/>
                <a:ext cx="0" cy="24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30" name="Line 18"/>
              <p:cNvSpPr>
                <a:spLocks noChangeShapeType="1"/>
              </p:cNvSpPr>
              <p:nvPr/>
            </p:nvSpPr>
            <p:spPr bwMode="auto">
              <a:xfrm>
                <a:off x="2784" y="1548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31" name="Line 19"/>
              <p:cNvSpPr>
                <a:spLocks noChangeShapeType="1"/>
              </p:cNvSpPr>
              <p:nvPr/>
            </p:nvSpPr>
            <p:spPr bwMode="auto">
              <a:xfrm>
                <a:off x="2784" y="1680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32" name="Line 20"/>
              <p:cNvSpPr>
                <a:spLocks noChangeShapeType="1"/>
              </p:cNvSpPr>
              <p:nvPr/>
            </p:nvSpPr>
            <p:spPr bwMode="auto">
              <a:xfrm>
                <a:off x="2976" y="1487"/>
                <a:ext cx="0" cy="241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33" name="Line 21"/>
              <p:cNvSpPr>
                <a:spLocks noChangeShapeType="1"/>
              </p:cNvSpPr>
              <p:nvPr/>
            </p:nvSpPr>
            <p:spPr bwMode="auto">
              <a:xfrm>
                <a:off x="2784" y="1680"/>
                <a:ext cx="0" cy="24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34" name="Line 22"/>
              <p:cNvSpPr>
                <a:spLocks noChangeShapeType="1"/>
              </p:cNvSpPr>
              <p:nvPr/>
            </p:nvSpPr>
            <p:spPr bwMode="auto">
              <a:xfrm>
                <a:off x="3072" y="1534"/>
                <a:ext cx="0" cy="146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35" name="Line 23"/>
              <p:cNvSpPr>
                <a:spLocks noChangeShapeType="1"/>
              </p:cNvSpPr>
              <p:nvPr/>
            </p:nvSpPr>
            <p:spPr bwMode="auto">
              <a:xfrm>
                <a:off x="3072" y="1632"/>
                <a:ext cx="192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</p:grpSp>
        <p:sp>
          <p:nvSpPr>
            <p:cNvPr id="38936" name="Line 24"/>
            <p:cNvSpPr>
              <a:spLocks noChangeShapeType="1"/>
            </p:cNvSpPr>
            <p:nvPr/>
          </p:nvSpPr>
          <p:spPr bwMode="auto">
            <a:xfrm flipH="1">
              <a:off x="3888" y="2311"/>
              <a:ext cx="192" cy="0"/>
            </a:xfrm>
            <a:prstGeom prst="line">
              <a:avLst/>
            </a:prstGeom>
            <a:noFill/>
            <a:ln w="28575" cap="sq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37" name="Line 25"/>
            <p:cNvSpPr>
              <a:spLocks noChangeShapeType="1"/>
            </p:cNvSpPr>
            <p:nvPr/>
          </p:nvSpPr>
          <p:spPr bwMode="auto">
            <a:xfrm flipH="1">
              <a:off x="4656" y="1344"/>
              <a:ext cx="432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38" name="Line 26"/>
            <p:cNvSpPr>
              <a:spLocks noChangeShapeType="1"/>
            </p:cNvSpPr>
            <p:nvPr/>
          </p:nvSpPr>
          <p:spPr bwMode="auto">
            <a:xfrm>
              <a:off x="3408" y="1344"/>
              <a:ext cx="48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39" name="Line 27"/>
            <p:cNvSpPr>
              <a:spLocks noChangeShapeType="1"/>
            </p:cNvSpPr>
            <p:nvPr/>
          </p:nvSpPr>
          <p:spPr bwMode="auto">
            <a:xfrm>
              <a:off x="3888" y="1344"/>
              <a:ext cx="288" cy="33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40" name="Line 28"/>
            <p:cNvSpPr>
              <a:spLocks noChangeShapeType="1"/>
            </p:cNvSpPr>
            <p:nvPr/>
          </p:nvSpPr>
          <p:spPr bwMode="auto">
            <a:xfrm flipV="1">
              <a:off x="3888" y="1344"/>
              <a:ext cx="288" cy="33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41" name="Line 29"/>
            <p:cNvSpPr>
              <a:spLocks noChangeShapeType="1"/>
            </p:cNvSpPr>
            <p:nvPr/>
          </p:nvSpPr>
          <p:spPr bwMode="auto">
            <a:xfrm>
              <a:off x="4176" y="1344"/>
              <a:ext cx="48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grpSp>
          <p:nvGrpSpPr>
            <p:cNvPr id="9244" name="Group 30"/>
            <p:cNvGrpSpPr/>
            <p:nvPr/>
          </p:nvGrpSpPr>
          <p:grpSpPr>
            <a:xfrm>
              <a:off x="2496" y="1008"/>
              <a:ext cx="720" cy="1152"/>
              <a:chOff x="2496" y="1008"/>
              <a:chExt cx="720" cy="1152"/>
            </a:xfrm>
          </p:grpSpPr>
          <p:sp>
            <p:nvSpPr>
              <p:cNvPr id="38943" name="Line 31"/>
              <p:cNvSpPr>
                <a:spLocks noChangeShapeType="1"/>
              </p:cNvSpPr>
              <p:nvPr/>
            </p:nvSpPr>
            <p:spPr bwMode="auto">
              <a:xfrm>
                <a:off x="2976" y="1345"/>
                <a:ext cx="0" cy="14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44" name="Line 32"/>
              <p:cNvSpPr>
                <a:spLocks noChangeShapeType="1"/>
              </p:cNvSpPr>
              <p:nvPr/>
            </p:nvSpPr>
            <p:spPr bwMode="auto">
              <a:xfrm>
                <a:off x="2832" y="1345"/>
                <a:ext cx="0" cy="14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45" name="Line 33"/>
              <p:cNvSpPr>
                <a:spLocks noChangeShapeType="1"/>
              </p:cNvSpPr>
              <p:nvPr/>
            </p:nvSpPr>
            <p:spPr bwMode="auto">
              <a:xfrm>
                <a:off x="2736" y="1488"/>
                <a:ext cx="33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46" name="Line 34"/>
              <p:cNvSpPr>
                <a:spLocks noChangeShapeType="1"/>
              </p:cNvSpPr>
              <p:nvPr/>
            </p:nvSpPr>
            <p:spPr bwMode="auto">
              <a:xfrm>
                <a:off x="2496" y="1345"/>
                <a:ext cx="33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47" name="Line 35"/>
              <p:cNvSpPr>
                <a:spLocks noChangeShapeType="1"/>
              </p:cNvSpPr>
              <p:nvPr/>
            </p:nvSpPr>
            <p:spPr bwMode="auto">
              <a:xfrm>
                <a:off x="2832" y="1536"/>
                <a:ext cx="14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48" name="Line 36"/>
              <p:cNvSpPr>
                <a:spLocks noChangeShapeType="1"/>
              </p:cNvSpPr>
              <p:nvPr/>
            </p:nvSpPr>
            <p:spPr bwMode="auto">
              <a:xfrm>
                <a:off x="2905" y="1536"/>
                <a:ext cx="0" cy="62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49" name="Text Box 37"/>
              <p:cNvSpPr txBox="1">
                <a:spLocks noChangeArrowheads="1"/>
              </p:cNvSpPr>
              <p:nvPr/>
            </p:nvSpPr>
            <p:spPr bwMode="auto">
              <a:xfrm>
                <a:off x="2688" y="1008"/>
                <a:ext cx="528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kumimoji="1" lang="en-US" altLang="zh-CN" sz="2800" b="1">
                    <a:solidFill>
                      <a:srgbClr val="FFFF00"/>
                    </a:solidFill>
                    <a:latin typeface="+mn-lt"/>
                    <a:ea typeface="黑体" panose="02010609060101010101" pitchFamily="49" charset="-122"/>
                  </a:rPr>
                  <a:t>T3</a:t>
                </a:r>
              </a:p>
            </p:txBody>
          </p:sp>
        </p:grpSp>
        <p:grpSp>
          <p:nvGrpSpPr>
            <p:cNvPr id="9245" name="Group 38"/>
            <p:cNvGrpSpPr/>
            <p:nvPr/>
          </p:nvGrpSpPr>
          <p:grpSpPr>
            <a:xfrm>
              <a:off x="4992" y="1008"/>
              <a:ext cx="576" cy="1152"/>
              <a:chOff x="4992" y="1008"/>
              <a:chExt cx="576" cy="1152"/>
            </a:xfrm>
          </p:grpSpPr>
          <p:sp>
            <p:nvSpPr>
              <p:cNvPr id="38951" name="Line 39"/>
              <p:cNvSpPr>
                <a:spLocks noChangeShapeType="1"/>
              </p:cNvSpPr>
              <p:nvPr/>
            </p:nvSpPr>
            <p:spPr bwMode="auto">
              <a:xfrm>
                <a:off x="5232" y="1345"/>
                <a:ext cx="0" cy="14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52" name="Line 40"/>
              <p:cNvSpPr>
                <a:spLocks noChangeShapeType="1"/>
              </p:cNvSpPr>
              <p:nvPr/>
            </p:nvSpPr>
            <p:spPr bwMode="auto">
              <a:xfrm>
                <a:off x="5088" y="1345"/>
                <a:ext cx="0" cy="14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53" name="Line 41"/>
              <p:cNvSpPr>
                <a:spLocks noChangeShapeType="1"/>
              </p:cNvSpPr>
              <p:nvPr/>
            </p:nvSpPr>
            <p:spPr bwMode="auto">
              <a:xfrm>
                <a:off x="4992" y="1488"/>
                <a:ext cx="33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54" name="Line 42"/>
              <p:cNvSpPr>
                <a:spLocks noChangeShapeType="1"/>
              </p:cNvSpPr>
              <p:nvPr/>
            </p:nvSpPr>
            <p:spPr bwMode="auto">
              <a:xfrm>
                <a:off x="5232" y="1345"/>
                <a:ext cx="336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55" name="Line 43"/>
              <p:cNvSpPr>
                <a:spLocks noChangeShapeType="1"/>
              </p:cNvSpPr>
              <p:nvPr/>
            </p:nvSpPr>
            <p:spPr bwMode="auto">
              <a:xfrm>
                <a:off x="5088" y="1536"/>
                <a:ext cx="14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56" name="Line 44"/>
              <p:cNvSpPr>
                <a:spLocks noChangeShapeType="1"/>
              </p:cNvSpPr>
              <p:nvPr/>
            </p:nvSpPr>
            <p:spPr bwMode="auto">
              <a:xfrm>
                <a:off x="5161" y="1536"/>
                <a:ext cx="0" cy="62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57" name="Text Box 45"/>
              <p:cNvSpPr txBox="1">
                <a:spLocks noChangeArrowheads="1"/>
              </p:cNvSpPr>
              <p:nvPr/>
            </p:nvSpPr>
            <p:spPr bwMode="auto">
              <a:xfrm>
                <a:off x="4992" y="1008"/>
                <a:ext cx="528" cy="287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kumimoji="1" lang="en-US" altLang="zh-CN" sz="2800" b="1">
                    <a:solidFill>
                      <a:srgbClr val="FFFF00"/>
                    </a:solidFill>
                    <a:latin typeface="+mn-lt"/>
                    <a:ea typeface="黑体" panose="02010609060101010101" pitchFamily="49" charset="-122"/>
                  </a:rPr>
                  <a:t>T4</a:t>
                </a:r>
              </a:p>
            </p:txBody>
          </p:sp>
        </p:grpSp>
        <p:sp>
          <p:nvSpPr>
            <p:cNvPr id="38958" name="Line 46"/>
            <p:cNvSpPr>
              <a:spLocks noChangeShapeType="1"/>
            </p:cNvSpPr>
            <p:nvPr/>
          </p:nvSpPr>
          <p:spPr bwMode="auto">
            <a:xfrm>
              <a:off x="2905" y="2448"/>
              <a:ext cx="2256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59" name="Line 47"/>
            <p:cNvSpPr>
              <a:spLocks noChangeShapeType="1"/>
            </p:cNvSpPr>
            <p:nvPr/>
          </p:nvSpPr>
          <p:spPr bwMode="auto">
            <a:xfrm>
              <a:off x="3984" y="2448"/>
              <a:ext cx="0" cy="24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60" name="Line 48"/>
            <p:cNvSpPr>
              <a:spLocks noChangeShapeType="1"/>
            </p:cNvSpPr>
            <p:nvPr/>
          </p:nvSpPr>
          <p:spPr bwMode="auto">
            <a:xfrm>
              <a:off x="3024" y="2688"/>
              <a:ext cx="1814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9249" name="Text Box 49"/>
            <p:cNvSpPr txBox="1"/>
            <p:nvPr/>
          </p:nvSpPr>
          <p:spPr>
            <a:xfrm>
              <a:off x="4840" y="2541"/>
              <a:ext cx="378" cy="28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Z</a:t>
              </a:r>
            </a:p>
          </p:txBody>
        </p:sp>
        <p:sp>
          <p:nvSpPr>
            <p:cNvPr id="38962" name="Line 50"/>
            <p:cNvSpPr>
              <a:spLocks noChangeShapeType="1"/>
            </p:cNvSpPr>
            <p:nvPr/>
          </p:nvSpPr>
          <p:spPr bwMode="auto">
            <a:xfrm>
              <a:off x="2496" y="1008"/>
              <a:ext cx="0" cy="148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63" name="Line 51"/>
            <p:cNvSpPr>
              <a:spLocks noChangeShapeType="1"/>
            </p:cNvSpPr>
            <p:nvPr/>
          </p:nvSpPr>
          <p:spPr bwMode="auto">
            <a:xfrm>
              <a:off x="5568" y="1008"/>
              <a:ext cx="0" cy="148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grpSp>
          <p:nvGrpSpPr>
            <p:cNvPr id="9252" name="Group 52"/>
            <p:cNvGrpSpPr/>
            <p:nvPr/>
          </p:nvGrpSpPr>
          <p:grpSpPr>
            <a:xfrm>
              <a:off x="2330" y="743"/>
              <a:ext cx="576" cy="287"/>
              <a:chOff x="2378" y="503"/>
              <a:chExt cx="576" cy="287"/>
            </a:xfrm>
          </p:grpSpPr>
          <p:sp>
            <p:nvSpPr>
              <p:cNvPr id="9274" name="Text Box 53"/>
              <p:cNvSpPr txBox="1"/>
              <p:nvPr/>
            </p:nvSpPr>
            <p:spPr>
              <a:xfrm>
                <a:off x="2378" y="503"/>
                <a:ext cx="576" cy="28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ea typeface="黑体" panose="02010609060101010101" pitchFamily="49" charset="-122"/>
                  </a:rPr>
                  <a:t>W</a:t>
                </a:r>
              </a:p>
            </p:txBody>
          </p:sp>
          <p:sp>
            <p:nvSpPr>
              <p:cNvPr id="38966" name="Line 54"/>
              <p:cNvSpPr>
                <a:spLocks noChangeShapeType="1"/>
              </p:cNvSpPr>
              <p:nvPr/>
            </p:nvSpPr>
            <p:spPr bwMode="auto">
              <a:xfrm>
                <a:off x="2461" y="531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</p:grpSp>
        <p:sp>
          <p:nvSpPr>
            <p:cNvPr id="9253" name="Text Box 55"/>
            <p:cNvSpPr txBox="1"/>
            <p:nvPr/>
          </p:nvSpPr>
          <p:spPr>
            <a:xfrm>
              <a:off x="5404" y="738"/>
              <a:ext cx="576" cy="28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W</a:t>
              </a:r>
            </a:p>
          </p:txBody>
        </p:sp>
        <p:sp>
          <p:nvSpPr>
            <p:cNvPr id="38968" name="Oval 56"/>
            <p:cNvSpPr>
              <a:spLocks noChangeArrowheads="1"/>
            </p:cNvSpPr>
            <p:nvPr/>
          </p:nvSpPr>
          <p:spPr bwMode="auto">
            <a:xfrm>
              <a:off x="3360" y="1296"/>
              <a:ext cx="96" cy="96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69" name="Oval 57"/>
            <p:cNvSpPr>
              <a:spLocks noChangeArrowheads="1"/>
            </p:cNvSpPr>
            <p:nvPr/>
          </p:nvSpPr>
          <p:spPr bwMode="auto">
            <a:xfrm>
              <a:off x="4608" y="1296"/>
              <a:ext cx="96" cy="96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grpSp>
          <p:nvGrpSpPr>
            <p:cNvPr id="9256" name="Group 58"/>
            <p:cNvGrpSpPr/>
            <p:nvPr/>
          </p:nvGrpSpPr>
          <p:grpSpPr>
            <a:xfrm>
              <a:off x="3696" y="1680"/>
              <a:ext cx="192" cy="480"/>
              <a:chOff x="3696" y="1680"/>
              <a:chExt cx="192" cy="480"/>
            </a:xfrm>
          </p:grpSpPr>
          <p:sp>
            <p:nvSpPr>
              <p:cNvPr id="38971" name="Line 59"/>
              <p:cNvSpPr>
                <a:spLocks noChangeShapeType="1"/>
              </p:cNvSpPr>
              <p:nvPr/>
            </p:nvSpPr>
            <p:spPr bwMode="auto">
              <a:xfrm>
                <a:off x="3696" y="1872"/>
                <a:ext cx="192" cy="0"/>
              </a:xfrm>
              <a:prstGeom prst="line">
                <a:avLst/>
              </a:prstGeom>
              <a:noFill/>
              <a:ln w="76200" cap="sq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72" name="Line 60"/>
              <p:cNvSpPr>
                <a:spLocks noChangeShapeType="1"/>
              </p:cNvSpPr>
              <p:nvPr/>
            </p:nvSpPr>
            <p:spPr bwMode="auto">
              <a:xfrm>
                <a:off x="3792" y="1680"/>
                <a:ext cx="0" cy="192"/>
              </a:xfrm>
              <a:prstGeom prst="line">
                <a:avLst/>
              </a:prstGeom>
              <a:noFill/>
              <a:ln w="28575" cap="rnd">
                <a:solidFill>
                  <a:srgbClr val="FFFF00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73" name="Line 61"/>
              <p:cNvSpPr>
                <a:spLocks noChangeShapeType="1"/>
              </p:cNvSpPr>
              <p:nvPr/>
            </p:nvSpPr>
            <p:spPr bwMode="auto">
              <a:xfrm>
                <a:off x="3696" y="1957"/>
                <a:ext cx="192" cy="0"/>
              </a:xfrm>
              <a:prstGeom prst="line">
                <a:avLst/>
              </a:prstGeom>
              <a:noFill/>
              <a:ln w="76200" cap="sq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74" name="Line 62"/>
              <p:cNvSpPr>
                <a:spLocks noChangeShapeType="1"/>
              </p:cNvSpPr>
              <p:nvPr/>
            </p:nvSpPr>
            <p:spPr bwMode="auto">
              <a:xfrm>
                <a:off x="3792" y="1968"/>
                <a:ext cx="0" cy="192"/>
              </a:xfrm>
              <a:prstGeom prst="line">
                <a:avLst/>
              </a:prstGeom>
              <a:noFill/>
              <a:ln w="28575" cap="rnd">
                <a:solidFill>
                  <a:srgbClr val="FFFF00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</p:grpSp>
        <p:grpSp>
          <p:nvGrpSpPr>
            <p:cNvPr id="9257" name="Group 63"/>
            <p:cNvGrpSpPr/>
            <p:nvPr/>
          </p:nvGrpSpPr>
          <p:grpSpPr>
            <a:xfrm>
              <a:off x="4128" y="1680"/>
              <a:ext cx="192" cy="480"/>
              <a:chOff x="3696" y="1680"/>
              <a:chExt cx="192" cy="480"/>
            </a:xfrm>
          </p:grpSpPr>
          <p:sp>
            <p:nvSpPr>
              <p:cNvPr id="38976" name="Line 64"/>
              <p:cNvSpPr>
                <a:spLocks noChangeShapeType="1"/>
              </p:cNvSpPr>
              <p:nvPr/>
            </p:nvSpPr>
            <p:spPr bwMode="auto">
              <a:xfrm>
                <a:off x="3696" y="1872"/>
                <a:ext cx="192" cy="0"/>
              </a:xfrm>
              <a:prstGeom prst="line">
                <a:avLst/>
              </a:prstGeom>
              <a:noFill/>
              <a:ln w="76200" cap="sq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77" name="Line 65"/>
              <p:cNvSpPr>
                <a:spLocks noChangeShapeType="1"/>
              </p:cNvSpPr>
              <p:nvPr/>
            </p:nvSpPr>
            <p:spPr bwMode="auto">
              <a:xfrm>
                <a:off x="3792" y="1680"/>
                <a:ext cx="0" cy="192"/>
              </a:xfrm>
              <a:prstGeom prst="line">
                <a:avLst/>
              </a:prstGeom>
              <a:noFill/>
              <a:ln w="28575" cap="rnd">
                <a:solidFill>
                  <a:srgbClr val="FFFF00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78" name="Line 66"/>
              <p:cNvSpPr>
                <a:spLocks noChangeShapeType="1"/>
              </p:cNvSpPr>
              <p:nvPr/>
            </p:nvSpPr>
            <p:spPr bwMode="auto">
              <a:xfrm>
                <a:off x="3696" y="1957"/>
                <a:ext cx="192" cy="0"/>
              </a:xfrm>
              <a:prstGeom prst="line">
                <a:avLst/>
              </a:prstGeom>
              <a:noFill/>
              <a:ln w="76200" cap="sq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  <p:sp>
            <p:nvSpPr>
              <p:cNvPr id="38979" name="Line 67"/>
              <p:cNvSpPr>
                <a:spLocks noChangeShapeType="1"/>
              </p:cNvSpPr>
              <p:nvPr/>
            </p:nvSpPr>
            <p:spPr bwMode="auto">
              <a:xfrm>
                <a:off x="3792" y="1968"/>
                <a:ext cx="0" cy="192"/>
              </a:xfrm>
              <a:prstGeom prst="line">
                <a:avLst/>
              </a:prstGeom>
              <a:noFill/>
              <a:ln w="28575" cap="rnd">
                <a:solidFill>
                  <a:srgbClr val="FFFF00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latin typeface="+mn-lt"/>
                </a:endParaRPr>
              </a:p>
            </p:txBody>
          </p:sp>
        </p:grpSp>
        <p:sp>
          <p:nvSpPr>
            <p:cNvPr id="38980" name="Line 68"/>
            <p:cNvSpPr>
              <a:spLocks noChangeShapeType="1"/>
            </p:cNvSpPr>
            <p:nvPr/>
          </p:nvSpPr>
          <p:spPr bwMode="auto">
            <a:xfrm>
              <a:off x="3408" y="2160"/>
              <a:ext cx="1248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81" name="Line 69"/>
            <p:cNvSpPr>
              <a:spLocks noChangeShapeType="1"/>
            </p:cNvSpPr>
            <p:nvPr/>
          </p:nvSpPr>
          <p:spPr bwMode="auto">
            <a:xfrm>
              <a:off x="4656" y="1968"/>
              <a:ext cx="0" cy="19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82" name="Line 70"/>
            <p:cNvSpPr>
              <a:spLocks noChangeShapeType="1"/>
            </p:cNvSpPr>
            <p:nvPr/>
          </p:nvSpPr>
          <p:spPr bwMode="auto">
            <a:xfrm>
              <a:off x="3408" y="1968"/>
              <a:ext cx="0" cy="19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83" name="Line 71"/>
            <p:cNvSpPr>
              <a:spLocks noChangeShapeType="1"/>
            </p:cNvSpPr>
            <p:nvPr/>
          </p:nvSpPr>
          <p:spPr bwMode="auto">
            <a:xfrm>
              <a:off x="3984" y="2160"/>
              <a:ext cx="0" cy="14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84" name="Text Box 72"/>
            <p:cNvSpPr txBox="1">
              <a:spLocks noChangeArrowheads="1"/>
            </p:cNvSpPr>
            <p:nvPr/>
          </p:nvSpPr>
          <p:spPr bwMode="auto">
            <a:xfrm>
              <a:off x="3381" y="1785"/>
              <a:ext cx="480" cy="25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en-US" altLang="zh-CN" b="1" dirty="0">
                  <a:solidFill>
                    <a:srgbClr val="FFFF00"/>
                  </a:solidFill>
                  <a:latin typeface="+mn-lt"/>
                  <a:ea typeface="黑体" panose="02010609060101010101" pitchFamily="49" charset="-122"/>
                </a:rPr>
                <a:t>C1</a:t>
              </a:r>
            </a:p>
          </p:txBody>
        </p:sp>
        <p:sp>
          <p:nvSpPr>
            <p:cNvPr id="38985" name="Text Box 73"/>
            <p:cNvSpPr txBox="1">
              <a:spLocks noChangeArrowheads="1"/>
            </p:cNvSpPr>
            <p:nvPr/>
          </p:nvSpPr>
          <p:spPr bwMode="auto">
            <a:xfrm>
              <a:off x="4302" y="1785"/>
              <a:ext cx="480" cy="25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en-US" altLang="zh-CN" b="1" dirty="0">
                  <a:solidFill>
                    <a:srgbClr val="FFFF00"/>
                  </a:solidFill>
                  <a:latin typeface="+mn-lt"/>
                  <a:ea typeface="黑体" panose="02010609060101010101" pitchFamily="49" charset="-122"/>
                </a:rPr>
                <a:t>C2</a:t>
              </a:r>
            </a:p>
          </p:txBody>
        </p:sp>
        <p:sp>
          <p:nvSpPr>
            <p:cNvPr id="38986" name="Line 74"/>
            <p:cNvSpPr>
              <a:spLocks noChangeShapeType="1"/>
            </p:cNvSpPr>
            <p:nvPr/>
          </p:nvSpPr>
          <p:spPr bwMode="auto">
            <a:xfrm>
              <a:off x="5161" y="2160"/>
              <a:ext cx="0" cy="28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  <p:sp>
          <p:nvSpPr>
            <p:cNvPr id="38987" name="Line 75"/>
            <p:cNvSpPr>
              <a:spLocks noChangeShapeType="1"/>
            </p:cNvSpPr>
            <p:nvPr/>
          </p:nvSpPr>
          <p:spPr bwMode="auto">
            <a:xfrm>
              <a:off x="2905" y="2160"/>
              <a:ext cx="0" cy="28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latin typeface="+mn-lt"/>
              </a:endParaRPr>
            </a:p>
          </p:txBody>
        </p:sp>
      </p:grpSp>
      <p:sp>
        <p:nvSpPr>
          <p:cNvPr id="38988" name="Text Box 76"/>
          <p:cNvSpPr txBox="1"/>
          <p:nvPr/>
        </p:nvSpPr>
        <p:spPr>
          <a:xfrm>
            <a:off x="900113" y="5275263"/>
            <a:ext cx="3733800" cy="4616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None/>
            </a:pPr>
            <a:r>
              <a:rPr lang="zh-CN" altLang="en-US" b="1" dirty="0">
                <a:latin typeface="Calibri" panose="020F0502020204030204" pitchFamily="34" charset="0"/>
                <a:ea typeface="黑体" panose="02010609060101010101" pitchFamily="49" charset="-122"/>
              </a:rPr>
              <a:t>动态</a:t>
            </a:r>
            <a:r>
              <a:rPr lang="en-US" altLang="zh-CN" b="1" dirty="0">
                <a:latin typeface="Calibri" panose="020F0502020204030204" pitchFamily="34" charset="0"/>
                <a:ea typeface="黑体" panose="02010609060101010101" pitchFamily="49" charset="-122"/>
              </a:rPr>
              <a:t>MOS</a:t>
            </a:r>
            <a:r>
              <a:rPr lang="zh-CN" altLang="en-US" b="1" dirty="0">
                <a:latin typeface="Calibri" panose="020F0502020204030204" pitchFamily="34" charset="0"/>
                <a:ea typeface="黑体" panose="02010609060101010101" pitchFamily="49" charset="-122"/>
              </a:rPr>
              <a:t>四管存储单元</a:t>
            </a:r>
          </a:p>
        </p:txBody>
      </p:sp>
      <p:sp>
        <p:nvSpPr>
          <p:cNvPr id="38989" name="Text Box 77"/>
          <p:cNvSpPr txBox="1"/>
          <p:nvPr/>
        </p:nvSpPr>
        <p:spPr>
          <a:xfrm>
            <a:off x="5580063" y="1989139"/>
            <a:ext cx="3313112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四管单元电路</a:t>
            </a:r>
          </a:p>
        </p:txBody>
      </p:sp>
      <p:sp>
        <p:nvSpPr>
          <p:cNvPr id="38990" name="Text Box 78"/>
          <p:cNvSpPr txBox="1"/>
          <p:nvPr/>
        </p:nvSpPr>
        <p:spPr>
          <a:xfrm>
            <a:off x="5581651" y="3213100"/>
            <a:ext cx="38862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：记忆管</a:t>
            </a:r>
          </a:p>
        </p:txBody>
      </p:sp>
      <p:sp>
        <p:nvSpPr>
          <p:cNvPr id="38991" name="Text Box 79"/>
          <p:cNvSpPr txBox="1"/>
          <p:nvPr/>
        </p:nvSpPr>
        <p:spPr>
          <a:xfrm>
            <a:off x="5581651" y="3670300"/>
            <a:ext cx="38862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C1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C2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：柵极电容</a:t>
            </a:r>
          </a:p>
        </p:txBody>
      </p:sp>
      <p:sp>
        <p:nvSpPr>
          <p:cNvPr id="38992" name="Text Box 80"/>
          <p:cNvSpPr txBox="1"/>
          <p:nvPr/>
        </p:nvSpPr>
        <p:spPr>
          <a:xfrm>
            <a:off x="5581651" y="4127500"/>
            <a:ext cx="38862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T3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T4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：控制门管</a:t>
            </a:r>
          </a:p>
        </p:txBody>
      </p:sp>
      <p:sp>
        <p:nvSpPr>
          <p:cNvPr id="38993" name="Text Box 81"/>
          <p:cNvSpPr txBox="1"/>
          <p:nvPr/>
        </p:nvSpPr>
        <p:spPr>
          <a:xfrm>
            <a:off x="5651500" y="4649793"/>
            <a:ext cx="28194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：字线</a:t>
            </a:r>
          </a:p>
        </p:txBody>
      </p:sp>
      <p:grpSp>
        <p:nvGrpSpPr>
          <p:cNvPr id="11" name="Group 82"/>
          <p:cNvGrpSpPr/>
          <p:nvPr/>
        </p:nvGrpSpPr>
        <p:grpSpPr>
          <a:xfrm>
            <a:off x="5664200" y="5235577"/>
            <a:ext cx="2590800" cy="584200"/>
            <a:chOff x="0" y="2688"/>
            <a:chExt cx="1632" cy="368"/>
          </a:xfrm>
        </p:grpSpPr>
        <p:sp>
          <p:nvSpPr>
            <p:cNvPr id="9229" name="Text Box 83"/>
            <p:cNvSpPr txBox="1"/>
            <p:nvPr/>
          </p:nvSpPr>
          <p:spPr>
            <a:xfrm>
              <a:off x="816" y="2688"/>
              <a:ext cx="81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位线</a:t>
              </a:r>
            </a:p>
          </p:txBody>
        </p:sp>
        <p:grpSp>
          <p:nvGrpSpPr>
            <p:cNvPr id="9230" name="Group 84"/>
            <p:cNvGrpSpPr/>
            <p:nvPr/>
          </p:nvGrpSpPr>
          <p:grpSpPr>
            <a:xfrm>
              <a:off x="0" y="2688"/>
              <a:ext cx="576" cy="368"/>
              <a:chOff x="0" y="2784"/>
              <a:chExt cx="576" cy="368"/>
            </a:xfrm>
          </p:grpSpPr>
          <p:sp>
            <p:nvSpPr>
              <p:cNvPr id="9232" name="Text Box 85"/>
              <p:cNvSpPr txBox="1"/>
              <p:nvPr/>
            </p:nvSpPr>
            <p:spPr>
              <a:xfrm>
                <a:off x="0" y="2784"/>
                <a:ext cx="576" cy="36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W</a:t>
                </a:r>
                <a:r>
                  <a:rPr lang="zh-CN" altLang="en-US" sz="32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、</a:t>
                </a:r>
              </a:p>
            </p:txBody>
          </p:sp>
          <p:sp>
            <p:nvSpPr>
              <p:cNvPr id="9233" name="Line 86"/>
              <p:cNvSpPr/>
              <p:nvPr/>
            </p:nvSpPr>
            <p:spPr>
              <a:xfrm>
                <a:off x="50" y="2847"/>
                <a:ext cx="136" cy="0"/>
              </a:xfrm>
              <a:prstGeom prst="line">
                <a:avLst/>
              </a:prstGeom>
              <a:ln w="28575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9231" name="Text Box 87"/>
            <p:cNvSpPr txBox="1"/>
            <p:nvPr/>
          </p:nvSpPr>
          <p:spPr>
            <a:xfrm>
              <a:off x="432" y="2688"/>
              <a:ext cx="576" cy="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</a:p>
          </p:txBody>
        </p:sp>
      </p:grpSp>
      <p:sp>
        <p:nvSpPr>
          <p:cNvPr id="13324" name="Text Box 83"/>
          <p:cNvSpPr txBox="1"/>
          <p:nvPr/>
        </p:nvSpPr>
        <p:spPr>
          <a:xfrm>
            <a:off x="5508630" y="2636839"/>
            <a:ext cx="2195513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结构</a:t>
            </a:r>
          </a:p>
        </p:txBody>
      </p:sp>
    </p:spTree>
  </p:cSld>
  <p:clrMapOvr>
    <a:masterClrMapping/>
  </p:clrMapOvr>
  <p:transition spd="med">
    <p:pull dir="l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4" name="Text Box 94"/>
          <p:cNvSpPr txBox="1"/>
          <p:nvPr/>
        </p:nvSpPr>
        <p:spPr>
          <a:xfrm>
            <a:off x="5084763" y="714377"/>
            <a:ext cx="31242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15455" name="Text Box 95"/>
          <p:cNvSpPr txBox="1"/>
          <p:nvPr/>
        </p:nvSpPr>
        <p:spPr>
          <a:xfrm>
            <a:off x="5197480" y="1557343"/>
            <a:ext cx="3946525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导通，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截止</a:t>
            </a:r>
          </a:p>
        </p:txBody>
      </p:sp>
      <p:sp>
        <p:nvSpPr>
          <p:cNvPr id="15456" name="Text Box 96"/>
          <p:cNvSpPr txBox="1"/>
          <p:nvPr/>
        </p:nvSpPr>
        <p:spPr>
          <a:xfrm>
            <a:off x="5205417" y="2781300"/>
            <a:ext cx="3938587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截止，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导通</a:t>
            </a:r>
          </a:p>
        </p:txBody>
      </p:sp>
      <p:grpSp>
        <p:nvGrpSpPr>
          <p:cNvPr id="2" name="Group 117"/>
          <p:cNvGrpSpPr/>
          <p:nvPr/>
        </p:nvGrpSpPr>
        <p:grpSpPr>
          <a:xfrm>
            <a:off x="82555" y="233369"/>
            <a:ext cx="5210175" cy="3764470"/>
            <a:chOff x="2390" y="736"/>
            <a:chExt cx="3282" cy="2044"/>
          </a:xfrm>
        </p:grpSpPr>
        <p:grpSp>
          <p:nvGrpSpPr>
            <p:cNvPr id="10252" name="Group 19"/>
            <p:cNvGrpSpPr/>
            <p:nvPr/>
          </p:nvGrpSpPr>
          <p:grpSpPr>
            <a:xfrm>
              <a:off x="3024" y="1344"/>
              <a:ext cx="864" cy="624"/>
              <a:chOff x="2400" y="1296"/>
              <a:chExt cx="864" cy="624"/>
            </a:xfrm>
          </p:grpSpPr>
          <p:sp>
            <p:nvSpPr>
              <p:cNvPr id="10315" name="Text Box 20"/>
              <p:cNvSpPr txBox="1"/>
              <p:nvPr/>
            </p:nvSpPr>
            <p:spPr>
              <a:xfrm>
                <a:off x="2400" y="1440"/>
                <a:ext cx="480" cy="2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T1</a:t>
                </a:r>
              </a:p>
            </p:txBody>
          </p:sp>
          <p:grpSp>
            <p:nvGrpSpPr>
              <p:cNvPr id="10316" name="Group 21"/>
              <p:cNvGrpSpPr/>
              <p:nvPr/>
            </p:nvGrpSpPr>
            <p:grpSpPr>
              <a:xfrm>
                <a:off x="2784" y="1296"/>
                <a:ext cx="480" cy="624"/>
                <a:chOff x="2784" y="1296"/>
                <a:chExt cx="480" cy="624"/>
              </a:xfrm>
            </p:grpSpPr>
            <p:sp>
              <p:nvSpPr>
                <p:cNvPr id="10317" name="Line 22"/>
                <p:cNvSpPr/>
                <p:nvPr/>
              </p:nvSpPr>
              <p:spPr>
                <a:xfrm>
                  <a:off x="2784" y="1296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318" name="Line 23"/>
                <p:cNvSpPr/>
                <p:nvPr/>
              </p:nvSpPr>
              <p:spPr>
                <a:xfrm>
                  <a:off x="2784" y="1536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319" name="Line 24"/>
                <p:cNvSpPr/>
                <p:nvPr/>
              </p:nvSpPr>
              <p:spPr>
                <a:xfrm>
                  <a:off x="2784" y="1680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320" name="Line 25"/>
                <p:cNvSpPr/>
                <p:nvPr/>
              </p:nvSpPr>
              <p:spPr>
                <a:xfrm>
                  <a:off x="2976" y="1488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321" name="Line 26"/>
                <p:cNvSpPr/>
                <p:nvPr/>
              </p:nvSpPr>
              <p:spPr>
                <a:xfrm>
                  <a:off x="2784" y="1680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322" name="Line 27"/>
                <p:cNvSpPr/>
                <p:nvPr/>
              </p:nvSpPr>
              <p:spPr>
                <a:xfrm>
                  <a:off x="3072" y="1536"/>
                  <a:ext cx="0" cy="144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323" name="Line 28"/>
                <p:cNvSpPr/>
                <p:nvPr/>
              </p:nvSpPr>
              <p:spPr>
                <a:xfrm>
                  <a:off x="3072" y="1632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sp>
          <p:nvSpPr>
            <p:cNvPr id="10253" name="Line 30"/>
            <p:cNvSpPr/>
            <p:nvPr/>
          </p:nvSpPr>
          <p:spPr>
            <a:xfrm>
              <a:off x="2976" y="1344"/>
              <a:ext cx="432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54" name="Text Box 41"/>
            <p:cNvSpPr txBox="1"/>
            <p:nvPr/>
          </p:nvSpPr>
          <p:spPr>
            <a:xfrm flipH="1">
              <a:off x="4704" y="1440"/>
              <a:ext cx="480" cy="2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T2</a:t>
              </a:r>
            </a:p>
          </p:txBody>
        </p:sp>
        <p:grpSp>
          <p:nvGrpSpPr>
            <p:cNvPr id="10255" name="Group 42"/>
            <p:cNvGrpSpPr/>
            <p:nvPr/>
          </p:nvGrpSpPr>
          <p:grpSpPr>
            <a:xfrm flipH="1">
              <a:off x="4176" y="1344"/>
              <a:ext cx="480" cy="624"/>
              <a:chOff x="2784" y="1296"/>
              <a:chExt cx="480" cy="624"/>
            </a:xfrm>
          </p:grpSpPr>
          <p:sp>
            <p:nvSpPr>
              <p:cNvPr id="10308" name="Line 43"/>
              <p:cNvSpPr/>
              <p:nvPr/>
            </p:nvSpPr>
            <p:spPr>
              <a:xfrm>
                <a:off x="2784" y="1296"/>
                <a:ext cx="0" cy="24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309" name="Line 44"/>
              <p:cNvSpPr/>
              <p:nvPr/>
            </p:nvSpPr>
            <p:spPr>
              <a:xfrm>
                <a:off x="2784" y="1536"/>
                <a:ext cx="19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310" name="Line 45"/>
              <p:cNvSpPr/>
              <p:nvPr/>
            </p:nvSpPr>
            <p:spPr>
              <a:xfrm>
                <a:off x="2784" y="1680"/>
                <a:ext cx="19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311" name="Line 46"/>
              <p:cNvSpPr/>
              <p:nvPr/>
            </p:nvSpPr>
            <p:spPr>
              <a:xfrm>
                <a:off x="2976" y="1488"/>
                <a:ext cx="0" cy="24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312" name="Line 47"/>
              <p:cNvSpPr/>
              <p:nvPr/>
            </p:nvSpPr>
            <p:spPr>
              <a:xfrm>
                <a:off x="2784" y="1680"/>
                <a:ext cx="0" cy="24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313" name="Line 48"/>
              <p:cNvSpPr/>
              <p:nvPr/>
            </p:nvSpPr>
            <p:spPr>
              <a:xfrm>
                <a:off x="3072" y="1536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314" name="Line 49"/>
              <p:cNvSpPr/>
              <p:nvPr/>
            </p:nvSpPr>
            <p:spPr>
              <a:xfrm>
                <a:off x="3072" y="1632"/>
                <a:ext cx="19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0256" name="Line 50"/>
            <p:cNvSpPr/>
            <p:nvPr/>
          </p:nvSpPr>
          <p:spPr>
            <a:xfrm flipH="1">
              <a:off x="3888" y="2311"/>
              <a:ext cx="192" cy="0"/>
            </a:xfrm>
            <a:prstGeom prst="line">
              <a:avLst/>
            </a:prstGeom>
            <a:ln w="28575" cap="sq" cmpd="sng">
              <a:solidFill>
                <a:schemeClr val="accent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57" name="Line 51"/>
            <p:cNvSpPr/>
            <p:nvPr/>
          </p:nvSpPr>
          <p:spPr>
            <a:xfrm flipH="1">
              <a:off x="4656" y="1344"/>
              <a:ext cx="432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58" name="Line 53"/>
            <p:cNvSpPr/>
            <p:nvPr/>
          </p:nvSpPr>
          <p:spPr>
            <a:xfrm>
              <a:off x="3408" y="1344"/>
              <a:ext cx="480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59" name="Line 54"/>
            <p:cNvSpPr/>
            <p:nvPr/>
          </p:nvSpPr>
          <p:spPr>
            <a:xfrm>
              <a:off x="3888" y="1344"/>
              <a:ext cx="288" cy="336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60" name="Line 55"/>
            <p:cNvSpPr/>
            <p:nvPr/>
          </p:nvSpPr>
          <p:spPr>
            <a:xfrm flipV="1">
              <a:off x="3888" y="1344"/>
              <a:ext cx="288" cy="336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61" name="Line 56"/>
            <p:cNvSpPr/>
            <p:nvPr/>
          </p:nvSpPr>
          <p:spPr>
            <a:xfrm>
              <a:off x="4176" y="1344"/>
              <a:ext cx="480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0262" name="Group 61"/>
            <p:cNvGrpSpPr/>
            <p:nvPr/>
          </p:nvGrpSpPr>
          <p:grpSpPr>
            <a:xfrm>
              <a:off x="2602" y="1008"/>
              <a:ext cx="614" cy="1152"/>
              <a:chOff x="2602" y="1008"/>
              <a:chExt cx="614" cy="1152"/>
            </a:xfrm>
          </p:grpSpPr>
          <p:sp>
            <p:nvSpPr>
              <p:cNvPr id="10301" name="Line 62"/>
              <p:cNvSpPr/>
              <p:nvPr/>
            </p:nvSpPr>
            <p:spPr>
              <a:xfrm>
                <a:off x="2976" y="1344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302" name="Line 63"/>
              <p:cNvSpPr/>
              <p:nvPr/>
            </p:nvSpPr>
            <p:spPr>
              <a:xfrm>
                <a:off x="2832" y="1344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303" name="Line 64"/>
              <p:cNvSpPr/>
              <p:nvPr/>
            </p:nvSpPr>
            <p:spPr>
              <a:xfrm>
                <a:off x="2736" y="1488"/>
                <a:ext cx="336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304" name="Line 65"/>
              <p:cNvSpPr/>
              <p:nvPr/>
            </p:nvSpPr>
            <p:spPr>
              <a:xfrm>
                <a:off x="2602" y="1344"/>
                <a:ext cx="227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305" name="Line 66"/>
              <p:cNvSpPr/>
              <p:nvPr/>
            </p:nvSpPr>
            <p:spPr>
              <a:xfrm>
                <a:off x="2832" y="1536"/>
                <a:ext cx="144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306" name="Line 67"/>
              <p:cNvSpPr/>
              <p:nvPr/>
            </p:nvSpPr>
            <p:spPr>
              <a:xfrm>
                <a:off x="2905" y="1536"/>
                <a:ext cx="0" cy="62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307" name="Text Box 68"/>
              <p:cNvSpPr txBox="1"/>
              <p:nvPr/>
            </p:nvSpPr>
            <p:spPr>
              <a:xfrm>
                <a:off x="2688" y="1008"/>
                <a:ext cx="528" cy="28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T3</a:t>
                </a:r>
              </a:p>
            </p:txBody>
          </p:sp>
        </p:grpSp>
        <p:grpSp>
          <p:nvGrpSpPr>
            <p:cNvPr id="10263" name="Group 69"/>
            <p:cNvGrpSpPr/>
            <p:nvPr/>
          </p:nvGrpSpPr>
          <p:grpSpPr>
            <a:xfrm>
              <a:off x="4992" y="1008"/>
              <a:ext cx="528" cy="1152"/>
              <a:chOff x="4992" y="1008"/>
              <a:chExt cx="528" cy="1152"/>
            </a:xfrm>
          </p:grpSpPr>
          <p:sp>
            <p:nvSpPr>
              <p:cNvPr id="10294" name="Line 70"/>
              <p:cNvSpPr/>
              <p:nvPr/>
            </p:nvSpPr>
            <p:spPr>
              <a:xfrm>
                <a:off x="5232" y="1344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295" name="Line 71"/>
              <p:cNvSpPr/>
              <p:nvPr/>
            </p:nvSpPr>
            <p:spPr>
              <a:xfrm>
                <a:off x="5088" y="1344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296" name="Line 72"/>
              <p:cNvSpPr/>
              <p:nvPr/>
            </p:nvSpPr>
            <p:spPr>
              <a:xfrm>
                <a:off x="4992" y="1488"/>
                <a:ext cx="336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297" name="Line 73"/>
              <p:cNvSpPr/>
              <p:nvPr/>
            </p:nvSpPr>
            <p:spPr>
              <a:xfrm>
                <a:off x="5232" y="1344"/>
                <a:ext cx="227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298" name="Line 74"/>
              <p:cNvSpPr/>
              <p:nvPr/>
            </p:nvSpPr>
            <p:spPr>
              <a:xfrm>
                <a:off x="5088" y="1536"/>
                <a:ext cx="144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299" name="Line 75"/>
              <p:cNvSpPr/>
              <p:nvPr/>
            </p:nvSpPr>
            <p:spPr>
              <a:xfrm>
                <a:off x="5161" y="1536"/>
                <a:ext cx="0" cy="62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300" name="Text Box 76"/>
              <p:cNvSpPr txBox="1"/>
              <p:nvPr/>
            </p:nvSpPr>
            <p:spPr>
              <a:xfrm>
                <a:off x="4992" y="1008"/>
                <a:ext cx="528" cy="28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T4</a:t>
                </a:r>
              </a:p>
            </p:txBody>
          </p:sp>
        </p:grpSp>
        <p:sp>
          <p:nvSpPr>
            <p:cNvPr id="10264" name="Line 77"/>
            <p:cNvSpPr/>
            <p:nvPr/>
          </p:nvSpPr>
          <p:spPr>
            <a:xfrm>
              <a:off x="2905" y="2448"/>
              <a:ext cx="2256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65" name="Line 79"/>
            <p:cNvSpPr/>
            <p:nvPr/>
          </p:nvSpPr>
          <p:spPr>
            <a:xfrm>
              <a:off x="3984" y="2448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66" name="Line 80"/>
            <p:cNvSpPr/>
            <p:nvPr/>
          </p:nvSpPr>
          <p:spPr>
            <a:xfrm>
              <a:off x="3024" y="2688"/>
              <a:ext cx="2016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67" name="Text Box 81"/>
            <p:cNvSpPr txBox="1"/>
            <p:nvPr/>
          </p:nvSpPr>
          <p:spPr>
            <a:xfrm>
              <a:off x="5088" y="2496"/>
              <a:ext cx="576" cy="28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</a:p>
          </p:txBody>
        </p:sp>
        <p:sp>
          <p:nvSpPr>
            <p:cNvPr id="10268" name="Line 84"/>
            <p:cNvSpPr/>
            <p:nvPr/>
          </p:nvSpPr>
          <p:spPr>
            <a:xfrm>
              <a:off x="2587" y="1008"/>
              <a:ext cx="0" cy="1488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69" name="Line 85"/>
            <p:cNvSpPr/>
            <p:nvPr/>
          </p:nvSpPr>
          <p:spPr>
            <a:xfrm>
              <a:off x="5460" y="1008"/>
              <a:ext cx="0" cy="1488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0270" name="Group 86"/>
            <p:cNvGrpSpPr/>
            <p:nvPr/>
          </p:nvGrpSpPr>
          <p:grpSpPr>
            <a:xfrm>
              <a:off x="2390" y="736"/>
              <a:ext cx="412" cy="284"/>
              <a:chOff x="2438" y="496"/>
              <a:chExt cx="412" cy="284"/>
            </a:xfrm>
          </p:grpSpPr>
          <p:sp>
            <p:nvSpPr>
              <p:cNvPr id="10292" name="Text Box 87"/>
              <p:cNvSpPr txBox="1"/>
              <p:nvPr/>
            </p:nvSpPr>
            <p:spPr>
              <a:xfrm>
                <a:off x="2438" y="496"/>
                <a:ext cx="412" cy="28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ea typeface="黑体" panose="02010609060101010101" pitchFamily="49" charset="-122"/>
                  </a:rPr>
                  <a:t>W</a:t>
                </a:r>
              </a:p>
            </p:txBody>
          </p:sp>
          <p:sp>
            <p:nvSpPr>
              <p:cNvPr id="10293" name="Line 88"/>
              <p:cNvSpPr/>
              <p:nvPr/>
            </p:nvSpPr>
            <p:spPr>
              <a:xfrm>
                <a:off x="2544" y="524"/>
                <a:ext cx="192" cy="0"/>
              </a:xfrm>
              <a:prstGeom prst="line">
                <a:avLst/>
              </a:prstGeom>
              <a:ln w="28575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0271" name="Text Box 89"/>
            <p:cNvSpPr txBox="1"/>
            <p:nvPr/>
          </p:nvSpPr>
          <p:spPr>
            <a:xfrm>
              <a:off x="5260" y="736"/>
              <a:ext cx="412" cy="28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W</a:t>
              </a:r>
            </a:p>
          </p:txBody>
        </p:sp>
        <p:sp>
          <p:nvSpPr>
            <p:cNvPr id="10272" name="Oval 98"/>
            <p:cNvSpPr/>
            <p:nvPr/>
          </p:nvSpPr>
          <p:spPr>
            <a:xfrm>
              <a:off x="3360" y="1296"/>
              <a:ext cx="96" cy="96"/>
            </a:xfrm>
            <a:prstGeom prst="ellipse">
              <a:avLst/>
            </a:prstGeom>
            <a:solidFill>
              <a:schemeClr val="tx1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/>
            </a:p>
          </p:txBody>
        </p:sp>
        <p:sp>
          <p:nvSpPr>
            <p:cNvPr id="10273" name="Oval 99"/>
            <p:cNvSpPr/>
            <p:nvPr/>
          </p:nvSpPr>
          <p:spPr>
            <a:xfrm>
              <a:off x="4608" y="1296"/>
              <a:ext cx="96" cy="96"/>
            </a:xfrm>
            <a:prstGeom prst="ellipse">
              <a:avLst/>
            </a:prstGeom>
            <a:solidFill>
              <a:schemeClr val="tx1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/>
            </a:p>
          </p:txBody>
        </p:sp>
        <p:grpSp>
          <p:nvGrpSpPr>
            <p:cNvPr id="10274" name="Group 103"/>
            <p:cNvGrpSpPr/>
            <p:nvPr/>
          </p:nvGrpSpPr>
          <p:grpSpPr>
            <a:xfrm>
              <a:off x="3696" y="1680"/>
              <a:ext cx="192" cy="480"/>
              <a:chOff x="3696" y="1680"/>
              <a:chExt cx="192" cy="480"/>
            </a:xfrm>
          </p:grpSpPr>
          <p:sp>
            <p:nvSpPr>
              <p:cNvPr id="10288" name="Line 29"/>
              <p:cNvSpPr/>
              <p:nvPr/>
            </p:nvSpPr>
            <p:spPr>
              <a:xfrm>
                <a:off x="3696" y="1872"/>
                <a:ext cx="192" cy="0"/>
              </a:xfrm>
              <a:prstGeom prst="line">
                <a:avLst/>
              </a:prstGeom>
              <a:ln w="762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289" name="Line 100"/>
              <p:cNvSpPr/>
              <p:nvPr/>
            </p:nvSpPr>
            <p:spPr>
              <a:xfrm>
                <a:off x="3792" y="1680"/>
                <a:ext cx="0" cy="192"/>
              </a:xfrm>
              <a:prstGeom prst="line">
                <a:avLst/>
              </a:prstGeom>
              <a:ln w="28575" cap="rnd" cmpd="sng">
                <a:solidFill>
                  <a:srgbClr val="FFFF00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10290" name="Line 101"/>
              <p:cNvSpPr/>
              <p:nvPr/>
            </p:nvSpPr>
            <p:spPr>
              <a:xfrm>
                <a:off x="3696" y="1963"/>
                <a:ext cx="192" cy="0"/>
              </a:xfrm>
              <a:prstGeom prst="line">
                <a:avLst/>
              </a:prstGeom>
              <a:ln w="762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291" name="Line 102"/>
              <p:cNvSpPr/>
              <p:nvPr/>
            </p:nvSpPr>
            <p:spPr>
              <a:xfrm>
                <a:off x="3792" y="1968"/>
                <a:ext cx="0" cy="192"/>
              </a:xfrm>
              <a:prstGeom prst="line">
                <a:avLst/>
              </a:prstGeom>
              <a:ln w="28575" cap="rnd" cmpd="sng">
                <a:solidFill>
                  <a:srgbClr val="FFFF00"/>
                </a:solidFill>
                <a:prstDash val="sysDot"/>
                <a:headEnd type="none" w="sm" len="sm"/>
                <a:tailEnd type="none" w="sm" len="sm"/>
              </a:ln>
            </p:spPr>
          </p:sp>
        </p:grpSp>
        <p:grpSp>
          <p:nvGrpSpPr>
            <p:cNvPr id="10275" name="Group 104"/>
            <p:cNvGrpSpPr/>
            <p:nvPr/>
          </p:nvGrpSpPr>
          <p:grpSpPr>
            <a:xfrm>
              <a:off x="4128" y="1680"/>
              <a:ext cx="192" cy="480"/>
              <a:chOff x="3696" y="1680"/>
              <a:chExt cx="192" cy="480"/>
            </a:xfrm>
          </p:grpSpPr>
          <p:sp>
            <p:nvSpPr>
              <p:cNvPr id="10284" name="Line 105"/>
              <p:cNvSpPr/>
              <p:nvPr/>
            </p:nvSpPr>
            <p:spPr>
              <a:xfrm>
                <a:off x="3696" y="1872"/>
                <a:ext cx="192" cy="0"/>
              </a:xfrm>
              <a:prstGeom prst="line">
                <a:avLst/>
              </a:prstGeom>
              <a:ln w="762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285" name="Line 106"/>
              <p:cNvSpPr/>
              <p:nvPr/>
            </p:nvSpPr>
            <p:spPr>
              <a:xfrm>
                <a:off x="3792" y="1680"/>
                <a:ext cx="0" cy="192"/>
              </a:xfrm>
              <a:prstGeom prst="line">
                <a:avLst/>
              </a:prstGeom>
              <a:ln w="28575" cap="rnd" cmpd="sng">
                <a:solidFill>
                  <a:srgbClr val="FFFF00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10286" name="Line 107"/>
              <p:cNvSpPr/>
              <p:nvPr/>
            </p:nvSpPr>
            <p:spPr>
              <a:xfrm>
                <a:off x="3696" y="1963"/>
                <a:ext cx="192" cy="0"/>
              </a:xfrm>
              <a:prstGeom prst="line">
                <a:avLst/>
              </a:prstGeom>
              <a:ln w="762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287" name="Line 108"/>
              <p:cNvSpPr/>
              <p:nvPr/>
            </p:nvSpPr>
            <p:spPr>
              <a:xfrm>
                <a:off x="3792" y="1968"/>
                <a:ext cx="0" cy="192"/>
              </a:xfrm>
              <a:prstGeom prst="line">
                <a:avLst/>
              </a:prstGeom>
              <a:ln w="28575" cap="rnd" cmpd="sng">
                <a:solidFill>
                  <a:srgbClr val="FFFF00"/>
                </a:solidFill>
                <a:prstDash val="sysDot"/>
                <a:headEnd type="none" w="sm" len="sm"/>
                <a:tailEnd type="none" w="sm" len="sm"/>
              </a:ln>
            </p:spPr>
          </p:sp>
        </p:grpSp>
        <p:sp>
          <p:nvSpPr>
            <p:cNvPr id="10276" name="Line 109"/>
            <p:cNvSpPr/>
            <p:nvPr/>
          </p:nvSpPr>
          <p:spPr>
            <a:xfrm>
              <a:off x="3408" y="2160"/>
              <a:ext cx="1248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77" name="Line 110"/>
            <p:cNvSpPr/>
            <p:nvPr/>
          </p:nvSpPr>
          <p:spPr>
            <a:xfrm>
              <a:off x="4656" y="1968"/>
              <a:ext cx="0" cy="192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78" name="Line 111"/>
            <p:cNvSpPr/>
            <p:nvPr/>
          </p:nvSpPr>
          <p:spPr>
            <a:xfrm>
              <a:off x="3408" y="1968"/>
              <a:ext cx="0" cy="192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79" name="Line 112"/>
            <p:cNvSpPr/>
            <p:nvPr/>
          </p:nvSpPr>
          <p:spPr>
            <a:xfrm>
              <a:off x="3984" y="2160"/>
              <a:ext cx="0" cy="14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80" name="Text Box 113"/>
            <p:cNvSpPr txBox="1"/>
            <p:nvPr/>
          </p:nvSpPr>
          <p:spPr>
            <a:xfrm>
              <a:off x="3393" y="1785"/>
              <a:ext cx="480" cy="25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lang="en-US" altLang="zh-CN" b="1" dirty="0">
                  <a:solidFill>
                    <a:srgbClr val="FFFF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C1</a:t>
              </a:r>
            </a:p>
          </p:txBody>
        </p:sp>
        <p:sp>
          <p:nvSpPr>
            <p:cNvPr id="10281" name="Text Box 114"/>
            <p:cNvSpPr txBox="1"/>
            <p:nvPr/>
          </p:nvSpPr>
          <p:spPr>
            <a:xfrm>
              <a:off x="4315" y="1787"/>
              <a:ext cx="480" cy="25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lang="en-US" altLang="zh-CN" b="1" dirty="0">
                  <a:solidFill>
                    <a:srgbClr val="FFFF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C2</a:t>
              </a:r>
            </a:p>
          </p:txBody>
        </p:sp>
        <p:sp>
          <p:nvSpPr>
            <p:cNvPr id="10282" name="Line 115"/>
            <p:cNvSpPr/>
            <p:nvPr/>
          </p:nvSpPr>
          <p:spPr>
            <a:xfrm>
              <a:off x="5161" y="2160"/>
              <a:ext cx="0" cy="288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83" name="Line 116"/>
            <p:cNvSpPr/>
            <p:nvPr/>
          </p:nvSpPr>
          <p:spPr>
            <a:xfrm>
              <a:off x="2905" y="2160"/>
              <a:ext cx="0" cy="288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5479" name="Text Box 119"/>
          <p:cNvSpPr txBox="1"/>
          <p:nvPr/>
        </p:nvSpPr>
        <p:spPr>
          <a:xfrm>
            <a:off x="4932368" y="2133605"/>
            <a:ext cx="4211637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C1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带电荷，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C2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无电荷）</a:t>
            </a:r>
          </a:p>
        </p:txBody>
      </p:sp>
      <p:sp>
        <p:nvSpPr>
          <p:cNvPr id="15480" name="Text Box 120"/>
          <p:cNvSpPr txBox="1"/>
          <p:nvPr/>
        </p:nvSpPr>
        <p:spPr>
          <a:xfrm>
            <a:off x="4960938" y="3429005"/>
            <a:ext cx="4183063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C1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无电荷，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C2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带电荷）</a:t>
            </a:r>
          </a:p>
        </p:txBody>
      </p:sp>
      <p:sp>
        <p:nvSpPr>
          <p:cNvPr id="15481" name="Text Box 121"/>
          <p:cNvSpPr txBox="1"/>
          <p:nvPr/>
        </p:nvSpPr>
        <p:spPr>
          <a:xfrm>
            <a:off x="223839" y="4289426"/>
            <a:ext cx="31242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</a:t>
            </a:r>
          </a:p>
        </p:txBody>
      </p:sp>
      <p:sp>
        <p:nvSpPr>
          <p:cNvPr id="15482" name="Text Box 122"/>
          <p:cNvSpPr txBox="1"/>
          <p:nvPr/>
        </p:nvSpPr>
        <p:spPr>
          <a:xfrm>
            <a:off x="346075" y="5013325"/>
            <a:ext cx="28956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加高电平，</a:t>
            </a:r>
          </a:p>
        </p:txBody>
      </p:sp>
      <p:sp>
        <p:nvSpPr>
          <p:cNvPr id="15483" name="Text Box 123"/>
          <p:cNvSpPr txBox="1"/>
          <p:nvPr/>
        </p:nvSpPr>
        <p:spPr>
          <a:xfrm>
            <a:off x="2947992" y="5024443"/>
            <a:ext cx="5368925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T3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T4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导通，选中该单元。</a:t>
            </a:r>
          </a:p>
        </p:txBody>
      </p:sp>
    </p:spTree>
  </p:cSld>
  <p:clrMapOvr>
    <a:masterClrMapping/>
  </p:clrMapOvr>
  <p:transition spd="med">
    <p:pull dir="l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4" name="Text Box 110"/>
          <p:cNvSpPr txBox="1"/>
          <p:nvPr/>
        </p:nvSpPr>
        <p:spPr>
          <a:xfrm>
            <a:off x="84139" y="1798639"/>
            <a:ext cx="4140200" cy="9541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高电平，断开充电回路，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再加高电平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99" name="Text Box 15"/>
          <p:cNvSpPr txBox="1"/>
          <p:nvPr/>
        </p:nvSpPr>
        <p:spPr>
          <a:xfrm>
            <a:off x="7939" y="3789364"/>
            <a:ext cx="31242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数据保持</a:t>
            </a:r>
          </a:p>
        </p:txBody>
      </p:sp>
      <p:grpSp>
        <p:nvGrpSpPr>
          <p:cNvPr id="2" name="Group 18"/>
          <p:cNvGrpSpPr/>
          <p:nvPr/>
        </p:nvGrpSpPr>
        <p:grpSpPr>
          <a:xfrm>
            <a:off x="3944938" y="187326"/>
            <a:ext cx="5199063" cy="4099876"/>
            <a:chOff x="2485" y="763"/>
            <a:chExt cx="3275" cy="1987"/>
          </a:xfrm>
        </p:grpSpPr>
        <p:grpSp>
          <p:nvGrpSpPr>
            <p:cNvPr id="11289" name="Group 19"/>
            <p:cNvGrpSpPr/>
            <p:nvPr/>
          </p:nvGrpSpPr>
          <p:grpSpPr>
            <a:xfrm>
              <a:off x="3105" y="1344"/>
              <a:ext cx="783" cy="624"/>
              <a:chOff x="2481" y="1296"/>
              <a:chExt cx="783" cy="624"/>
            </a:xfrm>
          </p:grpSpPr>
          <p:sp>
            <p:nvSpPr>
              <p:cNvPr id="11352" name="Text Box 20"/>
              <p:cNvSpPr txBox="1"/>
              <p:nvPr/>
            </p:nvSpPr>
            <p:spPr>
              <a:xfrm>
                <a:off x="2481" y="1475"/>
                <a:ext cx="480" cy="2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T1</a:t>
                </a:r>
              </a:p>
            </p:txBody>
          </p:sp>
          <p:grpSp>
            <p:nvGrpSpPr>
              <p:cNvPr id="11353" name="Group 21"/>
              <p:cNvGrpSpPr/>
              <p:nvPr/>
            </p:nvGrpSpPr>
            <p:grpSpPr>
              <a:xfrm>
                <a:off x="2784" y="1296"/>
                <a:ext cx="480" cy="624"/>
                <a:chOff x="2784" y="1296"/>
                <a:chExt cx="480" cy="624"/>
              </a:xfrm>
            </p:grpSpPr>
            <p:sp>
              <p:nvSpPr>
                <p:cNvPr id="11354" name="Line 22"/>
                <p:cNvSpPr/>
                <p:nvPr/>
              </p:nvSpPr>
              <p:spPr>
                <a:xfrm>
                  <a:off x="2784" y="1296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1355" name="Line 23"/>
                <p:cNvSpPr/>
                <p:nvPr/>
              </p:nvSpPr>
              <p:spPr>
                <a:xfrm>
                  <a:off x="2784" y="1536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1356" name="Line 24"/>
                <p:cNvSpPr/>
                <p:nvPr/>
              </p:nvSpPr>
              <p:spPr>
                <a:xfrm>
                  <a:off x="2784" y="1680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1357" name="Line 25"/>
                <p:cNvSpPr/>
                <p:nvPr/>
              </p:nvSpPr>
              <p:spPr>
                <a:xfrm>
                  <a:off x="2976" y="1488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1358" name="Line 26"/>
                <p:cNvSpPr/>
                <p:nvPr/>
              </p:nvSpPr>
              <p:spPr>
                <a:xfrm>
                  <a:off x="2784" y="1680"/>
                  <a:ext cx="0" cy="24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1359" name="Line 27"/>
                <p:cNvSpPr/>
                <p:nvPr/>
              </p:nvSpPr>
              <p:spPr>
                <a:xfrm>
                  <a:off x="3072" y="1536"/>
                  <a:ext cx="0" cy="144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1360" name="Line 28"/>
                <p:cNvSpPr/>
                <p:nvPr/>
              </p:nvSpPr>
              <p:spPr>
                <a:xfrm>
                  <a:off x="3072" y="1632"/>
                  <a:ext cx="192" cy="0"/>
                </a:xfrm>
                <a:prstGeom prst="line">
                  <a:avLst/>
                </a:prstGeom>
                <a:ln w="381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sp>
          <p:nvSpPr>
            <p:cNvPr id="11290" name="Line 29"/>
            <p:cNvSpPr/>
            <p:nvPr/>
          </p:nvSpPr>
          <p:spPr>
            <a:xfrm>
              <a:off x="2976" y="1344"/>
              <a:ext cx="432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91" name="Text Box 30"/>
            <p:cNvSpPr txBox="1"/>
            <p:nvPr/>
          </p:nvSpPr>
          <p:spPr>
            <a:xfrm flipH="1">
              <a:off x="4620" y="1522"/>
              <a:ext cx="480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T2</a:t>
              </a:r>
            </a:p>
          </p:txBody>
        </p:sp>
        <p:grpSp>
          <p:nvGrpSpPr>
            <p:cNvPr id="11292" name="Group 31"/>
            <p:cNvGrpSpPr/>
            <p:nvPr/>
          </p:nvGrpSpPr>
          <p:grpSpPr>
            <a:xfrm flipH="1">
              <a:off x="4176" y="1344"/>
              <a:ext cx="480" cy="624"/>
              <a:chOff x="2784" y="1296"/>
              <a:chExt cx="480" cy="624"/>
            </a:xfrm>
          </p:grpSpPr>
          <p:sp>
            <p:nvSpPr>
              <p:cNvPr id="11345" name="Line 32"/>
              <p:cNvSpPr/>
              <p:nvPr/>
            </p:nvSpPr>
            <p:spPr>
              <a:xfrm>
                <a:off x="2784" y="1296"/>
                <a:ext cx="0" cy="24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46" name="Line 33"/>
              <p:cNvSpPr/>
              <p:nvPr/>
            </p:nvSpPr>
            <p:spPr>
              <a:xfrm>
                <a:off x="2784" y="1536"/>
                <a:ext cx="19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47" name="Line 34"/>
              <p:cNvSpPr/>
              <p:nvPr/>
            </p:nvSpPr>
            <p:spPr>
              <a:xfrm>
                <a:off x="2784" y="1680"/>
                <a:ext cx="19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48" name="Line 35"/>
              <p:cNvSpPr/>
              <p:nvPr/>
            </p:nvSpPr>
            <p:spPr>
              <a:xfrm>
                <a:off x="2976" y="1488"/>
                <a:ext cx="0" cy="24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49" name="Line 36"/>
              <p:cNvSpPr/>
              <p:nvPr/>
            </p:nvSpPr>
            <p:spPr>
              <a:xfrm>
                <a:off x="2784" y="1680"/>
                <a:ext cx="0" cy="24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50" name="Line 37"/>
              <p:cNvSpPr/>
              <p:nvPr/>
            </p:nvSpPr>
            <p:spPr>
              <a:xfrm>
                <a:off x="3072" y="1536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51" name="Line 38"/>
              <p:cNvSpPr/>
              <p:nvPr/>
            </p:nvSpPr>
            <p:spPr>
              <a:xfrm>
                <a:off x="3072" y="1632"/>
                <a:ext cx="19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1293" name="Line 39"/>
            <p:cNvSpPr/>
            <p:nvPr/>
          </p:nvSpPr>
          <p:spPr>
            <a:xfrm flipH="1">
              <a:off x="3888" y="2310"/>
              <a:ext cx="192" cy="0"/>
            </a:xfrm>
            <a:prstGeom prst="line">
              <a:avLst/>
            </a:prstGeom>
            <a:ln w="28575" cap="sq" cmpd="sng">
              <a:solidFill>
                <a:schemeClr val="accent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94" name="Line 40"/>
            <p:cNvSpPr/>
            <p:nvPr/>
          </p:nvSpPr>
          <p:spPr>
            <a:xfrm flipH="1">
              <a:off x="4656" y="1344"/>
              <a:ext cx="432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95" name="Line 41"/>
            <p:cNvSpPr/>
            <p:nvPr/>
          </p:nvSpPr>
          <p:spPr>
            <a:xfrm>
              <a:off x="3408" y="1344"/>
              <a:ext cx="480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96" name="Line 42"/>
            <p:cNvSpPr/>
            <p:nvPr/>
          </p:nvSpPr>
          <p:spPr>
            <a:xfrm>
              <a:off x="3888" y="1344"/>
              <a:ext cx="288" cy="336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97" name="Line 43"/>
            <p:cNvSpPr/>
            <p:nvPr/>
          </p:nvSpPr>
          <p:spPr>
            <a:xfrm flipV="1">
              <a:off x="3888" y="1344"/>
              <a:ext cx="288" cy="336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98" name="Line 44"/>
            <p:cNvSpPr/>
            <p:nvPr/>
          </p:nvSpPr>
          <p:spPr>
            <a:xfrm>
              <a:off x="4176" y="1344"/>
              <a:ext cx="480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1299" name="Group 45"/>
            <p:cNvGrpSpPr/>
            <p:nvPr/>
          </p:nvGrpSpPr>
          <p:grpSpPr>
            <a:xfrm>
              <a:off x="2608" y="1008"/>
              <a:ext cx="608" cy="1152"/>
              <a:chOff x="2608" y="1008"/>
              <a:chExt cx="608" cy="1152"/>
            </a:xfrm>
          </p:grpSpPr>
          <p:sp>
            <p:nvSpPr>
              <p:cNvPr id="11338" name="Line 46"/>
              <p:cNvSpPr/>
              <p:nvPr/>
            </p:nvSpPr>
            <p:spPr>
              <a:xfrm>
                <a:off x="2976" y="1344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39" name="Line 47"/>
              <p:cNvSpPr/>
              <p:nvPr/>
            </p:nvSpPr>
            <p:spPr>
              <a:xfrm>
                <a:off x="2832" y="1344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40" name="Line 48"/>
              <p:cNvSpPr/>
              <p:nvPr/>
            </p:nvSpPr>
            <p:spPr>
              <a:xfrm>
                <a:off x="2736" y="1488"/>
                <a:ext cx="336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41" name="Line 49"/>
              <p:cNvSpPr/>
              <p:nvPr/>
            </p:nvSpPr>
            <p:spPr>
              <a:xfrm>
                <a:off x="2608" y="1344"/>
                <a:ext cx="227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42" name="Line 50"/>
              <p:cNvSpPr/>
              <p:nvPr/>
            </p:nvSpPr>
            <p:spPr>
              <a:xfrm>
                <a:off x="2832" y="1536"/>
                <a:ext cx="144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43" name="Line 51"/>
              <p:cNvSpPr/>
              <p:nvPr/>
            </p:nvSpPr>
            <p:spPr>
              <a:xfrm>
                <a:off x="2913" y="1536"/>
                <a:ext cx="0" cy="62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44" name="Text Box 52"/>
              <p:cNvSpPr txBox="1"/>
              <p:nvPr/>
            </p:nvSpPr>
            <p:spPr>
              <a:xfrm>
                <a:off x="2688" y="1008"/>
                <a:ext cx="528" cy="2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T3</a:t>
                </a:r>
              </a:p>
            </p:txBody>
          </p:sp>
        </p:grpSp>
        <p:grpSp>
          <p:nvGrpSpPr>
            <p:cNvPr id="11300" name="Group 53"/>
            <p:cNvGrpSpPr/>
            <p:nvPr/>
          </p:nvGrpSpPr>
          <p:grpSpPr>
            <a:xfrm>
              <a:off x="4992" y="1008"/>
              <a:ext cx="528" cy="1152"/>
              <a:chOff x="4992" y="1008"/>
              <a:chExt cx="528" cy="1152"/>
            </a:xfrm>
          </p:grpSpPr>
          <p:sp>
            <p:nvSpPr>
              <p:cNvPr id="11331" name="Line 54"/>
              <p:cNvSpPr/>
              <p:nvPr/>
            </p:nvSpPr>
            <p:spPr>
              <a:xfrm>
                <a:off x="5232" y="1344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32" name="Line 55"/>
              <p:cNvSpPr/>
              <p:nvPr/>
            </p:nvSpPr>
            <p:spPr>
              <a:xfrm>
                <a:off x="5088" y="1344"/>
                <a:ext cx="0" cy="14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33" name="Line 56"/>
              <p:cNvSpPr/>
              <p:nvPr/>
            </p:nvSpPr>
            <p:spPr>
              <a:xfrm>
                <a:off x="4992" y="1488"/>
                <a:ext cx="336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34" name="Line 57"/>
              <p:cNvSpPr/>
              <p:nvPr/>
            </p:nvSpPr>
            <p:spPr>
              <a:xfrm>
                <a:off x="5232" y="1344"/>
                <a:ext cx="227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35" name="Line 58"/>
              <p:cNvSpPr/>
              <p:nvPr/>
            </p:nvSpPr>
            <p:spPr>
              <a:xfrm>
                <a:off x="5088" y="1536"/>
                <a:ext cx="144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36" name="Line 59"/>
              <p:cNvSpPr/>
              <p:nvPr/>
            </p:nvSpPr>
            <p:spPr>
              <a:xfrm>
                <a:off x="5161" y="1536"/>
                <a:ext cx="0" cy="624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37" name="Text Box 60"/>
              <p:cNvSpPr txBox="1"/>
              <p:nvPr/>
            </p:nvSpPr>
            <p:spPr>
              <a:xfrm>
                <a:off x="4992" y="1008"/>
                <a:ext cx="528" cy="2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T4</a:t>
                </a:r>
              </a:p>
            </p:txBody>
          </p:sp>
        </p:grpSp>
        <p:sp>
          <p:nvSpPr>
            <p:cNvPr id="11301" name="Line 61"/>
            <p:cNvSpPr/>
            <p:nvPr/>
          </p:nvSpPr>
          <p:spPr>
            <a:xfrm>
              <a:off x="2928" y="2448"/>
              <a:ext cx="2222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302" name="Line 62"/>
            <p:cNvSpPr/>
            <p:nvPr/>
          </p:nvSpPr>
          <p:spPr>
            <a:xfrm>
              <a:off x="3984" y="2448"/>
              <a:ext cx="0" cy="17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303" name="Line 63"/>
            <p:cNvSpPr/>
            <p:nvPr/>
          </p:nvSpPr>
          <p:spPr>
            <a:xfrm>
              <a:off x="3288" y="2636"/>
              <a:ext cx="1361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304" name="Text Box 64"/>
            <p:cNvSpPr txBox="1"/>
            <p:nvPr/>
          </p:nvSpPr>
          <p:spPr>
            <a:xfrm>
              <a:off x="4649" y="2496"/>
              <a:ext cx="576" cy="25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</a:p>
          </p:txBody>
        </p:sp>
        <p:sp>
          <p:nvSpPr>
            <p:cNvPr id="11305" name="Line 65"/>
            <p:cNvSpPr/>
            <p:nvPr/>
          </p:nvSpPr>
          <p:spPr>
            <a:xfrm>
              <a:off x="2608" y="1008"/>
              <a:ext cx="0" cy="1488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306" name="Line 66"/>
            <p:cNvSpPr/>
            <p:nvPr/>
          </p:nvSpPr>
          <p:spPr>
            <a:xfrm>
              <a:off x="5465" y="1008"/>
              <a:ext cx="0" cy="1488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1307" name="Group 67"/>
            <p:cNvGrpSpPr/>
            <p:nvPr/>
          </p:nvGrpSpPr>
          <p:grpSpPr>
            <a:xfrm>
              <a:off x="2485" y="763"/>
              <a:ext cx="395" cy="254"/>
              <a:chOff x="2533" y="523"/>
              <a:chExt cx="395" cy="254"/>
            </a:xfrm>
          </p:grpSpPr>
          <p:sp>
            <p:nvSpPr>
              <p:cNvPr id="11329" name="Text Box 68"/>
              <p:cNvSpPr txBox="1"/>
              <p:nvPr/>
            </p:nvSpPr>
            <p:spPr>
              <a:xfrm>
                <a:off x="2533" y="523"/>
                <a:ext cx="395" cy="2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W</a:t>
                </a:r>
              </a:p>
            </p:txBody>
          </p:sp>
          <p:sp>
            <p:nvSpPr>
              <p:cNvPr id="11330" name="Line 69"/>
              <p:cNvSpPr/>
              <p:nvPr/>
            </p:nvSpPr>
            <p:spPr>
              <a:xfrm>
                <a:off x="2585" y="564"/>
                <a:ext cx="136" cy="0"/>
              </a:xfrm>
              <a:prstGeom prst="line">
                <a:avLst/>
              </a:prstGeom>
              <a:ln w="28575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1308" name="Text Box 70"/>
            <p:cNvSpPr txBox="1"/>
            <p:nvPr/>
          </p:nvSpPr>
          <p:spPr>
            <a:xfrm>
              <a:off x="5343" y="779"/>
              <a:ext cx="417" cy="25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</a:t>
              </a:r>
            </a:p>
          </p:txBody>
        </p:sp>
        <p:sp>
          <p:nvSpPr>
            <p:cNvPr id="11309" name="Oval 71"/>
            <p:cNvSpPr/>
            <p:nvPr/>
          </p:nvSpPr>
          <p:spPr>
            <a:xfrm>
              <a:off x="3360" y="1296"/>
              <a:ext cx="96" cy="96"/>
            </a:xfrm>
            <a:prstGeom prst="ellipse">
              <a:avLst/>
            </a:prstGeom>
            <a:solidFill>
              <a:schemeClr val="tx1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/>
            </a:p>
          </p:txBody>
        </p:sp>
        <p:sp>
          <p:nvSpPr>
            <p:cNvPr id="11310" name="Oval 72"/>
            <p:cNvSpPr/>
            <p:nvPr/>
          </p:nvSpPr>
          <p:spPr>
            <a:xfrm>
              <a:off x="4608" y="1296"/>
              <a:ext cx="96" cy="96"/>
            </a:xfrm>
            <a:prstGeom prst="ellipse">
              <a:avLst/>
            </a:prstGeom>
            <a:solidFill>
              <a:schemeClr val="tx1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/>
            </a:p>
          </p:txBody>
        </p:sp>
        <p:grpSp>
          <p:nvGrpSpPr>
            <p:cNvPr id="11311" name="Group 73"/>
            <p:cNvGrpSpPr/>
            <p:nvPr/>
          </p:nvGrpSpPr>
          <p:grpSpPr>
            <a:xfrm>
              <a:off x="3696" y="1680"/>
              <a:ext cx="192" cy="480"/>
              <a:chOff x="3696" y="1680"/>
              <a:chExt cx="192" cy="480"/>
            </a:xfrm>
          </p:grpSpPr>
          <p:sp>
            <p:nvSpPr>
              <p:cNvPr id="11325" name="Line 74"/>
              <p:cNvSpPr/>
              <p:nvPr/>
            </p:nvSpPr>
            <p:spPr>
              <a:xfrm>
                <a:off x="3696" y="1872"/>
                <a:ext cx="192" cy="0"/>
              </a:xfrm>
              <a:prstGeom prst="line">
                <a:avLst/>
              </a:prstGeom>
              <a:ln w="762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26" name="Line 75"/>
              <p:cNvSpPr/>
              <p:nvPr/>
            </p:nvSpPr>
            <p:spPr>
              <a:xfrm>
                <a:off x="3792" y="1680"/>
                <a:ext cx="0" cy="192"/>
              </a:xfrm>
              <a:prstGeom prst="line">
                <a:avLst/>
              </a:prstGeom>
              <a:ln w="28575" cap="rnd" cmpd="sng">
                <a:solidFill>
                  <a:srgbClr val="FFFF00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11327" name="Line 76"/>
              <p:cNvSpPr/>
              <p:nvPr/>
            </p:nvSpPr>
            <p:spPr>
              <a:xfrm>
                <a:off x="3696" y="1950"/>
                <a:ext cx="192" cy="0"/>
              </a:xfrm>
              <a:prstGeom prst="line">
                <a:avLst/>
              </a:prstGeom>
              <a:ln w="762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28" name="Line 77"/>
              <p:cNvSpPr/>
              <p:nvPr/>
            </p:nvSpPr>
            <p:spPr>
              <a:xfrm>
                <a:off x="3792" y="1968"/>
                <a:ext cx="0" cy="192"/>
              </a:xfrm>
              <a:prstGeom prst="line">
                <a:avLst/>
              </a:prstGeom>
              <a:ln w="28575" cap="rnd" cmpd="sng">
                <a:solidFill>
                  <a:srgbClr val="FFFF00"/>
                </a:solidFill>
                <a:prstDash val="sysDot"/>
                <a:headEnd type="none" w="sm" len="sm"/>
                <a:tailEnd type="none" w="sm" len="sm"/>
              </a:ln>
            </p:spPr>
          </p:sp>
        </p:grpSp>
        <p:grpSp>
          <p:nvGrpSpPr>
            <p:cNvPr id="11312" name="Group 78"/>
            <p:cNvGrpSpPr/>
            <p:nvPr/>
          </p:nvGrpSpPr>
          <p:grpSpPr>
            <a:xfrm>
              <a:off x="4128" y="1680"/>
              <a:ext cx="192" cy="480"/>
              <a:chOff x="3696" y="1680"/>
              <a:chExt cx="192" cy="480"/>
            </a:xfrm>
          </p:grpSpPr>
          <p:sp>
            <p:nvSpPr>
              <p:cNvPr id="11321" name="Line 79"/>
              <p:cNvSpPr/>
              <p:nvPr/>
            </p:nvSpPr>
            <p:spPr>
              <a:xfrm>
                <a:off x="3696" y="1872"/>
                <a:ext cx="192" cy="0"/>
              </a:xfrm>
              <a:prstGeom prst="line">
                <a:avLst/>
              </a:prstGeom>
              <a:ln w="762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22" name="Line 80"/>
              <p:cNvSpPr/>
              <p:nvPr/>
            </p:nvSpPr>
            <p:spPr>
              <a:xfrm>
                <a:off x="3792" y="1680"/>
                <a:ext cx="0" cy="192"/>
              </a:xfrm>
              <a:prstGeom prst="line">
                <a:avLst/>
              </a:prstGeom>
              <a:ln w="28575" cap="rnd" cmpd="sng">
                <a:solidFill>
                  <a:srgbClr val="FFFF00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11323" name="Line 81"/>
              <p:cNvSpPr/>
              <p:nvPr/>
            </p:nvSpPr>
            <p:spPr>
              <a:xfrm>
                <a:off x="3696" y="1950"/>
                <a:ext cx="192" cy="0"/>
              </a:xfrm>
              <a:prstGeom prst="line">
                <a:avLst/>
              </a:prstGeom>
              <a:ln w="762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1324" name="Line 82"/>
              <p:cNvSpPr/>
              <p:nvPr/>
            </p:nvSpPr>
            <p:spPr>
              <a:xfrm>
                <a:off x="3792" y="1968"/>
                <a:ext cx="0" cy="192"/>
              </a:xfrm>
              <a:prstGeom prst="line">
                <a:avLst/>
              </a:prstGeom>
              <a:ln w="28575" cap="rnd" cmpd="sng">
                <a:solidFill>
                  <a:srgbClr val="FFFF00"/>
                </a:solidFill>
                <a:prstDash val="sysDot"/>
                <a:headEnd type="none" w="sm" len="sm"/>
                <a:tailEnd type="none" w="sm" len="sm"/>
              </a:ln>
            </p:spPr>
          </p:sp>
        </p:grpSp>
        <p:sp>
          <p:nvSpPr>
            <p:cNvPr id="11313" name="Line 83"/>
            <p:cNvSpPr/>
            <p:nvPr/>
          </p:nvSpPr>
          <p:spPr>
            <a:xfrm>
              <a:off x="3408" y="2160"/>
              <a:ext cx="1248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314" name="Line 84"/>
            <p:cNvSpPr/>
            <p:nvPr/>
          </p:nvSpPr>
          <p:spPr>
            <a:xfrm>
              <a:off x="4656" y="1968"/>
              <a:ext cx="0" cy="192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315" name="Line 85"/>
            <p:cNvSpPr/>
            <p:nvPr/>
          </p:nvSpPr>
          <p:spPr>
            <a:xfrm>
              <a:off x="3408" y="1968"/>
              <a:ext cx="0" cy="192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316" name="Line 86"/>
            <p:cNvSpPr/>
            <p:nvPr/>
          </p:nvSpPr>
          <p:spPr>
            <a:xfrm>
              <a:off x="3984" y="2160"/>
              <a:ext cx="0" cy="14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317" name="Text Box 87"/>
            <p:cNvSpPr txBox="1"/>
            <p:nvPr/>
          </p:nvSpPr>
          <p:spPr>
            <a:xfrm>
              <a:off x="3416" y="1795"/>
              <a:ext cx="480" cy="22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C1</a:t>
              </a:r>
            </a:p>
          </p:txBody>
        </p:sp>
        <p:sp>
          <p:nvSpPr>
            <p:cNvPr id="11318" name="Text Box 88"/>
            <p:cNvSpPr txBox="1"/>
            <p:nvPr/>
          </p:nvSpPr>
          <p:spPr>
            <a:xfrm>
              <a:off x="4305" y="1787"/>
              <a:ext cx="480" cy="22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C2</a:t>
              </a:r>
            </a:p>
          </p:txBody>
        </p:sp>
        <p:sp>
          <p:nvSpPr>
            <p:cNvPr id="11319" name="Line 89"/>
            <p:cNvSpPr/>
            <p:nvPr/>
          </p:nvSpPr>
          <p:spPr>
            <a:xfrm>
              <a:off x="5161" y="2160"/>
              <a:ext cx="0" cy="288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320" name="Line 90"/>
            <p:cNvSpPr/>
            <p:nvPr/>
          </p:nvSpPr>
          <p:spPr>
            <a:xfrm>
              <a:off x="2913" y="2160"/>
              <a:ext cx="0" cy="288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1" name="Group 96"/>
          <p:cNvGrpSpPr/>
          <p:nvPr/>
        </p:nvGrpSpPr>
        <p:grpSpPr>
          <a:xfrm>
            <a:off x="84139" y="228604"/>
            <a:ext cx="4191000" cy="523875"/>
            <a:chOff x="0" y="864"/>
            <a:chExt cx="2640" cy="330"/>
          </a:xfrm>
        </p:grpSpPr>
        <p:sp>
          <p:nvSpPr>
            <p:cNvPr id="11287" name="Text Box 97"/>
            <p:cNvSpPr txBox="1"/>
            <p:nvPr/>
          </p:nvSpPr>
          <p:spPr>
            <a:xfrm>
              <a:off x="0" y="864"/>
              <a:ext cx="2640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写入：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在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W/W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上分别加</a:t>
              </a:r>
            </a:p>
          </p:txBody>
        </p:sp>
        <p:sp>
          <p:nvSpPr>
            <p:cNvPr id="11288" name="Line 98"/>
            <p:cNvSpPr/>
            <p:nvPr/>
          </p:nvSpPr>
          <p:spPr>
            <a:xfrm>
              <a:off x="975" y="912"/>
              <a:ext cx="144" cy="0"/>
            </a:xfrm>
            <a:prstGeom prst="line">
              <a:avLst/>
            </a:prstGeom>
            <a:ln w="28575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86" name="Text Box 102"/>
          <p:cNvSpPr txBox="1"/>
          <p:nvPr/>
        </p:nvSpPr>
        <p:spPr>
          <a:xfrm>
            <a:off x="84139" y="685805"/>
            <a:ext cx="43434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</a:t>
            </a: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电平，写入</a:t>
            </a: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12" name="Group 109"/>
          <p:cNvGrpSpPr/>
          <p:nvPr/>
        </p:nvGrpSpPr>
        <p:grpSpPr>
          <a:xfrm>
            <a:off x="71439" y="1341439"/>
            <a:ext cx="3962400" cy="523875"/>
            <a:chOff x="0" y="624"/>
            <a:chExt cx="2496" cy="330"/>
          </a:xfrm>
        </p:grpSpPr>
        <p:sp>
          <p:nvSpPr>
            <p:cNvPr id="11285" name="Text Box 104"/>
            <p:cNvSpPr txBox="1"/>
            <p:nvPr/>
          </p:nvSpPr>
          <p:spPr>
            <a:xfrm>
              <a:off x="0" y="624"/>
              <a:ext cx="249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读出：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W/W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先预充电至</a:t>
              </a:r>
            </a:p>
          </p:txBody>
        </p:sp>
        <p:sp>
          <p:nvSpPr>
            <p:cNvPr id="11286" name="Line 105"/>
            <p:cNvSpPr/>
            <p:nvPr/>
          </p:nvSpPr>
          <p:spPr>
            <a:xfrm>
              <a:off x="735" y="672"/>
              <a:ext cx="144" cy="0"/>
            </a:xfrm>
            <a:prstGeom prst="line">
              <a:avLst/>
            </a:prstGeom>
            <a:ln w="28575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3" name="Group 111"/>
          <p:cNvGrpSpPr/>
          <p:nvPr/>
        </p:nvGrpSpPr>
        <p:grpSpPr>
          <a:xfrm>
            <a:off x="71444" y="2709865"/>
            <a:ext cx="3995737" cy="523875"/>
            <a:chOff x="0" y="1344"/>
            <a:chExt cx="2496" cy="330"/>
          </a:xfrm>
        </p:grpSpPr>
        <p:sp>
          <p:nvSpPr>
            <p:cNvPr id="11283" name="Text Box 107"/>
            <p:cNvSpPr txBox="1"/>
            <p:nvPr/>
          </p:nvSpPr>
          <p:spPr>
            <a:xfrm>
              <a:off x="0" y="1344"/>
              <a:ext cx="249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再根据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W/W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上</a:t>
              </a:r>
              <a:r>
                <a:rPr lang="zh-CN" altLang="en-US" sz="2800" b="1" dirty="0">
                  <a:solidFill>
                    <a:srgbClr val="00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</a:t>
              </a:r>
              <a:r>
                <a:rPr lang="en-US" altLang="zh-CN" sz="2800" b="1" dirty="0">
                  <a:solidFill>
                    <a:srgbClr val="00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r>
                <a:rPr lang="zh-CN" altLang="en-US" sz="2800" b="1" dirty="0">
                  <a:solidFill>
                    <a:srgbClr val="00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无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电流，</a:t>
              </a:r>
            </a:p>
          </p:txBody>
        </p:sp>
        <p:sp>
          <p:nvSpPr>
            <p:cNvPr id="11284" name="Line 108"/>
            <p:cNvSpPr/>
            <p:nvPr/>
          </p:nvSpPr>
          <p:spPr>
            <a:xfrm>
              <a:off x="720" y="1392"/>
              <a:ext cx="144" cy="0"/>
            </a:xfrm>
            <a:prstGeom prst="line">
              <a:avLst/>
            </a:prstGeom>
            <a:ln w="28575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96" name="Text Box 112"/>
          <p:cNvSpPr txBox="1"/>
          <p:nvPr/>
        </p:nvSpPr>
        <p:spPr>
          <a:xfrm>
            <a:off x="71444" y="3140079"/>
            <a:ext cx="180022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读出</a:t>
            </a: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0/1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6497" name="Text Box 113"/>
          <p:cNvSpPr txBox="1"/>
          <p:nvPr/>
        </p:nvSpPr>
        <p:spPr>
          <a:xfrm>
            <a:off x="139700" y="4376737"/>
            <a:ext cx="28956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加低电平，</a:t>
            </a:r>
          </a:p>
        </p:txBody>
      </p:sp>
      <p:sp>
        <p:nvSpPr>
          <p:cNvPr id="16498" name="Text Box 114"/>
          <p:cNvSpPr txBox="1"/>
          <p:nvPr/>
        </p:nvSpPr>
        <p:spPr>
          <a:xfrm>
            <a:off x="2286000" y="4365630"/>
            <a:ext cx="7181851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T3/T4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截止，该单元未选中，保持原状态。</a:t>
            </a:r>
          </a:p>
        </p:txBody>
      </p:sp>
      <p:sp>
        <p:nvSpPr>
          <p:cNvPr id="16499" name="Text Box 115"/>
          <p:cNvSpPr txBox="1"/>
          <p:nvPr/>
        </p:nvSpPr>
        <p:spPr>
          <a:xfrm>
            <a:off x="107949" y="4948242"/>
            <a:ext cx="9036051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需定期向电容补充电荷（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动态刷新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），故称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动态存储器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6500" name="Text Box 116"/>
          <p:cNvSpPr txBox="1"/>
          <p:nvPr/>
        </p:nvSpPr>
        <p:spPr>
          <a:xfrm>
            <a:off x="107951" y="5508630"/>
            <a:ext cx="82804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四管单元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是非破坏性读出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，读出过程即可实现刷新。</a:t>
            </a:r>
          </a:p>
        </p:txBody>
      </p:sp>
      <p:grpSp>
        <p:nvGrpSpPr>
          <p:cNvPr id="14" name="组合 94"/>
          <p:cNvGrpSpPr/>
          <p:nvPr/>
        </p:nvGrpSpPr>
        <p:grpSpPr>
          <a:xfrm>
            <a:off x="5219701" y="217493"/>
            <a:ext cx="2592388" cy="763463"/>
            <a:chOff x="4716017" y="73362"/>
            <a:chExt cx="2592288" cy="763225"/>
          </a:xfrm>
        </p:grpSpPr>
        <p:sp>
          <p:nvSpPr>
            <p:cNvPr id="11281" name="Text Box 95"/>
            <p:cNvSpPr txBox="1"/>
            <p:nvPr/>
          </p:nvSpPr>
          <p:spPr>
            <a:xfrm>
              <a:off x="4716017" y="73362"/>
              <a:ext cx="2592288" cy="3999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20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r>
                <a:rPr lang="en-US" altLang="zh-CN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T1</a:t>
              </a:r>
              <a:r>
                <a:rPr lang="zh-CN" altLang="en-US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导通，</a:t>
              </a:r>
              <a:r>
                <a:rPr lang="en-US" altLang="zh-CN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T2</a:t>
              </a:r>
              <a:r>
                <a:rPr lang="zh-CN" altLang="en-US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截止</a:t>
              </a:r>
            </a:p>
          </p:txBody>
        </p:sp>
        <p:sp>
          <p:nvSpPr>
            <p:cNvPr id="11282" name="Text Box 96"/>
            <p:cNvSpPr txBox="1"/>
            <p:nvPr/>
          </p:nvSpPr>
          <p:spPr>
            <a:xfrm>
              <a:off x="4723955" y="436602"/>
              <a:ext cx="2512342" cy="3999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20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r>
                <a:rPr lang="en-US" altLang="zh-CN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T1</a:t>
              </a:r>
              <a:r>
                <a:rPr lang="zh-CN" altLang="en-US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截止，</a:t>
              </a:r>
              <a:r>
                <a:rPr lang="en-US" altLang="zh-CN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T2</a:t>
              </a:r>
              <a:r>
                <a:rPr lang="zh-CN" altLang="en-US" sz="20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导通</a:t>
              </a:r>
            </a:p>
          </p:txBody>
        </p:sp>
      </p:grpSp>
      <p:sp>
        <p:nvSpPr>
          <p:cNvPr id="96" name="圆角矩形 95"/>
          <p:cNvSpPr/>
          <p:nvPr/>
        </p:nvSpPr>
        <p:spPr>
          <a:xfrm>
            <a:off x="4929193" y="1071568"/>
            <a:ext cx="2928937" cy="2428875"/>
          </a:xfrm>
          <a:prstGeom prst="roundRect">
            <a:avLst>
              <a:gd name="adj" fmla="val 16667"/>
            </a:avLst>
          </a:prstGeom>
          <a:noFill/>
          <a:ln w="19050" cap="sq" cmpd="sng">
            <a:solidFill>
              <a:srgbClr val="FFC000"/>
            </a:solidFill>
            <a:prstDash val="sysDash"/>
            <a:headEnd type="none" w="sm" len="sm"/>
            <a:tailEnd type="none" w="sm" len="sm"/>
          </a:ln>
        </p:spPr>
        <p:txBody>
          <a:bodyPr wrap="none"/>
          <a:lstStyle/>
          <a:p>
            <a:endParaRPr lang="zh-CN" altLang="en-US" dirty="0"/>
          </a:p>
        </p:txBody>
      </p:sp>
    </p:spTree>
  </p:cSld>
  <p:clrMapOvr>
    <a:masterClrMapping/>
  </p:clrMapOvr>
  <p:transition spd="med">
    <p:pull dir="l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/>
          <p:nvPr/>
        </p:nvSpPr>
        <p:spPr>
          <a:xfrm>
            <a:off x="215900" y="142876"/>
            <a:ext cx="35052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单管单元电路</a:t>
            </a:r>
          </a:p>
        </p:txBody>
      </p:sp>
      <p:grpSp>
        <p:nvGrpSpPr>
          <p:cNvPr id="2" name="Group 37"/>
          <p:cNvGrpSpPr/>
          <p:nvPr/>
        </p:nvGrpSpPr>
        <p:grpSpPr>
          <a:xfrm>
            <a:off x="5640388" y="173044"/>
            <a:ext cx="2500312" cy="2968625"/>
            <a:chOff x="3828" y="1021"/>
            <a:chExt cx="1404" cy="1395"/>
          </a:xfrm>
        </p:grpSpPr>
        <p:sp>
          <p:nvSpPr>
            <p:cNvPr id="12307" name="Line 6"/>
            <p:cNvSpPr/>
            <p:nvPr/>
          </p:nvSpPr>
          <p:spPr>
            <a:xfrm>
              <a:off x="4181" y="1440"/>
              <a:ext cx="829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8" name="Line 7"/>
            <p:cNvSpPr/>
            <p:nvPr/>
          </p:nvSpPr>
          <p:spPr>
            <a:xfrm>
              <a:off x="3984" y="1260"/>
              <a:ext cx="0" cy="11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9" name="Line 8"/>
            <p:cNvSpPr/>
            <p:nvPr/>
          </p:nvSpPr>
          <p:spPr>
            <a:xfrm>
              <a:off x="4608" y="1440"/>
              <a:ext cx="0" cy="22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0" name="Line 9"/>
            <p:cNvSpPr/>
            <p:nvPr/>
          </p:nvSpPr>
          <p:spPr>
            <a:xfrm>
              <a:off x="4532" y="1671"/>
              <a:ext cx="162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1" name="Line 10"/>
            <p:cNvSpPr/>
            <p:nvPr/>
          </p:nvSpPr>
          <p:spPr>
            <a:xfrm>
              <a:off x="4464" y="1740"/>
              <a:ext cx="288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2" name="Line 11"/>
            <p:cNvSpPr/>
            <p:nvPr/>
          </p:nvSpPr>
          <p:spPr>
            <a:xfrm>
              <a:off x="4535" y="1740"/>
              <a:ext cx="0" cy="18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3" name="Line 12"/>
            <p:cNvSpPr/>
            <p:nvPr/>
          </p:nvSpPr>
          <p:spPr>
            <a:xfrm>
              <a:off x="4690" y="1740"/>
              <a:ext cx="0" cy="18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4" name="Line 13"/>
            <p:cNvSpPr/>
            <p:nvPr/>
          </p:nvSpPr>
          <p:spPr>
            <a:xfrm>
              <a:off x="3984" y="1920"/>
              <a:ext cx="546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5" name="Line 14"/>
            <p:cNvSpPr/>
            <p:nvPr/>
          </p:nvSpPr>
          <p:spPr>
            <a:xfrm>
              <a:off x="4704" y="1920"/>
              <a:ext cx="384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6" name="Line 15"/>
            <p:cNvSpPr/>
            <p:nvPr/>
          </p:nvSpPr>
          <p:spPr>
            <a:xfrm>
              <a:off x="5088" y="1920"/>
              <a:ext cx="0" cy="12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7" name="Line 16"/>
            <p:cNvSpPr/>
            <p:nvPr/>
          </p:nvSpPr>
          <p:spPr>
            <a:xfrm>
              <a:off x="4992" y="2040"/>
              <a:ext cx="192" cy="0"/>
            </a:xfrm>
            <a:prstGeom prst="line">
              <a:avLst/>
            </a:prstGeom>
            <a:ln w="7620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8" name="Line 17"/>
            <p:cNvSpPr/>
            <p:nvPr/>
          </p:nvSpPr>
          <p:spPr>
            <a:xfrm>
              <a:off x="4992" y="2160"/>
              <a:ext cx="192" cy="0"/>
            </a:xfrm>
            <a:prstGeom prst="line">
              <a:avLst/>
            </a:prstGeom>
            <a:ln w="7620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9" name="Line 18"/>
            <p:cNvSpPr/>
            <p:nvPr/>
          </p:nvSpPr>
          <p:spPr>
            <a:xfrm>
              <a:off x="5088" y="2160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20" name="Line 19"/>
            <p:cNvSpPr/>
            <p:nvPr/>
          </p:nvSpPr>
          <p:spPr>
            <a:xfrm>
              <a:off x="4944" y="2416"/>
              <a:ext cx="288" cy="0"/>
            </a:xfrm>
            <a:prstGeom prst="line">
              <a:avLst/>
            </a:prstGeom>
            <a:ln w="28575" cap="sq" cmpd="sng">
              <a:solidFill>
                <a:schemeClr val="accent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21" name="Text Box 20"/>
            <p:cNvSpPr txBox="1"/>
            <p:nvPr/>
          </p:nvSpPr>
          <p:spPr>
            <a:xfrm>
              <a:off x="4724" y="1969"/>
              <a:ext cx="336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</a:t>
              </a:r>
            </a:p>
          </p:txBody>
        </p:sp>
        <p:sp>
          <p:nvSpPr>
            <p:cNvPr id="12322" name="Text Box 21"/>
            <p:cNvSpPr txBox="1"/>
            <p:nvPr/>
          </p:nvSpPr>
          <p:spPr>
            <a:xfrm>
              <a:off x="3828" y="1021"/>
              <a:ext cx="323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W</a:t>
              </a:r>
            </a:p>
          </p:txBody>
        </p:sp>
        <p:sp>
          <p:nvSpPr>
            <p:cNvPr id="12323" name="Text Box 22"/>
            <p:cNvSpPr txBox="1"/>
            <p:nvPr/>
          </p:nvSpPr>
          <p:spPr>
            <a:xfrm>
              <a:off x="4492" y="1200"/>
              <a:ext cx="336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</a:p>
          </p:txBody>
        </p:sp>
        <p:sp>
          <p:nvSpPr>
            <p:cNvPr id="12324" name="Text Box 23"/>
            <p:cNvSpPr txBox="1"/>
            <p:nvPr/>
          </p:nvSpPr>
          <p:spPr>
            <a:xfrm>
              <a:off x="4648" y="1553"/>
              <a:ext cx="48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libri" panose="020F0502020204030204" pitchFamily="34" charset="0"/>
                  <a:ea typeface="黑体" panose="02010609060101010101" pitchFamily="49" charset="-122"/>
                  <a:cs typeface="+mn-cs"/>
                </a:rPr>
                <a:t>T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9FBB912-252B-A64E-DC13-034AECE62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06" y="2001788"/>
            <a:ext cx="4480948" cy="1700931"/>
          </a:xfrm>
          <a:prstGeom prst="rect">
            <a:avLst/>
          </a:prstGeom>
        </p:spPr>
      </p:pic>
      <p:sp>
        <p:nvSpPr>
          <p:cNvPr id="4" name="AutoShape 14">
            <a:extLst>
              <a:ext uri="{FF2B5EF4-FFF2-40B4-BE49-F238E27FC236}">
                <a16:creationId xmlns:a16="http://schemas.microsoft.com/office/drawing/2014/main" id="{85F63887-F0BE-2449-7BD1-C8AFFD45649E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963270" y="3020977"/>
            <a:ext cx="2441469" cy="939236"/>
          </a:xfrm>
          <a:prstGeom prst="wedgeEllipseCallout">
            <a:avLst>
              <a:gd name="adj1" fmla="val -69907"/>
              <a:gd name="adj2" fmla="val 79005"/>
            </a:avLst>
          </a:prstGeom>
          <a:solidFill>
            <a:srgbClr val="9966FF"/>
          </a:solidFill>
          <a:ln w="28575" algn="ctr">
            <a:solidFill>
              <a:srgbClr val="000000"/>
            </a:solidFill>
            <a:prstDash val="sysDot"/>
            <a:miter lim="800000"/>
          </a:ln>
        </p:spPr>
        <p:txBody>
          <a:bodyPr rot="10800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15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电容用于存储电荷，有电荷代表</a:t>
            </a:r>
            <a:r>
              <a:rPr kumimoji="0" lang="en-US" altLang="zh-CN" sz="1515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1515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，否则代表</a:t>
            </a:r>
            <a:r>
              <a:rPr kumimoji="0" lang="en-US" altLang="zh-CN" sz="1515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666679598"/>
      </p:ext>
    </p:extLst>
  </p:cSld>
  <p:clrMapOvr>
    <a:masterClrMapping/>
  </p:clrMapOvr>
  <p:transition spd="med">
    <p:pull dir="l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/>
          <p:nvPr/>
        </p:nvSpPr>
        <p:spPr>
          <a:xfrm>
            <a:off x="215900" y="142876"/>
            <a:ext cx="35052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单管单元电路</a:t>
            </a:r>
          </a:p>
        </p:txBody>
      </p:sp>
      <p:sp>
        <p:nvSpPr>
          <p:cNvPr id="48131" name="Text Box 3"/>
          <p:cNvSpPr txBox="1"/>
          <p:nvPr/>
        </p:nvSpPr>
        <p:spPr>
          <a:xfrm>
            <a:off x="0" y="836613"/>
            <a:ext cx="3124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）组成</a:t>
            </a:r>
          </a:p>
        </p:txBody>
      </p:sp>
      <p:sp>
        <p:nvSpPr>
          <p:cNvPr id="48132" name="Text Box 4"/>
          <p:cNvSpPr txBox="1"/>
          <p:nvPr/>
        </p:nvSpPr>
        <p:spPr>
          <a:xfrm>
            <a:off x="250825" y="1341437"/>
            <a:ext cx="28956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：存储单元</a:t>
            </a:r>
          </a:p>
        </p:txBody>
      </p:sp>
      <p:grpSp>
        <p:nvGrpSpPr>
          <p:cNvPr id="2" name="Group 37"/>
          <p:cNvGrpSpPr/>
          <p:nvPr/>
        </p:nvGrpSpPr>
        <p:grpSpPr>
          <a:xfrm>
            <a:off x="5640388" y="173044"/>
            <a:ext cx="2500312" cy="2968625"/>
            <a:chOff x="3828" y="1021"/>
            <a:chExt cx="1404" cy="1395"/>
          </a:xfrm>
        </p:grpSpPr>
        <p:sp>
          <p:nvSpPr>
            <p:cNvPr id="12307" name="Line 6"/>
            <p:cNvSpPr/>
            <p:nvPr/>
          </p:nvSpPr>
          <p:spPr>
            <a:xfrm>
              <a:off x="4181" y="1440"/>
              <a:ext cx="829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8" name="Line 7"/>
            <p:cNvSpPr/>
            <p:nvPr/>
          </p:nvSpPr>
          <p:spPr>
            <a:xfrm>
              <a:off x="3984" y="1260"/>
              <a:ext cx="0" cy="11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09" name="Line 8"/>
            <p:cNvSpPr/>
            <p:nvPr/>
          </p:nvSpPr>
          <p:spPr>
            <a:xfrm>
              <a:off x="4608" y="1440"/>
              <a:ext cx="0" cy="22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0" name="Line 9"/>
            <p:cNvSpPr/>
            <p:nvPr/>
          </p:nvSpPr>
          <p:spPr>
            <a:xfrm>
              <a:off x="4532" y="1671"/>
              <a:ext cx="162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1" name="Line 10"/>
            <p:cNvSpPr/>
            <p:nvPr/>
          </p:nvSpPr>
          <p:spPr>
            <a:xfrm>
              <a:off x="4464" y="1740"/>
              <a:ext cx="288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2" name="Line 11"/>
            <p:cNvSpPr/>
            <p:nvPr/>
          </p:nvSpPr>
          <p:spPr>
            <a:xfrm>
              <a:off x="4535" y="1740"/>
              <a:ext cx="0" cy="18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3" name="Line 12"/>
            <p:cNvSpPr/>
            <p:nvPr/>
          </p:nvSpPr>
          <p:spPr>
            <a:xfrm>
              <a:off x="4690" y="1740"/>
              <a:ext cx="0" cy="18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4" name="Line 13"/>
            <p:cNvSpPr/>
            <p:nvPr/>
          </p:nvSpPr>
          <p:spPr>
            <a:xfrm>
              <a:off x="3984" y="1920"/>
              <a:ext cx="546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5" name="Line 14"/>
            <p:cNvSpPr/>
            <p:nvPr/>
          </p:nvSpPr>
          <p:spPr>
            <a:xfrm>
              <a:off x="4704" y="1920"/>
              <a:ext cx="384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6" name="Line 15"/>
            <p:cNvSpPr/>
            <p:nvPr/>
          </p:nvSpPr>
          <p:spPr>
            <a:xfrm>
              <a:off x="5088" y="1920"/>
              <a:ext cx="0" cy="12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7" name="Line 16"/>
            <p:cNvSpPr/>
            <p:nvPr/>
          </p:nvSpPr>
          <p:spPr>
            <a:xfrm>
              <a:off x="4992" y="2040"/>
              <a:ext cx="192" cy="0"/>
            </a:xfrm>
            <a:prstGeom prst="line">
              <a:avLst/>
            </a:prstGeom>
            <a:ln w="7620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8" name="Line 17"/>
            <p:cNvSpPr/>
            <p:nvPr/>
          </p:nvSpPr>
          <p:spPr>
            <a:xfrm>
              <a:off x="4992" y="2160"/>
              <a:ext cx="192" cy="0"/>
            </a:xfrm>
            <a:prstGeom prst="line">
              <a:avLst/>
            </a:prstGeom>
            <a:ln w="7620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19" name="Line 18"/>
            <p:cNvSpPr/>
            <p:nvPr/>
          </p:nvSpPr>
          <p:spPr>
            <a:xfrm>
              <a:off x="5088" y="2160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20" name="Line 19"/>
            <p:cNvSpPr/>
            <p:nvPr/>
          </p:nvSpPr>
          <p:spPr>
            <a:xfrm>
              <a:off x="4944" y="2416"/>
              <a:ext cx="288" cy="0"/>
            </a:xfrm>
            <a:prstGeom prst="line">
              <a:avLst/>
            </a:prstGeom>
            <a:ln w="28575" cap="sq" cmpd="sng">
              <a:solidFill>
                <a:schemeClr val="accent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21" name="Text Box 20"/>
            <p:cNvSpPr txBox="1"/>
            <p:nvPr/>
          </p:nvSpPr>
          <p:spPr>
            <a:xfrm>
              <a:off x="4724" y="1969"/>
              <a:ext cx="336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12322" name="Text Box 21"/>
            <p:cNvSpPr txBox="1"/>
            <p:nvPr/>
          </p:nvSpPr>
          <p:spPr>
            <a:xfrm>
              <a:off x="3828" y="1021"/>
              <a:ext cx="323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W</a:t>
              </a:r>
            </a:p>
          </p:txBody>
        </p:sp>
        <p:sp>
          <p:nvSpPr>
            <p:cNvPr id="12323" name="Text Box 22"/>
            <p:cNvSpPr txBox="1"/>
            <p:nvPr/>
          </p:nvSpPr>
          <p:spPr>
            <a:xfrm>
              <a:off x="4492" y="1200"/>
              <a:ext cx="336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</a:p>
          </p:txBody>
        </p:sp>
        <p:sp>
          <p:nvSpPr>
            <p:cNvPr id="12324" name="Text Box 23"/>
            <p:cNvSpPr txBox="1"/>
            <p:nvPr/>
          </p:nvSpPr>
          <p:spPr>
            <a:xfrm>
              <a:off x="4648" y="1553"/>
              <a:ext cx="48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None/>
              </a:pPr>
              <a:r>
                <a:rPr lang="en-US" altLang="zh-CN" sz="2800" b="1" dirty="0">
                  <a:solidFill>
                    <a:srgbClr val="FFFF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T</a:t>
              </a:r>
            </a:p>
          </p:txBody>
        </p:sp>
      </p:grpSp>
      <p:sp>
        <p:nvSpPr>
          <p:cNvPr id="48152" name="Text Box 24"/>
          <p:cNvSpPr txBox="1"/>
          <p:nvPr/>
        </p:nvSpPr>
        <p:spPr>
          <a:xfrm>
            <a:off x="2895600" y="1292230"/>
            <a:ext cx="2590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：控制门管</a:t>
            </a:r>
          </a:p>
        </p:txBody>
      </p:sp>
      <p:sp>
        <p:nvSpPr>
          <p:cNvPr id="48153" name="Text Box 25"/>
          <p:cNvSpPr txBox="1"/>
          <p:nvPr/>
        </p:nvSpPr>
        <p:spPr>
          <a:xfrm>
            <a:off x="250825" y="1798637"/>
            <a:ext cx="21336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：字线</a:t>
            </a:r>
          </a:p>
        </p:txBody>
      </p:sp>
      <p:sp>
        <p:nvSpPr>
          <p:cNvPr id="48154" name="Text Box 26"/>
          <p:cNvSpPr txBox="1"/>
          <p:nvPr/>
        </p:nvSpPr>
        <p:spPr>
          <a:xfrm>
            <a:off x="2895600" y="1749429"/>
            <a:ext cx="21336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W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：位线</a:t>
            </a:r>
          </a:p>
        </p:txBody>
      </p:sp>
      <p:sp>
        <p:nvSpPr>
          <p:cNvPr id="48155" name="Text Box 27"/>
          <p:cNvSpPr txBox="1"/>
          <p:nvPr/>
        </p:nvSpPr>
        <p:spPr>
          <a:xfrm>
            <a:off x="0" y="2349504"/>
            <a:ext cx="3124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）定义</a:t>
            </a:r>
          </a:p>
        </p:txBody>
      </p:sp>
      <p:sp>
        <p:nvSpPr>
          <p:cNvPr id="48156" name="Text Box 28"/>
          <p:cNvSpPr txBox="1"/>
          <p:nvPr/>
        </p:nvSpPr>
        <p:spPr>
          <a:xfrm>
            <a:off x="250825" y="2900363"/>
            <a:ext cx="5410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无电荷，电平（低）</a:t>
            </a:r>
          </a:p>
        </p:txBody>
      </p:sp>
      <p:sp>
        <p:nvSpPr>
          <p:cNvPr id="48157" name="Text Box 29"/>
          <p:cNvSpPr txBox="1"/>
          <p:nvPr/>
        </p:nvSpPr>
        <p:spPr>
          <a:xfrm>
            <a:off x="250825" y="3357563"/>
            <a:ext cx="5410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有电荷，电平（高）</a:t>
            </a:r>
          </a:p>
        </p:txBody>
      </p:sp>
      <p:sp>
        <p:nvSpPr>
          <p:cNvPr id="48158" name="Text Box 30"/>
          <p:cNvSpPr txBox="1"/>
          <p:nvPr/>
        </p:nvSpPr>
        <p:spPr>
          <a:xfrm>
            <a:off x="250825" y="4400553"/>
            <a:ext cx="48006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加高电平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使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导通，</a:t>
            </a:r>
          </a:p>
        </p:txBody>
      </p:sp>
      <p:sp>
        <p:nvSpPr>
          <p:cNvPr id="48159" name="Text Box 31"/>
          <p:cNvSpPr txBox="1"/>
          <p:nvPr/>
        </p:nvSpPr>
        <p:spPr>
          <a:xfrm>
            <a:off x="3546480" y="4400554"/>
            <a:ext cx="4576763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上加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</a:t>
            </a: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电平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写</a:t>
            </a: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1/0</a:t>
            </a:r>
            <a:endParaRPr lang="zh-CN" altLang="en-US" sz="2800" b="1" dirty="0">
              <a:solidFill>
                <a:srgbClr val="00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163" name="Text Box 35"/>
          <p:cNvSpPr txBox="1"/>
          <p:nvPr/>
        </p:nvSpPr>
        <p:spPr>
          <a:xfrm>
            <a:off x="0" y="3917953"/>
            <a:ext cx="3124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）写入</a:t>
            </a:r>
          </a:p>
        </p:txBody>
      </p:sp>
      <p:sp>
        <p:nvSpPr>
          <p:cNvPr id="38" name="Text Box 4"/>
          <p:cNvSpPr txBox="1"/>
          <p:nvPr/>
        </p:nvSpPr>
        <p:spPr>
          <a:xfrm>
            <a:off x="0" y="4941888"/>
            <a:ext cx="3124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）保持</a:t>
            </a:r>
          </a:p>
        </p:txBody>
      </p:sp>
      <p:sp>
        <p:nvSpPr>
          <p:cNvPr id="39" name="Text Box 90"/>
          <p:cNvSpPr txBox="1"/>
          <p:nvPr/>
        </p:nvSpPr>
        <p:spPr>
          <a:xfrm>
            <a:off x="250825" y="5480053"/>
            <a:ext cx="28956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加低电平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,</a:t>
            </a:r>
            <a:endParaRPr lang="zh-CN" altLang="en-US" sz="2800" b="1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40" name="Text Box 91"/>
          <p:cNvSpPr txBox="1"/>
          <p:nvPr/>
        </p:nvSpPr>
        <p:spPr>
          <a:xfrm>
            <a:off x="2208214" y="5468942"/>
            <a:ext cx="6875463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使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截止，该单元未选中，保持原状态。</a:t>
            </a:r>
          </a:p>
        </p:txBody>
      </p:sp>
    </p:spTree>
  </p:cSld>
  <p:clrMapOvr>
    <a:masterClrMapping/>
  </p:clrMapOvr>
  <p:transition spd="med">
    <p:pull dir="l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5" name="Text Box 93"/>
          <p:cNvSpPr txBox="1"/>
          <p:nvPr/>
        </p:nvSpPr>
        <p:spPr>
          <a:xfrm>
            <a:off x="239713" y="2636838"/>
            <a:ext cx="7924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单管单元是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破坏性读出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，读出后需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重写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2" name="Group 95"/>
          <p:cNvGrpSpPr/>
          <p:nvPr/>
        </p:nvGrpSpPr>
        <p:grpSpPr>
          <a:xfrm>
            <a:off x="985839" y="3500443"/>
            <a:ext cx="2794000" cy="1881187"/>
            <a:chOff x="3520" y="3147"/>
            <a:chExt cx="1760" cy="1185"/>
          </a:xfrm>
        </p:grpSpPr>
        <p:sp>
          <p:nvSpPr>
            <p:cNvPr id="13324" name="Line 96"/>
            <p:cNvSpPr/>
            <p:nvPr/>
          </p:nvSpPr>
          <p:spPr>
            <a:xfrm>
              <a:off x="3967" y="3456"/>
              <a:ext cx="771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25" name="Line 97"/>
            <p:cNvSpPr/>
            <p:nvPr/>
          </p:nvSpPr>
          <p:spPr>
            <a:xfrm>
              <a:off x="3744" y="3312"/>
              <a:ext cx="0" cy="102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26" name="Line 98"/>
            <p:cNvSpPr/>
            <p:nvPr/>
          </p:nvSpPr>
          <p:spPr>
            <a:xfrm>
              <a:off x="4368" y="3456"/>
              <a:ext cx="0" cy="14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27" name="Line 99"/>
            <p:cNvSpPr/>
            <p:nvPr/>
          </p:nvSpPr>
          <p:spPr>
            <a:xfrm>
              <a:off x="4302" y="3600"/>
              <a:ext cx="136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28" name="Line 100"/>
            <p:cNvSpPr/>
            <p:nvPr/>
          </p:nvSpPr>
          <p:spPr>
            <a:xfrm>
              <a:off x="4224" y="3696"/>
              <a:ext cx="288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29" name="Line 101"/>
            <p:cNvSpPr/>
            <p:nvPr/>
          </p:nvSpPr>
          <p:spPr>
            <a:xfrm>
              <a:off x="4302" y="3696"/>
              <a:ext cx="0" cy="14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30" name="Line 102"/>
            <p:cNvSpPr/>
            <p:nvPr/>
          </p:nvSpPr>
          <p:spPr>
            <a:xfrm>
              <a:off x="4434" y="3696"/>
              <a:ext cx="0" cy="14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31" name="Line 103"/>
            <p:cNvSpPr/>
            <p:nvPr/>
          </p:nvSpPr>
          <p:spPr>
            <a:xfrm>
              <a:off x="3744" y="3840"/>
              <a:ext cx="544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32" name="Line 104"/>
            <p:cNvSpPr/>
            <p:nvPr/>
          </p:nvSpPr>
          <p:spPr>
            <a:xfrm>
              <a:off x="4441" y="3840"/>
              <a:ext cx="408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33" name="Line 105"/>
            <p:cNvSpPr/>
            <p:nvPr/>
          </p:nvSpPr>
          <p:spPr>
            <a:xfrm>
              <a:off x="4848" y="3840"/>
              <a:ext cx="0" cy="181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34" name="Line 106"/>
            <p:cNvSpPr/>
            <p:nvPr/>
          </p:nvSpPr>
          <p:spPr>
            <a:xfrm>
              <a:off x="4752" y="4033"/>
              <a:ext cx="192" cy="0"/>
            </a:xfrm>
            <a:prstGeom prst="line">
              <a:avLst/>
            </a:prstGeom>
            <a:ln w="7620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35" name="Line 107"/>
            <p:cNvSpPr/>
            <p:nvPr/>
          </p:nvSpPr>
          <p:spPr>
            <a:xfrm>
              <a:off x="4752" y="4139"/>
              <a:ext cx="192" cy="0"/>
            </a:xfrm>
            <a:prstGeom prst="line">
              <a:avLst/>
            </a:prstGeom>
            <a:ln w="7620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36" name="Line 108"/>
            <p:cNvSpPr/>
            <p:nvPr/>
          </p:nvSpPr>
          <p:spPr>
            <a:xfrm>
              <a:off x="4848" y="4169"/>
              <a:ext cx="0" cy="136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37" name="Line 109"/>
            <p:cNvSpPr/>
            <p:nvPr/>
          </p:nvSpPr>
          <p:spPr>
            <a:xfrm>
              <a:off x="4757" y="4315"/>
              <a:ext cx="181" cy="0"/>
            </a:xfrm>
            <a:prstGeom prst="line">
              <a:avLst/>
            </a:prstGeom>
            <a:ln w="28575" cap="sq" cmpd="sng">
              <a:solidFill>
                <a:schemeClr val="accent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38" name="Text Box 110"/>
            <p:cNvSpPr txBox="1"/>
            <p:nvPr/>
          </p:nvSpPr>
          <p:spPr>
            <a:xfrm>
              <a:off x="4944" y="3792"/>
              <a:ext cx="33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13339" name="Text Box 111"/>
            <p:cNvSpPr txBox="1"/>
            <p:nvPr/>
          </p:nvSpPr>
          <p:spPr>
            <a:xfrm>
              <a:off x="3520" y="3199"/>
              <a:ext cx="528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</a:t>
              </a:r>
            </a:p>
          </p:txBody>
        </p:sp>
        <p:sp>
          <p:nvSpPr>
            <p:cNvPr id="13340" name="Text Box 112"/>
            <p:cNvSpPr txBox="1"/>
            <p:nvPr/>
          </p:nvSpPr>
          <p:spPr>
            <a:xfrm>
              <a:off x="4205" y="3147"/>
              <a:ext cx="33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</a:p>
          </p:txBody>
        </p:sp>
        <p:sp>
          <p:nvSpPr>
            <p:cNvPr id="13341" name="Text Box 113"/>
            <p:cNvSpPr txBox="1"/>
            <p:nvPr/>
          </p:nvSpPr>
          <p:spPr>
            <a:xfrm>
              <a:off x="4019" y="3479"/>
              <a:ext cx="480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</a:t>
              </a:r>
            </a:p>
          </p:txBody>
        </p:sp>
      </p:grpSp>
      <p:grpSp>
        <p:nvGrpSpPr>
          <p:cNvPr id="3" name="组合 30"/>
          <p:cNvGrpSpPr/>
          <p:nvPr/>
        </p:nvGrpSpPr>
        <p:grpSpPr>
          <a:xfrm>
            <a:off x="4176717" y="4425952"/>
            <a:ext cx="4283075" cy="1019456"/>
            <a:chOff x="3419872" y="2035696"/>
            <a:chExt cx="3198451" cy="939261"/>
          </a:xfrm>
        </p:grpSpPr>
        <p:sp>
          <p:nvSpPr>
            <p:cNvPr id="13322" name="Text Box 28"/>
            <p:cNvSpPr txBox="1"/>
            <p:nvPr/>
          </p:nvSpPr>
          <p:spPr>
            <a:xfrm>
              <a:off x="3419873" y="2035696"/>
              <a:ext cx="3090913" cy="4820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28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r>
                <a:rPr lang="en-US" altLang="zh-CN" sz="28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zh-CN" altLang="en-US" sz="28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无电荷，电平（低）</a:t>
              </a:r>
            </a:p>
          </p:txBody>
        </p:sp>
        <p:sp>
          <p:nvSpPr>
            <p:cNvPr id="13323" name="Text Box 29"/>
            <p:cNvSpPr txBox="1"/>
            <p:nvPr/>
          </p:nvSpPr>
          <p:spPr>
            <a:xfrm>
              <a:off x="3419872" y="2492896"/>
              <a:ext cx="3198451" cy="4820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28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r>
                <a:rPr lang="en-US" altLang="zh-CN" sz="28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zh-CN" altLang="en-US" sz="2800" b="1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有电荷，电平（高）</a:t>
              </a:r>
            </a:p>
          </p:txBody>
        </p:sp>
      </p:grpSp>
      <p:sp>
        <p:nvSpPr>
          <p:cNvPr id="32" name="Text Box 32"/>
          <p:cNvSpPr txBox="1"/>
          <p:nvPr/>
        </p:nvSpPr>
        <p:spPr>
          <a:xfrm>
            <a:off x="5" y="260350"/>
            <a:ext cx="286702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）读出数据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227014" y="2046293"/>
            <a:ext cx="79883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根据</a:t>
            </a:r>
            <a:r>
              <a:rPr kumimoji="1" lang="en-US" altLang="zh-CN" sz="2800" b="1" dirty="0">
                <a:solidFill>
                  <a:srgbClr val="FFFF00"/>
                </a:solidFill>
                <a:latin typeface="+mn-lt"/>
                <a:ea typeface="黑体" panose="02010609060101010101" pitchFamily="49" charset="-122"/>
              </a:rPr>
              <a:t>W</a:t>
            </a:r>
            <a:r>
              <a:rPr kumimoji="1"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线电位</a:t>
            </a:r>
            <a:r>
              <a:rPr kumimoji="1"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1"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kumimoji="1"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否</a:t>
            </a:r>
            <a:r>
              <a:rPr kumimoji="1"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降低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判断读到数据 </a:t>
            </a:r>
            <a:r>
              <a:rPr kumimoji="1"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0/1</a:t>
            </a:r>
            <a:endParaRPr kumimoji="1" lang="zh-CN" altLang="en-US" sz="2800" b="1" dirty="0">
              <a:solidFill>
                <a:srgbClr val="00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250830" y="836618"/>
            <a:ext cx="5616575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 dirty="0">
                <a:solidFill>
                  <a:srgbClr val="FFFF00"/>
                </a:solidFill>
                <a:latin typeface="+mn-lt"/>
                <a:ea typeface="黑体" panose="02010609060101010101" pitchFamily="49" charset="-122"/>
              </a:rPr>
              <a:t>W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预充至高电平后，断开充电回路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Text Box 36"/>
          <p:cNvSpPr txBox="1">
            <a:spLocks noChangeArrowheads="1"/>
          </p:cNvSpPr>
          <p:nvPr/>
        </p:nvSpPr>
        <p:spPr bwMode="auto">
          <a:xfrm>
            <a:off x="263525" y="1454154"/>
            <a:ext cx="3767139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 dirty="0">
                <a:solidFill>
                  <a:srgbClr val="FFFF00"/>
                </a:solidFill>
                <a:latin typeface="+mn-lt"/>
                <a:ea typeface="黑体" panose="02010609060101010101" pitchFamily="49" charset="-122"/>
              </a:rPr>
              <a:t>Z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加高电平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使</a:t>
            </a:r>
            <a:r>
              <a:rPr kumimoji="1"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导通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D276E9-BEBC-12A7-EDB6-F6F0B05D8F5E}"/>
              </a:ext>
            </a:extLst>
          </p:cNvPr>
          <p:cNvSpPr txBox="1"/>
          <p:nvPr/>
        </p:nvSpPr>
        <p:spPr>
          <a:xfrm>
            <a:off x="107504" y="5700744"/>
            <a:ext cx="11318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Arial"/>
                <a:ea typeface="微软雅黑"/>
              </a:rPr>
              <a:t>注：由于电容放电，读出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Arial"/>
                <a:ea typeface="微软雅黑"/>
              </a:rPr>
              <a:t>“1”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Arial"/>
                <a:ea typeface="微软雅黑"/>
              </a:rPr>
              <a:t>后，原来存储的信息被破坏，需重新</a:t>
            </a:r>
            <a:endParaRPr lang="en-US" altLang="zh-CN" dirty="0">
              <a:solidFill>
                <a:srgbClr val="FF0000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Arial"/>
              <a:ea typeface="微软雅黑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Arial"/>
                <a:ea typeface="微软雅黑"/>
              </a:rPr>
              <a:t>写入才能再生</a:t>
            </a:r>
          </a:p>
        </p:txBody>
      </p:sp>
    </p:spTree>
  </p:cSld>
  <p:clrMapOvr>
    <a:masterClrMapping/>
  </p:clrMapOvr>
  <p:transition spd="med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88C3B1B-7008-9EE2-CC97-D5C1A0121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140968"/>
            <a:ext cx="5968501" cy="3603048"/>
          </a:xfrm>
          <a:prstGeom prst="rect">
            <a:avLst/>
          </a:prstGeom>
        </p:spPr>
      </p:pic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5E7EC6F0-9971-CE9B-4C4F-952C2F754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416" y="260648"/>
            <a:ext cx="5992495" cy="271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86620"/>
      </p:ext>
    </p:extLst>
  </p:cSld>
  <p:clrMapOvr>
    <a:masterClrMapping/>
  </p:clrMapOvr>
  <p:transition spd="med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4" name="Text Box 16"/>
          <p:cNvSpPr txBox="1"/>
          <p:nvPr/>
        </p:nvSpPr>
        <p:spPr>
          <a:xfrm>
            <a:off x="250825" y="381002"/>
            <a:ext cx="6705600" cy="6463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36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动态存储器的刷新</a:t>
            </a:r>
          </a:p>
        </p:txBody>
      </p:sp>
      <p:sp>
        <p:nvSpPr>
          <p:cNvPr id="27665" name="Text Box 17"/>
          <p:cNvSpPr txBox="1"/>
          <p:nvPr/>
        </p:nvSpPr>
        <p:spPr>
          <a:xfrm>
            <a:off x="266700" y="1412877"/>
            <a:ext cx="46482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刷新含义和原因</a:t>
            </a:r>
          </a:p>
        </p:txBody>
      </p:sp>
      <p:sp>
        <p:nvSpPr>
          <p:cNvPr id="27668" name="Text Box 20"/>
          <p:cNvSpPr txBox="1"/>
          <p:nvPr/>
        </p:nvSpPr>
        <p:spPr>
          <a:xfrm>
            <a:off x="266700" y="2174877"/>
            <a:ext cx="17526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含</a:t>
            </a: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义：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69" name="Line 21"/>
          <p:cNvSpPr/>
          <p:nvPr/>
        </p:nvSpPr>
        <p:spPr>
          <a:xfrm>
            <a:off x="5264151" y="2487613"/>
            <a:ext cx="9144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stealth" w="lg" len="lg"/>
          </a:ln>
        </p:spPr>
      </p:sp>
      <p:sp>
        <p:nvSpPr>
          <p:cNvPr id="27670" name="Text Box 22"/>
          <p:cNvSpPr txBox="1"/>
          <p:nvPr/>
        </p:nvSpPr>
        <p:spPr>
          <a:xfrm>
            <a:off x="6280151" y="2182818"/>
            <a:ext cx="16002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刷新。</a:t>
            </a:r>
          </a:p>
        </p:txBody>
      </p:sp>
      <p:sp>
        <p:nvSpPr>
          <p:cNvPr id="27671" name="Text Box 23"/>
          <p:cNvSpPr txBox="1"/>
          <p:nvPr/>
        </p:nvSpPr>
        <p:spPr>
          <a:xfrm>
            <a:off x="266701" y="3516317"/>
            <a:ext cx="8408988" cy="178664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动态存储器依靠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电容电荷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存储信息，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没有电源</a:t>
            </a:r>
            <a:r>
              <a:rPr lang="en-US" altLang="zh-CN" sz="32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(V</a:t>
            </a:r>
            <a:r>
              <a:rPr lang="en-US" altLang="zh-CN" sz="3200" b="1" baseline="-25000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CC</a:t>
            </a:r>
            <a:r>
              <a:rPr lang="en-US" altLang="zh-CN" sz="32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)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持续供电，电荷会泄漏，故需定期向电容补充电荷，才能维持存储的信息不变。</a:t>
            </a:r>
          </a:p>
        </p:txBody>
      </p:sp>
      <p:sp>
        <p:nvSpPr>
          <p:cNvPr id="27672" name="Text Box 24"/>
          <p:cNvSpPr txBox="1"/>
          <p:nvPr/>
        </p:nvSpPr>
        <p:spPr>
          <a:xfrm>
            <a:off x="1403351" y="2182817"/>
            <a:ext cx="43434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定期向电容补充电荷</a:t>
            </a:r>
          </a:p>
        </p:txBody>
      </p:sp>
      <p:sp>
        <p:nvSpPr>
          <p:cNvPr id="27673" name="Text Box 25"/>
          <p:cNvSpPr txBox="1"/>
          <p:nvPr/>
        </p:nvSpPr>
        <p:spPr>
          <a:xfrm>
            <a:off x="266700" y="2906718"/>
            <a:ext cx="17526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原因</a:t>
            </a: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</a:p>
        </p:txBody>
      </p:sp>
    </p:spTree>
  </p:cSld>
  <p:clrMapOvr>
    <a:masterClrMapping/>
  </p:clrMapOvr>
  <p:transition spd="med">
    <p:pull dir="l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227017" y="104777"/>
            <a:ext cx="49942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kumimoji="1" lang="zh-CN" altLang="en-US" sz="3200" b="1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刷新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zh-CN" altLang="en-US" sz="3200" b="1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重写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的区别</a:t>
            </a:r>
          </a:p>
        </p:txBody>
      </p:sp>
      <p:sp>
        <p:nvSpPr>
          <p:cNvPr id="28682" name="Text Box 10"/>
          <p:cNvSpPr txBox="1"/>
          <p:nvPr/>
        </p:nvSpPr>
        <p:spPr>
          <a:xfrm>
            <a:off x="1763718" y="981079"/>
            <a:ext cx="7380287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破坏性读出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后的自动操作，以恢复原来信息。</a:t>
            </a:r>
            <a:endParaRPr lang="zh-CN" altLang="en-US" sz="28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85" name="Text Box 13"/>
          <p:cNvSpPr txBox="1"/>
          <p:nvPr/>
        </p:nvSpPr>
        <p:spPr>
          <a:xfrm>
            <a:off x="284163" y="2124076"/>
            <a:ext cx="3351212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最大刷新间隔</a:t>
            </a:r>
            <a:endParaRPr lang="zh-CN" altLang="en-US" sz="3200" b="1" dirty="0">
              <a:solidFill>
                <a:srgbClr val="00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86" name="Text Box 14"/>
          <p:cNvSpPr txBox="1"/>
          <p:nvPr/>
        </p:nvSpPr>
        <p:spPr>
          <a:xfrm>
            <a:off x="250825" y="2794001"/>
            <a:ext cx="8763000" cy="9541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以封装后的一个存储芯片为单位，</a:t>
            </a:r>
            <a:r>
              <a:rPr lang="en-US" altLang="zh-CN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64ms</a:t>
            </a:r>
            <a:r>
              <a:rPr lang="zh-CN" altLang="en-US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内必须对所有片内存储单元刷新一遍。</a:t>
            </a:r>
          </a:p>
        </p:txBody>
      </p:sp>
      <p:sp>
        <p:nvSpPr>
          <p:cNvPr id="28692" name="Text Box 20"/>
          <p:cNvSpPr txBox="1"/>
          <p:nvPr/>
        </p:nvSpPr>
        <p:spPr>
          <a:xfrm>
            <a:off x="228601" y="1473205"/>
            <a:ext cx="8459788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与读写操作无关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，定期自动补充电荷以保持信息。</a:t>
            </a:r>
            <a:endParaRPr lang="zh-CN" altLang="en-US" sz="28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95" name="Text Box 23"/>
          <p:cNvSpPr txBox="1"/>
          <p:nvPr/>
        </p:nvSpPr>
        <p:spPr>
          <a:xfrm>
            <a:off x="284163" y="3860801"/>
            <a:ext cx="46482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刷新方法：</a:t>
            </a:r>
          </a:p>
        </p:txBody>
      </p:sp>
      <p:sp>
        <p:nvSpPr>
          <p:cNvPr id="28696" name="Text Box 24"/>
          <p:cNvSpPr txBox="1"/>
          <p:nvPr/>
        </p:nvSpPr>
        <p:spPr>
          <a:xfrm>
            <a:off x="2590806" y="3857626"/>
            <a:ext cx="2557463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逐行刷新</a:t>
            </a:r>
          </a:p>
        </p:txBody>
      </p:sp>
      <p:sp>
        <p:nvSpPr>
          <p:cNvPr id="28697" name="Text Box 25"/>
          <p:cNvSpPr txBox="1"/>
          <p:nvPr/>
        </p:nvSpPr>
        <p:spPr>
          <a:xfrm>
            <a:off x="288929" y="4510089"/>
            <a:ext cx="38512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刷新</a:t>
            </a: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所用的时间：</a:t>
            </a:r>
          </a:p>
        </p:txBody>
      </p:sp>
      <p:sp>
        <p:nvSpPr>
          <p:cNvPr id="28698" name="Text Box 26"/>
          <p:cNvSpPr txBox="1">
            <a:spLocks noChangeArrowheads="1"/>
          </p:cNvSpPr>
          <p:nvPr/>
        </p:nvSpPr>
        <p:spPr bwMode="auto">
          <a:xfrm>
            <a:off x="3706814" y="4510093"/>
            <a:ext cx="252095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刷新周期</a:t>
            </a:r>
            <a:r>
              <a:rPr kumimoji="1" lang="en-US" altLang="zh-CN" sz="2800" b="1" dirty="0" err="1">
                <a:solidFill>
                  <a:srgbClr val="FFFF00"/>
                </a:solidFill>
                <a:latin typeface="+mn-lt"/>
                <a:ea typeface="黑体" panose="02010609060101010101" pitchFamily="49" charset="-122"/>
                <a:cs typeface="Calibri" panose="020F0502020204030204" pitchFamily="34" charset="0"/>
              </a:rPr>
              <a:t>T</a:t>
            </a:r>
            <a:r>
              <a:rPr kumimoji="1" lang="en-US" altLang="zh-CN" sz="2800" b="1" baseline="-25000" dirty="0" err="1">
                <a:solidFill>
                  <a:srgbClr val="FFFF00"/>
                </a:solidFill>
                <a:latin typeface="+mn-lt"/>
                <a:ea typeface="黑体" panose="02010609060101010101" pitchFamily="49" charset="-122"/>
                <a:cs typeface="Calibri" panose="020F0502020204030204" pitchFamily="34" charset="0"/>
              </a:rPr>
              <a:t>ref</a:t>
            </a:r>
            <a:endParaRPr kumimoji="1" lang="zh-CN" altLang="en-US" sz="2800" b="1" baseline="-25000" dirty="0">
              <a:solidFill>
                <a:srgbClr val="FFFF00"/>
              </a:solidFill>
              <a:latin typeface="+mn-lt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8701" name="Text Box 29"/>
          <p:cNvSpPr txBox="1"/>
          <p:nvPr/>
        </p:nvSpPr>
        <p:spPr>
          <a:xfrm>
            <a:off x="5695951" y="4473579"/>
            <a:ext cx="3124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小于存取周期</a:t>
            </a: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800" b="1" dirty="0">
              <a:solidFill>
                <a:srgbClr val="00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702" name="Text Box 30"/>
          <p:cNvSpPr txBox="1"/>
          <p:nvPr/>
        </p:nvSpPr>
        <p:spPr>
          <a:xfrm>
            <a:off x="306387" y="5231188"/>
            <a:ext cx="8531225" cy="10577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刷新</a:t>
            </a: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块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芯片所需的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刷新周期数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由芯片的</a:t>
            </a:r>
            <a:r>
              <a:rPr lang="zh-CN" altLang="en-US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刷新矩阵的行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最大刷新间隔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决定。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1403351" y="692155"/>
            <a:ext cx="0" cy="792163"/>
          </a:xfrm>
          <a:prstGeom prst="straightConnector1">
            <a:avLst/>
          </a:prstGeom>
          <a:ln w="19050" cap="sq" cmpd="sng">
            <a:solidFill>
              <a:schemeClr val="accent1"/>
            </a:solidFill>
            <a:prstDash val="solid"/>
            <a:headEnd type="none" w="sm" len="sm"/>
            <a:tailEnd type="arrow" w="med" len="med"/>
          </a:ln>
        </p:spPr>
      </p:cxnSp>
      <p:cxnSp>
        <p:nvCxnSpPr>
          <p:cNvPr id="20" name="直接箭头连接符 19"/>
          <p:cNvCxnSpPr/>
          <p:nvPr/>
        </p:nvCxnSpPr>
        <p:spPr>
          <a:xfrm>
            <a:off x="2687639" y="692155"/>
            <a:ext cx="0" cy="360363"/>
          </a:xfrm>
          <a:prstGeom prst="straightConnector1">
            <a:avLst/>
          </a:prstGeom>
          <a:ln w="19050" cap="sq" cmpd="sng">
            <a:solidFill>
              <a:schemeClr val="accent1"/>
            </a:solidFill>
            <a:prstDash val="solid"/>
            <a:headEnd type="none" w="sm" len="sm"/>
            <a:tailEnd type="arrow" w="med" len="med"/>
          </a:ln>
        </p:spPr>
      </p:cxnSp>
      <p:sp>
        <p:nvSpPr>
          <p:cNvPr id="16" name="Text Box 13"/>
          <p:cNvSpPr txBox="1"/>
          <p:nvPr/>
        </p:nvSpPr>
        <p:spPr>
          <a:xfrm>
            <a:off x="3394075" y="2133600"/>
            <a:ext cx="2376488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DDR:</a:t>
            </a:r>
            <a:r>
              <a:rPr lang="zh-CN" alt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64ms</a:t>
            </a:r>
            <a:endParaRPr lang="zh-CN" altLang="en-US" sz="32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pull dir="l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Text Box 5"/>
          <p:cNvSpPr txBox="1"/>
          <p:nvPr/>
        </p:nvSpPr>
        <p:spPr>
          <a:xfrm>
            <a:off x="323851" y="188914"/>
            <a:ext cx="4648200" cy="6463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对比访存与刷新</a:t>
            </a:r>
          </a:p>
        </p:txBody>
      </p:sp>
      <p:sp>
        <p:nvSpPr>
          <p:cNvPr id="29702" name="Text Box 6"/>
          <p:cNvSpPr txBox="1"/>
          <p:nvPr/>
        </p:nvSpPr>
        <p:spPr>
          <a:xfrm>
            <a:off x="468318" y="1844676"/>
            <a:ext cx="8135937" cy="1195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通过地址总线（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AB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）提供</a:t>
            </a:r>
            <a:r>
              <a:rPr lang="zh-CN" altLang="en-US" sz="32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r>
              <a:rPr lang="en-US" altLang="zh-CN" sz="32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32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列地址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，进行随机访问。</a:t>
            </a:r>
          </a:p>
        </p:txBody>
      </p:sp>
      <p:sp>
        <p:nvSpPr>
          <p:cNvPr id="29708" name="Text Box 12"/>
          <p:cNvSpPr txBox="1"/>
          <p:nvPr/>
        </p:nvSpPr>
        <p:spPr>
          <a:xfrm>
            <a:off x="179394" y="1196976"/>
            <a:ext cx="3240087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访存</a:t>
            </a:r>
          </a:p>
        </p:txBody>
      </p:sp>
      <p:sp>
        <p:nvSpPr>
          <p:cNvPr id="29716" name="Text Box 20"/>
          <p:cNvSpPr txBox="1"/>
          <p:nvPr/>
        </p:nvSpPr>
        <p:spPr>
          <a:xfrm>
            <a:off x="179388" y="3425825"/>
            <a:ext cx="4464051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）动态芯片刷新</a:t>
            </a:r>
          </a:p>
        </p:txBody>
      </p:sp>
      <p:sp>
        <p:nvSpPr>
          <p:cNvPr id="29718" name="Text Box 22"/>
          <p:cNvSpPr txBox="1"/>
          <p:nvPr/>
        </p:nvSpPr>
        <p:spPr>
          <a:xfrm>
            <a:off x="468314" y="4113214"/>
            <a:ext cx="8496300" cy="1195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由刷新地址计数器提供</a:t>
            </a:r>
            <a:r>
              <a:rPr lang="zh-CN" altLang="en-US" sz="32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行地址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RA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），在</a:t>
            </a:r>
            <a:r>
              <a:rPr lang="en-US" altLang="zh-CN" sz="32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64ms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内</a:t>
            </a:r>
            <a:r>
              <a:rPr lang="zh-CN" altLang="en-US" sz="32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逐行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完成全部存储单元的刷新 </a:t>
            </a:r>
          </a:p>
        </p:txBody>
      </p:sp>
    </p:spTree>
  </p:cSld>
  <p:clrMapOvr>
    <a:masterClrMapping/>
  </p:clrMapOvr>
  <p:transition spd="med">
    <p:pull dir="l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Text Box 4"/>
          <p:cNvSpPr txBox="1"/>
          <p:nvPr/>
        </p:nvSpPr>
        <p:spPr>
          <a:xfrm>
            <a:off x="395288" y="1412879"/>
            <a:ext cx="6781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64ms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内集中安排所有刷新周期。</a:t>
            </a:r>
          </a:p>
        </p:txBody>
      </p:sp>
      <p:sp>
        <p:nvSpPr>
          <p:cNvPr id="53253" name="Text Box 5"/>
          <p:cNvSpPr txBox="1"/>
          <p:nvPr/>
        </p:nvSpPr>
        <p:spPr>
          <a:xfrm>
            <a:off x="381000" y="115893"/>
            <a:ext cx="58674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刷新周期的安排</a:t>
            </a:r>
          </a:p>
        </p:txBody>
      </p:sp>
      <p:sp>
        <p:nvSpPr>
          <p:cNvPr id="53254" name="Text Box 6"/>
          <p:cNvSpPr txBox="1"/>
          <p:nvPr/>
        </p:nvSpPr>
        <p:spPr>
          <a:xfrm>
            <a:off x="4819651" y="2884488"/>
            <a:ext cx="12954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死区</a:t>
            </a:r>
          </a:p>
        </p:txBody>
      </p:sp>
      <p:sp>
        <p:nvSpPr>
          <p:cNvPr id="53255" name="Text Box 7"/>
          <p:cNvSpPr txBox="1"/>
          <p:nvPr/>
        </p:nvSpPr>
        <p:spPr>
          <a:xfrm>
            <a:off x="6877051" y="2381251"/>
            <a:ext cx="21336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用在实时要求不高的场合。</a:t>
            </a:r>
          </a:p>
        </p:txBody>
      </p:sp>
      <p:sp>
        <p:nvSpPr>
          <p:cNvPr id="53256" name="Text Box 8"/>
          <p:cNvSpPr txBox="1"/>
          <p:nvPr/>
        </p:nvSpPr>
        <p:spPr>
          <a:xfrm>
            <a:off x="152400" y="765177"/>
            <a:ext cx="47244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）集中刷新</a:t>
            </a:r>
          </a:p>
        </p:txBody>
      </p:sp>
      <p:sp>
        <p:nvSpPr>
          <p:cNvPr id="53257" name="Line 9"/>
          <p:cNvSpPr/>
          <p:nvPr/>
        </p:nvSpPr>
        <p:spPr>
          <a:xfrm>
            <a:off x="1009651" y="3036888"/>
            <a:ext cx="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" name="Group 10"/>
          <p:cNvGrpSpPr/>
          <p:nvPr/>
        </p:nvGrpSpPr>
        <p:grpSpPr>
          <a:xfrm>
            <a:off x="1009651" y="2122488"/>
            <a:ext cx="5791200" cy="838200"/>
            <a:chOff x="528" y="2256"/>
            <a:chExt cx="3648" cy="528"/>
          </a:xfrm>
        </p:grpSpPr>
        <p:sp>
          <p:nvSpPr>
            <p:cNvPr id="18478" name="Line 11"/>
            <p:cNvSpPr/>
            <p:nvPr/>
          </p:nvSpPr>
          <p:spPr>
            <a:xfrm>
              <a:off x="1584" y="2448"/>
              <a:ext cx="528" cy="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8479" name="Line 12"/>
            <p:cNvSpPr/>
            <p:nvPr/>
          </p:nvSpPr>
          <p:spPr>
            <a:xfrm>
              <a:off x="528" y="2352"/>
              <a:ext cx="0" cy="432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480" name="Line 13"/>
            <p:cNvSpPr/>
            <p:nvPr/>
          </p:nvSpPr>
          <p:spPr>
            <a:xfrm>
              <a:off x="528" y="2592"/>
              <a:ext cx="3648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8481" name="Group 14"/>
            <p:cNvGrpSpPr/>
            <p:nvPr/>
          </p:nvGrpSpPr>
          <p:grpSpPr>
            <a:xfrm>
              <a:off x="1008" y="2256"/>
              <a:ext cx="816" cy="336"/>
              <a:chOff x="1008" y="2256"/>
              <a:chExt cx="816" cy="336"/>
            </a:xfrm>
          </p:grpSpPr>
          <p:sp>
            <p:nvSpPr>
              <p:cNvPr id="18494" name="Text Box 15"/>
              <p:cNvSpPr txBox="1"/>
              <p:nvPr/>
            </p:nvSpPr>
            <p:spPr>
              <a:xfrm>
                <a:off x="1008" y="2256"/>
                <a:ext cx="816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R/W</a:t>
                </a:r>
              </a:p>
            </p:txBody>
          </p:sp>
          <p:sp>
            <p:nvSpPr>
              <p:cNvPr id="18495" name="Line 16"/>
              <p:cNvSpPr/>
              <p:nvPr/>
            </p:nvSpPr>
            <p:spPr>
              <a:xfrm>
                <a:off x="1488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8482" name="Group 17"/>
            <p:cNvGrpSpPr/>
            <p:nvPr/>
          </p:nvGrpSpPr>
          <p:grpSpPr>
            <a:xfrm>
              <a:off x="2400" y="2256"/>
              <a:ext cx="816" cy="336"/>
              <a:chOff x="2400" y="2256"/>
              <a:chExt cx="816" cy="336"/>
            </a:xfrm>
          </p:grpSpPr>
          <p:sp>
            <p:nvSpPr>
              <p:cNvPr id="18492" name="Text Box 18"/>
              <p:cNvSpPr txBox="1"/>
              <p:nvPr/>
            </p:nvSpPr>
            <p:spPr>
              <a:xfrm>
                <a:off x="2400" y="2256"/>
                <a:ext cx="816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00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刷新</a:t>
                </a:r>
              </a:p>
            </p:txBody>
          </p:sp>
          <p:sp>
            <p:nvSpPr>
              <p:cNvPr id="18493" name="Line 19"/>
              <p:cNvSpPr/>
              <p:nvPr/>
            </p:nvSpPr>
            <p:spPr>
              <a:xfrm>
                <a:off x="2400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8483" name="Line 20"/>
            <p:cNvSpPr/>
            <p:nvPr/>
          </p:nvSpPr>
          <p:spPr>
            <a:xfrm>
              <a:off x="3552" y="2352"/>
              <a:ext cx="0" cy="24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8484" name="Group 21"/>
            <p:cNvGrpSpPr/>
            <p:nvPr/>
          </p:nvGrpSpPr>
          <p:grpSpPr>
            <a:xfrm>
              <a:off x="528" y="2256"/>
              <a:ext cx="816" cy="336"/>
              <a:chOff x="1008" y="2256"/>
              <a:chExt cx="816" cy="336"/>
            </a:xfrm>
          </p:grpSpPr>
          <p:sp>
            <p:nvSpPr>
              <p:cNvPr id="18490" name="Text Box 22"/>
              <p:cNvSpPr txBox="1"/>
              <p:nvPr/>
            </p:nvSpPr>
            <p:spPr>
              <a:xfrm>
                <a:off x="1008" y="2256"/>
                <a:ext cx="816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R/W</a:t>
                </a:r>
              </a:p>
            </p:txBody>
          </p:sp>
          <p:sp>
            <p:nvSpPr>
              <p:cNvPr id="18491" name="Line 23"/>
              <p:cNvSpPr/>
              <p:nvPr/>
            </p:nvSpPr>
            <p:spPr>
              <a:xfrm>
                <a:off x="1488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8485" name="Group 24"/>
            <p:cNvGrpSpPr/>
            <p:nvPr/>
          </p:nvGrpSpPr>
          <p:grpSpPr>
            <a:xfrm>
              <a:off x="2976" y="2256"/>
              <a:ext cx="816" cy="336"/>
              <a:chOff x="2400" y="2256"/>
              <a:chExt cx="816" cy="336"/>
            </a:xfrm>
          </p:grpSpPr>
          <p:sp>
            <p:nvSpPr>
              <p:cNvPr id="18488" name="Text Box 25"/>
              <p:cNvSpPr txBox="1"/>
              <p:nvPr/>
            </p:nvSpPr>
            <p:spPr>
              <a:xfrm>
                <a:off x="2400" y="2256"/>
                <a:ext cx="816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00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刷新</a:t>
                </a:r>
              </a:p>
            </p:txBody>
          </p:sp>
          <p:sp>
            <p:nvSpPr>
              <p:cNvPr id="18489" name="Line 26"/>
              <p:cNvSpPr/>
              <p:nvPr/>
            </p:nvSpPr>
            <p:spPr>
              <a:xfrm>
                <a:off x="2400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8486" name="Line 27"/>
            <p:cNvSpPr/>
            <p:nvPr/>
          </p:nvSpPr>
          <p:spPr>
            <a:xfrm>
              <a:off x="3648" y="2448"/>
              <a:ext cx="528" cy="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8487" name="Line 28"/>
            <p:cNvSpPr/>
            <p:nvPr/>
          </p:nvSpPr>
          <p:spPr>
            <a:xfrm>
              <a:off x="4176" y="2352"/>
              <a:ext cx="0" cy="432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53277" name="Line 29"/>
          <p:cNvSpPr/>
          <p:nvPr/>
        </p:nvSpPr>
        <p:spPr>
          <a:xfrm>
            <a:off x="4589463" y="2884488"/>
            <a:ext cx="22098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53278" name="Line 30"/>
          <p:cNvSpPr/>
          <p:nvPr/>
        </p:nvSpPr>
        <p:spPr>
          <a:xfrm flipH="1">
            <a:off x="1009651" y="2884488"/>
            <a:ext cx="22098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53279" name="Text Box 31"/>
          <p:cNvSpPr txBox="1"/>
          <p:nvPr/>
        </p:nvSpPr>
        <p:spPr>
          <a:xfrm>
            <a:off x="3524251" y="2579689"/>
            <a:ext cx="12954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64ms</a:t>
            </a:r>
          </a:p>
        </p:txBody>
      </p:sp>
      <p:sp>
        <p:nvSpPr>
          <p:cNvPr id="53280" name="Line 32"/>
          <p:cNvSpPr/>
          <p:nvPr/>
        </p:nvSpPr>
        <p:spPr>
          <a:xfrm>
            <a:off x="1771651" y="3024188"/>
            <a:ext cx="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281" name="Text Box 33"/>
          <p:cNvSpPr txBox="1"/>
          <p:nvPr/>
        </p:nvSpPr>
        <p:spPr>
          <a:xfrm>
            <a:off x="1009651" y="2960689"/>
            <a:ext cx="12954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ea typeface="黑体" panose="02010609060101010101" pitchFamily="49" charset="-122"/>
              </a:rPr>
              <a:t>50ns</a:t>
            </a:r>
          </a:p>
        </p:txBody>
      </p:sp>
      <p:sp>
        <p:nvSpPr>
          <p:cNvPr id="53282" name="Line 34"/>
          <p:cNvSpPr/>
          <p:nvPr/>
        </p:nvSpPr>
        <p:spPr>
          <a:xfrm>
            <a:off x="552451" y="3189288"/>
            <a:ext cx="4572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53283" name="Line 35"/>
          <p:cNvSpPr/>
          <p:nvPr/>
        </p:nvSpPr>
        <p:spPr>
          <a:xfrm>
            <a:off x="1771651" y="3189288"/>
            <a:ext cx="4572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53284" name="Line 36"/>
          <p:cNvSpPr/>
          <p:nvPr/>
        </p:nvSpPr>
        <p:spPr>
          <a:xfrm>
            <a:off x="3981451" y="3036888"/>
            <a:ext cx="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285" name="Line 37"/>
          <p:cNvSpPr/>
          <p:nvPr/>
        </p:nvSpPr>
        <p:spPr>
          <a:xfrm>
            <a:off x="6800851" y="3036888"/>
            <a:ext cx="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286" name="Line 38"/>
          <p:cNvSpPr/>
          <p:nvPr/>
        </p:nvSpPr>
        <p:spPr>
          <a:xfrm>
            <a:off x="4003675" y="3189288"/>
            <a:ext cx="7620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</p:sp>
      <p:sp>
        <p:nvSpPr>
          <p:cNvPr id="53287" name="Line 39"/>
          <p:cNvSpPr/>
          <p:nvPr/>
        </p:nvSpPr>
        <p:spPr>
          <a:xfrm>
            <a:off x="5657851" y="3189288"/>
            <a:ext cx="11430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53288" name="Text Box 40"/>
          <p:cNvSpPr txBox="1"/>
          <p:nvPr/>
        </p:nvSpPr>
        <p:spPr>
          <a:xfrm>
            <a:off x="186406" y="3623321"/>
            <a:ext cx="47244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）分散刷新</a:t>
            </a:r>
          </a:p>
        </p:txBody>
      </p:sp>
      <p:sp>
        <p:nvSpPr>
          <p:cNvPr id="53289" name="Text Box 41"/>
          <p:cNvSpPr txBox="1"/>
          <p:nvPr/>
        </p:nvSpPr>
        <p:spPr>
          <a:xfrm>
            <a:off x="395288" y="4231344"/>
            <a:ext cx="6781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各刷新周期分散安排在存取周期中。</a:t>
            </a:r>
          </a:p>
        </p:txBody>
      </p:sp>
      <p:grpSp>
        <p:nvGrpSpPr>
          <p:cNvPr id="7" name="Group 42"/>
          <p:cNvGrpSpPr/>
          <p:nvPr/>
        </p:nvGrpSpPr>
        <p:grpSpPr>
          <a:xfrm>
            <a:off x="1008063" y="4862233"/>
            <a:ext cx="5791200" cy="838200"/>
            <a:chOff x="528" y="3696"/>
            <a:chExt cx="3648" cy="528"/>
          </a:xfrm>
        </p:grpSpPr>
        <p:sp>
          <p:nvSpPr>
            <p:cNvPr id="18461" name="Line 43"/>
            <p:cNvSpPr/>
            <p:nvPr/>
          </p:nvSpPr>
          <p:spPr>
            <a:xfrm>
              <a:off x="528" y="3792"/>
              <a:ext cx="0" cy="432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462" name="Line 44"/>
            <p:cNvSpPr/>
            <p:nvPr/>
          </p:nvSpPr>
          <p:spPr>
            <a:xfrm>
              <a:off x="528" y="4032"/>
              <a:ext cx="3648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8463" name="Group 45"/>
            <p:cNvGrpSpPr/>
            <p:nvPr/>
          </p:nvGrpSpPr>
          <p:grpSpPr>
            <a:xfrm>
              <a:off x="1632" y="3696"/>
              <a:ext cx="816" cy="336"/>
              <a:chOff x="1008" y="2256"/>
              <a:chExt cx="816" cy="336"/>
            </a:xfrm>
          </p:grpSpPr>
          <p:sp>
            <p:nvSpPr>
              <p:cNvPr id="18476" name="Text Box 46"/>
              <p:cNvSpPr txBox="1"/>
              <p:nvPr/>
            </p:nvSpPr>
            <p:spPr>
              <a:xfrm>
                <a:off x="1008" y="2256"/>
                <a:ext cx="816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R/W</a:t>
                </a:r>
              </a:p>
            </p:txBody>
          </p:sp>
          <p:sp>
            <p:nvSpPr>
              <p:cNvPr id="18477" name="Line 47"/>
              <p:cNvSpPr/>
              <p:nvPr/>
            </p:nvSpPr>
            <p:spPr>
              <a:xfrm>
                <a:off x="1488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8464" name="Group 48"/>
            <p:cNvGrpSpPr/>
            <p:nvPr/>
          </p:nvGrpSpPr>
          <p:grpSpPr>
            <a:xfrm>
              <a:off x="1008" y="3711"/>
              <a:ext cx="839" cy="321"/>
              <a:chOff x="2400" y="2271"/>
              <a:chExt cx="839" cy="321"/>
            </a:xfrm>
          </p:grpSpPr>
          <p:sp>
            <p:nvSpPr>
              <p:cNvPr id="18474" name="Text Box 49"/>
              <p:cNvSpPr txBox="1"/>
              <p:nvPr/>
            </p:nvSpPr>
            <p:spPr>
              <a:xfrm>
                <a:off x="2423" y="2271"/>
                <a:ext cx="816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00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刷新</a:t>
                </a:r>
              </a:p>
            </p:txBody>
          </p:sp>
          <p:sp>
            <p:nvSpPr>
              <p:cNvPr id="18475" name="Line 50"/>
              <p:cNvSpPr/>
              <p:nvPr/>
            </p:nvSpPr>
            <p:spPr>
              <a:xfrm>
                <a:off x="2400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8465" name="Line 51"/>
            <p:cNvSpPr/>
            <p:nvPr/>
          </p:nvSpPr>
          <p:spPr>
            <a:xfrm>
              <a:off x="1584" y="3792"/>
              <a:ext cx="0" cy="24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8466" name="Group 52"/>
            <p:cNvGrpSpPr/>
            <p:nvPr/>
          </p:nvGrpSpPr>
          <p:grpSpPr>
            <a:xfrm>
              <a:off x="528" y="3696"/>
              <a:ext cx="816" cy="336"/>
              <a:chOff x="1008" y="2256"/>
              <a:chExt cx="816" cy="336"/>
            </a:xfrm>
          </p:grpSpPr>
          <p:sp>
            <p:nvSpPr>
              <p:cNvPr id="18472" name="Text Box 53"/>
              <p:cNvSpPr txBox="1"/>
              <p:nvPr/>
            </p:nvSpPr>
            <p:spPr>
              <a:xfrm>
                <a:off x="1008" y="2256"/>
                <a:ext cx="816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R/W</a:t>
                </a:r>
              </a:p>
            </p:txBody>
          </p:sp>
          <p:sp>
            <p:nvSpPr>
              <p:cNvPr id="18473" name="Line 54"/>
              <p:cNvSpPr/>
              <p:nvPr/>
            </p:nvSpPr>
            <p:spPr>
              <a:xfrm>
                <a:off x="1488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8467" name="Group 55"/>
            <p:cNvGrpSpPr/>
            <p:nvPr/>
          </p:nvGrpSpPr>
          <p:grpSpPr>
            <a:xfrm>
              <a:off x="2112" y="3719"/>
              <a:ext cx="839" cy="313"/>
              <a:chOff x="2400" y="2279"/>
              <a:chExt cx="839" cy="313"/>
            </a:xfrm>
          </p:grpSpPr>
          <p:sp>
            <p:nvSpPr>
              <p:cNvPr id="18470" name="Text Box 56"/>
              <p:cNvSpPr txBox="1"/>
              <p:nvPr/>
            </p:nvSpPr>
            <p:spPr>
              <a:xfrm>
                <a:off x="2423" y="2279"/>
                <a:ext cx="816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00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刷新</a:t>
                </a:r>
              </a:p>
            </p:txBody>
          </p:sp>
          <p:sp>
            <p:nvSpPr>
              <p:cNvPr id="18471" name="Line 57"/>
              <p:cNvSpPr/>
              <p:nvPr/>
            </p:nvSpPr>
            <p:spPr>
              <a:xfrm>
                <a:off x="2400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8468" name="Line 58"/>
            <p:cNvSpPr/>
            <p:nvPr/>
          </p:nvSpPr>
          <p:spPr>
            <a:xfrm>
              <a:off x="2784" y="3888"/>
              <a:ext cx="528" cy="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8469" name="Line 59"/>
            <p:cNvSpPr/>
            <p:nvPr/>
          </p:nvSpPr>
          <p:spPr>
            <a:xfrm>
              <a:off x="2688" y="3792"/>
              <a:ext cx="0" cy="24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53308" name="Text Box 60"/>
          <p:cNvSpPr txBox="1"/>
          <p:nvPr/>
        </p:nvSpPr>
        <p:spPr>
          <a:xfrm>
            <a:off x="1312863" y="5370234"/>
            <a:ext cx="12954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ea typeface="黑体" panose="02010609060101010101" pitchFamily="49" charset="-122"/>
              </a:rPr>
              <a:t>100ns</a:t>
            </a:r>
          </a:p>
        </p:txBody>
      </p:sp>
      <p:sp>
        <p:nvSpPr>
          <p:cNvPr id="53309" name="Line 61"/>
          <p:cNvSpPr/>
          <p:nvPr/>
        </p:nvSpPr>
        <p:spPr>
          <a:xfrm>
            <a:off x="2684463" y="5359121"/>
            <a:ext cx="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310" name="Line 62"/>
          <p:cNvSpPr/>
          <p:nvPr/>
        </p:nvSpPr>
        <p:spPr>
          <a:xfrm>
            <a:off x="1008063" y="5598833"/>
            <a:ext cx="3810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</p:sp>
      <p:sp>
        <p:nvSpPr>
          <p:cNvPr id="53311" name="Line 63"/>
          <p:cNvSpPr/>
          <p:nvPr/>
        </p:nvSpPr>
        <p:spPr>
          <a:xfrm>
            <a:off x="2227263" y="5598833"/>
            <a:ext cx="4572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53312" name="Text Box 64"/>
          <p:cNvSpPr txBox="1"/>
          <p:nvPr/>
        </p:nvSpPr>
        <p:spPr>
          <a:xfrm>
            <a:off x="6872287" y="4689979"/>
            <a:ext cx="2133600" cy="9541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用在低速系统中。</a:t>
            </a:r>
          </a:p>
        </p:txBody>
      </p:sp>
      <p:sp>
        <p:nvSpPr>
          <p:cNvPr id="4" name="标注: 线形 3">
            <a:extLst>
              <a:ext uri="{FF2B5EF4-FFF2-40B4-BE49-F238E27FC236}">
                <a16:creationId xmlns:a16="http://schemas.microsoft.com/office/drawing/2014/main" id="{0E59A82E-6C2C-5CF7-643D-CBF221FC9003}"/>
              </a:ext>
            </a:extLst>
          </p:cNvPr>
          <p:cNvSpPr/>
          <p:nvPr/>
        </p:nvSpPr>
        <p:spPr bwMode="auto">
          <a:xfrm>
            <a:off x="5027025" y="857014"/>
            <a:ext cx="2819401" cy="612648"/>
          </a:xfrm>
          <a:prstGeom prst="borderCallout1">
            <a:avLst>
              <a:gd name="adj1" fmla="val 18750"/>
              <a:gd name="adj2" fmla="val -8333"/>
              <a:gd name="adj3" fmla="val 254646"/>
              <a:gd name="adj4" fmla="val -60263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访存操作时间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C8D81A-D383-5936-0BB4-CC9E92A16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65" y="5803846"/>
            <a:ext cx="5454930" cy="105415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AC8B182-C127-3BAA-977C-17DF7892D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51" y="6394465"/>
            <a:ext cx="3778444" cy="368319"/>
          </a:xfrm>
          <a:prstGeom prst="rect">
            <a:avLst/>
          </a:prstGeom>
        </p:spPr>
      </p:pic>
    </p:spTree>
  </p:cSld>
  <p:clrMapOvr>
    <a:masterClrMapping/>
  </p:clrMapOvr>
  <p:transition spd="med">
    <p:pull dir="l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982663" y="3881442"/>
            <a:ext cx="28321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64ms/4096</a:t>
            </a:r>
            <a:r>
              <a:rPr kumimoji="1" lang="zh-CN" altLang="en-US" sz="2800" b="1" dirty="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endParaRPr kumimoji="1" lang="en-US" altLang="zh-CN" sz="2800" b="1" dirty="0">
              <a:solidFill>
                <a:srgbClr val="00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32" name="Text Box 12"/>
          <p:cNvSpPr txBox="1"/>
          <p:nvPr/>
        </p:nvSpPr>
        <p:spPr>
          <a:xfrm>
            <a:off x="76200" y="103193"/>
            <a:ext cx="47244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）异步刷新</a:t>
            </a:r>
          </a:p>
        </p:txBody>
      </p:sp>
      <p:sp>
        <p:nvSpPr>
          <p:cNvPr id="30733" name="Line 13"/>
          <p:cNvSpPr/>
          <p:nvPr/>
        </p:nvSpPr>
        <p:spPr>
          <a:xfrm>
            <a:off x="3124200" y="1835151"/>
            <a:ext cx="0" cy="381000"/>
          </a:xfrm>
          <a:prstGeom prst="line">
            <a:avLst/>
          </a:prstGeom>
          <a:ln w="28575" cap="sq" cmpd="sng">
            <a:solidFill>
              <a:srgbClr val="FFFF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0736" name="Line 16"/>
          <p:cNvSpPr/>
          <p:nvPr/>
        </p:nvSpPr>
        <p:spPr>
          <a:xfrm>
            <a:off x="457200" y="1454155"/>
            <a:ext cx="0" cy="792163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758" name="Line 38"/>
          <p:cNvSpPr/>
          <p:nvPr/>
        </p:nvSpPr>
        <p:spPr>
          <a:xfrm>
            <a:off x="2667000" y="2063751"/>
            <a:ext cx="4572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30759" name="Line 39"/>
          <p:cNvSpPr/>
          <p:nvPr/>
        </p:nvSpPr>
        <p:spPr>
          <a:xfrm>
            <a:off x="457200" y="2063751"/>
            <a:ext cx="4572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</p:sp>
      <p:sp>
        <p:nvSpPr>
          <p:cNvPr id="30764" name="Text Box 44"/>
          <p:cNvSpPr txBox="1"/>
          <p:nvPr/>
        </p:nvSpPr>
        <p:spPr>
          <a:xfrm>
            <a:off x="203200" y="2843214"/>
            <a:ext cx="8940800" cy="9541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某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DDR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内存容量</a:t>
            </a: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8GB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，其刷新的技术规格标注为：</a:t>
            </a:r>
            <a:endParaRPr lang="en-US" altLang="zh-CN" sz="2800" b="1" dirty="0"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4096 Refresh Cycles/64ms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  <a:t>，请计算</a:t>
            </a: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T</a:t>
            </a:r>
            <a:r>
              <a:rPr lang="en-US" altLang="zh-CN" sz="2800" b="1" baseline="-25000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ref</a:t>
            </a:r>
            <a:endParaRPr lang="zh-CN" altLang="en-US" sz="2800" b="1" baseline="-25000" dirty="0">
              <a:solidFill>
                <a:srgbClr val="FFFF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30765" name="Text Box 45"/>
          <p:cNvSpPr txBox="1"/>
          <p:nvPr/>
        </p:nvSpPr>
        <p:spPr>
          <a:xfrm>
            <a:off x="250830" y="649293"/>
            <a:ext cx="8893175" cy="592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各刷新周期分散安排在</a:t>
            </a: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64ms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</a:t>
            </a: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solidFill>
                  <a:srgbClr val="00FF00"/>
                </a:solidFill>
                <a:ea typeface="黑体" panose="02010609060101010101" pitchFamily="49" charset="-122"/>
              </a:rPr>
              <a:t>每隔一段时间刷新</a:t>
            </a:r>
            <a:r>
              <a:rPr lang="en-US" altLang="zh-CN" sz="2800" b="1" dirty="0">
                <a:solidFill>
                  <a:srgbClr val="00FF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FF00"/>
                </a:solidFill>
                <a:ea typeface="黑体" panose="02010609060101010101" pitchFamily="49" charset="-122"/>
              </a:rPr>
              <a:t>行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30788" name="Text Box 68"/>
          <p:cNvSpPr txBox="1"/>
          <p:nvPr/>
        </p:nvSpPr>
        <p:spPr>
          <a:xfrm>
            <a:off x="250829" y="5516563"/>
            <a:ext cx="7345363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目前的</a:t>
            </a:r>
            <a:r>
              <a:rPr lang="en-US" altLang="zh-CN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DDR</a:t>
            </a:r>
            <a:r>
              <a:rPr lang="zh-CN" altLang="en-US" sz="2800" b="1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系列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存储器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采用这种刷新方式。</a:t>
            </a:r>
          </a:p>
        </p:txBody>
      </p:sp>
      <p:sp>
        <p:nvSpPr>
          <p:cNvPr id="30792" name="Text Box 72"/>
          <p:cNvSpPr txBox="1"/>
          <p:nvPr/>
        </p:nvSpPr>
        <p:spPr>
          <a:xfrm>
            <a:off x="2987675" y="3917954"/>
            <a:ext cx="3684588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≈15.625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微秒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endParaRPr lang="zh-CN" altLang="en-US" b="1" dirty="0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30793" name="Text Box 73"/>
          <p:cNvSpPr txBox="1"/>
          <p:nvPr/>
        </p:nvSpPr>
        <p:spPr>
          <a:xfrm>
            <a:off x="263529" y="4570414"/>
            <a:ext cx="8880475" cy="9541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ea typeface="黑体" panose="02010609060101010101" pitchFamily="49" charset="-122"/>
              </a:rPr>
              <a:t>即平均</a:t>
            </a:r>
            <a:r>
              <a:rPr lang="en-US" altLang="zh-CN" sz="2800" b="1" dirty="0">
                <a:solidFill>
                  <a:srgbClr val="00FF00"/>
                </a:solidFill>
                <a:ea typeface="黑体" panose="02010609060101010101" pitchFamily="49" charset="-122"/>
              </a:rPr>
              <a:t>15.625</a:t>
            </a:r>
            <a:r>
              <a:rPr lang="el-GR" altLang="zh-CN" sz="2800" b="1" dirty="0">
                <a:solidFill>
                  <a:srgbClr val="00FF00"/>
                </a:solidFill>
                <a:ea typeface="黑体" panose="02010609060101010101" pitchFamily="49" charset="-122"/>
              </a:rPr>
              <a:t>μ</a:t>
            </a:r>
            <a:r>
              <a:rPr lang="en-US" altLang="zh-CN" sz="2800" b="1" dirty="0">
                <a:solidFill>
                  <a:srgbClr val="00FF00"/>
                </a:solidFill>
                <a:ea typeface="黑体" panose="02010609060101010101" pitchFamily="49" charset="-122"/>
              </a:rPr>
              <a:t>m</a:t>
            </a:r>
            <a:r>
              <a:rPr lang="zh-CN" altLang="en-US" sz="2800" b="1" dirty="0">
                <a:ea typeface="黑体" panose="02010609060101010101" pitchFamily="49" charset="-122"/>
              </a:rPr>
              <a:t>自动刷新</a:t>
            </a:r>
            <a:r>
              <a:rPr lang="en-US" altLang="zh-CN" sz="2800" b="1" dirty="0">
                <a:solidFill>
                  <a:srgbClr val="00FF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FF00"/>
                </a:solidFill>
                <a:ea typeface="黑体" panose="02010609060101010101" pitchFamily="49" charset="-122"/>
              </a:rPr>
              <a:t>行</a:t>
            </a:r>
            <a:r>
              <a:rPr lang="zh-CN" altLang="en-US" sz="2800" b="1" dirty="0">
                <a:ea typeface="黑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rgbClr val="00FF00"/>
                </a:solidFill>
                <a:ea typeface="黑体" panose="02010609060101010101" pitchFamily="49" charset="-122"/>
              </a:rPr>
              <a:t>64ms</a:t>
            </a:r>
            <a:r>
              <a:rPr lang="zh-CN" altLang="en-US" sz="2800" b="1" dirty="0">
                <a:ea typeface="黑体" panose="02010609060101010101" pitchFamily="49" charset="-122"/>
              </a:rPr>
              <a:t>内才能完成片内所有行的刷新。</a:t>
            </a:r>
            <a:endParaRPr lang="zh-CN" altLang="en-US" sz="2800" b="1" dirty="0"/>
          </a:p>
        </p:txBody>
      </p:sp>
      <p:sp>
        <p:nvSpPr>
          <p:cNvPr id="30801" name="Line 81"/>
          <p:cNvSpPr/>
          <p:nvPr/>
        </p:nvSpPr>
        <p:spPr>
          <a:xfrm>
            <a:off x="5867400" y="1835151"/>
            <a:ext cx="0" cy="381000"/>
          </a:xfrm>
          <a:prstGeom prst="line">
            <a:avLst/>
          </a:prstGeom>
          <a:ln w="28575" cap="sq" cmpd="sng">
            <a:solidFill>
              <a:srgbClr val="FFFF00"/>
            </a:solidFill>
            <a:prstDash val="solid"/>
            <a:headEnd type="triangle" w="med" len="med"/>
            <a:tailEnd type="none" w="med" len="med"/>
          </a:ln>
        </p:spPr>
      </p:sp>
      <p:grpSp>
        <p:nvGrpSpPr>
          <p:cNvPr id="2" name="Group 89"/>
          <p:cNvGrpSpPr/>
          <p:nvPr/>
        </p:nvGrpSpPr>
        <p:grpSpPr>
          <a:xfrm>
            <a:off x="457200" y="1301750"/>
            <a:ext cx="8382000" cy="533400"/>
            <a:chOff x="336" y="1920"/>
            <a:chExt cx="5280" cy="336"/>
          </a:xfrm>
        </p:grpSpPr>
        <p:sp>
          <p:nvSpPr>
            <p:cNvPr id="19483" name="Line 15"/>
            <p:cNvSpPr/>
            <p:nvPr/>
          </p:nvSpPr>
          <p:spPr>
            <a:xfrm>
              <a:off x="1553" y="2112"/>
              <a:ext cx="136" cy="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9484" name="Line 17"/>
            <p:cNvSpPr/>
            <p:nvPr/>
          </p:nvSpPr>
          <p:spPr>
            <a:xfrm>
              <a:off x="336" y="2256"/>
              <a:ext cx="5184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9485" name="Group 18"/>
            <p:cNvGrpSpPr/>
            <p:nvPr/>
          </p:nvGrpSpPr>
          <p:grpSpPr>
            <a:xfrm>
              <a:off x="816" y="1920"/>
              <a:ext cx="816" cy="336"/>
              <a:chOff x="1008" y="2256"/>
              <a:chExt cx="816" cy="336"/>
            </a:xfrm>
          </p:grpSpPr>
          <p:sp>
            <p:nvSpPr>
              <p:cNvPr id="19509" name="Text Box 19"/>
              <p:cNvSpPr txBox="1"/>
              <p:nvPr/>
            </p:nvSpPr>
            <p:spPr>
              <a:xfrm>
                <a:off x="1008" y="2256"/>
                <a:ext cx="816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R/W</a:t>
                </a:r>
              </a:p>
            </p:txBody>
          </p:sp>
          <p:sp>
            <p:nvSpPr>
              <p:cNvPr id="19510" name="Line 20"/>
              <p:cNvSpPr/>
              <p:nvPr/>
            </p:nvSpPr>
            <p:spPr>
              <a:xfrm>
                <a:off x="1488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9486" name="Group 21"/>
            <p:cNvGrpSpPr/>
            <p:nvPr/>
          </p:nvGrpSpPr>
          <p:grpSpPr>
            <a:xfrm>
              <a:off x="2016" y="1920"/>
              <a:ext cx="816" cy="336"/>
              <a:chOff x="2400" y="2256"/>
              <a:chExt cx="816" cy="336"/>
            </a:xfrm>
          </p:grpSpPr>
          <p:sp>
            <p:nvSpPr>
              <p:cNvPr id="19507" name="Text Box 22"/>
              <p:cNvSpPr txBox="1"/>
              <p:nvPr/>
            </p:nvSpPr>
            <p:spPr>
              <a:xfrm>
                <a:off x="2400" y="2256"/>
                <a:ext cx="816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00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刷新</a:t>
                </a:r>
              </a:p>
            </p:txBody>
          </p:sp>
          <p:sp>
            <p:nvSpPr>
              <p:cNvPr id="19508" name="Line 23"/>
              <p:cNvSpPr/>
              <p:nvPr/>
            </p:nvSpPr>
            <p:spPr>
              <a:xfrm>
                <a:off x="2400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9487" name="Line 24"/>
            <p:cNvSpPr/>
            <p:nvPr/>
          </p:nvSpPr>
          <p:spPr>
            <a:xfrm>
              <a:off x="2592" y="2016"/>
              <a:ext cx="0" cy="24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9488" name="Group 25"/>
            <p:cNvGrpSpPr/>
            <p:nvPr/>
          </p:nvGrpSpPr>
          <p:grpSpPr>
            <a:xfrm>
              <a:off x="336" y="1920"/>
              <a:ext cx="816" cy="336"/>
              <a:chOff x="1008" y="2256"/>
              <a:chExt cx="816" cy="336"/>
            </a:xfrm>
          </p:grpSpPr>
          <p:sp>
            <p:nvSpPr>
              <p:cNvPr id="19505" name="Text Box 26"/>
              <p:cNvSpPr txBox="1"/>
              <p:nvPr/>
            </p:nvSpPr>
            <p:spPr>
              <a:xfrm>
                <a:off x="1008" y="2256"/>
                <a:ext cx="816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R/W</a:t>
                </a:r>
              </a:p>
            </p:txBody>
          </p:sp>
          <p:sp>
            <p:nvSpPr>
              <p:cNvPr id="19506" name="Line 27"/>
              <p:cNvSpPr/>
              <p:nvPr/>
            </p:nvSpPr>
            <p:spPr>
              <a:xfrm>
                <a:off x="1488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9489" name="Group 28"/>
            <p:cNvGrpSpPr/>
            <p:nvPr/>
          </p:nvGrpSpPr>
          <p:grpSpPr>
            <a:xfrm>
              <a:off x="4224" y="1935"/>
              <a:ext cx="839" cy="321"/>
              <a:chOff x="2400" y="2271"/>
              <a:chExt cx="839" cy="321"/>
            </a:xfrm>
          </p:grpSpPr>
          <p:sp>
            <p:nvSpPr>
              <p:cNvPr id="19503" name="Text Box 29"/>
              <p:cNvSpPr txBox="1"/>
              <p:nvPr/>
            </p:nvSpPr>
            <p:spPr>
              <a:xfrm>
                <a:off x="2423" y="2271"/>
                <a:ext cx="816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00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刷新</a:t>
                </a:r>
              </a:p>
            </p:txBody>
          </p:sp>
          <p:sp>
            <p:nvSpPr>
              <p:cNvPr id="19504" name="Line 30"/>
              <p:cNvSpPr/>
              <p:nvPr/>
            </p:nvSpPr>
            <p:spPr>
              <a:xfrm>
                <a:off x="2400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9490" name="Line 31"/>
            <p:cNvSpPr/>
            <p:nvPr/>
          </p:nvSpPr>
          <p:spPr>
            <a:xfrm>
              <a:off x="3344" y="2112"/>
              <a:ext cx="113" cy="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grpSp>
          <p:nvGrpSpPr>
            <p:cNvPr id="19491" name="Group 74"/>
            <p:cNvGrpSpPr/>
            <p:nvPr/>
          </p:nvGrpSpPr>
          <p:grpSpPr>
            <a:xfrm>
              <a:off x="2592" y="1920"/>
              <a:ext cx="816" cy="336"/>
              <a:chOff x="1008" y="2256"/>
              <a:chExt cx="816" cy="336"/>
            </a:xfrm>
          </p:grpSpPr>
          <p:sp>
            <p:nvSpPr>
              <p:cNvPr id="19501" name="Text Box 75"/>
              <p:cNvSpPr txBox="1"/>
              <p:nvPr/>
            </p:nvSpPr>
            <p:spPr>
              <a:xfrm>
                <a:off x="1008" y="2256"/>
                <a:ext cx="816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R/W</a:t>
                </a:r>
              </a:p>
            </p:txBody>
          </p:sp>
          <p:sp>
            <p:nvSpPr>
              <p:cNvPr id="19502" name="Line 76"/>
              <p:cNvSpPr/>
              <p:nvPr/>
            </p:nvSpPr>
            <p:spPr>
              <a:xfrm>
                <a:off x="1488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9492" name="Line 77"/>
            <p:cNvSpPr/>
            <p:nvPr/>
          </p:nvSpPr>
          <p:spPr>
            <a:xfrm>
              <a:off x="3744" y="2016"/>
              <a:ext cx="0" cy="24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9493" name="Group 78"/>
            <p:cNvGrpSpPr/>
            <p:nvPr/>
          </p:nvGrpSpPr>
          <p:grpSpPr>
            <a:xfrm>
              <a:off x="3744" y="1920"/>
              <a:ext cx="816" cy="336"/>
              <a:chOff x="1008" y="2256"/>
              <a:chExt cx="816" cy="336"/>
            </a:xfrm>
          </p:grpSpPr>
          <p:sp>
            <p:nvSpPr>
              <p:cNvPr id="19499" name="Text Box 79"/>
              <p:cNvSpPr txBox="1"/>
              <p:nvPr/>
            </p:nvSpPr>
            <p:spPr>
              <a:xfrm>
                <a:off x="1008" y="2256"/>
                <a:ext cx="816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R/W</a:t>
                </a:r>
              </a:p>
            </p:txBody>
          </p:sp>
          <p:sp>
            <p:nvSpPr>
              <p:cNvPr id="19500" name="Line 80"/>
              <p:cNvSpPr/>
              <p:nvPr/>
            </p:nvSpPr>
            <p:spPr>
              <a:xfrm>
                <a:off x="1488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9494" name="Line 82"/>
            <p:cNvSpPr/>
            <p:nvPr/>
          </p:nvSpPr>
          <p:spPr>
            <a:xfrm>
              <a:off x="4800" y="2016"/>
              <a:ext cx="0" cy="24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9495" name="Group 84"/>
            <p:cNvGrpSpPr/>
            <p:nvPr/>
          </p:nvGrpSpPr>
          <p:grpSpPr>
            <a:xfrm>
              <a:off x="4800" y="1920"/>
              <a:ext cx="816" cy="336"/>
              <a:chOff x="1008" y="2256"/>
              <a:chExt cx="816" cy="336"/>
            </a:xfrm>
          </p:grpSpPr>
          <p:sp>
            <p:nvSpPr>
              <p:cNvPr id="19497" name="Text Box 85"/>
              <p:cNvSpPr txBox="1"/>
              <p:nvPr/>
            </p:nvSpPr>
            <p:spPr>
              <a:xfrm>
                <a:off x="1008" y="2256"/>
                <a:ext cx="816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R/W</a:t>
                </a:r>
              </a:p>
            </p:txBody>
          </p:sp>
          <p:sp>
            <p:nvSpPr>
              <p:cNvPr id="19498" name="Line 86"/>
              <p:cNvSpPr/>
              <p:nvPr/>
            </p:nvSpPr>
            <p:spPr>
              <a:xfrm>
                <a:off x="1488" y="2352"/>
                <a:ext cx="0" cy="24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9496" name="Line 87"/>
            <p:cNvSpPr/>
            <p:nvPr/>
          </p:nvSpPr>
          <p:spPr>
            <a:xfrm>
              <a:off x="5340" y="2112"/>
              <a:ext cx="113" cy="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</p:grpSp>
      <p:sp>
        <p:nvSpPr>
          <p:cNvPr id="30808" name="Text Box 88"/>
          <p:cNvSpPr txBox="1"/>
          <p:nvPr/>
        </p:nvSpPr>
        <p:spPr>
          <a:xfrm>
            <a:off x="917580" y="1819275"/>
            <a:ext cx="1793875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15.625</a:t>
            </a:r>
            <a:r>
              <a:rPr lang="zh-CN" altLang="en-US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微秒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30810" name="Text Box 90"/>
          <p:cNvSpPr txBox="1"/>
          <p:nvPr/>
        </p:nvSpPr>
        <p:spPr>
          <a:xfrm>
            <a:off x="3571881" y="1819275"/>
            <a:ext cx="1922463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15.625</a:t>
            </a:r>
            <a:r>
              <a:rPr lang="zh-CN" altLang="en-US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微秒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30811" name="Line 91"/>
          <p:cNvSpPr/>
          <p:nvPr/>
        </p:nvSpPr>
        <p:spPr>
          <a:xfrm>
            <a:off x="3132139" y="2063751"/>
            <a:ext cx="4572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</p:sp>
      <p:sp>
        <p:nvSpPr>
          <p:cNvPr id="30812" name="Line 92"/>
          <p:cNvSpPr/>
          <p:nvPr/>
        </p:nvSpPr>
        <p:spPr>
          <a:xfrm>
            <a:off x="5867400" y="2063751"/>
            <a:ext cx="4572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</p:sp>
      <p:sp>
        <p:nvSpPr>
          <p:cNvPr id="30813" name="Line 93"/>
          <p:cNvSpPr/>
          <p:nvPr/>
        </p:nvSpPr>
        <p:spPr>
          <a:xfrm>
            <a:off x="5364163" y="2063751"/>
            <a:ext cx="4572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30814" name="Text Box 94"/>
          <p:cNvSpPr txBox="1"/>
          <p:nvPr/>
        </p:nvSpPr>
        <p:spPr>
          <a:xfrm>
            <a:off x="6419849" y="1819275"/>
            <a:ext cx="1938339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15.625</a:t>
            </a:r>
            <a:r>
              <a:rPr lang="zh-CN" altLang="en-US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微秒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30815" name="Line 95"/>
          <p:cNvSpPr/>
          <p:nvPr/>
        </p:nvSpPr>
        <p:spPr>
          <a:xfrm>
            <a:off x="8305800" y="2063751"/>
            <a:ext cx="4572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57" name="Text Box 44"/>
          <p:cNvSpPr txBox="1"/>
          <p:nvPr/>
        </p:nvSpPr>
        <p:spPr>
          <a:xfrm>
            <a:off x="250825" y="3898904"/>
            <a:ext cx="1081088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T</a:t>
            </a:r>
            <a:r>
              <a:rPr lang="en-US" altLang="zh-CN" sz="2800" b="1" baseline="-25000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ref</a:t>
            </a:r>
            <a:r>
              <a:rPr lang="en-US" altLang="zh-CN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=</a:t>
            </a:r>
            <a:endParaRPr lang="zh-CN" altLang="en-US" sz="2800" b="1" baseline="-25000" dirty="0">
              <a:solidFill>
                <a:schemeClr val="accent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2" name="Text Box 88"/>
          <p:cNvSpPr txBox="1"/>
          <p:nvPr/>
        </p:nvSpPr>
        <p:spPr>
          <a:xfrm>
            <a:off x="1100137" y="2251075"/>
            <a:ext cx="1568451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刷新</a:t>
            </a:r>
            <a:r>
              <a:rPr lang="en-US" altLang="zh-CN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</a:p>
        </p:txBody>
      </p:sp>
      <p:sp>
        <p:nvSpPr>
          <p:cNvPr id="53" name="Text Box 88"/>
          <p:cNvSpPr txBox="1"/>
          <p:nvPr/>
        </p:nvSpPr>
        <p:spPr>
          <a:xfrm>
            <a:off x="3881437" y="2251075"/>
            <a:ext cx="1568451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刷新</a:t>
            </a:r>
            <a:r>
              <a:rPr lang="en-US" altLang="zh-CN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</a:p>
        </p:txBody>
      </p:sp>
      <p:sp>
        <p:nvSpPr>
          <p:cNvPr id="54" name="Text Box 88"/>
          <p:cNvSpPr txBox="1"/>
          <p:nvPr/>
        </p:nvSpPr>
        <p:spPr>
          <a:xfrm>
            <a:off x="6618288" y="2251075"/>
            <a:ext cx="1568451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刷新</a:t>
            </a:r>
            <a:r>
              <a:rPr lang="en-US" altLang="zh-CN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C0E4556-AFB0-F0B7-5F0A-BB4CADFE4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25" y="6126125"/>
            <a:ext cx="6617040" cy="628682"/>
          </a:xfrm>
          <a:prstGeom prst="rect">
            <a:avLst/>
          </a:prstGeom>
        </p:spPr>
      </p:pic>
    </p:spTree>
  </p:cSld>
  <p:clrMapOvr>
    <a:masterClrMapping/>
  </p:clrMapOvr>
  <p:transition spd="med">
    <p:pull dir="l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1"/>
          <p:cNvSpPr>
            <a:spLocks noChangeArrowheads="1"/>
          </p:cNvSpPr>
          <p:nvPr/>
        </p:nvSpPr>
        <p:spPr bwMode="auto">
          <a:xfrm>
            <a:off x="129535" y="959976"/>
            <a:ext cx="1559335" cy="3319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765" tIns="34383" rIns="68765" bIns="34383" anchor="ctr">
            <a:spAutoFit/>
          </a:bodyPr>
          <a:lstStyle/>
          <a:p>
            <a:pPr algn="ctr" defTabSz="6496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706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</a:t>
            </a:r>
            <a:r>
              <a:rPr lang="en-US" altLang="zh-CN" sz="1706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706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</a:t>
            </a:r>
          </a:p>
        </p:txBody>
      </p:sp>
      <p:grpSp>
        <p:nvGrpSpPr>
          <p:cNvPr id="6" name="组合 4179"/>
          <p:cNvGrpSpPr/>
          <p:nvPr/>
        </p:nvGrpSpPr>
        <p:grpSpPr bwMode="auto">
          <a:xfrm>
            <a:off x="582107" y="1541872"/>
            <a:ext cx="4455196" cy="368010"/>
            <a:chOff x="-96347" y="0"/>
            <a:chExt cx="5282512" cy="559633"/>
          </a:xfrm>
        </p:grpSpPr>
        <p:sp>
          <p:nvSpPr>
            <p:cNvPr id="7" name="椭圆 4181"/>
            <p:cNvSpPr>
              <a:spLocks noChangeArrowheads="1"/>
            </p:cNvSpPr>
            <p:nvPr/>
          </p:nvSpPr>
          <p:spPr bwMode="auto">
            <a:xfrm>
              <a:off x="-96347" y="31744"/>
              <a:ext cx="357095" cy="441920"/>
            </a:xfrm>
            <a:prstGeom prst="ellipse">
              <a:avLst/>
            </a:prstGeom>
            <a:solidFill>
              <a:srgbClr val="59B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6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706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五边形 4182"/>
            <p:cNvSpPr>
              <a:spLocks noChangeArrowheads="1"/>
            </p:cNvSpPr>
            <p:nvPr/>
          </p:nvSpPr>
          <p:spPr bwMode="auto">
            <a:xfrm flipH="1">
              <a:off x="478470" y="0"/>
              <a:ext cx="4707695" cy="505407"/>
            </a:xfrm>
            <a:prstGeom prst="homePlate">
              <a:avLst>
                <a:gd name="adj" fmla="val 37135"/>
              </a:avLst>
            </a:prstGeom>
            <a:solidFill>
              <a:srgbClr val="FF69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706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4183"/>
            <p:cNvSpPr txBox="1">
              <a:spLocks noChangeArrowheads="1"/>
            </p:cNvSpPr>
            <p:nvPr/>
          </p:nvSpPr>
          <p:spPr bwMode="auto">
            <a:xfrm>
              <a:off x="618131" y="20025"/>
              <a:ext cx="4558352" cy="539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defTabSz="685800" fontAlgn="auto"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zh-CN" sz="1706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DRAM</a:t>
              </a:r>
              <a:r>
                <a:rPr lang="zh-CN" altLang="en-US" sz="1706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存储单元的刷新</a:t>
              </a:r>
            </a:p>
          </p:txBody>
        </p:sp>
      </p:grpSp>
      <p:sp>
        <p:nvSpPr>
          <p:cNvPr id="41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4.2.2 </a:t>
            </a:r>
            <a:r>
              <a:rPr lang="zh-CN" altLang="en-US" dirty="0"/>
              <a:t>动态</a:t>
            </a:r>
            <a:r>
              <a:rPr lang="en-US" altLang="zh-CN" dirty="0"/>
              <a:t>MOS</a:t>
            </a:r>
            <a:r>
              <a:rPr lang="zh-CN" altLang="en-US" dirty="0"/>
              <a:t>存储器（</a:t>
            </a:r>
            <a:r>
              <a:rPr lang="en-US" altLang="zh-CN" dirty="0"/>
              <a:t>DRAM</a:t>
            </a:r>
            <a:r>
              <a:rPr lang="zh-CN" altLang="en-US" dirty="0"/>
              <a:t>）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3899" y="1928336"/>
            <a:ext cx="8205086" cy="3790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1"/>
          <p:cNvSpPr>
            <a:spLocks noChangeArrowheads="1"/>
          </p:cNvSpPr>
          <p:nvPr/>
        </p:nvSpPr>
        <p:spPr bwMode="auto">
          <a:xfrm>
            <a:off x="129535" y="959976"/>
            <a:ext cx="1559335" cy="3319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765" tIns="34383" rIns="68765" bIns="34383" anchor="ctr">
            <a:spAutoFit/>
          </a:bodyPr>
          <a:lstStyle/>
          <a:p>
            <a:pPr algn="ctr" defTabSz="6496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706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</a:t>
            </a:r>
            <a:r>
              <a:rPr lang="en-US" altLang="zh-CN" sz="1706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706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</a:t>
            </a:r>
          </a:p>
        </p:txBody>
      </p:sp>
      <p:grpSp>
        <p:nvGrpSpPr>
          <p:cNvPr id="6" name="组合 4179"/>
          <p:cNvGrpSpPr/>
          <p:nvPr/>
        </p:nvGrpSpPr>
        <p:grpSpPr bwMode="auto">
          <a:xfrm>
            <a:off x="582107" y="1541872"/>
            <a:ext cx="4051883" cy="368010"/>
            <a:chOff x="-96347" y="0"/>
            <a:chExt cx="5282512" cy="559633"/>
          </a:xfrm>
        </p:grpSpPr>
        <p:sp>
          <p:nvSpPr>
            <p:cNvPr id="7" name="椭圆 4181"/>
            <p:cNvSpPr>
              <a:spLocks noChangeArrowheads="1"/>
            </p:cNvSpPr>
            <p:nvPr/>
          </p:nvSpPr>
          <p:spPr bwMode="auto">
            <a:xfrm>
              <a:off x="-96347" y="31744"/>
              <a:ext cx="357095" cy="441920"/>
            </a:xfrm>
            <a:prstGeom prst="ellipse">
              <a:avLst/>
            </a:prstGeom>
            <a:solidFill>
              <a:srgbClr val="59B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6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706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五边形 4182"/>
            <p:cNvSpPr>
              <a:spLocks noChangeArrowheads="1"/>
            </p:cNvSpPr>
            <p:nvPr/>
          </p:nvSpPr>
          <p:spPr bwMode="auto">
            <a:xfrm flipH="1">
              <a:off x="478470" y="0"/>
              <a:ext cx="4707695" cy="505407"/>
            </a:xfrm>
            <a:prstGeom prst="homePlate">
              <a:avLst>
                <a:gd name="adj" fmla="val 37135"/>
              </a:avLst>
            </a:prstGeom>
            <a:solidFill>
              <a:srgbClr val="FF69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706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4183"/>
            <p:cNvSpPr txBox="1">
              <a:spLocks noChangeArrowheads="1"/>
            </p:cNvSpPr>
            <p:nvPr/>
          </p:nvSpPr>
          <p:spPr bwMode="auto">
            <a:xfrm>
              <a:off x="618132" y="20025"/>
              <a:ext cx="4558352" cy="539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defTabSz="685800" fontAlgn="auto"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zh-CN" sz="1706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DRAM</a:t>
              </a:r>
              <a:r>
                <a:rPr lang="zh-CN" altLang="en-US" sz="1706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存储单元的刷新方式</a:t>
              </a:r>
            </a:p>
          </p:txBody>
        </p:sp>
      </p:grpSp>
      <p:sp>
        <p:nvSpPr>
          <p:cNvPr id="8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4.2.2 </a:t>
            </a:r>
            <a:r>
              <a:rPr lang="zh-CN" altLang="en-US" dirty="0"/>
              <a:t>动态</a:t>
            </a:r>
            <a:r>
              <a:rPr lang="en-US" altLang="zh-CN" dirty="0"/>
              <a:t>MOS</a:t>
            </a:r>
            <a:r>
              <a:rPr lang="zh-CN" altLang="en-US" dirty="0"/>
              <a:t>存储器（</a:t>
            </a:r>
            <a:r>
              <a:rPr lang="en-US" altLang="zh-CN" dirty="0"/>
              <a:t>DRAM</a:t>
            </a:r>
            <a:r>
              <a:rPr lang="zh-CN" altLang="en-US" dirty="0"/>
              <a:t>）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7244" y="1853565"/>
            <a:ext cx="7254344" cy="36099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64870" y="5463540"/>
            <a:ext cx="68884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500" dirty="0">
                <a:solidFill>
                  <a:srgbClr val="000000"/>
                </a:solidFill>
                <a:latin typeface="Arial"/>
                <a:ea typeface="微软雅黑"/>
              </a:rPr>
              <a:t>刷新次数频繁，严重影响系统速度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00162" y="5164455"/>
            <a:ext cx="67103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500">
                <a:solidFill>
                  <a:srgbClr val="000000"/>
                </a:solidFill>
                <a:latin typeface="Arial"/>
                <a:ea typeface="微软雅黑"/>
              </a:rPr>
              <a:t>因此，每过</a:t>
            </a:r>
            <a:r>
              <a:rPr lang="en-US" altLang="zh-CN" sz="1500">
                <a:solidFill>
                  <a:srgbClr val="000000"/>
                </a:solidFill>
                <a:latin typeface="Arial"/>
                <a:ea typeface="微软雅黑"/>
              </a:rPr>
              <a:t>128*1US,  </a:t>
            </a:r>
            <a:r>
              <a:rPr lang="zh-CN" altLang="en-US" sz="1500">
                <a:solidFill>
                  <a:srgbClr val="000000"/>
                </a:solidFill>
                <a:latin typeface="Arial"/>
                <a:ea typeface="微软雅黑"/>
              </a:rPr>
              <a:t>整个存储器就被刷新一次，在</a:t>
            </a:r>
            <a:r>
              <a:rPr lang="en-US" altLang="zh-CN" sz="1500">
                <a:solidFill>
                  <a:srgbClr val="000000"/>
                </a:solidFill>
                <a:latin typeface="Arial"/>
                <a:ea typeface="微软雅黑"/>
              </a:rPr>
              <a:t>2ms</a:t>
            </a:r>
            <a:r>
              <a:rPr lang="zh-CN" altLang="en-US" sz="1500">
                <a:solidFill>
                  <a:srgbClr val="000000"/>
                </a:solidFill>
                <a:latin typeface="Arial"/>
                <a:ea typeface="微软雅黑"/>
              </a:rPr>
              <a:t>内进行</a:t>
            </a:r>
            <a:r>
              <a:rPr lang="en-US" altLang="zh-CN" sz="1500">
                <a:solidFill>
                  <a:srgbClr val="000000"/>
                </a:solidFill>
                <a:latin typeface="Arial"/>
                <a:ea typeface="微软雅黑"/>
              </a:rPr>
              <a:t>15</a:t>
            </a:r>
            <a:r>
              <a:rPr lang="zh-CN" altLang="en-US" sz="1500">
                <a:solidFill>
                  <a:srgbClr val="000000"/>
                </a:solidFill>
                <a:latin typeface="Arial"/>
                <a:ea typeface="微软雅黑"/>
              </a:rPr>
              <a:t>次刷新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1"/>
          <p:cNvSpPr>
            <a:spLocks noChangeArrowheads="1"/>
          </p:cNvSpPr>
          <p:nvPr/>
        </p:nvSpPr>
        <p:spPr bwMode="auto">
          <a:xfrm>
            <a:off x="129535" y="959976"/>
            <a:ext cx="1559335" cy="3319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765" tIns="34383" rIns="68765" bIns="34383" anchor="ctr">
            <a:spAutoFit/>
          </a:bodyPr>
          <a:lstStyle/>
          <a:p>
            <a:pPr algn="ctr" defTabSz="6496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706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</a:t>
            </a:r>
            <a:r>
              <a:rPr lang="en-US" altLang="zh-CN" sz="1706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706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</a:t>
            </a:r>
          </a:p>
        </p:txBody>
      </p:sp>
      <p:grpSp>
        <p:nvGrpSpPr>
          <p:cNvPr id="6" name="组合 4179"/>
          <p:cNvGrpSpPr/>
          <p:nvPr/>
        </p:nvGrpSpPr>
        <p:grpSpPr bwMode="auto">
          <a:xfrm>
            <a:off x="582107" y="1541872"/>
            <a:ext cx="4051883" cy="368010"/>
            <a:chOff x="-96347" y="0"/>
            <a:chExt cx="5282512" cy="559633"/>
          </a:xfrm>
        </p:grpSpPr>
        <p:sp>
          <p:nvSpPr>
            <p:cNvPr id="7" name="椭圆 4181"/>
            <p:cNvSpPr>
              <a:spLocks noChangeArrowheads="1"/>
            </p:cNvSpPr>
            <p:nvPr/>
          </p:nvSpPr>
          <p:spPr bwMode="auto">
            <a:xfrm>
              <a:off x="-96347" y="31744"/>
              <a:ext cx="357095" cy="441920"/>
            </a:xfrm>
            <a:prstGeom prst="ellipse">
              <a:avLst/>
            </a:prstGeom>
            <a:solidFill>
              <a:srgbClr val="59B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6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706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五边形 4182"/>
            <p:cNvSpPr>
              <a:spLocks noChangeArrowheads="1"/>
            </p:cNvSpPr>
            <p:nvPr/>
          </p:nvSpPr>
          <p:spPr bwMode="auto">
            <a:xfrm flipH="1">
              <a:off x="478470" y="0"/>
              <a:ext cx="4707695" cy="505407"/>
            </a:xfrm>
            <a:prstGeom prst="homePlate">
              <a:avLst>
                <a:gd name="adj" fmla="val 37135"/>
              </a:avLst>
            </a:prstGeom>
            <a:solidFill>
              <a:srgbClr val="FF69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706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4183"/>
            <p:cNvSpPr txBox="1">
              <a:spLocks noChangeArrowheads="1"/>
            </p:cNvSpPr>
            <p:nvPr/>
          </p:nvSpPr>
          <p:spPr bwMode="auto">
            <a:xfrm>
              <a:off x="618132" y="20025"/>
              <a:ext cx="4558352" cy="539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defTabSz="685800" fontAlgn="auto"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zh-CN" sz="1706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DRAM</a:t>
              </a:r>
              <a:r>
                <a:rPr lang="zh-CN" altLang="en-US" sz="1706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存储单元的刷新方式</a:t>
              </a:r>
            </a:p>
          </p:txBody>
        </p:sp>
      </p:grpSp>
      <p:sp>
        <p:nvSpPr>
          <p:cNvPr id="4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4.2.2 </a:t>
            </a:r>
            <a:r>
              <a:rPr lang="zh-CN" altLang="en-US" dirty="0"/>
              <a:t>动态</a:t>
            </a:r>
            <a:r>
              <a:rPr lang="en-US" altLang="zh-CN" dirty="0"/>
              <a:t>MOS</a:t>
            </a:r>
            <a:r>
              <a:rPr lang="zh-CN" altLang="en-US" dirty="0"/>
              <a:t>存储器（</a:t>
            </a:r>
            <a:r>
              <a:rPr lang="en-US" altLang="zh-CN" dirty="0"/>
              <a:t>DRAM</a:t>
            </a:r>
            <a:r>
              <a:rPr lang="zh-CN" altLang="en-US" dirty="0"/>
              <a:t>）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0555" y="1928336"/>
            <a:ext cx="7740506" cy="3645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0897" y="851704"/>
            <a:ext cx="1013841" cy="50977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7504" y="908720"/>
            <a:ext cx="8213884" cy="52774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8126" indent="-239078">
              <a:spcBef>
                <a:spcPts val="75"/>
              </a:spcBef>
              <a:buFont typeface="Wingdings" panose="05000000000000000000"/>
              <a:buChar char=""/>
              <a:tabLst>
                <a:tab pos="248603" algn="l"/>
              </a:tabLst>
            </a:pPr>
            <a:r>
              <a:rPr sz="2800" b="1" spc="-4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动态随机读写存储</a:t>
            </a:r>
            <a:r>
              <a:rPr sz="2800" b="1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器</a:t>
            </a:r>
            <a:r>
              <a:rPr lang="en-US" sz="2800" b="1" spc="-8" dirty="0" err="1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DRAM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523875" marR="3810" lvl="1" indent="-171450">
              <a:lnSpc>
                <a:spcPct val="160000"/>
              </a:lnSpc>
              <a:spcBef>
                <a:spcPts val="379"/>
              </a:spcBef>
              <a:buSzPct val="96000"/>
              <a:buFont typeface="Wingdings" panose="05000000000000000000"/>
              <a:buChar char=""/>
              <a:tabLst>
                <a:tab pos="534829" algn="l"/>
              </a:tabLst>
            </a:pPr>
            <a:r>
              <a:rPr sz="2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组成：</a:t>
            </a:r>
            <a:r>
              <a:rPr lang="en-US" sz="2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sz="2800" spc="-8" dirty="0">
                <a:latin typeface="Times New Roman" panose="02020603050405020304"/>
                <a:cs typeface="Times New Roman" panose="02020603050405020304"/>
              </a:rPr>
              <a:t>RA</a:t>
            </a:r>
            <a:r>
              <a:rPr sz="2800" spc="-4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存储器</a:t>
            </a:r>
            <a:r>
              <a:rPr lang="zh-CN" altLang="en-US" sz="2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跟</a:t>
            </a:r>
            <a:r>
              <a:rPr lang="en-US" altLang="zh-CN" sz="2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sz="2800" spc="-8" dirty="0">
                <a:latin typeface="Times New Roman" panose="02020603050405020304"/>
                <a:cs typeface="Times New Roman" panose="02020603050405020304"/>
              </a:rPr>
              <a:t>RA</a:t>
            </a:r>
            <a:r>
              <a:rPr sz="2800" spc="-4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类似，也包含存储矩阵、行列地址译码和读写电路、控制电路，</a:t>
            </a:r>
            <a:r>
              <a:rPr sz="280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另外又增加了行、列地址锁存器。</a:t>
            </a:r>
            <a:endParaRPr sz="28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23875" marR="130493" lvl="1" indent="-171450" algn="just">
              <a:lnSpc>
                <a:spcPct val="160000"/>
              </a:lnSpc>
              <a:spcBef>
                <a:spcPts val="368"/>
              </a:spcBef>
              <a:buSzPct val="96000"/>
              <a:buFont typeface="Wingdings" panose="05000000000000000000"/>
              <a:buChar char=""/>
              <a:tabLst>
                <a:tab pos="534829" algn="l"/>
              </a:tabLst>
            </a:pPr>
            <a:r>
              <a:rPr sz="2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原因：这是由于</a:t>
            </a:r>
            <a:r>
              <a:rPr sz="2800" spc="-8" dirty="0">
                <a:latin typeface="Times New Roman" panose="02020603050405020304"/>
                <a:cs typeface="Times New Roman" panose="02020603050405020304"/>
              </a:rPr>
              <a:t>DRA</a:t>
            </a:r>
            <a:r>
              <a:rPr sz="2800" spc="-4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集成度高，每个芯片容量大，所需地址引线较多，难 以封装，因此采用</a:t>
            </a:r>
            <a:r>
              <a:rPr sz="280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分时复用</a:t>
            </a:r>
            <a:r>
              <a:rPr sz="2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技术，将地址分两次输入，可以减少一半地址引 </a:t>
            </a:r>
            <a:r>
              <a:rPr sz="2800" spc="-4" dirty="0">
                <a:latin typeface="微软雅黑" panose="020B0503020204020204" pitchFamily="34" charset="-122"/>
                <a:cs typeface="微软雅黑" panose="020B0503020204020204" pitchFamily="34" charset="-122"/>
              </a:rPr>
              <a:t>线。</a:t>
            </a:r>
            <a:endParaRPr sz="28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7" name="标题 1"/>
          <p:cNvSpPr>
            <a:spLocks noGrp="1"/>
          </p:cNvSpPr>
          <p:nvPr>
            <p:ph type="title"/>
          </p:nvPr>
        </p:nvSpPr>
        <p:spPr>
          <a:xfrm>
            <a:off x="899592" y="260648"/>
            <a:ext cx="4958858" cy="463231"/>
          </a:xfrm>
        </p:spPr>
        <p:txBody>
          <a:bodyPr>
            <a:normAutofit/>
          </a:bodyPr>
          <a:lstStyle/>
          <a:p>
            <a:r>
              <a:rPr lang="en-US" altLang="zh-CN" dirty="0"/>
              <a:t>4.2.2  </a:t>
            </a:r>
            <a:r>
              <a:rPr lang="zh-CN" altLang="en-US" dirty="0"/>
              <a:t>动态</a:t>
            </a:r>
            <a:r>
              <a:rPr lang="en-US" altLang="zh-CN" dirty="0"/>
              <a:t>MOS</a:t>
            </a:r>
            <a:r>
              <a:rPr lang="zh-CN" altLang="en-US" dirty="0"/>
              <a:t>存储器</a:t>
            </a:r>
          </a:p>
        </p:txBody>
      </p:sp>
    </p:spTree>
    <p:extLst>
      <p:ext uri="{BB962C8B-B14F-4D97-AF65-F5344CB8AC3E}">
        <p14:creationId xmlns:p14="http://schemas.microsoft.com/office/powerpoint/2010/main" val="4005174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9" name="Text Box 59"/>
          <p:cNvSpPr txBox="1"/>
          <p:nvPr/>
        </p:nvSpPr>
        <p:spPr>
          <a:xfrm>
            <a:off x="250825" y="4478341"/>
            <a:ext cx="3352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行选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RAS=0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482" name="Text Box 2"/>
          <p:cNvSpPr txBox="1"/>
          <p:nvPr/>
        </p:nvSpPr>
        <p:spPr>
          <a:xfrm>
            <a:off x="250825" y="3338513"/>
            <a:ext cx="19050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地址端：</a:t>
            </a:r>
          </a:p>
        </p:txBody>
      </p:sp>
      <p:grpSp>
        <p:nvGrpSpPr>
          <p:cNvPr id="2" name="Group 53"/>
          <p:cNvGrpSpPr/>
          <p:nvPr/>
        </p:nvGrpSpPr>
        <p:grpSpPr>
          <a:xfrm>
            <a:off x="4211639" y="765175"/>
            <a:ext cx="4267200" cy="1373188"/>
            <a:chOff x="1344" y="446"/>
            <a:chExt cx="2688" cy="865"/>
          </a:xfrm>
        </p:grpSpPr>
        <p:sp>
          <p:nvSpPr>
            <p:cNvPr id="14366" name="Line 7"/>
            <p:cNvSpPr/>
            <p:nvPr/>
          </p:nvSpPr>
          <p:spPr>
            <a:xfrm>
              <a:off x="2832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67" name="Line 8"/>
            <p:cNvSpPr/>
            <p:nvPr/>
          </p:nvSpPr>
          <p:spPr>
            <a:xfrm>
              <a:off x="3168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68" name="Line 9"/>
            <p:cNvSpPr/>
            <p:nvPr/>
          </p:nvSpPr>
          <p:spPr>
            <a:xfrm>
              <a:off x="3456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69" name="Line 10"/>
            <p:cNvSpPr/>
            <p:nvPr/>
          </p:nvSpPr>
          <p:spPr>
            <a:xfrm>
              <a:off x="3792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0" name="Line 11"/>
            <p:cNvSpPr/>
            <p:nvPr/>
          </p:nvSpPr>
          <p:spPr>
            <a:xfrm>
              <a:off x="2496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1" name="Line 12"/>
            <p:cNvSpPr/>
            <p:nvPr/>
          </p:nvSpPr>
          <p:spPr>
            <a:xfrm>
              <a:off x="2208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2" name="Line 13"/>
            <p:cNvSpPr/>
            <p:nvPr/>
          </p:nvSpPr>
          <p:spPr>
            <a:xfrm>
              <a:off x="1872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3" name="Line 14"/>
            <p:cNvSpPr/>
            <p:nvPr/>
          </p:nvSpPr>
          <p:spPr>
            <a:xfrm>
              <a:off x="1536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4" name="Line 16"/>
            <p:cNvSpPr/>
            <p:nvPr/>
          </p:nvSpPr>
          <p:spPr>
            <a:xfrm>
              <a:off x="2832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5" name="Line 17"/>
            <p:cNvSpPr/>
            <p:nvPr/>
          </p:nvSpPr>
          <p:spPr>
            <a:xfrm>
              <a:off x="3168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6" name="Line 18"/>
            <p:cNvSpPr/>
            <p:nvPr/>
          </p:nvSpPr>
          <p:spPr>
            <a:xfrm>
              <a:off x="3456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7" name="Line 19"/>
            <p:cNvSpPr/>
            <p:nvPr/>
          </p:nvSpPr>
          <p:spPr>
            <a:xfrm>
              <a:off x="3792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8" name="Line 20"/>
            <p:cNvSpPr/>
            <p:nvPr/>
          </p:nvSpPr>
          <p:spPr>
            <a:xfrm>
              <a:off x="2496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9" name="Line 21"/>
            <p:cNvSpPr/>
            <p:nvPr/>
          </p:nvSpPr>
          <p:spPr>
            <a:xfrm>
              <a:off x="2208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4380" name="Line 22"/>
            <p:cNvSpPr/>
            <p:nvPr/>
          </p:nvSpPr>
          <p:spPr>
            <a:xfrm>
              <a:off x="1872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81" name="Line 23"/>
            <p:cNvSpPr/>
            <p:nvPr/>
          </p:nvSpPr>
          <p:spPr>
            <a:xfrm>
              <a:off x="1536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82" name="Rectangle 5"/>
            <p:cNvSpPr/>
            <p:nvPr/>
          </p:nvSpPr>
          <p:spPr>
            <a:xfrm>
              <a:off x="1344" y="576"/>
              <a:ext cx="2688" cy="576"/>
            </a:xfrm>
            <a:prstGeom prst="rect">
              <a:avLst/>
            </a:prstGeom>
            <a:solidFill>
              <a:schemeClr val="bg1"/>
            </a:solidFill>
            <a:ln w="381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3" name="Text Box 24"/>
            <p:cNvSpPr txBox="1"/>
            <p:nvPr/>
          </p:nvSpPr>
          <p:spPr>
            <a:xfrm>
              <a:off x="1968" y="672"/>
              <a:ext cx="1680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libri" panose="020F0502020204030204" pitchFamily="34" charset="0"/>
                  <a:ea typeface="黑体" panose="02010609060101010101" pitchFamily="49" charset="-122"/>
                  <a:cs typeface="+mn-cs"/>
                </a:rPr>
                <a:t>2164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Calibri" panose="020F0502020204030204" pitchFamily="34" charset="0"/>
                  <a:ea typeface="黑体" panose="02010609060101010101" pitchFamily="49" charset="-122"/>
                  <a:cs typeface="+mn-cs"/>
                </a:rPr>
                <a:t>（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Calibri" panose="020F0502020204030204" pitchFamily="34" charset="0"/>
                  <a:ea typeface="黑体" panose="02010609060101010101" pitchFamily="49" charset="-122"/>
                  <a:cs typeface="+mn-cs"/>
                </a:rPr>
                <a:t>64K×1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Calibri" panose="020F0502020204030204" pitchFamily="34" charset="0"/>
                  <a:ea typeface="黑体" panose="02010609060101010101" pitchFamily="49" charset="-122"/>
                  <a:cs typeface="+mn-cs"/>
                </a:rPr>
                <a:t>位）</a:t>
              </a:r>
            </a:p>
          </p:txBody>
        </p:sp>
      </p:grpSp>
      <p:grpSp>
        <p:nvGrpSpPr>
          <p:cNvPr id="3" name="Group 52"/>
          <p:cNvGrpSpPr/>
          <p:nvPr/>
        </p:nvGrpSpPr>
        <p:grpSpPr>
          <a:xfrm>
            <a:off x="4083055" y="333375"/>
            <a:ext cx="4665663" cy="461963"/>
            <a:chOff x="1248" y="179"/>
            <a:chExt cx="2939" cy="291"/>
          </a:xfrm>
        </p:grpSpPr>
        <p:sp>
          <p:nvSpPr>
            <p:cNvPr id="14364" name="Text Box 33"/>
            <p:cNvSpPr txBox="1"/>
            <p:nvPr/>
          </p:nvSpPr>
          <p:spPr>
            <a:xfrm>
              <a:off x="1248" y="179"/>
              <a:ext cx="2939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GND CAS Do A6  A3 A4 A5  A7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365" name="Line 34"/>
            <p:cNvSpPr/>
            <p:nvPr/>
          </p:nvSpPr>
          <p:spPr>
            <a:xfrm flipV="1">
              <a:off x="1703" y="232"/>
              <a:ext cx="288" cy="0"/>
            </a:xfrm>
            <a:prstGeom prst="line">
              <a:avLst/>
            </a:prstGeom>
            <a:ln w="1905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0515" name="Text Box 35"/>
          <p:cNvSpPr txBox="1"/>
          <p:nvPr/>
        </p:nvSpPr>
        <p:spPr>
          <a:xfrm>
            <a:off x="1703393" y="3338514"/>
            <a:ext cx="15398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A7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516" name="Text Box 36"/>
          <p:cNvSpPr txBox="1"/>
          <p:nvPr/>
        </p:nvSpPr>
        <p:spPr>
          <a:xfrm>
            <a:off x="250825" y="2820988"/>
            <a:ext cx="19050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数据端：</a:t>
            </a:r>
          </a:p>
        </p:txBody>
      </p:sp>
      <p:sp>
        <p:nvSpPr>
          <p:cNvPr id="20517" name="Text Box 37"/>
          <p:cNvSpPr txBox="1"/>
          <p:nvPr/>
        </p:nvSpPr>
        <p:spPr>
          <a:xfrm>
            <a:off x="1727205" y="2835279"/>
            <a:ext cx="352742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Di(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输入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),Do(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输出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518" name="Text Box 38"/>
          <p:cNvSpPr txBox="1"/>
          <p:nvPr/>
        </p:nvSpPr>
        <p:spPr>
          <a:xfrm>
            <a:off x="250826" y="3875089"/>
            <a:ext cx="1620839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控制端：</a:t>
            </a:r>
          </a:p>
        </p:txBody>
      </p:sp>
      <p:sp>
        <p:nvSpPr>
          <p:cNvPr id="20524" name="Line 44"/>
          <p:cNvSpPr/>
          <p:nvPr/>
        </p:nvSpPr>
        <p:spPr>
          <a:xfrm>
            <a:off x="1139825" y="4549775"/>
            <a:ext cx="431800" cy="0"/>
          </a:xfrm>
          <a:prstGeom prst="line">
            <a:avLst/>
          </a:prstGeom>
          <a:ln w="28575" cap="sq" cmpd="sng">
            <a:solidFill>
              <a:srgbClr val="FFFF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525" name="Text Box 45"/>
          <p:cNvSpPr txBox="1"/>
          <p:nvPr/>
        </p:nvSpPr>
        <p:spPr>
          <a:xfrm>
            <a:off x="1643068" y="3902075"/>
            <a:ext cx="2897187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写使能信号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WE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):</a:t>
            </a:r>
          </a:p>
        </p:txBody>
      </p:sp>
      <p:sp>
        <p:nvSpPr>
          <p:cNvPr id="20526" name="Line 46"/>
          <p:cNvSpPr/>
          <p:nvPr/>
        </p:nvSpPr>
        <p:spPr>
          <a:xfrm>
            <a:off x="3711575" y="3954463"/>
            <a:ext cx="323851" cy="0"/>
          </a:xfrm>
          <a:prstGeom prst="line">
            <a:avLst/>
          </a:prstGeom>
          <a:ln w="38100" cap="sq" cmpd="sng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528" name="Text Box 48"/>
          <p:cNvSpPr txBox="1"/>
          <p:nvPr/>
        </p:nvSpPr>
        <p:spPr>
          <a:xfrm>
            <a:off x="4408489" y="3900489"/>
            <a:ext cx="31877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写入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; 1-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读出；</a:t>
            </a:r>
          </a:p>
        </p:txBody>
      </p:sp>
      <p:grpSp>
        <p:nvGrpSpPr>
          <p:cNvPr id="4" name="Group 55"/>
          <p:cNvGrpSpPr/>
          <p:nvPr/>
        </p:nvGrpSpPr>
        <p:grpSpPr>
          <a:xfrm>
            <a:off x="3321055" y="2146302"/>
            <a:ext cx="5427663" cy="461963"/>
            <a:chOff x="768" y="1273"/>
            <a:chExt cx="3419" cy="291"/>
          </a:xfrm>
        </p:grpSpPr>
        <p:sp>
          <p:nvSpPr>
            <p:cNvPr id="14361" name="Text Box 30"/>
            <p:cNvSpPr txBox="1"/>
            <p:nvPr/>
          </p:nvSpPr>
          <p:spPr>
            <a:xfrm>
              <a:off x="768" y="1273"/>
              <a:ext cx="3419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空闲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/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刷新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Di WE RAS A0 A2 A1 Vcc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362" name="Line 31"/>
            <p:cNvSpPr/>
            <p:nvPr/>
          </p:nvSpPr>
          <p:spPr>
            <a:xfrm>
              <a:off x="2392" y="1326"/>
              <a:ext cx="240" cy="0"/>
            </a:xfrm>
            <a:prstGeom prst="line">
              <a:avLst/>
            </a:prstGeom>
            <a:ln w="1905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63" name="Line 54"/>
            <p:cNvSpPr/>
            <p:nvPr/>
          </p:nvSpPr>
          <p:spPr>
            <a:xfrm>
              <a:off x="2087" y="1324"/>
              <a:ext cx="181" cy="0"/>
            </a:xfrm>
            <a:prstGeom prst="line">
              <a:avLst/>
            </a:prstGeom>
            <a:ln w="1905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0536" name="Text Box 56"/>
          <p:cNvSpPr txBox="1"/>
          <p:nvPr/>
        </p:nvSpPr>
        <p:spPr>
          <a:xfrm>
            <a:off x="2955925" y="3338514"/>
            <a:ext cx="49530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分时复用，可提供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16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位地址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540" name="Text Box 60"/>
          <p:cNvSpPr txBox="1"/>
          <p:nvPr/>
        </p:nvSpPr>
        <p:spPr>
          <a:xfrm>
            <a:off x="250825" y="5011741"/>
            <a:ext cx="35814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CAS=0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541" name="Line 61"/>
          <p:cNvSpPr/>
          <p:nvPr/>
        </p:nvSpPr>
        <p:spPr>
          <a:xfrm>
            <a:off x="1139825" y="5089525"/>
            <a:ext cx="431800" cy="0"/>
          </a:xfrm>
          <a:prstGeom prst="line">
            <a:avLst/>
          </a:prstGeom>
          <a:ln w="28575" cap="sq" cmpd="sng">
            <a:solidFill>
              <a:srgbClr val="FFFF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542" name="Text Box 62"/>
          <p:cNvSpPr txBox="1"/>
          <p:nvPr/>
        </p:nvSpPr>
        <p:spPr>
          <a:xfrm>
            <a:off x="2506668" y="4478342"/>
            <a:ext cx="4465637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行地址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即高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545" name="Text Box 65"/>
          <p:cNvSpPr txBox="1"/>
          <p:nvPr/>
        </p:nvSpPr>
        <p:spPr>
          <a:xfrm>
            <a:off x="2495551" y="5005393"/>
            <a:ext cx="4548188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列地址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即低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9" name="Text Box 2"/>
          <p:cNvSpPr txBox="1"/>
          <p:nvPr/>
        </p:nvSpPr>
        <p:spPr>
          <a:xfrm>
            <a:off x="250825" y="260351"/>
            <a:ext cx="35052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存储芯片举例</a:t>
            </a:r>
          </a:p>
        </p:txBody>
      </p:sp>
      <p:sp>
        <p:nvSpPr>
          <p:cNvPr id="51" name="Text Box 121"/>
          <p:cNvSpPr txBox="1"/>
          <p:nvPr/>
        </p:nvSpPr>
        <p:spPr>
          <a:xfrm>
            <a:off x="284169" y="962026"/>
            <a:ext cx="3208337" cy="95410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[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DRAM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芯片2164（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64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K×1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位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2" name="Text Box 38"/>
          <p:cNvSpPr txBox="1"/>
          <p:nvPr/>
        </p:nvSpPr>
        <p:spPr>
          <a:xfrm>
            <a:off x="250830" y="5589589"/>
            <a:ext cx="204152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动态刷新：</a:t>
            </a:r>
          </a:p>
        </p:txBody>
      </p:sp>
      <p:sp>
        <p:nvSpPr>
          <p:cNvPr id="18455" name="矩形 52"/>
          <p:cNvSpPr/>
          <p:nvPr/>
        </p:nvSpPr>
        <p:spPr>
          <a:xfrm>
            <a:off x="1979618" y="5570542"/>
            <a:ext cx="6421437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行选信号送达，即可实现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自动刷新；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60" name="灯片编号占位符 4"/>
          <p:cNvSpPr txBox="1">
            <a:spLocks noGrp="1"/>
          </p:cNvSpPr>
          <p:nvPr>
            <p:ph type="sldNum" sz="quarter" idx="10"/>
          </p:nvPr>
        </p:nvSpPr>
        <p:spPr/>
        <p:txBody>
          <a:bodyPr vert="horz" wrap="square" lIns="92075" tIns="46039" rIns="92075" bIns="46039" numCol="1" anchor="ctr" anchorCtr="0" compatLnSpc="1"/>
          <a:lstStyle>
            <a:lvl1pPr marL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189" lvl="1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377" lvl="2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566" lvl="3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754" lvl="4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pPr marL="0" marR="0" lvl="0" indent="0" algn="r" defTabSz="9143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/28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280471"/>
      </p:ext>
    </p:extLst>
  </p:cSld>
  <p:clrMapOvr>
    <a:masterClrMapping/>
  </p:clrMapOvr>
  <p:transition spd="med">
    <p:pull dir="l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9" name="Text Box 59"/>
          <p:cNvSpPr txBox="1"/>
          <p:nvPr/>
        </p:nvSpPr>
        <p:spPr>
          <a:xfrm>
            <a:off x="228596" y="4939237"/>
            <a:ext cx="3352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行选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RAS=0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482" name="Text Box 2"/>
          <p:cNvSpPr txBox="1"/>
          <p:nvPr/>
        </p:nvSpPr>
        <p:spPr>
          <a:xfrm>
            <a:off x="211139" y="4356871"/>
            <a:ext cx="19050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地址端：</a:t>
            </a:r>
          </a:p>
        </p:txBody>
      </p:sp>
      <p:grpSp>
        <p:nvGrpSpPr>
          <p:cNvPr id="2" name="Group 53"/>
          <p:cNvGrpSpPr/>
          <p:nvPr/>
        </p:nvGrpSpPr>
        <p:grpSpPr>
          <a:xfrm>
            <a:off x="4211639" y="765175"/>
            <a:ext cx="4267200" cy="1373188"/>
            <a:chOff x="1344" y="446"/>
            <a:chExt cx="2688" cy="865"/>
          </a:xfrm>
        </p:grpSpPr>
        <p:sp>
          <p:nvSpPr>
            <p:cNvPr id="14366" name="Line 7"/>
            <p:cNvSpPr/>
            <p:nvPr/>
          </p:nvSpPr>
          <p:spPr>
            <a:xfrm>
              <a:off x="2832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67" name="Line 8"/>
            <p:cNvSpPr/>
            <p:nvPr/>
          </p:nvSpPr>
          <p:spPr>
            <a:xfrm>
              <a:off x="3168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68" name="Line 9"/>
            <p:cNvSpPr/>
            <p:nvPr/>
          </p:nvSpPr>
          <p:spPr>
            <a:xfrm>
              <a:off x="3456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69" name="Line 10"/>
            <p:cNvSpPr/>
            <p:nvPr/>
          </p:nvSpPr>
          <p:spPr>
            <a:xfrm>
              <a:off x="3792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0" name="Line 11"/>
            <p:cNvSpPr/>
            <p:nvPr/>
          </p:nvSpPr>
          <p:spPr>
            <a:xfrm>
              <a:off x="2496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1" name="Line 12"/>
            <p:cNvSpPr/>
            <p:nvPr/>
          </p:nvSpPr>
          <p:spPr>
            <a:xfrm>
              <a:off x="2208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2" name="Line 13"/>
            <p:cNvSpPr/>
            <p:nvPr/>
          </p:nvSpPr>
          <p:spPr>
            <a:xfrm>
              <a:off x="1872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3" name="Line 14"/>
            <p:cNvSpPr/>
            <p:nvPr/>
          </p:nvSpPr>
          <p:spPr>
            <a:xfrm>
              <a:off x="1536" y="1071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4" name="Line 16"/>
            <p:cNvSpPr/>
            <p:nvPr/>
          </p:nvSpPr>
          <p:spPr>
            <a:xfrm>
              <a:off x="2832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5" name="Line 17"/>
            <p:cNvSpPr/>
            <p:nvPr/>
          </p:nvSpPr>
          <p:spPr>
            <a:xfrm>
              <a:off x="3168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6" name="Line 18"/>
            <p:cNvSpPr/>
            <p:nvPr/>
          </p:nvSpPr>
          <p:spPr>
            <a:xfrm>
              <a:off x="3456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7" name="Line 19"/>
            <p:cNvSpPr/>
            <p:nvPr/>
          </p:nvSpPr>
          <p:spPr>
            <a:xfrm>
              <a:off x="3792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8" name="Line 20"/>
            <p:cNvSpPr/>
            <p:nvPr/>
          </p:nvSpPr>
          <p:spPr>
            <a:xfrm>
              <a:off x="2496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79" name="Line 21"/>
            <p:cNvSpPr/>
            <p:nvPr/>
          </p:nvSpPr>
          <p:spPr>
            <a:xfrm>
              <a:off x="2208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4380" name="Line 22"/>
            <p:cNvSpPr/>
            <p:nvPr/>
          </p:nvSpPr>
          <p:spPr>
            <a:xfrm>
              <a:off x="1872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81" name="Line 23"/>
            <p:cNvSpPr/>
            <p:nvPr/>
          </p:nvSpPr>
          <p:spPr>
            <a:xfrm>
              <a:off x="1536" y="44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82" name="Rectangle 5"/>
            <p:cNvSpPr/>
            <p:nvPr/>
          </p:nvSpPr>
          <p:spPr>
            <a:xfrm>
              <a:off x="1344" y="576"/>
              <a:ext cx="2688" cy="576"/>
            </a:xfrm>
            <a:prstGeom prst="rect">
              <a:avLst/>
            </a:prstGeom>
            <a:solidFill>
              <a:schemeClr val="bg1"/>
            </a:solidFill>
            <a:ln w="381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3" name="Text Box 24"/>
            <p:cNvSpPr txBox="1"/>
            <p:nvPr/>
          </p:nvSpPr>
          <p:spPr>
            <a:xfrm>
              <a:off x="1968" y="672"/>
              <a:ext cx="1680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libri" panose="020F0502020204030204" pitchFamily="34" charset="0"/>
                  <a:ea typeface="黑体" panose="02010609060101010101" pitchFamily="49" charset="-122"/>
                  <a:cs typeface="+mn-cs"/>
                </a:rPr>
                <a:t>2164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Calibri" panose="020F0502020204030204" pitchFamily="34" charset="0"/>
                  <a:ea typeface="黑体" panose="02010609060101010101" pitchFamily="49" charset="-122"/>
                  <a:cs typeface="+mn-cs"/>
                </a:rPr>
                <a:t>（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Calibri" panose="020F0502020204030204" pitchFamily="34" charset="0"/>
                  <a:ea typeface="黑体" panose="02010609060101010101" pitchFamily="49" charset="-122"/>
                  <a:cs typeface="+mn-cs"/>
                </a:rPr>
                <a:t>64K×1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Calibri" panose="020F0502020204030204" pitchFamily="34" charset="0"/>
                  <a:ea typeface="黑体" panose="02010609060101010101" pitchFamily="49" charset="-122"/>
                  <a:cs typeface="+mn-cs"/>
                </a:rPr>
                <a:t>位）</a:t>
              </a:r>
            </a:p>
          </p:txBody>
        </p:sp>
      </p:grpSp>
      <p:grpSp>
        <p:nvGrpSpPr>
          <p:cNvPr id="3" name="Group 52"/>
          <p:cNvGrpSpPr/>
          <p:nvPr/>
        </p:nvGrpSpPr>
        <p:grpSpPr>
          <a:xfrm>
            <a:off x="4083055" y="333375"/>
            <a:ext cx="4665663" cy="461963"/>
            <a:chOff x="1248" y="179"/>
            <a:chExt cx="2939" cy="291"/>
          </a:xfrm>
        </p:grpSpPr>
        <p:sp>
          <p:nvSpPr>
            <p:cNvPr id="14364" name="Text Box 33"/>
            <p:cNvSpPr txBox="1"/>
            <p:nvPr/>
          </p:nvSpPr>
          <p:spPr>
            <a:xfrm>
              <a:off x="1248" y="179"/>
              <a:ext cx="2939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GND CAS Do A6  A3 A4 A5  A7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365" name="Line 34"/>
            <p:cNvSpPr/>
            <p:nvPr/>
          </p:nvSpPr>
          <p:spPr>
            <a:xfrm flipV="1">
              <a:off x="1703" y="232"/>
              <a:ext cx="288" cy="0"/>
            </a:xfrm>
            <a:prstGeom prst="line">
              <a:avLst/>
            </a:prstGeom>
            <a:ln w="1905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0515" name="Text Box 35"/>
          <p:cNvSpPr txBox="1"/>
          <p:nvPr/>
        </p:nvSpPr>
        <p:spPr>
          <a:xfrm>
            <a:off x="1663707" y="4356872"/>
            <a:ext cx="15398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A7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524" name="Line 44"/>
          <p:cNvSpPr/>
          <p:nvPr/>
        </p:nvSpPr>
        <p:spPr>
          <a:xfrm>
            <a:off x="1117596" y="5010671"/>
            <a:ext cx="431800" cy="0"/>
          </a:xfrm>
          <a:prstGeom prst="line">
            <a:avLst/>
          </a:prstGeom>
          <a:ln w="28575" cap="sq" cmpd="sng">
            <a:solidFill>
              <a:srgbClr val="FFFF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55"/>
          <p:cNvGrpSpPr/>
          <p:nvPr/>
        </p:nvGrpSpPr>
        <p:grpSpPr>
          <a:xfrm>
            <a:off x="3321055" y="2146302"/>
            <a:ext cx="5427663" cy="461963"/>
            <a:chOff x="768" y="1273"/>
            <a:chExt cx="3419" cy="291"/>
          </a:xfrm>
        </p:grpSpPr>
        <p:sp>
          <p:nvSpPr>
            <p:cNvPr id="14361" name="Text Box 30"/>
            <p:cNvSpPr txBox="1"/>
            <p:nvPr/>
          </p:nvSpPr>
          <p:spPr>
            <a:xfrm>
              <a:off x="768" y="1273"/>
              <a:ext cx="3419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空闲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/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刷新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Di WE RAS A0 A2 A1 Vcc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362" name="Line 31"/>
            <p:cNvSpPr/>
            <p:nvPr/>
          </p:nvSpPr>
          <p:spPr>
            <a:xfrm>
              <a:off x="2392" y="1326"/>
              <a:ext cx="240" cy="0"/>
            </a:xfrm>
            <a:prstGeom prst="line">
              <a:avLst/>
            </a:prstGeom>
            <a:ln w="1905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63" name="Line 54"/>
            <p:cNvSpPr/>
            <p:nvPr/>
          </p:nvSpPr>
          <p:spPr>
            <a:xfrm>
              <a:off x="2087" y="1324"/>
              <a:ext cx="181" cy="0"/>
            </a:xfrm>
            <a:prstGeom prst="line">
              <a:avLst/>
            </a:prstGeom>
            <a:ln w="1905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0536" name="Text Box 56"/>
          <p:cNvSpPr txBox="1"/>
          <p:nvPr/>
        </p:nvSpPr>
        <p:spPr>
          <a:xfrm>
            <a:off x="2916239" y="4356872"/>
            <a:ext cx="49530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分时复用，可提供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16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位地址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540" name="Text Box 60"/>
          <p:cNvSpPr txBox="1"/>
          <p:nvPr/>
        </p:nvSpPr>
        <p:spPr>
          <a:xfrm>
            <a:off x="228596" y="5472637"/>
            <a:ext cx="35814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CAS=0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541" name="Line 61"/>
          <p:cNvSpPr/>
          <p:nvPr/>
        </p:nvSpPr>
        <p:spPr>
          <a:xfrm>
            <a:off x="1117596" y="5550421"/>
            <a:ext cx="431800" cy="0"/>
          </a:xfrm>
          <a:prstGeom prst="line">
            <a:avLst/>
          </a:prstGeom>
          <a:ln w="28575" cap="sq" cmpd="sng">
            <a:solidFill>
              <a:srgbClr val="FFFF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542" name="Text Box 62"/>
          <p:cNvSpPr txBox="1"/>
          <p:nvPr/>
        </p:nvSpPr>
        <p:spPr>
          <a:xfrm>
            <a:off x="2484439" y="4939238"/>
            <a:ext cx="4465637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行地址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即高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545" name="Text Box 65"/>
          <p:cNvSpPr txBox="1"/>
          <p:nvPr/>
        </p:nvSpPr>
        <p:spPr>
          <a:xfrm>
            <a:off x="2473322" y="5466289"/>
            <a:ext cx="4548188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列地址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即低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9" name="Text Box 2"/>
          <p:cNvSpPr txBox="1"/>
          <p:nvPr/>
        </p:nvSpPr>
        <p:spPr>
          <a:xfrm>
            <a:off x="250825" y="260351"/>
            <a:ext cx="3505200" cy="107721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.SRAM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与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DRAM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存储芯片区别</a:t>
            </a:r>
          </a:p>
        </p:txBody>
      </p:sp>
      <p:sp>
        <p:nvSpPr>
          <p:cNvPr id="52" name="Text Box 38"/>
          <p:cNvSpPr txBox="1"/>
          <p:nvPr/>
        </p:nvSpPr>
        <p:spPr>
          <a:xfrm>
            <a:off x="228601" y="6050485"/>
            <a:ext cx="204152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动态刷新：</a:t>
            </a:r>
          </a:p>
        </p:txBody>
      </p:sp>
      <p:sp>
        <p:nvSpPr>
          <p:cNvPr id="18455" name="矩形 52"/>
          <p:cNvSpPr/>
          <p:nvPr/>
        </p:nvSpPr>
        <p:spPr>
          <a:xfrm>
            <a:off x="1957389" y="6031438"/>
            <a:ext cx="6421437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行选信号送达，即可实现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自动刷新；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60" name="灯片编号占位符 4"/>
          <p:cNvSpPr txBox="1">
            <a:spLocks noGrp="1"/>
          </p:cNvSpPr>
          <p:nvPr>
            <p:ph type="sldNum" sz="quarter" idx="10"/>
          </p:nvPr>
        </p:nvSpPr>
        <p:spPr/>
        <p:txBody>
          <a:bodyPr vert="horz" wrap="square" lIns="92075" tIns="46039" rIns="92075" bIns="46039" numCol="1" anchor="ctr" anchorCtr="0" compatLnSpc="1"/>
          <a:lstStyle>
            <a:lvl1pPr marL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189" lvl="1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377" lvl="2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566" lvl="3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754" lvl="4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pPr marL="0" marR="0" lvl="0" indent="0" algn="r" defTabSz="9143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/28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6ED47F-1FE3-B5C0-E138-4B805C3B0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548" y="2627210"/>
            <a:ext cx="3960440" cy="181827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D4C98AE-33AF-5805-5F89-649669B6FC54}"/>
              </a:ext>
            </a:extLst>
          </p:cNvPr>
          <p:cNvSpPr txBox="1"/>
          <p:nvPr/>
        </p:nvSpPr>
        <p:spPr>
          <a:xfrm>
            <a:off x="2116139" y="1075919"/>
            <a:ext cx="19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DRAM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6BB289-19EF-B4E4-1238-82A484A3619F}"/>
              </a:ext>
            </a:extLst>
          </p:cNvPr>
          <p:cNvSpPr txBox="1"/>
          <p:nvPr/>
        </p:nvSpPr>
        <p:spPr>
          <a:xfrm>
            <a:off x="2838452" y="3298058"/>
            <a:ext cx="19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SRAM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2438059"/>
      </p:ext>
    </p:extLst>
  </p:cSld>
  <p:clrMapOvr>
    <a:masterClrMapping/>
  </p:clrMapOvr>
  <p:transition spd="med">
    <p:pull dir="l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" y="1117835"/>
            <a:ext cx="1084421" cy="450056"/>
          </a:xfrm>
          <a:custGeom>
            <a:avLst/>
            <a:gdLst/>
            <a:ahLst/>
            <a:cxnLst/>
            <a:rect l="l" t="t" r="r" b="b"/>
            <a:pathLst>
              <a:path w="1445895" h="600075">
                <a:moveTo>
                  <a:pt x="1298067" y="0"/>
                </a:moveTo>
                <a:lnTo>
                  <a:pt x="0" y="0"/>
                </a:lnTo>
                <a:lnTo>
                  <a:pt x="0" y="599592"/>
                </a:lnTo>
                <a:lnTo>
                  <a:pt x="1298067" y="599592"/>
                </a:lnTo>
                <a:lnTo>
                  <a:pt x="1298067" y="0"/>
                </a:lnTo>
                <a:close/>
              </a:path>
              <a:path w="1445895" h="600075">
                <a:moveTo>
                  <a:pt x="1445399" y="0"/>
                </a:moveTo>
                <a:lnTo>
                  <a:pt x="1341501" y="0"/>
                </a:lnTo>
                <a:lnTo>
                  <a:pt x="1341501" y="599592"/>
                </a:lnTo>
                <a:lnTo>
                  <a:pt x="1445399" y="599592"/>
                </a:lnTo>
                <a:lnTo>
                  <a:pt x="1445399" y="0"/>
                </a:lnTo>
                <a:close/>
              </a:path>
            </a:pathLst>
          </a:custGeom>
          <a:solidFill>
            <a:srgbClr val="214E88"/>
          </a:solidFill>
        </p:spPr>
        <p:txBody>
          <a:bodyPr wrap="square" lIns="0" tIns="0" rIns="0" bIns="0" rtlCol="0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sz="1350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127" name="标题 1"/>
          <p:cNvSpPr>
            <a:spLocks noGrp="1"/>
          </p:cNvSpPr>
          <p:nvPr>
            <p:ph type="title"/>
          </p:nvPr>
        </p:nvSpPr>
        <p:spPr>
          <a:xfrm>
            <a:off x="1161742" y="1117793"/>
            <a:ext cx="4958858" cy="463231"/>
          </a:xfrm>
        </p:spPr>
        <p:txBody>
          <a:bodyPr>
            <a:normAutofit/>
          </a:bodyPr>
          <a:lstStyle/>
          <a:p>
            <a:r>
              <a:rPr lang="en-US" altLang="zh-CN" dirty="0"/>
              <a:t>SRAM</a:t>
            </a:r>
            <a:r>
              <a:rPr dirty="0"/>
              <a:t>与</a:t>
            </a:r>
            <a:r>
              <a:rPr lang="en-US" altLang="zh-CN" dirty="0"/>
              <a:t>DRAM</a:t>
            </a:r>
            <a:r>
              <a:rPr dirty="0"/>
              <a:t>之间的比较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94849" y="1814036"/>
            <a:ext cx="3581876" cy="360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2425" defTabSz="685800" fontAlgn="auto">
              <a:spcBef>
                <a:spcPts val="593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FF0000"/>
                </a:solidFill>
                <a:latin typeface="Arial"/>
                <a:ea typeface="微软雅黑"/>
              </a:rPr>
              <a:t>SRAM</a:t>
            </a:r>
          </a:p>
          <a:p>
            <a:pPr marL="566738" indent="-214313" defTabSz="685800" fontAlgn="auto">
              <a:spcBef>
                <a:spcPts val="593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以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双稳态触发内部交叉反馈电路</a:t>
            </a:r>
            <a:r>
              <a:rPr sz="18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为基本存储单元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；</a:t>
            </a:r>
          </a:p>
          <a:p>
            <a:pPr marL="566738" indent="-214313" defTabSz="685800" fontAlgn="auto">
              <a:spcBef>
                <a:spcPts val="593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由片选信号对芯片进行访问</a:t>
            </a:r>
          </a:p>
          <a:p>
            <a:pPr marL="566738" indent="-214313" defTabSz="685800" fontAlgn="auto">
              <a:spcBef>
                <a:spcPts val="593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可与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CPU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直接相连</a:t>
            </a:r>
          </a:p>
          <a:p>
            <a:pPr marL="566738" indent="-214313" defTabSz="685800" fontAlgn="auto">
              <a:spcBef>
                <a:spcPts val="593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不</a:t>
            </a:r>
            <a:r>
              <a:rPr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需要额外的刷新电路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；</a:t>
            </a:r>
            <a:r>
              <a:rPr sz="1800" spc="382" dirty="0">
                <a:solidFill>
                  <a:srgbClr val="5B9BD4"/>
                </a:solidFill>
                <a:latin typeface="Microsoft Sans Serif" panose="020B0604020202020204"/>
                <a:ea typeface="微软雅黑"/>
                <a:cs typeface="Microsoft Sans Serif" panose="020B0604020202020204"/>
                <a:sym typeface="+mn-ea"/>
              </a:rPr>
              <a:t> </a:t>
            </a:r>
          </a:p>
          <a:p>
            <a:pPr marL="566738" indent="-214313" defTabSz="685800" fontAlgn="auto">
              <a:spcBef>
                <a:spcPts val="593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速度快，但集成度低，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功耗和价格较高</a:t>
            </a:r>
          </a:p>
          <a:p>
            <a:pPr marL="566738" indent="-214313" defTabSz="685800" fontAlgn="auto">
              <a:spcBef>
                <a:spcPts val="593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通常用做小容量的高速缓冲存储器。</a:t>
            </a:r>
            <a:endParaRPr sz="1800" dirty="0">
              <a:solidFill>
                <a:srgbClr val="000000"/>
              </a:solidFill>
              <a:latin typeface="微软雅黑" panose="020B0503020204020204" pitchFamily="34" charset="-122"/>
              <a:ea typeface="微软雅黑"/>
              <a:cs typeface="微软雅黑" panose="020B0503020204020204" pitchFamily="34" charset="-122"/>
              <a:sym typeface="+mn-ea"/>
            </a:endParaRPr>
          </a:p>
          <a:p>
            <a:pPr marL="567214" marR="3810" indent="-215265" defTabSz="685800" fontAlgn="auto">
              <a:lnSpc>
                <a:spcPts val="1433"/>
              </a:lnSpc>
              <a:spcBef>
                <a:spcPts val="806"/>
              </a:spcBef>
              <a:spcAft>
                <a:spcPts val="0"/>
              </a:spcAft>
            </a:pPr>
            <a:r>
              <a:rPr sz="1350" spc="2153" dirty="0">
                <a:solidFill>
                  <a:srgbClr val="5B9BD4"/>
                </a:solidFill>
                <a:latin typeface="Microsoft Sans Serif" panose="020B0604020202020204"/>
                <a:ea typeface="微软雅黑"/>
                <a:cs typeface="Microsoft Sans Serif" panose="020B0604020202020204"/>
                <a:sym typeface="+mn-ea"/>
              </a:rPr>
              <a:t></a:t>
            </a:r>
            <a:r>
              <a:rPr sz="1350" spc="382" dirty="0">
                <a:solidFill>
                  <a:srgbClr val="5B9BD4"/>
                </a:solidFill>
                <a:latin typeface="Microsoft Sans Serif" panose="020B0604020202020204"/>
                <a:ea typeface="微软雅黑"/>
                <a:cs typeface="Microsoft Sans Serif" panose="020B0604020202020204"/>
                <a:sym typeface="+mn-ea"/>
              </a:rPr>
              <a:t> </a:t>
            </a:r>
            <a:endParaRPr lang="zh-CN" altLang="en-US" sz="1350" dirty="0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60119" y="1037749"/>
            <a:ext cx="3581876" cy="5557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2425" defTabSz="685800" fontAlgn="auto">
              <a:spcBef>
                <a:spcPts val="593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FF0000"/>
                </a:solidFill>
                <a:latin typeface="Arial"/>
                <a:ea typeface="微软雅黑"/>
              </a:rPr>
              <a:t>DRAM</a:t>
            </a:r>
          </a:p>
          <a:p>
            <a:pPr marL="626269" indent="-214313" defTabSz="685800" fontAlgn="auto">
              <a:spcBef>
                <a:spcPts val="593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以单个</a:t>
            </a:r>
            <a:r>
              <a:rPr sz="1800" spc="-4" dirty="0">
                <a:solidFill>
                  <a:srgbClr val="000000"/>
                </a:solidFill>
                <a:latin typeface="Calibri" panose="020F0502020204030204"/>
                <a:ea typeface="微软雅黑"/>
                <a:cs typeface="Calibri" panose="020F0502020204030204"/>
                <a:sym typeface="+mn-ea"/>
              </a:rPr>
              <a:t>MOS</a:t>
            </a:r>
            <a:r>
              <a:rPr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管为基本存储单元</a:t>
            </a:r>
          </a:p>
          <a:p>
            <a:pPr marL="626269" indent="-214313" defTabSz="685800" fontAlgn="auto">
              <a:spcBef>
                <a:spcPts val="593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没有片选信号，由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RAS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CAS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控制对芯片的访问</a:t>
            </a:r>
          </a:p>
          <a:p>
            <a:pPr marL="626269" indent="-214313" defTabSz="685800" fontAlgn="auto">
              <a:spcBef>
                <a:spcPts val="593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一般不直接与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CPU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相连，通过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DRAM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控制器与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CPU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连接</a:t>
            </a:r>
            <a:endParaRPr sz="1800" dirty="0">
              <a:solidFill>
                <a:srgbClr val="000000"/>
              </a:solidFill>
              <a:latin typeface="微软雅黑" panose="020B0503020204020204" pitchFamily="34" charset="-122"/>
              <a:ea typeface="微软雅黑"/>
              <a:cs typeface="微软雅黑" panose="020B0503020204020204" pitchFamily="34" charset="-122"/>
              <a:sym typeface="+mn-ea"/>
            </a:endParaRPr>
          </a:p>
          <a:p>
            <a:pPr marL="626269" indent="-214313" defTabSz="685800" fontAlgn="auto">
              <a:spcBef>
                <a:spcPts val="593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sz="1800" spc="-4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要</a:t>
            </a:r>
            <a:r>
              <a:rPr lang="zh-CN" altLang="en-US" sz="1800" spc="-4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不</a:t>
            </a:r>
            <a:r>
              <a:rPr sz="1800" spc="-4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断进行刷新</a:t>
            </a:r>
            <a:r>
              <a:rPr sz="1800" spc="-8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（</a:t>
            </a:r>
            <a:r>
              <a:rPr sz="1800" spc="-8" dirty="0">
                <a:solidFill>
                  <a:srgbClr val="000000"/>
                </a:solidFill>
                <a:latin typeface="Calibri" panose="020F0502020204030204"/>
                <a:ea typeface="微软雅黑"/>
                <a:cs typeface="Calibri" panose="020F0502020204030204"/>
                <a:sym typeface="+mn-ea"/>
              </a:rPr>
              <a:t>Refresh</a:t>
            </a:r>
            <a:r>
              <a:rPr sz="1800" spc="-8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）</a:t>
            </a:r>
            <a:r>
              <a:rPr sz="1800" spc="-4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操作</a:t>
            </a:r>
            <a:r>
              <a:rPr lang="en-US" sz="1800" spc="-4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800" spc="-4" dirty="0">
                <a:solidFill>
                  <a:srgbClr val="FF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读操作也有刷新功能区别于写，只需要给出行地址</a:t>
            </a:r>
            <a:r>
              <a:rPr lang="zh-CN" altLang="en-US" sz="1800" spc="-4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。</a:t>
            </a:r>
          </a:p>
          <a:p>
            <a:pPr marL="411956" defTabSz="685800" fontAlgn="auto">
              <a:spcBef>
                <a:spcPts val="593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5B76B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刷新地址由刷新地址计数器而非</a:t>
            </a:r>
            <a:r>
              <a:rPr lang="en-US" altLang="zh-CN" sz="1800" dirty="0">
                <a:solidFill>
                  <a:srgbClr val="5B76B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CPU</a:t>
            </a:r>
            <a:r>
              <a:rPr lang="zh-CN" altLang="en-US" sz="1800" dirty="0">
                <a:solidFill>
                  <a:srgbClr val="5B76B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</a:rPr>
              <a:t>给出</a:t>
            </a:r>
            <a:endParaRPr sz="1800" dirty="0">
              <a:solidFill>
                <a:srgbClr val="000000"/>
              </a:solidFill>
              <a:latin typeface="微软雅黑" panose="020B0503020204020204" pitchFamily="34" charset="-122"/>
              <a:ea typeface="微软雅黑"/>
              <a:cs typeface="微软雅黑" panose="020B0503020204020204" pitchFamily="34" charset="-122"/>
            </a:endParaRPr>
          </a:p>
          <a:p>
            <a:pPr marL="566738" indent="-214313" defTabSz="685800" fontAlgn="auto">
              <a:spcBef>
                <a:spcPts val="593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集成度高、价格低、功耗小，但速度比SRAM慢</a:t>
            </a:r>
          </a:p>
          <a:p>
            <a:pPr marL="626745" marR="182404" indent="-215265" defTabSz="685800" fontAlgn="auto">
              <a:lnSpc>
                <a:spcPts val="1433"/>
              </a:lnSpc>
              <a:spcBef>
                <a:spcPts val="814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通常用做主存</a:t>
            </a:r>
            <a:endParaRPr sz="1800" dirty="0">
              <a:solidFill>
                <a:srgbClr val="000000"/>
              </a:solidFill>
              <a:latin typeface="微软雅黑" panose="020B0503020204020204" pitchFamily="34" charset="-122"/>
              <a:ea typeface="微软雅黑"/>
              <a:cs typeface="微软雅黑" panose="020B0503020204020204" pitchFamily="34" charset="-122"/>
            </a:endParaRPr>
          </a:p>
          <a:p>
            <a:pPr marL="352425" defTabSz="685800" fontAlgn="auto">
              <a:spcBef>
                <a:spcPts val="593"/>
              </a:spcBef>
              <a:spcAft>
                <a:spcPts val="0"/>
              </a:spcAft>
            </a:pPr>
            <a:endParaRPr sz="1350" dirty="0">
              <a:solidFill>
                <a:srgbClr val="000000"/>
              </a:solidFill>
              <a:latin typeface="微软雅黑" panose="020B0503020204020204" pitchFamily="34" charset="-122"/>
              <a:ea typeface="微软雅黑"/>
              <a:cs typeface="微软雅黑" panose="020B0503020204020204" pitchFamily="34" charset="-122"/>
              <a:sym typeface="+mn-ea"/>
            </a:endParaRPr>
          </a:p>
          <a:p>
            <a:pPr marL="567214" marR="3810" indent="-215265" defTabSz="685800" fontAlgn="auto">
              <a:lnSpc>
                <a:spcPts val="1433"/>
              </a:lnSpc>
              <a:spcBef>
                <a:spcPts val="806"/>
              </a:spcBef>
              <a:spcAft>
                <a:spcPts val="0"/>
              </a:spcAft>
            </a:pPr>
            <a:r>
              <a:rPr sz="1350" spc="2153" dirty="0">
                <a:solidFill>
                  <a:srgbClr val="5B9BD4"/>
                </a:solidFill>
                <a:latin typeface="Microsoft Sans Serif" panose="020B0604020202020204"/>
                <a:ea typeface="微软雅黑"/>
                <a:cs typeface="Microsoft Sans Serif" panose="020B0604020202020204"/>
                <a:sym typeface="+mn-ea"/>
              </a:rPr>
              <a:t></a:t>
            </a:r>
            <a:r>
              <a:rPr sz="1350" spc="382" dirty="0">
                <a:solidFill>
                  <a:srgbClr val="5B9BD4"/>
                </a:solidFill>
                <a:latin typeface="Microsoft Sans Serif" panose="020B0604020202020204"/>
                <a:ea typeface="微软雅黑"/>
                <a:cs typeface="Microsoft Sans Serif" panose="020B0604020202020204"/>
                <a:sym typeface="+mn-ea"/>
              </a:rPr>
              <a:t> </a:t>
            </a:r>
            <a:endParaRPr lang="zh-CN" altLang="en-US" sz="1350" dirty="0">
              <a:solidFill>
                <a:srgbClr val="000000"/>
              </a:solidFill>
              <a:latin typeface="Arial"/>
              <a:ea typeface="微软雅黑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练习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2886" y="1571625"/>
            <a:ext cx="8408670" cy="404145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100" dirty="0"/>
              <a:t>1  </a:t>
            </a:r>
            <a:r>
              <a:rPr sz="2100" dirty="0"/>
              <a:t>一个</a:t>
            </a:r>
            <a:r>
              <a:rPr lang="en-US" altLang="zh-CN" sz="2100" dirty="0"/>
              <a:t>16K*4</a:t>
            </a:r>
            <a:r>
              <a:rPr sz="2100" dirty="0"/>
              <a:t>位的</a:t>
            </a:r>
            <a:r>
              <a:rPr lang="en-US" altLang="zh-CN" sz="2100" dirty="0"/>
              <a:t>DRAM</a:t>
            </a:r>
            <a:r>
              <a:rPr sz="2100" dirty="0"/>
              <a:t>的芯片，其地址引脚和数据引脚各为（）</a:t>
            </a:r>
          </a:p>
          <a:p>
            <a:pPr marL="0" indent="0">
              <a:buNone/>
            </a:pPr>
            <a:r>
              <a:rPr lang="en-US" altLang="zh-CN" sz="2100" dirty="0"/>
              <a:t>A  14</a:t>
            </a:r>
            <a:r>
              <a:rPr sz="2100" dirty="0"/>
              <a:t>、</a:t>
            </a:r>
            <a:r>
              <a:rPr lang="en-US" altLang="zh-CN" sz="2100" dirty="0"/>
              <a:t>1  B 7</a:t>
            </a:r>
            <a:r>
              <a:rPr sz="2100" dirty="0"/>
              <a:t>、</a:t>
            </a:r>
            <a:r>
              <a:rPr lang="en-US" altLang="zh-CN" sz="2100" dirty="0"/>
              <a:t>1 C 7</a:t>
            </a:r>
            <a:r>
              <a:rPr sz="2100" dirty="0"/>
              <a:t>、</a:t>
            </a:r>
            <a:r>
              <a:rPr lang="en-US" altLang="zh-CN" sz="2100" dirty="0"/>
              <a:t>4  D 14</a:t>
            </a:r>
            <a:r>
              <a:rPr sz="2100" dirty="0"/>
              <a:t>、</a:t>
            </a:r>
            <a:r>
              <a:rPr lang="en-US" altLang="zh-CN" sz="2100" dirty="0"/>
              <a:t>4</a:t>
            </a:r>
          </a:p>
          <a:p>
            <a:pPr marL="0" indent="0">
              <a:buNone/>
            </a:pPr>
            <a:r>
              <a:rPr lang="en-US" altLang="zh-CN" sz="2100" dirty="0"/>
              <a:t>2  </a:t>
            </a:r>
            <a:r>
              <a:rPr sz="2100" dirty="0"/>
              <a:t>动态存储器的刷新中，刷新一块芯片所需的刷新周期数由（  ）决定。 </a:t>
            </a:r>
          </a:p>
          <a:p>
            <a:pPr marL="0" indent="0">
              <a:buNone/>
            </a:pPr>
            <a:r>
              <a:rPr sz="2100" dirty="0"/>
              <a:t>A．芯片矩阵的行数和列数			B．芯片矩阵的列数</a:t>
            </a:r>
          </a:p>
          <a:p>
            <a:pPr marL="0" indent="0">
              <a:buNone/>
            </a:pPr>
            <a:r>
              <a:rPr sz="2100" dirty="0"/>
              <a:t>C．芯片矩阵的行数				D．以上都不对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874896" y="2108835"/>
            <a:ext cx="319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>
                <a:solidFill>
                  <a:srgbClr val="FF0000"/>
                </a:solidFill>
                <a:latin typeface="Arial"/>
                <a:ea typeface="微软雅黑"/>
              </a:rPr>
              <a:t> </a:t>
            </a:r>
            <a:r>
              <a:rPr lang="zh-CN" altLang="en-US" sz="1800">
                <a:solidFill>
                  <a:srgbClr val="FF0000"/>
                </a:solidFill>
                <a:latin typeface="Arial"/>
                <a:ea typeface="微软雅黑"/>
              </a:rPr>
              <a:t>复用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152197" y="2141220"/>
            <a:ext cx="130968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srgbClr val="000000"/>
                </a:solidFill>
                <a:latin typeface="Arial"/>
                <a:ea typeface="微软雅黑"/>
              </a:rPr>
              <a:t> C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055043" y="3176111"/>
            <a:ext cx="18192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>
                <a:solidFill>
                  <a:srgbClr val="000000"/>
                </a:solidFill>
                <a:latin typeface="Arial"/>
                <a:ea typeface="微软雅黑"/>
              </a:rPr>
              <a:t>C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练习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2886" y="1571625"/>
            <a:ext cx="8408670" cy="404145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altLang="zh-CN" sz="6750" dirty="0"/>
              <a:t>3  </a:t>
            </a:r>
            <a:r>
              <a:rPr sz="6750" dirty="0"/>
              <a:t>下列导致</a:t>
            </a:r>
            <a:r>
              <a:rPr lang="en-US" altLang="zh-CN" sz="6750" dirty="0"/>
              <a:t>DRAM</a:t>
            </a:r>
            <a:r>
              <a:rPr sz="6750" dirty="0"/>
              <a:t>比</a:t>
            </a:r>
            <a:r>
              <a:rPr lang="en-US" altLang="zh-CN" sz="6750" dirty="0"/>
              <a:t>SRAM</a:t>
            </a:r>
            <a:r>
              <a:rPr sz="6750" dirty="0"/>
              <a:t>慢的原因是（）多选</a:t>
            </a:r>
          </a:p>
          <a:p>
            <a:pPr marL="0" indent="0">
              <a:buNone/>
            </a:pPr>
            <a:r>
              <a:rPr lang="en-US" altLang="zh-CN" sz="6750" dirty="0"/>
              <a:t>A  DRAM</a:t>
            </a:r>
            <a:r>
              <a:rPr sz="6750" dirty="0"/>
              <a:t>需要刷新操作</a:t>
            </a:r>
            <a:r>
              <a:rPr lang="en-US" altLang="zh-CN" sz="6750" dirty="0"/>
              <a:t> </a:t>
            </a:r>
          </a:p>
          <a:p>
            <a:pPr marL="0" indent="0">
              <a:buNone/>
            </a:pPr>
            <a:r>
              <a:rPr lang="en-US" altLang="zh-CN" sz="6750" dirty="0"/>
              <a:t> B DRAM</a:t>
            </a:r>
            <a:r>
              <a:rPr sz="6750" dirty="0"/>
              <a:t>读写过程中其地址分行、列分时传送</a:t>
            </a:r>
          </a:p>
          <a:p>
            <a:pPr marL="0" indent="0">
              <a:buNone/>
            </a:pPr>
            <a:r>
              <a:rPr lang="en-US" altLang="zh-CN" sz="6750" dirty="0"/>
              <a:t>C </a:t>
            </a:r>
            <a:r>
              <a:rPr sz="6750" dirty="0"/>
              <a:t>读操作前先进行预充操作</a:t>
            </a:r>
          </a:p>
          <a:p>
            <a:pPr marL="0" indent="0">
              <a:buNone/>
            </a:pPr>
            <a:r>
              <a:rPr lang="en-US" altLang="zh-CN" sz="6750" dirty="0"/>
              <a:t>D DRAM </a:t>
            </a:r>
            <a:r>
              <a:rPr sz="6750" dirty="0"/>
              <a:t>的容量比</a:t>
            </a:r>
            <a:r>
              <a:rPr lang="en-US" altLang="zh-CN" sz="6750" dirty="0"/>
              <a:t>SRAM</a:t>
            </a:r>
            <a:r>
              <a:rPr sz="6750" dirty="0"/>
              <a:t>容量大</a:t>
            </a:r>
          </a:p>
          <a:p>
            <a:pPr marL="0" indent="0">
              <a:buNone/>
            </a:pPr>
            <a:r>
              <a:rPr lang="en-US" altLang="zh-CN" sz="6750" dirty="0"/>
              <a:t>4 </a:t>
            </a:r>
            <a:r>
              <a:rPr sz="6750" dirty="0"/>
              <a:t>下列关于</a:t>
            </a:r>
            <a:r>
              <a:rPr lang="en-US" altLang="zh-CN" sz="6750" dirty="0"/>
              <a:t>DRAM</a:t>
            </a:r>
            <a:r>
              <a:rPr sz="6750" dirty="0"/>
              <a:t>刷新的描述中，正确的是（）</a:t>
            </a:r>
            <a:br>
              <a:rPr sz="6750" dirty="0"/>
            </a:br>
            <a:r>
              <a:rPr lang="en-US" altLang="zh-CN" sz="6750" dirty="0"/>
              <a:t>A </a:t>
            </a:r>
            <a:r>
              <a:rPr sz="6750" dirty="0"/>
              <a:t>刷新地址可</a:t>
            </a:r>
            <a:r>
              <a:rPr lang="zh-CN" altLang="en-US" sz="6750" dirty="0"/>
              <a:t>由</a:t>
            </a:r>
            <a:r>
              <a:rPr lang="en-US" altLang="zh-CN" sz="6750" dirty="0"/>
              <a:t>CPU</a:t>
            </a:r>
            <a:r>
              <a:rPr sz="6750" dirty="0"/>
              <a:t>给出</a:t>
            </a:r>
          </a:p>
          <a:p>
            <a:pPr marL="0" indent="0">
              <a:buNone/>
            </a:pPr>
            <a:r>
              <a:rPr lang="en-US" altLang="zh-CN" sz="6750" dirty="0"/>
              <a:t>B </a:t>
            </a:r>
            <a:r>
              <a:rPr sz="6750" dirty="0"/>
              <a:t>集中刷新虽然保持了存储体的高速特性，但存在死时间</a:t>
            </a:r>
          </a:p>
          <a:p>
            <a:pPr marL="0" indent="0">
              <a:buNone/>
            </a:pPr>
            <a:r>
              <a:rPr lang="en-US" altLang="zh-CN" sz="6750" dirty="0"/>
              <a:t>C </a:t>
            </a:r>
            <a:r>
              <a:rPr sz="6750" dirty="0"/>
              <a:t>异步刷新方式既保持了高速特性，也不存在死时间</a:t>
            </a:r>
          </a:p>
          <a:p>
            <a:pPr marL="0" indent="0">
              <a:buNone/>
            </a:pPr>
            <a:r>
              <a:rPr lang="en-US" altLang="zh-CN" sz="6750" dirty="0"/>
              <a:t>D </a:t>
            </a:r>
            <a:r>
              <a:rPr sz="6750" dirty="0"/>
              <a:t>分散刷新由于刷新次数过多，大大降低了存储体的性能</a:t>
            </a:r>
            <a:endParaRPr lang="en-US" altLang="zh-CN" sz="6750" dirty="0"/>
          </a:p>
          <a:p>
            <a:pPr marL="0" indent="0">
              <a:buNone/>
            </a:pPr>
            <a:r>
              <a:rPr lang="en-US" altLang="zh-CN" sz="2100" dirty="0"/>
              <a:t> </a:t>
            </a:r>
            <a:endParaRPr sz="2100" dirty="0"/>
          </a:p>
        </p:txBody>
      </p:sp>
      <p:sp>
        <p:nvSpPr>
          <p:cNvPr id="3" name="文本框 2"/>
          <p:cNvSpPr txBox="1"/>
          <p:nvPr/>
        </p:nvSpPr>
        <p:spPr>
          <a:xfrm>
            <a:off x="6774656" y="1647825"/>
            <a:ext cx="16573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>
                <a:solidFill>
                  <a:srgbClr val="000000"/>
                </a:solidFill>
                <a:latin typeface="Arial"/>
                <a:ea typeface="微软雅黑"/>
              </a:rPr>
              <a:t>ABC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80247" y="3669030"/>
            <a:ext cx="275701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>
                <a:solidFill>
                  <a:srgbClr val="000000"/>
                </a:solidFill>
                <a:latin typeface="Arial"/>
                <a:ea typeface="微软雅黑"/>
              </a:rPr>
              <a:t> B C D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练习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2886" y="1571625"/>
            <a:ext cx="8408670" cy="4041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927"/>
              <a:t>5  </a:t>
            </a:r>
            <a:r>
              <a:rPr sz="1927"/>
              <a:t>下列关于动态存储器的描述中，正确的是（）多选</a:t>
            </a:r>
          </a:p>
          <a:p>
            <a:pPr marL="0" indent="0">
              <a:buNone/>
            </a:pPr>
            <a:r>
              <a:rPr lang="en-US" altLang="zh-CN" sz="1927"/>
              <a:t>A  </a:t>
            </a:r>
            <a:r>
              <a:rPr sz="1927"/>
              <a:t>读操作也具有刷新功能</a:t>
            </a:r>
            <a:r>
              <a:rPr lang="en-US" altLang="zh-CN" sz="1927"/>
              <a:t> </a:t>
            </a:r>
          </a:p>
          <a:p>
            <a:pPr marL="0" indent="0">
              <a:buNone/>
            </a:pPr>
            <a:r>
              <a:rPr lang="en-US" altLang="zh-CN" sz="1927"/>
              <a:t> B DRAM</a:t>
            </a:r>
            <a:r>
              <a:rPr sz="1927"/>
              <a:t>比相同工艺的</a:t>
            </a:r>
            <a:r>
              <a:rPr lang="en-US" altLang="zh-CN" sz="1927"/>
              <a:t>SRAM</a:t>
            </a:r>
            <a:r>
              <a:rPr sz="1927"/>
              <a:t>要慢</a:t>
            </a:r>
          </a:p>
          <a:p>
            <a:pPr marL="0" indent="0">
              <a:buNone/>
            </a:pPr>
            <a:r>
              <a:rPr lang="en-US" altLang="zh-CN" sz="1927"/>
              <a:t>C </a:t>
            </a:r>
            <a:r>
              <a:rPr sz="1927"/>
              <a:t>根据</a:t>
            </a:r>
            <a:r>
              <a:rPr lang="en-US" altLang="zh-CN" sz="1927"/>
              <a:t>DRAM</a:t>
            </a:r>
            <a:r>
              <a:rPr sz="1927"/>
              <a:t>的工作原理可知，相同容量的</a:t>
            </a:r>
            <a:r>
              <a:rPr lang="en-US" altLang="zh-CN" sz="1927"/>
              <a:t>DRAM</a:t>
            </a:r>
            <a:r>
              <a:rPr sz="1927"/>
              <a:t>比</a:t>
            </a:r>
            <a:r>
              <a:rPr lang="en-US" altLang="zh-CN" sz="1927"/>
              <a:t>SRAM</a:t>
            </a:r>
            <a:r>
              <a:rPr sz="1927"/>
              <a:t>功耗低</a:t>
            </a:r>
          </a:p>
          <a:p>
            <a:pPr marL="0" indent="0">
              <a:buNone/>
            </a:pPr>
            <a:r>
              <a:rPr lang="en-US" altLang="zh-CN" sz="1927"/>
              <a:t>D </a:t>
            </a:r>
            <a:r>
              <a:rPr sz="1927"/>
              <a:t>某</a:t>
            </a:r>
            <a:r>
              <a:rPr lang="en-US" altLang="zh-CN" sz="1927"/>
              <a:t>DRAM</a:t>
            </a:r>
            <a:r>
              <a:rPr sz="1927"/>
              <a:t>芯片的地址引脚数据为</a:t>
            </a:r>
            <a:r>
              <a:rPr lang="en-US" altLang="zh-CN" sz="1927"/>
              <a:t>12</a:t>
            </a:r>
            <a:r>
              <a:rPr sz="1927"/>
              <a:t>根，则其容量为</a:t>
            </a:r>
            <a:r>
              <a:rPr lang="en-US" altLang="zh-CN" sz="1927"/>
              <a:t>16M</a:t>
            </a:r>
            <a:endParaRPr sz="1927"/>
          </a:p>
          <a:p>
            <a:pPr marL="0" indent="0">
              <a:buNone/>
            </a:pPr>
            <a:r>
              <a:rPr lang="en-US" altLang="zh-CN" sz="2100"/>
              <a:t> </a:t>
            </a:r>
            <a:endParaRPr sz="2100"/>
          </a:p>
        </p:txBody>
      </p:sp>
      <p:sp>
        <p:nvSpPr>
          <p:cNvPr id="3" name="文本框 2"/>
          <p:cNvSpPr txBox="1"/>
          <p:nvPr/>
        </p:nvSpPr>
        <p:spPr>
          <a:xfrm>
            <a:off x="6774656" y="1647825"/>
            <a:ext cx="16573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>
                <a:solidFill>
                  <a:srgbClr val="000000"/>
                </a:solidFill>
                <a:latin typeface="Arial"/>
                <a:ea typeface="微软雅黑"/>
              </a:rPr>
              <a:t>ABCD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46847" y="4000500"/>
            <a:ext cx="574833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>
                <a:solidFill>
                  <a:srgbClr val="000000"/>
                </a:solidFill>
                <a:latin typeface="Arial"/>
                <a:ea typeface="微软雅黑"/>
              </a:rPr>
              <a:t>2^24 = 2^20 *2 ^4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64f69b7-29f0-4ecc-97e4-bcf949f328dd"/>
  <p:tag name="COMMONDATA" val="eyJoZGlkIjoiZDVkZjUyYzk3YmYzZmRlZTdiNzFlYmE0MmMzZTU4Mz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55_5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7044dc747e3ea6e29298be"/>
  <p:tag name="KSO_WM_UNIT_DEC_AREA_ID" val="82f49833d9a84d2985f3d25207e2913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24a0d187da64066874d4bae4848a226"/>
  <p:tag name="KSO_WM_SLIDE_BACKGROUND_TYPE" val="frame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112fc1f8060847819930bc8077fab74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116410c75e1449e97d2434b8ddf3b3e"/>
  <p:tag name="KSO_WM_SLIDE_BACKGROUND_TYPE" val="fram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b30ab966bd9e43ddb72b91142afe252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d73a7d5e39549be9e77d568f6492e83"/>
  <p:tag name="KSO_WM_SLIDE_BACKGROUND_TYPE" val="fram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445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445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0445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v"/>
  <p:tag name="KSO_WM_UNIT_TYPE" val="i"/>
  <p:tag name="KSO_WM_UNIT_INDEX" val="1"/>
  <p:tag name="KSO_WM_UNIT_ID" val="chip20211355_1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4"/>
  <p:tag name="KSO_WM_UNIT_DEC_AREA_ID" val="5f6008a586ff4786adc67017207b65ea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972fbd752b84ed6a2603e17a12276c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输入你的副标题，文字是您思想的提炼，为了最终演示发布的良好效果，请尽量言简意赅的阐述观点。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1355_1*b*1"/>
  <p:tag name="KSO_WM_TEMPLATE_CATEGORY" val="custom"/>
  <p:tag name="KSO_WM_TEMPLATE_INDEX" val="20211355"/>
  <p:tag name="KSO_WM_UNIT_LAYERLEVEL" val="1"/>
  <p:tag name="KSO_WM_TAG_VERSION" val="1.0"/>
  <p:tag name="KSO_WM_BEAUTIFY_FLAG" val="#wm#"/>
  <p:tag name="KSO_WM_UNIT_DEFAULT_FONT" val="16;10;2"/>
  <p:tag name="KSO_WM_UNIT_BLOCK" val="0"/>
  <p:tag name="KSO_WM_UNIT_DEC_AREA_ID" val="aec45aecc8864af2b183dd34ea1f58d8"/>
  <p:tag name="KSO_WM_CHIP_GROUPID" val="5ebd0de20ac41c4a0a525463"/>
  <p:tag name="KSO_WM_CHIP_XID" val="5ebd0de20ac41c4a0a525464"/>
  <p:tag name="KSO_WM_CHIP_FILLAREA_FILL_RULE" val="{&quot;fill_align&quot;:&quot;cm&quot;,&quot;fill_mode&quot;:&quot;adaptive&quot;,&quot;sacle_strategy&quot;:&quot;smart&quot;}"/>
  <p:tag name="KSO_WM_ASSEMBLE_CHIP_INDEX" val="e8a89307eb7d48178958a8700591d92e"/>
  <p:tag name="KSO_WM_UNIT_TEXT_FILL_FORE_SCHEMECOLOR_INDEX_BRIGHTNESS" val="0.35"/>
  <p:tag name="KSO_WM_UNIT_TEXT_FILL_FORE_SCHEMECOLOR_INDEX" val="13"/>
  <p:tag name="KSO_WM_UNIT_TEXT_FILL_TYPE" val="1"/>
  <p:tag name="KSO_WM_TEMPLATE_ASSEMBLE_XID" val="5f714a810ff15d9a40ec752b"/>
  <p:tag name="KSO_WM_TEMPLATE_ASSEMBLE_GROUPID" val="5f714a810ff15d9a40ec752b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编辑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1355_1*a*1"/>
  <p:tag name="KSO_WM_TEMPLATE_CATEGORY" val="custom"/>
  <p:tag name="KSO_WM_TEMPLATE_INDEX" val="20211355"/>
  <p:tag name="KSO_WM_UNIT_LAYERLEVEL" val="1"/>
  <p:tag name="KSO_WM_TAG_VERSION" val="1.0"/>
  <p:tag name="KSO_WM_BEAUTIFY_FLAG" val="#wm#"/>
  <p:tag name="KSO_WM_UNIT_DEFAULT_FONT" val="54;56;4"/>
  <p:tag name="KSO_WM_UNIT_BLOCK" val="0"/>
  <p:tag name="KSO_WM_UNIT_DEC_AREA_ID" val="33e367644d5a4e68bb40d58f61fbc8cf"/>
  <p:tag name="KSO_WM_CHIP_GROUPID" val="5ebd0de20ac41c4a0a525463"/>
  <p:tag name="KSO_WM_CHIP_XID" val="5ebd0de20ac41c4a0a525464"/>
  <p:tag name="KSO_WM_CHIP_FILLAREA_FILL_RULE" val="{&quot;fill_align&quot;:&quot;cm&quot;,&quot;fill_mode&quot;:&quot;adaptive&quot;,&quot;sacle_strategy&quot;:&quot;smart&quot;}"/>
  <p:tag name="KSO_WM_ASSEMBLE_CHIP_INDEX" val="e8a89307eb7d48178958a8700591d92e"/>
  <p:tag name="KSO_WM_UNIT_TEXT_FILL_FORE_SCHEMECOLOR_INDEX_BRIGHTNESS" val="0.15"/>
  <p:tag name="KSO_WM_UNIT_TEXT_FILL_FORE_SCHEMECOLOR_INDEX" val="13"/>
  <p:tag name="KSO_WM_UNIT_TEXT_FILL_TYPE" val="1"/>
  <p:tag name="KSO_WM_TEMPLATE_ASSEMBLE_XID" val="5f714a810ff15d9a40ec752b"/>
  <p:tag name="KSO_WM_TEMPLATE_ASSEMBLE_GROUPID" val="5f714a810ff15d9a40ec752b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11355_2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5"/>
  <p:tag name="KSO_WM_UNIT_DEC_AREA_ID" val="c32723f0b6984421b47b1beac3acb48c"/>
  <p:tag name="KSO_WM_UNIT_DECORATE_INFO" val=""/>
  <p:tag name="KSO_WM_UNIT_SM_LIMIT_TYPE" val=""/>
  <p:tag name="KSO_WM_CHIP_FILLAREA_FILL_RULE" val="{&quot;fill_align&quot;:&quot;lm&quot;,&quot;fill_effect&quot;:[],&quot;fill_mode&quot;:&quot;adaptive&quot;,&quot;sacle_strategy&quot;:&quot;stretch&quot;}"/>
  <p:tag name="KSO_WM_ASSEMBLE_CHIP_INDEX" val="bb88f69971564273a4de4932d800808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1e9c99c01968456cafb1f5ee3755dbc2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2779f1a240e404db1e908117f55dfe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7412e208e7864a44b0f30a3771049977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a345750efb3408db4b3d4841002372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1355_1*a*1"/>
  <p:tag name="KSO_WM_TEMPLATE_CATEGORY" val="custom"/>
  <p:tag name="KSO_WM_TEMPLATE_INDEX" val="20211355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28;2"/>
  <p:tag name="KSO_WM_UNIT_BLOCK" val="0"/>
  <p:tag name="KSO_WM_UNIT_DEC_AREA_ID" val="84bb25aa7d9a4ea088a9390b0f37baa1"/>
  <p:tag name="KSO_WM_CHIP_GROUPID" val="5ebe54990ac41c4a0a525673"/>
  <p:tag name="KSO_WM_CHIP_XID" val="5ebe54990ac41c4a0a525674"/>
  <p:tag name="KSO_WM_CHIP_FILLAREA_FILL_RULE" val="{&quot;fill_align&quot;:&quot;cm&quot;,&quot;fill_mode&quot;:&quot;adaptive&quot;,&quot;sacle_strategy&quot;:&quot;smart&quot;}"/>
  <p:tag name="KSO_WM_ASSEMBLE_CHIP_INDEX" val="c2fbc275beb0452d853e130f3137699c"/>
  <p:tag name="KSO_WM_UNIT_TEXT_FILL_FORE_SCHEMECOLOR_INDEX_BRIGHTNESS" val="0.15"/>
  <p:tag name="KSO_WM_UNIT_TEXT_FILL_FORE_SCHEMECOLOR_INDEX" val="13"/>
  <p:tag name="KSO_WM_UNIT_TEXT_FILL_TYPE" val="1"/>
  <p:tag name="KSO_WM_TEMPLATE_ASSEMBLE_XID" val="5f714a810ff15d9a40ec7519"/>
  <p:tag name="KSO_WM_TEMPLATE_ASSEMBLE_GROUPID" val="5f714a810ff15d9a40ec751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32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1355_1*b*1"/>
  <p:tag name="KSO_WM_TEMPLATE_CATEGORY" val="custom"/>
  <p:tag name="KSO_WM_TEMPLATE_INDEX" val="20211355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。"/>
  <p:tag name="KSO_WM_UNIT_DEFAULT_FONT" val="14;16;2"/>
  <p:tag name="KSO_WM_UNIT_BLOCK" val="0"/>
  <p:tag name="KSO_WM_UNIT_DEC_AREA_ID" val="02907749a7d24be8954a1f8d09ebdeed"/>
  <p:tag name="KSO_WM_CHIP_GROUPID" val="5ebe54990ac41c4a0a525673"/>
  <p:tag name="KSO_WM_CHIP_XID" val="5ebe54990ac41c4a0a525674"/>
  <p:tag name="KSO_WM_CHIP_FILLAREA_FILL_RULE" val="{&quot;fill_align&quot;:&quot;cm&quot;,&quot;fill_mode&quot;:&quot;adaptive&quot;,&quot;sacle_strategy&quot;:&quot;smart&quot;}"/>
  <p:tag name="KSO_WM_ASSEMBLE_CHIP_INDEX" val="c2fbc275beb0452d853e130f3137699c"/>
  <p:tag name="KSO_WM_UNIT_TEXT_FILL_FORE_SCHEMECOLOR_INDEX_BRIGHTNESS" val="0.35"/>
  <p:tag name="KSO_WM_UNIT_TEXT_FILL_FORE_SCHEMECOLOR_INDEX" val="13"/>
  <p:tag name="KSO_WM_UNIT_TEXT_FILL_TYPE" val="1"/>
  <p:tag name="KSO_WM_TEMPLATE_ASSEMBLE_XID" val="5f714a810ff15d9a40ec7519"/>
  <p:tag name="KSO_WM_TEMPLATE_ASSEMBLE_GROUPID" val="5f714a810ff15d9a40ec751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11355_2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5"/>
  <p:tag name="KSO_WM_UNIT_DEC_AREA_ID" val="0827c79e1f4b43aca7e2ccf83b8a0769"/>
  <p:tag name="KSO_WM_UNIT_DECORATE_INFO" val=""/>
  <p:tag name="KSO_WM_UNIT_SM_LIMIT_TYPE" val=""/>
  <p:tag name="KSO_WM_CHIP_FILLAREA_FILL_RULE" val="{&quot;fill_align&quot;:&quot;rm&quot;,&quot;fill_effect&quot;:[],&quot;fill_mode&quot;:&quot;adaptive&quot;,&quot;sacle_strategy&quot;:&quot;stretch&quot;}"/>
  <p:tag name="KSO_WM_ASSEMBLE_CHIP_INDEX" val="b2916089d8b347e890e01ccd2ce7a8ef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6075a6437fa24c3a9b694b97cbbd93b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e2996593bf44ea38a96024d435c175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v"/>
  <p:tag name="KSO_WM_UNIT_TYPE" val="i"/>
  <p:tag name="KSO_WM_UNIT_INDEX" val="1"/>
  <p:tag name="KSO_WM_UNIT_ID" val="chip20211355_1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4"/>
  <p:tag name="KSO_WM_UNIT_DEC_AREA_ID" val="5f6008a586ff4786adc67017207b65ea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972fbd752b84ed6a2603e17a12276c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1355_1*b*1"/>
  <p:tag name="KSO_WM_TEMPLATE_CATEGORY" val="custom"/>
  <p:tag name="KSO_WM_TEMPLATE_INDEX" val="20211355"/>
  <p:tag name="KSO_WM_UNIT_LAYERLEVEL" val="1"/>
  <p:tag name="KSO_WM_TAG_VERSION" val="1.0"/>
  <p:tag name="KSO_WM_BEAUTIFY_FLAG" val="#wm#"/>
  <p:tag name="KSO_WM_UNIT_PRESET_TEXT" val="单击此处输入你的副标题，文字是您思想的提炼，为了最终演示发布的良好效果，请尽量言简意赅的阐述观点。"/>
  <p:tag name="KSO_WM_UNIT_DEFAULT_FONT" val="18;24;2"/>
  <p:tag name="KSO_WM_UNIT_BLOCK" val="0"/>
  <p:tag name="KSO_WM_UNIT_DEC_AREA_ID" val="823482a891f347f396e49f07d78358f5"/>
  <p:tag name="KSO_WM_CHIP_GROUPID" val="5ebe3be80ac41c4a0a525608"/>
  <p:tag name="KSO_WM_CHIP_XID" val="5ebe3be80ac41c4a0a525609"/>
  <p:tag name="KSO_WM_CHIP_FILLAREA_FILL_RULE" val="{&quot;fill_align&quot;:&quot;cm&quot;,&quot;fill_mode&quot;:&quot;adaptive&quot;,&quot;sacle_strategy&quot;:&quot;smart&quot;}"/>
  <p:tag name="KSO_WM_ASSEMBLE_CHIP_INDEX" val="62a259a7dfda423ba532b1721ac90a87"/>
  <p:tag name="KSO_WM_UNIT_TEXT_FILL_FORE_SCHEMECOLOR_INDEX_BRIGHTNESS" val="0.35"/>
  <p:tag name="KSO_WM_UNIT_TEXT_FILL_FORE_SCHEMECOLOR_INDEX" val="13"/>
  <p:tag name="KSO_WM_UNIT_TEXT_FILL_TYPE" val="1"/>
  <p:tag name="KSO_WM_TEMPLATE_ASSEMBLE_XID" val="5f714a810ff15d9a40ec7535"/>
  <p:tag name="KSO_WM_TEMPLATE_ASSEMBLE_GROUPID" val="5f714a810ff15d9a40ec753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1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1355_1*a*1"/>
  <p:tag name="KSO_WM_TEMPLATE_CATEGORY" val="custom"/>
  <p:tag name="KSO_WM_TEMPLATE_INDEX" val="20211355"/>
  <p:tag name="KSO_WM_UNIT_LAYERLEVEL" val="1"/>
  <p:tag name="KSO_WM_TAG_VERSION" val="1.0"/>
  <p:tag name="KSO_WM_BEAUTIFY_FLAG" val="#wm#"/>
  <p:tag name="KSO_WM_UNIT_PRESET_TEXT" val="谢谢观看"/>
  <p:tag name="KSO_WM_UNIT_DEFAULT_FONT" val="60;81;4"/>
  <p:tag name="KSO_WM_UNIT_BLOCK" val="0"/>
  <p:tag name="KSO_WM_UNIT_DEC_AREA_ID" val="4665f2db3246499eb976ffe571a5a253"/>
  <p:tag name="KSO_WM_CHIP_GROUPID" val="5ebe3be80ac41c4a0a525608"/>
  <p:tag name="KSO_WM_CHIP_XID" val="5ebe3be80ac41c4a0a525609"/>
  <p:tag name="KSO_WM_CHIP_FILLAREA_FILL_RULE" val="{&quot;fill_align&quot;:&quot;cm&quot;,&quot;fill_mode&quot;:&quot;adaptive&quot;,&quot;sacle_strategy&quot;:&quot;smart&quot;}"/>
  <p:tag name="KSO_WM_ASSEMBLE_CHIP_INDEX" val="62a259a7dfda423ba532b1721ac90a87"/>
  <p:tag name="KSO_WM_UNIT_TEXT_FILL_FORE_SCHEMECOLOR_INDEX_BRIGHTNESS" val="0.15"/>
  <p:tag name="KSO_WM_UNIT_TEXT_FILL_FORE_SCHEMECOLOR_INDEX" val="13"/>
  <p:tag name="KSO_WM_UNIT_TEXT_FILL_TYPE" val="1"/>
  <p:tag name="KSO_WM_TEMPLATE_ASSEMBLE_XID" val="5f714a810ff15d9a40ec7535"/>
  <p:tag name="KSO_WM_TEMPLATE_ASSEMBLE_GROUPID" val="5f714a810ff15d9a40ec753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  <p:tag name="KSO_WM_SLIDE_BACKGROUND_TYPE" val="genera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  <p:tag name="KSO_WM_SLIDE_BACKGROUND_TYPE" val="genera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55_5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7044dc747e3ea6e29298be"/>
  <p:tag name="KSO_WM_UNIT_DEC_AREA_ID" val="82f49833d9a84d2985f3d25207e2913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24a0d187da64066874d4bae4848a226"/>
  <p:tag name="KSO_WM_SLIDE_BACKGROUND_TYPE" val="frame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112fc1f8060847819930bc8077fab74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116410c75e1449e97d2434b8ddf3b3e"/>
  <p:tag name="KSO_WM_SLIDE_BACKGROUND_TYPE" val="fram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b30ab966bd9e43ddb72b91142afe252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d73a7d5e39549be9e77d568f6492e83"/>
  <p:tag name="KSO_WM_SLIDE_BACKGROUND_TYPE" val="fram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55_5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7044dc747e3ea6e29298be"/>
  <p:tag name="KSO_WM_UNIT_DEC_AREA_ID" val="3f8f72abe4ee496e8ad85896621480a7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7a1f9bdf50443ebb751a81ea326f69c"/>
  <p:tag name="KSO_WM_SLIDE_BACKGROUND_TYPE" val="leftRight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758af241ca849818345b4bd5b9779e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51e4a34844e4459942d7e2432b27543"/>
  <p:tag name="KSO_WM_SLIDE_BACKGROUND_TYPE" val="leftRight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8c951b0d609942e29586b91a2fab9b9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65fc9192c894d318f66ce5608421b2c"/>
  <p:tag name="KSO_WM_SLIDE_BACKGROUND_TYPE" val="leftRigh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55_5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7044dc747e3ea6e29298be"/>
  <p:tag name="KSO_WM_UNIT_DEC_AREA_ID" val="2bcecdcdff56476294f08bb9e51c13f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24fe4af9b75403e905fa81f3b83dd4e"/>
  <p:tag name="KSO_WM_SLIDE_BACKGROUND_TYPE" val="topBottom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c26f3334461049c7889063e37976d93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8ae3cbb68c24ab1b8af28187b2c17e6"/>
  <p:tag name="KSO_WM_SLIDE_BACKGROUND_TYPE" val="topBotto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024a6c71e41f4193ba73b580beafa58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bd933f86858460a852b66d3d65e584e"/>
  <p:tag name="KSO_WM_SLIDE_BACKGROUND_TYPE" val="topBotto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55_5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7044dc747e3ea6e29298be"/>
  <p:tag name="KSO_WM_UNIT_DEC_AREA_ID" val="e8300527d6a64c35ba36e2a79112c0a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fb727456598647c48791e00bd4f7e7a0"/>
  <p:tag name="KSO_WM_SLIDE_BACKGROUND_TYPE" val="bottomTop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1990470ed59e4dcebbc56132677df7d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beff72a8d5840b19e9fa0f94d23a511"/>
  <p:tag name="KSO_WM_SLIDE_BACKGROUND_TYPE" val="bottomTop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f4c4fbf55912466485f5312adc6d03f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1c530caba244aacb08bea3aff20d142"/>
  <p:tag name="KSO_WM_SLIDE_BACKGROUND_TYPE" val="bottomTop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55_5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7044dc747e3ea6e29298be"/>
  <p:tag name="KSO_WM_UNIT_DEC_AREA_ID" val="80ca6d318e3240ccaa98fa643abe5e3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0f221b13611546aaa5c684f9b7cd752c"/>
  <p:tag name="KSO_WM_SLIDE_BACKGROUND_TYPE" val="navigation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531cc98499f7408e99f5b49673247612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722984d829f4f30bed6a9a4ecc2fe84"/>
  <p:tag name="KSO_WM_SLIDE_BACKGROUND_TYPE" val="navigation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be244b1ec7d44188aa1c7b830ce58c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abddefe6cf4a5db6b5a6592f132041"/>
  <p:tag name="KSO_WM_SLIDE_BACKGROUND_TYPE" val="navigation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55_5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7044dc747e3ea6e29298be"/>
  <p:tag name="KSO_WM_UNIT_DEC_AREA_ID" val="bb4af57210324164838eb6a1986cbc0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c39f263b89bb4b10b492e0831219f407"/>
  <p:tag name="KSO_WM_SLIDE_BACKGROUND_TYPE" val="belt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46519929efde4183a45b00239abefd9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376948fb2e447198f8062d94fecfb03"/>
  <p:tag name="KSO_WM_SLIDE_BACKGROUND_TYPE" val="bel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1189e229691a414a9cdfaedbcd9d6737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7e9756bda7d4ab793f17c0cb47e397b"/>
  <p:tag name="KSO_WM_SLIDE_BACKGROUND_TYPE" val="bel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445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4453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4453"/>
</p:tagLst>
</file>

<file path=ppt/theme/theme1.xml><?xml version="1.0" encoding="utf-8"?>
<a:theme xmlns:a="http://schemas.openxmlformats.org/drawingml/2006/main" name="2计算机组成原理-2(1)">
  <a:themeElements>
    <a:clrScheme name="2计算机组成原理-2(1)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2计算机组成原理-2(1)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计算机组成原理-2(1)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计算机组成原理-2(1)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计算机组成原理-2(1)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计算机组成原理-2(1)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计算机组成原理-2(1)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2计算机组成原理-2(1)">
  <a:themeElements>
    <a:clrScheme name="2计算机组成原理-2(1)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2计算机组成原理-2(1)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计算机组成原理-2(1)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计算机组成原理-2(1)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计算机组成原理-2(1)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计算机组成原理-2(1)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计算机组成原理-2(1)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ffice 主题​​">
  <a:themeElements>
    <a:clrScheme name="Adjacency">
      <a:dk1>
        <a:srgbClr val="000000"/>
      </a:dk1>
      <a:lt1>
        <a:srgbClr val="FFFFFF"/>
      </a:lt1>
      <a:dk2>
        <a:srgbClr val="ECEDEF"/>
      </a:dk2>
      <a:lt2>
        <a:srgbClr val="FCFCFD"/>
      </a:lt2>
      <a:accent1>
        <a:srgbClr val="5B76B2"/>
      </a:accent1>
      <a:accent2>
        <a:srgbClr val="3B829F"/>
      </a:accent2>
      <a:accent3>
        <a:srgbClr val="408574"/>
      </a:accent3>
      <a:accent4>
        <a:srgbClr val="617F52"/>
      </a:accent4>
      <a:accent5>
        <a:srgbClr val="8F7349"/>
      </a:accent5>
      <a:accent6>
        <a:srgbClr val="B16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233</TotalTime>
  <Words>2283</Words>
  <Application>Microsoft Office PowerPoint</Application>
  <PresentationFormat>全屏显示(4:3)</PresentationFormat>
  <Paragraphs>417</Paragraphs>
  <Slides>34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宋体</vt:lpstr>
      <vt:lpstr>Arial</vt:lpstr>
      <vt:lpstr>Calibri</vt:lpstr>
      <vt:lpstr>Microsoft Sans Serif</vt:lpstr>
      <vt:lpstr>Segoe UI</vt:lpstr>
      <vt:lpstr>Times New Roman</vt:lpstr>
      <vt:lpstr>Wingdings</vt:lpstr>
      <vt:lpstr>等线</vt:lpstr>
      <vt:lpstr>黑体</vt:lpstr>
      <vt:lpstr>微软雅黑</vt:lpstr>
      <vt:lpstr>2计算机组成原理-2(1)</vt:lpstr>
      <vt:lpstr>1_2计算机组成原理-2(1)</vt:lpstr>
      <vt:lpstr>2_Office 主题​​</vt:lpstr>
      <vt:lpstr>PowerPoint 演示文稿</vt:lpstr>
      <vt:lpstr>PowerPoint 演示文稿</vt:lpstr>
      <vt:lpstr>引入</vt:lpstr>
      <vt:lpstr>4.2.1 静态MOS存储单元与芯片</vt:lpstr>
      <vt:lpstr>4.2.1 静态MOS存储器SRAM</vt:lpstr>
      <vt:lpstr>PowerPoint 演示文稿</vt:lpstr>
      <vt:lpstr>PowerPoint 演示文稿</vt:lpstr>
      <vt:lpstr>补充知识点：</vt:lpstr>
      <vt:lpstr>PowerPoint 演示文稿</vt:lpstr>
      <vt:lpstr>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4.2.2 动态MOS存储器（DRAM）</vt:lpstr>
      <vt:lpstr>4.2.2 动态MOS存储器（DRAM）</vt:lpstr>
      <vt:lpstr>4.2.2 动态MOS存储器（DRAM）</vt:lpstr>
      <vt:lpstr>4.2.2  动态MOS存储器</vt:lpstr>
      <vt:lpstr>PowerPoint 演示文稿</vt:lpstr>
      <vt:lpstr>PowerPoint 演示文稿</vt:lpstr>
      <vt:lpstr>SRAM与DRAM之间的比较</vt:lpstr>
      <vt:lpstr>练习</vt:lpstr>
      <vt:lpstr>练习</vt:lpstr>
      <vt:lpstr>练习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001</dc:creator>
  <cp:lastModifiedBy>l w</cp:lastModifiedBy>
  <cp:revision>844</cp:revision>
  <dcterms:created xsi:type="dcterms:W3CDTF">2000-12-02T08:16:00Z</dcterms:created>
  <dcterms:modified xsi:type="dcterms:W3CDTF">2024-05-18T03:17:33Z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49AC0CD393AB41EC884F67A3109F790B</vt:lpwstr>
  </property>
  <property fmtid="{D5CDD505-2E9C-101B-9397-08002B2CF9AE}" pid="3" name="KSOProductBuildVer">
    <vt:lpwstr>2052-11.1.0.12165</vt:lpwstr>
  </property>
</Properties>
</file>