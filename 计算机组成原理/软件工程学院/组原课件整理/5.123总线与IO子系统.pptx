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3"/>
  </p:sldMasterIdLst>
  <p:notesMasterIdLst>
    <p:notesMasterId r:id="rId10"/>
  </p:notesMasterIdLst>
  <p:handoutMasterIdLst>
    <p:handoutMasterId r:id="rId35"/>
  </p:handoutMasterIdLst>
  <p:sldIdLst>
    <p:sldId id="256" r:id="rId4"/>
    <p:sldId id="273" r:id="rId5"/>
    <p:sldId id="260" r:id="rId6"/>
    <p:sldId id="259" r:id="rId7"/>
    <p:sldId id="257" r:id="rId8"/>
    <p:sldId id="261" r:id="rId9"/>
    <p:sldId id="317" r:id="rId11"/>
    <p:sldId id="318" r:id="rId12"/>
    <p:sldId id="319" r:id="rId13"/>
    <p:sldId id="320" r:id="rId14"/>
    <p:sldId id="321" r:id="rId15"/>
    <p:sldId id="322" r:id="rId16"/>
    <p:sldId id="323" r:id="rId17"/>
    <p:sldId id="324" r:id="rId18"/>
    <p:sldId id="325" r:id="rId19"/>
    <p:sldId id="326" r:id="rId20"/>
    <p:sldId id="327" r:id="rId21"/>
    <p:sldId id="328" r:id="rId22"/>
    <p:sldId id="329" r:id="rId23"/>
    <p:sldId id="330" r:id="rId24"/>
    <p:sldId id="331" r:id="rId25"/>
    <p:sldId id="332" r:id="rId26"/>
    <p:sldId id="333" r:id="rId27"/>
    <p:sldId id="334" r:id="rId28"/>
    <p:sldId id="340" r:id="rId29"/>
    <p:sldId id="341" r:id="rId30"/>
    <p:sldId id="342" r:id="rId31"/>
    <p:sldId id="343" r:id="rId32"/>
    <p:sldId id="344" r:id="rId33"/>
    <p:sldId id="345" r:id="rId34"/>
  </p:sldIdLst>
  <p:sldSz cx="9144000" cy="6858000" type="screen4x3"/>
  <p:notesSz cx="6858000" cy="9144000"/>
  <p:custDataLst>
    <p:tags r:id="rId39"/>
  </p:custDataLst>
  <p:defaultTextStyle>
    <a:defPPr>
      <a:defRPr lang="zh-CN"/>
    </a:defPPr>
    <a:lvl1pPr marL="0" lvl="0" indent="0" algn="l" defTabSz="914400" rtl="0" eaLnBrk="0" fontAlgn="base" latinLnBrk="0" hangingPunct="0">
      <a:lnSpc>
        <a:spcPct val="100000"/>
      </a:lnSpc>
      <a:spcBef>
        <a:spcPct val="0"/>
      </a:spcBef>
      <a:spcAft>
        <a:spcPct val="0"/>
      </a:spcAft>
      <a:buNone/>
      <a:defRPr sz="3200" b="1" i="0" u="none" kern="1200" baseline="0">
        <a:solidFill>
          <a:schemeClr val="bg1"/>
        </a:solidFill>
        <a:latin typeface="宋体" panose="02010600030101010101" pitchFamily="2" charset="-122"/>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3200" b="1" i="0" u="none" kern="1200" baseline="0">
        <a:solidFill>
          <a:schemeClr val="bg1"/>
        </a:solidFill>
        <a:latin typeface="宋体" panose="02010600030101010101" pitchFamily="2" charset="-122"/>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3200" b="1" i="0" u="none" kern="1200" baseline="0">
        <a:solidFill>
          <a:schemeClr val="bg1"/>
        </a:solidFill>
        <a:latin typeface="宋体" panose="02010600030101010101" pitchFamily="2" charset="-122"/>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3200" b="1" i="0" u="none" kern="1200" baseline="0">
        <a:solidFill>
          <a:schemeClr val="bg1"/>
        </a:solidFill>
        <a:latin typeface="宋体" panose="02010600030101010101" pitchFamily="2" charset="-122"/>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3200" b="1" i="0" u="none" kern="1200" baseline="0">
        <a:solidFill>
          <a:schemeClr val="bg1"/>
        </a:solidFill>
        <a:latin typeface="宋体" panose="02010600030101010101" pitchFamily="2" charset="-122"/>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3200" b="1" i="0" u="none" kern="1200" baseline="0">
        <a:solidFill>
          <a:schemeClr val="bg1"/>
        </a:solidFill>
        <a:latin typeface="宋体" panose="02010600030101010101" pitchFamily="2" charset="-122"/>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3200" b="1" i="0" u="none" kern="1200" baseline="0">
        <a:solidFill>
          <a:schemeClr val="bg1"/>
        </a:solidFill>
        <a:latin typeface="宋体" panose="02010600030101010101" pitchFamily="2" charset="-122"/>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3200" b="1" i="0" u="none" kern="1200" baseline="0">
        <a:solidFill>
          <a:schemeClr val="bg1"/>
        </a:solidFill>
        <a:latin typeface="宋体" panose="02010600030101010101" pitchFamily="2" charset="-122"/>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3200" b="1" i="0" u="none" kern="1200" baseline="0">
        <a:solidFill>
          <a:schemeClr val="bg1"/>
        </a:solidFill>
        <a:latin typeface="宋体" panose="02010600030101010101" pitchFamily="2" charset="-122"/>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FFFF00"/>
    <a:srgbClr val="6699FF"/>
    <a:srgbClr val="CCFF66"/>
    <a:srgbClr val="FFFFCC"/>
    <a:srgbClr val="FF00FF"/>
    <a:srgbClr val="FF3300"/>
    <a:srgbClr val="99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70"/>
    <p:restoredTop sz="92210"/>
  </p:normalViewPr>
  <p:slideViewPr>
    <p:cSldViewPr showGuides="1">
      <p:cViewPr varScale="1">
        <p:scale>
          <a:sx n="62" d="100"/>
          <a:sy n="62" d="100"/>
        </p:scale>
        <p:origin x="1400" y="12"/>
      </p:cViewPr>
      <p:guideLst>
        <p:guide orient="horz" pos="2841"/>
        <p:guide pos="216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9" Type="http://schemas.openxmlformats.org/officeDocument/2006/relationships/tags" Target="tags/tag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handoutMaster" Target="handoutMasters/handoutMaster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algn="l">
              <a:defRPr sz="1200" b="0">
                <a:solidFill>
                  <a:schemeClr val="tx1"/>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dt" sz="quarter"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a:defRPr sz="1200" b="0">
                <a:solidFill>
                  <a:schemeClr val="tx1"/>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ChangeArrowheads="1"/>
          </p:cNvSpPr>
          <p:nvPr>
            <p:ph type="ftr" sz="quarter" idx="2"/>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algn="l">
              <a:defRPr sz="1200" b="0">
                <a:solidFill>
                  <a:schemeClr val="tx1"/>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p>
            <a:pPr lvl="0" algn="r" eaLnBrk="1" hangingPunct="1"/>
            <a:fld id="{9A0DB2DC-4C9A-4742-B13C-FB6460FD3503}" type="slidenum">
              <a:rPr lang="en-US" altLang="zh-CN" sz="1200" b="0" dirty="0">
                <a:solidFill>
                  <a:schemeClr val="tx1"/>
                </a:solidFill>
                <a:latin typeface="Times New Roman" panose="02020603050405020304" pitchFamily="18" charset="0"/>
              </a:rPr>
            </a:fld>
            <a:endParaRPr lang="en-US" altLang="zh-CN" sz="1200" b="0" dirty="0">
              <a:solidFill>
                <a:schemeClr val="tx1"/>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algn="l">
              <a:defRPr sz="1200" b="0">
                <a:solidFill>
                  <a:schemeClr val="tx1"/>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a:defRPr sz="1200" b="0">
                <a:solidFill>
                  <a:schemeClr val="tx1"/>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2" name="Rectangle 4"/>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053" name="Rectangle 5"/>
          <p:cNvSpPr>
            <a:spLocks noGrp="1" noChangeArrowheads="1"/>
          </p:cNvSpPr>
          <p:nvPr>
            <p:ph type="body" sz="quarter" idx="3"/>
          </p:nvPr>
        </p:nvSpPr>
        <p:spPr bwMode="auto">
          <a:xfrm>
            <a:off x="914400" y="4343400"/>
            <a:ext cx="5029200" cy="4114800"/>
          </a:xfrm>
          <a:prstGeom prst="rect">
            <a:avLst/>
          </a:prstGeom>
          <a:noFill/>
          <a:ln w="9525">
            <a:noFill/>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单击以编辑母版文本样式</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4" name="Rectangle 6"/>
          <p:cNvSpPr>
            <a:spLocks noGrp="1" noChangeArrowheads="1"/>
          </p:cNvSpPr>
          <p:nvPr>
            <p:ph type="ftr" sz="quarter" idx="4"/>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algn="l">
              <a:defRPr sz="1200" b="0">
                <a:solidFill>
                  <a:schemeClr val="tx1"/>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p>
            <a:pPr lvl="0" algn="r" eaLnBrk="1" hangingPunct="1"/>
            <a:fld id="{9A0DB2DC-4C9A-4742-B13C-FB6460FD3503}" type="slidenum">
              <a:rPr lang="en-US" altLang="zh-CN" sz="1200" b="0" dirty="0">
                <a:solidFill>
                  <a:schemeClr val="tx1"/>
                </a:solidFill>
                <a:latin typeface="Times New Roman" panose="02020603050405020304" pitchFamily="18" charset="0"/>
              </a:rPr>
            </a:fld>
            <a:endParaRPr lang="en-US" altLang="zh-CN" sz="1200" b="0" dirty="0">
              <a:solidFill>
                <a:schemeClr val="tx1"/>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dirty="0">
                <a:solidFill>
                  <a:srgbClr val="FFFF00"/>
                </a:solidFill>
                <a:latin typeface="Calibri" panose="020F0502020204030204" pitchFamily="34" charset="0"/>
                <a:ea typeface="黑体" panose="02010609060101010101" pitchFamily="2" charset="-122"/>
                <a:sym typeface="+mn-ea"/>
              </a:rPr>
              <a:t>DMI:</a:t>
            </a:r>
            <a:r>
              <a:rPr lang="zh-CN" altLang="en-US"/>
              <a:t>直接媒体接口</a:t>
            </a:r>
            <a:endParaRPr lang="zh-CN" altLang="en-US"/>
          </a:p>
          <a:p>
            <a:r>
              <a:rPr lang="en-US" altLang="zh-CN" dirty="0">
                <a:solidFill>
                  <a:srgbClr val="FFFF00"/>
                </a:solidFill>
                <a:latin typeface="Calibri" panose="020F0502020204030204" pitchFamily="34" charset="0"/>
                <a:ea typeface="黑体" panose="02010609060101010101" pitchFamily="2" charset="-122"/>
                <a:sym typeface="+mn-ea"/>
              </a:rPr>
              <a:t>QPI:快速通道互联</a:t>
            </a:r>
            <a:endParaRPr lang="en-US" altLang="zh-CN" dirty="0">
              <a:solidFill>
                <a:srgbClr val="FFFF00"/>
              </a:solidFill>
              <a:latin typeface="Calibri" panose="020F0502020204030204" pitchFamily="34" charset="0"/>
              <a:ea typeface="黑体" panose="02010609060101010101" pitchFamily="2" charset="-122"/>
              <a:sym typeface="+mn-ea"/>
            </a:endParaRPr>
          </a:p>
          <a:p>
            <a:endParaRPr lang="en-US" altLang="zh-CN" dirty="0">
              <a:solidFill>
                <a:srgbClr val="FFFF00"/>
              </a:solidFill>
              <a:latin typeface="Calibri" panose="020F0502020204030204" pitchFamily="34" charset="0"/>
              <a:ea typeface="黑体" panose="02010609060101010101" pitchFamily="2" charset="-122"/>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fld id="{9A0DB2DC-4C9A-4742-B13C-FB6460FD3503}" type="slidenum">
              <a:rPr lang="en-US" altLang="zh-CN" dirty="0">
                <a:cs typeface="Calibri" panose="020F0502020204030204" pitchFamily="34" charset="0"/>
              </a:rPr>
            </a:fld>
            <a:r>
              <a:rPr lang="en-US" altLang="zh-CN" sz="1600" dirty="0">
                <a:solidFill>
                  <a:schemeClr val="accent1"/>
                </a:solidFill>
                <a:latin typeface="Calibri" panose="020F0502020204030204" pitchFamily="34" charset="0"/>
                <a:cs typeface="Calibri" panose="020F0502020204030204" pitchFamily="34" charset="0"/>
              </a:rPr>
              <a:t>/12</a:t>
            </a:r>
            <a:endParaRPr lang="en-US" altLang="zh-CN" sz="1600" dirty="0">
              <a:solidFill>
                <a:schemeClr val="accent1"/>
              </a:solidFill>
              <a:latin typeface="Calibri" panose="020F0502020204030204" pitchFamily="34" charset="0"/>
              <a:ea typeface="Calibri" panose="020F0502020204030204" pitchFamily="34" charset="0"/>
            </a:endParaRPr>
          </a:p>
        </p:txBody>
      </p:sp>
    </p:spTree>
  </p:cSld>
  <p:clrMapOvr>
    <a:masterClrMapping/>
  </p:clrMapOvr>
  <p:transition spd="slow">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hangingPunct="1"/>
            <a:fld id="{9A0DB2DC-4C9A-4742-B13C-FB6460FD3503}" type="slidenum">
              <a:rPr lang="en-US" altLang="zh-CN" dirty="0">
                <a:cs typeface="Calibri" panose="020F0502020204030204" pitchFamily="34" charset="0"/>
              </a:rPr>
            </a:fld>
            <a:r>
              <a:rPr lang="en-US" altLang="zh-CN" sz="1600" dirty="0">
                <a:solidFill>
                  <a:schemeClr val="accent1"/>
                </a:solidFill>
                <a:latin typeface="Calibri" panose="020F0502020204030204" pitchFamily="34" charset="0"/>
                <a:cs typeface="Calibri" panose="020F0502020204030204" pitchFamily="34" charset="0"/>
              </a:rPr>
              <a:t>/12</a:t>
            </a:r>
            <a:endParaRPr lang="en-US" altLang="zh-CN" sz="1600" dirty="0">
              <a:solidFill>
                <a:schemeClr val="accent1"/>
              </a:solidFill>
              <a:latin typeface="Calibri" panose="020F0502020204030204" pitchFamily="34" charset="0"/>
              <a:ea typeface="Calibri" panose="020F0502020204030204" pitchFamily="34" charset="0"/>
            </a:endParaRPr>
          </a:p>
        </p:txBody>
      </p:sp>
    </p:spTree>
  </p:cSld>
  <p:clrMapOvr>
    <a:masterClrMapping/>
  </p:clrMapOvr>
  <p:transition spd="slow">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灯片编号占位符 2"/>
          <p:cNvSpPr>
            <a:spLocks noGrp="1"/>
          </p:cNvSpPr>
          <p:nvPr>
            <p:ph type="sldNum" sz="quarter" idx="11"/>
          </p:nvPr>
        </p:nvSpPr>
        <p:spPr/>
        <p:txBody>
          <a:bodyPr/>
          <a:p>
            <a:pPr lvl="0" eaLnBrk="1" hangingPunct="1"/>
            <a:fld id="{9A0DB2DC-4C9A-4742-B13C-FB6460FD3503}" type="slidenum">
              <a:rPr lang="en-US" altLang="zh-CN" dirty="0">
                <a:cs typeface="Calibri" panose="020F0502020204030204" pitchFamily="34" charset="0"/>
              </a:rPr>
            </a:fld>
            <a:r>
              <a:rPr lang="en-US" altLang="zh-CN" sz="1600" dirty="0">
                <a:solidFill>
                  <a:schemeClr val="accent1"/>
                </a:solidFill>
                <a:latin typeface="Calibri" panose="020F0502020204030204" pitchFamily="34" charset="0"/>
                <a:cs typeface="Calibri" panose="020F0502020204030204" pitchFamily="34" charset="0"/>
              </a:rPr>
              <a:t>/12</a:t>
            </a:r>
            <a:endParaRPr lang="en-US" altLang="zh-CN" sz="1600" dirty="0">
              <a:solidFill>
                <a:schemeClr val="accent1"/>
              </a:solidFill>
              <a:latin typeface="Calibri" panose="020F0502020204030204" pitchFamily="34" charset="0"/>
              <a:ea typeface="Calibri" panose="020F0502020204030204" pitchFamily="34" charset="0"/>
            </a:endParaRPr>
          </a:p>
        </p:txBody>
      </p:sp>
    </p:spTree>
  </p:cSld>
  <p:clrMapOvr>
    <a:masterClrMapping/>
  </p:clrMapOvr>
  <p:transition spd="slow">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hangingPunct="1"/>
            <a:fld id="{9A0DB2DC-4C9A-4742-B13C-FB6460FD3503}" type="slidenum">
              <a:rPr lang="en-US" altLang="zh-CN" dirty="0">
                <a:cs typeface="Calibri" panose="020F0502020204030204" pitchFamily="34" charset="0"/>
              </a:rPr>
            </a:fld>
            <a:r>
              <a:rPr lang="en-US" altLang="zh-CN" sz="1600" dirty="0">
                <a:solidFill>
                  <a:schemeClr val="accent1"/>
                </a:solidFill>
                <a:latin typeface="Calibri" panose="020F0502020204030204" pitchFamily="34" charset="0"/>
                <a:cs typeface="Calibri" panose="020F0502020204030204" pitchFamily="34" charset="0"/>
              </a:rPr>
              <a:t>/12</a:t>
            </a:r>
            <a:endParaRPr lang="en-US" altLang="zh-CN" sz="1600" dirty="0">
              <a:solidFill>
                <a:schemeClr val="accent1"/>
              </a:solidFill>
              <a:latin typeface="Calibri" panose="020F0502020204030204" pitchFamily="34" charset="0"/>
              <a:ea typeface="Calibri" panose="020F0502020204030204" pitchFamily="34" charset="0"/>
            </a:endParaRPr>
          </a:p>
        </p:txBody>
      </p:sp>
    </p:spTree>
  </p:cSld>
  <p:clrMapOvr>
    <a:masterClrMapping/>
  </p:clrMapOvr>
  <p:transition spd="slow">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rotWithShape="0">
          <a:gsLst>
            <a:gs pos="0">
              <a:schemeClr val="bg1"/>
            </a:gs>
            <a:gs pos="100000">
              <a:schemeClr val="bg2"/>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685800" y="1981200"/>
            <a:ext cx="7772400" cy="41148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Rectangle 6"/>
          <p:cNvSpPr>
            <a:spLocks noGrp="1" noChangeArrowheads="1"/>
          </p:cNvSpPr>
          <p:nvPr>
            <p:ph type="dt" sz="half" idx="2"/>
          </p:nvPr>
        </p:nvSpPr>
        <p:spPr>
          <a:xfrm>
            <a:off x="685800" y="6248400"/>
            <a:ext cx="1905000" cy="457200"/>
          </a:xfrm>
          <a:prstGeom prst="rect">
            <a:avLst/>
          </a:prstGeom>
        </p:spPr>
        <p:txBody>
          <a:bodyPr/>
          <a:lstStyle>
            <a:lvl1pPr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Rectangle 7"/>
          <p:cNvSpPr>
            <a:spLocks noGrp="1" noChangeArrowheads="1"/>
          </p:cNvSpPr>
          <p:nvPr>
            <p:ph type="ftr" sz="quarter" idx="3"/>
          </p:nvPr>
        </p:nvSpPr>
        <p:spPr>
          <a:xfrm>
            <a:off x="3124200" y="6248400"/>
            <a:ext cx="2895600" cy="457200"/>
          </a:xfrm>
          <a:prstGeom prst="rect">
            <a:avLst/>
          </a:prstGeom>
        </p:spPr>
        <p:txBody>
          <a:bodyPr/>
          <a:lstStyle>
            <a:lvl1pPr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cover dir="lu"/>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cover dir="lu"/>
  </p:transition>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2"/>
            </a:gs>
          </a:gsLst>
          <a:lin ang="0" scaled="1"/>
          <a:tileRect/>
        </a:gradFill>
        <a:effectLst/>
      </p:bgPr>
    </p:bg>
    <p:spTree>
      <p:nvGrpSpPr>
        <p:cNvPr id="1" name=""/>
        <p:cNvGrpSpPr/>
        <p:nvPr/>
      </p:nvGrpSpPr>
      <p:grpSpPr/>
      <p:grpSp>
        <p:nvGrpSpPr>
          <p:cNvPr id="1026" name="Group 2"/>
          <p:cNvGrpSpPr/>
          <p:nvPr/>
        </p:nvGrpSpPr>
        <p:grpSpPr>
          <a:xfrm>
            <a:off x="0" y="1588"/>
            <a:ext cx="9132888" cy="6845300"/>
            <a:chOff x="0" y="1"/>
            <a:chExt cx="5753" cy="4312"/>
          </a:xfrm>
        </p:grpSpPr>
        <p:sp>
          <p:nvSpPr>
            <p:cNvPr id="36867" name="Freeform 3"/>
            <p:cNvSpPr/>
            <p:nvPr/>
          </p:nvSpPr>
          <p:spPr bwMode="auto">
            <a:xfrm>
              <a:off x="3394" y="999"/>
              <a:ext cx="2359" cy="3314"/>
            </a:xfrm>
            <a:custGeom>
              <a:avLst/>
              <a:gdLst/>
              <a:ahLst/>
              <a:cxnLst>
                <a:cxn ang="0">
                  <a:pos x="1905" y="3312"/>
                </a:cxn>
                <a:cxn ang="0">
                  <a:pos x="2358" y="3313"/>
                </a:cxn>
                <a:cxn ang="0">
                  <a:pos x="2358" y="1437"/>
                </a:cxn>
                <a:cxn ang="0">
                  <a:pos x="0" y="0"/>
                </a:cxn>
                <a:cxn ang="0">
                  <a:pos x="201" y="150"/>
                </a:cxn>
                <a:cxn ang="0">
                  <a:pos x="366" y="279"/>
                </a:cxn>
                <a:cxn ang="0">
                  <a:pos x="552" y="441"/>
                </a:cxn>
                <a:cxn ang="0">
                  <a:pos x="732" y="612"/>
                </a:cxn>
                <a:cxn ang="0">
                  <a:pos x="996" y="903"/>
                </a:cxn>
                <a:cxn ang="0">
                  <a:pos x="1230" y="1212"/>
                </a:cxn>
                <a:cxn ang="0">
                  <a:pos x="1400" y="1482"/>
                </a:cxn>
                <a:cxn ang="0">
                  <a:pos x="1548" y="1761"/>
                </a:cxn>
                <a:cxn ang="0">
                  <a:pos x="1665" y="2040"/>
                </a:cxn>
                <a:cxn ang="0">
                  <a:pos x="1751" y="2295"/>
                </a:cxn>
                <a:cxn ang="0">
                  <a:pos x="1809" y="2511"/>
                </a:cxn>
                <a:cxn ang="0">
                  <a:pos x="1863" y="2778"/>
                </a:cxn>
                <a:cxn ang="0">
                  <a:pos x="1890" y="3012"/>
                </a:cxn>
                <a:cxn ang="0">
                  <a:pos x="1905" y="3312"/>
                </a:cxn>
              </a:cxnLst>
              <a:rect l="0" t="0" r="r" b="b"/>
              <a:pathLst>
                <a:path w="2359" h="3314">
                  <a:moveTo>
                    <a:pt x="1905" y="3312"/>
                  </a:moveTo>
                  <a:lnTo>
                    <a:pt x="2358" y="3313"/>
                  </a:lnTo>
                  <a:lnTo>
                    <a:pt x="2358" y="1437"/>
                  </a:lnTo>
                  <a:lnTo>
                    <a:pt x="0" y="0"/>
                  </a:lnTo>
                  <a:lnTo>
                    <a:pt x="201" y="150"/>
                  </a:lnTo>
                  <a:lnTo>
                    <a:pt x="366" y="279"/>
                  </a:lnTo>
                  <a:lnTo>
                    <a:pt x="552" y="441"/>
                  </a:lnTo>
                  <a:lnTo>
                    <a:pt x="732" y="612"/>
                  </a:lnTo>
                  <a:lnTo>
                    <a:pt x="996" y="903"/>
                  </a:lnTo>
                  <a:lnTo>
                    <a:pt x="1230" y="1212"/>
                  </a:lnTo>
                  <a:lnTo>
                    <a:pt x="1400" y="1482"/>
                  </a:lnTo>
                  <a:lnTo>
                    <a:pt x="1548" y="1761"/>
                  </a:lnTo>
                  <a:lnTo>
                    <a:pt x="1665" y="2040"/>
                  </a:lnTo>
                  <a:lnTo>
                    <a:pt x="1751" y="2295"/>
                  </a:lnTo>
                  <a:lnTo>
                    <a:pt x="1809" y="2511"/>
                  </a:lnTo>
                  <a:lnTo>
                    <a:pt x="1863" y="2778"/>
                  </a:lnTo>
                  <a:lnTo>
                    <a:pt x="1890" y="3012"/>
                  </a:lnTo>
                  <a:lnTo>
                    <a:pt x="1905" y="3312"/>
                  </a:lnTo>
                </a:path>
              </a:pathLst>
            </a:custGeom>
            <a:gradFill rotWithShape="0">
              <a:gsLst>
                <a:gs pos="0">
                  <a:schemeClr val="accent2">
                    <a:gamma/>
                    <a:shade val="46275"/>
                    <a:invGamma/>
                  </a:schemeClr>
                </a:gs>
                <a:gs pos="100000">
                  <a:schemeClr val="accent2"/>
                </a:gs>
              </a:gsLst>
              <a:lin ang="0" scaled="1"/>
            </a:gradFill>
            <a:ln w="9525" cap="rnd">
              <a:no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3200" b="1" i="0" u="none" strike="noStrike" kern="1200" cap="none" spc="0" normalizeH="0" baseline="0" noProof="0">
                <a:ln>
                  <a:noFill/>
                </a:ln>
                <a:solidFill>
                  <a:schemeClr val="bg1"/>
                </a:solidFill>
                <a:effectLst/>
                <a:uLnTx/>
                <a:uFillTx/>
                <a:latin typeface="宋体" panose="02010600030101010101" pitchFamily="2" charset="-122"/>
                <a:ea typeface="宋体" panose="02010600030101010101" pitchFamily="2" charset="-122"/>
                <a:cs typeface="+mn-cs"/>
              </a:endParaRPr>
            </a:p>
          </p:txBody>
        </p:sp>
        <p:sp>
          <p:nvSpPr>
            <p:cNvPr id="1030" name="Arc 4"/>
            <p:cNvSpPr/>
            <p:nvPr/>
          </p:nvSpPr>
          <p:spPr>
            <a:xfrm>
              <a:off x="0" y="1"/>
              <a:ext cx="5298" cy="4312"/>
            </a:xfrm>
            <a:custGeom>
              <a:avLst/>
              <a:gdLst/>
              <a:ahLst/>
              <a:cxnLst>
                <a:cxn ang="0">
                  <a:pos x="0" y="0"/>
                </a:cxn>
                <a:cxn ang="0">
                  <a:pos x="78" y="34"/>
                </a:cxn>
                <a:cxn ang="0">
                  <a:pos x="0" y="34"/>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rnd" cmpd="sng">
              <a:solidFill>
                <a:schemeClr val="accent2">
                  <a:alpha val="100000"/>
                </a:schemeClr>
              </a:solidFill>
              <a:prstDash val="solid"/>
              <a:round/>
              <a:headEnd type="none" w="sm" len="sm"/>
              <a:tailEnd type="none" w="sm" len="sm"/>
            </a:ln>
          </p:spPr>
          <p:txBody>
            <a:bodyPr/>
            <a:p>
              <a:endParaRPr lang="zh-CN" altLang="en-US"/>
            </a:p>
          </p:txBody>
        </p:sp>
      </p:grpSp>
      <p:sp>
        <p:nvSpPr>
          <p:cNvPr id="36869" name="Rectangle 5"/>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lgn="l">
              <a:defRPr kumimoji="0" sz="1400" b="0">
                <a:solidFill>
                  <a:schemeClr val="tx1"/>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6870" name="Rectangle 6"/>
          <p:cNvSpPr>
            <a:spLocks noGrp="1" noChangeArrowheads="1"/>
          </p:cNvSpPr>
          <p:nvPr>
            <p:ph type="sldNum" sz="quarter" idx="4"/>
          </p:nvPr>
        </p:nvSpPr>
        <p:spPr bwMode="auto">
          <a:xfrm>
            <a:off x="7239000" y="6524625"/>
            <a:ext cx="1905000" cy="333375"/>
          </a:xfrm>
          <a:prstGeom prst="rect">
            <a:avLst/>
          </a:prstGeom>
          <a:noFill/>
          <a:ln w="9525">
            <a:noFill/>
            <a:miter lim="800000"/>
          </a:ln>
          <a:effectLst/>
        </p:spPr>
        <p:txBody>
          <a:bodyPr vert="horz" wrap="square" lIns="92075" tIns="46038" rIns="92075" bIns="46038" numCol="1" anchor="ctr" anchorCtr="0" compatLnSpc="1"/>
          <a:lstStyle>
            <a:lvl1pPr algn="r">
              <a:defRPr sz="1600">
                <a:solidFill>
                  <a:schemeClr val="accent1"/>
                </a:solidFill>
                <a:latin typeface="Calibri" panose="020F0502020204030204" pitchFamily="34" charset="0"/>
              </a:defRPr>
            </a:lvl1pPr>
          </a:lstStyle>
          <a:p>
            <a:pPr lvl="0" eaLnBrk="1" hangingPunct="1"/>
            <a:fld id="{9A0DB2DC-4C9A-4742-B13C-FB6460FD3503}" type="slidenum">
              <a:rPr lang="en-US" altLang="zh-CN" dirty="0">
                <a:cs typeface="Calibri" panose="020F0502020204030204" pitchFamily="34" charset="0"/>
              </a:rPr>
            </a:fld>
            <a:r>
              <a:rPr lang="en-US" altLang="zh-CN" sz="1600" dirty="0">
                <a:solidFill>
                  <a:schemeClr val="accent1"/>
                </a:solidFill>
                <a:latin typeface="Calibri" panose="020F0502020204030204" pitchFamily="34" charset="0"/>
                <a:cs typeface="Calibri" panose="020F0502020204030204" pitchFamily="34" charset="0"/>
              </a:rPr>
              <a:t>/12</a:t>
            </a:r>
            <a:endParaRPr lang="en-US" altLang="zh-CN" sz="1600" dirty="0">
              <a:solidFill>
                <a:schemeClr val="accent1"/>
              </a:solidFill>
              <a:latin typeface="Calibri" panose="020F0502020204030204" pitchFamily="34" charset="0"/>
              <a:ea typeface="Calibri" panose="020F0502020204030204" pitchFamily="34" charset="0"/>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spd="slow">
    <p:random/>
  </p:transition>
  <p:timing>
    <p:tnLst>
      <p:par>
        <p:cTn id="1" dur="indefinite" restart="never" nodeType="tmRoot"/>
      </p:par>
    </p:tnLst>
  </p:timing>
  <p:hf sldNum="0" hdr="0" ftr="0" dt="0"/>
  <p:txStyles>
    <p:titleStyle>
      <a:lvl1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Char char="•"/>
        <a:defRPr kumimoji="1" sz="2000">
          <a:solidFill>
            <a:schemeClr val="tx1"/>
          </a:solidFill>
          <a:latin typeface="+mn-lt"/>
          <a:ea typeface="+mn-ea"/>
        </a:defRPr>
      </a:lvl5pPr>
      <a:lvl6pPr marL="2514600" indent="-228600" algn="l" rtl="0" fontAlgn="base">
        <a:spcBef>
          <a:spcPct val="20000"/>
        </a:spcBef>
        <a:spcAft>
          <a:spcPct val="0"/>
        </a:spcAft>
        <a:buClr>
          <a:schemeClr val="accent1"/>
        </a:buClr>
        <a:buChar char="•"/>
        <a:defRPr kumimoji="1" sz="2000">
          <a:solidFill>
            <a:schemeClr val="tx1"/>
          </a:solidFill>
          <a:latin typeface="+mn-lt"/>
          <a:ea typeface="+mn-ea"/>
        </a:defRPr>
      </a:lvl6pPr>
      <a:lvl7pPr marL="2971800" indent="-228600" algn="l" rtl="0" fontAlgn="base">
        <a:spcBef>
          <a:spcPct val="20000"/>
        </a:spcBef>
        <a:spcAft>
          <a:spcPct val="0"/>
        </a:spcAft>
        <a:buClr>
          <a:schemeClr val="accent1"/>
        </a:buClr>
        <a:buChar char="•"/>
        <a:defRPr kumimoji="1" sz="2000">
          <a:solidFill>
            <a:schemeClr val="tx1"/>
          </a:solidFill>
          <a:latin typeface="+mn-lt"/>
          <a:ea typeface="+mn-ea"/>
        </a:defRPr>
      </a:lvl7pPr>
      <a:lvl8pPr marL="3429000" indent="-228600" algn="l" rtl="0" fontAlgn="base">
        <a:spcBef>
          <a:spcPct val="20000"/>
        </a:spcBef>
        <a:spcAft>
          <a:spcPct val="0"/>
        </a:spcAft>
        <a:buClr>
          <a:schemeClr val="accent1"/>
        </a:buClr>
        <a:buChar char="•"/>
        <a:defRPr kumimoji="1" sz="2000">
          <a:solidFill>
            <a:schemeClr val="tx1"/>
          </a:solidFill>
          <a:latin typeface="+mn-lt"/>
          <a:ea typeface="+mn-ea"/>
        </a:defRPr>
      </a:lvl8pPr>
      <a:lvl9pPr marL="3886200" indent="-228600" algn="l" rtl="0" fontAlgn="base">
        <a:spcBef>
          <a:spcPct val="20000"/>
        </a:spcBef>
        <a:spcAft>
          <a:spcPct val="0"/>
        </a:spcAft>
        <a:buClr>
          <a:schemeClr val="accent1"/>
        </a:buClr>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bg1"/>
            </a:gs>
            <a:gs pos="100000">
              <a:schemeClr val="bg2"/>
            </a:gs>
          </a:gsLst>
          <a:lin ang="0" scaled="1"/>
          <a:tileRect/>
        </a:gradFill>
        <a:effectLst/>
      </p:bgPr>
    </p:bg>
    <p:spTree>
      <p:nvGrpSpPr>
        <p:cNvPr id="1" name=""/>
        <p:cNvGrpSpPr/>
        <p:nvPr/>
      </p:nvGrpSpPr>
      <p:grpSpPr/>
      <p:grpSp>
        <p:nvGrpSpPr>
          <p:cNvPr id="1026" name="Group 2"/>
          <p:cNvGrpSpPr/>
          <p:nvPr/>
        </p:nvGrpSpPr>
        <p:grpSpPr>
          <a:xfrm>
            <a:off x="0" y="1588"/>
            <a:ext cx="9132888" cy="6845300"/>
            <a:chOff x="0" y="1"/>
            <a:chExt cx="5753" cy="4312"/>
          </a:xfrm>
        </p:grpSpPr>
        <p:sp>
          <p:nvSpPr>
            <p:cNvPr id="28675" name="Freeform 3"/>
            <p:cNvSpPr/>
            <p:nvPr/>
          </p:nvSpPr>
          <p:spPr bwMode="auto">
            <a:xfrm>
              <a:off x="3394" y="999"/>
              <a:ext cx="2359" cy="3314"/>
            </a:xfrm>
            <a:custGeom>
              <a:avLst/>
              <a:gdLst/>
              <a:ahLst/>
              <a:cxnLst>
                <a:cxn ang="0">
                  <a:pos x="1905" y="3312"/>
                </a:cxn>
                <a:cxn ang="0">
                  <a:pos x="2358" y="3313"/>
                </a:cxn>
                <a:cxn ang="0">
                  <a:pos x="2358" y="1437"/>
                </a:cxn>
                <a:cxn ang="0">
                  <a:pos x="0" y="0"/>
                </a:cxn>
                <a:cxn ang="0">
                  <a:pos x="201" y="150"/>
                </a:cxn>
                <a:cxn ang="0">
                  <a:pos x="366" y="279"/>
                </a:cxn>
                <a:cxn ang="0">
                  <a:pos x="552" y="441"/>
                </a:cxn>
                <a:cxn ang="0">
                  <a:pos x="732" y="612"/>
                </a:cxn>
                <a:cxn ang="0">
                  <a:pos x="996" y="903"/>
                </a:cxn>
                <a:cxn ang="0">
                  <a:pos x="1230" y="1212"/>
                </a:cxn>
                <a:cxn ang="0">
                  <a:pos x="1400" y="1482"/>
                </a:cxn>
                <a:cxn ang="0">
                  <a:pos x="1548" y="1761"/>
                </a:cxn>
                <a:cxn ang="0">
                  <a:pos x="1665" y="2040"/>
                </a:cxn>
                <a:cxn ang="0">
                  <a:pos x="1751" y="2295"/>
                </a:cxn>
                <a:cxn ang="0">
                  <a:pos x="1809" y="2511"/>
                </a:cxn>
                <a:cxn ang="0">
                  <a:pos x="1863" y="2778"/>
                </a:cxn>
                <a:cxn ang="0">
                  <a:pos x="1890" y="3012"/>
                </a:cxn>
                <a:cxn ang="0">
                  <a:pos x="1905" y="3312"/>
                </a:cxn>
              </a:cxnLst>
              <a:rect l="0" t="0" r="r" b="b"/>
              <a:pathLst>
                <a:path w="2359" h="3314">
                  <a:moveTo>
                    <a:pt x="1905" y="3312"/>
                  </a:moveTo>
                  <a:lnTo>
                    <a:pt x="2358" y="3313"/>
                  </a:lnTo>
                  <a:lnTo>
                    <a:pt x="2358" y="1437"/>
                  </a:lnTo>
                  <a:lnTo>
                    <a:pt x="0" y="0"/>
                  </a:lnTo>
                  <a:lnTo>
                    <a:pt x="201" y="150"/>
                  </a:lnTo>
                  <a:lnTo>
                    <a:pt x="366" y="279"/>
                  </a:lnTo>
                  <a:lnTo>
                    <a:pt x="552" y="441"/>
                  </a:lnTo>
                  <a:lnTo>
                    <a:pt x="732" y="612"/>
                  </a:lnTo>
                  <a:lnTo>
                    <a:pt x="996" y="903"/>
                  </a:lnTo>
                  <a:lnTo>
                    <a:pt x="1230" y="1212"/>
                  </a:lnTo>
                  <a:lnTo>
                    <a:pt x="1400" y="1482"/>
                  </a:lnTo>
                  <a:lnTo>
                    <a:pt x="1548" y="1761"/>
                  </a:lnTo>
                  <a:lnTo>
                    <a:pt x="1665" y="2040"/>
                  </a:lnTo>
                  <a:lnTo>
                    <a:pt x="1751" y="2295"/>
                  </a:lnTo>
                  <a:lnTo>
                    <a:pt x="1809" y="2511"/>
                  </a:lnTo>
                  <a:lnTo>
                    <a:pt x="1863" y="2778"/>
                  </a:lnTo>
                  <a:lnTo>
                    <a:pt x="1890" y="3012"/>
                  </a:lnTo>
                  <a:lnTo>
                    <a:pt x="1905" y="3312"/>
                  </a:lnTo>
                </a:path>
              </a:pathLst>
            </a:custGeom>
            <a:gradFill rotWithShape="0">
              <a:gsLst>
                <a:gs pos="0">
                  <a:schemeClr val="accent2">
                    <a:gamma/>
                    <a:shade val="46275"/>
                    <a:invGamma/>
                  </a:schemeClr>
                </a:gs>
                <a:gs pos="100000">
                  <a:schemeClr val="accent2"/>
                </a:gs>
              </a:gsLst>
              <a:lin ang="0" scaled="1"/>
            </a:gra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Arc 4"/>
            <p:cNvSpPr/>
            <p:nvPr/>
          </p:nvSpPr>
          <p:spPr>
            <a:xfrm>
              <a:off x="0" y="1"/>
              <a:ext cx="5298" cy="4312"/>
            </a:xfrm>
            <a:custGeom>
              <a:avLst/>
              <a:gdLst/>
              <a:ahLst/>
              <a:cxnLst>
                <a:cxn ang="0">
                  <a:pos x="0" y="0"/>
                </a:cxn>
                <a:cxn ang="0">
                  <a:pos x="19" y="7"/>
                </a:cxn>
                <a:cxn ang="0">
                  <a:pos x="0" y="7"/>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rnd" cmpd="sng">
              <a:solidFill>
                <a:schemeClr val="accent2">
                  <a:alpha val="100000"/>
                </a:schemeClr>
              </a:solidFill>
              <a:prstDash val="solid"/>
              <a:round/>
              <a:headEnd type="none" w="sm" len="sm"/>
              <a:tailEnd type="none" w="sm" len="sm"/>
            </a:ln>
          </p:spPr>
          <p:txBody>
            <a:bodyPr/>
            <a:p>
              <a:endParaRPr lang="zh-CN" altLang="en-US" sz="2400"/>
            </a:p>
          </p:txBody>
        </p:sp>
      </p:grpSp>
      <p:sp>
        <p:nvSpPr>
          <p:cNvPr id="10" name="Rectangle 8"/>
          <p:cNvSpPr txBox="1">
            <a:spLocks noChangeArrowheads="1"/>
          </p:cNvSpPr>
          <p:nvPr/>
        </p:nvSpPr>
        <p:spPr>
          <a:xfrm>
            <a:off x="8172450" y="6486525"/>
            <a:ext cx="960438" cy="360363"/>
          </a:xfrm>
          <a:prstGeom prst="rect">
            <a:avLst/>
          </a:prstGeom>
        </p:spPr>
        <p:txBody>
          <a:bodyPr/>
          <a:p>
            <a:pPr lvl="0" algn="r" eaLnBrk="0" hangingPunct="0">
              <a:buNone/>
            </a:pPr>
            <a:fld id="{9A0DB2DC-4C9A-4742-B13C-FB6460FD3503}" type="slidenum">
              <a:rPr lang="en-US" altLang="zh-CN" sz="1600" dirty="0">
                <a:solidFill>
                  <a:schemeClr val="accent1"/>
                </a:solidFill>
                <a:latin typeface="Calibri" panose="020F0502020204030204" pitchFamily="34" charset="0"/>
                <a:cs typeface="Calibri" panose="020F0502020204030204" pitchFamily="34" charset="0"/>
              </a:rPr>
            </a:fld>
            <a:r>
              <a:rPr lang="en-US" altLang="zh-CN" sz="1600" dirty="0">
                <a:solidFill>
                  <a:schemeClr val="accent1"/>
                </a:solidFill>
                <a:latin typeface="Calibri" panose="020F0502020204030204" pitchFamily="34" charset="0"/>
                <a:cs typeface="Calibri" panose="020F0502020204030204" pitchFamily="34" charset="0"/>
              </a:rPr>
              <a:t>/28</a:t>
            </a:r>
            <a:endParaRPr lang="en-US" altLang="zh-CN" sz="1600" dirty="0">
              <a:solidFill>
                <a:schemeClr val="accent1"/>
              </a:solidFill>
              <a:latin typeface="Calibri" panose="020F0502020204030204" pitchFamily="34" charset="0"/>
              <a:ea typeface="Calibri" panose="020F0502020204030204" pitchFamily="34" charset="0"/>
            </a:endParaRPr>
          </a:p>
        </p:txBody>
      </p:sp>
    </p:spTree>
  </p:cSld>
  <p:clrMap bg1="dk2" tx1="lt1" bg2="dk1" tx2="lt2" accent1="accent1" accent2="accent2" accent3="accent3" accent4="accent4" accent5="accent5" accent6="accent6" hlink="hlink" folHlink="folHlink"/>
  <p:sldLayoutIdLst>
    <p:sldLayoutId id="2147483654" r:id="rId1"/>
    <p:sldLayoutId id="2147483655" r:id="rId2"/>
  </p:sldLayoutIdLst>
  <p:transition>
    <p:cover dir="lu"/>
  </p:transition>
  <p:timing>
    <p:tnLst>
      <p:par>
        <p:cTn id="1" dur="indefinite" restart="never" nodeType="tmRoot"/>
      </p:par>
    </p:tnLst>
  </p:timing>
  <p:hf sldNum="0" hdr="0" ftr="0" dt="0"/>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Char char="•"/>
        <a:defRPr sz="2000">
          <a:solidFill>
            <a:schemeClr val="tx1"/>
          </a:solidFill>
          <a:latin typeface="+mn-lt"/>
          <a:ea typeface="+mn-ea"/>
        </a:defRPr>
      </a:lvl5pPr>
      <a:lvl6pPr marL="2514600" indent="-228600" algn="l" rtl="0" fontAlgn="base">
        <a:spcBef>
          <a:spcPct val="20000"/>
        </a:spcBef>
        <a:spcAft>
          <a:spcPct val="0"/>
        </a:spcAft>
        <a:buClr>
          <a:schemeClr val="accent1"/>
        </a:buClr>
        <a:buChar char="•"/>
        <a:defRPr sz="2000">
          <a:solidFill>
            <a:schemeClr val="tx1"/>
          </a:solidFill>
          <a:latin typeface="+mn-lt"/>
          <a:ea typeface="+mn-ea"/>
        </a:defRPr>
      </a:lvl6pPr>
      <a:lvl7pPr marL="2971800" indent="-228600" algn="l" rtl="0" fontAlgn="base">
        <a:spcBef>
          <a:spcPct val="20000"/>
        </a:spcBef>
        <a:spcAft>
          <a:spcPct val="0"/>
        </a:spcAft>
        <a:buClr>
          <a:schemeClr val="accent1"/>
        </a:buClr>
        <a:buChar char="•"/>
        <a:defRPr sz="2000">
          <a:solidFill>
            <a:schemeClr val="tx1"/>
          </a:solidFill>
          <a:latin typeface="+mn-lt"/>
          <a:ea typeface="+mn-ea"/>
        </a:defRPr>
      </a:lvl7pPr>
      <a:lvl8pPr marL="3429000" indent="-228600" algn="l" rtl="0" fontAlgn="base">
        <a:spcBef>
          <a:spcPct val="20000"/>
        </a:spcBef>
        <a:spcAft>
          <a:spcPct val="0"/>
        </a:spcAft>
        <a:buClr>
          <a:schemeClr val="accent1"/>
        </a:buClr>
        <a:buChar char="•"/>
        <a:defRPr sz="2000">
          <a:solidFill>
            <a:schemeClr val="tx1"/>
          </a:solidFill>
          <a:latin typeface="+mn-lt"/>
          <a:ea typeface="+mn-ea"/>
        </a:defRPr>
      </a:lvl8pPr>
      <a:lvl9pPr marL="3886200" indent="-228600" algn="l" rtl="0" fontAlgn="base">
        <a:spcBef>
          <a:spcPct val="20000"/>
        </a:spcBef>
        <a:spcAft>
          <a:spcPct val="0"/>
        </a:spcAft>
        <a:buClr>
          <a:schemeClr val="accent1"/>
        </a:buClr>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ext Box 3074"/>
          <p:cNvSpPr txBox="1"/>
          <p:nvPr/>
        </p:nvSpPr>
        <p:spPr>
          <a:xfrm>
            <a:off x="685800" y="1905000"/>
            <a:ext cx="3957638" cy="641350"/>
          </a:xfrm>
          <a:prstGeom prst="rect">
            <a:avLst/>
          </a:prstGeom>
          <a:noFill/>
          <a:ln w="9525">
            <a:noFill/>
          </a:ln>
        </p:spPr>
        <p:txBody>
          <a:bodyPr>
            <a:spAutoFit/>
          </a:bodyPr>
          <a:p>
            <a:pPr eaLnBrk="1" hangingPunct="1">
              <a:spcBef>
                <a:spcPct val="50000"/>
              </a:spcBef>
            </a:pPr>
            <a:r>
              <a:rPr lang="zh-CN" altLang="en-US" sz="3600" dirty="0">
                <a:solidFill>
                  <a:schemeClr val="tx1"/>
                </a:solidFill>
                <a:latin typeface="Times New Roman" panose="02020603050405020304" pitchFamily="18" charset="0"/>
                <a:ea typeface="黑体" panose="02010609060101010101" pitchFamily="2" charset="-122"/>
              </a:rPr>
              <a:t>本章主要讨论：</a:t>
            </a:r>
            <a:endParaRPr lang="zh-CN" altLang="en-US" sz="3600" dirty="0">
              <a:solidFill>
                <a:schemeClr val="tx1"/>
              </a:solidFill>
              <a:latin typeface="Times New Roman" panose="02020603050405020304" pitchFamily="18" charset="0"/>
              <a:ea typeface="黑体" panose="02010609060101010101" pitchFamily="2" charset="-122"/>
            </a:endParaRPr>
          </a:p>
        </p:txBody>
      </p:sp>
      <p:sp>
        <p:nvSpPr>
          <p:cNvPr id="7171" name="Text Box 3075"/>
          <p:cNvSpPr txBox="1">
            <a:spLocks noChangeArrowheads="1"/>
          </p:cNvSpPr>
          <p:nvPr/>
        </p:nvSpPr>
        <p:spPr bwMode="auto">
          <a:xfrm>
            <a:off x="827088" y="620713"/>
            <a:ext cx="7632700" cy="823913"/>
          </a:xfrm>
          <a:prstGeom prst="rect">
            <a:avLst/>
          </a:prstGeom>
          <a:noFill/>
          <a:ln w="9525">
            <a:noFill/>
            <a:miter lim="800000"/>
          </a:ln>
          <a:effectLst/>
        </p:spPr>
        <p:txBody>
          <a:bodyPr>
            <a:spAutoFit/>
          </a:bodyPr>
          <a:lstStyle/>
          <a:p>
            <a:pPr marR="0" algn="ctr" defTabSz="914400" eaLnBrk="1" hangingPunct="1">
              <a:spcBef>
                <a:spcPct val="50000"/>
              </a:spcBef>
              <a:buClrTx/>
              <a:buSzTx/>
              <a:buFontTx/>
              <a:buNone/>
              <a:defRPr/>
            </a:pPr>
            <a:r>
              <a:rPr kumimoji="1" lang="zh-CN" altLang="en-US" sz="4800" kern="1200" cap="none" spc="0" normalizeH="0" baseline="0" noProof="0" dirty="0">
                <a:solidFill>
                  <a:schemeClr val="folHlink"/>
                </a:solidFill>
                <a:effectLst>
                  <a:outerShdw blurRad="38100" dist="38100" dir="2700000" algn="tl">
                    <a:srgbClr val="000000"/>
                  </a:outerShdw>
                </a:effectLst>
                <a:latin typeface="Calibri" panose="020F0502020204030204" pitchFamily="34" charset="0"/>
                <a:ea typeface="黑体" panose="02010609060101010101" pitchFamily="2" charset="-122"/>
                <a:cs typeface="+mn-cs"/>
              </a:rPr>
              <a:t>第</a:t>
            </a:r>
            <a:r>
              <a:rPr kumimoji="1" lang="en-US" altLang="zh-CN" sz="4800" kern="1200" cap="none" spc="0" normalizeH="0" baseline="0" noProof="0" dirty="0">
                <a:solidFill>
                  <a:schemeClr val="folHlink"/>
                </a:solidFill>
                <a:effectLst>
                  <a:outerShdw blurRad="38100" dist="38100" dir="2700000" algn="tl">
                    <a:srgbClr val="000000"/>
                  </a:outerShdw>
                </a:effectLst>
                <a:latin typeface="Calibri" panose="020F0502020204030204" pitchFamily="34" charset="0"/>
                <a:ea typeface="黑体" panose="02010609060101010101" pitchFamily="2" charset="-122"/>
                <a:cs typeface="+mn-cs"/>
              </a:rPr>
              <a:t>5</a:t>
            </a:r>
            <a:r>
              <a:rPr kumimoji="1" lang="zh-CN" altLang="en-US" sz="4800" kern="1200" cap="none" spc="0" normalizeH="0" baseline="0" noProof="0" dirty="0">
                <a:solidFill>
                  <a:schemeClr val="folHlink"/>
                </a:solidFill>
                <a:effectLst>
                  <a:outerShdw blurRad="38100" dist="38100" dir="2700000" algn="tl">
                    <a:srgbClr val="000000"/>
                  </a:outerShdw>
                </a:effectLst>
                <a:latin typeface="Calibri" panose="020F0502020204030204" pitchFamily="34" charset="0"/>
                <a:ea typeface="黑体" panose="02010609060101010101" pitchFamily="2" charset="-122"/>
                <a:cs typeface="+mn-cs"/>
              </a:rPr>
              <a:t>章 总线与</a:t>
            </a:r>
            <a:r>
              <a:rPr kumimoji="1" lang="en-US" altLang="zh-CN" sz="4800" kern="1200" cap="none" spc="0" normalizeH="0" baseline="0" noProof="0" dirty="0">
                <a:solidFill>
                  <a:schemeClr val="folHlink"/>
                </a:solidFill>
                <a:effectLst>
                  <a:outerShdw blurRad="38100" dist="38100" dir="2700000" algn="tl">
                    <a:srgbClr val="000000"/>
                  </a:outerShdw>
                </a:effectLst>
                <a:latin typeface="Calibri" panose="020F0502020204030204" pitchFamily="34" charset="0"/>
                <a:ea typeface="黑体" panose="02010609060101010101" pitchFamily="2" charset="-122"/>
                <a:cs typeface="+mn-cs"/>
              </a:rPr>
              <a:t>I/O</a:t>
            </a:r>
            <a:r>
              <a:rPr kumimoji="1" lang="zh-CN" altLang="en-US" sz="4800" kern="1200" cap="none" spc="0" normalizeH="0" baseline="0" noProof="0" dirty="0">
                <a:solidFill>
                  <a:schemeClr val="folHlink"/>
                </a:solidFill>
                <a:effectLst>
                  <a:outerShdw blurRad="38100" dist="38100" dir="2700000" algn="tl">
                    <a:srgbClr val="000000"/>
                  </a:outerShdw>
                </a:effectLst>
                <a:latin typeface="Calibri" panose="020F0502020204030204" pitchFamily="34" charset="0"/>
                <a:ea typeface="黑体" panose="02010609060101010101" pitchFamily="2" charset="-122"/>
                <a:cs typeface="+mn-cs"/>
              </a:rPr>
              <a:t>子系统</a:t>
            </a:r>
            <a:endParaRPr kumimoji="1" lang="zh-CN" altLang="en-US" sz="4800" kern="1200" cap="none" spc="0" normalizeH="0" baseline="0" noProof="0" dirty="0">
              <a:solidFill>
                <a:schemeClr val="folHlink"/>
              </a:solidFill>
              <a:effectLst>
                <a:outerShdw blurRad="38100" dist="38100" dir="2700000" algn="tl">
                  <a:srgbClr val="000000"/>
                </a:outerShdw>
              </a:effectLst>
              <a:latin typeface="Calibri" panose="020F0502020204030204" pitchFamily="34" charset="0"/>
              <a:ea typeface="黑体" panose="02010609060101010101" pitchFamily="2" charset="-122"/>
              <a:cs typeface="+mn-cs"/>
            </a:endParaRPr>
          </a:p>
        </p:txBody>
      </p:sp>
      <p:sp>
        <p:nvSpPr>
          <p:cNvPr id="7172" name="Text Box 3076"/>
          <p:cNvSpPr txBox="1"/>
          <p:nvPr/>
        </p:nvSpPr>
        <p:spPr>
          <a:xfrm>
            <a:off x="1649413" y="2743200"/>
            <a:ext cx="4648200" cy="641350"/>
          </a:xfrm>
          <a:prstGeom prst="rect">
            <a:avLst/>
          </a:prstGeom>
          <a:noFill/>
          <a:ln w="9525">
            <a:noFill/>
          </a:ln>
        </p:spPr>
        <p:txBody>
          <a:bodyPr>
            <a:spAutoFit/>
          </a:bodyPr>
          <a:p>
            <a:pPr eaLnBrk="1" hangingPunct="1">
              <a:spcBef>
                <a:spcPct val="50000"/>
              </a:spcBef>
            </a:pPr>
            <a:r>
              <a:rPr lang="zh-CN" altLang="en-US" sz="3600" dirty="0">
                <a:solidFill>
                  <a:srgbClr val="FFFF00"/>
                </a:solidFill>
                <a:latin typeface="Calibri" panose="020F0502020204030204" pitchFamily="34" charset="0"/>
                <a:ea typeface="黑体" panose="02010609060101010101" pitchFamily="2" charset="-122"/>
              </a:rPr>
              <a:t>接口的基本概念</a:t>
            </a:r>
            <a:endParaRPr lang="zh-CN" altLang="en-US" sz="3600" dirty="0">
              <a:solidFill>
                <a:srgbClr val="FFFF00"/>
              </a:solidFill>
              <a:latin typeface="Calibri" panose="020F0502020204030204" pitchFamily="34" charset="0"/>
              <a:ea typeface="黑体" panose="02010609060101010101" pitchFamily="2" charset="-122"/>
            </a:endParaRPr>
          </a:p>
        </p:txBody>
      </p:sp>
      <p:sp>
        <p:nvSpPr>
          <p:cNvPr id="7173" name="Text Box 3077"/>
          <p:cNvSpPr txBox="1"/>
          <p:nvPr/>
        </p:nvSpPr>
        <p:spPr>
          <a:xfrm>
            <a:off x="1649413" y="3932238"/>
            <a:ext cx="5715000" cy="641350"/>
          </a:xfrm>
          <a:prstGeom prst="rect">
            <a:avLst/>
          </a:prstGeom>
          <a:noFill/>
          <a:ln w="9525">
            <a:noFill/>
          </a:ln>
        </p:spPr>
        <p:txBody>
          <a:bodyPr>
            <a:spAutoFit/>
          </a:bodyPr>
          <a:p>
            <a:pPr eaLnBrk="1" hangingPunct="1">
              <a:spcBef>
                <a:spcPct val="50000"/>
              </a:spcBef>
            </a:pPr>
            <a:r>
              <a:rPr lang="zh-CN" altLang="en-US" sz="3600" dirty="0">
                <a:solidFill>
                  <a:srgbClr val="FFFF00"/>
                </a:solidFill>
                <a:latin typeface="Calibri" panose="020F0502020204030204" pitchFamily="34" charset="0"/>
                <a:ea typeface="黑体" panose="02010609060101010101" pitchFamily="2" charset="-122"/>
              </a:rPr>
              <a:t>中断方式及其接口组成</a:t>
            </a:r>
            <a:endParaRPr lang="zh-CN" altLang="en-US" sz="3600" dirty="0">
              <a:solidFill>
                <a:srgbClr val="FFFF00"/>
              </a:solidFill>
              <a:latin typeface="Calibri" panose="020F0502020204030204" pitchFamily="34" charset="0"/>
              <a:ea typeface="黑体" panose="02010609060101010101" pitchFamily="2" charset="-122"/>
            </a:endParaRPr>
          </a:p>
        </p:txBody>
      </p:sp>
      <p:sp>
        <p:nvSpPr>
          <p:cNvPr id="7174" name="Text Box 3078"/>
          <p:cNvSpPr txBox="1"/>
          <p:nvPr/>
        </p:nvSpPr>
        <p:spPr>
          <a:xfrm>
            <a:off x="1649413" y="4527550"/>
            <a:ext cx="5638800" cy="645160"/>
          </a:xfrm>
          <a:prstGeom prst="rect">
            <a:avLst/>
          </a:prstGeom>
          <a:noFill/>
          <a:ln w="9525">
            <a:noFill/>
          </a:ln>
        </p:spPr>
        <p:txBody>
          <a:bodyPr>
            <a:spAutoFit/>
          </a:bodyPr>
          <a:p>
            <a:pPr eaLnBrk="1" hangingPunct="1">
              <a:spcBef>
                <a:spcPct val="50000"/>
              </a:spcBef>
            </a:pPr>
            <a:r>
              <a:rPr lang="en-US" altLang="zh-CN" sz="3600" dirty="0">
                <a:solidFill>
                  <a:srgbClr val="FFFF00"/>
                </a:solidFill>
                <a:latin typeface="Calibri" panose="020F0502020204030204" pitchFamily="34" charset="0"/>
                <a:ea typeface="黑体" panose="02010609060101010101" pitchFamily="2" charset="-122"/>
              </a:rPr>
              <a:t>DMA</a:t>
            </a:r>
            <a:r>
              <a:rPr lang="zh-CN" altLang="en-US" sz="3600" dirty="0">
                <a:solidFill>
                  <a:srgbClr val="FFFF00"/>
                </a:solidFill>
                <a:latin typeface="Calibri" panose="020F0502020204030204" pitchFamily="34" charset="0"/>
                <a:ea typeface="黑体" panose="02010609060101010101" pitchFamily="2" charset="-122"/>
              </a:rPr>
              <a:t>方式</a:t>
            </a:r>
            <a:endParaRPr lang="zh-CN" altLang="en-US" sz="3600" dirty="0">
              <a:solidFill>
                <a:srgbClr val="FFFF00"/>
              </a:solidFill>
              <a:latin typeface="Calibri" panose="020F0502020204030204" pitchFamily="34" charset="0"/>
              <a:ea typeface="黑体" panose="02010609060101010101" pitchFamily="2" charset="-122"/>
            </a:endParaRPr>
          </a:p>
        </p:txBody>
      </p:sp>
      <p:sp>
        <p:nvSpPr>
          <p:cNvPr id="7175" name="Text Box 3079"/>
          <p:cNvSpPr txBox="1"/>
          <p:nvPr/>
        </p:nvSpPr>
        <p:spPr>
          <a:xfrm>
            <a:off x="1649413" y="3338513"/>
            <a:ext cx="4648200" cy="641350"/>
          </a:xfrm>
          <a:prstGeom prst="rect">
            <a:avLst/>
          </a:prstGeom>
          <a:noFill/>
          <a:ln w="9525">
            <a:noFill/>
          </a:ln>
        </p:spPr>
        <p:txBody>
          <a:bodyPr>
            <a:spAutoFit/>
          </a:bodyPr>
          <a:p>
            <a:pPr eaLnBrk="1" hangingPunct="1">
              <a:spcBef>
                <a:spcPct val="50000"/>
              </a:spcBef>
            </a:pPr>
            <a:r>
              <a:rPr lang="zh-CN" altLang="en-US" sz="3600" dirty="0">
                <a:solidFill>
                  <a:srgbClr val="FFFF00"/>
                </a:solidFill>
                <a:latin typeface="Calibri" panose="020F0502020204030204" pitchFamily="34" charset="0"/>
                <a:ea typeface="黑体" panose="02010609060101010101" pitchFamily="2" charset="-122"/>
              </a:rPr>
              <a:t>总线的基本概念</a:t>
            </a:r>
            <a:endParaRPr lang="zh-CN" altLang="en-US" sz="3600" dirty="0">
              <a:solidFill>
                <a:srgbClr val="FFFF00"/>
              </a:solidFill>
              <a:latin typeface="Calibri" panose="020F0502020204030204" pitchFamily="34" charset="0"/>
              <a:ea typeface="黑体" panose="02010609060101010101" pitchFamily="2" charset="-122"/>
            </a:endParaRPr>
          </a:p>
        </p:txBody>
      </p:sp>
    </p:spTree>
  </p:cSld>
  <p:clrMapOvr>
    <a:masterClrMapping/>
  </p:clrMapOvr>
  <p:transition spd="slow">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Text Box 2"/>
          <p:cNvSpPr txBox="1"/>
          <p:nvPr/>
        </p:nvSpPr>
        <p:spPr>
          <a:xfrm>
            <a:off x="1979613" y="423863"/>
            <a:ext cx="5105400" cy="701675"/>
          </a:xfrm>
          <a:prstGeom prst="rect">
            <a:avLst/>
          </a:prstGeom>
          <a:noFill/>
          <a:ln w="12700">
            <a:noFill/>
          </a:ln>
        </p:spPr>
        <p:txBody>
          <a:bodyPr>
            <a:spAutoFit/>
          </a:bodyPr>
          <a:p>
            <a:pPr algn="ctr" eaLnBrk="1" hangingPunct="1">
              <a:spcBef>
                <a:spcPct val="50000"/>
              </a:spcBef>
            </a:pPr>
            <a:r>
              <a:rPr lang="en-US" altLang="zh-CN" sz="4000" dirty="0">
                <a:solidFill>
                  <a:schemeClr val="folHlink"/>
                </a:solidFill>
                <a:latin typeface="Calibri" panose="020F0502020204030204" pitchFamily="34" charset="0"/>
                <a:ea typeface="黑体" panose="02010609060101010101" pitchFamily="2" charset="-122"/>
              </a:rPr>
              <a:t>5.1 </a:t>
            </a:r>
            <a:r>
              <a:rPr lang="zh-CN" altLang="en-US" sz="4000" dirty="0">
                <a:solidFill>
                  <a:schemeClr val="folHlink"/>
                </a:solidFill>
                <a:latin typeface="Calibri" panose="020F0502020204030204" pitchFamily="34" charset="0"/>
                <a:ea typeface="黑体" panose="02010609060101010101" pitchFamily="2" charset="-122"/>
              </a:rPr>
              <a:t>概 述</a:t>
            </a:r>
            <a:endParaRPr lang="zh-CN" altLang="en-US" sz="4000" dirty="0">
              <a:solidFill>
                <a:schemeClr val="folHlink"/>
              </a:solidFill>
              <a:latin typeface="Calibri" panose="020F0502020204030204" pitchFamily="34" charset="0"/>
              <a:ea typeface="黑体" panose="02010609060101010101" pitchFamily="2" charset="-122"/>
            </a:endParaRPr>
          </a:p>
        </p:txBody>
      </p:sp>
      <p:sp>
        <p:nvSpPr>
          <p:cNvPr id="26627" name="Text Box 3"/>
          <p:cNvSpPr txBox="1"/>
          <p:nvPr/>
        </p:nvSpPr>
        <p:spPr>
          <a:xfrm>
            <a:off x="611188" y="1412875"/>
            <a:ext cx="6553200" cy="579438"/>
          </a:xfrm>
          <a:prstGeom prst="rect">
            <a:avLst/>
          </a:prstGeom>
          <a:noFill/>
          <a:ln w="12700">
            <a:noFill/>
          </a:ln>
        </p:spPr>
        <p:txBody>
          <a:bodyPr>
            <a:spAutoFit/>
          </a:bodyPr>
          <a:p>
            <a:pPr eaLnBrk="1" hangingPunct="1">
              <a:spcBef>
                <a:spcPct val="50000"/>
              </a:spcBef>
              <a:buNone/>
            </a:pPr>
            <a:r>
              <a:rPr lang="en-US" altLang="zh-CN" dirty="0">
                <a:solidFill>
                  <a:schemeClr val="folHlink"/>
                </a:solidFill>
                <a:latin typeface="Calibri" panose="020F0502020204030204" pitchFamily="34" charset="0"/>
                <a:ea typeface="黑体" panose="02010609060101010101" pitchFamily="2" charset="-122"/>
              </a:rPr>
              <a:t>5.1.1 </a:t>
            </a:r>
            <a:r>
              <a:rPr lang="zh-CN" altLang="en-US" dirty="0">
                <a:solidFill>
                  <a:schemeClr val="folHlink"/>
                </a:solidFill>
                <a:latin typeface="Calibri" panose="020F0502020204030204" pitchFamily="34" charset="0"/>
                <a:ea typeface="黑体" panose="02010609060101010101" pitchFamily="2" charset="-122"/>
              </a:rPr>
              <a:t>总线与接口简介</a:t>
            </a:r>
            <a:endParaRPr lang="zh-CN" altLang="en-US" dirty="0">
              <a:solidFill>
                <a:schemeClr val="folHlink"/>
              </a:solidFill>
              <a:latin typeface="Calibri" panose="020F0502020204030204" pitchFamily="34" charset="0"/>
              <a:ea typeface="黑体" panose="02010609060101010101" pitchFamily="2" charset="-122"/>
            </a:endParaRPr>
          </a:p>
        </p:txBody>
      </p:sp>
      <p:sp>
        <p:nvSpPr>
          <p:cNvPr id="26628" name="Text Box 4"/>
          <p:cNvSpPr txBox="1"/>
          <p:nvPr/>
        </p:nvSpPr>
        <p:spPr>
          <a:xfrm>
            <a:off x="611188" y="4084638"/>
            <a:ext cx="6553200" cy="1865312"/>
          </a:xfrm>
          <a:prstGeom prst="rect">
            <a:avLst/>
          </a:prstGeom>
          <a:noFill/>
          <a:ln w="12700">
            <a:noFill/>
          </a:ln>
        </p:spPr>
        <p:txBody>
          <a:bodyPr>
            <a:spAutoFit/>
          </a:bodyPr>
          <a:p>
            <a:pPr eaLnBrk="1" hangingPunct="1">
              <a:lnSpc>
                <a:spcPct val="120000"/>
              </a:lnSpc>
              <a:buFont typeface="Wingdings" panose="05000000000000000000" pitchFamily="2" charset="2"/>
              <a:buChar char="ü"/>
            </a:pPr>
            <a:r>
              <a:rPr lang="zh-CN" altLang="en-US" dirty="0">
                <a:solidFill>
                  <a:schemeClr val="accent1"/>
                </a:solidFill>
                <a:latin typeface="Times New Roman" panose="02020603050405020304" pitchFamily="18" charset="0"/>
                <a:ea typeface="黑体" panose="02010609060101010101" pitchFamily="2" charset="-122"/>
              </a:rPr>
              <a:t>  数据总线</a:t>
            </a:r>
            <a:endParaRPr lang="zh-CN" altLang="en-US" dirty="0">
              <a:solidFill>
                <a:schemeClr val="accent1"/>
              </a:solidFill>
              <a:latin typeface="Times New Roman" panose="02020603050405020304" pitchFamily="18" charset="0"/>
              <a:ea typeface="黑体" panose="02010609060101010101" pitchFamily="2" charset="-122"/>
            </a:endParaRPr>
          </a:p>
          <a:p>
            <a:pPr eaLnBrk="1" hangingPunct="1">
              <a:lnSpc>
                <a:spcPct val="120000"/>
              </a:lnSpc>
              <a:buFont typeface="Wingdings" panose="05000000000000000000" pitchFamily="2" charset="2"/>
              <a:buChar char="ü"/>
            </a:pPr>
            <a:r>
              <a:rPr lang="zh-CN" altLang="en-US" dirty="0">
                <a:solidFill>
                  <a:schemeClr val="accent1"/>
                </a:solidFill>
                <a:latin typeface="Times New Roman" panose="02020603050405020304" pitchFamily="18" charset="0"/>
                <a:ea typeface="黑体" panose="02010609060101010101" pitchFamily="2" charset="-122"/>
              </a:rPr>
              <a:t>  地址总线</a:t>
            </a:r>
            <a:endParaRPr lang="zh-CN" altLang="en-US" dirty="0">
              <a:solidFill>
                <a:schemeClr val="accent1"/>
              </a:solidFill>
              <a:latin typeface="Times New Roman" panose="02020603050405020304" pitchFamily="18" charset="0"/>
              <a:ea typeface="黑体" panose="02010609060101010101" pitchFamily="2" charset="-122"/>
            </a:endParaRPr>
          </a:p>
          <a:p>
            <a:pPr eaLnBrk="1" hangingPunct="1">
              <a:lnSpc>
                <a:spcPct val="120000"/>
              </a:lnSpc>
              <a:buFont typeface="Wingdings" panose="05000000000000000000" pitchFamily="2" charset="2"/>
              <a:buChar char="ü"/>
            </a:pPr>
            <a:r>
              <a:rPr lang="zh-CN" altLang="en-US" dirty="0">
                <a:solidFill>
                  <a:schemeClr val="accent1"/>
                </a:solidFill>
                <a:latin typeface="Times New Roman" panose="02020603050405020304" pitchFamily="18" charset="0"/>
                <a:ea typeface="黑体" panose="02010609060101010101" pitchFamily="2" charset="-122"/>
              </a:rPr>
              <a:t>  控制总线</a:t>
            </a:r>
            <a:endParaRPr lang="zh-CN" altLang="en-US" dirty="0">
              <a:solidFill>
                <a:schemeClr val="accent1"/>
              </a:solidFill>
              <a:latin typeface="Times New Roman" panose="02020603050405020304" pitchFamily="18" charset="0"/>
              <a:ea typeface="黑体" panose="02010609060101010101" pitchFamily="2" charset="-122"/>
            </a:endParaRPr>
          </a:p>
        </p:txBody>
      </p:sp>
      <p:sp>
        <p:nvSpPr>
          <p:cNvPr id="26629" name="Text Box 5"/>
          <p:cNvSpPr txBox="1"/>
          <p:nvPr/>
        </p:nvSpPr>
        <p:spPr>
          <a:xfrm>
            <a:off x="611188" y="2033588"/>
            <a:ext cx="8532812" cy="1260475"/>
          </a:xfrm>
          <a:prstGeom prst="rect">
            <a:avLst/>
          </a:prstGeom>
          <a:noFill/>
          <a:ln w="12700">
            <a:noFill/>
          </a:ln>
        </p:spPr>
        <p:txBody>
          <a:bodyPr>
            <a:spAutoFit/>
          </a:bodyPr>
          <a:p>
            <a:pPr eaLnBrk="1" hangingPunct="1">
              <a:lnSpc>
                <a:spcPct val="125000"/>
              </a:lnSpc>
              <a:buNone/>
            </a:pPr>
            <a:r>
              <a:rPr lang="zh-CN" altLang="en-US" dirty="0">
                <a:solidFill>
                  <a:srgbClr val="00FF00"/>
                </a:solidFill>
                <a:latin typeface="Times New Roman" panose="02020603050405020304" pitchFamily="18" charset="0"/>
                <a:ea typeface="黑体" panose="02010609060101010101" pitchFamily="2" charset="-122"/>
              </a:rPr>
              <a:t>总线</a:t>
            </a:r>
            <a:r>
              <a:rPr lang="en-US" altLang="zh-CN" dirty="0">
                <a:solidFill>
                  <a:srgbClr val="00FF00"/>
                </a:solidFill>
                <a:latin typeface="Calibri" panose="020F0502020204030204" pitchFamily="34" charset="0"/>
                <a:ea typeface="黑体" panose="02010609060101010101" pitchFamily="2" charset="-122"/>
              </a:rPr>
              <a:t>(bus)</a:t>
            </a:r>
            <a:r>
              <a:rPr lang="zh-CN" altLang="en-US" dirty="0">
                <a:solidFill>
                  <a:srgbClr val="00FF00"/>
                </a:solidFill>
                <a:latin typeface="Times New Roman" panose="02020603050405020304" pitchFamily="18" charset="0"/>
                <a:ea typeface="黑体" panose="02010609060101010101" pitchFamily="2" charset="-122"/>
              </a:rPr>
              <a:t>：</a:t>
            </a:r>
            <a:r>
              <a:rPr lang="zh-CN" altLang="en-US" dirty="0">
                <a:solidFill>
                  <a:schemeClr val="tx1"/>
                </a:solidFill>
                <a:latin typeface="Times New Roman" panose="02020603050405020304" pitchFamily="18" charset="0"/>
                <a:ea typeface="黑体" panose="02010609060101010101" pitchFamily="2" charset="-122"/>
              </a:rPr>
              <a:t>一种用来连接各功能部件并承当部件之间信息传送任务的信息公共通路。</a:t>
            </a:r>
            <a:endParaRPr lang="zh-CN" altLang="en-US" dirty="0">
              <a:solidFill>
                <a:schemeClr val="tx1"/>
              </a:solidFill>
              <a:latin typeface="Times New Roman" panose="02020603050405020304" pitchFamily="18" charset="0"/>
              <a:ea typeface="黑体" panose="02010609060101010101" pitchFamily="2" charset="-122"/>
            </a:endParaRPr>
          </a:p>
        </p:txBody>
      </p:sp>
      <p:sp>
        <p:nvSpPr>
          <p:cNvPr id="7" name="Text Box 5"/>
          <p:cNvSpPr txBox="1"/>
          <p:nvPr/>
        </p:nvSpPr>
        <p:spPr>
          <a:xfrm>
            <a:off x="611188" y="3357563"/>
            <a:ext cx="4248150" cy="706755"/>
          </a:xfrm>
          <a:prstGeom prst="rect">
            <a:avLst/>
          </a:prstGeom>
          <a:noFill/>
          <a:ln w="12700">
            <a:noFill/>
          </a:ln>
        </p:spPr>
        <p:txBody>
          <a:bodyPr>
            <a:spAutoFit/>
          </a:bodyPr>
          <a:p>
            <a:pPr eaLnBrk="1" hangingPunct="1">
              <a:lnSpc>
                <a:spcPct val="125000"/>
              </a:lnSpc>
            </a:pPr>
            <a:r>
              <a:rPr lang="zh-CN" altLang="en-US" dirty="0">
                <a:solidFill>
                  <a:srgbClr val="FFFF00"/>
                </a:solidFill>
                <a:latin typeface="Times New Roman" panose="02020603050405020304" pitchFamily="18" charset="0"/>
                <a:ea typeface="黑体" panose="02010609060101010101" pitchFamily="2" charset="-122"/>
              </a:rPr>
              <a:t>特点：分时共享</a:t>
            </a:r>
            <a:endParaRPr lang="zh-CN" altLang="en-US" dirty="0">
              <a:solidFill>
                <a:srgbClr val="FFFF00"/>
              </a:solidFill>
              <a:latin typeface="Times New Roman" panose="02020603050405020304" pitchFamily="18" charset="0"/>
              <a:ea typeface="黑体" panose="02010609060101010101" pitchFamily="2" charset="-122"/>
            </a:endParaRPr>
          </a:p>
        </p:txBody>
      </p:sp>
    </p:spTree>
  </p:cSld>
  <p:clrMapOvr>
    <a:masterClrMapping/>
  </p:clrMapOvr>
  <p:transition spd="slow">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5" name="Text Box 3"/>
          <p:cNvSpPr txBox="1"/>
          <p:nvPr/>
        </p:nvSpPr>
        <p:spPr>
          <a:xfrm>
            <a:off x="395288" y="476250"/>
            <a:ext cx="8424862" cy="1260475"/>
          </a:xfrm>
          <a:prstGeom prst="rect">
            <a:avLst/>
          </a:prstGeom>
          <a:noFill/>
          <a:ln w="12700">
            <a:noFill/>
          </a:ln>
        </p:spPr>
        <p:txBody>
          <a:bodyPr>
            <a:spAutoFit/>
          </a:bodyPr>
          <a:p>
            <a:pPr eaLnBrk="1" hangingPunct="1">
              <a:lnSpc>
                <a:spcPct val="120000"/>
              </a:lnSpc>
            </a:pPr>
            <a:r>
              <a:rPr lang="en-US" altLang="zh-CN" dirty="0">
                <a:solidFill>
                  <a:srgbClr val="00FF00"/>
                </a:solidFill>
                <a:latin typeface="Calibri" panose="020F0502020204030204" pitchFamily="34" charset="0"/>
                <a:ea typeface="黑体" panose="02010609060101010101" pitchFamily="2" charset="-122"/>
              </a:rPr>
              <a:t>I/O</a:t>
            </a:r>
            <a:r>
              <a:rPr lang="zh-CN" altLang="en-US" dirty="0">
                <a:solidFill>
                  <a:srgbClr val="00FF00"/>
                </a:solidFill>
                <a:latin typeface="Calibri" panose="020F0502020204030204" pitchFamily="34" charset="0"/>
                <a:ea typeface="黑体" panose="02010609060101010101" pitchFamily="2" charset="-122"/>
              </a:rPr>
              <a:t>接口：</a:t>
            </a:r>
            <a:r>
              <a:rPr lang="zh-CN" altLang="en-US" dirty="0">
                <a:solidFill>
                  <a:schemeClr val="tx1"/>
                </a:solidFill>
                <a:latin typeface="Calibri" panose="020F0502020204030204" pitchFamily="34" charset="0"/>
                <a:ea typeface="黑体" panose="02010609060101010101" pitchFamily="2" charset="-122"/>
              </a:rPr>
              <a:t>主机和外设的衔接部分，位于总线和外部设备之间。</a:t>
            </a:r>
            <a:endParaRPr lang="zh-CN" altLang="en-US" dirty="0">
              <a:solidFill>
                <a:schemeClr val="tx1"/>
              </a:solidFill>
              <a:latin typeface="Calibri" panose="020F0502020204030204" pitchFamily="34" charset="0"/>
              <a:ea typeface="黑体" panose="02010609060101010101" pitchFamily="2" charset="-122"/>
            </a:endParaRPr>
          </a:p>
        </p:txBody>
      </p:sp>
      <p:sp>
        <p:nvSpPr>
          <p:cNvPr id="13317" name="Text Box 5"/>
          <p:cNvSpPr txBox="1"/>
          <p:nvPr/>
        </p:nvSpPr>
        <p:spPr>
          <a:xfrm>
            <a:off x="6155690" y="1340803"/>
            <a:ext cx="1371600" cy="557212"/>
          </a:xfrm>
          <a:prstGeom prst="rect">
            <a:avLst/>
          </a:prstGeom>
          <a:solidFill>
            <a:schemeClr val="accent1"/>
          </a:solidFill>
          <a:ln w="38100" cap="sq" cmpd="sng">
            <a:solidFill>
              <a:schemeClr val="bg2"/>
            </a:solidFill>
            <a:prstDash val="solid"/>
            <a:miter/>
            <a:headEnd type="none" w="sm" len="sm"/>
            <a:tailEnd type="none" w="sm" len="sm"/>
          </a:ln>
        </p:spPr>
        <p:txBody>
          <a:bodyPr>
            <a:spAutoFit/>
          </a:bodyPr>
          <a:p>
            <a:pPr algn="ctr" eaLnBrk="1" hangingPunct="1">
              <a:spcBef>
                <a:spcPct val="50000"/>
              </a:spcBef>
            </a:pPr>
            <a:r>
              <a:rPr lang="en-US" altLang="zh-CN" sz="2800" dirty="0">
                <a:solidFill>
                  <a:srgbClr val="FFFF00"/>
                </a:solidFill>
                <a:latin typeface="Times New Roman" panose="02020603050405020304" pitchFamily="18" charset="0"/>
                <a:ea typeface="黑体" panose="02010609060101010101" pitchFamily="2" charset="-122"/>
              </a:rPr>
              <a:t>  </a:t>
            </a:r>
            <a:r>
              <a:rPr lang="zh-CN" altLang="en-US" sz="2800" dirty="0">
                <a:solidFill>
                  <a:srgbClr val="990033"/>
                </a:solidFill>
                <a:latin typeface="Times New Roman" panose="02020603050405020304" pitchFamily="18" charset="0"/>
                <a:ea typeface="黑体" panose="02010609060101010101" pitchFamily="2" charset="-122"/>
              </a:rPr>
              <a:t>接口</a:t>
            </a:r>
            <a:r>
              <a:rPr lang="en-US" altLang="zh-CN" sz="2800" dirty="0">
                <a:solidFill>
                  <a:srgbClr val="990033"/>
                </a:solidFill>
                <a:latin typeface="Times New Roman" panose="02020603050405020304" pitchFamily="18" charset="0"/>
                <a:ea typeface="黑体" panose="02010609060101010101" pitchFamily="2" charset="-122"/>
              </a:rPr>
              <a:t>1</a:t>
            </a:r>
            <a:endParaRPr lang="en-US" altLang="zh-CN" sz="2800" dirty="0">
              <a:solidFill>
                <a:srgbClr val="FFFF00"/>
              </a:solidFill>
              <a:latin typeface="Times New Roman" panose="02020603050405020304" pitchFamily="18" charset="0"/>
              <a:ea typeface="黑体" panose="02010609060101010101" pitchFamily="2" charset="-122"/>
            </a:endParaRPr>
          </a:p>
        </p:txBody>
      </p:sp>
      <p:sp>
        <p:nvSpPr>
          <p:cNvPr id="13318" name="Line 6"/>
          <p:cNvSpPr/>
          <p:nvPr/>
        </p:nvSpPr>
        <p:spPr>
          <a:xfrm>
            <a:off x="8301990" y="1302703"/>
            <a:ext cx="0" cy="685800"/>
          </a:xfrm>
          <a:prstGeom prst="line">
            <a:avLst/>
          </a:prstGeom>
          <a:ln w="38100" cap="sq" cmpd="sng">
            <a:solidFill>
              <a:schemeClr val="tx1"/>
            </a:solidFill>
            <a:prstDash val="solid"/>
            <a:headEnd type="none" w="sm" len="sm"/>
            <a:tailEnd type="none" w="sm" len="sm"/>
          </a:ln>
        </p:spPr>
      </p:sp>
      <p:sp>
        <p:nvSpPr>
          <p:cNvPr id="13319" name="Line 7"/>
          <p:cNvSpPr/>
          <p:nvPr/>
        </p:nvSpPr>
        <p:spPr>
          <a:xfrm>
            <a:off x="5469890" y="1036003"/>
            <a:ext cx="0" cy="2438400"/>
          </a:xfrm>
          <a:prstGeom prst="line">
            <a:avLst/>
          </a:prstGeom>
          <a:ln w="76200" cap="sq" cmpd="sng">
            <a:solidFill>
              <a:schemeClr val="tx1"/>
            </a:solidFill>
            <a:prstDash val="solid"/>
            <a:headEnd type="none" w="sm" len="sm"/>
            <a:tailEnd type="none" w="sm" len="sm"/>
          </a:ln>
        </p:spPr>
      </p:sp>
      <p:sp>
        <p:nvSpPr>
          <p:cNvPr id="13320" name="Text Box 8"/>
          <p:cNvSpPr txBox="1"/>
          <p:nvPr/>
        </p:nvSpPr>
        <p:spPr>
          <a:xfrm>
            <a:off x="8365490" y="1239203"/>
            <a:ext cx="611188" cy="838200"/>
          </a:xfrm>
          <a:prstGeom prst="rect">
            <a:avLst/>
          </a:prstGeom>
          <a:noFill/>
          <a:ln w="12700">
            <a:noFill/>
          </a:ln>
        </p:spPr>
        <p:txBody>
          <a:bodyPr vert="eaVert">
            <a:spAutoFit/>
          </a:bodyPr>
          <a:p>
            <a:pPr eaLnBrk="1" hangingPunct="1">
              <a:spcBef>
                <a:spcPct val="50000"/>
              </a:spcBef>
            </a:pPr>
            <a:r>
              <a:rPr lang="zh-CN" altLang="en-US" sz="2800" dirty="0">
                <a:solidFill>
                  <a:srgbClr val="FFFF00"/>
                </a:solidFill>
                <a:latin typeface="Times New Roman" panose="02020603050405020304" pitchFamily="18" charset="0"/>
                <a:ea typeface="黑体" panose="02010609060101010101" pitchFamily="2" charset="-122"/>
              </a:rPr>
              <a:t>外设</a:t>
            </a:r>
            <a:endParaRPr lang="zh-CN" altLang="en-US" sz="2800" dirty="0">
              <a:solidFill>
                <a:srgbClr val="FFFF00"/>
              </a:solidFill>
              <a:latin typeface="Times New Roman" panose="02020603050405020304" pitchFamily="18" charset="0"/>
              <a:ea typeface="黑体" panose="02010609060101010101" pitchFamily="2" charset="-122"/>
            </a:endParaRPr>
          </a:p>
        </p:txBody>
      </p:sp>
      <p:sp>
        <p:nvSpPr>
          <p:cNvPr id="13321" name="Text Box 9"/>
          <p:cNvSpPr txBox="1"/>
          <p:nvPr/>
        </p:nvSpPr>
        <p:spPr>
          <a:xfrm>
            <a:off x="4860290" y="1417003"/>
            <a:ext cx="611188" cy="1752600"/>
          </a:xfrm>
          <a:prstGeom prst="rect">
            <a:avLst/>
          </a:prstGeom>
          <a:noFill/>
          <a:ln w="12700">
            <a:noFill/>
          </a:ln>
        </p:spPr>
        <p:txBody>
          <a:bodyPr vert="eaVert">
            <a:spAutoFit/>
          </a:bodyPr>
          <a:p>
            <a:pPr eaLnBrk="1" hangingPunct="1">
              <a:spcBef>
                <a:spcPct val="50000"/>
              </a:spcBef>
            </a:pPr>
            <a:r>
              <a:rPr lang="zh-CN" altLang="en-US" sz="2800" dirty="0">
                <a:solidFill>
                  <a:srgbClr val="FFFF00"/>
                </a:solidFill>
                <a:latin typeface="Times New Roman" panose="02020603050405020304" pitchFamily="18" charset="0"/>
                <a:ea typeface="黑体" panose="02010609060101010101" pitchFamily="2" charset="-122"/>
              </a:rPr>
              <a:t>系统总线</a:t>
            </a:r>
            <a:endParaRPr lang="zh-CN" altLang="en-US" sz="2800" dirty="0">
              <a:solidFill>
                <a:srgbClr val="FFFF00"/>
              </a:solidFill>
              <a:latin typeface="Times New Roman" panose="02020603050405020304" pitchFamily="18" charset="0"/>
              <a:ea typeface="黑体" panose="02010609060101010101" pitchFamily="2" charset="-122"/>
            </a:endParaRPr>
          </a:p>
        </p:txBody>
      </p:sp>
      <p:sp>
        <p:nvSpPr>
          <p:cNvPr id="13322" name="Line 10"/>
          <p:cNvSpPr/>
          <p:nvPr/>
        </p:nvSpPr>
        <p:spPr>
          <a:xfrm>
            <a:off x="5469890" y="1632903"/>
            <a:ext cx="685800" cy="0"/>
          </a:xfrm>
          <a:prstGeom prst="line">
            <a:avLst/>
          </a:prstGeom>
          <a:ln w="28575" cap="sq" cmpd="sng">
            <a:solidFill>
              <a:schemeClr val="tx1"/>
            </a:solidFill>
            <a:prstDash val="solid"/>
            <a:headEnd type="triangle" w="med" len="med"/>
            <a:tailEnd type="triangle" w="med" len="med"/>
          </a:ln>
        </p:spPr>
      </p:sp>
      <p:sp>
        <p:nvSpPr>
          <p:cNvPr id="13323" name="Line 11"/>
          <p:cNvSpPr/>
          <p:nvPr/>
        </p:nvSpPr>
        <p:spPr>
          <a:xfrm>
            <a:off x="7527290" y="1645603"/>
            <a:ext cx="762000" cy="0"/>
          </a:xfrm>
          <a:prstGeom prst="line">
            <a:avLst/>
          </a:prstGeom>
          <a:ln w="28575" cap="sq" cmpd="sng">
            <a:solidFill>
              <a:schemeClr val="tx1"/>
            </a:solidFill>
            <a:prstDash val="solid"/>
            <a:headEnd type="triangle" w="med" len="med"/>
            <a:tailEnd type="triangle" w="med" len="med"/>
          </a:ln>
        </p:spPr>
      </p:sp>
      <p:sp>
        <p:nvSpPr>
          <p:cNvPr id="13324" name="Text Box 12"/>
          <p:cNvSpPr txBox="1"/>
          <p:nvPr/>
        </p:nvSpPr>
        <p:spPr>
          <a:xfrm>
            <a:off x="6155690" y="2560003"/>
            <a:ext cx="1371600" cy="557212"/>
          </a:xfrm>
          <a:prstGeom prst="rect">
            <a:avLst/>
          </a:prstGeom>
          <a:solidFill>
            <a:schemeClr val="accent1"/>
          </a:solidFill>
          <a:ln w="38100" cap="sq" cmpd="sng">
            <a:solidFill>
              <a:schemeClr val="bg2"/>
            </a:solidFill>
            <a:prstDash val="solid"/>
            <a:miter/>
            <a:headEnd type="none" w="sm" len="sm"/>
            <a:tailEnd type="none" w="sm" len="sm"/>
          </a:ln>
        </p:spPr>
        <p:txBody>
          <a:bodyPr>
            <a:spAutoFit/>
          </a:bodyPr>
          <a:p>
            <a:pPr algn="ctr" eaLnBrk="1" hangingPunct="1">
              <a:spcBef>
                <a:spcPct val="50000"/>
              </a:spcBef>
            </a:pPr>
            <a:r>
              <a:rPr lang="en-US" altLang="zh-CN" sz="2800" dirty="0">
                <a:solidFill>
                  <a:srgbClr val="FFFF00"/>
                </a:solidFill>
                <a:latin typeface="Times New Roman" panose="02020603050405020304" pitchFamily="18" charset="0"/>
                <a:ea typeface="黑体" panose="02010609060101010101" pitchFamily="2" charset="-122"/>
              </a:rPr>
              <a:t>  </a:t>
            </a:r>
            <a:r>
              <a:rPr lang="zh-CN" altLang="en-US" sz="2800" dirty="0">
                <a:solidFill>
                  <a:srgbClr val="990033"/>
                </a:solidFill>
                <a:latin typeface="Times New Roman" panose="02020603050405020304" pitchFamily="18" charset="0"/>
                <a:ea typeface="黑体" panose="02010609060101010101" pitchFamily="2" charset="-122"/>
              </a:rPr>
              <a:t>接口</a:t>
            </a:r>
            <a:r>
              <a:rPr lang="en-US" altLang="zh-CN" sz="2800" dirty="0">
                <a:solidFill>
                  <a:srgbClr val="990033"/>
                </a:solidFill>
                <a:latin typeface="Times New Roman" panose="02020603050405020304" pitchFamily="18" charset="0"/>
                <a:ea typeface="黑体" panose="02010609060101010101" pitchFamily="2" charset="-122"/>
              </a:rPr>
              <a:t>n</a:t>
            </a:r>
            <a:endParaRPr lang="en-US" altLang="zh-CN" sz="2800" dirty="0">
              <a:solidFill>
                <a:srgbClr val="FFFF00"/>
              </a:solidFill>
              <a:latin typeface="Times New Roman" panose="02020603050405020304" pitchFamily="18" charset="0"/>
              <a:ea typeface="黑体" panose="02010609060101010101" pitchFamily="2" charset="-122"/>
            </a:endParaRPr>
          </a:p>
        </p:txBody>
      </p:sp>
      <p:sp>
        <p:nvSpPr>
          <p:cNvPr id="13325" name="Line 13"/>
          <p:cNvSpPr/>
          <p:nvPr/>
        </p:nvSpPr>
        <p:spPr>
          <a:xfrm>
            <a:off x="8301990" y="2547303"/>
            <a:ext cx="0" cy="609600"/>
          </a:xfrm>
          <a:prstGeom prst="line">
            <a:avLst/>
          </a:prstGeom>
          <a:ln w="38100" cap="sq" cmpd="sng">
            <a:solidFill>
              <a:schemeClr val="tx1"/>
            </a:solidFill>
            <a:prstDash val="solid"/>
            <a:headEnd type="none" w="sm" len="sm"/>
            <a:tailEnd type="none" w="sm" len="sm"/>
          </a:ln>
        </p:spPr>
      </p:sp>
      <p:sp>
        <p:nvSpPr>
          <p:cNvPr id="13326" name="Text Box 14"/>
          <p:cNvSpPr txBox="1"/>
          <p:nvPr/>
        </p:nvSpPr>
        <p:spPr>
          <a:xfrm>
            <a:off x="8365490" y="2458403"/>
            <a:ext cx="611188" cy="838200"/>
          </a:xfrm>
          <a:prstGeom prst="rect">
            <a:avLst/>
          </a:prstGeom>
          <a:noFill/>
          <a:ln w="12700">
            <a:noFill/>
          </a:ln>
        </p:spPr>
        <p:txBody>
          <a:bodyPr vert="eaVert">
            <a:spAutoFit/>
          </a:bodyPr>
          <a:p>
            <a:pPr eaLnBrk="1" hangingPunct="1">
              <a:spcBef>
                <a:spcPct val="50000"/>
              </a:spcBef>
            </a:pPr>
            <a:r>
              <a:rPr lang="zh-CN" altLang="en-US" sz="2800" dirty="0">
                <a:solidFill>
                  <a:srgbClr val="FFFF00"/>
                </a:solidFill>
                <a:latin typeface="Times New Roman" panose="02020603050405020304" pitchFamily="18" charset="0"/>
                <a:ea typeface="黑体" panose="02010609060101010101" pitchFamily="2" charset="-122"/>
              </a:rPr>
              <a:t>外设</a:t>
            </a:r>
            <a:endParaRPr lang="zh-CN" altLang="en-US" sz="2800" dirty="0">
              <a:solidFill>
                <a:srgbClr val="FFFF00"/>
              </a:solidFill>
              <a:latin typeface="Times New Roman" panose="02020603050405020304" pitchFamily="18" charset="0"/>
              <a:ea typeface="黑体" panose="02010609060101010101" pitchFamily="2" charset="-122"/>
            </a:endParaRPr>
          </a:p>
        </p:txBody>
      </p:sp>
      <p:sp>
        <p:nvSpPr>
          <p:cNvPr id="13327" name="Line 15"/>
          <p:cNvSpPr/>
          <p:nvPr/>
        </p:nvSpPr>
        <p:spPr>
          <a:xfrm>
            <a:off x="5469890" y="2852103"/>
            <a:ext cx="685800" cy="0"/>
          </a:xfrm>
          <a:prstGeom prst="line">
            <a:avLst/>
          </a:prstGeom>
          <a:ln w="28575" cap="sq" cmpd="sng">
            <a:solidFill>
              <a:schemeClr val="tx1"/>
            </a:solidFill>
            <a:prstDash val="solid"/>
            <a:headEnd type="triangle" w="med" len="med"/>
            <a:tailEnd type="triangle" w="med" len="med"/>
          </a:ln>
        </p:spPr>
      </p:sp>
      <p:sp>
        <p:nvSpPr>
          <p:cNvPr id="13328" name="Line 16"/>
          <p:cNvSpPr/>
          <p:nvPr/>
        </p:nvSpPr>
        <p:spPr>
          <a:xfrm>
            <a:off x="7527290" y="2864803"/>
            <a:ext cx="762000" cy="0"/>
          </a:xfrm>
          <a:prstGeom prst="line">
            <a:avLst/>
          </a:prstGeom>
          <a:ln w="28575" cap="sq" cmpd="sng">
            <a:solidFill>
              <a:schemeClr val="tx1"/>
            </a:solidFill>
            <a:prstDash val="solid"/>
            <a:headEnd type="triangle" w="med" len="med"/>
            <a:tailEnd type="triangle" w="med" len="med"/>
          </a:ln>
        </p:spPr>
      </p:sp>
      <p:sp>
        <p:nvSpPr>
          <p:cNvPr id="10257" name="Text Box 17"/>
          <p:cNvSpPr txBox="1"/>
          <p:nvPr/>
        </p:nvSpPr>
        <p:spPr>
          <a:xfrm>
            <a:off x="6638290" y="1975803"/>
            <a:ext cx="733425" cy="457200"/>
          </a:xfrm>
          <a:prstGeom prst="rect">
            <a:avLst/>
          </a:prstGeom>
          <a:noFill/>
          <a:ln w="12700">
            <a:noFill/>
          </a:ln>
        </p:spPr>
        <p:txBody>
          <a:bodyPr vert="eaVert">
            <a:spAutoFit/>
          </a:bodyPr>
          <a:p>
            <a:pPr algn="ctr">
              <a:spcBef>
                <a:spcPct val="50000"/>
              </a:spcBef>
            </a:pPr>
            <a:r>
              <a:rPr lang="en-US" altLang="zh-CN" sz="3600" b="0" dirty="0">
                <a:solidFill>
                  <a:schemeClr val="tx1"/>
                </a:solidFill>
                <a:latin typeface="Times New Roman" panose="02020603050405020304" pitchFamily="18" charset="0"/>
              </a:rPr>
              <a:t>…</a:t>
            </a:r>
            <a:endParaRPr lang="en-US" altLang="zh-CN" sz="3600" b="0" dirty="0">
              <a:solidFill>
                <a:schemeClr val="tx1"/>
              </a:solidFill>
              <a:latin typeface="Times New Roman" panose="02020603050405020304" pitchFamily="18" charset="0"/>
            </a:endParaRPr>
          </a:p>
        </p:txBody>
      </p:sp>
      <p:sp>
        <p:nvSpPr>
          <p:cNvPr id="15362" name="Text Box 2"/>
          <p:cNvSpPr txBox="1"/>
          <p:nvPr/>
        </p:nvSpPr>
        <p:spPr>
          <a:xfrm>
            <a:off x="251460" y="1791970"/>
            <a:ext cx="4695825" cy="645160"/>
          </a:xfrm>
          <a:prstGeom prst="rect">
            <a:avLst/>
          </a:prstGeom>
          <a:noFill/>
          <a:ln w="12700">
            <a:noFill/>
          </a:ln>
        </p:spPr>
        <p:txBody>
          <a:bodyPr wrap="square">
            <a:spAutoFit/>
          </a:bodyPr>
          <a:p>
            <a:pPr marL="571500" indent="-571500" eaLnBrk="1" hangingPunct="1">
              <a:spcBef>
                <a:spcPct val="50000"/>
              </a:spcBef>
              <a:buFont typeface="Arial" panose="020B0604020202020204" pitchFamily="34" charset="0"/>
              <a:buChar char="•"/>
            </a:pPr>
            <a:r>
              <a:rPr lang="en-US" altLang="zh-CN" sz="3600" dirty="0">
                <a:solidFill>
                  <a:schemeClr val="folHlink"/>
                </a:solidFill>
                <a:latin typeface="Calibri" panose="020F0502020204030204" pitchFamily="34" charset="0"/>
                <a:ea typeface="黑体" panose="02010609060101010101" pitchFamily="2" charset="-122"/>
              </a:rPr>
              <a:t>I/O</a:t>
            </a:r>
            <a:r>
              <a:rPr lang="zh-CN" altLang="en-US" sz="3600" dirty="0">
                <a:solidFill>
                  <a:schemeClr val="folHlink"/>
                </a:solidFill>
                <a:latin typeface="Calibri" panose="020F0502020204030204" pitchFamily="34" charset="0"/>
                <a:ea typeface="黑体" panose="02010609060101010101" pitchFamily="2" charset="-122"/>
              </a:rPr>
              <a:t>接口的基本功能</a:t>
            </a:r>
            <a:endParaRPr lang="zh-CN" altLang="en-US" sz="3600" dirty="0">
              <a:solidFill>
                <a:schemeClr val="folHlink"/>
              </a:solidFill>
              <a:latin typeface="Calibri" panose="020F0502020204030204" pitchFamily="34" charset="0"/>
              <a:ea typeface="黑体" panose="02010609060101010101" pitchFamily="2" charset="-122"/>
            </a:endParaRPr>
          </a:p>
        </p:txBody>
      </p:sp>
      <p:sp>
        <p:nvSpPr>
          <p:cNvPr id="15363" name="Rectangle 3"/>
          <p:cNvSpPr/>
          <p:nvPr/>
        </p:nvSpPr>
        <p:spPr>
          <a:xfrm>
            <a:off x="251460" y="3169920"/>
            <a:ext cx="8243888" cy="1274763"/>
          </a:xfrm>
          <a:prstGeom prst="rect">
            <a:avLst/>
          </a:prstGeom>
          <a:noFill/>
          <a:ln w="12700">
            <a:noFill/>
          </a:ln>
        </p:spPr>
        <p:txBody>
          <a:bodyPr>
            <a:spAutoFit/>
          </a:bodyPr>
          <a:p>
            <a:pPr eaLnBrk="1" hangingPunct="1">
              <a:lnSpc>
                <a:spcPct val="120000"/>
              </a:lnSpc>
            </a:pPr>
            <a:r>
              <a:rPr lang="zh-CN" altLang="en-US" dirty="0">
                <a:solidFill>
                  <a:schemeClr val="tx1"/>
                </a:solidFill>
                <a:latin typeface="Calibri" panose="020F0502020204030204" pitchFamily="34" charset="0"/>
                <a:ea typeface="黑体" panose="02010609060101010101" pitchFamily="2" charset="-122"/>
              </a:rPr>
              <a:t>接收</a:t>
            </a:r>
            <a:r>
              <a:rPr lang="en-US" altLang="zh-CN" dirty="0">
                <a:solidFill>
                  <a:schemeClr val="tx1"/>
                </a:solidFill>
                <a:latin typeface="Calibri" panose="020F0502020204030204" pitchFamily="34" charset="0"/>
                <a:ea typeface="黑体" panose="02010609060101010101" pitchFamily="2" charset="-122"/>
              </a:rPr>
              <a:t>CPU</a:t>
            </a:r>
            <a:r>
              <a:rPr lang="zh-CN" altLang="en-US" dirty="0">
                <a:solidFill>
                  <a:schemeClr val="tx1"/>
                </a:solidFill>
                <a:latin typeface="Calibri" panose="020F0502020204030204" pitchFamily="34" charset="0"/>
                <a:ea typeface="黑体" panose="02010609060101010101" pitchFamily="2" charset="-122"/>
              </a:rPr>
              <a:t>送来的地址码，选择接口中的寄存器供</a:t>
            </a:r>
            <a:r>
              <a:rPr lang="en-US" altLang="zh-CN" dirty="0">
                <a:solidFill>
                  <a:schemeClr val="tx1"/>
                </a:solidFill>
                <a:latin typeface="Calibri" panose="020F0502020204030204" pitchFamily="34" charset="0"/>
                <a:ea typeface="黑体" panose="02010609060101010101" pitchFamily="2" charset="-122"/>
              </a:rPr>
              <a:t>CPU</a:t>
            </a:r>
            <a:r>
              <a:rPr lang="zh-CN" altLang="en-US" dirty="0">
                <a:solidFill>
                  <a:schemeClr val="tx1"/>
                </a:solidFill>
                <a:latin typeface="Calibri" panose="020F0502020204030204" pitchFamily="34" charset="0"/>
                <a:ea typeface="黑体" panose="02010609060101010101" pitchFamily="2" charset="-122"/>
              </a:rPr>
              <a:t>访问。</a:t>
            </a:r>
            <a:endParaRPr lang="zh-CN" altLang="en-US" dirty="0">
              <a:solidFill>
                <a:schemeClr val="tx1"/>
              </a:solidFill>
              <a:latin typeface="Calibri" panose="020F0502020204030204" pitchFamily="34" charset="0"/>
              <a:ea typeface="黑体" panose="02010609060101010101" pitchFamily="2" charset="-122"/>
            </a:endParaRPr>
          </a:p>
        </p:txBody>
      </p:sp>
      <p:sp>
        <p:nvSpPr>
          <p:cNvPr id="15364" name="Text Box 4"/>
          <p:cNvSpPr txBox="1"/>
          <p:nvPr/>
        </p:nvSpPr>
        <p:spPr>
          <a:xfrm>
            <a:off x="251460" y="2593658"/>
            <a:ext cx="3048000" cy="579437"/>
          </a:xfrm>
          <a:prstGeom prst="rect">
            <a:avLst/>
          </a:prstGeom>
          <a:noFill/>
          <a:ln w="12700">
            <a:noFill/>
          </a:ln>
        </p:spPr>
        <p:txBody>
          <a:bodyPr>
            <a:spAutoFit/>
          </a:bodyPr>
          <a:p>
            <a:pPr eaLnBrk="1" hangingPunct="1">
              <a:spcBef>
                <a:spcPct val="50000"/>
              </a:spcBef>
            </a:pPr>
            <a:r>
              <a:rPr lang="en-US" altLang="zh-CN" dirty="0">
                <a:solidFill>
                  <a:srgbClr val="FFFF00"/>
                </a:solidFill>
                <a:latin typeface="Calibri" panose="020F0502020204030204" pitchFamily="34" charset="0"/>
                <a:ea typeface="黑体" panose="02010609060101010101" pitchFamily="2" charset="-122"/>
              </a:rPr>
              <a:t>(1)</a:t>
            </a:r>
            <a:r>
              <a:rPr lang="zh-CN" altLang="en-US" dirty="0">
                <a:solidFill>
                  <a:srgbClr val="FFFF00"/>
                </a:solidFill>
                <a:latin typeface="Calibri" panose="020F0502020204030204" pitchFamily="34" charset="0"/>
                <a:ea typeface="黑体" panose="02010609060101010101" pitchFamily="2" charset="-122"/>
              </a:rPr>
              <a:t>设备寻址</a:t>
            </a:r>
            <a:endParaRPr lang="zh-CN" altLang="en-US" dirty="0">
              <a:solidFill>
                <a:srgbClr val="FFFF00"/>
              </a:solidFill>
              <a:latin typeface="Calibri" panose="020F0502020204030204" pitchFamily="34" charset="0"/>
              <a:ea typeface="黑体" panose="02010609060101010101" pitchFamily="2" charset="-122"/>
            </a:endParaRPr>
          </a:p>
        </p:txBody>
      </p:sp>
      <p:sp>
        <p:nvSpPr>
          <p:cNvPr id="15366" name="Text Box 6"/>
          <p:cNvSpPr txBox="1"/>
          <p:nvPr/>
        </p:nvSpPr>
        <p:spPr>
          <a:xfrm>
            <a:off x="251460" y="4609783"/>
            <a:ext cx="3048000" cy="579437"/>
          </a:xfrm>
          <a:prstGeom prst="rect">
            <a:avLst/>
          </a:prstGeom>
          <a:noFill/>
          <a:ln w="12700">
            <a:noFill/>
          </a:ln>
        </p:spPr>
        <p:txBody>
          <a:bodyPr>
            <a:spAutoFit/>
          </a:bodyPr>
          <a:p>
            <a:pPr eaLnBrk="1" hangingPunct="1">
              <a:spcBef>
                <a:spcPct val="50000"/>
              </a:spcBef>
            </a:pPr>
            <a:r>
              <a:rPr lang="en-US" altLang="zh-CN" dirty="0">
                <a:solidFill>
                  <a:srgbClr val="FFFF00"/>
                </a:solidFill>
                <a:latin typeface="Calibri" panose="020F0502020204030204" pitchFamily="34" charset="0"/>
                <a:ea typeface="黑体" panose="02010609060101010101" pitchFamily="2" charset="-122"/>
              </a:rPr>
              <a:t>(2)</a:t>
            </a:r>
            <a:r>
              <a:rPr lang="zh-CN" altLang="en-US" dirty="0">
                <a:solidFill>
                  <a:srgbClr val="FFFF00"/>
                </a:solidFill>
                <a:latin typeface="Calibri" panose="020F0502020204030204" pitchFamily="34" charset="0"/>
                <a:ea typeface="黑体" panose="02010609060101010101" pitchFamily="2" charset="-122"/>
              </a:rPr>
              <a:t>数据缓冲</a:t>
            </a:r>
            <a:endParaRPr lang="zh-CN" altLang="en-US" dirty="0">
              <a:solidFill>
                <a:srgbClr val="FFFF00"/>
              </a:solidFill>
              <a:latin typeface="Calibri" panose="020F0502020204030204" pitchFamily="34" charset="0"/>
              <a:ea typeface="黑体" panose="02010609060101010101" pitchFamily="2" charset="-122"/>
            </a:endParaRPr>
          </a:p>
        </p:txBody>
      </p:sp>
      <p:sp>
        <p:nvSpPr>
          <p:cNvPr id="15367" name="Rectangle 7"/>
          <p:cNvSpPr/>
          <p:nvPr/>
        </p:nvSpPr>
        <p:spPr>
          <a:xfrm>
            <a:off x="251460" y="5186045"/>
            <a:ext cx="8359775" cy="1260475"/>
          </a:xfrm>
          <a:prstGeom prst="rect">
            <a:avLst/>
          </a:prstGeom>
          <a:noFill/>
          <a:ln w="12700">
            <a:noFill/>
          </a:ln>
        </p:spPr>
        <p:txBody>
          <a:bodyPr>
            <a:spAutoFit/>
          </a:bodyPr>
          <a:p>
            <a:pPr eaLnBrk="1" hangingPunct="1">
              <a:lnSpc>
                <a:spcPct val="120000"/>
              </a:lnSpc>
            </a:pPr>
            <a:r>
              <a:rPr lang="zh-CN" altLang="en-US" dirty="0">
                <a:solidFill>
                  <a:schemeClr val="tx1"/>
                </a:solidFill>
                <a:latin typeface="Calibri" panose="020F0502020204030204" pitchFamily="34" charset="0"/>
                <a:ea typeface="黑体" panose="02010609060101010101" pitchFamily="2" charset="-122"/>
              </a:rPr>
              <a:t>实现主机与外设的速度匹配</a:t>
            </a:r>
            <a:r>
              <a:rPr lang="en-US" altLang="zh-CN" dirty="0">
                <a:solidFill>
                  <a:schemeClr val="tx1"/>
                </a:solidFill>
                <a:latin typeface="Calibri" panose="020F0502020204030204" pitchFamily="34" charset="0"/>
                <a:ea typeface="黑体" panose="02010609060101010101" pitchFamily="2" charset="-122"/>
              </a:rPr>
              <a:t>,</a:t>
            </a:r>
            <a:r>
              <a:rPr lang="zh-CN" altLang="en-US" dirty="0">
                <a:solidFill>
                  <a:schemeClr val="tx1"/>
                </a:solidFill>
                <a:latin typeface="Calibri" panose="020F0502020204030204" pitchFamily="34" charset="0"/>
                <a:ea typeface="黑体" panose="02010609060101010101" pitchFamily="2" charset="-122"/>
              </a:rPr>
              <a:t>缓冲深度与传送的数据量有关。 </a:t>
            </a:r>
            <a:endParaRPr lang="zh-CN" altLang="en-US" dirty="0">
              <a:solidFill>
                <a:schemeClr val="tx1"/>
              </a:solidFill>
              <a:latin typeface="Calibri" panose="020F0502020204030204" pitchFamily="34" charset="0"/>
              <a:ea typeface="黑体" panose="02010609060101010101" pitchFamily="2" charset="-122"/>
            </a:endParaRPr>
          </a:p>
        </p:txBody>
      </p:sp>
    </p:spTree>
  </p:cSld>
  <p:clrMapOvr>
    <a:masterClrMapping/>
  </p:clrMapOvr>
  <p:transition spd="slow">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4"/>
          <p:cNvGrpSpPr/>
          <p:nvPr/>
        </p:nvGrpSpPr>
        <p:grpSpPr>
          <a:xfrm>
            <a:off x="5526088" y="452438"/>
            <a:ext cx="3582987" cy="1752600"/>
            <a:chOff x="3120" y="3120"/>
            <a:chExt cx="2257" cy="1104"/>
          </a:xfrm>
        </p:grpSpPr>
        <p:sp>
          <p:nvSpPr>
            <p:cNvPr id="8202" name="Text Box 5"/>
            <p:cNvSpPr txBox="1"/>
            <p:nvPr/>
          </p:nvSpPr>
          <p:spPr>
            <a:xfrm>
              <a:off x="3792" y="3408"/>
              <a:ext cx="864" cy="351"/>
            </a:xfrm>
            <a:prstGeom prst="rect">
              <a:avLst/>
            </a:prstGeom>
            <a:solidFill>
              <a:srgbClr val="00CC99"/>
            </a:solidFill>
            <a:ln w="38100" cap="sq" cmpd="sng">
              <a:solidFill>
                <a:schemeClr val="bg2"/>
              </a:solidFill>
              <a:prstDash val="solid"/>
              <a:miter/>
              <a:headEnd type="none" w="sm" len="sm"/>
              <a:tailEnd type="none" w="sm" len="sm"/>
            </a:ln>
          </p:spPr>
          <p:txBody>
            <a:bodyPr>
              <a:spAutoFit/>
            </a:bodyPr>
            <a:p>
              <a:pPr eaLnBrk="1" hangingPunct="1">
                <a:spcBef>
                  <a:spcPct val="50000"/>
                </a:spcBef>
              </a:pPr>
              <a:r>
                <a:rPr lang="en-US" altLang="zh-CN" sz="2800" dirty="0">
                  <a:solidFill>
                    <a:srgbClr val="FFFF00"/>
                  </a:solidFill>
                  <a:latin typeface="Times New Roman" panose="02020603050405020304" pitchFamily="18" charset="0"/>
                  <a:ea typeface="黑体" panose="02010609060101010101" pitchFamily="2" charset="-122"/>
                </a:rPr>
                <a:t>  </a:t>
              </a:r>
              <a:r>
                <a:rPr lang="zh-CN" altLang="en-US" sz="2800" dirty="0">
                  <a:solidFill>
                    <a:srgbClr val="990033"/>
                  </a:solidFill>
                  <a:latin typeface="Times New Roman" panose="02020603050405020304" pitchFamily="18" charset="0"/>
                  <a:ea typeface="黑体" panose="02010609060101010101" pitchFamily="2" charset="-122"/>
                </a:rPr>
                <a:t>接口</a:t>
              </a:r>
              <a:endParaRPr lang="zh-CN" altLang="en-US" sz="2800" dirty="0">
                <a:solidFill>
                  <a:srgbClr val="FFFF00"/>
                </a:solidFill>
                <a:latin typeface="Times New Roman" panose="02020603050405020304" pitchFamily="18" charset="0"/>
                <a:ea typeface="黑体" panose="02010609060101010101" pitchFamily="2" charset="-122"/>
              </a:endParaRPr>
            </a:p>
          </p:txBody>
        </p:sp>
        <p:sp>
          <p:nvSpPr>
            <p:cNvPr id="8203" name="Line 6"/>
            <p:cNvSpPr/>
            <p:nvPr/>
          </p:nvSpPr>
          <p:spPr>
            <a:xfrm>
              <a:off x="4944" y="3216"/>
              <a:ext cx="0" cy="768"/>
            </a:xfrm>
            <a:prstGeom prst="line">
              <a:avLst/>
            </a:prstGeom>
            <a:ln w="38100" cap="sq" cmpd="sng">
              <a:solidFill>
                <a:schemeClr val="tx1"/>
              </a:solidFill>
              <a:prstDash val="solid"/>
              <a:headEnd type="none" w="sm" len="sm"/>
              <a:tailEnd type="none" w="sm" len="sm"/>
            </a:ln>
          </p:spPr>
        </p:sp>
        <p:sp>
          <p:nvSpPr>
            <p:cNvPr id="8204" name="Line 7"/>
            <p:cNvSpPr/>
            <p:nvPr/>
          </p:nvSpPr>
          <p:spPr>
            <a:xfrm>
              <a:off x="3504" y="3216"/>
              <a:ext cx="0" cy="768"/>
            </a:xfrm>
            <a:prstGeom prst="line">
              <a:avLst/>
            </a:prstGeom>
            <a:ln w="38100" cap="sq" cmpd="sng">
              <a:solidFill>
                <a:schemeClr val="tx1"/>
              </a:solidFill>
              <a:prstDash val="solid"/>
              <a:headEnd type="none" w="sm" len="sm"/>
              <a:tailEnd type="none" w="sm" len="sm"/>
            </a:ln>
          </p:spPr>
        </p:sp>
        <p:sp>
          <p:nvSpPr>
            <p:cNvPr id="8205" name="Text Box 8"/>
            <p:cNvSpPr txBox="1"/>
            <p:nvPr/>
          </p:nvSpPr>
          <p:spPr>
            <a:xfrm>
              <a:off x="4992" y="3312"/>
              <a:ext cx="385" cy="672"/>
            </a:xfrm>
            <a:prstGeom prst="rect">
              <a:avLst/>
            </a:prstGeom>
            <a:noFill/>
            <a:ln w="12700">
              <a:noFill/>
            </a:ln>
          </p:spPr>
          <p:txBody>
            <a:bodyPr vert="eaVert">
              <a:spAutoFit/>
            </a:bodyPr>
            <a:p>
              <a:pPr eaLnBrk="1" hangingPunct="1">
                <a:spcBef>
                  <a:spcPct val="50000"/>
                </a:spcBef>
              </a:pPr>
              <a:r>
                <a:rPr lang="zh-CN" altLang="en-US" sz="2800" dirty="0">
                  <a:solidFill>
                    <a:srgbClr val="FFFF00"/>
                  </a:solidFill>
                  <a:latin typeface="Times New Roman" panose="02020603050405020304" pitchFamily="18" charset="0"/>
                  <a:ea typeface="黑体" panose="02010609060101010101" pitchFamily="2" charset="-122"/>
                </a:rPr>
                <a:t>外设</a:t>
              </a:r>
              <a:endParaRPr lang="zh-CN" altLang="en-US" sz="2800" dirty="0">
                <a:solidFill>
                  <a:srgbClr val="FFFF00"/>
                </a:solidFill>
                <a:latin typeface="Times New Roman" panose="02020603050405020304" pitchFamily="18" charset="0"/>
                <a:ea typeface="黑体" panose="02010609060101010101" pitchFamily="2" charset="-122"/>
              </a:endParaRPr>
            </a:p>
          </p:txBody>
        </p:sp>
        <p:sp>
          <p:nvSpPr>
            <p:cNvPr id="8206" name="Text Box 9"/>
            <p:cNvSpPr txBox="1"/>
            <p:nvPr/>
          </p:nvSpPr>
          <p:spPr>
            <a:xfrm>
              <a:off x="3120" y="3120"/>
              <a:ext cx="385" cy="1104"/>
            </a:xfrm>
            <a:prstGeom prst="rect">
              <a:avLst/>
            </a:prstGeom>
            <a:noFill/>
            <a:ln w="12700">
              <a:noFill/>
            </a:ln>
          </p:spPr>
          <p:txBody>
            <a:bodyPr vert="eaVert">
              <a:spAutoFit/>
            </a:bodyPr>
            <a:p>
              <a:pPr eaLnBrk="1" hangingPunct="1">
                <a:spcBef>
                  <a:spcPct val="50000"/>
                </a:spcBef>
              </a:pPr>
              <a:r>
                <a:rPr lang="zh-CN" altLang="en-US" sz="2800" dirty="0">
                  <a:solidFill>
                    <a:srgbClr val="FFFF00"/>
                  </a:solidFill>
                  <a:latin typeface="Times New Roman" panose="02020603050405020304" pitchFamily="18" charset="0"/>
                  <a:ea typeface="黑体" panose="02010609060101010101" pitchFamily="2" charset="-122"/>
                </a:rPr>
                <a:t>系统总线</a:t>
              </a:r>
              <a:endParaRPr lang="zh-CN" altLang="en-US" sz="2800" dirty="0">
                <a:solidFill>
                  <a:srgbClr val="FFFF00"/>
                </a:solidFill>
                <a:latin typeface="Times New Roman" panose="02020603050405020304" pitchFamily="18" charset="0"/>
                <a:ea typeface="黑体" panose="02010609060101010101" pitchFamily="2" charset="-122"/>
              </a:endParaRPr>
            </a:p>
          </p:txBody>
        </p:sp>
        <p:sp>
          <p:nvSpPr>
            <p:cNvPr id="8207" name="Line 10"/>
            <p:cNvSpPr/>
            <p:nvPr/>
          </p:nvSpPr>
          <p:spPr>
            <a:xfrm>
              <a:off x="3504" y="3600"/>
              <a:ext cx="288" cy="0"/>
            </a:xfrm>
            <a:prstGeom prst="line">
              <a:avLst/>
            </a:prstGeom>
            <a:ln w="28575" cap="sq" cmpd="sng">
              <a:solidFill>
                <a:schemeClr val="tx1"/>
              </a:solidFill>
              <a:prstDash val="solid"/>
              <a:headEnd type="triangle" w="med" len="med"/>
              <a:tailEnd type="triangle" w="med" len="med"/>
            </a:ln>
          </p:spPr>
        </p:sp>
        <p:sp>
          <p:nvSpPr>
            <p:cNvPr id="8208" name="Line 11"/>
            <p:cNvSpPr/>
            <p:nvPr/>
          </p:nvSpPr>
          <p:spPr>
            <a:xfrm>
              <a:off x="4656" y="3600"/>
              <a:ext cx="288" cy="0"/>
            </a:xfrm>
            <a:prstGeom prst="line">
              <a:avLst/>
            </a:prstGeom>
            <a:ln w="28575" cap="sq" cmpd="sng">
              <a:solidFill>
                <a:schemeClr val="tx1"/>
              </a:solidFill>
              <a:prstDash val="solid"/>
              <a:headEnd type="triangle" w="med" len="med"/>
              <a:tailEnd type="triangle" w="med" len="med"/>
            </a:ln>
          </p:spPr>
        </p:sp>
      </p:grpSp>
      <p:sp>
        <p:nvSpPr>
          <p:cNvPr id="12309" name="Rectangle 21"/>
          <p:cNvSpPr/>
          <p:nvPr/>
        </p:nvSpPr>
        <p:spPr>
          <a:xfrm>
            <a:off x="395288" y="3898900"/>
            <a:ext cx="8391525" cy="1274763"/>
          </a:xfrm>
          <a:prstGeom prst="rect">
            <a:avLst/>
          </a:prstGeom>
          <a:noFill/>
          <a:ln w="12700">
            <a:noFill/>
          </a:ln>
        </p:spPr>
        <p:txBody>
          <a:bodyPr>
            <a:spAutoFit/>
          </a:bodyPr>
          <a:p>
            <a:pPr eaLnBrk="1" hangingPunct="1">
              <a:lnSpc>
                <a:spcPct val="120000"/>
              </a:lnSpc>
            </a:pPr>
            <a:r>
              <a:rPr lang="zh-CN" altLang="en-US" dirty="0">
                <a:solidFill>
                  <a:schemeClr val="tx1"/>
                </a:solidFill>
                <a:latin typeface="Calibri" panose="020F0502020204030204" pitchFamily="34" charset="0"/>
                <a:ea typeface="黑体" panose="02010609060101010101" pitchFamily="2" charset="-122"/>
              </a:rPr>
              <a:t>接收主机</a:t>
            </a:r>
            <a:r>
              <a:rPr lang="en-US" altLang="zh-CN" dirty="0">
                <a:solidFill>
                  <a:schemeClr val="tx1"/>
                </a:solidFill>
                <a:latin typeface="Calibri" panose="020F0502020204030204" pitchFamily="34" charset="0"/>
                <a:ea typeface="黑体" panose="02010609060101010101" pitchFamily="2" charset="-122"/>
              </a:rPr>
              <a:t>CPU</a:t>
            </a:r>
            <a:r>
              <a:rPr lang="zh-CN" altLang="en-US" dirty="0">
                <a:solidFill>
                  <a:schemeClr val="tx1"/>
                </a:solidFill>
                <a:latin typeface="Calibri" panose="020F0502020204030204" pitchFamily="34" charset="0"/>
                <a:ea typeface="黑体" panose="02010609060101010101" pitchFamily="2" charset="-122"/>
              </a:rPr>
              <a:t>的控制命令、保存状态信息，协助主机实现对</a:t>
            </a:r>
            <a:r>
              <a:rPr lang="en-US" altLang="zh-CN" dirty="0">
                <a:solidFill>
                  <a:schemeClr val="tx1"/>
                </a:solidFill>
                <a:latin typeface="Calibri" panose="020F0502020204030204" pitchFamily="34" charset="0"/>
                <a:ea typeface="黑体" panose="02010609060101010101" pitchFamily="2" charset="-122"/>
              </a:rPr>
              <a:t>I/O</a:t>
            </a:r>
            <a:r>
              <a:rPr lang="zh-CN" altLang="en-US" dirty="0">
                <a:solidFill>
                  <a:schemeClr val="tx1"/>
                </a:solidFill>
                <a:latin typeface="Calibri" panose="020F0502020204030204" pitchFamily="34" charset="0"/>
                <a:ea typeface="黑体" panose="02010609060101010101" pitchFamily="2" charset="-122"/>
              </a:rPr>
              <a:t>传送操作的控制。</a:t>
            </a:r>
            <a:endParaRPr lang="zh-CN" altLang="en-US" dirty="0">
              <a:solidFill>
                <a:schemeClr val="tx1"/>
              </a:solidFill>
              <a:latin typeface="Calibri" panose="020F0502020204030204" pitchFamily="34" charset="0"/>
              <a:ea typeface="黑体" panose="02010609060101010101" pitchFamily="2" charset="-122"/>
            </a:endParaRPr>
          </a:p>
        </p:txBody>
      </p:sp>
      <p:sp>
        <p:nvSpPr>
          <p:cNvPr id="12315" name="Text Box 27"/>
          <p:cNvSpPr txBox="1"/>
          <p:nvPr/>
        </p:nvSpPr>
        <p:spPr>
          <a:xfrm>
            <a:off x="395288" y="3213100"/>
            <a:ext cx="4316412" cy="579438"/>
          </a:xfrm>
          <a:prstGeom prst="rect">
            <a:avLst/>
          </a:prstGeom>
          <a:noFill/>
          <a:ln w="12700">
            <a:noFill/>
          </a:ln>
        </p:spPr>
        <p:txBody>
          <a:bodyPr>
            <a:spAutoFit/>
          </a:bodyPr>
          <a:p>
            <a:pPr eaLnBrk="1" hangingPunct="1">
              <a:spcBef>
                <a:spcPct val="50000"/>
              </a:spcBef>
            </a:pPr>
            <a:r>
              <a:rPr lang="en-US" altLang="zh-CN" dirty="0">
                <a:solidFill>
                  <a:schemeClr val="folHlink"/>
                </a:solidFill>
                <a:latin typeface="Calibri" panose="020F0502020204030204" pitchFamily="34" charset="0"/>
                <a:ea typeface="黑体" panose="02010609060101010101" pitchFamily="2" charset="-122"/>
              </a:rPr>
              <a:t>(4)</a:t>
            </a:r>
            <a:r>
              <a:rPr lang="zh-CN" altLang="en-US" dirty="0">
                <a:solidFill>
                  <a:schemeClr val="folHlink"/>
                </a:solidFill>
                <a:latin typeface="Calibri" panose="020F0502020204030204" pitchFamily="34" charset="0"/>
                <a:ea typeface="黑体" panose="02010609060101010101" pitchFamily="2" charset="-122"/>
              </a:rPr>
              <a:t>控制逻辑功能</a:t>
            </a:r>
            <a:endParaRPr lang="zh-CN" altLang="en-US" dirty="0">
              <a:solidFill>
                <a:schemeClr val="folHlink"/>
              </a:solidFill>
              <a:latin typeface="Calibri" panose="020F0502020204030204" pitchFamily="34" charset="0"/>
              <a:ea typeface="黑体" panose="02010609060101010101" pitchFamily="2" charset="-122"/>
            </a:endParaRPr>
          </a:p>
        </p:txBody>
      </p:sp>
      <p:sp>
        <p:nvSpPr>
          <p:cNvPr id="12316" name="Text Box 28"/>
          <p:cNvSpPr txBox="1"/>
          <p:nvPr/>
        </p:nvSpPr>
        <p:spPr>
          <a:xfrm>
            <a:off x="395288" y="333375"/>
            <a:ext cx="3576637" cy="579438"/>
          </a:xfrm>
          <a:prstGeom prst="rect">
            <a:avLst/>
          </a:prstGeom>
          <a:noFill/>
          <a:ln w="12700">
            <a:noFill/>
          </a:ln>
        </p:spPr>
        <p:txBody>
          <a:bodyPr>
            <a:spAutoFit/>
          </a:bodyPr>
          <a:p>
            <a:pPr eaLnBrk="1" hangingPunct="1">
              <a:spcBef>
                <a:spcPct val="50000"/>
              </a:spcBef>
            </a:pPr>
            <a:r>
              <a:rPr lang="en-US" altLang="zh-CN" dirty="0">
                <a:solidFill>
                  <a:srgbClr val="FFFF00"/>
                </a:solidFill>
                <a:latin typeface="Calibri" panose="020F0502020204030204" pitchFamily="34" charset="0"/>
                <a:ea typeface="黑体" panose="02010609060101010101" pitchFamily="2" charset="-122"/>
              </a:rPr>
              <a:t>(3)</a:t>
            </a:r>
            <a:r>
              <a:rPr lang="zh-CN" altLang="en-US" dirty="0">
                <a:solidFill>
                  <a:srgbClr val="FFFF00"/>
                </a:solidFill>
                <a:latin typeface="Calibri" panose="020F0502020204030204" pitchFamily="34" charset="0"/>
                <a:ea typeface="黑体" panose="02010609060101010101" pitchFamily="2" charset="-122"/>
              </a:rPr>
              <a:t>预处理功能</a:t>
            </a:r>
            <a:endParaRPr lang="zh-CN" altLang="en-US" dirty="0">
              <a:solidFill>
                <a:srgbClr val="FFFF00"/>
              </a:solidFill>
              <a:latin typeface="Calibri" panose="020F0502020204030204" pitchFamily="34" charset="0"/>
              <a:ea typeface="黑体" panose="02010609060101010101" pitchFamily="2" charset="-122"/>
            </a:endParaRPr>
          </a:p>
        </p:txBody>
      </p:sp>
      <p:sp>
        <p:nvSpPr>
          <p:cNvPr id="12317" name="Rectangle 29"/>
          <p:cNvSpPr/>
          <p:nvPr/>
        </p:nvSpPr>
        <p:spPr>
          <a:xfrm>
            <a:off x="395288" y="1042988"/>
            <a:ext cx="5181600" cy="579437"/>
          </a:xfrm>
          <a:prstGeom prst="rect">
            <a:avLst/>
          </a:prstGeom>
          <a:noFill/>
          <a:ln w="12700">
            <a:noFill/>
          </a:ln>
        </p:spPr>
        <p:txBody>
          <a:bodyPr>
            <a:spAutoFit/>
          </a:bodyPr>
          <a:p>
            <a:pPr eaLnBrk="1" hangingPunct="1"/>
            <a:r>
              <a:rPr lang="zh-CN" altLang="en-US" dirty="0">
                <a:solidFill>
                  <a:schemeClr val="accent1"/>
                </a:solidFill>
                <a:latin typeface="黑体" panose="02010609060101010101" pitchFamily="2" charset="-122"/>
                <a:ea typeface="黑体" panose="02010609060101010101" pitchFamily="2" charset="-122"/>
              </a:rPr>
              <a:t>串</a:t>
            </a:r>
            <a:r>
              <a:rPr lang="en-US" altLang="zh-CN" dirty="0">
                <a:solidFill>
                  <a:schemeClr val="accent1"/>
                </a:solidFill>
                <a:latin typeface="黑体" panose="02010609060101010101" pitchFamily="2" charset="-122"/>
                <a:ea typeface="黑体" panose="02010609060101010101" pitchFamily="2" charset="-122"/>
              </a:rPr>
              <a:t>-</a:t>
            </a:r>
            <a:r>
              <a:rPr lang="zh-CN" altLang="en-US" dirty="0">
                <a:solidFill>
                  <a:schemeClr val="accent1"/>
                </a:solidFill>
                <a:latin typeface="黑体" panose="02010609060101010101" pitchFamily="2" charset="-122"/>
                <a:ea typeface="黑体" panose="02010609060101010101" pitchFamily="2" charset="-122"/>
              </a:rPr>
              <a:t>并</a:t>
            </a:r>
            <a:r>
              <a:rPr lang="zh-CN" altLang="en-US" dirty="0">
                <a:solidFill>
                  <a:schemeClr val="tx1"/>
                </a:solidFill>
                <a:latin typeface="黑体" panose="02010609060101010101" pitchFamily="2" charset="-122"/>
                <a:ea typeface="黑体" panose="02010609060101010101" pitchFamily="2" charset="-122"/>
              </a:rPr>
              <a:t>格式转换（串口）</a:t>
            </a:r>
            <a:endParaRPr lang="zh-CN" altLang="en-US" dirty="0">
              <a:solidFill>
                <a:schemeClr val="tx1"/>
              </a:solidFill>
              <a:latin typeface="黑体" panose="02010609060101010101" pitchFamily="2" charset="-122"/>
              <a:ea typeface="黑体" panose="02010609060101010101" pitchFamily="2" charset="-122"/>
            </a:endParaRPr>
          </a:p>
        </p:txBody>
      </p:sp>
      <p:sp>
        <p:nvSpPr>
          <p:cNvPr id="12318" name="Rectangle 30"/>
          <p:cNvSpPr/>
          <p:nvPr/>
        </p:nvSpPr>
        <p:spPr>
          <a:xfrm>
            <a:off x="395288" y="1592263"/>
            <a:ext cx="5181600" cy="579437"/>
          </a:xfrm>
          <a:prstGeom prst="rect">
            <a:avLst/>
          </a:prstGeom>
          <a:noFill/>
          <a:ln w="12700">
            <a:noFill/>
          </a:ln>
        </p:spPr>
        <p:txBody>
          <a:bodyPr>
            <a:spAutoFit/>
          </a:bodyPr>
          <a:p>
            <a:pPr eaLnBrk="1" hangingPunct="1"/>
            <a:r>
              <a:rPr lang="zh-CN" altLang="en-US" dirty="0">
                <a:solidFill>
                  <a:schemeClr val="accent1"/>
                </a:solidFill>
                <a:latin typeface="黑体" panose="02010609060101010101" pitchFamily="2" charset="-122"/>
                <a:ea typeface="黑体" panose="02010609060101010101" pitchFamily="2" charset="-122"/>
              </a:rPr>
              <a:t>数据通路寬度转换</a:t>
            </a:r>
            <a:r>
              <a:rPr lang="zh-CN" altLang="en-US" dirty="0">
                <a:solidFill>
                  <a:schemeClr val="tx1"/>
                </a:solidFill>
                <a:latin typeface="黑体" panose="02010609060101010101" pitchFamily="2" charset="-122"/>
                <a:ea typeface="黑体" panose="02010609060101010101" pitchFamily="2" charset="-122"/>
              </a:rPr>
              <a:t>（并口）</a:t>
            </a:r>
            <a:endParaRPr lang="zh-CN" altLang="en-US" dirty="0">
              <a:solidFill>
                <a:srgbClr val="FFFF00"/>
              </a:solidFill>
              <a:latin typeface="黑体" panose="02010609060101010101" pitchFamily="2" charset="-122"/>
              <a:ea typeface="黑体" panose="02010609060101010101" pitchFamily="2" charset="-122"/>
            </a:endParaRPr>
          </a:p>
        </p:txBody>
      </p:sp>
      <p:sp>
        <p:nvSpPr>
          <p:cNvPr id="12319" name="Rectangle 31"/>
          <p:cNvSpPr/>
          <p:nvPr/>
        </p:nvSpPr>
        <p:spPr>
          <a:xfrm>
            <a:off x="395288" y="2201863"/>
            <a:ext cx="5181600" cy="579437"/>
          </a:xfrm>
          <a:prstGeom prst="rect">
            <a:avLst/>
          </a:prstGeom>
          <a:noFill/>
          <a:ln w="12700">
            <a:noFill/>
          </a:ln>
        </p:spPr>
        <p:txBody>
          <a:bodyPr>
            <a:spAutoFit/>
          </a:bodyPr>
          <a:p>
            <a:pPr eaLnBrk="1" hangingPunct="1"/>
            <a:r>
              <a:rPr lang="zh-CN" altLang="en-US" dirty="0">
                <a:solidFill>
                  <a:schemeClr val="accent1"/>
                </a:solidFill>
                <a:latin typeface="黑体" panose="02010609060101010101" pitchFamily="2" charset="-122"/>
                <a:ea typeface="黑体" panose="02010609060101010101" pitchFamily="2" charset="-122"/>
              </a:rPr>
              <a:t>高</a:t>
            </a:r>
            <a:r>
              <a:rPr lang="en-US" altLang="zh-CN" dirty="0">
                <a:solidFill>
                  <a:schemeClr val="accent1"/>
                </a:solidFill>
                <a:latin typeface="黑体" panose="02010609060101010101" pitchFamily="2" charset="-122"/>
                <a:ea typeface="黑体" panose="02010609060101010101" pitchFamily="2" charset="-122"/>
              </a:rPr>
              <a:t>-</a:t>
            </a:r>
            <a:r>
              <a:rPr lang="zh-CN" altLang="en-US" dirty="0">
                <a:solidFill>
                  <a:schemeClr val="accent1"/>
                </a:solidFill>
                <a:latin typeface="黑体" panose="02010609060101010101" pitchFamily="2" charset="-122"/>
                <a:ea typeface="黑体" panose="02010609060101010101" pitchFamily="2" charset="-122"/>
              </a:rPr>
              <a:t>低</a:t>
            </a:r>
            <a:r>
              <a:rPr lang="zh-CN" altLang="en-US" dirty="0">
                <a:solidFill>
                  <a:schemeClr val="tx1"/>
                </a:solidFill>
                <a:latin typeface="黑体" panose="02010609060101010101" pitchFamily="2" charset="-122"/>
                <a:ea typeface="黑体" panose="02010609060101010101" pitchFamily="2" charset="-122"/>
              </a:rPr>
              <a:t>电平转换</a:t>
            </a:r>
            <a:endParaRPr lang="zh-CN" altLang="en-US" dirty="0">
              <a:solidFill>
                <a:schemeClr val="tx1"/>
              </a:solidFill>
              <a:latin typeface="黑体" panose="02010609060101010101" pitchFamily="2" charset="-122"/>
              <a:ea typeface="黑体" panose="02010609060101010101" pitchFamily="2" charset="-122"/>
            </a:endParaRPr>
          </a:p>
        </p:txBody>
      </p:sp>
    </p:spTree>
  </p:cSld>
  <p:clrMapOvr>
    <a:masterClrMapping/>
  </p:clrMapOvr>
  <p:transition spd="slow">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9" name="Text Box 9"/>
          <p:cNvSpPr txBox="1"/>
          <p:nvPr/>
        </p:nvSpPr>
        <p:spPr>
          <a:xfrm>
            <a:off x="107950" y="215900"/>
            <a:ext cx="4340225" cy="645160"/>
          </a:xfrm>
          <a:prstGeom prst="rect">
            <a:avLst/>
          </a:prstGeom>
          <a:noFill/>
          <a:ln w="12700">
            <a:noFill/>
          </a:ln>
        </p:spPr>
        <p:txBody>
          <a:bodyPr>
            <a:spAutoFit/>
          </a:bodyPr>
          <a:p>
            <a:pPr marL="571500" indent="-571500" eaLnBrk="1" hangingPunct="1">
              <a:spcBef>
                <a:spcPct val="50000"/>
              </a:spcBef>
              <a:buFont typeface="Arial" panose="020B0604020202020204" pitchFamily="34" charset="0"/>
              <a:buChar char="•"/>
            </a:pPr>
            <a:r>
              <a:rPr lang="en-US" altLang="zh-CN" sz="3600" dirty="0">
                <a:solidFill>
                  <a:schemeClr val="folHlink"/>
                </a:solidFill>
                <a:latin typeface="Calibri" panose="020F0502020204030204" pitchFamily="34" charset="0"/>
                <a:ea typeface="黑体" panose="02010609060101010101" pitchFamily="2" charset="-122"/>
              </a:rPr>
              <a:t>I/O</a:t>
            </a:r>
            <a:r>
              <a:rPr lang="zh-CN" altLang="en-US" sz="3600" dirty="0">
                <a:solidFill>
                  <a:schemeClr val="folHlink"/>
                </a:solidFill>
                <a:latin typeface="Calibri" panose="020F0502020204030204" pitchFamily="34" charset="0"/>
                <a:ea typeface="黑体" panose="02010609060101010101" pitchFamily="2" charset="-122"/>
              </a:rPr>
              <a:t>接口的分类</a:t>
            </a:r>
            <a:endParaRPr lang="zh-CN" altLang="en-US" sz="3600" dirty="0">
              <a:solidFill>
                <a:schemeClr val="folHlink"/>
              </a:solidFill>
              <a:latin typeface="Calibri" panose="020F0502020204030204" pitchFamily="34" charset="0"/>
              <a:ea typeface="黑体" panose="02010609060101010101" pitchFamily="2" charset="-122"/>
            </a:endParaRPr>
          </a:p>
        </p:txBody>
      </p:sp>
      <p:sp>
        <p:nvSpPr>
          <p:cNvPr id="10250" name="Text Box 10"/>
          <p:cNvSpPr txBox="1"/>
          <p:nvPr/>
        </p:nvSpPr>
        <p:spPr>
          <a:xfrm>
            <a:off x="250825" y="955675"/>
            <a:ext cx="4419600" cy="579438"/>
          </a:xfrm>
          <a:prstGeom prst="rect">
            <a:avLst/>
          </a:prstGeom>
          <a:noFill/>
          <a:ln w="12700">
            <a:noFill/>
          </a:ln>
        </p:spPr>
        <p:txBody>
          <a:bodyPr>
            <a:spAutoFit/>
          </a:bodyPr>
          <a:p>
            <a:pPr eaLnBrk="1" hangingPunct="1">
              <a:spcBef>
                <a:spcPct val="50000"/>
              </a:spcBef>
            </a:pPr>
            <a:r>
              <a:rPr lang="en-US" altLang="zh-CN" dirty="0">
                <a:solidFill>
                  <a:schemeClr val="folHlink"/>
                </a:solidFill>
                <a:latin typeface="黑体" panose="02010609060101010101" pitchFamily="2" charset="-122"/>
                <a:ea typeface="黑体" panose="02010609060101010101" pitchFamily="2" charset="-122"/>
              </a:rPr>
              <a:t>1.</a:t>
            </a:r>
            <a:r>
              <a:rPr lang="zh-CN" altLang="en-US" dirty="0">
                <a:solidFill>
                  <a:schemeClr val="folHlink"/>
                </a:solidFill>
                <a:latin typeface="黑体" panose="02010609060101010101" pitchFamily="2" charset="-122"/>
                <a:ea typeface="黑体" panose="02010609060101010101" pitchFamily="2" charset="-122"/>
              </a:rPr>
              <a:t>按数据传送格式划分</a:t>
            </a:r>
            <a:endParaRPr lang="zh-CN" altLang="en-US" dirty="0">
              <a:solidFill>
                <a:schemeClr val="folHlink"/>
              </a:solidFill>
              <a:latin typeface="黑体" panose="02010609060101010101" pitchFamily="2" charset="-122"/>
              <a:ea typeface="黑体" panose="02010609060101010101" pitchFamily="2" charset="-122"/>
            </a:endParaRPr>
          </a:p>
        </p:txBody>
      </p:sp>
      <p:sp>
        <p:nvSpPr>
          <p:cNvPr id="10251" name="Rectangle 11"/>
          <p:cNvSpPr/>
          <p:nvPr/>
        </p:nvSpPr>
        <p:spPr>
          <a:xfrm>
            <a:off x="250825" y="1700213"/>
            <a:ext cx="2590800" cy="519112"/>
          </a:xfrm>
          <a:prstGeom prst="rect">
            <a:avLst/>
          </a:prstGeom>
          <a:noFill/>
          <a:ln w="12700">
            <a:noFill/>
          </a:ln>
        </p:spPr>
        <p:txBody>
          <a:bodyPr>
            <a:spAutoFit/>
          </a:bodyPr>
          <a:p>
            <a:pPr eaLnBrk="1" hangingPunct="1"/>
            <a:r>
              <a:rPr lang="en-US" altLang="zh-CN" sz="2800" dirty="0">
                <a:solidFill>
                  <a:schemeClr val="folHlink"/>
                </a:solidFill>
                <a:latin typeface="Calibri" panose="020F0502020204030204" pitchFamily="34" charset="0"/>
                <a:ea typeface="黑体" panose="02010609060101010101" pitchFamily="2" charset="-122"/>
              </a:rPr>
              <a:t>(1)</a:t>
            </a:r>
            <a:r>
              <a:rPr lang="zh-CN" altLang="en-US" sz="2800" dirty="0">
                <a:solidFill>
                  <a:schemeClr val="folHlink"/>
                </a:solidFill>
                <a:latin typeface="Calibri" panose="020F0502020204030204" pitchFamily="34" charset="0"/>
                <a:ea typeface="黑体" panose="02010609060101010101" pitchFamily="2" charset="-122"/>
              </a:rPr>
              <a:t>并行接口</a:t>
            </a:r>
            <a:endParaRPr lang="zh-CN" altLang="en-US" sz="2800" dirty="0">
              <a:solidFill>
                <a:schemeClr val="folHlink"/>
              </a:solidFill>
              <a:latin typeface="Calibri" panose="020F0502020204030204" pitchFamily="34" charset="0"/>
              <a:ea typeface="黑体" panose="02010609060101010101" pitchFamily="2" charset="-122"/>
            </a:endParaRPr>
          </a:p>
        </p:txBody>
      </p:sp>
      <p:grpSp>
        <p:nvGrpSpPr>
          <p:cNvPr id="2" name="Group 20"/>
          <p:cNvGrpSpPr/>
          <p:nvPr/>
        </p:nvGrpSpPr>
        <p:grpSpPr>
          <a:xfrm>
            <a:off x="5176838" y="381000"/>
            <a:ext cx="3587750" cy="1752600"/>
            <a:chOff x="3117" y="3120"/>
            <a:chExt cx="2260" cy="1104"/>
          </a:xfrm>
        </p:grpSpPr>
        <p:sp>
          <p:nvSpPr>
            <p:cNvPr id="11279" name="Text Box 12"/>
            <p:cNvSpPr txBox="1"/>
            <p:nvPr/>
          </p:nvSpPr>
          <p:spPr>
            <a:xfrm>
              <a:off x="3792" y="3408"/>
              <a:ext cx="864" cy="351"/>
            </a:xfrm>
            <a:prstGeom prst="rect">
              <a:avLst/>
            </a:prstGeom>
            <a:solidFill>
              <a:srgbClr val="00CC99"/>
            </a:solidFill>
            <a:ln w="38100" cap="sq" cmpd="sng">
              <a:solidFill>
                <a:schemeClr val="bg2"/>
              </a:solidFill>
              <a:prstDash val="solid"/>
              <a:miter/>
              <a:headEnd type="none" w="sm" len="sm"/>
              <a:tailEnd type="none" w="sm" len="sm"/>
            </a:ln>
          </p:spPr>
          <p:txBody>
            <a:bodyPr>
              <a:spAutoFit/>
            </a:bodyPr>
            <a:p>
              <a:pPr eaLnBrk="1" hangingPunct="1">
                <a:spcBef>
                  <a:spcPct val="50000"/>
                </a:spcBef>
              </a:pPr>
              <a:r>
                <a:rPr lang="en-US" altLang="zh-CN" sz="2800" dirty="0">
                  <a:solidFill>
                    <a:srgbClr val="FFFF00"/>
                  </a:solidFill>
                  <a:latin typeface="Times New Roman" panose="02020603050405020304" pitchFamily="18" charset="0"/>
                  <a:ea typeface="黑体" panose="02010609060101010101" pitchFamily="2" charset="-122"/>
                </a:rPr>
                <a:t>  </a:t>
              </a:r>
              <a:r>
                <a:rPr lang="zh-CN" altLang="en-US" sz="2800" dirty="0">
                  <a:solidFill>
                    <a:srgbClr val="990033"/>
                  </a:solidFill>
                  <a:latin typeface="Times New Roman" panose="02020603050405020304" pitchFamily="18" charset="0"/>
                  <a:ea typeface="黑体" panose="02010609060101010101" pitchFamily="2" charset="-122"/>
                </a:rPr>
                <a:t>接口</a:t>
              </a:r>
              <a:endParaRPr lang="zh-CN" altLang="en-US" sz="2800" dirty="0">
                <a:solidFill>
                  <a:srgbClr val="FFFF00"/>
                </a:solidFill>
                <a:latin typeface="Times New Roman" panose="02020603050405020304" pitchFamily="18" charset="0"/>
                <a:ea typeface="黑体" panose="02010609060101010101" pitchFamily="2" charset="-122"/>
              </a:endParaRPr>
            </a:p>
          </p:txBody>
        </p:sp>
        <p:sp>
          <p:nvSpPr>
            <p:cNvPr id="11280" name="Line 13"/>
            <p:cNvSpPr/>
            <p:nvPr/>
          </p:nvSpPr>
          <p:spPr>
            <a:xfrm>
              <a:off x="4944" y="3216"/>
              <a:ext cx="0" cy="768"/>
            </a:xfrm>
            <a:prstGeom prst="line">
              <a:avLst/>
            </a:prstGeom>
            <a:ln w="38100" cap="sq" cmpd="sng">
              <a:solidFill>
                <a:srgbClr val="FFFF00"/>
              </a:solidFill>
              <a:prstDash val="solid"/>
              <a:headEnd type="none" w="sm" len="sm"/>
              <a:tailEnd type="none" w="sm" len="sm"/>
            </a:ln>
          </p:spPr>
        </p:sp>
        <p:sp>
          <p:nvSpPr>
            <p:cNvPr id="11281" name="Line 14"/>
            <p:cNvSpPr/>
            <p:nvPr/>
          </p:nvSpPr>
          <p:spPr>
            <a:xfrm>
              <a:off x="3504" y="3216"/>
              <a:ext cx="0" cy="768"/>
            </a:xfrm>
            <a:prstGeom prst="line">
              <a:avLst/>
            </a:prstGeom>
            <a:ln w="38100" cap="sq" cmpd="sng">
              <a:solidFill>
                <a:srgbClr val="FFFF00"/>
              </a:solidFill>
              <a:prstDash val="solid"/>
              <a:headEnd type="none" w="sm" len="sm"/>
              <a:tailEnd type="none" w="sm" len="sm"/>
            </a:ln>
          </p:spPr>
        </p:sp>
        <p:sp>
          <p:nvSpPr>
            <p:cNvPr id="11282" name="Text Box 15"/>
            <p:cNvSpPr txBox="1"/>
            <p:nvPr/>
          </p:nvSpPr>
          <p:spPr>
            <a:xfrm>
              <a:off x="4989" y="3312"/>
              <a:ext cx="388" cy="672"/>
            </a:xfrm>
            <a:prstGeom prst="rect">
              <a:avLst/>
            </a:prstGeom>
            <a:noFill/>
            <a:ln w="12700">
              <a:noFill/>
            </a:ln>
          </p:spPr>
          <p:txBody>
            <a:bodyPr vert="eaVert">
              <a:spAutoFit/>
            </a:bodyPr>
            <a:p>
              <a:pPr eaLnBrk="1" hangingPunct="1">
                <a:spcBef>
                  <a:spcPct val="50000"/>
                </a:spcBef>
              </a:pPr>
              <a:r>
                <a:rPr lang="zh-CN" altLang="en-US" sz="2800" dirty="0">
                  <a:solidFill>
                    <a:schemeClr val="tx1"/>
                  </a:solidFill>
                  <a:latin typeface="Times New Roman" panose="02020603050405020304" pitchFamily="18" charset="0"/>
                  <a:ea typeface="黑体" panose="02010609060101010101" pitchFamily="2" charset="-122"/>
                </a:rPr>
                <a:t>外设</a:t>
              </a:r>
              <a:endParaRPr lang="zh-CN" altLang="en-US" sz="2800" dirty="0">
                <a:solidFill>
                  <a:schemeClr val="tx1"/>
                </a:solidFill>
                <a:latin typeface="Times New Roman" panose="02020603050405020304" pitchFamily="18" charset="0"/>
                <a:ea typeface="黑体" panose="02010609060101010101" pitchFamily="2" charset="-122"/>
              </a:endParaRPr>
            </a:p>
          </p:txBody>
        </p:sp>
        <p:sp>
          <p:nvSpPr>
            <p:cNvPr id="11283" name="Text Box 16"/>
            <p:cNvSpPr txBox="1"/>
            <p:nvPr/>
          </p:nvSpPr>
          <p:spPr>
            <a:xfrm>
              <a:off x="3117" y="3120"/>
              <a:ext cx="388" cy="1104"/>
            </a:xfrm>
            <a:prstGeom prst="rect">
              <a:avLst/>
            </a:prstGeom>
            <a:noFill/>
            <a:ln w="12700">
              <a:noFill/>
            </a:ln>
          </p:spPr>
          <p:txBody>
            <a:bodyPr vert="eaVert">
              <a:spAutoFit/>
            </a:bodyPr>
            <a:p>
              <a:pPr eaLnBrk="1" hangingPunct="1">
                <a:spcBef>
                  <a:spcPct val="50000"/>
                </a:spcBef>
              </a:pPr>
              <a:r>
                <a:rPr lang="zh-CN" altLang="en-US" sz="2800" dirty="0">
                  <a:solidFill>
                    <a:schemeClr val="tx1"/>
                  </a:solidFill>
                  <a:latin typeface="Times New Roman" panose="02020603050405020304" pitchFamily="18" charset="0"/>
                  <a:ea typeface="黑体" panose="02010609060101010101" pitchFamily="2" charset="-122"/>
                </a:rPr>
                <a:t>系统总线</a:t>
              </a:r>
              <a:endParaRPr lang="zh-CN" altLang="en-US" sz="2800" dirty="0">
                <a:solidFill>
                  <a:schemeClr val="tx1"/>
                </a:solidFill>
                <a:latin typeface="Times New Roman" panose="02020603050405020304" pitchFamily="18" charset="0"/>
                <a:ea typeface="黑体" panose="02010609060101010101" pitchFamily="2" charset="-122"/>
              </a:endParaRPr>
            </a:p>
          </p:txBody>
        </p:sp>
        <p:sp>
          <p:nvSpPr>
            <p:cNvPr id="11284" name="Line 17"/>
            <p:cNvSpPr/>
            <p:nvPr/>
          </p:nvSpPr>
          <p:spPr>
            <a:xfrm>
              <a:off x="3504" y="3600"/>
              <a:ext cx="288" cy="0"/>
            </a:xfrm>
            <a:prstGeom prst="line">
              <a:avLst/>
            </a:prstGeom>
            <a:ln w="28575" cap="sq" cmpd="sng">
              <a:solidFill>
                <a:schemeClr val="tx1"/>
              </a:solidFill>
              <a:prstDash val="solid"/>
              <a:headEnd type="triangle" w="med" len="med"/>
              <a:tailEnd type="triangle" w="med" len="med"/>
            </a:ln>
          </p:spPr>
        </p:sp>
        <p:sp>
          <p:nvSpPr>
            <p:cNvPr id="11285" name="Line 18"/>
            <p:cNvSpPr/>
            <p:nvPr/>
          </p:nvSpPr>
          <p:spPr>
            <a:xfrm>
              <a:off x="4656" y="3600"/>
              <a:ext cx="288" cy="0"/>
            </a:xfrm>
            <a:prstGeom prst="line">
              <a:avLst/>
            </a:prstGeom>
            <a:ln w="28575" cap="sq" cmpd="sng">
              <a:solidFill>
                <a:schemeClr val="tx1"/>
              </a:solidFill>
              <a:prstDash val="solid"/>
              <a:headEnd type="triangle" w="med" len="med"/>
              <a:tailEnd type="triangle" w="med" len="med"/>
            </a:ln>
          </p:spPr>
        </p:sp>
      </p:grpSp>
      <p:sp>
        <p:nvSpPr>
          <p:cNvPr id="10259" name="Rectangle 19"/>
          <p:cNvSpPr/>
          <p:nvPr/>
        </p:nvSpPr>
        <p:spPr>
          <a:xfrm>
            <a:off x="250825" y="2205038"/>
            <a:ext cx="8893175" cy="519112"/>
          </a:xfrm>
          <a:prstGeom prst="rect">
            <a:avLst/>
          </a:prstGeom>
          <a:noFill/>
          <a:ln w="12700">
            <a:noFill/>
          </a:ln>
        </p:spPr>
        <p:txBody>
          <a:bodyPr>
            <a:spAutoFit/>
          </a:bodyPr>
          <a:p>
            <a:pPr eaLnBrk="1" hangingPunct="1"/>
            <a:r>
              <a:rPr lang="zh-CN" altLang="en-US" sz="2800" dirty="0">
                <a:solidFill>
                  <a:srgbClr val="00FF00"/>
                </a:solidFill>
                <a:latin typeface="黑体" panose="02010609060101010101" pitchFamily="2" charset="-122"/>
                <a:ea typeface="黑体" panose="02010609060101010101" pitchFamily="2" charset="-122"/>
              </a:rPr>
              <a:t>接口两侧均并行传输数据。</a:t>
            </a:r>
            <a:endParaRPr lang="zh-CN" altLang="en-US" sz="2800" dirty="0">
              <a:solidFill>
                <a:srgbClr val="00FF00"/>
              </a:solidFill>
              <a:latin typeface="黑体" panose="02010609060101010101" pitchFamily="2" charset="-122"/>
              <a:ea typeface="黑体" panose="02010609060101010101" pitchFamily="2" charset="-122"/>
            </a:endParaRPr>
          </a:p>
        </p:txBody>
      </p:sp>
      <p:sp>
        <p:nvSpPr>
          <p:cNvPr id="10261" name="Text Box 21"/>
          <p:cNvSpPr txBox="1"/>
          <p:nvPr/>
        </p:nvSpPr>
        <p:spPr>
          <a:xfrm>
            <a:off x="5791200" y="609600"/>
            <a:ext cx="1066800" cy="457200"/>
          </a:xfrm>
          <a:prstGeom prst="rect">
            <a:avLst/>
          </a:prstGeom>
          <a:noFill/>
          <a:ln w="12700">
            <a:noFill/>
          </a:ln>
        </p:spPr>
        <p:txBody>
          <a:bodyPr>
            <a:spAutoFit/>
          </a:bodyPr>
          <a:p>
            <a:pPr eaLnBrk="1" hangingPunct="1">
              <a:spcBef>
                <a:spcPct val="50000"/>
              </a:spcBef>
            </a:pPr>
            <a:r>
              <a:rPr lang="zh-CN" altLang="en-US" sz="2400" dirty="0">
                <a:solidFill>
                  <a:schemeClr val="accent1"/>
                </a:solidFill>
                <a:latin typeface="黑体" panose="02010609060101010101" pitchFamily="2" charset="-122"/>
                <a:ea typeface="黑体" panose="02010609060101010101" pitchFamily="2" charset="-122"/>
              </a:rPr>
              <a:t>并</a:t>
            </a:r>
            <a:endParaRPr lang="zh-CN" altLang="en-US" sz="2400" dirty="0">
              <a:solidFill>
                <a:schemeClr val="accent1"/>
              </a:solidFill>
              <a:latin typeface="黑体" panose="02010609060101010101" pitchFamily="2" charset="-122"/>
              <a:ea typeface="黑体" panose="02010609060101010101" pitchFamily="2" charset="-122"/>
            </a:endParaRPr>
          </a:p>
        </p:txBody>
      </p:sp>
      <p:sp>
        <p:nvSpPr>
          <p:cNvPr id="10262" name="Text Box 22"/>
          <p:cNvSpPr txBox="1"/>
          <p:nvPr/>
        </p:nvSpPr>
        <p:spPr>
          <a:xfrm>
            <a:off x="7543800" y="609600"/>
            <a:ext cx="1066800" cy="457200"/>
          </a:xfrm>
          <a:prstGeom prst="rect">
            <a:avLst/>
          </a:prstGeom>
          <a:noFill/>
          <a:ln w="12700">
            <a:noFill/>
          </a:ln>
        </p:spPr>
        <p:txBody>
          <a:bodyPr>
            <a:spAutoFit/>
          </a:bodyPr>
          <a:p>
            <a:pPr eaLnBrk="1" hangingPunct="1">
              <a:spcBef>
                <a:spcPct val="50000"/>
              </a:spcBef>
            </a:pPr>
            <a:r>
              <a:rPr lang="zh-CN" altLang="en-US" sz="2400" dirty="0">
                <a:solidFill>
                  <a:srgbClr val="FFFF00"/>
                </a:solidFill>
                <a:latin typeface="黑体" panose="02010609060101010101" pitchFamily="2" charset="-122"/>
                <a:ea typeface="黑体" panose="02010609060101010101" pitchFamily="2" charset="-122"/>
              </a:rPr>
              <a:t>并</a:t>
            </a:r>
            <a:endParaRPr lang="zh-CN" altLang="en-US" sz="2400" dirty="0">
              <a:solidFill>
                <a:srgbClr val="FFFF00"/>
              </a:solidFill>
              <a:latin typeface="黑体" panose="02010609060101010101" pitchFamily="2" charset="-122"/>
              <a:ea typeface="黑体" panose="02010609060101010101" pitchFamily="2" charset="-122"/>
            </a:endParaRPr>
          </a:p>
        </p:txBody>
      </p:sp>
      <p:sp>
        <p:nvSpPr>
          <p:cNvPr id="10264" name="Rectangle 24"/>
          <p:cNvSpPr/>
          <p:nvPr/>
        </p:nvSpPr>
        <p:spPr>
          <a:xfrm>
            <a:off x="250825" y="3559175"/>
            <a:ext cx="2667000" cy="519113"/>
          </a:xfrm>
          <a:prstGeom prst="rect">
            <a:avLst/>
          </a:prstGeom>
          <a:noFill/>
          <a:ln w="12700">
            <a:noFill/>
          </a:ln>
        </p:spPr>
        <p:txBody>
          <a:bodyPr>
            <a:spAutoFit/>
          </a:bodyPr>
          <a:p>
            <a:pPr eaLnBrk="1" hangingPunct="1"/>
            <a:r>
              <a:rPr lang="en-US" altLang="zh-CN" sz="2800" dirty="0">
                <a:solidFill>
                  <a:schemeClr val="folHlink"/>
                </a:solidFill>
                <a:latin typeface="Calibri" panose="020F0502020204030204" pitchFamily="34" charset="0"/>
                <a:ea typeface="黑体" panose="02010609060101010101" pitchFamily="2" charset="-122"/>
              </a:rPr>
              <a:t>(2)</a:t>
            </a:r>
            <a:r>
              <a:rPr lang="zh-CN" altLang="en-US" sz="2800" dirty="0">
                <a:solidFill>
                  <a:schemeClr val="folHlink"/>
                </a:solidFill>
                <a:latin typeface="Calibri" panose="020F0502020204030204" pitchFamily="34" charset="0"/>
                <a:ea typeface="黑体" panose="02010609060101010101" pitchFamily="2" charset="-122"/>
              </a:rPr>
              <a:t>串行接口</a:t>
            </a:r>
            <a:endParaRPr lang="zh-CN" altLang="en-US" sz="2800" dirty="0">
              <a:solidFill>
                <a:schemeClr val="folHlink"/>
              </a:solidFill>
              <a:latin typeface="Calibri" panose="020F0502020204030204" pitchFamily="34" charset="0"/>
              <a:ea typeface="黑体" panose="02010609060101010101" pitchFamily="2" charset="-122"/>
            </a:endParaRPr>
          </a:p>
        </p:txBody>
      </p:sp>
      <p:sp>
        <p:nvSpPr>
          <p:cNvPr id="10265" name="Rectangle 25"/>
          <p:cNvSpPr/>
          <p:nvPr/>
        </p:nvSpPr>
        <p:spPr>
          <a:xfrm>
            <a:off x="250825" y="2765425"/>
            <a:ext cx="7734300" cy="519113"/>
          </a:xfrm>
          <a:prstGeom prst="rect">
            <a:avLst/>
          </a:prstGeom>
          <a:noFill/>
          <a:ln w="12700">
            <a:noFill/>
          </a:ln>
        </p:spPr>
        <p:txBody>
          <a:bodyPr>
            <a:spAutoFit/>
          </a:bodyPr>
          <a:p>
            <a:pPr eaLnBrk="1" hangingPunct="1"/>
            <a:r>
              <a:rPr lang="zh-CN" altLang="en-US" sz="2800" dirty="0">
                <a:solidFill>
                  <a:schemeClr val="tx1"/>
                </a:solidFill>
                <a:latin typeface="黑体" panose="02010609060101010101" pitchFamily="2" charset="-122"/>
                <a:ea typeface="黑体" panose="02010609060101010101" pitchFamily="2" charset="-122"/>
              </a:rPr>
              <a:t>适用于设备本身并行工作，距主机较近的场合。</a:t>
            </a:r>
            <a:endParaRPr lang="zh-CN" altLang="en-US" sz="2800" dirty="0">
              <a:solidFill>
                <a:schemeClr val="tx1"/>
              </a:solidFill>
              <a:latin typeface="黑体" panose="02010609060101010101" pitchFamily="2" charset="-122"/>
              <a:ea typeface="黑体" panose="02010609060101010101" pitchFamily="2" charset="-122"/>
            </a:endParaRPr>
          </a:p>
        </p:txBody>
      </p:sp>
      <p:sp>
        <p:nvSpPr>
          <p:cNvPr id="10268" name="Text Box 28"/>
          <p:cNvSpPr txBox="1"/>
          <p:nvPr/>
        </p:nvSpPr>
        <p:spPr>
          <a:xfrm>
            <a:off x="7543800" y="668338"/>
            <a:ext cx="1219200" cy="457200"/>
          </a:xfrm>
          <a:prstGeom prst="rect">
            <a:avLst/>
          </a:prstGeom>
          <a:noFill/>
          <a:ln w="12700">
            <a:noFill/>
          </a:ln>
        </p:spPr>
        <p:txBody>
          <a:bodyPr>
            <a:spAutoFit/>
          </a:bodyPr>
          <a:p>
            <a:pPr eaLnBrk="1" hangingPunct="1">
              <a:spcBef>
                <a:spcPct val="50000"/>
              </a:spcBef>
            </a:pPr>
            <a:r>
              <a:rPr lang="zh-CN" altLang="en-US" sz="2400" dirty="0">
                <a:solidFill>
                  <a:srgbClr val="FFFF00"/>
                </a:solidFill>
                <a:latin typeface="Times New Roman" panose="02020603050405020304" pitchFamily="18" charset="0"/>
              </a:rPr>
              <a:t>串</a:t>
            </a:r>
            <a:endParaRPr lang="zh-CN" altLang="en-US" sz="2400" dirty="0">
              <a:solidFill>
                <a:srgbClr val="FFFF00"/>
              </a:solidFill>
              <a:latin typeface="Times New Roman" panose="02020603050405020304" pitchFamily="18" charset="0"/>
            </a:endParaRPr>
          </a:p>
        </p:txBody>
      </p:sp>
      <p:sp>
        <p:nvSpPr>
          <p:cNvPr id="10269" name="Rectangle 29"/>
          <p:cNvSpPr/>
          <p:nvPr/>
        </p:nvSpPr>
        <p:spPr>
          <a:xfrm>
            <a:off x="250825" y="4052888"/>
            <a:ext cx="8281988" cy="519112"/>
          </a:xfrm>
          <a:prstGeom prst="rect">
            <a:avLst/>
          </a:prstGeom>
          <a:noFill/>
          <a:ln w="12700">
            <a:noFill/>
          </a:ln>
        </p:spPr>
        <p:txBody>
          <a:bodyPr>
            <a:spAutoFit/>
          </a:bodyPr>
          <a:p>
            <a:pPr eaLnBrk="1" hangingPunct="1"/>
            <a:r>
              <a:rPr lang="zh-CN" altLang="en-US" sz="2800" dirty="0">
                <a:solidFill>
                  <a:srgbClr val="00FF00"/>
                </a:solidFill>
                <a:latin typeface="黑体" panose="02010609060101010101" pitchFamily="2" charset="-122"/>
                <a:ea typeface="黑体" panose="02010609060101010101" pitchFamily="2" charset="-122"/>
              </a:rPr>
              <a:t>接口与外设一侧串行传送。</a:t>
            </a:r>
            <a:endParaRPr lang="zh-CN" altLang="en-US" sz="2800" dirty="0">
              <a:solidFill>
                <a:srgbClr val="00FF00"/>
              </a:solidFill>
              <a:latin typeface="黑体" panose="02010609060101010101" pitchFamily="2" charset="-122"/>
              <a:ea typeface="黑体" panose="02010609060101010101" pitchFamily="2" charset="-122"/>
            </a:endParaRPr>
          </a:p>
        </p:txBody>
      </p:sp>
      <p:sp>
        <p:nvSpPr>
          <p:cNvPr id="10271" name="Rectangle 31"/>
          <p:cNvSpPr/>
          <p:nvPr/>
        </p:nvSpPr>
        <p:spPr>
          <a:xfrm>
            <a:off x="250825" y="4643438"/>
            <a:ext cx="8420100" cy="946150"/>
          </a:xfrm>
          <a:prstGeom prst="rect">
            <a:avLst/>
          </a:prstGeom>
          <a:noFill/>
          <a:ln w="12700">
            <a:noFill/>
          </a:ln>
        </p:spPr>
        <p:txBody>
          <a:bodyPr>
            <a:spAutoFit/>
          </a:bodyPr>
          <a:p>
            <a:pPr eaLnBrk="1" hangingPunct="1"/>
            <a:r>
              <a:rPr lang="zh-CN" altLang="en-US" sz="2800" dirty="0">
                <a:solidFill>
                  <a:schemeClr val="tx1"/>
                </a:solidFill>
                <a:latin typeface="黑体" panose="02010609060101010101" pitchFamily="2" charset="-122"/>
                <a:ea typeface="黑体" panose="02010609060101010101" pitchFamily="2" charset="-122"/>
              </a:rPr>
              <a:t>适用于设备本身串行工作，或距主机较远，或需减少传送线的情况。</a:t>
            </a:r>
            <a:endParaRPr lang="zh-CN" altLang="en-US" sz="2800" dirty="0">
              <a:solidFill>
                <a:schemeClr val="tx1"/>
              </a:solidFill>
              <a:latin typeface="黑体" panose="02010609060101010101" pitchFamily="2" charset="-122"/>
              <a:ea typeface="黑体" panose="02010609060101010101" pitchFamily="2" charset="-122"/>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261">
                                            <p:txEl>
                                              <p:charRg st="0" end="2"/>
                                            </p:txEl>
                                          </p:spTgt>
                                        </p:tgtEl>
                                        <p:attrNameLst>
                                          <p:attrName>style.visibility</p:attrName>
                                        </p:attrNameLst>
                                      </p:cBhvr>
                                      <p:to>
                                        <p:strVal val="visible"/>
                                      </p:to>
                                    </p:set>
                                    <p:animEffect transition="in" filter="dissolve">
                                      <p:cBhvr>
                                        <p:cTn id="7" dur="500"/>
                                        <p:tgtEl>
                                          <p:spTgt spid="10261">
                                            <p:txEl>
                                              <p:charRg st="0"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262">
                                            <p:txEl>
                                              <p:charRg st="0" end="2"/>
                                            </p:txEl>
                                          </p:spTgt>
                                        </p:tgtEl>
                                        <p:attrNameLst>
                                          <p:attrName>style.visibility</p:attrName>
                                        </p:attrNameLst>
                                      </p:cBhvr>
                                      <p:to>
                                        <p:strVal val="visible"/>
                                      </p:to>
                                    </p:set>
                                    <p:animEffect transition="in" filter="dissolve">
                                      <p:cBhvr>
                                        <p:cTn id="12" dur="500"/>
                                        <p:tgtEl>
                                          <p:spTgt spid="10262">
                                            <p:txEl>
                                              <p:charRg st="0"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1" nodeType="clickEffect">
                                  <p:stCondLst>
                                    <p:cond delay="0"/>
                                  </p:stCondLst>
                                  <p:childTnLst>
                                    <p:animEffect transition="out" filter="wipe(down)">
                                      <p:cBhvr>
                                        <p:cTn id="16" dur="500"/>
                                        <p:tgtEl>
                                          <p:spTgt spid="10262">
                                            <p:txEl>
                                              <p:charRg st="0" end="2"/>
                                            </p:txEl>
                                          </p:spTgt>
                                        </p:tgtEl>
                                      </p:cBhvr>
                                    </p:animEffect>
                                    <p:set>
                                      <p:cBhvr>
                                        <p:cTn id="17" dur="1" fill="hold">
                                          <p:stCondLst>
                                            <p:cond delay="499"/>
                                          </p:stCondLst>
                                        </p:cTn>
                                        <p:tgtEl>
                                          <p:spTgt spid="10262">
                                            <p:txEl>
                                              <p:charRg st="0" end="2"/>
                                            </p:txEl>
                                          </p:spTgt>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268">
                                            <p:txEl>
                                              <p:charRg st="0" end="2"/>
                                            </p:txEl>
                                          </p:spTgt>
                                        </p:tgtEl>
                                        <p:attrNameLst>
                                          <p:attrName>style.visibility</p:attrName>
                                        </p:attrNameLst>
                                      </p:cBhvr>
                                      <p:to>
                                        <p:strVal val="visible"/>
                                      </p:to>
                                    </p:set>
                                    <p:animEffect transition="in" filter="dissolve">
                                      <p:cBhvr>
                                        <p:cTn id="22" dur="500"/>
                                        <p:tgtEl>
                                          <p:spTgt spid="10268">
                                            <p:txEl>
                                              <p:charRg st="0"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1" grpId="0" build="p"/>
      <p:bldP spid="10262" grpId="0" build="p"/>
      <p:bldP spid="10262" grpId="1" build="allAtOnce"/>
      <p:bldP spid="10268" grpId="0" advAuto="100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ext Box 2"/>
          <p:cNvSpPr txBox="1"/>
          <p:nvPr/>
        </p:nvSpPr>
        <p:spPr>
          <a:xfrm>
            <a:off x="454025" y="228600"/>
            <a:ext cx="6019800" cy="579438"/>
          </a:xfrm>
          <a:prstGeom prst="rect">
            <a:avLst/>
          </a:prstGeom>
          <a:noFill/>
          <a:ln w="12700">
            <a:noFill/>
          </a:ln>
        </p:spPr>
        <p:txBody>
          <a:bodyPr>
            <a:spAutoFit/>
          </a:bodyPr>
          <a:p>
            <a:pPr eaLnBrk="1" hangingPunct="1">
              <a:spcBef>
                <a:spcPct val="50000"/>
              </a:spcBef>
            </a:pPr>
            <a:r>
              <a:rPr lang="en-US" altLang="zh-CN" dirty="0">
                <a:solidFill>
                  <a:srgbClr val="FFFF00"/>
                </a:solidFill>
                <a:latin typeface="黑体" panose="02010609060101010101" pitchFamily="2" charset="-122"/>
                <a:ea typeface="黑体" panose="02010609060101010101" pitchFamily="2" charset="-122"/>
              </a:rPr>
              <a:t>2.</a:t>
            </a:r>
            <a:r>
              <a:rPr lang="zh-CN" altLang="en-US" dirty="0">
                <a:solidFill>
                  <a:srgbClr val="FFFF00"/>
                </a:solidFill>
                <a:latin typeface="黑体" panose="02010609060101010101" pitchFamily="2" charset="-122"/>
                <a:ea typeface="黑体" panose="02010609060101010101" pitchFamily="2" charset="-122"/>
              </a:rPr>
              <a:t>按时序控制方式划分</a:t>
            </a:r>
            <a:endParaRPr lang="zh-CN" altLang="en-US" dirty="0">
              <a:solidFill>
                <a:srgbClr val="FFFF00"/>
              </a:solidFill>
              <a:latin typeface="黑体" panose="02010609060101010101" pitchFamily="2" charset="-122"/>
              <a:ea typeface="黑体" panose="02010609060101010101" pitchFamily="2" charset="-122"/>
            </a:endParaRPr>
          </a:p>
        </p:txBody>
      </p:sp>
      <p:sp>
        <p:nvSpPr>
          <p:cNvPr id="14339" name="Rectangle 3"/>
          <p:cNvSpPr/>
          <p:nvPr/>
        </p:nvSpPr>
        <p:spPr>
          <a:xfrm>
            <a:off x="251460" y="793750"/>
            <a:ext cx="6934200" cy="579438"/>
          </a:xfrm>
          <a:prstGeom prst="rect">
            <a:avLst/>
          </a:prstGeom>
          <a:noFill/>
          <a:ln w="12700">
            <a:noFill/>
          </a:ln>
        </p:spPr>
        <p:txBody>
          <a:bodyPr>
            <a:spAutoFit/>
          </a:bodyPr>
          <a:p>
            <a:pPr eaLnBrk="1" hangingPunct="1"/>
            <a:r>
              <a:rPr lang="zh-CN" altLang="en-US" dirty="0">
                <a:solidFill>
                  <a:schemeClr val="accent1"/>
                </a:solidFill>
                <a:latin typeface="黑体" panose="02010609060101010101" pitchFamily="2" charset="-122"/>
                <a:ea typeface="黑体" panose="02010609060101010101" pitchFamily="2" charset="-122"/>
              </a:rPr>
              <a:t>（</a:t>
            </a:r>
            <a:r>
              <a:rPr lang="en-US" altLang="zh-CN" dirty="0">
                <a:solidFill>
                  <a:schemeClr val="accent1"/>
                </a:solidFill>
                <a:latin typeface="黑体" panose="02010609060101010101" pitchFamily="2" charset="-122"/>
                <a:ea typeface="黑体" panose="02010609060101010101" pitchFamily="2" charset="-122"/>
              </a:rPr>
              <a:t>1</a:t>
            </a:r>
            <a:r>
              <a:rPr lang="zh-CN" altLang="en-US" dirty="0">
                <a:solidFill>
                  <a:schemeClr val="accent1"/>
                </a:solidFill>
                <a:latin typeface="黑体" panose="02010609060101010101" pitchFamily="2" charset="-122"/>
                <a:ea typeface="黑体" panose="02010609060101010101" pitchFamily="2" charset="-122"/>
              </a:rPr>
              <a:t>）同步接口</a:t>
            </a:r>
            <a:endParaRPr lang="zh-CN" altLang="en-US" dirty="0">
              <a:solidFill>
                <a:schemeClr val="accent1"/>
              </a:solidFill>
              <a:latin typeface="黑体" panose="02010609060101010101" pitchFamily="2" charset="-122"/>
              <a:ea typeface="黑体" panose="02010609060101010101" pitchFamily="2" charset="-122"/>
            </a:endParaRPr>
          </a:p>
        </p:txBody>
      </p:sp>
      <p:sp>
        <p:nvSpPr>
          <p:cNvPr id="14340" name="Rectangle 4"/>
          <p:cNvSpPr/>
          <p:nvPr/>
        </p:nvSpPr>
        <p:spPr>
          <a:xfrm>
            <a:off x="251460" y="1340485"/>
            <a:ext cx="8763000" cy="579438"/>
          </a:xfrm>
          <a:prstGeom prst="rect">
            <a:avLst/>
          </a:prstGeom>
          <a:noFill/>
          <a:ln w="12700">
            <a:noFill/>
          </a:ln>
        </p:spPr>
        <p:txBody>
          <a:bodyPr>
            <a:spAutoFit/>
          </a:bodyPr>
          <a:p>
            <a:pPr eaLnBrk="1" hangingPunct="1"/>
            <a:r>
              <a:rPr lang="zh-CN" altLang="en-US" dirty="0">
                <a:solidFill>
                  <a:schemeClr val="tx1"/>
                </a:solidFill>
                <a:latin typeface="黑体" panose="02010609060101010101" pitchFamily="2" charset="-122"/>
                <a:ea typeface="黑体" panose="02010609060101010101" pitchFamily="2" charset="-122"/>
              </a:rPr>
              <a:t>接口与系统总线的信息传送采用同步方式控制</a:t>
            </a:r>
            <a:endParaRPr lang="zh-CN" altLang="en-US" dirty="0">
              <a:solidFill>
                <a:schemeClr val="tx1"/>
              </a:solidFill>
              <a:latin typeface="黑体" panose="02010609060101010101" pitchFamily="2" charset="-122"/>
              <a:ea typeface="黑体" panose="02010609060101010101" pitchFamily="2" charset="-122"/>
            </a:endParaRPr>
          </a:p>
        </p:txBody>
      </p:sp>
      <p:sp>
        <p:nvSpPr>
          <p:cNvPr id="14341" name="Rectangle 5"/>
          <p:cNvSpPr/>
          <p:nvPr/>
        </p:nvSpPr>
        <p:spPr>
          <a:xfrm>
            <a:off x="251460" y="1879600"/>
            <a:ext cx="6934200" cy="579438"/>
          </a:xfrm>
          <a:prstGeom prst="rect">
            <a:avLst/>
          </a:prstGeom>
          <a:noFill/>
          <a:ln w="12700">
            <a:noFill/>
          </a:ln>
        </p:spPr>
        <p:txBody>
          <a:bodyPr>
            <a:spAutoFit/>
          </a:bodyPr>
          <a:p>
            <a:pPr eaLnBrk="1" hangingPunct="1"/>
            <a:r>
              <a:rPr lang="zh-CN" altLang="en-US" dirty="0">
                <a:solidFill>
                  <a:schemeClr val="accent1"/>
                </a:solidFill>
                <a:latin typeface="黑体" panose="02010609060101010101" pitchFamily="2" charset="-122"/>
                <a:ea typeface="黑体" panose="02010609060101010101" pitchFamily="2" charset="-122"/>
              </a:rPr>
              <a:t>（</a:t>
            </a:r>
            <a:r>
              <a:rPr lang="en-US" altLang="zh-CN" dirty="0">
                <a:solidFill>
                  <a:schemeClr val="accent1"/>
                </a:solidFill>
                <a:latin typeface="黑体" panose="02010609060101010101" pitchFamily="2" charset="-122"/>
                <a:ea typeface="黑体" panose="02010609060101010101" pitchFamily="2" charset="-122"/>
              </a:rPr>
              <a:t>2</a:t>
            </a:r>
            <a:r>
              <a:rPr lang="zh-CN" altLang="en-US" dirty="0">
                <a:solidFill>
                  <a:schemeClr val="accent1"/>
                </a:solidFill>
                <a:latin typeface="黑体" panose="02010609060101010101" pitchFamily="2" charset="-122"/>
                <a:ea typeface="黑体" panose="02010609060101010101" pitchFamily="2" charset="-122"/>
              </a:rPr>
              <a:t>）异步接口</a:t>
            </a:r>
            <a:endParaRPr lang="zh-CN" altLang="en-US" dirty="0">
              <a:solidFill>
                <a:schemeClr val="accent1"/>
              </a:solidFill>
              <a:latin typeface="黑体" panose="02010609060101010101" pitchFamily="2" charset="-122"/>
              <a:ea typeface="黑体" panose="02010609060101010101" pitchFamily="2" charset="-122"/>
            </a:endParaRPr>
          </a:p>
        </p:txBody>
      </p:sp>
      <p:sp>
        <p:nvSpPr>
          <p:cNvPr id="14342" name="Rectangle 6"/>
          <p:cNvSpPr/>
          <p:nvPr/>
        </p:nvSpPr>
        <p:spPr>
          <a:xfrm>
            <a:off x="251460" y="2369185"/>
            <a:ext cx="8775700" cy="579438"/>
          </a:xfrm>
          <a:prstGeom prst="rect">
            <a:avLst/>
          </a:prstGeom>
          <a:noFill/>
          <a:ln w="12700">
            <a:noFill/>
          </a:ln>
        </p:spPr>
        <p:txBody>
          <a:bodyPr>
            <a:spAutoFit/>
          </a:bodyPr>
          <a:p>
            <a:pPr eaLnBrk="1" hangingPunct="1"/>
            <a:r>
              <a:rPr lang="zh-CN" altLang="en-US" dirty="0">
                <a:solidFill>
                  <a:schemeClr val="tx1"/>
                </a:solidFill>
                <a:latin typeface="黑体" panose="02010609060101010101" pitchFamily="2" charset="-122"/>
                <a:ea typeface="黑体" panose="02010609060101010101" pitchFamily="2" charset="-122"/>
              </a:rPr>
              <a:t>接口与系统总线的信息传送采用异步方式控制</a:t>
            </a:r>
            <a:endParaRPr lang="zh-CN" altLang="en-US" dirty="0">
              <a:solidFill>
                <a:schemeClr val="tx1"/>
              </a:solidFill>
              <a:latin typeface="黑体" panose="02010609060101010101" pitchFamily="2" charset="-122"/>
              <a:ea typeface="黑体" panose="02010609060101010101" pitchFamily="2" charset="-122"/>
            </a:endParaRPr>
          </a:p>
        </p:txBody>
      </p:sp>
      <p:sp>
        <p:nvSpPr>
          <p:cNvPr id="11288" name="Text Box 24"/>
          <p:cNvSpPr txBox="1"/>
          <p:nvPr/>
        </p:nvSpPr>
        <p:spPr>
          <a:xfrm>
            <a:off x="453708" y="2909570"/>
            <a:ext cx="7218362" cy="584200"/>
          </a:xfrm>
          <a:prstGeom prst="rect">
            <a:avLst/>
          </a:prstGeom>
          <a:noFill/>
          <a:ln w="12700">
            <a:noFill/>
          </a:ln>
        </p:spPr>
        <p:txBody>
          <a:bodyPr>
            <a:spAutoFit/>
          </a:bodyPr>
          <a:p>
            <a:pPr eaLnBrk="1" hangingPunct="1">
              <a:spcBef>
                <a:spcPct val="50000"/>
              </a:spcBef>
            </a:pPr>
            <a:r>
              <a:rPr lang="en-US" altLang="zh-CN" dirty="0">
                <a:solidFill>
                  <a:srgbClr val="FFFF00"/>
                </a:solidFill>
                <a:latin typeface="Calibri" panose="020F0502020204030204" pitchFamily="34" charset="0"/>
                <a:ea typeface="黑体" panose="02010609060101010101" pitchFamily="2" charset="-122"/>
              </a:rPr>
              <a:t>3.</a:t>
            </a:r>
            <a:r>
              <a:rPr lang="zh-CN" altLang="en-US" dirty="0">
                <a:solidFill>
                  <a:srgbClr val="FFFF00"/>
                </a:solidFill>
                <a:latin typeface="Calibri" panose="020F0502020204030204" pitchFamily="34" charset="0"/>
                <a:ea typeface="黑体" panose="02010609060101010101" pitchFamily="2" charset="-122"/>
              </a:rPr>
              <a:t>按</a:t>
            </a:r>
            <a:r>
              <a:rPr lang="en-US" altLang="zh-CN" dirty="0">
                <a:solidFill>
                  <a:srgbClr val="FFFF00"/>
                </a:solidFill>
                <a:latin typeface="Calibri" panose="020F0502020204030204" pitchFamily="34" charset="0"/>
                <a:ea typeface="黑体" panose="02010609060101010101" pitchFamily="2" charset="-122"/>
              </a:rPr>
              <a:t>I/O</a:t>
            </a:r>
            <a:r>
              <a:rPr lang="zh-CN" altLang="en-US" dirty="0">
                <a:solidFill>
                  <a:srgbClr val="FFFF00"/>
                </a:solidFill>
                <a:latin typeface="Calibri" panose="020F0502020204030204" pitchFamily="34" charset="0"/>
                <a:ea typeface="黑体" panose="02010609060101010101" pitchFamily="2" charset="-122"/>
              </a:rPr>
              <a:t>操作的控制方式：</a:t>
            </a:r>
            <a:endParaRPr lang="zh-CN" altLang="en-US" dirty="0">
              <a:solidFill>
                <a:srgbClr val="FFFF00"/>
              </a:solidFill>
              <a:latin typeface="Calibri" panose="020F0502020204030204" pitchFamily="34" charset="0"/>
              <a:ea typeface="黑体" panose="02010609060101010101" pitchFamily="2" charset="-122"/>
            </a:endParaRPr>
          </a:p>
        </p:txBody>
      </p:sp>
      <p:sp>
        <p:nvSpPr>
          <p:cNvPr id="11289" name="Rectangle 25"/>
          <p:cNvSpPr/>
          <p:nvPr/>
        </p:nvSpPr>
        <p:spPr>
          <a:xfrm>
            <a:off x="173990" y="4220528"/>
            <a:ext cx="3414713" cy="579437"/>
          </a:xfrm>
          <a:prstGeom prst="rect">
            <a:avLst/>
          </a:prstGeom>
          <a:noFill/>
          <a:ln w="12700">
            <a:noFill/>
          </a:ln>
        </p:spPr>
        <p:txBody>
          <a:bodyPr>
            <a:spAutoFit/>
          </a:bodyPr>
          <a:p>
            <a:pPr eaLnBrk="1" hangingPunct="1"/>
            <a:r>
              <a:rPr lang="zh-CN" altLang="en-US" dirty="0">
                <a:solidFill>
                  <a:schemeClr val="tx1"/>
                </a:solidFill>
                <a:latin typeface="黑体" panose="02010609060101010101" pitchFamily="2" charset="-122"/>
                <a:ea typeface="黑体" panose="02010609060101010101" pitchFamily="2" charset="-122"/>
              </a:rPr>
              <a:t>（</a:t>
            </a:r>
            <a:r>
              <a:rPr lang="en-US" altLang="zh-CN" dirty="0">
                <a:solidFill>
                  <a:schemeClr val="tx1"/>
                </a:solidFill>
                <a:latin typeface="黑体" panose="02010609060101010101" pitchFamily="2" charset="-122"/>
                <a:ea typeface="黑体" panose="02010609060101010101" pitchFamily="2" charset="-122"/>
              </a:rPr>
              <a:t>2</a:t>
            </a:r>
            <a:r>
              <a:rPr lang="zh-CN" altLang="en-US" dirty="0">
                <a:solidFill>
                  <a:schemeClr val="tx1"/>
                </a:solidFill>
                <a:latin typeface="黑体" panose="02010609060101010101" pitchFamily="2" charset="-122"/>
                <a:ea typeface="黑体" panose="02010609060101010101" pitchFamily="2" charset="-122"/>
              </a:rPr>
              <a:t>）中断接口</a:t>
            </a:r>
            <a:endParaRPr lang="zh-CN" altLang="en-US" dirty="0">
              <a:solidFill>
                <a:schemeClr val="tx1"/>
              </a:solidFill>
              <a:latin typeface="黑体" panose="02010609060101010101" pitchFamily="2" charset="-122"/>
              <a:ea typeface="黑体" panose="02010609060101010101" pitchFamily="2" charset="-122"/>
            </a:endParaRPr>
          </a:p>
        </p:txBody>
      </p:sp>
      <p:sp>
        <p:nvSpPr>
          <p:cNvPr id="11291" name="Rectangle 27"/>
          <p:cNvSpPr/>
          <p:nvPr/>
        </p:nvSpPr>
        <p:spPr>
          <a:xfrm>
            <a:off x="222885" y="4901565"/>
            <a:ext cx="3629025" cy="579438"/>
          </a:xfrm>
          <a:prstGeom prst="rect">
            <a:avLst/>
          </a:prstGeom>
          <a:noFill/>
          <a:ln w="12700">
            <a:noFill/>
          </a:ln>
        </p:spPr>
        <p:txBody>
          <a:bodyPr>
            <a:spAutoFit/>
          </a:bodyPr>
          <a:p>
            <a:pPr eaLnBrk="1" hangingPunct="1"/>
            <a:r>
              <a:rPr lang="zh-CN" altLang="en-US" dirty="0">
                <a:solidFill>
                  <a:schemeClr val="tx1"/>
                </a:solidFill>
                <a:latin typeface="Calibri" panose="020F0502020204030204" pitchFamily="34" charset="0"/>
                <a:ea typeface="黑体" panose="02010609060101010101" pitchFamily="2" charset="-122"/>
              </a:rPr>
              <a:t>（</a:t>
            </a:r>
            <a:r>
              <a:rPr lang="en-US" altLang="zh-CN" dirty="0">
                <a:solidFill>
                  <a:schemeClr val="tx1"/>
                </a:solidFill>
                <a:latin typeface="Calibri" panose="020F0502020204030204" pitchFamily="34" charset="0"/>
                <a:ea typeface="黑体" panose="02010609060101010101" pitchFamily="2" charset="-122"/>
              </a:rPr>
              <a:t>3</a:t>
            </a:r>
            <a:r>
              <a:rPr lang="zh-CN" altLang="en-US" dirty="0">
                <a:solidFill>
                  <a:schemeClr val="tx1"/>
                </a:solidFill>
                <a:latin typeface="Calibri" panose="020F0502020204030204" pitchFamily="34" charset="0"/>
                <a:ea typeface="黑体" panose="02010609060101010101" pitchFamily="2" charset="-122"/>
              </a:rPr>
              <a:t>）</a:t>
            </a:r>
            <a:r>
              <a:rPr lang="en-US" altLang="zh-CN" dirty="0">
                <a:solidFill>
                  <a:schemeClr val="tx1"/>
                </a:solidFill>
                <a:latin typeface="Calibri" panose="020F0502020204030204" pitchFamily="34" charset="0"/>
                <a:ea typeface="黑体" panose="02010609060101010101" pitchFamily="2" charset="-122"/>
              </a:rPr>
              <a:t>DMA</a:t>
            </a:r>
            <a:r>
              <a:rPr lang="zh-CN" altLang="en-US" dirty="0">
                <a:solidFill>
                  <a:schemeClr val="tx1"/>
                </a:solidFill>
                <a:latin typeface="Calibri" panose="020F0502020204030204" pitchFamily="34" charset="0"/>
                <a:ea typeface="黑体" panose="02010609060101010101" pitchFamily="2" charset="-122"/>
              </a:rPr>
              <a:t>接口</a:t>
            </a:r>
            <a:endParaRPr lang="zh-CN" altLang="en-US" dirty="0">
              <a:solidFill>
                <a:schemeClr val="tx1"/>
              </a:solidFill>
              <a:latin typeface="Calibri" panose="020F0502020204030204" pitchFamily="34" charset="0"/>
              <a:ea typeface="黑体" panose="02010609060101010101" pitchFamily="2" charset="-122"/>
            </a:endParaRPr>
          </a:p>
        </p:txBody>
      </p:sp>
      <p:sp>
        <p:nvSpPr>
          <p:cNvPr id="3" name="Rectangle 25"/>
          <p:cNvSpPr/>
          <p:nvPr/>
        </p:nvSpPr>
        <p:spPr>
          <a:xfrm>
            <a:off x="178753" y="3501390"/>
            <a:ext cx="3052762" cy="579438"/>
          </a:xfrm>
          <a:prstGeom prst="rect">
            <a:avLst/>
          </a:prstGeom>
          <a:noFill/>
          <a:ln w="12700">
            <a:noFill/>
          </a:ln>
        </p:spPr>
        <p:txBody>
          <a:bodyPr>
            <a:spAutoFit/>
          </a:bodyPr>
          <a:p>
            <a:pPr eaLnBrk="1" hangingPunct="1"/>
            <a:r>
              <a:rPr lang="zh-CN" altLang="en-US" dirty="0">
                <a:solidFill>
                  <a:schemeClr val="tx1"/>
                </a:solidFill>
                <a:latin typeface="Calibri" panose="020F0502020204030204" pitchFamily="34" charset="0"/>
                <a:ea typeface="黑体" panose="02010609060101010101" pitchFamily="2" charset="-122"/>
              </a:rPr>
              <a:t>（</a:t>
            </a:r>
            <a:r>
              <a:rPr lang="en-US" altLang="zh-CN" dirty="0">
                <a:solidFill>
                  <a:schemeClr val="tx1"/>
                </a:solidFill>
                <a:latin typeface="Calibri" panose="020F0502020204030204" pitchFamily="34" charset="0"/>
                <a:ea typeface="黑体" panose="02010609060101010101" pitchFamily="2" charset="-122"/>
              </a:rPr>
              <a:t>1</a:t>
            </a:r>
            <a:r>
              <a:rPr lang="zh-CN" altLang="en-US" dirty="0">
                <a:solidFill>
                  <a:schemeClr val="tx1"/>
                </a:solidFill>
                <a:latin typeface="Calibri" panose="020F0502020204030204" pitchFamily="34" charset="0"/>
                <a:ea typeface="黑体" panose="02010609060101010101" pitchFamily="2" charset="-122"/>
              </a:rPr>
              <a:t>）</a:t>
            </a:r>
            <a:r>
              <a:rPr lang="en-US" altLang="zh-CN" dirty="0">
                <a:solidFill>
                  <a:schemeClr val="tx1"/>
                </a:solidFill>
                <a:latin typeface="Calibri" panose="020F0502020204030204" pitchFamily="34" charset="0"/>
                <a:ea typeface="黑体" panose="02010609060101010101" pitchFamily="2" charset="-122"/>
              </a:rPr>
              <a:t>PIO</a:t>
            </a:r>
            <a:r>
              <a:rPr lang="zh-CN" altLang="en-US" dirty="0">
                <a:solidFill>
                  <a:schemeClr val="tx1"/>
                </a:solidFill>
                <a:latin typeface="Calibri" panose="020F0502020204030204" pitchFamily="34" charset="0"/>
                <a:ea typeface="黑体" panose="02010609060101010101" pitchFamily="2" charset="-122"/>
              </a:rPr>
              <a:t>接口</a:t>
            </a:r>
            <a:endParaRPr lang="zh-CN" altLang="en-US" dirty="0">
              <a:solidFill>
                <a:schemeClr val="tx1"/>
              </a:solidFill>
              <a:latin typeface="Calibri" panose="020F0502020204030204" pitchFamily="34" charset="0"/>
              <a:ea typeface="黑体" panose="02010609060101010101" pitchFamily="2" charset="-122"/>
            </a:endParaRPr>
          </a:p>
        </p:txBody>
      </p:sp>
      <p:sp>
        <p:nvSpPr>
          <p:cNvPr id="9" name="Rectangle 27"/>
          <p:cNvSpPr/>
          <p:nvPr/>
        </p:nvSpPr>
        <p:spPr>
          <a:xfrm>
            <a:off x="208598" y="5758815"/>
            <a:ext cx="4267200" cy="579438"/>
          </a:xfrm>
          <a:prstGeom prst="rect">
            <a:avLst/>
          </a:prstGeom>
          <a:noFill/>
          <a:ln w="12700">
            <a:noFill/>
          </a:ln>
        </p:spPr>
        <p:txBody>
          <a:bodyPr>
            <a:spAutoFit/>
          </a:bodyPr>
          <a:p>
            <a:pPr eaLnBrk="1" hangingPunct="1"/>
            <a:r>
              <a:rPr lang="zh-CN" altLang="en-US" dirty="0">
                <a:solidFill>
                  <a:schemeClr val="tx1"/>
                </a:solidFill>
                <a:latin typeface="Calibri" panose="020F0502020204030204" pitchFamily="34" charset="0"/>
                <a:ea typeface="黑体" panose="02010609060101010101" pitchFamily="2" charset="-122"/>
              </a:rPr>
              <a:t>（</a:t>
            </a:r>
            <a:r>
              <a:rPr lang="en-US" altLang="zh-CN" dirty="0">
                <a:solidFill>
                  <a:schemeClr val="tx1"/>
                </a:solidFill>
                <a:latin typeface="Calibri" panose="020F0502020204030204" pitchFamily="34" charset="0"/>
                <a:ea typeface="黑体" panose="02010609060101010101" pitchFamily="2" charset="-122"/>
              </a:rPr>
              <a:t>4</a:t>
            </a:r>
            <a:r>
              <a:rPr lang="zh-CN" altLang="en-US" dirty="0">
                <a:solidFill>
                  <a:schemeClr val="tx1"/>
                </a:solidFill>
                <a:latin typeface="Calibri" panose="020F0502020204030204" pitchFamily="34" charset="0"/>
                <a:ea typeface="黑体" panose="02010609060101010101" pitchFamily="2" charset="-122"/>
              </a:rPr>
              <a:t>）</a:t>
            </a:r>
            <a:r>
              <a:rPr lang="en-US" altLang="zh-CN" dirty="0">
                <a:solidFill>
                  <a:schemeClr val="tx1"/>
                </a:solidFill>
                <a:latin typeface="Calibri" panose="020F0502020204030204" pitchFamily="34" charset="0"/>
                <a:ea typeface="黑体" panose="02010609060101010101" pitchFamily="2" charset="-122"/>
              </a:rPr>
              <a:t>IOP/PPU</a:t>
            </a:r>
            <a:r>
              <a:rPr lang="zh-CN" altLang="en-US" dirty="0">
                <a:solidFill>
                  <a:schemeClr val="tx1"/>
                </a:solidFill>
                <a:latin typeface="Calibri" panose="020F0502020204030204" pitchFamily="34" charset="0"/>
                <a:ea typeface="黑体" panose="02010609060101010101" pitchFamily="2" charset="-122"/>
              </a:rPr>
              <a:t>接口</a:t>
            </a:r>
            <a:endParaRPr lang="zh-CN" altLang="en-US" dirty="0">
              <a:solidFill>
                <a:schemeClr val="tx1"/>
              </a:solidFill>
              <a:latin typeface="Calibri" panose="020F0502020204030204" pitchFamily="34" charset="0"/>
              <a:ea typeface="黑体" panose="02010609060101010101" pitchFamily="2" charset="-122"/>
            </a:endParaRPr>
          </a:p>
        </p:txBody>
      </p:sp>
    </p:spTree>
  </p:cSld>
  <p:clrMapOvr>
    <a:masterClrMapping/>
  </p:clrMapOvr>
  <p:transition spd="slow">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ext Box 2"/>
          <p:cNvSpPr txBox="1"/>
          <p:nvPr/>
        </p:nvSpPr>
        <p:spPr>
          <a:xfrm>
            <a:off x="900113" y="257175"/>
            <a:ext cx="6553200" cy="641350"/>
          </a:xfrm>
          <a:prstGeom prst="rect">
            <a:avLst/>
          </a:prstGeom>
          <a:noFill/>
          <a:ln w="12700">
            <a:noFill/>
          </a:ln>
        </p:spPr>
        <p:txBody>
          <a:bodyPr>
            <a:spAutoFit/>
          </a:bodyPr>
          <a:p>
            <a:pPr algn="ctr" eaLnBrk="1" hangingPunct="1">
              <a:spcBef>
                <a:spcPct val="50000"/>
              </a:spcBef>
            </a:pPr>
            <a:r>
              <a:rPr lang="en-US" altLang="zh-CN" sz="3600" dirty="0">
                <a:solidFill>
                  <a:srgbClr val="FFFF00"/>
                </a:solidFill>
                <a:latin typeface="Calibri" panose="020F0502020204030204" pitchFamily="34" charset="0"/>
                <a:ea typeface="黑体" panose="02010609060101010101" pitchFamily="2" charset="-122"/>
              </a:rPr>
              <a:t>5.2 </a:t>
            </a:r>
            <a:r>
              <a:rPr lang="zh-CN" altLang="en-US" sz="3600" dirty="0">
                <a:solidFill>
                  <a:srgbClr val="FFFF00"/>
                </a:solidFill>
                <a:latin typeface="Calibri" panose="020F0502020204030204" pitchFamily="34" charset="0"/>
                <a:ea typeface="黑体" panose="02010609060101010101" pitchFamily="2" charset="-122"/>
              </a:rPr>
              <a:t>总  线</a:t>
            </a:r>
            <a:endParaRPr lang="zh-CN" altLang="en-US" sz="3600" dirty="0">
              <a:solidFill>
                <a:srgbClr val="FFFF00"/>
              </a:solidFill>
              <a:latin typeface="Calibri" panose="020F0502020204030204" pitchFamily="34" charset="0"/>
              <a:ea typeface="黑体" panose="02010609060101010101" pitchFamily="2" charset="-122"/>
            </a:endParaRPr>
          </a:p>
        </p:txBody>
      </p:sp>
      <p:sp>
        <p:nvSpPr>
          <p:cNvPr id="2" name="Text Box 2"/>
          <p:cNvSpPr txBox="1"/>
          <p:nvPr/>
        </p:nvSpPr>
        <p:spPr>
          <a:xfrm>
            <a:off x="525463" y="2273300"/>
            <a:ext cx="6553200" cy="579438"/>
          </a:xfrm>
          <a:prstGeom prst="rect">
            <a:avLst/>
          </a:prstGeom>
          <a:noFill/>
          <a:ln w="12700">
            <a:noFill/>
          </a:ln>
        </p:spPr>
        <p:txBody>
          <a:bodyPr>
            <a:spAutoFit/>
          </a:bodyPr>
          <a:p>
            <a:pPr eaLnBrk="1" hangingPunct="1">
              <a:spcBef>
                <a:spcPct val="50000"/>
              </a:spcBef>
            </a:pPr>
            <a:r>
              <a:rPr lang="en-US" altLang="zh-CN" dirty="0">
                <a:solidFill>
                  <a:srgbClr val="FFFF00"/>
                </a:solidFill>
                <a:latin typeface="黑体" panose="02010609060101010101" pitchFamily="2" charset="-122"/>
                <a:ea typeface="黑体" panose="02010609060101010101" pitchFamily="2" charset="-122"/>
              </a:rPr>
              <a:t>5.2.1 </a:t>
            </a:r>
            <a:r>
              <a:rPr lang="zh-CN" altLang="en-US" dirty="0">
                <a:solidFill>
                  <a:srgbClr val="FFFF00"/>
                </a:solidFill>
                <a:latin typeface="黑体" panose="02010609060101010101" pitchFamily="2" charset="-122"/>
                <a:ea typeface="黑体" panose="02010609060101010101" pitchFamily="2" charset="-122"/>
              </a:rPr>
              <a:t>总线的特性与分类</a:t>
            </a:r>
            <a:endParaRPr lang="zh-CN" altLang="en-US" dirty="0">
              <a:solidFill>
                <a:srgbClr val="FFFF00"/>
              </a:solidFill>
              <a:latin typeface="黑体" panose="02010609060101010101" pitchFamily="2" charset="-122"/>
              <a:ea typeface="黑体" panose="02010609060101010101" pitchFamily="2" charset="-122"/>
            </a:endParaRPr>
          </a:p>
        </p:txBody>
      </p:sp>
      <p:sp>
        <p:nvSpPr>
          <p:cNvPr id="3" name="Text Box 2"/>
          <p:cNvSpPr txBox="1"/>
          <p:nvPr/>
        </p:nvSpPr>
        <p:spPr>
          <a:xfrm>
            <a:off x="468313" y="3638550"/>
            <a:ext cx="8604250" cy="519113"/>
          </a:xfrm>
          <a:prstGeom prst="rect">
            <a:avLst/>
          </a:prstGeom>
          <a:noFill/>
          <a:ln w="12700">
            <a:noFill/>
          </a:ln>
        </p:spPr>
        <p:txBody>
          <a:bodyPr>
            <a:spAutoFit/>
          </a:bodyPr>
          <a:p>
            <a:pPr eaLnBrk="1" hangingPunct="1">
              <a:spcBef>
                <a:spcPct val="50000"/>
              </a:spcBef>
            </a:pPr>
            <a:r>
              <a:rPr lang="zh-CN" altLang="en-US" sz="2800" dirty="0">
                <a:solidFill>
                  <a:srgbClr val="FFFF00"/>
                </a:solidFill>
                <a:latin typeface="黑体" panose="02010609060101010101" pitchFamily="2" charset="-122"/>
                <a:ea typeface="黑体" panose="02010609060101010101" pitchFamily="2" charset="-122"/>
              </a:rPr>
              <a:t>物理特性：</a:t>
            </a:r>
            <a:r>
              <a:rPr lang="zh-CN" altLang="en-US" sz="2800" dirty="0">
                <a:solidFill>
                  <a:schemeClr val="tx1"/>
                </a:solidFill>
                <a:latin typeface="黑体" panose="02010609060101010101" pitchFamily="2" charset="-122"/>
                <a:ea typeface="黑体" panose="02010609060101010101" pitchFamily="2" charset="-122"/>
              </a:rPr>
              <a:t>几何尺寸、形状、引脚数、排列等</a:t>
            </a:r>
            <a:endParaRPr lang="zh-CN" altLang="en-US" sz="2800" dirty="0">
              <a:solidFill>
                <a:schemeClr val="tx1"/>
              </a:solidFill>
              <a:latin typeface="黑体" panose="02010609060101010101" pitchFamily="2" charset="-122"/>
              <a:ea typeface="黑体" panose="02010609060101010101" pitchFamily="2" charset="-122"/>
            </a:endParaRPr>
          </a:p>
        </p:txBody>
      </p:sp>
      <p:sp>
        <p:nvSpPr>
          <p:cNvPr id="4" name="Text Box 2"/>
          <p:cNvSpPr txBox="1"/>
          <p:nvPr/>
        </p:nvSpPr>
        <p:spPr>
          <a:xfrm>
            <a:off x="474663" y="4214813"/>
            <a:ext cx="8604250" cy="519112"/>
          </a:xfrm>
          <a:prstGeom prst="rect">
            <a:avLst/>
          </a:prstGeom>
          <a:noFill/>
          <a:ln w="12700">
            <a:noFill/>
          </a:ln>
        </p:spPr>
        <p:txBody>
          <a:bodyPr>
            <a:spAutoFit/>
          </a:bodyPr>
          <a:p>
            <a:pPr eaLnBrk="1" hangingPunct="1">
              <a:spcBef>
                <a:spcPct val="50000"/>
              </a:spcBef>
            </a:pPr>
            <a:r>
              <a:rPr lang="zh-CN" altLang="en-US" sz="2800" dirty="0">
                <a:solidFill>
                  <a:srgbClr val="FFFF00"/>
                </a:solidFill>
                <a:latin typeface="黑体" panose="02010609060101010101" pitchFamily="2" charset="-122"/>
                <a:ea typeface="黑体" panose="02010609060101010101" pitchFamily="2" charset="-122"/>
              </a:rPr>
              <a:t>功能特性：</a:t>
            </a:r>
            <a:r>
              <a:rPr lang="zh-CN" altLang="en-US" sz="2800" dirty="0">
                <a:solidFill>
                  <a:schemeClr val="tx1"/>
                </a:solidFill>
                <a:latin typeface="黑体" panose="02010609060101010101" pitchFamily="2" charset="-122"/>
                <a:ea typeface="黑体" panose="02010609060101010101" pitchFamily="2" charset="-122"/>
              </a:rPr>
              <a:t>规定信号线的功能</a:t>
            </a:r>
            <a:endParaRPr lang="zh-CN" altLang="en-US" sz="2800" dirty="0">
              <a:solidFill>
                <a:schemeClr val="tx1"/>
              </a:solidFill>
              <a:latin typeface="黑体" panose="02010609060101010101" pitchFamily="2" charset="-122"/>
              <a:ea typeface="黑体" panose="02010609060101010101" pitchFamily="2" charset="-122"/>
            </a:endParaRPr>
          </a:p>
        </p:txBody>
      </p:sp>
      <p:sp>
        <p:nvSpPr>
          <p:cNvPr id="5" name="Text Box 2"/>
          <p:cNvSpPr txBox="1"/>
          <p:nvPr/>
        </p:nvSpPr>
        <p:spPr>
          <a:xfrm>
            <a:off x="468313" y="4797425"/>
            <a:ext cx="8604250" cy="519113"/>
          </a:xfrm>
          <a:prstGeom prst="rect">
            <a:avLst/>
          </a:prstGeom>
          <a:noFill/>
          <a:ln w="12700">
            <a:noFill/>
          </a:ln>
        </p:spPr>
        <p:txBody>
          <a:bodyPr>
            <a:spAutoFit/>
          </a:bodyPr>
          <a:p>
            <a:pPr eaLnBrk="1" hangingPunct="1">
              <a:spcBef>
                <a:spcPct val="50000"/>
              </a:spcBef>
            </a:pPr>
            <a:r>
              <a:rPr lang="zh-CN" altLang="en-US" sz="2800" dirty="0">
                <a:solidFill>
                  <a:srgbClr val="FFFF00"/>
                </a:solidFill>
                <a:latin typeface="黑体" panose="02010609060101010101" pitchFamily="2" charset="-122"/>
                <a:ea typeface="黑体" panose="02010609060101010101" pitchFamily="2" charset="-122"/>
              </a:rPr>
              <a:t>电气特性：</a:t>
            </a:r>
            <a:r>
              <a:rPr lang="zh-CN" altLang="en-US" sz="2800" dirty="0">
                <a:solidFill>
                  <a:schemeClr val="tx1"/>
                </a:solidFill>
                <a:latin typeface="黑体" panose="02010609060101010101" pitchFamily="2" charset="-122"/>
                <a:ea typeface="黑体" panose="02010609060101010101" pitchFamily="2" charset="-122"/>
              </a:rPr>
              <a:t>信号方向，电平范围</a:t>
            </a:r>
            <a:endParaRPr lang="zh-CN" altLang="en-US" sz="2800" dirty="0">
              <a:solidFill>
                <a:schemeClr val="tx1"/>
              </a:solidFill>
              <a:latin typeface="黑体" panose="02010609060101010101" pitchFamily="2" charset="-122"/>
              <a:ea typeface="黑体" panose="02010609060101010101" pitchFamily="2" charset="-122"/>
            </a:endParaRPr>
          </a:p>
        </p:txBody>
      </p:sp>
      <p:sp>
        <p:nvSpPr>
          <p:cNvPr id="6" name="Text Box 2"/>
          <p:cNvSpPr txBox="1"/>
          <p:nvPr/>
        </p:nvSpPr>
        <p:spPr>
          <a:xfrm>
            <a:off x="476250" y="5373688"/>
            <a:ext cx="8604250" cy="521970"/>
          </a:xfrm>
          <a:prstGeom prst="rect">
            <a:avLst/>
          </a:prstGeom>
          <a:noFill/>
          <a:ln w="12700">
            <a:noFill/>
          </a:ln>
        </p:spPr>
        <p:txBody>
          <a:bodyPr>
            <a:spAutoFit/>
          </a:bodyPr>
          <a:p>
            <a:pPr eaLnBrk="1" hangingPunct="1">
              <a:spcBef>
                <a:spcPct val="50000"/>
              </a:spcBef>
            </a:pPr>
            <a:r>
              <a:rPr lang="zh-CN" altLang="en-US" sz="2800" dirty="0">
                <a:solidFill>
                  <a:srgbClr val="FFFF00"/>
                </a:solidFill>
                <a:latin typeface="黑体" panose="02010609060101010101" pitchFamily="2" charset="-122"/>
                <a:ea typeface="黑体" panose="02010609060101010101" pitchFamily="2" charset="-122"/>
              </a:rPr>
              <a:t>时间特性：</a:t>
            </a:r>
            <a:r>
              <a:rPr lang="zh-CN" altLang="en-US" sz="2800" dirty="0">
                <a:solidFill>
                  <a:schemeClr val="tx1"/>
                </a:solidFill>
                <a:latin typeface="黑体" panose="02010609060101010101" pitchFamily="2" charset="-122"/>
                <a:ea typeface="黑体" panose="02010609060101010101" pitchFamily="2" charset="-122"/>
              </a:rPr>
              <a:t>何时有效，持续时间</a:t>
            </a:r>
            <a:endParaRPr lang="zh-CN" altLang="en-US" sz="2800" dirty="0">
              <a:solidFill>
                <a:schemeClr val="tx1"/>
              </a:solidFill>
              <a:latin typeface="黑体" panose="02010609060101010101" pitchFamily="2" charset="-122"/>
              <a:ea typeface="黑体" panose="02010609060101010101" pitchFamily="2" charset="-122"/>
            </a:endParaRPr>
          </a:p>
        </p:txBody>
      </p:sp>
      <p:sp>
        <p:nvSpPr>
          <p:cNvPr id="7" name="Text Box 2"/>
          <p:cNvSpPr txBox="1"/>
          <p:nvPr/>
        </p:nvSpPr>
        <p:spPr>
          <a:xfrm>
            <a:off x="468313" y="2994025"/>
            <a:ext cx="3455987" cy="579438"/>
          </a:xfrm>
          <a:prstGeom prst="rect">
            <a:avLst/>
          </a:prstGeom>
          <a:noFill/>
          <a:ln w="12700">
            <a:noFill/>
          </a:ln>
        </p:spPr>
        <p:txBody>
          <a:bodyPr>
            <a:spAutoFit/>
          </a:bodyPr>
          <a:p>
            <a:pPr eaLnBrk="1" hangingPunct="1">
              <a:spcBef>
                <a:spcPct val="50000"/>
              </a:spcBef>
              <a:buFont typeface="Wingdings" panose="05000000000000000000" pitchFamily="2" charset="2"/>
              <a:buChar char="l"/>
            </a:pPr>
            <a:r>
              <a:rPr lang="zh-CN" altLang="en-US" dirty="0">
                <a:solidFill>
                  <a:schemeClr val="accent1"/>
                </a:solidFill>
                <a:latin typeface="黑体" panose="02010609060101010101" pitchFamily="2" charset="-122"/>
                <a:ea typeface="黑体" panose="02010609060101010101" pitchFamily="2" charset="-122"/>
              </a:rPr>
              <a:t> 总线的特性</a:t>
            </a:r>
            <a:endParaRPr lang="zh-CN" altLang="en-US" dirty="0">
              <a:solidFill>
                <a:schemeClr val="accent1"/>
              </a:solidFill>
              <a:latin typeface="黑体" panose="02010609060101010101" pitchFamily="2" charset="-122"/>
              <a:ea typeface="黑体" panose="02010609060101010101" pitchFamily="2" charset="-122"/>
            </a:endParaRPr>
          </a:p>
        </p:txBody>
      </p:sp>
      <p:sp>
        <p:nvSpPr>
          <p:cNvPr id="26629" name="Text Box 5"/>
          <p:cNvSpPr txBox="1"/>
          <p:nvPr/>
        </p:nvSpPr>
        <p:spPr>
          <a:xfrm>
            <a:off x="431800" y="1101725"/>
            <a:ext cx="8532813" cy="1031875"/>
          </a:xfrm>
          <a:prstGeom prst="rect">
            <a:avLst/>
          </a:prstGeom>
          <a:noFill/>
          <a:ln w="12700">
            <a:noFill/>
          </a:ln>
        </p:spPr>
        <p:txBody>
          <a:bodyPr>
            <a:spAutoFit/>
          </a:bodyPr>
          <a:p>
            <a:pPr eaLnBrk="1" hangingPunct="1">
              <a:lnSpc>
                <a:spcPct val="110000"/>
              </a:lnSpc>
            </a:pPr>
            <a:r>
              <a:rPr lang="zh-CN" altLang="en-US" sz="2800" dirty="0">
                <a:solidFill>
                  <a:srgbClr val="00FF00"/>
                </a:solidFill>
                <a:latin typeface="Calibri" panose="020F0502020204030204" pitchFamily="34" charset="0"/>
                <a:ea typeface="黑体" panose="02010609060101010101" pitchFamily="2" charset="-122"/>
              </a:rPr>
              <a:t>一种用来连接各功能部件并承当部件之间信息传送任务的公共信息通道。</a:t>
            </a:r>
            <a:endParaRPr lang="zh-CN" altLang="en-US" sz="2800" dirty="0">
              <a:solidFill>
                <a:srgbClr val="00FF00"/>
              </a:solidFill>
              <a:latin typeface="Calibri" panose="020F0502020204030204" pitchFamily="34" charset="0"/>
              <a:ea typeface="黑体" panose="02010609060101010101" pitchFamily="2" charset="-122"/>
            </a:endParaRPr>
          </a:p>
        </p:txBody>
      </p:sp>
    </p:spTree>
  </p:cSld>
  <p:clrMapOvr>
    <a:masterClrMapping/>
  </p:clrMapOvr>
  <p:transition spd="slow">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2" name="Text Box 4"/>
          <p:cNvSpPr txBox="1"/>
          <p:nvPr/>
        </p:nvSpPr>
        <p:spPr>
          <a:xfrm>
            <a:off x="571500" y="142875"/>
            <a:ext cx="4772025" cy="579438"/>
          </a:xfrm>
          <a:prstGeom prst="rect">
            <a:avLst/>
          </a:prstGeom>
          <a:noFill/>
          <a:ln w="12700">
            <a:noFill/>
          </a:ln>
        </p:spPr>
        <p:txBody>
          <a:bodyPr wrap="none">
            <a:spAutoFit/>
          </a:bodyPr>
          <a:p>
            <a:pPr algn="ctr" eaLnBrk="1" hangingPunct="1">
              <a:buFont typeface="Wingdings" panose="05000000000000000000" pitchFamily="2" charset="2"/>
              <a:buChar char="l"/>
            </a:pPr>
            <a:r>
              <a:rPr lang="zh-CN" altLang="en-US" dirty="0">
                <a:solidFill>
                  <a:srgbClr val="FFFF00"/>
                </a:solidFill>
                <a:latin typeface="黑体" panose="02010609060101010101" pitchFamily="2" charset="-122"/>
                <a:ea typeface="黑体" panose="02010609060101010101" pitchFamily="2" charset="-122"/>
              </a:rPr>
              <a:t> 总线的逻辑连接及作用</a:t>
            </a:r>
            <a:endParaRPr lang="zh-CN" altLang="en-US" dirty="0">
              <a:solidFill>
                <a:srgbClr val="FFFF00"/>
              </a:solidFill>
              <a:latin typeface="黑体" panose="02010609060101010101" pitchFamily="2" charset="-122"/>
              <a:ea typeface="黑体" panose="02010609060101010101" pitchFamily="2" charset="-122"/>
            </a:endParaRPr>
          </a:p>
        </p:txBody>
      </p:sp>
      <p:sp>
        <p:nvSpPr>
          <p:cNvPr id="5123" name="Rectangle 6"/>
          <p:cNvSpPr/>
          <p:nvPr/>
        </p:nvSpPr>
        <p:spPr>
          <a:xfrm>
            <a:off x="0" y="2305050"/>
            <a:ext cx="9144000" cy="0"/>
          </a:xfrm>
          <a:prstGeom prst="rect">
            <a:avLst/>
          </a:prstGeom>
          <a:noFill/>
          <a:ln w="12700">
            <a:noFill/>
          </a:ln>
        </p:spPr>
        <p:txBody>
          <a:bodyPr wrap="none" anchor="ctr" anchorCtr="0">
            <a:spAutoFit/>
          </a:bodyPr>
          <a:p>
            <a:pPr algn="ctr" eaLnBrk="1" hangingPunct="1"/>
            <a:endParaRPr lang="zh-CN" altLang="en-US" dirty="0">
              <a:latin typeface="宋体" panose="02010600030101010101" pitchFamily="2" charset="-122"/>
            </a:endParaRPr>
          </a:p>
        </p:txBody>
      </p:sp>
      <p:sp>
        <p:nvSpPr>
          <p:cNvPr id="48135" name="Text Box 7"/>
          <p:cNvSpPr txBox="1"/>
          <p:nvPr/>
        </p:nvSpPr>
        <p:spPr>
          <a:xfrm>
            <a:off x="300038" y="857250"/>
            <a:ext cx="2890837" cy="523875"/>
          </a:xfrm>
          <a:prstGeom prst="rect">
            <a:avLst/>
          </a:prstGeom>
          <a:noFill/>
          <a:ln w="12700">
            <a:noFill/>
          </a:ln>
        </p:spPr>
        <p:txBody>
          <a:bodyPr wrap="none">
            <a:spAutoFit/>
          </a:bodyPr>
          <a:p>
            <a:pPr algn="ctr" eaLnBrk="1" hangingPunct="1"/>
            <a:r>
              <a:rPr lang="zh-CN" altLang="en-US" sz="2800" dirty="0">
                <a:solidFill>
                  <a:schemeClr val="tx1"/>
                </a:solidFill>
                <a:latin typeface="黑体" panose="02010609060101010101" pitchFamily="2" charset="-122"/>
                <a:ea typeface="黑体" panose="02010609060101010101" pitchFamily="2" charset="-122"/>
              </a:rPr>
              <a:t>（</a:t>
            </a:r>
            <a:r>
              <a:rPr lang="en-US" altLang="zh-CN" sz="2800" dirty="0">
                <a:solidFill>
                  <a:schemeClr val="tx1"/>
                </a:solidFill>
                <a:latin typeface="黑体" panose="02010609060101010101" pitchFamily="2" charset="-122"/>
                <a:ea typeface="黑体" panose="02010609060101010101" pitchFamily="2" charset="-122"/>
              </a:rPr>
              <a:t>1</a:t>
            </a:r>
            <a:r>
              <a:rPr lang="zh-CN" altLang="en-US" sz="2800" dirty="0">
                <a:solidFill>
                  <a:schemeClr val="tx1"/>
                </a:solidFill>
                <a:latin typeface="黑体" panose="02010609060101010101" pitchFamily="2" charset="-122"/>
                <a:ea typeface="黑体" panose="02010609060101010101" pitchFamily="2" charset="-122"/>
              </a:rPr>
              <a:t>）单总线结构</a:t>
            </a:r>
            <a:endParaRPr lang="zh-CN" altLang="en-US" sz="2800" dirty="0">
              <a:solidFill>
                <a:schemeClr val="tx1"/>
              </a:solidFill>
              <a:latin typeface="黑体" panose="02010609060101010101" pitchFamily="2" charset="-122"/>
              <a:ea typeface="黑体" panose="02010609060101010101" pitchFamily="2" charset="-122"/>
            </a:endParaRPr>
          </a:p>
        </p:txBody>
      </p:sp>
      <p:sp>
        <p:nvSpPr>
          <p:cNvPr id="7" name="Text Box 7"/>
          <p:cNvSpPr txBox="1"/>
          <p:nvPr/>
        </p:nvSpPr>
        <p:spPr>
          <a:xfrm>
            <a:off x="285750" y="5678488"/>
            <a:ext cx="7037388" cy="523875"/>
          </a:xfrm>
          <a:prstGeom prst="rect">
            <a:avLst/>
          </a:prstGeom>
          <a:noFill/>
          <a:ln w="12700">
            <a:noFill/>
          </a:ln>
        </p:spPr>
        <p:txBody>
          <a:bodyPr wrap="none">
            <a:spAutoFit/>
          </a:bodyPr>
          <a:p>
            <a:pPr algn="ctr" eaLnBrk="1" hangingPunct="1"/>
            <a:r>
              <a:rPr lang="zh-CN" altLang="en-US" sz="2800" dirty="0">
                <a:solidFill>
                  <a:srgbClr val="FFFF00"/>
                </a:solidFill>
                <a:latin typeface="黑体" panose="02010609060101010101" pitchFamily="2" charset="-122"/>
                <a:ea typeface="黑体" panose="02010609060101010101" pitchFamily="2" charset="-122"/>
              </a:rPr>
              <a:t>现在的系统，很少再使用这种单总线结构！</a:t>
            </a:r>
            <a:endParaRPr lang="zh-CN" altLang="en-US" sz="2800" dirty="0">
              <a:solidFill>
                <a:srgbClr val="FFFF00"/>
              </a:solidFill>
              <a:latin typeface="黑体" panose="02010609060101010101" pitchFamily="2" charset="-122"/>
              <a:ea typeface="黑体" panose="02010609060101010101" pitchFamily="2" charset="-122"/>
            </a:endParaRPr>
          </a:p>
        </p:txBody>
      </p:sp>
      <p:sp>
        <p:nvSpPr>
          <p:cNvPr id="8" name="圆角矩形 7"/>
          <p:cNvSpPr/>
          <p:nvPr/>
        </p:nvSpPr>
        <p:spPr bwMode="auto">
          <a:xfrm>
            <a:off x="571500" y="1590675"/>
            <a:ext cx="1000125" cy="647700"/>
          </a:xfrm>
          <a:prstGeom prst="roundRect">
            <a:avLst/>
          </a:prstGeom>
          <a:solidFill>
            <a:schemeClr val="accent6">
              <a:lumMod val="50000"/>
            </a:schemeClr>
          </a:solidFill>
          <a:ln w="19050" cap="sq" cmpd="sng" algn="ctr">
            <a:solidFill>
              <a:schemeClr val="tx1"/>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dirty="0">
                <a:ln>
                  <a:noFill/>
                </a:ln>
                <a:solidFill>
                  <a:srgbClr val="FFFF00"/>
                </a:solidFill>
                <a:effectLst/>
                <a:uLnTx/>
                <a:uFillTx/>
                <a:latin typeface="宋体" panose="02010600030101010101" pitchFamily="2" charset="-122"/>
                <a:ea typeface="宋体" panose="02010600030101010101" pitchFamily="2" charset="-122"/>
                <a:cs typeface="+mn-cs"/>
              </a:rPr>
              <a:t>CPU</a:t>
            </a:r>
            <a:endParaRPr kumimoji="1" lang="zh-CN" altLang="en-US" sz="3200" b="1" i="0" u="none" strike="noStrike" kern="1200" cap="none" spc="0" normalizeH="0" baseline="0" noProof="0" dirty="0">
              <a:ln>
                <a:noFill/>
              </a:ln>
              <a:solidFill>
                <a:srgbClr val="FFFF00"/>
              </a:solidFill>
              <a:effectLst/>
              <a:uLnTx/>
              <a:uFillTx/>
              <a:latin typeface="宋体" panose="02010600030101010101" pitchFamily="2" charset="-122"/>
              <a:ea typeface="宋体" panose="02010600030101010101" pitchFamily="2" charset="-122"/>
              <a:cs typeface="+mn-cs"/>
            </a:endParaRPr>
          </a:p>
        </p:txBody>
      </p:sp>
      <p:cxnSp>
        <p:nvCxnSpPr>
          <p:cNvPr id="9" name="直接箭头连接符 8"/>
          <p:cNvCxnSpPr/>
          <p:nvPr/>
        </p:nvCxnSpPr>
        <p:spPr>
          <a:xfrm>
            <a:off x="1571625" y="1947863"/>
            <a:ext cx="6119813" cy="0"/>
          </a:xfrm>
          <a:prstGeom prst="straightConnector1">
            <a:avLst/>
          </a:prstGeom>
          <a:ln w="57150" cap="sq" cmpd="dbl">
            <a:solidFill>
              <a:schemeClr val="accent1"/>
            </a:solidFill>
            <a:prstDash val="solid"/>
            <a:headEnd type="triangle" w="med" len="med"/>
            <a:tailEnd type="triangle" w="med" len="med"/>
          </a:ln>
        </p:spPr>
      </p:cxnSp>
      <p:grpSp>
        <p:nvGrpSpPr>
          <p:cNvPr id="2" name="组合 27"/>
          <p:cNvGrpSpPr/>
          <p:nvPr/>
        </p:nvGrpSpPr>
        <p:grpSpPr>
          <a:xfrm>
            <a:off x="2786063" y="2006600"/>
            <a:ext cx="1428750" cy="2351088"/>
            <a:chOff x="2786050" y="2364167"/>
            <a:chExt cx="1428760" cy="2350717"/>
          </a:xfrm>
        </p:grpSpPr>
        <p:sp>
          <p:nvSpPr>
            <p:cNvPr id="11" name="流程图: 过程 10"/>
            <p:cNvSpPr/>
            <p:nvPr/>
          </p:nvSpPr>
          <p:spPr bwMode="auto">
            <a:xfrm>
              <a:off x="3035289" y="2910181"/>
              <a:ext cx="928695" cy="523792"/>
            </a:xfrm>
            <a:prstGeom prst="flowChartProcess">
              <a:avLst/>
            </a:prstGeom>
            <a:solidFill>
              <a:schemeClr val="accent6">
                <a:lumMod val="50000"/>
              </a:schemeClr>
            </a:solidFill>
            <a:ln w="19050" cap="sq" cmpd="sng" algn="ctr">
              <a:solidFill>
                <a:schemeClr val="tx1"/>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rgbClr val="FFFF00"/>
                  </a:solidFill>
                  <a:effectLst/>
                  <a:uLnTx/>
                  <a:uFillTx/>
                  <a:latin typeface="宋体" panose="02010600030101010101" pitchFamily="2" charset="-122"/>
                  <a:ea typeface="宋体" panose="02010600030101010101" pitchFamily="2" charset="-122"/>
                  <a:cs typeface="+mn-cs"/>
                </a:rPr>
                <a:t>接口</a:t>
              </a:r>
              <a:endParaRPr kumimoji="1" lang="zh-CN" altLang="en-US" sz="2800" b="1" i="0" u="none" strike="noStrike" kern="1200" cap="none" spc="0" normalizeH="0" baseline="0" noProof="0" dirty="0">
                <a:ln>
                  <a:noFill/>
                </a:ln>
                <a:solidFill>
                  <a:srgbClr val="FFFF00"/>
                </a:solidFill>
                <a:effectLst/>
                <a:uLnTx/>
                <a:uFillTx/>
                <a:latin typeface="宋体" panose="02010600030101010101" pitchFamily="2" charset="-122"/>
                <a:ea typeface="宋体" panose="02010600030101010101" pitchFamily="2" charset="-122"/>
                <a:cs typeface="+mn-cs"/>
              </a:endParaRPr>
            </a:p>
          </p:txBody>
        </p:sp>
        <p:cxnSp>
          <p:nvCxnSpPr>
            <p:cNvPr id="5147" name="直接箭头连接符 11"/>
            <p:cNvCxnSpPr/>
            <p:nvPr/>
          </p:nvCxnSpPr>
          <p:spPr>
            <a:xfrm rot="5400000">
              <a:off x="3251191" y="2613406"/>
              <a:ext cx="500066" cy="1588"/>
            </a:xfrm>
            <a:prstGeom prst="straightConnector1">
              <a:avLst/>
            </a:prstGeom>
            <a:ln w="28575" cap="sq" cmpd="sng">
              <a:solidFill>
                <a:schemeClr val="tx1"/>
              </a:solidFill>
              <a:prstDash val="solid"/>
              <a:headEnd type="arrow" w="med" len="med"/>
              <a:tailEnd type="arrow" w="med" len="med"/>
            </a:ln>
          </p:spPr>
        </p:cxnSp>
        <p:sp>
          <p:nvSpPr>
            <p:cNvPr id="5148" name="圆角矩形 12"/>
            <p:cNvSpPr/>
            <p:nvPr/>
          </p:nvSpPr>
          <p:spPr>
            <a:xfrm>
              <a:off x="2786050" y="3994884"/>
              <a:ext cx="1428760" cy="720000"/>
            </a:xfrm>
            <a:prstGeom prst="roundRect">
              <a:avLst>
                <a:gd name="adj" fmla="val 16667"/>
              </a:avLst>
            </a:prstGeom>
            <a:noFill/>
            <a:ln w="19050" cap="sq" cmpd="sng">
              <a:solidFill>
                <a:schemeClr val="tx1"/>
              </a:solidFill>
              <a:prstDash val="solid"/>
              <a:headEnd type="none" w="med" len="med"/>
              <a:tailEnd type="none" w="med" len="med"/>
            </a:ln>
          </p:spPr>
          <p:txBody>
            <a:bodyPr anchor="ctr" anchorCtr="0">
              <a:spAutoFit/>
            </a:bodyPr>
            <a:p>
              <a:pPr algn="ctr" eaLnBrk="1" hangingPunct="1"/>
              <a:r>
                <a:rPr lang="zh-CN" altLang="en-US" sz="2800" dirty="0">
                  <a:solidFill>
                    <a:srgbClr val="FFFF00"/>
                  </a:solidFill>
                  <a:latin typeface="黑体" panose="02010609060101010101" pitchFamily="2" charset="-122"/>
                  <a:ea typeface="黑体" panose="02010609060101010101" pitchFamily="2" charset="-122"/>
                </a:rPr>
                <a:t>显示器</a:t>
              </a:r>
              <a:endParaRPr lang="zh-CN" altLang="en-US" sz="2800" dirty="0">
                <a:solidFill>
                  <a:srgbClr val="FFFF00"/>
                </a:solidFill>
                <a:latin typeface="黑体" panose="02010609060101010101" pitchFamily="2" charset="-122"/>
                <a:ea typeface="黑体" panose="02010609060101010101" pitchFamily="2" charset="-122"/>
              </a:endParaRPr>
            </a:p>
          </p:txBody>
        </p:sp>
        <p:cxnSp>
          <p:nvCxnSpPr>
            <p:cNvPr id="5149" name="直接箭头连接符 13"/>
            <p:cNvCxnSpPr/>
            <p:nvPr/>
          </p:nvCxnSpPr>
          <p:spPr>
            <a:xfrm rot="5400000">
              <a:off x="3251191" y="3709690"/>
              <a:ext cx="500066" cy="1588"/>
            </a:xfrm>
            <a:prstGeom prst="straightConnector1">
              <a:avLst/>
            </a:prstGeom>
            <a:ln w="28575" cap="sq" cmpd="sng">
              <a:solidFill>
                <a:schemeClr val="tx1"/>
              </a:solidFill>
              <a:prstDash val="solid"/>
              <a:headEnd type="arrow" w="med" len="med"/>
              <a:tailEnd type="arrow" w="med" len="med"/>
            </a:ln>
          </p:spPr>
        </p:cxnSp>
      </p:grpSp>
      <p:grpSp>
        <p:nvGrpSpPr>
          <p:cNvPr id="3" name="组合 24"/>
          <p:cNvGrpSpPr/>
          <p:nvPr/>
        </p:nvGrpSpPr>
        <p:grpSpPr>
          <a:xfrm>
            <a:off x="1749425" y="2019300"/>
            <a:ext cx="928688" cy="1266825"/>
            <a:chOff x="1748847" y="2376524"/>
            <a:chExt cx="928694" cy="1266790"/>
          </a:xfrm>
        </p:grpSpPr>
        <p:sp>
          <p:nvSpPr>
            <p:cNvPr id="10" name="流程图: 文档 9"/>
            <p:cNvSpPr/>
            <p:nvPr/>
          </p:nvSpPr>
          <p:spPr bwMode="auto">
            <a:xfrm>
              <a:off x="1748847" y="2922609"/>
              <a:ext cx="928694" cy="720705"/>
            </a:xfrm>
            <a:prstGeom prst="flowChartDocument">
              <a:avLst/>
            </a:prstGeom>
            <a:solidFill>
              <a:schemeClr val="accent6">
                <a:lumMod val="50000"/>
              </a:schemeClr>
            </a:solidFill>
            <a:ln w="28575" cap="sq" cmpd="sng" algn="ctr">
              <a:solidFill>
                <a:schemeClr val="tx1"/>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rgbClr val="FFFF00"/>
                  </a:solidFill>
                  <a:effectLst/>
                  <a:uLnTx/>
                  <a:uFillTx/>
                  <a:latin typeface="黑体" panose="02010609060101010101" pitchFamily="2" charset="-122"/>
                  <a:ea typeface="黑体" panose="02010609060101010101" pitchFamily="2" charset="-122"/>
                  <a:cs typeface="+mn-cs"/>
                </a:rPr>
                <a:t>主存</a:t>
              </a:r>
              <a:endParaRPr kumimoji="1" lang="zh-CN" altLang="en-US" sz="2800" b="1" i="0" u="none" strike="noStrike" kern="1200" cap="none" spc="0" normalizeH="0" baseline="0" noProof="0" dirty="0">
                <a:ln>
                  <a:noFill/>
                </a:ln>
                <a:solidFill>
                  <a:srgbClr val="FFFF00"/>
                </a:solidFill>
                <a:effectLst/>
                <a:uLnTx/>
                <a:uFillTx/>
                <a:latin typeface="黑体" panose="02010609060101010101" pitchFamily="2" charset="-122"/>
                <a:ea typeface="黑体" panose="02010609060101010101" pitchFamily="2" charset="-122"/>
                <a:cs typeface="+mn-cs"/>
              </a:endParaRPr>
            </a:p>
          </p:txBody>
        </p:sp>
        <p:cxnSp>
          <p:nvCxnSpPr>
            <p:cNvPr id="5145" name="直接箭头连接符 14"/>
            <p:cNvCxnSpPr/>
            <p:nvPr/>
          </p:nvCxnSpPr>
          <p:spPr>
            <a:xfrm rot="5400000">
              <a:off x="1965307" y="2625763"/>
              <a:ext cx="500066" cy="1588"/>
            </a:xfrm>
            <a:prstGeom prst="straightConnector1">
              <a:avLst/>
            </a:prstGeom>
            <a:ln w="28575" cap="sq" cmpd="sng">
              <a:solidFill>
                <a:schemeClr val="tx1"/>
              </a:solidFill>
              <a:prstDash val="solid"/>
              <a:headEnd type="arrow" w="med" len="med"/>
              <a:tailEnd type="arrow" w="med" len="med"/>
            </a:ln>
          </p:spPr>
        </p:cxnSp>
      </p:grpSp>
      <p:grpSp>
        <p:nvGrpSpPr>
          <p:cNvPr id="4" name="组合 26"/>
          <p:cNvGrpSpPr/>
          <p:nvPr/>
        </p:nvGrpSpPr>
        <p:grpSpPr>
          <a:xfrm>
            <a:off x="4500563" y="2006600"/>
            <a:ext cx="1428750" cy="2351088"/>
            <a:chOff x="4500562" y="2364167"/>
            <a:chExt cx="1428760" cy="2350717"/>
          </a:xfrm>
        </p:grpSpPr>
        <p:sp>
          <p:nvSpPr>
            <p:cNvPr id="16" name="流程图: 过程 15"/>
            <p:cNvSpPr/>
            <p:nvPr/>
          </p:nvSpPr>
          <p:spPr bwMode="auto">
            <a:xfrm>
              <a:off x="4749801" y="2910181"/>
              <a:ext cx="928695" cy="523792"/>
            </a:xfrm>
            <a:prstGeom prst="flowChartProcess">
              <a:avLst/>
            </a:prstGeom>
            <a:solidFill>
              <a:schemeClr val="accent6">
                <a:lumMod val="50000"/>
              </a:schemeClr>
            </a:solidFill>
            <a:ln w="19050" cap="sq" cmpd="sng" algn="ctr">
              <a:solidFill>
                <a:schemeClr val="tx1"/>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rgbClr val="FFFF00"/>
                  </a:solidFill>
                  <a:effectLst/>
                  <a:uLnTx/>
                  <a:uFillTx/>
                  <a:latin typeface="宋体" panose="02010600030101010101" pitchFamily="2" charset="-122"/>
                  <a:ea typeface="宋体" panose="02010600030101010101" pitchFamily="2" charset="-122"/>
                  <a:cs typeface="+mn-cs"/>
                </a:rPr>
                <a:t>接口</a:t>
              </a:r>
              <a:endParaRPr kumimoji="1" lang="zh-CN" altLang="en-US" sz="2800" b="1" i="0" u="none" strike="noStrike" kern="1200" cap="none" spc="0" normalizeH="0" baseline="0" noProof="0" dirty="0">
                <a:ln>
                  <a:noFill/>
                </a:ln>
                <a:solidFill>
                  <a:srgbClr val="FFFF00"/>
                </a:solidFill>
                <a:effectLst/>
                <a:uLnTx/>
                <a:uFillTx/>
                <a:latin typeface="宋体" panose="02010600030101010101" pitchFamily="2" charset="-122"/>
                <a:ea typeface="宋体" panose="02010600030101010101" pitchFamily="2" charset="-122"/>
                <a:cs typeface="+mn-cs"/>
              </a:endParaRPr>
            </a:p>
          </p:txBody>
        </p:sp>
        <p:cxnSp>
          <p:nvCxnSpPr>
            <p:cNvPr id="5141" name="直接箭头连接符 16"/>
            <p:cNvCxnSpPr/>
            <p:nvPr/>
          </p:nvCxnSpPr>
          <p:spPr>
            <a:xfrm rot="5400000">
              <a:off x="4965703" y="2613406"/>
              <a:ext cx="500066" cy="1588"/>
            </a:xfrm>
            <a:prstGeom prst="straightConnector1">
              <a:avLst/>
            </a:prstGeom>
            <a:ln w="28575" cap="sq" cmpd="sng">
              <a:solidFill>
                <a:schemeClr val="tx1"/>
              </a:solidFill>
              <a:prstDash val="solid"/>
              <a:headEnd type="arrow" w="med" len="med"/>
              <a:tailEnd type="arrow" w="med" len="med"/>
            </a:ln>
          </p:spPr>
        </p:cxnSp>
        <p:sp>
          <p:nvSpPr>
            <p:cNvPr id="5142" name="圆角矩形 17"/>
            <p:cNvSpPr/>
            <p:nvPr/>
          </p:nvSpPr>
          <p:spPr>
            <a:xfrm>
              <a:off x="4500562" y="3994884"/>
              <a:ext cx="1428760" cy="720000"/>
            </a:xfrm>
            <a:prstGeom prst="roundRect">
              <a:avLst>
                <a:gd name="adj" fmla="val 16667"/>
              </a:avLst>
            </a:prstGeom>
            <a:noFill/>
            <a:ln w="19050" cap="sq" cmpd="sng">
              <a:solidFill>
                <a:schemeClr val="tx1"/>
              </a:solidFill>
              <a:prstDash val="solid"/>
              <a:headEnd type="none" w="med" len="med"/>
              <a:tailEnd type="none" w="med" len="med"/>
            </a:ln>
          </p:spPr>
          <p:txBody>
            <a:bodyPr anchor="ctr" anchorCtr="0">
              <a:spAutoFit/>
            </a:bodyPr>
            <a:p>
              <a:pPr algn="ctr" eaLnBrk="1" hangingPunct="1"/>
              <a:r>
                <a:rPr lang="zh-CN" altLang="en-US" sz="2800" dirty="0">
                  <a:solidFill>
                    <a:srgbClr val="FFFF00"/>
                  </a:solidFill>
                  <a:latin typeface="黑体" panose="02010609060101010101" pitchFamily="2" charset="-122"/>
                  <a:ea typeface="黑体" panose="02010609060101010101" pitchFamily="2" charset="-122"/>
                </a:rPr>
                <a:t>键盘</a:t>
              </a:r>
              <a:endParaRPr lang="zh-CN" altLang="en-US" sz="2800" dirty="0">
                <a:solidFill>
                  <a:srgbClr val="FFFF00"/>
                </a:solidFill>
                <a:latin typeface="黑体" panose="02010609060101010101" pitchFamily="2" charset="-122"/>
                <a:ea typeface="黑体" panose="02010609060101010101" pitchFamily="2" charset="-122"/>
              </a:endParaRPr>
            </a:p>
          </p:txBody>
        </p:sp>
        <p:cxnSp>
          <p:nvCxnSpPr>
            <p:cNvPr id="5143" name="直接箭头连接符 18"/>
            <p:cNvCxnSpPr/>
            <p:nvPr/>
          </p:nvCxnSpPr>
          <p:spPr>
            <a:xfrm rot="5400000">
              <a:off x="4965703" y="3709690"/>
              <a:ext cx="500066" cy="1588"/>
            </a:xfrm>
            <a:prstGeom prst="straightConnector1">
              <a:avLst/>
            </a:prstGeom>
            <a:ln w="28575" cap="sq" cmpd="sng">
              <a:solidFill>
                <a:schemeClr val="tx1"/>
              </a:solidFill>
              <a:prstDash val="solid"/>
              <a:headEnd type="arrow" w="med" len="med"/>
              <a:tailEnd type="arrow" w="med" len="med"/>
            </a:ln>
          </p:spPr>
        </p:cxnSp>
      </p:grpSp>
      <p:grpSp>
        <p:nvGrpSpPr>
          <p:cNvPr id="5" name="组合 25"/>
          <p:cNvGrpSpPr/>
          <p:nvPr/>
        </p:nvGrpSpPr>
        <p:grpSpPr>
          <a:xfrm>
            <a:off x="6357938" y="2001838"/>
            <a:ext cx="1428750" cy="2349500"/>
            <a:chOff x="6357950" y="2358547"/>
            <a:chExt cx="1428760" cy="2350717"/>
          </a:xfrm>
        </p:grpSpPr>
        <p:sp>
          <p:nvSpPr>
            <p:cNvPr id="20" name="流程图: 过程 19"/>
            <p:cNvSpPr/>
            <p:nvPr/>
          </p:nvSpPr>
          <p:spPr bwMode="auto">
            <a:xfrm>
              <a:off x="6607189" y="2904930"/>
              <a:ext cx="928695" cy="524146"/>
            </a:xfrm>
            <a:prstGeom prst="flowChartProcess">
              <a:avLst/>
            </a:prstGeom>
            <a:solidFill>
              <a:schemeClr val="accent6">
                <a:lumMod val="50000"/>
              </a:schemeClr>
            </a:solidFill>
            <a:ln w="19050" cap="sq" cmpd="sng" algn="ctr">
              <a:solidFill>
                <a:schemeClr val="tx1"/>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rgbClr val="FFFF00"/>
                  </a:solidFill>
                  <a:effectLst/>
                  <a:uLnTx/>
                  <a:uFillTx/>
                  <a:latin typeface="宋体" panose="02010600030101010101" pitchFamily="2" charset="-122"/>
                  <a:ea typeface="宋体" panose="02010600030101010101" pitchFamily="2" charset="-122"/>
                  <a:cs typeface="+mn-cs"/>
                </a:rPr>
                <a:t>接口</a:t>
              </a:r>
              <a:endParaRPr kumimoji="1" lang="zh-CN" altLang="en-US" sz="2800" b="1" i="0" u="none" strike="noStrike" kern="1200" cap="none" spc="0" normalizeH="0" baseline="0" noProof="0" dirty="0">
                <a:ln>
                  <a:noFill/>
                </a:ln>
                <a:solidFill>
                  <a:srgbClr val="FFFF00"/>
                </a:solidFill>
                <a:effectLst/>
                <a:uLnTx/>
                <a:uFillTx/>
                <a:latin typeface="宋体" panose="02010600030101010101" pitchFamily="2" charset="-122"/>
                <a:ea typeface="宋体" panose="02010600030101010101" pitchFamily="2" charset="-122"/>
                <a:cs typeface="+mn-cs"/>
              </a:endParaRPr>
            </a:p>
          </p:txBody>
        </p:sp>
        <p:cxnSp>
          <p:nvCxnSpPr>
            <p:cNvPr id="5137" name="直接箭头连接符 20"/>
            <p:cNvCxnSpPr/>
            <p:nvPr/>
          </p:nvCxnSpPr>
          <p:spPr>
            <a:xfrm rot="5400000">
              <a:off x="6823091" y="2607786"/>
              <a:ext cx="500066" cy="1588"/>
            </a:xfrm>
            <a:prstGeom prst="straightConnector1">
              <a:avLst/>
            </a:prstGeom>
            <a:ln w="28575" cap="sq" cmpd="sng">
              <a:solidFill>
                <a:schemeClr val="tx1"/>
              </a:solidFill>
              <a:prstDash val="solid"/>
              <a:headEnd type="arrow" w="med" len="med"/>
              <a:tailEnd type="arrow" w="med" len="med"/>
            </a:ln>
          </p:spPr>
        </p:cxnSp>
        <p:sp>
          <p:nvSpPr>
            <p:cNvPr id="5138" name="圆角矩形 21"/>
            <p:cNvSpPr/>
            <p:nvPr/>
          </p:nvSpPr>
          <p:spPr>
            <a:xfrm>
              <a:off x="6357950" y="3989264"/>
              <a:ext cx="1428760" cy="720000"/>
            </a:xfrm>
            <a:prstGeom prst="roundRect">
              <a:avLst>
                <a:gd name="adj" fmla="val 16667"/>
              </a:avLst>
            </a:prstGeom>
            <a:noFill/>
            <a:ln w="19050" cap="sq" cmpd="sng">
              <a:solidFill>
                <a:schemeClr val="tx1"/>
              </a:solidFill>
              <a:prstDash val="solid"/>
              <a:headEnd type="none" w="med" len="med"/>
              <a:tailEnd type="none" w="med" len="med"/>
            </a:ln>
          </p:spPr>
          <p:txBody>
            <a:bodyPr anchor="ctr" anchorCtr="0">
              <a:spAutoFit/>
            </a:bodyPr>
            <a:p>
              <a:pPr algn="ctr" eaLnBrk="1" hangingPunct="1"/>
              <a:r>
                <a:rPr lang="zh-CN" altLang="en-US" sz="2800" dirty="0">
                  <a:solidFill>
                    <a:srgbClr val="FFFF00"/>
                  </a:solidFill>
                  <a:latin typeface="黑体" panose="02010609060101010101" pitchFamily="2" charset="-122"/>
                  <a:ea typeface="黑体" panose="02010609060101010101" pitchFamily="2" charset="-122"/>
                </a:rPr>
                <a:t>外存</a:t>
              </a:r>
              <a:endParaRPr lang="zh-CN" altLang="en-US" sz="2800" dirty="0">
                <a:solidFill>
                  <a:srgbClr val="FFFF00"/>
                </a:solidFill>
                <a:latin typeface="黑体" panose="02010609060101010101" pitchFamily="2" charset="-122"/>
                <a:ea typeface="黑体" panose="02010609060101010101" pitchFamily="2" charset="-122"/>
              </a:endParaRPr>
            </a:p>
          </p:txBody>
        </p:sp>
        <p:cxnSp>
          <p:nvCxnSpPr>
            <p:cNvPr id="5139" name="直接箭头连接符 22"/>
            <p:cNvCxnSpPr/>
            <p:nvPr/>
          </p:nvCxnSpPr>
          <p:spPr>
            <a:xfrm rot="5400000">
              <a:off x="6823091" y="3704070"/>
              <a:ext cx="500066" cy="1588"/>
            </a:xfrm>
            <a:prstGeom prst="straightConnector1">
              <a:avLst/>
            </a:prstGeom>
            <a:ln w="28575" cap="sq" cmpd="sng">
              <a:solidFill>
                <a:schemeClr val="tx1"/>
              </a:solidFill>
              <a:prstDash val="solid"/>
              <a:headEnd type="arrow" w="med" len="med"/>
              <a:tailEnd type="arrow" w="med" len="med"/>
            </a:ln>
          </p:spPr>
        </p:cxnSp>
      </p:grpSp>
      <p:sp>
        <p:nvSpPr>
          <p:cNvPr id="24" name="TextBox 23"/>
          <p:cNvSpPr txBox="1"/>
          <p:nvPr/>
        </p:nvSpPr>
        <p:spPr>
          <a:xfrm>
            <a:off x="5845175" y="2487613"/>
            <a:ext cx="596900" cy="584200"/>
          </a:xfrm>
          <a:prstGeom prst="rect">
            <a:avLst/>
          </a:prstGeom>
          <a:noFill/>
          <a:ln w="9525">
            <a:noFill/>
          </a:ln>
        </p:spPr>
        <p:txBody>
          <a:bodyPr wrap="none">
            <a:spAutoFit/>
          </a:bodyPr>
          <a:p>
            <a:pPr algn="ctr" eaLnBrk="1" hangingPunct="1"/>
            <a:r>
              <a:rPr lang="en-US" altLang="zh-CN" dirty="0">
                <a:solidFill>
                  <a:srgbClr val="FFFF00"/>
                </a:solidFill>
                <a:latin typeface="宋体" panose="02010600030101010101" pitchFamily="2" charset="-122"/>
              </a:rPr>
              <a:t>…</a:t>
            </a:r>
            <a:endParaRPr lang="zh-CN" altLang="en-US" dirty="0">
              <a:solidFill>
                <a:srgbClr val="FFFF00"/>
              </a:solidFill>
              <a:latin typeface="宋体" panose="02010600030101010101" pitchFamily="2" charset="-122"/>
            </a:endParaRPr>
          </a:p>
        </p:txBody>
      </p:sp>
      <p:sp>
        <p:nvSpPr>
          <p:cNvPr id="29" name="Text Box 7"/>
          <p:cNvSpPr txBox="1"/>
          <p:nvPr/>
        </p:nvSpPr>
        <p:spPr>
          <a:xfrm>
            <a:off x="285750" y="4643438"/>
            <a:ext cx="7037388" cy="523875"/>
          </a:xfrm>
          <a:prstGeom prst="rect">
            <a:avLst/>
          </a:prstGeom>
          <a:noFill/>
          <a:ln w="12700">
            <a:noFill/>
          </a:ln>
        </p:spPr>
        <p:txBody>
          <a:bodyPr wrap="none">
            <a:spAutoFit/>
          </a:bodyPr>
          <a:p>
            <a:pPr algn="ctr" eaLnBrk="1" hangingPunct="1"/>
            <a:r>
              <a:rPr lang="zh-CN" altLang="en-US" sz="2800" dirty="0">
                <a:solidFill>
                  <a:schemeClr val="accent1"/>
                </a:solidFill>
                <a:latin typeface="黑体" panose="02010609060101010101" pitchFamily="2" charset="-122"/>
                <a:ea typeface="黑体" panose="02010609060101010101" pitchFamily="2" charset="-122"/>
              </a:rPr>
              <a:t>特点：</a:t>
            </a:r>
            <a:r>
              <a:rPr lang="zh-CN" altLang="en-US" sz="2800" dirty="0">
                <a:solidFill>
                  <a:schemeClr val="tx1"/>
                </a:solidFill>
                <a:latin typeface="黑体" panose="02010609060101010101" pitchFamily="2" charset="-122"/>
                <a:ea typeface="黑体" panose="02010609060101010101" pitchFamily="2" charset="-122"/>
              </a:rPr>
              <a:t>它是部件之间信息交互的唯一通路。</a:t>
            </a:r>
            <a:endParaRPr lang="zh-CN" altLang="en-US" sz="2800" dirty="0">
              <a:solidFill>
                <a:schemeClr val="tx1"/>
              </a:solidFill>
              <a:latin typeface="黑体" panose="02010609060101010101" pitchFamily="2" charset="-122"/>
              <a:ea typeface="黑体" panose="02010609060101010101" pitchFamily="2" charset="-122"/>
            </a:endParaRPr>
          </a:p>
        </p:txBody>
      </p:sp>
      <p:sp>
        <p:nvSpPr>
          <p:cNvPr id="30" name="Text Box 7"/>
          <p:cNvSpPr txBox="1"/>
          <p:nvPr/>
        </p:nvSpPr>
        <p:spPr>
          <a:xfrm>
            <a:off x="285750" y="5167313"/>
            <a:ext cx="3070225" cy="522287"/>
          </a:xfrm>
          <a:prstGeom prst="rect">
            <a:avLst/>
          </a:prstGeom>
          <a:noFill/>
          <a:ln w="12700">
            <a:noFill/>
          </a:ln>
        </p:spPr>
        <p:txBody>
          <a:bodyPr wrap="none">
            <a:spAutoFit/>
          </a:bodyPr>
          <a:p>
            <a:pPr algn="ctr" eaLnBrk="1" hangingPunct="1"/>
            <a:r>
              <a:rPr lang="zh-CN" altLang="en-US" sz="2800" dirty="0">
                <a:solidFill>
                  <a:srgbClr val="00FF00"/>
                </a:solidFill>
                <a:latin typeface="黑体" panose="02010609060101010101" pitchFamily="2" charset="-122"/>
                <a:ea typeface="黑体" panose="02010609060101010101" pitchFamily="2" charset="-122"/>
              </a:rPr>
              <a:t>竞争激烈、响应慢</a:t>
            </a:r>
            <a:endParaRPr lang="zh-CN" altLang="en-US" sz="2800" dirty="0">
              <a:solidFill>
                <a:srgbClr val="00FF00"/>
              </a:solidFill>
              <a:latin typeface="黑体" panose="02010609060101010101" pitchFamily="2" charset="-122"/>
              <a:ea typeface="黑体" panose="02010609060101010101" pitchFamily="2" charset="-122"/>
            </a:endParaRPr>
          </a:p>
        </p:txBody>
      </p:sp>
    </p:spTree>
  </p:cSld>
  <p:clrMapOvr>
    <a:masterClrMapping/>
  </p:clrMapOvr>
  <p:transition spd="slow">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5"/>
          <p:cNvSpPr/>
          <p:nvPr/>
        </p:nvSpPr>
        <p:spPr>
          <a:xfrm>
            <a:off x="0" y="2066925"/>
            <a:ext cx="9144000" cy="0"/>
          </a:xfrm>
          <a:prstGeom prst="rect">
            <a:avLst/>
          </a:prstGeom>
          <a:noFill/>
          <a:ln w="12700">
            <a:noFill/>
          </a:ln>
        </p:spPr>
        <p:txBody>
          <a:bodyPr wrap="none" anchor="ctr" anchorCtr="0">
            <a:spAutoFit/>
          </a:bodyPr>
          <a:p>
            <a:pPr algn="ctr" eaLnBrk="1" hangingPunct="1"/>
            <a:endParaRPr lang="zh-CN" altLang="en-US" dirty="0">
              <a:latin typeface="宋体" panose="02010600030101010101" pitchFamily="2" charset="-122"/>
            </a:endParaRPr>
          </a:p>
        </p:txBody>
      </p:sp>
      <p:sp>
        <p:nvSpPr>
          <p:cNvPr id="49158" name="Text Box 6"/>
          <p:cNvSpPr txBox="1"/>
          <p:nvPr/>
        </p:nvSpPr>
        <p:spPr>
          <a:xfrm>
            <a:off x="142875" y="134938"/>
            <a:ext cx="3244850" cy="579437"/>
          </a:xfrm>
          <a:prstGeom prst="rect">
            <a:avLst/>
          </a:prstGeom>
          <a:noFill/>
          <a:ln w="12700">
            <a:noFill/>
          </a:ln>
        </p:spPr>
        <p:txBody>
          <a:bodyPr wrap="none">
            <a:spAutoFit/>
          </a:bodyPr>
          <a:p>
            <a:pPr algn="ctr" eaLnBrk="1" hangingPunct="1"/>
            <a:r>
              <a:rPr lang="zh-CN" altLang="en-US" dirty="0">
                <a:solidFill>
                  <a:schemeClr val="tx1"/>
                </a:solidFill>
                <a:latin typeface="黑体" panose="02010609060101010101" pitchFamily="2" charset="-122"/>
                <a:ea typeface="黑体" panose="02010609060101010101" pitchFamily="2" charset="-122"/>
              </a:rPr>
              <a:t>（</a:t>
            </a:r>
            <a:r>
              <a:rPr lang="en-US" altLang="zh-CN" dirty="0">
                <a:solidFill>
                  <a:schemeClr val="tx1"/>
                </a:solidFill>
                <a:latin typeface="黑体" panose="02010609060101010101" pitchFamily="2" charset="-122"/>
                <a:ea typeface="黑体" panose="02010609060101010101" pitchFamily="2" charset="-122"/>
              </a:rPr>
              <a:t>2</a:t>
            </a:r>
            <a:r>
              <a:rPr lang="zh-CN" altLang="en-US" dirty="0">
                <a:solidFill>
                  <a:schemeClr val="tx1"/>
                </a:solidFill>
                <a:latin typeface="黑体" panose="02010609060101010101" pitchFamily="2" charset="-122"/>
                <a:ea typeface="黑体" panose="02010609060101010101" pitchFamily="2" charset="-122"/>
              </a:rPr>
              <a:t>）多总线结构</a:t>
            </a:r>
            <a:endParaRPr lang="zh-CN" altLang="en-US" dirty="0">
              <a:solidFill>
                <a:schemeClr val="tx1"/>
              </a:solidFill>
              <a:latin typeface="黑体" panose="02010609060101010101" pitchFamily="2" charset="-122"/>
              <a:ea typeface="黑体" panose="02010609060101010101" pitchFamily="2" charset="-122"/>
            </a:endParaRPr>
          </a:p>
        </p:txBody>
      </p:sp>
      <p:sp>
        <p:nvSpPr>
          <p:cNvPr id="15" name="TextBox 14"/>
          <p:cNvSpPr txBox="1"/>
          <p:nvPr/>
        </p:nvSpPr>
        <p:spPr>
          <a:xfrm>
            <a:off x="2000250" y="3670300"/>
            <a:ext cx="596900" cy="584200"/>
          </a:xfrm>
          <a:prstGeom prst="rect">
            <a:avLst/>
          </a:prstGeom>
          <a:noFill/>
          <a:ln w="9525">
            <a:noFill/>
          </a:ln>
        </p:spPr>
        <p:txBody>
          <a:bodyPr wrap="none">
            <a:spAutoFit/>
          </a:bodyPr>
          <a:p>
            <a:pPr algn="ctr" eaLnBrk="1" hangingPunct="1"/>
            <a:r>
              <a:rPr lang="en-US" altLang="zh-CN" dirty="0">
                <a:solidFill>
                  <a:srgbClr val="FFFF00"/>
                </a:solidFill>
                <a:latin typeface="宋体" panose="02010600030101010101" pitchFamily="2" charset="-122"/>
              </a:rPr>
              <a:t>…</a:t>
            </a:r>
            <a:endParaRPr lang="zh-CN" altLang="en-US" dirty="0">
              <a:solidFill>
                <a:srgbClr val="FFFF00"/>
              </a:solidFill>
              <a:latin typeface="宋体" panose="02010600030101010101" pitchFamily="2" charset="-122"/>
            </a:endParaRPr>
          </a:p>
        </p:txBody>
      </p:sp>
      <p:grpSp>
        <p:nvGrpSpPr>
          <p:cNvPr id="2" name="组合 40"/>
          <p:cNvGrpSpPr/>
          <p:nvPr/>
        </p:nvGrpSpPr>
        <p:grpSpPr>
          <a:xfrm>
            <a:off x="1143000" y="666750"/>
            <a:ext cx="7299325" cy="4119563"/>
            <a:chOff x="1142976" y="666573"/>
            <a:chExt cx="7299033" cy="4119749"/>
          </a:xfrm>
        </p:grpSpPr>
        <p:sp>
          <p:nvSpPr>
            <p:cNvPr id="6" name="圆角矩形 5"/>
            <p:cNvSpPr/>
            <p:nvPr/>
          </p:nvSpPr>
          <p:spPr bwMode="auto">
            <a:xfrm>
              <a:off x="4214666" y="666573"/>
              <a:ext cx="1000085" cy="647729"/>
            </a:xfrm>
            <a:prstGeom prst="roundRect">
              <a:avLst/>
            </a:prstGeom>
            <a:solidFill>
              <a:schemeClr val="accent6">
                <a:lumMod val="50000"/>
              </a:schemeClr>
            </a:solidFill>
            <a:ln w="19050" cap="sq" cmpd="sng" algn="ctr">
              <a:solidFill>
                <a:schemeClr val="tx1"/>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dirty="0">
                  <a:ln>
                    <a:noFill/>
                  </a:ln>
                  <a:solidFill>
                    <a:srgbClr val="FFFF00"/>
                  </a:solidFill>
                  <a:effectLst/>
                  <a:uLnTx/>
                  <a:uFillTx/>
                  <a:latin typeface="宋体" panose="02010600030101010101" pitchFamily="2" charset="-122"/>
                  <a:ea typeface="宋体" panose="02010600030101010101" pitchFamily="2" charset="-122"/>
                  <a:cs typeface="+mn-cs"/>
                </a:rPr>
                <a:t>CPU</a:t>
              </a:r>
              <a:endParaRPr kumimoji="1" lang="zh-CN" altLang="en-US" sz="3200" b="1" i="0" u="none" strike="noStrike" kern="1200" cap="none" spc="0" normalizeH="0" baseline="0" noProof="0" dirty="0">
                <a:ln>
                  <a:noFill/>
                </a:ln>
                <a:solidFill>
                  <a:srgbClr val="FFFF00"/>
                </a:solidFill>
                <a:effectLst/>
                <a:uLnTx/>
                <a:uFillTx/>
                <a:latin typeface="宋体" panose="02010600030101010101" pitchFamily="2" charset="-122"/>
                <a:ea typeface="宋体" panose="02010600030101010101" pitchFamily="2" charset="-122"/>
                <a:cs typeface="+mn-cs"/>
              </a:endParaRPr>
            </a:p>
          </p:txBody>
        </p:sp>
        <p:sp>
          <p:nvSpPr>
            <p:cNvPr id="6175" name="圆角矩形 6"/>
            <p:cNvSpPr/>
            <p:nvPr/>
          </p:nvSpPr>
          <p:spPr>
            <a:xfrm>
              <a:off x="6357950" y="1915386"/>
              <a:ext cx="1368000" cy="720000"/>
            </a:xfrm>
            <a:prstGeom prst="roundRect">
              <a:avLst>
                <a:gd name="adj" fmla="val 16667"/>
              </a:avLst>
            </a:prstGeom>
            <a:noFill/>
            <a:ln w="19050" cap="sq" cmpd="sng">
              <a:solidFill>
                <a:schemeClr val="tx1"/>
              </a:solidFill>
              <a:prstDash val="solid"/>
              <a:headEnd type="none" w="med" len="med"/>
              <a:tailEnd type="none" w="med" len="med"/>
            </a:ln>
          </p:spPr>
          <p:txBody>
            <a:bodyPr anchor="ctr" anchorCtr="0">
              <a:spAutoFit/>
            </a:bodyPr>
            <a:p>
              <a:pPr algn="ctr" eaLnBrk="1" hangingPunct="1"/>
              <a:r>
                <a:rPr lang="zh-CN" altLang="en-US" sz="2800" dirty="0">
                  <a:solidFill>
                    <a:srgbClr val="FFFF00"/>
                  </a:solidFill>
                  <a:latin typeface="黑体" panose="02010609060101010101" pitchFamily="2" charset="-122"/>
                  <a:ea typeface="黑体" panose="02010609060101010101" pitchFamily="2" charset="-122"/>
                </a:rPr>
                <a:t>显示器</a:t>
              </a:r>
              <a:endParaRPr lang="zh-CN" altLang="en-US" sz="2800" dirty="0">
                <a:solidFill>
                  <a:srgbClr val="FFFF00"/>
                </a:solidFill>
                <a:latin typeface="黑体" panose="02010609060101010101" pitchFamily="2" charset="-122"/>
                <a:ea typeface="黑体" panose="02010609060101010101" pitchFamily="2" charset="-122"/>
              </a:endParaRPr>
            </a:p>
          </p:txBody>
        </p:sp>
        <p:sp>
          <p:nvSpPr>
            <p:cNvPr id="8" name="流程图: 文档 7"/>
            <p:cNvSpPr/>
            <p:nvPr/>
          </p:nvSpPr>
          <p:spPr bwMode="auto">
            <a:xfrm>
              <a:off x="2214496" y="1927105"/>
              <a:ext cx="928650" cy="720758"/>
            </a:xfrm>
            <a:prstGeom prst="flowChartDocument">
              <a:avLst/>
            </a:prstGeom>
            <a:solidFill>
              <a:schemeClr val="accent6">
                <a:lumMod val="50000"/>
              </a:schemeClr>
            </a:solidFill>
            <a:ln w="28575" cap="sq" cmpd="sng" algn="ctr">
              <a:solidFill>
                <a:schemeClr val="tx1"/>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rgbClr val="FFFF00"/>
                  </a:solidFill>
                  <a:effectLst/>
                  <a:uLnTx/>
                  <a:uFillTx/>
                  <a:latin typeface="黑体" panose="02010609060101010101" pitchFamily="2" charset="-122"/>
                  <a:ea typeface="黑体" panose="02010609060101010101" pitchFamily="2" charset="-122"/>
                  <a:cs typeface="+mn-cs"/>
                </a:rPr>
                <a:t>主存</a:t>
              </a:r>
              <a:endParaRPr kumimoji="1" lang="zh-CN" altLang="en-US" sz="2800" b="1" i="0" u="none" strike="noStrike" kern="1200" cap="none" spc="0" normalizeH="0" baseline="0" noProof="0" dirty="0">
                <a:ln>
                  <a:noFill/>
                </a:ln>
                <a:solidFill>
                  <a:srgbClr val="FFFF00"/>
                </a:solidFill>
                <a:effectLst/>
                <a:uLnTx/>
                <a:uFillTx/>
                <a:latin typeface="黑体" panose="02010609060101010101" pitchFamily="2" charset="-122"/>
                <a:ea typeface="黑体" panose="02010609060101010101" pitchFamily="2" charset="-122"/>
                <a:cs typeface="+mn-cs"/>
              </a:endParaRPr>
            </a:p>
          </p:txBody>
        </p:sp>
        <p:grpSp>
          <p:nvGrpSpPr>
            <p:cNvPr id="6177" name="组合 8"/>
            <p:cNvGrpSpPr/>
            <p:nvPr/>
          </p:nvGrpSpPr>
          <p:grpSpPr>
            <a:xfrm>
              <a:off x="5584489" y="3741111"/>
              <a:ext cx="1143008" cy="1045211"/>
              <a:chOff x="4643438" y="3460451"/>
              <a:chExt cx="1143008" cy="1045211"/>
            </a:xfrm>
          </p:grpSpPr>
          <p:sp>
            <p:nvSpPr>
              <p:cNvPr id="6189" name="圆角矩形 9"/>
              <p:cNvSpPr/>
              <p:nvPr/>
            </p:nvSpPr>
            <p:spPr>
              <a:xfrm>
                <a:off x="4643438" y="3994884"/>
                <a:ext cx="1143008" cy="510778"/>
              </a:xfrm>
              <a:prstGeom prst="roundRect">
                <a:avLst>
                  <a:gd name="adj" fmla="val 16667"/>
                </a:avLst>
              </a:prstGeom>
              <a:noFill/>
              <a:ln w="19050" cap="sq" cmpd="sng">
                <a:solidFill>
                  <a:schemeClr val="tx1"/>
                </a:solidFill>
                <a:prstDash val="solid"/>
                <a:headEnd type="none" w="med" len="med"/>
                <a:tailEnd type="none" w="med" len="med"/>
              </a:ln>
            </p:spPr>
            <p:txBody>
              <a:bodyPr anchor="ctr" anchorCtr="0">
                <a:spAutoFit/>
              </a:bodyPr>
              <a:p>
                <a:pPr algn="ctr" eaLnBrk="1" hangingPunct="1"/>
                <a:r>
                  <a:rPr lang="zh-CN" altLang="en-US" sz="2400" dirty="0">
                    <a:solidFill>
                      <a:srgbClr val="FFFF00"/>
                    </a:solidFill>
                    <a:latin typeface="黑体" panose="02010609060101010101" pitchFamily="2" charset="-122"/>
                    <a:ea typeface="黑体" panose="02010609060101010101" pitchFamily="2" charset="-122"/>
                  </a:rPr>
                  <a:t>网络</a:t>
                </a:r>
                <a:endParaRPr lang="zh-CN" altLang="en-US" sz="2400" dirty="0">
                  <a:solidFill>
                    <a:srgbClr val="FFFF00"/>
                  </a:solidFill>
                  <a:latin typeface="黑体" panose="02010609060101010101" pitchFamily="2" charset="-122"/>
                  <a:ea typeface="黑体" panose="02010609060101010101" pitchFamily="2" charset="-122"/>
                </a:endParaRPr>
              </a:p>
            </p:txBody>
          </p:sp>
          <p:cxnSp>
            <p:nvCxnSpPr>
              <p:cNvPr id="6190" name="直接箭头连接符 10"/>
              <p:cNvCxnSpPr/>
              <p:nvPr/>
            </p:nvCxnSpPr>
            <p:spPr>
              <a:xfrm rot="5400000">
                <a:off x="4965703" y="3709690"/>
                <a:ext cx="500066" cy="1588"/>
              </a:xfrm>
              <a:prstGeom prst="straightConnector1">
                <a:avLst/>
              </a:prstGeom>
              <a:ln w="28575" cap="sq" cmpd="sng">
                <a:solidFill>
                  <a:schemeClr val="tx1"/>
                </a:solidFill>
                <a:prstDash val="solid"/>
                <a:headEnd type="arrow" w="med" len="med"/>
                <a:tailEnd type="arrow" w="med" len="med"/>
              </a:ln>
            </p:spPr>
          </p:cxnSp>
        </p:grpSp>
        <p:grpSp>
          <p:nvGrpSpPr>
            <p:cNvPr id="6178" name="组合 11"/>
            <p:cNvGrpSpPr/>
            <p:nvPr/>
          </p:nvGrpSpPr>
          <p:grpSpPr>
            <a:xfrm>
              <a:off x="1142976" y="3741111"/>
              <a:ext cx="1000132" cy="1045211"/>
              <a:chOff x="6572264" y="3454831"/>
              <a:chExt cx="1000132" cy="1045211"/>
            </a:xfrm>
          </p:grpSpPr>
          <p:sp>
            <p:nvSpPr>
              <p:cNvPr id="6187" name="圆角矩形 12"/>
              <p:cNvSpPr/>
              <p:nvPr/>
            </p:nvSpPr>
            <p:spPr>
              <a:xfrm>
                <a:off x="6572264" y="3989264"/>
                <a:ext cx="1000132" cy="510778"/>
              </a:xfrm>
              <a:prstGeom prst="roundRect">
                <a:avLst>
                  <a:gd name="adj" fmla="val 16667"/>
                </a:avLst>
              </a:prstGeom>
              <a:noFill/>
              <a:ln w="19050" cap="sq" cmpd="sng">
                <a:solidFill>
                  <a:schemeClr val="tx1"/>
                </a:solidFill>
                <a:prstDash val="solid"/>
                <a:headEnd type="none" w="med" len="med"/>
                <a:tailEnd type="none" w="med" len="med"/>
              </a:ln>
            </p:spPr>
            <p:txBody>
              <a:bodyPr anchor="ctr" anchorCtr="0">
                <a:spAutoFit/>
              </a:bodyPr>
              <a:p>
                <a:pPr algn="ctr" eaLnBrk="1" hangingPunct="1"/>
                <a:r>
                  <a:rPr lang="zh-CN" altLang="en-US" sz="2400" dirty="0">
                    <a:solidFill>
                      <a:srgbClr val="FFFF00"/>
                    </a:solidFill>
                    <a:latin typeface="黑体" panose="02010609060101010101" pitchFamily="2" charset="-122"/>
                    <a:ea typeface="黑体" panose="02010609060101010101" pitchFamily="2" charset="-122"/>
                  </a:rPr>
                  <a:t>外设</a:t>
                </a:r>
                <a:endParaRPr lang="zh-CN" altLang="en-US" sz="2400" dirty="0">
                  <a:solidFill>
                    <a:srgbClr val="FFFF00"/>
                  </a:solidFill>
                  <a:latin typeface="黑体" panose="02010609060101010101" pitchFamily="2" charset="-122"/>
                  <a:ea typeface="黑体" panose="02010609060101010101" pitchFamily="2" charset="-122"/>
                </a:endParaRPr>
              </a:p>
            </p:txBody>
          </p:sp>
          <p:cxnSp>
            <p:nvCxnSpPr>
              <p:cNvPr id="6188" name="直接箭头连接符 13"/>
              <p:cNvCxnSpPr/>
              <p:nvPr/>
            </p:nvCxnSpPr>
            <p:spPr>
              <a:xfrm rot="5400000">
                <a:off x="6823091" y="3704070"/>
                <a:ext cx="500066" cy="1588"/>
              </a:xfrm>
              <a:prstGeom prst="straightConnector1">
                <a:avLst/>
              </a:prstGeom>
              <a:ln w="28575" cap="sq" cmpd="sng">
                <a:solidFill>
                  <a:schemeClr val="tx1"/>
                </a:solidFill>
                <a:prstDash val="solid"/>
                <a:headEnd type="arrow" w="med" len="med"/>
                <a:tailEnd type="arrow" w="med" len="med"/>
              </a:ln>
            </p:spPr>
          </p:cxnSp>
        </p:grpSp>
        <p:sp>
          <p:nvSpPr>
            <p:cNvPr id="16" name="矩形 15"/>
            <p:cNvSpPr/>
            <p:nvPr/>
          </p:nvSpPr>
          <p:spPr bwMode="auto">
            <a:xfrm>
              <a:off x="4106720" y="1952506"/>
              <a:ext cx="1285824" cy="684244"/>
            </a:xfrm>
            <a:prstGeom prst="rect">
              <a:avLst/>
            </a:prstGeom>
            <a:solidFill>
              <a:schemeClr val="accent6">
                <a:lumMod val="50000"/>
              </a:schemeClr>
            </a:solidFill>
            <a:ln w="19050" cap="sq" cmpd="sng" algn="ctr">
              <a:solidFill>
                <a:schemeClr val="tx1"/>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chemeClr val="accent1"/>
                  </a:solidFill>
                  <a:effectLst/>
                  <a:uLnTx/>
                  <a:uFillTx/>
                  <a:latin typeface="黑体" panose="02010609060101010101" pitchFamily="2" charset="-122"/>
                  <a:ea typeface="黑体" panose="02010609060101010101" pitchFamily="2" charset="-122"/>
                  <a:cs typeface="+mn-cs"/>
                </a:rPr>
                <a:t>芯片组</a:t>
              </a:r>
              <a:endParaRPr kumimoji="1" lang="zh-CN" altLang="en-US" sz="2800" b="1" i="0" u="none" strike="noStrike" kern="1200" cap="none" spc="0" normalizeH="0" baseline="0" noProof="0" dirty="0">
                <a:ln>
                  <a:noFill/>
                </a:ln>
                <a:solidFill>
                  <a:schemeClr val="accent1"/>
                </a:solidFill>
                <a:effectLst/>
                <a:uLnTx/>
                <a:uFillTx/>
                <a:latin typeface="黑体" panose="02010609060101010101" pitchFamily="2" charset="-122"/>
                <a:ea typeface="黑体" panose="02010609060101010101" pitchFamily="2" charset="-122"/>
                <a:cs typeface="+mn-cs"/>
              </a:endParaRPr>
            </a:p>
          </p:txBody>
        </p:sp>
        <p:sp>
          <p:nvSpPr>
            <p:cNvPr id="17" name="矩形 16"/>
            <p:cNvSpPr/>
            <p:nvPr/>
          </p:nvSpPr>
          <p:spPr bwMode="auto">
            <a:xfrm>
              <a:off x="4094021" y="3340044"/>
              <a:ext cx="1285824" cy="684244"/>
            </a:xfrm>
            <a:prstGeom prst="rect">
              <a:avLst/>
            </a:prstGeom>
            <a:solidFill>
              <a:schemeClr val="accent6">
                <a:lumMod val="50000"/>
              </a:schemeClr>
            </a:solidFill>
            <a:ln w="19050" cap="sq" cmpd="sng" algn="ctr">
              <a:solidFill>
                <a:schemeClr val="tx1"/>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chemeClr val="accent1"/>
                  </a:solidFill>
                  <a:effectLst/>
                  <a:uLnTx/>
                  <a:uFillTx/>
                  <a:latin typeface="黑体" panose="02010609060101010101" pitchFamily="2" charset="-122"/>
                  <a:ea typeface="黑体" panose="02010609060101010101" pitchFamily="2" charset="-122"/>
                  <a:cs typeface="+mn-cs"/>
                </a:rPr>
                <a:t>芯片组</a:t>
              </a:r>
              <a:endParaRPr kumimoji="1" lang="zh-CN" altLang="en-US" sz="2800" b="1" i="0" u="none" strike="noStrike" kern="1200" cap="none" spc="0" normalizeH="0" baseline="0" noProof="0" dirty="0">
                <a:ln>
                  <a:noFill/>
                </a:ln>
                <a:solidFill>
                  <a:schemeClr val="accent1"/>
                </a:solidFill>
                <a:effectLst/>
                <a:uLnTx/>
                <a:uFillTx/>
                <a:latin typeface="黑体" panose="02010609060101010101" pitchFamily="2" charset="-122"/>
                <a:ea typeface="黑体" panose="02010609060101010101" pitchFamily="2" charset="-122"/>
                <a:cs typeface="+mn-cs"/>
              </a:endParaRPr>
            </a:p>
          </p:txBody>
        </p:sp>
        <p:grpSp>
          <p:nvGrpSpPr>
            <p:cNvPr id="6181" name="组合 22"/>
            <p:cNvGrpSpPr/>
            <p:nvPr/>
          </p:nvGrpSpPr>
          <p:grpSpPr>
            <a:xfrm>
              <a:off x="2500298" y="3741111"/>
              <a:ext cx="1000132" cy="1045211"/>
              <a:chOff x="6572264" y="3454831"/>
              <a:chExt cx="1000132" cy="1045211"/>
            </a:xfrm>
          </p:grpSpPr>
          <p:sp>
            <p:nvSpPr>
              <p:cNvPr id="6185" name="圆角矩形 23"/>
              <p:cNvSpPr/>
              <p:nvPr/>
            </p:nvSpPr>
            <p:spPr>
              <a:xfrm>
                <a:off x="6572264" y="3989264"/>
                <a:ext cx="1000132" cy="510778"/>
              </a:xfrm>
              <a:prstGeom prst="roundRect">
                <a:avLst>
                  <a:gd name="adj" fmla="val 16667"/>
                </a:avLst>
              </a:prstGeom>
              <a:noFill/>
              <a:ln w="19050" cap="sq" cmpd="sng">
                <a:solidFill>
                  <a:schemeClr val="tx1"/>
                </a:solidFill>
                <a:prstDash val="solid"/>
                <a:headEnd type="none" w="med" len="med"/>
                <a:tailEnd type="none" w="med" len="med"/>
              </a:ln>
            </p:spPr>
            <p:txBody>
              <a:bodyPr anchor="ctr" anchorCtr="0">
                <a:spAutoFit/>
              </a:bodyPr>
              <a:p>
                <a:pPr algn="ctr" eaLnBrk="1" hangingPunct="1"/>
                <a:r>
                  <a:rPr lang="zh-CN" altLang="en-US" sz="2400" dirty="0">
                    <a:solidFill>
                      <a:srgbClr val="FFFF00"/>
                    </a:solidFill>
                    <a:latin typeface="黑体" panose="02010609060101010101" pitchFamily="2" charset="-122"/>
                    <a:ea typeface="黑体" panose="02010609060101010101" pitchFamily="2" charset="-122"/>
                  </a:rPr>
                  <a:t>外设</a:t>
                </a:r>
                <a:endParaRPr lang="zh-CN" altLang="en-US" sz="2400" dirty="0">
                  <a:solidFill>
                    <a:srgbClr val="FFFF00"/>
                  </a:solidFill>
                  <a:latin typeface="黑体" panose="02010609060101010101" pitchFamily="2" charset="-122"/>
                  <a:ea typeface="黑体" panose="02010609060101010101" pitchFamily="2" charset="-122"/>
                </a:endParaRPr>
              </a:p>
            </p:txBody>
          </p:sp>
          <p:cxnSp>
            <p:nvCxnSpPr>
              <p:cNvPr id="6186" name="直接箭头连接符 24"/>
              <p:cNvCxnSpPr/>
              <p:nvPr/>
            </p:nvCxnSpPr>
            <p:spPr>
              <a:xfrm rot="5400000">
                <a:off x="6823091" y="3704070"/>
                <a:ext cx="500066" cy="1588"/>
              </a:xfrm>
              <a:prstGeom prst="straightConnector1">
                <a:avLst/>
              </a:prstGeom>
              <a:ln w="28575" cap="sq" cmpd="sng">
                <a:solidFill>
                  <a:schemeClr val="tx1"/>
                </a:solidFill>
                <a:prstDash val="solid"/>
                <a:headEnd type="arrow" w="med" len="med"/>
                <a:tailEnd type="arrow" w="med" len="med"/>
              </a:ln>
            </p:spPr>
          </p:cxnSp>
        </p:grpSp>
        <p:grpSp>
          <p:nvGrpSpPr>
            <p:cNvPr id="6182" name="组合 26"/>
            <p:cNvGrpSpPr/>
            <p:nvPr/>
          </p:nvGrpSpPr>
          <p:grpSpPr>
            <a:xfrm>
              <a:off x="7299001" y="3741111"/>
              <a:ext cx="1143008" cy="1045211"/>
              <a:chOff x="4643438" y="3460451"/>
              <a:chExt cx="1143008" cy="1045211"/>
            </a:xfrm>
          </p:grpSpPr>
          <p:sp>
            <p:nvSpPr>
              <p:cNvPr id="6183" name="圆角矩形 27"/>
              <p:cNvSpPr/>
              <p:nvPr/>
            </p:nvSpPr>
            <p:spPr>
              <a:xfrm>
                <a:off x="4643438" y="3994884"/>
                <a:ext cx="1143008" cy="510778"/>
              </a:xfrm>
              <a:prstGeom prst="roundRect">
                <a:avLst>
                  <a:gd name="adj" fmla="val 16667"/>
                </a:avLst>
              </a:prstGeom>
              <a:noFill/>
              <a:ln w="19050" cap="sq" cmpd="sng">
                <a:solidFill>
                  <a:schemeClr val="tx1"/>
                </a:solidFill>
                <a:prstDash val="solid"/>
                <a:headEnd type="none" w="med" len="med"/>
                <a:tailEnd type="none" w="med" len="med"/>
              </a:ln>
            </p:spPr>
            <p:txBody>
              <a:bodyPr anchor="ctr" anchorCtr="0">
                <a:spAutoFit/>
              </a:bodyPr>
              <a:p>
                <a:pPr algn="ctr" eaLnBrk="1" hangingPunct="1"/>
                <a:r>
                  <a:rPr lang="zh-CN" altLang="en-US" sz="2400" dirty="0">
                    <a:solidFill>
                      <a:srgbClr val="FFFF00"/>
                    </a:solidFill>
                    <a:latin typeface="黑体" panose="02010609060101010101" pitchFamily="2" charset="-122"/>
                    <a:ea typeface="黑体" panose="02010609060101010101" pitchFamily="2" charset="-122"/>
                  </a:rPr>
                  <a:t>音频</a:t>
                </a:r>
                <a:endParaRPr lang="zh-CN" altLang="en-US" sz="2400" dirty="0">
                  <a:solidFill>
                    <a:srgbClr val="FFFF00"/>
                  </a:solidFill>
                  <a:latin typeface="黑体" panose="02010609060101010101" pitchFamily="2" charset="-122"/>
                  <a:ea typeface="黑体" panose="02010609060101010101" pitchFamily="2" charset="-122"/>
                </a:endParaRPr>
              </a:p>
            </p:txBody>
          </p:sp>
          <p:cxnSp>
            <p:nvCxnSpPr>
              <p:cNvPr id="6184" name="直接箭头连接符 28"/>
              <p:cNvCxnSpPr/>
              <p:nvPr/>
            </p:nvCxnSpPr>
            <p:spPr>
              <a:xfrm rot="5400000">
                <a:off x="4965703" y="3709690"/>
                <a:ext cx="500066" cy="1588"/>
              </a:xfrm>
              <a:prstGeom prst="straightConnector1">
                <a:avLst/>
              </a:prstGeom>
              <a:ln w="28575" cap="sq" cmpd="sng">
                <a:solidFill>
                  <a:schemeClr val="tx1"/>
                </a:solidFill>
                <a:prstDash val="solid"/>
                <a:headEnd type="arrow" w="med" len="med"/>
                <a:tailEnd type="arrow" w="med" len="med"/>
              </a:ln>
            </p:spPr>
          </p:cxnSp>
        </p:grpSp>
      </p:grpSp>
      <p:sp>
        <p:nvSpPr>
          <p:cNvPr id="30" name="TextBox 29"/>
          <p:cNvSpPr txBox="1"/>
          <p:nvPr/>
        </p:nvSpPr>
        <p:spPr>
          <a:xfrm>
            <a:off x="6727825" y="3670300"/>
            <a:ext cx="596900" cy="584200"/>
          </a:xfrm>
          <a:prstGeom prst="rect">
            <a:avLst/>
          </a:prstGeom>
          <a:noFill/>
          <a:ln w="9525">
            <a:noFill/>
          </a:ln>
        </p:spPr>
        <p:txBody>
          <a:bodyPr wrap="none">
            <a:spAutoFit/>
          </a:bodyPr>
          <a:p>
            <a:pPr algn="ctr" eaLnBrk="1" hangingPunct="1"/>
            <a:r>
              <a:rPr lang="en-US" altLang="zh-CN" dirty="0">
                <a:solidFill>
                  <a:srgbClr val="FFFF00"/>
                </a:solidFill>
                <a:latin typeface="宋体" panose="02010600030101010101" pitchFamily="2" charset="-122"/>
              </a:rPr>
              <a:t>…</a:t>
            </a:r>
            <a:endParaRPr lang="zh-CN" altLang="en-US" dirty="0">
              <a:solidFill>
                <a:srgbClr val="FFFF00"/>
              </a:solidFill>
              <a:latin typeface="宋体" panose="02010600030101010101" pitchFamily="2" charset="-122"/>
            </a:endParaRPr>
          </a:p>
        </p:txBody>
      </p:sp>
      <p:grpSp>
        <p:nvGrpSpPr>
          <p:cNvPr id="9" name="组合 41"/>
          <p:cNvGrpSpPr/>
          <p:nvPr/>
        </p:nvGrpSpPr>
        <p:grpSpPr>
          <a:xfrm>
            <a:off x="4572000" y="1309688"/>
            <a:ext cx="1708150" cy="647700"/>
            <a:chOff x="4572000" y="1309515"/>
            <a:chExt cx="1707936" cy="648000"/>
          </a:xfrm>
        </p:grpSpPr>
        <p:sp>
          <p:nvSpPr>
            <p:cNvPr id="18" name="上下箭头 17"/>
            <p:cNvSpPr/>
            <p:nvPr/>
          </p:nvSpPr>
          <p:spPr bwMode="auto">
            <a:xfrm>
              <a:off x="4572000" y="1309515"/>
              <a:ext cx="323809" cy="648000"/>
            </a:xfrm>
            <a:prstGeom prst="upDownArrow">
              <a:avLst/>
            </a:prstGeom>
            <a:solidFill>
              <a:schemeClr val="accent2">
                <a:lumMod val="75000"/>
              </a:schemeClr>
            </a:solidFill>
            <a:ln w="12700" cap="sq" cmpd="sng" algn="ctr">
              <a:solidFill>
                <a:schemeClr val="tx1"/>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3200" b="1" i="0" u="none" strike="noStrike" kern="1200" cap="none" spc="0" normalizeH="0" baseline="0" noProof="0">
                <a:ln>
                  <a:noFill/>
                </a:ln>
                <a:solidFill>
                  <a:schemeClr val="bg1"/>
                </a:solidFill>
                <a:effectLst/>
                <a:uLnTx/>
                <a:uFillTx/>
                <a:latin typeface="宋体" panose="02010600030101010101" pitchFamily="2" charset="-122"/>
                <a:ea typeface="宋体" panose="02010600030101010101" pitchFamily="2" charset="-122"/>
                <a:cs typeface="+mn-cs"/>
              </a:endParaRPr>
            </a:p>
          </p:txBody>
        </p:sp>
        <p:sp>
          <p:nvSpPr>
            <p:cNvPr id="6173" name="TextBox 30"/>
            <p:cNvSpPr txBox="1"/>
            <p:nvPr/>
          </p:nvSpPr>
          <p:spPr>
            <a:xfrm>
              <a:off x="4857752" y="1380953"/>
              <a:ext cx="1422184" cy="461665"/>
            </a:xfrm>
            <a:prstGeom prst="rect">
              <a:avLst/>
            </a:prstGeom>
            <a:noFill/>
            <a:ln w="9525">
              <a:noFill/>
            </a:ln>
          </p:spPr>
          <p:txBody>
            <a:bodyPr wrap="none">
              <a:spAutoFit/>
            </a:bodyPr>
            <a:p>
              <a:pPr algn="ctr" eaLnBrk="1" hangingPunct="1"/>
              <a:r>
                <a:rPr lang="zh-CN" altLang="en-US" sz="2400" dirty="0">
                  <a:solidFill>
                    <a:schemeClr val="tx1"/>
                  </a:solidFill>
                  <a:latin typeface="宋体" panose="02010600030101010101" pitchFamily="2" charset="-122"/>
                </a:rPr>
                <a:t>前端总线</a:t>
              </a:r>
              <a:endParaRPr lang="zh-CN" altLang="en-US" sz="2400" dirty="0">
                <a:solidFill>
                  <a:schemeClr val="tx1"/>
                </a:solidFill>
                <a:latin typeface="宋体" panose="02010600030101010101" pitchFamily="2" charset="-122"/>
              </a:endParaRPr>
            </a:p>
          </p:txBody>
        </p:sp>
      </p:grpSp>
      <p:grpSp>
        <p:nvGrpSpPr>
          <p:cNvPr id="10" name="组合 43"/>
          <p:cNvGrpSpPr/>
          <p:nvPr/>
        </p:nvGrpSpPr>
        <p:grpSpPr>
          <a:xfrm>
            <a:off x="5422900" y="2271713"/>
            <a:ext cx="898525" cy="500062"/>
            <a:chOff x="5422213" y="2272054"/>
            <a:chExt cx="900000" cy="499258"/>
          </a:xfrm>
        </p:grpSpPr>
        <p:cxnSp>
          <p:nvCxnSpPr>
            <p:cNvPr id="6170" name="直接箭头连接符 19"/>
            <p:cNvCxnSpPr/>
            <p:nvPr/>
          </p:nvCxnSpPr>
          <p:spPr>
            <a:xfrm>
              <a:off x="5422213" y="2272054"/>
              <a:ext cx="900000" cy="2"/>
            </a:xfrm>
            <a:prstGeom prst="straightConnector1">
              <a:avLst/>
            </a:prstGeom>
            <a:ln w="57150" cap="sq" cmpd="dbl">
              <a:solidFill>
                <a:schemeClr val="accent1"/>
              </a:solidFill>
              <a:prstDash val="solid"/>
              <a:headEnd type="triangle" w="med" len="med"/>
              <a:tailEnd type="triangle" w="med" len="med"/>
            </a:ln>
          </p:spPr>
        </p:cxnSp>
        <p:sp>
          <p:nvSpPr>
            <p:cNvPr id="6171" name="TextBox 31"/>
            <p:cNvSpPr txBox="1"/>
            <p:nvPr/>
          </p:nvSpPr>
          <p:spPr>
            <a:xfrm>
              <a:off x="5480139" y="2309647"/>
              <a:ext cx="651140" cy="461665"/>
            </a:xfrm>
            <a:prstGeom prst="rect">
              <a:avLst/>
            </a:prstGeom>
            <a:noFill/>
            <a:ln w="9525">
              <a:noFill/>
            </a:ln>
          </p:spPr>
          <p:txBody>
            <a:bodyPr wrap="none">
              <a:spAutoFit/>
            </a:bodyPr>
            <a:p>
              <a:pPr algn="ctr" eaLnBrk="1" hangingPunct="1"/>
              <a:r>
                <a:rPr lang="en-US" altLang="zh-CN" sz="2400" dirty="0">
                  <a:solidFill>
                    <a:schemeClr val="tx1"/>
                  </a:solidFill>
                  <a:latin typeface="宋体" panose="02010600030101010101" pitchFamily="2" charset="-122"/>
                </a:rPr>
                <a:t>VGA</a:t>
              </a:r>
              <a:endParaRPr lang="zh-CN" altLang="en-US" sz="2400" dirty="0">
                <a:solidFill>
                  <a:schemeClr val="tx1"/>
                </a:solidFill>
                <a:latin typeface="宋体" panose="02010600030101010101" pitchFamily="2" charset="-122"/>
              </a:endParaRPr>
            </a:p>
          </p:txBody>
        </p:sp>
      </p:grpSp>
      <p:grpSp>
        <p:nvGrpSpPr>
          <p:cNvPr id="11" name="组合 42"/>
          <p:cNvGrpSpPr/>
          <p:nvPr/>
        </p:nvGrpSpPr>
        <p:grpSpPr>
          <a:xfrm>
            <a:off x="3168650" y="1738313"/>
            <a:ext cx="898525" cy="546100"/>
            <a:chOff x="3167954" y="1738143"/>
            <a:chExt cx="900000" cy="546792"/>
          </a:xfrm>
        </p:grpSpPr>
        <p:cxnSp>
          <p:nvCxnSpPr>
            <p:cNvPr id="6168" name="直接箭头连接符 20"/>
            <p:cNvCxnSpPr/>
            <p:nvPr/>
          </p:nvCxnSpPr>
          <p:spPr>
            <a:xfrm>
              <a:off x="3167954" y="2284933"/>
              <a:ext cx="900000" cy="2"/>
            </a:xfrm>
            <a:prstGeom prst="straightConnector1">
              <a:avLst/>
            </a:prstGeom>
            <a:ln w="57150" cap="sq" cmpd="dbl">
              <a:solidFill>
                <a:schemeClr val="accent1"/>
              </a:solidFill>
              <a:prstDash val="solid"/>
              <a:headEnd type="triangle" w="med" len="med"/>
              <a:tailEnd type="triangle" w="med" len="med"/>
            </a:ln>
          </p:spPr>
        </p:cxnSp>
        <p:sp>
          <p:nvSpPr>
            <p:cNvPr id="6169" name="TextBox 32"/>
            <p:cNvSpPr txBox="1"/>
            <p:nvPr/>
          </p:nvSpPr>
          <p:spPr>
            <a:xfrm>
              <a:off x="3249045" y="1738143"/>
              <a:ext cx="806632" cy="461665"/>
            </a:xfrm>
            <a:prstGeom prst="rect">
              <a:avLst/>
            </a:prstGeom>
            <a:noFill/>
            <a:ln w="9525">
              <a:noFill/>
            </a:ln>
          </p:spPr>
          <p:txBody>
            <a:bodyPr wrap="none">
              <a:spAutoFit/>
            </a:bodyPr>
            <a:p>
              <a:pPr algn="ctr" eaLnBrk="1" hangingPunct="1"/>
              <a:r>
                <a:rPr lang="en-US" altLang="zh-CN" sz="2400" dirty="0">
                  <a:solidFill>
                    <a:schemeClr val="tx1"/>
                  </a:solidFill>
                  <a:latin typeface="宋体" panose="02010600030101010101" pitchFamily="2" charset="-122"/>
                </a:rPr>
                <a:t>PCIE</a:t>
              </a:r>
              <a:endParaRPr lang="zh-CN" altLang="en-US" sz="2400" dirty="0">
                <a:solidFill>
                  <a:schemeClr val="tx1"/>
                </a:solidFill>
                <a:latin typeface="宋体" panose="02010600030101010101" pitchFamily="2" charset="-122"/>
              </a:endParaRPr>
            </a:p>
          </p:txBody>
        </p:sp>
      </p:grpSp>
      <p:grpSp>
        <p:nvGrpSpPr>
          <p:cNvPr id="12" name="组合 45"/>
          <p:cNvGrpSpPr/>
          <p:nvPr/>
        </p:nvGrpSpPr>
        <p:grpSpPr>
          <a:xfrm>
            <a:off x="1192213" y="3167063"/>
            <a:ext cx="2879725" cy="514350"/>
            <a:chOff x="1191934" y="3166903"/>
            <a:chExt cx="2880000" cy="515129"/>
          </a:xfrm>
        </p:grpSpPr>
        <p:cxnSp>
          <p:nvCxnSpPr>
            <p:cNvPr id="6166" name="直接箭头连接符 21"/>
            <p:cNvCxnSpPr/>
            <p:nvPr/>
          </p:nvCxnSpPr>
          <p:spPr>
            <a:xfrm>
              <a:off x="1191934" y="3682030"/>
              <a:ext cx="2880000" cy="2"/>
            </a:xfrm>
            <a:prstGeom prst="straightConnector1">
              <a:avLst/>
            </a:prstGeom>
            <a:ln w="57150" cap="sq" cmpd="dbl">
              <a:solidFill>
                <a:schemeClr val="accent1"/>
              </a:solidFill>
              <a:prstDash val="solid"/>
              <a:headEnd type="triangle" w="med" len="med"/>
              <a:tailEnd type="triangle" w="med" len="med"/>
            </a:ln>
          </p:spPr>
        </p:cxnSp>
        <p:sp>
          <p:nvSpPr>
            <p:cNvPr id="6167" name="TextBox 33"/>
            <p:cNvSpPr txBox="1"/>
            <p:nvPr/>
          </p:nvSpPr>
          <p:spPr>
            <a:xfrm>
              <a:off x="2143108" y="3166903"/>
              <a:ext cx="1269899" cy="461665"/>
            </a:xfrm>
            <a:prstGeom prst="rect">
              <a:avLst/>
            </a:prstGeom>
            <a:noFill/>
            <a:ln w="9525">
              <a:noFill/>
            </a:ln>
          </p:spPr>
          <p:txBody>
            <a:bodyPr wrap="none">
              <a:spAutoFit/>
            </a:bodyPr>
            <a:p>
              <a:pPr algn="ctr" eaLnBrk="1" hangingPunct="1"/>
              <a:r>
                <a:rPr lang="en-US" altLang="zh-CN" sz="2400" dirty="0">
                  <a:solidFill>
                    <a:schemeClr val="tx1"/>
                  </a:solidFill>
                  <a:latin typeface="宋体" panose="02010600030101010101" pitchFamily="2" charset="-122"/>
                </a:rPr>
                <a:t>I/O</a:t>
              </a:r>
              <a:r>
                <a:rPr lang="zh-CN" altLang="en-US" sz="2400" dirty="0">
                  <a:solidFill>
                    <a:schemeClr val="tx1"/>
                  </a:solidFill>
                  <a:latin typeface="宋体" panose="02010600030101010101" pitchFamily="2" charset="-122"/>
                </a:rPr>
                <a:t>总线</a:t>
              </a:r>
              <a:endParaRPr lang="zh-CN" altLang="en-US" sz="2400" dirty="0">
                <a:solidFill>
                  <a:schemeClr val="tx1"/>
                </a:solidFill>
                <a:latin typeface="宋体" panose="02010600030101010101" pitchFamily="2" charset="-122"/>
              </a:endParaRPr>
            </a:p>
          </p:txBody>
        </p:sp>
      </p:grpSp>
      <p:grpSp>
        <p:nvGrpSpPr>
          <p:cNvPr id="13" name="组合 46"/>
          <p:cNvGrpSpPr/>
          <p:nvPr/>
        </p:nvGrpSpPr>
        <p:grpSpPr>
          <a:xfrm>
            <a:off x="5370513" y="3167063"/>
            <a:ext cx="2879725" cy="503237"/>
            <a:chOff x="5370175" y="3166903"/>
            <a:chExt cx="2880000" cy="502772"/>
          </a:xfrm>
        </p:grpSpPr>
        <p:cxnSp>
          <p:nvCxnSpPr>
            <p:cNvPr id="6164" name="直接箭头连接符 25"/>
            <p:cNvCxnSpPr/>
            <p:nvPr/>
          </p:nvCxnSpPr>
          <p:spPr>
            <a:xfrm>
              <a:off x="5370175" y="3669673"/>
              <a:ext cx="2880000" cy="2"/>
            </a:xfrm>
            <a:prstGeom prst="straightConnector1">
              <a:avLst/>
            </a:prstGeom>
            <a:ln w="57150" cap="sq" cmpd="dbl">
              <a:solidFill>
                <a:schemeClr val="accent1"/>
              </a:solidFill>
              <a:prstDash val="solid"/>
              <a:headEnd type="triangle" w="med" len="med"/>
              <a:tailEnd type="triangle" w="med" len="med"/>
            </a:ln>
          </p:spPr>
        </p:cxnSp>
        <p:sp>
          <p:nvSpPr>
            <p:cNvPr id="6165" name="TextBox 34"/>
            <p:cNvSpPr txBox="1"/>
            <p:nvPr/>
          </p:nvSpPr>
          <p:spPr>
            <a:xfrm>
              <a:off x="6429388" y="3166903"/>
              <a:ext cx="806631" cy="461665"/>
            </a:xfrm>
            <a:prstGeom prst="rect">
              <a:avLst/>
            </a:prstGeom>
            <a:noFill/>
            <a:ln w="9525">
              <a:noFill/>
            </a:ln>
          </p:spPr>
          <p:txBody>
            <a:bodyPr wrap="none">
              <a:spAutoFit/>
            </a:bodyPr>
            <a:p>
              <a:pPr algn="ctr" eaLnBrk="1" hangingPunct="1"/>
              <a:r>
                <a:rPr lang="en-US" altLang="zh-CN" sz="2400" dirty="0">
                  <a:solidFill>
                    <a:schemeClr val="tx1"/>
                  </a:solidFill>
                  <a:latin typeface="宋体" panose="02010600030101010101" pitchFamily="2" charset="-122"/>
                </a:rPr>
                <a:t>PCIE</a:t>
              </a:r>
              <a:endParaRPr lang="zh-CN" altLang="en-US" sz="2400" dirty="0">
                <a:solidFill>
                  <a:schemeClr val="tx1"/>
                </a:solidFill>
                <a:latin typeface="宋体" panose="02010600030101010101" pitchFamily="2" charset="-122"/>
              </a:endParaRPr>
            </a:p>
          </p:txBody>
        </p:sp>
      </p:grpSp>
      <p:grpSp>
        <p:nvGrpSpPr>
          <p:cNvPr id="14" name="组合 44"/>
          <p:cNvGrpSpPr/>
          <p:nvPr/>
        </p:nvGrpSpPr>
        <p:grpSpPr>
          <a:xfrm>
            <a:off x="4572000" y="2652713"/>
            <a:ext cx="971550" cy="647700"/>
            <a:chOff x="4572000" y="2652126"/>
            <a:chExt cx="971259" cy="648000"/>
          </a:xfrm>
        </p:grpSpPr>
        <p:sp>
          <p:nvSpPr>
            <p:cNvPr id="19" name="上下箭头 18"/>
            <p:cNvSpPr/>
            <p:nvPr/>
          </p:nvSpPr>
          <p:spPr bwMode="auto">
            <a:xfrm>
              <a:off x="4572000" y="2652126"/>
              <a:ext cx="323753" cy="648000"/>
            </a:xfrm>
            <a:prstGeom prst="upDownArrow">
              <a:avLst/>
            </a:prstGeom>
            <a:solidFill>
              <a:schemeClr val="accent2">
                <a:lumMod val="75000"/>
              </a:schemeClr>
            </a:solidFill>
            <a:ln w="12700" cap="sq" cmpd="sng" algn="ctr">
              <a:solidFill>
                <a:schemeClr val="tx1"/>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3200" b="1" i="0" u="none" strike="noStrike" kern="1200" cap="none" spc="0" normalizeH="0" baseline="0" noProof="0">
                <a:ln>
                  <a:noFill/>
                </a:ln>
                <a:solidFill>
                  <a:schemeClr val="bg1"/>
                </a:solidFill>
                <a:effectLst/>
                <a:uLnTx/>
                <a:uFillTx/>
                <a:latin typeface="宋体" panose="02010600030101010101" pitchFamily="2" charset="-122"/>
                <a:ea typeface="宋体" panose="02010600030101010101" pitchFamily="2" charset="-122"/>
                <a:cs typeface="+mn-cs"/>
              </a:endParaRPr>
            </a:p>
          </p:txBody>
        </p:sp>
        <p:sp>
          <p:nvSpPr>
            <p:cNvPr id="6163" name="TextBox 35"/>
            <p:cNvSpPr txBox="1"/>
            <p:nvPr/>
          </p:nvSpPr>
          <p:spPr>
            <a:xfrm>
              <a:off x="4892119" y="2725918"/>
              <a:ext cx="651140" cy="461665"/>
            </a:xfrm>
            <a:prstGeom prst="rect">
              <a:avLst/>
            </a:prstGeom>
            <a:noFill/>
            <a:ln w="9525">
              <a:noFill/>
            </a:ln>
          </p:spPr>
          <p:txBody>
            <a:bodyPr wrap="none">
              <a:spAutoFit/>
            </a:bodyPr>
            <a:p>
              <a:pPr algn="ctr" eaLnBrk="1" hangingPunct="1"/>
              <a:r>
                <a:rPr lang="en-US" altLang="zh-CN" sz="2400" dirty="0">
                  <a:solidFill>
                    <a:schemeClr val="tx1"/>
                  </a:solidFill>
                  <a:latin typeface="宋体" panose="02010600030101010101" pitchFamily="2" charset="-122"/>
                </a:rPr>
                <a:t>DMI</a:t>
              </a:r>
              <a:endParaRPr lang="zh-CN" altLang="en-US" sz="2400" dirty="0">
                <a:solidFill>
                  <a:schemeClr val="tx1"/>
                </a:solidFill>
                <a:latin typeface="宋体" panose="02010600030101010101" pitchFamily="2" charset="-122"/>
              </a:endParaRPr>
            </a:p>
          </p:txBody>
        </p:sp>
      </p:grpSp>
      <p:sp>
        <p:nvSpPr>
          <p:cNvPr id="37" name="Text Box 7"/>
          <p:cNvSpPr txBox="1"/>
          <p:nvPr/>
        </p:nvSpPr>
        <p:spPr>
          <a:xfrm>
            <a:off x="285750" y="5064125"/>
            <a:ext cx="3430588" cy="522288"/>
          </a:xfrm>
          <a:prstGeom prst="rect">
            <a:avLst/>
          </a:prstGeom>
          <a:noFill/>
          <a:ln w="12700">
            <a:noFill/>
          </a:ln>
        </p:spPr>
        <p:txBody>
          <a:bodyPr wrap="none">
            <a:spAutoFit/>
          </a:bodyPr>
          <a:p>
            <a:pPr algn="ctr" eaLnBrk="1" hangingPunct="1"/>
            <a:r>
              <a:rPr lang="zh-CN" altLang="en-US" sz="2800" dirty="0">
                <a:solidFill>
                  <a:schemeClr val="accent1"/>
                </a:solidFill>
                <a:latin typeface="黑体" panose="02010609060101010101" pitchFamily="2" charset="-122"/>
                <a:ea typeface="黑体" panose="02010609060101010101" pitchFamily="2" charset="-122"/>
              </a:rPr>
              <a:t>特点：</a:t>
            </a:r>
            <a:r>
              <a:rPr lang="zh-CN" altLang="en-US" sz="2800" dirty="0">
                <a:solidFill>
                  <a:schemeClr val="tx1"/>
                </a:solidFill>
                <a:latin typeface="黑体" panose="02010609060101010101" pitchFamily="2" charset="-122"/>
                <a:ea typeface="黑体" panose="02010609060101010101" pitchFamily="2" charset="-122"/>
              </a:rPr>
              <a:t>有多组总线，</a:t>
            </a:r>
            <a:endParaRPr lang="zh-CN" altLang="en-US" sz="2800" dirty="0">
              <a:solidFill>
                <a:schemeClr val="tx1"/>
              </a:solidFill>
              <a:latin typeface="黑体" panose="02010609060101010101" pitchFamily="2" charset="-122"/>
              <a:ea typeface="黑体" panose="02010609060101010101" pitchFamily="2" charset="-122"/>
            </a:endParaRPr>
          </a:p>
        </p:txBody>
      </p:sp>
      <p:sp>
        <p:nvSpPr>
          <p:cNvPr id="38" name="Text Box 7"/>
          <p:cNvSpPr txBox="1"/>
          <p:nvPr/>
        </p:nvSpPr>
        <p:spPr>
          <a:xfrm>
            <a:off x="3500438" y="5086350"/>
            <a:ext cx="1987550" cy="523875"/>
          </a:xfrm>
          <a:prstGeom prst="rect">
            <a:avLst/>
          </a:prstGeom>
          <a:noFill/>
          <a:ln w="12700">
            <a:noFill/>
          </a:ln>
        </p:spPr>
        <p:txBody>
          <a:bodyPr wrap="none">
            <a:spAutoFit/>
          </a:bodyPr>
          <a:p>
            <a:pPr algn="ctr" eaLnBrk="1" hangingPunct="1"/>
            <a:r>
              <a:rPr lang="zh-CN" altLang="en-US" sz="2800" dirty="0">
                <a:solidFill>
                  <a:schemeClr val="tx1"/>
                </a:solidFill>
                <a:latin typeface="黑体" panose="02010609060101010101" pitchFamily="2" charset="-122"/>
                <a:ea typeface="黑体" panose="02010609060101010101" pitchFamily="2" charset="-122"/>
              </a:rPr>
              <a:t>分摊负载，</a:t>
            </a:r>
            <a:endParaRPr lang="zh-CN" altLang="en-US" sz="2800" dirty="0">
              <a:solidFill>
                <a:schemeClr val="tx1"/>
              </a:solidFill>
              <a:latin typeface="黑体" panose="02010609060101010101" pitchFamily="2" charset="-122"/>
              <a:ea typeface="黑体" panose="02010609060101010101" pitchFamily="2" charset="-122"/>
            </a:endParaRPr>
          </a:p>
        </p:txBody>
      </p:sp>
      <p:sp>
        <p:nvSpPr>
          <p:cNvPr id="39" name="Text Box 7"/>
          <p:cNvSpPr txBox="1"/>
          <p:nvPr/>
        </p:nvSpPr>
        <p:spPr>
          <a:xfrm>
            <a:off x="5299075" y="5064125"/>
            <a:ext cx="2347913" cy="522288"/>
          </a:xfrm>
          <a:prstGeom prst="rect">
            <a:avLst/>
          </a:prstGeom>
          <a:noFill/>
          <a:ln w="12700">
            <a:noFill/>
          </a:ln>
        </p:spPr>
        <p:txBody>
          <a:bodyPr wrap="none">
            <a:spAutoFit/>
          </a:bodyPr>
          <a:p>
            <a:pPr algn="ctr" eaLnBrk="1" hangingPunct="1"/>
            <a:r>
              <a:rPr lang="zh-CN" altLang="en-US" sz="2800" dirty="0">
                <a:solidFill>
                  <a:schemeClr val="tx1"/>
                </a:solidFill>
                <a:latin typeface="黑体" panose="02010609060101010101" pitchFamily="2" charset="-122"/>
                <a:ea typeface="黑体" panose="02010609060101010101" pitchFamily="2" charset="-122"/>
              </a:rPr>
              <a:t>传输效率高！</a:t>
            </a:r>
            <a:endParaRPr lang="zh-CN" altLang="en-US" sz="2800" dirty="0">
              <a:solidFill>
                <a:schemeClr val="tx1"/>
              </a:solidFill>
              <a:latin typeface="黑体" panose="02010609060101010101" pitchFamily="2" charset="-122"/>
              <a:ea typeface="黑体" panose="02010609060101010101" pitchFamily="2" charset="-122"/>
            </a:endParaRPr>
          </a:p>
        </p:txBody>
      </p:sp>
      <p:sp>
        <p:nvSpPr>
          <p:cNvPr id="40" name="Text Box 7"/>
          <p:cNvSpPr txBox="1"/>
          <p:nvPr/>
        </p:nvSpPr>
        <p:spPr>
          <a:xfrm>
            <a:off x="285750" y="5678488"/>
            <a:ext cx="6316663" cy="523875"/>
          </a:xfrm>
          <a:prstGeom prst="rect">
            <a:avLst/>
          </a:prstGeom>
          <a:noFill/>
          <a:ln w="12700">
            <a:noFill/>
          </a:ln>
        </p:spPr>
        <p:txBody>
          <a:bodyPr wrap="none">
            <a:spAutoFit/>
          </a:bodyPr>
          <a:p>
            <a:pPr algn="ctr" eaLnBrk="1" hangingPunct="1"/>
            <a:r>
              <a:rPr lang="zh-CN" altLang="en-US" sz="2800" dirty="0">
                <a:solidFill>
                  <a:srgbClr val="FFFF00"/>
                </a:solidFill>
                <a:latin typeface="黑体" panose="02010609060101010101" pitchFamily="2" charset="-122"/>
                <a:ea typeface="黑体" panose="02010609060101010101" pitchFamily="2" charset="-122"/>
              </a:rPr>
              <a:t>现在的系统，普遍都使用多总线结构！</a:t>
            </a:r>
            <a:endParaRPr lang="zh-CN" altLang="en-US" sz="2800" dirty="0">
              <a:solidFill>
                <a:srgbClr val="FFFF00"/>
              </a:solidFill>
              <a:latin typeface="黑体" panose="02010609060101010101" pitchFamily="2" charset="-122"/>
              <a:ea typeface="黑体" panose="02010609060101010101" pitchFamily="2" charset="-122"/>
            </a:endParaRPr>
          </a:p>
        </p:txBody>
      </p:sp>
    </p:spTree>
  </p:cSld>
  <p:clrMapOvr>
    <a:masterClrMapping/>
  </p:clrMapOvr>
  <p:transition spd="slow">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ext Box 2"/>
          <p:cNvSpPr txBox="1"/>
          <p:nvPr/>
        </p:nvSpPr>
        <p:spPr>
          <a:xfrm>
            <a:off x="525463" y="188913"/>
            <a:ext cx="6553200" cy="579437"/>
          </a:xfrm>
          <a:prstGeom prst="rect">
            <a:avLst/>
          </a:prstGeom>
          <a:noFill/>
          <a:ln w="12700">
            <a:noFill/>
          </a:ln>
        </p:spPr>
        <p:txBody>
          <a:bodyPr>
            <a:spAutoFit/>
          </a:bodyPr>
          <a:p>
            <a:pPr eaLnBrk="1" hangingPunct="1">
              <a:spcBef>
                <a:spcPct val="50000"/>
              </a:spcBef>
              <a:buFont typeface="Wingdings" panose="05000000000000000000" pitchFamily="2" charset="2"/>
              <a:buChar char="l"/>
            </a:pPr>
            <a:r>
              <a:rPr lang="zh-CN" altLang="en-US" dirty="0">
                <a:solidFill>
                  <a:srgbClr val="FFFF00"/>
                </a:solidFill>
                <a:latin typeface="黑体" panose="02010609060101010101" pitchFamily="2" charset="-122"/>
                <a:ea typeface="黑体" panose="02010609060101010101" pitchFamily="2" charset="-122"/>
              </a:rPr>
              <a:t> 总线的分类</a:t>
            </a:r>
            <a:endParaRPr lang="zh-CN" altLang="en-US" dirty="0">
              <a:solidFill>
                <a:srgbClr val="FFFF00"/>
              </a:solidFill>
              <a:latin typeface="黑体" panose="02010609060101010101" pitchFamily="2" charset="-122"/>
              <a:ea typeface="黑体" panose="02010609060101010101" pitchFamily="2" charset="-122"/>
            </a:endParaRPr>
          </a:p>
        </p:txBody>
      </p:sp>
      <p:sp>
        <p:nvSpPr>
          <p:cNvPr id="27651" name="Text Box 3"/>
          <p:cNvSpPr txBox="1"/>
          <p:nvPr/>
        </p:nvSpPr>
        <p:spPr>
          <a:xfrm>
            <a:off x="395288" y="1052513"/>
            <a:ext cx="7416800" cy="1057275"/>
          </a:xfrm>
          <a:prstGeom prst="rect">
            <a:avLst/>
          </a:prstGeom>
          <a:noFill/>
          <a:ln w="12700">
            <a:noFill/>
          </a:ln>
        </p:spPr>
        <p:txBody>
          <a:bodyPr>
            <a:spAutoFit/>
          </a:bodyPr>
          <a:p>
            <a:pPr eaLnBrk="1" hangingPunct="1">
              <a:lnSpc>
                <a:spcPct val="120000"/>
              </a:lnSpc>
            </a:pPr>
            <a:r>
              <a:rPr lang="zh-CN" altLang="en-US" sz="2800" dirty="0">
                <a:solidFill>
                  <a:schemeClr val="tx1"/>
                </a:solidFill>
                <a:latin typeface="黑体" panose="02010609060101010101" pitchFamily="2" charset="-122"/>
                <a:ea typeface="黑体" panose="02010609060101010101" pitchFamily="2" charset="-122"/>
              </a:rPr>
              <a:t>（</a:t>
            </a:r>
            <a:r>
              <a:rPr lang="en-US" altLang="zh-CN" sz="2800" dirty="0">
                <a:solidFill>
                  <a:schemeClr val="tx1"/>
                </a:solidFill>
                <a:latin typeface="黑体" panose="02010609060101010101" pitchFamily="2" charset="-122"/>
                <a:ea typeface="黑体" panose="02010609060101010101" pitchFamily="2" charset="-122"/>
              </a:rPr>
              <a:t>1</a:t>
            </a:r>
            <a:r>
              <a:rPr lang="zh-CN" altLang="en-US" sz="2800" dirty="0">
                <a:solidFill>
                  <a:schemeClr val="tx1"/>
                </a:solidFill>
                <a:latin typeface="黑体" panose="02010609060101010101" pitchFamily="2" charset="-122"/>
                <a:ea typeface="黑体" panose="02010609060101010101" pitchFamily="2" charset="-122"/>
              </a:rPr>
              <a:t>）按功能分类</a:t>
            </a:r>
            <a:endParaRPr lang="zh-CN" altLang="en-US" sz="2800" dirty="0">
              <a:solidFill>
                <a:schemeClr val="tx1"/>
              </a:solidFill>
              <a:latin typeface="黑体" panose="02010609060101010101" pitchFamily="2" charset="-122"/>
              <a:ea typeface="黑体" panose="02010609060101010101" pitchFamily="2" charset="-122"/>
            </a:endParaRPr>
          </a:p>
          <a:p>
            <a:pPr eaLnBrk="1" hangingPunct="1">
              <a:lnSpc>
                <a:spcPct val="120000"/>
              </a:lnSpc>
            </a:pPr>
            <a:r>
              <a:rPr lang="zh-CN" altLang="en-US" sz="2800" dirty="0">
                <a:solidFill>
                  <a:schemeClr val="tx1"/>
                </a:solidFill>
                <a:latin typeface="黑体" panose="02010609060101010101" pitchFamily="2" charset="-122"/>
                <a:ea typeface="黑体" panose="02010609060101010101" pitchFamily="2" charset="-122"/>
              </a:rPr>
              <a:t> </a:t>
            </a:r>
            <a:r>
              <a:rPr lang="zh-CN" altLang="en-US" sz="2800" dirty="0">
                <a:solidFill>
                  <a:schemeClr val="accent1"/>
                </a:solidFill>
                <a:latin typeface="黑体" panose="02010609060101010101" pitchFamily="2" charset="-122"/>
                <a:ea typeface="黑体" panose="02010609060101010101" pitchFamily="2" charset="-122"/>
              </a:rPr>
              <a:t>内总线</a:t>
            </a:r>
            <a:r>
              <a:rPr lang="zh-CN" altLang="en-US" sz="2800" dirty="0">
                <a:solidFill>
                  <a:schemeClr val="tx1"/>
                </a:solidFill>
                <a:latin typeface="黑体" panose="02010609060101010101" pitchFamily="2" charset="-122"/>
                <a:ea typeface="黑体" panose="02010609060101010101" pitchFamily="2" charset="-122"/>
              </a:rPr>
              <a:t>  </a:t>
            </a:r>
            <a:r>
              <a:rPr lang="zh-CN" altLang="en-US" sz="2800" dirty="0">
                <a:solidFill>
                  <a:srgbClr val="FFFF00"/>
                </a:solidFill>
                <a:latin typeface="黑体" panose="02010609060101010101" pitchFamily="2" charset="-122"/>
                <a:ea typeface="黑体" panose="02010609060101010101" pitchFamily="2" charset="-122"/>
              </a:rPr>
              <a:t>局部总线  系统总线  </a:t>
            </a:r>
            <a:r>
              <a:rPr lang="zh-CN" altLang="en-US" sz="2800" dirty="0">
                <a:solidFill>
                  <a:schemeClr val="accent1"/>
                </a:solidFill>
                <a:latin typeface="黑体" panose="02010609060101010101" pitchFamily="2" charset="-122"/>
                <a:ea typeface="黑体" panose="02010609060101010101" pitchFamily="2" charset="-122"/>
              </a:rPr>
              <a:t>外总线</a:t>
            </a:r>
            <a:endParaRPr lang="zh-CN" altLang="en-US" sz="2800" dirty="0">
              <a:solidFill>
                <a:schemeClr val="accent1"/>
              </a:solidFill>
              <a:latin typeface="黑体" panose="02010609060101010101" pitchFamily="2" charset="-122"/>
              <a:ea typeface="黑体" panose="02010609060101010101" pitchFamily="2" charset="-122"/>
            </a:endParaRPr>
          </a:p>
        </p:txBody>
      </p:sp>
      <p:sp>
        <p:nvSpPr>
          <p:cNvPr id="27652" name="Text Box 4"/>
          <p:cNvSpPr txBox="1"/>
          <p:nvPr/>
        </p:nvSpPr>
        <p:spPr>
          <a:xfrm>
            <a:off x="395288" y="3443288"/>
            <a:ext cx="6553200" cy="1057275"/>
          </a:xfrm>
          <a:prstGeom prst="rect">
            <a:avLst/>
          </a:prstGeom>
          <a:noFill/>
          <a:ln w="12700">
            <a:noFill/>
          </a:ln>
        </p:spPr>
        <p:txBody>
          <a:bodyPr>
            <a:spAutoFit/>
          </a:bodyPr>
          <a:p>
            <a:pPr eaLnBrk="1" hangingPunct="1">
              <a:lnSpc>
                <a:spcPct val="120000"/>
              </a:lnSpc>
            </a:pPr>
            <a:r>
              <a:rPr lang="zh-CN" altLang="en-US" sz="2800" dirty="0">
                <a:solidFill>
                  <a:schemeClr val="tx1"/>
                </a:solidFill>
                <a:latin typeface="黑体" panose="02010609060101010101" pitchFamily="2" charset="-122"/>
                <a:ea typeface="黑体" panose="02010609060101010101" pitchFamily="2" charset="-122"/>
              </a:rPr>
              <a:t>（</a:t>
            </a:r>
            <a:r>
              <a:rPr lang="en-US" altLang="zh-CN" sz="2800" dirty="0">
                <a:solidFill>
                  <a:schemeClr val="tx1"/>
                </a:solidFill>
                <a:latin typeface="黑体" panose="02010609060101010101" pitchFamily="2" charset="-122"/>
                <a:ea typeface="黑体" panose="02010609060101010101" pitchFamily="2" charset="-122"/>
              </a:rPr>
              <a:t>2</a:t>
            </a:r>
            <a:r>
              <a:rPr lang="zh-CN" altLang="en-US" sz="2800" dirty="0">
                <a:solidFill>
                  <a:schemeClr val="tx1"/>
                </a:solidFill>
                <a:latin typeface="黑体" panose="02010609060101010101" pitchFamily="2" charset="-122"/>
                <a:ea typeface="黑体" panose="02010609060101010101" pitchFamily="2" charset="-122"/>
              </a:rPr>
              <a:t>）按数据传送格式分类</a:t>
            </a:r>
            <a:endParaRPr lang="zh-CN" altLang="en-US" sz="2800" dirty="0">
              <a:solidFill>
                <a:schemeClr val="tx1"/>
              </a:solidFill>
              <a:latin typeface="黑体" panose="02010609060101010101" pitchFamily="2" charset="-122"/>
              <a:ea typeface="黑体" panose="02010609060101010101" pitchFamily="2" charset="-122"/>
            </a:endParaRPr>
          </a:p>
          <a:p>
            <a:pPr eaLnBrk="1" hangingPunct="1">
              <a:lnSpc>
                <a:spcPct val="120000"/>
              </a:lnSpc>
            </a:pPr>
            <a:r>
              <a:rPr lang="zh-CN" altLang="en-US" sz="2800" dirty="0">
                <a:solidFill>
                  <a:schemeClr val="tx1"/>
                </a:solidFill>
                <a:latin typeface="黑体" panose="02010609060101010101" pitchFamily="2" charset="-122"/>
                <a:ea typeface="黑体" panose="02010609060101010101" pitchFamily="2" charset="-122"/>
              </a:rPr>
              <a:t> </a:t>
            </a:r>
            <a:r>
              <a:rPr lang="zh-CN" altLang="en-US" sz="2800" dirty="0">
                <a:solidFill>
                  <a:srgbClr val="FFFF00"/>
                </a:solidFill>
                <a:latin typeface="黑体" panose="02010609060101010101" pitchFamily="2" charset="-122"/>
                <a:ea typeface="黑体" panose="02010609060101010101" pitchFamily="2" charset="-122"/>
              </a:rPr>
              <a:t>并行总线 串行总线</a:t>
            </a:r>
            <a:endParaRPr lang="zh-CN" altLang="en-US" sz="2800" dirty="0">
              <a:solidFill>
                <a:srgbClr val="FFFF00"/>
              </a:solidFill>
              <a:latin typeface="黑体" panose="02010609060101010101" pitchFamily="2" charset="-122"/>
              <a:ea typeface="黑体" panose="02010609060101010101" pitchFamily="2" charset="-122"/>
            </a:endParaRPr>
          </a:p>
        </p:txBody>
      </p:sp>
      <p:sp>
        <p:nvSpPr>
          <p:cNvPr id="27653" name="Text Box 5"/>
          <p:cNvSpPr txBox="1"/>
          <p:nvPr/>
        </p:nvSpPr>
        <p:spPr>
          <a:xfrm>
            <a:off x="395288" y="4800600"/>
            <a:ext cx="6553200" cy="1057275"/>
          </a:xfrm>
          <a:prstGeom prst="rect">
            <a:avLst/>
          </a:prstGeom>
          <a:noFill/>
          <a:ln w="12700">
            <a:noFill/>
          </a:ln>
        </p:spPr>
        <p:txBody>
          <a:bodyPr>
            <a:spAutoFit/>
          </a:bodyPr>
          <a:p>
            <a:pPr eaLnBrk="1" hangingPunct="1">
              <a:lnSpc>
                <a:spcPct val="120000"/>
              </a:lnSpc>
            </a:pPr>
            <a:r>
              <a:rPr lang="zh-CN" altLang="en-US" sz="2800" dirty="0">
                <a:solidFill>
                  <a:schemeClr val="tx1"/>
                </a:solidFill>
                <a:latin typeface="黑体" panose="02010609060101010101" pitchFamily="2" charset="-122"/>
                <a:ea typeface="黑体" panose="02010609060101010101" pitchFamily="2" charset="-122"/>
              </a:rPr>
              <a:t>（</a:t>
            </a:r>
            <a:r>
              <a:rPr lang="en-US" altLang="zh-CN" sz="2800" dirty="0">
                <a:solidFill>
                  <a:schemeClr val="tx1"/>
                </a:solidFill>
                <a:latin typeface="黑体" panose="02010609060101010101" pitchFamily="2" charset="-122"/>
                <a:ea typeface="黑体" panose="02010609060101010101" pitchFamily="2" charset="-122"/>
              </a:rPr>
              <a:t>3</a:t>
            </a:r>
            <a:r>
              <a:rPr lang="zh-CN" altLang="en-US" sz="2800" dirty="0">
                <a:solidFill>
                  <a:schemeClr val="tx1"/>
                </a:solidFill>
                <a:latin typeface="黑体" panose="02010609060101010101" pitchFamily="2" charset="-122"/>
                <a:ea typeface="黑体" panose="02010609060101010101" pitchFamily="2" charset="-122"/>
              </a:rPr>
              <a:t>）按时序控制方式分类</a:t>
            </a:r>
            <a:endParaRPr lang="zh-CN" altLang="en-US" sz="2800" dirty="0">
              <a:solidFill>
                <a:schemeClr val="tx1"/>
              </a:solidFill>
              <a:latin typeface="黑体" panose="02010609060101010101" pitchFamily="2" charset="-122"/>
              <a:ea typeface="黑体" panose="02010609060101010101" pitchFamily="2" charset="-122"/>
            </a:endParaRPr>
          </a:p>
          <a:p>
            <a:pPr eaLnBrk="1" hangingPunct="1">
              <a:lnSpc>
                <a:spcPct val="120000"/>
              </a:lnSpc>
            </a:pPr>
            <a:r>
              <a:rPr lang="zh-CN" altLang="en-US" sz="2800" dirty="0">
                <a:solidFill>
                  <a:schemeClr val="tx1"/>
                </a:solidFill>
                <a:latin typeface="黑体" panose="02010609060101010101" pitchFamily="2" charset="-122"/>
                <a:ea typeface="黑体" panose="02010609060101010101" pitchFamily="2" charset="-122"/>
              </a:rPr>
              <a:t> </a:t>
            </a:r>
            <a:r>
              <a:rPr lang="zh-CN" altLang="en-US" sz="2800" dirty="0">
                <a:solidFill>
                  <a:srgbClr val="FFFF00"/>
                </a:solidFill>
                <a:latin typeface="黑体" panose="02010609060101010101" pitchFamily="2" charset="-122"/>
                <a:ea typeface="黑体" panose="02010609060101010101" pitchFamily="2" charset="-122"/>
              </a:rPr>
              <a:t>同步总线 异步总线</a:t>
            </a:r>
            <a:endParaRPr lang="zh-CN" altLang="en-US" sz="2800" dirty="0">
              <a:solidFill>
                <a:srgbClr val="FFFF00"/>
              </a:solidFill>
              <a:latin typeface="黑体" panose="02010609060101010101" pitchFamily="2" charset="-122"/>
              <a:ea typeface="黑体" panose="02010609060101010101" pitchFamily="2" charset="-122"/>
            </a:endParaRPr>
          </a:p>
        </p:txBody>
      </p:sp>
      <p:grpSp>
        <p:nvGrpSpPr>
          <p:cNvPr id="2" name="组合 14"/>
          <p:cNvGrpSpPr/>
          <p:nvPr/>
        </p:nvGrpSpPr>
        <p:grpSpPr>
          <a:xfrm>
            <a:off x="546100" y="2214563"/>
            <a:ext cx="1266825" cy="1071562"/>
            <a:chOff x="546758" y="2214554"/>
            <a:chExt cx="1266693" cy="1071570"/>
          </a:xfrm>
        </p:grpSpPr>
        <p:sp>
          <p:nvSpPr>
            <p:cNvPr id="7185" name="TextBox 6"/>
            <p:cNvSpPr txBox="1"/>
            <p:nvPr/>
          </p:nvSpPr>
          <p:spPr>
            <a:xfrm>
              <a:off x="546758" y="2762904"/>
              <a:ext cx="1266693" cy="523220"/>
            </a:xfrm>
            <a:prstGeom prst="rect">
              <a:avLst/>
            </a:prstGeom>
            <a:noFill/>
            <a:ln w="9525">
              <a:noFill/>
            </a:ln>
          </p:spPr>
          <p:txBody>
            <a:bodyPr wrap="none">
              <a:spAutoFit/>
            </a:bodyPr>
            <a:p>
              <a:pPr algn="ctr" eaLnBrk="1" hangingPunct="1"/>
              <a:r>
                <a:rPr lang="zh-CN" altLang="en-US" sz="2800" dirty="0">
                  <a:solidFill>
                    <a:srgbClr val="00FF00"/>
                  </a:solidFill>
                  <a:latin typeface="宋体" panose="02010600030101010101" pitchFamily="2" charset="-122"/>
                </a:rPr>
                <a:t>芯片内</a:t>
              </a:r>
              <a:endParaRPr lang="zh-CN" altLang="en-US" sz="2800" dirty="0">
                <a:solidFill>
                  <a:srgbClr val="00FF00"/>
                </a:solidFill>
                <a:latin typeface="宋体" panose="02010600030101010101" pitchFamily="2" charset="-122"/>
              </a:endParaRPr>
            </a:p>
          </p:txBody>
        </p:sp>
        <p:sp>
          <p:nvSpPr>
            <p:cNvPr id="7186" name="下箭头 10"/>
            <p:cNvSpPr/>
            <p:nvPr/>
          </p:nvSpPr>
          <p:spPr>
            <a:xfrm>
              <a:off x="1000100" y="2214554"/>
              <a:ext cx="432000" cy="540000"/>
            </a:xfrm>
            <a:prstGeom prst="downArrow">
              <a:avLst>
                <a:gd name="adj1" fmla="val 50000"/>
                <a:gd name="adj2" fmla="val 50000"/>
              </a:avLst>
            </a:prstGeom>
            <a:solidFill>
              <a:schemeClr val="accent1"/>
            </a:solidFill>
            <a:ln w="12700" cap="sq" cmpd="sng">
              <a:solidFill>
                <a:schemeClr val="tx1"/>
              </a:solidFill>
              <a:prstDash val="solid"/>
              <a:round/>
              <a:headEnd type="none" w="med" len="med"/>
              <a:tailEnd type="none" w="med" len="med"/>
            </a:ln>
          </p:spPr>
          <p:txBody>
            <a:bodyPr anchor="ctr" anchorCtr="0">
              <a:spAutoFit/>
            </a:bodyPr>
            <a:p>
              <a:pPr algn="ctr" eaLnBrk="1" hangingPunct="1"/>
              <a:endParaRPr lang="zh-CN" altLang="en-US" dirty="0">
                <a:latin typeface="宋体" panose="02010600030101010101" pitchFamily="2" charset="-122"/>
              </a:endParaRPr>
            </a:p>
          </p:txBody>
        </p:sp>
      </p:grpSp>
      <p:grpSp>
        <p:nvGrpSpPr>
          <p:cNvPr id="3" name="组合 15"/>
          <p:cNvGrpSpPr/>
          <p:nvPr/>
        </p:nvGrpSpPr>
        <p:grpSpPr>
          <a:xfrm>
            <a:off x="2152650" y="2214563"/>
            <a:ext cx="1266825" cy="1046162"/>
            <a:chOff x="2152646" y="2214554"/>
            <a:chExt cx="1266693" cy="1046856"/>
          </a:xfrm>
        </p:grpSpPr>
        <p:sp>
          <p:nvSpPr>
            <p:cNvPr id="7183" name="TextBox 7"/>
            <p:cNvSpPr txBox="1"/>
            <p:nvPr/>
          </p:nvSpPr>
          <p:spPr>
            <a:xfrm>
              <a:off x="2152646" y="2738190"/>
              <a:ext cx="1266693" cy="523220"/>
            </a:xfrm>
            <a:prstGeom prst="rect">
              <a:avLst/>
            </a:prstGeom>
            <a:noFill/>
            <a:ln w="9525">
              <a:noFill/>
            </a:ln>
          </p:spPr>
          <p:txBody>
            <a:bodyPr wrap="none">
              <a:spAutoFit/>
            </a:bodyPr>
            <a:p>
              <a:pPr algn="ctr" eaLnBrk="1" hangingPunct="1"/>
              <a:r>
                <a:rPr lang="zh-CN" altLang="en-US" sz="2800" dirty="0">
                  <a:solidFill>
                    <a:srgbClr val="00FF00"/>
                  </a:solidFill>
                  <a:latin typeface="宋体" panose="02010600030101010101" pitchFamily="2" charset="-122"/>
                </a:rPr>
                <a:t>板卡内</a:t>
              </a:r>
              <a:endParaRPr lang="zh-CN" altLang="en-US" sz="2800" dirty="0">
                <a:solidFill>
                  <a:srgbClr val="00FF00"/>
                </a:solidFill>
                <a:latin typeface="宋体" panose="02010600030101010101" pitchFamily="2" charset="-122"/>
              </a:endParaRPr>
            </a:p>
          </p:txBody>
        </p:sp>
        <p:sp>
          <p:nvSpPr>
            <p:cNvPr id="7184" name="下箭头 11"/>
            <p:cNvSpPr/>
            <p:nvPr/>
          </p:nvSpPr>
          <p:spPr>
            <a:xfrm>
              <a:off x="2571736" y="2214554"/>
              <a:ext cx="432000" cy="540000"/>
            </a:xfrm>
            <a:prstGeom prst="downArrow">
              <a:avLst>
                <a:gd name="adj1" fmla="val 50000"/>
                <a:gd name="adj2" fmla="val 50000"/>
              </a:avLst>
            </a:prstGeom>
            <a:solidFill>
              <a:schemeClr val="accent1"/>
            </a:solidFill>
            <a:ln w="12700" cap="sq" cmpd="sng">
              <a:solidFill>
                <a:schemeClr val="tx1"/>
              </a:solidFill>
              <a:prstDash val="solid"/>
              <a:round/>
              <a:headEnd type="none" w="med" len="med"/>
              <a:tailEnd type="none" w="med" len="med"/>
            </a:ln>
          </p:spPr>
          <p:txBody>
            <a:bodyPr anchor="ctr" anchorCtr="0">
              <a:spAutoFit/>
            </a:bodyPr>
            <a:p>
              <a:pPr algn="ctr" eaLnBrk="1" hangingPunct="1"/>
              <a:endParaRPr lang="zh-CN" altLang="en-US" dirty="0">
                <a:latin typeface="宋体" panose="02010600030101010101" pitchFamily="2" charset="-122"/>
              </a:endParaRPr>
            </a:p>
          </p:txBody>
        </p:sp>
      </p:grpSp>
      <p:grpSp>
        <p:nvGrpSpPr>
          <p:cNvPr id="4" name="组合 16"/>
          <p:cNvGrpSpPr/>
          <p:nvPr/>
        </p:nvGrpSpPr>
        <p:grpSpPr>
          <a:xfrm>
            <a:off x="3786188" y="2214563"/>
            <a:ext cx="1627187" cy="1046162"/>
            <a:chOff x="3786182" y="2214554"/>
            <a:chExt cx="1627370" cy="1046856"/>
          </a:xfrm>
        </p:grpSpPr>
        <p:sp>
          <p:nvSpPr>
            <p:cNvPr id="7181" name="TextBox 8"/>
            <p:cNvSpPr txBox="1"/>
            <p:nvPr/>
          </p:nvSpPr>
          <p:spPr>
            <a:xfrm>
              <a:off x="3786182" y="2738190"/>
              <a:ext cx="1627370" cy="523220"/>
            </a:xfrm>
            <a:prstGeom prst="rect">
              <a:avLst/>
            </a:prstGeom>
            <a:noFill/>
            <a:ln w="9525">
              <a:noFill/>
            </a:ln>
          </p:spPr>
          <p:txBody>
            <a:bodyPr wrap="none">
              <a:spAutoFit/>
            </a:bodyPr>
            <a:p>
              <a:pPr algn="ctr" eaLnBrk="1" hangingPunct="1"/>
              <a:r>
                <a:rPr lang="zh-CN" altLang="en-US" sz="2800" dirty="0">
                  <a:solidFill>
                    <a:srgbClr val="00FF00"/>
                  </a:solidFill>
                  <a:latin typeface="宋体" panose="02010600030101010101" pitchFamily="2" charset="-122"/>
                </a:rPr>
                <a:t>计算机内</a:t>
              </a:r>
              <a:endParaRPr lang="zh-CN" altLang="en-US" sz="2800" dirty="0">
                <a:solidFill>
                  <a:srgbClr val="00FF00"/>
                </a:solidFill>
                <a:latin typeface="宋体" panose="02010600030101010101" pitchFamily="2" charset="-122"/>
              </a:endParaRPr>
            </a:p>
          </p:txBody>
        </p:sp>
        <p:sp>
          <p:nvSpPr>
            <p:cNvPr id="7182" name="下箭头 12"/>
            <p:cNvSpPr/>
            <p:nvPr/>
          </p:nvSpPr>
          <p:spPr>
            <a:xfrm>
              <a:off x="4429124" y="2214554"/>
              <a:ext cx="432000" cy="540000"/>
            </a:xfrm>
            <a:prstGeom prst="downArrow">
              <a:avLst>
                <a:gd name="adj1" fmla="val 50000"/>
                <a:gd name="adj2" fmla="val 50000"/>
              </a:avLst>
            </a:prstGeom>
            <a:solidFill>
              <a:schemeClr val="accent1"/>
            </a:solidFill>
            <a:ln w="12700" cap="sq" cmpd="sng">
              <a:solidFill>
                <a:schemeClr val="tx1"/>
              </a:solidFill>
              <a:prstDash val="solid"/>
              <a:round/>
              <a:headEnd type="none" w="med" len="med"/>
              <a:tailEnd type="none" w="med" len="med"/>
            </a:ln>
          </p:spPr>
          <p:txBody>
            <a:bodyPr anchor="ctr" anchorCtr="0">
              <a:spAutoFit/>
            </a:bodyPr>
            <a:p>
              <a:pPr algn="ctr" eaLnBrk="1" hangingPunct="1"/>
              <a:endParaRPr lang="zh-CN" altLang="en-US" dirty="0">
                <a:latin typeface="宋体" panose="02010600030101010101" pitchFamily="2" charset="-122"/>
              </a:endParaRPr>
            </a:p>
          </p:txBody>
        </p:sp>
      </p:grpSp>
      <p:grpSp>
        <p:nvGrpSpPr>
          <p:cNvPr id="5" name="组合 17"/>
          <p:cNvGrpSpPr/>
          <p:nvPr/>
        </p:nvGrpSpPr>
        <p:grpSpPr>
          <a:xfrm>
            <a:off x="5500688" y="2214563"/>
            <a:ext cx="1627187" cy="1046162"/>
            <a:chOff x="5500694" y="2214554"/>
            <a:chExt cx="1627369" cy="1046856"/>
          </a:xfrm>
        </p:grpSpPr>
        <p:sp>
          <p:nvSpPr>
            <p:cNvPr id="7179" name="TextBox 9"/>
            <p:cNvSpPr txBox="1"/>
            <p:nvPr/>
          </p:nvSpPr>
          <p:spPr>
            <a:xfrm>
              <a:off x="5500694" y="2738190"/>
              <a:ext cx="1627369" cy="523220"/>
            </a:xfrm>
            <a:prstGeom prst="rect">
              <a:avLst/>
            </a:prstGeom>
            <a:noFill/>
            <a:ln w="9525">
              <a:noFill/>
            </a:ln>
          </p:spPr>
          <p:txBody>
            <a:bodyPr wrap="none">
              <a:spAutoFit/>
            </a:bodyPr>
            <a:p>
              <a:pPr algn="ctr" eaLnBrk="1" hangingPunct="1"/>
              <a:r>
                <a:rPr lang="zh-CN" altLang="en-US" sz="2800" dirty="0">
                  <a:solidFill>
                    <a:srgbClr val="00FF00"/>
                  </a:solidFill>
                  <a:latin typeface="宋体" panose="02010600030101010101" pitchFamily="2" charset="-122"/>
                </a:rPr>
                <a:t>多机集群</a:t>
              </a:r>
              <a:endParaRPr lang="zh-CN" altLang="en-US" sz="2800" dirty="0">
                <a:solidFill>
                  <a:srgbClr val="00FF00"/>
                </a:solidFill>
                <a:latin typeface="宋体" panose="02010600030101010101" pitchFamily="2" charset="-122"/>
              </a:endParaRPr>
            </a:p>
          </p:txBody>
        </p:sp>
        <p:sp>
          <p:nvSpPr>
            <p:cNvPr id="7180" name="下箭头 13"/>
            <p:cNvSpPr/>
            <p:nvPr/>
          </p:nvSpPr>
          <p:spPr>
            <a:xfrm>
              <a:off x="6000760" y="2214554"/>
              <a:ext cx="432000" cy="540000"/>
            </a:xfrm>
            <a:prstGeom prst="downArrow">
              <a:avLst>
                <a:gd name="adj1" fmla="val 50000"/>
                <a:gd name="adj2" fmla="val 50000"/>
              </a:avLst>
            </a:prstGeom>
            <a:solidFill>
              <a:schemeClr val="accent1"/>
            </a:solidFill>
            <a:ln w="12700" cap="sq" cmpd="sng">
              <a:solidFill>
                <a:schemeClr val="tx1"/>
              </a:solidFill>
              <a:prstDash val="solid"/>
              <a:round/>
              <a:headEnd type="none" w="med" len="med"/>
              <a:tailEnd type="none" w="med" len="med"/>
            </a:ln>
          </p:spPr>
          <p:txBody>
            <a:bodyPr anchor="ctr" anchorCtr="0">
              <a:spAutoFit/>
            </a:bodyPr>
            <a:p>
              <a:pPr algn="ctr" eaLnBrk="1" hangingPunct="1"/>
              <a:endParaRPr lang="zh-CN" altLang="en-US" dirty="0">
                <a:latin typeface="宋体" panose="02010600030101010101" pitchFamily="2" charset="-122"/>
              </a:endParaRPr>
            </a:p>
          </p:txBody>
        </p:sp>
      </p:grpSp>
    </p:spTree>
  </p:cSld>
  <p:clrMapOvr>
    <a:masterClrMapping/>
  </p:clrMapOvr>
  <p:transition spd="slow">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ext Box 2"/>
          <p:cNvSpPr txBox="1"/>
          <p:nvPr/>
        </p:nvSpPr>
        <p:spPr>
          <a:xfrm>
            <a:off x="250825" y="115888"/>
            <a:ext cx="6553200" cy="579437"/>
          </a:xfrm>
          <a:prstGeom prst="rect">
            <a:avLst/>
          </a:prstGeom>
          <a:noFill/>
          <a:ln w="12700">
            <a:noFill/>
          </a:ln>
        </p:spPr>
        <p:txBody>
          <a:bodyPr>
            <a:spAutoFit/>
          </a:bodyPr>
          <a:p>
            <a:pPr eaLnBrk="1" hangingPunct="1">
              <a:spcBef>
                <a:spcPct val="50000"/>
              </a:spcBef>
            </a:pPr>
            <a:r>
              <a:rPr lang="en-US" altLang="zh-CN" dirty="0">
                <a:solidFill>
                  <a:srgbClr val="FFFF00"/>
                </a:solidFill>
                <a:latin typeface="黑体" panose="02010609060101010101" pitchFamily="2" charset="-122"/>
                <a:ea typeface="黑体" panose="02010609060101010101" pitchFamily="2" charset="-122"/>
              </a:rPr>
              <a:t>5.2.2 </a:t>
            </a:r>
            <a:r>
              <a:rPr lang="zh-CN" altLang="en-US" dirty="0">
                <a:solidFill>
                  <a:srgbClr val="FFFF00"/>
                </a:solidFill>
                <a:latin typeface="黑体" panose="02010609060101010101" pitchFamily="2" charset="-122"/>
                <a:ea typeface="黑体" panose="02010609060101010101" pitchFamily="2" charset="-122"/>
              </a:rPr>
              <a:t>总线的标准</a:t>
            </a:r>
            <a:endParaRPr lang="en-US" altLang="zh-CN" dirty="0">
              <a:solidFill>
                <a:srgbClr val="FFFF00"/>
              </a:solidFill>
              <a:latin typeface="黑体" panose="02010609060101010101" pitchFamily="2" charset="-122"/>
              <a:ea typeface="黑体" panose="02010609060101010101" pitchFamily="2" charset="-122"/>
            </a:endParaRPr>
          </a:p>
        </p:txBody>
      </p:sp>
      <p:sp>
        <p:nvSpPr>
          <p:cNvPr id="43014" name="Text Box 6"/>
          <p:cNvSpPr txBox="1"/>
          <p:nvPr/>
        </p:nvSpPr>
        <p:spPr>
          <a:xfrm>
            <a:off x="179388" y="1592263"/>
            <a:ext cx="8280400" cy="1117600"/>
          </a:xfrm>
          <a:prstGeom prst="rect">
            <a:avLst/>
          </a:prstGeom>
          <a:noFill/>
          <a:ln w="12700">
            <a:noFill/>
          </a:ln>
        </p:spPr>
        <p:txBody>
          <a:bodyPr>
            <a:spAutoFit/>
          </a:bodyPr>
          <a:p>
            <a:pPr algn="just" eaLnBrk="1" hangingPunct="1">
              <a:lnSpc>
                <a:spcPts val="4000"/>
              </a:lnSpc>
            </a:pPr>
            <a:r>
              <a:rPr lang="zh-CN" altLang="en-US" sz="2800" dirty="0">
                <a:solidFill>
                  <a:srgbClr val="00FF00"/>
                </a:solidFill>
                <a:latin typeface="黑体" panose="02010609060101010101" pitchFamily="2" charset="-122"/>
                <a:ea typeface="黑体" panose="02010609060101010101" pitchFamily="2" charset="-122"/>
              </a:rPr>
              <a:t>√</a:t>
            </a:r>
            <a:r>
              <a:rPr lang="zh-CN" altLang="en-US" sz="2800" dirty="0">
                <a:solidFill>
                  <a:schemeClr val="tx1"/>
                </a:solidFill>
                <a:latin typeface="黑体" panose="02010609060101010101" pitchFamily="2" charset="-122"/>
                <a:ea typeface="黑体" panose="02010609060101010101" pitchFamily="2" charset="-122"/>
              </a:rPr>
              <a:t>为了使不同部件都连接到总线上并与之交互通信，就必须制定公共的技术规范。</a:t>
            </a:r>
            <a:endParaRPr lang="zh-CN" altLang="en-US" sz="2800" dirty="0">
              <a:solidFill>
                <a:schemeClr val="tx1"/>
              </a:solidFill>
              <a:latin typeface="黑体" panose="02010609060101010101" pitchFamily="2" charset="-122"/>
              <a:ea typeface="黑体" panose="02010609060101010101" pitchFamily="2" charset="-122"/>
            </a:endParaRPr>
          </a:p>
        </p:txBody>
      </p:sp>
      <p:sp>
        <p:nvSpPr>
          <p:cNvPr id="43015" name="Text Box 7"/>
          <p:cNvSpPr txBox="1"/>
          <p:nvPr/>
        </p:nvSpPr>
        <p:spPr>
          <a:xfrm>
            <a:off x="250825" y="904875"/>
            <a:ext cx="5473700" cy="579438"/>
          </a:xfrm>
          <a:prstGeom prst="rect">
            <a:avLst/>
          </a:prstGeom>
          <a:noFill/>
          <a:ln w="12700">
            <a:noFill/>
          </a:ln>
        </p:spPr>
        <p:txBody>
          <a:bodyPr>
            <a:spAutoFit/>
          </a:bodyPr>
          <a:p>
            <a:pPr eaLnBrk="1" hangingPunct="1"/>
            <a:r>
              <a:rPr lang="en-US" altLang="zh-CN" dirty="0">
                <a:solidFill>
                  <a:schemeClr val="accent1"/>
                </a:solidFill>
                <a:latin typeface="黑体" panose="02010609060101010101" pitchFamily="2" charset="-122"/>
                <a:ea typeface="黑体" panose="02010609060101010101" pitchFamily="2" charset="-122"/>
              </a:rPr>
              <a:t>1</a:t>
            </a:r>
            <a:r>
              <a:rPr lang="zh-CN" altLang="en-US" dirty="0">
                <a:solidFill>
                  <a:schemeClr val="accent1"/>
                </a:solidFill>
                <a:latin typeface="黑体" panose="02010609060101010101" pitchFamily="2" charset="-122"/>
                <a:ea typeface="黑体" panose="02010609060101010101" pitchFamily="2" charset="-122"/>
              </a:rPr>
              <a:t>、为何要制定总线标准？</a:t>
            </a:r>
            <a:endParaRPr lang="zh-CN" altLang="en-US" dirty="0">
              <a:solidFill>
                <a:schemeClr val="accent1"/>
              </a:solidFill>
              <a:latin typeface="黑体" panose="02010609060101010101" pitchFamily="2" charset="-122"/>
              <a:ea typeface="黑体" panose="02010609060101010101" pitchFamily="2" charset="-122"/>
            </a:endParaRPr>
          </a:p>
        </p:txBody>
      </p:sp>
      <p:sp>
        <p:nvSpPr>
          <p:cNvPr id="54276" name="Text Box 4"/>
          <p:cNvSpPr txBox="1"/>
          <p:nvPr/>
        </p:nvSpPr>
        <p:spPr>
          <a:xfrm>
            <a:off x="184150" y="3514725"/>
            <a:ext cx="4586288" cy="557213"/>
          </a:xfrm>
          <a:prstGeom prst="rect">
            <a:avLst/>
          </a:prstGeom>
          <a:noFill/>
          <a:ln w="22225">
            <a:noFill/>
          </a:ln>
        </p:spPr>
        <p:txBody>
          <a:bodyPr lIns="90000" tIns="46800" rIns="90000" bIns="46800">
            <a:spAutoFit/>
          </a:bodyPr>
          <a:p>
            <a:pPr eaLnBrk="1" hangingPunct="1">
              <a:spcBef>
                <a:spcPct val="50000"/>
              </a:spcBef>
            </a:pPr>
            <a:r>
              <a:rPr lang="zh-CN" altLang="en-US" sz="3000" dirty="0">
                <a:solidFill>
                  <a:srgbClr val="FFFF00"/>
                </a:solidFill>
                <a:latin typeface="黑体" panose="02010609060101010101" pitchFamily="2" charset="-122"/>
                <a:ea typeface="黑体" panose="02010609060101010101" pitchFamily="2" charset="-122"/>
              </a:rPr>
              <a:t>采用总线结构的好处</a:t>
            </a:r>
            <a:r>
              <a:rPr lang="en-US" altLang="zh-CN" sz="3000" dirty="0">
                <a:solidFill>
                  <a:srgbClr val="FFFF00"/>
                </a:solidFill>
                <a:latin typeface="黑体" panose="02010609060101010101" pitchFamily="2" charset="-122"/>
                <a:ea typeface="黑体" panose="02010609060101010101" pitchFamily="2" charset="-122"/>
              </a:rPr>
              <a:t>:</a:t>
            </a:r>
            <a:endParaRPr lang="en-US" altLang="zh-CN" sz="3000" dirty="0">
              <a:solidFill>
                <a:srgbClr val="FFFF00"/>
              </a:solidFill>
              <a:latin typeface="黑体" panose="02010609060101010101" pitchFamily="2" charset="-122"/>
              <a:ea typeface="黑体" panose="02010609060101010101" pitchFamily="2" charset="-122"/>
            </a:endParaRPr>
          </a:p>
        </p:txBody>
      </p:sp>
      <p:sp>
        <p:nvSpPr>
          <p:cNvPr id="54277" name="Text Box 5"/>
          <p:cNvSpPr txBox="1"/>
          <p:nvPr/>
        </p:nvSpPr>
        <p:spPr>
          <a:xfrm>
            <a:off x="223838" y="4141788"/>
            <a:ext cx="8396287" cy="1501775"/>
          </a:xfrm>
          <a:prstGeom prst="rect">
            <a:avLst/>
          </a:prstGeom>
          <a:noFill/>
          <a:ln w="22225">
            <a:noFill/>
          </a:ln>
        </p:spPr>
        <p:txBody>
          <a:bodyPr lIns="90000" tIns="46800" rIns="90000" bIns="46800">
            <a:spAutoFit/>
          </a:bodyPr>
          <a:p>
            <a:pPr eaLnBrk="1" hangingPunct="1">
              <a:lnSpc>
                <a:spcPct val="110000"/>
              </a:lnSpc>
              <a:buNone/>
            </a:pPr>
            <a:r>
              <a:rPr lang="en-US" altLang="zh-CN" sz="2800" dirty="0">
                <a:solidFill>
                  <a:schemeClr val="tx1"/>
                </a:solidFill>
                <a:latin typeface="黑体" panose="02010609060101010101" pitchFamily="2" charset="-122"/>
                <a:ea typeface="黑体" panose="02010609060101010101" pitchFamily="2" charset="-122"/>
              </a:rPr>
              <a:t>① </a:t>
            </a:r>
            <a:r>
              <a:rPr lang="zh-CN" altLang="en-US" sz="2800" dirty="0">
                <a:solidFill>
                  <a:schemeClr val="tx1"/>
                </a:solidFill>
                <a:latin typeface="黑体" panose="02010609060101010101" pitchFamily="2" charset="-122"/>
                <a:ea typeface="黑体" panose="02010609060101010101" pitchFamily="2" charset="-122"/>
              </a:rPr>
              <a:t>技术工程角度：简化硬件设计、易于扩充</a:t>
            </a:r>
            <a:r>
              <a:rPr lang="en-US" altLang="zh-CN" sz="2800" dirty="0">
                <a:solidFill>
                  <a:schemeClr val="tx1"/>
                </a:solidFill>
                <a:latin typeface="黑体" panose="02010609060101010101" pitchFamily="2" charset="-122"/>
                <a:ea typeface="黑体" panose="02010609060101010101" pitchFamily="2" charset="-122"/>
              </a:rPr>
              <a:t>; </a:t>
            </a:r>
            <a:endParaRPr lang="en-US" altLang="zh-CN" sz="2800" dirty="0">
              <a:solidFill>
                <a:schemeClr val="tx1"/>
              </a:solidFill>
              <a:latin typeface="黑体" panose="02010609060101010101" pitchFamily="2" charset="-122"/>
              <a:ea typeface="黑体" panose="02010609060101010101" pitchFamily="2" charset="-122"/>
            </a:endParaRPr>
          </a:p>
          <a:p>
            <a:pPr eaLnBrk="1" hangingPunct="1">
              <a:lnSpc>
                <a:spcPct val="110000"/>
              </a:lnSpc>
              <a:buNone/>
            </a:pPr>
            <a:r>
              <a:rPr lang="en-US" altLang="zh-CN" sz="2800" dirty="0">
                <a:solidFill>
                  <a:schemeClr val="tx1"/>
                </a:solidFill>
                <a:latin typeface="黑体" panose="02010609060101010101" pitchFamily="2" charset="-122"/>
                <a:ea typeface="黑体" panose="02010609060101010101" pitchFamily="2" charset="-122"/>
              </a:rPr>
              <a:t>② </a:t>
            </a:r>
            <a:r>
              <a:rPr lang="zh-CN" altLang="en-US" sz="2800" dirty="0">
                <a:solidFill>
                  <a:schemeClr val="tx1"/>
                </a:solidFill>
                <a:latin typeface="黑体" panose="02010609060101010101" pitchFamily="2" charset="-122"/>
                <a:ea typeface="黑体" panose="02010609060101010101" pitchFamily="2" charset="-122"/>
              </a:rPr>
              <a:t>从用户的角度：具有</a:t>
            </a:r>
            <a:r>
              <a:rPr lang="zh-CN" altLang="en-US" sz="2800" dirty="0">
                <a:solidFill>
                  <a:schemeClr val="tx1"/>
                </a:solidFill>
                <a:latin typeface="Times New Roman" panose="02020603050405020304" pitchFamily="18" charset="0"/>
                <a:ea typeface="黑体" panose="02010609060101010101" pitchFamily="2" charset="-122"/>
              </a:rPr>
              <a:t>“</a:t>
            </a:r>
            <a:r>
              <a:rPr lang="zh-CN" altLang="en-US" sz="2800" dirty="0">
                <a:solidFill>
                  <a:schemeClr val="tx1"/>
                </a:solidFill>
                <a:latin typeface="黑体" panose="02010609060101010101" pitchFamily="2" charset="-122"/>
                <a:ea typeface="黑体" panose="02010609060101010101" pitchFamily="2" charset="-122"/>
              </a:rPr>
              <a:t>易获得性</a:t>
            </a:r>
            <a:r>
              <a:rPr lang="zh-CN" altLang="en-US" sz="2800" dirty="0">
                <a:solidFill>
                  <a:schemeClr val="tx1"/>
                </a:solidFill>
                <a:latin typeface="Times New Roman" panose="02020603050405020304" pitchFamily="18" charset="0"/>
                <a:ea typeface="黑体" panose="02010609060101010101" pitchFamily="2" charset="-122"/>
              </a:rPr>
              <a:t>”</a:t>
            </a:r>
            <a:r>
              <a:rPr lang="en-US" altLang="zh-CN" sz="2800" dirty="0">
                <a:solidFill>
                  <a:schemeClr val="tx1"/>
                </a:solidFill>
                <a:latin typeface="黑体" panose="02010609060101010101" pitchFamily="2" charset="-122"/>
                <a:ea typeface="黑体" panose="02010609060101010101" pitchFamily="2" charset="-122"/>
              </a:rPr>
              <a:t>;</a:t>
            </a:r>
            <a:endParaRPr lang="en-US" altLang="zh-CN" sz="2800" dirty="0">
              <a:solidFill>
                <a:schemeClr val="tx1"/>
              </a:solidFill>
              <a:latin typeface="黑体" panose="02010609060101010101" pitchFamily="2" charset="-122"/>
              <a:ea typeface="黑体" panose="02010609060101010101" pitchFamily="2" charset="-122"/>
            </a:endParaRPr>
          </a:p>
          <a:p>
            <a:pPr eaLnBrk="1" hangingPunct="1">
              <a:lnSpc>
                <a:spcPct val="110000"/>
              </a:lnSpc>
              <a:buNone/>
            </a:pPr>
            <a:r>
              <a:rPr lang="en-US" altLang="zh-CN" sz="2800" dirty="0">
                <a:solidFill>
                  <a:schemeClr val="tx1"/>
                </a:solidFill>
                <a:latin typeface="黑体" panose="02010609060101010101" pitchFamily="2" charset="-122"/>
                <a:ea typeface="黑体" panose="02010609060101010101" pitchFamily="2" charset="-122"/>
              </a:rPr>
              <a:t>③ </a:t>
            </a:r>
            <a:r>
              <a:rPr lang="zh-CN" altLang="en-US" sz="2800" dirty="0">
                <a:solidFill>
                  <a:schemeClr val="tx1"/>
                </a:solidFill>
                <a:latin typeface="黑体" panose="02010609060101010101" pitchFamily="2" charset="-122"/>
                <a:ea typeface="黑体" panose="02010609060101010101" pitchFamily="2" charset="-122"/>
              </a:rPr>
              <a:t>从厂商的角度：易于批量生产、降低成本。</a:t>
            </a:r>
            <a:endParaRPr lang="zh-CN" altLang="en-US" sz="2800" dirty="0">
              <a:solidFill>
                <a:schemeClr val="tx1"/>
              </a:solidFill>
              <a:latin typeface="黑体" panose="02010609060101010101" pitchFamily="2" charset="-122"/>
              <a:ea typeface="黑体" panose="02010609060101010101" pitchFamily="2" charset="-122"/>
            </a:endParaRPr>
          </a:p>
        </p:txBody>
      </p:sp>
      <p:sp>
        <p:nvSpPr>
          <p:cNvPr id="54279" name="Text Box 7"/>
          <p:cNvSpPr txBox="1"/>
          <p:nvPr/>
        </p:nvSpPr>
        <p:spPr>
          <a:xfrm>
            <a:off x="179388" y="2708275"/>
            <a:ext cx="5678487" cy="523875"/>
          </a:xfrm>
          <a:prstGeom prst="rect">
            <a:avLst/>
          </a:prstGeom>
          <a:noFill/>
          <a:ln w="12700">
            <a:noFill/>
          </a:ln>
        </p:spPr>
        <p:txBody>
          <a:bodyPr>
            <a:spAutoFit/>
          </a:bodyPr>
          <a:p>
            <a:pPr eaLnBrk="1" hangingPunct="1">
              <a:spcBef>
                <a:spcPct val="50000"/>
              </a:spcBef>
            </a:pPr>
            <a:r>
              <a:rPr lang="zh-CN" altLang="en-US" sz="2800" dirty="0">
                <a:solidFill>
                  <a:srgbClr val="00FF00"/>
                </a:solidFill>
                <a:latin typeface="黑体" panose="02010609060101010101" pitchFamily="2" charset="-122"/>
                <a:ea typeface="黑体" panose="02010609060101010101" pitchFamily="2" charset="-122"/>
              </a:rPr>
              <a:t>√</a:t>
            </a:r>
            <a:r>
              <a:rPr lang="zh-CN" altLang="en-US" sz="2800" dirty="0">
                <a:solidFill>
                  <a:schemeClr val="tx1"/>
                </a:solidFill>
                <a:latin typeface="黑体" panose="02010609060101010101" pitchFamily="2" charset="-122"/>
                <a:ea typeface="黑体" panose="02010609060101010101" pitchFamily="2" charset="-122"/>
              </a:rPr>
              <a:t>便于灵活组成计算机系统。</a:t>
            </a:r>
            <a:endParaRPr lang="zh-CN" altLang="en-US" sz="2800" dirty="0">
              <a:solidFill>
                <a:schemeClr val="tx1"/>
              </a:solidFill>
              <a:latin typeface="黑体" panose="02010609060101010101" pitchFamily="2" charset="-122"/>
              <a:ea typeface="黑体" panose="02010609060101010101" pitchFamily="2" charset="-122"/>
            </a:endParaRPr>
          </a:p>
        </p:txBody>
      </p:sp>
    </p:spTree>
  </p:cSld>
  <p:clrMapOvr>
    <a:masterClrMapping/>
  </p:clrMapOvr>
  <p:transition spd="slow">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11" name="Text Box 7"/>
          <p:cNvSpPr txBox="1"/>
          <p:nvPr/>
        </p:nvSpPr>
        <p:spPr>
          <a:xfrm>
            <a:off x="307975" y="188913"/>
            <a:ext cx="5473700" cy="579437"/>
          </a:xfrm>
          <a:prstGeom prst="rect">
            <a:avLst/>
          </a:prstGeom>
          <a:noFill/>
          <a:ln w="12700">
            <a:noFill/>
          </a:ln>
        </p:spPr>
        <p:txBody>
          <a:bodyPr>
            <a:spAutoFit/>
          </a:bodyPr>
          <a:p>
            <a:pPr eaLnBrk="1" hangingPunct="1"/>
            <a:r>
              <a:rPr lang="en-US" altLang="zh-CN" dirty="0">
                <a:solidFill>
                  <a:schemeClr val="folHlink"/>
                </a:solidFill>
                <a:latin typeface="黑体" panose="02010609060101010101" pitchFamily="2" charset="-122"/>
                <a:ea typeface="黑体" panose="02010609060101010101" pitchFamily="2" charset="-122"/>
              </a:rPr>
              <a:t>2</a:t>
            </a:r>
            <a:r>
              <a:rPr lang="zh-CN" altLang="en-US" dirty="0">
                <a:solidFill>
                  <a:schemeClr val="folHlink"/>
                </a:solidFill>
                <a:latin typeface="黑体" panose="02010609060101010101" pitchFamily="2" charset="-122"/>
                <a:ea typeface="黑体" panose="02010609060101010101" pitchFamily="2" charset="-122"/>
              </a:rPr>
              <a:t>、总线标准包括哪些方面？</a:t>
            </a:r>
            <a:endParaRPr lang="zh-CN" altLang="en-US" dirty="0">
              <a:solidFill>
                <a:schemeClr val="folHlink"/>
              </a:solidFill>
              <a:latin typeface="黑体" panose="02010609060101010101" pitchFamily="2" charset="-122"/>
              <a:ea typeface="黑体" panose="02010609060101010101" pitchFamily="2" charset="-122"/>
            </a:endParaRPr>
          </a:p>
        </p:txBody>
      </p:sp>
      <p:sp>
        <p:nvSpPr>
          <p:cNvPr id="47112" name="Text Box 8"/>
          <p:cNvSpPr txBox="1"/>
          <p:nvPr/>
        </p:nvSpPr>
        <p:spPr>
          <a:xfrm>
            <a:off x="273050" y="981075"/>
            <a:ext cx="8870950" cy="1116013"/>
          </a:xfrm>
          <a:prstGeom prst="rect">
            <a:avLst/>
          </a:prstGeom>
          <a:noFill/>
          <a:ln w="12700">
            <a:noFill/>
          </a:ln>
        </p:spPr>
        <p:txBody>
          <a:bodyPr>
            <a:spAutoFit/>
          </a:bodyPr>
          <a:p>
            <a:pPr algn="just" eaLnBrk="1" hangingPunct="1">
              <a:spcBef>
                <a:spcPct val="10000"/>
              </a:spcBef>
              <a:buFont typeface="Wingdings" panose="05000000000000000000" pitchFamily="2" charset="2"/>
              <a:buChar char="ü"/>
            </a:pPr>
            <a:r>
              <a:rPr lang="zh-CN" altLang="en-US" dirty="0">
                <a:solidFill>
                  <a:srgbClr val="FFFF00"/>
                </a:solidFill>
                <a:latin typeface="黑体" panose="02010609060101010101" pitchFamily="2" charset="-122"/>
                <a:ea typeface="黑体" panose="02010609060101010101" pitchFamily="2" charset="-122"/>
              </a:rPr>
              <a:t>机械结构规范</a:t>
            </a:r>
            <a:endParaRPr lang="zh-CN" altLang="en-US" dirty="0">
              <a:solidFill>
                <a:srgbClr val="FFFF00"/>
              </a:solidFill>
              <a:latin typeface="黑体" panose="02010609060101010101" pitchFamily="2" charset="-122"/>
              <a:ea typeface="黑体" panose="02010609060101010101" pitchFamily="2" charset="-122"/>
            </a:endParaRPr>
          </a:p>
          <a:p>
            <a:pPr algn="just" eaLnBrk="1" hangingPunct="1">
              <a:spcBef>
                <a:spcPct val="10000"/>
              </a:spcBef>
              <a:spcAft>
                <a:spcPct val="10000"/>
              </a:spcAft>
              <a:buFont typeface="Wingdings" panose="05000000000000000000" pitchFamily="2" charset="2"/>
            </a:pPr>
            <a:r>
              <a:rPr lang="zh-CN" altLang="en-US" dirty="0">
                <a:solidFill>
                  <a:schemeClr val="tx1"/>
                </a:solidFill>
                <a:latin typeface="黑体" panose="02010609060101010101" pitchFamily="2" charset="-122"/>
                <a:ea typeface="黑体" panose="02010609060101010101" pitchFamily="2" charset="-122"/>
              </a:rPr>
              <a:t>约定模块尺寸、形状、引脚数及位置等。</a:t>
            </a:r>
            <a:endParaRPr lang="zh-CN" altLang="en-US" dirty="0">
              <a:solidFill>
                <a:schemeClr val="tx1"/>
              </a:solidFill>
              <a:latin typeface="黑体" panose="02010609060101010101" pitchFamily="2" charset="-122"/>
              <a:ea typeface="黑体" panose="02010609060101010101" pitchFamily="2" charset="-122"/>
            </a:endParaRPr>
          </a:p>
        </p:txBody>
      </p:sp>
      <p:sp>
        <p:nvSpPr>
          <p:cNvPr id="47113" name="Text Box 9"/>
          <p:cNvSpPr txBox="1"/>
          <p:nvPr/>
        </p:nvSpPr>
        <p:spPr>
          <a:xfrm>
            <a:off x="273050" y="2265363"/>
            <a:ext cx="8402638" cy="1668462"/>
          </a:xfrm>
          <a:prstGeom prst="rect">
            <a:avLst/>
          </a:prstGeom>
          <a:noFill/>
          <a:ln w="12700">
            <a:noFill/>
          </a:ln>
        </p:spPr>
        <p:txBody>
          <a:bodyPr>
            <a:spAutoFit/>
          </a:bodyPr>
          <a:p>
            <a:pPr algn="just" eaLnBrk="1" hangingPunct="1">
              <a:spcBef>
                <a:spcPct val="20000"/>
              </a:spcBef>
              <a:buFont typeface="Wingdings" panose="05000000000000000000" pitchFamily="2" charset="2"/>
              <a:buChar char="ü"/>
            </a:pPr>
            <a:r>
              <a:rPr lang="zh-CN" altLang="en-US" dirty="0">
                <a:solidFill>
                  <a:srgbClr val="FFFF00"/>
                </a:solidFill>
                <a:latin typeface="黑体" panose="02010609060101010101" pitchFamily="2" charset="-122"/>
                <a:ea typeface="黑体" panose="02010609060101010101" pitchFamily="2" charset="-122"/>
              </a:rPr>
              <a:t>功能规范</a:t>
            </a:r>
            <a:endParaRPr lang="zh-CN" altLang="en-US" dirty="0">
              <a:solidFill>
                <a:srgbClr val="FFFF00"/>
              </a:solidFill>
              <a:latin typeface="黑体" panose="02010609060101010101" pitchFamily="2" charset="-122"/>
              <a:ea typeface="黑体" panose="02010609060101010101" pitchFamily="2" charset="-122"/>
            </a:endParaRPr>
          </a:p>
          <a:p>
            <a:pPr algn="just" eaLnBrk="1" hangingPunct="1">
              <a:spcBef>
                <a:spcPct val="20000"/>
              </a:spcBef>
              <a:buFont typeface="Wingdings" panose="05000000000000000000" pitchFamily="2" charset="2"/>
            </a:pPr>
            <a:r>
              <a:rPr lang="zh-CN" altLang="en-US" dirty="0">
                <a:solidFill>
                  <a:schemeClr val="tx1"/>
                </a:solidFill>
                <a:latin typeface="黑体" panose="02010609060101010101" pitchFamily="2" charset="-122"/>
                <a:ea typeface="黑体" panose="02010609060101010101" pitchFamily="2" charset="-122"/>
              </a:rPr>
              <a:t>约定引脚的名称和功能、相互作用时应遵守的协议及工作过程等。</a:t>
            </a:r>
            <a:endParaRPr lang="zh-CN" altLang="en-US" dirty="0">
              <a:solidFill>
                <a:schemeClr val="tx1"/>
              </a:solidFill>
              <a:latin typeface="黑体" panose="02010609060101010101" pitchFamily="2" charset="-122"/>
              <a:ea typeface="黑体" panose="02010609060101010101" pitchFamily="2" charset="-122"/>
            </a:endParaRPr>
          </a:p>
        </p:txBody>
      </p:sp>
      <p:sp>
        <p:nvSpPr>
          <p:cNvPr id="47114" name="Text Box 10"/>
          <p:cNvSpPr txBox="1"/>
          <p:nvPr/>
        </p:nvSpPr>
        <p:spPr>
          <a:xfrm>
            <a:off x="287338" y="4149725"/>
            <a:ext cx="8316912" cy="1798638"/>
          </a:xfrm>
          <a:prstGeom prst="rect">
            <a:avLst/>
          </a:prstGeom>
          <a:noFill/>
          <a:ln w="12700">
            <a:noFill/>
          </a:ln>
        </p:spPr>
        <p:txBody>
          <a:bodyPr>
            <a:spAutoFit/>
          </a:bodyPr>
          <a:p>
            <a:pPr algn="just" eaLnBrk="1" hangingPunct="1">
              <a:lnSpc>
                <a:spcPct val="110000"/>
              </a:lnSpc>
              <a:spcBef>
                <a:spcPct val="20000"/>
              </a:spcBef>
              <a:buFont typeface="Wingdings" panose="05000000000000000000" pitchFamily="2" charset="2"/>
              <a:buChar char="ü"/>
            </a:pPr>
            <a:r>
              <a:rPr lang="zh-CN" altLang="en-US" dirty="0">
                <a:solidFill>
                  <a:srgbClr val="FFFF00"/>
                </a:solidFill>
                <a:latin typeface="黑体" panose="02010609060101010101" pitchFamily="2" charset="-122"/>
                <a:ea typeface="黑体" panose="02010609060101010101" pitchFamily="2" charset="-122"/>
              </a:rPr>
              <a:t>电气规范</a:t>
            </a:r>
            <a:endParaRPr lang="zh-CN" altLang="en-US" dirty="0">
              <a:solidFill>
                <a:srgbClr val="FFFF00"/>
              </a:solidFill>
              <a:latin typeface="黑体" panose="02010609060101010101" pitchFamily="2" charset="-122"/>
              <a:ea typeface="黑体" panose="02010609060101010101" pitchFamily="2" charset="-122"/>
            </a:endParaRPr>
          </a:p>
          <a:p>
            <a:pPr algn="just" eaLnBrk="1" hangingPunct="1">
              <a:lnSpc>
                <a:spcPct val="110000"/>
              </a:lnSpc>
              <a:spcBef>
                <a:spcPct val="20000"/>
              </a:spcBef>
              <a:buFont typeface="Wingdings" panose="05000000000000000000" pitchFamily="2" charset="2"/>
            </a:pPr>
            <a:r>
              <a:rPr lang="zh-CN" altLang="en-US" dirty="0">
                <a:solidFill>
                  <a:schemeClr val="tx1"/>
                </a:solidFill>
                <a:latin typeface="黑体" panose="02010609060101010101" pitchFamily="2" charset="-122"/>
                <a:ea typeface="黑体" panose="02010609060101010101" pitchFamily="2" charset="-122"/>
              </a:rPr>
              <a:t>约定引脚工作时的有效电平、转换时间、负载能力、额定值和最大值等。</a:t>
            </a:r>
            <a:endParaRPr lang="zh-CN" altLang="en-US" dirty="0">
              <a:solidFill>
                <a:schemeClr val="tx1"/>
              </a:solidFill>
              <a:latin typeface="黑体" panose="02010609060101010101" pitchFamily="2" charset="-122"/>
              <a:ea typeface="黑体" panose="02010609060101010101" pitchFamily="2" charset="-122"/>
            </a:endParaRPr>
          </a:p>
        </p:txBody>
      </p:sp>
    </p:spTree>
  </p:cSld>
  <p:clrMapOvr>
    <a:masterClrMapping/>
  </p:clrMapOvr>
  <p:transition spd="slow">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4" name="Text Box 6"/>
          <p:cNvSpPr txBox="1"/>
          <p:nvPr/>
        </p:nvSpPr>
        <p:spPr>
          <a:xfrm>
            <a:off x="250825" y="115888"/>
            <a:ext cx="8424863" cy="1031875"/>
          </a:xfrm>
          <a:prstGeom prst="rect">
            <a:avLst/>
          </a:prstGeom>
          <a:noFill/>
          <a:ln w="12700">
            <a:noFill/>
          </a:ln>
        </p:spPr>
        <p:txBody>
          <a:bodyPr>
            <a:spAutoFit/>
          </a:bodyPr>
          <a:p>
            <a:pPr eaLnBrk="1" hangingPunct="1">
              <a:spcBef>
                <a:spcPct val="50000"/>
              </a:spcBef>
            </a:pPr>
            <a:r>
              <a:rPr lang="en-US" altLang="zh-CN" sz="2800" dirty="0">
                <a:solidFill>
                  <a:schemeClr val="tx1"/>
                </a:solidFill>
                <a:latin typeface="Calibri" panose="020F0502020204030204" pitchFamily="34" charset="0"/>
                <a:ea typeface="黑体" panose="02010609060101010101" pitchFamily="2" charset="-122"/>
              </a:rPr>
              <a:t>3</a:t>
            </a:r>
            <a:r>
              <a:rPr lang="zh-CN" altLang="en-US" sz="2800" dirty="0">
                <a:solidFill>
                  <a:schemeClr val="tx1"/>
                </a:solidFill>
                <a:latin typeface="Calibri" panose="020F0502020204030204" pitchFamily="34" charset="0"/>
                <a:ea typeface="黑体" panose="02010609060101010101" pitchFamily="2" charset="-122"/>
              </a:rPr>
              <a:t>、常见的总线标准 </a:t>
            </a:r>
            <a:endParaRPr lang="zh-CN" altLang="en-US" sz="2800" dirty="0">
              <a:solidFill>
                <a:schemeClr val="tx1"/>
              </a:solidFill>
              <a:latin typeface="Calibri" panose="020F0502020204030204" pitchFamily="34" charset="0"/>
              <a:ea typeface="黑体" panose="02010609060101010101" pitchFamily="2" charset="-122"/>
            </a:endParaRPr>
          </a:p>
          <a:p>
            <a:pPr eaLnBrk="1" hangingPunct="1">
              <a:spcBef>
                <a:spcPct val="20000"/>
              </a:spcBef>
            </a:pPr>
            <a:r>
              <a:rPr lang="zh-CN" altLang="en-US" sz="2800" dirty="0">
                <a:solidFill>
                  <a:srgbClr val="FFFF00"/>
                </a:solidFill>
                <a:latin typeface="Calibri" panose="020F0502020204030204" pitchFamily="34" charset="0"/>
                <a:ea typeface="黑体" panose="02010609060101010101" pitchFamily="2" charset="-122"/>
              </a:rPr>
              <a:t> </a:t>
            </a:r>
            <a:r>
              <a:rPr lang="en-US" altLang="zh-CN" sz="2800" dirty="0">
                <a:solidFill>
                  <a:srgbClr val="FFFF00"/>
                </a:solidFill>
                <a:latin typeface="Calibri" panose="020F0502020204030204" pitchFamily="34" charset="0"/>
                <a:ea typeface="黑体" panose="02010609060101010101" pitchFamily="2" charset="-122"/>
              </a:rPr>
              <a:t>QPI</a:t>
            </a:r>
            <a:r>
              <a:rPr lang="zh-CN" altLang="en-US" sz="2800" dirty="0">
                <a:solidFill>
                  <a:srgbClr val="FFFF00"/>
                </a:solidFill>
                <a:latin typeface="Calibri" panose="020F0502020204030204" pitchFamily="34" charset="0"/>
                <a:ea typeface="黑体" panose="02010609060101010101" pitchFamily="2" charset="-122"/>
              </a:rPr>
              <a:t>、</a:t>
            </a:r>
            <a:r>
              <a:rPr lang="en-US" altLang="zh-CN" sz="2800" dirty="0">
                <a:solidFill>
                  <a:srgbClr val="FFFF00"/>
                </a:solidFill>
                <a:latin typeface="Calibri" panose="020F0502020204030204" pitchFamily="34" charset="0"/>
                <a:ea typeface="黑体" panose="02010609060101010101" pitchFamily="2" charset="-122"/>
              </a:rPr>
              <a:t>DMI</a:t>
            </a:r>
            <a:r>
              <a:rPr lang="zh-CN" altLang="en-US" sz="2800" dirty="0">
                <a:solidFill>
                  <a:srgbClr val="FFFF00"/>
                </a:solidFill>
                <a:latin typeface="Calibri" panose="020F0502020204030204" pitchFamily="34" charset="0"/>
                <a:ea typeface="黑体" panose="02010609060101010101" pitchFamily="2" charset="-122"/>
              </a:rPr>
              <a:t>、</a:t>
            </a:r>
            <a:r>
              <a:rPr lang="en-US" altLang="zh-CN" sz="2800" dirty="0">
                <a:solidFill>
                  <a:srgbClr val="FFFF00"/>
                </a:solidFill>
                <a:latin typeface="Calibri" panose="020F0502020204030204" pitchFamily="34" charset="0"/>
                <a:ea typeface="黑体" panose="02010609060101010101" pitchFamily="2" charset="-122"/>
              </a:rPr>
              <a:t>PCI</a:t>
            </a:r>
            <a:r>
              <a:rPr lang="zh-CN" altLang="en-US" sz="2800" dirty="0">
                <a:solidFill>
                  <a:srgbClr val="FFFF00"/>
                </a:solidFill>
                <a:latin typeface="Calibri" panose="020F0502020204030204" pitchFamily="34" charset="0"/>
                <a:ea typeface="黑体" panose="02010609060101010101" pitchFamily="2" charset="-122"/>
              </a:rPr>
              <a:t>、</a:t>
            </a:r>
            <a:r>
              <a:rPr lang="en-US" altLang="zh-CN" sz="2800" dirty="0">
                <a:solidFill>
                  <a:srgbClr val="FFFF00"/>
                </a:solidFill>
                <a:latin typeface="Calibri" panose="020F0502020204030204" pitchFamily="34" charset="0"/>
                <a:ea typeface="黑体" panose="02010609060101010101" pitchFamily="2" charset="-122"/>
              </a:rPr>
              <a:t>ISA</a:t>
            </a:r>
            <a:r>
              <a:rPr lang="zh-CN" altLang="en-US" sz="2800" dirty="0">
                <a:solidFill>
                  <a:srgbClr val="FFFF00"/>
                </a:solidFill>
                <a:latin typeface="Calibri" panose="020F0502020204030204" pitchFamily="34" charset="0"/>
                <a:ea typeface="黑体" panose="02010609060101010101" pitchFamily="2" charset="-122"/>
              </a:rPr>
              <a:t>、</a:t>
            </a:r>
            <a:r>
              <a:rPr lang="en-US" altLang="zh-CN" sz="2800" dirty="0">
                <a:solidFill>
                  <a:srgbClr val="FFFF00"/>
                </a:solidFill>
                <a:latin typeface="Calibri" panose="020F0502020204030204" pitchFamily="34" charset="0"/>
                <a:ea typeface="黑体" panose="02010609060101010101" pitchFamily="2" charset="-122"/>
              </a:rPr>
              <a:t>EISA</a:t>
            </a:r>
            <a:r>
              <a:rPr lang="zh-CN" altLang="en-US" sz="2800" dirty="0">
                <a:solidFill>
                  <a:srgbClr val="FFFF00"/>
                </a:solidFill>
                <a:latin typeface="Calibri" panose="020F0502020204030204" pitchFamily="34" charset="0"/>
                <a:ea typeface="黑体" panose="02010609060101010101" pitchFamily="2" charset="-122"/>
              </a:rPr>
              <a:t>、</a:t>
            </a:r>
            <a:r>
              <a:rPr lang="en-US" altLang="zh-CN" sz="2800" dirty="0">
                <a:solidFill>
                  <a:srgbClr val="FFFF00"/>
                </a:solidFill>
                <a:latin typeface="Calibri" panose="020F0502020204030204" pitchFamily="34" charset="0"/>
                <a:ea typeface="黑体" panose="02010609060101010101" pitchFamily="2" charset="-122"/>
              </a:rPr>
              <a:t>SCSI</a:t>
            </a:r>
            <a:r>
              <a:rPr lang="zh-CN" altLang="en-US" sz="2800" dirty="0">
                <a:solidFill>
                  <a:srgbClr val="FFFF00"/>
                </a:solidFill>
                <a:latin typeface="Calibri" panose="020F0502020204030204" pitchFamily="34" charset="0"/>
                <a:ea typeface="黑体" panose="02010609060101010101" pitchFamily="2" charset="-122"/>
              </a:rPr>
              <a:t>、</a:t>
            </a:r>
            <a:r>
              <a:rPr lang="en-US" altLang="zh-CN" sz="2800" dirty="0">
                <a:solidFill>
                  <a:srgbClr val="FFFF00"/>
                </a:solidFill>
                <a:latin typeface="Calibri" panose="020F0502020204030204" pitchFamily="34" charset="0"/>
                <a:ea typeface="黑体" panose="02010609060101010101" pitchFamily="2" charset="-122"/>
              </a:rPr>
              <a:t>USB</a:t>
            </a:r>
            <a:r>
              <a:rPr lang="zh-CN" altLang="en-US" sz="2800" dirty="0">
                <a:solidFill>
                  <a:srgbClr val="FFFF00"/>
                </a:solidFill>
                <a:latin typeface="Calibri" panose="020F0502020204030204" pitchFamily="34" charset="0"/>
                <a:ea typeface="黑体" panose="02010609060101010101" pitchFamily="2" charset="-122"/>
              </a:rPr>
              <a:t>，等等</a:t>
            </a:r>
            <a:endParaRPr lang="zh-CN" altLang="en-US" sz="2800" dirty="0">
              <a:solidFill>
                <a:srgbClr val="FFFF00"/>
              </a:solidFill>
              <a:latin typeface="Calibri" panose="020F0502020204030204" pitchFamily="34" charset="0"/>
              <a:ea typeface="黑体" panose="02010609060101010101" pitchFamily="2" charset="-122"/>
            </a:endParaRPr>
          </a:p>
        </p:txBody>
      </p:sp>
      <p:graphicFrame>
        <p:nvGraphicFramePr>
          <p:cNvPr id="44170" name="Group 138"/>
          <p:cNvGraphicFramePr>
            <a:graphicFrameLocks noGrp="1"/>
          </p:cNvGraphicFramePr>
          <p:nvPr>
            <p:ph idx="4294967295"/>
          </p:nvPr>
        </p:nvGraphicFramePr>
        <p:xfrm>
          <a:off x="323850" y="1412875"/>
          <a:ext cx="8567738" cy="3025776"/>
        </p:xfrm>
        <a:graphic>
          <a:graphicData uri="http://schemas.openxmlformats.org/drawingml/2006/table">
            <a:tbl>
              <a:tblPr/>
              <a:tblGrid>
                <a:gridCol w="1008063"/>
                <a:gridCol w="1800225"/>
                <a:gridCol w="1152525"/>
                <a:gridCol w="2303462"/>
                <a:gridCol w="2303463"/>
              </a:tblGrid>
              <a:tr h="647836">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Times New Roman" panose="02020603050405020304" pitchFamily="18" charset="0"/>
                          <a:ea typeface="黑体" panose="02010609060101010101" pitchFamily="2" charset="-122"/>
                        </a:rPr>
                        <a:t>总线</a:t>
                      </a:r>
                      <a:endParaRPr kumimoji="1" lang="zh-CN" altLang="en-US" sz="2800" b="1" i="0" u="none" strike="noStrike" cap="none" normalizeH="0" baseline="0">
                        <a:ln>
                          <a:noFill/>
                        </a:ln>
                        <a:solidFill>
                          <a:schemeClr val="tx1"/>
                        </a:solidFill>
                        <a:effectLst/>
                        <a:latin typeface="Times New Roman" panose="02020603050405020304" pitchFamily="18" charset="0"/>
                        <a:ea typeface="黑体" panose="02010609060101010101" pitchFamily="2" charset="-122"/>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Times New Roman" panose="02020603050405020304" pitchFamily="18" charset="0"/>
                          <a:ea typeface="黑体" panose="02010609060101010101" pitchFamily="2" charset="-122"/>
                        </a:rPr>
                        <a:t>开发者</a:t>
                      </a:r>
                      <a:endParaRPr kumimoji="1" lang="zh-CN" altLang="en-US" sz="2800" b="1" i="0" u="none" strike="noStrike" cap="none" normalizeH="0" baseline="0">
                        <a:ln>
                          <a:noFill/>
                        </a:ln>
                        <a:solidFill>
                          <a:schemeClr val="tx1"/>
                        </a:solidFill>
                        <a:effectLst/>
                        <a:latin typeface="Times New Roman" panose="02020603050405020304" pitchFamily="18" charset="0"/>
                        <a:ea typeface="黑体" panose="02010609060101010101" pitchFamily="2"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Times New Roman" panose="02020603050405020304" pitchFamily="18" charset="0"/>
                          <a:ea typeface="黑体" panose="02010609060101010101" pitchFamily="2" charset="-122"/>
                        </a:rPr>
                        <a:t>宽度</a:t>
                      </a:r>
                      <a:endParaRPr kumimoji="1" lang="zh-CN" altLang="en-US" sz="2800" b="1" i="0" u="none" strike="noStrike" cap="none" normalizeH="0" baseline="0">
                        <a:ln>
                          <a:noFill/>
                        </a:ln>
                        <a:solidFill>
                          <a:schemeClr val="tx1"/>
                        </a:solidFill>
                        <a:effectLst/>
                        <a:latin typeface="Times New Roman" panose="02020603050405020304" pitchFamily="18" charset="0"/>
                        <a:ea typeface="黑体" panose="02010609060101010101" pitchFamily="2"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Times New Roman" panose="02020603050405020304" pitchFamily="18" charset="0"/>
                          <a:ea typeface="黑体" panose="02010609060101010101" pitchFamily="2" charset="-122"/>
                        </a:rPr>
                        <a:t>频率</a:t>
                      </a:r>
                      <a:endParaRPr kumimoji="1" lang="zh-CN" altLang="en-US" sz="2800" b="1" i="0" u="none" strike="noStrike" cap="none" normalizeH="0" baseline="0">
                        <a:ln>
                          <a:noFill/>
                        </a:ln>
                        <a:solidFill>
                          <a:schemeClr val="tx1"/>
                        </a:solidFill>
                        <a:effectLst/>
                        <a:latin typeface="Times New Roman" panose="02020603050405020304" pitchFamily="18" charset="0"/>
                        <a:ea typeface="黑体" panose="02010609060101010101" pitchFamily="2" charset="-12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zh-CN" altLang="en-US" sz="2800" b="1" i="0" u="none" strike="noStrike" cap="none" normalizeH="0" baseline="0">
                          <a:ln>
                            <a:noFill/>
                          </a:ln>
                          <a:solidFill>
                            <a:schemeClr val="tx1"/>
                          </a:solidFill>
                          <a:effectLst/>
                          <a:latin typeface="Times New Roman" panose="02020603050405020304" pitchFamily="18" charset="0"/>
                          <a:ea typeface="黑体" panose="02010609060101010101" pitchFamily="2" charset="-122"/>
                        </a:rPr>
                        <a:t>传输率</a:t>
                      </a:r>
                      <a:endParaRPr kumimoji="1" lang="zh-CN" altLang="en-US" sz="2800" b="1" i="0" u="none" strike="noStrike" cap="none" normalizeH="0" baseline="0">
                        <a:ln>
                          <a:noFill/>
                        </a:ln>
                        <a:solidFill>
                          <a:schemeClr val="tx1"/>
                        </a:solidFill>
                        <a:effectLst/>
                        <a:latin typeface="Times New Roman" panose="02020603050405020304" pitchFamily="18" charset="0"/>
                        <a:ea typeface="黑体" panose="02010609060101010101" pitchFamily="2" charset="-122"/>
                      </a:endParaRPr>
                    </a:p>
                  </a:txBody>
                  <a:tcPr marT="45730" marB="4573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69">
                <a:tc>
                  <a:txBody>
                    <a:bodyPr/>
                    <a:lstStyle/>
                    <a:p>
                      <a:pPr marL="0" marR="0" lvl="0" indent="0" algn="ctr"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1" i="0" u="none" strike="noStrike" cap="none" normalizeH="0" baseline="0">
                          <a:ln>
                            <a:noFill/>
                          </a:ln>
                          <a:solidFill>
                            <a:schemeClr val="tx1"/>
                          </a:solidFill>
                          <a:effectLst/>
                          <a:latin typeface="Calibri" panose="020F0502020204030204" pitchFamily="34" charset="0"/>
                          <a:ea typeface="宋体" panose="02010600030101010101" pitchFamily="2" charset="-122"/>
                        </a:rPr>
                        <a:t>ISA</a:t>
                      </a:r>
                      <a:endParaRPr kumimoji="1" lang="en-US" altLang="zh-CN" sz="2800" b="1"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IBM </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1984</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8/16</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8.33M</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8.33/16.66MB/s</a:t>
                      </a:r>
                      <a:endPar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23133">
                <a:tc>
                  <a:txBody>
                    <a:bodyPr/>
                    <a:lstStyle/>
                    <a:p>
                      <a:pPr marL="0" marR="0" lvl="0" indent="0" algn="ctr"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1" i="0" u="none" strike="noStrike" cap="none" normalizeH="0" baseline="0">
                          <a:ln>
                            <a:noFill/>
                          </a:ln>
                          <a:solidFill>
                            <a:schemeClr val="tx1"/>
                          </a:solidFill>
                          <a:effectLst/>
                          <a:latin typeface="Calibri" panose="020F0502020204030204" pitchFamily="34" charset="0"/>
                          <a:ea typeface="宋体" panose="02010600030101010101" pitchFamily="2" charset="-122"/>
                        </a:rPr>
                        <a:t>EISA</a:t>
                      </a:r>
                      <a:endParaRPr kumimoji="1" lang="en-US" altLang="zh-CN" sz="2800" b="1"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Compaq</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等，</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1988</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32</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8.33M</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33.3MB/s</a:t>
                      </a:r>
                      <a:endPar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69">
                <a:tc>
                  <a:txBody>
                    <a:bodyPr/>
                    <a:lstStyle/>
                    <a:p>
                      <a:pPr marL="0" marR="0" lvl="0" indent="0" algn="ctr"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1" i="0" u="none" strike="noStrike" cap="none" normalizeH="0" baseline="0">
                          <a:ln>
                            <a:noFill/>
                          </a:ln>
                          <a:solidFill>
                            <a:schemeClr val="tx1"/>
                          </a:solidFill>
                          <a:effectLst/>
                          <a:latin typeface="Calibri" panose="020F0502020204030204" pitchFamily="34" charset="0"/>
                          <a:ea typeface="宋体" panose="02010600030101010101" pitchFamily="2" charset="-122"/>
                        </a:rPr>
                        <a:t>AGP</a:t>
                      </a:r>
                      <a:endParaRPr kumimoji="1" lang="en-US" altLang="zh-CN" sz="2800" b="1"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Intel</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1996</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32</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1/2/4/8</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66.6M</a:t>
                      </a:r>
                      <a:endPar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266.4MB/s…</a:t>
                      </a:r>
                      <a:endPar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69">
                <a:tc>
                  <a:txBody>
                    <a:bodyPr/>
                    <a:lstStyle/>
                    <a:p>
                      <a:pPr marL="0" marR="0" lvl="0" indent="0" algn="ctr"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1" i="0" u="none" strike="noStrike" cap="none" normalizeH="0" baseline="0">
                          <a:ln>
                            <a:noFill/>
                          </a:ln>
                          <a:solidFill>
                            <a:srgbClr val="FFFF00"/>
                          </a:solidFill>
                          <a:effectLst/>
                          <a:latin typeface="Calibri" panose="020F0502020204030204" pitchFamily="34" charset="0"/>
                          <a:ea typeface="宋体" panose="02010600030101010101" pitchFamily="2" charset="-122"/>
                        </a:rPr>
                        <a:t>PCI</a:t>
                      </a:r>
                      <a:endParaRPr kumimoji="1" lang="en-US" altLang="zh-CN" sz="2800" b="1"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Intel</a:t>
                      </a: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1991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32/64</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33/66/133M</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132MB/s…</a:t>
                      </a:r>
                      <a:endPar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4148" name="Text Box 116"/>
          <p:cNvSpPr txBox="1"/>
          <p:nvPr/>
        </p:nvSpPr>
        <p:spPr>
          <a:xfrm>
            <a:off x="1692275" y="4643438"/>
            <a:ext cx="6119813" cy="946150"/>
          </a:xfrm>
          <a:prstGeom prst="rect">
            <a:avLst/>
          </a:prstGeom>
          <a:noFill/>
          <a:ln w="12700">
            <a:noFill/>
          </a:ln>
        </p:spPr>
        <p:txBody>
          <a:bodyPr>
            <a:spAutoFit/>
          </a:bodyPr>
          <a:p>
            <a:pPr eaLnBrk="1" hangingPunct="1"/>
            <a:r>
              <a:rPr lang="zh-CN" altLang="en-US" sz="2800" dirty="0">
                <a:solidFill>
                  <a:schemeClr val="folHlink"/>
                </a:solidFill>
                <a:latin typeface="Calibri" panose="020F0502020204030204" pitchFamily="34" charset="0"/>
                <a:ea typeface="黑体" panose="02010609060101010101" pitchFamily="2" charset="-122"/>
              </a:rPr>
              <a:t>已发展出多个版本</a:t>
            </a:r>
            <a:endParaRPr lang="zh-CN" altLang="en-US" sz="2800" dirty="0">
              <a:solidFill>
                <a:schemeClr val="folHlink"/>
              </a:solidFill>
              <a:latin typeface="Calibri" panose="020F0502020204030204" pitchFamily="34" charset="0"/>
              <a:ea typeface="黑体" panose="02010609060101010101" pitchFamily="2" charset="-122"/>
            </a:endParaRPr>
          </a:p>
          <a:p>
            <a:pPr eaLnBrk="1" hangingPunct="1"/>
            <a:r>
              <a:rPr lang="zh-CN" altLang="en-US" sz="2800" dirty="0">
                <a:solidFill>
                  <a:schemeClr val="folHlink"/>
                </a:solidFill>
                <a:latin typeface="Calibri" panose="020F0502020204030204" pitchFamily="34" charset="0"/>
                <a:ea typeface="黑体" panose="02010609060101010101" pitchFamily="2" charset="-122"/>
              </a:rPr>
              <a:t>最新</a:t>
            </a:r>
            <a:r>
              <a:rPr lang="en-US" altLang="zh-CN" sz="2800" dirty="0">
                <a:solidFill>
                  <a:schemeClr val="folHlink"/>
                </a:solidFill>
                <a:latin typeface="Calibri" panose="020F0502020204030204" pitchFamily="34" charset="0"/>
                <a:ea typeface="黑体" panose="02010609060101010101" pitchFamily="2" charset="-122"/>
              </a:rPr>
              <a:t>PCI-E 3.0 X16  </a:t>
            </a:r>
            <a:r>
              <a:rPr lang="en-US" altLang="zh-CN" sz="2800" dirty="0">
                <a:solidFill>
                  <a:srgbClr val="00FF99"/>
                </a:solidFill>
                <a:latin typeface="Calibri" panose="020F0502020204030204" pitchFamily="34" charset="0"/>
                <a:ea typeface="黑体" panose="02010609060101010101" pitchFamily="2" charset="-122"/>
              </a:rPr>
              <a:t>(10GB/s)</a:t>
            </a:r>
            <a:endParaRPr lang="zh-CN" altLang="en-US" sz="2800" dirty="0">
              <a:solidFill>
                <a:srgbClr val="00FF99"/>
              </a:solidFill>
              <a:latin typeface="Calibri" panose="020F0502020204030204" pitchFamily="34" charset="0"/>
              <a:ea typeface="黑体" panose="02010609060101010101" pitchFamily="2" charset="-122"/>
            </a:endParaRPr>
          </a:p>
        </p:txBody>
      </p:sp>
      <p:sp>
        <p:nvSpPr>
          <p:cNvPr id="23595" name="Line 129"/>
          <p:cNvSpPr/>
          <p:nvPr/>
        </p:nvSpPr>
        <p:spPr>
          <a:xfrm>
            <a:off x="827088" y="4365625"/>
            <a:ext cx="0" cy="647700"/>
          </a:xfrm>
          <a:prstGeom prst="line">
            <a:avLst/>
          </a:prstGeom>
          <a:ln w="28575" cap="sq" cmpd="sng">
            <a:solidFill>
              <a:schemeClr val="accent1"/>
            </a:solidFill>
            <a:prstDash val="solid"/>
            <a:headEnd type="none" w="med" len="med"/>
            <a:tailEnd type="none" w="med" len="med"/>
          </a:ln>
        </p:spPr>
      </p:sp>
      <p:sp>
        <p:nvSpPr>
          <p:cNvPr id="23596" name="Line 130"/>
          <p:cNvSpPr/>
          <p:nvPr/>
        </p:nvSpPr>
        <p:spPr>
          <a:xfrm>
            <a:off x="827088" y="5013325"/>
            <a:ext cx="865187" cy="0"/>
          </a:xfrm>
          <a:prstGeom prst="line">
            <a:avLst/>
          </a:prstGeom>
          <a:ln w="28575" cap="sq" cmpd="sng">
            <a:solidFill>
              <a:schemeClr val="accent1"/>
            </a:solidFill>
            <a:prstDash val="solid"/>
            <a:headEnd type="none" w="med" len="med"/>
            <a:tailEnd type="arrow" w="med" len="med"/>
          </a:ln>
        </p:spPr>
      </p:sp>
      <p:sp>
        <p:nvSpPr>
          <p:cNvPr id="23597" name="Rectangle 131"/>
          <p:cNvSpPr/>
          <p:nvPr/>
        </p:nvSpPr>
        <p:spPr>
          <a:xfrm>
            <a:off x="458788" y="4017963"/>
            <a:ext cx="719137" cy="360362"/>
          </a:xfrm>
          <a:prstGeom prst="rect">
            <a:avLst/>
          </a:prstGeom>
          <a:noFill/>
          <a:ln w="19050" cap="flat" cmpd="sng">
            <a:solidFill>
              <a:schemeClr val="accent1"/>
            </a:solidFill>
            <a:prstDash val="sysDot"/>
            <a:miter/>
            <a:headEnd type="none" w="med" len="med"/>
            <a:tailEnd type="none" w="med" len="med"/>
          </a:ln>
        </p:spPr>
        <p:txBody>
          <a:bodyPr anchor="ctr" anchorCtr="0">
            <a:spAutoFit/>
          </a:bodyPr>
          <a:p>
            <a:pPr algn="ctr" eaLnBrk="1" hangingPunct="1"/>
            <a:endParaRPr lang="zh-CN" altLang="en-US" dirty="0">
              <a:latin typeface="宋体" panose="02010600030101010101" pitchFamily="2" charset="-122"/>
            </a:endParaRPr>
          </a:p>
        </p:txBody>
      </p:sp>
      <p:sp>
        <p:nvSpPr>
          <p:cNvPr id="9" name="Text Box 116"/>
          <p:cNvSpPr txBox="1"/>
          <p:nvPr/>
        </p:nvSpPr>
        <p:spPr>
          <a:xfrm>
            <a:off x="1716088" y="5667375"/>
            <a:ext cx="4927600" cy="522288"/>
          </a:xfrm>
          <a:prstGeom prst="rect">
            <a:avLst/>
          </a:prstGeom>
          <a:noFill/>
          <a:ln w="12700">
            <a:noFill/>
          </a:ln>
        </p:spPr>
        <p:txBody>
          <a:bodyPr>
            <a:spAutoFit/>
          </a:bodyPr>
          <a:p>
            <a:pPr eaLnBrk="1" hangingPunct="1"/>
            <a:r>
              <a:rPr lang="zh-CN" altLang="en-US" sz="2800" dirty="0">
                <a:solidFill>
                  <a:schemeClr val="accent1"/>
                </a:solidFill>
                <a:latin typeface="Calibri" panose="020F0502020204030204" pitchFamily="34" charset="0"/>
                <a:ea typeface="黑体" panose="02010609060101010101" pitchFamily="2" charset="-122"/>
              </a:rPr>
              <a:t>即将出现</a:t>
            </a:r>
            <a:r>
              <a:rPr lang="en-US" altLang="zh-CN" sz="2800" dirty="0">
                <a:solidFill>
                  <a:schemeClr val="accent1"/>
                </a:solidFill>
                <a:latin typeface="Calibri" panose="020F0502020204030204" pitchFamily="34" charset="0"/>
                <a:ea typeface="黑体" panose="02010609060101010101" pitchFamily="2" charset="-122"/>
              </a:rPr>
              <a:t>PCI-E 4.0  (</a:t>
            </a:r>
            <a:r>
              <a:rPr lang="en-US" altLang="zh-CN" sz="2800" dirty="0">
                <a:solidFill>
                  <a:srgbClr val="00FF00"/>
                </a:solidFill>
                <a:latin typeface="Calibri" panose="020F0502020204030204" pitchFamily="34" charset="0"/>
                <a:ea typeface="黑体" panose="02010609060101010101" pitchFamily="2" charset="-122"/>
              </a:rPr>
              <a:t>16GB/s</a:t>
            </a:r>
            <a:r>
              <a:rPr lang="en-US" altLang="zh-CN" sz="2800" dirty="0">
                <a:solidFill>
                  <a:schemeClr val="accent1"/>
                </a:solidFill>
                <a:latin typeface="Calibri" panose="020F0502020204030204" pitchFamily="34" charset="0"/>
                <a:ea typeface="黑体" panose="02010609060101010101" pitchFamily="2" charset="-122"/>
              </a:rPr>
              <a:t>)</a:t>
            </a:r>
            <a:endParaRPr lang="zh-CN" altLang="en-US" sz="2800" dirty="0">
              <a:solidFill>
                <a:schemeClr val="accent1"/>
              </a:solidFill>
              <a:latin typeface="Calibri" panose="020F0502020204030204" pitchFamily="34" charset="0"/>
              <a:ea typeface="黑体" panose="02010609060101010101" pitchFamily="2" charset="-122"/>
            </a:endParaRPr>
          </a:p>
        </p:txBody>
      </p:sp>
    </p:spTree>
  </p:cSld>
  <p:clrMapOvr>
    <a:masterClrMapping/>
  </p:clrMapOvr>
  <p:transition spd="slow">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7" name="Text Box 3"/>
          <p:cNvSpPr txBox="1"/>
          <p:nvPr/>
        </p:nvSpPr>
        <p:spPr>
          <a:xfrm>
            <a:off x="207963" y="257175"/>
            <a:ext cx="3886200" cy="579438"/>
          </a:xfrm>
          <a:prstGeom prst="rect">
            <a:avLst/>
          </a:prstGeom>
          <a:noFill/>
          <a:ln w="12700">
            <a:noFill/>
          </a:ln>
        </p:spPr>
        <p:txBody>
          <a:bodyPr>
            <a:spAutoFit/>
          </a:bodyPr>
          <a:p>
            <a:pPr eaLnBrk="1" hangingPunct="1">
              <a:spcBef>
                <a:spcPct val="50000"/>
              </a:spcBef>
              <a:buNone/>
            </a:pPr>
            <a:r>
              <a:rPr lang="en-US" altLang="zh-CN" dirty="0">
                <a:solidFill>
                  <a:srgbClr val="FFFF00"/>
                </a:solidFill>
                <a:latin typeface="Calibri" panose="020F0502020204030204" pitchFamily="34" charset="0"/>
                <a:ea typeface="黑体" panose="02010609060101010101" pitchFamily="2" charset="-122"/>
              </a:rPr>
              <a:t>5.2.3 </a:t>
            </a:r>
            <a:r>
              <a:rPr lang="zh-CN" altLang="en-US" dirty="0">
                <a:solidFill>
                  <a:srgbClr val="FFFF00"/>
                </a:solidFill>
                <a:latin typeface="Calibri" panose="020F0502020204030204" pitchFamily="34" charset="0"/>
                <a:ea typeface="黑体" panose="02010609060101010101" pitchFamily="2" charset="-122"/>
              </a:rPr>
              <a:t>总线设计要素</a:t>
            </a:r>
            <a:endParaRPr lang="zh-CN" altLang="en-US" dirty="0">
              <a:solidFill>
                <a:srgbClr val="FFFF00"/>
              </a:solidFill>
              <a:latin typeface="Calibri" panose="020F0502020204030204" pitchFamily="34" charset="0"/>
              <a:ea typeface="黑体" panose="02010609060101010101" pitchFamily="2" charset="-122"/>
            </a:endParaRPr>
          </a:p>
        </p:txBody>
      </p:sp>
      <p:sp>
        <p:nvSpPr>
          <p:cNvPr id="16396" name="Text Box 12"/>
          <p:cNvSpPr txBox="1"/>
          <p:nvPr/>
        </p:nvSpPr>
        <p:spPr>
          <a:xfrm>
            <a:off x="207963" y="971550"/>
            <a:ext cx="4078287" cy="585788"/>
          </a:xfrm>
          <a:prstGeom prst="rect">
            <a:avLst/>
          </a:prstGeom>
          <a:noFill/>
          <a:ln w="12700">
            <a:noFill/>
          </a:ln>
        </p:spPr>
        <p:txBody>
          <a:bodyPr>
            <a:spAutoFit/>
          </a:bodyPr>
          <a:p>
            <a:pPr eaLnBrk="1" hangingPunct="1">
              <a:spcBef>
                <a:spcPct val="50000"/>
              </a:spcBef>
              <a:buNone/>
            </a:pPr>
            <a:r>
              <a:rPr lang="en-US" altLang="zh-CN" dirty="0">
                <a:solidFill>
                  <a:schemeClr val="accent1"/>
                </a:solidFill>
                <a:latin typeface="Calibri" panose="020F0502020204030204" pitchFamily="34" charset="0"/>
                <a:ea typeface="黑体" panose="02010609060101010101" pitchFamily="2" charset="-122"/>
              </a:rPr>
              <a:t>1</a:t>
            </a:r>
            <a:r>
              <a:rPr lang="zh-CN" altLang="en-US" dirty="0">
                <a:solidFill>
                  <a:schemeClr val="accent1"/>
                </a:solidFill>
                <a:latin typeface="Calibri" panose="020F0502020204030204" pitchFamily="34" charset="0"/>
                <a:ea typeface="黑体" panose="02010609060101010101" pitchFamily="2" charset="-122"/>
              </a:rPr>
              <a:t>、总线宽度和频率</a:t>
            </a:r>
            <a:endParaRPr lang="zh-CN" altLang="en-US" dirty="0">
              <a:solidFill>
                <a:schemeClr val="accent1"/>
              </a:solidFill>
              <a:latin typeface="Calibri" panose="020F0502020204030204" pitchFamily="34" charset="0"/>
              <a:ea typeface="黑体" panose="02010609060101010101" pitchFamily="2" charset="-122"/>
            </a:endParaRPr>
          </a:p>
        </p:txBody>
      </p:sp>
      <p:sp>
        <p:nvSpPr>
          <p:cNvPr id="16397" name="Text Box 13"/>
          <p:cNvSpPr txBox="1"/>
          <p:nvPr/>
        </p:nvSpPr>
        <p:spPr>
          <a:xfrm>
            <a:off x="179388" y="1628775"/>
            <a:ext cx="8675687" cy="1038860"/>
          </a:xfrm>
          <a:prstGeom prst="rect">
            <a:avLst/>
          </a:prstGeom>
          <a:noFill/>
          <a:ln w="12700">
            <a:noFill/>
          </a:ln>
        </p:spPr>
        <p:txBody>
          <a:bodyPr>
            <a:spAutoFit/>
          </a:bodyPr>
          <a:p>
            <a:pPr eaLnBrk="1" hangingPunct="1">
              <a:spcBef>
                <a:spcPct val="20000"/>
              </a:spcBef>
            </a:pPr>
            <a:r>
              <a:rPr lang="zh-CN" altLang="en-US" sz="2800" dirty="0">
                <a:solidFill>
                  <a:srgbClr val="FFFF00"/>
                </a:solidFill>
                <a:latin typeface="黑体" panose="02010609060101010101" pitchFamily="2" charset="-122"/>
                <a:ea typeface="黑体" panose="02010609060101010101" pitchFamily="2" charset="-122"/>
              </a:rPr>
              <a:t>宽度：</a:t>
            </a:r>
            <a:r>
              <a:rPr lang="zh-CN" altLang="en-US" sz="2800" dirty="0">
                <a:solidFill>
                  <a:schemeClr val="tx1"/>
                </a:solidFill>
                <a:latin typeface="黑体" panose="02010609060101010101" pitchFamily="2" charset="-122"/>
                <a:ea typeface="黑体" panose="02010609060101010101" pitchFamily="2" charset="-122"/>
              </a:rPr>
              <a:t>总线各功能组中的信号线数量，</a:t>
            </a:r>
            <a:r>
              <a:rPr lang="en-US" altLang="zh-CN" sz="2800" dirty="0">
                <a:solidFill>
                  <a:srgbClr val="00FF99"/>
                </a:solidFill>
                <a:latin typeface="黑体" panose="02010609060101010101" pitchFamily="2" charset="-122"/>
                <a:ea typeface="黑体" panose="02010609060101010101" pitchFamily="2" charset="-122"/>
              </a:rPr>
              <a:t>32</a:t>
            </a:r>
            <a:r>
              <a:rPr lang="zh-CN" altLang="en-US" sz="2800" dirty="0">
                <a:solidFill>
                  <a:srgbClr val="00FF99"/>
                </a:solidFill>
                <a:latin typeface="黑体" panose="02010609060101010101" pitchFamily="2" charset="-122"/>
                <a:ea typeface="黑体" panose="02010609060101010101" pitchFamily="2" charset="-122"/>
              </a:rPr>
              <a:t>位</a:t>
            </a:r>
            <a:r>
              <a:rPr lang="zh-CN" altLang="en-US" sz="2800" dirty="0">
                <a:solidFill>
                  <a:schemeClr val="tx1"/>
                </a:solidFill>
                <a:latin typeface="黑体" panose="02010609060101010101" pitchFamily="2" charset="-122"/>
                <a:ea typeface="黑体" panose="02010609060101010101" pitchFamily="2" charset="-122"/>
              </a:rPr>
              <a:t>或</a:t>
            </a:r>
            <a:r>
              <a:rPr lang="en-US" altLang="zh-CN" sz="2800" dirty="0">
                <a:solidFill>
                  <a:srgbClr val="00FF99"/>
                </a:solidFill>
                <a:latin typeface="黑体" panose="02010609060101010101" pitchFamily="2" charset="-122"/>
                <a:ea typeface="黑体" panose="02010609060101010101" pitchFamily="2" charset="-122"/>
              </a:rPr>
              <a:t>64</a:t>
            </a:r>
            <a:r>
              <a:rPr lang="zh-CN" altLang="en-US" sz="2800" dirty="0">
                <a:solidFill>
                  <a:srgbClr val="00FF99"/>
                </a:solidFill>
                <a:latin typeface="黑体" panose="02010609060101010101" pitchFamily="2" charset="-122"/>
                <a:ea typeface="黑体" panose="02010609060101010101" pitchFamily="2" charset="-122"/>
              </a:rPr>
              <a:t>位</a:t>
            </a:r>
            <a:r>
              <a:rPr lang="zh-CN" altLang="en-US" sz="2800" dirty="0">
                <a:solidFill>
                  <a:schemeClr val="tx1"/>
                </a:solidFill>
                <a:latin typeface="黑体" panose="02010609060101010101" pitchFamily="2" charset="-122"/>
                <a:ea typeface="黑体" panose="02010609060101010101" pitchFamily="2" charset="-122"/>
              </a:rPr>
              <a:t>；</a:t>
            </a:r>
            <a:endParaRPr lang="zh-CN" altLang="en-US" sz="2800" dirty="0">
              <a:solidFill>
                <a:schemeClr val="tx1"/>
              </a:solidFill>
              <a:latin typeface="黑体" panose="02010609060101010101" pitchFamily="2" charset="-122"/>
              <a:ea typeface="黑体" panose="02010609060101010101" pitchFamily="2" charset="-122"/>
            </a:endParaRPr>
          </a:p>
          <a:p>
            <a:pPr eaLnBrk="1" hangingPunct="1">
              <a:spcBef>
                <a:spcPct val="20000"/>
              </a:spcBef>
            </a:pPr>
            <a:r>
              <a:rPr lang="zh-CN" altLang="en-US" sz="2800" dirty="0">
                <a:solidFill>
                  <a:srgbClr val="FFFF00"/>
                </a:solidFill>
                <a:latin typeface="黑体" panose="02010609060101010101" pitchFamily="2" charset="-122"/>
                <a:ea typeface="黑体" panose="02010609060101010101" pitchFamily="2" charset="-122"/>
              </a:rPr>
              <a:t>频率：</a:t>
            </a:r>
            <a:r>
              <a:rPr lang="zh-CN" altLang="en-US" sz="2800" dirty="0">
                <a:solidFill>
                  <a:schemeClr val="tx1"/>
                </a:solidFill>
                <a:latin typeface="黑体" panose="02010609060101010101" pitchFamily="2" charset="-122"/>
                <a:ea typeface="黑体" panose="02010609060101010101" pitchFamily="2" charset="-122"/>
              </a:rPr>
              <a:t>每秒数据传输的次数，</a:t>
            </a:r>
            <a:r>
              <a:rPr lang="en-US" altLang="zh-CN" sz="2800" dirty="0">
                <a:solidFill>
                  <a:schemeClr val="tx1"/>
                </a:solidFill>
                <a:latin typeface="黑体" panose="02010609060101010101" pitchFamily="2" charset="-122"/>
                <a:ea typeface="黑体" panose="02010609060101010101" pitchFamily="2" charset="-122"/>
              </a:rPr>
              <a:t>33MHZ</a:t>
            </a:r>
            <a:r>
              <a:rPr lang="zh-CN" altLang="en-US" sz="2800" dirty="0">
                <a:solidFill>
                  <a:schemeClr val="tx1"/>
                </a:solidFill>
                <a:latin typeface="黑体" panose="02010609060101010101" pitchFamily="2" charset="-122"/>
                <a:ea typeface="黑体" panose="02010609060101010101" pitchFamily="2" charset="-122"/>
              </a:rPr>
              <a:t>、</a:t>
            </a:r>
            <a:r>
              <a:rPr lang="en-US" altLang="zh-CN" sz="2800" dirty="0">
                <a:solidFill>
                  <a:schemeClr val="tx1"/>
                </a:solidFill>
                <a:latin typeface="黑体" panose="02010609060101010101" pitchFamily="2" charset="-122"/>
                <a:ea typeface="黑体" panose="02010609060101010101" pitchFamily="2" charset="-122"/>
              </a:rPr>
              <a:t>133MHZ</a:t>
            </a:r>
            <a:r>
              <a:rPr lang="zh-CN" altLang="en-US" sz="2800" dirty="0">
                <a:solidFill>
                  <a:schemeClr val="tx1"/>
                </a:solidFill>
                <a:latin typeface="黑体" panose="02010609060101010101" pitchFamily="2" charset="-122"/>
                <a:ea typeface="黑体" panose="02010609060101010101" pitchFamily="2" charset="-122"/>
              </a:rPr>
              <a:t>等；</a:t>
            </a:r>
            <a:endParaRPr lang="zh-CN" altLang="en-US" sz="2800" dirty="0">
              <a:solidFill>
                <a:schemeClr val="tx1"/>
              </a:solidFill>
              <a:latin typeface="宋体" panose="02010600030101010101" pitchFamily="2" charset="-122"/>
            </a:endParaRPr>
          </a:p>
        </p:txBody>
      </p:sp>
      <p:sp>
        <p:nvSpPr>
          <p:cNvPr id="11269" name="Rectangle 14"/>
          <p:cNvSpPr/>
          <p:nvPr/>
        </p:nvSpPr>
        <p:spPr>
          <a:xfrm>
            <a:off x="0" y="3314700"/>
            <a:ext cx="9144000" cy="0"/>
          </a:xfrm>
          <a:prstGeom prst="rect">
            <a:avLst/>
          </a:prstGeom>
          <a:noFill/>
          <a:ln w="12700">
            <a:noFill/>
          </a:ln>
        </p:spPr>
        <p:txBody>
          <a:bodyPr wrap="none" anchor="ctr" anchorCtr="0">
            <a:spAutoFit/>
          </a:bodyPr>
          <a:p>
            <a:pPr algn="ctr" eaLnBrk="1" hangingPunct="1"/>
            <a:endParaRPr lang="zh-CN" altLang="en-US" dirty="0">
              <a:latin typeface="宋体" panose="02010600030101010101" pitchFamily="2" charset="-122"/>
            </a:endParaRPr>
          </a:p>
        </p:txBody>
      </p:sp>
      <p:sp>
        <p:nvSpPr>
          <p:cNvPr id="24582" name="Text Box 15"/>
          <p:cNvSpPr txBox="1"/>
          <p:nvPr/>
        </p:nvSpPr>
        <p:spPr>
          <a:xfrm>
            <a:off x="92393" y="2671445"/>
            <a:ext cx="9057005" cy="521970"/>
          </a:xfrm>
          <a:prstGeom prst="rect">
            <a:avLst/>
          </a:prstGeom>
          <a:noFill/>
          <a:ln w="12700">
            <a:noFill/>
          </a:ln>
        </p:spPr>
        <p:txBody>
          <a:bodyPr wrap="none">
            <a:spAutoFit/>
          </a:bodyPr>
          <a:p>
            <a:pPr algn="l" eaLnBrk="1" hangingPunct="1">
              <a:buNone/>
            </a:pPr>
            <a:r>
              <a:rPr lang="zh-CN" altLang="en-US" sz="2800" dirty="0">
                <a:solidFill>
                  <a:srgbClr val="FFFF00"/>
                </a:solidFill>
                <a:latin typeface="黑体" panose="02010609060101010101" pitchFamily="2" charset="-122"/>
                <a:ea typeface="黑体" panose="02010609060101010101" pitchFamily="2" charset="-122"/>
              </a:rPr>
              <a:t>带宽</a:t>
            </a:r>
            <a:r>
              <a:rPr lang="en-US" altLang="zh-CN" sz="2800" dirty="0">
                <a:solidFill>
                  <a:srgbClr val="FFFF00"/>
                </a:solidFill>
                <a:latin typeface="Calibri" panose="020F0502020204030204" pitchFamily="34" charset="0"/>
                <a:ea typeface="黑体" panose="02010609060101010101" pitchFamily="2" charset="-122"/>
              </a:rPr>
              <a:t>(bandwidth)</a:t>
            </a:r>
            <a:r>
              <a:rPr lang="zh-CN" altLang="en-US" sz="2800" dirty="0">
                <a:solidFill>
                  <a:srgbClr val="FFFF00"/>
                </a:solidFill>
                <a:latin typeface="Calibri" panose="020F0502020204030204" pitchFamily="34" charset="0"/>
                <a:ea typeface="黑体" panose="02010609060101010101" pitchFamily="2" charset="-122"/>
              </a:rPr>
              <a:t>：</a:t>
            </a:r>
            <a:r>
              <a:rPr lang="zh-CN" altLang="en-US" sz="2800" dirty="0">
                <a:solidFill>
                  <a:schemeClr val="tx1"/>
                </a:solidFill>
                <a:latin typeface="Calibri" panose="020F0502020204030204" pitchFamily="34" charset="0"/>
                <a:ea typeface="黑体" panose="02010609060101010101" pitchFamily="2" charset="-122"/>
              </a:rPr>
              <a:t>单位时间总线传输的数据量</a:t>
            </a:r>
            <a:r>
              <a:rPr lang="en-US" altLang="zh-CN" sz="2800" dirty="0">
                <a:solidFill>
                  <a:schemeClr val="tx1"/>
                </a:solidFill>
                <a:latin typeface="Calibri" panose="020F0502020204030204" pitchFamily="34" charset="0"/>
                <a:ea typeface="黑体" panose="02010609060101010101" pitchFamily="2" charset="-122"/>
              </a:rPr>
              <a:t>(Bps,B/s)</a:t>
            </a:r>
            <a:r>
              <a:rPr lang="zh-CN" altLang="en-US" sz="2800" dirty="0">
                <a:solidFill>
                  <a:schemeClr val="tx1"/>
                </a:solidFill>
                <a:latin typeface="Calibri" panose="020F0502020204030204" pitchFamily="34" charset="0"/>
                <a:ea typeface="黑体" panose="02010609060101010101" pitchFamily="2" charset="-122"/>
              </a:rPr>
              <a:t>。</a:t>
            </a:r>
            <a:endParaRPr lang="zh-CN" altLang="en-US" sz="2800" dirty="0">
              <a:solidFill>
                <a:schemeClr val="tx1"/>
              </a:solidFill>
              <a:latin typeface="Calibri" panose="020F0502020204030204" pitchFamily="34" charset="0"/>
              <a:ea typeface="黑体" panose="02010609060101010101" pitchFamily="2" charset="-122"/>
            </a:endParaRPr>
          </a:p>
        </p:txBody>
      </p:sp>
      <p:sp>
        <p:nvSpPr>
          <p:cNvPr id="11" name="Text Box 15"/>
          <p:cNvSpPr txBox="1"/>
          <p:nvPr/>
        </p:nvSpPr>
        <p:spPr>
          <a:xfrm>
            <a:off x="1258888" y="3338513"/>
            <a:ext cx="887412" cy="522287"/>
          </a:xfrm>
          <a:prstGeom prst="rect">
            <a:avLst/>
          </a:prstGeom>
          <a:noFill/>
          <a:ln w="12700">
            <a:noFill/>
          </a:ln>
        </p:spPr>
        <p:txBody>
          <a:bodyPr wrap="none">
            <a:spAutoFit/>
          </a:bodyPr>
          <a:p>
            <a:pPr algn="ctr" eaLnBrk="1" hangingPunct="1">
              <a:buNone/>
            </a:pPr>
            <a:r>
              <a:rPr lang="en-US" altLang="zh-CN" sz="2800" dirty="0">
                <a:solidFill>
                  <a:schemeClr val="tx1"/>
                </a:solidFill>
                <a:latin typeface="Calibri" panose="020F0502020204030204" pitchFamily="34" charset="0"/>
                <a:ea typeface="黑体" panose="02010609060101010101" pitchFamily="2" charset="-122"/>
              </a:rPr>
              <a:t>BW=</a:t>
            </a:r>
            <a:endParaRPr lang="en-US" altLang="zh-CN" sz="2800" dirty="0">
              <a:solidFill>
                <a:schemeClr val="tx1"/>
              </a:solidFill>
              <a:latin typeface="Calibri" panose="020F0502020204030204" pitchFamily="34" charset="0"/>
              <a:ea typeface="黑体" panose="02010609060101010101" pitchFamily="2" charset="-122"/>
            </a:endParaRPr>
          </a:p>
        </p:txBody>
      </p:sp>
      <p:sp>
        <p:nvSpPr>
          <p:cNvPr id="14" name="Text Box 15"/>
          <p:cNvSpPr txBox="1"/>
          <p:nvPr/>
        </p:nvSpPr>
        <p:spPr>
          <a:xfrm>
            <a:off x="2268221" y="3314700"/>
            <a:ext cx="4239895" cy="521970"/>
          </a:xfrm>
          <a:prstGeom prst="rect">
            <a:avLst/>
          </a:prstGeom>
          <a:noFill/>
          <a:ln w="12700">
            <a:noFill/>
          </a:ln>
        </p:spPr>
        <p:txBody>
          <a:bodyPr wrap="none">
            <a:spAutoFit/>
          </a:bodyPr>
          <a:p>
            <a:pPr algn="ctr" eaLnBrk="1" hangingPunct="1">
              <a:buNone/>
            </a:pPr>
            <a:r>
              <a:rPr lang="en-US" altLang="zh-CN" sz="2800" dirty="0">
                <a:solidFill>
                  <a:schemeClr val="tx1"/>
                </a:solidFill>
                <a:latin typeface="Calibri" panose="020F0502020204030204" pitchFamily="34" charset="0"/>
                <a:ea typeface="黑体" panose="02010609060101010101" pitchFamily="2" charset="-122"/>
              </a:rPr>
              <a:t>(</a:t>
            </a:r>
            <a:r>
              <a:rPr lang="zh-CN" altLang="en-US" sz="2800" dirty="0">
                <a:solidFill>
                  <a:srgbClr val="00FF99"/>
                </a:solidFill>
                <a:latin typeface="Calibri" panose="020F0502020204030204" pitchFamily="34" charset="0"/>
                <a:ea typeface="黑体" panose="02010609060101010101" pitchFamily="2" charset="-122"/>
                <a:sym typeface="+mn-ea"/>
              </a:rPr>
              <a:t>总线频率</a:t>
            </a:r>
            <a:r>
              <a:rPr lang="en-US" altLang="zh-CN" sz="2800" dirty="0">
                <a:solidFill>
                  <a:schemeClr val="tx1"/>
                </a:solidFill>
                <a:latin typeface="Calibri" panose="020F0502020204030204" pitchFamily="34" charset="0"/>
                <a:ea typeface="黑体" panose="02010609060101010101" pitchFamily="2" charset="-122"/>
              </a:rPr>
              <a:t>×</a:t>
            </a:r>
            <a:r>
              <a:rPr lang="zh-CN" altLang="en-US" sz="2800" dirty="0">
                <a:solidFill>
                  <a:srgbClr val="00FF99"/>
                </a:solidFill>
                <a:latin typeface="Calibri" panose="020F0502020204030204" pitchFamily="34" charset="0"/>
                <a:ea typeface="黑体" panose="02010609060101010101" pitchFamily="2" charset="-122"/>
                <a:sym typeface="+mn-ea"/>
              </a:rPr>
              <a:t>总线位宽</a:t>
            </a:r>
            <a:r>
              <a:rPr lang="en-US" altLang="zh-CN" sz="2800" dirty="0">
                <a:solidFill>
                  <a:schemeClr val="tx1"/>
                </a:solidFill>
                <a:latin typeface="Calibri" panose="020F0502020204030204" pitchFamily="34" charset="0"/>
                <a:ea typeface="黑体" panose="02010609060101010101" pitchFamily="2" charset="-122"/>
              </a:rPr>
              <a:t>) ÷8</a:t>
            </a:r>
            <a:endParaRPr lang="en-US" altLang="zh-CN" sz="2800" dirty="0">
              <a:solidFill>
                <a:schemeClr val="tx1"/>
              </a:solidFill>
              <a:latin typeface="Calibri" panose="020F0502020204030204" pitchFamily="34" charset="0"/>
              <a:ea typeface="黑体" panose="02010609060101010101" pitchFamily="2" charset="-122"/>
            </a:endParaRPr>
          </a:p>
        </p:txBody>
      </p:sp>
      <p:sp>
        <p:nvSpPr>
          <p:cNvPr id="16" name="Text Box 15"/>
          <p:cNvSpPr txBox="1"/>
          <p:nvPr/>
        </p:nvSpPr>
        <p:spPr>
          <a:xfrm>
            <a:off x="6660515" y="3314383"/>
            <a:ext cx="942975" cy="522287"/>
          </a:xfrm>
          <a:prstGeom prst="rect">
            <a:avLst/>
          </a:prstGeom>
          <a:noFill/>
          <a:ln w="12700">
            <a:noFill/>
          </a:ln>
        </p:spPr>
        <p:txBody>
          <a:bodyPr wrap="none">
            <a:spAutoFit/>
          </a:bodyPr>
          <a:p>
            <a:pPr algn="ctr" eaLnBrk="1" hangingPunct="1">
              <a:buNone/>
            </a:pPr>
            <a:r>
              <a:rPr lang="en-US" altLang="zh-CN" sz="2800" dirty="0">
                <a:solidFill>
                  <a:schemeClr val="accent1"/>
                </a:solidFill>
                <a:latin typeface="Calibri" panose="020F0502020204030204" pitchFamily="34" charset="0"/>
                <a:ea typeface="黑体" panose="02010609060101010101" pitchFamily="2" charset="-122"/>
              </a:rPr>
              <a:t>(Bps)</a:t>
            </a:r>
            <a:endParaRPr lang="en-US" altLang="zh-CN" sz="2800" dirty="0">
              <a:solidFill>
                <a:schemeClr val="accent1"/>
              </a:solidFill>
              <a:latin typeface="Calibri" panose="020F0502020204030204" pitchFamily="34" charset="0"/>
              <a:ea typeface="黑体" panose="02010609060101010101" pitchFamily="2" charset="-122"/>
            </a:endParaRPr>
          </a:p>
        </p:txBody>
      </p:sp>
    </p:spTree>
  </p:cSld>
  <p:clrMapOvr>
    <a:masterClrMapping/>
  </p:clrMapOvr>
  <p:transition spd="slow">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96" name="Text Box 12"/>
          <p:cNvSpPr txBox="1"/>
          <p:nvPr/>
        </p:nvSpPr>
        <p:spPr>
          <a:xfrm>
            <a:off x="363538" y="285750"/>
            <a:ext cx="5521325" cy="579438"/>
          </a:xfrm>
          <a:prstGeom prst="rect">
            <a:avLst/>
          </a:prstGeom>
          <a:noFill/>
          <a:ln w="12700">
            <a:noFill/>
          </a:ln>
        </p:spPr>
        <p:txBody>
          <a:bodyPr>
            <a:spAutoFit/>
          </a:bodyPr>
          <a:p>
            <a:pPr eaLnBrk="1" hangingPunct="1">
              <a:spcBef>
                <a:spcPct val="50000"/>
              </a:spcBef>
              <a:buNone/>
            </a:pPr>
            <a:r>
              <a:rPr lang="en-US" altLang="zh-CN" dirty="0">
                <a:solidFill>
                  <a:schemeClr val="accent1"/>
                </a:solidFill>
                <a:latin typeface="Calibri" panose="020F0502020204030204" pitchFamily="34" charset="0"/>
                <a:ea typeface="黑体" panose="02010609060101010101" pitchFamily="2" charset="-122"/>
              </a:rPr>
              <a:t>2.</a:t>
            </a:r>
            <a:r>
              <a:rPr lang="zh-CN" altLang="en-US" dirty="0">
                <a:solidFill>
                  <a:schemeClr val="accent1"/>
                </a:solidFill>
                <a:latin typeface="Calibri" panose="020F0502020204030204" pitchFamily="34" charset="0"/>
                <a:ea typeface="黑体" panose="02010609060101010101" pitchFamily="2" charset="-122"/>
              </a:rPr>
              <a:t>总线周期与操作过程</a:t>
            </a:r>
            <a:endParaRPr lang="en-US" altLang="zh-CN" dirty="0">
              <a:solidFill>
                <a:schemeClr val="accent1"/>
              </a:solidFill>
              <a:latin typeface="Calibri" panose="020F0502020204030204" pitchFamily="34" charset="0"/>
              <a:ea typeface="黑体" panose="02010609060101010101" pitchFamily="2" charset="-122"/>
            </a:endParaRPr>
          </a:p>
        </p:txBody>
      </p:sp>
      <p:sp>
        <p:nvSpPr>
          <p:cNvPr id="25603" name="Text Box 5"/>
          <p:cNvSpPr txBox="1"/>
          <p:nvPr/>
        </p:nvSpPr>
        <p:spPr>
          <a:xfrm>
            <a:off x="216853" y="3671888"/>
            <a:ext cx="6677025" cy="477837"/>
          </a:xfrm>
          <a:prstGeom prst="rect">
            <a:avLst/>
          </a:prstGeom>
          <a:noFill/>
          <a:ln w="12700">
            <a:noFill/>
          </a:ln>
        </p:spPr>
        <p:txBody>
          <a:bodyPr wrap="none">
            <a:spAutoFit/>
          </a:bodyPr>
          <a:p>
            <a:pPr eaLnBrk="1" hangingPunct="1">
              <a:lnSpc>
                <a:spcPts val="3000"/>
              </a:lnSpc>
            </a:pPr>
            <a:r>
              <a:rPr lang="zh-CN" altLang="en-US" sz="2800" dirty="0">
                <a:solidFill>
                  <a:schemeClr val="tx1"/>
                </a:solidFill>
                <a:latin typeface="黑体" panose="02010609060101010101" pitchFamily="2" charset="-122"/>
                <a:ea typeface="黑体" panose="02010609060101010101" pitchFamily="2" charset="-122"/>
              </a:rPr>
              <a:t>①</a:t>
            </a:r>
            <a:r>
              <a:rPr lang="zh-CN" altLang="en-US" sz="2800" dirty="0">
                <a:solidFill>
                  <a:srgbClr val="FFFF00"/>
                </a:solidFill>
                <a:latin typeface="黑体" panose="02010609060101010101" pitchFamily="2" charset="-122"/>
                <a:ea typeface="黑体" panose="02010609060101010101" pitchFamily="2" charset="-122"/>
              </a:rPr>
              <a:t>主设备</a:t>
            </a:r>
            <a:r>
              <a:rPr lang="zh-CN" altLang="en-US" sz="2800" dirty="0">
                <a:solidFill>
                  <a:schemeClr val="tx1"/>
                </a:solidFill>
                <a:latin typeface="黑体" panose="02010609060101010101" pitchFamily="2" charset="-122"/>
                <a:ea typeface="黑体" panose="02010609060101010101" pitchFamily="2" charset="-122"/>
              </a:rPr>
              <a:t>申请总线，仲裁器裁决并批准；</a:t>
            </a:r>
            <a:endParaRPr lang="zh-CN" altLang="en-US" sz="2800" dirty="0">
              <a:solidFill>
                <a:schemeClr val="tx1"/>
              </a:solidFill>
              <a:latin typeface="黑体" panose="02010609060101010101" pitchFamily="2" charset="-122"/>
              <a:ea typeface="黑体" panose="02010609060101010101" pitchFamily="2" charset="-122"/>
            </a:endParaRPr>
          </a:p>
        </p:txBody>
      </p:sp>
      <p:sp>
        <p:nvSpPr>
          <p:cNvPr id="25604" name="Text Box 6"/>
          <p:cNvSpPr txBox="1"/>
          <p:nvPr/>
        </p:nvSpPr>
        <p:spPr>
          <a:xfrm>
            <a:off x="323850" y="1652588"/>
            <a:ext cx="6048375" cy="522287"/>
          </a:xfrm>
          <a:prstGeom prst="rect">
            <a:avLst/>
          </a:prstGeom>
          <a:noFill/>
          <a:ln w="12700">
            <a:noFill/>
          </a:ln>
        </p:spPr>
        <p:txBody>
          <a:bodyPr>
            <a:spAutoFit/>
          </a:bodyPr>
          <a:p>
            <a:pPr eaLnBrk="1" hangingPunct="1">
              <a:buFont typeface="Wingdings" panose="05000000000000000000" pitchFamily="2" charset="2"/>
            </a:pPr>
            <a:r>
              <a:rPr lang="zh-CN" altLang="en-US" sz="2800" dirty="0">
                <a:solidFill>
                  <a:srgbClr val="FFFF00"/>
                </a:solidFill>
                <a:latin typeface="黑体" panose="02010609060101010101" pitchFamily="2" charset="-122"/>
                <a:ea typeface="黑体" panose="02010609060101010101" pitchFamily="2" charset="-122"/>
              </a:rPr>
              <a:t>主设备：</a:t>
            </a:r>
            <a:r>
              <a:rPr lang="zh-CN" altLang="en-US" sz="2800" dirty="0">
                <a:solidFill>
                  <a:schemeClr val="tx1"/>
                </a:solidFill>
                <a:latin typeface="黑体" panose="02010609060101010101" pitchFamily="2" charset="-122"/>
                <a:ea typeface="黑体" panose="02010609060101010101" pitchFamily="2" charset="-122"/>
              </a:rPr>
              <a:t>申请并掌握总线权限的设备。</a:t>
            </a:r>
            <a:endParaRPr lang="en-US" altLang="zh-CN" sz="2800" dirty="0">
              <a:solidFill>
                <a:schemeClr val="tx1"/>
              </a:solidFill>
              <a:latin typeface="黑体" panose="02010609060101010101" pitchFamily="2" charset="-122"/>
              <a:ea typeface="黑体" panose="02010609060101010101" pitchFamily="2" charset="-122"/>
            </a:endParaRPr>
          </a:p>
        </p:txBody>
      </p:sp>
      <p:sp>
        <p:nvSpPr>
          <p:cNvPr id="9" name="Text Box 6"/>
          <p:cNvSpPr txBox="1"/>
          <p:nvPr/>
        </p:nvSpPr>
        <p:spPr>
          <a:xfrm>
            <a:off x="323850" y="2251075"/>
            <a:ext cx="6048375" cy="523875"/>
          </a:xfrm>
          <a:prstGeom prst="rect">
            <a:avLst/>
          </a:prstGeom>
          <a:noFill/>
          <a:ln w="12700">
            <a:noFill/>
          </a:ln>
        </p:spPr>
        <p:txBody>
          <a:bodyPr>
            <a:spAutoFit/>
          </a:bodyPr>
          <a:p>
            <a:pPr eaLnBrk="1" hangingPunct="1">
              <a:buFont typeface="Wingdings" panose="05000000000000000000" pitchFamily="2" charset="2"/>
            </a:pPr>
            <a:r>
              <a:rPr lang="zh-CN" altLang="en-US" sz="2800" dirty="0">
                <a:solidFill>
                  <a:srgbClr val="FFFF00"/>
                </a:solidFill>
                <a:latin typeface="黑体" panose="02010609060101010101" pitchFamily="2" charset="-122"/>
                <a:ea typeface="黑体" panose="02010609060101010101" pitchFamily="2" charset="-122"/>
              </a:rPr>
              <a:t>从设备：</a:t>
            </a:r>
            <a:r>
              <a:rPr lang="zh-CN" altLang="en-US" sz="2800" dirty="0">
                <a:solidFill>
                  <a:schemeClr val="tx1"/>
                </a:solidFill>
                <a:latin typeface="黑体" panose="02010609060101010101" pitchFamily="2" charset="-122"/>
                <a:ea typeface="黑体" panose="02010609060101010101" pitchFamily="2" charset="-122"/>
              </a:rPr>
              <a:t>与主设备对应的设备。</a:t>
            </a:r>
            <a:endParaRPr lang="en-US" altLang="zh-CN" sz="2800" dirty="0">
              <a:solidFill>
                <a:schemeClr val="tx1"/>
              </a:solidFill>
              <a:latin typeface="黑体" panose="02010609060101010101" pitchFamily="2" charset="-122"/>
              <a:ea typeface="黑体" panose="02010609060101010101" pitchFamily="2" charset="-122"/>
            </a:endParaRPr>
          </a:p>
        </p:txBody>
      </p:sp>
      <p:sp>
        <p:nvSpPr>
          <p:cNvPr id="10" name="Text Box 6"/>
          <p:cNvSpPr txBox="1"/>
          <p:nvPr/>
        </p:nvSpPr>
        <p:spPr>
          <a:xfrm>
            <a:off x="323850" y="3024188"/>
            <a:ext cx="6048375" cy="583565"/>
          </a:xfrm>
          <a:prstGeom prst="rect">
            <a:avLst/>
          </a:prstGeom>
          <a:noFill/>
          <a:ln w="12700">
            <a:noFill/>
          </a:ln>
        </p:spPr>
        <p:txBody>
          <a:bodyPr>
            <a:spAutoFit/>
          </a:bodyPr>
          <a:p>
            <a:pPr eaLnBrk="1" hangingPunct="1">
              <a:buFont typeface="Wingdings" panose="05000000000000000000" pitchFamily="2" charset="2"/>
            </a:pPr>
            <a:r>
              <a:rPr lang="en-US" altLang="zh-CN" dirty="0">
                <a:solidFill>
                  <a:schemeClr val="accent1"/>
                </a:solidFill>
                <a:latin typeface="黑体" panose="02010609060101010101" pitchFamily="2" charset="-122"/>
                <a:ea typeface="黑体" panose="02010609060101010101" pitchFamily="2" charset="-122"/>
              </a:rPr>
              <a:t>(1)</a:t>
            </a:r>
            <a:r>
              <a:rPr lang="zh-CN" altLang="en-US" dirty="0">
                <a:solidFill>
                  <a:schemeClr val="accent1"/>
                </a:solidFill>
                <a:latin typeface="黑体" panose="02010609060101010101" pitchFamily="2" charset="-122"/>
                <a:ea typeface="黑体" panose="02010609060101010101" pitchFamily="2" charset="-122"/>
              </a:rPr>
              <a:t>总线操作的基本步骤</a:t>
            </a:r>
            <a:endParaRPr lang="en-US" altLang="zh-CN" dirty="0">
              <a:solidFill>
                <a:schemeClr val="accent1"/>
              </a:solidFill>
              <a:latin typeface="黑体" panose="02010609060101010101" pitchFamily="2" charset="-122"/>
              <a:ea typeface="黑体" panose="02010609060101010101" pitchFamily="2" charset="-122"/>
            </a:endParaRPr>
          </a:p>
        </p:txBody>
      </p:sp>
      <p:sp>
        <p:nvSpPr>
          <p:cNvPr id="11" name="矩形 10"/>
          <p:cNvSpPr/>
          <p:nvPr/>
        </p:nvSpPr>
        <p:spPr>
          <a:xfrm>
            <a:off x="217170" y="4248150"/>
            <a:ext cx="8871585" cy="475615"/>
          </a:xfrm>
          <a:prstGeom prst="rect">
            <a:avLst/>
          </a:prstGeom>
          <a:noFill/>
          <a:ln w="9525">
            <a:noFill/>
          </a:ln>
        </p:spPr>
        <p:txBody>
          <a:bodyPr wrap="square">
            <a:spAutoFit/>
          </a:bodyPr>
          <a:p>
            <a:pPr eaLnBrk="1" hangingPunct="1">
              <a:lnSpc>
                <a:spcPts val="3000"/>
              </a:lnSpc>
            </a:pPr>
            <a:r>
              <a:rPr lang="zh-CN" altLang="en-US" sz="2800" dirty="0">
                <a:solidFill>
                  <a:schemeClr val="tx1"/>
                </a:solidFill>
                <a:latin typeface="黑体" panose="02010609060101010101" pitchFamily="2" charset="-122"/>
                <a:ea typeface="黑体" panose="02010609060101010101" pitchFamily="2" charset="-122"/>
              </a:rPr>
              <a:t>②</a:t>
            </a:r>
            <a:r>
              <a:rPr lang="zh-CN" altLang="en-US" sz="2800" dirty="0">
                <a:solidFill>
                  <a:srgbClr val="FFFF00"/>
                </a:solidFill>
                <a:latin typeface="黑体" panose="02010609060101010101" pitchFamily="2" charset="-122"/>
                <a:ea typeface="黑体" panose="02010609060101010101" pitchFamily="2" charset="-122"/>
              </a:rPr>
              <a:t>主设备</a:t>
            </a:r>
            <a:r>
              <a:rPr lang="zh-CN" altLang="en-US" sz="2800" dirty="0">
                <a:solidFill>
                  <a:schemeClr val="tx1"/>
                </a:solidFill>
                <a:latin typeface="黑体" panose="02010609060101010101" pitchFamily="2" charset="-122"/>
                <a:ea typeface="黑体" panose="02010609060101010101" pitchFamily="2" charset="-122"/>
              </a:rPr>
              <a:t>掌握总线，启动总线周期，发地址和操作</a:t>
            </a:r>
            <a:r>
              <a:rPr lang="zh-CN" altLang="en-US" sz="2800" dirty="0">
                <a:solidFill>
                  <a:schemeClr val="tx1"/>
                </a:solidFill>
                <a:latin typeface="黑体" panose="02010609060101010101" pitchFamily="2" charset="-122"/>
                <a:ea typeface="黑体" panose="02010609060101010101" pitchFamily="2" charset="-122"/>
              </a:rPr>
              <a:t>类型；</a:t>
            </a:r>
            <a:endParaRPr lang="zh-CN" altLang="en-US" sz="2800" dirty="0">
              <a:solidFill>
                <a:schemeClr val="tx1"/>
              </a:solidFill>
              <a:latin typeface="黑体" panose="02010609060101010101" pitchFamily="2" charset="-122"/>
              <a:ea typeface="黑体" panose="02010609060101010101" pitchFamily="2" charset="-122"/>
            </a:endParaRPr>
          </a:p>
        </p:txBody>
      </p:sp>
      <p:sp>
        <p:nvSpPr>
          <p:cNvPr id="12" name="矩形 11"/>
          <p:cNvSpPr/>
          <p:nvPr/>
        </p:nvSpPr>
        <p:spPr>
          <a:xfrm>
            <a:off x="216853" y="4824413"/>
            <a:ext cx="7993062" cy="476250"/>
          </a:xfrm>
          <a:prstGeom prst="rect">
            <a:avLst/>
          </a:prstGeom>
          <a:noFill/>
          <a:ln w="9525">
            <a:noFill/>
          </a:ln>
        </p:spPr>
        <p:txBody>
          <a:bodyPr>
            <a:spAutoFit/>
          </a:bodyPr>
          <a:p>
            <a:pPr eaLnBrk="1" hangingPunct="1">
              <a:lnSpc>
                <a:spcPts val="3000"/>
              </a:lnSpc>
            </a:pPr>
            <a:r>
              <a:rPr lang="zh-CN" altLang="en-US" sz="2800" dirty="0">
                <a:solidFill>
                  <a:schemeClr val="tx1"/>
                </a:solidFill>
                <a:latin typeface="黑体" panose="02010609060101010101" pitchFamily="2" charset="-122"/>
                <a:ea typeface="黑体" panose="02010609060101010101" pitchFamily="2" charset="-122"/>
              </a:rPr>
              <a:t>③</a:t>
            </a:r>
            <a:r>
              <a:rPr lang="zh-CN" altLang="en-US" sz="2800" dirty="0">
                <a:solidFill>
                  <a:srgbClr val="FFFF00"/>
                </a:solidFill>
                <a:latin typeface="黑体" panose="02010609060101010101" pitchFamily="2" charset="-122"/>
                <a:ea typeface="黑体" panose="02010609060101010101" pitchFamily="2" charset="-122"/>
              </a:rPr>
              <a:t>从设备</a:t>
            </a:r>
            <a:r>
              <a:rPr lang="zh-CN" altLang="en-US" sz="2800" dirty="0">
                <a:solidFill>
                  <a:schemeClr val="tx1"/>
                </a:solidFill>
                <a:latin typeface="黑体" panose="02010609060101010101" pitchFamily="2" charset="-122"/>
                <a:ea typeface="黑体" panose="02010609060101010101" pitchFamily="2" charset="-122"/>
              </a:rPr>
              <a:t>响应，</a:t>
            </a:r>
            <a:r>
              <a:rPr lang="zh-CN" altLang="en-US" sz="2800" dirty="0">
                <a:solidFill>
                  <a:srgbClr val="FFFF00"/>
                </a:solidFill>
                <a:latin typeface="黑体" panose="02010609060101010101" pitchFamily="2" charset="-122"/>
                <a:ea typeface="黑体" panose="02010609060101010101" pitchFamily="2" charset="-122"/>
              </a:rPr>
              <a:t>主从设备</a:t>
            </a:r>
            <a:r>
              <a:rPr lang="zh-CN" altLang="en-US" sz="2800" dirty="0">
                <a:solidFill>
                  <a:schemeClr val="tx1"/>
                </a:solidFill>
                <a:latin typeface="黑体" panose="02010609060101010101" pitchFamily="2" charset="-122"/>
                <a:ea typeface="黑体" panose="02010609060101010101" pitchFamily="2" charset="-122"/>
              </a:rPr>
              <a:t>之间数据传输；</a:t>
            </a:r>
            <a:endParaRPr lang="zh-CN" altLang="en-US" sz="2800" dirty="0">
              <a:solidFill>
                <a:schemeClr val="tx1"/>
              </a:solidFill>
              <a:latin typeface="黑体" panose="02010609060101010101" pitchFamily="2" charset="-122"/>
              <a:ea typeface="黑体" panose="02010609060101010101" pitchFamily="2" charset="-122"/>
            </a:endParaRPr>
          </a:p>
        </p:txBody>
      </p:sp>
      <p:sp>
        <p:nvSpPr>
          <p:cNvPr id="13" name="矩形 12"/>
          <p:cNvSpPr/>
          <p:nvPr/>
        </p:nvSpPr>
        <p:spPr>
          <a:xfrm>
            <a:off x="216853" y="5400675"/>
            <a:ext cx="6948487" cy="476250"/>
          </a:xfrm>
          <a:prstGeom prst="rect">
            <a:avLst/>
          </a:prstGeom>
          <a:noFill/>
          <a:ln w="9525">
            <a:noFill/>
          </a:ln>
        </p:spPr>
        <p:txBody>
          <a:bodyPr>
            <a:spAutoFit/>
          </a:bodyPr>
          <a:p>
            <a:pPr eaLnBrk="1" hangingPunct="1">
              <a:lnSpc>
                <a:spcPts val="3000"/>
              </a:lnSpc>
            </a:pPr>
            <a:r>
              <a:rPr lang="zh-CN" altLang="en-US" sz="2800" dirty="0">
                <a:solidFill>
                  <a:schemeClr val="tx1"/>
                </a:solidFill>
                <a:latin typeface="黑体" panose="02010609060101010101" pitchFamily="2" charset="-122"/>
                <a:ea typeface="黑体" panose="02010609060101010101" pitchFamily="2" charset="-122"/>
              </a:rPr>
              <a:t>④</a:t>
            </a:r>
            <a:r>
              <a:rPr lang="zh-CN" altLang="en-US" sz="2800" dirty="0">
                <a:solidFill>
                  <a:srgbClr val="FFFF00"/>
                </a:solidFill>
                <a:latin typeface="黑体" panose="02010609060101010101" pitchFamily="2" charset="-122"/>
                <a:ea typeface="黑体" panose="02010609060101010101" pitchFamily="2" charset="-122"/>
              </a:rPr>
              <a:t>主设备</a:t>
            </a:r>
            <a:r>
              <a:rPr lang="zh-CN" altLang="en-US" sz="2800" dirty="0">
                <a:solidFill>
                  <a:schemeClr val="tx1"/>
                </a:solidFill>
                <a:latin typeface="黑体" panose="02010609060101010101" pitchFamily="2" charset="-122"/>
                <a:ea typeface="黑体" panose="02010609060101010101" pitchFamily="2" charset="-122"/>
              </a:rPr>
              <a:t>释放总线，结束总线周期。</a:t>
            </a:r>
            <a:endParaRPr lang="zh-CN" altLang="en-US" sz="2800" dirty="0">
              <a:solidFill>
                <a:schemeClr val="tx1"/>
              </a:solidFill>
              <a:latin typeface="黑体" panose="02010609060101010101" pitchFamily="2" charset="-122"/>
              <a:ea typeface="黑体" panose="02010609060101010101" pitchFamily="2" charset="-122"/>
            </a:endParaRPr>
          </a:p>
        </p:txBody>
      </p:sp>
      <p:sp>
        <p:nvSpPr>
          <p:cNvPr id="14" name="Text Box 12"/>
          <p:cNvSpPr txBox="1"/>
          <p:nvPr/>
        </p:nvSpPr>
        <p:spPr>
          <a:xfrm>
            <a:off x="323850" y="1052513"/>
            <a:ext cx="8448675" cy="523875"/>
          </a:xfrm>
          <a:prstGeom prst="rect">
            <a:avLst/>
          </a:prstGeom>
          <a:noFill/>
          <a:ln w="12700">
            <a:noFill/>
          </a:ln>
        </p:spPr>
        <p:txBody>
          <a:bodyPr>
            <a:spAutoFit/>
          </a:bodyPr>
          <a:p>
            <a:pPr eaLnBrk="1" hangingPunct="1">
              <a:spcBef>
                <a:spcPct val="50000"/>
              </a:spcBef>
            </a:pPr>
            <a:r>
              <a:rPr lang="zh-CN" altLang="en-US" sz="2800" dirty="0">
                <a:solidFill>
                  <a:srgbClr val="FFFF00"/>
                </a:solidFill>
                <a:latin typeface="黑体" panose="02010609060101010101" pitchFamily="2" charset="-122"/>
                <a:ea typeface="黑体" panose="02010609060101010101" pitchFamily="2" charset="-122"/>
              </a:rPr>
              <a:t>总线周期：</a:t>
            </a:r>
            <a:r>
              <a:rPr lang="zh-CN" altLang="en-US" sz="2800" dirty="0">
                <a:solidFill>
                  <a:schemeClr val="tx1"/>
                </a:solidFill>
                <a:latin typeface="黑体" panose="02010609060101010101" pitchFamily="2" charset="-122"/>
                <a:ea typeface="黑体" panose="02010609060101010101" pitchFamily="2" charset="-122"/>
              </a:rPr>
              <a:t>通过总线完成一次完整数据传输的时间；</a:t>
            </a:r>
            <a:endParaRPr lang="en-US" altLang="zh-CN" sz="2800" dirty="0">
              <a:solidFill>
                <a:schemeClr val="tx1"/>
              </a:solidFill>
              <a:latin typeface="宋体" panose="02010600030101010101" pitchFamily="2" charset="-122"/>
            </a:endParaRPr>
          </a:p>
        </p:txBody>
      </p:sp>
    </p:spTree>
  </p:cSld>
  <p:clrMapOvr>
    <a:masterClrMapping/>
  </p:clrMapOvr>
  <p:transition spd="slow">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7"/>
          <p:cNvSpPr txBox="1"/>
          <p:nvPr/>
        </p:nvSpPr>
        <p:spPr>
          <a:xfrm>
            <a:off x="250825" y="328613"/>
            <a:ext cx="6048375" cy="583565"/>
          </a:xfrm>
          <a:prstGeom prst="rect">
            <a:avLst/>
          </a:prstGeom>
          <a:noFill/>
          <a:ln w="12700">
            <a:noFill/>
          </a:ln>
        </p:spPr>
        <p:txBody>
          <a:bodyPr>
            <a:spAutoFit/>
          </a:bodyPr>
          <a:p>
            <a:pPr eaLnBrk="1" hangingPunct="1">
              <a:buFont typeface="Wingdings" panose="05000000000000000000" pitchFamily="2" charset="2"/>
            </a:pPr>
            <a:r>
              <a:rPr lang="en-US" altLang="zh-CN" dirty="0">
                <a:solidFill>
                  <a:schemeClr val="accent1"/>
                </a:solidFill>
                <a:latin typeface="黑体" panose="02010609060101010101" pitchFamily="2" charset="-122"/>
                <a:ea typeface="黑体" panose="02010609060101010101" pitchFamily="2" charset="-122"/>
              </a:rPr>
              <a:t>(2)</a:t>
            </a:r>
            <a:r>
              <a:rPr lang="zh-CN" altLang="en-US" dirty="0">
                <a:solidFill>
                  <a:schemeClr val="accent1"/>
                </a:solidFill>
                <a:latin typeface="黑体" panose="02010609060101010101" pitchFamily="2" charset="-122"/>
                <a:ea typeface="黑体" panose="02010609060101010101" pitchFamily="2" charset="-122"/>
              </a:rPr>
              <a:t>总线上的数据传输模式：</a:t>
            </a:r>
            <a:endParaRPr lang="en-US" altLang="zh-CN" dirty="0">
              <a:solidFill>
                <a:schemeClr val="accent1"/>
              </a:solidFill>
              <a:latin typeface="黑体" panose="02010609060101010101" pitchFamily="2" charset="-122"/>
              <a:ea typeface="黑体" panose="02010609060101010101" pitchFamily="2" charset="-122"/>
            </a:endParaRPr>
          </a:p>
        </p:txBody>
      </p:sp>
      <p:sp>
        <p:nvSpPr>
          <p:cNvPr id="5" name="Text Box 8"/>
          <p:cNvSpPr txBox="1"/>
          <p:nvPr/>
        </p:nvSpPr>
        <p:spPr>
          <a:xfrm>
            <a:off x="250825" y="1125538"/>
            <a:ext cx="8820150" cy="584200"/>
          </a:xfrm>
          <a:prstGeom prst="rect">
            <a:avLst/>
          </a:prstGeom>
          <a:noFill/>
          <a:ln w="12700">
            <a:noFill/>
          </a:ln>
        </p:spPr>
        <p:txBody>
          <a:bodyPr>
            <a:spAutoFit/>
          </a:bodyPr>
          <a:p>
            <a:pPr eaLnBrk="1" hangingPunct="1">
              <a:buFont typeface="Wingdings" panose="05000000000000000000" pitchFamily="2" charset="2"/>
              <a:buChar char="ü"/>
            </a:pPr>
            <a:r>
              <a:rPr lang="zh-CN" altLang="en-US" dirty="0">
                <a:solidFill>
                  <a:schemeClr val="folHlink"/>
                </a:solidFill>
                <a:latin typeface="Calibri" panose="020F0502020204030204" pitchFamily="34" charset="0"/>
                <a:ea typeface="黑体" panose="02010609060101010101" pitchFamily="2" charset="-122"/>
              </a:rPr>
              <a:t>单周期模式</a:t>
            </a:r>
            <a:endParaRPr lang="zh-CN" altLang="en-US" dirty="0">
              <a:solidFill>
                <a:schemeClr val="folHlink"/>
              </a:solidFill>
              <a:latin typeface="Calibri" panose="020F0502020204030204" pitchFamily="34" charset="0"/>
              <a:ea typeface="黑体" panose="02010609060101010101" pitchFamily="2" charset="-122"/>
            </a:endParaRPr>
          </a:p>
        </p:txBody>
      </p:sp>
      <p:sp>
        <p:nvSpPr>
          <p:cNvPr id="6" name="Text Box 8"/>
          <p:cNvSpPr txBox="1"/>
          <p:nvPr/>
        </p:nvSpPr>
        <p:spPr>
          <a:xfrm>
            <a:off x="250825" y="3203575"/>
            <a:ext cx="4897438" cy="585788"/>
          </a:xfrm>
          <a:prstGeom prst="rect">
            <a:avLst/>
          </a:prstGeom>
          <a:noFill/>
          <a:ln w="12700">
            <a:noFill/>
          </a:ln>
        </p:spPr>
        <p:txBody>
          <a:bodyPr>
            <a:spAutoFit/>
          </a:bodyPr>
          <a:p>
            <a:pPr eaLnBrk="1" hangingPunct="1">
              <a:buFont typeface="Wingdings" panose="05000000000000000000" pitchFamily="2" charset="2"/>
              <a:buChar char="ü"/>
            </a:pPr>
            <a:r>
              <a:rPr lang="zh-CN" altLang="en-US" dirty="0">
                <a:solidFill>
                  <a:schemeClr val="folHlink"/>
                </a:solidFill>
                <a:latin typeface="Calibri" panose="020F0502020204030204" pitchFamily="34" charset="0"/>
                <a:ea typeface="黑体" panose="02010609060101010101" pitchFamily="2" charset="-122"/>
              </a:rPr>
              <a:t>突发模式</a:t>
            </a:r>
            <a:r>
              <a:rPr lang="en-US" altLang="zh-CN" dirty="0">
                <a:solidFill>
                  <a:schemeClr val="folHlink"/>
                </a:solidFill>
                <a:latin typeface="Calibri" panose="020F0502020204030204" pitchFamily="34" charset="0"/>
                <a:ea typeface="黑体" panose="02010609060101010101" pitchFamily="2" charset="-122"/>
              </a:rPr>
              <a:t>(burst)</a:t>
            </a:r>
            <a:endParaRPr lang="zh-CN" altLang="en-US" dirty="0">
              <a:solidFill>
                <a:schemeClr val="folHlink"/>
              </a:solidFill>
              <a:latin typeface="Calibri" panose="020F0502020204030204" pitchFamily="34" charset="0"/>
              <a:ea typeface="黑体" panose="02010609060101010101" pitchFamily="2" charset="-122"/>
            </a:endParaRPr>
          </a:p>
        </p:txBody>
      </p:sp>
      <p:sp>
        <p:nvSpPr>
          <p:cNvPr id="7" name="矩形 6"/>
          <p:cNvSpPr/>
          <p:nvPr/>
        </p:nvSpPr>
        <p:spPr>
          <a:xfrm>
            <a:off x="250825" y="1844675"/>
            <a:ext cx="8569325" cy="1077913"/>
          </a:xfrm>
          <a:prstGeom prst="rect">
            <a:avLst/>
          </a:prstGeom>
          <a:noFill/>
          <a:ln w="9525">
            <a:noFill/>
          </a:ln>
        </p:spPr>
        <p:txBody>
          <a:bodyPr>
            <a:spAutoFit/>
          </a:bodyPr>
          <a:p>
            <a:pPr eaLnBrk="1" hangingPunct="1">
              <a:lnSpc>
                <a:spcPts val="4000"/>
              </a:lnSpc>
              <a:buFont typeface="Wingdings" panose="05000000000000000000" pitchFamily="2" charset="2"/>
            </a:pPr>
            <a:r>
              <a:rPr lang="zh-CN" altLang="en-US" dirty="0">
                <a:solidFill>
                  <a:schemeClr val="accent1"/>
                </a:solidFill>
                <a:latin typeface="黑体" panose="02010609060101010101" pitchFamily="2" charset="-122"/>
                <a:ea typeface="黑体" panose="02010609060101010101" pitchFamily="2" charset="-122"/>
              </a:rPr>
              <a:t>传输特点：</a:t>
            </a:r>
            <a:r>
              <a:rPr lang="zh-CN" altLang="en-US" dirty="0">
                <a:solidFill>
                  <a:schemeClr val="tx1"/>
                </a:solidFill>
                <a:latin typeface="黑体" panose="02010609060101010101" pitchFamily="2" charset="-122"/>
                <a:ea typeface="黑体" panose="02010609060101010101" pitchFamily="2" charset="-122"/>
              </a:rPr>
              <a:t>申请</a:t>
            </a:r>
            <a:r>
              <a:rPr lang="en-US" altLang="zh-CN" dirty="0">
                <a:solidFill>
                  <a:schemeClr val="tx1"/>
                </a:solidFill>
                <a:latin typeface="黑体" panose="02010609060101010101" pitchFamily="2" charset="-122"/>
                <a:ea typeface="黑体" panose="02010609060101010101" pitchFamily="2" charset="-122"/>
              </a:rPr>
              <a:t>1</a:t>
            </a:r>
            <a:r>
              <a:rPr lang="zh-CN" altLang="en-US" dirty="0">
                <a:solidFill>
                  <a:schemeClr val="tx1"/>
                </a:solidFill>
                <a:latin typeface="黑体" panose="02010609060101010101" pitchFamily="2" charset="-122"/>
                <a:ea typeface="黑体" panose="02010609060101010101" pitchFamily="2" charset="-122"/>
              </a:rPr>
              <a:t>次，只分配</a:t>
            </a:r>
            <a:r>
              <a:rPr lang="en-US" altLang="zh-CN" dirty="0">
                <a:solidFill>
                  <a:schemeClr val="tx1"/>
                </a:solidFill>
                <a:latin typeface="黑体" panose="02010609060101010101" pitchFamily="2" charset="-122"/>
                <a:ea typeface="黑体" panose="02010609060101010101" pitchFamily="2" charset="-122"/>
              </a:rPr>
              <a:t>1</a:t>
            </a:r>
            <a:r>
              <a:rPr lang="zh-CN" altLang="en-US" dirty="0">
                <a:solidFill>
                  <a:schemeClr val="tx1"/>
                </a:solidFill>
                <a:latin typeface="黑体" panose="02010609060101010101" pitchFamily="2" charset="-122"/>
                <a:ea typeface="黑体" panose="02010609060101010101" pitchFamily="2" charset="-122"/>
              </a:rPr>
              <a:t>个总线周期，只传送</a:t>
            </a:r>
            <a:r>
              <a:rPr lang="en-US" altLang="zh-CN" dirty="0">
                <a:solidFill>
                  <a:schemeClr val="tx1"/>
                </a:solidFill>
                <a:latin typeface="黑体" panose="02010609060101010101" pitchFamily="2" charset="-122"/>
                <a:ea typeface="黑体" panose="02010609060101010101" pitchFamily="2" charset="-122"/>
              </a:rPr>
              <a:t>1</a:t>
            </a:r>
            <a:r>
              <a:rPr lang="zh-CN" altLang="en-US" dirty="0">
                <a:solidFill>
                  <a:schemeClr val="tx1"/>
                </a:solidFill>
                <a:latin typeface="黑体" panose="02010609060101010101" pitchFamily="2" charset="-122"/>
                <a:ea typeface="黑体" panose="02010609060101010101" pitchFamily="2" charset="-122"/>
              </a:rPr>
              <a:t>次数据；</a:t>
            </a:r>
            <a:endParaRPr lang="zh-CN" altLang="en-US" dirty="0">
              <a:solidFill>
                <a:schemeClr val="tx1"/>
              </a:solidFill>
              <a:latin typeface="黑体" panose="02010609060101010101" pitchFamily="2" charset="-122"/>
              <a:ea typeface="黑体" panose="02010609060101010101" pitchFamily="2" charset="-122"/>
            </a:endParaRPr>
          </a:p>
        </p:txBody>
      </p:sp>
      <p:sp>
        <p:nvSpPr>
          <p:cNvPr id="8" name="矩形 7"/>
          <p:cNvSpPr/>
          <p:nvPr/>
        </p:nvSpPr>
        <p:spPr>
          <a:xfrm>
            <a:off x="250825" y="3863975"/>
            <a:ext cx="8393113" cy="1117600"/>
          </a:xfrm>
          <a:prstGeom prst="rect">
            <a:avLst/>
          </a:prstGeom>
          <a:noFill/>
          <a:ln w="9525">
            <a:noFill/>
          </a:ln>
        </p:spPr>
        <p:txBody>
          <a:bodyPr>
            <a:spAutoFit/>
          </a:bodyPr>
          <a:p>
            <a:pPr algn="just" eaLnBrk="1" hangingPunct="1">
              <a:lnSpc>
                <a:spcPts val="4000"/>
              </a:lnSpc>
              <a:buFont typeface="Wingdings" panose="05000000000000000000" pitchFamily="2" charset="2"/>
            </a:pPr>
            <a:r>
              <a:rPr lang="zh-CN" altLang="en-US" dirty="0">
                <a:solidFill>
                  <a:schemeClr val="accent1"/>
                </a:solidFill>
                <a:latin typeface="黑体" panose="02010609060101010101" pitchFamily="2" charset="-122"/>
                <a:ea typeface="黑体" panose="02010609060101010101" pitchFamily="2" charset="-122"/>
              </a:rPr>
              <a:t>传输特点：</a:t>
            </a:r>
            <a:r>
              <a:rPr lang="zh-CN" altLang="en-US" dirty="0">
                <a:solidFill>
                  <a:schemeClr val="tx1"/>
                </a:solidFill>
                <a:latin typeface="黑体" panose="02010609060101010101" pitchFamily="2" charset="-122"/>
                <a:ea typeface="黑体" panose="02010609060101010101" pitchFamily="2" charset="-122"/>
              </a:rPr>
              <a:t>申请</a:t>
            </a:r>
            <a:r>
              <a:rPr lang="en-US" altLang="zh-CN" dirty="0">
                <a:solidFill>
                  <a:schemeClr val="tx1"/>
                </a:solidFill>
                <a:latin typeface="黑体" panose="02010609060101010101" pitchFamily="2" charset="-122"/>
                <a:ea typeface="黑体" panose="02010609060101010101" pitchFamily="2" charset="-122"/>
              </a:rPr>
              <a:t>1</a:t>
            </a:r>
            <a:r>
              <a:rPr lang="zh-CN" altLang="en-US" dirty="0">
                <a:solidFill>
                  <a:schemeClr val="tx1"/>
                </a:solidFill>
                <a:latin typeface="黑体" panose="02010609060101010101" pitchFamily="2" charset="-122"/>
                <a:ea typeface="黑体" panose="02010609060101010101" pitchFamily="2" charset="-122"/>
              </a:rPr>
              <a:t>次，分配多个总线周期，可传输多个数据字。</a:t>
            </a:r>
            <a:endParaRPr lang="zh-CN" altLang="en-US" dirty="0">
              <a:solidFill>
                <a:schemeClr val="tx1"/>
              </a:solidFill>
              <a:latin typeface="黑体" panose="02010609060101010101" pitchFamily="2" charset="-122"/>
              <a:ea typeface="黑体" panose="02010609060101010101" pitchFamily="2" charset="-122"/>
            </a:endParaRPr>
          </a:p>
        </p:txBody>
      </p:sp>
    </p:spTree>
  </p:cSld>
  <p:clrMapOvr>
    <a:masterClrMapping/>
  </p:clrMapOvr>
  <p:transition spd="slow">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7" name="Text Box 5"/>
          <p:cNvSpPr txBox="1"/>
          <p:nvPr/>
        </p:nvSpPr>
        <p:spPr>
          <a:xfrm>
            <a:off x="336550" y="112713"/>
            <a:ext cx="5160963" cy="579437"/>
          </a:xfrm>
          <a:prstGeom prst="rect">
            <a:avLst/>
          </a:prstGeom>
          <a:noFill/>
          <a:ln w="12700">
            <a:noFill/>
          </a:ln>
        </p:spPr>
        <p:txBody>
          <a:bodyPr>
            <a:spAutoFit/>
          </a:bodyPr>
          <a:p>
            <a:pPr eaLnBrk="1" hangingPunct="1">
              <a:spcBef>
                <a:spcPct val="50000"/>
              </a:spcBef>
            </a:pPr>
            <a:r>
              <a:rPr lang="en-US" altLang="zh-CN" dirty="0">
                <a:solidFill>
                  <a:schemeClr val="accent1"/>
                </a:solidFill>
                <a:latin typeface="黑体" panose="02010609060101010101" pitchFamily="2" charset="-122"/>
                <a:ea typeface="黑体" panose="02010609060101010101" pitchFamily="2" charset="-122"/>
              </a:rPr>
              <a:t>3.</a:t>
            </a:r>
            <a:r>
              <a:rPr lang="zh-CN" altLang="en-US" dirty="0">
                <a:solidFill>
                  <a:schemeClr val="accent1"/>
                </a:solidFill>
                <a:latin typeface="黑体" panose="02010609060101010101" pitchFamily="2" charset="-122"/>
                <a:ea typeface="黑体" panose="02010609060101010101" pitchFamily="2" charset="-122"/>
              </a:rPr>
              <a:t>总线的时序和控制</a:t>
            </a:r>
            <a:endParaRPr lang="en-US" altLang="zh-CN" dirty="0">
              <a:solidFill>
                <a:schemeClr val="accent1"/>
              </a:solidFill>
              <a:latin typeface="黑体" panose="02010609060101010101" pitchFamily="2" charset="-122"/>
              <a:ea typeface="黑体" panose="02010609060101010101" pitchFamily="2" charset="-122"/>
            </a:endParaRPr>
          </a:p>
        </p:txBody>
      </p:sp>
      <p:sp>
        <p:nvSpPr>
          <p:cNvPr id="28679" name="Text Box 7"/>
          <p:cNvSpPr txBox="1"/>
          <p:nvPr/>
        </p:nvSpPr>
        <p:spPr>
          <a:xfrm>
            <a:off x="107950" y="836613"/>
            <a:ext cx="4343400" cy="579437"/>
          </a:xfrm>
          <a:prstGeom prst="rect">
            <a:avLst/>
          </a:prstGeom>
          <a:noFill/>
          <a:ln w="12700">
            <a:noFill/>
          </a:ln>
        </p:spPr>
        <p:txBody>
          <a:bodyPr>
            <a:spAutoFit/>
          </a:bodyPr>
          <a:p>
            <a:pPr eaLnBrk="1" hangingPunct="1">
              <a:spcBef>
                <a:spcPct val="50000"/>
              </a:spcBef>
            </a:pPr>
            <a:r>
              <a:rPr lang="zh-CN" altLang="en-US" dirty="0">
                <a:solidFill>
                  <a:srgbClr val="FFFF00"/>
                </a:solidFill>
                <a:latin typeface="黑体" panose="02010609060101010101" pitchFamily="2" charset="-122"/>
                <a:ea typeface="黑体" panose="02010609060101010101" pitchFamily="2" charset="-122"/>
              </a:rPr>
              <a:t>（</a:t>
            </a:r>
            <a:r>
              <a:rPr lang="en-US" altLang="zh-CN" dirty="0">
                <a:solidFill>
                  <a:srgbClr val="FFFF00"/>
                </a:solidFill>
                <a:latin typeface="黑体" panose="02010609060101010101" pitchFamily="2" charset="-122"/>
                <a:ea typeface="黑体" panose="02010609060101010101" pitchFamily="2" charset="-122"/>
              </a:rPr>
              <a:t>1</a:t>
            </a:r>
            <a:r>
              <a:rPr lang="zh-CN" altLang="en-US" dirty="0">
                <a:solidFill>
                  <a:srgbClr val="FFFF00"/>
                </a:solidFill>
                <a:latin typeface="黑体" panose="02010609060101010101" pitchFamily="2" charset="-122"/>
                <a:ea typeface="黑体" panose="02010609060101010101" pitchFamily="2" charset="-122"/>
              </a:rPr>
              <a:t>）同步总线</a:t>
            </a:r>
            <a:endParaRPr lang="zh-CN" altLang="en-US" dirty="0">
              <a:solidFill>
                <a:srgbClr val="FFFF00"/>
              </a:solidFill>
              <a:latin typeface="黑体" panose="02010609060101010101" pitchFamily="2" charset="-122"/>
              <a:ea typeface="黑体" panose="02010609060101010101" pitchFamily="2" charset="-122"/>
            </a:endParaRPr>
          </a:p>
        </p:txBody>
      </p:sp>
      <p:sp>
        <p:nvSpPr>
          <p:cNvPr id="28680" name="Text Box 8"/>
          <p:cNvSpPr txBox="1"/>
          <p:nvPr/>
        </p:nvSpPr>
        <p:spPr>
          <a:xfrm>
            <a:off x="336550" y="1528763"/>
            <a:ext cx="7521575" cy="523875"/>
          </a:xfrm>
          <a:prstGeom prst="rect">
            <a:avLst/>
          </a:prstGeom>
          <a:noFill/>
          <a:ln w="12700">
            <a:noFill/>
          </a:ln>
        </p:spPr>
        <p:txBody>
          <a:bodyPr>
            <a:spAutoFit/>
          </a:bodyPr>
          <a:p>
            <a:pPr eaLnBrk="1" hangingPunct="1">
              <a:spcBef>
                <a:spcPct val="50000"/>
              </a:spcBef>
            </a:pPr>
            <a:r>
              <a:rPr lang="zh-CN" altLang="en-US" sz="2800" dirty="0">
                <a:solidFill>
                  <a:schemeClr val="tx1"/>
                </a:solidFill>
                <a:latin typeface="黑体" panose="02010609060101010101" pitchFamily="2" charset="-122"/>
                <a:ea typeface="黑体" panose="02010609060101010101" pitchFamily="2" charset="-122"/>
              </a:rPr>
              <a:t>由</a:t>
            </a:r>
            <a:r>
              <a:rPr lang="zh-CN" altLang="en-US" sz="2800" dirty="0">
                <a:solidFill>
                  <a:srgbClr val="00FF00"/>
                </a:solidFill>
                <a:latin typeface="黑体" panose="02010609060101010101" pitchFamily="2" charset="-122"/>
                <a:ea typeface="黑体" panose="02010609060101010101" pitchFamily="2" charset="-122"/>
              </a:rPr>
              <a:t>统一的时序信号控制</a:t>
            </a:r>
            <a:r>
              <a:rPr lang="zh-CN" altLang="en-US" sz="2800" dirty="0">
                <a:solidFill>
                  <a:schemeClr val="tx1"/>
                </a:solidFill>
                <a:latin typeface="黑体" panose="02010609060101010101" pitchFamily="2" charset="-122"/>
                <a:ea typeface="黑体" panose="02010609060101010101" pitchFamily="2" charset="-122"/>
              </a:rPr>
              <a:t>总线上的传送操作。</a:t>
            </a:r>
            <a:endParaRPr lang="zh-CN" altLang="en-US" sz="2800" dirty="0">
              <a:solidFill>
                <a:schemeClr val="tx1"/>
              </a:solidFill>
              <a:latin typeface="黑体" panose="02010609060101010101" pitchFamily="2" charset="-122"/>
              <a:ea typeface="黑体" panose="02010609060101010101" pitchFamily="2" charset="-122"/>
            </a:endParaRPr>
          </a:p>
        </p:txBody>
      </p:sp>
      <p:sp>
        <p:nvSpPr>
          <p:cNvPr id="28683" name="Text Box 11"/>
          <p:cNvSpPr txBox="1"/>
          <p:nvPr/>
        </p:nvSpPr>
        <p:spPr>
          <a:xfrm>
            <a:off x="338138" y="2133600"/>
            <a:ext cx="8532812" cy="953135"/>
          </a:xfrm>
          <a:prstGeom prst="rect">
            <a:avLst/>
          </a:prstGeom>
          <a:noFill/>
          <a:ln w="12700">
            <a:noFill/>
          </a:ln>
        </p:spPr>
        <p:txBody>
          <a:bodyPr>
            <a:spAutoFit/>
          </a:bodyPr>
          <a:p>
            <a:pPr eaLnBrk="1" hangingPunct="1">
              <a:spcBef>
                <a:spcPct val="50000"/>
              </a:spcBef>
            </a:pPr>
            <a:r>
              <a:rPr lang="zh-CN" altLang="en-US" sz="2800" dirty="0">
                <a:solidFill>
                  <a:schemeClr val="tx1"/>
                </a:solidFill>
                <a:latin typeface="黑体" panose="02010609060101010101" pitchFamily="2" charset="-122"/>
                <a:ea typeface="黑体" panose="02010609060101010101" pitchFamily="2" charset="-122"/>
              </a:rPr>
              <a:t>在固定时钟周期内（</a:t>
            </a:r>
            <a:r>
              <a:rPr lang="en-US" altLang="zh-CN" sz="2800" dirty="0">
                <a:solidFill>
                  <a:schemeClr val="tx1"/>
                </a:solidFill>
                <a:latin typeface="黑体" panose="02010609060101010101" pitchFamily="2" charset="-122"/>
                <a:ea typeface="黑体" panose="02010609060101010101" pitchFamily="2" charset="-122"/>
              </a:rPr>
              <a:t>4</a:t>
            </a:r>
            <a:r>
              <a:rPr lang="zh-CN" altLang="en-US" sz="2800" dirty="0">
                <a:solidFill>
                  <a:schemeClr val="tx1"/>
                </a:solidFill>
                <a:latin typeface="黑体" panose="02010609060101010101" pitchFamily="2" charset="-122"/>
                <a:ea typeface="黑体" panose="02010609060101010101" pitchFamily="2" charset="-122"/>
              </a:rPr>
              <a:t>个</a:t>
            </a:r>
            <a:r>
              <a:rPr lang="zh-CN" altLang="en-US" sz="2800" dirty="0">
                <a:solidFill>
                  <a:schemeClr val="tx1"/>
                </a:solidFill>
                <a:latin typeface="黑体" panose="02010609060101010101" pitchFamily="2" charset="-122"/>
                <a:ea typeface="黑体" panose="02010609060101010101" pitchFamily="2" charset="-122"/>
              </a:rPr>
              <a:t>时钟周期）完成传送，由同步脉冲定时打入。</a:t>
            </a:r>
            <a:endParaRPr lang="zh-CN" altLang="en-US" sz="2800" dirty="0">
              <a:solidFill>
                <a:schemeClr val="tx1"/>
              </a:solidFill>
              <a:latin typeface="黑体" panose="02010609060101010101" pitchFamily="2" charset="-122"/>
              <a:ea typeface="黑体" panose="02010609060101010101" pitchFamily="2" charset="-122"/>
            </a:endParaRPr>
          </a:p>
        </p:txBody>
      </p:sp>
      <p:grpSp>
        <p:nvGrpSpPr>
          <p:cNvPr id="2" name="Group 62"/>
          <p:cNvGrpSpPr/>
          <p:nvPr/>
        </p:nvGrpSpPr>
        <p:grpSpPr>
          <a:xfrm>
            <a:off x="565150" y="2997200"/>
            <a:ext cx="6902450" cy="2271713"/>
            <a:chOff x="521" y="2478"/>
            <a:chExt cx="4128" cy="1431"/>
          </a:xfrm>
        </p:grpSpPr>
        <p:sp>
          <p:nvSpPr>
            <p:cNvPr id="14348" name="Line 14"/>
            <p:cNvSpPr/>
            <p:nvPr/>
          </p:nvSpPr>
          <p:spPr>
            <a:xfrm>
              <a:off x="1817" y="3150"/>
              <a:ext cx="0" cy="0"/>
            </a:xfrm>
            <a:prstGeom prst="line">
              <a:avLst/>
            </a:prstGeom>
            <a:ln w="12700" cap="sq" cmpd="sng">
              <a:solidFill>
                <a:schemeClr val="tx1"/>
              </a:solidFill>
              <a:prstDash val="solid"/>
              <a:headEnd type="none" w="sm" len="sm"/>
              <a:tailEnd type="none" w="sm" len="sm"/>
            </a:ln>
          </p:spPr>
        </p:sp>
        <p:grpSp>
          <p:nvGrpSpPr>
            <p:cNvPr id="14349" name="Group 15"/>
            <p:cNvGrpSpPr/>
            <p:nvPr/>
          </p:nvGrpSpPr>
          <p:grpSpPr>
            <a:xfrm>
              <a:off x="1625" y="2814"/>
              <a:ext cx="3024" cy="288"/>
              <a:chOff x="624" y="3552"/>
              <a:chExt cx="3024" cy="288"/>
            </a:xfrm>
          </p:grpSpPr>
          <p:grpSp>
            <p:nvGrpSpPr>
              <p:cNvPr id="14375" name="Group 16"/>
              <p:cNvGrpSpPr/>
              <p:nvPr/>
            </p:nvGrpSpPr>
            <p:grpSpPr>
              <a:xfrm>
                <a:off x="624" y="3552"/>
                <a:ext cx="672" cy="288"/>
                <a:chOff x="624" y="3552"/>
                <a:chExt cx="672" cy="288"/>
              </a:xfrm>
            </p:grpSpPr>
            <p:sp>
              <p:nvSpPr>
                <p:cNvPr id="14392" name="Line 17"/>
                <p:cNvSpPr/>
                <p:nvPr/>
              </p:nvSpPr>
              <p:spPr>
                <a:xfrm flipH="1">
                  <a:off x="624" y="3840"/>
                  <a:ext cx="336" cy="0"/>
                </a:xfrm>
                <a:prstGeom prst="line">
                  <a:avLst/>
                </a:prstGeom>
                <a:ln w="28575" cap="sq" cmpd="sng">
                  <a:solidFill>
                    <a:schemeClr val="tx1"/>
                  </a:solidFill>
                  <a:prstDash val="solid"/>
                  <a:headEnd type="none" w="sm" len="sm"/>
                  <a:tailEnd type="none" w="sm" len="sm"/>
                </a:ln>
              </p:spPr>
            </p:sp>
            <p:sp>
              <p:nvSpPr>
                <p:cNvPr id="14393" name="Line 18"/>
                <p:cNvSpPr/>
                <p:nvPr/>
              </p:nvSpPr>
              <p:spPr>
                <a:xfrm flipV="1">
                  <a:off x="960" y="3552"/>
                  <a:ext cx="0" cy="288"/>
                </a:xfrm>
                <a:prstGeom prst="line">
                  <a:avLst/>
                </a:prstGeom>
                <a:ln w="28575" cap="sq" cmpd="sng">
                  <a:solidFill>
                    <a:schemeClr val="tx1"/>
                  </a:solidFill>
                  <a:prstDash val="solid"/>
                  <a:headEnd type="none" w="sm" len="sm"/>
                  <a:tailEnd type="none" w="sm" len="sm"/>
                </a:ln>
              </p:spPr>
            </p:sp>
            <p:sp>
              <p:nvSpPr>
                <p:cNvPr id="14394" name="Line 19"/>
                <p:cNvSpPr/>
                <p:nvPr/>
              </p:nvSpPr>
              <p:spPr>
                <a:xfrm flipH="1">
                  <a:off x="960" y="3552"/>
                  <a:ext cx="336" cy="0"/>
                </a:xfrm>
                <a:prstGeom prst="line">
                  <a:avLst/>
                </a:prstGeom>
                <a:ln w="28575" cap="sq" cmpd="sng">
                  <a:solidFill>
                    <a:schemeClr val="tx1"/>
                  </a:solidFill>
                  <a:prstDash val="solid"/>
                  <a:headEnd type="none" w="sm" len="sm"/>
                  <a:tailEnd type="none" w="sm" len="sm"/>
                </a:ln>
              </p:spPr>
            </p:sp>
            <p:sp>
              <p:nvSpPr>
                <p:cNvPr id="14395" name="Line 20"/>
                <p:cNvSpPr/>
                <p:nvPr/>
              </p:nvSpPr>
              <p:spPr>
                <a:xfrm flipV="1">
                  <a:off x="1296" y="3552"/>
                  <a:ext cx="0" cy="288"/>
                </a:xfrm>
                <a:prstGeom prst="line">
                  <a:avLst/>
                </a:prstGeom>
                <a:ln w="28575" cap="sq" cmpd="sng">
                  <a:solidFill>
                    <a:schemeClr val="tx1"/>
                  </a:solidFill>
                  <a:prstDash val="solid"/>
                  <a:headEnd type="none" w="sm" len="sm"/>
                  <a:tailEnd type="none" w="sm" len="sm"/>
                </a:ln>
              </p:spPr>
            </p:sp>
          </p:grpSp>
          <p:grpSp>
            <p:nvGrpSpPr>
              <p:cNvPr id="14376" name="Group 21"/>
              <p:cNvGrpSpPr/>
              <p:nvPr/>
            </p:nvGrpSpPr>
            <p:grpSpPr>
              <a:xfrm>
                <a:off x="1296" y="3552"/>
                <a:ext cx="672" cy="288"/>
                <a:chOff x="624" y="3552"/>
                <a:chExt cx="672" cy="288"/>
              </a:xfrm>
            </p:grpSpPr>
            <p:sp>
              <p:nvSpPr>
                <p:cNvPr id="14388" name="Line 22"/>
                <p:cNvSpPr/>
                <p:nvPr/>
              </p:nvSpPr>
              <p:spPr>
                <a:xfrm flipH="1">
                  <a:off x="624" y="3840"/>
                  <a:ext cx="336" cy="0"/>
                </a:xfrm>
                <a:prstGeom prst="line">
                  <a:avLst/>
                </a:prstGeom>
                <a:ln w="28575" cap="sq" cmpd="sng">
                  <a:solidFill>
                    <a:schemeClr val="tx1"/>
                  </a:solidFill>
                  <a:prstDash val="solid"/>
                  <a:headEnd type="none" w="sm" len="sm"/>
                  <a:tailEnd type="none" w="sm" len="sm"/>
                </a:ln>
              </p:spPr>
            </p:sp>
            <p:sp>
              <p:nvSpPr>
                <p:cNvPr id="14389" name="Line 23"/>
                <p:cNvSpPr/>
                <p:nvPr/>
              </p:nvSpPr>
              <p:spPr>
                <a:xfrm flipV="1">
                  <a:off x="960" y="3552"/>
                  <a:ext cx="0" cy="288"/>
                </a:xfrm>
                <a:prstGeom prst="line">
                  <a:avLst/>
                </a:prstGeom>
                <a:ln w="28575" cap="sq" cmpd="sng">
                  <a:solidFill>
                    <a:schemeClr val="tx1"/>
                  </a:solidFill>
                  <a:prstDash val="solid"/>
                  <a:headEnd type="none" w="sm" len="sm"/>
                  <a:tailEnd type="none" w="sm" len="sm"/>
                </a:ln>
              </p:spPr>
            </p:sp>
            <p:sp>
              <p:nvSpPr>
                <p:cNvPr id="14390" name="Line 24"/>
                <p:cNvSpPr/>
                <p:nvPr/>
              </p:nvSpPr>
              <p:spPr>
                <a:xfrm flipH="1">
                  <a:off x="960" y="3552"/>
                  <a:ext cx="336" cy="0"/>
                </a:xfrm>
                <a:prstGeom prst="line">
                  <a:avLst/>
                </a:prstGeom>
                <a:ln w="28575" cap="sq" cmpd="sng">
                  <a:solidFill>
                    <a:schemeClr val="tx1"/>
                  </a:solidFill>
                  <a:prstDash val="solid"/>
                  <a:headEnd type="none" w="sm" len="sm"/>
                  <a:tailEnd type="none" w="sm" len="sm"/>
                </a:ln>
              </p:spPr>
            </p:sp>
            <p:sp>
              <p:nvSpPr>
                <p:cNvPr id="14391" name="Line 25"/>
                <p:cNvSpPr/>
                <p:nvPr/>
              </p:nvSpPr>
              <p:spPr>
                <a:xfrm flipV="1">
                  <a:off x="1296" y="3552"/>
                  <a:ext cx="0" cy="288"/>
                </a:xfrm>
                <a:prstGeom prst="line">
                  <a:avLst/>
                </a:prstGeom>
                <a:ln w="28575" cap="sq" cmpd="sng">
                  <a:solidFill>
                    <a:schemeClr val="tx1"/>
                  </a:solidFill>
                  <a:prstDash val="solid"/>
                  <a:headEnd type="none" w="sm" len="sm"/>
                  <a:tailEnd type="none" w="sm" len="sm"/>
                </a:ln>
              </p:spPr>
            </p:sp>
          </p:grpSp>
          <p:grpSp>
            <p:nvGrpSpPr>
              <p:cNvPr id="14377" name="Group 26"/>
              <p:cNvGrpSpPr/>
              <p:nvPr/>
            </p:nvGrpSpPr>
            <p:grpSpPr>
              <a:xfrm>
                <a:off x="1968" y="3552"/>
                <a:ext cx="672" cy="288"/>
                <a:chOff x="624" y="3552"/>
                <a:chExt cx="672" cy="288"/>
              </a:xfrm>
            </p:grpSpPr>
            <p:sp>
              <p:nvSpPr>
                <p:cNvPr id="14384" name="Line 27"/>
                <p:cNvSpPr/>
                <p:nvPr/>
              </p:nvSpPr>
              <p:spPr>
                <a:xfrm flipH="1">
                  <a:off x="624" y="3840"/>
                  <a:ext cx="336" cy="0"/>
                </a:xfrm>
                <a:prstGeom prst="line">
                  <a:avLst/>
                </a:prstGeom>
                <a:ln w="28575" cap="sq" cmpd="sng">
                  <a:solidFill>
                    <a:schemeClr val="tx1"/>
                  </a:solidFill>
                  <a:prstDash val="solid"/>
                  <a:headEnd type="none" w="sm" len="sm"/>
                  <a:tailEnd type="none" w="sm" len="sm"/>
                </a:ln>
              </p:spPr>
            </p:sp>
            <p:sp>
              <p:nvSpPr>
                <p:cNvPr id="14385" name="Line 28"/>
                <p:cNvSpPr/>
                <p:nvPr/>
              </p:nvSpPr>
              <p:spPr>
                <a:xfrm flipV="1">
                  <a:off x="960" y="3552"/>
                  <a:ext cx="0" cy="288"/>
                </a:xfrm>
                <a:prstGeom prst="line">
                  <a:avLst/>
                </a:prstGeom>
                <a:ln w="28575" cap="sq" cmpd="sng">
                  <a:solidFill>
                    <a:schemeClr val="tx1"/>
                  </a:solidFill>
                  <a:prstDash val="solid"/>
                  <a:headEnd type="none" w="sm" len="sm"/>
                  <a:tailEnd type="none" w="sm" len="sm"/>
                </a:ln>
              </p:spPr>
            </p:sp>
            <p:sp>
              <p:nvSpPr>
                <p:cNvPr id="14386" name="Line 29"/>
                <p:cNvSpPr/>
                <p:nvPr/>
              </p:nvSpPr>
              <p:spPr>
                <a:xfrm flipH="1">
                  <a:off x="960" y="3552"/>
                  <a:ext cx="336" cy="0"/>
                </a:xfrm>
                <a:prstGeom prst="line">
                  <a:avLst/>
                </a:prstGeom>
                <a:ln w="28575" cap="sq" cmpd="sng">
                  <a:solidFill>
                    <a:schemeClr val="tx1"/>
                  </a:solidFill>
                  <a:prstDash val="solid"/>
                  <a:headEnd type="none" w="sm" len="sm"/>
                  <a:tailEnd type="none" w="sm" len="sm"/>
                </a:ln>
              </p:spPr>
            </p:sp>
            <p:sp>
              <p:nvSpPr>
                <p:cNvPr id="14387" name="Line 30"/>
                <p:cNvSpPr/>
                <p:nvPr/>
              </p:nvSpPr>
              <p:spPr>
                <a:xfrm flipV="1">
                  <a:off x="1296" y="3552"/>
                  <a:ext cx="0" cy="288"/>
                </a:xfrm>
                <a:prstGeom prst="line">
                  <a:avLst/>
                </a:prstGeom>
                <a:ln w="28575" cap="sq" cmpd="sng">
                  <a:solidFill>
                    <a:schemeClr val="tx1"/>
                  </a:solidFill>
                  <a:prstDash val="solid"/>
                  <a:headEnd type="none" w="sm" len="sm"/>
                  <a:tailEnd type="none" w="sm" len="sm"/>
                </a:ln>
              </p:spPr>
            </p:sp>
          </p:grpSp>
          <p:grpSp>
            <p:nvGrpSpPr>
              <p:cNvPr id="14378" name="Group 31"/>
              <p:cNvGrpSpPr/>
              <p:nvPr/>
            </p:nvGrpSpPr>
            <p:grpSpPr>
              <a:xfrm>
                <a:off x="2640" y="3552"/>
                <a:ext cx="672" cy="288"/>
                <a:chOff x="624" y="3552"/>
                <a:chExt cx="672" cy="288"/>
              </a:xfrm>
            </p:grpSpPr>
            <p:sp>
              <p:nvSpPr>
                <p:cNvPr id="14380" name="Line 32"/>
                <p:cNvSpPr/>
                <p:nvPr/>
              </p:nvSpPr>
              <p:spPr>
                <a:xfrm flipH="1">
                  <a:off x="624" y="3840"/>
                  <a:ext cx="336" cy="0"/>
                </a:xfrm>
                <a:prstGeom prst="line">
                  <a:avLst/>
                </a:prstGeom>
                <a:ln w="28575" cap="sq" cmpd="sng">
                  <a:solidFill>
                    <a:schemeClr val="tx1"/>
                  </a:solidFill>
                  <a:prstDash val="solid"/>
                  <a:headEnd type="none" w="sm" len="sm"/>
                  <a:tailEnd type="none" w="sm" len="sm"/>
                </a:ln>
              </p:spPr>
            </p:sp>
            <p:sp>
              <p:nvSpPr>
                <p:cNvPr id="14381" name="Line 33"/>
                <p:cNvSpPr/>
                <p:nvPr/>
              </p:nvSpPr>
              <p:spPr>
                <a:xfrm flipV="1">
                  <a:off x="960" y="3552"/>
                  <a:ext cx="0" cy="288"/>
                </a:xfrm>
                <a:prstGeom prst="line">
                  <a:avLst/>
                </a:prstGeom>
                <a:ln w="28575" cap="sq" cmpd="sng">
                  <a:solidFill>
                    <a:schemeClr val="tx1"/>
                  </a:solidFill>
                  <a:prstDash val="solid"/>
                  <a:headEnd type="none" w="sm" len="sm"/>
                  <a:tailEnd type="none" w="sm" len="sm"/>
                </a:ln>
              </p:spPr>
            </p:sp>
            <p:sp>
              <p:nvSpPr>
                <p:cNvPr id="14382" name="Line 34"/>
                <p:cNvSpPr/>
                <p:nvPr/>
              </p:nvSpPr>
              <p:spPr>
                <a:xfrm flipH="1">
                  <a:off x="960" y="3552"/>
                  <a:ext cx="336" cy="0"/>
                </a:xfrm>
                <a:prstGeom prst="line">
                  <a:avLst/>
                </a:prstGeom>
                <a:ln w="28575" cap="sq" cmpd="sng">
                  <a:solidFill>
                    <a:schemeClr val="tx1"/>
                  </a:solidFill>
                  <a:prstDash val="solid"/>
                  <a:headEnd type="none" w="sm" len="sm"/>
                  <a:tailEnd type="none" w="sm" len="sm"/>
                </a:ln>
              </p:spPr>
            </p:sp>
            <p:sp>
              <p:nvSpPr>
                <p:cNvPr id="14383" name="Line 35"/>
                <p:cNvSpPr/>
                <p:nvPr/>
              </p:nvSpPr>
              <p:spPr>
                <a:xfrm flipV="1">
                  <a:off x="1296" y="3552"/>
                  <a:ext cx="0" cy="288"/>
                </a:xfrm>
                <a:prstGeom prst="line">
                  <a:avLst/>
                </a:prstGeom>
                <a:ln w="28575" cap="sq" cmpd="sng">
                  <a:solidFill>
                    <a:schemeClr val="tx1"/>
                  </a:solidFill>
                  <a:prstDash val="solid"/>
                  <a:headEnd type="none" w="sm" len="sm"/>
                  <a:tailEnd type="none" w="sm" len="sm"/>
                </a:ln>
              </p:spPr>
            </p:sp>
          </p:grpSp>
          <p:sp>
            <p:nvSpPr>
              <p:cNvPr id="14379" name="Line 36"/>
              <p:cNvSpPr/>
              <p:nvPr/>
            </p:nvSpPr>
            <p:spPr>
              <a:xfrm flipH="1">
                <a:off x="3312" y="3840"/>
                <a:ext cx="336" cy="0"/>
              </a:xfrm>
              <a:prstGeom prst="line">
                <a:avLst/>
              </a:prstGeom>
              <a:ln w="28575" cap="sq" cmpd="sng">
                <a:solidFill>
                  <a:schemeClr val="tx1"/>
                </a:solidFill>
                <a:prstDash val="solid"/>
                <a:headEnd type="none" w="sm" len="sm"/>
                <a:tailEnd type="none" w="sm" len="sm"/>
              </a:ln>
            </p:spPr>
          </p:sp>
        </p:grpSp>
        <p:sp>
          <p:nvSpPr>
            <p:cNvPr id="14350" name="Text Box 37"/>
            <p:cNvSpPr txBox="1"/>
            <p:nvPr/>
          </p:nvSpPr>
          <p:spPr>
            <a:xfrm>
              <a:off x="953" y="2814"/>
              <a:ext cx="864" cy="327"/>
            </a:xfrm>
            <a:prstGeom prst="rect">
              <a:avLst/>
            </a:prstGeom>
            <a:noFill/>
            <a:ln w="12700">
              <a:noFill/>
            </a:ln>
          </p:spPr>
          <p:txBody>
            <a:bodyPr>
              <a:spAutoFit/>
            </a:bodyPr>
            <a:p>
              <a:pPr eaLnBrk="1" hangingPunct="1">
                <a:spcBef>
                  <a:spcPct val="50000"/>
                </a:spcBef>
              </a:pPr>
              <a:r>
                <a:rPr lang="zh-CN" altLang="en-US" sz="2800" dirty="0">
                  <a:solidFill>
                    <a:srgbClr val="FFFF00"/>
                  </a:solidFill>
                  <a:latin typeface="Times New Roman" panose="02020603050405020304" pitchFamily="18" charset="0"/>
                  <a:ea typeface="黑体" panose="02010609060101010101" pitchFamily="2" charset="-122"/>
                </a:rPr>
                <a:t>时钟</a:t>
              </a:r>
              <a:endParaRPr lang="zh-CN" altLang="en-US" sz="2800" dirty="0">
                <a:solidFill>
                  <a:srgbClr val="FFFF00"/>
                </a:solidFill>
                <a:latin typeface="Times New Roman" panose="02020603050405020304" pitchFamily="18" charset="0"/>
                <a:ea typeface="黑体" panose="02010609060101010101" pitchFamily="2" charset="-122"/>
              </a:endParaRPr>
            </a:p>
          </p:txBody>
        </p:sp>
        <p:sp>
          <p:nvSpPr>
            <p:cNvPr id="14351" name="Text Box 38"/>
            <p:cNvSpPr txBox="1"/>
            <p:nvPr/>
          </p:nvSpPr>
          <p:spPr>
            <a:xfrm>
              <a:off x="1769" y="2478"/>
              <a:ext cx="624" cy="327"/>
            </a:xfrm>
            <a:prstGeom prst="rect">
              <a:avLst/>
            </a:prstGeom>
            <a:noFill/>
            <a:ln w="12700">
              <a:noFill/>
            </a:ln>
          </p:spPr>
          <p:txBody>
            <a:bodyPr>
              <a:spAutoFit/>
            </a:bodyPr>
            <a:p>
              <a:pPr algn="ctr" eaLnBrk="1" hangingPunct="1">
                <a:spcBef>
                  <a:spcPct val="50000"/>
                </a:spcBef>
              </a:pPr>
              <a:r>
                <a:rPr lang="en-US" altLang="zh-CN" sz="2800" dirty="0">
                  <a:solidFill>
                    <a:srgbClr val="FFFF00"/>
                  </a:solidFill>
                  <a:latin typeface="Times New Roman" panose="02020603050405020304" pitchFamily="18" charset="0"/>
                  <a:ea typeface="黑体" panose="02010609060101010101" pitchFamily="2" charset="-122"/>
                </a:rPr>
                <a:t>T1</a:t>
              </a:r>
              <a:endParaRPr lang="en-US" altLang="zh-CN" sz="2800" dirty="0">
                <a:solidFill>
                  <a:srgbClr val="FFFF00"/>
                </a:solidFill>
                <a:latin typeface="Times New Roman" panose="02020603050405020304" pitchFamily="18" charset="0"/>
                <a:ea typeface="黑体" panose="02010609060101010101" pitchFamily="2" charset="-122"/>
              </a:endParaRPr>
            </a:p>
          </p:txBody>
        </p:sp>
        <p:sp>
          <p:nvSpPr>
            <p:cNvPr id="14352" name="Text Box 39"/>
            <p:cNvSpPr txBox="1"/>
            <p:nvPr/>
          </p:nvSpPr>
          <p:spPr>
            <a:xfrm>
              <a:off x="3161" y="2478"/>
              <a:ext cx="624" cy="327"/>
            </a:xfrm>
            <a:prstGeom prst="rect">
              <a:avLst/>
            </a:prstGeom>
            <a:noFill/>
            <a:ln w="12700">
              <a:noFill/>
            </a:ln>
          </p:spPr>
          <p:txBody>
            <a:bodyPr>
              <a:spAutoFit/>
            </a:bodyPr>
            <a:p>
              <a:pPr algn="ctr" eaLnBrk="1" hangingPunct="1">
                <a:spcBef>
                  <a:spcPct val="50000"/>
                </a:spcBef>
              </a:pPr>
              <a:r>
                <a:rPr lang="en-US" altLang="zh-CN" sz="2800" dirty="0">
                  <a:solidFill>
                    <a:srgbClr val="FFFF00"/>
                  </a:solidFill>
                  <a:latin typeface="Times New Roman" panose="02020603050405020304" pitchFamily="18" charset="0"/>
                  <a:ea typeface="黑体" panose="02010609060101010101" pitchFamily="2" charset="-122"/>
                </a:rPr>
                <a:t>T3</a:t>
              </a:r>
              <a:endParaRPr lang="en-US" altLang="zh-CN" sz="2800" dirty="0">
                <a:solidFill>
                  <a:srgbClr val="FFFF00"/>
                </a:solidFill>
                <a:latin typeface="Times New Roman" panose="02020603050405020304" pitchFamily="18" charset="0"/>
                <a:ea typeface="黑体" panose="02010609060101010101" pitchFamily="2" charset="-122"/>
              </a:endParaRPr>
            </a:p>
          </p:txBody>
        </p:sp>
        <p:sp>
          <p:nvSpPr>
            <p:cNvPr id="14353" name="Text Box 40"/>
            <p:cNvSpPr txBox="1"/>
            <p:nvPr/>
          </p:nvSpPr>
          <p:spPr>
            <a:xfrm>
              <a:off x="2441" y="2478"/>
              <a:ext cx="624" cy="327"/>
            </a:xfrm>
            <a:prstGeom prst="rect">
              <a:avLst/>
            </a:prstGeom>
            <a:noFill/>
            <a:ln w="12700">
              <a:noFill/>
            </a:ln>
          </p:spPr>
          <p:txBody>
            <a:bodyPr>
              <a:spAutoFit/>
            </a:bodyPr>
            <a:p>
              <a:pPr algn="ctr" eaLnBrk="1" hangingPunct="1">
                <a:spcBef>
                  <a:spcPct val="50000"/>
                </a:spcBef>
              </a:pPr>
              <a:r>
                <a:rPr lang="en-US" altLang="zh-CN" sz="2800" dirty="0">
                  <a:solidFill>
                    <a:srgbClr val="FFFF00"/>
                  </a:solidFill>
                  <a:latin typeface="Times New Roman" panose="02020603050405020304" pitchFamily="18" charset="0"/>
                  <a:ea typeface="黑体" panose="02010609060101010101" pitchFamily="2" charset="-122"/>
                </a:rPr>
                <a:t>T2</a:t>
              </a:r>
              <a:endParaRPr lang="en-US" altLang="zh-CN" sz="2800" dirty="0">
                <a:solidFill>
                  <a:srgbClr val="FFFF00"/>
                </a:solidFill>
                <a:latin typeface="Times New Roman" panose="02020603050405020304" pitchFamily="18" charset="0"/>
                <a:ea typeface="黑体" panose="02010609060101010101" pitchFamily="2" charset="-122"/>
              </a:endParaRPr>
            </a:p>
          </p:txBody>
        </p:sp>
        <p:sp>
          <p:nvSpPr>
            <p:cNvPr id="14354" name="Text Box 41"/>
            <p:cNvSpPr txBox="1"/>
            <p:nvPr/>
          </p:nvSpPr>
          <p:spPr>
            <a:xfrm>
              <a:off x="3833" y="2478"/>
              <a:ext cx="624" cy="327"/>
            </a:xfrm>
            <a:prstGeom prst="rect">
              <a:avLst/>
            </a:prstGeom>
            <a:noFill/>
            <a:ln w="12700">
              <a:noFill/>
            </a:ln>
          </p:spPr>
          <p:txBody>
            <a:bodyPr>
              <a:spAutoFit/>
            </a:bodyPr>
            <a:p>
              <a:pPr algn="ctr" eaLnBrk="1" hangingPunct="1">
                <a:spcBef>
                  <a:spcPct val="50000"/>
                </a:spcBef>
              </a:pPr>
              <a:r>
                <a:rPr lang="en-US" altLang="zh-CN" sz="2800" dirty="0">
                  <a:solidFill>
                    <a:srgbClr val="FFFF00"/>
                  </a:solidFill>
                  <a:latin typeface="Times New Roman" panose="02020603050405020304" pitchFamily="18" charset="0"/>
                  <a:ea typeface="黑体" panose="02010609060101010101" pitchFamily="2" charset="-122"/>
                </a:rPr>
                <a:t>T4</a:t>
              </a:r>
              <a:endParaRPr lang="en-US" altLang="zh-CN" sz="2800" dirty="0">
                <a:solidFill>
                  <a:srgbClr val="FFFF00"/>
                </a:solidFill>
                <a:latin typeface="Times New Roman" panose="02020603050405020304" pitchFamily="18" charset="0"/>
                <a:ea typeface="黑体" panose="02010609060101010101" pitchFamily="2" charset="-122"/>
              </a:endParaRPr>
            </a:p>
          </p:txBody>
        </p:sp>
        <p:sp>
          <p:nvSpPr>
            <p:cNvPr id="14355" name="Text Box 42"/>
            <p:cNvSpPr txBox="1"/>
            <p:nvPr/>
          </p:nvSpPr>
          <p:spPr>
            <a:xfrm>
              <a:off x="953" y="3198"/>
              <a:ext cx="864" cy="327"/>
            </a:xfrm>
            <a:prstGeom prst="rect">
              <a:avLst/>
            </a:prstGeom>
            <a:noFill/>
            <a:ln w="12700">
              <a:noFill/>
            </a:ln>
          </p:spPr>
          <p:txBody>
            <a:bodyPr>
              <a:spAutoFit/>
            </a:bodyPr>
            <a:p>
              <a:pPr eaLnBrk="1" hangingPunct="1">
                <a:spcBef>
                  <a:spcPct val="50000"/>
                </a:spcBef>
              </a:pPr>
              <a:r>
                <a:rPr lang="zh-CN" altLang="en-US" sz="2800" dirty="0">
                  <a:solidFill>
                    <a:srgbClr val="FFFF00"/>
                  </a:solidFill>
                  <a:latin typeface="Times New Roman" panose="02020603050405020304" pitchFamily="18" charset="0"/>
                  <a:ea typeface="黑体" panose="02010609060101010101" pitchFamily="2" charset="-122"/>
                </a:rPr>
                <a:t>地址</a:t>
              </a:r>
              <a:endParaRPr lang="zh-CN" altLang="en-US" sz="2800" dirty="0">
                <a:solidFill>
                  <a:srgbClr val="FFFF00"/>
                </a:solidFill>
                <a:latin typeface="Times New Roman" panose="02020603050405020304" pitchFamily="18" charset="0"/>
                <a:ea typeface="黑体" panose="02010609060101010101" pitchFamily="2" charset="-122"/>
              </a:endParaRPr>
            </a:p>
          </p:txBody>
        </p:sp>
        <p:sp>
          <p:nvSpPr>
            <p:cNvPr id="14356" name="Line 43"/>
            <p:cNvSpPr/>
            <p:nvPr/>
          </p:nvSpPr>
          <p:spPr>
            <a:xfrm>
              <a:off x="1625" y="3246"/>
              <a:ext cx="96" cy="0"/>
            </a:xfrm>
            <a:prstGeom prst="line">
              <a:avLst/>
            </a:prstGeom>
            <a:ln w="28575" cap="sq" cmpd="sng">
              <a:solidFill>
                <a:schemeClr val="tx1"/>
              </a:solidFill>
              <a:prstDash val="solid"/>
              <a:headEnd type="none" w="sm" len="sm"/>
              <a:tailEnd type="none" w="sm" len="sm"/>
            </a:ln>
          </p:spPr>
        </p:sp>
        <p:sp>
          <p:nvSpPr>
            <p:cNvPr id="14357" name="Line 44"/>
            <p:cNvSpPr/>
            <p:nvPr/>
          </p:nvSpPr>
          <p:spPr>
            <a:xfrm>
              <a:off x="1625" y="3486"/>
              <a:ext cx="96" cy="0"/>
            </a:xfrm>
            <a:prstGeom prst="line">
              <a:avLst/>
            </a:prstGeom>
            <a:ln w="28575" cap="sq" cmpd="sng">
              <a:solidFill>
                <a:schemeClr val="tx1"/>
              </a:solidFill>
              <a:prstDash val="solid"/>
              <a:headEnd type="none" w="sm" len="sm"/>
              <a:tailEnd type="none" w="sm" len="sm"/>
            </a:ln>
          </p:spPr>
        </p:sp>
        <p:sp>
          <p:nvSpPr>
            <p:cNvPr id="14358" name="Line 45"/>
            <p:cNvSpPr/>
            <p:nvPr/>
          </p:nvSpPr>
          <p:spPr>
            <a:xfrm>
              <a:off x="1721" y="3246"/>
              <a:ext cx="144" cy="240"/>
            </a:xfrm>
            <a:prstGeom prst="line">
              <a:avLst/>
            </a:prstGeom>
            <a:ln w="28575" cap="sq" cmpd="sng">
              <a:solidFill>
                <a:schemeClr val="tx1"/>
              </a:solidFill>
              <a:prstDash val="solid"/>
              <a:headEnd type="none" w="sm" len="sm"/>
              <a:tailEnd type="none" w="sm" len="sm"/>
            </a:ln>
          </p:spPr>
        </p:sp>
        <p:sp>
          <p:nvSpPr>
            <p:cNvPr id="14359" name="Line 46"/>
            <p:cNvSpPr/>
            <p:nvPr/>
          </p:nvSpPr>
          <p:spPr>
            <a:xfrm>
              <a:off x="1865" y="3486"/>
              <a:ext cx="2112" cy="0"/>
            </a:xfrm>
            <a:prstGeom prst="line">
              <a:avLst/>
            </a:prstGeom>
            <a:ln w="28575" cap="sq" cmpd="sng">
              <a:solidFill>
                <a:schemeClr val="tx1"/>
              </a:solidFill>
              <a:prstDash val="solid"/>
              <a:headEnd type="none" w="sm" len="sm"/>
              <a:tailEnd type="none" w="sm" len="sm"/>
            </a:ln>
          </p:spPr>
        </p:sp>
        <p:sp>
          <p:nvSpPr>
            <p:cNvPr id="14360" name="Line 47"/>
            <p:cNvSpPr/>
            <p:nvPr/>
          </p:nvSpPr>
          <p:spPr>
            <a:xfrm>
              <a:off x="1865" y="3246"/>
              <a:ext cx="2112" cy="0"/>
            </a:xfrm>
            <a:prstGeom prst="line">
              <a:avLst/>
            </a:prstGeom>
            <a:ln w="28575" cap="sq" cmpd="sng">
              <a:solidFill>
                <a:schemeClr val="tx1"/>
              </a:solidFill>
              <a:prstDash val="solid"/>
              <a:headEnd type="none" w="sm" len="sm"/>
              <a:tailEnd type="none" w="sm" len="sm"/>
            </a:ln>
          </p:spPr>
        </p:sp>
        <p:sp>
          <p:nvSpPr>
            <p:cNvPr id="14361" name="Line 48"/>
            <p:cNvSpPr/>
            <p:nvPr/>
          </p:nvSpPr>
          <p:spPr>
            <a:xfrm flipH="1">
              <a:off x="1721" y="3246"/>
              <a:ext cx="144" cy="240"/>
            </a:xfrm>
            <a:prstGeom prst="line">
              <a:avLst/>
            </a:prstGeom>
            <a:ln w="28575" cap="sq" cmpd="sng">
              <a:solidFill>
                <a:schemeClr val="tx1"/>
              </a:solidFill>
              <a:prstDash val="solid"/>
              <a:headEnd type="none" w="sm" len="sm"/>
              <a:tailEnd type="none" w="sm" len="sm"/>
            </a:ln>
          </p:spPr>
        </p:sp>
        <p:sp>
          <p:nvSpPr>
            <p:cNvPr id="14362" name="Line 49"/>
            <p:cNvSpPr/>
            <p:nvPr/>
          </p:nvSpPr>
          <p:spPr>
            <a:xfrm flipH="1">
              <a:off x="3977" y="3246"/>
              <a:ext cx="144" cy="240"/>
            </a:xfrm>
            <a:prstGeom prst="line">
              <a:avLst/>
            </a:prstGeom>
            <a:ln w="28575" cap="sq" cmpd="sng">
              <a:solidFill>
                <a:schemeClr val="tx1"/>
              </a:solidFill>
              <a:prstDash val="solid"/>
              <a:headEnd type="none" w="sm" len="sm"/>
              <a:tailEnd type="none" w="sm" len="sm"/>
            </a:ln>
          </p:spPr>
        </p:sp>
        <p:sp>
          <p:nvSpPr>
            <p:cNvPr id="14363" name="Line 50"/>
            <p:cNvSpPr/>
            <p:nvPr/>
          </p:nvSpPr>
          <p:spPr>
            <a:xfrm>
              <a:off x="3977" y="3246"/>
              <a:ext cx="144" cy="240"/>
            </a:xfrm>
            <a:prstGeom prst="line">
              <a:avLst/>
            </a:prstGeom>
            <a:ln w="28575" cap="sq" cmpd="sng">
              <a:solidFill>
                <a:schemeClr val="tx1"/>
              </a:solidFill>
              <a:prstDash val="solid"/>
              <a:headEnd type="none" w="sm" len="sm"/>
              <a:tailEnd type="none" w="sm" len="sm"/>
            </a:ln>
          </p:spPr>
        </p:sp>
        <p:sp>
          <p:nvSpPr>
            <p:cNvPr id="14364" name="Line 51"/>
            <p:cNvSpPr/>
            <p:nvPr/>
          </p:nvSpPr>
          <p:spPr>
            <a:xfrm>
              <a:off x="4121" y="3486"/>
              <a:ext cx="480" cy="0"/>
            </a:xfrm>
            <a:prstGeom prst="line">
              <a:avLst/>
            </a:prstGeom>
            <a:ln w="28575" cap="sq" cmpd="sng">
              <a:solidFill>
                <a:schemeClr val="tx1"/>
              </a:solidFill>
              <a:prstDash val="solid"/>
              <a:headEnd type="none" w="sm" len="sm"/>
              <a:tailEnd type="none" w="sm" len="sm"/>
            </a:ln>
          </p:spPr>
        </p:sp>
        <p:sp>
          <p:nvSpPr>
            <p:cNvPr id="14365" name="Line 52"/>
            <p:cNvSpPr/>
            <p:nvPr/>
          </p:nvSpPr>
          <p:spPr>
            <a:xfrm>
              <a:off x="4121" y="3246"/>
              <a:ext cx="480" cy="0"/>
            </a:xfrm>
            <a:prstGeom prst="line">
              <a:avLst/>
            </a:prstGeom>
            <a:ln w="28575" cap="sq" cmpd="sng">
              <a:solidFill>
                <a:schemeClr val="tx1"/>
              </a:solidFill>
              <a:prstDash val="solid"/>
              <a:headEnd type="none" w="sm" len="sm"/>
              <a:tailEnd type="none" w="sm" len="sm"/>
            </a:ln>
          </p:spPr>
        </p:sp>
        <p:sp>
          <p:nvSpPr>
            <p:cNvPr id="14366" name="Text Box 53"/>
            <p:cNvSpPr txBox="1"/>
            <p:nvPr/>
          </p:nvSpPr>
          <p:spPr>
            <a:xfrm>
              <a:off x="521" y="3582"/>
              <a:ext cx="1200" cy="327"/>
            </a:xfrm>
            <a:prstGeom prst="rect">
              <a:avLst/>
            </a:prstGeom>
            <a:noFill/>
            <a:ln w="12700">
              <a:noFill/>
            </a:ln>
          </p:spPr>
          <p:txBody>
            <a:bodyPr>
              <a:spAutoFit/>
            </a:bodyPr>
            <a:p>
              <a:pPr eaLnBrk="1" hangingPunct="1">
                <a:spcBef>
                  <a:spcPct val="50000"/>
                </a:spcBef>
              </a:pPr>
              <a:r>
                <a:rPr lang="zh-CN" altLang="en-US" sz="2800" dirty="0">
                  <a:solidFill>
                    <a:srgbClr val="FFFF00"/>
                  </a:solidFill>
                  <a:latin typeface="Times New Roman" panose="02020603050405020304" pitchFamily="18" charset="0"/>
                  <a:ea typeface="黑体" panose="02010609060101010101" pitchFamily="2" charset="-122"/>
                </a:rPr>
                <a:t>读出数据</a:t>
              </a:r>
              <a:endParaRPr lang="zh-CN" altLang="en-US" sz="2800" dirty="0">
                <a:solidFill>
                  <a:srgbClr val="FFFF00"/>
                </a:solidFill>
                <a:latin typeface="Times New Roman" panose="02020603050405020304" pitchFamily="18" charset="0"/>
                <a:ea typeface="黑体" panose="02010609060101010101" pitchFamily="2" charset="-122"/>
              </a:endParaRPr>
            </a:p>
          </p:txBody>
        </p:sp>
        <p:sp>
          <p:nvSpPr>
            <p:cNvPr id="14367" name="Line 54"/>
            <p:cNvSpPr/>
            <p:nvPr/>
          </p:nvSpPr>
          <p:spPr>
            <a:xfrm>
              <a:off x="3977" y="3630"/>
              <a:ext cx="96" cy="144"/>
            </a:xfrm>
            <a:prstGeom prst="line">
              <a:avLst/>
            </a:prstGeom>
            <a:ln w="28575" cap="sq" cmpd="sng">
              <a:solidFill>
                <a:schemeClr val="tx1"/>
              </a:solidFill>
              <a:prstDash val="solid"/>
              <a:headEnd type="none" w="sm" len="sm"/>
              <a:tailEnd type="none" w="sm" len="sm"/>
            </a:ln>
          </p:spPr>
        </p:sp>
        <p:sp>
          <p:nvSpPr>
            <p:cNvPr id="14368" name="Line 55"/>
            <p:cNvSpPr/>
            <p:nvPr/>
          </p:nvSpPr>
          <p:spPr>
            <a:xfrm>
              <a:off x="3113" y="3870"/>
              <a:ext cx="864" cy="0"/>
            </a:xfrm>
            <a:prstGeom prst="line">
              <a:avLst/>
            </a:prstGeom>
            <a:ln w="28575" cap="sq" cmpd="sng">
              <a:solidFill>
                <a:schemeClr val="tx1"/>
              </a:solidFill>
              <a:prstDash val="solid"/>
              <a:headEnd type="none" w="sm" len="sm"/>
              <a:tailEnd type="none" w="sm" len="sm"/>
            </a:ln>
          </p:spPr>
        </p:sp>
        <p:sp>
          <p:nvSpPr>
            <p:cNvPr id="14369" name="Line 56"/>
            <p:cNvSpPr/>
            <p:nvPr/>
          </p:nvSpPr>
          <p:spPr>
            <a:xfrm>
              <a:off x="3113" y="3630"/>
              <a:ext cx="864" cy="0"/>
            </a:xfrm>
            <a:prstGeom prst="line">
              <a:avLst/>
            </a:prstGeom>
            <a:ln w="28575" cap="sq" cmpd="sng">
              <a:solidFill>
                <a:schemeClr val="tx1"/>
              </a:solidFill>
              <a:prstDash val="solid"/>
              <a:headEnd type="none" w="sm" len="sm"/>
              <a:tailEnd type="none" w="sm" len="sm"/>
            </a:ln>
          </p:spPr>
        </p:sp>
        <p:sp>
          <p:nvSpPr>
            <p:cNvPr id="14370" name="Line 57"/>
            <p:cNvSpPr/>
            <p:nvPr/>
          </p:nvSpPr>
          <p:spPr>
            <a:xfrm flipH="1">
              <a:off x="3017" y="3630"/>
              <a:ext cx="96" cy="144"/>
            </a:xfrm>
            <a:prstGeom prst="line">
              <a:avLst/>
            </a:prstGeom>
            <a:ln w="28575" cap="sq" cmpd="sng">
              <a:solidFill>
                <a:schemeClr val="tx1"/>
              </a:solidFill>
              <a:prstDash val="solid"/>
              <a:headEnd type="none" w="sm" len="sm"/>
              <a:tailEnd type="none" w="sm" len="sm"/>
            </a:ln>
          </p:spPr>
        </p:sp>
        <p:sp>
          <p:nvSpPr>
            <p:cNvPr id="14371" name="Line 58"/>
            <p:cNvSpPr/>
            <p:nvPr/>
          </p:nvSpPr>
          <p:spPr>
            <a:xfrm>
              <a:off x="3017" y="3774"/>
              <a:ext cx="96" cy="96"/>
            </a:xfrm>
            <a:prstGeom prst="line">
              <a:avLst/>
            </a:prstGeom>
            <a:ln w="28575" cap="sq" cmpd="sng">
              <a:solidFill>
                <a:schemeClr val="tx1"/>
              </a:solidFill>
              <a:prstDash val="solid"/>
              <a:headEnd type="none" w="sm" len="sm"/>
              <a:tailEnd type="none" w="sm" len="sm"/>
            </a:ln>
          </p:spPr>
        </p:sp>
        <p:sp>
          <p:nvSpPr>
            <p:cNvPr id="14372" name="Line 59"/>
            <p:cNvSpPr/>
            <p:nvPr/>
          </p:nvSpPr>
          <p:spPr>
            <a:xfrm>
              <a:off x="4073" y="3774"/>
              <a:ext cx="528" cy="0"/>
            </a:xfrm>
            <a:prstGeom prst="line">
              <a:avLst/>
            </a:prstGeom>
            <a:ln w="28575" cap="sq" cmpd="sng">
              <a:solidFill>
                <a:schemeClr val="tx1"/>
              </a:solidFill>
              <a:prstDash val="solid"/>
              <a:headEnd type="none" w="sm" len="sm"/>
              <a:tailEnd type="none" w="sm" len="sm"/>
            </a:ln>
          </p:spPr>
        </p:sp>
        <p:sp>
          <p:nvSpPr>
            <p:cNvPr id="14373" name="Line 60"/>
            <p:cNvSpPr/>
            <p:nvPr/>
          </p:nvSpPr>
          <p:spPr>
            <a:xfrm>
              <a:off x="1625" y="3774"/>
              <a:ext cx="1392" cy="0"/>
            </a:xfrm>
            <a:prstGeom prst="line">
              <a:avLst/>
            </a:prstGeom>
            <a:ln w="28575" cap="sq" cmpd="sng">
              <a:solidFill>
                <a:schemeClr val="tx1"/>
              </a:solidFill>
              <a:prstDash val="solid"/>
              <a:headEnd type="none" w="sm" len="sm"/>
              <a:tailEnd type="none" w="sm" len="sm"/>
            </a:ln>
          </p:spPr>
        </p:sp>
        <p:sp>
          <p:nvSpPr>
            <p:cNvPr id="14374" name="Line 61"/>
            <p:cNvSpPr/>
            <p:nvPr/>
          </p:nvSpPr>
          <p:spPr>
            <a:xfrm flipH="1">
              <a:off x="3977" y="3774"/>
              <a:ext cx="96" cy="96"/>
            </a:xfrm>
            <a:prstGeom prst="line">
              <a:avLst/>
            </a:prstGeom>
            <a:ln w="28575" cap="sq" cmpd="sng">
              <a:solidFill>
                <a:schemeClr val="tx1"/>
              </a:solidFill>
              <a:prstDash val="solid"/>
              <a:headEnd type="none" w="sm" len="sm"/>
              <a:tailEnd type="none" w="sm" len="sm"/>
            </a:ln>
          </p:spPr>
        </p:sp>
      </p:grpSp>
      <p:sp>
        <p:nvSpPr>
          <p:cNvPr id="28735" name="Line 63"/>
          <p:cNvSpPr/>
          <p:nvPr/>
        </p:nvSpPr>
        <p:spPr>
          <a:xfrm>
            <a:off x="2978150" y="4046538"/>
            <a:ext cx="0" cy="1327150"/>
          </a:xfrm>
          <a:prstGeom prst="line">
            <a:avLst/>
          </a:prstGeom>
          <a:ln w="28575" cap="flat" cmpd="sng">
            <a:solidFill>
              <a:schemeClr val="accent1"/>
            </a:solidFill>
            <a:prstDash val="dash"/>
            <a:headEnd type="none" w="sm" len="sm"/>
            <a:tailEnd type="none" w="sm" len="sm"/>
          </a:ln>
        </p:spPr>
      </p:sp>
      <p:sp>
        <p:nvSpPr>
          <p:cNvPr id="28736" name="Text Box 64"/>
          <p:cNvSpPr txBox="1"/>
          <p:nvPr/>
        </p:nvSpPr>
        <p:spPr>
          <a:xfrm>
            <a:off x="2368550" y="5341938"/>
            <a:ext cx="1905000" cy="457200"/>
          </a:xfrm>
          <a:prstGeom prst="rect">
            <a:avLst/>
          </a:prstGeom>
          <a:noFill/>
          <a:ln w="12700">
            <a:noFill/>
          </a:ln>
        </p:spPr>
        <p:txBody>
          <a:bodyPr>
            <a:spAutoFit/>
          </a:bodyPr>
          <a:p>
            <a:pPr eaLnBrk="1" hangingPunct="1">
              <a:spcBef>
                <a:spcPct val="50000"/>
              </a:spcBef>
            </a:pPr>
            <a:r>
              <a:rPr lang="zh-CN" altLang="en-US" sz="2400" dirty="0">
                <a:solidFill>
                  <a:schemeClr val="accent1"/>
                </a:solidFill>
                <a:latin typeface="Times New Roman" panose="02020603050405020304" pitchFamily="18" charset="0"/>
                <a:ea typeface="黑体" panose="02010609060101010101" pitchFamily="2" charset="-122"/>
              </a:rPr>
              <a:t>打入地址</a:t>
            </a:r>
            <a:endParaRPr lang="zh-CN" altLang="en-US" sz="2400" dirty="0">
              <a:solidFill>
                <a:schemeClr val="accent1"/>
              </a:solidFill>
              <a:latin typeface="Times New Roman" panose="02020603050405020304" pitchFamily="18" charset="0"/>
              <a:ea typeface="黑体" panose="02010609060101010101" pitchFamily="2" charset="-122"/>
            </a:endParaRPr>
          </a:p>
        </p:txBody>
      </p:sp>
      <p:sp>
        <p:nvSpPr>
          <p:cNvPr id="28737" name="Text Box 65"/>
          <p:cNvSpPr txBox="1"/>
          <p:nvPr/>
        </p:nvSpPr>
        <p:spPr>
          <a:xfrm>
            <a:off x="4244975" y="5341938"/>
            <a:ext cx="1905000" cy="457200"/>
          </a:xfrm>
          <a:prstGeom prst="rect">
            <a:avLst/>
          </a:prstGeom>
          <a:noFill/>
          <a:ln w="12700">
            <a:noFill/>
          </a:ln>
        </p:spPr>
        <p:txBody>
          <a:bodyPr>
            <a:spAutoFit/>
          </a:bodyPr>
          <a:p>
            <a:pPr algn="ctr" eaLnBrk="1" hangingPunct="1">
              <a:spcBef>
                <a:spcPct val="50000"/>
              </a:spcBef>
            </a:pPr>
            <a:r>
              <a:rPr lang="zh-CN" altLang="en-US" sz="2400" dirty="0">
                <a:solidFill>
                  <a:schemeClr val="accent1"/>
                </a:solidFill>
                <a:latin typeface="Times New Roman" panose="02020603050405020304" pitchFamily="18" charset="0"/>
                <a:ea typeface="黑体" panose="02010609060101010101" pitchFamily="2" charset="-122"/>
              </a:rPr>
              <a:t>打入数据</a:t>
            </a:r>
            <a:endParaRPr lang="zh-CN" altLang="en-US" sz="2400" dirty="0">
              <a:solidFill>
                <a:schemeClr val="accent1"/>
              </a:solidFill>
              <a:latin typeface="Times New Roman" panose="02020603050405020304" pitchFamily="18" charset="0"/>
              <a:ea typeface="黑体" panose="02010609060101010101" pitchFamily="2" charset="-122"/>
            </a:endParaRPr>
          </a:p>
        </p:txBody>
      </p:sp>
      <p:sp>
        <p:nvSpPr>
          <p:cNvPr id="28738" name="Line 66"/>
          <p:cNvSpPr/>
          <p:nvPr/>
        </p:nvSpPr>
        <p:spPr>
          <a:xfrm>
            <a:off x="5211763" y="4084638"/>
            <a:ext cx="0" cy="1295400"/>
          </a:xfrm>
          <a:prstGeom prst="line">
            <a:avLst/>
          </a:prstGeom>
          <a:ln w="28575" cap="flat" cmpd="sng">
            <a:solidFill>
              <a:schemeClr val="accent1"/>
            </a:solidFill>
            <a:prstDash val="dash"/>
            <a:headEnd type="none" w="sm" len="sm"/>
            <a:tailEnd type="none" w="sm" len="sm"/>
          </a:ln>
        </p:spPr>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8735"/>
                                        </p:tgtEl>
                                        <p:attrNameLst>
                                          <p:attrName>style.visibility</p:attrName>
                                        </p:attrNameLst>
                                      </p:cBhvr>
                                      <p:to>
                                        <p:strVal val="visible"/>
                                      </p:to>
                                    </p:set>
                                    <p:animEffect transition="in" filter="wipe(up)">
                                      <p:cBhvr>
                                        <p:cTn id="12" dur="500"/>
                                        <p:tgtEl>
                                          <p:spTgt spid="28735"/>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28736">
                                            <p:txEl>
                                              <p:charRg st="0" end="5"/>
                                            </p:txEl>
                                          </p:spTgt>
                                        </p:tgtEl>
                                        <p:attrNameLst>
                                          <p:attrName>style.visibility</p:attrName>
                                        </p:attrNameLst>
                                      </p:cBhvr>
                                      <p:to>
                                        <p:strVal val="visible"/>
                                      </p:to>
                                    </p:set>
                                    <p:animEffect transition="in" filter="dissolve">
                                      <p:cBhvr>
                                        <p:cTn id="16" dur="500"/>
                                        <p:tgtEl>
                                          <p:spTgt spid="28736">
                                            <p:txEl>
                                              <p:charRg st="0"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28738"/>
                                        </p:tgtEl>
                                        <p:attrNameLst>
                                          <p:attrName>style.visibility</p:attrName>
                                        </p:attrNameLst>
                                      </p:cBhvr>
                                      <p:to>
                                        <p:strVal val="visible"/>
                                      </p:to>
                                    </p:set>
                                    <p:animEffect transition="in" filter="wipe(up)">
                                      <p:cBhvr>
                                        <p:cTn id="21" dur="500"/>
                                        <p:tgtEl>
                                          <p:spTgt spid="28738"/>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28737">
                                            <p:txEl>
                                              <p:charRg st="0" end="5"/>
                                            </p:txEl>
                                          </p:spTgt>
                                        </p:tgtEl>
                                        <p:attrNameLst>
                                          <p:attrName>style.visibility</p:attrName>
                                        </p:attrNameLst>
                                      </p:cBhvr>
                                      <p:to>
                                        <p:strVal val="visible"/>
                                      </p:to>
                                    </p:set>
                                    <p:animEffect transition="in" filter="dissolve">
                                      <p:cBhvr>
                                        <p:cTn id="25" dur="500"/>
                                        <p:tgtEl>
                                          <p:spTgt spid="28737">
                                            <p:txEl>
                                              <p:charRg st="0"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36" grpId="0" advAuto="1000" build="p"/>
      <p:bldP spid="28737" grpId="0" advAuto="100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750" name="Line 54"/>
          <p:cNvSpPr/>
          <p:nvPr/>
        </p:nvSpPr>
        <p:spPr>
          <a:xfrm flipH="1">
            <a:off x="2886075" y="4584700"/>
            <a:ext cx="2133600" cy="0"/>
          </a:xfrm>
          <a:prstGeom prst="line">
            <a:avLst/>
          </a:prstGeom>
          <a:ln w="28575" cap="sq" cmpd="sng">
            <a:solidFill>
              <a:schemeClr val="tx1"/>
            </a:solidFill>
            <a:prstDash val="solid"/>
            <a:headEnd type="none" w="sm" len="sm"/>
            <a:tailEnd type="none" w="sm" len="sm"/>
          </a:ln>
        </p:spPr>
      </p:sp>
      <p:sp>
        <p:nvSpPr>
          <p:cNvPr id="29751" name="Line 55"/>
          <p:cNvSpPr/>
          <p:nvPr/>
        </p:nvSpPr>
        <p:spPr>
          <a:xfrm flipV="1">
            <a:off x="5019675" y="4127500"/>
            <a:ext cx="0" cy="457200"/>
          </a:xfrm>
          <a:prstGeom prst="line">
            <a:avLst/>
          </a:prstGeom>
          <a:ln w="28575" cap="sq" cmpd="sng">
            <a:solidFill>
              <a:schemeClr val="tx1"/>
            </a:solidFill>
            <a:prstDash val="solid"/>
            <a:headEnd type="none" w="sm" len="sm"/>
            <a:tailEnd type="none" w="sm" len="sm"/>
          </a:ln>
        </p:spPr>
      </p:sp>
      <p:sp>
        <p:nvSpPr>
          <p:cNvPr id="29752" name="Line 56"/>
          <p:cNvSpPr/>
          <p:nvPr/>
        </p:nvSpPr>
        <p:spPr>
          <a:xfrm flipH="1">
            <a:off x="5019675" y="4127500"/>
            <a:ext cx="2667000" cy="0"/>
          </a:xfrm>
          <a:prstGeom prst="line">
            <a:avLst/>
          </a:prstGeom>
          <a:ln w="28575" cap="sq" cmpd="sng">
            <a:solidFill>
              <a:schemeClr val="tx1"/>
            </a:solidFill>
            <a:prstDash val="solid"/>
            <a:headEnd type="none" w="sm" len="sm"/>
            <a:tailEnd type="none" w="sm" len="sm"/>
          </a:ln>
        </p:spPr>
      </p:sp>
      <p:sp>
        <p:nvSpPr>
          <p:cNvPr id="29753" name="Line 57"/>
          <p:cNvSpPr/>
          <p:nvPr/>
        </p:nvSpPr>
        <p:spPr>
          <a:xfrm flipV="1">
            <a:off x="7686675" y="4127500"/>
            <a:ext cx="0" cy="457200"/>
          </a:xfrm>
          <a:prstGeom prst="line">
            <a:avLst/>
          </a:prstGeom>
          <a:ln w="28575" cap="sq" cmpd="sng">
            <a:solidFill>
              <a:schemeClr val="tx1"/>
            </a:solidFill>
            <a:prstDash val="solid"/>
            <a:headEnd type="none" w="sm" len="sm"/>
            <a:tailEnd type="none" w="sm" len="sm"/>
          </a:ln>
        </p:spPr>
      </p:sp>
      <p:sp>
        <p:nvSpPr>
          <p:cNvPr id="29754" name="Line 58"/>
          <p:cNvSpPr/>
          <p:nvPr/>
        </p:nvSpPr>
        <p:spPr>
          <a:xfrm flipH="1">
            <a:off x="2886075" y="5194300"/>
            <a:ext cx="4572000" cy="0"/>
          </a:xfrm>
          <a:prstGeom prst="line">
            <a:avLst/>
          </a:prstGeom>
          <a:ln w="28575" cap="sq" cmpd="sng">
            <a:solidFill>
              <a:schemeClr val="tx1"/>
            </a:solidFill>
            <a:prstDash val="solid"/>
            <a:headEnd type="none" w="sm" len="sm"/>
            <a:tailEnd type="none" w="sm" len="sm"/>
          </a:ln>
        </p:spPr>
      </p:sp>
      <p:sp>
        <p:nvSpPr>
          <p:cNvPr id="29755" name="Line 59"/>
          <p:cNvSpPr/>
          <p:nvPr/>
        </p:nvSpPr>
        <p:spPr>
          <a:xfrm flipV="1">
            <a:off x="7458075" y="4732338"/>
            <a:ext cx="0" cy="457200"/>
          </a:xfrm>
          <a:prstGeom prst="line">
            <a:avLst/>
          </a:prstGeom>
          <a:ln w="28575" cap="sq" cmpd="sng">
            <a:solidFill>
              <a:schemeClr val="tx1"/>
            </a:solidFill>
            <a:prstDash val="solid"/>
            <a:headEnd type="none" w="sm" len="sm"/>
            <a:tailEnd type="none" w="sm" len="sm"/>
          </a:ln>
        </p:spPr>
      </p:sp>
      <p:sp>
        <p:nvSpPr>
          <p:cNvPr id="29756" name="Line 60"/>
          <p:cNvSpPr/>
          <p:nvPr/>
        </p:nvSpPr>
        <p:spPr>
          <a:xfrm flipH="1">
            <a:off x="7472363" y="4732338"/>
            <a:ext cx="533400" cy="0"/>
          </a:xfrm>
          <a:prstGeom prst="line">
            <a:avLst/>
          </a:prstGeom>
          <a:ln w="28575" cap="sq" cmpd="sng">
            <a:solidFill>
              <a:schemeClr val="tx1"/>
            </a:solidFill>
            <a:prstDash val="solid"/>
            <a:headEnd type="none" w="sm" len="sm"/>
            <a:tailEnd type="none" w="sm" len="sm"/>
          </a:ln>
        </p:spPr>
      </p:sp>
      <p:sp>
        <p:nvSpPr>
          <p:cNvPr id="29757" name="Line 61"/>
          <p:cNvSpPr/>
          <p:nvPr/>
        </p:nvSpPr>
        <p:spPr>
          <a:xfrm flipV="1">
            <a:off x="7991475" y="4722813"/>
            <a:ext cx="0" cy="457200"/>
          </a:xfrm>
          <a:prstGeom prst="line">
            <a:avLst/>
          </a:prstGeom>
          <a:ln w="28575" cap="sq" cmpd="sng">
            <a:solidFill>
              <a:schemeClr val="tx1"/>
            </a:solidFill>
            <a:prstDash val="solid"/>
            <a:headEnd type="none" w="sm" len="sm"/>
            <a:tailEnd type="none" w="sm" len="sm"/>
          </a:ln>
        </p:spPr>
      </p:sp>
      <p:sp>
        <p:nvSpPr>
          <p:cNvPr id="29758" name="Line 62"/>
          <p:cNvSpPr/>
          <p:nvPr/>
        </p:nvSpPr>
        <p:spPr>
          <a:xfrm flipH="1">
            <a:off x="2886075" y="3365500"/>
            <a:ext cx="533400" cy="0"/>
          </a:xfrm>
          <a:prstGeom prst="line">
            <a:avLst/>
          </a:prstGeom>
          <a:ln w="28575" cap="sq" cmpd="sng">
            <a:solidFill>
              <a:schemeClr val="tx1"/>
            </a:solidFill>
            <a:prstDash val="solid"/>
            <a:headEnd type="none" w="sm" len="sm"/>
            <a:tailEnd type="none" w="sm" len="sm"/>
          </a:ln>
        </p:spPr>
      </p:sp>
      <p:sp>
        <p:nvSpPr>
          <p:cNvPr id="29759" name="Line 63"/>
          <p:cNvSpPr/>
          <p:nvPr/>
        </p:nvSpPr>
        <p:spPr>
          <a:xfrm flipV="1">
            <a:off x="3419475" y="2908300"/>
            <a:ext cx="0" cy="457200"/>
          </a:xfrm>
          <a:prstGeom prst="line">
            <a:avLst/>
          </a:prstGeom>
          <a:ln w="28575" cap="sq" cmpd="sng">
            <a:solidFill>
              <a:schemeClr val="tx1"/>
            </a:solidFill>
            <a:prstDash val="solid"/>
            <a:headEnd type="none" w="sm" len="sm"/>
            <a:tailEnd type="none" w="sm" len="sm"/>
          </a:ln>
        </p:spPr>
      </p:sp>
      <p:sp>
        <p:nvSpPr>
          <p:cNvPr id="29760" name="Line 64"/>
          <p:cNvSpPr/>
          <p:nvPr/>
        </p:nvSpPr>
        <p:spPr>
          <a:xfrm flipH="1">
            <a:off x="3419475" y="2908300"/>
            <a:ext cx="1219200" cy="0"/>
          </a:xfrm>
          <a:prstGeom prst="line">
            <a:avLst/>
          </a:prstGeom>
          <a:ln w="28575" cap="sq" cmpd="sng">
            <a:solidFill>
              <a:schemeClr val="tx1"/>
            </a:solidFill>
            <a:prstDash val="solid"/>
            <a:headEnd type="none" w="sm" len="sm"/>
            <a:tailEnd type="none" w="sm" len="sm"/>
          </a:ln>
        </p:spPr>
      </p:sp>
      <p:sp>
        <p:nvSpPr>
          <p:cNvPr id="29761" name="Line 65"/>
          <p:cNvSpPr/>
          <p:nvPr/>
        </p:nvSpPr>
        <p:spPr>
          <a:xfrm flipV="1">
            <a:off x="4638675" y="2908300"/>
            <a:ext cx="0" cy="457200"/>
          </a:xfrm>
          <a:prstGeom prst="line">
            <a:avLst/>
          </a:prstGeom>
          <a:ln w="28575" cap="sq" cmpd="sng">
            <a:solidFill>
              <a:schemeClr val="tx1"/>
            </a:solidFill>
            <a:prstDash val="solid"/>
            <a:headEnd type="none" w="sm" len="sm"/>
            <a:tailEnd type="none" w="sm" len="sm"/>
          </a:ln>
        </p:spPr>
      </p:sp>
      <p:sp>
        <p:nvSpPr>
          <p:cNvPr id="29762" name="Line 66"/>
          <p:cNvSpPr/>
          <p:nvPr/>
        </p:nvSpPr>
        <p:spPr>
          <a:xfrm flipH="1">
            <a:off x="4638675" y="3365500"/>
            <a:ext cx="3959225" cy="0"/>
          </a:xfrm>
          <a:prstGeom prst="line">
            <a:avLst/>
          </a:prstGeom>
          <a:ln w="28575" cap="sq" cmpd="sng">
            <a:solidFill>
              <a:schemeClr val="tx1"/>
            </a:solidFill>
            <a:prstDash val="solid"/>
            <a:headEnd type="none" w="sm" len="sm"/>
            <a:tailEnd type="none" w="sm" len="sm"/>
          </a:ln>
        </p:spPr>
      </p:sp>
      <p:sp>
        <p:nvSpPr>
          <p:cNvPr id="29763" name="Line 67"/>
          <p:cNvSpPr/>
          <p:nvPr/>
        </p:nvSpPr>
        <p:spPr>
          <a:xfrm>
            <a:off x="3419475" y="3441700"/>
            <a:ext cx="0" cy="2057400"/>
          </a:xfrm>
          <a:prstGeom prst="line">
            <a:avLst/>
          </a:prstGeom>
          <a:ln w="28575" cap="flat" cmpd="sng">
            <a:solidFill>
              <a:srgbClr val="FFFF00"/>
            </a:solidFill>
            <a:prstDash val="dash"/>
            <a:headEnd type="none" w="sm" len="sm"/>
            <a:tailEnd type="none" w="sm" len="sm"/>
          </a:ln>
        </p:spPr>
      </p:sp>
      <p:sp>
        <p:nvSpPr>
          <p:cNvPr id="29764" name="Text Box 68"/>
          <p:cNvSpPr txBox="1"/>
          <p:nvPr/>
        </p:nvSpPr>
        <p:spPr>
          <a:xfrm>
            <a:off x="1362075" y="2890838"/>
            <a:ext cx="1905000" cy="457200"/>
          </a:xfrm>
          <a:prstGeom prst="rect">
            <a:avLst/>
          </a:prstGeom>
          <a:noFill/>
          <a:ln w="12700">
            <a:noFill/>
          </a:ln>
        </p:spPr>
        <p:txBody>
          <a:bodyPr>
            <a:spAutoFit/>
          </a:bodyPr>
          <a:p>
            <a:pPr eaLnBrk="1" hangingPunct="1">
              <a:spcBef>
                <a:spcPct val="50000"/>
              </a:spcBef>
            </a:pPr>
            <a:r>
              <a:rPr lang="en-US" altLang="zh-CN" sz="2400" dirty="0">
                <a:solidFill>
                  <a:srgbClr val="FFFF00"/>
                </a:solidFill>
                <a:latin typeface="Times New Roman" panose="02020603050405020304" pitchFamily="18" charset="0"/>
                <a:ea typeface="黑体" panose="02010609060101010101" pitchFamily="2" charset="-122"/>
              </a:rPr>
              <a:t> </a:t>
            </a:r>
            <a:r>
              <a:rPr lang="zh-CN" altLang="en-US" sz="2400" dirty="0">
                <a:solidFill>
                  <a:srgbClr val="FFFF00"/>
                </a:solidFill>
                <a:latin typeface="Times New Roman" panose="02020603050405020304" pitchFamily="18" charset="0"/>
                <a:ea typeface="黑体" panose="02010609060101010101" pitchFamily="2" charset="-122"/>
              </a:rPr>
              <a:t>总线请求</a:t>
            </a:r>
            <a:endParaRPr lang="zh-CN" altLang="en-US" sz="2400" dirty="0">
              <a:solidFill>
                <a:srgbClr val="FFFF00"/>
              </a:solidFill>
              <a:latin typeface="Times New Roman" panose="02020603050405020304" pitchFamily="18" charset="0"/>
              <a:ea typeface="黑体" panose="02010609060101010101" pitchFamily="2" charset="-122"/>
            </a:endParaRPr>
          </a:p>
        </p:txBody>
      </p:sp>
      <p:sp>
        <p:nvSpPr>
          <p:cNvPr id="29765" name="Text Box 69"/>
          <p:cNvSpPr txBox="1"/>
          <p:nvPr/>
        </p:nvSpPr>
        <p:spPr>
          <a:xfrm>
            <a:off x="179388" y="185738"/>
            <a:ext cx="4343400" cy="579437"/>
          </a:xfrm>
          <a:prstGeom prst="rect">
            <a:avLst/>
          </a:prstGeom>
          <a:noFill/>
          <a:ln w="12700">
            <a:noFill/>
          </a:ln>
        </p:spPr>
        <p:txBody>
          <a:bodyPr>
            <a:spAutoFit/>
          </a:bodyPr>
          <a:p>
            <a:pPr eaLnBrk="1" hangingPunct="1">
              <a:spcBef>
                <a:spcPct val="50000"/>
              </a:spcBef>
            </a:pPr>
            <a:r>
              <a:rPr lang="zh-CN" altLang="en-US" dirty="0">
                <a:solidFill>
                  <a:srgbClr val="FFFF00"/>
                </a:solidFill>
                <a:latin typeface="黑体" panose="02010609060101010101" pitchFamily="2" charset="-122"/>
                <a:ea typeface="黑体" panose="02010609060101010101" pitchFamily="2" charset="-122"/>
              </a:rPr>
              <a:t>（</a:t>
            </a:r>
            <a:r>
              <a:rPr lang="en-US" altLang="zh-CN" dirty="0">
                <a:solidFill>
                  <a:srgbClr val="FFFF00"/>
                </a:solidFill>
                <a:latin typeface="黑体" panose="02010609060101010101" pitchFamily="2" charset="-122"/>
                <a:ea typeface="黑体" panose="02010609060101010101" pitchFamily="2" charset="-122"/>
              </a:rPr>
              <a:t>2</a:t>
            </a:r>
            <a:r>
              <a:rPr lang="zh-CN" altLang="en-US" dirty="0">
                <a:solidFill>
                  <a:srgbClr val="FFFF00"/>
                </a:solidFill>
                <a:latin typeface="黑体" panose="02010609060101010101" pitchFamily="2" charset="-122"/>
                <a:ea typeface="黑体" panose="02010609060101010101" pitchFamily="2" charset="-122"/>
              </a:rPr>
              <a:t>）异步总线</a:t>
            </a:r>
            <a:endParaRPr lang="zh-CN" altLang="en-US" dirty="0">
              <a:solidFill>
                <a:srgbClr val="FFFF00"/>
              </a:solidFill>
              <a:latin typeface="黑体" panose="02010609060101010101" pitchFamily="2" charset="-122"/>
              <a:ea typeface="黑体" panose="02010609060101010101" pitchFamily="2" charset="-122"/>
            </a:endParaRPr>
          </a:p>
        </p:txBody>
      </p:sp>
      <p:sp>
        <p:nvSpPr>
          <p:cNvPr id="29766" name="Text Box 70"/>
          <p:cNvSpPr txBox="1"/>
          <p:nvPr/>
        </p:nvSpPr>
        <p:spPr>
          <a:xfrm>
            <a:off x="404813" y="857250"/>
            <a:ext cx="6810375" cy="541338"/>
          </a:xfrm>
          <a:prstGeom prst="rect">
            <a:avLst/>
          </a:prstGeom>
          <a:noFill/>
          <a:ln w="12700">
            <a:noFill/>
          </a:ln>
        </p:spPr>
        <p:txBody>
          <a:bodyPr>
            <a:spAutoFit/>
          </a:bodyPr>
          <a:p>
            <a:pPr eaLnBrk="1" hangingPunct="1">
              <a:lnSpc>
                <a:spcPct val="120000"/>
              </a:lnSpc>
            </a:pPr>
            <a:r>
              <a:rPr lang="zh-CN" altLang="en-US" sz="2800" dirty="0">
                <a:solidFill>
                  <a:srgbClr val="00FF00"/>
                </a:solidFill>
                <a:latin typeface="黑体" panose="02010609060101010101" pitchFamily="2" charset="-122"/>
                <a:ea typeface="黑体" panose="02010609060101010101" pitchFamily="2" charset="-122"/>
              </a:rPr>
              <a:t>√无固定的时钟周期划分；</a:t>
            </a:r>
            <a:endParaRPr lang="en-US" altLang="zh-CN" sz="2800" dirty="0">
              <a:solidFill>
                <a:srgbClr val="00FF00"/>
              </a:solidFill>
              <a:latin typeface="黑体" panose="02010609060101010101" pitchFamily="2" charset="-122"/>
              <a:ea typeface="黑体" panose="02010609060101010101" pitchFamily="2" charset="-122"/>
            </a:endParaRPr>
          </a:p>
        </p:txBody>
      </p:sp>
      <p:sp>
        <p:nvSpPr>
          <p:cNvPr id="29768" name="Line 72"/>
          <p:cNvSpPr/>
          <p:nvPr/>
        </p:nvSpPr>
        <p:spPr>
          <a:xfrm flipH="1">
            <a:off x="2886075" y="3975100"/>
            <a:ext cx="914400" cy="0"/>
          </a:xfrm>
          <a:prstGeom prst="line">
            <a:avLst/>
          </a:prstGeom>
          <a:ln w="28575" cap="sq" cmpd="sng">
            <a:solidFill>
              <a:schemeClr val="tx1"/>
            </a:solidFill>
            <a:prstDash val="solid"/>
            <a:headEnd type="none" w="sm" len="sm"/>
            <a:tailEnd type="none" w="sm" len="sm"/>
          </a:ln>
        </p:spPr>
      </p:sp>
      <p:sp>
        <p:nvSpPr>
          <p:cNvPr id="29769" name="Line 73"/>
          <p:cNvSpPr/>
          <p:nvPr/>
        </p:nvSpPr>
        <p:spPr>
          <a:xfrm flipV="1">
            <a:off x="3800475" y="3517900"/>
            <a:ext cx="0" cy="457200"/>
          </a:xfrm>
          <a:prstGeom prst="line">
            <a:avLst/>
          </a:prstGeom>
          <a:ln w="28575" cap="sq" cmpd="sng">
            <a:solidFill>
              <a:schemeClr val="tx1"/>
            </a:solidFill>
            <a:prstDash val="solid"/>
            <a:headEnd type="none" w="sm" len="sm"/>
            <a:tailEnd type="none" w="sm" len="sm"/>
          </a:ln>
        </p:spPr>
      </p:sp>
      <p:sp>
        <p:nvSpPr>
          <p:cNvPr id="29770" name="Line 74"/>
          <p:cNvSpPr/>
          <p:nvPr/>
        </p:nvSpPr>
        <p:spPr>
          <a:xfrm flipH="1">
            <a:off x="3800475" y="3517900"/>
            <a:ext cx="1219200" cy="0"/>
          </a:xfrm>
          <a:prstGeom prst="line">
            <a:avLst/>
          </a:prstGeom>
          <a:ln w="28575" cap="sq" cmpd="sng">
            <a:solidFill>
              <a:schemeClr val="tx1"/>
            </a:solidFill>
            <a:prstDash val="solid"/>
            <a:headEnd type="none" w="sm" len="sm"/>
            <a:tailEnd type="none" w="sm" len="sm"/>
          </a:ln>
        </p:spPr>
      </p:sp>
      <p:sp>
        <p:nvSpPr>
          <p:cNvPr id="29771" name="Line 75"/>
          <p:cNvSpPr/>
          <p:nvPr/>
        </p:nvSpPr>
        <p:spPr>
          <a:xfrm flipV="1">
            <a:off x="5019675" y="3517900"/>
            <a:ext cx="0" cy="457200"/>
          </a:xfrm>
          <a:prstGeom prst="line">
            <a:avLst/>
          </a:prstGeom>
          <a:ln w="28575" cap="sq" cmpd="sng">
            <a:solidFill>
              <a:schemeClr val="tx1"/>
            </a:solidFill>
            <a:prstDash val="solid"/>
            <a:headEnd type="none" w="sm" len="sm"/>
            <a:tailEnd type="none" w="sm" len="sm"/>
          </a:ln>
        </p:spPr>
      </p:sp>
      <p:sp>
        <p:nvSpPr>
          <p:cNvPr id="29772" name="Line 76"/>
          <p:cNvSpPr/>
          <p:nvPr/>
        </p:nvSpPr>
        <p:spPr>
          <a:xfrm flipH="1">
            <a:off x="5019675" y="3975100"/>
            <a:ext cx="3598863" cy="0"/>
          </a:xfrm>
          <a:prstGeom prst="line">
            <a:avLst/>
          </a:prstGeom>
          <a:ln w="28575" cap="sq" cmpd="sng">
            <a:solidFill>
              <a:schemeClr val="tx1"/>
            </a:solidFill>
            <a:prstDash val="solid"/>
            <a:headEnd type="none" w="sm" len="sm"/>
            <a:tailEnd type="none" w="sm" len="sm"/>
          </a:ln>
        </p:spPr>
      </p:sp>
      <p:sp>
        <p:nvSpPr>
          <p:cNvPr id="29773" name="Line 77"/>
          <p:cNvSpPr/>
          <p:nvPr/>
        </p:nvSpPr>
        <p:spPr>
          <a:xfrm flipH="1">
            <a:off x="7686675" y="4584700"/>
            <a:ext cx="935038" cy="0"/>
          </a:xfrm>
          <a:prstGeom prst="line">
            <a:avLst/>
          </a:prstGeom>
          <a:ln w="28575" cap="sq" cmpd="sng">
            <a:solidFill>
              <a:schemeClr val="tx1"/>
            </a:solidFill>
            <a:prstDash val="solid"/>
            <a:headEnd type="none" w="sm" len="sm"/>
            <a:tailEnd type="none" w="sm" len="sm"/>
          </a:ln>
        </p:spPr>
      </p:sp>
      <p:sp>
        <p:nvSpPr>
          <p:cNvPr id="29774" name="Line 78"/>
          <p:cNvSpPr/>
          <p:nvPr/>
        </p:nvSpPr>
        <p:spPr>
          <a:xfrm flipH="1">
            <a:off x="7991475" y="5194300"/>
            <a:ext cx="647700" cy="0"/>
          </a:xfrm>
          <a:prstGeom prst="line">
            <a:avLst/>
          </a:prstGeom>
          <a:ln w="28575" cap="sq" cmpd="sng">
            <a:solidFill>
              <a:schemeClr val="tx1"/>
            </a:solidFill>
            <a:prstDash val="solid"/>
            <a:headEnd type="none" w="sm" len="sm"/>
            <a:tailEnd type="none" w="sm" len="sm"/>
          </a:ln>
        </p:spPr>
      </p:sp>
      <p:grpSp>
        <p:nvGrpSpPr>
          <p:cNvPr id="2" name="Group 79"/>
          <p:cNvGrpSpPr/>
          <p:nvPr/>
        </p:nvGrpSpPr>
        <p:grpSpPr>
          <a:xfrm>
            <a:off x="563563" y="3136900"/>
            <a:ext cx="2209800" cy="538163"/>
            <a:chOff x="-263" y="3120"/>
            <a:chExt cx="1392" cy="339"/>
          </a:xfrm>
        </p:grpSpPr>
        <p:sp>
          <p:nvSpPr>
            <p:cNvPr id="15430" name="Line 80"/>
            <p:cNvSpPr/>
            <p:nvPr/>
          </p:nvSpPr>
          <p:spPr>
            <a:xfrm>
              <a:off x="1104" y="3120"/>
              <a:ext cx="0" cy="0"/>
            </a:xfrm>
            <a:prstGeom prst="line">
              <a:avLst/>
            </a:prstGeom>
            <a:ln w="12700" cap="sq" cmpd="sng">
              <a:solidFill>
                <a:schemeClr val="tx1"/>
              </a:solidFill>
              <a:prstDash val="solid"/>
              <a:headEnd type="none" w="sm" len="sm"/>
              <a:tailEnd type="none" w="sm" len="sm"/>
            </a:ln>
          </p:spPr>
        </p:sp>
        <p:sp>
          <p:nvSpPr>
            <p:cNvPr id="15431" name="Text Box 81"/>
            <p:cNvSpPr txBox="1"/>
            <p:nvPr/>
          </p:nvSpPr>
          <p:spPr>
            <a:xfrm>
              <a:off x="-263" y="3168"/>
              <a:ext cx="1392" cy="291"/>
            </a:xfrm>
            <a:prstGeom prst="rect">
              <a:avLst/>
            </a:prstGeom>
            <a:noFill/>
            <a:ln w="12700">
              <a:noFill/>
            </a:ln>
          </p:spPr>
          <p:txBody>
            <a:bodyPr>
              <a:spAutoFit/>
            </a:bodyPr>
            <a:p>
              <a:pPr eaLnBrk="1" hangingPunct="1">
                <a:spcBef>
                  <a:spcPct val="50000"/>
                </a:spcBef>
              </a:pPr>
              <a:r>
                <a:rPr lang="en-US" altLang="zh-CN" sz="2400" dirty="0">
                  <a:solidFill>
                    <a:schemeClr val="tx1"/>
                  </a:solidFill>
                  <a:latin typeface="黑体" panose="02010609060101010101" pitchFamily="2" charset="-122"/>
                  <a:ea typeface="黑体" panose="02010609060101010101" pitchFamily="2" charset="-122"/>
                </a:rPr>
                <a:t>(</a:t>
              </a:r>
              <a:r>
                <a:rPr lang="zh-CN" altLang="en-US" sz="2400" dirty="0">
                  <a:solidFill>
                    <a:schemeClr val="tx1"/>
                  </a:solidFill>
                  <a:latin typeface="黑体" panose="02010609060101010101" pitchFamily="2" charset="-122"/>
                  <a:ea typeface="黑体" panose="02010609060101010101" pitchFamily="2" charset="-122"/>
                </a:rPr>
                <a:t>主设备   </a:t>
              </a:r>
              <a:r>
                <a:rPr lang="en-US" altLang="zh-CN" sz="2400" dirty="0">
                  <a:solidFill>
                    <a:schemeClr val="tx1"/>
                  </a:solidFill>
                  <a:latin typeface="黑体" panose="02010609060101010101" pitchFamily="2" charset="-122"/>
                  <a:ea typeface="黑体" panose="02010609060101010101" pitchFamily="2" charset="-122"/>
                </a:rPr>
                <a:t>CPU)</a:t>
              </a:r>
              <a:endParaRPr lang="en-US" altLang="zh-CN" sz="2400" dirty="0">
                <a:solidFill>
                  <a:schemeClr val="tx1"/>
                </a:solidFill>
                <a:latin typeface="黑体" panose="02010609060101010101" pitchFamily="2" charset="-122"/>
                <a:ea typeface="黑体" panose="02010609060101010101" pitchFamily="2" charset="-122"/>
              </a:endParaRPr>
            </a:p>
          </p:txBody>
        </p:sp>
        <p:sp>
          <p:nvSpPr>
            <p:cNvPr id="15432" name="Line 82"/>
            <p:cNvSpPr/>
            <p:nvPr/>
          </p:nvSpPr>
          <p:spPr>
            <a:xfrm>
              <a:off x="521" y="3329"/>
              <a:ext cx="192" cy="0"/>
            </a:xfrm>
            <a:prstGeom prst="line">
              <a:avLst/>
            </a:prstGeom>
            <a:ln w="19050" cap="sq" cmpd="sng">
              <a:solidFill>
                <a:schemeClr val="tx1"/>
              </a:solidFill>
              <a:prstDash val="solid"/>
              <a:headEnd type="none" w="sm" len="sm"/>
              <a:tailEnd type="triangle" w="med" len="med"/>
            </a:ln>
          </p:spPr>
        </p:sp>
      </p:grpSp>
      <p:sp>
        <p:nvSpPr>
          <p:cNvPr id="29779" name="Text Box 83"/>
          <p:cNvSpPr txBox="1"/>
          <p:nvPr/>
        </p:nvSpPr>
        <p:spPr>
          <a:xfrm>
            <a:off x="1362075" y="3594100"/>
            <a:ext cx="1905000" cy="457200"/>
          </a:xfrm>
          <a:prstGeom prst="rect">
            <a:avLst/>
          </a:prstGeom>
          <a:noFill/>
          <a:ln w="12700">
            <a:noFill/>
          </a:ln>
        </p:spPr>
        <p:txBody>
          <a:bodyPr>
            <a:spAutoFit/>
          </a:bodyPr>
          <a:p>
            <a:pPr eaLnBrk="1" hangingPunct="1">
              <a:spcBef>
                <a:spcPct val="50000"/>
              </a:spcBef>
            </a:pPr>
            <a:r>
              <a:rPr lang="en-US" altLang="zh-CN" sz="2400" dirty="0">
                <a:solidFill>
                  <a:srgbClr val="FFFF00"/>
                </a:solidFill>
                <a:latin typeface="Times New Roman" panose="02020603050405020304" pitchFamily="18" charset="0"/>
                <a:ea typeface="黑体" panose="02010609060101010101" pitchFamily="2" charset="-122"/>
              </a:rPr>
              <a:t> </a:t>
            </a:r>
            <a:r>
              <a:rPr lang="zh-CN" altLang="en-US" sz="2400" dirty="0">
                <a:solidFill>
                  <a:srgbClr val="FFFF00"/>
                </a:solidFill>
                <a:latin typeface="Times New Roman" panose="02020603050405020304" pitchFamily="18" charset="0"/>
                <a:ea typeface="黑体" panose="02010609060101010101" pitchFamily="2" charset="-122"/>
              </a:rPr>
              <a:t>总线批准</a:t>
            </a:r>
            <a:endParaRPr lang="zh-CN" altLang="en-US" sz="2400" dirty="0">
              <a:solidFill>
                <a:srgbClr val="FFFF00"/>
              </a:solidFill>
              <a:latin typeface="Times New Roman" panose="02020603050405020304" pitchFamily="18" charset="0"/>
              <a:ea typeface="黑体" panose="02010609060101010101" pitchFamily="2" charset="-122"/>
            </a:endParaRPr>
          </a:p>
        </p:txBody>
      </p:sp>
      <p:grpSp>
        <p:nvGrpSpPr>
          <p:cNvPr id="3" name="Group 84"/>
          <p:cNvGrpSpPr/>
          <p:nvPr/>
        </p:nvGrpSpPr>
        <p:grpSpPr>
          <a:xfrm>
            <a:off x="668338" y="3822700"/>
            <a:ext cx="2209800" cy="533400"/>
            <a:chOff x="0" y="3120"/>
            <a:chExt cx="1392" cy="336"/>
          </a:xfrm>
        </p:grpSpPr>
        <p:sp>
          <p:nvSpPr>
            <p:cNvPr id="15427" name="Line 85"/>
            <p:cNvSpPr/>
            <p:nvPr/>
          </p:nvSpPr>
          <p:spPr>
            <a:xfrm>
              <a:off x="1104" y="3120"/>
              <a:ext cx="0" cy="0"/>
            </a:xfrm>
            <a:prstGeom prst="line">
              <a:avLst/>
            </a:prstGeom>
            <a:ln w="12700" cap="sq" cmpd="sng">
              <a:solidFill>
                <a:schemeClr val="tx1"/>
              </a:solidFill>
              <a:prstDash val="solid"/>
              <a:headEnd type="none" w="sm" len="sm"/>
              <a:tailEnd type="none" w="sm" len="sm"/>
            </a:ln>
          </p:spPr>
        </p:sp>
        <p:sp>
          <p:nvSpPr>
            <p:cNvPr id="15428" name="Text Box 86"/>
            <p:cNvSpPr txBox="1"/>
            <p:nvPr/>
          </p:nvSpPr>
          <p:spPr>
            <a:xfrm>
              <a:off x="0" y="3168"/>
              <a:ext cx="1392" cy="288"/>
            </a:xfrm>
            <a:prstGeom prst="rect">
              <a:avLst/>
            </a:prstGeom>
            <a:noFill/>
            <a:ln w="12700">
              <a:noFill/>
            </a:ln>
          </p:spPr>
          <p:txBody>
            <a:bodyPr>
              <a:spAutoFit/>
            </a:bodyPr>
            <a:p>
              <a:pPr eaLnBrk="1" hangingPunct="1">
                <a:spcBef>
                  <a:spcPct val="50000"/>
                </a:spcBef>
              </a:pPr>
              <a:r>
                <a:rPr lang="en-US" altLang="zh-CN" sz="2400" dirty="0">
                  <a:solidFill>
                    <a:schemeClr val="tx1"/>
                  </a:solidFill>
                  <a:latin typeface="黑体" panose="02010609060101010101" pitchFamily="2" charset="-122"/>
                  <a:ea typeface="黑体" panose="02010609060101010101" pitchFamily="2" charset="-122"/>
                </a:rPr>
                <a:t>(CPU  </a:t>
              </a:r>
              <a:r>
                <a:rPr lang="zh-CN" altLang="en-US" sz="2400" dirty="0">
                  <a:solidFill>
                    <a:schemeClr val="tx1"/>
                  </a:solidFill>
                  <a:latin typeface="黑体" panose="02010609060101010101" pitchFamily="2" charset="-122"/>
                  <a:ea typeface="黑体" panose="02010609060101010101" pitchFamily="2" charset="-122"/>
                </a:rPr>
                <a:t> 主设备</a:t>
              </a:r>
              <a:r>
                <a:rPr lang="en-US" altLang="zh-CN" sz="2400" dirty="0">
                  <a:solidFill>
                    <a:schemeClr val="tx1"/>
                  </a:solidFill>
                  <a:latin typeface="黑体" panose="02010609060101010101" pitchFamily="2" charset="-122"/>
                  <a:ea typeface="黑体" panose="02010609060101010101" pitchFamily="2" charset="-122"/>
                </a:rPr>
                <a:t>)</a:t>
              </a:r>
              <a:endParaRPr lang="en-US" altLang="zh-CN" sz="2400" dirty="0">
                <a:solidFill>
                  <a:schemeClr val="tx1"/>
                </a:solidFill>
                <a:latin typeface="黑体" panose="02010609060101010101" pitchFamily="2" charset="-122"/>
                <a:ea typeface="黑体" panose="02010609060101010101" pitchFamily="2" charset="-122"/>
              </a:endParaRPr>
            </a:p>
          </p:txBody>
        </p:sp>
        <p:sp>
          <p:nvSpPr>
            <p:cNvPr id="15429" name="Line 87"/>
            <p:cNvSpPr/>
            <p:nvPr/>
          </p:nvSpPr>
          <p:spPr>
            <a:xfrm>
              <a:off x="510" y="3329"/>
              <a:ext cx="192" cy="0"/>
            </a:xfrm>
            <a:prstGeom prst="line">
              <a:avLst/>
            </a:prstGeom>
            <a:ln w="19050" cap="sq" cmpd="sng">
              <a:solidFill>
                <a:schemeClr val="tx1"/>
              </a:solidFill>
              <a:prstDash val="solid"/>
              <a:headEnd type="none" w="sm" len="sm"/>
              <a:tailEnd type="triangle" w="med" len="med"/>
            </a:ln>
          </p:spPr>
        </p:sp>
      </p:grpSp>
      <p:sp>
        <p:nvSpPr>
          <p:cNvPr id="29784" name="Text Box 88"/>
          <p:cNvSpPr txBox="1"/>
          <p:nvPr/>
        </p:nvSpPr>
        <p:spPr>
          <a:xfrm>
            <a:off x="1044575" y="4279900"/>
            <a:ext cx="1905000" cy="461963"/>
          </a:xfrm>
          <a:prstGeom prst="rect">
            <a:avLst/>
          </a:prstGeom>
          <a:noFill/>
          <a:ln w="12700">
            <a:noFill/>
          </a:ln>
        </p:spPr>
        <p:txBody>
          <a:bodyPr>
            <a:spAutoFit/>
          </a:bodyPr>
          <a:p>
            <a:pPr eaLnBrk="1" hangingPunct="1">
              <a:spcBef>
                <a:spcPct val="50000"/>
              </a:spcBef>
            </a:pPr>
            <a:r>
              <a:rPr lang="en-US" altLang="zh-CN" sz="2400" dirty="0">
                <a:solidFill>
                  <a:srgbClr val="FFFF00"/>
                </a:solidFill>
                <a:latin typeface="Times New Roman" panose="02020603050405020304" pitchFamily="18" charset="0"/>
                <a:ea typeface="黑体" panose="02010609060101010101" pitchFamily="2" charset="-122"/>
              </a:rPr>
              <a:t> </a:t>
            </a:r>
            <a:r>
              <a:rPr lang="zh-CN" altLang="en-US" sz="2400" dirty="0">
                <a:solidFill>
                  <a:srgbClr val="FFFF00"/>
                </a:solidFill>
                <a:latin typeface="Times New Roman" panose="02020603050405020304" pitchFamily="18" charset="0"/>
                <a:ea typeface="黑体" panose="02010609060101010101" pitchFamily="2" charset="-122"/>
              </a:rPr>
              <a:t>主同步信号</a:t>
            </a:r>
            <a:endParaRPr lang="zh-CN" altLang="en-US" sz="2400" dirty="0">
              <a:solidFill>
                <a:srgbClr val="FFFF00"/>
              </a:solidFill>
              <a:latin typeface="Times New Roman" panose="02020603050405020304" pitchFamily="18" charset="0"/>
              <a:ea typeface="黑体" panose="02010609060101010101" pitchFamily="2" charset="-122"/>
            </a:endParaRPr>
          </a:p>
        </p:txBody>
      </p:sp>
      <p:grpSp>
        <p:nvGrpSpPr>
          <p:cNvPr id="4" name="Group 89"/>
          <p:cNvGrpSpPr/>
          <p:nvPr/>
        </p:nvGrpSpPr>
        <p:grpSpPr>
          <a:xfrm>
            <a:off x="382588" y="4508500"/>
            <a:ext cx="3008312" cy="538163"/>
            <a:chOff x="-329" y="3120"/>
            <a:chExt cx="1895" cy="339"/>
          </a:xfrm>
        </p:grpSpPr>
        <p:sp>
          <p:nvSpPr>
            <p:cNvPr id="15424" name="Line 90"/>
            <p:cNvSpPr/>
            <p:nvPr/>
          </p:nvSpPr>
          <p:spPr>
            <a:xfrm>
              <a:off x="1104" y="3120"/>
              <a:ext cx="0" cy="0"/>
            </a:xfrm>
            <a:prstGeom prst="line">
              <a:avLst/>
            </a:prstGeom>
            <a:ln w="12700" cap="sq" cmpd="sng">
              <a:solidFill>
                <a:schemeClr val="tx1"/>
              </a:solidFill>
              <a:prstDash val="solid"/>
              <a:headEnd type="none" w="sm" len="sm"/>
              <a:tailEnd type="none" w="sm" len="sm"/>
            </a:ln>
          </p:spPr>
        </p:sp>
        <p:sp>
          <p:nvSpPr>
            <p:cNvPr id="15425" name="Text Box 91"/>
            <p:cNvSpPr txBox="1"/>
            <p:nvPr/>
          </p:nvSpPr>
          <p:spPr>
            <a:xfrm>
              <a:off x="-329" y="3168"/>
              <a:ext cx="1895" cy="291"/>
            </a:xfrm>
            <a:prstGeom prst="rect">
              <a:avLst/>
            </a:prstGeom>
            <a:noFill/>
            <a:ln w="12700">
              <a:noFill/>
            </a:ln>
          </p:spPr>
          <p:txBody>
            <a:bodyPr>
              <a:spAutoFit/>
            </a:bodyPr>
            <a:p>
              <a:pPr eaLnBrk="1" hangingPunct="1">
                <a:spcBef>
                  <a:spcPct val="50000"/>
                </a:spcBef>
              </a:pPr>
              <a:r>
                <a:rPr lang="en-US" altLang="zh-CN" sz="2400" dirty="0">
                  <a:solidFill>
                    <a:schemeClr val="tx1"/>
                  </a:solidFill>
                  <a:latin typeface="黑体" panose="02010609060101010101" pitchFamily="2" charset="-122"/>
                  <a:ea typeface="黑体" panose="02010609060101010101" pitchFamily="2" charset="-122"/>
                </a:rPr>
                <a:t>(</a:t>
              </a:r>
              <a:r>
                <a:rPr lang="zh-CN" altLang="en-US" sz="2400" dirty="0">
                  <a:solidFill>
                    <a:schemeClr val="tx1"/>
                  </a:solidFill>
                  <a:latin typeface="黑体" panose="02010609060101010101" pitchFamily="2" charset="-122"/>
                  <a:ea typeface="黑体" panose="02010609060101010101" pitchFamily="2" charset="-122"/>
                </a:rPr>
                <a:t>主设备   从设备</a:t>
              </a:r>
              <a:r>
                <a:rPr lang="en-US" altLang="zh-CN" sz="2400" dirty="0">
                  <a:solidFill>
                    <a:schemeClr val="tx1"/>
                  </a:solidFill>
                  <a:latin typeface="黑体" panose="02010609060101010101" pitchFamily="2" charset="-122"/>
                  <a:ea typeface="黑体" panose="02010609060101010101" pitchFamily="2" charset="-122"/>
                </a:rPr>
                <a:t>)</a:t>
              </a:r>
              <a:endParaRPr lang="en-US" altLang="zh-CN" sz="2400" dirty="0">
                <a:solidFill>
                  <a:schemeClr val="tx1"/>
                </a:solidFill>
                <a:latin typeface="黑体" panose="02010609060101010101" pitchFamily="2" charset="-122"/>
                <a:ea typeface="黑体" panose="02010609060101010101" pitchFamily="2" charset="-122"/>
              </a:endParaRPr>
            </a:p>
          </p:txBody>
        </p:sp>
        <p:sp>
          <p:nvSpPr>
            <p:cNvPr id="15426" name="Line 92"/>
            <p:cNvSpPr/>
            <p:nvPr/>
          </p:nvSpPr>
          <p:spPr>
            <a:xfrm>
              <a:off x="472" y="3320"/>
              <a:ext cx="192" cy="0"/>
            </a:xfrm>
            <a:prstGeom prst="line">
              <a:avLst/>
            </a:prstGeom>
            <a:ln w="19050" cap="sq" cmpd="sng">
              <a:solidFill>
                <a:schemeClr val="tx1"/>
              </a:solidFill>
              <a:prstDash val="solid"/>
              <a:headEnd type="none" w="sm" len="sm"/>
              <a:tailEnd type="triangle" w="med" len="med"/>
            </a:ln>
          </p:spPr>
        </p:sp>
      </p:grpSp>
      <p:sp>
        <p:nvSpPr>
          <p:cNvPr id="29789" name="Text Box 93"/>
          <p:cNvSpPr txBox="1"/>
          <p:nvPr/>
        </p:nvSpPr>
        <p:spPr>
          <a:xfrm>
            <a:off x="1069975" y="5002213"/>
            <a:ext cx="1905000" cy="461962"/>
          </a:xfrm>
          <a:prstGeom prst="rect">
            <a:avLst/>
          </a:prstGeom>
          <a:noFill/>
          <a:ln w="12700">
            <a:noFill/>
          </a:ln>
        </p:spPr>
        <p:txBody>
          <a:bodyPr>
            <a:spAutoFit/>
          </a:bodyPr>
          <a:p>
            <a:pPr eaLnBrk="1" hangingPunct="1">
              <a:spcBef>
                <a:spcPct val="50000"/>
              </a:spcBef>
            </a:pPr>
            <a:r>
              <a:rPr lang="en-US" altLang="zh-CN" sz="2400" dirty="0">
                <a:solidFill>
                  <a:srgbClr val="FFFF00"/>
                </a:solidFill>
                <a:latin typeface="Times New Roman" panose="02020603050405020304" pitchFamily="18" charset="0"/>
                <a:ea typeface="黑体" panose="02010609060101010101" pitchFamily="2" charset="-122"/>
              </a:rPr>
              <a:t> </a:t>
            </a:r>
            <a:r>
              <a:rPr lang="zh-CN" altLang="en-US" sz="2400" dirty="0">
                <a:solidFill>
                  <a:srgbClr val="FFFF00"/>
                </a:solidFill>
                <a:latin typeface="Times New Roman" panose="02020603050405020304" pitchFamily="18" charset="0"/>
                <a:ea typeface="黑体" panose="02010609060101010101" pitchFamily="2" charset="-122"/>
              </a:rPr>
              <a:t>从同步信号</a:t>
            </a:r>
            <a:endParaRPr lang="zh-CN" altLang="en-US" sz="2400" dirty="0">
              <a:solidFill>
                <a:srgbClr val="FFFF00"/>
              </a:solidFill>
              <a:latin typeface="Times New Roman" panose="02020603050405020304" pitchFamily="18" charset="0"/>
              <a:ea typeface="黑体" panose="02010609060101010101" pitchFamily="2" charset="-122"/>
            </a:endParaRPr>
          </a:p>
        </p:txBody>
      </p:sp>
      <p:grpSp>
        <p:nvGrpSpPr>
          <p:cNvPr id="5" name="Group 94"/>
          <p:cNvGrpSpPr/>
          <p:nvPr/>
        </p:nvGrpSpPr>
        <p:grpSpPr>
          <a:xfrm>
            <a:off x="285750" y="5305425"/>
            <a:ext cx="2828925" cy="461963"/>
            <a:chOff x="-390" y="3069"/>
            <a:chExt cx="1782" cy="291"/>
          </a:xfrm>
        </p:grpSpPr>
        <p:sp>
          <p:nvSpPr>
            <p:cNvPr id="15421" name="Line 95"/>
            <p:cNvSpPr/>
            <p:nvPr/>
          </p:nvSpPr>
          <p:spPr>
            <a:xfrm>
              <a:off x="1104" y="3120"/>
              <a:ext cx="0" cy="0"/>
            </a:xfrm>
            <a:prstGeom prst="line">
              <a:avLst/>
            </a:prstGeom>
            <a:ln w="12700" cap="sq" cmpd="sng">
              <a:solidFill>
                <a:schemeClr val="tx1"/>
              </a:solidFill>
              <a:prstDash val="solid"/>
              <a:headEnd type="none" w="sm" len="sm"/>
              <a:tailEnd type="none" w="sm" len="sm"/>
            </a:ln>
          </p:spPr>
        </p:sp>
        <p:sp>
          <p:nvSpPr>
            <p:cNvPr id="15422" name="Text Box 96"/>
            <p:cNvSpPr txBox="1"/>
            <p:nvPr/>
          </p:nvSpPr>
          <p:spPr>
            <a:xfrm>
              <a:off x="-390" y="3069"/>
              <a:ext cx="1782" cy="291"/>
            </a:xfrm>
            <a:prstGeom prst="rect">
              <a:avLst/>
            </a:prstGeom>
            <a:noFill/>
            <a:ln w="12700">
              <a:noFill/>
            </a:ln>
          </p:spPr>
          <p:txBody>
            <a:bodyPr>
              <a:spAutoFit/>
            </a:bodyPr>
            <a:p>
              <a:pPr eaLnBrk="1" hangingPunct="1">
                <a:spcBef>
                  <a:spcPct val="50000"/>
                </a:spcBef>
              </a:pPr>
              <a:r>
                <a:rPr lang="en-US" altLang="zh-CN" sz="2400" dirty="0">
                  <a:solidFill>
                    <a:schemeClr val="tx1"/>
                  </a:solidFill>
                  <a:latin typeface="黑体" panose="02010609060101010101" pitchFamily="2" charset="-122"/>
                  <a:ea typeface="黑体" panose="02010609060101010101" pitchFamily="2" charset="-122"/>
                </a:rPr>
                <a:t>(</a:t>
              </a:r>
              <a:r>
                <a:rPr lang="zh-CN" altLang="en-US" sz="2400" dirty="0">
                  <a:solidFill>
                    <a:schemeClr val="tx1"/>
                  </a:solidFill>
                  <a:latin typeface="黑体" panose="02010609060101010101" pitchFamily="2" charset="-122"/>
                  <a:ea typeface="黑体" panose="02010609060101010101" pitchFamily="2" charset="-122"/>
                </a:rPr>
                <a:t>从设备   主设备</a:t>
              </a:r>
              <a:r>
                <a:rPr lang="en-US" altLang="zh-CN" sz="2400" dirty="0">
                  <a:solidFill>
                    <a:schemeClr val="tx1"/>
                  </a:solidFill>
                  <a:latin typeface="黑体" panose="02010609060101010101" pitchFamily="2" charset="-122"/>
                  <a:ea typeface="黑体" panose="02010609060101010101" pitchFamily="2" charset="-122"/>
                </a:rPr>
                <a:t>)</a:t>
              </a:r>
              <a:endParaRPr lang="en-US" altLang="zh-CN" sz="2400" dirty="0">
                <a:solidFill>
                  <a:schemeClr val="tx1"/>
                </a:solidFill>
                <a:latin typeface="黑体" panose="02010609060101010101" pitchFamily="2" charset="-122"/>
                <a:ea typeface="黑体" panose="02010609060101010101" pitchFamily="2" charset="-122"/>
              </a:endParaRPr>
            </a:p>
          </p:txBody>
        </p:sp>
        <p:sp>
          <p:nvSpPr>
            <p:cNvPr id="15423" name="Line 97"/>
            <p:cNvSpPr/>
            <p:nvPr/>
          </p:nvSpPr>
          <p:spPr>
            <a:xfrm>
              <a:off x="397" y="3250"/>
              <a:ext cx="192" cy="0"/>
            </a:xfrm>
            <a:prstGeom prst="line">
              <a:avLst/>
            </a:prstGeom>
            <a:ln w="19050" cap="sq" cmpd="sng">
              <a:solidFill>
                <a:schemeClr val="tx1"/>
              </a:solidFill>
              <a:prstDash val="solid"/>
              <a:headEnd type="none" w="sm" len="sm"/>
              <a:tailEnd type="triangle" w="med" len="med"/>
            </a:ln>
          </p:spPr>
        </p:sp>
      </p:grpSp>
      <p:sp>
        <p:nvSpPr>
          <p:cNvPr id="29805" name="Line 109"/>
          <p:cNvSpPr/>
          <p:nvPr/>
        </p:nvSpPr>
        <p:spPr>
          <a:xfrm flipH="1" flipV="1">
            <a:off x="7305675" y="4779963"/>
            <a:ext cx="152400" cy="228600"/>
          </a:xfrm>
          <a:prstGeom prst="line">
            <a:avLst/>
          </a:prstGeom>
          <a:ln w="28575" cap="sq" cmpd="sng">
            <a:solidFill>
              <a:schemeClr val="tx2"/>
            </a:solidFill>
            <a:prstDash val="solid"/>
            <a:headEnd type="none" w="sm" len="sm"/>
            <a:tailEnd type="none" w="sm" len="sm"/>
          </a:ln>
        </p:spPr>
      </p:sp>
      <p:sp>
        <p:nvSpPr>
          <p:cNvPr id="29806" name="Line 110"/>
          <p:cNvSpPr/>
          <p:nvPr/>
        </p:nvSpPr>
        <p:spPr>
          <a:xfrm flipV="1">
            <a:off x="7305675" y="4432300"/>
            <a:ext cx="76200" cy="304800"/>
          </a:xfrm>
          <a:prstGeom prst="line">
            <a:avLst/>
          </a:prstGeom>
          <a:ln w="28575" cap="sq" cmpd="sng">
            <a:solidFill>
              <a:schemeClr val="tx2"/>
            </a:solidFill>
            <a:prstDash val="solid"/>
            <a:headEnd type="none" w="sm" len="sm"/>
            <a:tailEnd type="none" w="sm" len="sm"/>
          </a:ln>
        </p:spPr>
      </p:sp>
      <p:sp>
        <p:nvSpPr>
          <p:cNvPr id="29807" name="Line 111"/>
          <p:cNvSpPr/>
          <p:nvPr/>
        </p:nvSpPr>
        <p:spPr>
          <a:xfrm flipV="1">
            <a:off x="7381875" y="4279900"/>
            <a:ext cx="304800" cy="152400"/>
          </a:xfrm>
          <a:prstGeom prst="line">
            <a:avLst/>
          </a:prstGeom>
          <a:ln w="28575" cap="sq" cmpd="sng">
            <a:solidFill>
              <a:schemeClr val="tx2"/>
            </a:solidFill>
            <a:prstDash val="solid"/>
            <a:headEnd type="none" w="sm" len="sm"/>
            <a:tailEnd type="triangle" w="med" len="med"/>
          </a:ln>
        </p:spPr>
      </p:sp>
      <p:sp>
        <p:nvSpPr>
          <p:cNvPr id="29808" name="Line 112"/>
          <p:cNvSpPr/>
          <p:nvPr/>
        </p:nvSpPr>
        <p:spPr>
          <a:xfrm>
            <a:off x="7686675" y="4322763"/>
            <a:ext cx="228600" cy="76200"/>
          </a:xfrm>
          <a:prstGeom prst="line">
            <a:avLst/>
          </a:prstGeom>
          <a:ln w="28575" cap="sq" cmpd="sng">
            <a:solidFill>
              <a:schemeClr val="tx2"/>
            </a:solidFill>
            <a:prstDash val="solid"/>
            <a:headEnd type="none" w="sm" len="sm"/>
            <a:tailEnd type="none" w="sm" len="sm"/>
          </a:ln>
        </p:spPr>
      </p:sp>
      <p:sp>
        <p:nvSpPr>
          <p:cNvPr id="29809" name="Line 113"/>
          <p:cNvSpPr/>
          <p:nvPr/>
        </p:nvSpPr>
        <p:spPr>
          <a:xfrm flipH="1">
            <a:off x="7686675" y="4398963"/>
            <a:ext cx="228600" cy="457200"/>
          </a:xfrm>
          <a:prstGeom prst="line">
            <a:avLst/>
          </a:prstGeom>
          <a:ln w="28575" cap="sq" cmpd="sng">
            <a:solidFill>
              <a:schemeClr val="tx2"/>
            </a:solidFill>
            <a:prstDash val="solid"/>
            <a:headEnd type="none" w="sm" len="sm"/>
            <a:tailEnd type="none" w="med" len="med"/>
          </a:ln>
        </p:spPr>
      </p:sp>
      <p:sp>
        <p:nvSpPr>
          <p:cNvPr id="29810" name="Line 114"/>
          <p:cNvSpPr/>
          <p:nvPr/>
        </p:nvSpPr>
        <p:spPr>
          <a:xfrm>
            <a:off x="7686675" y="4856163"/>
            <a:ext cx="304800" cy="152400"/>
          </a:xfrm>
          <a:prstGeom prst="line">
            <a:avLst/>
          </a:prstGeom>
          <a:ln w="28575" cap="sq" cmpd="sng">
            <a:solidFill>
              <a:schemeClr val="tx2"/>
            </a:solidFill>
            <a:prstDash val="solid"/>
            <a:headEnd type="none" w="sm" len="sm"/>
            <a:tailEnd type="triangle" w="med" len="med"/>
          </a:ln>
        </p:spPr>
      </p:sp>
      <p:sp>
        <p:nvSpPr>
          <p:cNvPr id="29811" name="Line 115"/>
          <p:cNvSpPr/>
          <p:nvPr/>
        </p:nvSpPr>
        <p:spPr>
          <a:xfrm>
            <a:off x="3800475" y="3975100"/>
            <a:ext cx="0" cy="1524000"/>
          </a:xfrm>
          <a:prstGeom prst="line">
            <a:avLst/>
          </a:prstGeom>
          <a:ln w="28575" cap="flat" cmpd="sng">
            <a:solidFill>
              <a:srgbClr val="FFFF00"/>
            </a:solidFill>
            <a:prstDash val="dash"/>
            <a:headEnd type="none" w="sm" len="sm"/>
            <a:tailEnd type="none" w="sm" len="sm"/>
          </a:ln>
        </p:spPr>
      </p:sp>
      <p:sp>
        <p:nvSpPr>
          <p:cNvPr id="29812" name="Line 116"/>
          <p:cNvSpPr/>
          <p:nvPr/>
        </p:nvSpPr>
        <p:spPr>
          <a:xfrm>
            <a:off x="5019675" y="4660900"/>
            <a:ext cx="0" cy="1143000"/>
          </a:xfrm>
          <a:prstGeom prst="line">
            <a:avLst/>
          </a:prstGeom>
          <a:ln w="28575" cap="flat" cmpd="sng">
            <a:solidFill>
              <a:srgbClr val="FFFF00"/>
            </a:solidFill>
            <a:prstDash val="dash"/>
            <a:headEnd type="none" w="sm" len="sm"/>
            <a:tailEnd type="none" w="sm" len="sm"/>
          </a:ln>
        </p:spPr>
      </p:sp>
      <p:sp>
        <p:nvSpPr>
          <p:cNvPr id="29813" name="Line 117"/>
          <p:cNvSpPr/>
          <p:nvPr/>
        </p:nvSpPr>
        <p:spPr>
          <a:xfrm>
            <a:off x="7991475" y="5270500"/>
            <a:ext cx="0" cy="533400"/>
          </a:xfrm>
          <a:prstGeom prst="line">
            <a:avLst/>
          </a:prstGeom>
          <a:ln w="28575" cap="flat" cmpd="sng">
            <a:solidFill>
              <a:srgbClr val="FFFF00"/>
            </a:solidFill>
            <a:prstDash val="dash"/>
            <a:headEnd type="none" w="sm" len="sm"/>
            <a:tailEnd type="none" w="sm" len="sm"/>
          </a:ln>
        </p:spPr>
      </p:sp>
      <p:sp>
        <p:nvSpPr>
          <p:cNvPr id="29814" name="Text Box 118"/>
          <p:cNvSpPr txBox="1"/>
          <p:nvPr/>
        </p:nvSpPr>
        <p:spPr>
          <a:xfrm>
            <a:off x="5705475" y="5199063"/>
            <a:ext cx="1905000" cy="457200"/>
          </a:xfrm>
          <a:prstGeom prst="rect">
            <a:avLst/>
          </a:prstGeom>
          <a:noFill/>
          <a:ln w="12700">
            <a:noFill/>
          </a:ln>
        </p:spPr>
        <p:txBody>
          <a:bodyPr>
            <a:spAutoFit/>
          </a:bodyPr>
          <a:p>
            <a:pPr eaLnBrk="1" hangingPunct="1">
              <a:spcBef>
                <a:spcPct val="50000"/>
              </a:spcBef>
            </a:pPr>
            <a:r>
              <a:rPr lang="en-US" altLang="zh-CN" sz="2400" dirty="0">
                <a:solidFill>
                  <a:srgbClr val="FFFF00"/>
                </a:solidFill>
                <a:latin typeface="Times New Roman" panose="02020603050405020304" pitchFamily="18" charset="0"/>
                <a:ea typeface="黑体" panose="02010609060101010101" pitchFamily="2" charset="-122"/>
              </a:rPr>
              <a:t> </a:t>
            </a:r>
            <a:r>
              <a:rPr lang="zh-CN" altLang="en-US" sz="2400" dirty="0">
                <a:solidFill>
                  <a:srgbClr val="FFFF00"/>
                </a:solidFill>
                <a:latin typeface="Times New Roman" panose="02020603050405020304" pitchFamily="18" charset="0"/>
                <a:ea typeface="黑体" panose="02010609060101010101" pitchFamily="2" charset="-122"/>
              </a:rPr>
              <a:t>总线周期</a:t>
            </a:r>
            <a:endParaRPr lang="zh-CN" altLang="en-US" sz="2400" dirty="0">
              <a:solidFill>
                <a:srgbClr val="FFFF00"/>
              </a:solidFill>
              <a:latin typeface="Times New Roman" panose="02020603050405020304" pitchFamily="18" charset="0"/>
              <a:ea typeface="黑体" panose="02010609060101010101" pitchFamily="2" charset="-122"/>
            </a:endParaRPr>
          </a:p>
        </p:txBody>
      </p:sp>
      <p:sp>
        <p:nvSpPr>
          <p:cNvPr id="29815" name="Line 119"/>
          <p:cNvSpPr/>
          <p:nvPr/>
        </p:nvSpPr>
        <p:spPr>
          <a:xfrm>
            <a:off x="7305675" y="5422900"/>
            <a:ext cx="685800" cy="0"/>
          </a:xfrm>
          <a:prstGeom prst="line">
            <a:avLst/>
          </a:prstGeom>
          <a:ln w="19050" cap="sq" cmpd="sng">
            <a:solidFill>
              <a:srgbClr val="FFFF00"/>
            </a:solidFill>
            <a:prstDash val="solid"/>
            <a:headEnd type="none" w="med" len="med"/>
            <a:tailEnd type="arrow" w="med" len="med"/>
          </a:ln>
        </p:spPr>
      </p:sp>
      <p:sp>
        <p:nvSpPr>
          <p:cNvPr id="29816" name="Line 120"/>
          <p:cNvSpPr/>
          <p:nvPr/>
        </p:nvSpPr>
        <p:spPr>
          <a:xfrm>
            <a:off x="5019675" y="5422900"/>
            <a:ext cx="685800" cy="0"/>
          </a:xfrm>
          <a:prstGeom prst="line">
            <a:avLst/>
          </a:prstGeom>
          <a:ln w="19050" cap="sq" cmpd="sng">
            <a:solidFill>
              <a:srgbClr val="FFFF00"/>
            </a:solidFill>
            <a:prstDash val="solid"/>
            <a:headEnd type="arrow" w="med" len="med"/>
            <a:tailEnd type="none" w="med" len="med"/>
          </a:ln>
        </p:spPr>
      </p:sp>
      <p:sp>
        <p:nvSpPr>
          <p:cNvPr id="29817" name="Line 121"/>
          <p:cNvSpPr/>
          <p:nvPr/>
        </p:nvSpPr>
        <p:spPr>
          <a:xfrm>
            <a:off x="3038475" y="5422900"/>
            <a:ext cx="381000" cy="0"/>
          </a:xfrm>
          <a:prstGeom prst="line">
            <a:avLst/>
          </a:prstGeom>
          <a:ln w="19050" cap="sq" cmpd="sng">
            <a:solidFill>
              <a:srgbClr val="FFFF00"/>
            </a:solidFill>
            <a:prstDash val="solid"/>
            <a:headEnd type="none" w="sm" len="sm"/>
            <a:tailEnd type="triangle" w="med" len="med"/>
          </a:ln>
        </p:spPr>
      </p:sp>
      <p:sp>
        <p:nvSpPr>
          <p:cNvPr id="29818" name="Line 122"/>
          <p:cNvSpPr/>
          <p:nvPr/>
        </p:nvSpPr>
        <p:spPr>
          <a:xfrm>
            <a:off x="5019675" y="5041900"/>
            <a:ext cx="533400" cy="0"/>
          </a:xfrm>
          <a:prstGeom prst="line">
            <a:avLst/>
          </a:prstGeom>
          <a:ln w="19050" cap="sq" cmpd="sng">
            <a:solidFill>
              <a:srgbClr val="FFFF00"/>
            </a:solidFill>
            <a:prstDash val="solid"/>
            <a:headEnd type="triangle" w="med" len="med"/>
            <a:tailEnd type="none" w="med" len="med"/>
          </a:ln>
        </p:spPr>
      </p:sp>
      <p:sp>
        <p:nvSpPr>
          <p:cNvPr id="29819" name="Text Box 123"/>
          <p:cNvSpPr txBox="1"/>
          <p:nvPr/>
        </p:nvSpPr>
        <p:spPr>
          <a:xfrm>
            <a:off x="5459413" y="4751388"/>
            <a:ext cx="1905000" cy="457200"/>
          </a:xfrm>
          <a:prstGeom prst="rect">
            <a:avLst/>
          </a:prstGeom>
          <a:noFill/>
          <a:ln w="12700">
            <a:noFill/>
          </a:ln>
        </p:spPr>
        <p:txBody>
          <a:bodyPr>
            <a:spAutoFit/>
          </a:bodyPr>
          <a:p>
            <a:pPr eaLnBrk="1" hangingPunct="1">
              <a:spcBef>
                <a:spcPct val="50000"/>
              </a:spcBef>
            </a:pPr>
            <a:r>
              <a:rPr lang="en-US" altLang="zh-CN" sz="2400" dirty="0">
                <a:solidFill>
                  <a:srgbClr val="FFFF00"/>
                </a:solidFill>
                <a:latin typeface="Times New Roman" panose="02020603050405020304" pitchFamily="18" charset="0"/>
                <a:ea typeface="黑体" panose="02010609060101010101" pitchFamily="2" charset="-122"/>
              </a:rPr>
              <a:t> </a:t>
            </a:r>
            <a:r>
              <a:rPr lang="zh-CN" altLang="en-US" sz="2400" dirty="0">
                <a:solidFill>
                  <a:srgbClr val="FFFF00"/>
                </a:solidFill>
                <a:latin typeface="Times New Roman" panose="02020603050405020304" pitchFamily="18" charset="0"/>
                <a:ea typeface="黑体" panose="02010609060101010101" pitchFamily="2" charset="-122"/>
              </a:rPr>
              <a:t>总线传送</a:t>
            </a:r>
            <a:endParaRPr lang="zh-CN" altLang="en-US" sz="2400" dirty="0">
              <a:solidFill>
                <a:srgbClr val="FFFF00"/>
              </a:solidFill>
              <a:latin typeface="Times New Roman" panose="02020603050405020304" pitchFamily="18" charset="0"/>
              <a:ea typeface="黑体" panose="02010609060101010101" pitchFamily="2" charset="-122"/>
            </a:endParaRPr>
          </a:p>
        </p:txBody>
      </p:sp>
      <p:sp>
        <p:nvSpPr>
          <p:cNvPr id="29820" name="Line 124"/>
          <p:cNvSpPr/>
          <p:nvPr/>
        </p:nvSpPr>
        <p:spPr>
          <a:xfrm>
            <a:off x="6910388" y="5041900"/>
            <a:ext cx="533400" cy="0"/>
          </a:xfrm>
          <a:prstGeom prst="line">
            <a:avLst/>
          </a:prstGeom>
          <a:ln w="19050" cap="sq" cmpd="sng">
            <a:solidFill>
              <a:srgbClr val="FFFF00"/>
            </a:solidFill>
            <a:prstDash val="solid"/>
            <a:headEnd type="none" w="med" len="med"/>
            <a:tailEnd type="triangle" w="med" len="med"/>
          </a:ln>
        </p:spPr>
      </p:sp>
      <p:sp>
        <p:nvSpPr>
          <p:cNvPr id="29821" name="Line 125"/>
          <p:cNvSpPr/>
          <p:nvPr/>
        </p:nvSpPr>
        <p:spPr>
          <a:xfrm>
            <a:off x="3876675" y="5422900"/>
            <a:ext cx="533400" cy="0"/>
          </a:xfrm>
          <a:prstGeom prst="line">
            <a:avLst/>
          </a:prstGeom>
          <a:ln w="19050" cap="sq" cmpd="sng">
            <a:solidFill>
              <a:srgbClr val="FFFF00"/>
            </a:solidFill>
            <a:prstDash val="solid"/>
            <a:headEnd type="triangle" w="med" len="med"/>
            <a:tailEnd type="none" w="med" len="med"/>
          </a:ln>
        </p:spPr>
      </p:sp>
      <p:sp>
        <p:nvSpPr>
          <p:cNvPr id="29822" name="Text Box 126"/>
          <p:cNvSpPr txBox="1"/>
          <p:nvPr/>
        </p:nvSpPr>
        <p:spPr>
          <a:xfrm>
            <a:off x="2579688" y="5538788"/>
            <a:ext cx="2438400" cy="457200"/>
          </a:xfrm>
          <a:prstGeom prst="rect">
            <a:avLst/>
          </a:prstGeom>
          <a:noFill/>
          <a:ln w="12700">
            <a:noFill/>
          </a:ln>
        </p:spPr>
        <p:txBody>
          <a:bodyPr>
            <a:spAutoFit/>
          </a:bodyPr>
          <a:p>
            <a:pPr eaLnBrk="1" hangingPunct="1">
              <a:spcBef>
                <a:spcPct val="50000"/>
              </a:spcBef>
            </a:pPr>
            <a:r>
              <a:rPr lang="en-US" altLang="zh-CN" sz="2400" dirty="0">
                <a:solidFill>
                  <a:schemeClr val="accent1"/>
                </a:solidFill>
                <a:latin typeface="Times New Roman" panose="02020603050405020304" pitchFamily="18" charset="0"/>
                <a:ea typeface="黑体" panose="02010609060101010101" pitchFamily="2" charset="-122"/>
              </a:rPr>
              <a:t> </a:t>
            </a:r>
            <a:r>
              <a:rPr lang="zh-CN" altLang="en-US" sz="2400" dirty="0">
                <a:solidFill>
                  <a:schemeClr val="accent1"/>
                </a:solidFill>
                <a:latin typeface="Times New Roman" panose="02020603050405020304" pitchFamily="18" charset="0"/>
                <a:ea typeface="黑体" panose="02010609060101010101" pitchFamily="2" charset="-122"/>
              </a:rPr>
              <a:t>（时间可变）</a:t>
            </a:r>
            <a:endParaRPr lang="zh-CN" altLang="en-US" sz="2400" dirty="0">
              <a:solidFill>
                <a:schemeClr val="accent1"/>
              </a:solidFill>
              <a:latin typeface="Times New Roman" panose="02020603050405020304" pitchFamily="18" charset="0"/>
              <a:ea typeface="黑体" panose="02010609060101010101" pitchFamily="2" charset="-122"/>
            </a:endParaRPr>
          </a:p>
        </p:txBody>
      </p:sp>
      <p:sp>
        <p:nvSpPr>
          <p:cNvPr id="29823" name="Text Box 127"/>
          <p:cNvSpPr txBox="1"/>
          <p:nvPr/>
        </p:nvSpPr>
        <p:spPr>
          <a:xfrm>
            <a:off x="5476875" y="5614988"/>
            <a:ext cx="2362200" cy="457200"/>
          </a:xfrm>
          <a:prstGeom prst="rect">
            <a:avLst/>
          </a:prstGeom>
          <a:noFill/>
          <a:ln w="12700">
            <a:noFill/>
          </a:ln>
        </p:spPr>
        <p:txBody>
          <a:bodyPr>
            <a:spAutoFit/>
          </a:bodyPr>
          <a:p>
            <a:pPr eaLnBrk="1" hangingPunct="1">
              <a:spcBef>
                <a:spcPct val="50000"/>
              </a:spcBef>
            </a:pPr>
            <a:r>
              <a:rPr lang="en-US" altLang="zh-CN" sz="2400" dirty="0">
                <a:solidFill>
                  <a:schemeClr val="accent1"/>
                </a:solidFill>
                <a:latin typeface="Times New Roman" panose="02020603050405020304" pitchFamily="18" charset="0"/>
                <a:ea typeface="黑体" panose="02010609060101010101" pitchFamily="2" charset="-122"/>
              </a:rPr>
              <a:t> </a:t>
            </a:r>
            <a:r>
              <a:rPr lang="zh-CN" altLang="en-US" sz="2400" dirty="0">
                <a:solidFill>
                  <a:schemeClr val="accent1"/>
                </a:solidFill>
                <a:latin typeface="Times New Roman" panose="02020603050405020304" pitchFamily="18" charset="0"/>
                <a:ea typeface="黑体" panose="02010609060101010101" pitchFamily="2" charset="-122"/>
              </a:rPr>
              <a:t>（时间可变）</a:t>
            </a:r>
            <a:endParaRPr lang="zh-CN" altLang="en-US" sz="2400" dirty="0">
              <a:solidFill>
                <a:schemeClr val="accent1"/>
              </a:solidFill>
              <a:latin typeface="Times New Roman" panose="02020603050405020304" pitchFamily="18" charset="0"/>
              <a:ea typeface="黑体" panose="02010609060101010101" pitchFamily="2" charset="-122"/>
            </a:endParaRPr>
          </a:p>
        </p:txBody>
      </p:sp>
      <p:sp>
        <p:nvSpPr>
          <p:cNvPr id="29824" name="Line 128"/>
          <p:cNvSpPr/>
          <p:nvPr/>
        </p:nvSpPr>
        <p:spPr>
          <a:xfrm flipV="1">
            <a:off x="5019675" y="3136900"/>
            <a:ext cx="685800" cy="533400"/>
          </a:xfrm>
          <a:prstGeom prst="line">
            <a:avLst/>
          </a:prstGeom>
          <a:ln w="12700" cap="sq" cmpd="sng">
            <a:solidFill>
              <a:srgbClr val="FFFF00"/>
            </a:solidFill>
            <a:prstDash val="solid"/>
            <a:headEnd type="none" w="sm" len="sm"/>
            <a:tailEnd type="none" w="sm" len="sm"/>
          </a:ln>
        </p:spPr>
      </p:sp>
      <p:sp>
        <p:nvSpPr>
          <p:cNvPr id="29825" name="Text Box 129"/>
          <p:cNvSpPr txBox="1"/>
          <p:nvPr/>
        </p:nvSpPr>
        <p:spPr>
          <a:xfrm>
            <a:off x="5553075" y="2832100"/>
            <a:ext cx="2133600" cy="457200"/>
          </a:xfrm>
          <a:prstGeom prst="rect">
            <a:avLst/>
          </a:prstGeom>
          <a:noFill/>
          <a:ln w="12700">
            <a:noFill/>
          </a:ln>
        </p:spPr>
        <p:txBody>
          <a:bodyPr>
            <a:spAutoFit/>
          </a:bodyPr>
          <a:p>
            <a:pPr eaLnBrk="1" hangingPunct="1">
              <a:spcBef>
                <a:spcPct val="50000"/>
              </a:spcBef>
            </a:pPr>
            <a:r>
              <a:rPr lang="en-US" altLang="zh-CN" sz="2400" dirty="0">
                <a:solidFill>
                  <a:srgbClr val="FFFF00"/>
                </a:solidFill>
                <a:latin typeface="Times New Roman" panose="02020603050405020304" pitchFamily="18" charset="0"/>
                <a:ea typeface="黑体" panose="02010609060101010101" pitchFamily="2" charset="-122"/>
              </a:rPr>
              <a:t> </a:t>
            </a:r>
            <a:r>
              <a:rPr lang="zh-CN" altLang="en-US" sz="2400" dirty="0">
                <a:solidFill>
                  <a:srgbClr val="FFFF00"/>
                </a:solidFill>
                <a:latin typeface="Times New Roman" panose="02020603050405020304" pitchFamily="18" charset="0"/>
                <a:ea typeface="黑体" panose="02010609060101010101" pitchFamily="2" charset="-122"/>
              </a:rPr>
              <a:t>总线权切换</a:t>
            </a:r>
            <a:endParaRPr lang="zh-CN" altLang="en-US" sz="2400" dirty="0">
              <a:solidFill>
                <a:srgbClr val="FFFF00"/>
              </a:solidFill>
              <a:latin typeface="Times New Roman" panose="02020603050405020304" pitchFamily="18" charset="0"/>
              <a:ea typeface="黑体" panose="02010609060101010101" pitchFamily="2" charset="-122"/>
            </a:endParaRPr>
          </a:p>
        </p:txBody>
      </p:sp>
      <p:sp>
        <p:nvSpPr>
          <p:cNvPr id="29826" name="Freeform 130"/>
          <p:cNvSpPr/>
          <p:nvPr/>
        </p:nvSpPr>
        <p:spPr>
          <a:xfrm>
            <a:off x="3419475" y="3103563"/>
            <a:ext cx="381000" cy="647700"/>
          </a:xfrm>
          <a:custGeom>
            <a:avLst/>
            <a:gdLst>
              <a:gd name="txL" fmla="*/ 0 w 240"/>
              <a:gd name="txT" fmla="*/ 0 h 408"/>
              <a:gd name="txR" fmla="*/ 240 w 240"/>
              <a:gd name="txB" fmla="*/ 408 h 408"/>
            </a:gdLst>
            <a:ahLst/>
            <a:cxnLst>
              <a:cxn ang="0">
                <a:pos x="0"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40" h="408">
                <a:moveTo>
                  <a:pt x="0" y="24"/>
                </a:moveTo>
                <a:cubicBezTo>
                  <a:pt x="36" y="12"/>
                  <a:pt x="72" y="0"/>
                  <a:pt x="96" y="24"/>
                </a:cubicBezTo>
                <a:cubicBezTo>
                  <a:pt x="120" y="48"/>
                  <a:pt x="144" y="120"/>
                  <a:pt x="144" y="168"/>
                </a:cubicBezTo>
                <a:cubicBezTo>
                  <a:pt x="144" y="216"/>
                  <a:pt x="96" y="280"/>
                  <a:pt x="96" y="312"/>
                </a:cubicBezTo>
                <a:cubicBezTo>
                  <a:pt x="96" y="344"/>
                  <a:pt x="120" y="344"/>
                  <a:pt x="144" y="360"/>
                </a:cubicBezTo>
                <a:cubicBezTo>
                  <a:pt x="168" y="376"/>
                  <a:pt x="204" y="392"/>
                  <a:pt x="240" y="408"/>
                </a:cubicBezTo>
              </a:path>
            </a:pathLst>
          </a:custGeom>
          <a:noFill/>
          <a:ln w="28575" cap="sq" cmpd="sng">
            <a:solidFill>
              <a:schemeClr val="accent1">
                <a:alpha val="100000"/>
              </a:schemeClr>
            </a:solidFill>
            <a:prstDash val="solid"/>
            <a:round/>
            <a:headEnd type="none" w="med" len="med"/>
            <a:tailEnd type="triangle" w="med" len="med"/>
          </a:ln>
        </p:spPr>
        <p:txBody>
          <a:bodyPr/>
          <a:p>
            <a:endParaRPr lang="zh-CN" altLang="en-US"/>
          </a:p>
        </p:txBody>
      </p:sp>
      <p:sp>
        <p:nvSpPr>
          <p:cNvPr id="29827" name="Freeform 131"/>
          <p:cNvSpPr/>
          <p:nvPr/>
        </p:nvSpPr>
        <p:spPr>
          <a:xfrm>
            <a:off x="3800475" y="3027363"/>
            <a:ext cx="838200" cy="850900"/>
          </a:xfrm>
          <a:custGeom>
            <a:avLst/>
            <a:gdLst>
              <a:gd name="txL" fmla="*/ 0 w 528"/>
              <a:gd name="txT" fmla="*/ 0 h 536"/>
              <a:gd name="txR" fmla="*/ 528 w 528"/>
              <a:gd name="txB" fmla="*/ 536 h 536"/>
            </a:gdLst>
            <a:ahLst/>
            <a:cxnLst>
              <a:cxn ang="0">
                <a:pos x="0" y="2147483646"/>
              </a:cxn>
              <a:cxn ang="0">
                <a:pos x="2147483646" y="2147483646"/>
              </a:cxn>
              <a:cxn ang="0">
                <a:pos x="2147483646" y="2147483646"/>
              </a:cxn>
              <a:cxn ang="0">
                <a:pos x="2147483646" y="2147483646"/>
              </a:cxn>
              <a:cxn ang="0">
                <a:pos x="2147483646" y="2147483646"/>
              </a:cxn>
              <a:cxn ang="0">
                <a:pos x="2147483646" y="0"/>
              </a:cxn>
            </a:cxnLst>
            <a:rect l="txL" t="txT" r="txR" b="txB"/>
            <a:pathLst>
              <a:path w="528" h="536">
                <a:moveTo>
                  <a:pt x="0" y="528"/>
                </a:moveTo>
                <a:cubicBezTo>
                  <a:pt x="32" y="532"/>
                  <a:pt x="64" y="536"/>
                  <a:pt x="96" y="528"/>
                </a:cubicBezTo>
                <a:cubicBezTo>
                  <a:pt x="128" y="520"/>
                  <a:pt x="160" y="512"/>
                  <a:pt x="192" y="480"/>
                </a:cubicBezTo>
                <a:cubicBezTo>
                  <a:pt x="224" y="448"/>
                  <a:pt x="264" y="392"/>
                  <a:pt x="288" y="336"/>
                </a:cubicBezTo>
                <a:cubicBezTo>
                  <a:pt x="312" y="280"/>
                  <a:pt x="296" y="200"/>
                  <a:pt x="336" y="144"/>
                </a:cubicBezTo>
                <a:cubicBezTo>
                  <a:pt x="376" y="88"/>
                  <a:pt x="452" y="44"/>
                  <a:pt x="528" y="0"/>
                </a:cubicBezTo>
              </a:path>
            </a:pathLst>
          </a:custGeom>
          <a:noFill/>
          <a:ln w="28575" cap="sq" cmpd="sng">
            <a:solidFill>
              <a:schemeClr val="accent1">
                <a:alpha val="100000"/>
              </a:schemeClr>
            </a:solidFill>
            <a:prstDash val="solid"/>
            <a:round/>
            <a:headEnd type="none" w="med" len="med"/>
            <a:tailEnd type="triangle" w="med" len="med"/>
          </a:ln>
        </p:spPr>
        <p:txBody>
          <a:bodyPr/>
          <a:p>
            <a:endParaRPr lang="zh-CN" altLang="en-US"/>
          </a:p>
        </p:txBody>
      </p:sp>
      <p:sp>
        <p:nvSpPr>
          <p:cNvPr id="29830" name="Freeform 134"/>
          <p:cNvSpPr/>
          <p:nvPr/>
        </p:nvSpPr>
        <p:spPr>
          <a:xfrm>
            <a:off x="4638675" y="3103563"/>
            <a:ext cx="381000" cy="762000"/>
          </a:xfrm>
          <a:custGeom>
            <a:avLst/>
            <a:gdLst>
              <a:gd name="txL" fmla="*/ 0 w 240"/>
              <a:gd name="txT" fmla="*/ 0 h 480"/>
              <a:gd name="txR" fmla="*/ 240 w 240"/>
              <a:gd name="txB" fmla="*/ 480 h 480"/>
            </a:gdLst>
            <a:ahLst/>
            <a:cxnLst>
              <a:cxn ang="0">
                <a:pos x="0" y="0"/>
              </a:cxn>
              <a:cxn ang="0">
                <a:pos x="2147483646" y="2147483646"/>
              </a:cxn>
              <a:cxn ang="0">
                <a:pos x="2147483646" y="2147483646"/>
              </a:cxn>
              <a:cxn ang="0">
                <a:pos x="2147483646" y="2147483646"/>
              </a:cxn>
              <a:cxn ang="0">
                <a:pos x="2147483646" y="2147483646"/>
              </a:cxn>
            </a:cxnLst>
            <a:rect l="txL" t="txT" r="txR" b="txB"/>
            <a:pathLst>
              <a:path w="240" h="480">
                <a:moveTo>
                  <a:pt x="0" y="0"/>
                </a:moveTo>
                <a:cubicBezTo>
                  <a:pt x="32" y="4"/>
                  <a:pt x="64" y="8"/>
                  <a:pt x="96" y="48"/>
                </a:cubicBezTo>
                <a:cubicBezTo>
                  <a:pt x="128" y="88"/>
                  <a:pt x="192" y="176"/>
                  <a:pt x="192" y="240"/>
                </a:cubicBezTo>
                <a:cubicBezTo>
                  <a:pt x="192" y="304"/>
                  <a:pt x="88" y="392"/>
                  <a:pt x="96" y="432"/>
                </a:cubicBezTo>
                <a:cubicBezTo>
                  <a:pt x="104" y="472"/>
                  <a:pt x="172" y="476"/>
                  <a:pt x="240" y="480"/>
                </a:cubicBezTo>
              </a:path>
            </a:pathLst>
          </a:custGeom>
          <a:noFill/>
          <a:ln w="28575" cap="sq" cmpd="sng">
            <a:solidFill>
              <a:schemeClr val="accent1">
                <a:alpha val="100000"/>
              </a:schemeClr>
            </a:solidFill>
            <a:prstDash val="solid"/>
            <a:round/>
            <a:headEnd type="none" w="med" len="med"/>
            <a:tailEnd type="triangle" w="med" len="med"/>
          </a:ln>
        </p:spPr>
        <p:txBody>
          <a:bodyPr/>
          <a:p>
            <a:endParaRPr lang="zh-CN" altLang="en-US"/>
          </a:p>
        </p:txBody>
      </p:sp>
      <p:sp>
        <p:nvSpPr>
          <p:cNvPr id="29831" name="Freeform 135"/>
          <p:cNvSpPr/>
          <p:nvPr/>
        </p:nvSpPr>
        <p:spPr>
          <a:xfrm>
            <a:off x="4613275" y="3103563"/>
            <a:ext cx="406400" cy="1219200"/>
          </a:xfrm>
          <a:custGeom>
            <a:avLst/>
            <a:gdLst>
              <a:gd name="txL" fmla="*/ 0 w 256"/>
              <a:gd name="txT" fmla="*/ 0 h 768"/>
              <a:gd name="txR" fmla="*/ 256 w 256"/>
              <a:gd name="txB" fmla="*/ 768 h 768"/>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56" h="768">
                <a:moveTo>
                  <a:pt x="16" y="0"/>
                </a:moveTo>
                <a:cubicBezTo>
                  <a:pt x="56" y="4"/>
                  <a:pt x="96" y="8"/>
                  <a:pt x="112" y="48"/>
                </a:cubicBezTo>
                <a:cubicBezTo>
                  <a:pt x="128" y="88"/>
                  <a:pt x="128" y="184"/>
                  <a:pt x="112" y="240"/>
                </a:cubicBezTo>
                <a:cubicBezTo>
                  <a:pt x="96" y="296"/>
                  <a:pt x="32" y="336"/>
                  <a:pt x="16" y="384"/>
                </a:cubicBezTo>
                <a:cubicBezTo>
                  <a:pt x="0" y="432"/>
                  <a:pt x="8" y="488"/>
                  <a:pt x="16" y="528"/>
                </a:cubicBezTo>
                <a:cubicBezTo>
                  <a:pt x="24" y="568"/>
                  <a:pt x="48" y="592"/>
                  <a:pt x="64" y="624"/>
                </a:cubicBezTo>
                <a:cubicBezTo>
                  <a:pt x="80" y="656"/>
                  <a:pt x="80" y="696"/>
                  <a:pt x="112" y="720"/>
                </a:cubicBezTo>
                <a:cubicBezTo>
                  <a:pt x="144" y="744"/>
                  <a:pt x="200" y="756"/>
                  <a:pt x="256" y="768"/>
                </a:cubicBezTo>
              </a:path>
            </a:pathLst>
          </a:custGeom>
          <a:noFill/>
          <a:ln w="28575" cap="sq" cmpd="sng">
            <a:solidFill>
              <a:schemeClr val="accent1">
                <a:alpha val="100000"/>
              </a:schemeClr>
            </a:solidFill>
            <a:prstDash val="solid"/>
            <a:round/>
            <a:headEnd type="none" w="med" len="med"/>
            <a:tailEnd type="triangle" w="med" len="med"/>
          </a:ln>
        </p:spPr>
        <p:txBody>
          <a:bodyPr/>
          <a:p>
            <a:endParaRPr lang="zh-CN" altLang="en-US"/>
          </a:p>
        </p:txBody>
      </p:sp>
      <p:sp>
        <p:nvSpPr>
          <p:cNvPr id="71" name="Text Box 70"/>
          <p:cNvSpPr txBox="1"/>
          <p:nvPr/>
        </p:nvSpPr>
        <p:spPr>
          <a:xfrm>
            <a:off x="404813" y="1428750"/>
            <a:ext cx="6810375" cy="541338"/>
          </a:xfrm>
          <a:prstGeom prst="rect">
            <a:avLst/>
          </a:prstGeom>
          <a:noFill/>
          <a:ln w="12700">
            <a:noFill/>
          </a:ln>
        </p:spPr>
        <p:txBody>
          <a:bodyPr>
            <a:spAutoFit/>
          </a:bodyPr>
          <a:p>
            <a:pPr eaLnBrk="1" hangingPunct="1">
              <a:lnSpc>
                <a:spcPct val="120000"/>
              </a:lnSpc>
            </a:pPr>
            <a:r>
              <a:rPr lang="zh-CN" altLang="en-US" sz="2800" dirty="0">
                <a:solidFill>
                  <a:srgbClr val="00FF00"/>
                </a:solidFill>
                <a:latin typeface="黑体" panose="02010609060101010101" pitchFamily="2" charset="-122"/>
                <a:ea typeface="黑体" panose="02010609060101010101" pitchFamily="2" charset="-122"/>
              </a:rPr>
              <a:t>√总线周期由传送的实际需要决定；</a:t>
            </a:r>
            <a:endParaRPr lang="en-US" altLang="zh-CN" sz="2800" dirty="0">
              <a:solidFill>
                <a:srgbClr val="00FF00"/>
              </a:solidFill>
              <a:latin typeface="黑体" panose="02010609060101010101" pitchFamily="2" charset="-122"/>
              <a:ea typeface="黑体" panose="02010609060101010101" pitchFamily="2" charset="-122"/>
            </a:endParaRPr>
          </a:p>
        </p:txBody>
      </p:sp>
      <p:sp>
        <p:nvSpPr>
          <p:cNvPr id="72" name="Text Box 70"/>
          <p:cNvSpPr txBox="1"/>
          <p:nvPr/>
        </p:nvSpPr>
        <p:spPr>
          <a:xfrm>
            <a:off x="404813" y="2000250"/>
            <a:ext cx="6286500" cy="609600"/>
          </a:xfrm>
          <a:prstGeom prst="rect">
            <a:avLst/>
          </a:prstGeom>
          <a:noFill/>
          <a:ln w="12700">
            <a:noFill/>
          </a:ln>
        </p:spPr>
        <p:txBody>
          <a:bodyPr>
            <a:spAutoFit/>
          </a:bodyPr>
          <a:p>
            <a:pPr eaLnBrk="1" hangingPunct="1">
              <a:lnSpc>
                <a:spcPct val="120000"/>
              </a:lnSpc>
            </a:pPr>
            <a:r>
              <a:rPr lang="zh-CN" altLang="en-US" sz="2800" dirty="0">
                <a:solidFill>
                  <a:srgbClr val="00FF00"/>
                </a:solidFill>
                <a:latin typeface="黑体" panose="02010609060101010101" pitchFamily="2" charset="-122"/>
                <a:ea typeface="黑体" panose="02010609060101010101" pitchFamily="2" charset="-122"/>
              </a:rPr>
              <a:t>√以异步应答方式控制总线传送操作；</a:t>
            </a:r>
            <a:endParaRPr lang="zh-CN" altLang="en-US" sz="2800" dirty="0">
              <a:solidFill>
                <a:srgbClr val="00FF00"/>
              </a:solidFill>
              <a:latin typeface="黑体" panose="02010609060101010101" pitchFamily="2" charset="-122"/>
              <a:ea typeface="黑体" panose="02010609060101010101" pitchFamily="2" charset="-122"/>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9764">
                                            <p:txEl>
                                              <p:charRg st="0" end="6"/>
                                            </p:txEl>
                                          </p:spTgt>
                                        </p:tgtEl>
                                        <p:attrNameLst>
                                          <p:attrName>style.visibility</p:attrName>
                                        </p:attrNameLst>
                                      </p:cBhvr>
                                      <p:to>
                                        <p:strVal val="visible"/>
                                      </p:to>
                                    </p:set>
                                    <p:animEffect transition="in" filter="dissolve">
                                      <p:cBhvr>
                                        <p:cTn id="7" dur="500"/>
                                        <p:tgtEl>
                                          <p:spTgt spid="29764">
                                            <p:txEl>
                                              <p:charRg st="0"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9758"/>
                                        </p:tgtEl>
                                        <p:attrNameLst>
                                          <p:attrName>style.visibility</p:attrName>
                                        </p:attrNameLst>
                                      </p:cBhvr>
                                      <p:to>
                                        <p:strVal val="visible"/>
                                      </p:to>
                                    </p:set>
                                    <p:animEffect transition="in" filter="wipe(left)">
                                      <p:cBhvr>
                                        <p:cTn id="17" dur="500"/>
                                        <p:tgtEl>
                                          <p:spTgt spid="29758"/>
                                        </p:tgtEl>
                                      </p:cBhvr>
                                    </p:animEffect>
                                  </p:childTnLst>
                                </p:cTn>
                              </p:par>
                            </p:childTnLst>
                          </p:cTn>
                        </p:par>
                        <p:par>
                          <p:cTn id="18" fill="hold">
                            <p:stCondLst>
                              <p:cond delay="500"/>
                            </p:stCondLst>
                            <p:childTnLst>
                              <p:par>
                                <p:cTn id="19" presetID="22" presetClass="entr" presetSubtype="4" fill="hold" nodeType="afterEffect">
                                  <p:stCondLst>
                                    <p:cond delay="0"/>
                                  </p:stCondLst>
                                  <p:childTnLst>
                                    <p:set>
                                      <p:cBhvr>
                                        <p:cTn id="20" dur="1" fill="hold">
                                          <p:stCondLst>
                                            <p:cond delay="0"/>
                                          </p:stCondLst>
                                        </p:cTn>
                                        <p:tgtEl>
                                          <p:spTgt spid="29759"/>
                                        </p:tgtEl>
                                        <p:attrNameLst>
                                          <p:attrName>style.visibility</p:attrName>
                                        </p:attrNameLst>
                                      </p:cBhvr>
                                      <p:to>
                                        <p:strVal val="visible"/>
                                      </p:to>
                                    </p:set>
                                    <p:animEffect transition="in" filter="wipe(down)">
                                      <p:cBhvr>
                                        <p:cTn id="21" dur="500"/>
                                        <p:tgtEl>
                                          <p:spTgt spid="2975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29826"/>
                                        </p:tgtEl>
                                        <p:attrNameLst>
                                          <p:attrName>style.visibility</p:attrName>
                                        </p:attrNameLst>
                                      </p:cBhvr>
                                      <p:to>
                                        <p:strVal val="visible"/>
                                      </p:to>
                                    </p:set>
                                    <p:animEffect transition="in" filter="wipe(up)">
                                      <p:cBhvr>
                                        <p:cTn id="26" dur="500"/>
                                        <p:tgtEl>
                                          <p:spTgt spid="29826"/>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29760"/>
                                        </p:tgtEl>
                                        <p:attrNameLst>
                                          <p:attrName>style.visibility</p:attrName>
                                        </p:attrNameLst>
                                      </p:cBhvr>
                                      <p:to>
                                        <p:strVal val="visible"/>
                                      </p:to>
                                    </p:set>
                                    <p:animEffect transition="in" filter="wipe(left)">
                                      <p:cBhvr>
                                        <p:cTn id="30" dur="500"/>
                                        <p:tgtEl>
                                          <p:spTgt spid="29760"/>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29779">
                                            <p:txEl>
                                              <p:charRg st="0" end="6"/>
                                            </p:txEl>
                                          </p:spTgt>
                                        </p:tgtEl>
                                        <p:attrNameLst>
                                          <p:attrName>style.visibility</p:attrName>
                                        </p:attrNameLst>
                                      </p:cBhvr>
                                      <p:to>
                                        <p:strVal val="visible"/>
                                      </p:to>
                                    </p:set>
                                    <p:animEffect transition="in" filter="dissolve">
                                      <p:cBhvr>
                                        <p:cTn id="35" dur="500"/>
                                        <p:tgtEl>
                                          <p:spTgt spid="29779">
                                            <p:txEl>
                                              <p:charRg st="0"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wipe(left)">
                                      <p:cBhvr>
                                        <p:cTn id="40" dur="500"/>
                                        <p:tgtEl>
                                          <p:spTgt spid="3"/>
                                        </p:tgtEl>
                                      </p:cBhvr>
                                    </p:animEffec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29768"/>
                                        </p:tgtEl>
                                        <p:attrNameLst>
                                          <p:attrName>style.visibility</p:attrName>
                                        </p:attrNameLst>
                                      </p:cBhvr>
                                      <p:to>
                                        <p:strVal val="visible"/>
                                      </p:to>
                                    </p:set>
                                    <p:animEffect transition="in" filter="wipe(left)">
                                      <p:cBhvr>
                                        <p:cTn id="44" dur="500"/>
                                        <p:tgtEl>
                                          <p:spTgt spid="29768"/>
                                        </p:tgtEl>
                                      </p:cBhvr>
                                    </p:animEffect>
                                  </p:childTnLst>
                                </p:cTn>
                              </p:par>
                            </p:childTnLst>
                          </p:cTn>
                        </p:par>
                        <p:par>
                          <p:cTn id="45" fill="hold">
                            <p:stCondLst>
                              <p:cond delay="1000"/>
                            </p:stCondLst>
                            <p:childTnLst>
                              <p:par>
                                <p:cTn id="46" presetID="22" presetClass="entr" presetSubtype="4" fill="hold" nodeType="afterEffect">
                                  <p:stCondLst>
                                    <p:cond delay="0"/>
                                  </p:stCondLst>
                                  <p:childTnLst>
                                    <p:set>
                                      <p:cBhvr>
                                        <p:cTn id="47" dur="1" fill="hold">
                                          <p:stCondLst>
                                            <p:cond delay="0"/>
                                          </p:stCondLst>
                                        </p:cTn>
                                        <p:tgtEl>
                                          <p:spTgt spid="29769"/>
                                        </p:tgtEl>
                                        <p:attrNameLst>
                                          <p:attrName>style.visibility</p:attrName>
                                        </p:attrNameLst>
                                      </p:cBhvr>
                                      <p:to>
                                        <p:strVal val="visible"/>
                                      </p:to>
                                    </p:set>
                                    <p:animEffect transition="in" filter="wipe(down)">
                                      <p:cBhvr>
                                        <p:cTn id="48" dur="500"/>
                                        <p:tgtEl>
                                          <p:spTgt spid="29769"/>
                                        </p:tgtEl>
                                      </p:cBhvr>
                                    </p:animEffect>
                                  </p:childTnLst>
                                </p:cTn>
                              </p:par>
                            </p:childTnLst>
                          </p:cTn>
                        </p:par>
                        <p:par>
                          <p:cTn id="49" fill="hold">
                            <p:stCondLst>
                              <p:cond delay="1500"/>
                            </p:stCondLst>
                            <p:childTnLst>
                              <p:par>
                                <p:cTn id="50" presetID="22" presetClass="entr" presetSubtype="8" fill="hold" nodeType="afterEffect">
                                  <p:stCondLst>
                                    <p:cond delay="0"/>
                                  </p:stCondLst>
                                  <p:childTnLst>
                                    <p:set>
                                      <p:cBhvr>
                                        <p:cTn id="51" dur="1" fill="hold">
                                          <p:stCondLst>
                                            <p:cond delay="0"/>
                                          </p:stCondLst>
                                        </p:cTn>
                                        <p:tgtEl>
                                          <p:spTgt spid="29770"/>
                                        </p:tgtEl>
                                        <p:attrNameLst>
                                          <p:attrName>style.visibility</p:attrName>
                                        </p:attrNameLst>
                                      </p:cBhvr>
                                      <p:to>
                                        <p:strVal val="visible"/>
                                      </p:to>
                                    </p:set>
                                    <p:animEffect transition="in" filter="wipe(left)">
                                      <p:cBhvr>
                                        <p:cTn id="52" dur="500"/>
                                        <p:tgtEl>
                                          <p:spTgt spid="2977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29827"/>
                                        </p:tgtEl>
                                        <p:attrNameLst>
                                          <p:attrName>style.visibility</p:attrName>
                                        </p:attrNameLst>
                                      </p:cBhvr>
                                      <p:to>
                                        <p:strVal val="visible"/>
                                      </p:to>
                                    </p:set>
                                    <p:animEffect transition="in" filter="wipe(down)">
                                      <p:cBhvr>
                                        <p:cTn id="57" dur="500"/>
                                        <p:tgtEl>
                                          <p:spTgt spid="29827"/>
                                        </p:tgtEl>
                                      </p:cBhvr>
                                    </p:animEffect>
                                  </p:childTnLst>
                                </p:cTn>
                              </p:par>
                            </p:childTnLst>
                          </p:cTn>
                        </p:par>
                        <p:par>
                          <p:cTn id="58" fill="hold">
                            <p:stCondLst>
                              <p:cond delay="500"/>
                            </p:stCondLst>
                            <p:childTnLst>
                              <p:par>
                                <p:cTn id="59" presetID="22" presetClass="entr" presetSubtype="1" fill="hold" nodeType="afterEffect">
                                  <p:stCondLst>
                                    <p:cond delay="0"/>
                                  </p:stCondLst>
                                  <p:childTnLst>
                                    <p:set>
                                      <p:cBhvr>
                                        <p:cTn id="60" dur="1" fill="hold">
                                          <p:stCondLst>
                                            <p:cond delay="0"/>
                                          </p:stCondLst>
                                        </p:cTn>
                                        <p:tgtEl>
                                          <p:spTgt spid="29761"/>
                                        </p:tgtEl>
                                        <p:attrNameLst>
                                          <p:attrName>style.visibility</p:attrName>
                                        </p:attrNameLst>
                                      </p:cBhvr>
                                      <p:to>
                                        <p:strVal val="visible"/>
                                      </p:to>
                                    </p:set>
                                    <p:animEffect transition="in" filter="wipe(up)">
                                      <p:cBhvr>
                                        <p:cTn id="61" dur="500"/>
                                        <p:tgtEl>
                                          <p:spTgt spid="29761"/>
                                        </p:tgtEl>
                                      </p:cBhvr>
                                    </p:animEffect>
                                  </p:childTnLst>
                                </p:cTn>
                              </p:par>
                            </p:childTnLst>
                          </p:cTn>
                        </p:par>
                        <p:par>
                          <p:cTn id="62" fill="hold">
                            <p:stCondLst>
                              <p:cond delay="1000"/>
                            </p:stCondLst>
                            <p:childTnLst>
                              <p:par>
                                <p:cTn id="63" presetID="22" presetClass="entr" presetSubtype="8" fill="hold" nodeType="afterEffect">
                                  <p:stCondLst>
                                    <p:cond delay="0"/>
                                  </p:stCondLst>
                                  <p:childTnLst>
                                    <p:set>
                                      <p:cBhvr>
                                        <p:cTn id="64" dur="1" fill="hold">
                                          <p:stCondLst>
                                            <p:cond delay="0"/>
                                          </p:stCondLst>
                                        </p:cTn>
                                        <p:tgtEl>
                                          <p:spTgt spid="29762"/>
                                        </p:tgtEl>
                                        <p:attrNameLst>
                                          <p:attrName>style.visibility</p:attrName>
                                        </p:attrNameLst>
                                      </p:cBhvr>
                                      <p:to>
                                        <p:strVal val="visible"/>
                                      </p:to>
                                    </p:set>
                                    <p:animEffect transition="in" filter="wipe(left)">
                                      <p:cBhvr>
                                        <p:cTn id="65" dur="500"/>
                                        <p:tgtEl>
                                          <p:spTgt spid="29762"/>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nodeType="clickEffect">
                                  <p:stCondLst>
                                    <p:cond delay="0"/>
                                  </p:stCondLst>
                                  <p:childTnLst>
                                    <p:set>
                                      <p:cBhvr>
                                        <p:cTn id="69" dur="1" fill="hold">
                                          <p:stCondLst>
                                            <p:cond delay="0"/>
                                          </p:stCondLst>
                                        </p:cTn>
                                        <p:tgtEl>
                                          <p:spTgt spid="29830"/>
                                        </p:tgtEl>
                                        <p:attrNameLst>
                                          <p:attrName>style.visibility</p:attrName>
                                        </p:attrNameLst>
                                      </p:cBhvr>
                                      <p:to>
                                        <p:strVal val="visible"/>
                                      </p:to>
                                    </p:set>
                                    <p:animEffect transition="in" filter="wipe(up)">
                                      <p:cBhvr>
                                        <p:cTn id="70" dur="500"/>
                                        <p:tgtEl>
                                          <p:spTgt spid="29830"/>
                                        </p:tgtEl>
                                      </p:cBhvr>
                                    </p:animEffect>
                                  </p:childTnLst>
                                </p:cTn>
                              </p:par>
                            </p:childTnLst>
                          </p:cTn>
                        </p:par>
                        <p:par>
                          <p:cTn id="71" fill="hold">
                            <p:stCondLst>
                              <p:cond delay="500"/>
                            </p:stCondLst>
                            <p:childTnLst>
                              <p:par>
                                <p:cTn id="72" presetID="22" presetClass="entr" presetSubtype="1" fill="hold" nodeType="afterEffect">
                                  <p:stCondLst>
                                    <p:cond delay="0"/>
                                  </p:stCondLst>
                                  <p:childTnLst>
                                    <p:set>
                                      <p:cBhvr>
                                        <p:cTn id="73" dur="1" fill="hold">
                                          <p:stCondLst>
                                            <p:cond delay="0"/>
                                          </p:stCondLst>
                                        </p:cTn>
                                        <p:tgtEl>
                                          <p:spTgt spid="29771"/>
                                        </p:tgtEl>
                                        <p:attrNameLst>
                                          <p:attrName>style.visibility</p:attrName>
                                        </p:attrNameLst>
                                      </p:cBhvr>
                                      <p:to>
                                        <p:strVal val="visible"/>
                                      </p:to>
                                    </p:set>
                                    <p:animEffect transition="in" filter="wipe(up)">
                                      <p:cBhvr>
                                        <p:cTn id="74" dur="500"/>
                                        <p:tgtEl>
                                          <p:spTgt spid="29771"/>
                                        </p:tgtEl>
                                      </p:cBhvr>
                                    </p:animEffect>
                                  </p:childTnLst>
                                </p:cTn>
                              </p:par>
                            </p:childTnLst>
                          </p:cTn>
                        </p:par>
                        <p:par>
                          <p:cTn id="75" fill="hold">
                            <p:stCondLst>
                              <p:cond delay="1000"/>
                            </p:stCondLst>
                            <p:childTnLst>
                              <p:par>
                                <p:cTn id="76" presetID="22" presetClass="entr" presetSubtype="8" fill="hold" nodeType="afterEffect">
                                  <p:stCondLst>
                                    <p:cond delay="0"/>
                                  </p:stCondLst>
                                  <p:childTnLst>
                                    <p:set>
                                      <p:cBhvr>
                                        <p:cTn id="77" dur="1" fill="hold">
                                          <p:stCondLst>
                                            <p:cond delay="0"/>
                                          </p:stCondLst>
                                        </p:cTn>
                                        <p:tgtEl>
                                          <p:spTgt spid="29772"/>
                                        </p:tgtEl>
                                        <p:attrNameLst>
                                          <p:attrName>style.visibility</p:attrName>
                                        </p:attrNameLst>
                                      </p:cBhvr>
                                      <p:to>
                                        <p:strVal val="visible"/>
                                      </p:to>
                                    </p:set>
                                    <p:animEffect transition="in" filter="wipe(left)">
                                      <p:cBhvr>
                                        <p:cTn id="78" dur="500"/>
                                        <p:tgtEl>
                                          <p:spTgt spid="29772"/>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29824"/>
                                        </p:tgtEl>
                                        <p:attrNameLst>
                                          <p:attrName>style.visibility</p:attrName>
                                        </p:attrNameLst>
                                      </p:cBhvr>
                                      <p:to>
                                        <p:strVal val="visible"/>
                                      </p:to>
                                    </p:set>
                                    <p:animEffect transition="in" filter="wipe(left)">
                                      <p:cBhvr>
                                        <p:cTn id="83" dur="500"/>
                                        <p:tgtEl>
                                          <p:spTgt spid="29824"/>
                                        </p:tgtEl>
                                      </p:cBhvr>
                                    </p:animEffect>
                                  </p:childTnLst>
                                </p:cTn>
                              </p:par>
                            </p:childTnLst>
                          </p:cTn>
                        </p:par>
                        <p:par>
                          <p:cTn id="84" fill="hold">
                            <p:stCondLst>
                              <p:cond delay="500"/>
                            </p:stCondLst>
                            <p:childTnLst>
                              <p:par>
                                <p:cTn id="85" presetID="9" presetClass="entr" presetSubtype="0" fill="hold" grpId="0" nodeType="afterEffect">
                                  <p:stCondLst>
                                    <p:cond delay="0"/>
                                  </p:stCondLst>
                                  <p:childTnLst>
                                    <p:set>
                                      <p:cBhvr>
                                        <p:cTn id="86" dur="1" fill="hold">
                                          <p:stCondLst>
                                            <p:cond delay="0"/>
                                          </p:stCondLst>
                                        </p:cTn>
                                        <p:tgtEl>
                                          <p:spTgt spid="29825">
                                            <p:txEl>
                                              <p:charRg st="0" end="7"/>
                                            </p:txEl>
                                          </p:spTgt>
                                        </p:tgtEl>
                                        <p:attrNameLst>
                                          <p:attrName>style.visibility</p:attrName>
                                        </p:attrNameLst>
                                      </p:cBhvr>
                                      <p:to>
                                        <p:strVal val="visible"/>
                                      </p:to>
                                    </p:set>
                                    <p:animEffect transition="in" filter="dissolve">
                                      <p:cBhvr>
                                        <p:cTn id="87" dur="500"/>
                                        <p:tgtEl>
                                          <p:spTgt spid="29825">
                                            <p:txEl>
                                              <p:charRg st="0" end="7"/>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nodeType="clickEffect">
                                  <p:stCondLst>
                                    <p:cond delay="0"/>
                                  </p:stCondLst>
                                  <p:childTnLst>
                                    <p:set>
                                      <p:cBhvr>
                                        <p:cTn id="91" dur="1" fill="hold">
                                          <p:stCondLst>
                                            <p:cond delay="0"/>
                                          </p:stCondLst>
                                        </p:cTn>
                                        <p:tgtEl>
                                          <p:spTgt spid="29831"/>
                                        </p:tgtEl>
                                        <p:attrNameLst>
                                          <p:attrName>style.visibility</p:attrName>
                                        </p:attrNameLst>
                                      </p:cBhvr>
                                      <p:to>
                                        <p:strVal val="visible"/>
                                      </p:to>
                                    </p:set>
                                    <p:animEffect transition="in" filter="wipe(up)">
                                      <p:cBhvr>
                                        <p:cTn id="92" dur="500"/>
                                        <p:tgtEl>
                                          <p:spTgt spid="29831"/>
                                        </p:tgtEl>
                                      </p:cBhvr>
                                    </p:animEffect>
                                  </p:childTnLst>
                                </p:cTn>
                              </p:par>
                            </p:childTnLst>
                          </p:cTn>
                        </p:par>
                      </p:childTnLst>
                    </p:cTn>
                  </p:par>
                  <p:par>
                    <p:cTn id="93" fill="hold">
                      <p:stCondLst>
                        <p:cond delay="indefinite"/>
                      </p:stCondLst>
                      <p:childTnLst>
                        <p:par>
                          <p:cTn id="94" fill="hold">
                            <p:stCondLst>
                              <p:cond delay="0"/>
                            </p:stCondLst>
                            <p:childTnLst>
                              <p:par>
                                <p:cTn id="95" presetID="9" presetClass="entr" presetSubtype="0" fill="hold" grpId="0" nodeType="clickEffect">
                                  <p:stCondLst>
                                    <p:cond delay="0"/>
                                  </p:stCondLst>
                                  <p:childTnLst>
                                    <p:set>
                                      <p:cBhvr>
                                        <p:cTn id="96" dur="1" fill="hold">
                                          <p:stCondLst>
                                            <p:cond delay="0"/>
                                          </p:stCondLst>
                                        </p:cTn>
                                        <p:tgtEl>
                                          <p:spTgt spid="29784">
                                            <p:txEl>
                                              <p:charRg st="0" end="7"/>
                                            </p:txEl>
                                          </p:spTgt>
                                        </p:tgtEl>
                                        <p:attrNameLst>
                                          <p:attrName>style.visibility</p:attrName>
                                        </p:attrNameLst>
                                      </p:cBhvr>
                                      <p:to>
                                        <p:strVal val="visible"/>
                                      </p:to>
                                    </p:set>
                                    <p:animEffect transition="in" filter="dissolve">
                                      <p:cBhvr>
                                        <p:cTn id="97" dur="500"/>
                                        <p:tgtEl>
                                          <p:spTgt spid="29784">
                                            <p:txEl>
                                              <p:charRg st="0" end="7"/>
                                            </p:txEl>
                                          </p:spTgt>
                                        </p:tgtEl>
                                      </p:cBhvr>
                                    </p:animEffect>
                                  </p:childTnLst>
                                </p:cTn>
                              </p:par>
                            </p:childTnLst>
                          </p:cTn>
                        </p:par>
                        <p:par>
                          <p:cTn id="98" fill="hold">
                            <p:stCondLst>
                              <p:cond delay="500"/>
                            </p:stCondLst>
                            <p:childTnLst>
                              <p:par>
                                <p:cTn id="99" presetID="22" presetClass="entr" presetSubtype="8" fill="hold" nodeType="afterEffect">
                                  <p:stCondLst>
                                    <p:cond delay="0"/>
                                  </p:stCondLst>
                                  <p:childTnLst>
                                    <p:set>
                                      <p:cBhvr>
                                        <p:cTn id="100" dur="1" fill="hold">
                                          <p:stCondLst>
                                            <p:cond delay="0"/>
                                          </p:stCondLst>
                                        </p:cTn>
                                        <p:tgtEl>
                                          <p:spTgt spid="29750"/>
                                        </p:tgtEl>
                                        <p:attrNameLst>
                                          <p:attrName>style.visibility</p:attrName>
                                        </p:attrNameLst>
                                      </p:cBhvr>
                                      <p:to>
                                        <p:strVal val="visible"/>
                                      </p:to>
                                    </p:set>
                                    <p:animEffect transition="in" filter="wipe(left)">
                                      <p:cBhvr>
                                        <p:cTn id="101" dur="500"/>
                                        <p:tgtEl>
                                          <p:spTgt spid="29750"/>
                                        </p:tgtEl>
                                      </p:cBhvr>
                                    </p:animEffect>
                                  </p:childTnLst>
                                </p:cTn>
                              </p:par>
                            </p:childTnLst>
                          </p:cTn>
                        </p:par>
                        <p:par>
                          <p:cTn id="102" fill="hold">
                            <p:stCondLst>
                              <p:cond delay="1000"/>
                            </p:stCondLst>
                            <p:childTnLst>
                              <p:par>
                                <p:cTn id="103" presetID="22" presetClass="entr" presetSubtype="4" fill="hold" nodeType="afterEffect">
                                  <p:stCondLst>
                                    <p:cond delay="0"/>
                                  </p:stCondLst>
                                  <p:childTnLst>
                                    <p:set>
                                      <p:cBhvr>
                                        <p:cTn id="104" dur="1" fill="hold">
                                          <p:stCondLst>
                                            <p:cond delay="0"/>
                                          </p:stCondLst>
                                        </p:cTn>
                                        <p:tgtEl>
                                          <p:spTgt spid="29751"/>
                                        </p:tgtEl>
                                        <p:attrNameLst>
                                          <p:attrName>style.visibility</p:attrName>
                                        </p:attrNameLst>
                                      </p:cBhvr>
                                      <p:to>
                                        <p:strVal val="visible"/>
                                      </p:to>
                                    </p:set>
                                    <p:animEffect transition="in" filter="wipe(down)">
                                      <p:cBhvr>
                                        <p:cTn id="105" dur="500"/>
                                        <p:tgtEl>
                                          <p:spTgt spid="29751"/>
                                        </p:tgtEl>
                                      </p:cBhvr>
                                    </p:animEffect>
                                  </p:childTnLst>
                                </p:cTn>
                              </p:par>
                            </p:childTnLst>
                          </p:cTn>
                        </p:par>
                        <p:par>
                          <p:cTn id="106" fill="hold">
                            <p:stCondLst>
                              <p:cond delay="1500"/>
                            </p:stCondLst>
                            <p:childTnLst>
                              <p:par>
                                <p:cTn id="107" presetID="22" presetClass="entr" presetSubtype="8" fill="hold" nodeType="afterEffect">
                                  <p:stCondLst>
                                    <p:cond delay="0"/>
                                  </p:stCondLst>
                                  <p:childTnLst>
                                    <p:set>
                                      <p:cBhvr>
                                        <p:cTn id="108" dur="1" fill="hold">
                                          <p:stCondLst>
                                            <p:cond delay="0"/>
                                          </p:stCondLst>
                                        </p:cTn>
                                        <p:tgtEl>
                                          <p:spTgt spid="29752"/>
                                        </p:tgtEl>
                                        <p:attrNameLst>
                                          <p:attrName>style.visibility</p:attrName>
                                        </p:attrNameLst>
                                      </p:cBhvr>
                                      <p:to>
                                        <p:strVal val="visible"/>
                                      </p:to>
                                    </p:set>
                                    <p:animEffect transition="in" filter="wipe(left)">
                                      <p:cBhvr>
                                        <p:cTn id="109" dur="500"/>
                                        <p:tgtEl>
                                          <p:spTgt spid="29752"/>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4"/>
                                        </p:tgtEl>
                                        <p:attrNameLst>
                                          <p:attrName>style.visibility</p:attrName>
                                        </p:attrNameLst>
                                      </p:cBhvr>
                                      <p:to>
                                        <p:strVal val="visible"/>
                                      </p:to>
                                    </p:set>
                                    <p:animEffect transition="in" filter="wipe(left)">
                                      <p:cBhvr>
                                        <p:cTn id="114" dur="500"/>
                                        <p:tgtEl>
                                          <p:spTgt spid="4"/>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1" fill="hold" nodeType="clickEffect">
                                  <p:stCondLst>
                                    <p:cond delay="0"/>
                                  </p:stCondLst>
                                  <p:childTnLst>
                                    <p:set>
                                      <p:cBhvr>
                                        <p:cTn id="118" dur="1" fill="hold">
                                          <p:stCondLst>
                                            <p:cond delay="0"/>
                                          </p:stCondLst>
                                        </p:cTn>
                                        <p:tgtEl>
                                          <p:spTgt spid="29812"/>
                                        </p:tgtEl>
                                        <p:attrNameLst>
                                          <p:attrName>style.visibility</p:attrName>
                                        </p:attrNameLst>
                                      </p:cBhvr>
                                      <p:to>
                                        <p:strVal val="visible"/>
                                      </p:to>
                                    </p:set>
                                    <p:animEffect transition="in" filter="wipe(up)">
                                      <p:cBhvr>
                                        <p:cTn id="119" dur="500"/>
                                        <p:tgtEl>
                                          <p:spTgt spid="29812"/>
                                        </p:tgtEl>
                                      </p:cBhvr>
                                    </p:animEffect>
                                  </p:childTnLst>
                                </p:cTn>
                              </p:par>
                            </p:childTnLst>
                          </p:cTn>
                        </p:par>
                      </p:childTnLst>
                    </p:cTn>
                  </p:par>
                  <p:par>
                    <p:cTn id="120" fill="hold">
                      <p:stCondLst>
                        <p:cond delay="indefinite"/>
                      </p:stCondLst>
                      <p:childTnLst>
                        <p:par>
                          <p:cTn id="121" fill="hold">
                            <p:stCondLst>
                              <p:cond delay="0"/>
                            </p:stCondLst>
                            <p:childTnLst>
                              <p:par>
                                <p:cTn id="122" presetID="9" presetClass="entr" presetSubtype="0" fill="hold" grpId="0" nodeType="clickEffect">
                                  <p:stCondLst>
                                    <p:cond delay="0"/>
                                  </p:stCondLst>
                                  <p:childTnLst>
                                    <p:set>
                                      <p:cBhvr>
                                        <p:cTn id="123" dur="1" fill="hold">
                                          <p:stCondLst>
                                            <p:cond delay="0"/>
                                          </p:stCondLst>
                                        </p:cTn>
                                        <p:tgtEl>
                                          <p:spTgt spid="29819">
                                            <p:txEl>
                                              <p:charRg st="0" end="6"/>
                                            </p:txEl>
                                          </p:spTgt>
                                        </p:tgtEl>
                                        <p:attrNameLst>
                                          <p:attrName>style.visibility</p:attrName>
                                        </p:attrNameLst>
                                      </p:cBhvr>
                                      <p:to>
                                        <p:strVal val="visible"/>
                                      </p:to>
                                    </p:set>
                                    <p:animEffect transition="in" filter="dissolve">
                                      <p:cBhvr>
                                        <p:cTn id="124" dur="500"/>
                                        <p:tgtEl>
                                          <p:spTgt spid="29819">
                                            <p:txEl>
                                              <p:charRg st="0" end="6"/>
                                            </p:txEl>
                                          </p:spTgt>
                                        </p:tgtEl>
                                      </p:cBhvr>
                                    </p:animEffect>
                                  </p:childTnLst>
                                </p:cTn>
                              </p:par>
                            </p:childTnLst>
                          </p:cTn>
                        </p:par>
                        <p:par>
                          <p:cTn id="125" fill="hold">
                            <p:stCondLst>
                              <p:cond delay="500"/>
                            </p:stCondLst>
                            <p:childTnLst>
                              <p:par>
                                <p:cTn id="126" presetID="22" presetClass="entr" presetSubtype="2" fill="hold" nodeType="afterEffect">
                                  <p:stCondLst>
                                    <p:cond delay="0"/>
                                  </p:stCondLst>
                                  <p:childTnLst>
                                    <p:set>
                                      <p:cBhvr>
                                        <p:cTn id="127" dur="1" fill="hold">
                                          <p:stCondLst>
                                            <p:cond delay="0"/>
                                          </p:stCondLst>
                                        </p:cTn>
                                        <p:tgtEl>
                                          <p:spTgt spid="29818"/>
                                        </p:tgtEl>
                                        <p:attrNameLst>
                                          <p:attrName>style.visibility</p:attrName>
                                        </p:attrNameLst>
                                      </p:cBhvr>
                                      <p:to>
                                        <p:strVal val="visible"/>
                                      </p:to>
                                    </p:set>
                                    <p:animEffect transition="in" filter="wipe(right)">
                                      <p:cBhvr>
                                        <p:cTn id="128" dur="500"/>
                                        <p:tgtEl>
                                          <p:spTgt spid="29818"/>
                                        </p:tgtEl>
                                      </p:cBhvr>
                                    </p:animEffect>
                                  </p:childTnLst>
                                </p:cTn>
                              </p:par>
                            </p:childTnLst>
                          </p:cTn>
                        </p:par>
                        <p:par>
                          <p:cTn id="129" fill="hold">
                            <p:stCondLst>
                              <p:cond delay="1000"/>
                            </p:stCondLst>
                            <p:childTnLst>
                              <p:par>
                                <p:cTn id="130" presetID="22" presetClass="entr" presetSubtype="8" fill="hold" nodeType="afterEffect">
                                  <p:stCondLst>
                                    <p:cond delay="0"/>
                                  </p:stCondLst>
                                  <p:childTnLst>
                                    <p:set>
                                      <p:cBhvr>
                                        <p:cTn id="131" dur="1" fill="hold">
                                          <p:stCondLst>
                                            <p:cond delay="0"/>
                                          </p:stCondLst>
                                        </p:cTn>
                                        <p:tgtEl>
                                          <p:spTgt spid="29820"/>
                                        </p:tgtEl>
                                        <p:attrNameLst>
                                          <p:attrName>style.visibility</p:attrName>
                                        </p:attrNameLst>
                                      </p:cBhvr>
                                      <p:to>
                                        <p:strVal val="visible"/>
                                      </p:to>
                                    </p:set>
                                    <p:animEffect transition="in" filter="wipe(left)">
                                      <p:cBhvr>
                                        <p:cTn id="132" dur="500"/>
                                        <p:tgtEl>
                                          <p:spTgt spid="29820"/>
                                        </p:tgtEl>
                                      </p:cBhvr>
                                    </p:animEffect>
                                  </p:childTnLst>
                                </p:cTn>
                              </p:par>
                            </p:childTnLst>
                          </p:cTn>
                        </p:par>
                      </p:childTnLst>
                    </p:cTn>
                  </p:par>
                  <p:par>
                    <p:cTn id="133" fill="hold">
                      <p:stCondLst>
                        <p:cond delay="indefinite"/>
                      </p:stCondLst>
                      <p:childTnLst>
                        <p:par>
                          <p:cTn id="134" fill="hold">
                            <p:stCondLst>
                              <p:cond delay="0"/>
                            </p:stCondLst>
                            <p:childTnLst>
                              <p:par>
                                <p:cTn id="135" presetID="9" presetClass="entr" presetSubtype="0" fill="hold" grpId="0" nodeType="clickEffect">
                                  <p:stCondLst>
                                    <p:cond delay="0"/>
                                  </p:stCondLst>
                                  <p:childTnLst>
                                    <p:set>
                                      <p:cBhvr>
                                        <p:cTn id="136" dur="1" fill="hold">
                                          <p:stCondLst>
                                            <p:cond delay="0"/>
                                          </p:stCondLst>
                                        </p:cTn>
                                        <p:tgtEl>
                                          <p:spTgt spid="29789">
                                            <p:txEl>
                                              <p:charRg st="0" end="7"/>
                                            </p:txEl>
                                          </p:spTgt>
                                        </p:tgtEl>
                                        <p:attrNameLst>
                                          <p:attrName>style.visibility</p:attrName>
                                        </p:attrNameLst>
                                      </p:cBhvr>
                                      <p:to>
                                        <p:strVal val="visible"/>
                                      </p:to>
                                    </p:set>
                                    <p:animEffect transition="in" filter="dissolve">
                                      <p:cBhvr>
                                        <p:cTn id="137" dur="500"/>
                                        <p:tgtEl>
                                          <p:spTgt spid="29789">
                                            <p:txEl>
                                              <p:charRg st="0" end="7"/>
                                            </p:txEl>
                                          </p:spTgt>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nodeType="clickEffect">
                                  <p:stCondLst>
                                    <p:cond delay="0"/>
                                  </p:stCondLst>
                                  <p:childTnLst>
                                    <p:set>
                                      <p:cBhvr>
                                        <p:cTn id="141" dur="1" fill="hold">
                                          <p:stCondLst>
                                            <p:cond delay="0"/>
                                          </p:stCondLst>
                                        </p:cTn>
                                        <p:tgtEl>
                                          <p:spTgt spid="29754"/>
                                        </p:tgtEl>
                                        <p:attrNameLst>
                                          <p:attrName>style.visibility</p:attrName>
                                        </p:attrNameLst>
                                      </p:cBhvr>
                                      <p:to>
                                        <p:strVal val="visible"/>
                                      </p:to>
                                    </p:set>
                                    <p:animEffect transition="in" filter="wipe(left)">
                                      <p:cBhvr>
                                        <p:cTn id="142" dur="500"/>
                                        <p:tgtEl>
                                          <p:spTgt spid="29754"/>
                                        </p:tgtEl>
                                      </p:cBhvr>
                                    </p:animEffect>
                                  </p:childTnLst>
                                </p:cTn>
                              </p:par>
                            </p:childTnLst>
                          </p:cTn>
                        </p:par>
                        <p:par>
                          <p:cTn id="143" fill="hold">
                            <p:stCondLst>
                              <p:cond delay="500"/>
                            </p:stCondLst>
                            <p:childTnLst>
                              <p:par>
                                <p:cTn id="144" presetID="22" presetClass="entr" presetSubtype="4" fill="hold" nodeType="afterEffect">
                                  <p:stCondLst>
                                    <p:cond delay="0"/>
                                  </p:stCondLst>
                                  <p:childTnLst>
                                    <p:set>
                                      <p:cBhvr>
                                        <p:cTn id="145" dur="1" fill="hold">
                                          <p:stCondLst>
                                            <p:cond delay="0"/>
                                          </p:stCondLst>
                                        </p:cTn>
                                        <p:tgtEl>
                                          <p:spTgt spid="29755"/>
                                        </p:tgtEl>
                                        <p:attrNameLst>
                                          <p:attrName>style.visibility</p:attrName>
                                        </p:attrNameLst>
                                      </p:cBhvr>
                                      <p:to>
                                        <p:strVal val="visible"/>
                                      </p:to>
                                    </p:set>
                                    <p:animEffect transition="in" filter="wipe(down)">
                                      <p:cBhvr>
                                        <p:cTn id="146" dur="500"/>
                                        <p:tgtEl>
                                          <p:spTgt spid="29755"/>
                                        </p:tgtEl>
                                      </p:cBhvr>
                                    </p:animEffect>
                                  </p:childTnLst>
                                </p:cTn>
                              </p:par>
                            </p:childTnLst>
                          </p:cTn>
                        </p:par>
                        <p:par>
                          <p:cTn id="147" fill="hold">
                            <p:stCondLst>
                              <p:cond delay="1000"/>
                            </p:stCondLst>
                            <p:childTnLst>
                              <p:par>
                                <p:cTn id="148" presetID="22" presetClass="entr" presetSubtype="8" fill="hold" nodeType="afterEffect">
                                  <p:stCondLst>
                                    <p:cond delay="0"/>
                                  </p:stCondLst>
                                  <p:childTnLst>
                                    <p:set>
                                      <p:cBhvr>
                                        <p:cTn id="149" dur="1" fill="hold">
                                          <p:stCondLst>
                                            <p:cond delay="0"/>
                                          </p:stCondLst>
                                        </p:cTn>
                                        <p:tgtEl>
                                          <p:spTgt spid="29756"/>
                                        </p:tgtEl>
                                        <p:attrNameLst>
                                          <p:attrName>style.visibility</p:attrName>
                                        </p:attrNameLst>
                                      </p:cBhvr>
                                      <p:to>
                                        <p:strVal val="visible"/>
                                      </p:to>
                                    </p:set>
                                    <p:animEffect transition="in" filter="wipe(left)">
                                      <p:cBhvr>
                                        <p:cTn id="150" dur="500"/>
                                        <p:tgtEl>
                                          <p:spTgt spid="29756"/>
                                        </p:tgtEl>
                                      </p:cBhvr>
                                    </p:animEffect>
                                  </p:childTnLst>
                                </p:cTn>
                              </p:par>
                            </p:childTnLst>
                          </p:cTn>
                        </p:par>
                      </p:childTnLst>
                    </p:cTn>
                  </p:par>
                  <p:par>
                    <p:cTn id="151" fill="hold">
                      <p:stCondLst>
                        <p:cond delay="indefinite"/>
                      </p:stCondLst>
                      <p:childTnLst>
                        <p:par>
                          <p:cTn id="152" fill="hold">
                            <p:stCondLst>
                              <p:cond delay="0"/>
                            </p:stCondLst>
                            <p:childTnLst>
                              <p:par>
                                <p:cTn id="153" presetID="22" presetClass="entr" presetSubtype="8" fill="hold" nodeType="clickEffect">
                                  <p:stCondLst>
                                    <p:cond delay="0"/>
                                  </p:stCondLst>
                                  <p:childTnLst>
                                    <p:set>
                                      <p:cBhvr>
                                        <p:cTn id="154" dur="1" fill="hold">
                                          <p:stCondLst>
                                            <p:cond delay="0"/>
                                          </p:stCondLst>
                                        </p:cTn>
                                        <p:tgtEl>
                                          <p:spTgt spid="5"/>
                                        </p:tgtEl>
                                        <p:attrNameLst>
                                          <p:attrName>style.visibility</p:attrName>
                                        </p:attrNameLst>
                                      </p:cBhvr>
                                      <p:to>
                                        <p:strVal val="visible"/>
                                      </p:to>
                                    </p:set>
                                    <p:animEffect transition="in" filter="wipe(left)">
                                      <p:cBhvr>
                                        <p:cTn id="155" dur="500"/>
                                        <p:tgtEl>
                                          <p:spTgt spid="5"/>
                                        </p:tgtEl>
                                      </p:cBhvr>
                                    </p:animEffect>
                                  </p:childTnLst>
                                </p:cTn>
                              </p:par>
                            </p:childTnLst>
                          </p:cTn>
                        </p:par>
                      </p:childTnLst>
                    </p:cTn>
                  </p:par>
                  <p:par>
                    <p:cTn id="156" fill="hold">
                      <p:stCondLst>
                        <p:cond delay="indefinite"/>
                      </p:stCondLst>
                      <p:childTnLst>
                        <p:par>
                          <p:cTn id="157" fill="hold">
                            <p:stCondLst>
                              <p:cond delay="0"/>
                            </p:stCondLst>
                            <p:childTnLst>
                              <p:par>
                                <p:cTn id="158" presetID="22" presetClass="entr" presetSubtype="4" fill="hold" nodeType="clickEffect">
                                  <p:stCondLst>
                                    <p:cond delay="0"/>
                                  </p:stCondLst>
                                  <p:childTnLst>
                                    <p:set>
                                      <p:cBhvr>
                                        <p:cTn id="159" dur="1" fill="hold">
                                          <p:stCondLst>
                                            <p:cond delay="0"/>
                                          </p:stCondLst>
                                        </p:cTn>
                                        <p:tgtEl>
                                          <p:spTgt spid="29805"/>
                                        </p:tgtEl>
                                        <p:attrNameLst>
                                          <p:attrName>style.visibility</p:attrName>
                                        </p:attrNameLst>
                                      </p:cBhvr>
                                      <p:to>
                                        <p:strVal val="visible"/>
                                      </p:to>
                                    </p:set>
                                    <p:animEffect transition="in" filter="wipe(down)">
                                      <p:cBhvr>
                                        <p:cTn id="160" dur="500"/>
                                        <p:tgtEl>
                                          <p:spTgt spid="29805"/>
                                        </p:tgtEl>
                                      </p:cBhvr>
                                    </p:animEffect>
                                  </p:childTnLst>
                                </p:cTn>
                              </p:par>
                            </p:childTnLst>
                          </p:cTn>
                        </p:par>
                        <p:par>
                          <p:cTn id="161" fill="hold">
                            <p:stCondLst>
                              <p:cond delay="500"/>
                            </p:stCondLst>
                            <p:childTnLst>
                              <p:par>
                                <p:cTn id="162" presetID="22" presetClass="entr" presetSubtype="4" fill="hold" nodeType="afterEffect">
                                  <p:stCondLst>
                                    <p:cond delay="0"/>
                                  </p:stCondLst>
                                  <p:childTnLst>
                                    <p:set>
                                      <p:cBhvr>
                                        <p:cTn id="163" dur="1" fill="hold">
                                          <p:stCondLst>
                                            <p:cond delay="0"/>
                                          </p:stCondLst>
                                        </p:cTn>
                                        <p:tgtEl>
                                          <p:spTgt spid="29806"/>
                                        </p:tgtEl>
                                        <p:attrNameLst>
                                          <p:attrName>style.visibility</p:attrName>
                                        </p:attrNameLst>
                                      </p:cBhvr>
                                      <p:to>
                                        <p:strVal val="visible"/>
                                      </p:to>
                                    </p:set>
                                    <p:animEffect transition="in" filter="wipe(down)">
                                      <p:cBhvr>
                                        <p:cTn id="164" dur="500"/>
                                        <p:tgtEl>
                                          <p:spTgt spid="29806"/>
                                        </p:tgtEl>
                                      </p:cBhvr>
                                    </p:animEffect>
                                  </p:childTnLst>
                                </p:cTn>
                              </p:par>
                            </p:childTnLst>
                          </p:cTn>
                        </p:par>
                        <p:par>
                          <p:cTn id="165" fill="hold">
                            <p:stCondLst>
                              <p:cond delay="1000"/>
                            </p:stCondLst>
                            <p:childTnLst>
                              <p:par>
                                <p:cTn id="166" presetID="22" presetClass="entr" presetSubtype="8" fill="hold" nodeType="afterEffect">
                                  <p:stCondLst>
                                    <p:cond delay="0"/>
                                  </p:stCondLst>
                                  <p:childTnLst>
                                    <p:set>
                                      <p:cBhvr>
                                        <p:cTn id="167" dur="1" fill="hold">
                                          <p:stCondLst>
                                            <p:cond delay="0"/>
                                          </p:stCondLst>
                                        </p:cTn>
                                        <p:tgtEl>
                                          <p:spTgt spid="29807"/>
                                        </p:tgtEl>
                                        <p:attrNameLst>
                                          <p:attrName>style.visibility</p:attrName>
                                        </p:attrNameLst>
                                      </p:cBhvr>
                                      <p:to>
                                        <p:strVal val="visible"/>
                                      </p:to>
                                    </p:set>
                                    <p:animEffect transition="in" filter="wipe(left)">
                                      <p:cBhvr>
                                        <p:cTn id="168" dur="500"/>
                                        <p:tgtEl>
                                          <p:spTgt spid="29807"/>
                                        </p:tgtEl>
                                      </p:cBhvr>
                                    </p:animEffect>
                                  </p:childTnLst>
                                </p:cTn>
                              </p:par>
                            </p:childTnLst>
                          </p:cTn>
                        </p:par>
                        <p:par>
                          <p:cTn id="169" fill="hold">
                            <p:stCondLst>
                              <p:cond delay="1500"/>
                            </p:stCondLst>
                            <p:childTnLst>
                              <p:par>
                                <p:cTn id="170" presetID="22" presetClass="entr" presetSubtype="1" fill="hold" nodeType="afterEffect">
                                  <p:stCondLst>
                                    <p:cond delay="0"/>
                                  </p:stCondLst>
                                  <p:childTnLst>
                                    <p:set>
                                      <p:cBhvr>
                                        <p:cTn id="171" dur="1" fill="hold">
                                          <p:stCondLst>
                                            <p:cond delay="0"/>
                                          </p:stCondLst>
                                        </p:cTn>
                                        <p:tgtEl>
                                          <p:spTgt spid="29753"/>
                                        </p:tgtEl>
                                        <p:attrNameLst>
                                          <p:attrName>style.visibility</p:attrName>
                                        </p:attrNameLst>
                                      </p:cBhvr>
                                      <p:to>
                                        <p:strVal val="visible"/>
                                      </p:to>
                                    </p:set>
                                    <p:animEffect transition="in" filter="wipe(up)">
                                      <p:cBhvr>
                                        <p:cTn id="172" dur="500"/>
                                        <p:tgtEl>
                                          <p:spTgt spid="29753"/>
                                        </p:tgtEl>
                                      </p:cBhvr>
                                    </p:animEffect>
                                  </p:childTnLst>
                                </p:cTn>
                              </p:par>
                            </p:childTnLst>
                          </p:cTn>
                        </p:par>
                        <p:par>
                          <p:cTn id="173" fill="hold">
                            <p:stCondLst>
                              <p:cond delay="2000"/>
                            </p:stCondLst>
                            <p:childTnLst>
                              <p:par>
                                <p:cTn id="174" presetID="22" presetClass="entr" presetSubtype="8" fill="hold" nodeType="afterEffect">
                                  <p:stCondLst>
                                    <p:cond delay="0"/>
                                  </p:stCondLst>
                                  <p:childTnLst>
                                    <p:set>
                                      <p:cBhvr>
                                        <p:cTn id="175" dur="1" fill="hold">
                                          <p:stCondLst>
                                            <p:cond delay="0"/>
                                          </p:stCondLst>
                                        </p:cTn>
                                        <p:tgtEl>
                                          <p:spTgt spid="29773"/>
                                        </p:tgtEl>
                                        <p:attrNameLst>
                                          <p:attrName>style.visibility</p:attrName>
                                        </p:attrNameLst>
                                      </p:cBhvr>
                                      <p:to>
                                        <p:strVal val="visible"/>
                                      </p:to>
                                    </p:set>
                                    <p:animEffect transition="in" filter="wipe(left)">
                                      <p:cBhvr>
                                        <p:cTn id="176" dur="500"/>
                                        <p:tgtEl>
                                          <p:spTgt spid="29773"/>
                                        </p:tgtEl>
                                      </p:cBhvr>
                                    </p:animEffect>
                                  </p:childTnLst>
                                </p:cTn>
                              </p:par>
                            </p:childTnLst>
                          </p:cTn>
                        </p:par>
                      </p:childTnLst>
                    </p:cTn>
                  </p:par>
                  <p:par>
                    <p:cTn id="177" fill="hold">
                      <p:stCondLst>
                        <p:cond delay="indefinite"/>
                      </p:stCondLst>
                      <p:childTnLst>
                        <p:par>
                          <p:cTn id="178" fill="hold">
                            <p:stCondLst>
                              <p:cond delay="0"/>
                            </p:stCondLst>
                            <p:childTnLst>
                              <p:par>
                                <p:cTn id="179" presetID="22" presetClass="entr" presetSubtype="1" fill="hold" nodeType="clickEffect">
                                  <p:stCondLst>
                                    <p:cond delay="0"/>
                                  </p:stCondLst>
                                  <p:childTnLst>
                                    <p:set>
                                      <p:cBhvr>
                                        <p:cTn id="180" dur="1" fill="hold">
                                          <p:stCondLst>
                                            <p:cond delay="0"/>
                                          </p:stCondLst>
                                        </p:cTn>
                                        <p:tgtEl>
                                          <p:spTgt spid="29808"/>
                                        </p:tgtEl>
                                        <p:attrNameLst>
                                          <p:attrName>style.visibility</p:attrName>
                                        </p:attrNameLst>
                                      </p:cBhvr>
                                      <p:to>
                                        <p:strVal val="visible"/>
                                      </p:to>
                                    </p:set>
                                    <p:animEffect transition="in" filter="wipe(up)">
                                      <p:cBhvr>
                                        <p:cTn id="181" dur="500"/>
                                        <p:tgtEl>
                                          <p:spTgt spid="29808"/>
                                        </p:tgtEl>
                                      </p:cBhvr>
                                    </p:animEffect>
                                  </p:childTnLst>
                                </p:cTn>
                              </p:par>
                            </p:childTnLst>
                          </p:cTn>
                        </p:par>
                        <p:par>
                          <p:cTn id="182" fill="hold">
                            <p:stCondLst>
                              <p:cond delay="500"/>
                            </p:stCondLst>
                            <p:childTnLst>
                              <p:par>
                                <p:cTn id="183" presetID="22" presetClass="entr" presetSubtype="1" fill="hold" nodeType="afterEffect">
                                  <p:stCondLst>
                                    <p:cond delay="0"/>
                                  </p:stCondLst>
                                  <p:childTnLst>
                                    <p:set>
                                      <p:cBhvr>
                                        <p:cTn id="184" dur="1" fill="hold">
                                          <p:stCondLst>
                                            <p:cond delay="0"/>
                                          </p:stCondLst>
                                        </p:cTn>
                                        <p:tgtEl>
                                          <p:spTgt spid="29809"/>
                                        </p:tgtEl>
                                        <p:attrNameLst>
                                          <p:attrName>style.visibility</p:attrName>
                                        </p:attrNameLst>
                                      </p:cBhvr>
                                      <p:to>
                                        <p:strVal val="visible"/>
                                      </p:to>
                                    </p:set>
                                    <p:animEffect transition="in" filter="wipe(up)">
                                      <p:cBhvr>
                                        <p:cTn id="185" dur="500"/>
                                        <p:tgtEl>
                                          <p:spTgt spid="29809"/>
                                        </p:tgtEl>
                                      </p:cBhvr>
                                    </p:animEffect>
                                  </p:childTnLst>
                                </p:cTn>
                              </p:par>
                            </p:childTnLst>
                          </p:cTn>
                        </p:par>
                        <p:par>
                          <p:cTn id="186" fill="hold">
                            <p:stCondLst>
                              <p:cond delay="1000"/>
                            </p:stCondLst>
                            <p:childTnLst>
                              <p:par>
                                <p:cTn id="187" presetID="22" presetClass="entr" presetSubtype="1" fill="hold" nodeType="afterEffect">
                                  <p:stCondLst>
                                    <p:cond delay="0"/>
                                  </p:stCondLst>
                                  <p:childTnLst>
                                    <p:set>
                                      <p:cBhvr>
                                        <p:cTn id="188" dur="1" fill="hold">
                                          <p:stCondLst>
                                            <p:cond delay="0"/>
                                          </p:stCondLst>
                                        </p:cTn>
                                        <p:tgtEl>
                                          <p:spTgt spid="29810"/>
                                        </p:tgtEl>
                                        <p:attrNameLst>
                                          <p:attrName>style.visibility</p:attrName>
                                        </p:attrNameLst>
                                      </p:cBhvr>
                                      <p:to>
                                        <p:strVal val="visible"/>
                                      </p:to>
                                    </p:set>
                                    <p:animEffect transition="in" filter="wipe(up)">
                                      <p:cBhvr>
                                        <p:cTn id="189" dur="500"/>
                                        <p:tgtEl>
                                          <p:spTgt spid="29810"/>
                                        </p:tgtEl>
                                      </p:cBhvr>
                                    </p:animEffect>
                                  </p:childTnLst>
                                </p:cTn>
                              </p:par>
                            </p:childTnLst>
                          </p:cTn>
                        </p:par>
                        <p:par>
                          <p:cTn id="190" fill="hold">
                            <p:stCondLst>
                              <p:cond delay="1500"/>
                            </p:stCondLst>
                            <p:childTnLst>
                              <p:par>
                                <p:cTn id="191" presetID="22" presetClass="entr" presetSubtype="1" fill="hold" nodeType="afterEffect">
                                  <p:stCondLst>
                                    <p:cond delay="0"/>
                                  </p:stCondLst>
                                  <p:childTnLst>
                                    <p:set>
                                      <p:cBhvr>
                                        <p:cTn id="192" dur="1" fill="hold">
                                          <p:stCondLst>
                                            <p:cond delay="0"/>
                                          </p:stCondLst>
                                        </p:cTn>
                                        <p:tgtEl>
                                          <p:spTgt spid="29757"/>
                                        </p:tgtEl>
                                        <p:attrNameLst>
                                          <p:attrName>style.visibility</p:attrName>
                                        </p:attrNameLst>
                                      </p:cBhvr>
                                      <p:to>
                                        <p:strVal val="visible"/>
                                      </p:to>
                                    </p:set>
                                    <p:animEffect transition="in" filter="wipe(up)">
                                      <p:cBhvr>
                                        <p:cTn id="193" dur="500"/>
                                        <p:tgtEl>
                                          <p:spTgt spid="29757"/>
                                        </p:tgtEl>
                                      </p:cBhvr>
                                    </p:animEffect>
                                  </p:childTnLst>
                                </p:cTn>
                              </p:par>
                            </p:childTnLst>
                          </p:cTn>
                        </p:par>
                        <p:par>
                          <p:cTn id="194" fill="hold">
                            <p:stCondLst>
                              <p:cond delay="2000"/>
                            </p:stCondLst>
                            <p:childTnLst>
                              <p:par>
                                <p:cTn id="195" presetID="22" presetClass="entr" presetSubtype="8" fill="hold" nodeType="afterEffect">
                                  <p:stCondLst>
                                    <p:cond delay="0"/>
                                  </p:stCondLst>
                                  <p:childTnLst>
                                    <p:set>
                                      <p:cBhvr>
                                        <p:cTn id="196" dur="1" fill="hold">
                                          <p:stCondLst>
                                            <p:cond delay="0"/>
                                          </p:stCondLst>
                                        </p:cTn>
                                        <p:tgtEl>
                                          <p:spTgt spid="29774"/>
                                        </p:tgtEl>
                                        <p:attrNameLst>
                                          <p:attrName>style.visibility</p:attrName>
                                        </p:attrNameLst>
                                      </p:cBhvr>
                                      <p:to>
                                        <p:strVal val="visible"/>
                                      </p:to>
                                    </p:set>
                                    <p:animEffect transition="in" filter="wipe(left)">
                                      <p:cBhvr>
                                        <p:cTn id="197" dur="500"/>
                                        <p:tgtEl>
                                          <p:spTgt spid="29774"/>
                                        </p:tgtEl>
                                      </p:cBhvr>
                                    </p:animEffect>
                                  </p:childTnLst>
                                </p:cTn>
                              </p:par>
                            </p:childTnLst>
                          </p:cTn>
                        </p:par>
                      </p:childTnLst>
                    </p:cTn>
                  </p:par>
                  <p:par>
                    <p:cTn id="198" fill="hold">
                      <p:stCondLst>
                        <p:cond delay="indefinite"/>
                      </p:stCondLst>
                      <p:childTnLst>
                        <p:par>
                          <p:cTn id="199" fill="hold">
                            <p:stCondLst>
                              <p:cond delay="0"/>
                            </p:stCondLst>
                            <p:childTnLst>
                              <p:par>
                                <p:cTn id="200" presetID="22" presetClass="entr" presetSubtype="1" fill="hold" nodeType="clickEffect">
                                  <p:stCondLst>
                                    <p:cond delay="0"/>
                                  </p:stCondLst>
                                  <p:childTnLst>
                                    <p:set>
                                      <p:cBhvr>
                                        <p:cTn id="201" dur="1" fill="hold">
                                          <p:stCondLst>
                                            <p:cond delay="0"/>
                                          </p:stCondLst>
                                        </p:cTn>
                                        <p:tgtEl>
                                          <p:spTgt spid="29813"/>
                                        </p:tgtEl>
                                        <p:attrNameLst>
                                          <p:attrName>style.visibility</p:attrName>
                                        </p:attrNameLst>
                                      </p:cBhvr>
                                      <p:to>
                                        <p:strVal val="visible"/>
                                      </p:to>
                                    </p:set>
                                    <p:animEffect transition="in" filter="wipe(up)">
                                      <p:cBhvr>
                                        <p:cTn id="202" dur="500"/>
                                        <p:tgtEl>
                                          <p:spTgt spid="29813"/>
                                        </p:tgtEl>
                                      </p:cBhvr>
                                    </p:animEffect>
                                  </p:childTnLst>
                                </p:cTn>
                              </p:par>
                            </p:childTnLst>
                          </p:cTn>
                        </p:par>
                      </p:childTnLst>
                    </p:cTn>
                  </p:par>
                  <p:par>
                    <p:cTn id="203" fill="hold">
                      <p:stCondLst>
                        <p:cond delay="indefinite"/>
                      </p:stCondLst>
                      <p:childTnLst>
                        <p:par>
                          <p:cTn id="204" fill="hold">
                            <p:stCondLst>
                              <p:cond delay="0"/>
                            </p:stCondLst>
                            <p:childTnLst>
                              <p:par>
                                <p:cTn id="205" presetID="9" presetClass="entr" presetSubtype="0" fill="hold" grpId="0" nodeType="clickEffect">
                                  <p:stCondLst>
                                    <p:cond delay="0"/>
                                  </p:stCondLst>
                                  <p:childTnLst>
                                    <p:set>
                                      <p:cBhvr>
                                        <p:cTn id="206" dur="1" fill="hold">
                                          <p:stCondLst>
                                            <p:cond delay="0"/>
                                          </p:stCondLst>
                                        </p:cTn>
                                        <p:tgtEl>
                                          <p:spTgt spid="29814">
                                            <p:txEl>
                                              <p:charRg st="0" end="6"/>
                                            </p:txEl>
                                          </p:spTgt>
                                        </p:tgtEl>
                                        <p:attrNameLst>
                                          <p:attrName>style.visibility</p:attrName>
                                        </p:attrNameLst>
                                      </p:cBhvr>
                                      <p:to>
                                        <p:strVal val="visible"/>
                                      </p:to>
                                    </p:set>
                                    <p:animEffect transition="in" filter="dissolve">
                                      <p:cBhvr>
                                        <p:cTn id="207" dur="500"/>
                                        <p:tgtEl>
                                          <p:spTgt spid="29814">
                                            <p:txEl>
                                              <p:charRg st="0" end="6"/>
                                            </p:txEl>
                                          </p:spTgt>
                                        </p:tgtEl>
                                      </p:cBhvr>
                                    </p:animEffect>
                                  </p:childTnLst>
                                </p:cTn>
                              </p:par>
                            </p:childTnLst>
                          </p:cTn>
                        </p:par>
                        <p:par>
                          <p:cTn id="208" fill="hold">
                            <p:stCondLst>
                              <p:cond delay="500"/>
                            </p:stCondLst>
                            <p:childTnLst>
                              <p:par>
                                <p:cTn id="209" presetID="22" presetClass="entr" presetSubtype="2" fill="hold" nodeType="afterEffect">
                                  <p:stCondLst>
                                    <p:cond delay="0"/>
                                  </p:stCondLst>
                                  <p:childTnLst>
                                    <p:set>
                                      <p:cBhvr>
                                        <p:cTn id="210" dur="1" fill="hold">
                                          <p:stCondLst>
                                            <p:cond delay="0"/>
                                          </p:stCondLst>
                                        </p:cTn>
                                        <p:tgtEl>
                                          <p:spTgt spid="29816"/>
                                        </p:tgtEl>
                                        <p:attrNameLst>
                                          <p:attrName>style.visibility</p:attrName>
                                        </p:attrNameLst>
                                      </p:cBhvr>
                                      <p:to>
                                        <p:strVal val="visible"/>
                                      </p:to>
                                    </p:set>
                                    <p:animEffect transition="in" filter="wipe(right)">
                                      <p:cBhvr>
                                        <p:cTn id="211" dur="500"/>
                                        <p:tgtEl>
                                          <p:spTgt spid="29816"/>
                                        </p:tgtEl>
                                      </p:cBhvr>
                                    </p:animEffect>
                                  </p:childTnLst>
                                </p:cTn>
                              </p:par>
                            </p:childTnLst>
                          </p:cTn>
                        </p:par>
                        <p:par>
                          <p:cTn id="212" fill="hold">
                            <p:stCondLst>
                              <p:cond delay="1000"/>
                            </p:stCondLst>
                            <p:childTnLst>
                              <p:par>
                                <p:cTn id="213" presetID="22" presetClass="entr" presetSubtype="8" fill="hold" nodeType="afterEffect">
                                  <p:stCondLst>
                                    <p:cond delay="0"/>
                                  </p:stCondLst>
                                  <p:childTnLst>
                                    <p:set>
                                      <p:cBhvr>
                                        <p:cTn id="214" dur="1" fill="hold">
                                          <p:stCondLst>
                                            <p:cond delay="0"/>
                                          </p:stCondLst>
                                        </p:cTn>
                                        <p:tgtEl>
                                          <p:spTgt spid="29815"/>
                                        </p:tgtEl>
                                        <p:attrNameLst>
                                          <p:attrName>style.visibility</p:attrName>
                                        </p:attrNameLst>
                                      </p:cBhvr>
                                      <p:to>
                                        <p:strVal val="visible"/>
                                      </p:to>
                                    </p:set>
                                    <p:animEffect transition="in" filter="wipe(left)">
                                      <p:cBhvr>
                                        <p:cTn id="215" dur="500"/>
                                        <p:tgtEl>
                                          <p:spTgt spid="29815"/>
                                        </p:tgtEl>
                                      </p:cBhvr>
                                    </p:animEffect>
                                  </p:childTnLst>
                                </p:cTn>
                              </p:par>
                            </p:childTnLst>
                          </p:cTn>
                        </p:par>
                      </p:childTnLst>
                    </p:cTn>
                  </p:par>
                  <p:par>
                    <p:cTn id="216" fill="hold">
                      <p:stCondLst>
                        <p:cond delay="indefinite"/>
                      </p:stCondLst>
                      <p:childTnLst>
                        <p:par>
                          <p:cTn id="217" fill="hold">
                            <p:stCondLst>
                              <p:cond delay="0"/>
                            </p:stCondLst>
                            <p:childTnLst>
                              <p:par>
                                <p:cTn id="218" presetID="9" presetClass="entr" presetSubtype="0" fill="hold" grpId="0" nodeType="clickEffect">
                                  <p:stCondLst>
                                    <p:cond delay="0"/>
                                  </p:stCondLst>
                                  <p:childTnLst>
                                    <p:set>
                                      <p:cBhvr>
                                        <p:cTn id="219" dur="1" fill="hold">
                                          <p:stCondLst>
                                            <p:cond delay="0"/>
                                          </p:stCondLst>
                                        </p:cTn>
                                        <p:tgtEl>
                                          <p:spTgt spid="29823">
                                            <p:txEl>
                                              <p:charRg st="0" end="8"/>
                                            </p:txEl>
                                          </p:spTgt>
                                        </p:tgtEl>
                                        <p:attrNameLst>
                                          <p:attrName>style.visibility</p:attrName>
                                        </p:attrNameLst>
                                      </p:cBhvr>
                                      <p:to>
                                        <p:strVal val="visible"/>
                                      </p:to>
                                    </p:set>
                                    <p:animEffect transition="in" filter="dissolve">
                                      <p:cBhvr>
                                        <p:cTn id="220" dur="500"/>
                                        <p:tgtEl>
                                          <p:spTgt spid="29823">
                                            <p:txEl>
                                              <p:charRg st="0" end="8"/>
                                            </p:txEl>
                                          </p:spTgt>
                                        </p:tgtEl>
                                      </p:cBhvr>
                                    </p:animEffect>
                                  </p:childTnLst>
                                </p:cTn>
                              </p:par>
                            </p:childTnLst>
                          </p:cTn>
                        </p:par>
                      </p:childTnLst>
                    </p:cTn>
                  </p:par>
                  <p:par>
                    <p:cTn id="221" fill="hold">
                      <p:stCondLst>
                        <p:cond delay="indefinite"/>
                      </p:stCondLst>
                      <p:childTnLst>
                        <p:par>
                          <p:cTn id="222" fill="hold">
                            <p:stCondLst>
                              <p:cond delay="0"/>
                            </p:stCondLst>
                            <p:childTnLst>
                              <p:par>
                                <p:cTn id="223" presetID="22" presetClass="entr" presetSubtype="1" fill="hold" nodeType="clickEffect">
                                  <p:stCondLst>
                                    <p:cond delay="0"/>
                                  </p:stCondLst>
                                  <p:childTnLst>
                                    <p:set>
                                      <p:cBhvr>
                                        <p:cTn id="224" dur="1" fill="hold">
                                          <p:stCondLst>
                                            <p:cond delay="0"/>
                                          </p:stCondLst>
                                        </p:cTn>
                                        <p:tgtEl>
                                          <p:spTgt spid="29763"/>
                                        </p:tgtEl>
                                        <p:attrNameLst>
                                          <p:attrName>style.visibility</p:attrName>
                                        </p:attrNameLst>
                                      </p:cBhvr>
                                      <p:to>
                                        <p:strVal val="visible"/>
                                      </p:to>
                                    </p:set>
                                    <p:animEffect transition="in" filter="wipe(up)">
                                      <p:cBhvr>
                                        <p:cTn id="225" dur="500"/>
                                        <p:tgtEl>
                                          <p:spTgt spid="29763"/>
                                        </p:tgtEl>
                                      </p:cBhvr>
                                    </p:animEffect>
                                  </p:childTnLst>
                                </p:cTn>
                              </p:par>
                            </p:childTnLst>
                          </p:cTn>
                        </p:par>
                        <p:par>
                          <p:cTn id="226" fill="hold">
                            <p:stCondLst>
                              <p:cond delay="500"/>
                            </p:stCondLst>
                            <p:childTnLst>
                              <p:par>
                                <p:cTn id="227" presetID="22" presetClass="entr" presetSubtype="1" fill="hold" nodeType="afterEffect">
                                  <p:stCondLst>
                                    <p:cond delay="0"/>
                                  </p:stCondLst>
                                  <p:childTnLst>
                                    <p:set>
                                      <p:cBhvr>
                                        <p:cTn id="228" dur="1" fill="hold">
                                          <p:stCondLst>
                                            <p:cond delay="0"/>
                                          </p:stCondLst>
                                        </p:cTn>
                                        <p:tgtEl>
                                          <p:spTgt spid="29811"/>
                                        </p:tgtEl>
                                        <p:attrNameLst>
                                          <p:attrName>style.visibility</p:attrName>
                                        </p:attrNameLst>
                                      </p:cBhvr>
                                      <p:to>
                                        <p:strVal val="visible"/>
                                      </p:to>
                                    </p:set>
                                    <p:animEffect transition="in" filter="wipe(up)">
                                      <p:cBhvr>
                                        <p:cTn id="229" dur="500"/>
                                        <p:tgtEl>
                                          <p:spTgt spid="29811"/>
                                        </p:tgtEl>
                                      </p:cBhvr>
                                    </p:animEffect>
                                  </p:childTnLst>
                                </p:cTn>
                              </p:par>
                            </p:childTnLst>
                          </p:cTn>
                        </p:par>
                        <p:par>
                          <p:cTn id="230" fill="hold">
                            <p:stCondLst>
                              <p:cond delay="1000"/>
                            </p:stCondLst>
                            <p:childTnLst>
                              <p:par>
                                <p:cTn id="231" presetID="22" presetClass="entr" presetSubtype="8" fill="hold" nodeType="afterEffect">
                                  <p:stCondLst>
                                    <p:cond delay="0"/>
                                  </p:stCondLst>
                                  <p:childTnLst>
                                    <p:set>
                                      <p:cBhvr>
                                        <p:cTn id="232" dur="1" fill="hold">
                                          <p:stCondLst>
                                            <p:cond delay="0"/>
                                          </p:stCondLst>
                                        </p:cTn>
                                        <p:tgtEl>
                                          <p:spTgt spid="29817"/>
                                        </p:tgtEl>
                                        <p:attrNameLst>
                                          <p:attrName>style.visibility</p:attrName>
                                        </p:attrNameLst>
                                      </p:cBhvr>
                                      <p:to>
                                        <p:strVal val="visible"/>
                                      </p:to>
                                    </p:set>
                                    <p:animEffect transition="in" filter="wipe(left)">
                                      <p:cBhvr>
                                        <p:cTn id="233" dur="500"/>
                                        <p:tgtEl>
                                          <p:spTgt spid="29817"/>
                                        </p:tgtEl>
                                      </p:cBhvr>
                                    </p:animEffect>
                                  </p:childTnLst>
                                </p:cTn>
                              </p:par>
                            </p:childTnLst>
                          </p:cTn>
                        </p:par>
                        <p:par>
                          <p:cTn id="234" fill="hold">
                            <p:stCondLst>
                              <p:cond delay="1500"/>
                            </p:stCondLst>
                            <p:childTnLst>
                              <p:par>
                                <p:cTn id="235" presetID="22" presetClass="entr" presetSubtype="2" fill="hold" nodeType="afterEffect">
                                  <p:stCondLst>
                                    <p:cond delay="0"/>
                                  </p:stCondLst>
                                  <p:childTnLst>
                                    <p:set>
                                      <p:cBhvr>
                                        <p:cTn id="236" dur="1" fill="hold">
                                          <p:stCondLst>
                                            <p:cond delay="0"/>
                                          </p:stCondLst>
                                        </p:cTn>
                                        <p:tgtEl>
                                          <p:spTgt spid="29821"/>
                                        </p:tgtEl>
                                        <p:attrNameLst>
                                          <p:attrName>style.visibility</p:attrName>
                                        </p:attrNameLst>
                                      </p:cBhvr>
                                      <p:to>
                                        <p:strVal val="visible"/>
                                      </p:to>
                                    </p:set>
                                    <p:animEffect transition="in" filter="wipe(right)">
                                      <p:cBhvr>
                                        <p:cTn id="237" dur="500"/>
                                        <p:tgtEl>
                                          <p:spTgt spid="29821"/>
                                        </p:tgtEl>
                                      </p:cBhvr>
                                    </p:animEffect>
                                  </p:childTnLst>
                                </p:cTn>
                              </p:par>
                            </p:childTnLst>
                          </p:cTn>
                        </p:par>
                      </p:childTnLst>
                    </p:cTn>
                  </p:par>
                  <p:par>
                    <p:cTn id="238" fill="hold">
                      <p:stCondLst>
                        <p:cond delay="indefinite"/>
                      </p:stCondLst>
                      <p:childTnLst>
                        <p:par>
                          <p:cTn id="239" fill="hold">
                            <p:stCondLst>
                              <p:cond delay="0"/>
                            </p:stCondLst>
                            <p:childTnLst>
                              <p:par>
                                <p:cTn id="240" presetID="9" presetClass="entr" presetSubtype="0" fill="hold" grpId="0" nodeType="clickEffect">
                                  <p:stCondLst>
                                    <p:cond delay="0"/>
                                  </p:stCondLst>
                                  <p:childTnLst>
                                    <p:set>
                                      <p:cBhvr>
                                        <p:cTn id="241" dur="1" fill="hold">
                                          <p:stCondLst>
                                            <p:cond delay="0"/>
                                          </p:stCondLst>
                                        </p:cTn>
                                        <p:tgtEl>
                                          <p:spTgt spid="29822">
                                            <p:txEl>
                                              <p:charRg st="0" end="8"/>
                                            </p:txEl>
                                          </p:spTgt>
                                        </p:tgtEl>
                                        <p:attrNameLst>
                                          <p:attrName>style.visibility</p:attrName>
                                        </p:attrNameLst>
                                      </p:cBhvr>
                                      <p:to>
                                        <p:strVal val="visible"/>
                                      </p:to>
                                    </p:set>
                                    <p:animEffect transition="in" filter="dissolve">
                                      <p:cBhvr>
                                        <p:cTn id="242" dur="500"/>
                                        <p:tgtEl>
                                          <p:spTgt spid="29822">
                                            <p:txEl>
                                              <p:charRg st="0"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64" grpId="0" build="p"/>
      <p:bldP spid="29779" grpId="0" build="p"/>
      <p:bldP spid="29784" grpId="0" build="p"/>
      <p:bldP spid="29789" grpId="0" build="p"/>
      <p:bldP spid="29814" grpId="0" build="p"/>
      <p:bldP spid="29819" grpId="0" build="p"/>
      <p:bldP spid="29822" grpId="0" build="p"/>
      <p:bldP spid="29823" grpId="0" build="p"/>
      <p:bldP spid="29825" grpId="0" advAuto="100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Text Box 2"/>
          <p:cNvSpPr txBox="1"/>
          <p:nvPr/>
        </p:nvSpPr>
        <p:spPr>
          <a:xfrm>
            <a:off x="157163" y="44450"/>
            <a:ext cx="4343400" cy="579438"/>
          </a:xfrm>
          <a:prstGeom prst="rect">
            <a:avLst/>
          </a:prstGeom>
          <a:noFill/>
          <a:ln w="12700">
            <a:noFill/>
          </a:ln>
        </p:spPr>
        <p:txBody>
          <a:bodyPr>
            <a:spAutoFit/>
          </a:bodyPr>
          <a:p>
            <a:pPr eaLnBrk="1" hangingPunct="1">
              <a:spcBef>
                <a:spcPct val="50000"/>
              </a:spcBef>
            </a:pPr>
            <a:r>
              <a:rPr lang="zh-CN" altLang="en-US" dirty="0">
                <a:solidFill>
                  <a:srgbClr val="FFFF00"/>
                </a:solidFill>
                <a:latin typeface="黑体" panose="02010609060101010101" pitchFamily="2" charset="-122"/>
                <a:ea typeface="黑体" panose="02010609060101010101" pitchFamily="2" charset="-122"/>
              </a:rPr>
              <a:t>（</a:t>
            </a:r>
            <a:r>
              <a:rPr lang="en-US" altLang="zh-CN" dirty="0">
                <a:solidFill>
                  <a:srgbClr val="FFFF00"/>
                </a:solidFill>
                <a:latin typeface="黑体" panose="02010609060101010101" pitchFamily="2" charset="-122"/>
                <a:ea typeface="黑体" panose="02010609060101010101" pitchFamily="2" charset="-122"/>
              </a:rPr>
              <a:t>3</a:t>
            </a:r>
            <a:r>
              <a:rPr lang="zh-CN" altLang="en-US" dirty="0">
                <a:solidFill>
                  <a:srgbClr val="FFFF00"/>
                </a:solidFill>
                <a:latin typeface="黑体" panose="02010609060101010101" pitchFamily="2" charset="-122"/>
                <a:ea typeface="黑体" panose="02010609060101010101" pitchFamily="2" charset="-122"/>
              </a:rPr>
              <a:t>）扩展的同步总线</a:t>
            </a:r>
            <a:endParaRPr lang="zh-CN" altLang="en-US" dirty="0">
              <a:solidFill>
                <a:srgbClr val="FFFF00"/>
              </a:solidFill>
              <a:latin typeface="黑体" panose="02010609060101010101" pitchFamily="2" charset="-122"/>
              <a:ea typeface="黑体" panose="02010609060101010101" pitchFamily="2" charset="-122"/>
            </a:endParaRPr>
          </a:p>
        </p:txBody>
      </p:sp>
      <p:sp>
        <p:nvSpPr>
          <p:cNvPr id="51203" name="Text Box 3"/>
          <p:cNvSpPr txBox="1"/>
          <p:nvPr/>
        </p:nvSpPr>
        <p:spPr>
          <a:xfrm>
            <a:off x="323850" y="749300"/>
            <a:ext cx="8820150" cy="519113"/>
          </a:xfrm>
          <a:prstGeom prst="rect">
            <a:avLst/>
          </a:prstGeom>
          <a:noFill/>
          <a:ln w="12700">
            <a:noFill/>
          </a:ln>
        </p:spPr>
        <p:txBody>
          <a:bodyPr>
            <a:spAutoFit/>
          </a:bodyPr>
          <a:p>
            <a:pPr eaLnBrk="1" hangingPunct="1">
              <a:spcBef>
                <a:spcPct val="50000"/>
              </a:spcBef>
            </a:pPr>
            <a:r>
              <a:rPr lang="zh-CN" altLang="en-US" sz="2800" dirty="0">
                <a:solidFill>
                  <a:srgbClr val="00FF00"/>
                </a:solidFill>
                <a:latin typeface="黑体" panose="02010609060101010101" pitchFamily="2" charset="-122"/>
                <a:ea typeface="黑体" panose="02010609060101010101" pitchFamily="2" charset="-122"/>
              </a:rPr>
              <a:t>以时钟周期为时序基础，允许总线周期中时钟数可变。</a:t>
            </a:r>
            <a:endParaRPr lang="zh-CN" altLang="en-US" sz="2800" dirty="0">
              <a:solidFill>
                <a:srgbClr val="00FF00"/>
              </a:solidFill>
              <a:latin typeface="黑体" panose="02010609060101010101" pitchFamily="2" charset="-122"/>
              <a:ea typeface="黑体" panose="02010609060101010101" pitchFamily="2" charset="-122"/>
            </a:endParaRPr>
          </a:p>
        </p:txBody>
      </p:sp>
      <p:sp>
        <p:nvSpPr>
          <p:cNvPr id="51204" name="Text Box 4"/>
          <p:cNvSpPr txBox="1"/>
          <p:nvPr/>
        </p:nvSpPr>
        <p:spPr>
          <a:xfrm>
            <a:off x="215900" y="2997200"/>
            <a:ext cx="6248400" cy="519113"/>
          </a:xfrm>
          <a:prstGeom prst="rect">
            <a:avLst/>
          </a:prstGeom>
          <a:noFill/>
          <a:ln w="12700">
            <a:noFill/>
          </a:ln>
        </p:spPr>
        <p:txBody>
          <a:bodyPr>
            <a:spAutoFit/>
          </a:bodyPr>
          <a:p>
            <a:pPr eaLnBrk="1" hangingPunct="1">
              <a:spcBef>
                <a:spcPct val="50000"/>
              </a:spcBef>
            </a:pPr>
            <a:r>
              <a:rPr lang="zh-CN" altLang="en-US" sz="2800" dirty="0">
                <a:solidFill>
                  <a:srgbClr val="FFFF00"/>
                </a:solidFill>
                <a:latin typeface="黑体" panose="02010609060101010101" pitchFamily="2" charset="-122"/>
                <a:ea typeface="黑体" panose="02010609060101010101" pitchFamily="2" charset="-122"/>
              </a:rPr>
              <a:t>注意几个</a:t>
            </a:r>
            <a:r>
              <a:rPr lang="zh-CN" altLang="en-US" sz="2800" dirty="0">
                <a:solidFill>
                  <a:srgbClr val="FFFF00"/>
                </a:solidFill>
                <a:latin typeface="Times New Roman" panose="02020603050405020304" pitchFamily="18" charset="0"/>
                <a:ea typeface="黑体" panose="02010609060101010101" pitchFamily="2" charset="-122"/>
              </a:rPr>
              <a:t>“</a:t>
            </a:r>
            <a:r>
              <a:rPr lang="zh-CN" altLang="en-US" sz="2800" dirty="0">
                <a:solidFill>
                  <a:srgbClr val="FFFF00"/>
                </a:solidFill>
                <a:latin typeface="黑体" panose="02010609060101010101" pitchFamily="2" charset="-122"/>
                <a:ea typeface="黑体" panose="02010609060101010101" pitchFamily="2" charset="-122"/>
              </a:rPr>
              <a:t>周期</a:t>
            </a:r>
            <a:r>
              <a:rPr lang="zh-CN" altLang="en-US" sz="2800" dirty="0">
                <a:solidFill>
                  <a:srgbClr val="FFFF00"/>
                </a:solidFill>
                <a:latin typeface="Times New Roman" panose="02020603050405020304" pitchFamily="18" charset="0"/>
                <a:ea typeface="黑体" panose="02010609060101010101" pitchFamily="2" charset="-122"/>
              </a:rPr>
              <a:t>”</a:t>
            </a:r>
            <a:r>
              <a:rPr lang="zh-CN" altLang="en-US" sz="2800" dirty="0">
                <a:solidFill>
                  <a:srgbClr val="FFFF00"/>
                </a:solidFill>
                <a:latin typeface="黑体" panose="02010609060101010101" pitchFamily="2" charset="-122"/>
                <a:ea typeface="黑体" panose="02010609060101010101" pitchFamily="2" charset="-122"/>
              </a:rPr>
              <a:t>概念：</a:t>
            </a:r>
            <a:endParaRPr lang="zh-CN" altLang="en-US" sz="2800" dirty="0">
              <a:solidFill>
                <a:srgbClr val="FFFF00"/>
              </a:solidFill>
              <a:latin typeface="黑体" panose="02010609060101010101" pitchFamily="2" charset="-122"/>
              <a:ea typeface="黑体" panose="02010609060101010101" pitchFamily="2" charset="-122"/>
            </a:endParaRPr>
          </a:p>
        </p:txBody>
      </p:sp>
      <p:sp>
        <p:nvSpPr>
          <p:cNvPr id="51205" name="Text Box 5"/>
          <p:cNvSpPr txBox="1"/>
          <p:nvPr/>
        </p:nvSpPr>
        <p:spPr>
          <a:xfrm>
            <a:off x="236538" y="3665538"/>
            <a:ext cx="2895600" cy="519112"/>
          </a:xfrm>
          <a:prstGeom prst="rect">
            <a:avLst/>
          </a:prstGeom>
          <a:noFill/>
          <a:ln w="12700">
            <a:noFill/>
          </a:ln>
        </p:spPr>
        <p:txBody>
          <a:bodyPr>
            <a:spAutoFit/>
          </a:bodyPr>
          <a:p>
            <a:pPr eaLnBrk="1" hangingPunct="1">
              <a:spcBef>
                <a:spcPct val="50000"/>
              </a:spcBef>
            </a:pPr>
            <a:r>
              <a:rPr lang="zh-CN" altLang="en-US" sz="2800" dirty="0">
                <a:solidFill>
                  <a:schemeClr val="accent1"/>
                </a:solidFill>
                <a:latin typeface="黑体" panose="02010609060101010101" pitchFamily="2" charset="-122"/>
                <a:ea typeface="黑体" panose="02010609060101010101" pitchFamily="2" charset="-122"/>
              </a:rPr>
              <a:t>时钟周期：</a:t>
            </a:r>
            <a:endParaRPr lang="zh-CN" altLang="en-US" sz="2800" dirty="0">
              <a:solidFill>
                <a:schemeClr val="accent1"/>
              </a:solidFill>
              <a:latin typeface="黑体" panose="02010609060101010101" pitchFamily="2" charset="-122"/>
              <a:ea typeface="黑体" panose="02010609060101010101" pitchFamily="2" charset="-122"/>
            </a:endParaRPr>
          </a:p>
        </p:txBody>
      </p:sp>
      <p:sp>
        <p:nvSpPr>
          <p:cNvPr id="51206" name="Text Box 6"/>
          <p:cNvSpPr txBox="1"/>
          <p:nvPr/>
        </p:nvSpPr>
        <p:spPr>
          <a:xfrm>
            <a:off x="1927225" y="3671888"/>
            <a:ext cx="7324725" cy="519112"/>
          </a:xfrm>
          <a:prstGeom prst="rect">
            <a:avLst/>
          </a:prstGeom>
          <a:noFill/>
          <a:ln w="12700">
            <a:noFill/>
          </a:ln>
        </p:spPr>
        <p:txBody>
          <a:bodyPr>
            <a:spAutoFit/>
          </a:bodyPr>
          <a:p>
            <a:pPr algn="just" eaLnBrk="1" hangingPunct="1">
              <a:spcBef>
                <a:spcPct val="50000"/>
              </a:spcBef>
            </a:pPr>
            <a:r>
              <a:rPr lang="en-US" altLang="zh-CN" sz="2800" dirty="0">
                <a:solidFill>
                  <a:schemeClr val="tx1"/>
                </a:solidFill>
                <a:latin typeface="黑体" panose="02010609060101010101" pitchFamily="2" charset="-122"/>
                <a:ea typeface="黑体" panose="02010609060101010101" pitchFamily="2" charset="-122"/>
              </a:rPr>
              <a:t>CPU</a:t>
            </a:r>
            <a:r>
              <a:rPr lang="zh-CN" altLang="en-US" sz="2800" dirty="0">
                <a:solidFill>
                  <a:schemeClr val="tx1"/>
                </a:solidFill>
                <a:latin typeface="黑体" panose="02010609060101010101" pitchFamily="2" charset="-122"/>
                <a:ea typeface="黑体" panose="02010609060101010101" pitchFamily="2" charset="-122"/>
              </a:rPr>
              <a:t>一步操作</a:t>
            </a:r>
            <a:r>
              <a:rPr lang="en-US" altLang="zh-CN" sz="2800" dirty="0">
                <a:solidFill>
                  <a:schemeClr val="tx1"/>
                </a:solidFill>
                <a:latin typeface="黑体" panose="02010609060101010101" pitchFamily="2" charset="-122"/>
                <a:ea typeface="黑体" panose="02010609060101010101" pitchFamily="2" charset="-122"/>
              </a:rPr>
              <a:t>(</a:t>
            </a:r>
            <a:r>
              <a:rPr lang="en-US" altLang="zh-CN" sz="2800" dirty="0">
                <a:solidFill>
                  <a:srgbClr val="00FF00"/>
                </a:solidFill>
                <a:latin typeface="黑体" panose="02010609060101010101" pitchFamily="2" charset="-122"/>
                <a:ea typeface="黑体" panose="02010609060101010101" pitchFamily="2" charset="-122"/>
              </a:rPr>
              <a:t>1</a:t>
            </a:r>
            <a:r>
              <a:rPr lang="zh-CN" altLang="en-US" sz="2800" dirty="0">
                <a:solidFill>
                  <a:srgbClr val="00FF00"/>
                </a:solidFill>
                <a:latin typeface="黑体" panose="02010609060101010101" pitchFamily="2" charset="-122"/>
                <a:ea typeface="黑体" panose="02010609060101010101" pitchFamily="2" charset="-122"/>
              </a:rPr>
              <a:t>次内部数据通路传送</a:t>
            </a:r>
            <a:r>
              <a:rPr lang="en-US" altLang="zh-CN" sz="2800" dirty="0">
                <a:solidFill>
                  <a:schemeClr val="tx1"/>
                </a:solidFill>
                <a:latin typeface="黑体" panose="02010609060101010101" pitchFamily="2" charset="-122"/>
                <a:ea typeface="黑体" panose="02010609060101010101" pitchFamily="2" charset="-122"/>
              </a:rPr>
              <a:t>)</a:t>
            </a:r>
            <a:r>
              <a:rPr lang="zh-CN" altLang="en-US" sz="2800" dirty="0">
                <a:solidFill>
                  <a:schemeClr val="tx1"/>
                </a:solidFill>
                <a:latin typeface="黑体" panose="02010609060101010101" pitchFamily="2" charset="-122"/>
                <a:ea typeface="黑体" panose="02010609060101010101" pitchFamily="2" charset="-122"/>
              </a:rPr>
              <a:t>时间。</a:t>
            </a:r>
            <a:endParaRPr lang="zh-CN" altLang="en-US" sz="2800" dirty="0">
              <a:solidFill>
                <a:schemeClr val="tx1"/>
              </a:solidFill>
              <a:latin typeface="黑体" panose="02010609060101010101" pitchFamily="2" charset="-122"/>
              <a:ea typeface="黑体" panose="02010609060101010101" pitchFamily="2" charset="-122"/>
            </a:endParaRPr>
          </a:p>
        </p:txBody>
      </p:sp>
      <p:sp>
        <p:nvSpPr>
          <p:cNvPr id="51207" name="Text Box 7"/>
          <p:cNvSpPr txBox="1"/>
          <p:nvPr/>
        </p:nvSpPr>
        <p:spPr>
          <a:xfrm>
            <a:off x="236538" y="4197350"/>
            <a:ext cx="2895600" cy="519113"/>
          </a:xfrm>
          <a:prstGeom prst="rect">
            <a:avLst/>
          </a:prstGeom>
          <a:noFill/>
          <a:ln w="12700">
            <a:noFill/>
          </a:ln>
        </p:spPr>
        <p:txBody>
          <a:bodyPr>
            <a:spAutoFit/>
          </a:bodyPr>
          <a:p>
            <a:pPr eaLnBrk="1" hangingPunct="1">
              <a:spcBef>
                <a:spcPct val="50000"/>
              </a:spcBef>
            </a:pPr>
            <a:r>
              <a:rPr lang="zh-CN" altLang="en-US" sz="2800" dirty="0">
                <a:solidFill>
                  <a:schemeClr val="accent1"/>
                </a:solidFill>
                <a:latin typeface="黑体" panose="02010609060101010101" pitchFamily="2" charset="-122"/>
                <a:ea typeface="黑体" panose="02010609060101010101" pitchFamily="2" charset="-122"/>
              </a:rPr>
              <a:t>总线周期：</a:t>
            </a:r>
            <a:endParaRPr lang="zh-CN" altLang="en-US" sz="2800" dirty="0">
              <a:solidFill>
                <a:schemeClr val="accent1"/>
              </a:solidFill>
              <a:latin typeface="黑体" panose="02010609060101010101" pitchFamily="2" charset="-122"/>
              <a:ea typeface="黑体" panose="02010609060101010101" pitchFamily="2" charset="-122"/>
            </a:endParaRPr>
          </a:p>
        </p:txBody>
      </p:sp>
      <p:sp>
        <p:nvSpPr>
          <p:cNvPr id="51208" name="Text Box 8"/>
          <p:cNvSpPr txBox="1"/>
          <p:nvPr/>
        </p:nvSpPr>
        <p:spPr>
          <a:xfrm>
            <a:off x="1898650" y="4198938"/>
            <a:ext cx="6929438" cy="946150"/>
          </a:xfrm>
          <a:prstGeom prst="rect">
            <a:avLst/>
          </a:prstGeom>
          <a:noFill/>
          <a:ln w="12700">
            <a:noFill/>
          </a:ln>
        </p:spPr>
        <p:txBody>
          <a:bodyPr>
            <a:spAutoFit/>
          </a:bodyPr>
          <a:p>
            <a:pPr algn="just" eaLnBrk="1" hangingPunct="1">
              <a:spcBef>
                <a:spcPct val="50000"/>
              </a:spcBef>
            </a:pPr>
            <a:r>
              <a:rPr lang="zh-CN" altLang="en-US" sz="2800" dirty="0">
                <a:solidFill>
                  <a:schemeClr val="tx1"/>
                </a:solidFill>
                <a:latin typeface="黑体" panose="02010609060101010101" pitchFamily="2" charset="-122"/>
                <a:ea typeface="黑体" panose="02010609060101010101" pitchFamily="2" charset="-122"/>
              </a:rPr>
              <a:t>经过总线的一次数据传送</a:t>
            </a:r>
            <a:r>
              <a:rPr lang="en-US" altLang="zh-CN" sz="2800" dirty="0">
                <a:solidFill>
                  <a:schemeClr val="tx1"/>
                </a:solidFill>
                <a:latin typeface="黑体" panose="02010609060101010101" pitchFamily="2" charset="-122"/>
                <a:ea typeface="黑体" panose="02010609060101010101" pitchFamily="2" charset="-122"/>
              </a:rPr>
              <a:t>(</a:t>
            </a:r>
            <a:r>
              <a:rPr lang="zh-CN" altLang="en-US" sz="2800" dirty="0">
                <a:solidFill>
                  <a:schemeClr val="tx1"/>
                </a:solidFill>
                <a:latin typeface="黑体" panose="02010609060101010101" pitchFamily="2" charset="-122"/>
                <a:ea typeface="黑体" panose="02010609060101010101" pitchFamily="2" charset="-122"/>
              </a:rPr>
              <a:t>访存</a:t>
            </a:r>
            <a:r>
              <a:rPr lang="en-US" altLang="zh-CN" sz="2800" dirty="0">
                <a:solidFill>
                  <a:schemeClr val="tx1"/>
                </a:solidFill>
                <a:latin typeface="黑体" panose="02010609060101010101" pitchFamily="2" charset="-122"/>
                <a:ea typeface="黑体" panose="02010609060101010101" pitchFamily="2" charset="-122"/>
              </a:rPr>
              <a:t>)</a:t>
            </a:r>
            <a:r>
              <a:rPr lang="zh-CN" altLang="en-US" sz="2800" dirty="0">
                <a:solidFill>
                  <a:schemeClr val="tx1"/>
                </a:solidFill>
                <a:latin typeface="黑体" panose="02010609060101010101" pitchFamily="2" charset="-122"/>
                <a:ea typeface="黑体" panose="02010609060101010101" pitchFamily="2" charset="-122"/>
              </a:rPr>
              <a:t>时间，通常包含</a:t>
            </a:r>
            <a:r>
              <a:rPr lang="zh-CN" altLang="en-US" sz="2800" dirty="0">
                <a:solidFill>
                  <a:srgbClr val="00FF00"/>
                </a:solidFill>
                <a:latin typeface="黑体" panose="02010609060101010101" pitchFamily="2" charset="-122"/>
                <a:ea typeface="黑体" panose="02010609060101010101" pitchFamily="2" charset="-122"/>
              </a:rPr>
              <a:t>若干</a:t>
            </a:r>
            <a:r>
              <a:rPr lang="zh-CN" altLang="en-US" sz="2800" dirty="0">
                <a:solidFill>
                  <a:schemeClr val="tx1"/>
                </a:solidFill>
                <a:latin typeface="黑体" panose="02010609060101010101" pitchFamily="2" charset="-122"/>
                <a:ea typeface="黑体" panose="02010609060101010101" pitchFamily="2" charset="-122"/>
              </a:rPr>
              <a:t>时钟周期。</a:t>
            </a:r>
            <a:endParaRPr lang="zh-CN" altLang="en-US" sz="2800" dirty="0">
              <a:solidFill>
                <a:schemeClr val="tx1"/>
              </a:solidFill>
              <a:latin typeface="黑体" panose="02010609060101010101" pitchFamily="2" charset="-122"/>
              <a:ea typeface="黑体" panose="02010609060101010101" pitchFamily="2" charset="-122"/>
            </a:endParaRPr>
          </a:p>
        </p:txBody>
      </p:sp>
      <p:sp>
        <p:nvSpPr>
          <p:cNvPr id="51210" name="Text Box 10"/>
          <p:cNvSpPr txBox="1"/>
          <p:nvPr/>
        </p:nvSpPr>
        <p:spPr>
          <a:xfrm>
            <a:off x="215900" y="5084763"/>
            <a:ext cx="2895600" cy="519112"/>
          </a:xfrm>
          <a:prstGeom prst="rect">
            <a:avLst/>
          </a:prstGeom>
          <a:noFill/>
          <a:ln w="12700">
            <a:noFill/>
          </a:ln>
        </p:spPr>
        <p:txBody>
          <a:bodyPr>
            <a:spAutoFit/>
          </a:bodyPr>
          <a:p>
            <a:pPr eaLnBrk="1" hangingPunct="1">
              <a:spcBef>
                <a:spcPct val="50000"/>
              </a:spcBef>
            </a:pPr>
            <a:r>
              <a:rPr lang="zh-CN" altLang="en-US" sz="2800" dirty="0">
                <a:solidFill>
                  <a:schemeClr val="accent1"/>
                </a:solidFill>
                <a:latin typeface="黑体" panose="02010609060101010101" pitchFamily="2" charset="-122"/>
                <a:ea typeface="黑体" panose="02010609060101010101" pitchFamily="2" charset="-122"/>
              </a:rPr>
              <a:t>工作周期：</a:t>
            </a:r>
            <a:endParaRPr lang="zh-CN" altLang="en-US" sz="2800" dirty="0">
              <a:solidFill>
                <a:schemeClr val="accent1"/>
              </a:solidFill>
              <a:latin typeface="黑体" panose="02010609060101010101" pitchFamily="2" charset="-122"/>
              <a:ea typeface="黑体" panose="02010609060101010101" pitchFamily="2" charset="-122"/>
            </a:endParaRPr>
          </a:p>
        </p:txBody>
      </p:sp>
      <p:sp>
        <p:nvSpPr>
          <p:cNvPr id="51211" name="Text Box 11"/>
          <p:cNvSpPr txBox="1"/>
          <p:nvPr/>
        </p:nvSpPr>
        <p:spPr>
          <a:xfrm>
            <a:off x="1892300" y="5084763"/>
            <a:ext cx="7010400" cy="519112"/>
          </a:xfrm>
          <a:prstGeom prst="rect">
            <a:avLst/>
          </a:prstGeom>
          <a:noFill/>
          <a:ln w="12700">
            <a:noFill/>
          </a:ln>
        </p:spPr>
        <p:txBody>
          <a:bodyPr>
            <a:spAutoFit/>
          </a:bodyPr>
          <a:p>
            <a:pPr eaLnBrk="1" hangingPunct="1">
              <a:spcBef>
                <a:spcPct val="50000"/>
              </a:spcBef>
            </a:pPr>
            <a:r>
              <a:rPr lang="zh-CN" altLang="en-US" sz="2800" dirty="0">
                <a:solidFill>
                  <a:schemeClr val="tx1"/>
                </a:solidFill>
                <a:latin typeface="黑体" panose="02010609060101010101" pitchFamily="2" charset="-122"/>
                <a:ea typeface="黑体" panose="02010609060101010101" pitchFamily="2" charset="-122"/>
              </a:rPr>
              <a:t>指令周期中的一个操作阶段。</a:t>
            </a:r>
            <a:endParaRPr lang="zh-CN" altLang="en-US" sz="2800" dirty="0">
              <a:solidFill>
                <a:schemeClr val="tx1"/>
              </a:solidFill>
              <a:latin typeface="黑体" panose="02010609060101010101" pitchFamily="2" charset="-122"/>
              <a:ea typeface="黑体" panose="02010609060101010101" pitchFamily="2" charset="-122"/>
            </a:endParaRPr>
          </a:p>
        </p:txBody>
      </p:sp>
      <p:sp>
        <p:nvSpPr>
          <p:cNvPr id="51212" name="Text Box 12"/>
          <p:cNvSpPr txBox="1"/>
          <p:nvPr/>
        </p:nvSpPr>
        <p:spPr>
          <a:xfrm>
            <a:off x="6543675" y="5062538"/>
            <a:ext cx="2449513" cy="946150"/>
          </a:xfrm>
          <a:prstGeom prst="rect">
            <a:avLst/>
          </a:prstGeom>
          <a:noFill/>
          <a:ln w="12700">
            <a:noFill/>
          </a:ln>
        </p:spPr>
        <p:txBody>
          <a:bodyPr>
            <a:spAutoFit/>
          </a:bodyPr>
          <a:p>
            <a:pPr eaLnBrk="1" hangingPunct="1">
              <a:spcBef>
                <a:spcPct val="50000"/>
              </a:spcBef>
            </a:pPr>
            <a:r>
              <a:rPr lang="zh-CN" altLang="en-US" sz="2800" dirty="0">
                <a:solidFill>
                  <a:srgbClr val="FFFF00"/>
                </a:solidFill>
                <a:latin typeface="黑体" panose="02010609060101010101" pitchFamily="2" charset="-122"/>
                <a:ea typeface="黑体" panose="02010609060101010101" pitchFamily="2" charset="-122"/>
              </a:rPr>
              <a:t>可包含多个总线周期。</a:t>
            </a:r>
            <a:endParaRPr lang="zh-CN" altLang="en-US" sz="2800" dirty="0">
              <a:solidFill>
                <a:srgbClr val="FFFF00"/>
              </a:solidFill>
              <a:latin typeface="黑体" panose="02010609060101010101" pitchFamily="2" charset="-122"/>
              <a:ea typeface="黑体" panose="02010609060101010101" pitchFamily="2" charset="-122"/>
            </a:endParaRPr>
          </a:p>
        </p:txBody>
      </p:sp>
      <p:grpSp>
        <p:nvGrpSpPr>
          <p:cNvPr id="2" name="Group 43"/>
          <p:cNvGrpSpPr/>
          <p:nvPr/>
        </p:nvGrpSpPr>
        <p:grpSpPr>
          <a:xfrm>
            <a:off x="468313" y="1303338"/>
            <a:ext cx="6410325" cy="633412"/>
            <a:chOff x="295" y="1071"/>
            <a:chExt cx="4038" cy="399"/>
          </a:xfrm>
        </p:grpSpPr>
        <p:sp>
          <p:nvSpPr>
            <p:cNvPr id="16414" name="Line 14"/>
            <p:cNvSpPr/>
            <p:nvPr/>
          </p:nvSpPr>
          <p:spPr>
            <a:xfrm>
              <a:off x="295" y="1198"/>
              <a:ext cx="817" cy="0"/>
            </a:xfrm>
            <a:prstGeom prst="line">
              <a:avLst/>
            </a:prstGeom>
            <a:ln w="28575" cap="sq" cmpd="sng">
              <a:solidFill>
                <a:schemeClr val="tx1"/>
              </a:solidFill>
              <a:prstDash val="solid"/>
              <a:headEnd type="none" w="med" len="med"/>
              <a:tailEnd type="none" w="med" len="med"/>
            </a:ln>
          </p:spPr>
        </p:sp>
        <p:sp>
          <p:nvSpPr>
            <p:cNvPr id="16415" name="Line 15"/>
            <p:cNvSpPr/>
            <p:nvPr/>
          </p:nvSpPr>
          <p:spPr>
            <a:xfrm>
              <a:off x="1112" y="1470"/>
              <a:ext cx="408" cy="0"/>
            </a:xfrm>
            <a:prstGeom prst="line">
              <a:avLst/>
            </a:prstGeom>
            <a:ln w="28575" cap="sq" cmpd="sng">
              <a:solidFill>
                <a:schemeClr val="tx1"/>
              </a:solidFill>
              <a:prstDash val="solid"/>
              <a:headEnd type="none" w="med" len="med"/>
              <a:tailEnd type="none" w="med" len="med"/>
            </a:ln>
          </p:spPr>
        </p:sp>
        <p:sp>
          <p:nvSpPr>
            <p:cNvPr id="16416" name="Line 16"/>
            <p:cNvSpPr/>
            <p:nvPr/>
          </p:nvSpPr>
          <p:spPr>
            <a:xfrm>
              <a:off x="1520" y="1198"/>
              <a:ext cx="181" cy="0"/>
            </a:xfrm>
            <a:prstGeom prst="line">
              <a:avLst/>
            </a:prstGeom>
            <a:ln w="28575" cap="sq" cmpd="sng">
              <a:solidFill>
                <a:schemeClr val="tx1"/>
              </a:solidFill>
              <a:prstDash val="solid"/>
              <a:headEnd type="none" w="med" len="med"/>
              <a:tailEnd type="none" w="med" len="med"/>
            </a:ln>
          </p:spPr>
        </p:sp>
        <p:sp>
          <p:nvSpPr>
            <p:cNvPr id="16417" name="Line 18"/>
            <p:cNvSpPr/>
            <p:nvPr/>
          </p:nvSpPr>
          <p:spPr>
            <a:xfrm>
              <a:off x="3516" y="1198"/>
              <a:ext cx="817" cy="0"/>
            </a:xfrm>
            <a:prstGeom prst="line">
              <a:avLst/>
            </a:prstGeom>
            <a:ln w="28575" cap="sq" cmpd="sng">
              <a:solidFill>
                <a:schemeClr val="tx1"/>
              </a:solidFill>
              <a:prstDash val="solid"/>
              <a:headEnd type="none" w="med" len="med"/>
              <a:tailEnd type="none" w="med" len="med"/>
            </a:ln>
          </p:spPr>
        </p:sp>
        <p:sp>
          <p:nvSpPr>
            <p:cNvPr id="16418" name="Line 20"/>
            <p:cNvSpPr/>
            <p:nvPr/>
          </p:nvSpPr>
          <p:spPr>
            <a:xfrm>
              <a:off x="1882" y="1198"/>
              <a:ext cx="227" cy="0"/>
            </a:xfrm>
            <a:prstGeom prst="line">
              <a:avLst/>
            </a:prstGeom>
            <a:ln w="28575" cap="sq" cmpd="sng">
              <a:solidFill>
                <a:schemeClr val="tx1"/>
              </a:solidFill>
              <a:prstDash val="solid"/>
              <a:headEnd type="none" w="med" len="med"/>
              <a:tailEnd type="none" w="med" len="med"/>
            </a:ln>
          </p:spPr>
        </p:sp>
        <p:sp>
          <p:nvSpPr>
            <p:cNvPr id="16419" name="Line 21"/>
            <p:cNvSpPr/>
            <p:nvPr/>
          </p:nvSpPr>
          <p:spPr>
            <a:xfrm>
              <a:off x="2110" y="1470"/>
              <a:ext cx="408" cy="0"/>
            </a:xfrm>
            <a:prstGeom prst="line">
              <a:avLst/>
            </a:prstGeom>
            <a:ln w="28575" cap="sq" cmpd="sng">
              <a:solidFill>
                <a:schemeClr val="tx1"/>
              </a:solidFill>
              <a:prstDash val="solid"/>
              <a:headEnd type="none" w="med" len="med"/>
              <a:tailEnd type="none" w="med" len="med"/>
            </a:ln>
          </p:spPr>
        </p:sp>
        <p:sp>
          <p:nvSpPr>
            <p:cNvPr id="16420" name="Line 23"/>
            <p:cNvSpPr/>
            <p:nvPr/>
          </p:nvSpPr>
          <p:spPr>
            <a:xfrm>
              <a:off x="1112" y="1198"/>
              <a:ext cx="0" cy="272"/>
            </a:xfrm>
            <a:prstGeom prst="line">
              <a:avLst/>
            </a:prstGeom>
            <a:ln w="28575" cap="sq" cmpd="sng">
              <a:solidFill>
                <a:schemeClr val="tx1"/>
              </a:solidFill>
              <a:prstDash val="solid"/>
              <a:headEnd type="none" w="med" len="med"/>
              <a:tailEnd type="none" w="med" len="med"/>
            </a:ln>
          </p:spPr>
        </p:sp>
        <p:sp>
          <p:nvSpPr>
            <p:cNvPr id="16421" name="Line 24"/>
            <p:cNvSpPr/>
            <p:nvPr/>
          </p:nvSpPr>
          <p:spPr>
            <a:xfrm>
              <a:off x="1520" y="1198"/>
              <a:ext cx="0" cy="272"/>
            </a:xfrm>
            <a:prstGeom prst="line">
              <a:avLst/>
            </a:prstGeom>
            <a:ln w="28575" cap="sq" cmpd="sng">
              <a:solidFill>
                <a:schemeClr val="tx1"/>
              </a:solidFill>
              <a:prstDash val="solid"/>
              <a:headEnd type="none" w="med" len="med"/>
              <a:tailEnd type="none" w="med" len="med"/>
            </a:ln>
          </p:spPr>
        </p:sp>
        <p:sp>
          <p:nvSpPr>
            <p:cNvPr id="16422" name="Line 25"/>
            <p:cNvSpPr/>
            <p:nvPr/>
          </p:nvSpPr>
          <p:spPr>
            <a:xfrm>
              <a:off x="2110" y="1198"/>
              <a:ext cx="0" cy="272"/>
            </a:xfrm>
            <a:prstGeom prst="line">
              <a:avLst/>
            </a:prstGeom>
            <a:ln w="28575" cap="sq" cmpd="sng">
              <a:solidFill>
                <a:schemeClr val="tx1"/>
              </a:solidFill>
              <a:prstDash val="solid"/>
              <a:headEnd type="none" w="med" len="med"/>
              <a:tailEnd type="none" w="med" len="med"/>
            </a:ln>
          </p:spPr>
        </p:sp>
        <p:sp>
          <p:nvSpPr>
            <p:cNvPr id="16423" name="Line 26"/>
            <p:cNvSpPr/>
            <p:nvPr/>
          </p:nvSpPr>
          <p:spPr>
            <a:xfrm>
              <a:off x="2518" y="1198"/>
              <a:ext cx="0" cy="272"/>
            </a:xfrm>
            <a:prstGeom prst="line">
              <a:avLst/>
            </a:prstGeom>
            <a:ln w="28575" cap="sq" cmpd="sng">
              <a:solidFill>
                <a:schemeClr val="tx1"/>
              </a:solidFill>
              <a:prstDash val="solid"/>
              <a:headEnd type="none" w="med" len="med"/>
              <a:tailEnd type="none" w="med" len="med"/>
            </a:ln>
          </p:spPr>
        </p:sp>
        <p:sp>
          <p:nvSpPr>
            <p:cNvPr id="16424" name="Line 27"/>
            <p:cNvSpPr/>
            <p:nvPr/>
          </p:nvSpPr>
          <p:spPr>
            <a:xfrm>
              <a:off x="2519" y="1198"/>
              <a:ext cx="181" cy="0"/>
            </a:xfrm>
            <a:prstGeom prst="line">
              <a:avLst/>
            </a:prstGeom>
            <a:ln w="28575" cap="sq" cmpd="sng">
              <a:solidFill>
                <a:schemeClr val="tx1"/>
              </a:solidFill>
              <a:prstDash val="solid"/>
              <a:headEnd type="none" w="med" len="med"/>
              <a:tailEnd type="none" w="med" len="med"/>
            </a:ln>
          </p:spPr>
        </p:sp>
        <p:sp>
          <p:nvSpPr>
            <p:cNvPr id="16425" name="Line 29"/>
            <p:cNvSpPr/>
            <p:nvPr/>
          </p:nvSpPr>
          <p:spPr>
            <a:xfrm>
              <a:off x="2881" y="1198"/>
              <a:ext cx="227" cy="0"/>
            </a:xfrm>
            <a:prstGeom prst="line">
              <a:avLst/>
            </a:prstGeom>
            <a:ln w="28575" cap="sq" cmpd="sng">
              <a:solidFill>
                <a:schemeClr val="tx1"/>
              </a:solidFill>
              <a:prstDash val="solid"/>
              <a:headEnd type="none" w="med" len="med"/>
              <a:tailEnd type="none" w="med" len="med"/>
            </a:ln>
          </p:spPr>
        </p:sp>
        <p:sp>
          <p:nvSpPr>
            <p:cNvPr id="16426" name="Text Box 30"/>
            <p:cNvSpPr txBox="1"/>
            <p:nvPr/>
          </p:nvSpPr>
          <p:spPr>
            <a:xfrm>
              <a:off x="2518" y="1071"/>
              <a:ext cx="545" cy="250"/>
            </a:xfrm>
            <a:prstGeom prst="rect">
              <a:avLst/>
            </a:prstGeom>
            <a:noFill/>
            <a:ln w="28575">
              <a:noFill/>
            </a:ln>
          </p:spPr>
          <p:txBody>
            <a:bodyPr>
              <a:spAutoFit/>
            </a:bodyPr>
            <a:p>
              <a:pPr algn="ctr" eaLnBrk="1" hangingPunct="1">
                <a:spcBef>
                  <a:spcPct val="50000"/>
                </a:spcBef>
              </a:pPr>
              <a:r>
                <a:rPr lang="en-US" altLang="zh-CN" sz="2000" dirty="0">
                  <a:solidFill>
                    <a:schemeClr val="tx1"/>
                  </a:solidFill>
                  <a:latin typeface="宋体" panose="02010600030101010101" pitchFamily="2" charset="-122"/>
                </a:rPr>
                <a:t>…</a:t>
              </a:r>
              <a:endParaRPr lang="en-US" altLang="zh-CN" sz="2000" dirty="0">
                <a:solidFill>
                  <a:schemeClr val="tx1"/>
                </a:solidFill>
                <a:latin typeface="宋体" panose="02010600030101010101" pitchFamily="2" charset="-122"/>
              </a:endParaRPr>
            </a:p>
          </p:txBody>
        </p:sp>
        <p:sp>
          <p:nvSpPr>
            <p:cNvPr id="16427" name="Text Box 31"/>
            <p:cNvSpPr txBox="1"/>
            <p:nvPr/>
          </p:nvSpPr>
          <p:spPr>
            <a:xfrm>
              <a:off x="1519" y="1071"/>
              <a:ext cx="545" cy="250"/>
            </a:xfrm>
            <a:prstGeom prst="rect">
              <a:avLst/>
            </a:prstGeom>
            <a:noFill/>
            <a:ln w="28575">
              <a:noFill/>
            </a:ln>
          </p:spPr>
          <p:txBody>
            <a:bodyPr>
              <a:spAutoFit/>
            </a:bodyPr>
            <a:p>
              <a:pPr algn="ctr" eaLnBrk="1" hangingPunct="1">
                <a:spcBef>
                  <a:spcPct val="50000"/>
                </a:spcBef>
              </a:pPr>
              <a:r>
                <a:rPr lang="en-US" altLang="zh-CN" sz="2000" dirty="0">
                  <a:solidFill>
                    <a:schemeClr val="tx1"/>
                  </a:solidFill>
                  <a:latin typeface="宋体" panose="02010600030101010101" pitchFamily="2" charset="-122"/>
                </a:rPr>
                <a:t>…</a:t>
              </a:r>
              <a:endParaRPr lang="en-US" altLang="zh-CN" sz="2000" dirty="0">
                <a:solidFill>
                  <a:schemeClr val="tx1"/>
                </a:solidFill>
                <a:latin typeface="宋体" panose="02010600030101010101" pitchFamily="2" charset="-122"/>
              </a:endParaRPr>
            </a:p>
          </p:txBody>
        </p:sp>
        <p:sp>
          <p:nvSpPr>
            <p:cNvPr id="16428" name="Line 32"/>
            <p:cNvSpPr/>
            <p:nvPr/>
          </p:nvSpPr>
          <p:spPr>
            <a:xfrm>
              <a:off x="3108" y="1198"/>
              <a:ext cx="0" cy="272"/>
            </a:xfrm>
            <a:prstGeom prst="line">
              <a:avLst/>
            </a:prstGeom>
            <a:ln w="28575" cap="sq" cmpd="sng">
              <a:solidFill>
                <a:schemeClr val="tx1"/>
              </a:solidFill>
              <a:prstDash val="solid"/>
              <a:headEnd type="none" w="med" len="med"/>
              <a:tailEnd type="none" w="med" len="med"/>
            </a:ln>
          </p:spPr>
        </p:sp>
        <p:sp>
          <p:nvSpPr>
            <p:cNvPr id="16429" name="Line 33"/>
            <p:cNvSpPr/>
            <p:nvPr/>
          </p:nvSpPr>
          <p:spPr>
            <a:xfrm>
              <a:off x="3108" y="1470"/>
              <a:ext cx="408" cy="0"/>
            </a:xfrm>
            <a:prstGeom prst="line">
              <a:avLst/>
            </a:prstGeom>
            <a:ln w="28575" cap="sq" cmpd="sng">
              <a:solidFill>
                <a:schemeClr val="tx1"/>
              </a:solidFill>
              <a:prstDash val="solid"/>
              <a:headEnd type="none" w="med" len="med"/>
              <a:tailEnd type="none" w="med" len="med"/>
            </a:ln>
          </p:spPr>
        </p:sp>
        <p:sp>
          <p:nvSpPr>
            <p:cNvPr id="16430" name="Line 34"/>
            <p:cNvSpPr/>
            <p:nvPr/>
          </p:nvSpPr>
          <p:spPr>
            <a:xfrm>
              <a:off x="3516" y="1198"/>
              <a:ext cx="0" cy="272"/>
            </a:xfrm>
            <a:prstGeom prst="line">
              <a:avLst/>
            </a:prstGeom>
            <a:ln w="28575" cap="sq" cmpd="sng">
              <a:solidFill>
                <a:schemeClr val="tx1"/>
              </a:solidFill>
              <a:prstDash val="solid"/>
              <a:headEnd type="none" w="med" len="med"/>
              <a:tailEnd type="none" w="med" len="med"/>
            </a:ln>
          </p:spPr>
        </p:sp>
      </p:grpSp>
      <p:grpSp>
        <p:nvGrpSpPr>
          <p:cNvPr id="3" name="Group 48"/>
          <p:cNvGrpSpPr/>
          <p:nvPr/>
        </p:nvGrpSpPr>
        <p:grpSpPr>
          <a:xfrm>
            <a:off x="1331913" y="1989138"/>
            <a:ext cx="1439862" cy="889000"/>
            <a:chOff x="839" y="1253"/>
            <a:chExt cx="907" cy="560"/>
          </a:xfrm>
        </p:grpSpPr>
        <p:sp>
          <p:nvSpPr>
            <p:cNvPr id="16412" name="Line 35"/>
            <p:cNvSpPr/>
            <p:nvPr/>
          </p:nvSpPr>
          <p:spPr>
            <a:xfrm flipV="1">
              <a:off x="1111" y="1253"/>
              <a:ext cx="0" cy="272"/>
            </a:xfrm>
            <a:prstGeom prst="line">
              <a:avLst/>
            </a:prstGeom>
            <a:ln w="28575" cap="sq" cmpd="sng">
              <a:solidFill>
                <a:schemeClr val="accent1"/>
              </a:solidFill>
              <a:prstDash val="solid"/>
              <a:headEnd type="none" w="med" len="med"/>
              <a:tailEnd type="triangle" w="med" len="med"/>
            </a:ln>
          </p:spPr>
        </p:sp>
        <p:sp>
          <p:nvSpPr>
            <p:cNvPr id="16413" name="Text Box 36"/>
            <p:cNvSpPr txBox="1"/>
            <p:nvPr/>
          </p:nvSpPr>
          <p:spPr>
            <a:xfrm>
              <a:off x="839" y="1525"/>
              <a:ext cx="907" cy="288"/>
            </a:xfrm>
            <a:prstGeom prst="rect">
              <a:avLst/>
            </a:prstGeom>
            <a:noFill/>
            <a:ln w="28575">
              <a:noFill/>
            </a:ln>
          </p:spPr>
          <p:txBody>
            <a:bodyPr>
              <a:spAutoFit/>
            </a:bodyPr>
            <a:p>
              <a:pPr algn="ctr" eaLnBrk="1" hangingPunct="1">
                <a:spcBef>
                  <a:spcPct val="50000"/>
                </a:spcBef>
              </a:pPr>
              <a:r>
                <a:rPr lang="zh-CN" altLang="en-US" sz="2400" dirty="0">
                  <a:solidFill>
                    <a:srgbClr val="00FF99"/>
                  </a:solidFill>
                  <a:latin typeface="黑体" panose="02010609060101010101" pitchFamily="2" charset="-122"/>
                  <a:ea typeface="黑体" panose="02010609060101010101" pitchFamily="2" charset="-122"/>
                </a:rPr>
                <a:t>总线请求</a:t>
              </a:r>
              <a:endParaRPr lang="zh-CN" altLang="en-US" sz="2400" dirty="0">
                <a:solidFill>
                  <a:srgbClr val="00FF99"/>
                </a:solidFill>
                <a:latin typeface="黑体" panose="02010609060101010101" pitchFamily="2" charset="-122"/>
                <a:ea typeface="黑体" panose="02010609060101010101" pitchFamily="2" charset="-122"/>
              </a:endParaRPr>
            </a:p>
          </p:txBody>
        </p:sp>
      </p:grpSp>
      <p:grpSp>
        <p:nvGrpSpPr>
          <p:cNvPr id="4" name="Group 49"/>
          <p:cNvGrpSpPr/>
          <p:nvPr/>
        </p:nvGrpSpPr>
        <p:grpSpPr>
          <a:xfrm>
            <a:off x="2974975" y="1989138"/>
            <a:ext cx="1438275" cy="889000"/>
            <a:chOff x="1874" y="1253"/>
            <a:chExt cx="906" cy="560"/>
          </a:xfrm>
        </p:grpSpPr>
        <p:sp>
          <p:nvSpPr>
            <p:cNvPr id="16410" name="Text Box 39"/>
            <p:cNvSpPr txBox="1"/>
            <p:nvPr/>
          </p:nvSpPr>
          <p:spPr>
            <a:xfrm>
              <a:off x="1874" y="1525"/>
              <a:ext cx="906" cy="288"/>
            </a:xfrm>
            <a:prstGeom prst="rect">
              <a:avLst/>
            </a:prstGeom>
            <a:noFill/>
            <a:ln w="28575">
              <a:noFill/>
            </a:ln>
          </p:spPr>
          <p:txBody>
            <a:bodyPr>
              <a:spAutoFit/>
            </a:bodyPr>
            <a:p>
              <a:pPr algn="ctr" eaLnBrk="1" hangingPunct="1">
                <a:spcBef>
                  <a:spcPct val="50000"/>
                </a:spcBef>
              </a:pPr>
              <a:r>
                <a:rPr lang="en-US" altLang="zh-CN" sz="2400" dirty="0">
                  <a:solidFill>
                    <a:srgbClr val="00FF99"/>
                  </a:solidFill>
                  <a:latin typeface="黑体" panose="02010609060101010101" pitchFamily="2" charset="-122"/>
                  <a:ea typeface="黑体" panose="02010609060101010101" pitchFamily="2" charset="-122"/>
                </a:rPr>
                <a:t>CPU</a:t>
              </a:r>
              <a:r>
                <a:rPr lang="zh-CN" altLang="en-US" sz="2400" dirty="0">
                  <a:solidFill>
                    <a:srgbClr val="00FF99"/>
                  </a:solidFill>
                  <a:latin typeface="黑体" panose="02010609060101010101" pitchFamily="2" charset="-122"/>
                  <a:ea typeface="黑体" panose="02010609060101010101" pitchFamily="2" charset="-122"/>
                </a:rPr>
                <a:t>响应</a:t>
              </a:r>
              <a:endParaRPr lang="zh-CN" altLang="en-US" sz="2400" dirty="0">
                <a:solidFill>
                  <a:srgbClr val="00FF99"/>
                </a:solidFill>
                <a:latin typeface="黑体" panose="02010609060101010101" pitchFamily="2" charset="-122"/>
                <a:ea typeface="黑体" panose="02010609060101010101" pitchFamily="2" charset="-122"/>
              </a:endParaRPr>
            </a:p>
          </p:txBody>
        </p:sp>
        <p:sp>
          <p:nvSpPr>
            <p:cNvPr id="16411" name="Line 38"/>
            <p:cNvSpPr/>
            <p:nvPr/>
          </p:nvSpPr>
          <p:spPr>
            <a:xfrm flipV="1">
              <a:off x="2109" y="1253"/>
              <a:ext cx="0" cy="272"/>
            </a:xfrm>
            <a:prstGeom prst="line">
              <a:avLst/>
            </a:prstGeom>
            <a:ln w="28575" cap="sq" cmpd="sng">
              <a:solidFill>
                <a:schemeClr val="accent1"/>
              </a:solidFill>
              <a:prstDash val="solid"/>
              <a:headEnd type="none" w="med" len="med"/>
              <a:tailEnd type="triangle" w="med" len="med"/>
            </a:ln>
          </p:spPr>
        </p:sp>
      </p:grpSp>
      <p:grpSp>
        <p:nvGrpSpPr>
          <p:cNvPr id="5" name="Group 50"/>
          <p:cNvGrpSpPr/>
          <p:nvPr/>
        </p:nvGrpSpPr>
        <p:grpSpPr>
          <a:xfrm>
            <a:off x="4572000" y="1989138"/>
            <a:ext cx="1441450" cy="889000"/>
            <a:chOff x="2880" y="1253"/>
            <a:chExt cx="908" cy="560"/>
          </a:xfrm>
        </p:grpSpPr>
        <p:sp>
          <p:nvSpPr>
            <p:cNvPr id="16408" name="Text Box 41"/>
            <p:cNvSpPr txBox="1"/>
            <p:nvPr/>
          </p:nvSpPr>
          <p:spPr>
            <a:xfrm>
              <a:off x="2880" y="1525"/>
              <a:ext cx="908" cy="288"/>
            </a:xfrm>
            <a:prstGeom prst="rect">
              <a:avLst/>
            </a:prstGeom>
            <a:noFill/>
            <a:ln w="28575">
              <a:noFill/>
            </a:ln>
          </p:spPr>
          <p:txBody>
            <a:bodyPr>
              <a:spAutoFit/>
            </a:bodyPr>
            <a:p>
              <a:pPr algn="ctr" eaLnBrk="1" hangingPunct="1">
                <a:spcBef>
                  <a:spcPct val="50000"/>
                </a:spcBef>
              </a:pPr>
              <a:r>
                <a:rPr lang="zh-CN" altLang="en-US" sz="2400" dirty="0">
                  <a:solidFill>
                    <a:srgbClr val="00FF99"/>
                  </a:solidFill>
                  <a:latin typeface="黑体" panose="02010609060101010101" pitchFamily="2" charset="-122"/>
                  <a:ea typeface="黑体" panose="02010609060101010101" pitchFamily="2" charset="-122"/>
                </a:rPr>
                <a:t>释放总线</a:t>
              </a:r>
              <a:endParaRPr lang="zh-CN" altLang="en-US" sz="2400" dirty="0">
                <a:solidFill>
                  <a:srgbClr val="00FF99"/>
                </a:solidFill>
                <a:latin typeface="黑体" panose="02010609060101010101" pitchFamily="2" charset="-122"/>
                <a:ea typeface="黑体" panose="02010609060101010101" pitchFamily="2" charset="-122"/>
              </a:endParaRPr>
            </a:p>
          </p:txBody>
        </p:sp>
        <p:sp>
          <p:nvSpPr>
            <p:cNvPr id="16409" name="Line 40"/>
            <p:cNvSpPr/>
            <p:nvPr/>
          </p:nvSpPr>
          <p:spPr>
            <a:xfrm flipV="1">
              <a:off x="3107" y="1253"/>
              <a:ext cx="0" cy="317"/>
            </a:xfrm>
            <a:prstGeom prst="line">
              <a:avLst/>
            </a:prstGeom>
            <a:ln w="28575" cap="sq" cmpd="sng">
              <a:solidFill>
                <a:schemeClr val="accent1"/>
              </a:solidFill>
              <a:prstDash val="solid"/>
              <a:headEnd type="none" w="med" len="med"/>
              <a:tailEnd type="triangle" w="med" len="med"/>
            </a:ln>
          </p:spPr>
        </p:sp>
      </p:grpSp>
      <p:grpSp>
        <p:nvGrpSpPr>
          <p:cNvPr id="6" name="Group 47"/>
          <p:cNvGrpSpPr/>
          <p:nvPr/>
        </p:nvGrpSpPr>
        <p:grpSpPr>
          <a:xfrm>
            <a:off x="2411413" y="1592263"/>
            <a:ext cx="2520950" cy="396875"/>
            <a:chOff x="1519" y="1003"/>
            <a:chExt cx="1588" cy="250"/>
          </a:xfrm>
        </p:grpSpPr>
        <p:sp>
          <p:nvSpPr>
            <p:cNvPr id="16404" name="Line 42"/>
            <p:cNvSpPr/>
            <p:nvPr/>
          </p:nvSpPr>
          <p:spPr>
            <a:xfrm>
              <a:off x="1519" y="1048"/>
              <a:ext cx="590" cy="0"/>
            </a:xfrm>
            <a:prstGeom prst="line">
              <a:avLst/>
            </a:prstGeom>
            <a:ln w="12700" cap="sq" cmpd="sng">
              <a:solidFill>
                <a:schemeClr val="tx1"/>
              </a:solidFill>
              <a:prstDash val="solid"/>
              <a:headEnd type="stealth" w="lg" len="lg"/>
              <a:tailEnd type="stealth" w="lg" len="lg"/>
            </a:ln>
          </p:spPr>
        </p:sp>
        <p:sp>
          <p:nvSpPr>
            <p:cNvPr id="16405" name="Text Box 44"/>
            <p:cNvSpPr txBox="1"/>
            <p:nvPr/>
          </p:nvSpPr>
          <p:spPr>
            <a:xfrm>
              <a:off x="1655" y="1003"/>
              <a:ext cx="318" cy="250"/>
            </a:xfrm>
            <a:prstGeom prst="rect">
              <a:avLst/>
            </a:prstGeom>
            <a:noFill/>
            <a:ln w="28575">
              <a:noFill/>
            </a:ln>
          </p:spPr>
          <p:txBody>
            <a:bodyPr>
              <a:spAutoFit/>
            </a:bodyPr>
            <a:p>
              <a:pPr algn="ctr" eaLnBrk="1" hangingPunct="1">
                <a:spcBef>
                  <a:spcPct val="50000"/>
                </a:spcBef>
              </a:pPr>
              <a:r>
                <a:rPr lang="en-US" altLang="zh-CN" sz="2000" dirty="0">
                  <a:solidFill>
                    <a:schemeClr val="accent1"/>
                  </a:solidFill>
                  <a:latin typeface="Times New Roman" panose="02020603050405020304" pitchFamily="18" charset="0"/>
                </a:rPr>
                <a:t>nT</a:t>
              </a:r>
              <a:endParaRPr lang="en-US" altLang="zh-CN" sz="2000" dirty="0">
                <a:solidFill>
                  <a:schemeClr val="accent1"/>
                </a:solidFill>
                <a:latin typeface="Times New Roman" panose="02020603050405020304" pitchFamily="18" charset="0"/>
              </a:endParaRPr>
            </a:p>
          </p:txBody>
        </p:sp>
        <p:sp>
          <p:nvSpPr>
            <p:cNvPr id="16406" name="Line 45"/>
            <p:cNvSpPr/>
            <p:nvPr/>
          </p:nvSpPr>
          <p:spPr>
            <a:xfrm>
              <a:off x="2517" y="1048"/>
              <a:ext cx="590" cy="0"/>
            </a:xfrm>
            <a:prstGeom prst="line">
              <a:avLst/>
            </a:prstGeom>
            <a:ln w="12700" cap="sq" cmpd="sng">
              <a:solidFill>
                <a:schemeClr val="tx1"/>
              </a:solidFill>
              <a:prstDash val="solid"/>
              <a:headEnd type="stealth" w="lg" len="lg"/>
              <a:tailEnd type="stealth" w="lg" len="lg"/>
            </a:ln>
          </p:spPr>
        </p:sp>
        <p:sp>
          <p:nvSpPr>
            <p:cNvPr id="16407" name="Text Box 46"/>
            <p:cNvSpPr txBox="1"/>
            <p:nvPr/>
          </p:nvSpPr>
          <p:spPr>
            <a:xfrm>
              <a:off x="2653" y="1003"/>
              <a:ext cx="318" cy="250"/>
            </a:xfrm>
            <a:prstGeom prst="rect">
              <a:avLst/>
            </a:prstGeom>
            <a:noFill/>
            <a:ln w="28575">
              <a:noFill/>
            </a:ln>
          </p:spPr>
          <p:txBody>
            <a:bodyPr>
              <a:spAutoFit/>
            </a:bodyPr>
            <a:p>
              <a:pPr algn="ctr" eaLnBrk="1" hangingPunct="1">
                <a:spcBef>
                  <a:spcPct val="50000"/>
                </a:spcBef>
              </a:pPr>
              <a:r>
                <a:rPr lang="en-US" altLang="zh-CN" sz="2000" dirty="0">
                  <a:solidFill>
                    <a:schemeClr val="accent1"/>
                  </a:solidFill>
                  <a:latin typeface="Times New Roman" panose="02020603050405020304" pitchFamily="18" charset="0"/>
                </a:rPr>
                <a:t>nT</a:t>
              </a:r>
              <a:endParaRPr lang="en-US" altLang="zh-CN" sz="2000" dirty="0">
                <a:solidFill>
                  <a:schemeClr val="accent1"/>
                </a:solidFill>
                <a:latin typeface="Times New Roman" panose="02020603050405020304" pitchFamily="18" charset="0"/>
              </a:endParaRPr>
            </a:p>
          </p:txBody>
        </p:sp>
      </p:grpSp>
      <p:sp>
        <p:nvSpPr>
          <p:cNvPr id="51252" name="Text Box 52"/>
          <p:cNvSpPr txBox="1"/>
          <p:nvPr/>
        </p:nvSpPr>
        <p:spPr>
          <a:xfrm>
            <a:off x="7380288" y="1484313"/>
            <a:ext cx="1441450" cy="1800225"/>
          </a:xfrm>
          <a:prstGeom prst="rect">
            <a:avLst/>
          </a:prstGeom>
          <a:noFill/>
          <a:ln w="28575">
            <a:noFill/>
          </a:ln>
        </p:spPr>
        <p:txBody>
          <a:bodyPr>
            <a:spAutoFit/>
          </a:bodyPr>
          <a:p>
            <a:pPr algn="ctr" eaLnBrk="1" hangingPunct="1">
              <a:spcBef>
                <a:spcPct val="50000"/>
              </a:spcBef>
            </a:pPr>
            <a:r>
              <a:rPr lang="zh-CN" altLang="en-US" sz="2800" dirty="0">
                <a:solidFill>
                  <a:schemeClr val="accent1"/>
                </a:solidFill>
                <a:latin typeface="黑体" panose="02010609060101010101" pitchFamily="2" charset="-122"/>
                <a:ea typeface="黑体" panose="02010609060101010101" pitchFamily="2" charset="-122"/>
              </a:rPr>
              <a:t>同步中引入了异步应答思想</a:t>
            </a:r>
            <a:endParaRPr lang="zh-CN" altLang="en-US" sz="2800" dirty="0">
              <a:solidFill>
                <a:schemeClr val="accent1"/>
              </a:solidFill>
              <a:latin typeface="黑体" panose="02010609060101010101" pitchFamily="2" charset="-122"/>
              <a:ea typeface="黑体" panose="02010609060101010101" pitchFamily="2" charset="-122"/>
            </a:endParaRPr>
          </a:p>
        </p:txBody>
      </p:sp>
      <p:sp>
        <p:nvSpPr>
          <p:cNvPr id="51253" name="Line 53"/>
          <p:cNvSpPr/>
          <p:nvPr/>
        </p:nvSpPr>
        <p:spPr>
          <a:xfrm flipH="1" flipV="1">
            <a:off x="6227763" y="1916113"/>
            <a:ext cx="1150937" cy="576262"/>
          </a:xfrm>
          <a:prstGeom prst="line">
            <a:avLst/>
          </a:prstGeom>
          <a:ln w="76200" cap="sq" cmpd="sng">
            <a:solidFill>
              <a:schemeClr val="tx2"/>
            </a:solidFill>
            <a:prstDash val="solid"/>
            <a:headEnd type="none" w="med" len="med"/>
            <a:tailEnd type="triangle" w="med" len="med"/>
          </a:ln>
        </p:spPr>
      </p:sp>
    </p:spTree>
  </p:cSld>
  <p:clrMapOvr>
    <a:masterClrMapping/>
  </p:clrMapOvr>
  <p:transition spd="slow">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4" name="Text Box 4"/>
          <p:cNvSpPr txBox="1"/>
          <p:nvPr/>
        </p:nvSpPr>
        <p:spPr>
          <a:xfrm>
            <a:off x="355600" y="188913"/>
            <a:ext cx="3352800" cy="579437"/>
          </a:xfrm>
          <a:prstGeom prst="rect">
            <a:avLst/>
          </a:prstGeom>
          <a:noFill/>
          <a:ln w="12700">
            <a:noFill/>
          </a:ln>
        </p:spPr>
        <p:txBody>
          <a:bodyPr>
            <a:spAutoFit/>
          </a:bodyPr>
          <a:p>
            <a:pPr eaLnBrk="1" hangingPunct="1">
              <a:spcBef>
                <a:spcPct val="50000"/>
              </a:spcBef>
            </a:pPr>
            <a:r>
              <a:rPr lang="en-US" altLang="zh-CN" dirty="0">
                <a:solidFill>
                  <a:schemeClr val="accent1"/>
                </a:solidFill>
                <a:latin typeface="黑体" panose="02010609060101010101" pitchFamily="2" charset="-122"/>
                <a:ea typeface="黑体" panose="02010609060101010101" pitchFamily="2" charset="-122"/>
              </a:rPr>
              <a:t>4.</a:t>
            </a:r>
            <a:r>
              <a:rPr lang="zh-CN" altLang="en-US" dirty="0">
                <a:solidFill>
                  <a:schemeClr val="accent1"/>
                </a:solidFill>
                <a:latin typeface="黑体" panose="02010609060101010101" pitchFamily="2" charset="-122"/>
                <a:ea typeface="黑体" panose="02010609060101010101" pitchFamily="2" charset="-122"/>
              </a:rPr>
              <a:t>总线的仲裁</a:t>
            </a:r>
            <a:endParaRPr lang="zh-CN" altLang="en-US" dirty="0">
              <a:solidFill>
                <a:schemeClr val="accent1"/>
              </a:solidFill>
              <a:latin typeface="黑体" panose="02010609060101010101" pitchFamily="2" charset="-122"/>
              <a:ea typeface="黑体" panose="02010609060101010101" pitchFamily="2" charset="-122"/>
            </a:endParaRPr>
          </a:p>
        </p:txBody>
      </p:sp>
      <p:sp>
        <p:nvSpPr>
          <p:cNvPr id="30725" name="Rectangle 5"/>
          <p:cNvSpPr>
            <a:spLocks noGrp="1" noRot="1"/>
          </p:cNvSpPr>
          <p:nvPr>
            <p:ph idx="1"/>
          </p:nvPr>
        </p:nvSpPr>
        <p:spPr>
          <a:xfrm>
            <a:off x="323850" y="927100"/>
            <a:ext cx="8569325" cy="1493838"/>
          </a:xfrm>
          <a:noFill/>
          <a:ln>
            <a:noFill/>
          </a:ln>
        </p:spPr>
        <p:txBody>
          <a:bodyPr/>
          <a:p>
            <a:pPr marL="0" indent="0" eaLnBrk="1" hangingPunct="1">
              <a:lnSpc>
                <a:spcPts val="3600"/>
              </a:lnSpc>
              <a:spcBef>
                <a:spcPct val="0"/>
              </a:spcBef>
              <a:buClr>
                <a:schemeClr val="tx1"/>
              </a:buClr>
              <a:buNone/>
            </a:pPr>
            <a:r>
              <a:rPr lang="zh-CN" altLang="en-US" sz="2800" b="1" dirty="0">
                <a:solidFill>
                  <a:srgbClr val="00FF00"/>
                </a:solidFill>
                <a:ea typeface="黑体" panose="02010609060101010101" pitchFamily="2" charset="-122"/>
              </a:rPr>
              <a:t>总线上可能挂接多个设备，为了解决总线控制权的竞争问题，必须有总线仲裁部件，以某种规则裁决、分配总线的控制权。</a:t>
            </a:r>
            <a:endParaRPr lang="zh-CN" altLang="en-US" sz="2800" b="1" dirty="0">
              <a:solidFill>
                <a:srgbClr val="00FF00"/>
              </a:solidFill>
              <a:ea typeface="黑体" panose="02010609060101010101" pitchFamily="2" charset="-122"/>
            </a:endParaRPr>
          </a:p>
        </p:txBody>
      </p:sp>
      <p:sp>
        <p:nvSpPr>
          <p:cNvPr id="30726" name="Rectangle 6"/>
          <p:cNvSpPr/>
          <p:nvPr/>
        </p:nvSpPr>
        <p:spPr>
          <a:xfrm>
            <a:off x="304800" y="2492375"/>
            <a:ext cx="8534400" cy="1117600"/>
          </a:xfrm>
          <a:prstGeom prst="rect">
            <a:avLst/>
          </a:prstGeom>
          <a:noFill/>
          <a:ln w="12700">
            <a:noFill/>
          </a:ln>
        </p:spPr>
        <p:txBody>
          <a:bodyPr>
            <a:spAutoFit/>
          </a:bodyPr>
          <a:p>
            <a:pPr eaLnBrk="1" hangingPunct="1">
              <a:lnSpc>
                <a:spcPct val="120000"/>
              </a:lnSpc>
              <a:spcBef>
                <a:spcPct val="50000"/>
              </a:spcBef>
              <a:buClr>
                <a:schemeClr val="tx1"/>
              </a:buClr>
              <a:buSzPct val="80000"/>
              <a:buFont typeface="Wingdings" panose="05000000000000000000" pitchFamily="2" charset="2"/>
            </a:pPr>
            <a:r>
              <a:rPr lang="zh-CN" altLang="en-US" sz="2800" dirty="0">
                <a:solidFill>
                  <a:schemeClr val="tx1"/>
                </a:solidFill>
                <a:latin typeface="黑体" panose="02010609060101010101" pitchFamily="2" charset="-122"/>
                <a:ea typeface="黑体" panose="02010609060101010101" pitchFamily="2" charset="-122"/>
              </a:rPr>
              <a:t>多个</a:t>
            </a:r>
            <a:r>
              <a:rPr lang="zh-CN" altLang="en-US" sz="2800" dirty="0">
                <a:solidFill>
                  <a:srgbClr val="FFFF00"/>
                </a:solidFill>
                <a:latin typeface="黑体" panose="02010609060101010101" pitchFamily="2" charset="-122"/>
                <a:ea typeface="黑体" panose="02010609060101010101" pitchFamily="2" charset="-122"/>
              </a:rPr>
              <a:t>主设备</a:t>
            </a:r>
            <a:r>
              <a:rPr lang="zh-CN" altLang="en-US" sz="2800" dirty="0">
                <a:solidFill>
                  <a:schemeClr val="tx1"/>
                </a:solidFill>
                <a:latin typeface="黑体" panose="02010609060101010101" pitchFamily="2" charset="-122"/>
                <a:ea typeface="黑体" panose="02010609060101010101" pitchFamily="2" charset="-122"/>
              </a:rPr>
              <a:t>提出总线控制请求时，一般采用</a:t>
            </a:r>
            <a:r>
              <a:rPr lang="zh-CN" altLang="en-US" sz="2800" dirty="0">
                <a:solidFill>
                  <a:srgbClr val="FFFF00"/>
                </a:solidFill>
                <a:latin typeface="黑体" panose="02010609060101010101" pitchFamily="2" charset="-122"/>
                <a:ea typeface="黑体" panose="02010609060101010101" pitchFamily="2" charset="-122"/>
              </a:rPr>
              <a:t>优先级</a:t>
            </a:r>
            <a:r>
              <a:rPr lang="zh-CN" altLang="en-US" sz="2800" dirty="0">
                <a:solidFill>
                  <a:schemeClr val="tx1"/>
                </a:solidFill>
                <a:latin typeface="黑体" panose="02010609060101010101" pitchFamily="2" charset="-122"/>
                <a:ea typeface="黑体" panose="02010609060101010101" pitchFamily="2" charset="-122"/>
              </a:rPr>
              <a:t>或</a:t>
            </a:r>
            <a:r>
              <a:rPr lang="zh-CN" altLang="en-US" sz="2800" dirty="0">
                <a:solidFill>
                  <a:srgbClr val="FFFF00"/>
                </a:solidFill>
                <a:latin typeface="黑体" panose="02010609060101010101" pitchFamily="2" charset="-122"/>
                <a:ea typeface="黑体" panose="02010609060101010101" pitchFamily="2" charset="-122"/>
              </a:rPr>
              <a:t>公平策略</a:t>
            </a:r>
            <a:r>
              <a:rPr lang="zh-CN" altLang="en-US" sz="2800" dirty="0">
                <a:solidFill>
                  <a:schemeClr val="tx1"/>
                </a:solidFill>
                <a:latin typeface="黑体" panose="02010609060101010101" pitchFamily="2" charset="-122"/>
                <a:ea typeface="黑体" panose="02010609060101010101" pitchFamily="2" charset="-122"/>
              </a:rPr>
              <a:t>进行仲裁。 </a:t>
            </a:r>
            <a:endParaRPr lang="zh-CN" altLang="en-US" sz="2800" dirty="0">
              <a:solidFill>
                <a:schemeClr val="tx1"/>
              </a:solidFill>
              <a:latin typeface="黑体" panose="02010609060101010101" pitchFamily="2" charset="-122"/>
              <a:ea typeface="黑体" panose="02010609060101010101" pitchFamily="2" charset="-122"/>
            </a:endParaRPr>
          </a:p>
        </p:txBody>
      </p:sp>
      <p:sp>
        <p:nvSpPr>
          <p:cNvPr id="30727" name="Rectangle 7"/>
          <p:cNvSpPr/>
          <p:nvPr/>
        </p:nvSpPr>
        <p:spPr>
          <a:xfrm>
            <a:off x="304800" y="3729038"/>
            <a:ext cx="8534400" cy="1727835"/>
          </a:xfrm>
          <a:prstGeom prst="rect">
            <a:avLst/>
          </a:prstGeom>
          <a:noFill/>
          <a:ln w="12700">
            <a:noFill/>
          </a:ln>
        </p:spPr>
        <p:txBody>
          <a:bodyPr>
            <a:spAutoFit/>
          </a:bodyPr>
          <a:p>
            <a:pPr eaLnBrk="1" hangingPunct="1">
              <a:lnSpc>
                <a:spcPct val="120000"/>
              </a:lnSpc>
              <a:spcBef>
                <a:spcPct val="10000"/>
              </a:spcBef>
              <a:buClr>
                <a:schemeClr val="tx1"/>
              </a:buClr>
              <a:buSzPct val="80000"/>
              <a:buFont typeface="Wingdings" panose="05000000000000000000" pitchFamily="2" charset="2"/>
            </a:pPr>
            <a:r>
              <a:rPr lang="zh-CN" altLang="en-US" sz="2800" dirty="0">
                <a:solidFill>
                  <a:schemeClr val="tx1"/>
                </a:solidFill>
                <a:latin typeface="Times New Roman" panose="02020603050405020304" pitchFamily="18" charset="0"/>
                <a:ea typeface="黑体" panose="02010609060101010101" pitchFamily="2" charset="-122"/>
              </a:rPr>
              <a:t>按照总线仲裁电路的位置不同，仲裁方式分为：</a:t>
            </a:r>
            <a:endParaRPr lang="zh-CN" altLang="en-US" sz="2800" dirty="0">
              <a:solidFill>
                <a:schemeClr val="tx1"/>
              </a:solidFill>
              <a:latin typeface="Times New Roman" panose="02020603050405020304" pitchFamily="18" charset="0"/>
              <a:ea typeface="黑体" panose="02010609060101010101" pitchFamily="2" charset="-122"/>
            </a:endParaRPr>
          </a:p>
          <a:p>
            <a:pPr eaLnBrk="1" hangingPunct="1">
              <a:lnSpc>
                <a:spcPct val="120000"/>
              </a:lnSpc>
              <a:spcBef>
                <a:spcPct val="10000"/>
              </a:spcBef>
              <a:buClr>
                <a:schemeClr val="tx1"/>
              </a:buClr>
              <a:buSzPct val="80000"/>
              <a:buFont typeface="Wingdings" panose="05000000000000000000" pitchFamily="2" charset="2"/>
              <a:buChar char="l"/>
            </a:pPr>
            <a:r>
              <a:rPr lang="zh-CN" altLang="en-US" sz="2800" dirty="0">
                <a:solidFill>
                  <a:srgbClr val="FFFF00"/>
                </a:solidFill>
                <a:latin typeface="Times New Roman" panose="02020603050405020304" pitchFamily="18" charset="0"/>
                <a:ea typeface="黑体" panose="02010609060101010101" pitchFamily="2" charset="-122"/>
              </a:rPr>
              <a:t>集中式仲裁；</a:t>
            </a:r>
            <a:endParaRPr lang="zh-CN" altLang="en-US" sz="2800" dirty="0">
              <a:solidFill>
                <a:schemeClr val="tx1"/>
              </a:solidFill>
              <a:latin typeface="Times New Roman" panose="02020603050405020304" pitchFamily="18" charset="0"/>
              <a:ea typeface="黑体" panose="02010609060101010101" pitchFamily="2" charset="-122"/>
            </a:endParaRPr>
          </a:p>
          <a:p>
            <a:pPr eaLnBrk="1" hangingPunct="1">
              <a:lnSpc>
                <a:spcPct val="120000"/>
              </a:lnSpc>
              <a:spcBef>
                <a:spcPct val="10000"/>
              </a:spcBef>
              <a:buClr>
                <a:schemeClr val="tx1"/>
              </a:buClr>
              <a:buSzPct val="80000"/>
              <a:buFont typeface="Wingdings" panose="05000000000000000000" pitchFamily="2" charset="2"/>
              <a:buChar char="l"/>
            </a:pPr>
            <a:r>
              <a:rPr lang="zh-CN" altLang="en-US" sz="2800" dirty="0">
                <a:solidFill>
                  <a:srgbClr val="FFFF00"/>
                </a:solidFill>
                <a:latin typeface="Times New Roman" panose="02020603050405020304" pitchFamily="18" charset="0"/>
                <a:ea typeface="黑体" panose="02010609060101010101" pitchFamily="2" charset="-122"/>
              </a:rPr>
              <a:t> 分布（散）式仲裁</a:t>
            </a:r>
            <a:r>
              <a:rPr lang="zh-CN" altLang="en-US" sz="2800" dirty="0">
                <a:solidFill>
                  <a:schemeClr val="tx1"/>
                </a:solidFill>
                <a:latin typeface="Times New Roman" panose="02020603050405020304" pitchFamily="18" charset="0"/>
                <a:ea typeface="黑体" panose="02010609060101010101" pitchFamily="2" charset="-122"/>
              </a:rPr>
              <a:t>；</a:t>
            </a:r>
            <a:endParaRPr lang="zh-CN" altLang="en-US" sz="2800" dirty="0">
              <a:solidFill>
                <a:schemeClr val="tx1"/>
              </a:solidFill>
              <a:latin typeface="Times New Roman" panose="02020603050405020304" pitchFamily="18" charset="0"/>
              <a:ea typeface="黑体" panose="02010609060101010101" pitchFamily="2" charset="-122"/>
            </a:endParaRPr>
          </a:p>
        </p:txBody>
      </p:sp>
    </p:spTree>
  </p:cSld>
  <p:clrMapOvr>
    <a:masterClrMapping/>
  </p:clrMapOvr>
  <p:transition spd="slow">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8" name="Rectangle 4"/>
          <p:cNvSpPr>
            <a:spLocks noGrp="1" noRot="1" noChangeArrowheads="1"/>
          </p:cNvSpPr>
          <p:nvPr>
            <p:ph type="title"/>
          </p:nvPr>
        </p:nvSpPr>
        <p:spPr bwMode="auto">
          <a:xfrm>
            <a:off x="250825" y="260350"/>
            <a:ext cx="4119563" cy="706438"/>
          </a:xfrm>
          <a:ln>
            <a:noFill/>
            <a:miter lim="800000"/>
          </a:ln>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l"/>
              <a:defRPr/>
            </a:pPr>
            <a:r>
              <a:rPr kumimoji="1" lang="en-US" altLang="zh-CN" sz="3600" b="1" i="0" u="none" strike="noStrike" kern="0" cap="none" spc="0" normalizeH="0" baseline="0" noProof="0">
                <a:ln>
                  <a:noFill/>
                </a:ln>
                <a:solidFill>
                  <a:srgbClr val="FFFF00"/>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j-cs"/>
              </a:rPr>
              <a:t> </a:t>
            </a:r>
            <a:r>
              <a:rPr kumimoji="1" lang="zh-CN" altLang="en-US" sz="3600" b="1" i="0" u="none" strike="noStrike" kern="0" cap="none" spc="0" normalizeH="0" baseline="0" noProof="0">
                <a:ln>
                  <a:noFill/>
                </a:ln>
                <a:solidFill>
                  <a:srgbClr val="FFFF00"/>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j-cs"/>
              </a:rPr>
              <a:t>集中式仲裁</a:t>
            </a:r>
            <a:endParaRPr kumimoji="1" lang="zh-CN" altLang="en-US" sz="3600" b="1" i="0" u="none" strike="noStrike" kern="0" cap="none" spc="0" normalizeH="0" baseline="0" noProof="0">
              <a:ln>
                <a:noFill/>
              </a:ln>
              <a:solidFill>
                <a:srgbClr val="FFFF00"/>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j-cs"/>
            </a:endParaRPr>
          </a:p>
        </p:txBody>
      </p:sp>
      <p:sp>
        <p:nvSpPr>
          <p:cNvPr id="31749" name="Rectangle 5"/>
          <p:cNvSpPr>
            <a:spLocks noGrp="1" noRot="1"/>
          </p:cNvSpPr>
          <p:nvPr>
            <p:ph idx="1"/>
          </p:nvPr>
        </p:nvSpPr>
        <p:spPr>
          <a:xfrm>
            <a:off x="250825" y="1125538"/>
            <a:ext cx="8893175" cy="1943100"/>
          </a:xfrm>
          <a:noFill/>
          <a:ln>
            <a:noFill/>
          </a:ln>
        </p:spPr>
        <p:txBody>
          <a:bodyPr/>
          <a:p>
            <a:pPr algn="just" eaLnBrk="1" hangingPunct="1">
              <a:lnSpc>
                <a:spcPct val="120000"/>
              </a:lnSpc>
              <a:buClr>
                <a:schemeClr val="tx1"/>
              </a:buClr>
              <a:buSzPct val="80000"/>
              <a:buFont typeface="Wingdings" panose="05000000000000000000" pitchFamily="2" charset="2"/>
              <a:buNone/>
            </a:pPr>
            <a:r>
              <a:rPr lang="zh-CN" altLang="en-US" sz="2800" b="1" dirty="0">
                <a:solidFill>
                  <a:srgbClr val="FFFF00"/>
                </a:solidFill>
                <a:latin typeface="黑体" panose="02010609060101010101" pitchFamily="2" charset="-122"/>
                <a:ea typeface="黑体" panose="02010609060101010101" pitchFamily="2" charset="-122"/>
              </a:rPr>
              <a:t>集中式仲裁</a:t>
            </a:r>
            <a:r>
              <a:rPr lang="zh-CN" altLang="en-US" sz="2800" b="1" dirty="0">
                <a:latin typeface="黑体" panose="02010609060101010101" pitchFamily="2" charset="-122"/>
                <a:ea typeface="黑体" panose="02010609060101010101" pitchFamily="2" charset="-122"/>
              </a:rPr>
              <a:t>中每个模块有两条线连到中央仲裁器：</a:t>
            </a:r>
            <a:endParaRPr lang="zh-CN" altLang="en-US" sz="2800" b="1" dirty="0">
              <a:latin typeface="黑体" panose="02010609060101010101" pitchFamily="2" charset="-122"/>
              <a:ea typeface="黑体" panose="02010609060101010101" pitchFamily="2" charset="-122"/>
            </a:endParaRPr>
          </a:p>
          <a:p>
            <a:pPr algn="just" eaLnBrk="1" hangingPunct="1">
              <a:lnSpc>
                <a:spcPct val="120000"/>
              </a:lnSpc>
              <a:buClr>
                <a:schemeClr val="tx1"/>
              </a:buClr>
              <a:buSzPct val="80000"/>
              <a:buFont typeface="Wingdings" panose="05000000000000000000" pitchFamily="2" charset="2"/>
              <a:buChar char="Ø"/>
            </a:pPr>
            <a:r>
              <a:rPr lang="zh-CN" altLang="en-US" sz="2800" b="1" dirty="0">
                <a:solidFill>
                  <a:schemeClr val="accent1"/>
                </a:solidFill>
                <a:latin typeface="黑体" panose="02010609060101010101" pitchFamily="2" charset="-122"/>
                <a:ea typeface="黑体" panose="02010609060101010101" pitchFamily="2" charset="-122"/>
              </a:rPr>
              <a:t>一条是送往仲裁器的总线请求（</a:t>
            </a:r>
            <a:r>
              <a:rPr lang="en-US" altLang="zh-CN" sz="2800" b="1" dirty="0">
                <a:solidFill>
                  <a:schemeClr val="accent1"/>
                </a:solidFill>
                <a:latin typeface="黑体" panose="02010609060101010101" pitchFamily="2" charset="-122"/>
                <a:ea typeface="黑体" panose="02010609060101010101" pitchFamily="2" charset="-122"/>
              </a:rPr>
              <a:t>BR</a:t>
            </a:r>
            <a:r>
              <a:rPr lang="zh-CN" altLang="en-US" sz="2800" b="1" dirty="0">
                <a:solidFill>
                  <a:schemeClr val="accent1"/>
                </a:solidFill>
                <a:latin typeface="黑体" panose="02010609060101010101" pitchFamily="2" charset="-122"/>
                <a:ea typeface="黑体" panose="02010609060101010101" pitchFamily="2" charset="-122"/>
              </a:rPr>
              <a:t>）信号线；</a:t>
            </a:r>
            <a:endParaRPr lang="zh-CN" altLang="en-US" sz="2800" b="1" dirty="0">
              <a:solidFill>
                <a:schemeClr val="accent1"/>
              </a:solidFill>
              <a:latin typeface="黑体" panose="02010609060101010101" pitchFamily="2" charset="-122"/>
              <a:ea typeface="黑体" panose="02010609060101010101" pitchFamily="2" charset="-122"/>
            </a:endParaRPr>
          </a:p>
          <a:p>
            <a:pPr algn="just" eaLnBrk="1" hangingPunct="1">
              <a:lnSpc>
                <a:spcPct val="120000"/>
              </a:lnSpc>
              <a:buClr>
                <a:schemeClr val="tx1"/>
              </a:buClr>
              <a:buSzPct val="80000"/>
              <a:buFont typeface="Wingdings" panose="05000000000000000000" pitchFamily="2" charset="2"/>
              <a:buChar char="Ø"/>
            </a:pPr>
            <a:r>
              <a:rPr lang="zh-CN" altLang="en-US" sz="2800" b="1" dirty="0">
                <a:solidFill>
                  <a:schemeClr val="accent1"/>
                </a:solidFill>
                <a:latin typeface="黑体" panose="02010609060101010101" pitchFamily="2" charset="-122"/>
                <a:ea typeface="黑体" panose="02010609060101010101" pitchFamily="2" charset="-122"/>
              </a:rPr>
              <a:t>一条是仲裁器送出的总线授权（</a:t>
            </a:r>
            <a:r>
              <a:rPr lang="en-US" altLang="zh-CN" sz="2800" b="1" dirty="0">
                <a:solidFill>
                  <a:schemeClr val="accent1"/>
                </a:solidFill>
                <a:latin typeface="黑体" panose="02010609060101010101" pitchFamily="2" charset="-122"/>
                <a:ea typeface="黑体" panose="02010609060101010101" pitchFamily="2" charset="-122"/>
              </a:rPr>
              <a:t>BG</a:t>
            </a:r>
            <a:r>
              <a:rPr lang="zh-CN" altLang="en-US" sz="2800" b="1" dirty="0">
                <a:solidFill>
                  <a:schemeClr val="accent1"/>
                </a:solidFill>
                <a:latin typeface="黑体" panose="02010609060101010101" pitchFamily="2" charset="-122"/>
                <a:ea typeface="黑体" panose="02010609060101010101" pitchFamily="2" charset="-122"/>
              </a:rPr>
              <a:t>）信号线。</a:t>
            </a:r>
            <a:endParaRPr lang="zh-CN" altLang="en-US" sz="2800" b="1" dirty="0">
              <a:solidFill>
                <a:schemeClr val="accent1"/>
              </a:solidFill>
              <a:latin typeface="黑体" panose="02010609060101010101" pitchFamily="2" charset="-122"/>
              <a:ea typeface="黑体" panose="02010609060101010101" pitchFamily="2" charset="-122"/>
            </a:endParaRPr>
          </a:p>
        </p:txBody>
      </p:sp>
      <p:sp>
        <p:nvSpPr>
          <p:cNvPr id="31750" name="Rectangle 6"/>
          <p:cNvSpPr/>
          <p:nvPr/>
        </p:nvSpPr>
        <p:spPr>
          <a:xfrm>
            <a:off x="249238" y="3071813"/>
            <a:ext cx="5978525" cy="579437"/>
          </a:xfrm>
          <a:prstGeom prst="rect">
            <a:avLst/>
          </a:prstGeom>
          <a:noFill/>
          <a:ln w="12700">
            <a:noFill/>
          </a:ln>
        </p:spPr>
        <p:txBody>
          <a:bodyPr>
            <a:spAutoFit/>
          </a:bodyPr>
          <a:p>
            <a:pPr eaLnBrk="1" hangingPunct="1">
              <a:spcBef>
                <a:spcPct val="50000"/>
              </a:spcBef>
              <a:buClr>
                <a:schemeClr val="tx1"/>
              </a:buClr>
              <a:buSzPct val="80000"/>
              <a:buFont typeface="Wingdings" panose="05000000000000000000" pitchFamily="2" charset="2"/>
            </a:pPr>
            <a:r>
              <a:rPr lang="zh-CN" altLang="en-US" dirty="0">
                <a:solidFill>
                  <a:schemeClr val="tx1"/>
                </a:solidFill>
                <a:latin typeface="Times New Roman" panose="02020603050405020304" pitchFamily="18" charset="0"/>
                <a:ea typeface="黑体" panose="02010609060101010101" pitchFamily="2" charset="-122"/>
              </a:rPr>
              <a:t>常用三种仲裁方式：</a:t>
            </a:r>
            <a:endParaRPr lang="zh-CN" altLang="en-US" dirty="0">
              <a:solidFill>
                <a:schemeClr val="tx1"/>
              </a:solidFill>
              <a:latin typeface="Times New Roman" panose="02020603050405020304" pitchFamily="18" charset="0"/>
              <a:ea typeface="黑体" panose="02010609060101010101" pitchFamily="2" charset="-122"/>
            </a:endParaRPr>
          </a:p>
        </p:txBody>
      </p:sp>
      <p:sp>
        <p:nvSpPr>
          <p:cNvPr id="31751" name="Rectangle 7"/>
          <p:cNvSpPr/>
          <p:nvPr/>
        </p:nvSpPr>
        <p:spPr>
          <a:xfrm>
            <a:off x="250825" y="3789363"/>
            <a:ext cx="4176713" cy="2043112"/>
          </a:xfrm>
          <a:prstGeom prst="rect">
            <a:avLst/>
          </a:prstGeom>
          <a:noFill/>
          <a:ln w="12700">
            <a:noFill/>
          </a:ln>
        </p:spPr>
        <p:txBody>
          <a:bodyPr>
            <a:spAutoFit/>
          </a:bodyPr>
          <a:p>
            <a:pPr eaLnBrk="1" hangingPunct="1">
              <a:spcBef>
                <a:spcPct val="50000"/>
              </a:spcBef>
              <a:buClr>
                <a:srgbClr val="FFFF00"/>
              </a:buClr>
              <a:buFont typeface="Wingdings" panose="05000000000000000000" pitchFamily="2" charset="2"/>
              <a:buChar char="ü"/>
            </a:pPr>
            <a:r>
              <a:rPr lang="zh-CN" altLang="en-US" dirty="0">
                <a:solidFill>
                  <a:srgbClr val="FFFF00"/>
                </a:solidFill>
                <a:latin typeface="Times New Roman" panose="02020603050405020304" pitchFamily="18" charset="0"/>
                <a:ea typeface="黑体" panose="02010609060101010101" pitchFamily="2" charset="-122"/>
              </a:rPr>
              <a:t>链式查询；</a:t>
            </a:r>
            <a:endParaRPr lang="zh-CN" altLang="en-US" dirty="0">
              <a:solidFill>
                <a:srgbClr val="FFFF00"/>
              </a:solidFill>
              <a:latin typeface="Times New Roman" panose="02020603050405020304" pitchFamily="18" charset="0"/>
              <a:ea typeface="黑体" panose="02010609060101010101" pitchFamily="2" charset="-122"/>
            </a:endParaRPr>
          </a:p>
          <a:p>
            <a:pPr eaLnBrk="1" hangingPunct="1">
              <a:spcBef>
                <a:spcPct val="50000"/>
              </a:spcBef>
              <a:buClr>
                <a:srgbClr val="FFFF00"/>
              </a:buClr>
              <a:buFont typeface="Wingdings" panose="05000000000000000000" pitchFamily="2" charset="2"/>
              <a:buChar char="ü"/>
            </a:pPr>
            <a:r>
              <a:rPr lang="zh-CN" altLang="en-US" dirty="0">
                <a:solidFill>
                  <a:srgbClr val="FFFF00"/>
                </a:solidFill>
                <a:latin typeface="宋体" panose="02010600030101010101" pitchFamily="2" charset="-122"/>
                <a:ea typeface="黑体" panose="02010609060101010101" pitchFamily="2" charset="-122"/>
              </a:rPr>
              <a:t>计数器定时查询；</a:t>
            </a:r>
            <a:endParaRPr lang="zh-CN" altLang="en-US" dirty="0">
              <a:solidFill>
                <a:srgbClr val="FFFF00"/>
              </a:solidFill>
              <a:latin typeface="宋体" panose="02010600030101010101" pitchFamily="2" charset="-122"/>
              <a:ea typeface="黑体" panose="02010609060101010101" pitchFamily="2" charset="-122"/>
            </a:endParaRPr>
          </a:p>
          <a:p>
            <a:pPr eaLnBrk="1" hangingPunct="1">
              <a:spcBef>
                <a:spcPct val="50000"/>
              </a:spcBef>
              <a:buClr>
                <a:srgbClr val="FFFF00"/>
              </a:buClr>
              <a:buFont typeface="Wingdings" panose="05000000000000000000" pitchFamily="2" charset="2"/>
              <a:buChar char="ü"/>
            </a:pPr>
            <a:r>
              <a:rPr lang="zh-CN" altLang="en-US" dirty="0">
                <a:solidFill>
                  <a:srgbClr val="FFFF00"/>
                </a:solidFill>
                <a:latin typeface="宋体" panose="02010600030101010101" pitchFamily="2" charset="-122"/>
                <a:ea typeface="黑体" panose="02010609060101010101" pitchFamily="2" charset="-122"/>
              </a:rPr>
              <a:t>独立请求方式；</a:t>
            </a:r>
            <a:endParaRPr lang="zh-CN" altLang="en-US" dirty="0">
              <a:solidFill>
                <a:srgbClr val="FFFF00"/>
              </a:solidFill>
              <a:latin typeface="Times New Roman" panose="02020603050405020304" pitchFamily="18" charset="0"/>
              <a:ea typeface="黑体" panose="02010609060101010101" pitchFamily="2" charset="-122"/>
            </a:endParaRPr>
          </a:p>
        </p:txBody>
      </p:sp>
    </p:spTree>
  </p:cSld>
  <p:clrMapOvr>
    <a:masterClrMapping/>
  </p:clrMapOvr>
  <p:transition spd="slow">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849" name="Text Box 57"/>
          <p:cNvSpPr txBox="1"/>
          <p:nvPr/>
        </p:nvSpPr>
        <p:spPr>
          <a:xfrm>
            <a:off x="323850" y="173038"/>
            <a:ext cx="5381625" cy="519112"/>
          </a:xfrm>
          <a:prstGeom prst="rect">
            <a:avLst/>
          </a:prstGeom>
          <a:noFill/>
          <a:ln w="12700">
            <a:noFill/>
          </a:ln>
        </p:spPr>
        <p:txBody>
          <a:bodyPr>
            <a:spAutoFit/>
          </a:bodyPr>
          <a:p>
            <a:pPr eaLnBrk="1" hangingPunct="1">
              <a:spcBef>
                <a:spcPct val="50000"/>
              </a:spcBef>
            </a:pPr>
            <a:r>
              <a:rPr lang="zh-CN" altLang="en-US" sz="2800" dirty="0">
                <a:solidFill>
                  <a:srgbClr val="FFFF00"/>
                </a:solidFill>
                <a:latin typeface="黑体" panose="02010609060101010101" pitchFamily="2" charset="-122"/>
                <a:ea typeface="黑体" panose="02010609060101010101" pitchFamily="2" charset="-122"/>
              </a:rPr>
              <a:t>（</a:t>
            </a:r>
            <a:r>
              <a:rPr lang="en-US" altLang="zh-CN" sz="2800" dirty="0">
                <a:solidFill>
                  <a:srgbClr val="FFFF00"/>
                </a:solidFill>
                <a:latin typeface="黑体" panose="02010609060101010101" pitchFamily="2" charset="-122"/>
                <a:ea typeface="黑体" panose="02010609060101010101" pitchFamily="2" charset="-122"/>
              </a:rPr>
              <a:t>1</a:t>
            </a:r>
            <a:r>
              <a:rPr lang="zh-CN" altLang="en-US" sz="2800" dirty="0">
                <a:solidFill>
                  <a:srgbClr val="FFFF00"/>
                </a:solidFill>
                <a:latin typeface="黑体" panose="02010609060101010101" pitchFamily="2" charset="-122"/>
                <a:ea typeface="黑体" panose="02010609060101010101" pitchFamily="2" charset="-122"/>
              </a:rPr>
              <a:t>）链式查询集中式总线仲裁</a:t>
            </a:r>
            <a:endParaRPr lang="zh-CN" altLang="en-US" sz="2800" dirty="0">
              <a:solidFill>
                <a:srgbClr val="FFFF00"/>
              </a:solidFill>
              <a:latin typeface="黑体" panose="02010609060101010101" pitchFamily="2" charset="-122"/>
              <a:ea typeface="黑体" panose="02010609060101010101" pitchFamily="2" charset="-122"/>
            </a:endParaRPr>
          </a:p>
        </p:txBody>
      </p:sp>
      <p:grpSp>
        <p:nvGrpSpPr>
          <p:cNvPr id="2" name="Group 69"/>
          <p:cNvGrpSpPr/>
          <p:nvPr/>
        </p:nvGrpSpPr>
        <p:grpSpPr>
          <a:xfrm>
            <a:off x="638175" y="1125538"/>
            <a:ext cx="8181975" cy="2566987"/>
            <a:chOff x="432" y="432"/>
            <a:chExt cx="5154" cy="1617"/>
          </a:xfrm>
        </p:grpSpPr>
        <p:sp>
          <p:nvSpPr>
            <p:cNvPr id="19463" name="Line 67"/>
            <p:cNvSpPr/>
            <p:nvPr/>
          </p:nvSpPr>
          <p:spPr>
            <a:xfrm>
              <a:off x="4224" y="1824"/>
              <a:ext cx="288" cy="0"/>
            </a:xfrm>
            <a:prstGeom prst="line">
              <a:avLst/>
            </a:prstGeom>
            <a:ln w="12700" cap="sq" cmpd="sng">
              <a:solidFill>
                <a:schemeClr val="tx1"/>
              </a:solidFill>
              <a:prstDash val="solid"/>
              <a:headEnd type="none" w="med" len="med"/>
              <a:tailEnd type="triangle" w="med" len="med"/>
            </a:ln>
          </p:spPr>
        </p:sp>
        <p:sp>
          <p:nvSpPr>
            <p:cNvPr id="19464" name="Text Box 24"/>
            <p:cNvSpPr txBox="1"/>
            <p:nvPr/>
          </p:nvSpPr>
          <p:spPr>
            <a:xfrm>
              <a:off x="1198" y="1536"/>
              <a:ext cx="888" cy="288"/>
            </a:xfrm>
            <a:prstGeom prst="rect">
              <a:avLst/>
            </a:prstGeom>
            <a:noFill/>
            <a:ln w="12700">
              <a:noFill/>
            </a:ln>
          </p:spPr>
          <p:txBody>
            <a:bodyPr wrap="none">
              <a:spAutoFit/>
            </a:bodyPr>
            <a:p>
              <a:pPr algn="ctr" eaLnBrk="1" hangingPunct="1">
                <a:spcBef>
                  <a:spcPct val="50000"/>
                </a:spcBef>
              </a:pPr>
              <a:r>
                <a:rPr lang="zh-CN" altLang="en-US" sz="2400" dirty="0">
                  <a:solidFill>
                    <a:schemeClr val="tx1"/>
                  </a:solidFill>
                  <a:latin typeface="宋体" panose="02010600030101010101" pitchFamily="2" charset="-122"/>
                </a:rPr>
                <a:t>总线授权</a:t>
              </a:r>
              <a:endParaRPr lang="zh-CN" altLang="en-US" sz="2400" dirty="0">
                <a:solidFill>
                  <a:schemeClr val="tx1"/>
                </a:solidFill>
                <a:latin typeface="宋体" panose="02010600030101010101" pitchFamily="2" charset="-122"/>
              </a:endParaRPr>
            </a:p>
          </p:txBody>
        </p:sp>
        <p:sp>
          <p:nvSpPr>
            <p:cNvPr id="19465" name="Text Box 7"/>
            <p:cNvSpPr txBox="1"/>
            <p:nvPr/>
          </p:nvSpPr>
          <p:spPr>
            <a:xfrm>
              <a:off x="432" y="432"/>
              <a:ext cx="432" cy="1617"/>
            </a:xfrm>
            <a:prstGeom prst="rect">
              <a:avLst/>
            </a:prstGeom>
            <a:solidFill>
              <a:schemeClr val="accent1"/>
            </a:solidFill>
            <a:ln w="38100" cap="sq" cmpd="sng">
              <a:solidFill>
                <a:srgbClr val="FF00FF"/>
              </a:solidFill>
              <a:prstDash val="solid"/>
              <a:miter/>
              <a:headEnd type="none" w="med" len="med"/>
              <a:tailEnd type="none" w="med" len="med"/>
            </a:ln>
            <a:effectLst>
              <a:outerShdw dist="107763" dir="2699999" algn="ctr" rotWithShape="0">
                <a:schemeClr val="bg2">
                  <a:alpha val="50000"/>
                </a:schemeClr>
              </a:outerShdw>
            </a:effectLst>
          </p:spPr>
          <p:txBody>
            <a:bodyPr>
              <a:spAutoFit/>
            </a:bodyPr>
            <a:p>
              <a:pPr algn="ctr" eaLnBrk="1" hangingPunct="1">
                <a:spcBef>
                  <a:spcPct val="50000"/>
                </a:spcBef>
              </a:pPr>
              <a:r>
                <a:rPr lang="zh-CN" altLang="en-US" dirty="0">
                  <a:solidFill>
                    <a:schemeClr val="bg2"/>
                  </a:solidFill>
                  <a:latin typeface="黑体" panose="02010609060101010101" pitchFamily="2" charset="-122"/>
                  <a:ea typeface="黑体" panose="02010609060101010101" pitchFamily="2" charset="-122"/>
                </a:rPr>
                <a:t>总线仲裁器</a:t>
              </a:r>
              <a:endParaRPr lang="zh-CN" altLang="en-US" dirty="0">
                <a:solidFill>
                  <a:schemeClr val="bg2"/>
                </a:solidFill>
                <a:latin typeface="黑体" panose="02010609060101010101" pitchFamily="2" charset="-122"/>
                <a:ea typeface="黑体" panose="02010609060101010101" pitchFamily="2" charset="-122"/>
              </a:endParaRPr>
            </a:p>
          </p:txBody>
        </p:sp>
        <p:sp>
          <p:nvSpPr>
            <p:cNvPr id="19466" name="Line 8"/>
            <p:cNvSpPr/>
            <p:nvPr/>
          </p:nvSpPr>
          <p:spPr>
            <a:xfrm flipH="1">
              <a:off x="864" y="768"/>
              <a:ext cx="4495" cy="0"/>
            </a:xfrm>
            <a:prstGeom prst="line">
              <a:avLst/>
            </a:prstGeom>
            <a:ln w="38100" cap="sq" cmpd="sng">
              <a:solidFill>
                <a:schemeClr val="tx2"/>
              </a:solidFill>
              <a:prstDash val="solid"/>
              <a:headEnd type="none" w="med" len="med"/>
              <a:tailEnd type="stealth" w="lg" len="lg"/>
            </a:ln>
          </p:spPr>
        </p:sp>
        <p:sp>
          <p:nvSpPr>
            <p:cNvPr id="19467" name="Line 12"/>
            <p:cNvSpPr/>
            <p:nvPr/>
          </p:nvSpPr>
          <p:spPr>
            <a:xfrm flipV="1">
              <a:off x="2832" y="768"/>
              <a:ext cx="0" cy="864"/>
            </a:xfrm>
            <a:prstGeom prst="line">
              <a:avLst/>
            </a:prstGeom>
            <a:ln w="28575" cap="sq" cmpd="sng">
              <a:solidFill>
                <a:schemeClr val="tx2"/>
              </a:solidFill>
              <a:prstDash val="solid"/>
              <a:headEnd type="none" w="med" len="med"/>
              <a:tailEnd type="stealth" w="lg" len="lg"/>
            </a:ln>
          </p:spPr>
        </p:sp>
        <p:sp>
          <p:nvSpPr>
            <p:cNvPr id="19468" name="Line 13"/>
            <p:cNvSpPr/>
            <p:nvPr/>
          </p:nvSpPr>
          <p:spPr>
            <a:xfrm flipV="1">
              <a:off x="3840" y="768"/>
              <a:ext cx="0" cy="864"/>
            </a:xfrm>
            <a:prstGeom prst="line">
              <a:avLst/>
            </a:prstGeom>
            <a:ln w="28575" cap="sq" cmpd="sng">
              <a:solidFill>
                <a:schemeClr val="tx2"/>
              </a:solidFill>
              <a:prstDash val="solid"/>
              <a:headEnd type="none" w="med" len="med"/>
              <a:tailEnd type="stealth" w="lg" len="lg"/>
            </a:ln>
          </p:spPr>
        </p:sp>
        <p:sp>
          <p:nvSpPr>
            <p:cNvPr id="19469" name="Line 14"/>
            <p:cNvSpPr/>
            <p:nvPr/>
          </p:nvSpPr>
          <p:spPr>
            <a:xfrm flipV="1">
              <a:off x="4944" y="768"/>
              <a:ext cx="0" cy="864"/>
            </a:xfrm>
            <a:prstGeom prst="line">
              <a:avLst/>
            </a:prstGeom>
            <a:ln w="28575" cap="sq" cmpd="sng">
              <a:solidFill>
                <a:schemeClr val="tx2"/>
              </a:solidFill>
              <a:prstDash val="solid"/>
              <a:headEnd type="none" w="med" len="med"/>
              <a:tailEnd type="stealth" w="lg" len="lg"/>
            </a:ln>
          </p:spPr>
        </p:sp>
        <p:sp>
          <p:nvSpPr>
            <p:cNvPr id="19470" name="Line 15"/>
            <p:cNvSpPr/>
            <p:nvPr/>
          </p:nvSpPr>
          <p:spPr>
            <a:xfrm>
              <a:off x="864" y="1824"/>
              <a:ext cx="1536" cy="0"/>
            </a:xfrm>
            <a:prstGeom prst="line">
              <a:avLst/>
            </a:prstGeom>
            <a:ln w="38100" cap="sq" cmpd="sng">
              <a:solidFill>
                <a:schemeClr val="tx1"/>
              </a:solidFill>
              <a:prstDash val="solid"/>
              <a:headEnd type="none" w="med" len="med"/>
              <a:tailEnd type="stealth" w="lg" len="lg"/>
            </a:ln>
          </p:spPr>
        </p:sp>
        <p:sp>
          <p:nvSpPr>
            <p:cNvPr id="19471" name="Text Box 23"/>
            <p:cNvSpPr txBox="1"/>
            <p:nvPr/>
          </p:nvSpPr>
          <p:spPr>
            <a:xfrm>
              <a:off x="1198" y="477"/>
              <a:ext cx="888" cy="288"/>
            </a:xfrm>
            <a:prstGeom prst="rect">
              <a:avLst/>
            </a:prstGeom>
            <a:noFill/>
            <a:ln w="12700">
              <a:noFill/>
            </a:ln>
          </p:spPr>
          <p:txBody>
            <a:bodyPr wrap="none">
              <a:spAutoFit/>
            </a:bodyPr>
            <a:p>
              <a:pPr algn="ctr" eaLnBrk="1" hangingPunct="1">
                <a:spcBef>
                  <a:spcPct val="50000"/>
                </a:spcBef>
              </a:pPr>
              <a:r>
                <a:rPr lang="zh-CN" altLang="en-US" sz="2400" dirty="0">
                  <a:solidFill>
                    <a:schemeClr val="tx1"/>
                  </a:solidFill>
                  <a:latin typeface="宋体" panose="02010600030101010101" pitchFamily="2" charset="-122"/>
                </a:rPr>
                <a:t>总线请求</a:t>
              </a:r>
              <a:endParaRPr lang="zh-CN" altLang="en-US" sz="2400" dirty="0">
                <a:solidFill>
                  <a:schemeClr val="tx1"/>
                </a:solidFill>
                <a:latin typeface="宋体" panose="02010600030101010101" pitchFamily="2" charset="-122"/>
              </a:endParaRPr>
            </a:p>
          </p:txBody>
        </p:sp>
        <p:sp>
          <p:nvSpPr>
            <p:cNvPr id="19472" name="Line 60"/>
            <p:cNvSpPr/>
            <p:nvPr/>
          </p:nvSpPr>
          <p:spPr>
            <a:xfrm flipH="1">
              <a:off x="864" y="1296"/>
              <a:ext cx="4495" cy="0"/>
            </a:xfrm>
            <a:prstGeom prst="line">
              <a:avLst/>
            </a:prstGeom>
            <a:ln w="38100" cap="sq" cmpd="sng">
              <a:solidFill>
                <a:schemeClr val="accent1"/>
              </a:solidFill>
              <a:prstDash val="solid"/>
              <a:headEnd type="none" w="med" len="med"/>
              <a:tailEnd type="stealth" w="lg" len="lg"/>
            </a:ln>
          </p:spPr>
        </p:sp>
        <p:sp>
          <p:nvSpPr>
            <p:cNvPr id="19473" name="Text Box 61"/>
            <p:cNvSpPr txBox="1"/>
            <p:nvPr/>
          </p:nvSpPr>
          <p:spPr>
            <a:xfrm>
              <a:off x="1200" y="1008"/>
              <a:ext cx="864" cy="288"/>
            </a:xfrm>
            <a:prstGeom prst="rect">
              <a:avLst/>
            </a:prstGeom>
            <a:noFill/>
            <a:ln w="12700">
              <a:noFill/>
            </a:ln>
          </p:spPr>
          <p:txBody>
            <a:bodyPr>
              <a:spAutoFit/>
            </a:bodyPr>
            <a:p>
              <a:pPr algn="ctr" eaLnBrk="1" hangingPunct="1">
                <a:spcBef>
                  <a:spcPct val="50000"/>
                </a:spcBef>
              </a:pPr>
              <a:r>
                <a:rPr lang="zh-CN" altLang="en-US" sz="2400" dirty="0">
                  <a:solidFill>
                    <a:schemeClr val="tx1"/>
                  </a:solidFill>
                  <a:latin typeface="宋体" panose="02010600030101010101" pitchFamily="2" charset="-122"/>
                </a:rPr>
                <a:t>总线忙</a:t>
              </a:r>
              <a:endParaRPr lang="zh-CN" altLang="en-US" sz="2400" dirty="0">
                <a:solidFill>
                  <a:schemeClr val="tx1"/>
                </a:solidFill>
                <a:latin typeface="宋体" panose="02010600030101010101" pitchFamily="2" charset="-122"/>
              </a:endParaRPr>
            </a:p>
          </p:txBody>
        </p:sp>
        <p:sp>
          <p:nvSpPr>
            <p:cNvPr id="19474" name="Text Box 9"/>
            <p:cNvSpPr txBox="1"/>
            <p:nvPr/>
          </p:nvSpPr>
          <p:spPr>
            <a:xfrm>
              <a:off x="2421" y="1653"/>
              <a:ext cx="817" cy="330"/>
            </a:xfrm>
            <a:prstGeom prst="rect">
              <a:avLst/>
            </a:prstGeom>
            <a:solidFill>
              <a:schemeClr val="bg1"/>
            </a:solidFill>
            <a:ln w="28575" cap="sq" cmpd="sng">
              <a:solidFill>
                <a:schemeClr val="folHlink"/>
              </a:solidFill>
              <a:prstDash val="solid"/>
              <a:miter/>
              <a:headEnd type="none" w="med" len="med"/>
              <a:tailEnd type="none" w="med" len="med"/>
            </a:ln>
            <a:effectLst>
              <a:outerShdw dist="107763" dir="2699999" algn="ctr" rotWithShape="0">
                <a:schemeClr val="bg2">
                  <a:alpha val="50000"/>
                </a:schemeClr>
              </a:outerShdw>
            </a:effectLst>
          </p:spPr>
          <p:txBody>
            <a:bodyPr>
              <a:spAutoFit/>
            </a:bodyPr>
            <a:p>
              <a:pPr algn="ctr" eaLnBrk="1" hangingPunct="1">
                <a:spcBef>
                  <a:spcPct val="50000"/>
                </a:spcBef>
              </a:pPr>
              <a:r>
                <a:rPr lang="zh-CN" altLang="en-US" sz="2800" dirty="0">
                  <a:solidFill>
                    <a:srgbClr val="00FF00"/>
                  </a:solidFill>
                  <a:latin typeface="宋体" panose="02010600030101010101" pitchFamily="2" charset="-122"/>
                </a:rPr>
                <a:t>设备</a:t>
              </a:r>
              <a:r>
                <a:rPr lang="en-US" altLang="zh-CN" sz="2800" dirty="0">
                  <a:solidFill>
                    <a:srgbClr val="00FF00"/>
                  </a:solidFill>
                  <a:latin typeface="宋体" panose="02010600030101010101" pitchFamily="2" charset="-122"/>
                </a:rPr>
                <a:t>1</a:t>
              </a:r>
              <a:endParaRPr lang="en-US" altLang="zh-CN" sz="2800" dirty="0">
                <a:solidFill>
                  <a:srgbClr val="00FF00"/>
                </a:solidFill>
                <a:latin typeface="宋体" panose="02010600030101010101" pitchFamily="2" charset="-122"/>
              </a:endParaRPr>
            </a:p>
          </p:txBody>
        </p:sp>
        <p:sp>
          <p:nvSpPr>
            <p:cNvPr id="19475" name="Text Box 10"/>
            <p:cNvSpPr txBox="1"/>
            <p:nvPr/>
          </p:nvSpPr>
          <p:spPr>
            <a:xfrm>
              <a:off x="3492" y="1653"/>
              <a:ext cx="816" cy="330"/>
            </a:xfrm>
            <a:prstGeom prst="rect">
              <a:avLst/>
            </a:prstGeom>
            <a:solidFill>
              <a:schemeClr val="bg1"/>
            </a:solidFill>
            <a:ln w="28575" cap="sq" cmpd="sng">
              <a:solidFill>
                <a:schemeClr val="folHlink"/>
              </a:solidFill>
              <a:prstDash val="solid"/>
              <a:miter/>
              <a:headEnd type="none" w="med" len="med"/>
              <a:tailEnd type="none" w="med" len="med"/>
            </a:ln>
            <a:effectLst>
              <a:outerShdw dist="107763" dir="2699999" algn="ctr" rotWithShape="0">
                <a:schemeClr val="bg2">
                  <a:alpha val="50000"/>
                </a:schemeClr>
              </a:outerShdw>
            </a:effectLst>
          </p:spPr>
          <p:txBody>
            <a:bodyPr>
              <a:spAutoFit/>
            </a:bodyPr>
            <a:p>
              <a:pPr algn="ctr" eaLnBrk="1" hangingPunct="1">
                <a:spcBef>
                  <a:spcPct val="50000"/>
                </a:spcBef>
              </a:pPr>
              <a:r>
                <a:rPr lang="zh-CN" altLang="en-US" sz="2800" dirty="0">
                  <a:solidFill>
                    <a:srgbClr val="00FF00"/>
                  </a:solidFill>
                  <a:latin typeface="宋体" panose="02010600030101010101" pitchFamily="2" charset="-122"/>
                </a:rPr>
                <a:t>设备</a:t>
              </a:r>
              <a:r>
                <a:rPr lang="en-US" altLang="zh-CN" sz="2800" dirty="0">
                  <a:solidFill>
                    <a:srgbClr val="00FF00"/>
                  </a:solidFill>
                  <a:latin typeface="宋体" panose="02010600030101010101" pitchFamily="2" charset="-122"/>
                </a:rPr>
                <a:t>2</a:t>
              </a:r>
              <a:endParaRPr lang="en-US" altLang="zh-CN" sz="2800" dirty="0">
                <a:solidFill>
                  <a:srgbClr val="00FF00"/>
                </a:solidFill>
                <a:latin typeface="宋体" panose="02010600030101010101" pitchFamily="2" charset="-122"/>
              </a:endParaRPr>
            </a:p>
          </p:txBody>
        </p:sp>
        <p:sp>
          <p:nvSpPr>
            <p:cNvPr id="19476" name="Text Box 11"/>
            <p:cNvSpPr txBox="1"/>
            <p:nvPr/>
          </p:nvSpPr>
          <p:spPr>
            <a:xfrm>
              <a:off x="4529" y="1644"/>
              <a:ext cx="817" cy="330"/>
            </a:xfrm>
            <a:prstGeom prst="rect">
              <a:avLst/>
            </a:prstGeom>
            <a:solidFill>
              <a:schemeClr val="bg1"/>
            </a:solidFill>
            <a:ln w="28575" cap="sq" cmpd="sng">
              <a:solidFill>
                <a:schemeClr val="folHlink"/>
              </a:solidFill>
              <a:prstDash val="solid"/>
              <a:miter/>
              <a:headEnd type="none" w="med" len="med"/>
              <a:tailEnd type="none" w="med" len="med"/>
            </a:ln>
            <a:effectLst>
              <a:outerShdw dist="107763" dir="2699999" algn="ctr" rotWithShape="0">
                <a:schemeClr val="bg2">
                  <a:alpha val="50000"/>
                </a:schemeClr>
              </a:outerShdw>
            </a:effectLst>
          </p:spPr>
          <p:txBody>
            <a:bodyPr>
              <a:spAutoFit/>
            </a:bodyPr>
            <a:p>
              <a:pPr algn="ctr" eaLnBrk="1" hangingPunct="1">
                <a:spcBef>
                  <a:spcPct val="50000"/>
                </a:spcBef>
              </a:pPr>
              <a:r>
                <a:rPr lang="zh-CN" altLang="en-US" sz="2800" dirty="0">
                  <a:solidFill>
                    <a:srgbClr val="00FF00"/>
                  </a:solidFill>
                  <a:latin typeface="宋体" panose="02010600030101010101" pitchFamily="2" charset="-122"/>
                </a:rPr>
                <a:t>设备</a:t>
              </a:r>
              <a:r>
                <a:rPr lang="en-US" altLang="zh-CN" sz="2800" dirty="0">
                  <a:solidFill>
                    <a:srgbClr val="00FF00"/>
                  </a:solidFill>
                  <a:latin typeface="宋体" panose="02010600030101010101" pitchFamily="2" charset="-122"/>
                </a:rPr>
                <a:t>n</a:t>
              </a:r>
              <a:endParaRPr lang="en-US" altLang="zh-CN" sz="2800" dirty="0">
                <a:solidFill>
                  <a:srgbClr val="00FF00"/>
                </a:solidFill>
                <a:latin typeface="宋体" panose="02010600030101010101" pitchFamily="2" charset="-122"/>
              </a:endParaRPr>
            </a:p>
          </p:txBody>
        </p:sp>
        <p:sp>
          <p:nvSpPr>
            <p:cNvPr id="19477" name="Line 63"/>
            <p:cNvSpPr/>
            <p:nvPr/>
          </p:nvSpPr>
          <p:spPr>
            <a:xfrm flipV="1">
              <a:off x="3024" y="1296"/>
              <a:ext cx="0" cy="336"/>
            </a:xfrm>
            <a:prstGeom prst="line">
              <a:avLst/>
            </a:prstGeom>
            <a:ln w="28575" cap="sq" cmpd="sng">
              <a:solidFill>
                <a:schemeClr val="accent1"/>
              </a:solidFill>
              <a:prstDash val="solid"/>
              <a:headEnd type="none" w="med" len="med"/>
              <a:tailEnd type="stealth" w="lg" len="lg"/>
            </a:ln>
          </p:spPr>
        </p:sp>
        <p:sp>
          <p:nvSpPr>
            <p:cNvPr id="19478" name="Line 64"/>
            <p:cNvSpPr/>
            <p:nvPr/>
          </p:nvSpPr>
          <p:spPr>
            <a:xfrm flipV="1">
              <a:off x="4032" y="1296"/>
              <a:ext cx="0" cy="336"/>
            </a:xfrm>
            <a:prstGeom prst="line">
              <a:avLst/>
            </a:prstGeom>
            <a:ln w="28575" cap="sq" cmpd="sng">
              <a:solidFill>
                <a:schemeClr val="accent1"/>
              </a:solidFill>
              <a:prstDash val="solid"/>
              <a:headEnd type="none" w="med" len="med"/>
              <a:tailEnd type="stealth" w="lg" len="lg"/>
            </a:ln>
          </p:spPr>
        </p:sp>
        <p:sp>
          <p:nvSpPr>
            <p:cNvPr id="19479" name="Line 65"/>
            <p:cNvSpPr/>
            <p:nvPr/>
          </p:nvSpPr>
          <p:spPr>
            <a:xfrm flipV="1">
              <a:off x="5136" y="1296"/>
              <a:ext cx="0" cy="336"/>
            </a:xfrm>
            <a:prstGeom prst="line">
              <a:avLst/>
            </a:prstGeom>
            <a:ln w="28575" cap="sq" cmpd="sng">
              <a:solidFill>
                <a:schemeClr val="accent1"/>
              </a:solidFill>
              <a:prstDash val="solid"/>
              <a:headEnd type="none" w="med" len="med"/>
              <a:tailEnd type="stealth" w="lg" len="lg"/>
            </a:ln>
          </p:spPr>
        </p:sp>
        <p:sp>
          <p:nvSpPr>
            <p:cNvPr id="19480" name="Line 66"/>
            <p:cNvSpPr/>
            <p:nvPr/>
          </p:nvSpPr>
          <p:spPr>
            <a:xfrm>
              <a:off x="3234" y="1824"/>
              <a:ext cx="192" cy="0"/>
            </a:xfrm>
            <a:prstGeom prst="line">
              <a:avLst/>
            </a:prstGeom>
            <a:ln w="12700" cap="sq" cmpd="sng">
              <a:solidFill>
                <a:schemeClr val="tx1"/>
              </a:solidFill>
              <a:prstDash val="solid"/>
              <a:headEnd type="none" w="med" len="med"/>
              <a:tailEnd type="triangle" w="med" len="med"/>
            </a:ln>
          </p:spPr>
        </p:sp>
        <p:sp>
          <p:nvSpPr>
            <p:cNvPr id="19481" name="Line 68"/>
            <p:cNvSpPr/>
            <p:nvPr/>
          </p:nvSpPr>
          <p:spPr>
            <a:xfrm>
              <a:off x="5346" y="1824"/>
              <a:ext cx="240" cy="0"/>
            </a:xfrm>
            <a:prstGeom prst="line">
              <a:avLst/>
            </a:prstGeom>
            <a:ln w="12700" cap="sq" cmpd="sng">
              <a:solidFill>
                <a:schemeClr val="tx1"/>
              </a:solidFill>
              <a:prstDash val="solid"/>
              <a:headEnd type="none" w="med" len="med"/>
              <a:tailEnd type="triangle" w="med" len="med"/>
            </a:ln>
          </p:spPr>
        </p:sp>
      </p:grpSp>
      <p:sp>
        <p:nvSpPr>
          <p:cNvPr id="33862" name="Rectangle 70"/>
          <p:cNvSpPr/>
          <p:nvPr/>
        </p:nvSpPr>
        <p:spPr>
          <a:xfrm>
            <a:off x="539750" y="4005263"/>
            <a:ext cx="8104188" cy="1127125"/>
          </a:xfrm>
          <a:prstGeom prst="rect">
            <a:avLst/>
          </a:prstGeom>
          <a:noFill/>
          <a:ln w="12700">
            <a:noFill/>
          </a:ln>
        </p:spPr>
        <p:txBody>
          <a:bodyPr anchor="ctr" anchorCtr="0">
            <a:spAutoFit/>
          </a:bodyPr>
          <a:p>
            <a:pPr>
              <a:lnSpc>
                <a:spcPct val="120000"/>
              </a:lnSpc>
            </a:pPr>
            <a:r>
              <a:rPr lang="zh-CN" altLang="en-US" sz="2800" dirty="0">
                <a:solidFill>
                  <a:schemeClr val="tx1"/>
                </a:solidFill>
                <a:latin typeface="黑体" panose="02010609060101010101" pitchFamily="2" charset="-122"/>
                <a:ea typeface="黑体" panose="02010609060101010101" pitchFamily="2" charset="-122"/>
              </a:rPr>
              <a:t>总线授权信号被依次串行地传送到所连接的外围设备上进行比较。 </a:t>
            </a:r>
            <a:endParaRPr lang="zh-CN" altLang="en-US" sz="2800" dirty="0">
              <a:solidFill>
                <a:schemeClr val="tx1"/>
              </a:solidFill>
              <a:latin typeface="黑体" panose="02010609060101010101" pitchFamily="2" charset="-122"/>
              <a:ea typeface="黑体" panose="02010609060101010101" pitchFamily="2" charset="-122"/>
            </a:endParaRPr>
          </a:p>
        </p:txBody>
      </p:sp>
      <p:sp>
        <p:nvSpPr>
          <p:cNvPr id="33864" name="Rectangle 72"/>
          <p:cNvSpPr/>
          <p:nvPr/>
        </p:nvSpPr>
        <p:spPr>
          <a:xfrm>
            <a:off x="525463" y="5267325"/>
            <a:ext cx="8475662" cy="519113"/>
          </a:xfrm>
          <a:prstGeom prst="rect">
            <a:avLst/>
          </a:prstGeom>
          <a:noFill/>
          <a:ln w="12700">
            <a:noFill/>
          </a:ln>
        </p:spPr>
        <p:txBody>
          <a:bodyPr>
            <a:spAutoFit/>
          </a:bodyPr>
          <a:p>
            <a:pPr eaLnBrk="1" hangingPunct="1"/>
            <a:r>
              <a:rPr lang="zh-CN" altLang="en-US" sz="2800" dirty="0">
                <a:solidFill>
                  <a:schemeClr val="tx1"/>
                </a:solidFill>
                <a:latin typeface="黑体" panose="02010609060101010101" pitchFamily="2" charset="-122"/>
                <a:ea typeface="黑体" panose="02010609060101010101" pitchFamily="2" charset="-122"/>
              </a:rPr>
              <a:t>离总线控制器的逻辑距离决定，</a:t>
            </a:r>
            <a:r>
              <a:rPr lang="zh-CN" altLang="en-US" sz="2800" dirty="0">
                <a:solidFill>
                  <a:srgbClr val="FFFF00"/>
                </a:solidFill>
                <a:latin typeface="黑体" panose="02010609060101010101" pitchFamily="2" charset="-122"/>
                <a:ea typeface="黑体" panose="02010609060101010101" pitchFamily="2" charset="-122"/>
              </a:rPr>
              <a:t>越近优先级越高</a:t>
            </a:r>
            <a:r>
              <a:rPr lang="zh-CN" altLang="en-US" sz="2800" dirty="0">
                <a:solidFill>
                  <a:schemeClr val="tx1"/>
                </a:solidFill>
                <a:latin typeface="黑体" panose="02010609060101010101" pitchFamily="2" charset="-122"/>
                <a:ea typeface="黑体" panose="02010609060101010101" pitchFamily="2" charset="-122"/>
              </a:rPr>
              <a:t>。</a:t>
            </a:r>
            <a:endParaRPr lang="zh-CN" altLang="en-US" sz="2800" dirty="0">
              <a:solidFill>
                <a:schemeClr val="tx1"/>
              </a:solidFill>
              <a:latin typeface="黑体" panose="02010609060101010101" pitchFamily="2" charset="-122"/>
              <a:ea typeface="黑体" panose="02010609060101010101" pitchFamily="2" charset="-122"/>
            </a:endParaRPr>
          </a:p>
        </p:txBody>
      </p:sp>
    </p:spTree>
  </p:cSld>
  <p:clrMapOvr>
    <a:masterClrMapping/>
  </p:clrMapOvr>
  <p:transition spd="slow">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85"/>
          <p:cNvGrpSpPr/>
          <p:nvPr/>
        </p:nvGrpSpPr>
        <p:grpSpPr>
          <a:xfrm>
            <a:off x="685800" y="957263"/>
            <a:ext cx="8110538" cy="3005137"/>
            <a:chOff x="432" y="384"/>
            <a:chExt cx="5109" cy="1893"/>
          </a:xfrm>
        </p:grpSpPr>
        <p:sp>
          <p:nvSpPr>
            <p:cNvPr id="20487" name="Line 65"/>
            <p:cNvSpPr/>
            <p:nvPr/>
          </p:nvSpPr>
          <p:spPr>
            <a:xfrm flipV="1">
              <a:off x="3936" y="1968"/>
              <a:ext cx="0" cy="288"/>
            </a:xfrm>
            <a:prstGeom prst="line">
              <a:avLst/>
            </a:prstGeom>
            <a:ln w="28575" cap="sq" cmpd="sng">
              <a:solidFill>
                <a:schemeClr val="tx1"/>
              </a:solidFill>
              <a:prstDash val="solid"/>
              <a:headEnd type="oval" w="med" len="med"/>
              <a:tailEnd type="triangle" w="med" len="med"/>
            </a:ln>
          </p:spPr>
        </p:sp>
        <p:sp>
          <p:nvSpPr>
            <p:cNvPr id="20488" name="Text Box 66"/>
            <p:cNvSpPr txBox="1"/>
            <p:nvPr/>
          </p:nvSpPr>
          <p:spPr>
            <a:xfrm>
              <a:off x="957" y="1887"/>
              <a:ext cx="1466" cy="327"/>
            </a:xfrm>
            <a:prstGeom prst="rect">
              <a:avLst/>
            </a:prstGeom>
            <a:noFill/>
            <a:ln w="12700">
              <a:noFill/>
            </a:ln>
          </p:spPr>
          <p:txBody>
            <a:bodyPr wrap="none">
              <a:spAutoFit/>
            </a:bodyPr>
            <a:p>
              <a:pPr algn="ctr" eaLnBrk="1" hangingPunct="1">
                <a:spcBef>
                  <a:spcPct val="50000"/>
                </a:spcBef>
              </a:pPr>
              <a:r>
                <a:rPr lang="zh-CN" altLang="en-US" sz="2800" dirty="0">
                  <a:solidFill>
                    <a:srgbClr val="FFFF00"/>
                  </a:solidFill>
                  <a:latin typeface="黑体" panose="02010609060101010101" pitchFamily="2" charset="-122"/>
                  <a:ea typeface="黑体" panose="02010609060101010101" pitchFamily="2" charset="-122"/>
                </a:rPr>
                <a:t>定时查询计数</a:t>
              </a:r>
              <a:endParaRPr lang="zh-CN" altLang="en-US" sz="2800" dirty="0">
                <a:solidFill>
                  <a:srgbClr val="FFFF00"/>
                </a:solidFill>
                <a:latin typeface="黑体" panose="02010609060101010101" pitchFamily="2" charset="-122"/>
                <a:ea typeface="黑体" panose="02010609060101010101" pitchFamily="2" charset="-122"/>
              </a:endParaRPr>
            </a:p>
          </p:txBody>
        </p:sp>
        <p:sp>
          <p:nvSpPr>
            <p:cNvPr id="20489" name="Text Box 67"/>
            <p:cNvSpPr txBox="1"/>
            <p:nvPr/>
          </p:nvSpPr>
          <p:spPr>
            <a:xfrm>
              <a:off x="432" y="384"/>
              <a:ext cx="432" cy="1611"/>
            </a:xfrm>
            <a:prstGeom prst="rect">
              <a:avLst/>
            </a:prstGeom>
            <a:solidFill>
              <a:schemeClr val="accent1"/>
            </a:solidFill>
            <a:ln w="28575" cap="sq" cmpd="sng">
              <a:solidFill>
                <a:srgbClr val="FF00FF"/>
              </a:solidFill>
              <a:prstDash val="solid"/>
              <a:miter/>
              <a:headEnd type="none" w="med" len="med"/>
              <a:tailEnd type="none" w="med" len="med"/>
            </a:ln>
            <a:effectLst>
              <a:outerShdw dist="107763" dir="2699999" algn="ctr" rotWithShape="0">
                <a:schemeClr val="bg2">
                  <a:alpha val="50000"/>
                </a:schemeClr>
              </a:outerShdw>
            </a:effectLst>
          </p:spPr>
          <p:txBody>
            <a:bodyPr>
              <a:spAutoFit/>
            </a:bodyPr>
            <a:p>
              <a:pPr algn="ctr" eaLnBrk="1" hangingPunct="1">
                <a:spcBef>
                  <a:spcPct val="50000"/>
                </a:spcBef>
              </a:pPr>
              <a:r>
                <a:rPr lang="zh-CN" altLang="en-US" dirty="0">
                  <a:solidFill>
                    <a:schemeClr val="bg2"/>
                  </a:solidFill>
                  <a:latin typeface="黑体" panose="02010609060101010101" pitchFamily="2" charset="-122"/>
                  <a:ea typeface="黑体" panose="02010609060101010101" pitchFamily="2" charset="-122"/>
                </a:rPr>
                <a:t>总线仲裁器</a:t>
              </a:r>
              <a:endParaRPr lang="zh-CN" altLang="en-US" dirty="0">
                <a:solidFill>
                  <a:schemeClr val="bg2"/>
                </a:solidFill>
                <a:latin typeface="黑体" panose="02010609060101010101" pitchFamily="2" charset="-122"/>
                <a:ea typeface="黑体" panose="02010609060101010101" pitchFamily="2" charset="-122"/>
              </a:endParaRPr>
            </a:p>
          </p:txBody>
        </p:sp>
        <p:sp>
          <p:nvSpPr>
            <p:cNvPr id="20490" name="Line 68"/>
            <p:cNvSpPr/>
            <p:nvPr/>
          </p:nvSpPr>
          <p:spPr>
            <a:xfrm flipH="1">
              <a:off x="864" y="720"/>
              <a:ext cx="4495" cy="0"/>
            </a:xfrm>
            <a:prstGeom prst="line">
              <a:avLst/>
            </a:prstGeom>
            <a:ln w="28575" cap="sq" cmpd="sng">
              <a:solidFill>
                <a:schemeClr val="tx2"/>
              </a:solidFill>
              <a:prstDash val="solid"/>
              <a:headEnd type="none" w="med" len="med"/>
              <a:tailEnd type="stealth" w="lg" len="lg"/>
            </a:ln>
          </p:spPr>
        </p:sp>
        <p:sp>
          <p:nvSpPr>
            <p:cNvPr id="20491" name="Line 69"/>
            <p:cNvSpPr/>
            <p:nvPr/>
          </p:nvSpPr>
          <p:spPr>
            <a:xfrm flipV="1">
              <a:off x="2832" y="720"/>
              <a:ext cx="0" cy="864"/>
            </a:xfrm>
            <a:prstGeom prst="line">
              <a:avLst/>
            </a:prstGeom>
            <a:ln w="28575" cap="sq" cmpd="sng">
              <a:solidFill>
                <a:schemeClr val="tx2"/>
              </a:solidFill>
              <a:prstDash val="solid"/>
              <a:headEnd type="none" w="med" len="med"/>
              <a:tailEnd type="triangle" w="med" len="med"/>
            </a:ln>
          </p:spPr>
        </p:sp>
        <p:sp>
          <p:nvSpPr>
            <p:cNvPr id="20492" name="Line 70"/>
            <p:cNvSpPr/>
            <p:nvPr/>
          </p:nvSpPr>
          <p:spPr>
            <a:xfrm flipV="1">
              <a:off x="3840" y="720"/>
              <a:ext cx="0" cy="864"/>
            </a:xfrm>
            <a:prstGeom prst="line">
              <a:avLst/>
            </a:prstGeom>
            <a:ln w="28575" cap="sq" cmpd="sng">
              <a:solidFill>
                <a:schemeClr val="tx2"/>
              </a:solidFill>
              <a:prstDash val="solid"/>
              <a:headEnd type="none" w="med" len="med"/>
              <a:tailEnd type="triangle" w="med" len="med"/>
            </a:ln>
          </p:spPr>
        </p:sp>
        <p:sp>
          <p:nvSpPr>
            <p:cNvPr id="20493" name="Line 71"/>
            <p:cNvSpPr/>
            <p:nvPr/>
          </p:nvSpPr>
          <p:spPr>
            <a:xfrm flipV="1">
              <a:off x="4944" y="720"/>
              <a:ext cx="0" cy="864"/>
            </a:xfrm>
            <a:prstGeom prst="line">
              <a:avLst/>
            </a:prstGeom>
            <a:ln w="28575" cap="sq" cmpd="sng">
              <a:solidFill>
                <a:schemeClr val="tx2"/>
              </a:solidFill>
              <a:prstDash val="solid"/>
              <a:headEnd type="none" w="med" len="med"/>
              <a:tailEnd type="triangle" w="med" len="med"/>
            </a:ln>
          </p:spPr>
        </p:sp>
        <p:sp>
          <p:nvSpPr>
            <p:cNvPr id="20494" name="Line 72"/>
            <p:cNvSpPr/>
            <p:nvPr/>
          </p:nvSpPr>
          <p:spPr>
            <a:xfrm>
              <a:off x="645" y="2265"/>
              <a:ext cx="4896" cy="0"/>
            </a:xfrm>
            <a:prstGeom prst="line">
              <a:avLst/>
            </a:prstGeom>
            <a:ln w="28575" cap="sq" cmpd="sng">
              <a:solidFill>
                <a:schemeClr val="tx1"/>
              </a:solidFill>
              <a:prstDash val="solid"/>
              <a:headEnd type="oval" w="med" len="med"/>
              <a:tailEnd type="triangle" w="med" len="med"/>
            </a:ln>
          </p:spPr>
        </p:sp>
        <p:sp>
          <p:nvSpPr>
            <p:cNvPr id="20495" name="Text Box 73"/>
            <p:cNvSpPr txBox="1"/>
            <p:nvPr/>
          </p:nvSpPr>
          <p:spPr>
            <a:xfrm>
              <a:off x="1200" y="429"/>
              <a:ext cx="888" cy="288"/>
            </a:xfrm>
            <a:prstGeom prst="rect">
              <a:avLst/>
            </a:prstGeom>
            <a:noFill/>
            <a:ln w="12700">
              <a:noFill/>
            </a:ln>
          </p:spPr>
          <p:txBody>
            <a:bodyPr wrap="none">
              <a:spAutoFit/>
            </a:bodyPr>
            <a:p>
              <a:pPr eaLnBrk="1" hangingPunct="1">
                <a:spcBef>
                  <a:spcPct val="50000"/>
                </a:spcBef>
              </a:pPr>
              <a:r>
                <a:rPr lang="zh-CN" altLang="en-US" sz="2400" dirty="0">
                  <a:solidFill>
                    <a:schemeClr val="tx1"/>
                  </a:solidFill>
                  <a:latin typeface="宋体" panose="02010600030101010101" pitchFamily="2" charset="-122"/>
                </a:rPr>
                <a:t>总线请求</a:t>
              </a:r>
              <a:endParaRPr lang="zh-CN" altLang="en-US" sz="2400" dirty="0">
                <a:solidFill>
                  <a:schemeClr val="tx1"/>
                </a:solidFill>
                <a:latin typeface="宋体" panose="02010600030101010101" pitchFamily="2" charset="-122"/>
              </a:endParaRPr>
            </a:p>
          </p:txBody>
        </p:sp>
        <p:sp>
          <p:nvSpPr>
            <p:cNvPr id="20496" name="Line 74"/>
            <p:cNvSpPr/>
            <p:nvPr/>
          </p:nvSpPr>
          <p:spPr>
            <a:xfrm flipH="1">
              <a:off x="864" y="1248"/>
              <a:ext cx="4495" cy="0"/>
            </a:xfrm>
            <a:prstGeom prst="line">
              <a:avLst/>
            </a:prstGeom>
            <a:ln w="28575" cap="sq" cmpd="sng">
              <a:solidFill>
                <a:schemeClr val="accent1"/>
              </a:solidFill>
              <a:prstDash val="solid"/>
              <a:headEnd type="none" w="med" len="med"/>
              <a:tailEnd type="stealth" w="lg" len="lg"/>
            </a:ln>
          </p:spPr>
        </p:sp>
        <p:sp>
          <p:nvSpPr>
            <p:cNvPr id="20497" name="Text Box 75"/>
            <p:cNvSpPr txBox="1"/>
            <p:nvPr/>
          </p:nvSpPr>
          <p:spPr>
            <a:xfrm>
              <a:off x="1200" y="960"/>
              <a:ext cx="864" cy="288"/>
            </a:xfrm>
            <a:prstGeom prst="rect">
              <a:avLst/>
            </a:prstGeom>
            <a:noFill/>
            <a:ln w="12700">
              <a:noFill/>
            </a:ln>
          </p:spPr>
          <p:txBody>
            <a:bodyPr>
              <a:spAutoFit/>
            </a:bodyPr>
            <a:p>
              <a:pPr algn="ctr" eaLnBrk="1" hangingPunct="1">
                <a:spcBef>
                  <a:spcPct val="50000"/>
                </a:spcBef>
              </a:pPr>
              <a:r>
                <a:rPr lang="zh-CN" altLang="en-US" sz="2400" dirty="0">
                  <a:solidFill>
                    <a:schemeClr val="tx1"/>
                  </a:solidFill>
                  <a:latin typeface="宋体" panose="02010600030101010101" pitchFamily="2" charset="-122"/>
                </a:rPr>
                <a:t>总线忙</a:t>
              </a:r>
              <a:endParaRPr lang="zh-CN" altLang="en-US" sz="2400" dirty="0">
                <a:solidFill>
                  <a:schemeClr val="tx1"/>
                </a:solidFill>
                <a:latin typeface="宋体" panose="02010600030101010101" pitchFamily="2" charset="-122"/>
              </a:endParaRPr>
            </a:p>
          </p:txBody>
        </p:sp>
        <p:sp>
          <p:nvSpPr>
            <p:cNvPr id="20498" name="Text Box 76"/>
            <p:cNvSpPr txBox="1"/>
            <p:nvPr/>
          </p:nvSpPr>
          <p:spPr>
            <a:xfrm>
              <a:off x="2421" y="1605"/>
              <a:ext cx="817" cy="345"/>
            </a:xfrm>
            <a:prstGeom prst="rect">
              <a:avLst/>
            </a:prstGeom>
            <a:solidFill>
              <a:schemeClr val="bg1"/>
            </a:solidFill>
            <a:ln w="28575" cap="sq" cmpd="sng">
              <a:solidFill>
                <a:schemeClr val="folHlink"/>
              </a:solidFill>
              <a:prstDash val="solid"/>
              <a:miter/>
              <a:headEnd type="none" w="med" len="med"/>
              <a:tailEnd type="none" w="med" len="med"/>
            </a:ln>
            <a:effectLst>
              <a:outerShdw dist="107763" dir="2699999" algn="ctr" rotWithShape="0">
                <a:schemeClr val="bg2">
                  <a:alpha val="50000"/>
                </a:schemeClr>
              </a:outerShdw>
            </a:effectLst>
          </p:spPr>
          <p:txBody>
            <a:bodyPr>
              <a:spAutoFit/>
            </a:bodyPr>
            <a:p>
              <a:pPr algn="ctr" eaLnBrk="1" hangingPunct="1">
                <a:spcBef>
                  <a:spcPct val="50000"/>
                </a:spcBef>
              </a:pPr>
              <a:r>
                <a:rPr lang="zh-CN" altLang="en-US" sz="2800" dirty="0">
                  <a:solidFill>
                    <a:schemeClr val="tx1"/>
                  </a:solidFill>
                  <a:latin typeface="宋体" panose="02010600030101010101" pitchFamily="2" charset="-122"/>
                </a:rPr>
                <a:t>设备</a:t>
              </a:r>
              <a:r>
                <a:rPr lang="en-US" altLang="zh-CN" sz="2800" dirty="0">
                  <a:solidFill>
                    <a:schemeClr val="tx1"/>
                  </a:solidFill>
                  <a:latin typeface="宋体" panose="02010600030101010101" pitchFamily="2" charset="-122"/>
                </a:rPr>
                <a:t>1</a:t>
              </a:r>
              <a:endParaRPr lang="en-US" altLang="zh-CN" sz="2800" dirty="0">
                <a:solidFill>
                  <a:schemeClr val="tx1"/>
                </a:solidFill>
                <a:latin typeface="宋体" panose="02010600030101010101" pitchFamily="2" charset="-122"/>
              </a:endParaRPr>
            </a:p>
          </p:txBody>
        </p:sp>
        <p:sp>
          <p:nvSpPr>
            <p:cNvPr id="20499" name="Text Box 77"/>
            <p:cNvSpPr txBox="1"/>
            <p:nvPr/>
          </p:nvSpPr>
          <p:spPr>
            <a:xfrm>
              <a:off x="3492" y="1605"/>
              <a:ext cx="816" cy="345"/>
            </a:xfrm>
            <a:prstGeom prst="rect">
              <a:avLst/>
            </a:prstGeom>
            <a:solidFill>
              <a:schemeClr val="bg1"/>
            </a:solidFill>
            <a:ln w="28575" cap="sq" cmpd="sng">
              <a:solidFill>
                <a:schemeClr val="folHlink"/>
              </a:solidFill>
              <a:prstDash val="solid"/>
              <a:miter/>
              <a:headEnd type="none" w="med" len="med"/>
              <a:tailEnd type="none" w="med" len="med"/>
            </a:ln>
            <a:effectLst>
              <a:outerShdw dist="107763" dir="2699999" algn="ctr" rotWithShape="0">
                <a:schemeClr val="bg2">
                  <a:alpha val="50000"/>
                </a:schemeClr>
              </a:outerShdw>
            </a:effectLst>
          </p:spPr>
          <p:txBody>
            <a:bodyPr>
              <a:spAutoFit/>
            </a:bodyPr>
            <a:p>
              <a:pPr algn="ctr" eaLnBrk="1" hangingPunct="1">
                <a:spcBef>
                  <a:spcPct val="50000"/>
                </a:spcBef>
              </a:pPr>
              <a:r>
                <a:rPr lang="zh-CN" altLang="en-US" sz="2800" dirty="0">
                  <a:solidFill>
                    <a:schemeClr val="tx1"/>
                  </a:solidFill>
                  <a:latin typeface="宋体" panose="02010600030101010101" pitchFamily="2" charset="-122"/>
                </a:rPr>
                <a:t>设备</a:t>
              </a:r>
              <a:r>
                <a:rPr lang="en-US" altLang="zh-CN" sz="2800" dirty="0">
                  <a:solidFill>
                    <a:schemeClr val="tx1"/>
                  </a:solidFill>
                  <a:latin typeface="宋体" panose="02010600030101010101" pitchFamily="2" charset="-122"/>
                </a:rPr>
                <a:t>2</a:t>
              </a:r>
              <a:endParaRPr lang="en-US" altLang="zh-CN" sz="2800" dirty="0">
                <a:solidFill>
                  <a:schemeClr val="tx1"/>
                </a:solidFill>
                <a:latin typeface="宋体" panose="02010600030101010101" pitchFamily="2" charset="-122"/>
              </a:endParaRPr>
            </a:p>
          </p:txBody>
        </p:sp>
        <p:sp>
          <p:nvSpPr>
            <p:cNvPr id="20500" name="Text Box 78"/>
            <p:cNvSpPr txBox="1"/>
            <p:nvPr/>
          </p:nvSpPr>
          <p:spPr>
            <a:xfrm>
              <a:off x="4529" y="1596"/>
              <a:ext cx="817" cy="345"/>
            </a:xfrm>
            <a:prstGeom prst="rect">
              <a:avLst/>
            </a:prstGeom>
            <a:solidFill>
              <a:schemeClr val="bg1"/>
            </a:solidFill>
            <a:ln w="28575" cap="sq" cmpd="sng">
              <a:solidFill>
                <a:schemeClr val="folHlink"/>
              </a:solidFill>
              <a:prstDash val="solid"/>
              <a:miter/>
              <a:headEnd type="none" w="med" len="med"/>
              <a:tailEnd type="none" w="med" len="med"/>
            </a:ln>
            <a:effectLst>
              <a:outerShdw dist="107763" dir="2699999" algn="ctr" rotWithShape="0">
                <a:schemeClr val="bg2">
                  <a:alpha val="50000"/>
                </a:schemeClr>
              </a:outerShdw>
            </a:effectLst>
          </p:spPr>
          <p:txBody>
            <a:bodyPr>
              <a:spAutoFit/>
            </a:bodyPr>
            <a:p>
              <a:pPr algn="ctr" eaLnBrk="1" hangingPunct="1">
                <a:spcBef>
                  <a:spcPct val="50000"/>
                </a:spcBef>
              </a:pPr>
              <a:r>
                <a:rPr lang="zh-CN" altLang="en-US" sz="2800" dirty="0">
                  <a:solidFill>
                    <a:schemeClr val="tx1"/>
                  </a:solidFill>
                  <a:latin typeface="宋体" panose="02010600030101010101" pitchFamily="2" charset="-122"/>
                </a:rPr>
                <a:t>设备</a:t>
              </a:r>
              <a:r>
                <a:rPr lang="en-US" altLang="zh-CN" sz="2800" dirty="0">
                  <a:solidFill>
                    <a:schemeClr val="tx1"/>
                  </a:solidFill>
                  <a:latin typeface="宋体" panose="02010600030101010101" pitchFamily="2" charset="-122"/>
                </a:rPr>
                <a:t>n</a:t>
              </a:r>
              <a:endParaRPr lang="en-US" altLang="zh-CN" sz="2800" dirty="0">
                <a:solidFill>
                  <a:schemeClr val="tx1"/>
                </a:solidFill>
                <a:latin typeface="宋体" panose="02010600030101010101" pitchFamily="2" charset="-122"/>
              </a:endParaRPr>
            </a:p>
          </p:txBody>
        </p:sp>
        <p:sp>
          <p:nvSpPr>
            <p:cNvPr id="20501" name="Line 79"/>
            <p:cNvSpPr/>
            <p:nvPr/>
          </p:nvSpPr>
          <p:spPr>
            <a:xfrm flipV="1">
              <a:off x="3024" y="1248"/>
              <a:ext cx="0" cy="336"/>
            </a:xfrm>
            <a:prstGeom prst="line">
              <a:avLst/>
            </a:prstGeom>
            <a:ln w="28575" cap="sq" cmpd="sng">
              <a:solidFill>
                <a:schemeClr val="accent1"/>
              </a:solidFill>
              <a:prstDash val="solid"/>
              <a:headEnd type="none" w="med" len="med"/>
              <a:tailEnd type="triangle" w="med" len="med"/>
            </a:ln>
          </p:spPr>
        </p:sp>
        <p:sp>
          <p:nvSpPr>
            <p:cNvPr id="20502" name="Line 80"/>
            <p:cNvSpPr/>
            <p:nvPr/>
          </p:nvSpPr>
          <p:spPr>
            <a:xfrm flipV="1">
              <a:off x="4032" y="1248"/>
              <a:ext cx="0" cy="336"/>
            </a:xfrm>
            <a:prstGeom prst="line">
              <a:avLst/>
            </a:prstGeom>
            <a:ln w="28575" cap="sq" cmpd="sng">
              <a:solidFill>
                <a:schemeClr val="accent1"/>
              </a:solidFill>
              <a:prstDash val="solid"/>
              <a:headEnd type="none" w="med" len="med"/>
              <a:tailEnd type="triangle" w="med" len="med"/>
            </a:ln>
          </p:spPr>
        </p:sp>
        <p:sp>
          <p:nvSpPr>
            <p:cNvPr id="20503" name="Line 81"/>
            <p:cNvSpPr/>
            <p:nvPr/>
          </p:nvSpPr>
          <p:spPr>
            <a:xfrm flipV="1">
              <a:off x="5136" y="1248"/>
              <a:ext cx="0" cy="336"/>
            </a:xfrm>
            <a:prstGeom prst="line">
              <a:avLst/>
            </a:prstGeom>
            <a:ln w="28575" cap="sq" cmpd="sng">
              <a:solidFill>
                <a:schemeClr val="accent1"/>
              </a:solidFill>
              <a:prstDash val="solid"/>
              <a:headEnd type="none" w="med" len="med"/>
              <a:tailEnd type="triangle" w="med" len="med"/>
            </a:ln>
          </p:spPr>
        </p:sp>
        <p:sp>
          <p:nvSpPr>
            <p:cNvPr id="20504" name="Line 82"/>
            <p:cNvSpPr/>
            <p:nvPr/>
          </p:nvSpPr>
          <p:spPr>
            <a:xfrm flipV="1">
              <a:off x="2832" y="1968"/>
              <a:ext cx="0" cy="288"/>
            </a:xfrm>
            <a:prstGeom prst="line">
              <a:avLst/>
            </a:prstGeom>
            <a:ln w="28575" cap="sq" cmpd="sng">
              <a:solidFill>
                <a:schemeClr val="tx1"/>
              </a:solidFill>
              <a:prstDash val="solid"/>
              <a:headEnd type="oval" w="med" len="med"/>
              <a:tailEnd type="triangle" w="med" len="med"/>
            </a:ln>
          </p:spPr>
        </p:sp>
        <p:sp>
          <p:nvSpPr>
            <p:cNvPr id="20505" name="Line 83"/>
            <p:cNvSpPr/>
            <p:nvPr/>
          </p:nvSpPr>
          <p:spPr>
            <a:xfrm flipV="1">
              <a:off x="4944" y="1968"/>
              <a:ext cx="0" cy="288"/>
            </a:xfrm>
            <a:prstGeom prst="line">
              <a:avLst/>
            </a:prstGeom>
            <a:ln w="28575" cap="sq" cmpd="sng">
              <a:solidFill>
                <a:schemeClr val="tx1"/>
              </a:solidFill>
              <a:prstDash val="solid"/>
              <a:headEnd type="oval" w="med" len="med"/>
              <a:tailEnd type="triangle" w="med" len="med"/>
            </a:ln>
          </p:spPr>
        </p:sp>
        <p:sp>
          <p:nvSpPr>
            <p:cNvPr id="20506" name="Line 84"/>
            <p:cNvSpPr/>
            <p:nvPr/>
          </p:nvSpPr>
          <p:spPr>
            <a:xfrm flipV="1">
              <a:off x="651" y="1989"/>
              <a:ext cx="0" cy="288"/>
            </a:xfrm>
            <a:prstGeom prst="line">
              <a:avLst/>
            </a:prstGeom>
            <a:ln w="28575" cap="sq" cmpd="sng">
              <a:solidFill>
                <a:schemeClr val="tx1"/>
              </a:solidFill>
              <a:prstDash val="solid"/>
              <a:headEnd type="oval" w="med" len="med"/>
              <a:tailEnd type="none" w="med" len="med"/>
            </a:ln>
          </p:spPr>
        </p:sp>
      </p:grpSp>
      <p:sp>
        <p:nvSpPr>
          <p:cNvPr id="38944" name="Text Box 32"/>
          <p:cNvSpPr txBox="1"/>
          <p:nvPr/>
        </p:nvSpPr>
        <p:spPr>
          <a:xfrm>
            <a:off x="323850" y="101600"/>
            <a:ext cx="5900738" cy="519113"/>
          </a:xfrm>
          <a:prstGeom prst="rect">
            <a:avLst/>
          </a:prstGeom>
          <a:noFill/>
          <a:ln w="12700">
            <a:noFill/>
          </a:ln>
        </p:spPr>
        <p:txBody>
          <a:bodyPr wrap="none">
            <a:spAutoFit/>
          </a:bodyPr>
          <a:p>
            <a:pPr eaLnBrk="1" hangingPunct="1">
              <a:spcBef>
                <a:spcPct val="50000"/>
              </a:spcBef>
            </a:pPr>
            <a:r>
              <a:rPr lang="zh-CN" altLang="en-US" sz="2800" dirty="0">
                <a:solidFill>
                  <a:srgbClr val="FFFF00"/>
                </a:solidFill>
                <a:latin typeface="黑体" panose="02010609060101010101" pitchFamily="2" charset="-122"/>
                <a:ea typeface="黑体" panose="02010609060101010101" pitchFamily="2" charset="-122"/>
              </a:rPr>
              <a:t>（</a:t>
            </a:r>
            <a:r>
              <a:rPr lang="en-US" altLang="zh-CN" sz="2800" dirty="0">
                <a:solidFill>
                  <a:srgbClr val="FFFF00"/>
                </a:solidFill>
                <a:latin typeface="黑体" panose="02010609060101010101" pitchFamily="2" charset="-122"/>
                <a:ea typeface="黑体" panose="02010609060101010101" pitchFamily="2" charset="-122"/>
              </a:rPr>
              <a:t>2</a:t>
            </a:r>
            <a:r>
              <a:rPr lang="zh-CN" altLang="en-US" sz="2800" dirty="0">
                <a:solidFill>
                  <a:srgbClr val="FFFF00"/>
                </a:solidFill>
                <a:latin typeface="黑体" panose="02010609060101010101" pitchFamily="2" charset="-122"/>
                <a:ea typeface="黑体" panose="02010609060101010101" pitchFamily="2" charset="-122"/>
              </a:rPr>
              <a:t>）计数器定时查询方式总线仲裁 </a:t>
            </a:r>
            <a:endParaRPr lang="zh-CN" altLang="en-US" sz="2800" dirty="0">
              <a:solidFill>
                <a:srgbClr val="FFFF00"/>
              </a:solidFill>
              <a:latin typeface="黑体" panose="02010609060101010101" pitchFamily="2" charset="-122"/>
              <a:ea typeface="黑体" panose="02010609060101010101" pitchFamily="2" charset="-122"/>
            </a:endParaRPr>
          </a:p>
        </p:txBody>
      </p:sp>
      <p:sp>
        <p:nvSpPr>
          <p:cNvPr id="38998" name="Rectangle 86"/>
          <p:cNvSpPr/>
          <p:nvPr/>
        </p:nvSpPr>
        <p:spPr>
          <a:xfrm>
            <a:off x="468313" y="4149725"/>
            <a:ext cx="8496300" cy="946150"/>
          </a:xfrm>
          <a:prstGeom prst="rect">
            <a:avLst/>
          </a:prstGeom>
          <a:noFill/>
          <a:ln w="12700">
            <a:noFill/>
          </a:ln>
        </p:spPr>
        <p:txBody>
          <a:bodyPr>
            <a:spAutoFit/>
          </a:bodyPr>
          <a:p>
            <a:pPr algn="just" eaLnBrk="1" hangingPunct="1"/>
            <a:r>
              <a:rPr lang="zh-CN" altLang="en-US" sz="2800" dirty="0">
                <a:solidFill>
                  <a:schemeClr val="tx1"/>
                </a:solidFill>
                <a:latin typeface="黑体" panose="02010609060101010101" pitchFamily="2" charset="-122"/>
                <a:ea typeface="黑体" panose="02010609060101010101" pitchFamily="2" charset="-122"/>
              </a:rPr>
              <a:t>当查询计数器计数值与发出请求的设备编号一致时，中止查询，该设备获总线控制权。</a:t>
            </a:r>
            <a:endParaRPr lang="zh-CN" altLang="en-US" sz="2800" dirty="0">
              <a:solidFill>
                <a:schemeClr val="tx1"/>
              </a:solidFill>
              <a:latin typeface="黑体" panose="02010609060101010101" pitchFamily="2" charset="-122"/>
              <a:ea typeface="黑体" panose="02010609060101010101" pitchFamily="2" charset="-122"/>
            </a:endParaRPr>
          </a:p>
        </p:txBody>
      </p:sp>
      <p:sp>
        <p:nvSpPr>
          <p:cNvPr id="39000" name="Rectangle 88"/>
          <p:cNvSpPr/>
          <p:nvPr/>
        </p:nvSpPr>
        <p:spPr>
          <a:xfrm>
            <a:off x="450850" y="5157788"/>
            <a:ext cx="8297863" cy="946150"/>
          </a:xfrm>
          <a:prstGeom prst="rect">
            <a:avLst/>
          </a:prstGeom>
          <a:noFill/>
          <a:ln w="12700">
            <a:noFill/>
          </a:ln>
        </p:spPr>
        <p:txBody>
          <a:bodyPr>
            <a:spAutoFit/>
          </a:bodyPr>
          <a:p>
            <a:pPr algn="just" eaLnBrk="1" hangingPunct="1"/>
            <a:r>
              <a:rPr lang="zh-CN" altLang="en-US" sz="2800" dirty="0">
                <a:solidFill>
                  <a:schemeClr val="folHlink"/>
                </a:solidFill>
                <a:latin typeface="黑体" panose="02010609060101010101" pitchFamily="2" charset="-122"/>
                <a:ea typeface="黑体" panose="02010609060101010101" pitchFamily="2" charset="-122"/>
              </a:rPr>
              <a:t>优先级灵活</a:t>
            </a:r>
            <a:r>
              <a:rPr lang="zh-CN" altLang="en-US" sz="2800" dirty="0">
                <a:solidFill>
                  <a:srgbClr val="FFFFCC"/>
                </a:solidFill>
                <a:latin typeface="黑体" panose="02010609060101010101" pitchFamily="2" charset="-122"/>
                <a:ea typeface="黑体" panose="02010609060101010101" pitchFamily="2" charset="-122"/>
              </a:rPr>
              <a:t>：计数器初值、设备编号可通过程序设定，优先次序可用程序控制。</a:t>
            </a:r>
            <a:endParaRPr lang="zh-CN" altLang="en-US" sz="2800" dirty="0">
              <a:solidFill>
                <a:srgbClr val="FFFFCC"/>
              </a:solidFill>
              <a:latin typeface="黑体" panose="02010609060101010101" pitchFamily="2" charset="-122"/>
              <a:ea typeface="黑体" panose="02010609060101010101" pitchFamily="2" charset="-122"/>
            </a:endParaRPr>
          </a:p>
        </p:txBody>
      </p:sp>
    </p:spTree>
  </p:cSld>
  <p:clrMapOvr>
    <a:masterClrMapping/>
  </p:clrMapOvr>
  <p:transition spd="slow">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71" name="Rectangle 35"/>
          <p:cNvSpPr/>
          <p:nvPr/>
        </p:nvSpPr>
        <p:spPr>
          <a:xfrm>
            <a:off x="179388" y="101600"/>
            <a:ext cx="5181600" cy="519113"/>
          </a:xfrm>
          <a:prstGeom prst="rect">
            <a:avLst/>
          </a:prstGeom>
          <a:noFill/>
          <a:ln w="12700">
            <a:noFill/>
          </a:ln>
        </p:spPr>
        <p:txBody>
          <a:bodyPr>
            <a:spAutoFit/>
          </a:bodyPr>
          <a:p>
            <a:r>
              <a:rPr lang="zh-CN" altLang="en-US" sz="2800" dirty="0">
                <a:solidFill>
                  <a:srgbClr val="FFFF00"/>
                </a:solidFill>
                <a:latin typeface="黑体" panose="02010609060101010101" pitchFamily="2" charset="-122"/>
                <a:ea typeface="黑体" panose="02010609060101010101" pitchFamily="2" charset="-122"/>
              </a:rPr>
              <a:t>（</a:t>
            </a:r>
            <a:r>
              <a:rPr lang="en-US" altLang="zh-CN" sz="2800" dirty="0">
                <a:solidFill>
                  <a:srgbClr val="FFFF00"/>
                </a:solidFill>
                <a:latin typeface="黑体" panose="02010609060101010101" pitchFamily="2" charset="-122"/>
                <a:ea typeface="黑体" panose="02010609060101010101" pitchFamily="2" charset="-122"/>
              </a:rPr>
              <a:t>3</a:t>
            </a:r>
            <a:r>
              <a:rPr lang="zh-CN" altLang="en-US" sz="2800" dirty="0">
                <a:solidFill>
                  <a:srgbClr val="FFFF00"/>
                </a:solidFill>
                <a:latin typeface="黑体" panose="02010609060101010101" pitchFamily="2" charset="-122"/>
                <a:ea typeface="黑体" panose="02010609060101010101" pitchFamily="2" charset="-122"/>
              </a:rPr>
              <a:t>）独立请求方式总线仲裁</a:t>
            </a:r>
            <a:endParaRPr lang="zh-CN" altLang="en-US" sz="2800" dirty="0">
              <a:solidFill>
                <a:srgbClr val="FFFF00"/>
              </a:solidFill>
              <a:latin typeface="黑体" panose="02010609060101010101" pitchFamily="2" charset="-122"/>
              <a:ea typeface="黑体" panose="02010609060101010101" pitchFamily="2" charset="-122"/>
            </a:endParaRPr>
          </a:p>
        </p:txBody>
      </p:sp>
      <p:grpSp>
        <p:nvGrpSpPr>
          <p:cNvPr id="2" name="Group 38"/>
          <p:cNvGrpSpPr/>
          <p:nvPr/>
        </p:nvGrpSpPr>
        <p:grpSpPr>
          <a:xfrm>
            <a:off x="457200" y="692150"/>
            <a:ext cx="8307388" cy="4392613"/>
            <a:chOff x="288" y="436"/>
            <a:chExt cx="5233" cy="2767"/>
          </a:xfrm>
        </p:grpSpPr>
        <p:sp>
          <p:nvSpPr>
            <p:cNvPr id="21510" name="Line 3"/>
            <p:cNvSpPr/>
            <p:nvPr/>
          </p:nvSpPr>
          <p:spPr>
            <a:xfrm flipV="1">
              <a:off x="576" y="2795"/>
              <a:ext cx="0" cy="408"/>
            </a:xfrm>
            <a:prstGeom prst="line">
              <a:avLst/>
            </a:prstGeom>
            <a:ln w="28575" cap="sq" cmpd="sng">
              <a:solidFill>
                <a:schemeClr val="tx1"/>
              </a:solidFill>
              <a:prstDash val="solid"/>
              <a:headEnd type="oval" w="med" len="med"/>
              <a:tailEnd type="stealth" w="lg" len="lg"/>
            </a:ln>
          </p:spPr>
        </p:sp>
        <p:sp>
          <p:nvSpPr>
            <p:cNvPr id="21511" name="Text Box 4"/>
            <p:cNvSpPr txBox="1"/>
            <p:nvPr/>
          </p:nvSpPr>
          <p:spPr>
            <a:xfrm>
              <a:off x="1187" y="2886"/>
              <a:ext cx="695" cy="288"/>
            </a:xfrm>
            <a:prstGeom prst="rect">
              <a:avLst/>
            </a:prstGeom>
            <a:noFill/>
            <a:ln w="12700">
              <a:noFill/>
            </a:ln>
          </p:spPr>
          <p:txBody>
            <a:bodyPr wrap="none">
              <a:spAutoFit/>
            </a:bodyPr>
            <a:p>
              <a:pPr eaLnBrk="1" hangingPunct="1">
                <a:spcBef>
                  <a:spcPct val="50000"/>
                </a:spcBef>
              </a:pPr>
              <a:r>
                <a:rPr lang="zh-CN" altLang="en-US" sz="2400" dirty="0">
                  <a:solidFill>
                    <a:schemeClr val="accent1"/>
                  </a:solidFill>
                  <a:latin typeface="黑体" panose="02010609060101010101" pitchFamily="2" charset="-122"/>
                  <a:ea typeface="黑体" panose="02010609060101010101" pitchFamily="2" charset="-122"/>
                </a:rPr>
                <a:t>总线忙</a:t>
              </a:r>
              <a:endParaRPr lang="zh-CN" altLang="en-US" sz="2400" dirty="0">
                <a:solidFill>
                  <a:schemeClr val="accent1"/>
                </a:solidFill>
                <a:latin typeface="黑体" panose="02010609060101010101" pitchFamily="2" charset="-122"/>
                <a:ea typeface="黑体" panose="02010609060101010101" pitchFamily="2" charset="-122"/>
              </a:endParaRPr>
            </a:p>
          </p:txBody>
        </p:sp>
        <p:sp>
          <p:nvSpPr>
            <p:cNvPr id="21512" name="Line 6"/>
            <p:cNvSpPr/>
            <p:nvPr/>
          </p:nvSpPr>
          <p:spPr>
            <a:xfrm flipH="1">
              <a:off x="912" y="740"/>
              <a:ext cx="4080" cy="0"/>
            </a:xfrm>
            <a:prstGeom prst="line">
              <a:avLst/>
            </a:prstGeom>
            <a:ln w="28575" cap="sq" cmpd="sng">
              <a:solidFill>
                <a:schemeClr val="tx2"/>
              </a:solidFill>
              <a:prstDash val="solid"/>
              <a:headEnd type="none" w="med" len="med"/>
              <a:tailEnd type="stealth" w="lg" len="lg"/>
            </a:ln>
          </p:spPr>
        </p:sp>
        <p:sp>
          <p:nvSpPr>
            <p:cNvPr id="21513" name="Line 7"/>
            <p:cNvSpPr/>
            <p:nvPr/>
          </p:nvSpPr>
          <p:spPr>
            <a:xfrm flipV="1">
              <a:off x="2544" y="1992"/>
              <a:ext cx="0" cy="652"/>
            </a:xfrm>
            <a:prstGeom prst="line">
              <a:avLst/>
            </a:prstGeom>
            <a:ln w="28575" cap="sq" cmpd="sng">
              <a:solidFill>
                <a:schemeClr val="tx2"/>
              </a:solidFill>
              <a:prstDash val="solid"/>
              <a:headEnd type="none" w="med" len="med"/>
              <a:tailEnd type="none" w="med" len="med"/>
            </a:ln>
          </p:spPr>
        </p:sp>
        <p:sp>
          <p:nvSpPr>
            <p:cNvPr id="21514" name="Line 8"/>
            <p:cNvSpPr/>
            <p:nvPr/>
          </p:nvSpPr>
          <p:spPr>
            <a:xfrm flipV="1">
              <a:off x="3888" y="1339"/>
              <a:ext cx="0" cy="753"/>
            </a:xfrm>
            <a:prstGeom prst="line">
              <a:avLst/>
            </a:prstGeom>
            <a:ln w="28575" cap="sq" cmpd="sng">
              <a:solidFill>
                <a:schemeClr val="tx2"/>
              </a:solidFill>
              <a:prstDash val="solid"/>
              <a:headEnd type="none" w="med" len="med"/>
              <a:tailEnd type="none" w="med" len="med"/>
            </a:ln>
          </p:spPr>
        </p:sp>
        <p:sp>
          <p:nvSpPr>
            <p:cNvPr id="21515" name="Line 9"/>
            <p:cNvSpPr/>
            <p:nvPr/>
          </p:nvSpPr>
          <p:spPr>
            <a:xfrm flipV="1">
              <a:off x="4992" y="737"/>
              <a:ext cx="0" cy="1104"/>
            </a:xfrm>
            <a:prstGeom prst="line">
              <a:avLst/>
            </a:prstGeom>
            <a:ln w="28575" cap="sq" cmpd="sng">
              <a:solidFill>
                <a:schemeClr val="tx2"/>
              </a:solidFill>
              <a:prstDash val="solid"/>
              <a:headEnd type="none" w="med" len="med"/>
              <a:tailEnd type="none" w="med" len="med"/>
            </a:ln>
          </p:spPr>
        </p:sp>
        <p:sp>
          <p:nvSpPr>
            <p:cNvPr id="21516" name="Line 10"/>
            <p:cNvSpPr/>
            <p:nvPr/>
          </p:nvSpPr>
          <p:spPr>
            <a:xfrm>
              <a:off x="336" y="3203"/>
              <a:ext cx="5184" cy="0"/>
            </a:xfrm>
            <a:prstGeom prst="line">
              <a:avLst/>
            </a:prstGeom>
            <a:ln w="28575" cap="sq" cmpd="sng">
              <a:solidFill>
                <a:schemeClr val="tx1"/>
              </a:solidFill>
              <a:prstDash val="solid"/>
              <a:headEnd type="none" w="med" len="med"/>
              <a:tailEnd type="none" w="med" len="med"/>
            </a:ln>
          </p:spPr>
        </p:sp>
        <p:sp>
          <p:nvSpPr>
            <p:cNvPr id="21517" name="Text Box 11"/>
            <p:cNvSpPr txBox="1"/>
            <p:nvPr/>
          </p:nvSpPr>
          <p:spPr>
            <a:xfrm>
              <a:off x="1248" y="436"/>
              <a:ext cx="888" cy="288"/>
            </a:xfrm>
            <a:prstGeom prst="rect">
              <a:avLst/>
            </a:prstGeom>
            <a:noFill/>
            <a:ln w="12700">
              <a:noFill/>
            </a:ln>
          </p:spPr>
          <p:txBody>
            <a:bodyPr wrap="none">
              <a:spAutoFit/>
            </a:bodyPr>
            <a:p>
              <a:pPr eaLnBrk="1" hangingPunct="1">
                <a:spcBef>
                  <a:spcPct val="50000"/>
                </a:spcBef>
              </a:pPr>
              <a:r>
                <a:rPr lang="zh-CN" altLang="en-US" sz="2400" dirty="0">
                  <a:solidFill>
                    <a:srgbClr val="FFFF00"/>
                  </a:solidFill>
                  <a:latin typeface="宋体" panose="02010600030101010101" pitchFamily="2" charset="-122"/>
                </a:rPr>
                <a:t>总线请求</a:t>
              </a:r>
              <a:endParaRPr lang="zh-CN" altLang="en-US" sz="2400" dirty="0">
                <a:solidFill>
                  <a:srgbClr val="FFFF00"/>
                </a:solidFill>
                <a:latin typeface="宋体" panose="02010600030101010101" pitchFamily="2" charset="-122"/>
              </a:endParaRPr>
            </a:p>
          </p:txBody>
        </p:sp>
        <p:sp>
          <p:nvSpPr>
            <p:cNvPr id="21518" name="Line 12"/>
            <p:cNvSpPr/>
            <p:nvPr/>
          </p:nvSpPr>
          <p:spPr>
            <a:xfrm flipH="1">
              <a:off x="912" y="1038"/>
              <a:ext cx="4416" cy="0"/>
            </a:xfrm>
            <a:prstGeom prst="line">
              <a:avLst/>
            </a:prstGeom>
            <a:ln w="28575" cap="sq" cmpd="sng">
              <a:solidFill>
                <a:schemeClr val="accent1"/>
              </a:solidFill>
              <a:prstDash val="solid"/>
              <a:headEnd type="none" w="med" len="med"/>
              <a:tailEnd type="none" w="med" len="med"/>
            </a:ln>
          </p:spPr>
        </p:sp>
        <p:sp>
          <p:nvSpPr>
            <p:cNvPr id="21519" name="Text Box 13"/>
            <p:cNvSpPr txBox="1"/>
            <p:nvPr/>
          </p:nvSpPr>
          <p:spPr>
            <a:xfrm>
              <a:off x="1248" y="737"/>
              <a:ext cx="1152" cy="288"/>
            </a:xfrm>
            <a:prstGeom prst="rect">
              <a:avLst/>
            </a:prstGeom>
            <a:noFill/>
            <a:ln w="12700">
              <a:noFill/>
            </a:ln>
          </p:spPr>
          <p:txBody>
            <a:bodyPr>
              <a:spAutoFit/>
            </a:bodyPr>
            <a:p>
              <a:pPr eaLnBrk="1" hangingPunct="1">
                <a:spcBef>
                  <a:spcPct val="50000"/>
                </a:spcBef>
              </a:pPr>
              <a:r>
                <a:rPr lang="zh-CN" altLang="en-US" sz="2400" dirty="0">
                  <a:solidFill>
                    <a:schemeClr val="accent1"/>
                  </a:solidFill>
                  <a:latin typeface="宋体" panose="02010600030101010101" pitchFamily="2" charset="-122"/>
                </a:rPr>
                <a:t>总线授权</a:t>
              </a:r>
              <a:endParaRPr lang="zh-CN" altLang="en-US" sz="2400" dirty="0">
                <a:solidFill>
                  <a:schemeClr val="accent1"/>
                </a:solidFill>
                <a:latin typeface="宋体" panose="02010600030101010101" pitchFamily="2" charset="-122"/>
              </a:endParaRPr>
            </a:p>
          </p:txBody>
        </p:sp>
        <p:sp>
          <p:nvSpPr>
            <p:cNvPr id="21520" name="Text Box 14"/>
            <p:cNvSpPr txBox="1"/>
            <p:nvPr/>
          </p:nvSpPr>
          <p:spPr>
            <a:xfrm>
              <a:off x="2304" y="2644"/>
              <a:ext cx="817" cy="345"/>
            </a:xfrm>
            <a:prstGeom prst="rect">
              <a:avLst/>
            </a:prstGeom>
            <a:solidFill>
              <a:schemeClr val="bg1"/>
            </a:solidFill>
            <a:ln w="28575" cap="sq" cmpd="sng">
              <a:solidFill>
                <a:schemeClr val="folHlink"/>
              </a:solidFill>
              <a:prstDash val="solid"/>
              <a:miter/>
              <a:headEnd type="none" w="med" len="med"/>
              <a:tailEnd type="none" w="med" len="med"/>
            </a:ln>
            <a:effectLst>
              <a:outerShdw dist="107763" dir="2699999" algn="ctr" rotWithShape="0">
                <a:schemeClr val="bg2">
                  <a:alpha val="50000"/>
                </a:schemeClr>
              </a:outerShdw>
            </a:effectLst>
          </p:spPr>
          <p:txBody>
            <a:bodyPr>
              <a:spAutoFit/>
            </a:bodyPr>
            <a:p>
              <a:pPr algn="ctr" eaLnBrk="1" hangingPunct="1">
                <a:spcBef>
                  <a:spcPct val="50000"/>
                </a:spcBef>
              </a:pPr>
              <a:r>
                <a:rPr lang="zh-CN" altLang="en-US" sz="2800" dirty="0">
                  <a:solidFill>
                    <a:schemeClr val="tx1"/>
                  </a:solidFill>
                  <a:latin typeface="宋体" panose="02010600030101010101" pitchFamily="2" charset="-122"/>
                </a:rPr>
                <a:t>设备</a:t>
              </a:r>
              <a:r>
                <a:rPr lang="en-US" altLang="zh-CN" sz="2800" dirty="0">
                  <a:solidFill>
                    <a:schemeClr val="tx1"/>
                  </a:solidFill>
                  <a:latin typeface="宋体" panose="02010600030101010101" pitchFamily="2" charset="-122"/>
                </a:rPr>
                <a:t>1</a:t>
              </a:r>
              <a:endParaRPr lang="en-US" altLang="zh-CN" sz="2800" dirty="0">
                <a:solidFill>
                  <a:schemeClr val="tx1"/>
                </a:solidFill>
                <a:latin typeface="宋体" panose="02010600030101010101" pitchFamily="2" charset="-122"/>
              </a:endParaRPr>
            </a:p>
          </p:txBody>
        </p:sp>
        <p:sp>
          <p:nvSpPr>
            <p:cNvPr id="21521" name="Text Box 15"/>
            <p:cNvSpPr txBox="1"/>
            <p:nvPr/>
          </p:nvSpPr>
          <p:spPr>
            <a:xfrm>
              <a:off x="3552" y="2083"/>
              <a:ext cx="816" cy="345"/>
            </a:xfrm>
            <a:prstGeom prst="rect">
              <a:avLst/>
            </a:prstGeom>
            <a:solidFill>
              <a:schemeClr val="bg1"/>
            </a:solidFill>
            <a:ln w="28575" cap="sq" cmpd="sng">
              <a:solidFill>
                <a:schemeClr val="folHlink"/>
              </a:solidFill>
              <a:prstDash val="solid"/>
              <a:miter/>
              <a:headEnd type="none" w="med" len="med"/>
              <a:tailEnd type="none" w="med" len="med"/>
            </a:ln>
            <a:effectLst>
              <a:outerShdw dist="107763" dir="2699999" algn="ctr" rotWithShape="0">
                <a:schemeClr val="bg2">
                  <a:alpha val="50000"/>
                </a:schemeClr>
              </a:outerShdw>
            </a:effectLst>
          </p:spPr>
          <p:txBody>
            <a:bodyPr>
              <a:spAutoFit/>
            </a:bodyPr>
            <a:p>
              <a:pPr algn="ctr" eaLnBrk="1" hangingPunct="1">
                <a:spcBef>
                  <a:spcPct val="50000"/>
                </a:spcBef>
              </a:pPr>
              <a:r>
                <a:rPr lang="zh-CN" altLang="en-US" sz="2800" dirty="0">
                  <a:solidFill>
                    <a:schemeClr val="tx1"/>
                  </a:solidFill>
                  <a:latin typeface="宋体" panose="02010600030101010101" pitchFamily="2" charset="-122"/>
                </a:rPr>
                <a:t>设备</a:t>
              </a:r>
              <a:r>
                <a:rPr lang="en-US" altLang="zh-CN" sz="2800" dirty="0">
                  <a:solidFill>
                    <a:schemeClr val="tx1"/>
                  </a:solidFill>
                  <a:latin typeface="宋体" panose="02010600030101010101" pitchFamily="2" charset="-122"/>
                </a:rPr>
                <a:t>2</a:t>
              </a:r>
              <a:endParaRPr lang="en-US" altLang="zh-CN" sz="2800" dirty="0">
                <a:solidFill>
                  <a:schemeClr val="tx1"/>
                </a:solidFill>
                <a:latin typeface="宋体" panose="02010600030101010101" pitchFamily="2" charset="-122"/>
              </a:endParaRPr>
            </a:p>
          </p:txBody>
        </p:sp>
        <p:sp>
          <p:nvSpPr>
            <p:cNvPr id="21522" name="Text Box 16"/>
            <p:cNvSpPr txBox="1"/>
            <p:nvPr/>
          </p:nvSpPr>
          <p:spPr>
            <a:xfrm>
              <a:off x="4704" y="1841"/>
              <a:ext cx="817" cy="345"/>
            </a:xfrm>
            <a:prstGeom prst="rect">
              <a:avLst/>
            </a:prstGeom>
            <a:solidFill>
              <a:schemeClr val="bg1"/>
            </a:solidFill>
            <a:ln w="28575" cap="sq" cmpd="sng">
              <a:solidFill>
                <a:schemeClr val="folHlink"/>
              </a:solidFill>
              <a:prstDash val="solid"/>
              <a:miter/>
              <a:headEnd type="none" w="med" len="med"/>
              <a:tailEnd type="none" w="med" len="med"/>
            </a:ln>
            <a:effectLst>
              <a:outerShdw dist="107763" dir="2699999" algn="ctr" rotWithShape="0">
                <a:schemeClr val="bg2">
                  <a:alpha val="50000"/>
                </a:schemeClr>
              </a:outerShdw>
            </a:effectLst>
          </p:spPr>
          <p:txBody>
            <a:bodyPr>
              <a:spAutoFit/>
            </a:bodyPr>
            <a:p>
              <a:pPr algn="ctr" eaLnBrk="1" hangingPunct="1">
                <a:spcBef>
                  <a:spcPct val="50000"/>
                </a:spcBef>
              </a:pPr>
              <a:r>
                <a:rPr lang="zh-CN" altLang="en-US" sz="2800" dirty="0">
                  <a:solidFill>
                    <a:schemeClr val="tx1"/>
                  </a:solidFill>
                  <a:latin typeface="宋体" panose="02010600030101010101" pitchFamily="2" charset="-122"/>
                </a:rPr>
                <a:t>设备</a:t>
              </a:r>
              <a:r>
                <a:rPr lang="en-US" altLang="zh-CN" sz="2800" dirty="0">
                  <a:solidFill>
                    <a:schemeClr val="tx1"/>
                  </a:solidFill>
                  <a:latin typeface="宋体" panose="02010600030101010101" pitchFamily="2" charset="-122"/>
                </a:rPr>
                <a:t>n</a:t>
              </a:r>
              <a:endParaRPr lang="en-US" altLang="zh-CN" sz="2800" dirty="0">
                <a:solidFill>
                  <a:schemeClr val="tx1"/>
                </a:solidFill>
                <a:latin typeface="宋体" panose="02010600030101010101" pitchFamily="2" charset="-122"/>
              </a:endParaRPr>
            </a:p>
          </p:txBody>
        </p:sp>
        <p:sp>
          <p:nvSpPr>
            <p:cNvPr id="21523" name="Line 18"/>
            <p:cNvSpPr/>
            <p:nvPr/>
          </p:nvSpPr>
          <p:spPr>
            <a:xfrm flipV="1">
              <a:off x="4128" y="1640"/>
              <a:ext cx="0" cy="452"/>
            </a:xfrm>
            <a:prstGeom prst="line">
              <a:avLst/>
            </a:prstGeom>
            <a:ln w="28575" cap="sq" cmpd="sng">
              <a:solidFill>
                <a:schemeClr val="accent1"/>
              </a:solidFill>
              <a:prstDash val="solid"/>
              <a:headEnd type="stealth" w="lg" len="lg"/>
              <a:tailEnd type="none" w="med" len="med"/>
            </a:ln>
          </p:spPr>
        </p:sp>
        <p:sp>
          <p:nvSpPr>
            <p:cNvPr id="21524" name="Line 19"/>
            <p:cNvSpPr/>
            <p:nvPr/>
          </p:nvSpPr>
          <p:spPr>
            <a:xfrm flipV="1">
              <a:off x="5328" y="1038"/>
              <a:ext cx="0" cy="803"/>
            </a:xfrm>
            <a:prstGeom prst="line">
              <a:avLst/>
            </a:prstGeom>
            <a:ln w="28575" cap="sq" cmpd="sng">
              <a:solidFill>
                <a:schemeClr val="accent1"/>
              </a:solidFill>
              <a:prstDash val="solid"/>
              <a:headEnd type="stealth" w="lg" len="lg"/>
              <a:tailEnd type="none" w="med" len="med"/>
            </a:ln>
          </p:spPr>
        </p:sp>
        <p:sp>
          <p:nvSpPr>
            <p:cNvPr id="21525" name="Line 20"/>
            <p:cNvSpPr/>
            <p:nvPr/>
          </p:nvSpPr>
          <p:spPr>
            <a:xfrm>
              <a:off x="5088" y="2189"/>
              <a:ext cx="0" cy="1006"/>
            </a:xfrm>
            <a:prstGeom prst="line">
              <a:avLst/>
            </a:prstGeom>
            <a:ln w="28575" cap="sq" cmpd="sng">
              <a:solidFill>
                <a:schemeClr val="tx1"/>
              </a:solidFill>
              <a:prstDash val="solid"/>
              <a:headEnd type="oval" w="med" len="med"/>
              <a:tailEnd type="stealth" w="lg" len="lg"/>
            </a:ln>
          </p:spPr>
        </p:sp>
        <p:sp>
          <p:nvSpPr>
            <p:cNvPr id="21526" name="Line 21"/>
            <p:cNvSpPr/>
            <p:nvPr/>
          </p:nvSpPr>
          <p:spPr>
            <a:xfrm>
              <a:off x="3984" y="2440"/>
              <a:ext cx="0" cy="755"/>
            </a:xfrm>
            <a:prstGeom prst="line">
              <a:avLst/>
            </a:prstGeom>
            <a:ln w="28575" cap="sq" cmpd="sng">
              <a:solidFill>
                <a:schemeClr val="tx1"/>
              </a:solidFill>
              <a:prstDash val="solid"/>
              <a:headEnd type="oval" w="med" len="med"/>
              <a:tailEnd type="stealth" w="lg" len="lg"/>
            </a:ln>
          </p:spPr>
        </p:sp>
        <p:sp>
          <p:nvSpPr>
            <p:cNvPr id="21527" name="Line 22"/>
            <p:cNvSpPr/>
            <p:nvPr/>
          </p:nvSpPr>
          <p:spPr>
            <a:xfrm>
              <a:off x="2688" y="2992"/>
              <a:ext cx="0" cy="203"/>
            </a:xfrm>
            <a:prstGeom prst="line">
              <a:avLst/>
            </a:prstGeom>
            <a:ln w="28575" cap="sq" cmpd="sng">
              <a:solidFill>
                <a:schemeClr val="tx1"/>
              </a:solidFill>
              <a:prstDash val="solid"/>
              <a:headEnd type="oval" w="med" len="med"/>
              <a:tailEnd type="stealth" w="lg" len="lg"/>
            </a:ln>
          </p:spPr>
        </p:sp>
        <p:sp>
          <p:nvSpPr>
            <p:cNvPr id="21528" name="Rectangle 25"/>
            <p:cNvSpPr/>
            <p:nvPr/>
          </p:nvSpPr>
          <p:spPr>
            <a:xfrm>
              <a:off x="288" y="587"/>
              <a:ext cx="576" cy="2208"/>
            </a:xfrm>
            <a:prstGeom prst="rect">
              <a:avLst/>
            </a:prstGeom>
            <a:solidFill>
              <a:schemeClr val="accent1"/>
            </a:solidFill>
            <a:ln w="28575" cap="sq" cmpd="sng">
              <a:solidFill>
                <a:schemeClr val="bg2"/>
              </a:solidFill>
              <a:prstDash val="solid"/>
              <a:miter/>
              <a:headEnd type="none" w="med" len="med"/>
              <a:tailEnd type="none" w="med" len="med"/>
            </a:ln>
            <a:effectLst>
              <a:outerShdw dist="107763" dir="2699999" algn="ctr" rotWithShape="0">
                <a:schemeClr val="bg2">
                  <a:alpha val="50000"/>
                </a:schemeClr>
              </a:outerShdw>
            </a:effectLst>
          </p:spPr>
          <p:txBody>
            <a:bodyPr vert="eaVert" wrap="none" anchor="ctr" anchorCtr="0"/>
            <a:p>
              <a:pPr algn="ctr" eaLnBrk="1" hangingPunct="1"/>
              <a:r>
                <a:rPr lang="zh-CN" altLang="en-US" dirty="0">
                  <a:solidFill>
                    <a:schemeClr val="bg2"/>
                  </a:solidFill>
                  <a:latin typeface="黑体" panose="02010609060101010101" pitchFamily="2" charset="-122"/>
                  <a:ea typeface="黑体" panose="02010609060101010101" pitchFamily="2" charset="-122"/>
                </a:rPr>
                <a:t>总线仲裁器</a:t>
              </a:r>
              <a:endParaRPr lang="zh-CN" altLang="en-US" dirty="0">
                <a:solidFill>
                  <a:schemeClr val="bg2"/>
                </a:solidFill>
                <a:latin typeface="黑体" panose="02010609060101010101" pitchFamily="2" charset="-122"/>
                <a:ea typeface="黑体" panose="02010609060101010101" pitchFamily="2" charset="-122"/>
              </a:endParaRPr>
            </a:p>
          </p:txBody>
        </p:sp>
        <p:sp>
          <p:nvSpPr>
            <p:cNvPr id="21529" name="Line 26"/>
            <p:cNvSpPr/>
            <p:nvPr/>
          </p:nvSpPr>
          <p:spPr>
            <a:xfrm flipH="1">
              <a:off x="912" y="1339"/>
              <a:ext cx="2976" cy="0"/>
            </a:xfrm>
            <a:prstGeom prst="line">
              <a:avLst/>
            </a:prstGeom>
            <a:ln w="28575" cap="sq" cmpd="sng">
              <a:solidFill>
                <a:schemeClr val="tx2"/>
              </a:solidFill>
              <a:prstDash val="solid"/>
              <a:headEnd type="none" w="med" len="med"/>
              <a:tailEnd type="stealth" w="lg" len="lg"/>
            </a:ln>
          </p:spPr>
        </p:sp>
        <p:sp>
          <p:nvSpPr>
            <p:cNvPr id="21530" name="Text Box 27"/>
            <p:cNvSpPr txBox="1"/>
            <p:nvPr/>
          </p:nvSpPr>
          <p:spPr>
            <a:xfrm>
              <a:off x="1248" y="1038"/>
              <a:ext cx="888" cy="288"/>
            </a:xfrm>
            <a:prstGeom prst="rect">
              <a:avLst/>
            </a:prstGeom>
            <a:noFill/>
            <a:ln w="12700">
              <a:noFill/>
            </a:ln>
          </p:spPr>
          <p:txBody>
            <a:bodyPr wrap="none">
              <a:spAutoFit/>
            </a:bodyPr>
            <a:p>
              <a:pPr eaLnBrk="1" hangingPunct="1">
                <a:spcBef>
                  <a:spcPct val="50000"/>
                </a:spcBef>
              </a:pPr>
              <a:r>
                <a:rPr lang="zh-CN" altLang="en-US" sz="2400" dirty="0">
                  <a:solidFill>
                    <a:srgbClr val="FFFF00"/>
                  </a:solidFill>
                  <a:latin typeface="宋体" panose="02010600030101010101" pitchFamily="2" charset="-122"/>
                </a:rPr>
                <a:t>总线请求</a:t>
              </a:r>
              <a:endParaRPr lang="zh-CN" altLang="en-US" sz="2400" dirty="0">
                <a:solidFill>
                  <a:srgbClr val="FFFF00"/>
                </a:solidFill>
                <a:latin typeface="宋体" panose="02010600030101010101" pitchFamily="2" charset="-122"/>
              </a:endParaRPr>
            </a:p>
          </p:txBody>
        </p:sp>
        <p:sp>
          <p:nvSpPr>
            <p:cNvPr id="21531" name="Line 28"/>
            <p:cNvSpPr/>
            <p:nvPr/>
          </p:nvSpPr>
          <p:spPr>
            <a:xfrm flipH="1">
              <a:off x="912" y="1640"/>
              <a:ext cx="3216" cy="0"/>
            </a:xfrm>
            <a:prstGeom prst="line">
              <a:avLst/>
            </a:prstGeom>
            <a:ln w="28575" cap="sq" cmpd="sng">
              <a:solidFill>
                <a:schemeClr val="accent1"/>
              </a:solidFill>
              <a:prstDash val="solid"/>
              <a:headEnd type="none" w="med" len="med"/>
              <a:tailEnd type="none" w="med" len="med"/>
            </a:ln>
          </p:spPr>
        </p:sp>
        <p:sp>
          <p:nvSpPr>
            <p:cNvPr id="21532" name="Text Box 29"/>
            <p:cNvSpPr txBox="1"/>
            <p:nvPr/>
          </p:nvSpPr>
          <p:spPr>
            <a:xfrm>
              <a:off x="1248" y="1339"/>
              <a:ext cx="1152" cy="288"/>
            </a:xfrm>
            <a:prstGeom prst="rect">
              <a:avLst/>
            </a:prstGeom>
            <a:noFill/>
            <a:ln w="28575">
              <a:noFill/>
            </a:ln>
          </p:spPr>
          <p:txBody>
            <a:bodyPr>
              <a:spAutoFit/>
            </a:bodyPr>
            <a:p>
              <a:pPr eaLnBrk="1" hangingPunct="1">
                <a:spcBef>
                  <a:spcPct val="50000"/>
                </a:spcBef>
              </a:pPr>
              <a:r>
                <a:rPr lang="zh-CN" altLang="en-US" sz="2400" dirty="0">
                  <a:solidFill>
                    <a:schemeClr val="accent1"/>
                  </a:solidFill>
                  <a:latin typeface="宋体" panose="02010600030101010101" pitchFamily="2" charset="-122"/>
                </a:rPr>
                <a:t>总线授权</a:t>
              </a:r>
              <a:endParaRPr lang="zh-CN" altLang="en-US" sz="2400" dirty="0">
                <a:solidFill>
                  <a:schemeClr val="accent1"/>
                </a:solidFill>
                <a:latin typeface="宋体" panose="02010600030101010101" pitchFamily="2" charset="-122"/>
              </a:endParaRPr>
            </a:p>
          </p:txBody>
        </p:sp>
        <p:sp>
          <p:nvSpPr>
            <p:cNvPr id="21533" name="Line 30"/>
            <p:cNvSpPr/>
            <p:nvPr/>
          </p:nvSpPr>
          <p:spPr>
            <a:xfrm flipV="1">
              <a:off x="2784" y="2293"/>
              <a:ext cx="0" cy="351"/>
            </a:xfrm>
            <a:prstGeom prst="line">
              <a:avLst/>
            </a:prstGeom>
            <a:ln w="28575" cap="sq" cmpd="sng">
              <a:solidFill>
                <a:schemeClr val="accent1"/>
              </a:solidFill>
              <a:prstDash val="solid"/>
              <a:headEnd type="stealth" w="lg" len="lg"/>
              <a:tailEnd type="none" w="med" len="med"/>
            </a:ln>
          </p:spPr>
        </p:sp>
        <p:sp>
          <p:nvSpPr>
            <p:cNvPr id="21534" name="Line 31"/>
            <p:cNvSpPr/>
            <p:nvPr/>
          </p:nvSpPr>
          <p:spPr>
            <a:xfrm flipH="1">
              <a:off x="912" y="1992"/>
              <a:ext cx="1632" cy="0"/>
            </a:xfrm>
            <a:prstGeom prst="line">
              <a:avLst/>
            </a:prstGeom>
            <a:ln w="28575" cap="sq" cmpd="sng">
              <a:solidFill>
                <a:schemeClr val="tx2"/>
              </a:solidFill>
              <a:prstDash val="solid"/>
              <a:headEnd type="none" w="med" len="med"/>
              <a:tailEnd type="stealth" w="lg" len="lg"/>
            </a:ln>
          </p:spPr>
        </p:sp>
        <p:sp>
          <p:nvSpPr>
            <p:cNvPr id="21535" name="Text Box 32"/>
            <p:cNvSpPr txBox="1"/>
            <p:nvPr/>
          </p:nvSpPr>
          <p:spPr>
            <a:xfrm>
              <a:off x="1248" y="1688"/>
              <a:ext cx="888" cy="288"/>
            </a:xfrm>
            <a:prstGeom prst="rect">
              <a:avLst/>
            </a:prstGeom>
            <a:noFill/>
            <a:ln w="12700">
              <a:noFill/>
            </a:ln>
          </p:spPr>
          <p:txBody>
            <a:bodyPr wrap="none">
              <a:spAutoFit/>
            </a:bodyPr>
            <a:p>
              <a:pPr eaLnBrk="1" hangingPunct="1">
                <a:spcBef>
                  <a:spcPct val="50000"/>
                </a:spcBef>
              </a:pPr>
              <a:r>
                <a:rPr lang="zh-CN" altLang="en-US" sz="2400" dirty="0">
                  <a:solidFill>
                    <a:srgbClr val="FFFF00"/>
                  </a:solidFill>
                  <a:latin typeface="宋体" panose="02010600030101010101" pitchFamily="2" charset="-122"/>
                </a:rPr>
                <a:t>总线请求</a:t>
              </a:r>
              <a:endParaRPr lang="zh-CN" altLang="en-US" sz="2400" dirty="0">
                <a:solidFill>
                  <a:srgbClr val="FFFF00"/>
                </a:solidFill>
                <a:latin typeface="宋体" panose="02010600030101010101" pitchFamily="2" charset="-122"/>
              </a:endParaRPr>
            </a:p>
          </p:txBody>
        </p:sp>
        <p:sp>
          <p:nvSpPr>
            <p:cNvPr id="21536" name="Line 33"/>
            <p:cNvSpPr/>
            <p:nvPr/>
          </p:nvSpPr>
          <p:spPr>
            <a:xfrm flipH="1">
              <a:off x="912" y="2293"/>
              <a:ext cx="1872" cy="0"/>
            </a:xfrm>
            <a:prstGeom prst="line">
              <a:avLst/>
            </a:prstGeom>
            <a:ln w="28575" cap="sq" cmpd="sng">
              <a:solidFill>
                <a:schemeClr val="accent1"/>
              </a:solidFill>
              <a:prstDash val="solid"/>
              <a:headEnd type="none" w="med" len="med"/>
              <a:tailEnd type="none" w="med" len="med"/>
            </a:ln>
          </p:spPr>
        </p:sp>
        <p:sp>
          <p:nvSpPr>
            <p:cNvPr id="21537" name="Text Box 34"/>
            <p:cNvSpPr txBox="1"/>
            <p:nvPr/>
          </p:nvSpPr>
          <p:spPr>
            <a:xfrm>
              <a:off x="1248" y="1989"/>
              <a:ext cx="1152" cy="288"/>
            </a:xfrm>
            <a:prstGeom prst="rect">
              <a:avLst/>
            </a:prstGeom>
            <a:noFill/>
            <a:ln w="12700">
              <a:noFill/>
            </a:ln>
          </p:spPr>
          <p:txBody>
            <a:bodyPr>
              <a:spAutoFit/>
            </a:bodyPr>
            <a:p>
              <a:pPr eaLnBrk="1" hangingPunct="1">
                <a:spcBef>
                  <a:spcPct val="50000"/>
                </a:spcBef>
              </a:pPr>
              <a:r>
                <a:rPr lang="zh-CN" altLang="en-US" sz="2400" dirty="0">
                  <a:solidFill>
                    <a:schemeClr val="accent1"/>
                  </a:solidFill>
                  <a:latin typeface="宋体" panose="02010600030101010101" pitchFamily="2" charset="-122"/>
                </a:rPr>
                <a:t>总线授权</a:t>
              </a:r>
              <a:endParaRPr lang="zh-CN" altLang="en-US" sz="2400" dirty="0">
                <a:solidFill>
                  <a:schemeClr val="accent1"/>
                </a:solidFill>
                <a:latin typeface="宋体" panose="02010600030101010101" pitchFamily="2" charset="-122"/>
              </a:endParaRPr>
            </a:p>
          </p:txBody>
        </p:sp>
      </p:grpSp>
      <p:sp>
        <p:nvSpPr>
          <p:cNvPr id="39973" name="Rectangle 37"/>
          <p:cNvSpPr/>
          <p:nvPr/>
        </p:nvSpPr>
        <p:spPr>
          <a:xfrm>
            <a:off x="395288" y="5084763"/>
            <a:ext cx="8497887" cy="1057275"/>
          </a:xfrm>
          <a:prstGeom prst="rect">
            <a:avLst/>
          </a:prstGeom>
          <a:noFill/>
          <a:ln w="12700">
            <a:noFill/>
          </a:ln>
        </p:spPr>
        <p:txBody>
          <a:bodyPr>
            <a:spAutoFit/>
          </a:bodyPr>
          <a:p>
            <a:pPr eaLnBrk="1" hangingPunct="1">
              <a:lnSpc>
                <a:spcPct val="120000"/>
              </a:lnSpc>
            </a:pPr>
            <a:r>
              <a:rPr lang="zh-CN" altLang="en-US" sz="2800" dirty="0">
                <a:solidFill>
                  <a:srgbClr val="FFFF00"/>
                </a:solidFill>
                <a:latin typeface="黑体" panose="02010609060101010101" pitchFamily="2" charset="-122"/>
                <a:ea typeface="黑体" panose="02010609060101010101" pitchFamily="2" charset="-122"/>
              </a:rPr>
              <a:t>各设备均通过专用请求信号线与仲裁器连接，且通过独立的授权信号线接收总线批准信号。</a:t>
            </a:r>
            <a:endParaRPr lang="zh-CN" altLang="en-US" sz="2800" dirty="0">
              <a:solidFill>
                <a:srgbClr val="FFFF00"/>
              </a:solidFill>
              <a:latin typeface="黑体" panose="02010609060101010101" pitchFamily="2" charset="-122"/>
              <a:ea typeface="黑体" panose="02010609060101010101" pitchFamily="2" charset="-122"/>
            </a:endParaRPr>
          </a:p>
        </p:txBody>
      </p:sp>
    </p:spTree>
  </p:cSld>
  <p:clrMapOvr>
    <a:masterClrMapping/>
  </p:clrMapOvr>
  <p:transition spd="slow">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3" name="Text Box 3"/>
          <p:cNvSpPr txBox="1"/>
          <p:nvPr/>
        </p:nvSpPr>
        <p:spPr>
          <a:xfrm>
            <a:off x="257175" y="977900"/>
            <a:ext cx="8636000" cy="1260475"/>
          </a:xfrm>
          <a:prstGeom prst="rect">
            <a:avLst/>
          </a:prstGeom>
          <a:noFill/>
          <a:ln w="9525">
            <a:noFill/>
          </a:ln>
        </p:spPr>
        <p:txBody>
          <a:bodyPr>
            <a:spAutoFit/>
          </a:bodyPr>
          <a:p>
            <a:pPr algn="just" eaLnBrk="0" hangingPunct="0">
              <a:lnSpc>
                <a:spcPct val="120000"/>
              </a:lnSpc>
            </a:pPr>
            <a:r>
              <a:rPr lang="zh-CN" altLang="en-US" sz="3200" b="1" dirty="0">
                <a:solidFill>
                  <a:schemeClr val="folHlink"/>
                </a:solidFill>
                <a:latin typeface="黑体" panose="02010609060101010101" pitchFamily="2" charset="-122"/>
                <a:ea typeface="黑体" panose="02010609060101010101" pitchFamily="2" charset="-122"/>
              </a:rPr>
              <a:t>主</a:t>
            </a:r>
            <a:r>
              <a:rPr lang="en-US" altLang="zh-CN" sz="3200" b="1" dirty="0">
                <a:solidFill>
                  <a:schemeClr val="folHlink"/>
                </a:solidFill>
                <a:latin typeface="黑体" panose="02010609060101010101" pitchFamily="2" charset="-122"/>
                <a:ea typeface="黑体" panose="02010609060101010101" pitchFamily="2" charset="-122"/>
              </a:rPr>
              <a:t>-</a:t>
            </a:r>
            <a:r>
              <a:rPr lang="zh-CN" altLang="en-US" sz="3200" b="1" dirty="0">
                <a:solidFill>
                  <a:schemeClr val="folHlink"/>
                </a:solidFill>
                <a:latin typeface="黑体" panose="02010609060101010101" pitchFamily="2" charset="-122"/>
                <a:ea typeface="黑体" panose="02010609060101010101" pitchFamily="2" charset="-122"/>
              </a:rPr>
              <a:t>外信息传送的控制，从</a:t>
            </a:r>
            <a:r>
              <a:rPr lang="en-US" altLang="zh-CN" sz="3200" b="1" dirty="0">
                <a:solidFill>
                  <a:schemeClr val="folHlink"/>
                </a:solidFill>
                <a:latin typeface="黑体" panose="02010609060101010101" pitchFamily="2" charset="-122"/>
                <a:ea typeface="黑体" panose="02010609060101010101" pitchFamily="2" charset="-122"/>
              </a:rPr>
              <a:t>CPU</a:t>
            </a:r>
            <a:r>
              <a:rPr lang="zh-CN" altLang="en-US" sz="3200" b="1" dirty="0">
                <a:solidFill>
                  <a:schemeClr val="folHlink"/>
                </a:solidFill>
                <a:latin typeface="黑体" panose="02010609060101010101" pitchFamily="2" charset="-122"/>
                <a:ea typeface="黑体" panose="02010609060101010101" pitchFamily="2" charset="-122"/>
              </a:rPr>
              <a:t>角度，则需要综合考虑以下问题：</a:t>
            </a:r>
            <a:endParaRPr lang="zh-CN" altLang="en-US" sz="3200" b="1" dirty="0">
              <a:solidFill>
                <a:schemeClr val="folHlink"/>
              </a:solidFill>
              <a:latin typeface="黑体" panose="02010609060101010101" pitchFamily="2" charset="-122"/>
              <a:ea typeface="黑体" panose="02010609060101010101" pitchFamily="2" charset="-122"/>
            </a:endParaRPr>
          </a:p>
        </p:txBody>
      </p:sp>
      <p:sp>
        <p:nvSpPr>
          <p:cNvPr id="35845" name="Rectangle 5"/>
          <p:cNvSpPr/>
          <p:nvPr/>
        </p:nvSpPr>
        <p:spPr>
          <a:xfrm>
            <a:off x="304800" y="2481263"/>
            <a:ext cx="8588375" cy="1117600"/>
          </a:xfrm>
          <a:prstGeom prst="rect">
            <a:avLst/>
          </a:prstGeom>
          <a:noFill/>
          <a:ln w="9525">
            <a:noFill/>
          </a:ln>
        </p:spPr>
        <p:txBody>
          <a:bodyPr>
            <a:spAutoFit/>
          </a:bodyPr>
          <a:p>
            <a:pPr algn="just" eaLnBrk="0" hangingPunct="0">
              <a:lnSpc>
                <a:spcPct val="120000"/>
              </a:lnSpc>
            </a:pPr>
            <a:r>
              <a:rPr lang="zh-CN" altLang="en-US" sz="2800" b="1" dirty="0">
                <a:solidFill>
                  <a:schemeClr val="tx1"/>
                </a:solidFill>
                <a:latin typeface="Calibri" panose="020F0502020204030204" pitchFamily="34" charset="0"/>
                <a:ea typeface="黑体" panose="02010609060101010101" pitchFamily="2" charset="-122"/>
              </a:rPr>
              <a:t>（</a:t>
            </a:r>
            <a:r>
              <a:rPr lang="en-US" altLang="zh-CN" sz="2800" b="1" dirty="0">
                <a:solidFill>
                  <a:schemeClr val="tx1"/>
                </a:solidFill>
                <a:latin typeface="Calibri" panose="020F0502020204030204" pitchFamily="34" charset="0"/>
                <a:ea typeface="黑体" panose="02010609060101010101" pitchFamily="2" charset="-122"/>
              </a:rPr>
              <a:t>1</a:t>
            </a:r>
            <a:r>
              <a:rPr lang="zh-CN" altLang="en-US" sz="2800" b="1" dirty="0">
                <a:solidFill>
                  <a:schemeClr val="tx1"/>
                </a:solidFill>
                <a:latin typeface="Calibri" panose="020F0502020204030204" pitchFamily="34" charset="0"/>
                <a:ea typeface="黑体" panose="02010609060101010101" pitchFamily="2" charset="-122"/>
              </a:rPr>
              <a:t>）主机启动外设后，在外设准备或</a:t>
            </a:r>
            <a:r>
              <a:rPr lang="en-US" altLang="zh-CN" sz="2800" b="1" dirty="0">
                <a:solidFill>
                  <a:schemeClr val="tx1"/>
                </a:solidFill>
                <a:latin typeface="Calibri" panose="020F0502020204030204" pitchFamily="34" charset="0"/>
                <a:ea typeface="黑体" panose="02010609060101010101" pitchFamily="2" charset="-122"/>
              </a:rPr>
              <a:t>I/O</a:t>
            </a:r>
            <a:r>
              <a:rPr lang="zh-CN" altLang="en-US" sz="2800" b="1" dirty="0">
                <a:solidFill>
                  <a:schemeClr val="tx1"/>
                </a:solidFill>
                <a:latin typeface="Calibri" panose="020F0502020204030204" pitchFamily="34" charset="0"/>
                <a:ea typeface="黑体" panose="02010609060101010101" pitchFamily="2" charset="-122"/>
              </a:rPr>
              <a:t>操作期间，主</a:t>
            </a:r>
            <a:r>
              <a:rPr lang="en-US" altLang="zh-CN" sz="2800" b="1" dirty="0">
                <a:solidFill>
                  <a:schemeClr val="tx1"/>
                </a:solidFill>
                <a:latin typeface="Calibri" panose="020F0502020204030204" pitchFamily="34" charset="0"/>
                <a:ea typeface="黑体" panose="02010609060101010101" pitchFamily="2" charset="-122"/>
              </a:rPr>
              <a:t>CPU</a:t>
            </a:r>
            <a:r>
              <a:rPr lang="zh-CN" altLang="en-US" sz="2800" b="1" dirty="0">
                <a:solidFill>
                  <a:schemeClr val="tx1"/>
                </a:solidFill>
                <a:latin typeface="Calibri" panose="020F0502020204030204" pitchFamily="34" charset="0"/>
                <a:ea typeface="黑体" panose="02010609060101010101" pitchFamily="2" charset="-122"/>
              </a:rPr>
              <a:t>等待还是并行执行？</a:t>
            </a:r>
            <a:endParaRPr lang="zh-CN" altLang="en-US" sz="2800" b="1" dirty="0">
              <a:solidFill>
                <a:schemeClr val="tx1"/>
              </a:solidFill>
              <a:latin typeface="Calibri" panose="020F0502020204030204" pitchFamily="34" charset="0"/>
              <a:ea typeface="黑体" panose="02010609060101010101" pitchFamily="2" charset="-122"/>
            </a:endParaRPr>
          </a:p>
        </p:txBody>
      </p:sp>
      <p:sp>
        <p:nvSpPr>
          <p:cNvPr id="35846" name="Rectangle 6"/>
          <p:cNvSpPr/>
          <p:nvPr/>
        </p:nvSpPr>
        <p:spPr>
          <a:xfrm>
            <a:off x="304800" y="3786188"/>
            <a:ext cx="8659813" cy="1117600"/>
          </a:xfrm>
          <a:prstGeom prst="rect">
            <a:avLst/>
          </a:prstGeom>
          <a:noFill/>
          <a:ln w="9525">
            <a:noFill/>
          </a:ln>
        </p:spPr>
        <p:txBody>
          <a:bodyPr>
            <a:spAutoFit/>
          </a:bodyPr>
          <a:p>
            <a:pPr eaLnBrk="0" hangingPunct="0">
              <a:lnSpc>
                <a:spcPct val="120000"/>
              </a:lnSpc>
              <a:spcBef>
                <a:spcPct val="50000"/>
              </a:spcBef>
            </a:pPr>
            <a:r>
              <a:rPr lang="zh-CN" altLang="en-US" sz="2800" b="1" dirty="0">
                <a:solidFill>
                  <a:schemeClr val="tx1"/>
                </a:solidFill>
                <a:latin typeface="Calibri" panose="020F0502020204030204" pitchFamily="34" charset="0"/>
                <a:ea typeface="黑体" panose="02010609060101010101" pitchFamily="2" charset="-122"/>
              </a:rPr>
              <a:t>（</a:t>
            </a:r>
            <a:r>
              <a:rPr lang="en-US" altLang="zh-CN" sz="2800" b="1" dirty="0">
                <a:solidFill>
                  <a:schemeClr val="tx1"/>
                </a:solidFill>
                <a:latin typeface="Calibri" panose="020F0502020204030204" pitchFamily="34" charset="0"/>
                <a:ea typeface="黑体" panose="02010609060101010101" pitchFamily="2" charset="-122"/>
              </a:rPr>
              <a:t>2</a:t>
            </a:r>
            <a:r>
              <a:rPr lang="zh-CN" altLang="en-US" sz="2800" b="1" dirty="0">
                <a:solidFill>
                  <a:schemeClr val="tx1"/>
                </a:solidFill>
                <a:latin typeface="Calibri" panose="020F0502020204030204" pitchFamily="34" charset="0"/>
                <a:ea typeface="黑体" panose="02010609060101010101" pitchFamily="2" charset="-122"/>
              </a:rPr>
              <a:t>）如果并行，那么</a:t>
            </a:r>
            <a:r>
              <a:rPr lang="en-US" altLang="zh-CN" sz="2800" b="1" dirty="0">
                <a:solidFill>
                  <a:schemeClr val="tx1"/>
                </a:solidFill>
                <a:latin typeface="Calibri" panose="020F0502020204030204" pitchFamily="34" charset="0"/>
                <a:ea typeface="黑体" panose="02010609060101010101" pitchFamily="2" charset="-122"/>
              </a:rPr>
              <a:t>I/O</a:t>
            </a:r>
            <a:r>
              <a:rPr lang="zh-CN" altLang="en-US" sz="2800" b="1" dirty="0">
                <a:solidFill>
                  <a:schemeClr val="tx1"/>
                </a:solidFill>
                <a:latin typeface="Calibri" panose="020F0502020204030204" pitchFamily="34" charset="0"/>
                <a:ea typeface="黑体" panose="02010609060101010101" pitchFamily="2" charset="-122"/>
              </a:rPr>
              <a:t>操作完成后，外设后如何通知主</a:t>
            </a:r>
            <a:r>
              <a:rPr lang="en-US" altLang="zh-CN" sz="2800" b="1" dirty="0">
                <a:solidFill>
                  <a:schemeClr val="tx1"/>
                </a:solidFill>
                <a:latin typeface="Calibri" panose="020F0502020204030204" pitchFamily="34" charset="0"/>
                <a:ea typeface="黑体" panose="02010609060101010101" pitchFamily="2" charset="-122"/>
              </a:rPr>
              <a:t>CPU</a:t>
            </a:r>
            <a:r>
              <a:rPr lang="zh-CN" altLang="en-US" sz="2800" b="1" dirty="0">
                <a:solidFill>
                  <a:schemeClr val="tx1"/>
                </a:solidFill>
                <a:latin typeface="Calibri" panose="020F0502020204030204" pitchFamily="34" charset="0"/>
                <a:ea typeface="黑体" panose="02010609060101010101" pitchFamily="2" charset="-122"/>
              </a:rPr>
              <a:t>执行善后工作？</a:t>
            </a:r>
            <a:endParaRPr lang="zh-CN" altLang="en-US" sz="2800" b="1" dirty="0">
              <a:solidFill>
                <a:schemeClr val="tx1"/>
              </a:solidFill>
              <a:latin typeface="Calibri" panose="020F0502020204030204" pitchFamily="34" charset="0"/>
              <a:ea typeface="黑体" panose="02010609060101010101" pitchFamily="2" charset="-122"/>
            </a:endParaRPr>
          </a:p>
        </p:txBody>
      </p:sp>
      <p:sp>
        <p:nvSpPr>
          <p:cNvPr id="35847" name="Rectangle 7"/>
          <p:cNvSpPr/>
          <p:nvPr/>
        </p:nvSpPr>
        <p:spPr>
          <a:xfrm>
            <a:off x="304800" y="5216525"/>
            <a:ext cx="8659813" cy="1117600"/>
          </a:xfrm>
          <a:prstGeom prst="rect">
            <a:avLst/>
          </a:prstGeom>
          <a:noFill/>
          <a:ln w="9525">
            <a:noFill/>
          </a:ln>
        </p:spPr>
        <p:txBody>
          <a:bodyPr>
            <a:spAutoFit/>
          </a:bodyPr>
          <a:p>
            <a:pPr algn="just" eaLnBrk="0" hangingPunct="0">
              <a:lnSpc>
                <a:spcPct val="120000"/>
              </a:lnSpc>
            </a:pPr>
            <a:r>
              <a:rPr lang="zh-CN" altLang="en-US" sz="2800" b="1" dirty="0">
                <a:solidFill>
                  <a:schemeClr val="tx1"/>
                </a:solidFill>
                <a:latin typeface="Calibri" panose="020F0502020204030204" pitchFamily="34" charset="0"/>
                <a:ea typeface="黑体" panose="02010609060101010101" pitchFamily="2" charset="-122"/>
              </a:rPr>
              <a:t>（</a:t>
            </a:r>
            <a:r>
              <a:rPr lang="en-US" altLang="zh-CN" sz="2800" b="1" dirty="0">
                <a:solidFill>
                  <a:schemeClr val="tx1"/>
                </a:solidFill>
                <a:latin typeface="Calibri" panose="020F0502020204030204" pitchFamily="34" charset="0"/>
                <a:ea typeface="黑体" panose="02010609060101010101" pitchFamily="2" charset="-122"/>
              </a:rPr>
              <a:t>3</a:t>
            </a:r>
            <a:r>
              <a:rPr lang="zh-CN" altLang="en-US" sz="2800" b="1" dirty="0">
                <a:solidFill>
                  <a:schemeClr val="tx1"/>
                </a:solidFill>
                <a:latin typeface="Calibri" panose="020F0502020204030204" pitchFamily="34" charset="0"/>
                <a:ea typeface="黑体" panose="02010609060101010101" pitchFamily="2" charset="-122"/>
              </a:rPr>
              <a:t>）主</a:t>
            </a:r>
            <a:r>
              <a:rPr lang="en-US" altLang="zh-CN" sz="2800" b="1" dirty="0">
                <a:solidFill>
                  <a:schemeClr val="tx1"/>
                </a:solidFill>
                <a:latin typeface="Calibri" panose="020F0502020204030204" pitchFamily="34" charset="0"/>
                <a:ea typeface="黑体" panose="02010609060101010101" pitchFamily="2" charset="-122"/>
              </a:rPr>
              <a:t>CPU</a:t>
            </a:r>
            <a:r>
              <a:rPr lang="zh-CN" altLang="en-US" sz="2800" b="1" dirty="0">
                <a:solidFill>
                  <a:schemeClr val="tx1"/>
                </a:solidFill>
                <a:latin typeface="Calibri" panose="020F0502020204030204" pitchFamily="34" charset="0"/>
                <a:ea typeface="黑体" panose="02010609060101010101" pitchFamily="2" charset="-122"/>
              </a:rPr>
              <a:t>通过什么方式来实现具体的</a:t>
            </a:r>
            <a:r>
              <a:rPr lang="en-US" altLang="zh-CN" sz="2800" b="1" dirty="0">
                <a:solidFill>
                  <a:schemeClr val="tx1"/>
                </a:solidFill>
                <a:latin typeface="Calibri" panose="020F0502020204030204" pitchFamily="34" charset="0"/>
                <a:ea typeface="黑体" panose="02010609060101010101" pitchFamily="2" charset="-122"/>
              </a:rPr>
              <a:t>I/O</a:t>
            </a:r>
            <a:r>
              <a:rPr lang="zh-CN" altLang="en-US" sz="2800" b="1" dirty="0">
                <a:solidFill>
                  <a:schemeClr val="tx1"/>
                </a:solidFill>
                <a:latin typeface="Calibri" panose="020F0502020204030204" pitchFamily="34" charset="0"/>
                <a:ea typeface="黑体" panose="02010609060101010101" pitchFamily="2" charset="-122"/>
              </a:rPr>
              <a:t>操作控制？</a:t>
            </a:r>
            <a:endParaRPr lang="zh-CN" altLang="en-US" sz="2800" b="1" dirty="0">
              <a:solidFill>
                <a:schemeClr val="tx1"/>
              </a:solidFill>
              <a:latin typeface="Calibri" panose="020F0502020204030204" pitchFamily="34" charset="0"/>
              <a:ea typeface="黑体" panose="02010609060101010101" pitchFamily="2" charset="-122"/>
            </a:endParaRPr>
          </a:p>
          <a:p>
            <a:pPr algn="just" eaLnBrk="0" hangingPunct="0">
              <a:lnSpc>
                <a:spcPct val="120000"/>
              </a:lnSpc>
            </a:pPr>
            <a:r>
              <a:rPr lang="zh-CN" altLang="en-US" sz="2800" b="1" dirty="0">
                <a:solidFill>
                  <a:schemeClr val="accent1"/>
                </a:solidFill>
                <a:latin typeface="Calibri" panose="020F0502020204030204" pitchFamily="34" charset="0"/>
                <a:ea typeface="黑体" panose="02010609060101010101" pitchFamily="2" charset="-122"/>
              </a:rPr>
              <a:t>执行程序？授权给硬件控制？授权给下级</a:t>
            </a:r>
            <a:r>
              <a:rPr lang="en-US" altLang="zh-CN" sz="2800" b="1" dirty="0">
                <a:solidFill>
                  <a:schemeClr val="accent1"/>
                </a:solidFill>
                <a:latin typeface="Calibri" panose="020F0502020204030204" pitchFamily="34" charset="0"/>
                <a:ea typeface="黑体" panose="02010609060101010101" pitchFamily="2" charset="-122"/>
              </a:rPr>
              <a:t>CPU</a:t>
            </a:r>
            <a:r>
              <a:rPr lang="zh-CN" altLang="en-US" sz="2800" b="1" dirty="0">
                <a:solidFill>
                  <a:schemeClr val="accent1"/>
                </a:solidFill>
                <a:latin typeface="Calibri" panose="020F0502020204030204" pitchFamily="34" charset="0"/>
                <a:ea typeface="黑体" panose="02010609060101010101" pitchFamily="2" charset="-122"/>
              </a:rPr>
              <a:t>？</a:t>
            </a:r>
            <a:endParaRPr lang="zh-CN" altLang="en-US" sz="2800" b="1" dirty="0">
              <a:solidFill>
                <a:schemeClr val="accent1"/>
              </a:solidFill>
              <a:latin typeface="Calibri" panose="020F0502020204030204" pitchFamily="34" charset="0"/>
              <a:ea typeface="黑体" panose="02010609060101010101" pitchFamily="2" charset="-122"/>
            </a:endParaRPr>
          </a:p>
        </p:txBody>
      </p:sp>
      <p:sp>
        <p:nvSpPr>
          <p:cNvPr id="29724" name="Text Box 28"/>
          <p:cNvSpPr txBox="1"/>
          <p:nvPr/>
        </p:nvSpPr>
        <p:spPr>
          <a:xfrm>
            <a:off x="1219200" y="188913"/>
            <a:ext cx="6324600" cy="641350"/>
          </a:xfrm>
          <a:prstGeom prst="rect">
            <a:avLst/>
          </a:prstGeom>
          <a:noFill/>
          <a:ln w="12700">
            <a:noFill/>
          </a:ln>
        </p:spPr>
        <p:txBody>
          <a:bodyPr>
            <a:spAutoFit/>
          </a:bodyPr>
          <a:p>
            <a:pPr algn="ctr">
              <a:spcBef>
                <a:spcPct val="50000"/>
              </a:spcBef>
            </a:pPr>
            <a:r>
              <a:rPr lang="en-US" altLang="zh-CN" sz="3600" b="1" dirty="0">
                <a:solidFill>
                  <a:schemeClr val="folHlink"/>
                </a:solidFill>
                <a:latin typeface="黑体" panose="02010609060101010101" pitchFamily="2" charset="-122"/>
                <a:ea typeface="黑体" panose="02010609060101010101" pitchFamily="2" charset="-122"/>
              </a:rPr>
              <a:t>5.3 </a:t>
            </a:r>
            <a:r>
              <a:rPr lang="zh-CN" altLang="en-US" sz="3600" b="1" dirty="0">
                <a:solidFill>
                  <a:schemeClr val="folHlink"/>
                </a:solidFill>
                <a:latin typeface="黑体" panose="02010609060101010101" pitchFamily="2" charset="-122"/>
                <a:ea typeface="黑体" panose="02010609060101010101" pitchFamily="2" charset="-122"/>
              </a:rPr>
              <a:t>直接程序传送方式与接口</a:t>
            </a:r>
            <a:endParaRPr lang="zh-CN" altLang="en-US" sz="3600" b="1" dirty="0">
              <a:solidFill>
                <a:schemeClr val="folHlink"/>
              </a:solidFill>
              <a:latin typeface="黑体" panose="02010609060101010101" pitchFamily="2" charset="-122"/>
              <a:ea typeface="黑体" panose="02010609060101010101" pitchFamily="2" charset="-122"/>
            </a:endParaRPr>
          </a:p>
        </p:txBody>
      </p:sp>
    </p:spTree>
  </p:cSld>
  <p:clrMapOvr>
    <a:masterClrMapping/>
  </p:clrMapOvr>
  <p:transition spd="slow">
    <p:rand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3"/>
          <p:cNvSpPr txBox="1"/>
          <p:nvPr/>
        </p:nvSpPr>
        <p:spPr>
          <a:xfrm>
            <a:off x="468313" y="260350"/>
            <a:ext cx="8424862" cy="1311275"/>
          </a:xfrm>
          <a:prstGeom prst="rect">
            <a:avLst/>
          </a:prstGeom>
          <a:noFill/>
          <a:ln w="12700">
            <a:noFill/>
          </a:ln>
        </p:spPr>
        <p:txBody>
          <a:bodyPr>
            <a:spAutoFit/>
          </a:bodyPr>
          <a:p>
            <a:pPr eaLnBrk="0" hangingPunct="0">
              <a:lnSpc>
                <a:spcPct val="125000"/>
              </a:lnSpc>
            </a:pPr>
            <a:r>
              <a:rPr lang="zh-CN" altLang="en-US" sz="3200" b="1" dirty="0">
                <a:solidFill>
                  <a:srgbClr val="FFFF00"/>
                </a:solidFill>
                <a:latin typeface="Calibri" panose="020F0502020204030204" pitchFamily="34" charset="0"/>
                <a:ea typeface="黑体" panose="02010609060101010101" pitchFamily="2" charset="-122"/>
              </a:rPr>
              <a:t>主机与外围设备之间的</a:t>
            </a:r>
            <a:r>
              <a:rPr lang="en-US" altLang="zh-CN" sz="3200" b="1" dirty="0">
                <a:solidFill>
                  <a:srgbClr val="FFFF00"/>
                </a:solidFill>
                <a:latin typeface="Calibri" panose="020F0502020204030204" pitchFamily="34" charset="0"/>
                <a:ea typeface="黑体" panose="02010609060101010101" pitchFamily="2" charset="-122"/>
              </a:rPr>
              <a:t>I/O</a:t>
            </a:r>
            <a:r>
              <a:rPr lang="zh-CN" altLang="en-US" sz="3200" b="1" dirty="0">
                <a:solidFill>
                  <a:srgbClr val="FFFF00"/>
                </a:solidFill>
                <a:latin typeface="Calibri" panose="020F0502020204030204" pitchFamily="34" charset="0"/>
                <a:ea typeface="黑体" panose="02010609060101010101" pitchFamily="2" charset="-122"/>
              </a:rPr>
              <a:t>操作通常有</a:t>
            </a:r>
            <a:r>
              <a:rPr lang="en-US" altLang="zh-CN" sz="3200" b="1" dirty="0">
                <a:solidFill>
                  <a:srgbClr val="FFFF00"/>
                </a:solidFill>
                <a:latin typeface="Calibri" panose="020F0502020204030204" pitchFamily="34" charset="0"/>
                <a:ea typeface="黑体" panose="02010609060101010101" pitchFamily="2" charset="-122"/>
              </a:rPr>
              <a:t>4</a:t>
            </a:r>
            <a:r>
              <a:rPr lang="zh-CN" altLang="en-US" sz="3200" b="1" dirty="0">
                <a:solidFill>
                  <a:srgbClr val="FFFF00"/>
                </a:solidFill>
                <a:latin typeface="Calibri" panose="020F0502020204030204" pitchFamily="34" charset="0"/>
                <a:ea typeface="黑体" panose="02010609060101010101" pitchFamily="2" charset="-122"/>
              </a:rPr>
              <a:t>种不同的工作模式</a:t>
            </a:r>
            <a:r>
              <a:rPr lang="en-US" altLang="zh-CN" sz="3200" b="1" dirty="0">
                <a:solidFill>
                  <a:srgbClr val="FFFF00"/>
                </a:solidFill>
                <a:latin typeface="Calibri" panose="020F0502020204030204" pitchFamily="34" charset="0"/>
                <a:ea typeface="黑体" panose="02010609060101010101" pitchFamily="2" charset="-122"/>
              </a:rPr>
              <a:t>:</a:t>
            </a:r>
            <a:endParaRPr lang="en-US" altLang="zh-CN" sz="3200" b="1" dirty="0">
              <a:solidFill>
                <a:srgbClr val="FFFF00"/>
              </a:solidFill>
              <a:latin typeface="Calibri" panose="020F0502020204030204" pitchFamily="34" charset="0"/>
              <a:ea typeface="黑体" panose="02010609060101010101" pitchFamily="2" charset="-122"/>
            </a:endParaRPr>
          </a:p>
        </p:txBody>
      </p:sp>
      <p:sp>
        <p:nvSpPr>
          <p:cNvPr id="3" name="Text Box 4"/>
          <p:cNvSpPr txBox="1"/>
          <p:nvPr/>
        </p:nvSpPr>
        <p:spPr>
          <a:xfrm>
            <a:off x="611188" y="1700213"/>
            <a:ext cx="7315200" cy="2524125"/>
          </a:xfrm>
          <a:prstGeom prst="rect">
            <a:avLst/>
          </a:prstGeom>
          <a:noFill/>
          <a:ln w="12700">
            <a:noFill/>
          </a:ln>
        </p:spPr>
        <p:txBody>
          <a:bodyPr>
            <a:spAutoFit/>
          </a:bodyPr>
          <a:p>
            <a:pPr eaLnBrk="0" hangingPunct="0">
              <a:spcBef>
                <a:spcPts val="1200"/>
              </a:spcBef>
            </a:pPr>
            <a:r>
              <a:rPr lang="en-US" altLang="zh-CN" sz="3200" b="1" dirty="0">
                <a:solidFill>
                  <a:schemeClr val="tx1"/>
                </a:solidFill>
                <a:latin typeface="Calibri" panose="020F0502020204030204" pitchFamily="34" charset="0"/>
                <a:ea typeface="黑体" panose="02010609060101010101" pitchFamily="2" charset="-122"/>
              </a:rPr>
              <a:t>1</a:t>
            </a:r>
            <a:r>
              <a:rPr lang="zh-CN" altLang="en-US" sz="3200" b="1" dirty="0">
                <a:solidFill>
                  <a:schemeClr val="tx1"/>
                </a:solidFill>
                <a:latin typeface="Calibri" panose="020F0502020204030204" pitchFamily="34" charset="0"/>
                <a:ea typeface="黑体" panose="02010609060101010101" pitchFamily="2" charset="-122"/>
              </a:rPr>
              <a:t>、直接程序传送方式</a:t>
            </a:r>
            <a:r>
              <a:rPr lang="en-US" altLang="zh-CN" sz="3200" b="1" dirty="0">
                <a:solidFill>
                  <a:schemeClr val="accent1"/>
                </a:solidFill>
                <a:latin typeface="Calibri" panose="020F0502020204030204" pitchFamily="34" charset="0"/>
                <a:ea typeface="黑体" panose="02010609060101010101" pitchFamily="2" charset="-122"/>
              </a:rPr>
              <a:t>(PIO)</a:t>
            </a:r>
            <a:endParaRPr lang="en-US" altLang="zh-CN" sz="3200" b="1" dirty="0">
              <a:solidFill>
                <a:schemeClr val="accent1"/>
              </a:solidFill>
              <a:latin typeface="Calibri" panose="020F0502020204030204" pitchFamily="34" charset="0"/>
              <a:ea typeface="黑体" panose="02010609060101010101" pitchFamily="2" charset="-122"/>
            </a:endParaRPr>
          </a:p>
          <a:p>
            <a:pPr eaLnBrk="0" hangingPunct="0">
              <a:spcBef>
                <a:spcPts val="1200"/>
              </a:spcBef>
            </a:pPr>
            <a:r>
              <a:rPr lang="en-US" altLang="zh-CN" sz="3200" b="1" dirty="0">
                <a:solidFill>
                  <a:schemeClr val="tx1"/>
                </a:solidFill>
                <a:latin typeface="Calibri" panose="020F0502020204030204" pitchFamily="34" charset="0"/>
                <a:ea typeface="黑体" panose="02010609060101010101" pitchFamily="2" charset="-122"/>
              </a:rPr>
              <a:t>2</a:t>
            </a:r>
            <a:r>
              <a:rPr lang="zh-CN" altLang="en-US" sz="3200" b="1" dirty="0">
                <a:solidFill>
                  <a:schemeClr val="tx1"/>
                </a:solidFill>
                <a:latin typeface="Calibri" panose="020F0502020204030204" pitchFamily="34" charset="0"/>
                <a:ea typeface="黑体" panose="02010609060101010101" pitchFamily="2" charset="-122"/>
              </a:rPr>
              <a:t>、程序中断方式</a:t>
            </a:r>
            <a:r>
              <a:rPr lang="en-US" altLang="zh-CN" sz="3200" b="1" dirty="0">
                <a:solidFill>
                  <a:schemeClr val="accent1"/>
                </a:solidFill>
                <a:latin typeface="Calibri" panose="020F0502020204030204" pitchFamily="34" charset="0"/>
                <a:ea typeface="黑体" panose="02010609060101010101" pitchFamily="2" charset="-122"/>
              </a:rPr>
              <a:t>(Interrupt)</a:t>
            </a:r>
            <a:endParaRPr lang="en-US" altLang="zh-CN" sz="3200" b="1" dirty="0">
              <a:solidFill>
                <a:schemeClr val="accent1"/>
              </a:solidFill>
              <a:latin typeface="Calibri" panose="020F0502020204030204" pitchFamily="34" charset="0"/>
              <a:ea typeface="黑体" panose="02010609060101010101" pitchFamily="2" charset="-122"/>
            </a:endParaRPr>
          </a:p>
          <a:p>
            <a:pPr eaLnBrk="0" hangingPunct="0">
              <a:spcBef>
                <a:spcPts val="1200"/>
              </a:spcBef>
            </a:pPr>
            <a:r>
              <a:rPr lang="en-US" altLang="zh-CN" sz="3200" b="1" dirty="0">
                <a:solidFill>
                  <a:schemeClr val="tx1"/>
                </a:solidFill>
                <a:latin typeface="Calibri" panose="020F0502020204030204" pitchFamily="34" charset="0"/>
                <a:ea typeface="黑体" panose="02010609060101010101" pitchFamily="2" charset="-122"/>
              </a:rPr>
              <a:t>3</a:t>
            </a:r>
            <a:r>
              <a:rPr lang="zh-CN" altLang="en-US" sz="3200" b="1" dirty="0">
                <a:solidFill>
                  <a:schemeClr val="tx1"/>
                </a:solidFill>
                <a:latin typeface="Calibri" panose="020F0502020204030204" pitchFamily="34" charset="0"/>
                <a:ea typeface="黑体" panose="02010609060101010101" pitchFamily="2" charset="-122"/>
              </a:rPr>
              <a:t>、直接存储器访问</a:t>
            </a:r>
            <a:r>
              <a:rPr lang="en-US" altLang="zh-CN" sz="3200" b="1" dirty="0">
                <a:solidFill>
                  <a:schemeClr val="accent1"/>
                </a:solidFill>
                <a:latin typeface="Calibri" panose="020F0502020204030204" pitchFamily="34" charset="0"/>
                <a:ea typeface="黑体" panose="02010609060101010101" pitchFamily="2" charset="-122"/>
              </a:rPr>
              <a:t>(DMA)</a:t>
            </a:r>
            <a:r>
              <a:rPr lang="zh-CN" altLang="en-US" sz="3200" b="1" dirty="0">
                <a:solidFill>
                  <a:schemeClr val="tx1"/>
                </a:solidFill>
                <a:latin typeface="Calibri" panose="020F0502020204030204" pitchFamily="34" charset="0"/>
                <a:ea typeface="黑体" panose="02010609060101010101" pitchFamily="2" charset="-122"/>
              </a:rPr>
              <a:t>方式</a:t>
            </a:r>
            <a:endParaRPr lang="en-US" altLang="zh-CN" sz="3200" b="1" dirty="0">
              <a:latin typeface="Calibri" panose="020F0502020204030204" pitchFamily="34" charset="0"/>
              <a:ea typeface="黑体" panose="02010609060101010101" pitchFamily="2" charset="-122"/>
            </a:endParaRPr>
          </a:p>
          <a:p>
            <a:pPr eaLnBrk="0" hangingPunct="0">
              <a:spcBef>
                <a:spcPts val="1200"/>
              </a:spcBef>
            </a:pPr>
            <a:r>
              <a:rPr lang="en-US" altLang="zh-CN" sz="3200" b="1" dirty="0">
                <a:solidFill>
                  <a:schemeClr val="tx1"/>
                </a:solidFill>
                <a:latin typeface="Calibri" panose="020F0502020204030204" pitchFamily="34" charset="0"/>
                <a:ea typeface="黑体" panose="02010609060101010101" pitchFamily="2" charset="-122"/>
              </a:rPr>
              <a:t>4</a:t>
            </a:r>
            <a:r>
              <a:rPr lang="zh-CN" altLang="en-US" sz="3200" b="1" dirty="0">
                <a:solidFill>
                  <a:schemeClr val="tx1"/>
                </a:solidFill>
                <a:latin typeface="Calibri" panose="020F0502020204030204" pitchFamily="34" charset="0"/>
                <a:ea typeface="黑体" panose="02010609060101010101" pitchFamily="2" charset="-122"/>
              </a:rPr>
              <a:t>、</a:t>
            </a:r>
            <a:r>
              <a:rPr lang="en-US" altLang="zh-CN" sz="3200" b="1" dirty="0">
                <a:solidFill>
                  <a:schemeClr val="tx1"/>
                </a:solidFill>
                <a:latin typeface="Calibri" panose="020F0502020204030204" pitchFamily="34" charset="0"/>
                <a:ea typeface="黑体" panose="02010609060101010101" pitchFamily="2" charset="-122"/>
              </a:rPr>
              <a:t>IOP</a:t>
            </a:r>
            <a:r>
              <a:rPr lang="zh-CN" altLang="en-US" sz="3200" b="1" dirty="0">
                <a:solidFill>
                  <a:schemeClr val="tx1"/>
                </a:solidFill>
                <a:latin typeface="Calibri" panose="020F0502020204030204" pitchFamily="34" charset="0"/>
                <a:ea typeface="黑体" panose="02010609060101010101" pitchFamily="2" charset="-122"/>
              </a:rPr>
              <a:t>或</a:t>
            </a:r>
            <a:r>
              <a:rPr lang="en-US" altLang="zh-CN" sz="3200" b="1" dirty="0">
                <a:solidFill>
                  <a:schemeClr val="tx1"/>
                </a:solidFill>
                <a:latin typeface="Calibri" panose="020F0502020204030204" pitchFamily="34" charset="0"/>
                <a:ea typeface="黑体" panose="02010609060101010101" pitchFamily="2" charset="-122"/>
              </a:rPr>
              <a:t>PPU</a:t>
            </a:r>
            <a:r>
              <a:rPr lang="zh-CN" altLang="en-US" sz="3200" b="1" dirty="0">
                <a:solidFill>
                  <a:schemeClr val="tx1"/>
                </a:solidFill>
                <a:latin typeface="Calibri" panose="020F0502020204030204" pitchFamily="34" charset="0"/>
                <a:ea typeface="黑体" panose="02010609060101010101" pitchFamily="2" charset="-122"/>
              </a:rPr>
              <a:t>方式</a:t>
            </a:r>
            <a:r>
              <a:rPr lang="en-US" altLang="zh-CN" sz="3200" b="1" dirty="0">
                <a:solidFill>
                  <a:schemeClr val="accent1"/>
                </a:solidFill>
                <a:latin typeface="Calibri" panose="020F0502020204030204" pitchFamily="34" charset="0"/>
                <a:ea typeface="黑体" panose="02010609060101010101" pitchFamily="2" charset="-122"/>
              </a:rPr>
              <a:t>(</a:t>
            </a:r>
            <a:r>
              <a:rPr lang="zh-CN" altLang="en-US" sz="3200" b="1" dirty="0">
                <a:solidFill>
                  <a:schemeClr val="accent1"/>
                </a:solidFill>
                <a:latin typeface="Calibri" panose="020F0502020204030204" pitchFamily="34" charset="0"/>
                <a:ea typeface="黑体" panose="02010609060101010101" pitchFamily="2" charset="-122"/>
              </a:rPr>
              <a:t>专用处理器</a:t>
            </a:r>
            <a:r>
              <a:rPr lang="en-US" altLang="zh-CN" sz="3200" b="1" dirty="0">
                <a:solidFill>
                  <a:schemeClr val="accent1"/>
                </a:solidFill>
                <a:latin typeface="Calibri" panose="020F0502020204030204" pitchFamily="34" charset="0"/>
                <a:ea typeface="黑体" panose="02010609060101010101" pitchFamily="2" charset="-122"/>
              </a:rPr>
              <a:t>/</a:t>
            </a:r>
            <a:r>
              <a:rPr lang="zh-CN" altLang="en-US" sz="3200" b="1" dirty="0">
                <a:solidFill>
                  <a:schemeClr val="accent1"/>
                </a:solidFill>
                <a:latin typeface="Calibri" panose="020F0502020204030204" pitchFamily="34" charset="0"/>
                <a:ea typeface="黑体" panose="02010609060101010101" pitchFamily="2" charset="-122"/>
              </a:rPr>
              <a:t>处理机</a:t>
            </a:r>
            <a:r>
              <a:rPr lang="en-US" altLang="zh-CN" sz="3200" b="1" dirty="0">
                <a:solidFill>
                  <a:schemeClr val="accent1"/>
                </a:solidFill>
                <a:latin typeface="Calibri" panose="020F0502020204030204" pitchFamily="34" charset="0"/>
                <a:ea typeface="黑体" panose="02010609060101010101" pitchFamily="2" charset="-122"/>
              </a:rPr>
              <a:t>)</a:t>
            </a:r>
            <a:endParaRPr lang="en-US" altLang="zh-CN" sz="3200" b="1" dirty="0">
              <a:solidFill>
                <a:schemeClr val="accent1"/>
              </a:solidFill>
              <a:latin typeface="Calibri" panose="020F0502020204030204" pitchFamily="34" charset="0"/>
              <a:ea typeface="黑体" panose="02010609060101010101" pitchFamily="2" charset="-122"/>
            </a:endParaRPr>
          </a:p>
        </p:txBody>
      </p:sp>
      <p:sp>
        <p:nvSpPr>
          <p:cNvPr id="4" name="Text Box 3"/>
          <p:cNvSpPr txBox="1"/>
          <p:nvPr/>
        </p:nvSpPr>
        <p:spPr>
          <a:xfrm>
            <a:off x="539750" y="4292600"/>
            <a:ext cx="7488238" cy="749300"/>
          </a:xfrm>
          <a:prstGeom prst="rect">
            <a:avLst/>
          </a:prstGeom>
          <a:noFill/>
          <a:ln w="12700">
            <a:noFill/>
          </a:ln>
        </p:spPr>
        <p:txBody>
          <a:bodyPr>
            <a:spAutoFit/>
          </a:bodyPr>
          <a:p>
            <a:pPr eaLnBrk="0" hangingPunct="0">
              <a:lnSpc>
                <a:spcPct val="135000"/>
              </a:lnSpc>
              <a:spcBef>
                <a:spcPct val="50000"/>
              </a:spcBef>
            </a:pPr>
            <a:r>
              <a:rPr lang="zh-CN" altLang="en-US" sz="3200" b="1" dirty="0">
                <a:solidFill>
                  <a:schemeClr val="folHlink"/>
                </a:solidFill>
                <a:latin typeface="黑体" panose="02010609060101010101" pitchFamily="2" charset="-122"/>
                <a:ea typeface="黑体" panose="02010609060101010101" pitchFamily="2" charset="-122"/>
              </a:rPr>
              <a:t>各种方式工作模式的核心差异在于：</a:t>
            </a:r>
            <a:endParaRPr lang="en-US" altLang="zh-CN" sz="3200" b="1" dirty="0">
              <a:solidFill>
                <a:schemeClr val="folHlink"/>
              </a:solidFill>
              <a:latin typeface="黑体" panose="02010609060101010101" pitchFamily="2" charset="-122"/>
              <a:ea typeface="黑体" panose="02010609060101010101" pitchFamily="2" charset="-122"/>
            </a:endParaRPr>
          </a:p>
        </p:txBody>
      </p:sp>
      <p:sp>
        <p:nvSpPr>
          <p:cNvPr id="6" name="Text Box 6"/>
          <p:cNvSpPr txBox="1"/>
          <p:nvPr/>
        </p:nvSpPr>
        <p:spPr>
          <a:xfrm>
            <a:off x="539750" y="4941888"/>
            <a:ext cx="8424863" cy="660400"/>
          </a:xfrm>
          <a:prstGeom prst="rect">
            <a:avLst/>
          </a:prstGeom>
          <a:noFill/>
          <a:ln w="9525">
            <a:noFill/>
          </a:ln>
        </p:spPr>
        <p:txBody>
          <a:bodyPr>
            <a:spAutoFit/>
          </a:bodyPr>
          <a:p>
            <a:pPr eaLnBrk="0" hangingPunct="0">
              <a:lnSpc>
                <a:spcPct val="135000"/>
              </a:lnSpc>
              <a:spcBef>
                <a:spcPct val="50000"/>
              </a:spcBef>
            </a:pPr>
            <a:r>
              <a:rPr lang="zh-CN" altLang="en-US" sz="3200" b="1" dirty="0">
                <a:solidFill>
                  <a:srgbClr val="00FF00"/>
                </a:solidFill>
                <a:latin typeface="黑体" panose="02010609060101010101" pitchFamily="2" charset="-122"/>
                <a:ea typeface="黑体" panose="02010609060101010101" pitchFamily="2" charset="-122"/>
              </a:rPr>
              <a:t>在数据</a:t>
            </a:r>
            <a:r>
              <a:rPr lang="en-US" altLang="zh-CN" sz="3200" b="1" dirty="0">
                <a:solidFill>
                  <a:srgbClr val="00FF00"/>
                </a:solidFill>
                <a:latin typeface="黑体" panose="02010609060101010101" pitchFamily="2" charset="-122"/>
                <a:ea typeface="黑体" panose="02010609060101010101" pitchFamily="2" charset="-122"/>
              </a:rPr>
              <a:t>I/O</a:t>
            </a:r>
            <a:r>
              <a:rPr lang="zh-CN" altLang="en-US" sz="3200" b="1" dirty="0">
                <a:solidFill>
                  <a:srgbClr val="00FF00"/>
                </a:solidFill>
                <a:latin typeface="黑体" panose="02010609060101010101" pitchFamily="2" charset="-122"/>
                <a:ea typeface="黑体" panose="02010609060101010101" pitchFamily="2" charset="-122"/>
              </a:rPr>
              <a:t>过程中，主</a:t>
            </a:r>
            <a:r>
              <a:rPr lang="en-US" altLang="zh-CN" sz="3200" b="1" dirty="0">
                <a:solidFill>
                  <a:srgbClr val="00FF00"/>
                </a:solidFill>
                <a:latin typeface="黑体" panose="02010609060101010101" pitchFamily="2" charset="-122"/>
                <a:ea typeface="黑体" panose="02010609060101010101" pitchFamily="2" charset="-122"/>
              </a:rPr>
              <a:t>CPU</a:t>
            </a:r>
            <a:r>
              <a:rPr lang="zh-CN" altLang="en-US" sz="3200" b="1" dirty="0">
                <a:solidFill>
                  <a:srgbClr val="00FF00"/>
                </a:solidFill>
                <a:latin typeface="黑体" panose="02010609060101010101" pitchFamily="2" charset="-122"/>
                <a:ea typeface="黑体" panose="02010609060101010101" pitchFamily="2" charset="-122"/>
              </a:rPr>
              <a:t>承担的任务不同。</a:t>
            </a:r>
            <a:endParaRPr lang="en-US" altLang="zh-CN" sz="3200" b="1" dirty="0">
              <a:solidFill>
                <a:srgbClr val="00FF00"/>
              </a:solidFill>
              <a:latin typeface="黑体" panose="02010609060101010101" pitchFamily="2" charset="-122"/>
              <a:ea typeface="黑体" panose="02010609060101010101" pitchFamily="2" charset="-122"/>
            </a:endParaRPr>
          </a:p>
        </p:txBody>
      </p:sp>
    </p:spTree>
  </p:cSld>
  <p:clrMapOvr>
    <a:masterClrMapping/>
  </p:clrMapOvr>
  <p:transition spd="slow">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9" name="Text Box 3"/>
          <p:cNvSpPr txBox="1"/>
          <p:nvPr/>
        </p:nvSpPr>
        <p:spPr>
          <a:xfrm>
            <a:off x="34925" y="1052513"/>
            <a:ext cx="9109075" cy="579437"/>
          </a:xfrm>
          <a:prstGeom prst="rect">
            <a:avLst/>
          </a:prstGeom>
          <a:noFill/>
          <a:ln w="9525">
            <a:noFill/>
          </a:ln>
        </p:spPr>
        <p:txBody>
          <a:bodyPr>
            <a:spAutoFit/>
          </a:bodyPr>
          <a:p>
            <a:pPr>
              <a:spcBef>
                <a:spcPct val="50000"/>
              </a:spcBef>
            </a:pPr>
            <a:r>
              <a:rPr lang="zh-CN" altLang="en-US" sz="3200" b="1" dirty="0">
                <a:solidFill>
                  <a:schemeClr val="folHlink"/>
                </a:solidFill>
                <a:latin typeface="Calibri" panose="020F0502020204030204" pitchFamily="34" charset="0"/>
                <a:ea typeface="黑体" panose="02010609060101010101" pitchFamily="2" charset="-122"/>
              </a:rPr>
              <a:t>特征：</a:t>
            </a:r>
            <a:r>
              <a:rPr lang="zh-CN" altLang="en-US" sz="3200" b="1" dirty="0">
                <a:solidFill>
                  <a:schemeClr val="tx1"/>
                </a:solidFill>
                <a:latin typeface="Calibri" panose="020F0502020204030204" pitchFamily="34" charset="0"/>
                <a:ea typeface="黑体" panose="02010609060101010101" pitchFamily="2" charset="-122"/>
              </a:rPr>
              <a:t>主</a:t>
            </a:r>
            <a:r>
              <a:rPr lang="en-US" altLang="zh-CN" sz="3200" b="1" dirty="0">
                <a:solidFill>
                  <a:schemeClr val="tx1"/>
                </a:solidFill>
                <a:latin typeface="Calibri" panose="020F0502020204030204" pitchFamily="34" charset="0"/>
                <a:ea typeface="黑体" panose="02010609060101010101" pitchFamily="2" charset="-122"/>
              </a:rPr>
              <a:t>CPU</a:t>
            </a:r>
            <a:r>
              <a:rPr lang="zh-CN" altLang="en-US" sz="3200" b="1" dirty="0">
                <a:solidFill>
                  <a:schemeClr val="tx1"/>
                </a:solidFill>
                <a:latin typeface="Calibri" panose="020F0502020204030204" pitchFamily="34" charset="0"/>
                <a:ea typeface="黑体" panose="02010609060101010101" pitchFamily="2" charset="-122"/>
              </a:rPr>
              <a:t>执行</a:t>
            </a:r>
            <a:r>
              <a:rPr lang="en-US" altLang="zh-CN" sz="3200" b="1" dirty="0">
                <a:solidFill>
                  <a:schemeClr val="folHlink"/>
                </a:solidFill>
                <a:latin typeface="Calibri" panose="020F0502020204030204" pitchFamily="34" charset="0"/>
                <a:ea typeface="黑体" panose="02010609060101010101" pitchFamily="2" charset="-122"/>
              </a:rPr>
              <a:t>I/O</a:t>
            </a:r>
            <a:r>
              <a:rPr lang="zh-CN" altLang="en-US" sz="3200" b="1" dirty="0">
                <a:solidFill>
                  <a:schemeClr val="folHlink"/>
                </a:solidFill>
                <a:latin typeface="Calibri" panose="020F0502020204030204" pitchFamily="34" charset="0"/>
                <a:ea typeface="黑体" panose="02010609060101010101" pitchFamily="2" charset="-122"/>
              </a:rPr>
              <a:t>程序</a:t>
            </a:r>
            <a:r>
              <a:rPr lang="zh-CN" altLang="en-US" sz="3200" b="1" dirty="0">
                <a:solidFill>
                  <a:schemeClr val="tx1"/>
                </a:solidFill>
                <a:latin typeface="Calibri" panose="020F0502020204030204" pitchFamily="34" charset="0"/>
                <a:ea typeface="黑体" panose="02010609060101010101" pitchFamily="2" charset="-122"/>
              </a:rPr>
              <a:t>实现主</a:t>
            </a:r>
            <a:r>
              <a:rPr lang="en-US" altLang="zh-CN" sz="3200" b="1" dirty="0">
                <a:solidFill>
                  <a:schemeClr val="tx1"/>
                </a:solidFill>
                <a:latin typeface="Calibri" panose="020F0502020204030204" pitchFamily="34" charset="0"/>
                <a:ea typeface="黑体" panose="02010609060101010101" pitchFamily="2" charset="-122"/>
              </a:rPr>
              <a:t>-</a:t>
            </a:r>
            <a:r>
              <a:rPr lang="zh-CN" altLang="en-US" sz="3200" b="1" dirty="0">
                <a:solidFill>
                  <a:schemeClr val="tx1"/>
                </a:solidFill>
                <a:latin typeface="Calibri" panose="020F0502020204030204" pitchFamily="34" charset="0"/>
                <a:ea typeface="黑体" panose="02010609060101010101" pitchFamily="2" charset="-122"/>
              </a:rPr>
              <a:t>外的</a:t>
            </a:r>
            <a:r>
              <a:rPr lang="zh-CN" altLang="en-US" sz="3200" b="1" dirty="0">
                <a:solidFill>
                  <a:schemeClr val="accent1"/>
                </a:solidFill>
                <a:latin typeface="Calibri" panose="020F0502020204030204" pitchFamily="34" charset="0"/>
                <a:ea typeface="黑体" panose="02010609060101010101" pitchFamily="2" charset="-122"/>
              </a:rPr>
              <a:t>数据</a:t>
            </a:r>
            <a:r>
              <a:rPr lang="en-US" altLang="zh-CN" sz="3200" b="1" dirty="0">
                <a:solidFill>
                  <a:schemeClr val="accent1"/>
                </a:solidFill>
                <a:latin typeface="Calibri" panose="020F0502020204030204" pitchFamily="34" charset="0"/>
                <a:ea typeface="黑体" panose="02010609060101010101" pitchFamily="2" charset="-122"/>
              </a:rPr>
              <a:t>I/O</a:t>
            </a:r>
            <a:r>
              <a:rPr lang="zh-CN" altLang="en-US" sz="3200" b="1" dirty="0">
                <a:solidFill>
                  <a:schemeClr val="tx1"/>
                </a:solidFill>
                <a:latin typeface="Calibri" panose="020F0502020204030204" pitchFamily="34" charset="0"/>
                <a:ea typeface="黑体" panose="02010609060101010101" pitchFamily="2" charset="-122"/>
              </a:rPr>
              <a:t>；</a:t>
            </a:r>
            <a:endParaRPr lang="zh-CN" altLang="en-US" sz="3200" b="1" dirty="0">
              <a:solidFill>
                <a:schemeClr val="tx1"/>
              </a:solidFill>
              <a:latin typeface="Calibri" panose="020F0502020204030204" pitchFamily="34" charset="0"/>
              <a:ea typeface="黑体" panose="02010609060101010101" pitchFamily="2" charset="-122"/>
            </a:endParaRPr>
          </a:p>
        </p:txBody>
      </p:sp>
      <p:sp>
        <p:nvSpPr>
          <p:cNvPr id="29700" name="Text Box 4"/>
          <p:cNvSpPr txBox="1"/>
          <p:nvPr/>
        </p:nvSpPr>
        <p:spPr>
          <a:xfrm>
            <a:off x="107950" y="1770063"/>
            <a:ext cx="4267200" cy="579437"/>
          </a:xfrm>
          <a:prstGeom prst="rect">
            <a:avLst/>
          </a:prstGeom>
          <a:noFill/>
          <a:ln w="9525">
            <a:noFill/>
          </a:ln>
        </p:spPr>
        <p:txBody>
          <a:bodyPr>
            <a:spAutoFit/>
          </a:bodyPr>
          <a:p>
            <a:pPr>
              <a:spcBef>
                <a:spcPct val="50000"/>
              </a:spcBef>
            </a:pPr>
            <a:r>
              <a:rPr lang="en-US" altLang="zh-CN" sz="3200" b="1" dirty="0">
                <a:solidFill>
                  <a:srgbClr val="FFFF00"/>
                </a:solidFill>
                <a:latin typeface="黑体" panose="02010609060101010101" pitchFamily="2" charset="-122"/>
                <a:ea typeface="黑体" panose="02010609060101010101" pitchFamily="2" charset="-122"/>
              </a:rPr>
              <a:t>1.</a:t>
            </a:r>
            <a:r>
              <a:rPr lang="zh-CN" altLang="en-US" sz="3200" b="1" dirty="0">
                <a:solidFill>
                  <a:srgbClr val="FFFF00"/>
                </a:solidFill>
                <a:latin typeface="黑体" panose="02010609060101010101" pitchFamily="2" charset="-122"/>
                <a:ea typeface="黑体" panose="02010609060101010101" pitchFamily="2" charset="-122"/>
              </a:rPr>
              <a:t>外设状态</a:t>
            </a:r>
            <a:endParaRPr lang="zh-CN" altLang="en-US" sz="3200" b="1" dirty="0">
              <a:solidFill>
                <a:srgbClr val="FFFF00"/>
              </a:solidFill>
              <a:latin typeface="黑体" panose="02010609060101010101" pitchFamily="2" charset="-122"/>
              <a:ea typeface="黑体" panose="02010609060101010101" pitchFamily="2" charset="-122"/>
            </a:endParaRPr>
          </a:p>
        </p:txBody>
      </p:sp>
      <p:grpSp>
        <p:nvGrpSpPr>
          <p:cNvPr id="2" name="Group 5"/>
          <p:cNvGrpSpPr/>
          <p:nvPr/>
        </p:nvGrpSpPr>
        <p:grpSpPr>
          <a:xfrm>
            <a:off x="4090988" y="2565400"/>
            <a:ext cx="1381125" cy="1008063"/>
            <a:chOff x="1510" y="1968"/>
            <a:chExt cx="904" cy="635"/>
          </a:xfrm>
        </p:grpSpPr>
        <p:sp>
          <p:nvSpPr>
            <p:cNvPr id="6172" name="Oval 6"/>
            <p:cNvSpPr/>
            <p:nvPr/>
          </p:nvSpPr>
          <p:spPr>
            <a:xfrm>
              <a:off x="1510" y="1968"/>
              <a:ext cx="839" cy="635"/>
            </a:xfrm>
            <a:prstGeom prst="ellipse">
              <a:avLst/>
            </a:prstGeom>
            <a:solidFill>
              <a:schemeClr val="accent1"/>
            </a:solidFill>
            <a:ln w="38100"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6173" name="Text Box 7"/>
            <p:cNvSpPr txBox="1"/>
            <p:nvPr/>
          </p:nvSpPr>
          <p:spPr>
            <a:xfrm>
              <a:off x="1641" y="2102"/>
              <a:ext cx="773" cy="327"/>
            </a:xfrm>
            <a:prstGeom prst="rect">
              <a:avLst/>
            </a:prstGeom>
            <a:noFill/>
            <a:ln w="9525">
              <a:noFill/>
            </a:ln>
          </p:spPr>
          <p:txBody>
            <a:bodyPr>
              <a:spAutoFit/>
            </a:bodyPr>
            <a:p>
              <a:pPr>
                <a:spcBef>
                  <a:spcPct val="50000"/>
                </a:spcBef>
              </a:pPr>
              <a:r>
                <a:rPr lang="zh-CN" altLang="en-US" sz="2800" b="1" dirty="0">
                  <a:solidFill>
                    <a:schemeClr val="bg2"/>
                  </a:solidFill>
                  <a:latin typeface="Times New Roman" panose="02020603050405020304" pitchFamily="18" charset="0"/>
                  <a:ea typeface="黑体" panose="02010609060101010101" pitchFamily="2" charset="-122"/>
                </a:rPr>
                <a:t>空闲</a:t>
              </a:r>
              <a:endParaRPr lang="zh-CN" altLang="en-US" sz="2800" b="1" dirty="0">
                <a:solidFill>
                  <a:schemeClr val="bg2"/>
                </a:solidFill>
                <a:latin typeface="Times New Roman" panose="02020603050405020304" pitchFamily="18" charset="0"/>
                <a:ea typeface="黑体" panose="02010609060101010101" pitchFamily="2" charset="-122"/>
              </a:endParaRPr>
            </a:p>
          </p:txBody>
        </p:sp>
      </p:grpSp>
      <p:grpSp>
        <p:nvGrpSpPr>
          <p:cNvPr id="3" name="Group 8"/>
          <p:cNvGrpSpPr/>
          <p:nvPr/>
        </p:nvGrpSpPr>
        <p:grpSpPr>
          <a:xfrm>
            <a:off x="7124700" y="2559050"/>
            <a:ext cx="1223963" cy="936625"/>
            <a:chOff x="1367" y="2079"/>
            <a:chExt cx="771" cy="590"/>
          </a:xfrm>
        </p:grpSpPr>
        <p:sp>
          <p:nvSpPr>
            <p:cNvPr id="6170" name="Oval 9"/>
            <p:cNvSpPr/>
            <p:nvPr/>
          </p:nvSpPr>
          <p:spPr>
            <a:xfrm>
              <a:off x="1367" y="2079"/>
              <a:ext cx="771" cy="590"/>
            </a:xfrm>
            <a:prstGeom prst="ellipse">
              <a:avLst/>
            </a:prstGeom>
            <a:solidFill>
              <a:schemeClr val="accent1"/>
            </a:solidFill>
            <a:ln w="38100"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6171" name="Text Box 10"/>
            <p:cNvSpPr txBox="1"/>
            <p:nvPr/>
          </p:nvSpPr>
          <p:spPr>
            <a:xfrm>
              <a:off x="1451" y="2210"/>
              <a:ext cx="681" cy="327"/>
            </a:xfrm>
            <a:prstGeom prst="rect">
              <a:avLst/>
            </a:prstGeom>
            <a:noFill/>
            <a:ln w="9525">
              <a:noFill/>
            </a:ln>
          </p:spPr>
          <p:txBody>
            <a:bodyPr>
              <a:spAutoFit/>
            </a:bodyPr>
            <a:p>
              <a:pPr>
                <a:spcBef>
                  <a:spcPct val="50000"/>
                </a:spcBef>
              </a:pPr>
              <a:r>
                <a:rPr lang="zh-CN" altLang="en-US" sz="2800" b="1" dirty="0">
                  <a:solidFill>
                    <a:schemeClr val="bg2"/>
                  </a:solidFill>
                  <a:latin typeface="Times New Roman" panose="02020603050405020304" pitchFamily="18" charset="0"/>
                  <a:ea typeface="黑体" panose="02010609060101010101" pitchFamily="2" charset="-122"/>
                </a:rPr>
                <a:t>工作</a:t>
              </a:r>
              <a:endParaRPr lang="zh-CN" altLang="en-US" sz="2800" b="1" dirty="0">
                <a:solidFill>
                  <a:schemeClr val="bg2"/>
                </a:solidFill>
                <a:latin typeface="Times New Roman" panose="02020603050405020304" pitchFamily="18" charset="0"/>
                <a:ea typeface="黑体" panose="02010609060101010101" pitchFamily="2" charset="-122"/>
              </a:endParaRPr>
            </a:p>
          </p:txBody>
        </p:sp>
      </p:grpSp>
      <p:grpSp>
        <p:nvGrpSpPr>
          <p:cNvPr id="4" name="Group 11"/>
          <p:cNvGrpSpPr/>
          <p:nvPr/>
        </p:nvGrpSpPr>
        <p:grpSpPr>
          <a:xfrm>
            <a:off x="5602288" y="4508500"/>
            <a:ext cx="1701800" cy="755650"/>
            <a:chOff x="1432" y="2063"/>
            <a:chExt cx="1072" cy="476"/>
          </a:xfrm>
        </p:grpSpPr>
        <p:sp>
          <p:nvSpPr>
            <p:cNvPr id="6168" name="Oval 12"/>
            <p:cNvSpPr/>
            <p:nvPr/>
          </p:nvSpPr>
          <p:spPr>
            <a:xfrm>
              <a:off x="1432" y="2063"/>
              <a:ext cx="975" cy="476"/>
            </a:xfrm>
            <a:prstGeom prst="ellipse">
              <a:avLst/>
            </a:prstGeom>
            <a:solidFill>
              <a:schemeClr val="accent1"/>
            </a:solidFill>
            <a:ln w="38100"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6169" name="Text Box 13"/>
            <p:cNvSpPr txBox="1"/>
            <p:nvPr/>
          </p:nvSpPr>
          <p:spPr>
            <a:xfrm>
              <a:off x="1632" y="2121"/>
              <a:ext cx="872" cy="329"/>
            </a:xfrm>
            <a:prstGeom prst="rect">
              <a:avLst/>
            </a:prstGeom>
            <a:noFill/>
            <a:ln w="9525">
              <a:noFill/>
            </a:ln>
          </p:spPr>
          <p:txBody>
            <a:bodyPr>
              <a:spAutoFit/>
            </a:bodyPr>
            <a:p>
              <a:pPr>
                <a:spcBef>
                  <a:spcPct val="50000"/>
                </a:spcBef>
              </a:pPr>
              <a:r>
                <a:rPr lang="zh-CN" altLang="en-US" sz="2800" b="1" dirty="0">
                  <a:solidFill>
                    <a:schemeClr val="bg2"/>
                  </a:solidFill>
                  <a:latin typeface="Times New Roman" panose="02020603050405020304" pitchFamily="18" charset="0"/>
                  <a:ea typeface="黑体" panose="02010609060101010101" pitchFamily="2" charset="-122"/>
                </a:rPr>
                <a:t>结束</a:t>
              </a:r>
              <a:endParaRPr lang="zh-CN" altLang="en-US" sz="2800" b="1" dirty="0">
                <a:solidFill>
                  <a:schemeClr val="bg2"/>
                </a:solidFill>
                <a:latin typeface="Times New Roman" panose="02020603050405020304" pitchFamily="18" charset="0"/>
                <a:ea typeface="黑体" panose="02010609060101010101" pitchFamily="2" charset="-122"/>
              </a:endParaRPr>
            </a:p>
          </p:txBody>
        </p:sp>
      </p:grpSp>
      <p:sp>
        <p:nvSpPr>
          <p:cNvPr id="29710" name="Line 14"/>
          <p:cNvSpPr/>
          <p:nvPr/>
        </p:nvSpPr>
        <p:spPr>
          <a:xfrm>
            <a:off x="5407025" y="3063875"/>
            <a:ext cx="1709738" cy="0"/>
          </a:xfrm>
          <a:prstGeom prst="line">
            <a:avLst/>
          </a:prstGeom>
          <a:ln w="38100" cap="flat" cmpd="sng">
            <a:solidFill>
              <a:srgbClr val="FFFF00"/>
            </a:solidFill>
            <a:prstDash val="solid"/>
            <a:headEnd type="none" w="med" len="med"/>
            <a:tailEnd type="stealth" w="lg" len="lg"/>
          </a:ln>
        </p:spPr>
      </p:sp>
      <p:sp>
        <p:nvSpPr>
          <p:cNvPr id="29711" name="Text Box 15"/>
          <p:cNvSpPr txBox="1"/>
          <p:nvPr/>
        </p:nvSpPr>
        <p:spPr>
          <a:xfrm>
            <a:off x="5640388" y="2416175"/>
            <a:ext cx="1260475" cy="519113"/>
          </a:xfrm>
          <a:prstGeom prst="rect">
            <a:avLst/>
          </a:prstGeom>
          <a:noFill/>
          <a:ln w="9525">
            <a:noFill/>
          </a:ln>
        </p:spPr>
        <p:txBody>
          <a:bodyPr>
            <a:spAutoFit/>
          </a:bodyPr>
          <a:p>
            <a:pPr>
              <a:spcBef>
                <a:spcPct val="50000"/>
              </a:spcBef>
            </a:pPr>
            <a:r>
              <a:rPr lang="zh-CN" altLang="en-US" sz="2800" b="1" dirty="0">
                <a:solidFill>
                  <a:schemeClr val="accent1"/>
                </a:solidFill>
                <a:latin typeface="Times New Roman" panose="02020603050405020304" pitchFamily="18" charset="0"/>
                <a:ea typeface="黑体" panose="02010609060101010101" pitchFamily="2" charset="-122"/>
              </a:rPr>
              <a:t>启动</a:t>
            </a:r>
            <a:endParaRPr lang="zh-CN" altLang="en-US" sz="2800" b="1" dirty="0">
              <a:solidFill>
                <a:schemeClr val="accent1"/>
              </a:solidFill>
              <a:latin typeface="Times New Roman" panose="02020603050405020304" pitchFamily="18" charset="0"/>
              <a:ea typeface="黑体" panose="02010609060101010101" pitchFamily="2" charset="-122"/>
            </a:endParaRPr>
          </a:p>
        </p:txBody>
      </p:sp>
      <p:sp>
        <p:nvSpPr>
          <p:cNvPr id="29712" name="Line 16"/>
          <p:cNvSpPr/>
          <p:nvPr/>
        </p:nvSpPr>
        <p:spPr>
          <a:xfrm flipH="1">
            <a:off x="7113588" y="3500438"/>
            <a:ext cx="647700" cy="1296987"/>
          </a:xfrm>
          <a:prstGeom prst="line">
            <a:avLst/>
          </a:prstGeom>
          <a:ln w="38100" cap="flat" cmpd="sng">
            <a:solidFill>
              <a:srgbClr val="FFFF00"/>
            </a:solidFill>
            <a:prstDash val="solid"/>
            <a:headEnd type="none" w="med" len="med"/>
            <a:tailEnd type="stealth" w="lg" len="lg"/>
          </a:ln>
        </p:spPr>
      </p:sp>
      <p:sp>
        <p:nvSpPr>
          <p:cNvPr id="29713" name="Text Box 17"/>
          <p:cNvSpPr txBox="1"/>
          <p:nvPr/>
        </p:nvSpPr>
        <p:spPr>
          <a:xfrm>
            <a:off x="7407275" y="4043363"/>
            <a:ext cx="1698625" cy="954087"/>
          </a:xfrm>
          <a:prstGeom prst="rect">
            <a:avLst/>
          </a:prstGeom>
          <a:noFill/>
          <a:ln w="9525">
            <a:noFill/>
          </a:ln>
        </p:spPr>
        <p:txBody>
          <a:bodyPr>
            <a:spAutoFit/>
          </a:bodyPr>
          <a:p>
            <a:r>
              <a:rPr lang="zh-CN" altLang="en-US" sz="2800" b="1" dirty="0">
                <a:solidFill>
                  <a:schemeClr val="accent1"/>
                </a:solidFill>
                <a:latin typeface="Times New Roman" panose="02020603050405020304" pitchFamily="18" charset="0"/>
                <a:ea typeface="黑体" panose="02010609060101010101" pitchFamily="2" charset="-122"/>
              </a:rPr>
              <a:t>完成</a:t>
            </a:r>
            <a:r>
              <a:rPr lang="en-US" altLang="zh-CN" sz="2800" b="1" dirty="0">
                <a:solidFill>
                  <a:schemeClr val="accent1"/>
                </a:solidFill>
                <a:latin typeface="Times New Roman" panose="02020603050405020304" pitchFamily="18" charset="0"/>
                <a:ea typeface="黑体" panose="02010609060101010101" pitchFamily="2" charset="-122"/>
              </a:rPr>
              <a:t>1</a:t>
            </a:r>
            <a:r>
              <a:rPr lang="zh-CN" altLang="en-US" sz="2800" b="1" dirty="0">
                <a:solidFill>
                  <a:schemeClr val="accent1"/>
                </a:solidFill>
                <a:latin typeface="Times New Roman" panose="02020603050405020304" pitchFamily="18" charset="0"/>
                <a:ea typeface="黑体" panose="02010609060101010101" pitchFamily="2" charset="-122"/>
              </a:rPr>
              <a:t>次</a:t>
            </a:r>
            <a:endParaRPr lang="zh-CN" altLang="en-US" sz="2800" b="1" dirty="0">
              <a:solidFill>
                <a:schemeClr val="accent1"/>
              </a:solidFill>
              <a:latin typeface="Times New Roman" panose="02020603050405020304" pitchFamily="18" charset="0"/>
              <a:ea typeface="黑体" panose="02010609060101010101" pitchFamily="2" charset="-122"/>
            </a:endParaRPr>
          </a:p>
          <a:p>
            <a:r>
              <a:rPr lang="en-US" altLang="zh-CN" sz="2800" b="1" dirty="0">
                <a:solidFill>
                  <a:schemeClr val="accent1"/>
                </a:solidFill>
                <a:latin typeface="Times New Roman" panose="02020603050405020304" pitchFamily="18" charset="0"/>
                <a:ea typeface="黑体" panose="02010609060101010101" pitchFamily="2" charset="-122"/>
              </a:rPr>
              <a:t>I/O</a:t>
            </a:r>
            <a:endParaRPr lang="en-US" altLang="zh-CN" sz="2800" b="1" dirty="0">
              <a:solidFill>
                <a:schemeClr val="accent1"/>
              </a:solidFill>
              <a:latin typeface="Times New Roman" panose="02020603050405020304" pitchFamily="18" charset="0"/>
              <a:ea typeface="黑体" panose="02010609060101010101" pitchFamily="2" charset="-122"/>
            </a:endParaRPr>
          </a:p>
        </p:txBody>
      </p:sp>
      <p:sp>
        <p:nvSpPr>
          <p:cNvPr id="29714" name="Line 18"/>
          <p:cNvSpPr/>
          <p:nvPr/>
        </p:nvSpPr>
        <p:spPr>
          <a:xfrm flipH="1" flipV="1">
            <a:off x="4983163" y="3568700"/>
            <a:ext cx="733425" cy="1100138"/>
          </a:xfrm>
          <a:prstGeom prst="line">
            <a:avLst/>
          </a:prstGeom>
          <a:ln w="38100" cap="flat" cmpd="sng">
            <a:solidFill>
              <a:srgbClr val="FFFF00"/>
            </a:solidFill>
            <a:prstDash val="solid"/>
            <a:headEnd type="none" w="med" len="med"/>
            <a:tailEnd type="stealth" w="lg" len="lg"/>
          </a:ln>
        </p:spPr>
      </p:sp>
      <p:sp>
        <p:nvSpPr>
          <p:cNvPr id="29715" name="Text Box 19"/>
          <p:cNvSpPr txBox="1"/>
          <p:nvPr/>
        </p:nvSpPr>
        <p:spPr>
          <a:xfrm>
            <a:off x="4494213" y="4005263"/>
            <a:ext cx="1179512" cy="519112"/>
          </a:xfrm>
          <a:prstGeom prst="rect">
            <a:avLst/>
          </a:prstGeom>
          <a:noFill/>
          <a:ln w="9525">
            <a:noFill/>
          </a:ln>
        </p:spPr>
        <p:txBody>
          <a:bodyPr>
            <a:spAutoFit/>
          </a:bodyPr>
          <a:p>
            <a:pPr>
              <a:spcBef>
                <a:spcPct val="50000"/>
              </a:spcBef>
            </a:pPr>
            <a:r>
              <a:rPr lang="zh-CN" altLang="en-US" sz="2800" b="1" dirty="0">
                <a:solidFill>
                  <a:schemeClr val="accent1"/>
                </a:solidFill>
                <a:latin typeface="Times New Roman" panose="02020603050405020304" pitchFamily="18" charset="0"/>
                <a:ea typeface="黑体" panose="02010609060101010101" pitchFamily="2" charset="-122"/>
              </a:rPr>
              <a:t>停止</a:t>
            </a:r>
            <a:endParaRPr lang="zh-CN" altLang="en-US" sz="2800" b="1" dirty="0">
              <a:solidFill>
                <a:schemeClr val="accent1"/>
              </a:solidFill>
              <a:latin typeface="Times New Roman" panose="02020603050405020304" pitchFamily="18" charset="0"/>
              <a:ea typeface="黑体" panose="02010609060101010101" pitchFamily="2" charset="-122"/>
            </a:endParaRPr>
          </a:p>
        </p:txBody>
      </p:sp>
      <p:sp>
        <p:nvSpPr>
          <p:cNvPr id="29716" name="Line 20"/>
          <p:cNvSpPr/>
          <p:nvPr/>
        </p:nvSpPr>
        <p:spPr>
          <a:xfrm flipV="1">
            <a:off x="6897688" y="3429000"/>
            <a:ext cx="571500" cy="1182688"/>
          </a:xfrm>
          <a:prstGeom prst="line">
            <a:avLst/>
          </a:prstGeom>
          <a:ln w="38100" cap="flat" cmpd="sng">
            <a:solidFill>
              <a:srgbClr val="FFFF00"/>
            </a:solidFill>
            <a:prstDash val="solid"/>
            <a:headEnd type="none" w="med" len="med"/>
            <a:tailEnd type="stealth" w="lg" len="lg"/>
          </a:ln>
        </p:spPr>
      </p:sp>
      <p:sp>
        <p:nvSpPr>
          <p:cNvPr id="29717" name="Text Box 21"/>
          <p:cNvSpPr txBox="1"/>
          <p:nvPr/>
        </p:nvSpPr>
        <p:spPr>
          <a:xfrm>
            <a:off x="6005513" y="3630613"/>
            <a:ext cx="1828800" cy="519112"/>
          </a:xfrm>
          <a:prstGeom prst="rect">
            <a:avLst/>
          </a:prstGeom>
          <a:noFill/>
          <a:ln w="9525">
            <a:noFill/>
          </a:ln>
        </p:spPr>
        <p:txBody>
          <a:bodyPr>
            <a:spAutoFit/>
          </a:bodyPr>
          <a:p>
            <a:pPr>
              <a:spcBef>
                <a:spcPct val="50000"/>
              </a:spcBef>
            </a:pPr>
            <a:r>
              <a:rPr lang="zh-CN" altLang="en-US" sz="2800" b="1" dirty="0">
                <a:solidFill>
                  <a:schemeClr val="accent1"/>
                </a:solidFill>
                <a:latin typeface="Times New Roman" panose="02020603050405020304" pitchFamily="18" charset="0"/>
                <a:ea typeface="黑体" panose="02010609060101010101" pitchFamily="2" charset="-122"/>
              </a:rPr>
              <a:t>再重复</a:t>
            </a:r>
            <a:endParaRPr lang="zh-CN" altLang="en-US" sz="2800" b="1" dirty="0">
              <a:solidFill>
                <a:schemeClr val="accent1"/>
              </a:solidFill>
              <a:latin typeface="Times New Roman" panose="02020603050405020304" pitchFamily="18" charset="0"/>
              <a:ea typeface="黑体" panose="02010609060101010101" pitchFamily="2" charset="-122"/>
            </a:endParaRPr>
          </a:p>
        </p:txBody>
      </p:sp>
      <p:sp>
        <p:nvSpPr>
          <p:cNvPr id="29718" name="Text Box 22"/>
          <p:cNvSpPr txBox="1"/>
          <p:nvPr/>
        </p:nvSpPr>
        <p:spPr>
          <a:xfrm>
            <a:off x="4305300" y="2060575"/>
            <a:ext cx="914400" cy="519113"/>
          </a:xfrm>
          <a:prstGeom prst="rect">
            <a:avLst/>
          </a:prstGeom>
          <a:noFill/>
          <a:ln w="9525">
            <a:noFill/>
          </a:ln>
        </p:spPr>
        <p:txBody>
          <a:bodyPr>
            <a:spAutoFit/>
          </a:bodyPr>
          <a:p>
            <a:pPr algn="ctr">
              <a:spcBef>
                <a:spcPct val="50000"/>
              </a:spcBef>
            </a:pPr>
            <a:r>
              <a:rPr lang="en-US" altLang="zh-CN" sz="2800" b="1" dirty="0">
                <a:solidFill>
                  <a:srgbClr val="FFFF00"/>
                </a:solidFill>
                <a:latin typeface="黑体" panose="02010609060101010101" pitchFamily="2" charset="-122"/>
                <a:ea typeface="黑体" panose="02010609060101010101" pitchFamily="2" charset="-122"/>
              </a:rPr>
              <a:t>00</a:t>
            </a:r>
            <a:endParaRPr lang="en-US" altLang="zh-CN" sz="2800" b="1" dirty="0">
              <a:solidFill>
                <a:srgbClr val="FFFF00"/>
              </a:solidFill>
              <a:latin typeface="黑体" panose="02010609060101010101" pitchFamily="2" charset="-122"/>
              <a:ea typeface="黑体" panose="02010609060101010101" pitchFamily="2" charset="-122"/>
            </a:endParaRPr>
          </a:p>
        </p:txBody>
      </p:sp>
      <p:sp>
        <p:nvSpPr>
          <p:cNvPr id="29719" name="Text Box 23"/>
          <p:cNvSpPr txBox="1"/>
          <p:nvPr/>
        </p:nvSpPr>
        <p:spPr>
          <a:xfrm>
            <a:off x="7473950" y="2046288"/>
            <a:ext cx="914400" cy="519112"/>
          </a:xfrm>
          <a:prstGeom prst="rect">
            <a:avLst/>
          </a:prstGeom>
          <a:noFill/>
          <a:ln w="9525">
            <a:noFill/>
          </a:ln>
        </p:spPr>
        <p:txBody>
          <a:bodyPr>
            <a:spAutoFit/>
          </a:bodyPr>
          <a:p>
            <a:pPr>
              <a:spcBef>
                <a:spcPct val="50000"/>
              </a:spcBef>
            </a:pPr>
            <a:r>
              <a:rPr lang="en-US" altLang="zh-CN" sz="2800" b="1" dirty="0">
                <a:solidFill>
                  <a:srgbClr val="FFFF00"/>
                </a:solidFill>
                <a:latin typeface="黑体" panose="02010609060101010101" pitchFamily="2" charset="-122"/>
                <a:ea typeface="黑体" panose="02010609060101010101" pitchFamily="2" charset="-122"/>
              </a:rPr>
              <a:t>01</a:t>
            </a:r>
            <a:endParaRPr lang="en-US" altLang="zh-CN" sz="2800" b="1" dirty="0">
              <a:solidFill>
                <a:srgbClr val="FFFF00"/>
              </a:solidFill>
              <a:latin typeface="黑体" panose="02010609060101010101" pitchFamily="2" charset="-122"/>
              <a:ea typeface="黑体" panose="02010609060101010101" pitchFamily="2" charset="-122"/>
            </a:endParaRPr>
          </a:p>
        </p:txBody>
      </p:sp>
      <p:sp>
        <p:nvSpPr>
          <p:cNvPr id="29720" name="Text Box 24"/>
          <p:cNvSpPr txBox="1"/>
          <p:nvPr/>
        </p:nvSpPr>
        <p:spPr>
          <a:xfrm>
            <a:off x="6127750" y="5286375"/>
            <a:ext cx="914400" cy="519113"/>
          </a:xfrm>
          <a:prstGeom prst="rect">
            <a:avLst/>
          </a:prstGeom>
          <a:noFill/>
          <a:ln w="9525">
            <a:noFill/>
          </a:ln>
        </p:spPr>
        <p:txBody>
          <a:bodyPr>
            <a:spAutoFit/>
          </a:bodyPr>
          <a:p>
            <a:pPr>
              <a:spcBef>
                <a:spcPct val="50000"/>
              </a:spcBef>
            </a:pPr>
            <a:r>
              <a:rPr lang="en-US" altLang="zh-CN" sz="2800" b="1" dirty="0">
                <a:solidFill>
                  <a:srgbClr val="FFFF00"/>
                </a:solidFill>
                <a:latin typeface="黑体" panose="02010609060101010101" pitchFamily="2" charset="-122"/>
                <a:ea typeface="黑体" panose="02010609060101010101" pitchFamily="2" charset="-122"/>
              </a:rPr>
              <a:t>10</a:t>
            </a:r>
            <a:endParaRPr lang="en-US" altLang="zh-CN" sz="2800" b="1" dirty="0">
              <a:solidFill>
                <a:srgbClr val="FFFF00"/>
              </a:solidFill>
              <a:latin typeface="黑体" panose="02010609060101010101" pitchFamily="2" charset="-122"/>
              <a:ea typeface="黑体" panose="02010609060101010101" pitchFamily="2" charset="-122"/>
            </a:endParaRPr>
          </a:p>
        </p:txBody>
      </p:sp>
      <p:sp>
        <p:nvSpPr>
          <p:cNvPr id="29721" name="Text Box 25"/>
          <p:cNvSpPr txBox="1"/>
          <p:nvPr/>
        </p:nvSpPr>
        <p:spPr>
          <a:xfrm>
            <a:off x="107950" y="3500438"/>
            <a:ext cx="3600450" cy="946150"/>
          </a:xfrm>
          <a:prstGeom prst="rect">
            <a:avLst/>
          </a:prstGeom>
          <a:noFill/>
          <a:ln w="9525">
            <a:noFill/>
          </a:ln>
        </p:spPr>
        <p:txBody>
          <a:bodyPr>
            <a:spAutoFit/>
          </a:bodyPr>
          <a:p>
            <a:pPr>
              <a:spcBef>
                <a:spcPct val="50000"/>
              </a:spcBef>
            </a:pPr>
            <a:r>
              <a:rPr lang="zh-CN" altLang="en-US" sz="2800" b="1" dirty="0">
                <a:solidFill>
                  <a:srgbClr val="FFFF00"/>
                </a:solidFill>
                <a:latin typeface="Times New Roman" panose="02020603050405020304" pitchFamily="18" charset="0"/>
                <a:ea typeface="黑体" panose="02010609060101010101" pitchFamily="2" charset="-122"/>
              </a:rPr>
              <a:t>空闲</a:t>
            </a:r>
            <a:r>
              <a:rPr lang="zh-CN" altLang="en-US" sz="2800" b="1" dirty="0">
                <a:solidFill>
                  <a:schemeClr val="tx1"/>
                </a:solidFill>
                <a:latin typeface="Times New Roman" panose="02020603050405020304" pitchFamily="18" charset="0"/>
                <a:ea typeface="黑体" panose="02010609060101010101" pitchFamily="2" charset="-122"/>
              </a:rPr>
              <a:t>：调用前，设备未工作；</a:t>
            </a:r>
            <a:endParaRPr lang="zh-CN" altLang="en-US" sz="2800" b="1" dirty="0">
              <a:solidFill>
                <a:schemeClr val="tx1"/>
              </a:solidFill>
              <a:latin typeface="Times New Roman" panose="02020603050405020304" pitchFamily="18" charset="0"/>
              <a:ea typeface="黑体" panose="02010609060101010101" pitchFamily="2" charset="-122"/>
            </a:endParaRPr>
          </a:p>
        </p:txBody>
      </p:sp>
      <p:sp>
        <p:nvSpPr>
          <p:cNvPr id="29722" name="Text Box 26"/>
          <p:cNvSpPr txBox="1"/>
          <p:nvPr/>
        </p:nvSpPr>
        <p:spPr>
          <a:xfrm>
            <a:off x="107950" y="5157788"/>
            <a:ext cx="5040313" cy="954087"/>
          </a:xfrm>
          <a:prstGeom prst="rect">
            <a:avLst/>
          </a:prstGeom>
          <a:noFill/>
          <a:ln w="9525">
            <a:noFill/>
          </a:ln>
        </p:spPr>
        <p:txBody>
          <a:bodyPr>
            <a:spAutoFit/>
          </a:bodyPr>
          <a:p>
            <a:pPr>
              <a:spcBef>
                <a:spcPct val="50000"/>
              </a:spcBef>
            </a:pPr>
            <a:r>
              <a:rPr lang="zh-CN" altLang="en-US" sz="2800" b="1" dirty="0">
                <a:solidFill>
                  <a:srgbClr val="FFFF00"/>
                </a:solidFill>
                <a:latin typeface="Times New Roman" panose="02020603050405020304" pitchFamily="18" charset="0"/>
                <a:ea typeface="黑体" panose="02010609060101010101" pitchFamily="2" charset="-122"/>
              </a:rPr>
              <a:t>结束</a:t>
            </a:r>
            <a:r>
              <a:rPr lang="zh-CN" altLang="en-US" sz="2800" b="1" dirty="0">
                <a:latin typeface="Times New Roman" panose="02020603050405020304" pitchFamily="18" charset="0"/>
                <a:ea typeface="黑体" panose="02010609060101010101" pitchFamily="2" charset="-122"/>
              </a:rPr>
              <a:t>：</a:t>
            </a:r>
            <a:r>
              <a:rPr lang="zh-CN" altLang="en-US" sz="2800" b="1" dirty="0">
                <a:solidFill>
                  <a:schemeClr val="tx1"/>
                </a:solidFill>
                <a:latin typeface="Times New Roman" panose="02020603050405020304" pitchFamily="18" charset="0"/>
                <a:ea typeface="黑体" panose="02010609060101010101" pitchFamily="2" charset="-122"/>
              </a:rPr>
              <a:t>调用后，设备完成了具体的</a:t>
            </a:r>
            <a:r>
              <a:rPr lang="en-US" altLang="zh-CN" sz="2800" b="1" dirty="0">
                <a:solidFill>
                  <a:schemeClr val="tx1"/>
                </a:solidFill>
                <a:latin typeface="Times New Roman" panose="02020603050405020304" pitchFamily="18" charset="0"/>
                <a:ea typeface="黑体" panose="02010609060101010101" pitchFamily="2" charset="-122"/>
              </a:rPr>
              <a:t>I/O</a:t>
            </a:r>
            <a:r>
              <a:rPr lang="zh-CN" altLang="en-US" sz="2800" b="1" dirty="0">
                <a:solidFill>
                  <a:schemeClr val="tx1"/>
                </a:solidFill>
                <a:latin typeface="Times New Roman" panose="02020603050405020304" pitchFamily="18" charset="0"/>
                <a:ea typeface="黑体" panose="02010609060101010101" pitchFamily="2" charset="-122"/>
              </a:rPr>
              <a:t>操作。</a:t>
            </a:r>
            <a:endParaRPr lang="zh-CN" altLang="en-US" sz="2800" b="1" dirty="0">
              <a:solidFill>
                <a:schemeClr val="tx1"/>
              </a:solidFill>
              <a:latin typeface="Times New Roman" panose="02020603050405020304" pitchFamily="18" charset="0"/>
              <a:ea typeface="黑体" panose="02010609060101010101" pitchFamily="2" charset="-122"/>
            </a:endParaRPr>
          </a:p>
        </p:txBody>
      </p:sp>
      <p:sp>
        <p:nvSpPr>
          <p:cNvPr id="29723" name="Text Box 27"/>
          <p:cNvSpPr txBox="1"/>
          <p:nvPr/>
        </p:nvSpPr>
        <p:spPr>
          <a:xfrm>
            <a:off x="107950" y="2411413"/>
            <a:ext cx="3527425" cy="946150"/>
          </a:xfrm>
          <a:prstGeom prst="rect">
            <a:avLst/>
          </a:prstGeom>
          <a:noFill/>
          <a:ln w="9525">
            <a:noFill/>
          </a:ln>
        </p:spPr>
        <p:txBody>
          <a:bodyPr>
            <a:spAutoFit/>
          </a:bodyPr>
          <a:p>
            <a:r>
              <a:rPr lang="zh-CN" altLang="en-US" sz="2800" b="1" dirty="0">
                <a:solidFill>
                  <a:schemeClr val="tx1"/>
                </a:solidFill>
                <a:latin typeface="Times New Roman" panose="02020603050405020304" pitchFamily="18" charset="0"/>
                <a:ea typeface="黑体" panose="02010609060101010101" pitchFamily="2" charset="-122"/>
              </a:rPr>
              <a:t>在接口中设置</a:t>
            </a:r>
            <a:r>
              <a:rPr lang="zh-CN" altLang="en-US" sz="2800" b="1" dirty="0">
                <a:solidFill>
                  <a:srgbClr val="FFFF00"/>
                </a:solidFill>
                <a:latin typeface="Times New Roman" panose="02020603050405020304" pitchFamily="18" charset="0"/>
                <a:ea typeface="黑体" panose="02010609060101010101" pitchFamily="2" charset="-122"/>
              </a:rPr>
              <a:t>状态字</a:t>
            </a:r>
            <a:r>
              <a:rPr lang="zh-CN" altLang="en-US" sz="2800" b="1" dirty="0">
                <a:solidFill>
                  <a:schemeClr val="tx1"/>
                </a:solidFill>
                <a:latin typeface="Times New Roman" panose="02020603050405020304" pitchFamily="18" charset="0"/>
                <a:ea typeface="黑体" panose="02010609060101010101" pitchFamily="2" charset="-122"/>
              </a:rPr>
              <a:t>来表示外设状态。</a:t>
            </a:r>
            <a:endParaRPr lang="zh-CN" altLang="en-US" sz="2800" b="1" dirty="0">
              <a:solidFill>
                <a:schemeClr val="tx1"/>
              </a:solidFill>
              <a:latin typeface="Times New Roman" panose="02020603050405020304" pitchFamily="18" charset="0"/>
              <a:ea typeface="黑体" panose="02010609060101010101" pitchFamily="2" charset="-122"/>
            </a:endParaRPr>
          </a:p>
        </p:txBody>
      </p:sp>
      <p:sp>
        <p:nvSpPr>
          <p:cNvPr id="29" name="Text Box 26"/>
          <p:cNvSpPr txBox="1"/>
          <p:nvPr/>
        </p:nvSpPr>
        <p:spPr>
          <a:xfrm>
            <a:off x="107950" y="4508500"/>
            <a:ext cx="4319588" cy="523875"/>
          </a:xfrm>
          <a:prstGeom prst="rect">
            <a:avLst/>
          </a:prstGeom>
          <a:noFill/>
          <a:ln w="9525">
            <a:noFill/>
          </a:ln>
        </p:spPr>
        <p:txBody>
          <a:bodyPr>
            <a:spAutoFit/>
          </a:bodyPr>
          <a:p>
            <a:pPr>
              <a:spcBef>
                <a:spcPct val="50000"/>
              </a:spcBef>
            </a:pPr>
            <a:r>
              <a:rPr lang="zh-CN" altLang="en-US" sz="2800" b="1" dirty="0">
                <a:solidFill>
                  <a:srgbClr val="FFFF00"/>
                </a:solidFill>
                <a:latin typeface="Times New Roman" panose="02020603050405020304" pitchFamily="18" charset="0"/>
                <a:ea typeface="黑体" panose="02010609060101010101" pitchFamily="2" charset="-122"/>
              </a:rPr>
              <a:t>工作：</a:t>
            </a:r>
            <a:r>
              <a:rPr lang="zh-CN" altLang="en-US" sz="2800" b="1" dirty="0">
                <a:solidFill>
                  <a:schemeClr val="tx1"/>
                </a:solidFill>
                <a:latin typeface="Times New Roman" panose="02020603050405020304" pitchFamily="18" charset="0"/>
                <a:ea typeface="黑体" panose="02010609060101010101" pitchFamily="2" charset="-122"/>
              </a:rPr>
              <a:t>设备在执行</a:t>
            </a:r>
            <a:r>
              <a:rPr lang="en-US" altLang="zh-CN" sz="2800" b="1" dirty="0">
                <a:solidFill>
                  <a:schemeClr val="tx1"/>
                </a:solidFill>
                <a:latin typeface="Times New Roman" panose="02020603050405020304" pitchFamily="18" charset="0"/>
                <a:ea typeface="黑体" panose="02010609060101010101" pitchFamily="2" charset="-122"/>
              </a:rPr>
              <a:t>I/O</a:t>
            </a:r>
            <a:r>
              <a:rPr lang="zh-CN" altLang="en-US" sz="2800" b="1" dirty="0">
                <a:solidFill>
                  <a:schemeClr val="tx1"/>
                </a:solidFill>
                <a:latin typeface="Times New Roman" panose="02020603050405020304" pitchFamily="18" charset="0"/>
                <a:ea typeface="黑体" panose="02010609060101010101" pitchFamily="2" charset="-122"/>
              </a:rPr>
              <a:t>操作</a:t>
            </a:r>
            <a:endParaRPr lang="zh-CN" altLang="en-US" sz="2800" b="1" dirty="0">
              <a:solidFill>
                <a:schemeClr val="tx1"/>
              </a:solidFill>
              <a:latin typeface="Times New Roman" panose="02020603050405020304" pitchFamily="18" charset="0"/>
              <a:ea typeface="黑体" panose="02010609060101010101" pitchFamily="2" charset="-122"/>
            </a:endParaRPr>
          </a:p>
        </p:txBody>
      </p:sp>
    </p:spTree>
  </p:cSld>
  <p:clrMapOvr>
    <a:masterClrMapping/>
  </p:clrMapOvr>
  <p:transition spd="slow">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Text Box 2"/>
          <p:cNvSpPr txBox="1"/>
          <p:nvPr/>
        </p:nvSpPr>
        <p:spPr>
          <a:xfrm>
            <a:off x="0" y="185738"/>
            <a:ext cx="4267200" cy="579437"/>
          </a:xfrm>
          <a:prstGeom prst="rect">
            <a:avLst/>
          </a:prstGeom>
          <a:noFill/>
          <a:ln w="9525">
            <a:noFill/>
          </a:ln>
        </p:spPr>
        <p:txBody>
          <a:bodyPr>
            <a:spAutoFit/>
          </a:bodyPr>
          <a:p>
            <a:pPr>
              <a:spcBef>
                <a:spcPct val="50000"/>
              </a:spcBef>
            </a:pPr>
            <a:r>
              <a:rPr lang="en-US" altLang="zh-CN" sz="3200" b="1" dirty="0">
                <a:solidFill>
                  <a:schemeClr val="tx1"/>
                </a:solidFill>
                <a:latin typeface="黑体" panose="02010609060101010101" pitchFamily="2" charset="-122"/>
                <a:ea typeface="黑体" panose="02010609060101010101" pitchFamily="2" charset="-122"/>
              </a:rPr>
              <a:t>2.</a:t>
            </a:r>
            <a:r>
              <a:rPr lang="zh-CN" altLang="en-US" sz="3200" b="1" dirty="0">
                <a:solidFill>
                  <a:schemeClr val="tx1"/>
                </a:solidFill>
                <a:latin typeface="黑体" panose="02010609060101010101" pitchFamily="2" charset="-122"/>
                <a:ea typeface="黑体" panose="02010609060101010101" pitchFamily="2" charset="-122"/>
              </a:rPr>
              <a:t>状态查询</a:t>
            </a:r>
            <a:endParaRPr lang="zh-CN" altLang="en-US" sz="3200" b="1" dirty="0">
              <a:solidFill>
                <a:schemeClr val="tx1"/>
              </a:solidFill>
              <a:latin typeface="黑体" panose="02010609060101010101" pitchFamily="2" charset="-122"/>
              <a:ea typeface="黑体" panose="02010609060101010101" pitchFamily="2" charset="-122"/>
            </a:endParaRPr>
          </a:p>
        </p:txBody>
      </p:sp>
      <p:sp>
        <p:nvSpPr>
          <p:cNvPr id="30723" name="Line 3"/>
          <p:cNvSpPr/>
          <p:nvPr/>
        </p:nvSpPr>
        <p:spPr>
          <a:xfrm>
            <a:off x="4697413" y="152400"/>
            <a:ext cx="0" cy="533400"/>
          </a:xfrm>
          <a:prstGeom prst="line">
            <a:avLst/>
          </a:prstGeom>
          <a:ln w="38100" cap="flat" cmpd="sng">
            <a:solidFill>
              <a:schemeClr val="tx1"/>
            </a:solidFill>
            <a:prstDash val="solid"/>
            <a:headEnd type="none" w="med" len="med"/>
            <a:tailEnd type="triangle" w="med" len="med"/>
          </a:ln>
        </p:spPr>
      </p:sp>
      <p:sp>
        <p:nvSpPr>
          <p:cNvPr id="30724" name="Text Box 4"/>
          <p:cNvSpPr txBox="1"/>
          <p:nvPr/>
        </p:nvSpPr>
        <p:spPr>
          <a:xfrm>
            <a:off x="3478213" y="685800"/>
            <a:ext cx="2514600" cy="587375"/>
          </a:xfrm>
          <a:prstGeom prst="rect">
            <a:avLst/>
          </a:prstGeom>
          <a:solidFill>
            <a:schemeClr val="accent1"/>
          </a:solidFill>
          <a:ln w="38100" cap="flat" cmpd="sng">
            <a:solidFill>
              <a:schemeClr val="tx1"/>
            </a:solidFill>
            <a:prstDash val="solid"/>
            <a:miter/>
            <a:headEnd type="none" w="med" len="med"/>
            <a:tailEnd type="none" w="med" len="med"/>
          </a:ln>
        </p:spPr>
        <p:txBody>
          <a:bodyPr>
            <a:spAutoFit/>
          </a:bodyPr>
          <a:p>
            <a:pPr>
              <a:spcBef>
                <a:spcPct val="10000"/>
              </a:spcBef>
            </a:pPr>
            <a:r>
              <a:rPr lang="en-US" altLang="zh-CN" sz="3000" b="1" dirty="0">
                <a:solidFill>
                  <a:schemeClr val="bg2"/>
                </a:solidFill>
                <a:latin typeface="Times New Roman" panose="02020603050405020304" pitchFamily="18" charset="0"/>
                <a:ea typeface="黑体" panose="02010609060101010101" pitchFamily="2" charset="-122"/>
              </a:rPr>
              <a:t>   </a:t>
            </a:r>
            <a:r>
              <a:rPr lang="zh-CN" altLang="en-US" sz="3000" b="1" dirty="0">
                <a:solidFill>
                  <a:schemeClr val="bg2"/>
                </a:solidFill>
                <a:latin typeface="Times New Roman" panose="02020603050405020304" pitchFamily="18" charset="0"/>
                <a:ea typeface="黑体" panose="02010609060101010101" pitchFamily="2" charset="-122"/>
              </a:rPr>
              <a:t>启动外设</a:t>
            </a:r>
            <a:endParaRPr lang="zh-CN" altLang="en-US" sz="3000" b="1" dirty="0">
              <a:solidFill>
                <a:schemeClr val="bg2"/>
              </a:solidFill>
              <a:latin typeface="Times New Roman" panose="02020603050405020304" pitchFamily="18" charset="0"/>
              <a:ea typeface="黑体" panose="02010609060101010101" pitchFamily="2" charset="-122"/>
            </a:endParaRPr>
          </a:p>
        </p:txBody>
      </p:sp>
      <p:sp>
        <p:nvSpPr>
          <p:cNvPr id="30725" name="Line 5"/>
          <p:cNvSpPr/>
          <p:nvPr/>
        </p:nvSpPr>
        <p:spPr>
          <a:xfrm>
            <a:off x="4697413" y="1295400"/>
            <a:ext cx="0" cy="533400"/>
          </a:xfrm>
          <a:prstGeom prst="line">
            <a:avLst/>
          </a:prstGeom>
          <a:ln w="38100" cap="flat" cmpd="sng">
            <a:solidFill>
              <a:schemeClr val="tx1"/>
            </a:solidFill>
            <a:prstDash val="solid"/>
            <a:headEnd type="none" w="med" len="med"/>
            <a:tailEnd type="triangle" w="med" len="med"/>
          </a:ln>
        </p:spPr>
      </p:sp>
      <p:grpSp>
        <p:nvGrpSpPr>
          <p:cNvPr id="2" name="Group 6"/>
          <p:cNvGrpSpPr/>
          <p:nvPr/>
        </p:nvGrpSpPr>
        <p:grpSpPr>
          <a:xfrm>
            <a:off x="2833688" y="1849438"/>
            <a:ext cx="3733800" cy="890587"/>
            <a:chOff x="2400" y="1344"/>
            <a:chExt cx="2352" cy="720"/>
          </a:xfrm>
        </p:grpSpPr>
        <p:sp>
          <p:nvSpPr>
            <p:cNvPr id="7188" name="AutoShape 7"/>
            <p:cNvSpPr/>
            <p:nvPr/>
          </p:nvSpPr>
          <p:spPr>
            <a:xfrm>
              <a:off x="2400" y="1344"/>
              <a:ext cx="2352" cy="720"/>
            </a:xfrm>
            <a:prstGeom prst="flowChartDecision">
              <a:avLst/>
            </a:prstGeom>
            <a:solidFill>
              <a:schemeClr val="accent1"/>
            </a:solidFill>
            <a:ln w="38100"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189" name="Text Box 8"/>
            <p:cNvSpPr txBox="1"/>
            <p:nvPr/>
          </p:nvSpPr>
          <p:spPr>
            <a:xfrm>
              <a:off x="2640" y="1488"/>
              <a:ext cx="2016" cy="444"/>
            </a:xfrm>
            <a:prstGeom prst="rect">
              <a:avLst/>
            </a:prstGeom>
            <a:noFill/>
            <a:ln w="9525">
              <a:noFill/>
            </a:ln>
          </p:spPr>
          <p:txBody>
            <a:bodyPr>
              <a:spAutoFit/>
            </a:bodyPr>
            <a:p>
              <a:pPr algn="ctr">
                <a:spcBef>
                  <a:spcPct val="50000"/>
                </a:spcBef>
              </a:pPr>
              <a:r>
                <a:rPr lang="en-US" altLang="zh-CN" sz="3000" b="1" dirty="0">
                  <a:solidFill>
                    <a:schemeClr val="bg2"/>
                  </a:solidFill>
                  <a:latin typeface="Times New Roman" panose="02020603050405020304" pitchFamily="18" charset="0"/>
                  <a:ea typeface="黑体" panose="02010609060101010101" pitchFamily="2" charset="-122"/>
                </a:rPr>
                <a:t>  </a:t>
              </a:r>
              <a:r>
                <a:rPr lang="zh-CN" altLang="en-US" sz="3000" b="1" dirty="0">
                  <a:solidFill>
                    <a:schemeClr val="bg2"/>
                  </a:solidFill>
                  <a:latin typeface="Times New Roman" panose="02020603050405020304" pitchFamily="18" charset="0"/>
                  <a:ea typeface="黑体" panose="02010609060101010101" pitchFamily="2" charset="-122"/>
                </a:rPr>
                <a:t>外设就绪？</a:t>
              </a:r>
              <a:endParaRPr lang="zh-CN" altLang="en-US" sz="3000" b="1" dirty="0">
                <a:solidFill>
                  <a:schemeClr val="bg2"/>
                </a:solidFill>
                <a:latin typeface="Times New Roman" panose="02020603050405020304" pitchFamily="18" charset="0"/>
                <a:ea typeface="黑体" panose="02010609060101010101" pitchFamily="2" charset="-122"/>
              </a:endParaRPr>
            </a:p>
          </p:txBody>
        </p:sp>
      </p:grpSp>
      <p:sp>
        <p:nvSpPr>
          <p:cNvPr id="30729" name="Line 9"/>
          <p:cNvSpPr/>
          <p:nvPr/>
        </p:nvSpPr>
        <p:spPr>
          <a:xfrm>
            <a:off x="6602413" y="2316163"/>
            <a:ext cx="838200" cy="0"/>
          </a:xfrm>
          <a:prstGeom prst="line">
            <a:avLst/>
          </a:prstGeom>
          <a:ln w="38100" cap="flat" cmpd="sng">
            <a:solidFill>
              <a:schemeClr val="tx1"/>
            </a:solidFill>
            <a:prstDash val="solid"/>
            <a:headEnd type="none" w="med" len="med"/>
            <a:tailEnd type="none" w="med" len="med"/>
          </a:ln>
        </p:spPr>
      </p:sp>
      <p:sp>
        <p:nvSpPr>
          <p:cNvPr id="30730" name="Line 10"/>
          <p:cNvSpPr/>
          <p:nvPr/>
        </p:nvSpPr>
        <p:spPr>
          <a:xfrm flipV="1">
            <a:off x="7459663" y="1504950"/>
            <a:ext cx="1587" cy="806450"/>
          </a:xfrm>
          <a:prstGeom prst="line">
            <a:avLst/>
          </a:prstGeom>
          <a:ln w="38100" cap="flat" cmpd="sng">
            <a:solidFill>
              <a:schemeClr val="tx1"/>
            </a:solidFill>
            <a:prstDash val="solid"/>
            <a:headEnd type="none" w="med" len="med"/>
            <a:tailEnd type="none" w="med" len="med"/>
          </a:ln>
        </p:spPr>
      </p:sp>
      <p:sp>
        <p:nvSpPr>
          <p:cNvPr id="30731" name="Line 11"/>
          <p:cNvSpPr/>
          <p:nvPr/>
        </p:nvSpPr>
        <p:spPr>
          <a:xfrm flipH="1">
            <a:off x="4697413" y="1524000"/>
            <a:ext cx="2743200" cy="0"/>
          </a:xfrm>
          <a:prstGeom prst="line">
            <a:avLst/>
          </a:prstGeom>
          <a:ln w="38100" cap="flat" cmpd="sng">
            <a:solidFill>
              <a:schemeClr val="tx1"/>
            </a:solidFill>
            <a:prstDash val="solid"/>
            <a:headEnd type="none" w="med" len="med"/>
            <a:tailEnd type="triangle" w="med" len="med"/>
          </a:ln>
        </p:spPr>
      </p:sp>
      <p:sp>
        <p:nvSpPr>
          <p:cNvPr id="30732" name="Text Box 12"/>
          <p:cNvSpPr txBox="1"/>
          <p:nvPr/>
        </p:nvSpPr>
        <p:spPr>
          <a:xfrm>
            <a:off x="6665913" y="1800225"/>
            <a:ext cx="685800" cy="549275"/>
          </a:xfrm>
          <a:prstGeom prst="rect">
            <a:avLst/>
          </a:prstGeom>
          <a:noFill/>
          <a:ln w="9525">
            <a:noFill/>
          </a:ln>
        </p:spPr>
        <p:txBody>
          <a:bodyPr>
            <a:spAutoFit/>
          </a:bodyPr>
          <a:p>
            <a:pPr>
              <a:spcBef>
                <a:spcPct val="50000"/>
              </a:spcBef>
            </a:pPr>
            <a:r>
              <a:rPr lang="en-US" altLang="zh-CN" sz="3000" b="1" dirty="0">
                <a:solidFill>
                  <a:srgbClr val="FFFF00"/>
                </a:solidFill>
                <a:latin typeface="黑体" panose="02010609060101010101" pitchFamily="2" charset="-122"/>
                <a:ea typeface="黑体" panose="02010609060101010101" pitchFamily="2" charset="-122"/>
              </a:rPr>
              <a:t>N</a:t>
            </a:r>
            <a:endParaRPr lang="en-US" altLang="zh-CN" sz="3000" b="1" dirty="0">
              <a:solidFill>
                <a:srgbClr val="FFFF00"/>
              </a:solidFill>
              <a:latin typeface="黑体" panose="02010609060101010101" pitchFamily="2" charset="-122"/>
              <a:ea typeface="黑体" panose="02010609060101010101" pitchFamily="2" charset="-122"/>
            </a:endParaRPr>
          </a:p>
        </p:txBody>
      </p:sp>
      <p:sp>
        <p:nvSpPr>
          <p:cNvPr id="30733" name="Text Box 13"/>
          <p:cNvSpPr txBox="1"/>
          <p:nvPr/>
        </p:nvSpPr>
        <p:spPr>
          <a:xfrm>
            <a:off x="4697413" y="2819400"/>
            <a:ext cx="685800" cy="549275"/>
          </a:xfrm>
          <a:prstGeom prst="rect">
            <a:avLst/>
          </a:prstGeom>
          <a:noFill/>
          <a:ln w="9525">
            <a:noFill/>
          </a:ln>
        </p:spPr>
        <p:txBody>
          <a:bodyPr>
            <a:spAutoFit/>
          </a:bodyPr>
          <a:p>
            <a:pPr>
              <a:spcBef>
                <a:spcPct val="50000"/>
              </a:spcBef>
            </a:pPr>
            <a:r>
              <a:rPr lang="en-US" altLang="zh-CN" sz="3000" b="1" dirty="0">
                <a:solidFill>
                  <a:srgbClr val="FFFF00"/>
                </a:solidFill>
                <a:latin typeface="黑体" panose="02010609060101010101" pitchFamily="2" charset="-122"/>
                <a:ea typeface="黑体" panose="02010609060101010101" pitchFamily="2" charset="-122"/>
              </a:rPr>
              <a:t>Y</a:t>
            </a:r>
            <a:endParaRPr lang="en-US" altLang="zh-CN" sz="3000" b="1" dirty="0">
              <a:solidFill>
                <a:srgbClr val="FFFF00"/>
              </a:solidFill>
              <a:latin typeface="黑体" panose="02010609060101010101" pitchFamily="2" charset="-122"/>
              <a:ea typeface="黑体" panose="02010609060101010101" pitchFamily="2" charset="-122"/>
            </a:endParaRPr>
          </a:p>
        </p:txBody>
      </p:sp>
      <p:sp>
        <p:nvSpPr>
          <p:cNvPr id="30734" name="Line 14"/>
          <p:cNvSpPr/>
          <p:nvPr/>
        </p:nvSpPr>
        <p:spPr>
          <a:xfrm>
            <a:off x="4697413" y="2762250"/>
            <a:ext cx="0" cy="533400"/>
          </a:xfrm>
          <a:prstGeom prst="line">
            <a:avLst/>
          </a:prstGeom>
          <a:ln w="38100" cap="flat" cmpd="sng">
            <a:solidFill>
              <a:schemeClr val="tx1"/>
            </a:solidFill>
            <a:prstDash val="solid"/>
            <a:headEnd type="none" w="med" len="med"/>
            <a:tailEnd type="triangle" w="med" len="med"/>
          </a:ln>
        </p:spPr>
      </p:sp>
      <p:sp>
        <p:nvSpPr>
          <p:cNvPr id="30735" name="Text Box 15"/>
          <p:cNvSpPr txBox="1"/>
          <p:nvPr/>
        </p:nvSpPr>
        <p:spPr>
          <a:xfrm>
            <a:off x="3402013" y="3313113"/>
            <a:ext cx="2514600" cy="587375"/>
          </a:xfrm>
          <a:prstGeom prst="rect">
            <a:avLst/>
          </a:prstGeom>
          <a:solidFill>
            <a:schemeClr val="accent1"/>
          </a:solidFill>
          <a:ln w="38100" cap="flat" cmpd="sng">
            <a:solidFill>
              <a:schemeClr val="tx1"/>
            </a:solidFill>
            <a:prstDash val="solid"/>
            <a:miter/>
            <a:headEnd type="none" w="med" len="med"/>
            <a:tailEnd type="none" w="med" len="med"/>
          </a:ln>
        </p:spPr>
        <p:txBody>
          <a:bodyPr>
            <a:spAutoFit/>
          </a:bodyPr>
          <a:p>
            <a:pPr algn="ctr">
              <a:spcBef>
                <a:spcPct val="50000"/>
              </a:spcBef>
            </a:pPr>
            <a:r>
              <a:rPr lang="en-US" altLang="zh-CN" sz="3000" b="1" dirty="0">
                <a:solidFill>
                  <a:schemeClr val="bg2"/>
                </a:solidFill>
                <a:latin typeface="Times New Roman" panose="02020603050405020304" pitchFamily="18" charset="0"/>
                <a:ea typeface="黑体" panose="02010609060101010101" pitchFamily="2" charset="-122"/>
              </a:rPr>
              <a:t>   I/O</a:t>
            </a:r>
            <a:r>
              <a:rPr lang="zh-CN" altLang="en-US" sz="3000" b="1" dirty="0">
                <a:solidFill>
                  <a:schemeClr val="bg2"/>
                </a:solidFill>
                <a:latin typeface="Times New Roman" panose="02020603050405020304" pitchFamily="18" charset="0"/>
                <a:ea typeface="黑体" panose="02010609060101010101" pitchFamily="2" charset="-122"/>
              </a:rPr>
              <a:t>操作</a:t>
            </a:r>
            <a:endParaRPr lang="zh-CN" altLang="en-US" sz="3000" b="1" dirty="0">
              <a:solidFill>
                <a:schemeClr val="bg2"/>
              </a:solidFill>
              <a:latin typeface="Times New Roman" panose="02020603050405020304" pitchFamily="18" charset="0"/>
              <a:ea typeface="黑体" panose="02010609060101010101" pitchFamily="2" charset="-122"/>
            </a:endParaRPr>
          </a:p>
        </p:txBody>
      </p:sp>
      <p:sp>
        <p:nvSpPr>
          <p:cNvPr id="30737" name="Text Box 17"/>
          <p:cNvSpPr txBox="1"/>
          <p:nvPr/>
        </p:nvSpPr>
        <p:spPr>
          <a:xfrm>
            <a:off x="0" y="3425825"/>
            <a:ext cx="4267200" cy="579438"/>
          </a:xfrm>
          <a:prstGeom prst="rect">
            <a:avLst/>
          </a:prstGeom>
          <a:noFill/>
          <a:ln w="9525">
            <a:noFill/>
          </a:ln>
        </p:spPr>
        <p:txBody>
          <a:bodyPr>
            <a:spAutoFit/>
          </a:bodyPr>
          <a:p>
            <a:pPr>
              <a:spcBef>
                <a:spcPct val="50000"/>
              </a:spcBef>
            </a:pPr>
            <a:r>
              <a:rPr lang="en-US" altLang="zh-CN" sz="3200" b="1" dirty="0">
                <a:latin typeface="黑体" panose="02010609060101010101" pitchFamily="2" charset="-122"/>
                <a:ea typeface="黑体" panose="02010609060101010101" pitchFamily="2" charset="-122"/>
              </a:rPr>
              <a:t>3.</a:t>
            </a:r>
            <a:r>
              <a:rPr lang="zh-CN" altLang="en-US" sz="3200" b="1" dirty="0">
                <a:latin typeface="黑体" panose="02010609060101010101" pitchFamily="2" charset="-122"/>
                <a:ea typeface="黑体" panose="02010609060101010101" pitchFamily="2" charset="-122"/>
              </a:rPr>
              <a:t>优缺点</a:t>
            </a:r>
            <a:endParaRPr lang="zh-CN" altLang="en-US" sz="3200" b="1" dirty="0">
              <a:latin typeface="黑体" panose="02010609060101010101" pitchFamily="2" charset="-122"/>
              <a:ea typeface="黑体" panose="02010609060101010101" pitchFamily="2" charset="-122"/>
            </a:endParaRPr>
          </a:p>
        </p:txBody>
      </p:sp>
      <p:sp>
        <p:nvSpPr>
          <p:cNvPr id="30738" name="Text Box 18"/>
          <p:cNvSpPr txBox="1"/>
          <p:nvPr/>
        </p:nvSpPr>
        <p:spPr>
          <a:xfrm>
            <a:off x="0" y="4133850"/>
            <a:ext cx="2782888" cy="519113"/>
          </a:xfrm>
          <a:prstGeom prst="rect">
            <a:avLst/>
          </a:prstGeom>
          <a:noFill/>
          <a:ln w="9525">
            <a:noFill/>
          </a:ln>
        </p:spPr>
        <p:txBody>
          <a:bodyPr>
            <a:spAutoFit/>
          </a:bodyPr>
          <a:p>
            <a:pPr>
              <a:spcBef>
                <a:spcPct val="50000"/>
              </a:spcBef>
            </a:pPr>
            <a:r>
              <a:rPr lang="zh-CN" altLang="en-US" sz="2800" b="1" dirty="0">
                <a:solidFill>
                  <a:srgbClr val="FFFF00"/>
                </a:solidFill>
                <a:latin typeface="黑体" panose="02010609060101010101" pitchFamily="2" charset="-122"/>
                <a:ea typeface="黑体" panose="02010609060101010101" pitchFamily="2" charset="-122"/>
              </a:rPr>
              <a:t>硬件开销小</a:t>
            </a:r>
            <a:r>
              <a:rPr lang="en-US" altLang="zh-CN" sz="2800" b="1" dirty="0">
                <a:solidFill>
                  <a:srgbClr val="FFFF00"/>
                </a:solidFill>
                <a:latin typeface="黑体" panose="02010609060101010101" pitchFamily="2" charset="-122"/>
                <a:ea typeface="黑体" panose="02010609060101010101" pitchFamily="2" charset="-122"/>
              </a:rPr>
              <a:t>,</a:t>
            </a:r>
            <a:endParaRPr lang="zh-CN" altLang="en-US" sz="2800" b="1" dirty="0">
              <a:solidFill>
                <a:srgbClr val="FFFF00"/>
              </a:solidFill>
              <a:latin typeface="黑体" panose="02010609060101010101" pitchFamily="2" charset="-122"/>
              <a:ea typeface="黑体" panose="02010609060101010101" pitchFamily="2" charset="-122"/>
            </a:endParaRPr>
          </a:p>
        </p:txBody>
      </p:sp>
      <p:sp>
        <p:nvSpPr>
          <p:cNvPr id="30739" name="Text Box 19"/>
          <p:cNvSpPr txBox="1"/>
          <p:nvPr/>
        </p:nvSpPr>
        <p:spPr>
          <a:xfrm>
            <a:off x="2124075" y="4133850"/>
            <a:ext cx="5881688" cy="519113"/>
          </a:xfrm>
          <a:prstGeom prst="rect">
            <a:avLst/>
          </a:prstGeom>
          <a:noFill/>
          <a:ln w="9525">
            <a:noFill/>
          </a:ln>
        </p:spPr>
        <p:txBody>
          <a:bodyPr>
            <a:spAutoFit/>
          </a:bodyPr>
          <a:p>
            <a:pPr>
              <a:spcBef>
                <a:spcPct val="50000"/>
              </a:spcBef>
            </a:pPr>
            <a:r>
              <a:rPr lang="zh-CN" altLang="en-US" sz="2800" b="1" dirty="0">
                <a:solidFill>
                  <a:srgbClr val="FFFF00"/>
                </a:solidFill>
                <a:latin typeface="黑体" panose="02010609060101010101" pitchFamily="2" charset="-122"/>
                <a:ea typeface="黑体" panose="02010609060101010101" pitchFamily="2" charset="-122"/>
              </a:rPr>
              <a:t>实时处理能力差，并行程度低。</a:t>
            </a:r>
            <a:endParaRPr lang="zh-CN" altLang="en-US" sz="2800" b="1" dirty="0">
              <a:solidFill>
                <a:srgbClr val="FFFF00"/>
              </a:solidFill>
              <a:latin typeface="黑体" panose="02010609060101010101" pitchFamily="2" charset="-122"/>
              <a:ea typeface="黑体" panose="02010609060101010101" pitchFamily="2" charset="-122"/>
            </a:endParaRPr>
          </a:p>
        </p:txBody>
      </p:sp>
      <p:sp>
        <p:nvSpPr>
          <p:cNvPr id="30740" name="Text Box 20"/>
          <p:cNvSpPr txBox="1"/>
          <p:nvPr/>
        </p:nvSpPr>
        <p:spPr>
          <a:xfrm>
            <a:off x="0" y="4797425"/>
            <a:ext cx="4267200" cy="579438"/>
          </a:xfrm>
          <a:prstGeom prst="rect">
            <a:avLst/>
          </a:prstGeom>
          <a:noFill/>
          <a:ln w="9525">
            <a:noFill/>
          </a:ln>
        </p:spPr>
        <p:txBody>
          <a:bodyPr>
            <a:spAutoFit/>
          </a:bodyPr>
          <a:p>
            <a:pPr>
              <a:spcBef>
                <a:spcPct val="50000"/>
              </a:spcBef>
            </a:pPr>
            <a:r>
              <a:rPr lang="en-US" altLang="zh-CN" sz="3200" b="1" dirty="0">
                <a:solidFill>
                  <a:schemeClr val="tx1"/>
                </a:solidFill>
                <a:latin typeface="黑体" panose="02010609060101010101" pitchFamily="2" charset="-122"/>
                <a:ea typeface="黑体" panose="02010609060101010101" pitchFamily="2" charset="-122"/>
              </a:rPr>
              <a:t>4.</a:t>
            </a:r>
            <a:r>
              <a:rPr lang="zh-CN" altLang="en-US" sz="3200" b="1" dirty="0">
                <a:solidFill>
                  <a:schemeClr val="tx1"/>
                </a:solidFill>
                <a:latin typeface="黑体" panose="02010609060101010101" pitchFamily="2" charset="-122"/>
                <a:ea typeface="黑体" panose="02010609060101010101" pitchFamily="2" charset="-122"/>
              </a:rPr>
              <a:t>应用场合</a:t>
            </a:r>
            <a:endParaRPr lang="zh-CN" altLang="en-US" sz="3200" b="1" dirty="0">
              <a:solidFill>
                <a:schemeClr val="tx1"/>
              </a:solidFill>
              <a:latin typeface="黑体" panose="02010609060101010101" pitchFamily="2" charset="-122"/>
              <a:ea typeface="黑体" panose="02010609060101010101" pitchFamily="2" charset="-122"/>
            </a:endParaRPr>
          </a:p>
        </p:txBody>
      </p:sp>
      <p:sp>
        <p:nvSpPr>
          <p:cNvPr id="30741" name="Text Box 21"/>
          <p:cNvSpPr txBox="1"/>
          <p:nvPr/>
        </p:nvSpPr>
        <p:spPr>
          <a:xfrm>
            <a:off x="0" y="5445125"/>
            <a:ext cx="8820150" cy="519113"/>
          </a:xfrm>
          <a:prstGeom prst="rect">
            <a:avLst/>
          </a:prstGeom>
          <a:noFill/>
          <a:ln w="9525">
            <a:noFill/>
          </a:ln>
        </p:spPr>
        <p:txBody>
          <a:bodyPr>
            <a:spAutoFit/>
          </a:bodyPr>
          <a:p>
            <a:pPr>
              <a:spcBef>
                <a:spcPct val="50000"/>
              </a:spcBef>
            </a:pPr>
            <a:r>
              <a:rPr lang="en-US" altLang="zh-CN" sz="2800" b="1" dirty="0">
                <a:solidFill>
                  <a:srgbClr val="FFFF00"/>
                </a:solidFill>
                <a:latin typeface="Calibri" panose="020F0502020204030204" pitchFamily="34" charset="0"/>
                <a:ea typeface="黑体" panose="02010609060101010101" pitchFamily="2" charset="-122"/>
              </a:rPr>
              <a:t>I/O</a:t>
            </a:r>
            <a:r>
              <a:rPr lang="zh-CN" altLang="en-US" sz="2800" b="1" dirty="0">
                <a:solidFill>
                  <a:srgbClr val="FFFF00"/>
                </a:solidFill>
                <a:latin typeface="Calibri" panose="020F0502020204030204" pitchFamily="34" charset="0"/>
                <a:ea typeface="黑体" panose="02010609060101010101" pitchFamily="2" charset="-122"/>
              </a:rPr>
              <a:t>效率要求不高、数据量少，如外设的诊断或调试。</a:t>
            </a:r>
            <a:endParaRPr lang="zh-CN" altLang="en-US" sz="2800" b="1" dirty="0">
              <a:solidFill>
                <a:srgbClr val="FFFF00"/>
              </a:solidFill>
              <a:latin typeface="Calibri" panose="020F0502020204030204" pitchFamily="34" charset="0"/>
              <a:ea typeface="黑体" panose="02010609060101010101" pitchFamily="2" charset="-122"/>
            </a:endParaRPr>
          </a:p>
        </p:txBody>
      </p:sp>
    </p:spTree>
  </p:cSld>
  <p:clrMapOvr>
    <a:masterClrMapping/>
  </p:clrMapOvr>
  <p:transition spd="slow">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 name="圆角矩形 33"/>
          <p:cNvSpPr/>
          <p:nvPr/>
        </p:nvSpPr>
        <p:spPr bwMode="auto">
          <a:xfrm>
            <a:off x="1979613" y="1557338"/>
            <a:ext cx="5508625" cy="4032250"/>
          </a:xfrm>
          <a:prstGeom prst="roundRect">
            <a:avLst/>
          </a:prstGeom>
          <a:solidFill>
            <a:schemeClr val="bg1">
              <a:lumMod val="75000"/>
            </a:schemeClr>
          </a:solidFill>
          <a:ln w="19050" cap="sq" cmpd="sng" algn="ctr">
            <a:solidFill>
              <a:schemeClr val="accent1"/>
            </a:solidFill>
            <a:prstDash val="dash"/>
            <a:round/>
            <a:headEnd type="none" w="med" len="med"/>
            <a:tailEnd type="none" w="med" len="me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602" name="Text Box 2"/>
          <p:cNvSpPr txBox="1"/>
          <p:nvPr/>
        </p:nvSpPr>
        <p:spPr>
          <a:xfrm>
            <a:off x="258763" y="228600"/>
            <a:ext cx="6400800" cy="583565"/>
          </a:xfrm>
          <a:prstGeom prst="rect">
            <a:avLst/>
          </a:prstGeom>
          <a:noFill/>
          <a:ln w="12700">
            <a:noFill/>
          </a:ln>
        </p:spPr>
        <p:txBody>
          <a:bodyPr>
            <a:spAutoFit/>
          </a:bodyPr>
          <a:p>
            <a:pPr eaLnBrk="0" hangingPunct="0">
              <a:spcBef>
                <a:spcPct val="50000"/>
              </a:spcBef>
            </a:pPr>
            <a:r>
              <a:rPr lang="en-US" altLang="zh-CN" sz="3200" b="1" dirty="0">
                <a:solidFill>
                  <a:schemeClr val="tx1"/>
                </a:solidFill>
                <a:latin typeface="黑体" panose="02010609060101010101" pitchFamily="2" charset="-122"/>
                <a:ea typeface="黑体" panose="02010609060101010101" pitchFamily="2" charset="-122"/>
              </a:rPr>
              <a:t>5.</a:t>
            </a:r>
            <a:r>
              <a:rPr lang="zh-CN" altLang="en-US" sz="3200" b="1" dirty="0">
                <a:solidFill>
                  <a:schemeClr val="tx1"/>
                </a:solidFill>
                <a:latin typeface="Times New Roman" panose="02020603050405020304" pitchFamily="18" charset="0"/>
                <a:ea typeface="黑体" panose="02010609060101010101" pitchFamily="2" charset="-122"/>
              </a:rPr>
              <a:t>程序查询方式接口功能模型</a:t>
            </a:r>
            <a:endParaRPr lang="zh-CN" altLang="en-US" sz="3200" b="1" dirty="0">
              <a:solidFill>
                <a:schemeClr val="tx1"/>
              </a:solidFill>
              <a:latin typeface="Times New Roman" panose="02020603050405020304" pitchFamily="18" charset="0"/>
              <a:ea typeface="黑体" panose="02010609060101010101" pitchFamily="2" charset="-122"/>
            </a:endParaRPr>
          </a:p>
        </p:txBody>
      </p:sp>
      <p:sp>
        <p:nvSpPr>
          <p:cNvPr id="8196" name="Text Box 4"/>
          <p:cNvSpPr txBox="1"/>
          <p:nvPr/>
        </p:nvSpPr>
        <p:spPr>
          <a:xfrm>
            <a:off x="3962400" y="1993900"/>
            <a:ext cx="381000" cy="457200"/>
          </a:xfrm>
          <a:prstGeom prst="rect">
            <a:avLst/>
          </a:prstGeom>
          <a:noFill/>
          <a:ln w="12700">
            <a:noFill/>
          </a:ln>
        </p:spPr>
        <p:txBody>
          <a:bodyPr>
            <a:spAutoFit/>
          </a:bodyPr>
          <a:p>
            <a:pPr eaLnBrk="0" hangingPunct="0">
              <a:spcBef>
                <a:spcPct val="50000"/>
              </a:spcBef>
            </a:pPr>
            <a:r>
              <a:rPr lang="en-US" altLang="zh-CN" dirty="0">
                <a:solidFill>
                  <a:schemeClr val="tx1"/>
                </a:solidFill>
                <a:latin typeface="Times New Roman" panose="02020603050405020304" pitchFamily="18" charset="0"/>
              </a:rPr>
              <a:t>.</a:t>
            </a:r>
            <a:endParaRPr lang="en-US" altLang="zh-CN" dirty="0">
              <a:solidFill>
                <a:schemeClr val="tx1"/>
              </a:solidFill>
              <a:latin typeface="Times New Roman" panose="02020603050405020304" pitchFamily="18" charset="0"/>
            </a:endParaRPr>
          </a:p>
        </p:txBody>
      </p:sp>
      <p:sp>
        <p:nvSpPr>
          <p:cNvPr id="25609" name="Rectangle 9"/>
          <p:cNvSpPr/>
          <p:nvPr/>
        </p:nvSpPr>
        <p:spPr>
          <a:xfrm>
            <a:off x="2251075" y="4652963"/>
            <a:ext cx="3036888" cy="693737"/>
          </a:xfrm>
          <a:prstGeom prst="rect">
            <a:avLst/>
          </a:prstGeom>
          <a:solidFill>
            <a:schemeClr val="bg1"/>
          </a:solidFill>
          <a:ln w="28575" cap="sq" cmpd="sng">
            <a:solidFill>
              <a:schemeClr val="tx1"/>
            </a:solidFill>
            <a:prstDash val="solid"/>
            <a:miter/>
            <a:headEnd type="none" w="sm" len="sm"/>
            <a:tailEnd type="none" w="sm" len="sm"/>
          </a:ln>
        </p:spPr>
        <p:txBody>
          <a:bodyPr wrap="none" anchor="ctr" anchorCtr="0"/>
          <a:p>
            <a:pPr eaLnBrk="0" hangingPunct="0"/>
            <a:r>
              <a:rPr lang="zh-CN" altLang="en-US" sz="2800" b="1" dirty="0">
                <a:solidFill>
                  <a:schemeClr val="tx1"/>
                </a:solidFill>
                <a:latin typeface="Times New Roman" panose="02020603050405020304" pitchFamily="18" charset="0"/>
                <a:ea typeface="黑体" panose="02010609060101010101" pitchFamily="2" charset="-122"/>
              </a:rPr>
              <a:t>数据缓冲寄存器</a:t>
            </a:r>
            <a:endParaRPr lang="zh-CN" altLang="en-US" sz="2800" b="1" dirty="0">
              <a:solidFill>
                <a:schemeClr val="tx1"/>
              </a:solidFill>
              <a:latin typeface="Times New Roman" panose="02020603050405020304" pitchFamily="18" charset="0"/>
              <a:ea typeface="黑体" panose="02010609060101010101" pitchFamily="2" charset="-122"/>
            </a:endParaRPr>
          </a:p>
        </p:txBody>
      </p:sp>
      <p:grpSp>
        <p:nvGrpSpPr>
          <p:cNvPr id="2" name="组合 34"/>
          <p:cNvGrpSpPr/>
          <p:nvPr/>
        </p:nvGrpSpPr>
        <p:grpSpPr>
          <a:xfrm>
            <a:off x="1068388" y="1455738"/>
            <a:ext cx="1963737" cy="538162"/>
            <a:chOff x="1068289" y="1455615"/>
            <a:chExt cx="1963836" cy="538609"/>
          </a:xfrm>
        </p:grpSpPr>
        <p:sp>
          <p:nvSpPr>
            <p:cNvPr id="8222" name="Text Box 16"/>
            <p:cNvSpPr txBox="1"/>
            <p:nvPr/>
          </p:nvSpPr>
          <p:spPr>
            <a:xfrm>
              <a:off x="1068289" y="1455615"/>
              <a:ext cx="1487487" cy="461665"/>
            </a:xfrm>
            <a:prstGeom prst="rect">
              <a:avLst/>
            </a:prstGeom>
            <a:noFill/>
            <a:ln w="12700">
              <a:noFill/>
            </a:ln>
          </p:spPr>
          <p:txBody>
            <a:bodyPr>
              <a:spAutoFit/>
            </a:bodyPr>
            <a:p>
              <a:pPr eaLnBrk="0" hangingPunct="0">
                <a:spcBef>
                  <a:spcPct val="50000"/>
                </a:spcBef>
              </a:pPr>
              <a:r>
                <a:rPr lang="zh-CN" altLang="en-US" b="1" dirty="0">
                  <a:solidFill>
                    <a:schemeClr val="tx1"/>
                  </a:solidFill>
                  <a:latin typeface="Times New Roman" panose="02020603050405020304" pitchFamily="18" charset="0"/>
                  <a:ea typeface="黑体" panose="02010609060101010101" pitchFamily="2" charset="-122"/>
                </a:rPr>
                <a:t>地址码</a:t>
              </a:r>
              <a:endParaRPr lang="zh-CN" altLang="en-US" b="1" dirty="0">
                <a:solidFill>
                  <a:schemeClr val="tx1"/>
                </a:solidFill>
                <a:latin typeface="Times New Roman" panose="02020603050405020304" pitchFamily="18" charset="0"/>
                <a:ea typeface="黑体" panose="02010609060101010101" pitchFamily="2" charset="-122"/>
              </a:endParaRPr>
            </a:p>
          </p:txBody>
        </p:sp>
        <p:sp>
          <p:nvSpPr>
            <p:cNvPr id="8223" name="AutoShape 19"/>
            <p:cNvSpPr/>
            <p:nvPr/>
          </p:nvSpPr>
          <p:spPr>
            <a:xfrm>
              <a:off x="1127125" y="1841824"/>
              <a:ext cx="1905000" cy="152400"/>
            </a:xfrm>
            <a:prstGeom prst="rightArrow">
              <a:avLst>
                <a:gd name="adj1" fmla="val 50000"/>
                <a:gd name="adj2" fmla="val 312500"/>
              </a:avLst>
            </a:prstGeom>
            <a:solidFill>
              <a:schemeClr val="folHlink"/>
            </a:solidFill>
            <a:ln w="12700" cap="sq" cmpd="sng">
              <a:solidFill>
                <a:schemeClr val="folHlink"/>
              </a:solidFill>
              <a:prstDash val="solid"/>
              <a:miter/>
              <a:headEnd type="none" w="sm" len="sm"/>
              <a:tailEnd type="none" w="sm" len="sm"/>
            </a:ln>
          </p:spPr>
          <p:txBody>
            <a:bodyPr wrap="none" anchor="ctr" anchorCtr="0"/>
            <a:p>
              <a:endParaRPr lang="zh-CN" altLang="en-US" dirty="0">
                <a:solidFill>
                  <a:schemeClr val="tx1"/>
                </a:solidFill>
                <a:latin typeface="Times New Roman" panose="02020603050405020304" pitchFamily="18" charset="0"/>
              </a:endParaRPr>
            </a:p>
          </p:txBody>
        </p:sp>
      </p:grpSp>
      <p:sp>
        <p:nvSpPr>
          <p:cNvPr id="25603" name="Rectangle 3"/>
          <p:cNvSpPr/>
          <p:nvPr/>
        </p:nvSpPr>
        <p:spPr>
          <a:xfrm>
            <a:off x="3048000" y="1689100"/>
            <a:ext cx="1308100" cy="1447800"/>
          </a:xfrm>
          <a:prstGeom prst="rect">
            <a:avLst/>
          </a:prstGeom>
          <a:solidFill>
            <a:schemeClr val="bg1"/>
          </a:solidFill>
          <a:ln w="38100" cap="sq" cmpd="sng">
            <a:solidFill>
              <a:schemeClr val="tx1"/>
            </a:solidFill>
            <a:prstDash val="solid"/>
            <a:miter/>
            <a:headEnd type="none" w="sm" len="sm"/>
            <a:tailEnd type="none" w="sm" len="sm"/>
          </a:ln>
        </p:spPr>
        <p:txBody>
          <a:bodyPr wrap="none" anchor="ctr" anchorCtr="0"/>
          <a:p>
            <a:pPr algn="ctr" eaLnBrk="0" hangingPunct="0"/>
            <a:r>
              <a:rPr lang="zh-CN" altLang="en-US" sz="2800" b="1" dirty="0">
                <a:solidFill>
                  <a:schemeClr val="tx1"/>
                </a:solidFill>
                <a:latin typeface="Times New Roman" panose="02020603050405020304" pitchFamily="18" charset="0"/>
                <a:ea typeface="黑体" panose="02010609060101010101" pitchFamily="2" charset="-122"/>
              </a:rPr>
              <a:t>译码</a:t>
            </a:r>
            <a:endParaRPr lang="zh-CN" altLang="en-US" sz="2800" b="1" dirty="0">
              <a:solidFill>
                <a:schemeClr val="tx1"/>
              </a:solidFill>
              <a:latin typeface="Times New Roman" panose="02020603050405020304" pitchFamily="18" charset="0"/>
              <a:ea typeface="黑体" panose="02010609060101010101" pitchFamily="2" charset="-122"/>
            </a:endParaRPr>
          </a:p>
        </p:txBody>
      </p:sp>
      <p:sp>
        <p:nvSpPr>
          <p:cNvPr id="7194" name="Line 26"/>
          <p:cNvSpPr/>
          <p:nvPr/>
        </p:nvSpPr>
        <p:spPr>
          <a:xfrm>
            <a:off x="4356100" y="2781300"/>
            <a:ext cx="503238" cy="0"/>
          </a:xfrm>
          <a:prstGeom prst="line">
            <a:avLst/>
          </a:prstGeom>
          <a:ln w="38100" cap="sq" cmpd="sng">
            <a:solidFill>
              <a:schemeClr val="accent1"/>
            </a:solidFill>
            <a:prstDash val="solid"/>
            <a:headEnd type="none" w="med" len="med"/>
            <a:tailEnd type="none" w="med" len="med"/>
          </a:ln>
        </p:spPr>
      </p:sp>
      <p:sp>
        <p:nvSpPr>
          <p:cNvPr id="7195" name="Line 27"/>
          <p:cNvSpPr/>
          <p:nvPr/>
        </p:nvSpPr>
        <p:spPr>
          <a:xfrm>
            <a:off x="4859338" y="2781300"/>
            <a:ext cx="0" cy="576263"/>
          </a:xfrm>
          <a:prstGeom prst="line">
            <a:avLst/>
          </a:prstGeom>
          <a:ln w="38100" cap="sq" cmpd="sng">
            <a:solidFill>
              <a:schemeClr val="accent1"/>
            </a:solidFill>
            <a:prstDash val="solid"/>
            <a:headEnd type="none" w="med" len="med"/>
            <a:tailEnd type="triangle" w="med" len="med"/>
          </a:ln>
        </p:spPr>
      </p:sp>
      <p:sp>
        <p:nvSpPr>
          <p:cNvPr id="7196" name="Line 28"/>
          <p:cNvSpPr/>
          <p:nvPr/>
        </p:nvSpPr>
        <p:spPr>
          <a:xfrm>
            <a:off x="4351338" y="2420938"/>
            <a:ext cx="725487" cy="0"/>
          </a:xfrm>
          <a:prstGeom prst="line">
            <a:avLst/>
          </a:prstGeom>
          <a:ln w="38100" cap="sq" cmpd="sng">
            <a:solidFill>
              <a:schemeClr val="accent1"/>
            </a:solidFill>
            <a:prstDash val="solid"/>
            <a:headEnd type="none" w="med" len="med"/>
            <a:tailEnd type="none" w="med" len="med"/>
          </a:ln>
        </p:spPr>
      </p:sp>
      <p:sp>
        <p:nvSpPr>
          <p:cNvPr id="7197" name="Line 29"/>
          <p:cNvSpPr/>
          <p:nvPr/>
        </p:nvSpPr>
        <p:spPr>
          <a:xfrm>
            <a:off x="5076825" y="2420938"/>
            <a:ext cx="0" cy="2232025"/>
          </a:xfrm>
          <a:prstGeom prst="line">
            <a:avLst/>
          </a:prstGeom>
          <a:ln w="38100" cap="sq" cmpd="sng">
            <a:solidFill>
              <a:schemeClr val="accent1"/>
            </a:solidFill>
            <a:prstDash val="solid"/>
            <a:headEnd type="none" w="med" len="med"/>
            <a:tailEnd type="triangle" w="med" len="med"/>
          </a:ln>
        </p:spPr>
      </p:sp>
      <p:grpSp>
        <p:nvGrpSpPr>
          <p:cNvPr id="4" name="组合 35"/>
          <p:cNvGrpSpPr/>
          <p:nvPr/>
        </p:nvGrpSpPr>
        <p:grpSpPr>
          <a:xfrm>
            <a:off x="1116013" y="1989138"/>
            <a:ext cx="1914525" cy="457200"/>
            <a:chOff x="1116787" y="1989462"/>
            <a:chExt cx="1913827" cy="457200"/>
          </a:xfrm>
        </p:grpSpPr>
        <p:sp>
          <p:nvSpPr>
            <p:cNvPr id="8220" name="Text Box 20"/>
            <p:cNvSpPr txBox="1"/>
            <p:nvPr/>
          </p:nvSpPr>
          <p:spPr>
            <a:xfrm>
              <a:off x="1116787" y="1989462"/>
              <a:ext cx="1219200" cy="457200"/>
            </a:xfrm>
            <a:prstGeom prst="rect">
              <a:avLst/>
            </a:prstGeom>
            <a:noFill/>
            <a:ln w="12700">
              <a:noFill/>
            </a:ln>
          </p:spPr>
          <p:txBody>
            <a:bodyPr>
              <a:spAutoFit/>
            </a:bodyPr>
            <a:p>
              <a:pPr eaLnBrk="0" hangingPunct="0">
                <a:spcBef>
                  <a:spcPct val="50000"/>
                </a:spcBef>
              </a:pPr>
              <a:r>
                <a:rPr lang="en-US" altLang="zh-CN" b="1" dirty="0">
                  <a:solidFill>
                    <a:schemeClr val="tx1"/>
                  </a:solidFill>
                  <a:latin typeface="Times New Roman" panose="02020603050405020304" pitchFamily="18" charset="0"/>
                  <a:ea typeface="黑体" panose="02010609060101010101" pitchFamily="2" charset="-122"/>
                </a:rPr>
                <a:t>IOW</a:t>
              </a:r>
              <a:endParaRPr lang="en-US" altLang="zh-CN" b="1" dirty="0">
                <a:solidFill>
                  <a:schemeClr val="tx1"/>
                </a:solidFill>
                <a:latin typeface="Times New Roman" panose="02020603050405020304" pitchFamily="18" charset="0"/>
                <a:ea typeface="黑体" panose="02010609060101010101" pitchFamily="2" charset="-122"/>
              </a:endParaRPr>
            </a:p>
          </p:txBody>
        </p:sp>
        <p:sp>
          <p:nvSpPr>
            <p:cNvPr id="8221" name="Line 30"/>
            <p:cNvSpPr/>
            <p:nvPr/>
          </p:nvSpPr>
          <p:spPr>
            <a:xfrm>
              <a:off x="1122614" y="2421262"/>
              <a:ext cx="1908000" cy="0"/>
            </a:xfrm>
            <a:prstGeom prst="line">
              <a:avLst/>
            </a:prstGeom>
            <a:ln w="38100" cap="sq" cmpd="sng">
              <a:solidFill>
                <a:schemeClr val="accent1"/>
              </a:solidFill>
              <a:prstDash val="solid"/>
              <a:headEnd type="none" w="med" len="med"/>
              <a:tailEnd type="arrow" w="med" len="med"/>
            </a:ln>
          </p:spPr>
        </p:sp>
      </p:grpSp>
      <p:grpSp>
        <p:nvGrpSpPr>
          <p:cNvPr id="5" name="组合 36"/>
          <p:cNvGrpSpPr/>
          <p:nvPr/>
        </p:nvGrpSpPr>
        <p:grpSpPr>
          <a:xfrm>
            <a:off x="1103313" y="2489200"/>
            <a:ext cx="1943100" cy="457200"/>
            <a:chOff x="1103313" y="2488856"/>
            <a:chExt cx="1943100" cy="457200"/>
          </a:xfrm>
        </p:grpSpPr>
        <p:sp>
          <p:nvSpPr>
            <p:cNvPr id="8218" name="Text Box 21"/>
            <p:cNvSpPr txBox="1"/>
            <p:nvPr/>
          </p:nvSpPr>
          <p:spPr>
            <a:xfrm>
              <a:off x="1115616" y="2488856"/>
              <a:ext cx="1219200" cy="457200"/>
            </a:xfrm>
            <a:prstGeom prst="rect">
              <a:avLst/>
            </a:prstGeom>
            <a:noFill/>
            <a:ln w="12700">
              <a:noFill/>
            </a:ln>
          </p:spPr>
          <p:txBody>
            <a:bodyPr>
              <a:spAutoFit/>
            </a:bodyPr>
            <a:p>
              <a:pPr eaLnBrk="0" hangingPunct="0">
                <a:spcBef>
                  <a:spcPct val="50000"/>
                </a:spcBef>
              </a:pPr>
              <a:r>
                <a:rPr lang="en-US" altLang="zh-CN" b="1" dirty="0">
                  <a:solidFill>
                    <a:schemeClr val="tx1"/>
                  </a:solidFill>
                  <a:latin typeface="Times New Roman" panose="02020603050405020304" pitchFamily="18" charset="0"/>
                  <a:ea typeface="黑体" panose="02010609060101010101" pitchFamily="2" charset="-122"/>
                </a:rPr>
                <a:t>IOR</a:t>
              </a:r>
              <a:endParaRPr lang="en-US" altLang="zh-CN" b="1" dirty="0">
                <a:solidFill>
                  <a:schemeClr val="tx1"/>
                </a:solidFill>
                <a:latin typeface="Times New Roman" panose="02020603050405020304" pitchFamily="18" charset="0"/>
                <a:ea typeface="黑体" panose="02010609060101010101" pitchFamily="2" charset="-122"/>
              </a:endParaRPr>
            </a:p>
          </p:txBody>
        </p:sp>
        <p:sp>
          <p:nvSpPr>
            <p:cNvPr id="8219" name="Line 31"/>
            <p:cNvSpPr/>
            <p:nvPr/>
          </p:nvSpPr>
          <p:spPr>
            <a:xfrm>
              <a:off x="1103313" y="2891162"/>
              <a:ext cx="1943100" cy="0"/>
            </a:xfrm>
            <a:prstGeom prst="line">
              <a:avLst/>
            </a:prstGeom>
            <a:ln w="38100" cap="sq" cmpd="sng">
              <a:solidFill>
                <a:schemeClr val="accent1"/>
              </a:solidFill>
              <a:prstDash val="solid"/>
              <a:headEnd type="none" w="med" len="med"/>
              <a:tailEnd type="arrow" w="med" len="med"/>
            </a:ln>
          </p:spPr>
        </p:sp>
      </p:grpSp>
      <p:sp>
        <p:nvSpPr>
          <p:cNvPr id="25606" name="Rectangle 6"/>
          <p:cNvSpPr/>
          <p:nvPr/>
        </p:nvSpPr>
        <p:spPr>
          <a:xfrm>
            <a:off x="2251075" y="3365500"/>
            <a:ext cx="3400425" cy="711200"/>
          </a:xfrm>
          <a:prstGeom prst="rect">
            <a:avLst/>
          </a:prstGeom>
          <a:solidFill>
            <a:schemeClr val="bg1"/>
          </a:solidFill>
          <a:ln w="28575" cap="sq" cmpd="sng">
            <a:solidFill>
              <a:schemeClr val="tx1"/>
            </a:solidFill>
            <a:prstDash val="solid"/>
            <a:miter/>
            <a:headEnd type="none" w="sm" len="sm"/>
            <a:tailEnd type="none" w="sm" len="sm"/>
          </a:ln>
        </p:spPr>
        <p:txBody>
          <a:bodyPr wrap="none" anchor="ctr" anchorCtr="0"/>
          <a:p>
            <a:pPr eaLnBrk="0" hangingPunct="0"/>
            <a:r>
              <a:rPr lang="zh-CN" altLang="en-US" sz="2800" b="1" dirty="0">
                <a:solidFill>
                  <a:schemeClr val="tx1"/>
                </a:solidFill>
                <a:latin typeface="黑体" panose="02010609060101010101" pitchFamily="2" charset="-122"/>
                <a:ea typeface="黑体" panose="02010609060101010101" pitchFamily="2" charset="-122"/>
              </a:rPr>
              <a:t>命令</a:t>
            </a:r>
            <a:r>
              <a:rPr lang="en-US" altLang="zh-CN" sz="2800" b="1" dirty="0">
                <a:solidFill>
                  <a:schemeClr val="tx1"/>
                </a:solidFill>
                <a:latin typeface="黑体" panose="02010609060101010101" pitchFamily="2" charset="-122"/>
                <a:ea typeface="黑体" panose="02010609060101010101" pitchFamily="2" charset="-122"/>
              </a:rPr>
              <a:t>/</a:t>
            </a:r>
            <a:r>
              <a:rPr lang="zh-CN" altLang="en-US" sz="2800" b="1" dirty="0">
                <a:solidFill>
                  <a:schemeClr val="tx1"/>
                </a:solidFill>
                <a:latin typeface="黑体" panose="02010609060101010101" pitchFamily="2" charset="-122"/>
                <a:ea typeface="黑体" panose="02010609060101010101" pitchFamily="2" charset="-122"/>
              </a:rPr>
              <a:t>状态字寄存器</a:t>
            </a:r>
            <a:endParaRPr lang="zh-CN" altLang="en-US" sz="2800" b="1" dirty="0">
              <a:solidFill>
                <a:schemeClr val="tx1"/>
              </a:solidFill>
              <a:latin typeface="黑体" panose="02010609060101010101" pitchFamily="2" charset="-122"/>
              <a:ea typeface="黑体" panose="02010609060101010101" pitchFamily="2" charset="-122"/>
            </a:endParaRPr>
          </a:p>
        </p:txBody>
      </p:sp>
      <p:sp>
        <p:nvSpPr>
          <p:cNvPr id="7202" name="Line 34"/>
          <p:cNvSpPr/>
          <p:nvPr/>
        </p:nvSpPr>
        <p:spPr>
          <a:xfrm>
            <a:off x="5651500" y="3717925"/>
            <a:ext cx="2124075" cy="0"/>
          </a:xfrm>
          <a:prstGeom prst="line">
            <a:avLst/>
          </a:prstGeom>
          <a:ln w="38100" cap="sq" cmpd="sng">
            <a:solidFill>
              <a:schemeClr val="folHlink"/>
            </a:solidFill>
            <a:prstDash val="solid"/>
            <a:headEnd type="arrow" w="med" len="med"/>
            <a:tailEnd type="arrow" w="med" len="med"/>
          </a:ln>
        </p:spPr>
      </p:sp>
      <p:sp>
        <p:nvSpPr>
          <p:cNvPr id="7203" name="Line 35"/>
          <p:cNvSpPr/>
          <p:nvPr/>
        </p:nvSpPr>
        <p:spPr>
          <a:xfrm>
            <a:off x="5288280" y="4977765"/>
            <a:ext cx="2548255" cy="36195"/>
          </a:xfrm>
          <a:prstGeom prst="line">
            <a:avLst/>
          </a:prstGeom>
          <a:ln w="38100" cap="sq" cmpd="sng">
            <a:solidFill>
              <a:schemeClr val="folHlink"/>
            </a:solidFill>
            <a:prstDash val="solid"/>
            <a:headEnd type="arrow" w="med" len="med"/>
            <a:tailEnd type="arrow" w="med" len="med"/>
          </a:ln>
        </p:spPr>
      </p:sp>
      <p:sp>
        <p:nvSpPr>
          <p:cNvPr id="7205" name="Line 37"/>
          <p:cNvSpPr/>
          <p:nvPr/>
        </p:nvSpPr>
        <p:spPr>
          <a:xfrm>
            <a:off x="1154113" y="5013325"/>
            <a:ext cx="1079500" cy="0"/>
          </a:xfrm>
          <a:prstGeom prst="line">
            <a:avLst/>
          </a:prstGeom>
          <a:ln w="38100" cap="sq" cmpd="sng">
            <a:solidFill>
              <a:schemeClr val="folHlink"/>
            </a:solidFill>
            <a:prstDash val="solid"/>
            <a:headEnd type="arrow" w="med" len="med"/>
            <a:tailEnd type="arrow" w="med" len="med"/>
          </a:ln>
        </p:spPr>
      </p:sp>
      <p:sp>
        <p:nvSpPr>
          <p:cNvPr id="7206" name="Line 38"/>
          <p:cNvSpPr/>
          <p:nvPr/>
        </p:nvSpPr>
        <p:spPr>
          <a:xfrm>
            <a:off x="1154113" y="3708400"/>
            <a:ext cx="1079500" cy="0"/>
          </a:xfrm>
          <a:prstGeom prst="line">
            <a:avLst/>
          </a:prstGeom>
          <a:ln w="38100" cap="sq" cmpd="sng">
            <a:solidFill>
              <a:schemeClr val="folHlink"/>
            </a:solidFill>
            <a:prstDash val="solid"/>
            <a:headEnd type="arrow" w="med" len="med"/>
            <a:tailEnd type="arrow" w="med" len="med"/>
          </a:ln>
        </p:spPr>
      </p:sp>
      <p:grpSp>
        <p:nvGrpSpPr>
          <p:cNvPr id="6" name="组合 27"/>
          <p:cNvGrpSpPr/>
          <p:nvPr/>
        </p:nvGrpSpPr>
        <p:grpSpPr>
          <a:xfrm>
            <a:off x="428625" y="1374775"/>
            <a:ext cx="663575" cy="4067175"/>
            <a:chOff x="428055" y="1590024"/>
            <a:chExt cx="663497" cy="4068000"/>
          </a:xfrm>
        </p:grpSpPr>
        <p:sp>
          <p:nvSpPr>
            <p:cNvPr id="8216" name="Text Box 15"/>
            <p:cNvSpPr txBox="1"/>
            <p:nvPr/>
          </p:nvSpPr>
          <p:spPr>
            <a:xfrm>
              <a:off x="428055" y="1812032"/>
              <a:ext cx="615553" cy="3057128"/>
            </a:xfrm>
            <a:prstGeom prst="rect">
              <a:avLst/>
            </a:prstGeom>
            <a:noFill/>
            <a:ln w="12700">
              <a:noFill/>
            </a:ln>
          </p:spPr>
          <p:txBody>
            <a:bodyPr vert="eaVert">
              <a:spAutoFit/>
            </a:bodyPr>
            <a:p>
              <a:pPr algn="ctr" eaLnBrk="0" hangingPunct="0">
                <a:spcBef>
                  <a:spcPct val="50000"/>
                </a:spcBef>
              </a:pPr>
              <a:r>
                <a:rPr lang="zh-CN" altLang="en-US" sz="2800" b="1" dirty="0">
                  <a:solidFill>
                    <a:schemeClr val="tx1"/>
                  </a:solidFill>
                  <a:latin typeface="Times New Roman" panose="02020603050405020304" pitchFamily="18" charset="0"/>
                  <a:ea typeface="黑体" panose="02010609060101010101" pitchFamily="2" charset="-122"/>
                </a:rPr>
                <a:t>系统总线</a:t>
              </a:r>
              <a:endParaRPr lang="zh-CN" altLang="en-US" sz="2800" b="1" dirty="0">
                <a:solidFill>
                  <a:schemeClr val="tx1"/>
                </a:solidFill>
                <a:latin typeface="Times New Roman" panose="02020603050405020304" pitchFamily="18" charset="0"/>
                <a:ea typeface="黑体" panose="02010609060101010101" pitchFamily="2" charset="-122"/>
              </a:endParaRPr>
            </a:p>
          </p:txBody>
        </p:sp>
        <p:sp>
          <p:nvSpPr>
            <p:cNvPr id="8217" name="Line 12"/>
            <p:cNvSpPr/>
            <p:nvPr/>
          </p:nvSpPr>
          <p:spPr>
            <a:xfrm>
              <a:off x="1091552" y="1590024"/>
              <a:ext cx="0" cy="4068000"/>
            </a:xfrm>
            <a:prstGeom prst="line">
              <a:avLst/>
            </a:prstGeom>
            <a:ln w="57150" cap="sq" cmpd="sng">
              <a:solidFill>
                <a:srgbClr val="FFFF00"/>
              </a:solidFill>
              <a:prstDash val="solid"/>
              <a:headEnd type="none" w="sm" len="sm"/>
              <a:tailEnd type="none" w="sm" len="sm"/>
            </a:ln>
          </p:spPr>
        </p:sp>
      </p:grpSp>
      <p:sp>
        <p:nvSpPr>
          <p:cNvPr id="29" name="圆角矩形 28"/>
          <p:cNvSpPr/>
          <p:nvPr/>
        </p:nvSpPr>
        <p:spPr bwMode="auto">
          <a:xfrm>
            <a:off x="7800975" y="3475038"/>
            <a:ext cx="803275" cy="1887538"/>
          </a:xfrm>
          <a:prstGeom prst="roundRect">
            <a:avLst/>
          </a:prstGeom>
          <a:solidFill>
            <a:schemeClr val="bg1">
              <a:lumMod val="50000"/>
            </a:schemeClr>
          </a:solidFill>
          <a:ln w="38100" cap="sq" cmpd="sng" algn="ctr">
            <a:solidFill>
              <a:schemeClr val="tx1"/>
            </a:solidFill>
            <a:prstDash val="solid"/>
            <a:round/>
            <a:headEnd type="none" w="med" len="med"/>
            <a:tailEnd type="none" w="med" len="me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1200" cap="none" spc="0" normalizeH="0" baseline="0" noProof="0" dirty="0">
                <a:ln>
                  <a:noFill/>
                </a:ln>
                <a:solidFill>
                  <a:schemeClr val="tx1"/>
                </a:solidFill>
                <a:effectLst/>
                <a:uLnTx/>
                <a:uFillTx/>
                <a:latin typeface="黑体" panose="02010609060101010101" pitchFamily="2" charset="-122"/>
                <a:ea typeface="黑体" panose="02010609060101010101" pitchFamily="2" charset="-122"/>
                <a:cs typeface="+mn-cs"/>
              </a:rPr>
              <a:t>外</a:t>
            </a:r>
            <a:endParaRPr kumimoji="1" lang="en-US" altLang="zh-CN" sz="2800" b="0" i="0" u="none" strike="noStrike" kern="1200" cap="none" spc="0" normalizeH="0" baseline="0" noProof="0" dirty="0">
              <a:ln>
                <a:noFill/>
              </a:ln>
              <a:solidFill>
                <a:schemeClr val="tx1"/>
              </a:solidFill>
              <a:effectLst/>
              <a:uLnTx/>
              <a:uFillTx/>
              <a:latin typeface="黑体" panose="02010609060101010101" pitchFamily="2" charset="-122"/>
              <a:ea typeface="黑体" panose="0201060906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1200" cap="none" spc="0" normalizeH="0" baseline="0" noProof="0" dirty="0">
                <a:ln>
                  <a:noFill/>
                </a:ln>
                <a:solidFill>
                  <a:schemeClr val="tx1"/>
                </a:solidFill>
                <a:effectLst/>
                <a:uLnTx/>
                <a:uFillTx/>
                <a:latin typeface="黑体" panose="02010609060101010101" pitchFamily="2" charset="-122"/>
                <a:ea typeface="黑体" panose="02010609060101010101" pitchFamily="2" charset="-122"/>
                <a:cs typeface="+mn-cs"/>
              </a:rPr>
              <a:t>部</a:t>
            </a:r>
            <a:endParaRPr kumimoji="1" lang="en-US" altLang="zh-CN" sz="2800" b="0" i="0" u="none" strike="noStrike" kern="1200" cap="none" spc="0" normalizeH="0" baseline="0" noProof="0" dirty="0">
              <a:ln>
                <a:noFill/>
              </a:ln>
              <a:solidFill>
                <a:schemeClr val="tx1"/>
              </a:solidFill>
              <a:effectLst/>
              <a:uLnTx/>
              <a:uFillTx/>
              <a:latin typeface="黑体" panose="02010609060101010101" pitchFamily="2" charset="-122"/>
              <a:ea typeface="黑体" panose="0201060906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1200" cap="none" spc="0" normalizeH="0" baseline="0" noProof="0" dirty="0">
                <a:ln>
                  <a:noFill/>
                </a:ln>
                <a:solidFill>
                  <a:schemeClr val="tx1"/>
                </a:solidFill>
                <a:effectLst/>
                <a:uLnTx/>
                <a:uFillTx/>
                <a:latin typeface="黑体" panose="02010609060101010101" pitchFamily="2" charset="-122"/>
                <a:ea typeface="黑体" panose="02010609060101010101" pitchFamily="2" charset="-122"/>
                <a:cs typeface="+mn-cs"/>
              </a:rPr>
              <a:t>设</a:t>
            </a:r>
            <a:endParaRPr kumimoji="1" lang="en-US" altLang="zh-CN" sz="2800" b="0" i="0" u="none" strike="noStrike" kern="1200" cap="none" spc="0" normalizeH="0" baseline="0" noProof="0" dirty="0">
              <a:ln>
                <a:noFill/>
              </a:ln>
              <a:solidFill>
                <a:schemeClr val="tx1"/>
              </a:solidFill>
              <a:effectLst/>
              <a:uLnTx/>
              <a:uFillTx/>
              <a:latin typeface="黑体" panose="02010609060101010101" pitchFamily="2" charset="-122"/>
              <a:ea typeface="黑体" panose="0201060906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1200" cap="none" spc="0" normalizeH="0" baseline="0" noProof="0" dirty="0">
                <a:ln>
                  <a:noFill/>
                </a:ln>
                <a:solidFill>
                  <a:schemeClr val="tx1"/>
                </a:solidFill>
                <a:effectLst/>
                <a:uLnTx/>
                <a:uFillTx/>
                <a:latin typeface="黑体" panose="02010609060101010101" pitchFamily="2" charset="-122"/>
                <a:ea typeface="黑体" panose="02010609060101010101" pitchFamily="2" charset="-122"/>
                <a:cs typeface="+mn-cs"/>
              </a:rPr>
              <a:t>备</a:t>
            </a:r>
            <a:endParaRPr kumimoji="1" lang="zh-CN" altLang="en-US" sz="2800" b="0" i="0" u="none" strike="noStrike" kern="1200" cap="none" spc="0" normalizeH="0" baseline="0" noProof="0" dirty="0">
              <a:ln>
                <a:noFill/>
              </a:ln>
              <a:solidFill>
                <a:schemeClr val="tx1"/>
              </a:solidFill>
              <a:effectLst/>
              <a:uLnTx/>
              <a:uFillTx/>
              <a:latin typeface="黑体" panose="02010609060101010101" pitchFamily="2" charset="-122"/>
              <a:ea typeface="黑体" panose="02010609060101010101" pitchFamily="2" charset="-122"/>
              <a:cs typeface="+mn-cs"/>
            </a:endParaRPr>
          </a:p>
        </p:txBody>
      </p:sp>
    </p:spTree>
  </p:cSld>
  <p:clrMapOvr>
    <a:masterClrMapping/>
  </p:clrMapOvr>
  <p:transition spd="slow">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3"/>
          <p:cNvSpPr txBox="1"/>
          <p:nvPr/>
        </p:nvSpPr>
        <p:spPr>
          <a:xfrm>
            <a:off x="298450" y="260350"/>
            <a:ext cx="7489825" cy="682625"/>
          </a:xfrm>
          <a:prstGeom prst="rect">
            <a:avLst/>
          </a:prstGeom>
          <a:noFill/>
          <a:ln w="12700">
            <a:noFill/>
          </a:ln>
        </p:spPr>
        <p:txBody>
          <a:bodyPr>
            <a:spAutoFit/>
          </a:bodyPr>
          <a:p>
            <a:pPr eaLnBrk="0" hangingPunct="0">
              <a:lnSpc>
                <a:spcPct val="135000"/>
              </a:lnSpc>
              <a:spcBef>
                <a:spcPct val="50000"/>
              </a:spcBef>
              <a:buNone/>
            </a:pPr>
            <a:r>
              <a:rPr lang="en-US" altLang="zh-CN" sz="3200" b="1" dirty="0">
                <a:solidFill>
                  <a:srgbClr val="FFFF00"/>
                </a:solidFill>
                <a:latin typeface="Times New Roman" panose="02020603050405020304" pitchFamily="18" charset="0"/>
                <a:ea typeface="黑体" panose="02010609060101010101" pitchFamily="2" charset="-122"/>
              </a:rPr>
              <a:t>PIO</a:t>
            </a:r>
            <a:r>
              <a:rPr lang="zh-CN" altLang="en-US" sz="3200" b="1" dirty="0">
                <a:solidFill>
                  <a:srgbClr val="FFFF00"/>
                </a:solidFill>
                <a:latin typeface="黑体" panose="02010609060101010101" pitchFamily="2" charset="-122"/>
                <a:ea typeface="黑体" panose="02010609060101010101" pitchFamily="2" charset="-122"/>
              </a:rPr>
              <a:t>工作机制归纳如下：</a:t>
            </a:r>
            <a:endParaRPr lang="en-US" altLang="zh-CN" sz="3200" b="1" dirty="0">
              <a:solidFill>
                <a:srgbClr val="FFFF00"/>
              </a:solidFill>
              <a:latin typeface="黑体" panose="02010609060101010101" pitchFamily="2" charset="-122"/>
              <a:ea typeface="黑体" panose="02010609060101010101" pitchFamily="2" charset="-122"/>
            </a:endParaRPr>
          </a:p>
        </p:txBody>
      </p:sp>
      <p:sp>
        <p:nvSpPr>
          <p:cNvPr id="4" name="Text Box 3"/>
          <p:cNvSpPr txBox="1"/>
          <p:nvPr/>
        </p:nvSpPr>
        <p:spPr>
          <a:xfrm>
            <a:off x="250825" y="1239838"/>
            <a:ext cx="8893175" cy="608012"/>
          </a:xfrm>
          <a:prstGeom prst="rect">
            <a:avLst/>
          </a:prstGeom>
          <a:noFill/>
          <a:ln w="12700">
            <a:noFill/>
          </a:ln>
        </p:spPr>
        <p:txBody>
          <a:bodyPr>
            <a:spAutoFit/>
          </a:bodyPr>
          <a:p>
            <a:pPr eaLnBrk="0" hangingPunct="0">
              <a:lnSpc>
                <a:spcPct val="135000"/>
              </a:lnSpc>
              <a:spcBef>
                <a:spcPct val="50000"/>
              </a:spcBef>
              <a:buFont typeface="Wingdings" panose="05000000000000000000" pitchFamily="2" charset="2"/>
              <a:buChar char="ü"/>
            </a:pPr>
            <a:r>
              <a:rPr lang="zh-CN" altLang="en-US" sz="2800" b="1" dirty="0">
                <a:solidFill>
                  <a:schemeClr val="tx1"/>
                </a:solidFill>
                <a:latin typeface="黑体" panose="02010609060101010101" pitchFamily="2" charset="-122"/>
                <a:ea typeface="黑体" panose="02010609060101010101" pitchFamily="2" charset="-122"/>
              </a:rPr>
              <a:t>需要专用的</a:t>
            </a:r>
            <a:r>
              <a:rPr lang="en-US" altLang="zh-CN" sz="2800" b="1" dirty="0">
                <a:solidFill>
                  <a:schemeClr val="tx1"/>
                </a:solidFill>
                <a:latin typeface="Times New Roman" panose="02020603050405020304" pitchFamily="18" charset="0"/>
                <a:ea typeface="Microsoft JhengHei" panose="020B0604030504040204" pitchFamily="34" charset="-120"/>
              </a:rPr>
              <a:t>I/O</a:t>
            </a:r>
            <a:r>
              <a:rPr lang="zh-CN" altLang="en-US" sz="2800" b="1" dirty="0">
                <a:solidFill>
                  <a:schemeClr val="tx1"/>
                </a:solidFill>
                <a:latin typeface="黑体" panose="02010609060101010101" pitchFamily="2" charset="-122"/>
                <a:ea typeface="黑体" panose="02010609060101010101" pitchFamily="2" charset="-122"/>
              </a:rPr>
              <a:t>程序；</a:t>
            </a:r>
            <a:endParaRPr lang="zh-CN" altLang="en-US" sz="2800" b="1" dirty="0">
              <a:solidFill>
                <a:schemeClr val="tx1"/>
              </a:solidFill>
              <a:latin typeface="黑体" panose="02010609060101010101" pitchFamily="2" charset="-122"/>
              <a:ea typeface="黑体" panose="02010609060101010101" pitchFamily="2" charset="-122"/>
            </a:endParaRPr>
          </a:p>
        </p:txBody>
      </p:sp>
      <p:sp>
        <p:nvSpPr>
          <p:cNvPr id="5" name="矩形 4"/>
          <p:cNvSpPr/>
          <p:nvPr/>
        </p:nvSpPr>
        <p:spPr>
          <a:xfrm>
            <a:off x="250825" y="1885950"/>
            <a:ext cx="8821738" cy="1255713"/>
          </a:xfrm>
          <a:prstGeom prst="rect">
            <a:avLst/>
          </a:prstGeom>
          <a:noFill/>
          <a:ln w="9525">
            <a:noFill/>
          </a:ln>
        </p:spPr>
        <p:txBody>
          <a:bodyPr>
            <a:spAutoFit/>
          </a:bodyPr>
          <a:p>
            <a:pPr eaLnBrk="0" hangingPunct="0">
              <a:lnSpc>
                <a:spcPct val="135000"/>
              </a:lnSpc>
              <a:spcBef>
                <a:spcPct val="50000"/>
              </a:spcBef>
              <a:buFont typeface="Wingdings" panose="05000000000000000000" pitchFamily="2" charset="2"/>
              <a:buChar char="ü"/>
            </a:pPr>
            <a:r>
              <a:rPr lang="zh-CN" altLang="en-US" sz="2800" b="1" dirty="0">
                <a:solidFill>
                  <a:schemeClr val="tx1"/>
                </a:solidFill>
                <a:latin typeface="Times New Roman" panose="02020603050405020304" pitchFamily="18" charset="0"/>
                <a:ea typeface="黑体" panose="02010609060101010101" pitchFamily="2" charset="-122"/>
              </a:rPr>
              <a:t>主机</a:t>
            </a:r>
            <a:r>
              <a:rPr lang="en-US" altLang="zh-CN" sz="2800" b="1" dirty="0">
                <a:solidFill>
                  <a:schemeClr val="tx1"/>
                </a:solidFill>
                <a:latin typeface="Times New Roman" panose="02020603050405020304" pitchFamily="18" charset="0"/>
                <a:ea typeface="黑体" panose="02010609060101010101" pitchFamily="2" charset="-122"/>
              </a:rPr>
              <a:t>CPU</a:t>
            </a:r>
            <a:r>
              <a:rPr lang="zh-CN" altLang="en-US" sz="2800" b="1" dirty="0">
                <a:solidFill>
                  <a:schemeClr val="tx1"/>
                </a:solidFill>
                <a:latin typeface="Times New Roman" panose="02020603050405020304" pitchFamily="18" charset="0"/>
                <a:ea typeface="黑体" panose="02010609060101010101" pitchFamily="2" charset="-122"/>
              </a:rPr>
              <a:t>执行</a:t>
            </a:r>
            <a:r>
              <a:rPr lang="en-US" altLang="zh-CN" sz="2800" b="1" dirty="0">
                <a:solidFill>
                  <a:schemeClr val="tx1"/>
                </a:solidFill>
                <a:latin typeface="Times New Roman" panose="02020603050405020304" pitchFamily="18" charset="0"/>
                <a:ea typeface="黑体" panose="02010609060101010101" pitchFamily="2" charset="-122"/>
              </a:rPr>
              <a:t>I/O</a:t>
            </a:r>
            <a:r>
              <a:rPr lang="zh-CN" altLang="en-US" sz="2800" b="1" dirty="0">
                <a:solidFill>
                  <a:schemeClr val="tx1"/>
                </a:solidFill>
                <a:latin typeface="Times New Roman" panose="02020603050405020304" pitchFamily="18" charset="0"/>
                <a:ea typeface="黑体" panose="02010609060101010101" pitchFamily="2" charset="-122"/>
              </a:rPr>
              <a:t>程序：不断查询外设状态，进而控制具体的数据</a:t>
            </a:r>
            <a:r>
              <a:rPr lang="en-US" altLang="zh-CN" sz="2800" b="1" dirty="0">
                <a:solidFill>
                  <a:schemeClr val="tx1"/>
                </a:solidFill>
                <a:latin typeface="Times New Roman" panose="02020603050405020304" pitchFamily="18" charset="0"/>
                <a:ea typeface="黑体" panose="02010609060101010101" pitchFamily="2" charset="-122"/>
              </a:rPr>
              <a:t>I/O</a:t>
            </a:r>
            <a:r>
              <a:rPr lang="zh-CN" altLang="en-US" sz="2800" b="1" dirty="0">
                <a:solidFill>
                  <a:schemeClr val="tx1"/>
                </a:solidFill>
                <a:latin typeface="Times New Roman" panose="02020603050405020304" pitchFamily="18" charset="0"/>
                <a:ea typeface="黑体" panose="02010609060101010101" pitchFamily="2" charset="-122"/>
              </a:rPr>
              <a:t>过程（主机</a:t>
            </a:r>
            <a:r>
              <a:rPr lang="zh-CN" altLang="en-US" sz="2800" b="1" dirty="0">
                <a:solidFill>
                  <a:schemeClr val="tx1"/>
                </a:solidFill>
                <a:latin typeface="Calibri" panose="020F0502020204030204" pitchFamily="34" charset="0"/>
                <a:ea typeface="Arial Unicode MS" pitchFamily="34" charset="-122"/>
              </a:rPr>
              <a:t>←</a:t>
            </a:r>
            <a:r>
              <a:rPr lang="en-US" altLang="zh-CN" sz="2800" b="1" dirty="0">
                <a:solidFill>
                  <a:schemeClr val="tx1"/>
                </a:solidFill>
                <a:latin typeface="Calibri" panose="020F0502020204030204" pitchFamily="34" charset="0"/>
                <a:ea typeface="Arial Unicode MS" pitchFamily="34" charset="-122"/>
                <a:sym typeface="Wingdings" panose="05000000000000000000" pitchFamily="2" charset="2"/>
              </a:rPr>
              <a:t>→</a:t>
            </a:r>
            <a:r>
              <a:rPr lang="zh-CN" altLang="en-US" sz="2800" b="1" dirty="0">
                <a:solidFill>
                  <a:schemeClr val="tx1"/>
                </a:solidFill>
                <a:latin typeface="Times New Roman" panose="02020603050405020304" pitchFamily="18" charset="0"/>
                <a:ea typeface="黑体" panose="02010609060101010101" pitchFamily="2" charset="-122"/>
              </a:rPr>
              <a:t>外设）。</a:t>
            </a:r>
            <a:endParaRPr lang="zh-CN" altLang="en-US" sz="2800" b="1" dirty="0">
              <a:solidFill>
                <a:schemeClr val="tx1"/>
              </a:solidFill>
              <a:latin typeface="Times New Roman" panose="02020603050405020304" pitchFamily="18" charset="0"/>
              <a:ea typeface="黑体" panose="02010609060101010101" pitchFamily="2" charset="-122"/>
            </a:endParaRPr>
          </a:p>
        </p:txBody>
      </p:sp>
      <p:sp>
        <p:nvSpPr>
          <p:cNvPr id="6" name="矩形 5"/>
          <p:cNvSpPr/>
          <p:nvPr/>
        </p:nvSpPr>
        <p:spPr>
          <a:xfrm>
            <a:off x="250825" y="3181350"/>
            <a:ext cx="8821738" cy="1190625"/>
          </a:xfrm>
          <a:prstGeom prst="rect">
            <a:avLst/>
          </a:prstGeom>
          <a:noFill/>
          <a:ln w="9525">
            <a:noFill/>
          </a:ln>
        </p:spPr>
        <p:txBody>
          <a:bodyPr>
            <a:spAutoFit/>
          </a:bodyPr>
          <a:p>
            <a:pPr eaLnBrk="0" hangingPunct="0">
              <a:lnSpc>
                <a:spcPct val="135000"/>
              </a:lnSpc>
              <a:spcBef>
                <a:spcPct val="50000"/>
              </a:spcBef>
              <a:buFont typeface="Wingdings" panose="05000000000000000000" pitchFamily="2" charset="2"/>
              <a:buChar char="ü"/>
            </a:pPr>
            <a:r>
              <a:rPr lang="zh-CN" altLang="en-US" sz="2800" b="1" dirty="0">
                <a:solidFill>
                  <a:schemeClr val="tx1"/>
                </a:solidFill>
                <a:latin typeface="Times New Roman" panose="02020603050405020304" pitchFamily="18" charset="0"/>
                <a:ea typeface="黑体" panose="02010609060101010101" pitchFamily="2" charset="-122"/>
              </a:rPr>
              <a:t>数据</a:t>
            </a:r>
            <a:r>
              <a:rPr lang="en-US" altLang="zh-CN" sz="2800" b="1" dirty="0">
                <a:solidFill>
                  <a:schemeClr val="tx1"/>
                </a:solidFill>
                <a:latin typeface="Times New Roman" panose="02020603050405020304" pitchFamily="18" charset="0"/>
                <a:ea typeface="黑体" panose="02010609060101010101" pitchFamily="2" charset="-122"/>
              </a:rPr>
              <a:t>I/O</a:t>
            </a:r>
            <a:r>
              <a:rPr lang="zh-CN" altLang="en-US" sz="2800" b="1" dirty="0">
                <a:solidFill>
                  <a:schemeClr val="tx1"/>
                </a:solidFill>
                <a:latin typeface="Times New Roman" panose="02020603050405020304" pitchFamily="18" charset="0"/>
                <a:ea typeface="黑体" panose="02010609060101010101" pitchFamily="2" charset="-122"/>
              </a:rPr>
              <a:t>过程中主</a:t>
            </a:r>
            <a:r>
              <a:rPr lang="en-US" altLang="zh-CN" sz="2800" b="1" dirty="0">
                <a:solidFill>
                  <a:schemeClr val="tx1"/>
                </a:solidFill>
                <a:latin typeface="Times New Roman" panose="02020603050405020304" pitchFamily="18" charset="0"/>
                <a:ea typeface="黑体" panose="02010609060101010101" pitchFamily="2" charset="-122"/>
              </a:rPr>
              <a:t>CPU</a:t>
            </a:r>
            <a:r>
              <a:rPr lang="zh-CN" altLang="en-US" sz="2800" b="1" dirty="0">
                <a:solidFill>
                  <a:schemeClr val="tx1"/>
                </a:solidFill>
                <a:latin typeface="Times New Roman" panose="02020603050405020304" pitchFamily="18" charset="0"/>
                <a:ea typeface="黑体" panose="02010609060101010101" pitchFamily="2" charset="-122"/>
              </a:rPr>
              <a:t>无法执行其它计算任务，对其它外设的请求响应慢。</a:t>
            </a:r>
            <a:endParaRPr lang="zh-CN" altLang="en-US" sz="2800" b="1" dirty="0">
              <a:solidFill>
                <a:schemeClr val="tx1"/>
              </a:solidFill>
              <a:latin typeface="Times New Roman" panose="02020603050405020304" pitchFamily="18" charset="0"/>
              <a:ea typeface="黑体" panose="02010609060101010101" pitchFamily="2" charset="-122"/>
            </a:endParaRPr>
          </a:p>
        </p:txBody>
      </p:sp>
      <p:sp>
        <p:nvSpPr>
          <p:cNvPr id="7" name="矩形 6"/>
          <p:cNvSpPr/>
          <p:nvPr/>
        </p:nvSpPr>
        <p:spPr>
          <a:xfrm>
            <a:off x="250825" y="4549775"/>
            <a:ext cx="8820150" cy="608013"/>
          </a:xfrm>
          <a:prstGeom prst="rect">
            <a:avLst/>
          </a:prstGeom>
          <a:noFill/>
          <a:ln w="9525">
            <a:noFill/>
          </a:ln>
        </p:spPr>
        <p:txBody>
          <a:bodyPr>
            <a:spAutoFit/>
          </a:bodyPr>
          <a:p>
            <a:pPr eaLnBrk="0" hangingPunct="0">
              <a:lnSpc>
                <a:spcPct val="135000"/>
              </a:lnSpc>
              <a:spcBef>
                <a:spcPct val="50000"/>
              </a:spcBef>
              <a:buFont typeface="Wingdings" panose="05000000000000000000" pitchFamily="2" charset="2"/>
              <a:buChar char="ü"/>
            </a:pPr>
            <a:r>
              <a:rPr lang="zh-CN" altLang="en-US" sz="2800" b="1" dirty="0">
                <a:solidFill>
                  <a:schemeClr val="tx1"/>
                </a:solidFill>
                <a:latin typeface="Times New Roman" panose="02020603050405020304" pitchFamily="18" charset="0"/>
                <a:ea typeface="黑体" panose="02010609060101010101" pitchFamily="2" charset="-122"/>
              </a:rPr>
              <a:t>主</a:t>
            </a:r>
            <a:r>
              <a:rPr lang="en-US" altLang="zh-CN" sz="2800" b="1" dirty="0">
                <a:solidFill>
                  <a:schemeClr val="tx1"/>
                </a:solidFill>
                <a:latin typeface="Times New Roman" panose="02020603050405020304" pitchFamily="18" charset="0"/>
                <a:ea typeface="黑体" panose="02010609060101010101" pitchFamily="2" charset="-122"/>
              </a:rPr>
              <a:t>CPU</a:t>
            </a:r>
            <a:r>
              <a:rPr lang="zh-CN" altLang="en-US" sz="2800" b="1" dirty="0">
                <a:solidFill>
                  <a:schemeClr val="tx1"/>
                </a:solidFill>
                <a:latin typeface="Times New Roman" panose="02020603050405020304" pitchFamily="18" charset="0"/>
                <a:ea typeface="黑体" panose="02010609060101010101" pitchFamily="2" charset="-122"/>
              </a:rPr>
              <a:t>完全束缚于简单的数据</a:t>
            </a:r>
            <a:r>
              <a:rPr lang="en-US" altLang="zh-CN" sz="2800" b="1" dirty="0">
                <a:solidFill>
                  <a:schemeClr val="tx1"/>
                </a:solidFill>
                <a:latin typeface="Times New Roman" panose="02020603050405020304" pitchFamily="18" charset="0"/>
                <a:ea typeface="黑体" panose="02010609060101010101" pitchFamily="2" charset="-122"/>
              </a:rPr>
              <a:t>I/O</a:t>
            </a:r>
            <a:r>
              <a:rPr lang="zh-CN" altLang="en-US" sz="2800" b="1" dirty="0">
                <a:solidFill>
                  <a:schemeClr val="tx1"/>
                </a:solidFill>
                <a:latin typeface="Times New Roman" panose="02020603050405020304" pitchFamily="18" charset="0"/>
                <a:ea typeface="黑体" panose="02010609060101010101" pitchFamily="2" charset="-122"/>
              </a:rPr>
              <a:t>控制，利用率低。</a:t>
            </a:r>
            <a:endParaRPr lang="zh-CN" altLang="en-US" sz="2800" b="1" dirty="0">
              <a:solidFill>
                <a:schemeClr val="tx1"/>
              </a:solidFill>
              <a:latin typeface="Times New Roman" panose="02020603050405020304" pitchFamily="18" charset="0"/>
              <a:ea typeface="黑体" panose="02010609060101010101" pitchFamily="2" charset="-122"/>
            </a:endParaRPr>
          </a:p>
        </p:txBody>
      </p:sp>
    </p:spTree>
  </p:cSld>
  <p:clrMapOvr>
    <a:masterClrMapping/>
  </p:clrMapOvr>
  <p:transition spd="slow">
    <p:random/>
  </p:transition>
  <p:timing>
    <p:tnLst>
      <p:par>
        <p:cTn id="1" dur="indefinite" restart="never" nodeType="tmRoot"/>
      </p:par>
    </p:tnLst>
  </p:timing>
</p:sld>
</file>

<file path=ppt/tags/tag1.xml><?xml version="1.0" encoding="utf-8"?>
<p:tagLst xmlns:p="http://schemas.openxmlformats.org/presentationml/2006/main">
  <p:tag name="KSO_WPP_MARK_KEY" val="9a0fdc94-022e-4870-9ab4-2487044d6f50"/>
  <p:tag name="COMMONDATA" val="eyJoZGlkIjoiZDVkZjUyYzk3YmYzZmRlZTdiNzFlYmE0MmMzZTU4MzYifQ=="/>
</p:tagLst>
</file>

<file path=ppt/theme/theme1.xml><?xml version="1.0" encoding="utf-8"?>
<a:theme xmlns:a="http://schemas.openxmlformats.org/drawingml/2006/main" name="2计算机组成原理-2(1)">
  <a:themeElements>
    <a:clrScheme name="2计算机组成原理-2(1)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2计算机组成原理-2(1)">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med" len="med"/>
          <a:tailEnd type="none" w="med" len="med"/>
        </a:ln>
      </a:spPr>
      <a:bodyPr vert="horz" wrap="square" lIns="91440" tIns="45720" rIns="91440" bIns="45720" numCol="1" anchor="ctr"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3200" b="1" i="0" u="none" strike="noStrike" cap="none" normalizeH="0" baseline="0" smtClean="0">
            <a:ln>
              <a:noFill/>
            </a:ln>
            <a:solidFill>
              <a:schemeClr val="bg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med" len="med"/>
          <a:tailEnd type="none" w="med" len="med"/>
        </a:ln>
      </a:spPr>
      <a:bodyPr vert="horz" wrap="square" lIns="91440" tIns="45720" rIns="91440" bIns="45720" numCol="1" anchor="ctr"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3200" b="1" i="0" u="none" strike="noStrike" cap="none" normalizeH="0" baseline="0" smtClean="0">
            <a:ln>
              <a:noFill/>
            </a:ln>
            <a:solidFill>
              <a:schemeClr val="bg1"/>
            </a:solidFill>
            <a:effectLst/>
            <a:latin typeface="宋体" panose="02010600030101010101" pitchFamily="2" charset="-122"/>
            <a:ea typeface="宋体" panose="02010600030101010101" pitchFamily="2" charset="-122"/>
          </a:defRPr>
        </a:defPPr>
      </a:lstStyle>
    </a:lnDef>
  </a:objectDefaults>
  <a:extraClrSchemeLst>
    <a:extraClrScheme>
      <a:clrScheme name="2计算机组成原理-2(1)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2计算机组成原理-2(1)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2计算机组成原理-2(1)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2计算机组成原理-2(1)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2计算机组成原理-2(1)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Soaring">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C:\Users\JLP\AppData\Roaming\Microsoft\Templates\2计算机组成原理-2(1).pot</Template>
  <TotalTime>0</TotalTime>
  <Words>3482</Words>
  <Application>WPS 演示</Application>
  <PresentationFormat>全屏显示(4:3)</PresentationFormat>
  <Paragraphs>641</Paragraphs>
  <Slides>30</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30</vt:i4>
      </vt:variant>
    </vt:vector>
  </HeadingPairs>
  <TitlesOfParts>
    <vt:vector size="42" baseType="lpstr">
      <vt:lpstr>Arial</vt:lpstr>
      <vt:lpstr>宋体</vt:lpstr>
      <vt:lpstr>Wingdings</vt:lpstr>
      <vt:lpstr>Calibri</vt:lpstr>
      <vt:lpstr>Times New Roman</vt:lpstr>
      <vt:lpstr>黑体</vt:lpstr>
      <vt:lpstr>微软雅黑</vt:lpstr>
      <vt:lpstr>Arial Unicode MS</vt:lpstr>
      <vt:lpstr>Microsoft JhengHei</vt:lpstr>
      <vt:lpstr>Arial Unicode MS</vt:lpstr>
      <vt:lpstr>2计算机组成原理-2(1)</vt:lpstr>
      <vt:lpstr>Soaring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集中式仲裁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WPS_1635426340</cp:lastModifiedBy>
  <cp:revision>817</cp:revision>
  <dcterms:created xsi:type="dcterms:W3CDTF">2024-05-11T07:20:00Z</dcterms:created>
  <dcterms:modified xsi:type="dcterms:W3CDTF">2024-05-18T03:31:01Z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20A5C69B15524D6AAAAA17A2D3C4A205</vt:lpwstr>
  </property>
  <property fmtid="{D5CDD505-2E9C-101B-9397-08002B2CF9AE}" pid="3" name="KSOProductBuildVer">
    <vt:lpwstr>2052-11.1.0.12165</vt:lpwstr>
  </property>
</Properties>
</file>