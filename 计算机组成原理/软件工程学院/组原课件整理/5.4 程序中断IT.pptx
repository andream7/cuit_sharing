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handoutMasterIdLst>
    <p:handoutMasterId r:id="rId40"/>
  </p:handoutMasterIdLst>
  <p:sldIdLst>
    <p:sldId id="256" r:id="rId2"/>
    <p:sldId id="284" r:id="rId3"/>
    <p:sldId id="273" r:id="rId4"/>
    <p:sldId id="280" r:id="rId5"/>
    <p:sldId id="258" r:id="rId6"/>
    <p:sldId id="278" r:id="rId7"/>
    <p:sldId id="281" r:id="rId8"/>
    <p:sldId id="257" r:id="rId9"/>
    <p:sldId id="274" r:id="rId10"/>
    <p:sldId id="311" r:id="rId11"/>
    <p:sldId id="259" r:id="rId12"/>
    <p:sldId id="312" r:id="rId13"/>
    <p:sldId id="275" r:id="rId14"/>
    <p:sldId id="313" r:id="rId15"/>
    <p:sldId id="261" r:id="rId16"/>
    <p:sldId id="276" r:id="rId17"/>
    <p:sldId id="314" r:id="rId18"/>
    <p:sldId id="315" r:id="rId19"/>
    <p:sldId id="316" r:id="rId20"/>
    <p:sldId id="317" r:id="rId21"/>
    <p:sldId id="262" r:id="rId22"/>
    <p:sldId id="277" r:id="rId23"/>
    <p:sldId id="263" r:id="rId24"/>
    <p:sldId id="264" r:id="rId25"/>
    <p:sldId id="265" r:id="rId26"/>
    <p:sldId id="279" r:id="rId27"/>
    <p:sldId id="266" r:id="rId28"/>
    <p:sldId id="285" r:id="rId29"/>
    <p:sldId id="267" r:id="rId30"/>
    <p:sldId id="268" r:id="rId31"/>
    <p:sldId id="270" r:id="rId32"/>
    <p:sldId id="271" r:id="rId33"/>
    <p:sldId id="282" r:id="rId34"/>
    <p:sldId id="283" r:id="rId35"/>
    <p:sldId id="272" r:id="rId36"/>
    <p:sldId id="318" r:id="rId37"/>
    <p:sldId id="319" r:id="rId38"/>
  </p:sldIdLst>
  <p:sldSz cx="9144000" cy="6858000" type="screen4x3"/>
  <p:notesSz cx="6858000" cy="9144000"/>
  <p:custDataLst>
    <p:tags r:id="rId41"/>
  </p:custDataLst>
  <p:defaultTextStyle>
    <a:defPPr>
      <a:defRPr lang="zh-CN"/>
    </a:defPPr>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880">
          <p15:clr>
            <a:srgbClr val="A4A3A4"/>
          </p15:clr>
        </p15:guide>
        <p15:guide id="2" pos="215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00CC00"/>
    <a:srgbClr val="00FFFF"/>
    <a:srgbClr val="990099"/>
    <a:srgbClr val="FF9966"/>
    <a:srgbClr val="003399"/>
    <a:srgbClr val="6600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5"/>
    <p:restoredTop sz="94614"/>
  </p:normalViewPr>
  <p:slideViewPr>
    <p:cSldViewPr showGuides="1">
      <p:cViewPr varScale="1">
        <p:scale>
          <a:sx n="85" d="100"/>
          <a:sy n="85" d="100"/>
        </p:scale>
        <p:origin x="1168" y="76"/>
      </p:cViewPr>
      <p:guideLst>
        <p:guide orient="horz" pos="2880"/>
        <p:guide pos="2153"/>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eaLnBrk="1" hangingPunct="1">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noChangeArrowheads="1"/>
          </p:cNvSpPr>
          <p:nvPr>
            <p:ph type="dt" sz="quarter" idx="1"/>
          </p:nvPr>
        </p:nvSpPr>
        <p:spPr bwMode="auto">
          <a:xfrm>
            <a:off x="3886200" y="0"/>
            <a:ext cx="2971800" cy="457200"/>
          </a:xfrm>
          <a:prstGeom prst="rect">
            <a:avLst/>
          </a:prstGeom>
          <a:noFill/>
          <a:ln w="9525">
            <a:noFill/>
            <a:miter lim="800000"/>
          </a:ln>
        </p:spPr>
        <p:txBody>
          <a:bodyPr vert="horz" wrap="square" lIns="91440" tIns="45720" rIns="91440" bIns="45720" numCol="1" anchor="t" anchorCtr="0" compatLnSpc="1"/>
          <a:lstStyle>
            <a:lvl1pPr algn="r" eaLnBrk="1" hangingPunct="1">
              <a:defRPr sz="1200" b="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6" name="Rectangle 4"/>
          <p:cNvSpPr>
            <a:spLocks noGrp="1" noChangeArrowheads="1"/>
          </p:cNvSpPr>
          <p:nvPr>
            <p:ph type="ftr" sz="quarter" idx="2"/>
          </p:nvPr>
        </p:nvSpPr>
        <p:spPr bwMode="auto">
          <a:xfrm>
            <a:off x="0" y="8686800"/>
            <a:ext cx="2971800" cy="457200"/>
          </a:xfrm>
          <a:prstGeom prst="rect">
            <a:avLst/>
          </a:prstGeom>
          <a:noFill/>
          <a:ln w="9525">
            <a:noFill/>
            <a:miter lim="800000"/>
          </a:ln>
        </p:spPr>
        <p:txBody>
          <a:bodyPr vert="horz" wrap="square" lIns="91440" tIns="45720" rIns="91440" bIns="45720" numCol="1" anchor="b" anchorCtr="0" compatLnSpc="1"/>
          <a:lstStyle>
            <a:lvl1pPr eaLnBrk="1" hangingPunct="1">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p:spPr>
        <p:txBody>
          <a:bodyPr vert="horz" wrap="square" lIns="91440" tIns="45720" rIns="91440" bIns="45720" numCol="1" anchor="b" anchorCtr="0" compatLnSpc="1"/>
          <a:lstStyle/>
          <a:p>
            <a:pPr lvl="0" algn="r" eaLnBrk="1" hangingPunct="1">
              <a:buNone/>
            </a:pPr>
            <a:fld id="{9A0DB2DC-4C9A-4742-B13C-FB6460FD3503}" type="slidenum">
              <a:rPr lang="en-US" altLang="zh-CN" sz="1200" b="0" dirty="0"/>
              <a:t>‹#›</a:t>
            </a:fld>
            <a:endParaRPr lang="en-US" altLang="zh-CN" sz="1200" b="0"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eaLnBrk="1" hangingPunct="1">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1" name="Rectangle 3"/>
          <p:cNvSpPr>
            <a:spLocks noGrp="1" noChangeArrowheads="1"/>
          </p:cNvSpPr>
          <p:nvPr>
            <p:ph type="dt" idx="1"/>
          </p:nvPr>
        </p:nvSpPr>
        <p:spPr bwMode="auto">
          <a:xfrm>
            <a:off x="3886200" y="0"/>
            <a:ext cx="2971800" cy="457200"/>
          </a:xfrm>
          <a:prstGeom prst="rect">
            <a:avLst/>
          </a:prstGeom>
          <a:noFill/>
          <a:ln w="9525">
            <a:noFill/>
            <a:miter lim="800000"/>
          </a:ln>
        </p:spPr>
        <p:txBody>
          <a:bodyPr vert="horz" wrap="square" lIns="91440" tIns="45720" rIns="91440" bIns="45720" numCol="1" anchor="t" anchorCtr="0" compatLnSpc="1"/>
          <a:lstStyle>
            <a:lvl1pPr algn="r" eaLnBrk="1" hangingPunct="1">
              <a:defRPr sz="1200" b="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748" name="Rectangle 4"/>
          <p:cNvSpPr>
            <a:spLocks noGrp="1" noRot="1" noChangeAspec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053" name="Rectangle 5"/>
          <p:cNvSpPr>
            <a:spLocks noGrp="1" noChangeArrowheads="1"/>
          </p:cNvSpPr>
          <p:nvPr>
            <p:ph type="body" sz="quarter" idx="3"/>
          </p:nvPr>
        </p:nvSpPr>
        <p:spPr bwMode="auto">
          <a:xfrm>
            <a:off x="914400" y="4343400"/>
            <a:ext cx="5029200" cy="4114800"/>
          </a:xfrm>
          <a:prstGeom prst="rect">
            <a:avLst/>
          </a:prstGeom>
          <a:noFill/>
          <a:ln w="9525">
            <a:noFill/>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单击以编辑母版文本样式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w="9525">
            <a:noFill/>
            <a:miter lim="800000"/>
          </a:ln>
        </p:spPr>
        <p:txBody>
          <a:bodyPr vert="horz" wrap="square" lIns="91440" tIns="45720" rIns="91440" bIns="45720" numCol="1" anchor="b" anchorCtr="0" compatLnSpc="1"/>
          <a:lstStyle>
            <a:lvl1pPr eaLnBrk="1" hangingPunct="1">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p:spPr>
        <p:txBody>
          <a:bodyPr vert="horz" wrap="square" lIns="91440" tIns="45720" rIns="91440" bIns="45720" numCol="1" anchor="b" anchorCtr="0" compatLnSpc="1"/>
          <a:lstStyle/>
          <a:p>
            <a:pPr lvl="0" algn="r" eaLnBrk="1" hangingPunct="1">
              <a:buNone/>
            </a:pPr>
            <a:fld id="{9A0DB2DC-4C9A-4742-B13C-FB6460FD3503}" type="slidenum">
              <a:rPr lang="en-US" altLang="zh-CN" sz="1200" b="0" dirty="0"/>
              <a:t>‹#›</a:t>
            </a:fld>
            <a:endParaRPr lang="en-US" altLang="zh-CN" sz="1200" b="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bg>
      <p:bgPr>
        <a:gradFill rotWithShape="0">
          <a:gsLst>
            <a:gs pos="0">
              <a:schemeClr val="bg1"/>
            </a:gs>
            <a:gs pos="100000">
              <a:schemeClr val="bg2"/>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85800" y="1981200"/>
            <a:ext cx="7772400" cy="41148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6"/>
          <p:cNvSpPr>
            <a:spLocks noGrp="1" noChangeArrowheads="1"/>
          </p:cNvSpPr>
          <p:nvPr>
            <p:ph type="dt" sz="half" idx="2"/>
          </p:nvPr>
        </p:nvSpPr>
        <p:spPr>
          <a:xfrm>
            <a:off x="685800" y="6248400"/>
            <a:ext cx="1905000" cy="457200"/>
          </a:xfrm>
          <a:prstGeom prst="rect">
            <a:avLst/>
          </a:prstGeom>
        </p:spPr>
        <p:txBody>
          <a:bodyPr/>
          <a:lstStyle>
            <a:lvl1pPr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Rectangle 7"/>
          <p:cNvSpPr>
            <a:spLocks noGrp="1" noChangeArrowheads="1"/>
          </p:cNvSpPr>
          <p:nvPr>
            <p:ph type="ftr" sz="quarter" idx="3"/>
          </p:nvPr>
        </p:nvSpPr>
        <p:spPr>
          <a:xfrm>
            <a:off x="3124200" y="6248400"/>
            <a:ext cx="2895600" cy="457200"/>
          </a:xfrm>
          <a:prstGeom prst="rect">
            <a:avLst/>
          </a:prstGeom>
        </p:spPr>
        <p:txBody>
          <a:bodyPr/>
          <a:lstStyle>
            <a:lvl1pPr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cover dir="l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cover dir="lu"/>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chemeClr val="bg1"/>
            </a:gs>
            <a:gs pos="100000">
              <a:schemeClr val="bg2"/>
            </a:gs>
          </a:gsLst>
          <a:lin ang="0" scaled="1"/>
          <a:tileRect/>
        </a:gradFill>
        <a:effectLst/>
      </p:bgPr>
    </p:bg>
    <p:spTree>
      <p:nvGrpSpPr>
        <p:cNvPr id="1" name=""/>
        <p:cNvGrpSpPr/>
        <p:nvPr/>
      </p:nvGrpSpPr>
      <p:grpSpPr>
        <a:xfrm>
          <a:off x="0" y="0"/>
          <a:ext cx="0" cy="0"/>
          <a:chOff x="0" y="0"/>
          <a:chExt cx="0" cy="0"/>
        </a:xfrm>
      </p:grpSpPr>
      <p:grpSp>
        <p:nvGrpSpPr>
          <p:cNvPr id="1026" name="Group 2"/>
          <p:cNvGrpSpPr/>
          <p:nvPr/>
        </p:nvGrpSpPr>
        <p:grpSpPr>
          <a:xfrm>
            <a:off x="0" y="1588"/>
            <a:ext cx="9132888" cy="6845300"/>
            <a:chOff x="0" y="1"/>
            <a:chExt cx="5753" cy="4312"/>
          </a:xfrm>
        </p:grpSpPr>
        <p:sp>
          <p:nvSpPr>
            <p:cNvPr id="28675" name="Freeform 3"/>
            <p:cNvSpPr/>
            <p:nvPr/>
          </p:nvSpPr>
          <p:spPr bwMode="auto">
            <a:xfrm>
              <a:off x="3394" y="999"/>
              <a:ext cx="2359" cy="3314"/>
            </a:xfrm>
            <a:custGeom>
              <a:avLst/>
              <a:gdLst/>
              <a:ahLst/>
              <a:cxnLst>
                <a:cxn ang="0">
                  <a:pos x="1905" y="3312"/>
                </a:cxn>
                <a:cxn ang="0">
                  <a:pos x="2358" y="3313"/>
                </a:cxn>
                <a:cxn ang="0">
                  <a:pos x="2358" y="1437"/>
                </a:cxn>
                <a:cxn ang="0">
                  <a:pos x="0" y="0"/>
                </a:cxn>
                <a:cxn ang="0">
                  <a:pos x="201" y="150"/>
                </a:cxn>
                <a:cxn ang="0">
                  <a:pos x="366" y="279"/>
                </a:cxn>
                <a:cxn ang="0">
                  <a:pos x="552" y="441"/>
                </a:cxn>
                <a:cxn ang="0">
                  <a:pos x="732" y="612"/>
                </a:cxn>
                <a:cxn ang="0">
                  <a:pos x="996" y="903"/>
                </a:cxn>
                <a:cxn ang="0">
                  <a:pos x="1230" y="1212"/>
                </a:cxn>
                <a:cxn ang="0">
                  <a:pos x="1400" y="1482"/>
                </a:cxn>
                <a:cxn ang="0">
                  <a:pos x="1548" y="1761"/>
                </a:cxn>
                <a:cxn ang="0">
                  <a:pos x="1665" y="2040"/>
                </a:cxn>
                <a:cxn ang="0">
                  <a:pos x="1751" y="2295"/>
                </a:cxn>
                <a:cxn ang="0">
                  <a:pos x="1809" y="2511"/>
                </a:cxn>
                <a:cxn ang="0">
                  <a:pos x="1863" y="2778"/>
                </a:cxn>
                <a:cxn ang="0">
                  <a:pos x="1890" y="3012"/>
                </a:cxn>
                <a:cxn ang="0">
                  <a:pos x="1905" y="3312"/>
                </a:cxn>
              </a:cxnLst>
              <a:rect l="0" t="0" r="r" b="b"/>
              <a:pathLst>
                <a:path w="2359" h="3314">
                  <a:moveTo>
                    <a:pt x="1905" y="3312"/>
                  </a:moveTo>
                  <a:lnTo>
                    <a:pt x="2358" y="3313"/>
                  </a:lnTo>
                  <a:lnTo>
                    <a:pt x="2358" y="1437"/>
                  </a:lnTo>
                  <a:lnTo>
                    <a:pt x="0" y="0"/>
                  </a:lnTo>
                  <a:lnTo>
                    <a:pt x="201" y="150"/>
                  </a:lnTo>
                  <a:lnTo>
                    <a:pt x="366" y="279"/>
                  </a:lnTo>
                  <a:lnTo>
                    <a:pt x="552" y="441"/>
                  </a:lnTo>
                  <a:lnTo>
                    <a:pt x="732" y="612"/>
                  </a:lnTo>
                  <a:lnTo>
                    <a:pt x="996" y="903"/>
                  </a:lnTo>
                  <a:lnTo>
                    <a:pt x="1230" y="1212"/>
                  </a:lnTo>
                  <a:lnTo>
                    <a:pt x="1400" y="1482"/>
                  </a:lnTo>
                  <a:lnTo>
                    <a:pt x="1548" y="1761"/>
                  </a:lnTo>
                  <a:lnTo>
                    <a:pt x="1665" y="2040"/>
                  </a:lnTo>
                  <a:lnTo>
                    <a:pt x="1751" y="2295"/>
                  </a:lnTo>
                  <a:lnTo>
                    <a:pt x="1809" y="2511"/>
                  </a:lnTo>
                  <a:lnTo>
                    <a:pt x="1863" y="2778"/>
                  </a:lnTo>
                  <a:lnTo>
                    <a:pt x="1890" y="3012"/>
                  </a:lnTo>
                  <a:lnTo>
                    <a:pt x="1905" y="3312"/>
                  </a:lnTo>
                </a:path>
              </a:pathLst>
            </a:custGeom>
            <a:gradFill rotWithShape="0">
              <a:gsLst>
                <a:gs pos="0">
                  <a:schemeClr val="accent2">
                    <a:gamma/>
                    <a:shade val="46275"/>
                    <a:invGamma/>
                  </a:schemeClr>
                </a:gs>
                <a:gs pos="100000">
                  <a:schemeClr val="accent2"/>
                </a:gs>
              </a:gsLst>
              <a:lin ang="0" scaled="1"/>
            </a:gra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Arc 4"/>
            <p:cNvSpPr/>
            <p:nvPr/>
          </p:nvSpPr>
          <p:spPr>
            <a:xfrm>
              <a:off x="0" y="1"/>
              <a:ext cx="5298" cy="4312"/>
            </a:xfrm>
            <a:custGeom>
              <a:avLst/>
              <a:gdLst/>
              <a:ahLst/>
              <a:cxnLst>
                <a:cxn ang="0">
                  <a:pos x="0" y="0"/>
                </a:cxn>
                <a:cxn ang="0">
                  <a:pos x="19" y="7"/>
                </a:cxn>
                <a:cxn ang="0">
                  <a:pos x="0" y="7"/>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2700" cap="rnd" cmpd="sng">
              <a:solidFill>
                <a:schemeClr val="accent2">
                  <a:alpha val="100000"/>
                </a:schemeClr>
              </a:solidFill>
              <a:prstDash val="solid"/>
              <a:round/>
              <a:headEnd type="none" w="sm" len="sm"/>
              <a:tailEnd type="none" w="sm" len="sm"/>
            </a:ln>
          </p:spPr>
          <p:txBody>
            <a:bodyPr/>
            <a:lstStyle/>
            <a:p>
              <a:endParaRPr lang="zh-CN" altLang="en-US"/>
            </a:p>
          </p:txBody>
        </p:sp>
      </p:grpSp>
      <p:sp>
        <p:nvSpPr>
          <p:cNvPr id="10" name="Rectangle 8"/>
          <p:cNvSpPr txBox="1">
            <a:spLocks noChangeArrowheads="1"/>
          </p:cNvSpPr>
          <p:nvPr/>
        </p:nvSpPr>
        <p:spPr>
          <a:xfrm>
            <a:off x="8172450" y="6486525"/>
            <a:ext cx="960438" cy="360363"/>
          </a:xfrm>
          <a:prstGeom prst="rect">
            <a:avLst/>
          </a:prstGeom>
        </p:spPr>
        <p:txBody>
          <a:bodyPr/>
          <a:lstStyle/>
          <a:p>
            <a:pPr lvl="0" algn="r" eaLnBrk="0" hangingPunct="0">
              <a:buNone/>
            </a:pPr>
            <a:fld id="{9A0DB2DC-4C9A-4742-B13C-FB6460FD3503}" type="slidenum">
              <a:rPr lang="en-US" altLang="zh-CN" sz="1600" dirty="0">
                <a:solidFill>
                  <a:schemeClr val="accent1"/>
                </a:solidFill>
                <a:latin typeface="Calibri" panose="020F0502020204030204" pitchFamily="34" charset="0"/>
                <a:cs typeface="Calibri" panose="020F0502020204030204" pitchFamily="34" charset="0"/>
              </a:rPr>
              <a:t>‹#›</a:t>
            </a:fld>
            <a:r>
              <a:rPr lang="en-US" altLang="zh-CN" sz="1600" dirty="0">
                <a:solidFill>
                  <a:schemeClr val="accent1"/>
                </a:solidFill>
                <a:latin typeface="Calibri" panose="020F0502020204030204" pitchFamily="34" charset="0"/>
                <a:cs typeface="Calibri" panose="020F0502020204030204" pitchFamily="34" charset="0"/>
              </a:rPr>
              <a:t>/28</a:t>
            </a:r>
            <a:endParaRPr lang="en-US" altLang="zh-CN" sz="1600" dirty="0">
              <a:solidFill>
                <a:schemeClr val="accent1"/>
              </a:solidFill>
              <a:latin typeface="Calibri" panose="020F0502020204030204" pitchFamily="34" charset="0"/>
              <a:ea typeface="Calibri" panose="020F0502020204030204" pitchFamily="34" charset="0"/>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Lst>
  <p:transition>
    <p:cover dir="lu"/>
  </p:transition>
  <p:hf sldNum="0" hdr="0" ftr="0" dt="0"/>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Char char="•"/>
        <a:defRPr sz="2000">
          <a:solidFill>
            <a:schemeClr val="tx1"/>
          </a:solidFill>
          <a:latin typeface="+mn-lt"/>
          <a:ea typeface="+mn-ea"/>
        </a:defRPr>
      </a:lvl5pPr>
      <a:lvl6pPr marL="2514600" indent="-228600" algn="l" rtl="0" fontAlgn="base">
        <a:spcBef>
          <a:spcPct val="20000"/>
        </a:spcBef>
        <a:spcAft>
          <a:spcPct val="0"/>
        </a:spcAft>
        <a:buClr>
          <a:schemeClr val="accent1"/>
        </a:buClr>
        <a:buChar char="•"/>
        <a:defRPr sz="2000">
          <a:solidFill>
            <a:schemeClr val="tx1"/>
          </a:solidFill>
          <a:latin typeface="+mn-lt"/>
          <a:ea typeface="+mn-ea"/>
        </a:defRPr>
      </a:lvl6pPr>
      <a:lvl7pPr marL="2971800" indent="-228600" algn="l" rtl="0" fontAlgn="base">
        <a:spcBef>
          <a:spcPct val="20000"/>
        </a:spcBef>
        <a:spcAft>
          <a:spcPct val="0"/>
        </a:spcAft>
        <a:buClr>
          <a:schemeClr val="accent1"/>
        </a:buClr>
        <a:buChar char="•"/>
        <a:defRPr sz="2000">
          <a:solidFill>
            <a:schemeClr val="tx1"/>
          </a:solidFill>
          <a:latin typeface="+mn-lt"/>
          <a:ea typeface="+mn-ea"/>
        </a:defRPr>
      </a:lvl7pPr>
      <a:lvl8pPr marL="3429000" indent="-228600" algn="l" rtl="0" fontAlgn="base">
        <a:spcBef>
          <a:spcPct val="20000"/>
        </a:spcBef>
        <a:spcAft>
          <a:spcPct val="0"/>
        </a:spcAft>
        <a:buClr>
          <a:schemeClr val="accent1"/>
        </a:buClr>
        <a:buChar char="•"/>
        <a:defRPr sz="2000">
          <a:solidFill>
            <a:schemeClr val="tx1"/>
          </a:solidFill>
          <a:latin typeface="+mn-lt"/>
          <a:ea typeface="+mn-ea"/>
        </a:defRPr>
      </a:lvl8pPr>
      <a:lvl9pPr marL="3886200" indent="-228600" algn="l" rtl="0" fontAlgn="base">
        <a:spcBef>
          <a:spcPct val="20000"/>
        </a:spcBef>
        <a:spcAft>
          <a:spcPct val="0"/>
        </a:spcAft>
        <a:buClr>
          <a:schemeClr val="accent1"/>
        </a:buClr>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Text Box 3076"/>
          <p:cNvSpPr txBox="1"/>
          <p:nvPr/>
        </p:nvSpPr>
        <p:spPr>
          <a:xfrm>
            <a:off x="1979613" y="333375"/>
            <a:ext cx="6121400" cy="708025"/>
          </a:xfrm>
          <a:prstGeom prst="rect">
            <a:avLst/>
          </a:prstGeom>
          <a:noFill/>
          <a:ln w="12700">
            <a:noFill/>
          </a:ln>
        </p:spPr>
        <p:txBody>
          <a:bodyPr>
            <a:spAutoFit/>
          </a:bodyPr>
          <a:lstStyle/>
          <a:p>
            <a:pPr>
              <a:spcBef>
                <a:spcPct val="50000"/>
              </a:spcBef>
            </a:pPr>
            <a:r>
              <a:rPr lang="en-US" altLang="zh-CN" sz="4000" dirty="0">
                <a:solidFill>
                  <a:srgbClr val="FFFF00"/>
                </a:solidFill>
                <a:latin typeface="黑体" panose="02010609060101010101" pitchFamily="49" charset="-122"/>
                <a:ea typeface="黑体" panose="02010609060101010101" pitchFamily="49" charset="-122"/>
              </a:rPr>
              <a:t>5.4 </a:t>
            </a:r>
            <a:r>
              <a:rPr lang="zh-CN" altLang="en-US" sz="4000" dirty="0">
                <a:solidFill>
                  <a:srgbClr val="FFFF00"/>
                </a:solidFill>
                <a:latin typeface="黑体" panose="02010609060101010101" pitchFamily="49" charset="-122"/>
                <a:ea typeface="黑体" panose="02010609060101010101" pitchFamily="49" charset="-122"/>
              </a:rPr>
              <a:t>中断方式与接口</a:t>
            </a:r>
          </a:p>
        </p:txBody>
      </p:sp>
      <p:sp>
        <p:nvSpPr>
          <p:cNvPr id="7173" name="Text Box 3077"/>
          <p:cNvSpPr txBox="1"/>
          <p:nvPr/>
        </p:nvSpPr>
        <p:spPr>
          <a:xfrm>
            <a:off x="381000" y="1409700"/>
            <a:ext cx="5105400" cy="579438"/>
          </a:xfrm>
          <a:prstGeom prst="rect">
            <a:avLst/>
          </a:prstGeom>
          <a:noFill/>
          <a:ln w="12700">
            <a:noFill/>
          </a:ln>
        </p:spPr>
        <p:txBody>
          <a:bodyPr>
            <a:spAutoFit/>
          </a:bodyPr>
          <a:lstStyle/>
          <a:p>
            <a:pPr>
              <a:spcBef>
                <a:spcPct val="50000"/>
              </a:spcBef>
            </a:pPr>
            <a:r>
              <a:rPr lang="en-US" altLang="zh-CN" sz="3200" dirty="0">
                <a:solidFill>
                  <a:schemeClr val="folHlink"/>
                </a:solidFill>
                <a:latin typeface="黑体" panose="02010609060101010101" pitchFamily="49" charset="-122"/>
                <a:ea typeface="黑体" panose="02010609060101010101" pitchFamily="49" charset="-122"/>
              </a:rPr>
              <a:t>5.4.1 </a:t>
            </a:r>
            <a:r>
              <a:rPr lang="zh-CN" altLang="en-US" sz="3200" dirty="0">
                <a:solidFill>
                  <a:schemeClr val="folHlink"/>
                </a:solidFill>
                <a:latin typeface="黑体" panose="02010609060101010101" pitchFamily="49" charset="-122"/>
                <a:ea typeface="黑体" panose="02010609060101010101" pitchFamily="49" charset="-122"/>
              </a:rPr>
              <a:t>中断基本概念</a:t>
            </a:r>
          </a:p>
        </p:txBody>
      </p:sp>
      <p:sp>
        <p:nvSpPr>
          <p:cNvPr id="7174" name="Text Box 3078"/>
          <p:cNvSpPr txBox="1"/>
          <p:nvPr/>
        </p:nvSpPr>
        <p:spPr>
          <a:xfrm>
            <a:off x="381000" y="2133600"/>
            <a:ext cx="2678113" cy="579438"/>
          </a:xfrm>
          <a:prstGeom prst="rect">
            <a:avLst/>
          </a:prstGeom>
          <a:noFill/>
          <a:ln w="12700">
            <a:noFill/>
          </a:ln>
        </p:spPr>
        <p:txBody>
          <a:bodyPr>
            <a:spAutoFit/>
          </a:bodyPr>
          <a:lstStyle/>
          <a:p>
            <a:pPr>
              <a:spcBef>
                <a:spcPct val="50000"/>
              </a:spcBef>
            </a:pPr>
            <a:r>
              <a:rPr lang="en-US" altLang="zh-CN" sz="3200" dirty="0">
                <a:solidFill>
                  <a:srgbClr val="FFFF00"/>
                </a:solidFill>
                <a:latin typeface="黑体" panose="02010609060101010101" pitchFamily="49" charset="-122"/>
                <a:ea typeface="黑体" panose="02010609060101010101" pitchFamily="49" charset="-122"/>
              </a:rPr>
              <a:t>1.</a:t>
            </a:r>
            <a:r>
              <a:rPr lang="zh-CN" altLang="en-US" sz="3200" dirty="0">
                <a:solidFill>
                  <a:srgbClr val="FFFF00"/>
                </a:solidFill>
                <a:latin typeface="黑体" panose="02010609060101010101" pitchFamily="49" charset="-122"/>
                <a:ea typeface="黑体" panose="02010609060101010101" pitchFamily="49" charset="-122"/>
              </a:rPr>
              <a:t>定义</a:t>
            </a:r>
          </a:p>
        </p:txBody>
      </p:sp>
      <p:sp>
        <p:nvSpPr>
          <p:cNvPr id="7175" name="Text Box 3079"/>
          <p:cNvSpPr txBox="1"/>
          <p:nvPr/>
        </p:nvSpPr>
        <p:spPr>
          <a:xfrm>
            <a:off x="376238" y="2744788"/>
            <a:ext cx="8588375" cy="1641475"/>
          </a:xfrm>
          <a:prstGeom prst="rect">
            <a:avLst/>
          </a:prstGeom>
          <a:noFill/>
          <a:ln w="9525">
            <a:noFill/>
          </a:ln>
        </p:spPr>
        <p:txBody>
          <a:bodyPr>
            <a:spAutoFit/>
          </a:bodyPr>
          <a:lstStyle/>
          <a:p>
            <a:pPr algn="just">
              <a:lnSpc>
                <a:spcPct val="120000"/>
              </a:lnSpc>
              <a:spcBef>
                <a:spcPct val="50000"/>
              </a:spcBef>
            </a:pPr>
            <a:r>
              <a:rPr lang="zh-CN" altLang="en-US" sz="2800" dirty="0">
                <a:latin typeface="黑体" panose="02010609060101010101" pitchFamily="49" charset="-122"/>
                <a:ea typeface="黑体" panose="02010609060101010101" pitchFamily="49" charset="-122"/>
              </a:rPr>
              <a:t>在程序运行过程中</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如果发生某种随机事态，</a:t>
            </a:r>
            <a:r>
              <a:rPr lang="en-US" altLang="zh-CN" sz="2800" dirty="0">
                <a:latin typeface="黑体" panose="02010609060101010101" pitchFamily="49" charset="-122"/>
                <a:ea typeface="黑体" panose="02010609060101010101" pitchFamily="49" charset="-122"/>
              </a:rPr>
              <a:t>CPU</a:t>
            </a:r>
            <a:r>
              <a:rPr lang="zh-CN" altLang="en-US" sz="2800" dirty="0">
                <a:latin typeface="黑体" panose="02010609060101010101" pitchFamily="49" charset="-122"/>
                <a:ea typeface="黑体" panose="02010609060101010101" pitchFamily="49" charset="-122"/>
              </a:rPr>
              <a:t>暂停当前程序</a:t>
            </a:r>
            <a:r>
              <a:rPr lang="en-US" altLang="zh-CN" sz="2800" dirty="0">
                <a:solidFill>
                  <a:schemeClr val="accent1"/>
                </a:solidFill>
                <a:latin typeface="黑体" panose="02010609060101010101" pitchFamily="49" charset="-122"/>
                <a:ea typeface="黑体" panose="02010609060101010101" pitchFamily="49" charset="-122"/>
              </a:rPr>
              <a:t>(</a:t>
            </a:r>
            <a:r>
              <a:rPr lang="zh-CN" altLang="en-US" sz="2800" dirty="0">
                <a:solidFill>
                  <a:schemeClr val="accent1"/>
                </a:solidFill>
                <a:latin typeface="黑体" panose="02010609060101010101" pitchFamily="49" charset="-122"/>
                <a:ea typeface="黑体" panose="02010609060101010101" pitchFamily="49" charset="-122"/>
              </a:rPr>
              <a:t>被中断</a:t>
            </a:r>
            <a:r>
              <a:rPr lang="en-US" altLang="zh-CN" sz="2800" dirty="0">
                <a:solidFill>
                  <a:schemeClr val="accent1"/>
                </a:solidFill>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，转而执行该事态对应的服务程序（中断处理程序），结束后再恢复原程序的执行。</a:t>
            </a:r>
          </a:p>
        </p:txBody>
      </p:sp>
      <p:sp>
        <p:nvSpPr>
          <p:cNvPr id="7186" name="Text Box 3090"/>
          <p:cNvSpPr txBox="1"/>
          <p:nvPr/>
        </p:nvSpPr>
        <p:spPr>
          <a:xfrm>
            <a:off x="347663" y="4437063"/>
            <a:ext cx="3041015" cy="583565"/>
          </a:xfrm>
          <a:prstGeom prst="rect">
            <a:avLst/>
          </a:prstGeom>
          <a:noFill/>
          <a:ln w="9525">
            <a:noFill/>
          </a:ln>
        </p:spPr>
        <p:txBody>
          <a:bodyPr wrap="none">
            <a:spAutoFit/>
          </a:bodyPr>
          <a:lstStyle/>
          <a:p>
            <a:pPr eaLnBrk="0" hangingPunct="0"/>
            <a:r>
              <a:rPr lang="zh-CN" altLang="en-US" sz="3200" dirty="0">
                <a:solidFill>
                  <a:schemeClr val="folHlink"/>
                </a:solidFill>
                <a:latin typeface="黑体" panose="02010609060101010101" pitchFamily="49" charset="-122"/>
                <a:ea typeface="黑体" panose="02010609060101010101" pitchFamily="49" charset="-122"/>
              </a:rPr>
              <a:t>实质：</a:t>
            </a:r>
            <a:r>
              <a:rPr lang="zh-CN" altLang="en-US" sz="3200" dirty="0">
                <a:solidFill>
                  <a:srgbClr val="00FF00"/>
                </a:solidFill>
                <a:latin typeface="黑体" panose="02010609060101010101" pitchFamily="49" charset="-122"/>
                <a:ea typeface="黑体" panose="02010609060101010101" pitchFamily="49" charset="-122"/>
              </a:rPr>
              <a:t>程序切换</a:t>
            </a:r>
          </a:p>
        </p:txBody>
      </p:sp>
      <p:sp>
        <p:nvSpPr>
          <p:cNvPr id="2" name="Text Box 3090"/>
          <p:cNvSpPr txBox="1"/>
          <p:nvPr/>
        </p:nvSpPr>
        <p:spPr>
          <a:xfrm>
            <a:off x="467043" y="5228908"/>
            <a:ext cx="3449320" cy="583565"/>
          </a:xfrm>
          <a:prstGeom prst="rect">
            <a:avLst/>
          </a:prstGeom>
          <a:noFill/>
          <a:ln w="9525">
            <a:noFill/>
          </a:ln>
        </p:spPr>
        <p:txBody>
          <a:bodyPr wrap="none">
            <a:spAutoFit/>
          </a:bodyPr>
          <a:lstStyle/>
          <a:p>
            <a:pPr eaLnBrk="0" hangingPunct="0"/>
            <a:r>
              <a:rPr lang="zh-CN" altLang="en-US" sz="3200" dirty="0">
                <a:solidFill>
                  <a:schemeClr val="folHlink"/>
                </a:solidFill>
                <a:latin typeface="黑体" panose="02010609060101010101" pitchFamily="49" charset="-122"/>
                <a:ea typeface="黑体" panose="02010609060101010101" pitchFamily="49" charset="-122"/>
              </a:rPr>
              <a:t>主要特点：</a:t>
            </a:r>
            <a:r>
              <a:rPr lang="zh-CN" altLang="en-US" sz="3200" dirty="0">
                <a:solidFill>
                  <a:srgbClr val="00FF00"/>
                </a:solidFill>
                <a:latin typeface="黑体" panose="02010609060101010101" pitchFamily="49" charset="-122"/>
                <a:ea typeface="黑体" panose="02010609060101010101" pitchFamily="49" charset="-122"/>
              </a:rPr>
              <a:t>随机性</a:t>
            </a:r>
          </a:p>
        </p:txBody>
      </p:sp>
    </p:spTree>
  </p:cSld>
  <p:clrMapOvr>
    <a:masterClrMapping/>
  </p:clrMapOvr>
  <p:transition>
    <p:cover dir="l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箭头连接符 2"/>
          <p:cNvCxnSpPr/>
          <p:nvPr/>
        </p:nvCxnSpPr>
        <p:spPr>
          <a:xfrm>
            <a:off x="4067175" y="1454150"/>
            <a:ext cx="0" cy="1296988"/>
          </a:xfrm>
          <a:prstGeom prst="straightConnector1">
            <a:avLst/>
          </a:prstGeom>
          <a:ln w="76200" cap="flat" cmpd="sng">
            <a:solidFill>
              <a:schemeClr val="tx1"/>
            </a:solidFill>
            <a:prstDash val="solid"/>
            <a:headEnd type="none" w="med" len="med"/>
            <a:tailEnd type="arrow" w="med" len="med"/>
          </a:ln>
        </p:spPr>
      </p:cxnSp>
      <p:cxnSp>
        <p:nvCxnSpPr>
          <p:cNvPr id="6" name="直接箭头连接符 5"/>
          <p:cNvCxnSpPr/>
          <p:nvPr/>
        </p:nvCxnSpPr>
        <p:spPr>
          <a:xfrm>
            <a:off x="2987675" y="2727325"/>
            <a:ext cx="792163" cy="0"/>
          </a:xfrm>
          <a:prstGeom prst="straightConnector1">
            <a:avLst/>
          </a:prstGeom>
          <a:ln w="19050" cap="flat" cmpd="sng">
            <a:solidFill>
              <a:schemeClr val="accent1"/>
            </a:solidFill>
            <a:prstDash val="solid"/>
            <a:headEnd type="none" w="med" len="med"/>
            <a:tailEnd type="arrow" w="med" len="med"/>
          </a:ln>
        </p:spPr>
      </p:cxnSp>
      <p:cxnSp>
        <p:nvCxnSpPr>
          <p:cNvPr id="11" name="直接箭头连接符 10"/>
          <p:cNvCxnSpPr/>
          <p:nvPr/>
        </p:nvCxnSpPr>
        <p:spPr bwMode="auto">
          <a:xfrm>
            <a:off x="5670550" y="2762250"/>
            <a:ext cx="0" cy="936625"/>
          </a:xfrm>
          <a:prstGeom prst="straightConnector1">
            <a:avLst/>
          </a:prstGeom>
          <a:solidFill>
            <a:schemeClr val="accent1"/>
          </a:solidFill>
          <a:ln w="57150" cap="flat" cmpd="sng" algn="ctr">
            <a:solidFill>
              <a:schemeClr val="tx2">
                <a:lumMod val="20000"/>
                <a:lumOff val="80000"/>
              </a:schemeClr>
            </a:solidFill>
            <a:prstDash val="solid"/>
            <a:round/>
            <a:headEnd type="none" w="med" len="med"/>
            <a:tailEnd type="arrow"/>
          </a:ln>
          <a:effectLst/>
        </p:spPr>
      </p:cxnSp>
      <p:cxnSp>
        <p:nvCxnSpPr>
          <p:cNvPr id="15" name="直接连接符 14"/>
          <p:cNvCxnSpPr/>
          <p:nvPr/>
        </p:nvCxnSpPr>
        <p:spPr>
          <a:xfrm>
            <a:off x="4067175" y="2751138"/>
            <a:ext cx="0" cy="1943100"/>
          </a:xfrm>
          <a:prstGeom prst="line">
            <a:avLst/>
          </a:prstGeom>
          <a:ln w="76200" cap="flat" cmpd="sng">
            <a:solidFill>
              <a:schemeClr val="tx1"/>
            </a:solidFill>
            <a:prstDash val="solid"/>
            <a:headEnd type="none" w="med" len="med"/>
            <a:tailEnd type="arrow" w="med" len="med"/>
          </a:ln>
        </p:spPr>
      </p:cxnSp>
      <p:cxnSp>
        <p:nvCxnSpPr>
          <p:cNvPr id="19" name="直接连接符 18"/>
          <p:cNvCxnSpPr/>
          <p:nvPr/>
        </p:nvCxnSpPr>
        <p:spPr>
          <a:xfrm>
            <a:off x="5502275" y="3686175"/>
            <a:ext cx="360363" cy="0"/>
          </a:xfrm>
          <a:prstGeom prst="line">
            <a:avLst/>
          </a:prstGeom>
          <a:ln w="19050" cap="flat" cmpd="sng">
            <a:solidFill>
              <a:srgbClr val="FFFF00"/>
            </a:solidFill>
            <a:prstDash val="solid"/>
            <a:headEnd type="none" w="med" len="med"/>
            <a:tailEnd type="none" w="med" len="med"/>
          </a:ln>
        </p:spPr>
      </p:cxnSp>
      <p:cxnSp>
        <p:nvCxnSpPr>
          <p:cNvPr id="20" name="直接连接符 19"/>
          <p:cNvCxnSpPr/>
          <p:nvPr/>
        </p:nvCxnSpPr>
        <p:spPr>
          <a:xfrm>
            <a:off x="5502275" y="2751138"/>
            <a:ext cx="360363" cy="0"/>
          </a:xfrm>
          <a:prstGeom prst="line">
            <a:avLst/>
          </a:prstGeom>
          <a:ln w="19050" cap="flat" cmpd="sng">
            <a:solidFill>
              <a:srgbClr val="FFFF00"/>
            </a:solidFill>
            <a:prstDash val="solid"/>
            <a:headEnd type="none" w="med" len="med"/>
            <a:tailEnd type="none" w="med" len="med"/>
          </a:ln>
        </p:spPr>
      </p:cxnSp>
      <p:cxnSp>
        <p:nvCxnSpPr>
          <p:cNvPr id="22" name="直接连接符 21"/>
          <p:cNvCxnSpPr/>
          <p:nvPr/>
        </p:nvCxnSpPr>
        <p:spPr>
          <a:xfrm>
            <a:off x="3851275" y="2738438"/>
            <a:ext cx="433388" cy="0"/>
          </a:xfrm>
          <a:prstGeom prst="line">
            <a:avLst/>
          </a:prstGeom>
          <a:ln w="19050" cap="flat" cmpd="sng">
            <a:solidFill>
              <a:srgbClr val="FFFF00"/>
            </a:solidFill>
            <a:prstDash val="solid"/>
            <a:headEnd type="none" w="med" len="med"/>
            <a:tailEnd type="none" w="med" len="med"/>
          </a:ln>
        </p:spPr>
      </p:cxnSp>
      <p:sp>
        <p:nvSpPr>
          <p:cNvPr id="26" name="TextBox 25"/>
          <p:cNvSpPr txBox="1"/>
          <p:nvPr/>
        </p:nvSpPr>
        <p:spPr>
          <a:xfrm>
            <a:off x="3589338" y="981075"/>
            <a:ext cx="958850" cy="461963"/>
          </a:xfrm>
          <a:prstGeom prst="rect">
            <a:avLst/>
          </a:prstGeom>
          <a:noFill/>
          <a:ln w="9525">
            <a:noFill/>
          </a:ln>
        </p:spPr>
        <p:txBody>
          <a:bodyPr wrap="none">
            <a:spAutoFit/>
          </a:bodyPr>
          <a:lstStyle/>
          <a:p>
            <a:pPr eaLnBrk="0" hangingPunct="0"/>
            <a:r>
              <a:rPr lang="zh-CN" altLang="en-US" dirty="0">
                <a:solidFill>
                  <a:srgbClr val="00FF00"/>
                </a:solidFill>
                <a:latin typeface="黑体" panose="02010609060101010101" pitchFamily="49" charset="-122"/>
                <a:ea typeface="黑体" panose="02010609060101010101" pitchFamily="49" charset="-122"/>
              </a:rPr>
              <a:t>程序</a:t>
            </a:r>
            <a:r>
              <a:rPr lang="en-US" altLang="zh-CN" dirty="0">
                <a:solidFill>
                  <a:srgbClr val="00FF00"/>
                </a:solidFill>
                <a:latin typeface="黑体" panose="02010609060101010101" pitchFamily="49" charset="-122"/>
                <a:ea typeface="黑体" panose="02010609060101010101" pitchFamily="49" charset="-122"/>
              </a:rPr>
              <a:t>m</a:t>
            </a:r>
            <a:endParaRPr lang="zh-CN" altLang="en-US" dirty="0">
              <a:solidFill>
                <a:srgbClr val="00FF00"/>
              </a:solidFill>
              <a:latin typeface="黑体" panose="02010609060101010101" pitchFamily="49" charset="-122"/>
              <a:ea typeface="黑体" panose="02010609060101010101" pitchFamily="49" charset="-122"/>
            </a:endParaRPr>
          </a:p>
        </p:txBody>
      </p:sp>
      <p:sp>
        <p:nvSpPr>
          <p:cNvPr id="27" name="TextBox 26"/>
          <p:cNvSpPr txBox="1"/>
          <p:nvPr/>
        </p:nvSpPr>
        <p:spPr>
          <a:xfrm>
            <a:off x="1019175" y="2462213"/>
            <a:ext cx="2041525" cy="831850"/>
          </a:xfrm>
          <a:prstGeom prst="rect">
            <a:avLst/>
          </a:prstGeom>
          <a:noFill/>
          <a:ln w="9525">
            <a:noFill/>
          </a:ln>
        </p:spPr>
        <p:txBody>
          <a:bodyPr wrap="none">
            <a:spAutoFit/>
          </a:bodyPr>
          <a:lstStyle/>
          <a:p>
            <a:pPr algn="ctr" eaLnBrk="0" hangingPunct="0"/>
            <a:r>
              <a:rPr lang="zh-CN" altLang="en-US" dirty="0">
                <a:solidFill>
                  <a:srgbClr val="FFFF00"/>
                </a:solidFill>
                <a:latin typeface="黑体" panose="02010609060101010101" pitchFamily="49" charset="-122"/>
                <a:ea typeface="黑体" panose="02010609060101010101" pitchFamily="49" charset="-122"/>
              </a:rPr>
              <a:t>发出中断请求</a:t>
            </a:r>
            <a:endParaRPr lang="en-US" altLang="zh-CN" dirty="0">
              <a:solidFill>
                <a:srgbClr val="FFFF00"/>
              </a:solidFill>
              <a:latin typeface="黑体" panose="02010609060101010101" pitchFamily="49" charset="-122"/>
              <a:ea typeface="黑体" panose="02010609060101010101" pitchFamily="49" charset="-122"/>
            </a:endParaRPr>
          </a:p>
          <a:p>
            <a:pPr algn="ctr" eaLnBrk="0" hangingPunct="0"/>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设备</a:t>
            </a:r>
            <a:r>
              <a:rPr lang="en-US" altLang="zh-CN" dirty="0">
                <a:latin typeface="黑体" panose="02010609060101010101" pitchFamily="49" charset="-122"/>
                <a:ea typeface="黑体" panose="02010609060101010101" pitchFamily="49" charset="-122"/>
              </a:rPr>
              <a:t>1)</a:t>
            </a:r>
            <a:endParaRPr lang="zh-CN" altLang="en-US" dirty="0">
              <a:latin typeface="黑体" panose="02010609060101010101" pitchFamily="49" charset="-122"/>
              <a:ea typeface="黑体" panose="02010609060101010101" pitchFamily="49" charset="-122"/>
            </a:endParaRPr>
          </a:p>
        </p:txBody>
      </p:sp>
      <p:sp>
        <p:nvSpPr>
          <p:cNvPr id="28" name="TextBox 27"/>
          <p:cNvSpPr txBox="1"/>
          <p:nvPr/>
        </p:nvSpPr>
        <p:spPr>
          <a:xfrm>
            <a:off x="6167438" y="2774950"/>
            <a:ext cx="2041525" cy="830263"/>
          </a:xfrm>
          <a:prstGeom prst="rect">
            <a:avLst/>
          </a:prstGeom>
          <a:noFill/>
          <a:ln w="9525">
            <a:noFill/>
          </a:ln>
        </p:spPr>
        <p:txBody>
          <a:bodyPr wrap="none">
            <a:spAutoFit/>
          </a:bodyPr>
          <a:lstStyle/>
          <a:p>
            <a:pPr algn="ctr" eaLnBrk="0" hangingPunct="0"/>
            <a:r>
              <a:rPr lang="zh-CN" altLang="en-US" dirty="0">
                <a:solidFill>
                  <a:srgbClr val="FFFF00"/>
                </a:solidFill>
                <a:latin typeface="黑体" panose="02010609060101010101" pitchFamily="49" charset="-122"/>
                <a:ea typeface="黑体" panose="02010609060101010101" pitchFamily="49" charset="-122"/>
              </a:rPr>
              <a:t>中断服务程序</a:t>
            </a:r>
            <a:endParaRPr lang="en-US" altLang="zh-CN" dirty="0">
              <a:solidFill>
                <a:srgbClr val="FFFF00"/>
              </a:solidFill>
              <a:latin typeface="黑体" panose="02010609060101010101" pitchFamily="49" charset="-122"/>
              <a:ea typeface="黑体" panose="02010609060101010101" pitchFamily="49" charset="-122"/>
            </a:endParaRPr>
          </a:p>
          <a:p>
            <a:pPr algn="ctr" eaLnBrk="0" hangingPunct="0"/>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设备</a:t>
            </a:r>
            <a:r>
              <a:rPr lang="en-US" altLang="zh-CN" dirty="0">
                <a:latin typeface="黑体" panose="02010609060101010101" pitchFamily="49" charset="-122"/>
                <a:ea typeface="黑体" panose="02010609060101010101" pitchFamily="49" charset="-122"/>
              </a:rPr>
              <a:t>1)</a:t>
            </a:r>
            <a:endParaRPr lang="zh-CN" altLang="en-US" dirty="0">
              <a:latin typeface="黑体" panose="02010609060101010101" pitchFamily="49" charset="-122"/>
              <a:ea typeface="黑体" panose="02010609060101010101" pitchFamily="49" charset="-122"/>
            </a:endParaRPr>
          </a:p>
        </p:txBody>
      </p:sp>
      <p:sp>
        <p:nvSpPr>
          <p:cNvPr id="30" name="AutoShape 5"/>
          <p:cNvSpPr/>
          <p:nvPr/>
        </p:nvSpPr>
        <p:spPr>
          <a:xfrm flipH="1">
            <a:off x="6102350" y="2751138"/>
            <a:ext cx="144463" cy="935037"/>
          </a:xfrm>
          <a:prstGeom prst="leftBrace">
            <a:avLst>
              <a:gd name="adj1" fmla="val 38715"/>
              <a:gd name="adj2" fmla="val 50000"/>
            </a:avLst>
          </a:prstGeom>
          <a:noFill/>
          <a:ln w="19050" cap="flat" cmpd="sng">
            <a:solidFill>
              <a:srgbClr val="FFFF00"/>
            </a:solidFill>
            <a:prstDash val="solid"/>
            <a:headEnd type="none" w="med" len="med"/>
            <a:tailEnd type="none" w="med" len="med"/>
          </a:ln>
        </p:spPr>
        <p:txBody>
          <a:bodyPr wrap="none" anchor="ctr" anchorCtr="0"/>
          <a:lstStyle/>
          <a:p>
            <a:pPr eaLnBrk="0" hangingPunct="0"/>
            <a:endParaRPr lang="zh-CN" altLang="en-US" dirty="0">
              <a:latin typeface="Times New Roman" panose="02020603050405020304" pitchFamily="18" charset="0"/>
            </a:endParaRPr>
          </a:p>
        </p:txBody>
      </p:sp>
      <p:grpSp>
        <p:nvGrpSpPr>
          <p:cNvPr id="2" name="组合 33"/>
          <p:cNvGrpSpPr/>
          <p:nvPr/>
        </p:nvGrpSpPr>
        <p:grpSpPr>
          <a:xfrm>
            <a:off x="4392613" y="2246313"/>
            <a:ext cx="971550" cy="504825"/>
            <a:chOff x="4392064" y="1988840"/>
            <a:chExt cx="972000" cy="504056"/>
          </a:xfrm>
        </p:grpSpPr>
        <p:cxnSp>
          <p:nvCxnSpPr>
            <p:cNvPr id="4124" name="直接箭头连接符 8"/>
            <p:cNvCxnSpPr/>
            <p:nvPr/>
          </p:nvCxnSpPr>
          <p:spPr>
            <a:xfrm>
              <a:off x="4392064" y="2492896"/>
              <a:ext cx="972000" cy="0"/>
            </a:xfrm>
            <a:prstGeom prst="straightConnector1">
              <a:avLst/>
            </a:prstGeom>
            <a:ln w="19050" cap="flat" cmpd="sng">
              <a:solidFill>
                <a:schemeClr val="tx1"/>
              </a:solidFill>
              <a:prstDash val="dash"/>
              <a:headEnd type="none" w="med" len="med"/>
              <a:tailEnd type="arrow" w="med" len="med"/>
            </a:ln>
          </p:spPr>
        </p:cxnSp>
        <p:sp>
          <p:nvSpPr>
            <p:cNvPr id="4125" name="TextBox 30"/>
            <p:cNvSpPr txBox="1"/>
            <p:nvPr/>
          </p:nvSpPr>
          <p:spPr>
            <a:xfrm>
              <a:off x="4427984" y="1988840"/>
              <a:ext cx="803425" cy="461665"/>
            </a:xfrm>
            <a:prstGeom prst="rect">
              <a:avLst/>
            </a:prstGeom>
            <a:noFill/>
            <a:ln w="9525">
              <a:noFill/>
            </a:ln>
          </p:spPr>
          <p:txBody>
            <a:bodyPr wrap="none">
              <a:spAutoFit/>
            </a:bodyPr>
            <a:lstStyle/>
            <a:p>
              <a:pPr algn="ctr" eaLnBrk="0" hangingPunct="0"/>
              <a:r>
                <a:rPr lang="zh-CN" altLang="en-US" dirty="0">
                  <a:solidFill>
                    <a:schemeClr val="accent1"/>
                  </a:solidFill>
                  <a:latin typeface="黑体" panose="02010609060101010101" pitchFamily="49" charset="-122"/>
                  <a:ea typeface="黑体" panose="02010609060101010101" pitchFamily="49" charset="-122"/>
                </a:rPr>
                <a:t>切换</a:t>
              </a:r>
            </a:p>
          </p:txBody>
        </p:sp>
      </p:grpSp>
      <p:grpSp>
        <p:nvGrpSpPr>
          <p:cNvPr id="4" name="组合 34"/>
          <p:cNvGrpSpPr/>
          <p:nvPr/>
        </p:nvGrpSpPr>
        <p:grpSpPr>
          <a:xfrm>
            <a:off x="4116388" y="2809875"/>
            <a:ext cx="1392237" cy="949325"/>
            <a:chOff x="4116072" y="2552872"/>
            <a:chExt cx="1392032" cy="948136"/>
          </a:xfrm>
        </p:grpSpPr>
        <p:cxnSp>
          <p:nvCxnSpPr>
            <p:cNvPr id="4122" name="直接箭头连接符 12"/>
            <p:cNvCxnSpPr/>
            <p:nvPr/>
          </p:nvCxnSpPr>
          <p:spPr>
            <a:xfrm flipH="1" flipV="1">
              <a:off x="4116072" y="2552872"/>
              <a:ext cx="1392032" cy="804120"/>
            </a:xfrm>
            <a:prstGeom prst="straightConnector1">
              <a:avLst/>
            </a:prstGeom>
            <a:ln w="19050" cap="flat" cmpd="sng">
              <a:solidFill>
                <a:schemeClr val="tx1"/>
              </a:solidFill>
              <a:prstDash val="dash"/>
              <a:headEnd type="none" w="med" len="med"/>
              <a:tailEnd type="arrow" w="med" len="med"/>
            </a:ln>
          </p:spPr>
        </p:cxnSp>
        <p:sp>
          <p:nvSpPr>
            <p:cNvPr id="4123" name="TextBox 32"/>
            <p:cNvSpPr txBox="1"/>
            <p:nvPr/>
          </p:nvSpPr>
          <p:spPr>
            <a:xfrm>
              <a:off x="4427981" y="3039343"/>
              <a:ext cx="803425" cy="461665"/>
            </a:xfrm>
            <a:prstGeom prst="rect">
              <a:avLst/>
            </a:prstGeom>
            <a:noFill/>
            <a:ln w="9525">
              <a:noFill/>
            </a:ln>
          </p:spPr>
          <p:txBody>
            <a:bodyPr wrap="none">
              <a:spAutoFit/>
            </a:bodyPr>
            <a:lstStyle/>
            <a:p>
              <a:pPr algn="ctr" eaLnBrk="0" hangingPunct="0"/>
              <a:r>
                <a:rPr lang="zh-CN" altLang="en-US" dirty="0">
                  <a:solidFill>
                    <a:schemeClr val="accent1"/>
                  </a:solidFill>
                  <a:latin typeface="黑体" panose="02010609060101010101" pitchFamily="49" charset="-122"/>
                  <a:ea typeface="黑体" panose="02010609060101010101" pitchFamily="49" charset="-122"/>
                </a:rPr>
                <a:t>返回</a:t>
              </a:r>
            </a:p>
          </p:txBody>
        </p:sp>
      </p:grpSp>
      <p:sp>
        <p:nvSpPr>
          <p:cNvPr id="36" name="TextBox 35"/>
          <p:cNvSpPr txBox="1"/>
          <p:nvPr/>
        </p:nvSpPr>
        <p:spPr>
          <a:xfrm>
            <a:off x="468313" y="333375"/>
            <a:ext cx="2708275" cy="522288"/>
          </a:xfrm>
          <a:prstGeom prst="rect">
            <a:avLst/>
          </a:prstGeom>
          <a:noFill/>
          <a:ln w="9525">
            <a:noFill/>
          </a:ln>
        </p:spPr>
        <p:txBody>
          <a:bodyPr wrap="none">
            <a:spAutoFit/>
          </a:bodyPr>
          <a:lstStyle/>
          <a:p>
            <a:pPr eaLnBrk="0" hangingPunct="0"/>
            <a:r>
              <a:rPr lang="zh-CN" altLang="en-US" sz="2800" dirty="0">
                <a:solidFill>
                  <a:srgbClr val="FFFF00"/>
                </a:solidFill>
                <a:latin typeface="黑体" panose="02010609060101010101" pitchFamily="49" charset="-122"/>
                <a:ea typeface="黑体" panose="02010609060101010101" pitchFamily="49" charset="-122"/>
              </a:rPr>
              <a:t>中断的基本原理</a:t>
            </a:r>
          </a:p>
        </p:txBody>
      </p:sp>
      <p:cxnSp>
        <p:nvCxnSpPr>
          <p:cNvPr id="37" name="直接连接符 36"/>
          <p:cNvCxnSpPr/>
          <p:nvPr/>
        </p:nvCxnSpPr>
        <p:spPr>
          <a:xfrm>
            <a:off x="3900488" y="4683125"/>
            <a:ext cx="360362" cy="0"/>
          </a:xfrm>
          <a:prstGeom prst="line">
            <a:avLst/>
          </a:prstGeom>
          <a:ln w="19050" cap="flat" cmpd="sng">
            <a:solidFill>
              <a:srgbClr val="FFFF00"/>
            </a:solidFill>
            <a:prstDash val="solid"/>
            <a:headEnd type="none" w="med" len="med"/>
            <a:tailEnd type="none" w="med" len="med"/>
          </a:ln>
        </p:spPr>
      </p:cxnSp>
      <p:sp>
        <p:nvSpPr>
          <p:cNvPr id="38" name="TextBox 37"/>
          <p:cNvSpPr txBox="1"/>
          <p:nvPr/>
        </p:nvSpPr>
        <p:spPr>
          <a:xfrm>
            <a:off x="5280025" y="2222500"/>
            <a:ext cx="958850" cy="461963"/>
          </a:xfrm>
          <a:prstGeom prst="rect">
            <a:avLst/>
          </a:prstGeom>
          <a:noFill/>
          <a:ln w="9525">
            <a:noFill/>
          </a:ln>
        </p:spPr>
        <p:txBody>
          <a:bodyPr wrap="none">
            <a:spAutoFit/>
          </a:bodyPr>
          <a:lstStyle/>
          <a:p>
            <a:pPr eaLnBrk="0" hangingPunct="0"/>
            <a:r>
              <a:rPr lang="zh-CN" altLang="en-US" dirty="0">
                <a:solidFill>
                  <a:srgbClr val="FFFF00"/>
                </a:solidFill>
                <a:latin typeface="黑体" panose="02010609060101010101" pitchFamily="49" charset="-122"/>
                <a:ea typeface="黑体" panose="02010609060101010101" pitchFamily="49" charset="-122"/>
              </a:rPr>
              <a:t>程序</a:t>
            </a:r>
            <a:r>
              <a:rPr lang="en-US" altLang="zh-CN" dirty="0">
                <a:solidFill>
                  <a:srgbClr val="FFFF00"/>
                </a:solidFill>
                <a:latin typeface="黑体" panose="02010609060101010101" pitchFamily="49" charset="-122"/>
                <a:ea typeface="黑体" panose="02010609060101010101" pitchFamily="49" charset="-122"/>
              </a:rPr>
              <a:t>1</a:t>
            </a:r>
            <a:endParaRPr lang="zh-CN" altLang="en-US" dirty="0">
              <a:solidFill>
                <a:srgbClr val="FFFF00"/>
              </a:solidFill>
              <a:latin typeface="黑体" panose="02010609060101010101" pitchFamily="49" charset="-122"/>
              <a:ea typeface="黑体" panose="02010609060101010101" pitchFamily="49" charset="-122"/>
            </a:endParaRPr>
          </a:p>
        </p:txBody>
      </p:sp>
      <p:sp>
        <p:nvSpPr>
          <p:cNvPr id="39" name="TextBox 38"/>
          <p:cNvSpPr txBox="1"/>
          <p:nvPr/>
        </p:nvSpPr>
        <p:spPr>
          <a:xfrm>
            <a:off x="5292725" y="3716338"/>
            <a:ext cx="803275" cy="461962"/>
          </a:xfrm>
          <a:prstGeom prst="rect">
            <a:avLst/>
          </a:prstGeom>
          <a:noFill/>
          <a:ln w="9525">
            <a:noFill/>
          </a:ln>
        </p:spPr>
        <p:txBody>
          <a:bodyPr wrap="none">
            <a:spAutoFit/>
          </a:bodyPr>
          <a:lstStyle/>
          <a:p>
            <a:pPr eaLnBrk="0" hangingPunct="0"/>
            <a:r>
              <a:rPr lang="zh-CN" altLang="en-US" dirty="0">
                <a:solidFill>
                  <a:srgbClr val="FFFF00"/>
                </a:solidFill>
                <a:latin typeface="黑体" panose="02010609060101010101" pitchFamily="49" charset="-122"/>
                <a:ea typeface="黑体" panose="02010609060101010101" pitchFamily="49" charset="-122"/>
              </a:rPr>
              <a:t>结束</a:t>
            </a:r>
          </a:p>
        </p:txBody>
      </p:sp>
      <p:sp>
        <p:nvSpPr>
          <p:cNvPr id="40" name="TextBox 39"/>
          <p:cNvSpPr txBox="1"/>
          <p:nvPr/>
        </p:nvSpPr>
        <p:spPr>
          <a:xfrm>
            <a:off x="3708400" y="4724400"/>
            <a:ext cx="803275" cy="461963"/>
          </a:xfrm>
          <a:prstGeom prst="rect">
            <a:avLst/>
          </a:prstGeom>
          <a:noFill/>
          <a:ln w="9525">
            <a:noFill/>
          </a:ln>
        </p:spPr>
        <p:txBody>
          <a:bodyPr wrap="none">
            <a:spAutoFit/>
          </a:bodyPr>
          <a:lstStyle/>
          <a:p>
            <a:pPr eaLnBrk="0" hangingPunct="0"/>
            <a:r>
              <a:rPr lang="zh-CN" altLang="en-US" dirty="0">
                <a:solidFill>
                  <a:srgbClr val="FFFF00"/>
                </a:solidFill>
                <a:latin typeface="黑体" panose="02010609060101010101" pitchFamily="49" charset="-122"/>
                <a:ea typeface="黑体" panose="02010609060101010101" pitchFamily="49" charset="-122"/>
              </a:rPr>
              <a:t>完成</a:t>
            </a:r>
          </a:p>
        </p:txBody>
      </p:sp>
      <p:sp>
        <p:nvSpPr>
          <p:cNvPr id="41" name="TextBox 40"/>
          <p:cNvSpPr txBox="1"/>
          <p:nvPr/>
        </p:nvSpPr>
        <p:spPr>
          <a:xfrm>
            <a:off x="611188" y="5407025"/>
            <a:ext cx="1089025" cy="523875"/>
          </a:xfrm>
          <a:prstGeom prst="rect">
            <a:avLst/>
          </a:prstGeom>
          <a:noFill/>
          <a:ln w="9525">
            <a:noFill/>
          </a:ln>
        </p:spPr>
        <p:txBody>
          <a:bodyPr wrap="none">
            <a:spAutoFit/>
          </a:bodyPr>
          <a:lstStyle/>
          <a:p>
            <a:pPr eaLnBrk="0" hangingPunct="0"/>
            <a:r>
              <a:rPr lang="en-US" altLang="zh-CN" sz="2800" dirty="0">
                <a:solidFill>
                  <a:srgbClr val="FFFF00"/>
                </a:solidFill>
                <a:latin typeface="黑体" panose="02010609060101010101" pitchFamily="49" charset="-122"/>
                <a:ea typeface="黑体" panose="02010609060101010101" pitchFamily="49" charset="-122"/>
              </a:rPr>
              <a:t>CPU</a:t>
            </a:r>
            <a:r>
              <a:rPr lang="zh-CN" altLang="en-US" sz="2800" dirty="0">
                <a:solidFill>
                  <a:srgbClr val="FFFF00"/>
                </a:solidFill>
                <a:latin typeface="黑体" panose="02010609060101010101" pitchFamily="49" charset="-122"/>
                <a:ea typeface="黑体" panose="02010609060101010101" pitchFamily="49" charset="-122"/>
              </a:rPr>
              <a:t>：</a:t>
            </a:r>
          </a:p>
        </p:txBody>
      </p:sp>
      <p:sp>
        <p:nvSpPr>
          <p:cNvPr id="42" name="TextBox 41"/>
          <p:cNvSpPr txBox="1"/>
          <p:nvPr/>
        </p:nvSpPr>
        <p:spPr>
          <a:xfrm>
            <a:off x="1403350" y="5407025"/>
            <a:ext cx="1087438" cy="523875"/>
          </a:xfrm>
          <a:prstGeom prst="rect">
            <a:avLst/>
          </a:prstGeom>
          <a:noFill/>
          <a:ln w="9525">
            <a:noFill/>
          </a:ln>
        </p:spPr>
        <p:txBody>
          <a:bodyPr wrap="none">
            <a:spAutoFit/>
          </a:bodyPr>
          <a:lstStyle/>
          <a:p>
            <a:pPr eaLnBrk="0" hangingPunct="0"/>
            <a:r>
              <a:rPr lang="zh-CN" altLang="en-US" sz="2800" dirty="0">
                <a:solidFill>
                  <a:srgbClr val="00FF00"/>
                </a:solidFill>
                <a:latin typeface="黑体" panose="02010609060101010101" pitchFamily="49" charset="-122"/>
                <a:ea typeface="黑体" panose="02010609060101010101" pitchFamily="49" charset="-122"/>
              </a:rPr>
              <a:t>程序</a:t>
            </a:r>
            <a:r>
              <a:rPr lang="en-US" altLang="zh-CN" sz="2800" dirty="0">
                <a:solidFill>
                  <a:srgbClr val="00FF00"/>
                </a:solidFill>
                <a:latin typeface="黑体" panose="02010609060101010101" pitchFamily="49" charset="-122"/>
                <a:ea typeface="黑体" panose="02010609060101010101" pitchFamily="49" charset="-122"/>
              </a:rPr>
              <a:t>m</a:t>
            </a:r>
            <a:endParaRPr lang="zh-CN" altLang="en-US" sz="2800" dirty="0">
              <a:solidFill>
                <a:srgbClr val="00FF00"/>
              </a:solidFill>
              <a:latin typeface="黑体" panose="02010609060101010101" pitchFamily="49" charset="-122"/>
              <a:ea typeface="黑体" panose="02010609060101010101" pitchFamily="49" charset="-122"/>
            </a:endParaRPr>
          </a:p>
        </p:txBody>
      </p:sp>
      <p:sp>
        <p:nvSpPr>
          <p:cNvPr id="43" name="TextBox 42"/>
          <p:cNvSpPr txBox="1"/>
          <p:nvPr/>
        </p:nvSpPr>
        <p:spPr>
          <a:xfrm>
            <a:off x="2484438" y="5407025"/>
            <a:ext cx="544512" cy="523875"/>
          </a:xfrm>
          <a:prstGeom prst="rect">
            <a:avLst/>
          </a:prstGeom>
          <a:noFill/>
          <a:ln w="9525">
            <a:noFill/>
          </a:ln>
        </p:spPr>
        <p:txBody>
          <a:bodyPr wrap="none">
            <a:spAutoFit/>
          </a:bodyPr>
          <a:lstStyle/>
          <a:p>
            <a:pPr eaLnBrk="0" hangingPunct="0"/>
            <a:r>
              <a:rPr lang="zh-CN" altLang="en-US" sz="2800" dirty="0">
                <a:solidFill>
                  <a:srgbClr val="00FFFF"/>
                </a:solidFill>
                <a:latin typeface="黑体" panose="02010609060101010101" pitchFamily="49" charset="-122"/>
                <a:ea typeface="黑体" panose="02010609060101010101" pitchFamily="49" charset="-122"/>
              </a:rPr>
              <a:t>→</a:t>
            </a:r>
          </a:p>
        </p:txBody>
      </p:sp>
      <p:sp>
        <p:nvSpPr>
          <p:cNvPr id="44" name="TextBox 43"/>
          <p:cNvSpPr txBox="1"/>
          <p:nvPr/>
        </p:nvSpPr>
        <p:spPr>
          <a:xfrm>
            <a:off x="2916238" y="5407025"/>
            <a:ext cx="1087437" cy="523875"/>
          </a:xfrm>
          <a:prstGeom prst="rect">
            <a:avLst/>
          </a:prstGeom>
          <a:noFill/>
          <a:ln w="9525">
            <a:noFill/>
          </a:ln>
        </p:spPr>
        <p:txBody>
          <a:bodyPr wrap="none">
            <a:spAutoFit/>
          </a:bodyPr>
          <a:lstStyle/>
          <a:p>
            <a:pPr eaLnBrk="0" hangingPunct="0"/>
            <a:r>
              <a:rPr lang="zh-CN" altLang="en-US" sz="2800" dirty="0">
                <a:latin typeface="黑体" panose="02010609060101010101" pitchFamily="49" charset="-122"/>
                <a:ea typeface="黑体" panose="02010609060101010101" pitchFamily="49" charset="-122"/>
              </a:rPr>
              <a:t>程序</a:t>
            </a:r>
            <a:r>
              <a:rPr lang="en-US" altLang="zh-CN" sz="2800" dirty="0">
                <a:latin typeface="黑体" panose="02010609060101010101" pitchFamily="49" charset="-122"/>
                <a:ea typeface="黑体" panose="02010609060101010101" pitchFamily="49" charset="-122"/>
              </a:rPr>
              <a:t>1</a:t>
            </a:r>
            <a:endParaRPr lang="zh-CN" altLang="en-US" sz="2800" dirty="0">
              <a:latin typeface="黑体" panose="02010609060101010101" pitchFamily="49" charset="-122"/>
              <a:ea typeface="黑体" panose="02010609060101010101" pitchFamily="49" charset="-122"/>
            </a:endParaRPr>
          </a:p>
        </p:txBody>
      </p:sp>
      <p:sp>
        <p:nvSpPr>
          <p:cNvPr id="45" name="TextBox 44"/>
          <p:cNvSpPr txBox="1"/>
          <p:nvPr/>
        </p:nvSpPr>
        <p:spPr>
          <a:xfrm>
            <a:off x="3995738" y="5407025"/>
            <a:ext cx="546100" cy="523875"/>
          </a:xfrm>
          <a:prstGeom prst="rect">
            <a:avLst/>
          </a:prstGeom>
          <a:noFill/>
          <a:ln w="9525">
            <a:noFill/>
          </a:ln>
        </p:spPr>
        <p:txBody>
          <a:bodyPr wrap="none">
            <a:spAutoFit/>
          </a:bodyPr>
          <a:lstStyle/>
          <a:p>
            <a:pPr eaLnBrk="0" hangingPunct="0"/>
            <a:r>
              <a:rPr lang="zh-CN" altLang="en-US" sz="2800" dirty="0">
                <a:solidFill>
                  <a:schemeClr val="accent1"/>
                </a:solidFill>
                <a:latin typeface="黑体" panose="02010609060101010101" pitchFamily="49" charset="-122"/>
                <a:ea typeface="黑体" panose="02010609060101010101" pitchFamily="49" charset="-122"/>
              </a:rPr>
              <a:t>→</a:t>
            </a:r>
          </a:p>
        </p:txBody>
      </p:sp>
      <p:sp>
        <p:nvSpPr>
          <p:cNvPr id="46" name="TextBox 45"/>
          <p:cNvSpPr txBox="1"/>
          <p:nvPr/>
        </p:nvSpPr>
        <p:spPr>
          <a:xfrm>
            <a:off x="4468813" y="5407025"/>
            <a:ext cx="1087437" cy="523875"/>
          </a:xfrm>
          <a:prstGeom prst="rect">
            <a:avLst/>
          </a:prstGeom>
          <a:noFill/>
          <a:ln w="9525">
            <a:noFill/>
          </a:ln>
        </p:spPr>
        <p:txBody>
          <a:bodyPr wrap="none">
            <a:spAutoFit/>
          </a:bodyPr>
          <a:lstStyle/>
          <a:p>
            <a:pPr eaLnBrk="0" hangingPunct="0"/>
            <a:r>
              <a:rPr lang="zh-CN" altLang="en-US" sz="2800" dirty="0">
                <a:solidFill>
                  <a:srgbClr val="00FF00"/>
                </a:solidFill>
                <a:latin typeface="黑体" panose="02010609060101010101" pitchFamily="49" charset="-122"/>
                <a:ea typeface="黑体" panose="02010609060101010101" pitchFamily="49" charset="-122"/>
              </a:rPr>
              <a:t>程序</a:t>
            </a:r>
            <a:r>
              <a:rPr lang="en-US" altLang="zh-CN" sz="2800" dirty="0">
                <a:solidFill>
                  <a:srgbClr val="00FF00"/>
                </a:solidFill>
                <a:latin typeface="黑体" panose="02010609060101010101" pitchFamily="49" charset="-122"/>
                <a:ea typeface="黑体" panose="02010609060101010101" pitchFamily="49" charset="-122"/>
              </a:rPr>
              <a:t>m</a:t>
            </a:r>
            <a:endParaRPr lang="zh-CN" altLang="en-US" sz="2800" dirty="0">
              <a:solidFill>
                <a:srgbClr val="00FF00"/>
              </a:solidFill>
              <a:latin typeface="黑体" panose="02010609060101010101" pitchFamily="49" charset="-122"/>
              <a:ea typeface="黑体" panose="02010609060101010101" pitchFamily="49" charset="-122"/>
            </a:endParaRPr>
          </a:p>
        </p:txBody>
      </p:sp>
    </p:spTree>
  </p:cSld>
  <p:clrMapOvr>
    <a:masterClrMapping/>
  </p:clrMapOvr>
  <p:transition>
    <p:cover dir="l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txBox="1"/>
          <p:nvPr/>
        </p:nvSpPr>
        <p:spPr>
          <a:xfrm>
            <a:off x="152400" y="258763"/>
            <a:ext cx="6219825" cy="579437"/>
          </a:xfrm>
          <a:prstGeom prst="rect">
            <a:avLst/>
          </a:prstGeom>
          <a:noFill/>
          <a:ln w="12700">
            <a:noFill/>
          </a:ln>
        </p:spPr>
        <p:txBody>
          <a:bodyPr>
            <a:spAutoFit/>
          </a:bodyPr>
          <a:lstStyle/>
          <a:p>
            <a:pPr>
              <a:spcBef>
                <a:spcPct val="50000"/>
              </a:spcBef>
            </a:pPr>
            <a:r>
              <a:rPr lang="zh-CN" altLang="en-US" sz="3200" dirty="0">
                <a:solidFill>
                  <a:srgbClr val="FFFF00"/>
                </a:solidFill>
                <a:latin typeface="黑体" panose="02010609060101010101" pitchFamily="49" charset="-122"/>
                <a:ea typeface="黑体" panose="02010609060101010101" pitchFamily="49" charset="-122"/>
              </a:rPr>
              <a:t>中断的实质与特点</a:t>
            </a:r>
          </a:p>
        </p:txBody>
      </p:sp>
      <p:sp>
        <p:nvSpPr>
          <p:cNvPr id="27651" name="Text Box 3"/>
          <p:cNvSpPr txBox="1"/>
          <p:nvPr/>
        </p:nvSpPr>
        <p:spPr>
          <a:xfrm>
            <a:off x="-76200" y="914400"/>
            <a:ext cx="2209800" cy="579438"/>
          </a:xfrm>
          <a:prstGeom prst="rect">
            <a:avLst/>
          </a:prstGeom>
          <a:noFill/>
          <a:ln w="12700">
            <a:noFill/>
          </a:ln>
        </p:spPr>
        <p:txBody>
          <a:bodyPr>
            <a:spAutoFit/>
          </a:bodyPr>
          <a:lstStyle/>
          <a:p>
            <a:pPr>
              <a:spcBef>
                <a:spcPct val="50000"/>
              </a:spcBef>
            </a:pPr>
            <a:r>
              <a:rPr lang="zh-CN" altLang="en-US" sz="3200" dirty="0">
                <a:latin typeface="黑体" panose="02010609060101010101" pitchFamily="49" charset="-122"/>
                <a:ea typeface="黑体" panose="02010609060101010101" pitchFamily="49" charset="-122"/>
              </a:rPr>
              <a:t>（</a:t>
            </a:r>
            <a:r>
              <a:rPr lang="en-US" altLang="zh-CN" sz="3200" dirty="0">
                <a:latin typeface="黑体" panose="02010609060101010101" pitchFamily="49" charset="-122"/>
                <a:ea typeface="黑体" panose="02010609060101010101" pitchFamily="49" charset="-122"/>
              </a:rPr>
              <a:t>1</a:t>
            </a:r>
            <a:r>
              <a:rPr lang="zh-CN" altLang="en-US" sz="3200" dirty="0">
                <a:latin typeface="黑体" panose="02010609060101010101" pitchFamily="49" charset="-122"/>
                <a:ea typeface="黑体" panose="02010609060101010101" pitchFamily="49" charset="-122"/>
              </a:rPr>
              <a:t>）实质</a:t>
            </a:r>
          </a:p>
        </p:txBody>
      </p:sp>
      <p:sp>
        <p:nvSpPr>
          <p:cNvPr id="27652" name="Text Box 4"/>
          <p:cNvSpPr txBox="1"/>
          <p:nvPr/>
        </p:nvSpPr>
        <p:spPr>
          <a:xfrm>
            <a:off x="152400" y="1828800"/>
            <a:ext cx="3276600" cy="579438"/>
          </a:xfrm>
          <a:prstGeom prst="rect">
            <a:avLst/>
          </a:prstGeom>
          <a:noFill/>
          <a:ln w="12700">
            <a:noFill/>
          </a:ln>
        </p:spPr>
        <p:txBody>
          <a:bodyPr>
            <a:spAutoFit/>
          </a:bodyPr>
          <a:lstStyle/>
          <a:p>
            <a:pPr>
              <a:spcBef>
                <a:spcPct val="50000"/>
              </a:spcBef>
            </a:pPr>
            <a:r>
              <a:rPr lang="zh-CN" altLang="en-US" sz="3200" dirty="0">
                <a:solidFill>
                  <a:schemeClr val="folHlink"/>
                </a:solidFill>
                <a:latin typeface="黑体" panose="02010609060101010101" pitchFamily="49" charset="-122"/>
                <a:ea typeface="黑体" panose="02010609060101010101" pitchFamily="49" charset="-122"/>
              </a:rPr>
              <a:t>程序切换</a:t>
            </a:r>
          </a:p>
        </p:txBody>
      </p:sp>
      <p:sp>
        <p:nvSpPr>
          <p:cNvPr id="27653" name="AutoShape 5"/>
          <p:cNvSpPr/>
          <p:nvPr/>
        </p:nvSpPr>
        <p:spPr>
          <a:xfrm>
            <a:off x="2057400" y="1600200"/>
            <a:ext cx="228600" cy="1066800"/>
          </a:xfrm>
          <a:prstGeom prst="leftBrace">
            <a:avLst>
              <a:gd name="adj1" fmla="val 38888"/>
              <a:gd name="adj2" fmla="val 50000"/>
            </a:avLst>
          </a:prstGeom>
          <a:noFill/>
          <a:ln w="38100" cap="flat" cmpd="sng">
            <a:solidFill>
              <a:schemeClr val="tx1"/>
            </a:solidFill>
            <a:prstDash val="solid"/>
            <a:headEnd type="none" w="med" len="med"/>
            <a:tailEnd type="none" w="med" len="med"/>
          </a:ln>
        </p:spPr>
        <p:txBody>
          <a:bodyPr wrap="none" anchor="ctr" anchorCtr="0"/>
          <a:lstStyle/>
          <a:p>
            <a:pPr eaLnBrk="0" hangingPunct="0"/>
            <a:endParaRPr lang="zh-CN" altLang="en-US" dirty="0">
              <a:latin typeface="Times New Roman" panose="02020603050405020304" pitchFamily="18" charset="0"/>
            </a:endParaRPr>
          </a:p>
        </p:txBody>
      </p:sp>
      <p:sp>
        <p:nvSpPr>
          <p:cNvPr id="27654" name="Text Box 6"/>
          <p:cNvSpPr txBox="1"/>
          <p:nvPr/>
        </p:nvSpPr>
        <p:spPr>
          <a:xfrm>
            <a:off x="2362200" y="1371600"/>
            <a:ext cx="3276600" cy="579438"/>
          </a:xfrm>
          <a:prstGeom prst="rect">
            <a:avLst/>
          </a:prstGeom>
          <a:noFill/>
          <a:ln w="12700">
            <a:noFill/>
          </a:ln>
        </p:spPr>
        <p:txBody>
          <a:bodyPr>
            <a:spAutoFit/>
          </a:bodyPr>
          <a:lstStyle/>
          <a:p>
            <a:pPr>
              <a:spcBef>
                <a:spcPct val="50000"/>
              </a:spcBef>
            </a:pPr>
            <a:r>
              <a:rPr lang="zh-CN" altLang="en-US" sz="3200" dirty="0">
                <a:latin typeface="黑体" panose="02010609060101010101" pitchFamily="49" charset="-122"/>
                <a:ea typeface="黑体" panose="02010609060101010101" pitchFamily="49" charset="-122"/>
              </a:rPr>
              <a:t>方法：</a:t>
            </a:r>
          </a:p>
        </p:txBody>
      </p:sp>
      <p:sp>
        <p:nvSpPr>
          <p:cNvPr id="27655" name="Text Box 7"/>
          <p:cNvSpPr txBox="1"/>
          <p:nvPr/>
        </p:nvSpPr>
        <p:spPr>
          <a:xfrm>
            <a:off x="3505200" y="1371600"/>
            <a:ext cx="5111750" cy="579438"/>
          </a:xfrm>
          <a:prstGeom prst="rect">
            <a:avLst/>
          </a:prstGeom>
          <a:noFill/>
          <a:ln w="12700">
            <a:noFill/>
          </a:ln>
        </p:spPr>
        <p:txBody>
          <a:bodyPr>
            <a:spAutoFit/>
          </a:bodyPr>
          <a:lstStyle/>
          <a:p>
            <a:pPr>
              <a:spcBef>
                <a:spcPct val="50000"/>
              </a:spcBef>
            </a:pPr>
            <a:r>
              <a:rPr lang="zh-CN" altLang="en-US" sz="3200" dirty="0">
                <a:latin typeface="黑体" panose="02010609060101010101" pitchFamily="49" charset="-122"/>
                <a:ea typeface="黑体" panose="02010609060101010101" pitchFamily="49" charset="-122"/>
              </a:rPr>
              <a:t>保存断点，保护现场；</a:t>
            </a:r>
          </a:p>
        </p:txBody>
      </p:sp>
      <p:sp>
        <p:nvSpPr>
          <p:cNvPr id="27656" name="Text Box 8"/>
          <p:cNvSpPr txBox="1"/>
          <p:nvPr/>
        </p:nvSpPr>
        <p:spPr>
          <a:xfrm>
            <a:off x="3505200" y="1905000"/>
            <a:ext cx="4859338" cy="579438"/>
          </a:xfrm>
          <a:prstGeom prst="rect">
            <a:avLst/>
          </a:prstGeom>
          <a:noFill/>
          <a:ln w="12700">
            <a:noFill/>
          </a:ln>
        </p:spPr>
        <p:txBody>
          <a:bodyPr>
            <a:spAutoFit/>
          </a:bodyPr>
          <a:lstStyle/>
          <a:p>
            <a:pPr>
              <a:spcBef>
                <a:spcPct val="50000"/>
              </a:spcBef>
            </a:pPr>
            <a:r>
              <a:rPr lang="zh-CN" altLang="en-US" sz="3200" dirty="0">
                <a:latin typeface="黑体" panose="02010609060101010101" pitchFamily="49" charset="-122"/>
                <a:ea typeface="黑体" panose="02010609060101010101" pitchFamily="49" charset="-122"/>
              </a:rPr>
              <a:t>恢复现场，返回断点。</a:t>
            </a:r>
          </a:p>
        </p:txBody>
      </p:sp>
      <p:sp>
        <p:nvSpPr>
          <p:cNvPr id="27657" name="Text Box 9"/>
          <p:cNvSpPr txBox="1"/>
          <p:nvPr/>
        </p:nvSpPr>
        <p:spPr>
          <a:xfrm>
            <a:off x="2362200" y="2438400"/>
            <a:ext cx="3276600" cy="579438"/>
          </a:xfrm>
          <a:prstGeom prst="rect">
            <a:avLst/>
          </a:prstGeom>
          <a:noFill/>
          <a:ln w="12700">
            <a:noFill/>
          </a:ln>
        </p:spPr>
        <p:txBody>
          <a:bodyPr>
            <a:spAutoFit/>
          </a:bodyPr>
          <a:lstStyle/>
          <a:p>
            <a:pPr>
              <a:spcBef>
                <a:spcPct val="50000"/>
              </a:spcBef>
            </a:pPr>
            <a:r>
              <a:rPr lang="zh-CN" altLang="en-US" sz="3200" dirty="0">
                <a:latin typeface="黑体" panose="02010609060101010101" pitchFamily="49" charset="-122"/>
                <a:ea typeface="黑体" panose="02010609060101010101" pitchFamily="49" charset="-122"/>
              </a:rPr>
              <a:t>时间：</a:t>
            </a:r>
          </a:p>
        </p:txBody>
      </p:sp>
      <p:sp>
        <p:nvSpPr>
          <p:cNvPr id="27658" name="Text Box 10"/>
          <p:cNvSpPr txBox="1"/>
          <p:nvPr/>
        </p:nvSpPr>
        <p:spPr>
          <a:xfrm>
            <a:off x="3505200" y="2438400"/>
            <a:ext cx="4824413" cy="579438"/>
          </a:xfrm>
          <a:prstGeom prst="rect">
            <a:avLst/>
          </a:prstGeom>
          <a:noFill/>
          <a:ln w="12700">
            <a:noFill/>
          </a:ln>
        </p:spPr>
        <p:txBody>
          <a:bodyPr>
            <a:spAutoFit/>
          </a:bodyPr>
          <a:lstStyle/>
          <a:p>
            <a:pPr>
              <a:spcBef>
                <a:spcPct val="50000"/>
              </a:spcBef>
            </a:pPr>
            <a:r>
              <a:rPr lang="zh-CN" altLang="en-US" sz="3200" dirty="0">
                <a:latin typeface="黑体" panose="02010609060101010101" pitchFamily="49" charset="-122"/>
                <a:ea typeface="黑体" panose="02010609060101010101" pitchFamily="49" charset="-122"/>
              </a:rPr>
              <a:t>一条指令结束时切换。</a:t>
            </a:r>
          </a:p>
        </p:txBody>
      </p:sp>
      <p:sp>
        <p:nvSpPr>
          <p:cNvPr id="27659" name="Text Box 11"/>
          <p:cNvSpPr txBox="1"/>
          <p:nvPr/>
        </p:nvSpPr>
        <p:spPr>
          <a:xfrm>
            <a:off x="3505200" y="2971800"/>
            <a:ext cx="5075238" cy="579438"/>
          </a:xfrm>
          <a:prstGeom prst="rect">
            <a:avLst/>
          </a:prstGeom>
          <a:noFill/>
          <a:ln w="12700">
            <a:noFill/>
          </a:ln>
        </p:spPr>
        <p:txBody>
          <a:bodyPr>
            <a:spAutoFit/>
          </a:bodyPr>
          <a:lstStyle/>
          <a:p>
            <a:pPr>
              <a:spcBef>
                <a:spcPct val="50000"/>
              </a:spcBef>
            </a:pPr>
            <a:r>
              <a:rPr lang="zh-CN" altLang="en-US" sz="3200" dirty="0">
                <a:solidFill>
                  <a:schemeClr val="accent1"/>
                </a:solidFill>
                <a:latin typeface="黑体" panose="02010609060101010101" pitchFamily="49" charset="-122"/>
                <a:ea typeface="黑体" panose="02010609060101010101" pitchFamily="49" charset="-122"/>
              </a:rPr>
              <a:t>保证程序的完整性。</a:t>
            </a:r>
          </a:p>
        </p:txBody>
      </p:sp>
      <p:sp>
        <p:nvSpPr>
          <p:cNvPr id="27660" name="Text Box 12"/>
          <p:cNvSpPr txBox="1"/>
          <p:nvPr/>
        </p:nvSpPr>
        <p:spPr>
          <a:xfrm>
            <a:off x="-76200" y="3213100"/>
            <a:ext cx="2286000" cy="579438"/>
          </a:xfrm>
          <a:prstGeom prst="rect">
            <a:avLst/>
          </a:prstGeom>
          <a:noFill/>
          <a:ln w="12700">
            <a:noFill/>
          </a:ln>
        </p:spPr>
        <p:txBody>
          <a:bodyPr>
            <a:spAutoFit/>
          </a:bodyPr>
          <a:lstStyle/>
          <a:p>
            <a:pPr>
              <a:spcBef>
                <a:spcPct val="50000"/>
              </a:spcBef>
            </a:pPr>
            <a:r>
              <a:rPr lang="zh-CN" altLang="en-US" sz="3200" dirty="0">
                <a:latin typeface="黑体" panose="02010609060101010101" pitchFamily="49" charset="-122"/>
                <a:ea typeface="黑体" panose="02010609060101010101" pitchFamily="49" charset="-122"/>
              </a:rPr>
              <a:t>（</a:t>
            </a:r>
            <a:r>
              <a:rPr lang="en-US" altLang="zh-CN" sz="3200" dirty="0">
                <a:latin typeface="黑体" panose="02010609060101010101" pitchFamily="49" charset="-122"/>
                <a:ea typeface="黑体" panose="02010609060101010101" pitchFamily="49" charset="-122"/>
              </a:rPr>
              <a:t>2</a:t>
            </a:r>
            <a:r>
              <a:rPr lang="zh-CN" altLang="en-US" sz="3200" dirty="0">
                <a:latin typeface="黑体" panose="02010609060101010101" pitchFamily="49" charset="-122"/>
                <a:ea typeface="黑体" panose="02010609060101010101" pitchFamily="49" charset="-122"/>
              </a:rPr>
              <a:t>）特点</a:t>
            </a:r>
          </a:p>
        </p:txBody>
      </p:sp>
      <p:sp>
        <p:nvSpPr>
          <p:cNvPr id="27661" name="Text Box 13"/>
          <p:cNvSpPr txBox="1"/>
          <p:nvPr/>
        </p:nvSpPr>
        <p:spPr>
          <a:xfrm>
            <a:off x="152400" y="4279900"/>
            <a:ext cx="3276600" cy="579438"/>
          </a:xfrm>
          <a:prstGeom prst="rect">
            <a:avLst/>
          </a:prstGeom>
          <a:noFill/>
          <a:ln w="12700">
            <a:noFill/>
          </a:ln>
        </p:spPr>
        <p:txBody>
          <a:bodyPr>
            <a:spAutoFit/>
          </a:bodyPr>
          <a:lstStyle/>
          <a:p>
            <a:pPr>
              <a:spcBef>
                <a:spcPct val="50000"/>
              </a:spcBef>
            </a:pPr>
            <a:r>
              <a:rPr lang="zh-CN" altLang="en-US" sz="3200" dirty="0">
                <a:solidFill>
                  <a:schemeClr val="folHlink"/>
                </a:solidFill>
                <a:latin typeface="黑体" panose="02010609060101010101" pitchFamily="49" charset="-122"/>
                <a:ea typeface="黑体" panose="02010609060101010101" pitchFamily="49" charset="-122"/>
              </a:rPr>
              <a:t>随机性</a:t>
            </a:r>
          </a:p>
        </p:txBody>
      </p:sp>
      <p:sp>
        <p:nvSpPr>
          <p:cNvPr id="27662" name="AutoShape 14"/>
          <p:cNvSpPr/>
          <p:nvPr/>
        </p:nvSpPr>
        <p:spPr>
          <a:xfrm>
            <a:off x="1600200" y="4127500"/>
            <a:ext cx="228600" cy="990600"/>
          </a:xfrm>
          <a:prstGeom prst="leftBrace">
            <a:avLst>
              <a:gd name="adj1" fmla="val 36111"/>
              <a:gd name="adj2" fmla="val 50000"/>
            </a:avLst>
          </a:prstGeom>
          <a:noFill/>
          <a:ln w="38100" cap="flat" cmpd="sng">
            <a:solidFill>
              <a:schemeClr val="tx1"/>
            </a:solidFill>
            <a:prstDash val="solid"/>
            <a:headEnd type="none" w="med" len="med"/>
            <a:tailEnd type="none" w="med" len="med"/>
          </a:ln>
        </p:spPr>
        <p:txBody>
          <a:bodyPr wrap="none" anchor="ctr" anchorCtr="0"/>
          <a:lstStyle/>
          <a:p>
            <a:pPr eaLnBrk="0" hangingPunct="0"/>
            <a:endParaRPr lang="zh-CN" altLang="en-US" dirty="0">
              <a:latin typeface="Times New Roman" panose="02020603050405020304" pitchFamily="18" charset="0"/>
            </a:endParaRPr>
          </a:p>
        </p:txBody>
      </p:sp>
      <p:sp>
        <p:nvSpPr>
          <p:cNvPr id="27663" name="Text Box 15"/>
          <p:cNvSpPr txBox="1"/>
          <p:nvPr/>
        </p:nvSpPr>
        <p:spPr>
          <a:xfrm>
            <a:off x="1752600" y="3822700"/>
            <a:ext cx="4572000" cy="519113"/>
          </a:xfrm>
          <a:prstGeom prst="rect">
            <a:avLst/>
          </a:prstGeom>
          <a:noFill/>
          <a:ln w="12700">
            <a:noFill/>
          </a:ln>
        </p:spPr>
        <p:txBody>
          <a:bodyPr>
            <a:spAutoFit/>
          </a:bodyPr>
          <a:lstStyle/>
          <a:p>
            <a:pPr>
              <a:spcBef>
                <a:spcPct val="50000"/>
              </a:spcBef>
            </a:pPr>
            <a:r>
              <a:rPr lang="zh-CN" altLang="en-US" sz="2800" dirty="0">
                <a:latin typeface="黑体" panose="02010609060101010101" pitchFamily="49" charset="-122"/>
                <a:ea typeface="黑体" panose="02010609060101010101" pitchFamily="49" charset="-122"/>
              </a:rPr>
              <a:t>随机发生的事态</a:t>
            </a:r>
          </a:p>
        </p:txBody>
      </p:sp>
      <p:sp>
        <p:nvSpPr>
          <p:cNvPr id="27664" name="Text Box 16"/>
          <p:cNvSpPr txBox="1"/>
          <p:nvPr/>
        </p:nvSpPr>
        <p:spPr>
          <a:xfrm>
            <a:off x="152400" y="5346700"/>
            <a:ext cx="6291263" cy="584200"/>
          </a:xfrm>
          <a:prstGeom prst="rect">
            <a:avLst/>
          </a:prstGeom>
          <a:noFill/>
          <a:ln w="12700">
            <a:noFill/>
          </a:ln>
        </p:spPr>
        <p:txBody>
          <a:bodyPr>
            <a:spAutoFit/>
          </a:bodyPr>
          <a:lstStyle/>
          <a:p>
            <a:pPr>
              <a:spcBef>
                <a:spcPct val="50000"/>
              </a:spcBef>
            </a:pPr>
            <a:r>
              <a:rPr lang="zh-CN" altLang="en-US" sz="3200" dirty="0">
                <a:latin typeface="黑体" panose="02010609060101010101" pitchFamily="49" charset="-122"/>
                <a:ea typeface="黑体" panose="02010609060101010101" pitchFamily="49" charset="-122"/>
              </a:rPr>
              <a:t>注意</a:t>
            </a:r>
            <a:r>
              <a:rPr lang="zh-CN" altLang="en-US" sz="3200" dirty="0">
                <a:solidFill>
                  <a:srgbClr val="00FF00"/>
                </a:solidFill>
                <a:latin typeface="黑体" panose="02010609060101010101" pitchFamily="49" charset="-122"/>
                <a:ea typeface="黑体" panose="02010609060101010101" pitchFamily="49" charset="-122"/>
              </a:rPr>
              <a:t>中断</a:t>
            </a:r>
            <a:r>
              <a:rPr lang="zh-CN" altLang="en-US" sz="3200" dirty="0">
                <a:latin typeface="黑体" panose="02010609060101010101" pitchFamily="49" charset="-122"/>
                <a:ea typeface="黑体" panose="02010609060101010101" pitchFamily="49" charset="-122"/>
              </a:rPr>
              <a:t>与</a:t>
            </a:r>
            <a:r>
              <a:rPr lang="zh-CN" altLang="en-US" sz="3200" dirty="0">
                <a:solidFill>
                  <a:srgbClr val="00FF00"/>
                </a:solidFill>
                <a:latin typeface="黑体" panose="02010609060101010101" pitchFamily="49" charset="-122"/>
                <a:ea typeface="黑体" panose="02010609060101010101" pitchFamily="49" charset="-122"/>
              </a:rPr>
              <a:t>子程序调用</a:t>
            </a:r>
            <a:r>
              <a:rPr lang="zh-CN" altLang="en-US" sz="3200" dirty="0">
                <a:latin typeface="黑体" panose="02010609060101010101" pitchFamily="49" charset="-122"/>
                <a:ea typeface="黑体" panose="02010609060101010101" pitchFamily="49" charset="-122"/>
              </a:rPr>
              <a:t>的区别。</a:t>
            </a:r>
          </a:p>
        </p:txBody>
      </p:sp>
      <p:sp>
        <p:nvSpPr>
          <p:cNvPr id="27665" name="Text Box 17"/>
          <p:cNvSpPr txBox="1"/>
          <p:nvPr/>
        </p:nvSpPr>
        <p:spPr>
          <a:xfrm>
            <a:off x="4114800" y="3822700"/>
            <a:ext cx="4572000" cy="519113"/>
          </a:xfrm>
          <a:prstGeom prst="rect">
            <a:avLst/>
          </a:prstGeom>
          <a:noFill/>
          <a:ln w="12700">
            <a:noFill/>
          </a:ln>
        </p:spPr>
        <p:txBody>
          <a:bodyPr>
            <a:spAutoFit/>
          </a:bodyPr>
          <a:lstStyle/>
          <a:p>
            <a:pPr>
              <a:spcBef>
                <a:spcPct val="50000"/>
              </a:spcBef>
            </a:pPr>
            <a:r>
              <a:rPr lang="zh-CN" altLang="en-US" sz="2800" dirty="0">
                <a:solidFill>
                  <a:schemeClr val="folHlink"/>
                </a:solidFill>
                <a:latin typeface="黑体" panose="02010609060101010101" pitchFamily="49" charset="-122"/>
                <a:ea typeface="楷体_GB2312"/>
              </a:rPr>
              <a:t>（</a:t>
            </a:r>
            <a:r>
              <a:rPr lang="zh-CN" altLang="en-US" sz="2800" dirty="0">
                <a:solidFill>
                  <a:srgbClr val="00FF00"/>
                </a:solidFill>
                <a:latin typeface="黑体" panose="02010609060101010101" pitchFamily="49" charset="-122"/>
                <a:ea typeface="黑体" panose="02010609060101010101" pitchFamily="49" charset="-122"/>
              </a:rPr>
              <a:t>按键、故障</a:t>
            </a:r>
            <a:r>
              <a:rPr lang="zh-CN" altLang="en-US" sz="2800" dirty="0">
                <a:solidFill>
                  <a:schemeClr val="folHlink"/>
                </a:solidFill>
                <a:latin typeface="黑体" panose="02010609060101010101" pitchFamily="49" charset="-122"/>
                <a:ea typeface="楷体_GB2312"/>
              </a:rPr>
              <a:t>）</a:t>
            </a:r>
          </a:p>
        </p:txBody>
      </p:sp>
      <p:sp>
        <p:nvSpPr>
          <p:cNvPr id="27666" name="Text Box 18"/>
          <p:cNvSpPr txBox="1"/>
          <p:nvPr/>
        </p:nvSpPr>
        <p:spPr>
          <a:xfrm>
            <a:off x="1752600" y="4279900"/>
            <a:ext cx="7315200" cy="519113"/>
          </a:xfrm>
          <a:prstGeom prst="rect">
            <a:avLst/>
          </a:prstGeom>
          <a:noFill/>
          <a:ln w="12700">
            <a:noFill/>
          </a:ln>
        </p:spPr>
        <p:txBody>
          <a:bodyPr>
            <a:spAutoFit/>
          </a:bodyPr>
          <a:lstStyle/>
          <a:p>
            <a:pPr>
              <a:spcBef>
                <a:spcPct val="50000"/>
              </a:spcBef>
            </a:pPr>
            <a:r>
              <a:rPr lang="zh-CN" altLang="en-US" sz="2800" dirty="0">
                <a:latin typeface="黑体" panose="02010609060101010101" pitchFamily="49" charset="-122"/>
                <a:ea typeface="黑体" panose="02010609060101010101" pitchFamily="49" charset="-122"/>
              </a:rPr>
              <a:t>有意调用</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随机请求与处理的事态</a:t>
            </a:r>
          </a:p>
        </p:txBody>
      </p:sp>
      <p:sp>
        <p:nvSpPr>
          <p:cNvPr id="27667" name="Text Box 19"/>
          <p:cNvSpPr txBox="1"/>
          <p:nvPr/>
        </p:nvSpPr>
        <p:spPr>
          <a:xfrm>
            <a:off x="6734175" y="4291013"/>
            <a:ext cx="2590800" cy="488950"/>
          </a:xfrm>
          <a:prstGeom prst="rect">
            <a:avLst/>
          </a:prstGeom>
          <a:noFill/>
          <a:ln w="12700">
            <a:noFill/>
          </a:ln>
        </p:spPr>
        <p:txBody>
          <a:bodyPr>
            <a:spAutoFit/>
          </a:bodyPr>
          <a:lstStyle/>
          <a:p>
            <a:pPr>
              <a:spcBef>
                <a:spcPct val="50000"/>
              </a:spcBef>
            </a:pPr>
            <a:r>
              <a:rPr lang="zh-CN" altLang="en-US" sz="2600" dirty="0">
                <a:solidFill>
                  <a:schemeClr val="folHlink"/>
                </a:solidFill>
                <a:latin typeface="黑体" panose="02010609060101010101" pitchFamily="49" charset="-122"/>
                <a:ea typeface="黑体" panose="02010609060101010101" pitchFamily="49" charset="-122"/>
              </a:rPr>
              <a:t>（</a:t>
            </a:r>
            <a:r>
              <a:rPr lang="zh-CN" altLang="en-US" sz="2600" dirty="0">
                <a:solidFill>
                  <a:schemeClr val="folHlink"/>
                </a:solidFill>
                <a:latin typeface="楷体_GB2312"/>
                <a:ea typeface="黑体" panose="02010609060101010101" pitchFamily="49" charset="-122"/>
              </a:rPr>
              <a:t>调用打印机</a:t>
            </a:r>
            <a:r>
              <a:rPr lang="zh-CN" altLang="en-US" sz="2600" dirty="0">
                <a:solidFill>
                  <a:schemeClr val="folHlink"/>
                </a:solidFill>
                <a:latin typeface="黑体" panose="02010609060101010101" pitchFamily="49" charset="-122"/>
                <a:ea typeface="黑体" panose="02010609060101010101" pitchFamily="49" charset="-122"/>
              </a:rPr>
              <a:t>）</a:t>
            </a:r>
          </a:p>
        </p:txBody>
      </p:sp>
      <p:sp>
        <p:nvSpPr>
          <p:cNvPr id="27668" name="Text Box 20"/>
          <p:cNvSpPr txBox="1"/>
          <p:nvPr/>
        </p:nvSpPr>
        <p:spPr>
          <a:xfrm>
            <a:off x="1752600" y="4737100"/>
            <a:ext cx="4572000" cy="519113"/>
          </a:xfrm>
          <a:prstGeom prst="rect">
            <a:avLst/>
          </a:prstGeom>
          <a:noFill/>
          <a:ln w="12700">
            <a:noFill/>
          </a:ln>
        </p:spPr>
        <p:txBody>
          <a:bodyPr>
            <a:spAutoFit/>
          </a:bodyPr>
          <a:lstStyle/>
          <a:p>
            <a:pPr>
              <a:spcBef>
                <a:spcPct val="50000"/>
              </a:spcBef>
            </a:pPr>
            <a:r>
              <a:rPr lang="zh-CN" altLang="en-US" sz="2800" dirty="0">
                <a:latin typeface="黑体" panose="02010609060101010101" pitchFamily="49" charset="-122"/>
                <a:ea typeface="黑体" panose="02010609060101010101" pitchFamily="49" charset="-122"/>
              </a:rPr>
              <a:t>随机插入的事态</a:t>
            </a:r>
          </a:p>
        </p:txBody>
      </p:sp>
      <p:sp>
        <p:nvSpPr>
          <p:cNvPr id="27669" name="Text Box 21"/>
          <p:cNvSpPr txBox="1"/>
          <p:nvPr/>
        </p:nvSpPr>
        <p:spPr>
          <a:xfrm>
            <a:off x="4086225" y="4752975"/>
            <a:ext cx="5362575" cy="488950"/>
          </a:xfrm>
          <a:prstGeom prst="rect">
            <a:avLst/>
          </a:prstGeom>
          <a:noFill/>
          <a:ln w="12700">
            <a:noFill/>
          </a:ln>
        </p:spPr>
        <p:txBody>
          <a:bodyPr>
            <a:spAutoFit/>
          </a:bodyPr>
          <a:lstStyle/>
          <a:p>
            <a:pPr>
              <a:spcBef>
                <a:spcPct val="50000"/>
              </a:spcBef>
            </a:pPr>
            <a:r>
              <a:rPr lang="zh-CN" altLang="en-US" sz="2600" dirty="0">
                <a:solidFill>
                  <a:srgbClr val="00FF00"/>
                </a:solidFill>
                <a:latin typeface="黑体" panose="02010609060101010101" pitchFamily="49" charset="-122"/>
                <a:ea typeface="黑体" panose="02010609060101010101" pitchFamily="49" charset="-122"/>
              </a:rPr>
              <a:t>（软中断指令插入程序任何位置）</a:t>
            </a:r>
          </a:p>
        </p:txBody>
      </p:sp>
    </p:spTree>
  </p:cSld>
  <p:clrMapOvr>
    <a:masterClrMapping/>
  </p:clrMapOvr>
  <p:transition>
    <p:cover dir="l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4"/>
          <p:cNvSpPr/>
          <p:nvPr/>
        </p:nvSpPr>
        <p:spPr>
          <a:xfrm>
            <a:off x="468313" y="250825"/>
            <a:ext cx="5039791" cy="730250"/>
          </a:xfrm>
          <a:prstGeom prst="rect">
            <a:avLst/>
          </a:prstGeom>
          <a:noFill/>
          <a:ln w="9525">
            <a:noFill/>
          </a:ln>
        </p:spPr>
        <p:txBody>
          <a:bodyPr/>
          <a:lstStyle/>
          <a:p>
            <a:pPr marL="342900" indent="-342900">
              <a:lnSpc>
                <a:spcPct val="120000"/>
              </a:lnSpc>
              <a:spcBef>
                <a:spcPct val="20000"/>
              </a:spcBef>
              <a:buClr>
                <a:schemeClr val="accent2"/>
              </a:buClr>
              <a:buSzPct val="80000"/>
              <a:buFont typeface="Wingdings" panose="05000000000000000000" pitchFamily="2" charset="2"/>
            </a:pPr>
            <a:r>
              <a:rPr lang="zh-CN" altLang="en-US" sz="3200" dirty="0">
                <a:solidFill>
                  <a:srgbClr val="00FF00"/>
                </a:solidFill>
                <a:latin typeface="黑体" panose="02010609060101010101" pitchFamily="49" charset="-122"/>
                <a:ea typeface="黑体" panose="02010609060101010101" pitchFamily="49" charset="-122"/>
              </a:rPr>
              <a:t>中断</a:t>
            </a:r>
            <a:r>
              <a:rPr lang="zh-CN" altLang="en-US" sz="3200" dirty="0">
                <a:latin typeface="黑体" panose="02010609060101010101" pitchFamily="49" charset="-122"/>
                <a:ea typeface="黑体" panose="02010609060101010101" pitchFamily="49" charset="-122"/>
              </a:rPr>
              <a:t>与</a:t>
            </a:r>
            <a:r>
              <a:rPr lang="zh-CN" altLang="en-US" sz="3200" dirty="0">
                <a:solidFill>
                  <a:srgbClr val="00FF00"/>
                </a:solidFill>
                <a:latin typeface="黑体" panose="02010609060101010101" pitchFamily="49" charset="-122"/>
                <a:ea typeface="黑体" panose="02010609060101010101" pitchFamily="49" charset="-122"/>
              </a:rPr>
              <a:t>子程序调用</a:t>
            </a:r>
            <a:r>
              <a:rPr lang="zh-CN" altLang="en-US" sz="3200" dirty="0">
                <a:solidFill>
                  <a:schemeClr val="folHlink"/>
                </a:solidFill>
                <a:latin typeface="黑体" panose="02010609060101010101" pitchFamily="49" charset="-122"/>
                <a:ea typeface="黑体" panose="02010609060101010101" pitchFamily="49" charset="-122"/>
              </a:rPr>
              <a:t>的区别</a:t>
            </a:r>
            <a:r>
              <a:rPr lang="en-US" altLang="zh-CN" sz="3200" dirty="0">
                <a:solidFill>
                  <a:schemeClr val="folHlink"/>
                </a:solidFill>
                <a:latin typeface="黑体" panose="02010609060101010101" pitchFamily="49" charset="-122"/>
                <a:ea typeface="黑体" panose="02010609060101010101" pitchFamily="49" charset="-122"/>
              </a:rPr>
              <a:t>:</a:t>
            </a:r>
          </a:p>
        </p:txBody>
      </p:sp>
      <p:sp>
        <p:nvSpPr>
          <p:cNvPr id="37893" name="Rectangle 5"/>
          <p:cNvSpPr/>
          <p:nvPr/>
        </p:nvSpPr>
        <p:spPr>
          <a:xfrm>
            <a:off x="34925" y="1160463"/>
            <a:ext cx="8609013" cy="1127125"/>
          </a:xfrm>
          <a:prstGeom prst="rect">
            <a:avLst/>
          </a:prstGeom>
          <a:noFill/>
          <a:ln w="9525">
            <a:noFill/>
          </a:ln>
        </p:spPr>
        <p:txBody>
          <a:bodyPr>
            <a:spAutoFit/>
          </a:bodyPr>
          <a:lstStyle/>
          <a:p>
            <a:pPr lvl="1" algn="just" eaLnBrk="1" hangingPunct="1">
              <a:lnSpc>
                <a:spcPct val="120000"/>
              </a:lnSpc>
              <a:spcBef>
                <a:spcPct val="50000"/>
              </a:spcBef>
              <a:buClr>
                <a:schemeClr val="folHlink"/>
              </a:buClr>
              <a:buFont typeface="Wingdings" panose="05000000000000000000" pitchFamily="2" charset="2"/>
              <a:buChar char="l"/>
            </a:pPr>
            <a:r>
              <a:rPr lang="zh-CN" altLang="en-US" sz="2800" dirty="0">
                <a:latin typeface="黑体" panose="02010609060101010101" pitchFamily="49" charset="-122"/>
                <a:ea typeface="黑体" panose="02010609060101010101" pitchFamily="49" charset="-122"/>
              </a:rPr>
              <a:t> 子程序的执行由程序员事先安排，而中断服务程序的执行则是由随机中断事件触发。</a:t>
            </a:r>
          </a:p>
        </p:txBody>
      </p:sp>
      <p:sp>
        <p:nvSpPr>
          <p:cNvPr id="37894" name="Rectangle 6"/>
          <p:cNvSpPr/>
          <p:nvPr/>
        </p:nvSpPr>
        <p:spPr>
          <a:xfrm>
            <a:off x="36513" y="2587625"/>
            <a:ext cx="8607425" cy="1127125"/>
          </a:xfrm>
          <a:prstGeom prst="rect">
            <a:avLst/>
          </a:prstGeom>
          <a:noFill/>
          <a:ln w="9525">
            <a:noFill/>
          </a:ln>
        </p:spPr>
        <p:txBody>
          <a:bodyPr>
            <a:spAutoFit/>
          </a:bodyPr>
          <a:lstStyle/>
          <a:p>
            <a:pPr lvl="1" algn="just" eaLnBrk="1" hangingPunct="1">
              <a:lnSpc>
                <a:spcPct val="120000"/>
              </a:lnSpc>
              <a:spcBef>
                <a:spcPct val="50000"/>
              </a:spcBef>
              <a:buClr>
                <a:schemeClr val="folHlink"/>
              </a:buClr>
              <a:buFont typeface="Wingdings" panose="05000000000000000000" pitchFamily="2" charset="2"/>
              <a:buChar char="l"/>
            </a:pPr>
            <a:r>
              <a:rPr lang="zh-CN" altLang="en-US" sz="2800" dirty="0">
                <a:latin typeface="黑体" panose="02010609060101010101" pitchFamily="49" charset="-122"/>
                <a:ea typeface="黑体" panose="02010609060101010101" pitchFamily="49" charset="-122"/>
              </a:rPr>
              <a:t> 子程序的执行受主程序或上层程序控制，而中断服务程序一般与被中断的现行程序无关。</a:t>
            </a:r>
          </a:p>
        </p:txBody>
      </p:sp>
      <p:sp>
        <p:nvSpPr>
          <p:cNvPr id="37895" name="Rectangle 7"/>
          <p:cNvSpPr/>
          <p:nvPr/>
        </p:nvSpPr>
        <p:spPr>
          <a:xfrm>
            <a:off x="34925" y="4076700"/>
            <a:ext cx="8609013" cy="1127125"/>
          </a:xfrm>
          <a:prstGeom prst="rect">
            <a:avLst/>
          </a:prstGeom>
          <a:noFill/>
          <a:ln w="9525">
            <a:noFill/>
          </a:ln>
        </p:spPr>
        <p:txBody>
          <a:bodyPr>
            <a:spAutoFit/>
          </a:bodyPr>
          <a:lstStyle/>
          <a:p>
            <a:pPr lvl="1" algn="just" eaLnBrk="1" hangingPunct="1">
              <a:lnSpc>
                <a:spcPct val="120000"/>
              </a:lnSpc>
              <a:spcBef>
                <a:spcPct val="50000"/>
              </a:spcBef>
              <a:buClr>
                <a:schemeClr val="folHlink"/>
              </a:buClr>
              <a:buFont typeface="Wingdings" panose="05000000000000000000" pitchFamily="2" charset="2"/>
              <a:buChar char="l"/>
            </a:pPr>
            <a:r>
              <a:rPr lang="zh-CN" altLang="en-US" sz="2800" dirty="0">
                <a:latin typeface="黑体" panose="02010609060101010101" pitchFamily="49" charset="-122"/>
                <a:ea typeface="黑体" panose="02010609060101010101" pitchFamily="49" charset="-122"/>
              </a:rPr>
              <a:t> 一般不存在同时调用多个子程序，但可能发生多个外设同时向</a:t>
            </a:r>
            <a:r>
              <a:rPr lang="en-US" altLang="zh-CN" sz="2800" dirty="0">
                <a:latin typeface="黑体" panose="02010609060101010101" pitchFamily="49" charset="-122"/>
                <a:ea typeface="黑体" panose="02010609060101010101" pitchFamily="49" charset="-122"/>
              </a:rPr>
              <a:t>CPU</a:t>
            </a:r>
            <a:r>
              <a:rPr lang="zh-CN" altLang="en-US" sz="2800" dirty="0">
                <a:latin typeface="黑体" panose="02010609060101010101" pitchFamily="49" charset="-122"/>
                <a:ea typeface="黑体" panose="02010609060101010101" pitchFamily="49" charset="-122"/>
              </a:rPr>
              <a:t>发出中断服务请求的情况。</a:t>
            </a:r>
          </a:p>
        </p:txBody>
      </p:sp>
    </p:spTree>
  </p:cSld>
  <p:clrMapOvr>
    <a:masterClrMapping/>
  </p:clrMapOvr>
  <p:transition>
    <p:cover dir="l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9" name="Text Box 13"/>
          <p:cNvSpPr txBox="1"/>
          <p:nvPr/>
        </p:nvSpPr>
        <p:spPr>
          <a:xfrm>
            <a:off x="300038" y="188913"/>
            <a:ext cx="5280025" cy="579437"/>
          </a:xfrm>
          <a:prstGeom prst="rect">
            <a:avLst/>
          </a:prstGeom>
          <a:noFill/>
          <a:ln w="12700">
            <a:noFill/>
          </a:ln>
        </p:spPr>
        <p:txBody>
          <a:bodyPr>
            <a:spAutoFit/>
          </a:bodyPr>
          <a:lstStyle/>
          <a:p>
            <a:pPr>
              <a:spcBef>
                <a:spcPct val="50000"/>
              </a:spcBef>
            </a:pPr>
            <a:r>
              <a:rPr lang="en-US" altLang="zh-CN" sz="3200" dirty="0">
                <a:solidFill>
                  <a:srgbClr val="FFFF00"/>
                </a:solidFill>
                <a:latin typeface="黑体" panose="02010609060101010101" pitchFamily="49" charset="-122"/>
                <a:ea typeface="黑体" panose="02010609060101010101" pitchFamily="49" charset="-122"/>
              </a:rPr>
              <a:t>2.</a:t>
            </a:r>
            <a:r>
              <a:rPr lang="zh-CN" altLang="en-US" sz="3200" dirty="0">
                <a:solidFill>
                  <a:srgbClr val="FFFF00"/>
                </a:solidFill>
                <a:latin typeface="黑体" panose="02010609060101010101" pitchFamily="49" charset="-122"/>
                <a:ea typeface="黑体" panose="02010609060101010101" pitchFamily="49" charset="-122"/>
              </a:rPr>
              <a:t>中断的典型应用</a:t>
            </a:r>
          </a:p>
        </p:txBody>
      </p:sp>
      <p:sp>
        <p:nvSpPr>
          <p:cNvPr id="9234" name="Text Box 18"/>
          <p:cNvSpPr txBox="1"/>
          <p:nvPr/>
        </p:nvSpPr>
        <p:spPr>
          <a:xfrm>
            <a:off x="0" y="908050"/>
            <a:ext cx="8893175" cy="549275"/>
          </a:xfrm>
          <a:prstGeom prst="rect">
            <a:avLst/>
          </a:prstGeom>
          <a:noFill/>
          <a:ln w="12700">
            <a:noFill/>
          </a:ln>
        </p:spPr>
        <p:txBody>
          <a:bodyPr>
            <a:spAutoFit/>
          </a:bodyPr>
          <a:lstStyle/>
          <a:p>
            <a:pPr>
              <a:spcBef>
                <a:spcPct val="50000"/>
              </a:spcBef>
            </a:pPr>
            <a:r>
              <a:rPr lang="zh-CN" altLang="en-US" sz="3000" dirty="0">
                <a:latin typeface="黑体" panose="02010609060101010101" pitchFamily="49" charset="-122"/>
                <a:ea typeface="黑体" panose="02010609060101010101" pitchFamily="49" charset="-122"/>
              </a:rPr>
              <a:t>（</a:t>
            </a:r>
            <a:r>
              <a:rPr lang="en-US" altLang="zh-CN" sz="3000" dirty="0">
                <a:latin typeface="黑体" panose="02010609060101010101" pitchFamily="49" charset="-122"/>
                <a:ea typeface="黑体" panose="02010609060101010101" pitchFamily="49" charset="-122"/>
              </a:rPr>
              <a:t>1</a:t>
            </a:r>
            <a:r>
              <a:rPr lang="zh-CN" altLang="en-US" sz="3000" dirty="0">
                <a:latin typeface="黑体" panose="02010609060101010101" pitchFamily="49" charset="-122"/>
                <a:ea typeface="黑体" panose="02010609060101010101" pitchFamily="49" charset="-122"/>
              </a:rPr>
              <a:t>）管理中、低速</a:t>
            </a:r>
            <a:r>
              <a:rPr lang="en-US" altLang="zh-CN" sz="3000" dirty="0">
                <a:latin typeface="黑体" panose="02010609060101010101" pitchFamily="49" charset="-122"/>
                <a:ea typeface="黑体" panose="02010609060101010101" pitchFamily="49" charset="-122"/>
              </a:rPr>
              <a:t>I/O</a:t>
            </a:r>
            <a:r>
              <a:rPr lang="zh-CN" altLang="en-US" sz="3000" dirty="0">
                <a:latin typeface="黑体" panose="02010609060101010101" pitchFamily="49" charset="-122"/>
                <a:ea typeface="黑体" panose="02010609060101010101" pitchFamily="49" charset="-122"/>
              </a:rPr>
              <a:t>操作</a:t>
            </a:r>
            <a:r>
              <a:rPr lang="en-US" altLang="zh-CN" sz="3000" dirty="0">
                <a:latin typeface="黑体" panose="02010609060101010101" pitchFamily="49" charset="-122"/>
                <a:ea typeface="黑体" panose="02010609060101010101" pitchFamily="49" charset="-122"/>
              </a:rPr>
              <a:t>,</a:t>
            </a:r>
            <a:r>
              <a:rPr lang="zh-CN" altLang="en-US" sz="3000" dirty="0">
                <a:latin typeface="黑体" panose="02010609060101010101" pitchFamily="49" charset="-122"/>
                <a:ea typeface="黑体" panose="02010609060101010101" pitchFamily="49" charset="-122"/>
              </a:rPr>
              <a:t>实现</a:t>
            </a:r>
            <a:r>
              <a:rPr lang="zh-CN" altLang="en-US" sz="3000" dirty="0">
                <a:solidFill>
                  <a:srgbClr val="00FF00"/>
                </a:solidFill>
                <a:latin typeface="黑体" panose="02010609060101010101" pitchFamily="49" charset="-122"/>
                <a:ea typeface="黑体" panose="02010609060101010101" pitchFamily="49" charset="-122"/>
              </a:rPr>
              <a:t>主</a:t>
            </a:r>
            <a:r>
              <a:rPr lang="en-US" altLang="zh-CN" sz="3000" dirty="0">
                <a:solidFill>
                  <a:srgbClr val="00FF00"/>
                </a:solidFill>
                <a:latin typeface="黑体" panose="02010609060101010101" pitchFamily="49" charset="-122"/>
                <a:ea typeface="黑体" panose="02010609060101010101" pitchFamily="49" charset="-122"/>
              </a:rPr>
              <a:t>-</a:t>
            </a:r>
            <a:r>
              <a:rPr lang="zh-CN" altLang="en-US" sz="3000" dirty="0">
                <a:solidFill>
                  <a:srgbClr val="00FF00"/>
                </a:solidFill>
                <a:latin typeface="黑体" panose="02010609060101010101" pitchFamily="49" charset="-122"/>
                <a:ea typeface="黑体" panose="02010609060101010101" pitchFamily="49" charset="-122"/>
              </a:rPr>
              <a:t>外</a:t>
            </a:r>
            <a:r>
              <a:rPr lang="zh-CN" altLang="en-US" sz="3000" dirty="0">
                <a:latin typeface="黑体" panose="02010609060101010101" pitchFamily="49" charset="-122"/>
                <a:ea typeface="黑体" panose="02010609060101010101" pitchFamily="49" charset="-122"/>
              </a:rPr>
              <a:t>并行工作</a:t>
            </a:r>
          </a:p>
        </p:txBody>
      </p:sp>
      <p:sp>
        <p:nvSpPr>
          <p:cNvPr id="9236" name="Text Box 20"/>
          <p:cNvSpPr txBox="1"/>
          <p:nvPr/>
        </p:nvSpPr>
        <p:spPr>
          <a:xfrm>
            <a:off x="228600" y="3715703"/>
            <a:ext cx="8415338" cy="1383665"/>
          </a:xfrm>
          <a:prstGeom prst="rect">
            <a:avLst/>
          </a:prstGeom>
          <a:noFill/>
          <a:ln w="12700">
            <a:noFill/>
          </a:ln>
        </p:spPr>
        <p:txBody>
          <a:bodyPr>
            <a:spAutoFit/>
          </a:bodyPr>
          <a:lstStyle/>
          <a:p>
            <a:pPr>
              <a:spcBef>
                <a:spcPct val="50000"/>
              </a:spcBef>
            </a:pPr>
            <a:r>
              <a:rPr lang="zh-CN" altLang="en-US" sz="2800" dirty="0">
                <a:solidFill>
                  <a:srgbClr val="00FF00"/>
                </a:solidFill>
                <a:latin typeface="Times New Roman" panose="02020603050405020304" pitchFamily="18" charset="0"/>
                <a:ea typeface="黑体" panose="02010609060101010101" pitchFamily="49" charset="-122"/>
              </a:rPr>
              <a:t>对各事件以足够快的速度进行处理，并在允许的时间尺度内作出反应。</a:t>
            </a:r>
            <a:r>
              <a:rPr lang="zh-CN" altLang="en-US" sz="2800" dirty="0">
                <a:solidFill>
                  <a:schemeClr val="tx1"/>
                </a:solidFill>
                <a:latin typeface="黑体" panose="02010609060101010101" pitchFamily="49" charset="-122"/>
                <a:ea typeface="黑体" panose="02010609060101010101" pitchFamily="49" charset="-122"/>
                <a:sym typeface="+mn-ea"/>
              </a:rPr>
              <a:t>利用时钟中断定时采集参数，检测，调节。</a:t>
            </a:r>
          </a:p>
        </p:txBody>
      </p:sp>
      <p:sp>
        <p:nvSpPr>
          <p:cNvPr id="9239" name="Text Box 23"/>
          <p:cNvSpPr txBox="1"/>
          <p:nvPr/>
        </p:nvSpPr>
        <p:spPr>
          <a:xfrm>
            <a:off x="0" y="2190750"/>
            <a:ext cx="8810625" cy="860425"/>
          </a:xfrm>
          <a:prstGeom prst="rect">
            <a:avLst/>
          </a:prstGeom>
          <a:noFill/>
          <a:ln w="12700">
            <a:noFill/>
          </a:ln>
        </p:spPr>
        <p:txBody>
          <a:bodyPr wrap="square">
            <a:spAutoFit/>
          </a:bodyPr>
          <a:lstStyle/>
          <a:p>
            <a:pPr>
              <a:spcBef>
                <a:spcPct val="50000"/>
              </a:spcBef>
            </a:pPr>
            <a:r>
              <a:rPr lang="zh-CN" altLang="en-US" sz="3000" dirty="0">
                <a:latin typeface="黑体" panose="02010609060101010101" pitchFamily="49" charset="-122"/>
                <a:ea typeface="黑体" panose="02010609060101010101" pitchFamily="49" charset="-122"/>
              </a:rPr>
              <a:t>（</a:t>
            </a:r>
            <a:r>
              <a:rPr lang="en-US" altLang="zh-CN" sz="3000" dirty="0">
                <a:latin typeface="黑体" panose="02010609060101010101" pitchFamily="49" charset="-122"/>
                <a:ea typeface="黑体" panose="02010609060101010101" pitchFamily="49" charset="-122"/>
              </a:rPr>
              <a:t>3</a:t>
            </a:r>
            <a:r>
              <a:rPr lang="zh-CN" altLang="en-US" sz="3000" dirty="0">
                <a:latin typeface="黑体" panose="02010609060101010101" pitchFamily="49" charset="-122"/>
                <a:ea typeface="黑体" panose="02010609060101010101" pitchFamily="49" charset="-122"/>
              </a:rPr>
              <a:t>）故障处理：</a:t>
            </a:r>
            <a:r>
              <a:rPr lang="zh-CN" altLang="en-US" sz="2000" dirty="0">
                <a:solidFill>
                  <a:schemeClr val="tx1"/>
                </a:solidFill>
                <a:latin typeface="黑体" panose="02010609060101010101" pitchFamily="49" charset="-122"/>
                <a:ea typeface="黑体" panose="02010609060101010101" pitchFamily="49" charset="-122"/>
                <a:sym typeface="+mn-ea"/>
              </a:rPr>
              <a:t>硬件故障</a:t>
            </a:r>
            <a:r>
              <a:rPr lang="en-US" altLang="zh-CN" sz="2000" dirty="0">
                <a:solidFill>
                  <a:schemeClr val="tx1"/>
                </a:solidFill>
                <a:latin typeface="黑体" panose="02010609060101010101" pitchFamily="49" charset="-122"/>
                <a:ea typeface="黑体" panose="02010609060101010101" pitchFamily="49" charset="-122"/>
                <a:sym typeface="+mn-ea"/>
              </a:rPr>
              <a:t>:</a:t>
            </a:r>
            <a:r>
              <a:rPr lang="zh-CN" altLang="en-US" sz="2000" dirty="0">
                <a:solidFill>
                  <a:schemeClr val="tx1"/>
                </a:solidFill>
                <a:latin typeface="黑体" panose="02010609060101010101" pitchFamily="49" charset="-122"/>
                <a:ea typeface="黑体" panose="02010609060101010101" pitchFamily="49" charset="-122"/>
                <a:sym typeface="+mn-ea"/>
              </a:rPr>
              <a:t>掉电、校验错、运算出错；软件故障</a:t>
            </a:r>
            <a:r>
              <a:rPr lang="en-US" altLang="zh-CN" sz="2000" dirty="0">
                <a:solidFill>
                  <a:schemeClr val="tx1"/>
                </a:solidFill>
                <a:latin typeface="黑体" panose="02010609060101010101" pitchFamily="49" charset="-122"/>
                <a:ea typeface="黑体" panose="02010609060101010101" pitchFamily="49" charset="-122"/>
                <a:sym typeface="+mn-ea"/>
              </a:rPr>
              <a:t>:</a:t>
            </a:r>
            <a:r>
              <a:rPr lang="zh-CN" altLang="en-US" sz="2000" dirty="0">
                <a:solidFill>
                  <a:schemeClr val="tx1"/>
                </a:solidFill>
                <a:latin typeface="黑体" panose="02010609060101010101" pitchFamily="49" charset="-122"/>
                <a:ea typeface="黑体" panose="02010609060101010101" pitchFamily="49" charset="-122"/>
                <a:sym typeface="+mn-ea"/>
              </a:rPr>
              <a:t>溢出、地址越界、使用非法指令</a:t>
            </a:r>
          </a:p>
        </p:txBody>
      </p:sp>
      <p:sp>
        <p:nvSpPr>
          <p:cNvPr id="9245" name="Text Box 29"/>
          <p:cNvSpPr txBox="1"/>
          <p:nvPr/>
        </p:nvSpPr>
        <p:spPr>
          <a:xfrm>
            <a:off x="0" y="3193733"/>
            <a:ext cx="8459788" cy="549275"/>
          </a:xfrm>
          <a:prstGeom prst="rect">
            <a:avLst/>
          </a:prstGeom>
          <a:noFill/>
          <a:ln w="12700">
            <a:noFill/>
          </a:ln>
        </p:spPr>
        <p:txBody>
          <a:bodyPr>
            <a:spAutoFit/>
          </a:bodyPr>
          <a:lstStyle/>
          <a:p>
            <a:pPr>
              <a:spcBef>
                <a:spcPct val="50000"/>
              </a:spcBef>
            </a:pPr>
            <a:r>
              <a:rPr lang="zh-CN" altLang="en-US" sz="3000" dirty="0">
                <a:latin typeface="黑体" panose="02010609060101010101" pitchFamily="49" charset="-122"/>
                <a:ea typeface="黑体" panose="02010609060101010101" pitchFamily="49" charset="-122"/>
              </a:rPr>
              <a:t>（</a:t>
            </a:r>
            <a:r>
              <a:rPr lang="en-US" altLang="zh-CN" sz="3000" dirty="0">
                <a:latin typeface="黑体" panose="02010609060101010101" pitchFamily="49" charset="-122"/>
                <a:ea typeface="黑体" panose="02010609060101010101" pitchFamily="49" charset="-122"/>
              </a:rPr>
              <a:t>4</a:t>
            </a:r>
            <a:r>
              <a:rPr lang="zh-CN" altLang="en-US" sz="3000" dirty="0">
                <a:latin typeface="黑体" panose="02010609060101010101" pitchFamily="49" charset="-122"/>
                <a:ea typeface="黑体" panose="02010609060101010101" pitchFamily="49" charset="-122"/>
              </a:rPr>
              <a:t>）实时处理，</a:t>
            </a:r>
            <a:r>
              <a:rPr lang="en-US" altLang="zh-CN" sz="2600" dirty="0">
                <a:solidFill>
                  <a:schemeClr val="accent1"/>
                </a:solidFill>
                <a:latin typeface="Times New Roman" panose="02020603050405020304" pitchFamily="18" charset="0"/>
              </a:rPr>
              <a:t>Real-Time Processing</a:t>
            </a:r>
          </a:p>
        </p:txBody>
      </p:sp>
      <p:sp>
        <p:nvSpPr>
          <p:cNvPr id="9246" name="Text Box 30"/>
          <p:cNvSpPr txBox="1"/>
          <p:nvPr/>
        </p:nvSpPr>
        <p:spPr>
          <a:xfrm>
            <a:off x="0" y="5297805"/>
            <a:ext cx="4648200" cy="549275"/>
          </a:xfrm>
          <a:prstGeom prst="rect">
            <a:avLst/>
          </a:prstGeom>
          <a:noFill/>
          <a:ln w="12700">
            <a:noFill/>
          </a:ln>
        </p:spPr>
        <p:txBody>
          <a:bodyPr>
            <a:spAutoFit/>
          </a:bodyPr>
          <a:lstStyle/>
          <a:p>
            <a:pPr>
              <a:spcBef>
                <a:spcPct val="50000"/>
              </a:spcBef>
            </a:pPr>
            <a:r>
              <a:rPr lang="zh-CN" altLang="en-US" sz="3000" dirty="0">
                <a:latin typeface="黑体" panose="02010609060101010101" pitchFamily="49" charset="-122"/>
                <a:ea typeface="黑体" panose="02010609060101010101" pitchFamily="49" charset="-122"/>
              </a:rPr>
              <a:t>（</a:t>
            </a:r>
            <a:r>
              <a:rPr lang="en-US" altLang="zh-CN" sz="3000" dirty="0">
                <a:latin typeface="黑体" panose="02010609060101010101" pitchFamily="49" charset="-122"/>
                <a:ea typeface="黑体" panose="02010609060101010101" pitchFamily="49" charset="-122"/>
              </a:rPr>
              <a:t>5</a:t>
            </a:r>
            <a:r>
              <a:rPr lang="zh-CN" altLang="en-US" sz="3000" dirty="0">
                <a:latin typeface="黑体" panose="02010609060101010101" pitchFamily="49" charset="-122"/>
                <a:ea typeface="黑体" panose="02010609060101010101" pitchFamily="49" charset="-122"/>
              </a:rPr>
              <a:t>）人机对话</a:t>
            </a:r>
          </a:p>
        </p:txBody>
      </p:sp>
      <p:sp>
        <p:nvSpPr>
          <p:cNvPr id="9248" name="Text Box 32"/>
          <p:cNvSpPr txBox="1"/>
          <p:nvPr/>
        </p:nvSpPr>
        <p:spPr>
          <a:xfrm>
            <a:off x="0" y="5830570"/>
            <a:ext cx="4648200" cy="549275"/>
          </a:xfrm>
          <a:prstGeom prst="rect">
            <a:avLst/>
          </a:prstGeom>
          <a:noFill/>
          <a:ln w="12700">
            <a:noFill/>
          </a:ln>
        </p:spPr>
        <p:txBody>
          <a:bodyPr>
            <a:spAutoFit/>
          </a:bodyPr>
          <a:lstStyle/>
          <a:p>
            <a:pPr>
              <a:spcBef>
                <a:spcPct val="50000"/>
              </a:spcBef>
            </a:pPr>
            <a:r>
              <a:rPr lang="zh-CN" altLang="en-US" sz="3000" dirty="0">
                <a:latin typeface="黑体" panose="02010609060101010101" pitchFamily="49" charset="-122"/>
                <a:ea typeface="黑体" panose="02010609060101010101" pitchFamily="49" charset="-122"/>
              </a:rPr>
              <a:t>（</a:t>
            </a:r>
            <a:r>
              <a:rPr lang="en-US" altLang="zh-CN" sz="3000" dirty="0">
                <a:latin typeface="黑体" panose="02010609060101010101" pitchFamily="49" charset="-122"/>
                <a:ea typeface="黑体" panose="02010609060101010101" pitchFamily="49" charset="-122"/>
              </a:rPr>
              <a:t>6</a:t>
            </a:r>
            <a:r>
              <a:rPr lang="zh-CN" altLang="en-US" sz="3000" dirty="0">
                <a:latin typeface="黑体" panose="02010609060101010101" pitchFamily="49" charset="-122"/>
                <a:ea typeface="黑体" panose="02010609060101010101" pitchFamily="49" charset="-122"/>
              </a:rPr>
              <a:t>）多机通信</a:t>
            </a:r>
          </a:p>
        </p:txBody>
      </p:sp>
      <p:sp>
        <p:nvSpPr>
          <p:cNvPr id="9258" name="Text Box 42"/>
          <p:cNvSpPr txBox="1"/>
          <p:nvPr/>
        </p:nvSpPr>
        <p:spPr>
          <a:xfrm>
            <a:off x="4763" y="1538288"/>
            <a:ext cx="9139237" cy="549275"/>
          </a:xfrm>
          <a:prstGeom prst="rect">
            <a:avLst/>
          </a:prstGeom>
          <a:noFill/>
          <a:ln w="12700">
            <a:noFill/>
          </a:ln>
        </p:spPr>
        <p:txBody>
          <a:bodyPr>
            <a:spAutoFit/>
          </a:bodyPr>
          <a:lstStyle/>
          <a:p>
            <a:pPr>
              <a:spcBef>
                <a:spcPct val="50000"/>
              </a:spcBef>
            </a:pPr>
            <a:r>
              <a:rPr lang="zh-CN" altLang="en-US" sz="3000" dirty="0">
                <a:latin typeface="黑体" panose="02010609060101010101" pitchFamily="49" charset="-122"/>
                <a:ea typeface="黑体" panose="02010609060101010101" pitchFamily="49" charset="-122"/>
              </a:rPr>
              <a:t>（</a:t>
            </a:r>
            <a:r>
              <a:rPr lang="en-US" altLang="zh-CN" sz="3000" dirty="0">
                <a:latin typeface="黑体" panose="02010609060101010101" pitchFamily="49" charset="-122"/>
                <a:ea typeface="黑体" panose="02010609060101010101" pitchFamily="49" charset="-122"/>
              </a:rPr>
              <a:t>2</a:t>
            </a:r>
            <a:r>
              <a:rPr lang="zh-CN" altLang="en-US" sz="3000" dirty="0">
                <a:latin typeface="黑体" panose="02010609060101010101" pitchFamily="49" charset="-122"/>
                <a:ea typeface="黑体" panose="02010609060101010101" pitchFamily="49" charset="-122"/>
              </a:rPr>
              <a:t>）以软中断方式来处理系统调用，如读写磁盘</a:t>
            </a:r>
          </a:p>
        </p:txBody>
      </p:sp>
    </p:spTree>
  </p:cSld>
  <p:clrMapOvr>
    <a:masterClrMapping/>
  </p:clrMapOvr>
  <p:transition>
    <p:cover dir="l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Text Box 4"/>
          <p:cNvSpPr txBox="1"/>
          <p:nvPr/>
        </p:nvSpPr>
        <p:spPr>
          <a:xfrm>
            <a:off x="4471988" y="2276475"/>
            <a:ext cx="2232025" cy="519113"/>
          </a:xfrm>
          <a:prstGeom prst="rect">
            <a:avLst/>
          </a:prstGeom>
          <a:noFill/>
          <a:ln w="12700">
            <a:noFill/>
          </a:ln>
        </p:spPr>
        <p:txBody>
          <a:bodyPr>
            <a:spAutoFit/>
          </a:bodyPr>
          <a:lstStyle/>
          <a:p>
            <a:pPr>
              <a:spcBef>
                <a:spcPct val="50000"/>
              </a:spcBef>
            </a:pPr>
            <a:r>
              <a:rPr lang="zh-CN" altLang="en-US" sz="2800" dirty="0">
                <a:solidFill>
                  <a:srgbClr val="FFFF00"/>
                </a:solidFill>
                <a:latin typeface="黑体" panose="02010609060101010101" pitchFamily="49" charset="-122"/>
                <a:ea typeface="黑体" panose="02010609060101010101" pitchFamily="49" charset="-122"/>
              </a:rPr>
              <a:t>硬</a:t>
            </a:r>
            <a:r>
              <a:rPr lang="en-US" altLang="zh-CN" sz="2800" dirty="0">
                <a:solidFill>
                  <a:srgbClr val="FFFF00"/>
                </a:solidFill>
                <a:latin typeface="黑体" panose="02010609060101010101" pitchFamily="49" charset="-122"/>
                <a:ea typeface="黑体" panose="02010609060101010101" pitchFamily="49" charset="-122"/>
              </a:rPr>
              <a:t>-</a:t>
            </a:r>
            <a:r>
              <a:rPr lang="zh-CN" altLang="en-US" sz="2800" dirty="0">
                <a:solidFill>
                  <a:srgbClr val="FFFF00"/>
                </a:solidFill>
                <a:latin typeface="黑体" panose="02010609060101010101" pitchFamily="49" charset="-122"/>
                <a:ea typeface="黑体" panose="02010609060101010101" pitchFamily="49" charset="-122"/>
              </a:rPr>
              <a:t>软分界面</a:t>
            </a:r>
          </a:p>
        </p:txBody>
      </p:sp>
      <p:sp>
        <p:nvSpPr>
          <p:cNvPr id="34821" name="Line 5"/>
          <p:cNvSpPr/>
          <p:nvPr/>
        </p:nvSpPr>
        <p:spPr>
          <a:xfrm rot="-5400000">
            <a:off x="5214938" y="1897063"/>
            <a:ext cx="755650" cy="1587"/>
          </a:xfrm>
          <a:prstGeom prst="line">
            <a:avLst/>
          </a:prstGeom>
          <a:ln w="28575" cap="flat" cmpd="sng">
            <a:solidFill>
              <a:schemeClr val="accent1"/>
            </a:solidFill>
            <a:prstDash val="solid"/>
            <a:headEnd type="none" w="med" len="med"/>
            <a:tailEnd type="arrow" w="med" len="med"/>
          </a:ln>
        </p:spPr>
      </p:sp>
      <p:sp>
        <p:nvSpPr>
          <p:cNvPr id="34822" name="Text Box 6"/>
          <p:cNvSpPr txBox="1"/>
          <p:nvPr/>
        </p:nvSpPr>
        <p:spPr>
          <a:xfrm>
            <a:off x="2133600" y="973138"/>
            <a:ext cx="4495800" cy="519112"/>
          </a:xfrm>
          <a:prstGeom prst="rect">
            <a:avLst/>
          </a:prstGeom>
          <a:noFill/>
          <a:ln w="12700">
            <a:noFill/>
          </a:ln>
        </p:spPr>
        <p:txBody>
          <a:bodyPr>
            <a:spAutoFit/>
          </a:bodyPr>
          <a:lstStyle/>
          <a:p>
            <a:pPr>
              <a:spcBef>
                <a:spcPct val="50000"/>
              </a:spcBef>
            </a:pPr>
            <a:r>
              <a:rPr lang="zh-CN" altLang="en-US" sz="2800" dirty="0">
                <a:latin typeface="黑体" panose="02010609060101010101" pitchFamily="49" charset="-122"/>
                <a:ea typeface="黑体" panose="02010609060101010101" pitchFamily="49" charset="-122"/>
              </a:rPr>
              <a:t>中断服务程序、</a:t>
            </a:r>
            <a:r>
              <a:rPr lang="zh-CN" altLang="en-US" sz="2800" dirty="0">
                <a:solidFill>
                  <a:schemeClr val="accent1"/>
                </a:solidFill>
                <a:latin typeface="黑体" panose="02010609060101010101" pitchFamily="49" charset="-122"/>
                <a:ea typeface="黑体" panose="02010609060101010101" pitchFamily="49" charset="-122"/>
              </a:rPr>
              <a:t>中断向量表</a:t>
            </a:r>
          </a:p>
        </p:txBody>
      </p:sp>
      <p:sp>
        <p:nvSpPr>
          <p:cNvPr id="34823" name="Text Box 7"/>
          <p:cNvSpPr txBox="1"/>
          <p:nvPr/>
        </p:nvSpPr>
        <p:spPr>
          <a:xfrm>
            <a:off x="250825" y="188913"/>
            <a:ext cx="5791200" cy="579437"/>
          </a:xfrm>
          <a:prstGeom prst="rect">
            <a:avLst/>
          </a:prstGeom>
          <a:noFill/>
          <a:ln w="12700">
            <a:noFill/>
          </a:ln>
        </p:spPr>
        <p:txBody>
          <a:bodyPr>
            <a:spAutoFit/>
          </a:bodyPr>
          <a:lstStyle/>
          <a:p>
            <a:pPr>
              <a:spcBef>
                <a:spcPct val="50000"/>
              </a:spcBef>
            </a:pPr>
            <a:r>
              <a:rPr lang="en-US" altLang="zh-CN" sz="3200" dirty="0">
                <a:solidFill>
                  <a:srgbClr val="FFFF00"/>
                </a:solidFill>
                <a:latin typeface="黑体" panose="02010609060101010101" pitchFamily="49" charset="-122"/>
                <a:ea typeface="黑体" panose="02010609060101010101" pitchFamily="49" charset="-122"/>
              </a:rPr>
              <a:t>3.</a:t>
            </a:r>
            <a:r>
              <a:rPr lang="zh-CN" altLang="en-US" sz="3200" dirty="0">
                <a:solidFill>
                  <a:srgbClr val="FFFF00"/>
                </a:solidFill>
                <a:latin typeface="黑体" panose="02010609060101010101" pitchFamily="49" charset="-122"/>
                <a:ea typeface="黑体" panose="02010609060101010101" pitchFamily="49" charset="-122"/>
              </a:rPr>
              <a:t>中断系统的软硬件组织</a:t>
            </a:r>
          </a:p>
        </p:txBody>
      </p:sp>
      <p:sp>
        <p:nvSpPr>
          <p:cNvPr id="34824" name="Text Box 8"/>
          <p:cNvSpPr txBox="1"/>
          <p:nvPr/>
        </p:nvSpPr>
        <p:spPr>
          <a:xfrm>
            <a:off x="0" y="925513"/>
            <a:ext cx="2743200" cy="579437"/>
          </a:xfrm>
          <a:prstGeom prst="rect">
            <a:avLst/>
          </a:prstGeom>
          <a:noFill/>
          <a:ln w="12700">
            <a:noFill/>
          </a:ln>
        </p:spPr>
        <p:txBody>
          <a:bodyPr>
            <a:spAutoFit/>
          </a:bodyPr>
          <a:lstStyle/>
          <a:p>
            <a:pPr>
              <a:spcBef>
                <a:spcPct val="50000"/>
              </a:spcBef>
            </a:pPr>
            <a:r>
              <a:rPr lang="zh-CN" altLang="en-US" sz="3200" dirty="0">
                <a:solidFill>
                  <a:schemeClr val="folHlink"/>
                </a:solidFill>
                <a:latin typeface="黑体" panose="02010609060101010101" pitchFamily="49" charset="-122"/>
                <a:ea typeface="黑体" panose="02010609060101010101" pitchFamily="49" charset="-122"/>
              </a:rPr>
              <a:t>（</a:t>
            </a:r>
            <a:r>
              <a:rPr lang="en-US" altLang="zh-CN" sz="3200" dirty="0">
                <a:solidFill>
                  <a:schemeClr val="folHlink"/>
                </a:solidFill>
                <a:latin typeface="黑体" panose="02010609060101010101" pitchFamily="49" charset="-122"/>
                <a:ea typeface="黑体" panose="02010609060101010101" pitchFamily="49" charset="-122"/>
              </a:rPr>
              <a:t>1</a:t>
            </a:r>
            <a:r>
              <a:rPr lang="zh-CN" altLang="en-US" sz="3200" dirty="0">
                <a:solidFill>
                  <a:schemeClr val="folHlink"/>
                </a:solidFill>
                <a:latin typeface="黑体" panose="02010609060101010101" pitchFamily="49" charset="-122"/>
                <a:ea typeface="黑体" panose="02010609060101010101" pitchFamily="49" charset="-122"/>
              </a:rPr>
              <a:t>）软件：</a:t>
            </a:r>
          </a:p>
        </p:txBody>
      </p:sp>
      <p:sp>
        <p:nvSpPr>
          <p:cNvPr id="34825" name="Text Box 9"/>
          <p:cNvSpPr txBox="1"/>
          <p:nvPr/>
        </p:nvSpPr>
        <p:spPr>
          <a:xfrm>
            <a:off x="0" y="4694238"/>
            <a:ext cx="2743200" cy="579437"/>
          </a:xfrm>
          <a:prstGeom prst="rect">
            <a:avLst/>
          </a:prstGeom>
          <a:noFill/>
          <a:ln w="12700">
            <a:noFill/>
          </a:ln>
        </p:spPr>
        <p:txBody>
          <a:bodyPr>
            <a:spAutoFit/>
          </a:bodyPr>
          <a:lstStyle/>
          <a:p>
            <a:pPr>
              <a:spcBef>
                <a:spcPct val="50000"/>
              </a:spcBef>
            </a:pPr>
            <a:r>
              <a:rPr lang="zh-CN" altLang="en-US" sz="3200" dirty="0">
                <a:solidFill>
                  <a:schemeClr val="folHlink"/>
                </a:solidFill>
                <a:latin typeface="黑体" panose="02010609060101010101" pitchFamily="49" charset="-122"/>
                <a:ea typeface="黑体" panose="02010609060101010101" pitchFamily="49" charset="-122"/>
              </a:rPr>
              <a:t>（</a:t>
            </a:r>
            <a:r>
              <a:rPr lang="en-US" altLang="zh-CN" sz="3200" dirty="0">
                <a:solidFill>
                  <a:schemeClr val="folHlink"/>
                </a:solidFill>
                <a:latin typeface="黑体" panose="02010609060101010101" pitchFamily="49" charset="-122"/>
                <a:ea typeface="黑体" panose="02010609060101010101" pitchFamily="49" charset="-122"/>
              </a:rPr>
              <a:t>2</a:t>
            </a:r>
            <a:r>
              <a:rPr lang="zh-CN" altLang="en-US" sz="3200" dirty="0">
                <a:solidFill>
                  <a:schemeClr val="folHlink"/>
                </a:solidFill>
                <a:latin typeface="黑体" panose="02010609060101010101" pitchFamily="49" charset="-122"/>
                <a:ea typeface="黑体" panose="02010609060101010101" pitchFamily="49" charset="-122"/>
              </a:rPr>
              <a:t>）硬件</a:t>
            </a:r>
          </a:p>
        </p:txBody>
      </p:sp>
      <p:sp>
        <p:nvSpPr>
          <p:cNvPr id="34826" name="AutoShape 10"/>
          <p:cNvSpPr/>
          <p:nvPr/>
        </p:nvSpPr>
        <p:spPr>
          <a:xfrm>
            <a:off x="1981200" y="4359275"/>
            <a:ext cx="142875" cy="1414463"/>
          </a:xfrm>
          <a:prstGeom prst="leftBrace">
            <a:avLst>
              <a:gd name="adj1" fmla="val 82500"/>
              <a:gd name="adj2" fmla="val 50000"/>
            </a:avLst>
          </a:prstGeom>
          <a:noFill/>
          <a:ln w="38100" cap="flat" cmpd="sng">
            <a:solidFill>
              <a:schemeClr val="tx1"/>
            </a:solidFill>
            <a:prstDash val="solid"/>
            <a:headEnd type="none" w="med" len="med"/>
            <a:tailEnd type="none" w="med" len="med"/>
          </a:ln>
        </p:spPr>
        <p:txBody>
          <a:bodyPr wrap="none" anchor="ctr" anchorCtr="0"/>
          <a:lstStyle/>
          <a:p>
            <a:pPr eaLnBrk="0" hangingPunct="0"/>
            <a:endParaRPr lang="zh-CN" altLang="en-US" dirty="0">
              <a:latin typeface="Times New Roman" panose="02020603050405020304" pitchFamily="18" charset="0"/>
            </a:endParaRPr>
          </a:p>
        </p:txBody>
      </p:sp>
      <p:sp>
        <p:nvSpPr>
          <p:cNvPr id="34827" name="Text Box 11"/>
          <p:cNvSpPr txBox="1"/>
          <p:nvPr/>
        </p:nvSpPr>
        <p:spPr>
          <a:xfrm>
            <a:off x="2133600" y="4221163"/>
            <a:ext cx="2590800" cy="519112"/>
          </a:xfrm>
          <a:prstGeom prst="rect">
            <a:avLst/>
          </a:prstGeom>
          <a:noFill/>
          <a:ln w="12700">
            <a:noFill/>
          </a:ln>
        </p:spPr>
        <p:txBody>
          <a:bodyPr>
            <a:spAutoFit/>
          </a:bodyPr>
          <a:lstStyle/>
          <a:p>
            <a:pPr>
              <a:spcBef>
                <a:spcPct val="50000"/>
              </a:spcBef>
            </a:pPr>
            <a:r>
              <a:rPr lang="zh-CN" altLang="en-US" sz="2800" dirty="0">
                <a:latin typeface="黑体" panose="02010609060101010101" pitchFamily="49" charset="-122"/>
                <a:ea typeface="黑体" panose="02010609060101010101" pitchFamily="49" charset="-122"/>
              </a:rPr>
              <a:t>接口方面：</a:t>
            </a:r>
          </a:p>
        </p:txBody>
      </p:sp>
      <p:sp>
        <p:nvSpPr>
          <p:cNvPr id="34828" name="Text Box 12"/>
          <p:cNvSpPr txBox="1"/>
          <p:nvPr/>
        </p:nvSpPr>
        <p:spPr>
          <a:xfrm>
            <a:off x="3810000" y="4221163"/>
            <a:ext cx="5226050" cy="519112"/>
          </a:xfrm>
          <a:prstGeom prst="rect">
            <a:avLst/>
          </a:prstGeom>
          <a:noFill/>
          <a:ln w="12700">
            <a:noFill/>
          </a:ln>
        </p:spPr>
        <p:txBody>
          <a:bodyPr>
            <a:spAutoFit/>
          </a:bodyPr>
          <a:lstStyle/>
          <a:p>
            <a:pPr>
              <a:spcBef>
                <a:spcPct val="50000"/>
              </a:spcBef>
            </a:pPr>
            <a:r>
              <a:rPr lang="zh-CN" altLang="en-US" sz="2800" dirty="0">
                <a:solidFill>
                  <a:schemeClr val="accent1"/>
                </a:solidFill>
                <a:latin typeface="黑体" panose="02010609060101010101" pitchFamily="49" charset="-122"/>
                <a:ea typeface="黑体" panose="02010609060101010101" pitchFamily="49" charset="-122"/>
              </a:rPr>
              <a:t>请求、屏蔽、传递、判优等逻辑</a:t>
            </a:r>
          </a:p>
        </p:txBody>
      </p:sp>
      <p:sp>
        <p:nvSpPr>
          <p:cNvPr id="34829" name="Text Box 13"/>
          <p:cNvSpPr txBox="1"/>
          <p:nvPr/>
        </p:nvSpPr>
        <p:spPr>
          <a:xfrm>
            <a:off x="2133600" y="5541963"/>
            <a:ext cx="2590800" cy="519112"/>
          </a:xfrm>
          <a:prstGeom prst="rect">
            <a:avLst/>
          </a:prstGeom>
          <a:noFill/>
          <a:ln w="12700">
            <a:noFill/>
          </a:ln>
        </p:spPr>
        <p:txBody>
          <a:bodyPr>
            <a:spAutoFit/>
          </a:bodyPr>
          <a:lstStyle/>
          <a:p>
            <a:pPr>
              <a:spcBef>
                <a:spcPct val="50000"/>
              </a:spcBef>
            </a:pPr>
            <a:r>
              <a:rPr lang="en-US" altLang="zh-CN" sz="2800" dirty="0">
                <a:latin typeface="黑体" panose="02010609060101010101" pitchFamily="49" charset="-122"/>
                <a:ea typeface="黑体" panose="02010609060101010101" pitchFamily="49" charset="-122"/>
              </a:rPr>
              <a:t>CPU</a:t>
            </a:r>
            <a:r>
              <a:rPr lang="zh-CN" altLang="en-US" sz="2800" dirty="0">
                <a:latin typeface="黑体" panose="02010609060101010101" pitchFamily="49" charset="-122"/>
                <a:ea typeface="黑体" panose="02010609060101010101" pitchFamily="49" charset="-122"/>
              </a:rPr>
              <a:t>方面：</a:t>
            </a:r>
          </a:p>
        </p:txBody>
      </p:sp>
      <p:sp>
        <p:nvSpPr>
          <p:cNvPr id="34830" name="Text Box 14"/>
          <p:cNvSpPr txBox="1"/>
          <p:nvPr/>
        </p:nvSpPr>
        <p:spPr>
          <a:xfrm>
            <a:off x="3657600" y="5541963"/>
            <a:ext cx="4495800" cy="519112"/>
          </a:xfrm>
          <a:prstGeom prst="rect">
            <a:avLst/>
          </a:prstGeom>
          <a:noFill/>
          <a:ln w="12700">
            <a:noFill/>
          </a:ln>
        </p:spPr>
        <p:txBody>
          <a:bodyPr>
            <a:spAutoFit/>
          </a:bodyPr>
          <a:lstStyle/>
          <a:p>
            <a:pPr>
              <a:spcBef>
                <a:spcPct val="50000"/>
              </a:spcBef>
            </a:pPr>
            <a:r>
              <a:rPr lang="zh-CN" altLang="en-US" sz="2800" dirty="0">
                <a:solidFill>
                  <a:schemeClr val="accent1"/>
                </a:solidFill>
                <a:latin typeface="黑体" panose="02010609060101010101" pitchFamily="49" charset="-122"/>
                <a:ea typeface="黑体" panose="02010609060101010101" pitchFamily="49" charset="-122"/>
              </a:rPr>
              <a:t>对中断请求的响应逻辑</a:t>
            </a:r>
          </a:p>
        </p:txBody>
      </p:sp>
      <p:sp>
        <p:nvSpPr>
          <p:cNvPr id="34831" name="Line 15"/>
          <p:cNvSpPr/>
          <p:nvPr/>
        </p:nvSpPr>
        <p:spPr>
          <a:xfrm>
            <a:off x="5592763" y="2852738"/>
            <a:ext cx="1587" cy="1152525"/>
          </a:xfrm>
          <a:prstGeom prst="line">
            <a:avLst/>
          </a:prstGeom>
          <a:ln w="76200" cap="flat" cmpd="tri">
            <a:solidFill>
              <a:schemeClr val="accent1"/>
            </a:solidFill>
            <a:prstDash val="solid"/>
            <a:headEnd type="none" w="med" len="med"/>
            <a:tailEnd type="none" w="med" len="med"/>
          </a:ln>
        </p:spPr>
      </p:sp>
      <p:sp>
        <p:nvSpPr>
          <p:cNvPr id="34832" name="Line 16"/>
          <p:cNvSpPr/>
          <p:nvPr/>
        </p:nvSpPr>
        <p:spPr>
          <a:xfrm>
            <a:off x="3924300" y="3543300"/>
            <a:ext cx="1482725" cy="0"/>
          </a:xfrm>
          <a:prstGeom prst="line">
            <a:avLst/>
          </a:prstGeom>
          <a:ln w="57150" cap="flat" cmpd="sng">
            <a:solidFill>
              <a:schemeClr val="tx1"/>
            </a:solidFill>
            <a:prstDash val="solid"/>
            <a:headEnd type="triangle" w="med" len="med"/>
            <a:tailEnd type="none" w="med" len="med"/>
          </a:ln>
        </p:spPr>
      </p:sp>
      <p:sp>
        <p:nvSpPr>
          <p:cNvPr id="34833" name="Line 17"/>
          <p:cNvSpPr/>
          <p:nvPr/>
        </p:nvSpPr>
        <p:spPr>
          <a:xfrm>
            <a:off x="5765800" y="3543300"/>
            <a:ext cx="1398588" cy="0"/>
          </a:xfrm>
          <a:prstGeom prst="line">
            <a:avLst/>
          </a:prstGeom>
          <a:ln w="57150" cap="flat" cmpd="sng">
            <a:solidFill>
              <a:schemeClr val="tx1"/>
            </a:solidFill>
            <a:prstDash val="solid"/>
            <a:headEnd type="none" w="med" len="med"/>
            <a:tailEnd type="triangle" w="med" len="med"/>
          </a:ln>
        </p:spPr>
      </p:sp>
      <p:sp>
        <p:nvSpPr>
          <p:cNvPr id="34834" name="Text Box 18"/>
          <p:cNvSpPr txBox="1">
            <a:spLocks noChangeArrowheads="1"/>
          </p:cNvSpPr>
          <p:nvPr/>
        </p:nvSpPr>
        <p:spPr bwMode="auto">
          <a:xfrm>
            <a:off x="3822700" y="2914650"/>
            <a:ext cx="1612900" cy="519113"/>
          </a:xfrm>
          <a:prstGeom prst="rect">
            <a:avLst/>
          </a:prstGeom>
          <a:noFill/>
          <a:ln w="9525">
            <a:noFill/>
            <a:miter lim="800000"/>
          </a:ln>
          <a:effectLst/>
        </p:spPr>
        <p:txBody>
          <a:bodyPr wrap="none">
            <a:spAutoFit/>
          </a:bodyPr>
          <a:lstStyle/>
          <a:p>
            <a:pPr marR="0" defTabSz="914400" eaLnBrk="0" hangingPunct="0">
              <a:buClrTx/>
              <a:buSzTx/>
              <a:buFontTx/>
              <a:buNone/>
              <a:defRPr/>
            </a:pPr>
            <a:r>
              <a:rPr kumimoji="1" lang="zh-CN" altLang="en-US" sz="2800" kern="1200" cap="none" spc="0" normalizeH="0" baseline="0" noProof="0" dirty="0">
                <a:effectLst>
                  <a:outerShdw blurRad="38100" dist="38100" dir="2700000" algn="tl">
                    <a:srgbClr val="000000"/>
                  </a:outerShdw>
                </a:effectLst>
                <a:latin typeface="Times New Roman" panose="02020603050405020304" pitchFamily="18" charset="0"/>
                <a:ea typeface="黑体" panose="02010609060101010101" pitchFamily="49" charset="-122"/>
                <a:cs typeface="+mn-cs"/>
              </a:rPr>
              <a:t>硬件范畴</a:t>
            </a:r>
          </a:p>
        </p:txBody>
      </p:sp>
      <p:sp>
        <p:nvSpPr>
          <p:cNvPr id="34835" name="Text Box 19"/>
          <p:cNvSpPr txBox="1"/>
          <p:nvPr/>
        </p:nvSpPr>
        <p:spPr>
          <a:xfrm>
            <a:off x="5622925" y="2914650"/>
            <a:ext cx="1612900" cy="519113"/>
          </a:xfrm>
          <a:prstGeom prst="rect">
            <a:avLst/>
          </a:prstGeom>
          <a:noFill/>
          <a:ln w="9525">
            <a:noFill/>
          </a:ln>
        </p:spPr>
        <p:txBody>
          <a:bodyPr wrap="none">
            <a:spAutoFit/>
          </a:bodyPr>
          <a:lstStyle/>
          <a:p>
            <a:pPr eaLnBrk="0" hangingPunct="0"/>
            <a:r>
              <a:rPr lang="zh-CN" altLang="en-US" sz="2800" dirty="0">
                <a:latin typeface="Times New Roman" panose="02020603050405020304" pitchFamily="18" charset="0"/>
                <a:ea typeface="黑体" panose="02010609060101010101" pitchFamily="49" charset="-122"/>
              </a:rPr>
              <a:t>软件范畴</a:t>
            </a:r>
          </a:p>
        </p:txBody>
      </p:sp>
    </p:spTree>
  </p:cSld>
  <p:clrMapOvr>
    <a:masterClrMapping/>
  </p:clrMapOvr>
  <p:transition>
    <p:cover dir="l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Text Box 4"/>
          <p:cNvSpPr txBox="1"/>
          <p:nvPr/>
        </p:nvSpPr>
        <p:spPr>
          <a:xfrm>
            <a:off x="139700" y="44450"/>
            <a:ext cx="6303963" cy="579438"/>
          </a:xfrm>
          <a:prstGeom prst="rect">
            <a:avLst/>
          </a:prstGeom>
          <a:noFill/>
          <a:ln w="9525">
            <a:noFill/>
          </a:ln>
        </p:spPr>
        <p:txBody>
          <a:bodyPr wrap="none">
            <a:spAutoFit/>
          </a:bodyPr>
          <a:lstStyle/>
          <a:p>
            <a:pPr eaLnBrk="0" hangingPunct="0"/>
            <a:r>
              <a:rPr lang="en-US" altLang="zh-CN" sz="3200" dirty="0">
                <a:solidFill>
                  <a:schemeClr val="accent1"/>
                </a:solidFill>
                <a:latin typeface="黑体" panose="02010609060101010101" pitchFamily="49" charset="-122"/>
                <a:ea typeface="黑体" panose="02010609060101010101" pitchFamily="49" charset="-122"/>
              </a:rPr>
              <a:t>【</a:t>
            </a:r>
            <a:r>
              <a:rPr lang="zh-CN" altLang="en-US" sz="3200" dirty="0">
                <a:solidFill>
                  <a:schemeClr val="accent1"/>
                </a:solidFill>
                <a:latin typeface="黑体" panose="02010609060101010101" pitchFamily="49" charset="-122"/>
                <a:ea typeface="黑体" panose="02010609060101010101" pitchFamily="49" charset="-122"/>
              </a:rPr>
              <a:t>例子</a:t>
            </a:r>
            <a:r>
              <a:rPr lang="en-US" altLang="zh-CN" sz="3200" dirty="0">
                <a:solidFill>
                  <a:schemeClr val="accent1"/>
                </a:solidFill>
                <a:latin typeface="黑体" panose="02010609060101010101" pitchFamily="49" charset="-122"/>
                <a:ea typeface="黑体" panose="02010609060101010101" pitchFamily="49" charset="-122"/>
              </a:rPr>
              <a:t>】</a:t>
            </a:r>
            <a:r>
              <a:rPr lang="zh-CN" altLang="en-US" sz="3200" dirty="0">
                <a:solidFill>
                  <a:srgbClr val="FFFF00"/>
                </a:solidFill>
                <a:latin typeface="黑体" panose="02010609060101010101" pitchFamily="49" charset="-122"/>
                <a:ea typeface="黑体" panose="02010609060101010101" pitchFamily="49" charset="-122"/>
              </a:rPr>
              <a:t>一种典型的中断组织方法</a:t>
            </a:r>
          </a:p>
        </p:txBody>
      </p:sp>
      <p:sp>
        <p:nvSpPr>
          <p:cNvPr id="39941" name="Text Box 5"/>
          <p:cNvSpPr txBox="1"/>
          <p:nvPr/>
        </p:nvSpPr>
        <p:spPr>
          <a:xfrm>
            <a:off x="303213" y="620713"/>
            <a:ext cx="7797800" cy="1073150"/>
          </a:xfrm>
          <a:prstGeom prst="rect">
            <a:avLst/>
          </a:prstGeom>
          <a:noFill/>
          <a:ln w="9525">
            <a:noFill/>
          </a:ln>
        </p:spPr>
        <p:txBody>
          <a:bodyPr>
            <a:spAutoFit/>
          </a:bodyPr>
          <a:lstStyle/>
          <a:p>
            <a:pPr eaLnBrk="0" hangingPunct="0">
              <a:lnSpc>
                <a:spcPct val="115000"/>
              </a:lnSpc>
            </a:pP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1</a:t>
            </a:r>
            <a:r>
              <a:rPr lang="zh-CN" altLang="en-US" sz="2800" dirty="0">
                <a:latin typeface="黑体" panose="02010609060101010101" pitchFamily="49" charset="-122"/>
                <a:ea typeface="黑体" panose="02010609060101010101" pitchFamily="49" charset="-122"/>
              </a:rPr>
              <a:t>）列出系统中的各种中断请求，如：</a:t>
            </a:r>
          </a:p>
          <a:p>
            <a:pPr eaLnBrk="0" hangingPunct="0">
              <a:lnSpc>
                <a:spcPct val="115000"/>
              </a:lnSpc>
            </a:pPr>
            <a:r>
              <a:rPr lang="zh-CN" altLang="en-US" sz="2800" dirty="0">
                <a:solidFill>
                  <a:schemeClr val="folHlink"/>
                </a:solidFill>
                <a:latin typeface="黑体" panose="02010609060101010101" pitchFamily="49" charset="-122"/>
                <a:ea typeface="黑体" panose="02010609060101010101" pitchFamily="49" charset="-122"/>
              </a:rPr>
              <a:t>外部中断源：</a:t>
            </a:r>
          </a:p>
        </p:txBody>
      </p:sp>
      <p:sp>
        <p:nvSpPr>
          <p:cNvPr id="39959" name="Rectangle 23"/>
          <p:cNvSpPr/>
          <p:nvPr/>
        </p:nvSpPr>
        <p:spPr>
          <a:xfrm>
            <a:off x="323850" y="1557338"/>
            <a:ext cx="8497888" cy="1800225"/>
          </a:xfrm>
          <a:prstGeom prst="rect">
            <a:avLst/>
          </a:prstGeom>
          <a:noFill/>
          <a:ln w="9525">
            <a:noFill/>
          </a:ln>
        </p:spPr>
        <p:txBody>
          <a:bodyPr>
            <a:spAutoFit/>
          </a:bodyPr>
          <a:lstStyle/>
          <a:p>
            <a:pPr eaLnBrk="0" hangingPunct="0"/>
            <a:r>
              <a:rPr lang="en-US" altLang="zh-CN" sz="2800" dirty="0">
                <a:solidFill>
                  <a:schemeClr val="accent1"/>
                </a:solidFill>
                <a:latin typeface="楷体_GB2312"/>
                <a:ea typeface="楷体_GB2312"/>
              </a:rPr>
              <a:t>IREQ0-</a:t>
            </a:r>
            <a:r>
              <a:rPr lang="zh-CN" altLang="en-US" sz="2800" dirty="0">
                <a:latin typeface="楷体_GB2312"/>
                <a:ea typeface="楷体_GB2312"/>
              </a:rPr>
              <a:t>系统时钟，如日历钟；</a:t>
            </a:r>
            <a:r>
              <a:rPr lang="en-US" altLang="zh-CN" sz="2800" dirty="0">
                <a:solidFill>
                  <a:schemeClr val="accent1"/>
                </a:solidFill>
                <a:latin typeface="楷体_GB2312"/>
                <a:ea typeface="楷体_GB2312"/>
              </a:rPr>
              <a:t>IREQ1-</a:t>
            </a:r>
            <a:r>
              <a:rPr lang="zh-CN" altLang="en-US" sz="2800" dirty="0">
                <a:latin typeface="楷体_GB2312"/>
                <a:ea typeface="楷体_GB2312"/>
              </a:rPr>
              <a:t>实时时钟，供实时处理用；</a:t>
            </a:r>
            <a:r>
              <a:rPr lang="en-US" altLang="zh-CN" sz="2800" dirty="0">
                <a:solidFill>
                  <a:schemeClr val="accent1"/>
                </a:solidFill>
                <a:latin typeface="楷体_GB2312"/>
                <a:ea typeface="楷体_GB2312"/>
              </a:rPr>
              <a:t>IREQ2-</a:t>
            </a:r>
            <a:r>
              <a:rPr lang="zh-CN" altLang="en-US" sz="2800" dirty="0">
                <a:latin typeface="楷体_GB2312"/>
                <a:ea typeface="楷体_GB2312"/>
              </a:rPr>
              <a:t>通信中断，组成多机系统或联网时用；</a:t>
            </a:r>
            <a:r>
              <a:rPr lang="en-US" altLang="zh-CN" sz="2800" dirty="0">
                <a:solidFill>
                  <a:schemeClr val="accent1"/>
                </a:solidFill>
                <a:latin typeface="楷体_GB2312"/>
                <a:ea typeface="楷体_GB2312"/>
              </a:rPr>
              <a:t>IREQ3-</a:t>
            </a:r>
            <a:r>
              <a:rPr lang="zh-CN" altLang="en-US" sz="2800" dirty="0">
                <a:latin typeface="楷体_GB2312"/>
                <a:ea typeface="楷体_GB2312"/>
              </a:rPr>
              <a:t>键盘；</a:t>
            </a:r>
            <a:r>
              <a:rPr lang="en-US" altLang="zh-CN" sz="2800" dirty="0">
                <a:solidFill>
                  <a:schemeClr val="accent1"/>
                </a:solidFill>
                <a:latin typeface="楷体_GB2312"/>
                <a:ea typeface="楷体_GB2312"/>
              </a:rPr>
              <a:t>IREQ4-</a:t>
            </a:r>
            <a:r>
              <a:rPr lang="en-US" altLang="zh-CN" sz="2800" dirty="0">
                <a:latin typeface="楷体_GB2312"/>
                <a:ea typeface="楷体_GB2312"/>
              </a:rPr>
              <a:t>CRT</a:t>
            </a:r>
            <a:r>
              <a:rPr lang="zh-CN" altLang="en-US" sz="2800" dirty="0">
                <a:latin typeface="楷体_GB2312"/>
                <a:ea typeface="楷体_GB2312"/>
              </a:rPr>
              <a:t>显示器；</a:t>
            </a:r>
            <a:r>
              <a:rPr lang="en-US" altLang="zh-CN" sz="2800" dirty="0">
                <a:solidFill>
                  <a:schemeClr val="accent1"/>
                </a:solidFill>
                <a:latin typeface="楷体_GB2312"/>
                <a:ea typeface="楷体_GB2312"/>
              </a:rPr>
              <a:t>IREQ5-</a:t>
            </a:r>
            <a:r>
              <a:rPr lang="zh-CN" altLang="en-US" sz="2800" dirty="0">
                <a:latin typeface="楷体_GB2312"/>
                <a:ea typeface="楷体_GB2312"/>
              </a:rPr>
              <a:t>硬盘；</a:t>
            </a:r>
            <a:r>
              <a:rPr lang="en-US" altLang="zh-CN" sz="2800" dirty="0">
                <a:solidFill>
                  <a:schemeClr val="accent1"/>
                </a:solidFill>
                <a:latin typeface="楷体_GB2312"/>
                <a:ea typeface="楷体_GB2312"/>
              </a:rPr>
              <a:t>IREQ6-</a:t>
            </a:r>
            <a:r>
              <a:rPr lang="zh-CN" altLang="en-US" sz="2800" dirty="0">
                <a:latin typeface="楷体_GB2312"/>
                <a:ea typeface="楷体_GB2312"/>
              </a:rPr>
              <a:t>软盘；</a:t>
            </a:r>
            <a:r>
              <a:rPr lang="en-US" altLang="zh-CN" sz="2800" dirty="0">
                <a:solidFill>
                  <a:schemeClr val="accent1"/>
                </a:solidFill>
                <a:latin typeface="楷体_GB2312"/>
                <a:ea typeface="楷体_GB2312"/>
              </a:rPr>
              <a:t>IREQ7-</a:t>
            </a:r>
            <a:r>
              <a:rPr lang="zh-CN" altLang="en-US" sz="2800" dirty="0">
                <a:latin typeface="楷体_GB2312"/>
                <a:ea typeface="楷体_GB2312"/>
              </a:rPr>
              <a:t>打印机</a:t>
            </a:r>
          </a:p>
        </p:txBody>
      </p:sp>
      <p:sp>
        <p:nvSpPr>
          <p:cNvPr id="39960" name="Rectangle 24"/>
          <p:cNvSpPr/>
          <p:nvPr/>
        </p:nvSpPr>
        <p:spPr>
          <a:xfrm>
            <a:off x="358775" y="3429000"/>
            <a:ext cx="8893175" cy="1800225"/>
          </a:xfrm>
          <a:prstGeom prst="rect">
            <a:avLst/>
          </a:prstGeom>
          <a:noFill/>
          <a:ln w="9525">
            <a:noFill/>
          </a:ln>
        </p:spPr>
        <p:txBody>
          <a:bodyPr>
            <a:spAutoFit/>
          </a:bodyPr>
          <a:lstStyle/>
          <a:p>
            <a:pPr eaLnBrk="0" hangingPunct="0"/>
            <a:r>
              <a:rPr lang="zh-CN" altLang="en-US" sz="2800" dirty="0">
                <a:solidFill>
                  <a:schemeClr val="folHlink"/>
                </a:solidFill>
                <a:latin typeface="黑体" panose="02010609060101010101" pitchFamily="49" charset="-122"/>
                <a:ea typeface="黑体" panose="02010609060101010101" pitchFamily="49" charset="-122"/>
              </a:rPr>
              <a:t>内部中断源：</a:t>
            </a:r>
          </a:p>
          <a:p>
            <a:pPr eaLnBrk="0" hangingPunct="0"/>
            <a:r>
              <a:rPr lang="zh-CN" altLang="en-US" sz="2800" dirty="0">
                <a:latin typeface="楷体_GB2312"/>
                <a:ea typeface="楷体_GB2312"/>
              </a:rPr>
              <a:t>掉电、溢出中断、校验错误等引起的中断。</a:t>
            </a:r>
          </a:p>
          <a:p>
            <a:pPr eaLnBrk="0" hangingPunct="0"/>
            <a:r>
              <a:rPr lang="zh-CN" altLang="en-US" sz="2800" dirty="0">
                <a:latin typeface="楷体_GB2312"/>
                <a:ea typeface="楷体_GB2312"/>
              </a:rPr>
              <a:t>软中断：</a:t>
            </a:r>
            <a:r>
              <a:rPr lang="en-US" altLang="zh-CN" sz="2800" dirty="0">
                <a:solidFill>
                  <a:schemeClr val="accent1"/>
                </a:solidFill>
                <a:latin typeface="楷体_GB2312"/>
                <a:ea typeface="楷体_GB2312"/>
              </a:rPr>
              <a:t>INT 1</a:t>
            </a:r>
            <a:r>
              <a:rPr lang="zh-CN" altLang="en-US" sz="2800" dirty="0">
                <a:solidFill>
                  <a:schemeClr val="accent1"/>
                </a:solidFill>
                <a:latin typeface="楷体_GB2312"/>
                <a:ea typeface="楷体_GB2312"/>
              </a:rPr>
              <a:t>～</a:t>
            </a:r>
            <a:r>
              <a:rPr lang="en-US" altLang="zh-CN" sz="2800" dirty="0">
                <a:solidFill>
                  <a:schemeClr val="accent1"/>
                </a:solidFill>
                <a:latin typeface="楷体_GB2312"/>
                <a:ea typeface="楷体_GB2312"/>
              </a:rPr>
              <a:t>INT n</a:t>
            </a:r>
            <a:r>
              <a:rPr lang="zh-CN" altLang="en-US" sz="2800" dirty="0">
                <a:latin typeface="楷体_GB2312"/>
                <a:ea typeface="楷体_GB2312"/>
              </a:rPr>
              <a:t>，可以根据需要进行扩充，作为系统的功能调用命令。</a:t>
            </a:r>
          </a:p>
        </p:txBody>
      </p:sp>
      <p:sp>
        <p:nvSpPr>
          <p:cNvPr id="39961" name="Text Box 25"/>
          <p:cNvSpPr txBox="1"/>
          <p:nvPr/>
        </p:nvSpPr>
        <p:spPr>
          <a:xfrm>
            <a:off x="158750" y="5229225"/>
            <a:ext cx="7797800" cy="523875"/>
          </a:xfrm>
          <a:prstGeom prst="rect">
            <a:avLst/>
          </a:prstGeom>
          <a:noFill/>
          <a:ln w="9525">
            <a:noFill/>
          </a:ln>
        </p:spPr>
        <p:txBody>
          <a:bodyPr>
            <a:spAutoFit/>
          </a:bodyPr>
          <a:lstStyle/>
          <a:p>
            <a:pPr eaLnBrk="0" hangingPunct="0">
              <a:lnSpc>
                <a:spcPct val="115000"/>
              </a:lnSpc>
            </a:pP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2</a:t>
            </a:r>
            <a:r>
              <a:rPr lang="zh-CN" altLang="en-US" sz="2800" dirty="0">
                <a:latin typeface="黑体" panose="02010609060101010101" pitchFamily="49" charset="-122"/>
                <a:ea typeface="黑体" panose="02010609060101010101" pitchFamily="49" charset="-122"/>
              </a:rPr>
              <a:t>）为各中断源编制</a:t>
            </a:r>
            <a:r>
              <a:rPr lang="zh-CN" altLang="en-US" sz="2800" dirty="0">
                <a:solidFill>
                  <a:srgbClr val="FFFF00"/>
                </a:solidFill>
                <a:latin typeface="黑体" panose="02010609060101010101" pitchFamily="49" charset="-122"/>
                <a:ea typeface="黑体" panose="02010609060101010101" pitchFamily="49" charset="-122"/>
              </a:rPr>
              <a:t>中断服务程序</a:t>
            </a:r>
            <a:r>
              <a:rPr lang="zh-CN" altLang="en-US" sz="2800" dirty="0">
                <a:solidFill>
                  <a:schemeClr val="folHlink"/>
                </a:solidFill>
                <a:latin typeface="黑体" panose="02010609060101010101" pitchFamily="49" charset="-122"/>
                <a:ea typeface="黑体" panose="02010609060101010101" pitchFamily="49" charset="-122"/>
              </a:rPr>
              <a:t>；</a:t>
            </a:r>
          </a:p>
        </p:txBody>
      </p:sp>
      <p:sp>
        <p:nvSpPr>
          <p:cNvPr id="39962" name="Text Box 26"/>
          <p:cNvSpPr txBox="1"/>
          <p:nvPr/>
        </p:nvSpPr>
        <p:spPr>
          <a:xfrm>
            <a:off x="152400" y="5811838"/>
            <a:ext cx="8380413" cy="523875"/>
          </a:xfrm>
          <a:prstGeom prst="rect">
            <a:avLst/>
          </a:prstGeom>
          <a:noFill/>
          <a:ln w="9525">
            <a:noFill/>
          </a:ln>
        </p:spPr>
        <p:txBody>
          <a:bodyPr>
            <a:spAutoFit/>
          </a:bodyPr>
          <a:lstStyle/>
          <a:p>
            <a:pPr eaLnBrk="0" hangingPunct="0">
              <a:lnSpc>
                <a:spcPct val="115000"/>
              </a:lnSpc>
            </a:pP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3</a:t>
            </a:r>
            <a:r>
              <a:rPr lang="zh-CN" altLang="en-US" sz="2800" dirty="0">
                <a:latin typeface="黑体" panose="02010609060101010101" pitchFamily="49" charset="-122"/>
                <a:ea typeface="黑体" panose="02010609060101010101" pitchFamily="49" charset="-122"/>
              </a:rPr>
              <a:t>）将中断服务程序的入口地址写入</a:t>
            </a:r>
            <a:r>
              <a:rPr lang="zh-CN" altLang="en-US" sz="2800" dirty="0">
                <a:solidFill>
                  <a:srgbClr val="FFFF00"/>
                </a:solidFill>
                <a:latin typeface="黑体" panose="02010609060101010101" pitchFamily="49" charset="-122"/>
                <a:ea typeface="黑体" panose="02010609060101010101" pitchFamily="49" charset="-122"/>
              </a:rPr>
              <a:t>中断向量表</a:t>
            </a:r>
            <a:r>
              <a:rPr lang="zh-CN" altLang="en-US" sz="2800" dirty="0">
                <a:latin typeface="黑体" panose="02010609060101010101" pitchFamily="49" charset="-122"/>
                <a:ea typeface="黑体" panose="02010609060101010101" pitchFamily="49" charset="-122"/>
              </a:rPr>
              <a:t>；</a:t>
            </a:r>
          </a:p>
        </p:txBody>
      </p:sp>
    </p:spTree>
  </p:cSld>
  <p:clrMapOvr>
    <a:masterClrMapping/>
  </p:clrMapOvr>
  <p:transition>
    <p:cover dir="l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5" name="Text Box 13"/>
          <p:cNvSpPr txBox="1"/>
          <p:nvPr/>
        </p:nvSpPr>
        <p:spPr>
          <a:xfrm>
            <a:off x="296863" y="1360488"/>
            <a:ext cx="6418262" cy="519112"/>
          </a:xfrm>
          <a:prstGeom prst="rect">
            <a:avLst/>
          </a:prstGeom>
          <a:noFill/>
          <a:ln w="12700">
            <a:noFill/>
          </a:ln>
        </p:spPr>
        <p:txBody>
          <a:bodyPr>
            <a:spAutoFit/>
          </a:bodyPr>
          <a:lstStyle/>
          <a:p>
            <a:pPr>
              <a:spcBef>
                <a:spcPct val="50000"/>
              </a:spcBef>
            </a:pPr>
            <a:r>
              <a:rPr lang="zh-CN" altLang="en-US" sz="2800" dirty="0">
                <a:solidFill>
                  <a:schemeClr val="folHlink"/>
                </a:solidFill>
                <a:latin typeface="黑体" panose="02010609060101010101" pitchFamily="49" charset="-122"/>
                <a:ea typeface="黑体" panose="02010609060101010101" pitchFamily="49" charset="-122"/>
              </a:rPr>
              <a:t>硬中断</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由</a:t>
            </a:r>
            <a:r>
              <a:rPr lang="zh-CN" altLang="en-US" sz="2800" dirty="0">
                <a:solidFill>
                  <a:srgbClr val="00FF00"/>
                </a:solidFill>
                <a:latin typeface="黑体" panose="02010609060101010101" pitchFamily="49" charset="-122"/>
                <a:ea typeface="黑体" panose="02010609060101010101" pitchFamily="49" charset="-122"/>
              </a:rPr>
              <a:t>硬</a:t>
            </a:r>
            <a:r>
              <a:rPr lang="zh-CN" altLang="en-US" sz="2800" dirty="0">
                <a:latin typeface="黑体" panose="02010609060101010101" pitchFamily="49" charset="-122"/>
                <a:ea typeface="黑体" panose="02010609060101010101" pitchFamily="49" charset="-122"/>
              </a:rPr>
              <a:t>件请求信号引发的中断</a:t>
            </a:r>
          </a:p>
        </p:txBody>
      </p:sp>
      <p:sp>
        <p:nvSpPr>
          <p:cNvPr id="8213" name="Text Box 21"/>
          <p:cNvSpPr txBox="1"/>
          <p:nvPr/>
        </p:nvSpPr>
        <p:spPr>
          <a:xfrm>
            <a:off x="365125" y="185738"/>
            <a:ext cx="5791200" cy="579437"/>
          </a:xfrm>
          <a:prstGeom prst="rect">
            <a:avLst/>
          </a:prstGeom>
          <a:noFill/>
          <a:ln w="12700">
            <a:noFill/>
          </a:ln>
        </p:spPr>
        <p:txBody>
          <a:bodyPr>
            <a:spAutoFit/>
          </a:bodyPr>
          <a:lstStyle/>
          <a:p>
            <a:pPr>
              <a:spcBef>
                <a:spcPct val="50000"/>
              </a:spcBef>
            </a:pPr>
            <a:r>
              <a:rPr lang="en-US" altLang="zh-CN" sz="3200" dirty="0">
                <a:solidFill>
                  <a:srgbClr val="FFFF00"/>
                </a:solidFill>
                <a:latin typeface="黑体" panose="02010609060101010101" pitchFamily="49" charset="-122"/>
                <a:ea typeface="黑体" panose="02010609060101010101" pitchFamily="49" charset="-122"/>
              </a:rPr>
              <a:t>4.</a:t>
            </a:r>
            <a:r>
              <a:rPr lang="zh-CN" altLang="en-US" sz="3200" dirty="0">
                <a:solidFill>
                  <a:srgbClr val="FFFF00"/>
                </a:solidFill>
                <a:latin typeface="黑体" panose="02010609060101010101" pitchFamily="49" charset="-122"/>
                <a:ea typeface="黑体" panose="02010609060101010101" pitchFamily="49" charset="-122"/>
              </a:rPr>
              <a:t>中断方式的分类</a:t>
            </a:r>
          </a:p>
        </p:txBody>
      </p:sp>
      <p:sp>
        <p:nvSpPr>
          <p:cNvPr id="8214" name="Text Box 22"/>
          <p:cNvSpPr txBox="1"/>
          <p:nvPr/>
        </p:nvSpPr>
        <p:spPr>
          <a:xfrm>
            <a:off x="107950" y="836613"/>
            <a:ext cx="5791200" cy="519112"/>
          </a:xfrm>
          <a:prstGeom prst="rect">
            <a:avLst/>
          </a:prstGeom>
          <a:noFill/>
          <a:ln w="12700">
            <a:noFill/>
          </a:ln>
        </p:spPr>
        <p:txBody>
          <a:bodyPr>
            <a:spAutoFit/>
          </a:bodyPr>
          <a:lstStyle/>
          <a:p>
            <a:pPr>
              <a:spcBef>
                <a:spcPct val="50000"/>
              </a:spcBef>
            </a:pP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1</a:t>
            </a:r>
            <a:r>
              <a:rPr lang="zh-CN" altLang="en-US" sz="2800" dirty="0">
                <a:latin typeface="黑体" panose="02010609060101010101" pitchFamily="49" charset="-122"/>
                <a:ea typeface="黑体" panose="02010609060101010101" pitchFamily="49" charset="-122"/>
              </a:rPr>
              <a:t>）硬件中断与软中断</a:t>
            </a:r>
          </a:p>
        </p:txBody>
      </p:sp>
      <p:sp>
        <p:nvSpPr>
          <p:cNvPr id="8217" name="Text Box 25"/>
          <p:cNvSpPr txBox="1"/>
          <p:nvPr/>
        </p:nvSpPr>
        <p:spPr>
          <a:xfrm>
            <a:off x="296863" y="1863725"/>
            <a:ext cx="5132387" cy="519113"/>
          </a:xfrm>
          <a:prstGeom prst="rect">
            <a:avLst/>
          </a:prstGeom>
          <a:noFill/>
          <a:ln w="12700">
            <a:noFill/>
          </a:ln>
        </p:spPr>
        <p:txBody>
          <a:bodyPr>
            <a:spAutoFit/>
          </a:bodyPr>
          <a:lstStyle/>
          <a:p>
            <a:pPr>
              <a:spcBef>
                <a:spcPct val="50000"/>
              </a:spcBef>
            </a:pPr>
            <a:r>
              <a:rPr lang="zh-CN" altLang="en-US" sz="2800" dirty="0">
                <a:solidFill>
                  <a:schemeClr val="folHlink"/>
                </a:solidFill>
                <a:latin typeface="黑体" panose="02010609060101010101" pitchFamily="49" charset="-122"/>
                <a:ea typeface="黑体" panose="02010609060101010101" pitchFamily="49" charset="-122"/>
              </a:rPr>
              <a:t>软中断</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由</a:t>
            </a:r>
            <a:r>
              <a:rPr lang="zh-CN" altLang="en-US" sz="2800" dirty="0">
                <a:solidFill>
                  <a:srgbClr val="00FF00"/>
                </a:solidFill>
                <a:latin typeface="黑体" panose="02010609060101010101" pitchFamily="49" charset="-122"/>
                <a:ea typeface="黑体" panose="02010609060101010101" pitchFamily="49" charset="-122"/>
              </a:rPr>
              <a:t>软件</a:t>
            </a:r>
            <a:r>
              <a:rPr lang="zh-CN" altLang="en-US" sz="2800" dirty="0">
                <a:latin typeface="黑体" panose="02010609060101010101" pitchFamily="49" charset="-122"/>
                <a:ea typeface="黑体" panose="02010609060101010101" pitchFamily="49" charset="-122"/>
              </a:rPr>
              <a:t>触发的中断</a:t>
            </a:r>
          </a:p>
        </p:txBody>
      </p:sp>
      <p:sp>
        <p:nvSpPr>
          <p:cNvPr id="8218" name="Text Box 26"/>
          <p:cNvSpPr txBox="1"/>
          <p:nvPr/>
        </p:nvSpPr>
        <p:spPr>
          <a:xfrm>
            <a:off x="107950" y="2636838"/>
            <a:ext cx="5791200" cy="519112"/>
          </a:xfrm>
          <a:prstGeom prst="rect">
            <a:avLst/>
          </a:prstGeom>
          <a:noFill/>
          <a:ln w="12700">
            <a:noFill/>
          </a:ln>
        </p:spPr>
        <p:txBody>
          <a:bodyPr>
            <a:spAutoFit/>
          </a:bodyPr>
          <a:lstStyle/>
          <a:p>
            <a:pPr>
              <a:spcBef>
                <a:spcPct val="50000"/>
              </a:spcBef>
            </a:pP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2</a:t>
            </a:r>
            <a:r>
              <a:rPr lang="zh-CN" altLang="en-US" sz="2800" dirty="0">
                <a:latin typeface="黑体" panose="02010609060101010101" pitchFamily="49" charset="-122"/>
                <a:ea typeface="黑体" panose="02010609060101010101" pitchFamily="49" charset="-122"/>
              </a:rPr>
              <a:t>）内中断与外中断</a:t>
            </a:r>
          </a:p>
        </p:txBody>
      </p:sp>
      <p:sp>
        <p:nvSpPr>
          <p:cNvPr id="8220" name="Text Box 28"/>
          <p:cNvSpPr txBox="1"/>
          <p:nvPr/>
        </p:nvSpPr>
        <p:spPr>
          <a:xfrm>
            <a:off x="296863" y="3232150"/>
            <a:ext cx="5400675" cy="519113"/>
          </a:xfrm>
          <a:prstGeom prst="rect">
            <a:avLst/>
          </a:prstGeom>
          <a:noFill/>
          <a:ln w="12700">
            <a:noFill/>
          </a:ln>
        </p:spPr>
        <p:txBody>
          <a:bodyPr>
            <a:spAutoFit/>
          </a:bodyPr>
          <a:lstStyle/>
          <a:p>
            <a:pPr>
              <a:spcBef>
                <a:spcPct val="50000"/>
              </a:spcBef>
            </a:pPr>
            <a:r>
              <a:rPr lang="zh-CN" altLang="en-US" sz="2800" dirty="0">
                <a:solidFill>
                  <a:schemeClr val="folHlink"/>
                </a:solidFill>
                <a:latin typeface="黑体" panose="02010609060101010101" pitchFamily="49" charset="-122"/>
                <a:ea typeface="黑体" panose="02010609060101010101" pitchFamily="49" charset="-122"/>
              </a:rPr>
              <a:t>内中断</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中断源来自</a:t>
            </a:r>
            <a:r>
              <a:rPr lang="zh-CN" altLang="en-US" sz="2800" dirty="0">
                <a:solidFill>
                  <a:srgbClr val="00FF00"/>
                </a:solidFill>
                <a:latin typeface="黑体" panose="02010609060101010101" pitchFamily="49" charset="-122"/>
                <a:ea typeface="黑体" panose="02010609060101010101" pitchFamily="49" charset="-122"/>
              </a:rPr>
              <a:t>主机内部   </a:t>
            </a:r>
          </a:p>
        </p:txBody>
      </p:sp>
      <p:sp>
        <p:nvSpPr>
          <p:cNvPr id="8222" name="Text Box 30"/>
          <p:cNvSpPr txBox="1"/>
          <p:nvPr/>
        </p:nvSpPr>
        <p:spPr>
          <a:xfrm>
            <a:off x="296863" y="3736975"/>
            <a:ext cx="5329237" cy="519113"/>
          </a:xfrm>
          <a:prstGeom prst="rect">
            <a:avLst/>
          </a:prstGeom>
          <a:noFill/>
          <a:ln w="12700">
            <a:noFill/>
          </a:ln>
        </p:spPr>
        <p:txBody>
          <a:bodyPr>
            <a:spAutoFit/>
          </a:bodyPr>
          <a:lstStyle/>
          <a:p>
            <a:pPr>
              <a:spcBef>
                <a:spcPct val="50000"/>
              </a:spcBef>
            </a:pPr>
            <a:r>
              <a:rPr lang="zh-CN" altLang="en-US" sz="2800" dirty="0">
                <a:solidFill>
                  <a:schemeClr val="folHlink"/>
                </a:solidFill>
                <a:latin typeface="黑体" panose="02010609060101010101" pitchFamily="49" charset="-122"/>
                <a:ea typeface="黑体" panose="02010609060101010101" pitchFamily="49" charset="-122"/>
              </a:rPr>
              <a:t>外中断</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中断源来自</a:t>
            </a:r>
            <a:r>
              <a:rPr lang="zh-CN" altLang="en-US" sz="2800" dirty="0">
                <a:solidFill>
                  <a:srgbClr val="00FF00"/>
                </a:solidFill>
                <a:latin typeface="黑体" panose="02010609060101010101" pitchFamily="49" charset="-122"/>
                <a:ea typeface="黑体" panose="02010609060101010101" pitchFamily="49" charset="-122"/>
              </a:rPr>
              <a:t>主机外部</a:t>
            </a:r>
          </a:p>
        </p:txBody>
      </p:sp>
      <p:sp>
        <p:nvSpPr>
          <p:cNvPr id="10249" name="Line 38"/>
          <p:cNvSpPr/>
          <p:nvPr/>
        </p:nvSpPr>
        <p:spPr>
          <a:xfrm>
            <a:off x="1905000" y="4662488"/>
            <a:ext cx="381000" cy="304800"/>
          </a:xfrm>
          <a:prstGeom prst="line">
            <a:avLst/>
          </a:prstGeom>
          <a:ln w="9525" cap="flat" cmpd="sng">
            <a:solidFill>
              <a:srgbClr val="3366FF"/>
            </a:solidFill>
            <a:prstDash val="solid"/>
            <a:headEnd type="none" w="med" len="med"/>
            <a:tailEnd type="none" w="med" len="med"/>
          </a:ln>
        </p:spPr>
      </p:sp>
      <p:sp>
        <p:nvSpPr>
          <p:cNvPr id="8233" name="Text Box 41"/>
          <p:cNvSpPr txBox="1"/>
          <p:nvPr/>
        </p:nvSpPr>
        <p:spPr>
          <a:xfrm>
            <a:off x="107950" y="4508500"/>
            <a:ext cx="5791200" cy="519113"/>
          </a:xfrm>
          <a:prstGeom prst="rect">
            <a:avLst/>
          </a:prstGeom>
          <a:noFill/>
          <a:ln w="12700">
            <a:noFill/>
          </a:ln>
        </p:spPr>
        <p:txBody>
          <a:bodyPr>
            <a:spAutoFit/>
          </a:bodyPr>
          <a:lstStyle/>
          <a:p>
            <a:pPr>
              <a:spcBef>
                <a:spcPct val="50000"/>
              </a:spcBef>
            </a:pP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3</a:t>
            </a:r>
            <a:r>
              <a:rPr lang="zh-CN" altLang="en-US" sz="2800" dirty="0">
                <a:latin typeface="黑体" panose="02010609060101010101" pitchFamily="49" charset="-122"/>
                <a:ea typeface="黑体" panose="02010609060101010101" pitchFamily="49" charset="-122"/>
              </a:rPr>
              <a:t>）强迫中断与自愿中断</a:t>
            </a:r>
          </a:p>
        </p:txBody>
      </p:sp>
      <p:sp>
        <p:nvSpPr>
          <p:cNvPr id="8234" name="Text Box 42"/>
          <p:cNvSpPr txBox="1"/>
          <p:nvPr/>
        </p:nvSpPr>
        <p:spPr>
          <a:xfrm>
            <a:off x="296863" y="5032375"/>
            <a:ext cx="8137525" cy="519113"/>
          </a:xfrm>
          <a:prstGeom prst="rect">
            <a:avLst/>
          </a:prstGeom>
          <a:noFill/>
          <a:ln w="12700">
            <a:noFill/>
          </a:ln>
        </p:spPr>
        <p:txBody>
          <a:bodyPr>
            <a:spAutoFit/>
          </a:bodyPr>
          <a:lstStyle/>
          <a:p>
            <a:pPr>
              <a:spcBef>
                <a:spcPct val="50000"/>
              </a:spcBef>
            </a:pPr>
            <a:r>
              <a:rPr lang="zh-CN" altLang="en-US" sz="2800" dirty="0">
                <a:solidFill>
                  <a:schemeClr val="folHlink"/>
                </a:solidFill>
                <a:latin typeface="黑体" panose="02010609060101010101" pitchFamily="49" charset="-122"/>
                <a:ea typeface="黑体" panose="02010609060101010101" pitchFamily="49" charset="-122"/>
              </a:rPr>
              <a:t>强迫中断</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由故障和外部源引起，非程序中的安排</a:t>
            </a:r>
          </a:p>
        </p:txBody>
      </p:sp>
      <p:sp>
        <p:nvSpPr>
          <p:cNvPr id="8237" name="Text Box 45"/>
          <p:cNvSpPr txBox="1"/>
          <p:nvPr/>
        </p:nvSpPr>
        <p:spPr>
          <a:xfrm>
            <a:off x="296863" y="5592763"/>
            <a:ext cx="8137525" cy="519112"/>
          </a:xfrm>
          <a:prstGeom prst="rect">
            <a:avLst/>
          </a:prstGeom>
          <a:noFill/>
          <a:ln w="12700">
            <a:noFill/>
          </a:ln>
        </p:spPr>
        <p:txBody>
          <a:bodyPr>
            <a:spAutoFit/>
          </a:bodyPr>
          <a:lstStyle/>
          <a:p>
            <a:pPr>
              <a:spcBef>
                <a:spcPct val="50000"/>
              </a:spcBef>
            </a:pPr>
            <a:r>
              <a:rPr lang="zh-CN" altLang="en-US" sz="2800" dirty="0">
                <a:solidFill>
                  <a:schemeClr val="folHlink"/>
                </a:solidFill>
                <a:latin typeface="黑体" panose="02010609060101010101" pitchFamily="49" charset="-122"/>
                <a:ea typeface="黑体" panose="02010609060101010101" pitchFamily="49" charset="-122"/>
              </a:rPr>
              <a:t>自愿中断</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自中断或软中断，在程序中有意安排的</a:t>
            </a:r>
          </a:p>
        </p:txBody>
      </p:sp>
    </p:spTree>
  </p:cSld>
  <p:clrMapOvr>
    <a:masterClrMapping/>
  </p:clrMapOvr>
  <p:transition>
    <p:cover dir="l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Text Box 4"/>
          <p:cNvSpPr txBox="1"/>
          <p:nvPr/>
        </p:nvSpPr>
        <p:spPr>
          <a:xfrm>
            <a:off x="39688" y="273050"/>
            <a:ext cx="7772400" cy="519113"/>
          </a:xfrm>
          <a:prstGeom prst="rect">
            <a:avLst/>
          </a:prstGeom>
          <a:noFill/>
          <a:ln w="12700">
            <a:noFill/>
          </a:ln>
        </p:spPr>
        <p:txBody>
          <a:bodyPr>
            <a:spAutoFit/>
          </a:bodyPr>
          <a:lstStyle/>
          <a:p>
            <a:pPr>
              <a:spcBef>
                <a:spcPct val="50000"/>
              </a:spcBef>
            </a:pP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4</a:t>
            </a:r>
            <a:r>
              <a:rPr lang="zh-CN" altLang="en-US" sz="2800" dirty="0">
                <a:latin typeface="黑体" panose="02010609060101010101" pitchFamily="49" charset="-122"/>
                <a:ea typeface="黑体" panose="02010609060101010101" pitchFamily="49" charset="-122"/>
              </a:rPr>
              <a:t>）可屏蔽中断与非屏蔽中断</a:t>
            </a:r>
          </a:p>
        </p:txBody>
      </p:sp>
      <p:sp>
        <p:nvSpPr>
          <p:cNvPr id="30725" name="Text Box 5"/>
          <p:cNvSpPr txBox="1"/>
          <p:nvPr/>
        </p:nvSpPr>
        <p:spPr>
          <a:xfrm>
            <a:off x="206375" y="831850"/>
            <a:ext cx="8443913" cy="1117600"/>
          </a:xfrm>
          <a:prstGeom prst="rect">
            <a:avLst/>
          </a:prstGeom>
          <a:noFill/>
          <a:ln w="12700">
            <a:noFill/>
          </a:ln>
        </p:spPr>
        <p:txBody>
          <a:bodyPr>
            <a:spAutoFit/>
          </a:bodyPr>
          <a:lstStyle/>
          <a:p>
            <a:pPr>
              <a:lnSpc>
                <a:spcPct val="120000"/>
              </a:lnSpc>
              <a:spcBef>
                <a:spcPct val="50000"/>
              </a:spcBef>
            </a:pPr>
            <a:r>
              <a:rPr lang="zh-CN" altLang="en-US" sz="2800" dirty="0">
                <a:solidFill>
                  <a:schemeClr val="folHlink"/>
                </a:solidFill>
                <a:latin typeface="黑体" panose="02010609060101010101" pitchFamily="49" charset="-122"/>
                <a:ea typeface="黑体" panose="02010609060101010101" pitchFamily="49" charset="-122"/>
              </a:rPr>
              <a:t>可屏蔽中断</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可以通过屏蔽字屏蔽该类请求，关中断时不响应该类请求。</a:t>
            </a:r>
          </a:p>
        </p:txBody>
      </p:sp>
      <p:sp>
        <p:nvSpPr>
          <p:cNvPr id="30726" name="Text Box 6"/>
          <p:cNvSpPr txBox="1"/>
          <p:nvPr/>
        </p:nvSpPr>
        <p:spPr>
          <a:xfrm>
            <a:off x="206375" y="2055813"/>
            <a:ext cx="8351838" cy="1117600"/>
          </a:xfrm>
          <a:prstGeom prst="rect">
            <a:avLst/>
          </a:prstGeom>
          <a:noFill/>
          <a:ln w="12700">
            <a:noFill/>
          </a:ln>
        </p:spPr>
        <p:txBody>
          <a:bodyPr>
            <a:spAutoFit/>
          </a:bodyPr>
          <a:lstStyle/>
          <a:p>
            <a:pPr>
              <a:lnSpc>
                <a:spcPct val="120000"/>
              </a:lnSpc>
              <a:spcBef>
                <a:spcPct val="50000"/>
              </a:spcBef>
            </a:pPr>
            <a:r>
              <a:rPr lang="zh-CN" altLang="en-US" sz="2800" dirty="0">
                <a:solidFill>
                  <a:schemeClr val="folHlink"/>
                </a:solidFill>
                <a:latin typeface="黑体" panose="02010609060101010101" pitchFamily="49" charset="-122"/>
                <a:ea typeface="黑体" panose="02010609060101010101" pitchFamily="49" charset="-122"/>
              </a:rPr>
              <a:t>非屏蔽中断</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该类请求与屏蔽字无关；请求的响应与开</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关中断无关。</a:t>
            </a:r>
          </a:p>
        </p:txBody>
      </p:sp>
      <p:sp>
        <p:nvSpPr>
          <p:cNvPr id="30727" name="Text Box 7"/>
          <p:cNvSpPr txBox="1"/>
          <p:nvPr/>
        </p:nvSpPr>
        <p:spPr>
          <a:xfrm>
            <a:off x="206375" y="4110038"/>
            <a:ext cx="7580313" cy="519112"/>
          </a:xfrm>
          <a:prstGeom prst="rect">
            <a:avLst/>
          </a:prstGeom>
          <a:noFill/>
          <a:ln w="12700">
            <a:noFill/>
          </a:ln>
        </p:spPr>
        <p:txBody>
          <a:bodyPr>
            <a:spAutoFit/>
          </a:bodyPr>
          <a:lstStyle/>
          <a:p>
            <a:pPr>
              <a:spcBef>
                <a:spcPct val="50000"/>
              </a:spcBef>
            </a:pPr>
            <a:r>
              <a:rPr lang="zh-CN" altLang="en-US" sz="2800" dirty="0">
                <a:solidFill>
                  <a:schemeClr val="folHlink"/>
                </a:solidFill>
                <a:latin typeface="黑体" panose="02010609060101010101" pitchFamily="49" charset="-122"/>
                <a:ea typeface="黑体" panose="02010609060101010101" pitchFamily="49" charset="-122"/>
              </a:rPr>
              <a:t>向量中断</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由硬件方式来确定服务程序入口地址</a:t>
            </a:r>
            <a:r>
              <a:rPr lang="en-US" altLang="zh-CN" sz="2800" dirty="0">
                <a:latin typeface="黑体" panose="02010609060101010101" pitchFamily="49" charset="-122"/>
                <a:ea typeface="黑体" panose="02010609060101010101" pitchFamily="49" charset="-122"/>
              </a:rPr>
              <a:t>;</a:t>
            </a:r>
          </a:p>
        </p:txBody>
      </p:sp>
      <p:sp>
        <p:nvSpPr>
          <p:cNvPr id="30728" name="Text Box 8"/>
          <p:cNvSpPr txBox="1"/>
          <p:nvPr/>
        </p:nvSpPr>
        <p:spPr>
          <a:xfrm>
            <a:off x="0" y="3429000"/>
            <a:ext cx="5791200" cy="519113"/>
          </a:xfrm>
          <a:prstGeom prst="rect">
            <a:avLst/>
          </a:prstGeom>
          <a:noFill/>
          <a:ln w="12700">
            <a:noFill/>
          </a:ln>
        </p:spPr>
        <p:txBody>
          <a:bodyPr>
            <a:spAutoFit/>
          </a:bodyPr>
          <a:lstStyle/>
          <a:p>
            <a:pPr>
              <a:spcBef>
                <a:spcPct val="50000"/>
              </a:spcBef>
            </a:pP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5</a:t>
            </a:r>
            <a:r>
              <a:rPr lang="zh-CN" altLang="en-US" sz="2800" dirty="0">
                <a:latin typeface="黑体" panose="02010609060101010101" pitchFamily="49" charset="-122"/>
                <a:ea typeface="黑体" panose="02010609060101010101" pitchFamily="49" charset="-122"/>
              </a:rPr>
              <a:t>）向量中断与非向量中断</a:t>
            </a:r>
          </a:p>
        </p:txBody>
      </p:sp>
      <p:sp>
        <p:nvSpPr>
          <p:cNvPr id="30729" name="Text Box 9"/>
          <p:cNvSpPr txBox="1"/>
          <p:nvPr/>
        </p:nvSpPr>
        <p:spPr>
          <a:xfrm>
            <a:off x="206375" y="4757738"/>
            <a:ext cx="7632700" cy="523875"/>
          </a:xfrm>
          <a:prstGeom prst="rect">
            <a:avLst/>
          </a:prstGeom>
          <a:noFill/>
          <a:ln w="12700">
            <a:noFill/>
          </a:ln>
        </p:spPr>
        <p:txBody>
          <a:bodyPr>
            <a:spAutoFit/>
          </a:bodyPr>
          <a:lstStyle/>
          <a:p>
            <a:pPr>
              <a:spcBef>
                <a:spcPct val="50000"/>
              </a:spcBef>
            </a:pPr>
            <a:r>
              <a:rPr lang="zh-CN" altLang="en-US" sz="2800" dirty="0">
                <a:solidFill>
                  <a:schemeClr val="folHlink"/>
                </a:solidFill>
                <a:latin typeface="黑体" panose="02010609060101010101" pitchFamily="49" charset="-122"/>
                <a:ea typeface="黑体" panose="02010609060101010101" pitchFamily="49" charset="-122"/>
              </a:rPr>
              <a:t>非向量中断</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由软件查询确定服务程序入口地址</a:t>
            </a:r>
            <a:r>
              <a:rPr lang="en-US" altLang="zh-CN" sz="2800" dirty="0">
                <a:latin typeface="黑体" panose="02010609060101010101" pitchFamily="49" charset="-122"/>
                <a:ea typeface="黑体" panose="02010609060101010101" pitchFamily="49" charset="-122"/>
              </a:rPr>
              <a:t>;</a:t>
            </a:r>
          </a:p>
        </p:txBody>
      </p:sp>
    </p:spTree>
  </p:cSld>
  <p:clrMapOvr>
    <a:masterClrMapping/>
  </p:clrMapOvr>
  <p:transition>
    <p:cover dir="l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1460" y="260985"/>
            <a:ext cx="8436610" cy="6073775"/>
          </a:xfrm>
          <a:prstGeom prst="rect">
            <a:avLst/>
          </a:prstGeom>
          <a:noFill/>
        </p:spPr>
        <p:txBody>
          <a:bodyPr wrap="square" rtlCol="0" anchor="t">
            <a:spAutoFit/>
          </a:bodyPr>
          <a:lstStyle/>
          <a:p>
            <a:pPr>
              <a:spcBef>
                <a:spcPct val="20000"/>
              </a:spcBef>
            </a:pPr>
            <a:r>
              <a:rPr lang="en-US" altLang="zh-CN" dirty="0">
                <a:solidFill>
                  <a:srgbClr val="FFFF00"/>
                </a:solidFill>
                <a:latin typeface="黑体" panose="02010609060101010101" pitchFamily="49" charset="-122"/>
                <a:ea typeface="黑体" panose="02010609060101010101" pitchFamily="49" charset="-122"/>
                <a:cs typeface="黑体" panose="02010609060101010101" pitchFamily="49" charset="-122"/>
                <a:sym typeface="+mn-ea"/>
              </a:rPr>
              <a:t>5.</a:t>
            </a:r>
            <a:r>
              <a:rPr lang="zh-CN" altLang="en-US" dirty="0">
                <a:solidFill>
                  <a:srgbClr val="FFFF00"/>
                </a:solidFill>
                <a:latin typeface="黑体" panose="02010609060101010101" pitchFamily="49" charset="-122"/>
                <a:ea typeface="黑体" panose="02010609060101010101" pitchFamily="49" charset="-122"/>
                <a:cs typeface="黑体" panose="02010609060101010101" pitchFamily="49" charset="-122"/>
                <a:sym typeface="+mn-ea"/>
              </a:rPr>
              <a:t>中断的分级</a:t>
            </a:r>
            <a:endParaRPr lang="zh-CN" altLang="en-US" b="1" dirty="0">
              <a:solidFill>
                <a:srgbClr val="FFFF00"/>
              </a:solidFill>
              <a:latin typeface="黑体" panose="02010609060101010101" pitchFamily="49" charset="-122"/>
              <a:ea typeface="黑体" panose="02010609060101010101" pitchFamily="49" charset="-122"/>
              <a:cs typeface="黑体" panose="02010609060101010101" pitchFamily="49" charset="-122"/>
            </a:endParaRPr>
          </a:p>
          <a:p>
            <a:pPr>
              <a:spcBef>
                <a:spcPct val="20000"/>
              </a:spcBef>
            </a:pPr>
            <a:r>
              <a:rPr lang="zh-CN" altLang="en-US" dirty="0">
                <a:solidFill>
                  <a:schemeClr val="tx1"/>
                </a:solidFill>
                <a:latin typeface="黑体" panose="02010609060101010101" pitchFamily="49" charset="-122"/>
                <a:ea typeface="黑体" panose="02010609060101010101" pitchFamily="49" charset="-122"/>
                <a:cs typeface="黑体" panose="02010609060101010101" pitchFamily="49" charset="-122"/>
                <a:sym typeface="+mn-ea"/>
              </a:rPr>
              <a:t>中断分级是根据系统中各中断源的重要程度将其分成不同的优先级别，最重要的中断源应具有最高的优先级，最不重要的中断源具有最低的优先级，其它的依此类推，各处于不同的级别。</a:t>
            </a:r>
            <a:endParaRPr lang="zh-CN" altLang="en-US" b="1" dirty="0">
              <a:solidFill>
                <a:schemeClr val="tx1"/>
              </a:solidFill>
              <a:latin typeface="黑体" panose="02010609060101010101" pitchFamily="49" charset="-122"/>
              <a:ea typeface="黑体" panose="02010609060101010101" pitchFamily="49" charset="-122"/>
              <a:cs typeface="黑体" panose="02010609060101010101" pitchFamily="49" charset="-122"/>
            </a:endParaRPr>
          </a:p>
          <a:p>
            <a:pPr>
              <a:spcBef>
                <a:spcPct val="20000"/>
              </a:spcBef>
            </a:pPr>
            <a:r>
              <a:rPr lang="zh-CN" altLang="en-US" dirty="0">
                <a:solidFill>
                  <a:schemeClr val="tx2"/>
                </a:solidFill>
                <a:latin typeface="黑体" panose="02010609060101010101" pitchFamily="49" charset="-122"/>
                <a:ea typeface="黑体" panose="02010609060101010101" pitchFamily="49" charset="-122"/>
                <a:cs typeface="黑体" panose="02010609060101010101" pitchFamily="49" charset="-122"/>
                <a:sym typeface="+mn-ea"/>
              </a:rPr>
              <a:t>中断优先级可由下列因素决定</a:t>
            </a:r>
            <a:r>
              <a:rPr lang="zh-CN" altLang="en-US" dirty="0">
                <a:solidFill>
                  <a:schemeClr val="tx1"/>
                </a:solidFill>
                <a:latin typeface="黑体" panose="02010609060101010101" pitchFamily="49" charset="-122"/>
                <a:ea typeface="黑体" panose="02010609060101010101" pitchFamily="49" charset="-122"/>
                <a:cs typeface="黑体" panose="02010609060101010101" pitchFamily="49" charset="-122"/>
                <a:sym typeface="+mn-ea"/>
              </a:rPr>
              <a:t>：</a:t>
            </a:r>
            <a:endParaRPr lang="zh-CN" altLang="en-US" b="1" dirty="0">
              <a:solidFill>
                <a:schemeClr val="tx1"/>
              </a:solidFill>
              <a:latin typeface="黑体" panose="02010609060101010101" pitchFamily="49" charset="-122"/>
              <a:ea typeface="黑体" panose="02010609060101010101" pitchFamily="49" charset="-122"/>
              <a:cs typeface="黑体" panose="02010609060101010101" pitchFamily="49" charset="-122"/>
            </a:endParaRPr>
          </a:p>
          <a:p>
            <a:pPr>
              <a:spcBef>
                <a:spcPct val="20000"/>
              </a:spcBef>
            </a:pPr>
            <a:r>
              <a:rPr lang="zh-CN" altLang="en-US" dirty="0">
                <a:solidFill>
                  <a:schemeClr val="tx1"/>
                </a:solidFill>
                <a:latin typeface="黑体" panose="02010609060101010101" pitchFamily="49" charset="-122"/>
                <a:ea typeface="黑体" panose="02010609060101010101" pitchFamily="49" charset="-122"/>
                <a:cs typeface="黑体" panose="02010609060101010101" pitchFamily="49" charset="-122"/>
                <a:sym typeface="+mn-ea"/>
              </a:rPr>
              <a:t>中断源的急迫性</a:t>
            </a:r>
            <a:r>
              <a:rPr lang="en-US" altLang="zh-CN" dirty="0">
                <a:solidFill>
                  <a:schemeClr val="tx1"/>
                </a:solidFill>
                <a:latin typeface="黑体" panose="02010609060101010101" pitchFamily="49" charset="-122"/>
                <a:ea typeface="黑体" panose="02010609060101010101" pitchFamily="49" charset="-122"/>
                <a:cs typeface="黑体" panose="02010609060101010101" pitchFamily="49" charset="-122"/>
                <a:sym typeface="+mn-ea"/>
              </a:rPr>
              <a:t>/</a:t>
            </a:r>
            <a:r>
              <a:rPr lang="zh-CN" altLang="en-US" dirty="0">
                <a:solidFill>
                  <a:schemeClr val="tx1"/>
                </a:solidFill>
                <a:latin typeface="黑体" panose="02010609060101010101" pitchFamily="49" charset="-122"/>
                <a:ea typeface="黑体" panose="02010609060101010101" pitchFamily="49" charset="-122"/>
                <a:cs typeface="黑体" panose="02010609060101010101" pitchFamily="49" charset="-122"/>
                <a:sym typeface="+mn-ea"/>
              </a:rPr>
              <a:t>设备的工作速度</a:t>
            </a:r>
            <a:r>
              <a:rPr lang="en-US" altLang="zh-CN" dirty="0">
                <a:solidFill>
                  <a:schemeClr val="tx1"/>
                </a:solidFill>
                <a:latin typeface="黑体" panose="02010609060101010101" pitchFamily="49" charset="-122"/>
                <a:ea typeface="黑体" panose="02010609060101010101" pitchFamily="49" charset="-122"/>
                <a:cs typeface="黑体" panose="02010609060101010101" pitchFamily="49" charset="-122"/>
                <a:sym typeface="+mn-ea"/>
              </a:rPr>
              <a:t>/</a:t>
            </a:r>
            <a:r>
              <a:rPr lang="zh-CN" altLang="en-US" dirty="0">
                <a:solidFill>
                  <a:schemeClr val="tx1"/>
                </a:solidFill>
                <a:latin typeface="黑体" panose="02010609060101010101" pitchFamily="49" charset="-122"/>
                <a:ea typeface="黑体" panose="02010609060101010101" pitchFamily="49" charset="-122"/>
                <a:cs typeface="黑体" panose="02010609060101010101" pitchFamily="49" charset="-122"/>
                <a:sym typeface="+mn-ea"/>
              </a:rPr>
              <a:t>数据恢复的难易程度</a:t>
            </a:r>
            <a:r>
              <a:rPr lang="en-US" altLang="zh-CN" dirty="0">
                <a:solidFill>
                  <a:schemeClr val="tx1"/>
                </a:solidFill>
                <a:latin typeface="黑体" panose="02010609060101010101" pitchFamily="49" charset="-122"/>
                <a:ea typeface="黑体" panose="02010609060101010101" pitchFamily="49" charset="-122"/>
                <a:cs typeface="黑体" panose="02010609060101010101" pitchFamily="49" charset="-122"/>
                <a:sym typeface="+mn-ea"/>
              </a:rPr>
              <a:t>/</a:t>
            </a:r>
            <a:r>
              <a:rPr lang="zh-CN" altLang="en-US" dirty="0">
                <a:solidFill>
                  <a:schemeClr val="tx1"/>
                </a:solidFill>
                <a:latin typeface="黑体" panose="02010609060101010101" pitchFamily="49" charset="-122"/>
                <a:ea typeface="黑体" panose="02010609060101010101" pitchFamily="49" charset="-122"/>
                <a:cs typeface="黑体" panose="02010609060101010101" pitchFamily="49" charset="-122"/>
                <a:sym typeface="+mn-ea"/>
              </a:rPr>
              <a:t>要求处理机提供的服务质量。</a:t>
            </a:r>
            <a:endParaRPr lang="zh-CN" altLang="en-US" b="1" dirty="0">
              <a:solidFill>
                <a:schemeClr val="tx1"/>
              </a:solidFill>
              <a:latin typeface="黑体" panose="02010609060101010101" pitchFamily="49" charset="-122"/>
              <a:ea typeface="黑体" panose="02010609060101010101" pitchFamily="49" charset="-122"/>
              <a:cs typeface="黑体" panose="02010609060101010101" pitchFamily="49" charset="-122"/>
            </a:endParaRPr>
          </a:p>
          <a:p>
            <a:pPr>
              <a:spcBef>
                <a:spcPct val="20000"/>
              </a:spcBef>
            </a:pPr>
            <a:r>
              <a:rPr lang="en-US" altLang="zh-CN" dirty="0">
                <a:solidFill>
                  <a:schemeClr val="tx1"/>
                </a:solidFill>
                <a:latin typeface="黑体" panose="02010609060101010101" pitchFamily="49" charset="-122"/>
                <a:ea typeface="黑体" panose="02010609060101010101" pitchFamily="49" charset="-122"/>
                <a:cs typeface="黑体" panose="02010609060101010101" pitchFamily="49" charset="-122"/>
                <a:sym typeface="+mn-ea"/>
              </a:rPr>
              <a:t>CPU</a:t>
            </a:r>
            <a:r>
              <a:rPr lang="zh-CN" altLang="en-US" dirty="0">
                <a:solidFill>
                  <a:schemeClr val="tx1"/>
                </a:solidFill>
                <a:latin typeface="黑体" panose="02010609060101010101" pitchFamily="49" charset="-122"/>
                <a:ea typeface="黑体" panose="02010609060101010101" pitchFamily="49" charset="-122"/>
                <a:cs typeface="黑体" panose="02010609060101010101" pitchFamily="49" charset="-122"/>
                <a:sym typeface="+mn-ea"/>
              </a:rPr>
              <a:t>进行中断处理是由中断排队线路来实现，遵循如下原则：</a:t>
            </a:r>
            <a:endParaRPr lang="zh-CN" altLang="en-US" b="1" dirty="0">
              <a:solidFill>
                <a:schemeClr val="tx1"/>
              </a:solidFill>
              <a:latin typeface="黑体" panose="02010609060101010101" pitchFamily="49" charset="-122"/>
              <a:ea typeface="黑体" panose="02010609060101010101" pitchFamily="49" charset="-122"/>
              <a:cs typeface="黑体" panose="02010609060101010101" pitchFamily="49" charset="-122"/>
            </a:endParaRPr>
          </a:p>
          <a:p>
            <a:pPr>
              <a:spcBef>
                <a:spcPct val="20000"/>
              </a:spcBef>
            </a:pPr>
            <a:r>
              <a:rPr lang="en-US" altLang="zh-CN" dirty="0">
                <a:solidFill>
                  <a:schemeClr val="tx1"/>
                </a:solidFill>
                <a:latin typeface="黑体" panose="02010609060101010101" pitchFamily="49" charset="-122"/>
                <a:ea typeface="黑体" panose="02010609060101010101" pitchFamily="49" charset="-122"/>
                <a:cs typeface="黑体" panose="02010609060101010101" pitchFamily="49" charset="-122"/>
                <a:sym typeface="+mn-ea"/>
              </a:rPr>
              <a:t>1</a:t>
            </a:r>
            <a:r>
              <a:rPr lang="zh-CN" altLang="en-US" dirty="0">
                <a:solidFill>
                  <a:schemeClr val="tx1"/>
                </a:solidFill>
                <a:latin typeface="黑体" panose="02010609060101010101" pitchFamily="49" charset="-122"/>
                <a:ea typeface="黑体" panose="02010609060101010101" pitchFamily="49" charset="-122"/>
                <a:cs typeface="黑体" panose="02010609060101010101" pitchFamily="49" charset="-122"/>
                <a:sym typeface="+mn-ea"/>
              </a:rPr>
              <a:t>）如果不同优先级别的中断请求同时到达，那么</a:t>
            </a:r>
            <a:r>
              <a:rPr lang="en-US" altLang="zh-CN" dirty="0">
                <a:solidFill>
                  <a:schemeClr val="tx1"/>
                </a:solidFill>
                <a:latin typeface="黑体" panose="02010609060101010101" pitchFamily="49" charset="-122"/>
                <a:ea typeface="黑体" panose="02010609060101010101" pitchFamily="49" charset="-122"/>
                <a:cs typeface="黑体" panose="02010609060101010101" pitchFamily="49" charset="-122"/>
                <a:sym typeface="+mn-ea"/>
              </a:rPr>
              <a:t>CPU</a:t>
            </a:r>
            <a:r>
              <a:rPr lang="zh-CN" altLang="en-US" dirty="0">
                <a:solidFill>
                  <a:schemeClr val="tx1"/>
                </a:solidFill>
                <a:latin typeface="黑体" panose="02010609060101010101" pitchFamily="49" charset="-122"/>
                <a:ea typeface="黑体" panose="02010609060101010101" pitchFamily="49" charset="-122"/>
                <a:cs typeface="黑体" panose="02010609060101010101" pitchFamily="49" charset="-122"/>
                <a:sym typeface="+mn-ea"/>
              </a:rPr>
              <a:t>应先响应和处理高级中断，后响应和处理低级中断。</a:t>
            </a:r>
          </a:p>
          <a:p>
            <a:pPr>
              <a:spcBef>
                <a:spcPct val="20000"/>
              </a:spcBef>
            </a:pPr>
            <a:r>
              <a:rPr lang="en-US" altLang="zh-CN" dirty="0">
                <a:solidFill>
                  <a:schemeClr val="tx1"/>
                </a:solidFill>
                <a:latin typeface="黑体" panose="02010609060101010101" pitchFamily="49" charset="-122"/>
                <a:ea typeface="黑体" panose="02010609060101010101" pitchFamily="49" charset="-122"/>
                <a:cs typeface="黑体" panose="02010609060101010101" pitchFamily="49" charset="-122"/>
                <a:sym typeface="+mn-ea"/>
              </a:rPr>
              <a:t>2</a:t>
            </a:r>
            <a:r>
              <a:rPr lang="zh-CN" altLang="en-US" dirty="0">
                <a:solidFill>
                  <a:schemeClr val="tx1"/>
                </a:solidFill>
                <a:latin typeface="黑体" panose="02010609060101010101" pitchFamily="49" charset="-122"/>
                <a:ea typeface="黑体" panose="02010609060101010101" pitchFamily="49" charset="-122"/>
                <a:cs typeface="黑体" panose="02010609060101010101" pitchFamily="49" charset="-122"/>
                <a:sym typeface="+mn-ea"/>
              </a:rPr>
              <a:t>）如果不同优先级的中断请求嵌套产生，即当一个中断请求正在处理过程中，又有一个新的中断请求产生（多重中断），那么应允许高级中断打断低级中断而被优先处理，禁止低级中断打断高级中断，也禁止打断同级中断。</a:t>
            </a:r>
            <a:endParaRPr lang="zh-CN" altLang="en-US" b="1" dirty="0">
              <a:solidFill>
                <a:schemeClr val="tx1"/>
              </a:solidFill>
              <a:latin typeface="黑体" panose="02010609060101010101" pitchFamily="49" charset="-122"/>
              <a:ea typeface="黑体" panose="02010609060101010101" pitchFamily="49" charset="-122"/>
              <a:cs typeface="黑体" panose="02010609060101010101" pitchFamily="49" charset="-122"/>
              <a:sym typeface="+mn-ea"/>
            </a:endParaRPr>
          </a:p>
        </p:txBody>
      </p:sp>
    </p:spTree>
  </p:cSld>
  <p:clrMapOvr>
    <a:masterClrMapping/>
  </p:clrMapOvr>
  <p:transition>
    <p:cover dir="l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 Box 3"/>
          <p:cNvSpPr txBox="1"/>
          <p:nvPr/>
        </p:nvSpPr>
        <p:spPr>
          <a:xfrm>
            <a:off x="365125" y="663575"/>
            <a:ext cx="5791200" cy="519113"/>
          </a:xfrm>
          <a:prstGeom prst="rect">
            <a:avLst/>
          </a:prstGeom>
          <a:noFill/>
          <a:ln w="12700">
            <a:noFill/>
          </a:ln>
        </p:spPr>
        <p:txBody>
          <a:bodyPr>
            <a:spAutoFit/>
          </a:bodyPr>
          <a:lstStyle/>
          <a:p>
            <a:pPr>
              <a:spcBef>
                <a:spcPct val="50000"/>
              </a:spcBef>
            </a:pPr>
            <a:r>
              <a:rPr lang="en-US" altLang="zh-CN" sz="2800" dirty="0">
                <a:solidFill>
                  <a:srgbClr val="FFFF00"/>
                </a:solidFill>
                <a:latin typeface="黑体" panose="02010609060101010101" pitchFamily="49" charset="-122"/>
                <a:ea typeface="黑体" panose="02010609060101010101" pitchFamily="49" charset="-122"/>
              </a:rPr>
              <a:t>1.</a:t>
            </a:r>
            <a:r>
              <a:rPr lang="zh-CN" altLang="en-US" sz="2800" dirty="0">
                <a:solidFill>
                  <a:srgbClr val="FFFF00"/>
                </a:solidFill>
                <a:latin typeface="黑体" panose="02010609060101010101" pitchFamily="49" charset="-122"/>
                <a:ea typeface="黑体" panose="02010609060101010101" pitchFamily="49" charset="-122"/>
              </a:rPr>
              <a:t>中断请求的提出与传递</a:t>
            </a:r>
          </a:p>
        </p:txBody>
      </p:sp>
      <p:sp>
        <p:nvSpPr>
          <p:cNvPr id="10247" name="Text Box 7"/>
          <p:cNvSpPr txBox="1"/>
          <p:nvPr/>
        </p:nvSpPr>
        <p:spPr>
          <a:xfrm>
            <a:off x="179388" y="1268413"/>
            <a:ext cx="5791200" cy="519112"/>
          </a:xfrm>
          <a:prstGeom prst="rect">
            <a:avLst/>
          </a:prstGeom>
          <a:noFill/>
          <a:ln w="12700">
            <a:noFill/>
          </a:ln>
        </p:spPr>
        <p:txBody>
          <a:bodyPr>
            <a:spAutoFit/>
          </a:bodyPr>
          <a:lstStyle/>
          <a:p>
            <a:pPr>
              <a:spcBef>
                <a:spcPct val="50000"/>
              </a:spcBef>
            </a:pP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1</a:t>
            </a:r>
            <a:r>
              <a:rPr lang="zh-CN" altLang="en-US" sz="2800" dirty="0">
                <a:latin typeface="黑体" panose="02010609060101010101" pitchFamily="49" charset="-122"/>
                <a:ea typeface="黑体" panose="02010609060101010101" pitchFamily="49" charset="-122"/>
              </a:rPr>
              <a:t>）能产生中断请求的前提条件？</a:t>
            </a:r>
          </a:p>
        </p:txBody>
      </p:sp>
      <p:sp>
        <p:nvSpPr>
          <p:cNvPr id="10248" name="Text Box 8"/>
          <p:cNvSpPr txBox="1"/>
          <p:nvPr/>
        </p:nvSpPr>
        <p:spPr>
          <a:xfrm>
            <a:off x="3948113" y="1858963"/>
            <a:ext cx="4662487" cy="488950"/>
          </a:xfrm>
          <a:prstGeom prst="rect">
            <a:avLst/>
          </a:prstGeom>
          <a:noFill/>
          <a:ln w="12700">
            <a:noFill/>
          </a:ln>
        </p:spPr>
        <p:txBody>
          <a:bodyPr>
            <a:spAutoFit/>
          </a:bodyPr>
          <a:lstStyle/>
          <a:p>
            <a:pPr>
              <a:spcBef>
                <a:spcPct val="50000"/>
              </a:spcBef>
            </a:pPr>
            <a:r>
              <a:rPr lang="zh-CN" altLang="en-US" sz="2600" dirty="0">
                <a:latin typeface="黑体" panose="02010609060101010101" pitchFamily="49" charset="-122"/>
                <a:ea typeface="黑体" panose="02010609060101010101" pitchFamily="49" charset="-122"/>
              </a:rPr>
              <a:t>例如</a:t>
            </a:r>
            <a:r>
              <a:rPr lang="zh-CN" altLang="en-US" sz="2600" dirty="0">
                <a:solidFill>
                  <a:schemeClr val="folHlink"/>
                </a:solidFill>
                <a:latin typeface="黑体" panose="02010609060101010101" pitchFamily="49" charset="-122"/>
                <a:ea typeface="黑体" panose="02010609060101010101" pitchFamily="49" charset="-122"/>
              </a:rPr>
              <a:t>准备就绪</a:t>
            </a:r>
            <a:r>
              <a:rPr lang="zh-CN" altLang="en-US" sz="2600" dirty="0">
                <a:latin typeface="黑体" panose="02010609060101010101" pitchFamily="49" charset="-122"/>
                <a:ea typeface="黑体" panose="02010609060101010101" pitchFamily="49" charset="-122"/>
              </a:rPr>
              <a:t>、</a:t>
            </a:r>
            <a:r>
              <a:rPr lang="zh-CN" altLang="en-US" sz="2600" dirty="0">
                <a:solidFill>
                  <a:schemeClr val="folHlink"/>
                </a:solidFill>
                <a:latin typeface="黑体" panose="02010609060101010101" pitchFamily="49" charset="-122"/>
                <a:ea typeface="黑体" panose="02010609060101010101" pitchFamily="49" charset="-122"/>
              </a:rPr>
              <a:t>任务完成</a:t>
            </a:r>
            <a:r>
              <a:rPr lang="zh-CN" altLang="en-US" sz="2600" dirty="0">
                <a:latin typeface="黑体" panose="02010609060101010101" pitchFamily="49" charset="-122"/>
                <a:ea typeface="黑体" panose="02010609060101010101" pitchFamily="49" charset="-122"/>
              </a:rPr>
              <a:t>等；</a:t>
            </a:r>
          </a:p>
        </p:txBody>
      </p:sp>
      <p:sp>
        <p:nvSpPr>
          <p:cNvPr id="10252" name="Text Box 12"/>
          <p:cNvSpPr txBox="1"/>
          <p:nvPr/>
        </p:nvSpPr>
        <p:spPr>
          <a:xfrm>
            <a:off x="636588" y="1844675"/>
            <a:ext cx="3657600" cy="488950"/>
          </a:xfrm>
          <a:prstGeom prst="rect">
            <a:avLst/>
          </a:prstGeom>
          <a:noFill/>
          <a:ln w="12700">
            <a:noFill/>
          </a:ln>
        </p:spPr>
        <p:txBody>
          <a:bodyPr>
            <a:spAutoFit/>
          </a:bodyPr>
          <a:lstStyle/>
          <a:p>
            <a:pPr>
              <a:spcBef>
                <a:spcPct val="50000"/>
              </a:spcBef>
            </a:pPr>
            <a:r>
              <a:rPr lang="zh-CN" altLang="en-US" sz="2600" dirty="0">
                <a:latin typeface="黑体" panose="02010609060101010101" pitchFamily="49" charset="-122"/>
                <a:ea typeface="黑体" panose="02010609060101010101" pitchFamily="49" charset="-122"/>
              </a:rPr>
              <a:t>外设有中断请求需要：</a:t>
            </a:r>
          </a:p>
        </p:txBody>
      </p:sp>
      <p:sp>
        <p:nvSpPr>
          <p:cNvPr id="10266" name="Text Box 26"/>
          <p:cNvSpPr txBox="1"/>
          <p:nvPr/>
        </p:nvSpPr>
        <p:spPr>
          <a:xfrm>
            <a:off x="339725" y="57150"/>
            <a:ext cx="8270875" cy="584200"/>
          </a:xfrm>
          <a:prstGeom prst="rect">
            <a:avLst/>
          </a:prstGeom>
          <a:noFill/>
          <a:ln w="12700">
            <a:noFill/>
          </a:ln>
        </p:spPr>
        <p:txBody>
          <a:bodyPr>
            <a:spAutoFit/>
          </a:bodyPr>
          <a:lstStyle/>
          <a:p>
            <a:pPr>
              <a:spcBef>
                <a:spcPct val="50000"/>
              </a:spcBef>
            </a:pPr>
            <a:r>
              <a:rPr lang="en-US" altLang="zh-CN" sz="3200" dirty="0">
                <a:solidFill>
                  <a:schemeClr val="folHlink"/>
                </a:solidFill>
                <a:latin typeface="黑体" panose="02010609060101010101" pitchFamily="49" charset="-122"/>
                <a:ea typeface="黑体" panose="02010609060101010101" pitchFamily="49" charset="-122"/>
              </a:rPr>
              <a:t>5.4.2 </a:t>
            </a:r>
            <a:r>
              <a:rPr lang="zh-CN" altLang="en-US" sz="3200" dirty="0">
                <a:solidFill>
                  <a:schemeClr val="folHlink"/>
                </a:solidFill>
                <a:latin typeface="黑体" panose="02010609060101010101" pitchFamily="49" charset="-122"/>
                <a:ea typeface="黑体" panose="02010609060101010101" pitchFamily="49" charset="-122"/>
              </a:rPr>
              <a:t>中断请求与优先级（</a:t>
            </a:r>
            <a:r>
              <a:rPr lang="zh-CN" altLang="en-US" sz="3200" dirty="0">
                <a:solidFill>
                  <a:srgbClr val="00FF00"/>
                </a:solidFill>
                <a:latin typeface="黑体" panose="02010609060101010101" pitchFamily="49" charset="-122"/>
                <a:ea typeface="黑体" panose="02010609060101010101" pitchFamily="49" charset="-122"/>
              </a:rPr>
              <a:t>外中断</a:t>
            </a:r>
            <a:r>
              <a:rPr lang="zh-CN" altLang="en-US" sz="3200" dirty="0">
                <a:solidFill>
                  <a:schemeClr val="folHlink"/>
                </a:solidFill>
                <a:latin typeface="黑体" panose="02010609060101010101" pitchFamily="49" charset="-122"/>
                <a:ea typeface="黑体" panose="02010609060101010101" pitchFamily="49" charset="-122"/>
              </a:rPr>
              <a:t>）</a:t>
            </a:r>
          </a:p>
        </p:txBody>
      </p:sp>
      <p:sp>
        <p:nvSpPr>
          <p:cNvPr id="10267" name="Text Box 27"/>
          <p:cNvSpPr txBox="1"/>
          <p:nvPr/>
        </p:nvSpPr>
        <p:spPr>
          <a:xfrm>
            <a:off x="636588" y="2449513"/>
            <a:ext cx="3657600" cy="488950"/>
          </a:xfrm>
          <a:prstGeom prst="rect">
            <a:avLst/>
          </a:prstGeom>
          <a:noFill/>
          <a:ln w="12700">
            <a:noFill/>
          </a:ln>
        </p:spPr>
        <p:txBody>
          <a:bodyPr>
            <a:spAutoFit/>
          </a:bodyPr>
          <a:lstStyle/>
          <a:p>
            <a:pPr>
              <a:spcBef>
                <a:spcPct val="50000"/>
              </a:spcBef>
            </a:pPr>
            <a:r>
              <a:rPr lang="zh-CN" altLang="en-US" sz="2600" dirty="0">
                <a:latin typeface="黑体" panose="02010609060101010101" pitchFamily="49" charset="-122"/>
                <a:ea typeface="黑体" panose="02010609060101010101" pitchFamily="49" charset="-122"/>
              </a:rPr>
              <a:t>该中断请求未被屏蔽：</a:t>
            </a:r>
          </a:p>
        </p:txBody>
      </p:sp>
      <p:sp>
        <p:nvSpPr>
          <p:cNvPr id="10268" name="AutoShape 28"/>
          <p:cNvSpPr/>
          <p:nvPr/>
        </p:nvSpPr>
        <p:spPr>
          <a:xfrm>
            <a:off x="468313" y="2032000"/>
            <a:ext cx="163512" cy="754063"/>
          </a:xfrm>
          <a:prstGeom prst="leftBrace">
            <a:avLst>
              <a:gd name="adj1" fmla="val 38430"/>
              <a:gd name="adj2" fmla="val 50000"/>
            </a:avLst>
          </a:prstGeom>
          <a:noFill/>
          <a:ln w="38100" cap="flat" cmpd="sng">
            <a:solidFill>
              <a:schemeClr val="tx1"/>
            </a:solidFill>
            <a:prstDash val="solid"/>
            <a:headEnd type="none" w="med" len="med"/>
            <a:tailEnd type="none" w="med" len="med"/>
          </a:ln>
        </p:spPr>
        <p:txBody>
          <a:bodyPr wrap="none" anchor="ctr" anchorCtr="0"/>
          <a:lstStyle/>
          <a:p>
            <a:pPr eaLnBrk="0" hangingPunct="0"/>
            <a:endParaRPr lang="zh-CN" altLang="en-US" dirty="0">
              <a:latin typeface="Times New Roman" panose="02020603050405020304" pitchFamily="18" charset="0"/>
            </a:endParaRPr>
          </a:p>
        </p:txBody>
      </p:sp>
      <p:sp>
        <p:nvSpPr>
          <p:cNvPr id="10269" name="Text Box 29"/>
          <p:cNvSpPr txBox="1"/>
          <p:nvPr/>
        </p:nvSpPr>
        <p:spPr>
          <a:xfrm>
            <a:off x="3948113" y="2449513"/>
            <a:ext cx="4302125" cy="488950"/>
          </a:xfrm>
          <a:prstGeom prst="rect">
            <a:avLst/>
          </a:prstGeom>
          <a:noFill/>
          <a:ln w="12700">
            <a:noFill/>
          </a:ln>
        </p:spPr>
        <p:txBody>
          <a:bodyPr>
            <a:spAutoFit/>
          </a:bodyPr>
          <a:lstStyle/>
          <a:p>
            <a:pPr>
              <a:spcBef>
                <a:spcPct val="50000"/>
              </a:spcBef>
            </a:pPr>
            <a:r>
              <a:rPr lang="zh-CN" altLang="en-US" sz="2600" dirty="0">
                <a:latin typeface="黑体" panose="02010609060101010101" pitchFamily="49" charset="-122"/>
                <a:ea typeface="黑体" panose="02010609060101010101" pitchFamily="49" charset="-122"/>
              </a:rPr>
              <a:t>例如</a:t>
            </a:r>
            <a:r>
              <a:rPr lang="zh-CN" altLang="en-US" sz="2600" dirty="0">
                <a:solidFill>
                  <a:schemeClr val="folHlink"/>
                </a:solidFill>
                <a:latin typeface="黑体" panose="02010609060101010101" pitchFamily="49" charset="-122"/>
                <a:ea typeface="黑体" panose="02010609060101010101" pitchFamily="49" charset="-122"/>
              </a:rPr>
              <a:t>屏蔽</a:t>
            </a:r>
            <a:r>
              <a:rPr lang="zh-CN" altLang="en-US" sz="2600" dirty="0">
                <a:latin typeface="黑体" panose="02010609060101010101" pitchFamily="49" charset="-122"/>
                <a:ea typeface="黑体" panose="02010609060101010101" pitchFamily="49" charset="-122"/>
              </a:rPr>
              <a:t>标志为</a:t>
            </a:r>
            <a:r>
              <a:rPr lang="en-US" altLang="zh-CN" sz="2600" dirty="0">
                <a:latin typeface="黑体" panose="02010609060101010101" pitchFamily="49" charset="-122"/>
                <a:ea typeface="黑体" panose="02010609060101010101" pitchFamily="49" charset="-122"/>
              </a:rPr>
              <a:t>0</a:t>
            </a:r>
          </a:p>
        </p:txBody>
      </p:sp>
      <p:sp>
        <p:nvSpPr>
          <p:cNvPr id="10272" name="Text Box 32"/>
          <p:cNvSpPr txBox="1"/>
          <p:nvPr/>
        </p:nvSpPr>
        <p:spPr>
          <a:xfrm>
            <a:off x="323850" y="6090920"/>
            <a:ext cx="3457575" cy="488950"/>
          </a:xfrm>
          <a:prstGeom prst="rect">
            <a:avLst/>
          </a:prstGeom>
          <a:noFill/>
          <a:ln w="12700">
            <a:noFill/>
          </a:ln>
        </p:spPr>
        <p:txBody>
          <a:bodyPr>
            <a:spAutoFit/>
          </a:bodyPr>
          <a:lstStyle/>
          <a:p>
            <a:pPr>
              <a:spcBef>
                <a:spcPct val="50000"/>
              </a:spcBef>
            </a:pPr>
            <a:r>
              <a:rPr lang="zh-CN" altLang="en-US" sz="2600" dirty="0">
                <a:latin typeface="黑体" panose="02010609060101010101" pitchFamily="49" charset="-122"/>
                <a:ea typeface="黑体" panose="02010609060101010101" pitchFamily="49" charset="-122"/>
              </a:rPr>
              <a:t>先</a:t>
            </a:r>
            <a:r>
              <a:rPr lang="zh-CN" altLang="en-US" sz="2600" dirty="0">
                <a:latin typeface="Times New Roman" panose="02020603050405020304" pitchFamily="18" charset="0"/>
                <a:ea typeface="黑体" panose="02010609060101010101" pitchFamily="49" charset="-122"/>
              </a:rPr>
              <a:t>“</a:t>
            </a:r>
            <a:r>
              <a:rPr lang="zh-CN" altLang="en-US" sz="2600" dirty="0">
                <a:latin typeface="黑体" panose="02010609060101010101" pitchFamily="49" charset="-122"/>
                <a:ea typeface="黑体" panose="02010609060101010101" pitchFamily="49" charset="-122"/>
              </a:rPr>
              <a:t>屏蔽</a:t>
            </a:r>
            <a:r>
              <a:rPr lang="zh-CN" altLang="en-US" sz="2600" dirty="0">
                <a:latin typeface="Times New Roman" panose="02020603050405020304" pitchFamily="18" charset="0"/>
                <a:ea typeface="黑体" panose="02010609060101010101" pitchFamily="49" charset="-122"/>
              </a:rPr>
              <a:t>”</a:t>
            </a:r>
            <a:r>
              <a:rPr lang="zh-CN" altLang="en-US" sz="2600" dirty="0">
                <a:latin typeface="黑体" panose="02010609060101010101" pitchFamily="49" charset="-122"/>
                <a:ea typeface="黑体" panose="02010609060101010101" pitchFamily="49" charset="-122"/>
              </a:rPr>
              <a:t>，后请求</a:t>
            </a:r>
          </a:p>
        </p:txBody>
      </p:sp>
      <p:sp>
        <p:nvSpPr>
          <p:cNvPr id="10273" name="Text Box 33"/>
          <p:cNvSpPr txBox="1"/>
          <p:nvPr/>
        </p:nvSpPr>
        <p:spPr>
          <a:xfrm>
            <a:off x="4429125" y="6090920"/>
            <a:ext cx="3333750" cy="488950"/>
          </a:xfrm>
          <a:prstGeom prst="rect">
            <a:avLst/>
          </a:prstGeom>
          <a:noFill/>
          <a:ln w="12700">
            <a:noFill/>
          </a:ln>
        </p:spPr>
        <p:txBody>
          <a:bodyPr>
            <a:spAutoFit/>
          </a:bodyPr>
          <a:lstStyle/>
          <a:p>
            <a:pPr algn="ctr">
              <a:spcBef>
                <a:spcPct val="50000"/>
              </a:spcBef>
            </a:pPr>
            <a:r>
              <a:rPr lang="zh-CN" altLang="en-US" sz="2600" dirty="0">
                <a:latin typeface="黑体" panose="02010609060101010101" pitchFamily="49" charset="-122"/>
                <a:ea typeface="黑体" panose="02010609060101010101" pitchFamily="49" charset="-122"/>
              </a:rPr>
              <a:t>先请求，后</a:t>
            </a:r>
            <a:r>
              <a:rPr lang="zh-CN" altLang="en-US" sz="2600" dirty="0">
                <a:latin typeface="Times New Roman" panose="02020603050405020304" pitchFamily="18" charset="0"/>
                <a:ea typeface="黑体" panose="02010609060101010101" pitchFamily="49" charset="-122"/>
              </a:rPr>
              <a:t>“</a:t>
            </a:r>
            <a:r>
              <a:rPr lang="zh-CN" altLang="en-US" sz="2600" dirty="0">
                <a:latin typeface="黑体" panose="02010609060101010101" pitchFamily="49" charset="-122"/>
                <a:ea typeface="黑体" panose="02010609060101010101" pitchFamily="49" charset="-122"/>
              </a:rPr>
              <a:t>屏蔽</a:t>
            </a:r>
            <a:r>
              <a:rPr lang="zh-CN" altLang="en-US" sz="2600" dirty="0">
                <a:latin typeface="Times New Roman" panose="02020603050405020304" pitchFamily="18" charset="0"/>
                <a:ea typeface="黑体" panose="02010609060101010101" pitchFamily="49" charset="-122"/>
              </a:rPr>
              <a:t>”</a:t>
            </a:r>
            <a:endParaRPr lang="zh-CN" altLang="en-US" sz="2600" dirty="0">
              <a:latin typeface="黑体" panose="02010609060101010101" pitchFamily="49" charset="-122"/>
              <a:ea typeface="黑体" panose="02010609060101010101" pitchFamily="49" charset="-122"/>
            </a:endParaRPr>
          </a:p>
        </p:txBody>
      </p:sp>
      <p:grpSp>
        <p:nvGrpSpPr>
          <p:cNvPr id="2" name="Group 111"/>
          <p:cNvGrpSpPr/>
          <p:nvPr/>
        </p:nvGrpSpPr>
        <p:grpSpPr>
          <a:xfrm>
            <a:off x="109538" y="3569970"/>
            <a:ext cx="3052762" cy="2530475"/>
            <a:chOff x="295" y="2251"/>
            <a:chExt cx="1923" cy="1594"/>
          </a:xfrm>
        </p:grpSpPr>
        <p:sp>
          <p:nvSpPr>
            <p:cNvPr id="12317" name="Text Box 15"/>
            <p:cNvSpPr txBox="1"/>
            <p:nvPr/>
          </p:nvSpPr>
          <p:spPr>
            <a:xfrm>
              <a:off x="295" y="3557"/>
              <a:ext cx="680" cy="288"/>
            </a:xfrm>
            <a:prstGeom prst="rect">
              <a:avLst/>
            </a:prstGeom>
            <a:noFill/>
            <a:ln w="12700">
              <a:noFill/>
            </a:ln>
          </p:spPr>
          <p:txBody>
            <a:bodyPr>
              <a:spAutoFit/>
            </a:bodyPr>
            <a:lstStyle/>
            <a:p>
              <a:pPr>
                <a:spcBef>
                  <a:spcPct val="50000"/>
                </a:spcBef>
              </a:pPr>
              <a:r>
                <a:rPr lang="zh-CN" altLang="en-US" dirty="0">
                  <a:solidFill>
                    <a:schemeClr val="folHlink"/>
                  </a:solidFill>
                  <a:latin typeface="黑体" panose="02010609060101010101" pitchFamily="49" charset="-122"/>
                  <a:ea typeface="黑体" panose="02010609060101010101" pitchFamily="49" charset="-122"/>
                </a:rPr>
                <a:t>请求</a:t>
              </a:r>
            </a:p>
          </p:txBody>
        </p:sp>
        <p:sp>
          <p:nvSpPr>
            <p:cNvPr id="12318" name="Text Box 41"/>
            <p:cNvSpPr txBox="1"/>
            <p:nvPr/>
          </p:nvSpPr>
          <p:spPr>
            <a:xfrm>
              <a:off x="699" y="2801"/>
              <a:ext cx="1485" cy="312"/>
            </a:xfrm>
            <a:prstGeom prst="rect">
              <a:avLst/>
            </a:prstGeom>
            <a:solidFill>
              <a:srgbClr val="0000FF"/>
            </a:solidFill>
            <a:ln w="38100" cap="flat" cmpd="sng">
              <a:solidFill>
                <a:srgbClr val="FF9966"/>
              </a:solidFill>
              <a:prstDash val="solid"/>
              <a:miter/>
              <a:headEnd type="none" w="med" len="med"/>
              <a:tailEnd type="none" w="med" len="med"/>
            </a:ln>
          </p:spPr>
          <p:txBody>
            <a:bodyPr>
              <a:spAutoFit/>
            </a:bodyPr>
            <a:lstStyle/>
            <a:p>
              <a:pPr algn="ctr">
                <a:spcBef>
                  <a:spcPct val="50000"/>
                </a:spcBef>
              </a:pP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请求触发器</a:t>
              </a:r>
            </a:p>
          </p:txBody>
        </p:sp>
        <p:grpSp>
          <p:nvGrpSpPr>
            <p:cNvPr id="12319" name="Group 46"/>
            <p:cNvGrpSpPr/>
            <p:nvPr/>
          </p:nvGrpSpPr>
          <p:grpSpPr>
            <a:xfrm>
              <a:off x="754" y="3320"/>
              <a:ext cx="440" cy="414"/>
              <a:chOff x="3984" y="768"/>
              <a:chExt cx="384" cy="288"/>
            </a:xfrm>
          </p:grpSpPr>
          <p:sp>
            <p:nvSpPr>
              <p:cNvPr id="12327" name="Rectangle 42"/>
              <p:cNvSpPr/>
              <p:nvPr/>
            </p:nvSpPr>
            <p:spPr>
              <a:xfrm>
                <a:off x="3984" y="768"/>
                <a:ext cx="384" cy="144"/>
              </a:xfrm>
              <a:prstGeom prst="rect">
                <a:avLst/>
              </a:prstGeom>
              <a:solidFill>
                <a:schemeClr val="accent2"/>
              </a:solidFill>
              <a:ln w="38100" cap="flat" cmpd="sng">
                <a:solidFill>
                  <a:schemeClr val="tx1"/>
                </a:solidFill>
                <a:prstDash val="solid"/>
                <a:miter/>
                <a:headEnd type="none" w="med" len="med"/>
                <a:tailEnd type="none" w="med" len="med"/>
              </a:ln>
            </p:spPr>
            <p:txBody>
              <a:bodyPr wrap="none" anchor="ctr" anchorCtr="0"/>
              <a:lstStyle/>
              <a:p>
                <a:pPr eaLnBrk="0" hangingPunct="0"/>
                <a:endParaRPr lang="zh-CN" altLang="en-US" dirty="0">
                  <a:latin typeface="Times New Roman" panose="02020603050405020304" pitchFamily="18" charset="0"/>
                </a:endParaRPr>
              </a:p>
            </p:txBody>
          </p:sp>
          <p:sp>
            <p:nvSpPr>
              <p:cNvPr id="12328" name="Line 43"/>
              <p:cNvSpPr/>
              <p:nvPr/>
            </p:nvSpPr>
            <p:spPr>
              <a:xfrm>
                <a:off x="4080" y="912"/>
                <a:ext cx="0" cy="144"/>
              </a:xfrm>
              <a:prstGeom prst="line">
                <a:avLst/>
              </a:prstGeom>
              <a:ln w="38100" cap="flat" cmpd="sng">
                <a:solidFill>
                  <a:schemeClr val="tx1"/>
                </a:solidFill>
                <a:prstDash val="solid"/>
                <a:headEnd type="none" w="med" len="med"/>
                <a:tailEnd type="none" w="med" len="med"/>
              </a:ln>
            </p:spPr>
          </p:sp>
          <p:sp>
            <p:nvSpPr>
              <p:cNvPr id="12329" name="Line 44"/>
              <p:cNvSpPr/>
              <p:nvPr/>
            </p:nvSpPr>
            <p:spPr>
              <a:xfrm>
                <a:off x="4272" y="912"/>
                <a:ext cx="0" cy="144"/>
              </a:xfrm>
              <a:prstGeom prst="line">
                <a:avLst/>
              </a:prstGeom>
              <a:ln w="38100" cap="flat" cmpd="sng">
                <a:solidFill>
                  <a:schemeClr val="tx1"/>
                </a:solidFill>
                <a:prstDash val="solid"/>
                <a:headEnd type="none" w="med" len="med"/>
                <a:tailEnd type="none" w="med" len="med"/>
              </a:ln>
            </p:spPr>
          </p:sp>
        </p:grpSp>
        <p:sp>
          <p:nvSpPr>
            <p:cNvPr id="12320" name="Line 45"/>
            <p:cNvSpPr/>
            <p:nvPr/>
          </p:nvSpPr>
          <p:spPr>
            <a:xfrm>
              <a:off x="974" y="3113"/>
              <a:ext cx="0" cy="207"/>
            </a:xfrm>
            <a:prstGeom prst="line">
              <a:avLst/>
            </a:prstGeom>
            <a:ln w="38100" cap="flat" cmpd="sng">
              <a:solidFill>
                <a:schemeClr val="tx1"/>
              </a:solidFill>
              <a:prstDash val="solid"/>
              <a:headEnd type="triangle" w="med" len="med"/>
              <a:tailEnd type="none" w="med" len="med"/>
            </a:ln>
          </p:spPr>
        </p:sp>
        <p:sp>
          <p:nvSpPr>
            <p:cNvPr id="12321" name="Line 47"/>
            <p:cNvSpPr/>
            <p:nvPr/>
          </p:nvSpPr>
          <p:spPr>
            <a:xfrm>
              <a:off x="1909" y="3122"/>
              <a:ext cx="0" cy="414"/>
            </a:xfrm>
            <a:prstGeom prst="line">
              <a:avLst/>
            </a:prstGeom>
            <a:ln w="38100" cap="flat" cmpd="sng">
              <a:solidFill>
                <a:schemeClr val="tx1"/>
              </a:solidFill>
              <a:prstDash val="solid"/>
              <a:headEnd type="triangle" w="med" len="med"/>
              <a:tailEnd type="none" w="med" len="med"/>
            </a:ln>
          </p:spPr>
        </p:sp>
        <p:sp>
          <p:nvSpPr>
            <p:cNvPr id="12322" name="Line 48"/>
            <p:cNvSpPr/>
            <p:nvPr/>
          </p:nvSpPr>
          <p:spPr>
            <a:xfrm>
              <a:off x="1414" y="2523"/>
              <a:ext cx="0" cy="278"/>
            </a:xfrm>
            <a:prstGeom prst="line">
              <a:avLst/>
            </a:prstGeom>
            <a:ln w="38100" cap="flat" cmpd="sng">
              <a:solidFill>
                <a:schemeClr val="accent1"/>
              </a:solidFill>
              <a:prstDash val="solid"/>
              <a:headEnd type="triangle" w="med" len="med"/>
              <a:tailEnd type="none" w="med" len="med"/>
            </a:ln>
          </p:spPr>
        </p:sp>
        <p:sp>
          <p:nvSpPr>
            <p:cNvPr id="12323" name="Text Box 50"/>
            <p:cNvSpPr txBox="1"/>
            <p:nvPr/>
          </p:nvSpPr>
          <p:spPr>
            <a:xfrm>
              <a:off x="1139" y="3551"/>
              <a:ext cx="607" cy="288"/>
            </a:xfrm>
            <a:prstGeom prst="rect">
              <a:avLst/>
            </a:prstGeom>
            <a:noFill/>
            <a:ln w="12700">
              <a:noFill/>
            </a:ln>
          </p:spPr>
          <p:txBody>
            <a:bodyPr>
              <a:spAutoFit/>
            </a:bodyPr>
            <a:lstStyle/>
            <a:p>
              <a:pPr>
                <a:spcBef>
                  <a:spcPct val="50000"/>
                </a:spcBef>
              </a:pPr>
              <a:r>
                <a:rPr lang="zh-CN" altLang="en-US" dirty="0">
                  <a:solidFill>
                    <a:schemeClr val="accent1"/>
                  </a:solidFill>
                  <a:latin typeface="黑体" panose="02010609060101010101" pitchFamily="49" charset="-122"/>
                  <a:ea typeface="黑体" panose="02010609060101010101" pitchFamily="49" charset="-122"/>
                </a:rPr>
                <a:t>屏蔽</a:t>
              </a:r>
            </a:p>
          </p:txBody>
        </p:sp>
        <p:sp>
          <p:nvSpPr>
            <p:cNvPr id="12324" name="Line 51"/>
            <p:cNvSpPr/>
            <p:nvPr/>
          </p:nvSpPr>
          <p:spPr>
            <a:xfrm>
              <a:off x="1231" y="3557"/>
              <a:ext cx="330" cy="0"/>
            </a:xfrm>
            <a:prstGeom prst="line">
              <a:avLst/>
            </a:prstGeom>
            <a:ln w="38100" cap="flat" cmpd="sng">
              <a:solidFill>
                <a:schemeClr val="accent1"/>
              </a:solidFill>
              <a:prstDash val="solid"/>
              <a:headEnd type="none" w="med" len="med"/>
              <a:tailEnd type="none" w="med" len="med"/>
            </a:ln>
          </p:spPr>
        </p:sp>
        <p:sp>
          <p:nvSpPr>
            <p:cNvPr id="12325" name="Text Box 53"/>
            <p:cNvSpPr txBox="1"/>
            <p:nvPr/>
          </p:nvSpPr>
          <p:spPr>
            <a:xfrm>
              <a:off x="1701" y="3550"/>
              <a:ext cx="517" cy="288"/>
            </a:xfrm>
            <a:prstGeom prst="rect">
              <a:avLst/>
            </a:prstGeom>
            <a:noFill/>
            <a:ln w="12700">
              <a:noFill/>
            </a:ln>
          </p:spPr>
          <p:txBody>
            <a:bodyPr>
              <a:spAutoFit/>
            </a:bodyPr>
            <a:lstStyle/>
            <a:p>
              <a:pPr>
                <a:spcBef>
                  <a:spcPct val="50000"/>
                </a:spcBef>
              </a:pPr>
              <a:r>
                <a:rPr lang="zh-CN" altLang="en-US" dirty="0">
                  <a:solidFill>
                    <a:schemeClr val="folHlink"/>
                  </a:solidFill>
                  <a:latin typeface="黑体" panose="02010609060101010101" pitchFamily="49" charset="-122"/>
                  <a:ea typeface="黑体" panose="02010609060101010101" pitchFamily="49" charset="-122"/>
                </a:rPr>
                <a:t>脉冲</a:t>
              </a:r>
            </a:p>
          </p:txBody>
        </p:sp>
        <p:sp>
          <p:nvSpPr>
            <p:cNvPr id="12326" name="Text Box 54"/>
            <p:cNvSpPr txBox="1"/>
            <p:nvPr/>
          </p:nvSpPr>
          <p:spPr>
            <a:xfrm>
              <a:off x="808" y="2251"/>
              <a:ext cx="1210" cy="288"/>
            </a:xfrm>
            <a:prstGeom prst="rect">
              <a:avLst/>
            </a:prstGeom>
            <a:noFill/>
            <a:ln w="12700">
              <a:noFill/>
            </a:ln>
          </p:spPr>
          <p:txBody>
            <a:bodyPr>
              <a:spAutoFit/>
            </a:bodyPr>
            <a:lstStyle/>
            <a:p>
              <a:pPr algn="ctr">
                <a:spcBef>
                  <a:spcPct val="50000"/>
                </a:spcBef>
              </a:pPr>
              <a:r>
                <a:rPr lang="zh-CN" altLang="en-US" dirty="0">
                  <a:solidFill>
                    <a:schemeClr val="folHlink"/>
                  </a:solidFill>
                  <a:latin typeface="黑体" panose="02010609060101010101" pitchFamily="49" charset="-122"/>
                  <a:ea typeface="黑体" panose="02010609060101010101" pitchFamily="49" charset="-122"/>
                </a:rPr>
                <a:t>有效请求</a:t>
              </a:r>
            </a:p>
          </p:txBody>
        </p:sp>
      </p:grpSp>
      <p:grpSp>
        <p:nvGrpSpPr>
          <p:cNvPr id="4" name="Group 114"/>
          <p:cNvGrpSpPr/>
          <p:nvPr/>
        </p:nvGrpSpPr>
        <p:grpSpPr>
          <a:xfrm>
            <a:off x="4284663" y="3584258"/>
            <a:ext cx="3197225" cy="2557462"/>
            <a:chOff x="3107" y="2069"/>
            <a:chExt cx="2014" cy="1611"/>
          </a:xfrm>
        </p:grpSpPr>
        <p:sp>
          <p:nvSpPr>
            <p:cNvPr id="12302" name="Text Box 59"/>
            <p:cNvSpPr txBox="1"/>
            <p:nvPr/>
          </p:nvSpPr>
          <p:spPr>
            <a:xfrm>
              <a:off x="3107" y="3376"/>
              <a:ext cx="635" cy="288"/>
            </a:xfrm>
            <a:prstGeom prst="rect">
              <a:avLst/>
            </a:prstGeom>
            <a:noFill/>
            <a:ln w="12700">
              <a:noFill/>
            </a:ln>
          </p:spPr>
          <p:txBody>
            <a:bodyPr>
              <a:spAutoFit/>
            </a:bodyPr>
            <a:lstStyle/>
            <a:p>
              <a:pPr>
                <a:spcBef>
                  <a:spcPct val="50000"/>
                </a:spcBef>
              </a:pPr>
              <a:r>
                <a:rPr lang="zh-CN" altLang="en-US" dirty="0">
                  <a:solidFill>
                    <a:schemeClr val="folHlink"/>
                  </a:solidFill>
                  <a:latin typeface="黑体" panose="02010609060101010101" pitchFamily="49" charset="-122"/>
                  <a:ea typeface="黑体" panose="02010609060101010101" pitchFamily="49" charset="-122"/>
                </a:rPr>
                <a:t>请求</a:t>
              </a:r>
            </a:p>
          </p:txBody>
        </p:sp>
        <p:sp>
          <p:nvSpPr>
            <p:cNvPr id="12303" name="Text Box 60"/>
            <p:cNvSpPr txBox="1"/>
            <p:nvPr/>
          </p:nvSpPr>
          <p:spPr>
            <a:xfrm>
              <a:off x="3343" y="3064"/>
              <a:ext cx="1469" cy="312"/>
            </a:xfrm>
            <a:prstGeom prst="rect">
              <a:avLst/>
            </a:prstGeom>
            <a:solidFill>
              <a:schemeClr val="bg1"/>
            </a:solidFill>
            <a:ln w="38100" cap="flat" cmpd="sng">
              <a:solidFill>
                <a:srgbClr val="FF9966"/>
              </a:solidFill>
              <a:prstDash val="solid"/>
              <a:miter/>
              <a:headEnd type="none" w="med" len="med"/>
              <a:tailEnd type="none" w="med" len="med"/>
            </a:ln>
          </p:spPr>
          <p:txBody>
            <a:bodyPr>
              <a:spAutoFit/>
            </a:bodyPr>
            <a:lstStyle/>
            <a:p>
              <a:pPr algn="ctr">
                <a:spcBef>
                  <a:spcPct val="50000"/>
                </a:spcBef>
              </a:pPr>
              <a:r>
                <a:rPr lang="en-US" altLang="zh-CN" dirty="0">
                  <a:latin typeface="Times New Roman" panose="02020603050405020304" pitchFamily="18" charset="0"/>
                  <a:ea typeface="幼圆" panose="02010509060101010101" pitchFamily="49" charset="-122"/>
                </a:rPr>
                <a:t> </a:t>
              </a:r>
              <a:r>
                <a:rPr lang="zh-CN" altLang="en-US" dirty="0">
                  <a:latin typeface="Times New Roman" panose="02020603050405020304" pitchFamily="18" charset="0"/>
                  <a:ea typeface="黑体" panose="02010609060101010101" pitchFamily="49" charset="-122"/>
                </a:rPr>
                <a:t>请求触发器</a:t>
              </a:r>
            </a:p>
          </p:txBody>
        </p:sp>
        <p:sp>
          <p:nvSpPr>
            <p:cNvPr id="12304" name="Rectangle 62"/>
            <p:cNvSpPr/>
            <p:nvPr/>
          </p:nvSpPr>
          <p:spPr>
            <a:xfrm>
              <a:off x="3887" y="2612"/>
              <a:ext cx="435" cy="194"/>
            </a:xfrm>
            <a:prstGeom prst="rect">
              <a:avLst/>
            </a:prstGeom>
            <a:solidFill>
              <a:schemeClr val="accent2"/>
            </a:solidFill>
            <a:ln w="38100" cap="flat" cmpd="sng">
              <a:solidFill>
                <a:schemeClr val="tx1"/>
              </a:solidFill>
              <a:prstDash val="solid"/>
              <a:miter/>
              <a:headEnd type="none" w="med" len="med"/>
              <a:tailEnd type="none" w="med" len="med"/>
            </a:ln>
          </p:spPr>
          <p:txBody>
            <a:bodyPr wrap="none" anchor="ctr" anchorCtr="0"/>
            <a:lstStyle/>
            <a:p>
              <a:pPr eaLnBrk="0" hangingPunct="0"/>
              <a:endParaRPr lang="zh-CN" altLang="en-US" dirty="0">
                <a:latin typeface="Times New Roman" panose="02020603050405020304" pitchFamily="18" charset="0"/>
              </a:endParaRPr>
            </a:p>
          </p:txBody>
        </p:sp>
        <p:sp>
          <p:nvSpPr>
            <p:cNvPr id="12305" name="Line 63"/>
            <p:cNvSpPr/>
            <p:nvPr/>
          </p:nvSpPr>
          <p:spPr>
            <a:xfrm>
              <a:off x="3996" y="2806"/>
              <a:ext cx="0" cy="258"/>
            </a:xfrm>
            <a:prstGeom prst="line">
              <a:avLst/>
            </a:prstGeom>
            <a:ln w="38100" cap="flat" cmpd="sng">
              <a:solidFill>
                <a:schemeClr val="tx1"/>
              </a:solidFill>
              <a:prstDash val="solid"/>
              <a:headEnd type="none" w="med" len="med"/>
              <a:tailEnd type="none" w="med" len="med"/>
            </a:ln>
          </p:spPr>
        </p:sp>
        <p:sp>
          <p:nvSpPr>
            <p:cNvPr id="12306" name="Line 64"/>
            <p:cNvSpPr/>
            <p:nvPr/>
          </p:nvSpPr>
          <p:spPr>
            <a:xfrm>
              <a:off x="4213" y="2806"/>
              <a:ext cx="0" cy="129"/>
            </a:xfrm>
            <a:prstGeom prst="line">
              <a:avLst/>
            </a:prstGeom>
            <a:ln w="38100" cap="flat" cmpd="sng">
              <a:solidFill>
                <a:schemeClr val="tx1"/>
              </a:solidFill>
              <a:prstDash val="solid"/>
              <a:headEnd type="none" w="med" len="med"/>
              <a:tailEnd type="none" w="med" len="med"/>
            </a:ln>
          </p:spPr>
        </p:sp>
        <p:sp>
          <p:nvSpPr>
            <p:cNvPr id="12307" name="Line 65"/>
            <p:cNvSpPr/>
            <p:nvPr/>
          </p:nvSpPr>
          <p:spPr>
            <a:xfrm>
              <a:off x="3615" y="3385"/>
              <a:ext cx="0" cy="272"/>
            </a:xfrm>
            <a:prstGeom prst="line">
              <a:avLst/>
            </a:prstGeom>
            <a:ln w="38100" cap="flat" cmpd="sng">
              <a:solidFill>
                <a:schemeClr val="tx1"/>
              </a:solidFill>
              <a:prstDash val="solid"/>
              <a:headEnd type="triangle" w="med" len="med"/>
              <a:tailEnd type="none" w="med" len="med"/>
            </a:ln>
          </p:spPr>
        </p:sp>
        <p:sp>
          <p:nvSpPr>
            <p:cNvPr id="12308" name="Line 66"/>
            <p:cNvSpPr/>
            <p:nvPr/>
          </p:nvSpPr>
          <p:spPr>
            <a:xfrm>
              <a:off x="4540" y="3385"/>
              <a:ext cx="0" cy="295"/>
            </a:xfrm>
            <a:prstGeom prst="line">
              <a:avLst/>
            </a:prstGeom>
            <a:ln w="38100" cap="flat" cmpd="sng">
              <a:solidFill>
                <a:schemeClr val="tx1"/>
              </a:solidFill>
              <a:prstDash val="solid"/>
              <a:headEnd type="triangle" w="med" len="med"/>
              <a:tailEnd type="none" w="med" len="med"/>
            </a:ln>
          </p:spPr>
        </p:sp>
        <p:sp>
          <p:nvSpPr>
            <p:cNvPr id="12309" name="Line 67"/>
            <p:cNvSpPr/>
            <p:nvPr/>
          </p:nvSpPr>
          <p:spPr>
            <a:xfrm>
              <a:off x="4104" y="2336"/>
              <a:ext cx="0" cy="278"/>
            </a:xfrm>
            <a:prstGeom prst="line">
              <a:avLst/>
            </a:prstGeom>
            <a:ln w="38100" cap="flat" cmpd="sng">
              <a:solidFill>
                <a:schemeClr val="accent1"/>
              </a:solidFill>
              <a:prstDash val="solid"/>
              <a:headEnd type="triangle" w="med" len="med"/>
              <a:tailEnd type="none" w="med" len="med"/>
            </a:ln>
          </p:spPr>
        </p:sp>
        <p:grpSp>
          <p:nvGrpSpPr>
            <p:cNvPr id="12310" name="Group 113"/>
            <p:cNvGrpSpPr/>
            <p:nvPr/>
          </p:nvGrpSpPr>
          <p:grpSpPr>
            <a:xfrm>
              <a:off x="4513" y="2771"/>
              <a:ext cx="590" cy="287"/>
              <a:chOff x="4513" y="2771"/>
              <a:chExt cx="590" cy="287"/>
            </a:xfrm>
          </p:grpSpPr>
          <p:sp>
            <p:nvSpPr>
              <p:cNvPr id="12315" name="Text Box 69"/>
              <p:cNvSpPr txBox="1"/>
              <p:nvPr/>
            </p:nvSpPr>
            <p:spPr>
              <a:xfrm>
                <a:off x="4513" y="2771"/>
                <a:ext cx="590" cy="287"/>
              </a:xfrm>
              <a:prstGeom prst="rect">
                <a:avLst/>
              </a:prstGeom>
              <a:noFill/>
              <a:ln w="12700">
                <a:noFill/>
              </a:ln>
            </p:spPr>
            <p:txBody>
              <a:bodyPr>
                <a:spAutoFit/>
              </a:bodyPr>
              <a:lstStyle/>
              <a:p>
                <a:pPr>
                  <a:spcBef>
                    <a:spcPct val="50000"/>
                  </a:spcBef>
                </a:pPr>
                <a:r>
                  <a:rPr lang="zh-CN" altLang="en-US" dirty="0">
                    <a:solidFill>
                      <a:schemeClr val="accent1"/>
                    </a:solidFill>
                    <a:latin typeface="黑体" panose="02010609060101010101" pitchFamily="49" charset="-122"/>
                    <a:ea typeface="黑体" panose="02010609060101010101" pitchFamily="49" charset="-122"/>
                  </a:rPr>
                  <a:t>屏蔽</a:t>
                </a:r>
              </a:p>
            </p:txBody>
          </p:sp>
          <p:sp>
            <p:nvSpPr>
              <p:cNvPr id="12316" name="Line 70"/>
              <p:cNvSpPr/>
              <p:nvPr/>
            </p:nvSpPr>
            <p:spPr>
              <a:xfrm>
                <a:off x="4595" y="2781"/>
                <a:ext cx="327" cy="0"/>
              </a:xfrm>
              <a:prstGeom prst="line">
                <a:avLst/>
              </a:prstGeom>
              <a:ln w="38100" cap="flat" cmpd="sng">
                <a:solidFill>
                  <a:schemeClr val="accent1"/>
                </a:solidFill>
                <a:prstDash val="solid"/>
                <a:headEnd type="none" w="med" len="med"/>
                <a:tailEnd type="none" w="med" len="med"/>
              </a:ln>
            </p:spPr>
          </p:sp>
        </p:grpSp>
        <p:sp>
          <p:nvSpPr>
            <p:cNvPr id="12311" name="Text Box 71"/>
            <p:cNvSpPr txBox="1"/>
            <p:nvPr/>
          </p:nvSpPr>
          <p:spPr>
            <a:xfrm>
              <a:off x="4558" y="3376"/>
              <a:ext cx="563" cy="288"/>
            </a:xfrm>
            <a:prstGeom prst="rect">
              <a:avLst/>
            </a:prstGeom>
            <a:noFill/>
            <a:ln w="12700">
              <a:noFill/>
            </a:ln>
          </p:spPr>
          <p:txBody>
            <a:bodyPr>
              <a:spAutoFit/>
            </a:bodyPr>
            <a:lstStyle/>
            <a:p>
              <a:pPr>
                <a:spcBef>
                  <a:spcPct val="50000"/>
                </a:spcBef>
              </a:pPr>
              <a:r>
                <a:rPr lang="zh-CN" altLang="en-US" dirty="0">
                  <a:solidFill>
                    <a:schemeClr val="folHlink"/>
                  </a:solidFill>
                  <a:latin typeface="黑体" panose="02010609060101010101" pitchFamily="49" charset="-122"/>
                  <a:ea typeface="黑体" panose="02010609060101010101" pitchFamily="49" charset="-122"/>
                </a:rPr>
                <a:t>脉冲</a:t>
              </a:r>
            </a:p>
          </p:txBody>
        </p:sp>
        <p:sp>
          <p:nvSpPr>
            <p:cNvPr id="12312" name="Text Box 72"/>
            <p:cNvSpPr txBox="1"/>
            <p:nvPr/>
          </p:nvSpPr>
          <p:spPr>
            <a:xfrm>
              <a:off x="3479" y="2768"/>
              <a:ext cx="626" cy="287"/>
            </a:xfrm>
            <a:prstGeom prst="rect">
              <a:avLst/>
            </a:prstGeom>
            <a:noFill/>
            <a:ln w="12700">
              <a:noFill/>
            </a:ln>
          </p:spPr>
          <p:txBody>
            <a:bodyPr>
              <a:spAutoFit/>
            </a:bodyPr>
            <a:lstStyle/>
            <a:p>
              <a:pPr>
                <a:spcBef>
                  <a:spcPct val="50000"/>
                </a:spcBef>
              </a:pPr>
              <a:r>
                <a:rPr lang="zh-CN" altLang="en-US" dirty="0">
                  <a:solidFill>
                    <a:schemeClr val="folHlink"/>
                  </a:solidFill>
                  <a:latin typeface="黑体" panose="02010609060101010101" pitchFamily="49" charset="-122"/>
                  <a:ea typeface="黑体" panose="02010609060101010101" pitchFamily="49" charset="-122"/>
                </a:rPr>
                <a:t>请求</a:t>
              </a:r>
            </a:p>
          </p:txBody>
        </p:sp>
        <p:sp>
          <p:nvSpPr>
            <p:cNvPr id="12313" name="Line 73"/>
            <p:cNvSpPr/>
            <p:nvPr/>
          </p:nvSpPr>
          <p:spPr>
            <a:xfrm>
              <a:off x="4213" y="2935"/>
              <a:ext cx="327" cy="0"/>
            </a:xfrm>
            <a:prstGeom prst="line">
              <a:avLst/>
            </a:prstGeom>
            <a:ln w="38100" cap="flat" cmpd="sng">
              <a:solidFill>
                <a:schemeClr val="tx1"/>
              </a:solidFill>
              <a:prstDash val="solid"/>
              <a:headEnd type="none" w="med" len="med"/>
              <a:tailEnd type="none" w="med" len="med"/>
            </a:ln>
          </p:spPr>
        </p:sp>
        <p:sp>
          <p:nvSpPr>
            <p:cNvPr id="12314" name="Text Box 74"/>
            <p:cNvSpPr txBox="1"/>
            <p:nvPr/>
          </p:nvSpPr>
          <p:spPr>
            <a:xfrm>
              <a:off x="3606" y="2069"/>
              <a:ext cx="989" cy="288"/>
            </a:xfrm>
            <a:prstGeom prst="rect">
              <a:avLst/>
            </a:prstGeom>
            <a:noFill/>
            <a:ln w="12700">
              <a:noFill/>
            </a:ln>
          </p:spPr>
          <p:txBody>
            <a:bodyPr>
              <a:spAutoFit/>
            </a:bodyPr>
            <a:lstStyle/>
            <a:p>
              <a:pPr algn="ctr">
                <a:spcBef>
                  <a:spcPct val="50000"/>
                </a:spcBef>
              </a:pPr>
              <a:r>
                <a:rPr lang="zh-CN" altLang="en-US" dirty="0">
                  <a:solidFill>
                    <a:schemeClr val="folHlink"/>
                  </a:solidFill>
                  <a:latin typeface="黑体" panose="02010609060101010101" pitchFamily="49" charset="-122"/>
                  <a:ea typeface="黑体" panose="02010609060101010101" pitchFamily="49" charset="-122"/>
                </a:rPr>
                <a:t>有效请求</a:t>
              </a:r>
            </a:p>
          </p:txBody>
        </p:sp>
      </p:grpSp>
      <p:sp>
        <p:nvSpPr>
          <p:cNvPr id="3" name="文本框 2"/>
          <p:cNvSpPr txBox="1"/>
          <p:nvPr/>
        </p:nvSpPr>
        <p:spPr>
          <a:xfrm>
            <a:off x="490855" y="2997200"/>
            <a:ext cx="5080000" cy="460375"/>
          </a:xfrm>
          <a:prstGeom prst="rect">
            <a:avLst/>
          </a:prstGeom>
          <a:noFill/>
        </p:spPr>
        <p:txBody>
          <a:bodyPr wrap="none" rtlCol="0" anchor="t">
            <a:spAutoFit/>
          </a:bodyPr>
          <a:lstStyle/>
          <a:p>
            <a:pPr>
              <a:spcBef>
                <a:spcPct val="50000"/>
              </a:spcBef>
            </a:pPr>
            <a:r>
              <a:rPr lang="zh-CN" altLang="en-US" dirty="0">
                <a:solidFill>
                  <a:schemeClr val="tx2"/>
                </a:solidFill>
                <a:latin typeface="黑体" panose="02010609060101010101" pitchFamily="49" charset="-122"/>
                <a:ea typeface="黑体" panose="02010609060101010101" pitchFamily="49" charset="-122"/>
                <a:sym typeface="+mn-ea"/>
              </a:rPr>
              <a:t>中断屏蔽可采用分散屏蔽和集中屏蔽</a:t>
            </a:r>
          </a:p>
        </p:txBody>
      </p:sp>
      <p:sp>
        <p:nvSpPr>
          <p:cNvPr id="5" name="文本框 4"/>
          <p:cNvSpPr txBox="1"/>
          <p:nvPr/>
        </p:nvSpPr>
        <p:spPr>
          <a:xfrm>
            <a:off x="7404100" y="2343785"/>
            <a:ext cx="1682750" cy="3784600"/>
          </a:xfrm>
          <a:prstGeom prst="rect">
            <a:avLst/>
          </a:prstGeom>
          <a:noFill/>
        </p:spPr>
        <p:txBody>
          <a:bodyPr wrap="square" rtlCol="0" anchor="t">
            <a:spAutoFit/>
          </a:bodyPr>
          <a:lstStyle/>
          <a:p>
            <a:pPr>
              <a:spcBef>
                <a:spcPct val="50000"/>
              </a:spcBef>
            </a:pPr>
            <a:r>
              <a:rPr lang="zh-CN" altLang="en-US" sz="2000" dirty="0">
                <a:solidFill>
                  <a:schemeClr val="tx1"/>
                </a:solidFill>
                <a:latin typeface="黑体" panose="02010609060101010101" pitchFamily="49" charset="-122"/>
                <a:ea typeface="黑体" panose="02010609060101010101" pitchFamily="49" charset="-122"/>
                <a:cs typeface="黑体" panose="02010609060101010101" pitchFamily="49" charset="-122"/>
                <a:sym typeface="+mn-ea"/>
              </a:rPr>
              <a:t>分散屏蔽是指</a:t>
            </a:r>
            <a:r>
              <a:rPr lang="en-US" altLang="zh-CN" sz="2000" dirty="0">
                <a:solidFill>
                  <a:schemeClr val="tx1"/>
                </a:solidFill>
                <a:latin typeface="黑体" panose="02010609060101010101" pitchFamily="49" charset="-122"/>
                <a:ea typeface="黑体" panose="02010609060101010101" pitchFamily="49" charset="-122"/>
                <a:cs typeface="黑体" panose="02010609060101010101" pitchFamily="49" charset="-122"/>
                <a:sym typeface="+mn-ea"/>
              </a:rPr>
              <a:t>CPU</a:t>
            </a:r>
            <a:r>
              <a:rPr lang="zh-CN" altLang="en-US" sz="2000" dirty="0">
                <a:solidFill>
                  <a:schemeClr val="tx1"/>
                </a:solidFill>
                <a:latin typeface="黑体" panose="02010609060101010101" pitchFamily="49" charset="-122"/>
                <a:ea typeface="黑体" panose="02010609060101010101" pitchFamily="49" charset="-122"/>
                <a:cs typeface="黑体" panose="02010609060101010101" pitchFamily="49" charset="-122"/>
                <a:sym typeface="+mn-ea"/>
              </a:rPr>
              <a:t>将屏蔽字代码按位分送给各中断源接口，接口中各设一位屏蔽触发器，接收屏蔽字中对应位的信息，为</a:t>
            </a:r>
            <a:r>
              <a:rPr lang="en-US" altLang="zh-CN" sz="2000" dirty="0">
                <a:solidFill>
                  <a:schemeClr val="tx1"/>
                </a:solidFill>
                <a:latin typeface="黑体" panose="02010609060101010101" pitchFamily="49" charset="-122"/>
                <a:ea typeface="黑体" panose="02010609060101010101" pitchFamily="49" charset="-122"/>
                <a:cs typeface="黑体" panose="02010609060101010101" pitchFamily="49" charset="-122"/>
                <a:sym typeface="+mn-ea"/>
              </a:rPr>
              <a:t>1</a:t>
            </a:r>
            <a:r>
              <a:rPr lang="zh-CN" altLang="en-US" sz="2000" dirty="0">
                <a:solidFill>
                  <a:schemeClr val="tx1"/>
                </a:solidFill>
                <a:latin typeface="黑体" panose="02010609060101010101" pitchFamily="49" charset="-122"/>
                <a:ea typeface="黑体" panose="02010609060101010101" pitchFamily="49" charset="-122"/>
                <a:cs typeface="黑体" panose="02010609060101010101" pitchFamily="49" charset="-122"/>
                <a:sym typeface="+mn-ea"/>
              </a:rPr>
              <a:t>屏蔽，为</a:t>
            </a:r>
            <a:r>
              <a:rPr lang="en-US" altLang="zh-CN" sz="2000" dirty="0">
                <a:solidFill>
                  <a:schemeClr val="tx1"/>
                </a:solidFill>
                <a:latin typeface="黑体" panose="02010609060101010101" pitchFamily="49" charset="-122"/>
                <a:ea typeface="黑体" panose="02010609060101010101" pitchFamily="49" charset="-122"/>
                <a:cs typeface="黑体" panose="02010609060101010101" pitchFamily="49" charset="-122"/>
                <a:sym typeface="+mn-ea"/>
              </a:rPr>
              <a:t>0</a:t>
            </a:r>
            <a:r>
              <a:rPr lang="zh-CN" altLang="en-US" sz="2000" dirty="0">
                <a:solidFill>
                  <a:schemeClr val="tx1"/>
                </a:solidFill>
                <a:latin typeface="黑体" panose="02010609060101010101" pitchFamily="49" charset="-122"/>
                <a:ea typeface="黑体" panose="02010609060101010101" pitchFamily="49" charset="-122"/>
                <a:cs typeface="黑体" panose="02010609060101010101" pitchFamily="49" charset="-122"/>
                <a:sym typeface="+mn-ea"/>
              </a:rPr>
              <a:t>不屏蔽。</a:t>
            </a:r>
          </a:p>
        </p:txBody>
      </p:sp>
    </p:spTree>
  </p:cSld>
  <p:clrMapOvr>
    <a:masterClrMapping/>
  </p:clrMapOvr>
  <p:transition>
    <p:cover dir="l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95605" y="836930"/>
            <a:ext cx="8156575" cy="829945"/>
          </a:xfrm>
          <a:prstGeom prst="rect">
            <a:avLst/>
          </a:prstGeom>
          <a:noFill/>
        </p:spPr>
        <p:txBody>
          <a:bodyPr wrap="square" rtlCol="0" anchor="t">
            <a:spAutoFit/>
          </a:bodyPr>
          <a:lstStyle/>
          <a:p>
            <a:pPr>
              <a:spcBef>
                <a:spcPct val="50000"/>
              </a:spcBef>
            </a:pPr>
            <a:r>
              <a:rPr lang="zh-CN" altLang="en-US" dirty="0">
                <a:solidFill>
                  <a:schemeClr val="tx1"/>
                </a:solidFill>
                <a:latin typeface="黑体" panose="02010609060101010101" pitchFamily="49" charset="-122"/>
                <a:ea typeface="黑体" panose="02010609060101010101" pitchFamily="49" charset="-122"/>
                <a:cs typeface="黑体" panose="02010609060101010101" pitchFamily="49" charset="-122"/>
                <a:sym typeface="+mn-ea"/>
              </a:rPr>
              <a:t>集中式屏蔽是在公共接口逻辑中设置一个中断控制器，内含一个屏蔽字寄存器，</a:t>
            </a:r>
            <a:r>
              <a:rPr lang="en-US" altLang="zh-CN" dirty="0">
                <a:solidFill>
                  <a:schemeClr val="tx1"/>
                </a:solidFill>
                <a:latin typeface="黑体" panose="02010609060101010101" pitchFamily="49" charset="-122"/>
                <a:ea typeface="黑体" panose="02010609060101010101" pitchFamily="49" charset="-122"/>
                <a:cs typeface="黑体" panose="02010609060101010101" pitchFamily="49" charset="-122"/>
                <a:sym typeface="+mn-ea"/>
              </a:rPr>
              <a:t>CPU</a:t>
            </a:r>
            <a:r>
              <a:rPr lang="zh-CN" altLang="en-US" dirty="0">
                <a:solidFill>
                  <a:schemeClr val="tx1"/>
                </a:solidFill>
                <a:latin typeface="黑体" panose="02010609060101010101" pitchFamily="49" charset="-122"/>
                <a:ea typeface="黑体" panose="02010609060101010101" pitchFamily="49" charset="-122"/>
                <a:cs typeface="黑体" panose="02010609060101010101" pitchFamily="49" charset="-122"/>
                <a:sym typeface="+mn-ea"/>
              </a:rPr>
              <a:t>将屏蔽字送入其中。</a:t>
            </a:r>
          </a:p>
        </p:txBody>
      </p:sp>
      <p:sp>
        <p:nvSpPr>
          <p:cNvPr id="17412" name="Text Box 5"/>
          <p:cNvSpPr txBox="1"/>
          <p:nvPr/>
        </p:nvSpPr>
        <p:spPr>
          <a:xfrm>
            <a:off x="3309620" y="2616200"/>
            <a:ext cx="1295400" cy="3230245"/>
          </a:xfrm>
          <a:prstGeom prst="rect">
            <a:avLst/>
          </a:prstGeom>
          <a:noFill/>
          <a:ln w="9525" cap="flat" cmpd="sng">
            <a:solidFill>
              <a:schemeClr val="tx1"/>
            </a:solidFill>
            <a:prstDash val="solid"/>
            <a:miter/>
            <a:headEnd type="none" w="med" len="med"/>
            <a:tailEnd type="none" w="med" len="med"/>
          </a:ln>
        </p:spPr>
        <p:txBody>
          <a:bodyPr wrap="square">
            <a:spAutoFit/>
          </a:bodyPr>
          <a:lstStyle/>
          <a:p>
            <a:pPr>
              <a:spcBef>
                <a:spcPct val="50000"/>
              </a:spcBef>
            </a:pPr>
            <a:endParaRPr lang="en-US" altLang="zh-CN" dirty="0">
              <a:solidFill>
                <a:schemeClr val="tx1"/>
              </a:solidFill>
              <a:latin typeface="Arial" panose="020B0604020202020204" pitchFamily="34" charset="0"/>
            </a:endParaRPr>
          </a:p>
          <a:p>
            <a:pPr>
              <a:spcBef>
                <a:spcPct val="50000"/>
              </a:spcBef>
            </a:pPr>
            <a:endParaRPr lang="en-US" altLang="zh-CN" dirty="0">
              <a:solidFill>
                <a:schemeClr val="tx1"/>
              </a:solidFill>
              <a:latin typeface="Arial" panose="020B0604020202020204" pitchFamily="34" charset="0"/>
            </a:endParaRPr>
          </a:p>
          <a:p>
            <a:pPr>
              <a:spcBef>
                <a:spcPct val="50000"/>
              </a:spcBef>
            </a:pPr>
            <a:endParaRPr lang="en-US" altLang="zh-CN" dirty="0">
              <a:solidFill>
                <a:schemeClr val="tx1"/>
              </a:solidFill>
              <a:latin typeface="Arial" panose="020B0604020202020204" pitchFamily="34" charset="0"/>
            </a:endParaRPr>
          </a:p>
          <a:p>
            <a:pPr>
              <a:spcBef>
                <a:spcPct val="50000"/>
              </a:spcBef>
            </a:pPr>
            <a:endParaRPr lang="en-US" altLang="zh-CN" dirty="0">
              <a:solidFill>
                <a:schemeClr val="tx1"/>
              </a:solidFill>
              <a:latin typeface="Arial" panose="020B0604020202020204" pitchFamily="34" charset="0"/>
            </a:endParaRPr>
          </a:p>
          <a:p>
            <a:pPr>
              <a:spcBef>
                <a:spcPct val="50000"/>
              </a:spcBef>
            </a:pPr>
            <a:endParaRPr lang="en-US" altLang="zh-CN" dirty="0">
              <a:solidFill>
                <a:schemeClr val="tx1"/>
              </a:solidFill>
              <a:latin typeface="Arial" panose="020B0604020202020204" pitchFamily="34" charset="0"/>
            </a:endParaRPr>
          </a:p>
          <a:p>
            <a:pPr>
              <a:spcBef>
                <a:spcPct val="50000"/>
              </a:spcBef>
            </a:pPr>
            <a:endParaRPr lang="en-US" altLang="zh-CN" dirty="0">
              <a:solidFill>
                <a:schemeClr val="tx1"/>
              </a:solidFill>
              <a:latin typeface="Arial" panose="020B0604020202020204" pitchFamily="34" charset="0"/>
            </a:endParaRPr>
          </a:p>
        </p:txBody>
      </p:sp>
      <p:sp>
        <p:nvSpPr>
          <p:cNvPr id="17413" name="Text Box 6"/>
          <p:cNvSpPr txBox="1"/>
          <p:nvPr/>
        </p:nvSpPr>
        <p:spPr>
          <a:xfrm>
            <a:off x="3995420" y="2853055"/>
            <a:ext cx="381000" cy="2306955"/>
          </a:xfrm>
          <a:prstGeom prst="rect">
            <a:avLst/>
          </a:prstGeom>
          <a:noFill/>
          <a:ln w="9525" cap="flat" cmpd="sng">
            <a:solidFill>
              <a:schemeClr val="tx1"/>
            </a:solidFill>
            <a:prstDash val="solid"/>
            <a:miter/>
            <a:headEnd type="none" w="med" len="med"/>
            <a:tailEnd type="none" w="med" len="med"/>
          </a:ln>
        </p:spPr>
        <p:txBody>
          <a:bodyPr wrap="square">
            <a:spAutoFit/>
          </a:bodyPr>
          <a:lstStyle/>
          <a:p>
            <a:pPr>
              <a:spcBef>
                <a:spcPct val="50000"/>
              </a:spcBef>
            </a:pPr>
            <a:r>
              <a:rPr lang="zh-CN" altLang="en-US" b="1" dirty="0">
                <a:solidFill>
                  <a:schemeClr val="tx1"/>
                </a:solidFill>
                <a:latin typeface="Arial" panose="020B0604020202020204" pitchFamily="34" charset="0"/>
              </a:rPr>
              <a:t>屏蔽字寄存器</a:t>
            </a:r>
          </a:p>
        </p:txBody>
      </p:sp>
      <p:sp>
        <p:nvSpPr>
          <p:cNvPr id="17414" name="Line 7"/>
          <p:cNvSpPr/>
          <p:nvPr/>
        </p:nvSpPr>
        <p:spPr>
          <a:xfrm>
            <a:off x="4605020" y="2849880"/>
            <a:ext cx="1143000" cy="0"/>
          </a:xfrm>
          <a:prstGeom prst="line">
            <a:avLst/>
          </a:prstGeom>
          <a:ln w="9525" cap="flat" cmpd="sng">
            <a:solidFill>
              <a:schemeClr val="tx1"/>
            </a:solidFill>
            <a:prstDash val="solid"/>
            <a:headEnd type="triangle" w="med" len="med"/>
            <a:tailEnd type="none" w="med" len="med"/>
          </a:ln>
        </p:spPr>
      </p:sp>
      <p:sp>
        <p:nvSpPr>
          <p:cNvPr id="17415" name="Line 8"/>
          <p:cNvSpPr/>
          <p:nvPr/>
        </p:nvSpPr>
        <p:spPr>
          <a:xfrm>
            <a:off x="4605020" y="5517515"/>
            <a:ext cx="990600" cy="0"/>
          </a:xfrm>
          <a:prstGeom prst="line">
            <a:avLst/>
          </a:prstGeom>
          <a:ln w="9525" cap="flat" cmpd="sng">
            <a:solidFill>
              <a:schemeClr val="tx1"/>
            </a:solidFill>
            <a:prstDash val="solid"/>
            <a:headEnd type="triangle" w="med" len="med"/>
            <a:tailEnd type="none" w="med" len="med"/>
          </a:ln>
        </p:spPr>
      </p:sp>
      <p:sp>
        <p:nvSpPr>
          <p:cNvPr id="17416" name="Line 9"/>
          <p:cNvSpPr/>
          <p:nvPr/>
        </p:nvSpPr>
        <p:spPr>
          <a:xfrm flipH="1">
            <a:off x="2776220" y="3025775"/>
            <a:ext cx="533400" cy="0"/>
          </a:xfrm>
          <a:prstGeom prst="line">
            <a:avLst/>
          </a:prstGeom>
          <a:ln w="9525" cap="flat" cmpd="sng">
            <a:solidFill>
              <a:schemeClr val="tx1"/>
            </a:solidFill>
            <a:prstDash val="solid"/>
            <a:headEnd type="none" w="med" len="med"/>
            <a:tailEnd type="triangle" w="med" len="med"/>
          </a:ln>
        </p:spPr>
      </p:sp>
      <p:sp>
        <p:nvSpPr>
          <p:cNvPr id="17417" name="Text Box 10"/>
          <p:cNvSpPr txBox="1"/>
          <p:nvPr/>
        </p:nvSpPr>
        <p:spPr>
          <a:xfrm>
            <a:off x="4715510" y="3300095"/>
            <a:ext cx="457200" cy="1862455"/>
          </a:xfrm>
          <a:prstGeom prst="rect">
            <a:avLst/>
          </a:prstGeom>
          <a:noFill/>
          <a:ln w="9525">
            <a:noFill/>
          </a:ln>
        </p:spPr>
        <p:txBody>
          <a:bodyPr>
            <a:spAutoFit/>
          </a:bodyPr>
          <a:lstStyle/>
          <a:p>
            <a:pPr>
              <a:spcBef>
                <a:spcPct val="50000"/>
              </a:spcBef>
            </a:pPr>
            <a:r>
              <a:rPr lang="en-US" altLang="zh-CN" sz="3200" dirty="0">
                <a:solidFill>
                  <a:schemeClr val="tx1"/>
                </a:solidFill>
                <a:latin typeface="Arial" panose="020B0604020202020204" pitchFamily="34" charset="0"/>
              </a:rPr>
              <a:t>·</a:t>
            </a:r>
          </a:p>
          <a:p>
            <a:pPr>
              <a:spcBef>
                <a:spcPct val="50000"/>
              </a:spcBef>
            </a:pPr>
            <a:r>
              <a:rPr lang="en-US" altLang="zh-CN" sz="2800" dirty="0">
                <a:solidFill>
                  <a:schemeClr val="tx1"/>
                </a:solidFill>
                <a:latin typeface="Arial" panose="020B0604020202020204" pitchFamily="34" charset="0"/>
              </a:rPr>
              <a:t>·</a:t>
            </a:r>
          </a:p>
          <a:p>
            <a:pPr>
              <a:spcBef>
                <a:spcPct val="50000"/>
              </a:spcBef>
            </a:pPr>
            <a:r>
              <a:rPr lang="en-US" altLang="zh-CN" sz="2800" dirty="0">
                <a:solidFill>
                  <a:schemeClr val="tx1"/>
                </a:solidFill>
                <a:latin typeface="Arial" panose="020B0604020202020204" pitchFamily="34" charset="0"/>
              </a:rPr>
              <a:t>·</a:t>
            </a:r>
          </a:p>
        </p:txBody>
      </p:sp>
      <p:sp>
        <p:nvSpPr>
          <p:cNvPr id="17418" name="Text Box 11"/>
          <p:cNvSpPr txBox="1"/>
          <p:nvPr/>
        </p:nvSpPr>
        <p:spPr>
          <a:xfrm>
            <a:off x="5519420" y="2441575"/>
            <a:ext cx="1066800" cy="457200"/>
          </a:xfrm>
          <a:prstGeom prst="rect">
            <a:avLst/>
          </a:prstGeom>
          <a:noFill/>
          <a:ln w="9525">
            <a:noFill/>
          </a:ln>
        </p:spPr>
        <p:txBody>
          <a:bodyPr>
            <a:spAutoFit/>
          </a:bodyPr>
          <a:lstStyle/>
          <a:p>
            <a:pPr>
              <a:spcBef>
                <a:spcPct val="50000"/>
              </a:spcBef>
            </a:pPr>
            <a:r>
              <a:rPr lang="en-US" altLang="zh-CN" sz="2400" b="1" dirty="0">
                <a:solidFill>
                  <a:schemeClr val="tx1"/>
                </a:solidFill>
                <a:latin typeface="Arial" panose="020B0604020202020204" pitchFamily="34" charset="0"/>
              </a:rPr>
              <a:t>IRQ0</a:t>
            </a:r>
          </a:p>
        </p:txBody>
      </p:sp>
      <p:sp>
        <p:nvSpPr>
          <p:cNvPr id="17419" name="Text Box 12"/>
          <p:cNvSpPr txBox="1"/>
          <p:nvPr/>
        </p:nvSpPr>
        <p:spPr>
          <a:xfrm>
            <a:off x="5652135" y="5300980"/>
            <a:ext cx="1066800" cy="459105"/>
          </a:xfrm>
          <a:prstGeom prst="rect">
            <a:avLst/>
          </a:prstGeom>
          <a:noFill/>
          <a:ln w="9525">
            <a:noFill/>
          </a:ln>
        </p:spPr>
        <p:txBody>
          <a:bodyPr>
            <a:spAutoFit/>
          </a:bodyPr>
          <a:lstStyle/>
          <a:p>
            <a:pPr>
              <a:spcBef>
                <a:spcPct val="50000"/>
              </a:spcBef>
            </a:pPr>
            <a:r>
              <a:rPr lang="en-US" altLang="zh-CN" sz="2400" b="1" dirty="0">
                <a:solidFill>
                  <a:schemeClr val="tx1"/>
                </a:solidFill>
                <a:latin typeface="Arial" panose="020B0604020202020204" pitchFamily="34" charset="0"/>
              </a:rPr>
              <a:t>IRQ7</a:t>
            </a:r>
          </a:p>
        </p:txBody>
      </p:sp>
      <p:sp>
        <p:nvSpPr>
          <p:cNvPr id="17420" name="Text Box 13"/>
          <p:cNvSpPr txBox="1"/>
          <p:nvPr/>
        </p:nvSpPr>
        <p:spPr>
          <a:xfrm>
            <a:off x="2166620" y="2559050"/>
            <a:ext cx="1066800" cy="457200"/>
          </a:xfrm>
          <a:prstGeom prst="rect">
            <a:avLst/>
          </a:prstGeom>
          <a:noFill/>
          <a:ln w="9525">
            <a:noFill/>
          </a:ln>
        </p:spPr>
        <p:txBody>
          <a:bodyPr>
            <a:spAutoFit/>
          </a:bodyPr>
          <a:lstStyle/>
          <a:p>
            <a:pPr>
              <a:spcBef>
                <a:spcPct val="50000"/>
              </a:spcBef>
            </a:pPr>
            <a:r>
              <a:rPr lang="en-US" altLang="zh-CN" sz="2400" b="1" dirty="0">
                <a:solidFill>
                  <a:schemeClr val="tx1"/>
                </a:solidFill>
                <a:latin typeface="Arial" panose="020B0604020202020204" pitchFamily="34" charset="0"/>
              </a:rPr>
              <a:t>INT</a:t>
            </a:r>
          </a:p>
        </p:txBody>
      </p:sp>
    </p:spTree>
  </p:cSld>
  <p:clrMapOvr>
    <a:masterClrMapping/>
  </p:clrMapOvr>
  <p:transition>
    <p:cover dir="l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Text Box 4"/>
          <p:cNvSpPr txBox="1"/>
          <p:nvPr/>
        </p:nvSpPr>
        <p:spPr>
          <a:xfrm>
            <a:off x="251460" y="764540"/>
            <a:ext cx="8613140" cy="829945"/>
          </a:xfrm>
          <a:prstGeom prst="rect">
            <a:avLst/>
          </a:prstGeom>
          <a:noFill/>
          <a:ln w="12700">
            <a:noFill/>
          </a:ln>
        </p:spPr>
        <p:txBody>
          <a:bodyPr wrap="square">
            <a:spAutoFit/>
          </a:bodyPr>
          <a:lstStyle/>
          <a:p>
            <a:pPr>
              <a:spcBef>
                <a:spcPct val="50000"/>
              </a:spcBef>
            </a:pPr>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）使用单独请求线：</a:t>
            </a:r>
            <a:r>
              <a:rPr lang="zh-CN" altLang="en-US" dirty="0">
                <a:solidFill>
                  <a:schemeClr val="tx1"/>
                </a:solidFill>
                <a:latin typeface="Arial" panose="020B0604020202020204" pitchFamily="34" charset="0"/>
                <a:sym typeface="+mn-ea"/>
              </a:rPr>
              <a:t>各中断源单独设置自己的中断请求线，多根请求线直接送往</a:t>
            </a:r>
            <a:r>
              <a:rPr lang="en-US" altLang="zh-CN" dirty="0">
                <a:solidFill>
                  <a:schemeClr val="tx1"/>
                </a:solidFill>
                <a:latin typeface="Arial" panose="020B0604020202020204" pitchFamily="34" charset="0"/>
                <a:sym typeface="+mn-ea"/>
              </a:rPr>
              <a:t>CPU</a:t>
            </a:r>
            <a:r>
              <a:rPr lang="zh-CN" altLang="en-US" dirty="0">
                <a:solidFill>
                  <a:schemeClr val="tx1"/>
                </a:solidFill>
                <a:latin typeface="Arial" panose="020B0604020202020204" pitchFamily="34" charset="0"/>
                <a:sym typeface="+mn-ea"/>
              </a:rPr>
              <a:t>。</a:t>
            </a:r>
            <a:endParaRPr lang="zh-CN" altLang="en-US" dirty="0">
              <a:solidFill>
                <a:schemeClr val="tx1"/>
              </a:solidFill>
              <a:latin typeface="Arial" panose="020B0604020202020204" pitchFamily="34" charset="0"/>
              <a:ea typeface="黑体" panose="02010609060101010101" pitchFamily="49" charset="-122"/>
              <a:sym typeface="+mn-ea"/>
            </a:endParaRPr>
          </a:p>
        </p:txBody>
      </p:sp>
      <p:sp>
        <p:nvSpPr>
          <p:cNvPr id="31749" name="Text Box 5"/>
          <p:cNvSpPr txBox="1"/>
          <p:nvPr/>
        </p:nvSpPr>
        <p:spPr>
          <a:xfrm>
            <a:off x="149225" y="188913"/>
            <a:ext cx="5791200" cy="519112"/>
          </a:xfrm>
          <a:prstGeom prst="rect">
            <a:avLst/>
          </a:prstGeom>
          <a:noFill/>
          <a:ln w="12700">
            <a:noFill/>
          </a:ln>
        </p:spPr>
        <p:txBody>
          <a:bodyPr>
            <a:spAutoFit/>
          </a:bodyPr>
          <a:lstStyle/>
          <a:p>
            <a:pPr>
              <a:spcBef>
                <a:spcPct val="50000"/>
              </a:spcBef>
            </a:pPr>
            <a:r>
              <a:rPr lang="zh-CN" altLang="en-US" sz="2800" dirty="0">
                <a:solidFill>
                  <a:srgbClr val="FFFF00"/>
                </a:solidFill>
                <a:latin typeface="黑体" panose="02010609060101010101" pitchFamily="49" charset="-122"/>
                <a:ea typeface="黑体" panose="02010609060101010101" pitchFamily="49" charset="-122"/>
              </a:rPr>
              <a:t>（</a:t>
            </a:r>
            <a:r>
              <a:rPr lang="en-US" altLang="zh-CN" sz="2800" dirty="0">
                <a:solidFill>
                  <a:srgbClr val="FFFF00"/>
                </a:solidFill>
                <a:latin typeface="黑体" panose="02010609060101010101" pitchFamily="49" charset="-122"/>
                <a:ea typeface="黑体" panose="02010609060101010101" pitchFamily="49" charset="-122"/>
              </a:rPr>
              <a:t>2</a:t>
            </a:r>
            <a:r>
              <a:rPr lang="zh-CN" altLang="en-US" sz="2800" dirty="0">
                <a:solidFill>
                  <a:srgbClr val="FFFF00"/>
                </a:solidFill>
                <a:latin typeface="黑体" panose="02010609060101010101" pitchFamily="49" charset="-122"/>
                <a:ea typeface="黑体" panose="02010609060101010101" pitchFamily="49" charset="-122"/>
              </a:rPr>
              <a:t>）如何传送中断请求？</a:t>
            </a:r>
          </a:p>
        </p:txBody>
      </p:sp>
      <p:grpSp>
        <p:nvGrpSpPr>
          <p:cNvPr id="2" name="Group 29"/>
          <p:cNvGrpSpPr/>
          <p:nvPr/>
        </p:nvGrpSpPr>
        <p:grpSpPr>
          <a:xfrm>
            <a:off x="611505" y="2132965"/>
            <a:ext cx="3527425" cy="1536700"/>
            <a:chOff x="480" y="702"/>
            <a:chExt cx="2222" cy="968"/>
          </a:xfrm>
        </p:grpSpPr>
        <p:sp>
          <p:nvSpPr>
            <p:cNvPr id="13344" name="Rectangle 8"/>
            <p:cNvSpPr/>
            <p:nvPr/>
          </p:nvSpPr>
          <p:spPr>
            <a:xfrm>
              <a:off x="480" y="715"/>
              <a:ext cx="644" cy="901"/>
            </a:xfrm>
            <a:prstGeom prst="rect">
              <a:avLst/>
            </a:prstGeom>
            <a:solidFill>
              <a:schemeClr val="accent1"/>
            </a:solidFill>
            <a:ln w="38100" cap="flat" cmpd="sng">
              <a:solidFill>
                <a:schemeClr val="hlink"/>
              </a:solidFill>
              <a:prstDash val="solid"/>
              <a:miter/>
              <a:headEnd type="none" w="med" len="med"/>
              <a:tailEnd type="none" w="med" len="med"/>
            </a:ln>
          </p:spPr>
          <p:txBody>
            <a:bodyPr wrap="none" anchor="ctr" anchorCtr="0"/>
            <a:lstStyle/>
            <a:p>
              <a:pPr algn="ctr" eaLnBrk="0" hangingPunct="0"/>
              <a:r>
                <a:rPr lang="en-US" altLang="zh-CN" sz="2800" dirty="0">
                  <a:solidFill>
                    <a:srgbClr val="0000CC"/>
                  </a:solidFill>
                  <a:latin typeface="Times New Roman" panose="02020603050405020304" pitchFamily="18" charset="0"/>
                </a:rPr>
                <a:t>CPU</a:t>
              </a:r>
            </a:p>
          </p:txBody>
        </p:sp>
        <p:sp>
          <p:nvSpPr>
            <p:cNvPr id="13345" name="Line 10"/>
            <p:cNvSpPr/>
            <p:nvPr/>
          </p:nvSpPr>
          <p:spPr>
            <a:xfrm>
              <a:off x="1123" y="992"/>
              <a:ext cx="877" cy="0"/>
            </a:xfrm>
            <a:prstGeom prst="line">
              <a:avLst/>
            </a:prstGeom>
            <a:ln w="38100" cap="flat" cmpd="sng">
              <a:solidFill>
                <a:schemeClr val="tx1"/>
              </a:solidFill>
              <a:prstDash val="solid"/>
              <a:headEnd type="triangle" w="med" len="med"/>
              <a:tailEnd type="none" w="med" len="med"/>
            </a:ln>
          </p:spPr>
        </p:sp>
        <p:sp>
          <p:nvSpPr>
            <p:cNvPr id="13346" name="Text Box 11"/>
            <p:cNvSpPr txBox="1"/>
            <p:nvPr/>
          </p:nvSpPr>
          <p:spPr>
            <a:xfrm>
              <a:off x="1204" y="702"/>
              <a:ext cx="733" cy="287"/>
            </a:xfrm>
            <a:prstGeom prst="rect">
              <a:avLst/>
            </a:prstGeom>
            <a:noFill/>
            <a:ln w="9525">
              <a:noFill/>
            </a:ln>
          </p:spPr>
          <p:txBody>
            <a:bodyPr>
              <a:spAutoFit/>
            </a:bodyPr>
            <a:lstStyle/>
            <a:p>
              <a:pPr algn="ctr">
                <a:spcBef>
                  <a:spcPct val="50000"/>
                </a:spcBef>
              </a:pPr>
              <a:r>
                <a:rPr lang="zh-CN" altLang="en-US" dirty="0">
                  <a:solidFill>
                    <a:schemeClr val="folHlink"/>
                  </a:solidFill>
                  <a:latin typeface="Times New Roman" panose="02020603050405020304" pitchFamily="18" charset="0"/>
                  <a:ea typeface="黑体" panose="02010609060101010101" pitchFamily="49" charset="-122"/>
                </a:rPr>
                <a:t>请求</a:t>
              </a:r>
            </a:p>
          </p:txBody>
        </p:sp>
        <p:sp>
          <p:nvSpPr>
            <p:cNvPr id="13347" name="Line 12"/>
            <p:cNvSpPr/>
            <p:nvPr/>
          </p:nvSpPr>
          <p:spPr>
            <a:xfrm>
              <a:off x="1123" y="1408"/>
              <a:ext cx="877" cy="0"/>
            </a:xfrm>
            <a:prstGeom prst="line">
              <a:avLst/>
            </a:prstGeom>
            <a:ln w="38100" cap="flat" cmpd="sng">
              <a:solidFill>
                <a:schemeClr val="tx1"/>
              </a:solidFill>
              <a:prstDash val="solid"/>
              <a:headEnd type="triangle" w="med" len="med"/>
              <a:tailEnd type="none" w="med" len="med"/>
            </a:ln>
          </p:spPr>
        </p:sp>
        <p:sp>
          <p:nvSpPr>
            <p:cNvPr id="13348" name="Text Box 13"/>
            <p:cNvSpPr txBox="1"/>
            <p:nvPr/>
          </p:nvSpPr>
          <p:spPr>
            <a:xfrm>
              <a:off x="1211" y="1383"/>
              <a:ext cx="709" cy="287"/>
            </a:xfrm>
            <a:prstGeom prst="rect">
              <a:avLst/>
            </a:prstGeom>
            <a:noFill/>
            <a:ln w="9525">
              <a:noFill/>
            </a:ln>
          </p:spPr>
          <p:txBody>
            <a:bodyPr>
              <a:spAutoFit/>
            </a:bodyPr>
            <a:lstStyle/>
            <a:p>
              <a:pPr algn="ctr">
                <a:spcBef>
                  <a:spcPct val="50000"/>
                </a:spcBef>
              </a:pPr>
              <a:r>
                <a:rPr lang="zh-CN" altLang="en-US" dirty="0">
                  <a:solidFill>
                    <a:schemeClr val="folHlink"/>
                  </a:solidFill>
                  <a:latin typeface="Times New Roman" panose="02020603050405020304" pitchFamily="18" charset="0"/>
                  <a:ea typeface="黑体" panose="02010609060101010101" pitchFamily="49" charset="-122"/>
                </a:rPr>
                <a:t>请求</a:t>
              </a:r>
            </a:p>
          </p:txBody>
        </p:sp>
        <p:sp>
          <p:nvSpPr>
            <p:cNvPr id="13349" name="Text Box 14"/>
            <p:cNvSpPr txBox="1"/>
            <p:nvPr/>
          </p:nvSpPr>
          <p:spPr>
            <a:xfrm>
              <a:off x="2000" y="784"/>
              <a:ext cx="702" cy="274"/>
            </a:xfrm>
            <a:prstGeom prst="rect">
              <a:avLst/>
            </a:prstGeom>
            <a:solidFill>
              <a:srgbClr val="FF9966"/>
            </a:solidFill>
            <a:ln w="38100" cap="flat" cmpd="sng">
              <a:solidFill>
                <a:schemeClr val="accent1"/>
              </a:solidFill>
              <a:prstDash val="solid"/>
              <a:miter/>
              <a:headEnd type="none" w="med" len="med"/>
              <a:tailEnd type="none" w="med" len="med"/>
            </a:ln>
          </p:spPr>
          <p:txBody>
            <a:bodyPr>
              <a:spAutoFit/>
            </a:bodyPr>
            <a:lstStyle/>
            <a:p>
              <a:pPr algn="ctr">
                <a:spcBef>
                  <a:spcPct val="50000"/>
                </a:spcBef>
              </a:pPr>
              <a:r>
                <a:rPr lang="en-US" altLang="zh-CN" sz="2000" dirty="0">
                  <a:solidFill>
                    <a:schemeClr val="bg2"/>
                  </a:solidFill>
                  <a:latin typeface="Times New Roman" panose="02020603050405020304" pitchFamily="18" charset="0"/>
                </a:rPr>
                <a:t> I/O</a:t>
              </a:r>
            </a:p>
          </p:txBody>
        </p:sp>
        <p:sp>
          <p:nvSpPr>
            <p:cNvPr id="13350" name="Text Box 15"/>
            <p:cNvSpPr txBox="1"/>
            <p:nvPr/>
          </p:nvSpPr>
          <p:spPr>
            <a:xfrm>
              <a:off x="2000" y="1269"/>
              <a:ext cx="702" cy="273"/>
            </a:xfrm>
            <a:prstGeom prst="rect">
              <a:avLst/>
            </a:prstGeom>
            <a:solidFill>
              <a:srgbClr val="FF9966"/>
            </a:solidFill>
            <a:ln w="38100" cap="flat" cmpd="sng">
              <a:solidFill>
                <a:schemeClr val="accent1"/>
              </a:solidFill>
              <a:prstDash val="solid"/>
              <a:miter/>
              <a:headEnd type="none" w="med" len="med"/>
              <a:tailEnd type="none" w="med" len="med"/>
            </a:ln>
          </p:spPr>
          <p:txBody>
            <a:bodyPr>
              <a:spAutoFit/>
            </a:bodyPr>
            <a:lstStyle/>
            <a:p>
              <a:pPr algn="ctr">
                <a:spcBef>
                  <a:spcPct val="50000"/>
                </a:spcBef>
              </a:pPr>
              <a:r>
                <a:rPr lang="en-US" altLang="zh-CN" sz="2000" dirty="0">
                  <a:solidFill>
                    <a:schemeClr val="bg2"/>
                  </a:solidFill>
                  <a:latin typeface="Times New Roman" panose="02020603050405020304" pitchFamily="18" charset="0"/>
                </a:rPr>
                <a:t> I/O</a:t>
              </a:r>
            </a:p>
          </p:txBody>
        </p:sp>
      </p:grpSp>
      <p:sp>
        <p:nvSpPr>
          <p:cNvPr id="31760" name="Text Box 16"/>
          <p:cNvSpPr txBox="1"/>
          <p:nvPr/>
        </p:nvSpPr>
        <p:spPr>
          <a:xfrm>
            <a:off x="323215" y="4077335"/>
            <a:ext cx="8615680" cy="829945"/>
          </a:xfrm>
          <a:prstGeom prst="rect">
            <a:avLst/>
          </a:prstGeom>
          <a:noFill/>
          <a:ln w="12700">
            <a:noFill/>
          </a:ln>
        </p:spPr>
        <p:txBody>
          <a:bodyPr wrap="square">
            <a:spAutoFit/>
          </a:bodyPr>
          <a:lstStyle/>
          <a:p>
            <a:pPr>
              <a:spcBef>
                <a:spcPct val="50000"/>
              </a:spcBef>
            </a:pPr>
            <a:r>
              <a:rPr lang="en-US" altLang="zh-CN" dirty="0">
                <a:latin typeface="黑体" panose="02010609060101010101" pitchFamily="49" charset="-122"/>
                <a:ea typeface="黑体" panose="02010609060101010101" pitchFamily="49" charset="-122"/>
              </a:rPr>
              <a:t>2</a:t>
            </a:r>
            <a:r>
              <a:rPr lang="zh-CN" altLang="en-US" dirty="0">
                <a:latin typeface="黑体" panose="02010609060101010101" pitchFamily="49" charset="-122"/>
                <a:ea typeface="黑体" panose="02010609060101010101" pitchFamily="49" charset="-122"/>
              </a:rPr>
              <a:t>）使用公共请求线：</a:t>
            </a:r>
            <a:r>
              <a:rPr lang="zh-CN" altLang="en-US" dirty="0">
                <a:solidFill>
                  <a:schemeClr val="tx1"/>
                </a:solidFill>
                <a:latin typeface="Arial" panose="020B0604020202020204" pitchFamily="34" charset="0"/>
                <a:sym typeface="+mn-ea"/>
              </a:rPr>
              <a:t>各中断源的请求信号通过三态门汇集到一根公共请求线。</a:t>
            </a:r>
            <a:endParaRPr lang="zh-CN" altLang="en-US" dirty="0">
              <a:solidFill>
                <a:schemeClr val="tx1"/>
              </a:solidFill>
              <a:latin typeface="Arial" panose="020B0604020202020204" pitchFamily="34" charset="0"/>
              <a:ea typeface="黑体" panose="02010609060101010101" pitchFamily="49" charset="-122"/>
              <a:sym typeface="+mn-ea"/>
            </a:endParaRPr>
          </a:p>
        </p:txBody>
      </p:sp>
      <p:grpSp>
        <p:nvGrpSpPr>
          <p:cNvPr id="3" name="Group 31"/>
          <p:cNvGrpSpPr/>
          <p:nvPr/>
        </p:nvGrpSpPr>
        <p:grpSpPr>
          <a:xfrm>
            <a:off x="611188" y="5085080"/>
            <a:ext cx="3787775" cy="1439863"/>
            <a:chOff x="403" y="2387"/>
            <a:chExt cx="2386" cy="907"/>
          </a:xfrm>
        </p:grpSpPr>
        <p:sp>
          <p:nvSpPr>
            <p:cNvPr id="13336" name="Rectangle 19"/>
            <p:cNvSpPr/>
            <p:nvPr/>
          </p:nvSpPr>
          <p:spPr>
            <a:xfrm>
              <a:off x="403" y="2387"/>
              <a:ext cx="642" cy="907"/>
            </a:xfrm>
            <a:prstGeom prst="rect">
              <a:avLst/>
            </a:prstGeom>
            <a:solidFill>
              <a:schemeClr val="accent1"/>
            </a:solidFill>
            <a:ln w="38100" cap="flat" cmpd="sng">
              <a:solidFill>
                <a:schemeClr val="hlink"/>
              </a:solidFill>
              <a:prstDash val="solid"/>
              <a:miter/>
              <a:headEnd type="none" w="med" len="med"/>
              <a:tailEnd type="none" w="med" len="med"/>
            </a:ln>
          </p:spPr>
          <p:txBody>
            <a:bodyPr wrap="none" anchor="ctr" anchorCtr="0"/>
            <a:lstStyle/>
            <a:p>
              <a:pPr algn="ctr" eaLnBrk="0" hangingPunct="0"/>
              <a:r>
                <a:rPr lang="en-US" altLang="zh-CN" sz="2800" dirty="0">
                  <a:solidFill>
                    <a:srgbClr val="0000CC"/>
                  </a:solidFill>
                  <a:latin typeface="Times New Roman" panose="02020603050405020304" pitchFamily="18" charset="0"/>
                </a:rPr>
                <a:t>CPU</a:t>
              </a:r>
            </a:p>
          </p:txBody>
        </p:sp>
        <p:sp>
          <p:nvSpPr>
            <p:cNvPr id="13337" name="Line 21"/>
            <p:cNvSpPr/>
            <p:nvPr/>
          </p:nvSpPr>
          <p:spPr>
            <a:xfrm>
              <a:off x="1054" y="2722"/>
              <a:ext cx="1735" cy="0"/>
            </a:xfrm>
            <a:prstGeom prst="line">
              <a:avLst/>
            </a:prstGeom>
            <a:ln w="38100" cap="flat" cmpd="sng">
              <a:solidFill>
                <a:schemeClr val="accent1"/>
              </a:solidFill>
              <a:prstDash val="solid"/>
              <a:headEnd type="triangle" w="med" len="med"/>
              <a:tailEnd type="none" w="med" len="med"/>
            </a:ln>
          </p:spPr>
        </p:sp>
        <p:sp>
          <p:nvSpPr>
            <p:cNvPr id="13338" name="Text Box 22"/>
            <p:cNvSpPr txBox="1"/>
            <p:nvPr/>
          </p:nvSpPr>
          <p:spPr>
            <a:xfrm>
              <a:off x="1542" y="2417"/>
              <a:ext cx="1157" cy="287"/>
            </a:xfrm>
            <a:prstGeom prst="rect">
              <a:avLst/>
            </a:prstGeom>
            <a:noFill/>
            <a:ln w="9525">
              <a:noFill/>
            </a:ln>
          </p:spPr>
          <p:txBody>
            <a:bodyPr>
              <a:spAutoFit/>
            </a:bodyPr>
            <a:lstStyle/>
            <a:p>
              <a:pPr>
                <a:spcBef>
                  <a:spcPct val="50000"/>
                </a:spcBef>
              </a:pPr>
              <a:r>
                <a:rPr lang="zh-CN" altLang="en-US" dirty="0">
                  <a:solidFill>
                    <a:schemeClr val="folHlink"/>
                  </a:solidFill>
                  <a:latin typeface="Times New Roman" panose="02020603050405020304" pitchFamily="18" charset="0"/>
                  <a:ea typeface="黑体" panose="02010609060101010101" pitchFamily="49" charset="-122"/>
                </a:rPr>
                <a:t>公共请求</a:t>
              </a:r>
            </a:p>
          </p:txBody>
        </p:sp>
        <p:sp>
          <p:nvSpPr>
            <p:cNvPr id="13339" name="Text Box 23"/>
            <p:cNvSpPr txBox="1"/>
            <p:nvPr/>
          </p:nvSpPr>
          <p:spPr>
            <a:xfrm>
              <a:off x="2221" y="3004"/>
              <a:ext cx="495" cy="275"/>
            </a:xfrm>
            <a:prstGeom prst="rect">
              <a:avLst/>
            </a:prstGeom>
            <a:solidFill>
              <a:srgbClr val="FF9966"/>
            </a:solidFill>
            <a:ln w="38100" cap="flat" cmpd="sng">
              <a:solidFill>
                <a:schemeClr val="accent1"/>
              </a:solidFill>
              <a:prstDash val="solid"/>
              <a:miter/>
              <a:headEnd type="none" w="med" len="med"/>
              <a:tailEnd type="none" w="med" len="med"/>
            </a:ln>
          </p:spPr>
          <p:txBody>
            <a:bodyPr>
              <a:spAutoFit/>
            </a:bodyPr>
            <a:lstStyle/>
            <a:p>
              <a:pPr algn="ctr">
                <a:spcBef>
                  <a:spcPct val="50000"/>
                </a:spcBef>
              </a:pPr>
              <a:r>
                <a:rPr lang="en-US" altLang="zh-CN" sz="2000" dirty="0">
                  <a:solidFill>
                    <a:schemeClr val="bg2"/>
                  </a:solidFill>
                  <a:latin typeface="Times New Roman" panose="02020603050405020304" pitchFamily="18" charset="0"/>
                </a:rPr>
                <a:t> I/O</a:t>
              </a:r>
            </a:p>
          </p:txBody>
        </p:sp>
        <p:sp>
          <p:nvSpPr>
            <p:cNvPr id="13340" name="Text Box 24"/>
            <p:cNvSpPr txBox="1"/>
            <p:nvPr/>
          </p:nvSpPr>
          <p:spPr>
            <a:xfrm>
              <a:off x="1256" y="3004"/>
              <a:ext cx="526" cy="275"/>
            </a:xfrm>
            <a:prstGeom prst="rect">
              <a:avLst/>
            </a:prstGeom>
            <a:solidFill>
              <a:srgbClr val="FF9966"/>
            </a:solidFill>
            <a:ln w="38100" cap="flat" cmpd="sng">
              <a:solidFill>
                <a:schemeClr val="accent1"/>
              </a:solidFill>
              <a:prstDash val="solid"/>
              <a:miter/>
              <a:headEnd type="none" w="med" len="med"/>
              <a:tailEnd type="none" w="med" len="med"/>
            </a:ln>
          </p:spPr>
          <p:txBody>
            <a:bodyPr>
              <a:spAutoFit/>
            </a:bodyPr>
            <a:lstStyle/>
            <a:p>
              <a:pPr algn="ctr">
                <a:spcBef>
                  <a:spcPct val="50000"/>
                </a:spcBef>
              </a:pPr>
              <a:r>
                <a:rPr lang="en-US" altLang="zh-CN" sz="2000" dirty="0">
                  <a:solidFill>
                    <a:schemeClr val="bg2"/>
                  </a:solidFill>
                  <a:latin typeface="Times New Roman" panose="02020603050405020304" pitchFamily="18" charset="0"/>
                </a:rPr>
                <a:t> I/O</a:t>
              </a:r>
            </a:p>
          </p:txBody>
        </p:sp>
        <p:sp>
          <p:nvSpPr>
            <p:cNvPr id="13341" name="Line 25"/>
            <p:cNvSpPr/>
            <p:nvPr/>
          </p:nvSpPr>
          <p:spPr>
            <a:xfrm>
              <a:off x="1527" y="2722"/>
              <a:ext cx="0" cy="282"/>
            </a:xfrm>
            <a:prstGeom prst="line">
              <a:avLst/>
            </a:prstGeom>
            <a:ln w="38100" cap="flat" cmpd="sng">
              <a:solidFill>
                <a:schemeClr val="tx1"/>
              </a:solidFill>
              <a:prstDash val="solid"/>
              <a:headEnd type="triangle" w="med" len="med"/>
              <a:tailEnd type="none" w="med" len="med"/>
            </a:ln>
          </p:spPr>
        </p:sp>
        <p:sp>
          <p:nvSpPr>
            <p:cNvPr id="13342" name="Line 26"/>
            <p:cNvSpPr/>
            <p:nvPr/>
          </p:nvSpPr>
          <p:spPr>
            <a:xfrm>
              <a:off x="2474" y="2722"/>
              <a:ext cx="0" cy="282"/>
            </a:xfrm>
            <a:prstGeom prst="line">
              <a:avLst/>
            </a:prstGeom>
            <a:ln w="38100" cap="flat" cmpd="sng">
              <a:solidFill>
                <a:schemeClr val="tx1"/>
              </a:solidFill>
              <a:prstDash val="solid"/>
              <a:headEnd type="triangle" w="med" len="med"/>
              <a:tailEnd type="none" w="med" len="med"/>
            </a:ln>
          </p:spPr>
        </p:sp>
        <p:sp>
          <p:nvSpPr>
            <p:cNvPr id="13343" name="Text Box 30"/>
            <p:cNvSpPr txBox="1"/>
            <p:nvPr/>
          </p:nvSpPr>
          <p:spPr>
            <a:xfrm>
              <a:off x="1837" y="2958"/>
              <a:ext cx="308" cy="288"/>
            </a:xfrm>
            <a:prstGeom prst="rect">
              <a:avLst/>
            </a:prstGeom>
            <a:noFill/>
            <a:ln w="9525">
              <a:noFill/>
            </a:ln>
          </p:spPr>
          <p:txBody>
            <a:bodyPr wrap="none">
              <a:spAutoFit/>
            </a:bodyPr>
            <a:lstStyle/>
            <a:p>
              <a:pPr eaLnBrk="0" hangingPunct="0"/>
              <a:r>
                <a:rPr lang="en-US" altLang="zh-CN" dirty="0">
                  <a:latin typeface="Times New Roman" panose="02020603050405020304" pitchFamily="18" charset="0"/>
                </a:rPr>
                <a:t>…</a:t>
              </a:r>
            </a:p>
          </p:txBody>
        </p:sp>
      </p:grpSp>
    </p:spTree>
  </p:cSld>
  <p:clrMapOvr>
    <a:masterClrMapping/>
  </p:clrMapOvr>
  <p:transition>
    <p:cover dir="l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72" name="Text Box 28"/>
          <p:cNvSpPr txBox="1"/>
          <p:nvPr/>
        </p:nvSpPr>
        <p:spPr>
          <a:xfrm>
            <a:off x="323215" y="260985"/>
            <a:ext cx="8049895" cy="1753235"/>
          </a:xfrm>
          <a:prstGeom prst="rect">
            <a:avLst/>
          </a:prstGeom>
          <a:noFill/>
          <a:ln w="12700">
            <a:noFill/>
          </a:ln>
        </p:spPr>
        <p:txBody>
          <a:bodyPr wrap="square">
            <a:spAutoFit/>
          </a:bodyPr>
          <a:lstStyle/>
          <a:p>
            <a:pPr>
              <a:spcBef>
                <a:spcPct val="50000"/>
              </a:spcBef>
            </a:pPr>
            <a:r>
              <a:rPr lang="en-US" altLang="zh-CN" dirty="0">
                <a:latin typeface="黑体" panose="02010609060101010101" pitchFamily="49" charset="-122"/>
                <a:ea typeface="黑体" panose="02010609060101010101" pitchFamily="49" charset="-122"/>
              </a:rPr>
              <a:t>3</a:t>
            </a:r>
            <a:r>
              <a:rPr lang="zh-CN" altLang="en-US" dirty="0">
                <a:latin typeface="黑体" panose="02010609060101010101" pitchFamily="49" charset="-122"/>
                <a:ea typeface="黑体" panose="02010609060101010101" pitchFamily="49" charset="-122"/>
              </a:rPr>
              <a:t>）混合方式传送</a:t>
            </a:r>
            <a:r>
              <a:rPr lang="en-US" altLang="zh-CN" dirty="0">
                <a:solidFill>
                  <a:schemeClr val="tx1"/>
                </a:solidFill>
                <a:latin typeface="黑体" panose="02010609060101010101" pitchFamily="49" charset="-122"/>
                <a:ea typeface="黑体" panose="02010609060101010101" pitchFamily="49" charset="-122"/>
              </a:rPr>
              <a:t>(</a:t>
            </a:r>
            <a:r>
              <a:rPr lang="zh-CN" altLang="en-US" dirty="0">
                <a:solidFill>
                  <a:schemeClr val="tx1"/>
                </a:solidFill>
                <a:latin typeface="Arial" panose="020B0604020202020204" pitchFamily="34" charset="0"/>
                <a:sym typeface="+mn-ea"/>
              </a:rPr>
              <a:t>二维结构</a:t>
            </a:r>
            <a:r>
              <a:rPr lang="en-US" altLang="zh-CN" dirty="0">
                <a:solidFill>
                  <a:schemeClr val="tx1"/>
                </a:solidFill>
                <a:latin typeface="Arial" panose="020B0604020202020204" pitchFamily="34" charset="0"/>
                <a:sym typeface="+mn-ea"/>
              </a:rPr>
              <a:t>):</a:t>
            </a:r>
            <a:r>
              <a:rPr lang="zh-CN" altLang="en-US" dirty="0">
                <a:solidFill>
                  <a:schemeClr val="tx1"/>
                </a:solidFill>
                <a:latin typeface="Arial" panose="020B0604020202020204" pitchFamily="34" charset="0"/>
                <a:sym typeface="+mn-ea"/>
              </a:rPr>
              <a:t>设置数根中断请求输入线，他们体现不同的优先级别，称为主优先级，再将主优先级相同的中断请求源汇集到该公共请求线上。</a:t>
            </a:r>
            <a:endParaRPr lang="zh-CN" altLang="en-US" b="1" dirty="0">
              <a:solidFill>
                <a:schemeClr val="accent2"/>
              </a:solidFill>
              <a:latin typeface="Arial" panose="020B0604020202020204" pitchFamily="34" charset="0"/>
            </a:endParaRPr>
          </a:p>
          <a:p>
            <a:pPr>
              <a:spcBef>
                <a:spcPct val="50000"/>
              </a:spcBef>
            </a:pPr>
            <a:endParaRPr lang="zh-CN" altLang="en-US" dirty="0">
              <a:latin typeface="黑体" panose="02010609060101010101" pitchFamily="49" charset="-122"/>
              <a:ea typeface="黑体" panose="02010609060101010101" pitchFamily="49" charset="-122"/>
            </a:endParaRPr>
          </a:p>
        </p:txBody>
      </p:sp>
      <p:grpSp>
        <p:nvGrpSpPr>
          <p:cNvPr id="4" name="Group 48"/>
          <p:cNvGrpSpPr/>
          <p:nvPr/>
        </p:nvGrpSpPr>
        <p:grpSpPr>
          <a:xfrm>
            <a:off x="394970" y="1556703"/>
            <a:ext cx="5654675" cy="2160587"/>
            <a:chOff x="1628" y="2432"/>
            <a:chExt cx="3562" cy="1361"/>
          </a:xfrm>
        </p:grpSpPr>
        <p:sp>
          <p:nvSpPr>
            <p:cNvPr id="13321" name="Rectangle 33"/>
            <p:cNvSpPr/>
            <p:nvPr/>
          </p:nvSpPr>
          <p:spPr>
            <a:xfrm>
              <a:off x="1628" y="2432"/>
              <a:ext cx="642" cy="1361"/>
            </a:xfrm>
            <a:prstGeom prst="rect">
              <a:avLst/>
            </a:prstGeom>
            <a:solidFill>
              <a:schemeClr val="accent1"/>
            </a:solidFill>
            <a:ln w="38100" cap="flat" cmpd="sng">
              <a:solidFill>
                <a:schemeClr val="hlink"/>
              </a:solidFill>
              <a:prstDash val="solid"/>
              <a:miter/>
              <a:headEnd type="none" w="med" len="med"/>
              <a:tailEnd type="none" w="med" len="med"/>
            </a:ln>
          </p:spPr>
          <p:txBody>
            <a:bodyPr wrap="none" anchor="ctr" anchorCtr="0"/>
            <a:lstStyle/>
            <a:p>
              <a:pPr algn="ctr" eaLnBrk="0" hangingPunct="0"/>
              <a:r>
                <a:rPr lang="en-US" altLang="zh-CN" sz="2800" dirty="0">
                  <a:solidFill>
                    <a:srgbClr val="0000CC"/>
                  </a:solidFill>
                  <a:latin typeface="Times New Roman" panose="02020603050405020304" pitchFamily="18" charset="0"/>
                </a:rPr>
                <a:t>CPU</a:t>
              </a:r>
            </a:p>
          </p:txBody>
        </p:sp>
        <p:sp>
          <p:nvSpPr>
            <p:cNvPr id="13322" name="Line 34"/>
            <p:cNvSpPr/>
            <p:nvPr/>
          </p:nvSpPr>
          <p:spPr>
            <a:xfrm>
              <a:off x="2279" y="2656"/>
              <a:ext cx="1735" cy="0"/>
            </a:xfrm>
            <a:prstGeom prst="line">
              <a:avLst/>
            </a:prstGeom>
            <a:ln w="38100" cap="flat" cmpd="sng">
              <a:solidFill>
                <a:schemeClr val="accent1"/>
              </a:solidFill>
              <a:prstDash val="solid"/>
              <a:headEnd type="triangle" w="med" len="med"/>
              <a:tailEnd type="none" w="med" len="med"/>
            </a:ln>
          </p:spPr>
        </p:sp>
        <p:sp>
          <p:nvSpPr>
            <p:cNvPr id="13323" name="Text Box 35"/>
            <p:cNvSpPr txBox="1"/>
            <p:nvPr/>
          </p:nvSpPr>
          <p:spPr>
            <a:xfrm>
              <a:off x="4032" y="2505"/>
              <a:ext cx="1157" cy="287"/>
            </a:xfrm>
            <a:prstGeom prst="rect">
              <a:avLst/>
            </a:prstGeom>
            <a:noFill/>
            <a:ln w="9525">
              <a:noFill/>
            </a:ln>
          </p:spPr>
          <p:txBody>
            <a:bodyPr>
              <a:spAutoFit/>
            </a:bodyPr>
            <a:lstStyle/>
            <a:p>
              <a:pPr>
                <a:spcBef>
                  <a:spcPct val="50000"/>
                </a:spcBef>
              </a:pPr>
              <a:r>
                <a:rPr lang="zh-CN" altLang="en-US" dirty="0">
                  <a:solidFill>
                    <a:schemeClr val="folHlink"/>
                  </a:solidFill>
                  <a:latin typeface="Times New Roman" panose="02020603050405020304" pitchFamily="18" charset="0"/>
                  <a:ea typeface="黑体" panose="02010609060101010101" pitchFamily="49" charset="-122"/>
                </a:rPr>
                <a:t>公共请求</a:t>
              </a:r>
            </a:p>
          </p:txBody>
        </p:sp>
        <p:sp>
          <p:nvSpPr>
            <p:cNvPr id="13324" name="Text Box 36"/>
            <p:cNvSpPr txBox="1"/>
            <p:nvPr/>
          </p:nvSpPr>
          <p:spPr>
            <a:xfrm>
              <a:off x="3446" y="2850"/>
              <a:ext cx="495" cy="275"/>
            </a:xfrm>
            <a:prstGeom prst="rect">
              <a:avLst/>
            </a:prstGeom>
            <a:solidFill>
              <a:srgbClr val="FF9966"/>
            </a:solidFill>
            <a:ln w="38100" cap="flat" cmpd="sng">
              <a:solidFill>
                <a:schemeClr val="accent1"/>
              </a:solidFill>
              <a:prstDash val="solid"/>
              <a:miter/>
              <a:headEnd type="none" w="med" len="med"/>
              <a:tailEnd type="none" w="med" len="med"/>
            </a:ln>
          </p:spPr>
          <p:txBody>
            <a:bodyPr>
              <a:spAutoFit/>
            </a:bodyPr>
            <a:lstStyle/>
            <a:p>
              <a:pPr algn="ctr">
                <a:spcBef>
                  <a:spcPct val="50000"/>
                </a:spcBef>
              </a:pPr>
              <a:r>
                <a:rPr lang="en-US" altLang="zh-CN" sz="2000" dirty="0">
                  <a:solidFill>
                    <a:schemeClr val="bg2"/>
                  </a:solidFill>
                  <a:latin typeface="Times New Roman" panose="02020603050405020304" pitchFamily="18" charset="0"/>
                </a:rPr>
                <a:t> I/O</a:t>
              </a:r>
            </a:p>
          </p:txBody>
        </p:sp>
        <p:sp>
          <p:nvSpPr>
            <p:cNvPr id="13325" name="Text Box 37"/>
            <p:cNvSpPr txBox="1"/>
            <p:nvPr/>
          </p:nvSpPr>
          <p:spPr>
            <a:xfrm>
              <a:off x="2481" y="2850"/>
              <a:ext cx="526" cy="275"/>
            </a:xfrm>
            <a:prstGeom prst="rect">
              <a:avLst/>
            </a:prstGeom>
            <a:solidFill>
              <a:srgbClr val="FF9966"/>
            </a:solidFill>
            <a:ln w="38100" cap="flat" cmpd="sng">
              <a:solidFill>
                <a:schemeClr val="accent1"/>
              </a:solidFill>
              <a:prstDash val="solid"/>
              <a:miter/>
              <a:headEnd type="none" w="med" len="med"/>
              <a:tailEnd type="none" w="med" len="med"/>
            </a:ln>
          </p:spPr>
          <p:txBody>
            <a:bodyPr>
              <a:spAutoFit/>
            </a:bodyPr>
            <a:lstStyle/>
            <a:p>
              <a:pPr algn="ctr">
                <a:spcBef>
                  <a:spcPct val="50000"/>
                </a:spcBef>
              </a:pPr>
              <a:r>
                <a:rPr lang="en-US" altLang="zh-CN" sz="2000" dirty="0">
                  <a:solidFill>
                    <a:schemeClr val="bg2"/>
                  </a:solidFill>
                  <a:latin typeface="Times New Roman" panose="02020603050405020304" pitchFamily="18" charset="0"/>
                </a:rPr>
                <a:t> I/O</a:t>
              </a:r>
            </a:p>
          </p:txBody>
        </p:sp>
        <p:sp>
          <p:nvSpPr>
            <p:cNvPr id="13326" name="Line 38"/>
            <p:cNvSpPr/>
            <p:nvPr/>
          </p:nvSpPr>
          <p:spPr>
            <a:xfrm>
              <a:off x="2752" y="2656"/>
              <a:ext cx="0" cy="184"/>
            </a:xfrm>
            <a:prstGeom prst="line">
              <a:avLst/>
            </a:prstGeom>
            <a:ln w="38100" cap="flat" cmpd="sng">
              <a:solidFill>
                <a:schemeClr val="tx1"/>
              </a:solidFill>
              <a:prstDash val="solid"/>
              <a:headEnd type="triangle" w="med" len="med"/>
              <a:tailEnd type="none" w="med" len="med"/>
            </a:ln>
          </p:spPr>
        </p:sp>
        <p:sp>
          <p:nvSpPr>
            <p:cNvPr id="13327" name="Line 39"/>
            <p:cNvSpPr/>
            <p:nvPr/>
          </p:nvSpPr>
          <p:spPr>
            <a:xfrm>
              <a:off x="3699" y="2656"/>
              <a:ext cx="0" cy="184"/>
            </a:xfrm>
            <a:prstGeom prst="line">
              <a:avLst/>
            </a:prstGeom>
            <a:ln w="38100" cap="flat" cmpd="sng">
              <a:solidFill>
                <a:schemeClr val="tx1"/>
              </a:solidFill>
              <a:prstDash val="solid"/>
              <a:headEnd type="triangle" w="med" len="med"/>
              <a:tailEnd type="none" w="med" len="med"/>
            </a:ln>
          </p:spPr>
        </p:sp>
        <p:sp>
          <p:nvSpPr>
            <p:cNvPr id="13328" name="Text Box 40"/>
            <p:cNvSpPr txBox="1"/>
            <p:nvPr/>
          </p:nvSpPr>
          <p:spPr>
            <a:xfrm>
              <a:off x="3062" y="2892"/>
              <a:ext cx="308" cy="288"/>
            </a:xfrm>
            <a:prstGeom prst="rect">
              <a:avLst/>
            </a:prstGeom>
            <a:noFill/>
            <a:ln w="9525">
              <a:noFill/>
            </a:ln>
          </p:spPr>
          <p:txBody>
            <a:bodyPr wrap="none">
              <a:spAutoFit/>
            </a:bodyPr>
            <a:lstStyle/>
            <a:p>
              <a:pPr eaLnBrk="0" hangingPunct="0"/>
              <a:r>
                <a:rPr lang="en-US" altLang="zh-CN" dirty="0">
                  <a:latin typeface="Times New Roman" panose="02020603050405020304" pitchFamily="18" charset="0"/>
                </a:rPr>
                <a:t>…</a:t>
              </a:r>
            </a:p>
          </p:txBody>
        </p:sp>
        <p:sp>
          <p:nvSpPr>
            <p:cNvPr id="13329" name="Line 41"/>
            <p:cNvSpPr/>
            <p:nvPr/>
          </p:nvSpPr>
          <p:spPr>
            <a:xfrm>
              <a:off x="2290" y="3327"/>
              <a:ext cx="1735" cy="0"/>
            </a:xfrm>
            <a:prstGeom prst="line">
              <a:avLst/>
            </a:prstGeom>
            <a:ln w="38100" cap="flat" cmpd="sng">
              <a:solidFill>
                <a:schemeClr val="accent1"/>
              </a:solidFill>
              <a:prstDash val="solid"/>
              <a:headEnd type="triangle" w="med" len="med"/>
              <a:tailEnd type="none" w="med" len="med"/>
            </a:ln>
          </p:spPr>
        </p:sp>
        <p:sp>
          <p:nvSpPr>
            <p:cNvPr id="13330" name="Text Box 42"/>
            <p:cNvSpPr txBox="1"/>
            <p:nvPr/>
          </p:nvSpPr>
          <p:spPr>
            <a:xfrm>
              <a:off x="4033" y="3176"/>
              <a:ext cx="1157" cy="287"/>
            </a:xfrm>
            <a:prstGeom prst="rect">
              <a:avLst/>
            </a:prstGeom>
            <a:noFill/>
            <a:ln w="9525">
              <a:noFill/>
            </a:ln>
          </p:spPr>
          <p:txBody>
            <a:bodyPr>
              <a:spAutoFit/>
            </a:bodyPr>
            <a:lstStyle/>
            <a:p>
              <a:pPr>
                <a:spcBef>
                  <a:spcPct val="50000"/>
                </a:spcBef>
              </a:pPr>
              <a:r>
                <a:rPr lang="zh-CN" altLang="en-US" dirty="0">
                  <a:solidFill>
                    <a:schemeClr val="folHlink"/>
                  </a:solidFill>
                  <a:latin typeface="Times New Roman" panose="02020603050405020304" pitchFamily="18" charset="0"/>
                  <a:ea typeface="黑体" panose="02010609060101010101" pitchFamily="49" charset="-122"/>
                </a:rPr>
                <a:t>公共请求</a:t>
              </a:r>
            </a:p>
          </p:txBody>
        </p:sp>
        <p:sp>
          <p:nvSpPr>
            <p:cNvPr id="13331" name="Text Box 43"/>
            <p:cNvSpPr txBox="1"/>
            <p:nvPr/>
          </p:nvSpPr>
          <p:spPr>
            <a:xfrm>
              <a:off x="3457" y="3509"/>
              <a:ext cx="495" cy="275"/>
            </a:xfrm>
            <a:prstGeom prst="rect">
              <a:avLst/>
            </a:prstGeom>
            <a:solidFill>
              <a:srgbClr val="FF9966"/>
            </a:solidFill>
            <a:ln w="38100" cap="flat" cmpd="sng">
              <a:solidFill>
                <a:schemeClr val="accent1"/>
              </a:solidFill>
              <a:prstDash val="solid"/>
              <a:miter/>
              <a:headEnd type="none" w="med" len="med"/>
              <a:tailEnd type="none" w="med" len="med"/>
            </a:ln>
          </p:spPr>
          <p:txBody>
            <a:bodyPr>
              <a:spAutoFit/>
            </a:bodyPr>
            <a:lstStyle/>
            <a:p>
              <a:pPr algn="ctr">
                <a:spcBef>
                  <a:spcPct val="50000"/>
                </a:spcBef>
              </a:pPr>
              <a:r>
                <a:rPr lang="en-US" altLang="zh-CN" sz="2000" dirty="0">
                  <a:solidFill>
                    <a:schemeClr val="bg2"/>
                  </a:solidFill>
                  <a:latin typeface="Times New Roman" panose="02020603050405020304" pitchFamily="18" charset="0"/>
                </a:rPr>
                <a:t> I/O</a:t>
              </a:r>
            </a:p>
          </p:txBody>
        </p:sp>
        <p:sp>
          <p:nvSpPr>
            <p:cNvPr id="13332" name="Text Box 44"/>
            <p:cNvSpPr txBox="1"/>
            <p:nvPr/>
          </p:nvSpPr>
          <p:spPr>
            <a:xfrm>
              <a:off x="2492" y="3509"/>
              <a:ext cx="526" cy="275"/>
            </a:xfrm>
            <a:prstGeom prst="rect">
              <a:avLst/>
            </a:prstGeom>
            <a:solidFill>
              <a:srgbClr val="FF9966"/>
            </a:solidFill>
            <a:ln w="38100" cap="flat" cmpd="sng">
              <a:solidFill>
                <a:schemeClr val="accent1"/>
              </a:solidFill>
              <a:prstDash val="solid"/>
              <a:miter/>
              <a:headEnd type="none" w="med" len="med"/>
              <a:tailEnd type="none" w="med" len="med"/>
            </a:ln>
          </p:spPr>
          <p:txBody>
            <a:bodyPr>
              <a:spAutoFit/>
            </a:bodyPr>
            <a:lstStyle/>
            <a:p>
              <a:pPr algn="ctr">
                <a:spcBef>
                  <a:spcPct val="50000"/>
                </a:spcBef>
              </a:pPr>
              <a:r>
                <a:rPr lang="en-US" altLang="zh-CN" sz="2000" dirty="0">
                  <a:solidFill>
                    <a:schemeClr val="bg2"/>
                  </a:solidFill>
                  <a:latin typeface="Times New Roman" panose="02020603050405020304" pitchFamily="18" charset="0"/>
                </a:rPr>
                <a:t> I/O</a:t>
              </a:r>
            </a:p>
          </p:txBody>
        </p:sp>
        <p:sp>
          <p:nvSpPr>
            <p:cNvPr id="13333" name="Line 45"/>
            <p:cNvSpPr/>
            <p:nvPr/>
          </p:nvSpPr>
          <p:spPr>
            <a:xfrm>
              <a:off x="2763" y="3327"/>
              <a:ext cx="0" cy="181"/>
            </a:xfrm>
            <a:prstGeom prst="line">
              <a:avLst/>
            </a:prstGeom>
            <a:ln w="38100" cap="flat" cmpd="sng">
              <a:solidFill>
                <a:schemeClr val="tx1"/>
              </a:solidFill>
              <a:prstDash val="solid"/>
              <a:headEnd type="triangle" w="med" len="med"/>
              <a:tailEnd type="none" w="med" len="med"/>
            </a:ln>
          </p:spPr>
        </p:sp>
        <p:sp>
          <p:nvSpPr>
            <p:cNvPr id="13334" name="Line 46"/>
            <p:cNvSpPr/>
            <p:nvPr/>
          </p:nvSpPr>
          <p:spPr>
            <a:xfrm>
              <a:off x="3710" y="3327"/>
              <a:ext cx="0" cy="181"/>
            </a:xfrm>
            <a:prstGeom prst="line">
              <a:avLst/>
            </a:prstGeom>
            <a:ln w="38100" cap="flat" cmpd="sng">
              <a:solidFill>
                <a:schemeClr val="tx1"/>
              </a:solidFill>
              <a:prstDash val="solid"/>
              <a:headEnd type="triangle" w="med" len="med"/>
              <a:tailEnd type="none" w="med" len="med"/>
            </a:ln>
          </p:spPr>
        </p:sp>
        <p:sp>
          <p:nvSpPr>
            <p:cNvPr id="13335" name="Text Box 47"/>
            <p:cNvSpPr txBox="1"/>
            <p:nvPr/>
          </p:nvSpPr>
          <p:spPr>
            <a:xfrm>
              <a:off x="3073" y="3463"/>
              <a:ext cx="308" cy="288"/>
            </a:xfrm>
            <a:prstGeom prst="rect">
              <a:avLst/>
            </a:prstGeom>
            <a:noFill/>
            <a:ln w="9525">
              <a:noFill/>
            </a:ln>
          </p:spPr>
          <p:txBody>
            <a:bodyPr wrap="none">
              <a:spAutoFit/>
            </a:bodyPr>
            <a:lstStyle/>
            <a:p>
              <a:pPr eaLnBrk="0" hangingPunct="0"/>
              <a:r>
                <a:rPr lang="en-US" altLang="zh-CN" dirty="0">
                  <a:latin typeface="Times New Roman" panose="02020603050405020304" pitchFamily="18" charset="0"/>
                </a:rPr>
                <a:t>…</a:t>
              </a:r>
            </a:p>
          </p:txBody>
        </p:sp>
      </p:grpSp>
      <p:grpSp>
        <p:nvGrpSpPr>
          <p:cNvPr id="19459" name="Group 5"/>
          <p:cNvGrpSpPr/>
          <p:nvPr/>
        </p:nvGrpSpPr>
        <p:grpSpPr>
          <a:xfrm>
            <a:off x="5763260" y="3284855"/>
            <a:ext cx="3022600" cy="3049905"/>
            <a:chOff x="1296" y="336"/>
            <a:chExt cx="2112" cy="2016"/>
          </a:xfrm>
        </p:grpSpPr>
        <p:grpSp>
          <p:nvGrpSpPr>
            <p:cNvPr id="19460" name="Group 6"/>
            <p:cNvGrpSpPr/>
            <p:nvPr/>
          </p:nvGrpSpPr>
          <p:grpSpPr>
            <a:xfrm>
              <a:off x="1296" y="432"/>
              <a:ext cx="672" cy="1920"/>
              <a:chOff x="576" y="3648"/>
              <a:chExt cx="672" cy="624"/>
            </a:xfrm>
          </p:grpSpPr>
          <p:sp>
            <p:nvSpPr>
              <p:cNvPr id="19474" name="Rectangle 7"/>
              <p:cNvSpPr/>
              <p:nvPr/>
            </p:nvSpPr>
            <p:spPr>
              <a:xfrm>
                <a:off x="576" y="3648"/>
                <a:ext cx="528" cy="624"/>
              </a:xfrm>
              <a:prstGeom prst="rect">
                <a:avLst/>
              </a:prstGeom>
              <a:solidFill>
                <a:schemeClr val="accent1"/>
              </a:solidFill>
              <a:ln w="38100"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9475" name="Text Box 8"/>
              <p:cNvSpPr txBox="1"/>
              <p:nvPr/>
            </p:nvSpPr>
            <p:spPr>
              <a:xfrm>
                <a:off x="624" y="3792"/>
                <a:ext cx="624" cy="99"/>
              </a:xfrm>
              <a:prstGeom prst="rect">
                <a:avLst/>
              </a:prstGeom>
              <a:noFill/>
              <a:ln w="9525">
                <a:noFill/>
              </a:ln>
            </p:spPr>
            <p:txBody>
              <a:bodyPr>
                <a:spAutoFit/>
              </a:bodyPr>
              <a:lstStyle/>
              <a:p>
                <a:pPr>
                  <a:spcBef>
                    <a:spcPct val="50000"/>
                  </a:spcBef>
                </a:pPr>
                <a:r>
                  <a:rPr lang="en-US" altLang="zh-CN" sz="2400" b="1" dirty="0">
                    <a:solidFill>
                      <a:schemeClr val="accent2"/>
                    </a:solidFill>
                    <a:latin typeface="黑体" panose="02010609060101010101" pitchFamily="49" charset="-122"/>
                    <a:ea typeface="黑体" panose="02010609060101010101" pitchFamily="49" charset="-122"/>
                  </a:rPr>
                  <a:t>CPU</a:t>
                </a:r>
              </a:p>
            </p:txBody>
          </p:sp>
        </p:grpSp>
        <p:sp>
          <p:nvSpPr>
            <p:cNvPr id="19461" name="Line 9"/>
            <p:cNvSpPr/>
            <p:nvPr/>
          </p:nvSpPr>
          <p:spPr>
            <a:xfrm>
              <a:off x="1824" y="624"/>
              <a:ext cx="720" cy="0"/>
            </a:xfrm>
            <a:prstGeom prst="line">
              <a:avLst/>
            </a:prstGeom>
            <a:ln w="38100" cap="flat" cmpd="sng">
              <a:solidFill>
                <a:schemeClr val="tx1"/>
              </a:solidFill>
              <a:prstDash val="solid"/>
              <a:headEnd type="triangle" w="med" len="med"/>
              <a:tailEnd type="none" w="med" len="med"/>
            </a:ln>
          </p:spPr>
        </p:sp>
        <p:sp>
          <p:nvSpPr>
            <p:cNvPr id="19462" name="Text Box 10"/>
            <p:cNvSpPr txBox="1"/>
            <p:nvPr/>
          </p:nvSpPr>
          <p:spPr>
            <a:xfrm>
              <a:off x="1920" y="336"/>
              <a:ext cx="768" cy="304"/>
            </a:xfrm>
            <a:prstGeom prst="rect">
              <a:avLst/>
            </a:prstGeom>
            <a:noFill/>
            <a:ln w="9525">
              <a:noFill/>
            </a:ln>
          </p:spPr>
          <p:txBody>
            <a:bodyPr>
              <a:spAutoFit/>
            </a:bodyPr>
            <a:lstStyle/>
            <a:p>
              <a:pPr>
                <a:spcBef>
                  <a:spcPct val="50000"/>
                </a:spcBef>
              </a:pPr>
              <a:r>
                <a:rPr lang="zh-CN" altLang="en-US" sz="2400" b="1" dirty="0">
                  <a:solidFill>
                    <a:srgbClr val="FF3300"/>
                  </a:solidFill>
                  <a:latin typeface="Times New Roman" panose="02020603050405020304" pitchFamily="18" charset="0"/>
                  <a:ea typeface="黑体" panose="02010609060101010101" pitchFamily="49" charset="-122"/>
                </a:rPr>
                <a:t>请求</a:t>
              </a:r>
            </a:p>
          </p:txBody>
        </p:sp>
        <p:sp>
          <p:nvSpPr>
            <p:cNvPr id="19463" name="Line 11"/>
            <p:cNvSpPr/>
            <p:nvPr/>
          </p:nvSpPr>
          <p:spPr>
            <a:xfrm>
              <a:off x="1824" y="912"/>
              <a:ext cx="720" cy="0"/>
            </a:xfrm>
            <a:prstGeom prst="line">
              <a:avLst/>
            </a:prstGeom>
            <a:ln w="38100" cap="flat" cmpd="sng">
              <a:solidFill>
                <a:schemeClr val="tx1"/>
              </a:solidFill>
              <a:prstDash val="solid"/>
              <a:headEnd type="triangle" w="med" len="med"/>
              <a:tailEnd type="none" w="med" len="med"/>
            </a:ln>
          </p:spPr>
        </p:sp>
        <p:sp>
          <p:nvSpPr>
            <p:cNvPr id="19464" name="Text Box 12"/>
            <p:cNvSpPr txBox="1"/>
            <p:nvPr/>
          </p:nvSpPr>
          <p:spPr>
            <a:xfrm>
              <a:off x="1920" y="625"/>
              <a:ext cx="768" cy="304"/>
            </a:xfrm>
            <a:prstGeom prst="rect">
              <a:avLst/>
            </a:prstGeom>
            <a:noFill/>
            <a:ln w="9525">
              <a:noFill/>
            </a:ln>
          </p:spPr>
          <p:txBody>
            <a:bodyPr>
              <a:spAutoFit/>
            </a:bodyPr>
            <a:lstStyle/>
            <a:p>
              <a:pPr>
                <a:spcBef>
                  <a:spcPct val="50000"/>
                </a:spcBef>
              </a:pPr>
              <a:r>
                <a:rPr lang="zh-CN" altLang="en-US" sz="2400" b="1" dirty="0">
                  <a:solidFill>
                    <a:srgbClr val="FF3300"/>
                  </a:solidFill>
                  <a:latin typeface="Times New Roman" panose="02020603050405020304" pitchFamily="18" charset="0"/>
                  <a:ea typeface="黑体" panose="02010609060101010101" pitchFamily="49" charset="-122"/>
                </a:rPr>
                <a:t>请求</a:t>
              </a:r>
            </a:p>
          </p:txBody>
        </p:sp>
        <p:sp>
          <p:nvSpPr>
            <p:cNvPr id="19465" name="Text Box 13"/>
            <p:cNvSpPr txBox="1"/>
            <p:nvPr/>
          </p:nvSpPr>
          <p:spPr>
            <a:xfrm>
              <a:off x="2544" y="480"/>
              <a:ext cx="576" cy="250"/>
            </a:xfrm>
            <a:prstGeom prst="rect">
              <a:avLst/>
            </a:prstGeom>
            <a:solidFill>
              <a:srgbClr val="FF9966"/>
            </a:solid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zh-CN" sz="2000" b="1" dirty="0">
                <a:latin typeface="Times New Roman" panose="02020603050405020304" pitchFamily="18" charset="0"/>
              </a:endParaRPr>
            </a:p>
          </p:txBody>
        </p:sp>
        <p:sp>
          <p:nvSpPr>
            <p:cNvPr id="19466" name="Text Box 14"/>
            <p:cNvSpPr txBox="1"/>
            <p:nvPr/>
          </p:nvSpPr>
          <p:spPr>
            <a:xfrm>
              <a:off x="2544" y="816"/>
              <a:ext cx="576" cy="250"/>
            </a:xfrm>
            <a:prstGeom prst="rect">
              <a:avLst/>
            </a:prstGeom>
            <a:solidFill>
              <a:srgbClr val="FF9966"/>
            </a:solid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zh-CN" sz="2000" b="1" dirty="0">
                <a:latin typeface="Times New Roman" panose="02020603050405020304" pitchFamily="18" charset="0"/>
              </a:endParaRPr>
            </a:p>
          </p:txBody>
        </p:sp>
        <p:sp>
          <p:nvSpPr>
            <p:cNvPr id="19467" name="Line 15"/>
            <p:cNvSpPr/>
            <p:nvPr/>
          </p:nvSpPr>
          <p:spPr>
            <a:xfrm>
              <a:off x="1824" y="1872"/>
              <a:ext cx="1584" cy="0"/>
            </a:xfrm>
            <a:prstGeom prst="line">
              <a:avLst/>
            </a:prstGeom>
            <a:ln w="38100" cap="flat" cmpd="sng">
              <a:solidFill>
                <a:schemeClr val="tx1"/>
              </a:solidFill>
              <a:prstDash val="solid"/>
              <a:headEnd type="triangle" w="med" len="med"/>
              <a:tailEnd type="none" w="med" len="med"/>
            </a:ln>
          </p:spPr>
        </p:sp>
        <p:sp>
          <p:nvSpPr>
            <p:cNvPr id="19468" name="Text Box 16"/>
            <p:cNvSpPr txBox="1"/>
            <p:nvPr/>
          </p:nvSpPr>
          <p:spPr>
            <a:xfrm>
              <a:off x="2160" y="1584"/>
              <a:ext cx="1056" cy="304"/>
            </a:xfrm>
            <a:prstGeom prst="rect">
              <a:avLst/>
            </a:prstGeom>
            <a:noFill/>
            <a:ln w="9525">
              <a:noFill/>
            </a:ln>
          </p:spPr>
          <p:txBody>
            <a:bodyPr>
              <a:spAutoFit/>
            </a:bodyPr>
            <a:lstStyle/>
            <a:p>
              <a:pPr>
                <a:spcBef>
                  <a:spcPct val="50000"/>
                </a:spcBef>
              </a:pPr>
              <a:r>
                <a:rPr lang="zh-CN" altLang="en-US" sz="2400" b="1" dirty="0">
                  <a:solidFill>
                    <a:srgbClr val="FF3300"/>
                  </a:solidFill>
                  <a:latin typeface="Times New Roman" panose="02020603050405020304" pitchFamily="18" charset="0"/>
                  <a:ea typeface="黑体" panose="02010609060101010101" pitchFamily="49" charset="-122"/>
                </a:rPr>
                <a:t>公共请求</a:t>
              </a:r>
            </a:p>
          </p:txBody>
        </p:sp>
        <p:sp>
          <p:nvSpPr>
            <p:cNvPr id="19469" name="Text Box 17"/>
            <p:cNvSpPr txBox="1"/>
            <p:nvPr/>
          </p:nvSpPr>
          <p:spPr>
            <a:xfrm>
              <a:off x="2832" y="2016"/>
              <a:ext cx="576" cy="250"/>
            </a:xfrm>
            <a:prstGeom prst="rect">
              <a:avLst/>
            </a:prstGeom>
            <a:solidFill>
              <a:srgbClr val="FF9966"/>
            </a:solid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zh-CN" sz="2000" b="1" dirty="0">
                <a:latin typeface="Times New Roman" panose="02020603050405020304" pitchFamily="18" charset="0"/>
              </a:endParaRPr>
            </a:p>
          </p:txBody>
        </p:sp>
        <p:sp>
          <p:nvSpPr>
            <p:cNvPr id="19470" name="Text Box 18"/>
            <p:cNvSpPr txBox="1"/>
            <p:nvPr/>
          </p:nvSpPr>
          <p:spPr>
            <a:xfrm>
              <a:off x="2016" y="2016"/>
              <a:ext cx="576" cy="250"/>
            </a:xfrm>
            <a:prstGeom prst="rect">
              <a:avLst/>
            </a:prstGeom>
            <a:solidFill>
              <a:srgbClr val="FF9966"/>
            </a:solidFill>
            <a:ln w="38100" cap="flat" cmpd="sng">
              <a:solidFill>
                <a:schemeClr val="tx1"/>
              </a:solidFill>
              <a:prstDash val="solid"/>
              <a:miter/>
              <a:headEnd type="none" w="med" len="med"/>
              <a:tailEnd type="none" w="med" len="med"/>
            </a:ln>
          </p:spPr>
          <p:txBody>
            <a:bodyPr>
              <a:spAutoFit/>
            </a:bodyPr>
            <a:lstStyle/>
            <a:p>
              <a:pPr>
                <a:spcBef>
                  <a:spcPct val="50000"/>
                </a:spcBef>
              </a:pPr>
              <a:endParaRPr lang="zh-CN" altLang="zh-CN" sz="2000" b="1" dirty="0">
                <a:latin typeface="Times New Roman" panose="02020603050405020304" pitchFamily="18" charset="0"/>
              </a:endParaRPr>
            </a:p>
          </p:txBody>
        </p:sp>
        <p:sp>
          <p:nvSpPr>
            <p:cNvPr id="19471" name="Line 19"/>
            <p:cNvSpPr/>
            <p:nvPr/>
          </p:nvSpPr>
          <p:spPr>
            <a:xfrm>
              <a:off x="2256" y="1872"/>
              <a:ext cx="0" cy="144"/>
            </a:xfrm>
            <a:prstGeom prst="line">
              <a:avLst/>
            </a:prstGeom>
            <a:ln w="38100" cap="flat" cmpd="sng">
              <a:solidFill>
                <a:schemeClr val="tx1"/>
              </a:solidFill>
              <a:prstDash val="solid"/>
              <a:headEnd type="none" w="med" len="med"/>
              <a:tailEnd type="none" w="med" len="med"/>
            </a:ln>
          </p:spPr>
        </p:sp>
        <p:sp>
          <p:nvSpPr>
            <p:cNvPr id="19472" name="Line 20"/>
            <p:cNvSpPr/>
            <p:nvPr/>
          </p:nvSpPr>
          <p:spPr>
            <a:xfrm>
              <a:off x="3120" y="1872"/>
              <a:ext cx="0" cy="144"/>
            </a:xfrm>
            <a:prstGeom prst="line">
              <a:avLst/>
            </a:prstGeom>
            <a:ln w="38100" cap="flat" cmpd="sng">
              <a:solidFill>
                <a:schemeClr val="tx1"/>
              </a:solidFill>
              <a:prstDash val="solid"/>
              <a:headEnd type="none" w="med" len="med"/>
              <a:tailEnd type="none" w="med" len="med"/>
            </a:ln>
          </p:spPr>
        </p:sp>
        <p:sp>
          <p:nvSpPr>
            <p:cNvPr id="19473" name="Line 21"/>
            <p:cNvSpPr/>
            <p:nvPr/>
          </p:nvSpPr>
          <p:spPr>
            <a:xfrm>
              <a:off x="2640" y="2112"/>
              <a:ext cx="144" cy="0"/>
            </a:xfrm>
            <a:prstGeom prst="line">
              <a:avLst/>
            </a:prstGeom>
            <a:ln w="28575" cap="rnd" cmpd="sng">
              <a:solidFill>
                <a:schemeClr val="tx1"/>
              </a:solidFill>
              <a:prstDash val="sysDot"/>
              <a:headEnd type="none" w="med" len="med"/>
              <a:tailEnd type="none" w="med" len="med"/>
            </a:ln>
          </p:spPr>
        </p:sp>
      </p:grpSp>
      <p:sp>
        <p:nvSpPr>
          <p:cNvPr id="19458" name="Text Box 4"/>
          <p:cNvSpPr txBox="1"/>
          <p:nvPr/>
        </p:nvSpPr>
        <p:spPr>
          <a:xfrm>
            <a:off x="251460" y="3838575"/>
            <a:ext cx="4956175" cy="1938020"/>
          </a:xfrm>
          <a:prstGeom prst="rect">
            <a:avLst/>
          </a:prstGeom>
          <a:noFill/>
          <a:ln w="9525">
            <a:noFill/>
          </a:ln>
        </p:spPr>
        <p:txBody>
          <a:bodyPr wrap="square">
            <a:spAutoFit/>
          </a:bodyPr>
          <a:lstStyle/>
          <a:p>
            <a:pPr>
              <a:spcBef>
                <a:spcPct val="50000"/>
              </a:spcBef>
            </a:pPr>
            <a:r>
              <a:rPr lang="en-US" altLang="zh-CN" b="1" dirty="0">
                <a:solidFill>
                  <a:schemeClr val="tx1"/>
                </a:solidFill>
                <a:latin typeface="黑体" panose="02010609060101010101" pitchFamily="49" charset="-122"/>
                <a:ea typeface="黑体" panose="02010609060101010101" pitchFamily="49" charset="-122"/>
                <a:cs typeface="黑体" panose="02010609060101010101" pitchFamily="49" charset="-122"/>
              </a:rPr>
              <a:t>4)</a:t>
            </a:r>
            <a:r>
              <a:rPr lang="zh-CN" altLang="en-US" b="1" dirty="0">
                <a:solidFill>
                  <a:schemeClr val="tx1"/>
                </a:solidFill>
                <a:latin typeface="黑体" panose="02010609060101010101" pitchFamily="49" charset="-122"/>
                <a:ea typeface="黑体" panose="02010609060101010101" pitchFamily="49" charset="-122"/>
                <a:cs typeface="黑体" panose="02010609060101010101" pitchFamily="49" charset="-122"/>
              </a:rPr>
              <a:t>兼有公共请求线和独立请求线</a:t>
            </a:r>
            <a:r>
              <a:rPr lang="en-US" altLang="zh-CN" b="1" dirty="0">
                <a:solidFill>
                  <a:schemeClr val="tx1"/>
                </a:solidFill>
                <a:latin typeface="黑体" panose="02010609060101010101" pitchFamily="49" charset="-122"/>
                <a:ea typeface="黑体" panose="02010609060101010101" pitchFamily="49" charset="-122"/>
                <a:cs typeface="黑体" panose="02010609060101010101" pitchFamily="49" charset="-122"/>
              </a:rPr>
              <a:t>:</a:t>
            </a:r>
            <a:r>
              <a:rPr lang="zh-CN" altLang="en-US" b="1" dirty="0">
                <a:solidFill>
                  <a:schemeClr val="tx1"/>
                </a:solidFill>
                <a:latin typeface="黑体" panose="02010609060101010101" pitchFamily="49" charset="-122"/>
                <a:ea typeface="黑体" panose="02010609060101010101" pitchFamily="49" charset="-122"/>
                <a:cs typeface="黑体" panose="02010609060101010101" pitchFamily="49" charset="-122"/>
              </a:rPr>
              <a:t>将要求快速响应的中断请求，采用独立请求线方式，以便快速识别，将其余响应速度允许相对低些的中断请求，汇集为一根公共请求线。</a:t>
            </a:r>
          </a:p>
        </p:txBody>
      </p:sp>
    </p:spTree>
  </p:cSld>
  <p:clrMapOvr>
    <a:masterClrMapping/>
  </p:clrMapOvr>
  <p:transition>
    <p:cover dir="l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p:nvPr/>
        </p:nvSpPr>
        <p:spPr>
          <a:xfrm>
            <a:off x="220663" y="112713"/>
            <a:ext cx="5791200" cy="579437"/>
          </a:xfrm>
          <a:prstGeom prst="rect">
            <a:avLst/>
          </a:prstGeom>
          <a:noFill/>
          <a:ln w="12700">
            <a:noFill/>
          </a:ln>
        </p:spPr>
        <p:txBody>
          <a:bodyPr>
            <a:spAutoFit/>
          </a:bodyPr>
          <a:lstStyle/>
          <a:p>
            <a:pPr>
              <a:spcBef>
                <a:spcPct val="50000"/>
              </a:spcBef>
            </a:pPr>
            <a:r>
              <a:rPr lang="en-US" altLang="zh-CN" sz="3200" dirty="0">
                <a:solidFill>
                  <a:srgbClr val="FFFF00"/>
                </a:solidFill>
                <a:latin typeface="黑体" panose="02010609060101010101" pitchFamily="49" charset="-122"/>
                <a:ea typeface="黑体" panose="02010609060101010101" pitchFamily="49" charset="-122"/>
              </a:rPr>
              <a:t>2.</a:t>
            </a:r>
            <a:r>
              <a:rPr lang="zh-CN" altLang="en-US" sz="3200" dirty="0">
                <a:solidFill>
                  <a:srgbClr val="FFFF00"/>
                </a:solidFill>
                <a:latin typeface="黑体" panose="02010609060101010101" pitchFamily="49" charset="-122"/>
                <a:ea typeface="黑体" panose="02010609060101010101" pitchFamily="49" charset="-122"/>
              </a:rPr>
              <a:t>中断请求优先级的判断</a:t>
            </a:r>
          </a:p>
        </p:txBody>
      </p:sp>
      <p:sp>
        <p:nvSpPr>
          <p:cNvPr id="13315" name="Text Box 3"/>
          <p:cNvSpPr txBox="1"/>
          <p:nvPr/>
        </p:nvSpPr>
        <p:spPr>
          <a:xfrm>
            <a:off x="0" y="792163"/>
            <a:ext cx="6084888" cy="549275"/>
          </a:xfrm>
          <a:prstGeom prst="rect">
            <a:avLst/>
          </a:prstGeom>
          <a:noFill/>
          <a:ln w="12700">
            <a:noFill/>
          </a:ln>
        </p:spPr>
        <p:txBody>
          <a:bodyPr>
            <a:spAutoFit/>
          </a:bodyPr>
          <a:lstStyle/>
          <a:p>
            <a:pPr>
              <a:spcBef>
                <a:spcPct val="50000"/>
              </a:spcBef>
            </a:pPr>
            <a:r>
              <a:rPr lang="zh-CN" altLang="en-US" sz="3000" dirty="0">
                <a:latin typeface="黑体" panose="02010609060101010101" pitchFamily="49" charset="-122"/>
                <a:ea typeface="黑体" panose="02010609060101010101" pitchFamily="49" charset="-122"/>
              </a:rPr>
              <a:t>（</a:t>
            </a:r>
            <a:r>
              <a:rPr lang="en-US" altLang="zh-CN" sz="3000" dirty="0">
                <a:latin typeface="黑体" panose="02010609060101010101" pitchFamily="49" charset="-122"/>
                <a:ea typeface="黑体" panose="02010609060101010101" pitchFamily="49" charset="-122"/>
              </a:rPr>
              <a:t>1</a:t>
            </a:r>
            <a:r>
              <a:rPr lang="zh-CN" altLang="en-US" sz="3000" dirty="0">
                <a:latin typeface="黑体" panose="02010609060101010101" pitchFamily="49" charset="-122"/>
                <a:ea typeface="黑体" panose="02010609060101010101" pitchFamily="49" charset="-122"/>
              </a:rPr>
              <a:t>）中断源优先级顺序的安排</a:t>
            </a:r>
          </a:p>
        </p:txBody>
      </p:sp>
      <p:sp>
        <p:nvSpPr>
          <p:cNvPr id="13316" name="Text Box 4"/>
          <p:cNvSpPr txBox="1"/>
          <p:nvPr/>
        </p:nvSpPr>
        <p:spPr>
          <a:xfrm>
            <a:off x="250825" y="1397000"/>
            <a:ext cx="6121400" cy="519113"/>
          </a:xfrm>
          <a:prstGeom prst="rect">
            <a:avLst/>
          </a:prstGeom>
          <a:noFill/>
          <a:ln w="12700">
            <a:noFill/>
          </a:ln>
        </p:spPr>
        <p:txBody>
          <a:bodyPr>
            <a:spAutoFit/>
          </a:bodyPr>
          <a:lstStyle/>
          <a:p>
            <a:pPr>
              <a:spcBef>
                <a:spcPct val="50000"/>
              </a:spcBef>
            </a:pPr>
            <a:r>
              <a:rPr lang="zh-CN" altLang="en-US" sz="2800" dirty="0">
                <a:solidFill>
                  <a:srgbClr val="00FF00"/>
                </a:solidFill>
                <a:latin typeface="黑体" panose="02010609060101010101" pitchFamily="49" charset="-122"/>
                <a:ea typeface="黑体" panose="02010609060101010101" pitchFamily="49" charset="-122"/>
              </a:rPr>
              <a:t>故障 </a:t>
            </a:r>
            <a:r>
              <a:rPr lang="en-US" altLang="zh-CN" sz="2800" dirty="0">
                <a:solidFill>
                  <a:srgbClr val="00FF00"/>
                </a:solidFill>
                <a:latin typeface="黑体" panose="02010609060101010101" pitchFamily="49" charset="-122"/>
                <a:ea typeface="黑体" panose="02010609060101010101" pitchFamily="49" charset="-122"/>
              </a:rPr>
              <a:t>&gt;</a:t>
            </a:r>
            <a:r>
              <a:rPr lang="zh-CN" altLang="en-US" sz="2800" dirty="0">
                <a:solidFill>
                  <a:srgbClr val="00FF00"/>
                </a:solidFill>
                <a:latin typeface="黑体" panose="02010609060101010101" pitchFamily="49" charset="-122"/>
                <a:ea typeface="黑体" panose="02010609060101010101" pitchFamily="49" charset="-122"/>
              </a:rPr>
              <a:t> </a:t>
            </a:r>
            <a:r>
              <a:rPr lang="en-US" altLang="zh-CN" sz="2800" dirty="0">
                <a:solidFill>
                  <a:srgbClr val="00FF00"/>
                </a:solidFill>
                <a:latin typeface="黑体" panose="02010609060101010101" pitchFamily="49" charset="-122"/>
                <a:ea typeface="黑体" panose="02010609060101010101" pitchFamily="49" charset="-122"/>
              </a:rPr>
              <a:t>DMA</a:t>
            </a:r>
            <a:r>
              <a:rPr lang="zh-CN" altLang="en-US" sz="2800" dirty="0">
                <a:solidFill>
                  <a:srgbClr val="00FF00"/>
                </a:solidFill>
                <a:latin typeface="黑体" panose="02010609060101010101" pitchFamily="49" charset="-122"/>
                <a:ea typeface="黑体" panose="02010609060101010101" pitchFamily="49" charset="-122"/>
              </a:rPr>
              <a:t> </a:t>
            </a:r>
            <a:r>
              <a:rPr lang="en-US" altLang="zh-CN" sz="2800" dirty="0">
                <a:solidFill>
                  <a:srgbClr val="00FF00"/>
                </a:solidFill>
                <a:latin typeface="黑体" panose="02010609060101010101" pitchFamily="49" charset="-122"/>
                <a:ea typeface="黑体" panose="02010609060101010101" pitchFamily="49" charset="-122"/>
              </a:rPr>
              <a:t>&gt;</a:t>
            </a:r>
            <a:r>
              <a:rPr lang="zh-CN" altLang="en-US" sz="2800" dirty="0">
                <a:solidFill>
                  <a:srgbClr val="00FF00"/>
                </a:solidFill>
                <a:latin typeface="黑体" panose="02010609060101010101" pitchFamily="49" charset="-122"/>
                <a:ea typeface="黑体" panose="02010609060101010101" pitchFamily="49" charset="-122"/>
              </a:rPr>
              <a:t> 外部设备引起的中断</a:t>
            </a:r>
          </a:p>
        </p:txBody>
      </p:sp>
      <p:sp>
        <p:nvSpPr>
          <p:cNvPr id="13317" name="Text Box 5"/>
          <p:cNvSpPr txBox="1"/>
          <p:nvPr/>
        </p:nvSpPr>
        <p:spPr>
          <a:xfrm>
            <a:off x="0" y="2565400"/>
            <a:ext cx="6659563" cy="549275"/>
          </a:xfrm>
          <a:prstGeom prst="rect">
            <a:avLst/>
          </a:prstGeom>
          <a:noFill/>
          <a:ln w="12700">
            <a:noFill/>
          </a:ln>
        </p:spPr>
        <p:txBody>
          <a:bodyPr>
            <a:spAutoFit/>
          </a:bodyPr>
          <a:lstStyle/>
          <a:p>
            <a:pPr>
              <a:spcBef>
                <a:spcPct val="50000"/>
              </a:spcBef>
            </a:pPr>
            <a:r>
              <a:rPr lang="zh-CN" altLang="en-US" sz="3000" dirty="0">
                <a:latin typeface="黑体" panose="02010609060101010101" pitchFamily="49" charset="-122"/>
                <a:ea typeface="黑体" panose="02010609060101010101" pitchFamily="49" charset="-122"/>
              </a:rPr>
              <a:t>（</a:t>
            </a:r>
            <a:r>
              <a:rPr lang="en-US" altLang="zh-CN" sz="3000" dirty="0">
                <a:latin typeface="黑体" panose="02010609060101010101" pitchFamily="49" charset="-122"/>
                <a:ea typeface="黑体" panose="02010609060101010101" pitchFamily="49" charset="-122"/>
              </a:rPr>
              <a:t>2</a:t>
            </a:r>
            <a:r>
              <a:rPr lang="zh-CN" altLang="en-US" sz="3000" dirty="0">
                <a:latin typeface="黑体" panose="02010609060101010101" pitchFamily="49" charset="-122"/>
                <a:ea typeface="黑体" panose="02010609060101010101" pitchFamily="49" charset="-122"/>
              </a:rPr>
              <a:t>）</a:t>
            </a:r>
            <a:r>
              <a:rPr lang="en-US" altLang="zh-CN" sz="3000" dirty="0">
                <a:latin typeface="黑体" panose="02010609060101010101" pitchFamily="49" charset="-122"/>
                <a:ea typeface="黑体" panose="02010609060101010101" pitchFamily="49" charset="-122"/>
              </a:rPr>
              <a:t>CPU</a:t>
            </a:r>
            <a:r>
              <a:rPr lang="zh-CN" altLang="en-US" sz="3000" dirty="0">
                <a:latin typeface="黑体" panose="02010609060101010101" pitchFamily="49" charset="-122"/>
                <a:ea typeface="黑体" panose="02010609060101010101" pitchFamily="49" charset="-122"/>
              </a:rPr>
              <a:t>当前程序与外设请求的判优</a:t>
            </a:r>
          </a:p>
        </p:txBody>
      </p:sp>
      <p:sp>
        <p:nvSpPr>
          <p:cNvPr id="13318" name="Text Box 6"/>
          <p:cNvSpPr txBox="1"/>
          <p:nvPr/>
        </p:nvSpPr>
        <p:spPr>
          <a:xfrm>
            <a:off x="250825" y="5268913"/>
            <a:ext cx="3298825" cy="519112"/>
          </a:xfrm>
          <a:prstGeom prst="rect">
            <a:avLst/>
          </a:prstGeom>
          <a:noFill/>
          <a:ln w="12700">
            <a:noFill/>
          </a:ln>
        </p:spPr>
        <p:txBody>
          <a:bodyPr>
            <a:spAutoFit/>
          </a:bodyPr>
          <a:lstStyle/>
          <a:p>
            <a:pPr>
              <a:spcBef>
                <a:spcPct val="50000"/>
              </a:spcBef>
            </a:pPr>
            <a:r>
              <a:rPr lang="zh-CN" altLang="en-US" sz="2800" dirty="0">
                <a:solidFill>
                  <a:schemeClr val="folHlink"/>
                </a:solidFill>
                <a:latin typeface="黑体" panose="02010609060101010101" pitchFamily="49" charset="-122"/>
                <a:ea typeface="黑体" panose="02010609060101010101" pitchFamily="49" charset="-122"/>
              </a:rPr>
              <a:t>现行程序的优先级</a:t>
            </a:r>
          </a:p>
        </p:txBody>
      </p:sp>
      <p:sp>
        <p:nvSpPr>
          <p:cNvPr id="13319" name="Text Box 7"/>
          <p:cNvSpPr txBox="1"/>
          <p:nvPr/>
        </p:nvSpPr>
        <p:spPr>
          <a:xfrm>
            <a:off x="558800" y="3360738"/>
            <a:ext cx="5381625" cy="519112"/>
          </a:xfrm>
          <a:prstGeom prst="rect">
            <a:avLst/>
          </a:prstGeom>
          <a:noFill/>
          <a:ln w="12700">
            <a:noFill/>
          </a:ln>
        </p:spPr>
        <p:txBody>
          <a:bodyPr>
            <a:spAutoFit/>
          </a:bodyPr>
          <a:lstStyle/>
          <a:p>
            <a:pPr>
              <a:spcBef>
                <a:spcPct val="50000"/>
              </a:spcBef>
              <a:buFont typeface="Wingdings" panose="05000000000000000000" pitchFamily="2" charset="2"/>
              <a:buChar char="l"/>
            </a:pPr>
            <a:r>
              <a:rPr lang="zh-CN" altLang="en-US" sz="2800" dirty="0">
                <a:latin typeface="黑体" panose="02010609060101010101" pitchFamily="49" charset="-122"/>
                <a:ea typeface="黑体" panose="02010609060101010101" pitchFamily="49" charset="-122"/>
              </a:rPr>
              <a:t> 先查询</a:t>
            </a:r>
            <a:r>
              <a:rPr lang="en-US" altLang="zh-CN" sz="2800" dirty="0">
                <a:latin typeface="黑体" panose="02010609060101010101" pitchFamily="49" charset="-122"/>
                <a:ea typeface="黑体" panose="02010609060101010101" pitchFamily="49" charset="-122"/>
              </a:rPr>
              <a:t>CPU</a:t>
            </a:r>
            <a:r>
              <a:rPr lang="zh-CN" altLang="en-US" sz="2800" dirty="0">
                <a:latin typeface="黑体" panose="02010609060101010101" pitchFamily="49" charset="-122"/>
                <a:ea typeface="黑体" panose="02010609060101010101" pitchFamily="49" charset="-122"/>
              </a:rPr>
              <a:t>的</a:t>
            </a:r>
            <a:r>
              <a:rPr lang="zh-CN" altLang="en-US" sz="2800" dirty="0">
                <a:solidFill>
                  <a:srgbClr val="FFFF00"/>
                </a:solidFill>
                <a:latin typeface="黑体" panose="02010609060101010101" pitchFamily="49" charset="-122"/>
                <a:ea typeface="黑体" panose="02010609060101010101" pitchFamily="49" charset="-122"/>
              </a:rPr>
              <a:t>允许中断标志</a:t>
            </a:r>
          </a:p>
        </p:txBody>
      </p:sp>
      <p:sp>
        <p:nvSpPr>
          <p:cNvPr id="13320" name="Text Box 8"/>
          <p:cNvSpPr txBox="1"/>
          <p:nvPr/>
        </p:nvSpPr>
        <p:spPr>
          <a:xfrm>
            <a:off x="250825" y="1939925"/>
            <a:ext cx="8893175" cy="625475"/>
          </a:xfrm>
          <a:prstGeom prst="rect">
            <a:avLst/>
          </a:prstGeom>
          <a:noFill/>
          <a:ln w="12700">
            <a:noFill/>
          </a:ln>
        </p:spPr>
        <p:txBody>
          <a:bodyPr>
            <a:spAutoFit/>
          </a:bodyPr>
          <a:lstStyle/>
          <a:p>
            <a:pPr>
              <a:lnSpc>
                <a:spcPct val="125000"/>
              </a:lnSpc>
              <a:spcBef>
                <a:spcPct val="50000"/>
              </a:spcBef>
            </a:pPr>
            <a:r>
              <a:rPr lang="zh-CN" altLang="en-US" sz="2800" dirty="0">
                <a:solidFill>
                  <a:schemeClr val="folHlink"/>
                </a:solidFill>
                <a:latin typeface="黑体" panose="02010609060101010101" pitchFamily="49" charset="-122"/>
                <a:ea typeface="黑体" panose="02010609060101010101" pitchFamily="49" charset="-122"/>
              </a:rPr>
              <a:t>基本原则：</a:t>
            </a:r>
            <a:r>
              <a:rPr lang="zh-CN" altLang="en-US" sz="2800" dirty="0">
                <a:solidFill>
                  <a:schemeClr val="accent1"/>
                </a:solidFill>
                <a:latin typeface="黑体" panose="02010609060101010101" pitchFamily="49" charset="-122"/>
                <a:ea typeface="黑体" panose="02010609060101010101" pitchFamily="49" charset="-122"/>
              </a:rPr>
              <a:t>高速操作优先于低速操作</a:t>
            </a:r>
            <a:r>
              <a:rPr lang="en-US" altLang="zh-CN" sz="2800" dirty="0">
                <a:solidFill>
                  <a:schemeClr val="accent1"/>
                </a:solidFill>
                <a:latin typeface="黑体" panose="02010609060101010101" pitchFamily="49" charset="-122"/>
                <a:ea typeface="黑体" panose="02010609060101010101" pitchFamily="49" charset="-122"/>
              </a:rPr>
              <a:t>,</a:t>
            </a:r>
            <a:r>
              <a:rPr lang="zh-CN" altLang="en-US" sz="2800" dirty="0">
                <a:solidFill>
                  <a:schemeClr val="accent1"/>
                </a:solidFill>
                <a:latin typeface="黑体" panose="02010609060101010101" pitchFamily="49" charset="-122"/>
                <a:ea typeface="黑体" panose="02010609060101010101" pitchFamily="49" charset="-122"/>
              </a:rPr>
              <a:t>输入优先于输出</a:t>
            </a:r>
            <a:r>
              <a:rPr lang="en-US" altLang="zh-CN" sz="2800" dirty="0">
                <a:solidFill>
                  <a:schemeClr val="accent1"/>
                </a:solidFill>
                <a:latin typeface="黑体" panose="02010609060101010101" pitchFamily="49" charset="-122"/>
                <a:ea typeface="黑体" panose="02010609060101010101" pitchFamily="49" charset="-122"/>
              </a:rPr>
              <a:t>.</a:t>
            </a:r>
          </a:p>
        </p:txBody>
      </p:sp>
      <p:sp>
        <p:nvSpPr>
          <p:cNvPr id="13321" name="Text Box 9"/>
          <p:cNvSpPr txBox="1"/>
          <p:nvPr/>
        </p:nvSpPr>
        <p:spPr>
          <a:xfrm>
            <a:off x="5516563" y="3162300"/>
            <a:ext cx="1971675" cy="457200"/>
          </a:xfrm>
          <a:prstGeom prst="rect">
            <a:avLst/>
          </a:prstGeom>
          <a:noFill/>
          <a:ln w="12700">
            <a:noFill/>
          </a:ln>
        </p:spPr>
        <p:txBody>
          <a:bodyPr>
            <a:spAutoFit/>
          </a:bodyPr>
          <a:lstStyle/>
          <a:p>
            <a:pPr>
              <a:spcBef>
                <a:spcPct val="50000"/>
              </a:spcBef>
            </a:pPr>
            <a:r>
              <a:rPr lang="en-US" altLang="zh-CN" dirty="0">
                <a:solidFill>
                  <a:schemeClr val="folHlink"/>
                </a:solidFill>
                <a:latin typeface="黑体" panose="02010609060101010101" pitchFamily="49" charset="-122"/>
                <a:ea typeface="黑体" panose="02010609060101010101" pitchFamily="49" charset="-122"/>
              </a:rPr>
              <a:t>=1</a:t>
            </a:r>
            <a:r>
              <a:rPr lang="zh-CN" altLang="en-US" dirty="0">
                <a:solidFill>
                  <a:schemeClr val="folHlink"/>
                </a:solidFill>
                <a:latin typeface="黑体" panose="02010609060101010101" pitchFamily="49" charset="-122"/>
                <a:ea typeface="黑体" panose="02010609060101010101" pitchFamily="49" charset="-122"/>
              </a:rPr>
              <a:t>，</a:t>
            </a:r>
            <a:r>
              <a:rPr lang="zh-CN" altLang="en-US" dirty="0">
                <a:solidFill>
                  <a:schemeClr val="accent1"/>
                </a:solidFill>
                <a:latin typeface="黑体" panose="02010609060101010101" pitchFamily="49" charset="-122"/>
                <a:ea typeface="黑体" panose="02010609060101010101" pitchFamily="49" charset="-122"/>
              </a:rPr>
              <a:t>开中断</a:t>
            </a:r>
          </a:p>
        </p:txBody>
      </p:sp>
      <p:sp>
        <p:nvSpPr>
          <p:cNvPr id="13323" name="AutoShape 11"/>
          <p:cNvSpPr/>
          <p:nvPr/>
        </p:nvSpPr>
        <p:spPr>
          <a:xfrm>
            <a:off x="5364163" y="3314700"/>
            <a:ext cx="152400" cy="685800"/>
          </a:xfrm>
          <a:prstGeom prst="leftBrace">
            <a:avLst>
              <a:gd name="adj1" fmla="val 37500"/>
              <a:gd name="adj2" fmla="val 50000"/>
            </a:avLst>
          </a:prstGeom>
          <a:noFill/>
          <a:ln w="38100" cap="flat" cmpd="sng">
            <a:solidFill>
              <a:schemeClr val="tx1"/>
            </a:solidFill>
            <a:prstDash val="solid"/>
            <a:headEnd type="none" w="med" len="med"/>
            <a:tailEnd type="none" w="med" len="med"/>
          </a:ln>
        </p:spPr>
        <p:txBody>
          <a:bodyPr wrap="none" anchor="ctr" anchorCtr="0"/>
          <a:lstStyle/>
          <a:p>
            <a:pPr eaLnBrk="0" hangingPunct="0"/>
            <a:endParaRPr lang="zh-CN" altLang="en-US" dirty="0">
              <a:latin typeface="Times New Roman" panose="02020603050405020304" pitchFamily="18" charset="0"/>
            </a:endParaRPr>
          </a:p>
        </p:txBody>
      </p:sp>
      <p:sp>
        <p:nvSpPr>
          <p:cNvPr id="13325" name="Text Box 13"/>
          <p:cNvSpPr txBox="1"/>
          <p:nvPr/>
        </p:nvSpPr>
        <p:spPr>
          <a:xfrm>
            <a:off x="3446463" y="4918075"/>
            <a:ext cx="4648200" cy="519113"/>
          </a:xfrm>
          <a:prstGeom prst="rect">
            <a:avLst/>
          </a:prstGeom>
          <a:noFill/>
          <a:ln w="12700">
            <a:noFill/>
          </a:ln>
        </p:spPr>
        <p:txBody>
          <a:bodyPr>
            <a:spAutoFit/>
          </a:bodyPr>
          <a:lstStyle/>
          <a:p>
            <a:pPr algn="just">
              <a:spcBef>
                <a:spcPct val="50000"/>
              </a:spcBef>
            </a:pPr>
            <a:r>
              <a:rPr lang="zh-CN" altLang="en-US" sz="2800" dirty="0">
                <a:solidFill>
                  <a:schemeClr val="folHlink"/>
                </a:solidFill>
                <a:latin typeface="黑体" panose="02010609060101010101" pitchFamily="49" charset="-122"/>
              </a:rPr>
              <a:t>＜</a:t>
            </a:r>
            <a:r>
              <a:rPr lang="zh-CN" altLang="en-US" sz="2800" dirty="0">
                <a:latin typeface="黑体" panose="02010609060101010101" pitchFamily="49" charset="-122"/>
                <a:ea typeface="黑体" panose="02010609060101010101" pitchFamily="49" charset="-122"/>
              </a:rPr>
              <a:t>外设请求优先级，</a:t>
            </a:r>
          </a:p>
        </p:txBody>
      </p:sp>
      <p:sp>
        <p:nvSpPr>
          <p:cNvPr id="13327" name="Text Box 15"/>
          <p:cNvSpPr txBox="1"/>
          <p:nvPr/>
        </p:nvSpPr>
        <p:spPr>
          <a:xfrm>
            <a:off x="6646863" y="4921250"/>
            <a:ext cx="1177925" cy="519113"/>
          </a:xfrm>
          <a:prstGeom prst="rect">
            <a:avLst/>
          </a:prstGeom>
          <a:noFill/>
          <a:ln w="12700">
            <a:noFill/>
          </a:ln>
        </p:spPr>
        <p:txBody>
          <a:bodyPr>
            <a:spAutoFit/>
          </a:bodyPr>
          <a:lstStyle/>
          <a:p>
            <a:pPr>
              <a:spcBef>
                <a:spcPct val="50000"/>
              </a:spcBef>
            </a:pPr>
            <a:r>
              <a:rPr lang="zh-CN" altLang="en-US" sz="2800" dirty="0">
                <a:solidFill>
                  <a:schemeClr val="folHlink"/>
                </a:solidFill>
                <a:latin typeface="黑体" panose="02010609060101010101" pitchFamily="49" charset="-122"/>
                <a:ea typeface="黑体" panose="02010609060101010101" pitchFamily="49" charset="-122"/>
              </a:rPr>
              <a:t>响应</a:t>
            </a:r>
          </a:p>
        </p:txBody>
      </p:sp>
      <p:sp>
        <p:nvSpPr>
          <p:cNvPr id="13328" name="Text Box 16"/>
          <p:cNvSpPr txBox="1"/>
          <p:nvPr/>
        </p:nvSpPr>
        <p:spPr>
          <a:xfrm>
            <a:off x="5519738" y="3705225"/>
            <a:ext cx="1968500" cy="457200"/>
          </a:xfrm>
          <a:prstGeom prst="rect">
            <a:avLst/>
          </a:prstGeom>
          <a:noFill/>
          <a:ln w="12700">
            <a:noFill/>
          </a:ln>
        </p:spPr>
        <p:txBody>
          <a:bodyPr>
            <a:spAutoFit/>
          </a:bodyPr>
          <a:lstStyle/>
          <a:p>
            <a:pPr>
              <a:spcBef>
                <a:spcPct val="50000"/>
              </a:spcBef>
            </a:pPr>
            <a:r>
              <a:rPr lang="en-US" altLang="zh-CN" dirty="0">
                <a:solidFill>
                  <a:schemeClr val="folHlink"/>
                </a:solidFill>
                <a:latin typeface="黑体" panose="02010609060101010101" pitchFamily="49" charset="-122"/>
                <a:ea typeface="黑体" panose="02010609060101010101" pitchFamily="49" charset="-122"/>
              </a:rPr>
              <a:t>=0</a:t>
            </a:r>
            <a:r>
              <a:rPr lang="zh-CN" altLang="en-US" dirty="0">
                <a:solidFill>
                  <a:schemeClr val="folHlink"/>
                </a:solidFill>
                <a:latin typeface="黑体" panose="02010609060101010101" pitchFamily="49" charset="-122"/>
                <a:ea typeface="黑体" panose="02010609060101010101" pitchFamily="49" charset="-122"/>
              </a:rPr>
              <a:t>，</a:t>
            </a:r>
            <a:r>
              <a:rPr lang="zh-CN" altLang="en-US" dirty="0">
                <a:solidFill>
                  <a:schemeClr val="accent1"/>
                </a:solidFill>
                <a:latin typeface="黑体" panose="02010609060101010101" pitchFamily="49" charset="-122"/>
                <a:ea typeface="黑体" panose="02010609060101010101" pitchFamily="49" charset="-122"/>
              </a:rPr>
              <a:t>关中断</a:t>
            </a:r>
          </a:p>
        </p:txBody>
      </p:sp>
      <p:sp>
        <p:nvSpPr>
          <p:cNvPr id="13329" name="Text Box 17"/>
          <p:cNvSpPr txBox="1"/>
          <p:nvPr/>
        </p:nvSpPr>
        <p:spPr>
          <a:xfrm>
            <a:off x="565150" y="4303713"/>
            <a:ext cx="6670675" cy="519112"/>
          </a:xfrm>
          <a:prstGeom prst="rect">
            <a:avLst/>
          </a:prstGeom>
          <a:noFill/>
          <a:ln w="12700">
            <a:noFill/>
          </a:ln>
        </p:spPr>
        <p:txBody>
          <a:bodyPr>
            <a:spAutoFit/>
          </a:bodyPr>
          <a:lstStyle/>
          <a:p>
            <a:pPr>
              <a:spcBef>
                <a:spcPct val="50000"/>
              </a:spcBef>
              <a:buFont typeface="Wingdings" panose="05000000000000000000" pitchFamily="2" charset="2"/>
              <a:buChar char="l"/>
            </a:pPr>
            <a:r>
              <a:rPr lang="zh-CN" altLang="en-US" sz="2800" dirty="0">
                <a:latin typeface="黑体" panose="02010609060101010101" pitchFamily="49" charset="-122"/>
                <a:ea typeface="黑体" panose="02010609060101010101" pitchFamily="49" charset="-122"/>
              </a:rPr>
              <a:t> 再分析当前程序的</a:t>
            </a:r>
            <a:r>
              <a:rPr lang="zh-CN" altLang="en-US" sz="2800" dirty="0">
                <a:solidFill>
                  <a:srgbClr val="FFFF00"/>
                </a:solidFill>
                <a:latin typeface="黑体" panose="02010609060101010101" pitchFamily="49" charset="-122"/>
                <a:ea typeface="黑体" panose="02010609060101010101" pitchFamily="49" charset="-122"/>
              </a:rPr>
              <a:t>优先级</a:t>
            </a:r>
            <a:r>
              <a:rPr lang="zh-CN" altLang="en-US" sz="2800" dirty="0">
                <a:latin typeface="黑体" panose="02010609060101010101" pitchFamily="49" charset="-122"/>
                <a:ea typeface="黑体" panose="02010609060101010101" pitchFamily="49" charset="-122"/>
              </a:rPr>
              <a:t>（</a:t>
            </a:r>
            <a:r>
              <a:rPr lang="en-US" altLang="zh-CN" sz="2800" dirty="0">
                <a:solidFill>
                  <a:srgbClr val="00FF00"/>
                </a:solidFill>
                <a:latin typeface="黑体" panose="02010609060101010101" pitchFamily="49" charset="-122"/>
                <a:ea typeface="黑体" panose="02010609060101010101" pitchFamily="49" charset="-122"/>
              </a:rPr>
              <a:t>PSW</a:t>
            </a:r>
            <a:r>
              <a:rPr lang="zh-CN" altLang="en-US" sz="2800" dirty="0">
                <a:solidFill>
                  <a:srgbClr val="00FF00"/>
                </a:solidFill>
                <a:latin typeface="黑体" panose="02010609060101010101" pitchFamily="49" charset="-122"/>
                <a:ea typeface="黑体" panose="02010609060101010101" pitchFamily="49" charset="-122"/>
              </a:rPr>
              <a:t>字段</a:t>
            </a:r>
            <a:r>
              <a:rPr lang="zh-CN" altLang="en-US" sz="2800" dirty="0">
                <a:latin typeface="黑体" panose="02010609060101010101" pitchFamily="49" charset="-122"/>
                <a:ea typeface="黑体" panose="02010609060101010101" pitchFamily="49" charset="-122"/>
              </a:rPr>
              <a:t>）</a:t>
            </a:r>
          </a:p>
        </p:txBody>
      </p:sp>
      <p:sp>
        <p:nvSpPr>
          <p:cNvPr id="13330" name="AutoShape 18"/>
          <p:cNvSpPr/>
          <p:nvPr/>
        </p:nvSpPr>
        <p:spPr>
          <a:xfrm>
            <a:off x="3349625" y="5057775"/>
            <a:ext cx="142875" cy="900113"/>
          </a:xfrm>
          <a:prstGeom prst="leftBrace">
            <a:avLst>
              <a:gd name="adj1" fmla="val 62125"/>
              <a:gd name="adj2" fmla="val 50000"/>
            </a:avLst>
          </a:prstGeom>
          <a:noFill/>
          <a:ln w="38100" cap="flat" cmpd="sng">
            <a:solidFill>
              <a:schemeClr val="tx1"/>
            </a:solidFill>
            <a:prstDash val="solid"/>
            <a:headEnd type="none" w="med" len="med"/>
            <a:tailEnd type="none" w="med" len="med"/>
          </a:ln>
        </p:spPr>
        <p:txBody>
          <a:bodyPr wrap="none" anchor="ctr" anchorCtr="0"/>
          <a:lstStyle/>
          <a:p>
            <a:pPr algn="ctr" eaLnBrk="0" hangingPunct="0"/>
            <a:endParaRPr lang="zh-CN" altLang="zh-CN" b="0" dirty="0">
              <a:latin typeface="Times New Roman" panose="02020603050405020304" pitchFamily="18" charset="0"/>
            </a:endParaRPr>
          </a:p>
        </p:txBody>
      </p:sp>
      <p:sp>
        <p:nvSpPr>
          <p:cNvPr id="13331" name="Text Box 19"/>
          <p:cNvSpPr txBox="1"/>
          <p:nvPr/>
        </p:nvSpPr>
        <p:spPr>
          <a:xfrm>
            <a:off x="3446463" y="5549900"/>
            <a:ext cx="4648200" cy="519113"/>
          </a:xfrm>
          <a:prstGeom prst="rect">
            <a:avLst/>
          </a:prstGeom>
          <a:noFill/>
          <a:ln w="12700">
            <a:noFill/>
          </a:ln>
        </p:spPr>
        <p:txBody>
          <a:bodyPr>
            <a:spAutoFit/>
          </a:bodyPr>
          <a:lstStyle/>
          <a:p>
            <a:pPr>
              <a:spcBef>
                <a:spcPct val="50000"/>
              </a:spcBef>
            </a:pPr>
            <a:r>
              <a:rPr lang="en-US" altLang="zh-CN" sz="2800" dirty="0">
                <a:solidFill>
                  <a:schemeClr val="folHlink"/>
                </a:solidFill>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外设请求优先级，</a:t>
            </a:r>
          </a:p>
        </p:txBody>
      </p:sp>
      <p:sp>
        <p:nvSpPr>
          <p:cNvPr id="13332" name="Text Box 20"/>
          <p:cNvSpPr txBox="1"/>
          <p:nvPr/>
        </p:nvSpPr>
        <p:spPr>
          <a:xfrm>
            <a:off x="6646863" y="5553075"/>
            <a:ext cx="1393825" cy="519113"/>
          </a:xfrm>
          <a:prstGeom prst="rect">
            <a:avLst/>
          </a:prstGeom>
          <a:noFill/>
          <a:ln w="12700">
            <a:noFill/>
          </a:ln>
        </p:spPr>
        <p:txBody>
          <a:bodyPr>
            <a:spAutoFit/>
          </a:bodyPr>
          <a:lstStyle/>
          <a:p>
            <a:pPr>
              <a:spcBef>
                <a:spcPct val="50000"/>
              </a:spcBef>
            </a:pPr>
            <a:r>
              <a:rPr lang="zh-CN" altLang="en-US" sz="2800" dirty="0">
                <a:solidFill>
                  <a:schemeClr val="folHlink"/>
                </a:solidFill>
                <a:latin typeface="黑体" panose="02010609060101010101" pitchFamily="49" charset="-122"/>
                <a:ea typeface="黑体" panose="02010609060101010101" pitchFamily="49" charset="-122"/>
              </a:rPr>
              <a:t>不响应</a:t>
            </a:r>
          </a:p>
        </p:txBody>
      </p:sp>
    </p:spTree>
  </p:cSld>
  <p:clrMapOvr>
    <a:masterClrMapping/>
  </p:clrMapOvr>
  <p:transition>
    <p:cover dir="l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5" name="Text Box 7"/>
          <p:cNvSpPr txBox="1"/>
          <p:nvPr/>
        </p:nvSpPr>
        <p:spPr>
          <a:xfrm>
            <a:off x="319088" y="188913"/>
            <a:ext cx="6197600" cy="579437"/>
          </a:xfrm>
          <a:prstGeom prst="rect">
            <a:avLst/>
          </a:prstGeom>
          <a:noFill/>
          <a:ln w="12700">
            <a:noFill/>
          </a:ln>
        </p:spPr>
        <p:txBody>
          <a:bodyPr>
            <a:spAutoFit/>
          </a:bodyPr>
          <a:lstStyle/>
          <a:p>
            <a:pPr>
              <a:spcBef>
                <a:spcPct val="50000"/>
              </a:spcBef>
            </a:pPr>
            <a:r>
              <a:rPr lang="zh-CN" altLang="en-US" sz="3200" dirty="0">
                <a:latin typeface="黑体" panose="02010609060101010101" pitchFamily="49" charset="-122"/>
                <a:ea typeface="黑体" panose="02010609060101010101" pitchFamily="49" charset="-122"/>
              </a:rPr>
              <a:t>（</a:t>
            </a:r>
            <a:r>
              <a:rPr lang="en-US" altLang="zh-CN" sz="3200" dirty="0">
                <a:latin typeface="黑体" panose="02010609060101010101" pitchFamily="49" charset="-122"/>
                <a:ea typeface="黑体" panose="02010609060101010101" pitchFamily="49" charset="-122"/>
              </a:rPr>
              <a:t>3</a:t>
            </a:r>
            <a:r>
              <a:rPr lang="zh-CN" altLang="en-US" sz="3200" dirty="0">
                <a:latin typeface="黑体" panose="02010609060101010101" pitchFamily="49" charset="-122"/>
                <a:ea typeface="黑体" panose="02010609060101010101" pitchFamily="49" charset="-122"/>
              </a:rPr>
              <a:t>）多个中断请求之间的判优</a:t>
            </a:r>
          </a:p>
        </p:txBody>
      </p:sp>
    </p:spTree>
  </p:cSld>
  <p:clrMapOvr>
    <a:masterClrMapping/>
  </p:clrMapOvr>
  <p:transition>
    <p:cover dir="l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p:nvPr/>
        </p:nvSpPr>
        <p:spPr>
          <a:xfrm>
            <a:off x="304800" y="807085"/>
            <a:ext cx="8458200" cy="2891790"/>
          </a:xfrm>
          <a:prstGeom prst="rect">
            <a:avLst/>
          </a:prstGeom>
          <a:noFill/>
          <a:ln w="9525">
            <a:noFill/>
          </a:ln>
        </p:spPr>
        <p:txBody>
          <a:bodyPr>
            <a:spAutoFit/>
          </a:bodyPr>
          <a:lstStyle/>
          <a:p>
            <a:pPr>
              <a:spcBef>
                <a:spcPct val="50000"/>
              </a:spcBef>
            </a:pPr>
            <a:r>
              <a:rPr lang="en-US" altLang="zh-CN" sz="2800" b="1" dirty="0">
                <a:solidFill>
                  <a:schemeClr val="tx1"/>
                </a:solidFill>
                <a:latin typeface="Arial" panose="020B0604020202020204" pitchFamily="34" charset="0"/>
              </a:rPr>
              <a:t>1</a:t>
            </a:r>
            <a:r>
              <a:rPr lang="zh-CN" altLang="en-US" sz="2800" b="1" dirty="0">
                <a:solidFill>
                  <a:schemeClr val="tx1"/>
                </a:solidFill>
                <a:latin typeface="Arial" panose="020B0604020202020204" pitchFamily="34" charset="0"/>
              </a:rPr>
              <a:t>）软件查询</a:t>
            </a:r>
          </a:p>
          <a:p>
            <a:pPr>
              <a:spcBef>
                <a:spcPct val="50000"/>
              </a:spcBef>
            </a:pPr>
            <a:r>
              <a:rPr lang="zh-CN" altLang="en-US" sz="2800" b="1" dirty="0">
                <a:solidFill>
                  <a:schemeClr val="tx1"/>
                </a:solidFill>
                <a:latin typeface="Arial" panose="020B0604020202020204" pitchFamily="34" charset="0"/>
              </a:rPr>
              <a:t>响应中断请求后，先转入查询程序，按优先顺序依次询问各中断源是否提出请求，如果是，则转入相应的中断服务处理程序，如果没有则继续向下查询。查询顺序体现了优先级别的高低，改变查询顺序，也就改变了优先级。</a:t>
            </a:r>
          </a:p>
        </p:txBody>
      </p:sp>
      <p:grpSp>
        <p:nvGrpSpPr>
          <p:cNvPr id="21507" name="Group 23"/>
          <p:cNvGrpSpPr/>
          <p:nvPr/>
        </p:nvGrpSpPr>
        <p:grpSpPr>
          <a:xfrm>
            <a:off x="762000" y="3702685"/>
            <a:ext cx="7162800" cy="2195513"/>
            <a:chOff x="480" y="2016"/>
            <a:chExt cx="4512" cy="1383"/>
          </a:xfrm>
        </p:grpSpPr>
        <p:sp>
          <p:nvSpPr>
            <p:cNvPr id="21509" name="Text Box 3"/>
            <p:cNvSpPr txBox="1"/>
            <p:nvPr/>
          </p:nvSpPr>
          <p:spPr>
            <a:xfrm>
              <a:off x="480" y="2400"/>
              <a:ext cx="480" cy="872"/>
            </a:xfrm>
            <a:prstGeom prst="rect">
              <a:avLst/>
            </a:prstGeom>
            <a:noFill/>
            <a:ln w="9525" cap="flat" cmpd="sng">
              <a:solidFill>
                <a:schemeClr val="tx1"/>
              </a:solidFill>
              <a:prstDash val="solid"/>
              <a:miter/>
              <a:headEnd type="none" w="med" len="med"/>
              <a:tailEnd type="none" w="med" len="med"/>
            </a:ln>
          </p:spPr>
          <p:txBody>
            <a:bodyPr>
              <a:spAutoFit/>
            </a:bodyPr>
            <a:lstStyle/>
            <a:p>
              <a:pPr>
                <a:spcBef>
                  <a:spcPct val="50000"/>
                </a:spcBef>
              </a:pPr>
              <a:endParaRPr lang="en-US" altLang="zh-CN" b="1" dirty="0">
                <a:solidFill>
                  <a:schemeClr val="tx1"/>
                </a:solidFill>
                <a:latin typeface="Arial" panose="020B0604020202020204" pitchFamily="34" charset="0"/>
              </a:endParaRPr>
            </a:p>
            <a:p>
              <a:pPr>
                <a:spcBef>
                  <a:spcPct val="50000"/>
                </a:spcBef>
              </a:pPr>
              <a:r>
                <a:rPr lang="en-US" altLang="zh-CN" sz="2000" b="1" dirty="0">
                  <a:solidFill>
                    <a:schemeClr val="tx1"/>
                  </a:solidFill>
                  <a:latin typeface="Arial" panose="020B0604020202020204" pitchFamily="34" charset="0"/>
                </a:rPr>
                <a:t>CPU</a:t>
              </a:r>
            </a:p>
            <a:p>
              <a:pPr>
                <a:spcBef>
                  <a:spcPct val="50000"/>
                </a:spcBef>
              </a:pPr>
              <a:endParaRPr lang="en-US" altLang="zh-CN" sz="2000" b="1" dirty="0">
                <a:solidFill>
                  <a:schemeClr val="tx1"/>
                </a:solidFill>
                <a:latin typeface="Arial" panose="020B0604020202020204" pitchFamily="34" charset="0"/>
              </a:endParaRPr>
            </a:p>
          </p:txBody>
        </p:sp>
        <p:sp>
          <p:nvSpPr>
            <p:cNvPr id="21510" name="Line 4"/>
            <p:cNvSpPr/>
            <p:nvPr/>
          </p:nvSpPr>
          <p:spPr>
            <a:xfrm>
              <a:off x="960" y="2592"/>
              <a:ext cx="3600" cy="0"/>
            </a:xfrm>
            <a:prstGeom prst="line">
              <a:avLst/>
            </a:prstGeom>
            <a:ln w="9525" cap="flat" cmpd="sng">
              <a:solidFill>
                <a:schemeClr val="tx1"/>
              </a:solidFill>
              <a:prstDash val="solid"/>
              <a:headEnd type="triangle" w="med" len="med"/>
              <a:tailEnd type="none" w="med" len="med"/>
            </a:ln>
          </p:spPr>
        </p:sp>
        <p:sp>
          <p:nvSpPr>
            <p:cNvPr id="21511" name="Line 5"/>
            <p:cNvSpPr/>
            <p:nvPr/>
          </p:nvSpPr>
          <p:spPr>
            <a:xfrm>
              <a:off x="960" y="2832"/>
              <a:ext cx="3792" cy="0"/>
            </a:xfrm>
            <a:prstGeom prst="line">
              <a:avLst/>
            </a:prstGeom>
            <a:ln w="9525" cap="flat" cmpd="sng">
              <a:solidFill>
                <a:schemeClr val="tx1"/>
              </a:solidFill>
              <a:prstDash val="solid"/>
              <a:headEnd type="triangle" w="med" len="med"/>
              <a:tailEnd type="none" w="med" len="med"/>
            </a:ln>
          </p:spPr>
        </p:sp>
        <p:sp>
          <p:nvSpPr>
            <p:cNvPr id="21512" name="Line 6"/>
            <p:cNvSpPr/>
            <p:nvPr/>
          </p:nvSpPr>
          <p:spPr>
            <a:xfrm>
              <a:off x="960" y="3024"/>
              <a:ext cx="3984" cy="0"/>
            </a:xfrm>
            <a:prstGeom prst="line">
              <a:avLst/>
            </a:prstGeom>
            <a:ln w="9525" cap="flat" cmpd="sng">
              <a:solidFill>
                <a:schemeClr val="tx1"/>
              </a:solidFill>
              <a:prstDash val="solid"/>
              <a:headEnd type="none" w="med" len="med"/>
              <a:tailEnd type="triangle" w="med" len="med"/>
            </a:ln>
          </p:spPr>
        </p:sp>
        <p:sp>
          <p:nvSpPr>
            <p:cNvPr id="21513" name="Text Box 7"/>
            <p:cNvSpPr txBox="1"/>
            <p:nvPr/>
          </p:nvSpPr>
          <p:spPr>
            <a:xfrm>
              <a:off x="1440" y="2064"/>
              <a:ext cx="672" cy="232"/>
            </a:xfrm>
            <a:prstGeom prst="rect">
              <a:avLst/>
            </a:prstGeom>
            <a:noFill/>
            <a:ln w="9525" cap="flat" cmpd="sng">
              <a:solidFill>
                <a:schemeClr val="tx1"/>
              </a:solidFill>
              <a:prstDash val="solid"/>
              <a:miter/>
              <a:headEnd type="none" w="med" len="med"/>
              <a:tailEnd type="none" w="med" len="med"/>
            </a:ln>
          </p:spPr>
          <p:txBody>
            <a:bodyPr>
              <a:spAutoFit/>
            </a:bodyPr>
            <a:lstStyle/>
            <a:p>
              <a:pPr>
                <a:spcBef>
                  <a:spcPct val="50000"/>
                </a:spcBef>
              </a:pPr>
              <a:r>
                <a:rPr lang="zh-CN" altLang="en-US" sz="1800" b="1" dirty="0">
                  <a:solidFill>
                    <a:schemeClr val="tx1"/>
                  </a:solidFill>
                  <a:latin typeface="Arial" panose="020B0604020202020204" pitchFamily="34" charset="0"/>
                </a:rPr>
                <a:t>中断源</a:t>
              </a:r>
              <a:r>
                <a:rPr lang="en-US" altLang="zh-CN" sz="1800" b="1" dirty="0">
                  <a:solidFill>
                    <a:schemeClr val="tx1"/>
                  </a:solidFill>
                  <a:latin typeface="Arial" panose="020B0604020202020204" pitchFamily="34" charset="0"/>
                </a:rPr>
                <a:t>1</a:t>
              </a:r>
            </a:p>
          </p:txBody>
        </p:sp>
        <p:sp>
          <p:nvSpPr>
            <p:cNvPr id="21514" name="Text Box 8"/>
            <p:cNvSpPr txBox="1"/>
            <p:nvPr/>
          </p:nvSpPr>
          <p:spPr>
            <a:xfrm>
              <a:off x="2448" y="2064"/>
              <a:ext cx="672" cy="232"/>
            </a:xfrm>
            <a:prstGeom prst="rect">
              <a:avLst/>
            </a:prstGeom>
            <a:noFill/>
            <a:ln w="9525" cap="flat" cmpd="sng">
              <a:solidFill>
                <a:schemeClr val="tx1"/>
              </a:solidFill>
              <a:prstDash val="solid"/>
              <a:miter/>
              <a:headEnd type="none" w="med" len="med"/>
              <a:tailEnd type="none" w="med" len="med"/>
            </a:ln>
          </p:spPr>
          <p:txBody>
            <a:bodyPr>
              <a:spAutoFit/>
            </a:bodyPr>
            <a:lstStyle/>
            <a:p>
              <a:pPr>
                <a:spcBef>
                  <a:spcPct val="50000"/>
                </a:spcBef>
              </a:pPr>
              <a:r>
                <a:rPr lang="zh-CN" altLang="en-US" sz="1800" b="1" dirty="0">
                  <a:solidFill>
                    <a:schemeClr val="tx1"/>
                  </a:solidFill>
                  <a:latin typeface="Arial" panose="020B0604020202020204" pitchFamily="34" charset="0"/>
                </a:rPr>
                <a:t>中断源</a:t>
              </a:r>
              <a:r>
                <a:rPr lang="en-US" altLang="zh-CN" sz="1800" b="1" dirty="0">
                  <a:solidFill>
                    <a:schemeClr val="tx1"/>
                  </a:solidFill>
                  <a:latin typeface="Arial" panose="020B0604020202020204" pitchFamily="34" charset="0"/>
                </a:rPr>
                <a:t>2</a:t>
              </a:r>
            </a:p>
          </p:txBody>
        </p:sp>
        <p:sp>
          <p:nvSpPr>
            <p:cNvPr id="21515" name="Text Box 9"/>
            <p:cNvSpPr txBox="1"/>
            <p:nvPr/>
          </p:nvSpPr>
          <p:spPr>
            <a:xfrm>
              <a:off x="4320" y="2064"/>
              <a:ext cx="672" cy="232"/>
            </a:xfrm>
            <a:prstGeom prst="rect">
              <a:avLst/>
            </a:prstGeom>
            <a:noFill/>
            <a:ln w="9525" cap="flat" cmpd="sng">
              <a:solidFill>
                <a:schemeClr val="tx1"/>
              </a:solidFill>
              <a:prstDash val="solid"/>
              <a:miter/>
              <a:headEnd type="none" w="med" len="med"/>
              <a:tailEnd type="none" w="med" len="med"/>
            </a:ln>
          </p:spPr>
          <p:txBody>
            <a:bodyPr>
              <a:spAutoFit/>
            </a:bodyPr>
            <a:lstStyle/>
            <a:p>
              <a:pPr>
                <a:spcBef>
                  <a:spcPct val="50000"/>
                </a:spcBef>
              </a:pPr>
              <a:r>
                <a:rPr lang="zh-CN" altLang="en-US" sz="1800" b="1" dirty="0">
                  <a:solidFill>
                    <a:schemeClr val="tx1"/>
                  </a:solidFill>
                  <a:latin typeface="Arial" panose="020B0604020202020204" pitchFamily="34" charset="0"/>
                </a:rPr>
                <a:t>中断源</a:t>
              </a:r>
              <a:r>
                <a:rPr lang="en-US" altLang="zh-CN" sz="1800" b="1" dirty="0">
                  <a:solidFill>
                    <a:schemeClr val="tx1"/>
                  </a:solidFill>
                  <a:latin typeface="Arial" panose="020B0604020202020204" pitchFamily="34" charset="0"/>
                </a:rPr>
                <a:t>n</a:t>
              </a:r>
            </a:p>
          </p:txBody>
        </p:sp>
        <p:sp>
          <p:nvSpPr>
            <p:cNvPr id="21516" name="Line 10"/>
            <p:cNvSpPr/>
            <p:nvPr/>
          </p:nvSpPr>
          <p:spPr>
            <a:xfrm>
              <a:off x="1536" y="2304"/>
              <a:ext cx="0" cy="288"/>
            </a:xfrm>
            <a:prstGeom prst="line">
              <a:avLst/>
            </a:prstGeom>
            <a:ln w="9525" cap="flat" cmpd="sng">
              <a:solidFill>
                <a:schemeClr val="tx1"/>
              </a:solidFill>
              <a:prstDash val="solid"/>
              <a:headEnd type="none" w="med" len="med"/>
              <a:tailEnd type="triangle" w="med" len="med"/>
            </a:ln>
          </p:spPr>
        </p:sp>
        <p:sp>
          <p:nvSpPr>
            <p:cNvPr id="21517" name="Line 11"/>
            <p:cNvSpPr/>
            <p:nvPr/>
          </p:nvSpPr>
          <p:spPr>
            <a:xfrm>
              <a:off x="1728" y="2304"/>
              <a:ext cx="0" cy="528"/>
            </a:xfrm>
            <a:prstGeom prst="line">
              <a:avLst/>
            </a:prstGeom>
            <a:ln w="9525" cap="flat" cmpd="sng">
              <a:solidFill>
                <a:schemeClr val="tx1"/>
              </a:solidFill>
              <a:prstDash val="solid"/>
              <a:headEnd type="none" w="med" len="med"/>
              <a:tailEnd type="triangle" w="med" len="med"/>
            </a:ln>
          </p:spPr>
        </p:sp>
        <p:sp>
          <p:nvSpPr>
            <p:cNvPr id="21518" name="Line 12"/>
            <p:cNvSpPr/>
            <p:nvPr/>
          </p:nvSpPr>
          <p:spPr>
            <a:xfrm flipV="1">
              <a:off x="1920" y="2304"/>
              <a:ext cx="0" cy="720"/>
            </a:xfrm>
            <a:prstGeom prst="line">
              <a:avLst/>
            </a:prstGeom>
            <a:ln w="9525" cap="flat" cmpd="sng">
              <a:solidFill>
                <a:schemeClr val="tx1"/>
              </a:solidFill>
              <a:prstDash val="solid"/>
              <a:headEnd type="none" w="med" len="med"/>
              <a:tailEnd type="triangle" w="med" len="med"/>
            </a:ln>
          </p:spPr>
        </p:sp>
        <p:sp>
          <p:nvSpPr>
            <p:cNvPr id="21519" name="Line 13"/>
            <p:cNvSpPr/>
            <p:nvPr/>
          </p:nvSpPr>
          <p:spPr>
            <a:xfrm>
              <a:off x="2544" y="2304"/>
              <a:ext cx="0" cy="288"/>
            </a:xfrm>
            <a:prstGeom prst="line">
              <a:avLst/>
            </a:prstGeom>
            <a:ln w="9525" cap="flat" cmpd="sng">
              <a:solidFill>
                <a:schemeClr val="tx1"/>
              </a:solidFill>
              <a:prstDash val="solid"/>
              <a:headEnd type="none" w="med" len="med"/>
              <a:tailEnd type="triangle" w="med" len="med"/>
            </a:ln>
          </p:spPr>
        </p:sp>
        <p:sp>
          <p:nvSpPr>
            <p:cNvPr id="21520" name="Line 14"/>
            <p:cNvSpPr/>
            <p:nvPr/>
          </p:nvSpPr>
          <p:spPr>
            <a:xfrm>
              <a:off x="2736" y="2304"/>
              <a:ext cx="0" cy="528"/>
            </a:xfrm>
            <a:prstGeom prst="line">
              <a:avLst/>
            </a:prstGeom>
            <a:ln w="9525" cap="flat" cmpd="sng">
              <a:solidFill>
                <a:schemeClr val="tx1"/>
              </a:solidFill>
              <a:prstDash val="solid"/>
              <a:headEnd type="none" w="med" len="med"/>
              <a:tailEnd type="triangle" w="med" len="med"/>
            </a:ln>
          </p:spPr>
        </p:sp>
        <p:sp>
          <p:nvSpPr>
            <p:cNvPr id="21521" name="Line 15"/>
            <p:cNvSpPr/>
            <p:nvPr/>
          </p:nvSpPr>
          <p:spPr>
            <a:xfrm flipV="1">
              <a:off x="2928" y="2304"/>
              <a:ext cx="0" cy="720"/>
            </a:xfrm>
            <a:prstGeom prst="line">
              <a:avLst/>
            </a:prstGeom>
            <a:ln w="9525" cap="flat" cmpd="sng">
              <a:solidFill>
                <a:schemeClr val="tx1"/>
              </a:solidFill>
              <a:prstDash val="solid"/>
              <a:headEnd type="none" w="med" len="med"/>
              <a:tailEnd type="triangle" w="med" len="med"/>
            </a:ln>
          </p:spPr>
        </p:sp>
        <p:sp>
          <p:nvSpPr>
            <p:cNvPr id="21522" name="Line 16"/>
            <p:cNvSpPr/>
            <p:nvPr/>
          </p:nvSpPr>
          <p:spPr>
            <a:xfrm>
              <a:off x="4560" y="2304"/>
              <a:ext cx="0" cy="288"/>
            </a:xfrm>
            <a:prstGeom prst="line">
              <a:avLst/>
            </a:prstGeom>
            <a:ln w="9525" cap="flat" cmpd="sng">
              <a:solidFill>
                <a:schemeClr val="tx1"/>
              </a:solidFill>
              <a:prstDash val="solid"/>
              <a:headEnd type="none" w="med" len="med"/>
              <a:tailEnd type="triangle" w="med" len="med"/>
            </a:ln>
          </p:spPr>
        </p:sp>
        <p:sp>
          <p:nvSpPr>
            <p:cNvPr id="21523" name="Line 17"/>
            <p:cNvSpPr/>
            <p:nvPr/>
          </p:nvSpPr>
          <p:spPr>
            <a:xfrm>
              <a:off x="4752" y="2304"/>
              <a:ext cx="0" cy="528"/>
            </a:xfrm>
            <a:prstGeom prst="line">
              <a:avLst/>
            </a:prstGeom>
            <a:ln w="9525" cap="flat" cmpd="sng">
              <a:solidFill>
                <a:schemeClr val="tx1"/>
              </a:solidFill>
              <a:prstDash val="solid"/>
              <a:headEnd type="none" w="med" len="med"/>
              <a:tailEnd type="triangle" w="med" len="med"/>
            </a:ln>
          </p:spPr>
        </p:sp>
        <p:sp>
          <p:nvSpPr>
            <p:cNvPr id="21524" name="Line 18"/>
            <p:cNvSpPr/>
            <p:nvPr/>
          </p:nvSpPr>
          <p:spPr>
            <a:xfrm flipV="1">
              <a:off x="4896" y="2304"/>
              <a:ext cx="0" cy="720"/>
            </a:xfrm>
            <a:prstGeom prst="line">
              <a:avLst/>
            </a:prstGeom>
            <a:ln w="9525" cap="flat" cmpd="sng">
              <a:solidFill>
                <a:schemeClr val="tx1"/>
              </a:solidFill>
              <a:prstDash val="solid"/>
              <a:headEnd type="none" w="med" len="med"/>
              <a:tailEnd type="triangle" w="med" len="med"/>
            </a:ln>
          </p:spPr>
        </p:sp>
        <p:sp>
          <p:nvSpPr>
            <p:cNvPr id="21525" name="Text Box 19"/>
            <p:cNvSpPr txBox="1"/>
            <p:nvPr/>
          </p:nvSpPr>
          <p:spPr>
            <a:xfrm>
              <a:off x="3264" y="2064"/>
              <a:ext cx="816" cy="288"/>
            </a:xfrm>
            <a:prstGeom prst="rect">
              <a:avLst/>
            </a:prstGeom>
            <a:noFill/>
            <a:ln w="9525">
              <a:noFill/>
            </a:ln>
          </p:spPr>
          <p:txBody>
            <a:bodyPr>
              <a:spAutoFit/>
            </a:bodyPr>
            <a:lstStyle/>
            <a:p>
              <a:pPr>
                <a:spcBef>
                  <a:spcPct val="50000"/>
                </a:spcBef>
              </a:pPr>
              <a:r>
                <a:rPr lang="en-US" altLang="zh-CN" sz="2400" dirty="0">
                  <a:solidFill>
                    <a:schemeClr val="tx1"/>
                  </a:solidFill>
                  <a:latin typeface="Arial" panose="020B0604020202020204" pitchFamily="34" charset="0"/>
                </a:rPr>
                <a:t>…….</a:t>
              </a:r>
            </a:p>
          </p:txBody>
        </p:sp>
        <p:sp>
          <p:nvSpPr>
            <p:cNvPr id="21526" name="Text Box 20"/>
            <p:cNvSpPr txBox="1"/>
            <p:nvPr/>
          </p:nvSpPr>
          <p:spPr>
            <a:xfrm>
              <a:off x="960" y="2016"/>
              <a:ext cx="576" cy="494"/>
            </a:xfrm>
            <a:prstGeom prst="rect">
              <a:avLst/>
            </a:prstGeom>
            <a:noFill/>
            <a:ln w="9525">
              <a:noFill/>
            </a:ln>
          </p:spPr>
          <p:txBody>
            <a:bodyPr>
              <a:spAutoFit/>
            </a:bodyPr>
            <a:lstStyle/>
            <a:p>
              <a:pPr>
                <a:spcBef>
                  <a:spcPct val="50000"/>
                </a:spcBef>
              </a:pPr>
              <a:r>
                <a:rPr lang="zh-CN" altLang="en-US" sz="1800" b="1" dirty="0">
                  <a:solidFill>
                    <a:schemeClr val="tx1"/>
                  </a:solidFill>
                  <a:latin typeface="Arial" panose="020B0604020202020204" pitchFamily="34" charset="0"/>
                </a:rPr>
                <a:t>中断</a:t>
              </a:r>
            </a:p>
            <a:p>
              <a:pPr>
                <a:spcBef>
                  <a:spcPct val="50000"/>
                </a:spcBef>
              </a:pPr>
              <a:r>
                <a:rPr lang="zh-CN" altLang="en-US" sz="1800" b="1" dirty="0">
                  <a:solidFill>
                    <a:schemeClr val="tx1"/>
                  </a:solidFill>
                  <a:latin typeface="Arial" panose="020B0604020202020204" pitchFamily="34" charset="0"/>
                </a:rPr>
                <a:t>请求</a:t>
              </a:r>
            </a:p>
          </p:txBody>
        </p:sp>
        <p:sp>
          <p:nvSpPr>
            <p:cNvPr id="21527" name="Text Box 21"/>
            <p:cNvSpPr txBox="1"/>
            <p:nvPr/>
          </p:nvSpPr>
          <p:spPr>
            <a:xfrm>
              <a:off x="1056" y="2592"/>
              <a:ext cx="528" cy="232"/>
            </a:xfrm>
            <a:prstGeom prst="rect">
              <a:avLst/>
            </a:prstGeom>
            <a:noFill/>
            <a:ln w="9525">
              <a:noFill/>
            </a:ln>
          </p:spPr>
          <p:txBody>
            <a:bodyPr>
              <a:spAutoFit/>
            </a:bodyPr>
            <a:lstStyle/>
            <a:p>
              <a:pPr>
                <a:spcBef>
                  <a:spcPct val="50000"/>
                </a:spcBef>
              </a:pPr>
              <a:r>
                <a:rPr lang="zh-CN" altLang="en-US" sz="1800" b="1" dirty="0">
                  <a:solidFill>
                    <a:schemeClr val="tx1"/>
                  </a:solidFill>
                  <a:latin typeface="Arial" panose="020B0604020202020204" pitchFamily="34" charset="0"/>
                </a:rPr>
                <a:t>忙</a:t>
              </a:r>
            </a:p>
          </p:txBody>
        </p:sp>
        <p:sp>
          <p:nvSpPr>
            <p:cNvPr id="21528" name="Text Box 22"/>
            <p:cNvSpPr txBox="1"/>
            <p:nvPr/>
          </p:nvSpPr>
          <p:spPr>
            <a:xfrm>
              <a:off x="1056" y="3168"/>
              <a:ext cx="960" cy="231"/>
            </a:xfrm>
            <a:prstGeom prst="rect">
              <a:avLst/>
            </a:prstGeom>
            <a:noFill/>
            <a:ln w="9525">
              <a:noFill/>
            </a:ln>
          </p:spPr>
          <p:txBody>
            <a:bodyPr>
              <a:spAutoFit/>
            </a:bodyPr>
            <a:lstStyle/>
            <a:p>
              <a:pPr>
                <a:spcBef>
                  <a:spcPct val="50000"/>
                </a:spcBef>
              </a:pPr>
              <a:r>
                <a:rPr lang="zh-CN" altLang="en-US" b="1" dirty="0">
                  <a:solidFill>
                    <a:schemeClr val="tx1"/>
                  </a:solidFill>
                  <a:latin typeface="Arial" panose="020B0604020202020204" pitchFamily="34" charset="0"/>
                </a:rPr>
                <a:t>查询</a:t>
              </a:r>
            </a:p>
          </p:txBody>
        </p:sp>
      </p:grpSp>
      <p:sp>
        <p:nvSpPr>
          <p:cNvPr id="21508" name="Text Box 24"/>
          <p:cNvSpPr txBox="1"/>
          <p:nvPr/>
        </p:nvSpPr>
        <p:spPr>
          <a:xfrm>
            <a:off x="1043305" y="6093460"/>
            <a:ext cx="2590800" cy="519113"/>
          </a:xfrm>
          <a:prstGeom prst="rect">
            <a:avLst/>
          </a:prstGeom>
          <a:noFill/>
          <a:ln w="9525">
            <a:noFill/>
          </a:ln>
        </p:spPr>
        <p:txBody>
          <a:bodyPr>
            <a:spAutoFit/>
          </a:bodyPr>
          <a:lstStyle/>
          <a:p>
            <a:pPr>
              <a:spcBef>
                <a:spcPct val="50000"/>
              </a:spcBef>
            </a:pPr>
            <a:r>
              <a:rPr lang="zh-CN" altLang="en-US" sz="2800" b="1" dirty="0">
                <a:solidFill>
                  <a:schemeClr val="tx1"/>
                </a:solidFill>
                <a:latin typeface="Arial" panose="020B0604020202020204" pitchFamily="34" charset="0"/>
              </a:rPr>
              <a:t>缺点是速度慢</a:t>
            </a:r>
          </a:p>
        </p:txBody>
      </p:sp>
      <p:sp>
        <p:nvSpPr>
          <p:cNvPr id="32775" name="Text Box 7"/>
          <p:cNvSpPr txBox="1"/>
          <p:nvPr/>
        </p:nvSpPr>
        <p:spPr>
          <a:xfrm>
            <a:off x="319088" y="188913"/>
            <a:ext cx="6197600" cy="579437"/>
          </a:xfrm>
          <a:prstGeom prst="rect">
            <a:avLst/>
          </a:prstGeom>
          <a:noFill/>
          <a:ln w="12700">
            <a:noFill/>
          </a:ln>
        </p:spPr>
        <p:txBody>
          <a:bodyPr>
            <a:spAutoFit/>
          </a:bodyPr>
          <a:lstStyle/>
          <a:p>
            <a:pPr>
              <a:spcBef>
                <a:spcPct val="50000"/>
              </a:spcBef>
            </a:pPr>
            <a:r>
              <a:rPr lang="zh-CN" altLang="en-US" sz="3200" dirty="0">
                <a:latin typeface="黑体" panose="02010609060101010101" pitchFamily="49" charset="-122"/>
                <a:ea typeface="黑体" panose="02010609060101010101" pitchFamily="49" charset="-122"/>
              </a:rPr>
              <a:t>（</a:t>
            </a:r>
            <a:r>
              <a:rPr lang="en-US" altLang="zh-CN" sz="3200" dirty="0">
                <a:latin typeface="黑体" panose="02010609060101010101" pitchFamily="49" charset="-122"/>
                <a:ea typeface="黑体" panose="02010609060101010101" pitchFamily="49" charset="-122"/>
              </a:rPr>
              <a:t>3</a:t>
            </a:r>
            <a:r>
              <a:rPr lang="zh-CN" altLang="en-US" sz="3200" dirty="0">
                <a:latin typeface="黑体" panose="02010609060101010101" pitchFamily="49" charset="-122"/>
                <a:ea typeface="黑体" panose="02010609060101010101" pitchFamily="49" charset="-122"/>
              </a:rPr>
              <a:t>）多个中断请求之间的判优</a:t>
            </a: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p:nvPr/>
        </p:nvSpPr>
        <p:spPr>
          <a:xfrm>
            <a:off x="228600" y="304800"/>
            <a:ext cx="8458200" cy="2030095"/>
          </a:xfrm>
          <a:prstGeom prst="rect">
            <a:avLst/>
          </a:prstGeom>
          <a:noFill/>
          <a:ln w="9525">
            <a:noFill/>
          </a:ln>
        </p:spPr>
        <p:txBody>
          <a:bodyPr>
            <a:spAutoFit/>
          </a:bodyPr>
          <a:lstStyle/>
          <a:p>
            <a:pPr>
              <a:spcBef>
                <a:spcPct val="50000"/>
              </a:spcBef>
            </a:pPr>
            <a:r>
              <a:rPr lang="en-US" altLang="zh-CN" sz="2800" b="1" dirty="0">
                <a:solidFill>
                  <a:schemeClr val="tx1"/>
                </a:solidFill>
                <a:latin typeface="Arial" panose="020B0604020202020204" pitchFamily="34" charset="0"/>
              </a:rPr>
              <a:t>2</a:t>
            </a:r>
            <a:r>
              <a:rPr lang="zh-CN" altLang="en-US" sz="2800" b="1" dirty="0">
                <a:solidFill>
                  <a:schemeClr val="tx1"/>
                </a:solidFill>
                <a:latin typeface="Arial" panose="020B0604020202020204" pitchFamily="34" charset="0"/>
              </a:rPr>
              <a:t>）并行优先排队逻辑（具有独立请求的硬件优先排队逻辑）</a:t>
            </a:r>
          </a:p>
          <a:p>
            <a:pPr>
              <a:spcBef>
                <a:spcPct val="50000"/>
              </a:spcBef>
            </a:pPr>
            <a:r>
              <a:rPr lang="zh-CN" altLang="en-US" sz="2800" b="1" dirty="0">
                <a:solidFill>
                  <a:schemeClr val="tx1"/>
                </a:solidFill>
                <a:latin typeface="Arial" panose="020B0604020202020204" pitchFamily="34" charset="0"/>
              </a:rPr>
              <a:t>如果各中断源都能提供独立的中断请求线送</a:t>
            </a:r>
            <a:r>
              <a:rPr lang="en-US" altLang="zh-CN" sz="2800" b="1" dirty="0">
                <a:solidFill>
                  <a:schemeClr val="tx1"/>
                </a:solidFill>
                <a:latin typeface="Arial" panose="020B0604020202020204" pitchFamily="34" charset="0"/>
              </a:rPr>
              <a:t>CPU</a:t>
            </a:r>
            <a:r>
              <a:rPr lang="zh-CN" altLang="en-US" sz="2800" b="1" dirty="0">
                <a:solidFill>
                  <a:schemeClr val="tx1"/>
                </a:solidFill>
                <a:latin typeface="Arial" panose="020B0604020202020204" pitchFamily="34" charset="0"/>
              </a:rPr>
              <a:t>，则可采用并行优先排队逻辑。</a:t>
            </a:r>
          </a:p>
        </p:txBody>
      </p:sp>
      <p:grpSp>
        <p:nvGrpSpPr>
          <p:cNvPr id="22531" name="Group 39"/>
          <p:cNvGrpSpPr/>
          <p:nvPr/>
        </p:nvGrpSpPr>
        <p:grpSpPr>
          <a:xfrm>
            <a:off x="762000" y="2438400"/>
            <a:ext cx="6358255" cy="3217863"/>
            <a:chOff x="432" y="1575"/>
            <a:chExt cx="3600" cy="2027"/>
          </a:xfrm>
        </p:grpSpPr>
        <p:sp>
          <p:nvSpPr>
            <p:cNvPr id="22533" name="Line 3"/>
            <p:cNvSpPr/>
            <p:nvPr/>
          </p:nvSpPr>
          <p:spPr>
            <a:xfrm flipV="1">
              <a:off x="432" y="1584"/>
              <a:ext cx="0" cy="1536"/>
            </a:xfrm>
            <a:prstGeom prst="line">
              <a:avLst/>
            </a:prstGeom>
            <a:ln w="9525" cap="flat" cmpd="sng">
              <a:solidFill>
                <a:schemeClr val="tx1"/>
              </a:solidFill>
              <a:prstDash val="solid"/>
              <a:headEnd type="none" w="med" len="med"/>
              <a:tailEnd type="triangle" w="med" len="med"/>
            </a:ln>
          </p:spPr>
        </p:sp>
        <p:sp>
          <p:nvSpPr>
            <p:cNvPr id="22534" name="Line 4"/>
            <p:cNvSpPr/>
            <p:nvPr/>
          </p:nvSpPr>
          <p:spPr>
            <a:xfrm>
              <a:off x="432" y="2928"/>
              <a:ext cx="672" cy="0"/>
            </a:xfrm>
            <a:prstGeom prst="line">
              <a:avLst/>
            </a:prstGeom>
            <a:ln w="9525" cap="flat" cmpd="sng">
              <a:solidFill>
                <a:schemeClr val="tx1"/>
              </a:solidFill>
              <a:prstDash val="solid"/>
              <a:headEnd type="none" w="med" len="med"/>
              <a:tailEnd type="none" w="med" len="med"/>
            </a:ln>
          </p:spPr>
        </p:sp>
        <p:sp>
          <p:nvSpPr>
            <p:cNvPr id="22535" name="Line 5"/>
            <p:cNvSpPr/>
            <p:nvPr/>
          </p:nvSpPr>
          <p:spPr>
            <a:xfrm flipV="1">
              <a:off x="1104" y="2784"/>
              <a:ext cx="0" cy="144"/>
            </a:xfrm>
            <a:prstGeom prst="line">
              <a:avLst/>
            </a:prstGeom>
            <a:ln w="9525" cap="flat" cmpd="sng">
              <a:solidFill>
                <a:schemeClr val="tx1"/>
              </a:solidFill>
              <a:prstDash val="solid"/>
              <a:headEnd type="none" w="med" len="med"/>
              <a:tailEnd type="none" w="med" len="med"/>
            </a:ln>
          </p:spPr>
        </p:sp>
        <p:sp>
          <p:nvSpPr>
            <p:cNvPr id="22536" name="Rectangle 6"/>
            <p:cNvSpPr/>
            <p:nvPr/>
          </p:nvSpPr>
          <p:spPr>
            <a:xfrm>
              <a:off x="960" y="2592"/>
              <a:ext cx="288" cy="19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solidFill>
                  <a:schemeClr val="tx1"/>
                </a:solidFill>
                <a:latin typeface="Arial" panose="020B0604020202020204" pitchFamily="34" charset="0"/>
              </a:endParaRPr>
            </a:p>
          </p:txBody>
        </p:sp>
        <p:sp>
          <p:nvSpPr>
            <p:cNvPr id="22537" name="Oval 7"/>
            <p:cNvSpPr/>
            <p:nvPr/>
          </p:nvSpPr>
          <p:spPr>
            <a:xfrm>
              <a:off x="1056" y="2544"/>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p>
              <a:endParaRPr lang="zh-CN" altLang="en-US" dirty="0">
                <a:solidFill>
                  <a:schemeClr val="tx1"/>
                </a:solidFill>
                <a:latin typeface="Arial" panose="020B0604020202020204" pitchFamily="34" charset="0"/>
              </a:endParaRPr>
            </a:p>
          </p:txBody>
        </p:sp>
        <p:sp>
          <p:nvSpPr>
            <p:cNvPr id="22538" name="Line 8"/>
            <p:cNvSpPr/>
            <p:nvPr/>
          </p:nvSpPr>
          <p:spPr>
            <a:xfrm flipV="1">
              <a:off x="1083" y="2333"/>
              <a:ext cx="0" cy="192"/>
            </a:xfrm>
            <a:prstGeom prst="line">
              <a:avLst/>
            </a:prstGeom>
            <a:ln w="9525" cap="flat" cmpd="sng">
              <a:solidFill>
                <a:schemeClr val="tx1"/>
              </a:solidFill>
              <a:prstDash val="solid"/>
              <a:headEnd type="none" w="med" len="med"/>
              <a:tailEnd type="none" w="med" len="med"/>
            </a:ln>
          </p:spPr>
        </p:sp>
        <p:sp>
          <p:nvSpPr>
            <p:cNvPr id="22539" name="Line 9"/>
            <p:cNvSpPr/>
            <p:nvPr/>
          </p:nvSpPr>
          <p:spPr>
            <a:xfrm>
              <a:off x="1056" y="2352"/>
              <a:ext cx="480" cy="0"/>
            </a:xfrm>
            <a:prstGeom prst="line">
              <a:avLst/>
            </a:prstGeom>
            <a:ln w="9525" cap="flat" cmpd="sng">
              <a:solidFill>
                <a:schemeClr val="tx1"/>
              </a:solidFill>
              <a:prstDash val="solid"/>
              <a:headEnd type="none" w="med" len="med"/>
              <a:tailEnd type="none" w="med" len="med"/>
            </a:ln>
          </p:spPr>
        </p:sp>
        <p:sp>
          <p:nvSpPr>
            <p:cNvPr id="22540" name="Line 10"/>
            <p:cNvSpPr/>
            <p:nvPr/>
          </p:nvSpPr>
          <p:spPr>
            <a:xfrm>
              <a:off x="1536" y="2352"/>
              <a:ext cx="0" cy="576"/>
            </a:xfrm>
            <a:prstGeom prst="line">
              <a:avLst/>
            </a:prstGeom>
            <a:ln w="9525" cap="flat" cmpd="sng">
              <a:solidFill>
                <a:schemeClr val="tx1"/>
              </a:solidFill>
              <a:prstDash val="solid"/>
              <a:headEnd type="none" w="med" len="med"/>
              <a:tailEnd type="none" w="med" len="med"/>
            </a:ln>
          </p:spPr>
        </p:sp>
        <p:sp>
          <p:nvSpPr>
            <p:cNvPr id="22541" name="Line 11"/>
            <p:cNvSpPr/>
            <p:nvPr/>
          </p:nvSpPr>
          <p:spPr>
            <a:xfrm>
              <a:off x="1536" y="2928"/>
              <a:ext cx="2304" cy="0"/>
            </a:xfrm>
            <a:prstGeom prst="line">
              <a:avLst/>
            </a:prstGeom>
            <a:ln w="9525" cap="flat" cmpd="sng">
              <a:solidFill>
                <a:schemeClr val="tx1"/>
              </a:solidFill>
              <a:prstDash val="solid"/>
              <a:headEnd type="none" w="med" len="med"/>
              <a:tailEnd type="none" w="med" len="med"/>
            </a:ln>
          </p:spPr>
        </p:sp>
        <p:sp>
          <p:nvSpPr>
            <p:cNvPr id="22542" name="Line 12"/>
            <p:cNvSpPr/>
            <p:nvPr/>
          </p:nvSpPr>
          <p:spPr>
            <a:xfrm flipV="1">
              <a:off x="1920" y="2688"/>
              <a:ext cx="0" cy="240"/>
            </a:xfrm>
            <a:prstGeom prst="line">
              <a:avLst/>
            </a:prstGeom>
            <a:ln w="9525" cap="flat" cmpd="sng">
              <a:solidFill>
                <a:schemeClr val="tx1"/>
              </a:solidFill>
              <a:prstDash val="solid"/>
              <a:headEnd type="none" w="med" len="med"/>
              <a:tailEnd type="none" w="med" len="med"/>
            </a:ln>
          </p:spPr>
        </p:sp>
        <p:sp>
          <p:nvSpPr>
            <p:cNvPr id="22543" name="Rectangle 13"/>
            <p:cNvSpPr/>
            <p:nvPr/>
          </p:nvSpPr>
          <p:spPr>
            <a:xfrm>
              <a:off x="1776" y="2544"/>
              <a:ext cx="624" cy="14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solidFill>
                  <a:schemeClr val="tx1"/>
                </a:solidFill>
                <a:latin typeface="Arial" panose="020B0604020202020204" pitchFamily="34" charset="0"/>
              </a:endParaRPr>
            </a:p>
          </p:txBody>
        </p:sp>
        <p:sp>
          <p:nvSpPr>
            <p:cNvPr id="22544" name="Line 14"/>
            <p:cNvSpPr/>
            <p:nvPr/>
          </p:nvSpPr>
          <p:spPr>
            <a:xfrm flipV="1">
              <a:off x="2256" y="2688"/>
              <a:ext cx="0" cy="432"/>
            </a:xfrm>
            <a:prstGeom prst="line">
              <a:avLst/>
            </a:prstGeom>
            <a:ln w="9525" cap="flat" cmpd="sng">
              <a:solidFill>
                <a:schemeClr val="tx1"/>
              </a:solidFill>
              <a:prstDash val="solid"/>
              <a:headEnd type="none" w="med" len="med"/>
              <a:tailEnd type="triangle" w="med" len="med"/>
            </a:ln>
          </p:spPr>
        </p:sp>
        <p:sp>
          <p:nvSpPr>
            <p:cNvPr id="22545" name="Oval 15"/>
            <p:cNvSpPr/>
            <p:nvPr/>
          </p:nvSpPr>
          <p:spPr>
            <a:xfrm>
              <a:off x="2064" y="2448"/>
              <a:ext cx="48" cy="96"/>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p>
              <a:endParaRPr lang="zh-CN" altLang="en-US" dirty="0">
                <a:solidFill>
                  <a:schemeClr val="tx1"/>
                </a:solidFill>
                <a:latin typeface="Arial" panose="020B0604020202020204" pitchFamily="34" charset="0"/>
              </a:endParaRPr>
            </a:p>
          </p:txBody>
        </p:sp>
        <p:sp>
          <p:nvSpPr>
            <p:cNvPr id="22546" name="Line 16"/>
            <p:cNvSpPr/>
            <p:nvPr/>
          </p:nvSpPr>
          <p:spPr>
            <a:xfrm flipV="1">
              <a:off x="2094" y="2151"/>
              <a:ext cx="0" cy="288"/>
            </a:xfrm>
            <a:prstGeom prst="line">
              <a:avLst/>
            </a:prstGeom>
            <a:ln w="9525" cap="flat" cmpd="sng">
              <a:solidFill>
                <a:schemeClr val="tx1"/>
              </a:solidFill>
              <a:prstDash val="solid"/>
              <a:headEnd type="none" w="med" len="med"/>
              <a:tailEnd type="none" w="med" len="med"/>
            </a:ln>
          </p:spPr>
        </p:sp>
        <p:sp>
          <p:nvSpPr>
            <p:cNvPr id="22547" name="Rectangle 17"/>
            <p:cNvSpPr/>
            <p:nvPr/>
          </p:nvSpPr>
          <p:spPr>
            <a:xfrm>
              <a:off x="1920" y="1968"/>
              <a:ext cx="336" cy="19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solidFill>
                  <a:schemeClr val="tx1"/>
                </a:solidFill>
                <a:latin typeface="Arial" panose="020B0604020202020204" pitchFamily="34" charset="0"/>
              </a:endParaRPr>
            </a:p>
          </p:txBody>
        </p:sp>
        <p:sp>
          <p:nvSpPr>
            <p:cNvPr id="22548" name="Oval 18"/>
            <p:cNvSpPr/>
            <p:nvPr/>
          </p:nvSpPr>
          <p:spPr>
            <a:xfrm>
              <a:off x="2064" y="1920"/>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p>
              <a:endParaRPr lang="zh-CN" altLang="en-US" dirty="0">
                <a:solidFill>
                  <a:schemeClr val="tx1"/>
                </a:solidFill>
                <a:latin typeface="Arial" panose="020B0604020202020204" pitchFamily="34" charset="0"/>
              </a:endParaRPr>
            </a:p>
          </p:txBody>
        </p:sp>
        <p:sp>
          <p:nvSpPr>
            <p:cNvPr id="22549" name="Line 19"/>
            <p:cNvSpPr/>
            <p:nvPr/>
          </p:nvSpPr>
          <p:spPr>
            <a:xfrm flipV="1">
              <a:off x="2083" y="1575"/>
              <a:ext cx="0" cy="336"/>
            </a:xfrm>
            <a:prstGeom prst="line">
              <a:avLst/>
            </a:prstGeom>
            <a:ln w="9525" cap="flat" cmpd="sng">
              <a:solidFill>
                <a:schemeClr val="tx1"/>
              </a:solidFill>
              <a:prstDash val="solid"/>
              <a:headEnd type="none" w="med" len="med"/>
              <a:tailEnd type="none" w="med" len="med"/>
            </a:ln>
          </p:spPr>
        </p:sp>
        <p:sp>
          <p:nvSpPr>
            <p:cNvPr id="22550" name="Rectangle 20"/>
            <p:cNvSpPr/>
            <p:nvPr/>
          </p:nvSpPr>
          <p:spPr>
            <a:xfrm>
              <a:off x="2976" y="2544"/>
              <a:ext cx="624" cy="14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solidFill>
                  <a:schemeClr val="tx1"/>
                </a:solidFill>
                <a:latin typeface="Arial" panose="020B0604020202020204" pitchFamily="34" charset="0"/>
              </a:endParaRPr>
            </a:p>
          </p:txBody>
        </p:sp>
        <p:sp>
          <p:nvSpPr>
            <p:cNvPr id="22551" name="Line 21"/>
            <p:cNvSpPr/>
            <p:nvPr/>
          </p:nvSpPr>
          <p:spPr>
            <a:xfrm>
              <a:off x="3072" y="2688"/>
              <a:ext cx="0" cy="240"/>
            </a:xfrm>
            <a:prstGeom prst="line">
              <a:avLst/>
            </a:prstGeom>
            <a:ln w="9525" cap="flat" cmpd="sng">
              <a:solidFill>
                <a:schemeClr val="tx1"/>
              </a:solidFill>
              <a:prstDash val="solid"/>
              <a:headEnd type="none" w="med" len="med"/>
              <a:tailEnd type="none" w="med" len="med"/>
            </a:ln>
          </p:spPr>
        </p:sp>
        <p:sp>
          <p:nvSpPr>
            <p:cNvPr id="22552" name="Line 22"/>
            <p:cNvSpPr/>
            <p:nvPr/>
          </p:nvSpPr>
          <p:spPr>
            <a:xfrm>
              <a:off x="3264" y="2688"/>
              <a:ext cx="0" cy="432"/>
            </a:xfrm>
            <a:prstGeom prst="line">
              <a:avLst/>
            </a:prstGeom>
            <a:ln w="9525" cap="flat" cmpd="sng">
              <a:solidFill>
                <a:schemeClr val="tx1"/>
              </a:solidFill>
              <a:prstDash val="solid"/>
              <a:headEnd type="none" w="med" len="med"/>
              <a:tailEnd type="none" w="med" len="med"/>
            </a:ln>
          </p:spPr>
        </p:sp>
        <p:sp>
          <p:nvSpPr>
            <p:cNvPr id="22553" name="Line 23"/>
            <p:cNvSpPr/>
            <p:nvPr/>
          </p:nvSpPr>
          <p:spPr>
            <a:xfrm flipV="1">
              <a:off x="3504" y="2688"/>
              <a:ext cx="0" cy="528"/>
            </a:xfrm>
            <a:prstGeom prst="line">
              <a:avLst/>
            </a:prstGeom>
            <a:ln w="9525" cap="flat" cmpd="sng">
              <a:solidFill>
                <a:schemeClr val="tx1"/>
              </a:solidFill>
              <a:prstDash val="solid"/>
              <a:headEnd type="none" w="med" len="med"/>
              <a:tailEnd type="triangle" w="med" len="med"/>
            </a:ln>
          </p:spPr>
        </p:sp>
        <p:sp>
          <p:nvSpPr>
            <p:cNvPr id="22554" name="Oval 24"/>
            <p:cNvSpPr/>
            <p:nvPr/>
          </p:nvSpPr>
          <p:spPr>
            <a:xfrm>
              <a:off x="3264" y="2496"/>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p>
              <a:endParaRPr lang="zh-CN" altLang="en-US" dirty="0">
                <a:solidFill>
                  <a:schemeClr val="tx1"/>
                </a:solidFill>
                <a:latin typeface="Arial" panose="020B0604020202020204" pitchFamily="34" charset="0"/>
              </a:endParaRPr>
            </a:p>
          </p:txBody>
        </p:sp>
        <p:sp>
          <p:nvSpPr>
            <p:cNvPr id="22555" name="Line 25"/>
            <p:cNvSpPr/>
            <p:nvPr/>
          </p:nvSpPr>
          <p:spPr>
            <a:xfrm flipV="1">
              <a:off x="3293" y="2208"/>
              <a:ext cx="0" cy="288"/>
            </a:xfrm>
            <a:prstGeom prst="line">
              <a:avLst/>
            </a:prstGeom>
            <a:ln w="9525" cap="flat" cmpd="sng">
              <a:solidFill>
                <a:schemeClr val="tx1"/>
              </a:solidFill>
              <a:prstDash val="solid"/>
              <a:headEnd type="none" w="med" len="med"/>
              <a:tailEnd type="none" w="med" len="med"/>
            </a:ln>
          </p:spPr>
        </p:sp>
        <p:sp>
          <p:nvSpPr>
            <p:cNvPr id="22556" name="Rectangle 26"/>
            <p:cNvSpPr/>
            <p:nvPr/>
          </p:nvSpPr>
          <p:spPr>
            <a:xfrm>
              <a:off x="3119" y="2025"/>
              <a:ext cx="336" cy="19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solidFill>
                  <a:schemeClr val="tx1"/>
                </a:solidFill>
                <a:latin typeface="Arial" panose="020B0604020202020204" pitchFamily="34" charset="0"/>
              </a:endParaRPr>
            </a:p>
          </p:txBody>
        </p:sp>
        <p:sp>
          <p:nvSpPr>
            <p:cNvPr id="22557" name="Oval 27"/>
            <p:cNvSpPr/>
            <p:nvPr/>
          </p:nvSpPr>
          <p:spPr>
            <a:xfrm>
              <a:off x="3263" y="1977"/>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p>
              <a:endParaRPr lang="zh-CN" altLang="en-US" dirty="0">
                <a:solidFill>
                  <a:schemeClr val="tx1"/>
                </a:solidFill>
                <a:latin typeface="Arial" panose="020B0604020202020204" pitchFamily="34" charset="0"/>
              </a:endParaRPr>
            </a:p>
          </p:txBody>
        </p:sp>
        <p:sp>
          <p:nvSpPr>
            <p:cNvPr id="22558" name="Line 28"/>
            <p:cNvSpPr/>
            <p:nvPr/>
          </p:nvSpPr>
          <p:spPr>
            <a:xfrm flipV="1">
              <a:off x="3282" y="1632"/>
              <a:ext cx="0" cy="336"/>
            </a:xfrm>
            <a:prstGeom prst="line">
              <a:avLst/>
            </a:prstGeom>
            <a:ln w="9525" cap="flat" cmpd="sng">
              <a:solidFill>
                <a:schemeClr val="tx1"/>
              </a:solidFill>
              <a:prstDash val="solid"/>
              <a:headEnd type="none" w="med" len="med"/>
              <a:tailEnd type="none" w="med" len="med"/>
            </a:ln>
          </p:spPr>
        </p:sp>
        <p:sp>
          <p:nvSpPr>
            <p:cNvPr id="22559" name="Text Box 29"/>
            <p:cNvSpPr txBox="1"/>
            <p:nvPr/>
          </p:nvSpPr>
          <p:spPr>
            <a:xfrm>
              <a:off x="480" y="1632"/>
              <a:ext cx="624" cy="290"/>
            </a:xfrm>
            <a:prstGeom prst="rect">
              <a:avLst/>
            </a:prstGeom>
            <a:noFill/>
            <a:ln w="9525">
              <a:noFill/>
            </a:ln>
          </p:spPr>
          <p:txBody>
            <a:bodyPr>
              <a:spAutoFit/>
            </a:bodyPr>
            <a:lstStyle/>
            <a:p>
              <a:pPr>
                <a:spcBef>
                  <a:spcPct val="50000"/>
                </a:spcBef>
              </a:pPr>
              <a:r>
                <a:rPr lang="en-US" altLang="zh-CN" b="1" dirty="0">
                  <a:solidFill>
                    <a:schemeClr val="tx1"/>
                  </a:solidFill>
                  <a:latin typeface="Arial" panose="020B0604020202020204" pitchFamily="34" charset="0"/>
                </a:rPr>
                <a:t>INTR0</a:t>
              </a:r>
            </a:p>
          </p:txBody>
        </p:sp>
        <p:sp>
          <p:nvSpPr>
            <p:cNvPr id="22560" name="Text Box 30"/>
            <p:cNvSpPr txBox="1"/>
            <p:nvPr/>
          </p:nvSpPr>
          <p:spPr>
            <a:xfrm>
              <a:off x="2208" y="1632"/>
              <a:ext cx="624" cy="290"/>
            </a:xfrm>
            <a:prstGeom prst="rect">
              <a:avLst/>
            </a:prstGeom>
            <a:noFill/>
            <a:ln w="9525">
              <a:noFill/>
            </a:ln>
          </p:spPr>
          <p:txBody>
            <a:bodyPr>
              <a:spAutoFit/>
            </a:bodyPr>
            <a:lstStyle/>
            <a:p>
              <a:pPr>
                <a:spcBef>
                  <a:spcPct val="50000"/>
                </a:spcBef>
              </a:pPr>
              <a:r>
                <a:rPr lang="en-US" altLang="zh-CN" b="1" dirty="0">
                  <a:solidFill>
                    <a:schemeClr val="tx1"/>
                  </a:solidFill>
                  <a:latin typeface="Arial" panose="020B0604020202020204" pitchFamily="34" charset="0"/>
                </a:rPr>
                <a:t>INTR1</a:t>
              </a:r>
            </a:p>
          </p:txBody>
        </p:sp>
        <p:sp>
          <p:nvSpPr>
            <p:cNvPr id="22561" name="Text Box 31"/>
            <p:cNvSpPr txBox="1"/>
            <p:nvPr/>
          </p:nvSpPr>
          <p:spPr>
            <a:xfrm>
              <a:off x="3408" y="1632"/>
              <a:ext cx="624" cy="290"/>
            </a:xfrm>
            <a:prstGeom prst="rect">
              <a:avLst/>
            </a:prstGeom>
            <a:noFill/>
            <a:ln w="9525">
              <a:noFill/>
            </a:ln>
          </p:spPr>
          <p:txBody>
            <a:bodyPr>
              <a:spAutoFit/>
            </a:bodyPr>
            <a:lstStyle/>
            <a:p>
              <a:pPr>
                <a:spcBef>
                  <a:spcPct val="50000"/>
                </a:spcBef>
              </a:pPr>
              <a:r>
                <a:rPr lang="en-US" altLang="zh-CN" b="1" dirty="0">
                  <a:solidFill>
                    <a:schemeClr val="tx1"/>
                  </a:solidFill>
                  <a:latin typeface="Arial" panose="020B0604020202020204" pitchFamily="34" charset="0"/>
                </a:rPr>
                <a:t>INTR2</a:t>
              </a:r>
            </a:p>
          </p:txBody>
        </p:sp>
        <p:sp>
          <p:nvSpPr>
            <p:cNvPr id="22562" name="Line 32"/>
            <p:cNvSpPr/>
            <p:nvPr/>
          </p:nvSpPr>
          <p:spPr>
            <a:xfrm>
              <a:off x="2112" y="2256"/>
              <a:ext cx="624" cy="0"/>
            </a:xfrm>
            <a:prstGeom prst="line">
              <a:avLst/>
            </a:prstGeom>
            <a:ln w="9525" cap="flat" cmpd="sng">
              <a:solidFill>
                <a:schemeClr val="tx1"/>
              </a:solidFill>
              <a:prstDash val="solid"/>
              <a:headEnd type="none" w="med" len="med"/>
              <a:tailEnd type="none" w="med" len="med"/>
            </a:ln>
          </p:spPr>
        </p:sp>
        <p:sp>
          <p:nvSpPr>
            <p:cNvPr id="22563" name="Line 33"/>
            <p:cNvSpPr/>
            <p:nvPr/>
          </p:nvSpPr>
          <p:spPr>
            <a:xfrm>
              <a:off x="2736" y="2256"/>
              <a:ext cx="0" cy="864"/>
            </a:xfrm>
            <a:prstGeom prst="line">
              <a:avLst/>
            </a:prstGeom>
            <a:ln w="9525" cap="flat" cmpd="sng">
              <a:solidFill>
                <a:schemeClr val="tx1"/>
              </a:solidFill>
              <a:prstDash val="solid"/>
              <a:headEnd type="none" w="med" len="med"/>
              <a:tailEnd type="none" w="med" len="med"/>
            </a:ln>
          </p:spPr>
        </p:sp>
        <p:sp>
          <p:nvSpPr>
            <p:cNvPr id="22564" name="Line 34"/>
            <p:cNvSpPr/>
            <p:nvPr/>
          </p:nvSpPr>
          <p:spPr>
            <a:xfrm>
              <a:off x="2736" y="3120"/>
              <a:ext cx="1248" cy="0"/>
            </a:xfrm>
            <a:prstGeom prst="line">
              <a:avLst/>
            </a:prstGeom>
            <a:ln w="9525" cap="flat" cmpd="sng">
              <a:solidFill>
                <a:schemeClr val="tx1"/>
              </a:solidFill>
              <a:prstDash val="solid"/>
              <a:headEnd type="none" w="med" len="med"/>
              <a:tailEnd type="none" w="med" len="med"/>
            </a:ln>
          </p:spPr>
        </p:sp>
        <p:sp>
          <p:nvSpPr>
            <p:cNvPr id="22565" name="Text Box 36"/>
            <p:cNvSpPr txBox="1"/>
            <p:nvPr/>
          </p:nvSpPr>
          <p:spPr>
            <a:xfrm>
              <a:off x="672" y="3072"/>
              <a:ext cx="624" cy="290"/>
            </a:xfrm>
            <a:prstGeom prst="rect">
              <a:avLst/>
            </a:prstGeom>
            <a:noFill/>
            <a:ln w="9525">
              <a:noFill/>
            </a:ln>
          </p:spPr>
          <p:txBody>
            <a:bodyPr>
              <a:spAutoFit/>
            </a:bodyPr>
            <a:lstStyle/>
            <a:p>
              <a:pPr>
                <a:spcBef>
                  <a:spcPct val="50000"/>
                </a:spcBef>
              </a:pPr>
              <a:r>
                <a:rPr lang="en-US" altLang="zh-CN" b="1" dirty="0">
                  <a:solidFill>
                    <a:schemeClr val="tx1"/>
                  </a:solidFill>
                  <a:latin typeface="Arial" panose="020B0604020202020204" pitchFamily="34" charset="0"/>
                </a:rPr>
                <a:t>INTR0’</a:t>
              </a:r>
            </a:p>
          </p:txBody>
        </p:sp>
        <p:sp>
          <p:nvSpPr>
            <p:cNvPr id="22566" name="Text Box 37"/>
            <p:cNvSpPr txBox="1"/>
            <p:nvPr/>
          </p:nvSpPr>
          <p:spPr>
            <a:xfrm>
              <a:off x="1872" y="3216"/>
              <a:ext cx="624" cy="290"/>
            </a:xfrm>
            <a:prstGeom prst="rect">
              <a:avLst/>
            </a:prstGeom>
            <a:noFill/>
            <a:ln w="9525">
              <a:noFill/>
            </a:ln>
          </p:spPr>
          <p:txBody>
            <a:bodyPr>
              <a:spAutoFit/>
            </a:bodyPr>
            <a:lstStyle/>
            <a:p>
              <a:pPr>
                <a:spcBef>
                  <a:spcPct val="50000"/>
                </a:spcBef>
              </a:pPr>
              <a:r>
                <a:rPr lang="en-US" altLang="zh-CN" b="1" dirty="0">
                  <a:solidFill>
                    <a:schemeClr val="tx1"/>
                  </a:solidFill>
                  <a:latin typeface="Arial" panose="020B0604020202020204" pitchFamily="34" charset="0"/>
                </a:rPr>
                <a:t>INTR1’</a:t>
              </a:r>
            </a:p>
          </p:txBody>
        </p:sp>
        <p:sp>
          <p:nvSpPr>
            <p:cNvPr id="22567" name="Text Box 38"/>
            <p:cNvSpPr txBox="1"/>
            <p:nvPr/>
          </p:nvSpPr>
          <p:spPr>
            <a:xfrm>
              <a:off x="3312" y="3312"/>
              <a:ext cx="624" cy="290"/>
            </a:xfrm>
            <a:prstGeom prst="rect">
              <a:avLst/>
            </a:prstGeom>
            <a:noFill/>
            <a:ln w="9525">
              <a:noFill/>
            </a:ln>
          </p:spPr>
          <p:txBody>
            <a:bodyPr>
              <a:spAutoFit/>
            </a:bodyPr>
            <a:lstStyle/>
            <a:p>
              <a:pPr>
                <a:spcBef>
                  <a:spcPct val="50000"/>
                </a:spcBef>
              </a:pPr>
              <a:r>
                <a:rPr lang="en-US" altLang="zh-CN" b="1" dirty="0">
                  <a:solidFill>
                    <a:schemeClr val="tx1"/>
                  </a:solidFill>
                  <a:latin typeface="Arial" panose="020B0604020202020204" pitchFamily="34" charset="0"/>
                </a:rPr>
                <a:t>INTR2’</a:t>
              </a:r>
            </a:p>
          </p:txBody>
        </p:sp>
      </p:grpSp>
      <p:sp>
        <p:nvSpPr>
          <p:cNvPr id="22532" name="Text Box 40"/>
          <p:cNvSpPr txBox="1"/>
          <p:nvPr/>
        </p:nvSpPr>
        <p:spPr>
          <a:xfrm>
            <a:off x="1295400" y="5715000"/>
            <a:ext cx="5715000" cy="519113"/>
          </a:xfrm>
          <a:prstGeom prst="rect">
            <a:avLst/>
          </a:prstGeom>
          <a:noFill/>
          <a:ln w="9525">
            <a:noFill/>
          </a:ln>
        </p:spPr>
        <p:txBody>
          <a:bodyPr>
            <a:spAutoFit/>
          </a:bodyPr>
          <a:lstStyle/>
          <a:p>
            <a:pPr>
              <a:spcBef>
                <a:spcPct val="50000"/>
              </a:spcBef>
            </a:pPr>
            <a:r>
              <a:rPr lang="zh-CN" altLang="en-US" sz="2800" b="1" dirty="0">
                <a:solidFill>
                  <a:schemeClr val="tx1"/>
                </a:solidFill>
                <a:latin typeface="Arial" panose="020B0604020202020204" pitchFamily="34" charset="0"/>
              </a:rPr>
              <a:t>判优结果体现为请求信号是否有效。</a:t>
            </a: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6"/>
          <p:cNvSpPr txBox="1"/>
          <p:nvPr/>
        </p:nvSpPr>
        <p:spPr>
          <a:xfrm>
            <a:off x="228600" y="304800"/>
            <a:ext cx="8610600" cy="1599565"/>
          </a:xfrm>
          <a:prstGeom prst="rect">
            <a:avLst/>
          </a:prstGeom>
          <a:noFill/>
          <a:ln w="9525">
            <a:noFill/>
          </a:ln>
        </p:spPr>
        <p:txBody>
          <a:bodyPr>
            <a:spAutoFit/>
          </a:bodyPr>
          <a:lstStyle/>
          <a:p>
            <a:pPr>
              <a:spcBef>
                <a:spcPct val="50000"/>
              </a:spcBef>
            </a:pPr>
            <a:r>
              <a:rPr lang="en-US" altLang="zh-CN" sz="2800" b="1" dirty="0">
                <a:solidFill>
                  <a:schemeClr val="tx1"/>
                </a:solidFill>
                <a:latin typeface="Arial" panose="020B0604020202020204" pitchFamily="34" charset="0"/>
              </a:rPr>
              <a:t>3</a:t>
            </a:r>
            <a:r>
              <a:rPr lang="zh-CN" altLang="en-US" sz="2800" b="1" dirty="0">
                <a:solidFill>
                  <a:schemeClr val="tx1"/>
                </a:solidFill>
                <a:latin typeface="Arial" panose="020B0604020202020204" pitchFamily="34" charset="0"/>
              </a:rPr>
              <a:t>）链式优先排队逻辑</a:t>
            </a:r>
          </a:p>
          <a:p>
            <a:pPr>
              <a:spcBef>
                <a:spcPct val="50000"/>
              </a:spcBef>
            </a:pPr>
            <a:r>
              <a:rPr lang="zh-CN" altLang="en-US" sz="2800" b="1" dirty="0">
                <a:solidFill>
                  <a:schemeClr val="tx1"/>
                </a:solidFill>
                <a:latin typeface="Arial" panose="020B0604020202020204" pitchFamily="34" charset="0"/>
              </a:rPr>
              <a:t>中断请求信号采用公共请求线，即汇集为一个公共的请求信号，则判优结果可用不同的设备码表示。</a:t>
            </a:r>
          </a:p>
        </p:txBody>
      </p:sp>
      <p:grpSp>
        <p:nvGrpSpPr>
          <p:cNvPr id="23555" name="Group 50"/>
          <p:cNvGrpSpPr/>
          <p:nvPr/>
        </p:nvGrpSpPr>
        <p:grpSpPr>
          <a:xfrm>
            <a:off x="1690370" y="2315845"/>
            <a:ext cx="6729730" cy="3084074"/>
            <a:chOff x="288" y="192"/>
            <a:chExt cx="3600" cy="1816"/>
          </a:xfrm>
        </p:grpSpPr>
        <p:sp>
          <p:nvSpPr>
            <p:cNvPr id="23557" name="Text Box 51"/>
            <p:cNvSpPr txBox="1"/>
            <p:nvPr/>
          </p:nvSpPr>
          <p:spPr>
            <a:xfrm>
              <a:off x="288" y="432"/>
              <a:ext cx="480" cy="1576"/>
            </a:xfrm>
            <a:prstGeom prst="rect">
              <a:avLst/>
            </a:prstGeom>
            <a:noFill/>
            <a:ln w="9525" cap="flat" cmpd="sng">
              <a:solidFill>
                <a:schemeClr val="tx1"/>
              </a:solidFill>
              <a:prstDash val="solid"/>
              <a:miter/>
              <a:headEnd type="none" w="med" len="med"/>
              <a:tailEnd type="none" w="med" len="med"/>
            </a:ln>
          </p:spPr>
          <p:txBody>
            <a:bodyPr>
              <a:spAutoFit/>
            </a:bodyPr>
            <a:lstStyle/>
            <a:p>
              <a:pPr>
                <a:spcBef>
                  <a:spcPct val="50000"/>
                </a:spcBef>
              </a:pPr>
              <a:endParaRPr lang="en-US" altLang="zh-CN" b="1" dirty="0">
                <a:solidFill>
                  <a:schemeClr val="tx1"/>
                </a:solidFill>
                <a:latin typeface="Arial" panose="020B0604020202020204" pitchFamily="34" charset="0"/>
              </a:endParaRPr>
            </a:p>
            <a:p>
              <a:pPr>
                <a:spcBef>
                  <a:spcPct val="50000"/>
                </a:spcBef>
              </a:pPr>
              <a:endParaRPr lang="en-US" altLang="zh-CN" b="1" dirty="0">
                <a:solidFill>
                  <a:schemeClr val="tx1"/>
                </a:solidFill>
                <a:latin typeface="Arial" panose="020B0604020202020204" pitchFamily="34" charset="0"/>
              </a:endParaRPr>
            </a:p>
            <a:p>
              <a:pPr>
                <a:spcBef>
                  <a:spcPct val="50000"/>
                </a:spcBef>
              </a:pPr>
              <a:r>
                <a:rPr lang="en-US" altLang="zh-CN" b="1" dirty="0">
                  <a:solidFill>
                    <a:schemeClr val="tx1"/>
                  </a:solidFill>
                  <a:latin typeface="Arial" panose="020B0604020202020204" pitchFamily="34" charset="0"/>
                </a:rPr>
                <a:t>CPU</a:t>
              </a:r>
            </a:p>
            <a:p>
              <a:pPr>
                <a:spcBef>
                  <a:spcPct val="50000"/>
                </a:spcBef>
              </a:pPr>
              <a:endParaRPr lang="en-US" altLang="zh-CN" b="1" dirty="0">
                <a:solidFill>
                  <a:schemeClr val="tx1"/>
                </a:solidFill>
                <a:latin typeface="Arial" panose="020B0604020202020204" pitchFamily="34" charset="0"/>
              </a:endParaRPr>
            </a:p>
            <a:p>
              <a:pPr>
                <a:spcBef>
                  <a:spcPct val="50000"/>
                </a:spcBef>
              </a:pPr>
              <a:endParaRPr lang="en-US" altLang="zh-CN" b="1" dirty="0">
                <a:solidFill>
                  <a:schemeClr val="tx1"/>
                </a:solidFill>
                <a:latin typeface="Arial" panose="020B0604020202020204" pitchFamily="34" charset="0"/>
              </a:endParaRPr>
            </a:p>
          </p:txBody>
        </p:sp>
        <p:sp>
          <p:nvSpPr>
            <p:cNvPr id="23558" name="Line 52"/>
            <p:cNvSpPr/>
            <p:nvPr/>
          </p:nvSpPr>
          <p:spPr>
            <a:xfrm>
              <a:off x="768" y="1056"/>
              <a:ext cx="2784" cy="0"/>
            </a:xfrm>
            <a:prstGeom prst="line">
              <a:avLst/>
            </a:prstGeom>
            <a:ln w="57150" cap="flat" cmpd="thickThin">
              <a:solidFill>
                <a:schemeClr val="tx1"/>
              </a:solidFill>
              <a:prstDash val="solid"/>
              <a:headEnd type="triangle" w="med" len="med"/>
              <a:tailEnd type="none" w="med" len="med"/>
            </a:ln>
          </p:spPr>
        </p:sp>
        <p:sp>
          <p:nvSpPr>
            <p:cNvPr id="23559" name="Line 53"/>
            <p:cNvSpPr/>
            <p:nvPr/>
          </p:nvSpPr>
          <p:spPr>
            <a:xfrm>
              <a:off x="768" y="1296"/>
              <a:ext cx="2784" cy="0"/>
            </a:xfrm>
            <a:prstGeom prst="line">
              <a:avLst/>
            </a:prstGeom>
            <a:ln w="9525" cap="flat" cmpd="sng">
              <a:solidFill>
                <a:schemeClr val="tx1"/>
              </a:solidFill>
              <a:prstDash val="solid"/>
              <a:headEnd type="triangle" w="med" len="med"/>
              <a:tailEnd type="none" w="med" len="med"/>
            </a:ln>
          </p:spPr>
        </p:sp>
        <p:sp>
          <p:nvSpPr>
            <p:cNvPr id="23560" name="Line 54"/>
            <p:cNvSpPr/>
            <p:nvPr/>
          </p:nvSpPr>
          <p:spPr>
            <a:xfrm>
              <a:off x="768" y="624"/>
              <a:ext cx="480" cy="0"/>
            </a:xfrm>
            <a:prstGeom prst="line">
              <a:avLst/>
            </a:prstGeom>
            <a:ln w="9525" cap="flat" cmpd="sng">
              <a:solidFill>
                <a:schemeClr val="tx1"/>
              </a:solidFill>
              <a:prstDash val="solid"/>
              <a:headEnd type="none" w="med" len="med"/>
              <a:tailEnd type="triangle" w="med" len="med"/>
            </a:ln>
          </p:spPr>
        </p:sp>
        <p:sp>
          <p:nvSpPr>
            <p:cNvPr id="23561" name="Text Box 55"/>
            <p:cNvSpPr txBox="1"/>
            <p:nvPr/>
          </p:nvSpPr>
          <p:spPr>
            <a:xfrm>
              <a:off x="1248" y="528"/>
              <a:ext cx="672" cy="271"/>
            </a:xfrm>
            <a:prstGeom prst="rect">
              <a:avLst/>
            </a:prstGeom>
            <a:noFill/>
            <a:ln w="9525" cap="flat" cmpd="sng">
              <a:solidFill>
                <a:schemeClr val="tx1"/>
              </a:solidFill>
              <a:prstDash val="solid"/>
              <a:miter/>
              <a:headEnd type="none" w="med" len="med"/>
              <a:tailEnd type="none" w="med" len="med"/>
            </a:ln>
          </p:spPr>
          <p:txBody>
            <a:bodyPr>
              <a:spAutoFit/>
            </a:bodyPr>
            <a:lstStyle/>
            <a:p>
              <a:pPr>
                <a:spcBef>
                  <a:spcPct val="50000"/>
                </a:spcBef>
              </a:pPr>
              <a:r>
                <a:rPr lang="en-US" altLang="zh-CN" b="1" dirty="0">
                  <a:solidFill>
                    <a:schemeClr val="tx1"/>
                  </a:solidFill>
                  <a:latin typeface="Arial" panose="020B0604020202020204" pitchFamily="34" charset="0"/>
                </a:rPr>
                <a:t>I/O</a:t>
              </a:r>
            </a:p>
          </p:txBody>
        </p:sp>
        <p:sp>
          <p:nvSpPr>
            <p:cNvPr id="23562" name="Text Box 56"/>
            <p:cNvSpPr txBox="1"/>
            <p:nvPr/>
          </p:nvSpPr>
          <p:spPr>
            <a:xfrm>
              <a:off x="2256" y="528"/>
              <a:ext cx="672" cy="271"/>
            </a:xfrm>
            <a:prstGeom prst="rect">
              <a:avLst/>
            </a:prstGeom>
            <a:noFill/>
            <a:ln w="9525" cap="flat" cmpd="sng">
              <a:solidFill>
                <a:schemeClr val="tx1"/>
              </a:solidFill>
              <a:prstDash val="solid"/>
              <a:miter/>
              <a:headEnd type="none" w="med" len="med"/>
              <a:tailEnd type="none" w="med" len="med"/>
            </a:ln>
          </p:spPr>
          <p:txBody>
            <a:bodyPr>
              <a:spAutoFit/>
            </a:bodyPr>
            <a:lstStyle/>
            <a:p>
              <a:pPr>
                <a:spcBef>
                  <a:spcPct val="50000"/>
                </a:spcBef>
              </a:pPr>
              <a:r>
                <a:rPr lang="en-US" altLang="zh-CN" b="1" dirty="0">
                  <a:solidFill>
                    <a:schemeClr val="tx1"/>
                  </a:solidFill>
                  <a:latin typeface="Arial" panose="020B0604020202020204" pitchFamily="34" charset="0"/>
                </a:rPr>
                <a:t>I/O</a:t>
              </a:r>
            </a:p>
          </p:txBody>
        </p:sp>
        <p:sp>
          <p:nvSpPr>
            <p:cNvPr id="23563" name="Line 57"/>
            <p:cNvSpPr/>
            <p:nvPr/>
          </p:nvSpPr>
          <p:spPr>
            <a:xfrm>
              <a:off x="1344" y="768"/>
              <a:ext cx="0" cy="288"/>
            </a:xfrm>
            <a:prstGeom prst="line">
              <a:avLst/>
            </a:prstGeom>
            <a:ln w="9525" cap="flat" cmpd="sng">
              <a:solidFill>
                <a:schemeClr val="tx1"/>
              </a:solidFill>
              <a:prstDash val="solid"/>
              <a:headEnd type="none" w="med" len="med"/>
              <a:tailEnd type="triangle" w="med" len="med"/>
            </a:ln>
          </p:spPr>
        </p:sp>
        <p:sp>
          <p:nvSpPr>
            <p:cNvPr id="23564" name="Line 58"/>
            <p:cNvSpPr/>
            <p:nvPr/>
          </p:nvSpPr>
          <p:spPr>
            <a:xfrm>
              <a:off x="1536" y="768"/>
              <a:ext cx="0" cy="528"/>
            </a:xfrm>
            <a:prstGeom prst="line">
              <a:avLst/>
            </a:prstGeom>
            <a:ln w="9525" cap="flat" cmpd="sng">
              <a:solidFill>
                <a:schemeClr val="tx1"/>
              </a:solidFill>
              <a:prstDash val="solid"/>
              <a:headEnd type="none" w="med" len="med"/>
              <a:tailEnd type="triangle" w="med" len="med"/>
            </a:ln>
          </p:spPr>
        </p:sp>
        <p:sp>
          <p:nvSpPr>
            <p:cNvPr id="23565" name="Line 59"/>
            <p:cNvSpPr/>
            <p:nvPr/>
          </p:nvSpPr>
          <p:spPr>
            <a:xfrm>
              <a:off x="2352" y="768"/>
              <a:ext cx="0" cy="288"/>
            </a:xfrm>
            <a:prstGeom prst="line">
              <a:avLst/>
            </a:prstGeom>
            <a:ln w="9525" cap="flat" cmpd="sng">
              <a:solidFill>
                <a:schemeClr val="tx1"/>
              </a:solidFill>
              <a:prstDash val="solid"/>
              <a:headEnd type="none" w="med" len="med"/>
              <a:tailEnd type="triangle" w="med" len="med"/>
            </a:ln>
          </p:spPr>
        </p:sp>
        <p:sp>
          <p:nvSpPr>
            <p:cNvPr id="23566" name="Line 60"/>
            <p:cNvSpPr/>
            <p:nvPr/>
          </p:nvSpPr>
          <p:spPr>
            <a:xfrm>
              <a:off x="2544" y="768"/>
              <a:ext cx="0" cy="528"/>
            </a:xfrm>
            <a:prstGeom prst="line">
              <a:avLst/>
            </a:prstGeom>
            <a:ln w="9525" cap="flat" cmpd="sng">
              <a:solidFill>
                <a:schemeClr val="tx1"/>
              </a:solidFill>
              <a:prstDash val="solid"/>
              <a:headEnd type="none" w="med" len="med"/>
              <a:tailEnd type="triangle" w="med" len="med"/>
            </a:ln>
          </p:spPr>
        </p:sp>
        <p:sp>
          <p:nvSpPr>
            <p:cNvPr id="23567" name="Text Box 61"/>
            <p:cNvSpPr txBox="1"/>
            <p:nvPr/>
          </p:nvSpPr>
          <p:spPr>
            <a:xfrm>
              <a:off x="3072" y="528"/>
              <a:ext cx="816" cy="271"/>
            </a:xfrm>
            <a:prstGeom prst="rect">
              <a:avLst/>
            </a:prstGeom>
            <a:noFill/>
            <a:ln w="9525">
              <a:noFill/>
            </a:ln>
          </p:spPr>
          <p:txBody>
            <a:bodyPr>
              <a:spAutoFit/>
            </a:bodyPr>
            <a:lstStyle/>
            <a:p>
              <a:pPr>
                <a:spcBef>
                  <a:spcPct val="50000"/>
                </a:spcBef>
              </a:pPr>
              <a:r>
                <a:rPr lang="en-US" altLang="zh-CN" sz="2400" dirty="0">
                  <a:solidFill>
                    <a:schemeClr val="tx1"/>
                  </a:solidFill>
                  <a:latin typeface="Arial" panose="020B0604020202020204" pitchFamily="34" charset="0"/>
                </a:rPr>
                <a:t>…….</a:t>
              </a:r>
            </a:p>
          </p:txBody>
        </p:sp>
        <p:sp>
          <p:nvSpPr>
            <p:cNvPr id="23568" name="Text Box 62"/>
            <p:cNvSpPr txBox="1"/>
            <p:nvPr/>
          </p:nvSpPr>
          <p:spPr>
            <a:xfrm>
              <a:off x="864" y="816"/>
              <a:ext cx="576" cy="271"/>
            </a:xfrm>
            <a:prstGeom prst="rect">
              <a:avLst/>
            </a:prstGeom>
            <a:noFill/>
            <a:ln w="9525">
              <a:noFill/>
            </a:ln>
          </p:spPr>
          <p:txBody>
            <a:bodyPr>
              <a:spAutoFit/>
            </a:bodyPr>
            <a:lstStyle/>
            <a:p>
              <a:pPr>
                <a:spcBef>
                  <a:spcPct val="50000"/>
                </a:spcBef>
              </a:pPr>
              <a:r>
                <a:rPr lang="zh-CN" altLang="en-US" b="1" dirty="0">
                  <a:solidFill>
                    <a:schemeClr val="tx1"/>
                  </a:solidFill>
                  <a:latin typeface="Arial" panose="020B0604020202020204" pitchFamily="34" charset="0"/>
                </a:rPr>
                <a:t>编码</a:t>
              </a:r>
            </a:p>
          </p:txBody>
        </p:sp>
        <p:sp>
          <p:nvSpPr>
            <p:cNvPr id="23569" name="Text Box 63"/>
            <p:cNvSpPr txBox="1"/>
            <p:nvPr/>
          </p:nvSpPr>
          <p:spPr>
            <a:xfrm>
              <a:off x="864" y="1056"/>
              <a:ext cx="528" cy="271"/>
            </a:xfrm>
            <a:prstGeom prst="rect">
              <a:avLst/>
            </a:prstGeom>
            <a:noFill/>
            <a:ln w="9525">
              <a:noFill/>
            </a:ln>
          </p:spPr>
          <p:txBody>
            <a:bodyPr>
              <a:spAutoFit/>
            </a:bodyPr>
            <a:lstStyle/>
            <a:p>
              <a:pPr>
                <a:spcBef>
                  <a:spcPct val="50000"/>
                </a:spcBef>
              </a:pPr>
              <a:r>
                <a:rPr lang="en-US" altLang="zh-CN" b="1" dirty="0">
                  <a:solidFill>
                    <a:schemeClr val="tx1"/>
                  </a:solidFill>
                  <a:latin typeface="Arial" panose="020B0604020202020204" pitchFamily="34" charset="0"/>
                </a:rPr>
                <a:t>INT</a:t>
              </a:r>
            </a:p>
          </p:txBody>
        </p:sp>
        <p:sp>
          <p:nvSpPr>
            <p:cNvPr id="23570" name="Text Box 64"/>
            <p:cNvSpPr txBox="1"/>
            <p:nvPr/>
          </p:nvSpPr>
          <p:spPr>
            <a:xfrm>
              <a:off x="816" y="192"/>
              <a:ext cx="960" cy="271"/>
            </a:xfrm>
            <a:prstGeom prst="rect">
              <a:avLst/>
            </a:prstGeom>
            <a:noFill/>
            <a:ln w="9525">
              <a:noFill/>
            </a:ln>
          </p:spPr>
          <p:txBody>
            <a:bodyPr>
              <a:spAutoFit/>
            </a:bodyPr>
            <a:lstStyle/>
            <a:p>
              <a:pPr>
                <a:spcBef>
                  <a:spcPct val="50000"/>
                </a:spcBef>
              </a:pPr>
              <a:r>
                <a:rPr lang="en-US" altLang="zh-CN" b="1" dirty="0">
                  <a:solidFill>
                    <a:schemeClr val="tx1"/>
                  </a:solidFill>
                  <a:latin typeface="Arial" panose="020B0604020202020204" pitchFamily="34" charset="0"/>
                </a:rPr>
                <a:t>INTA</a:t>
              </a:r>
            </a:p>
          </p:txBody>
        </p:sp>
        <p:sp>
          <p:nvSpPr>
            <p:cNvPr id="23571" name="Line 65"/>
            <p:cNvSpPr/>
            <p:nvPr/>
          </p:nvSpPr>
          <p:spPr>
            <a:xfrm>
              <a:off x="1920" y="624"/>
              <a:ext cx="336" cy="0"/>
            </a:xfrm>
            <a:prstGeom prst="line">
              <a:avLst/>
            </a:prstGeom>
            <a:ln w="9525" cap="flat" cmpd="sng">
              <a:solidFill>
                <a:schemeClr val="tx1"/>
              </a:solidFill>
              <a:prstDash val="solid"/>
              <a:headEnd type="none" w="med" len="med"/>
              <a:tailEnd type="triangle" w="med" len="med"/>
            </a:ln>
          </p:spPr>
        </p:sp>
      </p:grpSp>
      <p:sp>
        <p:nvSpPr>
          <p:cNvPr id="23556" name="Text Box 66"/>
          <p:cNvSpPr txBox="1"/>
          <p:nvPr/>
        </p:nvSpPr>
        <p:spPr>
          <a:xfrm>
            <a:off x="3581400" y="4586288"/>
            <a:ext cx="4191000" cy="519112"/>
          </a:xfrm>
          <a:prstGeom prst="rect">
            <a:avLst/>
          </a:prstGeom>
          <a:noFill/>
          <a:ln w="9525">
            <a:noFill/>
          </a:ln>
        </p:spPr>
        <p:txBody>
          <a:bodyPr>
            <a:spAutoFit/>
          </a:bodyPr>
          <a:lstStyle/>
          <a:p>
            <a:pPr>
              <a:spcBef>
                <a:spcPct val="50000"/>
              </a:spcBef>
            </a:pPr>
            <a:r>
              <a:rPr lang="zh-CN" altLang="en-US" sz="2800" b="1" dirty="0">
                <a:solidFill>
                  <a:schemeClr val="tx1"/>
                </a:solidFill>
                <a:latin typeface="Arial" panose="020B0604020202020204" pitchFamily="34" charset="0"/>
              </a:rPr>
              <a:t>菊花链方式</a:t>
            </a: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6"/>
          <p:cNvSpPr txBox="1"/>
          <p:nvPr/>
        </p:nvSpPr>
        <p:spPr>
          <a:xfrm>
            <a:off x="304800" y="187960"/>
            <a:ext cx="8534400" cy="521970"/>
          </a:xfrm>
          <a:prstGeom prst="rect">
            <a:avLst/>
          </a:prstGeom>
          <a:noFill/>
          <a:ln w="9525">
            <a:noFill/>
          </a:ln>
        </p:spPr>
        <p:txBody>
          <a:bodyPr>
            <a:spAutoFit/>
          </a:bodyPr>
          <a:lstStyle/>
          <a:p>
            <a:pPr>
              <a:spcBef>
                <a:spcPct val="50000"/>
              </a:spcBef>
            </a:pPr>
            <a:r>
              <a:rPr lang="en-US" altLang="zh-CN" sz="2800" b="1" dirty="0">
                <a:solidFill>
                  <a:schemeClr val="tx1"/>
                </a:solidFill>
                <a:latin typeface="Arial" panose="020B0604020202020204" pitchFamily="34" charset="0"/>
              </a:rPr>
              <a:t>4</a:t>
            </a:r>
            <a:r>
              <a:rPr lang="zh-CN" altLang="en-US" sz="2800" b="1" dirty="0">
                <a:solidFill>
                  <a:schemeClr val="tx1"/>
                </a:solidFill>
                <a:latin typeface="Arial" panose="020B0604020202020204" pitchFamily="34" charset="0"/>
              </a:rPr>
              <a:t>）二维结构的优先排队</a:t>
            </a:r>
          </a:p>
        </p:txBody>
      </p:sp>
      <p:grpSp>
        <p:nvGrpSpPr>
          <p:cNvPr id="24579" name="Group 53"/>
          <p:cNvGrpSpPr/>
          <p:nvPr/>
        </p:nvGrpSpPr>
        <p:grpSpPr>
          <a:xfrm>
            <a:off x="1475105" y="910590"/>
            <a:ext cx="7018020" cy="4892757"/>
            <a:chOff x="1392" y="1968"/>
            <a:chExt cx="3648" cy="2954"/>
          </a:xfrm>
        </p:grpSpPr>
        <p:sp>
          <p:nvSpPr>
            <p:cNvPr id="24580" name="Text Box 28"/>
            <p:cNvSpPr txBox="1"/>
            <p:nvPr/>
          </p:nvSpPr>
          <p:spPr>
            <a:xfrm>
              <a:off x="1392" y="1968"/>
              <a:ext cx="480" cy="2954"/>
            </a:xfrm>
            <a:prstGeom prst="rect">
              <a:avLst/>
            </a:prstGeom>
            <a:noFill/>
            <a:ln w="9525" cap="flat" cmpd="sng">
              <a:solidFill>
                <a:schemeClr val="tx1"/>
              </a:solidFill>
              <a:prstDash val="solid"/>
              <a:miter/>
              <a:headEnd type="none" w="med" len="med"/>
              <a:tailEnd type="none" w="med" len="med"/>
            </a:ln>
          </p:spPr>
          <p:txBody>
            <a:bodyPr>
              <a:spAutoFit/>
            </a:bodyPr>
            <a:lstStyle/>
            <a:p>
              <a:pPr>
                <a:spcBef>
                  <a:spcPct val="50000"/>
                </a:spcBef>
              </a:pPr>
              <a:endParaRPr lang="en-US" altLang="zh-CN" b="1" dirty="0">
                <a:solidFill>
                  <a:schemeClr val="tx1"/>
                </a:solidFill>
                <a:latin typeface="Arial" panose="020B0604020202020204" pitchFamily="34" charset="0"/>
              </a:endParaRPr>
            </a:p>
            <a:p>
              <a:pPr>
                <a:spcBef>
                  <a:spcPct val="50000"/>
                </a:spcBef>
              </a:pPr>
              <a:endParaRPr lang="en-US" altLang="zh-CN" b="1" dirty="0">
                <a:solidFill>
                  <a:schemeClr val="tx1"/>
                </a:solidFill>
                <a:latin typeface="Arial" panose="020B0604020202020204" pitchFamily="34" charset="0"/>
              </a:endParaRPr>
            </a:p>
            <a:p>
              <a:pPr>
                <a:spcBef>
                  <a:spcPct val="50000"/>
                </a:spcBef>
              </a:pPr>
              <a:endParaRPr lang="en-US" altLang="zh-CN" b="1" dirty="0">
                <a:solidFill>
                  <a:schemeClr val="tx1"/>
                </a:solidFill>
                <a:latin typeface="Arial" panose="020B0604020202020204" pitchFamily="34" charset="0"/>
              </a:endParaRPr>
            </a:p>
            <a:p>
              <a:pPr>
                <a:spcBef>
                  <a:spcPct val="50000"/>
                </a:spcBef>
              </a:pPr>
              <a:endParaRPr lang="en-US" altLang="zh-CN" b="1" dirty="0">
                <a:solidFill>
                  <a:schemeClr val="tx1"/>
                </a:solidFill>
                <a:latin typeface="Arial" panose="020B0604020202020204" pitchFamily="34" charset="0"/>
              </a:endParaRPr>
            </a:p>
            <a:p>
              <a:pPr>
                <a:spcBef>
                  <a:spcPct val="50000"/>
                </a:spcBef>
              </a:pPr>
              <a:endParaRPr lang="en-US" altLang="zh-CN" b="1" dirty="0">
                <a:solidFill>
                  <a:schemeClr val="tx1"/>
                </a:solidFill>
                <a:latin typeface="Arial" panose="020B0604020202020204" pitchFamily="34" charset="0"/>
              </a:endParaRPr>
            </a:p>
            <a:p>
              <a:pPr>
                <a:spcBef>
                  <a:spcPct val="50000"/>
                </a:spcBef>
              </a:pPr>
              <a:r>
                <a:rPr lang="en-US" altLang="zh-CN" b="1" dirty="0">
                  <a:solidFill>
                    <a:schemeClr val="tx1"/>
                  </a:solidFill>
                  <a:latin typeface="Arial" panose="020B0604020202020204" pitchFamily="34" charset="0"/>
                </a:rPr>
                <a:t>CPU</a:t>
              </a:r>
            </a:p>
            <a:p>
              <a:pPr>
                <a:spcBef>
                  <a:spcPct val="50000"/>
                </a:spcBef>
              </a:pPr>
              <a:endParaRPr lang="en-US" altLang="zh-CN" b="1" dirty="0">
                <a:solidFill>
                  <a:schemeClr val="tx1"/>
                </a:solidFill>
                <a:latin typeface="Arial" panose="020B0604020202020204" pitchFamily="34" charset="0"/>
              </a:endParaRPr>
            </a:p>
            <a:p>
              <a:pPr>
                <a:spcBef>
                  <a:spcPct val="50000"/>
                </a:spcBef>
              </a:pPr>
              <a:endParaRPr lang="en-US" altLang="zh-CN" b="1" dirty="0">
                <a:solidFill>
                  <a:schemeClr val="tx1"/>
                </a:solidFill>
                <a:latin typeface="Arial" panose="020B0604020202020204" pitchFamily="34" charset="0"/>
              </a:endParaRPr>
            </a:p>
            <a:p>
              <a:pPr>
                <a:spcBef>
                  <a:spcPct val="50000"/>
                </a:spcBef>
              </a:pPr>
              <a:endParaRPr lang="en-US" altLang="zh-CN" b="1" dirty="0">
                <a:solidFill>
                  <a:schemeClr val="tx1"/>
                </a:solidFill>
                <a:latin typeface="Arial" panose="020B0604020202020204" pitchFamily="34" charset="0"/>
              </a:endParaRPr>
            </a:p>
          </p:txBody>
        </p:sp>
        <p:sp>
          <p:nvSpPr>
            <p:cNvPr id="24581" name="Line 30"/>
            <p:cNvSpPr/>
            <p:nvPr/>
          </p:nvSpPr>
          <p:spPr>
            <a:xfrm>
              <a:off x="1872" y="2736"/>
              <a:ext cx="2784" cy="0"/>
            </a:xfrm>
            <a:prstGeom prst="line">
              <a:avLst/>
            </a:prstGeom>
            <a:ln w="9525" cap="flat" cmpd="sng">
              <a:solidFill>
                <a:schemeClr val="tx1"/>
              </a:solidFill>
              <a:prstDash val="solid"/>
              <a:headEnd type="triangle" w="med" len="med"/>
              <a:tailEnd type="none" w="med" len="med"/>
            </a:ln>
          </p:spPr>
        </p:sp>
        <p:sp>
          <p:nvSpPr>
            <p:cNvPr id="24582" name="Line 31"/>
            <p:cNvSpPr/>
            <p:nvPr/>
          </p:nvSpPr>
          <p:spPr>
            <a:xfrm>
              <a:off x="1872" y="2448"/>
              <a:ext cx="480" cy="0"/>
            </a:xfrm>
            <a:prstGeom prst="line">
              <a:avLst/>
            </a:prstGeom>
            <a:ln w="9525" cap="flat" cmpd="sng">
              <a:solidFill>
                <a:schemeClr val="tx1"/>
              </a:solidFill>
              <a:prstDash val="solid"/>
              <a:headEnd type="none" w="med" len="med"/>
              <a:tailEnd type="triangle" w="med" len="med"/>
            </a:ln>
          </p:spPr>
        </p:sp>
        <p:sp>
          <p:nvSpPr>
            <p:cNvPr id="24583" name="Text Box 32"/>
            <p:cNvSpPr txBox="1"/>
            <p:nvPr/>
          </p:nvSpPr>
          <p:spPr>
            <a:xfrm>
              <a:off x="2352" y="2352"/>
              <a:ext cx="672" cy="278"/>
            </a:xfrm>
            <a:prstGeom prst="rect">
              <a:avLst/>
            </a:prstGeom>
            <a:noFill/>
            <a:ln w="9525" cap="flat" cmpd="sng">
              <a:solidFill>
                <a:schemeClr val="tx1"/>
              </a:solidFill>
              <a:prstDash val="solid"/>
              <a:miter/>
              <a:headEnd type="none" w="med" len="med"/>
              <a:tailEnd type="none" w="med" len="med"/>
            </a:ln>
          </p:spPr>
          <p:txBody>
            <a:bodyPr>
              <a:spAutoFit/>
            </a:bodyPr>
            <a:lstStyle/>
            <a:p>
              <a:pPr>
                <a:spcBef>
                  <a:spcPct val="50000"/>
                </a:spcBef>
              </a:pPr>
              <a:r>
                <a:rPr lang="en-US" altLang="zh-CN" b="1" dirty="0">
                  <a:solidFill>
                    <a:schemeClr val="tx1"/>
                  </a:solidFill>
                  <a:latin typeface="Arial" panose="020B0604020202020204" pitchFamily="34" charset="0"/>
                </a:rPr>
                <a:t>I/O</a:t>
              </a:r>
            </a:p>
          </p:txBody>
        </p:sp>
        <p:sp>
          <p:nvSpPr>
            <p:cNvPr id="24584" name="Text Box 33"/>
            <p:cNvSpPr txBox="1"/>
            <p:nvPr/>
          </p:nvSpPr>
          <p:spPr>
            <a:xfrm>
              <a:off x="3360" y="2352"/>
              <a:ext cx="672" cy="278"/>
            </a:xfrm>
            <a:prstGeom prst="rect">
              <a:avLst/>
            </a:prstGeom>
            <a:noFill/>
            <a:ln w="9525" cap="flat" cmpd="sng">
              <a:solidFill>
                <a:schemeClr val="tx1"/>
              </a:solidFill>
              <a:prstDash val="solid"/>
              <a:miter/>
              <a:headEnd type="none" w="med" len="med"/>
              <a:tailEnd type="none" w="med" len="med"/>
            </a:ln>
          </p:spPr>
          <p:txBody>
            <a:bodyPr>
              <a:spAutoFit/>
            </a:bodyPr>
            <a:lstStyle/>
            <a:p>
              <a:pPr>
                <a:spcBef>
                  <a:spcPct val="50000"/>
                </a:spcBef>
              </a:pPr>
              <a:r>
                <a:rPr lang="en-US" altLang="zh-CN" b="1" dirty="0">
                  <a:solidFill>
                    <a:schemeClr val="tx1"/>
                  </a:solidFill>
                  <a:latin typeface="Arial" panose="020B0604020202020204" pitchFamily="34" charset="0"/>
                </a:rPr>
                <a:t>I/O</a:t>
              </a:r>
            </a:p>
          </p:txBody>
        </p:sp>
        <p:sp>
          <p:nvSpPr>
            <p:cNvPr id="24585" name="Line 35"/>
            <p:cNvSpPr/>
            <p:nvPr/>
          </p:nvSpPr>
          <p:spPr>
            <a:xfrm>
              <a:off x="2640" y="2592"/>
              <a:ext cx="0" cy="144"/>
            </a:xfrm>
            <a:prstGeom prst="line">
              <a:avLst/>
            </a:prstGeom>
            <a:ln w="9525" cap="flat" cmpd="sng">
              <a:solidFill>
                <a:schemeClr val="tx1"/>
              </a:solidFill>
              <a:prstDash val="solid"/>
              <a:headEnd type="none" w="med" len="med"/>
              <a:tailEnd type="triangle" w="med" len="med"/>
            </a:ln>
          </p:spPr>
        </p:sp>
        <p:sp>
          <p:nvSpPr>
            <p:cNvPr id="24586" name="Line 37"/>
            <p:cNvSpPr/>
            <p:nvPr/>
          </p:nvSpPr>
          <p:spPr>
            <a:xfrm>
              <a:off x="3648" y="2592"/>
              <a:ext cx="0" cy="144"/>
            </a:xfrm>
            <a:prstGeom prst="line">
              <a:avLst/>
            </a:prstGeom>
            <a:ln w="9525" cap="flat" cmpd="sng">
              <a:solidFill>
                <a:schemeClr val="tx1"/>
              </a:solidFill>
              <a:prstDash val="solid"/>
              <a:headEnd type="none" w="med" len="med"/>
              <a:tailEnd type="triangle" w="med" len="med"/>
            </a:ln>
          </p:spPr>
        </p:sp>
        <p:sp>
          <p:nvSpPr>
            <p:cNvPr id="24587" name="Text Box 38"/>
            <p:cNvSpPr txBox="1"/>
            <p:nvPr/>
          </p:nvSpPr>
          <p:spPr>
            <a:xfrm>
              <a:off x="4176" y="2352"/>
              <a:ext cx="816" cy="278"/>
            </a:xfrm>
            <a:prstGeom prst="rect">
              <a:avLst/>
            </a:prstGeom>
            <a:noFill/>
            <a:ln w="9525">
              <a:noFill/>
            </a:ln>
          </p:spPr>
          <p:txBody>
            <a:bodyPr>
              <a:spAutoFit/>
            </a:bodyPr>
            <a:lstStyle/>
            <a:p>
              <a:pPr>
                <a:spcBef>
                  <a:spcPct val="50000"/>
                </a:spcBef>
              </a:pPr>
              <a:r>
                <a:rPr lang="en-US" altLang="zh-CN" sz="2400" dirty="0">
                  <a:solidFill>
                    <a:schemeClr val="tx1"/>
                  </a:solidFill>
                  <a:latin typeface="Arial" panose="020B0604020202020204" pitchFamily="34" charset="0"/>
                </a:rPr>
                <a:t>…….</a:t>
              </a:r>
            </a:p>
          </p:txBody>
        </p:sp>
        <p:sp>
          <p:nvSpPr>
            <p:cNvPr id="24588" name="Text Box 40"/>
            <p:cNvSpPr txBox="1"/>
            <p:nvPr/>
          </p:nvSpPr>
          <p:spPr>
            <a:xfrm>
              <a:off x="1920" y="2544"/>
              <a:ext cx="528" cy="278"/>
            </a:xfrm>
            <a:prstGeom prst="rect">
              <a:avLst/>
            </a:prstGeom>
            <a:noFill/>
            <a:ln w="9525">
              <a:noFill/>
            </a:ln>
          </p:spPr>
          <p:txBody>
            <a:bodyPr>
              <a:spAutoFit/>
            </a:bodyPr>
            <a:lstStyle/>
            <a:p>
              <a:pPr>
                <a:spcBef>
                  <a:spcPct val="50000"/>
                </a:spcBef>
              </a:pPr>
              <a:r>
                <a:rPr lang="en-US" altLang="zh-CN" b="1" dirty="0">
                  <a:solidFill>
                    <a:schemeClr val="tx1"/>
                  </a:solidFill>
                  <a:latin typeface="Arial" panose="020B0604020202020204" pitchFamily="34" charset="0"/>
                </a:rPr>
                <a:t>INT0</a:t>
              </a:r>
            </a:p>
          </p:txBody>
        </p:sp>
        <p:sp>
          <p:nvSpPr>
            <p:cNvPr id="24589" name="Text Box 41"/>
            <p:cNvSpPr txBox="1"/>
            <p:nvPr/>
          </p:nvSpPr>
          <p:spPr>
            <a:xfrm>
              <a:off x="1920" y="2016"/>
              <a:ext cx="960" cy="278"/>
            </a:xfrm>
            <a:prstGeom prst="rect">
              <a:avLst/>
            </a:prstGeom>
            <a:noFill/>
            <a:ln w="9525">
              <a:noFill/>
            </a:ln>
          </p:spPr>
          <p:txBody>
            <a:bodyPr>
              <a:spAutoFit/>
            </a:bodyPr>
            <a:lstStyle/>
            <a:p>
              <a:pPr>
                <a:spcBef>
                  <a:spcPct val="50000"/>
                </a:spcBef>
              </a:pPr>
              <a:r>
                <a:rPr lang="en-US" altLang="zh-CN" b="1" dirty="0">
                  <a:solidFill>
                    <a:schemeClr val="tx1"/>
                  </a:solidFill>
                  <a:latin typeface="Arial" panose="020B0604020202020204" pitchFamily="34" charset="0"/>
                </a:rPr>
                <a:t>INTA0</a:t>
              </a:r>
            </a:p>
          </p:txBody>
        </p:sp>
        <p:sp>
          <p:nvSpPr>
            <p:cNvPr id="24590" name="Line 42"/>
            <p:cNvSpPr/>
            <p:nvPr/>
          </p:nvSpPr>
          <p:spPr>
            <a:xfrm>
              <a:off x="3024" y="2448"/>
              <a:ext cx="336" cy="0"/>
            </a:xfrm>
            <a:prstGeom prst="line">
              <a:avLst/>
            </a:prstGeom>
            <a:ln w="9525" cap="flat" cmpd="sng">
              <a:solidFill>
                <a:schemeClr val="tx1"/>
              </a:solidFill>
              <a:prstDash val="solid"/>
              <a:headEnd type="none" w="med" len="med"/>
              <a:tailEnd type="triangle" w="med" len="med"/>
            </a:ln>
          </p:spPr>
        </p:sp>
        <p:sp>
          <p:nvSpPr>
            <p:cNvPr id="24591" name="Line 43"/>
            <p:cNvSpPr/>
            <p:nvPr/>
          </p:nvSpPr>
          <p:spPr>
            <a:xfrm>
              <a:off x="1872" y="4080"/>
              <a:ext cx="2784" cy="0"/>
            </a:xfrm>
            <a:prstGeom prst="line">
              <a:avLst/>
            </a:prstGeom>
            <a:ln w="9525" cap="flat" cmpd="sng">
              <a:solidFill>
                <a:schemeClr val="tx1"/>
              </a:solidFill>
              <a:prstDash val="solid"/>
              <a:headEnd type="triangle" w="med" len="med"/>
              <a:tailEnd type="none" w="med" len="med"/>
            </a:ln>
          </p:spPr>
        </p:sp>
        <p:sp>
          <p:nvSpPr>
            <p:cNvPr id="24592" name="Line 44"/>
            <p:cNvSpPr/>
            <p:nvPr/>
          </p:nvSpPr>
          <p:spPr>
            <a:xfrm>
              <a:off x="1872" y="3792"/>
              <a:ext cx="480" cy="0"/>
            </a:xfrm>
            <a:prstGeom prst="line">
              <a:avLst/>
            </a:prstGeom>
            <a:ln w="9525" cap="flat" cmpd="sng">
              <a:solidFill>
                <a:schemeClr val="tx1"/>
              </a:solidFill>
              <a:prstDash val="solid"/>
              <a:headEnd type="none" w="med" len="med"/>
              <a:tailEnd type="triangle" w="med" len="med"/>
            </a:ln>
          </p:spPr>
        </p:sp>
        <p:sp>
          <p:nvSpPr>
            <p:cNvPr id="24593" name="Text Box 45"/>
            <p:cNvSpPr txBox="1"/>
            <p:nvPr/>
          </p:nvSpPr>
          <p:spPr>
            <a:xfrm>
              <a:off x="2352" y="3696"/>
              <a:ext cx="672" cy="278"/>
            </a:xfrm>
            <a:prstGeom prst="rect">
              <a:avLst/>
            </a:prstGeom>
            <a:noFill/>
            <a:ln w="9525" cap="flat" cmpd="sng">
              <a:solidFill>
                <a:schemeClr val="tx1"/>
              </a:solidFill>
              <a:prstDash val="solid"/>
              <a:miter/>
              <a:headEnd type="none" w="med" len="med"/>
              <a:tailEnd type="none" w="med" len="med"/>
            </a:ln>
          </p:spPr>
          <p:txBody>
            <a:bodyPr>
              <a:spAutoFit/>
            </a:bodyPr>
            <a:lstStyle/>
            <a:p>
              <a:pPr>
                <a:spcBef>
                  <a:spcPct val="50000"/>
                </a:spcBef>
              </a:pPr>
              <a:r>
                <a:rPr lang="en-US" altLang="zh-CN" b="1" dirty="0">
                  <a:solidFill>
                    <a:schemeClr val="tx1"/>
                  </a:solidFill>
                  <a:latin typeface="Arial" panose="020B0604020202020204" pitchFamily="34" charset="0"/>
                </a:rPr>
                <a:t>I/O</a:t>
              </a:r>
            </a:p>
          </p:txBody>
        </p:sp>
        <p:sp>
          <p:nvSpPr>
            <p:cNvPr id="24594" name="Text Box 46"/>
            <p:cNvSpPr txBox="1"/>
            <p:nvPr/>
          </p:nvSpPr>
          <p:spPr>
            <a:xfrm>
              <a:off x="3360" y="3696"/>
              <a:ext cx="672" cy="278"/>
            </a:xfrm>
            <a:prstGeom prst="rect">
              <a:avLst/>
            </a:prstGeom>
            <a:noFill/>
            <a:ln w="9525" cap="flat" cmpd="sng">
              <a:solidFill>
                <a:schemeClr val="tx1"/>
              </a:solidFill>
              <a:prstDash val="solid"/>
              <a:miter/>
              <a:headEnd type="none" w="med" len="med"/>
              <a:tailEnd type="none" w="med" len="med"/>
            </a:ln>
          </p:spPr>
          <p:txBody>
            <a:bodyPr>
              <a:spAutoFit/>
            </a:bodyPr>
            <a:lstStyle/>
            <a:p>
              <a:pPr>
                <a:spcBef>
                  <a:spcPct val="50000"/>
                </a:spcBef>
              </a:pPr>
              <a:r>
                <a:rPr lang="en-US" altLang="zh-CN" b="1" dirty="0">
                  <a:solidFill>
                    <a:schemeClr val="tx1"/>
                  </a:solidFill>
                  <a:latin typeface="Arial" panose="020B0604020202020204" pitchFamily="34" charset="0"/>
                </a:rPr>
                <a:t>I/O</a:t>
              </a:r>
            </a:p>
          </p:txBody>
        </p:sp>
        <p:sp>
          <p:nvSpPr>
            <p:cNvPr id="24595" name="Line 47"/>
            <p:cNvSpPr/>
            <p:nvPr/>
          </p:nvSpPr>
          <p:spPr>
            <a:xfrm>
              <a:off x="2640" y="3936"/>
              <a:ext cx="0" cy="144"/>
            </a:xfrm>
            <a:prstGeom prst="line">
              <a:avLst/>
            </a:prstGeom>
            <a:ln w="9525" cap="flat" cmpd="sng">
              <a:solidFill>
                <a:schemeClr val="tx1"/>
              </a:solidFill>
              <a:prstDash val="solid"/>
              <a:headEnd type="none" w="med" len="med"/>
              <a:tailEnd type="triangle" w="med" len="med"/>
            </a:ln>
          </p:spPr>
        </p:sp>
        <p:sp>
          <p:nvSpPr>
            <p:cNvPr id="24596" name="Line 48"/>
            <p:cNvSpPr/>
            <p:nvPr/>
          </p:nvSpPr>
          <p:spPr>
            <a:xfrm>
              <a:off x="3648" y="3936"/>
              <a:ext cx="0" cy="144"/>
            </a:xfrm>
            <a:prstGeom prst="line">
              <a:avLst/>
            </a:prstGeom>
            <a:ln w="9525" cap="flat" cmpd="sng">
              <a:solidFill>
                <a:schemeClr val="tx1"/>
              </a:solidFill>
              <a:prstDash val="solid"/>
              <a:headEnd type="none" w="med" len="med"/>
              <a:tailEnd type="triangle" w="med" len="med"/>
            </a:ln>
          </p:spPr>
        </p:sp>
        <p:sp>
          <p:nvSpPr>
            <p:cNvPr id="24597" name="Text Box 49"/>
            <p:cNvSpPr txBox="1"/>
            <p:nvPr/>
          </p:nvSpPr>
          <p:spPr>
            <a:xfrm>
              <a:off x="4224" y="3696"/>
              <a:ext cx="816" cy="278"/>
            </a:xfrm>
            <a:prstGeom prst="rect">
              <a:avLst/>
            </a:prstGeom>
            <a:noFill/>
            <a:ln w="9525">
              <a:noFill/>
            </a:ln>
          </p:spPr>
          <p:txBody>
            <a:bodyPr>
              <a:spAutoFit/>
            </a:bodyPr>
            <a:lstStyle/>
            <a:p>
              <a:pPr>
                <a:spcBef>
                  <a:spcPct val="50000"/>
                </a:spcBef>
              </a:pPr>
              <a:r>
                <a:rPr lang="en-US" altLang="zh-CN" sz="2400" dirty="0">
                  <a:solidFill>
                    <a:schemeClr val="tx1"/>
                  </a:solidFill>
                  <a:latin typeface="Arial" panose="020B0604020202020204" pitchFamily="34" charset="0"/>
                </a:rPr>
                <a:t>…….</a:t>
              </a:r>
            </a:p>
          </p:txBody>
        </p:sp>
        <p:sp>
          <p:nvSpPr>
            <p:cNvPr id="24598" name="Text Box 50"/>
            <p:cNvSpPr txBox="1"/>
            <p:nvPr/>
          </p:nvSpPr>
          <p:spPr>
            <a:xfrm>
              <a:off x="1920" y="3888"/>
              <a:ext cx="528" cy="278"/>
            </a:xfrm>
            <a:prstGeom prst="rect">
              <a:avLst/>
            </a:prstGeom>
            <a:noFill/>
            <a:ln w="9525">
              <a:noFill/>
            </a:ln>
          </p:spPr>
          <p:txBody>
            <a:bodyPr>
              <a:spAutoFit/>
            </a:bodyPr>
            <a:lstStyle/>
            <a:p>
              <a:pPr>
                <a:spcBef>
                  <a:spcPct val="50000"/>
                </a:spcBef>
              </a:pPr>
              <a:r>
                <a:rPr lang="en-US" altLang="zh-CN" b="1" dirty="0">
                  <a:solidFill>
                    <a:schemeClr val="tx1"/>
                  </a:solidFill>
                  <a:latin typeface="Arial" panose="020B0604020202020204" pitchFamily="34" charset="0"/>
                </a:rPr>
                <a:t>INTn</a:t>
              </a:r>
            </a:p>
          </p:txBody>
        </p:sp>
        <p:sp>
          <p:nvSpPr>
            <p:cNvPr id="24599" name="Text Box 51"/>
            <p:cNvSpPr txBox="1"/>
            <p:nvPr/>
          </p:nvSpPr>
          <p:spPr>
            <a:xfrm>
              <a:off x="1920" y="3408"/>
              <a:ext cx="960" cy="278"/>
            </a:xfrm>
            <a:prstGeom prst="rect">
              <a:avLst/>
            </a:prstGeom>
            <a:noFill/>
            <a:ln w="9525">
              <a:noFill/>
            </a:ln>
          </p:spPr>
          <p:txBody>
            <a:bodyPr>
              <a:spAutoFit/>
            </a:bodyPr>
            <a:lstStyle/>
            <a:p>
              <a:pPr>
                <a:spcBef>
                  <a:spcPct val="50000"/>
                </a:spcBef>
              </a:pPr>
              <a:r>
                <a:rPr lang="en-US" altLang="zh-CN" b="1" dirty="0">
                  <a:solidFill>
                    <a:schemeClr val="tx1"/>
                  </a:solidFill>
                  <a:latin typeface="Arial" panose="020B0604020202020204" pitchFamily="34" charset="0"/>
                </a:rPr>
                <a:t>INTAn</a:t>
              </a:r>
            </a:p>
          </p:txBody>
        </p:sp>
        <p:sp>
          <p:nvSpPr>
            <p:cNvPr id="24600" name="Line 52"/>
            <p:cNvSpPr/>
            <p:nvPr/>
          </p:nvSpPr>
          <p:spPr>
            <a:xfrm>
              <a:off x="3024" y="3792"/>
              <a:ext cx="336" cy="0"/>
            </a:xfrm>
            <a:prstGeom prst="line">
              <a:avLst/>
            </a:prstGeom>
            <a:ln w="9525" cap="flat" cmpd="sng">
              <a:solidFill>
                <a:schemeClr val="tx1"/>
              </a:solidFill>
              <a:prstDash val="solid"/>
              <a:headEnd type="none" w="med" len="med"/>
              <a:tailEnd type="triangle" w="med" len="med"/>
            </a:ln>
          </p:spPr>
        </p:sp>
      </p:gr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602" name="Group 65"/>
          <p:cNvGrpSpPr/>
          <p:nvPr/>
        </p:nvGrpSpPr>
        <p:grpSpPr>
          <a:xfrm>
            <a:off x="24765" y="276225"/>
            <a:ext cx="9829800" cy="6477000"/>
            <a:chOff x="0" y="144"/>
            <a:chExt cx="6192" cy="4080"/>
          </a:xfrm>
        </p:grpSpPr>
        <p:sp>
          <p:nvSpPr>
            <p:cNvPr id="25603" name="Text Box 2"/>
            <p:cNvSpPr txBox="1"/>
            <p:nvPr/>
          </p:nvSpPr>
          <p:spPr>
            <a:xfrm>
              <a:off x="0" y="3369"/>
              <a:ext cx="1200" cy="327"/>
            </a:xfrm>
            <a:prstGeom prst="rect">
              <a:avLst/>
            </a:prstGeom>
            <a:noFill/>
            <a:ln w="12700">
              <a:noFill/>
            </a:ln>
          </p:spPr>
          <p:txBody>
            <a:bodyPr>
              <a:spAutoFit/>
            </a:bodyPr>
            <a:lstStyle/>
            <a:p>
              <a:pPr>
                <a:spcBef>
                  <a:spcPct val="50000"/>
                </a:spcBef>
              </a:pPr>
              <a:r>
                <a:rPr lang="zh-CN" altLang="en-US" sz="2800" b="1" dirty="0">
                  <a:solidFill>
                    <a:schemeClr val="tx1"/>
                  </a:solidFill>
                  <a:latin typeface="黑体" panose="02010609060101010101" pitchFamily="49" charset="-122"/>
                  <a:ea typeface="黑体" panose="02010609060101010101" pitchFamily="49" charset="-122"/>
                </a:rPr>
                <a:t>中断请求</a:t>
              </a:r>
            </a:p>
          </p:txBody>
        </p:sp>
        <p:sp>
          <p:nvSpPr>
            <p:cNvPr id="25604" name="Text Box 3"/>
            <p:cNvSpPr txBox="1"/>
            <p:nvPr/>
          </p:nvSpPr>
          <p:spPr>
            <a:xfrm>
              <a:off x="1248" y="3369"/>
              <a:ext cx="768" cy="327"/>
            </a:xfrm>
            <a:prstGeom prst="rect">
              <a:avLst/>
            </a:prstGeom>
            <a:noFill/>
            <a:ln w="12700">
              <a:noFill/>
            </a:ln>
          </p:spPr>
          <p:txBody>
            <a:bodyPr>
              <a:spAutoFit/>
            </a:bodyPr>
            <a:lstStyle/>
            <a:p>
              <a:pPr>
                <a:spcBef>
                  <a:spcPct val="50000"/>
                </a:spcBef>
              </a:pPr>
              <a:r>
                <a:rPr lang="en-US" altLang="zh-CN" sz="2800" b="1" dirty="0">
                  <a:solidFill>
                    <a:schemeClr val="tx1"/>
                  </a:solidFill>
                  <a:latin typeface="黑体" panose="02010609060101010101" pitchFamily="49" charset="-122"/>
                  <a:ea typeface="黑体" panose="02010609060101010101" pitchFamily="49" charset="-122"/>
                </a:rPr>
                <a:t>8259</a:t>
              </a:r>
            </a:p>
          </p:txBody>
        </p:sp>
        <p:sp>
          <p:nvSpPr>
            <p:cNvPr id="25605" name="Text Box 5"/>
            <p:cNvSpPr txBox="1"/>
            <p:nvPr/>
          </p:nvSpPr>
          <p:spPr>
            <a:xfrm>
              <a:off x="4896" y="2841"/>
              <a:ext cx="960" cy="327"/>
            </a:xfrm>
            <a:prstGeom prst="rect">
              <a:avLst/>
            </a:prstGeom>
            <a:noFill/>
            <a:ln w="12700">
              <a:noFill/>
            </a:ln>
          </p:spPr>
          <p:txBody>
            <a:bodyPr>
              <a:spAutoFit/>
            </a:bodyPr>
            <a:lstStyle/>
            <a:p>
              <a:pPr>
                <a:spcBef>
                  <a:spcPct val="50000"/>
                </a:spcBef>
              </a:pPr>
              <a:r>
                <a:rPr lang="en-US" altLang="zh-CN" sz="2800" b="1" dirty="0">
                  <a:solidFill>
                    <a:schemeClr val="tx1"/>
                  </a:solidFill>
                  <a:latin typeface="黑体" panose="02010609060101010101" pitchFamily="49" charset="-122"/>
                  <a:ea typeface="黑体" panose="02010609060101010101" pitchFamily="49" charset="-122"/>
                </a:rPr>
                <a:t>8259</a:t>
              </a:r>
            </a:p>
          </p:txBody>
        </p:sp>
        <p:sp>
          <p:nvSpPr>
            <p:cNvPr id="25606" name="Text Box 6"/>
            <p:cNvSpPr txBox="1"/>
            <p:nvPr/>
          </p:nvSpPr>
          <p:spPr>
            <a:xfrm>
              <a:off x="1296" y="777"/>
              <a:ext cx="1248" cy="327"/>
            </a:xfrm>
            <a:prstGeom prst="rect">
              <a:avLst/>
            </a:prstGeom>
            <a:noFill/>
            <a:ln w="12700">
              <a:noFill/>
            </a:ln>
          </p:spPr>
          <p:txBody>
            <a:bodyPr>
              <a:spAutoFit/>
            </a:bodyPr>
            <a:lstStyle/>
            <a:p>
              <a:pPr>
                <a:spcBef>
                  <a:spcPct val="50000"/>
                </a:spcBef>
              </a:pPr>
              <a:r>
                <a:rPr lang="en-US" altLang="zh-CN" sz="2800" b="1" dirty="0">
                  <a:solidFill>
                    <a:schemeClr val="tx1"/>
                  </a:solidFill>
                  <a:latin typeface="黑体" panose="02010609060101010101" pitchFamily="49" charset="-122"/>
                  <a:ea typeface="黑体" panose="02010609060101010101" pitchFamily="49" charset="-122"/>
                </a:rPr>
                <a:t>D7</a:t>
              </a:r>
              <a:r>
                <a:rPr lang="zh-CN" altLang="en-US" sz="2800" b="1" dirty="0">
                  <a:solidFill>
                    <a:schemeClr val="tx1"/>
                  </a:solidFill>
                  <a:latin typeface="宋体" panose="02010600030101010101" pitchFamily="2" charset="-122"/>
                </a:rPr>
                <a:t>～</a:t>
              </a:r>
              <a:r>
                <a:rPr lang="en-US" altLang="zh-CN" sz="2800" b="1" dirty="0">
                  <a:solidFill>
                    <a:schemeClr val="tx1"/>
                  </a:solidFill>
                  <a:latin typeface="宋体" panose="02010600030101010101" pitchFamily="2" charset="-122"/>
                </a:rPr>
                <a:t>D0</a:t>
              </a:r>
            </a:p>
          </p:txBody>
        </p:sp>
        <p:sp>
          <p:nvSpPr>
            <p:cNvPr id="25607" name="Rectangle 7"/>
            <p:cNvSpPr/>
            <p:nvPr/>
          </p:nvSpPr>
          <p:spPr>
            <a:xfrm>
              <a:off x="2592" y="633"/>
              <a:ext cx="2160" cy="2688"/>
            </a:xfrm>
            <a:prstGeom prst="rect">
              <a:avLst/>
            </a:prstGeom>
            <a:noFill/>
            <a:ln w="38100" cap="flat" cmpd="sng">
              <a:solidFill>
                <a:srgbClr val="660033"/>
              </a:solidFill>
              <a:prstDash val="solid"/>
              <a:miter/>
              <a:headEnd type="none" w="med" len="med"/>
              <a:tailEnd type="none" w="med" len="med"/>
            </a:ln>
          </p:spPr>
          <p:txBody>
            <a:bodyPr wrap="none" anchor="ctr" anchorCtr="0"/>
            <a:lstStyle/>
            <a:p>
              <a:endParaRPr lang="zh-CN" altLang="en-US" dirty="0">
                <a:solidFill>
                  <a:schemeClr val="tx1"/>
                </a:solidFill>
                <a:latin typeface="Arial" panose="020B0604020202020204" pitchFamily="34" charset="0"/>
              </a:endParaRPr>
            </a:p>
          </p:txBody>
        </p:sp>
        <p:sp>
          <p:nvSpPr>
            <p:cNvPr id="25608" name="Text Box 8"/>
            <p:cNvSpPr txBox="1"/>
            <p:nvPr/>
          </p:nvSpPr>
          <p:spPr>
            <a:xfrm>
              <a:off x="2880" y="2889"/>
              <a:ext cx="1584" cy="312"/>
            </a:xfrm>
            <a:prstGeom prst="rect">
              <a:avLst/>
            </a:prstGeom>
            <a:solidFill>
              <a:srgbClr val="FF9966"/>
            </a:solidFill>
            <a:ln w="38100" cap="flat" cmpd="sng">
              <a:solidFill>
                <a:srgbClr val="660033"/>
              </a:solidFill>
              <a:prstDash val="solid"/>
              <a:miter/>
              <a:headEnd type="none" w="med" len="med"/>
              <a:tailEnd type="none" w="med" len="med"/>
            </a:ln>
          </p:spPr>
          <p:txBody>
            <a:bodyPr>
              <a:spAutoFit/>
            </a:bodyPr>
            <a:lstStyle/>
            <a:p>
              <a:pPr>
                <a:spcBef>
                  <a:spcPct val="50000"/>
                </a:spcBef>
              </a:pPr>
              <a:r>
                <a:rPr lang="zh-CN" altLang="en-US" sz="2400" b="1" dirty="0">
                  <a:solidFill>
                    <a:schemeClr val="tx1"/>
                  </a:solidFill>
                  <a:latin typeface="Times New Roman" panose="02020603050405020304" pitchFamily="18" charset="0"/>
                  <a:ea typeface="黑体" panose="02010609060101010101" pitchFamily="49" charset="-122"/>
                </a:rPr>
                <a:t>中断屏蔽寄存器</a:t>
              </a:r>
            </a:p>
          </p:txBody>
        </p:sp>
        <p:sp>
          <p:nvSpPr>
            <p:cNvPr id="25609" name="Text Box 9"/>
            <p:cNvSpPr txBox="1"/>
            <p:nvPr/>
          </p:nvSpPr>
          <p:spPr>
            <a:xfrm>
              <a:off x="2880" y="777"/>
              <a:ext cx="1584" cy="312"/>
            </a:xfrm>
            <a:prstGeom prst="rect">
              <a:avLst/>
            </a:prstGeom>
            <a:solidFill>
              <a:srgbClr val="FF9966"/>
            </a:solidFill>
            <a:ln w="38100" cap="flat" cmpd="sng">
              <a:solidFill>
                <a:srgbClr val="660033"/>
              </a:solidFill>
              <a:prstDash val="solid"/>
              <a:miter/>
              <a:headEnd type="none" w="med" len="med"/>
              <a:tailEnd type="none" w="med" len="med"/>
            </a:ln>
          </p:spPr>
          <p:txBody>
            <a:bodyPr>
              <a:spAutoFit/>
            </a:bodyPr>
            <a:lstStyle/>
            <a:p>
              <a:pPr>
                <a:spcBef>
                  <a:spcPct val="50000"/>
                </a:spcBef>
              </a:pPr>
              <a:r>
                <a:rPr lang="en-US" altLang="zh-CN" sz="2400" b="1" dirty="0">
                  <a:solidFill>
                    <a:schemeClr val="tx1"/>
                  </a:solidFill>
                  <a:latin typeface="Times New Roman" panose="02020603050405020304" pitchFamily="18" charset="0"/>
                  <a:ea typeface="黑体" panose="02010609060101010101" pitchFamily="49" charset="-122"/>
                </a:rPr>
                <a:t>  </a:t>
              </a:r>
              <a:r>
                <a:rPr lang="zh-CN" altLang="en-US" sz="2400" b="1" dirty="0">
                  <a:solidFill>
                    <a:schemeClr val="tx1"/>
                  </a:solidFill>
                  <a:latin typeface="Times New Roman" panose="02020603050405020304" pitchFamily="18" charset="0"/>
                  <a:ea typeface="黑体" panose="02010609060101010101" pitchFamily="49" charset="-122"/>
                </a:rPr>
                <a:t>中断号寄存器</a:t>
              </a:r>
            </a:p>
          </p:txBody>
        </p:sp>
        <p:sp>
          <p:nvSpPr>
            <p:cNvPr id="25610" name="Text Box 10"/>
            <p:cNvSpPr txBox="1"/>
            <p:nvPr/>
          </p:nvSpPr>
          <p:spPr>
            <a:xfrm>
              <a:off x="4142" y="1257"/>
              <a:ext cx="370" cy="1440"/>
            </a:xfrm>
            <a:prstGeom prst="rect">
              <a:avLst/>
            </a:prstGeom>
            <a:solidFill>
              <a:srgbClr val="FF9966"/>
            </a:solidFill>
            <a:ln w="38100" cap="flat" cmpd="sng">
              <a:solidFill>
                <a:srgbClr val="660033"/>
              </a:solidFill>
              <a:prstDash val="solid"/>
              <a:miter/>
              <a:headEnd type="none" w="med" len="med"/>
              <a:tailEnd type="none" w="med" len="med"/>
            </a:ln>
          </p:spPr>
          <p:txBody>
            <a:bodyPr vert="eaVert">
              <a:spAutoFit/>
            </a:bodyPr>
            <a:lstStyle/>
            <a:p>
              <a:pPr>
                <a:spcBef>
                  <a:spcPct val="50000"/>
                </a:spcBef>
              </a:pPr>
              <a:r>
                <a:rPr lang="zh-CN" altLang="en-US" sz="2400" b="1" dirty="0">
                  <a:solidFill>
                    <a:schemeClr val="tx1"/>
                  </a:solidFill>
                  <a:latin typeface="Times New Roman" panose="02020603050405020304" pitchFamily="18" charset="0"/>
                  <a:ea typeface="黑体" panose="02010609060101010101" pitchFamily="49" charset="-122"/>
                </a:rPr>
                <a:t>中断请求寄存器</a:t>
              </a:r>
            </a:p>
          </p:txBody>
        </p:sp>
        <p:sp>
          <p:nvSpPr>
            <p:cNvPr id="25611" name="Text Box 11"/>
            <p:cNvSpPr txBox="1"/>
            <p:nvPr/>
          </p:nvSpPr>
          <p:spPr>
            <a:xfrm>
              <a:off x="2832" y="1257"/>
              <a:ext cx="370" cy="1440"/>
            </a:xfrm>
            <a:prstGeom prst="rect">
              <a:avLst/>
            </a:prstGeom>
            <a:solidFill>
              <a:srgbClr val="FF9966"/>
            </a:solidFill>
            <a:ln w="38100" cap="flat" cmpd="sng">
              <a:solidFill>
                <a:srgbClr val="660033"/>
              </a:solidFill>
              <a:prstDash val="solid"/>
              <a:miter/>
              <a:headEnd type="none" w="med" len="med"/>
              <a:tailEnd type="none" w="med" len="med"/>
            </a:ln>
          </p:spPr>
          <p:txBody>
            <a:bodyPr vert="eaVert">
              <a:spAutoFit/>
            </a:bodyPr>
            <a:lstStyle/>
            <a:p>
              <a:pPr>
                <a:spcBef>
                  <a:spcPct val="50000"/>
                </a:spcBef>
              </a:pPr>
              <a:r>
                <a:rPr lang="zh-CN" altLang="en-US" sz="2400" b="1" dirty="0">
                  <a:solidFill>
                    <a:schemeClr val="tx1"/>
                  </a:solidFill>
                  <a:latin typeface="Times New Roman" panose="02020603050405020304" pitchFamily="18" charset="0"/>
                  <a:ea typeface="黑体" panose="02010609060101010101" pitchFamily="49" charset="-122"/>
                </a:rPr>
                <a:t>中断服务寄存器</a:t>
              </a:r>
            </a:p>
          </p:txBody>
        </p:sp>
        <p:sp>
          <p:nvSpPr>
            <p:cNvPr id="25612" name="Text Box 12"/>
            <p:cNvSpPr txBox="1"/>
            <p:nvPr/>
          </p:nvSpPr>
          <p:spPr>
            <a:xfrm>
              <a:off x="3504" y="1257"/>
              <a:ext cx="370" cy="1440"/>
            </a:xfrm>
            <a:prstGeom prst="rect">
              <a:avLst/>
            </a:prstGeom>
            <a:solidFill>
              <a:srgbClr val="FF9966"/>
            </a:solidFill>
            <a:ln w="38100" cap="flat" cmpd="sng">
              <a:solidFill>
                <a:srgbClr val="660033"/>
              </a:solidFill>
              <a:prstDash val="solid"/>
              <a:miter/>
              <a:headEnd type="none" w="med" len="med"/>
              <a:tailEnd type="none" w="med" len="med"/>
            </a:ln>
          </p:spPr>
          <p:txBody>
            <a:bodyPr vert="eaVert">
              <a:spAutoFit/>
            </a:bodyPr>
            <a:lstStyle/>
            <a:p>
              <a:pPr>
                <a:spcBef>
                  <a:spcPct val="50000"/>
                </a:spcBef>
              </a:pPr>
              <a:r>
                <a:rPr lang="en-US" altLang="zh-CN" sz="2400" b="1" dirty="0">
                  <a:solidFill>
                    <a:schemeClr val="tx1"/>
                  </a:solidFill>
                  <a:latin typeface="Times New Roman" panose="02020603050405020304" pitchFamily="18" charset="0"/>
                  <a:ea typeface="黑体" panose="02010609060101010101" pitchFamily="49" charset="-122"/>
                </a:rPr>
                <a:t>  </a:t>
              </a:r>
              <a:r>
                <a:rPr lang="zh-CN" altLang="en-US" sz="2400" b="1" dirty="0">
                  <a:solidFill>
                    <a:schemeClr val="tx1"/>
                  </a:solidFill>
                  <a:latin typeface="Times New Roman" panose="02020603050405020304" pitchFamily="18" charset="0"/>
                  <a:ea typeface="黑体" panose="02010609060101010101" pitchFamily="49" charset="-122"/>
                </a:rPr>
                <a:t>优先级裁决器</a:t>
              </a:r>
            </a:p>
          </p:txBody>
        </p:sp>
        <p:sp>
          <p:nvSpPr>
            <p:cNvPr id="25613" name="Line 13"/>
            <p:cNvSpPr/>
            <p:nvPr/>
          </p:nvSpPr>
          <p:spPr>
            <a:xfrm>
              <a:off x="3216" y="1977"/>
              <a:ext cx="288" cy="0"/>
            </a:xfrm>
            <a:prstGeom prst="line">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sp>
        <p:sp>
          <p:nvSpPr>
            <p:cNvPr id="25614" name="Line 14"/>
            <p:cNvSpPr/>
            <p:nvPr/>
          </p:nvSpPr>
          <p:spPr>
            <a:xfrm>
              <a:off x="3888" y="1977"/>
              <a:ext cx="288" cy="0"/>
            </a:xfrm>
            <a:prstGeom prst="line">
              <a:avLst/>
            </a:prstGeom>
            <a:ln>
              <a:headEnd type="triangle" w="med" len="med"/>
              <a:tailEnd type="none" w="med" len="med"/>
            </a:ln>
          </p:spPr>
          <p:style>
            <a:lnRef idx="2">
              <a:schemeClr val="accent1"/>
            </a:lnRef>
            <a:fillRef idx="0">
              <a:schemeClr val="accent1"/>
            </a:fillRef>
            <a:effectRef idx="1">
              <a:schemeClr val="accent1"/>
            </a:effectRef>
            <a:fontRef idx="minor">
              <a:schemeClr val="tx1"/>
            </a:fontRef>
          </p:style>
        </p:sp>
        <p:sp>
          <p:nvSpPr>
            <p:cNvPr id="25615" name="Line 15"/>
            <p:cNvSpPr/>
            <p:nvPr/>
          </p:nvSpPr>
          <p:spPr>
            <a:xfrm>
              <a:off x="3696" y="2697"/>
              <a:ext cx="0" cy="192"/>
            </a:xfrm>
            <a:prstGeom prst="line">
              <a:avLst/>
            </a:prstGeom>
            <a:ln>
              <a:headEnd type="triangle" w="med" len="med"/>
              <a:tailEnd type="none" w="med" len="med"/>
            </a:ln>
          </p:spPr>
          <p:style>
            <a:lnRef idx="2">
              <a:schemeClr val="accent1"/>
            </a:lnRef>
            <a:fillRef idx="0">
              <a:schemeClr val="accent1"/>
            </a:fillRef>
            <a:effectRef idx="1">
              <a:schemeClr val="accent1"/>
            </a:effectRef>
            <a:fontRef idx="minor">
              <a:schemeClr val="tx1"/>
            </a:fontRef>
          </p:style>
        </p:sp>
        <p:sp>
          <p:nvSpPr>
            <p:cNvPr id="25616" name="Line 16"/>
            <p:cNvSpPr/>
            <p:nvPr/>
          </p:nvSpPr>
          <p:spPr>
            <a:xfrm>
              <a:off x="3024" y="1065"/>
              <a:ext cx="0" cy="192"/>
            </a:xfrm>
            <a:prstGeom prst="line">
              <a:avLst/>
            </a:prstGeom>
            <a:ln>
              <a:headEnd type="triangle" w="med" len="med"/>
              <a:tailEnd type="none" w="med" len="med"/>
            </a:ln>
          </p:spPr>
          <p:style>
            <a:lnRef idx="2">
              <a:schemeClr val="accent1"/>
            </a:lnRef>
            <a:fillRef idx="0">
              <a:schemeClr val="accent1"/>
            </a:fillRef>
            <a:effectRef idx="1">
              <a:schemeClr val="accent1"/>
            </a:effectRef>
            <a:fontRef idx="minor">
              <a:schemeClr val="tx1"/>
            </a:fontRef>
          </p:style>
        </p:sp>
        <p:sp>
          <p:nvSpPr>
            <p:cNvPr id="25617" name="Line 17"/>
            <p:cNvSpPr/>
            <p:nvPr/>
          </p:nvSpPr>
          <p:spPr>
            <a:xfrm>
              <a:off x="2112" y="969"/>
              <a:ext cx="480" cy="0"/>
            </a:xfrm>
            <a:prstGeom prst="line">
              <a:avLst/>
            </a:prstGeom>
            <a:ln>
              <a:headEnd type="triangle" w="med" len="med"/>
              <a:tailEnd type="triangle" w="med" len="med"/>
            </a:ln>
          </p:spPr>
          <p:style>
            <a:lnRef idx="3">
              <a:schemeClr val="accent1"/>
            </a:lnRef>
            <a:fillRef idx="0">
              <a:schemeClr val="accent1"/>
            </a:fillRef>
            <a:effectRef idx="2">
              <a:schemeClr val="accent1"/>
            </a:effectRef>
            <a:fontRef idx="minor">
              <a:schemeClr val="tx1"/>
            </a:fontRef>
          </p:style>
        </p:sp>
        <p:sp>
          <p:nvSpPr>
            <p:cNvPr id="25618" name="Line 18"/>
            <p:cNvSpPr/>
            <p:nvPr/>
          </p:nvSpPr>
          <p:spPr>
            <a:xfrm>
              <a:off x="2160" y="1353"/>
              <a:ext cx="432" cy="0"/>
            </a:xfrm>
            <a:prstGeom prst="line">
              <a:avLst/>
            </a:prstGeom>
            <a:ln>
              <a:headEnd type="triangle" w="med" len="med"/>
              <a:tailEnd type="none" w="med" len="med"/>
            </a:ln>
          </p:spPr>
          <p:style>
            <a:lnRef idx="2">
              <a:schemeClr val="accent1"/>
            </a:lnRef>
            <a:fillRef idx="0">
              <a:schemeClr val="accent1"/>
            </a:fillRef>
            <a:effectRef idx="1">
              <a:schemeClr val="accent1"/>
            </a:effectRef>
            <a:fontRef idx="minor">
              <a:schemeClr val="tx1"/>
            </a:fontRef>
          </p:style>
        </p:sp>
        <p:sp>
          <p:nvSpPr>
            <p:cNvPr id="25619" name="Line 19"/>
            <p:cNvSpPr/>
            <p:nvPr/>
          </p:nvSpPr>
          <p:spPr>
            <a:xfrm>
              <a:off x="2160" y="1641"/>
              <a:ext cx="432" cy="0"/>
            </a:xfrm>
            <a:prstGeom prst="line">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sp>
        <p:sp>
          <p:nvSpPr>
            <p:cNvPr id="25620" name="Text Box 20"/>
            <p:cNvSpPr txBox="1"/>
            <p:nvPr/>
          </p:nvSpPr>
          <p:spPr>
            <a:xfrm>
              <a:off x="1632" y="1162"/>
              <a:ext cx="720" cy="327"/>
            </a:xfrm>
            <a:prstGeom prst="rect">
              <a:avLst/>
            </a:prstGeom>
            <a:noFill/>
            <a:ln w="12700">
              <a:noFill/>
            </a:ln>
          </p:spPr>
          <p:txBody>
            <a:bodyPr>
              <a:spAutoFit/>
            </a:bodyPr>
            <a:lstStyle/>
            <a:p>
              <a:pPr>
                <a:spcBef>
                  <a:spcPct val="50000"/>
                </a:spcBef>
              </a:pPr>
              <a:r>
                <a:rPr lang="en-US" altLang="zh-CN" sz="2800" b="1" dirty="0">
                  <a:solidFill>
                    <a:schemeClr val="tx1"/>
                  </a:solidFill>
                  <a:latin typeface="黑体" panose="02010609060101010101" pitchFamily="49" charset="-122"/>
                  <a:ea typeface="黑体" panose="02010609060101010101" pitchFamily="49" charset="-122"/>
                </a:rPr>
                <a:t>INT</a:t>
              </a:r>
            </a:p>
          </p:txBody>
        </p:sp>
        <p:grpSp>
          <p:nvGrpSpPr>
            <p:cNvPr id="25621" name="Group 21"/>
            <p:cNvGrpSpPr/>
            <p:nvPr/>
          </p:nvGrpSpPr>
          <p:grpSpPr>
            <a:xfrm>
              <a:off x="1488" y="1497"/>
              <a:ext cx="720" cy="327"/>
              <a:chOff x="1584" y="1584"/>
              <a:chExt cx="720" cy="327"/>
            </a:xfrm>
          </p:grpSpPr>
          <p:sp>
            <p:nvSpPr>
              <p:cNvPr id="25660" name="Text Box 22"/>
              <p:cNvSpPr txBox="1"/>
              <p:nvPr/>
            </p:nvSpPr>
            <p:spPr>
              <a:xfrm>
                <a:off x="1584" y="1584"/>
                <a:ext cx="720" cy="327"/>
              </a:xfrm>
              <a:prstGeom prst="rect">
                <a:avLst/>
              </a:prstGeom>
              <a:noFill/>
              <a:ln w="12700">
                <a:noFill/>
              </a:ln>
            </p:spPr>
            <p:txBody>
              <a:bodyPr>
                <a:spAutoFit/>
              </a:bodyPr>
              <a:lstStyle/>
              <a:p>
                <a:pPr>
                  <a:spcBef>
                    <a:spcPct val="50000"/>
                  </a:spcBef>
                </a:pPr>
                <a:r>
                  <a:rPr lang="en-US" altLang="zh-CN" sz="2800" b="1" dirty="0">
                    <a:solidFill>
                      <a:schemeClr val="tx1"/>
                    </a:solidFill>
                    <a:latin typeface="黑体" panose="02010609060101010101" pitchFamily="49" charset="-122"/>
                    <a:ea typeface="黑体" panose="02010609060101010101" pitchFamily="49" charset="-122"/>
                  </a:rPr>
                  <a:t>INTA</a:t>
                </a:r>
              </a:p>
            </p:txBody>
          </p:sp>
          <p:sp>
            <p:nvSpPr>
              <p:cNvPr id="25661" name="Line 23"/>
              <p:cNvSpPr/>
              <p:nvPr/>
            </p:nvSpPr>
            <p:spPr>
              <a:xfrm>
                <a:off x="1680" y="1632"/>
                <a:ext cx="384"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sp>
        </p:grpSp>
        <p:sp>
          <p:nvSpPr>
            <p:cNvPr id="25622" name="Line 24"/>
            <p:cNvSpPr/>
            <p:nvPr/>
          </p:nvSpPr>
          <p:spPr>
            <a:xfrm>
              <a:off x="4512" y="1497"/>
              <a:ext cx="432" cy="0"/>
            </a:xfrm>
            <a:prstGeom prst="line">
              <a:avLst/>
            </a:prstGeom>
            <a:ln>
              <a:headEnd type="triangle" w="med" len="med"/>
              <a:tailEnd type="none" w="med" len="med"/>
            </a:ln>
          </p:spPr>
          <p:style>
            <a:lnRef idx="2">
              <a:schemeClr val="accent1"/>
            </a:lnRef>
            <a:fillRef idx="0">
              <a:schemeClr val="accent1"/>
            </a:fillRef>
            <a:effectRef idx="1">
              <a:schemeClr val="accent1"/>
            </a:effectRef>
            <a:fontRef idx="minor">
              <a:schemeClr val="tx1"/>
            </a:fontRef>
          </p:style>
        </p:sp>
        <p:sp>
          <p:nvSpPr>
            <p:cNvPr id="25623" name="Line 25"/>
            <p:cNvSpPr/>
            <p:nvPr/>
          </p:nvSpPr>
          <p:spPr>
            <a:xfrm>
              <a:off x="4512" y="2361"/>
              <a:ext cx="432" cy="0"/>
            </a:xfrm>
            <a:prstGeom prst="line">
              <a:avLst/>
            </a:prstGeom>
            <a:ln>
              <a:headEnd type="triangle" w="med" len="med"/>
              <a:tailEnd type="none" w="med" len="med"/>
            </a:ln>
          </p:spPr>
          <p:style>
            <a:lnRef idx="2">
              <a:schemeClr val="accent1"/>
            </a:lnRef>
            <a:fillRef idx="0">
              <a:schemeClr val="accent1"/>
            </a:fillRef>
            <a:effectRef idx="1">
              <a:schemeClr val="accent1"/>
            </a:effectRef>
            <a:fontRef idx="minor">
              <a:schemeClr val="tx1"/>
            </a:fontRef>
          </p:style>
        </p:sp>
        <p:sp>
          <p:nvSpPr>
            <p:cNvPr id="25624" name="Line 26"/>
            <p:cNvSpPr/>
            <p:nvPr/>
          </p:nvSpPr>
          <p:spPr>
            <a:xfrm>
              <a:off x="4512" y="2217"/>
              <a:ext cx="432" cy="0"/>
            </a:xfrm>
            <a:prstGeom prst="line">
              <a:avLst/>
            </a:prstGeom>
            <a:ln>
              <a:headEnd type="triangle" w="med" len="med"/>
              <a:tailEnd type="none" w="med" len="med"/>
            </a:ln>
          </p:spPr>
          <p:style>
            <a:lnRef idx="2">
              <a:schemeClr val="accent1"/>
            </a:lnRef>
            <a:fillRef idx="0">
              <a:schemeClr val="accent1"/>
            </a:fillRef>
            <a:effectRef idx="1">
              <a:schemeClr val="accent1"/>
            </a:effectRef>
            <a:fontRef idx="minor">
              <a:schemeClr val="tx1"/>
            </a:fontRef>
          </p:style>
        </p:sp>
        <p:sp>
          <p:nvSpPr>
            <p:cNvPr id="25625" name="Line 27"/>
            <p:cNvSpPr/>
            <p:nvPr/>
          </p:nvSpPr>
          <p:spPr>
            <a:xfrm>
              <a:off x="4512" y="2073"/>
              <a:ext cx="432" cy="0"/>
            </a:xfrm>
            <a:prstGeom prst="line">
              <a:avLst/>
            </a:prstGeom>
            <a:ln>
              <a:headEnd type="triangle" w="med" len="med"/>
              <a:tailEnd type="none" w="med" len="med"/>
            </a:ln>
          </p:spPr>
          <p:style>
            <a:lnRef idx="2">
              <a:schemeClr val="accent1"/>
            </a:lnRef>
            <a:fillRef idx="0">
              <a:schemeClr val="accent1"/>
            </a:fillRef>
            <a:effectRef idx="1">
              <a:schemeClr val="accent1"/>
            </a:effectRef>
            <a:fontRef idx="minor">
              <a:schemeClr val="tx1"/>
            </a:fontRef>
          </p:style>
        </p:sp>
        <p:sp>
          <p:nvSpPr>
            <p:cNvPr id="25626" name="Line 28"/>
            <p:cNvSpPr/>
            <p:nvPr/>
          </p:nvSpPr>
          <p:spPr>
            <a:xfrm>
              <a:off x="4512" y="1641"/>
              <a:ext cx="432" cy="0"/>
            </a:xfrm>
            <a:prstGeom prst="line">
              <a:avLst/>
            </a:prstGeom>
            <a:ln>
              <a:headEnd type="triangle" w="med" len="med"/>
              <a:tailEnd type="none" w="med" len="med"/>
            </a:ln>
          </p:spPr>
          <p:style>
            <a:lnRef idx="2">
              <a:schemeClr val="accent1"/>
            </a:lnRef>
            <a:fillRef idx="0">
              <a:schemeClr val="accent1"/>
            </a:fillRef>
            <a:effectRef idx="1">
              <a:schemeClr val="accent1"/>
            </a:effectRef>
            <a:fontRef idx="minor">
              <a:schemeClr val="tx1"/>
            </a:fontRef>
          </p:style>
        </p:sp>
        <p:sp>
          <p:nvSpPr>
            <p:cNvPr id="25627" name="Line 29"/>
            <p:cNvSpPr/>
            <p:nvPr/>
          </p:nvSpPr>
          <p:spPr>
            <a:xfrm>
              <a:off x="4512" y="1785"/>
              <a:ext cx="432" cy="0"/>
            </a:xfrm>
            <a:prstGeom prst="line">
              <a:avLst/>
            </a:prstGeom>
            <a:ln>
              <a:headEnd type="triangle" w="med" len="med"/>
              <a:tailEnd type="none" w="med" len="med"/>
            </a:ln>
          </p:spPr>
          <p:style>
            <a:lnRef idx="2">
              <a:schemeClr val="accent1"/>
            </a:lnRef>
            <a:fillRef idx="0">
              <a:schemeClr val="accent1"/>
            </a:fillRef>
            <a:effectRef idx="1">
              <a:schemeClr val="accent1"/>
            </a:effectRef>
            <a:fontRef idx="minor">
              <a:schemeClr val="tx1"/>
            </a:fontRef>
          </p:style>
        </p:sp>
        <p:sp>
          <p:nvSpPr>
            <p:cNvPr id="25628" name="Line 30"/>
            <p:cNvSpPr/>
            <p:nvPr/>
          </p:nvSpPr>
          <p:spPr>
            <a:xfrm>
              <a:off x="4512" y="1929"/>
              <a:ext cx="432" cy="0"/>
            </a:xfrm>
            <a:prstGeom prst="line">
              <a:avLst/>
            </a:prstGeom>
            <a:ln>
              <a:headEnd type="triangle" w="med" len="med"/>
              <a:tailEnd type="none" w="med" len="med"/>
            </a:ln>
          </p:spPr>
          <p:style>
            <a:lnRef idx="2">
              <a:schemeClr val="accent1"/>
            </a:lnRef>
            <a:fillRef idx="0">
              <a:schemeClr val="accent1"/>
            </a:fillRef>
            <a:effectRef idx="1">
              <a:schemeClr val="accent1"/>
            </a:effectRef>
            <a:fontRef idx="minor">
              <a:schemeClr val="tx1"/>
            </a:fontRef>
          </p:style>
        </p:sp>
        <p:sp>
          <p:nvSpPr>
            <p:cNvPr id="25629" name="Line 31"/>
            <p:cNvSpPr/>
            <p:nvPr/>
          </p:nvSpPr>
          <p:spPr>
            <a:xfrm>
              <a:off x="4512" y="2505"/>
              <a:ext cx="432" cy="0"/>
            </a:xfrm>
            <a:prstGeom prst="line">
              <a:avLst/>
            </a:prstGeom>
            <a:ln>
              <a:headEnd type="triangle" w="med" len="med"/>
              <a:tailEnd type="none" w="med" len="med"/>
            </a:ln>
          </p:spPr>
          <p:style>
            <a:lnRef idx="2">
              <a:schemeClr val="accent1"/>
            </a:lnRef>
            <a:fillRef idx="0">
              <a:schemeClr val="accent1"/>
            </a:fillRef>
            <a:effectRef idx="1">
              <a:schemeClr val="accent1"/>
            </a:effectRef>
            <a:fontRef idx="minor">
              <a:schemeClr val="tx1"/>
            </a:fontRef>
          </p:style>
        </p:sp>
        <p:sp>
          <p:nvSpPr>
            <p:cNvPr id="25630" name="Text Box 32"/>
            <p:cNvSpPr txBox="1"/>
            <p:nvPr/>
          </p:nvSpPr>
          <p:spPr>
            <a:xfrm>
              <a:off x="4992" y="1305"/>
              <a:ext cx="720" cy="327"/>
            </a:xfrm>
            <a:prstGeom prst="rect">
              <a:avLst/>
            </a:prstGeom>
            <a:noFill/>
            <a:ln w="12700">
              <a:noFill/>
            </a:ln>
          </p:spPr>
          <p:txBody>
            <a:bodyPr>
              <a:spAutoFit/>
            </a:bodyPr>
            <a:lstStyle/>
            <a:p>
              <a:pPr>
                <a:spcBef>
                  <a:spcPct val="50000"/>
                </a:spcBef>
              </a:pPr>
              <a:r>
                <a:rPr lang="en-US" altLang="zh-CN" sz="2800" b="1" dirty="0">
                  <a:solidFill>
                    <a:schemeClr val="tx1"/>
                  </a:solidFill>
                  <a:latin typeface="黑体" panose="02010609060101010101" pitchFamily="49" charset="-122"/>
                  <a:ea typeface="黑体" panose="02010609060101010101" pitchFamily="49" charset="-122"/>
                </a:rPr>
                <a:t>IRQ0</a:t>
              </a:r>
            </a:p>
          </p:txBody>
        </p:sp>
        <p:sp>
          <p:nvSpPr>
            <p:cNvPr id="25631" name="Text Box 33"/>
            <p:cNvSpPr txBox="1"/>
            <p:nvPr/>
          </p:nvSpPr>
          <p:spPr>
            <a:xfrm>
              <a:off x="4992" y="2313"/>
              <a:ext cx="720" cy="327"/>
            </a:xfrm>
            <a:prstGeom prst="rect">
              <a:avLst/>
            </a:prstGeom>
            <a:noFill/>
            <a:ln w="12700">
              <a:noFill/>
            </a:ln>
          </p:spPr>
          <p:txBody>
            <a:bodyPr>
              <a:spAutoFit/>
            </a:bodyPr>
            <a:lstStyle/>
            <a:p>
              <a:pPr>
                <a:spcBef>
                  <a:spcPct val="50000"/>
                </a:spcBef>
              </a:pPr>
              <a:r>
                <a:rPr lang="en-US" altLang="zh-CN" sz="2800" b="1" dirty="0">
                  <a:solidFill>
                    <a:schemeClr val="tx1"/>
                  </a:solidFill>
                  <a:latin typeface="黑体" panose="02010609060101010101" pitchFamily="49" charset="-122"/>
                  <a:ea typeface="黑体" panose="02010609060101010101" pitchFamily="49" charset="-122"/>
                </a:rPr>
                <a:t>IRQ7</a:t>
              </a:r>
            </a:p>
          </p:txBody>
        </p:sp>
        <p:sp>
          <p:nvSpPr>
            <p:cNvPr id="25632" name="Line 34"/>
            <p:cNvSpPr/>
            <p:nvPr/>
          </p:nvSpPr>
          <p:spPr>
            <a:xfrm>
              <a:off x="5280" y="1641"/>
              <a:ext cx="0" cy="672"/>
            </a:xfrm>
            <a:prstGeom prst="line">
              <a:avLst/>
            </a:prstGeom>
            <a:ln w="38100" cap="rnd" cmpd="sng">
              <a:solidFill>
                <a:srgbClr val="3366FF"/>
              </a:solidFill>
              <a:prstDash val="sysDot"/>
              <a:headEnd type="none" w="med" len="med"/>
              <a:tailEnd type="none" w="med" len="med"/>
            </a:ln>
          </p:spPr>
        </p:sp>
        <p:sp>
          <p:nvSpPr>
            <p:cNvPr id="25633" name="Line 35"/>
            <p:cNvSpPr/>
            <p:nvPr/>
          </p:nvSpPr>
          <p:spPr>
            <a:xfrm>
              <a:off x="1008" y="3561"/>
              <a:ext cx="288" cy="0"/>
            </a:xfrm>
            <a:prstGeom prst="line">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sp>
        <p:sp>
          <p:nvSpPr>
            <p:cNvPr id="25634" name="Text Box 36"/>
            <p:cNvSpPr txBox="1"/>
            <p:nvPr/>
          </p:nvSpPr>
          <p:spPr>
            <a:xfrm>
              <a:off x="1632" y="3369"/>
              <a:ext cx="4560" cy="327"/>
            </a:xfrm>
            <a:prstGeom prst="rect">
              <a:avLst/>
            </a:prstGeom>
            <a:noFill/>
            <a:ln w="12700">
              <a:noFill/>
            </a:ln>
          </p:spPr>
          <p:txBody>
            <a:bodyPr>
              <a:spAutoFit/>
            </a:bodyPr>
            <a:lstStyle/>
            <a:p>
              <a:pPr>
                <a:spcBef>
                  <a:spcPct val="50000"/>
                </a:spcBef>
              </a:pPr>
              <a:r>
                <a:rPr lang="zh-CN" altLang="en-US" sz="2800" b="1" dirty="0">
                  <a:solidFill>
                    <a:schemeClr val="tx1"/>
                  </a:solidFill>
                  <a:latin typeface="黑体" panose="02010609060101010101" pitchFamily="49" charset="-122"/>
                  <a:ea typeface="黑体" panose="02010609060101010101" pitchFamily="49" charset="-122"/>
                </a:rPr>
                <a:t>（未屏蔽的请求判优</a:t>
              </a:r>
              <a:r>
                <a:rPr lang="en-US" altLang="zh-CN" sz="2800" b="1" dirty="0">
                  <a:solidFill>
                    <a:schemeClr val="tx1"/>
                  </a:solidFill>
                  <a:latin typeface="黑体" panose="02010609060101010101" pitchFamily="49" charset="-122"/>
                  <a:ea typeface="黑体" panose="02010609060101010101" pitchFamily="49" charset="-122"/>
                </a:rPr>
                <a:t>,</a:t>
              </a:r>
              <a:r>
                <a:rPr lang="zh-CN" altLang="en-US" sz="2800" b="1" dirty="0">
                  <a:solidFill>
                    <a:schemeClr val="tx1"/>
                  </a:solidFill>
                  <a:latin typeface="黑体" panose="02010609060101010101" pitchFamily="49" charset="-122"/>
                  <a:ea typeface="黑体" panose="02010609060101010101" pitchFamily="49" charset="-122"/>
                </a:rPr>
                <a:t>生成相应中断号）</a:t>
              </a:r>
            </a:p>
          </p:txBody>
        </p:sp>
        <p:sp>
          <p:nvSpPr>
            <p:cNvPr id="25635" name="Line 37"/>
            <p:cNvSpPr/>
            <p:nvPr/>
          </p:nvSpPr>
          <p:spPr>
            <a:xfrm>
              <a:off x="144" y="3849"/>
              <a:ext cx="336" cy="0"/>
            </a:xfrm>
            <a:prstGeom prst="line">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sp>
        <p:sp>
          <p:nvSpPr>
            <p:cNvPr id="25636" name="Text Box 38"/>
            <p:cNvSpPr txBox="1"/>
            <p:nvPr/>
          </p:nvSpPr>
          <p:spPr>
            <a:xfrm>
              <a:off x="432" y="3657"/>
              <a:ext cx="1968" cy="327"/>
            </a:xfrm>
            <a:prstGeom prst="rect">
              <a:avLst/>
            </a:prstGeom>
            <a:noFill/>
            <a:ln w="12700">
              <a:noFill/>
            </a:ln>
          </p:spPr>
          <p:txBody>
            <a:bodyPr>
              <a:spAutoFit/>
            </a:bodyPr>
            <a:lstStyle/>
            <a:p>
              <a:pPr>
                <a:spcBef>
                  <a:spcPct val="50000"/>
                </a:spcBef>
              </a:pPr>
              <a:r>
                <a:rPr lang="zh-CN" altLang="en-US" sz="2800" b="1" dirty="0">
                  <a:solidFill>
                    <a:schemeClr val="tx1"/>
                  </a:solidFill>
                  <a:latin typeface="黑体" panose="02010609060101010101" pitchFamily="49" charset="-122"/>
                  <a:ea typeface="黑体" panose="02010609060101010101" pitchFamily="49" charset="-122"/>
                </a:rPr>
                <a:t>公共请求</a:t>
              </a:r>
              <a:r>
                <a:rPr lang="en-US" altLang="zh-CN" sz="2800" b="1" dirty="0">
                  <a:solidFill>
                    <a:schemeClr val="tx1"/>
                  </a:solidFill>
                  <a:latin typeface="黑体" panose="02010609060101010101" pitchFamily="49" charset="-122"/>
                  <a:ea typeface="黑体" panose="02010609060101010101" pitchFamily="49" charset="-122"/>
                </a:rPr>
                <a:t>INT</a:t>
              </a:r>
            </a:p>
          </p:txBody>
        </p:sp>
        <p:sp>
          <p:nvSpPr>
            <p:cNvPr id="25637" name="Line 39"/>
            <p:cNvSpPr/>
            <p:nvPr/>
          </p:nvSpPr>
          <p:spPr>
            <a:xfrm>
              <a:off x="1776" y="3849"/>
              <a:ext cx="336" cy="0"/>
            </a:xfrm>
            <a:prstGeom prst="line">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sp>
        <p:sp>
          <p:nvSpPr>
            <p:cNvPr id="25638" name="Text Box 40"/>
            <p:cNvSpPr txBox="1"/>
            <p:nvPr/>
          </p:nvSpPr>
          <p:spPr>
            <a:xfrm>
              <a:off x="2112" y="3657"/>
              <a:ext cx="1968" cy="327"/>
            </a:xfrm>
            <a:prstGeom prst="rect">
              <a:avLst/>
            </a:prstGeom>
            <a:noFill/>
            <a:ln w="12700">
              <a:noFill/>
            </a:ln>
          </p:spPr>
          <p:txBody>
            <a:bodyPr>
              <a:spAutoFit/>
            </a:bodyPr>
            <a:lstStyle/>
            <a:p>
              <a:pPr>
                <a:spcBef>
                  <a:spcPct val="50000"/>
                </a:spcBef>
              </a:pPr>
              <a:r>
                <a:rPr lang="en-US" altLang="zh-CN" sz="2800" b="1" dirty="0">
                  <a:solidFill>
                    <a:schemeClr val="tx1"/>
                  </a:solidFill>
                  <a:latin typeface="黑体" panose="02010609060101010101" pitchFamily="49" charset="-122"/>
                  <a:ea typeface="黑体" panose="02010609060101010101" pitchFamily="49" charset="-122"/>
                </a:rPr>
                <a:t>CPU</a:t>
              </a:r>
            </a:p>
          </p:txBody>
        </p:sp>
        <p:sp>
          <p:nvSpPr>
            <p:cNvPr id="25639" name="Text Box 41"/>
            <p:cNvSpPr txBox="1"/>
            <p:nvPr/>
          </p:nvSpPr>
          <p:spPr>
            <a:xfrm>
              <a:off x="0" y="3897"/>
              <a:ext cx="5760" cy="327"/>
            </a:xfrm>
            <a:prstGeom prst="rect">
              <a:avLst/>
            </a:prstGeom>
            <a:noFill/>
            <a:ln w="12700">
              <a:noFill/>
            </a:ln>
          </p:spPr>
          <p:txBody>
            <a:bodyPr>
              <a:spAutoFit/>
            </a:bodyPr>
            <a:lstStyle/>
            <a:p>
              <a:pPr>
                <a:spcBef>
                  <a:spcPct val="50000"/>
                </a:spcBef>
              </a:pPr>
              <a:r>
                <a:rPr lang="zh-CN" altLang="en-US" sz="2800" b="1" dirty="0">
                  <a:solidFill>
                    <a:schemeClr val="tx1"/>
                  </a:solidFill>
                  <a:latin typeface="黑体" panose="02010609060101010101" pitchFamily="49" charset="-122"/>
                  <a:ea typeface="黑体" panose="02010609060101010101" pitchFamily="49" charset="-122"/>
                </a:rPr>
                <a:t>（</a:t>
              </a:r>
              <a:r>
                <a:rPr lang="en-US" altLang="zh-CN" sz="2800" b="1" dirty="0">
                  <a:solidFill>
                    <a:schemeClr val="tx1"/>
                  </a:solidFill>
                  <a:latin typeface="黑体" panose="02010609060101010101" pitchFamily="49" charset="-122"/>
                  <a:ea typeface="黑体" panose="02010609060101010101" pitchFamily="49" charset="-122"/>
                </a:rPr>
                <a:t>CPU</a:t>
              </a:r>
              <a:r>
                <a:rPr lang="zh-CN" altLang="en-US" sz="2800" b="1" dirty="0">
                  <a:solidFill>
                    <a:schemeClr val="tx1"/>
                  </a:solidFill>
                  <a:latin typeface="黑体" panose="02010609060101010101" pitchFamily="49" charset="-122"/>
                  <a:ea typeface="黑体" panose="02010609060101010101" pitchFamily="49" charset="-122"/>
                </a:rPr>
                <a:t>响应后，取回中断号，转入相应服务程序。）</a:t>
              </a:r>
            </a:p>
          </p:txBody>
        </p:sp>
        <p:sp>
          <p:nvSpPr>
            <p:cNvPr id="25640" name="Line 44"/>
            <p:cNvSpPr/>
            <p:nvPr/>
          </p:nvSpPr>
          <p:spPr>
            <a:xfrm flipH="1">
              <a:off x="4656" y="3657"/>
              <a:ext cx="288" cy="96"/>
            </a:xfrm>
            <a:prstGeom prst="line">
              <a:avLst/>
            </a:prstGeom>
            <a:ln w="9525" cap="flat" cmpd="sng">
              <a:solidFill>
                <a:srgbClr val="FF3300"/>
              </a:solidFill>
              <a:prstDash val="solid"/>
              <a:headEnd type="none" w="med" len="med"/>
              <a:tailEnd type="none" w="med" len="med"/>
            </a:ln>
          </p:spPr>
        </p:sp>
        <p:sp>
          <p:nvSpPr>
            <p:cNvPr id="25641" name="Text Box 45"/>
            <p:cNvSpPr txBox="1"/>
            <p:nvPr/>
          </p:nvSpPr>
          <p:spPr>
            <a:xfrm>
              <a:off x="3840" y="3657"/>
              <a:ext cx="2256" cy="327"/>
            </a:xfrm>
            <a:prstGeom prst="rect">
              <a:avLst/>
            </a:prstGeom>
            <a:noFill/>
            <a:ln w="12700">
              <a:noFill/>
            </a:ln>
          </p:spPr>
          <p:txBody>
            <a:bodyPr>
              <a:spAutoFit/>
            </a:bodyPr>
            <a:lstStyle/>
            <a:p>
              <a:pPr>
                <a:spcBef>
                  <a:spcPct val="50000"/>
                </a:spcBef>
              </a:pPr>
              <a:r>
                <a:rPr lang="zh-CN" altLang="en-US" sz="2800" b="1" dirty="0">
                  <a:solidFill>
                    <a:schemeClr val="tx1"/>
                  </a:solidFill>
                  <a:latin typeface="黑体" panose="02010609060101010101" pitchFamily="49" charset="-122"/>
                  <a:ea typeface="黑体" panose="02010609060101010101" pitchFamily="49" charset="-122"/>
                </a:rPr>
                <a:t>中断源的序号</a:t>
              </a:r>
            </a:p>
          </p:txBody>
        </p:sp>
        <p:sp>
          <p:nvSpPr>
            <p:cNvPr id="25642" name="Text Box 46"/>
            <p:cNvSpPr txBox="1"/>
            <p:nvPr/>
          </p:nvSpPr>
          <p:spPr>
            <a:xfrm>
              <a:off x="0" y="2121"/>
              <a:ext cx="960" cy="327"/>
            </a:xfrm>
            <a:prstGeom prst="rect">
              <a:avLst/>
            </a:prstGeom>
            <a:noFill/>
            <a:ln w="12700">
              <a:noFill/>
            </a:ln>
          </p:spPr>
          <p:txBody>
            <a:bodyPr>
              <a:spAutoFit/>
            </a:bodyPr>
            <a:lstStyle/>
            <a:p>
              <a:pPr>
                <a:spcBef>
                  <a:spcPct val="50000"/>
                </a:spcBef>
              </a:pPr>
              <a:r>
                <a:rPr lang="en-US" altLang="zh-CN" sz="2800" b="1" dirty="0">
                  <a:solidFill>
                    <a:schemeClr val="tx1"/>
                  </a:solidFill>
                  <a:latin typeface="黑体" panose="02010609060101010101" pitchFamily="49" charset="-122"/>
                  <a:ea typeface="黑体" panose="02010609060101010101" pitchFamily="49" charset="-122"/>
                </a:rPr>
                <a:t>IRR</a:t>
              </a:r>
              <a:r>
                <a:rPr lang="zh-CN" altLang="en-US" sz="2800" b="1" dirty="0">
                  <a:solidFill>
                    <a:schemeClr val="tx1"/>
                  </a:solidFill>
                  <a:latin typeface="黑体" panose="02010609060101010101" pitchFamily="49" charset="-122"/>
                  <a:ea typeface="黑体" panose="02010609060101010101" pitchFamily="49" charset="-122"/>
                </a:rPr>
                <a:t>：</a:t>
              </a:r>
            </a:p>
          </p:txBody>
        </p:sp>
        <p:sp>
          <p:nvSpPr>
            <p:cNvPr id="25643" name="Text Box 47"/>
            <p:cNvSpPr txBox="1"/>
            <p:nvPr/>
          </p:nvSpPr>
          <p:spPr>
            <a:xfrm>
              <a:off x="480" y="2121"/>
              <a:ext cx="1104" cy="327"/>
            </a:xfrm>
            <a:prstGeom prst="rect">
              <a:avLst/>
            </a:prstGeom>
            <a:noFill/>
            <a:ln w="12700">
              <a:noFill/>
            </a:ln>
          </p:spPr>
          <p:txBody>
            <a:bodyPr>
              <a:spAutoFit/>
            </a:bodyPr>
            <a:lstStyle/>
            <a:p>
              <a:pPr>
                <a:spcBef>
                  <a:spcPct val="50000"/>
                </a:spcBef>
              </a:pPr>
              <a:r>
                <a:rPr lang="en-US" altLang="zh-CN" sz="2800" b="1" dirty="0">
                  <a:solidFill>
                    <a:schemeClr val="tx1"/>
                  </a:solidFill>
                  <a:latin typeface="黑体" panose="02010609060101010101" pitchFamily="49" charset="-122"/>
                  <a:ea typeface="黑体" panose="02010609060101010101" pitchFamily="49" charset="-122"/>
                </a:rPr>
                <a:t>00010100</a:t>
              </a:r>
            </a:p>
          </p:txBody>
        </p:sp>
        <p:sp>
          <p:nvSpPr>
            <p:cNvPr id="25644" name="Text Box 48"/>
            <p:cNvSpPr txBox="1"/>
            <p:nvPr/>
          </p:nvSpPr>
          <p:spPr>
            <a:xfrm>
              <a:off x="480" y="1881"/>
              <a:ext cx="1104" cy="327"/>
            </a:xfrm>
            <a:prstGeom prst="rect">
              <a:avLst/>
            </a:prstGeom>
            <a:noFill/>
            <a:ln w="12700">
              <a:noFill/>
            </a:ln>
          </p:spPr>
          <p:txBody>
            <a:bodyPr>
              <a:spAutoFit/>
            </a:bodyPr>
            <a:lstStyle/>
            <a:p>
              <a:pPr>
                <a:spcBef>
                  <a:spcPct val="50000"/>
                </a:spcBef>
              </a:pPr>
              <a:r>
                <a:rPr lang="en-US" altLang="zh-CN" sz="2800" b="1" dirty="0">
                  <a:solidFill>
                    <a:schemeClr val="tx1"/>
                  </a:solidFill>
                  <a:latin typeface="黑体" panose="02010609060101010101" pitchFamily="49" charset="-122"/>
                  <a:ea typeface="黑体" panose="02010609060101010101" pitchFamily="49" charset="-122"/>
                </a:rPr>
                <a:t>7      0</a:t>
              </a:r>
            </a:p>
          </p:txBody>
        </p:sp>
        <p:sp>
          <p:nvSpPr>
            <p:cNvPr id="25645" name="Text Box 49"/>
            <p:cNvSpPr txBox="1"/>
            <p:nvPr/>
          </p:nvSpPr>
          <p:spPr>
            <a:xfrm>
              <a:off x="0" y="2361"/>
              <a:ext cx="960" cy="327"/>
            </a:xfrm>
            <a:prstGeom prst="rect">
              <a:avLst/>
            </a:prstGeom>
            <a:noFill/>
            <a:ln w="12700">
              <a:noFill/>
            </a:ln>
          </p:spPr>
          <p:txBody>
            <a:bodyPr>
              <a:spAutoFit/>
            </a:bodyPr>
            <a:lstStyle/>
            <a:p>
              <a:pPr>
                <a:spcBef>
                  <a:spcPct val="50000"/>
                </a:spcBef>
              </a:pPr>
              <a:r>
                <a:rPr lang="en-US" altLang="zh-CN" sz="2800" b="1" dirty="0">
                  <a:solidFill>
                    <a:schemeClr val="tx1"/>
                  </a:solidFill>
                  <a:latin typeface="黑体" panose="02010609060101010101" pitchFamily="49" charset="-122"/>
                  <a:ea typeface="黑体" panose="02010609060101010101" pitchFamily="49" charset="-122"/>
                </a:rPr>
                <a:t>IMR</a:t>
              </a:r>
              <a:r>
                <a:rPr lang="zh-CN" altLang="en-US" sz="2800" b="1" dirty="0">
                  <a:solidFill>
                    <a:schemeClr val="tx1"/>
                  </a:solidFill>
                  <a:latin typeface="黑体" panose="02010609060101010101" pitchFamily="49" charset="-122"/>
                  <a:ea typeface="黑体" panose="02010609060101010101" pitchFamily="49" charset="-122"/>
                </a:rPr>
                <a:t>：</a:t>
              </a:r>
            </a:p>
          </p:txBody>
        </p:sp>
        <p:sp>
          <p:nvSpPr>
            <p:cNvPr id="25646" name="Text Box 50"/>
            <p:cNvSpPr txBox="1"/>
            <p:nvPr/>
          </p:nvSpPr>
          <p:spPr>
            <a:xfrm>
              <a:off x="480" y="2361"/>
              <a:ext cx="1104" cy="327"/>
            </a:xfrm>
            <a:prstGeom prst="rect">
              <a:avLst/>
            </a:prstGeom>
            <a:noFill/>
            <a:ln w="12700">
              <a:noFill/>
            </a:ln>
          </p:spPr>
          <p:txBody>
            <a:bodyPr>
              <a:spAutoFit/>
            </a:bodyPr>
            <a:lstStyle/>
            <a:p>
              <a:pPr>
                <a:spcBef>
                  <a:spcPct val="50000"/>
                </a:spcBef>
              </a:pPr>
              <a:r>
                <a:rPr lang="en-US" altLang="zh-CN" sz="2800" b="1" dirty="0">
                  <a:solidFill>
                    <a:schemeClr val="tx1"/>
                  </a:solidFill>
                  <a:latin typeface="黑体" panose="02010609060101010101" pitchFamily="49" charset="-122"/>
                  <a:ea typeface="黑体" panose="02010609060101010101" pitchFamily="49" charset="-122"/>
                </a:rPr>
                <a:t>00000100</a:t>
              </a:r>
            </a:p>
          </p:txBody>
        </p:sp>
        <p:sp>
          <p:nvSpPr>
            <p:cNvPr id="25647" name="Text Box 51"/>
            <p:cNvSpPr txBox="1"/>
            <p:nvPr/>
          </p:nvSpPr>
          <p:spPr>
            <a:xfrm>
              <a:off x="0" y="2601"/>
              <a:ext cx="960" cy="327"/>
            </a:xfrm>
            <a:prstGeom prst="rect">
              <a:avLst/>
            </a:prstGeom>
            <a:noFill/>
            <a:ln w="12700">
              <a:noFill/>
            </a:ln>
          </p:spPr>
          <p:txBody>
            <a:bodyPr>
              <a:spAutoFit/>
            </a:bodyPr>
            <a:lstStyle/>
            <a:p>
              <a:pPr>
                <a:spcBef>
                  <a:spcPct val="50000"/>
                </a:spcBef>
              </a:pPr>
              <a:r>
                <a:rPr lang="en-US" altLang="zh-CN" sz="2800" b="1" dirty="0">
                  <a:solidFill>
                    <a:schemeClr val="tx1"/>
                  </a:solidFill>
                  <a:latin typeface="黑体" panose="02010609060101010101" pitchFamily="49" charset="-122"/>
                  <a:ea typeface="黑体" panose="02010609060101010101" pitchFamily="49" charset="-122"/>
                </a:rPr>
                <a:t>ISR</a:t>
              </a:r>
              <a:r>
                <a:rPr lang="zh-CN" altLang="en-US" sz="2800" b="1" dirty="0">
                  <a:solidFill>
                    <a:schemeClr val="tx1"/>
                  </a:solidFill>
                  <a:latin typeface="黑体" panose="02010609060101010101" pitchFamily="49" charset="-122"/>
                  <a:ea typeface="黑体" panose="02010609060101010101" pitchFamily="49" charset="-122"/>
                </a:rPr>
                <a:t>：</a:t>
              </a:r>
            </a:p>
          </p:txBody>
        </p:sp>
        <p:sp>
          <p:nvSpPr>
            <p:cNvPr id="25648" name="Text Box 52"/>
            <p:cNvSpPr txBox="1"/>
            <p:nvPr/>
          </p:nvSpPr>
          <p:spPr>
            <a:xfrm>
              <a:off x="480" y="2601"/>
              <a:ext cx="1104" cy="327"/>
            </a:xfrm>
            <a:prstGeom prst="rect">
              <a:avLst/>
            </a:prstGeom>
            <a:noFill/>
            <a:ln w="12700">
              <a:noFill/>
            </a:ln>
          </p:spPr>
          <p:txBody>
            <a:bodyPr>
              <a:spAutoFit/>
            </a:bodyPr>
            <a:lstStyle/>
            <a:p>
              <a:pPr>
                <a:spcBef>
                  <a:spcPct val="50000"/>
                </a:spcBef>
              </a:pPr>
              <a:r>
                <a:rPr lang="en-US" altLang="zh-CN" sz="2800" b="1" dirty="0">
                  <a:solidFill>
                    <a:schemeClr val="tx1"/>
                  </a:solidFill>
                  <a:latin typeface="黑体" panose="02010609060101010101" pitchFamily="49" charset="-122"/>
                  <a:ea typeface="黑体" panose="02010609060101010101" pitchFamily="49" charset="-122"/>
                </a:rPr>
                <a:t>00001000</a:t>
              </a:r>
            </a:p>
          </p:txBody>
        </p:sp>
        <p:sp>
          <p:nvSpPr>
            <p:cNvPr id="25649" name="Line 53"/>
            <p:cNvSpPr/>
            <p:nvPr/>
          </p:nvSpPr>
          <p:spPr>
            <a:xfrm>
              <a:off x="864" y="2889"/>
              <a:ext cx="0" cy="192"/>
            </a:xfrm>
            <a:prstGeom prst="line">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sp>
        <p:sp>
          <p:nvSpPr>
            <p:cNvPr id="25650" name="Text Box 54"/>
            <p:cNvSpPr txBox="1"/>
            <p:nvPr/>
          </p:nvSpPr>
          <p:spPr>
            <a:xfrm>
              <a:off x="480" y="2985"/>
              <a:ext cx="1104" cy="327"/>
            </a:xfrm>
            <a:prstGeom prst="rect">
              <a:avLst/>
            </a:prstGeom>
            <a:noFill/>
            <a:ln w="12700">
              <a:noFill/>
            </a:ln>
          </p:spPr>
          <p:txBody>
            <a:bodyPr>
              <a:spAutoFit/>
            </a:bodyPr>
            <a:lstStyle/>
            <a:p>
              <a:pPr>
                <a:spcBef>
                  <a:spcPct val="50000"/>
                </a:spcBef>
              </a:pPr>
              <a:r>
                <a:rPr lang="zh-CN" altLang="en-US" sz="2800" b="1" dirty="0">
                  <a:solidFill>
                    <a:schemeClr val="tx1"/>
                  </a:solidFill>
                  <a:latin typeface="黑体" panose="02010609060101010101" pitchFamily="49" charset="-122"/>
                  <a:ea typeface="黑体" panose="02010609060101010101" pitchFamily="49" charset="-122"/>
                </a:rPr>
                <a:t>不发</a:t>
              </a:r>
              <a:r>
                <a:rPr lang="en-US" altLang="zh-CN" sz="2800" b="1" dirty="0">
                  <a:solidFill>
                    <a:schemeClr val="tx1"/>
                  </a:solidFill>
                  <a:latin typeface="黑体" panose="02010609060101010101" pitchFamily="49" charset="-122"/>
                  <a:ea typeface="黑体" panose="02010609060101010101" pitchFamily="49" charset="-122"/>
                </a:rPr>
                <a:t>INT</a:t>
              </a:r>
            </a:p>
          </p:txBody>
        </p:sp>
        <p:sp>
          <p:nvSpPr>
            <p:cNvPr id="25651" name="Text Box 55"/>
            <p:cNvSpPr txBox="1"/>
            <p:nvPr/>
          </p:nvSpPr>
          <p:spPr>
            <a:xfrm>
              <a:off x="1536" y="2121"/>
              <a:ext cx="1104" cy="327"/>
            </a:xfrm>
            <a:prstGeom prst="rect">
              <a:avLst/>
            </a:prstGeom>
            <a:noFill/>
            <a:ln w="12700">
              <a:noFill/>
            </a:ln>
          </p:spPr>
          <p:txBody>
            <a:bodyPr>
              <a:spAutoFit/>
            </a:bodyPr>
            <a:lstStyle/>
            <a:p>
              <a:pPr>
                <a:spcBef>
                  <a:spcPct val="50000"/>
                </a:spcBef>
              </a:pPr>
              <a:r>
                <a:rPr lang="en-US" altLang="zh-CN" sz="2800" b="1" dirty="0">
                  <a:solidFill>
                    <a:schemeClr val="tx1"/>
                  </a:solidFill>
                  <a:latin typeface="黑体" panose="02010609060101010101" pitchFamily="49" charset="-122"/>
                  <a:ea typeface="黑体" panose="02010609060101010101" pitchFamily="49" charset="-122"/>
                </a:rPr>
                <a:t>00010100</a:t>
              </a:r>
            </a:p>
          </p:txBody>
        </p:sp>
        <p:sp>
          <p:nvSpPr>
            <p:cNvPr id="25652" name="Text Box 56"/>
            <p:cNvSpPr txBox="1"/>
            <p:nvPr/>
          </p:nvSpPr>
          <p:spPr>
            <a:xfrm>
              <a:off x="1536" y="1881"/>
              <a:ext cx="1104" cy="327"/>
            </a:xfrm>
            <a:prstGeom prst="rect">
              <a:avLst/>
            </a:prstGeom>
            <a:noFill/>
            <a:ln w="12700">
              <a:noFill/>
            </a:ln>
          </p:spPr>
          <p:txBody>
            <a:bodyPr>
              <a:spAutoFit/>
            </a:bodyPr>
            <a:lstStyle/>
            <a:p>
              <a:pPr>
                <a:spcBef>
                  <a:spcPct val="50000"/>
                </a:spcBef>
              </a:pPr>
              <a:r>
                <a:rPr lang="en-US" altLang="zh-CN" sz="2800" b="1" dirty="0">
                  <a:solidFill>
                    <a:schemeClr val="tx1"/>
                  </a:solidFill>
                  <a:latin typeface="黑体" panose="02010609060101010101" pitchFamily="49" charset="-122"/>
                  <a:ea typeface="黑体" panose="02010609060101010101" pitchFamily="49" charset="-122"/>
                </a:rPr>
                <a:t>7      0</a:t>
              </a:r>
            </a:p>
          </p:txBody>
        </p:sp>
        <p:sp>
          <p:nvSpPr>
            <p:cNvPr id="25653" name="Text Box 57"/>
            <p:cNvSpPr txBox="1"/>
            <p:nvPr/>
          </p:nvSpPr>
          <p:spPr>
            <a:xfrm>
              <a:off x="1536" y="2361"/>
              <a:ext cx="1104" cy="327"/>
            </a:xfrm>
            <a:prstGeom prst="rect">
              <a:avLst/>
            </a:prstGeom>
            <a:noFill/>
            <a:ln w="12700">
              <a:noFill/>
            </a:ln>
          </p:spPr>
          <p:txBody>
            <a:bodyPr>
              <a:spAutoFit/>
            </a:bodyPr>
            <a:lstStyle/>
            <a:p>
              <a:pPr>
                <a:spcBef>
                  <a:spcPct val="50000"/>
                </a:spcBef>
              </a:pPr>
              <a:r>
                <a:rPr lang="en-US" altLang="zh-CN" sz="2800" b="1" dirty="0">
                  <a:solidFill>
                    <a:schemeClr val="tx1"/>
                  </a:solidFill>
                  <a:latin typeface="黑体" panose="02010609060101010101" pitchFamily="49" charset="-122"/>
                  <a:ea typeface="黑体" panose="02010609060101010101" pitchFamily="49" charset="-122"/>
                </a:rPr>
                <a:t>00000000</a:t>
              </a:r>
            </a:p>
          </p:txBody>
        </p:sp>
        <p:sp>
          <p:nvSpPr>
            <p:cNvPr id="25654" name="Text Box 58"/>
            <p:cNvSpPr txBox="1"/>
            <p:nvPr/>
          </p:nvSpPr>
          <p:spPr>
            <a:xfrm>
              <a:off x="1536" y="2601"/>
              <a:ext cx="1104" cy="327"/>
            </a:xfrm>
            <a:prstGeom prst="rect">
              <a:avLst/>
            </a:prstGeom>
            <a:noFill/>
            <a:ln w="12700">
              <a:noFill/>
            </a:ln>
          </p:spPr>
          <p:txBody>
            <a:bodyPr>
              <a:spAutoFit/>
            </a:bodyPr>
            <a:lstStyle/>
            <a:p>
              <a:pPr>
                <a:spcBef>
                  <a:spcPct val="50000"/>
                </a:spcBef>
              </a:pPr>
              <a:r>
                <a:rPr lang="en-US" altLang="zh-CN" sz="2800" b="1" dirty="0">
                  <a:solidFill>
                    <a:schemeClr val="tx1"/>
                  </a:solidFill>
                  <a:latin typeface="黑体" panose="02010609060101010101" pitchFamily="49" charset="-122"/>
                  <a:ea typeface="黑体" panose="02010609060101010101" pitchFamily="49" charset="-122"/>
                </a:rPr>
                <a:t>00001000</a:t>
              </a:r>
            </a:p>
          </p:txBody>
        </p:sp>
        <p:sp>
          <p:nvSpPr>
            <p:cNvPr id="25655" name="Line 59"/>
            <p:cNvSpPr/>
            <p:nvPr/>
          </p:nvSpPr>
          <p:spPr>
            <a:xfrm>
              <a:off x="1920" y="2889"/>
              <a:ext cx="0" cy="192"/>
            </a:xfrm>
            <a:prstGeom prst="line">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sp>
        <p:sp>
          <p:nvSpPr>
            <p:cNvPr id="25656" name="Text Box 60"/>
            <p:cNvSpPr txBox="1"/>
            <p:nvPr/>
          </p:nvSpPr>
          <p:spPr>
            <a:xfrm>
              <a:off x="1536" y="2985"/>
              <a:ext cx="1104" cy="327"/>
            </a:xfrm>
            <a:prstGeom prst="rect">
              <a:avLst/>
            </a:prstGeom>
            <a:noFill/>
            <a:ln w="12700">
              <a:noFill/>
            </a:ln>
          </p:spPr>
          <p:txBody>
            <a:bodyPr>
              <a:spAutoFit/>
            </a:bodyPr>
            <a:lstStyle/>
            <a:p>
              <a:pPr>
                <a:spcBef>
                  <a:spcPct val="50000"/>
                </a:spcBef>
              </a:pPr>
              <a:r>
                <a:rPr lang="zh-CN" altLang="en-US" sz="2800" b="1" dirty="0">
                  <a:solidFill>
                    <a:schemeClr val="tx1"/>
                  </a:solidFill>
                  <a:latin typeface="黑体" panose="02010609060101010101" pitchFamily="49" charset="-122"/>
                  <a:ea typeface="黑体" panose="02010609060101010101" pitchFamily="49" charset="-122"/>
                </a:rPr>
                <a:t>发</a:t>
              </a:r>
              <a:r>
                <a:rPr lang="en-US" altLang="zh-CN" sz="2800" b="1" dirty="0">
                  <a:solidFill>
                    <a:schemeClr val="tx1"/>
                  </a:solidFill>
                  <a:latin typeface="黑体" panose="02010609060101010101" pitchFamily="49" charset="-122"/>
                  <a:ea typeface="黑体" panose="02010609060101010101" pitchFamily="49" charset="-122"/>
                </a:rPr>
                <a:t>INT</a:t>
              </a:r>
            </a:p>
          </p:txBody>
        </p:sp>
        <p:sp>
          <p:nvSpPr>
            <p:cNvPr id="25657" name="Text Box 61"/>
            <p:cNvSpPr txBox="1"/>
            <p:nvPr/>
          </p:nvSpPr>
          <p:spPr>
            <a:xfrm>
              <a:off x="4848" y="1113"/>
              <a:ext cx="1104" cy="288"/>
            </a:xfrm>
            <a:prstGeom prst="rect">
              <a:avLst/>
            </a:prstGeom>
            <a:noFill/>
            <a:ln w="12700">
              <a:noFill/>
            </a:ln>
          </p:spPr>
          <p:txBody>
            <a:bodyPr>
              <a:spAutoFit/>
            </a:bodyPr>
            <a:lstStyle/>
            <a:p>
              <a:pPr>
                <a:spcBef>
                  <a:spcPct val="50000"/>
                </a:spcBef>
              </a:pPr>
              <a:r>
                <a:rPr lang="zh-CN" altLang="en-US" sz="2400" b="1" dirty="0">
                  <a:solidFill>
                    <a:schemeClr val="tx1"/>
                  </a:solidFill>
                  <a:latin typeface="黑体" panose="02010609060101010101" pitchFamily="49" charset="-122"/>
                  <a:ea typeface="黑体" panose="02010609060101010101" pitchFamily="49" charset="-122"/>
                </a:rPr>
                <a:t>优先级高</a:t>
              </a:r>
            </a:p>
          </p:txBody>
        </p:sp>
        <p:sp>
          <p:nvSpPr>
            <p:cNvPr id="25658" name="Text Box 62"/>
            <p:cNvSpPr txBox="1"/>
            <p:nvPr/>
          </p:nvSpPr>
          <p:spPr>
            <a:xfrm>
              <a:off x="4848" y="2553"/>
              <a:ext cx="1104" cy="288"/>
            </a:xfrm>
            <a:prstGeom prst="rect">
              <a:avLst/>
            </a:prstGeom>
            <a:noFill/>
            <a:ln w="12700">
              <a:noFill/>
            </a:ln>
          </p:spPr>
          <p:txBody>
            <a:bodyPr>
              <a:spAutoFit/>
            </a:bodyPr>
            <a:lstStyle/>
            <a:p>
              <a:pPr>
                <a:spcBef>
                  <a:spcPct val="50000"/>
                </a:spcBef>
              </a:pPr>
              <a:r>
                <a:rPr lang="zh-CN" altLang="en-US" sz="2400" b="1" dirty="0">
                  <a:solidFill>
                    <a:schemeClr val="tx1"/>
                  </a:solidFill>
                  <a:latin typeface="黑体" panose="02010609060101010101" pitchFamily="49" charset="-122"/>
                  <a:ea typeface="黑体" panose="02010609060101010101" pitchFamily="49" charset="-122"/>
                </a:rPr>
                <a:t>优先级低</a:t>
              </a:r>
            </a:p>
          </p:txBody>
        </p:sp>
        <p:sp>
          <p:nvSpPr>
            <p:cNvPr id="25659" name="Text Box 64"/>
            <p:cNvSpPr txBox="1"/>
            <p:nvPr/>
          </p:nvSpPr>
          <p:spPr>
            <a:xfrm>
              <a:off x="144" y="144"/>
              <a:ext cx="5232" cy="329"/>
            </a:xfrm>
            <a:prstGeom prst="rect">
              <a:avLst/>
            </a:prstGeom>
            <a:noFill/>
            <a:ln w="9525">
              <a:noFill/>
            </a:ln>
          </p:spPr>
          <p:txBody>
            <a:bodyPr>
              <a:spAutoFit/>
            </a:bodyPr>
            <a:lstStyle/>
            <a:p>
              <a:pPr>
                <a:spcBef>
                  <a:spcPct val="50000"/>
                </a:spcBef>
              </a:pPr>
              <a:r>
                <a:rPr lang="en-US" altLang="zh-CN" sz="2800" b="1" dirty="0">
                  <a:solidFill>
                    <a:schemeClr val="tx1"/>
                  </a:solidFill>
                  <a:latin typeface="Arial" panose="020B0604020202020204" pitchFamily="34" charset="0"/>
                </a:rPr>
                <a:t>5)</a:t>
              </a:r>
              <a:r>
                <a:rPr lang="zh-CN" altLang="en-US" sz="2800" b="1" dirty="0">
                  <a:solidFill>
                    <a:schemeClr val="tx1"/>
                  </a:solidFill>
                  <a:latin typeface="Arial" panose="020B0604020202020204" pitchFamily="34" charset="0"/>
                </a:rPr>
                <a:t>采用中断控制器集成芯片的优先逻辑</a:t>
              </a:r>
            </a:p>
          </p:txBody>
        </p:sp>
      </p:grpSp>
    </p:spTree>
  </p:cSld>
  <p:clrMapOvr>
    <a:masterClrMapping/>
  </p:clrMapOvr>
  <p:transition>
    <p:cover dir="l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Text Box 4"/>
          <p:cNvSpPr txBox="1"/>
          <p:nvPr/>
        </p:nvSpPr>
        <p:spPr>
          <a:xfrm>
            <a:off x="323850" y="185738"/>
            <a:ext cx="7777163" cy="584200"/>
          </a:xfrm>
          <a:prstGeom prst="rect">
            <a:avLst/>
          </a:prstGeom>
          <a:noFill/>
          <a:ln w="12700">
            <a:noFill/>
          </a:ln>
        </p:spPr>
        <p:txBody>
          <a:bodyPr>
            <a:spAutoFit/>
          </a:bodyPr>
          <a:lstStyle/>
          <a:p>
            <a:pPr>
              <a:spcBef>
                <a:spcPct val="50000"/>
              </a:spcBef>
            </a:pPr>
            <a:r>
              <a:rPr lang="en-US" altLang="zh-CN" sz="3200" dirty="0">
                <a:solidFill>
                  <a:srgbClr val="FFFF00"/>
                </a:solidFill>
                <a:latin typeface="黑体" panose="02010609060101010101" pitchFamily="49" charset="-122"/>
                <a:ea typeface="黑体" panose="02010609060101010101" pitchFamily="49" charset="-122"/>
              </a:rPr>
              <a:t>5.4.3 CPU</a:t>
            </a:r>
            <a:r>
              <a:rPr lang="zh-CN" altLang="en-US" sz="3200" dirty="0">
                <a:solidFill>
                  <a:srgbClr val="FFFF00"/>
                </a:solidFill>
                <a:latin typeface="黑体" panose="02010609060101010101" pitchFamily="49" charset="-122"/>
                <a:ea typeface="黑体" panose="02010609060101010101" pitchFamily="49" charset="-122"/>
              </a:rPr>
              <a:t>对中断请求的响应</a:t>
            </a:r>
          </a:p>
        </p:txBody>
      </p:sp>
      <p:sp>
        <p:nvSpPr>
          <p:cNvPr id="33797" name="Text Box 5"/>
          <p:cNvSpPr txBox="1"/>
          <p:nvPr/>
        </p:nvSpPr>
        <p:spPr>
          <a:xfrm>
            <a:off x="107950" y="908050"/>
            <a:ext cx="5791200" cy="579438"/>
          </a:xfrm>
          <a:prstGeom prst="rect">
            <a:avLst/>
          </a:prstGeom>
          <a:noFill/>
          <a:ln w="12700">
            <a:noFill/>
          </a:ln>
        </p:spPr>
        <p:txBody>
          <a:bodyPr>
            <a:spAutoFit/>
          </a:bodyPr>
          <a:lstStyle/>
          <a:p>
            <a:pPr>
              <a:spcBef>
                <a:spcPct val="50000"/>
              </a:spcBef>
            </a:pPr>
            <a:r>
              <a:rPr lang="zh-CN" altLang="en-US" sz="3200" dirty="0">
                <a:solidFill>
                  <a:schemeClr val="accent1"/>
                </a:solidFill>
                <a:latin typeface="黑体" panose="02010609060101010101" pitchFamily="49" charset="-122"/>
                <a:ea typeface="黑体" panose="02010609060101010101" pitchFamily="49" charset="-122"/>
              </a:rPr>
              <a:t>（</a:t>
            </a:r>
            <a:r>
              <a:rPr lang="en-US" altLang="zh-CN" sz="3200" dirty="0">
                <a:solidFill>
                  <a:schemeClr val="accent1"/>
                </a:solidFill>
                <a:latin typeface="黑体" panose="02010609060101010101" pitchFamily="49" charset="-122"/>
                <a:ea typeface="黑体" panose="02010609060101010101" pitchFamily="49" charset="-122"/>
              </a:rPr>
              <a:t>1</a:t>
            </a:r>
            <a:r>
              <a:rPr lang="zh-CN" altLang="en-US" sz="3200" dirty="0">
                <a:solidFill>
                  <a:schemeClr val="accent1"/>
                </a:solidFill>
                <a:latin typeface="黑体" panose="02010609060101010101" pitchFamily="49" charset="-122"/>
                <a:ea typeface="黑体" panose="02010609060101010101" pitchFamily="49" charset="-122"/>
              </a:rPr>
              <a:t>）响应条件</a:t>
            </a:r>
          </a:p>
        </p:txBody>
      </p:sp>
      <p:sp>
        <p:nvSpPr>
          <p:cNvPr id="33798" name="Text Box 6"/>
          <p:cNvSpPr txBox="1"/>
          <p:nvPr/>
        </p:nvSpPr>
        <p:spPr>
          <a:xfrm>
            <a:off x="468313" y="1555750"/>
            <a:ext cx="6324600" cy="519113"/>
          </a:xfrm>
          <a:prstGeom prst="rect">
            <a:avLst/>
          </a:prstGeom>
          <a:noFill/>
          <a:ln w="12700">
            <a:noFill/>
          </a:ln>
        </p:spPr>
        <p:txBody>
          <a:bodyPr>
            <a:spAutoFit/>
          </a:bodyPr>
          <a:lstStyle/>
          <a:p>
            <a:pPr>
              <a:spcBef>
                <a:spcPct val="50000"/>
              </a:spcBef>
              <a:buClr>
                <a:schemeClr val="tx1"/>
              </a:buClr>
              <a:buFont typeface="Wingdings" panose="05000000000000000000" pitchFamily="2" charset="2"/>
              <a:buChar char="ü"/>
            </a:pPr>
            <a:r>
              <a:rPr lang="zh-CN" altLang="en-US" sz="2800" dirty="0">
                <a:latin typeface="黑体" panose="02010609060101010101" pitchFamily="49" charset="-122"/>
                <a:ea typeface="黑体" panose="02010609060101010101" pitchFamily="49" charset="-122"/>
              </a:rPr>
              <a:t>有未被屏蔽中断请求到达；</a:t>
            </a:r>
          </a:p>
        </p:txBody>
      </p:sp>
      <p:sp>
        <p:nvSpPr>
          <p:cNvPr id="33799" name="Text Box 7"/>
          <p:cNvSpPr txBox="1"/>
          <p:nvPr/>
        </p:nvSpPr>
        <p:spPr>
          <a:xfrm>
            <a:off x="468313" y="2133600"/>
            <a:ext cx="4953000" cy="519113"/>
          </a:xfrm>
          <a:prstGeom prst="rect">
            <a:avLst/>
          </a:prstGeom>
          <a:noFill/>
          <a:ln w="12700">
            <a:noFill/>
          </a:ln>
        </p:spPr>
        <p:txBody>
          <a:bodyPr>
            <a:spAutoFit/>
          </a:bodyPr>
          <a:lstStyle/>
          <a:p>
            <a:pPr>
              <a:spcBef>
                <a:spcPct val="50000"/>
              </a:spcBef>
              <a:buClr>
                <a:schemeClr val="tx1"/>
              </a:buClr>
              <a:buFont typeface="Wingdings" panose="05000000000000000000" pitchFamily="2" charset="2"/>
              <a:buChar char="ü"/>
            </a:pPr>
            <a:r>
              <a:rPr lang="en-US" altLang="zh-CN" sz="2800" dirty="0">
                <a:latin typeface="黑体" panose="02010609060101010101" pitchFamily="49" charset="-122"/>
                <a:ea typeface="黑体" panose="02010609060101010101" pitchFamily="49" charset="-122"/>
              </a:rPr>
              <a:t>CPU</a:t>
            </a:r>
            <a:r>
              <a:rPr lang="zh-CN" altLang="en-US" sz="2800" dirty="0">
                <a:latin typeface="黑体" panose="02010609060101010101" pitchFamily="49" charset="-122"/>
                <a:ea typeface="黑体" panose="02010609060101010101" pitchFamily="49" charset="-122"/>
              </a:rPr>
              <a:t>处于开中断模式；</a:t>
            </a:r>
          </a:p>
        </p:txBody>
      </p:sp>
      <p:sp>
        <p:nvSpPr>
          <p:cNvPr id="33800" name="Text Box 8"/>
          <p:cNvSpPr txBox="1"/>
          <p:nvPr/>
        </p:nvSpPr>
        <p:spPr>
          <a:xfrm>
            <a:off x="468313" y="3284538"/>
            <a:ext cx="7199312" cy="519112"/>
          </a:xfrm>
          <a:prstGeom prst="rect">
            <a:avLst/>
          </a:prstGeom>
          <a:noFill/>
          <a:ln w="12700">
            <a:noFill/>
          </a:ln>
        </p:spPr>
        <p:txBody>
          <a:bodyPr>
            <a:spAutoFit/>
          </a:bodyPr>
          <a:lstStyle/>
          <a:p>
            <a:pPr>
              <a:spcBef>
                <a:spcPct val="50000"/>
              </a:spcBef>
              <a:buClr>
                <a:schemeClr val="tx1"/>
              </a:buClr>
              <a:buFont typeface="Wingdings" panose="05000000000000000000" pitchFamily="2" charset="2"/>
              <a:buChar char="ü"/>
            </a:pPr>
            <a:r>
              <a:rPr lang="en-US" altLang="zh-CN" sz="2800" dirty="0">
                <a:latin typeface="黑体" panose="02010609060101010101" pitchFamily="49" charset="-122"/>
                <a:ea typeface="黑体" panose="02010609060101010101" pitchFamily="49" charset="-122"/>
              </a:rPr>
              <a:t>CPU</a:t>
            </a:r>
            <a:r>
              <a:rPr lang="zh-CN" altLang="en-US" sz="2800" dirty="0">
                <a:latin typeface="黑体" panose="02010609060101010101" pitchFamily="49" charset="-122"/>
                <a:ea typeface="黑体" panose="02010609060101010101" pitchFamily="49" charset="-122"/>
              </a:rPr>
              <a:t>刚执行完一条指令</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非停机</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a:t>
            </a:r>
          </a:p>
        </p:txBody>
      </p:sp>
      <p:sp>
        <p:nvSpPr>
          <p:cNvPr id="33801" name="Text Box 9"/>
          <p:cNvSpPr txBox="1"/>
          <p:nvPr/>
        </p:nvSpPr>
        <p:spPr>
          <a:xfrm>
            <a:off x="482600" y="2708275"/>
            <a:ext cx="7402513" cy="519113"/>
          </a:xfrm>
          <a:prstGeom prst="rect">
            <a:avLst/>
          </a:prstGeom>
          <a:noFill/>
          <a:ln w="12700">
            <a:noFill/>
          </a:ln>
        </p:spPr>
        <p:txBody>
          <a:bodyPr>
            <a:spAutoFit/>
          </a:bodyPr>
          <a:lstStyle/>
          <a:p>
            <a:pPr>
              <a:spcBef>
                <a:spcPct val="50000"/>
              </a:spcBef>
              <a:buClr>
                <a:schemeClr val="tx1"/>
              </a:buClr>
              <a:buFont typeface="Wingdings" panose="05000000000000000000" pitchFamily="2" charset="2"/>
              <a:buChar char="ü"/>
            </a:pPr>
            <a:r>
              <a:rPr lang="zh-CN" altLang="en-US" sz="2800" dirty="0">
                <a:latin typeface="黑体" panose="02010609060101010101" pitchFamily="49" charset="-122"/>
                <a:ea typeface="黑体" panose="02010609060101010101" pitchFamily="49" charset="-122"/>
              </a:rPr>
              <a:t>中断源优先级比当前程序的优先级更高；</a:t>
            </a:r>
          </a:p>
        </p:txBody>
      </p:sp>
      <p:sp>
        <p:nvSpPr>
          <p:cNvPr id="33802" name="Text Box 10"/>
          <p:cNvSpPr txBox="1"/>
          <p:nvPr/>
        </p:nvSpPr>
        <p:spPr>
          <a:xfrm>
            <a:off x="144463" y="3933825"/>
            <a:ext cx="7956550" cy="584200"/>
          </a:xfrm>
          <a:prstGeom prst="rect">
            <a:avLst/>
          </a:prstGeom>
          <a:noFill/>
          <a:ln w="12700">
            <a:noFill/>
          </a:ln>
        </p:spPr>
        <p:txBody>
          <a:bodyPr>
            <a:spAutoFit/>
          </a:bodyPr>
          <a:lstStyle/>
          <a:p>
            <a:pPr>
              <a:spcBef>
                <a:spcPct val="50000"/>
              </a:spcBef>
            </a:pPr>
            <a:r>
              <a:rPr lang="zh-CN" altLang="en-US" sz="3200" dirty="0">
                <a:solidFill>
                  <a:schemeClr val="accent1"/>
                </a:solidFill>
                <a:latin typeface="黑体" panose="02010609060101010101" pitchFamily="49" charset="-122"/>
                <a:ea typeface="黑体" panose="02010609060101010101" pitchFamily="49" charset="-122"/>
              </a:rPr>
              <a:t>（</a:t>
            </a:r>
            <a:r>
              <a:rPr lang="en-US" altLang="zh-CN" sz="3200" dirty="0">
                <a:solidFill>
                  <a:schemeClr val="accent1"/>
                </a:solidFill>
                <a:latin typeface="黑体" panose="02010609060101010101" pitchFamily="49" charset="-122"/>
                <a:ea typeface="黑体" panose="02010609060101010101" pitchFamily="49" charset="-122"/>
              </a:rPr>
              <a:t>2</a:t>
            </a:r>
            <a:r>
              <a:rPr lang="zh-CN" altLang="en-US" sz="3200" dirty="0">
                <a:solidFill>
                  <a:schemeClr val="accent1"/>
                </a:solidFill>
                <a:latin typeface="黑体" panose="02010609060101010101" pitchFamily="49" charset="-122"/>
                <a:ea typeface="黑体" panose="02010609060101010101" pitchFamily="49" charset="-122"/>
              </a:rPr>
              <a:t>）如何形成中断服务程序的入口地址</a:t>
            </a:r>
            <a:r>
              <a:rPr lang="en-US" altLang="zh-CN" sz="3200" dirty="0">
                <a:solidFill>
                  <a:schemeClr val="accent1"/>
                </a:solidFill>
                <a:latin typeface="黑体" panose="02010609060101010101" pitchFamily="49" charset="-122"/>
                <a:ea typeface="黑体" panose="02010609060101010101" pitchFamily="49" charset="-122"/>
              </a:rPr>
              <a:t>?</a:t>
            </a:r>
          </a:p>
        </p:txBody>
      </p:sp>
      <p:sp>
        <p:nvSpPr>
          <p:cNvPr id="33803" name="Text Box 11"/>
          <p:cNvSpPr txBox="1"/>
          <p:nvPr/>
        </p:nvSpPr>
        <p:spPr>
          <a:xfrm>
            <a:off x="468313" y="5021263"/>
            <a:ext cx="3244850" cy="549275"/>
          </a:xfrm>
          <a:prstGeom prst="rect">
            <a:avLst/>
          </a:prstGeom>
          <a:noFill/>
          <a:ln w="9525">
            <a:noFill/>
          </a:ln>
        </p:spPr>
        <p:txBody>
          <a:bodyPr wrap="none">
            <a:spAutoFit/>
          </a:bodyPr>
          <a:lstStyle/>
          <a:p>
            <a:pPr eaLnBrk="0" hangingPunct="0"/>
            <a:r>
              <a:rPr lang="zh-CN" altLang="en-US" sz="3000" dirty="0">
                <a:latin typeface="Times New Roman" panose="02020603050405020304" pitchFamily="18" charset="0"/>
                <a:ea typeface="黑体" panose="02010609060101010101" pitchFamily="49" charset="-122"/>
              </a:rPr>
              <a:t>取决于中断方式是</a:t>
            </a:r>
          </a:p>
        </p:txBody>
      </p:sp>
      <p:sp>
        <p:nvSpPr>
          <p:cNvPr id="33804" name="AutoShape 12"/>
          <p:cNvSpPr/>
          <p:nvPr/>
        </p:nvSpPr>
        <p:spPr>
          <a:xfrm>
            <a:off x="3708400" y="4705350"/>
            <a:ext cx="215900" cy="1223963"/>
          </a:xfrm>
          <a:prstGeom prst="leftBrace">
            <a:avLst>
              <a:gd name="adj1" fmla="val 47242"/>
              <a:gd name="adj2" fmla="val 50000"/>
            </a:avLst>
          </a:prstGeom>
          <a:noFill/>
          <a:ln w="38100" cap="flat" cmpd="sng">
            <a:solidFill>
              <a:schemeClr val="accent1"/>
            </a:solidFill>
            <a:prstDash val="solid"/>
            <a:headEnd type="none" w="med" len="med"/>
            <a:tailEnd type="none" w="med" len="med"/>
          </a:ln>
        </p:spPr>
        <p:txBody>
          <a:bodyPr wrap="none" anchor="ctr" anchorCtr="0"/>
          <a:lstStyle/>
          <a:p>
            <a:pPr eaLnBrk="0" hangingPunct="0"/>
            <a:endParaRPr lang="zh-CN" altLang="en-US" dirty="0">
              <a:latin typeface="Times New Roman" panose="02020603050405020304" pitchFamily="18" charset="0"/>
            </a:endParaRPr>
          </a:p>
        </p:txBody>
      </p:sp>
      <p:sp>
        <p:nvSpPr>
          <p:cNvPr id="33805" name="Rectangle 13"/>
          <p:cNvSpPr/>
          <p:nvPr/>
        </p:nvSpPr>
        <p:spPr>
          <a:xfrm>
            <a:off x="3995738" y="4581525"/>
            <a:ext cx="3035300" cy="1463675"/>
          </a:xfrm>
          <a:prstGeom prst="rect">
            <a:avLst/>
          </a:prstGeom>
          <a:noFill/>
          <a:ln w="9525">
            <a:noFill/>
          </a:ln>
        </p:spPr>
        <p:txBody>
          <a:bodyPr>
            <a:spAutoFit/>
          </a:bodyPr>
          <a:lstStyle/>
          <a:p>
            <a:pPr eaLnBrk="0" hangingPunct="0"/>
            <a:r>
              <a:rPr lang="zh-CN" altLang="en-US" sz="3000" dirty="0">
                <a:solidFill>
                  <a:srgbClr val="00FF00"/>
                </a:solidFill>
                <a:latin typeface="Times New Roman" panose="02020603050405020304" pitchFamily="18" charset="0"/>
                <a:ea typeface="黑体" panose="02010609060101010101" pitchFamily="49" charset="-122"/>
              </a:rPr>
              <a:t>向量中断</a:t>
            </a:r>
          </a:p>
          <a:p>
            <a:pPr eaLnBrk="0" hangingPunct="0"/>
            <a:endParaRPr lang="zh-CN" altLang="en-US" sz="3000" dirty="0">
              <a:solidFill>
                <a:srgbClr val="00FF00"/>
              </a:solidFill>
              <a:latin typeface="Times New Roman" panose="02020603050405020304" pitchFamily="18" charset="0"/>
              <a:ea typeface="黑体" panose="02010609060101010101" pitchFamily="49" charset="-122"/>
            </a:endParaRPr>
          </a:p>
          <a:p>
            <a:pPr eaLnBrk="0" hangingPunct="0"/>
            <a:r>
              <a:rPr lang="zh-CN" altLang="en-US" sz="3000" dirty="0">
                <a:solidFill>
                  <a:srgbClr val="00FF00"/>
                </a:solidFill>
                <a:latin typeface="Times New Roman" panose="02020603050405020304" pitchFamily="18" charset="0"/>
                <a:ea typeface="黑体" panose="02010609060101010101" pitchFamily="49" charset="-122"/>
              </a:rPr>
              <a:t>非向量中断</a:t>
            </a:r>
          </a:p>
        </p:txBody>
      </p:sp>
    </p:spTree>
  </p:cSld>
  <p:clrMapOvr>
    <a:masterClrMapping/>
  </p:clrMapOvr>
  <p:transition>
    <p:cover dir="l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09" name="Text Box 49"/>
          <p:cNvSpPr txBox="1"/>
          <p:nvPr/>
        </p:nvSpPr>
        <p:spPr>
          <a:xfrm>
            <a:off x="-107950" y="4660900"/>
            <a:ext cx="2895600" cy="519113"/>
          </a:xfrm>
          <a:prstGeom prst="rect">
            <a:avLst/>
          </a:prstGeom>
          <a:noFill/>
          <a:ln w="12700">
            <a:noFill/>
          </a:ln>
        </p:spPr>
        <p:txBody>
          <a:bodyPr>
            <a:spAutoFit/>
          </a:bodyPr>
          <a:lstStyle/>
          <a:p>
            <a:pPr>
              <a:spcBef>
                <a:spcPct val="50000"/>
              </a:spcBef>
            </a:pPr>
            <a:r>
              <a:rPr lang="en-US" altLang="zh-CN" sz="2800" dirty="0">
                <a:solidFill>
                  <a:srgbClr val="FFFF00"/>
                </a:solidFill>
                <a:latin typeface="黑体" panose="02010609060101010101" pitchFamily="49" charset="-122"/>
                <a:ea typeface="黑体" panose="02010609060101010101" pitchFamily="49" charset="-122"/>
              </a:rPr>
              <a:t>   </a:t>
            </a:r>
            <a:r>
              <a:rPr lang="zh-CN" altLang="en-US" sz="2800" dirty="0">
                <a:solidFill>
                  <a:srgbClr val="FFFF00"/>
                </a:solidFill>
                <a:latin typeface="黑体" panose="02010609060101010101" pitchFamily="49" charset="-122"/>
                <a:ea typeface="黑体" panose="02010609060101010101" pitchFamily="49" charset="-122"/>
              </a:rPr>
              <a:t>中断向量：</a:t>
            </a:r>
          </a:p>
        </p:txBody>
      </p:sp>
      <p:sp>
        <p:nvSpPr>
          <p:cNvPr id="15413" name="Text Box 53"/>
          <p:cNvSpPr txBox="1"/>
          <p:nvPr/>
        </p:nvSpPr>
        <p:spPr>
          <a:xfrm>
            <a:off x="-107950" y="5157788"/>
            <a:ext cx="2895600" cy="519112"/>
          </a:xfrm>
          <a:prstGeom prst="rect">
            <a:avLst/>
          </a:prstGeom>
          <a:noFill/>
          <a:ln w="12700">
            <a:noFill/>
          </a:ln>
        </p:spPr>
        <p:txBody>
          <a:bodyPr>
            <a:spAutoFit/>
          </a:bodyPr>
          <a:lstStyle/>
          <a:p>
            <a:pPr>
              <a:spcBef>
                <a:spcPct val="50000"/>
              </a:spcBef>
            </a:pPr>
            <a:r>
              <a:rPr lang="en-US" altLang="zh-CN" sz="2800" dirty="0">
                <a:solidFill>
                  <a:schemeClr val="folHlink"/>
                </a:solidFill>
                <a:latin typeface="黑体" panose="02010609060101010101" pitchFamily="49" charset="-122"/>
                <a:ea typeface="黑体" panose="02010609060101010101" pitchFamily="49" charset="-122"/>
              </a:rPr>
              <a:t>   </a:t>
            </a:r>
            <a:r>
              <a:rPr lang="zh-CN" altLang="en-US" sz="2800" dirty="0">
                <a:solidFill>
                  <a:schemeClr val="folHlink"/>
                </a:solidFill>
                <a:latin typeface="黑体" panose="02010609060101010101" pitchFamily="49" charset="-122"/>
                <a:ea typeface="黑体" panose="02010609060101010101" pitchFamily="49" charset="-122"/>
              </a:rPr>
              <a:t>中断向量表：</a:t>
            </a:r>
          </a:p>
        </p:txBody>
      </p:sp>
      <p:sp>
        <p:nvSpPr>
          <p:cNvPr id="15417" name="Text Box 57"/>
          <p:cNvSpPr txBox="1"/>
          <p:nvPr/>
        </p:nvSpPr>
        <p:spPr>
          <a:xfrm>
            <a:off x="-107950" y="5646738"/>
            <a:ext cx="2895600" cy="519112"/>
          </a:xfrm>
          <a:prstGeom prst="rect">
            <a:avLst/>
          </a:prstGeom>
          <a:noFill/>
          <a:ln w="12700">
            <a:noFill/>
          </a:ln>
        </p:spPr>
        <p:txBody>
          <a:bodyPr>
            <a:spAutoFit/>
          </a:bodyPr>
          <a:lstStyle/>
          <a:p>
            <a:pPr>
              <a:spcBef>
                <a:spcPct val="50000"/>
              </a:spcBef>
            </a:pPr>
            <a:r>
              <a:rPr lang="en-US" altLang="zh-CN" sz="2800" dirty="0">
                <a:solidFill>
                  <a:schemeClr val="folHlink"/>
                </a:solidFill>
                <a:latin typeface="黑体" panose="02010609060101010101" pitchFamily="49" charset="-122"/>
                <a:ea typeface="黑体" panose="02010609060101010101" pitchFamily="49" charset="-122"/>
              </a:rPr>
              <a:t>   </a:t>
            </a:r>
            <a:r>
              <a:rPr lang="zh-CN" altLang="en-US" sz="2800" dirty="0">
                <a:solidFill>
                  <a:schemeClr val="folHlink"/>
                </a:solidFill>
                <a:latin typeface="黑体" panose="02010609060101010101" pitchFamily="49" charset="-122"/>
                <a:ea typeface="黑体" panose="02010609060101010101" pitchFamily="49" charset="-122"/>
              </a:rPr>
              <a:t>向量地址：</a:t>
            </a:r>
          </a:p>
        </p:txBody>
      </p:sp>
      <p:sp>
        <p:nvSpPr>
          <p:cNvPr id="15395" name="Text Box 35"/>
          <p:cNvSpPr txBox="1"/>
          <p:nvPr/>
        </p:nvSpPr>
        <p:spPr>
          <a:xfrm>
            <a:off x="0" y="225425"/>
            <a:ext cx="4419600" cy="523875"/>
          </a:xfrm>
          <a:prstGeom prst="rect">
            <a:avLst/>
          </a:prstGeom>
          <a:noFill/>
          <a:ln w="12700">
            <a:noFill/>
          </a:ln>
        </p:spPr>
        <p:txBody>
          <a:bodyPr>
            <a:spAutoFit/>
          </a:bodyPr>
          <a:lstStyle/>
          <a:p>
            <a:pPr>
              <a:spcBef>
                <a:spcPct val="50000"/>
              </a:spcBef>
            </a:pPr>
            <a:r>
              <a:rPr lang="en-US" altLang="zh-CN" sz="2800" dirty="0">
                <a:solidFill>
                  <a:schemeClr val="folHlink"/>
                </a:solidFill>
                <a:latin typeface="黑体" panose="02010609060101010101" pitchFamily="49" charset="-122"/>
                <a:ea typeface="黑体" panose="02010609060101010101" pitchFamily="49" charset="-122"/>
              </a:rPr>
              <a:t>1</a:t>
            </a:r>
            <a:r>
              <a:rPr lang="zh-CN" altLang="en-US" sz="2800" dirty="0">
                <a:solidFill>
                  <a:schemeClr val="folHlink"/>
                </a:solidFill>
                <a:latin typeface="黑体" panose="02010609060101010101" pitchFamily="49" charset="-122"/>
                <a:ea typeface="黑体" panose="02010609060101010101" pitchFamily="49" charset="-122"/>
              </a:rPr>
              <a:t>）非向量中断</a:t>
            </a:r>
            <a:r>
              <a:rPr lang="en-US" altLang="zh-CN" sz="2800" dirty="0">
                <a:solidFill>
                  <a:schemeClr val="accent1"/>
                </a:solidFill>
                <a:latin typeface="黑体" panose="02010609060101010101" pitchFamily="49" charset="-122"/>
                <a:ea typeface="黑体" panose="02010609060101010101" pitchFamily="49" charset="-122"/>
              </a:rPr>
              <a:t>(</a:t>
            </a:r>
            <a:r>
              <a:rPr lang="zh-CN" altLang="en-US" sz="2800" dirty="0">
                <a:solidFill>
                  <a:schemeClr val="accent1"/>
                </a:solidFill>
                <a:latin typeface="黑体" panose="02010609060101010101" pitchFamily="49" charset="-122"/>
                <a:ea typeface="黑体" panose="02010609060101010101" pitchFamily="49" charset="-122"/>
              </a:rPr>
              <a:t>通过程序</a:t>
            </a:r>
            <a:r>
              <a:rPr lang="en-US" altLang="zh-CN" sz="2800" dirty="0">
                <a:solidFill>
                  <a:schemeClr val="accent1"/>
                </a:solidFill>
                <a:latin typeface="黑体" panose="02010609060101010101" pitchFamily="49" charset="-122"/>
                <a:ea typeface="黑体" panose="02010609060101010101" pitchFamily="49" charset="-122"/>
              </a:rPr>
              <a:t>)</a:t>
            </a:r>
            <a:endParaRPr lang="zh-CN" altLang="en-US" sz="2800" dirty="0">
              <a:solidFill>
                <a:schemeClr val="accent1"/>
              </a:solidFill>
              <a:latin typeface="黑体" panose="02010609060101010101" pitchFamily="49" charset="-122"/>
              <a:ea typeface="黑体" panose="02010609060101010101" pitchFamily="49" charset="-122"/>
            </a:endParaRPr>
          </a:p>
        </p:txBody>
      </p:sp>
      <p:sp>
        <p:nvSpPr>
          <p:cNvPr id="15400" name="Text Box 40"/>
          <p:cNvSpPr txBox="1"/>
          <p:nvPr/>
        </p:nvSpPr>
        <p:spPr>
          <a:xfrm>
            <a:off x="0" y="754063"/>
            <a:ext cx="8929688" cy="1630362"/>
          </a:xfrm>
          <a:prstGeom prst="rect">
            <a:avLst/>
          </a:prstGeom>
          <a:noFill/>
          <a:ln w="12700">
            <a:noFill/>
          </a:ln>
        </p:spPr>
        <p:txBody>
          <a:bodyPr>
            <a:spAutoFit/>
          </a:bodyPr>
          <a:lstStyle/>
          <a:p>
            <a:pPr algn="just">
              <a:lnSpc>
                <a:spcPct val="120000"/>
              </a:lnSpc>
              <a:spcBef>
                <a:spcPct val="50000"/>
              </a:spcBef>
            </a:pPr>
            <a:r>
              <a:rPr lang="zh-CN" altLang="en-US" sz="2800" dirty="0">
                <a:latin typeface="黑体" panose="02010609060101010101" pitchFamily="49" charset="-122"/>
                <a:ea typeface="黑体" panose="02010609060101010101" pitchFamily="49" charset="-122"/>
              </a:rPr>
              <a:t>将所有中断源的中断服务程序入口地址组织在</a:t>
            </a:r>
            <a:r>
              <a:rPr lang="zh-CN" altLang="en-US" sz="2800" dirty="0">
                <a:solidFill>
                  <a:schemeClr val="folHlink"/>
                </a:solidFill>
                <a:latin typeface="黑体" panose="02010609060101010101" pitchFamily="49" charset="-122"/>
                <a:ea typeface="黑体" panose="02010609060101010101" pitchFamily="49" charset="-122"/>
              </a:rPr>
              <a:t>公共查询程序</a:t>
            </a:r>
            <a:r>
              <a:rPr lang="zh-CN" altLang="en-US" sz="2800" dirty="0">
                <a:latin typeface="黑体" panose="02010609060101010101" pitchFamily="49" charset="-122"/>
                <a:ea typeface="黑体" panose="02010609060101010101" pitchFamily="49" charset="-122"/>
              </a:rPr>
              <a:t>中；</a:t>
            </a:r>
            <a:r>
              <a:rPr lang="en-US" altLang="zh-CN" sz="2800" dirty="0">
                <a:latin typeface="黑体" panose="02010609060101010101" pitchFamily="49" charset="-122"/>
                <a:ea typeface="黑体" panose="02010609060101010101" pitchFamily="49" charset="-122"/>
              </a:rPr>
              <a:t>CPU</a:t>
            </a:r>
            <a:r>
              <a:rPr lang="zh-CN" altLang="en-US" sz="2800" dirty="0">
                <a:latin typeface="黑体" panose="02010609060101010101" pitchFamily="49" charset="-122"/>
                <a:ea typeface="黑体" panose="02010609060101010101" pitchFamily="49" charset="-122"/>
              </a:rPr>
              <a:t>响应时执行此查询程序，确定中断源对应的服务程序入口地址。</a:t>
            </a:r>
          </a:p>
        </p:txBody>
      </p:sp>
      <p:sp>
        <p:nvSpPr>
          <p:cNvPr id="15407" name="Text Box 47"/>
          <p:cNvSpPr txBox="1"/>
          <p:nvPr/>
        </p:nvSpPr>
        <p:spPr>
          <a:xfrm>
            <a:off x="36513" y="2549525"/>
            <a:ext cx="4419600" cy="523875"/>
          </a:xfrm>
          <a:prstGeom prst="rect">
            <a:avLst/>
          </a:prstGeom>
          <a:noFill/>
          <a:ln w="12700">
            <a:noFill/>
          </a:ln>
        </p:spPr>
        <p:txBody>
          <a:bodyPr>
            <a:spAutoFit/>
          </a:bodyPr>
          <a:lstStyle/>
          <a:p>
            <a:pPr>
              <a:spcBef>
                <a:spcPct val="50000"/>
              </a:spcBef>
            </a:pPr>
            <a:r>
              <a:rPr lang="en-US" altLang="zh-CN" sz="2800" dirty="0">
                <a:solidFill>
                  <a:schemeClr val="folHlink"/>
                </a:solidFill>
                <a:latin typeface="黑体" panose="02010609060101010101" pitchFamily="49" charset="-122"/>
                <a:ea typeface="黑体" panose="02010609060101010101" pitchFamily="49" charset="-122"/>
              </a:rPr>
              <a:t>2</a:t>
            </a:r>
            <a:r>
              <a:rPr lang="zh-CN" altLang="en-US" sz="2800" dirty="0">
                <a:solidFill>
                  <a:schemeClr val="folHlink"/>
                </a:solidFill>
                <a:latin typeface="黑体" panose="02010609060101010101" pitchFamily="49" charset="-122"/>
                <a:ea typeface="黑体" panose="02010609060101010101" pitchFamily="49" charset="-122"/>
              </a:rPr>
              <a:t>）向量中断</a:t>
            </a:r>
            <a:r>
              <a:rPr lang="en-US" altLang="zh-CN" sz="2800" dirty="0">
                <a:solidFill>
                  <a:schemeClr val="accent1"/>
                </a:solidFill>
                <a:latin typeface="黑体" panose="02010609060101010101" pitchFamily="49" charset="-122"/>
                <a:ea typeface="黑体" panose="02010609060101010101" pitchFamily="49" charset="-122"/>
              </a:rPr>
              <a:t>(</a:t>
            </a:r>
            <a:r>
              <a:rPr lang="zh-CN" altLang="en-US" sz="2800" dirty="0">
                <a:solidFill>
                  <a:schemeClr val="accent1"/>
                </a:solidFill>
                <a:latin typeface="黑体" panose="02010609060101010101" pitchFamily="49" charset="-122"/>
                <a:ea typeface="黑体" panose="02010609060101010101" pitchFamily="49" charset="-122"/>
              </a:rPr>
              <a:t>通过硬件</a:t>
            </a:r>
            <a:r>
              <a:rPr lang="en-US" altLang="zh-CN" sz="2800" dirty="0">
                <a:solidFill>
                  <a:schemeClr val="accent1"/>
                </a:solidFill>
                <a:latin typeface="黑体" panose="02010609060101010101" pitchFamily="49" charset="-122"/>
                <a:ea typeface="黑体" panose="02010609060101010101" pitchFamily="49" charset="-122"/>
              </a:rPr>
              <a:t>)</a:t>
            </a:r>
            <a:endParaRPr lang="zh-CN" altLang="en-US" sz="2800" dirty="0">
              <a:solidFill>
                <a:schemeClr val="accent1"/>
              </a:solidFill>
              <a:latin typeface="黑体" panose="02010609060101010101" pitchFamily="49" charset="-122"/>
              <a:ea typeface="黑体" panose="02010609060101010101" pitchFamily="49" charset="-122"/>
            </a:endParaRPr>
          </a:p>
        </p:txBody>
      </p:sp>
      <p:sp>
        <p:nvSpPr>
          <p:cNvPr id="15408" name="Text Box 48"/>
          <p:cNvSpPr txBox="1"/>
          <p:nvPr/>
        </p:nvSpPr>
        <p:spPr>
          <a:xfrm>
            <a:off x="7938" y="3068638"/>
            <a:ext cx="8921750" cy="1630362"/>
          </a:xfrm>
          <a:prstGeom prst="rect">
            <a:avLst/>
          </a:prstGeom>
          <a:noFill/>
          <a:ln w="12700">
            <a:noFill/>
          </a:ln>
        </p:spPr>
        <p:txBody>
          <a:bodyPr>
            <a:spAutoFit/>
          </a:bodyPr>
          <a:lstStyle/>
          <a:p>
            <a:pPr algn="just">
              <a:lnSpc>
                <a:spcPct val="120000"/>
              </a:lnSpc>
              <a:spcBef>
                <a:spcPct val="50000"/>
              </a:spcBef>
            </a:pPr>
            <a:r>
              <a:rPr lang="zh-CN" altLang="en-US" sz="2800" dirty="0">
                <a:latin typeface="黑体" panose="02010609060101010101" pitchFamily="49" charset="-122"/>
                <a:ea typeface="黑体" panose="02010609060101010101" pitchFamily="49" charset="-122"/>
              </a:rPr>
              <a:t>将所有中断源的中断服务程序入口地址</a:t>
            </a:r>
            <a:r>
              <a:rPr lang="en-US" altLang="zh-CN" sz="2800" dirty="0">
                <a:latin typeface="黑体" panose="02010609060101010101" pitchFamily="49" charset="-122"/>
                <a:ea typeface="黑体" panose="02010609060101010101" pitchFamily="49" charset="-122"/>
              </a:rPr>
              <a:t>(</a:t>
            </a:r>
            <a:r>
              <a:rPr lang="zh-CN" altLang="en-US" sz="2800" dirty="0">
                <a:solidFill>
                  <a:schemeClr val="accent1"/>
                </a:solidFill>
                <a:latin typeface="黑体" panose="02010609060101010101" pitchFamily="49" charset="-122"/>
                <a:ea typeface="黑体" panose="02010609060101010101" pitchFamily="49" charset="-122"/>
              </a:rPr>
              <a:t>中断向量</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组织在</a:t>
            </a:r>
            <a:r>
              <a:rPr lang="zh-CN" altLang="en-US" sz="2800" dirty="0">
                <a:solidFill>
                  <a:schemeClr val="accent1"/>
                </a:solidFill>
                <a:latin typeface="黑体" panose="02010609060101010101" pitchFamily="49" charset="-122"/>
                <a:ea typeface="黑体" panose="02010609060101010101" pitchFamily="49" charset="-122"/>
              </a:rPr>
              <a:t>中断向量表</a:t>
            </a:r>
            <a:r>
              <a:rPr lang="zh-CN" altLang="en-US" sz="2800" dirty="0">
                <a:latin typeface="黑体" panose="02010609060101010101" pitchFamily="49" charset="-122"/>
                <a:ea typeface="黑体" panose="02010609060101010101" pitchFamily="49" charset="-122"/>
              </a:rPr>
              <a:t>中；</a:t>
            </a:r>
            <a:r>
              <a:rPr lang="en-US" altLang="zh-CN" sz="2800" dirty="0">
                <a:latin typeface="黑体" panose="02010609060101010101" pitchFamily="49" charset="-122"/>
                <a:ea typeface="黑体" panose="02010609060101010101" pitchFamily="49" charset="-122"/>
              </a:rPr>
              <a:t>CPU</a:t>
            </a:r>
            <a:r>
              <a:rPr lang="zh-CN" altLang="en-US" sz="2800" dirty="0">
                <a:latin typeface="黑体" panose="02010609060101010101" pitchFamily="49" charset="-122"/>
                <a:ea typeface="黑体" panose="02010609060101010101" pitchFamily="49" charset="-122"/>
              </a:rPr>
              <a:t>响应时由硬件产生</a:t>
            </a:r>
            <a:r>
              <a:rPr lang="zh-CN" altLang="en-US" sz="2800" dirty="0">
                <a:solidFill>
                  <a:schemeClr val="accent1"/>
                </a:solidFill>
                <a:latin typeface="黑体" panose="02010609060101010101" pitchFamily="49" charset="-122"/>
                <a:ea typeface="黑体" panose="02010609060101010101" pitchFamily="49" charset="-122"/>
              </a:rPr>
              <a:t>向量地址</a:t>
            </a:r>
            <a:r>
              <a:rPr lang="zh-CN" altLang="en-US" sz="2800" dirty="0">
                <a:latin typeface="黑体" panose="02010609060101010101" pitchFamily="49" charset="-122"/>
                <a:ea typeface="黑体" panose="02010609060101010101" pitchFamily="49" charset="-122"/>
              </a:rPr>
              <a:t>，据此查</a:t>
            </a:r>
            <a:r>
              <a:rPr lang="zh-CN" altLang="en-US" sz="2800" dirty="0">
                <a:solidFill>
                  <a:schemeClr val="accent1"/>
                </a:solidFill>
                <a:latin typeface="黑体" panose="02010609060101010101" pitchFamily="49" charset="-122"/>
                <a:ea typeface="黑体" panose="02010609060101010101" pitchFamily="49" charset="-122"/>
              </a:rPr>
              <a:t>中断向量表</a:t>
            </a:r>
            <a:r>
              <a:rPr lang="zh-CN" altLang="en-US" sz="2800" dirty="0">
                <a:latin typeface="黑体" panose="02010609060101010101" pitchFamily="49" charset="-122"/>
                <a:ea typeface="黑体" panose="02010609060101010101" pitchFamily="49" charset="-122"/>
              </a:rPr>
              <a:t>确定服务程序入口地址。</a:t>
            </a:r>
          </a:p>
        </p:txBody>
      </p:sp>
      <p:sp>
        <p:nvSpPr>
          <p:cNvPr id="15410" name="Oval 50"/>
          <p:cNvSpPr>
            <a:spLocks noChangeAspect="1"/>
          </p:cNvSpPr>
          <p:nvPr/>
        </p:nvSpPr>
        <p:spPr>
          <a:xfrm>
            <a:off x="288925" y="4856163"/>
            <a:ext cx="179388" cy="179387"/>
          </a:xfrm>
          <a:prstGeom prst="ellipse">
            <a:avLst/>
          </a:prstGeom>
          <a:solidFill>
            <a:schemeClr val="folHlink"/>
          </a:solidFill>
          <a:ln w="9525" cap="flat" cmpd="sng">
            <a:solidFill>
              <a:schemeClr val="folHlink"/>
            </a:solidFill>
            <a:prstDash val="solid"/>
            <a:headEnd type="none" w="med" len="med"/>
            <a:tailEnd type="none" w="med" len="med"/>
          </a:ln>
        </p:spPr>
        <p:txBody>
          <a:bodyPr wrap="none" anchor="ctr" anchorCtr="0"/>
          <a:lstStyle/>
          <a:p>
            <a:pPr eaLnBrk="0" hangingPunct="0"/>
            <a:endParaRPr lang="zh-CN" altLang="en-US" dirty="0">
              <a:latin typeface="Times New Roman" panose="02020603050405020304" pitchFamily="18" charset="0"/>
            </a:endParaRPr>
          </a:p>
        </p:txBody>
      </p:sp>
      <p:sp>
        <p:nvSpPr>
          <p:cNvPr id="15411" name="Oval 51"/>
          <p:cNvSpPr>
            <a:spLocks noChangeAspect="1"/>
          </p:cNvSpPr>
          <p:nvPr/>
        </p:nvSpPr>
        <p:spPr>
          <a:xfrm>
            <a:off x="288925" y="5353050"/>
            <a:ext cx="179388" cy="179388"/>
          </a:xfrm>
          <a:prstGeom prst="ellipse">
            <a:avLst/>
          </a:prstGeom>
          <a:solidFill>
            <a:schemeClr val="folHlink"/>
          </a:solidFill>
          <a:ln w="9525" cap="flat" cmpd="sng">
            <a:solidFill>
              <a:schemeClr val="folHlink"/>
            </a:solidFill>
            <a:prstDash val="solid"/>
            <a:headEnd type="none" w="med" len="med"/>
            <a:tailEnd type="none" w="med" len="med"/>
          </a:ln>
        </p:spPr>
        <p:txBody>
          <a:bodyPr wrap="none" anchor="ctr" anchorCtr="0"/>
          <a:lstStyle/>
          <a:p>
            <a:pPr eaLnBrk="0" hangingPunct="0"/>
            <a:endParaRPr lang="zh-CN" altLang="en-US" dirty="0">
              <a:latin typeface="Times New Roman" panose="02020603050405020304" pitchFamily="18" charset="0"/>
            </a:endParaRPr>
          </a:p>
        </p:txBody>
      </p:sp>
      <p:sp>
        <p:nvSpPr>
          <p:cNvPr id="15412" name="Text Box 52"/>
          <p:cNvSpPr txBox="1"/>
          <p:nvPr/>
        </p:nvSpPr>
        <p:spPr>
          <a:xfrm>
            <a:off x="2178050" y="4660900"/>
            <a:ext cx="6281738" cy="519113"/>
          </a:xfrm>
          <a:prstGeom prst="rect">
            <a:avLst/>
          </a:prstGeom>
          <a:noFill/>
          <a:ln w="12700">
            <a:noFill/>
          </a:ln>
        </p:spPr>
        <p:txBody>
          <a:bodyPr>
            <a:spAutoFit/>
          </a:bodyPr>
          <a:lstStyle/>
          <a:p>
            <a:pPr>
              <a:spcBef>
                <a:spcPct val="50000"/>
              </a:spcBef>
            </a:pPr>
            <a:r>
              <a:rPr lang="zh-CN" altLang="en-US" sz="2800" dirty="0">
                <a:latin typeface="黑体" panose="02010609060101010101" pitchFamily="49" charset="-122"/>
                <a:ea typeface="黑体" panose="02010609060101010101" pitchFamily="49" charset="-122"/>
              </a:rPr>
              <a:t>中断服务程序的入口地址</a:t>
            </a:r>
            <a:r>
              <a:rPr lang="en-US" altLang="zh-CN" sz="2800" dirty="0">
                <a:solidFill>
                  <a:schemeClr val="folHlink"/>
                </a:solidFill>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状态字</a:t>
            </a:r>
            <a:r>
              <a:rPr lang="en-US" altLang="zh-CN" sz="2800" dirty="0">
                <a:latin typeface="黑体" panose="02010609060101010101" pitchFamily="49" charset="-122"/>
                <a:ea typeface="黑体" panose="02010609060101010101" pitchFamily="49" charset="-122"/>
              </a:rPr>
              <a:t>PSW</a:t>
            </a:r>
            <a:r>
              <a:rPr lang="zh-CN" altLang="en-US" sz="2800" dirty="0">
                <a:latin typeface="黑体" panose="02010609060101010101" pitchFamily="49" charset="-122"/>
                <a:ea typeface="黑体" panose="02010609060101010101" pitchFamily="49" charset="-122"/>
              </a:rPr>
              <a:t>；</a:t>
            </a:r>
          </a:p>
        </p:txBody>
      </p:sp>
      <p:sp>
        <p:nvSpPr>
          <p:cNvPr id="15414" name="Text Box 54"/>
          <p:cNvSpPr txBox="1"/>
          <p:nvPr/>
        </p:nvSpPr>
        <p:spPr>
          <a:xfrm>
            <a:off x="2482850" y="5157788"/>
            <a:ext cx="4572000" cy="519112"/>
          </a:xfrm>
          <a:prstGeom prst="rect">
            <a:avLst/>
          </a:prstGeom>
          <a:noFill/>
          <a:ln w="12700">
            <a:noFill/>
          </a:ln>
        </p:spPr>
        <p:txBody>
          <a:bodyPr>
            <a:spAutoFit/>
          </a:bodyPr>
          <a:lstStyle/>
          <a:p>
            <a:pPr>
              <a:spcBef>
                <a:spcPct val="50000"/>
              </a:spcBef>
            </a:pPr>
            <a:r>
              <a:rPr lang="zh-CN" altLang="en-US" sz="2800" dirty="0">
                <a:latin typeface="黑体" panose="02010609060101010101" pitchFamily="49" charset="-122"/>
                <a:ea typeface="黑体" panose="02010609060101010101" pitchFamily="49" charset="-122"/>
              </a:rPr>
              <a:t>用来存放中断向量的表</a:t>
            </a:r>
          </a:p>
        </p:txBody>
      </p:sp>
      <p:sp>
        <p:nvSpPr>
          <p:cNvPr id="15415" name="Text Box 55"/>
          <p:cNvSpPr txBox="1"/>
          <p:nvPr/>
        </p:nvSpPr>
        <p:spPr>
          <a:xfrm>
            <a:off x="5949950" y="5157788"/>
            <a:ext cx="2870200" cy="519112"/>
          </a:xfrm>
          <a:prstGeom prst="rect">
            <a:avLst/>
          </a:prstGeom>
          <a:noFill/>
          <a:ln w="12700">
            <a:noFill/>
          </a:ln>
        </p:spPr>
        <p:txBody>
          <a:bodyPr>
            <a:spAutoFit/>
          </a:bodyPr>
          <a:lstStyle/>
          <a:p>
            <a:pPr>
              <a:spcBef>
                <a:spcPct val="50000"/>
              </a:spcBef>
            </a:pPr>
            <a:r>
              <a:rPr lang="zh-CN" altLang="en-US" sz="2800" dirty="0">
                <a:latin typeface="黑体" panose="02010609060101010101" pitchFamily="49" charset="-122"/>
                <a:ea typeface="黑体" panose="02010609060101010101" pitchFamily="49" charset="-122"/>
              </a:rPr>
              <a:t>（</a:t>
            </a:r>
            <a:r>
              <a:rPr lang="zh-CN" altLang="en-US" sz="2800" dirty="0">
                <a:solidFill>
                  <a:srgbClr val="00FF00"/>
                </a:solidFill>
                <a:latin typeface="黑体" panose="02010609060101010101" pitchFamily="49" charset="-122"/>
                <a:ea typeface="黑体" panose="02010609060101010101" pitchFamily="49" charset="-122"/>
              </a:rPr>
              <a:t>一段存储区</a:t>
            </a:r>
            <a:r>
              <a:rPr lang="zh-CN" altLang="en-US" sz="2800" dirty="0">
                <a:latin typeface="黑体" panose="02010609060101010101" pitchFamily="49" charset="-122"/>
                <a:ea typeface="黑体" panose="02010609060101010101" pitchFamily="49" charset="-122"/>
              </a:rPr>
              <a:t>）</a:t>
            </a:r>
          </a:p>
        </p:txBody>
      </p:sp>
      <p:sp>
        <p:nvSpPr>
          <p:cNvPr id="15416" name="Oval 56"/>
          <p:cNvSpPr>
            <a:spLocks noChangeAspect="1"/>
          </p:cNvSpPr>
          <p:nvPr/>
        </p:nvSpPr>
        <p:spPr>
          <a:xfrm>
            <a:off x="288925" y="5842000"/>
            <a:ext cx="179388" cy="179388"/>
          </a:xfrm>
          <a:prstGeom prst="ellipse">
            <a:avLst/>
          </a:prstGeom>
          <a:solidFill>
            <a:schemeClr val="folHlink"/>
          </a:solidFill>
          <a:ln w="9525" cap="flat" cmpd="sng">
            <a:solidFill>
              <a:schemeClr val="folHlink"/>
            </a:solidFill>
            <a:prstDash val="solid"/>
            <a:headEnd type="none" w="med" len="med"/>
            <a:tailEnd type="none" w="med" len="med"/>
          </a:ln>
        </p:spPr>
        <p:txBody>
          <a:bodyPr wrap="none" anchor="ctr" anchorCtr="0"/>
          <a:lstStyle/>
          <a:p>
            <a:pPr eaLnBrk="0" hangingPunct="0"/>
            <a:endParaRPr lang="zh-CN" altLang="en-US" dirty="0">
              <a:latin typeface="Times New Roman" panose="02020603050405020304" pitchFamily="18" charset="0"/>
            </a:endParaRPr>
          </a:p>
        </p:txBody>
      </p:sp>
      <p:sp>
        <p:nvSpPr>
          <p:cNvPr id="15418" name="Text Box 58"/>
          <p:cNvSpPr txBox="1"/>
          <p:nvPr/>
        </p:nvSpPr>
        <p:spPr>
          <a:xfrm>
            <a:off x="2178050" y="5646738"/>
            <a:ext cx="4572000" cy="519112"/>
          </a:xfrm>
          <a:prstGeom prst="rect">
            <a:avLst/>
          </a:prstGeom>
          <a:noFill/>
          <a:ln w="12700">
            <a:noFill/>
          </a:ln>
        </p:spPr>
        <p:txBody>
          <a:bodyPr>
            <a:spAutoFit/>
          </a:bodyPr>
          <a:lstStyle/>
          <a:p>
            <a:pPr>
              <a:spcBef>
                <a:spcPct val="50000"/>
              </a:spcBef>
            </a:pPr>
            <a:r>
              <a:rPr lang="zh-CN" altLang="en-US" sz="2800" dirty="0">
                <a:latin typeface="黑体" panose="02010609060101010101" pitchFamily="49" charset="-122"/>
                <a:ea typeface="黑体" panose="02010609060101010101" pitchFamily="49" charset="-122"/>
              </a:rPr>
              <a:t>用来访问向量表的地址</a:t>
            </a:r>
          </a:p>
        </p:txBody>
      </p:sp>
      <p:sp>
        <p:nvSpPr>
          <p:cNvPr id="15419" name="Text Box 59"/>
          <p:cNvSpPr txBox="1"/>
          <p:nvPr/>
        </p:nvSpPr>
        <p:spPr>
          <a:xfrm>
            <a:off x="5640388" y="5646738"/>
            <a:ext cx="3179762" cy="519112"/>
          </a:xfrm>
          <a:prstGeom prst="rect">
            <a:avLst/>
          </a:prstGeom>
          <a:noFill/>
          <a:ln w="12700">
            <a:noFill/>
          </a:ln>
        </p:spPr>
        <p:txBody>
          <a:bodyPr>
            <a:spAutoFit/>
          </a:bodyPr>
          <a:lstStyle/>
          <a:p>
            <a:pPr>
              <a:spcBef>
                <a:spcPct val="50000"/>
              </a:spcBef>
            </a:pPr>
            <a:r>
              <a:rPr lang="zh-CN" altLang="en-US" sz="2800" dirty="0">
                <a:latin typeface="黑体" panose="02010609060101010101" pitchFamily="49" charset="-122"/>
                <a:ea typeface="黑体" panose="02010609060101010101" pitchFamily="49" charset="-122"/>
              </a:rPr>
              <a:t>（也叫</a:t>
            </a:r>
            <a:r>
              <a:rPr lang="zh-CN" altLang="en-US" sz="2800" dirty="0">
                <a:solidFill>
                  <a:srgbClr val="00FF00"/>
                </a:solidFill>
                <a:latin typeface="黑体" panose="02010609060101010101" pitchFamily="49" charset="-122"/>
                <a:ea typeface="黑体" panose="02010609060101010101" pitchFamily="49" charset="-122"/>
              </a:rPr>
              <a:t>中断指针</a:t>
            </a:r>
            <a:r>
              <a:rPr lang="zh-CN" altLang="en-US" sz="2800" dirty="0">
                <a:latin typeface="黑体" panose="02010609060101010101" pitchFamily="49" charset="-122"/>
                <a:ea typeface="黑体" panose="02010609060101010101" pitchFamily="49" charset="-122"/>
              </a:rPr>
              <a:t>）</a:t>
            </a:r>
          </a:p>
        </p:txBody>
      </p:sp>
    </p:spTree>
  </p:cSld>
  <p:clrMapOvr>
    <a:masterClrMapping/>
  </p:clrMapOvr>
  <p:transition>
    <p:cover dir="l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01" name="Text Box 17"/>
          <p:cNvSpPr txBox="1"/>
          <p:nvPr/>
        </p:nvSpPr>
        <p:spPr>
          <a:xfrm>
            <a:off x="71438" y="2133600"/>
            <a:ext cx="2590800" cy="579438"/>
          </a:xfrm>
          <a:prstGeom prst="rect">
            <a:avLst/>
          </a:prstGeom>
          <a:noFill/>
          <a:ln w="12700">
            <a:noFill/>
          </a:ln>
        </p:spPr>
        <p:txBody>
          <a:bodyPr>
            <a:spAutoFit/>
          </a:bodyPr>
          <a:lstStyle/>
          <a:p>
            <a:pPr>
              <a:spcBef>
                <a:spcPct val="50000"/>
              </a:spcBef>
            </a:pPr>
            <a:r>
              <a:rPr lang="zh-CN" altLang="en-US" sz="3200" dirty="0">
                <a:solidFill>
                  <a:schemeClr val="folHlink"/>
                </a:solidFill>
                <a:latin typeface="黑体" panose="02010609060101010101" pitchFamily="49" charset="-122"/>
                <a:ea typeface="黑体" panose="02010609060101010101" pitchFamily="49" charset="-122"/>
              </a:rPr>
              <a:t>向量地址</a:t>
            </a:r>
          </a:p>
        </p:txBody>
      </p:sp>
      <p:sp>
        <p:nvSpPr>
          <p:cNvPr id="16407" name="Text Box 23"/>
          <p:cNvSpPr txBox="1"/>
          <p:nvPr/>
        </p:nvSpPr>
        <p:spPr>
          <a:xfrm>
            <a:off x="28575" y="3429000"/>
            <a:ext cx="4038600" cy="519113"/>
          </a:xfrm>
          <a:prstGeom prst="rect">
            <a:avLst/>
          </a:prstGeom>
          <a:noFill/>
          <a:ln w="9525">
            <a:noFill/>
          </a:ln>
        </p:spPr>
        <p:txBody>
          <a:bodyPr>
            <a:spAutoFit/>
          </a:bodyPr>
          <a:lstStyle/>
          <a:p>
            <a:pPr>
              <a:spcBef>
                <a:spcPct val="50000"/>
              </a:spcBef>
            </a:pPr>
            <a:r>
              <a:rPr lang="en-US" altLang="zh-CN" sz="2800" dirty="0">
                <a:solidFill>
                  <a:schemeClr val="accent1"/>
                </a:solidFill>
                <a:latin typeface="黑体" panose="02010609060101010101" pitchFamily="49" charset="-122"/>
                <a:ea typeface="黑体" panose="02010609060101010101" pitchFamily="49" charset="-122"/>
              </a:rPr>
              <a:t>【</a:t>
            </a:r>
            <a:r>
              <a:rPr lang="zh-CN" altLang="en-US" sz="2800" dirty="0">
                <a:solidFill>
                  <a:schemeClr val="accent1"/>
                </a:solidFill>
                <a:latin typeface="黑体" panose="02010609060101010101" pitchFamily="49" charset="-122"/>
                <a:ea typeface="黑体" panose="02010609060101010101" pitchFamily="49" charset="-122"/>
              </a:rPr>
              <a:t>例</a:t>
            </a:r>
            <a:r>
              <a:rPr lang="en-US" altLang="zh-CN" sz="2800" dirty="0">
                <a:solidFill>
                  <a:schemeClr val="accent1"/>
                </a:solidFill>
                <a:latin typeface="黑体" panose="02010609060101010101" pitchFamily="49" charset="-122"/>
                <a:ea typeface="黑体" panose="02010609060101010101" pitchFamily="49" charset="-122"/>
              </a:rPr>
              <a:t>2】</a:t>
            </a:r>
            <a:r>
              <a:rPr lang="en-US" altLang="zh-CN" sz="2800" dirty="0">
                <a:latin typeface="黑体" panose="02010609060101010101" pitchFamily="49" charset="-122"/>
                <a:ea typeface="黑体" panose="02010609060101010101" pitchFamily="49" charset="-122"/>
              </a:rPr>
              <a:t>IBM PC</a:t>
            </a:r>
            <a:r>
              <a:rPr lang="zh-CN" altLang="en-US" sz="2800" dirty="0">
                <a:latin typeface="黑体" panose="02010609060101010101" pitchFamily="49" charset="-122"/>
                <a:ea typeface="黑体" panose="02010609060101010101" pitchFamily="49" charset="-122"/>
              </a:rPr>
              <a:t>的向量表</a:t>
            </a:r>
          </a:p>
        </p:txBody>
      </p:sp>
      <p:sp>
        <p:nvSpPr>
          <p:cNvPr id="16408" name="Text Box 24"/>
          <p:cNvSpPr txBox="1"/>
          <p:nvPr/>
        </p:nvSpPr>
        <p:spPr>
          <a:xfrm>
            <a:off x="179388" y="4581525"/>
            <a:ext cx="4429125" cy="885825"/>
          </a:xfrm>
          <a:prstGeom prst="rect">
            <a:avLst/>
          </a:prstGeom>
          <a:noFill/>
          <a:ln w="12700">
            <a:noFill/>
          </a:ln>
        </p:spPr>
        <p:txBody>
          <a:bodyPr>
            <a:spAutoFit/>
          </a:bodyPr>
          <a:lstStyle/>
          <a:p>
            <a:pPr>
              <a:spcBef>
                <a:spcPct val="50000"/>
              </a:spcBef>
            </a:pPr>
            <a:r>
              <a:rPr lang="en-US" altLang="zh-CN" sz="2600" dirty="0">
                <a:latin typeface="黑体" panose="02010609060101010101" pitchFamily="49" charset="-122"/>
                <a:ea typeface="黑体" panose="02010609060101010101" pitchFamily="49" charset="-122"/>
              </a:rPr>
              <a:t>M</a:t>
            </a:r>
            <a:r>
              <a:rPr lang="zh-CN" altLang="en-US" sz="2600" dirty="0">
                <a:latin typeface="黑体" panose="02010609060101010101" pitchFamily="49" charset="-122"/>
                <a:ea typeface="黑体" panose="02010609060101010101" pitchFamily="49" charset="-122"/>
              </a:rPr>
              <a:t>按字节编址。一个入口地址</a:t>
            </a:r>
            <a:r>
              <a:rPr lang="en-US" altLang="zh-CN" sz="2600" dirty="0">
                <a:latin typeface="黑体" panose="02010609060101010101" pitchFamily="49" charset="-122"/>
                <a:ea typeface="黑体" panose="02010609060101010101" pitchFamily="49" charset="-122"/>
              </a:rPr>
              <a:t>32</a:t>
            </a:r>
            <a:r>
              <a:rPr lang="zh-CN" altLang="en-US" sz="2600" dirty="0">
                <a:latin typeface="黑体" panose="02010609060101010101" pitchFamily="49" charset="-122"/>
                <a:ea typeface="黑体" panose="02010609060101010101" pitchFamily="49" charset="-122"/>
              </a:rPr>
              <a:t>位，占</a:t>
            </a:r>
            <a:r>
              <a:rPr lang="en-US" altLang="zh-CN" sz="2600" dirty="0">
                <a:latin typeface="黑体" panose="02010609060101010101" pitchFamily="49" charset="-122"/>
                <a:ea typeface="黑体" panose="02010609060101010101" pitchFamily="49" charset="-122"/>
              </a:rPr>
              <a:t>4</a:t>
            </a:r>
            <a:r>
              <a:rPr lang="zh-CN" altLang="en-US" sz="2600" dirty="0">
                <a:latin typeface="黑体" panose="02010609060101010101" pitchFamily="49" charset="-122"/>
                <a:ea typeface="黑体" panose="02010609060101010101" pitchFamily="49" charset="-122"/>
              </a:rPr>
              <a:t>个编址单元。</a:t>
            </a:r>
          </a:p>
        </p:txBody>
      </p:sp>
      <p:sp>
        <p:nvSpPr>
          <p:cNvPr id="16409" name="Text Box 25"/>
          <p:cNvSpPr txBox="1"/>
          <p:nvPr/>
        </p:nvSpPr>
        <p:spPr>
          <a:xfrm>
            <a:off x="0" y="4005263"/>
            <a:ext cx="4356100" cy="488950"/>
          </a:xfrm>
          <a:prstGeom prst="rect">
            <a:avLst/>
          </a:prstGeom>
          <a:noFill/>
          <a:ln w="12700">
            <a:noFill/>
          </a:ln>
        </p:spPr>
        <p:txBody>
          <a:bodyPr>
            <a:spAutoFit/>
          </a:bodyPr>
          <a:lstStyle/>
          <a:p>
            <a:pPr>
              <a:spcBef>
                <a:spcPct val="50000"/>
              </a:spcBef>
            </a:pPr>
            <a:r>
              <a:rPr lang="zh-CN" altLang="en-US" sz="2600" dirty="0">
                <a:latin typeface="黑体" panose="02010609060101010101" pitchFamily="49" charset="-122"/>
                <a:ea typeface="黑体" panose="02010609060101010101" pitchFamily="49" charset="-122"/>
              </a:rPr>
              <a:t>（从主存</a:t>
            </a:r>
            <a:r>
              <a:rPr lang="en-US" altLang="zh-CN" sz="2600" dirty="0">
                <a:solidFill>
                  <a:schemeClr val="tx2"/>
                </a:solidFill>
                <a:latin typeface="黑体" panose="02010609060101010101" pitchFamily="49" charset="-122"/>
                <a:ea typeface="黑体" panose="02010609060101010101" pitchFamily="49" charset="-122"/>
              </a:rPr>
              <a:t>0#</a:t>
            </a:r>
            <a:r>
              <a:rPr lang="zh-CN" altLang="en-US" sz="2600" dirty="0">
                <a:latin typeface="黑体" panose="02010609060101010101" pitchFamily="49" charset="-122"/>
                <a:ea typeface="黑体" panose="02010609060101010101" pitchFamily="49" charset="-122"/>
              </a:rPr>
              <a:t>单元开始安排）</a:t>
            </a:r>
          </a:p>
        </p:txBody>
      </p:sp>
      <p:grpSp>
        <p:nvGrpSpPr>
          <p:cNvPr id="2" name="Group 36"/>
          <p:cNvGrpSpPr/>
          <p:nvPr/>
        </p:nvGrpSpPr>
        <p:grpSpPr>
          <a:xfrm>
            <a:off x="4419600" y="0"/>
            <a:ext cx="4724400" cy="2492375"/>
            <a:chOff x="2736" y="288"/>
            <a:chExt cx="2976" cy="1440"/>
          </a:xfrm>
        </p:grpSpPr>
        <p:sp>
          <p:nvSpPr>
            <p:cNvPr id="19487" name="Text Box 16"/>
            <p:cNvSpPr txBox="1"/>
            <p:nvPr/>
          </p:nvSpPr>
          <p:spPr>
            <a:xfrm>
              <a:off x="2736" y="528"/>
              <a:ext cx="672" cy="300"/>
            </a:xfrm>
            <a:prstGeom prst="rect">
              <a:avLst/>
            </a:prstGeom>
            <a:noFill/>
            <a:ln w="12700">
              <a:noFill/>
            </a:ln>
          </p:spPr>
          <p:txBody>
            <a:bodyPr>
              <a:spAutoFit/>
            </a:bodyPr>
            <a:lstStyle/>
            <a:p>
              <a:pPr>
                <a:spcBef>
                  <a:spcPct val="50000"/>
                </a:spcBef>
              </a:pPr>
              <a:r>
                <a:rPr lang="en-US" altLang="zh-CN" sz="2800" dirty="0">
                  <a:solidFill>
                    <a:schemeClr val="accent1"/>
                  </a:solidFill>
                  <a:latin typeface="黑体" panose="02010609060101010101" pitchFamily="49" charset="-122"/>
                  <a:ea typeface="黑体" panose="02010609060101010101" pitchFamily="49" charset="-122"/>
                </a:rPr>
                <a:t>2#</a:t>
              </a:r>
            </a:p>
          </p:txBody>
        </p:sp>
        <p:sp>
          <p:nvSpPr>
            <p:cNvPr id="19488" name="Text Box 26"/>
            <p:cNvSpPr txBox="1"/>
            <p:nvPr/>
          </p:nvSpPr>
          <p:spPr>
            <a:xfrm>
              <a:off x="3408" y="288"/>
              <a:ext cx="960" cy="264"/>
            </a:xfrm>
            <a:prstGeom prst="rect">
              <a:avLst/>
            </a:prstGeom>
            <a:noFill/>
            <a:ln w="9525">
              <a:noFill/>
            </a:ln>
          </p:spPr>
          <p:txBody>
            <a:bodyPr>
              <a:spAutoFit/>
            </a:bodyPr>
            <a:lstStyle/>
            <a:p>
              <a:pPr algn="ctr">
                <a:spcBef>
                  <a:spcPct val="50000"/>
                </a:spcBef>
              </a:pPr>
              <a:r>
                <a:rPr lang="zh-CN" altLang="en-US" dirty="0">
                  <a:latin typeface="Times New Roman" panose="02020603050405020304" pitchFamily="18" charset="0"/>
                  <a:ea typeface="黑体" panose="02010609060101010101" pitchFamily="49" charset="-122"/>
                </a:rPr>
                <a:t>向量表</a:t>
              </a:r>
            </a:p>
          </p:txBody>
        </p:sp>
        <p:sp>
          <p:nvSpPr>
            <p:cNvPr id="19489" name="Text Box 28"/>
            <p:cNvSpPr txBox="1"/>
            <p:nvPr/>
          </p:nvSpPr>
          <p:spPr>
            <a:xfrm>
              <a:off x="3120" y="576"/>
              <a:ext cx="1488" cy="286"/>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dirty="0">
                  <a:latin typeface="黑体" panose="02010609060101010101" pitchFamily="49" charset="-122"/>
                  <a:ea typeface="黑体" panose="02010609060101010101" pitchFamily="49" charset="-122"/>
                </a:rPr>
                <a:t>  </a:t>
              </a:r>
              <a:r>
                <a:rPr lang="zh-CN" altLang="en-US" dirty="0">
                  <a:solidFill>
                    <a:schemeClr val="folHlink"/>
                  </a:solidFill>
                  <a:latin typeface="黑体" panose="02010609060101010101" pitchFamily="49" charset="-122"/>
                  <a:ea typeface="黑体" panose="02010609060101010101" pitchFamily="49" charset="-122"/>
                </a:rPr>
                <a:t>入口地址</a:t>
              </a:r>
              <a:r>
                <a:rPr lang="en-US" altLang="zh-CN" dirty="0">
                  <a:solidFill>
                    <a:schemeClr val="folHlink"/>
                  </a:solidFill>
                  <a:latin typeface="黑体" panose="02010609060101010101" pitchFamily="49" charset="-122"/>
                  <a:ea typeface="黑体" panose="02010609060101010101" pitchFamily="49" charset="-122"/>
                </a:rPr>
                <a:t>0</a:t>
              </a:r>
            </a:p>
          </p:txBody>
        </p:sp>
        <p:sp>
          <p:nvSpPr>
            <p:cNvPr id="19490" name="Text Box 29"/>
            <p:cNvSpPr txBox="1"/>
            <p:nvPr/>
          </p:nvSpPr>
          <p:spPr>
            <a:xfrm>
              <a:off x="3120" y="864"/>
              <a:ext cx="1488" cy="286"/>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dirty="0">
                  <a:latin typeface="黑体" panose="02010609060101010101" pitchFamily="49" charset="-122"/>
                  <a:ea typeface="黑体" panose="02010609060101010101" pitchFamily="49" charset="-122"/>
                </a:rPr>
                <a:t>  </a:t>
              </a:r>
              <a:r>
                <a:rPr lang="zh-CN" altLang="en-US" dirty="0">
                  <a:solidFill>
                    <a:schemeClr val="folHlink"/>
                  </a:solidFill>
                  <a:latin typeface="黑体" panose="02010609060101010101" pitchFamily="49" charset="-122"/>
                  <a:ea typeface="黑体" panose="02010609060101010101" pitchFamily="49" charset="-122"/>
                </a:rPr>
                <a:t>入口地址</a:t>
              </a:r>
              <a:r>
                <a:rPr lang="en-US" altLang="zh-CN" dirty="0">
                  <a:solidFill>
                    <a:schemeClr val="folHlink"/>
                  </a:solidFill>
                  <a:latin typeface="黑体" panose="02010609060101010101" pitchFamily="49" charset="-122"/>
                  <a:ea typeface="黑体" panose="02010609060101010101" pitchFamily="49" charset="-122"/>
                </a:rPr>
                <a:t>1</a:t>
              </a:r>
            </a:p>
          </p:txBody>
        </p:sp>
        <p:sp>
          <p:nvSpPr>
            <p:cNvPr id="19491" name="Rectangle 30"/>
            <p:cNvSpPr/>
            <p:nvPr/>
          </p:nvSpPr>
          <p:spPr>
            <a:xfrm>
              <a:off x="3120" y="1152"/>
              <a:ext cx="1488" cy="576"/>
            </a:xfrm>
            <a:prstGeom prst="rect">
              <a:avLst/>
            </a:prstGeom>
            <a:noFill/>
            <a:ln w="38100" cap="flat" cmpd="sng">
              <a:solidFill>
                <a:schemeClr val="tx1"/>
              </a:solidFill>
              <a:prstDash val="solid"/>
              <a:miter/>
              <a:headEnd type="none" w="med" len="med"/>
              <a:tailEnd type="none" w="med" len="med"/>
            </a:ln>
          </p:spPr>
          <p:txBody>
            <a:bodyPr wrap="none" anchor="ctr" anchorCtr="0"/>
            <a:lstStyle/>
            <a:p>
              <a:pPr eaLnBrk="0" hangingPunct="0"/>
              <a:endParaRPr lang="zh-CN" altLang="en-US" dirty="0">
                <a:latin typeface="Times New Roman" panose="02020603050405020304" pitchFamily="18" charset="0"/>
              </a:endParaRPr>
            </a:p>
          </p:txBody>
        </p:sp>
        <p:sp>
          <p:nvSpPr>
            <p:cNvPr id="19492" name="Text Box 31"/>
            <p:cNvSpPr txBox="1"/>
            <p:nvPr/>
          </p:nvSpPr>
          <p:spPr>
            <a:xfrm>
              <a:off x="2736" y="816"/>
              <a:ext cx="672" cy="300"/>
            </a:xfrm>
            <a:prstGeom prst="rect">
              <a:avLst/>
            </a:prstGeom>
            <a:noFill/>
            <a:ln w="12700">
              <a:noFill/>
            </a:ln>
          </p:spPr>
          <p:txBody>
            <a:bodyPr>
              <a:spAutoFit/>
            </a:bodyPr>
            <a:lstStyle/>
            <a:p>
              <a:pPr>
                <a:spcBef>
                  <a:spcPct val="50000"/>
                </a:spcBef>
              </a:pPr>
              <a:r>
                <a:rPr lang="en-US" altLang="zh-CN" sz="2800" dirty="0">
                  <a:solidFill>
                    <a:schemeClr val="accent1"/>
                  </a:solidFill>
                  <a:latin typeface="黑体" panose="02010609060101010101" pitchFamily="49" charset="-122"/>
                  <a:ea typeface="黑体" panose="02010609060101010101" pitchFamily="49" charset="-122"/>
                </a:rPr>
                <a:t>3#</a:t>
              </a:r>
            </a:p>
          </p:txBody>
        </p:sp>
        <p:sp>
          <p:nvSpPr>
            <p:cNvPr id="19493" name="Text Box 32"/>
            <p:cNvSpPr txBox="1"/>
            <p:nvPr/>
          </p:nvSpPr>
          <p:spPr>
            <a:xfrm>
              <a:off x="4608" y="576"/>
              <a:ext cx="1104" cy="267"/>
            </a:xfrm>
            <a:prstGeom prst="rect">
              <a:avLst/>
            </a:prstGeom>
            <a:noFill/>
            <a:ln w="12700">
              <a:noFill/>
            </a:ln>
          </p:spPr>
          <p:txBody>
            <a:bodyPr>
              <a:spAutoFit/>
            </a:bodyPr>
            <a:lstStyle/>
            <a:p>
              <a:pPr>
                <a:spcBef>
                  <a:spcPct val="50000"/>
                </a:spcBef>
              </a:pPr>
              <a:r>
                <a:rPr lang="en-US" altLang="zh-CN" dirty="0">
                  <a:solidFill>
                    <a:schemeClr val="accent1"/>
                  </a:solidFill>
                  <a:latin typeface="黑体" panose="02010609060101010101" pitchFamily="49" charset="-122"/>
                  <a:ea typeface="黑体" panose="02010609060101010101" pitchFamily="49" charset="-122"/>
                </a:rPr>
                <a:t>0</a:t>
              </a:r>
              <a:r>
                <a:rPr lang="zh-CN" altLang="en-US" dirty="0">
                  <a:solidFill>
                    <a:schemeClr val="accent1"/>
                  </a:solidFill>
                  <a:latin typeface="黑体" panose="02010609060101010101" pitchFamily="49" charset="-122"/>
                  <a:ea typeface="黑体" panose="02010609060101010101" pitchFamily="49" charset="-122"/>
                </a:rPr>
                <a:t>号中断源</a:t>
              </a:r>
            </a:p>
          </p:txBody>
        </p:sp>
        <p:sp>
          <p:nvSpPr>
            <p:cNvPr id="19494" name="Text Box 34"/>
            <p:cNvSpPr txBox="1"/>
            <p:nvPr/>
          </p:nvSpPr>
          <p:spPr>
            <a:xfrm>
              <a:off x="4608" y="864"/>
              <a:ext cx="1104" cy="267"/>
            </a:xfrm>
            <a:prstGeom prst="rect">
              <a:avLst/>
            </a:prstGeom>
            <a:noFill/>
            <a:ln w="12700">
              <a:noFill/>
            </a:ln>
          </p:spPr>
          <p:txBody>
            <a:bodyPr>
              <a:spAutoFit/>
            </a:bodyPr>
            <a:lstStyle/>
            <a:p>
              <a:pPr>
                <a:spcBef>
                  <a:spcPct val="50000"/>
                </a:spcBef>
              </a:pPr>
              <a:r>
                <a:rPr lang="en-US" altLang="zh-CN" dirty="0">
                  <a:solidFill>
                    <a:schemeClr val="accent1"/>
                  </a:solidFill>
                  <a:latin typeface="黑体" panose="02010609060101010101" pitchFamily="49" charset="-122"/>
                  <a:ea typeface="黑体" panose="02010609060101010101" pitchFamily="49" charset="-122"/>
                </a:rPr>
                <a:t>1</a:t>
              </a:r>
              <a:r>
                <a:rPr lang="zh-CN" altLang="en-US" dirty="0">
                  <a:solidFill>
                    <a:schemeClr val="accent1"/>
                  </a:solidFill>
                  <a:latin typeface="黑体" panose="02010609060101010101" pitchFamily="49" charset="-122"/>
                  <a:ea typeface="黑体" panose="02010609060101010101" pitchFamily="49" charset="-122"/>
                </a:rPr>
                <a:t>号中断源</a:t>
              </a:r>
            </a:p>
          </p:txBody>
        </p:sp>
        <p:sp>
          <p:nvSpPr>
            <p:cNvPr id="19495" name="Line 35"/>
            <p:cNvSpPr/>
            <p:nvPr/>
          </p:nvSpPr>
          <p:spPr>
            <a:xfrm>
              <a:off x="3792" y="1200"/>
              <a:ext cx="0" cy="480"/>
            </a:xfrm>
            <a:prstGeom prst="line">
              <a:avLst/>
            </a:prstGeom>
            <a:ln w="38100" cap="rnd" cmpd="sng">
              <a:solidFill>
                <a:schemeClr val="tx1"/>
              </a:solidFill>
              <a:prstDash val="sysDot"/>
              <a:headEnd type="none" w="med" len="med"/>
              <a:tailEnd type="none" w="med" len="med"/>
            </a:ln>
          </p:spPr>
        </p:sp>
      </p:grpSp>
      <p:sp>
        <p:nvSpPr>
          <p:cNvPr id="16421" name="Text Box 37"/>
          <p:cNvSpPr txBox="1"/>
          <p:nvPr/>
        </p:nvSpPr>
        <p:spPr>
          <a:xfrm>
            <a:off x="71438" y="2708275"/>
            <a:ext cx="1908175" cy="488950"/>
          </a:xfrm>
          <a:prstGeom prst="rect">
            <a:avLst/>
          </a:prstGeom>
          <a:noFill/>
          <a:ln w="12700">
            <a:noFill/>
          </a:ln>
        </p:spPr>
        <p:txBody>
          <a:bodyPr>
            <a:spAutoFit/>
          </a:bodyPr>
          <a:lstStyle/>
          <a:p>
            <a:pPr>
              <a:spcBef>
                <a:spcPct val="50000"/>
              </a:spcBef>
            </a:pPr>
            <a:r>
              <a:rPr lang="en-US" altLang="zh-CN" sz="2600" dirty="0">
                <a:latin typeface="黑体" panose="02010609060101010101" pitchFamily="49" charset="-122"/>
                <a:ea typeface="黑体" panose="02010609060101010101" pitchFamily="49" charset="-122"/>
              </a:rPr>
              <a:t>(</a:t>
            </a:r>
            <a:r>
              <a:rPr lang="zh-CN" altLang="en-US" sz="2600" dirty="0">
                <a:latin typeface="黑体" panose="02010609060101010101" pitchFamily="49" charset="-122"/>
                <a:ea typeface="黑体" panose="02010609060101010101" pitchFamily="49" charset="-122"/>
              </a:rPr>
              <a:t>单元地址</a:t>
            </a:r>
            <a:r>
              <a:rPr lang="en-US" altLang="zh-CN" sz="2600" dirty="0">
                <a:latin typeface="黑体" panose="02010609060101010101" pitchFamily="49" charset="-122"/>
                <a:ea typeface="黑体" panose="02010609060101010101" pitchFamily="49" charset="-122"/>
              </a:rPr>
              <a:t>)</a:t>
            </a:r>
          </a:p>
        </p:txBody>
      </p:sp>
      <p:sp>
        <p:nvSpPr>
          <p:cNvPr id="16422" name="Text Box 38"/>
          <p:cNvSpPr txBox="1"/>
          <p:nvPr/>
        </p:nvSpPr>
        <p:spPr>
          <a:xfrm>
            <a:off x="1824038" y="2133600"/>
            <a:ext cx="3105150" cy="584200"/>
          </a:xfrm>
          <a:prstGeom prst="rect">
            <a:avLst/>
          </a:prstGeom>
          <a:noFill/>
          <a:ln w="12700">
            <a:noFill/>
          </a:ln>
        </p:spPr>
        <p:txBody>
          <a:bodyPr>
            <a:spAutoFit/>
          </a:bodyPr>
          <a:lstStyle/>
          <a:p>
            <a:pPr>
              <a:spcBef>
                <a:spcPct val="50000"/>
              </a:spcBef>
            </a:pPr>
            <a:r>
              <a:rPr lang="en-US" altLang="zh-CN" sz="3200" dirty="0">
                <a:solidFill>
                  <a:schemeClr val="accent1"/>
                </a:solidFill>
                <a:latin typeface="黑体" panose="02010609060101010101" pitchFamily="49" charset="-122"/>
                <a:ea typeface="黑体" panose="02010609060101010101" pitchFamily="49" charset="-122"/>
              </a:rPr>
              <a:t>=2#+</a:t>
            </a:r>
            <a:r>
              <a:rPr lang="zh-CN" altLang="en-US" sz="2800" dirty="0">
                <a:solidFill>
                  <a:schemeClr val="accent1"/>
                </a:solidFill>
                <a:latin typeface="黑体" panose="02010609060101010101" pitchFamily="49" charset="-122"/>
                <a:ea typeface="黑体" panose="02010609060101010101" pitchFamily="49" charset="-122"/>
              </a:rPr>
              <a:t>中断号</a:t>
            </a:r>
            <a:r>
              <a:rPr lang="en-US" altLang="zh-CN" sz="2800" dirty="0">
                <a:solidFill>
                  <a:schemeClr val="accent1"/>
                </a:solidFill>
                <a:latin typeface="黑体" panose="02010609060101010101" pitchFamily="49" charset="-122"/>
                <a:ea typeface="黑体" panose="02010609060101010101" pitchFamily="49" charset="-122"/>
              </a:rPr>
              <a:t>×1</a:t>
            </a:r>
          </a:p>
        </p:txBody>
      </p:sp>
      <p:grpSp>
        <p:nvGrpSpPr>
          <p:cNvPr id="3" name="Group 70"/>
          <p:cNvGrpSpPr/>
          <p:nvPr/>
        </p:nvGrpSpPr>
        <p:grpSpPr>
          <a:xfrm>
            <a:off x="4419600" y="2947988"/>
            <a:ext cx="4832350" cy="3073400"/>
            <a:chOff x="2784" y="2112"/>
            <a:chExt cx="3044" cy="1768"/>
          </a:xfrm>
        </p:grpSpPr>
        <p:sp>
          <p:nvSpPr>
            <p:cNvPr id="19470" name="Text Box 40"/>
            <p:cNvSpPr txBox="1"/>
            <p:nvPr/>
          </p:nvSpPr>
          <p:spPr>
            <a:xfrm>
              <a:off x="2784" y="2304"/>
              <a:ext cx="672" cy="301"/>
            </a:xfrm>
            <a:prstGeom prst="rect">
              <a:avLst/>
            </a:prstGeom>
            <a:noFill/>
            <a:ln w="12700">
              <a:noFill/>
            </a:ln>
          </p:spPr>
          <p:txBody>
            <a:bodyPr>
              <a:spAutoFit/>
            </a:bodyPr>
            <a:lstStyle/>
            <a:p>
              <a:pPr>
                <a:spcBef>
                  <a:spcPct val="50000"/>
                </a:spcBef>
              </a:pPr>
              <a:r>
                <a:rPr lang="en-US" altLang="zh-CN" sz="2800" dirty="0">
                  <a:solidFill>
                    <a:schemeClr val="accent1"/>
                  </a:solidFill>
                  <a:latin typeface="黑体" panose="02010609060101010101" pitchFamily="49" charset="-122"/>
                  <a:ea typeface="黑体" panose="02010609060101010101" pitchFamily="49" charset="-122"/>
                </a:rPr>
                <a:t>0#</a:t>
              </a:r>
            </a:p>
          </p:txBody>
        </p:sp>
        <p:sp>
          <p:nvSpPr>
            <p:cNvPr id="19471" name="Text Box 41"/>
            <p:cNvSpPr txBox="1"/>
            <p:nvPr/>
          </p:nvSpPr>
          <p:spPr>
            <a:xfrm>
              <a:off x="3456" y="2112"/>
              <a:ext cx="960" cy="263"/>
            </a:xfrm>
            <a:prstGeom prst="rect">
              <a:avLst/>
            </a:prstGeom>
            <a:noFill/>
            <a:ln w="9525">
              <a:noFill/>
            </a:ln>
          </p:spPr>
          <p:txBody>
            <a:bodyPr>
              <a:spAutoFit/>
            </a:bodyPr>
            <a:lstStyle/>
            <a:p>
              <a:pPr algn="ctr">
                <a:spcBef>
                  <a:spcPct val="50000"/>
                </a:spcBef>
              </a:pPr>
              <a:r>
                <a:rPr lang="zh-CN" altLang="en-US" dirty="0">
                  <a:latin typeface="Times New Roman" panose="02020603050405020304" pitchFamily="18" charset="0"/>
                  <a:ea typeface="黑体" panose="02010609060101010101" pitchFamily="49" charset="-122"/>
                </a:rPr>
                <a:t>向量表</a:t>
              </a:r>
            </a:p>
          </p:txBody>
        </p:sp>
        <p:sp>
          <p:nvSpPr>
            <p:cNvPr id="19472" name="Text Box 42"/>
            <p:cNvSpPr txBox="1"/>
            <p:nvPr/>
          </p:nvSpPr>
          <p:spPr>
            <a:xfrm>
              <a:off x="3168" y="2400"/>
              <a:ext cx="1488" cy="284"/>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dirty="0">
                  <a:latin typeface="黑体" panose="02010609060101010101" pitchFamily="49" charset="-122"/>
                  <a:ea typeface="黑体" panose="02010609060101010101" pitchFamily="49" charset="-122"/>
                </a:rPr>
                <a:t>  </a:t>
              </a:r>
              <a:r>
                <a:rPr lang="zh-CN" altLang="en-US" dirty="0">
                  <a:solidFill>
                    <a:schemeClr val="folHlink"/>
                  </a:solidFill>
                  <a:latin typeface="黑体" panose="02010609060101010101" pitchFamily="49" charset="-122"/>
                  <a:ea typeface="黑体" panose="02010609060101010101" pitchFamily="49" charset="-122"/>
                </a:rPr>
                <a:t>入口偏移</a:t>
              </a:r>
              <a:r>
                <a:rPr lang="en-US" altLang="zh-CN" dirty="0">
                  <a:solidFill>
                    <a:schemeClr val="folHlink"/>
                  </a:solidFill>
                  <a:latin typeface="黑体" panose="02010609060101010101" pitchFamily="49" charset="-122"/>
                  <a:ea typeface="黑体" panose="02010609060101010101" pitchFamily="49" charset="-122"/>
                </a:rPr>
                <a:t>0</a:t>
              </a:r>
            </a:p>
          </p:txBody>
        </p:sp>
        <p:sp>
          <p:nvSpPr>
            <p:cNvPr id="19473" name="Text Box 43"/>
            <p:cNvSpPr txBox="1"/>
            <p:nvPr/>
          </p:nvSpPr>
          <p:spPr>
            <a:xfrm>
              <a:off x="3168" y="2688"/>
              <a:ext cx="1488" cy="285"/>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dirty="0">
                  <a:latin typeface="黑体" panose="02010609060101010101" pitchFamily="49" charset="-122"/>
                  <a:ea typeface="黑体" panose="02010609060101010101" pitchFamily="49" charset="-122"/>
                </a:rPr>
                <a:t>  </a:t>
              </a:r>
              <a:r>
                <a:rPr lang="zh-CN" altLang="en-US" dirty="0">
                  <a:solidFill>
                    <a:schemeClr val="folHlink"/>
                  </a:solidFill>
                  <a:latin typeface="黑体" panose="02010609060101010101" pitchFamily="49" charset="-122"/>
                  <a:ea typeface="黑体" panose="02010609060101010101" pitchFamily="49" charset="-122"/>
                </a:rPr>
                <a:t>入口基址</a:t>
              </a:r>
              <a:r>
                <a:rPr lang="en-US" altLang="zh-CN" dirty="0">
                  <a:solidFill>
                    <a:schemeClr val="folHlink"/>
                  </a:solidFill>
                  <a:latin typeface="黑体" panose="02010609060101010101" pitchFamily="49" charset="-122"/>
                  <a:ea typeface="黑体" panose="02010609060101010101" pitchFamily="49" charset="-122"/>
                </a:rPr>
                <a:t>0</a:t>
              </a:r>
            </a:p>
          </p:txBody>
        </p:sp>
        <p:sp>
          <p:nvSpPr>
            <p:cNvPr id="19474" name="Rectangle 44"/>
            <p:cNvSpPr/>
            <p:nvPr/>
          </p:nvSpPr>
          <p:spPr>
            <a:xfrm>
              <a:off x="3168" y="3552"/>
              <a:ext cx="1488" cy="328"/>
            </a:xfrm>
            <a:prstGeom prst="rect">
              <a:avLst/>
            </a:prstGeom>
            <a:noFill/>
            <a:ln w="38100" cap="flat" cmpd="sng">
              <a:solidFill>
                <a:schemeClr val="tx1"/>
              </a:solidFill>
              <a:prstDash val="solid"/>
              <a:miter/>
              <a:headEnd type="none" w="med" len="med"/>
              <a:tailEnd type="none" w="med" len="med"/>
            </a:ln>
          </p:spPr>
          <p:txBody>
            <a:bodyPr wrap="none" anchor="ctr" anchorCtr="0"/>
            <a:lstStyle/>
            <a:p>
              <a:pPr eaLnBrk="0" hangingPunct="0"/>
              <a:endParaRPr lang="zh-CN" altLang="en-US" dirty="0">
                <a:latin typeface="Times New Roman" panose="02020603050405020304" pitchFamily="18" charset="0"/>
              </a:endParaRPr>
            </a:p>
          </p:txBody>
        </p:sp>
        <p:sp>
          <p:nvSpPr>
            <p:cNvPr id="19475" name="Text Box 45"/>
            <p:cNvSpPr txBox="1"/>
            <p:nvPr/>
          </p:nvSpPr>
          <p:spPr>
            <a:xfrm>
              <a:off x="2784" y="2880"/>
              <a:ext cx="672" cy="301"/>
            </a:xfrm>
            <a:prstGeom prst="rect">
              <a:avLst/>
            </a:prstGeom>
            <a:noFill/>
            <a:ln w="12700">
              <a:noFill/>
            </a:ln>
          </p:spPr>
          <p:txBody>
            <a:bodyPr>
              <a:spAutoFit/>
            </a:bodyPr>
            <a:lstStyle/>
            <a:p>
              <a:pPr>
                <a:spcBef>
                  <a:spcPct val="50000"/>
                </a:spcBef>
              </a:pPr>
              <a:r>
                <a:rPr lang="en-US" altLang="zh-CN" sz="2800" dirty="0">
                  <a:solidFill>
                    <a:schemeClr val="accent1"/>
                  </a:solidFill>
                  <a:latin typeface="黑体" panose="02010609060101010101" pitchFamily="49" charset="-122"/>
                  <a:ea typeface="黑体" panose="02010609060101010101" pitchFamily="49" charset="-122"/>
                </a:rPr>
                <a:t>4#</a:t>
              </a:r>
            </a:p>
          </p:txBody>
        </p:sp>
        <p:sp>
          <p:nvSpPr>
            <p:cNvPr id="19476" name="Text Box 46"/>
            <p:cNvSpPr txBox="1"/>
            <p:nvPr/>
          </p:nvSpPr>
          <p:spPr>
            <a:xfrm>
              <a:off x="4724" y="2545"/>
              <a:ext cx="1104" cy="263"/>
            </a:xfrm>
            <a:prstGeom prst="rect">
              <a:avLst/>
            </a:prstGeom>
            <a:noFill/>
            <a:ln w="12700">
              <a:noFill/>
            </a:ln>
          </p:spPr>
          <p:txBody>
            <a:bodyPr>
              <a:spAutoFit/>
            </a:bodyPr>
            <a:lstStyle/>
            <a:p>
              <a:pPr>
                <a:spcBef>
                  <a:spcPct val="50000"/>
                </a:spcBef>
              </a:pPr>
              <a:r>
                <a:rPr lang="en-US" altLang="zh-CN" dirty="0">
                  <a:solidFill>
                    <a:schemeClr val="accent1"/>
                  </a:solidFill>
                  <a:latin typeface="黑体" panose="02010609060101010101" pitchFamily="49" charset="-122"/>
                  <a:ea typeface="黑体" panose="02010609060101010101" pitchFamily="49" charset="-122"/>
                </a:rPr>
                <a:t>0</a:t>
              </a:r>
              <a:r>
                <a:rPr lang="zh-CN" altLang="en-US" dirty="0">
                  <a:solidFill>
                    <a:schemeClr val="accent1"/>
                  </a:solidFill>
                  <a:latin typeface="黑体" panose="02010609060101010101" pitchFamily="49" charset="-122"/>
                  <a:ea typeface="黑体" panose="02010609060101010101" pitchFamily="49" charset="-122"/>
                </a:rPr>
                <a:t>号中断源</a:t>
              </a:r>
            </a:p>
          </p:txBody>
        </p:sp>
        <p:sp>
          <p:nvSpPr>
            <p:cNvPr id="19477" name="Text Box 47"/>
            <p:cNvSpPr txBox="1"/>
            <p:nvPr/>
          </p:nvSpPr>
          <p:spPr>
            <a:xfrm>
              <a:off x="4704" y="3120"/>
              <a:ext cx="1104" cy="263"/>
            </a:xfrm>
            <a:prstGeom prst="rect">
              <a:avLst/>
            </a:prstGeom>
            <a:noFill/>
            <a:ln w="12700">
              <a:noFill/>
            </a:ln>
          </p:spPr>
          <p:txBody>
            <a:bodyPr>
              <a:spAutoFit/>
            </a:bodyPr>
            <a:lstStyle/>
            <a:p>
              <a:pPr>
                <a:spcBef>
                  <a:spcPct val="50000"/>
                </a:spcBef>
              </a:pPr>
              <a:r>
                <a:rPr lang="en-US" altLang="zh-CN" dirty="0">
                  <a:solidFill>
                    <a:schemeClr val="accent1"/>
                  </a:solidFill>
                  <a:latin typeface="黑体" panose="02010609060101010101" pitchFamily="49" charset="-122"/>
                  <a:ea typeface="黑体" panose="02010609060101010101" pitchFamily="49" charset="-122"/>
                </a:rPr>
                <a:t>1</a:t>
              </a:r>
              <a:r>
                <a:rPr lang="zh-CN" altLang="en-US" dirty="0">
                  <a:solidFill>
                    <a:schemeClr val="accent1"/>
                  </a:solidFill>
                  <a:latin typeface="黑体" panose="02010609060101010101" pitchFamily="49" charset="-122"/>
                  <a:ea typeface="黑体" panose="02010609060101010101" pitchFamily="49" charset="-122"/>
                </a:rPr>
                <a:t>号中断源</a:t>
              </a:r>
            </a:p>
          </p:txBody>
        </p:sp>
        <p:sp>
          <p:nvSpPr>
            <p:cNvPr id="19478" name="Line 48"/>
            <p:cNvSpPr/>
            <p:nvPr/>
          </p:nvSpPr>
          <p:spPr>
            <a:xfrm>
              <a:off x="3888" y="3600"/>
              <a:ext cx="0" cy="207"/>
            </a:xfrm>
            <a:prstGeom prst="line">
              <a:avLst/>
            </a:prstGeom>
            <a:ln w="38100" cap="flat" cmpd="sng">
              <a:solidFill>
                <a:schemeClr val="tx1"/>
              </a:solidFill>
              <a:prstDash val="sysDot"/>
              <a:headEnd type="none" w="med" len="med"/>
              <a:tailEnd type="none" w="med" len="med"/>
            </a:ln>
          </p:spPr>
        </p:sp>
        <p:sp>
          <p:nvSpPr>
            <p:cNvPr id="19479" name="Line 49"/>
            <p:cNvSpPr/>
            <p:nvPr/>
          </p:nvSpPr>
          <p:spPr>
            <a:xfrm>
              <a:off x="3168" y="2544"/>
              <a:ext cx="1488" cy="0"/>
            </a:xfrm>
            <a:prstGeom prst="line">
              <a:avLst/>
            </a:prstGeom>
            <a:ln w="12700" cap="flat" cmpd="sng">
              <a:solidFill>
                <a:schemeClr val="tx1"/>
              </a:solidFill>
              <a:prstDash val="dash"/>
              <a:headEnd type="none" w="med" len="med"/>
              <a:tailEnd type="none" w="med" len="med"/>
            </a:ln>
          </p:spPr>
        </p:sp>
        <p:sp>
          <p:nvSpPr>
            <p:cNvPr id="19480" name="Line 50"/>
            <p:cNvSpPr/>
            <p:nvPr/>
          </p:nvSpPr>
          <p:spPr>
            <a:xfrm>
              <a:off x="3168" y="2832"/>
              <a:ext cx="1488" cy="0"/>
            </a:xfrm>
            <a:prstGeom prst="line">
              <a:avLst/>
            </a:prstGeom>
            <a:ln w="12700" cap="flat" cmpd="sng">
              <a:solidFill>
                <a:schemeClr val="tx1"/>
              </a:solidFill>
              <a:prstDash val="dash"/>
              <a:headEnd type="none" w="med" len="med"/>
              <a:tailEnd type="none" w="med" len="med"/>
            </a:ln>
          </p:spPr>
        </p:sp>
        <p:sp>
          <p:nvSpPr>
            <p:cNvPr id="19481" name="Text Box 52"/>
            <p:cNvSpPr txBox="1"/>
            <p:nvPr/>
          </p:nvSpPr>
          <p:spPr>
            <a:xfrm>
              <a:off x="3168" y="2976"/>
              <a:ext cx="1488" cy="285"/>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dirty="0">
                  <a:latin typeface="黑体" panose="02010609060101010101" pitchFamily="49" charset="-122"/>
                  <a:ea typeface="黑体" panose="02010609060101010101" pitchFamily="49" charset="-122"/>
                </a:rPr>
                <a:t>  </a:t>
              </a:r>
              <a:r>
                <a:rPr lang="zh-CN" altLang="en-US" dirty="0">
                  <a:solidFill>
                    <a:schemeClr val="folHlink"/>
                  </a:solidFill>
                  <a:latin typeface="黑体" panose="02010609060101010101" pitchFamily="49" charset="-122"/>
                  <a:ea typeface="黑体" panose="02010609060101010101" pitchFamily="49" charset="-122"/>
                </a:rPr>
                <a:t>入口偏移</a:t>
              </a:r>
              <a:r>
                <a:rPr lang="en-US" altLang="zh-CN" dirty="0">
                  <a:solidFill>
                    <a:schemeClr val="folHlink"/>
                  </a:solidFill>
                  <a:latin typeface="黑体" panose="02010609060101010101" pitchFamily="49" charset="-122"/>
                  <a:ea typeface="黑体" panose="02010609060101010101" pitchFamily="49" charset="-122"/>
                </a:rPr>
                <a:t>1</a:t>
              </a:r>
            </a:p>
          </p:txBody>
        </p:sp>
        <p:sp>
          <p:nvSpPr>
            <p:cNvPr id="19482" name="Line 53"/>
            <p:cNvSpPr/>
            <p:nvPr/>
          </p:nvSpPr>
          <p:spPr>
            <a:xfrm>
              <a:off x="3168" y="3120"/>
              <a:ext cx="1488" cy="0"/>
            </a:xfrm>
            <a:prstGeom prst="line">
              <a:avLst/>
            </a:prstGeom>
            <a:ln w="12700" cap="flat" cmpd="sng">
              <a:solidFill>
                <a:schemeClr val="tx1"/>
              </a:solidFill>
              <a:prstDash val="dash"/>
              <a:headEnd type="none" w="med" len="med"/>
              <a:tailEnd type="none" w="med" len="med"/>
            </a:ln>
          </p:spPr>
        </p:sp>
        <p:sp>
          <p:nvSpPr>
            <p:cNvPr id="19483" name="AutoShape 54"/>
            <p:cNvSpPr/>
            <p:nvPr/>
          </p:nvSpPr>
          <p:spPr>
            <a:xfrm>
              <a:off x="4656" y="2448"/>
              <a:ext cx="96" cy="480"/>
            </a:xfrm>
            <a:prstGeom prst="rightBrace">
              <a:avLst>
                <a:gd name="adj1" fmla="val 41666"/>
                <a:gd name="adj2" fmla="val 50000"/>
              </a:avLst>
            </a:prstGeom>
            <a:noFill/>
            <a:ln w="28575" cap="flat" cmpd="sng">
              <a:solidFill>
                <a:schemeClr val="accent1"/>
              </a:solidFill>
              <a:prstDash val="solid"/>
              <a:headEnd type="none" w="med" len="med"/>
              <a:tailEnd type="none" w="med" len="med"/>
            </a:ln>
          </p:spPr>
          <p:txBody>
            <a:bodyPr wrap="none" anchor="ctr" anchorCtr="0"/>
            <a:lstStyle/>
            <a:p>
              <a:pPr algn="ctr" eaLnBrk="0" hangingPunct="0"/>
              <a:endParaRPr lang="zh-CN" altLang="zh-CN" b="0" dirty="0">
                <a:solidFill>
                  <a:schemeClr val="folHlink"/>
                </a:solidFill>
                <a:latin typeface="Times New Roman" panose="02020603050405020304" pitchFamily="18" charset="0"/>
              </a:endParaRPr>
            </a:p>
          </p:txBody>
        </p:sp>
        <p:sp>
          <p:nvSpPr>
            <p:cNvPr id="19484" name="AutoShape 55"/>
            <p:cNvSpPr/>
            <p:nvPr/>
          </p:nvSpPr>
          <p:spPr>
            <a:xfrm>
              <a:off x="4656" y="3024"/>
              <a:ext cx="96" cy="480"/>
            </a:xfrm>
            <a:prstGeom prst="rightBrace">
              <a:avLst>
                <a:gd name="adj1" fmla="val 41666"/>
                <a:gd name="adj2" fmla="val 50000"/>
              </a:avLst>
            </a:prstGeom>
            <a:noFill/>
            <a:ln w="28575" cap="flat" cmpd="sng">
              <a:solidFill>
                <a:schemeClr val="accent1"/>
              </a:solidFill>
              <a:prstDash val="solid"/>
              <a:headEnd type="none" w="med" len="med"/>
              <a:tailEnd type="none" w="med" len="med"/>
            </a:ln>
          </p:spPr>
          <p:txBody>
            <a:bodyPr wrap="none" anchor="ctr" anchorCtr="0"/>
            <a:lstStyle/>
            <a:p>
              <a:pPr eaLnBrk="0" hangingPunct="0"/>
              <a:endParaRPr lang="zh-CN" altLang="en-US" dirty="0">
                <a:latin typeface="Times New Roman" panose="02020603050405020304" pitchFamily="18" charset="0"/>
              </a:endParaRPr>
            </a:p>
          </p:txBody>
        </p:sp>
        <p:sp>
          <p:nvSpPr>
            <p:cNvPr id="19485" name="Text Box 56"/>
            <p:cNvSpPr txBox="1"/>
            <p:nvPr/>
          </p:nvSpPr>
          <p:spPr>
            <a:xfrm>
              <a:off x="3168" y="3264"/>
              <a:ext cx="1488" cy="285"/>
            </a:xfrm>
            <a:prstGeom prst="rect">
              <a:avLst/>
            </a:prstGeom>
            <a:no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dirty="0">
                  <a:latin typeface="黑体" panose="02010609060101010101" pitchFamily="49" charset="-122"/>
                  <a:ea typeface="黑体" panose="02010609060101010101" pitchFamily="49" charset="-122"/>
                </a:rPr>
                <a:t>  </a:t>
              </a:r>
              <a:r>
                <a:rPr lang="zh-CN" altLang="en-US" dirty="0">
                  <a:solidFill>
                    <a:schemeClr val="folHlink"/>
                  </a:solidFill>
                  <a:latin typeface="黑体" panose="02010609060101010101" pitchFamily="49" charset="-122"/>
                  <a:ea typeface="黑体" panose="02010609060101010101" pitchFamily="49" charset="-122"/>
                </a:rPr>
                <a:t>入口基址</a:t>
              </a:r>
              <a:r>
                <a:rPr lang="en-US" altLang="zh-CN" dirty="0">
                  <a:solidFill>
                    <a:schemeClr val="folHlink"/>
                  </a:solidFill>
                  <a:latin typeface="黑体" panose="02010609060101010101" pitchFamily="49" charset="-122"/>
                  <a:ea typeface="黑体" panose="02010609060101010101" pitchFamily="49" charset="-122"/>
                </a:rPr>
                <a:t>1</a:t>
              </a:r>
            </a:p>
          </p:txBody>
        </p:sp>
        <p:sp>
          <p:nvSpPr>
            <p:cNvPr id="19486" name="Line 57"/>
            <p:cNvSpPr/>
            <p:nvPr/>
          </p:nvSpPr>
          <p:spPr>
            <a:xfrm>
              <a:off x="3168" y="3408"/>
              <a:ext cx="1488" cy="0"/>
            </a:xfrm>
            <a:prstGeom prst="line">
              <a:avLst/>
            </a:prstGeom>
            <a:ln w="12700" cap="flat" cmpd="sng">
              <a:solidFill>
                <a:schemeClr val="tx1"/>
              </a:solidFill>
              <a:prstDash val="dash"/>
              <a:headEnd type="none" w="med" len="med"/>
              <a:tailEnd type="none" w="med" len="med"/>
            </a:ln>
          </p:spPr>
        </p:sp>
      </p:grpSp>
      <p:sp>
        <p:nvSpPr>
          <p:cNvPr id="16443" name="Text Box 59"/>
          <p:cNvSpPr txBox="1"/>
          <p:nvPr/>
        </p:nvSpPr>
        <p:spPr>
          <a:xfrm>
            <a:off x="68263" y="5516563"/>
            <a:ext cx="2590800" cy="579437"/>
          </a:xfrm>
          <a:prstGeom prst="rect">
            <a:avLst/>
          </a:prstGeom>
          <a:noFill/>
          <a:ln w="12700">
            <a:noFill/>
          </a:ln>
        </p:spPr>
        <p:txBody>
          <a:bodyPr>
            <a:spAutoFit/>
          </a:bodyPr>
          <a:lstStyle/>
          <a:p>
            <a:pPr>
              <a:spcBef>
                <a:spcPct val="50000"/>
              </a:spcBef>
            </a:pPr>
            <a:r>
              <a:rPr lang="zh-CN" altLang="en-US" sz="3200" dirty="0">
                <a:solidFill>
                  <a:schemeClr val="folHlink"/>
                </a:solidFill>
                <a:latin typeface="黑体" panose="02010609060101010101" pitchFamily="49" charset="-122"/>
                <a:ea typeface="黑体" panose="02010609060101010101" pitchFamily="49" charset="-122"/>
              </a:rPr>
              <a:t>向量地址</a:t>
            </a:r>
          </a:p>
        </p:txBody>
      </p:sp>
      <p:sp>
        <p:nvSpPr>
          <p:cNvPr id="16444" name="Text Box 60"/>
          <p:cNvSpPr txBox="1"/>
          <p:nvPr/>
        </p:nvSpPr>
        <p:spPr>
          <a:xfrm>
            <a:off x="1897063" y="5516563"/>
            <a:ext cx="2819400" cy="584200"/>
          </a:xfrm>
          <a:prstGeom prst="rect">
            <a:avLst/>
          </a:prstGeom>
          <a:noFill/>
          <a:ln w="12700">
            <a:noFill/>
          </a:ln>
        </p:spPr>
        <p:txBody>
          <a:bodyPr>
            <a:spAutoFit/>
          </a:bodyPr>
          <a:lstStyle/>
          <a:p>
            <a:pPr>
              <a:spcBef>
                <a:spcPct val="50000"/>
              </a:spcBef>
            </a:pPr>
            <a:r>
              <a:rPr lang="en-US" altLang="zh-CN" sz="3200" dirty="0">
                <a:solidFill>
                  <a:schemeClr val="accent1"/>
                </a:solidFill>
                <a:latin typeface="黑体" panose="02010609060101010101" pitchFamily="49" charset="-122"/>
                <a:ea typeface="黑体" panose="02010609060101010101" pitchFamily="49" charset="-122"/>
              </a:rPr>
              <a:t>=0#+</a:t>
            </a:r>
            <a:r>
              <a:rPr lang="zh-CN" altLang="en-US" sz="2800" dirty="0">
                <a:solidFill>
                  <a:schemeClr val="accent1"/>
                </a:solidFill>
                <a:latin typeface="黑体" panose="02010609060101010101" pitchFamily="49" charset="-122"/>
                <a:ea typeface="黑体" panose="02010609060101010101" pitchFamily="49" charset="-122"/>
              </a:rPr>
              <a:t>中断号</a:t>
            </a:r>
            <a:r>
              <a:rPr lang="en-US" altLang="zh-CN" sz="2800" dirty="0">
                <a:solidFill>
                  <a:schemeClr val="accent1"/>
                </a:solidFill>
                <a:latin typeface="黑体" panose="02010609060101010101" pitchFamily="49" charset="-122"/>
                <a:ea typeface="黑体" panose="02010609060101010101" pitchFamily="49" charset="-122"/>
              </a:rPr>
              <a:t>×4</a:t>
            </a:r>
          </a:p>
        </p:txBody>
      </p:sp>
      <p:sp>
        <p:nvSpPr>
          <p:cNvPr id="16452" name="Text Box 68"/>
          <p:cNvSpPr txBox="1"/>
          <p:nvPr/>
        </p:nvSpPr>
        <p:spPr>
          <a:xfrm>
            <a:off x="0" y="115888"/>
            <a:ext cx="4140200" cy="519112"/>
          </a:xfrm>
          <a:prstGeom prst="rect">
            <a:avLst/>
          </a:prstGeom>
          <a:noFill/>
          <a:ln w="9525">
            <a:noFill/>
          </a:ln>
        </p:spPr>
        <p:txBody>
          <a:bodyPr>
            <a:spAutoFit/>
          </a:bodyPr>
          <a:lstStyle/>
          <a:p>
            <a:pPr>
              <a:spcBef>
                <a:spcPct val="50000"/>
              </a:spcBef>
            </a:pPr>
            <a:r>
              <a:rPr lang="en-US" altLang="zh-CN" sz="2800" dirty="0">
                <a:solidFill>
                  <a:schemeClr val="accent1"/>
                </a:solidFill>
                <a:latin typeface="黑体" panose="02010609060101010101" pitchFamily="49" charset="-122"/>
                <a:ea typeface="黑体" panose="02010609060101010101" pitchFamily="49" charset="-122"/>
              </a:rPr>
              <a:t>【</a:t>
            </a:r>
            <a:r>
              <a:rPr lang="zh-CN" altLang="en-US" sz="2800" dirty="0">
                <a:solidFill>
                  <a:schemeClr val="accent1"/>
                </a:solidFill>
                <a:latin typeface="黑体" panose="02010609060101010101" pitchFamily="49" charset="-122"/>
                <a:ea typeface="黑体" panose="02010609060101010101" pitchFamily="49" charset="-122"/>
              </a:rPr>
              <a:t>例</a:t>
            </a:r>
            <a:r>
              <a:rPr lang="en-US" altLang="zh-CN" sz="2800" dirty="0">
                <a:solidFill>
                  <a:schemeClr val="accent1"/>
                </a:solidFill>
                <a:latin typeface="黑体" panose="02010609060101010101" pitchFamily="49" charset="-122"/>
                <a:ea typeface="黑体" panose="02010609060101010101" pitchFamily="49" charset="-122"/>
              </a:rPr>
              <a:t>1】</a:t>
            </a:r>
            <a:r>
              <a:rPr lang="zh-CN" altLang="en-US" sz="2800" dirty="0">
                <a:latin typeface="黑体" panose="02010609060101010101" pitchFamily="49" charset="-122"/>
                <a:ea typeface="黑体" panose="02010609060101010101" pitchFamily="49" charset="-122"/>
              </a:rPr>
              <a:t>模型机向量表</a:t>
            </a:r>
          </a:p>
        </p:txBody>
      </p:sp>
      <p:sp>
        <p:nvSpPr>
          <p:cNvPr id="16453" name="Text Box 69"/>
          <p:cNvSpPr txBox="1"/>
          <p:nvPr/>
        </p:nvSpPr>
        <p:spPr>
          <a:xfrm>
            <a:off x="117475" y="765175"/>
            <a:ext cx="4238625" cy="1282700"/>
          </a:xfrm>
          <a:prstGeom prst="rect">
            <a:avLst/>
          </a:prstGeom>
          <a:noFill/>
          <a:ln w="12700">
            <a:noFill/>
          </a:ln>
        </p:spPr>
        <p:txBody>
          <a:bodyPr>
            <a:spAutoFit/>
          </a:bodyPr>
          <a:lstStyle/>
          <a:p>
            <a:pPr>
              <a:spcBef>
                <a:spcPct val="50000"/>
              </a:spcBef>
            </a:pPr>
            <a:r>
              <a:rPr lang="zh-CN" altLang="en-US" sz="2600" dirty="0">
                <a:latin typeface="黑体" panose="02010609060101010101" pitchFamily="49" charset="-122"/>
                <a:ea typeface="黑体" panose="02010609060101010101" pitchFamily="49" charset="-122"/>
              </a:rPr>
              <a:t>（从主存</a:t>
            </a:r>
            <a:r>
              <a:rPr lang="en-US" altLang="zh-CN" sz="2600" dirty="0">
                <a:solidFill>
                  <a:schemeClr val="accent1"/>
                </a:solidFill>
                <a:latin typeface="黑体" panose="02010609060101010101" pitchFamily="49" charset="-122"/>
                <a:ea typeface="黑体" panose="02010609060101010101" pitchFamily="49" charset="-122"/>
              </a:rPr>
              <a:t>2#</a:t>
            </a:r>
            <a:r>
              <a:rPr lang="zh-CN" altLang="en-US" sz="2600" dirty="0">
                <a:latin typeface="黑体" panose="02010609060101010101" pitchFamily="49" charset="-122"/>
                <a:ea typeface="黑体" panose="02010609060101010101" pitchFamily="49" charset="-122"/>
              </a:rPr>
              <a:t>单元开始安排） </a:t>
            </a:r>
            <a:r>
              <a:rPr lang="en-US" altLang="zh-CN" sz="2600" dirty="0">
                <a:latin typeface="黑体" panose="02010609060101010101" pitchFamily="49" charset="-122"/>
                <a:ea typeface="黑体" panose="02010609060101010101" pitchFamily="49" charset="-122"/>
              </a:rPr>
              <a:t>M</a:t>
            </a:r>
            <a:r>
              <a:rPr lang="zh-CN" altLang="en-US" sz="2600" dirty="0">
                <a:latin typeface="黑体" panose="02010609060101010101" pitchFamily="49" charset="-122"/>
                <a:ea typeface="黑体" panose="02010609060101010101" pitchFamily="49" charset="-122"/>
              </a:rPr>
              <a:t>按字编址，一个入口地址</a:t>
            </a:r>
            <a:r>
              <a:rPr lang="en-US" altLang="zh-CN" sz="2600" dirty="0">
                <a:latin typeface="黑体" panose="02010609060101010101" pitchFamily="49" charset="-122"/>
                <a:ea typeface="黑体" panose="02010609060101010101" pitchFamily="49" charset="-122"/>
              </a:rPr>
              <a:t>16</a:t>
            </a:r>
            <a:r>
              <a:rPr lang="zh-CN" altLang="en-US" sz="2600" dirty="0">
                <a:latin typeface="黑体" panose="02010609060101010101" pitchFamily="49" charset="-122"/>
                <a:ea typeface="黑体" panose="02010609060101010101" pitchFamily="49" charset="-122"/>
              </a:rPr>
              <a:t>位，占一个编址单元。</a:t>
            </a:r>
          </a:p>
        </p:txBody>
      </p:sp>
    </p:spTree>
  </p:cSld>
  <p:clrMapOvr>
    <a:masterClrMapping/>
  </p:clrMapOvr>
  <p:transition>
    <p:cover dir="l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ext Box 3"/>
          <p:cNvSpPr txBox="1"/>
          <p:nvPr/>
        </p:nvSpPr>
        <p:spPr>
          <a:xfrm>
            <a:off x="3786188" y="214313"/>
            <a:ext cx="3203575" cy="523875"/>
          </a:xfrm>
          <a:prstGeom prst="rect">
            <a:avLst/>
          </a:prstGeom>
          <a:noFill/>
          <a:ln w="12700">
            <a:noFill/>
          </a:ln>
        </p:spPr>
        <p:txBody>
          <a:bodyPr>
            <a:spAutoFit/>
          </a:bodyPr>
          <a:lstStyle/>
          <a:p>
            <a:pPr>
              <a:spcBef>
                <a:spcPct val="50000"/>
              </a:spcBef>
            </a:pPr>
            <a:r>
              <a:rPr lang="zh-CN" altLang="en-US" sz="2800" dirty="0">
                <a:solidFill>
                  <a:schemeClr val="accent1"/>
                </a:solidFill>
                <a:latin typeface="黑体" panose="02010609060101010101" pitchFamily="49" charset="-122"/>
                <a:ea typeface="黑体" panose="02010609060101010101" pitchFamily="49" charset="-122"/>
              </a:rPr>
              <a:t>（向量中断方式）</a:t>
            </a:r>
          </a:p>
        </p:txBody>
      </p:sp>
      <p:sp>
        <p:nvSpPr>
          <p:cNvPr id="17413" name="Text Box 5"/>
          <p:cNvSpPr txBox="1"/>
          <p:nvPr/>
        </p:nvSpPr>
        <p:spPr>
          <a:xfrm>
            <a:off x="361950" y="188913"/>
            <a:ext cx="4495800" cy="583565"/>
          </a:xfrm>
          <a:prstGeom prst="rect">
            <a:avLst/>
          </a:prstGeom>
          <a:noFill/>
          <a:ln w="12700">
            <a:noFill/>
          </a:ln>
        </p:spPr>
        <p:txBody>
          <a:bodyPr>
            <a:spAutoFit/>
          </a:bodyPr>
          <a:lstStyle/>
          <a:p>
            <a:pPr>
              <a:spcBef>
                <a:spcPct val="50000"/>
              </a:spcBef>
            </a:pPr>
            <a:r>
              <a:rPr lang="zh-CN" altLang="en-US" sz="3200" dirty="0">
                <a:solidFill>
                  <a:schemeClr val="folHlink"/>
                </a:solidFill>
                <a:latin typeface="黑体" panose="02010609060101010101" pitchFamily="49" charset="-122"/>
                <a:ea typeface="黑体" panose="02010609060101010101" pitchFamily="49" charset="-122"/>
              </a:rPr>
              <a:t>中断的响应过程</a:t>
            </a:r>
          </a:p>
        </p:txBody>
      </p:sp>
      <p:sp>
        <p:nvSpPr>
          <p:cNvPr id="17412" name="Text Box 4"/>
          <p:cNvSpPr txBox="1"/>
          <p:nvPr/>
        </p:nvSpPr>
        <p:spPr>
          <a:xfrm>
            <a:off x="2857500" y="1828800"/>
            <a:ext cx="3498850" cy="461963"/>
          </a:xfrm>
          <a:prstGeom prst="rect">
            <a:avLst/>
          </a:prstGeom>
          <a:noFill/>
          <a:ln w="28575" cap="sq" cmpd="sng">
            <a:solidFill>
              <a:schemeClr val="folHlink"/>
            </a:solidFill>
            <a:prstDash val="solid"/>
            <a:miter/>
            <a:headEnd type="none" w="sm" len="sm"/>
            <a:tailEnd type="none" w="sm" len="sm"/>
          </a:ln>
        </p:spPr>
        <p:txBody>
          <a:bodyPr>
            <a:spAutoFit/>
          </a:bodyPr>
          <a:lstStyle/>
          <a:p>
            <a:pPr algn="ctr">
              <a:spcBef>
                <a:spcPct val="50000"/>
              </a:spcBef>
            </a:pPr>
            <a:r>
              <a:rPr lang="en-US" altLang="zh-CN" dirty="0">
                <a:solidFill>
                  <a:schemeClr val="accent1"/>
                </a:solidFill>
                <a:latin typeface="黑体" panose="02010609060101010101" pitchFamily="49" charset="-122"/>
                <a:ea typeface="黑体" panose="02010609060101010101" pitchFamily="49" charset="-122"/>
              </a:rPr>
              <a:t>CPU</a:t>
            </a:r>
            <a:r>
              <a:rPr lang="zh-CN" altLang="en-US" dirty="0">
                <a:latin typeface="黑体" panose="02010609060101010101" pitchFamily="49" charset="-122"/>
                <a:ea typeface="黑体" panose="02010609060101010101" pitchFamily="49" charset="-122"/>
              </a:rPr>
              <a:t>发</a:t>
            </a:r>
            <a:r>
              <a:rPr lang="en-US" altLang="zh-CN" dirty="0">
                <a:latin typeface="黑体" panose="02010609060101010101" pitchFamily="49" charset="-122"/>
                <a:ea typeface="黑体" panose="02010609060101010101" pitchFamily="49" charset="-122"/>
              </a:rPr>
              <a:t>INTA</a:t>
            </a:r>
            <a:r>
              <a:rPr lang="zh-CN" altLang="en-US" dirty="0">
                <a:latin typeface="黑体" panose="02010609060101010101" pitchFamily="49" charset="-122"/>
                <a:ea typeface="黑体" panose="02010609060101010101" pitchFamily="49" charset="-122"/>
              </a:rPr>
              <a:t>信号，进入</a:t>
            </a:r>
            <a:r>
              <a:rPr lang="en-US" altLang="zh-CN" dirty="0">
                <a:latin typeface="黑体" panose="02010609060101010101" pitchFamily="49" charset="-122"/>
                <a:ea typeface="黑体" panose="02010609060101010101" pitchFamily="49" charset="-122"/>
              </a:rPr>
              <a:t>IT</a:t>
            </a:r>
          </a:p>
        </p:txBody>
      </p:sp>
      <p:sp>
        <p:nvSpPr>
          <p:cNvPr id="17434" name="Text Box 26"/>
          <p:cNvSpPr txBox="1"/>
          <p:nvPr/>
        </p:nvSpPr>
        <p:spPr>
          <a:xfrm>
            <a:off x="2857500" y="2827338"/>
            <a:ext cx="3527425" cy="461962"/>
          </a:xfrm>
          <a:prstGeom prst="rect">
            <a:avLst/>
          </a:prstGeom>
          <a:noFill/>
          <a:ln w="28575" cap="sq" cmpd="sng">
            <a:solidFill>
              <a:schemeClr val="folHlink"/>
            </a:solidFill>
            <a:prstDash val="solid"/>
            <a:miter/>
            <a:headEnd type="none" w="sm" len="sm"/>
            <a:tailEnd type="none" w="sm" len="sm"/>
          </a:ln>
        </p:spPr>
        <p:txBody>
          <a:bodyPr>
            <a:spAutoFit/>
          </a:bodyPr>
          <a:lstStyle/>
          <a:p>
            <a:pPr algn="ctr">
              <a:spcBef>
                <a:spcPct val="50000"/>
              </a:spcBef>
            </a:pPr>
            <a:r>
              <a:rPr lang="zh-CN" altLang="en-US" dirty="0">
                <a:latin typeface="黑体" panose="02010609060101010101" pitchFamily="49" charset="-122"/>
                <a:ea typeface="黑体" panose="02010609060101010101" pitchFamily="49" charset="-122"/>
              </a:rPr>
              <a:t>关中断、保存断点和</a:t>
            </a:r>
            <a:r>
              <a:rPr lang="en-US" altLang="zh-CN" dirty="0">
                <a:latin typeface="黑体" panose="02010609060101010101" pitchFamily="49" charset="-122"/>
                <a:ea typeface="黑体" panose="02010609060101010101" pitchFamily="49" charset="-122"/>
              </a:rPr>
              <a:t>PSW</a:t>
            </a:r>
          </a:p>
        </p:txBody>
      </p:sp>
      <p:sp>
        <p:nvSpPr>
          <p:cNvPr id="17435" name="Line 27"/>
          <p:cNvSpPr/>
          <p:nvPr/>
        </p:nvSpPr>
        <p:spPr>
          <a:xfrm>
            <a:off x="4619625" y="2344738"/>
            <a:ext cx="4763" cy="468312"/>
          </a:xfrm>
          <a:prstGeom prst="line">
            <a:avLst/>
          </a:prstGeom>
          <a:ln w="38100" cap="flat" cmpd="sng">
            <a:solidFill>
              <a:schemeClr val="folHlink"/>
            </a:solidFill>
            <a:prstDash val="solid"/>
            <a:headEnd type="none" w="med" len="med"/>
            <a:tailEnd type="stealth" w="lg" len="lg"/>
          </a:ln>
        </p:spPr>
      </p:sp>
      <p:sp>
        <p:nvSpPr>
          <p:cNvPr id="17436" name="Line 28"/>
          <p:cNvSpPr/>
          <p:nvPr/>
        </p:nvSpPr>
        <p:spPr>
          <a:xfrm>
            <a:off x="4629150" y="3306763"/>
            <a:ext cx="0" cy="385762"/>
          </a:xfrm>
          <a:prstGeom prst="line">
            <a:avLst/>
          </a:prstGeom>
          <a:ln w="38100" cap="flat" cmpd="sng">
            <a:solidFill>
              <a:schemeClr val="folHlink"/>
            </a:solidFill>
            <a:prstDash val="solid"/>
            <a:headEnd type="none" w="med" len="med"/>
            <a:tailEnd type="arrow" w="med" len="med"/>
          </a:ln>
        </p:spPr>
      </p:sp>
      <p:sp>
        <p:nvSpPr>
          <p:cNvPr id="17437" name="Text Box 29"/>
          <p:cNvSpPr txBox="1"/>
          <p:nvPr/>
        </p:nvSpPr>
        <p:spPr>
          <a:xfrm>
            <a:off x="2871788" y="3695700"/>
            <a:ext cx="3513137" cy="850900"/>
          </a:xfrm>
          <a:prstGeom prst="rect">
            <a:avLst/>
          </a:prstGeom>
          <a:noFill/>
          <a:ln w="28575" cap="sq" cmpd="sng">
            <a:solidFill>
              <a:schemeClr val="folHlink"/>
            </a:solidFill>
            <a:prstDash val="solid"/>
            <a:miter/>
            <a:headEnd type="none" w="sm" len="sm"/>
            <a:tailEnd type="none" w="sm" len="sm"/>
          </a:ln>
        </p:spPr>
        <p:txBody>
          <a:bodyPr>
            <a:spAutoFit/>
          </a:bodyPr>
          <a:lstStyle/>
          <a:p>
            <a:pPr algn="ctr">
              <a:spcBef>
                <a:spcPct val="50000"/>
              </a:spcBef>
            </a:pPr>
            <a:r>
              <a:rPr lang="zh-CN" altLang="en-US" dirty="0">
                <a:latin typeface="黑体" panose="02010609060101010101" pitchFamily="49" charset="-122"/>
                <a:ea typeface="黑体" panose="02010609060101010101" pitchFamily="49" charset="-122"/>
              </a:rPr>
              <a:t>取中断号，转换为向量地址，访问中断向量表</a:t>
            </a:r>
          </a:p>
        </p:txBody>
      </p:sp>
      <p:sp>
        <p:nvSpPr>
          <p:cNvPr id="17439" name="Line 31"/>
          <p:cNvSpPr/>
          <p:nvPr/>
        </p:nvSpPr>
        <p:spPr>
          <a:xfrm>
            <a:off x="4629150" y="4556125"/>
            <a:ext cx="0" cy="431800"/>
          </a:xfrm>
          <a:prstGeom prst="line">
            <a:avLst/>
          </a:prstGeom>
          <a:ln w="38100" cap="flat" cmpd="sng">
            <a:solidFill>
              <a:schemeClr val="folHlink"/>
            </a:solidFill>
            <a:prstDash val="solid"/>
            <a:headEnd type="none" w="med" len="med"/>
            <a:tailEnd type="arrow" w="med" len="med"/>
          </a:ln>
        </p:spPr>
      </p:sp>
      <p:sp>
        <p:nvSpPr>
          <p:cNvPr id="17440" name="Text Box 32"/>
          <p:cNvSpPr txBox="1"/>
          <p:nvPr/>
        </p:nvSpPr>
        <p:spPr>
          <a:xfrm>
            <a:off x="2855913" y="5006975"/>
            <a:ext cx="3500437" cy="850900"/>
          </a:xfrm>
          <a:prstGeom prst="rect">
            <a:avLst/>
          </a:prstGeom>
          <a:noFill/>
          <a:ln w="28575" cap="sq" cmpd="sng">
            <a:solidFill>
              <a:schemeClr val="folHlink"/>
            </a:solidFill>
            <a:prstDash val="solid"/>
            <a:miter/>
            <a:headEnd type="none" w="sm" len="sm"/>
            <a:tailEnd type="none" w="sm" len="sm"/>
          </a:ln>
        </p:spPr>
        <p:txBody>
          <a:bodyPr>
            <a:spAutoFit/>
          </a:bodyPr>
          <a:lstStyle/>
          <a:p>
            <a:pPr algn="ctr">
              <a:spcBef>
                <a:spcPct val="50000"/>
              </a:spcBef>
            </a:pPr>
            <a:r>
              <a:rPr lang="zh-CN" altLang="en-US" dirty="0">
                <a:latin typeface="黑体" panose="02010609060101010101" pitchFamily="49" charset="-122"/>
                <a:ea typeface="黑体" panose="02010609060101010101" pitchFamily="49" charset="-122"/>
              </a:rPr>
              <a:t>读取中断向量后，准备执行中断服务程序</a:t>
            </a:r>
          </a:p>
        </p:txBody>
      </p:sp>
      <p:sp>
        <p:nvSpPr>
          <p:cNvPr id="17441" name="AutoShape 33"/>
          <p:cNvSpPr/>
          <p:nvPr/>
        </p:nvSpPr>
        <p:spPr>
          <a:xfrm flipH="1" flipV="1">
            <a:off x="6699250" y="2109788"/>
            <a:ext cx="288925" cy="3600450"/>
          </a:xfrm>
          <a:prstGeom prst="leftBrace">
            <a:avLst>
              <a:gd name="adj1" fmla="val 103846"/>
              <a:gd name="adj2" fmla="val 50000"/>
            </a:avLst>
          </a:prstGeom>
          <a:noFill/>
          <a:ln w="38100" cap="flat" cmpd="sng">
            <a:solidFill>
              <a:schemeClr val="accent1"/>
            </a:solidFill>
            <a:prstDash val="solid"/>
            <a:headEnd type="none" w="med" len="med"/>
            <a:tailEnd type="none" w="med" len="med"/>
          </a:ln>
        </p:spPr>
        <p:txBody>
          <a:bodyPr wrap="none" anchor="ctr" anchorCtr="0"/>
          <a:lstStyle/>
          <a:p>
            <a:pPr eaLnBrk="0" hangingPunct="0"/>
            <a:endParaRPr lang="zh-CN" altLang="en-US" dirty="0">
              <a:latin typeface="Times New Roman" panose="02020603050405020304" pitchFamily="18" charset="0"/>
            </a:endParaRPr>
          </a:p>
        </p:txBody>
      </p:sp>
      <p:sp>
        <p:nvSpPr>
          <p:cNvPr id="17442" name="Text Box 34"/>
          <p:cNvSpPr txBox="1"/>
          <p:nvPr/>
        </p:nvSpPr>
        <p:spPr>
          <a:xfrm>
            <a:off x="328613" y="1690688"/>
            <a:ext cx="2600325" cy="521970"/>
          </a:xfrm>
          <a:prstGeom prst="rect">
            <a:avLst/>
          </a:prstGeom>
          <a:noFill/>
          <a:ln w="9525">
            <a:noFill/>
          </a:ln>
        </p:spPr>
        <p:txBody>
          <a:bodyPr>
            <a:spAutoFit/>
          </a:bodyPr>
          <a:lstStyle/>
          <a:p>
            <a:pPr>
              <a:spcBef>
                <a:spcPct val="50000"/>
              </a:spcBef>
            </a:pPr>
            <a:r>
              <a:rPr lang="zh-CN" altLang="en-US" sz="2800" dirty="0">
                <a:solidFill>
                  <a:schemeClr val="folHlink"/>
                </a:solidFill>
                <a:latin typeface="黑体" panose="02010609060101010101" pitchFamily="49" charset="-122"/>
                <a:ea typeface="黑体" panose="02010609060101010101" pitchFamily="49" charset="-122"/>
              </a:rPr>
              <a:t>中断隐指令</a:t>
            </a:r>
          </a:p>
        </p:txBody>
      </p:sp>
      <p:sp>
        <p:nvSpPr>
          <p:cNvPr id="17454" name="Text Box 46"/>
          <p:cNvSpPr txBox="1"/>
          <p:nvPr/>
        </p:nvSpPr>
        <p:spPr>
          <a:xfrm>
            <a:off x="6985000" y="3324225"/>
            <a:ext cx="1944688" cy="1116013"/>
          </a:xfrm>
          <a:prstGeom prst="rect">
            <a:avLst/>
          </a:prstGeom>
          <a:noFill/>
          <a:ln w="9525">
            <a:noFill/>
          </a:ln>
        </p:spPr>
        <p:txBody>
          <a:bodyPr>
            <a:spAutoFit/>
          </a:bodyPr>
          <a:lstStyle/>
          <a:p>
            <a:pPr algn="ctr">
              <a:spcBef>
                <a:spcPct val="10000"/>
              </a:spcBef>
            </a:pPr>
            <a:r>
              <a:rPr lang="zh-CN" altLang="en-US" sz="3200" dirty="0">
                <a:solidFill>
                  <a:schemeClr val="folHlink"/>
                </a:solidFill>
                <a:latin typeface="黑体" panose="02010609060101010101" pitchFamily="49" charset="-122"/>
                <a:ea typeface="黑体" panose="02010609060101010101" pitchFamily="49" charset="-122"/>
              </a:rPr>
              <a:t>硬件</a:t>
            </a:r>
          </a:p>
          <a:p>
            <a:pPr algn="ctr">
              <a:spcBef>
                <a:spcPct val="10000"/>
              </a:spcBef>
            </a:pPr>
            <a:r>
              <a:rPr lang="zh-CN" altLang="en-US" sz="3200" dirty="0">
                <a:solidFill>
                  <a:schemeClr val="folHlink"/>
                </a:solidFill>
                <a:latin typeface="黑体" panose="02010609060101010101" pitchFamily="49" charset="-122"/>
                <a:ea typeface="黑体" panose="02010609060101010101" pitchFamily="49" charset="-122"/>
              </a:rPr>
              <a:t>自动完成</a:t>
            </a:r>
          </a:p>
        </p:txBody>
      </p:sp>
      <p:sp>
        <p:nvSpPr>
          <p:cNvPr id="15" name="Text Box 5"/>
          <p:cNvSpPr txBox="1"/>
          <p:nvPr/>
        </p:nvSpPr>
        <p:spPr>
          <a:xfrm>
            <a:off x="357188" y="928688"/>
            <a:ext cx="3357562" cy="523875"/>
          </a:xfrm>
          <a:prstGeom prst="rect">
            <a:avLst/>
          </a:prstGeom>
          <a:noFill/>
          <a:ln w="12700">
            <a:noFill/>
          </a:ln>
        </p:spPr>
        <p:txBody>
          <a:bodyPr>
            <a:spAutoFit/>
          </a:bodyPr>
          <a:lstStyle/>
          <a:p>
            <a:pPr>
              <a:spcBef>
                <a:spcPct val="50000"/>
              </a:spcBef>
            </a:pPr>
            <a:r>
              <a:rPr lang="zh-CN" altLang="en-US" sz="2800" dirty="0">
                <a:solidFill>
                  <a:srgbClr val="00FF00"/>
                </a:solidFill>
                <a:latin typeface="黑体" panose="02010609060101010101" pitchFamily="49" charset="-122"/>
                <a:ea typeface="黑体" panose="02010609060101010101" pitchFamily="49" charset="-122"/>
              </a:rPr>
              <a:t>执行中断隐指令</a:t>
            </a:r>
          </a:p>
        </p:txBody>
      </p:sp>
      <p:cxnSp>
        <p:nvCxnSpPr>
          <p:cNvPr id="17" name="直接箭头连接符 16"/>
          <p:cNvCxnSpPr/>
          <p:nvPr/>
        </p:nvCxnSpPr>
        <p:spPr>
          <a:xfrm>
            <a:off x="3214688" y="1212850"/>
            <a:ext cx="642937" cy="1588"/>
          </a:xfrm>
          <a:prstGeom prst="straightConnector1">
            <a:avLst/>
          </a:prstGeom>
          <a:ln w="28575" cap="flat" cmpd="sng">
            <a:solidFill>
              <a:schemeClr val="accent1"/>
            </a:solidFill>
            <a:prstDash val="solid"/>
            <a:headEnd type="none" w="med" len="med"/>
            <a:tailEnd type="arrow" w="med" len="med"/>
          </a:ln>
        </p:spPr>
      </p:cxnSp>
      <p:sp>
        <p:nvSpPr>
          <p:cNvPr id="18" name="Text Box 5"/>
          <p:cNvSpPr txBox="1"/>
          <p:nvPr/>
        </p:nvSpPr>
        <p:spPr>
          <a:xfrm>
            <a:off x="4000500" y="928688"/>
            <a:ext cx="2714625" cy="523875"/>
          </a:xfrm>
          <a:prstGeom prst="rect">
            <a:avLst/>
          </a:prstGeom>
          <a:noFill/>
          <a:ln w="12700">
            <a:noFill/>
          </a:ln>
        </p:spPr>
        <p:txBody>
          <a:bodyPr>
            <a:spAutoFit/>
          </a:bodyPr>
          <a:lstStyle/>
          <a:p>
            <a:pPr>
              <a:spcBef>
                <a:spcPct val="50000"/>
              </a:spcBef>
            </a:pPr>
            <a:r>
              <a:rPr lang="zh-CN" altLang="en-US" sz="2800" dirty="0">
                <a:solidFill>
                  <a:srgbClr val="00FF00"/>
                </a:solidFill>
                <a:latin typeface="黑体" panose="02010609060101010101" pitchFamily="49" charset="-122"/>
                <a:ea typeface="黑体" panose="02010609060101010101" pitchFamily="49" charset="-122"/>
              </a:rPr>
              <a:t>中断服务程序</a:t>
            </a:r>
          </a:p>
        </p:txBody>
      </p:sp>
    </p:spTree>
  </p:cSld>
  <p:clrMapOvr>
    <a:masterClrMapping/>
  </p:clrMapOvr>
  <p:transition>
    <p:cover dir="l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7" name="Text Box 7"/>
          <p:cNvSpPr txBox="1"/>
          <p:nvPr/>
        </p:nvSpPr>
        <p:spPr>
          <a:xfrm>
            <a:off x="0" y="1412875"/>
            <a:ext cx="8786813" cy="1117600"/>
          </a:xfrm>
          <a:prstGeom prst="rect">
            <a:avLst/>
          </a:prstGeom>
          <a:noFill/>
          <a:ln w="12700">
            <a:noFill/>
          </a:ln>
        </p:spPr>
        <p:txBody>
          <a:bodyPr>
            <a:spAutoFit/>
          </a:bodyPr>
          <a:lstStyle/>
          <a:p>
            <a:pPr>
              <a:lnSpc>
                <a:spcPct val="120000"/>
              </a:lnSpc>
              <a:spcBef>
                <a:spcPct val="50000"/>
              </a:spcBef>
            </a:pPr>
            <a:r>
              <a:rPr lang="en-US" altLang="zh-CN" sz="2800" dirty="0">
                <a:latin typeface="黑体" panose="02010609060101010101" pitchFamily="49" charset="-122"/>
                <a:ea typeface="黑体" panose="02010609060101010101" pitchFamily="49" charset="-122"/>
              </a:rPr>
              <a:t>               CPU</a:t>
            </a:r>
            <a:r>
              <a:rPr lang="zh-CN" altLang="en-US" sz="2800" dirty="0">
                <a:latin typeface="黑体" panose="02010609060101010101" pitchFamily="49" charset="-122"/>
                <a:ea typeface="黑体" panose="02010609060101010101" pitchFamily="49" charset="-122"/>
              </a:rPr>
              <a:t>响应后只处理一个中断源的请求，处理完毕后才能响应新的中断请求。</a:t>
            </a:r>
          </a:p>
        </p:txBody>
      </p:sp>
      <p:sp>
        <p:nvSpPr>
          <p:cNvPr id="35849" name="Text Box 9"/>
          <p:cNvSpPr txBox="1"/>
          <p:nvPr/>
        </p:nvSpPr>
        <p:spPr>
          <a:xfrm>
            <a:off x="0" y="2455863"/>
            <a:ext cx="8429625" cy="1117600"/>
          </a:xfrm>
          <a:prstGeom prst="rect">
            <a:avLst/>
          </a:prstGeom>
          <a:noFill/>
          <a:ln w="12700">
            <a:noFill/>
          </a:ln>
        </p:spPr>
        <p:txBody>
          <a:bodyPr>
            <a:spAutoFit/>
          </a:bodyPr>
          <a:lstStyle/>
          <a:p>
            <a:pPr algn="just">
              <a:lnSpc>
                <a:spcPct val="120000"/>
              </a:lnSpc>
              <a:spcBef>
                <a:spcPct val="50000"/>
              </a:spcBef>
            </a:pPr>
            <a:r>
              <a:rPr lang="en-US" altLang="zh-CN" sz="2800" dirty="0">
                <a:latin typeface="黑体" panose="02010609060101010101" pitchFamily="49" charset="-122"/>
                <a:ea typeface="黑体" panose="02010609060101010101" pitchFamily="49" charset="-122"/>
              </a:rPr>
              <a:t>               </a:t>
            </a:r>
            <a:r>
              <a:rPr lang="zh-CN" altLang="en-US" sz="2800" dirty="0">
                <a:latin typeface="黑体" panose="02010609060101010101" pitchFamily="49" charset="-122"/>
                <a:ea typeface="黑体" panose="02010609060101010101" pitchFamily="49" charset="-122"/>
              </a:rPr>
              <a:t>在某次中断服务过程中，允许响应处理更高优先级的中断请求。</a:t>
            </a:r>
          </a:p>
        </p:txBody>
      </p:sp>
      <p:sp>
        <p:nvSpPr>
          <p:cNvPr id="35844" name="Text Box 4"/>
          <p:cNvSpPr txBox="1"/>
          <p:nvPr/>
        </p:nvSpPr>
        <p:spPr>
          <a:xfrm>
            <a:off x="207963" y="115888"/>
            <a:ext cx="4724400" cy="583565"/>
          </a:xfrm>
          <a:prstGeom prst="rect">
            <a:avLst/>
          </a:prstGeom>
          <a:noFill/>
          <a:ln w="12700">
            <a:noFill/>
          </a:ln>
        </p:spPr>
        <p:txBody>
          <a:bodyPr>
            <a:spAutoFit/>
          </a:bodyPr>
          <a:lstStyle/>
          <a:p>
            <a:pPr>
              <a:spcBef>
                <a:spcPct val="50000"/>
              </a:spcBef>
            </a:pPr>
            <a:r>
              <a:rPr lang="zh-CN" altLang="en-US" sz="3200" dirty="0">
                <a:solidFill>
                  <a:srgbClr val="FFFF00"/>
                </a:solidFill>
                <a:latin typeface="黑体" panose="02010609060101010101" pitchFamily="49" charset="-122"/>
                <a:ea typeface="黑体" panose="02010609060101010101" pitchFamily="49" charset="-122"/>
              </a:rPr>
              <a:t>中断处理过程</a:t>
            </a:r>
          </a:p>
        </p:txBody>
      </p:sp>
      <p:sp>
        <p:nvSpPr>
          <p:cNvPr id="35845" name="Text Box 5"/>
          <p:cNvSpPr txBox="1"/>
          <p:nvPr/>
        </p:nvSpPr>
        <p:spPr>
          <a:xfrm>
            <a:off x="179388" y="785813"/>
            <a:ext cx="6019800" cy="519112"/>
          </a:xfrm>
          <a:prstGeom prst="rect">
            <a:avLst/>
          </a:prstGeom>
          <a:noFill/>
          <a:ln w="9525">
            <a:noFill/>
          </a:ln>
        </p:spPr>
        <p:txBody>
          <a:bodyPr>
            <a:spAutoFit/>
          </a:bodyPr>
          <a:lstStyle/>
          <a:p>
            <a:pPr>
              <a:spcBef>
                <a:spcPct val="50000"/>
              </a:spcBef>
            </a:pPr>
            <a:r>
              <a:rPr lang="zh-CN" altLang="en-US" sz="2800" dirty="0">
                <a:solidFill>
                  <a:schemeClr val="folHlink"/>
                </a:solidFill>
                <a:latin typeface="黑体" panose="02010609060101010101" pitchFamily="49" charset="-122"/>
                <a:ea typeface="黑体" panose="02010609060101010101" pitchFamily="49" charset="-122"/>
              </a:rPr>
              <a:t>主要任务：</a:t>
            </a:r>
            <a:r>
              <a:rPr lang="en-US" altLang="zh-CN" sz="2800" dirty="0">
                <a:solidFill>
                  <a:schemeClr val="accent1"/>
                </a:solidFill>
                <a:latin typeface="黑体" panose="02010609060101010101" pitchFamily="49" charset="-122"/>
                <a:ea typeface="黑体" panose="02010609060101010101" pitchFamily="49" charset="-122"/>
              </a:rPr>
              <a:t>CPU</a:t>
            </a:r>
            <a:r>
              <a:rPr lang="zh-CN" altLang="en-US" sz="2800" dirty="0">
                <a:solidFill>
                  <a:schemeClr val="accent1"/>
                </a:solidFill>
                <a:latin typeface="黑体" panose="02010609060101010101" pitchFamily="49" charset="-122"/>
                <a:ea typeface="黑体" panose="02010609060101010101" pitchFamily="49" charset="-122"/>
              </a:rPr>
              <a:t>执行中断服务程序。</a:t>
            </a:r>
          </a:p>
        </p:txBody>
      </p:sp>
      <p:sp>
        <p:nvSpPr>
          <p:cNvPr id="35846" name="Text Box 6"/>
          <p:cNvSpPr txBox="1"/>
          <p:nvPr/>
        </p:nvSpPr>
        <p:spPr>
          <a:xfrm>
            <a:off x="0" y="1450975"/>
            <a:ext cx="4495800" cy="519113"/>
          </a:xfrm>
          <a:prstGeom prst="rect">
            <a:avLst/>
          </a:prstGeom>
          <a:noFill/>
          <a:ln w="12700">
            <a:noFill/>
          </a:ln>
        </p:spPr>
        <p:txBody>
          <a:bodyPr>
            <a:spAutoFit/>
          </a:bodyPr>
          <a:lstStyle/>
          <a:p>
            <a:pPr>
              <a:spcBef>
                <a:spcPct val="50000"/>
              </a:spcBef>
            </a:pPr>
            <a:r>
              <a:rPr lang="zh-CN" altLang="en-US" sz="2800" dirty="0">
                <a:solidFill>
                  <a:srgbClr val="FFFF00"/>
                </a:solidFill>
                <a:latin typeface="黑体" panose="02010609060101010101" pitchFamily="49" charset="-122"/>
                <a:ea typeface="黑体" panose="02010609060101010101" pitchFamily="49" charset="-122"/>
              </a:rPr>
              <a:t>（</a:t>
            </a:r>
            <a:r>
              <a:rPr lang="en-US" altLang="zh-CN" sz="2800" dirty="0">
                <a:solidFill>
                  <a:srgbClr val="FFFF00"/>
                </a:solidFill>
                <a:latin typeface="黑体" panose="02010609060101010101" pitchFamily="49" charset="-122"/>
                <a:ea typeface="黑体" panose="02010609060101010101" pitchFamily="49" charset="-122"/>
              </a:rPr>
              <a:t>1</a:t>
            </a:r>
            <a:r>
              <a:rPr lang="zh-CN" altLang="en-US" sz="2800" dirty="0">
                <a:solidFill>
                  <a:srgbClr val="FFFF00"/>
                </a:solidFill>
                <a:latin typeface="黑体" panose="02010609060101010101" pitchFamily="49" charset="-122"/>
                <a:ea typeface="黑体" panose="02010609060101010101" pitchFamily="49" charset="-122"/>
              </a:rPr>
              <a:t>）单级中断：</a:t>
            </a:r>
          </a:p>
        </p:txBody>
      </p:sp>
      <p:sp>
        <p:nvSpPr>
          <p:cNvPr id="35848" name="Text Box 8"/>
          <p:cNvSpPr txBox="1"/>
          <p:nvPr/>
        </p:nvSpPr>
        <p:spPr>
          <a:xfrm>
            <a:off x="0" y="2493963"/>
            <a:ext cx="4495800" cy="519112"/>
          </a:xfrm>
          <a:prstGeom prst="rect">
            <a:avLst/>
          </a:prstGeom>
          <a:noFill/>
          <a:ln w="12700">
            <a:noFill/>
          </a:ln>
        </p:spPr>
        <p:txBody>
          <a:bodyPr>
            <a:spAutoFit/>
          </a:bodyPr>
          <a:lstStyle/>
          <a:p>
            <a:pPr>
              <a:spcBef>
                <a:spcPct val="50000"/>
              </a:spcBef>
            </a:pPr>
            <a:r>
              <a:rPr lang="zh-CN" altLang="en-US" sz="2800" dirty="0">
                <a:solidFill>
                  <a:srgbClr val="FFFF00"/>
                </a:solidFill>
                <a:latin typeface="黑体" panose="02010609060101010101" pitchFamily="49" charset="-122"/>
                <a:ea typeface="黑体" panose="02010609060101010101" pitchFamily="49" charset="-122"/>
              </a:rPr>
              <a:t>（</a:t>
            </a:r>
            <a:r>
              <a:rPr lang="en-US" altLang="zh-CN" sz="2800" dirty="0">
                <a:solidFill>
                  <a:srgbClr val="FFFF00"/>
                </a:solidFill>
                <a:latin typeface="黑体" panose="02010609060101010101" pitchFamily="49" charset="-122"/>
                <a:ea typeface="黑体" panose="02010609060101010101" pitchFamily="49" charset="-122"/>
              </a:rPr>
              <a:t>2</a:t>
            </a:r>
            <a:r>
              <a:rPr lang="zh-CN" altLang="en-US" sz="2800" dirty="0">
                <a:solidFill>
                  <a:srgbClr val="FFFF00"/>
                </a:solidFill>
                <a:latin typeface="黑体" panose="02010609060101010101" pitchFamily="49" charset="-122"/>
                <a:ea typeface="黑体" panose="02010609060101010101" pitchFamily="49" charset="-122"/>
              </a:rPr>
              <a:t>）多重中断：</a:t>
            </a:r>
          </a:p>
        </p:txBody>
      </p:sp>
    </p:spTree>
  </p:cSld>
  <p:clrMapOvr>
    <a:masterClrMapping/>
  </p:clrMapOvr>
  <p:transition>
    <p:cover dir="l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p:nvPr/>
        </p:nvSpPr>
        <p:spPr>
          <a:xfrm>
            <a:off x="512763" y="0"/>
            <a:ext cx="2043112" cy="519113"/>
          </a:xfrm>
          <a:prstGeom prst="rect">
            <a:avLst/>
          </a:prstGeom>
          <a:noFill/>
          <a:ln w="12700">
            <a:noFill/>
          </a:ln>
        </p:spPr>
        <p:txBody>
          <a:bodyPr>
            <a:spAutoFit/>
          </a:bodyPr>
          <a:lstStyle/>
          <a:p>
            <a:pPr algn="ctr">
              <a:spcBef>
                <a:spcPct val="50000"/>
              </a:spcBef>
            </a:pPr>
            <a:r>
              <a:rPr lang="zh-CN" altLang="en-US" sz="2800" dirty="0">
                <a:solidFill>
                  <a:schemeClr val="folHlink"/>
                </a:solidFill>
                <a:latin typeface="黑体" panose="02010609060101010101" pitchFamily="49" charset="-122"/>
                <a:ea typeface="黑体" panose="02010609060101010101" pitchFamily="49" charset="-122"/>
              </a:rPr>
              <a:t>单级中断</a:t>
            </a:r>
          </a:p>
        </p:txBody>
      </p:sp>
      <p:sp>
        <p:nvSpPr>
          <p:cNvPr id="18436" name="Text Box 4"/>
          <p:cNvSpPr txBox="1"/>
          <p:nvPr/>
        </p:nvSpPr>
        <p:spPr>
          <a:xfrm>
            <a:off x="490538" y="609600"/>
            <a:ext cx="2135187" cy="523875"/>
          </a:xfrm>
          <a:prstGeom prst="rect">
            <a:avLst/>
          </a:prstGeom>
          <a:solidFill>
            <a:srgbClr val="0000FF"/>
          </a:solidFill>
          <a:ln w="28575" cap="sq" cmpd="sng">
            <a:solidFill>
              <a:schemeClr val="tx2"/>
            </a:solidFill>
            <a:prstDash val="solid"/>
            <a:miter/>
            <a:headEnd type="none" w="sm" len="sm"/>
            <a:tailEnd type="none" w="sm" len="sm"/>
          </a:ln>
        </p:spPr>
        <p:txBody>
          <a:bodyPr>
            <a:spAutoFit/>
          </a:bodyPr>
          <a:lstStyle/>
          <a:p>
            <a:pPr algn="ctr">
              <a:spcBef>
                <a:spcPct val="50000"/>
              </a:spcBef>
            </a:pPr>
            <a:r>
              <a:rPr lang="zh-CN" altLang="en-US" sz="2800" dirty="0">
                <a:solidFill>
                  <a:srgbClr val="00FF00"/>
                </a:solidFill>
                <a:latin typeface="黑体" panose="02010609060101010101" pitchFamily="49" charset="-122"/>
                <a:ea typeface="黑体" panose="02010609060101010101" pitchFamily="49" charset="-122"/>
              </a:rPr>
              <a:t>保护现场</a:t>
            </a:r>
          </a:p>
        </p:txBody>
      </p:sp>
      <p:sp>
        <p:nvSpPr>
          <p:cNvPr id="18437" name="Text Box 5"/>
          <p:cNvSpPr txBox="1"/>
          <p:nvPr/>
        </p:nvSpPr>
        <p:spPr>
          <a:xfrm>
            <a:off x="290513" y="1676400"/>
            <a:ext cx="2514600" cy="547688"/>
          </a:xfrm>
          <a:prstGeom prst="rect">
            <a:avLst/>
          </a:prstGeom>
          <a:solidFill>
            <a:srgbClr val="0000FF"/>
          </a:solidFill>
          <a:ln w="28575" cap="sq" cmpd="sng">
            <a:solidFill>
              <a:schemeClr val="tx2"/>
            </a:solidFill>
            <a:prstDash val="solid"/>
            <a:miter/>
            <a:headEnd type="none" w="sm" len="sm"/>
            <a:tailEnd type="none" w="sm" len="sm"/>
          </a:ln>
        </p:spPr>
        <p:txBody>
          <a:bodyPr>
            <a:spAutoFit/>
          </a:bodyPr>
          <a:lstStyle/>
          <a:p>
            <a:pPr>
              <a:spcBef>
                <a:spcPct val="50000"/>
              </a:spcBef>
            </a:pPr>
            <a:r>
              <a:rPr lang="zh-CN" altLang="en-US" sz="2800" dirty="0">
                <a:latin typeface="黑体" panose="02010609060101010101" pitchFamily="49" charset="-122"/>
                <a:ea typeface="黑体" panose="02010609060101010101" pitchFamily="49" charset="-122"/>
              </a:rPr>
              <a:t>具体服务处理</a:t>
            </a:r>
          </a:p>
        </p:txBody>
      </p:sp>
      <p:sp>
        <p:nvSpPr>
          <p:cNvPr id="18438" name="Line 6"/>
          <p:cNvSpPr/>
          <p:nvPr/>
        </p:nvSpPr>
        <p:spPr>
          <a:xfrm>
            <a:off x="1552575" y="1171575"/>
            <a:ext cx="0" cy="485775"/>
          </a:xfrm>
          <a:prstGeom prst="line">
            <a:avLst/>
          </a:prstGeom>
          <a:ln w="38100" cap="flat" cmpd="sng">
            <a:solidFill>
              <a:schemeClr val="tx2"/>
            </a:solidFill>
            <a:prstDash val="solid"/>
            <a:headEnd type="none" w="med" len="med"/>
            <a:tailEnd type="triangle" w="med" len="med"/>
          </a:ln>
        </p:spPr>
      </p:sp>
      <p:sp>
        <p:nvSpPr>
          <p:cNvPr id="18439" name="Line 7"/>
          <p:cNvSpPr/>
          <p:nvPr/>
        </p:nvSpPr>
        <p:spPr>
          <a:xfrm>
            <a:off x="1552575" y="2233613"/>
            <a:ext cx="0" cy="547687"/>
          </a:xfrm>
          <a:prstGeom prst="line">
            <a:avLst/>
          </a:prstGeom>
          <a:ln w="38100" cap="flat" cmpd="sng">
            <a:solidFill>
              <a:schemeClr val="tx2"/>
            </a:solidFill>
            <a:prstDash val="solid"/>
            <a:headEnd type="none" w="med" len="med"/>
            <a:tailEnd type="triangle" w="med" len="med"/>
          </a:ln>
        </p:spPr>
      </p:sp>
      <p:sp>
        <p:nvSpPr>
          <p:cNvPr id="18440" name="Text Box 8"/>
          <p:cNvSpPr txBox="1"/>
          <p:nvPr/>
        </p:nvSpPr>
        <p:spPr>
          <a:xfrm>
            <a:off x="636588" y="2782888"/>
            <a:ext cx="1833562" cy="547687"/>
          </a:xfrm>
          <a:prstGeom prst="rect">
            <a:avLst/>
          </a:prstGeom>
          <a:solidFill>
            <a:srgbClr val="0000FF"/>
          </a:solidFill>
          <a:ln w="28575" cap="sq" cmpd="sng">
            <a:solidFill>
              <a:schemeClr val="tx2"/>
            </a:solidFill>
            <a:prstDash val="solid"/>
            <a:miter/>
            <a:headEnd type="none" w="sm" len="sm"/>
            <a:tailEnd type="none" w="sm" len="sm"/>
          </a:ln>
        </p:spPr>
        <p:txBody>
          <a:bodyPr>
            <a:spAutoFit/>
          </a:bodyPr>
          <a:lstStyle/>
          <a:p>
            <a:pPr algn="ctr">
              <a:spcBef>
                <a:spcPct val="50000"/>
              </a:spcBef>
            </a:pPr>
            <a:r>
              <a:rPr lang="zh-CN" altLang="en-US" sz="2800" dirty="0">
                <a:latin typeface="黑体" panose="02010609060101010101" pitchFamily="49" charset="-122"/>
                <a:ea typeface="黑体" panose="02010609060101010101" pitchFamily="49" charset="-122"/>
              </a:rPr>
              <a:t>恢复现场</a:t>
            </a:r>
          </a:p>
        </p:txBody>
      </p:sp>
      <p:sp>
        <p:nvSpPr>
          <p:cNvPr id="18441" name="Line 9"/>
          <p:cNvSpPr/>
          <p:nvPr/>
        </p:nvSpPr>
        <p:spPr>
          <a:xfrm>
            <a:off x="1552575" y="3344863"/>
            <a:ext cx="0" cy="444500"/>
          </a:xfrm>
          <a:prstGeom prst="line">
            <a:avLst/>
          </a:prstGeom>
          <a:ln w="38100" cap="flat" cmpd="sng">
            <a:solidFill>
              <a:schemeClr val="tx2"/>
            </a:solidFill>
            <a:prstDash val="solid"/>
            <a:headEnd type="none" w="med" len="med"/>
            <a:tailEnd type="triangle" w="med" len="med"/>
          </a:ln>
        </p:spPr>
      </p:sp>
      <p:sp>
        <p:nvSpPr>
          <p:cNvPr id="18442" name="Text Box 10"/>
          <p:cNvSpPr txBox="1"/>
          <p:nvPr/>
        </p:nvSpPr>
        <p:spPr>
          <a:xfrm>
            <a:off x="781050" y="3779838"/>
            <a:ext cx="1544638" cy="974725"/>
          </a:xfrm>
          <a:prstGeom prst="rect">
            <a:avLst/>
          </a:prstGeom>
          <a:solidFill>
            <a:srgbClr val="0000FF"/>
          </a:solidFill>
          <a:ln w="28575" cap="sq" cmpd="sng">
            <a:solidFill>
              <a:schemeClr val="tx2"/>
            </a:solidFill>
            <a:prstDash val="solid"/>
            <a:miter/>
            <a:headEnd type="none" w="sm" len="sm"/>
            <a:tailEnd type="none" w="sm" len="sm"/>
          </a:ln>
        </p:spPr>
        <p:txBody>
          <a:bodyPr>
            <a:spAutoFit/>
          </a:bodyPr>
          <a:lstStyle/>
          <a:p>
            <a:pPr algn="ctr">
              <a:spcBef>
                <a:spcPct val="50000"/>
              </a:spcBef>
            </a:pPr>
            <a:r>
              <a:rPr lang="zh-CN" altLang="en-US" sz="2800" dirty="0">
                <a:solidFill>
                  <a:srgbClr val="00FF00"/>
                </a:solidFill>
                <a:latin typeface="黑体" panose="02010609060101010101" pitchFamily="49" charset="-122"/>
                <a:ea typeface="黑体" panose="02010609060101010101" pitchFamily="49" charset="-122"/>
              </a:rPr>
              <a:t>开中断返回</a:t>
            </a:r>
          </a:p>
        </p:txBody>
      </p:sp>
      <p:sp>
        <p:nvSpPr>
          <p:cNvPr id="18447" name="Text Box 15"/>
          <p:cNvSpPr txBox="1"/>
          <p:nvPr/>
        </p:nvSpPr>
        <p:spPr>
          <a:xfrm>
            <a:off x="3090863" y="736600"/>
            <a:ext cx="2057400" cy="892175"/>
          </a:xfrm>
          <a:prstGeom prst="rect">
            <a:avLst/>
          </a:prstGeom>
          <a:noFill/>
          <a:ln w="9525">
            <a:noFill/>
          </a:ln>
        </p:spPr>
        <p:txBody>
          <a:bodyPr>
            <a:spAutoFit/>
          </a:bodyPr>
          <a:lstStyle/>
          <a:p>
            <a:r>
              <a:rPr lang="zh-CN" altLang="en-US" sz="2600" dirty="0">
                <a:solidFill>
                  <a:schemeClr val="accent1"/>
                </a:solidFill>
                <a:latin typeface="黑体" panose="02010609060101010101" pitchFamily="49" charset="-122"/>
                <a:ea typeface="黑体" panose="02010609060101010101" pitchFamily="49" charset="-122"/>
              </a:rPr>
              <a:t>外中断：</a:t>
            </a:r>
          </a:p>
          <a:p>
            <a:r>
              <a:rPr lang="zh-CN" altLang="en-US" sz="2600" dirty="0">
                <a:solidFill>
                  <a:schemeClr val="accent1"/>
                </a:solidFill>
                <a:latin typeface="黑体" panose="02010609060101010101" pitchFamily="49" charset="-122"/>
                <a:ea typeface="黑体" panose="02010609060101010101" pitchFamily="49" charset="-122"/>
              </a:rPr>
              <a:t>数据传送</a:t>
            </a:r>
          </a:p>
        </p:txBody>
      </p:sp>
      <p:sp>
        <p:nvSpPr>
          <p:cNvPr id="18448" name="Text Box 16"/>
          <p:cNvSpPr txBox="1"/>
          <p:nvPr/>
        </p:nvSpPr>
        <p:spPr>
          <a:xfrm>
            <a:off x="3132138" y="2349500"/>
            <a:ext cx="2100262" cy="2092325"/>
          </a:xfrm>
          <a:prstGeom prst="rect">
            <a:avLst/>
          </a:prstGeom>
          <a:noFill/>
          <a:ln w="12700">
            <a:noFill/>
          </a:ln>
        </p:spPr>
        <p:txBody>
          <a:bodyPr>
            <a:spAutoFit/>
          </a:bodyPr>
          <a:lstStyle/>
          <a:p>
            <a:pPr>
              <a:spcBef>
                <a:spcPct val="50000"/>
              </a:spcBef>
            </a:pPr>
            <a:r>
              <a:rPr lang="zh-CN" altLang="en-US" sz="2600" dirty="0">
                <a:solidFill>
                  <a:schemeClr val="accent1"/>
                </a:solidFill>
                <a:latin typeface="黑体" panose="02010609060101010101" pitchFamily="49" charset="-122"/>
                <a:ea typeface="黑体" panose="02010609060101010101" pitchFamily="49" charset="-122"/>
              </a:rPr>
              <a:t>禁止同级或更低级的中断请求，允许更高级的请求</a:t>
            </a:r>
          </a:p>
        </p:txBody>
      </p:sp>
      <p:sp>
        <p:nvSpPr>
          <p:cNvPr id="18451" name="Line 19"/>
          <p:cNvSpPr/>
          <p:nvPr/>
        </p:nvSpPr>
        <p:spPr>
          <a:xfrm flipV="1">
            <a:off x="2895600" y="1628775"/>
            <a:ext cx="668338" cy="360363"/>
          </a:xfrm>
          <a:prstGeom prst="line">
            <a:avLst/>
          </a:prstGeom>
          <a:ln w="28575" cap="flat" cmpd="sng">
            <a:solidFill>
              <a:schemeClr val="accent1"/>
            </a:solidFill>
            <a:prstDash val="solid"/>
            <a:headEnd type="arrow" w="med" len="med"/>
            <a:tailEnd type="none" w="med" len="med"/>
          </a:ln>
        </p:spPr>
      </p:sp>
      <p:sp>
        <p:nvSpPr>
          <p:cNvPr id="18452" name="Text Box 20"/>
          <p:cNvSpPr txBox="1"/>
          <p:nvPr/>
        </p:nvSpPr>
        <p:spPr>
          <a:xfrm>
            <a:off x="5876925" y="0"/>
            <a:ext cx="1863725" cy="519113"/>
          </a:xfrm>
          <a:prstGeom prst="rect">
            <a:avLst/>
          </a:prstGeom>
          <a:noFill/>
          <a:ln w="12700">
            <a:noFill/>
          </a:ln>
        </p:spPr>
        <p:txBody>
          <a:bodyPr>
            <a:spAutoFit/>
          </a:bodyPr>
          <a:lstStyle/>
          <a:p>
            <a:pPr algn="ctr">
              <a:spcBef>
                <a:spcPct val="50000"/>
              </a:spcBef>
            </a:pPr>
            <a:r>
              <a:rPr lang="zh-CN" altLang="en-US" sz="2800" dirty="0">
                <a:solidFill>
                  <a:schemeClr val="folHlink"/>
                </a:solidFill>
                <a:latin typeface="黑体" panose="02010609060101010101" pitchFamily="49" charset="-122"/>
                <a:ea typeface="黑体" panose="02010609060101010101" pitchFamily="49" charset="-122"/>
              </a:rPr>
              <a:t>多重中断</a:t>
            </a:r>
          </a:p>
        </p:txBody>
      </p:sp>
      <p:sp>
        <p:nvSpPr>
          <p:cNvPr id="18453" name="Text Box 21"/>
          <p:cNvSpPr txBox="1"/>
          <p:nvPr/>
        </p:nvSpPr>
        <p:spPr>
          <a:xfrm>
            <a:off x="5795963" y="5229225"/>
            <a:ext cx="1990725" cy="523875"/>
          </a:xfrm>
          <a:prstGeom prst="rect">
            <a:avLst/>
          </a:prstGeom>
          <a:solidFill>
            <a:srgbClr val="0000FF"/>
          </a:solidFill>
          <a:ln w="28575" cap="sq" cmpd="sng">
            <a:solidFill>
              <a:schemeClr val="tx2"/>
            </a:solidFill>
            <a:prstDash val="solid"/>
            <a:miter/>
            <a:headEnd type="none" w="sm" len="sm"/>
            <a:tailEnd type="none" w="sm" len="sm"/>
          </a:ln>
        </p:spPr>
        <p:txBody>
          <a:bodyPr>
            <a:spAutoFit/>
          </a:bodyPr>
          <a:lstStyle/>
          <a:p>
            <a:pPr algn="ctr">
              <a:spcBef>
                <a:spcPct val="50000"/>
              </a:spcBef>
            </a:pPr>
            <a:r>
              <a:rPr lang="zh-CN" altLang="en-US" sz="2800" dirty="0">
                <a:solidFill>
                  <a:srgbClr val="00FF00"/>
                </a:solidFill>
                <a:latin typeface="黑体" panose="02010609060101010101" pitchFamily="49" charset="-122"/>
                <a:ea typeface="黑体" panose="02010609060101010101" pitchFamily="49" charset="-122"/>
              </a:rPr>
              <a:t>开中断返回</a:t>
            </a:r>
          </a:p>
        </p:txBody>
      </p:sp>
      <p:sp>
        <p:nvSpPr>
          <p:cNvPr id="18454" name="Text Box 22"/>
          <p:cNvSpPr txBox="1"/>
          <p:nvPr/>
        </p:nvSpPr>
        <p:spPr>
          <a:xfrm>
            <a:off x="5708650" y="609600"/>
            <a:ext cx="2133600" cy="523875"/>
          </a:xfrm>
          <a:prstGeom prst="rect">
            <a:avLst/>
          </a:prstGeom>
          <a:solidFill>
            <a:srgbClr val="0000FF"/>
          </a:solidFill>
          <a:ln w="28575" cap="sq" cmpd="sng">
            <a:solidFill>
              <a:schemeClr val="tx2"/>
            </a:solidFill>
            <a:prstDash val="solid"/>
            <a:miter/>
            <a:headEnd type="none" w="sm" len="sm"/>
            <a:tailEnd type="none" w="sm" len="sm"/>
          </a:ln>
        </p:spPr>
        <p:txBody>
          <a:bodyPr>
            <a:spAutoFit/>
          </a:bodyPr>
          <a:lstStyle/>
          <a:p>
            <a:pPr algn="ctr">
              <a:spcBef>
                <a:spcPct val="50000"/>
              </a:spcBef>
            </a:pPr>
            <a:r>
              <a:rPr lang="zh-CN" altLang="en-US" sz="2800" dirty="0">
                <a:solidFill>
                  <a:srgbClr val="00FF00"/>
                </a:solidFill>
                <a:latin typeface="黑体" panose="02010609060101010101" pitchFamily="49" charset="-122"/>
                <a:ea typeface="黑体" panose="02010609060101010101" pitchFamily="49" charset="-122"/>
              </a:rPr>
              <a:t>保护现场</a:t>
            </a:r>
          </a:p>
        </p:txBody>
      </p:sp>
      <p:sp>
        <p:nvSpPr>
          <p:cNvPr id="18455" name="Line 23"/>
          <p:cNvSpPr/>
          <p:nvPr/>
        </p:nvSpPr>
        <p:spPr>
          <a:xfrm>
            <a:off x="6781800" y="1143000"/>
            <a:ext cx="0" cy="360363"/>
          </a:xfrm>
          <a:prstGeom prst="line">
            <a:avLst/>
          </a:prstGeom>
          <a:ln w="38100" cap="flat" cmpd="sng">
            <a:solidFill>
              <a:schemeClr val="tx2"/>
            </a:solidFill>
            <a:prstDash val="solid"/>
            <a:headEnd type="none" w="med" len="med"/>
            <a:tailEnd type="triangle" w="med" len="med"/>
          </a:ln>
        </p:spPr>
      </p:sp>
      <p:sp>
        <p:nvSpPr>
          <p:cNvPr id="18456" name="Text Box 24"/>
          <p:cNvSpPr txBox="1"/>
          <p:nvPr/>
        </p:nvSpPr>
        <p:spPr>
          <a:xfrm>
            <a:off x="5029200" y="1512888"/>
            <a:ext cx="3733800" cy="547687"/>
          </a:xfrm>
          <a:prstGeom prst="rect">
            <a:avLst/>
          </a:prstGeom>
          <a:solidFill>
            <a:srgbClr val="0000FF"/>
          </a:solidFill>
          <a:ln w="28575" cap="sq" cmpd="sng">
            <a:solidFill>
              <a:schemeClr val="tx2"/>
            </a:solidFill>
            <a:prstDash val="solid"/>
            <a:miter/>
            <a:headEnd type="none" w="sm" len="sm"/>
            <a:tailEnd type="none" w="sm" len="sm"/>
          </a:ln>
        </p:spPr>
        <p:txBody>
          <a:bodyPr>
            <a:spAutoFit/>
          </a:bodyPr>
          <a:lstStyle/>
          <a:p>
            <a:pPr algn="ctr">
              <a:spcBef>
                <a:spcPct val="50000"/>
              </a:spcBef>
            </a:pPr>
            <a:r>
              <a:rPr lang="zh-CN" altLang="en-US" sz="2800" dirty="0">
                <a:latin typeface="黑体" panose="02010609060101010101" pitchFamily="49" charset="-122"/>
                <a:ea typeface="黑体" panose="02010609060101010101" pitchFamily="49" charset="-122"/>
              </a:rPr>
              <a:t>送新屏蔽字、开中断</a:t>
            </a:r>
          </a:p>
        </p:txBody>
      </p:sp>
      <p:sp>
        <p:nvSpPr>
          <p:cNvPr id="18457" name="Text Box 25"/>
          <p:cNvSpPr txBox="1"/>
          <p:nvPr/>
        </p:nvSpPr>
        <p:spPr>
          <a:xfrm>
            <a:off x="5462588" y="2420938"/>
            <a:ext cx="2638425" cy="547687"/>
          </a:xfrm>
          <a:prstGeom prst="rect">
            <a:avLst/>
          </a:prstGeom>
          <a:solidFill>
            <a:srgbClr val="0000FF"/>
          </a:solidFill>
          <a:ln w="28575" cap="sq" cmpd="sng">
            <a:solidFill>
              <a:schemeClr val="tx2"/>
            </a:solidFill>
            <a:prstDash val="solid"/>
            <a:miter/>
            <a:headEnd type="none" w="sm" len="sm"/>
            <a:tailEnd type="none" w="sm" len="sm"/>
          </a:ln>
        </p:spPr>
        <p:txBody>
          <a:bodyPr>
            <a:spAutoFit/>
          </a:bodyPr>
          <a:lstStyle/>
          <a:p>
            <a:pPr algn="ctr">
              <a:spcBef>
                <a:spcPct val="50000"/>
              </a:spcBef>
            </a:pPr>
            <a:r>
              <a:rPr lang="zh-CN" altLang="en-US" sz="2800" dirty="0">
                <a:latin typeface="黑体" panose="02010609060101010101" pitchFamily="49" charset="-122"/>
                <a:ea typeface="黑体" panose="02010609060101010101" pitchFamily="49" charset="-122"/>
              </a:rPr>
              <a:t>具体服务处理</a:t>
            </a:r>
          </a:p>
        </p:txBody>
      </p:sp>
      <p:sp>
        <p:nvSpPr>
          <p:cNvPr id="18458" name="Line 26"/>
          <p:cNvSpPr/>
          <p:nvPr/>
        </p:nvSpPr>
        <p:spPr>
          <a:xfrm>
            <a:off x="6781800" y="2060575"/>
            <a:ext cx="0" cy="360363"/>
          </a:xfrm>
          <a:prstGeom prst="line">
            <a:avLst/>
          </a:prstGeom>
          <a:ln w="38100" cap="flat" cmpd="sng">
            <a:solidFill>
              <a:schemeClr val="tx2"/>
            </a:solidFill>
            <a:prstDash val="solid"/>
            <a:headEnd type="none" w="med" len="med"/>
            <a:tailEnd type="triangle" w="med" len="med"/>
          </a:ln>
        </p:spPr>
      </p:sp>
      <p:sp>
        <p:nvSpPr>
          <p:cNvPr id="18459" name="Text Box 27"/>
          <p:cNvSpPr txBox="1"/>
          <p:nvPr/>
        </p:nvSpPr>
        <p:spPr>
          <a:xfrm>
            <a:off x="5849938" y="3357563"/>
            <a:ext cx="1847850" cy="547687"/>
          </a:xfrm>
          <a:prstGeom prst="rect">
            <a:avLst/>
          </a:prstGeom>
          <a:solidFill>
            <a:srgbClr val="0000FF"/>
          </a:solidFill>
          <a:ln w="28575" cap="sq" cmpd="sng">
            <a:solidFill>
              <a:schemeClr val="tx2"/>
            </a:solidFill>
            <a:prstDash val="solid"/>
            <a:miter/>
            <a:headEnd type="none" w="sm" len="sm"/>
            <a:tailEnd type="none" w="sm" len="sm"/>
          </a:ln>
        </p:spPr>
        <p:txBody>
          <a:bodyPr>
            <a:spAutoFit/>
          </a:bodyPr>
          <a:lstStyle/>
          <a:p>
            <a:pPr algn="ctr">
              <a:spcBef>
                <a:spcPct val="50000"/>
              </a:spcBef>
            </a:pPr>
            <a:r>
              <a:rPr lang="zh-CN" altLang="en-US" sz="2800" dirty="0">
                <a:latin typeface="黑体" panose="02010609060101010101" pitchFamily="49" charset="-122"/>
                <a:ea typeface="黑体" panose="02010609060101010101" pitchFamily="49" charset="-122"/>
              </a:rPr>
              <a:t>关中断</a:t>
            </a:r>
          </a:p>
        </p:txBody>
      </p:sp>
      <p:sp>
        <p:nvSpPr>
          <p:cNvPr id="18460" name="Line 28"/>
          <p:cNvSpPr/>
          <p:nvPr/>
        </p:nvSpPr>
        <p:spPr>
          <a:xfrm>
            <a:off x="6781800" y="2973388"/>
            <a:ext cx="0" cy="358775"/>
          </a:xfrm>
          <a:prstGeom prst="line">
            <a:avLst/>
          </a:prstGeom>
          <a:ln w="38100" cap="flat" cmpd="sng">
            <a:solidFill>
              <a:schemeClr val="tx2"/>
            </a:solidFill>
            <a:prstDash val="solid"/>
            <a:headEnd type="none" w="med" len="med"/>
            <a:tailEnd type="triangle" w="med" len="med"/>
          </a:ln>
        </p:spPr>
      </p:sp>
      <p:sp>
        <p:nvSpPr>
          <p:cNvPr id="18461" name="Text Box 29"/>
          <p:cNvSpPr txBox="1"/>
          <p:nvPr/>
        </p:nvSpPr>
        <p:spPr>
          <a:xfrm>
            <a:off x="4986338" y="4292600"/>
            <a:ext cx="3575050" cy="547688"/>
          </a:xfrm>
          <a:prstGeom prst="rect">
            <a:avLst/>
          </a:prstGeom>
          <a:solidFill>
            <a:srgbClr val="0000FF"/>
          </a:solidFill>
          <a:ln w="28575" cap="sq" cmpd="sng">
            <a:solidFill>
              <a:schemeClr val="tx2"/>
            </a:solidFill>
            <a:prstDash val="solid"/>
            <a:miter/>
            <a:headEnd type="none" w="sm" len="sm"/>
            <a:tailEnd type="none" w="sm" len="sm"/>
          </a:ln>
        </p:spPr>
        <p:txBody>
          <a:bodyPr>
            <a:spAutoFit/>
          </a:bodyPr>
          <a:lstStyle/>
          <a:p>
            <a:pPr algn="ctr">
              <a:spcBef>
                <a:spcPct val="50000"/>
              </a:spcBef>
            </a:pPr>
            <a:r>
              <a:rPr lang="zh-CN" altLang="en-US" sz="2800" dirty="0">
                <a:latin typeface="黑体" panose="02010609060101010101" pitchFamily="49" charset="-122"/>
                <a:ea typeface="黑体" panose="02010609060101010101" pitchFamily="49" charset="-122"/>
              </a:rPr>
              <a:t>恢复现场及原屏蔽字</a:t>
            </a:r>
          </a:p>
        </p:txBody>
      </p:sp>
      <p:sp>
        <p:nvSpPr>
          <p:cNvPr id="18462" name="Line 30"/>
          <p:cNvSpPr/>
          <p:nvPr/>
        </p:nvSpPr>
        <p:spPr>
          <a:xfrm>
            <a:off x="6781800" y="3933825"/>
            <a:ext cx="0" cy="358775"/>
          </a:xfrm>
          <a:prstGeom prst="line">
            <a:avLst/>
          </a:prstGeom>
          <a:ln w="38100" cap="flat" cmpd="sng">
            <a:solidFill>
              <a:schemeClr val="tx2"/>
            </a:solidFill>
            <a:prstDash val="solid"/>
            <a:headEnd type="none" w="med" len="med"/>
            <a:tailEnd type="triangle" w="med" len="med"/>
          </a:ln>
        </p:spPr>
      </p:sp>
      <p:sp>
        <p:nvSpPr>
          <p:cNvPr id="18463" name="Line 31"/>
          <p:cNvSpPr/>
          <p:nvPr/>
        </p:nvSpPr>
        <p:spPr>
          <a:xfrm>
            <a:off x="6781800" y="4868863"/>
            <a:ext cx="0" cy="360362"/>
          </a:xfrm>
          <a:prstGeom prst="line">
            <a:avLst/>
          </a:prstGeom>
          <a:ln w="38100" cap="flat" cmpd="sng">
            <a:solidFill>
              <a:schemeClr val="tx2"/>
            </a:solidFill>
            <a:prstDash val="solid"/>
            <a:headEnd type="none" w="med" len="med"/>
            <a:tailEnd type="triangle" w="med" len="med"/>
          </a:ln>
        </p:spPr>
      </p:sp>
      <p:sp>
        <p:nvSpPr>
          <p:cNvPr id="18464" name="Line 32"/>
          <p:cNvSpPr/>
          <p:nvPr/>
        </p:nvSpPr>
        <p:spPr>
          <a:xfrm flipV="1">
            <a:off x="4356100" y="1916113"/>
            <a:ext cx="592138" cy="504825"/>
          </a:xfrm>
          <a:prstGeom prst="line">
            <a:avLst/>
          </a:prstGeom>
          <a:ln w="28575" cap="flat" cmpd="sng">
            <a:solidFill>
              <a:schemeClr val="accent1"/>
            </a:solidFill>
            <a:prstDash val="solid"/>
            <a:headEnd type="none" w="med" len="med"/>
            <a:tailEnd type="arrow" w="med" len="med"/>
          </a:ln>
        </p:spPr>
      </p:sp>
      <p:sp>
        <p:nvSpPr>
          <p:cNvPr id="18466" name="Text Box 34"/>
          <p:cNvSpPr txBox="1"/>
          <p:nvPr/>
        </p:nvSpPr>
        <p:spPr>
          <a:xfrm>
            <a:off x="107950" y="4810125"/>
            <a:ext cx="4859338" cy="1282700"/>
          </a:xfrm>
          <a:prstGeom prst="rect">
            <a:avLst/>
          </a:prstGeom>
          <a:noFill/>
          <a:ln w="9525">
            <a:noFill/>
          </a:ln>
        </p:spPr>
        <p:txBody>
          <a:bodyPr>
            <a:spAutoFit/>
          </a:bodyPr>
          <a:lstStyle/>
          <a:p>
            <a:pPr eaLnBrk="0" hangingPunct="0"/>
            <a:r>
              <a:rPr lang="en-US" altLang="zh-CN" sz="2600" dirty="0">
                <a:solidFill>
                  <a:schemeClr val="folHlink"/>
                </a:solidFill>
                <a:latin typeface="Times New Roman" panose="02020603050405020304" pitchFamily="18" charset="0"/>
                <a:ea typeface="黑体" panose="02010609060101010101" pitchFamily="49" charset="-122"/>
              </a:rPr>
              <a:t>【</a:t>
            </a:r>
            <a:r>
              <a:rPr lang="zh-CN" altLang="en-US" sz="2600" dirty="0">
                <a:solidFill>
                  <a:schemeClr val="folHlink"/>
                </a:solidFill>
                <a:latin typeface="Times New Roman" panose="02020603050405020304" pitchFamily="18" charset="0"/>
                <a:ea typeface="黑体" panose="02010609060101010101" pitchFamily="49" charset="-122"/>
              </a:rPr>
              <a:t>注意</a:t>
            </a:r>
            <a:r>
              <a:rPr lang="en-US" altLang="zh-CN" sz="2600" dirty="0">
                <a:solidFill>
                  <a:schemeClr val="folHlink"/>
                </a:solidFill>
                <a:latin typeface="Times New Roman" panose="02020603050405020304" pitchFamily="18" charset="0"/>
                <a:ea typeface="黑体" panose="02010609060101010101" pitchFamily="49" charset="-122"/>
              </a:rPr>
              <a:t>】</a:t>
            </a:r>
            <a:r>
              <a:rPr lang="zh-CN" altLang="en-US" sz="2600" dirty="0">
                <a:latin typeface="Times New Roman" panose="02020603050405020304" pitchFamily="18" charset="0"/>
                <a:ea typeface="黑体" panose="02010609060101010101" pitchFamily="49" charset="-122"/>
              </a:rPr>
              <a:t>在响应过程、保护现场、恢复现场等关键阶段，应关中断响应以防止被打扰。</a:t>
            </a:r>
          </a:p>
        </p:txBody>
      </p:sp>
    </p:spTree>
  </p:cSld>
  <p:clrMapOvr>
    <a:masterClrMapping/>
  </p:clrMapOvr>
  <p:transition>
    <p:cover dir="l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0" y="63500"/>
            <a:ext cx="8639175" cy="127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ts val="0"/>
              </a:spcBef>
              <a:spcAft>
                <a:spcPct val="0"/>
              </a:spcAft>
              <a:buClrTx/>
              <a:buSzTx/>
              <a:buFontTx/>
              <a:buNone/>
              <a:defRPr/>
            </a:pPr>
            <a:r>
              <a:rPr kumimoji="1" lang="en-US" altLang="zh-CN" sz="2400" b="1" i="0" u="none" strike="noStrike" kern="1200" cap="none" spc="0" normalizeH="0" baseline="0" noProof="0" dirty="0">
                <a:ln>
                  <a:noFill/>
                </a:ln>
                <a:solidFill>
                  <a:srgbClr val="00FFFF"/>
                </a:solidFill>
                <a:effectLst/>
                <a:uLnTx/>
                <a:uFillTx/>
                <a:latin typeface="+mn-lt"/>
                <a:ea typeface="黑体" panose="02010609060101010101" pitchFamily="49" charset="-122"/>
                <a:cs typeface="+mn-cs"/>
              </a:rPr>
              <a:t>【</a:t>
            </a:r>
            <a:r>
              <a:rPr kumimoji="1" lang="zh-CN" altLang="en-US" sz="2400" b="1" i="0" u="none" strike="noStrike" kern="1200" cap="none" spc="0" normalizeH="0" baseline="0" noProof="0" dirty="0">
                <a:ln>
                  <a:noFill/>
                </a:ln>
                <a:solidFill>
                  <a:srgbClr val="00FFFF"/>
                </a:solidFill>
                <a:effectLst/>
                <a:uLnTx/>
                <a:uFillTx/>
                <a:latin typeface="+mn-lt"/>
                <a:ea typeface="黑体" panose="02010609060101010101" pitchFamily="49" charset="-122"/>
                <a:cs typeface="+mn-cs"/>
              </a:rPr>
              <a:t>例</a:t>
            </a:r>
            <a:r>
              <a:rPr kumimoji="1" lang="en-US" altLang="zh-CN" sz="2400" b="1" i="0" u="none" strike="noStrike" kern="1200" cap="none" spc="0" normalizeH="0" baseline="0" noProof="0" dirty="0">
                <a:ln>
                  <a:noFill/>
                </a:ln>
                <a:solidFill>
                  <a:srgbClr val="00FFFF"/>
                </a:solidFill>
                <a:effectLst/>
                <a:uLnTx/>
                <a:uFillTx/>
                <a:latin typeface="+mn-lt"/>
                <a:ea typeface="黑体" panose="02010609060101010101" pitchFamily="49" charset="-122"/>
                <a:cs typeface="+mn-cs"/>
              </a:rPr>
              <a:t>】</a:t>
            </a:r>
            <a:r>
              <a:rPr kumimoji="1" lang="zh-CN" altLang="en-US" sz="2400" b="1"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计算机有</a:t>
            </a:r>
            <a:r>
              <a:rPr kumimoji="1" lang="en-US" altLang="zh-CN" sz="2400" b="1"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4</a:t>
            </a:r>
            <a:r>
              <a:rPr kumimoji="1" lang="zh-CN" altLang="en-US" sz="2400" b="1"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级中断，硬件优先级：</a:t>
            </a:r>
            <a:r>
              <a:rPr kumimoji="1" lang="en-US" altLang="zh-CN" sz="2400" b="1"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1&gt;2&gt;3&gt;4</a:t>
            </a:r>
            <a:r>
              <a:rPr kumimoji="1" lang="zh-CN" altLang="en-US" sz="2400" b="1"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，现通过设置屏蔽字将优先级关系调整为：</a:t>
            </a:r>
            <a:r>
              <a:rPr kumimoji="1" lang="en-US" altLang="zh-CN" sz="2400" b="1"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1&gt;4&gt;3&gt;2</a:t>
            </a:r>
            <a:r>
              <a:rPr kumimoji="1" lang="zh-CN" altLang="en-US" sz="2400" b="1"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a:t>
            </a:r>
            <a:endParaRPr kumimoji="1" lang="en-US" altLang="zh-CN" sz="2400" b="1" i="0" u="none" strike="noStrike" kern="1200" cap="none" spc="0" normalizeH="0" baseline="0" noProof="0" dirty="0">
              <a:ln>
                <a:noFill/>
              </a:ln>
              <a:solidFill>
                <a:schemeClr val="tx1"/>
              </a:solidFill>
              <a:effectLst/>
              <a:uLnTx/>
              <a:uFillTx/>
              <a:latin typeface="+mn-lt"/>
              <a:ea typeface="黑体" panose="02010609060101010101" pitchFamily="49" charset="-122"/>
              <a:cs typeface="+mn-cs"/>
            </a:endParaRPr>
          </a:p>
          <a:p>
            <a:pPr marL="0" marR="0" lvl="0" indent="0" algn="l" defTabSz="914400" rtl="0" eaLnBrk="1" fontAlgn="base" latinLnBrk="0" hangingPunct="1">
              <a:lnSpc>
                <a:spcPct val="100000"/>
              </a:lnSpc>
              <a:spcBef>
                <a:spcPts val="600"/>
              </a:spcBef>
              <a:spcAft>
                <a:spcPct val="0"/>
              </a:spcAft>
              <a:buClrTx/>
              <a:buSzTx/>
              <a:buFontTx/>
              <a:buNone/>
              <a:defRPr/>
            </a:pPr>
            <a:r>
              <a:rPr kumimoji="1" lang="zh-CN" altLang="en-US" sz="2400" b="1" i="0" u="none" strike="noStrike" kern="1200" cap="none" spc="0" normalizeH="0" baseline="0" noProof="0" dirty="0">
                <a:ln>
                  <a:noFill/>
                </a:ln>
                <a:solidFill>
                  <a:srgbClr val="FFFF00"/>
                </a:solidFill>
                <a:effectLst/>
                <a:uLnTx/>
                <a:uFillTx/>
                <a:latin typeface="+mn-lt"/>
                <a:ea typeface="黑体" panose="02010609060101010101" pitchFamily="49" charset="-122"/>
                <a:cs typeface="+mn-cs"/>
              </a:rPr>
              <a:t>（</a:t>
            </a:r>
            <a:r>
              <a:rPr kumimoji="1" lang="en-US" altLang="zh-CN" sz="2400" b="1" i="0" u="none" strike="noStrike" kern="1200" cap="none" spc="0" normalizeH="0" baseline="0" noProof="0" dirty="0">
                <a:ln>
                  <a:noFill/>
                </a:ln>
                <a:solidFill>
                  <a:srgbClr val="FFFF00"/>
                </a:solidFill>
                <a:effectLst/>
                <a:uLnTx/>
                <a:uFillTx/>
                <a:latin typeface="+mn-lt"/>
                <a:ea typeface="黑体" panose="02010609060101010101" pitchFamily="49" charset="-122"/>
                <a:cs typeface="+mn-cs"/>
              </a:rPr>
              <a:t>1</a:t>
            </a:r>
            <a:r>
              <a:rPr kumimoji="1" lang="zh-CN" altLang="en-US" sz="2400" b="1" i="0" u="none" strike="noStrike" kern="1200" cap="none" spc="0" normalizeH="0" baseline="0" noProof="0" dirty="0">
                <a:ln>
                  <a:noFill/>
                </a:ln>
                <a:solidFill>
                  <a:srgbClr val="FFFF00"/>
                </a:solidFill>
                <a:effectLst/>
                <a:uLnTx/>
                <a:uFillTx/>
                <a:latin typeface="+mn-lt"/>
                <a:ea typeface="黑体" panose="02010609060101010101" pitchFamily="49" charset="-122"/>
                <a:cs typeface="+mn-cs"/>
              </a:rPr>
              <a:t>）屏蔽字如何设置？</a:t>
            </a:r>
            <a:endParaRPr kumimoji="1" lang="en-US" altLang="zh-CN" sz="2400" b="1" i="0" u="none" strike="noStrike" kern="1200" cap="none" spc="0" normalizeH="0" baseline="0" noProof="0" dirty="0">
              <a:ln>
                <a:noFill/>
              </a:ln>
              <a:solidFill>
                <a:srgbClr val="FFFF00"/>
              </a:solidFill>
              <a:effectLst/>
              <a:uLnTx/>
              <a:uFillTx/>
              <a:latin typeface="+mn-lt"/>
              <a:ea typeface="黑体" panose="02010609060101010101" pitchFamily="49" charset="-122"/>
              <a:cs typeface="+mn-cs"/>
            </a:endParaRPr>
          </a:p>
        </p:txBody>
      </p:sp>
      <p:graphicFrame>
        <p:nvGraphicFramePr>
          <p:cNvPr id="3" name="表格 2"/>
          <p:cNvGraphicFramePr>
            <a:graphicFrameLocks noGrp="1"/>
          </p:cNvGraphicFramePr>
          <p:nvPr/>
        </p:nvGraphicFramePr>
        <p:xfrm>
          <a:off x="276225" y="1320800"/>
          <a:ext cx="6096000" cy="2325946"/>
        </p:xfrm>
        <a:graphic>
          <a:graphicData uri="http://schemas.openxmlformats.org/drawingml/2006/table">
            <a:tbl>
              <a:tblPr firstRow="1" bandRow="1">
                <a:tableStyleId>{5940675A-B579-460E-94D1-54222C63F5DA}</a:tableStyleId>
              </a:tblPr>
              <a:tblGrid>
                <a:gridCol w="1559496">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gridCol w="1152128">
                  <a:extLst>
                    <a:ext uri="{9D8B030D-6E8A-4147-A177-3AD203B41FA5}">
                      <a16:colId xmlns:a16="http://schemas.microsoft.com/office/drawing/2014/main" val="20002"/>
                    </a:ext>
                  </a:extLst>
                </a:gridCol>
                <a:gridCol w="1085056">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370609">
                <a:tc rowSpan="2">
                  <a:txBody>
                    <a:bodyPr/>
                    <a:lstStyle/>
                    <a:p>
                      <a:pPr algn="ctr"/>
                      <a:r>
                        <a:rPr lang="zh-CN" altLang="en-US" sz="2000" b="1" dirty="0">
                          <a:latin typeface="+mn-ea"/>
                          <a:ea typeface="+mn-ea"/>
                        </a:rPr>
                        <a:t>中断服务</a:t>
                      </a:r>
                      <a:endParaRPr lang="en-US" altLang="zh-CN" sz="2000" b="1" dirty="0">
                        <a:latin typeface="+mn-ea"/>
                        <a:ea typeface="+mn-ea"/>
                      </a:endParaRPr>
                    </a:p>
                    <a:p>
                      <a:pPr algn="ctr"/>
                      <a:r>
                        <a:rPr lang="zh-CN" altLang="en-US" sz="2000" b="1" dirty="0">
                          <a:latin typeface="+mn-ea"/>
                          <a:ea typeface="+mn-ea"/>
                        </a:rPr>
                        <a:t>程序</a:t>
                      </a:r>
                      <a:r>
                        <a:rPr lang="en-US" altLang="zh-CN" sz="2000" b="1" dirty="0">
                          <a:latin typeface="+mn-ea"/>
                          <a:ea typeface="+mn-ea"/>
                        </a:rPr>
                        <a:t>P</a:t>
                      </a:r>
                    </a:p>
                  </a:txBody>
                  <a:tcPr marT="45691" marB="45691"/>
                </a:tc>
                <a:tc gridSpan="4">
                  <a:txBody>
                    <a:bodyPr/>
                    <a:lstStyle/>
                    <a:p>
                      <a:pPr algn="ctr"/>
                      <a:r>
                        <a:rPr lang="zh-CN" altLang="en-US" sz="1800" b="1" dirty="0"/>
                        <a:t>屏蔽字设置</a:t>
                      </a:r>
                    </a:p>
                  </a:txBody>
                  <a:tcPr marT="45691" marB="45691"/>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370609">
                <a:tc vMerge="1">
                  <a:txBody>
                    <a:bodyPr/>
                    <a:lstStyle/>
                    <a:p>
                      <a:endParaRPr lang="zh-CN"/>
                    </a:p>
                  </a:txBody>
                  <a:tcPr/>
                </a:tc>
                <a:tc>
                  <a:txBody>
                    <a:bodyPr/>
                    <a:lstStyle/>
                    <a:p>
                      <a:pPr algn="ctr"/>
                      <a:r>
                        <a:rPr lang="en-US" altLang="zh-CN" sz="1800" b="1" dirty="0"/>
                        <a:t>M[1]</a:t>
                      </a:r>
                      <a:endParaRPr lang="zh-CN" altLang="en-US" sz="1800" b="1" dirty="0"/>
                    </a:p>
                  </a:txBody>
                  <a:tcPr marT="45691" marB="45691"/>
                </a:tc>
                <a:tc>
                  <a:txBody>
                    <a:bodyPr/>
                    <a:lstStyle/>
                    <a:p>
                      <a:pPr algn="ctr"/>
                      <a:r>
                        <a:rPr lang="en-US" altLang="zh-CN" sz="1800" b="1" dirty="0"/>
                        <a:t>M[2]</a:t>
                      </a:r>
                      <a:endParaRPr lang="zh-CN" altLang="en-US" sz="1800" b="1" dirty="0"/>
                    </a:p>
                  </a:txBody>
                  <a:tcPr marT="45691" marB="45691"/>
                </a:tc>
                <a:tc>
                  <a:txBody>
                    <a:bodyPr/>
                    <a:lstStyle/>
                    <a:p>
                      <a:pPr algn="ctr"/>
                      <a:r>
                        <a:rPr lang="en-US" altLang="zh-CN" sz="1800" b="1" dirty="0"/>
                        <a:t>M[3]</a:t>
                      </a:r>
                      <a:endParaRPr lang="zh-CN" altLang="en-US" sz="1800" b="1" dirty="0"/>
                    </a:p>
                  </a:txBody>
                  <a:tcPr marT="45691" marB="45691"/>
                </a:tc>
                <a:tc>
                  <a:txBody>
                    <a:bodyPr/>
                    <a:lstStyle/>
                    <a:p>
                      <a:pPr algn="ctr"/>
                      <a:r>
                        <a:rPr lang="en-US" altLang="zh-CN" sz="1800" b="1" dirty="0"/>
                        <a:t>M[4]</a:t>
                      </a:r>
                      <a:endParaRPr lang="zh-CN" altLang="en-US" sz="1800" b="1" dirty="0"/>
                    </a:p>
                  </a:txBody>
                  <a:tcPr marT="45691" marB="45691"/>
                </a:tc>
                <a:extLst>
                  <a:ext uri="{0D108BD9-81ED-4DB2-BD59-A6C34878D82A}">
                    <a16:rowId xmlns:a16="http://schemas.microsoft.com/office/drawing/2014/main" val="10001"/>
                  </a:ext>
                </a:extLst>
              </a:tr>
              <a:tr h="396118">
                <a:tc>
                  <a:txBody>
                    <a:bodyPr/>
                    <a:lstStyle/>
                    <a:p>
                      <a:pPr algn="ctr"/>
                      <a:r>
                        <a:rPr lang="en-US" altLang="zh-CN" sz="2000" b="1" dirty="0"/>
                        <a:t>P1</a:t>
                      </a:r>
                      <a:endParaRPr lang="zh-CN" altLang="en-US" sz="2000" b="1" dirty="0"/>
                    </a:p>
                  </a:txBody>
                  <a:tcPr marT="45691" marB="45691"/>
                </a:tc>
                <a:tc>
                  <a:txBody>
                    <a:bodyPr/>
                    <a:lstStyle/>
                    <a:p>
                      <a:endParaRPr lang="zh-CN" altLang="en-US" sz="1800"/>
                    </a:p>
                  </a:txBody>
                  <a:tcPr marT="45691" marB="45691"/>
                </a:tc>
                <a:tc>
                  <a:txBody>
                    <a:bodyPr/>
                    <a:lstStyle/>
                    <a:p>
                      <a:endParaRPr lang="zh-CN" altLang="en-US" sz="1800"/>
                    </a:p>
                  </a:txBody>
                  <a:tcPr marT="45691" marB="45691"/>
                </a:tc>
                <a:tc>
                  <a:txBody>
                    <a:bodyPr/>
                    <a:lstStyle/>
                    <a:p>
                      <a:endParaRPr lang="zh-CN" altLang="en-US" sz="1800"/>
                    </a:p>
                  </a:txBody>
                  <a:tcPr marT="45691" marB="45691"/>
                </a:tc>
                <a:tc>
                  <a:txBody>
                    <a:bodyPr/>
                    <a:lstStyle/>
                    <a:p>
                      <a:endParaRPr lang="zh-CN" altLang="en-US" sz="1800"/>
                    </a:p>
                  </a:txBody>
                  <a:tcPr marT="45691" marB="45691"/>
                </a:tc>
                <a:extLst>
                  <a:ext uri="{0D108BD9-81ED-4DB2-BD59-A6C34878D82A}">
                    <a16:rowId xmlns:a16="http://schemas.microsoft.com/office/drawing/2014/main" val="10002"/>
                  </a:ext>
                </a:extLst>
              </a:tr>
              <a:tr h="396118">
                <a:tc>
                  <a:txBody>
                    <a:bodyPr/>
                    <a:lstStyle/>
                    <a:p>
                      <a:pPr algn="ctr"/>
                      <a:r>
                        <a:rPr lang="en-US" altLang="zh-CN" sz="2000" b="1" dirty="0"/>
                        <a:t>P2</a:t>
                      </a:r>
                      <a:endParaRPr lang="zh-CN" altLang="en-US" sz="2000" b="1" dirty="0"/>
                    </a:p>
                  </a:txBody>
                  <a:tcPr marT="45691" marB="45691"/>
                </a:tc>
                <a:tc>
                  <a:txBody>
                    <a:bodyPr/>
                    <a:lstStyle/>
                    <a:p>
                      <a:endParaRPr lang="zh-CN" altLang="en-US" sz="1800"/>
                    </a:p>
                  </a:txBody>
                  <a:tcPr marT="45691" marB="45691"/>
                </a:tc>
                <a:tc>
                  <a:txBody>
                    <a:bodyPr/>
                    <a:lstStyle/>
                    <a:p>
                      <a:endParaRPr lang="zh-CN" altLang="en-US" sz="1800" dirty="0"/>
                    </a:p>
                  </a:txBody>
                  <a:tcPr marT="45691" marB="45691"/>
                </a:tc>
                <a:tc>
                  <a:txBody>
                    <a:bodyPr/>
                    <a:lstStyle/>
                    <a:p>
                      <a:endParaRPr lang="zh-CN" altLang="en-US" sz="1800"/>
                    </a:p>
                  </a:txBody>
                  <a:tcPr marT="45691" marB="45691"/>
                </a:tc>
                <a:tc>
                  <a:txBody>
                    <a:bodyPr/>
                    <a:lstStyle/>
                    <a:p>
                      <a:endParaRPr lang="zh-CN" altLang="en-US" sz="1800" dirty="0"/>
                    </a:p>
                  </a:txBody>
                  <a:tcPr marT="45691" marB="45691"/>
                </a:tc>
                <a:extLst>
                  <a:ext uri="{0D108BD9-81ED-4DB2-BD59-A6C34878D82A}">
                    <a16:rowId xmlns:a16="http://schemas.microsoft.com/office/drawing/2014/main" val="10003"/>
                  </a:ext>
                </a:extLst>
              </a:tr>
              <a:tr h="396118">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000" b="1" dirty="0"/>
                        <a:t>P3</a:t>
                      </a:r>
                      <a:endParaRPr lang="zh-CN" altLang="en-US" sz="2000" b="1" dirty="0"/>
                    </a:p>
                  </a:txBody>
                  <a:tcPr marT="45691" marB="45691"/>
                </a:tc>
                <a:tc>
                  <a:txBody>
                    <a:bodyPr/>
                    <a:lstStyle/>
                    <a:p>
                      <a:endParaRPr lang="zh-CN" altLang="en-US" sz="1800"/>
                    </a:p>
                  </a:txBody>
                  <a:tcPr marT="45691" marB="45691"/>
                </a:tc>
                <a:tc>
                  <a:txBody>
                    <a:bodyPr/>
                    <a:lstStyle/>
                    <a:p>
                      <a:endParaRPr lang="zh-CN" altLang="en-US" sz="1800"/>
                    </a:p>
                  </a:txBody>
                  <a:tcPr marT="45691" marB="45691"/>
                </a:tc>
                <a:tc>
                  <a:txBody>
                    <a:bodyPr/>
                    <a:lstStyle/>
                    <a:p>
                      <a:endParaRPr lang="zh-CN" altLang="en-US" sz="1800"/>
                    </a:p>
                  </a:txBody>
                  <a:tcPr marT="45691" marB="45691"/>
                </a:tc>
                <a:tc>
                  <a:txBody>
                    <a:bodyPr/>
                    <a:lstStyle/>
                    <a:p>
                      <a:endParaRPr lang="zh-CN" altLang="en-US" sz="1800"/>
                    </a:p>
                  </a:txBody>
                  <a:tcPr marT="45691" marB="45691"/>
                </a:tc>
                <a:extLst>
                  <a:ext uri="{0D108BD9-81ED-4DB2-BD59-A6C34878D82A}">
                    <a16:rowId xmlns:a16="http://schemas.microsoft.com/office/drawing/2014/main" val="10004"/>
                  </a:ext>
                </a:extLst>
              </a:tr>
              <a:tr h="396118">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000" b="1" dirty="0"/>
                        <a:t>P4</a:t>
                      </a:r>
                      <a:endParaRPr lang="zh-CN" altLang="en-US" sz="2000" b="1" dirty="0"/>
                    </a:p>
                  </a:txBody>
                  <a:tcPr marT="45691" marB="45691"/>
                </a:tc>
                <a:tc>
                  <a:txBody>
                    <a:bodyPr/>
                    <a:lstStyle/>
                    <a:p>
                      <a:endParaRPr lang="zh-CN" altLang="en-US" sz="1800"/>
                    </a:p>
                  </a:txBody>
                  <a:tcPr marT="45691" marB="45691"/>
                </a:tc>
                <a:tc>
                  <a:txBody>
                    <a:bodyPr/>
                    <a:lstStyle/>
                    <a:p>
                      <a:endParaRPr lang="zh-CN" altLang="en-US" sz="1800"/>
                    </a:p>
                  </a:txBody>
                  <a:tcPr marT="45691" marB="45691"/>
                </a:tc>
                <a:tc>
                  <a:txBody>
                    <a:bodyPr/>
                    <a:lstStyle/>
                    <a:p>
                      <a:endParaRPr lang="zh-CN" altLang="en-US" sz="1800"/>
                    </a:p>
                  </a:txBody>
                  <a:tcPr marT="45691" marB="45691"/>
                </a:tc>
                <a:tc>
                  <a:txBody>
                    <a:bodyPr/>
                    <a:lstStyle/>
                    <a:p>
                      <a:endParaRPr lang="zh-CN" altLang="en-US" sz="1800" dirty="0"/>
                    </a:p>
                  </a:txBody>
                  <a:tcPr marT="45691" marB="45691"/>
                </a:tc>
                <a:extLst>
                  <a:ext uri="{0D108BD9-81ED-4DB2-BD59-A6C34878D82A}">
                    <a16:rowId xmlns:a16="http://schemas.microsoft.com/office/drawing/2014/main" val="10005"/>
                  </a:ext>
                </a:extLst>
              </a:tr>
            </a:tbl>
          </a:graphicData>
        </a:graphic>
      </p:graphicFrame>
      <p:sp>
        <p:nvSpPr>
          <p:cNvPr id="30763" name="矩形 3"/>
          <p:cNvSpPr>
            <a:spLocks noChangeArrowheads="1"/>
          </p:cNvSpPr>
          <p:nvPr/>
        </p:nvSpPr>
        <p:spPr bwMode="auto">
          <a:xfrm>
            <a:off x="34925" y="3644900"/>
            <a:ext cx="910907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400" b="1" i="0" u="none" strike="noStrike" kern="1200" cap="none" spc="0" normalizeH="0" baseline="0" noProof="0" dirty="0">
                <a:ln>
                  <a:noFill/>
                </a:ln>
                <a:solidFill>
                  <a:srgbClr val="FFFF00"/>
                </a:solidFill>
                <a:effectLst/>
                <a:uLnTx/>
                <a:uFillTx/>
                <a:latin typeface="+mn-lt"/>
                <a:ea typeface="黑体" panose="02010609060101010101" pitchFamily="49" charset="-122"/>
                <a:cs typeface="+mn-cs"/>
              </a:rPr>
              <a:t>（</a:t>
            </a:r>
            <a:r>
              <a:rPr kumimoji="1" lang="en-US" altLang="zh-CN" sz="2400" b="1" i="0" u="none" strike="noStrike" kern="1200" cap="none" spc="0" normalizeH="0" baseline="0" noProof="0" dirty="0">
                <a:ln>
                  <a:noFill/>
                </a:ln>
                <a:solidFill>
                  <a:srgbClr val="FFFF00"/>
                </a:solidFill>
                <a:effectLst/>
                <a:uLnTx/>
                <a:uFillTx/>
                <a:latin typeface="+mn-lt"/>
                <a:ea typeface="黑体" panose="02010609060101010101" pitchFamily="49" charset="-122"/>
                <a:cs typeface="+mn-cs"/>
              </a:rPr>
              <a:t>2</a:t>
            </a:r>
            <a:r>
              <a:rPr kumimoji="1" lang="zh-CN" altLang="en-US" sz="2400" b="1" i="0" u="none" strike="noStrike" kern="1200" cap="none" spc="0" normalizeH="0" baseline="0" noProof="0" dirty="0">
                <a:ln>
                  <a:noFill/>
                </a:ln>
                <a:solidFill>
                  <a:srgbClr val="FFFF00"/>
                </a:solidFill>
                <a:effectLst/>
                <a:uLnTx/>
                <a:uFillTx/>
                <a:latin typeface="+mn-lt"/>
                <a:ea typeface="黑体" panose="02010609060101010101" pitchFamily="49" charset="-122"/>
                <a:cs typeface="+mn-cs"/>
              </a:rPr>
              <a:t>）若主程序运行时，同时出现第</a:t>
            </a:r>
            <a:r>
              <a:rPr kumimoji="1" lang="en-US" altLang="zh-CN" sz="2400" b="1" i="0" u="none" strike="noStrike" kern="1200" cap="none" spc="0" normalizeH="0" baseline="0" noProof="0" dirty="0">
                <a:ln>
                  <a:noFill/>
                </a:ln>
                <a:solidFill>
                  <a:srgbClr val="FF0000"/>
                </a:solidFill>
                <a:effectLst/>
                <a:uLnTx/>
                <a:uFillTx/>
                <a:latin typeface="+mn-lt"/>
                <a:ea typeface="黑体" panose="02010609060101010101" pitchFamily="49" charset="-122"/>
                <a:cs typeface="+mn-cs"/>
              </a:rPr>
              <a:t>2</a:t>
            </a:r>
            <a:r>
              <a:rPr kumimoji="1" lang="zh-CN" altLang="en-US" sz="2400" b="1" i="0" u="none" strike="noStrike" kern="1200" cap="none" spc="0" normalizeH="0" baseline="0" noProof="0" dirty="0">
                <a:ln>
                  <a:noFill/>
                </a:ln>
                <a:solidFill>
                  <a:srgbClr val="FF0000"/>
                </a:solidFill>
                <a:effectLst/>
                <a:uLnTx/>
                <a:uFillTx/>
                <a:latin typeface="+mn-lt"/>
                <a:ea typeface="黑体" panose="02010609060101010101" pitchFamily="49" charset="-122"/>
                <a:cs typeface="+mn-cs"/>
              </a:rPr>
              <a:t>、</a:t>
            </a:r>
            <a:r>
              <a:rPr kumimoji="1" lang="en-US" altLang="zh-CN" sz="2400" b="1" i="0" u="none" strike="noStrike" kern="1200" cap="none" spc="0" normalizeH="0" baseline="0" noProof="0" dirty="0">
                <a:ln>
                  <a:noFill/>
                </a:ln>
                <a:solidFill>
                  <a:srgbClr val="FF0000"/>
                </a:solidFill>
                <a:effectLst/>
                <a:uLnTx/>
                <a:uFillTx/>
                <a:latin typeface="+mn-lt"/>
                <a:ea typeface="黑体" panose="02010609060101010101" pitchFamily="49" charset="-122"/>
                <a:cs typeface="+mn-cs"/>
              </a:rPr>
              <a:t>4</a:t>
            </a:r>
            <a:r>
              <a:rPr kumimoji="1" lang="zh-CN" altLang="en-US" sz="2400" b="1" i="0" u="none" strike="noStrike" kern="1200" cap="none" spc="0" normalizeH="0" baseline="0" noProof="0" dirty="0">
                <a:ln>
                  <a:noFill/>
                </a:ln>
                <a:solidFill>
                  <a:srgbClr val="FFFF00"/>
                </a:solidFill>
                <a:effectLst/>
                <a:uLnTx/>
                <a:uFillTx/>
                <a:latin typeface="+mn-lt"/>
                <a:ea typeface="黑体" panose="02010609060101010101" pitchFamily="49" charset="-122"/>
                <a:cs typeface="+mn-cs"/>
              </a:rPr>
              <a:t>级中断请求，处理第</a:t>
            </a:r>
            <a:r>
              <a:rPr kumimoji="1" lang="en-US" altLang="zh-CN" sz="2400" b="1" i="0" u="none" strike="noStrike" kern="1200" cap="none" spc="0" normalizeH="0" baseline="0" noProof="0" dirty="0">
                <a:ln>
                  <a:noFill/>
                </a:ln>
                <a:solidFill>
                  <a:srgbClr val="FF0000"/>
                </a:solidFill>
                <a:effectLst/>
                <a:uLnTx/>
                <a:uFillTx/>
                <a:latin typeface="+mn-lt"/>
                <a:ea typeface="黑体" panose="02010609060101010101" pitchFamily="49" charset="-122"/>
                <a:cs typeface="+mn-cs"/>
              </a:rPr>
              <a:t>2</a:t>
            </a:r>
            <a:r>
              <a:rPr kumimoji="1" lang="zh-CN" altLang="en-US" sz="2400" b="1" i="0" u="none" strike="noStrike" kern="1200" cap="none" spc="0" normalizeH="0" baseline="0" noProof="0" dirty="0">
                <a:ln>
                  <a:noFill/>
                </a:ln>
                <a:solidFill>
                  <a:srgbClr val="FFFF00"/>
                </a:solidFill>
                <a:effectLst/>
                <a:uLnTx/>
                <a:uFillTx/>
                <a:latin typeface="+mn-lt"/>
                <a:ea typeface="黑体" panose="02010609060101010101" pitchFamily="49" charset="-122"/>
                <a:cs typeface="+mn-cs"/>
              </a:rPr>
              <a:t>级中断服务程序时，又出现第</a:t>
            </a:r>
            <a:r>
              <a:rPr kumimoji="1" lang="en-US" altLang="zh-CN" sz="2400" b="1" i="0" u="none" strike="noStrike" kern="1200" cap="none" spc="0" normalizeH="0" baseline="0" noProof="0" dirty="0">
                <a:ln>
                  <a:noFill/>
                </a:ln>
                <a:solidFill>
                  <a:srgbClr val="FF0000"/>
                </a:solidFill>
                <a:effectLst/>
                <a:uLnTx/>
                <a:uFillTx/>
                <a:latin typeface="+mn-lt"/>
                <a:ea typeface="黑体" panose="02010609060101010101" pitchFamily="49" charset="-122"/>
                <a:cs typeface="+mn-cs"/>
              </a:rPr>
              <a:t>1</a:t>
            </a:r>
            <a:r>
              <a:rPr kumimoji="1" lang="zh-CN" altLang="en-US" sz="2400" b="1" i="0" u="none" strike="noStrike" kern="1200" cap="none" spc="0" normalizeH="0" baseline="0" noProof="0" dirty="0">
                <a:ln>
                  <a:noFill/>
                </a:ln>
                <a:solidFill>
                  <a:srgbClr val="FF0000"/>
                </a:solidFill>
                <a:effectLst/>
                <a:uLnTx/>
                <a:uFillTx/>
                <a:latin typeface="+mn-lt"/>
                <a:ea typeface="黑体" panose="02010609060101010101" pitchFamily="49" charset="-122"/>
                <a:cs typeface="+mn-cs"/>
              </a:rPr>
              <a:t>、</a:t>
            </a:r>
            <a:r>
              <a:rPr kumimoji="1" lang="en-US" altLang="zh-CN" sz="2400" b="1" i="0" u="none" strike="noStrike" kern="1200" cap="none" spc="0" normalizeH="0" baseline="0" noProof="0" dirty="0">
                <a:ln>
                  <a:noFill/>
                </a:ln>
                <a:solidFill>
                  <a:srgbClr val="FF0000"/>
                </a:solidFill>
                <a:effectLst/>
                <a:uLnTx/>
                <a:uFillTx/>
                <a:latin typeface="+mn-lt"/>
                <a:ea typeface="黑体" panose="02010609060101010101" pitchFamily="49" charset="-122"/>
                <a:cs typeface="+mn-cs"/>
              </a:rPr>
              <a:t>3</a:t>
            </a:r>
            <a:r>
              <a:rPr kumimoji="1" lang="zh-CN" altLang="en-US" sz="2400" b="1" i="0" u="none" strike="noStrike" kern="1200" cap="none" spc="0" normalizeH="0" baseline="0" noProof="0" dirty="0">
                <a:ln>
                  <a:noFill/>
                </a:ln>
                <a:solidFill>
                  <a:srgbClr val="FFFF00"/>
                </a:solidFill>
                <a:effectLst/>
                <a:uLnTx/>
                <a:uFillTx/>
                <a:latin typeface="+mn-lt"/>
                <a:ea typeface="黑体" panose="02010609060101010101" pitchFamily="49" charset="-122"/>
                <a:cs typeface="+mn-cs"/>
              </a:rPr>
              <a:t>级中断请求，画出运行过程图。</a:t>
            </a:r>
            <a:endParaRPr kumimoji="1" lang="en-US" altLang="zh-CN" sz="2400" b="1" i="0" u="none" strike="noStrike" kern="1200" cap="none" spc="0" normalizeH="0" baseline="0" noProof="0" dirty="0">
              <a:ln>
                <a:noFill/>
              </a:ln>
              <a:solidFill>
                <a:srgbClr val="FFFF00"/>
              </a:solidFill>
              <a:effectLst/>
              <a:uLnTx/>
              <a:uFillTx/>
              <a:latin typeface="+mn-lt"/>
              <a:ea typeface="黑体" panose="02010609060101010101" pitchFamily="49" charset="-122"/>
              <a:cs typeface="+mn-cs"/>
            </a:endParaRPr>
          </a:p>
        </p:txBody>
      </p:sp>
      <p:graphicFrame>
        <p:nvGraphicFramePr>
          <p:cNvPr id="4" name="表格 3"/>
          <p:cNvGraphicFramePr>
            <a:graphicFrameLocks noGrp="1"/>
          </p:cNvGraphicFramePr>
          <p:nvPr/>
        </p:nvGraphicFramePr>
        <p:xfrm>
          <a:off x="1835150" y="2060575"/>
          <a:ext cx="4537075" cy="1584696"/>
        </p:xfrm>
        <a:graphic>
          <a:graphicData uri="http://schemas.openxmlformats.org/drawingml/2006/table">
            <a:tbl>
              <a:tblPr firstRow="1" bandRow="1">
                <a:tableStyleId>{5940675A-B579-460E-94D1-54222C63F5DA}</a:tableStyleId>
              </a:tblPr>
              <a:tblGrid>
                <a:gridCol w="1080256">
                  <a:extLst>
                    <a:ext uri="{9D8B030D-6E8A-4147-A177-3AD203B41FA5}">
                      <a16:colId xmlns:a16="http://schemas.microsoft.com/office/drawing/2014/main" val="20000"/>
                    </a:ext>
                  </a:extLst>
                </a:gridCol>
                <a:gridCol w="1152273">
                  <a:extLst>
                    <a:ext uri="{9D8B030D-6E8A-4147-A177-3AD203B41FA5}">
                      <a16:colId xmlns:a16="http://schemas.microsoft.com/office/drawing/2014/main" val="20001"/>
                    </a:ext>
                  </a:extLst>
                </a:gridCol>
                <a:gridCol w="1085193">
                  <a:extLst>
                    <a:ext uri="{9D8B030D-6E8A-4147-A177-3AD203B41FA5}">
                      <a16:colId xmlns:a16="http://schemas.microsoft.com/office/drawing/2014/main" val="20002"/>
                    </a:ext>
                  </a:extLst>
                </a:gridCol>
                <a:gridCol w="1219353">
                  <a:extLst>
                    <a:ext uri="{9D8B030D-6E8A-4147-A177-3AD203B41FA5}">
                      <a16:colId xmlns:a16="http://schemas.microsoft.com/office/drawing/2014/main" val="20003"/>
                    </a:ext>
                  </a:extLst>
                </a:gridCol>
              </a:tblGrid>
              <a:tr h="396081">
                <a:tc>
                  <a:txBody>
                    <a:bodyPr/>
                    <a:lstStyle/>
                    <a:p>
                      <a:pPr algn="ctr"/>
                      <a:r>
                        <a:rPr lang="en-US" altLang="zh-CN" sz="2000" b="1" dirty="0">
                          <a:solidFill>
                            <a:srgbClr val="00FF00"/>
                          </a:solidFill>
                        </a:rPr>
                        <a:t>1</a:t>
                      </a:r>
                      <a:endParaRPr lang="zh-CN" altLang="en-US" sz="2000" b="1" dirty="0">
                        <a:solidFill>
                          <a:srgbClr val="00FF00"/>
                        </a:solidFill>
                      </a:endParaRPr>
                    </a:p>
                  </a:txBody>
                  <a:tcPr marL="91452" marR="91452" marT="45687" marB="45687"/>
                </a:tc>
                <a:tc>
                  <a:txBody>
                    <a:bodyPr/>
                    <a:lstStyle/>
                    <a:p>
                      <a:pPr algn="ctr"/>
                      <a:r>
                        <a:rPr lang="en-US" altLang="zh-CN" sz="2000" b="1" dirty="0">
                          <a:solidFill>
                            <a:srgbClr val="00FF00"/>
                          </a:solidFill>
                        </a:rPr>
                        <a:t>1</a:t>
                      </a:r>
                      <a:endParaRPr lang="zh-CN" altLang="en-US" sz="2000" b="1" dirty="0">
                        <a:solidFill>
                          <a:srgbClr val="00FF00"/>
                        </a:solidFill>
                      </a:endParaRPr>
                    </a:p>
                  </a:txBody>
                  <a:tcPr marL="91452" marR="91452" marT="45687" marB="45687"/>
                </a:tc>
                <a:tc>
                  <a:txBody>
                    <a:bodyPr/>
                    <a:lstStyle/>
                    <a:p>
                      <a:pPr algn="ctr"/>
                      <a:r>
                        <a:rPr lang="en-US" altLang="zh-CN" sz="2000" b="1" dirty="0">
                          <a:solidFill>
                            <a:srgbClr val="00FF00"/>
                          </a:solidFill>
                        </a:rPr>
                        <a:t>1</a:t>
                      </a:r>
                      <a:endParaRPr lang="zh-CN" altLang="en-US" sz="2000" b="1" dirty="0">
                        <a:solidFill>
                          <a:srgbClr val="00FF00"/>
                        </a:solidFill>
                      </a:endParaRPr>
                    </a:p>
                  </a:txBody>
                  <a:tcPr marL="91452" marR="91452" marT="45687" marB="45687"/>
                </a:tc>
                <a:tc>
                  <a:txBody>
                    <a:bodyPr/>
                    <a:lstStyle/>
                    <a:p>
                      <a:pPr algn="ctr"/>
                      <a:r>
                        <a:rPr lang="en-US" altLang="zh-CN" sz="2000" b="1" dirty="0">
                          <a:solidFill>
                            <a:srgbClr val="00FF00"/>
                          </a:solidFill>
                        </a:rPr>
                        <a:t>1</a:t>
                      </a:r>
                      <a:endParaRPr lang="zh-CN" altLang="en-US" sz="2000" b="1" dirty="0">
                        <a:solidFill>
                          <a:srgbClr val="00FF00"/>
                        </a:solidFill>
                      </a:endParaRPr>
                    </a:p>
                  </a:txBody>
                  <a:tcPr marL="91452" marR="91452" marT="45687" marB="45687"/>
                </a:tc>
                <a:extLst>
                  <a:ext uri="{0D108BD9-81ED-4DB2-BD59-A6C34878D82A}">
                    <a16:rowId xmlns:a16="http://schemas.microsoft.com/office/drawing/2014/main" val="10000"/>
                  </a:ext>
                </a:extLst>
              </a:tr>
              <a:tr h="396081">
                <a:tc>
                  <a:txBody>
                    <a:bodyPr/>
                    <a:lstStyle/>
                    <a:p>
                      <a:pPr algn="ctr"/>
                      <a:r>
                        <a:rPr lang="en-US" altLang="zh-CN" sz="2000" b="1" dirty="0">
                          <a:solidFill>
                            <a:srgbClr val="00FF00"/>
                          </a:solidFill>
                        </a:rPr>
                        <a:t>0</a:t>
                      </a:r>
                      <a:endParaRPr lang="zh-CN" altLang="en-US" sz="2000" b="1" dirty="0">
                        <a:solidFill>
                          <a:srgbClr val="00FF00"/>
                        </a:solidFill>
                      </a:endParaRPr>
                    </a:p>
                  </a:txBody>
                  <a:tcPr marL="91452" marR="91452" marT="45687" marB="45687"/>
                </a:tc>
                <a:tc>
                  <a:txBody>
                    <a:bodyPr/>
                    <a:lstStyle/>
                    <a:p>
                      <a:pPr algn="ctr"/>
                      <a:r>
                        <a:rPr lang="en-US" altLang="zh-CN" sz="2000" b="1" dirty="0">
                          <a:solidFill>
                            <a:srgbClr val="00FF00"/>
                          </a:solidFill>
                        </a:rPr>
                        <a:t>1</a:t>
                      </a:r>
                      <a:endParaRPr lang="zh-CN" altLang="en-US" sz="2000" b="1" dirty="0">
                        <a:solidFill>
                          <a:srgbClr val="00FF00"/>
                        </a:solidFill>
                      </a:endParaRPr>
                    </a:p>
                  </a:txBody>
                  <a:tcPr marL="91452" marR="91452" marT="45687" marB="45687"/>
                </a:tc>
                <a:tc>
                  <a:txBody>
                    <a:bodyPr/>
                    <a:lstStyle/>
                    <a:p>
                      <a:pPr algn="ctr"/>
                      <a:r>
                        <a:rPr lang="en-US" altLang="zh-CN" sz="2000" b="1" dirty="0">
                          <a:solidFill>
                            <a:srgbClr val="00FF00"/>
                          </a:solidFill>
                        </a:rPr>
                        <a:t>0</a:t>
                      </a:r>
                      <a:endParaRPr lang="zh-CN" altLang="en-US" sz="2000" b="1" dirty="0">
                        <a:solidFill>
                          <a:srgbClr val="00FF00"/>
                        </a:solidFill>
                      </a:endParaRPr>
                    </a:p>
                  </a:txBody>
                  <a:tcPr marL="91452" marR="91452" marT="45687" marB="45687"/>
                </a:tc>
                <a:tc>
                  <a:txBody>
                    <a:bodyPr/>
                    <a:lstStyle/>
                    <a:p>
                      <a:pPr algn="ctr"/>
                      <a:r>
                        <a:rPr lang="en-US" altLang="zh-CN" sz="2000" b="1" dirty="0">
                          <a:solidFill>
                            <a:srgbClr val="00FF00"/>
                          </a:solidFill>
                        </a:rPr>
                        <a:t>0</a:t>
                      </a:r>
                      <a:endParaRPr lang="zh-CN" altLang="en-US" sz="2000" b="1" dirty="0">
                        <a:solidFill>
                          <a:srgbClr val="00FF00"/>
                        </a:solidFill>
                      </a:endParaRPr>
                    </a:p>
                  </a:txBody>
                  <a:tcPr marL="91452" marR="91452" marT="45687" marB="45687"/>
                </a:tc>
                <a:extLst>
                  <a:ext uri="{0D108BD9-81ED-4DB2-BD59-A6C34878D82A}">
                    <a16:rowId xmlns:a16="http://schemas.microsoft.com/office/drawing/2014/main" val="10001"/>
                  </a:ext>
                </a:extLst>
              </a:tr>
              <a:tr h="396081">
                <a:tc>
                  <a:txBody>
                    <a:bodyPr/>
                    <a:lstStyle/>
                    <a:p>
                      <a:pPr algn="ctr"/>
                      <a:r>
                        <a:rPr lang="en-US" altLang="zh-CN" sz="2000" b="1" dirty="0">
                          <a:solidFill>
                            <a:srgbClr val="00FF00"/>
                          </a:solidFill>
                        </a:rPr>
                        <a:t>0</a:t>
                      </a:r>
                      <a:endParaRPr lang="zh-CN" altLang="en-US" sz="2000" b="1" dirty="0">
                        <a:solidFill>
                          <a:srgbClr val="00FF00"/>
                        </a:solidFill>
                      </a:endParaRPr>
                    </a:p>
                  </a:txBody>
                  <a:tcPr marL="91452" marR="91452" marT="45687" marB="45687"/>
                </a:tc>
                <a:tc>
                  <a:txBody>
                    <a:bodyPr/>
                    <a:lstStyle/>
                    <a:p>
                      <a:pPr algn="ctr"/>
                      <a:r>
                        <a:rPr lang="en-US" altLang="zh-CN" sz="2000" b="1" dirty="0">
                          <a:solidFill>
                            <a:srgbClr val="00FF00"/>
                          </a:solidFill>
                        </a:rPr>
                        <a:t>1</a:t>
                      </a:r>
                      <a:endParaRPr lang="zh-CN" altLang="en-US" sz="2000" b="1" dirty="0">
                        <a:solidFill>
                          <a:srgbClr val="00FF00"/>
                        </a:solidFill>
                      </a:endParaRPr>
                    </a:p>
                  </a:txBody>
                  <a:tcPr marL="91452" marR="91452" marT="45687" marB="45687"/>
                </a:tc>
                <a:tc>
                  <a:txBody>
                    <a:bodyPr/>
                    <a:lstStyle/>
                    <a:p>
                      <a:pPr algn="ctr"/>
                      <a:r>
                        <a:rPr lang="en-US" altLang="zh-CN" sz="2000" b="1" dirty="0">
                          <a:solidFill>
                            <a:srgbClr val="00FF00"/>
                          </a:solidFill>
                        </a:rPr>
                        <a:t>1</a:t>
                      </a:r>
                      <a:endParaRPr lang="zh-CN" altLang="en-US" sz="2000" b="1" dirty="0">
                        <a:solidFill>
                          <a:srgbClr val="00FF00"/>
                        </a:solidFill>
                      </a:endParaRPr>
                    </a:p>
                  </a:txBody>
                  <a:tcPr marL="91452" marR="91452" marT="45687" marB="45687"/>
                </a:tc>
                <a:tc>
                  <a:txBody>
                    <a:bodyPr/>
                    <a:lstStyle/>
                    <a:p>
                      <a:pPr algn="ctr"/>
                      <a:r>
                        <a:rPr lang="en-US" altLang="zh-CN" sz="2000" b="1" dirty="0">
                          <a:solidFill>
                            <a:srgbClr val="00FF00"/>
                          </a:solidFill>
                        </a:rPr>
                        <a:t>0</a:t>
                      </a:r>
                      <a:endParaRPr lang="zh-CN" altLang="en-US" sz="2000" b="1" dirty="0">
                        <a:solidFill>
                          <a:srgbClr val="00FF00"/>
                        </a:solidFill>
                      </a:endParaRPr>
                    </a:p>
                  </a:txBody>
                  <a:tcPr marL="91452" marR="91452" marT="45687" marB="45687"/>
                </a:tc>
                <a:extLst>
                  <a:ext uri="{0D108BD9-81ED-4DB2-BD59-A6C34878D82A}">
                    <a16:rowId xmlns:a16="http://schemas.microsoft.com/office/drawing/2014/main" val="10002"/>
                  </a:ext>
                </a:extLst>
              </a:tr>
              <a:tr h="396081">
                <a:tc>
                  <a:txBody>
                    <a:bodyPr/>
                    <a:lstStyle/>
                    <a:p>
                      <a:pPr algn="ctr"/>
                      <a:r>
                        <a:rPr lang="en-US" altLang="zh-CN" sz="2000" b="1" dirty="0">
                          <a:solidFill>
                            <a:srgbClr val="00FF00"/>
                          </a:solidFill>
                        </a:rPr>
                        <a:t>0</a:t>
                      </a:r>
                      <a:endParaRPr lang="zh-CN" altLang="en-US" sz="2000" b="1" dirty="0">
                        <a:solidFill>
                          <a:srgbClr val="00FF00"/>
                        </a:solidFill>
                      </a:endParaRPr>
                    </a:p>
                  </a:txBody>
                  <a:tcPr marL="91452" marR="91452" marT="45687" marB="45687"/>
                </a:tc>
                <a:tc>
                  <a:txBody>
                    <a:bodyPr/>
                    <a:lstStyle/>
                    <a:p>
                      <a:pPr algn="ctr"/>
                      <a:r>
                        <a:rPr lang="en-US" altLang="zh-CN" sz="2000" b="1" dirty="0">
                          <a:solidFill>
                            <a:srgbClr val="00FF00"/>
                          </a:solidFill>
                        </a:rPr>
                        <a:t>1</a:t>
                      </a:r>
                      <a:endParaRPr lang="zh-CN" altLang="en-US" sz="2000" b="1" dirty="0">
                        <a:solidFill>
                          <a:srgbClr val="00FF00"/>
                        </a:solidFill>
                      </a:endParaRPr>
                    </a:p>
                  </a:txBody>
                  <a:tcPr marL="91452" marR="91452" marT="45687" marB="45687"/>
                </a:tc>
                <a:tc>
                  <a:txBody>
                    <a:bodyPr/>
                    <a:lstStyle/>
                    <a:p>
                      <a:pPr algn="ctr"/>
                      <a:r>
                        <a:rPr lang="en-US" altLang="zh-CN" sz="2000" b="1" dirty="0">
                          <a:solidFill>
                            <a:srgbClr val="00FF00"/>
                          </a:solidFill>
                        </a:rPr>
                        <a:t>1</a:t>
                      </a:r>
                      <a:endParaRPr lang="zh-CN" altLang="en-US" sz="2000" b="1" dirty="0">
                        <a:solidFill>
                          <a:srgbClr val="00FF00"/>
                        </a:solidFill>
                      </a:endParaRPr>
                    </a:p>
                  </a:txBody>
                  <a:tcPr marL="91452" marR="91452" marT="45687" marB="45687"/>
                </a:tc>
                <a:tc>
                  <a:txBody>
                    <a:bodyPr/>
                    <a:lstStyle/>
                    <a:p>
                      <a:pPr algn="ctr"/>
                      <a:r>
                        <a:rPr lang="en-US" altLang="zh-CN" sz="2000" b="1" dirty="0">
                          <a:solidFill>
                            <a:srgbClr val="00FF00"/>
                          </a:solidFill>
                        </a:rPr>
                        <a:t>1</a:t>
                      </a:r>
                      <a:endParaRPr lang="zh-CN" altLang="en-US" sz="2000" b="1" dirty="0">
                        <a:solidFill>
                          <a:srgbClr val="00FF00"/>
                        </a:solidFill>
                      </a:endParaRPr>
                    </a:p>
                  </a:txBody>
                  <a:tcPr marL="91452" marR="91452" marT="45687" marB="45687"/>
                </a:tc>
                <a:extLst>
                  <a:ext uri="{0D108BD9-81ED-4DB2-BD59-A6C34878D82A}">
                    <a16:rowId xmlns:a16="http://schemas.microsoft.com/office/drawing/2014/main" val="10003"/>
                  </a:ext>
                </a:extLst>
              </a:tr>
            </a:tbl>
          </a:graphicData>
        </a:graphic>
      </p:graphicFrame>
      <p:grpSp>
        <p:nvGrpSpPr>
          <p:cNvPr id="37" name="组合 36"/>
          <p:cNvGrpSpPr/>
          <p:nvPr/>
        </p:nvGrpSpPr>
        <p:grpSpPr>
          <a:xfrm>
            <a:off x="215900" y="4370388"/>
            <a:ext cx="522288" cy="1987550"/>
            <a:chOff x="215608" y="4370274"/>
            <a:chExt cx="522335" cy="1986990"/>
          </a:xfrm>
        </p:grpSpPr>
        <p:sp>
          <p:nvSpPr>
            <p:cNvPr id="23641" name="TextBox 4"/>
            <p:cNvSpPr txBox="1"/>
            <p:nvPr/>
          </p:nvSpPr>
          <p:spPr>
            <a:xfrm>
              <a:off x="263133" y="4370274"/>
              <a:ext cx="474810" cy="461665"/>
            </a:xfrm>
            <a:prstGeom prst="rect">
              <a:avLst/>
            </a:prstGeom>
            <a:noFill/>
            <a:ln w="9525">
              <a:noFill/>
            </a:ln>
          </p:spPr>
          <p:txBody>
            <a:bodyPr wrap="none">
              <a:spAutoFit/>
            </a:bodyPr>
            <a:lstStyle/>
            <a:p>
              <a:r>
                <a:rPr lang="en-US" altLang="zh-CN" dirty="0">
                  <a:latin typeface="Times New Roman" panose="02020603050405020304" pitchFamily="18" charset="0"/>
                </a:rPr>
                <a:t>P</a:t>
              </a:r>
              <a:r>
                <a:rPr lang="en-US" altLang="zh-CN" baseline="-25000" dirty="0">
                  <a:latin typeface="Times New Roman" panose="02020603050405020304" pitchFamily="18" charset="0"/>
                </a:rPr>
                <a:t>4</a:t>
              </a:r>
              <a:endParaRPr lang="zh-CN" altLang="en-US" baseline="-25000" dirty="0">
                <a:latin typeface="Times New Roman" panose="02020603050405020304" pitchFamily="18" charset="0"/>
              </a:endParaRPr>
            </a:p>
          </p:txBody>
        </p:sp>
        <p:sp>
          <p:nvSpPr>
            <p:cNvPr id="23642" name="TextBox 6"/>
            <p:cNvSpPr txBox="1"/>
            <p:nvPr/>
          </p:nvSpPr>
          <p:spPr>
            <a:xfrm>
              <a:off x="251520" y="4718282"/>
              <a:ext cx="474810" cy="461665"/>
            </a:xfrm>
            <a:prstGeom prst="rect">
              <a:avLst/>
            </a:prstGeom>
            <a:noFill/>
            <a:ln w="9525">
              <a:noFill/>
            </a:ln>
          </p:spPr>
          <p:txBody>
            <a:bodyPr wrap="none">
              <a:spAutoFit/>
            </a:bodyPr>
            <a:lstStyle/>
            <a:p>
              <a:r>
                <a:rPr lang="en-US" altLang="zh-CN" dirty="0">
                  <a:latin typeface="Times New Roman" panose="02020603050405020304" pitchFamily="18" charset="0"/>
                </a:rPr>
                <a:t>P</a:t>
              </a:r>
              <a:r>
                <a:rPr lang="en-US" altLang="zh-CN" baseline="-25000" dirty="0">
                  <a:latin typeface="Times New Roman" panose="02020603050405020304" pitchFamily="18" charset="0"/>
                </a:rPr>
                <a:t>3</a:t>
              </a:r>
              <a:endParaRPr lang="zh-CN" altLang="en-US" baseline="-25000" dirty="0">
                <a:latin typeface="Times New Roman" panose="02020603050405020304" pitchFamily="18" charset="0"/>
              </a:endParaRPr>
            </a:p>
          </p:txBody>
        </p:sp>
        <p:sp>
          <p:nvSpPr>
            <p:cNvPr id="23643" name="TextBox 7"/>
            <p:cNvSpPr txBox="1"/>
            <p:nvPr/>
          </p:nvSpPr>
          <p:spPr>
            <a:xfrm>
              <a:off x="251101" y="5096833"/>
              <a:ext cx="474810" cy="461665"/>
            </a:xfrm>
            <a:prstGeom prst="rect">
              <a:avLst/>
            </a:prstGeom>
            <a:noFill/>
            <a:ln w="9525">
              <a:noFill/>
            </a:ln>
          </p:spPr>
          <p:txBody>
            <a:bodyPr wrap="none">
              <a:spAutoFit/>
            </a:bodyPr>
            <a:lstStyle/>
            <a:p>
              <a:r>
                <a:rPr lang="en-US" altLang="zh-CN" dirty="0">
                  <a:latin typeface="Times New Roman" panose="02020603050405020304" pitchFamily="18" charset="0"/>
                </a:rPr>
                <a:t>P</a:t>
              </a:r>
              <a:r>
                <a:rPr lang="en-US" altLang="zh-CN" baseline="-25000" dirty="0">
                  <a:latin typeface="Times New Roman" panose="02020603050405020304" pitchFamily="18" charset="0"/>
                </a:rPr>
                <a:t>2</a:t>
              </a:r>
              <a:endParaRPr lang="zh-CN" altLang="en-US" baseline="-25000" dirty="0">
                <a:latin typeface="Times New Roman" panose="02020603050405020304" pitchFamily="18" charset="0"/>
              </a:endParaRPr>
            </a:p>
          </p:txBody>
        </p:sp>
        <p:sp>
          <p:nvSpPr>
            <p:cNvPr id="23644" name="TextBox 8"/>
            <p:cNvSpPr txBox="1"/>
            <p:nvPr/>
          </p:nvSpPr>
          <p:spPr>
            <a:xfrm>
              <a:off x="251520" y="5468905"/>
              <a:ext cx="474810" cy="461665"/>
            </a:xfrm>
            <a:prstGeom prst="rect">
              <a:avLst/>
            </a:prstGeom>
            <a:noFill/>
            <a:ln w="9525">
              <a:noFill/>
            </a:ln>
          </p:spPr>
          <p:txBody>
            <a:bodyPr wrap="none">
              <a:spAutoFit/>
            </a:bodyPr>
            <a:lstStyle/>
            <a:p>
              <a:r>
                <a:rPr lang="en-US" altLang="zh-CN" dirty="0">
                  <a:latin typeface="Times New Roman" panose="02020603050405020304" pitchFamily="18" charset="0"/>
                </a:rPr>
                <a:t>P</a:t>
              </a:r>
              <a:r>
                <a:rPr lang="en-US" altLang="zh-CN" baseline="-25000" dirty="0">
                  <a:latin typeface="Times New Roman" panose="02020603050405020304" pitchFamily="18" charset="0"/>
                </a:rPr>
                <a:t>1</a:t>
              </a:r>
              <a:endParaRPr lang="zh-CN" altLang="en-US" baseline="-25000" dirty="0">
                <a:latin typeface="Times New Roman" panose="02020603050405020304" pitchFamily="18" charset="0"/>
              </a:endParaRPr>
            </a:p>
          </p:txBody>
        </p:sp>
        <p:sp>
          <p:nvSpPr>
            <p:cNvPr id="23645" name="TextBox 9"/>
            <p:cNvSpPr txBox="1"/>
            <p:nvPr/>
          </p:nvSpPr>
          <p:spPr>
            <a:xfrm>
              <a:off x="215608" y="5895599"/>
              <a:ext cx="494046" cy="461665"/>
            </a:xfrm>
            <a:prstGeom prst="rect">
              <a:avLst/>
            </a:prstGeom>
            <a:noFill/>
            <a:ln w="9525">
              <a:noFill/>
            </a:ln>
          </p:spPr>
          <p:txBody>
            <a:bodyPr wrap="none">
              <a:spAutoFit/>
            </a:bodyPr>
            <a:lstStyle/>
            <a:p>
              <a:r>
                <a:rPr lang="zh-CN" altLang="en-US" dirty="0">
                  <a:latin typeface="Times New Roman" panose="02020603050405020304" pitchFamily="18" charset="0"/>
                </a:rPr>
                <a:t>主</a:t>
              </a:r>
              <a:endParaRPr lang="zh-CN" altLang="en-US" baseline="-25000" dirty="0">
                <a:latin typeface="Times New Roman" panose="02020603050405020304" pitchFamily="18" charset="0"/>
              </a:endParaRPr>
            </a:p>
          </p:txBody>
        </p:sp>
      </p:grpSp>
      <p:cxnSp>
        <p:nvCxnSpPr>
          <p:cNvPr id="11" name="直接连接符 10"/>
          <p:cNvCxnSpPr/>
          <p:nvPr/>
        </p:nvCxnSpPr>
        <p:spPr>
          <a:xfrm>
            <a:off x="900113" y="6126163"/>
            <a:ext cx="503237" cy="0"/>
          </a:xfrm>
          <a:prstGeom prst="line">
            <a:avLst/>
          </a:prstGeom>
          <a:ln w="38100" cap="flat" cmpd="sng">
            <a:solidFill>
              <a:schemeClr val="tx1"/>
            </a:solidFill>
            <a:prstDash val="solid"/>
            <a:headEnd type="none" w="med" len="med"/>
            <a:tailEnd type="none" w="med" len="med"/>
          </a:ln>
        </p:spPr>
      </p:cxnSp>
      <p:sp>
        <p:nvSpPr>
          <p:cNvPr id="13" name="TextBox 12"/>
          <p:cNvSpPr txBox="1"/>
          <p:nvPr/>
        </p:nvSpPr>
        <p:spPr>
          <a:xfrm>
            <a:off x="1187450" y="6135688"/>
            <a:ext cx="300038" cy="646112"/>
          </a:xfrm>
          <a:prstGeom prst="rect">
            <a:avLst/>
          </a:prstGeom>
          <a:noFill/>
          <a:ln w="9525">
            <a:noFill/>
          </a:ln>
        </p:spPr>
        <p:txBody>
          <a:bodyPr wrap="none">
            <a:spAutoFit/>
          </a:bodyPr>
          <a:lstStyle/>
          <a:p>
            <a:r>
              <a:rPr lang="en-US" altLang="zh-CN" sz="1800" dirty="0">
                <a:solidFill>
                  <a:srgbClr val="FF0000"/>
                </a:solidFill>
                <a:latin typeface="Times New Roman" panose="02020603050405020304" pitchFamily="18" charset="0"/>
              </a:rPr>
              <a:t>2</a:t>
            </a:r>
          </a:p>
          <a:p>
            <a:r>
              <a:rPr lang="en-US" altLang="zh-CN" sz="1800" dirty="0">
                <a:solidFill>
                  <a:srgbClr val="FF0000"/>
                </a:solidFill>
                <a:latin typeface="Times New Roman" panose="02020603050405020304" pitchFamily="18" charset="0"/>
              </a:rPr>
              <a:t>4</a:t>
            </a:r>
            <a:endParaRPr lang="zh-CN" altLang="en-US" sz="1800" dirty="0">
              <a:solidFill>
                <a:srgbClr val="FF0000"/>
              </a:solidFill>
              <a:latin typeface="Times New Roman" panose="02020603050405020304" pitchFamily="18" charset="0"/>
            </a:endParaRPr>
          </a:p>
        </p:txBody>
      </p:sp>
      <p:cxnSp>
        <p:nvCxnSpPr>
          <p:cNvPr id="14" name="直接连接符 13"/>
          <p:cNvCxnSpPr/>
          <p:nvPr/>
        </p:nvCxnSpPr>
        <p:spPr>
          <a:xfrm flipV="1">
            <a:off x="1403350" y="5314950"/>
            <a:ext cx="0" cy="788988"/>
          </a:xfrm>
          <a:prstGeom prst="line">
            <a:avLst/>
          </a:prstGeom>
          <a:ln w="9525" cap="flat" cmpd="sng">
            <a:solidFill>
              <a:schemeClr val="tx1"/>
            </a:solidFill>
            <a:prstDash val="dash"/>
            <a:headEnd type="none" w="med" len="med"/>
            <a:tailEnd type="none" w="med" len="med"/>
          </a:ln>
        </p:spPr>
      </p:cxnSp>
      <p:cxnSp>
        <p:nvCxnSpPr>
          <p:cNvPr id="18" name="直接连接符 17"/>
          <p:cNvCxnSpPr/>
          <p:nvPr/>
        </p:nvCxnSpPr>
        <p:spPr>
          <a:xfrm>
            <a:off x="1403350" y="5302250"/>
            <a:ext cx="180975" cy="0"/>
          </a:xfrm>
          <a:prstGeom prst="line">
            <a:avLst/>
          </a:prstGeom>
          <a:ln w="19050" cap="flat" cmpd="sng">
            <a:solidFill>
              <a:srgbClr val="00FF00"/>
            </a:solidFill>
            <a:prstDash val="solid"/>
            <a:headEnd type="none" w="med" len="med"/>
            <a:tailEnd type="none" w="med" len="med"/>
          </a:ln>
        </p:spPr>
      </p:cxnSp>
      <p:cxnSp>
        <p:nvCxnSpPr>
          <p:cNvPr id="20" name="直接连接符 19"/>
          <p:cNvCxnSpPr/>
          <p:nvPr/>
        </p:nvCxnSpPr>
        <p:spPr>
          <a:xfrm flipV="1">
            <a:off x="1587500" y="4624388"/>
            <a:ext cx="0" cy="677862"/>
          </a:xfrm>
          <a:prstGeom prst="line">
            <a:avLst/>
          </a:prstGeom>
          <a:ln w="9525" cap="flat" cmpd="sng">
            <a:solidFill>
              <a:schemeClr val="tx1"/>
            </a:solidFill>
            <a:prstDash val="dash"/>
            <a:headEnd type="none" w="med" len="med"/>
            <a:tailEnd type="none" w="med" len="med"/>
          </a:ln>
        </p:spPr>
      </p:cxnSp>
      <p:cxnSp>
        <p:nvCxnSpPr>
          <p:cNvPr id="22" name="直接连接符 21"/>
          <p:cNvCxnSpPr/>
          <p:nvPr/>
        </p:nvCxnSpPr>
        <p:spPr bwMode="auto">
          <a:xfrm>
            <a:off x="1595438" y="4629150"/>
            <a:ext cx="900113" cy="0"/>
          </a:xfrm>
          <a:prstGeom prst="line">
            <a:avLst/>
          </a:prstGeom>
          <a:solidFill>
            <a:schemeClr val="accent1"/>
          </a:solidFill>
          <a:ln w="19050" cap="flat" cmpd="sng" algn="ctr">
            <a:solidFill>
              <a:schemeClr val="tx2">
                <a:lumMod val="75000"/>
              </a:schemeClr>
            </a:solidFill>
            <a:prstDash val="solid"/>
            <a:round/>
            <a:headEnd type="none" w="med" len="med"/>
            <a:tailEnd type="none" w="med" len="med"/>
          </a:ln>
          <a:effectLst/>
        </p:spPr>
      </p:cxnSp>
      <p:cxnSp>
        <p:nvCxnSpPr>
          <p:cNvPr id="24" name="直接连接符 23"/>
          <p:cNvCxnSpPr/>
          <p:nvPr/>
        </p:nvCxnSpPr>
        <p:spPr>
          <a:xfrm flipV="1">
            <a:off x="2495550" y="4624388"/>
            <a:ext cx="0" cy="677862"/>
          </a:xfrm>
          <a:prstGeom prst="line">
            <a:avLst/>
          </a:prstGeom>
          <a:ln w="9525" cap="flat" cmpd="sng">
            <a:solidFill>
              <a:schemeClr val="tx1"/>
            </a:solidFill>
            <a:prstDash val="dash"/>
            <a:headEnd type="none" w="med" len="med"/>
            <a:tailEnd type="none" w="med" len="med"/>
          </a:ln>
        </p:spPr>
      </p:cxnSp>
      <p:cxnSp>
        <p:nvCxnSpPr>
          <p:cNvPr id="25" name="直接连接符 24"/>
          <p:cNvCxnSpPr/>
          <p:nvPr/>
        </p:nvCxnSpPr>
        <p:spPr>
          <a:xfrm>
            <a:off x="2495550" y="5294313"/>
            <a:ext cx="360363" cy="0"/>
          </a:xfrm>
          <a:prstGeom prst="line">
            <a:avLst/>
          </a:prstGeom>
          <a:ln w="19050" cap="flat" cmpd="sng">
            <a:solidFill>
              <a:srgbClr val="00FF00"/>
            </a:solidFill>
            <a:prstDash val="solid"/>
            <a:headEnd type="none" w="med" len="med"/>
            <a:tailEnd type="none" w="med" len="med"/>
          </a:ln>
        </p:spPr>
      </p:cxnSp>
      <p:cxnSp>
        <p:nvCxnSpPr>
          <p:cNvPr id="26" name="直接连接符 25"/>
          <p:cNvCxnSpPr/>
          <p:nvPr/>
        </p:nvCxnSpPr>
        <p:spPr>
          <a:xfrm flipV="1">
            <a:off x="2855913" y="5294313"/>
            <a:ext cx="0" cy="395287"/>
          </a:xfrm>
          <a:prstGeom prst="line">
            <a:avLst/>
          </a:prstGeom>
          <a:ln w="9525" cap="flat" cmpd="sng">
            <a:solidFill>
              <a:schemeClr val="tx1"/>
            </a:solidFill>
            <a:prstDash val="dash"/>
            <a:headEnd type="none" w="med" len="med"/>
            <a:tailEnd type="none" w="med" len="med"/>
          </a:ln>
        </p:spPr>
      </p:cxnSp>
      <p:cxnSp>
        <p:nvCxnSpPr>
          <p:cNvPr id="27" name="直接连接符 26"/>
          <p:cNvCxnSpPr/>
          <p:nvPr/>
        </p:nvCxnSpPr>
        <p:spPr>
          <a:xfrm>
            <a:off x="2855913" y="5686425"/>
            <a:ext cx="900112" cy="0"/>
          </a:xfrm>
          <a:prstGeom prst="line">
            <a:avLst/>
          </a:prstGeom>
          <a:ln w="19050" cap="flat" cmpd="sng">
            <a:solidFill>
              <a:srgbClr val="FFFF00"/>
            </a:solidFill>
            <a:prstDash val="solid"/>
            <a:headEnd type="none" w="med" len="med"/>
            <a:tailEnd type="none" w="med" len="med"/>
          </a:ln>
        </p:spPr>
      </p:cxnSp>
      <p:cxnSp>
        <p:nvCxnSpPr>
          <p:cNvPr id="28" name="直接连接符 27"/>
          <p:cNvCxnSpPr/>
          <p:nvPr/>
        </p:nvCxnSpPr>
        <p:spPr>
          <a:xfrm flipV="1">
            <a:off x="3756025" y="4984750"/>
            <a:ext cx="0" cy="701675"/>
          </a:xfrm>
          <a:prstGeom prst="line">
            <a:avLst/>
          </a:prstGeom>
          <a:ln w="9525" cap="flat" cmpd="sng">
            <a:solidFill>
              <a:schemeClr val="tx1"/>
            </a:solidFill>
            <a:prstDash val="dash"/>
            <a:headEnd type="none" w="med" len="med"/>
            <a:tailEnd type="none" w="med" len="med"/>
          </a:ln>
        </p:spPr>
      </p:cxnSp>
      <p:sp>
        <p:nvSpPr>
          <p:cNvPr id="29" name="TextBox 28"/>
          <p:cNvSpPr txBox="1"/>
          <p:nvPr/>
        </p:nvSpPr>
        <p:spPr>
          <a:xfrm>
            <a:off x="2705100" y="4597400"/>
            <a:ext cx="300038" cy="646113"/>
          </a:xfrm>
          <a:prstGeom prst="rect">
            <a:avLst/>
          </a:prstGeom>
          <a:noFill/>
          <a:ln w="9525">
            <a:noFill/>
          </a:ln>
        </p:spPr>
        <p:txBody>
          <a:bodyPr wrap="none">
            <a:spAutoFit/>
          </a:bodyPr>
          <a:lstStyle/>
          <a:p>
            <a:r>
              <a:rPr lang="en-US" altLang="zh-CN" sz="1800" dirty="0">
                <a:solidFill>
                  <a:srgbClr val="FF0000"/>
                </a:solidFill>
                <a:latin typeface="Times New Roman" panose="02020603050405020304" pitchFamily="18" charset="0"/>
              </a:rPr>
              <a:t>1</a:t>
            </a:r>
          </a:p>
          <a:p>
            <a:r>
              <a:rPr lang="en-US" altLang="zh-CN" sz="1800" dirty="0">
                <a:solidFill>
                  <a:srgbClr val="FF0000"/>
                </a:solidFill>
                <a:latin typeface="Times New Roman" panose="02020603050405020304" pitchFamily="18" charset="0"/>
              </a:rPr>
              <a:t>3</a:t>
            </a:r>
            <a:endParaRPr lang="zh-CN" altLang="en-US" sz="1800" dirty="0">
              <a:solidFill>
                <a:srgbClr val="FF0000"/>
              </a:solidFill>
              <a:latin typeface="Times New Roman" panose="02020603050405020304" pitchFamily="18" charset="0"/>
            </a:endParaRPr>
          </a:p>
        </p:txBody>
      </p:sp>
      <p:cxnSp>
        <p:nvCxnSpPr>
          <p:cNvPr id="31" name="直接连接符 30"/>
          <p:cNvCxnSpPr/>
          <p:nvPr/>
        </p:nvCxnSpPr>
        <p:spPr>
          <a:xfrm>
            <a:off x="3756025" y="4964113"/>
            <a:ext cx="900113" cy="0"/>
          </a:xfrm>
          <a:prstGeom prst="line">
            <a:avLst/>
          </a:prstGeom>
          <a:ln w="19050" cap="flat" cmpd="sng">
            <a:solidFill>
              <a:srgbClr val="C00000"/>
            </a:solidFill>
            <a:prstDash val="solid"/>
            <a:headEnd type="none" w="med" len="med"/>
            <a:tailEnd type="none" w="med" len="med"/>
          </a:ln>
        </p:spPr>
      </p:cxnSp>
      <p:cxnSp>
        <p:nvCxnSpPr>
          <p:cNvPr id="32" name="直接连接符 31"/>
          <p:cNvCxnSpPr/>
          <p:nvPr/>
        </p:nvCxnSpPr>
        <p:spPr>
          <a:xfrm flipV="1">
            <a:off x="4643438" y="4964113"/>
            <a:ext cx="0" cy="358775"/>
          </a:xfrm>
          <a:prstGeom prst="line">
            <a:avLst/>
          </a:prstGeom>
          <a:ln w="9525" cap="flat" cmpd="sng">
            <a:solidFill>
              <a:schemeClr val="tx1"/>
            </a:solidFill>
            <a:prstDash val="dash"/>
            <a:headEnd type="none" w="med" len="med"/>
            <a:tailEnd type="none" w="med" len="med"/>
          </a:ln>
        </p:spPr>
      </p:cxnSp>
      <p:cxnSp>
        <p:nvCxnSpPr>
          <p:cNvPr id="33" name="直接连接符 32"/>
          <p:cNvCxnSpPr/>
          <p:nvPr/>
        </p:nvCxnSpPr>
        <p:spPr>
          <a:xfrm>
            <a:off x="4643438" y="5335588"/>
            <a:ext cx="720725" cy="0"/>
          </a:xfrm>
          <a:prstGeom prst="line">
            <a:avLst/>
          </a:prstGeom>
          <a:ln w="19050" cap="flat" cmpd="sng">
            <a:solidFill>
              <a:srgbClr val="00FF00"/>
            </a:solidFill>
            <a:prstDash val="solid"/>
            <a:headEnd type="none" w="med" len="med"/>
            <a:tailEnd type="none" w="med" len="med"/>
          </a:ln>
        </p:spPr>
      </p:cxnSp>
      <p:cxnSp>
        <p:nvCxnSpPr>
          <p:cNvPr id="34" name="直接连接符 33"/>
          <p:cNvCxnSpPr/>
          <p:nvPr/>
        </p:nvCxnSpPr>
        <p:spPr>
          <a:xfrm flipV="1">
            <a:off x="5364163" y="5338763"/>
            <a:ext cx="0" cy="769937"/>
          </a:xfrm>
          <a:prstGeom prst="line">
            <a:avLst/>
          </a:prstGeom>
          <a:ln w="9525" cap="flat" cmpd="sng">
            <a:solidFill>
              <a:schemeClr val="tx1"/>
            </a:solidFill>
            <a:prstDash val="dash"/>
            <a:headEnd type="none" w="med" len="med"/>
            <a:tailEnd type="none" w="med" len="med"/>
          </a:ln>
        </p:spPr>
      </p:cxnSp>
      <p:cxnSp>
        <p:nvCxnSpPr>
          <p:cNvPr id="35" name="直接连接符 34"/>
          <p:cNvCxnSpPr/>
          <p:nvPr/>
        </p:nvCxnSpPr>
        <p:spPr>
          <a:xfrm>
            <a:off x="5372100" y="6108700"/>
            <a:ext cx="730250" cy="0"/>
          </a:xfrm>
          <a:prstGeom prst="line">
            <a:avLst/>
          </a:prstGeom>
          <a:ln w="38100" cap="flat" cmpd="sng">
            <a:solidFill>
              <a:schemeClr val="tx1"/>
            </a:solidFill>
            <a:prstDash val="solid"/>
            <a:headEnd type="none" w="med" len="med"/>
            <a:tailEnd type="arrow" w="med" len="med"/>
          </a:ln>
        </p:spPr>
      </p:cxnSp>
    </p:spTree>
  </p:cSld>
  <p:clrMapOvr>
    <a:masterClrMapping/>
  </p:clrMapOvr>
  <p:transition>
    <p:cover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ppt_x"/>
                                          </p:val>
                                        </p:tav>
                                        <p:tav tm="100000">
                                          <p:val>
                                            <p:strVal val="#ppt_x"/>
                                          </p:val>
                                        </p:tav>
                                      </p:tavLst>
                                    </p:anim>
                                    <p:anim calcmode="lin" valueType="num">
                                      <p:cBhvr additive="base">
                                        <p:cTn id="8"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additive="base">
                                        <p:cTn id="18" dur="500" fill="hold"/>
                                        <p:tgtEl>
                                          <p:spTgt spid="13"/>
                                        </p:tgtEl>
                                        <p:attrNameLst>
                                          <p:attrName>ppt_x</p:attrName>
                                        </p:attrNameLst>
                                      </p:cBhvr>
                                      <p:tavLst>
                                        <p:tav tm="0">
                                          <p:val>
                                            <p:strVal val="#ppt_x"/>
                                          </p:val>
                                        </p:tav>
                                        <p:tav tm="100000">
                                          <p:val>
                                            <p:strVal val="#ppt_x"/>
                                          </p:val>
                                        </p:tav>
                                      </p:tavLst>
                                    </p:anim>
                                    <p:anim calcmode="lin" valueType="num">
                                      <p:cBhvr additive="base">
                                        <p:cTn id="19"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down)">
                                      <p:cBhvr>
                                        <p:cTn id="24"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wipe(left)">
                                      <p:cBhvr>
                                        <p:cTn id="29" dur="500"/>
                                        <p:tgtEl>
                                          <p:spTgt spid="1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wipe(down)">
                                      <p:cBhvr>
                                        <p:cTn id="34" dur="500"/>
                                        <p:tgtEl>
                                          <p:spTgt spid="2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wipe(left)">
                                      <p:cBhvr>
                                        <p:cTn id="39" dur="500"/>
                                        <p:tgtEl>
                                          <p:spTgt spid="2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wipe(up)">
                                      <p:cBhvr>
                                        <p:cTn id="44" dur="500"/>
                                        <p:tgtEl>
                                          <p:spTgt spid="24"/>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wipe(left)">
                                      <p:cBhvr>
                                        <p:cTn id="49" dur="500"/>
                                        <p:tgtEl>
                                          <p:spTgt spid="25"/>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1" fill="hold" grpId="0" nodeType="clickEffect">
                                  <p:stCondLst>
                                    <p:cond delay="0"/>
                                  </p:stCondLst>
                                  <p:childTnLst>
                                    <p:set>
                                      <p:cBhvr>
                                        <p:cTn id="53" dur="1" fill="hold">
                                          <p:stCondLst>
                                            <p:cond delay="0"/>
                                          </p:stCondLst>
                                        </p:cTn>
                                        <p:tgtEl>
                                          <p:spTgt spid="29"/>
                                        </p:tgtEl>
                                        <p:attrNameLst>
                                          <p:attrName>style.visibility</p:attrName>
                                        </p:attrNameLst>
                                      </p:cBhvr>
                                      <p:to>
                                        <p:strVal val="visible"/>
                                      </p:to>
                                    </p:set>
                                    <p:anim calcmode="lin" valueType="num">
                                      <p:cBhvr additive="base">
                                        <p:cTn id="54" dur="500" fill="hold"/>
                                        <p:tgtEl>
                                          <p:spTgt spid="29"/>
                                        </p:tgtEl>
                                        <p:attrNameLst>
                                          <p:attrName>ppt_x</p:attrName>
                                        </p:attrNameLst>
                                      </p:cBhvr>
                                      <p:tavLst>
                                        <p:tav tm="0">
                                          <p:val>
                                            <p:strVal val="#ppt_x"/>
                                          </p:val>
                                        </p:tav>
                                        <p:tav tm="100000">
                                          <p:val>
                                            <p:strVal val="#ppt_x"/>
                                          </p:val>
                                        </p:tav>
                                      </p:tavLst>
                                    </p:anim>
                                    <p:anim calcmode="lin" valueType="num">
                                      <p:cBhvr additive="base">
                                        <p:cTn id="55" dur="500" fill="hold"/>
                                        <p:tgtEl>
                                          <p:spTgt spid="29"/>
                                        </p:tgtEl>
                                        <p:attrNameLst>
                                          <p:attrName>ppt_y</p:attrName>
                                        </p:attrNameLst>
                                      </p:cBhvr>
                                      <p:tavLst>
                                        <p:tav tm="0">
                                          <p:val>
                                            <p:strVal val="0-#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nodeType="click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wipe(up)">
                                      <p:cBhvr>
                                        <p:cTn id="60" dur="500"/>
                                        <p:tgtEl>
                                          <p:spTgt spid="26"/>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wipe(left)">
                                      <p:cBhvr>
                                        <p:cTn id="65" dur="500"/>
                                        <p:tgtEl>
                                          <p:spTgt spid="27"/>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nodeType="click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wipe(down)">
                                      <p:cBhvr>
                                        <p:cTn id="70" dur="500"/>
                                        <p:tgtEl>
                                          <p:spTgt spid="28"/>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wipe(left)">
                                      <p:cBhvr>
                                        <p:cTn id="75" dur="500"/>
                                        <p:tgtEl>
                                          <p:spTgt spid="31"/>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1" fill="hold" nodeType="clickEffect">
                                  <p:stCondLst>
                                    <p:cond delay="0"/>
                                  </p:stCondLst>
                                  <p:childTnLst>
                                    <p:set>
                                      <p:cBhvr>
                                        <p:cTn id="79" dur="1" fill="hold">
                                          <p:stCondLst>
                                            <p:cond delay="0"/>
                                          </p:stCondLst>
                                        </p:cTn>
                                        <p:tgtEl>
                                          <p:spTgt spid="32"/>
                                        </p:tgtEl>
                                        <p:attrNameLst>
                                          <p:attrName>style.visibility</p:attrName>
                                        </p:attrNameLst>
                                      </p:cBhvr>
                                      <p:to>
                                        <p:strVal val="visible"/>
                                      </p:to>
                                    </p:set>
                                    <p:animEffect transition="in" filter="wipe(up)">
                                      <p:cBhvr>
                                        <p:cTn id="80" dur="500"/>
                                        <p:tgtEl>
                                          <p:spTgt spid="32"/>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33"/>
                                        </p:tgtEl>
                                        <p:attrNameLst>
                                          <p:attrName>style.visibility</p:attrName>
                                        </p:attrNameLst>
                                      </p:cBhvr>
                                      <p:to>
                                        <p:strVal val="visible"/>
                                      </p:to>
                                    </p:set>
                                    <p:animEffect transition="in" filter="wipe(left)">
                                      <p:cBhvr>
                                        <p:cTn id="85" dur="500"/>
                                        <p:tgtEl>
                                          <p:spTgt spid="33"/>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1" fill="hold" nodeType="clickEffect">
                                  <p:stCondLst>
                                    <p:cond delay="0"/>
                                  </p:stCondLst>
                                  <p:childTnLst>
                                    <p:set>
                                      <p:cBhvr>
                                        <p:cTn id="89" dur="1" fill="hold">
                                          <p:stCondLst>
                                            <p:cond delay="0"/>
                                          </p:stCondLst>
                                        </p:cTn>
                                        <p:tgtEl>
                                          <p:spTgt spid="34"/>
                                        </p:tgtEl>
                                        <p:attrNameLst>
                                          <p:attrName>style.visibility</p:attrName>
                                        </p:attrNameLst>
                                      </p:cBhvr>
                                      <p:to>
                                        <p:strVal val="visible"/>
                                      </p:to>
                                    </p:set>
                                    <p:animEffect transition="in" filter="wipe(up)">
                                      <p:cBhvr>
                                        <p:cTn id="90" dur="500"/>
                                        <p:tgtEl>
                                          <p:spTgt spid="34"/>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nodeType="clickEffect">
                                  <p:stCondLst>
                                    <p:cond delay="0"/>
                                  </p:stCondLst>
                                  <p:childTnLst>
                                    <p:set>
                                      <p:cBhvr>
                                        <p:cTn id="94" dur="1" fill="hold">
                                          <p:stCondLst>
                                            <p:cond delay="0"/>
                                          </p:stCondLst>
                                        </p:cTn>
                                        <p:tgtEl>
                                          <p:spTgt spid="35"/>
                                        </p:tgtEl>
                                        <p:attrNameLst>
                                          <p:attrName>style.visibility</p:attrName>
                                        </p:attrNameLst>
                                      </p:cBhvr>
                                      <p:to>
                                        <p:strVal val="visible"/>
                                      </p:to>
                                    </p:set>
                                    <p:animEffect transition="in" filter="wipe(left)">
                                      <p:cBhvr>
                                        <p:cTn id="95"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9" name="Line 13"/>
          <p:cNvSpPr/>
          <p:nvPr/>
        </p:nvSpPr>
        <p:spPr>
          <a:xfrm>
            <a:off x="4356100" y="3381375"/>
            <a:ext cx="4248150" cy="0"/>
          </a:xfrm>
          <a:prstGeom prst="line">
            <a:avLst/>
          </a:prstGeom>
          <a:ln w="38100" cap="rnd" cmpd="sng">
            <a:solidFill>
              <a:schemeClr val="tx2"/>
            </a:solidFill>
            <a:prstDash val="sysDot"/>
            <a:headEnd type="none" w="med" len="med"/>
            <a:tailEnd type="none" w="med" len="med"/>
          </a:ln>
        </p:spPr>
      </p:sp>
      <p:sp>
        <p:nvSpPr>
          <p:cNvPr id="19504" name="Text Box 48"/>
          <p:cNvSpPr txBox="1"/>
          <p:nvPr/>
        </p:nvSpPr>
        <p:spPr>
          <a:xfrm>
            <a:off x="0" y="0"/>
            <a:ext cx="4140200" cy="579438"/>
          </a:xfrm>
          <a:prstGeom prst="rect">
            <a:avLst/>
          </a:prstGeom>
          <a:noFill/>
          <a:ln w="12700">
            <a:noFill/>
          </a:ln>
        </p:spPr>
        <p:txBody>
          <a:bodyPr>
            <a:spAutoFit/>
          </a:bodyPr>
          <a:lstStyle/>
          <a:p>
            <a:pPr>
              <a:spcBef>
                <a:spcPct val="50000"/>
              </a:spcBef>
            </a:pPr>
            <a:r>
              <a:rPr lang="en-US" altLang="zh-CN" sz="3200" dirty="0">
                <a:solidFill>
                  <a:schemeClr val="folHlink"/>
                </a:solidFill>
                <a:latin typeface="黑体" panose="02010609060101010101" pitchFamily="49" charset="-122"/>
                <a:ea typeface="黑体" panose="02010609060101010101" pitchFamily="49" charset="-122"/>
              </a:rPr>
              <a:t>5.4.4 </a:t>
            </a:r>
            <a:r>
              <a:rPr lang="zh-CN" altLang="en-US" sz="3200" dirty="0">
                <a:solidFill>
                  <a:schemeClr val="folHlink"/>
                </a:solidFill>
                <a:latin typeface="黑体" panose="02010609060101010101" pitchFamily="49" charset="-122"/>
                <a:ea typeface="黑体" panose="02010609060101010101" pitchFamily="49" charset="-122"/>
              </a:rPr>
              <a:t>中断接口模型</a:t>
            </a:r>
          </a:p>
        </p:txBody>
      </p:sp>
      <p:sp>
        <p:nvSpPr>
          <p:cNvPr id="19505" name="Text Box 49"/>
          <p:cNvSpPr txBox="1"/>
          <p:nvPr/>
        </p:nvSpPr>
        <p:spPr>
          <a:xfrm>
            <a:off x="0" y="601663"/>
            <a:ext cx="4724400" cy="523875"/>
          </a:xfrm>
          <a:prstGeom prst="rect">
            <a:avLst/>
          </a:prstGeom>
          <a:noFill/>
          <a:ln w="12700">
            <a:noFill/>
          </a:ln>
        </p:spPr>
        <p:txBody>
          <a:bodyPr>
            <a:spAutoFit/>
          </a:bodyPr>
          <a:lstStyle/>
          <a:p>
            <a:pPr>
              <a:spcBef>
                <a:spcPct val="50000"/>
              </a:spcBef>
            </a:pPr>
            <a:r>
              <a:rPr lang="en-US" altLang="zh-CN" sz="2800" dirty="0">
                <a:latin typeface="黑体" panose="02010609060101010101" pitchFamily="49" charset="-122"/>
                <a:ea typeface="黑体" panose="02010609060101010101" pitchFamily="49" charset="-122"/>
              </a:rPr>
              <a:t>1.</a:t>
            </a:r>
            <a:r>
              <a:rPr lang="zh-CN" altLang="en-US" sz="2800" dirty="0">
                <a:latin typeface="黑体" panose="02010609060101010101" pitchFamily="49" charset="-122"/>
                <a:ea typeface="黑体" panose="02010609060101010101" pitchFamily="49" charset="-122"/>
              </a:rPr>
              <a:t>组成（寄存器级）</a:t>
            </a:r>
          </a:p>
        </p:txBody>
      </p:sp>
      <p:grpSp>
        <p:nvGrpSpPr>
          <p:cNvPr id="2" name="Group 59"/>
          <p:cNvGrpSpPr/>
          <p:nvPr/>
        </p:nvGrpSpPr>
        <p:grpSpPr>
          <a:xfrm>
            <a:off x="3962400" y="304800"/>
            <a:ext cx="5002213" cy="5651500"/>
            <a:chOff x="2496" y="192"/>
            <a:chExt cx="3151" cy="3560"/>
          </a:xfrm>
        </p:grpSpPr>
        <p:sp>
          <p:nvSpPr>
            <p:cNvPr id="24600" name="Line 4"/>
            <p:cNvSpPr/>
            <p:nvPr/>
          </p:nvSpPr>
          <p:spPr>
            <a:xfrm>
              <a:off x="5232" y="686"/>
              <a:ext cx="0" cy="1225"/>
            </a:xfrm>
            <a:prstGeom prst="line">
              <a:avLst/>
            </a:prstGeom>
            <a:ln w="76200" cap="flat" cmpd="sng">
              <a:solidFill>
                <a:srgbClr val="FFFF00"/>
              </a:solidFill>
              <a:prstDash val="solid"/>
              <a:headEnd type="none" w="med" len="med"/>
              <a:tailEnd type="none" w="med" len="med"/>
            </a:ln>
          </p:spPr>
        </p:sp>
        <p:sp>
          <p:nvSpPr>
            <p:cNvPr id="24601" name="Line 6"/>
            <p:cNvSpPr/>
            <p:nvPr/>
          </p:nvSpPr>
          <p:spPr>
            <a:xfrm>
              <a:off x="4896" y="1931"/>
              <a:ext cx="0" cy="590"/>
            </a:xfrm>
            <a:prstGeom prst="line">
              <a:avLst/>
            </a:prstGeom>
            <a:ln w="38100" cap="flat" cmpd="sng">
              <a:solidFill>
                <a:schemeClr val="tx1"/>
              </a:solidFill>
              <a:prstDash val="solid"/>
              <a:headEnd type="none" w="med" len="med"/>
              <a:tailEnd type="none" w="med" len="med"/>
            </a:ln>
          </p:spPr>
        </p:sp>
        <p:sp>
          <p:nvSpPr>
            <p:cNvPr id="24602" name="Line 7"/>
            <p:cNvSpPr/>
            <p:nvPr/>
          </p:nvSpPr>
          <p:spPr>
            <a:xfrm flipH="1">
              <a:off x="4704" y="2341"/>
              <a:ext cx="288" cy="0"/>
            </a:xfrm>
            <a:prstGeom prst="line">
              <a:avLst/>
            </a:prstGeom>
            <a:ln w="38100" cap="flat" cmpd="sng">
              <a:solidFill>
                <a:schemeClr val="tx1"/>
              </a:solidFill>
              <a:prstDash val="solid"/>
              <a:headEnd type="none" w="med" len="med"/>
              <a:tailEnd type="triangle" w="med" len="med"/>
            </a:ln>
          </p:spPr>
        </p:sp>
        <p:sp>
          <p:nvSpPr>
            <p:cNvPr id="24603" name="Line 8"/>
            <p:cNvSpPr/>
            <p:nvPr/>
          </p:nvSpPr>
          <p:spPr>
            <a:xfrm flipH="1">
              <a:off x="4704" y="1931"/>
              <a:ext cx="192" cy="0"/>
            </a:xfrm>
            <a:prstGeom prst="line">
              <a:avLst/>
            </a:prstGeom>
            <a:ln w="38100" cap="flat" cmpd="sng">
              <a:solidFill>
                <a:schemeClr val="tx1"/>
              </a:solidFill>
              <a:prstDash val="solid"/>
              <a:headEnd type="none" w="med" len="med"/>
              <a:tailEnd type="none" w="med" len="med"/>
            </a:ln>
          </p:spPr>
        </p:sp>
        <p:sp>
          <p:nvSpPr>
            <p:cNvPr id="24604" name="Line 9"/>
            <p:cNvSpPr/>
            <p:nvPr/>
          </p:nvSpPr>
          <p:spPr>
            <a:xfrm flipH="1">
              <a:off x="4704" y="482"/>
              <a:ext cx="240" cy="0"/>
            </a:xfrm>
            <a:prstGeom prst="line">
              <a:avLst/>
            </a:prstGeom>
            <a:ln w="38100" cap="flat" cmpd="sng">
              <a:solidFill>
                <a:schemeClr val="tx1"/>
              </a:solidFill>
              <a:prstDash val="solid"/>
              <a:headEnd type="triangle" w="med" len="med"/>
              <a:tailEnd type="none" w="med" len="med"/>
            </a:ln>
          </p:spPr>
        </p:sp>
        <p:sp>
          <p:nvSpPr>
            <p:cNvPr id="24605" name="Line 10"/>
            <p:cNvSpPr/>
            <p:nvPr/>
          </p:nvSpPr>
          <p:spPr>
            <a:xfrm flipV="1">
              <a:off x="5136" y="2688"/>
              <a:ext cx="0" cy="192"/>
            </a:xfrm>
            <a:prstGeom prst="line">
              <a:avLst/>
            </a:prstGeom>
            <a:ln w="19050" cap="rnd" cmpd="sng">
              <a:solidFill>
                <a:srgbClr val="3366FF"/>
              </a:solidFill>
              <a:prstDash val="sysDot"/>
              <a:headEnd type="none" w="med" len="med"/>
              <a:tailEnd type="none" w="med" len="med"/>
            </a:ln>
          </p:spPr>
        </p:sp>
        <p:sp>
          <p:nvSpPr>
            <p:cNvPr id="24606" name="Line 11"/>
            <p:cNvSpPr/>
            <p:nvPr/>
          </p:nvSpPr>
          <p:spPr>
            <a:xfrm flipH="1">
              <a:off x="2880" y="480"/>
              <a:ext cx="672" cy="0"/>
            </a:xfrm>
            <a:prstGeom prst="line">
              <a:avLst/>
            </a:prstGeom>
            <a:ln w="38100" cap="flat" cmpd="sng">
              <a:solidFill>
                <a:schemeClr val="tx1"/>
              </a:solidFill>
              <a:prstDash val="solid"/>
              <a:headEnd type="triangle" w="med" len="med"/>
              <a:tailEnd type="none" w="med" len="med"/>
            </a:ln>
          </p:spPr>
        </p:sp>
        <p:sp>
          <p:nvSpPr>
            <p:cNvPr id="24607" name="Line 12"/>
            <p:cNvSpPr/>
            <p:nvPr/>
          </p:nvSpPr>
          <p:spPr>
            <a:xfrm flipH="1">
              <a:off x="4704" y="359"/>
              <a:ext cx="240" cy="0"/>
            </a:xfrm>
            <a:prstGeom prst="line">
              <a:avLst/>
            </a:prstGeom>
            <a:ln w="38100" cap="flat" cmpd="sng">
              <a:solidFill>
                <a:schemeClr val="tx1"/>
              </a:solidFill>
              <a:prstDash val="solid"/>
              <a:headEnd type="triangle" w="med" len="med"/>
              <a:tailEnd type="none" w="med" len="med"/>
            </a:ln>
          </p:spPr>
        </p:sp>
        <p:sp>
          <p:nvSpPr>
            <p:cNvPr id="24608" name="Rectangle 14"/>
            <p:cNvSpPr/>
            <p:nvPr/>
          </p:nvSpPr>
          <p:spPr>
            <a:xfrm>
              <a:off x="3552" y="2236"/>
              <a:ext cx="1152" cy="576"/>
            </a:xfrm>
            <a:prstGeom prst="rect">
              <a:avLst/>
            </a:prstGeom>
            <a:noFill/>
            <a:ln w="38100" cap="sq" cmpd="sng">
              <a:solidFill>
                <a:schemeClr val="tx1"/>
              </a:solidFill>
              <a:prstDash val="solid"/>
              <a:miter/>
              <a:headEnd type="none" w="sm" len="sm"/>
              <a:tailEnd type="none" w="sm" len="sm"/>
            </a:ln>
          </p:spPr>
          <p:txBody>
            <a:bodyPr wrap="none" anchor="ctr" anchorCtr="0"/>
            <a:lstStyle/>
            <a:p>
              <a:pPr eaLnBrk="0" hangingPunct="0"/>
              <a:endParaRPr lang="zh-CN" altLang="en-US" dirty="0">
                <a:latin typeface="Times New Roman" panose="02020603050405020304" pitchFamily="18" charset="0"/>
              </a:endParaRPr>
            </a:p>
          </p:txBody>
        </p:sp>
        <p:sp>
          <p:nvSpPr>
            <p:cNvPr id="24609" name="Text Box 15"/>
            <p:cNvSpPr txBox="1"/>
            <p:nvPr/>
          </p:nvSpPr>
          <p:spPr>
            <a:xfrm>
              <a:off x="2973" y="2553"/>
              <a:ext cx="567" cy="250"/>
            </a:xfrm>
            <a:prstGeom prst="rect">
              <a:avLst/>
            </a:prstGeom>
            <a:noFill/>
            <a:ln w="12700">
              <a:noFill/>
            </a:ln>
          </p:spPr>
          <p:txBody>
            <a:bodyPr>
              <a:spAutoFit/>
            </a:bodyPr>
            <a:lstStyle/>
            <a:p>
              <a:pPr>
                <a:spcBef>
                  <a:spcPct val="50000"/>
                </a:spcBef>
              </a:pPr>
              <a:r>
                <a:rPr lang="en-US" altLang="zh-CN" sz="2000" dirty="0">
                  <a:solidFill>
                    <a:srgbClr val="FFFF00"/>
                  </a:solidFill>
                  <a:latin typeface="Times New Roman" panose="02020603050405020304" pitchFamily="18" charset="0"/>
                </a:rPr>
                <a:t>D7~0</a:t>
              </a:r>
            </a:p>
          </p:txBody>
        </p:sp>
        <p:sp>
          <p:nvSpPr>
            <p:cNvPr id="24610" name="Line 16"/>
            <p:cNvSpPr/>
            <p:nvPr/>
          </p:nvSpPr>
          <p:spPr>
            <a:xfrm>
              <a:off x="4967" y="346"/>
              <a:ext cx="0" cy="192"/>
            </a:xfrm>
            <a:prstGeom prst="line">
              <a:avLst/>
            </a:prstGeom>
            <a:ln w="19050" cap="rnd" cmpd="sng">
              <a:solidFill>
                <a:schemeClr val="tx1"/>
              </a:solidFill>
              <a:prstDash val="sysDot"/>
              <a:headEnd type="none" w="sm" len="sm"/>
              <a:tailEnd type="none" w="sm" len="sm"/>
            </a:ln>
          </p:spPr>
        </p:sp>
        <p:sp>
          <p:nvSpPr>
            <p:cNvPr id="24611" name="Text Box 17"/>
            <p:cNvSpPr txBox="1"/>
            <p:nvPr/>
          </p:nvSpPr>
          <p:spPr>
            <a:xfrm>
              <a:off x="4967" y="2205"/>
              <a:ext cx="680" cy="250"/>
            </a:xfrm>
            <a:prstGeom prst="rect">
              <a:avLst/>
            </a:prstGeom>
            <a:noFill/>
            <a:ln w="12700">
              <a:noFill/>
            </a:ln>
          </p:spPr>
          <p:txBody>
            <a:bodyPr>
              <a:spAutoFit/>
            </a:bodyPr>
            <a:lstStyle/>
            <a:p>
              <a:pPr>
                <a:spcBef>
                  <a:spcPct val="50000"/>
                </a:spcBef>
              </a:pPr>
              <a:r>
                <a:rPr lang="en-US" altLang="zh-CN" sz="2000" dirty="0">
                  <a:solidFill>
                    <a:schemeClr val="folHlink"/>
                  </a:solidFill>
                  <a:latin typeface="Times New Roman" panose="02020603050405020304" pitchFamily="18" charset="0"/>
                </a:rPr>
                <a:t>IRQ0</a:t>
              </a:r>
            </a:p>
          </p:txBody>
        </p:sp>
        <p:sp>
          <p:nvSpPr>
            <p:cNvPr id="24612" name="Text Box 18"/>
            <p:cNvSpPr txBox="1"/>
            <p:nvPr/>
          </p:nvSpPr>
          <p:spPr>
            <a:xfrm>
              <a:off x="2880" y="240"/>
              <a:ext cx="1056" cy="250"/>
            </a:xfrm>
            <a:prstGeom prst="rect">
              <a:avLst/>
            </a:prstGeom>
            <a:noFill/>
            <a:ln w="12700">
              <a:noFill/>
            </a:ln>
          </p:spPr>
          <p:txBody>
            <a:bodyPr>
              <a:spAutoFit/>
            </a:bodyPr>
            <a:lstStyle/>
            <a:p>
              <a:pPr>
                <a:spcBef>
                  <a:spcPct val="50000"/>
                </a:spcBef>
              </a:pPr>
              <a:r>
                <a:rPr lang="zh-CN" altLang="en-US" sz="2000" dirty="0">
                  <a:solidFill>
                    <a:schemeClr val="accent1"/>
                  </a:solidFill>
                  <a:latin typeface="Times New Roman" panose="02020603050405020304" pitchFamily="18" charset="0"/>
                </a:rPr>
                <a:t>地址线</a:t>
              </a:r>
            </a:p>
          </p:txBody>
        </p:sp>
        <p:sp>
          <p:nvSpPr>
            <p:cNvPr id="24613" name="Text Box 19"/>
            <p:cNvSpPr txBox="1"/>
            <p:nvPr/>
          </p:nvSpPr>
          <p:spPr>
            <a:xfrm>
              <a:off x="3552" y="288"/>
              <a:ext cx="1152" cy="291"/>
            </a:xfrm>
            <a:prstGeom prst="rect">
              <a:avLst/>
            </a:prstGeom>
            <a:noFill/>
            <a:ln w="19050" cap="sq" cmpd="sng">
              <a:solidFill>
                <a:schemeClr val="tx1"/>
              </a:solidFill>
              <a:prstDash val="solid"/>
              <a:miter/>
              <a:headEnd type="none" w="sm" len="sm"/>
              <a:tailEnd type="none" w="sm" len="sm"/>
            </a:ln>
          </p:spPr>
          <p:txBody>
            <a:bodyPr>
              <a:spAutoFit/>
            </a:bodyPr>
            <a:lstStyle/>
            <a:p>
              <a:pPr>
                <a:spcBef>
                  <a:spcPct val="50000"/>
                </a:spcBef>
              </a:pPr>
              <a:r>
                <a:rPr lang="zh-CN" altLang="en-US" dirty="0">
                  <a:solidFill>
                    <a:schemeClr val="folHlink"/>
                  </a:solidFill>
                  <a:latin typeface="黑体" panose="02010609060101010101" pitchFamily="49" charset="-122"/>
                  <a:ea typeface="黑体" panose="02010609060101010101" pitchFamily="49" charset="-122"/>
                </a:rPr>
                <a:t>寄存器选择</a:t>
              </a:r>
            </a:p>
          </p:txBody>
        </p:sp>
        <p:sp>
          <p:nvSpPr>
            <p:cNvPr id="24614" name="Text Box 20"/>
            <p:cNvSpPr txBox="1"/>
            <p:nvPr/>
          </p:nvSpPr>
          <p:spPr>
            <a:xfrm>
              <a:off x="3552" y="641"/>
              <a:ext cx="1152" cy="291"/>
            </a:xfrm>
            <a:prstGeom prst="rect">
              <a:avLst/>
            </a:prstGeom>
            <a:noFill/>
            <a:ln w="19050" cap="sq" cmpd="sng">
              <a:solidFill>
                <a:schemeClr val="tx1"/>
              </a:solidFill>
              <a:prstDash val="solid"/>
              <a:miter/>
              <a:headEnd type="none" w="sm" len="sm"/>
              <a:tailEnd type="none" w="sm" len="sm"/>
            </a:ln>
          </p:spPr>
          <p:txBody>
            <a:bodyPr>
              <a:spAutoFit/>
            </a:bodyPr>
            <a:lstStyle/>
            <a:p>
              <a:pPr>
                <a:spcBef>
                  <a:spcPct val="50000"/>
                </a:spcBef>
              </a:pPr>
              <a:r>
                <a:rPr lang="en-US" altLang="zh-CN" dirty="0">
                  <a:solidFill>
                    <a:schemeClr val="folHlink"/>
                  </a:solidFill>
                  <a:latin typeface="黑体" panose="02010609060101010101" pitchFamily="49" charset="-122"/>
                  <a:ea typeface="黑体" panose="02010609060101010101" pitchFamily="49" charset="-122"/>
                </a:rPr>
                <a:t>  </a:t>
              </a:r>
              <a:r>
                <a:rPr lang="zh-CN" altLang="en-US" dirty="0">
                  <a:solidFill>
                    <a:schemeClr val="folHlink"/>
                  </a:solidFill>
                  <a:latin typeface="黑体" panose="02010609060101010101" pitchFamily="49" charset="-122"/>
                  <a:ea typeface="黑体" panose="02010609060101010101" pitchFamily="49" charset="-122"/>
                </a:rPr>
                <a:t>命令字</a:t>
              </a:r>
              <a:r>
                <a:rPr lang="en-US" altLang="zh-CN" dirty="0">
                  <a:solidFill>
                    <a:schemeClr val="folHlink"/>
                  </a:solidFill>
                  <a:latin typeface="黑体" panose="02010609060101010101" pitchFamily="49" charset="-122"/>
                  <a:ea typeface="黑体" panose="02010609060101010101" pitchFamily="49" charset="-122"/>
                </a:rPr>
                <a:t>R</a:t>
              </a:r>
            </a:p>
          </p:txBody>
        </p:sp>
        <p:sp>
          <p:nvSpPr>
            <p:cNvPr id="24615" name="Text Box 21"/>
            <p:cNvSpPr txBox="1"/>
            <p:nvPr/>
          </p:nvSpPr>
          <p:spPr>
            <a:xfrm>
              <a:off x="3552" y="1011"/>
              <a:ext cx="1152" cy="291"/>
            </a:xfrm>
            <a:prstGeom prst="rect">
              <a:avLst/>
            </a:prstGeom>
            <a:noFill/>
            <a:ln w="19050" cap="sq" cmpd="sng">
              <a:solidFill>
                <a:schemeClr val="tx1"/>
              </a:solidFill>
              <a:prstDash val="solid"/>
              <a:miter/>
              <a:headEnd type="none" w="sm" len="sm"/>
              <a:tailEnd type="none" w="sm" len="sm"/>
            </a:ln>
          </p:spPr>
          <p:txBody>
            <a:bodyPr>
              <a:spAutoFit/>
            </a:bodyPr>
            <a:lstStyle/>
            <a:p>
              <a:pPr algn="ctr">
                <a:spcBef>
                  <a:spcPct val="50000"/>
                </a:spcBef>
              </a:pPr>
              <a:r>
                <a:rPr lang="zh-CN" altLang="en-US" dirty="0">
                  <a:solidFill>
                    <a:schemeClr val="folHlink"/>
                  </a:solidFill>
                  <a:latin typeface="黑体" panose="02010609060101010101" pitchFamily="49" charset="-122"/>
                  <a:ea typeface="黑体" panose="02010609060101010101" pitchFamily="49" charset="-122"/>
                </a:rPr>
                <a:t>状态字</a:t>
              </a:r>
              <a:r>
                <a:rPr lang="en-US" altLang="zh-CN" dirty="0">
                  <a:solidFill>
                    <a:schemeClr val="folHlink"/>
                  </a:solidFill>
                  <a:latin typeface="黑体" panose="02010609060101010101" pitchFamily="49" charset="-122"/>
                  <a:ea typeface="黑体" panose="02010609060101010101" pitchFamily="49" charset="-122"/>
                </a:rPr>
                <a:t>R</a:t>
              </a:r>
            </a:p>
          </p:txBody>
        </p:sp>
        <p:sp>
          <p:nvSpPr>
            <p:cNvPr id="24616" name="Text Box 22"/>
            <p:cNvSpPr txBox="1"/>
            <p:nvPr/>
          </p:nvSpPr>
          <p:spPr>
            <a:xfrm>
              <a:off x="3552" y="1389"/>
              <a:ext cx="1152" cy="291"/>
            </a:xfrm>
            <a:prstGeom prst="rect">
              <a:avLst/>
            </a:prstGeom>
            <a:noFill/>
            <a:ln w="19050" cap="sq" cmpd="sng">
              <a:solidFill>
                <a:schemeClr val="tx1"/>
              </a:solidFill>
              <a:prstDash val="solid"/>
              <a:miter/>
              <a:headEnd type="none" w="sm" len="sm"/>
              <a:tailEnd type="none" w="sm" len="sm"/>
            </a:ln>
          </p:spPr>
          <p:txBody>
            <a:bodyPr>
              <a:spAutoFit/>
            </a:bodyPr>
            <a:lstStyle/>
            <a:p>
              <a:pPr>
                <a:spcBef>
                  <a:spcPct val="50000"/>
                </a:spcBef>
              </a:pPr>
              <a:r>
                <a:rPr lang="zh-CN" altLang="en-US" dirty="0">
                  <a:solidFill>
                    <a:srgbClr val="00FF00"/>
                  </a:solidFill>
                  <a:latin typeface="Times New Roman" panose="02020603050405020304" pitchFamily="18" charset="0"/>
                </a:rPr>
                <a:t>数据</a:t>
              </a:r>
              <a:r>
                <a:rPr lang="zh-CN" altLang="en-US" dirty="0">
                  <a:solidFill>
                    <a:srgbClr val="00FF00"/>
                  </a:solidFill>
                  <a:latin typeface="黑体" panose="02010609060101010101" pitchFamily="49" charset="-122"/>
                  <a:ea typeface="黑体" panose="02010609060101010101" pitchFamily="49" charset="-122"/>
                </a:rPr>
                <a:t>缓冲器</a:t>
              </a:r>
            </a:p>
          </p:txBody>
        </p:sp>
        <p:sp>
          <p:nvSpPr>
            <p:cNvPr id="24617" name="Text Box 23"/>
            <p:cNvSpPr txBox="1"/>
            <p:nvPr/>
          </p:nvSpPr>
          <p:spPr>
            <a:xfrm>
              <a:off x="3552" y="1775"/>
              <a:ext cx="1152" cy="291"/>
            </a:xfrm>
            <a:prstGeom prst="rect">
              <a:avLst/>
            </a:prstGeom>
            <a:noFill/>
            <a:ln w="19050" cap="sq" cmpd="sng">
              <a:solidFill>
                <a:schemeClr val="tx1"/>
              </a:solidFill>
              <a:prstDash val="solid"/>
              <a:miter/>
              <a:headEnd type="none" w="sm" len="sm"/>
              <a:tailEnd type="none" w="sm" len="sm"/>
            </a:ln>
          </p:spPr>
          <p:txBody>
            <a:bodyPr>
              <a:spAutoFit/>
            </a:bodyPr>
            <a:lstStyle/>
            <a:p>
              <a:pPr>
                <a:spcBef>
                  <a:spcPct val="50000"/>
                </a:spcBef>
              </a:pPr>
              <a:r>
                <a:rPr lang="en-US" altLang="zh-CN" dirty="0">
                  <a:solidFill>
                    <a:schemeClr val="folHlink"/>
                  </a:solidFill>
                  <a:latin typeface="黑体" panose="02010609060101010101" pitchFamily="49" charset="-122"/>
                  <a:ea typeface="黑体" panose="02010609060101010101" pitchFamily="49" charset="-122"/>
                </a:rPr>
                <a:t> </a:t>
              </a:r>
              <a:r>
                <a:rPr lang="zh-CN" altLang="en-US" dirty="0">
                  <a:solidFill>
                    <a:schemeClr val="folHlink"/>
                  </a:solidFill>
                  <a:latin typeface="黑体" panose="02010609060101010101" pitchFamily="49" charset="-122"/>
                  <a:ea typeface="黑体" panose="02010609060101010101" pitchFamily="49" charset="-122"/>
                </a:rPr>
                <a:t>控制逻辑</a:t>
              </a:r>
            </a:p>
          </p:txBody>
        </p:sp>
        <p:sp>
          <p:nvSpPr>
            <p:cNvPr id="24618" name="Text Box 24"/>
            <p:cNvSpPr txBox="1"/>
            <p:nvPr/>
          </p:nvSpPr>
          <p:spPr>
            <a:xfrm>
              <a:off x="2880" y="572"/>
              <a:ext cx="1056" cy="250"/>
            </a:xfrm>
            <a:prstGeom prst="rect">
              <a:avLst/>
            </a:prstGeom>
            <a:noFill/>
            <a:ln w="12700">
              <a:noFill/>
            </a:ln>
          </p:spPr>
          <p:txBody>
            <a:bodyPr>
              <a:spAutoFit/>
            </a:bodyPr>
            <a:lstStyle/>
            <a:p>
              <a:pPr>
                <a:spcBef>
                  <a:spcPct val="50000"/>
                </a:spcBef>
              </a:pPr>
              <a:r>
                <a:rPr lang="zh-CN" altLang="en-US" sz="2000" dirty="0">
                  <a:solidFill>
                    <a:schemeClr val="accent1"/>
                  </a:solidFill>
                  <a:latin typeface="Times New Roman" panose="02020603050405020304" pitchFamily="18" charset="0"/>
                </a:rPr>
                <a:t>数据线</a:t>
              </a:r>
            </a:p>
          </p:txBody>
        </p:sp>
        <p:sp>
          <p:nvSpPr>
            <p:cNvPr id="24619" name="Text Box 25"/>
            <p:cNvSpPr txBox="1"/>
            <p:nvPr/>
          </p:nvSpPr>
          <p:spPr>
            <a:xfrm>
              <a:off x="2880" y="935"/>
              <a:ext cx="1056" cy="250"/>
            </a:xfrm>
            <a:prstGeom prst="rect">
              <a:avLst/>
            </a:prstGeom>
            <a:noFill/>
            <a:ln w="12700">
              <a:noFill/>
            </a:ln>
          </p:spPr>
          <p:txBody>
            <a:bodyPr>
              <a:spAutoFit/>
            </a:bodyPr>
            <a:lstStyle/>
            <a:p>
              <a:pPr>
                <a:spcBef>
                  <a:spcPct val="50000"/>
                </a:spcBef>
              </a:pPr>
              <a:r>
                <a:rPr lang="zh-CN" altLang="en-US" sz="2000" dirty="0">
                  <a:solidFill>
                    <a:schemeClr val="accent1"/>
                  </a:solidFill>
                  <a:latin typeface="Times New Roman" panose="02020603050405020304" pitchFamily="18" charset="0"/>
                </a:rPr>
                <a:t>数据线</a:t>
              </a:r>
            </a:p>
          </p:txBody>
        </p:sp>
        <p:sp>
          <p:nvSpPr>
            <p:cNvPr id="24620" name="Line 26"/>
            <p:cNvSpPr/>
            <p:nvPr/>
          </p:nvSpPr>
          <p:spPr>
            <a:xfrm flipH="1">
              <a:off x="2880" y="822"/>
              <a:ext cx="672" cy="0"/>
            </a:xfrm>
            <a:prstGeom prst="line">
              <a:avLst/>
            </a:prstGeom>
            <a:ln w="38100" cap="flat" cmpd="sng">
              <a:solidFill>
                <a:schemeClr val="tx1"/>
              </a:solidFill>
              <a:prstDash val="solid"/>
              <a:headEnd type="triangle" w="med" len="med"/>
              <a:tailEnd type="none" w="med" len="med"/>
            </a:ln>
          </p:spPr>
        </p:sp>
        <p:sp>
          <p:nvSpPr>
            <p:cNvPr id="24621" name="Line 27"/>
            <p:cNvSpPr/>
            <p:nvPr/>
          </p:nvSpPr>
          <p:spPr>
            <a:xfrm flipH="1">
              <a:off x="2880" y="1177"/>
              <a:ext cx="672" cy="0"/>
            </a:xfrm>
            <a:prstGeom prst="line">
              <a:avLst/>
            </a:prstGeom>
            <a:ln w="38100" cap="flat" cmpd="sng">
              <a:solidFill>
                <a:schemeClr val="tx1"/>
              </a:solidFill>
              <a:prstDash val="solid"/>
              <a:headEnd type="none" w="med" len="med"/>
              <a:tailEnd type="triangle" w="med" len="med"/>
            </a:ln>
          </p:spPr>
        </p:sp>
        <p:sp>
          <p:nvSpPr>
            <p:cNvPr id="24622" name="Line 28"/>
            <p:cNvSpPr/>
            <p:nvPr/>
          </p:nvSpPr>
          <p:spPr>
            <a:xfrm flipH="1">
              <a:off x="2880" y="1563"/>
              <a:ext cx="672" cy="0"/>
            </a:xfrm>
            <a:prstGeom prst="line">
              <a:avLst/>
            </a:prstGeom>
            <a:ln w="38100" cap="flat" cmpd="sng">
              <a:solidFill>
                <a:schemeClr val="tx1"/>
              </a:solidFill>
              <a:prstDash val="solid"/>
              <a:headEnd type="triangle" w="med" len="med"/>
              <a:tailEnd type="triangle" w="med" len="med"/>
            </a:ln>
          </p:spPr>
        </p:sp>
        <p:sp>
          <p:nvSpPr>
            <p:cNvPr id="24623" name="Text Box 29"/>
            <p:cNvSpPr txBox="1"/>
            <p:nvPr/>
          </p:nvSpPr>
          <p:spPr>
            <a:xfrm>
              <a:off x="2880" y="1298"/>
              <a:ext cx="1056" cy="250"/>
            </a:xfrm>
            <a:prstGeom prst="rect">
              <a:avLst/>
            </a:prstGeom>
            <a:noFill/>
            <a:ln w="12700">
              <a:noFill/>
            </a:ln>
          </p:spPr>
          <p:txBody>
            <a:bodyPr>
              <a:spAutoFit/>
            </a:bodyPr>
            <a:lstStyle/>
            <a:p>
              <a:pPr>
                <a:spcBef>
                  <a:spcPct val="50000"/>
                </a:spcBef>
              </a:pPr>
              <a:r>
                <a:rPr lang="zh-CN" altLang="en-US" sz="2000" dirty="0">
                  <a:solidFill>
                    <a:schemeClr val="accent1"/>
                  </a:solidFill>
                  <a:latin typeface="Times New Roman" panose="02020603050405020304" pitchFamily="18" charset="0"/>
                </a:rPr>
                <a:t>数据线</a:t>
              </a:r>
            </a:p>
          </p:txBody>
        </p:sp>
        <p:sp>
          <p:nvSpPr>
            <p:cNvPr id="24624" name="Text Box 30"/>
            <p:cNvSpPr txBox="1"/>
            <p:nvPr/>
          </p:nvSpPr>
          <p:spPr>
            <a:xfrm>
              <a:off x="3588" y="2379"/>
              <a:ext cx="1152" cy="288"/>
            </a:xfrm>
            <a:prstGeom prst="rect">
              <a:avLst/>
            </a:prstGeom>
            <a:noFill/>
            <a:ln w="38100">
              <a:noFill/>
            </a:ln>
          </p:spPr>
          <p:txBody>
            <a:bodyPr>
              <a:spAutoFit/>
            </a:bodyPr>
            <a:lstStyle/>
            <a:p>
              <a:pPr>
                <a:spcBef>
                  <a:spcPct val="50000"/>
                </a:spcBef>
              </a:pPr>
              <a:r>
                <a:rPr lang="zh-CN" altLang="en-US" dirty="0">
                  <a:latin typeface="黑体" panose="02010609060101010101" pitchFamily="49" charset="-122"/>
                  <a:ea typeface="黑体" panose="02010609060101010101" pitchFamily="49" charset="-122"/>
                </a:rPr>
                <a:t>中断控制器</a:t>
              </a:r>
            </a:p>
          </p:txBody>
        </p:sp>
        <p:sp>
          <p:nvSpPr>
            <p:cNvPr id="24625" name="Line 31"/>
            <p:cNvSpPr/>
            <p:nvPr/>
          </p:nvSpPr>
          <p:spPr>
            <a:xfrm flipH="1">
              <a:off x="2895" y="2372"/>
              <a:ext cx="658" cy="0"/>
            </a:xfrm>
            <a:prstGeom prst="line">
              <a:avLst/>
            </a:prstGeom>
            <a:ln w="19050" cap="flat" cmpd="sng">
              <a:solidFill>
                <a:schemeClr val="tx1"/>
              </a:solidFill>
              <a:prstDash val="solid"/>
              <a:headEnd type="none" w="med" len="med"/>
              <a:tailEnd type="arrow" w="med" len="med"/>
            </a:ln>
          </p:spPr>
        </p:sp>
        <p:sp>
          <p:nvSpPr>
            <p:cNvPr id="24626" name="Line 32"/>
            <p:cNvSpPr/>
            <p:nvPr/>
          </p:nvSpPr>
          <p:spPr>
            <a:xfrm flipH="1">
              <a:off x="2903" y="2576"/>
              <a:ext cx="658" cy="0"/>
            </a:xfrm>
            <a:prstGeom prst="line">
              <a:avLst/>
            </a:prstGeom>
            <a:ln w="19050" cap="flat" cmpd="sng">
              <a:solidFill>
                <a:schemeClr val="tx1"/>
              </a:solidFill>
              <a:prstDash val="solid"/>
              <a:headEnd type="arrow" w="med" len="med"/>
              <a:tailEnd type="none" w="med" len="med"/>
            </a:ln>
          </p:spPr>
        </p:sp>
        <p:sp>
          <p:nvSpPr>
            <p:cNvPr id="24627" name="Line 33"/>
            <p:cNvSpPr/>
            <p:nvPr/>
          </p:nvSpPr>
          <p:spPr>
            <a:xfrm flipH="1">
              <a:off x="2903" y="2765"/>
              <a:ext cx="658" cy="0"/>
            </a:xfrm>
            <a:prstGeom prst="line">
              <a:avLst/>
            </a:prstGeom>
            <a:ln w="19050" cap="flat" cmpd="sng">
              <a:solidFill>
                <a:schemeClr val="tx1"/>
              </a:solidFill>
              <a:prstDash val="solid"/>
              <a:headEnd type="arrow" w="med" len="med"/>
              <a:tailEnd type="arrow" w="med" len="med"/>
            </a:ln>
          </p:spPr>
        </p:sp>
        <p:sp>
          <p:nvSpPr>
            <p:cNvPr id="24628" name="Text Box 34"/>
            <p:cNvSpPr txBox="1"/>
            <p:nvPr/>
          </p:nvSpPr>
          <p:spPr>
            <a:xfrm>
              <a:off x="2971" y="2160"/>
              <a:ext cx="431" cy="250"/>
            </a:xfrm>
            <a:prstGeom prst="rect">
              <a:avLst/>
            </a:prstGeom>
            <a:noFill/>
            <a:ln w="12700">
              <a:noFill/>
            </a:ln>
          </p:spPr>
          <p:txBody>
            <a:bodyPr>
              <a:spAutoFit/>
            </a:bodyPr>
            <a:lstStyle/>
            <a:p>
              <a:pPr>
                <a:spcBef>
                  <a:spcPct val="50000"/>
                </a:spcBef>
              </a:pPr>
              <a:r>
                <a:rPr lang="en-US" altLang="zh-CN" sz="2000" dirty="0">
                  <a:solidFill>
                    <a:schemeClr val="accent1"/>
                  </a:solidFill>
                  <a:latin typeface="Times New Roman" panose="02020603050405020304" pitchFamily="18" charset="0"/>
                </a:rPr>
                <a:t>INT</a:t>
              </a:r>
            </a:p>
          </p:txBody>
        </p:sp>
        <p:sp>
          <p:nvSpPr>
            <p:cNvPr id="24629" name="Text Box 35"/>
            <p:cNvSpPr txBox="1"/>
            <p:nvPr/>
          </p:nvSpPr>
          <p:spPr>
            <a:xfrm>
              <a:off x="2971" y="2364"/>
              <a:ext cx="544" cy="250"/>
            </a:xfrm>
            <a:prstGeom prst="rect">
              <a:avLst/>
            </a:prstGeom>
            <a:noFill/>
            <a:ln w="12700">
              <a:noFill/>
            </a:ln>
          </p:spPr>
          <p:txBody>
            <a:bodyPr>
              <a:spAutoFit/>
            </a:bodyPr>
            <a:lstStyle/>
            <a:p>
              <a:pPr>
                <a:spcBef>
                  <a:spcPct val="50000"/>
                </a:spcBef>
              </a:pPr>
              <a:r>
                <a:rPr lang="en-US" altLang="zh-CN" sz="2000" dirty="0">
                  <a:solidFill>
                    <a:schemeClr val="accent1"/>
                  </a:solidFill>
                  <a:latin typeface="Times New Roman" panose="02020603050405020304" pitchFamily="18" charset="0"/>
                </a:rPr>
                <a:t>INTA</a:t>
              </a:r>
            </a:p>
          </p:txBody>
        </p:sp>
        <p:sp>
          <p:nvSpPr>
            <p:cNvPr id="24630" name="Line 36"/>
            <p:cNvSpPr/>
            <p:nvPr/>
          </p:nvSpPr>
          <p:spPr>
            <a:xfrm flipH="1">
              <a:off x="4704" y="814"/>
              <a:ext cx="499" cy="0"/>
            </a:xfrm>
            <a:prstGeom prst="line">
              <a:avLst/>
            </a:prstGeom>
            <a:ln w="38100" cap="flat" cmpd="sng">
              <a:solidFill>
                <a:schemeClr val="tx1"/>
              </a:solidFill>
              <a:prstDash val="solid"/>
              <a:headEnd type="triangle" w="med" len="med"/>
              <a:tailEnd type="none" w="med" len="med"/>
            </a:ln>
          </p:spPr>
        </p:sp>
        <p:sp>
          <p:nvSpPr>
            <p:cNvPr id="24631" name="Text Box 37"/>
            <p:cNvSpPr txBox="1"/>
            <p:nvPr/>
          </p:nvSpPr>
          <p:spPr>
            <a:xfrm>
              <a:off x="4801" y="565"/>
              <a:ext cx="567" cy="250"/>
            </a:xfrm>
            <a:prstGeom prst="rect">
              <a:avLst/>
            </a:prstGeom>
            <a:noFill/>
            <a:ln w="12700">
              <a:noFill/>
            </a:ln>
          </p:spPr>
          <p:txBody>
            <a:bodyPr>
              <a:spAutoFit/>
            </a:bodyPr>
            <a:lstStyle/>
            <a:p>
              <a:pPr>
                <a:spcBef>
                  <a:spcPct val="50000"/>
                </a:spcBef>
              </a:pPr>
              <a:r>
                <a:rPr lang="zh-CN" altLang="en-US" sz="2000" dirty="0">
                  <a:solidFill>
                    <a:schemeClr val="accent1"/>
                  </a:solidFill>
                  <a:latin typeface="Times New Roman" panose="02020603050405020304" pitchFamily="18" charset="0"/>
                </a:rPr>
                <a:t>命令</a:t>
              </a:r>
            </a:p>
          </p:txBody>
        </p:sp>
        <p:sp>
          <p:nvSpPr>
            <p:cNvPr id="24632" name="Line 38"/>
            <p:cNvSpPr/>
            <p:nvPr/>
          </p:nvSpPr>
          <p:spPr>
            <a:xfrm flipH="1">
              <a:off x="4704" y="1177"/>
              <a:ext cx="528" cy="0"/>
            </a:xfrm>
            <a:prstGeom prst="line">
              <a:avLst/>
            </a:prstGeom>
            <a:ln w="38100" cap="flat" cmpd="sng">
              <a:solidFill>
                <a:schemeClr val="tx1"/>
              </a:solidFill>
              <a:prstDash val="solid"/>
              <a:headEnd type="none" w="med" len="med"/>
              <a:tailEnd type="triangle" w="med" len="med"/>
            </a:ln>
          </p:spPr>
        </p:sp>
        <p:sp>
          <p:nvSpPr>
            <p:cNvPr id="24633" name="Line 39"/>
            <p:cNvSpPr/>
            <p:nvPr/>
          </p:nvSpPr>
          <p:spPr>
            <a:xfrm flipH="1">
              <a:off x="4704" y="1578"/>
              <a:ext cx="499" cy="0"/>
            </a:xfrm>
            <a:prstGeom prst="line">
              <a:avLst/>
            </a:prstGeom>
            <a:ln w="38100" cap="flat" cmpd="sng">
              <a:solidFill>
                <a:schemeClr val="tx1"/>
              </a:solidFill>
              <a:prstDash val="solid"/>
              <a:headEnd type="triangle" w="med" len="med"/>
              <a:tailEnd type="triangle" w="med" len="med"/>
            </a:ln>
          </p:spPr>
        </p:sp>
        <p:sp>
          <p:nvSpPr>
            <p:cNvPr id="24634" name="Line 40"/>
            <p:cNvSpPr/>
            <p:nvPr/>
          </p:nvSpPr>
          <p:spPr>
            <a:xfrm flipH="1">
              <a:off x="4704" y="2523"/>
              <a:ext cx="192" cy="0"/>
            </a:xfrm>
            <a:prstGeom prst="line">
              <a:avLst/>
            </a:prstGeom>
            <a:ln w="38100" cap="flat" cmpd="sng">
              <a:solidFill>
                <a:schemeClr val="tx1"/>
              </a:solidFill>
              <a:prstDash val="solid"/>
              <a:headEnd type="none" w="med" len="med"/>
              <a:tailEnd type="triangle" w="med" len="med"/>
            </a:ln>
          </p:spPr>
        </p:sp>
        <p:sp>
          <p:nvSpPr>
            <p:cNvPr id="24635" name="Line 41"/>
            <p:cNvSpPr/>
            <p:nvPr/>
          </p:nvSpPr>
          <p:spPr>
            <a:xfrm flipH="1">
              <a:off x="4704" y="2704"/>
              <a:ext cx="288" cy="0"/>
            </a:xfrm>
            <a:prstGeom prst="line">
              <a:avLst/>
            </a:prstGeom>
            <a:ln w="38100" cap="flat" cmpd="sng">
              <a:solidFill>
                <a:schemeClr val="tx1"/>
              </a:solidFill>
              <a:prstDash val="solid"/>
              <a:headEnd type="none" w="med" len="med"/>
              <a:tailEnd type="triangle" w="med" len="med"/>
            </a:ln>
          </p:spPr>
        </p:sp>
        <p:sp>
          <p:nvSpPr>
            <p:cNvPr id="24636" name="Text Box 42"/>
            <p:cNvSpPr txBox="1"/>
            <p:nvPr/>
          </p:nvSpPr>
          <p:spPr>
            <a:xfrm>
              <a:off x="4967" y="2568"/>
              <a:ext cx="680" cy="250"/>
            </a:xfrm>
            <a:prstGeom prst="rect">
              <a:avLst/>
            </a:prstGeom>
            <a:noFill/>
            <a:ln w="12700">
              <a:noFill/>
            </a:ln>
          </p:spPr>
          <p:txBody>
            <a:bodyPr>
              <a:spAutoFit/>
            </a:bodyPr>
            <a:lstStyle/>
            <a:p>
              <a:pPr>
                <a:spcBef>
                  <a:spcPct val="50000"/>
                </a:spcBef>
              </a:pPr>
              <a:r>
                <a:rPr lang="en-US" altLang="zh-CN" sz="2000" dirty="0">
                  <a:solidFill>
                    <a:schemeClr val="folHlink"/>
                  </a:solidFill>
                  <a:latin typeface="Times New Roman" panose="02020603050405020304" pitchFamily="18" charset="0"/>
                </a:rPr>
                <a:t>IRQ7</a:t>
              </a:r>
            </a:p>
          </p:txBody>
        </p:sp>
        <p:sp>
          <p:nvSpPr>
            <p:cNvPr id="24637" name="Text Box 43"/>
            <p:cNvSpPr txBox="1"/>
            <p:nvPr/>
          </p:nvSpPr>
          <p:spPr>
            <a:xfrm>
              <a:off x="4801" y="912"/>
              <a:ext cx="816" cy="250"/>
            </a:xfrm>
            <a:prstGeom prst="rect">
              <a:avLst/>
            </a:prstGeom>
            <a:noFill/>
            <a:ln w="12700">
              <a:noFill/>
            </a:ln>
          </p:spPr>
          <p:txBody>
            <a:bodyPr>
              <a:spAutoFit/>
            </a:bodyPr>
            <a:lstStyle/>
            <a:p>
              <a:pPr>
                <a:spcBef>
                  <a:spcPct val="50000"/>
                </a:spcBef>
              </a:pPr>
              <a:r>
                <a:rPr lang="zh-CN" altLang="en-US" sz="2000" dirty="0">
                  <a:solidFill>
                    <a:schemeClr val="accent1"/>
                  </a:solidFill>
                  <a:latin typeface="Times New Roman" panose="02020603050405020304" pitchFamily="18" charset="0"/>
                </a:rPr>
                <a:t>状态</a:t>
              </a:r>
            </a:p>
          </p:txBody>
        </p:sp>
        <p:sp>
          <p:nvSpPr>
            <p:cNvPr id="24638" name="Text Box 44"/>
            <p:cNvSpPr txBox="1"/>
            <p:nvPr/>
          </p:nvSpPr>
          <p:spPr>
            <a:xfrm>
              <a:off x="4801" y="1298"/>
              <a:ext cx="567" cy="250"/>
            </a:xfrm>
            <a:prstGeom prst="rect">
              <a:avLst/>
            </a:prstGeom>
            <a:noFill/>
            <a:ln w="12700">
              <a:noFill/>
            </a:ln>
          </p:spPr>
          <p:txBody>
            <a:bodyPr>
              <a:spAutoFit/>
            </a:bodyPr>
            <a:lstStyle/>
            <a:p>
              <a:pPr>
                <a:spcBef>
                  <a:spcPct val="50000"/>
                </a:spcBef>
              </a:pPr>
              <a:r>
                <a:rPr lang="zh-CN" altLang="en-US" sz="2000" dirty="0">
                  <a:solidFill>
                    <a:schemeClr val="accent1"/>
                  </a:solidFill>
                  <a:latin typeface="Times New Roman" panose="02020603050405020304" pitchFamily="18" charset="0"/>
                </a:rPr>
                <a:t>数据</a:t>
              </a:r>
            </a:p>
          </p:txBody>
        </p:sp>
        <p:sp>
          <p:nvSpPr>
            <p:cNvPr id="24639" name="Text Box 45"/>
            <p:cNvSpPr txBox="1"/>
            <p:nvPr/>
          </p:nvSpPr>
          <p:spPr>
            <a:xfrm>
              <a:off x="5208" y="827"/>
              <a:ext cx="385" cy="1152"/>
            </a:xfrm>
            <a:prstGeom prst="rect">
              <a:avLst/>
            </a:prstGeom>
            <a:noFill/>
            <a:ln w="12700">
              <a:noFill/>
            </a:ln>
          </p:spPr>
          <p:txBody>
            <a:bodyPr vert="eaVert">
              <a:spAutoFit/>
            </a:bodyPr>
            <a:lstStyle/>
            <a:p>
              <a:pPr>
                <a:spcBef>
                  <a:spcPct val="50000"/>
                </a:spcBef>
              </a:pPr>
              <a:r>
                <a:rPr lang="zh-CN" altLang="en-US" sz="2800" dirty="0">
                  <a:latin typeface="黑体" panose="02010609060101010101" pitchFamily="49" charset="-122"/>
                  <a:ea typeface="黑体" panose="02010609060101010101" pitchFamily="49" charset="-122"/>
                </a:rPr>
                <a:t>外部设备</a:t>
              </a:r>
            </a:p>
          </p:txBody>
        </p:sp>
        <p:sp>
          <p:nvSpPr>
            <p:cNvPr id="24640" name="Text Box 46"/>
            <p:cNvSpPr txBox="1"/>
            <p:nvPr/>
          </p:nvSpPr>
          <p:spPr>
            <a:xfrm>
              <a:off x="2496" y="672"/>
              <a:ext cx="385" cy="1200"/>
            </a:xfrm>
            <a:prstGeom prst="rect">
              <a:avLst/>
            </a:prstGeom>
            <a:noFill/>
            <a:ln w="12700">
              <a:noFill/>
            </a:ln>
          </p:spPr>
          <p:txBody>
            <a:bodyPr vert="eaVert">
              <a:spAutoFit/>
            </a:bodyPr>
            <a:lstStyle/>
            <a:p>
              <a:pPr>
                <a:spcBef>
                  <a:spcPct val="50000"/>
                </a:spcBef>
              </a:pPr>
              <a:r>
                <a:rPr lang="zh-CN" altLang="en-US" sz="2800" dirty="0">
                  <a:latin typeface="黑体" panose="02010609060101010101" pitchFamily="49" charset="-122"/>
                  <a:ea typeface="黑体" panose="02010609060101010101" pitchFamily="49" charset="-122"/>
                </a:rPr>
                <a:t>系统总线</a:t>
              </a:r>
            </a:p>
          </p:txBody>
        </p:sp>
        <p:sp>
          <p:nvSpPr>
            <p:cNvPr id="24641" name="Text Box 50"/>
            <p:cNvSpPr txBox="1"/>
            <p:nvPr/>
          </p:nvSpPr>
          <p:spPr>
            <a:xfrm>
              <a:off x="4899" y="1888"/>
              <a:ext cx="635" cy="250"/>
            </a:xfrm>
            <a:prstGeom prst="rect">
              <a:avLst/>
            </a:prstGeom>
            <a:noFill/>
            <a:ln w="12700">
              <a:noFill/>
            </a:ln>
          </p:spPr>
          <p:txBody>
            <a:bodyPr>
              <a:spAutoFit/>
            </a:bodyPr>
            <a:lstStyle/>
            <a:p>
              <a:pPr>
                <a:spcBef>
                  <a:spcPct val="50000"/>
                </a:spcBef>
              </a:pPr>
              <a:r>
                <a:rPr lang="en-US" altLang="zh-CN" sz="2000" dirty="0">
                  <a:solidFill>
                    <a:srgbClr val="FFFF00"/>
                  </a:solidFill>
                  <a:latin typeface="Times New Roman" panose="02020603050405020304" pitchFamily="18" charset="0"/>
                </a:rPr>
                <a:t>IRQi</a:t>
              </a:r>
            </a:p>
          </p:txBody>
        </p:sp>
        <p:sp>
          <p:nvSpPr>
            <p:cNvPr id="24642" name="Line 5"/>
            <p:cNvSpPr/>
            <p:nvPr/>
          </p:nvSpPr>
          <p:spPr>
            <a:xfrm>
              <a:off x="2880" y="192"/>
              <a:ext cx="0" cy="3560"/>
            </a:xfrm>
            <a:prstGeom prst="line">
              <a:avLst/>
            </a:prstGeom>
            <a:ln w="76200" cap="flat" cmpd="sng">
              <a:solidFill>
                <a:schemeClr val="accent1"/>
              </a:solidFill>
              <a:prstDash val="solid"/>
              <a:headEnd type="none" w="med" len="med"/>
              <a:tailEnd type="none" w="med" len="med"/>
            </a:ln>
          </p:spPr>
        </p:sp>
      </p:grpSp>
      <p:sp>
        <p:nvSpPr>
          <p:cNvPr id="19513" name="Text Box 57"/>
          <p:cNvSpPr txBox="1"/>
          <p:nvPr/>
        </p:nvSpPr>
        <p:spPr>
          <a:xfrm>
            <a:off x="5638800" y="4816475"/>
            <a:ext cx="838200" cy="461963"/>
          </a:xfrm>
          <a:prstGeom prst="rect">
            <a:avLst/>
          </a:prstGeom>
          <a:solidFill>
            <a:schemeClr val="bg1"/>
          </a:solid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dirty="0">
                <a:solidFill>
                  <a:schemeClr val="folHlink"/>
                </a:solidFill>
                <a:latin typeface="黑体" panose="02010609060101010101" pitchFamily="49" charset="-122"/>
                <a:ea typeface="黑体" panose="02010609060101010101" pitchFamily="49" charset="-122"/>
              </a:rPr>
              <a:t> </a:t>
            </a:r>
            <a:r>
              <a:rPr lang="en-US" altLang="zh-CN" dirty="0">
                <a:solidFill>
                  <a:schemeClr val="folHlink"/>
                </a:solidFill>
                <a:latin typeface="Times New Roman" panose="02020603050405020304" pitchFamily="18" charset="0"/>
                <a:ea typeface="黑体" panose="02010609060101010101" pitchFamily="49" charset="-122"/>
              </a:rPr>
              <a:t>M</a:t>
            </a:r>
          </a:p>
        </p:txBody>
      </p:sp>
      <p:sp>
        <p:nvSpPr>
          <p:cNvPr id="19514" name="Text Box 58"/>
          <p:cNvSpPr txBox="1">
            <a:spLocks noChangeArrowheads="1"/>
          </p:cNvSpPr>
          <p:nvPr/>
        </p:nvSpPr>
        <p:spPr bwMode="auto">
          <a:xfrm>
            <a:off x="5638800" y="5464175"/>
            <a:ext cx="838200" cy="461963"/>
          </a:xfrm>
          <a:prstGeom prst="rect">
            <a:avLst/>
          </a:prstGeom>
          <a:solidFill>
            <a:schemeClr val="bg1"/>
          </a:solidFill>
          <a:ln w="38100">
            <a:solidFill>
              <a:schemeClr val="tx1"/>
            </a:solidFill>
            <a:miter lim="800000"/>
          </a:ln>
        </p:spPr>
        <p:txBody>
          <a:bodyPr>
            <a:spAutoFit/>
          </a:bodyPr>
          <a:lstStyle/>
          <a:p>
            <a:pPr marR="0" algn="ctr" defTabSz="914400">
              <a:spcBef>
                <a:spcPct val="50000"/>
              </a:spcBef>
              <a:buClrTx/>
              <a:buSzTx/>
              <a:buFontTx/>
              <a:buNone/>
              <a:defRPr/>
            </a:pPr>
            <a:r>
              <a:rPr kumimoji="1" lang="en-US" altLang="zh-CN" kern="1200" cap="none" spc="0" normalizeH="0" baseline="0" noProof="0">
                <a:solidFill>
                  <a:schemeClr val="folHlink"/>
                </a:solidFill>
                <a:latin typeface="+mn-lt"/>
                <a:ea typeface="Verdana" panose="020B0604030504040204" pitchFamily="34" charset="0"/>
                <a:cs typeface="Verdana" panose="020B0604030504040204" pitchFamily="34" charset="0"/>
              </a:rPr>
              <a:t>CPU</a:t>
            </a:r>
          </a:p>
        </p:txBody>
      </p:sp>
      <p:sp>
        <p:nvSpPr>
          <p:cNvPr id="19516" name="Line 60"/>
          <p:cNvSpPr/>
          <p:nvPr/>
        </p:nvSpPr>
        <p:spPr>
          <a:xfrm>
            <a:off x="5508625" y="4605338"/>
            <a:ext cx="2159000" cy="0"/>
          </a:xfrm>
          <a:prstGeom prst="line">
            <a:avLst/>
          </a:prstGeom>
          <a:ln w="38100" cap="rnd" cmpd="sng">
            <a:solidFill>
              <a:schemeClr val="accent1"/>
            </a:solidFill>
            <a:prstDash val="sysDot"/>
            <a:headEnd type="none" w="med" len="med"/>
            <a:tailEnd type="none" w="med" len="med"/>
          </a:ln>
        </p:spPr>
      </p:sp>
      <p:sp>
        <p:nvSpPr>
          <p:cNvPr id="19517" name="Line 61"/>
          <p:cNvSpPr/>
          <p:nvPr/>
        </p:nvSpPr>
        <p:spPr>
          <a:xfrm>
            <a:off x="5484813" y="320675"/>
            <a:ext cx="0" cy="4321175"/>
          </a:xfrm>
          <a:prstGeom prst="line">
            <a:avLst/>
          </a:prstGeom>
          <a:ln w="38100" cap="rnd" cmpd="sng">
            <a:solidFill>
              <a:schemeClr val="accent1"/>
            </a:solidFill>
            <a:prstDash val="sysDot"/>
            <a:headEnd type="none" w="med" len="med"/>
            <a:tailEnd type="none" w="med" len="med"/>
          </a:ln>
        </p:spPr>
      </p:sp>
      <p:sp>
        <p:nvSpPr>
          <p:cNvPr id="19518" name="Line 62"/>
          <p:cNvSpPr/>
          <p:nvPr/>
        </p:nvSpPr>
        <p:spPr>
          <a:xfrm>
            <a:off x="5508625" y="307975"/>
            <a:ext cx="2159000" cy="0"/>
          </a:xfrm>
          <a:prstGeom prst="line">
            <a:avLst/>
          </a:prstGeom>
          <a:ln w="38100" cap="rnd" cmpd="sng">
            <a:solidFill>
              <a:schemeClr val="accent1"/>
            </a:solidFill>
            <a:prstDash val="sysDot"/>
            <a:headEnd type="none" w="med" len="med"/>
            <a:tailEnd type="none" w="med" len="med"/>
          </a:ln>
        </p:spPr>
      </p:sp>
      <p:sp>
        <p:nvSpPr>
          <p:cNvPr id="19519" name="Line 63"/>
          <p:cNvSpPr/>
          <p:nvPr/>
        </p:nvSpPr>
        <p:spPr>
          <a:xfrm>
            <a:off x="7667625" y="320675"/>
            <a:ext cx="0" cy="4284663"/>
          </a:xfrm>
          <a:prstGeom prst="line">
            <a:avLst/>
          </a:prstGeom>
          <a:ln w="38100" cap="rnd" cmpd="sng">
            <a:solidFill>
              <a:schemeClr val="accent1"/>
            </a:solidFill>
            <a:prstDash val="sysDot"/>
            <a:headEnd type="none" w="med" len="med"/>
            <a:tailEnd type="none" w="med" len="med"/>
          </a:ln>
        </p:spPr>
      </p:sp>
      <p:sp>
        <p:nvSpPr>
          <p:cNvPr id="19521" name="Line 65"/>
          <p:cNvSpPr/>
          <p:nvPr/>
        </p:nvSpPr>
        <p:spPr>
          <a:xfrm>
            <a:off x="4595813" y="5084763"/>
            <a:ext cx="1008062" cy="0"/>
          </a:xfrm>
          <a:prstGeom prst="line">
            <a:avLst/>
          </a:prstGeom>
          <a:ln w="38100" cap="flat" cmpd="sng">
            <a:solidFill>
              <a:schemeClr val="tx1"/>
            </a:solidFill>
            <a:prstDash val="solid"/>
            <a:headEnd type="triangle" w="med" len="med"/>
            <a:tailEnd type="triangle" w="med" len="med"/>
          </a:ln>
        </p:spPr>
      </p:sp>
      <p:sp>
        <p:nvSpPr>
          <p:cNvPr id="19522" name="Line 66"/>
          <p:cNvSpPr/>
          <p:nvPr/>
        </p:nvSpPr>
        <p:spPr>
          <a:xfrm>
            <a:off x="4608513" y="5705475"/>
            <a:ext cx="1008062" cy="0"/>
          </a:xfrm>
          <a:prstGeom prst="line">
            <a:avLst/>
          </a:prstGeom>
          <a:ln w="38100" cap="flat" cmpd="sng">
            <a:solidFill>
              <a:schemeClr val="tx1"/>
            </a:solidFill>
            <a:prstDash val="solid"/>
            <a:headEnd type="triangle" w="med" len="med"/>
            <a:tailEnd type="triangle" w="med" len="med"/>
          </a:ln>
        </p:spPr>
      </p:sp>
      <p:sp>
        <p:nvSpPr>
          <p:cNvPr id="19523" name="Text Box 67"/>
          <p:cNvSpPr txBox="1"/>
          <p:nvPr/>
        </p:nvSpPr>
        <p:spPr>
          <a:xfrm>
            <a:off x="6804025" y="5157788"/>
            <a:ext cx="1512888" cy="519112"/>
          </a:xfrm>
          <a:prstGeom prst="rect">
            <a:avLst/>
          </a:prstGeom>
          <a:noFill/>
          <a:ln w="9525">
            <a:noFill/>
          </a:ln>
        </p:spPr>
        <p:txBody>
          <a:bodyPr>
            <a:spAutoFit/>
          </a:bodyPr>
          <a:lstStyle/>
          <a:p>
            <a:pPr>
              <a:spcBef>
                <a:spcPct val="50000"/>
              </a:spcBef>
            </a:pPr>
            <a:r>
              <a:rPr lang="zh-CN" altLang="en-US" sz="2800" dirty="0">
                <a:solidFill>
                  <a:schemeClr val="folHlink"/>
                </a:solidFill>
                <a:latin typeface="Times New Roman" panose="02020603050405020304" pitchFamily="18" charset="0"/>
                <a:ea typeface="黑体" panose="02010609060101010101" pitchFamily="49" charset="-122"/>
              </a:rPr>
              <a:t>主机</a:t>
            </a:r>
          </a:p>
        </p:txBody>
      </p:sp>
      <p:sp>
        <p:nvSpPr>
          <p:cNvPr id="19525" name="Text Box 69"/>
          <p:cNvSpPr txBox="1"/>
          <p:nvPr/>
        </p:nvSpPr>
        <p:spPr>
          <a:xfrm>
            <a:off x="0" y="1181100"/>
            <a:ext cx="3962400" cy="519113"/>
          </a:xfrm>
          <a:prstGeom prst="rect">
            <a:avLst/>
          </a:prstGeom>
          <a:noFill/>
          <a:ln w="12700">
            <a:noFill/>
          </a:ln>
        </p:spPr>
        <p:txBody>
          <a:bodyPr>
            <a:spAutoFit/>
          </a:bodyPr>
          <a:lstStyle/>
          <a:p>
            <a:pPr>
              <a:spcBef>
                <a:spcPct val="50000"/>
              </a:spcBef>
            </a:pP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1</a:t>
            </a:r>
            <a:r>
              <a:rPr lang="zh-CN" altLang="en-US" sz="2800" dirty="0">
                <a:latin typeface="黑体" panose="02010609060101010101" pitchFamily="49" charset="-122"/>
                <a:ea typeface="黑体" panose="02010609060101010101" pitchFamily="49" charset="-122"/>
              </a:rPr>
              <a:t>）寄存器选择</a:t>
            </a:r>
          </a:p>
        </p:txBody>
      </p:sp>
      <p:sp>
        <p:nvSpPr>
          <p:cNvPr id="19527" name="Text Box 71"/>
          <p:cNvSpPr txBox="1"/>
          <p:nvPr/>
        </p:nvSpPr>
        <p:spPr>
          <a:xfrm>
            <a:off x="0" y="1671638"/>
            <a:ext cx="3962400" cy="461962"/>
          </a:xfrm>
          <a:prstGeom prst="rect">
            <a:avLst/>
          </a:prstGeom>
          <a:noFill/>
          <a:ln w="12700">
            <a:noFill/>
          </a:ln>
        </p:spPr>
        <p:txBody>
          <a:bodyPr>
            <a:spAutoFit/>
          </a:bodyPr>
          <a:lstStyle/>
          <a:p>
            <a:pPr>
              <a:spcBef>
                <a:spcPct val="50000"/>
              </a:spcBef>
            </a:pPr>
            <a:r>
              <a:rPr lang="zh-CN" altLang="en-US" dirty="0">
                <a:solidFill>
                  <a:schemeClr val="accent1"/>
                </a:solidFill>
                <a:latin typeface="黑体" panose="02010609060101010101" pitchFamily="49" charset="-122"/>
                <a:ea typeface="黑体" panose="02010609060101010101" pitchFamily="49" charset="-122"/>
              </a:rPr>
              <a:t>对接口中的寄存器寻址。</a:t>
            </a:r>
          </a:p>
        </p:txBody>
      </p:sp>
      <p:sp>
        <p:nvSpPr>
          <p:cNvPr id="19528" name="Text Box 72"/>
          <p:cNvSpPr txBox="1"/>
          <p:nvPr/>
        </p:nvSpPr>
        <p:spPr>
          <a:xfrm>
            <a:off x="0" y="2189163"/>
            <a:ext cx="3962400" cy="519112"/>
          </a:xfrm>
          <a:prstGeom prst="rect">
            <a:avLst/>
          </a:prstGeom>
          <a:noFill/>
          <a:ln w="12700">
            <a:noFill/>
          </a:ln>
        </p:spPr>
        <p:txBody>
          <a:bodyPr>
            <a:spAutoFit/>
          </a:bodyPr>
          <a:lstStyle/>
          <a:p>
            <a:pPr>
              <a:spcBef>
                <a:spcPct val="50000"/>
              </a:spcBef>
            </a:pP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2</a:t>
            </a:r>
            <a:r>
              <a:rPr lang="zh-CN" altLang="en-US" sz="2800" dirty="0">
                <a:latin typeface="黑体" panose="02010609060101010101" pitchFamily="49" charset="-122"/>
                <a:ea typeface="黑体" panose="02010609060101010101" pitchFamily="49" charset="-122"/>
              </a:rPr>
              <a:t>）命令字寄存器</a:t>
            </a:r>
          </a:p>
        </p:txBody>
      </p:sp>
      <p:sp>
        <p:nvSpPr>
          <p:cNvPr id="19529" name="Text Box 73"/>
          <p:cNvSpPr txBox="1"/>
          <p:nvPr/>
        </p:nvSpPr>
        <p:spPr>
          <a:xfrm>
            <a:off x="0" y="2741613"/>
            <a:ext cx="3962400" cy="831850"/>
          </a:xfrm>
          <a:prstGeom prst="rect">
            <a:avLst/>
          </a:prstGeom>
          <a:noFill/>
          <a:ln w="12700">
            <a:noFill/>
          </a:ln>
        </p:spPr>
        <p:txBody>
          <a:bodyPr>
            <a:spAutoFit/>
          </a:bodyPr>
          <a:lstStyle/>
          <a:p>
            <a:pPr>
              <a:spcBef>
                <a:spcPct val="50000"/>
              </a:spcBef>
            </a:pPr>
            <a:r>
              <a:rPr lang="zh-CN" altLang="en-US" dirty="0">
                <a:solidFill>
                  <a:schemeClr val="accent1"/>
                </a:solidFill>
                <a:latin typeface="黑体" panose="02010609060101010101" pitchFamily="49" charset="-122"/>
                <a:ea typeface="黑体" panose="02010609060101010101" pitchFamily="49" charset="-122"/>
              </a:rPr>
              <a:t>接收</a:t>
            </a:r>
            <a:r>
              <a:rPr lang="en-US" altLang="zh-CN" dirty="0">
                <a:solidFill>
                  <a:schemeClr val="accent1"/>
                </a:solidFill>
                <a:latin typeface="黑体" panose="02010609060101010101" pitchFamily="49" charset="-122"/>
                <a:ea typeface="黑体" panose="02010609060101010101" pitchFamily="49" charset="-122"/>
              </a:rPr>
              <a:t>CPU</a:t>
            </a:r>
            <a:r>
              <a:rPr lang="zh-CN" altLang="en-US" dirty="0">
                <a:solidFill>
                  <a:schemeClr val="accent1"/>
                </a:solidFill>
                <a:latin typeface="黑体" panose="02010609060101010101" pitchFamily="49" charset="-122"/>
                <a:ea typeface="黑体" panose="02010609060101010101" pitchFamily="49" charset="-122"/>
              </a:rPr>
              <a:t>发向外设的命令字，转换为相应操作命令送外设。</a:t>
            </a:r>
          </a:p>
        </p:txBody>
      </p:sp>
      <p:sp>
        <p:nvSpPr>
          <p:cNvPr id="19530" name="Text Box 74"/>
          <p:cNvSpPr txBox="1"/>
          <p:nvPr/>
        </p:nvSpPr>
        <p:spPr>
          <a:xfrm>
            <a:off x="0" y="3716338"/>
            <a:ext cx="2627313" cy="519112"/>
          </a:xfrm>
          <a:prstGeom prst="rect">
            <a:avLst/>
          </a:prstGeom>
          <a:noFill/>
          <a:ln w="12700">
            <a:noFill/>
          </a:ln>
        </p:spPr>
        <p:txBody>
          <a:bodyPr>
            <a:spAutoFit/>
          </a:bodyPr>
          <a:lstStyle/>
          <a:p>
            <a:pPr>
              <a:spcBef>
                <a:spcPct val="50000"/>
              </a:spcBef>
            </a:pPr>
            <a:r>
              <a:rPr lang="zh-CN" altLang="en-US" sz="2800" dirty="0">
                <a:solidFill>
                  <a:srgbClr val="FFFF00"/>
                </a:solidFill>
                <a:latin typeface="黑体" panose="02010609060101010101" pitchFamily="49" charset="-122"/>
                <a:ea typeface="黑体" panose="02010609060101010101" pitchFamily="49" charset="-122"/>
              </a:rPr>
              <a:t>命令字格式：</a:t>
            </a:r>
          </a:p>
        </p:txBody>
      </p:sp>
      <p:sp>
        <p:nvSpPr>
          <p:cNvPr id="19531" name="Text Box 75"/>
          <p:cNvSpPr txBox="1"/>
          <p:nvPr/>
        </p:nvSpPr>
        <p:spPr>
          <a:xfrm>
            <a:off x="4559300" y="2636838"/>
            <a:ext cx="1676400" cy="400050"/>
          </a:xfrm>
          <a:prstGeom prst="rect">
            <a:avLst/>
          </a:prstGeom>
          <a:noFill/>
          <a:ln w="9525">
            <a:noFill/>
          </a:ln>
        </p:spPr>
        <p:txBody>
          <a:bodyPr>
            <a:spAutoFit/>
          </a:bodyPr>
          <a:lstStyle/>
          <a:p>
            <a:pPr>
              <a:spcBef>
                <a:spcPct val="50000"/>
              </a:spcBef>
            </a:pPr>
            <a:r>
              <a:rPr lang="zh-CN" altLang="en-US" sz="2000" dirty="0">
                <a:latin typeface="Times New Roman" panose="02020603050405020304" pitchFamily="18" charset="0"/>
                <a:ea typeface="黑体" panose="02010609060101010101" pitchFamily="49" charset="-122"/>
              </a:rPr>
              <a:t>接口板</a:t>
            </a:r>
          </a:p>
        </p:txBody>
      </p:sp>
      <p:sp>
        <p:nvSpPr>
          <p:cNvPr id="19532" name="Text Box 76"/>
          <p:cNvSpPr txBox="1"/>
          <p:nvPr/>
        </p:nvSpPr>
        <p:spPr>
          <a:xfrm>
            <a:off x="0" y="4191000"/>
            <a:ext cx="4284663" cy="461963"/>
          </a:xfrm>
          <a:prstGeom prst="rect">
            <a:avLst/>
          </a:prstGeom>
          <a:noFill/>
          <a:ln w="12700">
            <a:noFill/>
          </a:ln>
        </p:spPr>
        <p:txBody>
          <a:bodyPr>
            <a:spAutoFit/>
          </a:bodyPr>
          <a:lstStyle/>
          <a:p>
            <a:pPr>
              <a:spcBef>
                <a:spcPct val="50000"/>
              </a:spcBef>
            </a:pPr>
            <a:r>
              <a:rPr lang="zh-CN" altLang="en-US" dirty="0">
                <a:solidFill>
                  <a:schemeClr val="accent1"/>
                </a:solidFill>
                <a:latin typeface="黑体" panose="02010609060101010101" pitchFamily="49" charset="-122"/>
                <a:ea typeface="黑体" panose="02010609060101010101" pitchFamily="49" charset="-122"/>
              </a:rPr>
              <a:t>用代码表示各种命令</a:t>
            </a:r>
          </a:p>
        </p:txBody>
      </p:sp>
      <p:sp>
        <p:nvSpPr>
          <p:cNvPr id="19538" name="Text Box 82"/>
          <p:cNvSpPr txBox="1"/>
          <p:nvPr/>
        </p:nvSpPr>
        <p:spPr>
          <a:xfrm>
            <a:off x="0" y="4721225"/>
            <a:ext cx="3962400" cy="519113"/>
          </a:xfrm>
          <a:prstGeom prst="rect">
            <a:avLst/>
          </a:prstGeom>
          <a:noFill/>
          <a:ln w="12700">
            <a:noFill/>
          </a:ln>
        </p:spPr>
        <p:txBody>
          <a:bodyPr>
            <a:spAutoFit/>
          </a:bodyPr>
          <a:lstStyle/>
          <a:p>
            <a:pPr>
              <a:spcBef>
                <a:spcPct val="50000"/>
              </a:spcBef>
            </a:pP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3</a:t>
            </a:r>
            <a:r>
              <a:rPr lang="zh-CN" altLang="en-US" sz="2800" dirty="0">
                <a:latin typeface="黑体" panose="02010609060101010101" pitchFamily="49" charset="-122"/>
                <a:ea typeface="黑体" panose="02010609060101010101" pitchFamily="49" charset="-122"/>
              </a:rPr>
              <a:t>）状态字寄存器</a:t>
            </a:r>
          </a:p>
        </p:txBody>
      </p:sp>
      <p:sp>
        <p:nvSpPr>
          <p:cNvPr id="19539" name="Text Box 83"/>
          <p:cNvSpPr txBox="1"/>
          <p:nvPr/>
        </p:nvSpPr>
        <p:spPr>
          <a:xfrm>
            <a:off x="0" y="5272088"/>
            <a:ext cx="3563938" cy="830262"/>
          </a:xfrm>
          <a:prstGeom prst="rect">
            <a:avLst/>
          </a:prstGeom>
          <a:noFill/>
          <a:ln w="12700">
            <a:noFill/>
          </a:ln>
        </p:spPr>
        <p:txBody>
          <a:bodyPr>
            <a:spAutoFit/>
          </a:bodyPr>
          <a:lstStyle/>
          <a:p>
            <a:pPr>
              <a:spcBef>
                <a:spcPct val="50000"/>
              </a:spcBef>
            </a:pPr>
            <a:r>
              <a:rPr lang="zh-CN" altLang="en-US" dirty="0">
                <a:solidFill>
                  <a:schemeClr val="accent1"/>
                </a:solidFill>
                <a:latin typeface="黑体" panose="02010609060101010101" pitchFamily="49" charset="-122"/>
                <a:ea typeface="黑体" panose="02010609060101010101" pitchFamily="49" charset="-122"/>
              </a:rPr>
              <a:t>反映设备和接口的各种运行状态，用代码表示状态</a:t>
            </a:r>
          </a:p>
        </p:txBody>
      </p:sp>
    </p:spTree>
  </p:cSld>
  <p:clrMapOvr>
    <a:masterClrMapping/>
  </p:clrMapOvr>
  <p:transition>
    <p:cover dir="l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9" name="Text Box 59"/>
          <p:cNvSpPr txBox="1"/>
          <p:nvPr/>
        </p:nvSpPr>
        <p:spPr>
          <a:xfrm>
            <a:off x="0" y="115888"/>
            <a:ext cx="3962400" cy="519112"/>
          </a:xfrm>
          <a:prstGeom prst="rect">
            <a:avLst/>
          </a:prstGeom>
          <a:noFill/>
          <a:ln w="12700">
            <a:noFill/>
          </a:ln>
        </p:spPr>
        <p:txBody>
          <a:bodyPr>
            <a:spAutoFit/>
          </a:bodyPr>
          <a:lstStyle/>
          <a:p>
            <a:pPr>
              <a:spcBef>
                <a:spcPct val="50000"/>
              </a:spcBef>
            </a:pP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4</a:t>
            </a:r>
            <a:r>
              <a:rPr lang="zh-CN" altLang="en-US" sz="2800" dirty="0">
                <a:latin typeface="黑体" panose="02010609060101010101" pitchFamily="49" charset="-122"/>
                <a:ea typeface="黑体" panose="02010609060101010101" pitchFamily="49" charset="-122"/>
              </a:rPr>
              <a:t>）数据缓冲器</a:t>
            </a:r>
          </a:p>
        </p:txBody>
      </p:sp>
      <p:sp>
        <p:nvSpPr>
          <p:cNvPr id="20540" name="Text Box 60"/>
          <p:cNvSpPr txBox="1"/>
          <p:nvPr/>
        </p:nvSpPr>
        <p:spPr>
          <a:xfrm>
            <a:off x="179388" y="620713"/>
            <a:ext cx="3313112" cy="461962"/>
          </a:xfrm>
          <a:prstGeom prst="rect">
            <a:avLst/>
          </a:prstGeom>
          <a:noFill/>
          <a:ln w="12700">
            <a:noFill/>
          </a:ln>
        </p:spPr>
        <p:txBody>
          <a:bodyPr>
            <a:spAutoFit/>
          </a:bodyPr>
          <a:lstStyle/>
          <a:p>
            <a:pPr>
              <a:spcBef>
                <a:spcPct val="50000"/>
              </a:spcBef>
            </a:pPr>
            <a:r>
              <a:rPr lang="zh-CN" altLang="en-US" dirty="0">
                <a:solidFill>
                  <a:srgbClr val="00FF00"/>
                </a:solidFill>
                <a:latin typeface="黑体" panose="02010609060101010101" pitchFamily="49" charset="-122"/>
                <a:ea typeface="黑体" panose="02010609060101010101" pitchFamily="49" charset="-122"/>
              </a:rPr>
              <a:t>传送数据，实现缓冲</a:t>
            </a:r>
          </a:p>
        </p:txBody>
      </p:sp>
      <p:sp>
        <p:nvSpPr>
          <p:cNvPr id="20541" name="Text Box 61"/>
          <p:cNvSpPr txBox="1"/>
          <p:nvPr/>
        </p:nvSpPr>
        <p:spPr>
          <a:xfrm>
            <a:off x="0" y="1249363"/>
            <a:ext cx="3962400" cy="519112"/>
          </a:xfrm>
          <a:prstGeom prst="rect">
            <a:avLst/>
          </a:prstGeom>
          <a:noFill/>
          <a:ln w="12700">
            <a:noFill/>
          </a:ln>
        </p:spPr>
        <p:txBody>
          <a:bodyPr>
            <a:spAutoFit/>
          </a:bodyPr>
          <a:lstStyle/>
          <a:p>
            <a:pPr>
              <a:spcBef>
                <a:spcPct val="50000"/>
              </a:spcBef>
            </a:pP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5</a:t>
            </a:r>
            <a:r>
              <a:rPr lang="zh-CN" altLang="en-US" sz="2800" dirty="0">
                <a:latin typeface="黑体" panose="02010609060101010101" pitchFamily="49" charset="-122"/>
                <a:ea typeface="黑体" panose="02010609060101010101" pitchFamily="49" charset="-122"/>
              </a:rPr>
              <a:t>）控制逻辑</a:t>
            </a:r>
          </a:p>
        </p:txBody>
      </p:sp>
      <p:sp>
        <p:nvSpPr>
          <p:cNvPr id="20542" name="Text Box 62"/>
          <p:cNvSpPr txBox="1"/>
          <p:nvPr/>
        </p:nvSpPr>
        <p:spPr>
          <a:xfrm>
            <a:off x="469900" y="1739900"/>
            <a:ext cx="3419475" cy="461963"/>
          </a:xfrm>
          <a:prstGeom prst="rect">
            <a:avLst/>
          </a:prstGeom>
          <a:noFill/>
          <a:ln w="12700">
            <a:noFill/>
          </a:ln>
        </p:spPr>
        <p:txBody>
          <a:bodyPr>
            <a:spAutoFit/>
          </a:bodyPr>
          <a:lstStyle/>
          <a:p>
            <a:pPr>
              <a:spcBef>
                <a:spcPct val="50000"/>
              </a:spcBef>
            </a:pPr>
            <a:r>
              <a:rPr lang="zh-CN" altLang="en-US" dirty="0">
                <a:solidFill>
                  <a:schemeClr val="accent1"/>
                </a:solidFill>
                <a:latin typeface="黑体" panose="02010609060101010101" pitchFamily="49" charset="-122"/>
                <a:ea typeface="黑体" panose="02010609060101010101" pitchFamily="49" charset="-122"/>
              </a:rPr>
              <a:t>请求信号产生逻辑</a:t>
            </a:r>
          </a:p>
        </p:txBody>
      </p:sp>
      <p:sp>
        <p:nvSpPr>
          <p:cNvPr id="20551" name="Text Box 71"/>
          <p:cNvSpPr txBox="1"/>
          <p:nvPr/>
        </p:nvSpPr>
        <p:spPr>
          <a:xfrm>
            <a:off x="0" y="3702050"/>
            <a:ext cx="4267200" cy="519113"/>
          </a:xfrm>
          <a:prstGeom prst="rect">
            <a:avLst/>
          </a:prstGeom>
          <a:noFill/>
          <a:ln w="12700">
            <a:noFill/>
          </a:ln>
        </p:spPr>
        <p:txBody>
          <a:bodyPr>
            <a:spAutoFit/>
          </a:bodyPr>
          <a:lstStyle/>
          <a:p>
            <a:pPr>
              <a:spcBef>
                <a:spcPct val="50000"/>
              </a:spcBef>
            </a:pP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6</a:t>
            </a:r>
            <a:r>
              <a:rPr lang="zh-CN" altLang="en-US" sz="2800" dirty="0">
                <a:latin typeface="黑体" panose="02010609060101010101" pitchFamily="49" charset="-122"/>
                <a:ea typeface="黑体" panose="02010609060101010101" pitchFamily="49" charset="-122"/>
              </a:rPr>
              <a:t>）公用中断控制器</a:t>
            </a:r>
          </a:p>
        </p:txBody>
      </p:sp>
      <p:sp>
        <p:nvSpPr>
          <p:cNvPr id="20552" name="Text Box 72"/>
          <p:cNvSpPr txBox="1"/>
          <p:nvPr/>
        </p:nvSpPr>
        <p:spPr>
          <a:xfrm>
            <a:off x="142875" y="4254500"/>
            <a:ext cx="4141788" cy="830263"/>
          </a:xfrm>
          <a:prstGeom prst="rect">
            <a:avLst/>
          </a:prstGeom>
          <a:noFill/>
          <a:ln w="12700">
            <a:noFill/>
          </a:ln>
        </p:spPr>
        <p:txBody>
          <a:bodyPr>
            <a:spAutoFit/>
          </a:bodyPr>
          <a:lstStyle/>
          <a:p>
            <a:pPr>
              <a:spcBef>
                <a:spcPct val="50000"/>
              </a:spcBef>
            </a:pPr>
            <a:r>
              <a:rPr lang="zh-CN" altLang="en-US" dirty="0">
                <a:solidFill>
                  <a:schemeClr val="accent1"/>
                </a:solidFill>
                <a:latin typeface="黑体" panose="02010609060101010101" pitchFamily="49" charset="-122"/>
                <a:ea typeface="黑体" panose="02010609060101010101" pitchFamily="49" charset="-122"/>
              </a:rPr>
              <a:t>接收外设请求、屏蔽、判优、送出公共请求；</a:t>
            </a:r>
          </a:p>
        </p:txBody>
      </p:sp>
      <p:sp>
        <p:nvSpPr>
          <p:cNvPr id="20553" name="Text Box 73"/>
          <p:cNvSpPr txBox="1"/>
          <p:nvPr/>
        </p:nvSpPr>
        <p:spPr>
          <a:xfrm>
            <a:off x="469900" y="2197100"/>
            <a:ext cx="3419475" cy="461963"/>
          </a:xfrm>
          <a:prstGeom prst="rect">
            <a:avLst/>
          </a:prstGeom>
          <a:noFill/>
          <a:ln w="12700">
            <a:noFill/>
          </a:ln>
        </p:spPr>
        <p:txBody>
          <a:bodyPr>
            <a:spAutoFit/>
          </a:bodyPr>
          <a:lstStyle/>
          <a:p>
            <a:pPr>
              <a:spcBef>
                <a:spcPct val="50000"/>
              </a:spcBef>
            </a:pPr>
            <a:r>
              <a:rPr lang="zh-CN" altLang="en-US" dirty="0">
                <a:solidFill>
                  <a:schemeClr val="accent1"/>
                </a:solidFill>
                <a:latin typeface="黑体" panose="02010609060101010101" pitchFamily="49" charset="-122"/>
                <a:ea typeface="黑体" panose="02010609060101010101" pitchFamily="49" charset="-122"/>
              </a:rPr>
              <a:t>电平转换逻辑</a:t>
            </a:r>
          </a:p>
        </p:txBody>
      </p:sp>
      <p:sp>
        <p:nvSpPr>
          <p:cNvPr id="20554" name="Text Box 74"/>
          <p:cNvSpPr txBox="1"/>
          <p:nvPr/>
        </p:nvSpPr>
        <p:spPr>
          <a:xfrm>
            <a:off x="469900" y="3111500"/>
            <a:ext cx="3419475" cy="461963"/>
          </a:xfrm>
          <a:prstGeom prst="rect">
            <a:avLst/>
          </a:prstGeom>
          <a:noFill/>
          <a:ln w="12700">
            <a:noFill/>
          </a:ln>
        </p:spPr>
        <p:txBody>
          <a:bodyPr>
            <a:spAutoFit/>
          </a:bodyPr>
          <a:lstStyle/>
          <a:p>
            <a:pPr>
              <a:spcBef>
                <a:spcPct val="50000"/>
              </a:spcBef>
            </a:pPr>
            <a:r>
              <a:rPr lang="zh-CN" altLang="en-US" dirty="0">
                <a:solidFill>
                  <a:schemeClr val="accent1"/>
                </a:solidFill>
                <a:latin typeface="黑体" panose="02010609060101010101" pitchFamily="49" charset="-122"/>
                <a:ea typeface="黑体" panose="02010609060101010101" pitchFamily="49" charset="-122"/>
              </a:rPr>
              <a:t>扩展中断源数量</a:t>
            </a:r>
          </a:p>
        </p:txBody>
      </p:sp>
      <p:sp>
        <p:nvSpPr>
          <p:cNvPr id="20555" name="Text Box 75"/>
          <p:cNvSpPr txBox="1"/>
          <p:nvPr/>
        </p:nvSpPr>
        <p:spPr>
          <a:xfrm>
            <a:off x="469900" y="2654300"/>
            <a:ext cx="3419475" cy="461963"/>
          </a:xfrm>
          <a:prstGeom prst="rect">
            <a:avLst/>
          </a:prstGeom>
          <a:noFill/>
          <a:ln w="12700">
            <a:noFill/>
          </a:ln>
        </p:spPr>
        <p:txBody>
          <a:bodyPr>
            <a:spAutoFit/>
          </a:bodyPr>
          <a:lstStyle/>
          <a:p>
            <a:pPr>
              <a:spcBef>
                <a:spcPct val="50000"/>
              </a:spcBef>
            </a:pPr>
            <a:r>
              <a:rPr lang="zh-CN" altLang="en-US" dirty="0">
                <a:solidFill>
                  <a:schemeClr val="accent1"/>
                </a:solidFill>
                <a:latin typeface="黑体" panose="02010609060101010101" pitchFamily="49" charset="-122"/>
                <a:ea typeface="黑体" panose="02010609060101010101" pitchFamily="49" charset="-122"/>
              </a:rPr>
              <a:t>串</a:t>
            </a:r>
            <a:r>
              <a:rPr lang="en-US" altLang="zh-CN" dirty="0">
                <a:solidFill>
                  <a:schemeClr val="accent1"/>
                </a:solidFill>
                <a:latin typeface="黑体" panose="02010609060101010101" pitchFamily="49" charset="-122"/>
                <a:ea typeface="黑体" panose="02010609060101010101" pitchFamily="49" charset="-122"/>
              </a:rPr>
              <a:t>-</a:t>
            </a:r>
            <a:r>
              <a:rPr lang="zh-CN" altLang="en-US" dirty="0">
                <a:solidFill>
                  <a:schemeClr val="accent1"/>
                </a:solidFill>
                <a:latin typeface="黑体" panose="02010609060101010101" pitchFamily="49" charset="-122"/>
                <a:ea typeface="黑体" panose="02010609060101010101" pitchFamily="49" charset="-122"/>
              </a:rPr>
              <a:t>并转换逻辑</a:t>
            </a:r>
            <a:r>
              <a:rPr lang="en-US" altLang="zh-CN" dirty="0">
                <a:solidFill>
                  <a:schemeClr val="accent1"/>
                </a:solidFill>
                <a:latin typeface="黑体" panose="02010609060101010101" pitchFamily="49" charset="-122"/>
                <a:ea typeface="黑体" panose="02010609060101010101" pitchFamily="49" charset="-122"/>
              </a:rPr>
              <a:t>(</a:t>
            </a:r>
            <a:r>
              <a:rPr lang="zh-CN" altLang="en-US" dirty="0">
                <a:solidFill>
                  <a:schemeClr val="accent1"/>
                </a:solidFill>
                <a:latin typeface="黑体" panose="02010609060101010101" pitchFamily="49" charset="-122"/>
                <a:ea typeface="黑体" panose="02010609060101010101" pitchFamily="49" charset="-122"/>
              </a:rPr>
              <a:t>串口</a:t>
            </a:r>
            <a:r>
              <a:rPr lang="en-US" altLang="zh-CN" dirty="0">
                <a:solidFill>
                  <a:schemeClr val="accent1"/>
                </a:solidFill>
                <a:latin typeface="黑体" panose="02010609060101010101" pitchFamily="49" charset="-122"/>
                <a:ea typeface="黑体" panose="02010609060101010101" pitchFamily="49" charset="-122"/>
              </a:rPr>
              <a:t>)</a:t>
            </a:r>
          </a:p>
        </p:txBody>
      </p:sp>
      <p:sp>
        <p:nvSpPr>
          <p:cNvPr id="20557" name="AutoShape 77"/>
          <p:cNvSpPr/>
          <p:nvPr/>
        </p:nvSpPr>
        <p:spPr>
          <a:xfrm>
            <a:off x="304800" y="1919288"/>
            <a:ext cx="152400" cy="1524000"/>
          </a:xfrm>
          <a:prstGeom prst="leftBrace">
            <a:avLst>
              <a:gd name="adj1" fmla="val 83333"/>
              <a:gd name="adj2" fmla="val 50000"/>
            </a:avLst>
          </a:prstGeom>
          <a:noFill/>
          <a:ln w="28575" cap="flat" cmpd="sng">
            <a:solidFill>
              <a:schemeClr val="accent1"/>
            </a:solidFill>
            <a:prstDash val="solid"/>
            <a:headEnd type="none" w="med" len="med"/>
            <a:tailEnd type="none" w="med" len="med"/>
          </a:ln>
        </p:spPr>
        <p:txBody>
          <a:bodyPr wrap="none" anchor="ctr" anchorCtr="0"/>
          <a:lstStyle/>
          <a:p>
            <a:pPr eaLnBrk="0" hangingPunct="0"/>
            <a:endParaRPr lang="zh-CN" altLang="en-US" dirty="0">
              <a:latin typeface="Times New Roman" panose="02020603050405020304" pitchFamily="18" charset="0"/>
            </a:endParaRPr>
          </a:p>
        </p:txBody>
      </p:sp>
      <p:sp>
        <p:nvSpPr>
          <p:cNvPr id="20558" name="Text Box 78"/>
          <p:cNvSpPr txBox="1"/>
          <p:nvPr/>
        </p:nvSpPr>
        <p:spPr>
          <a:xfrm>
            <a:off x="107950" y="5157788"/>
            <a:ext cx="4103688" cy="830262"/>
          </a:xfrm>
          <a:prstGeom prst="rect">
            <a:avLst/>
          </a:prstGeom>
          <a:noFill/>
          <a:ln w="12700">
            <a:noFill/>
          </a:ln>
        </p:spPr>
        <p:txBody>
          <a:bodyPr>
            <a:spAutoFit/>
          </a:bodyPr>
          <a:lstStyle/>
          <a:p>
            <a:pPr>
              <a:spcBef>
                <a:spcPct val="50000"/>
              </a:spcBef>
            </a:pPr>
            <a:r>
              <a:rPr lang="zh-CN" altLang="en-US" dirty="0">
                <a:solidFill>
                  <a:schemeClr val="accent1"/>
                </a:solidFill>
                <a:latin typeface="黑体" panose="02010609060101010101" pitchFamily="49" charset="-122"/>
                <a:ea typeface="黑体" panose="02010609060101010101" pitchFamily="49" charset="-122"/>
              </a:rPr>
              <a:t>接收中断批准，送出中断号</a:t>
            </a:r>
            <a:r>
              <a:rPr lang="zh-CN" altLang="en-US" dirty="0">
                <a:latin typeface="黑体" panose="02010609060101010101" pitchFamily="49" charset="-122"/>
                <a:ea typeface="黑体" panose="02010609060101010101" pitchFamily="49" charset="-122"/>
              </a:rPr>
              <a:t>（</a:t>
            </a:r>
            <a:r>
              <a:rPr lang="zh-CN" altLang="en-US" dirty="0">
                <a:solidFill>
                  <a:srgbClr val="00FF00"/>
                </a:solidFill>
                <a:latin typeface="黑体" panose="02010609060101010101" pitchFamily="49" charset="-122"/>
                <a:ea typeface="黑体" panose="02010609060101010101" pitchFamily="49" charset="-122"/>
              </a:rPr>
              <a:t>中断类型码</a:t>
            </a:r>
            <a:r>
              <a:rPr lang="zh-CN" altLang="en-US" dirty="0">
                <a:latin typeface="黑体" panose="02010609060101010101" pitchFamily="49" charset="-122"/>
                <a:ea typeface="黑体" panose="02010609060101010101" pitchFamily="49" charset="-122"/>
              </a:rPr>
              <a:t>）</a:t>
            </a:r>
            <a:r>
              <a:rPr lang="zh-CN" altLang="en-US" dirty="0">
                <a:solidFill>
                  <a:schemeClr val="accent1"/>
                </a:solidFill>
                <a:latin typeface="黑体" panose="02010609060101010101" pitchFamily="49" charset="-122"/>
                <a:ea typeface="黑体" panose="02010609060101010101" pitchFamily="49" charset="-122"/>
              </a:rPr>
              <a:t>。</a:t>
            </a:r>
          </a:p>
        </p:txBody>
      </p:sp>
      <p:grpSp>
        <p:nvGrpSpPr>
          <p:cNvPr id="2" name="组合 67"/>
          <p:cNvGrpSpPr/>
          <p:nvPr/>
        </p:nvGrpSpPr>
        <p:grpSpPr>
          <a:xfrm>
            <a:off x="3962400" y="304800"/>
            <a:ext cx="5002213" cy="5651500"/>
            <a:chOff x="3962400" y="304800"/>
            <a:chExt cx="5002213" cy="5651500"/>
          </a:xfrm>
        </p:grpSpPr>
        <p:grpSp>
          <p:nvGrpSpPr>
            <p:cNvPr id="25614" name="Group 59"/>
            <p:cNvGrpSpPr/>
            <p:nvPr/>
          </p:nvGrpSpPr>
          <p:grpSpPr>
            <a:xfrm>
              <a:off x="3962400" y="304800"/>
              <a:ext cx="5002213" cy="5651500"/>
              <a:chOff x="2496" y="192"/>
              <a:chExt cx="3151" cy="3560"/>
            </a:xfrm>
          </p:grpSpPr>
          <p:sp>
            <p:nvSpPr>
              <p:cNvPr id="25626" name="Line 4"/>
              <p:cNvSpPr/>
              <p:nvPr/>
            </p:nvSpPr>
            <p:spPr>
              <a:xfrm>
                <a:off x="5232" y="686"/>
                <a:ext cx="0" cy="1225"/>
              </a:xfrm>
              <a:prstGeom prst="line">
                <a:avLst/>
              </a:prstGeom>
              <a:ln w="76200" cap="flat" cmpd="sng">
                <a:solidFill>
                  <a:srgbClr val="FFFF00"/>
                </a:solidFill>
                <a:prstDash val="solid"/>
                <a:headEnd type="none" w="med" len="med"/>
                <a:tailEnd type="none" w="med" len="med"/>
              </a:ln>
            </p:spPr>
          </p:sp>
          <p:sp>
            <p:nvSpPr>
              <p:cNvPr id="25627" name="Line 6"/>
              <p:cNvSpPr/>
              <p:nvPr/>
            </p:nvSpPr>
            <p:spPr>
              <a:xfrm>
                <a:off x="4896" y="1931"/>
                <a:ext cx="0" cy="590"/>
              </a:xfrm>
              <a:prstGeom prst="line">
                <a:avLst/>
              </a:prstGeom>
              <a:ln w="38100" cap="flat" cmpd="sng">
                <a:solidFill>
                  <a:schemeClr val="tx1"/>
                </a:solidFill>
                <a:prstDash val="solid"/>
                <a:headEnd type="none" w="med" len="med"/>
                <a:tailEnd type="none" w="med" len="med"/>
              </a:ln>
            </p:spPr>
          </p:sp>
          <p:sp>
            <p:nvSpPr>
              <p:cNvPr id="25628" name="Line 7"/>
              <p:cNvSpPr/>
              <p:nvPr/>
            </p:nvSpPr>
            <p:spPr>
              <a:xfrm flipH="1">
                <a:off x="4704" y="2341"/>
                <a:ext cx="288" cy="0"/>
              </a:xfrm>
              <a:prstGeom prst="line">
                <a:avLst/>
              </a:prstGeom>
              <a:ln w="38100" cap="flat" cmpd="sng">
                <a:solidFill>
                  <a:schemeClr val="tx1"/>
                </a:solidFill>
                <a:prstDash val="solid"/>
                <a:headEnd type="none" w="med" len="med"/>
                <a:tailEnd type="triangle" w="med" len="med"/>
              </a:ln>
            </p:spPr>
          </p:sp>
          <p:sp>
            <p:nvSpPr>
              <p:cNvPr id="25629" name="Line 8"/>
              <p:cNvSpPr/>
              <p:nvPr/>
            </p:nvSpPr>
            <p:spPr>
              <a:xfrm flipH="1">
                <a:off x="4704" y="1931"/>
                <a:ext cx="192" cy="0"/>
              </a:xfrm>
              <a:prstGeom prst="line">
                <a:avLst/>
              </a:prstGeom>
              <a:ln w="38100" cap="flat" cmpd="sng">
                <a:solidFill>
                  <a:schemeClr val="tx1"/>
                </a:solidFill>
                <a:prstDash val="solid"/>
                <a:headEnd type="none" w="med" len="med"/>
                <a:tailEnd type="none" w="med" len="med"/>
              </a:ln>
            </p:spPr>
          </p:sp>
          <p:sp>
            <p:nvSpPr>
              <p:cNvPr id="25630" name="Line 9"/>
              <p:cNvSpPr/>
              <p:nvPr/>
            </p:nvSpPr>
            <p:spPr>
              <a:xfrm flipH="1">
                <a:off x="4704" y="482"/>
                <a:ext cx="240" cy="0"/>
              </a:xfrm>
              <a:prstGeom prst="line">
                <a:avLst/>
              </a:prstGeom>
              <a:ln w="38100" cap="flat" cmpd="sng">
                <a:solidFill>
                  <a:schemeClr val="tx1"/>
                </a:solidFill>
                <a:prstDash val="solid"/>
                <a:headEnd type="triangle" w="med" len="med"/>
                <a:tailEnd type="none" w="med" len="med"/>
              </a:ln>
            </p:spPr>
          </p:sp>
          <p:sp>
            <p:nvSpPr>
              <p:cNvPr id="25631" name="Line 10"/>
              <p:cNvSpPr/>
              <p:nvPr/>
            </p:nvSpPr>
            <p:spPr>
              <a:xfrm flipV="1">
                <a:off x="5136" y="2688"/>
                <a:ext cx="0" cy="192"/>
              </a:xfrm>
              <a:prstGeom prst="line">
                <a:avLst/>
              </a:prstGeom>
              <a:ln w="19050" cap="rnd" cmpd="sng">
                <a:solidFill>
                  <a:srgbClr val="3366FF"/>
                </a:solidFill>
                <a:prstDash val="sysDot"/>
                <a:headEnd type="none" w="med" len="med"/>
                <a:tailEnd type="none" w="med" len="med"/>
              </a:ln>
            </p:spPr>
          </p:sp>
          <p:sp>
            <p:nvSpPr>
              <p:cNvPr id="25632" name="Line 11"/>
              <p:cNvSpPr/>
              <p:nvPr/>
            </p:nvSpPr>
            <p:spPr>
              <a:xfrm flipH="1">
                <a:off x="2880" y="480"/>
                <a:ext cx="672" cy="0"/>
              </a:xfrm>
              <a:prstGeom prst="line">
                <a:avLst/>
              </a:prstGeom>
              <a:ln w="38100" cap="flat" cmpd="sng">
                <a:solidFill>
                  <a:schemeClr val="tx1"/>
                </a:solidFill>
                <a:prstDash val="solid"/>
                <a:headEnd type="triangle" w="med" len="med"/>
                <a:tailEnd type="none" w="med" len="med"/>
              </a:ln>
            </p:spPr>
          </p:sp>
          <p:sp>
            <p:nvSpPr>
              <p:cNvPr id="25633" name="Line 12"/>
              <p:cNvSpPr/>
              <p:nvPr/>
            </p:nvSpPr>
            <p:spPr>
              <a:xfrm flipH="1">
                <a:off x="4704" y="359"/>
                <a:ext cx="240" cy="0"/>
              </a:xfrm>
              <a:prstGeom prst="line">
                <a:avLst/>
              </a:prstGeom>
              <a:ln w="38100" cap="flat" cmpd="sng">
                <a:solidFill>
                  <a:schemeClr val="tx1"/>
                </a:solidFill>
                <a:prstDash val="solid"/>
                <a:headEnd type="triangle" w="med" len="med"/>
                <a:tailEnd type="none" w="med" len="med"/>
              </a:ln>
            </p:spPr>
          </p:sp>
          <p:sp>
            <p:nvSpPr>
              <p:cNvPr id="25634" name="Rectangle 14"/>
              <p:cNvSpPr/>
              <p:nvPr/>
            </p:nvSpPr>
            <p:spPr>
              <a:xfrm>
                <a:off x="3552" y="2236"/>
                <a:ext cx="1152" cy="576"/>
              </a:xfrm>
              <a:prstGeom prst="rect">
                <a:avLst/>
              </a:prstGeom>
              <a:noFill/>
              <a:ln w="38100" cap="sq" cmpd="sng">
                <a:solidFill>
                  <a:schemeClr val="tx1"/>
                </a:solidFill>
                <a:prstDash val="solid"/>
                <a:miter/>
                <a:headEnd type="none" w="sm" len="sm"/>
                <a:tailEnd type="none" w="sm" len="sm"/>
              </a:ln>
            </p:spPr>
            <p:txBody>
              <a:bodyPr wrap="none" anchor="ctr" anchorCtr="0"/>
              <a:lstStyle/>
              <a:p>
                <a:pPr eaLnBrk="0" hangingPunct="0"/>
                <a:endParaRPr lang="zh-CN" altLang="en-US" dirty="0">
                  <a:latin typeface="Times New Roman" panose="02020603050405020304" pitchFamily="18" charset="0"/>
                </a:endParaRPr>
              </a:p>
            </p:txBody>
          </p:sp>
          <p:sp>
            <p:nvSpPr>
              <p:cNvPr id="25635" name="Text Box 15"/>
              <p:cNvSpPr txBox="1"/>
              <p:nvPr/>
            </p:nvSpPr>
            <p:spPr>
              <a:xfrm>
                <a:off x="2973" y="2553"/>
                <a:ext cx="567" cy="250"/>
              </a:xfrm>
              <a:prstGeom prst="rect">
                <a:avLst/>
              </a:prstGeom>
              <a:noFill/>
              <a:ln w="12700">
                <a:noFill/>
              </a:ln>
            </p:spPr>
            <p:txBody>
              <a:bodyPr>
                <a:spAutoFit/>
              </a:bodyPr>
              <a:lstStyle/>
              <a:p>
                <a:pPr>
                  <a:spcBef>
                    <a:spcPct val="50000"/>
                  </a:spcBef>
                </a:pPr>
                <a:r>
                  <a:rPr lang="en-US" altLang="zh-CN" sz="2000" dirty="0">
                    <a:solidFill>
                      <a:srgbClr val="FFFF00"/>
                    </a:solidFill>
                    <a:latin typeface="Times New Roman" panose="02020603050405020304" pitchFamily="18" charset="0"/>
                  </a:rPr>
                  <a:t>D7~0</a:t>
                </a:r>
              </a:p>
            </p:txBody>
          </p:sp>
          <p:sp>
            <p:nvSpPr>
              <p:cNvPr id="25636" name="Line 16"/>
              <p:cNvSpPr/>
              <p:nvPr/>
            </p:nvSpPr>
            <p:spPr>
              <a:xfrm>
                <a:off x="4967" y="346"/>
                <a:ext cx="0" cy="192"/>
              </a:xfrm>
              <a:prstGeom prst="line">
                <a:avLst/>
              </a:prstGeom>
              <a:ln w="19050" cap="rnd" cmpd="sng">
                <a:solidFill>
                  <a:schemeClr val="tx1"/>
                </a:solidFill>
                <a:prstDash val="sysDot"/>
                <a:headEnd type="none" w="sm" len="sm"/>
                <a:tailEnd type="none" w="sm" len="sm"/>
              </a:ln>
            </p:spPr>
          </p:sp>
          <p:sp>
            <p:nvSpPr>
              <p:cNvPr id="25637" name="Text Box 17"/>
              <p:cNvSpPr txBox="1"/>
              <p:nvPr/>
            </p:nvSpPr>
            <p:spPr>
              <a:xfrm>
                <a:off x="4967" y="2205"/>
                <a:ext cx="680" cy="250"/>
              </a:xfrm>
              <a:prstGeom prst="rect">
                <a:avLst/>
              </a:prstGeom>
              <a:noFill/>
              <a:ln w="12700">
                <a:noFill/>
              </a:ln>
            </p:spPr>
            <p:txBody>
              <a:bodyPr>
                <a:spAutoFit/>
              </a:bodyPr>
              <a:lstStyle/>
              <a:p>
                <a:pPr>
                  <a:spcBef>
                    <a:spcPct val="50000"/>
                  </a:spcBef>
                </a:pPr>
                <a:r>
                  <a:rPr lang="en-US" altLang="zh-CN" sz="2000" dirty="0">
                    <a:solidFill>
                      <a:schemeClr val="folHlink"/>
                    </a:solidFill>
                    <a:latin typeface="Times New Roman" panose="02020603050405020304" pitchFamily="18" charset="0"/>
                  </a:rPr>
                  <a:t>IRQ0</a:t>
                </a:r>
              </a:p>
            </p:txBody>
          </p:sp>
          <p:sp>
            <p:nvSpPr>
              <p:cNvPr id="25638" name="Text Box 18"/>
              <p:cNvSpPr txBox="1"/>
              <p:nvPr/>
            </p:nvSpPr>
            <p:spPr>
              <a:xfrm>
                <a:off x="2880" y="240"/>
                <a:ext cx="1056" cy="250"/>
              </a:xfrm>
              <a:prstGeom prst="rect">
                <a:avLst/>
              </a:prstGeom>
              <a:noFill/>
              <a:ln w="12700">
                <a:noFill/>
              </a:ln>
            </p:spPr>
            <p:txBody>
              <a:bodyPr>
                <a:spAutoFit/>
              </a:bodyPr>
              <a:lstStyle/>
              <a:p>
                <a:pPr>
                  <a:spcBef>
                    <a:spcPct val="50000"/>
                  </a:spcBef>
                </a:pPr>
                <a:r>
                  <a:rPr lang="zh-CN" altLang="en-US" sz="2000" dirty="0">
                    <a:solidFill>
                      <a:schemeClr val="accent1"/>
                    </a:solidFill>
                    <a:latin typeface="Times New Roman" panose="02020603050405020304" pitchFamily="18" charset="0"/>
                  </a:rPr>
                  <a:t>地址线</a:t>
                </a:r>
              </a:p>
            </p:txBody>
          </p:sp>
          <p:sp>
            <p:nvSpPr>
              <p:cNvPr id="25639" name="Text Box 19"/>
              <p:cNvSpPr txBox="1"/>
              <p:nvPr/>
            </p:nvSpPr>
            <p:spPr>
              <a:xfrm>
                <a:off x="3552" y="288"/>
                <a:ext cx="1152" cy="291"/>
              </a:xfrm>
              <a:prstGeom prst="rect">
                <a:avLst/>
              </a:prstGeom>
              <a:noFill/>
              <a:ln w="19050" cap="sq" cmpd="sng">
                <a:solidFill>
                  <a:schemeClr val="tx1"/>
                </a:solidFill>
                <a:prstDash val="solid"/>
                <a:miter/>
                <a:headEnd type="none" w="sm" len="sm"/>
                <a:tailEnd type="none" w="sm" len="sm"/>
              </a:ln>
            </p:spPr>
            <p:txBody>
              <a:bodyPr>
                <a:spAutoFit/>
              </a:bodyPr>
              <a:lstStyle/>
              <a:p>
                <a:pPr>
                  <a:spcBef>
                    <a:spcPct val="50000"/>
                  </a:spcBef>
                </a:pPr>
                <a:r>
                  <a:rPr lang="zh-CN" altLang="en-US" dirty="0">
                    <a:solidFill>
                      <a:schemeClr val="folHlink"/>
                    </a:solidFill>
                    <a:latin typeface="黑体" panose="02010609060101010101" pitchFamily="49" charset="-122"/>
                    <a:ea typeface="黑体" panose="02010609060101010101" pitchFamily="49" charset="-122"/>
                  </a:rPr>
                  <a:t>寄存器选择</a:t>
                </a:r>
              </a:p>
            </p:txBody>
          </p:sp>
          <p:sp>
            <p:nvSpPr>
              <p:cNvPr id="25640" name="Text Box 20"/>
              <p:cNvSpPr txBox="1"/>
              <p:nvPr/>
            </p:nvSpPr>
            <p:spPr>
              <a:xfrm>
                <a:off x="3552" y="641"/>
                <a:ext cx="1152" cy="291"/>
              </a:xfrm>
              <a:prstGeom prst="rect">
                <a:avLst/>
              </a:prstGeom>
              <a:noFill/>
              <a:ln w="19050" cap="sq" cmpd="sng">
                <a:solidFill>
                  <a:schemeClr val="tx1"/>
                </a:solidFill>
                <a:prstDash val="solid"/>
                <a:miter/>
                <a:headEnd type="none" w="sm" len="sm"/>
                <a:tailEnd type="none" w="sm" len="sm"/>
              </a:ln>
            </p:spPr>
            <p:txBody>
              <a:bodyPr>
                <a:spAutoFit/>
              </a:bodyPr>
              <a:lstStyle/>
              <a:p>
                <a:pPr>
                  <a:spcBef>
                    <a:spcPct val="50000"/>
                  </a:spcBef>
                </a:pPr>
                <a:r>
                  <a:rPr lang="en-US" altLang="zh-CN" dirty="0">
                    <a:solidFill>
                      <a:schemeClr val="folHlink"/>
                    </a:solidFill>
                    <a:latin typeface="黑体" panose="02010609060101010101" pitchFamily="49" charset="-122"/>
                    <a:ea typeface="黑体" panose="02010609060101010101" pitchFamily="49" charset="-122"/>
                  </a:rPr>
                  <a:t>  </a:t>
                </a:r>
                <a:r>
                  <a:rPr lang="zh-CN" altLang="en-US" dirty="0">
                    <a:solidFill>
                      <a:schemeClr val="folHlink"/>
                    </a:solidFill>
                    <a:latin typeface="黑体" panose="02010609060101010101" pitchFamily="49" charset="-122"/>
                    <a:ea typeface="黑体" panose="02010609060101010101" pitchFamily="49" charset="-122"/>
                  </a:rPr>
                  <a:t>命令字</a:t>
                </a:r>
                <a:r>
                  <a:rPr lang="en-US" altLang="zh-CN" dirty="0">
                    <a:solidFill>
                      <a:schemeClr val="folHlink"/>
                    </a:solidFill>
                    <a:latin typeface="黑体" panose="02010609060101010101" pitchFamily="49" charset="-122"/>
                    <a:ea typeface="黑体" panose="02010609060101010101" pitchFamily="49" charset="-122"/>
                  </a:rPr>
                  <a:t>R</a:t>
                </a:r>
              </a:p>
            </p:txBody>
          </p:sp>
          <p:sp>
            <p:nvSpPr>
              <p:cNvPr id="25641" name="Text Box 21"/>
              <p:cNvSpPr txBox="1"/>
              <p:nvPr/>
            </p:nvSpPr>
            <p:spPr>
              <a:xfrm>
                <a:off x="3552" y="1011"/>
                <a:ext cx="1152" cy="291"/>
              </a:xfrm>
              <a:prstGeom prst="rect">
                <a:avLst/>
              </a:prstGeom>
              <a:noFill/>
              <a:ln w="19050" cap="sq" cmpd="sng">
                <a:solidFill>
                  <a:schemeClr val="tx1"/>
                </a:solidFill>
                <a:prstDash val="solid"/>
                <a:miter/>
                <a:headEnd type="none" w="sm" len="sm"/>
                <a:tailEnd type="none" w="sm" len="sm"/>
              </a:ln>
            </p:spPr>
            <p:txBody>
              <a:bodyPr>
                <a:spAutoFit/>
              </a:bodyPr>
              <a:lstStyle/>
              <a:p>
                <a:pPr algn="ctr">
                  <a:spcBef>
                    <a:spcPct val="50000"/>
                  </a:spcBef>
                </a:pPr>
                <a:r>
                  <a:rPr lang="zh-CN" altLang="en-US" dirty="0">
                    <a:solidFill>
                      <a:schemeClr val="folHlink"/>
                    </a:solidFill>
                    <a:latin typeface="黑体" panose="02010609060101010101" pitchFamily="49" charset="-122"/>
                    <a:ea typeface="黑体" panose="02010609060101010101" pitchFamily="49" charset="-122"/>
                  </a:rPr>
                  <a:t>状态字</a:t>
                </a:r>
                <a:r>
                  <a:rPr lang="en-US" altLang="zh-CN" dirty="0">
                    <a:solidFill>
                      <a:schemeClr val="folHlink"/>
                    </a:solidFill>
                    <a:latin typeface="黑体" panose="02010609060101010101" pitchFamily="49" charset="-122"/>
                    <a:ea typeface="黑体" panose="02010609060101010101" pitchFamily="49" charset="-122"/>
                  </a:rPr>
                  <a:t>R</a:t>
                </a:r>
              </a:p>
            </p:txBody>
          </p:sp>
          <p:sp>
            <p:nvSpPr>
              <p:cNvPr id="25642" name="Text Box 22"/>
              <p:cNvSpPr txBox="1"/>
              <p:nvPr/>
            </p:nvSpPr>
            <p:spPr>
              <a:xfrm>
                <a:off x="3552" y="1389"/>
                <a:ext cx="1152" cy="291"/>
              </a:xfrm>
              <a:prstGeom prst="rect">
                <a:avLst/>
              </a:prstGeom>
              <a:noFill/>
              <a:ln w="19050" cap="sq" cmpd="sng">
                <a:solidFill>
                  <a:schemeClr val="tx1"/>
                </a:solidFill>
                <a:prstDash val="solid"/>
                <a:miter/>
                <a:headEnd type="none" w="sm" len="sm"/>
                <a:tailEnd type="none" w="sm" len="sm"/>
              </a:ln>
            </p:spPr>
            <p:txBody>
              <a:bodyPr>
                <a:spAutoFit/>
              </a:bodyPr>
              <a:lstStyle/>
              <a:p>
                <a:pPr>
                  <a:spcBef>
                    <a:spcPct val="50000"/>
                  </a:spcBef>
                </a:pPr>
                <a:r>
                  <a:rPr lang="zh-CN" altLang="en-US" dirty="0">
                    <a:solidFill>
                      <a:srgbClr val="00FF00"/>
                    </a:solidFill>
                    <a:latin typeface="Times New Roman" panose="02020603050405020304" pitchFamily="18" charset="0"/>
                  </a:rPr>
                  <a:t>数据</a:t>
                </a:r>
                <a:r>
                  <a:rPr lang="zh-CN" altLang="en-US" dirty="0">
                    <a:solidFill>
                      <a:srgbClr val="00FF00"/>
                    </a:solidFill>
                    <a:latin typeface="黑体" panose="02010609060101010101" pitchFamily="49" charset="-122"/>
                    <a:ea typeface="黑体" panose="02010609060101010101" pitchFamily="49" charset="-122"/>
                  </a:rPr>
                  <a:t>缓冲器</a:t>
                </a:r>
              </a:p>
            </p:txBody>
          </p:sp>
          <p:sp>
            <p:nvSpPr>
              <p:cNvPr id="25643" name="Text Box 23"/>
              <p:cNvSpPr txBox="1"/>
              <p:nvPr/>
            </p:nvSpPr>
            <p:spPr>
              <a:xfrm>
                <a:off x="3552" y="1775"/>
                <a:ext cx="1152" cy="291"/>
              </a:xfrm>
              <a:prstGeom prst="rect">
                <a:avLst/>
              </a:prstGeom>
              <a:noFill/>
              <a:ln w="19050" cap="sq" cmpd="sng">
                <a:solidFill>
                  <a:schemeClr val="tx1"/>
                </a:solidFill>
                <a:prstDash val="solid"/>
                <a:miter/>
                <a:headEnd type="none" w="sm" len="sm"/>
                <a:tailEnd type="none" w="sm" len="sm"/>
              </a:ln>
            </p:spPr>
            <p:txBody>
              <a:bodyPr>
                <a:spAutoFit/>
              </a:bodyPr>
              <a:lstStyle/>
              <a:p>
                <a:pPr>
                  <a:spcBef>
                    <a:spcPct val="50000"/>
                  </a:spcBef>
                </a:pPr>
                <a:r>
                  <a:rPr lang="en-US" altLang="zh-CN" dirty="0">
                    <a:solidFill>
                      <a:schemeClr val="folHlink"/>
                    </a:solidFill>
                    <a:latin typeface="黑体" panose="02010609060101010101" pitchFamily="49" charset="-122"/>
                    <a:ea typeface="黑体" panose="02010609060101010101" pitchFamily="49" charset="-122"/>
                  </a:rPr>
                  <a:t> </a:t>
                </a:r>
                <a:r>
                  <a:rPr lang="zh-CN" altLang="en-US" dirty="0">
                    <a:solidFill>
                      <a:schemeClr val="folHlink"/>
                    </a:solidFill>
                    <a:latin typeface="黑体" panose="02010609060101010101" pitchFamily="49" charset="-122"/>
                    <a:ea typeface="黑体" panose="02010609060101010101" pitchFamily="49" charset="-122"/>
                  </a:rPr>
                  <a:t>控制逻辑</a:t>
                </a:r>
              </a:p>
            </p:txBody>
          </p:sp>
          <p:sp>
            <p:nvSpPr>
              <p:cNvPr id="25644" name="Text Box 24"/>
              <p:cNvSpPr txBox="1"/>
              <p:nvPr/>
            </p:nvSpPr>
            <p:spPr>
              <a:xfrm>
                <a:off x="2880" y="572"/>
                <a:ext cx="1056" cy="250"/>
              </a:xfrm>
              <a:prstGeom prst="rect">
                <a:avLst/>
              </a:prstGeom>
              <a:noFill/>
              <a:ln w="12700">
                <a:noFill/>
              </a:ln>
            </p:spPr>
            <p:txBody>
              <a:bodyPr>
                <a:spAutoFit/>
              </a:bodyPr>
              <a:lstStyle/>
              <a:p>
                <a:pPr>
                  <a:spcBef>
                    <a:spcPct val="50000"/>
                  </a:spcBef>
                </a:pPr>
                <a:r>
                  <a:rPr lang="zh-CN" altLang="en-US" sz="2000" dirty="0">
                    <a:solidFill>
                      <a:schemeClr val="accent1"/>
                    </a:solidFill>
                    <a:latin typeface="Times New Roman" panose="02020603050405020304" pitchFamily="18" charset="0"/>
                  </a:rPr>
                  <a:t>数据线</a:t>
                </a:r>
              </a:p>
            </p:txBody>
          </p:sp>
          <p:sp>
            <p:nvSpPr>
              <p:cNvPr id="25645" name="Text Box 25"/>
              <p:cNvSpPr txBox="1"/>
              <p:nvPr/>
            </p:nvSpPr>
            <p:spPr>
              <a:xfrm>
                <a:off x="2880" y="935"/>
                <a:ext cx="1056" cy="250"/>
              </a:xfrm>
              <a:prstGeom prst="rect">
                <a:avLst/>
              </a:prstGeom>
              <a:noFill/>
              <a:ln w="12700">
                <a:noFill/>
              </a:ln>
            </p:spPr>
            <p:txBody>
              <a:bodyPr>
                <a:spAutoFit/>
              </a:bodyPr>
              <a:lstStyle/>
              <a:p>
                <a:pPr>
                  <a:spcBef>
                    <a:spcPct val="50000"/>
                  </a:spcBef>
                </a:pPr>
                <a:r>
                  <a:rPr lang="zh-CN" altLang="en-US" sz="2000" dirty="0">
                    <a:solidFill>
                      <a:schemeClr val="accent1"/>
                    </a:solidFill>
                    <a:latin typeface="Times New Roman" panose="02020603050405020304" pitchFamily="18" charset="0"/>
                  </a:rPr>
                  <a:t>数据线</a:t>
                </a:r>
              </a:p>
            </p:txBody>
          </p:sp>
          <p:sp>
            <p:nvSpPr>
              <p:cNvPr id="25646" name="Line 26"/>
              <p:cNvSpPr/>
              <p:nvPr/>
            </p:nvSpPr>
            <p:spPr>
              <a:xfrm flipH="1">
                <a:off x="2880" y="822"/>
                <a:ext cx="672" cy="0"/>
              </a:xfrm>
              <a:prstGeom prst="line">
                <a:avLst/>
              </a:prstGeom>
              <a:ln w="38100" cap="flat" cmpd="sng">
                <a:solidFill>
                  <a:schemeClr val="tx1"/>
                </a:solidFill>
                <a:prstDash val="solid"/>
                <a:headEnd type="triangle" w="med" len="med"/>
                <a:tailEnd type="none" w="med" len="med"/>
              </a:ln>
            </p:spPr>
          </p:sp>
          <p:sp>
            <p:nvSpPr>
              <p:cNvPr id="25647" name="Line 27"/>
              <p:cNvSpPr/>
              <p:nvPr/>
            </p:nvSpPr>
            <p:spPr>
              <a:xfrm flipH="1">
                <a:off x="2880" y="1177"/>
                <a:ext cx="672" cy="0"/>
              </a:xfrm>
              <a:prstGeom prst="line">
                <a:avLst/>
              </a:prstGeom>
              <a:ln w="38100" cap="flat" cmpd="sng">
                <a:solidFill>
                  <a:schemeClr val="tx1"/>
                </a:solidFill>
                <a:prstDash val="solid"/>
                <a:headEnd type="none" w="med" len="med"/>
                <a:tailEnd type="triangle" w="med" len="med"/>
              </a:ln>
            </p:spPr>
          </p:sp>
          <p:sp>
            <p:nvSpPr>
              <p:cNvPr id="25648" name="Line 28"/>
              <p:cNvSpPr/>
              <p:nvPr/>
            </p:nvSpPr>
            <p:spPr>
              <a:xfrm flipH="1">
                <a:off x="2880" y="1563"/>
                <a:ext cx="672" cy="0"/>
              </a:xfrm>
              <a:prstGeom prst="line">
                <a:avLst/>
              </a:prstGeom>
              <a:ln w="38100" cap="flat" cmpd="sng">
                <a:solidFill>
                  <a:schemeClr val="tx1"/>
                </a:solidFill>
                <a:prstDash val="solid"/>
                <a:headEnd type="triangle" w="med" len="med"/>
                <a:tailEnd type="triangle" w="med" len="med"/>
              </a:ln>
            </p:spPr>
          </p:sp>
          <p:sp>
            <p:nvSpPr>
              <p:cNvPr id="25649" name="Text Box 29"/>
              <p:cNvSpPr txBox="1"/>
              <p:nvPr/>
            </p:nvSpPr>
            <p:spPr>
              <a:xfrm>
                <a:off x="2880" y="1298"/>
                <a:ext cx="1056" cy="250"/>
              </a:xfrm>
              <a:prstGeom prst="rect">
                <a:avLst/>
              </a:prstGeom>
              <a:noFill/>
              <a:ln w="12700">
                <a:noFill/>
              </a:ln>
            </p:spPr>
            <p:txBody>
              <a:bodyPr>
                <a:spAutoFit/>
              </a:bodyPr>
              <a:lstStyle/>
              <a:p>
                <a:pPr>
                  <a:spcBef>
                    <a:spcPct val="50000"/>
                  </a:spcBef>
                </a:pPr>
                <a:r>
                  <a:rPr lang="zh-CN" altLang="en-US" sz="2000" dirty="0">
                    <a:solidFill>
                      <a:schemeClr val="accent1"/>
                    </a:solidFill>
                    <a:latin typeface="Times New Roman" panose="02020603050405020304" pitchFamily="18" charset="0"/>
                  </a:rPr>
                  <a:t>数据线</a:t>
                </a:r>
              </a:p>
            </p:txBody>
          </p:sp>
          <p:sp>
            <p:nvSpPr>
              <p:cNvPr id="25650" name="Text Box 30"/>
              <p:cNvSpPr txBox="1"/>
              <p:nvPr/>
            </p:nvSpPr>
            <p:spPr>
              <a:xfrm>
                <a:off x="3588" y="2379"/>
                <a:ext cx="1152" cy="288"/>
              </a:xfrm>
              <a:prstGeom prst="rect">
                <a:avLst/>
              </a:prstGeom>
              <a:noFill/>
              <a:ln w="38100">
                <a:noFill/>
              </a:ln>
            </p:spPr>
            <p:txBody>
              <a:bodyPr>
                <a:spAutoFit/>
              </a:bodyPr>
              <a:lstStyle/>
              <a:p>
                <a:pPr>
                  <a:spcBef>
                    <a:spcPct val="50000"/>
                  </a:spcBef>
                </a:pPr>
                <a:r>
                  <a:rPr lang="zh-CN" altLang="en-US" dirty="0">
                    <a:latin typeface="黑体" panose="02010609060101010101" pitchFamily="49" charset="-122"/>
                    <a:ea typeface="黑体" panose="02010609060101010101" pitchFamily="49" charset="-122"/>
                  </a:rPr>
                  <a:t>中断控制器</a:t>
                </a:r>
              </a:p>
            </p:txBody>
          </p:sp>
          <p:sp>
            <p:nvSpPr>
              <p:cNvPr id="25651" name="Line 31"/>
              <p:cNvSpPr/>
              <p:nvPr/>
            </p:nvSpPr>
            <p:spPr>
              <a:xfrm flipH="1">
                <a:off x="2895" y="2372"/>
                <a:ext cx="658" cy="0"/>
              </a:xfrm>
              <a:prstGeom prst="line">
                <a:avLst/>
              </a:prstGeom>
              <a:ln w="19050" cap="flat" cmpd="sng">
                <a:solidFill>
                  <a:schemeClr val="tx1"/>
                </a:solidFill>
                <a:prstDash val="solid"/>
                <a:headEnd type="none" w="med" len="med"/>
                <a:tailEnd type="arrow" w="med" len="med"/>
              </a:ln>
            </p:spPr>
          </p:sp>
          <p:sp>
            <p:nvSpPr>
              <p:cNvPr id="25652" name="Line 32"/>
              <p:cNvSpPr/>
              <p:nvPr/>
            </p:nvSpPr>
            <p:spPr>
              <a:xfrm flipH="1">
                <a:off x="2903" y="2576"/>
                <a:ext cx="658" cy="0"/>
              </a:xfrm>
              <a:prstGeom prst="line">
                <a:avLst/>
              </a:prstGeom>
              <a:ln w="19050" cap="flat" cmpd="sng">
                <a:solidFill>
                  <a:schemeClr val="tx1"/>
                </a:solidFill>
                <a:prstDash val="solid"/>
                <a:headEnd type="arrow" w="med" len="med"/>
                <a:tailEnd type="none" w="med" len="med"/>
              </a:ln>
            </p:spPr>
          </p:sp>
          <p:sp>
            <p:nvSpPr>
              <p:cNvPr id="25653" name="Line 33"/>
              <p:cNvSpPr/>
              <p:nvPr/>
            </p:nvSpPr>
            <p:spPr>
              <a:xfrm flipH="1">
                <a:off x="2903" y="2765"/>
                <a:ext cx="658" cy="0"/>
              </a:xfrm>
              <a:prstGeom prst="line">
                <a:avLst/>
              </a:prstGeom>
              <a:ln w="19050" cap="flat" cmpd="sng">
                <a:solidFill>
                  <a:schemeClr val="tx1"/>
                </a:solidFill>
                <a:prstDash val="solid"/>
                <a:headEnd type="arrow" w="med" len="med"/>
                <a:tailEnd type="arrow" w="med" len="med"/>
              </a:ln>
            </p:spPr>
          </p:sp>
          <p:sp>
            <p:nvSpPr>
              <p:cNvPr id="25654" name="Text Box 34"/>
              <p:cNvSpPr txBox="1"/>
              <p:nvPr/>
            </p:nvSpPr>
            <p:spPr>
              <a:xfrm>
                <a:off x="2971" y="2160"/>
                <a:ext cx="431" cy="250"/>
              </a:xfrm>
              <a:prstGeom prst="rect">
                <a:avLst/>
              </a:prstGeom>
              <a:noFill/>
              <a:ln w="12700">
                <a:noFill/>
              </a:ln>
            </p:spPr>
            <p:txBody>
              <a:bodyPr>
                <a:spAutoFit/>
              </a:bodyPr>
              <a:lstStyle/>
              <a:p>
                <a:pPr>
                  <a:spcBef>
                    <a:spcPct val="50000"/>
                  </a:spcBef>
                </a:pPr>
                <a:r>
                  <a:rPr lang="en-US" altLang="zh-CN" sz="2000" dirty="0">
                    <a:solidFill>
                      <a:schemeClr val="accent1"/>
                    </a:solidFill>
                    <a:latin typeface="Times New Roman" panose="02020603050405020304" pitchFamily="18" charset="0"/>
                  </a:rPr>
                  <a:t>INT</a:t>
                </a:r>
              </a:p>
            </p:txBody>
          </p:sp>
          <p:sp>
            <p:nvSpPr>
              <p:cNvPr id="25655" name="Text Box 35"/>
              <p:cNvSpPr txBox="1"/>
              <p:nvPr/>
            </p:nvSpPr>
            <p:spPr>
              <a:xfrm>
                <a:off x="2971" y="2364"/>
                <a:ext cx="544" cy="250"/>
              </a:xfrm>
              <a:prstGeom prst="rect">
                <a:avLst/>
              </a:prstGeom>
              <a:noFill/>
              <a:ln w="12700">
                <a:noFill/>
              </a:ln>
            </p:spPr>
            <p:txBody>
              <a:bodyPr>
                <a:spAutoFit/>
              </a:bodyPr>
              <a:lstStyle/>
              <a:p>
                <a:pPr>
                  <a:spcBef>
                    <a:spcPct val="50000"/>
                  </a:spcBef>
                </a:pPr>
                <a:r>
                  <a:rPr lang="en-US" altLang="zh-CN" sz="2000" dirty="0">
                    <a:solidFill>
                      <a:schemeClr val="accent1"/>
                    </a:solidFill>
                    <a:latin typeface="Times New Roman" panose="02020603050405020304" pitchFamily="18" charset="0"/>
                  </a:rPr>
                  <a:t>INTA</a:t>
                </a:r>
              </a:p>
            </p:txBody>
          </p:sp>
          <p:sp>
            <p:nvSpPr>
              <p:cNvPr id="25656" name="Line 36"/>
              <p:cNvSpPr/>
              <p:nvPr/>
            </p:nvSpPr>
            <p:spPr>
              <a:xfrm flipH="1">
                <a:off x="4704" y="814"/>
                <a:ext cx="499" cy="0"/>
              </a:xfrm>
              <a:prstGeom prst="line">
                <a:avLst/>
              </a:prstGeom>
              <a:ln w="38100" cap="flat" cmpd="sng">
                <a:solidFill>
                  <a:schemeClr val="tx1"/>
                </a:solidFill>
                <a:prstDash val="solid"/>
                <a:headEnd type="triangle" w="med" len="med"/>
                <a:tailEnd type="none" w="med" len="med"/>
              </a:ln>
            </p:spPr>
          </p:sp>
          <p:sp>
            <p:nvSpPr>
              <p:cNvPr id="25657" name="Text Box 37"/>
              <p:cNvSpPr txBox="1"/>
              <p:nvPr/>
            </p:nvSpPr>
            <p:spPr>
              <a:xfrm>
                <a:off x="4801" y="565"/>
                <a:ext cx="567" cy="250"/>
              </a:xfrm>
              <a:prstGeom prst="rect">
                <a:avLst/>
              </a:prstGeom>
              <a:noFill/>
              <a:ln w="12700">
                <a:noFill/>
              </a:ln>
            </p:spPr>
            <p:txBody>
              <a:bodyPr>
                <a:spAutoFit/>
              </a:bodyPr>
              <a:lstStyle/>
              <a:p>
                <a:pPr>
                  <a:spcBef>
                    <a:spcPct val="50000"/>
                  </a:spcBef>
                </a:pPr>
                <a:r>
                  <a:rPr lang="zh-CN" altLang="en-US" sz="2000" dirty="0">
                    <a:solidFill>
                      <a:schemeClr val="accent1"/>
                    </a:solidFill>
                    <a:latin typeface="Times New Roman" panose="02020603050405020304" pitchFamily="18" charset="0"/>
                  </a:rPr>
                  <a:t>命令</a:t>
                </a:r>
              </a:p>
            </p:txBody>
          </p:sp>
          <p:sp>
            <p:nvSpPr>
              <p:cNvPr id="25658" name="Line 38"/>
              <p:cNvSpPr/>
              <p:nvPr/>
            </p:nvSpPr>
            <p:spPr>
              <a:xfrm flipH="1">
                <a:off x="4704" y="1177"/>
                <a:ext cx="528" cy="0"/>
              </a:xfrm>
              <a:prstGeom prst="line">
                <a:avLst/>
              </a:prstGeom>
              <a:ln w="38100" cap="flat" cmpd="sng">
                <a:solidFill>
                  <a:schemeClr val="tx1"/>
                </a:solidFill>
                <a:prstDash val="solid"/>
                <a:headEnd type="none" w="med" len="med"/>
                <a:tailEnd type="triangle" w="med" len="med"/>
              </a:ln>
            </p:spPr>
          </p:sp>
          <p:sp>
            <p:nvSpPr>
              <p:cNvPr id="25659" name="Line 39"/>
              <p:cNvSpPr/>
              <p:nvPr/>
            </p:nvSpPr>
            <p:spPr>
              <a:xfrm flipH="1">
                <a:off x="4704" y="1578"/>
                <a:ext cx="499" cy="0"/>
              </a:xfrm>
              <a:prstGeom prst="line">
                <a:avLst/>
              </a:prstGeom>
              <a:ln w="38100" cap="flat" cmpd="sng">
                <a:solidFill>
                  <a:schemeClr val="tx1"/>
                </a:solidFill>
                <a:prstDash val="solid"/>
                <a:headEnd type="triangle" w="med" len="med"/>
                <a:tailEnd type="triangle" w="med" len="med"/>
              </a:ln>
            </p:spPr>
          </p:sp>
          <p:sp>
            <p:nvSpPr>
              <p:cNvPr id="25660" name="Line 40"/>
              <p:cNvSpPr/>
              <p:nvPr/>
            </p:nvSpPr>
            <p:spPr>
              <a:xfrm flipH="1">
                <a:off x="4704" y="2523"/>
                <a:ext cx="192" cy="0"/>
              </a:xfrm>
              <a:prstGeom prst="line">
                <a:avLst/>
              </a:prstGeom>
              <a:ln w="38100" cap="flat" cmpd="sng">
                <a:solidFill>
                  <a:schemeClr val="tx1"/>
                </a:solidFill>
                <a:prstDash val="solid"/>
                <a:headEnd type="none" w="med" len="med"/>
                <a:tailEnd type="triangle" w="med" len="med"/>
              </a:ln>
            </p:spPr>
          </p:sp>
          <p:sp>
            <p:nvSpPr>
              <p:cNvPr id="25661" name="Line 41"/>
              <p:cNvSpPr/>
              <p:nvPr/>
            </p:nvSpPr>
            <p:spPr>
              <a:xfrm flipH="1">
                <a:off x="4704" y="2704"/>
                <a:ext cx="288" cy="0"/>
              </a:xfrm>
              <a:prstGeom prst="line">
                <a:avLst/>
              </a:prstGeom>
              <a:ln w="38100" cap="flat" cmpd="sng">
                <a:solidFill>
                  <a:schemeClr val="tx1"/>
                </a:solidFill>
                <a:prstDash val="solid"/>
                <a:headEnd type="none" w="med" len="med"/>
                <a:tailEnd type="triangle" w="med" len="med"/>
              </a:ln>
            </p:spPr>
          </p:sp>
          <p:sp>
            <p:nvSpPr>
              <p:cNvPr id="25662" name="Text Box 42"/>
              <p:cNvSpPr txBox="1"/>
              <p:nvPr/>
            </p:nvSpPr>
            <p:spPr>
              <a:xfrm>
                <a:off x="4967" y="2568"/>
                <a:ext cx="680" cy="250"/>
              </a:xfrm>
              <a:prstGeom prst="rect">
                <a:avLst/>
              </a:prstGeom>
              <a:noFill/>
              <a:ln w="12700">
                <a:noFill/>
              </a:ln>
            </p:spPr>
            <p:txBody>
              <a:bodyPr>
                <a:spAutoFit/>
              </a:bodyPr>
              <a:lstStyle/>
              <a:p>
                <a:pPr>
                  <a:spcBef>
                    <a:spcPct val="50000"/>
                  </a:spcBef>
                </a:pPr>
                <a:r>
                  <a:rPr lang="en-US" altLang="zh-CN" sz="2000" dirty="0">
                    <a:solidFill>
                      <a:schemeClr val="folHlink"/>
                    </a:solidFill>
                    <a:latin typeface="Times New Roman" panose="02020603050405020304" pitchFamily="18" charset="0"/>
                  </a:rPr>
                  <a:t>IRQ7</a:t>
                </a:r>
              </a:p>
            </p:txBody>
          </p:sp>
          <p:sp>
            <p:nvSpPr>
              <p:cNvPr id="25663" name="Text Box 43"/>
              <p:cNvSpPr txBox="1"/>
              <p:nvPr/>
            </p:nvSpPr>
            <p:spPr>
              <a:xfrm>
                <a:off x="4801" y="912"/>
                <a:ext cx="816" cy="250"/>
              </a:xfrm>
              <a:prstGeom prst="rect">
                <a:avLst/>
              </a:prstGeom>
              <a:noFill/>
              <a:ln w="12700">
                <a:noFill/>
              </a:ln>
            </p:spPr>
            <p:txBody>
              <a:bodyPr>
                <a:spAutoFit/>
              </a:bodyPr>
              <a:lstStyle/>
              <a:p>
                <a:pPr>
                  <a:spcBef>
                    <a:spcPct val="50000"/>
                  </a:spcBef>
                </a:pPr>
                <a:r>
                  <a:rPr lang="zh-CN" altLang="en-US" sz="2000" dirty="0">
                    <a:solidFill>
                      <a:schemeClr val="accent1"/>
                    </a:solidFill>
                    <a:latin typeface="Times New Roman" panose="02020603050405020304" pitchFamily="18" charset="0"/>
                  </a:rPr>
                  <a:t>状态</a:t>
                </a:r>
              </a:p>
            </p:txBody>
          </p:sp>
          <p:sp>
            <p:nvSpPr>
              <p:cNvPr id="25664" name="Text Box 44"/>
              <p:cNvSpPr txBox="1"/>
              <p:nvPr/>
            </p:nvSpPr>
            <p:spPr>
              <a:xfrm>
                <a:off x="4801" y="1298"/>
                <a:ext cx="567" cy="250"/>
              </a:xfrm>
              <a:prstGeom prst="rect">
                <a:avLst/>
              </a:prstGeom>
              <a:noFill/>
              <a:ln w="12700">
                <a:noFill/>
              </a:ln>
            </p:spPr>
            <p:txBody>
              <a:bodyPr>
                <a:spAutoFit/>
              </a:bodyPr>
              <a:lstStyle/>
              <a:p>
                <a:pPr>
                  <a:spcBef>
                    <a:spcPct val="50000"/>
                  </a:spcBef>
                </a:pPr>
                <a:r>
                  <a:rPr lang="zh-CN" altLang="en-US" sz="2000" dirty="0">
                    <a:solidFill>
                      <a:schemeClr val="accent1"/>
                    </a:solidFill>
                    <a:latin typeface="Times New Roman" panose="02020603050405020304" pitchFamily="18" charset="0"/>
                  </a:rPr>
                  <a:t>数据</a:t>
                </a:r>
              </a:p>
            </p:txBody>
          </p:sp>
          <p:sp>
            <p:nvSpPr>
              <p:cNvPr id="25665" name="Text Box 45"/>
              <p:cNvSpPr txBox="1"/>
              <p:nvPr/>
            </p:nvSpPr>
            <p:spPr>
              <a:xfrm>
                <a:off x="5208" y="827"/>
                <a:ext cx="385" cy="1152"/>
              </a:xfrm>
              <a:prstGeom prst="rect">
                <a:avLst/>
              </a:prstGeom>
              <a:noFill/>
              <a:ln w="12700">
                <a:noFill/>
              </a:ln>
            </p:spPr>
            <p:txBody>
              <a:bodyPr vert="eaVert">
                <a:spAutoFit/>
              </a:bodyPr>
              <a:lstStyle/>
              <a:p>
                <a:pPr>
                  <a:spcBef>
                    <a:spcPct val="50000"/>
                  </a:spcBef>
                </a:pPr>
                <a:r>
                  <a:rPr lang="zh-CN" altLang="en-US" sz="2800" dirty="0">
                    <a:latin typeface="黑体" panose="02010609060101010101" pitchFamily="49" charset="-122"/>
                    <a:ea typeface="黑体" panose="02010609060101010101" pitchFamily="49" charset="-122"/>
                  </a:rPr>
                  <a:t>外部设备</a:t>
                </a:r>
              </a:p>
            </p:txBody>
          </p:sp>
          <p:sp>
            <p:nvSpPr>
              <p:cNvPr id="25666" name="Text Box 46"/>
              <p:cNvSpPr txBox="1"/>
              <p:nvPr/>
            </p:nvSpPr>
            <p:spPr>
              <a:xfrm>
                <a:off x="2496" y="672"/>
                <a:ext cx="385" cy="1200"/>
              </a:xfrm>
              <a:prstGeom prst="rect">
                <a:avLst/>
              </a:prstGeom>
              <a:noFill/>
              <a:ln w="12700">
                <a:noFill/>
              </a:ln>
            </p:spPr>
            <p:txBody>
              <a:bodyPr vert="eaVert">
                <a:spAutoFit/>
              </a:bodyPr>
              <a:lstStyle/>
              <a:p>
                <a:pPr>
                  <a:spcBef>
                    <a:spcPct val="50000"/>
                  </a:spcBef>
                </a:pPr>
                <a:r>
                  <a:rPr lang="zh-CN" altLang="en-US" sz="2800" dirty="0">
                    <a:latin typeface="黑体" panose="02010609060101010101" pitchFamily="49" charset="-122"/>
                    <a:ea typeface="黑体" panose="02010609060101010101" pitchFamily="49" charset="-122"/>
                  </a:rPr>
                  <a:t>系统总线</a:t>
                </a:r>
              </a:p>
            </p:txBody>
          </p:sp>
          <p:sp>
            <p:nvSpPr>
              <p:cNvPr id="25667" name="Text Box 50"/>
              <p:cNvSpPr txBox="1"/>
              <p:nvPr/>
            </p:nvSpPr>
            <p:spPr>
              <a:xfrm>
                <a:off x="4899" y="1888"/>
                <a:ext cx="635" cy="250"/>
              </a:xfrm>
              <a:prstGeom prst="rect">
                <a:avLst/>
              </a:prstGeom>
              <a:noFill/>
              <a:ln w="12700">
                <a:noFill/>
              </a:ln>
            </p:spPr>
            <p:txBody>
              <a:bodyPr>
                <a:spAutoFit/>
              </a:bodyPr>
              <a:lstStyle/>
              <a:p>
                <a:pPr>
                  <a:spcBef>
                    <a:spcPct val="50000"/>
                  </a:spcBef>
                </a:pPr>
                <a:r>
                  <a:rPr lang="en-US" altLang="zh-CN" sz="2000" dirty="0">
                    <a:solidFill>
                      <a:srgbClr val="FFFF00"/>
                    </a:solidFill>
                    <a:latin typeface="Times New Roman" panose="02020603050405020304" pitchFamily="18" charset="0"/>
                  </a:rPr>
                  <a:t>IRQi</a:t>
                </a:r>
              </a:p>
            </p:txBody>
          </p:sp>
          <p:sp>
            <p:nvSpPr>
              <p:cNvPr id="25668" name="Line 5"/>
              <p:cNvSpPr/>
              <p:nvPr/>
            </p:nvSpPr>
            <p:spPr>
              <a:xfrm>
                <a:off x="2880" y="192"/>
                <a:ext cx="0" cy="3560"/>
              </a:xfrm>
              <a:prstGeom prst="line">
                <a:avLst/>
              </a:prstGeom>
              <a:ln w="76200" cap="flat" cmpd="sng">
                <a:solidFill>
                  <a:schemeClr val="accent1"/>
                </a:solidFill>
                <a:prstDash val="solid"/>
                <a:headEnd type="none" w="med" len="med"/>
                <a:tailEnd type="none" w="med" len="med"/>
              </a:ln>
            </p:spPr>
          </p:sp>
        </p:grpSp>
        <p:sp>
          <p:nvSpPr>
            <p:cNvPr id="25615" name="Line 60"/>
            <p:cNvSpPr/>
            <p:nvPr/>
          </p:nvSpPr>
          <p:spPr>
            <a:xfrm>
              <a:off x="5508625" y="4605338"/>
              <a:ext cx="2159000" cy="0"/>
            </a:xfrm>
            <a:prstGeom prst="line">
              <a:avLst/>
            </a:prstGeom>
            <a:ln w="38100" cap="rnd" cmpd="sng">
              <a:solidFill>
                <a:schemeClr val="accent1"/>
              </a:solidFill>
              <a:prstDash val="sysDot"/>
              <a:headEnd type="none" w="med" len="med"/>
              <a:tailEnd type="none" w="med" len="med"/>
            </a:ln>
          </p:spPr>
        </p:sp>
        <p:sp>
          <p:nvSpPr>
            <p:cNvPr id="25616" name="Line 61"/>
            <p:cNvSpPr/>
            <p:nvPr/>
          </p:nvSpPr>
          <p:spPr>
            <a:xfrm>
              <a:off x="5484813" y="320675"/>
              <a:ext cx="0" cy="4321175"/>
            </a:xfrm>
            <a:prstGeom prst="line">
              <a:avLst/>
            </a:prstGeom>
            <a:ln w="38100" cap="rnd" cmpd="sng">
              <a:solidFill>
                <a:schemeClr val="accent1"/>
              </a:solidFill>
              <a:prstDash val="sysDot"/>
              <a:headEnd type="none" w="med" len="med"/>
              <a:tailEnd type="none" w="med" len="med"/>
            </a:ln>
          </p:spPr>
        </p:sp>
        <p:sp>
          <p:nvSpPr>
            <p:cNvPr id="25617" name="Line 62"/>
            <p:cNvSpPr/>
            <p:nvPr/>
          </p:nvSpPr>
          <p:spPr>
            <a:xfrm>
              <a:off x="5508625" y="307975"/>
              <a:ext cx="2159000" cy="0"/>
            </a:xfrm>
            <a:prstGeom prst="line">
              <a:avLst/>
            </a:prstGeom>
            <a:ln w="38100" cap="rnd" cmpd="sng">
              <a:solidFill>
                <a:schemeClr val="accent1"/>
              </a:solidFill>
              <a:prstDash val="sysDot"/>
              <a:headEnd type="none" w="med" len="med"/>
              <a:tailEnd type="none" w="med" len="med"/>
            </a:ln>
          </p:spPr>
        </p:sp>
        <p:sp>
          <p:nvSpPr>
            <p:cNvPr id="25618" name="Line 63"/>
            <p:cNvSpPr/>
            <p:nvPr/>
          </p:nvSpPr>
          <p:spPr>
            <a:xfrm>
              <a:off x="7667625" y="320675"/>
              <a:ext cx="0" cy="4284663"/>
            </a:xfrm>
            <a:prstGeom prst="line">
              <a:avLst/>
            </a:prstGeom>
            <a:ln w="38100" cap="rnd" cmpd="sng">
              <a:solidFill>
                <a:schemeClr val="accent1"/>
              </a:solidFill>
              <a:prstDash val="sysDot"/>
              <a:headEnd type="none" w="med" len="med"/>
              <a:tailEnd type="none" w="med" len="med"/>
            </a:ln>
          </p:spPr>
        </p:sp>
        <p:sp>
          <p:nvSpPr>
            <p:cNvPr id="25619" name="Text Box 57"/>
            <p:cNvSpPr txBox="1"/>
            <p:nvPr/>
          </p:nvSpPr>
          <p:spPr>
            <a:xfrm>
              <a:off x="5638800" y="4816475"/>
              <a:ext cx="838200" cy="461963"/>
            </a:xfrm>
            <a:prstGeom prst="rect">
              <a:avLst/>
            </a:prstGeom>
            <a:solidFill>
              <a:schemeClr val="bg1"/>
            </a:solid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dirty="0">
                  <a:solidFill>
                    <a:schemeClr val="folHlink"/>
                  </a:solidFill>
                  <a:latin typeface="黑体" panose="02010609060101010101" pitchFamily="49" charset="-122"/>
                  <a:ea typeface="黑体" panose="02010609060101010101" pitchFamily="49" charset="-122"/>
                </a:rPr>
                <a:t> </a:t>
              </a:r>
              <a:r>
                <a:rPr lang="en-US" altLang="zh-CN" dirty="0">
                  <a:solidFill>
                    <a:schemeClr val="folHlink"/>
                  </a:solidFill>
                  <a:latin typeface="Times New Roman" panose="02020603050405020304" pitchFamily="18" charset="0"/>
                  <a:ea typeface="黑体" panose="02010609060101010101" pitchFamily="49" charset="-122"/>
                </a:rPr>
                <a:t>M</a:t>
              </a:r>
            </a:p>
          </p:txBody>
        </p:sp>
        <p:sp>
          <p:nvSpPr>
            <p:cNvPr id="122" name="Text Box 58"/>
            <p:cNvSpPr txBox="1">
              <a:spLocks noChangeArrowheads="1"/>
            </p:cNvSpPr>
            <p:nvPr/>
          </p:nvSpPr>
          <p:spPr bwMode="auto">
            <a:xfrm>
              <a:off x="5638800" y="5464175"/>
              <a:ext cx="838200" cy="461963"/>
            </a:xfrm>
            <a:prstGeom prst="rect">
              <a:avLst/>
            </a:prstGeom>
            <a:solidFill>
              <a:schemeClr val="bg1"/>
            </a:solidFill>
            <a:ln w="38100">
              <a:solidFill>
                <a:schemeClr val="tx1"/>
              </a:solidFill>
              <a:miter lim="800000"/>
            </a:ln>
          </p:spPr>
          <p:txBody>
            <a:bodyPr>
              <a:spAutoFit/>
            </a:bodyPr>
            <a:lstStyle/>
            <a:p>
              <a:pPr marR="0" algn="ctr" defTabSz="914400">
                <a:spcBef>
                  <a:spcPct val="50000"/>
                </a:spcBef>
                <a:buClrTx/>
                <a:buSzTx/>
                <a:buFontTx/>
                <a:buNone/>
                <a:defRPr/>
              </a:pPr>
              <a:r>
                <a:rPr kumimoji="1" lang="en-US" altLang="zh-CN" kern="1200" cap="none" spc="0" normalizeH="0" baseline="0" noProof="0">
                  <a:solidFill>
                    <a:schemeClr val="folHlink"/>
                  </a:solidFill>
                  <a:latin typeface="+mn-lt"/>
                  <a:ea typeface="Verdana" panose="020B0604030504040204" pitchFamily="34" charset="0"/>
                  <a:cs typeface="Verdana" panose="020B0604030504040204" pitchFamily="34" charset="0"/>
                </a:rPr>
                <a:t>CPU</a:t>
              </a:r>
            </a:p>
          </p:txBody>
        </p:sp>
        <p:sp>
          <p:nvSpPr>
            <p:cNvPr id="25621" name="Line 60"/>
            <p:cNvSpPr/>
            <p:nvPr/>
          </p:nvSpPr>
          <p:spPr>
            <a:xfrm>
              <a:off x="5508625" y="4605338"/>
              <a:ext cx="2159000" cy="0"/>
            </a:xfrm>
            <a:prstGeom prst="line">
              <a:avLst/>
            </a:prstGeom>
            <a:ln w="38100" cap="rnd" cmpd="sng">
              <a:solidFill>
                <a:schemeClr val="accent1"/>
              </a:solidFill>
              <a:prstDash val="sysDot"/>
              <a:headEnd type="none" w="med" len="med"/>
              <a:tailEnd type="none" w="med" len="med"/>
            </a:ln>
          </p:spPr>
        </p:sp>
        <p:sp>
          <p:nvSpPr>
            <p:cNvPr id="25622" name="Line 65"/>
            <p:cNvSpPr/>
            <p:nvPr/>
          </p:nvSpPr>
          <p:spPr>
            <a:xfrm>
              <a:off x="4595813" y="5084763"/>
              <a:ext cx="1008062" cy="0"/>
            </a:xfrm>
            <a:prstGeom prst="line">
              <a:avLst/>
            </a:prstGeom>
            <a:ln w="38100" cap="flat" cmpd="sng">
              <a:solidFill>
                <a:schemeClr val="tx1"/>
              </a:solidFill>
              <a:prstDash val="solid"/>
              <a:headEnd type="triangle" w="med" len="med"/>
              <a:tailEnd type="triangle" w="med" len="med"/>
            </a:ln>
          </p:spPr>
        </p:sp>
        <p:sp>
          <p:nvSpPr>
            <p:cNvPr id="25623" name="Line 66"/>
            <p:cNvSpPr/>
            <p:nvPr/>
          </p:nvSpPr>
          <p:spPr>
            <a:xfrm>
              <a:off x="4608513" y="5705475"/>
              <a:ext cx="1008062" cy="0"/>
            </a:xfrm>
            <a:prstGeom prst="line">
              <a:avLst/>
            </a:prstGeom>
            <a:ln w="38100" cap="flat" cmpd="sng">
              <a:solidFill>
                <a:schemeClr val="tx1"/>
              </a:solidFill>
              <a:prstDash val="solid"/>
              <a:headEnd type="triangle" w="med" len="med"/>
              <a:tailEnd type="triangle" w="med" len="med"/>
            </a:ln>
          </p:spPr>
        </p:sp>
        <p:sp>
          <p:nvSpPr>
            <p:cNvPr id="25624" name="Text Box 67"/>
            <p:cNvSpPr txBox="1"/>
            <p:nvPr/>
          </p:nvSpPr>
          <p:spPr>
            <a:xfrm>
              <a:off x="6804025" y="5157788"/>
              <a:ext cx="1512888" cy="519112"/>
            </a:xfrm>
            <a:prstGeom prst="rect">
              <a:avLst/>
            </a:prstGeom>
            <a:noFill/>
            <a:ln w="9525">
              <a:noFill/>
            </a:ln>
          </p:spPr>
          <p:txBody>
            <a:bodyPr>
              <a:spAutoFit/>
            </a:bodyPr>
            <a:lstStyle/>
            <a:p>
              <a:pPr>
                <a:spcBef>
                  <a:spcPct val="50000"/>
                </a:spcBef>
              </a:pPr>
              <a:r>
                <a:rPr lang="zh-CN" altLang="en-US" sz="2800" dirty="0">
                  <a:solidFill>
                    <a:schemeClr val="folHlink"/>
                  </a:solidFill>
                  <a:latin typeface="Times New Roman" panose="02020603050405020304" pitchFamily="18" charset="0"/>
                  <a:ea typeface="黑体" panose="02010609060101010101" pitchFamily="49" charset="-122"/>
                </a:rPr>
                <a:t>主机</a:t>
              </a:r>
            </a:p>
          </p:txBody>
        </p:sp>
        <p:sp>
          <p:nvSpPr>
            <p:cNvPr id="25625" name="Line 13"/>
            <p:cNvSpPr/>
            <p:nvPr/>
          </p:nvSpPr>
          <p:spPr>
            <a:xfrm>
              <a:off x="4356100" y="3381375"/>
              <a:ext cx="4248150" cy="0"/>
            </a:xfrm>
            <a:prstGeom prst="line">
              <a:avLst/>
            </a:prstGeom>
            <a:ln w="38100" cap="rnd" cmpd="sng">
              <a:solidFill>
                <a:schemeClr val="tx2"/>
              </a:solidFill>
              <a:prstDash val="sysDot"/>
              <a:headEnd type="none" w="med" len="med"/>
              <a:tailEnd type="none" w="med" len="med"/>
            </a:ln>
          </p:spPr>
        </p:sp>
      </p:grpSp>
    </p:spTree>
  </p:cSld>
  <p:clrMapOvr>
    <a:masterClrMapping/>
  </p:clrMapOvr>
  <p:transition>
    <p:cover dir="l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p:nvPr/>
        </p:nvSpPr>
        <p:spPr>
          <a:xfrm>
            <a:off x="-63500" y="490538"/>
            <a:ext cx="4211638" cy="830262"/>
          </a:xfrm>
          <a:prstGeom prst="rect">
            <a:avLst/>
          </a:prstGeom>
          <a:noFill/>
          <a:ln w="12700">
            <a:noFill/>
          </a:ln>
        </p:spPr>
        <p:txBody>
          <a:bodyPr>
            <a:spAutoFit/>
          </a:bodyPr>
          <a:lstStyle/>
          <a:p>
            <a:pPr algn="just">
              <a:spcBef>
                <a:spcPct val="50000"/>
              </a:spcBef>
            </a:pPr>
            <a:r>
              <a:rPr lang="zh-CN" altLang="en-US" dirty="0">
                <a:solidFill>
                  <a:srgbClr val="FFFF00"/>
                </a:solidFill>
                <a:latin typeface="黑体" panose="02010609060101010101" pitchFamily="49" charset="-122"/>
                <a:ea typeface="黑体" panose="02010609060101010101" pitchFamily="49" charset="-122"/>
              </a:rPr>
              <a:t>（</a:t>
            </a:r>
            <a:r>
              <a:rPr lang="en-US" altLang="zh-CN" dirty="0">
                <a:solidFill>
                  <a:srgbClr val="FFFF00"/>
                </a:solidFill>
                <a:latin typeface="黑体" panose="02010609060101010101" pitchFamily="49" charset="-122"/>
                <a:ea typeface="黑体" panose="02010609060101010101" pitchFamily="49" charset="-122"/>
              </a:rPr>
              <a:t>1</a:t>
            </a:r>
            <a:r>
              <a:rPr lang="zh-CN" altLang="en-US" dirty="0">
                <a:solidFill>
                  <a:srgbClr val="FFFF00"/>
                </a:solidFill>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初始化：</a:t>
            </a:r>
            <a:r>
              <a:rPr lang="zh-CN" altLang="en-US" dirty="0">
                <a:solidFill>
                  <a:schemeClr val="accent1"/>
                </a:solidFill>
                <a:latin typeface="黑体" panose="02010609060101010101" pitchFamily="49" charset="-122"/>
                <a:ea typeface="黑体" panose="02010609060101010101" pitchFamily="49" charset="-122"/>
              </a:rPr>
              <a:t>设置工作方式，送屏蔽字，分配中断类型码。</a:t>
            </a:r>
          </a:p>
        </p:txBody>
      </p:sp>
      <p:sp>
        <p:nvSpPr>
          <p:cNvPr id="22531" name="Text Box 3"/>
          <p:cNvSpPr txBox="1"/>
          <p:nvPr/>
        </p:nvSpPr>
        <p:spPr>
          <a:xfrm>
            <a:off x="-63500" y="1390650"/>
            <a:ext cx="3962400" cy="831850"/>
          </a:xfrm>
          <a:prstGeom prst="rect">
            <a:avLst/>
          </a:prstGeom>
          <a:noFill/>
          <a:ln w="12700">
            <a:noFill/>
          </a:ln>
        </p:spPr>
        <p:txBody>
          <a:bodyPr>
            <a:spAutoFit/>
          </a:bodyPr>
          <a:lstStyle/>
          <a:p>
            <a:pPr algn="just">
              <a:spcBef>
                <a:spcPct val="50000"/>
              </a:spcBef>
            </a:pPr>
            <a:r>
              <a:rPr lang="zh-CN" altLang="en-US" dirty="0">
                <a:solidFill>
                  <a:schemeClr val="folHlink"/>
                </a:solidFill>
                <a:latin typeface="黑体" panose="02010609060101010101" pitchFamily="49" charset="-122"/>
                <a:ea typeface="黑体" panose="02010609060101010101" pitchFamily="49" charset="-122"/>
              </a:rPr>
              <a:t>（</a:t>
            </a:r>
            <a:r>
              <a:rPr lang="en-US" altLang="zh-CN" dirty="0">
                <a:solidFill>
                  <a:schemeClr val="folHlink"/>
                </a:solidFill>
                <a:latin typeface="黑体" panose="02010609060101010101" pitchFamily="49" charset="-122"/>
                <a:ea typeface="黑体" panose="02010609060101010101" pitchFamily="49" charset="-122"/>
              </a:rPr>
              <a:t>2</a:t>
            </a:r>
            <a:r>
              <a:rPr lang="zh-CN" altLang="en-US" dirty="0">
                <a:solidFill>
                  <a:schemeClr val="folHlink"/>
                </a:solidFill>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发启动命令</a:t>
            </a:r>
            <a:r>
              <a:rPr lang="en-US" altLang="zh-CN" dirty="0">
                <a:solidFill>
                  <a:schemeClr val="accent1"/>
                </a:solidFill>
                <a:latin typeface="黑体" panose="02010609060101010101" pitchFamily="49" charset="-122"/>
                <a:ea typeface="黑体" panose="02010609060101010101" pitchFamily="49" charset="-122"/>
              </a:rPr>
              <a:t>(</a:t>
            </a:r>
            <a:r>
              <a:rPr lang="zh-CN" altLang="en-US" dirty="0">
                <a:solidFill>
                  <a:schemeClr val="accent1"/>
                </a:solidFill>
                <a:latin typeface="黑体" panose="02010609060101010101" pitchFamily="49" charset="-122"/>
                <a:ea typeface="黑体" panose="02010609060101010101" pitchFamily="49" charset="-122"/>
              </a:rPr>
              <a:t>送命令字</a:t>
            </a:r>
            <a:r>
              <a:rPr lang="en-US" altLang="zh-CN" dirty="0">
                <a:solidFill>
                  <a:schemeClr val="accent1"/>
                </a:solidFill>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，启动设备。</a:t>
            </a:r>
          </a:p>
        </p:txBody>
      </p:sp>
      <p:sp>
        <p:nvSpPr>
          <p:cNvPr id="22589" name="Text Box 61"/>
          <p:cNvSpPr txBox="1"/>
          <p:nvPr/>
        </p:nvSpPr>
        <p:spPr>
          <a:xfrm>
            <a:off x="-63500" y="2276475"/>
            <a:ext cx="4267200" cy="461963"/>
          </a:xfrm>
          <a:prstGeom prst="rect">
            <a:avLst/>
          </a:prstGeom>
          <a:noFill/>
          <a:ln w="12700">
            <a:noFill/>
          </a:ln>
        </p:spPr>
        <p:txBody>
          <a:bodyPr>
            <a:spAutoFit/>
          </a:bodyPr>
          <a:lstStyle/>
          <a:p>
            <a:pPr algn="just">
              <a:spcBef>
                <a:spcPct val="50000"/>
              </a:spcBef>
            </a:pPr>
            <a:r>
              <a:rPr lang="zh-CN" altLang="en-US" dirty="0">
                <a:solidFill>
                  <a:schemeClr val="folHlink"/>
                </a:solidFill>
                <a:latin typeface="黑体" panose="02010609060101010101" pitchFamily="49" charset="-122"/>
                <a:ea typeface="黑体" panose="02010609060101010101" pitchFamily="49" charset="-122"/>
              </a:rPr>
              <a:t>（</a:t>
            </a:r>
            <a:r>
              <a:rPr lang="en-US" altLang="zh-CN" dirty="0">
                <a:solidFill>
                  <a:schemeClr val="folHlink"/>
                </a:solidFill>
                <a:latin typeface="黑体" panose="02010609060101010101" pitchFamily="49" charset="-122"/>
                <a:ea typeface="黑体" panose="02010609060101010101" pitchFamily="49" charset="-122"/>
              </a:rPr>
              <a:t>3</a:t>
            </a:r>
            <a:r>
              <a:rPr lang="zh-CN" altLang="en-US" dirty="0">
                <a:solidFill>
                  <a:schemeClr val="folHlink"/>
                </a:solidFill>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设备就绪，申请中断。</a:t>
            </a:r>
          </a:p>
        </p:txBody>
      </p:sp>
      <p:sp>
        <p:nvSpPr>
          <p:cNvPr id="22590" name="Text Box 62"/>
          <p:cNvSpPr txBox="1"/>
          <p:nvPr/>
        </p:nvSpPr>
        <p:spPr>
          <a:xfrm>
            <a:off x="0" y="0"/>
            <a:ext cx="4724400" cy="523875"/>
          </a:xfrm>
          <a:prstGeom prst="rect">
            <a:avLst/>
          </a:prstGeom>
          <a:noFill/>
          <a:ln w="12700">
            <a:noFill/>
          </a:ln>
        </p:spPr>
        <p:txBody>
          <a:bodyPr>
            <a:spAutoFit/>
          </a:bodyPr>
          <a:lstStyle/>
          <a:p>
            <a:pPr>
              <a:spcBef>
                <a:spcPct val="50000"/>
              </a:spcBef>
            </a:pPr>
            <a:r>
              <a:rPr lang="en-US" altLang="zh-CN" sz="2800" dirty="0">
                <a:solidFill>
                  <a:srgbClr val="FFFF00"/>
                </a:solidFill>
                <a:latin typeface="黑体" panose="02010609060101010101" pitchFamily="49" charset="-122"/>
                <a:ea typeface="黑体" panose="02010609060101010101" pitchFamily="49" charset="-122"/>
              </a:rPr>
              <a:t>2.</a:t>
            </a:r>
            <a:r>
              <a:rPr lang="zh-CN" altLang="en-US" sz="2800" dirty="0">
                <a:solidFill>
                  <a:srgbClr val="FFFF00"/>
                </a:solidFill>
                <a:latin typeface="黑体" panose="02010609060101010101" pitchFamily="49" charset="-122"/>
                <a:ea typeface="黑体" panose="02010609060101010101" pitchFamily="49" charset="-122"/>
              </a:rPr>
              <a:t>工作过程（</a:t>
            </a:r>
            <a:r>
              <a:rPr lang="zh-CN" altLang="en-US" sz="2800" dirty="0">
                <a:solidFill>
                  <a:srgbClr val="00FF00"/>
                </a:solidFill>
                <a:latin typeface="黑体" panose="02010609060101010101" pitchFamily="49" charset="-122"/>
                <a:ea typeface="黑体" panose="02010609060101010101" pitchFamily="49" charset="-122"/>
              </a:rPr>
              <a:t>外中断</a:t>
            </a:r>
            <a:r>
              <a:rPr lang="zh-CN" altLang="en-US" sz="2800" dirty="0">
                <a:solidFill>
                  <a:srgbClr val="FFFF00"/>
                </a:solidFill>
                <a:latin typeface="黑体" panose="02010609060101010101" pitchFamily="49" charset="-122"/>
                <a:ea typeface="黑体" panose="02010609060101010101" pitchFamily="49" charset="-122"/>
              </a:rPr>
              <a:t>）</a:t>
            </a:r>
          </a:p>
        </p:txBody>
      </p:sp>
      <p:sp>
        <p:nvSpPr>
          <p:cNvPr id="22591" name="Text Box 63"/>
          <p:cNvSpPr txBox="1"/>
          <p:nvPr/>
        </p:nvSpPr>
        <p:spPr>
          <a:xfrm>
            <a:off x="-63500" y="2781300"/>
            <a:ext cx="4203700" cy="1200150"/>
          </a:xfrm>
          <a:prstGeom prst="rect">
            <a:avLst/>
          </a:prstGeom>
          <a:noFill/>
          <a:ln w="12700">
            <a:noFill/>
          </a:ln>
        </p:spPr>
        <p:txBody>
          <a:bodyPr>
            <a:spAutoFit/>
          </a:bodyPr>
          <a:lstStyle/>
          <a:p>
            <a:pPr algn="just">
              <a:spcBef>
                <a:spcPct val="50000"/>
              </a:spcBef>
            </a:pPr>
            <a:r>
              <a:rPr lang="zh-CN" altLang="en-US" dirty="0">
                <a:solidFill>
                  <a:schemeClr val="folHlink"/>
                </a:solidFill>
                <a:latin typeface="黑体" panose="02010609060101010101" pitchFamily="49" charset="-122"/>
                <a:ea typeface="黑体" panose="02010609060101010101" pitchFamily="49" charset="-122"/>
              </a:rPr>
              <a:t>（</a:t>
            </a:r>
            <a:r>
              <a:rPr lang="en-US" altLang="zh-CN" dirty="0">
                <a:solidFill>
                  <a:schemeClr val="folHlink"/>
                </a:solidFill>
                <a:latin typeface="黑体" panose="02010609060101010101" pitchFamily="49" charset="-122"/>
                <a:ea typeface="黑体" panose="02010609060101010101" pitchFamily="49" charset="-122"/>
              </a:rPr>
              <a:t>4</a:t>
            </a:r>
            <a:r>
              <a:rPr lang="zh-CN" altLang="en-US" dirty="0">
                <a:solidFill>
                  <a:schemeClr val="folHlink"/>
                </a:solidFill>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中断控制器汇集各请求，经屏蔽、判优，形成中断号，向</a:t>
            </a:r>
            <a:r>
              <a:rPr lang="en-US" altLang="zh-CN" dirty="0">
                <a:latin typeface="黑体" panose="02010609060101010101" pitchFamily="49" charset="-122"/>
                <a:ea typeface="黑体" panose="02010609060101010101" pitchFamily="49" charset="-122"/>
              </a:rPr>
              <a:t>CPU</a:t>
            </a:r>
            <a:r>
              <a:rPr lang="zh-CN" altLang="en-US" dirty="0">
                <a:latin typeface="黑体" panose="02010609060101010101" pitchFamily="49" charset="-122"/>
                <a:ea typeface="黑体" panose="02010609060101010101" pitchFamily="49" charset="-122"/>
              </a:rPr>
              <a:t>发出</a:t>
            </a:r>
            <a:r>
              <a:rPr lang="en-US" altLang="zh-CN" dirty="0">
                <a:latin typeface="黑体" panose="02010609060101010101" pitchFamily="49" charset="-122"/>
                <a:ea typeface="黑体" panose="02010609060101010101" pitchFamily="49" charset="-122"/>
              </a:rPr>
              <a:t>INT</a:t>
            </a:r>
            <a:r>
              <a:rPr lang="zh-CN" altLang="en-US" dirty="0">
                <a:latin typeface="黑体" panose="02010609060101010101" pitchFamily="49" charset="-122"/>
                <a:ea typeface="黑体" panose="02010609060101010101" pitchFamily="49" charset="-122"/>
              </a:rPr>
              <a:t>。</a:t>
            </a:r>
          </a:p>
        </p:txBody>
      </p:sp>
      <p:sp>
        <p:nvSpPr>
          <p:cNvPr id="22592" name="Text Box 64"/>
          <p:cNvSpPr txBox="1"/>
          <p:nvPr/>
        </p:nvSpPr>
        <p:spPr>
          <a:xfrm>
            <a:off x="-63500" y="4005263"/>
            <a:ext cx="4779963" cy="488950"/>
          </a:xfrm>
          <a:prstGeom prst="rect">
            <a:avLst/>
          </a:prstGeom>
          <a:noFill/>
          <a:ln w="12700">
            <a:noFill/>
          </a:ln>
        </p:spPr>
        <p:txBody>
          <a:bodyPr>
            <a:spAutoFit/>
          </a:bodyPr>
          <a:lstStyle/>
          <a:p>
            <a:pPr algn="just">
              <a:spcBef>
                <a:spcPct val="50000"/>
              </a:spcBef>
            </a:pPr>
            <a:r>
              <a:rPr lang="zh-CN" altLang="en-US" sz="2600" dirty="0">
                <a:solidFill>
                  <a:schemeClr val="folHlink"/>
                </a:solidFill>
                <a:latin typeface="黑体" panose="02010609060101010101" pitchFamily="49" charset="-122"/>
                <a:ea typeface="黑体" panose="02010609060101010101" pitchFamily="49" charset="-122"/>
              </a:rPr>
              <a:t>（</a:t>
            </a:r>
            <a:r>
              <a:rPr lang="en-US" altLang="zh-CN" sz="2600" dirty="0">
                <a:solidFill>
                  <a:schemeClr val="folHlink"/>
                </a:solidFill>
                <a:latin typeface="黑体" panose="02010609060101010101" pitchFamily="49" charset="-122"/>
                <a:ea typeface="黑体" panose="02010609060101010101" pitchFamily="49" charset="-122"/>
              </a:rPr>
              <a:t>5</a:t>
            </a:r>
            <a:r>
              <a:rPr lang="zh-CN" altLang="en-US" sz="2600" dirty="0">
                <a:solidFill>
                  <a:schemeClr val="folHlink"/>
                </a:solidFill>
                <a:latin typeface="黑体" panose="02010609060101010101" pitchFamily="49" charset="-122"/>
                <a:ea typeface="黑体" panose="02010609060101010101" pitchFamily="49" charset="-122"/>
              </a:rPr>
              <a:t>）</a:t>
            </a:r>
            <a:r>
              <a:rPr lang="en-US" altLang="zh-CN" sz="2600" dirty="0">
                <a:latin typeface="黑体" panose="02010609060101010101" pitchFamily="49" charset="-122"/>
                <a:ea typeface="黑体" panose="02010609060101010101" pitchFamily="49" charset="-122"/>
              </a:rPr>
              <a:t>CPU</a:t>
            </a:r>
            <a:r>
              <a:rPr lang="zh-CN" altLang="en-US" sz="2600" dirty="0">
                <a:latin typeface="黑体" panose="02010609060101010101" pitchFamily="49" charset="-122"/>
                <a:ea typeface="黑体" panose="02010609060101010101" pitchFamily="49" charset="-122"/>
              </a:rPr>
              <a:t>响应，发批准</a:t>
            </a:r>
            <a:r>
              <a:rPr lang="en-US" altLang="zh-CN" sz="2600" dirty="0">
                <a:latin typeface="黑体" panose="02010609060101010101" pitchFamily="49" charset="-122"/>
                <a:ea typeface="黑体" panose="02010609060101010101" pitchFamily="49" charset="-122"/>
              </a:rPr>
              <a:t>INTA</a:t>
            </a:r>
            <a:r>
              <a:rPr lang="zh-CN" altLang="en-US" sz="2600" dirty="0">
                <a:latin typeface="黑体" panose="02010609060101010101" pitchFamily="49" charset="-122"/>
                <a:ea typeface="黑体" panose="02010609060101010101" pitchFamily="49" charset="-122"/>
              </a:rPr>
              <a:t>。</a:t>
            </a:r>
          </a:p>
        </p:txBody>
      </p:sp>
      <p:sp>
        <p:nvSpPr>
          <p:cNvPr id="22593" name="Text Box 65"/>
          <p:cNvSpPr txBox="1"/>
          <p:nvPr/>
        </p:nvSpPr>
        <p:spPr>
          <a:xfrm>
            <a:off x="-63500" y="4524375"/>
            <a:ext cx="5003800" cy="488950"/>
          </a:xfrm>
          <a:prstGeom prst="rect">
            <a:avLst/>
          </a:prstGeom>
          <a:noFill/>
          <a:ln w="12700">
            <a:noFill/>
          </a:ln>
        </p:spPr>
        <p:txBody>
          <a:bodyPr>
            <a:spAutoFit/>
          </a:bodyPr>
          <a:lstStyle/>
          <a:p>
            <a:pPr algn="just">
              <a:spcBef>
                <a:spcPct val="50000"/>
              </a:spcBef>
            </a:pPr>
            <a:r>
              <a:rPr lang="zh-CN" altLang="en-US" sz="2600" dirty="0">
                <a:solidFill>
                  <a:schemeClr val="folHlink"/>
                </a:solidFill>
                <a:latin typeface="黑体" panose="02010609060101010101" pitchFamily="49" charset="-122"/>
                <a:ea typeface="黑体" panose="02010609060101010101" pitchFamily="49" charset="-122"/>
              </a:rPr>
              <a:t>（</a:t>
            </a:r>
            <a:r>
              <a:rPr lang="en-US" altLang="zh-CN" sz="2600" dirty="0">
                <a:solidFill>
                  <a:schemeClr val="folHlink"/>
                </a:solidFill>
                <a:latin typeface="黑体" panose="02010609060101010101" pitchFamily="49" charset="-122"/>
                <a:ea typeface="黑体" panose="02010609060101010101" pitchFamily="49" charset="-122"/>
              </a:rPr>
              <a:t>6</a:t>
            </a:r>
            <a:r>
              <a:rPr lang="zh-CN" altLang="en-US" sz="2600" dirty="0">
                <a:solidFill>
                  <a:schemeClr val="folHlink"/>
                </a:solidFill>
                <a:latin typeface="黑体" panose="02010609060101010101" pitchFamily="49" charset="-122"/>
                <a:ea typeface="黑体" panose="02010609060101010101" pitchFamily="49" charset="-122"/>
              </a:rPr>
              <a:t>）</a:t>
            </a:r>
            <a:r>
              <a:rPr lang="zh-CN" altLang="en-US" sz="2600" dirty="0">
                <a:latin typeface="黑体" panose="02010609060101010101" pitchFamily="49" charset="-122"/>
                <a:ea typeface="黑体" panose="02010609060101010101" pitchFamily="49" charset="-122"/>
              </a:rPr>
              <a:t>中断控制器送出中断号。</a:t>
            </a:r>
          </a:p>
        </p:txBody>
      </p:sp>
      <p:sp>
        <p:nvSpPr>
          <p:cNvPr id="22594" name="Text Box 66"/>
          <p:cNvSpPr txBox="1"/>
          <p:nvPr/>
        </p:nvSpPr>
        <p:spPr>
          <a:xfrm>
            <a:off x="-63500" y="5084763"/>
            <a:ext cx="4500563" cy="885825"/>
          </a:xfrm>
          <a:prstGeom prst="rect">
            <a:avLst/>
          </a:prstGeom>
          <a:noFill/>
          <a:ln w="12700">
            <a:noFill/>
          </a:ln>
        </p:spPr>
        <p:txBody>
          <a:bodyPr>
            <a:spAutoFit/>
          </a:bodyPr>
          <a:lstStyle/>
          <a:p>
            <a:pPr algn="just">
              <a:spcBef>
                <a:spcPct val="50000"/>
              </a:spcBef>
            </a:pPr>
            <a:r>
              <a:rPr lang="zh-CN" altLang="en-US" sz="2600" dirty="0">
                <a:solidFill>
                  <a:schemeClr val="folHlink"/>
                </a:solidFill>
                <a:latin typeface="黑体" panose="02010609060101010101" pitchFamily="49" charset="-122"/>
                <a:ea typeface="黑体" panose="02010609060101010101" pitchFamily="49" charset="-122"/>
              </a:rPr>
              <a:t>（</a:t>
            </a:r>
            <a:r>
              <a:rPr lang="en-US" altLang="zh-CN" sz="2600" dirty="0">
                <a:solidFill>
                  <a:schemeClr val="folHlink"/>
                </a:solidFill>
                <a:latin typeface="黑体" panose="02010609060101010101" pitchFamily="49" charset="-122"/>
                <a:ea typeface="黑体" panose="02010609060101010101" pitchFamily="49" charset="-122"/>
              </a:rPr>
              <a:t>7</a:t>
            </a:r>
            <a:r>
              <a:rPr lang="zh-CN" altLang="en-US" sz="2600" dirty="0">
                <a:solidFill>
                  <a:schemeClr val="folHlink"/>
                </a:solidFill>
                <a:latin typeface="黑体" panose="02010609060101010101" pitchFamily="49" charset="-122"/>
                <a:ea typeface="黑体" panose="02010609060101010101" pitchFamily="49" charset="-122"/>
              </a:rPr>
              <a:t>）</a:t>
            </a:r>
            <a:r>
              <a:rPr lang="en-US" altLang="zh-CN" sz="2600" dirty="0">
                <a:latin typeface="黑体" panose="02010609060101010101" pitchFamily="49" charset="-122"/>
                <a:ea typeface="黑体" panose="02010609060101010101" pitchFamily="49" charset="-122"/>
              </a:rPr>
              <a:t>CPU</a:t>
            </a:r>
            <a:r>
              <a:rPr lang="zh-CN" altLang="en-US" sz="2600" dirty="0">
                <a:latin typeface="黑体" panose="02010609060101010101" pitchFamily="49" charset="-122"/>
                <a:ea typeface="黑体" panose="02010609060101010101" pitchFamily="49" charset="-122"/>
              </a:rPr>
              <a:t>执行</a:t>
            </a:r>
            <a:r>
              <a:rPr lang="zh-CN" altLang="en-US" sz="2600" dirty="0">
                <a:solidFill>
                  <a:schemeClr val="accent1"/>
                </a:solidFill>
                <a:latin typeface="黑体" panose="02010609060101010101" pitchFamily="49" charset="-122"/>
                <a:ea typeface="黑体" panose="02010609060101010101" pitchFamily="49" charset="-122"/>
              </a:rPr>
              <a:t>中断隐指令</a:t>
            </a:r>
            <a:r>
              <a:rPr lang="zh-CN" altLang="en-US" sz="2600" dirty="0">
                <a:latin typeface="黑体" panose="02010609060101010101" pitchFamily="49" charset="-122"/>
                <a:ea typeface="黑体" panose="02010609060101010101" pitchFamily="49" charset="-122"/>
              </a:rPr>
              <a:t>操作，准备执行服务程序。</a:t>
            </a:r>
          </a:p>
        </p:txBody>
      </p:sp>
      <p:grpSp>
        <p:nvGrpSpPr>
          <p:cNvPr id="2" name="组合 64"/>
          <p:cNvGrpSpPr/>
          <p:nvPr/>
        </p:nvGrpSpPr>
        <p:grpSpPr>
          <a:xfrm>
            <a:off x="3962400" y="304800"/>
            <a:ext cx="5002213" cy="5651500"/>
            <a:chOff x="3962400" y="304800"/>
            <a:chExt cx="5002213" cy="5651500"/>
          </a:xfrm>
        </p:grpSpPr>
        <p:grpSp>
          <p:nvGrpSpPr>
            <p:cNvPr id="26635" name="Group 59"/>
            <p:cNvGrpSpPr/>
            <p:nvPr/>
          </p:nvGrpSpPr>
          <p:grpSpPr>
            <a:xfrm>
              <a:off x="3962400" y="304800"/>
              <a:ext cx="5002213" cy="5651500"/>
              <a:chOff x="2496" y="192"/>
              <a:chExt cx="3151" cy="3560"/>
            </a:xfrm>
          </p:grpSpPr>
          <p:sp>
            <p:nvSpPr>
              <p:cNvPr id="26647" name="Line 4"/>
              <p:cNvSpPr/>
              <p:nvPr/>
            </p:nvSpPr>
            <p:spPr>
              <a:xfrm>
                <a:off x="5232" y="686"/>
                <a:ext cx="0" cy="1225"/>
              </a:xfrm>
              <a:prstGeom prst="line">
                <a:avLst/>
              </a:prstGeom>
              <a:ln w="76200" cap="flat" cmpd="sng">
                <a:solidFill>
                  <a:srgbClr val="FFFF00"/>
                </a:solidFill>
                <a:prstDash val="solid"/>
                <a:headEnd type="none" w="med" len="med"/>
                <a:tailEnd type="none" w="med" len="med"/>
              </a:ln>
            </p:spPr>
          </p:sp>
          <p:sp>
            <p:nvSpPr>
              <p:cNvPr id="26648" name="Line 6"/>
              <p:cNvSpPr/>
              <p:nvPr/>
            </p:nvSpPr>
            <p:spPr>
              <a:xfrm>
                <a:off x="4896" y="1931"/>
                <a:ext cx="0" cy="590"/>
              </a:xfrm>
              <a:prstGeom prst="line">
                <a:avLst/>
              </a:prstGeom>
              <a:ln w="38100" cap="flat" cmpd="sng">
                <a:solidFill>
                  <a:schemeClr val="tx1"/>
                </a:solidFill>
                <a:prstDash val="solid"/>
                <a:headEnd type="none" w="med" len="med"/>
                <a:tailEnd type="none" w="med" len="med"/>
              </a:ln>
            </p:spPr>
          </p:sp>
          <p:sp>
            <p:nvSpPr>
              <p:cNvPr id="26649" name="Line 7"/>
              <p:cNvSpPr/>
              <p:nvPr/>
            </p:nvSpPr>
            <p:spPr>
              <a:xfrm flipH="1">
                <a:off x="4704" y="2341"/>
                <a:ext cx="288" cy="0"/>
              </a:xfrm>
              <a:prstGeom prst="line">
                <a:avLst/>
              </a:prstGeom>
              <a:ln w="38100" cap="flat" cmpd="sng">
                <a:solidFill>
                  <a:schemeClr val="tx1"/>
                </a:solidFill>
                <a:prstDash val="solid"/>
                <a:headEnd type="none" w="med" len="med"/>
                <a:tailEnd type="triangle" w="med" len="med"/>
              </a:ln>
            </p:spPr>
          </p:sp>
          <p:sp>
            <p:nvSpPr>
              <p:cNvPr id="26650" name="Line 8"/>
              <p:cNvSpPr/>
              <p:nvPr/>
            </p:nvSpPr>
            <p:spPr>
              <a:xfrm flipH="1">
                <a:off x="4704" y="1931"/>
                <a:ext cx="192" cy="0"/>
              </a:xfrm>
              <a:prstGeom prst="line">
                <a:avLst/>
              </a:prstGeom>
              <a:ln w="38100" cap="flat" cmpd="sng">
                <a:solidFill>
                  <a:schemeClr val="tx1"/>
                </a:solidFill>
                <a:prstDash val="solid"/>
                <a:headEnd type="none" w="med" len="med"/>
                <a:tailEnd type="none" w="med" len="med"/>
              </a:ln>
            </p:spPr>
          </p:sp>
          <p:sp>
            <p:nvSpPr>
              <p:cNvPr id="26651" name="Line 9"/>
              <p:cNvSpPr/>
              <p:nvPr/>
            </p:nvSpPr>
            <p:spPr>
              <a:xfrm flipH="1">
                <a:off x="4704" y="482"/>
                <a:ext cx="240" cy="0"/>
              </a:xfrm>
              <a:prstGeom prst="line">
                <a:avLst/>
              </a:prstGeom>
              <a:ln w="38100" cap="flat" cmpd="sng">
                <a:solidFill>
                  <a:schemeClr val="tx1"/>
                </a:solidFill>
                <a:prstDash val="solid"/>
                <a:headEnd type="triangle" w="med" len="med"/>
                <a:tailEnd type="none" w="med" len="med"/>
              </a:ln>
            </p:spPr>
          </p:sp>
          <p:sp>
            <p:nvSpPr>
              <p:cNvPr id="26652" name="Line 10"/>
              <p:cNvSpPr/>
              <p:nvPr/>
            </p:nvSpPr>
            <p:spPr>
              <a:xfrm flipV="1">
                <a:off x="5136" y="2688"/>
                <a:ext cx="0" cy="192"/>
              </a:xfrm>
              <a:prstGeom prst="line">
                <a:avLst/>
              </a:prstGeom>
              <a:ln w="19050" cap="rnd" cmpd="sng">
                <a:solidFill>
                  <a:srgbClr val="3366FF"/>
                </a:solidFill>
                <a:prstDash val="sysDot"/>
                <a:headEnd type="none" w="med" len="med"/>
                <a:tailEnd type="none" w="med" len="med"/>
              </a:ln>
            </p:spPr>
          </p:sp>
          <p:sp>
            <p:nvSpPr>
              <p:cNvPr id="26653" name="Line 11"/>
              <p:cNvSpPr/>
              <p:nvPr/>
            </p:nvSpPr>
            <p:spPr>
              <a:xfrm flipH="1">
                <a:off x="2880" y="480"/>
                <a:ext cx="672" cy="0"/>
              </a:xfrm>
              <a:prstGeom prst="line">
                <a:avLst/>
              </a:prstGeom>
              <a:ln w="38100" cap="flat" cmpd="sng">
                <a:solidFill>
                  <a:schemeClr val="tx1"/>
                </a:solidFill>
                <a:prstDash val="solid"/>
                <a:headEnd type="triangle" w="med" len="med"/>
                <a:tailEnd type="none" w="med" len="med"/>
              </a:ln>
            </p:spPr>
          </p:sp>
          <p:sp>
            <p:nvSpPr>
              <p:cNvPr id="26654" name="Line 12"/>
              <p:cNvSpPr/>
              <p:nvPr/>
            </p:nvSpPr>
            <p:spPr>
              <a:xfrm flipH="1">
                <a:off x="4704" y="359"/>
                <a:ext cx="240" cy="0"/>
              </a:xfrm>
              <a:prstGeom prst="line">
                <a:avLst/>
              </a:prstGeom>
              <a:ln w="38100" cap="flat" cmpd="sng">
                <a:solidFill>
                  <a:schemeClr val="tx1"/>
                </a:solidFill>
                <a:prstDash val="solid"/>
                <a:headEnd type="triangle" w="med" len="med"/>
                <a:tailEnd type="none" w="med" len="med"/>
              </a:ln>
            </p:spPr>
          </p:sp>
          <p:sp>
            <p:nvSpPr>
              <p:cNvPr id="26655" name="Rectangle 14"/>
              <p:cNvSpPr/>
              <p:nvPr/>
            </p:nvSpPr>
            <p:spPr>
              <a:xfrm>
                <a:off x="3552" y="2236"/>
                <a:ext cx="1152" cy="576"/>
              </a:xfrm>
              <a:prstGeom prst="rect">
                <a:avLst/>
              </a:prstGeom>
              <a:noFill/>
              <a:ln w="38100" cap="sq" cmpd="sng">
                <a:solidFill>
                  <a:schemeClr val="tx1"/>
                </a:solidFill>
                <a:prstDash val="solid"/>
                <a:miter/>
                <a:headEnd type="none" w="sm" len="sm"/>
                <a:tailEnd type="none" w="sm" len="sm"/>
              </a:ln>
            </p:spPr>
            <p:txBody>
              <a:bodyPr wrap="none" anchor="ctr" anchorCtr="0"/>
              <a:lstStyle/>
              <a:p>
                <a:pPr eaLnBrk="0" hangingPunct="0"/>
                <a:endParaRPr lang="zh-CN" altLang="en-US" dirty="0">
                  <a:latin typeface="Times New Roman" panose="02020603050405020304" pitchFamily="18" charset="0"/>
                </a:endParaRPr>
              </a:p>
            </p:txBody>
          </p:sp>
          <p:sp>
            <p:nvSpPr>
              <p:cNvPr id="26656" name="Text Box 15"/>
              <p:cNvSpPr txBox="1"/>
              <p:nvPr/>
            </p:nvSpPr>
            <p:spPr>
              <a:xfrm>
                <a:off x="2973" y="2553"/>
                <a:ext cx="567" cy="250"/>
              </a:xfrm>
              <a:prstGeom prst="rect">
                <a:avLst/>
              </a:prstGeom>
              <a:noFill/>
              <a:ln w="12700">
                <a:noFill/>
              </a:ln>
            </p:spPr>
            <p:txBody>
              <a:bodyPr>
                <a:spAutoFit/>
              </a:bodyPr>
              <a:lstStyle/>
              <a:p>
                <a:pPr>
                  <a:spcBef>
                    <a:spcPct val="50000"/>
                  </a:spcBef>
                </a:pPr>
                <a:r>
                  <a:rPr lang="en-US" altLang="zh-CN" sz="2000" dirty="0">
                    <a:solidFill>
                      <a:srgbClr val="FFFF00"/>
                    </a:solidFill>
                    <a:latin typeface="Times New Roman" panose="02020603050405020304" pitchFamily="18" charset="0"/>
                  </a:rPr>
                  <a:t>D7~0</a:t>
                </a:r>
              </a:p>
            </p:txBody>
          </p:sp>
          <p:sp>
            <p:nvSpPr>
              <p:cNvPr id="26657" name="Line 16"/>
              <p:cNvSpPr/>
              <p:nvPr/>
            </p:nvSpPr>
            <p:spPr>
              <a:xfrm>
                <a:off x="4967" y="346"/>
                <a:ext cx="0" cy="192"/>
              </a:xfrm>
              <a:prstGeom prst="line">
                <a:avLst/>
              </a:prstGeom>
              <a:ln w="19050" cap="rnd" cmpd="sng">
                <a:solidFill>
                  <a:schemeClr val="tx1"/>
                </a:solidFill>
                <a:prstDash val="sysDot"/>
                <a:headEnd type="none" w="sm" len="sm"/>
                <a:tailEnd type="none" w="sm" len="sm"/>
              </a:ln>
            </p:spPr>
          </p:sp>
          <p:sp>
            <p:nvSpPr>
              <p:cNvPr id="26658" name="Text Box 17"/>
              <p:cNvSpPr txBox="1"/>
              <p:nvPr/>
            </p:nvSpPr>
            <p:spPr>
              <a:xfrm>
                <a:off x="4967" y="2205"/>
                <a:ext cx="680" cy="250"/>
              </a:xfrm>
              <a:prstGeom prst="rect">
                <a:avLst/>
              </a:prstGeom>
              <a:noFill/>
              <a:ln w="12700">
                <a:noFill/>
              </a:ln>
            </p:spPr>
            <p:txBody>
              <a:bodyPr>
                <a:spAutoFit/>
              </a:bodyPr>
              <a:lstStyle/>
              <a:p>
                <a:pPr>
                  <a:spcBef>
                    <a:spcPct val="50000"/>
                  </a:spcBef>
                </a:pPr>
                <a:r>
                  <a:rPr lang="en-US" altLang="zh-CN" sz="2000" dirty="0">
                    <a:solidFill>
                      <a:schemeClr val="folHlink"/>
                    </a:solidFill>
                    <a:latin typeface="Times New Roman" panose="02020603050405020304" pitchFamily="18" charset="0"/>
                  </a:rPr>
                  <a:t>IRQ0</a:t>
                </a:r>
              </a:p>
            </p:txBody>
          </p:sp>
          <p:sp>
            <p:nvSpPr>
              <p:cNvPr id="26659" name="Text Box 18"/>
              <p:cNvSpPr txBox="1"/>
              <p:nvPr/>
            </p:nvSpPr>
            <p:spPr>
              <a:xfrm>
                <a:off x="2880" y="240"/>
                <a:ext cx="1056" cy="250"/>
              </a:xfrm>
              <a:prstGeom prst="rect">
                <a:avLst/>
              </a:prstGeom>
              <a:noFill/>
              <a:ln w="12700">
                <a:noFill/>
              </a:ln>
            </p:spPr>
            <p:txBody>
              <a:bodyPr>
                <a:spAutoFit/>
              </a:bodyPr>
              <a:lstStyle/>
              <a:p>
                <a:pPr>
                  <a:spcBef>
                    <a:spcPct val="50000"/>
                  </a:spcBef>
                </a:pPr>
                <a:r>
                  <a:rPr lang="zh-CN" altLang="en-US" sz="2000" dirty="0">
                    <a:solidFill>
                      <a:schemeClr val="accent1"/>
                    </a:solidFill>
                    <a:latin typeface="Times New Roman" panose="02020603050405020304" pitchFamily="18" charset="0"/>
                  </a:rPr>
                  <a:t>地址线</a:t>
                </a:r>
              </a:p>
            </p:txBody>
          </p:sp>
          <p:sp>
            <p:nvSpPr>
              <p:cNvPr id="26660" name="Text Box 19"/>
              <p:cNvSpPr txBox="1"/>
              <p:nvPr/>
            </p:nvSpPr>
            <p:spPr>
              <a:xfrm>
                <a:off x="3552" y="288"/>
                <a:ext cx="1152" cy="291"/>
              </a:xfrm>
              <a:prstGeom prst="rect">
                <a:avLst/>
              </a:prstGeom>
              <a:noFill/>
              <a:ln w="19050" cap="sq" cmpd="sng">
                <a:solidFill>
                  <a:schemeClr val="tx1"/>
                </a:solidFill>
                <a:prstDash val="solid"/>
                <a:miter/>
                <a:headEnd type="none" w="sm" len="sm"/>
                <a:tailEnd type="none" w="sm" len="sm"/>
              </a:ln>
            </p:spPr>
            <p:txBody>
              <a:bodyPr>
                <a:spAutoFit/>
              </a:bodyPr>
              <a:lstStyle/>
              <a:p>
                <a:pPr>
                  <a:spcBef>
                    <a:spcPct val="50000"/>
                  </a:spcBef>
                </a:pPr>
                <a:r>
                  <a:rPr lang="zh-CN" altLang="en-US" dirty="0">
                    <a:solidFill>
                      <a:schemeClr val="folHlink"/>
                    </a:solidFill>
                    <a:latin typeface="黑体" panose="02010609060101010101" pitchFamily="49" charset="-122"/>
                    <a:ea typeface="黑体" panose="02010609060101010101" pitchFamily="49" charset="-122"/>
                  </a:rPr>
                  <a:t>寄存器选择</a:t>
                </a:r>
              </a:p>
            </p:txBody>
          </p:sp>
          <p:sp>
            <p:nvSpPr>
              <p:cNvPr id="26661" name="Text Box 20"/>
              <p:cNvSpPr txBox="1"/>
              <p:nvPr/>
            </p:nvSpPr>
            <p:spPr>
              <a:xfrm>
                <a:off x="3552" y="641"/>
                <a:ext cx="1152" cy="291"/>
              </a:xfrm>
              <a:prstGeom prst="rect">
                <a:avLst/>
              </a:prstGeom>
              <a:noFill/>
              <a:ln w="19050" cap="sq" cmpd="sng">
                <a:solidFill>
                  <a:schemeClr val="tx1"/>
                </a:solidFill>
                <a:prstDash val="solid"/>
                <a:miter/>
                <a:headEnd type="none" w="sm" len="sm"/>
                <a:tailEnd type="none" w="sm" len="sm"/>
              </a:ln>
            </p:spPr>
            <p:txBody>
              <a:bodyPr>
                <a:spAutoFit/>
              </a:bodyPr>
              <a:lstStyle/>
              <a:p>
                <a:pPr>
                  <a:spcBef>
                    <a:spcPct val="50000"/>
                  </a:spcBef>
                </a:pPr>
                <a:r>
                  <a:rPr lang="en-US" altLang="zh-CN" dirty="0">
                    <a:solidFill>
                      <a:schemeClr val="folHlink"/>
                    </a:solidFill>
                    <a:latin typeface="黑体" panose="02010609060101010101" pitchFamily="49" charset="-122"/>
                    <a:ea typeface="黑体" panose="02010609060101010101" pitchFamily="49" charset="-122"/>
                  </a:rPr>
                  <a:t>  </a:t>
                </a:r>
                <a:r>
                  <a:rPr lang="zh-CN" altLang="en-US" dirty="0">
                    <a:solidFill>
                      <a:schemeClr val="folHlink"/>
                    </a:solidFill>
                    <a:latin typeface="黑体" panose="02010609060101010101" pitchFamily="49" charset="-122"/>
                    <a:ea typeface="黑体" panose="02010609060101010101" pitchFamily="49" charset="-122"/>
                  </a:rPr>
                  <a:t>命令字</a:t>
                </a:r>
                <a:r>
                  <a:rPr lang="en-US" altLang="zh-CN" dirty="0">
                    <a:solidFill>
                      <a:schemeClr val="folHlink"/>
                    </a:solidFill>
                    <a:latin typeface="黑体" panose="02010609060101010101" pitchFamily="49" charset="-122"/>
                    <a:ea typeface="黑体" panose="02010609060101010101" pitchFamily="49" charset="-122"/>
                  </a:rPr>
                  <a:t>R</a:t>
                </a:r>
              </a:p>
            </p:txBody>
          </p:sp>
          <p:sp>
            <p:nvSpPr>
              <p:cNvPr id="26662" name="Text Box 21"/>
              <p:cNvSpPr txBox="1"/>
              <p:nvPr/>
            </p:nvSpPr>
            <p:spPr>
              <a:xfrm>
                <a:off x="3552" y="1011"/>
                <a:ext cx="1152" cy="291"/>
              </a:xfrm>
              <a:prstGeom prst="rect">
                <a:avLst/>
              </a:prstGeom>
              <a:noFill/>
              <a:ln w="19050" cap="sq" cmpd="sng">
                <a:solidFill>
                  <a:schemeClr val="tx1"/>
                </a:solidFill>
                <a:prstDash val="solid"/>
                <a:miter/>
                <a:headEnd type="none" w="sm" len="sm"/>
                <a:tailEnd type="none" w="sm" len="sm"/>
              </a:ln>
            </p:spPr>
            <p:txBody>
              <a:bodyPr>
                <a:spAutoFit/>
              </a:bodyPr>
              <a:lstStyle/>
              <a:p>
                <a:pPr algn="ctr">
                  <a:spcBef>
                    <a:spcPct val="50000"/>
                  </a:spcBef>
                </a:pPr>
                <a:r>
                  <a:rPr lang="zh-CN" altLang="en-US" dirty="0">
                    <a:solidFill>
                      <a:schemeClr val="folHlink"/>
                    </a:solidFill>
                    <a:latin typeface="黑体" panose="02010609060101010101" pitchFamily="49" charset="-122"/>
                    <a:ea typeface="黑体" panose="02010609060101010101" pitchFamily="49" charset="-122"/>
                  </a:rPr>
                  <a:t>状态字</a:t>
                </a:r>
                <a:r>
                  <a:rPr lang="en-US" altLang="zh-CN" dirty="0">
                    <a:solidFill>
                      <a:schemeClr val="folHlink"/>
                    </a:solidFill>
                    <a:latin typeface="黑体" panose="02010609060101010101" pitchFamily="49" charset="-122"/>
                    <a:ea typeface="黑体" panose="02010609060101010101" pitchFamily="49" charset="-122"/>
                  </a:rPr>
                  <a:t>R</a:t>
                </a:r>
              </a:p>
            </p:txBody>
          </p:sp>
          <p:sp>
            <p:nvSpPr>
              <p:cNvPr id="26663" name="Text Box 22"/>
              <p:cNvSpPr txBox="1"/>
              <p:nvPr/>
            </p:nvSpPr>
            <p:spPr>
              <a:xfrm>
                <a:off x="3552" y="1389"/>
                <a:ext cx="1152" cy="291"/>
              </a:xfrm>
              <a:prstGeom prst="rect">
                <a:avLst/>
              </a:prstGeom>
              <a:noFill/>
              <a:ln w="19050" cap="sq" cmpd="sng">
                <a:solidFill>
                  <a:schemeClr val="tx1"/>
                </a:solidFill>
                <a:prstDash val="solid"/>
                <a:miter/>
                <a:headEnd type="none" w="sm" len="sm"/>
                <a:tailEnd type="none" w="sm" len="sm"/>
              </a:ln>
            </p:spPr>
            <p:txBody>
              <a:bodyPr>
                <a:spAutoFit/>
              </a:bodyPr>
              <a:lstStyle/>
              <a:p>
                <a:pPr>
                  <a:spcBef>
                    <a:spcPct val="50000"/>
                  </a:spcBef>
                </a:pPr>
                <a:r>
                  <a:rPr lang="zh-CN" altLang="en-US" dirty="0">
                    <a:solidFill>
                      <a:srgbClr val="00FF00"/>
                    </a:solidFill>
                    <a:latin typeface="Times New Roman" panose="02020603050405020304" pitchFamily="18" charset="0"/>
                  </a:rPr>
                  <a:t>数据</a:t>
                </a:r>
                <a:r>
                  <a:rPr lang="zh-CN" altLang="en-US" dirty="0">
                    <a:solidFill>
                      <a:srgbClr val="00FF00"/>
                    </a:solidFill>
                    <a:latin typeface="黑体" panose="02010609060101010101" pitchFamily="49" charset="-122"/>
                    <a:ea typeface="黑体" panose="02010609060101010101" pitchFamily="49" charset="-122"/>
                  </a:rPr>
                  <a:t>缓冲器</a:t>
                </a:r>
              </a:p>
            </p:txBody>
          </p:sp>
          <p:sp>
            <p:nvSpPr>
              <p:cNvPr id="26664" name="Text Box 23"/>
              <p:cNvSpPr txBox="1"/>
              <p:nvPr/>
            </p:nvSpPr>
            <p:spPr>
              <a:xfrm>
                <a:off x="3552" y="1775"/>
                <a:ext cx="1152" cy="291"/>
              </a:xfrm>
              <a:prstGeom prst="rect">
                <a:avLst/>
              </a:prstGeom>
              <a:noFill/>
              <a:ln w="19050" cap="sq" cmpd="sng">
                <a:solidFill>
                  <a:schemeClr val="tx1"/>
                </a:solidFill>
                <a:prstDash val="solid"/>
                <a:miter/>
                <a:headEnd type="none" w="sm" len="sm"/>
                <a:tailEnd type="none" w="sm" len="sm"/>
              </a:ln>
            </p:spPr>
            <p:txBody>
              <a:bodyPr>
                <a:spAutoFit/>
              </a:bodyPr>
              <a:lstStyle/>
              <a:p>
                <a:pPr>
                  <a:spcBef>
                    <a:spcPct val="50000"/>
                  </a:spcBef>
                </a:pPr>
                <a:r>
                  <a:rPr lang="en-US" altLang="zh-CN" dirty="0">
                    <a:solidFill>
                      <a:schemeClr val="folHlink"/>
                    </a:solidFill>
                    <a:latin typeface="黑体" panose="02010609060101010101" pitchFamily="49" charset="-122"/>
                    <a:ea typeface="黑体" panose="02010609060101010101" pitchFamily="49" charset="-122"/>
                  </a:rPr>
                  <a:t> </a:t>
                </a:r>
                <a:r>
                  <a:rPr lang="zh-CN" altLang="en-US" dirty="0">
                    <a:solidFill>
                      <a:schemeClr val="folHlink"/>
                    </a:solidFill>
                    <a:latin typeface="黑体" panose="02010609060101010101" pitchFamily="49" charset="-122"/>
                    <a:ea typeface="黑体" panose="02010609060101010101" pitchFamily="49" charset="-122"/>
                  </a:rPr>
                  <a:t>控制逻辑</a:t>
                </a:r>
              </a:p>
            </p:txBody>
          </p:sp>
          <p:sp>
            <p:nvSpPr>
              <p:cNvPr id="26665" name="Text Box 24"/>
              <p:cNvSpPr txBox="1"/>
              <p:nvPr/>
            </p:nvSpPr>
            <p:spPr>
              <a:xfrm>
                <a:off x="2880" y="572"/>
                <a:ext cx="1056" cy="250"/>
              </a:xfrm>
              <a:prstGeom prst="rect">
                <a:avLst/>
              </a:prstGeom>
              <a:noFill/>
              <a:ln w="12700">
                <a:noFill/>
              </a:ln>
            </p:spPr>
            <p:txBody>
              <a:bodyPr>
                <a:spAutoFit/>
              </a:bodyPr>
              <a:lstStyle/>
              <a:p>
                <a:pPr>
                  <a:spcBef>
                    <a:spcPct val="50000"/>
                  </a:spcBef>
                </a:pPr>
                <a:r>
                  <a:rPr lang="zh-CN" altLang="en-US" sz="2000" dirty="0">
                    <a:solidFill>
                      <a:schemeClr val="accent1"/>
                    </a:solidFill>
                    <a:latin typeface="Times New Roman" panose="02020603050405020304" pitchFamily="18" charset="0"/>
                  </a:rPr>
                  <a:t>数据线</a:t>
                </a:r>
              </a:p>
            </p:txBody>
          </p:sp>
          <p:sp>
            <p:nvSpPr>
              <p:cNvPr id="26666" name="Text Box 25"/>
              <p:cNvSpPr txBox="1"/>
              <p:nvPr/>
            </p:nvSpPr>
            <p:spPr>
              <a:xfrm>
                <a:off x="2880" y="935"/>
                <a:ext cx="1056" cy="250"/>
              </a:xfrm>
              <a:prstGeom prst="rect">
                <a:avLst/>
              </a:prstGeom>
              <a:noFill/>
              <a:ln w="12700">
                <a:noFill/>
              </a:ln>
            </p:spPr>
            <p:txBody>
              <a:bodyPr>
                <a:spAutoFit/>
              </a:bodyPr>
              <a:lstStyle/>
              <a:p>
                <a:pPr>
                  <a:spcBef>
                    <a:spcPct val="50000"/>
                  </a:spcBef>
                </a:pPr>
                <a:r>
                  <a:rPr lang="zh-CN" altLang="en-US" sz="2000" dirty="0">
                    <a:solidFill>
                      <a:schemeClr val="accent1"/>
                    </a:solidFill>
                    <a:latin typeface="Times New Roman" panose="02020603050405020304" pitchFamily="18" charset="0"/>
                  </a:rPr>
                  <a:t>数据线</a:t>
                </a:r>
              </a:p>
            </p:txBody>
          </p:sp>
          <p:sp>
            <p:nvSpPr>
              <p:cNvPr id="26667" name="Line 26"/>
              <p:cNvSpPr/>
              <p:nvPr/>
            </p:nvSpPr>
            <p:spPr>
              <a:xfrm flipH="1">
                <a:off x="2880" y="822"/>
                <a:ext cx="672" cy="0"/>
              </a:xfrm>
              <a:prstGeom prst="line">
                <a:avLst/>
              </a:prstGeom>
              <a:ln w="38100" cap="flat" cmpd="sng">
                <a:solidFill>
                  <a:schemeClr val="tx1"/>
                </a:solidFill>
                <a:prstDash val="solid"/>
                <a:headEnd type="triangle" w="med" len="med"/>
                <a:tailEnd type="none" w="med" len="med"/>
              </a:ln>
            </p:spPr>
          </p:sp>
          <p:sp>
            <p:nvSpPr>
              <p:cNvPr id="26668" name="Line 27"/>
              <p:cNvSpPr/>
              <p:nvPr/>
            </p:nvSpPr>
            <p:spPr>
              <a:xfrm flipH="1">
                <a:off x="2880" y="1177"/>
                <a:ext cx="672" cy="0"/>
              </a:xfrm>
              <a:prstGeom prst="line">
                <a:avLst/>
              </a:prstGeom>
              <a:ln w="38100" cap="flat" cmpd="sng">
                <a:solidFill>
                  <a:schemeClr val="tx1"/>
                </a:solidFill>
                <a:prstDash val="solid"/>
                <a:headEnd type="none" w="med" len="med"/>
                <a:tailEnd type="triangle" w="med" len="med"/>
              </a:ln>
            </p:spPr>
          </p:sp>
          <p:sp>
            <p:nvSpPr>
              <p:cNvPr id="26669" name="Line 28"/>
              <p:cNvSpPr/>
              <p:nvPr/>
            </p:nvSpPr>
            <p:spPr>
              <a:xfrm flipH="1">
                <a:off x="2880" y="1563"/>
                <a:ext cx="672" cy="0"/>
              </a:xfrm>
              <a:prstGeom prst="line">
                <a:avLst/>
              </a:prstGeom>
              <a:ln w="38100" cap="flat" cmpd="sng">
                <a:solidFill>
                  <a:schemeClr val="tx1"/>
                </a:solidFill>
                <a:prstDash val="solid"/>
                <a:headEnd type="triangle" w="med" len="med"/>
                <a:tailEnd type="triangle" w="med" len="med"/>
              </a:ln>
            </p:spPr>
          </p:sp>
          <p:sp>
            <p:nvSpPr>
              <p:cNvPr id="26670" name="Text Box 29"/>
              <p:cNvSpPr txBox="1"/>
              <p:nvPr/>
            </p:nvSpPr>
            <p:spPr>
              <a:xfrm>
                <a:off x="2880" y="1298"/>
                <a:ext cx="1056" cy="250"/>
              </a:xfrm>
              <a:prstGeom prst="rect">
                <a:avLst/>
              </a:prstGeom>
              <a:noFill/>
              <a:ln w="12700">
                <a:noFill/>
              </a:ln>
            </p:spPr>
            <p:txBody>
              <a:bodyPr>
                <a:spAutoFit/>
              </a:bodyPr>
              <a:lstStyle/>
              <a:p>
                <a:pPr>
                  <a:spcBef>
                    <a:spcPct val="50000"/>
                  </a:spcBef>
                </a:pPr>
                <a:r>
                  <a:rPr lang="zh-CN" altLang="en-US" sz="2000" dirty="0">
                    <a:solidFill>
                      <a:schemeClr val="accent1"/>
                    </a:solidFill>
                    <a:latin typeface="Times New Roman" panose="02020603050405020304" pitchFamily="18" charset="0"/>
                  </a:rPr>
                  <a:t>数据线</a:t>
                </a:r>
              </a:p>
            </p:txBody>
          </p:sp>
          <p:sp>
            <p:nvSpPr>
              <p:cNvPr id="26671" name="Text Box 30"/>
              <p:cNvSpPr txBox="1"/>
              <p:nvPr/>
            </p:nvSpPr>
            <p:spPr>
              <a:xfrm>
                <a:off x="3588" y="2379"/>
                <a:ext cx="1152" cy="288"/>
              </a:xfrm>
              <a:prstGeom prst="rect">
                <a:avLst/>
              </a:prstGeom>
              <a:noFill/>
              <a:ln w="38100">
                <a:noFill/>
              </a:ln>
            </p:spPr>
            <p:txBody>
              <a:bodyPr>
                <a:spAutoFit/>
              </a:bodyPr>
              <a:lstStyle/>
              <a:p>
                <a:pPr>
                  <a:spcBef>
                    <a:spcPct val="50000"/>
                  </a:spcBef>
                </a:pPr>
                <a:r>
                  <a:rPr lang="zh-CN" altLang="en-US" dirty="0">
                    <a:latin typeface="黑体" panose="02010609060101010101" pitchFamily="49" charset="-122"/>
                    <a:ea typeface="黑体" panose="02010609060101010101" pitchFamily="49" charset="-122"/>
                  </a:rPr>
                  <a:t>中断控制器</a:t>
                </a:r>
              </a:p>
            </p:txBody>
          </p:sp>
          <p:sp>
            <p:nvSpPr>
              <p:cNvPr id="26672" name="Line 31"/>
              <p:cNvSpPr/>
              <p:nvPr/>
            </p:nvSpPr>
            <p:spPr>
              <a:xfrm flipH="1">
                <a:off x="2895" y="2372"/>
                <a:ext cx="658" cy="0"/>
              </a:xfrm>
              <a:prstGeom prst="line">
                <a:avLst/>
              </a:prstGeom>
              <a:ln w="19050" cap="flat" cmpd="sng">
                <a:solidFill>
                  <a:schemeClr val="tx1"/>
                </a:solidFill>
                <a:prstDash val="solid"/>
                <a:headEnd type="none" w="med" len="med"/>
                <a:tailEnd type="arrow" w="med" len="med"/>
              </a:ln>
            </p:spPr>
          </p:sp>
          <p:sp>
            <p:nvSpPr>
              <p:cNvPr id="26673" name="Line 32"/>
              <p:cNvSpPr/>
              <p:nvPr/>
            </p:nvSpPr>
            <p:spPr>
              <a:xfrm flipH="1">
                <a:off x="2903" y="2576"/>
                <a:ext cx="658" cy="0"/>
              </a:xfrm>
              <a:prstGeom prst="line">
                <a:avLst/>
              </a:prstGeom>
              <a:ln w="19050" cap="flat" cmpd="sng">
                <a:solidFill>
                  <a:schemeClr val="tx1"/>
                </a:solidFill>
                <a:prstDash val="solid"/>
                <a:headEnd type="arrow" w="med" len="med"/>
                <a:tailEnd type="none" w="med" len="med"/>
              </a:ln>
            </p:spPr>
          </p:sp>
          <p:sp>
            <p:nvSpPr>
              <p:cNvPr id="26674" name="Line 33"/>
              <p:cNvSpPr/>
              <p:nvPr/>
            </p:nvSpPr>
            <p:spPr>
              <a:xfrm flipH="1">
                <a:off x="2903" y="2765"/>
                <a:ext cx="658" cy="0"/>
              </a:xfrm>
              <a:prstGeom prst="line">
                <a:avLst/>
              </a:prstGeom>
              <a:ln w="19050" cap="flat" cmpd="sng">
                <a:solidFill>
                  <a:schemeClr val="tx1"/>
                </a:solidFill>
                <a:prstDash val="solid"/>
                <a:headEnd type="arrow" w="med" len="med"/>
                <a:tailEnd type="arrow" w="med" len="med"/>
              </a:ln>
            </p:spPr>
          </p:sp>
          <p:sp>
            <p:nvSpPr>
              <p:cNvPr id="26675" name="Text Box 34"/>
              <p:cNvSpPr txBox="1"/>
              <p:nvPr/>
            </p:nvSpPr>
            <p:spPr>
              <a:xfrm>
                <a:off x="2971" y="2160"/>
                <a:ext cx="431" cy="250"/>
              </a:xfrm>
              <a:prstGeom prst="rect">
                <a:avLst/>
              </a:prstGeom>
              <a:noFill/>
              <a:ln w="12700">
                <a:noFill/>
              </a:ln>
            </p:spPr>
            <p:txBody>
              <a:bodyPr>
                <a:spAutoFit/>
              </a:bodyPr>
              <a:lstStyle/>
              <a:p>
                <a:pPr>
                  <a:spcBef>
                    <a:spcPct val="50000"/>
                  </a:spcBef>
                </a:pPr>
                <a:r>
                  <a:rPr lang="en-US" altLang="zh-CN" sz="2000" dirty="0">
                    <a:solidFill>
                      <a:schemeClr val="accent1"/>
                    </a:solidFill>
                    <a:latin typeface="Times New Roman" panose="02020603050405020304" pitchFamily="18" charset="0"/>
                  </a:rPr>
                  <a:t>INT</a:t>
                </a:r>
              </a:p>
            </p:txBody>
          </p:sp>
          <p:sp>
            <p:nvSpPr>
              <p:cNvPr id="26676" name="Text Box 35"/>
              <p:cNvSpPr txBox="1"/>
              <p:nvPr/>
            </p:nvSpPr>
            <p:spPr>
              <a:xfrm>
                <a:off x="2971" y="2364"/>
                <a:ext cx="544" cy="250"/>
              </a:xfrm>
              <a:prstGeom prst="rect">
                <a:avLst/>
              </a:prstGeom>
              <a:noFill/>
              <a:ln w="12700">
                <a:noFill/>
              </a:ln>
            </p:spPr>
            <p:txBody>
              <a:bodyPr>
                <a:spAutoFit/>
              </a:bodyPr>
              <a:lstStyle/>
              <a:p>
                <a:pPr>
                  <a:spcBef>
                    <a:spcPct val="50000"/>
                  </a:spcBef>
                </a:pPr>
                <a:r>
                  <a:rPr lang="en-US" altLang="zh-CN" sz="2000" dirty="0">
                    <a:solidFill>
                      <a:schemeClr val="accent1"/>
                    </a:solidFill>
                    <a:latin typeface="Times New Roman" panose="02020603050405020304" pitchFamily="18" charset="0"/>
                  </a:rPr>
                  <a:t>INTA</a:t>
                </a:r>
              </a:p>
            </p:txBody>
          </p:sp>
          <p:sp>
            <p:nvSpPr>
              <p:cNvPr id="26677" name="Line 36"/>
              <p:cNvSpPr/>
              <p:nvPr/>
            </p:nvSpPr>
            <p:spPr>
              <a:xfrm flipH="1">
                <a:off x="4704" y="814"/>
                <a:ext cx="499" cy="0"/>
              </a:xfrm>
              <a:prstGeom prst="line">
                <a:avLst/>
              </a:prstGeom>
              <a:ln w="38100" cap="flat" cmpd="sng">
                <a:solidFill>
                  <a:schemeClr val="tx1"/>
                </a:solidFill>
                <a:prstDash val="solid"/>
                <a:headEnd type="triangle" w="med" len="med"/>
                <a:tailEnd type="none" w="med" len="med"/>
              </a:ln>
            </p:spPr>
          </p:sp>
          <p:sp>
            <p:nvSpPr>
              <p:cNvPr id="26678" name="Text Box 37"/>
              <p:cNvSpPr txBox="1"/>
              <p:nvPr/>
            </p:nvSpPr>
            <p:spPr>
              <a:xfrm>
                <a:off x="4801" y="565"/>
                <a:ext cx="567" cy="250"/>
              </a:xfrm>
              <a:prstGeom prst="rect">
                <a:avLst/>
              </a:prstGeom>
              <a:noFill/>
              <a:ln w="12700">
                <a:noFill/>
              </a:ln>
            </p:spPr>
            <p:txBody>
              <a:bodyPr>
                <a:spAutoFit/>
              </a:bodyPr>
              <a:lstStyle/>
              <a:p>
                <a:pPr>
                  <a:spcBef>
                    <a:spcPct val="50000"/>
                  </a:spcBef>
                </a:pPr>
                <a:r>
                  <a:rPr lang="zh-CN" altLang="en-US" sz="2000" dirty="0">
                    <a:solidFill>
                      <a:schemeClr val="accent1"/>
                    </a:solidFill>
                    <a:latin typeface="Times New Roman" panose="02020603050405020304" pitchFamily="18" charset="0"/>
                  </a:rPr>
                  <a:t>命令</a:t>
                </a:r>
              </a:p>
            </p:txBody>
          </p:sp>
          <p:sp>
            <p:nvSpPr>
              <p:cNvPr id="26679" name="Line 38"/>
              <p:cNvSpPr/>
              <p:nvPr/>
            </p:nvSpPr>
            <p:spPr>
              <a:xfrm flipH="1">
                <a:off x="4704" y="1177"/>
                <a:ext cx="528" cy="0"/>
              </a:xfrm>
              <a:prstGeom prst="line">
                <a:avLst/>
              </a:prstGeom>
              <a:ln w="38100" cap="flat" cmpd="sng">
                <a:solidFill>
                  <a:schemeClr val="tx1"/>
                </a:solidFill>
                <a:prstDash val="solid"/>
                <a:headEnd type="none" w="med" len="med"/>
                <a:tailEnd type="triangle" w="med" len="med"/>
              </a:ln>
            </p:spPr>
          </p:sp>
          <p:sp>
            <p:nvSpPr>
              <p:cNvPr id="26680" name="Line 39"/>
              <p:cNvSpPr/>
              <p:nvPr/>
            </p:nvSpPr>
            <p:spPr>
              <a:xfrm flipH="1">
                <a:off x="4704" y="1578"/>
                <a:ext cx="499" cy="0"/>
              </a:xfrm>
              <a:prstGeom prst="line">
                <a:avLst/>
              </a:prstGeom>
              <a:ln w="38100" cap="flat" cmpd="sng">
                <a:solidFill>
                  <a:schemeClr val="tx1"/>
                </a:solidFill>
                <a:prstDash val="solid"/>
                <a:headEnd type="triangle" w="med" len="med"/>
                <a:tailEnd type="triangle" w="med" len="med"/>
              </a:ln>
            </p:spPr>
          </p:sp>
          <p:sp>
            <p:nvSpPr>
              <p:cNvPr id="26681" name="Line 40"/>
              <p:cNvSpPr/>
              <p:nvPr/>
            </p:nvSpPr>
            <p:spPr>
              <a:xfrm flipH="1">
                <a:off x="4704" y="2523"/>
                <a:ext cx="192" cy="0"/>
              </a:xfrm>
              <a:prstGeom prst="line">
                <a:avLst/>
              </a:prstGeom>
              <a:ln w="38100" cap="flat" cmpd="sng">
                <a:solidFill>
                  <a:schemeClr val="tx1"/>
                </a:solidFill>
                <a:prstDash val="solid"/>
                <a:headEnd type="none" w="med" len="med"/>
                <a:tailEnd type="triangle" w="med" len="med"/>
              </a:ln>
            </p:spPr>
          </p:sp>
          <p:sp>
            <p:nvSpPr>
              <p:cNvPr id="26682" name="Line 41"/>
              <p:cNvSpPr/>
              <p:nvPr/>
            </p:nvSpPr>
            <p:spPr>
              <a:xfrm flipH="1">
                <a:off x="4704" y="2704"/>
                <a:ext cx="288" cy="0"/>
              </a:xfrm>
              <a:prstGeom prst="line">
                <a:avLst/>
              </a:prstGeom>
              <a:ln w="38100" cap="flat" cmpd="sng">
                <a:solidFill>
                  <a:schemeClr val="tx1"/>
                </a:solidFill>
                <a:prstDash val="solid"/>
                <a:headEnd type="none" w="med" len="med"/>
                <a:tailEnd type="triangle" w="med" len="med"/>
              </a:ln>
            </p:spPr>
          </p:sp>
          <p:sp>
            <p:nvSpPr>
              <p:cNvPr id="26683" name="Text Box 42"/>
              <p:cNvSpPr txBox="1"/>
              <p:nvPr/>
            </p:nvSpPr>
            <p:spPr>
              <a:xfrm>
                <a:off x="4967" y="2568"/>
                <a:ext cx="680" cy="250"/>
              </a:xfrm>
              <a:prstGeom prst="rect">
                <a:avLst/>
              </a:prstGeom>
              <a:noFill/>
              <a:ln w="12700">
                <a:noFill/>
              </a:ln>
            </p:spPr>
            <p:txBody>
              <a:bodyPr>
                <a:spAutoFit/>
              </a:bodyPr>
              <a:lstStyle/>
              <a:p>
                <a:pPr>
                  <a:spcBef>
                    <a:spcPct val="50000"/>
                  </a:spcBef>
                </a:pPr>
                <a:r>
                  <a:rPr lang="en-US" altLang="zh-CN" sz="2000" dirty="0">
                    <a:solidFill>
                      <a:schemeClr val="folHlink"/>
                    </a:solidFill>
                    <a:latin typeface="Times New Roman" panose="02020603050405020304" pitchFamily="18" charset="0"/>
                  </a:rPr>
                  <a:t>IRQ7</a:t>
                </a:r>
              </a:p>
            </p:txBody>
          </p:sp>
          <p:sp>
            <p:nvSpPr>
              <p:cNvPr id="26684" name="Text Box 43"/>
              <p:cNvSpPr txBox="1"/>
              <p:nvPr/>
            </p:nvSpPr>
            <p:spPr>
              <a:xfrm>
                <a:off x="4801" y="912"/>
                <a:ext cx="816" cy="250"/>
              </a:xfrm>
              <a:prstGeom prst="rect">
                <a:avLst/>
              </a:prstGeom>
              <a:noFill/>
              <a:ln w="12700">
                <a:noFill/>
              </a:ln>
            </p:spPr>
            <p:txBody>
              <a:bodyPr>
                <a:spAutoFit/>
              </a:bodyPr>
              <a:lstStyle/>
              <a:p>
                <a:pPr>
                  <a:spcBef>
                    <a:spcPct val="50000"/>
                  </a:spcBef>
                </a:pPr>
                <a:r>
                  <a:rPr lang="zh-CN" altLang="en-US" sz="2000" dirty="0">
                    <a:solidFill>
                      <a:schemeClr val="accent1"/>
                    </a:solidFill>
                    <a:latin typeface="Times New Roman" panose="02020603050405020304" pitchFamily="18" charset="0"/>
                  </a:rPr>
                  <a:t>状态</a:t>
                </a:r>
              </a:p>
            </p:txBody>
          </p:sp>
          <p:sp>
            <p:nvSpPr>
              <p:cNvPr id="26685" name="Text Box 44"/>
              <p:cNvSpPr txBox="1"/>
              <p:nvPr/>
            </p:nvSpPr>
            <p:spPr>
              <a:xfrm>
                <a:off x="4801" y="1298"/>
                <a:ext cx="567" cy="250"/>
              </a:xfrm>
              <a:prstGeom prst="rect">
                <a:avLst/>
              </a:prstGeom>
              <a:noFill/>
              <a:ln w="12700">
                <a:noFill/>
              </a:ln>
            </p:spPr>
            <p:txBody>
              <a:bodyPr>
                <a:spAutoFit/>
              </a:bodyPr>
              <a:lstStyle/>
              <a:p>
                <a:pPr>
                  <a:spcBef>
                    <a:spcPct val="50000"/>
                  </a:spcBef>
                </a:pPr>
                <a:r>
                  <a:rPr lang="zh-CN" altLang="en-US" sz="2000" dirty="0">
                    <a:solidFill>
                      <a:schemeClr val="accent1"/>
                    </a:solidFill>
                    <a:latin typeface="Times New Roman" panose="02020603050405020304" pitchFamily="18" charset="0"/>
                  </a:rPr>
                  <a:t>数据</a:t>
                </a:r>
              </a:p>
            </p:txBody>
          </p:sp>
          <p:sp>
            <p:nvSpPr>
              <p:cNvPr id="26686" name="Text Box 45"/>
              <p:cNvSpPr txBox="1"/>
              <p:nvPr/>
            </p:nvSpPr>
            <p:spPr>
              <a:xfrm>
                <a:off x="5208" y="827"/>
                <a:ext cx="385" cy="1152"/>
              </a:xfrm>
              <a:prstGeom prst="rect">
                <a:avLst/>
              </a:prstGeom>
              <a:noFill/>
              <a:ln w="12700">
                <a:noFill/>
              </a:ln>
            </p:spPr>
            <p:txBody>
              <a:bodyPr vert="eaVert">
                <a:spAutoFit/>
              </a:bodyPr>
              <a:lstStyle/>
              <a:p>
                <a:pPr>
                  <a:spcBef>
                    <a:spcPct val="50000"/>
                  </a:spcBef>
                </a:pPr>
                <a:r>
                  <a:rPr lang="zh-CN" altLang="en-US" sz="2800" dirty="0">
                    <a:latin typeface="黑体" panose="02010609060101010101" pitchFamily="49" charset="-122"/>
                    <a:ea typeface="黑体" panose="02010609060101010101" pitchFamily="49" charset="-122"/>
                  </a:rPr>
                  <a:t>外部设备</a:t>
                </a:r>
              </a:p>
            </p:txBody>
          </p:sp>
          <p:sp>
            <p:nvSpPr>
              <p:cNvPr id="26687" name="Text Box 46"/>
              <p:cNvSpPr txBox="1"/>
              <p:nvPr/>
            </p:nvSpPr>
            <p:spPr>
              <a:xfrm>
                <a:off x="2496" y="672"/>
                <a:ext cx="385" cy="1200"/>
              </a:xfrm>
              <a:prstGeom prst="rect">
                <a:avLst/>
              </a:prstGeom>
              <a:noFill/>
              <a:ln w="12700">
                <a:noFill/>
              </a:ln>
            </p:spPr>
            <p:txBody>
              <a:bodyPr vert="eaVert">
                <a:spAutoFit/>
              </a:bodyPr>
              <a:lstStyle/>
              <a:p>
                <a:pPr>
                  <a:spcBef>
                    <a:spcPct val="50000"/>
                  </a:spcBef>
                </a:pPr>
                <a:r>
                  <a:rPr lang="zh-CN" altLang="en-US" sz="2800" dirty="0">
                    <a:latin typeface="黑体" panose="02010609060101010101" pitchFamily="49" charset="-122"/>
                    <a:ea typeface="黑体" panose="02010609060101010101" pitchFamily="49" charset="-122"/>
                  </a:rPr>
                  <a:t>系统总线</a:t>
                </a:r>
              </a:p>
            </p:txBody>
          </p:sp>
          <p:sp>
            <p:nvSpPr>
              <p:cNvPr id="26688" name="Text Box 50"/>
              <p:cNvSpPr txBox="1"/>
              <p:nvPr/>
            </p:nvSpPr>
            <p:spPr>
              <a:xfrm>
                <a:off x="4899" y="1888"/>
                <a:ext cx="635" cy="250"/>
              </a:xfrm>
              <a:prstGeom prst="rect">
                <a:avLst/>
              </a:prstGeom>
              <a:noFill/>
              <a:ln w="12700">
                <a:noFill/>
              </a:ln>
            </p:spPr>
            <p:txBody>
              <a:bodyPr>
                <a:spAutoFit/>
              </a:bodyPr>
              <a:lstStyle/>
              <a:p>
                <a:pPr>
                  <a:spcBef>
                    <a:spcPct val="50000"/>
                  </a:spcBef>
                </a:pPr>
                <a:r>
                  <a:rPr lang="en-US" altLang="zh-CN" sz="2000" dirty="0">
                    <a:solidFill>
                      <a:srgbClr val="FFFF00"/>
                    </a:solidFill>
                    <a:latin typeface="Times New Roman" panose="02020603050405020304" pitchFamily="18" charset="0"/>
                  </a:rPr>
                  <a:t>IRQi</a:t>
                </a:r>
              </a:p>
            </p:txBody>
          </p:sp>
          <p:sp>
            <p:nvSpPr>
              <p:cNvPr id="26689" name="Line 5"/>
              <p:cNvSpPr/>
              <p:nvPr/>
            </p:nvSpPr>
            <p:spPr>
              <a:xfrm>
                <a:off x="2880" y="192"/>
                <a:ext cx="0" cy="3560"/>
              </a:xfrm>
              <a:prstGeom prst="line">
                <a:avLst/>
              </a:prstGeom>
              <a:ln w="76200" cap="flat" cmpd="sng">
                <a:solidFill>
                  <a:schemeClr val="accent1"/>
                </a:solidFill>
                <a:prstDash val="solid"/>
                <a:headEnd type="none" w="med" len="med"/>
                <a:tailEnd type="none" w="med" len="med"/>
              </a:ln>
            </p:spPr>
          </p:sp>
        </p:grpSp>
        <p:sp>
          <p:nvSpPr>
            <p:cNvPr id="26636" name="Line 60"/>
            <p:cNvSpPr/>
            <p:nvPr/>
          </p:nvSpPr>
          <p:spPr>
            <a:xfrm>
              <a:off x="5508625" y="4605338"/>
              <a:ext cx="2159000" cy="0"/>
            </a:xfrm>
            <a:prstGeom prst="line">
              <a:avLst/>
            </a:prstGeom>
            <a:ln w="38100" cap="rnd" cmpd="sng">
              <a:solidFill>
                <a:schemeClr val="accent1"/>
              </a:solidFill>
              <a:prstDash val="sysDot"/>
              <a:headEnd type="none" w="med" len="med"/>
              <a:tailEnd type="none" w="med" len="med"/>
            </a:ln>
          </p:spPr>
        </p:sp>
        <p:sp>
          <p:nvSpPr>
            <p:cNvPr id="26637" name="Line 61"/>
            <p:cNvSpPr/>
            <p:nvPr/>
          </p:nvSpPr>
          <p:spPr>
            <a:xfrm>
              <a:off x="5484813" y="320675"/>
              <a:ext cx="0" cy="4321175"/>
            </a:xfrm>
            <a:prstGeom prst="line">
              <a:avLst/>
            </a:prstGeom>
            <a:ln w="38100" cap="rnd" cmpd="sng">
              <a:solidFill>
                <a:schemeClr val="accent1"/>
              </a:solidFill>
              <a:prstDash val="sysDot"/>
              <a:headEnd type="none" w="med" len="med"/>
              <a:tailEnd type="none" w="med" len="med"/>
            </a:ln>
          </p:spPr>
        </p:sp>
        <p:sp>
          <p:nvSpPr>
            <p:cNvPr id="26638" name="Line 62"/>
            <p:cNvSpPr/>
            <p:nvPr/>
          </p:nvSpPr>
          <p:spPr>
            <a:xfrm>
              <a:off x="5508625" y="307975"/>
              <a:ext cx="2159000" cy="0"/>
            </a:xfrm>
            <a:prstGeom prst="line">
              <a:avLst/>
            </a:prstGeom>
            <a:ln w="38100" cap="rnd" cmpd="sng">
              <a:solidFill>
                <a:schemeClr val="accent1"/>
              </a:solidFill>
              <a:prstDash val="sysDot"/>
              <a:headEnd type="none" w="med" len="med"/>
              <a:tailEnd type="none" w="med" len="med"/>
            </a:ln>
          </p:spPr>
        </p:sp>
        <p:sp>
          <p:nvSpPr>
            <p:cNvPr id="26639" name="Line 63"/>
            <p:cNvSpPr/>
            <p:nvPr/>
          </p:nvSpPr>
          <p:spPr>
            <a:xfrm>
              <a:off x="7667625" y="320675"/>
              <a:ext cx="0" cy="4284663"/>
            </a:xfrm>
            <a:prstGeom prst="line">
              <a:avLst/>
            </a:prstGeom>
            <a:ln w="38100" cap="rnd" cmpd="sng">
              <a:solidFill>
                <a:schemeClr val="accent1"/>
              </a:solidFill>
              <a:prstDash val="sysDot"/>
              <a:headEnd type="none" w="med" len="med"/>
              <a:tailEnd type="none" w="med" len="med"/>
            </a:ln>
          </p:spPr>
        </p:sp>
        <p:sp>
          <p:nvSpPr>
            <p:cNvPr id="26640" name="Text Box 57"/>
            <p:cNvSpPr txBox="1"/>
            <p:nvPr/>
          </p:nvSpPr>
          <p:spPr>
            <a:xfrm>
              <a:off x="5638800" y="4816475"/>
              <a:ext cx="838200" cy="461963"/>
            </a:xfrm>
            <a:prstGeom prst="rect">
              <a:avLst/>
            </a:prstGeom>
            <a:solidFill>
              <a:schemeClr val="bg1"/>
            </a:solidFill>
            <a:ln w="38100" cap="flat" cmpd="sng">
              <a:solidFill>
                <a:schemeClr val="tx1"/>
              </a:solidFill>
              <a:prstDash val="solid"/>
              <a:miter/>
              <a:headEnd type="none" w="med" len="med"/>
              <a:tailEnd type="none" w="med" len="med"/>
            </a:ln>
          </p:spPr>
          <p:txBody>
            <a:bodyPr>
              <a:spAutoFit/>
            </a:bodyPr>
            <a:lstStyle/>
            <a:p>
              <a:pPr>
                <a:spcBef>
                  <a:spcPct val="50000"/>
                </a:spcBef>
              </a:pPr>
              <a:r>
                <a:rPr lang="en-US" altLang="zh-CN" dirty="0">
                  <a:solidFill>
                    <a:schemeClr val="folHlink"/>
                  </a:solidFill>
                  <a:latin typeface="黑体" panose="02010609060101010101" pitchFamily="49" charset="-122"/>
                  <a:ea typeface="黑体" panose="02010609060101010101" pitchFamily="49" charset="-122"/>
                </a:rPr>
                <a:t> </a:t>
              </a:r>
              <a:r>
                <a:rPr lang="en-US" altLang="zh-CN" dirty="0">
                  <a:solidFill>
                    <a:schemeClr val="folHlink"/>
                  </a:solidFill>
                  <a:latin typeface="Times New Roman" panose="02020603050405020304" pitchFamily="18" charset="0"/>
                  <a:ea typeface="黑体" panose="02010609060101010101" pitchFamily="49" charset="-122"/>
                </a:rPr>
                <a:t>M</a:t>
              </a:r>
            </a:p>
          </p:txBody>
        </p:sp>
        <p:sp>
          <p:nvSpPr>
            <p:cNvPr id="138" name="Text Box 58"/>
            <p:cNvSpPr txBox="1">
              <a:spLocks noChangeArrowheads="1"/>
            </p:cNvSpPr>
            <p:nvPr/>
          </p:nvSpPr>
          <p:spPr bwMode="auto">
            <a:xfrm>
              <a:off x="5638800" y="5464175"/>
              <a:ext cx="838200" cy="461963"/>
            </a:xfrm>
            <a:prstGeom prst="rect">
              <a:avLst/>
            </a:prstGeom>
            <a:solidFill>
              <a:schemeClr val="bg1"/>
            </a:solidFill>
            <a:ln w="38100">
              <a:solidFill>
                <a:schemeClr val="tx1"/>
              </a:solidFill>
              <a:miter lim="800000"/>
            </a:ln>
          </p:spPr>
          <p:txBody>
            <a:bodyPr>
              <a:spAutoFit/>
            </a:bodyPr>
            <a:lstStyle/>
            <a:p>
              <a:pPr marR="0" algn="ctr" defTabSz="914400">
                <a:spcBef>
                  <a:spcPct val="50000"/>
                </a:spcBef>
                <a:buClrTx/>
                <a:buSzTx/>
                <a:buFontTx/>
                <a:buNone/>
                <a:defRPr/>
              </a:pPr>
              <a:r>
                <a:rPr kumimoji="1" lang="en-US" altLang="zh-CN" kern="1200" cap="none" spc="0" normalizeH="0" baseline="0" noProof="0">
                  <a:solidFill>
                    <a:schemeClr val="folHlink"/>
                  </a:solidFill>
                  <a:latin typeface="+mn-lt"/>
                  <a:ea typeface="Verdana" panose="020B0604030504040204" pitchFamily="34" charset="0"/>
                  <a:cs typeface="Verdana" panose="020B0604030504040204" pitchFamily="34" charset="0"/>
                </a:rPr>
                <a:t>CPU</a:t>
              </a:r>
            </a:p>
          </p:txBody>
        </p:sp>
        <p:sp>
          <p:nvSpPr>
            <p:cNvPr id="26642" name="Line 60"/>
            <p:cNvSpPr/>
            <p:nvPr/>
          </p:nvSpPr>
          <p:spPr>
            <a:xfrm>
              <a:off x="5508625" y="4605338"/>
              <a:ext cx="2159000" cy="0"/>
            </a:xfrm>
            <a:prstGeom prst="line">
              <a:avLst/>
            </a:prstGeom>
            <a:ln w="38100" cap="rnd" cmpd="sng">
              <a:solidFill>
                <a:schemeClr val="accent1"/>
              </a:solidFill>
              <a:prstDash val="sysDot"/>
              <a:headEnd type="none" w="med" len="med"/>
              <a:tailEnd type="none" w="med" len="med"/>
            </a:ln>
          </p:spPr>
        </p:sp>
        <p:sp>
          <p:nvSpPr>
            <p:cNvPr id="26643" name="Line 65"/>
            <p:cNvSpPr/>
            <p:nvPr/>
          </p:nvSpPr>
          <p:spPr>
            <a:xfrm>
              <a:off x="4595813" y="5084763"/>
              <a:ext cx="1008062" cy="0"/>
            </a:xfrm>
            <a:prstGeom prst="line">
              <a:avLst/>
            </a:prstGeom>
            <a:ln w="38100" cap="flat" cmpd="sng">
              <a:solidFill>
                <a:schemeClr val="tx1"/>
              </a:solidFill>
              <a:prstDash val="solid"/>
              <a:headEnd type="triangle" w="med" len="med"/>
              <a:tailEnd type="triangle" w="med" len="med"/>
            </a:ln>
          </p:spPr>
        </p:sp>
        <p:sp>
          <p:nvSpPr>
            <p:cNvPr id="26644" name="Line 66"/>
            <p:cNvSpPr/>
            <p:nvPr/>
          </p:nvSpPr>
          <p:spPr>
            <a:xfrm>
              <a:off x="4608513" y="5705475"/>
              <a:ext cx="1008062" cy="0"/>
            </a:xfrm>
            <a:prstGeom prst="line">
              <a:avLst/>
            </a:prstGeom>
            <a:ln w="38100" cap="flat" cmpd="sng">
              <a:solidFill>
                <a:schemeClr val="tx1"/>
              </a:solidFill>
              <a:prstDash val="solid"/>
              <a:headEnd type="triangle" w="med" len="med"/>
              <a:tailEnd type="triangle" w="med" len="med"/>
            </a:ln>
          </p:spPr>
        </p:sp>
        <p:sp>
          <p:nvSpPr>
            <p:cNvPr id="26645" name="Text Box 67"/>
            <p:cNvSpPr txBox="1"/>
            <p:nvPr/>
          </p:nvSpPr>
          <p:spPr>
            <a:xfrm>
              <a:off x="6804025" y="5157788"/>
              <a:ext cx="1512888" cy="519112"/>
            </a:xfrm>
            <a:prstGeom prst="rect">
              <a:avLst/>
            </a:prstGeom>
            <a:noFill/>
            <a:ln w="9525">
              <a:noFill/>
            </a:ln>
          </p:spPr>
          <p:txBody>
            <a:bodyPr>
              <a:spAutoFit/>
            </a:bodyPr>
            <a:lstStyle/>
            <a:p>
              <a:pPr>
                <a:spcBef>
                  <a:spcPct val="50000"/>
                </a:spcBef>
              </a:pPr>
              <a:r>
                <a:rPr lang="zh-CN" altLang="en-US" sz="2800" dirty="0">
                  <a:solidFill>
                    <a:schemeClr val="folHlink"/>
                  </a:solidFill>
                  <a:latin typeface="Times New Roman" panose="02020603050405020304" pitchFamily="18" charset="0"/>
                  <a:ea typeface="黑体" panose="02010609060101010101" pitchFamily="49" charset="-122"/>
                </a:rPr>
                <a:t>主机</a:t>
              </a:r>
            </a:p>
          </p:txBody>
        </p:sp>
        <p:sp>
          <p:nvSpPr>
            <p:cNvPr id="26646" name="Line 13"/>
            <p:cNvSpPr/>
            <p:nvPr/>
          </p:nvSpPr>
          <p:spPr>
            <a:xfrm>
              <a:off x="4356100" y="3381375"/>
              <a:ext cx="4248150" cy="0"/>
            </a:xfrm>
            <a:prstGeom prst="line">
              <a:avLst/>
            </a:prstGeom>
            <a:ln w="38100" cap="rnd" cmpd="sng">
              <a:solidFill>
                <a:schemeClr val="tx2"/>
              </a:solidFill>
              <a:prstDash val="sysDot"/>
              <a:headEnd type="none" w="med" len="med"/>
              <a:tailEnd type="none" w="med" len="med"/>
            </a:ln>
          </p:spPr>
        </p:sp>
      </p:grpSp>
    </p:spTree>
  </p:cSld>
  <p:clrMapOvr>
    <a:masterClrMapping/>
  </p:clrMapOvr>
  <p:transition>
    <p:cover dir="l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Text Box 3"/>
          <p:cNvSpPr txBox="1"/>
          <p:nvPr/>
        </p:nvSpPr>
        <p:spPr>
          <a:xfrm>
            <a:off x="-34925" y="796925"/>
            <a:ext cx="8639175" cy="488950"/>
          </a:xfrm>
          <a:prstGeom prst="rect">
            <a:avLst/>
          </a:prstGeom>
          <a:noFill/>
          <a:ln w="12700">
            <a:noFill/>
          </a:ln>
        </p:spPr>
        <p:txBody>
          <a:bodyPr>
            <a:spAutoFit/>
          </a:bodyPr>
          <a:lstStyle/>
          <a:p>
            <a:pPr>
              <a:spcBef>
                <a:spcPct val="50000"/>
              </a:spcBef>
            </a:pPr>
            <a:r>
              <a:rPr lang="en-US" altLang="zh-CN" sz="2600" dirty="0">
                <a:solidFill>
                  <a:srgbClr val="00FFFF"/>
                </a:solidFill>
                <a:latin typeface="黑体" panose="02010609060101010101" pitchFamily="49" charset="-122"/>
                <a:ea typeface="黑体" panose="02010609060101010101" pitchFamily="49" charset="-122"/>
              </a:rPr>
              <a:t>【</a:t>
            </a:r>
            <a:r>
              <a:rPr lang="zh-CN" altLang="en-US" sz="2600" dirty="0">
                <a:solidFill>
                  <a:srgbClr val="00FFFF"/>
                </a:solidFill>
                <a:latin typeface="黑体" panose="02010609060101010101" pitchFamily="49" charset="-122"/>
                <a:ea typeface="黑体" panose="02010609060101010101" pitchFamily="49" charset="-122"/>
              </a:rPr>
              <a:t>例子</a:t>
            </a:r>
            <a:r>
              <a:rPr lang="en-US" altLang="zh-CN" sz="2600" dirty="0">
                <a:solidFill>
                  <a:srgbClr val="00FFFF"/>
                </a:solidFill>
                <a:latin typeface="黑体" panose="02010609060101010101" pitchFamily="49" charset="-122"/>
                <a:ea typeface="黑体" panose="02010609060101010101" pitchFamily="49" charset="-122"/>
              </a:rPr>
              <a:t>】</a:t>
            </a:r>
            <a:r>
              <a:rPr lang="zh-CN" altLang="en-US" sz="2600" dirty="0">
                <a:latin typeface="黑体" panose="02010609060101010101" pitchFamily="49" charset="-122"/>
                <a:ea typeface="黑体" panose="02010609060101010101" pitchFamily="49" charset="-122"/>
              </a:rPr>
              <a:t>模型机需扩展</a:t>
            </a:r>
            <a:r>
              <a:rPr lang="zh-CN" altLang="en-US" sz="2600" dirty="0">
                <a:solidFill>
                  <a:schemeClr val="folHlink"/>
                </a:solidFill>
                <a:latin typeface="黑体" panose="02010609060101010101" pitchFamily="49" charset="-122"/>
                <a:ea typeface="黑体" panose="02010609060101010101" pitchFamily="49" charset="-122"/>
              </a:rPr>
              <a:t>两个外中断源</a:t>
            </a:r>
            <a:r>
              <a:rPr lang="zh-CN" altLang="en-US" sz="2600" dirty="0">
                <a:latin typeface="黑体" panose="02010609060101010101" pitchFamily="49" charset="-122"/>
                <a:ea typeface="黑体" panose="02010609060101010101" pitchFamily="49" charset="-122"/>
              </a:rPr>
              <a:t>，共用一个中断号。</a:t>
            </a:r>
          </a:p>
        </p:txBody>
      </p:sp>
      <p:sp>
        <p:nvSpPr>
          <p:cNvPr id="25604" name="Text Box 4"/>
          <p:cNvSpPr txBox="1"/>
          <p:nvPr/>
        </p:nvSpPr>
        <p:spPr>
          <a:xfrm>
            <a:off x="107950" y="115888"/>
            <a:ext cx="4724400" cy="579437"/>
          </a:xfrm>
          <a:prstGeom prst="rect">
            <a:avLst/>
          </a:prstGeom>
          <a:noFill/>
          <a:ln w="12700">
            <a:noFill/>
          </a:ln>
        </p:spPr>
        <p:txBody>
          <a:bodyPr>
            <a:spAutoFit/>
          </a:bodyPr>
          <a:lstStyle/>
          <a:p>
            <a:pPr>
              <a:spcBef>
                <a:spcPct val="50000"/>
              </a:spcBef>
            </a:pPr>
            <a:r>
              <a:rPr lang="en-US" altLang="zh-CN" sz="3200" dirty="0">
                <a:solidFill>
                  <a:srgbClr val="FFFF00"/>
                </a:solidFill>
                <a:latin typeface="黑体" panose="02010609060101010101" pitchFamily="49" charset="-122"/>
                <a:ea typeface="黑体" panose="02010609060101010101" pitchFamily="49" charset="-122"/>
              </a:rPr>
              <a:t>3.</a:t>
            </a:r>
            <a:r>
              <a:rPr lang="zh-CN" altLang="en-US" sz="3200" dirty="0">
                <a:solidFill>
                  <a:srgbClr val="FFFF00"/>
                </a:solidFill>
                <a:latin typeface="黑体" panose="02010609060101010101" pitchFamily="49" charset="-122"/>
                <a:ea typeface="黑体" panose="02010609060101010101" pitchFamily="49" charset="-122"/>
              </a:rPr>
              <a:t>中断接口的设计</a:t>
            </a:r>
          </a:p>
        </p:txBody>
      </p:sp>
      <p:sp>
        <p:nvSpPr>
          <p:cNvPr id="25605" name="Text Box 5"/>
          <p:cNvSpPr txBox="1"/>
          <p:nvPr/>
        </p:nvSpPr>
        <p:spPr>
          <a:xfrm>
            <a:off x="73025" y="1296988"/>
            <a:ext cx="8459788" cy="488950"/>
          </a:xfrm>
          <a:prstGeom prst="rect">
            <a:avLst/>
          </a:prstGeom>
          <a:noFill/>
          <a:ln w="12700">
            <a:noFill/>
          </a:ln>
        </p:spPr>
        <p:txBody>
          <a:bodyPr>
            <a:spAutoFit/>
          </a:bodyPr>
          <a:lstStyle/>
          <a:p>
            <a:pPr>
              <a:spcBef>
                <a:spcPct val="50000"/>
              </a:spcBef>
            </a:pPr>
            <a:r>
              <a:rPr lang="zh-CN" altLang="en-US" sz="2600" dirty="0">
                <a:latin typeface="黑体" panose="02010609060101010101" pitchFamily="49" charset="-122"/>
                <a:ea typeface="黑体" panose="02010609060101010101" pitchFamily="49" charset="-122"/>
              </a:rPr>
              <a:t>主机发向外设的命令包括：</a:t>
            </a:r>
            <a:r>
              <a:rPr lang="zh-CN" altLang="en-US" sz="2600" dirty="0">
                <a:solidFill>
                  <a:schemeClr val="folHlink"/>
                </a:solidFill>
                <a:latin typeface="黑体" panose="02010609060101010101" pitchFamily="49" charset="-122"/>
                <a:ea typeface="黑体" panose="02010609060101010101" pitchFamily="49" charset="-122"/>
              </a:rPr>
              <a:t>启动、停止、数据选通</a:t>
            </a:r>
            <a:r>
              <a:rPr lang="zh-CN" altLang="en-US" sz="2600" dirty="0">
                <a:solidFill>
                  <a:schemeClr val="tx2"/>
                </a:solidFill>
                <a:latin typeface="黑体" panose="02010609060101010101" pitchFamily="49" charset="-122"/>
                <a:ea typeface="黑体" panose="02010609060101010101" pitchFamily="49" charset="-122"/>
              </a:rPr>
              <a:t>；</a:t>
            </a:r>
          </a:p>
        </p:txBody>
      </p:sp>
      <p:sp>
        <p:nvSpPr>
          <p:cNvPr id="25606" name="Text Box 6"/>
          <p:cNvSpPr txBox="1"/>
          <p:nvPr/>
        </p:nvSpPr>
        <p:spPr>
          <a:xfrm>
            <a:off x="79375" y="1797050"/>
            <a:ext cx="6564313" cy="488950"/>
          </a:xfrm>
          <a:prstGeom prst="rect">
            <a:avLst/>
          </a:prstGeom>
          <a:noFill/>
          <a:ln w="12700">
            <a:noFill/>
          </a:ln>
        </p:spPr>
        <p:txBody>
          <a:bodyPr>
            <a:spAutoFit/>
          </a:bodyPr>
          <a:lstStyle/>
          <a:p>
            <a:pPr>
              <a:spcBef>
                <a:spcPct val="50000"/>
              </a:spcBef>
            </a:pPr>
            <a:r>
              <a:rPr lang="zh-CN" altLang="en-US" sz="2600" dirty="0">
                <a:latin typeface="黑体" panose="02010609060101010101" pitchFamily="49" charset="-122"/>
                <a:ea typeface="黑体" panose="02010609060101010101" pitchFamily="49" charset="-122"/>
              </a:rPr>
              <a:t>外设的状态包括：</a:t>
            </a:r>
            <a:r>
              <a:rPr lang="zh-CN" altLang="en-US" sz="2600" dirty="0">
                <a:solidFill>
                  <a:schemeClr val="folHlink"/>
                </a:solidFill>
                <a:latin typeface="黑体" panose="02010609060101010101" pitchFamily="49" charset="-122"/>
                <a:ea typeface="黑体" panose="02010609060101010101" pitchFamily="49" charset="-122"/>
              </a:rPr>
              <a:t>忙、完成、出错</a:t>
            </a:r>
            <a:r>
              <a:rPr lang="zh-CN" altLang="en-US" sz="2600" dirty="0">
                <a:solidFill>
                  <a:schemeClr val="tx2"/>
                </a:solidFill>
                <a:latin typeface="黑体" panose="02010609060101010101" pitchFamily="49" charset="-122"/>
                <a:ea typeface="黑体" panose="02010609060101010101" pitchFamily="49" charset="-122"/>
              </a:rPr>
              <a:t>。</a:t>
            </a:r>
          </a:p>
        </p:txBody>
      </p:sp>
      <p:sp>
        <p:nvSpPr>
          <p:cNvPr id="25620" name="Text Box 20"/>
          <p:cNvSpPr txBox="1"/>
          <p:nvPr/>
        </p:nvSpPr>
        <p:spPr>
          <a:xfrm>
            <a:off x="-36512" y="2398713"/>
            <a:ext cx="7966075" cy="488950"/>
          </a:xfrm>
          <a:prstGeom prst="rect">
            <a:avLst/>
          </a:prstGeom>
          <a:noFill/>
          <a:ln w="12700">
            <a:noFill/>
          </a:ln>
        </p:spPr>
        <p:txBody>
          <a:bodyPr>
            <a:spAutoFit/>
          </a:bodyPr>
          <a:lstStyle/>
          <a:p>
            <a:pPr>
              <a:spcBef>
                <a:spcPct val="50000"/>
              </a:spcBef>
            </a:pPr>
            <a:r>
              <a:rPr lang="en-US" altLang="zh-CN" sz="2600" dirty="0">
                <a:solidFill>
                  <a:srgbClr val="00FFFF"/>
                </a:solidFill>
                <a:latin typeface="黑体" panose="02010609060101010101" pitchFamily="49" charset="-122"/>
                <a:ea typeface="黑体" panose="02010609060101010101" pitchFamily="49" charset="-122"/>
              </a:rPr>
              <a:t>【</a:t>
            </a:r>
            <a:r>
              <a:rPr lang="zh-CN" altLang="en-US" sz="2600" dirty="0">
                <a:solidFill>
                  <a:srgbClr val="00FFFF"/>
                </a:solidFill>
                <a:latin typeface="黑体" panose="02010609060101010101" pitchFamily="49" charset="-122"/>
                <a:ea typeface="黑体" panose="02010609060101010101" pitchFamily="49" charset="-122"/>
              </a:rPr>
              <a:t>任务</a:t>
            </a:r>
            <a:r>
              <a:rPr lang="en-US" altLang="zh-CN" sz="2600" dirty="0">
                <a:solidFill>
                  <a:srgbClr val="00FFFF"/>
                </a:solidFill>
                <a:latin typeface="黑体" panose="02010609060101010101" pitchFamily="49" charset="-122"/>
                <a:ea typeface="黑体" panose="02010609060101010101" pitchFamily="49" charset="-122"/>
              </a:rPr>
              <a:t>】</a:t>
            </a:r>
            <a:r>
              <a:rPr lang="zh-CN" altLang="en-US" sz="2600" dirty="0">
                <a:solidFill>
                  <a:srgbClr val="00FF00"/>
                </a:solidFill>
                <a:latin typeface="黑体" panose="02010609060101010101" pitchFamily="49" charset="-122"/>
                <a:ea typeface="黑体" panose="02010609060101010101" pitchFamily="49" charset="-122"/>
              </a:rPr>
              <a:t>请为这两个外中断源设计中断接口方案</a:t>
            </a:r>
            <a:r>
              <a:rPr lang="zh-CN" altLang="en-US" sz="2600" dirty="0">
                <a:latin typeface="黑体" panose="02010609060101010101" pitchFamily="49" charset="-122"/>
                <a:ea typeface="黑体" panose="02010609060101010101" pitchFamily="49" charset="-122"/>
              </a:rPr>
              <a:t>。</a:t>
            </a:r>
          </a:p>
        </p:txBody>
      </p:sp>
      <p:sp>
        <p:nvSpPr>
          <p:cNvPr id="25643" name="Text Box 43"/>
          <p:cNvSpPr txBox="1"/>
          <p:nvPr/>
        </p:nvSpPr>
        <p:spPr>
          <a:xfrm>
            <a:off x="36513" y="3009900"/>
            <a:ext cx="8639175" cy="862013"/>
          </a:xfrm>
          <a:prstGeom prst="rect">
            <a:avLst/>
          </a:prstGeom>
          <a:noFill/>
          <a:ln w="12700">
            <a:noFill/>
          </a:ln>
        </p:spPr>
        <p:txBody>
          <a:bodyPr>
            <a:spAutoFit/>
          </a:bodyPr>
          <a:lstStyle/>
          <a:p>
            <a:pPr>
              <a:lnSpc>
                <a:spcPts val="3200"/>
              </a:lnSpc>
            </a:pPr>
            <a:r>
              <a:rPr lang="en-US" altLang="zh-CN" dirty="0">
                <a:solidFill>
                  <a:schemeClr val="folHlink"/>
                </a:solidFill>
                <a:latin typeface="黑体" panose="02010609060101010101" pitchFamily="49" charset="-122"/>
                <a:ea typeface="黑体" panose="02010609060101010101" pitchFamily="49" charset="-122"/>
              </a:rPr>
              <a:t>【</a:t>
            </a:r>
            <a:r>
              <a:rPr lang="zh-CN" altLang="en-US" dirty="0">
                <a:solidFill>
                  <a:schemeClr val="folHlink"/>
                </a:solidFill>
                <a:latin typeface="黑体" panose="02010609060101010101" pitchFamily="49" charset="-122"/>
                <a:ea typeface="黑体" panose="02010609060101010101" pitchFamily="49" charset="-122"/>
              </a:rPr>
              <a:t>分析</a:t>
            </a:r>
            <a:r>
              <a:rPr lang="en-US" altLang="zh-CN" dirty="0">
                <a:solidFill>
                  <a:schemeClr val="folHlink"/>
                </a:solidFill>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结合中断系统的工作场景，考虑设计此中断接口时，需要解决哪些方面的问题？</a:t>
            </a:r>
          </a:p>
        </p:txBody>
      </p:sp>
      <p:sp>
        <p:nvSpPr>
          <p:cNvPr id="25644" name="Text Box 44"/>
          <p:cNvSpPr txBox="1"/>
          <p:nvPr/>
        </p:nvSpPr>
        <p:spPr>
          <a:xfrm>
            <a:off x="215900" y="4000500"/>
            <a:ext cx="7596188" cy="1901825"/>
          </a:xfrm>
          <a:prstGeom prst="rect">
            <a:avLst/>
          </a:prstGeom>
          <a:noFill/>
          <a:ln w="12700">
            <a:noFill/>
          </a:ln>
        </p:spPr>
        <p:txBody>
          <a:bodyPr>
            <a:spAutoFit/>
          </a:bodyPr>
          <a:lstStyle/>
          <a:p>
            <a:pPr>
              <a:spcBef>
                <a:spcPct val="30000"/>
              </a:spcBef>
              <a:buClr>
                <a:schemeClr val="folHlink"/>
              </a:buClr>
              <a:buFont typeface="Wingdings" panose="05000000000000000000" pitchFamily="2" charset="2"/>
              <a:buChar char="ü"/>
            </a:pPr>
            <a:r>
              <a:rPr lang="zh-CN" altLang="en-US" dirty="0">
                <a:solidFill>
                  <a:schemeClr val="accent1"/>
                </a:solidFill>
                <a:latin typeface="黑体" panose="02010609060101010101" pitchFamily="49" charset="-122"/>
                <a:ea typeface="黑体" panose="02010609060101010101" pitchFamily="49" charset="-122"/>
              </a:rPr>
              <a:t>使用哪个中断连接端口？</a:t>
            </a:r>
          </a:p>
          <a:p>
            <a:pPr>
              <a:spcBef>
                <a:spcPct val="30000"/>
              </a:spcBef>
              <a:buClr>
                <a:schemeClr val="folHlink"/>
              </a:buClr>
              <a:buFont typeface="Wingdings" panose="05000000000000000000" pitchFamily="2" charset="2"/>
              <a:buChar char="ü"/>
            </a:pPr>
            <a:r>
              <a:rPr lang="zh-CN" altLang="en-US" dirty="0">
                <a:solidFill>
                  <a:schemeClr val="accent1"/>
                </a:solidFill>
                <a:latin typeface="黑体" panose="02010609060101010101" pitchFamily="49" charset="-122"/>
                <a:ea typeface="黑体" panose="02010609060101010101" pitchFamily="49" charset="-122"/>
              </a:rPr>
              <a:t>控制命令、状态信息如何编码？</a:t>
            </a:r>
          </a:p>
          <a:p>
            <a:pPr>
              <a:spcBef>
                <a:spcPct val="30000"/>
              </a:spcBef>
              <a:buClr>
                <a:schemeClr val="folHlink"/>
              </a:buClr>
              <a:buFont typeface="Wingdings" panose="05000000000000000000" pitchFamily="2" charset="2"/>
              <a:buChar char="ü"/>
            </a:pPr>
            <a:r>
              <a:rPr lang="zh-CN" altLang="en-US" dirty="0">
                <a:solidFill>
                  <a:schemeClr val="accent1"/>
                </a:solidFill>
                <a:latin typeface="黑体" panose="02010609060101010101" pitchFamily="49" charset="-122"/>
                <a:ea typeface="黑体" panose="02010609060101010101" pitchFamily="49" charset="-122"/>
              </a:rPr>
              <a:t>接口的寄存器级结构模型？</a:t>
            </a:r>
          </a:p>
          <a:p>
            <a:pPr>
              <a:spcBef>
                <a:spcPct val="30000"/>
              </a:spcBef>
              <a:buClr>
                <a:schemeClr val="folHlink"/>
              </a:buClr>
              <a:buFont typeface="Wingdings" panose="05000000000000000000" pitchFamily="2" charset="2"/>
              <a:buChar char="ü"/>
            </a:pPr>
            <a:r>
              <a:rPr lang="zh-CN" altLang="en-US" dirty="0">
                <a:solidFill>
                  <a:schemeClr val="accent1"/>
                </a:solidFill>
                <a:latin typeface="黑体" panose="02010609060101010101" pitchFamily="49" charset="-122"/>
                <a:ea typeface="黑体" panose="02010609060101010101" pitchFamily="49" charset="-122"/>
              </a:rPr>
              <a:t>分析其工作过程？</a:t>
            </a:r>
          </a:p>
        </p:txBody>
      </p:sp>
    </p:spTree>
  </p:cSld>
  <p:clrMapOvr>
    <a:masterClrMapping/>
  </p:clrMapOvr>
  <p:transition>
    <p:cover dir="l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p:nvPr/>
        </p:nvGrpSpPr>
        <p:grpSpPr>
          <a:xfrm>
            <a:off x="2309813" y="3421063"/>
            <a:ext cx="5791200" cy="533400"/>
            <a:chOff x="1392" y="3072"/>
            <a:chExt cx="3648" cy="336"/>
          </a:xfrm>
        </p:grpSpPr>
        <p:sp>
          <p:nvSpPr>
            <p:cNvPr id="28700" name="Text Box 5"/>
            <p:cNvSpPr txBox="1"/>
            <p:nvPr/>
          </p:nvSpPr>
          <p:spPr>
            <a:xfrm>
              <a:off x="1392" y="3072"/>
              <a:ext cx="3648" cy="312"/>
            </a:xfrm>
            <a:prstGeom prst="rect">
              <a:avLst/>
            </a:prstGeom>
            <a:solidFill>
              <a:schemeClr val="bg1"/>
            </a:solidFill>
            <a:ln w="38100" cap="flat" cmpd="sng">
              <a:solidFill>
                <a:schemeClr val="accent1"/>
              </a:solidFill>
              <a:prstDash val="solid"/>
              <a:miter/>
              <a:headEnd type="none" w="med" len="med"/>
              <a:tailEnd type="none" w="med" len="med"/>
            </a:ln>
          </p:spPr>
          <p:txBody>
            <a:bodyPr>
              <a:spAutoFit/>
            </a:bodyPr>
            <a:lstStyle/>
            <a:p>
              <a:pPr>
                <a:spcBef>
                  <a:spcPct val="50000"/>
                </a:spcBef>
              </a:pPr>
              <a:r>
                <a:rPr lang="zh-CN" altLang="en-US" dirty="0">
                  <a:solidFill>
                    <a:schemeClr val="folHlink"/>
                  </a:solidFill>
                  <a:latin typeface="黑体" panose="02010609060101010101" pitchFamily="49" charset="-122"/>
                  <a:ea typeface="黑体" panose="02010609060101010101" pitchFamily="49" charset="-122"/>
                </a:rPr>
                <a:t>启动</a:t>
              </a:r>
              <a:r>
                <a:rPr lang="en-US" altLang="zh-CN" dirty="0">
                  <a:solidFill>
                    <a:schemeClr val="folHlink"/>
                  </a:solidFill>
                  <a:latin typeface="黑体" panose="02010609060101010101" pitchFamily="49" charset="-122"/>
                  <a:ea typeface="黑体" panose="02010609060101010101" pitchFamily="49" charset="-122"/>
                </a:rPr>
                <a:t>1 </a:t>
              </a:r>
              <a:r>
                <a:rPr lang="zh-CN" altLang="en-US" dirty="0">
                  <a:solidFill>
                    <a:schemeClr val="folHlink"/>
                  </a:solidFill>
                  <a:latin typeface="黑体" panose="02010609060101010101" pitchFamily="49" charset="-122"/>
                  <a:ea typeface="黑体" panose="02010609060101010101" pitchFamily="49" charset="-122"/>
                </a:rPr>
                <a:t>停止</a:t>
              </a:r>
              <a:r>
                <a:rPr lang="en-US" altLang="zh-CN" dirty="0">
                  <a:solidFill>
                    <a:schemeClr val="folHlink"/>
                  </a:solidFill>
                  <a:latin typeface="黑体" panose="02010609060101010101" pitchFamily="49" charset="-122"/>
                  <a:ea typeface="黑体" panose="02010609060101010101" pitchFamily="49" charset="-122"/>
                </a:rPr>
                <a:t>1 </a:t>
              </a:r>
              <a:r>
                <a:rPr lang="zh-CN" altLang="en-US" dirty="0">
                  <a:solidFill>
                    <a:schemeClr val="folHlink"/>
                  </a:solidFill>
                  <a:latin typeface="黑体" panose="02010609060101010101" pitchFamily="49" charset="-122"/>
                  <a:ea typeface="黑体" panose="02010609060101010101" pitchFamily="49" charset="-122"/>
                </a:rPr>
                <a:t>选通</a:t>
              </a:r>
              <a:r>
                <a:rPr lang="en-US" altLang="zh-CN" dirty="0">
                  <a:solidFill>
                    <a:schemeClr val="folHlink"/>
                  </a:solidFill>
                  <a:latin typeface="黑体" panose="02010609060101010101" pitchFamily="49" charset="-122"/>
                  <a:ea typeface="黑体" panose="02010609060101010101" pitchFamily="49" charset="-122"/>
                </a:rPr>
                <a:t>1 </a:t>
              </a:r>
              <a:r>
                <a:rPr lang="zh-CN" altLang="en-US" dirty="0">
                  <a:solidFill>
                    <a:schemeClr val="folHlink"/>
                  </a:solidFill>
                  <a:latin typeface="黑体" panose="02010609060101010101" pitchFamily="49" charset="-122"/>
                  <a:ea typeface="黑体" panose="02010609060101010101" pitchFamily="49" charset="-122"/>
                </a:rPr>
                <a:t>启动</a:t>
              </a:r>
              <a:r>
                <a:rPr lang="en-US" altLang="zh-CN" dirty="0">
                  <a:solidFill>
                    <a:schemeClr val="folHlink"/>
                  </a:solidFill>
                  <a:latin typeface="黑体" panose="02010609060101010101" pitchFamily="49" charset="-122"/>
                  <a:ea typeface="黑体" panose="02010609060101010101" pitchFamily="49" charset="-122"/>
                </a:rPr>
                <a:t>2 </a:t>
              </a:r>
              <a:r>
                <a:rPr lang="zh-CN" altLang="en-US" dirty="0">
                  <a:solidFill>
                    <a:schemeClr val="folHlink"/>
                  </a:solidFill>
                  <a:latin typeface="黑体" panose="02010609060101010101" pitchFamily="49" charset="-122"/>
                  <a:ea typeface="黑体" panose="02010609060101010101" pitchFamily="49" charset="-122"/>
                </a:rPr>
                <a:t>停止</a:t>
              </a:r>
              <a:r>
                <a:rPr lang="en-US" altLang="zh-CN" dirty="0">
                  <a:solidFill>
                    <a:schemeClr val="folHlink"/>
                  </a:solidFill>
                  <a:latin typeface="黑体" panose="02010609060101010101" pitchFamily="49" charset="-122"/>
                  <a:ea typeface="黑体" panose="02010609060101010101" pitchFamily="49" charset="-122"/>
                </a:rPr>
                <a:t>2 </a:t>
              </a:r>
              <a:r>
                <a:rPr lang="zh-CN" altLang="en-US" dirty="0">
                  <a:solidFill>
                    <a:schemeClr val="folHlink"/>
                  </a:solidFill>
                  <a:latin typeface="黑体" panose="02010609060101010101" pitchFamily="49" charset="-122"/>
                  <a:ea typeface="黑体" panose="02010609060101010101" pitchFamily="49" charset="-122"/>
                </a:rPr>
                <a:t>选通</a:t>
              </a:r>
              <a:r>
                <a:rPr lang="en-US" altLang="zh-CN" dirty="0">
                  <a:solidFill>
                    <a:schemeClr val="folHlink"/>
                  </a:solidFill>
                  <a:latin typeface="黑体" panose="02010609060101010101" pitchFamily="49" charset="-122"/>
                  <a:ea typeface="黑体" panose="02010609060101010101" pitchFamily="49" charset="-122"/>
                </a:rPr>
                <a:t>2</a:t>
              </a:r>
            </a:p>
          </p:txBody>
        </p:sp>
        <p:sp>
          <p:nvSpPr>
            <p:cNvPr id="28701" name="Line 6"/>
            <p:cNvSpPr/>
            <p:nvPr/>
          </p:nvSpPr>
          <p:spPr>
            <a:xfrm>
              <a:off x="2016" y="3072"/>
              <a:ext cx="0" cy="336"/>
            </a:xfrm>
            <a:prstGeom prst="line">
              <a:avLst/>
            </a:prstGeom>
            <a:ln w="38100" cap="flat" cmpd="sng">
              <a:solidFill>
                <a:schemeClr val="accent1"/>
              </a:solidFill>
              <a:prstDash val="solid"/>
              <a:headEnd type="none" w="med" len="med"/>
              <a:tailEnd type="none" w="med" len="med"/>
            </a:ln>
          </p:spPr>
        </p:sp>
        <p:sp>
          <p:nvSpPr>
            <p:cNvPr id="28702" name="Line 7"/>
            <p:cNvSpPr/>
            <p:nvPr/>
          </p:nvSpPr>
          <p:spPr>
            <a:xfrm>
              <a:off x="2592" y="3072"/>
              <a:ext cx="0" cy="336"/>
            </a:xfrm>
            <a:prstGeom prst="line">
              <a:avLst/>
            </a:prstGeom>
            <a:ln w="38100" cap="flat" cmpd="sng">
              <a:solidFill>
                <a:schemeClr val="accent1"/>
              </a:solidFill>
              <a:prstDash val="solid"/>
              <a:headEnd type="none" w="med" len="med"/>
              <a:tailEnd type="none" w="med" len="med"/>
            </a:ln>
          </p:spPr>
        </p:sp>
        <p:sp>
          <p:nvSpPr>
            <p:cNvPr id="28703" name="Line 8"/>
            <p:cNvSpPr/>
            <p:nvPr/>
          </p:nvSpPr>
          <p:spPr>
            <a:xfrm>
              <a:off x="3168" y="3072"/>
              <a:ext cx="0" cy="336"/>
            </a:xfrm>
            <a:prstGeom prst="line">
              <a:avLst/>
            </a:prstGeom>
            <a:ln w="38100" cap="flat" cmpd="sng">
              <a:solidFill>
                <a:schemeClr val="accent1"/>
              </a:solidFill>
              <a:prstDash val="solid"/>
              <a:headEnd type="none" w="med" len="med"/>
              <a:tailEnd type="none" w="med" len="med"/>
            </a:ln>
          </p:spPr>
        </p:sp>
        <p:sp>
          <p:nvSpPr>
            <p:cNvPr id="28704" name="Line 9"/>
            <p:cNvSpPr/>
            <p:nvPr/>
          </p:nvSpPr>
          <p:spPr>
            <a:xfrm>
              <a:off x="3744" y="3072"/>
              <a:ext cx="0" cy="336"/>
            </a:xfrm>
            <a:prstGeom prst="line">
              <a:avLst/>
            </a:prstGeom>
            <a:ln w="38100" cap="flat" cmpd="sng">
              <a:solidFill>
                <a:schemeClr val="accent1"/>
              </a:solidFill>
              <a:prstDash val="solid"/>
              <a:headEnd type="none" w="med" len="med"/>
              <a:tailEnd type="none" w="med" len="med"/>
            </a:ln>
          </p:spPr>
        </p:sp>
        <p:sp>
          <p:nvSpPr>
            <p:cNvPr id="28705" name="Line 10"/>
            <p:cNvSpPr/>
            <p:nvPr/>
          </p:nvSpPr>
          <p:spPr>
            <a:xfrm>
              <a:off x="4320" y="3072"/>
              <a:ext cx="0" cy="336"/>
            </a:xfrm>
            <a:prstGeom prst="line">
              <a:avLst/>
            </a:prstGeom>
            <a:ln w="38100" cap="flat" cmpd="sng">
              <a:solidFill>
                <a:schemeClr val="accent1"/>
              </a:solidFill>
              <a:prstDash val="solid"/>
              <a:headEnd type="none" w="med" len="med"/>
              <a:tailEnd type="none" w="med" len="med"/>
            </a:ln>
          </p:spPr>
        </p:sp>
      </p:grpSp>
      <p:sp>
        <p:nvSpPr>
          <p:cNvPr id="43019" name="Text Box 11"/>
          <p:cNvSpPr txBox="1">
            <a:spLocks noChangeArrowheads="1"/>
          </p:cNvSpPr>
          <p:nvPr/>
        </p:nvSpPr>
        <p:spPr bwMode="auto">
          <a:xfrm>
            <a:off x="2359025" y="2924175"/>
            <a:ext cx="5715000" cy="519113"/>
          </a:xfrm>
          <a:prstGeom prst="rect">
            <a:avLst/>
          </a:prstGeom>
          <a:noFill/>
          <a:ln w="12700" cap="sq">
            <a:noFill/>
            <a:miter lim="800000"/>
            <a:headEnd type="none" w="sm" len="sm"/>
            <a:tailEnd type="none" w="sm" len="sm"/>
          </a:ln>
          <a:effectLst/>
        </p:spPr>
        <p:txBody>
          <a:bodyPr>
            <a:spAutoFit/>
          </a:bodyPr>
          <a:lstStyle/>
          <a:p>
            <a:pPr marR="0" defTabSz="914400">
              <a:spcBef>
                <a:spcPct val="50000"/>
              </a:spcBef>
              <a:buClrTx/>
              <a:buSzTx/>
              <a:buFontTx/>
              <a:buNone/>
              <a:defRPr/>
            </a:pPr>
            <a:r>
              <a:rPr kumimoji="1" lang="en-US" altLang="zh-CN" sz="2800" kern="1200" cap="none" spc="0" normalizeH="0" baseline="0" noProof="0">
                <a:effectLst>
                  <a:outerShdw blurRad="38100" dist="38100" dir="2700000" algn="tl">
                    <a:srgbClr val="000000"/>
                  </a:outerShdw>
                </a:effectLst>
                <a:latin typeface="Times New Roman" panose="02020603050405020304" pitchFamily="18" charset="0"/>
                <a:ea typeface="黑体" panose="02010609060101010101" pitchFamily="49" charset="-122"/>
                <a:cs typeface="+mn-cs"/>
              </a:rPr>
              <a:t>  5          4        3        2        1        0</a:t>
            </a:r>
          </a:p>
        </p:txBody>
      </p:sp>
      <p:sp>
        <p:nvSpPr>
          <p:cNvPr id="43020" name="Text Box 12"/>
          <p:cNvSpPr txBox="1"/>
          <p:nvPr/>
        </p:nvSpPr>
        <p:spPr>
          <a:xfrm>
            <a:off x="255588" y="3416300"/>
            <a:ext cx="2819400" cy="488950"/>
          </a:xfrm>
          <a:prstGeom prst="rect">
            <a:avLst/>
          </a:prstGeom>
          <a:noFill/>
          <a:ln w="12700">
            <a:noFill/>
          </a:ln>
        </p:spPr>
        <p:txBody>
          <a:bodyPr>
            <a:spAutoFit/>
          </a:bodyPr>
          <a:lstStyle/>
          <a:p>
            <a:pPr>
              <a:spcBef>
                <a:spcPct val="50000"/>
              </a:spcBef>
            </a:pPr>
            <a:r>
              <a:rPr lang="zh-CN" altLang="en-US" sz="2600" dirty="0">
                <a:latin typeface="黑体" panose="02010609060101010101" pitchFamily="49" charset="-122"/>
                <a:ea typeface="黑体" panose="02010609060101010101" pitchFamily="49" charset="-122"/>
              </a:rPr>
              <a:t>命令字格式：</a:t>
            </a:r>
          </a:p>
        </p:txBody>
      </p:sp>
      <p:sp>
        <p:nvSpPr>
          <p:cNvPr id="43021" name="Text Box 13"/>
          <p:cNvSpPr txBox="1"/>
          <p:nvPr/>
        </p:nvSpPr>
        <p:spPr>
          <a:xfrm>
            <a:off x="255588" y="4230688"/>
            <a:ext cx="2819400" cy="488950"/>
          </a:xfrm>
          <a:prstGeom prst="rect">
            <a:avLst/>
          </a:prstGeom>
          <a:noFill/>
          <a:ln w="12700">
            <a:noFill/>
          </a:ln>
        </p:spPr>
        <p:txBody>
          <a:bodyPr>
            <a:spAutoFit/>
          </a:bodyPr>
          <a:lstStyle/>
          <a:p>
            <a:pPr>
              <a:spcBef>
                <a:spcPct val="50000"/>
              </a:spcBef>
            </a:pPr>
            <a:r>
              <a:rPr lang="zh-CN" altLang="en-US" sz="2600" dirty="0">
                <a:latin typeface="黑体" panose="02010609060101010101" pitchFamily="49" charset="-122"/>
                <a:ea typeface="黑体" panose="02010609060101010101" pitchFamily="49" charset="-122"/>
              </a:rPr>
              <a:t>状态字格式：</a:t>
            </a:r>
          </a:p>
        </p:txBody>
      </p:sp>
      <p:grpSp>
        <p:nvGrpSpPr>
          <p:cNvPr id="3" name="Group 14"/>
          <p:cNvGrpSpPr/>
          <p:nvPr/>
        </p:nvGrpSpPr>
        <p:grpSpPr>
          <a:xfrm>
            <a:off x="2309813" y="4249738"/>
            <a:ext cx="5791200" cy="533400"/>
            <a:chOff x="1392" y="3072"/>
            <a:chExt cx="3648" cy="336"/>
          </a:xfrm>
        </p:grpSpPr>
        <p:sp>
          <p:nvSpPr>
            <p:cNvPr id="28694" name="Text Box 15"/>
            <p:cNvSpPr txBox="1"/>
            <p:nvPr/>
          </p:nvSpPr>
          <p:spPr>
            <a:xfrm>
              <a:off x="1392" y="3072"/>
              <a:ext cx="3648" cy="312"/>
            </a:xfrm>
            <a:prstGeom prst="rect">
              <a:avLst/>
            </a:prstGeom>
            <a:solidFill>
              <a:schemeClr val="bg1"/>
            </a:solidFill>
            <a:ln w="38100" cap="flat" cmpd="sng">
              <a:solidFill>
                <a:schemeClr val="accent1"/>
              </a:solidFill>
              <a:prstDash val="solid"/>
              <a:miter/>
              <a:headEnd type="none" w="med" len="med"/>
              <a:tailEnd type="none" w="med" len="med"/>
            </a:ln>
          </p:spPr>
          <p:txBody>
            <a:bodyPr>
              <a:spAutoFit/>
            </a:bodyPr>
            <a:lstStyle/>
            <a:p>
              <a:pPr>
                <a:spcBef>
                  <a:spcPct val="50000"/>
                </a:spcBef>
              </a:pPr>
              <a:r>
                <a:rPr lang="en-US" altLang="zh-CN" dirty="0">
                  <a:solidFill>
                    <a:schemeClr val="folHlink"/>
                  </a:solidFill>
                  <a:latin typeface="黑体" panose="02010609060101010101" pitchFamily="49" charset="-122"/>
                  <a:ea typeface="黑体" panose="02010609060101010101" pitchFamily="49" charset="-122"/>
                </a:rPr>
                <a:t> </a:t>
              </a:r>
              <a:r>
                <a:rPr lang="zh-CN" altLang="en-US" dirty="0">
                  <a:solidFill>
                    <a:schemeClr val="folHlink"/>
                  </a:solidFill>
                  <a:latin typeface="黑体" panose="02010609060101010101" pitchFamily="49" charset="-122"/>
                  <a:ea typeface="黑体" panose="02010609060101010101" pitchFamily="49" charset="-122"/>
                </a:rPr>
                <a:t>忙</a:t>
              </a:r>
              <a:r>
                <a:rPr lang="en-US" altLang="zh-CN" dirty="0">
                  <a:solidFill>
                    <a:schemeClr val="folHlink"/>
                  </a:solidFill>
                  <a:latin typeface="黑体" panose="02010609060101010101" pitchFamily="49" charset="-122"/>
                  <a:ea typeface="黑体" panose="02010609060101010101" pitchFamily="49" charset="-122"/>
                </a:rPr>
                <a:t>1  </a:t>
              </a:r>
              <a:r>
                <a:rPr lang="zh-CN" altLang="en-US" dirty="0">
                  <a:solidFill>
                    <a:schemeClr val="folHlink"/>
                  </a:solidFill>
                  <a:latin typeface="黑体" panose="02010609060101010101" pitchFamily="49" charset="-122"/>
                  <a:ea typeface="黑体" panose="02010609060101010101" pitchFamily="49" charset="-122"/>
                </a:rPr>
                <a:t>完成</a:t>
              </a:r>
              <a:r>
                <a:rPr lang="en-US" altLang="zh-CN" dirty="0">
                  <a:solidFill>
                    <a:schemeClr val="folHlink"/>
                  </a:solidFill>
                  <a:latin typeface="黑体" panose="02010609060101010101" pitchFamily="49" charset="-122"/>
                  <a:ea typeface="黑体" panose="02010609060101010101" pitchFamily="49" charset="-122"/>
                </a:rPr>
                <a:t>1 </a:t>
              </a:r>
              <a:r>
                <a:rPr lang="zh-CN" altLang="en-US" dirty="0">
                  <a:solidFill>
                    <a:schemeClr val="folHlink"/>
                  </a:solidFill>
                  <a:latin typeface="黑体" panose="02010609060101010101" pitchFamily="49" charset="-122"/>
                  <a:ea typeface="黑体" panose="02010609060101010101" pitchFamily="49" charset="-122"/>
                </a:rPr>
                <a:t>出错</a:t>
              </a:r>
              <a:r>
                <a:rPr lang="en-US" altLang="zh-CN" dirty="0">
                  <a:solidFill>
                    <a:schemeClr val="folHlink"/>
                  </a:solidFill>
                  <a:latin typeface="黑体" panose="02010609060101010101" pitchFamily="49" charset="-122"/>
                  <a:ea typeface="黑体" panose="02010609060101010101" pitchFamily="49" charset="-122"/>
                </a:rPr>
                <a:t>1  </a:t>
              </a:r>
              <a:r>
                <a:rPr lang="zh-CN" altLang="en-US" dirty="0">
                  <a:solidFill>
                    <a:schemeClr val="folHlink"/>
                  </a:solidFill>
                  <a:latin typeface="黑体" panose="02010609060101010101" pitchFamily="49" charset="-122"/>
                  <a:ea typeface="黑体" panose="02010609060101010101" pitchFamily="49" charset="-122"/>
                </a:rPr>
                <a:t>忙</a:t>
              </a:r>
              <a:r>
                <a:rPr lang="en-US" altLang="zh-CN" dirty="0">
                  <a:solidFill>
                    <a:schemeClr val="folHlink"/>
                  </a:solidFill>
                  <a:latin typeface="黑体" panose="02010609060101010101" pitchFamily="49" charset="-122"/>
                  <a:ea typeface="黑体" panose="02010609060101010101" pitchFamily="49" charset="-122"/>
                </a:rPr>
                <a:t>2  </a:t>
              </a:r>
              <a:r>
                <a:rPr lang="zh-CN" altLang="en-US" dirty="0">
                  <a:solidFill>
                    <a:schemeClr val="folHlink"/>
                  </a:solidFill>
                  <a:latin typeface="黑体" panose="02010609060101010101" pitchFamily="49" charset="-122"/>
                  <a:ea typeface="黑体" panose="02010609060101010101" pitchFamily="49" charset="-122"/>
                </a:rPr>
                <a:t>完成</a:t>
              </a:r>
              <a:r>
                <a:rPr lang="en-US" altLang="zh-CN" dirty="0">
                  <a:solidFill>
                    <a:schemeClr val="folHlink"/>
                  </a:solidFill>
                  <a:latin typeface="黑体" panose="02010609060101010101" pitchFamily="49" charset="-122"/>
                  <a:ea typeface="黑体" panose="02010609060101010101" pitchFamily="49" charset="-122"/>
                </a:rPr>
                <a:t>2 </a:t>
              </a:r>
              <a:r>
                <a:rPr lang="zh-CN" altLang="en-US" dirty="0">
                  <a:solidFill>
                    <a:schemeClr val="folHlink"/>
                  </a:solidFill>
                  <a:latin typeface="黑体" panose="02010609060101010101" pitchFamily="49" charset="-122"/>
                  <a:ea typeface="黑体" panose="02010609060101010101" pitchFamily="49" charset="-122"/>
                </a:rPr>
                <a:t>出错</a:t>
              </a:r>
              <a:r>
                <a:rPr lang="en-US" altLang="zh-CN" dirty="0">
                  <a:solidFill>
                    <a:schemeClr val="folHlink"/>
                  </a:solidFill>
                  <a:latin typeface="黑体" panose="02010609060101010101" pitchFamily="49" charset="-122"/>
                  <a:ea typeface="黑体" panose="02010609060101010101" pitchFamily="49" charset="-122"/>
                </a:rPr>
                <a:t>2</a:t>
              </a:r>
            </a:p>
          </p:txBody>
        </p:sp>
        <p:sp>
          <p:nvSpPr>
            <p:cNvPr id="28695" name="Line 16"/>
            <p:cNvSpPr/>
            <p:nvPr/>
          </p:nvSpPr>
          <p:spPr>
            <a:xfrm>
              <a:off x="2016" y="3072"/>
              <a:ext cx="0" cy="336"/>
            </a:xfrm>
            <a:prstGeom prst="line">
              <a:avLst/>
            </a:prstGeom>
            <a:ln w="38100" cap="flat" cmpd="sng">
              <a:solidFill>
                <a:schemeClr val="accent1"/>
              </a:solidFill>
              <a:prstDash val="solid"/>
              <a:headEnd type="none" w="med" len="med"/>
              <a:tailEnd type="none" w="med" len="med"/>
            </a:ln>
          </p:spPr>
        </p:sp>
        <p:sp>
          <p:nvSpPr>
            <p:cNvPr id="28696" name="Line 17"/>
            <p:cNvSpPr/>
            <p:nvPr/>
          </p:nvSpPr>
          <p:spPr>
            <a:xfrm>
              <a:off x="2592" y="3072"/>
              <a:ext cx="0" cy="336"/>
            </a:xfrm>
            <a:prstGeom prst="line">
              <a:avLst/>
            </a:prstGeom>
            <a:ln w="38100" cap="flat" cmpd="sng">
              <a:solidFill>
                <a:schemeClr val="accent1"/>
              </a:solidFill>
              <a:prstDash val="solid"/>
              <a:headEnd type="none" w="med" len="med"/>
              <a:tailEnd type="none" w="med" len="med"/>
            </a:ln>
          </p:spPr>
        </p:sp>
        <p:sp>
          <p:nvSpPr>
            <p:cNvPr id="28697" name="Line 18"/>
            <p:cNvSpPr/>
            <p:nvPr/>
          </p:nvSpPr>
          <p:spPr>
            <a:xfrm>
              <a:off x="3168" y="3072"/>
              <a:ext cx="0" cy="336"/>
            </a:xfrm>
            <a:prstGeom prst="line">
              <a:avLst/>
            </a:prstGeom>
            <a:ln w="38100" cap="flat" cmpd="sng">
              <a:solidFill>
                <a:schemeClr val="accent1"/>
              </a:solidFill>
              <a:prstDash val="solid"/>
              <a:headEnd type="none" w="med" len="med"/>
              <a:tailEnd type="none" w="med" len="med"/>
            </a:ln>
          </p:spPr>
        </p:sp>
        <p:sp>
          <p:nvSpPr>
            <p:cNvPr id="28698" name="Line 19"/>
            <p:cNvSpPr/>
            <p:nvPr/>
          </p:nvSpPr>
          <p:spPr>
            <a:xfrm>
              <a:off x="3744" y="3072"/>
              <a:ext cx="0" cy="336"/>
            </a:xfrm>
            <a:prstGeom prst="line">
              <a:avLst/>
            </a:prstGeom>
            <a:ln w="38100" cap="flat" cmpd="sng">
              <a:solidFill>
                <a:schemeClr val="accent1"/>
              </a:solidFill>
              <a:prstDash val="solid"/>
              <a:headEnd type="none" w="med" len="med"/>
              <a:tailEnd type="none" w="med" len="med"/>
            </a:ln>
          </p:spPr>
        </p:sp>
        <p:sp>
          <p:nvSpPr>
            <p:cNvPr id="28699" name="Line 20"/>
            <p:cNvSpPr/>
            <p:nvPr/>
          </p:nvSpPr>
          <p:spPr>
            <a:xfrm>
              <a:off x="4320" y="3072"/>
              <a:ext cx="0" cy="336"/>
            </a:xfrm>
            <a:prstGeom prst="line">
              <a:avLst/>
            </a:prstGeom>
            <a:ln w="38100" cap="flat" cmpd="sng">
              <a:solidFill>
                <a:schemeClr val="accent1"/>
              </a:solidFill>
              <a:prstDash val="solid"/>
              <a:headEnd type="none" w="med" len="med"/>
              <a:tailEnd type="none" w="med" len="med"/>
            </a:ln>
          </p:spPr>
        </p:sp>
      </p:grpSp>
      <p:sp>
        <p:nvSpPr>
          <p:cNvPr id="43029" name="Text Box 21"/>
          <p:cNvSpPr txBox="1"/>
          <p:nvPr/>
        </p:nvSpPr>
        <p:spPr>
          <a:xfrm>
            <a:off x="6089650" y="1214438"/>
            <a:ext cx="2478088" cy="457200"/>
          </a:xfrm>
          <a:prstGeom prst="rect">
            <a:avLst/>
          </a:prstGeom>
          <a:noFill/>
          <a:ln w="9525">
            <a:noFill/>
          </a:ln>
        </p:spPr>
        <p:txBody>
          <a:bodyPr>
            <a:spAutoFit/>
          </a:bodyPr>
          <a:lstStyle/>
          <a:p>
            <a:pPr>
              <a:spcBef>
                <a:spcPct val="50000"/>
              </a:spcBef>
            </a:pPr>
            <a:r>
              <a:rPr lang="en-US" altLang="zh-CN" dirty="0">
                <a:solidFill>
                  <a:srgbClr val="00FFFF"/>
                </a:solidFill>
                <a:latin typeface="黑体" panose="02010609060101010101" pitchFamily="49" charset="-122"/>
                <a:ea typeface="黑体" panose="02010609060101010101" pitchFamily="49" charset="-122"/>
              </a:rPr>
              <a:t>IRQ2</a:t>
            </a:r>
            <a:r>
              <a:rPr lang="en-US" altLang="zh-CN" dirty="0">
                <a:solidFill>
                  <a:srgbClr val="00FFFF"/>
                </a:solidFill>
                <a:latin typeface="Times New Roman" panose="02020603050405020304" pitchFamily="18" charset="0"/>
                <a:ea typeface="黑体" panose="02010609060101010101" pitchFamily="49" charset="-122"/>
              </a:rPr>
              <a:t> </a:t>
            </a:r>
            <a:r>
              <a:rPr lang="zh-CN" altLang="en-US" dirty="0">
                <a:solidFill>
                  <a:srgbClr val="00FFFF"/>
                </a:solidFill>
                <a:latin typeface="Times New Roman" panose="02020603050405020304" pitchFamily="18" charset="0"/>
                <a:ea typeface="黑体" panose="02010609060101010101" pitchFamily="49" charset="-122"/>
              </a:rPr>
              <a:t>通信</a:t>
            </a:r>
            <a:r>
              <a:rPr lang="en-US" altLang="zh-CN" dirty="0">
                <a:solidFill>
                  <a:schemeClr val="folHlink"/>
                </a:solidFill>
                <a:latin typeface="Times New Roman" panose="02020603050405020304" pitchFamily="18" charset="0"/>
                <a:ea typeface="黑体" panose="02010609060101010101" pitchFamily="49" charset="-122"/>
              </a:rPr>
              <a:t>(</a:t>
            </a:r>
            <a:r>
              <a:rPr lang="zh-CN" altLang="en-US" dirty="0">
                <a:solidFill>
                  <a:schemeClr val="folHlink"/>
                </a:solidFill>
                <a:latin typeface="Times New Roman" panose="02020603050405020304" pitchFamily="18" charset="0"/>
                <a:ea typeface="黑体" panose="02010609060101010101" pitchFamily="49" charset="-122"/>
              </a:rPr>
              <a:t>扩展</a:t>
            </a:r>
            <a:r>
              <a:rPr lang="en-US" altLang="zh-CN" dirty="0">
                <a:solidFill>
                  <a:schemeClr val="folHlink"/>
                </a:solidFill>
                <a:latin typeface="Times New Roman" panose="02020603050405020304" pitchFamily="18" charset="0"/>
                <a:ea typeface="黑体" panose="02010609060101010101" pitchFamily="49" charset="-122"/>
              </a:rPr>
              <a:t>)</a:t>
            </a:r>
          </a:p>
        </p:txBody>
      </p:sp>
      <p:grpSp>
        <p:nvGrpSpPr>
          <p:cNvPr id="4" name="Group 22"/>
          <p:cNvGrpSpPr/>
          <p:nvPr/>
        </p:nvGrpSpPr>
        <p:grpSpPr>
          <a:xfrm>
            <a:off x="4413250" y="307975"/>
            <a:ext cx="4191000" cy="1897063"/>
            <a:chOff x="3143" y="1645"/>
            <a:chExt cx="2640" cy="1195"/>
          </a:xfrm>
        </p:grpSpPr>
        <p:sp>
          <p:nvSpPr>
            <p:cNvPr id="28685" name="Rectangle 23"/>
            <p:cNvSpPr/>
            <p:nvPr/>
          </p:nvSpPr>
          <p:spPr>
            <a:xfrm>
              <a:off x="3143" y="1661"/>
              <a:ext cx="672" cy="1179"/>
            </a:xfrm>
            <a:prstGeom prst="rect">
              <a:avLst/>
            </a:prstGeom>
            <a:solidFill>
              <a:schemeClr val="bg1"/>
            </a:solidFill>
            <a:ln w="38100" cap="flat" cmpd="sng">
              <a:solidFill>
                <a:schemeClr val="tx1"/>
              </a:solidFill>
              <a:prstDash val="solid"/>
              <a:miter/>
              <a:headEnd type="none" w="med" len="med"/>
              <a:tailEnd type="none" w="med" len="med"/>
            </a:ln>
          </p:spPr>
          <p:txBody>
            <a:bodyPr wrap="none" anchor="ctr" anchorCtr="0"/>
            <a:lstStyle/>
            <a:p>
              <a:pPr algn="ctr" eaLnBrk="0" hangingPunct="0"/>
              <a:r>
                <a:rPr lang="zh-CN" altLang="en-US" sz="2600" dirty="0">
                  <a:solidFill>
                    <a:schemeClr val="folHlink"/>
                  </a:solidFill>
                  <a:latin typeface="黑体" panose="02010609060101010101" pitchFamily="49" charset="-122"/>
                  <a:ea typeface="黑体" panose="02010609060101010101" pitchFamily="49" charset="-122"/>
                </a:rPr>
                <a:t>中断</a:t>
              </a:r>
            </a:p>
            <a:p>
              <a:pPr algn="ctr" eaLnBrk="0" hangingPunct="0"/>
              <a:r>
                <a:rPr lang="zh-CN" altLang="en-US" sz="2600" dirty="0">
                  <a:solidFill>
                    <a:schemeClr val="folHlink"/>
                  </a:solidFill>
                  <a:latin typeface="黑体" panose="02010609060101010101" pitchFamily="49" charset="-122"/>
                  <a:ea typeface="黑体" panose="02010609060101010101" pitchFamily="49" charset="-122"/>
                </a:rPr>
                <a:t>控制器</a:t>
              </a:r>
            </a:p>
          </p:txBody>
        </p:sp>
        <p:sp>
          <p:nvSpPr>
            <p:cNvPr id="28686" name="Line 24"/>
            <p:cNvSpPr/>
            <p:nvPr/>
          </p:nvSpPr>
          <p:spPr>
            <a:xfrm>
              <a:off x="3815" y="1792"/>
              <a:ext cx="432" cy="0"/>
            </a:xfrm>
            <a:prstGeom prst="line">
              <a:avLst/>
            </a:prstGeom>
            <a:ln w="28575" cap="flat" cmpd="sng">
              <a:solidFill>
                <a:schemeClr val="tx1"/>
              </a:solidFill>
              <a:prstDash val="solid"/>
              <a:headEnd type="triangle" w="med" len="med"/>
              <a:tailEnd type="none" w="med" len="med"/>
            </a:ln>
          </p:spPr>
        </p:sp>
        <p:sp>
          <p:nvSpPr>
            <p:cNvPr id="28687" name="Text Box 25"/>
            <p:cNvSpPr txBox="1"/>
            <p:nvPr/>
          </p:nvSpPr>
          <p:spPr>
            <a:xfrm>
              <a:off x="4199" y="1645"/>
              <a:ext cx="1584" cy="288"/>
            </a:xfrm>
            <a:prstGeom prst="rect">
              <a:avLst/>
            </a:prstGeom>
            <a:noFill/>
            <a:ln w="9525">
              <a:noFill/>
            </a:ln>
          </p:spPr>
          <p:txBody>
            <a:bodyPr>
              <a:spAutoFit/>
            </a:bodyPr>
            <a:lstStyle/>
            <a:p>
              <a:pPr>
                <a:spcBef>
                  <a:spcPct val="50000"/>
                </a:spcBef>
              </a:pPr>
              <a:r>
                <a:rPr lang="en-US" altLang="zh-CN" dirty="0">
                  <a:latin typeface="Times New Roman" panose="02020603050405020304" pitchFamily="18" charset="0"/>
                  <a:ea typeface="黑体" panose="02010609060101010101" pitchFamily="49" charset="-122"/>
                </a:rPr>
                <a:t>IRQ0 </a:t>
              </a:r>
              <a:r>
                <a:rPr lang="zh-CN" altLang="en-US" dirty="0">
                  <a:latin typeface="Times New Roman" panose="02020603050405020304" pitchFamily="18" charset="0"/>
                  <a:ea typeface="黑体" panose="02010609060101010101" pitchFamily="49" charset="-122"/>
                </a:rPr>
                <a:t>系统时钟</a:t>
              </a:r>
            </a:p>
          </p:txBody>
        </p:sp>
        <p:sp>
          <p:nvSpPr>
            <p:cNvPr id="28688" name="Line 26"/>
            <p:cNvSpPr/>
            <p:nvPr/>
          </p:nvSpPr>
          <p:spPr>
            <a:xfrm>
              <a:off x="3815" y="2068"/>
              <a:ext cx="432" cy="0"/>
            </a:xfrm>
            <a:prstGeom prst="line">
              <a:avLst/>
            </a:prstGeom>
            <a:ln w="28575" cap="flat" cmpd="sng">
              <a:solidFill>
                <a:schemeClr val="tx1"/>
              </a:solidFill>
              <a:prstDash val="solid"/>
              <a:headEnd type="triangle" w="med" len="med"/>
              <a:tailEnd type="none" w="med" len="med"/>
            </a:ln>
          </p:spPr>
        </p:sp>
        <p:sp>
          <p:nvSpPr>
            <p:cNvPr id="28689" name="Text Box 27"/>
            <p:cNvSpPr txBox="1"/>
            <p:nvPr/>
          </p:nvSpPr>
          <p:spPr>
            <a:xfrm>
              <a:off x="4199" y="1924"/>
              <a:ext cx="1584" cy="288"/>
            </a:xfrm>
            <a:prstGeom prst="rect">
              <a:avLst/>
            </a:prstGeom>
            <a:noFill/>
            <a:ln w="9525">
              <a:noFill/>
            </a:ln>
          </p:spPr>
          <p:txBody>
            <a:bodyPr>
              <a:spAutoFit/>
            </a:bodyPr>
            <a:lstStyle/>
            <a:p>
              <a:pPr>
                <a:spcBef>
                  <a:spcPct val="50000"/>
                </a:spcBef>
              </a:pPr>
              <a:r>
                <a:rPr lang="en-US" altLang="zh-CN" dirty="0">
                  <a:latin typeface="Times New Roman" panose="02020603050405020304" pitchFamily="18" charset="0"/>
                  <a:ea typeface="黑体" panose="02010609060101010101" pitchFamily="49" charset="-122"/>
                </a:rPr>
                <a:t>IRQ1 </a:t>
              </a:r>
              <a:r>
                <a:rPr lang="zh-CN" altLang="en-US" dirty="0">
                  <a:latin typeface="Times New Roman" panose="02020603050405020304" pitchFamily="18" charset="0"/>
                  <a:ea typeface="黑体" panose="02010609060101010101" pitchFamily="49" charset="-122"/>
                </a:rPr>
                <a:t>实时时钟</a:t>
              </a:r>
            </a:p>
          </p:txBody>
        </p:sp>
        <p:sp>
          <p:nvSpPr>
            <p:cNvPr id="28690" name="Line 28"/>
            <p:cNvSpPr/>
            <p:nvPr/>
          </p:nvSpPr>
          <p:spPr>
            <a:xfrm>
              <a:off x="3815" y="2360"/>
              <a:ext cx="432" cy="0"/>
            </a:xfrm>
            <a:prstGeom prst="line">
              <a:avLst/>
            </a:prstGeom>
            <a:ln w="28575" cap="flat" cmpd="sng">
              <a:solidFill>
                <a:schemeClr val="tx1"/>
              </a:solidFill>
              <a:prstDash val="solid"/>
              <a:headEnd type="triangle" w="med" len="med"/>
              <a:tailEnd type="none" w="med" len="med"/>
            </a:ln>
          </p:spPr>
        </p:sp>
        <p:sp>
          <p:nvSpPr>
            <p:cNvPr id="28691" name="Line 29"/>
            <p:cNvSpPr/>
            <p:nvPr/>
          </p:nvSpPr>
          <p:spPr>
            <a:xfrm>
              <a:off x="4055" y="2489"/>
              <a:ext cx="0" cy="115"/>
            </a:xfrm>
            <a:prstGeom prst="line">
              <a:avLst/>
            </a:prstGeom>
            <a:ln w="38100" cap="flat" cmpd="sng">
              <a:solidFill>
                <a:schemeClr val="tx1"/>
              </a:solidFill>
              <a:prstDash val="sysDot"/>
              <a:headEnd type="none" w="med" len="med"/>
              <a:tailEnd type="none" w="med" len="med"/>
            </a:ln>
          </p:spPr>
        </p:sp>
        <p:sp>
          <p:nvSpPr>
            <p:cNvPr id="28692" name="Line 30"/>
            <p:cNvSpPr/>
            <p:nvPr/>
          </p:nvSpPr>
          <p:spPr>
            <a:xfrm>
              <a:off x="3815" y="2708"/>
              <a:ext cx="432" cy="0"/>
            </a:xfrm>
            <a:prstGeom prst="line">
              <a:avLst/>
            </a:prstGeom>
            <a:ln w="28575" cap="flat" cmpd="sng">
              <a:solidFill>
                <a:schemeClr val="tx1"/>
              </a:solidFill>
              <a:prstDash val="solid"/>
              <a:headEnd type="triangle" w="med" len="med"/>
              <a:tailEnd type="none" w="med" len="med"/>
            </a:ln>
          </p:spPr>
        </p:sp>
        <p:sp>
          <p:nvSpPr>
            <p:cNvPr id="28693" name="Text Box 31"/>
            <p:cNvSpPr txBox="1"/>
            <p:nvPr/>
          </p:nvSpPr>
          <p:spPr>
            <a:xfrm>
              <a:off x="4199" y="2552"/>
              <a:ext cx="1584" cy="288"/>
            </a:xfrm>
            <a:prstGeom prst="rect">
              <a:avLst/>
            </a:prstGeom>
            <a:noFill/>
            <a:ln w="9525">
              <a:noFill/>
            </a:ln>
          </p:spPr>
          <p:txBody>
            <a:bodyPr>
              <a:spAutoFit/>
            </a:bodyPr>
            <a:lstStyle/>
            <a:p>
              <a:pPr>
                <a:spcBef>
                  <a:spcPct val="50000"/>
                </a:spcBef>
              </a:pPr>
              <a:r>
                <a:rPr lang="en-US" altLang="zh-CN" dirty="0">
                  <a:latin typeface="Times New Roman" panose="02020603050405020304" pitchFamily="18" charset="0"/>
                  <a:ea typeface="黑体" panose="02010609060101010101" pitchFamily="49" charset="-122"/>
                </a:rPr>
                <a:t>IRQ7 </a:t>
              </a:r>
              <a:r>
                <a:rPr lang="zh-CN" altLang="en-US" dirty="0">
                  <a:latin typeface="Times New Roman" panose="02020603050405020304" pitchFamily="18" charset="0"/>
                  <a:ea typeface="黑体" panose="02010609060101010101" pitchFamily="49" charset="-122"/>
                </a:rPr>
                <a:t>打印机</a:t>
              </a:r>
            </a:p>
          </p:txBody>
        </p:sp>
      </p:grpSp>
      <p:sp>
        <p:nvSpPr>
          <p:cNvPr id="43042" name="Text Box 34"/>
          <p:cNvSpPr txBox="1"/>
          <p:nvPr/>
        </p:nvSpPr>
        <p:spPr>
          <a:xfrm>
            <a:off x="34925" y="333375"/>
            <a:ext cx="3455988" cy="519113"/>
          </a:xfrm>
          <a:prstGeom prst="rect">
            <a:avLst/>
          </a:prstGeom>
          <a:noFill/>
          <a:ln w="12700">
            <a:noFill/>
          </a:ln>
        </p:spPr>
        <p:txBody>
          <a:bodyPr>
            <a:spAutoFit/>
          </a:bodyPr>
          <a:lstStyle/>
          <a:p>
            <a:pPr>
              <a:spcBef>
                <a:spcPct val="50000"/>
              </a:spcBef>
            </a:pPr>
            <a:r>
              <a:rPr lang="zh-CN" altLang="en-US" sz="2800" dirty="0">
                <a:solidFill>
                  <a:schemeClr val="folHlink"/>
                </a:solidFill>
                <a:latin typeface="黑体" panose="02010609060101010101" pitchFamily="49" charset="-122"/>
                <a:ea typeface="黑体" panose="02010609060101010101" pitchFamily="49" charset="-122"/>
              </a:rPr>
              <a:t>（</a:t>
            </a:r>
            <a:r>
              <a:rPr lang="en-US" altLang="zh-CN" sz="2800" dirty="0">
                <a:solidFill>
                  <a:schemeClr val="folHlink"/>
                </a:solidFill>
                <a:latin typeface="黑体" panose="02010609060101010101" pitchFamily="49" charset="-122"/>
                <a:ea typeface="黑体" panose="02010609060101010101" pitchFamily="49" charset="-122"/>
              </a:rPr>
              <a:t>1</a:t>
            </a:r>
            <a:r>
              <a:rPr lang="zh-CN" altLang="en-US" sz="2800" dirty="0">
                <a:solidFill>
                  <a:schemeClr val="folHlink"/>
                </a:solidFill>
                <a:latin typeface="黑体" panose="02010609060101010101" pitchFamily="49" charset="-122"/>
                <a:ea typeface="黑体" panose="02010609060101010101" pitchFamily="49" charset="-122"/>
              </a:rPr>
              <a:t>）确定中断端口</a:t>
            </a:r>
          </a:p>
        </p:txBody>
      </p:sp>
      <p:sp>
        <p:nvSpPr>
          <p:cNvPr id="43043" name="Text Box 35"/>
          <p:cNvSpPr txBox="1"/>
          <p:nvPr/>
        </p:nvSpPr>
        <p:spPr>
          <a:xfrm>
            <a:off x="215900" y="1052513"/>
            <a:ext cx="4356100" cy="1220787"/>
          </a:xfrm>
          <a:prstGeom prst="rect">
            <a:avLst/>
          </a:prstGeom>
          <a:noFill/>
          <a:ln w="12700">
            <a:noFill/>
          </a:ln>
        </p:spPr>
        <p:txBody>
          <a:bodyPr>
            <a:spAutoFit/>
          </a:bodyPr>
          <a:lstStyle/>
          <a:p>
            <a:pPr>
              <a:spcBef>
                <a:spcPct val="50000"/>
              </a:spcBef>
            </a:pPr>
            <a:r>
              <a:rPr lang="zh-CN" altLang="en-US" sz="2600" dirty="0">
                <a:latin typeface="黑体" panose="02010609060101010101" pitchFamily="49" charset="-122"/>
                <a:ea typeface="黑体" panose="02010609060101010101" pitchFamily="49" charset="-122"/>
              </a:rPr>
              <a:t>两个中断源共用一个端口：</a:t>
            </a:r>
          </a:p>
          <a:p>
            <a:pPr>
              <a:spcBef>
                <a:spcPct val="50000"/>
              </a:spcBef>
            </a:pPr>
            <a:r>
              <a:rPr lang="en-US" altLang="zh-CN" sz="3200" dirty="0">
                <a:solidFill>
                  <a:schemeClr val="accent1"/>
                </a:solidFill>
                <a:latin typeface="Arial Rounded MT Bold" panose="020F0704030504030204" pitchFamily="34" charset="0"/>
                <a:ea typeface="黑体" panose="02010609060101010101" pitchFamily="49" charset="-122"/>
              </a:rPr>
              <a:t>IRQ2</a:t>
            </a:r>
          </a:p>
        </p:txBody>
      </p:sp>
      <p:sp>
        <p:nvSpPr>
          <p:cNvPr id="43044" name="Text Box 36"/>
          <p:cNvSpPr txBox="1"/>
          <p:nvPr/>
        </p:nvSpPr>
        <p:spPr>
          <a:xfrm>
            <a:off x="34925" y="2405063"/>
            <a:ext cx="6408738" cy="519112"/>
          </a:xfrm>
          <a:prstGeom prst="rect">
            <a:avLst/>
          </a:prstGeom>
          <a:noFill/>
          <a:ln w="12700">
            <a:noFill/>
          </a:ln>
        </p:spPr>
        <p:txBody>
          <a:bodyPr>
            <a:spAutoFit/>
          </a:bodyPr>
          <a:lstStyle/>
          <a:p>
            <a:pPr>
              <a:spcBef>
                <a:spcPct val="50000"/>
              </a:spcBef>
            </a:pPr>
            <a:r>
              <a:rPr lang="zh-CN" altLang="en-US" sz="2800" dirty="0">
                <a:solidFill>
                  <a:schemeClr val="folHlink"/>
                </a:solidFill>
                <a:latin typeface="黑体" panose="02010609060101010101" pitchFamily="49" charset="-122"/>
                <a:ea typeface="黑体" panose="02010609060101010101" pitchFamily="49" charset="-122"/>
              </a:rPr>
              <a:t>（</a:t>
            </a:r>
            <a:r>
              <a:rPr lang="en-US" altLang="zh-CN" sz="2800" dirty="0">
                <a:solidFill>
                  <a:schemeClr val="folHlink"/>
                </a:solidFill>
                <a:latin typeface="黑体" panose="02010609060101010101" pitchFamily="49" charset="-122"/>
                <a:ea typeface="黑体" panose="02010609060101010101" pitchFamily="49" charset="-122"/>
              </a:rPr>
              <a:t>2</a:t>
            </a:r>
            <a:r>
              <a:rPr lang="zh-CN" altLang="en-US" sz="2800" dirty="0">
                <a:solidFill>
                  <a:schemeClr val="folHlink"/>
                </a:solidFill>
                <a:latin typeface="黑体" panose="02010609060101010101" pitchFamily="49" charset="-122"/>
                <a:ea typeface="黑体" panose="02010609060101010101" pitchFamily="49" charset="-122"/>
              </a:rPr>
              <a:t>）拟定各命令和状态字的编码</a:t>
            </a:r>
          </a:p>
        </p:txBody>
      </p:sp>
      <p:sp>
        <p:nvSpPr>
          <p:cNvPr id="43046" name="Text Box 38"/>
          <p:cNvSpPr txBox="1"/>
          <p:nvPr/>
        </p:nvSpPr>
        <p:spPr>
          <a:xfrm>
            <a:off x="107950" y="5011738"/>
            <a:ext cx="8856663" cy="946150"/>
          </a:xfrm>
          <a:prstGeom prst="rect">
            <a:avLst/>
          </a:prstGeom>
          <a:noFill/>
          <a:ln w="9525">
            <a:noFill/>
          </a:ln>
        </p:spPr>
        <p:txBody>
          <a:bodyPr>
            <a:spAutoFit/>
          </a:bodyPr>
          <a:lstStyle/>
          <a:p>
            <a:pPr eaLnBrk="0" hangingPunct="0"/>
            <a:r>
              <a:rPr lang="en-US" altLang="zh-CN" sz="2800" dirty="0">
                <a:solidFill>
                  <a:schemeClr val="accent1"/>
                </a:solidFill>
                <a:latin typeface="黑体" panose="02010609060101010101" pitchFamily="49" charset="-122"/>
                <a:ea typeface="黑体" panose="02010609060101010101" pitchFamily="49" charset="-122"/>
              </a:rPr>
              <a:t>【</a:t>
            </a:r>
            <a:r>
              <a:rPr lang="zh-CN" altLang="en-US" sz="2800" dirty="0">
                <a:solidFill>
                  <a:schemeClr val="accent1"/>
                </a:solidFill>
                <a:latin typeface="黑体" panose="02010609060101010101" pitchFamily="49" charset="-122"/>
                <a:ea typeface="黑体" panose="02010609060101010101" pitchFamily="49" charset="-122"/>
              </a:rPr>
              <a:t>注意</a:t>
            </a:r>
            <a:r>
              <a:rPr lang="en-US" altLang="zh-CN" sz="2800" dirty="0">
                <a:solidFill>
                  <a:schemeClr val="accent1"/>
                </a:solidFill>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如寄存器宽度为</a:t>
            </a:r>
            <a:r>
              <a:rPr lang="en-US" altLang="zh-CN" sz="2800" dirty="0">
                <a:latin typeface="黑体" panose="02010609060101010101" pitchFamily="49" charset="-122"/>
                <a:ea typeface="黑体" panose="02010609060101010101" pitchFamily="49" charset="-122"/>
              </a:rPr>
              <a:t>16</a:t>
            </a:r>
            <a:r>
              <a:rPr lang="zh-CN" altLang="en-US" sz="2800" dirty="0">
                <a:latin typeface="黑体" panose="02010609060101010101" pitchFamily="49" charset="-122"/>
                <a:ea typeface="黑体" panose="02010609060101010101" pitchFamily="49" charset="-122"/>
              </a:rPr>
              <a:t>，则其第</a:t>
            </a:r>
            <a:r>
              <a:rPr lang="en-US" altLang="zh-CN" sz="2800" dirty="0">
                <a:latin typeface="Times New Roman" panose="02020603050405020304" pitchFamily="18" charset="0"/>
                <a:ea typeface="黑体" panose="02010609060101010101" pitchFamily="49" charset="-122"/>
              </a:rPr>
              <a:t>15-6</a:t>
            </a:r>
            <a:r>
              <a:rPr lang="zh-CN" altLang="en-US" sz="2800" dirty="0">
                <a:latin typeface="黑体" panose="02010609060101010101" pitchFamily="49" charset="-122"/>
                <a:ea typeface="黑体" panose="02010609060101010101" pitchFamily="49" charset="-122"/>
              </a:rPr>
              <a:t>位</a:t>
            </a:r>
            <a:r>
              <a:rPr lang="en-US" altLang="zh-CN" sz="2800" dirty="0">
                <a:solidFill>
                  <a:srgbClr val="FFFF00"/>
                </a:solidFill>
                <a:latin typeface="黑体" panose="02010609060101010101" pitchFamily="49" charset="-122"/>
                <a:ea typeface="黑体" panose="02010609060101010101" pitchFamily="49" charset="-122"/>
              </a:rPr>
              <a:t>(</a:t>
            </a:r>
            <a:r>
              <a:rPr lang="zh-CN" altLang="en-US" sz="2800" dirty="0">
                <a:solidFill>
                  <a:srgbClr val="00FF00"/>
                </a:solidFill>
                <a:latin typeface="黑体" panose="02010609060101010101" pitchFamily="49" charset="-122"/>
                <a:ea typeface="黑体" panose="02010609060101010101" pitchFamily="49" charset="-122"/>
              </a:rPr>
              <a:t>即高</a:t>
            </a:r>
            <a:r>
              <a:rPr lang="en-US" altLang="zh-CN" sz="2800" dirty="0">
                <a:solidFill>
                  <a:srgbClr val="00FF00"/>
                </a:solidFill>
                <a:latin typeface="黑体" panose="02010609060101010101" pitchFamily="49" charset="-122"/>
                <a:ea typeface="黑体" panose="02010609060101010101" pitchFamily="49" charset="-122"/>
              </a:rPr>
              <a:t>10</a:t>
            </a:r>
            <a:r>
              <a:rPr lang="zh-CN" altLang="en-US" sz="2800" dirty="0">
                <a:solidFill>
                  <a:srgbClr val="00FF00"/>
                </a:solidFill>
                <a:latin typeface="黑体" panose="02010609060101010101" pitchFamily="49" charset="-122"/>
                <a:ea typeface="黑体" panose="02010609060101010101" pitchFamily="49" charset="-122"/>
              </a:rPr>
              <a:t>位</a:t>
            </a:r>
            <a:r>
              <a:rPr lang="en-US" altLang="zh-CN" sz="2800" dirty="0">
                <a:solidFill>
                  <a:srgbClr val="FFFF00"/>
                </a:solidFill>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未被使用</a:t>
            </a:r>
            <a:r>
              <a:rPr lang="zh-CN" altLang="en-US" sz="2800" dirty="0">
                <a:solidFill>
                  <a:srgbClr val="FFFF00"/>
                </a:solidFill>
                <a:latin typeface="黑体" panose="02010609060101010101" pitchFamily="49" charset="-122"/>
                <a:ea typeface="黑体" panose="02010609060101010101" pitchFamily="49" charset="-122"/>
              </a:rPr>
              <a:t>（</a:t>
            </a:r>
            <a:r>
              <a:rPr lang="zh-CN" altLang="en-US" sz="2800" dirty="0">
                <a:solidFill>
                  <a:srgbClr val="00FF00"/>
                </a:solidFill>
                <a:latin typeface="黑体" panose="02010609060101010101" pitchFamily="49" charset="-122"/>
                <a:ea typeface="黑体" panose="02010609060101010101" pitchFamily="49" charset="-122"/>
              </a:rPr>
              <a:t>待扩展</a:t>
            </a:r>
            <a:r>
              <a:rPr lang="zh-CN" altLang="en-US" sz="2800" dirty="0">
                <a:solidFill>
                  <a:srgbClr val="FFFF00"/>
                </a:solidFill>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a:t>
            </a:r>
          </a:p>
        </p:txBody>
      </p:sp>
    </p:spTree>
  </p:cSld>
  <p:clrMapOvr>
    <a:masterClrMapping/>
  </p:clrMapOvr>
  <p:transition>
    <p:cover dir="l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Text Box 4"/>
          <p:cNvSpPr txBox="1"/>
          <p:nvPr/>
        </p:nvSpPr>
        <p:spPr>
          <a:xfrm>
            <a:off x="34925" y="173038"/>
            <a:ext cx="4392613" cy="519112"/>
          </a:xfrm>
          <a:prstGeom prst="rect">
            <a:avLst/>
          </a:prstGeom>
          <a:noFill/>
          <a:ln w="12700">
            <a:noFill/>
          </a:ln>
        </p:spPr>
        <p:txBody>
          <a:bodyPr>
            <a:spAutoFit/>
          </a:bodyPr>
          <a:lstStyle/>
          <a:p>
            <a:pPr>
              <a:spcBef>
                <a:spcPct val="50000"/>
              </a:spcBef>
            </a:pPr>
            <a:r>
              <a:rPr lang="zh-CN" altLang="en-US" sz="2800" dirty="0">
                <a:solidFill>
                  <a:schemeClr val="folHlink"/>
                </a:solidFill>
                <a:latin typeface="黑体" panose="02010609060101010101" pitchFamily="49" charset="-122"/>
                <a:ea typeface="黑体" panose="02010609060101010101" pitchFamily="49" charset="-122"/>
              </a:rPr>
              <a:t>（</a:t>
            </a:r>
            <a:r>
              <a:rPr lang="en-US" altLang="zh-CN" sz="2800" dirty="0">
                <a:solidFill>
                  <a:schemeClr val="folHlink"/>
                </a:solidFill>
                <a:latin typeface="黑体" panose="02010609060101010101" pitchFamily="49" charset="-122"/>
                <a:ea typeface="黑体" panose="02010609060101010101" pitchFamily="49" charset="-122"/>
              </a:rPr>
              <a:t>3</a:t>
            </a:r>
            <a:r>
              <a:rPr lang="zh-CN" altLang="en-US" sz="2800" dirty="0">
                <a:solidFill>
                  <a:schemeClr val="folHlink"/>
                </a:solidFill>
                <a:latin typeface="黑体" panose="02010609060101010101" pitchFamily="49" charset="-122"/>
                <a:ea typeface="黑体" panose="02010609060101010101" pitchFamily="49" charset="-122"/>
              </a:rPr>
              <a:t>）画出接口方案模型</a:t>
            </a:r>
          </a:p>
        </p:txBody>
      </p:sp>
      <p:grpSp>
        <p:nvGrpSpPr>
          <p:cNvPr id="2" name="Group 5"/>
          <p:cNvGrpSpPr/>
          <p:nvPr/>
        </p:nvGrpSpPr>
        <p:grpSpPr>
          <a:xfrm>
            <a:off x="3563938" y="650875"/>
            <a:ext cx="5187950" cy="5441950"/>
            <a:chOff x="2650" y="465"/>
            <a:chExt cx="3268" cy="3428"/>
          </a:xfrm>
        </p:grpSpPr>
        <p:sp>
          <p:nvSpPr>
            <p:cNvPr id="29701" name="Text Box 6"/>
            <p:cNvSpPr txBox="1"/>
            <p:nvPr/>
          </p:nvSpPr>
          <p:spPr>
            <a:xfrm>
              <a:off x="4862" y="2625"/>
              <a:ext cx="768" cy="250"/>
            </a:xfrm>
            <a:prstGeom prst="rect">
              <a:avLst/>
            </a:prstGeom>
            <a:noFill/>
            <a:ln w="12700">
              <a:noFill/>
            </a:ln>
          </p:spPr>
          <p:txBody>
            <a:bodyPr>
              <a:spAutoFit/>
            </a:bodyPr>
            <a:lstStyle/>
            <a:p>
              <a:pPr>
                <a:spcBef>
                  <a:spcPct val="50000"/>
                </a:spcBef>
              </a:pPr>
              <a:r>
                <a:rPr lang="en-US" altLang="zh-CN" sz="2000" dirty="0">
                  <a:solidFill>
                    <a:schemeClr val="accent1"/>
                  </a:solidFill>
                  <a:latin typeface="Times New Roman" panose="02020603050405020304" pitchFamily="18" charset="0"/>
                </a:rPr>
                <a:t>IRQ2</a:t>
              </a:r>
            </a:p>
          </p:txBody>
        </p:sp>
        <p:sp>
          <p:nvSpPr>
            <p:cNvPr id="29702" name="Line 7"/>
            <p:cNvSpPr/>
            <p:nvPr/>
          </p:nvSpPr>
          <p:spPr>
            <a:xfrm>
              <a:off x="5389" y="510"/>
              <a:ext cx="0" cy="2112"/>
            </a:xfrm>
            <a:prstGeom prst="line">
              <a:avLst/>
            </a:prstGeom>
            <a:ln w="76200" cap="flat" cmpd="sng">
              <a:solidFill>
                <a:srgbClr val="FFFF00"/>
              </a:solidFill>
              <a:prstDash val="solid"/>
              <a:headEnd type="none" w="med" len="med"/>
              <a:tailEnd type="none" w="med" len="med"/>
            </a:ln>
          </p:spPr>
        </p:sp>
        <p:sp>
          <p:nvSpPr>
            <p:cNvPr id="29703" name="Line 8"/>
            <p:cNvSpPr/>
            <p:nvPr/>
          </p:nvSpPr>
          <p:spPr>
            <a:xfrm>
              <a:off x="3019" y="491"/>
              <a:ext cx="1" cy="3402"/>
            </a:xfrm>
            <a:prstGeom prst="line">
              <a:avLst/>
            </a:prstGeom>
            <a:ln w="76200" cap="flat" cmpd="sng">
              <a:solidFill>
                <a:srgbClr val="FFFF00"/>
              </a:solidFill>
              <a:prstDash val="solid"/>
              <a:headEnd type="none" w="med" len="med"/>
              <a:tailEnd type="none" w="med" len="med"/>
            </a:ln>
          </p:spPr>
        </p:sp>
        <p:sp>
          <p:nvSpPr>
            <p:cNvPr id="29704" name="Line 9"/>
            <p:cNvSpPr/>
            <p:nvPr/>
          </p:nvSpPr>
          <p:spPr>
            <a:xfrm>
              <a:off x="5054" y="2865"/>
              <a:ext cx="0" cy="672"/>
            </a:xfrm>
            <a:prstGeom prst="line">
              <a:avLst/>
            </a:prstGeom>
            <a:ln w="38100" cap="flat" cmpd="sng">
              <a:solidFill>
                <a:schemeClr val="accent1"/>
              </a:solidFill>
              <a:prstDash val="solid"/>
              <a:headEnd type="none" w="med" len="med"/>
              <a:tailEnd type="none" w="med" len="med"/>
            </a:ln>
          </p:spPr>
        </p:sp>
        <p:sp>
          <p:nvSpPr>
            <p:cNvPr id="29705" name="Line 10"/>
            <p:cNvSpPr/>
            <p:nvPr/>
          </p:nvSpPr>
          <p:spPr>
            <a:xfrm flipH="1">
              <a:off x="4862" y="2865"/>
              <a:ext cx="192" cy="0"/>
            </a:xfrm>
            <a:prstGeom prst="line">
              <a:avLst/>
            </a:prstGeom>
            <a:ln w="38100" cap="flat" cmpd="sng">
              <a:solidFill>
                <a:schemeClr val="accent1"/>
              </a:solidFill>
              <a:prstDash val="solid"/>
              <a:headEnd type="none" w="med" len="med"/>
              <a:tailEnd type="none" w="med" len="med"/>
            </a:ln>
          </p:spPr>
        </p:sp>
        <p:sp>
          <p:nvSpPr>
            <p:cNvPr id="29706" name="Line 11"/>
            <p:cNvSpPr/>
            <p:nvPr/>
          </p:nvSpPr>
          <p:spPr>
            <a:xfrm flipH="1">
              <a:off x="4861" y="801"/>
              <a:ext cx="240" cy="0"/>
            </a:xfrm>
            <a:prstGeom prst="line">
              <a:avLst/>
            </a:prstGeom>
            <a:ln w="38100" cap="flat" cmpd="sng">
              <a:solidFill>
                <a:schemeClr val="tx1"/>
              </a:solidFill>
              <a:prstDash val="solid"/>
              <a:headEnd type="triangle" w="med" len="med"/>
              <a:tailEnd type="none" w="med" len="med"/>
            </a:ln>
          </p:spPr>
        </p:sp>
        <p:sp>
          <p:nvSpPr>
            <p:cNvPr id="29707" name="Line 12"/>
            <p:cNvSpPr/>
            <p:nvPr/>
          </p:nvSpPr>
          <p:spPr>
            <a:xfrm flipH="1">
              <a:off x="3037" y="705"/>
              <a:ext cx="672" cy="0"/>
            </a:xfrm>
            <a:prstGeom prst="line">
              <a:avLst/>
            </a:prstGeom>
            <a:ln w="38100" cap="flat" cmpd="sng">
              <a:solidFill>
                <a:schemeClr val="tx1"/>
              </a:solidFill>
              <a:prstDash val="solid"/>
              <a:headEnd type="triangle" w="med" len="med"/>
              <a:tailEnd type="none" w="med" len="med"/>
            </a:ln>
          </p:spPr>
        </p:sp>
        <p:sp>
          <p:nvSpPr>
            <p:cNvPr id="29708" name="Line 13"/>
            <p:cNvSpPr/>
            <p:nvPr/>
          </p:nvSpPr>
          <p:spPr>
            <a:xfrm flipH="1">
              <a:off x="4861" y="561"/>
              <a:ext cx="240" cy="0"/>
            </a:xfrm>
            <a:prstGeom prst="line">
              <a:avLst/>
            </a:prstGeom>
            <a:ln w="38100" cap="flat" cmpd="sng">
              <a:solidFill>
                <a:schemeClr val="tx1"/>
              </a:solidFill>
              <a:prstDash val="solid"/>
              <a:headEnd type="triangle" w="med" len="med"/>
              <a:tailEnd type="none" w="med" len="med"/>
            </a:ln>
          </p:spPr>
        </p:sp>
        <p:sp>
          <p:nvSpPr>
            <p:cNvPr id="29709" name="Line 14"/>
            <p:cNvSpPr/>
            <p:nvPr/>
          </p:nvSpPr>
          <p:spPr>
            <a:xfrm>
              <a:off x="5071" y="632"/>
              <a:ext cx="0" cy="113"/>
            </a:xfrm>
            <a:prstGeom prst="line">
              <a:avLst/>
            </a:prstGeom>
            <a:ln w="19050" cap="flat" cmpd="sng">
              <a:solidFill>
                <a:schemeClr val="tx1"/>
              </a:solidFill>
              <a:prstDash val="sysDot"/>
              <a:headEnd type="none" w="sm" len="sm"/>
              <a:tailEnd type="none" w="sm" len="sm"/>
            </a:ln>
          </p:spPr>
        </p:sp>
        <p:sp>
          <p:nvSpPr>
            <p:cNvPr id="29710" name="Text Box 15"/>
            <p:cNvSpPr txBox="1"/>
            <p:nvPr/>
          </p:nvSpPr>
          <p:spPr>
            <a:xfrm>
              <a:off x="3037" y="465"/>
              <a:ext cx="1056" cy="250"/>
            </a:xfrm>
            <a:prstGeom prst="rect">
              <a:avLst/>
            </a:prstGeom>
            <a:noFill/>
            <a:ln w="12700">
              <a:noFill/>
            </a:ln>
          </p:spPr>
          <p:txBody>
            <a:bodyPr>
              <a:spAutoFit/>
            </a:bodyPr>
            <a:lstStyle/>
            <a:p>
              <a:pPr>
                <a:spcBef>
                  <a:spcPct val="50000"/>
                </a:spcBef>
              </a:pPr>
              <a:r>
                <a:rPr lang="zh-CN" altLang="en-US" sz="2000" dirty="0">
                  <a:solidFill>
                    <a:schemeClr val="accent1"/>
                  </a:solidFill>
                  <a:latin typeface="Times New Roman" panose="02020603050405020304" pitchFamily="18" charset="0"/>
                </a:rPr>
                <a:t>地址线</a:t>
              </a:r>
            </a:p>
          </p:txBody>
        </p:sp>
        <p:sp>
          <p:nvSpPr>
            <p:cNvPr id="29711" name="Text Box 16"/>
            <p:cNvSpPr txBox="1"/>
            <p:nvPr/>
          </p:nvSpPr>
          <p:spPr>
            <a:xfrm>
              <a:off x="3709" y="513"/>
              <a:ext cx="1152" cy="312"/>
            </a:xfrm>
            <a:prstGeom prst="rect">
              <a:avLst/>
            </a:prstGeom>
            <a:solidFill>
              <a:srgbClr val="0000FF"/>
            </a:solidFill>
            <a:ln w="38100" cap="sq" cmpd="sng">
              <a:solidFill>
                <a:schemeClr val="tx1"/>
              </a:solidFill>
              <a:prstDash val="solid"/>
              <a:miter/>
              <a:headEnd type="none" w="sm" len="sm"/>
              <a:tailEnd type="none" w="sm" len="sm"/>
            </a:ln>
          </p:spPr>
          <p:txBody>
            <a:bodyPr>
              <a:spAutoFit/>
            </a:bodyPr>
            <a:lstStyle/>
            <a:p>
              <a:pPr>
                <a:spcBef>
                  <a:spcPct val="50000"/>
                </a:spcBef>
              </a:pPr>
              <a:r>
                <a:rPr lang="zh-CN" altLang="en-US" dirty="0">
                  <a:solidFill>
                    <a:schemeClr val="folHlink"/>
                  </a:solidFill>
                  <a:latin typeface="Times New Roman" panose="02020603050405020304" pitchFamily="18" charset="0"/>
                  <a:ea typeface="黑体" panose="02010609060101010101" pitchFamily="49" charset="-122"/>
                </a:rPr>
                <a:t>寄存器选择</a:t>
              </a:r>
            </a:p>
          </p:txBody>
        </p:sp>
        <p:sp>
          <p:nvSpPr>
            <p:cNvPr id="29712" name="Text Box 17"/>
            <p:cNvSpPr txBox="1"/>
            <p:nvPr/>
          </p:nvSpPr>
          <p:spPr>
            <a:xfrm>
              <a:off x="3709" y="945"/>
              <a:ext cx="1152" cy="312"/>
            </a:xfrm>
            <a:prstGeom prst="rect">
              <a:avLst/>
            </a:prstGeom>
            <a:solidFill>
              <a:srgbClr val="6600FF"/>
            </a:solidFill>
            <a:ln w="38100" cap="sq" cmpd="sng">
              <a:solidFill>
                <a:schemeClr val="tx1"/>
              </a:solidFill>
              <a:prstDash val="solid"/>
              <a:miter/>
              <a:headEnd type="none" w="sm" len="sm"/>
              <a:tailEnd type="none" w="sm" len="sm"/>
            </a:ln>
          </p:spPr>
          <p:txBody>
            <a:bodyPr>
              <a:spAutoFit/>
            </a:bodyPr>
            <a:lstStyle/>
            <a:p>
              <a:pPr>
                <a:spcBef>
                  <a:spcPct val="50000"/>
                </a:spcBef>
              </a:pPr>
              <a:r>
                <a:rPr lang="zh-CN" altLang="en-US" dirty="0">
                  <a:solidFill>
                    <a:schemeClr val="folHlink"/>
                  </a:solidFill>
                  <a:latin typeface="Times New Roman" panose="02020603050405020304" pitchFamily="18" charset="0"/>
                </a:rPr>
                <a:t>命令</a:t>
              </a:r>
              <a:r>
                <a:rPr lang="en-US" altLang="zh-CN" dirty="0">
                  <a:solidFill>
                    <a:schemeClr val="folHlink"/>
                  </a:solidFill>
                  <a:latin typeface="Times New Roman" panose="02020603050405020304" pitchFamily="18" charset="0"/>
                </a:rPr>
                <a:t>1 </a:t>
              </a:r>
              <a:r>
                <a:rPr lang="zh-CN" altLang="en-US" dirty="0">
                  <a:solidFill>
                    <a:schemeClr val="folHlink"/>
                  </a:solidFill>
                  <a:latin typeface="Times New Roman" panose="02020603050405020304" pitchFamily="18" charset="0"/>
                </a:rPr>
                <a:t>命令</a:t>
              </a:r>
              <a:r>
                <a:rPr lang="en-US" altLang="zh-CN" dirty="0">
                  <a:solidFill>
                    <a:schemeClr val="folHlink"/>
                  </a:solidFill>
                  <a:latin typeface="Times New Roman" panose="02020603050405020304" pitchFamily="18" charset="0"/>
                </a:rPr>
                <a:t>2</a:t>
              </a:r>
            </a:p>
          </p:txBody>
        </p:sp>
        <p:sp>
          <p:nvSpPr>
            <p:cNvPr id="29713" name="Text Box 18"/>
            <p:cNvSpPr txBox="1"/>
            <p:nvPr/>
          </p:nvSpPr>
          <p:spPr>
            <a:xfrm>
              <a:off x="3709" y="1377"/>
              <a:ext cx="1153" cy="312"/>
            </a:xfrm>
            <a:prstGeom prst="rect">
              <a:avLst/>
            </a:prstGeom>
            <a:solidFill>
              <a:srgbClr val="6600FF"/>
            </a:solidFill>
            <a:ln w="38100" cap="sq" cmpd="sng">
              <a:solidFill>
                <a:schemeClr val="tx1"/>
              </a:solidFill>
              <a:prstDash val="solid"/>
              <a:miter/>
              <a:headEnd type="none" w="sm" len="sm"/>
              <a:tailEnd type="none" w="sm" len="sm"/>
            </a:ln>
          </p:spPr>
          <p:txBody>
            <a:bodyPr>
              <a:spAutoFit/>
            </a:bodyPr>
            <a:lstStyle/>
            <a:p>
              <a:pPr>
                <a:spcBef>
                  <a:spcPct val="50000"/>
                </a:spcBef>
              </a:pPr>
              <a:r>
                <a:rPr lang="zh-CN" altLang="en-US" dirty="0">
                  <a:solidFill>
                    <a:schemeClr val="folHlink"/>
                  </a:solidFill>
                  <a:latin typeface="Times New Roman" panose="02020603050405020304" pitchFamily="18" charset="0"/>
                </a:rPr>
                <a:t>状态</a:t>
              </a:r>
              <a:r>
                <a:rPr lang="en-US" altLang="zh-CN" dirty="0">
                  <a:solidFill>
                    <a:schemeClr val="folHlink"/>
                  </a:solidFill>
                  <a:latin typeface="Times New Roman" panose="02020603050405020304" pitchFamily="18" charset="0"/>
                </a:rPr>
                <a:t>1 </a:t>
              </a:r>
              <a:r>
                <a:rPr lang="zh-CN" altLang="en-US" dirty="0">
                  <a:solidFill>
                    <a:schemeClr val="folHlink"/>
                  </a:solidFill>
                  <a:latin typeface="Times New Roman" panose="02020603050405020304" pitchFamily="18" charset="0"/>
                </a:rPr>
                <a:t>状态</a:t>
              </a:r>
              <a:r>
                <a:rPr lang="en-US" altLang="zh-CN" dirty="0">
                  <a:solidFill>
                    <a:schemeClr val="folHlink"/>
                  </a:solidFill>
                  <a:latin typeface="Times New Roman" panose="02020603050405020304" pitchFamily="18" charset="0"/>
                </a:rPr>
                <a:t>2</a:t>
              </a:r>
            </a:p>
          </p:txBody>
        </p:sp>
        <p:sp>
          <p:nvSpPr>
            <p:cNvPr id="29714" name="Text Box 19"/>
            <p:cNvSpPr txBox="1"/>
            <p:nvPr/>
          </p:nvSpPr>
          <p:spPr>
            <a:xfrm>
              <a:off x="3710" y="2673"/>
              <a:ext cx="1152" cy="312"/>
            </a:xfrm>
            <a:prstGeom prst="rect">
              <a:avLst/>
            </a:prstGeom>
            <a:noFill/>
            <a:ln w="38100" cap="sq" cmpd="sng">
              <a:solidFill>
                <a:schemeClr val="accent1"/>
              </a:solidFill>
              <a:prstDash val="solid"/>
              <a:miter/>
              <a:headEnd type="none" w="sm" len="sm"/>
              <a:tailEnd type="none" w="sm" len="sm"/>
            </a:ln>
          </p:spPr>
          <p:txBody>
            <a:bodyPr>
              <a:spAutoFit/>
            </a:bodyPr>
            <a:lstStyle/>
            <a:p>
              <a:pPr algn="ctr">
                <a:spcBef>
                  <a:spcPct val="50000"/>
                </a:spcBef>
              </a:pPr>
              <a:r>
                <a:rPr lang="zh-CN" altLang="en-US" dirty="0">
                  <a:solidFill>
                    <a:schemeClr val="accent1"/>
                  </a:solidFill>
                  <a:latin typeface="黑体" panose="02010609060101010101" pitchFamily="49" charset="-122"/>
                  <a:ea typeface="黑体" panose="02010609060101010101" pitchFamily="49" charset="-122"/>
                </a:rPr>
                <a:t>控制逻辑</a:t>
              </a:r>
            </a:p>
          </p:txBody>
        </p:sp>
        <p:sp>
          <p:nvSpPr>
            <p:cNvPr id="29715" name="Text Box 20"/>
            <p:cNvSpPr txBox="1"/>
            <p:nvPr/>
          </p:nvSpPr>
          <p:spPr>
            <a:xfrm>
              <a:off x="3037" y="849"/>
              <a:ext cx="1056" cy="250"/>
            </a:xfrm>
            <a:prstGeom prst="rect">
              <a:avLst/>
            </a:prstGeom>
            <a:noFill/>
            <a:ln w="12700">
              <a:noFill/>
            </a:ln>
          </p:spPr>
          <p:txBody>
            <a:bodyPr>
              <a:spAutoFit/>
            </a:bodyPr>
            <a:lstStyle/>
            <a:p>
              <a:pPr>
                <a:spcBef>
                  <a:spcPct val="50000"/>
                </a:spcBef>
              </a:pPr>
              <a:r>
                <a:rPr lang="zh-CN" altLang="en-US" sz="2000" dirty="0">
                  <a:solidFill>
                    <a:schemeClr val="accent1"/>
                  </a:solidFill>
                  <a:latin typeface="Times New Roman" panose="02020603050405020304" pitchFamily="18" charset="0"/>
                </a:rPr>
                <a:t>数据线</a:t>
              </a:r>
            </a:p>
          </p:txBody>
        </p:sp>
        <p:sp>
          <p:nvSpPr>
            <p:cNvPr id="29716" name="Text Box 21"/>
            <p:cNvSpPr txBox="1"/>
            <p:nvPr/>
          </p:nvSpPr>
          <p:spPr>
            <a:xfrm>
              <a:off x="3037" y="1281"/>
              <a:ext cx="1056" cy="250"/>
            </a:xfrm>
            <a:prstGeom prst="rect">
              <a:avLst/>
            </a:prstGeom>
            <a:noFill/>
            <a:ln w="12700">
              <a:noFill/>
            </a:ln>
          </p:spPr>
          <p:txBody>
            <a:bodyPr>
              <a:spAutoFit/>
            </a:bodyPr>
            <a:lstStyle/>
            <a:p>
              <a:pPr>
                <a:spcBef>
                  <a:spcPct val="50000"/>
                </a:spcBef>
              </a:pPr>
              <a:r>
                <a:rPr lang="zh-CN" altLang="en-US" sz="2000" dirty="0">
                  <a:solidFill>
                    <a:schemeClr val="accent1"/>
                  </a:solidFill>
                  <a:latin typeface="Times New Roman" panose="02020603050405020304" pitchFamily="18" charset="0"/>
                </a:rPr>
                <a:t>数据线</a:t>
              </a:r>
            </a:p>
          </p:txBody>
        </p:sp>
        <p:sp>
          <p:nvSpPr>
            <p:cNvPr id="29717" name="Line 22"/>
            <p:cNvSpPr/>
            <p:nvPr/>
          </p:nvSpPr>
          <p:spPr>
            <a:xfrm flipH="1">
              <a:off x="3037" y="1089"/>
              <a:ext cx="672" cy="0"/>
            </a:xfrm>
            <a:prstGeom prst="line">
              <a:avLst/>
            </a:prstGeom>
            <a:ln w="38100" cap="flat" cmpd="sng">
              <a:solidFill>
                <a:schemeClr val="tx1"/>
              </a:solidFill>
              <a:prstDash val="solid"/>
              <a:headEnd type="triangle" w="med" len="med"/>
              <a:tailEnd type="none" w="med" len="med"/>
            </a:ln>
          </p:spPr>
        </p:sp>
        <p:sp>
          <p:nvSpPr>
            <p:cNvPr id="29718" name="Line 23"/>
            <p:cNvSpPr/>
            <p:nvPr/>
          </p:nvSpPr>
          <p:spPr>
            <a:xfrm flipH="1">
              <a:off x="3037" y="1521"/>
              <a:ext cx="672" cy="0"/>
            </a:xfrm>
            <a:prstGeom prst="line">
              <a:avLst/>
            </a:prstGeom>
            <a:ln w="38100" cap="flat" cmpd="sng">
              <a:solidFill>
                <a:schemeClr val="tx1"/>
              </a:solidFill>
              <a:prstDash val="solid"/>
              <a:headEnd type="none" w="med" len="med"/>
              <a:tailEnd type="triangle" w="med" len="med"/>
            </a:ln>
          </p:spPr>
        </p:sp>
        <p:sp>
          <p:nvSpPr>
            <p:cNvPr id="29719" name="Line 24"/>
            <p:cNvSpPr/>
            <p:nvPr/>
          </p:nvSpPr>
          <p:spPr>
            <a:xfrm flipH="1">
              <a:off x="4861" y="1089"/>
              <a:ext cx="528" cy="0"/>
            </a:xfrm>
            <a:prstGeom prst="line">
              <a:avLst/>
            </a:prstGeom>
            <a:ln w="38100" cap="flat" cmpd="sng">
              <a:solidFill>
                <a:schemeClr val="tx1"/>
              </a:solidFill>
              <a:prstDash val="solid"/>
              <a:headEnd type="triangle" w="med" len="med"/>
              <a:tailEnd type="none" w="med" len="med"/>
            </a:ln>
          </p:spPr>
        </p:sp>
        <p:sp>
          <p:nvSpPr>
            <p:cNvPr id="29720" name="Text Box 25"/>
            <p:cNvSpPr txBox="1"/>
            <p:nvPr/>
          </p:nvSpPr>
          <p:spPr>
            <a:xfrm>
              <a:off x="4909" y="849"/>
              <a:ext cx="816" cy="250"/>
            </a:xfrm>
            <a:prstGeom prst="rect">
              <a:avLst/>
            </a:prstGeom>
            <a:noFill/>
            <a:ln w="12700">
              <a:noFill/>
            </a:ln>
          </p:spPr>
          <p:txBody>
            <a:bodyPr>
              <a:spAutoFit/>
            </a:bodyPr>
            <a:lstStyle/>
            <a:p>
              <a:pPr>
                <a:spcBef>
                  <a:spcPct val="50000"/>
                </a:spcBef>
              </a:pPr>
              <a:r>
                <a:rPr lang="zh-CN" altLang="en-US" sz="2000" dirty="0">
                  <a:solidFill>
                    <a:schemeClr val="accent1"/>
                  </a:solidFill>
                  <a:latin typeface="Times New Roman" panose="02020603050405020304" pitchFamily="18" charset="0"/>
                </a:rPr>
                <a:t>命令</a:t>
              </a:r>
            </a:p>
          </p:txBody>
        </p:sp>
        <p:sp>
          <p:nvSpPr>
            <p:cNvPr id="29721" name="Line 26"/>
            <p:cNvSpPr/>
            <p:nvPr/>
          </p:nvSpPr>
          <p:spPr>
            <a:xfrm flipH="1">
              <a:off x="4861" y="1521"/>
              <a:ext cx="528" cy="0"/>
            </a:xfrm>
            <a:prstGeom prst="line">
              <a:avLst/>
            </a:prstGeom>
            <a:ln w="38100" cap="flat" cmpd="sng">
              <a:solidFill>
                <a:schemeClr val="tx1"/>
              </a:solidFill>
              <a:prstDash val="solid"/>
              <a:headEnd type="none" w="med" len="med"/>
              <a:tailEnd type="triangle" w="med" len="med"/>
            </a:ln>
          </p:spPr>
        </p:sp>
        <p:sp>
          <p:nvSpPr>
            <p:cNvPr id="29722" name="Text Box 27"/>
            <p:cNvSpPr txBox="1"/>
            <p:nvPr/>
          </p:nvSpPr>
          <p:spPr>
            <a:xfrm>
              <a:off x="4909" y="1281"/>
              <a:ext cx="816" cy="250"/>
            </a:xfrm>
            <a:prstGeom prst="rect">
              <a:avLst/>
            </a:prstGeom>
            <a:noFill/>
            <a:ln w="12700">
              <a:noFill/>
            </a:ln>
          </p:spPr>
          <p:txBody>
            <a:bodyPr>
              <a:spAutoFit/>
            </a:bodyPr>
            <a:lstStyle/>
            <a:p>
              <a:pPr>
                <a:spcBef>
                  <a:spcPct val="50000"/>
                </a:spcBef>
              </a:pPr>
              <a:r>
                <a:rPr lang="zh-CN" altLang="en-US" sz="2000" dirty="0">
                  <a:solidFill>
                    <a:schemeClr val="accent1"/>
                  </a:solidFill>
                  <a:latin typeface="Times New Roman" panose="02020603050405020304" pitchFamily="18" charset="0"/>
                </a:rPr>
                <a:t>状态</a:t>
              </a:r>
            </a:p>
          </p:txBody>
        </p:sp>
        <p:grpSp>
          <p:nvGrpSpPr>
            <p:cNvPr id="29723" name="Group 28"/>
            <p:cNvGrpSpPr/>
            <p:nvPr/>
          </p:nvGrpSpPr>
          <p:grpSpPr>
            <a:xfrm>
              <a:off x="3037" y="1713"/>
              <a:ext cx="2688" cy="428"/>
              <a:chOff x="2879" y="1488"/>
              <a:chExt cx="2688" cy="428"/>
            </a:xfrm>
          </p:grpSpPr>
          <p:sp>
            <p:nvSpPr>
              <p:cNvPr id="29749" name="Text Box 29"/>
              <p:cNvSpPr txBox="1"/>
              <p:nvPr/>
            </p:nvSpPr>
            <p:spPr>
              <a:xfrm>
                <a:off x="3551" y="1584"/>
                <a:ext cx="1152" cy="332"/>
              </a:xfrm>
              <a:prstGeom prst="rect">
                <a:avLst/>
              </a:prstGeom>
              <a:solidFill>
                <a:srgbClr val="0000FF"/>
              </a:solidFill>
              <a:ln w="38100" cap="sq" cmpd="sng">
                <a:solidFill>
                  <a:schemeClr val="tx1"/>
                </a:solidFill>
                <a:prstDash val="solid"/>
                <a:miter/>
                <a:headEnd type="none" w="sm" len="sm"/>
                <a:tailEnd type="none" w="sm" len="sm"/>
              </a:ln>
            </p:spPr>
            <p:txBody>
              <a:bodyPr>
                <a:spAutoFit/>
              </a:bodyPr>
              <a:lstStyle/>
              <a:p>
                <a:pPr algn="ctr">
                  <a:spcBef>
                    <a:spcPct val="50000"/>
                  </a:spcBef>
                </a:pPr>
                <a:r>
                  <a:rPr lang="zh-CN" altLang="en-US" sz="2600" dirty="0">
                    <a:solidFill>
                      <a:schemeClr val="folHlink"/>
                    </a:solidFill>
                    <a:latin typeface="黑体" panose="02010609060101010101" pitchFamily="49" charset="-122"/>
                    <a:ea typeface="黑体" panose="02010609060101010101" pitchFamily="49" charset="-122"/>
                  </a:rPr>
                  <a:t>数据缓冲</a:t>
                </a:r>
                <a:r>
                  <a:rPr lang="en-US" altLang="zh-CN" sz="2600" dirty="0">
                    <a:solidFill>
                      <a:schemeClr val="folHlink"/>
                    </a:solidFill>
                    <a:latin typeface="黑体" panose="02010609060101010101" pitchFamily="49" charset="-122"/>
                    <a:ea typeface="黑体" panose="02010609060101010101" pitchFamily="49" charset="-122"/>
                  </a:rPr>
                  <a:t>1</a:t>
                </a:r>
              </a:p>
            </p:txBody>
          </p:sp>
          <p:sp>
            <p:nvSpPr>
              <p:cNvPr id="29750" name="Line 30"/>
              <p:cNvSpPr/>
              <p:nvPr/>
            </p:nvSpPr>
            <p:spPr>
              <a:xfrm flipH="1">
                <a:off x="2879" y="1728"/>
                <a:ext cx="672" cy="0"/>
              </a:xfrm>
              <a:prstGeom prst="line">
                <a:avLst/>
              </a:prstGeom>
              <a:ln w="38100" cap="flat" cmpd="sng">
                <a:solidFill>
                  <a:schemeClr val="tx1"/>
                </a:solidFill>
                <a:prstDash val="solid"/>
                <a:headEnd type="triangle" w="med" len="med"/>
                <a:tailEnd type="triangle" w="med" len="med"/>
              </a:ln>
            </p:spPr>
          </p:sp>
          <p:sp>
            <p:nvSpPr>
              <p:cNvPr id="29751" name="Text Box 31"/>
              <p:cNvSpPr txBox="1"/>
              <p:nvPr/>
            </p:nvSpPr>
            <p:spPr>
              <a:xfrm>
                <a:off x="2879" y="1488"/>
                <a:ext cx="1056" cy="250"/>
              </a:xfrm>
              <a:prstGeom prst="rect">
                <a:avLst/>
              </a:prstGeom>
              <a:noFill/>
              <a:ln w="12700">
                <a:noFill/>
              </a:ln>
            </p:spPr>
            <p:txBody>
              <a:bodyPr>
                <a:spAutoFit/>
              </a:bodyPr>
              <a:lstStyle/>
              <a:p>
                <a:pPr>
                  <a:spcBef>
                    <a:spcPct val="50000"/>
                  </a:spcBef>
                </a:pPr>
                <a:r>
                  <a:rPr lang="zh-CN" altLang="en-US" sz="2000" dirty="0">
                    <a:solidFill>
                      <a:schemeClr val="accent1"/>
                    </a:solidFill>
                    <a:latin typeface="Times New Roman" panose="02020603050405020304" pitchFamily="18" charset="0"/>
                  </a:rPr>
                  <a:t>数据线</a:t>
                </a:r>
              </a:p>
            </p:txBody>
          </p:sp>
          <p:sp>
            <p:nvSpPr>
              <p:cNvPr id="29752" name="Line 32"/>
              <p:cNvSpPr/>
              <p:nvPr/>
            </p:nvSpPr>
            <p:spPr>
              <a:xfrm flipH="1">
                <a:off x="4703" y="1728"/>
                <a:ext cx="528" cy="0"/>
              </a:xfrm>
              <a:prstGeom prst="line">
                <a:avLst/>
              </a:prstGeom>
              <a:ln w="38100" cap="flat" cmpd="sng">
                <a:solidFill>
                  <a:schemeClr val="tx1"/>
                </a:solidFill>
                <a:prstDash val="solid"/>
                <a:headEnd type="triangle" w="med" len="med"/>
                <a:tailEnd type="triangle" w="med" len="med"/>
              </a:ln>
            </p:spPr>
          </p:sp>
          <p:sp>
            <p:nvSpPr>
              <p:cNvPr id="29753" name="Text Box 33"/>
              <p:cNvSpPr txBox="1"/>
              <p:nvPr/>
            </p:nvSpPr>
            <p:spPr>
              <a:xfrm>
                <a:off x="4751" y="1488"/>
                <a:ext cx="816" cy="250"/>
              </a:xfrm>
              <a:prstGeom prst="rect">
                <a:avLst/>
              </a:prstGeom>
              <a:noFill/>
              <a:ln w="12700">
                <a:noFill/>
              </a:ln>
            </p:spPr>
            <p:txBody>
              <a:bodyPr>
                <a:spAutoFit/>
              </a:bodyPr>
              <a:lstStyle/>
              <a:p>
                <a:pPr>
                  <a:spcBef>
                    <a:spcPct val="50000"/>
                  </a:spcBef>
                </a:pPr>
                <a:r>
                  <a:rPr lang="zh-CN" altLang="en-US" sz="2000" dirty="0">
                    <a:solidFill>
                      <a:schemeClr val="accent1"/>
                    </a:solidFill>
                    <a:latin typeface="Times New Roman" panose="02020603050405020304" pitchFamily="18" charset="0"/>
                  </a:rPr>
                  <a:t>数据</a:t>
                </a:r>
              </a:p>
            </p:txBody>
          </p:sp>
        </p:grpSp>
        <p:sp>
          <p:nvSpPr>
            <p:cNvPr id="29724" name="Text Box 34"/>
            <p:cNvSpPr txBox="1"/>
            <p:nvPr/>
          </p:nvSpPr>
          <p:spPr>
            <a:xfrm>
              <a:off x="5387" y="705"/>
              <a:ext cx="388" cy="768"/>
            </a:xfrm>
            <a:prstGeom prst="rect">
              <a:avLst/>
            </a:prstGeom>
            <a:noFill/>
            <a:ln w="12700">
              <a:noFill/>
            </a:ln>
          </p:spPr>
          <p:txBody>
            <a:bodyPr vert="eaVert">
              <a:spAutoFit/>
            </a:bodyPr>
            <a:lstStyle/>
            <a:p>
              <a:pPr>
                <a:spcBef>
                  <a:spcPct val="50000"/>
                </a:spcBef>
              </a:pPr>
              <a:r>
                <a:rPr lang="zh-CN" altLang="en-US" sz="2800" dirty="0">
                  <a:latin typeface="黑体" panose="02010609060101010101" pitchFamily="49" charset="-122"/>
                  <a:ea typeface="黑体" panose="02010609060101010101" pitchFamily="49" charset="-122"/>
                </a:rPr>
                <a:t>设备</a:t>
              </a:r>
              <a:r>
                <a:rPr lang="en-US" altLang="zh-CN" sz="2800" dirty="0">
                  <a:latin typeface="黑体" panose="02010609060101010101" pitchFamily="49" charset="-122"/>
                  <a:ea typeface="黑体" panose="02010609060101010101" pitchFamily="49" charset="-122"/>
                </a:rPr>
                <a:t>1</a:t>
              </a:r>
            </a:p>
          </p:txBody>
        </p:sp>
        <p:sp>
          <p:nvSpPr>
            <p:cNvPr id="29725" name="Text Box 35"/>
            <p:cNvSpPr txBox="1"/>
            <p:nvPr/>
          </p:nvSpPr>
          <p:spPr>
            <a:xfrm>
              <a:off x="2650" y="552"/>
              <a:ext cx="388" cy="1200"/>
            </a:xfrm>
            <a:prstGeom prst="rect">
              <a:avLst/>
            </a:prstGeom>
            <a:noFill/>
            <a:ln w="12700">
              <a:noFill/>
            </a:ln>
          </p:spPr>
          <p:txBody>
            <a:bodyPr vert="eaVert">
              <a:spAutoFit/>
            </a:bodyPr>
            <a:lstStyle/>
            <a:p>
              <a:pPr algn="ctr">
                <a:spcBef>
                  <a:spcPct val="50000"/>
                </a:spcBef>
              </a:pPr>
              <a:r>
                <a:rPr lang="zh-CN" altLang="en-US" sz="2800" dirty="0">
                  <a:latin typeface="黑体" panose="02010609060101010101" pitchFamily="49" charset="-122"/>
                  <a:ea typeface="黑体" panose="02010609060101010101" pitchFamily="49" charset="-122"/>
                </a:rPr>
                <a:t>系统总线</a:t>
              </a:r>
            </a:p>
          </p:txBody>
        </p:sp>
        <p:sp>
          <p:nvSpPr>
            <p:cNvPr id="29726" name="Line 36"/>
            <p:cNvSpPr/>
            <p:nvPr/>
          </p:nvSpPr>
          <p:spPr>
            <a:xfrm>
              <a:off x="2702" y="3108"/>
              <a:ext cx="3024" cy="0"/>
            </a:xfrm>
            <a:prstGeom prst="line">
              <a:avLst/>
            </a:prstGeom>
            <a:ln w="38100" cap="rnd" cmpd="sng">
              <a:solidFill>
                <a:srgbClr val="FFFF00"/>
              </a:solidFill>
              <a:prstDash val="sysDot"/>
              <a:headEnd type="none" w="med" len="med"/>
              <a:tailEnd type="none" w="med" len="med"/>
            </a:ln>
          </p:spPr>
        </p:sp>
        <p:sp>
          <p:nvSpPr>
            <p:cNvPr id="29727" name="Line 37"/>
            <p:cNvSpPr/>
            <p:nvPr/>
          </p:nvSpPr>
          <p:spPr>
            <a:xfrm flipH="1">
              <a:off x="4862" y="3393"/>
              <a:ext cx="288" cy="0"/>
            </a:xfrm>
            <a:prstGeom prst="line">
              <a:avLst/>
            </a:prstGeom>
            <a:ln w="38100" cap="flat" cmpd="sng">
              <a:solidFill>
                <a:schemeClr val="tx1"/>
              </a:solidFill>
              <a:prstDash val="solid"/>
              <a:headEnd type="none" w="med" len="med"/>
              <a:tailEnd type="triangle" w="med" len="med"/>
            </a:ln>
          </p:spPr>
        </p:sp>
        <p:sp>
          <p:nvSpPr>
            <p:cNvPr id="29728" name="Line 38"/>
            <p:cNvSpPr/>
            <p:nvPr/>
          </p:nvSpPr>
          <p:spPr>
            <a:xfrm flipV="1">
              <a:off x="5294" y="3492"/>
              <a:ext cx="0" cy="113"/>
            </a:xfrm>
            <a:prstGeom prst="line">
              <a:avLst/>
            </a:prstGeom>
            <a:ln w="19050" cap="rnd" cmpd="sng">
              <a:solidFill>
                <a:schemeClr val="tx1"/>
              </a:solidFill>
              <a:prstDash val="sysDot"/>
              <a:headEnd type="none" w="med" len="med"/>
              <a:tailEnd type="none" w="med" len="med"/>
            </a:ln>
          </p:spPr>
        </p:sp>
        <p:sp>
          <p:nvSpPr>
            <p:cNvPr id="29729" name="Rectangle 39"/>
            <p:cNvSpPr/>
            <p:nvPr/>
          </p:nvSpPr>
          <p:spPr>
            <a:xfrm>
              <a:off x="3710" y="3258"/>
              <a:ext cx="1152" cy="576"/>
            </a:xfrm>
            <a:prstGeom prst="rect">
              <a:avLst/>
            </a:prstGeom>
            <a:solidFill>
              <a:schemeClr val="bg1"/>
            </a:solidFill>
            <a:ln w="38100" cap="sq" cmpd="sng">
              <a:solidFill>
                <a:schemeClr val="accent1"/>
              </a:solidFill>
              <a:prstDash val="solid"/>
              <a:miter/>
              <a:headEnd type="none" w="sm" len="sm"/>
              <a:tailEnd type="none" w="sm" len="sm"/>
            </a:ln>
          </p:spPr>
          <p:txBody>
            <a:bodyPr wrap="none" anchor="ctr" anchorCtr="0"/>
            <a:lstStyle/>
            <a:p>
              <a:pPr algn="ctr" eaLnBrk="0" hangingPunct="0"/>
              <a:r>
                <a:rPr lang="en-US" altLang="zh-CN" sz="2700" dirty="0">
                  <a:solidFill>
                    <a:schemeClr val="accent1"/>
                  </a:solidFill>
                  <a:latin typeface="黑体" panose="02010609060101010101" pitchFamily="49" charset="-122"/>
                  <a:ea typeface="黑体" panose="02010609060101010101" pitchFamily="49" charset="-122"/>
                </a:rPr>
                <a:t>8259</a:t>
              </a:r>
            </a:p>
            <a:p>
              <a:pPr algn="ctr" eaLnBrk="0" hangingPunct="0"/>
              <a:r>
                <a:rPr lang="zh-CN" altLang="en-US" sz="2700" dirty="0">
                  <a:latin typeface="黑体" panose="02010609060101010101" pitchFamily="49" charset="-122"/>
                  <a:ea typeface="黑体" panose="02010609060101010101" pitchFamily="49" charset="-122"/>
                </a:rPr>
                <a:t>中断控制器</a:t>
              </a:r>
            </a:p>
          </p:txBody>
        </p:sp>
        <p:sp>
          <p:nvSpPr>
            <p:cNvPr id="29730" name="Text Box 40"/>
            <p:cNvSpPr txBox="1"/>
            <p:nvPr/>
          </p:nvSpPr>
          <p:spPr>
            <a:xfrm>
              <a:off x="3098" y="3531"/>
              <a:ext cx="912" cy="250"/>
            </a:xfrm>
            <a:prstGeom prst="rect">
              <a:avLst/>
            </a:prstGeom>
            <a:noFill/>
            <a:ln w="12700">
              <a:noFill/>
            </a:ln>
          </p:spPr>
          <p:txBody>
            <a:bodyPr>
              <a:spAutoFit/>
            </a:bodyPr>
            <a:lstStyle/>
            <a:p>
              <a:pPr>
                <a:spcBef>
                  <a:spcPct val="50000"/>
                </a:spcBef>
              </a:pPr>
              <a:r>
                <a:rPr lang="en-US" altLang="zh-CN" sz="2000" dirty="0">
                  <a:solidFill>
                    <a:srgbClr val="FFFF00"/>
                  </a:solidFill>
                  <a:latin typeface="黑体" panose="02010609060101010101" pitchFamily="49" charset="-122"/>
                  <a:ea typeface="黑体" panose="02010609060101010101" pitchFamily="49" charset="-122"/>
                </a:rPr>
                <a:t>D7-D0</a:t>
              </a:r>
            </a:p>
          </p:txBody>
        </p:sp>
        <p:sp>
          <p:nvSpPr>
            <p:cNvPr id="29731" name="Text Box 41"/>
            <p:cNvSpPr txBox="1"/>
            <p:nvPr/>
          </p:nvSpPr>
          <p:spPr>
            <a:xfrm>
              <a:off x="5150" y="3249"/>
              <a:ext cx="768" cy="250"/>
            </a:xfrm>
            <a:prstGeom prst="rect">
              <a:avLst/>
            </a:prstGeom>
            <a:noFill/>
            <a:ln w="12700">
              <a:noFill/>
            </a:ln>
          </p:spPr>
          <p:txBody>
            <a:bodyPr>
              <a:spAutoFit/>
            </a:bodyPr>
            <a:lstStyle/>
            <a:p>
              <a:pPr>
                <a:spcBef>
                  <a:spcPct val="50000"/>
                </a:spcBef>
              </a:pPr>
              <a:r>
                <a:rPr lang="en-US" altLang="zh-CN" sz="2000" dirty="0">
                  <a:latin typeface="Times New Roman" panose="02020603050405020304" pitchFamily="18" charset="0"/>
                </a:rPr>
                <a:t>IRQ0</a:t>
              </a:r>
            </a:p>
          </p:txBody>
        </p:sp>
        <p:sp>
          <p:nvSpPr>
            <p:cNvPr id="29732" name="Line 42"/>
            <p:cNvSpPr/>
            <p:nvPr/>
          </p:nvSpPr>
          <p:spPr>
            <a:xfrm flipH="1">
              <a:off x="3038" y="3348"/>
              <a:ext cx="672" cy="0"/>
            </a:xfrm>
            <a:prstGeom prst="line">
              <a:avLst/>
            </a:prstGeom>
            <a:ln w="38100" cap="flat" cmpd="sng">
              <a:solidFill>
                <a:schemeClr val="tx1"/>
              </a:solidFill>
              <a:prstDash val="solid"/>
              <a:headEnd type="none" w="med" len="med"/>
              <a:tailEnd type="triangle" w="med" len="med"/>
            </a:ln>
          </p:spPr>
        </p:sp>
        <p:sp>
          <p:nvSpPr>
            <p:cNvPr id="29733" name="Line 43"/>
            <p:cNvSpPr/>
            <p:nvPr/>
          </p:nvSpPr>
          <p:spPr>
            <a:xfrm flipH="1">
              <a:off x="3038" y="3549"/>
              <a:ext cx="672" cy="0"/>
            </a:xfrm>
            <a:prstGeom prst="line">
              <a:avLst/>
            </a:prstGeom>
            <a:ln w="38100" cap="flat" cmpd="sng">
              <a:solidFill>
                <a:schemeClr val="tx1"/>
              </a:solidFill>
              <a:prstDash val="solid"/>
              <a:headEnd type="triangle" w="med" len="med"/>
              <a:tailEnd type="none" w="med" len="med"/>
            </a:ln>
          </p:spPr>
        </p:sp>
        <p:sp>
          <p:nvSpPr>
            <p:cNvPr id="29734" name="Line 44"/>
            <p:cNvSpPr/>
            <p:nvPr/>
          </p:nvSpPr>
          <p:spPr>
            <a:xfrm flipH="1">
              <a:off x="3039" y="3750"/>
              <a:ext cx="672" cy="0"/>
            </a:xfrm>
            <a:prstGeom prst="line">
              <a:avLst/>
            </a:prstGeom>
            <a:ln w="38100" cap="flat" cmpd="sng">
              <a:solidFill>
                <a:schemeClr val="tx1"/>
              </a:solidFill>
              <a:prstDash val="solid"/>
              <a:headEnd type="triangle" w="med" len="med"/>
              <a:tailEnd type="triangle" w="med" len="med"/>
            </a:ln>
          </p:spPr>
        </p:sp>
        <p:sp>
          <p:nvSpPr>
            <p:cNvPr id="29735" name="Text Box 45"/>
            <p:cNvSpPr txBox="1"/>
            <p:nvPr/>
          </p:nvSpPr>
          <p:spPr>
            <a:xfrm>
              <a:off x="3134" y="3120"/>
              <a:ext cx="912" cy="250"/>
            </a:xfrm>
            <a:prstGeom prst="rect">
              <a:avLst/>
            </a:prstGeom>
            <a:noFill/>
            <a:ln w="12700">
              <a:noFill/>
            </a:ln>
          </p:spPr>
          <p:txBody>
            <a:bodyPr>
              <a:spAutoFit/>
            </a:bodyPr>
            <a:lstStyle/>
            <a:p>
              <a:pPr>
                <a:spcBef>
                  <a:spcPct val="50000"/>
                </a:spcBef>
              </a:pPr>
              <a:r>
                <a:rPr lang="en-US" altLang="zh-CN" sz="2000" dirty="0">
                  <a:solidFill>
                    <a:schemeClr val="accent1"/>
                  </a:solidFill>
                  <a:latin typeface="黑体" panose="02010609060101010101" pitchFamily="49" charset="-122"/>
                  <a:ea typeface="黑体" panose="02010609060101010101" pitchFamily="49" charset="-122"/>
                </a:rPr>
                <a:t>INT</a:t>
              </a:r>
            </a:p>
          </p:txBody>
        </p:sp>
        <p:sp>
          <p:nvSpPr>
            <p:cNvPr id="29736" name="Text Box 46"/>
            <p:cNvSpPr txBox="1"/>
            <p:nvPr/>
          </p:nvSpPr>
          <p:spPr>
            <a:xfrm>
              <a:off x="3134" y="3321"/>
              <a:ext cx="912" cy="250"/>
            </a:xfrm>
            <a:prstGeom prst="rect">
              <a:avLst/>
            </a:prstGeom>
            <a:noFill/>
            <a:ln w="12700">
              <a:noFill/>
            </a:ln>
          </p:spPr>
          <p:txBody>
            <a:bodyPr>
              <a:spAutoFit/>
            </a:bodyPr>
            <a:lstStyle/>
            <a:p>
              <a:pPr>
                <a:spcBef>
                  <a:spcPct val="50000"/>
                </a:spcBef>
              </a:pPr>
              <a:r>
                <a:rPr lang="en-US" altLang="zh-CN" sz="2000" dirty="0">
                  <a:solidFill>
                    <a:schemeClr val="accent1"/>
                  </a:solidFill>
                  <a:latin typeface="黑体" panose="02010609060101010101" pitchFamily="49" charset="-122"/>
                  <a:ea typeface="黑体" panose="02010609060101010101" pitchFamily="49" charset="-122"/>
                </a:rPr>
                <a:t>INTA</a:t>
              </a:r>
            </a:p>
          </p:txBody>
        </p:sp>
        <p:sp>
          <p:nvSpPr>
            <p:cNvPr id="29737" name="Line 47"/>
            <p:cNvSpPr/>
            <p:nvPr/>
          </p:nvSpPr>
          <p:spPr>
            <a:xfrm flipH="1">
              <a:off x="4862" y="3537"/>
              <a:ext cx="192" cy="0"/>
            </a:xfrm>
            <a:prstGeom prst="line">
              <a:avLst/>
            </a:prstGeom>
            <a:ln w="38100" cap="flat" cmpd="sng">
              <a:solidFill>
                <a:schemeClr val="accent1"/>
              </a:solidFill>
              <a:prstDash val="solid"/>
              <a:headEnd type="none" w="med" len="med"/>
              <a:tailEnd type="triangle" w="med" len="med"/>
            </a:ln>
          </p:spPr>
        </p:sp>
        <p:sp>
          <p:nvSpPr>
            <p:cNvPr id="29738" name="Line 48"/>
            <p:cNvSpPr/>
            <p:nvPr/>
          </p:nvSpPr>
          <p:spPr>
            <a:xfrm flipH="1">
              <a:off x="4862" y="3729"/>
              <a:ext cx="288" cy="0"/>
            </a:xfrm>
            <a:prstGeom prst="line">
              <a:avLst/>
            </a:prstGeom>
            <a:ln w="38100" cap="flat" cmpd="sng">
              <a:solidFill>
                <a:schemeClr val="tx1"/>
              </a:solidFill>
              <a:prstDash val="solid"/>
              <a:headEnd type="none" w="med" len="med"/>
              <a:tailEnd type="triangle" w="med" len="med"/>
            </a:ln>
          </p:spPr>
        </p:sp>
        <p:sp>
          <p:nvSpPr>
            <p:cNvPr id="29739" name="Text Box 49"/>
            <p:cNvSpPr txBox="1"/>
            <p:nvPr/>
          </p:nvSpPr>
          <p:spPr>
            <a:xfrm>
              <a:off x="5150" y="3585"/>
              <a:ext cx="768" cy="250"/>
            </a:xfrm>
            <a:prstGeom prst="rect">
              <a:avLst/>
            </a:prstGeom>
            <a:noFill/>
            <a:ln w="12700">
              <a:noFill/>
            </a:ln>
          </p:spPr>
          <p:txBody>
            <a:bodyPr>
              <a:spAutoFit/>
            </a:bodyPr>
            <a:lstStyle/>
            <a:p>
              <a:pPr>
                <a:spcBef>
                  <a:spcPct val="50000"/>
                </a:spcBef>
              </a:pPr>
              <a:r>
                <a:rPr lang="en-US" altLang="zh-CN" sz="2000" dirty="0">
                  <a:latin typeface="Times New Roman" panose="02020603050405020304" pitchFamily="18" charset="0"/>
                </a:rPr>
                <a:t>IRQ7</a:t>
              </a:r>
            </a:p>
          </p:txBody>
        </p:sp>
        <p:grpSp>
          <p:nvGrpSpPr>
            <p:cNvPr id="29740" name="Group 50"/>
            <p:cNvGrpSpPr/>
            <p:nvPr/>
          </p:nvGrpSpPr>
          <p:grpSpPr>
            <a:xfrm>
              <a:off x="3038" y="2145"/>
              <a:ext cx="2688" cy="428"/>
              <a:chOff x="2879" y="1488"/>
              <a:chExt cx="2688" cy="428"/>
            </a:xfrm>
          </p:grpSpPr>
          <p:sp>
            <p:nvSpPr>
              <p:cNvPr id="29744" name="Text Box 51"/>
              <p:cNvSpPr txBox="1"/>
              <p:nvPr/>
            </p:nvSpPr>
            <p:spPr>
              <a:xfrm>
                <a:off x="3551" y="1584"/>
                <a:ext cx="1152" cy="332"/>
              </a:xfrm>
              <a:prstGeom prst="rect">
                <a:avLst/>
              </a:prstGeom>
              <a:solidFill>
                <a:srgbClr val="0000FF"/>
              </a:solidFill>
              <a:ln w="38100" cap="sq" cmpd="sng">
                <a:solidFill>
                  <a:schemeClr val="tx1"/>
                </a:solidFill>
                <a:prstDash val="solid"/>
                <a:miter/>
                <a:headEnd type="none" w="sm" len="sm"/>
                <a:tailEnd type="none" w="sm" len="sm"/>
              </a:ln>
            </p:spPr>
            <p:txBody>
              <a:bodyPr>
                <a:spAutoFit/>
              </a:bodyPr>
              <a:lstStyle/>
              <a:p>
                <a:pPr algn="ctr">
                  <a:spcBef>
                    <a:spcPct val="50000"/>
                  </a:spcBef>
                </a:pPr>
                <a:r>
                  <a:rPr lang="zh-CN" altLang="en-US" sz="2600" dirty="0">
                    <a:solidFill>
                      <a:schemeClr val="folHlink"/>
                    </a:solidFill>
                    <a:latin typeface="黑体" panose="02010609060101010101" pitchFamily="49" charset="-122"/>
                    <a:ea typeface="黑体" panose="02010609060101010101" pitchFamily="49" charset="-122"/>
                  </a:rPr>
                  <a:t>数据缓冲</a:t>
                </a:r>
                <a:r>
                  <a:rPr lang="en-US" altLang="zh-CN" sz="2600" dirty="0">
                    <a:solidFill>
                      <a:schemeClr val="folHlink"/>
                    </a:solidFill>
                    <a:latin typeface="黑体" panose="02010609060101010101" pitchFamily="49" charset="-122"/>
                    <a:ea typeface="黑体" panose="02010609060101010101" pitchFamily="49" charset="-122"/>
                  </a:rPr>
                  <a:t>2</a:t>
                </a:r>
              </a:p>
            </p:txBody>
          </p:sp>
          <p:sp>
            <p:nvSpPr>
              <p:cNvPr id="29745" name="Line 52"/>
              <p:cNvSpPr/>
              <p:nvPr/>
            </p:nvSpPr>
            <p:spPr>
              <a:xfrm flipH="1">
                <a:off x="2879" y="1728"/>
                <a:ext cx="672" cy="0"/>
              </a:xfrm>
              <a:prstGeom prst="line">
                <a:avLst/>
              </a:prstGeom>
              <a:ln w="38100" cap="flat" cmpd="sng">
                <a:solidFill>
                  <a:schemeClr val="tx1"/>
                </a:solidFill>
                <a:prstDash val="solid"/>
                <a:headEnd type="triangle" w="med" len="med"/>
                <a:tailEnd type="triangle" w="med" len="med"/>
              </a:ln>
            </p:spPr>
          </p:sp>
          <p:sp>
            <p:nvSpPr>
              <p:cNvPr id="29746" name="Text Box 53"/>
              <p:cNvSpPr txBox="1"/>
              <p:nvPr/>
            </p:nvSpPr>
            <p:spPr>
              <a:xfrm>
                <a:off x="2879" y="1488"/>
                <a:ext cx="1056" cy="250"/>
              </a:xfrm>
              <a:prstGeom prst="rect">
                <a:avLst/>
              </a:prstGeom>
              <a:noFill/>
              <a:ln w="12700">
                <a:noFill/>
              </a:ln>
            </p:spPr>
            <p:txBody>
              <a:bodyPr>
                <a:spAutoFit/>
              </a:bodyPr>
              <a:lstStyle/>
              <a:p>
                <a:pPr>
                  <a:spcBef>
                    <a:spcPct val="50000"/>
                  </a:spcBef>
                </a:pPr>
                <a:r>
                  <a:rPr lang="zh-CN" altLang="en-US" sz="2000" dirty="0">
                    <a:solidFill>
                      <a:schemeClr val="accent1"/>
                    </a:solidFill>
                    <a:latin typeface="Times New Roman" panose="02020603050405020304" pitchFamily="18" charset="0"/>
                  </a:rPr>
                  <a:t>数据线</a:t>
                </a:r>
              </a:p>
            </p:txBody>
          </p:sp>
          <p:sp>
            <p:nvSpPr>
              <p:cNvPr id="29747" name="Line 54"/>
              <p:cNvSpPr/>
              <p:nvPr/>
            </p:nvSpPr>
            <p:spPr>
              <a:xfrm flipH="1">
                <a:off x="4703" y="1728"/>
                <a:ext cx="528" cy="0"/>
              </a:xfrm>
              <a:prstGeom prst="line">
                <a:avLst/>
              </a:prstGeom>
              <a:ln w="38100" cap="flat" cmpd="sng">
                <a:solidFill>
                  <a:schemeClr val="tx1"/>
                </a:solidFill>
                <a:prstDash val="solid"/>
                <a:headEnd type="triangle" w="med" len="med"/>
                <a:tailEnd type="triangle" w="med" len="med"/>
              </a:ln>
            </p:spPr>
          </p:sp>
          <p:sp>
            <p:nvSpPr>
              <p:cNvPr id="29748" name="Text Box 55"/>
              <p:cNvSpPr txBox="1"/>
              <p:nvPr/>
            </p:nvSpPr>
            <p:spPr>
              <a:xfrm>
                <a:off x="4751" y="1488"/>
                <a:ext cx="816" cy="250"/>
              </a:xfrm>
              <a:prstGeom prst="rect">
                <a:avLst/>
              </a:prstGeom>
              <a:noFill/>
              <a:ln w="12700">
                <a:noFill/>
              </a:ln>
            </p:spPr>
            <p:txBody>
              <a:bodyPr>
                <a:spAutoFit/>
              </a:bodyPr>
              <a:lstStyle/>
              <a:p>
                <a:pPr>
                  <a:spcBef>
                    <a:spcPct val="50000"/>
                  </a:spcBef>
                </a:pPr>
                <a:r>
                  <a:rPr lang="zh-CN" altLang="en-US" sz="2000" dirty="0">
                    <a:solidFill>
                      <a:schemeClr val="accent1"/>
                    </a:solidFill>
                    <a:latin typeface="Times New Roman" panose="02020603050405020304" pitchFamily="18" charset="0"/>
                  </a:rPr>
                  <a:t>数据</a:t>
                </a:r>
              </a:p>
            </p:txBody>
          </p:sp>
        </p:grpSp>
        <p:sp>
          <p:nvSpPr>
            <p:cNvPr id="29741" name="Line 56"/>
            <p:cNvSpPr/>
            <p:nvPr/>
          </p:nvSpPr>
          <p:spPr>
            <a:xfrm>
              <a:off x="4262" y="945"/>
              <a:ext cx="0" cy="288"/>
            </a:xfrm>
            <a:prstGeom prst="line">
              <a:avLst/>
            </a:prstGeom>
            <a:ln w="38100" cap="flat" cmpd="sng">
              <a:solidFill>
                <a:schemeClr val="tx1"/>
              </a:solidFill>
              <a:prstDash val="solid"/>
              <a:headEnd type="none" w="med" len="med"/>
              <a:tailEnd type="none" w="med" len="med"/>
            </a:ln>
          </p:spPr>
        </p:sp>
        <p:sp>
          <p:nvSpPr>
            <p:cNvPr id="29742" name="Line 57"/>
            <p:cNvSpPr/>
            <p:nvPr/>
          </p:nvSpPr>
          <p:spPr>
            <a:xfrm>
              <a:off x="4263" y="1377"/>
              <a:ext cx="0" cy="288"/>
            </a:xfrm>
            <a:prstGeom prst="line">
              <a:avLst/>
            </a:prstGeom>
            <a:ln w="38100" cap="flat" cmpd="sng">
              <a:solidFill>
                <a:schemeClr val="tx1"/>
              </a:solidFill>
              <a:prstDash val="solid"/>
              <a:headEnd type="none" w="med" len="med"/>
              <a:tailEnd type="none" w="med" len="med"/>
            </a:ln>
          </p:spPr>
        </p:sp>
        <p:sp>
          <p:nvSpPr>
            <p:cNvPr id="29743" name="Text Box 58"/>
            <p:cNvSpPr txBox="1"/>
            <p:nvPr/>
          </p:nvSpPr>
          <p:spPr>
            <a:xfrm>
              <a:off x="5387" y="1617"/>
              <a:ext cx="388" cy="768"/>
            </a:xfrm>
            <a:prstGeom prst="rect">
              <a:avLst/>
            </a:prstGeom>
            <a:noFill/>
            <a:ln w="12700">
              <a:noFill/>
            </a:ln>
          </p:spPr>
          <p:txBody>
            <a:bodyPr vert="eaVert">
              <a:spAutoFit/>
            </a:bodyPr>
            <a:lstStyle/>
            <a:p>
              <a:pPr>
                <a:spcBef>
                  <a:spcPct val="50000"/>
                </a:spcBef>
              </a:pPr>
              <a:r>
                <a:rPr lang="zh-CN" altLang="en-US" sz="2800" dirty="0">
                  <a:latin typeface="黑体" panose="02010609060101010101" pitchFamily="49" charset="-122"/>
                  <a:ea typeface="黑体" panose="02010609060101010101" pitchFamily="49" charset="-122"/>
                </a:rPr>
                <a:t>设备</a:t>
              </a:r>
              <a:r>
                <a:rPr lang="en-US" altLang="zh-CN" sz="2800" dirty="0">
                  <a:latin typeface="黑体" panose="02010609060101010101" pitchFamily="49" charset="-122"/>
                  <a:ea typeface="黑体" panose="02010609060101010101" pitchFamily="49" charset="-122"/>
                </a:rPr>
                <a:t>2</a:t>
              </a:r>
            </a:p>
          </p:txBody>
        </p:sp>
      </p:grpSp>
      <p:sp>
        <p:nvSpPr>
          <p:cNvPr id="44091" name="Text Box 59"/>
          <p:cNvSpPr txBox="1"/>
          <p:nvPr/>
        </p:nvSpPr>
        <p:spPr>
          <a:xfrm>
            <a:off x="288925" y="965200"/>
            <a:ext cx="3068638" cy="523875"/>
          </a:xfrm>
          <a:prstGeom prst="rect">
            <a:avLst/>
          </a:prstGeom>
          <a:noFill/>
          <a:ln w="12700">
            <a:noFill/>
          </a:ln>
        </p:spPr>
        <p:txBody>
          <a:bodyPr>
            <a:spAutoFit/>
          </a:bodyPr>
          <a:lstStyle/>
          <a:p>
            <a:pPr>
              <a:spcBef>
                <a:spcPct val="50000"/>
              </a:spcBef>
            </a:pPr>
            <a:r>
              <a:rPr lang="zh-CN" altLang="en-US" sz="2800" dirty="0">
                <a:latin typeface="黑体" panose="02010609060101010101" pitchFamily="49" charset="-122"/>
                <a:ea typeface="黑体" panose="02010609060101010101" pitchFamily="49" charset="-122"/>
              </a:rPr>
              <a:t>接口方案如右图</a:t>
            </a:r>
          </a:p>
        </p:txBody>
      </p:sp>
    </p:spTree>
  </p:cSld>
  <p:clrMapOvr>
    <a:masterClrMapping/>
  </p:clrMapOvr>
  <p:transition>
    <p:cover dir="l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p:cNvSpPr txBox="1"/>
          <p:nvPr/>
        </p:nvSpPr>
        <p:spPr>
          <a:xfrm>
            <a:off x="0" y="44450"/>
            <a:ext cx="4140200" cy="519113"/>
          </a:xfrm>
          <a:prstGeom prst="rect">
            <a:avLst/>
          </a:prstGeom>
          <a:noFill/>
          <a:ln w="12700">
            <a:noFill/>
          </a:ln>
        </p:spPr>
        <p:txBody>
          <a:bodyPr>
            <a:spAutoFit/>
          </a:bodyPr>
          <a:lstStyle/>
          <a:p>
            <a:pPr>
              <a:spcBef>
                <a:spcPct val="50000"/>
              </a:spcBef>
            </a:pPr>
            <a:r>
              <a:rPr lang="zh-CN" altLang="en-US" sz="2800" dirty="0">
                <a:solidFill>
                  <a:schemeClr val="folHlink"/>
                </a:solidFill>
                <a:latin typeface="黑体" panose="02010609060101010101" pitchFamily="49" charset="-122"/>
                <a:ea typeface="黑体" panose="02010609060101010101" pitchFamily="49" charset="-122"/>
              </a:rPr>
              <a:t>（</a:t>
            </a:r>
            <a:r>
              <a:rPr lang="en-US" altLang="zh-CN" sz="2800" dirty="0">
                <a:solidFill>
                  <a:schemeClr val="folHlink"/>
                </a:solidFill>
                <a:latin typeface="黑体" panose="02010609060101010101" pitchFamily="49" charset="-122"/>
                <a:ea typeface="黑体" panose="02010609060101010101" pitchFamily="49" charset="-122"/>
              </a:rPr>
              <a:t>4</a:t>
            </a:r>
            <a:r>
              <a:rPr lang="zh-CN" altLang="en-US" sz="2800" dirty="0">
                <a:solidFill>
                  <a:schemeClr val="folHlink"/>
                </a:solidFill>
                <a:latin typeface="黑体" panose="02010609060101010101" pitchFamily="49" charset="-122"/>
                <a:ea typeface="黑体" panose="02010609060101010101" pitchFamily="49" charset="-122"/>
              </a:rPr>
              <a:t>）分析工作过程</a:t>
            </a:r>
          </a:p>
        </p:txBody>
      </p:sp>
      <p:grpSp>
        <p:nvGrpSpPr>
          <p:cNvPr id="2" name="Group 68"/>
          <p:cNvGrpSpPr/>
          <p:nvPr/>
        </p:nvGrpSpPr>
        <p:grpSpPr>
          <a:xfrm>
            <a:off x="4062413" y="188913"/>
            <a:ext cx="4960937" cy="5791200"/>
            <a:chOff x="2650" y="417"/>
            <a:chExt cx="3125" cy="3648"/>
          </a:xfrm>
        </p:grpSpPr>
        <p:sp>
          <p:nvSpPr>
            <p:cNvPr id="30730" name="Text Box 50"/>
            <p:cNvSpPr txBox="1"/>
            <p:nvPr/>
          </p:nvSpPr>
          <p:spPr>
            <a:xfrm>
              <a:off x="4862" y="2625"/>
              <a:ext cx="768" cy="250"/>
            </a:xfrm>
            <a:prstGeom prst="rect">
              <a:avLst/>
            </a:prstGeom>
            <a:noFill/>
            <a:ln w="12700">
              <a:noFill/>
            </a:ln>
          </p:spPr>
          <p:txBody>
            <a:bodyPr>
              <a:spAutoFit/>
            </a:bodyPr>
            <a:lstStyle/>
            <a:p>
              <a:pPr>
                <a:spcBef>
                  <a:spcPct val="50000"/>
                </a:spcBef>
              </a:pPr>
              <a:r>
                <a:rPr lang="en-US" altLang="zh-CN" sz="2000" dirty="0">
                  <a:solidFill>
                    <a:schemeClr val="accent1"/>
                  </a:solidFill>
                  <a:latin typeface="Times New Roman" panose="02020603050405020304" pitchFamily="18" charset="0"/>
                </a:rPr>
                <a:t>IRQ2</a:t>
              </a:r>
            </a:p>
          </p:txBody>
        </p:sp>
        <p:sp>
          <p:nvSpPr>
            <p:cNvPr id="30731" name="Line 4"/>
            <p:cNvSpPr/>
            <p:nvPr/>
          </p:nvSpPr>
          <p:spPr>
            <a:xfrm>
              <a:off x="5389" y="465"/>
              <a:ext cx="0" cy="2112"/>
            </a:xfrm>
            <a:prstGeom prst="line">
              <a:avLst/>
            </a:prstGeom>
            <a:ln w="76200" cap="flat" cmpd="sng">
              <a:solidFill>
                <a:srgbClr val="FFFF00"/>
              </a:solidFill>
              <a:prstDash val="solid"/>
              <a:headEnd type="none" w="med" len="med"/>
              <a:tailEnd type="none" w="med" len="med"/>
            </a:ln>
          </p:spPr>
        </p:sp>
        <p:sp>
          <p:nvSpPr>
            <p:cNvPr id="30732" name="Line 5"/>
            <p:cNvSpPr/>
            <p:nvPr/>
          </p:nvSpPr>
          <p:spPr>
            <a:xfrm>
              <a:off x="3019" y="417"/>
              <a:ext cx="1" cy="3648"/>
            </a:xfrm>
            <a:prstGeom prst="line">
              <a:avLst/>
            </a:prstGeom>
            <a:ln w="76200" cap="flat" cmpd="sng">
              <a:solidFill>
                <a:srgbClr val="FFFF00"/>
              </a:solidFill>
              <a:prstDash val="solid"/>
              <a:headEnd type="none" w="med" len="med"/>
              <a:tailEnd type="none" w="med" len="med"/>
            </a:ln>
          </p:spPr>
        </p:sp>
        <p:sp>
          <p:nvSpPr>
            <p:cNvPr id="30733" name="Line 6"/>
            <p:cNvSpPr/>
            <p:nvPr/>
          </p:nvSpPr>
          <p:spPr>
            <a:xfrm>
              <a:off x="5054" y="2865"/>
              <a:ext cx="0" cy="672"/>
            </a:xfrm>
            <a:prstGeom prst="line">
              <a:avLst/>
            </a:prstGeom>
            <a:ln w="38100" cap="flat" cmpd="sng">
              <a:solidFill>
                <a:schemeClr val="accent1"/>
              </a:solidFill>
              <a:prstDash val="solid"/>
              <a:headEnd type="none" w="med" len="med"/>
              <a:tailEnd type="none" w="med" len="med"/>
            </a:ln>
          </p:spPr>
        </p:sp>
        <p:sp>
          <p:nvSpPr>
            <p:cNvPr id="30734" name="Line 7"/>
            <p:cNvSpPr/>
            <p:nvPr/>
          </p:nvSpPr>
          <p:spPr>
            <a:xfrm flipH="1">
              <a:off x="4862" y="2865"/>
              <a:ext cx="192" cy="0"/>
            </a:xfrm>
            <a:prstGeom prst="line">
              <a:avLst/>
            </a:prstGeom>
            <a:ln w="38100" cap="flat" cmpd="sng">
              <a:solidFill>
                <a:schemeClr val="accent1"/>
              </a:solidFill>
              <a:prstDash val="solid"/>
              <a:headEnd type="none" w="med" len="med"/>
              <a:tailEnd type="none" w="med" len="med"/>
            </a:ln>
          </p:spPr>
        </p:sp>
        <p:sp>
          <p:nvSpPr>
            <p:cNvPr id="30735" name="Line 8"/>
            <p:cNvSpPr/>
            <p:nvPr/>
          </p:nvSpPr>
          <p:spPr>
            <a:xfrm flipH="1">
              <a:off x="4861" y="778"/>
              <a:ext cx="240" cy="0"/>
            </a:xfrm>
            <a:prstGeom prst="line">
              <a:avLst/>
            </a:prstGeom>
            <a:ln w="19050" cap="flat" cmpd="sng">
              <a:solidFill>
                <a:schemeClr val="tx1"/>
              </a:solidFill>
              <a:prstDash val="solid"/>
              <a:headEnd type="triangle" w="med" len="med"/>
              <a:tailEnd type="none" w="med" len="med"/>
            </a:ln>
          </p:spPr>
        </p:sp>
        <p:sp>
          <p:nvSpPr>
            <p:cNvPr id="30736" name="Line 9"/>
            <p:cNvSpPr/>
            <p:nvPr/>
          </p:nvSpPr>
          <p:spPr>
            <a:xfrm flipH="1">
              <a:off x="3037" y="705"/>
              <a:ext cx="672" cy="0"/>
            </a:xfrm>
            <a:prstGeom prst="line">
              <a:avLst/>
            </a:prstGeom>
            <a:ln w="38100" cap="flat" cmpd="sng">
              <a:solidFill>
                <a:schemeClr val="tx1"/>
              </a:solidFill>
              <a:prstDash val="solid"/>
              <a:headEnd type="triangle" w="med" len="med"/>
              <a:tailEnd type="none" w="med" len="med"/>
            </a:ln>
          </p:spPr>
        </p:sp>
        <p:sp>
          <p:nvSpPr>
            <p:cNvPr id="30737" name="Line 10"/>
            <p:cNvSpPr/>
            <p:nvPr/>
          </p:nvSpPr>
          <p:spPr>
            <a:xfrm flipH="1">
              <a:off x="4861" y="576"/>
              <a:ext cx="240" cy="0"/>
            </a:xfrm>
            <a:prstGeom prst="line">
              <a:avLst/>
            </a:prstGeom>
            <a:ln w="19050" cap="flat" cmpd="sng">
              <a:solidFill>
                <a:schemeClr val="tx1"/>
              </a:solidFill>
              <a:prstDash val="solid"/>
              <a:headEnd type="triangle" w="med" len="med"/>
              <a:tailEnd type="none" w="med" len="med"/>
            </a:ln>
          </p:spPr>
        </p:sp>
        <p:sp>
          <p:nvSpPr>
            <p:cNvPr id="30738" name="Line 11"/>
            <p:cNvSpPr/>
            <p:nvPr/>
          </p:nvSpPr>
          <p:spPr>
            <a:xfrm>
              <a:off x="5012" y="632"/>
              <a:ext cx="0" cy="113"/>
            </a:xfrm>
            <a:prstGeom prst="line">
              <a:avLst/>
            </a:prstGeom>
            <a:ln w="19050" cap="flat" cmpd="sng">
              <a:solidFill>
                <a:schemeClr val="tx1"/>
              </a:solidFill>
              <a:prstDash val="sysDot"/>
              <a:headEnd type="none" w="sm" len="sm"/>
              <a:tailEnd type="none" w="sm" len="sm"/>
            </a:ln>
          </p:spPr>
        </p:sp>
        <p:sp>
          <p:nvSpPr>
            <p:cNvPr id="30739" name="Text Box 12"/>
            <p:cNvSpPr txBox="1"/>
            <p:nvPr/>
          </p:nvSpPr>
          <p:spPr>
            <a:xfrm>
              <a:off x="3174" y="457"/>
              <a:ext cx="567" cy="250"/>
            </a:xfrm>
            <a:prstGeom prst="rect">
              <a:avLst/>
            </a:prstGeom>
            <a:noFill/>
            <a:ln w="12700">
              <a:noFill/>
            </a:ln>
          </p:spPr>
          <p:txBody>
            <a:bodyPr>
              <a:spAutoFit/>
            </a:bodyPr>
            <a:lstStyle/>
            <a:p>
              <a:pPr>
                <a:spcBef>
                  <a:spcPct val="50000"/>
                </a:spcBef>
              </a:pPr>
              <a:r>
                <a:rPr lang="zh-CN" altLang="en-US" sz="2000" dirty="0">
                  <a:solidFill>
                    <a:schemeClr val="accent1"/>
                  </a:solidFill>
                  <a:latin typeface="黑体" panose="02010609060101010101" pitchFamily="49" charset="-122"/>
                  <a:ea typeface="黑体" panose="02010609060101010101" pitchFamily="49" charset="-122"/>
                </a:rPr>
                <a:t>地址</a:t>
              </a:r>
            </a:p>
          </p:txBody>
        </p:sp>
        <p:sp>
          <p:nvSpPr>
            <p:cNvPr id="30740" name="Text Box 13"/>
            <p:cNvSpPr txBox="1"/>
            <p:nvPr/>
          </p:nvSpPr>
          <p:spPr>
            <a:xfrm>
              <a:off x="3709" y="513"/>
              <a:ext cx="1152" cy="312"/>
            </a:xfrm>
            <a:prstGeom prst="rect">
              <a:avLst/>
            </a:prstGeom>
            <a:solidFill>
              <a:srgbClr val="0000FF"/>
            </a:solidFill>
            <a:ln w="38100" cap="sq" cmpd="sng">
              <a:solidFill>
                <a:schemeClr val="tx1"/>
              </a:solidFill>
              <a:prstDash val="solid"/>
              <a:miter/>
              <a:headEnd type="none" w="sm" len="sm"/>
              <a:tailEnd type="none" w="sm" len="sm"/>
            </a:ln>
          </p:spPr>
          <p:txBody>
            <a:bodyPr>
              <a:spAutoFit/>
            </a:bodyPr>
            <a:lstStyle/>
            <a:p>
              <a:pPr>
                <a:spcBef>
                  <a:spcPct val="50000"/>
                </a:spcBef>
              </a:pPr>
              <a:r>
                <a:rPr lang="zh-CN" altLang="en-US" dirty="0">
                  <a:solidFill>
                    <a:schemeClr val="folHlink"/>
                  </a:solidFill>
                  <a:latin typeface="Times New Roman" panose="02020603050405020304" pitchFamily="18" charset="0"/>
                  <a:ea typeface="黑体" panose="02010609060101010101" pitchFamily="49" charset="-122"/>
                </a:rPr>
                <a:t>寄存器选择</a:t>
              </a:r>
            </a:p>
          </p:txBody>
        </p:sp>
        <p:sp>
          <p:nvSpPr>
            <p:cNvPr id="30741" name="Text Box 14"/>
            <p:cNvSpPr txBox="1"/>
            <p:nvPr/>
          </p:nvSpPr>
          <p:spPr>
            <a:xfrm>
              <a:off x="3709" y="945"/>
              <a:ext cx="1152" cy="312"/>
            </a:xfrm>
            <a:prstGeom prst="rect">
              <a:avLst/>
            </a:prstGeom>
            <a:solidFill>
              <a:srgbClr val="6600FF"/>
            </a:solidFill>
            <a:ln w="38100" cap="sq" cmpd="sng">
              <a:solidFill>
                <a:schemeClr val="tx1"/>
              </a:solidFill>
              <a:prstDash val="solid"/>
              <a:miter/>
              <a:headEnd type="none" w="sm" len="sm"/>
              <a:tailEnd type="none" w="sm" len="sm"/>
            </a:ln>
          </p:spPr>
          <p:txBody>
            <a:bodyPr>
              <a:spAutoFit/>
            </a:bodyPr>
            <a:lstStyle/>
            <a:p>
              <a:pPr>
                <a:spcBef>
                  <a:spcPct val="50000"/>
                </a:spcBef>
              </a:pPr>
              <a:r>
                <a:rPr lang="zh-CN" altLang="en-US" dirty="0">
                  <a:solidFill>
                    <a:schemeClr val="folHlink"/>
                  </a:solidFill>
                  <a:latin typeface="Times New Roman" panose="02020603050405020304" pitchFamily="18" charset="0"/>
                </a:rPr>
                <a:t>命令</a:t>
              </a:r>
              <a:r>
                <a:rPr lang="en-US" altLang="zh-CN" dirty="0">
                  <a:solidFill>
                    <a:schemeClr val="folHlink"/>
                  </a:solidFill>
                  <a:latin typeface="Times New Roman" panose="02020603050405020304" pitchFamily="18" charset="0"/>
                </a:rPr>
                <a:t>1 </a:t>
              </a:r>
              <a:r>
                <a:rPr lang="zh-CN" altLang="en-US" dirty="0">
                  <a:solidFill>
                    <a:schemeClr val="folHlink"/>
                  </a:solidFill>
                  <a:latin typeface="Times New Roman" panose="02020603050405020304" pitchFamily="18" charset="0"/>
                </a:rPr>
                <a:t>命令</a:t>
              </a:r>
              <a:r>
                <a:rPr lang="en-US" altLang="zh-CN" dirty="0">
                  <a:solidFill>
                    <a:schemeClr val="folHlink"/>
                  </a:solidFill>
                  <a:latin typeface="Times New Roman" panose="02020603050405020304" pitchFamily="18" charset="0"/>
                </a:rPr>
                <a:t>2</a:t>
              </a:r>
            </a:p>
          </p:txBody>
        </p:sp>
        <p:sp>
          <p:nvSpPr>
            <p:cNvPr id="30742" name="Text Box 15"/>
            <p:cNvSpPr txBox="1"/>
            <p:nvPr/>
          </p:nvSpPr>
          <p:spPr>
            <a:xfrm>
              <a:off x="3709" y="1377"/>
              <a:ext cx="1153" cy="312"/>
            </a:xfrm>
            <a:prstGeom prst="rect">
              <a:avLst/>
            </a:prstGeom>
            <a:solidFill>
              <a:srgbClr val="6600FF"/>
            </a:solidFill>
            <a:ln w="38100" cap="sq" cmpd="sng">
              <a:solidFill>
                <a:schemeClr val="tx1"/>
              </a:solidFill>
              <a:prstDash val="solid"/>
              <a:miter/>
              <a:headEnd type="none" w="sm" len="sm"/>
              <a:tailEnd type="none" w="sm" len="sm"/>
            </a:ln>
          </p:spPr>
          <p:txBody>
            <a:bodyPr>
              <a:spAutoFit/>
            </a:bodyPr>
            <a:lstStyle/>
            <a:p>
              <a:pPr>
                <a:spcBef>
                  <a:spcPct val="50000"/>
                </a:spcBef>
              </a:pPr>
              <a:r>
                <a:rPr lang="zh-CN" altLang="en-US" dirty="0">
                  <a:solidFill>
                    <a:schemeClr val="folHlink"/>
                  </a:solidFill>
                  <a:latin typeface="Times New Roman" panose="02020603050405020304" pitchFamily="18" charset="0"/>
                </a:rPr>
                <a:t>状态</a:t>
              </a:r>
              <a:r>
                <a:rPr lang="en-US" altLang="zh-CN" dirty="0">
                  <a:solidFill>
                    <a:schemeClr val="folHlink"/>
                  </a:solidFill>
                  <a:latin typeface="Times New Roman" panose="02020603050405020304" pitchFamily="18" charset="0"/>
                </a:rPr>
                <a:t>1 </a:t>
              </a:r>
              <a:r>
                <a:rPr lang="zh-CN" altLang="en-US" dirty="0">
                  <a:solidFill>
                    <a:schemeClr val="folHlink"/>
                  </a:solidFill>
                  <a:latin typeface="Times New Roman" panose="02020603050405020304" pitchFamily="18" charset="0"/>
                </a:rPr>
                <a:t>状态</a:t>
              </a:r>
              <a:r>
                <a:rPr lang="en-US" altLang="zh-CN" dirty="0">
                  <a:solidFill>
                    <a:schemeClr val="folHlink"/>
                  </a:solidFill>
                  <a:latin typeface="Times New Roman" panose="02020603050405020304" pitchFamily="18" charset="0"/>
                </a:rPr>
                <a:t>2</a:t>
              </a:r>
            </a:p>
          </p:txBody>
        </p:sp>
        <p:sp>
          <p:nvSpPr>
            <p:cNvPr id="30743" name="Text Box 16"/>
            <p:cNvSpPr txBox="1"/>
            <p:nvPr/>
          </p:nvSpPr>
          <p:spPr>
            <a:xfrm>
              <a:off x="3710" y="2673"/>
              <a:ext cx="1152" cy="312"/>
            </a:xfrm>
            <a:prstGeom prst="rect">
              <a:avLst/>
            </a:prstGeom>
            <a:noFill/>
            <a:ln w="38100" cap="sq" cmpd="sng">
              <a:solidFill>
                <a:schemeClr val="tx1"/>
              </a:solidFill>
              <a:prstDash val="solid"/>
              <a:miter/>
              <a:headEnd type="none" w="sm" len="sm"/>
              <a:tailEnd type="none" w="sm" len="sm"/>
            </a:ln>
          </p:spPr>
          <p:txBody>
            <a:bodyPr>
              <a:spAutoFit/>
            </a:bodyPr>
            <a:lstStyle/>
            <a:p>
              <a:pPr algn="ctr">
                <a:spcBef>
                  <a:spcPct val="50000"/>
                </a:spcBef>
              </a:pPr>
              <a:r>
                <a:rPr lang="zh-CN" altLang="en-US" dirty="0">
                  <a:solidFill>
                    <a:schemeClr val="accent1"/>
                  </a:solidFill>
                  <a:latin typeface="黑体" panose="02010609060101010101" pitchFamily="49" charset="-122"/>
                  <a:ea typeface="黑体" panose="02010609060101010101" pitchFamily="49" charset="-122"/>
                </a:rPr>
                <a:t>控制逻辑</a:t>
              </a:r>
            </a:p>
          </p:txBody>
        </p:sp>
        <p:sp>
          <p:nvSpPr>
            <p:cNvPr id="30744" name="Text Box 17"/>
            <p:cNvSpPr txBox="1"/>
            <p:nvPr/>
          </p:nvSpPr>
          <p:spPr>
            <a:xfrm>
              <a:off x="3174" y="841"/>
              <a:ext cx="567" cy="250"/>
            </a:xfrm>
            <a:prstGeom prst="rect">
              <a:avLst/>
            </a:prstGeom>
            <a:noFill/>
            <a:ln w="12700">
              <a:noFill/>
            </a:ln>
          </p:spPr>
          <p:txBody>
            <a:bodyPr>
              <a:spAutoFit/>
            </a:bodyPr>
            <a:lstStyle/>
            <a:p>
              <a:pPr>
                <a:spcBef>
                  <a:spcPct val="50000"/>
                </a:spcBef>
              </a:pPr>
              <a:r>
                <a:rPr lang="zh-CN" altLang="en-US" sz="2000" dirty="0">
                  <a:solidFill>
                    <a:srgbClr val="FFFF00"/>
                  </a:solidFill>
                  <a:latin typeface="黑体" panose="02010609060101010101" pitchFamily="49" charset="-122"/>
                  <a:ea typeface="黑体" panose="02010609060101010101" pitchFamily="49" charset="-122"/>
                </a:rPr>
                <a:t>数据</a:t>
              </a:r>
            </a:p>
          </p:txBody>
        </p:sp>
        <p:sp>
          <p:nvSpPr>
            <p:cNvPr id="30745" name="Text Box 18"/>
            <p:cNvSpPr txBox="1"/>
            <p:nvPr/>
          </p:nvSpPr>
          <p:spPr>
            <a:xfrm>
              <a:off x="3174" y="1273"/>
              <a:ext cx="567" cy="250"/>
            </a:xfrm>
            <a:prstGeom prst="rect">
              <a:avLst/>
            </a:prstGeom>
            <a:noFill/>
            <a:ln w="12700">
              <a:noFill/>
            </a:ln>
          </p:spPr>
          <p:txBody>
            <a:bodyPr>
              <a:spAutoFit/>
            </a:bodyPr>
            <a:lstStyle/>
            <a:p>
              <a:pPr>
                <a:spcBef>
                  <a:spcPct val="50000"/>
                </a:spcBef>
              </a:pPr>
              <a:r>
                <a:rPr lang="zh-CN" altLang="en-US" sz="2000" dirty="0">
                  <a:solidFill>
                    <a:srgbClr val="FFFF00"/>
                  </a:solidFill>
                  <a:latin typeface="黑体" panose="02010609060101010101" pitchFamily="49" charset="-122"/>
                  <a:ea typeface="黑体" panose="02010609060101010101" pitchFamily="49" charset="-122"/>
                </a:rPr>
                <a:t>数据</a:t>
              </a:r>
            </a:p>
          </p:txBody>
        </p:sp>
        <p:sp>
          <p:nvSpPr>
            <p:cNvPr id="30746" name="Line 19"/>
            <p:cNvSpPr/>
            <p:nvPr/>
          </p:nvSpPr>
          <p:spPr>
            <a:xfrm flipH="1">
              <a:off x="3037" y="1089"/>
              <a:ext cx="672" cy="0"/>
            </a:xfrm>
            <a:prstGeom prst="line">
              <a:avLst/>
            </a:prstGeom>
            <a:ln w="38100" cap="flat" cmpd="sng">
              <a:solidFill>
                <a:schemeClr val="tx1"/>
              </a:solidFill>
              <a:prstDash val="solid"/>
              <a:headEnd type="triangle" w="med" len="med"/>
              <a:tailEnd type="none" w="med" len="med"/>
            </a:ln>
          </p:spPr>
        </p:sp>
        <p:sp>
          <p:nvSpPr>
            <p:cNvPr id="30747" name="Line 20"/>
            <p:cNvSpPr/>
            <p:nvPr/>
          </p:nvSpPr>
          <p:spPr>
            <a:xfrm flipH="1">
              <a:off x="3037" y="1521"/>
              <a:ext cx="672" cy="0"/>
            </a:xfrm>
            <a:prstGeom prst="line">
              <a:avLst/>
            </a:prstGeom>
            <a:ln w="38100" cap="flat" cmpd="sng">
              <a:solidFill>
                <a:schemeClr val="tx1"/>
              </a:solidFill>
              <a:prstDash val="solid"/>
              <a:headEnd type="none" w="med" len="med"/>
              <a:tailEnd type="triangle" w="med" len="med"/>
            </a:ln>
          </p:spPr>
        </p:sp>
        <p:sp>
          <p:nvSpPr>
            <p:cNvPr id="30748" name="Line 21"/>
            <p:cNvSpPr/>
            <p:nvPr/>
          </p:nvSpPr>
          <p:spPr>
            <a:xfrm flipH="1">
              <a:off x="4861" y="1089"/>
              <a:ext cx="528" cy="0"/>
            </a:xfrm>
            <a:prstGeom prst="line">
              <a:avLst/>
            </a:prstGeom>
            <a:ln w="38100" cap="flat" cmpd="sng">
              <a:solidFill>
                <a:schemeClr val="tx1"/>
              </a:solidFill>
              <a:prstDash val="solid"/>
              <a:headEnd type="triangle" w="med" len="med"/>
              <a:tailEnd type="none" w="med" len="med"/>
            </a:ln>
          </p:spPr>
        </p:sp>
        <p:sp>
          <p:nvSpPr>
            <p:cNvPr id="30749" name="Text Box 22"/>
            <p:cNvSpPr txBox="1"/>
            <p:nvPr/>
          </p:nvSpPr>
          <p:spPr>
            <a:xfrm>
              <a:off x="4909" y="841"/>
              <a:ext cx="499" cy="252"/>
            </a:xfrm>
            <a:prstGeom prst="rect">
              <a:avLst/>
            </a:prstGeom>
            <a:noFill/>
            <a:ln w="12700">
              <a:noFill/>
            </a:ln>
          </p:spPr>
          <p:txBody>
            <a:bodyPr>
              <a:spAutoFit/>
            </a:bodyPr>
            <a:lstStyle/>
            <a:p>
              <a:pPr>
                <a:spcBef>
                  <a:spcPct val="50000"/>
                </a:spcBef>
              </a:pPr>
              <a:r>
                <a:rPr lang="zh-CN" altLang="en-US" sz="2000" dirty="0">
                  <a:solidFill>
                    <a:schemeClr val="accent1"/>
                  </a:solidFill>
                  <a:latin typeface="黑体" panose="02010609060101010101" pitchFamily="49" charset="-122"/>
                  <a:ea typeface="黑体" panose="02010609060101010101" pitchFamily="49" charset="-122"/>
                </a:rPr>
                <a:t>控制</a:t>
              </a:r>
            </a:p>
          </p:txBody>
        </p:sp>
        <p:sp>
          <p:nvSpPr>
            <p:cNvPr id="30750" name="Line 23"/>
            <p:cNvSpPr/>
            <p:nvPr/>
          </p:nvSpPr>
          <p:spPr>
            <a:xfrm flipH="1">
              <a:off x="4861" y="1521"/>
              <a:ext cx="528" cy="0"/>
            </a:xfrm>
            <a:prstGeom prst="line">
              <a:avLst/>
            </a:prstGeom>
            <a:ln w="38100" cap="flat" cmpd="sng">
              <a:solidFill>
                <a:schemeClr val="tx1"/>
              </a:solidFill>
              <a:prstDash val="solid"/>
              <a:headEnd type="none" w="med" len="med"/>
              <a:tailEnd type="triangle" w="med" len="med"/>
            </a:ln>
          </p:spPr>
        </p:sp>
        <p:sp>
          <p:nvSpPr>
            <p:cNvPr id="30751" name="Text Box 24"/>
            <p:cNvSpPr txBox="1"/>
            <p:nvPr/>
          </p:nvSpPr>
          <p:spPr>
            <a:xfrm>
              <a:off x="4909" y="1266"/>
              <a:ext cx="499" cy="250"/>
            </a:xfrm>
            <a:prstGeom prst="rect">
              <a:avLst/>
            </a:prstGeom>
            <a:noFill/>
            <a:ln w="12700">
              <a:noFill/>
            </a:ln>
          </p:spPr>
          <p:txBody>
            <a:bodyPr>
              <a:spAutoFit/>
            </a:bodyPr>
            <a:lstStyle/>
            <a:p>
              <a:pPr>
                <a:spcBef>
                  <a:spcPct val="50000"/>
                </a:spcBef>
              </a:pPr>
              <a:r>
                <a:rPr lang="zh-CN" altLang="en-US" sz="2000" dirty="0">
                  <a:solidFill>
                    <a:srgbClr val="FFFF00"/>
                  </a:solidFill>
                  <a:latin typeface="黑体" panose="02010609060101010101" pitchFamily="49" charset="-122"/>
                  <a:ea typeface="黑体" panose="02010609060101010101" pitchFamily="49" charset="-122"/>
                </a:rPr>
                <a:t>状态</a:t>
              </a:r>
            </a:p>
          </p:txBody>
        </p:sp>
        <p:grpSp>
          <p:nvGrpSpPr>
            <p:cNvPr id="30752" name="Group 25"/>
            <p:cNvGrpSpPr/>
            <p:nvPr/>
          </p:nvGrpSpPr>
          <p:grpSpPr>
            <a:xfrm>
              <a:off x="3037" y="1698"/>
              <a:ext cx="2371" cy="443"/>
              <a:chOff x="2879" y="1473"/>
              <a:chExt cx="2371" cy="443"/>
            </a:xfrm>
          </p:grpSpPr>
          <p:sp>
            <p:nvSpPr>
              <p:cNvPr id="30778" name="Text Box 26"/>
              <p:cNvSpPr txBox="1"/>
              <p:nvPr/>
            </p:nvSpPr>
            <p:spPr>
              <a:xfrm>
                <a:off x="3551" y="1584"/>
                <a:ext cx="1152" cy="332"/>
              </a:xfrm>
              <a:prstGeom prst="rect">
                <a:avLst/>
              </a:prstGeom>
              <a:solidFill>
                <a:srgbClr val="0000FF"/>
              </a:solidFill>
              <a:ln w="38100" cap="sq" cmpd="sng">
                <a:solidFill>
                  <a:schemeClr val="tx1"/>
                </a:solidFill>
                <a:prstDash val="solid"/>
                <a:miter/>
                <a:headEnd type="none" w="sm" len="sm"/>
                <a:tailEnd type="none" w="sm" len="sm"/>
              </a:ln>
            </p:spPr>
            <p:txBody>
              <a:bodyPr>
                <a:spAutoFit/>
              </a:bodyPr>
              <a:lstStyle/>
              <a:p>
                <a:pPr algn="ctr">
                  <a:spcBef>
                    <a:spcPct val="50000"/>
                  </a:spcBef>
                </a:pPr>
                <a:r>
                  <a:rPr lang="zh-CN" altLang="en-US" sz="2600" dirty="0">
                    <a:solidFill>
                      <a:schemeClr val="folHlink"/>
                    </a:solidFill>
                    <a:latin typeface="黑体" panose="02010609060101010101" pitchFamily="49" charset="-122"/>
                    <a:ea typeface="黑体" panose="02010609060101010101" pitchFamily="49" charset="-122"/>
                  </a:rPr>
                  <a:t>数据缓冲</a:t>
                </a:r>
                <a:r>
                  <a:rPr lang="en-US" altLang="zh-CN" sz="2600" dirty="0">
                    <a:solidFill>
                      <a:schemeClr val="folHlink"/>
                    </a:solidFill>
                    <a:latin typeface="黑体" panose="02010609060101010101" pitchFamily="49" charset="-122"/>
                    <a:ea typeface="黑体" panose="02010609060101010101" pitchFamily="49" charset="-122"/>
                  </a:rPr>
                  <a:t>1</a:t>
                </a:r>
              </a:p>
            </p:txBody>
          </p:sp>
          <p:sp>
            <p:nvSpPr>
              <p:cNvPr id="30779" name="Line 27"/>
              <p:cNvSpPr/>
              <p:nvPr/>
            </p:nvSpPr>
            <p:spPr>
              <a:xfrm flipH="1">
                <a:off x="2879" y="1728"/>
                <a:ext cx="672" cy="0"/>
              </a:xfrm>
              <a:prstGeom prst="line">
                <a:avLst/>
              </a:prstGeom>
              <a:ln w="38100" cap="flat" cmpd="sng">
                <a:solidFill>
                  <a:schemeClr val="tx1"/>
                </a:solidFill>
                <a:prstDash val="solid"/>
                <a:headEnd type="triangle" w="med" len="med"/>
                <a:tailEnd type="triangle" w="med" len="med"/>
              </a:ln>
            </p:spPr>
          </p:sp>
          <p:sp>
            <p:nvSpPr>
              <p:cNvPr id="30780" name="Text Box 28"/>
              <p:cNvSpPr txBox="1"/>
              <p:nvPr/>
            </p:nvSpPr>
            <p:spPr>
              <a:xfrm>
                <a:off x="3016" y="1480"/>
                <a:ext cx="567" cy="250"/>
              </a:xfrm>
              <a:prstGeom prst="rect">
                <a:avLst/>
              </a:prstGeom>
              <a:noFill/>
              <a:ln w="12700">
                <a:noFill/>
              </a:ln>
            </p:spPr>
            <p:txBody>
              <a:bodyPr>
                <a:spAutoFit/>
              </a:bodyPr>
              <a:lstStyle/>
              <a:p>
                <a:pPr>
                  <a:spcBef>
                    <a:spcPct val="50000"/>
                  </a:spcBef>
                </a:pPr>
                <a:r>
                  <a:rPr lang="zh-CN" altLang="en-US" sz="2000" dirty="0">
                    <a:solidFill>
                      <a:srgbClr val="FFFF00"/>
                    </a:solidFill>
                    <a:latin typeface="黑体" panose="02010609060101010101" pitchFamily="49" charset="-122"/>
                    <a:ea typeface="黑体" panose="02010609060101010101" pitchFamily="49" charset="-122"/>
                  </a:rPr>
                  <a:t>数据</a:t>
                </a:r>
              </a:p>
            </p:txBody>
          </p:sp>
          <p:sp>
            <p:nvSpPr>
              <p:cNvPr id="30781" name="Line 29"/>
              <p:cNvSpPr/>
              <p:nvPr/>
            </p:nvSpPr>
            <p:spPr>
              <a:xfrm flipH="1">
                <a:off x="4703" y="1728"/>
                <a:ext cx="528" cy="0"/>
              </a:xfrm>
              <a:prstGeom prst="line">
                <a:avLst/>
              </a:prstGeom>
              <a:ln w="38100" cap="flat" cmpd="sng">
                <a:solidFill>
                  <a:schemeClr val="tx1"/>
                </a:solidFill>
                <a:prstDash val="solid"/>
                <a:headEnd type="triangle" w="med" len="med"/>
                <a:tailEnd type="triangle" w="med" len="med"/>
              </a:ln>
            </p:spPr>
          </p:sp>
          <p:sp>
            <p:nvSpPr>
              <p:cNvPr id="30782" name="Text Box 30"/>
              <p:cNvSpPr txBox="1"/>
              <p:nvPr/>
            </p:nvSpPr>
            <p:spPr>
              <a:xfrm>
                <a:off x="4751" y="1473"/>
                <a:ext cx="499" cy="250"/>
              </a:xfrm>
              <a:prstGeom prst="rect">
                <a:avLst/>
              </a:prstGeom>
              <a:noFill/>
              <a:ln w="12700">
                <a:noFill/>
              </a:ln>
            </p:spPr>
            <p:txBody>
              <a:bodyPr>
                <a:spAutoFit/>
              </a:bodyPr>
              <a:lstStyle/>
              <a:p>
                <a:pPr>
                  <a:spcBef>
                    <a:spcPct val="50000"/>
                  </a:spcBef>
                </a:pPr>
                <a:r>
                  <a:rPr lang="zh-CN" altLang="en-US" sz="2000" dirty="0">
                    <a:solidFill>
                      <a:srgbClr val="FFFF00"/>
                    </a:solidFill>
                    <a:latin typeface="黑体" panose="02010609060101010101" pitchFamily="49" charset="-122"/>
                    <a:ea typeface="黑体" panose="02010609060101010101" pitchFamily="49" charset="-122"/>
                  </a:rPr>
                  <a:t>数据</a:t>
                </a:r>
              </a:p>
            </p:txBody>
          </p:sp>
        </p:grpSp>
        <p:sp>
          <p:nvSpPr>
            <p:cNvPr id="30753" name="Text Box 31"/>
            <p:cNvSpPr txBox="1"/>
            <p:nvPr/>
          </p:nvSpPr>
          <p:spPr>
            <a:xfrm>
              <a:off x="5387" y="705"/>
              <a:ext cx="388" cy="768"/>
            </a:xfrm>
            <a:prstGeom prst="rect">
              <a:avLst/>
            </a:prstGeom>
            <a:noFill/>
            <a:ln w="12700">
              <a:noFill/>
            </a:ln>
          </p:spPr>
          <p:txBody>
            <a:bodyPr vert="eaVert">
              <a:spAutoFit/>
            </a:bodyPr>
            <a:lstStyle/>
            <a:p>
              <a:pPr>
                <a:spcBef>
                  <a:spcPct val="50000"/>
                </a:spcBef>
              </a:pPr>
              <a:r>
                <a:rPr lang="zh-CN" altLang="en-US" sz="2800" dirty="0">
                  <a:latin typeface="黑体" panose="02010609060101010101" pitchFamily="49" charset="-122"/>
                  <a:ea typeface="黑体" panose="02010609060101010101" pitchFamily="49" charset="-122"/>
                </a:rPr>
                <a:t>设备</a:t>
              </a:r>
              <a:r>
                <a:rPr lang="en-US" altLang="zh-CN" sz="2800" dirty="0">
                  <a:latin typeface="黑体" panose="02010609060101010101" pitchFamily="49" charset="-122"/>
                  <a:ea typeface="黑体" panose="02010609060101010101" pitchFamily="49" charset="-122"/>
                </a:rPr>
                <a:t>1</a:t>
              </a:r>
            </a:p>
          </p:txBody>
        </p:sp>
        <p:sp>
          <p:nvSpPr>
            <p:cNvPr id="30754" name="Text Box 32"/>
            <p:cNvSpPr txBox="1"/>
            <p:nvPr/>
          </p:nvSpPr>
          <p:spPr>
            <a:xfrm>
              <a:off x="2650" y="552"/>
              <a:ext cx="388" cy="1200"/>
            </a:xfrm>
            <a:prstGeom prst="rect">
              <a:avLst/>
            </a:prstGeom>
            <a:noFill/>
            <a:ln w="12700">
              <a:noFill/>
            </a:ln>
          </p:spPr>
          <p:txBody>
            <a:bodyPr vert="eaVert">
              <a:spAutoFit/>
            </a:bodyPr>
            <a:lstStyle/>
            <a:p>
              <a:pPr algn="ctr">
                <a:spcBef>
                  <a:spcPct val="50000"/>
                </a:spcBef>
              </a:pPr>
              <a:r>
                <a:rPr lang="zh-CN" altLang="en-US" sz="2800" dirty="0">
                  <a:latin typeface="黑体" panose="02010609060101010101" pitchFamily="49" charset="-122"/>
                  <a:ea typeface="黑体" panose="02010609060101010101" pitchFamily="49" charset="-122"/>
                </a:rPr>
                <a:t>系统总线</a:t>
              </a:r>
            </a:p>
          </p:txBody>
        </p:sp>
        <p:sp>
          <p:nvSpPr>
            <p:cNvPr id="30755" name="Line 34"/>
            <p:cNvSpPr/>
            <p:nvPr/>
          </p:nvSpPr>
          <p:spPr>
            <a:xfrm>
              <a:off x="2834" y="3108"/>
              <a:ext cx="2721" cy="0"/>
            </a:xfrm>
            <a:prstGeom prst="line">
              <a:avLst/>
            </a:prstGeom>
            <a:ln w="38100" cap="rnd" cmpd="sng">
              <a:solidFill>
                <a:srgbClr val="FFFF00"/>
              </a:solidFill>
              <a:prstDash val="sysDot"/>
              <a:headEnd type="none" w="med" len="med"/>
              <a:tailEnd type="none" w="med" len="med"/>
            </a:ln>
          </p:spPr>
        </p:sp>
        <p:sp>
          <p:nvSpPr>
            <p:cNvPr id="30756" name="Line 35"/>
            <p:cNvSpPr/>
            <p:nvPr/>
          </p:nvSpPr>
          <p:spPr>
            <a:xfrm flipH="1">
              <a:off x="4862" y="3393"/>
              <a:ext cx="288" cy="0"/>
            </a:xfrm>
            <a:prstGeom prst="line">
              <a:avLst/>
            </a:prstGeom>
            <a:ln w="38100" cap="flat" cmpd="sng">
              <a:solidFill>
                <a:schemeClr val="tx1"/>
              </a:solidFill>
              <a:prstDash val="solid"/>
              <a:headEnd type="none" w="med" len="med"/>
              <a:tailEnd type="triangle" w="med" len="med"/>
            </a:ln>
          </p:spPr>
        </p:sp>
        <p:sp>
          <p:nvSpPr>
            <p:cNvPr id="30757" name="Line 36"/>
            <p:cNvSpPr/>
            <p:nvPr/>
          </p:nvSpPr>
          <p:spPr>
            <a:xfrm flipV="1">
              <a:off x="5294" y="3393"/>
              <a:ext cx="0" cy="192"/>
            </a:xfrm>
            <a:prstGeom prst="line">
              <a:avLst/>
            </a:prstGeom>
            <a:ln w="19050" cap="rnd" cmpd="sng">
              <a:solidFill>
                <a:srgbClr val="3366FF"/>
              </a:solidFill>
              <a:prstDash val="sysDot"/>
              <a:headEnd type="none" w="med" len="med"/>
              <a:tailEnd type="none" w="med" len="med"/>
            </a:ln>
          </p:spPr>
        </p:sp>
        <p:sp>
          <p:nvSpPr>
            <p:cNvPr id="30758" name="Rectangle 37"/>
            <p:cNvSpPr/>
            <p:nvPr/>
          </p:nvSpPr>
          <p:spPr>
            <a:xfrm>
              <a:off x="3710" y="3258"/>
              <a:ext cx="1152" cy="576"/>
            </a:xfrm>
            <a:prstGeom prst="rect">
              <a:avLst/>
            </a:prstGeom>
            <a:solidFill>
              <a:schemeClr val="bg1"/>
            </a:solidFill>
            <a:ln w="38100" cap="sq" cmpd="sng">
              <a:solidFill>
                <a:schemeClr val="tx1"/>
              </a:solidFill>
              <a:prstDash val="solid"/>
              <a:miter/>
              <a:headEnd type="none" w="sm" len="sm"/>
              <a:tailEnd type="none" w="sm" len="sm"/>
            </a:ln>
          </p:spPr>
          <p:txBody>
            <a:bodyPr wrap="none" anchor="ctr" anchorCtr="0"/>
            <a:lstStyle/>
            <a:p>
              <a:pPr algn="ctr" eaLnBrk="0" hangingPunct="0"/>
              <a:r>
                <a:rPr lang="en-US" altLang="zh-CN" sz="2700" dirty="0">
                  <a:solidFill>
                    <a:srgbClr val="FFFF00"/>
                  </a:solidFill>
                  <a:latin typeface="黑体" panose="02010609060101010101" pitchFamily="49" charset="-122"/>
                  <a:ea typeface="黑体" panose="02010609060101010101" pitchFamily="49" charset="-122"/>
                </a:rPr>
                <a:t>8259</a:t>
              </a:r>
            </a:p>
            <a:p>
              <a:pPr algn="ctr" eaLnBrk="0" hangingPunct="0"/>
              <a:r>
                <a:rPr lang="zh-CN" altLang="en-US" sz="2700" dirty="0">
                  <a:solidFill>
                    <a:srgbClr val="FFFF00"/>
                  </a:solidFill>
                  <a:latin typeface="黑体" panose="02010609060101010101" pitchFamily="49" charset="-122"/>
                  <a:ea typeface="黑体" panose="02010609060101010101" pitchFamily="49" charset="-122"/>
                </a:rPr>
                <a:t>中断控制器</a:t>
              </a:r>
            </a:p>
          </p:txBody>
        </p:sp>
        <p:sp>
          <p:nvSpPr>
            <p:cNvPr id="30759" name="Text Box 38"/>
            <p:cNvSpPr txBox="1"/>
            <p:nvPr/>
          </p:nvSpPr>
          <p:spPr>
            <a:xfrm>
              <a:off x="3098" y="3531"/>
              <a:ext cx="912" cy="250"/>
            </a:xfrm>
            <a:prstGeom prst="rect">
              <a:avLst/>
            </a:prstGeom>
            <a:noFill/>
            <a:ln w="12700">
              <a:noFill/>
            </a:ln>
          </p:spPr>
          <p:txBody>
            <a:bodyPr>
              <a:spAutoFit/>
            </a:bodyPr>
            <a:lstStyle/>
            <a:p>
              <a:pPr>
                <a:spcBef>
                  <a:spcPct val="50000"/>
                </a:spcBef>
              </a:pPr>
              <a:r>
                <a:rPr lang="en-US" altLang="zh-CN" sz="2000" dirty="0">
                  <a:solidFill>
                    <a:srgbClr val="FFFF00"/>
                  </a:solidFill>
                  <a:latin typeface="黑体" panose="02010609060101010101" pitchFamily="49" charset="-122"/>
                  <a:ea typeface="黑体" panose="02010609060101010101" pitchFamily="49" charset="-122"/>
                </a:rPr>
                <a:t>D7-D0</a:t>
              </a:r>
            </a:p>
          </p:txBody>
        </p:sp>
        <p:sp>
          <p:nvSpPr>
            <p:cNvPr id="30760" name="Text Box 39"/>
            <p:cNvSpPr txBox="1"/>
            <p:nvPr/>
          </p:nvSpPr>
          <p:spPr>
            <a:xfrm>
              <a:off x="5150" y="3249"/>
              <a:ext cx="544" cy="250"/>
            </a:xfrm>
            <a:prstGeom prst="rect">
              <a:avLst/>
            </a:prstGeom>
            <a:noFill/>
            <a:ln w="12700">
              <a:noFill/>
            </a:ln>
          </p:spPr>
          <p:txBody>
            <a:bodyPr>
              <a:spAutoFit/>
            </a:bodyPr>
            <a:lstStyle/>
            <a:p>
              <a:pPr>
                <a:spcBef>
                  <a:spcPct val="50000"/>
                </a:spcBef>
              </a:pPr>
              <a:r>
                <a:rPr lang="en-US" altLang="zh-CN" sz="2000" dirty="0">
                  <a:latin typeface="Times New Roman" panose="02020603050405020304" pitchFamily="18" charset="0"/>
                </a:rPr>
                <a:t>IRQ0</a:t>
              </a:r>
            </a:p>
          </p:txBody>
        </p:sp>
        <p:sp>
          <p:nvSpPr>
            <p:cNvPr id="30761" name="Line 41"/>
            <p:cNvSpPr/>
            <p:nvPr/>
          </p:nvSpPr>
          <p:spPr>
            <a:xfrm flipH="1">
              <a:off x="3038" y="3348"/>
              <a:ext cx="672" cy="0"/>
            </a:xfrm>
            <a:prstGeom prst="line">
              <a:avLst/>
            </a:prstGeom>
            <a:ln w="19050" cap="flat" cmpd="sng">
              <a:solidFill>
                <a:schemeClr val="tx1"/>
              </a:solidFill>
              <a:prstDash val="solid"/>
              <a:headEnd type="none" w="med" len="med"/>
              <a:tailEnd type="arrow" w="med" len="med"/>
            </a:ln>
          </p:spPr>
        </p:sp>
        <p:sp>
          <p:nvSpPr>
            <p:cNvPr id="30762" name="Line 42"/>
            <p:cNvSpPr/>
            <p:nvPr/>
          </p:nvSpPr>
          <p:spPr>
            <a:xfrm flipH="1">
              <a:off x="3038" y="3549"/>
              <a:ext cx="672" cy="0"/>
            </a:xfrm>
            <a:prstGeom prst="line">
              <a:avLst/>
            </a:prstGeom>
            <a:ln w="19050" cap="flat" cmpd="sng">
              <a:solidFill>
                <a:schemeClr val="tx1"/>
              </a:solidFill>
              <a:prstDash val="solid"/>
              <a:headEnd type="arrow" w="med" len="med"/>
              <a:tailEnd type="none" w="med" len="med"/>
            </a:ln>
          </p:spPr>
        </p:sp>
        <p:sp>
          <p:nvSpPr>
            <p:cNvPr id="30763" name="Line 43"/>
            <p:cNvSpPr/>
            <p:nvPr/>
          </p:nvSpPr>
          <p:spPr>
            <a:xfrm flipH="1">
              <a:off x="3047" y="3773"/>
              <a:ext cx="672" cy="0"/>
            </a:xfrm>
            <a:prstGeom prst="line">
              <a:avLst/>
            </a:prstGeom>
            <a:ln w="19050" cap="flat" cmpd="sng">
              <a:solidFill>
                <a:schemeClr val="tx1"/>
              </a:solidFill>
              <a:prstDash val="solid"/>
              <a:headEnd type="arrow" w="med" len="med"/>
              <a:tailEnd type="arrow" w="med" len="med"/>
            </a:ln>
          </p:spPr>
        </p:sp>
        <p:sp>
          <p:nvSpPr>
            <p:cNvPr id="30764" name="Text Box 44"/>
            <p:cNvSpPr txBox="1"/>
            <p:nvPr/>
          </p:nvSpPr>
          <p:spPr>
            <a:xfrm>
              <a:off x="3134" y="3120"/>
              <a:ext cx="912" cy="250"/>
            </a:xfrm>
            <a:prstGeom prst="rect">
              <a:avLst/>
            </a:prstGeom>
            <a:noFill/>
            <a:ln w="12700">
              <a:noFill/>
            </a:ln>
          </p:spPr>
          <p:txBody>
            <a:bodyPr>
              <a:spAutoFit/>
            </a:bodyPr>
            <a:lstStyle/>
            <a:p>
              <a:pPr>
                <a:spcBef>
                  <a:spcPct val="50000"/>
                </a:spcBef>
              </a:pPr>
              <a:r>
                <a:rPr lang="en-US" altLang="zh-CN" sz="2000" dirty="0">
                  <a:solidFill>
                    <a:schemeClr val="accent1"/>
                  </a:solidFill>
                  <a:latin typeface="黑体" panose="02010609060101010101" pitchFamily="49" charset="-122"/>
                  <a:ea typeface="黑体" panose="02010609060101010101" pitchFamily="49" charset="-122"/>
                </a:rPr>
                <a:t>INT</a:t>
              </a:r>
            </a:p>
          </p:txBody>
        </p:sp>
        <p:sp>
          <p:nvSpPr>
            <p:cNvPr id="30765" name="Text Box 45"/>
            <p:cNvSpPr txBox="1"/>
            <p:nvPr/>
          </p:nvSpPr>
          <p:spPr>
            <a:xfrm>
              <a:off x="3134" y="3321"/>
              <a:ext cx="912" cy="250"/>
            </a:xfrm>
            <a:prstGeom prst="rect">
              <a:avLst/>
            </a:prstGeom>
            <a:noFill/>
            <a:ln w="12700">
              <a:noFill/>
            </a:ln>
          </p:spPr>
          <p:txBody>
            <a:bodyPr>
              <a:spAutoFit/>
            </a:bodyPr>
            <a:lstStyle/>
            <a:p>
              <a:pPr>
                <a:spcBef>
                  <a:spcPct val="50000"/>
                </a:spcBef>
              </a:pPr>
              <a:r>
                <a:rPr lang="en-US" altLang="zh-CN" sz="2000" dirty="0">
                  <a:solidFill>
                    <a:schemeClr val="accent1"/>
                  </a:solidFill>
                  <a:latin typeface="黑体" panose="02010609060101010101" pitchFamily="49" charset="-122"/>
                  <a:ea typeface="黑体" panose="02010609060101010101" pitchFamily="49" charset="-122"/>
                </a:rPr>
                <a:t>INTA</a:t>
              </a:r>
            </a:p>
          </p:txBody>
        </p:sp>
        <p:sp>
          <p:nvSpPr>
            <p:cNvPr id="30766" name="Line 46"/>
            <p:cNvSpPr/>
            <p:nvPr/>
          </p:nvSpPr>
          <p:spPr>
            <a:xfrm flipH="1">
              <a:off x="4862" y="3537"/>
              <a:ext cx="192" cy="0"/>
            </a:xfrm>
            <a:prstGeom prst="line">
              <a:avLst/>
            </a:prstGeom>
            <a:ln w="38100" cap="flat" cmpd="sng">
              <a:solidFill>
                <a:schemeClr val="accent1"/>
              </a:solidFill>
              <a:prstDash val="solid"/>
              <a:headEnd type="none" w="med" len="med"/>
              <a:tailEnd type="triangle" w="med" len="med"/>
            </a:ln>
          </p:spPr>
        </p:sp>
        <p:sp>
          <p:nvSpPr>
            <p:cNvPr id="30767" name="Line 47"/>
            <p:cNvSpPr/>
            <p:nvPr/>
          </p:nvSpPr>
          <p:spPr>
            <a:xfrm flipH="1">
              <a:off x="4862" y="3729"/>
              <a:ext cx="288" cy="0"/>
            </a:xfrm>
            <a:prstGeom prst="line">
              <a:avLst/>
            </a:prstGeom>
            <a:ln w="38100" cap="flat" cmpd="sng">
              <a:solidFill>
                <a:schemeClr val="tx1"/>
              </a:solidFill>
              <a:prstDash val="solid"/>
              <a:headEnd type="none" w="med" len="med"/>
              <a:tailEnd type="triangle" w="med" len="med"/>
            </a:ln>
          </p:spPr>
        </p:sp>
        <p:sp>
          <p:nvSpPr>
            <p:cNvPr id="30768" name="Text Box 48"/>
            <p:cNvSpPr txBox="1"/>
            <p:nvPr/>
          </p:nvSpPr>
          <p:spPr>
            <a:xfrm>
              <a:off x="5150" y="3585"/>
              <a:ext cx="544" cy="250"/>
            </a:xfrm>
            <a:prstGeom prst="rect">
              <a:avLst/>
            </a:prstGeom>
            <a:noFill/>
            <a:ln w="12700">
              <a:noFill/>
            </a:ln>
          </p:spPr>
          <p:txBody>
            <a:bodyPr>
              <a:spAutoFit/>
            </a:bodyPr>
            <a:lstStyle/>
            <a:p>
              <a:pPr>
                <a:spcBef>
                  <a:spcPct val="50000"/>
                </a:spcBef>
              </a:pPr>
              <a:r>
                <a:rPr lang="en-US" altLang="zh-CN" sz="2000" dirty="0">
                  <a:latin typeface="Times New Roman" panose="02020603050405020304" pitchFamily="18" charset="0"/>
                </a:rPr>
                <a:t>IRQ7</a:t>
              </a:r>
            </a:p>
          </p:txBody>
        </p:sp>
        <p:grpSp>
          <p:nvGrpSpPr>
            <p:cNvPr id="30769" name="Group 51"/>
            <p:cNvGrpSpPr/>
            <p:nvPr/>
          </p:nvGrpSpPr>
          <p:grpSpPr>
            <a:xfrm>
              <a:off x="3038" y="2130"/>
              <a:ext cx="2371" cy="443"/>
              <a:chOff x="2879" y="1473"/>
              <a:chExt cx="2371" cy="443"/>
            </a:xfrm>
          </p:grpSpPr>
          <p:sp>
            <p:nvSpPr>
              <p:cNvPr id="30773" name="Text Box 52"/>
              <p:cNvSpPr txBox="1"/>
              <p:nvPr/>
            </p:nvSpPr>
            <p:spPr>
              <a:xfrm>
                <a:off x="3551" y="1584"/>
                <a:ext cx="1152" cy="332"/>
              </a:xfrm>
              <a:prstGeom prst="rect">
                <a:avLst/>
              </a:prstGeom>
              <a:solidFill>
                <a:srgbClr val="0000FF"/>
              </a:solidFill>
              <a:ln w="38100" cap="sq" cmpd="sng">
                <a:solidFill>
                  <a:schemeClr val="tx1"/>
                </a:solidFill>
                <a:prstDash val="solid"/>
                <a:miter/>
                <a:headEnd type="none" w="sm" len="sm"/>
                <a:tailEnd type="none" w="sm" len="sm"/>
              </a:ln>
            </p:spPr>
            <p:txBody>
              <a:bodyPr>
                <a:spAutoFit/>
              </a:bodyPr>
              <a:lstStyle/>
              <a:p>
                <a:pPr algn="ctr">
                  <a:spcBef>
                    <a:spcPct val="50000"/>
                  </a:spcBef>
                </a:pPr>
                <a:r>
                  <a:rPr lang="zh-CN" altLang="en-US" sz="2600" dirty="0">
                    <a:solidFill>
                      <a:schemeClr val="folHlink"/>
                    </a:solidFill>
                    <a:latin typeface="黑体" panose="02010609060101010101" pitchFamily="49" charset="-122"/>
                    <a:ea typeface="黑体" panose="02010609060101010101" pitchFamily="49" charset="-122"/>
                  </a:rPr>
                  <a:t>数据缓冲</a:t>
                </a:r>
                <a:r>
                  <a:rPr lang="en-US" altLang="zh-CN" sz="2600" dirty="0">
                    <a:solidFill>
                      <a:schemeClr val="folHlink"/>
                    </a:solidFill>
                    <a:latin typeface="黑体" panose="02010609060101010101" pitchFamily="49" charset="-122"/>
                    <a:ea typeface="黑体" panose="02010609060101010101" pitchFamily="49" charset="-122"/>
                  </a:rPr>
                  <a:t>2</a:t>
                </a:r>
              </a:p>
            </p:txBody>
          </p:sp>
          <p:sp>
            <p:nvSpPr>
              <p:cNvPr id="30774" name="Line 53"/>
              <p:cNvSpPr/>
              <p:nvPr/>
            </p:nvSpPr>
            <p:spPr>
              <a:xfrm flipH="1">
                <a:off x="2879" y="1728"/>
                <a:ext cx="672" cy="0"/>
              </a:xfrm>
              <a:prstGeom prst="line">
                <a:avLst/>
              </a:prstGeom>
              <a:ln w="38100" cap="flat" cmpd="sng">
                <a:solidFill>
                  <a:schemeClr val="tx1"/>
                </a:solidFill>
                <a:prstDash val="solid"/>
                <a:headEnd type="triangle" w="med" len="med"/>
                <a:tailEnd type="triangle" w="med" len="med"/>
              </a:ln>
            </p:spPr>
          </p:sp>
          <p:sp>
            <p:nvSpPr>
              <p:cNvPr id="30775" name="Text Box 54"/>
              <p:cNvSpPr txBox="1"/>
              <p:nvPr/>
            </p:nvSpPr>
            <p:spPr>
              <a:xfrm>
                <a:off x="3016" y="1480"/>
                <a:ext cx="567" cy="250"/>
              </a:xfrm>
              <a:prstGeom prst="rect">
                <a:avLst/>
              </a:prstGeom>
              <a:noFill/>
              <a:ln w="12700">
                <a:noFill/>
              </a:ln>
            </p:spPr>
            <p:txBody>
              <a:bodyPr>
                <a:spAutoFit/>
              </a:bodyPr>
              <a:lstStyle/>
              <a:p>
                <a:pPr>
                  <a:spcBef>
                    <a:spcPct val="50000"/>
                  </a:spcBef>
                </a:pPr>
                <a:r>
                  <a:rPr lang="zh-CN" altLang="en-US" sz="2000" dirty="0">
                    <a:solidFill>
                      <a:srgbClr val="FFFF00"/>
                    </a:solidFill>
                    <a:latin typeface="黑体" panose="02010609060101010101" pitchFamily="49" charset="-122"/>
                    <a:ea typeface="黑体" panose="02010609060101010101" pitchFamily="49" charset="-122"/>
                  </a:rPr>
                  <a:t>数据</a:t>
                </a:r>
              </a:p>
            </p:txBody>
          </p:sp>
          <p:sp>
            <p:nvSpPr>
              <p:cNvPr id="30776" name="Line 55"/>
              <p:cNvSpPr/>
              <p:nvPr/>
            </p:nvSpPr>
            <p:spPr>
              <a:xfrm flipH="1">
                <a:off x="4703" y="1728"/>
                <a:ext cx="528" cy="0"/>
              </a:xfrm>
              <a:prstGeom prst="line">
                <a:avLst/>
              </a:prstGeom>
              <a:ln w="38100" cap="flat" cmpd="sng">
                <a:solidFill>
                  <a:schemeClr val="tx1"/>
                </a:solidFill>
                <a:prstDash val="solid"/>
                <a:headEnd type="triangle" w="med" len="med"/>
                <a:tailEnd type="triangle" w="med" len="med"/>
              </a:ln>
            </p:spPr>
          </p:sp>
          <p:sp>
            <p:nvSpPr>
              <p:cNvPr id="30777" name="Text Box 56"/>
              <p:cNvSpPr txBox="1"/>
              <p:nvPr/>
            </p:nvSpPr>
            <p:spPr>
              <a:xfrm>
                <a:off x="4751" y="1473"/>
                <a:ext cx="499" cy="250"/>
              </a:xfrm>
              <a:prstGeom prst="rect">
                <a:avLst/>
              </a:prstGeom>
              <a:noFill/>
              <a:ln w="12700">
                <a:noFill/>
              </a:ln>
            </p:spPr>
            <p:txBody>
              <a:bodyPr>
                <a:spAutoFit/>
              </a:bodyPr>
              <a:lstStyle/>
              <a:p>
                <a:pPr>
                  <a:spcBef>
                    <a:spcPct val="50000"/>
                  </a:spcBef>
                </a:pPr>
                <a:r>
                  <a:rPr lang="zh-CN" altLang="en-US" sz="2000" dirty="0">
                    <a:solidFill>
                      <a:srgbClr val="FFFF00"/>
                    </a:solidFill>
                    <a:latin typeface="黑体" panose="02010609060101010101" pitchFamily="49" charset="-122"/>
                    <a:ea typeface="黑体" panose="02010609060101010101" pitchFamily="49" charset="-122"/>
                  </a:rPr>
                  <a:t>数据</a:t>
                </a:r>
              </a:p>
            </p:txBody>
          </p:sp>
        </p:grpSp>
        <p:sp>
          <p:nvSpPr>
            <p:cNvPr id="30770" name="Line 57"/>
            <p:cNvSpPr/>
            <p:nvPr/>
          </p:nvSpPr>
          <p:spPr>
            <a:xfrm>
              <a:off x="4269" y="960"/>
              <a:ext cx="0" cy="288"/>
            </a:xfrm>
            <a:prstGeom prst="line">
              <a:avLst/>
            </a:prstGeom>
            <a:ln w="38100" cap="flat" cmpd="sng">
              <a:solidFill>
                <a:schemeClr val="tx1"/>
              </a:solidFill>
              <a:prstDash val="solid"/>
              <a:headEnd type="none" w="med" len="med"/>
              <a:tailEnd type="none" w="med" len="med"/>
            </a:ln>
          </p:spPr>
        </p:sp>
        <p:sp>
          <p:nvSpPr>
            <p:cNvPr id="30771" name="Line 58"/>
            <p:cNvSpPr/>
            <p:nvPr/>
          </p:nvSpPr>
          <p:spPr>
            <a:xfrm>
              <a:off x="4256" y="1392"/>
              <a:ext cx="0" cy="288"/>
            </a:xfrm>
            <a:prstGeom prst="line">
              <a:avLst/>
            </a:prstGeom>
            <a:ln w="38100" cap="flat" cmpd="sng">
              <a:solidFill>
                <a:schemeClr val="tx1"/>
              </a:solidFill>
              <a:prstDash val="solid"/>
              <a:headEnd type="none" w="med" len="med"/>
              <a:tailEnd type="none" w="med" len="med"/>
            </a:ln>
          </p:spPr>
        </p:sp>
        <p:sp>
          <p:nvSpPr>
            <p:cNvPr id="30772" name="Text Box 59"/>
            <p:cNvSpPr txBox="1"/>
            <p:nvPr/>
          </p:nvSpPr>
          <p:spPr>
            <a:xfrm>
              <a:off x="5387" y="1617"/>
              <a:ext cx="388" cy="768"/>
            </a:xfrm>
            <a:prstGeom prst="rect">
              <a:avLst/>
            </a:prstGeom>
            <a:noFill/>
            <a:ln w="12700">
              <a:noFill/>
            </a:ln>
          </p:spPr>
          <p:txBody>
            <a:bodyPr vert="eaVert">
              <a:spAutoFit/>
            </a:bodyPr>
            <a:lstStyle/>
            <a:p>
              <a:pPr>
                <a:spcBef>
                  <a:spcPct val="50000"/>
                </a:spcBef>
              </a:pPr>
              <a:r>
                <a:rPr lang="zh-CN" altLang="en-US" sz="2800" dirty="0">
                  <a:latin typeface="黑体" panose="02010609060101010101" pitchFamily="49" charset="-122"/>
                  <a:ea typeface="黑体" panose="02010609060101010101" pitchFamily="49" charset="-122"/>
                </a:rPr>
                <a:t>设备</a:t>
              </a:r>
              <a:r>
                <a:rPr lang="en-US" altLang="zh-CN" sz="2800" dirty="0">
                  <a:latin typeface="黑体" panose="02010609060101010101" pitchFamily="49" charset="-122"/>
                  <a:ea typeface="黑体" panose="02010609060101010101" pitchFamily="49" charset="-122"/>
                </a:rPr>
                <a:t>2</a:t>
              </a:r>
            </a:p>
          </p:txBody>
        </p:sp>
      </p:grpSp>
      <p:sp>
        <p:nvSpPr>
          <p:cNvPr id="26684" name="Text Box 60"/>
          <p:cNvSpPr txBox="1"/>
          <p:nvPr/>
        </p:nvSpPr>
        <p:spPr>
          <a:xfrm>
            <a:off x="173038" y="631825"/>
            <a:ext cx="3822700" cy="493713"/>
          </a:xfrm>
          <a:prstGeom prst="rect">
            <a:avLst/>
          </a:prstGeom>
          <a:noFill/>
          <a:ln w="12700">
            <a:noFill/>
          </a:ln>
        </p:spPr>
        <p:txBody>
          <a:bodyPr>
            <a:spAutoFit/>
          </a:bodyPr>
          <a:lstStyle/>
          <a:p>
            <a:pPr>
              <a:spcBef>
                <a:spcPct val="50000"/>
              </a:spcBef>
            </a:pPr>
            <a:r>
              <a:rPr lang="zh-CN" altLang="en-US" sz="2600" dirty="0">
                <a:solidFill>
                  <a:srgbClr val="00FF00"/>
                </a:solidFill>
                <a:latin typeface="黑体" panose="02010609060101010101" pitchFamily="49" charset="-122"/>
                <a:ea typeface="黑体" panose="02010609060101010101" pitchFamily="49" charset="-122"/>
              </a:rPr>
              <a:t>向量中断</a:t>
            </a:r>
            <a:r>
              <a:rPr lang="en-US" altLang="zh-CN" sz="2600" dirty="0">
                <a:solidFill>
                  <a:srgbClr val="00FF00"/>
                </a:solidFill>
                <a:latin typeface="黑体" panose="02010609060101010101" pitchFamily="49" charset="-122"/>
                <a:ea typeface="黑体" panose="02010609060101010101" pitchFamily="49" charset="-122"/>
              </a:rPr>
              <a:t>+</a:t>
            </a:r>
            <a:r>
              <a:rPr lang="zh-CN" altLang="en-US" sz="2600" dirty="0">
                <a:solidFill>
                  <a:srgbClr val="00FF00"/>
                </a:solidFill>
                <a:latin typeface="黑体" panose="02010609060101010101" pitchFamily="49" charset="-122"/>
                <a:ea typeface="黑体" panose="02010609060101010101" pitchFamily="49" charset="-122"/>
              </a:rPr>
              <a:t>非向量中断</a:t>
            </a:r>
          </a:p>
        </p:txBody>
      </p:sp>
      <p:sp>
        <p:nvSpPr>
          <p:cNvPr id="26686" name="Text Box 62"/>
          <p:cNvSpPr txBox="1"/>
          <p:nvPr/>
        </p:nvSpPr>
        <p:spPr>
          <a:xfrm>
            <a:off x="144463" y="1341438"/>
            <a:ext cx="3995737" cy="1282700"/>
          </a:xfrm>
          <a:prstGeom prst="rect">
            <a:avLst/>
          </a:prstGeom>
          <a:noFill/>
          <a:ln w="12700">
            <a:noFill/>
          </a:ln>
        </p:spPr>
        <p:txBody>
          <a:bodyPr>
            <a:spAutoFit/>
          </a:bodyPr>
          <a:lstStyle/>
          <a:p>
            <a:pPr>
              <a:spcBef>
                <a:spcPct val="50000"/>
              </a:spcBef>
            </a:pPr>
            <a:r>
              <a:rPr lang="zh-CN" altLang="en-US" sz="2600" dirty="0">
                <a:solidFill>
                  <a:schemeClr val="folHlink"/>
                </a:solidFill>
                <a:latin typeface="黑体" panose="02010609060101010101" pitchFamily="49" charset="-122"/>
                <a:ea typeface="黑体" panose="02010609060101010101" pitchFamily="49" charset="-122"/>
              </a:rPr>
              <a:t>请求</a:t>
            </a:r>
            <a:r>
              <a:rPr lang="en-US" altLang="zh-CN" sz="2600" dirty="0">
                <a:solidFill>
                  <a:schemeClr val="folHlink"/>
                </a:solidFill>
                <a:latin typeface="黑体" panose="02010609060101010101" pitchFamily="49" charset="-122"/>
                <a:ea typeface="黑体" panose="02010609060101010101" pitchFamily="49" charset="-122"/>
              </a:rPr>
              <a:t>1</a:t>
            </a:r>
            <a:r>
              <a:rPr lang="zh-CN" altLang="en-US" sz="2600" dirty="0">
                <a:latin typeface="黑体" panose="02010609060101010101" pitchFamily="49" charset="-122"/>
                <a:ea typeface="黑体" panose="02010609060101010101" pitchFamily="49" charset="-122"/>
              </a:rPr>
              <a:t>与</a:t>
            </a:r>
            <a:r>
              <a:rPr lang="zh-CN" altLang="en-US" sz="2600" dirty="0">
                <a:solidFill>
                  <a:schemeClr val="folHlink"/>
                </a:solidFill>
                <a:latin typeface="黑体" panose="02010609060101010101" pitchFamily="49" charset="-122"/>
                <a:ea typeface="黑体" panose="02010609060101010101" pitchFamily="49" charset="-122"/>
              </a:rPr>
              <a:t>请求</a:t>
            </a:r>
            <a:r>
              <a:rPr lang="en-US" altLang="zh-CN" sz="2600" dirty="0">
                <a:solidFill>
                  <a:schemeClr val="folHlink"/>
                </a:solidFill>
                <a:latin typeface="黑体" panose="02010609060101010101" pitchFamily="49" charset="-122"/>
                <a:ea typeface="黑体" panose="02010609060101010101" pitchFamily="49" charset="-122"/>
              </a:rPr>
              <a:t>2</a:t>
            </a:r>
            <a:r>
              <a:rPr lang="zh-CN" altLang="en-US" sz="2600" dirty="0">
                <a:latin typeface="黑体" panose="02010609060101010101" pitchFamily="49" charset="-122"/>
                <a:ea typeface="黑体" panose="02010609060101010101" pitchFamily="49" charset="-122"/>
              </a:rPr>
              <a:t>在控制逻辑中形成公共请求</a:t>
            </a:r>
            <a:r>
              <a:rPr lang="en-US" altLang="zh-CN" sz="2600" dirty="0">
                <a:solidFill>
                  <a:srgbClr val="00FFFF"/>
                </a:solidFill>
                <a:latin typeface="黑体" panose="02010609060101010101" pitchFamily="49" charset="-122"/>
                <a:ea typeface="黑体" panose="02010609060101010101" pitchFamily="49" charset="-122"/>
              </a:rPr>
              <a:t>IRQ2</a:t>
            </a:r>
            <a:r>
              <a:rPr lang="zh-CN" altLang="en-US" sz="2600" dirty="0">
                <a:latin typeface="黑体" panose="02010609060101010101" pitchFamily="49" charset="-122"/>
                <a:ea typeface="黑体" panose="02010609060101010101" pitchFamily="49" charset="-122"/>
              </a:rPr>
              <a:t>，送入</a:t>
            </a:r>
            <a:r>
              <a:rPr lang="en-US" altLang="zh-CN" sz="2600" dirty="0">
                <a:latin typeface="黑体" panose="02010609060101010101" pitchFamily="49" charset="-122"/>
                <a:ea typeface="黑体" panose="02010609060101010101" pitchFamily="49" charset="-122"/>
              </a:rPr>
              <a:t>8259</a:t>
            </a:r>
            <a:r>
              <a:rPr lang="zh-CN" altLang="en-US" sz="2600" dirty="0">
                <a:latin typeface="黑体" panose="02010609060101010101" pitchFamily="49" charset="-122"/>
                <a:ea typeface="黑体" panose="02010609060101010101" pitchFamily="49" charset="-122"/>
              </a:rPr>
              <a:t>进行</a:t>
            </a:r>
            <a:r>
              <a:rPr lang="zh-CN" altLang="en-US" sz="2600" dirty="0">
                <a:solidFill>
                  <a:srgbClr val="FFFF00"/>
                </a:solidFill>
                <a:latin typeface="黑体" panose="02010609060101010101" pitchFamily="49" charset="-122"/>
                <a:ea typeface="黑体" panose="02010609060101010101" pitchFamily="49" charset="-122"/>
              </a:rPr>
              <a:t>屏蔽</a:t>
            </a:r>
            <a:r>
              <a:rPr lang="zh-CN" altLang="en-US" sz="2600" dirty="0">
                <a:latin typeface="黑体" panose="02010609060101010101" pitchFamily="49" charset="-122"/>
                <a:ea typeface="黑体" panose="02010609060101010101" pitchFamily="49" charset="-122"/>
              </a:rPr>
              <a:t>和</a:t>
            </a:r>
            <a:r>
              <a:rPr lang="zh-CN" altLang="en-US" sz="2600" dirty="0">
                <a:solidFill>
                  <a:srgbClr val="FFFF00"/>
                </a:solidFill>
                <a:latin typeface="黑体" panose="02010609060101010101" pitchFamily="49" charset="-122"/>
                <a:ea typeface="黑体" panose="02010609060101010101" pitchFamily="49" charset="-122"/>
              </a:rPr>
              <a:t>判优</a:t>
            </a:r>
            <a:r>
              <a:rPr lang="zh-CN" altLang="en-US" sz="2600" dirty="0">
                <a:latin typeface="黑体" panose="02010609060101010101" pitchFamily="49" charset="-122"/>
                <a:ea typeface="黑体" panose="02010609060101010101" pitchFamily="49" charset="-122"/>
              </a:rPr>
              <a:t>；</a:t>
            </a:r>
          </a:p>
        </p:txBody>
      </p:sp>
      <p:sp>
        <p:nvSpPr>
          <p:cNvPr id="26687" name="Text Box 63"/>
          <p:cNvSpPr txBox="1"/>
          <p:nvPr/>
        </p:nvSpPr>
        <p:spPr>
          <a:xfrm>
            <a:off x="165100" y="2781300"/>
            <a:ext cx="3830638" cy="885825"/>
          </a:xfrm>
          <a:prstGeom prst="rect">
            <a:avLst/>
          </a:prstGeom>
          <a:noFill/>
          <a:ln w="12700">
            <a:noFill/>
          </a:ln>
        </p:spPr>
        <p:txBody>
          <a:bodyPr>
            <a:spAutoFit/>
          </a:bodyPr>
          <a:lstStyle/>
          <a:p>
            <a:pPr algn="just">
              <a:spcBef>
                <a:spcPct val="50000"/>
              </a:spcBef>
              <a:buNone/>
            </a:pPr>
            <a:r>
              <a:rPr lang="en-US" altLang="zh-CN" sz="2600" dirty="0">
                <a:solidFill>
                  <a:schemeClr val="folHlink"/>
                </a:solidFill>
                <a:latin typeface="Calibri" panose="020F0502020204030204" pitchFamily="34" charset="0"/>
                <a:ea typeface="黑体" panose="02010609060101010101" pitchFamily="49" charset="-122"/>
              </a:rPr>
              <a:t>CPU</a:t>
            </a:r>
            <a:r>
              <a:rPr lang="zh-CN" altLang="en-US" sz="2600" dirty="0">
                <a:solidFill>
                  <a:schemeClr val="folHlink"/>
                </a:solidFill>
                <a:latin typeface="Calibri" panose="020F0502020204030204" pitchFamily="34" charset="0"/>
                <a:ea typeface="黑体" panose="02010609060101010101" pitchFamily="49" charset="-122"/>
              </a:rPr>
              <a:t>响应后均执行</a:t>
            </a:r>
            <a:r>
              <a:rPr lang="en-US" altLang="zh-CN" sz="2600" dirty="0">
                <a:solidFill>
                  <a:schemeClr val="folHlink"/>
                </a:solidFill>
                <a:latin typeface="Calibri" panose="020F0502020204030204" pitchFamily="34" charset="0"/>
                <a:ea typeface="黑体" panose="02010609060101010101" pitchFamily="49" charset="-122"/>
              </a:rPr>
              <a:t>IRQ2</a:t>
            </a:r>
            <a:r>
              <a:rPr lang="zh-CN" altLang="en-US" sz="2600" dirty="0">
                <a:solidFill>
                  <a:schemeClr val="folHlink"/>
                </a:solidFill>
                <a:latin typeface="Calibri" panose="020F0502020204030204" pitchFamily="34" charset="0"/>
                <a:ea typeface="黑体" panose="02010609060101010101" pitchFamily="49" charset="-122"/>
              </a:rPr>
              <a:t>的中断服务程序</a:t>
            </a:r>
          </a:p>
        </p:txBody>
      </p:sp>
      <p:sp>
        <p:nvSpPr>
          <p:cNvPr id="26688" name="Text Box 64"/>
          <p:cNvSpPr txBox="1"/>
          <p:nvPr/>
        </p:nvSpPr>
        <p:spPr>
          <a:xfrm>
            <a:off x="150813" y="3873500"/>
            <a:ext cx="3844925" cy="2076450"/>
          </a:xfrm>
          <a:prstGeom prst="rect">
            <a:avLst/>
          </a:prstGeom>
          <a:noFill/>
          <a:ln w="12700">
            <a:noFill/>
          </a:ln>
        </p:spPr>
        <p:txBody>
          <a:bodyPr>
            <a:spAutoFit/>
          </a:bodyPr>
          <a:lstStyle/>
          <a:p>
            <a:pPr algn="just">
              <a:spcBef>
                <a:spcPct val="50000"/>
              </a:spcBef>
            </a:pPr>
            <a:r>
              <a:rPr lang="en-US" altLang="zh-CN" sz="2600" dirty="0">
                <a:solidFill>
                  <a:schemeClr val="folHlink"/>
                </a:solidFill>
                <a:latin typeface="黑体" panose="02010609060101010101" pitchFamily="49" charset="-122"/>
                <a:ea typeface="黑体" panose="02010609060101010101" pitchFamily="49" charset="-122"/>
              </a:rPr>
              <a:t>CPU</a:t>
            </a:r>
            <a:r>
              <a:rPr lang="zh-CN" altLang="en-US" sz="2600" dirty="0">
                <a:solidFill>
                  <a:schemeClr val="folHlink"/>
                </a:solidFill>
                <a:latin typeface="黑体" panose="02010609060101010101" pitchFamily="49" charset="-122"/>
                <a:ea typeface="黑体" panose="02010609060101010101" pitchFamily="49" charset="-122"/>
              </a:rPr>
              <a:t>在</a:t>
            </a:r>
            <a:r>
              <a:rPr lang="en-US" altLang="zh-CN" sz="2600" dirty="0">
                <a:solidFill>
                  <a:schemeClr val="folHlink"/>
                </a:solidFill>
                <a:latin typeface="黑体" panose="02010609060101010101" pitchFamily="49" charset="-122"/>
                <a:ea typeface="黑体" panose="02010609060101010101" pitchFamily="49" charset="-122"/>
              </a:rPr>
              <a:t>IRQ2</a:t>
            </a:r>
            <a:r>
              <a:rPr lang="zh-CN" altLang="en-US" sz="2600" dirty="0">
                <a:solidFill>
                  <a:schemeClr val="folHlink"/>
                </a:solidFill>
                <a:latin typeface="黑体" panose="02010609060101010101" pitchFamily="49" charset="-122"/>
                <a:ea typeface="黑体" panose="02010609060101010101" pitchFamily="49" charset="-122"/>
              </a:rPr>
              <a:t>的中断服务程序中查询各设备状态，确定中断源，计算其入口地址，准备转入执行该中断服务程序</a:t>
            </a:r>
          </a:p>
        </p:txBody>
      </p:sp>
      <p:sp>
        <p:nvSpPr>
          <p:cNvPr id="26689" name="Text Box 65"/>
          <p:cNvSpPr txBox="1"/>
          <p:nvPr/>
        </p:nvSpPr>
        <p:spPr>
          <a:xfrm>
            <a:off x="2147888" y="3141663"/>
            <a:ext cx="2736850" cy="488950"/>
          </a:xfrm>
          <a:prstGeom prst="rect">
            <a:avLst/>
          </a:prstGeom>
          <a:noFill/>
          <a:ln w="12700">
            <a:noFill/>
          </a:ln>
        </p:spPr>
        <p:txBody>
          <a:bodyPr>
            <a:spAutoFit/>
          </a:bodyPr>
          <a:lstStyle/>
          <a:p>
            <a:pPr>
              <a:spcBef>
                <a:spcPct val="50000"/>
              </a:spcBef>
            </a:pPr>
            <a:r>
              <a:rPr lang="en-US" altLang="zh-CN" sz="2600" dirty="0">
                <a:solidFill>
                  <a:srgbClr val="00FF00"/>
                </a:solidFill>
                <a:latin typeface="黑体" panose="02010609060101010101" pitchFamily="49" charset="-122"/>
                <a:ea typeface="黑体" panose="02010609060101010101" pitchFamily="49" charset="-122"/>
              </a:rPr>
              <a:t>(</a:t>
            </a:r>
            <a:r>
              <a:rPr lang="zh-CN" altLang="en-US" sz="2600" dirty="0">
                <a:solidFill>
                  <a:srgbClr val="00FF00"/>
                </a:solidFill>
                <a:latin typeface="黑体" panose="02010609060101010101" pitchFamily="49" charset="-122"/>
                <a:ea typeface="黑体" panose="02010609060101010101" pitchFamily="49" charset="-122"/>
              </a:rPr>
              <a:t>向量中断方式</a:t>
            </a:r>
            <a:r>
              <a:rPr lang="en-US" altLang="zh-CN" sz="2600" dirty="0">
                <a:solidFill>
                  <a:srgbClr val="00FF00"/>
                </a:solidFill>
                <a:latin typeface="黑体" panose="02010609060101010101" pitchFamily="49" charset="-122"/>
                <a:ea typeface="黑体" panose="02010609060101010101" pitchFamily="49" charset="-122"/>
              </a:rPr>
              <a:t>)</a:t>
            </a:r>
          </a:p>
        </p:txBody>
      </p:sp>
      <p:sp>
        <p:nvSpPr>
          <p:cNvPr id="26690" name="Text Box 66"/>
          <p:cNvSpPr txBox="1"/>
          <p:nvPr/>
        </p:nvSpPr>
        <p:spPr>
          <a:xfrm>
            <a:off x="1547813" y="5461000"/>
            <a:ext cx="2936875" cy="488950"/>
          </a:xfrm>
          <a:prstGeom prst="rect">
            <a:avLst/>
          </a:prstGeom>
          <a:noFill/>
          <a:ln w="12700">
            <a:noFill/>
          </a:ln>
        </p:spPr>
        <p:txBody>
          <a:bodyPr>
            <a:spAutoFit/>
          </a:bodyPr>
          <a:lstStyle/>
          <a:p>
            <a:pPr>
              <a:spcBef>
                <a:spcPct val="50000"/>
              </a:spcBef>
            </a:pPr>
            <a:r>
              <a:rPr lang="en-US" altLang="zh-CN" sz="2600" dirty="0">
                <a:solidFill>
                  <a:srgbClr val="00FF00"/>
                </a:solidFill>
                <a:latin typeface="黑体" panose="02010609060101010101" pitchFamily="49" charset="-122"/>
                <a:ea typeface="黑体" panose="02010609060101010101" pitchFamily="49" charset="-122"/>
              </a:rPr>
              <a:t>(</a:t>
            </a:r>
            <a:r>
              <a:rPr lang="zh-CN" altLang="en-US" sz="2600" dirty="0">
                <a:solidFill>
                  <a:srgbClr val="00FF00"/>
                </a:solidFill>
                <a:latin typeface="黑体" panose="02010609060101010101" pitchFamily="49" charset="-122"/>
                <a:ea typeface="黑体" panose="02010609060101010101" pitchFamily="49" charset="-122"/>
              </a:rPr>
              <a:t>非向量中断方式</a:t>
            </a:r>
            <a:r>
              <a:rPr lang="en-US" altLang="zh-CN" sz="2600" dirty="0">
                <a:solidFill>
                  <a:srgbClr val="00FF00"/>
                </a:solidFill>
                <a:latin typeface="黑体" panose="02010609060101010101" pitchFamily="49" charset="-122"/>
                <a:ea typeface="黑体" panose="02010609060101010101" pitchFamily="49" charset="-122"/>
              </a:rPr>
              <a:t>)</a:t>
            </a:r>
          </a:p>
        </p:txBody>
      </p:sp>
    </p:spTree>
  </p:cSld>
  <p:clrMapOvr>
    <a:masterClrMapping/>
  </p:clrMapOvr>
  <p:transition>
    <p:cover dir="l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p:cNvSpPr txBox="1"/>
          <p:nvPr/>
        </p:nvSpPr>
        <p:spPr>
          <a:xfrm>
            <a:off x="304800" y="228600"/>
            <a:ext cx="8458200" cy="5386388"/>
          </a:xfrm>
          <a:prstGeom prst="rect">
            <a:avLst/>
          </a:prstGeom>
          <a:noFill/>
          <a:ln w="9525">
            <a:noFill/>
          </a:ln>
        </p:spPr>
        <p:txBody>
          <a:bodyPr>
            <a:spAutoFit/>
          </a:bodyPr>
          <a:lstStyle/>
          <a:p>
            <a:pPr>
              <a:spcBef>
                <a:spcPct val="50000"/>
              </a:spcBef>
            </a:pPr>
            <a:r>
              <a:rPr lang="zh-CN" altLang="en-US" sz="2400" b="1" dirty="0">
                <a:solidFill>
                  <a:schemeClr val="tx1"/>
                </a:solidFill>
                <a:latin typeface="Arial" panose="020B0604020202020204" pitchFamily="34" charset="0"/>
              </a:rPr>
              <a:t>练习：某机连接一台打印机。主机能向打印机发出启动、屏蔽、初始化、走纸、选通等命令，打印机能向主机提供忙、确认、纸完、联机、出错等状态信息。</a:t>
            </a:r>
          </a:p>
          <a:p>
            <a:pPr>
              <a:spcBef>
                <a:spcPct val="50000"/>
              </a:spcBef>
            </a:pPr>
            <a:r>
              <a:rPr lang="zh-CN" altLang="en-US" sz="2400" b="1" dirty="0">
                <a:solidFill>
                  <a:schemeClr val="tx1"/>
                </a:solidFill>
                <a:latin typeface="Arial" panose="020B0604020202020204" pitchFamily="34" charset="0"/>
              </a:rPr>
              <a:t>请为打印机设计一个并行中断接口，中断控制逻辑采用</a:t>
            </a:r>
            <a:r>
              <a:rPr lang="en-US" altLang="zh-CN" sz="2400" b="1" dirty="0">
                <a:solidFill>
                  <a:schemeClr val="tx1"/>
                </a:solidFill>
                <a:latin typeface="Arial" panose="020B0604020202020204" pitchFamily="34" charset="0"/>
              </a:rPr>
              <a:t>8259A</a:t>
            </a:r>
            <a:r>
              <a:rPr lang="zh-CN" altLang="en-US" sz="2400" b="1" dirty="0">
                <a:solidFill>
                  <a:schemeClr val="tx1"/>
                </a:solidFill>
                <a:latin typeface="Arial" panose="020B0604020202020204" pitchFamily="34" charset="0"/>
              </a:rPr>
              <a:t>中断控制器。</a:t>
            </a:r>
          </a:p>
          <a:p>
            <a:pPr>
              <a:spcBef>
                <a:spcPct val="50000"/>
              </a:spcBef>
            </a:pPr>
            <a:r>
              <a:rPr lang="en-US" altLang="zh-CN" sz="2400" b="1" dirty="0">
                <a:solidFill>
                  <a:schemeClr val="tx1"/>
                </a:solidFill>
                <a:latin typeface="Arial" panose="020B0604020202020204" pitchFamily="34" charset="0"/>
              </a:rPr>
              <a:t>1.</a:t>
            </a:r>
            <a:r>
              <a:rPr lang="zh-CN" altLang="en-US" sz="2400" b="1" dirty="0">
                <a:solidFill>
                  <a:schemeClr val="tx1"/>
                </a:solidFill>
                <a:latin typeface="Arial" panose="020B0604020202020204" pitchFamily="34" charset="0"/>
              </a:rPr>
              <a:t>画出该接口寄存器级粗框图。</a:t>
            </a:r>
          </a:p>
          <a:p>
            <a:pPr>
              <a:spcBef>
                <a:spcPct val="50000"/>
              </a:spcBef>
            </a:pPr>
            <a:r>
              <a:rPr lang="en-US" altLang="zh-CN" sz="2400" b="1" dirty="0">
                <a:solidFill>
                  <a:schemeClr val="tx1"/>
                </a:solidFill>
                <a:latin typeface="Arial" panose="020B0604020202020204" pitchFamily="34" charset="0"/>
              </a:rPr>
              <a:t>2.</a:t>
            </a:r>
            <a:r>
              <a:rPr lang="zh-CN" altLang="en-US" sz="2400" b="1" dirty="0">
                <a:solidFill>
                  <a:schemeClr val="tx1"/>
                </a:solidFill>
                <a:latin typeface="Arial" panose="020B0604020202020204" pitchFamily="34" charset="0"/>
              </a:rPr>
              <a:t>拟定命令字和状态字格式</a:t>
            </a:r>
          </a:p>
          <a:p>
            <a:pPr>
              <a:spcBef>
                <a:spcPct val="50000"/>
              </a:spcBef>
            </a:pPr>
            <a:r>
              <a:rPr lang="en-US" altLang="zh-CN" sz="2400" b="1" dirty="0">
                <a:solidFill>
                  <a:schemeClr val="tx1"/>
                </a:solidFill>
                <a:latin typeface="Arial" panose="020B0604020202020204" pitchFamily="34" charset="0"/>
              </a:rPr>
              <a:t>3.</a:t>
            </a:r>
            <a:r>
              <a:rPr lang="zh-CN" altLang="en-US" sz="2400" b="1" dirty="0">
                <a:solidFill>
                  <a:schemeClr val="tx1"/>
                </a:solidFill>
                <a:latin typeface="Arial" panose="020B0604020202020204" pitchFamily="34" charset="0"/>
              </a:rPr>
              <a:t>描述打印机接口的中断过程。需说明：</a:t>
            </a:r>
          </a:p>
          <a:p>
            <a:pPr>
              <a:spcBef>
                <a:spcPct val="50000"/>
              </a:spcBef>
            </a:pPr>
            <a:r>
              <a:rPr lang="en-US" altLang="zh-CN" sz="2400" b="1" dirty="0">
                <a:solidFill>
                  <a:schemeClr val="tx1"/>
                </a:solidFill>
                <a:latin typeface="Arial" panose="020B0604020202020204" pitchFamily="34" charset="0"/>
              </a:rPr>
              <a:t>1</a:t>
            </a:r>
            <a:r>
              <a:rPr lang="zh-CN" altLang="en-US" sz="2400" b="1" dirty="0">
                <a:solidFill>
                  <a:schemeClr val="tx1"/>
                </a:solidFill>
                <a:latin typeface="Arial" panose="020B0604020202020204" pitchFamily="34" charset="0"/>
              </a:rPr>
              <a:t>）何时提出中断请求</a:t>
            </a:r>
          </a:p>
          <a:p>
            <a:pPr>
              <a:spcBef>
                <a:spcPct val="50000"/>
              </a:spcBef>
            </a:pPr>
            <a:r>
              <a:rPr lang="en-US" altLang="zh-CN" sz="2400" b="1" dirty="0">
                <a:solidFill>
                  <a:schemeClr val="tx1"/>
                </a:solidFill>
                <a:latin typeface="Arial" panose="020B0604020202020204" pitchFamily="34" charset="0"/>
              </a:rPr>
              <a:t>2</a:t>
            </a:r>
            <a:r>
              <a:rPr lang="zh-CN" altLang="en-US" sz="2400" b="1" dirty="0">
                <a:solidFill>
                  <a:schemeClr val="tx1"/>
                </a:solidFill>
                <a:latin typeface="Arial" panose="020B0604020202020204" pitchFamily="34" charset="0"/>
              </a:rPr>
              <a:t>）请求信号如何转换为服务程序的入口</a:t>
            </a:r>
          </a:p>
          <a:p>
            <a:pPr>
              <a:spcBef>
                <a:spcPct val="50000"/>
              </a:spcBef>
            </a:pPr>
            <a:r>
              <a:rPr lang="en-US" altLang="zh-CN" sz="2400" b="1" dirty="0">
                <a:solidFill>
                  <a:schemeClr val="tx1"/>
                </a:solidFill>
                <a:latin typeface="Arial" panose="020B0604020202020204" pitchFamily="34" charset="0"/>
              </a:rPr>
              <a:t>3</a:t>
            </a:r>
            <a:r>
              <a:rPr lang="zh-CN" altLang="en-US" sz="2400" b="1" dirty="0">
                <a:solidFill>
                  <a:schemeClr val="tx1"/>
                </a:solidFill>
                <a:latin typeface="Arial" panose="020B0604020202020204" pitchFamily="34" charset="0"/>
              </a:rPr>
              <a:t>）在单级中断方式下，打印机中断服务主要完成哪些工作。</a:t>
            </a: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4"/>
          <p:cNvSpPr txBox="1"/>
          <p:nvPr/>
        </p:nvSpPr>
        <p:spPr>
          <a:xfrm>
            <a:off x="609600" y="685800"/>
            <a:ext cx="8001000" cy="3937000"/>
          </a:xfrm>
          <a:prstGeom prst="rect">
            <a:avLst/>
          </a:prstGeom>
          <a:noFill/>
          <a:ln w="9525">
            <a:noFill/>
          </a:ln>
        </p:spPr>
        <p:txBody>
          <a:bodyPr>
            <a:spAutoFit/>
          </a:bodyPr>
          <a:lstStyle/>
          <a:p>
            <a:pPr>
              <a:spcBef>
                <a:spcPct val="50000"/>
              </a:spcBef>
            </a:pPr>
            <a:r>
              <a:rPr lang="zh-CN" altLang="en-US" sz="2800" b="1" dirty="0">
                <a:latin typeface="Arial" panose="020B0604020202020204" pitchFamily="34" charset="0"/>
              </a:rPr>
              <a:t>打印机准备好或打印完一行时，申请中断。</a:t>
            </a:r>
          </a:p>
          <a:p>
            <a:pPr>
              <a:spcBef>
                <a:spcPct val="50000"/>
              </a:spcBef>
            </a:pPr>
            <a:r>
              <a:rPr lang="zh-CN" altLang="en-US" sz="2800" b="1" dirty="0">
                <a:latin typeface="Arial" panose="020B0604020202020204" pitchFamily="34" charset="0"/>
              </a:rPr>
              <a:t>请求信号送</a:t>
            </a:r>
            <a:r>
              <a:rPr lang="en-US" altLang="zh-CN" sz="2800" b="1" dirty="0">
                <a:latin typeface="Arial" panose="020B0604020202020204" pitchFamily="34" charset="0"/>
              </a:rPr>
              <a:t>8259</a:t>
            </a:r>
            <a:r>
              <a:rPr lang="zh-CN" altLang="en-US" sz="2800" b="1" dirty="0">
                <a:latin typeface="Arial" panose="020B0604020202020204" pitchFamily="34" charset="0"/>
              </a:rPr>
              <a:t>，经屏蔽、判优、产生公共请求送</a:t>
            </a:r>
            <a:r>
              <a:rPr lang="en-US" altLang="zh-CN" sz="2800" b="1" dirty="0">
                <a:latin typeface="Arial" panose="020B0604020202020204" pitchFamily="34" charset="0"/>
              </a:rPr>
              <a:t>cpu</a:t>
            </a:r>
            <a:r>
              <a:rPr lang="zh-CN" altLang="en-US" sz="2800" b="1" dirty="0">
                <a:latin typeface="Arial" panose="020B0604020202020204" pitchFamily="34" charset="0"/>
              </a:rPr>
              <a:t>，</a:t>
            </a:r>
            <a:r>
              <a:rPr lang="en-US" altLang="zh-CN" sz="2800" b="1" dirty="0">
                <a:latin typeface="Arial" panose="020B0604020202020204" pitchFamily="34" charset="0"/>
              </a:rPr>
              <a:t>cpu</a:t>
            </a:r>
            <a:r>
              <a:rPr lang="zh-CN" altLang="en-US" sz="2800" b="1" dirty="0">
                <a:latin typeface="Arial" panose="020B0604020202020204" pitchFamily="34" charset="0"/>
              </a:rPr>
              <a:t>响应，发出批准信号</a:t>
            </a:r>
            <a:r>
              <a:rPr lang="en-US" altLang="zh-CN" sz="2800" b="1" dirty="0">
                <a:latin typeface="Arial" panose="020B0604020202020204" pitchFamily="34" charset="0"/>
              </a:rPr>
              <a:t>INTA</a:t>
            </a:r>
            <a:r>
              <a:rPr lang="zh-CN" altLang="en-US" sz="2800" b="1" dirty="0">
                <a:latin typeface="Arial" panose="020B0604020202020204" pitchFamily="34" charset="0"/>
              </a:rPr>
              <a:t>，并关中断，保存断点，从</a:t>
            </a:r>
            <a:r>
              <a:rPr lang="en-US" altLang="zh-CN" sz="2800" b="1" dirty="0">
                <a:latin typeface="Arial" panose="020B0604020202020204" pitchFamily="34" charset="0"/>
              </a:rPr>
              <a:t>8259</a:t>
            </a:r>
            <a:r>
              <a:rPr lang="zh-CN" altLang="en-US" sz="2800" b="1" dirty="0">
                <a:latin typeface="Arial" panose="020B0604020202020204" pitchFamily="34" charset="0"/>
              </a:rPr>
              <a:t>取回打印机中断类型码，转换为向量地址，查向量表，转打印机中断程序入口。</a:t>
            </a:r>
          </a:p>
          <a:p>
            <a:pPr>
              <a:spcBef>
                <a:spcPct val="50000"/>
              </a:spcBef>
            </a:pPr>
            <a:r>
              <a:rPr lang="zh-CN" altLang="en-US" sz="2800" b="1" dirty="0">
                <a:latin typeface="Arial" panose="020B0604020202020204" pitchFamily="34" charset="0"/>
              </a:rPr>
              <a:t>打印机在中断程序保存有关寄存器内容，向接口缓冲器送数据，恢复现场，开中断返回。</a:t>
            </a:r>
          </a:p>
        </p:txBody>
      </p:sp>
    </p:spTree>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KSO_WPP_MARK_KEY" val="55d818f7-e374-4d50-8268-71252ef3d460"/>
  <p:tag name="COMMONDATA" val="eyJoZGlkIjoiZDVkZjUyYzk3YmYzZmRlZTdiNzFlYmE0MmMzZTU4MzYifQ=="/>
</p:tagLst>
</file>

<file path=ppt/theme/theme1.xml><?xml version="1.0" encoding="utf-8"?>
<a:theme xmlns:a="http://schemas.openxmlformats.org/drawingml/2006/main" name="Soaring">
  <a:themeElements>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fontScheme name="Soaring">
      <a:majorFont>
        <a:latin typeface="Arial"/>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Soaring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Soaring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Soaring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Soaring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TotalTime>
  <Words>3296</Words>
  <Application>Microsoft Office PowerPoint</Application>
  <PresentationFormat>全屏显示(4:3)</PresentationFormat>
  <Paragraphs>580</Paragraphs>
  <Slides>37</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37</vt:i4>
      </vt:variant>
    </vt:vector>
  </HeadingPairs>
  <TitlesOfParts>
    <vt:vector size="46" baseType="lpstr">
      <vt:lpstr>黑体</vt:lpstr>
      <vt:lpstr>楷体_GB2312</vt:lpstr>
      <vt:lpstr>宋体</vt:lpstr>
      <vt:lpstr>Arial</vt:lpstr>
      <vt:lpstr>Arial Rounded MT Bold</vt:lpstr>
      <vt:lpstr>Calibri</vt:lpstr>
      <vt:lpstr>Times New Roman</vt:lpstr>
      <vt:lpstr>Wingdings</vt:lpstr>
      <vt:lpstr>Soaring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001</dc:creator>
  <cp:lastModifiedBy>l w</cp:lastModifiedBy>
  <cp:revision>658</cp:revision>
  <dcterms:created xsi:type="dcterms:W3CDTF">2000-12-22T06:16:00Z</dcterms:created>
  <dcterms:modified xsi:type="dcterms:W3CDTF">2024-05-26T07:39:29Z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6B3E16007B734C729C110FCFF8CD081D</vt:lpwstr>
  </property>
  <property fmtid="{D5CDD505-2E9C-101B-9397-08002B2CF9AE}" pid="3" name="KSOProductBuildVer">
    <vt:lpwstr>2052-11.1.0.12165</vt:lpwstr>
  </property>
</Properties>
</file>