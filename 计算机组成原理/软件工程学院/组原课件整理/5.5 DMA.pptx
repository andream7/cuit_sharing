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7" r:id="rId3"/>
    <p:sldId id="265" r:id="rId4"/>
    <p:sldId id="275" r:id="rId5"/>
    <p:sldId id="266" r:id="rId6"/>
    <p:sldId id="292" r:id="rId7"/>
    <p:sldId id="293" r:id="rId8"/>
    <p:sldId id="294" r:id="rId9"/>
  </p:sldIdLst>
  <p:sldSz cx="9144000" cy="6858000" type="screen4x3"/>
  <p:notesSz cx="6858000" cy="9144000"/>
  <p:custDataLst>
    <p:tags r:id="rId15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66FFCC"/>
    <a:srgbClr val="FFFF00"/>
    <a:srgbClr val="3366FF"/>
    <a:srgbClr val="3333CC"/>
    <a:srgbClr val="660066"/>
    <a:srgbClr val="99000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5674"/>
    <p:restoredTop sz="94614"/>
  </p:normalViewPr>
  <p:slideViewPr>
    <p:cSldViewPr showGuides="1">
      <p:cViewPr varScale="1">
        <p:scale>
          <a:sx n="67" d="100"/>
          <a:sy n="67" d="100"/>
        </p:scale>
        <p:origin x="-1474" y="-8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6" name="Rectangle 4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单击以编辑母版文本样式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</a:fld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/19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</a:fld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/19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35843" name="Freeform 3"/>
            <p:cNvSpPr/>
            <p:nvPr/>
          </p:nvSpPr>
          <p:spPr bwMode="auto">
            <a:xfrm>
              <a:off x="3394" y="999"/>
              <a:ext cx="2359" cy="3314"/>
            </a:xfrm>
            <a:custGeom>
              <a:avLst/>
              <a:gdLst/>
              <a:ahLst/>
              <a:cxnLst>
                <a:cxn ang="0">
                  <a:pos x="1905" y="3312"/>
                </a:cxn>
                <a:cxn ang="0">
                  <a:pos x="2358" y="3313"/>
                </a:cxn>
                <a:cxn ang="0">
                  <a:pos x="2358" y="1437"/>
                </a:cxn>
                <a:cxn ang="0">
                  <a:pos x="0" y="0"/>
                </a:cxn>
                <a:cxn ang="0">
                  <a:pos x="201" y="150"/>
                </a:cxn>
                <a:cxn ang="0">
                  <a:pos x="366" y="279"/>
                </a:cxn>
                <a:cxn ang="0">
                  <a:pos x="552" y="441"/>
                </a:cxn>
                <a:cxn ang="0">
                  <a:pos x="732" y="612"/>
                </a:cxn>
                <a:cxn ang="0">
                  <a:pos x="996" y="903"/>
                </a:cxn>
                <a:cxn ang="0">
                  <a:pos x="1230" y="1212"/>
                </a:cxn>
                <a:cxn ang="0">
                  <a:pos x="1400" y="1482"/>
                </a:cxn>
                <a:cxn ang="0">
                  <a:pos x="1548" y="1761"/>
                </a:cxn>
                <a:cxn ang="0">
                  <a:pos x="1665" y="2040"/>
                </a:cxn>
                <a:cxn ang="0">
                  <a:pos x="1751" y="2295"/>
                </a:cxn>
                <a:cxn ang="0">
                  <a:pos x="1809" y="2511"/>
                </a:cxn>
                <a:cxn ang="0">
                  <a:pos x="1863" y="2778"/>
                </a:cxn>
                <a:cxn ang="0">
                  <a:pos x="1890" y="3012"/>
                </a:cxn>
                <a:cxn ang="0">
                  <a:pos x="1905" y="3312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" name="Arc 4"/>
            <p:cNvSpPr/>
            <p:nvPr/>
          </p:nvSpPr>
          <p:spPr>
            <a:xfrm>
              <a:off x="0" y="1"/>
              <a:ext cx="5298" cy="43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9" y="172"/>
                </a:cxn>
                <a:cxn ang="0">
                  <a:pos x="0" y="172"/>
                </a:cxn>
              </a:cxnLst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3584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ctr"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4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r">
              <a:defRPr sz="16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cs typeface="Calibri" panose="020F0502020204030204" pitchFamily="34" charset="0"/>
              </a:rPr>
            </a:fld>
            <a:r>
              <a:rPr lang="en-US" altLang="zh-CN" sz="16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/19</a:t>
            </a:r>
            <a:endParaRPr lang="en-US" altLang="zh-CN" sz="16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031" name="Rectangle 9"/>
          <p:cNvSpPr>
            <a:spLocks noGrp="1"/>
          </p:cNvSpPr>
          <p:nvPr>
            <p:ph type="body" idx="1"/>
          </p:nvPr>
        </p:nvSpPr>
        <p:spPr>
          <a:xfrm>
            <a:off x="-3636962" y="21336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>
    <p:pull dir="rd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0" y="257175"/>
            <a:ext cx="914400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600" b="1" kern="1200" cap="none" spc="0" normalizeH="0" baseline="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anose="020F0704030504030204" pitchFamily="34" charset="0"/>
                <a:ea typeface="黑体" panose="02010609060101010101" pitchFamily="2" charset="-122"/>
                <a:cs typeface="+mn-cs"/>
              </a:rPr>
              <a:t>5.5</a:t>
            </a:r>
            <a:r>
              <a:rPr kumimoji="1" lang="zh-CN" altLang="en-US" sz="3600" b="1" kern="1200" cap="none" spc="0" normalizeH="0" baseline="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anose="020F0704030504030204" pitchFamily="34" charset="0"/>
                <a:ea typeface="黑体" panose="02010609060101010101" pitchFamily="2" charset="-122"/>
                <a:cs typeface="+mn-cs"/>
              </a:rPr>
              <a:t> </a:t>
            </a:r>
            <a:r>
              <a:rPr kumimoji="1" lang="en-US" altLang="zh-CN" sz="3600" b="1" kern="1200" cap="none" spc="0" normalizeH="0" baseline="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anose="020F0704030504030204" pitchFamily="34" charset="0"/>
                <a:ea typeface="黑体" panose="02010609060101010101" pitchFamily="2" charset="-122"/>
                <a:cs typeface="+mn-cs"/>
              </a:rPr>
              <a:t>DMA</a:t>
            </a:r>
            <a:r>
              <a:rPr kumimoji="1" lang="zh-CN" altLang="en-US" sz="3600" b="1" kern="1200" cap="none" spc="0" normalizeH="0" baseline="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anose="020F0704030504030204" pitchFamily="34" charset="0"/>
                <a:ea typeface="黑体" panose="02010609060101010101" pitchFamily="2" charset="-122"/>
                <a:cs typeface="+mn-cs"/>
              </a:rPr>
              <a:t>方式</a:t>
            </a:r>
            <a:r>
              <a:rPr kumimoji="1" lang="zh-CN" altLang="en-US" sz="3600" b="1" kern="1200" cap="none" spc="0" normalizeH="0" baseline="0" noProof="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anose="020F0704030504030204" pitchFamily="34" charset="0"/>
                <a:ea typeface="黑体" panose="02010609060101010101" pitchFamily="2" charset="-122"/>
                <a:cs typeface="+mn-cs"/>
              </a:rPr>
              <a:t>及接口</a:t>
            </a:r>
            <a:endParaRPr kumimoji="1" lang="zh-CN" altLang="en-US" sz="3600" b="1" kern="1200" cap="none" spc="0" normalizeH="0" baseline="0" noProof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anose="020F0704030504030204" pitchFamily="34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258763" y="1193800"/>
            <a:ext cx="5105400" cy="5794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200" b="1" kern="1200" cap="none" spc="0" normalizeH="0" baseline="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anose="020F0704030504030204" pitchFamily="34" charset="0"/>
                <a:ea typeface="黑体" panose="02010609060101010101" pitchFamily="2" charset="-122"/>
                <a:cs typeface="+mn-cs"/>
              </a:rPr>
              <a:t>5.5.1 DMA</a:t>
            </a:r>
            <a:r>
              <a:rPr kumimoji="1" lang="zh-CN" altLang="en-US" sz="3200" b="1" kern="1200" cap="none" spc="0" normalizeH="0" baseline="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anose="020F0704030504030204" pitchFamily="34" charset="0"/>
                <a:ea typeface="黑体" panose="02010609060101010101" pitchFamily="2" charset="-122"/>
                <a:cs typeface="+mn-cs"/>
              </a:rPr>
              <a:t>基本概念</a:t>
            </a:r>
            <a:endParaRPr kumimoji="1" lang="zh-CN" altLang="en-US" sz="3200" b="1" kern="1200" cap="none" spc="0" normalizeH="0" baseline="0" noProof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anose="020F0704030504030204" pitchFamily="34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8248" name="Text Box 56"/>
          <p:cNvSpPr txBox="1">
            <a:spLocks noChangeArrowheads="1"/>
          </p:cNvSpPr>
          <p:nvPr/>
        </p:nvSpPr>
        <p:spPr bwMode="auto">
          <a:xfrm>
            <a:off x="250825" y="1773238"/>
            <a:ext cx="8569325" cy="2225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R="0" algn="just" defTabSz="914400">
              <a:lnSpc>
                <a:spcPct val="125000"/>
              </a:lnSpc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1</a:t>
            </a:r>
            <a:r>
              <a:rPr kumimoji="1" lang="zh-CN" altLang="en-US" sz="2800" b="1" kern="1200" cap="none" spc="0" normalizeH="0" baseline="0" noProof="0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、定义</a:t>
            </a:r>
            <a:r>
              <a:rPr kumimoji="1" lang="en-US" altLang="zh-CN" sz="2800" b="1" kern="1200" cap="none" spc="0" normalizeH="0" baseline="0" noProof="0" dirty="0">
                <a:solidFill>
                  <a:srgbClr val="00FF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(</a:t>
            </a:r>
            <a:r>
              <a:rPr kumimoji="1" lang="en-US" altLang="zh-CN" sz="2800" b="1" kern="1200" cap="none" spc="0" normalizeH="0" baseline="0" noProof="0" dirty="0">
                <a:solidFill>
                  <a:srgbClr val="00FF00"/>
                </a:solidFill>
                <a:latin typeface="+mn-lt"/>
                <a:ea typeface="黑体" panose="02010609060101010101" pitchFamily="2" charset="-122"/>
                <a:cs typeface="+mn-cs"/>
              </a:rPr>
              <a:t>Direct Memory Access</a:t>
            </a:r>
            <a:r>
              <a:rPr kumimoji="1" lang="en-US" altLang="zh-CN" sz="2800" b="1" kern="1200" cap="none" spc="0" normalizeH="0" baseline="0" noProof="0" dirty="0">
                <a:solidFill>
                  <a:srgbClr val="00FF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)</a:t>
            </a:r>
            <a:endParaRPr kumimoji="1" lang="zh-CN" altLang="en-US" sz="2800" b="1" kern="1200" cap="none" spc="0" normalizeH="0" baseline="0" noProof="0" dirty="0">
              <a:solidFill>
                <a:srgbClr val="00FF00"/>
              </a:solidFill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R="0" algn="just" defTabSz="914400">
              <a:lnSpc>
                <a:spcPct val="125000"/>
              </a:lnSpc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直接依靠</a:t>
            </a:r>
            <a:r>
              <a:rPr kumimoji="1" lang="zh-CN" altLang="en-US" sz="2800" b="1" kern="1200" cap="none" spc="0" normalizeH="0" baseline="0" noProof="0" dirty="0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硬件系统</a:t>
            </a:r>
            <a:r>
              <a:rPr kumimoji="1" lang="zh-CN" altLang="en-US" sz="2800" b="1" kern="1200" cap="none" spc="0" normalizeH="0" baseline="0" noProof="0" dirty="0"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来控制</a:t>
            </a:r>
            <a:r>
              <a:rPr kumimoji="1" lang="zh-CN" altLang="en-US" sz="2800" b="1" kern="1200" cap="none" spc="0" normalizeH="0" baseline="0" noProof="0" dirty="0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主存</a:t>
            </a:r>
            <a:r>
              <a:rPr kumimoji="1" lang="zh-CN" altLang="en-US" sz="2800" b="1" kern="1200" cap="none" spc="0" normalizeH="0" baseline="0" noProof="0" dirty="0"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与</a:t>
            </a:r>
            <a:r>
              <a:rPr kumimoji="1" lang="zh-CN" altLang="en-US" sz="2800" b="1" kern="1200" cap="none" spc="0" normalizeH="0" baseline="0" noProof="0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外设</a:t>
            </a:r>
            <a:r>
              <a:rPr kumimoji="1" lang="zh-CN" altLang="en-US" sz="2800" b="1" kern="1200" cap="none" spc="0" normalizeH="0" baseline="0" noProof="0" dirty="0"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之间的数据传送</a:t>
            </a:r>
            <a:r>
              <a:rPr kumimoji="1" lang="en-US" altLang="zh-CN" sz="2800" b="1" kern="1200" cap="none" spc="0" normalizeH="0" baseline="0" noProof="0" dirty="0"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,</a:t>
            </a:r>
            <a:r>
              <a:rPr kumimoji="1" lang="zh-CN" altLang="en-US" sz="2800" b="1" kern="1200" cap="none" spc="0" normalizeH="0" baseline="0" noProof="0" dirty="0"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传送期间</a:t>
            </a:r>
            <a:r>
              <a:rPr kumimoji="1" lang="zh-CN" altLang="en-US" sz="2800" b="1" kern="1200" cap="none" spc="0" normalizeH="0" baseline="0" noProof="0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无需</a:t>
            </a:r>
            <a:r>
              <a:rPr kumimoji="1" lang="en-US" altLang="zh-CN" sz="2800" b="1" kern="1200" cap="none" spc="0" normalizeH="0" baseline="0" noProof="0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CPU</a:t>
            </a:r>
            <a:r>
              <a:rPr kumimoji="1" lang="zh-CN" altLang="en-US" sz="2800" b="1" kern="1200" cap="none" spc="0" normalizeH="0" baseline="0" noProof="0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干预</a:t>
            </a:r>
            <a:r>
              <a:rPr kumimoji="1" lang="zh-CN" altLang="en-US" sz="2800" b="1" kern="1200" cap="none" spc="0" normalizeH="0" baseline="0" noProof="0" dirty="0"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，传送结束后通常用</a:t>
            </a:r>
            <a:r>
              <a:rPr kumimoji="1" lang="zh-CN" altLang="en-US" sz="2800" b="1" kern="1200" cap="none" spc="0" normalizeH="0" baseline="0" noProof="0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中断方式</a:t>
            </a:r>
            <a:r>
              <a:rPr kumimoji="1" lang="zh-CN" altLang="en-US" sz="2800" b="1" kern="1200" cap="none" spc="0" normalizeH="0" baseline="0" noProof="0" dirty="0"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通知</a:t>
            </a:r>
            <a:r>
              <a:rPr kumimoji="1" lang="en-US" altLang="zh-CN" sz="2800" b="1" kern="1200" cap="none" spc="0" normalizeH="0" baseline="0" noProof="0" dirty="0"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CPU</a:t>
            </a:r>
            <a:r>
              <a:rPr kumimoji="1" lang="zh-CN" altLang="en-US" sz="2800" b="1" kern="1200" cap="none" spc="0" normalizeH="0" baseline="0" noProof="0" dirty="0"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。</a:t>
            </a:r>
            <a:endParaRPr kumimoji="1" lang="zh-CN" altLang="en-US" sz="2800" b="1" kern="1200" cap="none" spc="0" normalizeH="0" baseline="0" noProof="0" dirty="0"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</p:txBody>
      </p:sp>
      <p:sp>
        <p:nvSpPr>
          <p:cNvPr id="4102" name="灯片编号占位符 6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6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fld>
            <a:r>
              <a:rPr lang="en-US" altLang="zh-CN" sz="16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/19</a:t>
            </a:r>
            <a:endParaRPr lang="en-US" altLang="zh-CN" sz="16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1749" name="Text Box 4"/>
          <p:cNvSpPr txBox="1"/>
          <p:nvPr/>
        </p:nvSpPr>
        <p:spPr>
          <a:xfrm>
            <a:off x="4932045" y="4941570"/>
            <a:ext cx="239712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DMA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控制器接</a:t>
            </a:r>
            <a:endParaRPr lang="zh-CN" altLang="en-US" sz="2800" b="1" dirty="0">
              <a:solidFill>
                <a:schemeClr val="accent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1751" name="Text Box 6"/>
          <p:cNvSpPr txBox="1"/>
          <p:nvPr/>
        </p:nvSpPr>
        <p:spPr>
          <a:xfrm>
            <a:off x="107315" y="4030980"/>
            <a:ext cx="848677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①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I/O</a:t>
            </a:r>
            <a:r>
              <a:rPr lang="zh-CN" altLang="zh-CN" sz="2800" b="1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与主存</a:t>
            </a:r>
            <a:r>
              <a:rPr lang="zh-CN" altLang="zh-CN" sz="2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，而不是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I/O</a:t>
            </a:r>
            <a:r>
              <a:rPr lang="zh-CN" altLang="zh-CN" sz="2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与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CPU</a:t>
            </a:r>
            <a:r>
              <a:rPr lang="zh-CN" altLang="zh-CN" sz="2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或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I/O</a:t>
            </a:r>
            <a:r>
              <a:rPr lang="zh-CN" altLang="zh-CN" sz="2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与主机。</a:t>
            </a:r>
            <a:endParaRPr lang="zh-CN" altLang="zh-CN" sz="2800" b="1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1752" name="Text Box 7"/>
          <p:cNvSpPr txBox="1"/>
          <p:nvPr/>
        </p:nvSpPr>
        <p:spPr>
          <a:xfrm>
            <a:off x="107315" y="4581525"/>
            <a:ext cx="5014595" cy="8235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②</a:t>
            </a:r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早期由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CPU</a:t>
            </a:r>
            <a:r>
              <a:rPr lang="zh-CN" altLang="zh-CN" sz="2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控制传送；</a:t>
            </a:r>
            <a:endParaRPr lang="zh-CN" altLang="zh-CN" sz="2800" b="1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zh-CN" sz="2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现在由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DMA</a:t>
            </a:r>
            <a:r>
              <a:rPr lang="zh-CN" altLang="zh-CN" sz="2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控制器控制传送，</a:t>
            </a:r>
            <a:endParaRPr lang="zh-CN" altLang="zh-CN" sz="2800" b="1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1753" name="Text Box 8"/>
          <p:cNvSpPr txBox="1"/>
          <p:nvPr/>
        </p:nvSpPr>
        <p:spPr>
          <a:xfrm>
            <a:off x="7020560" y="4941570"/>
            <a:ext cx="184975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管总线权，</a:t>
            </a:r>
            <a:endParaRPr lang="zh-CN" altLang="en-US" sz="2800" b="1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1754" name="Text Box 9"/>
          <p:cNvSpPr txBox="1"/>
          <p:nvPr/>
        </p:nvSpPr>
        <p:spPr>
          <a:xfrm>
            <a:off x="611505" y="5402580"/>
            <a:ext cx="5638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传送完毕再交还总线权。</a:t>
            </a:r>
            <a:endParaRPr lang="zh-CN" altLang="en-US" sz="2800" b="1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1755" name="Text Box 10"/>
          <p:cNvSpPr txBox="1"/>
          <p:nvPr/>
        </p:nvSpPr>
        <p:spPr>
          <a:xfrm>
            <a:off x="179705" y="5852160"/>
            <a:ext cx="7766050" cy="3924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③</a:t>
            </a:r>
            <a:r>
              <a:rPr lang="zh-CN" altLang="zh-CN" sz="2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传送期间只要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CPU</a:t>
            </a:r>
            <a:r>
              <a:rPr lang="zh-CN" altLang="zh-CN" sz="2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不访存，可并行操作。</a:t>
            </a:r>
            <a:endParaRPr lang="zh-CN" altLang="zh-CN" sz="2800" b="1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1756" name="Text Box 11"/>
          <p:cNvSpPr txBox="1"/>
          <p:nvPr/>
        </p:nvSpPr>
        <p:spPr>
          <a:xfrm>
            <a:off x="186690" y="6309360"/>
            <a:ext cx="7142480" cy="3924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④</a:t>
            </a:r>
            <a:r>
              <a:rPr lang="zh-CN" altLang="zh-CN" sz="2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传送前和传送后需要程序干预。</a:t>
            </a:r>
            <a:endParaRPr lang="zh-CN" altLang="zh-CN" sz="2800" b="1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  <p:bldP spid="8195" grpId="0"/>
      <p:bldP spid="824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6" name="Text Box 4"/>
          <p:cNvSpPr txBox="1"/>
          <p:nvPr/>
        </p:nvSpPr>
        <p:spPr>
          <a:xfrm>
            <a:off x="251143" y="3429000"/>
            <a:ext cx="8640762" cy="28940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2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【</a:t>
            </a:r>
            <a:r>
              <a:rPr lang="zh-CN" altLang="en-US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典型的应用场合</a:t>
            </a:r>
            <a:r>
              <a:rPr lang="en-US" altLang="zh-CN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】</a:t>
            </a:r>
            <a:endParaRPr lang="en-US" altLang="zh-CN" sz="2800" b="1" dirty="0">
              <a:latin typeface="Calibri" panose="020F0502020204030204" pitchFamily="34" charset="0"/>
              <a:ea typeface="黑体" panose="0201060906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Wingdings" panose="05000000000000000000" pitchFamily="2" charset="2"/>
              <a:buChar char="ü"/>
            </a:pP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2" charset="-122"/>
              </a:rPr>
              <a:t>主存与高速</a:t>
            </a:r>
            <a:r>
              <a:rPr lang="en-US" altLang="zh-CN" sz="2800" b="1" dirty="0">
                <a:latin typeface="Calibri" panose="020F0502020204030204" pitchFamily="34" charset="0"/>
                <a:ea typeface="黑体" panose="02010609060101010101" pitchFamily="2" charset="-122"/>
              </a:rPr>
              <a:t>I/O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2" charset="-122"/>
              </a:rPr>
              <a:t>设备之间的简单数据传送。</a:t>
            </a:r>
            <a:endParaRPr lang="zh-CN" altLang="en-US" sz="2800" b="1" dirty="0">
              <a:latin typeface="Calibri" panose="020F0502020204030204" pitchFamily="34" charset="0"/>
              <a:ea typeface="黑体" panose="0201060906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Wingdings" panose="05000000000000000000" pitchFamily="2" charset="2"/>
              <a:buChar char="ü"/>
            </a:pP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2" charset="-122"/>
              </a:rPr>
              <a:t>大批量数据采集系统</a:t>
            </a:r>
            <a:endParaRPr lang="zh-CN" altLang="en-US" sz="2800" b="1" dirty="0">
              <a:latin typeface="Calibri" panose="020F0502020204030204" pitchFamily="34" charset="0"/>
              <a:ea typeface="黑体" panose="0201060906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Font typeface="Wingdings" panose="05000000000000000000" pitchFamily="2" charset="2"/>
              <a:buChar char="ü"/>
            </a:pP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2" charset="-122"/>
              </a:rPr>
              <a:t>动态存储器（</a:t>
            </a:r>
            <a:r>
              <a:rPr lang="en-US" altLang="zh-CN" sz="2800" b="1" dirty="0">
                <a:latin typeface="Calibri" panose="020F0502020204030204" pitchFamily="34" charset="0"/>
                <a:ea typeface="黑体" panose="02010609060101010101" pitchFamily="2" charset="-122"/>
              </a:rPr>
              <a:t>DRAM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2" charset="-122"/>
              </a:rPr>
              <a:t>）的自动刷新</a:t>
            </a:r>
            <a:endParaRPr lang="zh-CN" altLang="en-US" sz="2800" b="1" dirty="0">
              <a:latin typeface="Calibri" panose="020F0502020204030204" pitchFamily="34" charset="0"/>
              <a:ea typeface="黑体" panose="02010609060101010101" pitchFamily="2" charset="-122"/>
            </a:endParaRPr>
          </a:p>
        </p:txBody>
      </p:sp>
      <p:sp>
        <p:nvSpPr>
          <p:cNvPr id="5123" name="灯片编号占位符 4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6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fld>
            <a:r>
              <a:rPr lang="en-US" altLang="zh-CN" sz="16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/19</a:t>
            </a:r>
            <a:endParaRPr lang="en-US" altLang="zh-CN" sz="16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8250" name="Text Box 58"/>
          <p:cNvSpPr txBox="1"/>
          <p:nvPr/>
        </p:nvSpPr>
        <p:spPr>
          <a:xfrm>
            <a:off x="266700" y="620713"/>
            <a:ext cx="8877300" cy="22256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、特点与应用</a:t>
            </a:r>
            <a:endParaRPr lang="zh-CN" altLang="en-US" sz="28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SzTx/>
              <a:buFont typeface="Wingdings" panose="05000000000000000000" pitchFamily="2" charset="2"/>
              <a:buChar char="ü"/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响应随机请求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SzTx/>
              <a:buFont typeface="Wingdings" panose="05000000000000000000" pitchFamily="2" charset="2"/>
              <a:buChar char="ü"/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一般不影响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CPU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程序的执行，仅占用总线、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无程序切换</a:t>
            </a:r>
            <a:endParaRPr lang="zh-CN" altLang="en-US" sz="28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SzTx/>
              <a:buFont typeface="Wingdings" panose="05000000000000000000" pitchFamily="2" charset="2"/>
              <a:buChar char="ü"/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大批量数据的简单传送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charRg st="1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38916">
                                            <p:txEl>
                                              <p:charRg st="1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38916">
                                            <p:txEl>
                                              <p:charRg st="1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38916">
                                            <p:txEl>
                                              <p:charRg st="1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charRg st="31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38916">
                                            <p:txEl>
                                              <p:charRg st="31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38916">
                                            <p:txEl>
                                              <p:charRg st="31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38916">
                                            <p:txEl>
                                              <p:charRg st="31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charRg st="41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6" dur="80"/>
                                        <p:tgtEl>
                                          <p:spTgt spid="38916">
                                            <p:txEl>
                                              <p:charRg st="41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7" dur="80"/>
                                        <p:tgtEl>
                                          <p:spTgt spid="38916">
                                            <p:txEl>
                                              <p:charRg st="41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80"/>
                                        <p:tgtEl>
                                          <p:spTgt spid="38916">
                                            <p:txEl>
                                              <p:charRg st="41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0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250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0">
                                            <p:txEl>
                                              <p:charRg st="8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8" dur="80"/>
                                        <p:tgtEl>
                                          <p:spTgt spid="8250">
                                            <p:txEl>
                                              <p:charRg st="8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9" dur="80"/>
                                        <p:tgtEl>
                                          <p:spTgt spid="8250">
                                            <p:txEl>
                                              <p:charRg st="8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80"/>
                                        <p:tgtEl>
                                          <p:spTgt spid="8250">
                                            <p:txEl>
                                              <p:charRg st="8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0">
                                            <p:txEl>
                                              <p:charRg st="15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5" dur="80"/>
                                        <p:tgtEl>
                                          <p:spTgt spid="8250">
                                            <p:txEl>
                                              <p:charRg st="15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6" dur="80"/>
                                        <p:tgtEl>
                                          <p:spTgt spid="8250">
                                            <p:txEl>
                                              <p:charRg st="15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80"/>
                                        <p:tgtEl>
                                          <p:spTgt spid="8250">
                                            <p:txEl>
                                              <p:charRg st="15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0">
                                            <p:txEl>
                                              <p:charRg st="41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2" dur="80"/>
                                        <p:tgtEl>
                                          <p:spTgt spid="8250">
                                            <p:txEl>
                                              <p:charRg st="41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3" dur="80"/>
                                        <p:tgtEl>
                                          <p:spTgt spid="8250">
                                            <p:txEl>
                                              <p:charRg st="41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80"/>
                                        <p:tgtEl>
                                          <p:spTgt spid="8250">
                                            <p:txEl>
                                              <p:charRg st="41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5"/>
          <p:cNvSpPr txBox="1"/>
          <p:nvPr/>
        </p:nvSpPr>
        <p:spPr>
          <a:xfrm>
            <a:off x="250825" y="44450"/>
            <a:ext cx="8713788" cy="5156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2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3</a:t>
            </a:r>
            <a:r>
              <a:rPr lang="zh-CN" altLang="en-US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、</a:t>
            </a:r>
            <a:r>
              <a:rPr lang="en-US" altLang="zh-CN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DMA</a:t>
            </a:r>
            <a:r>
              <a:rPr lang="zh-CN" altLang="en-US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的数据传送模式</a:t>
            </a:r>
            <a:endParaRPr lang="zh-CN" altLang="en-US" sz="2800" b="1" dirty="0">
              <a:latin typeface="Calibri" panose="020F0502020204030204" pitchFamily="34" charset="0"/>
              <a:ea typeface="黑体" panose="02010609060101010101" pitchFamily="2" charset="-122"/>
            </a:endParaRPr>
          </a:p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SzTx/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（</a:t>
            </a:r>
            <a:r>
              <a:rPr lang="en-US" altLang="zh-CN" sz="2800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1</a:t>
            </a:r>
            <a:r>
              <a:rPr lang="zh-CN" altLang="en-US" sz="2800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）单字传送</a:t>
            </a:r>
            <a:endParaRPr lang="zh-CN" altLang="en-US" sz="2800" b="1" dirty="0">
              <a:solidFill>
                <a:schemeClr val="accent1"/>
              </a:solidFill>
              <a:latin typeface="Calibri" panose="020F0502020204030204" pitchFamily="34" charset="0"/>
              <a:ea typeface="黑体" panose="02010609060101010101" pitchFamily="2" charset="-122"/>
            </a:endParaRPr>
          </a:p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SzTx/>
              <a:buNone/>
            </a:pPr>
            <a:r>
              <a:rPr lang="en-US" altLang="zh-CN" sz="2800" b="1" dirty="0">
                <a:latin typeface="Calibri" panose="020F0502020204030204" pitchFamily="34" charset="0"/>
                <a:ea typeface="黑体" panose="02010609060101010101" pitchFamily="2" charset="-122"/>
              </a:rPr>
              <a:t>DMA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2" charset="-122"/>
              </a:rPr>
              <a:t>请求获得批准后，</a:t>
            </a:r>
            <a:r>
              <a:rPr lang="en-US" altLang="zh-CN" sz="2800" b="1" dirty="0">
                <a:latin typeface="Calibri" panose="020F0502020204030204" pitchFamily="34" charset="0"/>
                <a:ea typeface="黑体" panose="02010609060101010101" pitchFamily="2" charset="-122"/>
              </a:rPr>
              <a:t>CPU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2" charset="-122"/>
              </a:rPr>
              <a:t>分配</a:t>
            </a:r>
            <a:r>
              <a:rPr lang="en-US" altLang="zh-CN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个</a:t>
            </a:r>
            <a:r>
              <a:rPr lang="zh-CN" altLang="en-US" sz="2800" b="1" dirty="0">
                <a:solidFill>
                  <a:schemeClr val="folHlink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总线周期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2" charset="-122"/>
              </a:rPr>
              <a:t>用于字或字节的传送，再重新分配下一个总线周期的控制权</a:t>
            </a:r>
            <a:r>
              <a:rPr lang="en-US" altLang="zh-CN" sz="2800" b="1" dirty="0">
                <a:latin typeface="Calibri" panose="020F0502020204030204" pitchFamily="34" charset="0"/>
                <a:ea typeface="黑体" panose="02010609060101010101" pitchFamily="2" charset="-122"/>
              </a:rPr>
              <a:t>(</a:t>
            </a:r>
            <a:r>
              <a:rPr lang="zh-CN" altLang="en-US" sz="2800" b="1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周期挪用</a:t>
            </a:r>
            <a:r>
              <a:rPr lang="en-US" altLang="zh-CN" sz="2800" b="1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/</a:t>
            </a:r>
            <a:r>
              <a:rPr lang="zh-CN" altLang="en-US" sz="2800" b="1" dirty="0">
                <a:solidFill>
                  <a:srgbClr val="00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窃取</a:t>
            </a:r>
            <a:r>
              <a:rPr lang="en-US" altLang="zh-CN" sz="2800" b="1" dirty="0">
                <a:solidFill>
                  <a:schemeClr val="folHlink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)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2" charset="-122"/>
              </a:rPr>
              <a:t>。</a:t>
            </a:r>
            <a:endParaRPr lang="zh-CN" altLang="en-US" sz="2800" b="1" dirty="0">
              <a:latin typeface="Calibri" panose="020F0502020204030204" pitchFamily="34" charset="0"/>
              <a:ea typeface="黑体" panose="02010609060101010101" pitchFamily="2" charset="-122"/>
            </a:endParaRPr>
          </a:p>
          <a:p>
            <a:pPr marL="0" lvl="0" indent="0" algn="just" eaLnBrk="1" hangingPunct="1">
              <a:lnSpc>
                <a:spcPct val="200000"/>
              </a:lnSpc>
              <a:spcBef>
                <a:spcPct val="0"/>
              </a:spcBef>
              <a:buClr>
                <a:schemeClr val="tx2"/>
              </a:buClr>
              <a:buSzTx/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（</a:t>
            </a:r>
            <a:r>
              <a:rPr lang="en-US" altLang="zh-CN" sz="2800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2</a:t>
            </a:r>
            <a:r>
              <a:rPr lang="zh-CN" altLang="en-US" sz="2800" b="1" dirty="0">
                <a:solidFill>
                  <a:schemeClr val="accent1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）成组连续传送方式</a:t>
            </a:r>
            <a:endParaRPr lang="zh-CN" altLang="en-US" sz="2800" b="1" dirty="0">
              <a:solidFill>
                <a:schemeClr val="accent1"/>
              </a:solidFill>
              <a:latin typeface="Calibri" panose="020F0502020204030204" pitchFamily="34" charset="0"/>
              <a:ea typeface="黑体" panose="02010609060101010101" pitchFamily="2" charset="-122"/>
            </a:endParaRPr>
          </a:p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Clr>
                <a:schemeClr val="tx2"/>
              </a:buClr>
              <a:buSzTx/>
              <a:buNone/>
            </a:pPr>
            <a:r>
              <a:rPr lang="en-US" altLang="zh-CN" sz="2800" b="1" dirty="0">
                <a:latin typeface="Calibri" panose="020F0502020204030204" pitchFamily="34" charset="0"/>
                <a:ea typeface="黑体" panose="02010609060101010101" pitchFamily="2" charset="-122"/>
              </a:rPr>
              <a:t>DMA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2" charset="-122"/>
              </a:rPr>
              <a:t>被批准后，连续占用</a:t>
            </a:r>
            <a:r>
              <a:rPr lang="zh-CN" altLang="en-US" sz="2800" b="1" dirty="0">
                <a:solidFill>
                  <a:srgbClr val="FFFF00"/>
                </a:solidFill>
                <a:latin typeface="Calibri" panose="020F0502020204030204" pitchFamily="34" charset="0"/>
                <a:ea typeface="黑体" panose="02010609060101010101" pitchFamily="2" charset="-122"/>
              </a:rPr>
              <a:t>多个总线周期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2" charset="-122"/>
              </a:rPr>
              <a:t>，成组连续批量地传送，结束后将总线的控制权交回给</a:t>
            </a:r>
            <a:r>
              <a:rPr lang="en-US" altLang="zh-CN" sz="2800" b="1" dirty="0">
                <a:latin typeface="Calibri" panose="020F0502020204030204" pitchFamily="34" charset="0"/>
                <a:ea typeface="黑体" panose="02010609060101010101" pitchFamily="2" charset="-122"/>
              </a:rPr>
              <a:t>CPU</a:t>
            </a:r>
            <a:r>
              <a:rPr lang="zh-CN" altLang="en-US" sz="2800" b="1" dirty="0">
                <a:latin typeface="Calibri" panose="020F0502020204030204" pitchFamily="34" charset="0"/>
                <a:ea typeface="黑体" panose="02010609060101010101" pitchFamily="2" charset="-122"/>
              </a:rPr>
              <a:t>。</a:t>
            </a:r>
            <a:endParaRPr lang="zh-CN" altLang="en-US" sz="2800" b="1" dirty="0">
              <a:latin typeface="Calibri" panose="020F0502020204030204" pitchFamily="34" charset="0"/>
              <a:ea typeface="黑体" panose="02010609060101010101" pitchFamily="2" charset="-122"/>
            </a:endParaRPr>
          </a:p>
        </p:txBody>
      </p:sp>
      <p:sp>
        <p:nvSpPr>
          <p:cNvPr id="6147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6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fld>
            <a:r>
              <a:rPr lang="en-US" altLang="zh-CN" sz="16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/19</a:t>
            </a:r>
            <a:endParaRPr lang="en-US" altLang="zh-CN" sz="16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13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charRg st="13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21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5">
                                            <p:txEl>
                                              <p:charRg st="21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5">
                                            <p:txEl>
                                              <p:charRg st="21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5">
                                            <p:txEl>
                                              <p:charRg st="21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80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charRg st="80" end="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92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9" dur="80"/>
                                        <p:tgtEl>
                                          <p:spTgt spid="5">
                                            <p:txEl>
                                              <p:charRg st="92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0" dur="80"/>
                                        <p:tgtEl>
                                          <p:spTgt spid="5">
                                            <p:txEl>
                                              <p:charRg st="92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80"/>
                                        <p:tgtEl>
                                          <p:spTgt spid="5">
                                            <p:txEl>
                                              <p:charRg st="92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40" name="Text Box 4"/>
          <p:cNvSpPr txBox="1"/>
          <p:nvPr/>
        </p:nvSpPr>
        <p:spPr>
          <a:xfrm>
            <a:off x="250825" y="115888"/>
            <a:ext cx="8353425" cy="112236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4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、</a:t>
            </a:r>
            <a:r>
              <a:rPr lang="en-US" altLang="zh-CN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DMA</a:t>
            </a:r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硬件系统的组织</a:t>
            </a:r>
            <a:endParaRPr lang="zh-CN" altLang="en-US" sz="2800" b="1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黑体" panose="02010609060101010101" pitchFamily="2" charset="-122"/>
                <a:ea typeface="黑体" panose="02010609060101010101" pitchFamily="2" charset="-122"/>
              </a:rPr>
              <a:t>DMA</a:t>
            </a:r>
            <a:r>
              <a:rPr lang="zh-CN" altLang="en-US" sz="2600" b="1" dirty="0">
                <a:latin typeface="黑体" panose="02010609060101010101" pitchFamily="2" charset="-122"/>
                <a:ea typeface="黑体" panose="02010609060101010101" pitchFamily="2" charset="-122"/>
              </a:rPr>
              <a:t>方式控制</a:t>
            </a:r>
            <a:r>
              <a:rPr lang="en-US" altLang="zh-CN" sz="2600" b="1" dirty="0">
                <a:latin typeface="黑体" panose="02010609060101010101" pitchFamily="2" charset="-122"/>
                <a:ea typeface="黑体" panose="02010609060101010101" pitchFamily="2" charset="-122"/>
              </a:rPr>
              <a:t>I/O</a:t>
            </a:r>
            <a:r>
              <a:rPr lang="zh-CN" altLang="en-US" sz="2600" b="1" dirty="0">
                <a:latin typeface="黑体" panose="02010609060101010101" pitchFamily="2" charset="-122"/>
                <a:ea typeface="黑体" panose="02010609060101010101" pitchFamily="2" charset="-122"/>
              </a:rPr>
              <a:t>设备与主存数据直传，应明确：</a:t>
            </a:r>
            <a:endParaRPr lang="zh-CN" altLang="en-US" sz="26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9941" name="Text Box 5"/>
          <p:cNvSpPr txBox="1"/>
          <p:nvPr/>
        </p:nvSpPr>
        <p:spPr>
          <a:xfrm>
            <a:off x="236538" y="2276475"/>
            <a:ext cx="8728075" cy="10239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早期：</a:t>
            </a:r>
            <a:r>
              <a:rPr lang="zh-CN" altLang="en-US" sz="2600" b="1" dirty="0">
                <a:latin typeface="黑体" panose="02010609060101010101" pitchFamily="2" charset="-122"/>
                <a:ea typeface="黑体" panose="02010609060101010101" pitchFamily="2" charset="-122"/>
              </a:rPr>
              <a:t>由</a:t>
            </a:r>
            <a:r>
              <a:rPr lang="en-US" altLang="zh-CN" sz="2600" b="1" dirty="0">
                <a:latin typeface="黑体" panose="02010609060101010101" pitchFamily="2" charset="-122"/>
                <a:ea typeface="黑体" panose="02010609060101010101" pitchFamily="2" charset="-122"/>
              </a:rPr>
              <a:t>CPU</a:t>
            </a:r>
            <a:r>
              <a:rPr lang="zh-CN" altLang="en-US" sz="2600" b="1" dirty="0">
                <a:latin typeface="黑体" panose="02010609060101010101" pitchFamily="2" charset="-122"/>
                <a:ea typeface="黑体" panose="02010609060101010101" pitchFamily="2" charset="-122"/>
              </a:rPr>
              <a:t>和</a:t>
            </a:r>
            <a:r>
              <a:rPr lang="en-US" altLang="zh-CN" sz="2600" b="1" dirty="0">
                <a:latin typeface="黑体" panose="02010609060101010101" pitchFamily="2" charset="-122"/>
                <a:ea typeface="黑体" panose="02010609060101010101" pitchFamily="2" charset="-122"/>
              </a:rPr>
              <a:t>DMA</a:t>
            </a:r>
            <a:r>
              <a:rPr lang="zh-CN" altLang="en-US" sz="2600" b="1" dirty="0">
                <a:latin typeface="黑体" panose="02010609060101010101" pitchFamily="2" charset="-122"/>
                <a:ea typeface="黑体" panose="02010609060101010101" pitchFamily="2" charset="-122"/>
              </a:rPr>
              <a:t>接口协同控制</a:t>
            </a:r>
            <a:r>
              <a:rPr lang="en-US" altLang="zh-CN" sz="2600" b="1" dirty="0">
                <a:latin typeface="黑体" panose="02010609060101010101" pitchFamily="2" charset="-122"/>
                <a:ea typeface="黑体" panose="02010609060101010101" pitchFamily="2" charset="-122"/>
              </a:rPr>
              <a:t>;</a:t>
            </a:r>
            <a:endParaRPr lang="en-US" altLang="zh-CN" sz="2600" b="1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现代：</a:t>
            </a:r>
            <a:r>
              <a:rPr lang="zh-CN" altLang="en-US" sz="2600" b="1" dirty="0">
                <a:latin typeface="黑体" panose="02010609060101010101" pitchFamily="2" charset="-122"/>
                <a:ea typeface="黑体" panose="02010609060101010101" pitchFamily="2" charset="-122"/>
              </a:rPr>
              <a:t>设置专用的</a:t>
            </a:r>
            <a:r>
              <a:rPr lang="en-US" altLang="zh-CN" sz="2600" b="1" dirty="0">
                <a:solidFill>
                  <a:srgbClr val="00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DMA</a:t>
            </a:r>
            <a:r>
              <a:rPr lang="zh-CN" altLang="en-US" sz="2600" b="1" dirty="0">
                <a:solidFill>
                  <a:srgbClr val="00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控制器</a:t>
            </a:r>
            <a:endParaRPr lang="zh-CN" altLang="en-US" sz="2600" b="1" dirty="0">
              <a:solidFill>
                <a:srgbClr val="00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9943" name="Rectangle 7"/>
          <p:cNvSpPr/>
          <p:nvPr/>
        </p:nvSpPr>
        <p:spPr>
          <a:xfrm>
            <a:off x="34925" y="1196975"/>
            <a:ext cx="2889250" cy="522288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ea typeface="黑体" panose="02010609060101010101" pitchFamily="2" charset="-122"/>
              </a:rPr>
              <a:t>（</a:t>
            </a:r>
            <a:r>
              <a:rPr lang="en-US" altLang="zh-CN" sz="2800" b="1" dirty="0">
                <a:solidFill>
                  <a:schemeClr val="accent1"/>
                </a:solidFill>
                <a:ea typeface="黑体" panose="02010609060101010101" pitchFamily="2" charset="-122"/>
              </a:rPr>
              <a:t>1</a:t>
            </a:r>
            <a:r>
              <a:rPr lang="zh-CN" altLang="en-US" sz="2800" b="1" dirty="0">
                <a:solidFill>
                  <a:schemeClr val="accent1"/>
                </a:solidFill>
                <a:ea typeface="黑体" panose="02010609060101010101" pitchFamily="2" charset="-122"/>
              </a:rPr>
              <a:t>）传送方向、</a:t>
            </a:r>
            <a:endParaRPr lang="zh-CN" altLang="en-US" sz="2800" b="1" dirty="0">
              <a:solidFill>
                <a:schemeClr val="accent1"/>
              </a:solidFill>
              <a:ea typeface="黑体" panose="02010609060101010101" pitchFamily="2" charset="-122"/>
            </a:endParaRPr>
          </a:p>
        </p:txBody>
      </p:sp>
      <p:sp>
        <p:nvSpPr>
          <p:cNvPr id="39944" name="Rectangle 8"/>
          <p:cNvSpPr/>
          <p:nvPr/>
        </p:nvSpPr>
        <p:spPr>
          <a:xfrm>
            <a:off x="4500563" y="1212850"/>
            <a:ext cx="3609975" cy="522288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ea typeface="黑体" panose="02010609060101010101" pitchFamily="2" charset="-122"/>
              </a:rPr>
              <a:t>（</a:t>
            </a:r>
            <a:r>
              <a:rPr lang="en-US" altLang="zh-CN" sz="2800" b="1" dirty="0">
                <a:solidFill>
                  <a:schemeClr val="accent1"/>
                </a:solidFill>
                <a:ea typeface="黑体" panose="02010609060101010101" pitchFamily="2" charset="-122"/>
              </a:rPr>
              <a:t>2</a:t>
            </a:r>
            <a:r>
              <a:rPr lang="zh-CN" altLang="en-US" sz="2800" b="1" dirty="0">
                <a:solidFill>
                  <a:schemeClr val="accent1"/>
                </a:solidFill>
                <a:ea typeface="黑体" panose="02010609060101010101" pitchFamily="2" charset="-122"/>
              </a:rPr>
              <a:t>）设备寻址信息、</a:t>
            </a:r>
            <a:endParaRPr lang="zh-CN" altLang="en-US" sz="2800" b="1" dirty="0">
              <a:solidFill>
                <a:schemeClr val="accent1"/>
              </a:solidFill>
              <a:ea typeface="黑体" panose="02010609060101010101" pitchFamily="2" charset="-122"/>
            </a:endParaRPr>
          </a:p>
        </p:txBody>
      </p:sp>
      <p:sp>
        <p:nvSpPr>
          <p:cNvPr id="39945" name="Rectangle 9"/>
          <p:cNvSpPr/>
          <p:nvPr/>
        </p:nvSpPr>
        <p:spPr>
          <a:xfrm>
            <a:off x="34925" y="1716088"/>
            <a:ext cx="4332288" cy="522287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ea typeface="黑体" panose="02010609060101010101" pitchFamily="2" charset="-122"/>
              </a:rPr>
              <a:t>（</a:t>
            </a:r>
            <a:r>
              <a:rPr lang="en-US" altLang="zh-CN" sz="2800" b="1" dirty="0">
                <a:solidFill>
                  <a:schemeClr val="accent1"/>
                </a:solidFill>
                <a:ea typeface="黑体" panose="02010609060101010101" pitchFamily="2" charset="-122"/>
              </a:rPr>
              <a:t>3</a:t>
            </a:r>
            <a:r>
              <a:rPr lang="zh-CN" altLang="en-US" sz="2800" b="1" dirty="0">
                <a:solidFill>
                  <a:schemeClr val="accent1"/>
                </a:solidFill>
                <a:ea typeface="黑体" panose="02010609060101010101" pitchFamily="2" charset="-122"/>
              </a:rPr>
              <a:t>）主存缓冲区首地址、</a:t>
            </a:r>
            <a:endParaRPr lang="zh-CN" altLang="en-US" sz="2800" b="1" dirty="0">
              <a:solidFill>
                <a:schemeClr val="accent1"/>
              </a:solidFill>
              <a:ea typeface="黑体" panose="02010609060101010101" pitchFamily="2" charset="-122"/>
            </a:endParaRPr>
          </a:p>
        </p:txBody>
      </p:sp>
      <p:sp>
        <p:nvSpPr>
          <p:cNvPr id="39946" name="Rectangle 10"/>
          <p:cNvSpPr/>
          <p:nvPr/>
        </p:nvSpPr>
        <p:spPr>
          <a:xfrm>
            <a:off x="4500563" y="1716088"/>
            <a:ext cx="4692650" cy="522287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1"/>
                </a:solidFill>
                <a:ea typeface="黑体" panose="02010609060101010101" pitchFamily="2" charset="-122"/>
              </a:rPr>
              <a:t>（</a:t>
            </a:r>
            <a:r>
              <a:rPr lang="en-US" altLang="zh-CN" sz="2800" b="1" dirty="0">
                <a:solidFill>
                  <a:schemeClr val="accent1"/>
                </a:solidFill>
                <a:ea typeface="黑体" panose="02010609060101010101" pitchFamily="2" charset="-122"/>
              </a:rPr>
              <a:t>4</a:t>
            </a:r>
            <a:r>
              <a:rPr lang="zh-CN" altLang="en-US" sz="2800" b="1" dirty="0">
                <a:solidFill>
                  <a:schemeClr val="accent1"/>
                </a:solidFill>
                <a:ea typeface="黑体" panose="02010609060101010101" pitchFamily="2" charset="-122"/>
              </a:rPr>
              <a:t>）传送的数据量，等等。</a:t>
            </a:r>
            <a:endParaRPr lang="zh-CN" altLang="en-US" sz="2800" b="1" dirty="0">
              <a:solidFill>
                <a:schemeClr val="accent1"/>
              </a:solidFill>
              <a:ea typeface="黑体" panose="02010609060101010101" pitchFamily="2" charset="-122"/>
            </a:endParaRPr>
          </a:p>
        </p:txBody>
      </p:sp>
      <p:sp>
        <p:nvSpPr>
          <p:cNvPr id="7177" name="灯片编号占位符 9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92075" tIns="46038" rIns="92075" bIns="46038" anchor="ctr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6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fld>
            <a:r>
              <a:rPr lang="en-US" altLang="zh-CN" sz="16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/19</a:t>
            </a:r>
            <a:endParaRPr lang="en-US" altLang="zh-CN" sz="16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13290" t="10502" r="13872" b="11497"/>
          <a:stretch>
            <a:fillRect/>
          </a:stretch>
        </p:blipFill>
        <p:spPr>
          <a:xfrm>
            <a:off x="755650" y="3573145"/>
            <a:ext cx="5274310" cy="3177540"/>
          </a:xfrm>
          <a:prstGeom prst="rect">
            <a:avLst/>
          </a:prstGeom>
        </p:spPr>
      </p:pic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40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charRg st="13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9940">
                                            <p:txEl>
                                              <p:charRg st="13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4" dur="80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5" dur="80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80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1" dur="80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2" dur="80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80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8" dur="80"/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9" dur="80"/>
                                        <p:tgtEl>
                                          <p:spTgt spid="399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80"/>
                                        <p:tgtEl>
                                          <p:spTgt spid="399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5" dur="80"/>
                                        <p:tgtEl>
                                          <p:spTgt spid="39941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6" dur="80"/>
                                        <p:tgtEl>
                                          <p:spTgt spid="39941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80"/>
                                        <p:tgtEl>
                                          <p:spTgt spid="39941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charRg st="19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2" dur="80"/>
                                        <p:tgtEl>
                                          <p:spTgt spid="39941">
                                            <p:txEl>
                                              <p:charRg st="19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3" dur="80"/>
                                        <p:tgtEl>
                                          <p:spTgt spid="39941">
                                            <p:txEl>
                                              <p:charRg st="19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80"/>
                                        <p:tgtEl>
                                          <p:spTgt spid="39941">
                                            <p:txEl>
                                              <p:charRg st="19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3" grpId="0"/>
      <p:bldP spid="39944" grpId="0"/>
      <p:bldP spid="39945" grpId="0"/>
      <p:bldP spid="399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42" name="Text Box 6"/>
          <p:cNvSpPr txBox="1"/>
          <p:nvPr/>
        </p:nvSpPr>
        <p:spPr>
          <a:xfrm>
            <a:off x="251460" y="476568"/>
            <a:ext cx="7704138" cy="6508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5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、</a:t>
            </a:r>
            <a:r>
              <a:rPr lang="en-US" altLang="zh-CN" sz="2800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DMA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流程</a:t>
            </a:r>
            <a:endParaRPr lang="zh-CN" altLang="en-US" sz="27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5740" y="1196975"/>
            <a:ext cx="7020560" cy="5428615"/>
          </a:xfrm>
          <a:prstGeom prst="rect">
            <a:avLst/>
          </a:prstGeom>
          <a:solidFill>
            <a:schemeClr val="tx1"/>
          </a:solidFill>
        </p:spPr>
      </p:pic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4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42" name="Text Box 6"/>
          <p:cNvSpPr txBox="1"/>
          <p:nvPr/>
        </p:nvSpPr>
        <p:spPr>
          <a:xfrm>
            <a:off x="251460" y="476568"/>
            <a:ext cx="7704138" cy="73088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6</a:t>
            </a:r>
            <a:r>
              <a:rPr lang="zh-CN" altLang="en-US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、</a:t>
            </a:r>
            <a:r>
              <a:rPr lang="zh-CN" altLang="en-US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三个阶段</a:t>
            </a:r>
            <a:endParaRPr lang="zh-CN" altLang="en-US" b="1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sp>
        <p:nvSpPr>
          <p:cNvPr id="37911" name="Text Box 23"/>
          <p:cNvSpPr txBox="1"/>
          <p:nvPr/>
        </p:nvSpPr>
        <p:spPr>
          <a:xfrm>
            <a:off x="251460" y="3234373"/>
            <a:ext cx="8686800" cy="223678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处理思想：由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CPU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通过执行程序进行初始化，将有关控制信息发送给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DMA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控制器，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CPU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不再干预；以后以响应随机请求方式，由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DMA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控制器实现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DMA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传送；批量传送结束时，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CPU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以响应中断请求的方式进行结束处理。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30" name="Text Box 2"/>
          <p:cNvSpPr txBox="1"/>
          <p:nvPr/>
        </p:nvSpPr>
        <p:spPr>
          <a:xfrm>
            <a:off x="2555240" y="1196975"/>
            <a:ext cx="4419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主程序实现初始化。</a:t>
            </a:r>
            <a:endParaRPr lang="zh-CN" altLang="en-US" sz="3600" b="1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4832" name="Text Box 4"/>
          <p:cNvSpPr txBox="1"/>
          <p:nvPr/>
        </p:nvSpPr>
        <p:spPr>
          <a:xfrm>
            <a:off x="345440" y="1381125"/>
            <a:ext cx="2667000" cy="1631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6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程序准备：</a:t>
            </a:r>
            <a:endParaRPr lang="zh-CN" altLang="en-US" sz="3600" b="1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6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DMA</a:t>
            </a:r>
            <a:r>
              <a:rPr lang="zh-CN" altLang="en-US" sz="36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传送：</a:t>
            </a:r>
            <a:endParaRPr lang="zh-CN" altLang="en-US" sz="3600" b="1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6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善后处理：</a:t>
            </a:r>
            <a:endParaRPr lang="zh-CN" altLang="en-US" sz="3600" b="1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4834" name="AutoShape 7"/>
          <p:cNvSpPr/>
          <p:nvPr/>
        </p:nvSpPr>
        <p:spPr>
          <a:xfrm>
            <a:off x="193040" y="1457325"/>
            <a:ext cx="152400" cy="1447800"/>
          </a:xfrm>
          <a:prstGeom prst="leftBrace">
            <a:avLst>
              <a:gd name="adj1" fmla="val 79166"/>
              <a:gd name="adj2" fmla="val 50000"/>
            </a:avLst>
          </a:prstGeom>
          <a:noFill/>
          <a:ln w="38100" cap="flat" cmpd="sng">
            <a:solidFill>
              <a:srgbClr val="250FF7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35" name="Text Box 8"/>
          <p:cNvSpPr txBox="1"/>
          <p:nvPr/>
        </p:nvSpPr>
        <p:spPr>
          <a:xfrm>
            <a:off x="2555240" y="1806575"/>
            <a:ext cx="2514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硬件实现</a:t>
            </a:r>
            <a:r>
              <a:rPr lang="en-US" altLang="zh-CN" sz="36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M</a:t>
            </a:r>
            <a:endParaRPr lang="en-US" altLang="zh-CN" sz="3600" b="1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4836" name="Line 9"/>
          <p:cNvSpPr/>
          <p:nvPr/>
        </p:nvSpPr>
        <p:spPr>
          <a:xfrm>
            <a:off x="4841240" y="2143125"/>
            <a:ext cx="762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4837" name="Text Box 10"/>
          <p:cNvSpPr txBox="1"/>
          <p:nvPr/>
        </p:nvSpPr>
        <p:spPr>
          <a:xfrm>
            <a:off x="5527040" y="1806575"/>
            <a:ext cx="2209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I/O。</a:t>
            </a:r>
            <a:endParaRPr lang="en-US" altLang="zh-CN" sz="3600" b="1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4838" name="Text Box 11"/>
          <p:cNvSpPr txBox="1"/>
          <p:nvPr/>
        </p:nvSpPr>
        <p:spPr>
          <a:xfrm>
            <a:off x="2555240" y="2447925"/>
            <a:ext cx="6629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中断处理程序判断传送的正误。</a:t>
            </a:r>
            <a:endParaRPr lang="zh-CN" altLang="en-US" sz="3600" b="1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4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11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22" name="Text Box 12"/>
          <p:cNvSpPr txBox="1"/>
          <p:nvPr/>
        </p:nvSpPr>
        <p:spPr>
          <a:xfrm>
            <a:off x="179070" y="1268730"/>
            <a:ext cx="5943600" cy="433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DMA</a:t>
            </a:r>
            <a:r>
              <a:rPr lang="zh-CN" altLang="zh-CN" sz="3200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与中断的相同点：</a:t>
            </a:r>
            <a:endParaRPr lang="zh-CN" altLang="zh-CN" sz="3200" b="1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4823" name="Text Box 13"/>
          <p:cNvSpPr txBox="1"/>
          <p:nvPr/>
        </p:nvSpPr>
        <p:spPr>
          <a:xfrm>
            <a:off x="683260" y="1826895"/>
            <a:ext cx="5907405" cy="433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能响应随机请求；可并行操作。</a:t>
            </a:r>
            <a:endParaRPr lang="zh-CN" altLang="en-US" sz="3200" b="1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4824" name="Text Box 14"/>
          <p:cNvSpPr txBox="1"/>
          <p:nvPr/>
        </p:nvSpPr>
        <p:spPr>
          <a:xfrm>
            <a:off x="179070" y="2543175"/>
            <a:ext cx="5943600" cy="433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DMA</a:t>
            </a:r>
            <a:r>
              <a:rPr lang="zh-CN" altLang="zh-CN" sz="3200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与中断的不同点：</a:t>
            </a:r>
            <a:endParaRPr lang="zh-CN" altLang="zh-CN" sz="3200" b="1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4825" name="Text Box 15"/>
          <p:cNvSpPr txBox="1"/>
          <p:nvPr/>
        </p:nvSpPr>
        <p:spPr>
          <a:xfrm>
            <a:off x="179070" y="3076575"/>
            <a:ext cx="9296400" cy="433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zh-CN" sz="2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中断：用程序实现中、低速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I/O</a:t>
            </a:r>
            <a:r>
              <a:rPr lang="zh-CN" altLang="zh-CN" sz="2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传送；能处理复杂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事态；</a:t>
            </a:r>
            <a:r>
              <a:rPr lang="zh-CN" altLang="zh-CN" sz="32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endParaRPr lang="zh-CN" altLang="zh-CN" sz="3200" b="1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4826" name="Text Box 16"/>
          <p:cNvSpPr txBox="1"/>
          <p:nvPr/>
        </p:nvSpPr>
        <p:spPr>
          <a:xfrm>
            <a:off x="1366520" y="3533775"/>
            <a:ext cx="7194550" cy="390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一条指令结束时响应请求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实质为程序切换</a:t>
            </a:r>
            <a:endParaRPr lang="zh-CN" altLang="en-US" sz="2800" b="1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4827" name="Text Box 18"/>
          <p:cNvSpPr txBox="1"/>
          <p:nvPr/>
        </p:nvSpPr>
        <p:spPr>
          <a:xfrm>
            <a:off x="179070" y="3990975"/>
            <a:ext cx="9296400" cy="433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DMA：</a:t>
            </a:r>
            <a:r>
              <a:rPr lang="zh-CN" altLang="zh-CN" sz="32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用硬件实现高速、简单</a:t>
            </a:r>
            <a:r>
              <a:rPr lang="en-US" altLang="zh-CN" sz="32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I/O</a:t>
            </a:r>
            <a:r>
              <a:rPr lang="zh-CN" altLang="zh-CN" sz="32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传送；一个总线      </a:t>
            </a:r>
            <a:endParaRPr lang="zh-CN" altLang="zh-CN" sz="3200" b="1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4828" name="Text Box 19"/>
          <p:cNvSpPr txBox="1"/>
          <p:nvPr/>
        </p:nvSpPr>
        <p:spPr>
          <a:xfrm>
            <a:off x="1245870" y="4472305"/>
            <a:ext cx="7848600" cy="433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zh-CN" sz="32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周期结束时响应请求</a:t>
            </a: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zh-CN" altLang="zh-CN" sz="32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</a:t>
            </a:r>
            <a:endParaRPr lang="zh-CN" altLang="zh-CN" sz="3200" b="1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4829" name="Text Box 21"/>
          <p:cNvSpPr txBox="1"/>
          <p:nvPr/>
        </p:nvSpPr>
        <p:spPr>
          <a:xfrm>
            <a:off x="5208270" y="4326255"/>
            <a:ext cx="3719830" cy="579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实质为总线权切换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9942" name="Text Box 6"/>
          <p:cNvSpPr txBox="1"/>
          <p:nvPr/>
        </p:nvSpPr>
        <p:spPr>
          <a:xfrm>
            <a:off x="251460" y="188278"/>
            <a:ext cx="7704138" cy="73088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7</a:t>
            </a:r>
            <a:r>
              <a:rPr lang="zh-CN" altLang="en-US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、</a:t>
            </a:r>
            <a:r>
              <a:rPr lang="en-US" altLang="zh-CN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DMA</a:t>
            </a:r>
            <a:r>
              <a:rPr lang="zh-CN" altLang="zh-CN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与中断的</a:t>
            </a:r>
            <a:r>
              <a:rPr lang="zh-CN" altLang="zh-CN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异同</a:t>
            </a:r>
            <a:endParaRPr lang="zh-CN" altLang="zh-CN" b="1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4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PP_MARK_KEY" val="66f51907-6931-4352-8f89-a2ee6f1f849e"/>
  <p:tag name="COMMONDATA" val="eyJoZGlkIjoiZDVkZjUyYzk3YmYzZmRlZTdiNzFlYmE0MmMzZTU4MzYifQ=="/>
</p:tagLst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0</TotalTime>
  <Words>889</Words>
  <Application>WPS 演示</Application>
  <PresentationFormat>全屏显示(4:3)</PresentationFormat>
  <Paragraphs>96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Times New Roman</vt:lpstr>
      <vt:lpstr>Calibri</vt:lpstr>
      <vt:lpstr>Arial Rounded MT Bold</vt:lpstr>
      <vt:lpstr>黑体</vt:lpstr>
      <vt:lpstr>微软雅黑</vt:lpstr>
      <vt:lpstr>Arial Unicode MS</vt:lpstr>
      <vt:lpstr>Soaring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001</dc:creator>
  <cp:lastModifiedBy>WPS_1635426340</cp:lastModifiedBy>
  <cp:revision>436</cp:revision>
  <dcterms:created xsi:type="dcterms:W3CDTF">2000-12-26T13:29:32Z</dcterms:created>
  <dcterms:modified xsi:type="dcterms:W3CDTF">2024-05-11T08:48:29Z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73B06FA593B6428BB6245CF6EEBE0069</vt:lpwstr>
  </property>
  <property fmtid="{D5CDD505-2E9C-101B-9397-08002B2CF9AE}" pid="3" name="KSOProductBuildVer">
    <vt:lpwstr>2052-11.1.0.12165</vt:lpwstr>
  </property>
</Properties>
</file>