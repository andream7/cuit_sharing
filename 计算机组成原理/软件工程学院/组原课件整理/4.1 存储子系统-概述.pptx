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65" r:id="rId3"/>
    <p:sldId id="267" r:id="rId4"/>
    <p:sldId id="266" r:id="rId5"/>
    <p:sldId id="257" r:id="rId6"/>
    <p:sldId id="268" r:id="rId7"/>
    <p:sldId id="264" r:id="rId8"/>
    <p:sldId id="258" r:id="rId9"/>
    <p:sldId id="269" r:id="rId10"/>
    <p:sldId id="259" r:id="rId11"/>
    <p:sldId id="270" r:id="rId12"/>
    <p:sldId id="260" r:id="rId13"/>
    <p:sldId id="271" r:id="rId14"/>
    <p:sldId id="272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lvl="0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00"/>
    <a:srgbClr val="33CC33"/>
    <a:srgbClr val="FF3300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746"/>
  </p:normalViewPr>
  <p:slideViewPr>
    <p:cSldViewPr showGuides="1">
      <p:cViewPr varScale="1">
        <p:scale>
          <a:sx n="73" d="100"/>
          <a:sy n="73" d="100"/>
        </p:scale>
        <p:origin x="496" y="36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‹#›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‹#›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传统的SDR SDRAM只能在信号的上升沿进行数据传输，而DDR SDRAM却可以在信号的上升沿和下降沿都进行数据传输，所以DDR内存在每个时钟周期都可以完成两倍于SDRAM的数据传输量，这也是DDR的意义——Double Data Rate，双倍数据速率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-1380067" y="1552576"/>
            <a:ext cx="13572067" cy="5305425"/>
            <a:chOff x="-652" y="978"/>
            <a:chExt cx="6412" cy="3342"/>
          </a:xfrm>
        </p:grpSpPr>
        <p:sp>
          <p:nvSpPr>
            <p:cNvPr id="10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7589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2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 algn="l">
              <a:defRPr sz="1400">
                <a:latin typeface="+mn-lt"/>
              </a:defRPr>
            </a:lvl1pPr>
          </a:lstStyle>
          <a:p>
            <a:pPr>
              <a:defRPr/>
            </a:pPr>
            <a:fld id="{3DC18F37-FDAF-4B46-B6E0-964B5EB3BC5A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13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34544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>
              <a:buNone/>
            </a:pPr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  <a:t>‹#›</a:t>
            </a:fld>
            <a:r>
              <a:rPr lang="en-US" altLang="zh-CN" sz="1400" dirty="0">
                <a:latin typeface="Times New Roman" panose="02020603050405020304" pitchFamily="18" charset="0"/>
              </a:rPr>
              <a:t>1111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d"/>
    <p:sndAc>
      <p:stSnd>
        <p:snd r:embed="rId1" name="PROJCTOR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12177184" cy="6845300"/>
            <a:chOff x="0" y="1"/>
            <a:chExt cx="5753" cy="4312"/>
          </a:xfrm>
        </p:grpSpPr>
        <p:sp>
          <p:nvSpPr>
            <p:cNvPr id="66563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64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656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89217" y="6400800"/>
            <a:ext cx="1102784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sz="1600" b="1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/14</a:t>
            </a:r>
          </a:p>
        </p:txBody>
      </p:sp>
      <p:sp>
        <p:nvSpPr>
          <p:cNvPr id="1030" name="Rectangle 9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 dir="rd"/>
    <p:sndAc>
      <p:stSnd>
        <p:snd r:embed="rId13" name="PROJCTOR.WAV"/>
      </p:stSnd>
    </p:sndAc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F17EEA7-555D-4417-B719-0E084E420425}" type="datetime10">
              <a:rPr lang="zh-CN" altLang="en-US" smtClean="0"/>
              <a:pPr>
                <a:defRPr/>
              </a:pPr>
              <a:t>12:24</a:t>
            </a:fld>
            <a:endParaRPr lang="en-US" altLang="zh-CN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ll dir="rd"/>
    <p:sndAc>
      <p:stSnd>
        <p:snd r:embed="rId13" name="PROJCTOR.WAV"/>
      </p:stSnd>
    </p:sndAc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287078" y="836614"/>
            <a:ext cx="5791200" cy="823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zh-CN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kumimoji="1" lang="en-US" altLang="zh-CN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kumimoji="1" lang="zh-CN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章 存储子系统</a:t>
            </a:r>
          </a:p>
        </p:txBody>
      </p:sp>
      <p:sp>
        <p:nvSpPr>
          <p:cNvPr id="7172" name="Text Box 4"/>
          <p:cNvSpPr txBox="1"/>
          <p:nvPr/>
        </p:nvSpPr>
        <p:spPr>
          <a:xfrm>
            <a:off x="2150428" y="2060893"/>
            <a:ext cx="617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本章需解决的主要问题：</a:t>
            </a:r>
          </a:p>
        </p:txBody>
      </p:sp>
      <p:sp>
        <p:nvSpPr>
          <p:cNvPr id="7173" name="Text Box 5"/>
          <p:cNvSpPr txBox="1"/>
          <p:nvPr/>
        </p:nvSpPr>
        <p:spPr>
          <a:xfrm>
            <a:off x="1918653" y="3068955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）存储器如何存储信息？</a:t>
            </a:r>
          </a:p>
        </p:txBody>
      </p:sp>
      <p:sp>
        <p:nvSpPr>
          <p:cNvPr id="7183" name="Text Box 15"/>
          <p:cNvSpPr txBox="1"/>
          <p:nvPr/>
        </p:nvSpPr>
        <p:spPr>
          <a:xfrm>
            <a:off x="1912303" y="3859530"/>
            <a:ext cx="8153400" cy="1195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）在实际应用中如何用存储芯片组成具有一定容量的存储器？</a:t>
            </a:r>
          </a:p>
        </p:txBody>
      </p:sp>
      <p:sp>
        <p:nvSpPr>
          <p:cNvPr id="7184" name="Text Box 16"/>
          <p:cNvSpPr txBox="1"/>
          <p:nvPr/>
        </p:nvSpPr>
        <p:spPr>
          <a:xfrm>
            <a:off x="1912303" y="5443855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）如何改进存储系统的性能？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图: 磁盘 15"/>
          <p:cNvSpPr/>
          <p:nvPr/>
        </p:nvSpPr>
        <p:spPr bwMode="auto">
          <a:xfrm>
            <a:off x="3957321" y="5165726"/>
            <a:ext cx="1643063" cy="785813"/>
          </a:xfrm>
          <a:prstGeom prst="flowChartMagneticDisk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外存</a:t>
            </a:r>
          </a:p>
        </p:txBody>
      </p:sp>
      <p:sp>
        <p:nvSpPr>
          <p:cNvPr id="28674" name="Text Box 2"/>
          <p:cNvSpPr txBox="1"/>
          <p:nvPr/>
        </p:nvSpPr>
        <p:spPr>
          <a:xfrm>
            <a:off x="4440238" y="549276"/>
            <a:ext cx="34290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4.1 </a:t>
            </a: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概述</a:t>
            </a:r>
          </a:p>
        </p:txBody>
      </p:sp>
      <p:sp>
        <p:nvSpPr>
          <p:cNvPr id="28675" name="Text Box 3"/>
          <p:cNvSpPr txBox="1"/>
          <p:nvPr/>
        </p:nvSpPr>
        <p:spPr>
          <a:xfrm>
            <a:off x="2279651" y="1563688"/>
            <a:ext cx="54006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36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存储系统的层次结构</a:t>
            </a:r>
          </a:p>
        </p:txBody>
      </p:sp>
      <p:sp>
        <p:nvSpPr>
          <p:cNvPr id="28676" name="Text Box 4"/>
          <p:cNvSpPr txBox="1"/>
          <p:nvPr/>
        </p:nvSpPr>
        <p:spPr>
          <a:xfrm>
            <a:off x="3188970" y="2709863"/>
            <a:ext cx="3048000" cy="646112"/>
          </a:xfrm>
          <a:prstGeom prst="rect">
            <a:avLst/>
          </a:prstGeom>
          <a:solidFill>
            <a:srgbClr val="0000FF"/>
          </a:soli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spcAft>
                <a:spcPct val="20000"/>
              </a:spcAft>
            </a:pPr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CPU</a:t>
            </a:r>
          </a:p>
        </p:txBody>
      </p:sp>
      <p:sp>
        <p:nvSpPr>
          <p:cNvPr id="28677" name="Text Box 5"/>
          <p:cNvSpPr txBox="1"/>
          <p:nvPr/>
        </p:nvSpPr>
        <p:spPr>
          <a:xfrm>
            <a:off x="4989196" y="2794001"/>
            <a:ext cx="1152525" cy="461665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Cache</a:t>
            </a:r>
          </a:p>
        </p:txBody>
      </p:sp>
      <p:sp>
        <p:nvSpPr>
          <p:cNvPr id="28678" name="Text Box 6"/>
          <p:cNvSpPr txBox="1"/>
          <p:nvPr/>
        </p:nvSpPr>
        <p:spPr>
          <a:xfrm>
            <a:off x="4089083" y="4081463"/>
            <a:ext cx="2195512" cy="584200"/>
          </a:xfrm>
          <a:prstGeom prst="rect">
            <a:avLst/>
          </a:prstGeom>
          <a:solidFill>
            <a:srgbClr val="0000FF"/>
          </a:soli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主存</a:t>
            </a:r>
          </a:p>
        </p:txBody>
      </p:sp>
      <p:sp>
        <p:nvSpPr>
          <p:cNvPr id="28680" name="Line 8"/>
          <p:cNvSpPr/>
          <p:nvPr/>
        </p:nvSpPr>
        <p:spPr>
          <a:xfrm flipH="1">
            <a:off x="4760595" y="3438526"/>
            <a:ext cx="12700" cy="620713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28682" name="Line 10"/>
          <p:cNvSpPr/>
          <p:nvPr/>
        </p:nvSpPr>
        <p:spPr>
          <a:xfrm>
            <a:off x="5598795" y="3317875"/>
            <a:ext cx="0" cy="763588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stealth" w="lg" len="lg"/>
            <a:tailEnd type="stealth" w="lg" len="lg"/>
          </a:ln>
        </p:spPr>
      </p:sp>
      <p:sp>
        <p:nvSpPr>
          <p:cNvPr id="28683" name="Line 11"/>
          <p:cNvSpPr/>
          <p:nvPr/>
        </p:nvSpPr>
        <p:spPr>
          <a:xfrm>
            <a:off x="4760595" y="4689475"/>
            <a:ext cx="12700" cy="642938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6303645" y="2428876"/>
            <a:ext cx="1758950" cy="519113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b="1" dirty="0">
                <a:latin typeface="+mn-lt"/>
              </a:rPr>
              <a:t>L</a:t>
            </a:r>
            <a:r>
              <a:rPr lang="en-US" altLang="zh-CN" sz="2800" b="1" baseline="-25000" dirty="0">
                <a:latin typeface="+mn-lt"/>
              </a:rPr>
              <a:t>1</a:t>
            </a:r>
            <a:r>
              <a:rPr lang="zh-CN" altLang="en-US" sz="2800" b="1" baseline="-25000" dirty="0">
                <a:latin typeface="+mn-lt"/>
              </a:rPr>
              <a:t>、</a:t>
            </a:r>
            <a:r>
              <a:rPr lang="en-US" altLang="zh-CN" sz="2800" b="1" dirty="0">
                <a:latin typeface="+mn-lt"/>
              </a:rPr>
              <a:t>L</a:t>
            </a:r>
            <a:r>
              <a:rPr lang="en-US" altLang="zh-CN" sz="2800" b="1" baseline="-25000" dirty="0">
                <a:latin typeface="+mn-lt"/>
              </a:rPr>
              <a:t>2</a:t>
            </a:r>
            <a:r>
              <a:rPr lang="zh-CN" altLang="en-US" sz="2800" b="1" baseline="-25000" dirty="0">
                <a:latin typeface="+mn-lt"/>
              </a:rPr>
              <a:t>、</a:t>
            </a:r>
            <a:r>
              <a:rPr lang="en-US" altLang="zh-CN" sz="2800" b="1" dirty="0">
                <a:solidFill>
                  <a:srgbClr val="FFFF00"/>
                </a:solidFill>
                <a:latin typeface="+mn-lt"/>
              </a:rPr>
              <a:t>L</a:t>
            </a:r>
            <a:r>
              <a:rPr lang="en-US" altLang="zh-CN" sz="2800" b="1" baseline="-25000" dirty="0">
                <a:solidFill>
                  <a:srgbClr val="FFFF00"/>
                </a:solidFill>
                <a:latin typeface="+mn-lt"/>
              </a:rPr>
              <a:t>3</a:t>
            </a:r>
            <a:endParaRPr lang="en-US" altLang="zh-CN" sz="2800" b="1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6160771" y="3071814"/>
            <a:ext cx="1871663" cy="1587"/>
          </a:xfrm>
          <a:prstGeom prst="straightConnector1">
            <a:avLst/>
          </a:prstGeom>
          <a:ln w="19050" cap="flat" cmpd="sng">
            <a:solidFill>
              <a:schemeClr val="accent1"/>
            </a:solidFill>
            <a:prstDash val="solid"/>
            <a:headEnd type="none" w="sm" len="sm"/>
            <a:tailEnd type="arrow" w="med" len="med"/>
          </a:ln>
        </p:spPr>
      </p:cxnSp>
      <p:sp>
        <p:nvSpPr>
          <p:cNvPr id="17" name="AutoShape 8"/>
          <p:cNvSpPr/>
          <p:nvPr/>
        </p:nvSpPr>
        <p:spPr>
          <a:xfrm>
            <a:off x="2731771" y="2714625"/>
            <a:ext cx="214313" cy="3143250"/>
          </a:xfrm>
          <a:prstGeom prst="leftBrace">
            <a:avLst>
              <a:gd name="adj1" fmla="val 83314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dirty="0">
              <a:solidFill>
                <a:schemeClr val="accent1"/>
              </a:solidFill>
            </a:endParaRPr>
          </a:p>
        </p:txBody>
      </p:sp>
      <p:sp>
        <p:nvSpPr>
          <p:cNvPr id="18" name="Text Box 13"/>
          <p:cNvSpPr txBox="1"/>
          <p:nvPr/>
        </p:nvSpPr>
        <p:spPr>
          <a:xfrm>
            <a:off x="1958658" y="2952751"/>
            <a:ext cx="85725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三级存储体系</a:t>
            </a:r>
            <a:endParaRPr lang="en-US" altLang="zh-CN" sz="2800" b="1" dirty="0">
              <a:solidFill>
                <a:srgbClr val="00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471671" y="2277111"/>
            <a:ext cx="2160905" cy="27654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012566" y="3573146"/>
            <a:ext cx="2160905" cy="27654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343" name="文本框 14342"/>
          <p:cNvSpPr txBox="1"/>
          <p:nvPr/>
        </p:nvSpPr>
        <p:spPr>
          <a:xfrm>
            <a:off x="6236971" y="5238115"/>
            <a:ext cx="430339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主存</a:t>
            </a:r>
            <a:r>
              <a:rPr lang="en-US" altLang="zh-CN" sz="3600" b="1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外存层次：</a:t>
            </a: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增大容量</a:t>
            </a:r>
            <a:endParaRPr lang="zh-CN" altLang="en-US" sz="3600" b="1">
              <a:solidFill>
                <a:srgbClr val="FFFF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44335" y="3197225"/>
            <a:ext cx="372745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主存</a:t>
            </a:r>
            <a:r>
              <a:rPr lang="en-US" altLang="zh-CN" sz="3600" b="1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-</a:t>
            </a: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高速缓存层次</a:t>
            </a: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提高速度</a:t>
            </a:r>
            <a:endParaRPr lang="zh-CN" altLang="en-US" sz="3600" b="1">
              <a:solidFill>
                <a:srgbClr val="FFFF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Text Box 5"/>
          <p:cNvSpPr txBox="1"/>
          <p:nvPr/>
        </p:nvSpPr>
        <p:spPr>
          <a:xfrm>
            <a:off x="1879600" y="163514"/>
            <a:ext cx="3124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）主存</a:t>
            </a:r>
          </a:p>
        </p:txBody>
      </p:sp>
      <p:sp>
        <p:nvSpPr>
          <p:cNvPr id="27654" name="Text Box 6"/>
          <p:cNvSpPr txBox="1"/>
          <p:nvPr/>
        </p:nvSpPr>
        <p:spPr>
          <a:xfrm>
            <a:off x="3608388" y="195264"/>
            <a:ext cx="2133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（内存）</a:t>
            </a:r>
          </a:p>
        </p:txBody>
      </p:sp>
      <p:sp>
        <p:nvSpPr>
          <p:cNvPr id="27655" name="Text Box 7"/>
          <p:cNvSpPr txBox="1"/>
          <p:nvPr/>
        </p:nvSpPr>
        <p:spPr>
          <a:xfrm>
            <a:off x="2038350" y="957264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主要存放</a:t>
            </a:r>
            <a:r>
              <a:rPr lang="en-US" altLang="zh-CN" sz="32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CPU</a:t>
            </a:r>
            <a:r>
              <a:rPr lang="zh-CN" alt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当前使用的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指令</a:t>
            </a:r>
            <a:r>
              <a:rPr lang="zh-CN" alt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和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数据</a:t>
            </a:r>
            <a:r>
              <a:rPr lang="zh-CN" alt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27656" name="AutoShape 8"/>
          <p:cNvSpPr/>
          <p:nvPr/>
        </p:nvSpPr>
        <p:spPr>
          <a:xfrm>
            <a:off x="2190750" y="2030413"/>
            <a:ext cx="152400" cy="1524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dirty="0">
              <a:solidFill>
                <a:schemeClr val="accent1"/>
              </a:solidFill>
            </a:endParaRPr>
          </a:p>
        </p:txBody>
      </p:sp>
      <p:sp>
        <p:nvSpPr>
          <p:cNvPr id="27657" name="Text Box 9"/>
          <p:cNvSpPr txBox="1"/>
          <p:nvPr/>
        </p:nvSpPr>
        <p:spPr>
          <a:xfrm>
            <a:off x="2419350" y="2487614"/>
            <a:ext cx="2286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工作速度快</a:t>
            </a:r>
          </a:p>
        </p:txBody>
      </p:sp>
      <p:sp>
        <p:nvSpPr>
          <p:cNvPr id="27658" name="Text Box 10"/>
          <p:cNvSpPr txBox="1"/>
          <p:nvPr/>
        </p:nvSpPr>
        <p:spPr>
          <a:xfrm>
            <a:off x="2419350" y="3141664"/>
            <a:ext cx="4572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有足够的存储容量</a:t>
            </a:r>
          </a:p>
        </p:txBody>
      </p:sp>
      <p:sp>
        <p:nvSpPr>
          <p:cNvPr id="27659" name="Text Box 11"/>
          <p:cNvSpPr txBox="1"/>
          <p:nvPr/>
        </p:nvSpPr>
        <p:spPr>
          <a:xfrm>
            <a:off x="1809750" y="4033839"/>
            <a:ext cx="3124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）辅存</a:t>
            </a:r>
          </a:p>
        </p:txBody>
      </p:sp>
      <p:sp>
        <p:nvSpPr>
          <p:cNvPr id="27660" name="Text Box 12"/>
          <p:cNvSpPr txBox="1"/>
          <p:nvPr/>
        </p:nvSpPr>
        <p:spPr>
          <a:xfrm>
            <a:off x="3533775" y="4033839"/>
            <a:ext cx="22812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（外存）</a:t>
            </a:r>
          </a:p>
        </p:txBody>
      </p:sp>
      <p:sp>
        <p:nvSpPr>
          <p:cNvPr id="27661" name="Text Box 13"/>
          <p:cNvSpPr txBox="1"/>
          <p:nvPr/>
        </p:nvSpPr>
        <p:spPr>
          <a:xfrm>
            <a:off x="2038350" y="4795839"/>
            <a:ext cx="5257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存放大量的后备程序和数据</a:t>
            </a:r>
          </a:p>
        </p:txBody>
      </p:sp>
      <p:sp>
        <p:nvSpPr>
          <p:cNvPr id="27662" name="AutoShape 14"/>
          <p:cNvSpPr/>
          <p:nvPr/>
        </p:nvSpPr>
        <p:spPr>
          <a:xfrm>
            <a:off x="7239000" y="4681538"/>
            <a:ext cx="203200" cy="914400"/>
          </a:xfrm>
          <a:prstGeom prst="leftBrace">
            <a:avLst>
              <a:gd name="adj1" fmla="val 375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7663" name="Text Box 15"/>
          <p:cNvSpPr txBox="1"/>
          <p:nvPr/>
        </p:nvSpPr>
        <p:spPr>
          <a:xfrm>
            <a:off x="7404100" y="4351339"/>
            <a:ext cx="19065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速度较慢</a:t>
            </a:r>
          </a:p>
        </p:txBody>
      </p:sp>
      <p:sp>
        <p:nvSpPr>
          <p:cNvPr id="27664" name="Text Box 16"/>
          <p:cNvSpPr txBox="1"/>
          <p:nvPr/>
        </p:nvSpPr>
        <p:spPr>
          <a:xfrm>
            <a:off x="7412038" y="5278439"/>
            <a:ext cx="1828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容量较大</a:t>
            </a:r>
          </a:p>
        </p:txBody>
      </p:sp>
      <p:sp>
        <p:nvSpPr>
          <p:cNvPr id="27665" name="Text Box 17"/>
          <p:cNvSpPr txBox="1"/>
          <p:nvPr/>
        </p:nvSpPr>
        <p:spPr>
          <a:xfrm>
            <a:off x="2419350" y="1801814"/>
            <a:ext cx="2286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能随机访问</a:t>
            </a:r>
          </a:p>
        </p:txBody>
      </p:sp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4" name="Text Box 14"/>
          <p:cNvSpPr txBox="1"/>
          <p:nvPr/>
        </p:nvSpPr>
        <p:spPr>
          <a:xfrm>
            <a:off x="1736725" y="142875"/>
            <a:ext cx="61928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）高速缓冲存储器</a:t>
            </a:r>
            <a:r>
              <a:rPr lang="en-US" altLang="zh-CN" sz="32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(Cache)</a:t>
            </a:r>
          </a:p>
        </p:txBody>
      </p:sp>
      <p:sp>
        <p:nvSpPr>
          <p:cNvPr id="10255" name="Text Box 15"/>
          <p:cNvSpPr txBox="1"/>
          <p:nvPr/>
        </p:nvSpPr>
        <p:spPr>
          <a:xfrm>
            <a:off x="1952625" y="862013"/>
            <a:ext cx="80010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存放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CPU</a:t>
            </a: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在当前一小段时间内多次使用的程序和数据，以</a:t>
            </a:r>
            <a:r>
              <a:rPr lang="zh-CN" altLang="en-US" sz="2800" b="1" dirty="0">
                <a:solidFill>
                  <a:schemeClr val="tx2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缓解</a:t>
            </a:r>
            <a:r>
              <a:rPr lang="en-US" altLang="zh-CN" sz="2800" b="1" dirty="0">
                <a:solidFill>
                  <a:schemeClr val="tx2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和主存的速度差异</a:t>
            </a: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0256" name="AutoShape 16"/>
          <p:cNvSpPr/>
          <p:nvPr/>
        </p:nvSpPr>
        <p:spPr>
          <a:xfrm>
            <a:off x="2168525" y="2501901"/>
            <a:ext cx="204788" cy="1127125"/>
          </a:xfrm>
          <a:prstGeom prst="leftBrace">
            <a:avLst>
              <a:gd name="adj1" fmla="val 45865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0257" name="Text Box 17"/>
          <p:cNvSpPr txBox="1"/>
          <p:nvPr/>
        </p:nvSpPr>
        <p:spPr>
          <a:xfrm>
            <a:off x="2403475" y="2270125"/>
            <a:ext cx="228600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速度非常快</a:t>
            </a:r>
          </a:p>
        </p:txBody>
      </p:sp>
      <p:sp>
        <p:nvSpPr>
          <p:cNvPr id="10258" name="Text Box 18"/>
          <p:cNvSpPr txBox="1"/>
          <p:nvPr/>
        </p:nvSpPr>
        <p:spPr>
          <a:xfrm>
            <a:off x="2398714" y="3286125"/>
            <a:ext cx="2554287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容量却很小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362825" y="1772921"/>
            <a:ext cx="3200400" cy="3631565"/>
            <a:chOff x="9195" y="2792"/>
            <a:chExt cx="5040" cy="5719"/>
          </a:xfrm>
        </p:grpSpPr>
        <p:sp>
          <p:nvSpPr>
            <p:cNvPr id="14351" name="文本框 14350"/>
            <p:cNvSpPr txBox="1"/>
            <p:nvPr/>
          </p:nvSpPr>
          <p:spPr>
            <a:xfrm>
              <a:off x="9915" y="2792"/>
              <a:ext cx="3360" cy="919"/>
            </a:xfrm>
            <a:prstGeom prst="rect">
              <a:avLst/>
            </a:prstGeom>
            <a:solidFill>
              <a:srgbClr val="FF3300"/>
            </a:solidFill>
            <a:ln w="381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FF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CPU</a:t>
              </a:r>
            </a:p>
          </p:txBody>
        </p:sp>
        <p:sp>
          <p:nvSpPr>
            <p:cNvPr id="14356" name="文本框 14355"/>
            <p:cNvSpPr txBox="1"/>
            <p:nvPr/>
          </p:nvSpPr>
          <p:spPr>
            <a:xfrm>
              <a:off x="11355" y="4352"/>
              <a:ext cx="2880" cy="921"/>
            </a:xfrm>
            <a:prstGeom prst="rect">
              <a:avLst/>
            </a:prstGeom>
            <a:solidFill>
              <a:srgbClr val="FF3300"/>
            </a:solidFill>
            <a:ln w="381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FF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Cache</a:t>
              </a:r>
            </a:p>
          </p:txBody>
        </p:sp>
        <p:sp>
          <p:nvSpPr>
            <p:cNvPr id="14357" name="文本框 14356"/>
            <p:cNvSpPr txBox="1"/>
            <p:nvPr/>
          </p:nvSpPr>
          <p:spPr>
            <a:xfrm>
              <a:off x="9555" y="5912"/>
              <a:ext cx="4200" cy="919"/>
            </a:xfrm>
            <a:prstGeom prst="rect">
              <a:avLst/>
            </a:prstGeom>
            <a:solidFill>
              <a:srgbClr val="FF3300"/>
            </a:solidFill>
            <a:ln w="381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主存</a:t>
              </a:r>
              <a:endParaRPr lang="zh-CN" altLang="en-US" sz="3200" b="1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4358" name="文本框 14357"/>
            <p:cNvSpPr txBox="1"/>
            <p:nvPr/>
          </p:nvSpPr>
          <p:spPr>
            <a:xfrm>
              <a:off x="9195" y="7592"/>
              <a:ext cx="5040" cy="919"/>
            </a:xfrm>
            <a:prstGeom prst="rect">
              <a:avLst/>
            </a:prstGeom>
            <a:solidFill>
              <a:srgbClr val="FF3300"/>
            </a:solidFill>
            <a:ln w="381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外存</a:t>
              </a:r>
              <a:endParaRPr lang="zh-CN" altLang="en-US" sz="3200" b="1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4359" name="直接连接符 14358"/>
            <p:cNvSpPr/>
            <p:nvPr/>
          </p:nvSpPr>
          <p:spPr>
            <a:xfrm>
              <a:off x="10875" y="3752"/>
              <a:ext cx="0" cy="2160"/>
            </a:xfrm>
            <a:prstGeom prst="line">
              <a:avLst/>
            </a:prstGeom>
            <a:ln w="38100" cap="flat" cmpd="sng">
              <a:solidFill>
                <a:srgbClr val="FFFFFF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4360" name="直接连接符 14359"/>
            <p:cNvSpPr/>
            <p:nvPr/>
          </p:nvSpPr>
          <p:spPr>
            <a:xfrm>
              <a:off x="12675" y="3752"/>
              <a:ext cx="0" cy="600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4361" name="直接连接符 14360"/>
            <p:cNvSpPr/>
            <p:nvPr/>
          </p:nvSpPr>
          <p:spPr>
            <a:xfrm>
              <a:off x="12675" y="5312"/>
              <a:ext cx="0" cy="600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4362" name="直接连接符 14361"/>
            <p:cNvSpPr/>
            <p:nvPr/>
          </p:nvSpPr>
          <p:spPr>
            <a:xfrm>
              <a:off x="11595" y="6872"/>
              <a:ext cx="0" cy="720"/>
            </a:xfrm>
            <a:prstGeom prst="line">
              <a:avLst/>
            </a:prstGeom>
            <a:ln w="38100" cap="flat" cmpd="sng">
              <a:solidFill>
                <a:srgbClr val="FFFFFF"/>
              </a:solidFill>
              <a:prstDash val="solid"/>
              <a:headEnd type="triangle" w="med" len="med"/>
              <a:tailEnd type="triangle" w="med" len="med"/>
            </a:ln>
          </p:spPr>
        </p:sp>
      </p:grpSp>
      <p:grpSp>
        <p:nvGrpSpPr>
          <p:cNvPr id="6" name="组合 5"/>
          <p:cNvGrpSpPr/>
          <p:nvPr/>
        </p:nvGrpSpPr>
        <p:grpSpPr>
          <a:xfrm>
            <a:off x="1847850" y="4523105"/>
            <a:ext cx="5181600" cy="1441450"/>
            <a:chOff x="0" y="22"/>
            <a:chExt cx="8160" cy="2270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840"/>
              <a:ext cx="8160" cy="913"/>
              <a:chOff x="0" y="336"/>
              <a:chExt cx="3264" cy="36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0" y="336"/>
                <a:ext cx="326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solidFill>
                      <a:srgbClr val="FFFFFF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CPU     Cache     </a:t>
                </a:r>
                <a:r>
                  <a:rPr lang="zh-CN" altLang="en-US" sz="3200" b="1" dirty="0">
                    <a:solidFill>
                      <a:srgbClr val="FFFFFF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主存    </a:t>
                </a:r>
                <a:endParaRPr lang="zh-CN" altLang="en-US" sz="3200" b="1">
                  <a:solidFill>
                    <a:srgbClr val="FFFFFF"/>
                  </a:solidFill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9" name="直接连接符 8"/>
              <p:cNvSpPr/>
              <p:nvPr/>
            </p:nvSpPr>
            <p:spPr>
              <a:xfrm>
                <a:off x="912" y="52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FF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10" name="直接连接符 9"/>
              <p:cNvSpPr/>
              <p:nvPr/>
            </p:nvSpPr>
            <p:spPr>
              <a:xfrm>
                <a:off x="2177" y="54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FF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  <p:sp>
          <p:nvSpPr>
            <p:cNvPr id="11" name="文本框 10"/>
            <p:cNvSpPr txBox="1"/>
            <p:nvPr/>
          </p:nvSpPr>
          <p:spPr>
            <a:xfrm>
              <a:off x="1247" y="1474"/>
              <a:ext cx="264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命中</a:t>
              </a:r>
              <a:endParaRPr lang="zh-CN" altLang="en-US" sz="2800" b="1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960" y="720"/>
              <a:ext cx="6563" cy="360"/>
              <a:chOff x="384" y="384"/>
              <a:chExt cx="2625" cy="144"/>
            </a:xfrm>
          </p:grpSpPr>
          <p:sp>
            <p:nvSpPr>
              <p:cNvPr id="13" name="直接连接符 12"/>
              <p:cNvSpPr/>
              <p:nvPr/>
            </p:nvSpPr>
            <p:spPr>
              <a:xfrm flipV="1">
                <a:off x="384" y="384"/>
                <a:ext cx="336" cy="144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4" name="直接连接符 13"/>
              <p:cNvSpPr/>
              <p:nvPr/>
            </p:nvSpPr>
            <p:spPr>
              <a:xfrm>
                <a:off x="727" y="384"/>
                <a:ext cx="1994" cy="30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" name="直接连接符 14"/>
              <p:cNvSpPr/>
              <p:nvPr/>
            </p:nvSpPr>
            <p:spPr>
              <a:xfrm>
                <a:off x="2721" y="384"/>
                <a:ext cx="288" cy="96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6" name="文本框 15"/>
            <p:cNvSpPr txBox="1"/>
            <p:nvPr/>
          </p:nvSpPr>
          <p:spPr>
            <a:xfrm>
              <a:off x="2340" y="22"/>
              <a:ext cx="264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不命中</a:t>
              </a:r>
              <a:endParaRPr lang="zh-CN" altLang="en-US" sz="2800" b="1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447665" y="2270125"/>
            <a:ext cx="230251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>
                <a:solidFill>
                  <a:schemeClr val="tx2"/>
                </a:solidFill>
              </a:rPr>
              <a:t>速度逐渐变慢、容量逐渐变大、价格逐渐便宜</a:t>
            </a:r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1992313" y="115889"/>
            <a:ext cx="6172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物理存储器与虚拟存储器</a:t>
            </a:r>
          </a:p>
        </p:txBody>
      </p:sp>
      <p:sp>
        <p:nvSpPr>
          <p:cNvPr id="29699" name="Rectangle 3"/>
          <p:cNvSpPr/>
          <p:nvPr/>
        </p:nvSpPr>
        <p:spPr>
          <a:xfrm>
            <a:off x="1992313" y="774701"/>
            <a:ext cx="8496300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物理存储器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</a:p>
          <a:p>
            <a:pPr algn="just">
              <a:lnSpc>
                <a:spcPct val="110000"/>
              </a:lnSpc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物理形态上真实存在的存储器，简称为实存，其地址称为物理地址或实地址。</a:t>
            </a:r>
          </a:p>
        </p:txBody>
      </p:sp>
      <p:sp>
        <p:nvSpPr>
          <p:cNvPr id="29700" name="Rectangle 4"/>
          <p:cNvSpPr/>
          <p:nvPr/>
        </p:nvSpPr>
        <p:spPr>
          <a:xfrm>
            <a:off x="1992314" y="2349501"/>
            <a:ext cx="8567737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虚拟存储器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</a:p>
          <a:p>
            <a:pPr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虚拟存储器是一个逻辑模型，并非物理存在，基于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物理存储器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并靠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硬件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+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操作系统的映射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来实现。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1992313" y="5084764"/>
            <a:ext cx="8496300" cy="982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逻辑上能提供比物理存储器更大的虚拟存储空间，相关地址称为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虚地址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逻辑地址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29703" name="Rectangle 7"/>
          <p:cNvSpPr/>
          <p:nvPr/>
        </p:nvSpPr>
        <p:spPr>
          <a:xfrm>
            <a:off x="4727575" y="4076701"/>
            <a:ext cx="1944688" cy="5762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a typeface="黑体" panose="02010609060101010101" pitchFamily="2" charset="-122"/>
              </a:rPr>
              <a:t>虚拟存储技术</a:t>
            </a:r>
          </a:p>
        </p:txBody>
      </p:sp>
      <p:sp>
        <p:nvSpPr>
          <p:cNvPr id="29705" name="Line 9"/>
          <p:cNvSpPr/>
          <p:nvPr/>
        </p:nvSpPr>
        <p:spPr>
          <a:xfrm>
            <a:off x="4440239" y="4581525"/>
            <a:ext cx="25923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arrow" w="med" len="med"/>
            <a:tailEnd type="arrow" w="med" len="med"/>
          </a:ln>
        </p:spPr>
      </p:sp>
      <p:grpSp>
        <p:nvGrpSpPr>
          <p:cNvPr id="2" name="Group 14"/>
          <p:cNvGrpSpPr/>
          <p:nvPr/>
        </p:nvGrpSpPr>
        <p:grpSpPr>
          <a:xfrm>
            <a:off x="3233739" y="4149726"/>
            <a:ext cx="4949825" cy="828675"/>
            <a:chOff x="1077" y="2750"/>
            <a:chExt cx="3118" cy="522"/>
          </a:xfrm>
        </p:grpSpPr>
        <p:sp>
          <p:nvSpPr>
            <p:cNvPr id="9226" name="AutoShape 12"/>
            <p:cNvSpPr/>
            <p:nvPr/>
          </p:nvSpPr>
          <p:spPr>
            <a:xfrm>
              <a:off x="1077" y="2795"/>
              <a:ext cx="669" cy="477"/>
            </a:xfrm>
            <a:prstGeom prst="flowChartMultidocumen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b="1" dirty="0"/>
                <a:t>内存</a:t>
              </a:r>
            </a:p>
          </p:txBody>
        </p:sp>
        <p:sp>
          <p:nvSpPr>
            <p:cNvPr id="9227" name="AutoShape 13"/>
            <p:cNvSpPr/>
            <p:nvPr/>
          </p:nvSpPr>
          <p:spPr>
            <a:xfrm>
              <a:off x="3560" y="2750"/>
              <a:ext cx="635" cy="499"/>
            </a:xfrm>
            <a:prstGeom prst="flowChartMagneticDisk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dirty="0">
                  <a:ea typeface="黑体" panose="02010609060101010101" pitchFamily="2" charset="-122"/>
                </a:rPr>
                <a:t>外存</a:t>
              </a:r>
            </a:p>
          </p:txBody>
        </p:sp>
      </p:grp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Text Box 13"/>
          <p:cNvSpPr txBox="1"/>
          <p:nvPr/>
        </p:nvSpPr>
        <p:spPr>
          <a:xfrm>
            <a:off x="1968500" y="115889"/>
            <a:ext cx="6248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存储器的分类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按存储介质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7422" name="Text Box 14"/>
          <p:cNvSpPr txBox="1"/>
          <p:nvPr/>
        </p:nvSpPr>
        <p:spPr>
          <a:xfrm>
            <a:off x="1784350" y="908051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）半导体存储器</a:t>
            </a:r>
          </a:p>
        </p:txBody>
      </p:sp>
      <p:sp>
        <p:nvSpPr>
          <p:cNvPr id="17423" name="Text Box 15"/>
          <p:cNvSpPr txBox="1"/>
          <p:nvPr/>
        </p:nvSpPr>
        <p:spPr>
          <a:xfrm>
            <a:off x="1989138" y="1468438"/>
            <a:ext cx="8001000" cy="105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静态存储器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利用双稳态触发器的两个稳定状态存储信息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信息易失</a:t>
            </a:r>
          </a:p>
        </p:txBody>
      </p:sp>
      <p:sp>
        <p:nvSpPr>
          <p:cNvPr id="17433" name="Text Box 25"/>
          <p:cNvSpPr txBox="1"/>
          <p:nvPr/>
        </p:nvSpPr>
        <p:spPr>
          <a:xfrm>
            <a:off x="1758950" y="3536951"/>
            <a:ext cx="464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）磁表面存储器</a:t>
            </a:r>
          </a:p>
        </p:txBody>
      </p:sp>
      <p:sp>
        <p:nvSpPr>
          <p:cNvPr id="17434" name="Rectangle 26"/>
          <p:cNvSpPr/>
          <p:nvPr/>
        </p:nvSpPr>
        <p:spPr>
          <a:xfrm>
            <a:off x="1989138" y="4114800"/>
            <a:ext cx="7924800" cy="105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利用磁层上不同方向的磁化区域表示信息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容量大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非破坏性读出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长期保存信息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速度慢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外存</a:t>
            </a:r>
          </a:p>
        </p:txBody>
      </p:sp>
      <p:sp>
        <p:nvSpPr>
          <p:cNvPr id="17435" name="Text Box 27"/>
          <p:cNvSpPr txBox="1"/>
          <p:nvPr/>
        </p:nvSpPr>
        <p:spPr>
          <a:xfrm>
            <a:off x="1963738" y="5429251"/>
            <a:ext cx="5365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2" charset="-122"/>
              </a:rPr>
              <a:t>例如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IDE</a:t>
            </a:r>
            <a:r>
              <a:rPr lang="zh-CN" altLang="en-US" sz="2800" b="1" dirty="0"/>
              <a:t>硬盘，</a:t>
            </a:r>
            <a:r>
              <a:rPr lang="en-US" altLang="zh-CN" sz="2800" b="1" dirty="0"/>
              <a:t>SATA</a:t>
            </a:r>
            <a:r>
              <a:rPr lang="zh-CN" altLang="en-US" sz="2800" b="1" dirty="0"/>
              <a:t>硬盘</a:t>
            </a:r>
          </a:p>
        </p:txBody>
      </p:sp>
      <p:sp>
        <p:nvSpPr>
          <p:cNvPr id="17436" name="Text Box 28"/>
          <p:cNvSpPr txBox="1"/>
          <p:nvPr/>
        </p:nvSpPr>
        <p:spPr>
          <a:xfrm>
            <a:off x="1992313" y="2708276"/>
            <a:ext cx="8001000" cy="540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动态存储器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依靠电容上的电荷暂存信息，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主存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8" name="Text Box 14"/>
          <p:cNvSpPr txBox="1"/>
          <p:nvPr/>
        </p:nvSpPr>
        <p:spPr>
          <a:xfrm>
            <a:off x="1708150" y="260351"/>
            <a:ext cx="464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）光盘存储器</a:t>
            </a:r>
          </a:p>
        </p:txBody>
      </p:sp>
      <p:sp>
        <p:nvSpPr>
          <p:cNvPr id="11290" name="Text Box 26"/>
          <p:cNvSpPr txBox="1"/>
          <p:nvPr/>
        </p:nvSpPr>
        <p:spPr>
          <a:xfrm>
            <a:off x="1903413" y="981075"/>
            <a:ext cx="8153400" cy="105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利用光斑的有无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晶相等变化表示信息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容量很大，非破坏性读出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长期保存信息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速度慢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外存</a:t>
            </a:r>
          </a:p>
        </p:txBody>
      </p:sp>
      <p:sp>
        <p:nvSpPr>
          <p:cNvPr id="11297" name="Rectangle 33"/>
          <p:cNvSpPr/>
          <p:nvPr/>
        </p:nvSpPr>
        <p:spPr>
          <a:xfrm>
            <a:off x="1955800" y="2393950"/>
            <a:ext cx="4572000" cy="16205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algn="l">
              <a:lnSpc>
                <a:spcPct val="85000"/>
              </a:lnSpc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只读型光盘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CD-ROM</a:t>
            </a:r>
          </a:p>
          <a:p>
            <a:pPr marL="457200" indent="-457200" algn="l">
              <a:lnSpc>
                <a:spcPct val="85000"/>
              </a:lnSpc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一次写入型光盘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WORM</a:t>
            </a:r>
          </a:p>
          <a:p>
            <a:pPr marL="457200" indent="-457200" algn="l">
              <a:lnSpc>
                <a:spcPct val="85000"/>
              </a:lnSpc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可擦除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重写型光盘</a:t>
            </a:r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/>
          <p:nvPr/>
        </p:nvSpPr>
        <p:spPr>
          <a:xfrm>
            <a:off x="1957388" y="188914"/>
            <a:ext cx="6248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存储器的分类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按存取方式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30723" name="Text Box 3"/>
          <p:cNvSpPr txBox="1"/>
          <p:nvPr/>
        </p:nvSpPr>
        <p:spPr>
          <a:xfrm>
            <a:off x="1957388" y="1628775"/>
            <a:ext cx="2667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随机存取：</a:t>
            </a:r>
          </a:p>
        </p:txBody>
      </p:sp>
      <p:sp>
        <p:nvSpPr>
          <p:cNvPr id="30724" name="Text Box 4"/>
          <p:cNvSpPr txBox="1"/>
          <p:nvPr/>
        </p:nvSpPr>
        <p:spPr>
          <a:xfrm>
            <a:off x="1957389" y="2241551"/>
            <a:ext cx="8675687" cy="1057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按地址访问存储器中的任一单元，访问时间与存储单元的地址无关。</a:t>
            </a:r>
          </a:p>
        </p:txBody>
      </p:sp>
      <p:sp>
        <p:nvSpPr>
          <p:cNvPr id="30725" name="Text Box 5"/>
          <p:cNvSpPr txBox="1"/>
          <p:nvPr/>
        </p:nvSpPr>
        <p:spPr>
          <a:xfrm>
            <a:off x="1725614" y="981075"/>
            <a:ext cx="77755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）随机存取存储器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RAM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ROM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30727" name="Text Box 7"/>
          <p:cNvSpPr txBox="1"/>
          <p:nvPr/>
        </p:nvSpPr>
        <p:spPr>
          <a:xfrm>
            <a:off x="1995488" y="4652964"/>
            <a:ext cx="5029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ROM</a:t>
            </a:r>
            <a:endParaRPr lang="en-US" altLang="zh-CN" sz="3200" b="1" dirty="0">
              <a:latin typeface="Calibri" panose="020F0502020204030204" pitchFamily="34" charset="0"/>
              <a:ea typeface="黑体" panose="02010609060101010101" pitchFamily="2" charset="-122"/>
            </a:endParaRPr>
          </a:p>
        </p:txBody>
      </p:sp>
      <p:sp>
        <p:nvSpPr>
          <p:cNvPr id="30728" name="Text Box 8"/>
          <p:cNvSpPr txBox="1"/>
          <p:nvPr/>
        </p:nvSpPr>
        <p:spPr>
          <a:xfrm>
            <a:off x="2020889" y="5313364"/>
            <a:ext cx="80994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例如，微程序控制器中的控制存储器（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CM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</a:t>
            </a:r>
          </a:p>
        </p:txBody>
      </p:sp>
      <p:sp>
        <p:nvSpPr>
          <p:cNvPr id="30729" name="Text Box 9"/>
          <p:cNvSpPr txBox="1"/>
          <p:nvPr/>
        </p:nvSpPr>
        <p:spPr>
          <a:xfrm>
            <a:off x="1984375" y="3429000"/>
            <a:ext cx="5029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RAM</a:t>
            </a:r>
          </a:p>
        </p:txBody>
      </p:sp>
      <p:sp>
        <p:nvSpPr>
          <p:cNvPr id="30730" name="Text Box 10"/>
          <p:cNvSpPr txBox="1"/>
          <p:nvPr/>
        </p:nvSpPr>
        <p:spPr>
          <a:xfrm>
            <a:off x="1989139" y="4005264"/>
            <a:ext cx="2224087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例如，主存</a:t>
            </a:r>
          </a:p>
        </p:txBody>
      </p:sp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2079625" y="234950"/>
            <a:ext cx="1447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RAM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12291" name="Text Box 3"/>
          <p:cNvSpPr txBox="1"/>
          <p:nvPr/>
        </p:nvSpPr>
        <p:spPr>
          <a:xfrm>
            <a:off x="3648075" y="4616451"/>
            <a:ext cx="64087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频率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-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存取周期或读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写周期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(ns)</a:t>
            </a:r>
          </a:p>
        </p:txBody>
      </p:sp>
      <p:sp>
        <p:nvSpPr>
          <p:cNvPr id="12299" name="Text Box 11"/>
          <p:cNvSpPr txBox="1"/>
          <p:nvPr/>
        </p:nvSpPr>
        <p:spPr>
          <a:xfrm>
            <a:off x="5310188" y="1363663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固化型：</a:t>
            </a:r>
          </a:p>
        </p:txBody>
      </p:sp>
      <p:sp>
        <p:nvSpPr>
          <p:cNvPr id="12309" name="AutoShape 21"/>
          <p:cNvSpPr/>
          <p:nvPr/>
        </p:nvSpPr>
        <p:spPr>
          <a:xfrm>
            <a:off x="1919288" y="520700"/>
            <a:ext cx="169862" cy="1982788"/>
          </a:xfrm>
          <a:prstGeom prst="leftBrace">
            <a:avLst>
              <a:gd name="adj1" fmla="val 97274"/>
              <a:gd name="adj2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2310" name="Text Box 22"/>
          <p:cNvSpPr txBox="1"/>
          <p:nvPr/>
        </p:nvSpPr>
        <p:spPr>
          <a:xfrm>
            <a:off x="2895600" y="223839"/>
            <a:ext cx="21209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可读可写</a:t>
            </a:r>
          </a:p>
        </p:txBody>
      </p:sp>
      <p:sp>
        <p:nvSpPr>
          <p:cNvPr id="12311" name="Text Box 23"/>
          <p:cNvSpPr txBox="1"/>
          <p:nvPr/>
        </p:nvSpPr>
        <p:spPr>
          <a:xfrm>
            <a:off x="2093913" y="2162175"/>
            <a:ext cx="1447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ROM</a:t>
            </a: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12312" name="Text Box 24"/>
          <p:cNvSpPr txBox="1"/>
          <p:nvPr/>
        </p:nvSpPr>
        <p:spPr>
          <a:xfrm>
            <a:off x="2962275" y="2155825"/>
            <a:ext cx="215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只读型</a:t>
            </a:r>
          </a:p>
        </p:txBody>
      </p:sp>
      <p:sp>
        <p:nvSpPr>
          <p:cNvPr id="12313" name="AutoShape 25"/>
          <p:cNvSpPr/>
          <p:nvPr/>
        </p:nvSpPr>
        <p:spPr>
          <a:xfrm>
            <a:off x="5087939" y="1504950"/>
            <a:ext cx="73025" cy="1995488"/>
          </a:xfrm>
          <a:prstGeom prst="leftBrace">
            <a:avLst>
              <a:gd name="adj1" fmla="val 227717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2314" name="Text Box 26"/>
          <p:cNvSpPr txBox="1"/>
          <p:nvPr/>
        </p:nvSpPr>
        <p:spPr>
          <a:xfrm>
            <a:off x="5310188" y="1897063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PROM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12315" name="Text Box 27"/>
          <p:cNvSpPr txBox="1"/>
          <p:nvPr/>
        </p:nvSpPr>
        <p:spPr>
          <a:xfrm>
            <a:off x="6600825" y="1363663"/>
            <a:ext cx="32400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用户不能写入数据</a:t>
            </a:r>
          </a:p>
        </p:txBody>
      </p:sp>
      <p:sp>
        <p:nvSpPr>
          <p:cNvPr id="12316" name="Text Box 28"/>
          <p:cNvSpPr txBox="1"/>
          <p:nvPr/>
        </p:nvSpPr>
        <p:spPr>
          <a:xfrm>
            <a:off x="6456364" y="1874838"/>
            <a:ext cx="3095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用户可写入一次</a:t>
            </a:r>
          </a:p>
        </p:txBody>
      </p:sp>
      <p:sp>
        <p:nvSpPr>
          <p:cNvPr id="12317" name="Text Box 29"/>
          <p:cNvSpPr txBox="1"/>
          <p:nvPr/>
        </p:nvSpPr>
        <p:spPr>
          <a:xfrm>
            <a:off x="5310188" y="2492376"/>
            <a:ext cx="190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EPROM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12318" name="Text Box 30"/>
          <p:cNvSpPr txBox="1"/>
          <p:nvPr/>
        </p:nvSpPr>
        <p:spPr>
          <a:xfrm>
            <a:off x="6600825" y="2489201"/>
            <a:ext cx="2508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可多次编程</a:t>
            </a:r>
          </a:p>
        </p:txBody>
      </p:sp>
      <p:sp>
        <p:nvSpPr>
          <p:cNvPr id="12319" name="Text Box 31"/>
          <p:cNvSpPr txBox="1"/>
          <p:nvPr/>
        </p:nvSpPr>
        <p:spPr>
          <a:xfrm>
            <a:off x="8258175" y="2554288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（紫外线擦除）</a:t>
            </a:r>
          </a:p>
        </p:txBody>
      </p:sp>
      <p:sp>
        <p:nvSpPr>
          <p:cNvPr id="12320" name="Text Box 32"/>
          <p:cNvSpPr txBox="1"/>
          <p:nvPr/>
        </p:nvSpPr>
        <p:spPr>
          <a:xfrm>
            <a:off x="5310188" y="3101976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EEPROM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12321" name="Text Box 33"/>
          <p:cNvSpPr txBox="1"/>
          <p:nvPr/>
        </p:nvSpPr>
        <p:spPr>
          <a:xfrm>
            <a:off x="6767513" y="3079751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可多次写入</a:t>
            </a:r>
          </a:p>
        </p:txBody>
      </p:sp>
      <p:sp>
        <p:nvSpPr>
          <p:cNvPr id="12322" name="Text Box 34"/>
          <p:cNvSpPr txBox="1"/>
          <p:nvPr/>
        </p:nvSpPr>
        <p:spPr>
          <a:xfrm>
            <a:off x="8472488" y="3133725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（电擦除）</a:t>
            </a:r>
          </a:p>
        </p:txBody>
      </p:sp>
      <p:sp>
        <p:nvSpPr>
          <p:cNvPr id="12323" name="Text Box 35"/>
          <p:cNvSpPr txBox="1"/>
          <p:nvPr/>
        </p:nvSpPr>
        <p:spPr>
          <a:xfrm>
            <a:off x="1919288" y="4581526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速度指标：</a:t>
            </a:r>
          </a:p>
        </p:txBody>
      </p:sp>
      <p:sp>
        <p:nvSpPr>
          <p:cNvPr id="12328" name="Text Box 40"/>
          <p:cNvSpPr txBox="1"/>
          <p:nvPr/>
        </p:nvSpPr>
        <p:spPr>
          <a:xfrm>
            <a:off x="1919288" y="5221288"/>
            <a:ext cx="426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通常用作主存、高速缓存。</a:t>
            </a:r>
          </a:p>
        </p:txBody>
      </p:sp>
      <p:sp>
        <p:nvSpPr>
          <p:cNvPr id="12330" name="Text Box 42"/>
          <p:cNvSpPr txBox="1"/>
          <p:nvPr/>
        </p:nvSpPr>
        <p:spPr>
          <a:xfrm>
            <a:off x="1952626" y="3917951"/>
            <a:ext cx="4537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FLASH Memory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（闪存）</a:t>
            </a:r>
          </a:p>
        </p:txBody>
      </p:sp>
      <p:sp>
        <p:nvSpPr>
          <p:cNvPr id="12331" name="Text Box 43"/>
          <p:cNvSpPr txBox="1"/>
          <p:nvPr/>
        </p:nvSpPr>
        <p:spPr>
          <a:xfrm>
            <a:off x="4883151" y="266700"/>
            <a:ext cx="56054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如：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SDR/DDR/DDR2-4</a:t>
            </a:r>
          </a:p>
        </p:txBody>
      </p:sp>
      <p:grpSp>
        <p:nvGrpSpPr>
          <p:cNvPr id="2" name="Group 46"/>
          <p:cNvGrpSpPr/>
          <p:nvPr/>
        </p:nvGrpSpPr>
        <p:grpSpPr>
          <a:xfrm>
            <a:off x="5808663" y="3716339"/>
            <a:ext cx="1008062" cy="541337"/>
            <a:chOff x="2880" y="2160"/>
            <a:chExt cx="527" cy="341"/>
          </a:xfrm>
        </p:grpSpPr>
        <p:sp>
          <p:nvSpPr>
            <p:cNvPr id="13337" name="Line 44"/>
            <p:cNvSpPr/>
            <p:nvPr/>
          </p:nvSpPr>
          <p:spPr>
            <a:xfrm flipV="1">
              <a:off x="2880" y="2160"/>
              <a:ext cx="181" cy="27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3338" name="Text Box 45"/>
            <p:cNvSpPr txBox="1"/>
            <p:nvPr/>
          </p:nvSpPr>
          <p:spPr>
            <a:xfrm>
              <a:off x="2969" y="2251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1" dirty="0">
                  <a:ea typeface="黑体" panose="02010609060101010101" pitchFamily="2" charset="-122"/>
                </a:rPr>
                <a:t>接近</a:t>
              </a:r>
            </a:p>
          </p:txBody>
        </p:sp>
      </p:grpSp>
    </p:spTree>
  </p:cSld>
  <p:clrMapOvr>
    <a:masterClrMapping/>
  </p:clrMapOvr>
  <p:transition spd="med"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/>
          <p:nvPr/>
        </p:nvSpPr>
        <p:spPr>
          <a:xfrm>
            <a:off x="1703388" y="188914"/>
            <a:ext cx="6858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）顺序存取存储器（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SAM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</a:t>
            </a:r>
          </a:p>
        </p:txBody>
      </p:sp>
      <p:sp>
        <p:nvSpPr>
          <p:cNvPr id="31747" name="Text Box 3"/>
          <p:cNvSpPr txBox="1"/>
          <p:nvPr/>
        </p:nvSpPr>
        <p:spPr>
          <a:xfrm>
            <a:off x="1992313" y="882651"/>
            <a:ext cx="8242300" cy="1057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访问时读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写部件按顺序查找目标地址，访问时间与数据的存储位置有关。</a:t>
            </a:r>
          </a:p>
        </p:txBody>
      </p:sp>
      <p:sp>
        <p:nvSpPr>
          <p:cNvPr id="31748" name="Text Box 4"/>
          <p:cNvSpPr txBox="1"/>
          <p:nvPr/>
        </p:nvSpPr>
        <p:spPr>
          <a:xfrm>
            <a:off x="3800475" y="306863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定位操作</a:t>
            </a:r>
          </a:p>
        </p:txBody>
      </p:sp>
      <p:sp>
        <p:nvSpPr>
          <p:cNvPr id="31749" name="AutoShape 5"/>
          <p:cNvSpPr/>
          <p:nvPr/>
        </p:nvSpPr>
        <p:spPr>
          <a:xfrm>
            <a:off x="3648075" y="32797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31750" name="Text Box 6"/>
          <p:cNvSpPr txBox="1"/>
          <p:nvPr/>
        </p:nvSpPr>
        <p:spPr>
          <a:xfrm>
            <a:off x="3811588" y="4703763"/>
            <a:ext cx="3429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平均定位时间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ms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31751" name="Text Box 7"/>
          <p:cNvSpPr txBox="1"/>
          <p:nvPr/>
        </p:nvSpPr>
        <p:spPr>
          <a:xfrm>
            <a:off x="3800475" y="3802063"/>
            <a:ext cx="36845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数据读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写操作</a:t>
            </a:r>
          </a:p>
        </p:txBody>
      </p:sp>
      <p:sp>
        <p:nvSpPr>
          <p:cNvPr id="31752" name="Text Box 8"/>
          <p:cNvSpPr txBox="1"/>
          <p:nvPr/>
        </p:nvSpPr>
        <p:spPr>
          <a:xfrm>
            <a:off x="2006600" y="3452813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两步操作</a:t>
            </a:r>
          </a:p>
        </p:txBody>
      </p:sp>
      <p:sp>
        <p:nvSpPr>
          <p:cNvPr id="31753" name="Text Box 9"/>
          <p:cNvSpPr txBox="1"/>
          <p:nvPr/>
        </p:nvSpPr>
        <p:spPr>
          <a:xfrm>
            <a:off x="2009776" y="5014913"/>
            <a:ext cx="1857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速度指标</a:t>
            </a:r>
          </a:p>
        </p:txBody>
      </p:sp>
      <p:sp>
        <p:nvSpPr>
          <p:cNvPr id="31754" name="AutoShape 10"/>
          <p:cNvSpPr/>
          <p:nvPr/>
        </p:nvSpPr>
        <p:spPr>
          <a:xfrm>
            <a:off x="3648075" y="48355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31756" name="Text Box 12"/>
          <p:cNvSpPr txBox="1"/>
          <p:nvPr/>
        </p:nvSpPr>
        <p:spPr>
          <a:xfrm>
            <a:off x="3854451" y="5446713"/>
            <a:ext cx="30321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数据传输率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b/s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31758" name="Text Box 14"/>
          <p:cNvSpPr txBox="1"/>
          <p:nvPr/>
        </p:nvSpPr>
        <p:spPr>
          <a:xfrm>
            <a:off x="2001838" y="2247901"/>
            <a:ext cx="6615112" cy="540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例如：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磁带机（录音机）、电影胶片。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Text Box 5"/>
          <p:cNvSpPr txBox="1"/>
          <p:nvPr/>
        </p:nvSpPr>
        <p:spPr>
          <a:xfrm>
            <a:off x="1819275" y="188914"/>
            <a:ext cx="6858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Calibri" panose="020F0502020204030204" pitchFamily="34" charset="0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）直接存取存储器（</a:t>
            </a:r>
            <a:r>
              <a:rPr lang="en-US" altLang="zh-CN" sz="32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DAM</a:t>
            </a:r>
            <a:r>
              <a:rPr lang="zh-CN" altLang="en-US" sz="3200" b="1" dirty="0">
                <a:latin typeface="Calibri" panose="020F0502020204030204" pitchFamily="34" charset="0"/>
                <a:ea typeface="黑体" panose="02010609060101010101" pitchFamily="2" charset="-122"/>
              </a:rPr>
              <a:t>）</a:t>
            </a:r>
          </a:p>
        </p:txBody>
      </p:sp>
      <p:sp>
        <p:nvSpPr>
          <p:cNvPr id="13339" name="Text Box 27"/>
          <p:cNvSpPr txBox="1"/>
          <p:nvPr/>
        </p:nvSpPr>
        <p:spPr>
          <a:xfrm>
            <a:off x="2046288" y="798513"/>
            <a:ext cx="8153400" cy="105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访问时读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写部件先粗定位一个小区域，再在该区域内顺序查找。</a:t>
            </a:r>
          </a:p>
        </p:txBody>
      </p:sp>
      <p:sp>
        <p:nvSpPr>
          <p:cNvPr id="13346" name="Text Box 34"/>
          <p:cNvSpPr txBox="1"/>
          <p:nvPr/>
        </p:nvSpPr>
        <p:spPr>
          <a:xfrm>
            <a:off x="2052638" y="3225801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三步操作</a:t>
            </a:r>
          </a:p>
        </p:txBody>
      </p:sp>
      <p:sp>
        <p:nvSpPr>
          <p:cNvPr id="13347" name="AutoShape 35"/>
          <p:cNvSpPr/>
          <p:nvPr/>
        </p:nvSpPr>
        <p:spPr>
          <a:xfrm>
            <a:off x="3690938" y="2946400"/>
            <a:ext cx="228600" cy="1143000"/>
          </a:xfrm>
          <a:prstGeom prst="leftBrace">
            <a:avLst>
              <a:gd name="adj1" fmla="val 41666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3349" name="Text Box 37"/>
          <p:cNvSpPr txBox="1"/>
          <p:nvPr/>
        </p:nvSpPr>
        <p:spPr>
          <a:xfrm>
            <a:off x="3881438" y="2781301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定位（寻道）操作</a:t>
            </a:r>
          </a:p>
        </p:txBody>
      </p:sp>
      <p:sp>
        <p:nvSpPr>
          <p:cNvPr id="13350" name="Text Box 38"/>
          <p:cNvSpPr txBox="1"/>
          <p:nvPr/>
        </p:nvSpPr>
        <p:spPr>
          <a:xfrm>
            <a:off x="3881438" y="3238501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等待（旋转）操作</a:t>
            </a:r>
          </a:p>
        </p:txBody>
      </p:sp>
      <p:sp>
        <p:nvSpPr>
          <p:cNvPr id="13351" name="Text Box 39"/>
          <p:cNvSpPr txBox="1"/>
          <p:nvPr/>
        </p:nvSpPr>
        <p:spPr>
          <a:xfrm>
            <a:off x="3881438" y="3695701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读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写操作</a:t>
            </a:r>
          </a:p>
        </p:txBody>
      </p:sp>
      <p:sp>
        <p:nvSpPr>
          <p:cNvPr id="13352" name="Text Box 40"/>
          <p:cNvSpPr txBox="1"/>
          <p:nvPr/>
        </p:nvSpPr>
        <p:spPr>
          <a:xfrm>
            <a:off x="1992313" y="4932363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速度指标</a:t>
            </a:r>
          </a:p>
        </p:txBody>
      </p:sp>
      <p:sp>
        <p:nvSpPr>
          <p:cNvPr id="13353" name="AutoShape 41"/>
          <p:cNvSpPr/>
          <p:nvPr/>
        </p:nvSpPr>
        <p:spPr>
          <a:xfrm>
            <a:off x="3652838" y="4665663"/>
            <a:ext cx="228600" cy="1143000"/>
          </a:xfrm>
          <a:prstGeom prst="leftBrace">
            <a:avLst>
              <a:gd name="adj1" fmla="val 41666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sz="1800" dirty="0">
              <a:solidFill>
                <a:srgbClr val="FFFFFF"/>
              </a:solidFill>
            </a:endParaRPr>
          </a:p>
        </p:txBody>
      </p:sp>
      <p:sp>
        <p:nvSpPr>
          <p:cNvPr id="13354" name="Text Box 42"/>
          <p:cNvSpPr txBox="1"/>
          <p:nvPr/>
        </p:nvSpPr>
        <p:spPr>
          <a:xfrm>
            <a:off x="3881438" y="4437063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平均定位（平均寻道）时间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ms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3355" name="Text Box 43"/>
          <p:cNvSpPr txBox="1"/>
          <p:nvPr/>
        </p:nvSpPr>
        <p:spPr>
          <a:xfrm>
            <a:off x="3881438" y="4984751"/>
            <a:ext cx="548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平均等待（平均旋转）时间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ms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3356" name="Text Box 44"/>
          <p:cNvSpPr txBox="1"/>
          <p:nvPr/>
        </p:nvSpPr>
        <p:spPr>
          <a:xfrm>
            <a:off x="3932238" y="5502276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数据传输率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b/s</a:t>
            </a: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3362" name="Rectangle 50"/>
          <p:cNvSpPr/>
          <p:nvPr/>
        </p:nvSpPr>
        <p:spPr>
          <a:xfrm>
            <a:off x="2054226" y="2081213"/>
            <a:ext cx="64738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ea typeface="黑体" panose="02010609060101010101" pitchFamily="2" charset="-122"/>
              </a:rPr>
              <a:t>访问时间与数据</a:t>
            </a: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2" charset="-122"/>
              </a:rPr>
              <a:t>位置有关，</a:t>
            </a:r>
            <a:r>
              <a:rPr lang="zh-CN" altLang="en-US" sz="2800" b="1" dirty="0">
                <a:ea typeface="黑体" panose="02010609060101010101" pitchFamily="2" charset="-122"/>
              </a:rPr>
              <a:t>例如</a:t>
            </a:r>
            <a:r>
              <a:rPr lang="en-US" altLang="zh-CN" sz="2800" b="1" dirty="0">
                <a:ea typeface="黑体" panose="02010609060101010101" pitchFamily="2" charset="-122"/>
              </a:rPr>
              <a:t>: 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硬盘</a:t>
            </a:r>
            <a:r>
              <a:rPr lang="zh-CN" altLang="en-US" sz="2800" b="1" dirty="0">
                <a:solidFill>
                  <a:srgbClr val="FFFFFF"/>
                </a:solidFill>
                <a:ea typeface="黑体" panose="02010609060101010101" pitchFamily="2" charset="-122"/>
              </a:rPr>
              <a:t>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2063750" y="68264"/>
            <a:ext cx="5334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4.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存储器的技术指标</a:t>
            </a:r>
          </a:p>
        </p:txBody>
      </p:sp>
      <p:sp>
        <p:nvSpPr>
          <p:cNvPr id="32771" name="Text Box 3"/>
          <p:cNvSpPr txBox="1"/>
          <p:nvPr/>
        </p:nvSpPr>
        <p:spPr>
          <a:xfrm>
            <a:off x="2006600" y="692151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(1)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存取时间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1992313" y="2301876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(2)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存取周期</a:t>
            </a:r>
          </a:p>
        </p:txBody>
      </p:sp>
      <p:sp>
        <p:nvSpPr>
          <p:cNvPr id="32774" name="Text Box 6"/>
          <p:cNvSpPr txBox="1"/>
          <p:nvPr/>
        </p:nvSpPr>
        <p:spPr>
          <a:xfrm>
            <a:off x="2063750" y="1196975"/>
            <a:ext cx="845978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从存储器收到读写命令，到存储器读出（写入）信息所需要的时间，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T</a:t>
            </a:r>
            <a:r>
              <a:rPr lang="en-US" altLang="zh-CN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32775" name="Text Box 7"/>
          <p:cNvSpPr txBox="1"/>
          <p:nvPr/>
        </p:nvSpPr>
        <p:spPr>
          <a:xfrm>
            <a:off x="2100264" y="2743200"/>
            <a:ext cx="845978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存储器做连续访问操作过程中一次完整的存取操作所需的总时间，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T</a:t>
            </a:r>
            <a:r>
              <a:rPr lang="en-US" altLang="zh-CN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M    </a:t>
            </a:r>
            <a:endParaRPr lang="en-US" altLang="zh-CN" sz="2800" b="1" dirty="0">
              <a:solidFill>
                <a:srgbClr val="00FF00"/>
              </a:solidFill>
              <a:latin typeface="Calibri" panose="020F0502020204030204" pitchFamily="34" charset="0"/>
              <a:ea typeface="黑体" panose="02010609060101010101" pitchFamily="2" charset="-122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2351089" y="4716463"/>
            <a:ext cx="7058025" cy="647700"/>
            <a:chOff x="521" y="3249"/>
            <a:chExt cx="4446" cy="408"/>
          </a:xfrm>
        </p:grpSpPr>
        <p:sp>
          <p:nvSpPr>
            <p:cNvPr id="16408" name="Line 10"/>
            <p:cNvSpPr/>
            <p:nvPr/>
          </p:nvSpPr>
          <p:spPr>
            <a:xfrm>
              <a:off x="521" y="3249"/>
              <a:ext cx="54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9" name="Line 11"/>
            <p:cNvSpPr/>
            <p:nvPr/>
          </p:nvSpPr>
          <p:spPr>
            <a:xfrm>
              <a:off x="1066" y="3249"/>
              <a:ext cx="0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0" name="Line 12"/>
            <p:cNvSpPr/>
            <p:nvPr/>
          </p:nvSpPr>
          <p:spPr>
            <a:xfrm>
              <a:off x="1066" y="3657"/>
              <a:ext cx="167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1" name="Line 13"/>
            <p:cNvSpPr/>
            <p:nvPr/>
          </p:nvSpPr>
          <p:spPr>
            <a:xfrm>
              <a:off x="2744" y="3249"/>
              <a:ext cx="0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2" name="Line 14"/>
            <p:cNvSpPr/>
            <p:nvPr/>
          </p:nvSpPr>
          <p:spPr>
            <a:xfrm>
              <a:off x="2741" y="3249"/>
              <a:ext cx="54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3" name="Line 15"/>
            <p:cNvSpPr/>
            <p:nvPr/>
          </p:nvSpPr>
          <p:spPr>
            <a:xfrm>
              <a:off x="3288" y="3249"/>
              <a:ext cx="0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4" name="Line 16"/>
            <p:cNvSpPr/>
            <p:nvPr/>
          </p:nvSpPr>
          <p:spPr>
            <a:xfrm>
              <a:off x="3289" y="3657"/>
              <a:ext cx="167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5" name="Line 17"/>
            <p:cNvSpPr/>
            <p:nvPr/>
          </p:nvSpPr>
          <p:spPr>
            <a:xfrm>
              <a:off x="521" y="3249"/>
              <a:ext cx="0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" name="Group 31"/>
          <p:cNvGrpSpPr/>
          <p:nvPr/>
        </p:nvGrpSpPr>
        <p:grpSpPr>
          <a:xfrm>
            <a:off x="3216276" y="3979863"/>
            <a:ext cx="2663825" cy="647700"/>
            <a:chOff x="1066" y="2750"/>
            <a:chExt cx="1678" cy="408"/>
          </a:xfrm>
        </p:grpSpPr>
        <p:sp>
          <p:nvSpPr>
            <p:cNvPr id="16404" name="Line 18"/>
            <p:cNvSpPr/>
            <p:nvPr/>
          </p:nvSpPr>
          <p:spPr>
            <a:xfrm>
              <a:off x="1066" y="2750"/>
              <a:ext cx="0" cy="40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16405" name="Line 19"/>
            <p:cNvSpPr/>
            <p:nvPr/>
          </p:nvSpPr>
          <p:spPr>
            <a:xfrm>
              <a:off x="2744" y="2750"/>
              <a:ext cx="0" cy="40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16406" name="Line 21"/>
            <p:cNvSpPr/>
            <p:nvPr/>
          </p:nvSpPr>
          <p:spPr>
            <a:xfrm>
              <a:off x="1066" y="3022"/>
              <a:ext cx="167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lg" len="lg"/>
              <a:tailEnd type="stealth" w="lg" len="lg"/>
            </a:ln>
          </p:spPr>
        </p:sp>
        <p:sp>
          <p:nvSpPr>
            <p:cNvPr id="16407" name="Text Box 24"/>
            <p:cNvSpPr txBox="1"/>
            <p:nvPr/>
          </p:nvSpPr>
          <p:spPr>
            <a:xfrm>
              <a:off x="1393" y="2750"/>
              <a:ext cx="11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存取时间</a:t>
              </a:r>
            </a:p>
          </p:txBody>
        </p:sp>
      </p:grpSp>
      <p:grpSp>
        <p:nvGrpSpPr>
          <p:cNvPr id="4" name="Group 35"/>
          <p:cNvGrpSpPr/>
          <p:nvPr/>
        </p:nvGrpSpPr>
        <p:grpSpPr>
          <a:xfrm>
            <a:off x="3216276" y="5491163"/>
            <a:ext cx="3527425" cy="647700"/>
            <a:chOff x="1066" y="3702"/>
            <a:chExt cx="2222" cy="408"/>
          </a:xfrm>
        </p:grpSpPr>
        <p:sp>
          <p:nvSpPr>
            <p:cNvPr id="16400" name="Line 20"/>
            <p:cNvSpPr/>
            <p:nvPr/>
          </p:nvSpPr>
          <p:spPr>
            <a:xfrm>
              <a:off x="3288" y="3702"/>
              <a:ext cx="0" cy="40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16401" name="Line 22"/>
            <p:cNvSpPr/>
            <p:nvPr/>
          </p:nvSpPr>
          <p:spPr>
            <a:xfrm>
              <a:off x="1066" y="3974"/>
              <a:ext cx="22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lg" len="lg"/>
              <a:tailEnd type="stealth" w="lg" len="lg"/>
            </a:ln>
          </p:spPr>
        </p:sp>
        <p:sp>
          <p:nvSpPr>
            <p:cNvPr id="16402" name="Line 23"/>
            <p:cNvSpPr/>
            <p:nvPr/>
          </p:nvSpPr>
          <p:spPr>
            <a:xfrm>
              <a:off x="1066" y="3702"/>
              <a:ext cx="0" cy="40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16403" name="Text Box 25"/>
            <p:cNvSpPr txBox="1"/>
            <p:nvPr/>
          </p:nvSpPr>
          <p:spPr>
            <a:xfrm>
              <a:off x="1383" y="3702"/>
              <a:ext cx="11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存取周期</a:t>
              </a:r>
            </a:p>
          </p:txBody>
        </p:sp>
      </p:grpSp>
      <p:sp>
        <p:nvSpPr>
          <p:cNvPr id="32795" name="Text Box 27"/>
          <p:cNvSpPr txBox="1"/>
          <p:nvPr/>
        </p:nvSpPr>
        <p:spPr>
          <a:xfrm>
            <a:off x="5413375" y="3957639"/>
            <a:ext cx="17843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恢复期</a:t>
            </a:r>
          </a:p>
        </p:txBody>
      </p:sp>
      <p:grpSp>
        <p:nvGrpSpPr>
          <p:cNvPr id="5" name="Group 34"/>
          <p:cNvGrpSpPr/>
          <p:nvPr/>
        </p:nvGrpSpPr>
        <p:grpSpPr>
          <a:xfrm>
            <a:off x="5951538" y="3979863"/>
            <a:ext cx="792162" cy="647700"/>
            <a:chOff x="2789" y="2750"/>
            <a:chExt cx="499" cy="408"/>
          </a:xfrm>
        </p:grpSpPr>
        <p:sp>
          <p:nvSpPr>
            <p:cNvPr id="16398" name="Line 32"/>
            <p:cNvSpPr/>
            <p:nvPr/>
          </p:nvSpPr>
          <p:spPr>
            <a:xfrm>
              <a:off x="2789" y="3012"/>
              <a:ext cx="4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lg" len="lg"/>
              <a:tailEnd type="stealth" w="lg" len="lg"/>
            </a:ln>
          </p:spPr>
        </p:sp>
        <p:sp>
          <p:nvSpPr>
            <p:cNvPr id="16399" name="Line 33"/>
            <p:cNvSpPr/>
            <p:nvPr/>
          </p:nvSpPr>
          <p:spPr>
            <a:xfrm>
              <a:off x="3288" y="2750"/>
              <a:ext cx="0" cy="40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dash"/>
              <a:headEnd type="none" w="sm" len="sm"/>
              <a:tailEnd type="none" w="sm" len="sm"/>
            </a:ln>
          </p:spPr>
        </p:sp>
      </p:grp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4837114" y="3265488"/>
            <a:ext cx="2214563" cy="567912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kumimoji="1"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通常</a:t>
            </a:r>
            <a:r>
              <a:rPr kumimoji="1"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T</a:t>
            </a:r>
            <a:r>
              <a:rPr kumimoji="1" lang="en-US" altLang="zh-CN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M</a:t>
            </a:r>
            <a:r>
              <a:rPr kumimoji="1" lang="zh-CN" altLang="en-US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FF00"/>
                </a:solidFill>
                <a:latin typeface="+mn-lt"/>
                <a:ea typeface="黑体" panose="02010609060101010101" pitchFamily="2" charset="-122"/>
              </a:rPr>
              <a:t>&gt;</a:t>
            </a:r>
            <a:r>
              <a:rPr kumimoji="1"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T</a:t>
            </a:r>
            <a:r>
              <a:rPr kumimoji="1" lang="en-US" altLang="zh-CN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A</a:t>
            </a:r>
            <a:r>
              <a:rPr kumimoji="1"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</a:p>
        </p:txBody>
      </p:sp>
    </p:spTree>
  </p:cSld>
  <p:clrMapOvr>
    <a:masterClrMapping/>
  </p:clrMapOvr>
  <p:transition spd="med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1992313" y="333376"/>
            <a:ext cx="34559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(2)</a:t>
            </a:r>
            <a:r>
              <a:rPr kumimoji="1"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数据传输率</a:t>
            </a:r>
            <a:r>
              <a: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−</a:t>
            </a:r>
            <a:r>
              <a:rPr kumimoji="1" lang="en-US" altLang="zh-CN" sz="2800" b="1" dirty="0">
                <a:solidFill>
                  <a:srgbClr val="00FF00"/>
                </a:solidFill>
                <a:latin typeface="+mn-lt"/>
                <a:ea typeface="黑体" panose="02010609060101010101" pitchFamily="2" charset="-122"/>
              </a:rPr>
              <a:t>R</a:t>
            </a:r>
          </a:p>
        </p:txBody>
      </p:sp>
      <p:sp>
        <p:nvSpPr>
          <p:cNvPr id="84997" name="Text Box 5"/>
          <p:cNvSpPr txBox="1"/>
          <p:nvPr/>
        </p:nvSpPr>
        <p:spPr>
          <a:xfrm>
            <a:off x="2065338" y="1109663"/>
            <a:ext cx="86026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黑体" panose="02010609060101010101" pitchFamily="2" charset="-122"/>
              </a:rPr>
              <a:t>单位时间内存取信息的数据量，也叫带宽或频宽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2179639" y="1911350"/>
            <a:ext cx="6276975" cy="1117600"/>
            <a:chOff x="210" y="1204"/>
            <a:chExt cx="3954" cy="704"/>
          </a:xfrm>
        </p:grpSpPr>
        <p:sp>
          <p:nvSpPr>
            <p:cNvPr id="17419" name="Rectangle 7"/>
            <p:cNvSpPr/>
            <p:nvPr/>
          </p:nvSpPr>
          <p:spPr>
            <a:xfrm>
              <a:off x="210" y="1410"/>
              <a:ext cx="173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FFFF00"/>
                  </a:solidFill>
                  <a:latin typeface="Calibri" panose="020F0502020204030204" pitchFamily="34" charset="0"/>
                  <a:ea typeface="黑体" panose="02010609060101010101" pitchFamily="2" charset="-122"/>
                </a:rPr>
                <a:t>数据传输率</a:t>
              </a:r>
              <a:r>
                <a:rPr lang="en-US" altLang="zh-CN" sz="2800" b="1" dirty="0">
                  <a:solidFill>
                    <a:srgbClr val="FFFF00"/>
                  </a:solidFill>
                  <a:latin typeface="Calibri" panose="020F0502020204030204" pitchFamily="34" charset="0"/>
                  <a:ea typeface="黑体" panose="02010609060101010101" pitchFamily="2" charset="-122"/>
                </a:rPr>
                <a:t>(R)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</a:t>
              </a:r>
            </a:p>
          </p:txBody>
        </p:sp>
        <p:sp>
          <p:nvSpPr>
            <p:cNvPr id="17420" name="Rectangle 8"/>
            <p:cNvSpPr/>
            <p:nvPr/>
          </p:nvSpPr>
          <p:spPr>
            <a:xfrm>
              <a:off x="1859" y="1204"/>
              <a:ext cx="198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FF00"/>
                  </a:solidFill>
                  <a:ea typeface="黑体" panose="02010609060101010101" pitchFamily="2" charset="-122"/>
                </a:rPr>
                <a:t>存储器的位宽</a:t>
              </a:r>
            </a:p>
          </p:txBody>
        </p:sp>
        <p:sp>
          <p:nvSpPr>
            <p:cNvPr id="17421" name="Line 9"/>
            <p:cNvSpPr/>
            <p:nvPr/>
          </p:nvSpPr>
          <p:spPr>
            <a:xfrm>
              <a:off x="1980" y="1570"/>
              <a:ext cx="174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22" name="Rectangle 10"/>
            <p:cNvSpPr/>
            <p:nvPr/>
          </p:nvSpPr>
          <p:spPr>
            <a:xfrm>
              <a:off x="2267" y="1581"/>
              <a:ext cx="115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FF00"/>
                  </a:solidFill>
                  <a:ea typeface="黑体" panose="02010609060101010101" pitchFamily="2" charset="-122"/>
                </a:rPr>
                <a:t>存取周期</a:t>
              </a:r>
            </a:p>
          </p:txBody>
        </p:sp>
        <p:sp>
          <p:nvSpPr>
            <p:cNvPr id="17423" name="Rectangle 11"/>
            <p:cNvSpPr/>
            <p:nvPr/>
          </p:nvSpPr>
          <p:spPr>
            <a:xfrm>
              <a:off x="3719" y="1387"/>
              <a:ext cx="44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FFFF00"/>
                  </a:solidFill>
                  <a:latin typeface="Calibri" panose="020F0502020204030204" pitchFamily="34" charset="0"/>
                </a:rPr>
                <a:t>bps</a:t>
              </a:r>
            </a:p>
          </p:txBody>
        </p:sp>
      </p:grpSp>
      <p:sp>
        <p:nvSpPr>
          <p:cNvPr id="85005" name="Text Box 13"/>
          <p:cNvSpPr txBox="1"/>
          <p:nvPr/>
        </p:nvSpPr>
        <p:spPr>
          <a:xfrm>
            <a:off x="2030414" y="3357564"/>
            <a:ext cx="8313737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】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某双通道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DDR-4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内存传输频率为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3200MHz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，位宽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64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比特，则其有效带宽为：</a:t>
            </a:r>
          </a:p>
        </p:txBody>
      </p:sp>
      <p:sp>
        <p:nvSpPr>
          <p:cNvPr id="85006" name="Text Box 14"/>
          <p:cNvSpPr txBox="1"/>
          <p:nvPr/>
        </p:nvSpPr>
        <p:spPr>
          <a:xfrm>
            <a:off x="2279650" y="4652964"/>
            <a:ext cx="1316038" cy="57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DDR-4</a:t>
            </a: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 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=</a:t>
            </a:r>
          </a:p>
        </p:txBody>
      </p:sp>
      <p:sp>
        <p:nvSpPr>
          <p:cNvPr id="14" name="Text Box 14"/>
          <p:cNvSpPr txBox="1"/>
          <p:nvPr/>
        </p:nvSpPr>
        <p:spPr>
          <a:xfrm>
            <a:off x="3440114" y="4679950"/>
            <a:ext cx="3500437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(64b×3200MHz÷8)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3176588" y="5310189"/>
            <a:ext cx="2062162" cy="57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=</a:t>
            </a: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 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51.2GBps</a:t>
            </a:r>
          </a:p>
        </p:txBody>
      </p:sp>
      <p:sp>
        <p:nvSpPr>
          <p:cNvPr id="16" name="矩形 15"/>
          <p:cNvSpPr/>
          <p:nvPr/>
        </p:nvSpPr>
        <p:spPr>
          <a:xfrm>
            <a:off x="6583363" y="4762500"/>
            <a:ext cx="811212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FF00"/>
                </a:solidFill>
              </a:rPr>
              <a:t>×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2 </a:t>
            </a:r>
            <a:endParaRPr lang="zh-CN" altLang="en-US" sz="2800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 spd="med">
    <p:pull dir="r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c0ee4c-f4aa-4003-842e-ae529e6e5ee7"/>
  <p:tag name="COMMONDATA" val="eyJoZGlkIjoiZDVkZjUyYzk3YmYzZmRlZTdiNzFlYmE0MmMzZTU4MzY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PresentationFormat>宽屏</PresentationFormat>
  <Paragraphs>128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黑体</vt:lpstr>
      <vt:lpstr>宋体</vt:lpstr>
      <vt:lpstr>Arial</vt:lpstr>
      <vt:lpstr>Calibri</vt:lpstr>
      <vt:lpstr>Times New Roman</vt:lpstr>
      <vt:lpstr>Wingdings</vt:lpstr>
      <vt:lpstr>Soaring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l w</cp:lastModifiedBy>
  <cp:revision>417</cp:revision>
  <dcterms:created xsi:type="dcterms:W3CDTF">2000-11-29T02:55:00Z</dcterms:created>
  <dcterms:modified xsi:type="dcterms:W3CDTF">2024-05-17T04:26:21Z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FEAE8885B30E4021801EF75A764F79D5</vt:lpwstr>
  </property>
  <property fmtid="{D5CDD505-2E9C-101B-9397-08002B2CF9AE}" pid="3" name="KSOProductBuildVer">
    <vt:lpwstr>2052-11.1.0.12165</vt:lpwstr>
  </property>
</Properties>
</file>