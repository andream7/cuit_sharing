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2" r:id="rId5"/>
    <p:sldId id="263" r:id="rId6"/>
    <p:sldId id="264" r:id="rId7"/>
    <p:sldId id="260" r:id="rId8"/>
  </p:sldIdLst>
  <p:sldSz cx="5715000" cy="9144000" type="screen16x10"/>
  <p:notesSz cx="6858000" cy="9144000"/>
  <p:defaultTextStyle>
    <a:defPPr>
      <a:defRPr lang="zh-CN"/>
    </a:defPPr>
    <a:lvl1pPr marL="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339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雨课堂试卷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8A479C-8B55-6FC0-2280-B0480B149C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5750" y="3810000"/>
            <a:ext cx="5143500" cy="1524000"/>
          </a:xfrm>
          <a:prstGeom prst="rect">
            <a:avLst/>
          </a:prstGeom>
        </p:spPr>
        <p:txBody>
          <a:bodyPr vert="horz" anchor="ctr" anchorCtr="1"/>
          <a:lstStyle>
            <a:lvl1pPr>
              <a:defRPr sz="2600"/>
            </a:lvl1pPr>
          </a:lstStyle>
          <a:p>
            <a:r>
              <a:rPr lang="zh-CN" altLang="en-US"/>
              <a:t>请填写试卷标题</a:t>
            </a:r>
          </a:p>
        </p:txBody>
      </p:sp>
    </p:spTree>
    <p:extLst>
      <p:ext uri="{BB962C8B-B14F-4D97-AF65-F5344CB8AC3E}">
        <p14:creationId xmlns:p14="http://schemas.microsoft.com/office/powerpoint/2010/main" val="1178142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5070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8539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385763" rtl="0" eaLnBrk="1" latinLnBrk="0" hangingPunct="1">
        <a:lnSpc>
          <a:spcPct val="90000"/>
        </a:lnSpc>
        <a:spcBef>
          <a:spcPct val="0"/>
        </a:spcBef>
        <a:buNone/>
        <a:defRPr sz="185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6441" indent="-96441" algn="l" defTabSz="385763" rtl="0" eaLnBrk="1" latinLnBrk="0" hangingPunct="1">
        <a:lnSpc>
          <a:spcPct val="90000"/>
        </a:lnSpc>
        <a:spcBef>
          <a:spcPts val="422"/>
        </a:spcBef>
        <a:buFont typeface="Arial" panose="020B0604020202020204" pitchFamily="34" charset="0"/>
        <a:buChar char="•"/>
        <a:defRPr sz="1181" kern="1200">
          <a:solidFill>
            <a:schemeClr val="tx1"/>
          </a:solidFill>
          <a:latin typeface="+mn-lt"/>
          <a:ea typeface="+mn-ea"/>
          <a:cs typeface="+mn-cs"/>
        </a:defRPr>
      </a:lvl1pPr>
      <a:lvl2pPr marL="289322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482204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844" kern="1200">
          <a:solidFill>
            <a:schemeClr val="tx1"/>
          </a:solidFill>
          <a:latin typeface="+mn-lt"/>
          <a:ea typeface="+mn-ea"/>
          <a:cs typeface="+mn-cs"/>
        </a:defRPr>
      </a:lvl3pPr>
      <a:lvl4pPr marL="675085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867966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1060847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253729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446610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639491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1pPr>
      <a:lvl2pPr marL="192881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2pPr>
      <a:lvl3pPr marL="385763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3pPr>
      <a:lvl4pPr marL="578644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771525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964406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157288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350169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54305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13" Type="http://schemas.openxmlformats.org/officeDocument/2006/relationships/tags" Target="../tags/tag15.xml"/><Relationship Id="rId18" Type="http://schemas.openxmlformats.org/officeDocument/2006/relationships/image" Target="../media/image1.tmp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12" Type="http://schemas.openxmlformats.org/officeDocument/2006/relationships/tags" Target="../tags/tag14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4.xml"/><Relationship Id="rId16" Type="http://schemas.openxmlformats.org/officeDocument/2006/relationships/tags" Target="../tags/tag18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tags" Target="../tags/tag13.xml"/><Relationship Id="rId5" Type="http://schemas.openxmlformats.org/officeDocument/2006/relationships/tags" Target="../tags/tag7.xml"/><Relationship Id="rId15" Type="http://schemas.openxmlformats.org/officeDocument/2006/relationships/tags" Target="../tags/tag17.xml"/><Relationship Id="rId10" Type="http://schemas.openxmlformats.org/officeDocument/2006/relationships/tags" Target="../tags/tag12.xml"/><Relationship Id="rId4" Type="http://schemas.openxmlformats.org/officeDocument/2006/relationships/tags" Target="../tags/tag6.xml"/><Relationship Id="rId9" Type="http://schemas.openxmlformats.org/officeDocument/2006/relationships/tags" Target="../tags/tag11.xml"/><Relationship Id="rId14" Type="http://schemas.openxmlformats.org/officeDocument/2006/relationships/tags" Target="../tags/tag1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26.xml"/><Relationship Id="rId13" Type="http://schemas.openxmlformats.org/officeDocument/2006/relationships/tags" Target="../tags/tag31.xml"/><Relationship Id="rId18" Type="http://schemas.openxmlformats.org/officeDocument/2006/relationships/image" Target="../media/image1.tmp"/><Relationship Id="rId3" Type="http://schemas.openxmlformats.org/officeDocument/2006/relationships/tags" Target="../tags/tag21.xml"/><Relationship Id="rId7" Type="http://schemas.openxmlformats.org/officeDocument/2006/relationships/tags" Target="../tags/tag25.xml"/><Relationship Id="rId12" Type="http://schemas.openxmlformats.org/officeDocument/2006/relationships/tags" Target="../tags/tag30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20.xml"/><Relationship Id="rId16" Type="http://schemas.openxmlformats.org/officeDocument/2006/relationships/tags" Target="../tags/tag34.xml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11" Type="http://schemas.openxmlformats.org/officeDocument/2006/relationships/tags" Target="../tags/tag29.xml"/><Relationship Id="rId5" Type="http://schemas.openxmlformats.org/officeDocument/2006/relationships/tags" Target="../tags/tag23.xml"/><Relationship Id="rId15" Type="http://schemas.openxmlformats.org/officeDocument/2006/relationships/tags" Target="../tags/tag33.xml"/><Relationship Id="rId10" Type="http://schemas.openxmlformats.org/officeDocument/2006/relationships/tags" Target="../tags/tag28.xml"/><Relationship Id="rId4" Type="http://schemas.openxmlformats.org/officeDocument/2006/relationships/tags" Target="../tags/tag22.xml"/><Relationship Id="rId9" Type="http://schemas.openxmlformats.org/officeDocument/2006/relationships/tags" Target="../tags/tag27.xml"/><Relationship Id="rId14" Type="http://schemas.openxmlformats.org/officeDocument/2006/relationships/tags" Target="../tags/tag3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13" Type="http://schemas.openxmlformats.org/officeDocument/2006/relationships/tags" Target="../tags/tag47.xml"/><Relationship Id="rId18" Type="http://schemas.openxmlformats.org/officeDocument/2006/relationships/image" Target="../media/image1.tmp"/><Relationship Id="rId3" Type="http://schemas.openxmlformats.org/officeDocument/2006/relationships/tags" Target="../tags/tag37.xml"/><Relationship Id="rId7" Type="http://schemas.openxmlformats.org/officeDocument/2006/relationships/tags" Target="../tags/tag41.xml"/><Relationship Id="rId12" Type="http://schemas.openxmlformats.org/officeDocument/2006/relationships/tags" Target="../tags/tag46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36.xml"/><Relationship Id="rId16" Type="http://schemas.openxmlformats.org/officeDocument/2006/relationships/tags" Target="../tags/tag50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tags" Target="../tags/tag45.xml"/><Relationship Id="rId5" Type="http://schemas.openxmlformats.org/officeDocument/2006/relationships/tags" Target="../tags/tag39.xml"/><Relationship Id="rId15" Type="http://schemas.openxmlformats.org/officeDocument/2006/relationships/tags" Target="../tags/tag49.xml"/><Relationship Id="rId10" Type="http://schemas.openxmlformats.org/officeDocument/2006/relationships/tags" Target="../tags/tag44.xml"/><Relationship Id="rId4" Type="http://schemas.openxmlformats.org/officeDocument/2006/relationships/tags" Target="../tags/tag38.xml"/><Relationship Id="rId9" Type="http://schemas.openxmlformats.org/officeDocument/2006/relationships/tags" Target="../tags/tag43.xml"/><Relationship Id="rId14" Type="http://schemas.openxmlformats.org/officeDocument/2006/relationships/tags" Target="../tags/tag48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58.xml"/><Relationship Id="rId13" Type="http://schemas.openxmlformats.org/officeDocument/2006/relationships/tags" Target="../tags/tag63.xml"/><Relationship Id="rId18" Type="http://schemas.openxmlformats.org/officeDocument/2006/relationships/image" Target="../media/image1.tmp"/><Relationship Id="rId3" Type="http://schemas.openxmlformats.org/officeDocument/2006/relationships/tags" Target="../tags/tag53.xml"/><Relationship Id="rId7" Type="http://schemas.openxmlformats.org/officeDocument/2006/relationships/tags" Target="../tags/tag57.xml"/><Relationship Id="rId12" Type="http://schemas.openxmlformats.org/officeDocument/2006/relationships/tags" Target="../tags/tag62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52.xml"/><Relationship Id="rId16" Type="http://schemas.openxmlformats.org/officeDocument/2006/relationships/tags" Target="../tags/tag66.xml"/><Relationship Id="rId1" Type="http://schemas.openxmlformats.org/officeDocument/2006/relationships/tags" Target="../tags/tag51.xml"/><Relationship Id="rId6" Type="http://schemas.openxmlformats.org/officeDocument/2006/relationships/tags" Target="../tags/tag56.xml"/><Relationship Id="rId11" Type="http://schemas.openxmlformats.org/officeDocument/2006/relationships/tags" Target="../tags/tag61.xml"/><Relationship Id="rId5" Type="http://schemas.openxmlformats.org/officeDocument/2006/relationships/tags" Target="../tags/tag55.xml"/><Relationship Id="rId15" Type="http://schemas.openxmlformats.org/officeDocument/2006/relationships/tags" Target="../tags/tag65.xml"/><Relationship Id="rId10" Type="http://schemas.openxmlformats.org/officeDocument/2006/relationships/tags" Target="../tags/tag60.xml"/><Relationship Id="rId4" Type="http://schemas.openxmlformats.org/officeDocument/2006/relationships/tags" Target="../tags/tag54.xml"/><Relationship Id="rId9" Type="http://schemas.openxmlformats.org/officeDocument/2006/relationships/tags" Target="../tags/tag59.xml"/><Relationship Id="rId14" Type="http://schemas.openxmlformats.org/officeDocument/2006/relationships/tags" Target="../tags/tag6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74.xml"/><Relationship Id="rId13" Type="http://schemas.openxmlformats.org/officeDocument/2006/relationships/tags" Target="../tags/tag79.xml"/><Relationship Id="rId18" Type="http://schemas.openxmlformats.org/officeDocument/2006/relationships/image" Target="../media/image1.tmp"/><Relationship Id="rId3" Type="http://schemas.openxmlformats.org/officeDocument/2006/relationships/tags" Target="../tags/tag69.xml"/><Relationship Id="rId7" Type="http://schemas.openxmlformats.org/officeDocument/2006/relationships/tags" Target="../tags/tag73.xml"/><Relationship Id="rId12" Type="http://schemas.openxmlformats.org/officeDocument/2006/relationships/tags" Target="../tags/tag78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68.xml"/><Relationship Id="rId16" Type="http://schemas.openxmlformats.org/officeDocument/2006/relationships/tags" Target="../tags/tag82.xml"/><Relationship Id="rId1" Type="http://schemas.openxmlformats.org/officeDocument/2006/relationships/tags" Target="../tags/tag67.xml"/><Relationship Id="rId6" Type="http://schemas.openxmlformats.org/officeDocument/2006/relationships/tags" Target="../tags/tag72.xml"/><Relationship Id="rId11" Type="http://schemas.openxmlformats.org/officeDocument/2006/relationships/tags" Target="../tags/tag77.xml"/><Relationship Id="rId5" Type="http://schemas.openxmlformats.org/officeDocument/2006/relationships/tags" Target="../tags/tag71.xml"/><Relationship Id="rId15" Type="http://schemas.openxmlformats.org/officeDocument/2006/relationships/tags" Target="../tags/tag81.xml"/><Relationship Id="rId10" Type="http://schemas.openxmlformats.org/officeDocument/2006/relationships/tags" Target="../tags/tag76.xml"/><Relationship Id="rId4" Type="http://schemas.openxmlformats.org/officeDocument/2006/relationships/tags" Target="../tags/tag70.xml"/><Relationship Id="rId9" Type="http://schemas.openxmlformats.org/officeDocument/2006/relationships/tags" Target="../tags/tag75.xml"/><Relationship Id="rId14" Type="http://schemas.openxmlformats.org/officeDocument/2006/relationships/tags" Target="../tags/tag80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90.xml"/><Relationship Id="rId3" Type="http://schemas.openxmlformats.org/officeDocument/2006/relationships/tags" Target="../tags/tag85.xml"/><Relationship Id="rId7" Type="http://schemas.openxmlformats.org/officeDocument/2006/relationships/tags" Target="../tags/tag89.xml"/><Relationship Id="rId2" Type="http://schemas.openxmlformats.org/officeDocument/2006/relationships/tags" Target="../tags/tag84.xml"/><Relationship Id="rId1" Type="http://schemas.openxmlformats.org/officeDocument/2006/relationships/tags" Target="../tags/tag83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10" Type="http://schemas.openxmlformats.org/officeDocument/2006/relationships/image" Target="../media/image1.tmp"/><Relationship Id="rId4" Type="http://schemas.openxmlformats.org/officeDocument/2006/relationships/tags" Target="../tags/tag86.xml"/><Relationship Id="rId9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CF8441-BCCC-3D3D-35A7-DB783BA85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</a:t>
            </a:r>
            <a:r>
              <a:rPr lang="en-US" altLang="zh-CN" dirty="0"/>
              <a:t>7 </a:t>
            </a:r>
            <a:r>
              <a:rPr lang="zh-CN" altLang="en-US" dirty="0"/>
              <a:t>串行通信相关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AEB907D-B42B-51E9-7CD8-ECF39E9738D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841500" y="5842000"/>
            <a:ext cx="2032000" cy="5080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 anchorCtr="1">
            <a:noAutofit/>
          </a:bodyPr>
          <a:lstStyle/>
          <a:p>
            <a:r>
              <a:rPr lang="zh-CN" altLang="en-US" sz="2000">
                <a:solidFill>
                  <a:srgbClr val="000000"/>
                </a:solidFill>
              </a:rPr>
              <a:t>总分</a:t>
            </a:r>
            <a:r>
              <a:rPr lang="en-US" altLang="zh-CN" sz="2000">
                <a:solidFill>
                  <a:srgbClr val="000000"/>
                </a:solidFill>
              </a:rPr>
              <a:t>: 20</a:t>
            </a:r>
            <a:endParaRPr lang="zh-CN" altLang="en-US" sz="2000">
              <a:solidFill>
                <a:srgbClr val="00000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54097D1-07B5-1803-5274-D94E839A1382}"/>
              </a:ext>
            </a:extLst>
          </p:cNvPr>
          <p:cNvSpPr txBox="1"/>
          <p:nvPr/>
        </p:nvSpPr>
        <p:spPr>
          <a:xfrm>
            <a:off x="127000" y="7874000"/>
            <a:ext cx="5461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</a:ln>
        </p:spPr>
        <p:txBody>
          <a:bodyPr vert="horz" wrap="square" rtlCol="0" anchor="ctr">
            <a:noAutofit/>
          </a:bodyPr>
          <a:lstStyle/>
          <a:p>
            <a:r>
              <a:rPr lang="zh-CN" altLang="en-US" sz="2000">
                <a:solidFill>
                  <a:srgbClr val="FF0000"/>
                </a:solidFill>
              </a:rPr>
              <a:t>*此封面页请勿删除，删除后将无法上传至试卷库，添加菜单栏任意题型即可制作试卷。本提示将在上传时自动隐藏。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271541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4A3BF8A6-F343-7716-DDF0-60A625F3F7E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90500" y="855026"/>
            <a:ext cx="5283708" cy="184594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28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MCS51</a:t>
            </a:r>
            <a:r>
              <a:rPr lang="zh-CN" altLang="en-US" sz="28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单片机</a:t>
            </a:r>
            <a:r>
              <a:rPr lang="zh-CN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串口工作在方式二时，对其一帧数据的描述正确的是（ </a:t>
            </a:r>
            <a:r>
              <a:rPr lang="en-US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    </a:t>
            </a:r>
            <a:r>
              <a:rPr lang="zh-CN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en-US" sz="28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zh-CN" altLang="zh-CN" sz="2800" b="1" kern="10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F12E1E6-BDF7-E194-A6DF-FBA8A4A3183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714750"/>
            <a:ext cx="422148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>
            <a:defPPr>
              <a:defRPr lang="zh-CN"/>
            </a:defPPr>
            <a:lvl1pPr>
              <a:defRPr sz="2400" kern="10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zh-CN" dirty="0"/>
              <a:t>一帧数据中起始位为高电平</a:t>
            </a:r>
            <a:endParaRPr lang="zh-CN" altLang="en-US" dirty="0"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8DDBB93-DBFE-9B7A-6943-0D20C3F43A11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143000" y="4857750"/>
            <a:ext cx="422148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>
            <a:defPPr>
              <a:defRPr lang="zh-CN"/>
            </a:defPPr>
            <a:lvl1pPr>
              <a:defRPr sz="2400" kern="10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zh-CN" dirty="0"/>
              <a:t>一帧数据中停止位为高电平</a:t>
            </a:r>
            <a:endParaRPr lang="zh-CN" altLang="en-US" dirty="0"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330430C-50B8-DF7A-90A9-DFD337FE6A09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43000" y="6000750"/>
            <a:ext cx="44450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>
            <a:defPPr>
              <a:defRPr lang="zh-CN"/>
            </a:defPPr>
            <a:lvl1pPr>
              <a:defRPr sz="2400" kern="10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zh-CN" dirty="0"/>
              <a:t>一帧数据中数据位的宽度是</a:t>
            </a:r>
            <a:r>
              <a:rPr lang="en-US" altLang="zh-CN" dirty="0"/>
              <a:t>8</a:t>
            </a:r>
            <a:r>
              <a:rPr lang="zh-CN" altLang="zh-CN" dirty="0"/>
              <a:t>位</a:t>
            </a:r>
            <a:endParaRPr lang="zh-CN" altLang="en-US" dirty="0">
              <a:sym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2DB8717-8826-277E-C66E-C54FE597534A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43000" y="7143750"/>
            <a:ext cx="422148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>
            <a:defPPr>
              <a:defRPr lang="zh-CN"/>
            </a:defPPr>
            <a:lvl1pPr>
              <a:defRPr sz="2400" kern="10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zh-CN" dirty="0"/>
              <a:t>一帧数据中包含两个校验位</a:t>
            </a:r>
            <a:endParaRPr lang="zh-CN" altLang="en-US" dirty="0"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D7A84E03-5285-F75E-DF3A-1FB38AC860CD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0C8FF4F1-D3EA-1306-3167-5772D8A5FD2A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5CC44AED-83C9-2AAD-7442-56DFE481D8FA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FEB6AAF1-8ED0-C871-CCF9-FFBB07A490A4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91213DE4-40FD-5CBB-9D46-10954298CB2E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C6835CB6-FBFF-D871-ECA2-63A7D36D1499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414EC834-D9B4-99E8-E060-D4BBB97268CD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C3E50187-48D6-F679-61A5-6D9E39967ACA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217F9049-7E0F-E147-57D4-C75721038CFF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8DEC4BFE-F77C-0817-9713-4FD9EDDBB966}"/>
              </a:ext>
            </a:extLst>
          </p:cNvPr>
          <p:cNvPicPr>
            <a:picLocks/>
          </p:cNvPicPr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407383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4A3BF8A6-F343-7716-DDF0-60A625F3F7E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78308" y="763016"/>
            <a:ext cx="5397500" cy="226250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algn="l">
              <a:lnSpc>
                <a:spcPct val="130000"/>
              </a:lnSpc>
            </a:pPr>
            <a:r>
              <a:rPr lang="en-US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MCS51</a:t>
            </a:r>
            <a:r>
              <a:rPr lang="zh-CN" altLang="en-US" sz="28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单片机中，</a:t>
            </a:r>
            <a:r>
              <a:rPr lang="zh-CN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假设异步串行接口按方式</a:t>
            </a:r>
            <a:r>
              <a:rPr lang="en-US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每分钟传输</a:t>
            </a:r>
            <a:r>
              <a:rPr lang="en-US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6000</a:t>
            </a:r>
            <a:r>
              <a:rPr lang="zh-CN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个字符，则其波特率应为（</a:t>
            </a:r>
            <a:r>
              <a:rPr lang="en-US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     </a:t>
            </a:r>
            <a:r>
              <a:rPr lang="zh-CN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en-US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bps</a:t>
            </a:r>
            <a:r>
              <a:rPr lang="zh-CN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F12E1E6-BDF7-E194-A6DF-FBA8A4A3183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714750"/>
            <a:ext cx="1825487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800</a:t>
            </a:r>
            <a:endParaRPr lang="zh-CN" altLang="en-US" sz="32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8DDBB93-DBFE-9B7A-6943-0D20C3F43A11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143000" y="4857750"/>
            <a:ext cx="422148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900</a:t>
            </a:r>
            <a:endParaRPr lang="zh-CN" altLang="en-US" sz="32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330430C-50B8-DF7A-90A9-DFD337FE6A09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43000" y="6000750"/>
            <a:ext cx="422148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1000</a:t>
            </a:r>
            <a:endParaRPr lang="zh-CN" altLang="en-US" sz="32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2DB8717-8826-277E-C66E-C54FE597534A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43000" y="7143750"/>
            <a:ext cx="422148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1100</a:t>
            </a:r>
            <a:endParaRPr lang="zh-CN" altLang="en-US" sz="32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D7A84E03-5285-F75E-DF3A-1FB38AC860CD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0C8FF4F1-D3EA-1306-3167-5772D8A5FD2A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5CC44AED-83C9-2AAD-7442-56DFE481D8FA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FEB6AAF1-8ED0-C871-CCF9-FFBB07A490A4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91213DE4-40FD-5CBB-9D46-10954298CB2E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C6835CB6-FBFF-D871-ECA2-63A7D36D1499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414EC834-D9B4-99E8-E060-D4BBB97268CD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C3E50187-48D6-F679-61A5-6D9E39967ACA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217F9049-7E0F-E147-57D4-C75721038CFF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8DEC4BFE-F77C-0817-9713-4FD9EDDBB966}"/>
              </a:ext>
            </a:extLst>
          </p:cNvPr>
          <p:cNvPicPr>
            <a:picLocks/>
          </p:cNvPicPr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784596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4A3BF8A6-F343-7716-DDF0-60A625F3F7E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5250" y="811784"/>
            <a:ext cx="5397500" cy="1820517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MCS51</a:t>
            </a:r>
            <a:r>
              <a:rPr lang="zh-CN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单片机串口工作在方式二时，若其外接晶振频率为</a:t>
            </a:r>
            <a:r>
              <a:rPr lang="en-US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8MHz</a:t>
            </a:r>
            <a:r>
              <a:rPr lang="zh-CN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，则其最大通信速率为（ </a:t>
            </a:r>
            <a:r>
              <a:rPr lang="en-US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    </a:t>
            </a:r>
            <a:r>
              <a:rPr lang="zh-CN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）。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F12E1E6-BDF7-E194-A6DF-FBA8A4A3183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714750"/>
            <a:ext cx="1825487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1Mbps</a:t>
            </a:r>
            <a:endParaRPr lang="zh-CN" altLang="en-US" sz="2400" kern="10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8DDBB93-DBFE-9B7A-6943-0D20C3F43A11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143000" y="4857750"/>
            <a:ext cx="422148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0.5Mbps</a:t>
            </a:r>
            <a:endParaRPr lang="zh-CN" altLang="en-US" sz="32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330430C-50B8-DF7A-90A9-DFD337FE6A09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43000" y="6000750"/>
            <a:ext cx="422148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0.25Mbps</a:t>
            </a:r>
            <a:endParaRPr lang="zh-CN" altLang="en-US" sz="32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2DB8717-8826-277E-C66E-C54FE597534A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43000" y="7143750"/>
            <a:ext cx="422148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0.125Mbps</a:t>
            </a:r>
            <a:endParaRPr lang="zh-CN" altLang="en-US" sz="32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D7A84E03-5285-F75E-DF3A-1FB38AC860CD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0C8FF4F1-D3EA-1306-3167-5772D8A5FD2A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5CC44AED-83C9-2AAD-7442-56DFE481D8FA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FEB6AAF1-8ED0-C871-CCF9-FFBB07A490A4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91213DE4-40FD-5CBB-9D46-10954298CB2E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C6835CB6-FBFF-D871-ECA2-63A7D36D1499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414EC834-D9B4-99E8-E060-D4BBB97268CD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C3E50187-48D6-F679-61A5-6D9E39967ACA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217F9049-7E0F-E147-57D4-C75721038CFF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8DEC4BFE-F77C-0817-9713-4FD9EDDBB966}"/>
              </a:ext>
            </a:extLst>
          </p:cNvPr>
          <p:cNvPicPr>
            <a:picLocks/>
          </p:cNvPicPr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849490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4A3BF8A6-F343-7716-DDF0-60A625F3F7E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90500" y="967961"/>
            <a:ext cx="5397500" cy="1579438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algn="l">
              <a:lnSpc>
                <a:spcPct val="130000"/>
              </a:lnSpc>
            </a:pPr>
            <a:r>
              <a:rPr lang="zh-CN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异步串行通信在传送字符时，是将该字符的（ </a:t>
            </a:r>
            <a:r>
              <a:rPr lang="en-US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    </a:t>
            </a:r>
            <a:r>
              <a:rPr lang="zh-CN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）进行传送。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D1FDAF4-CEEE-58D1-CEB4-25C9E604965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082040" y="3653790"/>
            <a:ext cx="1825487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ASCII</a:t>
            </a:r>
            <a:r>
              <a:rPr lang="zh-CN" altLang="zh-CN" sz="2400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码</a:t>
            </a:r>
            <a:endParaRPr lang="zh-CN" altLang="en-US" sz="2400" kern="10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B720B56-67AF-9D64-27F3-75FBF117F0A1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082040" y="4796790"/>
            <a:ext cx="422148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>
            <a:defPPr>
              <a:defRPr lang="zh-CN"/>
            </a:defPPr>
            <a:lvl1pPr>
              <a:defRPr sz="2400" kern="10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Unicode</a:t>
            </a:r>
            <a:r>
              <a:rPr lang="zh-CN" altLang="zh-CN" dirty="0"/>
              <a:t>码</a:t>
            </a:r>
            <a:endParaRPr lang="zh-CN" altLang="en-US" dirty="0">
              <a:sym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D4F2F41-348F-5C54-D1DE-C2B60BF85857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082040" y="5939790"/>
            <a:ext cx="422148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>
            <a:defPPr>
              <a:defRPr lang="zh-CN"/>
            </a:defPPr>
            <a:lvl1pPr>
              <a:defRPr sz="2400" kern="10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UTF-8</a:t>
            </a:r>
            <a:r>
              <a:rPr lang="zh-CN" altLang="zh-CN" dirty="0"/>
              <a:t>码</a:t>
            </a:r>
            <a:endParaRPr lang="zh-CN" altLang="en-US" dirty="0">
              <a:sym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367F34E-C5C3-E31A-C561-AA4364E59390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082040" y="7082790"/>
            <a:ext cx="422148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>
            <a:defPPr>
              <a:defRPr lang="zh-CN"/>
            </a:defPPr>
            <a:lvl1pPr>
              <a:defRPr sz="2400" kern="10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GB2312</a:t>
            </a:r>
            <a:r>
              <a:rPr lang="zh-CN" altLang="zh-CN" dirty="0"/>
              <a:t>码</a:t>
            </a:r>
            <a:endParaRPr lang="zh-CN" altLang="en-US" dirty="0">
              <a:sym typeface="Microsoft Yahei" panose="020B0503020204020204" pitchFamily="34" charset="-122"/>
            </a:endParaRP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2A3701B3-6ACF-44CE-A626-291E0979CDB4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478536" y="380809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725387C6-AEC5-6811-1FFE-EEA4D25653CE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478536" y="495109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2C2FA25F-2A66-077C-ACFB-16B1357F45E9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478536" y="609409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F29BCDBA-BAC9-AFD9-5C84-9AC1A9FDAC13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478536" y="723709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91213DE4-40FD-5CBB-9D46-10954298CB2E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C6835CB6-FBFF-D871-ECA2-63A7D36D1499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414EC834-D9B4-99E8-E060-D4BBB97268CD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C3E50187-48D6-F679-61A5-6D9E39967ACA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217F9049-7E0F-E147-57D4-C75721038CFF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8DEC4BFE-F77C-0817-9713-4FD9EDDBB966}"/>
              </a:ext>
            </a:extLst>
          </p:cNvPr>
          <p:cNvPicPr>
            <a:picLocks/>
          </p:cNvPicPr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805155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78D6A10-2792-3E07-8C7E-72CE52854869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90500" y="635000"/>
            <a:ext cx="5270500" cy="2071624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2800" b="1" kern="10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zh-CN"/>
              <a:t>当</a:t>
            </a:r>
            <a:r>
              <a:rPr lang="en-US" altLang="zh-CN" dirty="0"/>
              <a:t>MCS51</a:t>
            </a:r>
            <a:r>
              <a:rPr lang="zh-CN" altLang="zh-CN" dirty="0"/>
              <a:t>单片机串口工作</a:t>
            </a:r>
            <a:r>
              <a:rPr lang="zh-CN" altLang="zh-CN"/>
              <a:t>在方式</a:t>
            </a:r>
            <a:r>
              <a:rPr lang="en-US" altLang="zh-CN" dirty="0"/>
              <a:t>3</a:t>
            </a:r>
            <a:r>
              <a:rPr lang="zh-CN" altLang="zh-CN" dirty="0"/>
              <a:t>时，波特率可以</a:t>
            </a:r>
            <a:r>
              <a:rPr lang="zh-CN" altLang="zh-CN"/>
              <a:t>由（</a:t>
            </a:r>
            <a:r>
              <a:rPr lang="en-US" altLang="zh-CN" dirty="0"/>
              <a:t>    </a:t>
            </a:r>
            <a:r>
              <a:rPr lang="zh-CN" altLang="zh-CN" dirty="0"/>
              <a:t>）来设定。</a:t>
            </a:r>
            <a:endParaRPr lang="zh-CN" altLang="en-US" dirty="0">
              <a:sym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5679043-4C95-5828-AD55-E46826F3DF8F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>
            <a:defPPr>
              <a:defRPr lang="zh-CN"/>
            </a:defPPr>
            <a:lvl1pPr>
              <a:defRPr sz="2400" kern="10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>
                <a:sym typeface="Microsoft Yahei" panose="020B0503020204020204" pitchFamily="34" charset="-122"/>
              </a:rPr>
              <a:t>定时器</a:t>
            </a:r>
            <a:r>
              <a:rPr lang="en-US" altLang="zh-CN" dirty="0">
                <a:sym typeface="Microsoft Yahei" panose="020B0503020204020204" pitchFamily="34" charset="-122"/>
              </a:rPr>
              <a:t>T0</a:t>
            </a:r>
            <a:endParaRPr lang="zh-CN" altLang="en-US" dirty="0"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BF4D9C7-AC77-6070-0646-753948A0CC4E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>
            <a:defPPr>
              <a:defRPr lang="zh-CN"/>
            </a:defPPr>
            <a:lvl1pPr>
              <a:defRPr sz="2400" kern="10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>
                <a:sym typeface="Microsoft Yahei" panose="020B0503020204020204" pitchFamily="34" charset="-122"/>
              </a:rPr>
              <a:t>定时器</a:t>
            </a:r>
            <a:r>
              <a:rPr lang="en-US" altLang="zh-CN" dirty="0">
                <a:sym typeface="Microsoft Yahei" panose="020B0503020204020204" pitchFamily="34" charset="-122"/>
              </a:rPr>
              <a:t>T1</a:t>
            </a:r>
            <a:endParaRPr lang="zh-CN" altLang="en-US" dirty="0"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60F4247-04DB-4266-CE4F-66190C068A24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>
            <a:defPPr>
              <a:defRPr lang="zh-CN"/>
            </a:defPPr>
            <a:lvl1pPr>
              <a:defRPr sz="2400" kern="10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zh-CN"/>
              <a:t>定时器</a:t>
            </a:r>
            <a:r>
              <a:rPr lang="en-US" altLang="zh-CN"/>
              <a:t>T0</a:t>
            </a:r>
            <a:r>
              <a:rPr lang="zh-CN" altLang="zh-CN"/>
              <a:t>、</a:t>
            </a:r>
            <a:r>
              <a:rPr lang="en-US" altLang="zh-CN" dirty="0"/>
              <a:t>T1</a:t>
            </a:r>
            <a:r>
              <a:rPr lang="zh-CN" altLang="zh-CN" dirty="0"/>
              <a:t>都可以</a:t>
            </a:r>
            <a:endParaRPr lang="zh-CN" altLang="en-US" dirty="0"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F515A9A-71C0-175D-3B5D-CB710BFF0A21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>
            <a:defPPr>
              <a:defRPr lang="zh-CN"/>
            </a:defPPr>
            <a:lvl1pPr>
              <a:defRPr sz="2400" kern="10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zh-CN" dirty="0"/>
              <a:t>不能由定时器来决定，是固定值，只由外部晶振决定</a:t>
            </a:r>
            <a:endParaRPr lang="zh-CN" altLang="en-US" dirty="0">
              <a:sym typeface="Microsoft Yahei" panose="020B0503020204020204" pitchFamily="34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7DEE00B1-3016-58A2-3DF5-C9889C053BC4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E3ED789E-3EDD-7C14-2E74-F4EB2B564F80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D7398325-A623-D42A-10D3-2C9674F56FB0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4BDB0809-AE72-DBCF-6314-25B9903A3D5E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B5F866CA-7B43-0CA5-DC00-C70E85E18A0F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3" name="TitleBackground">
              <a:extLst>
                <a:ext uri="{FF2B5EF4-FFF2-40B4-BE49-F238E27FC236}">
                  <a16:creationId xmlns:a16="http://schemas.microsoft.com/office/drawing/2014/main" id="{B6BDE00D-95EE-1D2A-CA7A-D49341E14308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>
              <a:extLst>
                <a:ext uri="{FF2B5EF4-FFF2-40B4-BE49-F238E27FC236}">
                  <a16:creationId xmlns:a16="http://schemas.microsoft.com/office/drawing/2014/main" id="{870320CA-C0A3-9BA8-26D0-675538F387FC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>
              <a:extLst>
                <a:ext uri="{FF2B5EF4-FFF2-40B4-BE49-F238E27FC236}">
                  <a16:creationId xmlns:a16="http://schemas.microsoft.com/office/drawing/2014/main" id="{E1BA2E57-BC2C-2536-C34B-B84D91EA80EC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>
              <a:extLst>
                <a:ext uri="{FF2B5EF4-FFF2-40B4-BE49-F238E27FC236}">
                  <a16:creationId xmlns:a16="http://schemas.microsoft.com/office/drawing/2014/main" id="{EF2D8F66-8336-CC00-C7C1-DFB817EE287C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2716887E-ACFA-D2F0-0DA9-D9D1CBEE0D3B}"/>
              </a:ext>
            </a:extLst>
          </p:cNvPr>
          <p:cNvPicPr>
            <a:picLocks/>
          </p:cNvPicPr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328657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F09DCCE-E3E5-F4F7-C6BC-C269BF8F85F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54000" y="954532"/>
            <a:ext cx="5270500" cy="4437888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6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Microsoft Yahei" panose="020B0503020204020204" pitchFamily="34" charset="-122"/>
              </a:rPr>
              <a:t>编写程序，完成单片机与</a:t>
            </a:r>
            <a:r>
              <a:rPr lang="en-US" altLang="zh-CN" sz="26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Microsoft Yahei" panose="020B0503020204020204" pitchFamily="34" charset="-122"/>
              </a:rPr>
              <a:t>PC</a:t>
            </a:r>
            <a:r>
              <a:rPr lang="zh-CN" altLang="en-US" sz="26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Microsoft Yahei" panose="020B0503020204020204" pitchFamily="34" charset="-122"/>
              </a:rPr>
              <a:t>之间的通信，要求单片机收到</a:t>
            </a:r>
            <a:r>
              <a:rPr lang="en-US" altLang="zh-CN" sz="26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Microsoft Yahei" panose="020B0503020204020204" pitchFamily="34" charset="-122"/>
              </a:rPr>
              <a:t>PC</a:t>
            </a:r>
            <a:r>
              <a:rPr lang="zh-CN" altLang="en-US" sz="26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Microsoft Yahei" panose="020B0503020204020204" pitchFamily="34" charset="-122"/>
              </a:rPr>
              <a:t>发送的数据时进行判别。如果是字符“</a:t>
            </a:r>
            <a:r>
              <a:rPr lang="en-US" altLang="zh-CN" sz="26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Microsoft Yahei" panose="020B0503020204020204" pitchFamily="34" charset="-122"/>
              </a:rPr>
              <a:t>#</a:t>
            </a:r>
            <a:r>
              <a:rPr lang="zh-CN" altLang="en-US" sz="26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Microsoft Yahei" panose="020B0503020204020204" pitchFamily="34" charset="-122"/>
              </a:rPr>
              <a:t>”则回送字符串“</a:t>
            </a:r>
            <a:r>
              <a:rPr lang="en-US" altLang="zh-CN" sz="26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Microsoft Yahei" panose="020B0503020204020204" pitchFamily="34" charset="-122"/>
              </a:rPr>
              <a:t>OK</a:t>
            </a:r>
            <a:r>
              <a:rPr lang="zh-CN" altLang="en-US" sz="26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Microsoft Yahei" panose="020B0503020204020204" pitchFamily="34" charset="-122"/>
              </a:rPr>
              <a:t>”；如果是其他字符则回送字符“</a:t>
            </a:r>
            <a:r>
              <a:rPr lang="en-US" altLang="zh-CN" sz="26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Microsoft Yahei" panose="020B0503020204020204" pitchFamily="34" charset="-122"/>
              </a:rPr>
              <a:t>*</a:t>
            </a:r>
            <a:r>
              <a:rPr lang="zh-CN" altLang="en-US" sz="26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Microsoft Yahei" panose="020B0503020204020204" pitchFamily="34" charset="-122"/>
              </a:rPr>
              <a:t>”。通信速率为</a:t>
            </a:r>
            <a:r>
              <a:rPr lang="en-US" altLang="zh-CN" sz="26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Microsoft Yahei" panose="020B0503020204020204" pitchFamily="34" charset="-122"/>
              </a:rPr>
              <a:t>4800bps</a:t>
            </a:r>
            <a:r>
              <a:rPr lang="zh-CN" altLang="en-US" sz="26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Microsoft Yahei" panose="020B0503020204020204" pitchFamily="34" charset="-122"/>
              </a:rPr>
              <a:t>，单片机外接晶振频率为</a:t>
            </a:r>
            <a:r>
              <a:rPr lang="en-US" altLang="zh-CN" sz="26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Microsoft Yahei" panose="020B0503020204020204" pitchFamily="34" charset="-122"/>
              </a:rPr>
              <a:t>22.1184MHz</a:t>
            </a:r>
            <a:r>
              <a:rPr lang="zh-CN" altLang="en-US" sz="26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Microsoft Yahei" panose="020B0503020204020204" pitchFamily="34" charset="-122"/>
              </a:rPr>
              <a:t>。</a:t>
            </a:r>
            <a:endParaRPr lang="en-US" altLang="zh-CN" sz="2600" b="1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sym typeface="Microsoft Yahei" panose="020B0503020204020204" pitchFamily="34" charset="-122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5A1E5F97-2FD3-47BE-0F00-F9EFB778EFEB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5" name="TitleBackground">
              <a:extLst>
                <a:ext uri="{FF2B5EF4-FFF2-40B4-BE49-F238E27FC236}">
                  <a16:creationId xmlns:a16="http://schemas.microsoft.com/office/drawing/2014/main" id="{1EC75BBC-5572-C6E4-AFF6-425C54ABCCB3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>
              <a:extLst>
                <a:ext uri="{FF2B5EF4-FFF2-40B4-BE49-F238E27FC236}">
                  <a16:creationId xmlns:a16="http://schemas.microsoft.com/office/drawing/2014/main" id="{8214C64A-B261-7344-49A7-111480C00579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>
              <a:extLst>
                <a:ext uri="{FF2B5EF4-FFF2-40B4-BE49-F238E27FC236}">
                  <a16:creationId xmlns:a16="http://schemas.microsoft.com/office/drawing/2014/main" id="{C1525978-8AA6-9208-79E2-FC0910E21C6C}"/>
                </a:ext>
              </a:extLst>
            </p:cNvPr>
            <p:cNvSpPr txBox="1"/>
            <p:nvPr>
              <p:custDataLst>
                <p:tags r:id="rId7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8" name="TipText">
              <a:extLst>
                <a:ext uri="{FF2B5EF4-FFF2-40B4-BE49-F238E27FC236}">
                  <a16:creationId xmlns:a16="http://schemas.microsoft.com/office/drawing/2014/main" id="{12FA1DB7-1BBA-6CBF-A433-81670353638B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87163EEF-3A3D-7460-EF2A-ADB54076DE16}"/>
              </a:ext>
            </a:extLst>
          </p:cNvPr>
          <p:cNvPicPr>
            <a:picLocks/>
          </p:cNvPicPr>
          <p:nvPr>
            <p:custDataLst>
              <p:tags r:id="rId4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8358160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APER" val="PaperTitl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APER" val="PaperScor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2.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2.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2.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2.0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2.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</TotalTime>
  <Words>333</Words>
  <Application>Microsoft Office PowerPoint</Application>
  <PresentationFormat>全屏显示(16:10)</PresentationFormat>
  <Paragraphs>61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3" baseType="lpstr">
      <vt:lpstr>等线</vt:lpstr>
      <vt:lpstr>等线 Light</vt:lpstr>
      <vt:lpstr>楷体</vt:lpstr>
      <vt:lpstr>Microsoft Yahei</vt:lpstr>
      <vt:lpstr>Arial</vt:lpstr>
      <vt:lpstr>Office 主题​​</vt:lpstr>
      <vt:lpstr>作业7 串行通信相关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作业2 MCS51单片机内存单元作业</dc:title>
  <dc:creator>Zhaojian</dc:creator>
  <cp:lastModifiedBy>Zhaojian</cp:lastModifiedBy>
  <cp:revision>34</cp:revision>
  <dcterms:created xsi:type="dcterms:W3CDTF">2023-03-07T08:43:27Z</dcterms:created>
  <dcterms:modified xsi:type="dcterms:W3CDTF">2023-04-26T13:51:09Z</dcterms:modified>
</cp:coreProperties>
</file>