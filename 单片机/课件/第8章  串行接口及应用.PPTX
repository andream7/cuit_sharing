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46"/>
  </p:notesMasterIdLst>
  <p:sldIdLst>
    <p:sldId id="936" r:id="rId4"/>
    <p:sldId id="1007" r:id="rId5"/>
    <p:sldId id="1008" r:id="rId6"/>
    <p:sldId id="1003" r:id="rId7"/>
    <p:sldId id="1005" r:id="rId8"/>
    <p:sldId id="1006" r:id="rId9"/>
    <p:sldId id="1004" r:id="rId10"/>
    <p:sldId id="960" r:id="rId11"/>
    <p:sldId id="961" r:id="rId12"/>
    <p:sldId id="962" r:id="rId13"/>
    <p:sldId id="1009" r:id="rId14"/>
    <p:sldId id="963" r:id="rId15"/>
    <p:sldId id="964" r:id="rId16"/>
    <p:sldId id="965" r:id="rId17"/>
    <p:sldId id="966" r:id="rId18"/>
    <p:sldId id="967" r:id="rId19"/>
    <p:sldId id="968" r:id="rId20"/>
    <p:sldId id="969" r:id="rId21"/>
    <p:sldId id="970" r:id="rId22"/>
    <p:sldId id="971" r:id="rId23"/>
    <p:sldId id="972" r:id="rId24"/>
    <p:sldId id="975" r:id="rId25"/>
    <p:sldId id="976" r:id="rId26"/>
    <p:sldId id="973" r:id="rId27"/>
    <p:sldId id="977" r:id="rId28"/>
    <p:sldId id="978" r:id="rId29"/>
    <p:sldId id="979" r:id="rId30"/>
    <p:sldId id="980" r:id="rId31"/>
    <p:sldId id="981" r:id="rId32"/>
    <p:sldId id="982" r:id="rId33"/>
    <p:sldId id="985" r:id="rId34"/>
    <p:sldId id="986" r:id="rId35"/>
    <p:sldId id="988" r:id="rId36"/>
    <p:sldId id="987" r:id="rId37"/>
    <p:sldId id="983" r:id="rId38"/>
    <p:sldId id="989" r:id="rId39"/>
    <p:sldId id="990" r:id="rId40"/>
    <p:sldId id="991" r:id="rId41"/>
    <p:sldId id="992" r:id="rId42"/>
    <p:sldId id="984" r:id="rId43"/>
    <p:sldId id="993" r:id="rId44"/>
    <p:sldId id="946" r:id="rId45"/>
  </p:sldIdLst>
  <p:sldSz cx="9144000" cy="6858000" type="screen4x3"/>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478F"/>
    <a:srgbClr val="CC0000"/>
    <a:srgbClr val="0000FF"/>
    <a:srgbClr val="006600"/>
    <a:srgbClr val="FF00FF"/>
    <a:srgbClr val="DF5131"/>
    <a:srgbClr val="FF6600"/>
    <a:srgbClr val="00CC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12" autoAdjust="0"/>
  </p:normalViewPr>
  <p:slideViewPr>
    <p:cSldViewPr snapToGrid="0">
      <p:cViewPr varScale="1">
        <p:scale>
          <a:sx n="53" d="100"/>
          <a:sy n="53" d="100"/>
        </p:scale>
        <p:origin x="1588" y="48"/>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4" d="100"/>
          <a:sy n="84" d="100"/>
        </p:scale>
        <p:origin x="391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8A2B54-6606-476A-9C22-384023786D94}" type="datetimeFigureOut">
              <a:rPr lang="zh-CN" altLang="en-US" smtClean="0"/>
              <a:t>2023/4/25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721462-D095-4E59-A8AC-4FBA96965AB6}" type="slidenum">
              <a:rPr lang="zh-CN" altLang="en-US" smtClean="0"/>
              <a:t>‹#›</a:t>
            </a:fld>
            <a:endParaRPr lang="zh-CN" altLang="en-US"/>
          </a:p>
        </p:txBody>
      </p:sp>
    </p:spTree>
    <p:extLst>
      <p:ext uri="{BB962C8B-B14F-4D97-AF65-F5344CB8AC3E}">
        <p14:creationId xmlns:p14="http://schemas.microsoft.com/office/powerpoint/2010/main" val="361535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721462-D095-4E59-A8AC-4FBA96965AB6}" type="slidenum">
              <a:rPr lang="zh-CN" altLang="en-US" smtClean="0"/>
              <a:t>1</a:t>
            </a:fld>
            <a:endParaRPr lang="zh-CN" altLang="en-US"/>
          </a:p>
        </p:txBody>
      </p:sp>
    </p:spTree>
    <p:extLst>
      <p:ext uri="{BB962C8B-B14F-4D97-AF65-F5344CB8AC3E}">
        <p14:creationId xmlns:p14="http://schemas.microsoft.com/office/powerpoint/2010/main" val="254918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a:t>
            </a:fld>
            <a:endParaRPr lang="zh-CN" altLang="en-US"/>
          </a:p>
        </p:txBody>
      </p:sp>
    </p:spTree>
    <p:extLst>
      <p:ext uri="{BB962C8B-B14F-4D97-AF65-F5344CB8AC3E}">
        <p14:creationId xmlns:p14="http://schemas.microsoft.com/office/powerpoint/2010/main" val="1731872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4</a:t>
            </a:fld>
            <a:endParaRPr lang="zh-CN" altLang="en-US"/>
          </a:p>
        </p:txBody>
      </p:sp>
    </p:spTree>
    <p:extLst>
      <p:ext uri="{BB962C8B-B14F-4D97-AF65-F5344CB8AC3E}">
        <p14:creationId xmlns:p14="http://schemas.microsoft.com/office/powerpoint/2010/main" val="1293366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6</a:t>
            </a:fld>
            <a:endParaRPr lang="zh-CN" altLang="en-US"/>
          </a:p>
        </p:txBody>
      </p:sp>
    </p:spTree>
    <p:extLst>
      <p:ext uri="{BB962C8B-B14F-4D97-AF65-F5344CB8AC3E}">
        <p14:creationId xmlns:p14="http://schemas.microsoft.com/office/powerpoint/2010/main" val="2339824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8</a:t>
            </a:fld>
            <a:endParaRPr lang="zh-CN" altLang="en-US"/>
          </a:p>
        </p:txBody>
      </p:sp>
    </p:spTree>
    <p:extLst>
      <p:ext uri="{BB962C8B-B14F-4D97-AF65-F5344CB8AC3E}">
        <p14:creationId xmlns:p14="http://schemas.microsoft.com/office/powerpoint/2010/main" val="4225428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9</a:t>
            </a:fld>
            <a:endParaRPr lang="zh-CN" altLang="en-US"/>
          </a:p>
        </p:txBody>
      </p:sp>
    </p:spTree>
    <p:extLst>
      <p:ext uri="{BB962C8B-B14F-4D97-AF65-F5344CB8AC3E}">
        <p14:creationId xmlns:p14="http://schemas.microsoft.com/office/powerpoint/2010/main" val="2088721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10</a:t>
            </a:fld>
            <a:endParaRPr lang="zh-CN" altLang="en-US"/>
          </a:p>
        </p:txBody>
      </p:sp>
    </p:spTree>
    <p:extLst>
      <p:ext uri="{BB962C8B-B14F-4D97-AF65-F5344CB8AC3E}">
        <p14:creationId xmlns:p14="http://schemas.microsoft.com/office/powerpoint/2010/main" val="3815192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721462-D095-4E59-A8AC-4FBA96965AB6}" type="slidenum">
              <a:rPr lang="zh-CN" altLang="en-US" smtClean="0"/>
              <a:t>11</a:t>
            </a:fld>
            <a:endParaRPr lang="zh-CN" altLang="en-US"/>
          </a:p>
        </p:txBody>
      </p:sp>
    </p:spTree>
    <p:extLst>
      <p:ext uri="{BB962C8B-B14F-4D97-AF65-F5344CB8AC3E}">
        <p14:creationId xmlns:p14="http://schemas.microsoft.com/office/powerpoint/2010/main" val="2496654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12</a:t>
            </a:fld>
            <a:endParaRPr lang="zh-CN" altLang="en-US"/>
          </a:p>
        </p:txBody>
      </p:sp>
    </p:spTree>
    <p:extLst>
      <p:ext uri="{BB962C8B-B14F-4D97-AF65-F5344CB8AC3E}">
        <p14:creationId xmlns:p14="http://schemas.microsoft.com/office/powerpoint/2010/main" val="2995840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13</a:t>
            </a:fld>
            <a:endParaRPr lang="zh-CN" altLang="en-US"/>
          </a:p>
        </p:txBody>
      </p:sp>
    </p:spTree>
    <p:extLst>
      <p:ext uri="{BB962C8B-B14F-4D97-AF65-F5344CB8AC3E}">
        <p14:creationId xmlns:p14="http://schemas.microsoft.com/office/powerpoint/2010/main" val="3573963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14</a:t>
            </a:fld>
            <a:endParaRPr lang="zh-CN" altLang="en-US"/>
          </a:p>
        </p:txBody>
      </p:sp>
    </p:spTree>
    <p:extLst>
      <p:ext uri="{BB962C8B-B14F-4D97-AF65-F5344CB8AC3E}">
        <p14:creationId xmlns:p14="http://schemas.microsoft.com/office/powerpoint/2010/main" val="151376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15</a:t>
            </a:fld>
            <a:endParaRPr lang="zh-CN" altLang="en-US"/>
          </a:p>
        </p:txBody>
      </p:sp>
    </p:spTree>
    <p:extLst>
      <p:ext uri="{BB962C8B-B14F-4D97-AF65-F5344CB8AC3E}">
        <p14:creationId xmlns:p14="http://schemas.microsoft.com/office/powerpoint/2010/main" val="1574674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16</a:t>
            </a:fld>
            <a:endParaRPr lang="zh-CN" altLang="en-US"/>
          </a:p>
        </p:txBody>
      </p:sp>
    </p:spTree>
    <p:extLst>
      <p:ext uri="{BB962C8B-B14F-4D97-AF65-F5344CB8AC3E}">
        <p14:creationId xmlns:p14="http://schemas.microsoft.com/office/powerpoint/2010/main" val="2060799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17</a:t>
            </a:fld>
            <a:endParaRPr lang="zh-CN" altLang="en-US"/>
          </a:p>
        </p:txBody>
      </p:sp>
    </p:spTree>
    <p:extLst>
      <p:ext uri="{BB962C8B-B14F-4D97-AF65-F5344CB8AC3E}">
        <p14:creationId xmlns:p14="http://schemas.microsoft.com/office/powerpoint/2010/main" val="2480985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18</a:t>
            </a:fld>
            <a:endParaRPr lang="zh-CN" altLang="en-US"/>
          </a:p>
        </p:txBody>
      </p:sp>
    </p:spTree>
    <p:extLst>
      <p:ext uri="{BB962C8B-B14F-4D97-AF65-F5344CB8AC3E}">
        <p14:creationId xmlns:p14="http://schemas.microsoft.com/office/powerpoint/2010/main" val="3630560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19</a:t>
            </a:fld>
            <a:endParaRPr lang="zh-CN" altLang="en-US"/>
          </a:p>
        </p:txBody>
      </p:sp>
    </p:spTree>
    <p:extLst>
      <p:ext uri="{BB962C8B-B14F-4D97-AF65-F5344CB8AC3E}">
        <p14:creationId xmlns:p14="http://schemas.microsoft.com/office/powerpoint/2010/main" val="3721011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20</a:t>
            </a:fld>
            <a:endParaRPr lang="zh-CN" altLang="en-US"/>
          </a:p>
        </p:txBody>
      </p:sp>
    </p:spTree>
    <p:extLst>
      <p:ext uri="{BB962C8B-B14F-4D97-AF65-F5344CB8AC3E}">
        <p14:creationId xmlns:p14="http://schemas.microsoft.com/office/powerpoint/2010/main" val="1475663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21</a:t>
            </a:fld>
            <a:endParaRPr lang="zh-CN" altLang="en-US"/>
          </a:p>
        </p:txBody>
      </p:sp>
    </p:spTree>
    <p:extLst>
      <p:ext uri="{BB962C8B-B14F-4D97-AF65-F5344CB8AC3E}">
        <p14:creationId xmlns:p14="http://schemas.microsoft.com/office/powerpoint/2010/main" val="450365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22</a:t>
            </a:fld>
            <a:endParaRPr lang="zh-CN" altLang="en-US"/>
          </a:p>
        </p:txBody>
      </p:sp>
    </p:spTree>
    <p:extLst>
      <p:ext uri="{BB962C8B-B14F-4D97-AF65-F5344CB8AC3E}">
        <p14:creationId xmlns:p14="http://schemas.microsoft.com/office/powerpoint/2010/main" val="1153231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23</a:t>
            </a:fld>
            <a:endParaRPr lang="zh-CN" altLang="en-US"/>
          </a:p>
        </p:txBody>
      </p:sp>
    </p:spTree>
    <p:extLst>
      <p:ext uri="{BB962C8B-B14F-4D97-AF65-F5344CB8AC3E}">
        <p14:creationId xmlns:p14="http://schemas.microsoft.com/office/powerpoint/2010/main" val="2047870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24</a:t>
            </a:fld>
            <a:endParaRPr lang="zh-CN" altLang="en-US"/>
          </a:p>
        </p:txBody>
      </p:sp>
    </p:spTree>
    <p:extLst>
      <p:ext uri="{BB962C8B-B14F-4D97-AF65-F5344CB8AC3E}">
        <p14:creationId xmlns:p14="http://schemas.microsoft.com/office/powerpoint/2010/main" val="314496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25</a:t>
            </a:fld>
            <a:endParaRPr lang="zh-CN" altLang="en-US"/>
          </a:p>
        </p:txBody>
      </p:sp>
    </p:spTree>
    <p:extLst>
      <p:ext uri="{BB962C8B-B14F-4D97-AF65-F5344CB8AC3E}">
        <p14:creationId xmlns:p14="http://schemas.microsoft.com/office/powerpoint/2010/main" val="3328897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26</a:t>
            </a:fld>
            <a:endParaRPr lang="zh-CN" altLang="en-US"/>
          </a:p>
        </p:txBody>
      </p:sp>
    </p:spTree>
    <p:extLst>
      <p:ext uri="{BB962C8B-B14F-4D97-AF65-F5344CB8AC3E}">
        <p14:creationId xmlns:p14="http://schemas.microsoft.com/office/powerpoint/2010/main" val="2760609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27</a:t>
            </a:fld>
            <a:endParaRPr lang="zh-CN" altLang="en-US"/>
          </a:p>
        </p:txBody>
      </p:sp>
    </p:spTree>
    <p:extLst>
      <p:ext uri="{BB962C8B-B14F-4D97-AF65-F5344CB8AC3E}">
        <p14:creationId xmlns:p14="http://schemas.microsoft.com/office/powerpoint/2010/main" val="3575971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28</a:t>
            </a:fld>
            <a:endParaRPr lang="zh-CN" altLang="en-US"/>
          </a:p>
        </p:txBody>
      </p:sp>
    </p:spTree>
    <p:extLst>
      <p:ext uri="{BB962C8B-B14F-4D97-AF65-F5344CB8AC3E}">
        <p14:creationId xmlns:p14="http://schemas.microsoft.com/office/powerpoint/2010/main" val="44308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29</a:t>
            </a:fld>
            <a:endParaRPr lang="zh-CN" altLang="en-US"/>
          </a:p>
        </p:txBody>
      </p:sp>
    </p:spTree>
    <p:extLst>
      <p:ext uri="{BB962C8B-B14F-4D97-AF65-F5344CB8AC3E}">
        <p14:creationId xmlns:p14="http://schemas.microsoft.com/office/powerpoint/2010/main" val="42766647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30</a:t>
            </a:fld>
            <a:endParaRPr lang="zh-CN" altLang="en-US"/>
          </a:p>
        </p:txBody>
      </p:sp>
    </p:spTree>
    <p:extLst>
      <p:ext uri="{BB962C8B-B14F-4D97-AF65-F5344CB8AC3E}">
        <p14:creationId xmlns:p14="http://schemas.microsoft.com/office/powerpoint/2010/main" val="2602519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31</a:t>
            </a:fld>
            <a:endParaRPr lang="zh-CN" altLang="en-US"/>
          </a:p>
        </p:txBody>
      </p:sp>
    </p:spTree>
    <p:extLst>
      <p:ext uri="{BB962C8B-B14F-4D97-AF65-F5344CB8AC3E}">
        <p14:creationId xmlns:p14="http://schemas.microsoft.com/office/powerpoint/2010/main" val="3802579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32</a:t>
            </a:fld>
            <a:endParaRPr lang="zh-CN" altLang="en-US"/>
          </a:p>
        </p:txBody>
      </p:sp>
    </p:spTree>
    <p:extLst>
      <p:ext uri="{BB962C8B-B14F-4D97-AF65-F5344CB8AC3E}">
        <p14:creationId xmlns:p14="http://schemas.microsoft.com/office/powerpoint/2010/main" val="3069484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33</a:t>
            </a:fld>
            <a:endParaRPr lang="zh-CN" altLang="en-US"/>
          </a:p>
        </p:txBody>
      </p:sp>
    </p:spTree>
    <p:extLst>
      <p:ext uri="{BB962C8B-B14F-4D97-AF65-F5344CB8AC3E}">
        <p14:creationId xmlns:p14="http://schemas.microsoft.com/office/powerpoint/2010/main" val="17809015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34</a:t>
            </a:fld>
            <a:endParaRPr lang="zh-CN" altLang="en-US"/>
          </a:p>
        </p:txBody>
      </p:sp>
    </p:spTree>
    <p:extLst>
      <p:ext uri="{BB962C8B-B14F-4D97-AF65-F5344CB8AC3E}">
        <p14:creationId xmlns:p14="http://schemas.microsoft.com/office/powerpoint/2010/main" val="1431469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35</a:t>
            </a:fld>
            <a:endParaRPr lang="zh-CN" altLang="en-US"/>
          </a:p>
        </p:txBody>
      </p:sp>
    </p:spTree>
    <p:extLst>
      <p:ext uri="{BB962C8B-B14F-4D97-AF65-F5344CB8AC3E}">
        <p14:creationId xmlns:p14="http://schemas.microsoft.com/office/powerpoint/2010/main" val="5315272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36</a:t>
            </a:fld>
            <a:endParaRPr lang="zh-CN" altLang="en-US"/>
          </a:p>
        </p:txBody>
      </p:sp>
    </p:spTree>
    <p:extLst>
      <p:ext uri="{BB962C8B-B14F-4D97-AF65-F5344CB8AC3E}">
        <p14:creationId xmlns:p14="http://schemas.microsoft.com/office/powerpoint/2010/main" val="2905616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37</a:t>
            </a:fld>
            <a:endParaRPr lang="zh-CN" altLang="en-US"/>
          </a:p>
        </p:txBody>
      </p:sp>
    </p:spTree>
    <p:extLst>
      <p:ext uri="{BB962C8B-B14F-4D97-AF65-F5344CB8AC3E}">
        <p14:creationId xmlns:p14="http://schemas.microsoft.com/office/powerpoint/2010/main" val="3875636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38</a:t>
            </a:fld>
            <a:endParaRPr lang="zh-CN" altLang="en-US"/>
          </a:p>
        </p:txBody>
      </p:sp>
    </p:spTree>
    <p:extLst>
      <p:ext uri="{BB962C8B-B14F-4D97-AF65-F5344CB8AC3E}">
        <p14:creationId xmlns:p14="http://schemas.microsoft.com/office/powerpoint/2010/main" val="23848447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39</a:t>
            </a:fld>
            <a:endParaRPr lang="zh-CN" altLang="en-US"/>
          </a:p>
        </p:txBody>
      </p:sp>
    </p:spTree>
    <p:extLst>
      <p:ext uri="{BB962C8B-B14F-4D97-AF65-F5344CB8AC3E}">
        <p14:creationId xmlns:p14="http://schemas.microsoft.com/office/powerpoint/2010/main" val="14849178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40</a:t>
            </a:fld>
            <a:endParaRPr lang="zh-CN" altLang="en-US"/>
          </a:p>
        </p:txBody>
      </p:sp>
    </p:spTree>
    <p:extLst>
      <p:ext uri="{BB962C8B-B14F-4D97-AF65-F5344CB8AC3E}">
        <p14:creationId xmlns:p14="http://schemas.microsoft.com/office/powerpoint/2010/main" val="41783592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41</a:t>
            </a:fld>
            <a:endParaRPr lang="zh-CN" altLang="en-US"/>
          </a:p>
        </p:txBody>
      </p:sp>
    </p:spTree>
    <p:extLst>
      <p:ext uri="{BB962C8B-B14F-4D97-AF65-F5344CB8AC3E}">
        <p14:creationId xmlns:p14="http://schemas.microsoft.com/office/powerpoint/2010/main" val="41965614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42</a:t>
            </a:fld>
            <a:endParaRPr lang="zh-CN" altLang="en-US"/>
          </a:p>
        </p:txBody>
      </p:sp>
    </p:spTree>
    <p:extLst>
      <p:ext uri="{BB962C8B-B14F-4D97-AF65-F5344CB8AC3E}">
        <p14:creationId xmlns:p14="http://schemas.microsoft.com/office/powerpoint/2010/main" val="1266400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40713108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344294143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72989222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8080089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6694331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74018651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376024807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9607506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258757270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224845777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41863945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13055426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83732964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360239548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421062270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81887125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380749802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3272617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21274411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74195449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08124740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426099304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282346935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121627751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a:prstGeom prst="rect">
            <a:avLst/>
          </a:prstGeo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242090141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10169209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629842" y="2505075"/>
            <a:ext cx="3868340"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29150" y="2505075"/>
            <a:ext cx="3887391"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8" name="页脚占位符 7"/>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13752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4" name="页脚占位符 3"/>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56086340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3" name="页脚占位符 2"/>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404059269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230799069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19741083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424322153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699B9EB2-0717-409A-B1C1-EC7F80FF8E51}" type="datetimeFigureOut">
              <a:rPr lang="zh-CN" altLang="en-US" smtClean="0"/>
              <a:t>2023/4/25</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362DDA3C-55E3-436C-8907-1B92F441DF6A}" type="slidenum">
              <a:rPr lang="zh-CN" altLang="en-US" smtClean="0"/>
              <a:t>‹#›</a:t>
            </a:fld>
            <a:endParaRPr lang="zh-CN" altLang="en-US"/>
          </a:p>
        </p:txBody>
      </p:sp>
    </p:spTree>
    <p:extLst>
      <p:ext uri="{BB962C8B-B14F-4D97-AF65-F5344CB8AC3E}">
        <p14:creationId xmlns:p14="http://schemas.microsoft.com/office/powerpoint/2010/main" val="8245187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AC7540C-0238-45C4-ABD0-A50CF6A0F0AF}" type="datetimeFigureOut">
              <a:rPr lang="zh-CN" altLang="en-US" smtClean="0"/>
              <a:t>2023/4/25</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8BCDEED-1B45-4D36-92C3-BD3BE56809F9}" type="slidenum">
              <a:rPr lang="zh-CN" altLang="en-US" smtClean="0"/>
              <a:t>‹#›</a:t>
            </a:fld>
            <a:endParaRPr lang="zh-CN" altLang="en-US"/>
          </a:p>
        </p:txBody>
      </p:sp>
      <p:sp>
        <p:nvSpPr>
          <p:cNvPr id="7" name="文本框 6">
            <a:extLst>
              <a:ext uri="{FF2B5EF4-FFF2-40B4-BE49-F238E27FC236}">
                <a16:creationId xmlns:a16="http://schemas.microsoft.com/office/drawing/2014/main" id="{CD0CC781-D982-4716-2402-755C53B77125}"/>
              </a:ext>
            </a:extLst>
          </p:cNvPr>
          <p:cNvSpPr txBox="1"/>
          <p:nvPr userDrawn="1"/>
        </p:nvSpPr>
        <p:spPr>
          <a:xfrm>
            <a:off x="7550269" y="60912"/>
            <a:ext cx="1593731" cy="276999"/>
          </a:xfrm>
          <a:prstGeom prst="rect">
            <a:avLst/>
          </a:prstGeom>
          <a:noFill/>
        </p:spPr>
        <p:txBody>
          <a:bodyPr wrap="square" rtlCol="0">
            <a:spAutoFit/>
          </a:bodyPr>
          <a:lstStyle/>
          <a:p>
            <a:r>
              <a:rPr lang="zh-CN" altLang="en-US" sz="1200" b="1" dirty="0">
                <a:latin typeface="楷体" panose="02010609060101010101" pitchFamily="49" charset="-122"/>
                <a:ea typeface="楷体" panose="02010609060101010101" pitchFamily="49" charset="-122"/>
              </a:rPr>
              <a:t>成于大气  信达天下</a:t>
            </a:r>
          </a:p>
        </p:txBody>
      </p:sp>
      <p:sp>
        <p:nvSpPr>
          <p:cNvPr id="8" name="文本框 7">
            <a:extLst>
              <a:ext uri="{FF2B5EF4-FFF2-40B4-BE49-F238E27FC236}">
                <a16:creationId xmlns:a16="http://schemas.microsoft.com/office/drawing/2014/main" id="{38886D6D-FBE1-82B4-23B9-A7C04CF684AB}"/>
              </a:ext>
            </a:extLst>
          </p:cNvPr>
          <p:cNvSpPr txBox="1"/>
          <p:nvPr userDrawn="1"/>
        </p:nvSpPr>
        <p:spPr>
          <a:xfrm>
            <a:off x="1" y="23813"/>
            <a:ext cx="2755061" cy="253916"/>
          </a:xfrm>
          <a:prstGeom prst="rect">
            <a:avLst/>
          </a:prstGeom>
          <a:noFill/>
        </p:spPr>
        <p:txBody>
          <a:bodyPr wrap="square" rtlCol="0">
            <a:spAutoFit/>
          </a:bodyPr>
          <a:lstStyle/>
          <a:p>
            <a:r>
              <a:rPr lang="en-US" altLang="zh-CN" sz="1050" dirty="0">
                <a:effectLst/>
                <a:latin typeface="times new roman" panose="02020603050405020304" pitchFamily="18" charset="0"/>
              </a:rPr>
              <a:t>Chengdu University of Information Technology</a:t>
            </a:r>
            <a:endParaRPr lang="zh-CN" altLang="en-US" sz="1050" dirty="0"/>
          </a:p>
        </p:txBody>
      </p:sp>
    </p:spTree>
    <p:extLst>
      <p:ext uri="{BB962C8B-B14F-4D97-AF65-F5344CB8AC3E}">
        <p14:creationId xmlns:p14="http://schemas.microsoft.com/office/powerpoint/2010/main" val="2375236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3B7F2D0-5C61-4ECD-8EF0-7DC153D82996}" type="datetimeFigureOut">
              <a:rPr lang="zh-CN" altLang="en-US" smtClean="0">
                <a:solidFill>
                  <a:prstClr val="black">
                    <a:tint val="75000"/>
                  </a:prstClr>
                </a:solidFill>
              </a:rPr>
              <a:t>2023/4/25</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C027CB-4B16-4B21-A276-8705E54D5316}" type="slidenum">
              <a:rPr lang="zh-CN" altLang="en-US" smtClean="0">
                <a:solidFill>
                  <a:prstClr val="black">
                    <a:tint val="75000"/>
                  </a:prstClr>
                </a:solidFill>
              </a:rPr>
              <a:t>‹#›</a:t>
            </a:fld>
            <a:endParaRPr lang="zh-CN" altLang="en-US">
              <a:solidFill>
                <a:prstClr val="black">
                  <a:tint val="75000"/>
                </a:prstClr>
              </a:solidFill>
            </a:endParaRPr>
          </a:p>
        </p:txBody>
      </p:sp>
      <p:sp>
        <p:nvSpPr>
          <p:cNvPr id="7" name="文本框 6">
            <a:extLst>
              <a:ext uri="{FF2B5EF4-FFF2-40B4-BE49-F238E27FC236}">
                <a16:creationId xmlns:a16="http://schemas.microsoft.com/office/drawing/2014/main" id="{D4CF89AD-4CF2-BBB4-F1C2-40850B6B0796}"/>
              </a:ext>
            </a:extLst>
          </p:cNvPr>
          <p:cNvSpPr txBox="1"/>
          <p:nvPr userDrawn="1"/>
        </p:nvSpPr>
        <p:spPr>
          <a:xfrm>
            <a:off x="7550269" y="17782"/>
            <a:ext cx="1593731" cy="276999"/>
          </a:xfrm>
          <a:prstGeom prst="rect">
            <a:avLst/>
          </a:prstGeom>
          <a:noFill/>
        </p:spPr>
        <p:txBody>
          <a:bodyPr wrap="square" rtlCol="0">
            <a:spAutoFit/>
          </a:bodyPr>
          <a:lstStyle/>
          <a:p>
            <a:r>
              <a:rPr lang="zh-CN" altLang="en-US" sz="1200" b="1" dirty="0">
                <a:latin typeface="楷体" panose="02010609060101010101" pitchFamily="49" charset="-122"/>
                <a:ea typeface="楷体" panose="02010609060101010101" pitchFamily="49" charset="-122"/>
              </a:rPr>
              <a:t>成于大气  信达天下</a:t>
            </a:r>
          </a:p>
        </p:txBody>
      </p:sp>
      <p:sp>
        <p:nvSpPr>
          <p:cNvPr id="8" name="文本框 7">
            <a:extLst>
              <a:ext uri="{FF2B5EF4-FFF2-40B4-BE49-F238E27FC236}">
                <a16:creationId xmlns:a16="http://schemas.microsoft.com/office/drawing/2014/main" id="{DF2B6D77-CBE0-FF39-16FC-A66CEB358789}"/>
              </a:ext>
            </a:extLst>
          </p:cNvPr>
          <p:cNvSpPr txBox="1"/>
          <p:nvPr userDrawn="1"/>
        </p:nvSpPr>
        <p:spPr>
          <a:xfrm>
            <a:off x="1" y="41065"/>
            <a:ext cx="2755061" cy="253916"/>
          </a:xfrm>
          <a:prstGeom prst="rect">
            <a:avLst/>
          </a:prstGeom>
          <a:noFill/>
        </p:spPr>
        <p:txBody>
          <a:bodyPr wrap="square" rtlCol="0">
            <a:spAutoFit/>
          </a:bodyPr>
          <a:lstStyle/>
          <a:p>
            <a:r>
              <a:rPr lang="en-US" altLang="zh-CN" sz="1050" dirty="0">
                <a:effectLst/>
                <a:latin typeface="times new roman" panose="02020603050405020304" pitchFamily="18" charset="0"/>
              </a:rPr>
              <a:t>Chengdu University of Information Technology</a:t>
            </a:r>
            <a:endParaRPr lang="zh-CN" altLang="en-US" sz="1050" dirty="0"/>
          </a:p>
        </p:txBody>
      </p:sp>
      <p:cxnSp>
        <p:nvCxnSpPr>
          <p:cNvPr id="10" name="直接连接符 9">
            <a:extLst>
              <a:ext uri="{FF2B5EF4-FFF2-40B4-BE49-F238E27FC236}">
                <a16:creationId xmlns:a16="http://schemas.microsoft.com/office/drawing/2014/main" id="{D9571E3D-7CCE-7E49-F967-2B18B407D92C}"/>
              </a:ext>
            </a:extLst>
          </p:cNvPr>
          <p:cNvCxnSpPr/>
          <p:nvPr userDrawn="1"/>
        </p:nvCxnSpPr>
        <p:spPr>
          <a:xfrm>
            <a:off x="0" y="365125"/>
            <a:ext cx="9144000" cy="0"/>
          </a:xfrm>
          <a:prstGeom prst="line">
            <a:avLst/>
          </a:prstGeom>
          <a:ln w="28575"/>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377250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1431894" y="2652141"/>
            <a:ext cx="5554980" cy="196208"/>
          </a:xfrm>
          <a:prstGeom prst="rect">
            <a:avLst/>
          </a:prstGeom>
          <a:noFill/>
        </p:spPr>
        <p:txBody>
          <a:bodyPr wrap="square" rtlCol="0">
            <a:spAutoFit/>
          </a:bodyPr>
          <a:lstStyle/>
          <a:p>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雷锋</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PPT</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网</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-WWW.LFPPT.COM</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免费</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PPT</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模板下载，精品</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PPT</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模板，雷锋</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PPT</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网</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-WWW.LFPPT.COM</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每天更新</a:t>
            </a:r>
            <a:r>
              <a:rPr lang="en-US" altLang="zh-CN"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PPT</a:t>
            </a:r>
            <a:r>
              <a:rPr lang="zh-CN" altLang="en-US" sz="675">
                <a:noFill/>
                <a:effectLst>
                  <a:outerShdw sx="1000" sy="1000" algn="ctr" rotWithShape="0">
                    <a:schemeClr val="tx1"/>
                  </a:outerShdw>
                </a:effectLst>
                <a:latin typeface="微软雅黑" panose="020B0503020204020204" pitchFamily="34" charset="-122"/>
                <a:ea typeface="微软雅黑" panose="020B0503020204020204" pitchFamily="34" charset="-122"/>
                <a:sym typeface="+mn-ea"/>
              </a:rPr>
              <a:t>模板</a:t>
            </a:r>
          </a:p>
        </p:txBody>
      </p:sp>
      <p:sp>
        <p:nvSpPr>
          <p:cNvPr id="2" name="文本框 1">
            <a:extLst>
              <a:ext uri="{FF2B5EF4-FFF2-40B4-BE49-F238E27FC236}">
                <a16:creationId xmlns:a16="http://schemas.microsoft.com/office/drawing/2014/main" id="{7129378D-C4D0-91B0-ED0C-2DAA128B8AA9}"/>
              </a:ext>
            </a:extLst>
          </p:cNvPr>
          <p:cNvSpPr txBox="1"/>
          <p:nvPr userDrawn="1"/>
        </p:nvSpPr>
        <p:spPr>
          <a:xfrm>
            <a:off x="7550269" y="60912"/>
            <a:ext cx="1593731" cy="276999"/>
          </a:xfrm>
          <a:prstGeom prst="rect">
            <a:avLst/>
          </a:prstGeom>
          <a:noFill/>
        </p:spPr>
        <p:txBody>
          <a:bodyPr wrap="square" rtlCol="0">
            <a:spAutoFit/>
          </a:bodyPr>
          <a:lstStyle/>
          <a:p>
            <a:r>
              <a:rPr lang="zh-CN" altLang="en-US" sz="1200" b="1" dirty="0">
                <a:latin typeface="楷体" panose="02010609060101010101" pitchFamily="49" charset="-122"/>
                <a:ea typeface="楷体" panose="02010609060101010101" pitchFamily="49" charset="-122"/>
              </a:rPr>
              <a:t>成于大气  信达天下</a:t>
            </a:r>
          </a:p>
        </p:txBody>
      </p:sp>
      <p:sp>
        <p:nvSpPr>
          <p:cNvPr id="3" name="文本框 2">
            <a:extLst>
              <a:ext uri="{FF2B5EF4-FFF2-40B4-BE49-F238E27FC236}">
                <a16:creationId xmlns:a16="http://schemas.microsoft.com/office/drawing/2014/main" id="{109C82B8-AC7A-477B-EE17-4E0304F326FC}"/>
              </a:ext>
            </a:extLst>
          </p:cNvPr>
          <p:cNvSpPr txBox="1"/>
          <p:nvPr userDrawn="1"/>
        </p:nvSpPr>
        <p:spPr>
          <a:xfrm>
            <a:off x="1" y="23813"/>
            <a:ext cx="2755061" cy="253916"/>
          </a:xfrm>
          <a:prstGeom prst="rect">
            <a:avLst/>
          </a:prstGeom>
          <a:noFill/>
        </p:spPr>
        <p:txBody>
          <a:bodyPr wrap="square" rtlCol="0">
            <a:spAutoFit/>
          </a:bodyPr>
          <a:lstStyle/>
          <a:p>
            <a:r>
              <a:rPr lang="en-US" altLang="zh-CN" sz="1050" dirty="0">
                <a:effectLst/>
                <a:latin typeface="times new roman" panose="02020603050405020304" pitchFamily="18" charset="0"/>
              </a:rPr>
              <a:t>Chengdu University of Information Technology</a:t>
            </a:r>
            <a:endParaRPr lang="zh-CN" altLang="en-US" sz="1050" dirty="0"/>
          </a:p>
        </p:txBody>
      </p:sp>
    </p:spTree>
    <p:extLst>
      <p:ext uri="{BB962C8B-B14F-4D97-AF65-F5344CB8AC3E}">
        <p14:creationId xmlns:p14="http://schemas.microsoft.com/office/powerpoint/2010/main" val="24487096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1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0.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2.emf"/><Relationship Id="rId5" Type="http://schemas.openxmlformats.org/officeDocument/2006/relationships/oleObject" Target="../embeddings/oleObject9.bin"/><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5.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6.emf"/></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28.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PA_矩形 37"/>
          <p:cNvSpPr/>
          <p:nvPr>
            <p:custDataLst>
              <p:tags r:id="rId1"/>
            </p:custDataLst>
          </p:nvPr>
        </p:nvSpPr>
        <p:spPr>
          <a:xfrm rot="2700000">
            <a:off x="1411478" y="2949848"/>
            <a:ext cx="1116956" cy="1116958"/>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9" name="PA_矩形 38"/>
          <p:cNvSpPr/>
          <p:nvPr>
            <p:custDataLst>
              <p:tags r:id="rId2"/>
            </p:custDataLst>
          </p:nvPr>
        </p:nvSpPr>
        <p:spPr>
          <a:xfrm rot="2700000">
            <a:off x="699675" y="3079665"/>
            <a:ext cx="857320" cy="857321"/>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2" name="PA_矩形 41"/>
          <p:cNvSpPr/>
          <p:nvPr>
            <p:custDataLst>
              <p:tags r:id="rId3"/>
            </p:custDataLst>
          </p:nvPr>
        </p:nvSpPr>
        <p:spPr>
          <a:xfrm rot="13500000">
            <a:off x="6622996" y="2949848"/>
            <a:ext cx="1116956" cy="1116958"/>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3" name="PA_矩形 42"/>
          <p:cNvSpPr/>
          <p:nvPr>
            <p:custDataLst>
              <p:tags r:id="rId4"/>
            </p:custDataLst>
          </p:nvPr>
        </p:nvSpPr>
        <p:spPr>
          <a:xfrm rot="13500000">
            <a:off x="7594436" y="3079667"/>
            <a:ext cx="857320" cy="857321"/>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 name="PA_圆角矩形 3"/>
          <p:cNvSpPr/>
          <p:nvPr>
            <p:custDataLst>
              <p:tags r:id="rId5"/>
            </p:custDataLst>
          </p:nvPr>
        </p:nvSpPr>
        <p:spPr>
          <a:xfrm rot="2700000">
            <a:off x="3225112" y="2162033"/>
            <a:ext cx="2692583" cy="2692583"/>
          </a:xfrm>
          <a:prstGeom prst="roundRect">
            <a:avLst/>
          </a:prstGeom>
          <a:gradFill>
            <a:gsLst>
              <a:gs pos="0">
                <a:srgbClr val="FFFFFF"/>
              </a:gs>
              <a:gs pos="100000">
                <a:schemeClr val="bg1">
                  <a:lumMod val="95000"/>
                </a:schemeClr>
              </a:gs>
            </a:gsLst>
            <a:lin ang="15000000" scaled="0"/>
            <a:tileRect/>
          </a:gradFill>
          <a:ln w="25400">
            <a:gradFill>
              <a:gsLst>
                <a:gs pos="0">
                  <a:schemeClr val="bg1"/>
                </a:gs>
                <a:gs pos="100000">
                  <a:schemeClr val="bg1">
                    <a:lumMod val="95000"/>
                  </a:schemeClr>
                </a:gs>
              </a:gsLst>
              <a:lin ang="5400000" scaled="1"/>
              <a:tileRect/>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5" name="LFPPT网 www.Lfppt.com"/>
          <p:cNvSpPr/>
          <p:nvPr>
            <p:custDataLst>
              <p:tags r:id="rId6"/>
            </p:custDataLst>
          </p:nvPr>
        </p:nvSpPr>
        <p:spPr>
          <a:xfrm>
            <a:off x="2749425" y="1686348"/>
            <a:ext cx="3643956" cy="3643956"/>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29" name="PA_矩形 28"/>
          <p:cNvSpPr/>
          <p:nvPr>
            <p:custDataLst>
              <p:tags r:id="rId7"/>
            </p:custDataLst>
          </p:nvPr>
        </p:nvSpPr>
        <p:spPr>
          <a:xfrm>
            <a:off x="80773" y="5152344"/>
            <a:ext cx="3350344" cy="1113766"/>
          </a:xfrm>
          <a:prstGeom prst="rect">
            <a:avLst/>
          </a:prstGeom>
          <a:ln>
            <a:noFill/>
          </a:ln>
        </p:spPr>
        <p:txBody>
          <a:bodyPr wrap="square">
            <a:spAutoFit/>
          </a:bodyPr>
          <a:lstStyle/>
          <a:p>
            <a:pPr algn="ctr">
              <a:lnSpc>
                <a:spcPct val="150000"/>
              </a:lnSpc>
            </a:pPr>
            <a:r>
              <a:rPr lang="zh-CN" altLang="en-US" sz="2400" dirty="0">
                <a:latin typeface="楷体" panose="02010609060101010101" pitchFamily="49" charset="-122"/>
                <a:ea typeface="楷体" panose="02010609060101010101" pitchFamily="49" charset="-122"/>
                <a:cs typeface="Open Sans" panose="020B0606030504020204" pitchFamily="34" charset="0"/>
              </a:rPr>
              <a:t>工程实践中心</a:t>
            </a:r>
            <a:endParaRPr lang="en-US" altLang="zh-CN" sz="2400" dirty="0">
              <a:latin typeface="楷体" panose="02010609060101010101" pitchFamily="49" charset="-122"/>
              <a:ea typeface="楷体" panose="02010609060101010101" pitchFamily="49" charset="-122"/>
              <a:cs typeface="Open Sans" panose="020B0606030504020204" pitchFamily="34" charset="0"/>
            </a:endParaRPr>
          </a:p>
          <a:p>
            <a:pPr algn="ctr">
              <a:lnSpc>
                <a:spcPct val="150000"/>
              </a:lnSpc>
            </a:pPr>
            <a:r>
              <a:rPr lang="zh-CN" altLang="en-US" sz="2400" dirty="0">
                <a:latin typeface="楷体" panose="02010609060101010101" pitchFamily="49" charset="-122"/>
                <a:ea typeface="楷体" panose="02010609060101010101" pitchFamily="49" charset="-122"/>
                <a:cs typeface="Open Sans" panose="020B0606030504020204" pitchFamily="34" charset="0"/>
              </a:rPr>
              <a:t>周启忠</a:t>
            </a:r>
            <a:endParaRPr lang="pt-BR" altLang="zh-CN" sz="2400" dirty="0">
              <a:latin typeface="楷体" panose="02010609060101010101" pitchFamily="49" charset="-122"/>
              <a:ea typeface="楷体" panose="02010609060101010101" pitchFamily="49" charset="-122"/>
              <a:cs typeface="Open Sans" panose="020B0606030504020204" pitchFamily="34" charset="0"/>
            </a:endParaRPr>
          </a:p>
        </p:txBody>
      </p:sp>
      <p:sp>
        <p:nvSpPr>
          <p:cNvPr id="30" name="PA_矩形 29"/>
          <p:cNvSpPr/>
          <p:nvPr>
            <p:custDataLst>
              <p:tags r:id="rId8"/>
            </p:custDataLst>
          </p:nvPr>
        </p:nvSpPr>
        <p:spPr>
          <a:xfrm>
            <a:off x="2747710" y="3149214"/>
            <a:ext cx="3643956" cy="646331"/>
          </a:xfrm>
          <a:prstGeom prst="rect">
            <a:avLst/>
          </a:prstGeom>
          <a:ln>
            <a:noFill/>
          </a:ln>
        </p:spPr>
        <p:txBody>
          <a:bodyPr wrap="square">
            <a:spAutoFit/>
          </a:bodyPr>
          <a:lstStyle/>
          <a:p>
            <a:pPr algn="ctr"/>
            <a:r>
              <a:rPr lang="en-US" altLang="zh-CN" sz="3600" b="1" dirty="0">
                <a:latin typeface="楷体" panose="02010609060101010101" pitchFamily="49" charset="-122"/>
                <a:ea typeface="楷体" panose="02010609060101010101" pitchFamily="49" charset="-122"/>
                <a:cs typeface="Open Sans" panose="020B0606030504020204" pitchFamily="34" charset="0"/>
              </a:rPr>
              <a:t> </a:t>
            </a:r>
            <a:r>
              <a:rPr lang="zh-CN" altLang="en-US" sz="3600" b="1" dirty="0">
                <a:latin typeface="楷体" panose="02010609060101010101" pitchFamily="49" charset="-122"/>
                <a:ea typeface="楷体" panose="02010609060101010101" pitchFamily="49" charset="-122"/>
                <a:cs typeface="Open Sans" panose="020B0606030504020204" pitchFamily="34" charset="0"/>
              </a:rPr>
              <a:t>串行接口及应用</a:t>
            </a:r>
            <a:endParaRPr lang="en-US" altLang="zh-CN" sz="3600" b="1" dirty="0">
              <a:latin typeface="楷体" panose="02010609060101010101" pitchFamily="49" charset="-122"/>
              <a:ea typeface="楷体" panose="02010609060101010101" pitchFamily="49" charset="-122"/>
              <a:cs typeface="Open Sans" panose="020B0606030504020204" pitchFamily="34" charset="0"/>
            </a:endParaRPr>
          </a:p>
        </p:txBody>
      </p:sp>
      <p:sp>
        <p:nvSpPr>
          <p:cNvPr id="31" name="PA_矩形 30"/>
          <p:cNvSpPr/>
          <p:nvPr>
            <p:custDataLst>
              <p:tags r:id="rId9"/>
            </p:custDataLst>
          </p:nvPr>
        </p:nvSpPr>
        <p:spPr>
          <a:xfrm>
            <a:off x="217199" y="1005739"/>
            <a:ext cx="2268944" cy="830997"/>
          </a:xfrm>
          <a:prstGeom prst="rect">
            <a:avLst/>
          </a:prstGeom>
          <a:ln>
            <a:noFill/>
          </a:ln>
        </p:spPr>
        <p:txBody>
          <a:bodyPr wrap="square">
            <a:spAutoFit/>
          </a:bodyPr>
          <a:lstStyle/>
          <a:p>
            <a:pPr algn="ctr"/>
            <a:r>
              <a:rPr lang="zh-CN" altLang="en-US" sz="4800" b="1" dirty="0">
                <a:latin typeface="楷体" panose="02010609060101010101" pitchFamily="49" charset="-122"/>
                <a:ea typeface="楷体" panose="02010609060101010101" pitchFamily="49" charset="-122"/>
                <a:cs typeface="Open Sans" panose="020B0606030504020204" pitchFamily="34" charset="0"/>
              </a:rPr>
              <a:t>第八章</a:t>
            </a:r>
          </a:p>
        </p:txBody>
      </p:sp>
      <p:grpSp>
        <p:nvGrpSpPr>
          <p:cNvPr id="3" name="组合"/>
          <p:cNvGrpSpPr/>
          <p:nvPr>
            <p:custDataLst>
              <p:tags r:id="rId10"/>
            </p:custDataLst>
          </p:nvPr>
        </p:nvGrpSpPr>
        <p:grpSpPr>
          <a:xfrm>
            <a:off x="3163810" y="2237913"/>
            <a:ext cx="2849375" cy="2553959"/>
            <a:chOff x="4218413" y="1840884"/>
            <a:chExt cx="3799166" cy="3405278"/>
          </a:xfrm>
        </p:grpSpPr>
        <p:sp>
          <p:nvSpPr>
            <p:cNvPr id="44" name="椭圆 43"/>
            <p:cNvSpPr/>
            <p:nvPr/>
          </p:nvSpPr>
          <p:spPr>
            <a:xfrm>
              <a:off x="4218413" y="1840884"/>
              <a:ext cx="186451" cy="186451"/>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5" name="椭圆 44"/>
            <p:cNvSpPr/>
            <p:nvPr/>
          </p:nvSpPr>
          <p:spPr>
            <a:xfrm>
              <a:off x="7831128" y="5059711"/>
              <a:ext cx="186451" cy="186451"/>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grpSp>
        <p:nvGrpSpPr>
          <p:cNvPr id="2" name="组合"/>
          <p:cNvGrpSpPr/>
          <p:nvPr>
            <p:custDataLst>
              <p:tags r:id="rId11"/>
            </p:custDataLst>
          </p:nvPr>
        </p:nvGrpSpPr>
        <p:grpSpPr>
          <a:xfrm>
            <a:off x="3166262" y="2237913"/>
            <a:ext cx="2839610" cy="2576346"/>
            <a:chOff x="4221683" y="1840884"/>
            <a:chExt cx="3786146" cy="3435128"/>
          </a:xfrm>
        </p:grpSpPr>
        <p:sp>
          <p:nvSpPr>
            <p:cNvPr id="46" name="椭圆 45"/>
            <p:cNvSpPr/>
            <p:nvPr/>
          </p:nvSpPr>
          <p:spPr>
            <a:xfrm>
              <a:off x="4221683" y="5089561"/>
              <a:ext cx="186451" cy="186451"/>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7" name="椭圆 46"/>
            <p:cNvSpPr/>
            <p:nvPr/>
          </p:nvSpPr>
          <p:spPr>
            <a:xfrm>
              <a:off x="7821378" y="1840884"/>
              <a:ext cx="186451" cy="186451"/>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6" name="PA_矩形 28">
            <a:extLst>
              <a:ext uri="{FF2B5EF4-FFF2-40B4-BE49-F238E27FC236}">
                <a16:creationId xmlns:a16="http://schemas.microsoft.com/office/drawing/2014/main" id="{5E0EEF24-5F49-7858-6E2A-8A1578D3AE2C}"/>
              </a:ext>
            </a:extLst>
          </p:cNvPr>
          <p:cNvSpPr/>
          <p:nvPr>
            <p:custDataLst>
              <p:tags r:id="rId12"/>
            </p:custDataLst>
          </p:nvPr>
        </p:nvSpPr>
        <p:spPr>
          <a:xfrm>
            <a:off x="6031211" y="5651652"/>
            <a:ext cx="3228654" cy="400110"/>
          </a:xfrm>
          <a:prstGeom prst="rect">
            <a:avLst/>
          </a:prstGeom>
          <a:ln>
            <a:noFill/>
          </a:ln>
        </p:spPr>
        <p:txBody>
          <a:bodyPr wrap="square">
            <a:spAutoFit/>
          </a:bodyPr>
          <a:lstStyle/>
          <a:p>
            <a:r>
              <a:rPr lang="en-US" altLang="zh-CN" sz="2000" dirty="0">
                <a:latin typeface="楷体" panose="02010609060101010101" pitchFamily="49" charset="-122"/>
                <a:ea typeface="楷体" panose="02010609060101010101" pitchFamily="49" charset="-122"/>
              </a:rPr>
              <a:t>MCS51</a:t>
            </a:r>
            <a:r>
              <a:rPr lang="zh-CN" altLang="en-US" sz="2000" dirty="0">
                <a:latin typeface="楷体" panose="02010609060101010101" pitchFamily="49" charset="-122"/>
                <a:ea typeface="楷体" panose="02010609060101010101" pitchFamily="49" charset="-122"/>
              </a:rPr>
              <a:t>单片机信息传输系统</a:t>
            </a:r>
          </a:p>
        </p:txBody>
      </p:sp>
    </p:spTree>
    <p:extLst>
      <p:ext uri="{BB962C8B-B14F-4D97-AF65-F5344CB8AC3E}">
        <p14:creationId xmlns:p14="http://schemas.microsoft.com/office/powerpoint/2010/main" val="2201844620"/>
      </p:ext>
    </p:extLst>
  </p:cSld>
  <p:clrMapOvr>
    <a:masterClrMapping/>
  </p:clrMapOvr>
  <mc:AlternateContent xmlns:mc="http://schemas.openxmlformats.org/markup-compatibility/2006" xmlns:p14="http://schemas.microsoft.com/office/powerpoint/2010/main">
    <mc:Choice Requires="p14">
      <p:transition spd="slow" p14:dur="4000" advClick="0">
        <p14:vortex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rLst="">
                                      <p:cBhvr>
                                        <p:cTn id="9" dur="1000"/>
                                        <p:tgtEl>
                                          <p:spTgt spid="4"/>
                                        </p:tgtEl>
                                      </p:cBhvr>
                                    </p:animEffect>
                                  </p:childTnLst>
                                </p:cTn>
                              </p:par>
                              <p:par>
                                <p:cTn id="10" presetID="21" presetClass="entr" presetSubtype="1"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wheel(1)" prLst="">
                                      <p:cBhvr>
                                        <p:cTn id="12" dur="1000"/>
                                        <p:tgtEl>
                                          <p:spTgt spid="5"/>
                                        </p:tgtEl>
                                      </p:cBhvr>
                                    </p:animEffect>
                                  </p:childTnLst>
                                </p:cTn>
                              </p:par>
                              <p:par>
                                <p:cTn id="13" presetID="10" presetClass="entr" presetSubtype="0" fill="hold" nodeType="withEffect">
                                  <p:stCondLst>
                                    <p:cond delay="1750"/>
                                  </p:stCondLst>
                                  <p:childTnLst>
                                    <p:set>
                                      <p:cBhvr>
                                        <p:cTn id="14" dur="1" fill="hold">
                                          <p:stCondLst>
                                            <p:cond delay="0"/>
                                          </p:stCondLst>
                                        </p:cTn>
                                        <p:tgtEl>
                                          <p:spTgt spid="2"/>
                                        </p:tgtEl>
                                        <p:attrNameLst>
                                          <p:attrName>style.visibility</p:attrName>
                                        </p:attrNameLst>
                                      </p:cBhvr>
                                      <p:to>
                                        <p:strVal val="visible"/>
                                      </p:to>
                                    </p:set>
                                    <p:animEffect transition="in" filter="fade" prLst="">
                                      <p:cBhvr>
                                        <p:cTn id="15" dur="500"/>
                                        <p:tgtEl>
                                          <p:spTgt spid="2"/>
                                        </p:tgtEl>
                                      </p:cBhvr>
                                    </p:animEffect>
                                  </p:childTnLst>
                                </p:cTn>
                              </p:par>
                              <p:par>
                                <p:cTn id="16" presetID="10" presetClass="entr" presetSubtype="0" fill="hold" nodeType="withEffect">
                                  <p:stCondLst>
                                    <p:cond delay="1750"/>
                                  </p:stCondLst>
                                  <p:childTnLst>
                                    <p:set>
                                      <p:cBhvr>
                                        <p:cTn id="17" dur="1" fill="hold">
                                          <p:stCondLst>
                                            <p:cond delay="0"/>
                                          </p:stCondLst>
                                        </p:cTn>
                                        <p:tgtEl>
                                          <p:spTgt spid="2"/>
                                        </p:tgtEl>
                                        <p:attrNameLst>
                                          <p:attrName>style.visibility</p:attrName>
                                        </p:attrNameLst>
                                      </p:cBhvr>
                                      <p:to>
                                        <p:strVal val="visible"/>
                                      </p:to>
                                    </p:set>
                                    <p:animEffect transition="in" filter="fade" prLst="">
                                      <p:cBhvr>
                                        <p:cTn id="18" dur="500"/>
                                        <p:tgtEl>
                                          <p:spTgt spid="2"/>
                                        </p:tgtEl>
                                      </p:cBhvr>
                                    </p:animEffect>
                                  </p:childTnLst>
                                </p:cTn>
                              </p:par>
                              <p:par>
                                <p:cTn id="19" presetID="8" presetClass="emph" presetSubtype="0" repeatCount="indefinite" fill="hold" nodeType="withEffect">
                                  <p:stCondLst>
                                    <p:cond delay="1750"/>
                                  </p:stCondLst>
                                  <p:childTnLst>
                                    <p:animRot by="0">
                                      <p:cBhvr>
                                        <p:cTn id="20" dur="2000" fill="hold"/>
                                        <p:tgtEl>
                                          <p:spTgt spid="2"/>
                                        </p:tgtEl>
                                        <p:attrNameLst>
                                          <p:attrName>r</p:attrName>
                                        </p:attrNameLst>
                                      </p:cBhvr>
                                    </p:animRot>
                                  </p:childTnLst>
                                </p:cTn>
                              </p:par>
                              <p:par>
                                <p:cTn id="21" presetID="10" presetClass="entr" presetSubtype="0" fill="hold" nodeType="withEffect">
                                  <p:stCondLst>
                                    <p:cond delay="1750"/>
                                  </p:stCondLst>
                                  <p:childTnLst>
                                    <p:set>
                                      <p:cBhvr>
                                        <p:cTn id="22" dur="1" fill="hold">
                                          <p:stCondLst>
                                            <p:cond delay="0"/>
                                          </p:stCondLst>
                                        </p:cTn>
                                        <p:tgtEl>
                                          <p:spTgt spid="3"/>
                                        </p:tgtEl>
                                        <p:attrNameLst>
                                          <p:attrName>style.visibility</p:attrName>
                                        </p:attrNameLst>
                                      </p:cBhvr>
                                      <p:to>
                                        <p:strVal val="visible"/>
                                      </p:to>
                                    </p:set>
                                    <p:animEffect transition="in" filter="fade" prLst="">
                                      <p:cBhvr>
                                        <p:cTn id="23" dur="500"/>
                                        <p:tgtEl>
                                          <p:spTgt spid="3"/>
                                        </p:tgtEl>
                                      </p:cBhvr>
                                    </p:animEffect>
                                  </p:childTnLst>
                                </p:cTn>
                              </p:par>
                              <p:par>
                                <p:cTn id="24" presetID="8" presetClass="emph" presetSubtype="0" repeatCount="indefinite" fill="hold" nodeType="withEffect">
                                  <p:stCondLst>
                                    <p:cond delay="1750"/>
                                  </p:stCondLst>
                                  <p:childTnLst>
                                    <p:animRot by="0">
                                      <p:cBhvr>
                                        <p:cTn id="25" dur="2000" fill="hold"/>
                                        <p:tgtEl>
                                          <p:spTgt spid="3"/>
                                        </p:tgtEl>
                                        <p:attrNameLst>
                                          <p:attrName>r</p:attrName>
                                        </p:attrNameLst>
                                      </p:cBhvr>
                                    </p:animRot>
                                  </p:childTnLst>
                                </p:cTn>
                              </p:par>
                              <p:par>
                                <p:cTn id="26" presetID="10" presetClass="entr" presetSubtype="0" fill="hold" grpId="0" nodeType="withEffect">
                                  <p:stCondLst>
                                    <p:cond delay="2000"/>
                                  </p:stCondLst>
                                  <p:childTnLst>
                                    <p:set>
                                      <p:cBhvr>
                                        <p:cTn id="27" dur="1" fill="hold">
                                          <p:stCondLst>
                                            <p:cond delay="0"/>
                                          </p:stCondLst>
                                        </p:cTn>
                                        <p:tgtEl>
                                          <p:spTgt spid="38"/>
                                        </p:tgtEl>
                                        <p:attrNameLst>
                                          <p:attrName>style.visibility</p:attrName>
                                        </p:attrNameLst>
                                      </p:cBhvr>
                                      <p:to>
                                        <p:strVal val="visible"/>
                                      </p:to>
                                    </p:set>
                                    <p:animEffect transition="in" filter="fade" prLst="">
                                      <p:cBhvr>
                                        <p:cTn id="28" dur="500"/>
                                        <p:tgtEl>
                                          <p:spTgt spid="38"/>
                                        </p:tgtEl>
                                      </p:cBhvr>
                                    </p:animEffect>
                                  </p:childTnLst>
                                </p:cTn>
                              </p:par>
                              <p:par>
                                <p:cTn id="29" presetID="35" presetClass="path" presetSubtype="0" accel="50000" decel="50000" fill="hold" grpId="1" nodeType="withEffect">
                                  <p:stCondLst>
                                    <p:cond delay="2000"/>
                                  </p:stCondLst>
                                  <p:childTnLst>
                                    <p:animMotion origin="layout" path="M 0.1711 7.40741E-07 L -4.58333E-06 7.40741E-07" pathEditMode="relative" rAng="0" ptsTypes="AA">
                                      <p:cBhvr>
                                        <p:cTn id="30" dur="2000" fill="hold"/>
                                        <p:tgtEl>
                                          <p:spTgt spid="38"/>
                                        </p:tgtEl>
                                        <p:attrNameLst>
                                          <p:attrName>ppt_x</p:attrName>
                                          <p:attrName>ppt_y</p:attrName>
                                        </p:attrNameLst>
                                      </p:cBhvr>
                                      <p:by x="-2147483648" y="-2147483648"/>
                                      <p:from x="-2147483648" y="-2147483648"/>
                                      <p:to x="-2147483648" y="-2147483648"/>
                                      <p:rCtr x="-8555" y="0"/>
                                    </p:animMotion>
                                  </p:childTnLst>
                                </p:cTn>
                              </p:par>
                              <p:par>
                                <p:cTn id="31" presetID="10" presetClass="entr" presetSubtype="0" fill="hold" grpId="0" nodeType="withEffect">
                                  <p:stCondLst>
                                    <p:cond delay="2250"/>
                                  </p:stCondLst>
                                  <p:childTnLst>
                                    <p:set>
                                      <p:cBhvr>
                                        <p:cTn id="32" dur="1" fill="hold">
                                          <p:stCondLst>
                                            <p:cond delay="0"/>
                                          </p:stCondLst>
                                        </p:cTn>
                                        <p:tgtEl>
                                          <p:spTgt spid="39"/>
                                        </p:tgtEl>
                                        <p:attrNameLst>
                                          <p:attrName>style.visibility</p:attrName>
                                        </p:attrNameLst>
                                      </p:cBhvr>
                                      <p:to>
                                        <p:strVal val="visible"/>
                                      </p:to>
                                    </p:set>
                                    <p:animEffect transition="in" filter="fade" prLst="">
                                      <p:cBhvr>
                                        <p:cTn id="33" dur="500"/>
                                        <p:tgtEl>
                                          <p:spTgt spid="39"/>
                                        </p:tgtEl>
                                      </p:cBhvr>
                                    </p:animEffect>
                                  </p:childTnLst>
                                </p:cTn>
                              </p:par>
                              <p:par>
                                <p:cTn id="34" presetID="35" presetClass="path" presetSubtype="0" accel="50000" decel="50000" fill="hold" grpId="1" nodeType="withEffect">
                                  <p:stCondLst>
                                    <p:cond delay="2250"/>
                                  </p:stCondLst>
                                  <p:childTnLst>
                                    <p:animMotion origin="layout" path="M 0.1711 7.40741E-07 L 2.08333E-06 7.40741E-07" pathEditMode="relative" rAng="0" ptsTypes="AA">
                                      <p:cBhvr>
                                        <p:cTn id="35" dur="2000" fill="hold"/>
                                        <p:tgtEl>
                                          <p:spTgt spid="39"/>
                                        </p:tgtEl>
                                        <p:attrNameLst>
                                          <p:attrName>ppt_x</p:attrName>
                                          <p:attrName>ppt_y</p:attrName>
                                        </p:attrNameLst>
                                      </p:cBhvr>
                                      <p:by x="-2147483648" y="-2147483648"/>
                                      <p:from x="-2147483648" y="-2147483648"/>
                                      <p:to x="-2147483648" y="-2147483648"/>
                                      <p:rCtr x="-8451" y="0"/>
                                    </p:animMotion>
                                  </p:childTnLst>
                                </p:cTn>
                              </p:par>
                              <p:par>
                                <p:cTn id="36" presetID="10" presetClass="entr" presetSubtype="0" fill="hold" grpId="0" nodeType="withEffect">
                                  <p:stCondLst>
                                    <p:cond delay="2000"/>
                                  </p:stCondLst>
                                  <p:childTnLst>
                                    <p:set>
                                      <p:cBhvr>
                                        <p:cTn id="37" dur="1" fill="hold">
                                          <p:stCondLst>
                                            <p:cond delay="0"/>
                                          </p:stCondLst>
                                        </p:cTn>
                                        <p:tgtEl>
                                          <p:spTgt spid="42"/>
                                        </p:tgtEl>
                                        <p:attrNameLst>
                                          <p:attrName>style.visibility</p:attrName>
                                        </p:attrNameLst>
                                      </p:cBhvr>
                                      <p:to>
                                        <p:strVal val="visible"/>
                                      </p:to>
                                    </p:set>
                                    <p:animEffect transition="in" filter="fade" prLst="">
                                      <p:cBhvr>
                                        <p:cTn id="38" dur="500"/>
                                        <p:tgtEl>
                                          <p:spTgt spid="42"/>
                                        </p:tgtEl>
                                      </p:cBhvr>
                                    </p:animEffect>
                                  </p:childTnLst>
                                </p:cTn>
                              </p:par>
                              <p:par>
                                <p:cTn id="39" presetID="35" presetClass="path" presetSubtype="0" accel="50000" decel="50000" fill="hold" grpId="1" nodeType="withEffect">
                                  <p:stCondLst>
                                    <p:cond delay="2000"/>
                                  </p:stCondLst>
                                  <p:childTnLst>
                                    <p:animMotion origin="layout" path="M -0.16537 7.40741E-07 L 3.33333E-06 7.40741E-07" pathEditMode="relative" rAng="0" ptsTypes="AA">
                                      <p:cBhvr>
                                        <p:cTn id="40" dur="2000" fill="hold"/>
                                        <p:tgtEl>
                                          <p:spTgt spid="42"/>
                                        </p:tgtEl>
                                        <p:attrNameLst>
                                          <p:attrName>ppt_x</p:attrName>
                                          <p:attrName>ppt_y</p:attrName>
                                        </p:attrNameLst>
                                      </p:cBhvr>
                                      <p:by x="-2147483648" y="-2147483648"/>
                                      <p:from x="-2147483648" y="-2147483648"/>
                                      <p:to x="-2147483648" y="-2147483648"/>
                                      <p:rCtr x="8268" y="0"/>
                                    </p:animMotion>
                                  </p:childTnLst>
                                </p:cTn>
                              </p:par>
                              <p:par>
                                <p:cTn id="41" presetID="10" presetClass="entr" presetSubtype="0" fill="hold" grpId="0" nodeType="withEffect">
                                  <p:stCondLst>
                                    <p:cond delay="2000"/>
                                  </p:stCondLst>
                                  <p:childTnLst>
                                    <p:set>
                                      <p:cBhvr>
                                        <p:cTn id="42" dur="1" fill="hold">
                                          <p:stCondLst>
                                            <p:cond delay="0"/>
                                          </p:stCondLst>
                                        </p:cTn>
                                        <p:tgtEl>
                                          <p:spTgt spid="43"/>
                                        </p:tgtEl>
                                        <p:attrNameLst>
                                          <p:attrName>style.visibility</p:attrName>
                                        </p:attrNameLst>
                                      </p:cBhvr>
                                      <p:to>
                                        <p:strVal val="visible"/>
                                      </p:to>
                                    </p:set>
                                    <p:animEffect transition="in" filter="fade" prLst="">
                                      <p:cBhvr>
                                        <p:cTn id="43" dur="500"/>
                                        <p:tgtEl>
                                          <p:spTgt spid="43"/>
                                        </p:tgtEl>
                                      </p:cBhvr>
                                    </p:animEffect>
                                  </p:childTnLst>
                                </p:cTn>
                              </p:par>
                              <p:par>
                                <p:cTn id="44" presetID="35" presetClass="path" presetSubtype="0" accel="50000" decel="50000" fill="hold" grpId="1" nodeType="withEffect">
                                  <p:stCondLst>
                                    <p:cond delay="2000"/>
                                  </p:stCondLst>
                                  <p:childTnLst>
                                    <p:animMotion origin="layout" path="M -0.16537 7.40741E-07 L 3.33333E-06 7.40741E-07" pathEditMode="relative" rAng="0" ptsTypes="AA">
                                      <p:cBhvr>
                                        <p:cTn id="45" dur="2000" fill="hold"/>
                                        <p:tgtEl>
                                          <p:spTgt spid="43"/>
                                        </p:tgtEl>
                                        <p:attrNameLst>
                                          <p:attrName>ppt_x</p:attrName>
                                          <p:attrName>ppt_y</p:attrName>
                                        </p:attrNameLst>
                                      </p:cBhvr>
                                      <p:by x="-2147483648" y="-2147483648"/>
                                      <p:from x="-2147483648" y="-2147483648"/>
                                      <p:to x="-2147483648" y="-2147483648"/>
                                      <p:rCtr x="8268" y="0"/>
                                    </p:animMotion>
                                  </p:childTnLst>
                                </p:cTn>
                              </p:par>
                              <p:par>
                                <p:cTn id="46" presetID="53" presetClass="entr" presetSubtype="0" fill="hold" grpId="0" nodeType="withEffect">
                                  <p:stCondLst>
                                    <p:cond delay="3000"/>
                                  </p:stCondLst>
                                  <p:childTnLst>
                                    <p:set>
                                      <p:cBhvr>
                                        <p:cTn id="47" dur="1" fill="hold">
                                          <p:stCondLst>
                                            <p:cond delay="0"/>
                                          </p:stCondLst>
                                        </p:cTn>
                                        <p:tgtEl>
                                          <p:spTgt spid="31"/>
                                        </p:tgtEl>
                                        <p:attrNameLst>
                                          <p:attrName>style.visibility</p:attrName>
                                        </p:attrNameLst>
                                      </p:cBhvr>
                                      <p:to>
                                        <p:strVal val="visible"/>
                                      </p:to>
                                    </p:set>
                                    <p:anim calcmode="lin" valueType="num">
                                      <p:cBhvr>
                                        <p:cTn id="48" dur="500" fill="hold"/>
                                        <p:tgtEl>
                                          <p:spTgt spid="31"/>
                                        </p:tgtEl>
                                        <p:attrNameLst>
                                          <p:attrName>ppt_w</p:attrName>
                                        </p:attrNameLst>
                                      </p:cBhvr>
                                      <p:tavLst>
                                        <p:tav tm="0">
                                          <p:val>
                                            <p:fltVal val="0"/>
                                          </p:val>
                                        </p:tav>
                                        <p:tav tm="100000">
                                          <p:val>
                                            <p:strVal val="#ppt_w"/>
                                          </p:val>
                                        </p:tav>
                                      </p:tavLst>
                                    </p:anim>
                                    <p:anim calcmode="lin" valueType="num">
                                      <p:cBhvr>
                                        <p:cTn id="49" dur="500" fill="hold"/>
                                        <p:tgtEl>
                                          <p:spTgt spid="31"/>
                                        </p:tgtEl>
                                        <p:attrNameLst>
                                          <p:attrName>ppt_h</p:attrName>
                                        </p:attrNameLst>
                                      </p:cBhvr>
                                      <p:tavLst>
                                        <p:tav tm="0">
                                          <p:val>
                                            <p:fltVal val="0"/>
                                          </p:val>
                                        </p:tav>
                                        <p:tav tm="100000">
                                          <p:val>
                                            <p:strVal val="#ppt_h"/>
                                          </p:val>
                                        </p:tav>
                                      </p:tavLst>
                                    </p:anim>
                                    <p:animEffect transition="in" filter="fade" prLst="">
                                      <p:cBhvr>
                                        <p:cTn id="50" dur="500"/>
                                        <p:tgtEl>
                                          <p:spTgt spid="31"/>
                                        </p:tgtEl>
                                      </p:cBhvr>
                                    </p:animEffect>
                                  </p:childTnLst>
                                </p:cTn>
                              </p:par>
                              <p:par>
                                <p:cTn id="51" presetID="22" presetClass="entr" presetSubtype="8" fill="hold" grpId="0" nodeType="withEffect">
                                  <p:stCondLst>
                                    <p:cond delay="3000"/>
                                  </p:stCondLst>
                                  <p:childTnLst>
                                    <p:set>
                                      <p:cBhvr>
                                        <p:cTn id="52" dur="1" fill="hold">
                                          <p:stCondLst>
                                            <p:cond delay="0"/>
                                          </p:stCondLst>
                                        </p:cTn>
                                        <p:tgtEl>
                                          <p:spTgt spid="30"/>
                                        </p:tgtEl>
                                        <p:attrNameLst>
                                          <p:attrName>style.visibility</p:attrName>
                                        </p:attrNameLst>
                                      </p:cBhvr>
                                      <p:to>
                                        <p:strVal val="visible"/>
                                      </p:to>
                                    </p:set>
                                    <p:animEffect transition="in" filter="wipe(left)" prLst="">
                                      <p:cBhvr>
                                        <p:cTn id="53" dur="500"/>
                                        <p:tgtEl>
                                          <p:spTgt spid="30"/>
                                        </p:tgtEl>
                                      </p:cBhvr>
                                    </p:animEffect>
                                  </p:childTnLst>
                                </p:cTn>
                              </p:par>
                              <p:par>
                                <p:cTn id="54" presetID="22" presetClass="entr" presetSubtype="8" fill="hold" grpId="0" nodeType="withEffect">
                                  <p:stCondLst>
                                    <p:cond delay="3000"/>
                                  </p:stCondLst>
                                  <p:childTnLst>
                                    <p:set>
                                      <p:cBhvr>
                                        <p:cTn id="55" dur="1" fill="hold">
                                          <p:stCondLst>
                                            <p:cond delay="0"/>
                                          </p:stCondLst>
                                        </p:cTn>
                                        <p:tgtEl>
                                          <p:spTgt spid="29"/>
                                        </p:tgtEl>
                                        <p:attrNameLst>
                                          <p:attrName>style.visibility</p:attrName>
                                        </p:attrNameLst>
                                      </p:cBhvr>
                                      <p:to>
                                        <p:strVal val="visible"/>
                                      </p:to>
                                    </p:set>
                                    <p:animEffect transition="in" filter="wipe(left)" prLst="">
                                      <p:cBhvr>
                                        <p:cTn id="56" dur="500"/>
                                        <p:tgtEl>
                                          <p:spTgt spid="29"/>
                                        </p:tgtEl>
                                      </p:cBhvr>
                                    </p:animEffect>
                                  </p:childTnLst>
                                </p:cTn>
                              </p:par>
                              <p:par>
                                <p:cTn id="57" presetID="22" presetClass="entr" presetSubtype="8" fill="hold" grpId="0" nodeType="withEffect">
                                  <p:stCondLst>
                                    <p:cond delay="3000"/>
                                  </p:stCondLst>
                                  <p:childTnLst>
                                    <p:set>
                                      <p:cBhvr>
                                        <p:cTn id="58" dur="1" fill="hold">
                                          <p:stCondLst>
                                            <p:cond delay="0"/>
                                          </p:stCondLst>
                                        </p:cTn>
                                        <p:tgtEl>
                                          <p:spTgt spid="6"/>
                                        </p:tgtEl>
                                        <p:attrNameLst>
                                          <p:attrName>style.visibility</p:attrName>
                                        </p:attrNameLst>
                                      </p:cBhvr>
                                      <p:to>
                                        <p:strVal val="visible"/>
                                      </p:to>
                                    </p:set>
                                    <p:animEffect transition="in" filter="wipe(left)" prLst="">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39" grpId="0" animBg="1"/>
      <p:bldP spid="39" grpId="1" animBg="1"/>
      <p:bldP spid="42" grpId="0" animBg="1"/>
      <p:bldP spid="42" grpId="1" animBg="1"/>
      <p:bldP spid="43" grpId="0" animBg="1"/>
      <p:bldP spid="43" grpId="1" animBg="1"/>
      <p:bldP spid="4" grpId="0" animBg="1"/>
      <p:bldP spid="5" grpId="0" animBg="1"/>
      <p:bldP spid="29" grpId="0"/>
      <p:bldP spid="30" grpId="0"/>
      <p:bldP spid="31"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一、本章学习目标</a:t>
            </a:r>
            <a:endParaRPr lang="zh-CN" altLang="en-US" sz="3200" dirty="0"/>
          </a:p>
        </p:txBody>
      </p:sp>
      <p:sp>
        <p:nvSpPr>
          <p:cNvPr id="3" name="TextBox 3">
            <a:extLst>
              <a:ext uri="{FF2B5EF4-FFF2-40B4-BE49-F238E27FC236}">
                <a16:creationId xmlns:a16="http://schemas.microsoft.com/office/drawing/2014/main" id="{63F11B7F-C601-34DC-1249-FDB7C3A9BECF}"/>
              </a:ext>
            </a:extLst>
          </p:cNvPr>
          <p:cNvSpPr txBox="1">
            <a:spLocks noChangeArrowheads="1"/>
          </p:cNvSpPr>
          <p:nvPr/>
        </p:nvSpPr>
        <p:spPr bwMode="auto">
          <a:xfrm>
            <a:off x="481012" y="1192642"/>
            <a:ext cx="8181975" cy="3869329"/>
          </a:xfrm>
          <a:prstGeom prst="rect">
            <a:avLst/>
          </a:prstGeom>
          <a:noFill/>
          <a:ln w="9525">
            <a:noFill/>
            <a:miter lim="800000"/>
            <a:headEnd/>
            <a:tailEnd/>
          </a:ln>
        </p:spPr>
        <p:txBody>
          <a:bodyPr>
            <a:spAutoFit/>
          </a:bodyPr>
          <a:lstStyle/>
          <a:p>
            <a:pPr>
              <a:lnSpc>
                <a:spcPct val="150000"/>
              </a:lnSpc>
            </a:pP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了解</a:t>
            </a:r>
            <a:r>
              <a:rPr lang="zh-CN" altLang="en-US" sz="2800" b="1" dirty="0">
                <a:solidFill>
                  <a:srgbClr val="0000FF"/>
                </a:solidFill>
                <a:latin typeface="楷体" panose="02010609060101010101" pitchFamily="49" charset="-122"/>
                <a:ea typeface="楷体" panose="02010609060101010101" pitchFamily="49" charset="-122"/>
              </a:rPr>
              <a:t>串行通信</a:t>
            </a:r>
            <a:r>
              <a:rPr lang="zh-CN" altLang="en-US" sz="2800" b="1" dirty="0">
                <a:latin typeface="楷体" panose="02010609060101010101" pitchFamily="49" charset="-122"/>
                <a:ea typeface="楷体" panose="02010609060101010101" pitchFamily="49" charset="-122"/>
              </a:rPr>
              <a:t>的基本</a:t>
            </a:r>
            <a:r>
              <a:rPr lang="zh-CN" altLang="en-US" sz="2800" b="1" dirty="0">
                <a:solidFill>
                  <a:srgbClr val="FF0000"/>
                </a:solidFill>
                <a:latin typeface="楷体" panose="02010609060101010101" pitchFamily="49" charset="-122"/>
                <a:ea typeface="楷体" panose="02010609060101010101" pitchFamily="49" charset="-122"/>
              </a:rPr>
              <a:t>概念及用途</a:t>
            </a:r>
            <a:endParaRPr lang="en-US" altLang="zh-CN" sz="2800" b="1" dirty="0">
              <a:solidFill>
                <a:srgbClr val="FF0000"/>
              </a:solidFill>
              <a:latin typeface="楷体" panose="02010609060101010101" pitchFamily="49" charset="-122"/>
              <a:ea typeface="楷体" panose="02010609060101010101" pitchFamily="49" charset="-122"/>
            </a:endParaRPr>
          </a:p>
          <a:p>
            <a:pPr>
              <a:lnSpc>
                <a:spcPct val="150000"/>
              </a:lnSpc>
            </a:pPr>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熟悉</a:t>
            </a:r>
            <a:r>
              <a:rPr lang="en-US" altLang="zh-CN" sz="2800" b="1" dirty="0">
                <a:solidFill>
                  <a:srgbClr val="0000FF"/>
                </a:solidFill>
                <a:latin typeface="楷体" panose="02010609060101010101" pitchFamily="49" charset="-122"/>
                <a:ea typeface="楷体" panose="02010609060101010101" pitchFamily="49" charset="-122"/>
              </a:rPr>
              <a:t>MSC51</a:t>
            </a:r>
            <a:r>
              <a:rPr lang="zh-CN" altLang="en-US" sz="2800" b="1" dirty="0">
                <a:solidFill>
                  <a:srgbClr val="0000FF"/>
                </a:solidFill>
                <a:latin typeface="楷体" panose="02010609060101010101" pitchFamily="49" charset="-122"/>
                <a:ea typeface="楷体" panose="02010609060101010101" pitchFamily="49" charset="-122"/>
              </a:rPr>
              <a:t>单片机</a:t>
            </a:r>
            <a:r>
              <a:rPr lang="zh-CN" altLang="en-US" sz="2800" b="1" dirty="0">
                <a:solidFill>
                  <a:srgbClr val="FF0000"/>
                </a:solidFill>
                <a:latin typeface="楷体" panose="02010609060101010101" pitchFamily="49" charset="-122"/>
                <a:ea typeface="楷体" panose="02010609060101010101" pitchFamily="49" charset="-122"/>
              </a:rPr>
              <a:t>串行接口的结构及原理</a:t>
            </a:r>
            <a:endParaRPr lang="en-US" altLang="zh-CN" sz="2800" b="1" dirty="0">
              <a:latin typeface="楷体" panose="02010609060101010101" pitchFamily="49" charset="-122"/>
              <a:ea typeface="楷体" panose="02010609060101010101" pitchFamily="49" charset="-122"/>
            </a:endParaRPr>
          </a:p>
          <a:p>
            <a:pPr>
              <a:lnSpc>
                <a:spcPct val="150000"/>
              </a:lnSpc>
            </a:pPr>
            <a:r>
              <a:rPr lang="en-US" altLang="zh-CN" sz="2800" b="1" dirty="0">
                <a:latin typeface="楷体" panose="02010609060101010101" pitchFamily="49" charset="-122"/>
                <a:ea typeface="楷体" panose="02010609060101010101" pitchFamily="49" charset="-122"/>
              </a:rPr>
              <a:t>3.</a:t>
            </a:r>
            <a:r>
              <a:rPr lang="zh-CN" altLang="en-US" sz="2800" b="1" dirty="0">
                <a:latin typeface="楷体" panose="02010609060101010101" pitchFamily="49" charset="-122"/>
                <a:ea typeface="楷体" panose="02010609060101010101" pitchFamily="49" charset="-122"/>
              </a:rPr>
              <a:t>掌握</a:t>
            </a:r>
            <a:r>
              <a:rPr lang="zh-CN" altLang="en-US" sz="2800" b="1" dirty="0">
                <a:solidFill>
                  <a:srgbClr val="0000FF"/>
                </a:solidFill>
                <a:latin typeface="楷体" panose="02010609060101010101" pitchFamily="49" charset="-122"/>
                <a:ea typeface="楷体" panose="02010609060101010101" pitchFamily="49" charset="-122"/>
              </a:rPr>
              <a:t>串行通信波特率发生器</a:t>
            </a:r>
            <a:r>
              <a:rPr lang="zh-CN" altLang="en-US" sz="2800" b="1" dirty="0">
                <a:latin typeface="楷体" panose="02010609060101010101" pitchFamily="49" charset="-122"/>
                <a:ea typeface="楷体" panose="02010609060101010101" pitchFamily="49" charset="-122"/>
              </a:rPr>
              <a:t>的</a:t>
            </a:r>
            <a:r>
              <a:rPr lang="zh-CN" altLang="en-US" sz="2800" b="1" dirty="0">
                <a:solidFill>
                  <a:srgbClr val="FF0000"/>
                </a:solidFill>
                <a:latin typeface="楷体" panose="02010609060101010101" pitchFamily="49" charset="-122"/>
                <a:ea typeface="楷体" panose="02010609060101010101" pitchFamily="49" charset="-122"/>
              </a:rPr>
              <a:t>初始化方法</a:t>
            </a:r>
            <a:endParaRPr lang="en-US" altLang="zh-CN" sz="2800" b="1" dirty="0">
              <a:solidFill>
                <a:srgbClr val="FF0000"/>
              </a:solidFill>
              <a:latin typeface="楷体" panose="02010609060101010101" pitchFamily="49" charset="-122"/>
              <a:ea typeface="楷体" panose="02010609060101010101" pitchFamily="49" charset="-122"/>
            </a:endParaRPr>
          </a:p>
          <a:p>
            <a:pPr>
              <a:lnSpc>
                <a:spcPct val="150000"/>
              </a:lnSpc>
            </a:pPr>
            <a:r>
              <a:rPr lang="en-US" altLang="zh-CN" sz="2800" b="1" dirty="0">
                <a:latin typeface="楷体" panose="02010609060101010101" pitchFamily="49" charset="-122"/>
                <a:ea typeface="楷体" panose="02010609060101010101" pitchFamily="49" charset="-122"/>
              </a:rPr>
              <a:t>4.</a:t>
            </a:r>
            <a:r>
              <a:rPr lang="zh-CN" altLang="en-US" sz="2800" b="1" dirty="0">
                <a:latin typeface="楷体" panose="02010609060101010101" pitchFamily="49" charset="-122"/>
                <a:ea typeface="楷体" panose="02010609060101010101" pitchFamily="49" charset="-122"/>
              </a:rPr>
              <a:t>掌握</a:t>
            </a:r>
            <a:r>
              <a:rPr lang="zh-CN" altLang="en-US" sz="2800" b="1" dirty="0">
                <a:solidFill>
                  <a:srgbClr val="0000FF"/>
                </a:solidFill>
                <a:latin typeface="楷体" panose="02010609060101010101" pitchFamily="49" charset="-122"/>
                <a:ea typeface="楷体" panose="02010609060101010101" pitchFamily="49" charset="-122"/>
              </a:rPr>
              <a:t>串行通信接口各种工作方式</a:t>
            </a:r>
            <a:r>
              <a:rPr lang="zh-CN" altLang="en-US" sz="2800" b="1" dirty="0">
                <a:latin typeface="楷体" panose="02010609060101010101" pitchFamily="49" charset="-122"/>
                <a:ea typeface="楷体" panose="02010609060101010101" pitchFamily="49" charset="-122"/>
              </a:rPr>
              <a:t>的</a:t>
            </a:r>
            <a:r>
              <a:rPr lang="zh-CN" altLang="en-US" sz="2800" b="1" dirty="0">
                <a:solidFill>
                  <a:srgbClr val="FF0000"/>
                </a:solidFill>
                <a:latin typeface="楷体" panose="02010609060101010101" pitchFamily="49" charset="-122"/>
                <a:ea typeface="楷体" panose="02010609060101010101" pitchFamily="49" charset="-122"/>
              </a:rPr>
              <a:t>工作原理和配置方法</a:t>
            </a:r>
            <a:endParaRPr lang="en-US" altLang="zh-CN" sz="2800" b="1" dirty="0">
              <a:solidFill>
                <a:srgbClr val="FF0000"/>
              </a:solidFill>
              <a:latin typeface="楷体" panose="02010609060101010101" pitchFamily="49" charset="-122"/>
              <a:ea typeface="楷体" panose="02010609060101010101" pitchFamily="49" charset="-122"/>
            </a:endParaRPr>
          </a:p>
          <a:p>
            <a:pPr>
              <a:lnSpc>
                <a:spcPct val="150000"/>
              </a:lnSpc>
            </a:pPr>
            <a:r>
              <a:rPr lang="en-US" altLang="zh-CN" sz="2800" b="1" dirty="0">
                <a:latin typeface="楷体" panose="02010609060101010101" pitchFamily="49" charset="-122"/>
                <a:ea typeface="楷体" panose="02010609060101010101" pitchFamily="49" charset="-122"/>
              </a:rPr>
              <a:t>5.</a:t>
            </a:r>
            <a:r>
              <a:rPr lang="zh-CN" altLang="en-US" sz="2800" b="1" dirty="0">
                <a:latin typeface="楷体" panose="02010609060101010101" pitchFamily="49" charset="-122"/>
                <a:ea typeface="楷体" panose="02010609060101010101" pitchFamily="49" charset="-122"/>
              </a:rPr>
              <a:t>学会</a:t>
            </a:r>
            <a:r>
              <a:rPr lang="zh-CN" altLang="en-US" sz="2800" b="1" dirty="0">
                <a:solidFill>
                  <a:srgbClr val="0000FF"/>
                </a:solidFill>
                <a:latin typeface="楷体" panose="02010609060101010101" pitchFamily="49" charset="-122"/>
                <a:ea typeface="楷体" panose="02010609060101010101" pitchFamily="49" charset="-122"/>
              </a:rPr>
              <a:t>串行通信任务</a:t>
            </a:r>
            <a:r>
              <a:rPr lang="zh-CN" altLang="en-US" sz="2800" b="1" dirty="0">
                <a:latin typeface="楷体" panose="02010609060101010101" pitchFamily="49" charset="-122"/>
                <a:ea typeface="楷体" panose="02010609060101010101" pitchFamily="49" charset="-122"/>
              </a:rPr>
              <a:t>的</a:t>
            </a:r>
            <a:r>
              <a:rPr lang="zh-CN" altLang="en-US" sz="2800" b="1" dirty="0">
                <a:solidFill>
                  <a:srgbClr val="FF0000"/>
                </a:solidFill>
                <a:latin typeface="楷体" panose="02010609060101010101" pitchFamily="49" charset="-122"/>
                <a:ea typeface="楷体" panose="02010609060101010101" pitchFamily="49" charset="-122"/>
              </a:rPr>
              <a:t>编程方法</a:t>
            </a:r>
            <a:endParaRPr lang="en-US" altLang="zh-CN" sz="2800" b="1" dirty="0">
              <a:solidFill>
                <a:srgbClr val="FF0000"/>
              </a:solidFill>
              <a:latin typeface="楷体" panose="02010609060101010101" pitchFamily="49" charset="-122"/>
              <a:ea typeface="楷体" panose="02010609060101010101" pitchFamily="49" charset="-122"/>
            </a:endParaRPr>
          </a:p>
        </p:txBody>
      </p:sp>
      <p:sp>
        <p:nvSpPr>
          <p:cNvPr id="8" name="TextBox 3">
            <a:extLst>
              <a:ext uri="{FF2B5EF4-FFF2-40B4-BE49-F238E27FC236}">
                <a16:creationId xmlns:a16="http://schemas.microsoft.com/office/drawing/2014/main" id="{767B0043-9BA6-CD08-223F-4CFA9F557DFF}"/>
              </a:ext>
            </a:extLst>
          </p:cNvPr>
          <p:cNvSpPr txBox="1">
            <a:spLocks noChangeArrowheads="1"/>
          </p:cNvSpPr>
          <p:nvPr/>
        </p:nvSpPr>
        <p:spPr bwMode="auto">
          <a:xfrm>
            <a:off x="471959" y="5365576"/>
            <a:ext cx="8181975" cy="1284006"/>
          </a:xfrm>
          <a:prstGeom prst="rect">
            <a:avLst/>
          </a:prstGeom>
          <a:noFill/>
          <a:ln w="9525">
            <a:noFill/>
            <a:miter lim="800000"/>
            <a:headEnd/>
            <a:tailEnd/>
          </a:ln>
        </p:spPr>
        <p:txBody>
          <a:bodyPr>
            <a:spAutoFit/>
          </a:bodyPr>
          <a:lstStyle/>
          <a:p>
            <a:pPr>
              <a:lnSpc>
                <a:spcPct val="150000"/>
              </a:lnSpc>
            </a:pPr>
            <a:r>
              <a:rPr lang="zh-CN" altLang="en-US" sz="2800" b="1" dirty="0">
                <a:solidFill>
                  <a:srgbClr val="FF0000"/>
                </a:solidFill>
                <a:latin typeface="楷体" panose="02010609060101010101" pitchFamily="49" charset="-122"/>
                <a:ea typeface="楷体" panose="02010609060101010101" pitchFamily="49" charset="-122"/>
              </a:rPr>
              <a:t>重点：</a:t>
            </a:r>
            <a:r>
              <a:rPr lang="zh-CN" altLang="en-US" sz="2800" b="1" dirty="0">
                <a:latin typeface="楷体" panose="02010609060101010101" pitchFamily="49" charset="-122"/>
                <a:ea typeface="楷体" panose="02010609060101010101" pitchFamily="49" charset="-122"/>
              </a:rPr>
              <a:t>按要求编程</a:t>
            </a:r>
            <a:r>
              <a:rPr lang="zh-CN" altLang="en-US" sz="2800" b="1" dirty="0">
                <a:solidFill>
                  <a:srgbClr val="FF0000"/>
                </a:solidFill>
                <a:latin typeface="楷体" panose="02010609060101010101" pitchFamily="49" charset="-122"/>
                <a:ea typeface="楷体" panose="02010609060101010101" pitchFamily="49" charset="-122"/>
              </a:rPr>
              <a:t>初始化</a:t>
            </a:r>
            <a:r>
              <a:rPr lang="zh-CN" altLang="en-US" sz="2800" b="1" dirty="0">
                <a:latin typeface="楷体" panose="02010609060101010101" pitchFamily="49" charset="-122"/>
                <a:ea typeface="楷体" panose="02010609060101010101" pitchFamily="49" charset="-122"/>
              </a:rPr>
              <a:t>串口相关的</a:t>
            </a:r>
            <a:r>
              <a:rPr lang="en-US" altLang="zh-CN" sz="2800" b="1" dirty="0">
                <a:latin typeface="楷体" panose="02010609060101010101" pitchFamily="49" charset="-122"/>
                <a:ea typeface="楷体" panose="02010609060101010101" pitchFamily="49" charset="-122"/>
              </a:rPr>
              <a:t>I/O</a:t>
            </a:r>
            <a:r>
              <a:rPr lang="zh-CN" altLang="en-US" sz="2800" b="1" dirty="0">
                <a:latin typeface="楷体" panose="02010609060101010101" pitchFamily="49" charset="-122"/>
                <a:ea typeface="楷体" panose="02010609060101010101" pitchFamily="49" charset="-122"/>
              </a:rPr>
              <a:t>部件</a:t>
            </a:r>
            <a:endParaRPr lang="en-US" altLang="zh-CN" sz="2800" b="1" dirty="0">
              <a:latin typeface="楷体" panose="02010609060101010101" pitchFamily="49" charset="-122"/>
              <a:ea typeface="楷体" panose="02010609060101010101" pitchFamily="49" charset="-122"/>
            </a:endParaRPr>
          </a:p>
          <a:p>
            <a:pPr>
              <a:lnSpc>
                <a:spcPct val="150000"/>
              </a:lnSpc>
            </a:pPr>
            <a:r>
              <a:rPr lang="en-US" altLang="zh-CN" sz="2800" b="1" dirty="0">
                <a:solidFill>
                  <a:srgbClr val="FF0000"/>
                </a:solidFill>
                <a:latin typeface="楷体" panose="02010609060101010101" pitchFamily="49" charset="-122"/>
                <a:ea typeface="楷体" panose="02010609060101010101" pitchFamily="49" charset="-122"/>
              </a:rPr>
              <a:t> SCON\SBUF\PCON</a:t>
            </a:r>
            <a:r>
              <a:rPr lang="en-US" altLang="zh-CN" sz="2800" b="1" dirty="0">
                <a:latin typeface="楷体" panose="02010609060101010101" pitchFamily="49" charset="-122"/>
                <a:ea typeface="楷体" panose="02010609060101010101" pitchFamily="49" charset="-122"/>
              </a:rPr>
              <a:t>\TMOD\TCON\TH1\TL1\IE\IP</a:t>
            </a:r>
          </a:p>
        </p:txBody>
      </p:sp>
    </p:spTree>
    <p:extLst>
      <p:ext uri="{BB962C8B-B14F-4D97-AF65-F5344CB8AC3E}">
        <p14:creationId xmlns:p14="http://schemas.microsoft.com/office/powerpoint/2010/main" val="745053218"/>
      </p:ext>
    </p:extLst>
  </p:cSld>
  <p:clrMapOvr>
    <a:masterClrMapping/>
  </p:clrMapOvr>
  <p:transition spd="slow" advClick="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2B554-B117-18E3-D2EA-FE9F14C93157}"/>
              </a:ext>
            </a:extLst>
          </p:cNvPr>
          <p:cNvSpPr>
            <a:spLocks noGrp="1"/>
          </p:cNvSpPr>
          <p:nvPr>
            <p:ph type="title"/>
          </p:nvPr>
        </p:nvSpPr>
        <p:spPr/>
        <p:txBody>
          <a:bodyPr/>
          <a:lstStyle/>
          <a:p>
            <a:r>
              <a:rPr lang="zh-CN" altLang="en-US" sz="3600" b="1" dirty="0">
                <a:latin typeface="楷体" panose="02010609060101010101" pitchFamily="49" charset="-122"/>
                <a:ea typeface="楷体" panose="02010609060101010101" pitchFamily="49" charset="-122"/>
              </a:rPr>
              <a:t>举例：编程</a:t>
            </a:r>
            <a:r>
              <a:rPr lang="zh-CN" altLang="en-US" sz="3600" b="1" dirty="0">
                <a:solidFill>
                  <a:srgbClr val="FF0000"/>
                </a:solidFill>
                <a:latin typeface="楷体" panose="02010609060101010101" pitchFamily="49" charset="-122"/>
                <a:ea typeface="楷体" panose="02010609060101010101" pitchFamily="49" charset="-122"/>
              </a:rPr>
              <a:t>初始化</a:t>
            </a:r>
            <a:r>
              <a:rPr lang="zh-CN" altLang="en-US" sz="3600" b="1" dirty="0">
                <a:latin typeface="楷体" panose="02010609060101010101" pitchFamily="49" charset="-122"/>
                <a:ea typeface="楷体" panose="02010609060101010101" pitchFamily="49" charset="-122"/>
              </a:rPr>
              <a:t>串口</a:t>
            </a:r>
            <a:endParaRPr lang="zh-CN" altLang="en-US" dirty="0"/>
          </a:p>
        </p:txBody>
      </p:sp>
      <p:sp>
        <p:nvSpPr>
          <p:cNvPr id="3" name="内容占位符 2">
            <a:extLst>
              <a:ext uri="{FF2B5EF4-FFF2-40B4-BE49-F238E27FC236}">
                <a16:creationId xmlns:a16="http://schemas.microsoft.com/office/drawing/2014/main" id="{6AF06E87-56FB-4494-04AF-0C9F2205E5F0}"/>
              </a:ext>
            </a:extLst>
          </p:cNvPr>
          <p:cNvSpPr>
            <a:spLocks noGrp="1"/>
          </p:cNvSpPr>
          <p:nvPr>
            <p:ph idx="1"/>
          </p:nvPr>
        </p:nvSpPr>
        <p:spPr>
          <a:xfrm>
            <a:off x="5083628" y="1426258"/>
            <a:ext cx="4193721" cy="2416399"/>
          </a:xfrm>
        </p:spPr>
        <p:txBody>
          <a:bodyPr/>
          <a:lstStyle/>
          <a:p>
            <a:pPr algn="ctr"/>
            <a:r>
              <a:rPr lang="zh-CN" altLang="en-US" dirty="0"/>
              <a:t>方式</a:t>
            </a:r>
            <a:r>
              <a:rPr lang="en-US" altLang="zh-CN" dirty="0"/>
              <a:t>1</a:t>
            </a:r>
            <a:r>
              <a:rPr lang="zh-CN" altLang="en-US" dirty="0"/>
              <a:t>和</a:t>
            </a:r>
            <a:r>
              <a:rPr lang="en-US" altLang="zh-CN" dirty="0"/>
              <a:t>3</a:t>
            </a:r>
          </a:p>
          <a:p>
            <a:r>
              <a:rPr lang="en-US" altLang="zh-CN" dirty="0"/>
              <a:t>1.</a:t>
            </a:r>
            <a:r>
              <a:rPr lang="zh-CN" altLang="en-US" dirty="0"/>
              <a:t>设置串口工作方式：</a:t>
            </a:r>
            <a:r>
              <a:rPr lang="en-US" altLang="zh-CN" dirty="0"/>
              <a:t>SCON</a:t>
            </a:r>
            <a:r>
              <a:rPr lang="zh-CN" altLang="en-US" dirty="0"/>
              <a:t>初值</a:t>
            </a:r>
            <a:endParaRPr lang="en-US" altLang="zh-CN" dirty="0"/>
          </a:p>
          <a:p>
            <a:r>
              <a:rPr lang="en-US" altLang="zh-CN" dirty="0"/>
              <a:t>2.</a:t>
            </a:r>
            <a:r>
              <a:rPr lang="zh-CN" altLang="en-US" dirty="0"/>
              <a:t>设置</a:t>
            </a:r>
            <a:r>
              <a:rPr lang="en-US" altLang="zh-CN" dirty="0"/>
              <a:t>T1</a:t>
            </a:r>
            <a:r>
              <a:rPr lang="zh-CN" altLang="en-US" dirty="0"/>
              <a:t>工作方式：</a:t>
            </a:r>
            <a:r>
              <a:rPr lang="en-US" altLang="zh-CN" dirty="0"/>
              <a:t>TMOD</a:t>
            </a:r>
            <a:r>
              <a:rPr lang="zh-CN" altLang="en-US" dirty="0"/>
              <a:t>初值</a:t>
            </a:r>
            <a:endParaRPr lang="en-US" altLang="zh-CN" dirty="0"/>
          </a:p>
          <a:p>
            <a:r>
              <a:rPr lang="en-US" altLang="zh-CN" dirty="0"/>
              <a:t>3.</a:t>
            </a:r>
            <a:r>
              <a:rPr lang="zh-CN" altLang="en-US" dirty="0"/>
              <a:t>装载</a:t>
            </a:r>
            <a:r>
              <a:rPr lang="en-US" altLang="zh-CN" dirty="0"/>
              <a:t>T1</a:t>
            </a:r>
            <a:r>
              <a:rPr lang="zh-CN" altLang="en-US" dirty="0"/>
              <a:t>初值：</a:t>
            </a:r>
            <a:r>
              <a:rPr lang="en-US" altLang="zh-CN" dirty="0"/>
              <a:t>TH1</a:t>
            </a:r>
            <a:r>
              <a:rPr lang="zh-CN" altLang="en-US" dirty="0"/>
              <a:t>、</a:t>
            </a:r>
            <a:r>
              <a:rPr lang="en-US" altLang="zh-CN" dirty="0"/>
              <a:t>TL1</a:t>
            </a:r>
          </a:p>
          <a:p>
            <a:r>
              <a:rPr lang="en-US" altLang="zh-CN" dirty="0"/>
              <a:t>4.</a:t>
            </a:r>
            <a:r>
              <a:rPr lang="zh-CN" altLang="en-US" dirty="0"/>
              <a:t>启动</a:t>
            </a:r>
            <a:r>
              <a:rPr lang="en-US" altLang="zh-CN" dirty="0"/>
              <a:t>T1:TCON</a:t>
            </a:r>
            <a:r>
              <a:rPr lang="zh-CN" altLang="en-US" dirty="0"/>
              <a:t>的</a:t>
            </a:r>
            <a:r>
              <a:rPr lang="en-US" altLang="zh-CN" dirty="0"/>
              <a:t>TR1</a:t>
            </a:r>
          </a:p>
          <a:p>
            <a:r>
              <a:rPr lang="en-US" altLang="zh-CN" dirty="0"/>
              <a:t>5.</a:t>
            </a:r>
            <a:r>
              <a:rPr lang="zh-CN" altLang="en-US" dirty="0">
                <a:solidFill>
                  <a:srgbClr val="0070C0"/>
                </a:solidFill>
              </a:rPr>
              <a:t>设置中断：</a:t>
            </a:r>
            <a:r>
              <a:rPr lang="en-US" altLang="zh-CN" dirty="0">
                <a:solidFill>
                  <a:srgbClr val="0070C0"/>
                </a:solidFill>
              </a:rPr>
              <a:t>IE</a:t>
            </a:r>
            <a:r>
              <a:rPr lang="zh-CN" altLang="en-US" dirty="0">
                <a:solidFill>
                  <a:srgbClr val="0070C0"/>
                </a:solidFill>
              </a:rPr>
              <a:t>、</a:t>
            </a:r>
            <a:r>
              <a:rPr lang="en-US" altLang="zh-CN" dirty="0">
                <a:solidFill>
                  <a:srgbClr val="0070C0"/>
                </a:solidFill>
              </a:rPr>
              <a:t>IP</a:t>
            </a:r>
            <a:endParaRPr lang="zh-CN" altLang="en-US" dirty="0">
              <a:solidFill>
                <a:srgbClr val="0070C0"/>
              </a:solidFill>
            </a:endParaRPr>
          </a:p>
        </p:txBody>
      </p:sp>
      <p:sp>
        <p:nvSpPr>
          <p:cNvPr id="5" name="文本框 4">
            <a:extLst>
              <a:ext uri="{FF2B5EF4-FFF2-40B4-BE49-F238E27FC236}">
                <a16:creationId xmlns:a16="http://schemas.microsoft.com/office/drawing/2014/main" id="{BB4781A7-A779-B559-E5AC-191E86AADDC0}"/>
              </a:ext>
            </a:extLst>
          </p:cNvPr>
          <p:cNvSpPr txBox="1"/>
          <p:nvPr/>
        </p:nvSpPr>
        <p:spPr>
          <a:xfrm>
            <a:off x="628650" y="1426258"/>
            <a:ext cx="4582884" cy="5355312"/>
          </a:xfrm>
          <a:prstGeom prst="rect">
            <a:avLst/>
          </a:prstGeom>
          <a:noFill/>
        </p:spPr>
        <p:txBody>
          <a:bodyPr wrap="square">
            <a:spAutoFit/>
          </a:bodyPr>
          <a:lstStyle/>
          <a:p>
            <a:r>
              <a:rPr lang="en-US" altLang="zh-CN" dirty="0"/>
              <a:t>#include &lt;Reg52.h&gt;</a:t>
            </a:r>
          </a:p>
          <a:p>
            <a:r>
              <a:rPr lang="en-US" altLang="zh-CN" dirty="0"/>
              <a:t>char </a:t>
            </a:r>
            <a:r>
              <a:rPr lang="en-US" altLang="zh-CN" dirty="0" err="1"/>
              <a:t>cnt</a:t>
            </a:r>
            <a:r>
              <a:rPr lang="en-US" altLang="zh-CN" dirty="0"/>
              <a:t>=10;</a:t>
            </a:r>
          </a:p>
          <a:p>
            <a:r>
              <a:rPr lang="en-US" altLang="zh-CN" dirty="0"/>
              <a:t>void </a:t>
            </a:r>
            <a:r>
              <a:rPr lang="en-US" altLang="zh-CN" dirty="0" err="1"/>
              <a:t>SerialInit</a:t>
            </a:r>
            <a:r>
              <a:rPr lang="en-US" altLang="zh-CN" dirty="0"/>
              <a:t>()</a:t>
            </a:r>
          </a:p>
          <a:p>
            <a:r>
              <a:rPr lang="en-US" altLang="zh-CN" dirty="0"/>
              <a:t>{</a:t>
            </a:r>
          </a:p>
          <a:p>
            <a:r>
              <a:rPr lang="en-US" altLang="zh-CN" dirty="0"/>
              <a:t>	SCON = 0x50;</a:t>
            </a:r>
          </a:p>
          <a:p>
            <a:r>
              <a:rPr lang="en-US" altLang="zh-CN" dirty="0"/>
              <a:t>	TMOD = 0x20;</a:t>
            </a:r>
          </a:p>
          <a:p>
            <a:r>
              <a:rPr lang="en-US" altLang="zh-CN" dirty="0"/>
              <a:t>	TH1 = TL1 = -11059200/12/32/9600;</a:t>
            </a:r>
          </a:p>
          <a:p>
            <a:r>
              <a:rPr lang="en-US" altLang="zh-CN" dirty="0"/>
              <a:t>	TR1 = 1;</a:t>
            </a:r>
          </a:p>
          <a:p>
            <a:r>
              <a:rPr lang="en-US" altLang="zh-CN" dirty="0"/>
              <a:t>}</a:t>
            </a:r>
          </a:p>
          <a:p>
            <a:endParaRPr lang="en-US" altLang="zh-CN" dirty="0"/>
          </a:p>
          <a:p>
            <a:r>
              <a:rPr lang="en-US" altLang="zh-CN" dirty="0"/>
              <a:t>void main()</a:t>
            </a:r>
          </a:p>
          <a:p>
            <a:r>
              <a:rPr lang="en-US" altLang="zh-CN" dirty="0"/>
              <a:t>{</a:t>
            </a:r>
          </a:p>
          <a:p>
            <a:r>
              <a:rPr lang="en-US" altLang="zh-CN" dirty="0"/>
              <a:t>	while(</a:t>
            </a:r>
            <a:r>
              <a:rPr lang="en-US" altLang="zh-CN" dirty="0" err="1"/>
              <a:t>cnt</a:t>
            </a:r>
            <a:r>
              <a:rPr lang="en-US" altLang="zh-CN" dirty="0"/>
              <a:t>--)</a:t>
            </a:r>
          </a:p>
          <a:p>
            <a:r>
              <a:rPr lang="en-US" altLang="zh-CN" dirty="0"/>
              <a:t>	{</a:t>
            </a:r>
            <a:r>
              <a:rPr lang="en-US" altLang="zh-CN" dirty="0" err="1"/>
              <a:t>SerialInit</a:t>
            </a:r>
            <a:r>
              <a:rPr lang="en-US" altLang="zh-CN" dirty="0"/>
              <a:t>();</a:t>
            </a:r>
          </a:p>
          <a:p>
            <a:r>
              <a:rPr lang="en-US" altLang="zh-CN" dirty="0"/>
              <a:t>	SBUF = 'A';</a:t>
            </a:r>
          </a:p>
          <a:p>
            <a:r>
              <a:rPr lang="en-US" altLang="zh-CN" dirty="0"/>
              <a:t>	while(TI==0);</a:t>
            </a:r>
          </a:p>
          <a:p>
            <a:r>
              <a:rPr lang="en-US" altLang="zh-CN" dirty="0"/>
              <a:t>	TI = 0;</a:t>
            </a:r>
          </a:p>
          <a:p>
            <a:r>
              <a:rPr lang="en-US" altLang="zh-CN" dirty="0"/>
              <a:t>	}</a:t>
            </a:r>
          </a:p>
          <a:p>
            <a:r>
              <a:rPr lang="en-US" altLang="zh-CN" dirty="0"/>
              <a:t>}</a:t>
            </a:r>
            <a:endParaRPr lang="zh-CN" altLang="en-US" dirty="0"/>
          </a:p>
        </p:txBody>
      </p:sp>
      <p:cxnSp>
        <p:nvCxnSpPr>
          <p:cNvPr id="7" name="直接箭头连接符 6">
            <a:extLst>
              <a:ext uri="{FF2B5EF4-FFF2-40B4-BE49-F238E27FC236}">
                <a16:creationId xmlns:a16="http://schemas.microsoft.com/office/drawing/2014/main" id="{1201B50D-4854-ADB6-0930-9C96BC46B741}"/>
              </a:ext>
            </a:extLst>
          </p:cNvPr>
          <p:cNvCxnSpPr/>
          <p:nvPr/>
        </p:nvCxnSpPr>
        <p:spPr>
          <a:xfrm flipV="1">
            <a:off x="3069771" y="2100943"/>
            <a:ext cx="2013857" cy="55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A19311D4-FC7D-4155-D1D2-8D40896D392B}"/>
              </a:ext>
            </a:extLst>
          </p:cNvPr>
          <p:cNvCxnSpPr/>
          <p:nvPr/>
        </p:nvCxnSpPr>
        <p:spPr>
          <a:xfrm flipV="1">
            <a:off x="3069771" y="2378528"/>
            <a:ext cx="2013857" cy="55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92010F8-BFA6-8402-1D91-BC959F3C560E}"/>
              </a:ext>
            </a:extLst>
          </p:cNvPr>
          <p:cNvCxnSpPr/>
          <p:nvPr/>
        </p:nvCxnSpPr>
        <p:spPr>
          <a:xfrm flipV="1">
            <a:off x="3053444" y="2740934"/>
            <a:ext cx="2013857" cy="555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F8A8429A-DB93-1F13-2512-DD9F26808CB1}"/>
              </a:ext>
            </a:extLst>
          </p:cNvPr>
          <p:cNvCxnSpPr>
            <a:cxnSpLocks/>
          </p:cNvCxnSpPr>
          <p:nvPr/>
        </p:nvCxnSpPr>
        <p:spPr>
          <a:xfrm flipV="1">
            <a:off x="2558143" y="3155836"/>
            <a:ext cx="2653391" cy="402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F7805A5C-C296-D912-3840-456D2B9C94CD}"/>
              </a:ext>
            </a:extLst>
          </p:cNvPr>
          <p:cNvSpPr txBox="1"/>
          <p:nvPr/>
        </p:nvSpPr>
        <p:spPr>
          <a:xfrm>
            <a:off x="3807010" y="4721904"/>
            <a:ext cx="4708340" cy="1600438"/>
          </a:xfrm>
          <a:prstGeom prst="rect">
            <a:avLst/>
          </a:prstGeom>
          <a:noFill/>
        </p:spPr>
        <p:txBody>
          <a:bodyPr wrap="none" rtlCol="0">
            <a:spAutoFit/>
          </a:bodyPr>
          <a:lstStyle/>
          <a:p>
            <a:r>
              <a:rPr lang="en-US" altLang="zh-CN" sz="2800" dirty="0"/>
              <a:t> </a:t>
            </a:r>
            <a:r>
              <a:rPr lang="zh-CN" altLang="en-US" sz="2800" dirty="0">
                <a:solidFill>
                  <a:srgbClr val="FF0000"/>
                </a:solidFill>
              </a:rPr>
              <a:t>学习方法：</a:t>
            </a:r>
            <a:endParaRPr lang="en-US" altLang="zh-CN" sz="2800" dirty="0">
              <a:solidFill>
                <a:srgbClr val="FF0000"/>
              </a:solidFill>
            </a:endParaRPr>
          </a:p>
          <a:p>
            <a:pPr>
              <a:lnSpc>
                <a:spcPct val="150000"/>
              </a:lnSpc>
            </a:pPr>
            <a:r>
              <a:rPr lang="en-US" altLang="zh-CN" sz="2800" dirty="0"/>
              <a:t>                  </a:t>
            </a:r>
            <a:r>
              <a:rPr lang="zh-CN" altLang="en-US" sz="2800" dirty="0">
                <a:solidFill>
                  <a:srgbClr val="0070C0"/>
                </a:solidFill>
              </a:rPr>
              <a:t>线上理论</a:t>
            </a:r>
            <a:r>
              <a:rPr lang="en-US" altLang="zh-CN" sz="2800" dirty="0"/>
              <a:t>+</a:t>
            </a:r>
            <a:r>
              <a:rPr lang="zh-CN" altLang="en-US" sz="2800" dirty="0"/>
              <a:t>线下实践</a:t>
            </a:r>
            <a:endParaRPr lang="en-US" altLang="zh-CN" sz="2800" dirty="0"/>
          </a:p>
          <a:p>
            <a:r>
              <a:rPr lang="en-US" altLang="zh-CN" sz="2800" dirty="0"/>
              <a:t>                  </a:t>
            </a:r>
            <a:r>
              <a:rPr lang="zh-CN" altLang="en-US" sz="2800" dirty="0">
                <a:solidFill>
                  <a:srgbClr val="0070C0"/>
                </a:solidFill>
              </a:rPr>
              <a:t>仿真练习</a:t>
            </a:r>
            <a:r>
              <a:rPr lang="en-US" altLang="zh-CN" sz="2800" dirty="0"/>
              <a:t>+</a:t>
            </a:r>
            <a:r>
              <a:rPr lang="zh-CN" altLang="en-US" sz="2800" dirty="0"/>
              <a:t>项目实践</a:t>
            </a:r>
          </a:p>
        </p:txBody>
      </p:sp>
    </p:spTree>
    <p:extLst>
      <p:ext uri="{BB962C8B-B14F-4D97-AF65-F5344CB8AC3E}">
        <p14:creationId xmlns:p14="http://schemas.microsoft.com/office/powerpoint/2010/main" val="6640205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additive="base">
                                        <p:cTn id="2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 calcmode="lin" valueType="num">
                                      <p:cBhvr additive="base">
                                        <p:cTn id="3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additive="base">
                                        <p:cTn id="4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additive="base">
                                        <p:cTn id="5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二、工程任务</a:t>
            </a:r>
            <a:endParaRPr lang="zh-CN" altLang="en-US" sz="3200" dirty="0"/>
          </a:p>
        </p:txBody>
      </p:sp>
      <p:sp>
        <p:nvSpPr>
          <p:cNvPr id="3" name="TextBox 3">
            <a:extLst>
              <a:ext uri="{FF2B5EF4-FFF2-40B4-BE49-F238E27FC236}">
                <a16:creationId xmlns:a16="http://schemas.microsoft.com/office/drawing/2014/main" id="{63F11B7F-C601-34DC-1249-FDB7C3A9BECF}"/>
              </a:ext>
            </a:extLst>
          </p:cNvPr>
          <p:cNvSpPr txBox="1">
            <a:spLocks noChangeArrowheads="1"/>
          </p:cNvSpPr>
          <p:nvPr/>
        </p:nvSpPr>
        <p:spPr bwMode="auto">
          <a:xfrm>
            <a:off x="504825" y="1192642"/>
            <a:ext cx="8181975" cy="2931572"/>
          </a:xfrm>
          <a:prstGeom prst="rect">
            <a:avLst/>
          </a:prstGeom>
          <a:noFill/>
          <a:ln w="9525">
            <a:noFill/>
            <a:miter lim="800000"/>
            <a:headEnd/>
            <a:tailEnd/>
          </a:ln>
        </p:spPr>
        <p:txBody>
          <a:bodyPr>
            <a:spAutoFit/>
          </a:bodyPr>
          <a:lstStyle/>
          <a:p>
            <a:pPr>
              <a:lnSpc>
                <a:spcPct val="150000"/>
              </a:lnSpc>
            </a:pPr>
            <a:r>
              <a:rPr lang="zh-CN" altLang="en-US" sz="3200" b="1" dirty="0">
                <a:solidFill>
                  <a:srgbClr val="0000FF"/>
                </a:solidFill>
                <a:latin typeface="楷体" panose="02010609060101010101" pitchFamily="49" charset="-122"/>
                <a:ea typeface="楷体" panose="02010609060101010101" pitchFamily="49" charset="-122"/>
              </a:rPr>
              <a:t>任务</a:t>
            </a:r>
            <a:r>
              <a:rPr lang="en-US" altLang="zh-CN" sz="3200" b="1" dirty="0">
                <a:solidFill>
                  <a:srgbClr val="0000FF"/>
                </a:solidFill>
                <a:latin typeface="楷体" panose="02010609060101010101" pitchFamily="49" charset="-122"/>
                <a:ea typeface="楷体" panose="02010609060101010101" pitchFamily="49" charset="-122"/>
              </a:rPr>
              <a:t>1.</a:t>
            </a:r>
            <a:r>
              <a:rPr lang="zh-CN" altLang="en-US" sz="3200" b="1" dirty="0">
                <a:solidFill>
                  <a:srgbClr val="0000FF"/>
                </a:solidFill>
                <a:latin typeface="楷体" panose="02010609060101010101" pitchFamily="49" charset="-122"/>
                <a:ea typeface="楷体" panose="02010609060101010101" pitchFamily="49" charset="-122"/>
              </a:rPr>
              <a:t>用</a:t>
            </a:r>
            <a:r>
              <a:rPr lang="en-US" altLang="zh-CN" sz="3200" b="1" dirty="0">
                <a:solidFill>
                  <a:srgbClr val="0000FF"/>
                </a:solidFill>
                <a:latin typeface="楷体" panose="02010609060101010101" pitchFamily="49" charset="-122"/>
                <a:ea typeface="楷体" panose="02010609060101010101" pitchFamily="49" charset="-122"/>
              </a:rPr>
              <a:t>MSC51</a:t>
            </a:r>
            <a:r>
              <a:rPr lang="zh-CN" altLang="en-US" sz="3200" b="1" dirty="0">
                <a:solidFill>
                  <a:srgbClr val="0000FF"/>
                </a:solidFill>
                <a:latin typeface="楷体" panose="02010609060101010101" pitchFamily="49" charset="-122"/>
                <a:ea typeface="楷体" panose="02010609060101010101" pitchFamily="49" charset="-122"/>
              </a:rPr>
              <a:t>单片机</a:t>
            </a:r>
            <a:r>
              <a:rPr lang="zh-CN" altLang="en-US" sz="3200" b="1" dirty="0">
                <a:solidFill>
                  <a:srgbClr val="FF0000"/>
                </a:solidFill>
                <a:latin typeface="楷体" panose="02010609060101010101" pitchFamily="49" charset="-122"/>
                <a:ea typeface="楷体" panose="02010609060101010101" pitchFamily="49" charset="-122"/>
              </a:rPr>
              <a:t>最少的</a:t>
            </a:r>
            <a:r>
              <a:rPr lang="en-US" altLang="zh-CN" sz="3200" b="1" dirty="0">
                <a:solidFill>
                  <a:srgbClr val="FF0000"/>
                </a:solidFill>
                <a:latin typeface="楷体" panose="02010609060101010101" pitchFamily="49" charset="-122"/>
                <a:ea typeface="楷体" panose="02010609060101010101" pitchFamily="49" charset="-122"/>
              </a:rPr>
              <a:t>I/O</a:t>
            </a:r>
            <a:r>
              <a:rPr lang="zh-CN" altLang="en-US" sz="3200" b="1" dirty="0">
                <a:solidFill>
                  <a:srgbClr val="FF0000"/>
                </a:solidFill>
                <a:latin typeface="楷体" panose="02010609060101010101" pitchFamily="49" charset="-122"/>
                <a:ea typeface="楷体" panose="02010609060101010101" pitchFamily="49" charset="-122"/>
              </a:rPr>
              <a:t>资源</a:t>
            </a:r>
            <a:r>
              <a:rPr lang="zh-CN" altLang="en-US" sz="3200" b="1" dirty="0">
                <a:solidFill>
                  <a:srgbClr val="0000FF"/>
                </a:solidFill>
                <a:latin typeface="楷体" panose="02010609060101010101" pitchFamily="49" charset="-122"/>
                <a:ea typeface="楷体" panose="02010609060101010101" pitchFamily="49" charset="-122"/>
              </a:rPr>
              <a:t>，实现多位数码管的动态显示。</a:t>
            </a:r>
            <a:endParaRPr lang="en-US" altLang="zh-CN" sz="3200" b="1" dirty="0">
              <a:latin typeface="楷体" panose="02010609060101010101" pitchFamily="49" charset="-122"/>
              <a:ea typeface="楷体" panose="02010609060101010101" pitchFamily="49" charset="-122"/>
            </a:endParaRPr>
          </a:p>
          <a:p>
            <a:pPr>
              <a:lnSpc>
                <a:spcPct val="150000"/>
              </a:lnSpc>
            </a:pPr>
            <a:r>
              <a:rPr lang="zh-CN" altLang="en-US" sz="3200" b="1" dirty="0">
                <a:latin typeface="楷体" panose="02010609060101010101" pitchFamily="49" charset="-122"/>
                <a:ea typeface="楷体" panose="02010609060101010101" pitchFamily="49" charset="-122"/>
              </a:rPr>
              <a:t>任务</a:t>
            </a:r>
            <a:r>
              <a:rPr lang="en-US" altLang="zh-CN" sz="3200" b="1" dirty="0">
                <a:latin typeface="楷体" panose="02010609060101010101" pitchFamily="49" charset="-122"/>
                <a:ea typeface="楷体" panose="02010609060101010101" pitchFamily="49" charset="-122"/>
              </a:rPr>
              <a:t>2.</a:t>
            </a:r>
            <a:r>
              <a:rPr lang="zh-CN" altLang="en-US" sz="3200" b="1" dirty="0">
                <a:latin typeface="楷体" panose="02010609060101010101" pitchFamily="49" charset="-122"/>
                <a:ea typeface="楷体" panose="02010609060101010101" pitchFamily="49" charset="-122"/>
              </a:rPr>
              <a:t>用</a:t>
            </a:r>
            <a:r>
              <a:rPr lang="zh-CN" altLang="en-US" sz="3200" b="1" dirty="0">
                <a:solidFill>
                  <a:srgbClr val="FF0000"/>
                </a:solidFill>
                <a:latin typeface="楷体" panose="02010609060101010101" pitchFamily="49" charset="-122"/>
                <a:ea typeface="楷体" panose="02010609060101010101" pitchFamily="49" charset="-122"/>
              </a:rPr>
              <a:t>最少的连线</a:t>
            </a:r>
            <a:r>
              <a:rPr lang="zh-CN" altLang="en-US" sz="3200" b="1" dirty="0">
                <a:latin typeface="楷体" panose="02010609060101010101" pitchFamily="49" charset="-122"/>
                <a:ea typeface="楷体" panose="02010609060101010101" pitchFamily="49" charset="-122"/>
              </a:rPr>
              <a:t>，实现两个</a:t>
            </a:r>
            <a:r>
              <a:rPr lang="en-US" altLang="zh-CN" sz="3200" b="1" dirty="0">
                <a:latin typeface="楷体" panose="02010609060101010101" pitchFamily="49" charset="-122"/>
                <a:ea typeface="楷体" panose="02010609060101010101" pitchFamily="49" charset="-122"/>
              </a:rPr>
              <a:t>MCS51</a:t>
            </a:r>
            <a:r>
              <a:rPr lang="zh-CN" altLang="en-US" sz="3200" b="1" dirty="0">
                <a:latin typeface="楷体" panose="02010609060101010101" pitchFamily="49" charset="-122"/>
                <a:ea typeface="楷体" panose="02010609060101010101" pitchFamily="49" charset="-122"/>
              </a:rPr>
              <a:t>单片机之间的通信。</a:t>
            </a:r>
          </a:p>
        </p:txBody>
      </p:sp>
      <p:pic>
        <p:nvPicPr>
          <p:cNvPr id="6" name="图片 5">
            <a:extLst>
              <a:ext uri="{FF2B5EF4-FFF2-40B4-BE49-F238E27FC236}">
                <a16:creationId xmlns:a16="http://schemas.microsoft.com/office/drawing/2014/main" id="{F54AD3ED-BC6D-B87D-9329-831C9574C756}"/>
              </a:ext>
            </a:extLst>
          </p:cNvPr>
          <p:cNvPicPr>
            <a:picLocks noChangeAspect="1"/>
          </p:cNvPicPr>
          <p:nvPr/>
        </p:nvPicPr>
        <p:blipFill>
          <a:blip r:embed="rId3"/>
          <a:stretch>
            <a:fillRect/>
          </a:stretch>
        </p:blipFill>
        <p:spPr>
          <a:xfrm>
            <a:off x="4325092" y="3519670"/>
            <a:ext cx="4361708" cy="3338330"/>
          </a:xfrm>
          <a:prstGeom prst="rect">
            <a:avLst/>
          </a:prstGeom>
        </p:spPr>
      </p:pic>
      <p:sp>
        <p:nvSpPr>
          <p:cNvPr id="7" name="文本框 6">
            <a:extLst>
              <a:ext uri="{FF2B5EF4-FFF2-40B4-BE49-F238E27FC236}">
                <a16:creationId xmlns:a16="http://schemas.microsoft.com/office/drawing/2014/main" id="{A85B8460-F649-43C4-EF86-82CB634FD038}"/>
              </a:ext>
            </a:extLst>
          </p:cNvPr>
          <p:cNvSpPr txBox="1"/>
          <p:nvPr/>
        </p:nvSpPr>
        <p:spPr>
          <a:xfrm>
            <a:off x="504825" y="4308076"/>
            <a:ext cx="3729718" cy="1384995"/>
          </a:xfrm>
          <a:prstGeom prst="rect">
            <a:avLst/>
          </a:prstGeom>
          <a:noFill/>
          <a:ln>
            <a:solidFill>
              <a:schemeClr val="accent1"/>
            </a:solidFill>
          </a:ln>
        </p:spPr>
        <p:txBody>
          <a:bodyPr wrap="square" rtlCol="0">
            <a:spAutoFit/>
          </a:bodyPr>
          <a:lstStyle/>
          <a:p>
            <a:r>
              <a:rPr lang="zh-CN" altLang="en-US" sz="2800" dirty="0">
                <a:solidFill>
                  <a:srgbClr val="FF0000"/>
                </a:solidFill>
              </a:rPr>
              <a:t>能力要求：</a:t>
            </a:r>
            <a:endParaRPr lang="en-US" altLang="zh-CN" sz="2800" dirty="0">
              <a:solidFill>
                <a:srgbClr val="FF0000"/>
              </a:solidFill>
            </a:endParaRPr>
          </a:p>
          <a:p>
            <a:r>
              <a:rPr lang="en-US" altLang="zh-CN" sz="2800" dirty="0">
                <a:solidFill>
                  <a:srgbClr val="FF0000"/>
                </a:solidFill>
              </a:rPr>
              <a:t>1</a:t>
            </a:r>
            <a:r>
              <a:rPr lang="zh-CN" altLang="en-US" sz="2800" dirty="0">
                <a:solidFill>
                  <a:srgbClr val="FF0000"/>
                </a:solidFill>
              </a:rPr>
              <a:t>）具有通信基础知识</a:t>
            </a:r>
            <a:endParaRPr lang="en-US" altLang="zh-CN" sz="2800" dirty="0">
              <a:solidFill>
                <a:srgbClr val="FF0000"/>
              </a:solidFill>
            </a:endParaRPr>
          </a:p>
          <a:p>
            <a:r>
              <a:rPr lang="en-US" altLang="zh-CN" sz="2800" dirty="0">
                <a:solidFill>
                  <a:srgbClr val="FF0000"/>
                </a:solidFill>
              </a:rPr>
              <a:t>2</a:t>
            </a:r>
            <a:r>
              <a:rPr lang="zh-CN" altLang="en-US" sz="2800" dirty="0">
                <a:solidFill>
                  <a:srgbClr val="FF0000"/>
                </a:solidFill>
              </a:rPr>
              <a:t>）会设计软件和硬件</a:t>
            </a:r>
          </a:p>
        </p:txBody>
      </p:sp>
    </p:spTree>
    <p:extLst>
      <p:ext uri="{BB962C8B-B14F-4D97-AF65-F5344CB8AC3E}">
        <p14:creationId xmlns:p14="http://schemas.microsoft.com/office/powerpoint/2010/main" val="2636548637"/>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39F0AD7-7885-79BF-D6A8-F7151664A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37" y="1500763"/>
            <a:ext cx="3581584" cy="4095961"/>
          </a:xfrm>
          <a:prstGeom prst="rect">
            <a:avLst/>
          </a:prstGeom>
        </p:spPr>
      </p:pic>
      <p:sp>
        <p:nvSpPr>
          <p:cNvPr id="6" name="文本框 5">
            <a:extLst>
              <a:ext uri="{FF2B5EF4-FFF2-40B4-BE49-F238E27FC236}">
                <a16:creationId xmlns:a16="http://schemas.microsoft.com/office/drawing/2014/main" id="{C38D8380-2A4D-1151-6835-EBF189B93C06}"/>
              </a:ext>
            </a:extLst>
          </p:cNvPr>
          <p:cNvSpPr txBox="1"/>
          <p:nvPr/>
        </p:nvSpPr>
        <p:spPr>
          <a:xfrm>
            <a:off x="4930447" y="2035629"/>
            <a:ext cx="4342727" cy="2677656"/>
          </a:xfrm>
          <a:prstGeom prst="rect">
            <a:avLst/>
          </a:prstGeom>
          <a:noFill/>
        </p:spPr>
        <p:txBody>
          <a:bodyPr wrap="none" rtlCol="0">
            <a:spAutoFit/>
          </a:bodyPr>
          <a:lstStyle/>
          <a:p>
            <a:r>
              <a:rPr lang="zh-CN" altLang="en-US" sz="2800" dirty="0"/>
              <a:t>用</a:t>
            </a:r>
            <a:r>
              <a:rPr lang="en-US" altLang="zh-CN" sz="2800" dirty="0" err="1"/>
              <a:t>keil</a:t>
            </a:r>
            <a:r>
              <a:rPr lang="en-US" altLang="zh-CN" sz="2800" dirty="0"/>
              <a:t> C51</a:t>
            </a:r>
            <a:r>
              <a:rPr lang="zh-CN" altLang="en-US" sz="2800" dirty="0"/>
              <a:t>和</a:t>
            </a:r>
            <a:r>
              <a:rPr lang="en-US" altLang="zh-CN" sz="2800" dirty="0"/>
              <a:t>PROTEUS</a:t>
            </a:r>
          </a:p>
          <a:p>
            <a:r>
              <a:rPr lang="zh-CN" altLang="en-US" sz="2800" dirty="0"/>
              <a:t>仿真两个任务的案例</a:t>
            </a:r>
            <a:endParaRPr lang="en-US" altLang="zh-CN" sz="2800" dirty="0"/>
          </a:p>
          <a:p>
            <a:endParaRPr lang="en-US" altLang="zh-CN" sz="2800" dirty="0"/>
          </a:p>
          <a:p>
            <a:r>
              <a:rPr lang="zh-CN" altLang="en-US" sz="2800" b="1" dirty="0">
                <a:solidFill>
                  <a:srgbClr val="0070C0"/>
                </a:solidFill>
              </a:rPr>
              <a:t>线上学习：</a:t>
            </a:r>
            <a:endParaRPr lang="en-US" altLang="zh-CN" sz="2800" b="1" dirty="0">
              <a:solidFill>
                <a:srgbClr val="0070C0"/>
              </a:solidFill>
            </a:endParaRPr>
          </a:p>
          <a:p>
            <a:r>
              <a:rPr lang="en-US" altLang="zh-CN" sz="2800" b="1" dirty="0">
                <a:solidFill>
                  <a:srgbClr val="0070C0"/>
                </a:solidFill>
              </a:rPr>
              <a:t>      </a:t>
            </a:r>
            <a:r>
              <a:rPr lang="en-US" altLang="zh-CN" sz="2800" b="1" dirty="0"/>
              <a:t>1.</a:t>
            </a:r>
            <a:r>
              <a:rPr lang="zh-CN" altLang="en-US" sz="2800" b="1" dirty="0"/>
              <a:t>虚拟终端应用</a:t>
            </a:r>
            <a:endParaRPr lang="en-US" altLang="zh-CN" sz="2800" b="1" dirty="0"/>
          </a:p>
          <a:p>
            <a:pPr algn="ctr"/>
            <a:r>
              <a:rPr lang="en-US" altLang="zh-CN" sz="2800" b="1" dirty="0"/>
              <a:t>     2.STC-ISP </a:t>
            </a:r>
            <a:r>
              <a:rPr lang="zh-CN" altLang="en-US" sz="2800" b="1" dirty="0"/>
              <a:t>串口相关调试</a:t>
            </a:r>
            <a:endParaRPr lang="en-US" altLang="zh-CN" sz="2800" b="1" dirty="0"/>
          </a:p>
        </p:txBody>
      </p:sp>
    </p:spTree>
    <p:extLst>
      <p:ext uri="{BB962C8B-B14F-4D97-AF65-F5344CB8AC3E}">
        <p14:creationId xmlns:p14="http://schemas.microsoft.com/office/powerpoint/2010/main" val="25921067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TextBox 3">
            <a:extLst>
              <a:ext uri="{FF2B5EF4-FFF2-40B4-BE49-F238E27FC236}">
                <a16:creationId xmlns:a16="http://schemas.microsoft.com/office/drawing/2014/main" id="{63F11B7F-C601-34DC-1249-FDB7C3A9BECF}"/>
              </a:ext>
            </a:extLst>
          </p:cNvPr>
          <p:cNvSpPr txBox="1">
            <a:spLocks noChangeArrowheads="1"/>
          </p:cNvSpPr>
          <p:nvPr/>
        </p:nvSpPr>
        <p:spPr bwMode="auto">
          <a:xfrm>
            <a:off x="504825" y="1192642"/>
            <a:ext cx="8181975" cy="715581"/>
          </a:xfrm>
          <a:prstGeom prst="rect">
            <a:avLst/>
          </a:prstGeom>
          <a:noFill/>
          <a:ln w="9525">
            <a:noFill/>
            <a:miter lim="800000"/>
            <a:headEnd/>
            <a:tailEnd/>
          </a:ln>
        </p:spPr>
        <p:txBody>
          <a:bodyPr>
            <a:spAutoFit/>
          </a:bodyPr>
          <a:lstStyle/>
          <a:p>
            <a:pPr>
              <a:lnSpc>
                <a:spcPct val="150000"/>
              </a:lnSpc>
            </a:pPr>
            <a:r>
              <a:rPr lang="zh-CN" altLang="en-US" sz="3200" b="1" dirty="0">
                <a:solidFill>
                  <a:srgbClr val="CC0000"/>
                </a:solidFill>
                <a:latin typeface="楷体" panose="02010609060101010101" pitchFamily="49" charset="-122"/>
                <a:ea typeface="楷体" panose="02010609060101010101" pitchFamily="49" charset="-122"/>
              </a:rPr>
              <a:t>  并行通信</a:t>
            </a:r>
            <a:r>
              <a:rPr lang="zh-CN" altLang="en-US" sz="3200" b="1" dirty="0">
                <a:latin typeface="楷体" panose="02010609060101010101" pitchFamily="49" charset="-122"/>
                <a:ea typeface="楷体" panose="02010609060101010101" pitchFamily="49" charset="-122"/>
              </a:rPr>
              <a:t>                  </a:t>
            </a:r>
            <a:r>
              <a:rPr lang="zh-CN" altLang="en-US" sz="3200" b="1" dirty="0">
                <a:solidFill>
                  <a:srgbClr val="CC0000"/>
                </a:solidFill>
                <a:latin typeface="楷体" panose="02010609060101010101" pitchFamily="49" charset="-122"/>
                <a:ea typeface="楷体" panose="02010609060101010101" pitchFamily="49" charset="-122"/>
              </a:rPr>
              <a:t>串行通信</a:t>
            </a:r>
            <a:endParaRPr lang="zh-CN" altLang="en-US" sz="3200" b="1" dirty="0">
              <a:latin typeface="楷体" panose="02010609060101010101" pitchFamily="49" charset="-122"/>
              <a:ea typeface="楷体" panose="02010609060101010101" pitchFamily="49" charset="-122"/>
            </a:endParaRPr>
          </a:p>
        </p:txBody>
      </p:sp>
      <p:pic>
        <p:nvPicPr>
          <p:cNvPr id="6" name="图片 5">
            <a:extLst>
              <a:ext uri="{FF2B5EF4-FFF2-40B4-BE49-F238E27FC236}">
                <a16:creationId xmlns:a16="http://schemas.microsoft.com/office/drawing/2014/main" id="{E97E5BB2-A4C1-9460-B21A-A7DC9E0785D1}"/>
              </a:ext>
            </a:extLst>
          </p:cNvPr>
          <p:cNvPicPr>
            <a:picLocks noChangeAspect="1"/>
          </p:cNvPicPr>
          <p:nvPr/>
        </p:nvPicPr>
        <p:blipFill>
          <a:blip r:embed="rId3"/>
          <a:stretch>
            <a:fillRect/>
          </a:stretch>
        </p:blipFill>
        <p:spPr>
          <a:xfrm>
            <a:off x="447675" y="1990725"/>
            <a:ext cx="8248650" cy="2876550"/>
          </a:xfrm>
          <a:prstGeom prst="rect">
            <a:avLst/>
          </a:prstGeom>
        </p:spPr>
      </p:pic>
      <p:sp>
        <p:nvSpPr>
          <p:cNvPr id="8" name="文本框 7">
            <a:extLst>
              <a:ext uri="{FF2B5EF4-FFF2-40B4-BE49-F238E27FC236}">
                <a16:creationId xmlns:a16="http://schemas.microsoft.com/office/drawing/2014/main" id="{3520B4DB-78BE-D6D3-22AC-1DFF77414651}"/>
              </a:ext>
            </a:extLst>
          </p:cNvPr>
          <p:cNvSpPr txBox="1"/>
          <p:nvPr/>
        </p:nvSpPr>
        <p:spPr>
          <a:xfrm>
            <a:off x="504825" y="5084019"/>
            <a:ext cx="3577318" cy="646331"/>
          </a:xfrm>
          <a:prstGeom prst="rect">
            <a:avLst/>
          </a:prstGeom>
          <a:solidFill>
            <a:srgbClr val="FF0000"/>
          </a:solidFill>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优点：是控制简单、传输速度快</a:t>
            </a:r>
            <a:endParaRPr lang="en-US" altLang="zh-CN" b="1" dirty="0">
              <a:solidFill>
                <a:schemeClr val="bg1"/>
              </a:solidFill>
              <a:latin typeface="微软雅黑" panose="020B0503020204020204" pitchFamily="34" charset="-122"/>
              <a:ea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rPr>
              <a:t>不足：占</a:t>
            </a:r>
            <a:r>
              <a:rPr lang="en-US" altLang="zh-CN" b="1" dirty="0">
                <a:solidFill>
                  <a:schemeClr val="bg1"/>
                </a:solidFill>
                <a:latin typeface="微软雅黑" panose="020B0503020204020204" pitchFamily="34" charset="-122"/>
                <a:ea typeface="微软雅黑" panose="020B0503020204020204" pitchFamily="34" charset="-122"/>
              </a:rPr>
              <a:t>I/O</a:t>
            </a:r>
            <a:r>
              <a:rPr lang="zh-CN" altLang="en-US" b="1" dirty="0">
                <a:solidFill>
                  <a:schemeClr val="bg1"/>
                </a:solidFill>
                <a:latin typeface="微软雅黑" panose="020B0503020204020204" pitchFamily="34" charset="-122"/>
                <a:ea typeface="微软雅黑" panose="020B0503020204020204" pitchFamily="34" charset="-122"/>
              </a:rPr>
              <a:t>资源多、抗干扰力弱</a:t>
            </a:r>
          </a:p>
        </p:txBody>
      </p:sp>
      <p:sp>
        <p:nvSpPr>
          <p:cNvPr id="9" name="文本框 8">
            <a:extLst>
              <a:ext uri="{FF2B5EF4-FFF2-40B4-BE49-F238E27FC236}">
                <a16:creationId xmlns:a16="http://schemas.microsoft.com/office/drawing/2014/main" id="{BEFDEE06-67B6-4B72-B39A-69B2B4D23083}"/>
              </a:ext>
            </a:extLst>
          </p:cNvPr>
          <p:cNvSpPr txBox="1"/>
          <p:nvPr/>
        </p:nvSpPr>
        <p:spPr>
          <a:xfrm>
            <a:off x="5207453" y="5019027"/>
            <a:ext cx="3577318" cy="646331"/>
          </a:xfrm>
          <a:prstGeom prst="rect">
            <a:avLst/>
          </a:prstGeom>
          <a:solidFill>
            <a:srgbClr val="0070C0"/>
          </a:solidFill>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不足：是控制复杂、传输速度慢</a:t>
            </a:r>
            <a:endParaRPr lang="en-US" altLang="zh-CN" b="1" dirty="0">
              <a:solidFill>
                <a:schemeClr val="bg1"/>
              </a:solidFill>
              <a:latin typeface="微软雅黑" panose="020B0503020204020204" pitchFamily="34" charset="-122"/>
              <a:ea typeface="微软雅黑" panose="020B0503020204020204" pitchFamily="34" charset="-122"/>
            </a:endParaRPr>
          </a:p>
          <a:p>
            <a:r>
              <a:rPr lang="zh-CN" altLang="en-US" b="1" dirty="0">
                <a:solidFill>
                  <a:schemeClr val="bg1"/>
                </a:solidFill>
                <a:latin typeface="微软雅黑" panose="020B0503020204020204" pitchFamily="34" charset="-122"/>
                <a:ea typeface="微软雅黑" panose="020B0503020204020204" pitchFamily="34" charset="-122"/>
              </a:rPr>
              <a:t>优点：占</a:t>
            </a:r>
            <a:r>
              <a:rPr lang="en-US" altLang="zh-CN" b="1" dirty="0">
                <a:solidFill>
                  <a:schemeClr val="bg1"/>
                </a:solidFill>
                <a:latin typeface="微软雅黑" panose="020B0503020204020204" pitchFamily="34" charset="-122"/>
                <a:ea typeface="微软雅黑" panose="020B0503020204020204" pitchFamily="34" charset="-122"/>
              </a:rPr>
              <a:t>I/O</a:t>
            </a:r>
            <a:r>
              <a:rPr lang="zh-CN" altLang="en-US" b="1" dirty="0">
                <a:solidFill>
                  <a:schemeClr val="bg1"/>
                </a:solidFill>
                <a:latin typeface="微软雅黑" panose="020B0503020204020204" pitchFamily="34" charset="-122"/>
                <a:ea typeface="微软雅黑" panose="020B0503020204020204" pitchFamily="34" charset="-122"/>
              </a:rPr>
              <a:t>资源少、抗干扰力强</a:t>
            </a:r>
          </a:p>
        </p:txBody>
      </p:sp>
      <p:sp>
        <p:nvSpPr>
          <p:cNvPr id="10" name="文本框 9">
            <a:extLst>
              <a:ext uri="{FF2B5EF4-FFF2-40B4-BE49-F238E27FC236}">
                <a16:creationId xmlns:a16="http://schemas.microsoft.com/office/drawing/2014/main" id="{FC895704-1E62-0E80-1D32-AFDF7D3DB795}"/>
              </a:ext>
            </a:extLst>
          </p:cNvPr>
          <p:cNvSpPr txBox="1"/>
          <p:nvPr/>
        </p:nvSpPr>
        <p:spPr>
          <a:xfrm>
            <a:off x="849086" y="6029110"/>
            <a:ext cx="2659702" cy="461665"/>
          </a:xfrm>
          <a:prstGeom prst="rect">
            <a:avLst/>
          </a:prstGeom>
          <a:noFill/>
        </p:spPr>
        <p:txBody>
          <a:bodyPr wrap="none" rtlCol="0">
            <a:spAutoFit/>
          </a:bodyPr>
          <a:lstStyle/>
          <a:p>
            <a:r>
              <a:rPr lang="zh-CN" altLang="en-US" sz="2400" b="1" dirty="0">
                <a:latin typeface="楷体" panose="02010609060101010101" pitchFamily="49" charset="-122"/>
                <a:ea typeface="楷体" panose="02010609060101010101" pitchFamily="49" charset="-122"/>
              </a:rPr>
              <a:t>常用于近距离通信</a:t>
            </a:r>
            <a:endParaRPr lang="zh-CN" altLang="en-US" sz="2400" b="1" dirty="0"/>
          </a:p>
        </p:txBody>
      </p:sp>
      <p:sp>
        <p:nvSpPr>
          <p:cNvPr id="12" name="文本框 11">
            <a:extLst>
              <a:ext uri="{FF2B5EF4-FFF2-40B4-BE49-F238E27FC236}">
                <a16:creationId xmlns:a16="http://schemas.microsoft.com/office/drawing/2014/main" id="{5340C1D8-F460-2B1A-F561-8D176FD01377}"/>
              </a:ext>
            </a:extLst>
          </p:cNvPr>
          <p:cNvSpPr txBox="1"/>
          <p:nvPr/>
        </p:nvSpPr>
        <p:spPr>
          <a:xfrm>
            <a:off x="5010151" y="5998459"/>
            <a:ext cx="3905249" cy="461665"/>
          </a:xfrm>
          <a:prstGeom prst="rect">
            <a:avLst/>
          </a:prstGeom>
          <a:noFill/>
        </p:spPr>
        <p:txBody>
          <a:bodyPr wrap="square">
            <a:spAutoFit/>
          </a:bodyPr>
          <a:lstStyle/>
          <a:p>
            <a:r>
              <a:rPr lang="zh-CN" altLang="en-US" sz="2400" b="1" dirty="0">
                <a:latin typeface="楷体" panose="02010609060101010101" pitchFamily="49" charset="-122"/>
                <a:ea typeface="楷体" panose="02010609060101010101" pitchFamily="49" charset="-122"/>
              </a:rPr>
              <a:t>常用较少线实现远距离传输</a:t>
            </a:r>
            <a:endParaRPr lang="zh-CN" altLang="en-US" sz="2400" dirty="0"/>
          </a:p>
        </p:txBody>
      </p:sp>
    </p:spTree>
    <p:extLst>
      <p:ext uri="{BB962C8B-B14F-4D97-AF65-F5344CB8AC3E}">
        <p14:creationId xmlns:p14="http://schemas.microsoft.com/office/powerpoint/2010/main" val="2908740615"/>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B6E3E-4BF6-7F10-CD53-7311BF93E1E8}"/>
              </a:ext>
            </a:extLst>
          </p:cNvPr>
          <p:cNvSpPr>
            <a:spLocks noGrp="1"/>
          </p:cNvSpPr>
          <p:nvPr>
            <p:ph type="title"/>
          </p:nvPr>
        </p:nvSpPr>
        <p:spPr/>
        <p:txBody>
          <a:bodyPr/>
          <a:lstStyle/>
          <a:p>
            <a:pPr algn="ctr"/>
            <a:r>
              <a:rPr lang="zh-CN" altLang="en-US" dirty="0"/>
              <a:t>常见的串行通信接口</a:t>
            </a:r>
          </a:p>
        </p:txBody>
      </p:sp>
      <p:sp>
        <p:nvSpPr>
          <p:cNvPr id="8" name="文本框 7">
            <a:extLst>
              <a:ext uri="{FF2B5EF4-FFF2-40B4-BE49-F238E27FC236}">
                <a16:creationId xmlns:a16="http://schemas.microsoft.com/office/drawing/2014/main" id="{8B470B3F-1B78-F89D-04AE-4EC7C1373528}"/>
              </a:ext>
            </a:extLst>
          </p:cNvPr>
          <p:cNvSpPr txBox="1"/>
          <p:nvPr/>
        </p:nvSpPr>
        <p:spPr>
          <a:xfrm>
            <a:off x="1349887" y="4072650"/>
            <a:ext cx="776175" cy="523220"/>
          </a:xfrm>
          <a:prstGeom prst="rect">
            <a:avLst/>
          </a:prstGeom>
          <a:noFill/>
        </p:spPr>
        <p:txBody>
          <a:bodyPr wrap="none" rtlCol="0">
            <a:spAutoFit/>
          </a:bodyPr>
          <a:lstStyle/>
          <a:p>
            <a:r>
              <a:rPr lang="en-US" altLang="zh-CN" sz="2800" dirty="0"/>
              <a:t>USB</a:t>
            </a:r>
            <a:endParaRPr lang="zh-CN" altLang="en-US" sz="2800" dirty="0"/>
          </a:p>
        </p:txBody>
      </p:sp>
      <p:sp>
        <p:nvSpPr>
          <p:cNvPr id="11" name="文本框 10">
            <a:extLst>
              <a:ext uri="{FF2B5EF4-FFF2-40B4-BE49-F238E27FC236}">
                <a16:creationId xmlns:a16="http://schemas.microsoft.com/office/drawing/2014/main" id="{63D15734-3580-7BA2-3FC9-257DF6D3D036}"/>
              </a:ext>
            </a:extLst>
          </p:cNvPr>
          <p:cNvSpPr txBox="1"/>
          <p:nvPr/>
        </p:nvSpPr>
        <p:spPr>
          <a:xfrm>
            <a:off x="7168887" y="4001547"/>
            <a:ext cx="902811" cy="523220"/>
          </a:xfrm>
          <a:prstGeom prst="rect">
            <a:avLst/>
          </a:prstGeom>
          <a:noFill/>
        </p:spPr>
        <p:txBody>
          <a:bodyPr wrap="none" rtlCol="0">
            <a:spAutoFit/>
          </a:bodyPr>
          <a:lstStyle/>
          <a:p>
            <a:r>
              <a:rPr lang="zh-CN" altLang="en-US" sz="2800" dirty="0"/>
              <a:t>网口</a:t>
            </a:r>
          </a:p>
        </p:txBody>
      </p:sp>
      <p:pic>
        <p:nvPicPr>
          <p:cNvPr id="12" name="图片 11">
            <a:extLst>
              <a:ext uri="{FF2B5EF4-FFF2-40B4-BE49-F238E27FC236}">
                <a16:creationId xmlns:a16="http://schemas.microsoft.com/office/drawing/2014/main" id="{AAA29CF9-F665-29ED-3E72-B330E66E2401}"/>
              </a:ext>
            </a:extLst>
          </p:cNvPr>
          <p:cNvPicPr>
            <a:picLocks noChangeAspect="1"/>
          </p:cNvPicPr>
          <p:nvPr/>
        </p:nvPicPr>
        <p:blipFill>
          <a:blip r:embed="rId2"/>
          <a:stretch>
            <a:fillRect/>
          </a:stretch>
        </p:blipFill>
        <p:spPr>
          <a:xfrm>
            <a:off x="402037" y="4668559"/>
            <a:ext cx="3448050" cy="2085975"/>
          </a:xfrm>
          <a:prstGeom prst="rect">
            <a:avLst/>
          </a:prstGeom>
        </p:spPr>
      </p:pic>
      <p:pic>
        <p:nvPicPr>
          <p:cNvPr id="13" name="图片 12">
            <a:extLst>
              <a:ext uri="{FF2B5EF4-FFF2-40B4-BE49-F238E27FC236}">
                <a16:creationId xmlns:a16="http://schemas.microsoft.com/office/drawing/2014/main" id="{07EF1A13-975A-9403-98EE-024FEFE062BE}"/>
              </a:ext>
            </a:extLst>
          </p:cNvPr>
          <p:cNvPicPr>
            <a:picLocks noChangeAspect="1"/>
          </p:cNvPicPr>
          <p:nvPr/>
        </p:nvPicPr>
        <p:blipFill>
          <a:blip r:embed="rId3"/>
          <a:stretch>
            <a:fillRect/>
          </a:stretch>
        </p:blipFill>
        <p:spPr>
          <a:xfrm>
            <a:off x="4023220" y="4666973"/>
            <a:ext cx="2344923" cy="1736776"/>
          </a:xfrm>
          <a:prstGeom prst="rect">
            <a:avLst/>
          </a:prstGeom>
        </p:spPr>
      </p:pic>
      <p:pic>
        <p:nvPicPr>
          <p:cNvPr id="14" name="图片 13">
            <a:extLst>
              <a:ext uri="{FF2B5EF4-FFF2-40B4-BE49-F238E27FC236}">
                <a16:creationId xmlns:a16="http://schemas.microsoft.com/office/drawing/2014/main" id="{136AD558-695D-1007-ED02-C2326E9BA00D}"/>
              </a:ext>
            </a:extLst>
          </p:cNvPr>
          <p:cNvPicPr>
            <a:picLocks noChangeAspect="1"/>
          </p:cNvPicPr>
          <p:nvPr/>
        </p:nvPicPr>
        <p:blipFill>
          <a:blip r:embed="rId4"/>
          <a:stretch>
            <a:fillRect/>
          </a:stretch>
        </p:blipFill>
        <p:spPr>
          <a:xfrm>
            <a:off x="6569823" y="1667005"/>
            <a:ext cx="2100941" cy="2190750"/>
          </a:xfrm>
          <a:prstGeom prst="rect">
            <a:avLst/>
          </a:prstGeom>
        </p:spPr>
      </p:pic>
      <p:sp>
        <p:nvSpPr>
          <p:cNvPr id="16" name="文本框 15">
            <a:extLst>
              <a:ext uri="{FF2B5EF4-FFF2-40B4-BE49-F238E27FC236}">
                <a16:creationId xmlns:a16="http://schemas.microsoft.com/office/drawing/2014/main" id="{CBF090F9-D2D9-6F96-3944-F124F179E781}"/>
              </a:ext>
            </a:extLst>
          </p:cNvPr>
          <p:cNvSpPr txBox="1"/>
          <p:nvPr/>
        </p:nvSpPr>
        <p:spPr>
          <a:xfrm>
            <a:off x="4230416" y="4072650"/>
            <a:ext cx="1463862" cy="523220"/>
          </a:xfrm>
          <a:prstGeom prst="rect">
            <a:avLst/>
          </a:prstGeom>
          <a:noFill/>
        </p:spPr>
        <p:txBody>
          <a:bodyPr wrap="none" rtlCol="0">
            <a:spAutoFit/>
          </a:bodyPr>
          <a:lstStyle/>
          <a:p>
            <a:r>
              <a:rPr lang="en-US" altLang="zh-CN" sz="2800" dirty="0"/>
              <a:t>db9</a:t>
            </a:r>
            <a:r>
              <a:rPr lang="zh-CN" altLang="en-US" sz="2800" dirty="0"/>
              <a:t>串口</a:t>
            </a:r>
          </a:p>
        </p:txBody>
      </p:sp>
      <p:pic>
        <p:nvPicPr>
          <p:cNvPr id="18" name="图片 17">
            <a:extLst>
              <a:ext uri="{FF2B5EF4-FFF2-40B4-BE49-F238E27FC236}">
                <a16:creationId xmlns:a16="http://schemas.microsoft.com/office/drawing/2014/main" id="{95D7283C-6C27-5856-FF43-61A6C6C08103}"/>
              </a:ext>
            </a:extLst>
          </p:cNvPr>
          <p:cNvPicPr>
            <a:picLocks noChangeAspect="1"/>
          </p:cNvPicPr>
          <p:nvPr/>
        </p:nvPicPr>
        <p:blipFill>
          <a:blip r:embed="rId5"/>
          <a:stretch>
            <a:fillRect/>
          </a:stretch>
        </p:blipFill>
        <p:spPr>
          <a:xfrm>
            <a:off x="6569823" y="4734707"/>
            <a:ext cx="2574177" cy="1673493"/>
          </a:xfrm>
          <a:prstGeom prst="rect">
            <a:avLst/>
          </a:prstGeom>
        </p:spPr>
      </p:pic>
      <p:pic>
        <p:nvPicPr>
          <p:cNvPr id="20" name="图片 19">
            <a:extLst>
              <a:ext uri="{FF2B5EF4-FFF2-40B4-BE49-F238E27FC236}">
                <a16:creationId xmlns:a16="http://schemas.microsoft.com/office/drawing/2014/main" id="{BBCC8734-8EC2-1530-2EB1-D432A3AF02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71858" y="1690244"/>
            <a:ext cx="1972192" cy="2311303"/>
          </a:xfrm>
          <a:prstGeom prst="rect">
            <a:avLst/>
          </a:prstGeom>
        </p:spPr>
      </p:pic>
      <p:pic>
        <p:nvPicPr>
          <p:cNvPr id="21" name="图片 20">
            <a:extLst>
              <a:ext uri="{FF2B5EF4-FFF2-40B4-BE49-F238E27FC236}">
                <a16:creationId xmlns:a16="http://schemas.microsoft.com/office/drawing/2014/main" id="{A79B1013-FCB5-733B-C470-C8A517A971DA}"/>
              </a:ext>
            </a:extLst>
          </p:cNvPr>
          <p:cNvPicPr>
            <a:picLocks noChangeAspect="1"/>
          </p:cNvPicPr>
          <p:nvPr/>
        </p:nvPicPr>
        <p:blipFill>
          <a:blip r:embed="rId7"/>
          <a:stretch>
            <a:fillRect/>
          </a:stretch>
        </p:blipFill>
        <p:spPr>
          <a:xfrm>
            <a:off x="395231" y="1695557"/>
            <a:ext cx="3001112" cy="2237025"/>
          </a:xfrm>
          <a:prstGeom prst="rect">
            <a:avLst/>
          </a:prstGeom>
        </p:spPr>
      </p:pic>
    </p:spTree>
    <p:extLst>
      <p:ext uri="{BB962C8B-B14F-4D97-AF65-F5344CB8AC3E}">
        <p14:creationId xmlns:p14="http://schemas.microsoft.com/office/powerpoint/2010/main" val="338471053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885ADF09-F492-89BB-BFE3-9D31BF54768C}"/>
              </a:ext>
            </a:extLst>
          </p:cNvPr>
          <p:cNvSpPr txBox="1">
            <a:spLocks noChangeArrowheads="1"/>
          </p:cNvSpPr>
          <p:nvPr/>
        </p:nvSpPr>
        <p:spPr>
          <a:xfrm>
            <a:off x="157163" y="1205514"/>
            <a:ext cx="8923337" cy="3357562"/>
          </a:xfrm>
          <a:prstGeom prst="rect">
            <a:avLst/>
          </a:prstGeom>
        </p:spPr>
        <p:txBody>
          <a:bodyPr/>
          <a:lstStyle/>
          <a:p>
            <a:pPr marL="342900" indent="-342900">
              <a:lnSpc>
                <a:spcPct val="110000"/>
              </a:lnSpc>
              <a:spcBef>
                <a:spcPct val="20000"/>
              </a:spcBef>
              <a:buFont typeface="Arial" pitchFamily="34" charset="0"/>
              <a:buChar char="•"/>
              <a:defRPr/>
            </a:pPr>
            <a:r>
              <a:rPr lang="zh-CN" altLang="en-US" sz="2800" b="1" dirty="0">
                <a:solidFill>
                  <a:srgbClr val="FF00FF"/>
                </a:solidFill>
                <a:latin typeface="楷体" panose="02010609060101010101" pitchFamily="49" charset="-122"/>
                <a:ea typeface="楷体" panose="02010609060101010101" pitchFamily="49" charset="-122"/>
                <a:cs typeface="+mn-cs"/>
              </a:rPr>
              <a:t>单工</a:t>
            </a:r>
          </a:p>
          <a:p>
            <a:pPr marL="342900" indent="-342900">
              <a:lnSpc>
                <a:spcPct val="110000"/>
              </a:lnSpc>
              <a:spcBef>
                <a:spcPct val="20000"/>
              </a:spcBef>
              <a:buFont typeface="Wingdings" pitchFamily="2" charset="2"/>
              <a:buNone/>
              <a:defRPr/>
            </a:pPr>
            <a:r>
              <a:rPr lang="zh-CN" altLang="en-US" sz="2800" b="1" dirty="0">
                <a:latin typeface="楷体" panose="02010609060101010101" pitchFamily="49" charset="-122"/>
                <a:ea typeface="楷体" panose="02010609060101010101" pitchFamily="49" charset="-122"/>
                <a:cs typeface="+mn-cs"/>
              </a:rPr>
              <a:t>单工是指数据传输仅能沿一个方向，不能实现反向传输。</a:t>
            </a:r>
          </a:p>
          <a:p>
            <a:pPr marL="342900" indent="-342900">
              <a:lnSpc>
                <a:spcPct val="110000"/>
              </a:lnSpc>
              <a:spcBef>
                <a:spcPct val="20000"/>
              </a:spcBef>
              <a:buFont typeface="Arial" pitchFamily="34" charset="0"/>
              <a:buChar char="•"/>
              <a:defRPr/>
            </a:pPr>
            <a:r>
              <a:rPr lang="zh-CN" altLang="en-US" sz="2800" b="1" dirty="0">
                <a:solidFill>
                  <a:srgbClr val="FF00FF"/>
                </a:solidFill>
                <a:latin typeface="楷体" panose="02010609060101010101" pitchFamily="49" charset="-122"/>
                <a:ea typeface="楷体" panose="02010609060101010101" pitchFamily="49" charset="-122"/>
                <a:cs typeface="+mn-cs"/>
              </a:rPr>
              <a:t>半双工</a:t>
            </a:r>
          </a:p>
          <a:p>
            <a:pPr marL="342900" indent="-342900">
              <a:lnSpc>
                <a:spcPct val="110000"/>
              </a:lnSpc>
              <a:spcBef>
                <a:spcPct val="20000"/>
              </a:spcBef>
              <a:buFont typeface="Wingdings" pitchFamily="2" charset="2"/>
              <a:buNone/>
              <a:defRPr/>
            </a:pPr>
            <a:r>
              <a:rPr lang="zh-CN" altLang="en-US" sz="2800" b="1" dirty="0">
                <a:latin typeface="楷体" panose="02010609060101010101" pitchFamily="49" charset="-122"/>
                <a:ea typeface="楷体" panose="02010609060101010101" pitchFamily="49" charset="-122"/>
                <a:cs typeface="+mn-cs"/>
              </a:rPr>
              <a:t>半双工是指数据传输可以沿两个方向，但需要分时进行。</a:t>
            </a:r>
          </a:p>
          <a:p>
            <a:pPr marL="342900" indent="-342900">
              <a:lnSpc>
                <a:spcPct val="110000"/>
              </a:lnSpc>
              <a:spcBef>
                <a:spcPct val="20000"/>
              </a:spcBef>
              <a:buFont typeface="Arial" pitchFamily="34" charset="0"/>
              <a:buChar char="•"/>
              <a:defRPr/>
            </a:pPr>
            <a:r>
              <a:rPr lang="zh-CN" altLang="en-US" sz="2800" b="1" dirty="0">
                <a:solidFill>
                  <a:srgbClr val="FF00FF"/>
                </a:solidFill>
                <a:latin typeface="楷体" panose="02010609060101010101" pitchFamily="49" charset="-122"/>
                <a:ea typeface="楷体" panose="02010609060101010101" pitchFamily="49" charset="-122"/>
                <a:cs typeface="+mn-cs"/>
              </a:rPr>
              <a:t>全双工</a:t>
            </a:r>
          </a:p>
          <a:p>
            <a:pPr marL="342900" indent="-342900">
              <a:lnSpc>
                <a:spcPct val="110000"/>
              </a:lnSpc>
              <a:spcBef>
                <a:spcPct val="20000"/>
              </a:spcBef>
              <a:buFont typeface="Wingdings" pitchFamily="2" charset="2"/>
              <a:buNone/>
              <a:defRPr/>
            </a:pPr>
            <a:r>
              <a:rPr lang="zh-CN" altLang="en-US" sz="2800" b="1" dirty="0">
                <a:latin typeface="楷体" panose="02010609060101010101" pitchFamily="49" charset="-122"/>
                <a:ea typeface="楷体" panose="02010609060101010101" pitchFamily="49" charset="-122"/>
                <a:cs typeface="+mn-cs"/>
              </a:rPr>
              <a:t>全双工是指数据可以同时进行双向传输。</a:t>
            </a:r>
            <a:r>
              <a:rPr lang="zh-CN" altLang="en-US" sz="2800" dirty="0">
                <a:latin typeface="楷体" panose="02010609060101010101" pitchFamily="49" charset="-122"/>
                <a:ea typeface="楷体" panose="02010609060101010101" pitchFamily="49" charset="-122"/>
                <a:cs typeface="+mn-cs"/>
              </a:rPr>
              <a:t> </a:t>
            </a:r>
          </a:p>
        </p:txBody>
      </p:sp>
      <p:graphicFrame>
        <p:nvGraphicFramePr>
          <p:cNvPr id="4" name="Object 4">
            <a:extLst>
              <a:ext uri="{FF2B5EF4-FFF2-40B4-BE49-F238E27FC236}">
                <a16:creationId xmlns:a16="http://schemas.microsoft.com/office/drawing/2014/main" id="{42B76118-0EDB-7921-0BEE-8BA123D31B31}"/>
              </a:ext>
            </a:extLst>
          </p:cNvPr>
          <p:cNvGraphicFramePr>
            <a:graphicFrameLocks noChangeAspect="1"/>
          </p:cNvGraphicFramePr>
          <p:nvPr>
            <p:extLst>
              <p:ext uri="{D42A27DB-BD31-4B8C-83A1-F6EECF244321}">
                <p14:modId xmlns:p14="http://schemas.microsoft.com/office/powerpoint/2010/main" val="4223767915"/>
              </p:ext>
            </p:extLst>
          </p:nvPr>
        </p:nvGraphicFramePr>
        <p:xfrm>
          <a:off x="125413" y="4765504"/>
          <a:ext cx="8893175" cy="1706562"/>
        </p:xfrm>
        <a:graphic>
          <a:graphicData uri="http://schemas.openxmlformats.org/presentationml/2006/ole">
            <mc:AlternateContent xmlns:mc="http://schemas.openxmlformats.org/markup-compatibility/2006">
              <mc:Choice xmlns:v="urn:schemas-microsoft-com:vml" Requires="v">
                <p:oleObj name="Visio" r:id="rId3" imgW="2973229" imgH="406003" progId="">
                  <p:embed/>
                </p:oleObj>
              </mc:Choice>
              <mc:Fallback>
                <p:oleObj name="Visio" r:id="rId3" imgW="2973229" imgH="406003" progId="">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3" y="4765504"/>
                        <a:ext cx="8893175" cy="170656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256023431"/>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96306418-D49E-B6B3-B4CB-868CF2B2345B}"/>
              </a:ext>
            </a:extLst>
          </p:cNvPr>
          <p:cNvSpPr txBox="1">
            <a:spLocks noChangeArrowheads="1"/>
          </p:cNvSpPr>
          <p:nvPr/>
        </p:nvSpPr>
        <p:spPr>
          <a:xfrm>
            <a:off x="79375" y="1133087"/>
            <a:ext cx="8923338" cy="3198812"/>
          </a:xfrm>
          <a:prstGeom prst="rect">
            <a:avLst/>
          </a:prstGeom>
        </p:spPr>
        <p:txBody>
          <a:bodyPr/>
          <a:lstStyle/>
          <a:p>
            <a:pPr marL="342900" indent="-342900">
              <a:lnSpc>
                <a:spcPct val="110000"/>
              </a:lnSpc>
              <a:spcBef>
                <a:spcPct val="20000"/>
              </a:spcBef>
              <a:defRPr/>
            </a:pPr>
            <a:r>
              <a:rPr lang="zh-CN" altLang="en-US" sz="3200" b="1" dirty="0">
                <a:solidFill>
                  <a:srgbClr val="CC0000"/>
                </a:solidFill>
                <a:latin typeface="楷体" panose="02010609060101010101" pitchFamily="49" charset="-122"/>
                <a:ea typeface="楷体" panose="02010609060101010101" pitchFamily="49" charset="-122"/>
                <a:cs typeface="Times New Roman" pitchFamily="18" charset="0"/>
              </a:rPr>
              <a:t>同步通信</a:t>
            </a:r>
            <a:endParaRPr lang="en-US" altLang="zh-CN" sz="2800" b="1" dirty="0">
              <a:solidFill>
                <a:srgbClr val="CC0000"/>
              </a:solidFill>
              <a:latin typeface="楷体" panose="02010609060101010101" pitchFamily="49" charset="-122"/>
              <a:ea typeface="楷体" panose="02010609060101010101" pitchFamily="49" charset="-122"/>
              <a:cs typeface="Times New Roman" pitchFamily="18" charset="0"/>
            </a:endParaRPr>
          </a:p>
          <a:p>
            <a:pPr marL="342900" indent="-342900">
              <a:lnSpc>
                <a:spcPct val="110000"/>
              </a:lnSpc>
              <a:spcBef>
                <a:spcPct val="20000"/>
              </a:spcBef>
              <a:defRPr/>
            </a:pPr>
            <a:r>
              <a:rPr lang="en-US" altLang="zh-CN" sz="2800" b="1" dirty="0">
                <a:latin typeface="楷体" panose="02010609060101010101" pitchFamily="49" charset="-122"/>
                <a:ea typeface="楷体" panose="02010609060101010101" pitchFamily="49" charset="-122"/>
                <a:cs typeface="Times New Roman" pitchFamily="18" charset="0"/>
              </a:rPr>
              <a:t>      </a:t>
            </a:r>
            <a:r>
              <a:rPr lang="zh-CN" altLang="en-US" sz="2800" b="1" dirty="0">
                <a:latin typeface="楷体" panose="02010609060101010101" pitchFamily="49" charset="-122"/>
                <a:ea typeface="楷体" panose="02010609060101010101" pitchFamily="49" charset="-122"/>
                <a:cs typeface="Times New Roman" pitchFamily="18" charset="0"/>
              </a:rPr>
              <a:t>同步通信时要建立发送方时钟对接收方时钟的直接控制，使</a:t>
            </a:r>
            <a:r>
              <a:rPr lang="zh-CN" altLang="en-US" sz="2800" b="1" dirty="0">
                <a:solidFill>
                  <a:srgbClr val="FF0000"/>
                </a:solidFill>
                <a:latin typeface="楷体" panose="02010609060101010101" pitchFamily="49" charset="-122"/>
                <a:ea typeface="楷体" panose="02010609060101010101" pitchFamily="49" charset="-122"/>
                <a:cs typeface="Times New Roman" pitchFamily="18" charset="0"/>
              </a:rPr>
              <a:t>双方达到完全同步</a:t>
            </a:r>
            <a:r>
              <a:rPr lang="zh-CN" altLang="en-US" sz="2800" b="1" dirty="0">
                <a:latin typeface="楷体" panose="02010609060101010101" pitchFamily="49" charset="-122"/>
                <a:ea typeface="楷体" panose="02010609060101010101" pitchFamily="49" charset="-122"/>
                <a:cs typeface="Times New Roman" pitchFamily="18" charset="0"/>
              </a:rPr>
              <a:t>。此时，传输数据的位之间的距离均为“位间隔”的整数倍，同时传送的字符间不留间隙，即保持位同步关系，也保持字符同步关系。发送方对接收方的同步可以通过两种方法实现。</a:t>
            </a:r>
            <a:endParaRPr lang="zh-CN" altLang="en-US" sz="2800" dirty="0">
              <a:latin typeface="楷体" panose="02010609060101010101" pitchFamily="49" charset="-122"/>
              <a:ea typeface="楷体" panose="02010609060101010101" pitchFamily="49" charset="-122"/>
              <a:cs typeface="Times New Roman" pitchFamily="18" charset="0"/>
            </a:endParaRPr>
          </a:p>
        </p:txBody>
      </p:sp>
      <p:graphicFrame>
        <p:nvGraphicFramePr>
          <p:cNvPr id="4" name="Object 4">
            <a:extLst>
              <a:ext uri="{FF2B5EF4-FFF2-40B4-BE49-F238E27FC236}">
                <a16:creationId xmlns:a16="http://schemas.microsoft.com/office/drawing/2014/main" id="{9E13E900-F3BB-999A-13CB-BF76DA1AE894}"/>
              </a:ext>
            </a:extLst>
          </p:cNvPr>
          <p:cNvGraphicFramePr>
            <a:graphicFrameLocks noChangeAspect="1"/>
          </p:cNvGraphicFramePr>
          <p:nvPr>
            <p:extLst>
              <p:ext uri="{D42A27DB-BD31-4B8C-83A1-F6EECF244321}">
                <p14:modId xmlns:p14="http://schemas.microsoft.com/office/powerpoint/2010/main" val="3806549733"/>
              </p:ext>
            </p:extLst>
          </p:nvPr>
        </p:nvGraphicFramePr>
        <p:xfrm>
          <a:off x="392113" y="4401323"/>
          <a:ext cx="8418512" cy="2174875"/>
        </p:xfrm>
        <a:graphic>
          <a:graphicData uri="http://schemas.openxmlformats.org/presentationml/2006/ole">
            <mc:AlternateContent xmlns:mc="http://schemas.openxmlformats.org/markup-compatibility/2006">
              <mc:Choice xmlns:v="urn:schemas-microsoft-com:vml" Requires="v">
                <p:oleObj name="Visio" r:id="rId3" imgW="2770584" imgH="715566" progId="">
                  <p:embed/>
                </p:oleObj>
              </mc:Choice>
              <mc:Fallback>
                <p:oleObj name="Visio" r:id="rId3" imgW="2770584" imgH="715566" progId="">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113" y="4401323"/>
                        <a:ext cx="8418512" cy="21748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68722615"/>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4AD2D9C8-023C-1372-A5C7-5D5B54AABC2C}"/>
              </a:ext>
            </a:extLst>
          </p:cNvPr>
          <p:cNvSpPr txBox="1">
            <a:spLocks noChangeArrowheads="1"/>
          </p:cNvSpPr>
          <p:nvPr/>
        </p:nvSpPr>
        <p:spPr>
          <a:xfrm>
            <a:off x="79375" y="1134548"/>
            <a:ext cx="8891588" cy="2492375"/>
          </a:xfrm>
          <a:prstGeom prst="rect">
            <a:avLst/>
          </a:prstGeom>
        </p:spPr>
        <p:txBody>
          <a:bodyPr/>
          <a:lstStyle/>
          <a:p>
            <a:pPr marL="342900" indent="-342900">
              <a:lnSpc>
                <a:spcPct val="120000"/>
              </a:lnSpc>
              <a:spcBef>
                <a:spcPct val="20000"/>
              </a:spcBef>
              <a:defRPr/>
            </a:pPr>
            <a:r>
              <a:rPr lang="zh-CN" altLang="en-US" sz="3200" b="1" dirty="0">
                <a:solidFill>
                  <a:srgbClr val="FF00FF"/>
                </a:solidFill>
                <a:latin typeface="楷体" panose="02010609060101010101" pitchFamily="49" charset="-122"/>
                <a:ea typeface="楷体" panose="02010609060101010101" pitchFamily="49" charset="-122"/>
                <a:cs typeface="Times New Roman" pitchFamily="18" charset="0"/>
              </a:rPr>
              <a:t>异步通信</a:t>
            </a:r>
            <a:endParaRPr lang="en-US" altLang="zh-CN" sz="3200" b="1" dirty="0">
              <a:solidFill>
                <a:srgbClr val="FF00FF"/>
              </a:solidFill>
              <a:latin typeface="楷体" panose="02010609060101010101" pitchFamily="49" charset="-122"/>
              <a:ea typeface="楷体" panose="02010609060101010101" pitchFamily="49" charset="-122"/>
              <a:cs typeface="Times New Roman" pitchFamily="18" charset="0"/>
            </a:endParaRPr>
          </a:p>
          <a:p>
            <a:pPr marL="342900" indent="-342900">
              <a:lnSpc>
                <a:spcPct val="120000"/>
              </a:lnSpc>
              <a:spcBef>
                <a:spcPct val="20000"/>
              </a:spcBef>
              <a:defRPr/>
            </a:pPr>
            <a:r>
              <a:rPr lang="en-US" altLang="zh-CN" sz="3200" b="1" dirty="0">
                <a:solidFill>
                  <a:srgbClr val="FF00FF"/>
                </a:solidFill>
                <a:latin typeface="楷体" panose="02010609060101010101" pitchFamily="49" charset="-122"/>
                <a:ea typeface="楷体" panose="02010609060101010101" pitchFamily="49" charset="-122"/>
                <a:cs typeface="Times New Roman" pitchFamily="18" charset="0"/>
              </a:rPr>
              <a:t>     </a:t>
            </a:r>
            <a:r>
              <a:rPr lang="zh-CN" altLang="en-US" sz="2800" b="1" dirty="0">
                <a:latin typeface="楷体" panose="02010609060101010101" pitchFamily="49" charset="-122"/>
                <a:ea typeface="楷体" panose="02010609060101010101" pitchFamily="49" charset="-122"/>
                <a:cs typeface="Times New Roman" pitchFamily="18" charset="0"/>
              </a:rPr>
              <a:t>异步通信是指通信的发送与接收设备使用各自的时钟控制数据的发送和接收过程。为使双方的收发协调，要求</a:t>
            </a:r>
            <a:r>
              <a:rPr lang="zh-CN" altLang="en-US" sz="2800" b="1" dirty="0">
                <a:solidFill>
                  <a:srgbClr val="FF0000"/>
                </a:solidFill>
                <a:latin typeface="楷体" panose="02010609060101010101" pitchFamily="49" charset="-122"/>
                <a:ea typeface="楷体" panose="02010609060101010101" pitchFamily="49" charset="-122"/>
                <a:cs typeface="Times New Roman" pitchFamily="18" charset="0"/>
              </a:rPr>
              <a:t>发送和接收设备的时钟尽可能一致</a:t>
            </a:r>
            <a:r>
              <a:rPr lang="zh-CN" altLang="en-US" sz="2800" b="1" dirty="0">
                <a:latin typeface="楷体" panose="02010609060101010101" pitchFamily="49" charset="-122"/>
                <a:ea typeface="楷体" panose="02010609060101010101" pitchFamily="49" charset="-122"/>
                <a:cs typeface="Times New Roman" pitchFamily="18" charset="0"/>
              </a:rPr>
              <a:t>。</a:t>
            </a:r>
            <a:endParaRPr lang="zh-CN" altLang="en-US" sz="2800" dirty="0">
              <a:latin typeface="楷体" panose="02010609060101010101" pitchFamily="49" charset="-122"/>
              <a:ea typeface="楷体" panose="02010609060101010101" pitchFamily="49" charset="-122"/>
              <a:cs typeface="+mn-cs"/>
            </a:endParaRPr>
          </a:p>
        </p:txBody>
      </p:sp>
      <p:graphicFrame>
        <p:nvGraphicFramePr>
          <p:cNvPr id="4" name="Object 4">
            <a:extLst>
              <a:ext uri="{FF2B5EF4-FFF2-40B4-BE49-F238E27FC236}">
                <a16:creationId xmlns:a16="http://schemas.microsoft.com/office/drawing/2014/main" id="{488067E9-603A-75F5-B0FC-EC39F9C42BAA}"/>
              </a:ext>
            </a:extLst>
          </p:cNvPr>
          <p:cNvGraphicFramePr>
            <a:graphicFrameLocks noChangeAspect="1"/>
          </p:cNvGraphicFramePr>
          <p:nvPr>
            <p:extLst>
              <p:ext uri="{D42A27DB-BD31-4B8C-83A1-F6EECF244321}">
                <p14:modId xmlns:p14="http://schemas.microsoft.com/office/powerpoint/2010/main" val="2768956592"/>
              </p:ext>
            </p:extLst>
          </p:nvPr>
        </p:nvGraphicFramePr>
        <p:xfrm>
          <a:off x="330200" y="3686948"/>
          <a:ext cx="8558213" cy="2732087"/>
        </p:xfrm>
        <a:graphic>
          <a:graphicData uri="http://schemas.openxmlformats.org/presentationml/2006/ole">
            <mc:AlternateContent xmlns:mc="http://schemas.openxmlformats.org/markup-compatibility/2006">
              <mc:Choice xmlns:v="urn:schemas-microsoft-com:vml" Requires="v">
                <p:oleObj name="Visio" r:id="rId3" imgW="2168128" imgH="691753" progId="">
                  <p:embed/>
                </p:oleObj>
              </mc:Choice>
              <mc:Fallback>
                <p:oleObj name="Visio" r:id="rId3" imgW="2168128" imgH="691753" progId="">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 y="3686948"/>
                        <a:ext cx="8558213" cy="273208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202359163"/>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31E9FE-7740-F2AE-84BA-45CD71599E02}"/>
              </a:ext>
            </a:extLst>
          </p:cNvPr>
          <p:cNvSpPr>
            <a:spLocks noGrp="1"/>
          </p:cNvSpPr>
          <p:nvPr>
            <p:ph type="title"/>
          </p:nvPr>
        </p:nvSpPr>
        <p:spPr>
          <a:xfrm>
            <a:off x="628650" y="184652"/>
            <a:ext cx="7886700" cy="1325563"/>
          </a:xfrm>
        </p:spPr>
        <p:txBody>
          <a:bodyPr>
            <a:normAutofit/>
          </a:bodyPr>
          <a:lstStyle/>
          <a:p>
            <a:pPr algn="ctr"/>
            <a:r>
              <a:rPr lang="en-US" altLang="zh-CN" sz="2800" dirty="0" err="1"/>
              <a:t>Stc</a:t>
            </a:r>
            <a:r>
              <a:rPr lang="en-US" altLang="zh-CN" sz="2800" dirty="0"/>
              <a:t>-ISP</a:t>
            </a:r>
            <a:r>
              <a:rPr lang="zh-CN" altLang="en-US" sz="2800" dirty="0"/>
              <a:t>波特率（每秒传送的二进制位数）的设置</a:t>
            </a:r>
          </a:p>
        </p:txBody>
      </p:sp>
      <p:pic>
        <p:nvPicPr>
          <p:cNvPr id="4" name="图片 3">
            <a:extLst>
              <a:ext uri="{FF2B5EF4-FFF2-40B4-BE49-F238E27FC236}">
                <a16:creationId xmlns:a16="http://schemas.microsoft.com/office/drawing/2014/main" id="{6E82E335-5280-2025-7F4C-A81097C433F1}"/>
              </a:ext>
            </a:extLst>
          </p:cNvPr>
          <p:cNvPicPr>
            <a:picLocks noChangeAspect="1"/>
          </p:cNvPicPr>
          <p:nvPr/>
        </p:nvPicPr>
        <p:blipFill>
          <a:blip r:embed="rId3"/>
          <a:stretch>
            <a:fillRect/>
          </a:stretch>
        </p:blipFill>
        <p:spPr>
          <a:xfrm>
            <a:off x="391886" y="1092970"/>
            <a:ext cx="8001000" cy="5765030"/>
          </a:xfrm>
          <a:prstGeom prst="rect">
            <a:avLst/>
          </a:prstGeom>
        </p:spPr>
      </p:pic>
    </p:spTree>
    <p:extLst>
      <p:ext uri="{BB962C8B-B14F-4D97-AF65-F5344CB8AC3E}">
        <p14:creationId xmlns:p14="http://schemas.microsoft.com/office/powerpoint/2010/main" val="29871078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TextBox 3">
            <a:extLst>
              <a:ext uri="{FF2B5EF4-FFF2-40B4-BE49-F238E27FC236}">
                <a16:creationId xmlns:a16="http://schemas.microsoft.com/office/drawing/2014/main" id="{4B36D21D-F24D-2D31-99DF-5A9C18FF48FE}"/>
              </a:ext>
            </a:extLst>
          </p:cNvPr>
          <p:cNvSpPr txBox="1">
            <a:spLocks noChangeArrowheads="1"/>
          </p:cNvSpPr>
          <p:nvPr/>
        </p:nvSpPr>
        <p:spPr bwMode="auto">
          <a:xfrm>
            <a:off x="337816" y="1333154"/>
            <a:ext cx="8450262" cy="4831644"/>
          </a:xfrm>
          <a:prstGeom prst="rect">
            <a:avLst/>
          </a:prstGeom>
          <a:noFill/>
          <a:ln w="9525">
            <a:noFill/>
            <a:miter lim="800000"/>
            <a:headEnd/>
            <a:tailEnd/>
          </a:ln>
        </p:spPr>
        <p:txBody>
          <a:bodyPr>
            <a:spAutoFit/>
          </a:bodyPr>
          <a:lstStyle/>
          <a:p>
            <a:pPr>
              <a:lnSpc>
                <a:spcPct val="150000"/>
              </a:lnSpc>
            </a:pPr>
            <a:r>
              <a:rPr lang="zh-CN" altLang="en-US" sz="3000" b="1" dirty="0">
                <a:latin typeface="楷体" panose="02010609060101010101" pitchFamily="49" charset="-122"/>
                <a:ea typeface="楷体" panose="02010609060101010101" pitchFamily="49" charset="-122"/>
              </a:rPr>
              <a:t>    </a:t>
            </a:r>
            <a:r>
              <a:rPr lang="zh-CN" altLang="en-US" sz="3000" b="1" dirty="0">
                <a:solidFill>
                  <a:srgbClr val="FF00FF"/>
                </a:solidFill>
                <a:latin typeface="楷体" panose="02010609060101010101" pitchFamily="49" charset="-122"/>
                <a:ea typeface="楷体" panose="02010609060101010101" pitchFamily="49" charset="-122"/>
              </a:rPr>
              <a:t>异步串行通信</a:t>
            </a:r>
            <a:r>
              <a:rPr lang="zh-CN" altLang="en-US" sz="3000" b="1" dirty="0">
                <a:latin typeface="楷体" panose="02010609060101010101" pitchFamily="49" charset="-122"/>
                <a:ea typeface="楷体" panose="02010609060101010101" pitchFamily="49" charset="-122"/>
              </a:rPr>
              <a:t>是以字符（构成的</a:t>
            </a:r>
            <a:r>
              <a:rPr lang="zh-CN" altLang="en-US" sz="3000" b="1" dirty="0">
                <a:solidFill>
                  <a:srgbClr val="DF5131"/>
                </a:solidFill>
                <a:latin typeface="楷体" panose="02010609060101010101" pitchFamily="49" charset="-122"/>
                <a:ea typeface="楷体" panose="02010609060101010101" pitchFamily="49" charset="-122"/>
              </a:rPr>
              <a:t>帧</a:t>
            </a:r>
            <a:r>
              <a:rPr lang="zh-CN" altLang="en-US" sz="3000" b="1" dirty="0">
                <a:latin typeface="楷体" panose="02010609060101010101" pitchFamily="49" charset="-122"/>
                <a:ea typeface="楷体" panose="02010609060101010101" pitchFamily="49" charset="-122"/>
              </a:rPr>
              <a:t>）为单位进行传输，字符与字符之间的间隙（时间间隔）是任意的，但每个字符中的各位是以固定的时间传送的，即字符之间是异步的（字符之间不一定有“位间隔”的整数倍的关系），但同一字符内的各位是同步的（各位之间的距离均为“位间隔”的整数倍）。</a:t>
            </a:r>
            <a:endParaRPr lang="zh-CN" altLang="en-US" sz="3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51617117"/>
      </p:ext>
    </p:extLst>
  </p:cSld>
  <p:clrMapOvr>
    <a:masterClrMapping/>
  </p:clrMapOvr>
  <p:transition spd="slow" advClick="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F4CFE247-4621-7495-F704-BEF9D272E342}"/>
              </a:ext>
            </a:extLst>
          </p:cNvPr>
          <p:cNvSpPr txBox="1">
            <a:spLocks noChangeArrowheads="1"/>
          </p:cNvSpPr>
          <p:nvPr/>
        </p:nvSpPr>
        <p:spPr>
          <a:xfrm>
            <a:off x="269875" y="1197015"/>
            <a:ext cx="7993063" cy="608013"/>
          </a:xfrm>
          <a:prstGeom prst="rect">
            <a:avLst/>
          </a:prstGeom>
        </p:spPr>
        <p:txBody>
          <a:bodyPr/>
          <a:lstStyle/>
          <a:p>
            <a:pPr marL="342900" indent="-342900">
              <a:lnSpc>
                <a:spcPct val="80000"/>
              </a:lnSpc>
              <a:spcBef>
                <a:spcPct val="20000"/>
              </a:spcBef>
              <a:defRPr/>
            </a:pPr>
            <a:r>
              <a:rPr lang="zh-CN" altLang="en-US" sz="3200" b="1" dirty="0">
                <a:solidFill>
                  <a:srgbClr val="0000FF"/>
                </a:solidFill>
                <a:latin typeface="楷体" panose="02010609060101010101" pitchFamily="49" charset="-122"/>
                <a:ea typeface="楷体" panose="02010609060101010101" pitchFamily="49" charset="-122"/>
                <a:cs typeface="+mn-cs"/>
              </a:rPr>
              <a:t>异步通信的数据格式： </a:t>
            </a:r>
          </a:p>
        </p:txBody>
      </p:sp>
      <p:graphicFrame>
        <p:nvGraphicFramePr>
          <p:cNvPr id="4" name="Object 4">
            <a:extLst>
              <a:ext uri="{FF2B5EF4-FFF2-40B4-BE49-F238E27FC236}">
                <a16:creationId xmlns:a16="http://schemas.microsoft.com/office/drawing/2014/main" id="{B9F0575B-1197-5FB5-089B-3D89BBEC6901}"/>
              </a:ext>
            </a:extLst>
          </p:cNvPr>
          <p:cNvGraphicFramePr>
            <a:graphicFrameLocks noChangeAspect="1"/>
          </p:cNvGraphicFramePr>
          <p:nvPr>
            <p:extLst>
              <p:ext uri="{D42A27DB-BD31-4B8C-83A1-F6EECF244321}">
                <p14:modId xmlns:p14="http://schemas.microsoft.com/office/powerpoint/2010/main" val="3287948445"/>
              </p:ext>
            </p:extLst>
          </p:nvPr>
        </p:nvGraphicFramePr>
        <p:xfrm>
          <a:off x="328613" y="1901264"/>
          <a:ext cx="8559800" cy="2435225"/>
        </p:xfrm>
        <a:graphic>
          <a:graphicData uri="http://schemas.openxmlformats.org/presentationml/2006/ole">
            <mc:AlternateContent xmlns:mc="http://schemas.openxmlformats.org/markup-compatibility/2006">
              <mc:Choice xmlns:v="urn:schemas-microsoft-com:vml" Requires="v">
                <p:oleObj name="Visio" r:id="rId3" imgW="2882503" imgH="820341" progId="">
                  <p:embed/>
                </p:oleObj>
              </mc:Choice>
              <mc:Fallback>
                <p:oleObj name="Visio" r:id="rId3" imgW="2882503" imgH="820341" progId="">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13" y="1901264"/>
                        <a:ext cx="8559800" cy="2435225"/>
                      </a:xfrm>
                      <a:prstGeom prst="rect">
                        <a:avLst/>
                      </a:prstGeom>
                      <a:solidFill>
                        <a:srgbClr val="CCFFFF"/>
                      </a:solidFill>
                    </p:spPr>
                  </p:pic>
                </p:oleObj>
              </mc:Fallback>
            </mc:AlternateContent>
          </a:graphicData>
        </a:graphic>
      </p:graphicFrame>
      <p:sp>
        <p:nvSpPr>
          <p:cNvPr id="5" name="Text Box 7">
            <a:extLst>
              <a:ext uri="{FF2B5EF4-FFF2-40B4-BE49-F238E27FC236}">
                <a16:creationId xmlns:a16="http://schemas.microsoft.com/office/drawing/2014/main" id="{ED10177E-A883-B605-F60E-F578FBFC2E7B}"/>
              </a:ext>
            </a:extLst>
          </p:cNvPr>
          <p:cNvSpPr txBox="1">
            <a:spLocks noChangeArrowheads="1"/>
          </p:cNvSpPr>
          <p:nvPr/>
        </p:nvSpPr>
        <p:spPr bwMode="auto">
          <a:xfrm>
            <a:off x="361950" y="4590489"/>
            <a:ext cx="8450263" cy="1574855"/>
          </a:xfrm>
          <a:prstGeom prst="rect">
            <a:avLst/>
          </a:prstGeom>
          <a:noFill/>
          <a:ln w="9525">
            <a:noFill/>
            <a:miter lim="800000"/>
            <a:headEnd/>
            <a:tailEnd/>
          </a:ln>
        </p:spPr>
        <p:txBody>
          <a:bodyPr>
            <a:spAutoFit/>
          </a:bodyPr>
          <a:lstStyle/>
          <a:p>
            <a:pPr>
              <a:lnSpc>
                <a:spcPct val="120000"/>
              </a:lnSpc>
              <a:spcBef>
                <a:spcPct val="50000"/>
              </a:spcBef>
            </a:pPr>
            <a:r>
              <a:rPr lang="zh-CN" altLang="en-US" sz="2800" b="1" dirty="0">
                <a:solidFill>
                  <a:srgbClr val="C00000"/>
                </a:solidFill>
                <a:latin typeface="楷体" panose="02010609060101010101" pitchFamily="49" charset="-122"/>
                <a:ea typeface="楷体" panose="02010609060101010101" pitchFamily="49" charset="-122"/>
              </a:rPr>
              <a:t>异步通信的特点</a:t>
            </a:r>
            <a:r>
              <a:rPr lang="zh-CN" altLang="en-US" sz="2800" b="1" dirty="0">
                <a:latin typeface="楷体" panose="02010609060101010101" pitchFamily="49" charset="-122"/>
                <a:ea typeface="楷体" panose="02010609060101010101" pitchFamily="49" charset="-122"/>
              </a:rPr>
              <a:t>：不要求收发双方时钟的严格一致，实现容易，设备开销较小，但每个字符要附加起止位、停止位等，各帧之间还有间隔，因此传输效率不高。</a:t>
            </a:r>
          </a:p>
        </p:txBody>
      </p:sp>
    </p:spTree>
    <p:extLst>
      <p:ext uri="{BB962C8B-B14F-4D97-AF65-F5344CB8AC3E}">
        <p14:creationId xmlns:p14="http://schemas.microsoft.com/office/powerpoint/2010/main" val="2008595275"/>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775F6A2D-B159-5683-6EF0-1FF4671CAED7}"/>
              </a:ext>
            </a:extLst>
          </p:cNvPr>
          <p:cNvSpPr txBox="1">
            <a:spLocks noChangeArrowheads="1"/>
          </p:cNvSpPr>
          <p:nvPr/>
        </p:nvSpPr>
        <p:spPr>
          <a:xfrm>
            <a:off x="78377" y="979832"/>
            <a:ext cx="8969829" cy="5810267"/>
          </a:xfrm>
          <a:prstGeom prst="rect">
            <a:avLst/>
          </a:prstGeom>
        </p:spPr>
        <p:txBody>
          <a:bodyPr/>
          <a:lstStyle/>
          <a:p>
            <a:pPr marL="342900" indent="-342900">
              <a:spcBef>
                <a:spcPct val="20000"/>
              </a:spcBef>
              <a:buFont typeface="Wingdings" pitchFamily="2" charset="2"/>
              <a:buNone/>
              <a:defRPr/>
            </a:pPr>
            <a:r>
              <a:rPr lang="zh-CN" altLang="en-US" sz="2800" b="1" dirty="0">
                <a:solidFill>
                  <a:srgbClr val="006600"/>
                </a:solidFill>
                <a:latin typeface="楷体" panose="02010609060101010101" pitchFamily="49" charset="-122"/>
                <a:ea typeface="楷体" panose="02010609060101010101" pitchFamily="49" charset="-122"/>
                <a:cs typeface="+mn-cs"/>
              </a:rPr>
              <a:t>串行通信的错误校验</a:t>
            </a:r>
            <a:r>
              <a:rPr lang="zh-CN" altLang="en-US" sz="2800" dirty="0">
                <a:solidFill>
                  <a:srgbClr val="006600"/>
                </a:solidFill>
                <a:latin typeface="楷体" panose="02010609060101010101" pitchFamily="49" charset="-122"/>
                <a:ea typeface="楷体" panose="02010609060101010101" pitchFamily="49" charset="-122"/>
                <a:cs typeface="+mn-cs"/>
              </a:rPr>
              <a:t> </a:t>
            </a:r>
            <a:endParaRPr lang="en-US" altLang="zh-CN" sz="2800" b="1" dirty="0">
              <a:solidFill>
                <a:srgbClr val="006600"/>
              </a:solidFill>
              <a:latin typeface="楷体" panose="02010609060101010101" pitchFamily="49" charset="-122"/>
              <a:ea typeface="楷体" panose="02010609060101010101" pitchFamily="49" charset="-122"/>
              <a:cs typeface="+mn-cs"/>
            </a:endParaRPr>
          </a:p>
          <a:p>
            <a:pPr marL="342900" indent="-342900">
              <a:spcBef>
                <a:spcPct val="20000"/>
              </a:spcBef>
              <a:buFont typeface="Arial" pitchFamily="34" charset="0"/>
              <a:buChar char="•"/>
              <a:defRPr/>
            </a:pPr>
            <a:r>
              <a:rPr lang="zh-CN" altLang="en-US" sz="2400" b="1" dirty="0">
                <a:solidFill>
                  <a:srgbClr val="FF00FF"/>
                </a:solidFill>
                <a:latin typeface="楷体" panose="02010609060101010101" pitchFamily="49" charset="-122"/>
                <a:ea typeface="楷体" panose="02010609060101010101" pitchFamily="49" charset="-122"/>
                <a:cs typeface="+mn-cs"/>
              </a:rPr>
              <a:t>奇偶校验</a:t>
            </a:r>
            <a:r>
              <a:rPr lang="en-US" altLang="zh-CN" sz="2400" b="1" dirty="0">
                <a:latin typeface="楷体" panose="02010609060101010101" pitchFamily="49" charset="-122"/>
                <a:ea typeface="楷体" panose="02010609060101010101" pitchFamily="49" charset="-122"/>
                <a:cs typeface="+mn-cs"/>
              </a:rPr>
              <a:t>——</a:t>
            </a:r>
            <a:r>
              <a:rPr lang="zh-CN" altLang="en-US" sz="2400" b="1" dirty="0">
                <a:latin typeface="楷体" panose="02010609060101010101" pitchFamily="49" charset="-122"/>
                <a:ea typeface="楷体" panose="02010609060101010101" pitchFamily="49" charset="-122"/>
                <a:cs typeface="+mn-cs"/>
              </a:rPr>
              <a:t>在发送数据时，数据位尾随的</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位为奇偶校验位（</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或</a:t>
            </a:r>
            <a:r>
              <a:rPr lang="en-US" altLang="zh-CN" sz="2400" b="1" dirty="0">
                <a:latin typeface="楷体" panose="02010609060101010101" pitchFamily="49" charset="-122"/>
                <a:ea typeface="楷体" panose="02010609060101010101" pitchFamily="49" charset="-122"/>
                <a:cs typeface="+mn-cs"/>
              </a:rPr>
              <a:t>0</a:t>
            </a:r>
            <a:r>
              <a:rPr lang="zh-CN" altLang="en-US" sz="2400" b="1" dirty="0">
                <a:latin typeface="楷体" panose="02010609060101010101" pitchFamily="49" charset="-122"/>
                <a:ea typeface="楷体" panose="02010609060101010101" pitchFamily="49" charset="-122"/>
                <a:cs typeface="+mn-cs"/>
              </a:rPr>
              <a:t>）。</a:t>
            </a:r>
            <a:r>
              <a:rPr lang="zh-CN" altLang="en-US" sz="2400" b="1" dirty="0">
                <a:solidFill>
                  <a:srgbClr val="FF0000"/>
                </a:solidFill>
                <a:latin typeface="楷体" panose="02010609060101010101" pitchFamily="49" charset="-122"/>
                <a:ea typeface="楷体" panose="02010609060101010101" pitchFamily="49" charset="-122"/>
                <a:cs typeface="+mn-cs"/>
              </a:rPr>
              <a:t>奇校验时，数据中“</a:t>
            </a:r>
            <a:r>
              <a:rPr lang="en-US" altLang="zh-CN" sz="2400" b="1" dirty="0">
                <a:solidFill>
                  <a:srgbClr val="FF0000"/>
                </a:solidFill>
                <a:latin typeface="楷体" panose="02010609060101010101" pitchFamily="49" charset="-122"/>
                <a:ea typeface="楷体" panose="02010609060101010101" pitchFamily="49" charset="-122"/>
                <a:cs typeface="+mn-cs"/>
              </a:rPr>
              <a:t>1”</a:t>
            </a:r>
            <a:r>
              <a:rPr lang="zh-CN" altLang="en-US" sz="2400" b="1" dirty="0">
                <a:solidFill>
                  <a:srgbClr val="FF0000"/>
                </a:solidFill>
                <a:latin typeface="楷体" panose="02010609060101010101" pitchFamily="49" charset="-122"/>
                <a:ea typeface="楷体" panose="02010609060101010101" pitchFamily="49" charset="-122"/>
                <a:cs typeface="+mn-cs"/>
              </a:rPr>
              <a:t>的个数与校验位“</a:t>
            </a:r>
            <a:r>
              <a:rPr lang="en-US" altLang="zh-CN" sz="2400" b="1" dirty="0">
                <a:solidFill>
                  <a:srgbClr val="FF0000"/>
                </a:solidFill>
                <a:latin typeface="楷体" panose="02010609060101010101" pitchFamily="49" charset="-122"/>
                <a:ea typeface="楷体" panose="02010609060101010101" pitchFamily="49" charset="-122"/>
                <a:cs typeface="+mn-cs"/>
              </a:rPr>
              <a:t>1”</a:t>
            </a:r>
            <a:r>
              <a:rPr lang="zh-CN" altLang="en-US" sz="2400" b="1" dirty="0">
                <a:solidFill>
                  <a:srgbClr val="FF0000"/>
                </a:solidFill>
                <a:latin typeface="楷体" panose="02010609060101010101" pitchFamily="49" charset="-122"/>
                <a:ea typeface="楷体" panose="02010609060101010101" pitchFamily="49" charset="-122"/>
                <a:cs typeface="+mn-cs"/>
              </a:rPr>
              <a:t>的个数之和应为奇数</a:t>
            </a:r>
            <a:r>
              <a:rPr lang="zh-CN" altLang="en-US" sz="2400" b="1" dirty="0">
                <a:latin typeface="楷体" panose="02010609060101010101" pitchFamily="49" charset="-122"/>
                <a:ea typeface="楷体" panose="02010609060101010101" pitchFamily="49" charset="-122"/>
                <a:cs typeface="+mn-cs"/>
              </a:rPr>
              <a:t>；偶校验时，</a:t>
            </a:r>
            <a:r>
              <a:rPr lang="zh-CN" altLang="en-US" sz="2400" b="1" dirty="0">
                <a:solidFill>
                  <a:srgbClr val="FF0000"/>
                </a:solidFill>
                <a:latin typeface="楷体" panose="02010609060101010101" pitchFamily="49" charset="-122"/>
                <a:ea typeface="楷体" panose="02010609060101010101" pitchFamily="49" charset="-122"/>
                <a:cs typeface="+mn-cs"/>
              </a:rPr>
              <a:t>数据中“</a:t>
            </a:r>
            <a:r>
              <a:rPr lang="en-US" altLang="zh-CN" sz="2400" b="1" dirty="0">
                <a:solidFill>
                  <a:srgbClr val="FF0000"/>
                </a:solidFill>
                <a:latin typeface="楷体" panose="02010609060101010101" pitchFamily="49" charset="-122"/>
                <a:ea typeface="楷体" panose="02010609060101010101" pitchFamily="49" charset="-122"/>
                <a:cs typeface="+mn-cs"/>
              </a:rPr>
              <a:t>1”</a:t>
            </a:r>
            <a:r>
              <a:rPr lang="zh-CN" altLang="en-US" sz="2400" b="1" dirty="0">
                <a:solidFill>
                  <a:srgbClr val="FF0000"/>
                </a:solidFill>
                <a:latin typeface="楷体" panose="02010609060101010101" pitchFamily="49" charset="-122"/>
                <a:ea typeface="楷体" panose="02010609060101010101" pitchFamily="49" charset="-122"/>
                <a:cs typeface="+mn-cs"/>
              </a:rPr>
              <a:t>的个数与校验位“</a:t>
            </a:r>
            <a:r>
              <a:rPr lang="en-US" altLang="zh-CN" sz="2400" b="1" dirty="0">
                <a:solidFill>
                  <a:srgbClr val="FF0000"/>
                </a:solidFill>
                <a:latin typeface="楷体" panose="02010609060101010101" pitchFamily="49" charset="-122"/>
                <a:ea typeface="楷体" panose="02010609060101010101" pitchFamily="49" charset="-122"/>
                <a:cs typeface="+mn-cs"/>
              </a:rPr>
              <a:t>1”</a:t>
            </a:r>
            <a:r>
              <a:rPr lang="zh-CN" altLang="en-US" sz="2400" b="1" dirty="0">
                <a:solidFill>
                  <a:srgbClr val="FF0000"/>
                </a:solidFill>
                <a:latin typeface="楷体" panose="02010609060101010101" pitchFamily="49" charset="-122"/>
                <a:ea typeface="楷体" panose="02010609060101010101" pitchFamily="49" charset="-122"/>
                <a:cs typeface="+mn-cs"/>
              </a:rPr>
              <a:t>的个数之和应为偶数</a:t>
            </a:r>
            <a:r>
              <a:rPr lang="zh-CN" altLang="en-US" sz="2400" b="1" dirty="0">
                <a:latin typeface="楷体" panose="02010609060101010101" pitchFamily="49" charset="-122"/>
                <a:ea typeface="楷体" panose="02010609060101010101" pitchFamily="49" charset="-122"/>
                <a:cs typeface="+mn-cs"/>
              </a:rPr>
              <a:t>。接收字符时，对“</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的个数进行校验，若发现不一致，则说明传输数据过程中出现了差错。</a:t>
            </a:r>
          </a:p>
          <a:p>
            <a:pPr marL="342900" indent="-342900">
              <a:spcBef>
                <a:spcPct val="20000"/>
              </a:spcBef>
              <a:buFont typeface="Arial" pitchFamily="34" charset="0"/>
              <a:buChar char="•"/>
              <a:defRPr/>
            </a:pPr>
            <a:r>
              <a:rPr lang="zh-CN" altLang="en-US" sz="2400" b="1" dirty="0">
                <a:solidFill>
                  <a:srgbClr val="FF00FF"/>
                </a:solidFill>
                <a:latin typeface="楷体" panose="02010609060101010101" pitchFamily="49" charset="-122"/>
                <a:ea typeface="楷体" panose="02010609060101010101" pitchFamily="49" charset="-122"/>
                <a:cs typeface="+mn-cs"/>
              </a:rPr>
              <a:t>代码和校验</a:t>
            </a:r>
            <a:r>
              <a:rPr lang="en-US" altLang="zh-CN" sz="2400" b="1" dirty="0">
                <a:latin typeface="楷体" panose="02010609060101010101" pitchFamily="49" charset="-122"/>
                <a:ea typeface="楷体" panose="02010609060101010101" pitchFamily="49" charset="-122"/>
                <a:cs typeface="+mn-cs"/>
              </a:rPr>
              <a:t>——</a:t>
            </a:r>
            <a:r>
              <a:rPr lang="zh-CN" altLang="en-US" sz="2400" b="1" dirty="0">
                <a:latin typeface="楷体" panose="02010609060101010101" pitchFamily="49" charset="-122"/>
                <a:ea typeface="楷体" panose="02010609060101010101" pitchFamily="49" charset="-122"/>
                <a:cs typeface="+mn-cs"/>
              </a:rPr>
              <a:t>代码和校验是发送方将</a:t>
            </a:r>
            <a:r>
              <a:rPr lang="zh-CN" altLang="en-US" sz="2400" b="1" dirty="0">
                <a:solidFill>
                  <a:srgbClr val="FF0000"/>
                </a:solidFill>
                <a:latin typeface="楷体" panose="02010609060101010101" pitchFamily="49" charset="-122"/>
                <a:ea typeface="楷体" panose="02010609060101010101" pitchFamily="49" charset="-122"/>
                <a:cs typeface="+mn-cs"/>
              </a:rPr>
              <a:t>所发数据块求和</a:t>
            </a:r>
            <a:r>
              <a:rPr lang="zh-CN" altLang="en-US" sz="2400" b="1" dirty="0">
                <a:latin typeface="楷体" panose="02010609060101010101" pitchFamily="49" charset="-122"/>
                <a:ea typeface="楷体" panose="02010609060101010101" pitchFamily="49" charset="-122"/>
                <a:cs typeface="+mn-cs"/>
              </a:rPr>
              <a:t>（或各字节异或），产生</a:t>
            </a:r>
            <a:r>
              <a:rPr lang="zh-CN" altLang="en-US" sz="2400" b="1" dirty="0">
                <a:solidFill>
                  <a:srgbClr val="FF0000"/>
                </a:solidFill>
                <a:latin typeface="楷体" panose="02010609060101010101" pitchFamily="49" charset="-122"/>
                <a:ea typeface="楷体" panose="02010609060101010101" pitchFamily="49" charset="-122"/>
                <a:cs typeface="+mn-cs"/>
              </a:rPr>
              <a:t>一个字节的校验字符（校验和）</a:t>
            </a:r>
            <a:r>
              <a:rPr lang="zh-CN" altLang="en-US" sz="2400" b="1" dirty="0">
                <a:latin typeface="楷体" panose="02010609060101010101" pitchFamily="49" charset="-122"/>
                <a:ea typeface="楷体" panose="02010609060101010101" pitchFamily="49" charset="-122"/>
                <a:cs typeface="+mn-cs"/>
              </a:rPr>
              <a:t>附加到数据块末尾。接收方接收数据同时对数据块（除校验字节外）求和（或各字节异或），将所得的结果与发送方的“校验和”进行比较，相符则无差错，否则即认为传送过程中出现了差错。</a:t>
            </a:r>
          </a:p>
          <a:p>
            <a:pPr marL="342900" indent="-342900">
              <a:spcBef>
                <a:spcPct val="20000"/>
              </a:spcBef>
              <a:buFont typeface="Arial" pitchFamily="34" charset="0"/>
              <a:buChar char="•"/>
              <a:defRPr/>
            </a:pPr>
            <a:r>
              <a:rPr lang="zh-CN" altLang="en-US" sz="2400" b="1" dirty="0">
                <a:solidFill>
                  <a:srgbClr val="FF00FF"/>
                </a:solidFill>
                <a:latin typeface="楷体" panose="02010609060101010101" pitchFamily="49" charset="-122"/>
                <a:ea typeface="楷体" panose="02010609060101010101" pitchFamily="49" charset="-122"/>
                <a:cs typeface="+mn-cs"/>
              </a:rPr>
              <a:t>循环冗余校验</a:t>
            </a:r>
            <a:r>
              <a:rPr lang="en-US" altLang="zh-CN" sz="2400" b="1" dirty="0">
                <a:latin typeface="楷体" panose="02010609060101010101" pitchFamily="49" charset="-122"/>
                <a:ea typeface="楷体" panose="02010609060101010101" pitchFamily="49" charset="-122"/>
                <a:cs typeface="+mn-cs"/>
              </a:rPr>
              <a:t>——</a:t>
            </a:r>
            <a:r>
              <a:rPr lang="zh-CN" altLang="en-US" sz="2400" b="1" dirty="0">
                <a:latin typeface="楷体" panose="02010609060101010101" pitchFamily="49" charset="-122"/>
                <a:ea typeface="楷体" panose="02010609060101010101" pitchFamily="49" charset="-122"/>
                <a:cs typeface="+mn-cs"/>
              </a:rPr>
              <a:t>这种校验是通过</a:t>
            </a:r>
            <a:r>
              <a:rPr lang="zh-CN" altLang="en-US" sz="2400" b="1" dirty="0">
                <a:solidFill>
                  <a:srgbClr val="FF0000"/>
                </a:solidFill>
                <a:latin typeface="楷体" panose="02010609060101010101" pitchFamily="49" charset="-122"/>
                <a:ea typeface="楷体" panose="02010609060101010101" pitchFamily="49" charset="-122"/>
                <a:cs typeface="+mn-cs"/>
              </a:rPr>
              <a:t>某种数学运算实现有效信息与校验位之间的循环校验</a:t>
            </a:r>
            <a:r>
              <a:rPr lang="zh-CN" altLang="en-US" sz="2400" b="1" dirty="0">
                <a:latin typeface="楷体" panose="02010609060101010101" pitchFamily="49" charset="-122"/>
                <a:ea typeface="楷体" panose="02010609060101010101" pitchFamily="49" charset="-122"/>
                <a:cs typeface="+mn-cs"/>
              </a:rPr>
              <a:t>，常用于对磁盘信息的传输、存储区的完整性校验等。这种校验方法纠错能力强，</a:t>
            </a:r>
            <a:r>
              <a:rPr lang="zh-CN" altLang="en-US" sz="2400" b="1" dirty="0">
                <a:solidFill>
                  <a:srgbClr val="FF0000"/>
                </a:solidFill>
                <a:latin typeface="楷体" panose="02010609060101010101" pitchFamily="49" charset="-122"/>
                <a:ea typeface="楷体" panose="02010609060101010101" pitchFamily="49" charset="-122"/>
                <a:cs typeface="+mn-cs"/>
              </a:rPr>
              <a:t>广泛应用于同步通信中</a:t>
            </a:r>
            <a:r>
              <a:rPr lang="zh-CN" altLang="en-US" sz="2400" b="1" dirty="0">
                <a:latin typeface="楷体" panose="02010609060101010101" pitchFamily="49" charset="-122"/>
                <a:ea typeface="楷体" panose="02010609060101010101" pitchFamily="49" charset="-122"/>
                <a:cs typeface="+mn-cs"/>
              </a:rPr>
              <a:t>。</a:t>
            </a:r>
            <a:endParaRPr lang="zh-CN" altLang="en-US" sz="2400" dirty="0">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2838506821"/>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amond(in)">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4" name="Rectangle 3">
            <a:extLst>
              <a:ext uri="{FF2B5EF4-FFF2-40B4-BE49-F238E27FC236}">
                <a16:creationId xmlns:a16="http://schemas.microsoft.com/office/drawing/2014/main" id="{39854CE8-75CD-304F-98BE-5564A0599F73}"/>
              </a:ext>
            </a:extLst>
          </p:cNvPr>
          <p:cNvSpPr txBox="1">
            <a:spLocks noChangeArrowheads="1"/>
          </p:cNvSpPr>
          <p:nvPr/>
        </p:nvSpPr>
        <p:spPr>
          <a:xfrm>
            <a:off x="323850" y="1222032"/>
            <a:ext cx="8424863" cy="5327650"/>
          </a:xfrm>
          <a:prstGeom prst="rect">
            <a:avLst/>
          </a:prstGeom>
        </p:spPr>
        <p:txBody>
          <a:bodyPr/>
          <a:lstStyle/>
          <a:p>
            <a:pPr marL="342900" indent="-342900">
              <a:spcBef>
                <a:spcPct val="20000"/>
              </a:spcBef>
              <a:buFont typeface="Wingdings" pitchFamily="2" charset="2"/>
              <a:buNone/>
              <a:defRPr/>
            </a:pPr>
            <a:r>
              <a:rPr lang="zh-CN" altLang="en-US" sz="3000" b="1" dirty="0">
                <a:solidFill>
                  <a:srgbClr val="0000FF"/>
                </a:solidFill>
                <a:latin typeface="楷体" panose="02010609060101010101" pitchFamily="49" charset="-122"/>
                <a:ea typeface="楷体" panose="02010609060101010101" pitchFamily="49" charset="-122"/>
                <a:cs typeface="+mn-cs"/>
              </a:rPr>
              <a:t>传输速率与传输距离</a:t>
            </a:r>
            <a:r>
              <a:rPr lang="zh-CN" altLang="en-US" sz="2800" dirty="0">
                <a:solidFill>
                  <a:srgbClr val="0000FF"/>
                </a:solidFill>
                <a:latin typeface="楷体" panose="02010609060101010101" pitchFamily="49" charset="-122"/>
                <a:ea typeface="楷体" panose="02010609060101010101" pitchFamily="49" charset="-122"/>
                <a:cs typeface="+mn-cs"/>
              </a:rPr>
              <a:t> </a:t>
            </a:r>
          </a:p>
          <a:p>
            <a:pPr marL="342900" indent="-342900">
              <a:spcBef>
                <a:spcPct val="20000"/>
              </a:spcBef>
              <a:buFont typeface="Wingdings" pitchFamily="2" charset="2"/>
              <a:buNone/>
              <a:defRPr/>
            </a:pPr>
            <a:endParaRPr lang="en-US" altLang="zh-CN" sz="1000" dirty="0">
              <a:solidFill>
                <a:schemeClr val="tx2"/>
              </a:solidFill>
              <a:latin typeface="楷体" panose="02010609060101010101" pitchFamily="49" charset="-122"/>
              <a:ea typeface="楷体" panose="02010609060101010101" pitchFamily="49" charset="-122"/>
              <a:cs typeface="+mn-cs"/>
            </a:endParaRPr>
          </a:p>
          <a:p>
            <a:pPr marL="342900" indent="-342900">
              <a:spcBef>
                <a:spcPct val="20000"/>
              </a:spcBef>
              <a:buFont typeface="Arial" pitchFamily="34" charset="0"/>
              <a:buChar char="•"/>
              <a:defRPr/>
            </a:pPr>
            <a:r>
              <a:rPr lang="zh-CN" altLang="en-US" sz="2800" b="1" dirty="0">
                <a:solidFill>
                  <a:srgbClr val="CC0000"/>
                </a:solidFill>
                <a:latin typeface="楷体" panose="02010609060101010101" pitchFamily="49" charset="-122"/>
                <a:ea typeface="楷体" panose="02010609060101010101" pitchFamily="49" charset="-122"/>
                <a:cs typeface="+mn-cs"/>
              </a:rPr>
              <a:t>传输速率</a:t>
            </a:r>
            <a:endParaRPr lang="en-US" altLang="zh-CN" sz="2800" b="1" dirty="0">
              <a:solidFill>
                <a:srgbClr val="CC0000"/>
              </a:solidFill>
              <a:latin typeface="楷体" panose="02010609060101010101" pitchFamily="49" charset="-122"/>
              <a:ea typeface="楷体" panose="02010609060101010101" pitchFamily="49" charset="-122"/>
              <a:cs typeface="+mn-cs"/>
            </a:endParaRPr>
          </a:p>
          <a:p>
            <a:pPr>
              <a:spcBef>
                <a:spcPct val="20000"/>
              </a:spcBef>
              <a:defRPr/>
            </a:pPr>
            <a:r>
              <a:rPr lang="en-US" altLang="zh-CN" sz="2800" b="1" dirty="0">
                <a:solidFill>
                  <a:srgbClr val="CC0000"/>
                </a:solidFill>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cs typeface="+mn-cs"/>
              </a:rPr>
              <a:t>比特率是</a:t>
            </a:r>
            <a:r>
              <a:rPr lang="zh-CN" altLang="en-US" sz="2400" b="1" dirty="0">
                <a:solidFill>
                  <a:srgbClr val="CC0000"/>
                </a:solidFill>
                <a:latin typeface="楷体" panose="02010609060101010101" pitchFamily="49" charset="-122"/>
                <a:ea typeface="楷体" panose="02010609060101010101" pitchFamily="49" charset="-122"/>
                <a:cs typeface="+mn-cs"/>
              </a:rPr>
              <a:t>每秒钟传输二进制代码的位数</a:t>
            </a:r>
            <a:r>
              <a:rPr lang="zh-CN" altLang="en-US" sz="2400" b="1" dirty="0">
                <a:latin typeface="楷体" panose="02010609060101010101" pitchFamily="49" charset="-122"/>
                <a:ea typeface="楷体" panose="02010609060101010101" pitchFamily="49" charset="-122"/>
                <a:cs typeface="+mn-cs"/>
              </a:rPr>
              <a:t>，单位是：</a:t>
            </a:r>
            <a:endParaRPr lang="en-US" altLang="zh-CN" sz="2400" b="1" dirty="0">
              <a:latin typeface="楷体" panose="02010609060101010101" pitchFamily="49" charset="-122"/>
              <a:ea typeface="楷体" panose="02010609060101010101" pitchFamily="49" charset="-122"/>
              <a:cs typeface="+mn-cs"/>
            </a:endParaRPr>
          </a:p>
          <a:p>
            <a:pPr>
              <a:spcBef>
                <a:spcPct val="20000"/>
              </a:spcBef>
              <a:defRPr/>
            </a:pPr>
            <a:r>
              <a:rPr lang="zh-CN" altLang="en-US" sz="2400" b="1" dirty="0">
                <a:solidFill>
                  <a:srgbClr val="18478F"/>
                </a:solidFill>
                <a:latin typeface="楷体" panose="02010609060101010101" pitchFamily="49" charset="-122"/>
                <a:ea typeface="楷体" panose="02010609060101010101" pitchFamily="49" charset="-122"/>
                <a:cs typeface="+mn-cs"/>
              </a:rPr>
              <a:t>位／秒</a:t>
            </a:r>
            <a:r>
              <a:rPr lang="zh-CN" altLang="en-US" sz="2400" b="1" dirty="0">
                <a:latin typeface="楷体" panose="02010609060101010101" pitchFamily="49" charset="-122"/>
                <a:ea typeface="楷体" panose="02010609060101010101" pitchFamily="49" charset="-122"/>
                <a:cs typeface="+mn-cs"/>
              </a:rPr>
              <a:t>（</a:t>
            </a:r>
            <a:r>
              <a:rPr lang="en-US" altLang="zh-CN" sz="2400" b="1" dirty="0">
                <a:solidFill>
                  <a:srgbClr val="FF00FF"/>
                </a:solidFill>
                <a:latin typeface="楷体" panose="02010609060101010101" pitchFamily="49" charset="-122"/>
                <a:ea typeface="楷体" panose="02010609060101010101" pitchFamily="49" charset="-122"/>
                <a:cs typeface="+mn-cs"/>
              </a:rPr>
              <a:t>bps</a:t>
            </a:r>
            <a:r>
              <a:rPr lang="zh-CN" altLang="en-US" sz="2400" b="1" dirty="0">
                <a:latin typeface="楷体" panose="02010609060101010101" pitchFamily="49" charset="-122"/>
                <a:ea typeface="楷体" panose="02010609060101010101" pitchFamily="49" charset="-122"/>
                <a:cs typeface="+mn-cs"/>
              </a:rPr>
              <a:t>）。如每秒钟传送</a:t>
            </a:r>
            <a:r>
              <a:rPr lang="en-US" altLang="zh-CN" sz="2400" b="1" dirty="0">
                <a:latin typeface="楷体" panose="02010609060101010101" pitchFamily="49" charset="-122"/>
                <a:ea typeface="楷体" panose="02010609060101010101" pitchFamily="49" charset="-122"/>
                <a:cs typeface="+mn-cs"/>
              </a:rPr>
              <a:t>240</a:t>
            </a:r>
            <a:r>
              <a:rPr lang="zh-CN" altLang="en-US" sz="2400" b="1" dirty="0">
                <a:latin typeface="楷体" panose="02010609060101010101" pitchFamily="49" charset="-122"/>
                <a:ea typeface="楷体" panose="02010609060101010101" pitchFamily="49" charset="-122"/>
                <a:cs typeface="+mn-cs"/>
              </a:rPr>
              <a:t>个字符，而每个字符格式包含</a:t>
            </a:r>
            <a:r>
              <a:rPr lang="en-US" altLang="zh-CN" sz="2400" b="1" dirty="0">
                <a:latin typeface="楷体" panose="02010609060101010101" pitchFamily="49" charset="-122"/>
                <a:ea typeface="楷体" panose="02010609060101010101" pitchFamily="49" charset="-122"/>
                <a:cs typeface="+mn-cs"/>
              </a:rPr>
              <a:t>10</a:t>
            </a:r>
            <a:r>
              <a:rPr lang="zh-CN" altLang="en-US" sz="2400" b="1" dirty="0">
                <a:latin typeface="楷体" panose="02010609060101010101" pitchFamily="49" charset="-122"/>
                <a:ea typeface="楷体" panose="02010609060101010101" pitchFamily="49" charset="-122"/>
                <a:cs typeface="+mn-cs"/>
              </a:rPr>
              <a:t>位</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个起始位、</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个停止位、</a:t>
            </a:r>
            <a:r>
              <a:rPr lang="en-US" altLang="zh-CN" sz="2400" b="1" dirty="0">
                <a:latin typeface="楷体" panose="02010609060101010101" pitchFamily="49" charset="-122"/>
                <a:ea typeface="楷体" panose="02010609060101010101" pitchFamily="49" charset="-122"/>
                <a:cs typeface="+mn-cs"/>
              </a:rPr>
              <a:t>8</a:t>
            </a:r>
            <a:r>
              <a:rPr lang="zh-CN" altLang="en-US" sz="2400" b="1" dirty="0">
                <a:latin typeface="楷体" panose="02010609060101010101" pitchFamily="49" charset="-122"/>
                <a:ea typeface="楷体" panose="02010609060101010101" pitchFamily="49" charset="-122"/>
                <a:cs typeface="+mn-cs"/>
              </a:rPr>
              <a:t>个数据位</a:t>
            </a:r>
            <a:r>
              <a:rPr lang="en-US" altLang="zh-CN" sz="2400" b="1" dirty="0">
                <a:latin typeface="楷体" panose="02010609060101010101" pitchFamily="49" charset="-122"/>
                <a:ea typeface="楷体" panose="02010609060101010101" pitchFamily="49" charset="-122"/>
                <a:cs typeface="+mn-cs"/>
              </a:rPr>
              <a:t>)</a:t>
            </a:r>
            <a:r>
              <a:rPr lang="zh-CN" altLang="en-US" sz="2400" b="1" dirty="0">
                <a:latin typeface="楷体" panose="02010609060101010101" pitchFamily="49" charset="-122"/>
                <a:ea typeface="楷体" panose="02010609060101010101" pitchFamily="49" charset="-122"/>
                <a:cs typeface="+mn-cs"/>
              </a:rPr>
              <a:t>，这时的比特率为：</a:t>
            </a:r>
          </a:p>
          <a:p>
            <a:pPr marL="342900" indent="-342900">
              <a:spcBef>
                <a:spcPct val="20000"/>
              </a:spcBef>
              <a:buFont typeface="Wingdings" pitchFamily="2" charset="2"/>
              <a:buNone/>
              <a:defRPr/>
            </a:pPr>
            <a:r>
              <a:rPr lang="zh-CN" altLang="en-US" sz="2400" b="1" dirty="0">
                <a:latin typeface="楷体" panose="02010609060101010101" pitchFamily="49" charset="-122"/>
                <a:ea typeface="楷体" panose="02010609060101010101" pitchFamily="49" charset="-122"/>
                <a:cs typeface="+mn-cs"/>
              </a:rPr>
              <a:t>        </a:t>
            </a:r>
            <a:r>
              <a:rPr lang="en-US" altLang="zh-CN" sz="2400" b="1" dirty="0">
                <a:latin typeface="楷体" panose="02010609060101010101" pitchFamily="49" charset="-122"/>
                <a:ea typeface="楷体" panose="02010609060101010101" pitchFamily="49" charset="-122"/>
                <a:cs typeface="+mn-cs"/>
              </a:rPr>
              <a:t>10</a:t>
            </a:r>
            <a:r>
              <a:rPr lang="zh-CN" altLang="en-US" sz="2400" b="1" dirty="0">
                <a:latin typeface="楷体" panose="02010609060101010101" pitchFamily="49" charset="-122"/>
                <a:ea typeface="楷体" panose="02010609060101010101" pitchFamily="49" charset="-122"/>
                <a:cs typeface="+mn-cs"/>
              </a:rPr>
              <a:t>位</a:t>
            </a:r>
            <a:r>
              <a:rPr lang="en-US" altLang="zh-CN" sz="2400" b="1" dirty="0">
                <a:latin typeface="楷体" panose="02010609060101010101" pitchFamily="49" charset="-122"/>
                <a:ea typeface="楷体" panose="02010609060101010101" pitchFamily="49" charset="-122"/>
                <a:cs typeface="+mn-cs"/>
              </a:rPr>
              <a:t>×240</a:t>
            </a:r>
            <a:r>
              <a:rPr lang="zh-CN" altLang="en-US" sz="2400" b="1" dirty="0">
                <a:latin typeface="楷体" panose="02010609060101010101" pitchFamily="49" charset="-122"/>
                <a:ea typeface="楷体" panose="02010609060101010101" pitchFamily="49" charset="-122"/>
                <a:cs typeface="+mn-cs"/>
              </a:rPr>
              <a:t>个</a:t>
            </a:r>
            <a:r>
              <a:rPr lang="en-US" altLang="zh-CN" sz="2400" b="1" dirty="0">
                <a:latin typeface="楷体" panose="02010609060101010101" pitchFamily="49" charset="-122"/>
                <a:ea typeface="楷体" panose="02010609060101010101" pitchFamily="49" charset="-122"/>
                <a:cs typeface="+mn-cs"/>
              </a:rPr>
              <a:t>/</a:t>
            </a:r>
            <a:r>
              <a:rPr lang="zh-CN" altLang="en-US" sz="2400" b="1" dirty="0">
                <a:latin typeface="楷体" panose="02010609060101010101" pitchFamily="49" charset="-122"/>
                <a:ea typeface="楷体" panose="02010609060101010101" pitchFamily="49" charset="-122"/>
                <a:cs typeface="+mn-cs"/>
              </a:rPr>
              <a:t>秒 </a:t>
            </a:r>
            <a:r>
              <a:rPr lang="en-US" altLang="zh-CN" sz="2400" b="1" dirty="0">
                <a:latin typeface="楷体" panose="02010609060101010101" pitchFamily="49" charset="-122"/>
                <a:ea typeface="楷体" panose="02010609060101010101" pitchFamily="49" charset="-122"/>
                <a:cs typeface="+mn-cs"/>
              </a:rPr>
              <a:t>= 2400 bps</a:t>
            </a:r>
          </a:p>
          <a:p>
            <a:pPr marL="342900" indent="-342900">
              <a:spcBef>
                <a:spcPct val="20000"/>
              </a:spcBef>
              <a:buFont typeface="Wingdings" pitchFamily="2" charset="2"/>
              <a:buNone/>
              <a:defRPr/>
            </a:pPr>
            <a:r>
              <a:rPr lang="zh-CN" altLang="en-US" sz="2400" b="1" dirty="0">
                <a:latin typeface="楷体" panose="02010609060101010101" pitchFamily="49" charset="-122"/>
                <a:ea typeface="楷体" panose="02010609060101010101" pitchFamily="49" charset="-122"/>
                <a:cs typeface="+mn-cs"/>
              </a:rPr>
              <a:t>   波特率表示每秒钟调制信号变化的次数，单位是：波特（</a:t>
            </a:r>
            <a:r>
              <a:rPr lang="en-US" altLang="zh-CN" sz="2400" b="1" dirty="0">
                <a:latin typeface="楷体" panose="02010609060101010101" pitchFamily="49" charset="-122"/>
                <a:ea typeface="楷体" panose="02010609060101010101" pitchFamily="49" charset="-122"/>
                <a:cs typeface="+mn-cs"/>
              </a:rPr>
              <a:t>Baud</a:t>
            </a:r>
            <a:r>
              <a:rPr lang="zh-CN" altLang="en-US" sz="2400" b="1" dirty="0">
                <a:latin typeface="楷体" panose="02010609060101010101" pitchFamily="49" charset="-122"/>
                <a:ea typeface="楷体" panose="02010609060101010101" pitchFamily="49" charset="-122"/>
                <a:cs typeface="+mn-cs"/>
              </a:rPr>
              <a:t>）。</a:t>
            </a:r>
          </a:p>
          <a:p>
            <a:pPr marL="342900" indent="-342900">
              <a:spcBef>
                <a:spcPct val="20000"/>
              </a:spcBef>
              <a:buFont typeface="Arial" pitchFamily="34" charset="0"/>
              <a:buChar char="•"/>
              <a:defRPr/>
            </a:pPr>
            <a:r>
              <a:rPr lang="zh-CN" altLang="en-US" sz="2400" b="1" dirty="0">
                <a:latin typeface="楷体" panose="02010609060101010101" pitchFamily="49" charset="-122"/>
                <a:ea typeface="楷体" panose="02010609060101010101" pitchFamily="49" charset="-122"/>
                <a:cs typeface="+mn-cs"/>
              </a:rPr>
              <a:t>波特率和比特率不总是相同的，对于将数字信号</a:t>
            </a:r>
            <a:r>
              <a:rPr lang="en-US" altLang="zh-CN" sz="2400" b="1" dirty="0">
                <a:latin typeface="楷体" panose="02010609060101010101" pitchFamily="49" charset="-122"/>
                <a:ea typeface="楷体" panose="02010609060101010101" pitchFamily="49" charset="-122"/>
                <a:cs typeface="+mn-cs"/>
              </a:rPr>
              <a:t>1</a:t>
            </a:r>
            <a:r>
              <a:rPr lang="zh-CN" altLang="en-US" sz="2400" b="1" dirty="0">
                <a:latin typeface="楷体" panose="02010609060101010101" pitchFamily="49" charset="-122"/>
                <a:ea typeface="楷体" panose="02010609060101010101" pitchFamily="49" charset="-122"/>
                <a:cs typeface="+mn-cs"/>
              </a:rPr>
              <a:t>或</a:t>
            </a:r>
            <a:r>
              <a:rPr lang="en-US" altLang="zh-CN" sz="2400" b="1" dirty="0">
                <a:latin typeface="楷体" panose="02010609060101010101" pitchFamily="49" charset="-122"/>
                <a:ea typeface="楷体" panose="02010609060101010101" pitchFamily="49" charset="-122"/>
                <a:cs typeface="+mn-cs"/>
              </a:rPr>
              <a:t>0</a:t>
            </a:r>
            <a:r>
              <a:rPr lang="zh-CN" altLang="en-US" sz="2400" b="1" dirty="0">
                <a:latin typeface="楷体" panose="02010609060101010101" pitchFamily="49" charset="-122"/>
                <a:ea typeface="楷体" panose="02010609060101010101" pitchFamily="49" charset="-122"/>
                <a:cs typeface="+mn-cs"/>
              </a:rPr>
              <a:t>直接用两种不同电压表示的所谓</a:t>
            </a:r>
            <a:r>
              <a:rPr lang="zh-CN" altLang="en-US" sz="2400" b="1" dirty="0">
                <a:solidFill>
                  <a:srgbClr val="CC0000"/>
                </a:solidFill>
                <a:latin typeface="楷体" panose="02010609060101010101" pitchFamily="49" charset="-122"/>
                <a:ea typeface="楷体" panose="02010609060101010101" pitchFamily="49" charset="-122"/>
                <a:cs typeface="+mn-cs"/>
              </a:rPr>
              <a:t>基带传输</a:t>
            </a:r>
            <a:r>
              <a:rPr lang="zh-CN" altLang="en-US" sz="2400" b="1" dirty="0">
                <a:latin typeface="楷体" panose="02010609060101010101" pitchFamily="49" charset="-122"/>
                <a:ea typeface="楷体" panose="02010609060101010101" pitchFamily="49" charset="-122"/>
                <a:cs typeface="+mn-cs"/>
              </a:rPr>
              <a:t>，比特率和波特率是相同的。所以，我们也经常用波特率表示数据的传输速率。</a:t>
            </a:r>
          </a:p>
        </p:txBody>
      </p:sp>
    </p:spTree>
    <p:extLst>
      <p:ext uri="{BB962C8B-B14F-4D97-AF65-F5344CB8AC3E}">
        <p14:creationId xmlns:p14="http://schemas.microsoft.com/office/powerpoint/2010/main" val="2993171606"/>
      </p:ext>
    </p:extLst>
  </p:cSld>
  <p:clrMapOvr>
    <a:masterClrMapping/>
  </p:clrMapOvr>
  <p:transition spd="slow" advClick="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三</a:t>
            </a:r>
            <a:r>
              <a:rPr lang="en-US" altLang="zh-CN" sz="3200" spc="600" dirty="0">
                <a:latin typeface="隶书" pitchFamily="49" charset="-122"/>
                <a:ea typeface="隶书" pitchFamily="49" charset="-122"/>
              </a:rPr>
              <a:t>.</a:t>
            </a:r>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3D8B9D55-A03C-0D9A-ED85-DC16CF09D295}"/>
              </a:ext>
            </a:extLst>
          </p:cNvPr>
          <p:cNvSpPr txBox="1">
            <a:spLocks noChangeArrowheads="1"/>
          </p:cNvSpPr>
          <p:nvPr/>
        </p:nvSpPr>
        <p:spPr>
          <a:xfrm>
            <a:off x="366713" y="1273851"/>
            <a:ext cx="8477250" cy="4852987"/>
          </a:xfrm>
          <a:prstGeom prst="rect">
            <a:avLst/>
          </a:prstGeom>
        </p:spPr>
        <p:txBody>
          <a:bodyPr/>
          <a:lstStyle/>
          <a:p>
            <a:pPr marL="342900" indent="-342900">
              <a:lnSpc>
                <a:spcPct val="80000"/>
              </a:lnSpc>
              <a:spcBef>
                <a:spcPct val="20000"/>
              </a:spcBef>
              <a:defRPr/>
            </a:pPr>
            <a:r>
              <a:rPr lang="zh-CN" altLang="en-US" sz="3600" b="1" dirty="0">
                <a:solidFill>
                  <a:srgbClr val="FF00FF"/>
                </a:solidFill>
                <a:latin typeface="楷体" panose="02010609060101010101" pitchFamily="49" charset="-122"/>
                <a:ea typeface="楷体" panose="02010609060101010101" pitchFamily="49" charset="-122"/>
                <a:cs typeface="+mn-cs"/>
              </a:rPr>
              <a:t>传输距离与传输速率的关系</a:t>
            </a:r>
            <a:r>
              <a:rPr lang="zh-CN" altLang="en-US" sz="3200" b="1" dirty="0">
                <a:solidFill>
                  <a:schemeClr val="tx2"/>
                </a:solidFill>
                <a:latin typeface="楷体" panose="02010609060101010101" pitchFamily="49" charset="-122"/>
                <a:ea typeface="楷体" panose="02010609060101010101" pitchFamily="49" charset="-122"/>
                <a:cs typeface="+mn-cs"/>
              </a:rPr>
              <a:t>    </a:t>
            </a:r>
            <a:endParaRPr lang="en-US" altLang="zh-CN" sz="3200" b="1" dirty="0">
              <a:solidFill>
                <a:schemeClr val="tx2"/>
              </a:solidFill>
              <a:latin typeface="楷体" panose="02010609060101010101" pitchFamily="49" charset="-122"/>
              <a:ea typeface="楷体" panose="02010609060101010101" pitchFamily="49" charset="-122"/>
              <a:cs typeface="+mn-cs"/>
            </a:endParaRPr>
          </a:p>
          <a:p>
            <a:pPr marL="342900" indent="-342900">
              <a:lnSpc>
                <a:spcPct val="80000"/>
              </a:lnSpc>
              <a:spcBef>
                <a:spcPct val="20000"/>
              </a:spcBef>
              <a:buFont typeface="Arial" pitchFamily="34" charset="0"/>
              <a:buChar char="•"/>
              <a:defRPr/>
            </a:pPr>
            <a:endParaRPr lang="zh-CN" altLang="en-US" sz="1100" b="1" dirty="0">
              <a:solidFill>
                <a:schemeClr val="tx2"/>
              </a:solidFill>
              <a:latin typeface="楷体" panose="02010609060101010101" pitchFamily="49" charset="-122"/>
              <a:ea typeface="楷体" panose="02010609060101010101" pitchFamily="49" charset="-122"/>
              <a:cs typeface="+mn-cs"/>
            </a:endParaRPr>
          </a:p>
          <a:p>
            <a:pPr marL="342900" indent="-342900">
              <a:lnSpc>
                <a:spcPct val="120000"/>
              </a:lnSpc>
              <a:spcBef>
                <a:spcPct val="20000"/>
              </a:spcBef>
              <a:buFont typeface="Wingdings" pitchFamily="2" charset="2"/>
              <a:buNone/>
              <a:defRPr/>
            </a:pPr>
            <a:r>
              <a:rPr lang="zh-CN" altLang="en-US" sz="3200" b="1" dirty="0">
                <a:solidFill>
                  <a:schemeClr val="tx2"/>
                </a:solidFill>
                <a:latin typeface="楷体" panose="02010609060101010101" pitchFamily="49" charset="-122"/>
                <a:ea typeface="楷体" panose="02010609060101010101" pitchFamily="49" charset="-122"/>
                <a:cs typeface="+mn-cs"/>
              </a:rPr>
              <a:t>	</a:t>
            </a:r>
            <a:r>
              <a:rPr lang="zh-CN" altLang="en-US" sz="3000" b="1" dirty="0">
                <a:solidFill>
                  <a:schemeClr val="tx2"/>
                </a:solidFill>
                <a:latin typeface="楷体" panose="02010609060101010101" pitchFamily="49" charset="-122"/>
                <a:ea typeface="楷体" panose="02010609060101010101" pitchFamily="49" charset="-122"/>
                <a:cs typeface="+mn-cs"/>
              </a:rPr>
              <a:t>    </a:t>
            </a:r>
            <a:r>
              <a:rPr lang="zh-CN" altLang="en-US" sz="3000" b="1" dirty="0">
                <a:latin typeface="楷体" panose="02010609060101010101" pitchFamily="49" charset="-122"/>
                <a:ea typeface="楷体" panose="02010609060101010101" pitchFamily="49" charset="-122"/>
                <a:cs typeface="+mn-cs"/>
              </a:rPr>
              <a:t>串行接口或终端直接传送串行信息位流的最大距离与传输速率及传输线的电气特性有关。当传输线使用每</a:t>
            </a:r>
            <a:r>
              <a:rPr lang="en-US" altLang="zh-CN" sz="3000" b="1" dirty="0">
                <a:latin typeface="楷体" panose="02010609060101010101" pitchFamily="49" charset="-122"/>
                <a:ea typeface="楷体" panose="02010609060101010101" pitchFamily="49" charset="-122"/>
                <a:cs typeface="+mn-cs"/>
              </a:rPr>
              <a:t>0.3m</a:t>
            </a:r>
            <a:r>
              <a:rPr lang="zh-CN" altLang="en-US" sz="3000" b="1" dirty="0">
                <a:latin typeface="楷体" panose="02010609060101010101" pitchFamily="49" charset="-122"/>
                <a:ea typeface="楷体" panose="02010609060101010101" pitchFamily="49" charset="-122"/>
                <a:cs typeface="+mn-cs"/>
              </a:rPr>
              <a:t>（约</a:t>
            </a:r>
            <a:r>
              <a:rPr lang="en-US" altLang="zh-CN" sz="3000" b="1" dirty="0">
                <a:latin typeface="楷体" panose="02010609060101010101" pitchFamily="49" charset="-122"/>
                <a:ea typeface="楷体" panose="02010609060101010101" pitchFamily="49" charset="-122"/>
                <a:cs typeface="+mn-cs"/>
              </a:rPr>
              <a:t>1</a:t>
            </a:r>
            <a:r>
              <a:rPr lang="zh-CN" altLang="en-US" sz="3000" b="1" dirty="0">
                <a:latin typeface="楷体" panose="02010609060101010101" pitchFamily="49" charset="-122"/>
                <a:ea typeface="楷体" panose="02010609060101010101" pitchFamily="49" charset="-122"/>
                <a:cs typeface="+mn-cs"/>
              </a:rPr>
              <a:t>英尺）有</a:t>
            </a:r>
            <a:r>
              <a:rPr lang="en-US" altLang="zh-CN" sz="3000" b="1" dirty="0">
                <a:latin typeface="楷体" panose="02010609060101010101" pitchFamily="49" charset="-122"/>
                <a:ea typeface="楷体" panose="02010609060101010101" pitchFamily="49" charset="-122"/>
                <a:cs typeface="+mn-cs"/>
              </a:rPr>
              <a:t>50PF</a:t>
            </a:r>
            <a:r>
              <a:rPr lang="zh-CN" altLang="en-US" sz="3000" b="1" dirty="0">
                <a:latin typeface="楷体" panose="02010609060101010101" pitchFamily="49" charset="-122"/>
                <a:ea typeface="楷体" panose="02010609060101010101" pitchFamily="49" charset="-122"/>
                <a:cs typeface="+mn-cs"/>
              </a:rPr>
              <a:t>电容的非平衡屏蔽双绞线时，传输距离随传输速率的增加而减小。当比特率超过</a:t>
            </a:r>
            <a:r>
              <a:rPr lang="en-US" altLang="zh-CN" sz="3000" b="1" dirty="0">
                <a:latin typeface="楷体" panose="02010609060101010101" pitchFamily="49" charset="-122"/>
                <a:ea typeface="楷体" panose="02010609060101010101" pitchFamily="49" charset="-122"/>
                <a:cs typeface="+mn-cs"/>
              </a:rPr>
              <a:t>1000 bps </a:t>
            </a:r>
            <a:r>
              <a:rPr lang="zh-CN" altLang="en-US" sz="3000" b="1" dirty="0">
                <a:latin typeface="楷体" panose="02010609060101010101" pitchFamily="49" charset="-122"/>
                <a:ea typeface="楷体" panose="02010609060101010101" pitchFamily="49" charset="-122"/>
                <a:cs typeface="+mn-cs"/>
              </a:rPr>
              <a:t>时，最大传输距离迅速下降，如</a:t>
            </a:r>
            <a:r>
              <a:rPr lang="en-US" altLang="zh-CN" sz="3000" b="1" dirty="0">
                <a:latin typeface="楷体" panose="02010609060101010101" pitchFamily="49" charset="-122"/>
                <a:ea typeface="楷体" panose="02010609060101010101" pitchFamily="49" charset="-122"/>
                <a:cs typeface="+mn-cs"/>
              </a:rPr>
              <a:t>9600 bps </a:t>
            </a:r>
            <a:r>
              <a:rPr lang="zh-CN" altLang="en-US" sz="3000" b="1" dirty="0">
                <a:latin typeface="楷体" panose="02010609060101010101" pitchFamily="49" charset="-122"/>
                <a:ea typeface="楷体" panose="02010609060101010101" pitchFamily="49" charset="-122"/>
                <a:cs typeface="+mn-cs"/>
              </a:rPr>
              <a:t>时最大距离下降到只有</a:t>
            </a:r>
            <a:r>
              <a:rPr lang="en-US" altLang="zh-CN" sz="3000" b="1" dirty="0">
                <a:latin typeface="楷体" panose="02010609060101010101" pitchFamily="49" charset="-122"/>
                <a:ea typeface="楷体" panose="02010609060101010101" pitchFamily="49" charset="-122"/>
                <a:cs typeface="+mn-cs"/>
              </a:rPr>
              <a:t>76m</a:t>
            </a:r>
            <a:r>
              <a:rPr lang="zh-CN" altLang="en-US" sz="3000" b="1" dirty="0">
                <a:latin typeface="楷体" panose="02010609060101010101" pitchFamily="49" charset="-122"/>
                <a:ea typeface="楷体" panose="02010609060101010101" pitchFamily="49" charset="-122"/>
                <a:cs typeface="+mn-cs"/>
              </a:rPr>
              <a:t>（约</a:t>
            </a:r>
            <a:r>
              <a:rPr lang="en-US" altLang="zh-CN" sz="3000" b="1" dirty="0">
                <a:latin typeface="楷体" panose="02010609060101010101" pitchFamily="49" charset="-122"/>
                <a:ea typeface="楷体" panose="02010609060101010101" pitchFamily="49" charset="-122"/>
                <a:cs typeface="+mn-cs"/>
              </a:rPr>
              <a:t>250</a:t>
            </a:r>
            <a:r>
              <a:rPr lang="zh-CN" altLang="en-US" sz="3000" b="1" dirty="0">
                <a:latin typeface="楷体" panose="02010609060101010101" pitchFamily="49" charset="-122"/>
                <a:ea typeface="楷体" panose="02010609060101010101" pitchFamily="49" charset="-122"/>
                <a:cs typeface="+mn-cs"/>
              </a:rPr>
              <a:t>英尺）。</a:t>
            </a:r>
          </a:p>
        </p:txBody>
      </p:sp>
    </p:spTree>
    <p:extLst>
      <p:ext uri="{BB962C8B-B14F-4D97-AF65-F5344CB8AC3E}">
        <p14:creationId xmlns:p14="http://schemas.microsoft.com/office/powerpoint/2010/main" val="1409551962"/>
      </p:ext>
    </p:extLst>
  </p:cSld>
  <p:clrMapOvr>
    <a:masterClrMapping/>
  </p:clrMapOvr>
  <p:transition spd="slow" advClick="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计算机通信基础知识</a:t>
            </a:r>
            <a:endParaRPr lang="zh-CN" altLang="en-US" sz="3200" dirty="0"/>
          </a:p>
        </p:txBody>
      </p:sp>
      <p:sp>
        <p:nvSpPr>
          <p:cNvPr id="4" name="Rectangle 3">
            <a:extLst>
              <a:ext uri="{FF2B5EF4-FFF2-40B4-BE49-F238E27FC236}">
                <a16:creationId xmlns:a16="http://schemas.microsoft.com/office/drawing/2014/main" id="{C43DC9AD-3C8A-7246-A9BF-CE3178DBD676}"/>
              </a:ext>
            </a:extLst>
          </p:cNvPr>
          <p:cNvSpPr txBox="1">
            <a:spLocks noChangeArrowheads="1"/>
          </p:cNvSpPr>
          <p:nvPr/>
        </p:nvSpPr>
        <p:spPr>
          <a:xfrm>
            <a:off x="468313" y="1342983"/>
            <a:ext cx="8351837" cy="4752975"/>
          </a:xfrm>
          <a:prstGeom prst="rect">
            <a:avLst/>
          </a:prstGeom>
        </p:spPr>
        <p:txBody>
          <a:bodyPr/>
          <a:lstStyle/>
          <a:p>
            <a:pPr marL="342900" indent="-342900">
              <a:lnSpc>
                <a:spcPct val="130000"/>
              </a:lnSpc>
              <a:spcBef>
                <a:spcPct val="20000"/>
              </a:spcBef>
              <a:buFont typeface="Wingdings" pitchFamily="2" charset="2"/>
              <a:buNone/>
              <a:defRPr/>
            </a:pPr>
            <a:r>
              <a:rPr lang="zh-CN" altLang="en-US" sz="3200" b="1" dirty="0">
                <a:solidFill>
                  <a:srgbClr val="FF00FF"/>
                </a:solidFill>
                <a:latin typeface="楷体" panose="02010609060101010101" pitchFamily="49" charset="-122"/>
                <a:ea typeface="楷体" panose="02010609060101010101" pitchFamily="49" charset="-122"/>
                <a:cs typeface="Times New Roman" pitchFamily="18" charset="0"/>
              </a:rPr>
              <a:t>串行通信接口标准</a:t>
            </a:r>
            <a:endParaRPr lang="en-US" altLang="zh-CN" sz="2800" b="1" dirty="0">
              <a:solidFill>
                <a:srgbClr val="FF00FF"/>
              </a:solidFill>
              <a:latin typeface="楷体" panose="02010609060101010101" pitchFamily="49" charset="-122"/>
              <a:ea typeface="楷体" panose="02010609060101010101" pitchFamily="49" charset="-122"/>
              <a:cs typeface="Times New Roman" pitchFamily="18" charset="0"/>
            </a:endParaRPr>
          </a:p>
          <a:p>
            <a:pPr marL="342900" indent="-342900">
              <a:lnSpc>
                <a:spcPct val="130000"/>
              </a:lnSpc>
              <a:spcBef>
                <a:spcPct val="20000"/>
              </a:spcBef>
              <a:buFont typeface="Arial" pitchFamily="34" charset="0"/>
              <a:buChar char="•"/>
              <a:defRPr/>
            </a:pPr>
            <a:r>
              <a:rPr lang="en-US" altLang="zh-CN" sz="2900" dirty="0">
                <a:latin typeface="楷体" panose="02010609060101010101" pitchFamily="49" charset="-122"/>
                <a:ea typeface="楷体" panose="02010609060101010101" pitchFamily="49" charset="-122"/>
                <a:cs typeface="Times New Roman" pitchFamily="18" charset="0"/>
              </a:rPr>
              <a:t> </a:t>
            </a:r>
            <a:r>
              <a:rPr lang="en-US" altLang="zh-CN" sz="3000" b="1" dirty="0">
                <a:solidFill>
                  <a:srgbClr val="006600"/>
                </a:solidFill>
                <a:latin typeface="楷体" panose="02010609060101010101" pitchFamily="49" charset="-122"/>
                <a:ea typeface="楷体" panose="02010609060101010101" pitchFamily="49" charset="-122"/>
                <a:cs typeface="Times New Roman" pitchFamily="18" charset="0"/>
              </a:rPr>
              <a:t>RS-232C</a:t>
            </a:r>
            <a:r>
              <a:rPr lang="zh-CN" altLang="en-US" sz="3000" b="1" dirty="0">
                <a:solidFill>
                  <a:srgbClr val="006600"/>
                </a:solidFill>
                <a:latin typeface="楷体" panose="02010609060101010101" pitchFamily="49" charset="-122"/>
                <a:ea typeface="楷体" panose="02010609060101010101" pitchFamily="49" charset="-122"/>
                <a:cs typeface="Times New Roman" pitchFamily="18" charset="0"/>
              </a:rPr>
              <a:t>接口</a:t>
            </a:r>
            <a:endParaRPr lang="en-US" altLang="zh-CN" sz="3000" dirty="0">
              <a:solidFill>
                <a:srgbClr val="006600"/>
              </a:solidFill>
              <a:latin typeface="楷体" panose="02010609060101010101" pitchFamily="49" charset="-122"/>
              <a:ea typeface="楷体" panose="02010609060101010101" pitchFamily="49" charset="-122"/>
              <a:cs typeface="+mn-cs"/>
            </a:endParaRPr>
          </a:p>
          <a:p>
            <a:pPr marL="742950" lvl="1" indent="-285750">
              <a:lnSpc>
                <a:spcPct val="130000"/>
              </a:lnSpc>
              <a:spcBef>
                <a:spcPct val="20000"/>
              </a:spcBef>
              <a:buFont typeface="Arial" pitchFamily="34" charset="0"/>
              <a:buChar char="–"/>
              <a:defRPr/>
            </a:pPr>
            <a:r>
              <a:rPr lang="en-US" altLang="zh-CN" sz="2400" b="1" dirty="0">
                <a:latin typeface="楷体" panose="02010609060101010101" pitchFamily="49" charset="-122"/>
                <a:ea typeface="楷体" panose="02010609060101010101" pitchFamily="49" charset="-122"/>
                <a:cs typeface="+mn-cs"/>
              </a:rPr>
              <a:t>RS-232C</a:t>
            </a:r>
            <a:r>
              <a:rPr lang="zh-CN" altLang="en-US" sz="2400" b="1" dirty="0">
                <a:latin typeface="楷体" panose="02010609060101010101" pitchFamily="49" charset="-122"/>
                <a:ea typeface="楷体" panose="02010609060101010101" pitchFamily="49" charset="-122"/>
                <a:cs typeface="+mn-cs"/>
              </a:rPr>
              <a:t>是</a:t>
            </a:r>
            <a:r>
              <a:rPr lang="en-US" altLang="zh-CN" sz="2400" b="1" dirty="0">
                <a:latin typeface="楷体" panose="02010609060101010101" pitchFamily="49" charset="-122"/>
                <a:ea typeface="楷体" panose="02010609060101010101" pitchFamily="49" charset="-122"/>
                <a:cs typeface="+mn-cs"/>
              </a:rPr>
              <a:t>EIA</a:t>
            </a:r>
            <a:r>
              <a:rPr lang="zh-CN" altLang="en-US" sz="2400" b="1" dirty="0">
                <a:latin typeface="楷体" panose="02010609060101010101" pitchFamily="49" charset="-122"/>
                <a:ea typeface="楷体" panose="02010609060101010101" pitchFamily="49" charset="-122"/>
                <a:cs typeface="+mn-cs"/>
              </a:rPr>
              <a:t>（美国电子工业协会）</a:t>
            </a:r>
            <a:r>
              <a:rPr lang="en-US" altLang="zh-CN" sz="2400" b="1" dirty="0">
                <a:latin typeface="楷体" panose="02010609060101010101" pitchFamily="49" charset="-122"/>
                <a:ea typeface="楷体" panose="02010609060101010101" pitchFamily="49" charset="-122"/>
                <a:cs typeface="+mn-cs"/>
              </a:rPr>
              <a:t>1969</a:t>
            </a:r>
            <a:r>
              <a:rPr lang="zh-CN" altLang="en-US" sz="2400" b="1" dirty="0">
                <a:latin typeface="楷体" panose="02010609060101010101" pitchFamily="49" charset="-122"/>
                <a:ea typeface="楷体" panose="02010609060101010101" pitchFamily="49" charset="-122"/>
                <a:cs typeface="+mn-cs"/>
              </a:rPr>
              <a:t>年修订</a:t>
            </a:r>
            <a:r>
              <a:rPr lang="en-US" altLang="zh-CN" sz="2400" b="1" dirty="0">
                <a:latin typeface="楷体" panose="02010609060101010101" pitchFamily="49" charset="-122"/>
                <a:ea typeface="楷体" panose="02010609060101010101" pitchFamily="49" charset="-122"/>
                <a:cs typeface="+mn-cs"/>
              </a:rPr>
              <a:t>RS-232C</a:t>
            </a:r>
            <a:r>
              <a:rPr lang="zh-CN" altLang="en-US" sz="2400" b="1" dirty="0">
                <a:latin typeface="楷体" panose="02010609060101010101" pitchFamily="49" charset="-122"/>
                <a:ea typeface="楷体" panose="02010609060101010101" pitchFamily="49" charset="-122"/>
                <a:cs typeface="+mn-cs"/>
              </a:rPr>
              <a:t>标准。</a:t>
            </a:r>
            <a:r>
              <a:rPr lang="en-US" altLang="zh-CN" sz="2400" b="1" dirty="0">
                <a:latin typeface="楷体" panose="02010609060101010101" pitchFamily="49" charset="-122"/>
                <a:ea typeface="楷体" panose="02010609060101010101" pitchFamily="49" charset="-122"/>
                <a:cs typeface="+mn-cs"/>
              </a:rPr>
              <a:t>RS-232C</a:t>
            </a:r>
            <a:r>
              <a:rPr lang="zh-CN" altLang="en-US" sz="2400" b="1" dirty="0">
                <a:latin typeface="楷体" panose="02010609060101010101" pitchFamily="49" charset="-122"/>
                <a:ea typeface="楷体" panose="02010609060101010101" pitchFamily="49" charset="-122"/>
                <a:cs typeface="+mn-cs"/>
              </a:rPr>
              <a:t>定义了数据终端设备（</a:t>
            </a:r>
            <a:r>
              <a:rPr lang="en-US" altLang="zh-CN" sz="2400" b="1" dirty="0">
                <a:latin typeface="楷体" panose="02010609060101010101" pitchFamily="49" charset="-122"/>
                <a:ea typeface="楷体" panose="02010609060101010101" pitchFamily="49" charset="-122"/>
                <a:cs typeface="+mn-cs"/>
              </a:rPr>
              <a:t>DTE</a:t>
            </a:r>
            <a:r>
              <a:rPr lang="zh-CN" altLang="en-US" sz="2400" b="1" dirty="0">
                <a:latin typeface="楷体" panose="02010609060101010101" pitchFamily="49" charset="-122"/>
                <a:ea typeface="楷体" panose="02010609060101010101" pitchFamily="49" charset="-122"/>
                <a:cs typeface="+mn-cs"/>
              </a:rPr>
              <a:t>）与数据通信设备（</a:t>
            </a:r>
            <a:r>
              <a:rPr lang="en-US" altLang="zh-CN" sz="2400" b="1" dirty="0">
                <a:latin typeface="楷体" panose="02010609060101010101" pitchFamily="49" charset="-122"/>
                <a:ea typeface="楷体" panose="02010609060101010101" pitchFamily="49" charset="-122"/>
                <a:cs typeface="+mn-cs"/>
              </a:rPr>
              <a:t>DCE</a:t>
            </a:r>
            <a:r>
              <a:rPr lang="zh-CN" altLang="en-US" sz="2400" b="1" dirty="0">
                <a:latin typeface="楷体" panose="02010609060101010101" pitchFamily="49" charset="-122"/>
                <a:ea typeface="楷体" panose="02010609060101010101" pitchFamily="49" charset="-122"/>
                <a:cs typeface="+mn-cs"/>
              </a:rPr>
              <a:t>）之间的物理接口标准。</a:t>
            </a:r>
          </a:p>
          <a:p>
            <a:pPr marL="342900" indent="-342900">
              <a:lnSpc>
                <a:spcPct val="130000"/>
              </a:lnSpc>
              <a:spcBef>
                <a:spcPct val="20000"/>
              </a:spcBef>
              <a:buFont typeface="Arial" pitchFamily="34" charset="0"/>
              <a:buChar char="•"/>
              <a:defRPr/>
            </a:pPr>
            <a:r>
              <a:rPr lang="en-US" altLang="zh-CN" sz="3000" b="1" dirty="0">
                <a:solidFill>
                  <a:srgbClr val="006600"/>
                </a:solidFill>
                <a:latin typeface="楷体" panose="02010609060101010101" pitchFamily="49" charset="-122"/>
                <a:ea typeface="楷体" panose="02010609060101010101" pitchFamily="49" charset="-122"/>
                <a:cs typeface="+mn-cs"/>
              </a:rPr>
              <a:t>RS-422A</a:t>
            </a:r>
            <a:r>
              <a:rPr lang="zh-CN" altLang="en-US" sz="3000" b="1" dirty="0">
                <a:solidFill>
                  <a:srgbClr val="006600"/>
                </a:solidFill>
                <a:latin typeface="楷体" panose="02010609060101010101" pitchFamily="49" charset="-122"/>
                <a:ea typeface="楷体" panose="02010609060101010101" pitchFamily="49" charset="-122"/>
                <a:cs typeface="+mn-cs"/>
              </a:rPr>
              <a:t>接口</a:t>
            </a:r>
          </a:p>
          <a:p>
            <a:pPr marL="342900" indent="-342900">
              <a:lnSpc>
                <a:spcPct val="130000"/>
              </a:lnSpc>
              <a:spcBef>
                <a:spcPct val="20000"/>
              </a:spcBef>
              <a:buFont typeface="Arial" pitchFamily="34" charset="0"/>
              <a:buChar char="•"/>
              <a:defRPr/>
            </a:pPr>
            <a:r>
              <a:rPr lang="en-US" altLang="zh-CN" sz="3000" b="1" dirty="0">
                <a:solidFill>
                  <a:srgbClr val="006600"/>
                </a:solidFill>
                <a:latin typeface="楷体" panose="02010609060101010101" pitchFamily="49" charset="-122"/>
                <a:ea typeface="楷体" panose="02010609060101010101" pitchFamily="49" charset="-122"/>
                <a:cs typeface="+mn-cs"/>
              </a:rPr>
              <a:t>RS-485</a:t>
            </a:r>
            <a:r>
              <a:rPr lang="zh-CN" altLang="en-US" sz="3000" b="1" dirty="0">
                <a:solidFill>
                  <a:srgbClr val="006600"/>
                </a:solidFill>
                <a:latin typeface="楷体" panose="02010609060101010101" pitchFamily="49" charset="-122"/>
                <a:ea typeface="楷体" panose="02010609060101010101" pitchFamily="49" charset="-122"/>
                <a:cs typeface="+mn-cs"/>
              </a:rPr>
              <a:t>接口</a:t>
            </a:r>
            <a:endParaRPr lang="zh-CN" altLang="en-US" sz="3000" dirty="0">
              <a:solidFill>
                <a:srgbClr val="006600"/>
              </a:solidFill>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339837141"/>
      </p:ext>
    </p:extLst>
  </p:cSld>
  <p:clrMapOvr>
    <a:masterClrMapping/>
  </p:clrMapOvr>
  <p:transition spd="slow" advClick="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计算机通信基础知识</a:t>
            </a:r>
            <a:endParaRPr lang="zh-CN" altLang="en-US" sz="3200" dirty="0"/>
          </a:p>
        </p:txBody>
      </p:sp>
      <p:sp>
        <p:nvSpPr>
          <p:cNvPr id="3" name="Rectangle 3">
            <a:extLst>
              <a:ext uri="{FF2B5EF4-FFF2-40B4-BE49-F238E27FC236}">
                <a16:creationId xmlns:a16="http://schemas.microsoft.com/office/drawing/2014/main" id="{7205DA0C-3687-AF84-6AC8-A90315D5814B}"/>
              </a:ext>
            </a:extLst>
          </p:cNvPr>
          <p:cNvSpPr txBox="1">
            <a:spLocks noChangeArrowheads="1"/>
          </p:cNvSpPr>
          <p:nvPr/>
        </p:nvSpPr>
        <p:spPr>
          <a:xfrm>
            <a:off x="111125" y="1192640"/>
            <a:ext cx="8843963" cy="5256213"/>
          </a:xfrm>
          <a:prstGeom prst="rect">
            <a:avLst/>
          </a:prstGeom>
        </p:spPr>
        <p:txBody>
          <a:bodyPr/>
          <a:lstStyle/>
          <a:p>
            <a:pPr marL="342900" indent="-342900">
              <a:lnSpc>
                <a:spcPct val="90000"/>
              </a:lnSpc>
              <a:spcBef>
                <a:spcPct val="20000"/>
              </a:spcBef>
              <a:buFont typeface="Wingdings" pitchFamily="2" charset="2"/>
              <a:buNone/>
              <a:defRPr/>
            </a:pPr>
            <a:r>
              <a:rPr lang="en-US" altLang="zh-CN" sz="3200" b="1" dirty="0">
                <a:solidFill>
                  <a:srgbClr val="0000FF"/>
                </a:solidFill>
                <a:latin typeface="楷体" panose="02010609060101010101" pitchFamily="49" charset="-122"/>
                <a:ea typeface="楷体" panose="02010609060101010101" pitchFamily="49" charset="-122"/>
                <a:cs typeface="+mn-cs"/>
              </a:rPr>
              <a:t>RS-232C</a:t>
            </a:r>
            <a:r>
              <a:rPr lang="zh-CN" altLang="en-US" sz="3200" b="1" dirty="0">
                <a:solidFill>
                  <a:srgbClr val="0000FF"/>
                </a:solidFill>
                <a:latin typeface="楷体" panose="02010609060101010101" pitchFamily="49" charset="-122"/>
                <a:ea typeface="楷体" panose="02010609060101010101" pitchFamily="49" charset="-122"/>
                <a:cs typeface="+mn-cs"/>
              </a:rPr>
              <a:t>接口存在的问题</a:t>
            </a:r>
            <a:endParaRPr lang="en-US" altLang="zh-CN" sz="3200" b="1" dirty="0">
              <a:solidFill>
                <a:srgbClr val="0000FF"/>
              </a:solidFill>
              <a:latin typeface="楷体" panose="02010609060101010101" pitchFamily="49" charset="-122"/>
              <a:ea typeface="楷体" panose="02010609060101010101" pitchFamily="49" charset="-122"/>
              <a:cs typeface="+mn-cs"/>
            </a:endParaRPr>
          </a:p>
          <a:p>
            <a:pPr marL="342900" indent="-342900">
              <a:spcBef>
                <a:spcPct val="20000"/>
              </a:spcBef>
              <a:buFont typeface="Arial" pitchFamily="34" charset="0"/>
              <a:buChar char="•"/>
              <a:defRPr/>
            </a:pPr>
            <a:r>
              <a:rPr lang="zh-CN" altLang="en-US" sz="2500" b="1" dirty="0">
                <a:solidFill>
                  <a:srgbClr val="FF6600"/>
                </a:solidFill>
                <a:latin typeface="楷体" panose="02010609060101010101" pitchFamily="49" charset="-122"/>
                <a:ea typeface="楷体" panose="02010609060101010101" pitchFamily="49" charset="-122"/>
                <a:cs typeface="+mn-cs"/>
              </a:rPr>
              <a:t>传输距离短，传输速率低</a:t>
            </a:r>
          </a:p>
          <a:p>
            <a:pPr marL="342900" indent="-342900">
              <a:spcBef>
                <a:spcPct val="20000"/>
              </a:spcBef>
              <a:buFont typeface="Wingdings" pitchFamily="2" charset="2"/>
              <a:buNone/>
              <a:defRPr/>
            </a:pPr>
            <a:r>
              <a:rPr lang="zh-CN" altLang="en-US" sz="2500" b="1" dirty="0">
                <a:latin typeface="楷体" panose="02010609060101010101" pitchFamily="49" charset="-122"/>
                <a:ea typeface="楷体" panose="02010609060101010101" pitchFamily="49" charset="-122"/>
                <a:cs typeface="+mn-cs"/>
              </a:rPr>
              <a:t>     </a:t>
            </a:r>
            <a:r>
              <a:rPr lang="en-US" altLang="zh-CN" sz="2500" b="1" dirty="0">
                <a:latin typeface="楷体" panose="02010609060101010101" pitchFamily="49" charset="-122"/>
                <a:ea typeface="楷体" panose="02010609060101010101" pitchFamily="49" charset="-122"/>
                <a:cs typeface="+mn-cs"/>
              </a:rPr>
              <a:t>RS-232C</a:t>
            </a:r>
            <a:r>
              <a:rPr lang="zh-CN" altLang="en-US" sz="2500" b="1" dirty="0">
                <a:latin typeface="楷体" panose="02010609060101010101" pitchFamily="49" charset="-122"/>
                <a:ea typeface="楷体" panose="02010609060101010101" pitchFamily="49" charset="-122"/>
                <a:cs typeface="+mn-cs"/>
              </a:rPr>
              <a:t>总线标准受电容允许值的约束，使用时传输距离一般不要超过</a:t>
            </a:r>
            <a:r>
              <a:rPr lang="en-US" altLang="zh-CN" sz="2500" b="1" dirty="0">
                <a:latin typeface="楷体" panose="02010609060101010101" pitchFamily="49" charset="-122"/>
                <a:ea typeface="楷体" panose="02010609060101010101" pitchFamily="49" charset="-122"/>
                <a:cs typeface="+mn-cs"/>
              </a:rPr>
              <a:t>50</a:t>
            </a:r>
            <a:r>
              <a:rPr lang="zh-CN" altLang="en-US" sz="2500" b="1" dirty="0">
                <a:latin typeface="楷体" panose="02010609060101010101" pitchFamily="49" charset="-122"/>
                <a:ea typeface="楷体" panose="02010609060101010101" pitchFamily="49" charset="-122"/>
                <a:cs typeface="+mn-cs"/>
              </a:rPr>
              <a:t>英尺（</a:t>
            </a:r>
            <a:r>
              <a:rPr lang="en-US" altLang="zh-CN" sz="2500" b="1" dirty="0">
                <a:latin typeface="楷体" panose="02010609060101010101" pitchFamily="49" charset="-122"/>
                <a:ea typeface="楷体" panose="02010609060101010101" pitchFamily="49" charset="-122"/>
                <a:cs typeface="+mn-cs"/>
              </a:rPr>
              <a:t>15</a:t>
            </a:r>
            <a:r>
              <a:rPr lang="zh-CN" altLang="en-US" sz="2500" b="1" dirty="0">
                <a:latin typeface="楷体" panose="02010609060101010101" pitchFamily="49" charset="-122"/>
                <a:ea typeface="楷体" panose="02010609060101010101" pitchFamily="49" charset="-122"/>
                <a:cs typeface="+mn-cs"/>
              </a:rPr>
              <a:t>米左右）。最高传送速率为</a:t>
            </a:r>
            <a:r>
              <a:rPr lang="en-US" altLang="zh-CN" sz="2500" b="1" dirty="0">
                <a:latin typeface="楷体" panose="02010609060101010101" pitchFamily="49" charset="-122"/>
                <a:ea typeface="楷体" panose="02010609060101010101" pitchFamily="49" charset="-122"/>
                <a:cs typeface="+mn-cs"/>
              </a:rPr>
              <a:t>20Kbps</a:t>
            </a:r>
            <a:r>
              <a:rPr lang="zh-CN" altLang="en-US" sz="2500" b="1" dirty="0">
                <a:latin typeface="楷体" panose="02010609060101010101" pitchFamily="49" charset="-122"/>
                <a:ea typeface="楷体" panose="02010609060101010101" pitchFamily="49" charset="-122"/>
                <a:cs typeface="+mn-cs"/>
              </a:rPr>
              <a:t>。</a:t>
            </a:r>
          </a:p>
          <a:p>
            <a:pPr marL="342900" indent="-342900">
              <a:spcBef>
                <a:spcPct val="20000"/>
              </a:spcBef>
              <a:buFont typeface="Arial" pitchFamily="34" charset="0"/>
              <a:buChar char="•"/>
              <a:defRPr/>
            </a:pPr>
            <a:r>
              <a:rPr lang="zh-CN" altLang="en-US" sz="2500" b="1" dirty="0">
                <a:solidFill>
                  <a:srgbClr val="FF6600"/>
                </a:solidFill>
                <a:latin typeface="楷体" panose="02010609060101010101" pitchFamily="49" charset="-122"/>
                <a:ea typeface="楷体" panose="02010609060101010101" pitchFamily="49" charset="-122"/>
                <a:cs typeface="+mn-cs"/>
              </a:rPr>
              <a:t>有电平偏移</a:t>
            </a:r>
          </a:p>
          <a:p>
            <a:pPr marL="342900" indent="-342900">
              <a:spcBef>
                <a:spcPct val="20000"/>
              </a:spcBef>
              <a:buFont typeface="Wingdings" pitchFamily="2" charset="2"/>
              <a:buNone/>
              <a:defRPr/>
            </a:pPr>
            <a:r>
              <a:rPr lang="zh-CN" altLang="en-US" sz="2500" b="1" dirty="0">
                <a:latin typeface="楷体" panose="02010609060101010101" pitchFamily="49" charset="-122"/>
                <a:ea typeface="楷体" panose="02010609060101010101" pitchFamily="49" charset="-122"/>
                <a:cs typeface="+mn-cs"/>
              </a:rPr>
              <a:t>     </a:t>
            </a:r>
            <a:r>
              <a:rPr lang="en-US" altLang="zh-CN" sz="2500" b="1" dirty="0">
                <a:latin typeface="楷体" panose="02010609060101010101" pitchFamily="49" charset="-122"/>
                <a:ea typeface="楷体" panose="02010609060101010101" pitchFamily="49" charset="-122"/>
                <a:cs typeface="+mn-cs"/>
              </a:rPr>
              <a:t>RS-232C</a:t>
            </a:r>
            <a:r>
              <a:rPr lang="zh-CN" altLang="en-US" sz="2500" b="1" dirty="0">
                <a:latin typeface="楷体" panose="02010609060101010101" pitchFamily="49" charset="-122"/>
                <a:ea typeface="楷体" panose="02010609060101010101" pitchFamily="49" charset="-122"/>
                <a:cs typeface="+mn-cs"/>
              </a:rPr>
              <a:t>总线标准要求收发双方共地。通信距离较大时，收发双方的地电位差别较大，在信号地上将有比较大的地电流并产生压降。</a:t>
            </a:r>
          </a:p>
          <a:p>
            <a:pPr marL="342900" indent="-342900">
              <a:spcBef>
                <a:spcPct val="20000"/>
              </a:spcBef>
              <a:buFont typeface="Arial" pitchFamily="34" charset="0"/>
              <a:buChar char="•"/>
              <a:defRPr/>
            </a:pPr>
            <a:r>
              <a:rPr lang="zh-CN" altLang="en-US" sz="2500" b="1" dirty="0">
                <a:solidFill>
                  <a:srgbClr val="FF6600"/>
                </a:solidFill>
                <a:latin typeface="楷体" panose="02010609060101010101" pitchFamily="49" charset="-122"/>
                <a:ea typeface="楷体" panose="02010609060101010101" pitchFamily="49" charset="-122"/>
                <a:cs typeface="+mn-cs"/>
              </a:rPr>
              <a:t>抗干扰能力差</a:t>
            </a:r>
          </a:p>
          <a:p>
            <a:pPr marL="342900" indent="-342900">
              <a:spcBef>
                <a:spcPct val="20000"/>
              </a:spcBef>
              <a:buFont typeface="Wingdings" pitchFamily="2" charset="2"/>
              <a:buNone/>
              <a:defRPr/>
            </a:pPr>
            <a:r>
              <a:rPr lang="zh-CN" altLang="en-US" sz="2500" b="1" dirty="0">
                <a:latin typeface="楷体" panose="02010609060101010101" pitchFamily="49" charset="-122"/>
                <a:ea typeface="楷体" panose="02010609060101010101" pitchFamily="49" charset="-122"/>
                <a:cs typeface="+mn-cs"/>
              </a:rPr>
              <a:t>      </a:t>
            </a:r>
            <a:r>
              <a:rPr lang="en-US" altLang="zh-CN" sz="2500" b="1" dirty="0">
                <a:latin typeface="楷体" panose="02010609060101010101" pitchFamily="49" charset="-122"/>
                <a:ea typeface="楷体" panose="02010609060101010101" pitchFamily="49" charset="-122"/>
                <a:cs typeface="+mn-cs"/>
              </a:rPr>
              <a:t>RS-232C</a:t>
            </a:r>
            <a:r>
              <a:rPr lang="zh-CN" altLang="en-US" sz="2500" b="1" dirty="0">
                <a:latin typeface="楷体" panose="02010609060101010101" pitchFamily="49" charset="-122"/>
                <a:ea typeface="楷体" panose="02010609060101010101" pitchFamily="49" charset="-122"/>
                <a:cs typeface="+mn-cs"/>
              </a:rPr>
              <a:t>在电平转换时采用单端输入输出，在传输过程中当干扰和噪声混在正常的信号中。为了提高信噪比，</a:t>
            </a:r>
            <a:r>
              <a:rPr lang="en-US" altLang="zh-CN" sz="2500" b="1" dirty="0">
                <a:latin typeface="楷体" panose="02010609060101010101" pitchFamily="49" charset="-122"/>
                <a:ea typeface="楷体" panose="02010609060101010101" pitchFamily="49" charset="-122"/>
                <a:cs typeface="+mn-cs"/>
              </a:rPr>
              <a:t>RS-232C</a:t>
            </a:r>
            <a:r>
              <a:rPr lang="zh-CN" altLang="en-US" sz="2500" b="1" dirty="0">
                <a:latin typeface="楷体" panose="02010609060101010101" pitchFamily="49" charset="-122"/>
                <a:ea typeface="楷体" panose="02010609060101010101" pitchFamily="49" charset="-122"/>
                <a:cs typeface="+mn-cs"/>
              </a:rPr>
              <a:t>总线标准不得不采用比较大的电压摆幅。</a:t>
            </a:r>
          </a:p>
          <a:p>
            <a:pPr marL="342900" indent="-342900">
              <a:lnSpc>
                <a:spcPct val="90000"/>
              </a:lnSpc>
              <a:spcBef>
                <a:spcPct val="20000"/>
              </a:spcBef>
              <a:buFont typeface="Wingdings" pitchFamily="2" charset="2"/>
              <a:buNone/>
              <a:defRPr/>
            </a:pPr>
            <a:endParaRPr lang="zh-CN" altLang="en-US" sz="2400" b="1" dirty="0">
              <a:solidFill>
                <a:schemeClr val="tx2"/>
              </a:solidFill>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3333419805"/>
      </p:ext>
    </p:extLst>
  </p:cSld>
  <p:clrMapOvr>
    <a:masterClrMapping/>
  </p:clrMapOvr>
  <p:transition spd="slow" advClick="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en-US" altLang="zh-CN" sz="3200" spc="600" dirty="0">
                <a:latin typeface="Arial" panose="020B0604020202020204" pitchFamily="34" charset="0"/>
                <a:ea typeface="隶书" pitchFamily="49" charset="-122"/>
                <a:cs typeface="Arial" panose="020B0604020202020204" pitchFamily="34" charset="0"/>
              </a:rPr>
              <a:t>MCS51</a:t>
            </a:r>
            <a:r>
              <a:rPr lang="zh-CN" altLang="en-US" sz="3200" spc="600" dirty="0">
                <a:latin typeface="隶书" pitchFamily="49" charset="-122"/>
                <a:ea typeface="隶书" pitchFamily="49" charset="-122"/>
              </a:rPr>
              <a:t>单片机串行口结构</a:t>
            </a:r>
            <a:endParaRPr lang="zh-CN" altLang="en-US" sz="3200" dirty="0"/>
          </a:p>
        </p:txBody>
      </p:sp>
      <p:sp>
        <p:nvSpPr>
          <p:cNvPr id="4" name="Rectangle 3">
            <a:extLst>
              <a:ext uri="{FF2B5EF4-FFF2-40B4-BE49-F238E27FC236}">
                <a16:creationId xmlns:a16="http://schemas.microsoft.com/office/drawing/2014/main" id="{1FC9EAA1-79BC-3EBA-3D34-7B64D2409730}"/>
              </a:ext>
            </a:extLst>
          </p:cNvPr>
          <p:cNvSpPr txBox="1">
            <a:spLocks noChangeArrowheads="1"/>
          </p:cNvSpPr>
          <p:nvPr/>
        </p:nvSpPr>
        <p:spPr>
          <a:xfrm>
            <a:off x="63500" y="1248676"/>
            <a:ext cx="8843963" cy="1638300"/>
          </a:xfrm>
          <a:prstGeom prst="rect">
            <a:avLst/>
          </a:prstGeom>
        </p:spPr>
        <p:txBody>
          <a:bodyPr/>
          <a:lstStyle/>
          <a:p>
            <a:pPr marL="342900" indent="-342900">
              <a:lnSpc>
                <a:spcPct val="120000"/>
              </a:lnSpc>
              <a:spcBef>
                <a:spcPct val="20000"/>
              </a:spcBef>
              <a:defRPr/>
            </a:pPr>
            <a:r>
              <a:rPr lang="zh-CN" altLang="en-US" sz="2900" b="1" dirty="0">
                <a:latin typeface="楷体" panose="02010609060101010101" pitchFamily="49" charset="-122"/>
                <a:ea typeface="楷体" panose="02010609060101010101" pitchFamily="49" charset="-122"/>
                <a:cs typeface="+mn-cs"/>
              </a:rPr>
              <a:t>  </a:t>
            </a:r>
            <a:r>
              <a:rPr lang="zh-CN" altLang="en-US" sz="2800" b="1" dirty="0">
                <a:latin typeface="楷体" panose="02010609060101010101" pitchFamily="49" charset="-122"/>
                <a:ea typeface="楷体" panose="02010609060101010101" pitchFamily="49" charset="-122"/>
                <a:cs typeface="+mn-cs"/>
              </a:rPr>
              <a:t>有两个物理上独立的接收、发送缓冲器</a:t>
            </a:r>
            <a:r>
              <a:rPr lang="en-US" altLang="zh-CN" sz="2800" b="1" dirty="0">
                <a:solidFill>
                  <a:srgbClr val="FF0000"/>
                </a:solidFill>
                <a:latin typeface="楷体" panose="02010609060101010101" pitchFamily="49" charset="-122"/>
                <a:ea typeface="楷体" panose="02010609060101010101" pitchFamily="49" charset="-122"/>
                <a:cs typeface="+mn-cs"/>
              </a:rPr>
              <a:t>SBUF</a:t>
            </a:r>
            <a:r>
              <a:rPr lang="zh-CN" altLang="en-US" sz="2800" b="1" dirty="0">
                <a:latin typeface="楷体" panose="02010609060101010101" pitchFamily="49" charset="-122"/>
                <a:ea typeface="楷体" panose="02010609060101010101" pitchFamily="49" charset="-122"/>
                <a:cs typeface="+mn-cs"/>
              </a:rPr>
              <a:t>，它们占用同一地址</a:t>
            </a:r>
            <a:r>
              <a:rPr lang="en-US" altLang="zh-CN" sz="2800" b="1" dirty="0">
                <a:solidFill>
                  <a:srgbClr val="FF00FF"/>
                </a:solidFill>
                <a:latin typeface="楷体" panose="02010609060101010101" pitchFamily="49" charset="-122"/>
                <a:ea typeface="楷体" panose="02010609060101010101" pitchFamily="49" charset="-122"/>
                <a:cs typeface="+mn-cs"/>
              </a:rPr>
              <a:t>0x99</a:t>
            </a:r>
            <a:r>
              <a:rPr lang="en-US" altLang="zh-CN" sz="2800" b="1" dirty="0">
                <a:latin typeface="楷体" panose="02010609060101010101" pitchFamily="49" charset="-122"/>
                <a:ea typeface="楷体" panose="02010609060101010101" pitchFamily="49" charset="-122"/>
                <a:cs typeface="+mn-cs"/>
              </a:rPr>
              <a:t> </a:t>
            </a:r>
            <a:r>
              <a:rPr lang="zh-CN" altLang="en-US" sz="2800" b="1" dirty="0">
                <a:latin typeface="楷体" panose="02010609060101010101" pitchFamily="49" charset="-122"/>
                <a:ea typeface="楷体" panose="02010609060101010101" pitchFamily="49" charset="-122"/>
                <a:cs typeface="+mn-cs"/>
              </a:rPr>
              <a:t>；接收器是</a:t>
            </a:r>
            <a:r>
              <a:rPr lang="zh-CN" altLang="en-US" sz="2800" b="1" dirty="0">
                <a:solidFill>
                  <a:srgbClr val="CC0000"/>
                </a:solidFill>
                <a:latin typeface="楷体" panose="02010609060101010101" pitchFamily="49" charset="-122"/>
                <a:ea typeface="楷体" panose="02010609060101010101" pitchFamily="49" charset="-122"/>
                <a:cs typeface="+mn-cs"/>
              </a:rPr>
              <a:t>双缓冲结构</a:t>
            </a:r>
            <a:r>
              <a:rPr lang="zh-CN" altLang="en-US" sz="2800" b="1" dirty="0">
                <a:latin typeface="楷体" panose="02010609060101010101" pitchFamily="49" charset="-122"/>
                <a:ea typeface="楷体" panose="02010609060101010101" pitchFamily="49" charset="-122"/>
                <a:cs typeface="+mn-cs"/>
              </a:rPr>
              <a:t> ；发送缓冲器，因为发送时</a:t>
            </a:r>
            <a:r>
              <a:rPr lang="en-US" altLang="zh-CN" sz="2800" b="1" dirty="0">
                <a:latin typeface="楷体" panose="02010609060101010101" pitchFamily="49" charset="-122"/>
                <a:ea typeface="楷体" panose="02010609060101010101" pitchFamily="49" charset="-122"/>
                <a:cs typeface="+mn-cs"/>
              </a:rPr>
              <a:t>CPU</a:t>
            </a:r>
            <a:r>
              <a:rPr lang="zh-CN" altLang="en-US" sz="2800" b="1" dirty="0">
                <a:latin typeface="楷体" panose="02010609060101010101" pitchFamily="49" charset="-122"/>
                <a:ea typeface="楷体" panose="02010609060101010101" pitchFamily="49" charset="-122"/>
                <a:cs typeface="+mn-cs"/>
              </a:rPr>
              <a:t>是主动的，不会产生重叠错误。</a:t>
            </a:r>
            <a:r>
              <a:rPr lang="zh-CN" altLang="en-US" sz="2800" dirty="0">
                <a:latin typeface="楷体" panose="02010609060101010101" pitchFamily="49" charset="-122"/>
                <a:ea typeface="楷体" panose="02010609060101010101" pitchFamily="49" charset="-122"/>
                <a:cs typeface="+mn-cs"/>
              </a:rPr>
              <a:t> </a:t>
            </a:r>
            <a:endParaRPr lang="en-US" altLang="zh-CN" sz="2800" b="1" dirty="0">
              <a:latin typeface="楷体" panose="02010609060101010101" pitchFamily="49" charset="-122"/>
              <a:ea typeface="楷体" panose="02010609060101010101" pitchFamily="49" charset="-122"/>
              <a:cs typeface="+mn-cs"/>
            </a:endParaRPr>
          </a:p>
          <a:p>
            <a:pPr marL="342900" indent="-342900">
              <a:lnSpc>
                <a:spcPct val="120000"/>
              </a:lnSpc>
              <a:spcBef>
                <a:spcPct val="20000"/>
              </a:spcBef>
              <a:buFont typeface="Wingdings" pitchFamily="2" charset="2"/>
              <a:buNone/>
              <a:defRPr/>
            </a:pPr>
            <a:endParaRPr lang="zh-CN" altLang="en-US" sz="2900" dirty="0">
              <a:latin typeface="楷体" panose="02010609060101010101" pitchFamily="49" charset="-122"/>
              <a:ea typeface="楷体" panose="02010609060101010101" pitchFamily="49" charset="-122"/>
              <a:cs typeface="+mn-cs"/>
            </a:endParaRPr>
          </a:p>
        </p:txBody>
      </p:sp>
      <p:graphicFrame>
        <p:nvGraphicFramePr>
          <p:cNvPr id="5" name="Object 4">
            <a:extLst>
              <a:ext uri="{FF2B5EF4-FFF2-40B4-BE49-F238E27FC236}">
                <a16:creationId xmlns:a16="http://schemas.microsoft.com/office/drawing/2014/main" id="{C9105FCB-7E20-1C7E-FB2E-B8DA996119EC}"/>
              </a:ext>
            </a:extLst>
          </p:cNvPr>
          <p:cNvGraphicFramePr>
            <a:graphicFrameLocks noChangeAspect="1"/>
          </p:cNvGraphicFramePr>
          <p:nvPr>
            <p:extLst>
              <p:ext uri="{D42A27DB-BD31-4B8C-83A1-F6EECF244321}">
                <p14:modId xmlns:p14="http://schemas.microsoft.com/office/powerpoint/2010/main" val="3545668573"/>
              </p:ext>
            </p:extLst>
          </p:nvPr>
        </p:nvGraphicFramePr>
        <p:xfrm>
          <a:off x="304800" y="3107638"/>
          <a:ext cx="8575675" cy="3267075"/>
        </p:xfrm>
        <a:graphic>
          <a:graphicData uri="http://schemas.openxmlformats.org/presentationml/2006/ole">
            <mc:AlternateContent xmlns:mc="http://schemas.openxmlformats.org/markup-compatibility/2006">
              <mc:Choice xmlns:v="urn:schemas-microsoft-com:vml" Requires="v">
                <p:oleObj name="Visio" r:id="rId3" imgW="3037761" imgH="1156573" progId="">
                  <p:embed/>
                </p:oleObj>
              </mc:Choice>
              <mc:Fallback>
                <p:oleObj name="Visio" r:id="rId3" imgW="3037761" imgH="1156573" progId="">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107638"/>
                        <a:ext cx="8575675" cy="3267075"/>
                      </a:xfrm>
                      <a:prstGeom prst="rect">
                        <a:avLst/>
                      </a:prstGeom>
                      <a:solidFill>
                        <a:srgbClr val="CCFFFF"/>
                      </a:solidFill>
                    </p:spPr>
                  </p:pic>
                </p:oleObj>
              </mc:Fallback>
            </mc:AlternateContent>
          </a:graphicData>
        </a:graphic>
      </p:graphicFrame>
    </p:spTree>
    <p:extLst>
      <p:ext uri="{BB962C8B-B14F-4D97-AF65-F5344CB8AC3E}">
        <p14:creationId xmlns:p14="http://schemas.microsoft.com/office/powerpoint/2010/main" val="3862123656"/>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串口相关</a:t>
            </a:r>
            <a:r>
              <a:rPr lang="en-US" altLang="zh-CN" sz="3200" spc="600" dirty="0">
                <a:latin typeface="Arial" panose="020B0604020202020204" pitchFamily="34" charset="0"/>
                <a:ea typeface="隶书" pitchFamily="49" charset="-122"/>
                <a:cs typeface="Arial" panose="020B0604020202020204" pitchFamily="34" charset="0"/>
              </a:rPr>
              <a:t>SFR</a:t>
            </a:r>
            <a:r>
              <a:rPr lang="zh-CN" altLang="en-US" sz="3200" spc="600" dirty="0">
                <a:latin typeface="隶书" pitchFamily="49" charset="-122"/>
                <a:ea typeface="隶书" pitchFamily="49" charset="-122"/>
              </a:rPr>
              <a:t>解析</a:t>
            </a:r>
            <a:endParaRPr lang="zh-CN" altLang="en-US" sz="3200" dirty="0"/>
          </a:p>
        </p:txBody>
      </p:sp>
      <p:sp>
        <p:nvSpPr>
          <p:cNvPr id="3" name="Rectangle 3">
            <a:extLst>
              <a:ext uri="{FF2B5EF4-FFF2-40B4-BE49-F238E27FC236}">
                <a16:creationId xmlns:a16="http://schemas.microsoft.com/office/drawing/2014/main" id="{F33CB9B4-9348-C7DD-EEFB-DA191DA022D4}"/>
              </a:ext>
            </a:extLst>
          </p:cNvPr>
          <p:cNvSpPr txBox="1">
            <a:spLocks noChangeArrowheads="1"/>
          </p:cNvSpPr>
          <p:nvPr/>
        </p:nvSpPr>
        <p:spPr>
          <a:xfrm>
            <a:off x="45265" y="1174536"/>
            <a:ext cx="8734425" cy="1150938"/>
          </a:xfrm>
          <a:prstGeom prst="rect">
            <a:avLst/>
          </a:prstGeom>
        </p:spPr>
        <p:txBody>
          <a:bodyPr/>
          <a:lstStyle/>
          <a:p>
            <a:pPr marL="342900" indent="-342900">
              <a:lnSpc>
                <a:spcPct val="110000"/>
              </a:lnSpc>
              <a:spcBef>
                <a:spcPct val="20000"/>
              </a:spcBef>
              <a:defRPr/>
            </a:pPr>
            <a:r>
              <a:rPr lang="en-US" altLang="zh-CN" sz="3000" b="1" dirty="0">
                <a:solidFill>
                  <a:srgbClr val="FF00FF"/>
                </a:solidFill>
                <a:latin typeface="楷体" panose="02010609060101010101" pitchFamily="49" charset="-122"/>
                <a:ea typeface="楷体" panose="02010609060101010101" pitchFamily="49" charset="-122"/>
                <a:cs typeface="+mn-cs"/>
              </a:rPr>
              <a:t>  </a:t>
            </a:r>
            <a:r>
              <a:rPr lang="zh-CN" altLang="en-US" sz="3000" b="1" dirty="0">
                <a:solidFill>
                  <a:srgbClr val="FF00FF"/>
                </a:solidFill>
                <a:latin typeface="楷体" panose="02010609060101010101" pitchFamily="49" charset="-122"/>
                <a:ea typeface="楷体" panose="02010609060101010101" pitchFamily="49" charset="-122"/>
                <a:cs typeface="+mn-cs"/>
              </a:rPr>
              <a:t>串行接口控制寄存器</a:t>
            </a:r>
            <a:r>
              <a:rPr lang="en-US" altLang="zh-CN" sz="3000" b="1" dirty="0">
                <a:solidFill>
                  <a:srgbClr val="FF00FF"/>
                </a:solidFill>
                <a:latin typeface="楷体" panose="02010609060101010101" pitchFamily="49" charset="-122"/>
                <a:ea typeface="楷体" panose="02010609060101010101" pitchFamily="49" charset="-122"/>
                <a:cs typeface="+mn-cs"/>
              </a:rPr>
              <a:t>SCON </a:t>
            </a:r>
            <a:r>
              <a:rPr lang="en-US" altLang="zh-CN" sz="3000" b="1" dirty="0">
                <a:latin typeface="楷体" panose="02010609060101010101" pitchFamily="49" charset="-122"/>
                <a:ea typeface="楷体" panose="02010609060101010101" pitchFamily="49" charset="-122"/>
                <a:cs typeface="+mn-cs"/>
              </a:rPr>
              <a:t>——</a:t>
            </a:r>
            <a:r>
              <a:rPr lang="zh-CN" altLang="en-US" sz="3000" b="1" dirty="0">
                <a:latin typeface="楷体" panose="02010609060101010101" pitchFamily="49" charset="-122"/>
                <a:ea typeface="楷体" panose="02010609060101010101" pitchFamily="49" charset="-122"/>
                <a:cs typeface="+mn-cs"/>
              </a:rPr>
              <a:t>用以设定串行口的工作方式、接收</a:t>
            </a:r>
            <a:r>
              <a:rPr lang="en-US" altLang="zh-CN" sz="3000" b="1" dirty="0">
                <a:latin typeface="楷体" panose="02010609060101010101" pitchFamily="49" charset="-122"/>
                <a:ea typeface="楷体" panose="02010609060101010101" pitchFamily="49" charset="-122"/>
                <a:cs typeface="+mn-cs"/>
              </a:rPr>
              <a:t>/</a:t>
            </a:r>
            <a:r>
              <a:rPr lang="zh-CN" altLang="en-US" sz="3000" b="1" dirty="0">
                <a:latin typeface="楷体" panose="02010609060101010101" pitchFamily="49" charset="-122"/>
                <a:ea typeface="楷体" panose="02010609060101010101" pitchFamily="49" charset="-122"/>
                <a:cs typeface="+mn-cs"/>
              </a:rPr>
              <a:t>发送控制以及设置状态标志</a:t>
            </a:r>
            <a:endParaRPr lang="zh-CN" altLang="en-US" sz="3300" dirty="0">
              <a:latin typeface="楷体" panose="02010609060101010101" pitchFamily="49" charset="-122"/>
              <a:ea typeface="楷体" panose="02010609060101010101" pitchFamily="49" charset="-122"/>
              <a:cs typeface="+mn-cs"/>
            </a:endParaRPr>
          </a:p>
        </p:txBody>
      </p:sp>
      <p:pic>
        <p:nvPicPr>
          <p:cNvPr id="4" name="Picture 4">
            <a:extLst>
              <a:ext uri="{FF2B5EF4-FFF2-40B4-BE49-F238E27FC236}">
                <a16:creationId xmlns:a16="http://schemas.microsoft.com/office/drawing/2014/main" id="{06D103DE-1FF9-DD4D-F003-1095267CAB26}"/>
              </a:ext>
            </a:extLst>
          </p:cNvPr>
          <p:cNvPicPr>
            <a:picLocks noChangeAspect="1" noChangeArrowheads="1"/>
          </p:cNvPicPr>
          <p:nvPr/>
        </p:nvPicPr>
        <p:blipFill>
          <a:blip r:embed="rId3"/>
          <a:srcRect/>
          <a:stretch>
            <a:fillRect/>
          </a:stretch>
        </p:blipFill>
        <p:spPr bwMode="auto">
          <a:xfrm>
            <a:off x="481828" y="2398499"/>
            <a:ext cx="8064500" cy="1152525"/>
          </a:xfrm>
          <a:prstGeom prst="rect">
            <a:avLst/>
          </a:prstGeom>
          <a:noFill/>
          <a:ln w="9525">
            <a:noFill/>
            <a:miter lim="800000"/>
            <a:headEnd/>
            <a:tailEnd/>
          </a:ln>
        </p:spPr>
      </p:pic>
      <p:sp>
        <p:nvSpPr>
          <p:cNvPr id="5" name="Rectangle 5">
            <a:extLst>
              <a:ext uri="{FF2B5EF4-FFF2-40B4-BE49-F238E27FC236}">
                <a16:creationId xmlns:a16="http://schemas.microsoft.com/office/drawing/2014/main" id="{E6FA1308-47E1-9C08-D117-7BD82254DB30}"/>
              </a:ext>
            </a:extLst>
          </p:cNvPr>
          <p:cNvSpPr>
            <a:spLocks noChangeArrowheads="1"/>
          </p:cNvSpPr>
          <p:nvPr/>
        </p:nvSpPr>
        <p:spPr bwMode="auto">
          <a:xfrm>
            <a:off x="585015" y="3551024"/>
            <a:ext cx="7848600" cy="647700"/>
          </a:xfrm>
          <a:prstGeom prst="rect">
            <a:avLst/>
          </a:prstGeom>
          <a:noFill/>
          <a:ln w="9525">
            <a:noFill/>
            <a:miter lim="800000"/>
            <a:headEnd/>
            <a:tailEnd/>
          </a:ln>
        </p:spPr>
        <p:txBody>
          <a:bodyPr/>
          <a:lstStyle/>
          <a:p>
            <a:pPr>
              <a:spcBef>
                <a:spcPct val="20000"/>
              </a:spcBef>
              <a:buClr>
                <a:schemeClr val="hlink"/>
              </a:buClr>
              <a:buFont typeface="Wingdings" pitchFamily="2" charset="2"/>
              <a:buNone/>
              <a:defRPr/>
            </a:pPr>
            <a:r>
              <a:rPr lang="en-US" altLang="zh-CN" sz="2400" b="1" dirty="0">
                <a:solidFill>
                  <a:srgbClr val="0000FF"/>
                </a:solidFill>
                <a:latin typeface="楷体" panose="02010609060101010101" pitchFamily="49" charset="-122"/>
                <a:ea typeface="楷体" panose="02010609060101010101" pitchFamily="49" charset="-122"/>
              </a:rPr>
              <a:t>SM0</a:t>
            </a:r>
            <a:r>
              <a:rPr lang="zh-CN" altLang="en-US" sz="2400" b="1" dirty="0">
                <a:latin typeface="楷体" panose="02010609060101010101" pitchFamily="49" charset="-122"/>
                <a:ea typeface="楷体" panose="02010609060101010101" pitchFamily="49" charset="-122"/>
              </a:rPr>
              <a:t>和</a:t>
            </a:r>
            <a:r>
              <a:rPr lang="en-US" altLang="zh-CN" sz="2400" b="1" dirty="0">
                <a:solidFill>
                  <a:srgbClr val="0000FF"/>
                </a:solidFill>
                <a:latin typeface="楷体" panose="02010609060101010101" pitchFamily="49" charset="-122"/>
                <a:ea typeface="楷体" panose="02010609060101010101" pitchFamily="49" charset="-122"/>
              </a:rPr>
              <a:t>SM1</a:t>
            </a:r>
            <a:r>
              <a:rPr lang="zh-CN" altLang="en-US" sz="2400" b="1" dirty="0">
                <a:latin typeface="楷体" panose="02010609060101010101" pitchFamily="49" charset="-122"/>
                <a:ea typeface="楷体" panose="02010609060101010101" pitchFamily="49" charset="-122"/>
              </a:rPr>
              <a:t>为工作方式选择位，可选择四种工作方式：</a:t>
            </a:r>
            <a:r>
              <a:rPr lang="zh-CN" altLang="en-US" sz="3200" dirty="0">
                <a:latin typeface="楷体" panose="02010609060101010101" pitchFamily="49" charset="-122"/>
                <a:ea typeface="楷体" panose="02010609060101010101" pitchFamily="49" charset="-122"/>
              </a:rPr>
              <a:t> </a:t>
            </a:r>
          </a:p>
        </p:txBody>
      </p:sp>
      <p:pic>
        <p:nvPicPr>
          <p:cNvPr id="6" name="Picture 6">
            <a:extLst>
              <a:ext uri="{FF2B5EF4-FFF2-40B4-BE49-F238E27FC236}">
                <a16:creationId xmlns:a16="http://schemas.microsoft.com/office/drawing/2014/main" id="{14A88E7F-F621-6E21-DC04-A7B7474D216A}"/>
              </a:ext>
            </a:extLst>
          </p:cNvPr>
          <p:cNvPicPr>
            <a:picLocks noChangeAspect="1" noChangeArrowheads="1"/>
          </p:cNvPicPr>
          <p:nvPr/>
        </p:nvPicPr>
        <p:blipFill>
          <a:blip r:embed="rId4"/>
          <a:srcRect/>
          <a:stretch>
            <a:fillRect/>
          </a:stretch>
        </p:blipFill>
        <p:spPr bwMode="auto">
          <a:xfrm>
            <a:off x="488178" y="4127286"/>
            <a:ext cx="8064500" cy="2374900"/>
          </a:xfrm>
          <a:prstGeom prst="rect">
            <a:avLst/>
          </a:prstGeom>
          <a:noFill/>
          <a:ln w="9525">
            <a:noFill/>
            <a:miter lim="800000"/>
            <a:headEnd/>
            <a:tailEnd/>
          </a:ln>
        </p:spPr>
      </p:pic>
    </p:spTree>
    <p:extLst>
      <p:ext uri="{BB962C8B-B14F-4D97-AF65-F5344CB8AC3E}">
        <p14:creationId xmlns:p14="http://schemas.microsoft.com/office/powerpoint/2010/main" val="2727611646"/>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串口相关</a:t>
            </a:r>
            <a:r>
              <a:rPr lang="en-US" altLang="zh-CN" sz="3200" spc="600" dirty="0">
                <a:latin typeface="Arial" panose="020B0604020202020204" pitchFamily="34" charset="0"/>
                <a:ea typeface="隶书" pitchFamily="49" charset="-122"/>
                <a:cs typeface="Arial" panose="020B0604020202020204" pitchFamily="34" charset="0"/>
              </a:rPr>
              <a:t>SFR</a:t>
            </a:r>
            <a:r>
              <a:rPr lang="zh-CN" altLang="en-US" sz="3200" spc="600" dirty="0">
                <a:latin typeface="隶书" pitchFamily="49" charset="-122"/>
                <a:ea typeface="隶书" pitchFamily="49" charset="-122"/>
              </a:rPr>
              <a:t>解析</a:t>
            </a:r>
            <a:endParaRPr lang="zh-CN" altLang="en-US" sz="3200" dirty="0"/>
          </a:p>
        </p:txBody>
      </p:sp>
      <p:pic>
        <p:nvPicPr>
          <p:cNvPr id="3" name="Picture 4">
            <a:extLst>
              <a:ext uri="{FF2B5EF4-FFF2-40B4-BE49-F238E27FC236}">
                <a16:creationId xmlns:a16="http://schemas.microsoft.com/office/drawing/2014/main" id="{BA633535-4C3D-2E1A-6272-DAC9D369EF57}"/>
              </a:ext>
            </a:extLst>
          </p:cNvPr>
          <p:cNvPicPr>
            <a:picLocks noChangeAspect="1" noChangeArrowheads="1"/>
          </p:cNvPicPr>
          <p:nvPr/>
        </p:nvPicPr>
        <p:blipFill>
          <a:blip r:embed="rId3"/>
          <a:srcRect/>
          <a:stretch>
            <a:fillRect/>
          </a:stretch>
        </p:blipFill>
        <p:spPr bwMode="auto">
          <a:xfrm>
            <a:off x="395288" y="1198992"/>
            <a:ext cx="8064500" cy="935038"/>
          </a:xfrm>
          <a:prstGeom prst="rect">
            <a:avLst/>
          </a:prstGeom>
          <a:noFill/>
          <a:ln w="9525">
            <a:noFill/>
            <a:miter lim="800000"/>
            <a:headEnd/>
            <a:tailEnd/>
          </a:ln>
        </p:spPr>
      </p:pic>
      <p:sp>
        <p:nvSpPr>
          <p:cNvPr id="4" name="Rectangle 8">
            <a:extLst>
              <a:ext uri="{FF2B5EF4-FFF2-40B4-BE49-F238E27FC236}">
                <a16:creationId xmlns:a16="http://schemas.microsoft.com/office/drawing/2014/main" id="{A1DCD5E8-1848-7E6C-C75A-A85FA337948F}"/>
              </a:ext>
            </a:extLst>
          </p:cNvPr>
          <p:cNvSpPr txBox="1">
            <a:spLocks noRot="1" noChangeArrowheads="1"/>
          </p:cNvSpPr>
          <p:nvPr/>
        </p:nvSpPr>
        <p:spPr>
          <a:xfrm>
            <a:off x="323850" y="2270426"/>
            <a:ext cx="8569325" cy="4535487"/>
          </a:xfrm>
          <a:prstGeom prst="rect">
            <a:avLst/>
          </a:prstGeom>
          <a:noFill/>
        </p:spPr>
        <p:txBody>
          <a:bodyPr/>
          <a:lstStyle/>
          <a:p>
            <a:pPr>
              <a:spcBef>
                <a:spcPct val="20000"/>
              </a:spcBef>
              <a:buFont typeface="Arial" pitchFamily="34" charset="0"/>
              <a:buChar char="•"/>
              <a:defRPr/>
            </a:pPr>
            <a:r>
              <a:rPr lang="en-US" altLang="zh-CN" sz="2500" b="1" dirty="0">
                <a:solidFill>
                  <a:srgbClr val="0000FF"/>
                </a:solidFill>
                <a:latin typeface="楷体" panose="02010609060101010101" pitchFamily="49" charset="-122"/>
                <a:ea typeface="楷体" panose="02010609060101010101" pitchFamily="49" charset="-122"/>
                <a:cs typeface="+mn-cs"/>
              </a:rPr>
              <a:t>SM2  </a:t>
            </a:r>
            <a:r>
              <a:rPr lang="zh-CN" altLang="en-US" sz="2500" b="1" dirty="0">
                <a:solidFill>
                  <a:srgbClr val="0000FF"/>
                </a:solidFill>
                <a:latin typeface="楷体" panose="02010609060101010101" pitchFamily="49" charset="-122"/>
                <a:ea typeface="楷体" panose="02010609060101010101" pitchFamily="49" charset="-122"/>
                <a:cs typeface="+mn-cs"/>
              </a:rPr>
              <a:t>多机通信控制位</a:t>
            </a:r>
            <a:r>
              <a:rPr lang="zh-CN" altLang="en-US" sz="2500" b="1" dirty="0">
                <a:latin typeface="楷体" panose="02010609060101010101" pitchFamily="49" charset="-122"/>
                <a:ea typeface="楷体" panose="02010609060101010101" pitchFamily="49" charset="-122"/>
                <a:cs typeface="+mn-cs"/>
              </a:rPr>
              <a:t>  主要用于方式</a:t>
            </a:r>
            <a:r>
              <a:rPr lang="en-US" altLang="zh-CN" sz="2500" b="1" dirty="0">
                <a:latin typeface="楷体" panose="02010609060101010101" pitchFamily="49" charset="-122"/>
                <a:ea typeface="楷体" panose="02010609060101010101" pitchFamily="49" charset="-122"/>
                <a:cs typeface="+mn-cs"/>
              </a:rPr>
              <a:t>2</a:t>
            </a:r>
            <a:r>
              <a:rPr lang="zh-CN" altLang="en-US" sz="2500" b="1" dirty="0">
                <a:latin typeface="楷体" panose="02010609060101010101" pitchFamily="49" charset="-122"/>
                <a:ea typeface="楷体" panose="02010609060101010101" pitchFamily="49" charset="-122"/>
                <a:cs typeface="+mn-cs"/>
              </a:rPr>
              <a:t>和方式</a:t>
            </a:r>
            <a:r>
              <a:rPr lang="en-US" altLang="zh-CN" sz="2500" b="1" dirty="0">
                <a:latin typeface="楷体" panose="02010609060101010101" pitchFamily="49" charset="-122"/>
                <a:ea typeface="楷体" panose="02010609060101010101" pitchFamily="49" charset="-122"/>
                <a:cs typeface="+mn-cs"/>
              </a:rPr>
              <a:t>3</a:t>
            </a:r>
            <a:r>
              <a:rPr lang="zh-CN" altLang="en-US" sz="2500" b="1" dirty="0">
                <a:latin typeface="楷体" panose="02010609060101010101" pitchFamily="49" charset="-122"/>
                <a:ea typeface="楷体" panose="02010609060101010101" pitchFamily="49" charset="-122"/>
                <a:cs typeface="+mn-cs"/>
              </a:rPr>
              <a:t>。当接收机的</a:t>
            </a:r>
            <a:r>
              <a:rPr lang="en-US" altLang="zh-CN" sz="2500" b="1" dirty="0">
                <a:latin typeface="楷体" panose="02010609060101010101" pitchFamily="49" charset="-122"/>
                <a:ea typeface="楷体" panose="02010609060101010101" pitchFamily="49" charset="-122"/>
                <a:cs typeface="+mn-cs"/>
              </a:rPr>
              <a:t>SM2=1</a:t>
            </a:r>
            <a:r>
              <a:rPr lang="zh-CN" altLang="en-US" sz="2500" b="1" dirty="0">
                <a:latin typeface="楷体" panose="02010609060101010101" pitchFamily="49" charset="-122"/>
                <a:ea typeface="楷体" panose="02010609060101010101" pitchFamily="49" charset="-122"/>
                <a:cs typeface="+mn-cs"/>
              </a:rPr>
              <a:t>时可以利用收到的</a:t>
            </a:r>
            <a:r>
              <a:rPr lang="en-US" altLang="zh-CN" sz="2500" b="1" dirty="0">
                <a:latin typeface="楷体" panose="02010609060101010101" pitchFamily="49" charset="-122"/>
                <a:ea typeface="楷体" panose="02010609060101010101" pitchFamily="49" charset="-122"/>
                <a:cs typeface="+mn-cs"/>
              </a:rPr>
              <a:t>RB8</a:t>
            </a:r>
            <a:r>
              <a:rPr lang="zh-CN" altLang="en-US" sz="2500" b="1" dirty="0">
                <a:latin typeface="楷体" panose="02010609060101010101" pitchFamily="49" charset="-122"/>
                <a:ea typeface="楷体" panose="02010609060101010101" pitchFamily="49" charset="-122"/>
                <a:cs typeface="+mn-cs"/>
              </a:rPr>
              <a:t>来控制是否激活</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a:t>
            </a:r>
            <a:r>
              <a:rPr lang="en-US" altLang="zh-CN" sz="2500" b="1" dirty="0">
                <a:latin typeface="楷体" panose="02010609060101010101" pitchFamily="49" charset="-122"/>
                <a:ea typeface="楷体" panose="02010609060101010101" pitchFamily="49" charset="-122"/>
                <a:cs typeface="+mn-cs"/>
              </a:rPr>
              <a:t>RB8</a:t>
            </a:r>
            <a:r>
              <a:rPr lang="zh-CN" altLang="en-US" sz="2500" b="1" dirty="0">
                <a:latin typeface="楷体" panose="02010609060101010101" pitchFamily="49" charset="-122"/>
                <a:ea typeface="楷体" panose="02010609060101010101" pitchFamily="49" charset="-122"/>
                <a:cs typeface="+mn-cs"/>
              </a:rPr>
              <a:t>＝</a:t>
            </a:r>
            <a:r>
              <a:rPr lang="en-US" altLang="zh-CN" sz="2500" b="1" dirty="0">
                <a:latin typeface="楷体" panose="02010609060101010101" pitchFamily="49" charset="-122"/>
                <a:ea typeface="楷体" panose="02010609060101010101" pitchFamily="49" charset="-122"/>
                <a:cs typeface="+mn-cs"/>
              </a:rPr>
              <a:t>0</a:t>
            </a:r>
            <a:r>
              <a:rPr lang="zh-CN" altLang="en-US" sz="2500" b="1" dirty="0">
                <a:latin typeface="楷体" panose="02010609060101010101" pitchFamily="49" charset="-122"/>
                <a:ea typeface="楷体" panose="02010609060101010101" pitchFamily="49" charset="-122"/>
                <a:cs typeface="+mn-cs"/>
              </a:rPr>
              <a:t>时不激活</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，收到的信息丢弃；</a:t>
            </a:r>
            <a:r>
              <a:rPr lang="en-US" altLang="zh-CN" sz="2500" b="1" dirty="0">
                <a:latin typeface="楷体" panose="02010609060101010101" pitchFamily="49" charset="-122"/>
                <a:ea typeface="楷体" panose="02010609060101010101" pitchFamily="49" charset="-122"/>
                <a:cs typeface="+mn-cs"/>
              </a:rPr>
              <a:t>RB8</a:t>
            </a:r>
            <a:r>
              <a:rPr lang="zh-CN" altLang="en-US" sz="2500" b="1" dirty="0">
                <a:latin typeface="楷体" panose="02010609060101010101" pitchFamily="49" charset="-122"/>
                <a:ea typeface="楷体" panose="02010609060101010101" pitchFamily="49" charset="-122"/>
                <a:cs typeface="+mn-cs"/>
              </a:rPr>
              <a:t>＝</a:t>
            </a:r>
            <a:r>
              <a:rPr lang="en-US" altLang="zh-CN" sz="2500" b="1" dirty="0">
                <a:latin typeface="楷体" panose="02010609060101010101" pitchFamily="49" charset="-122"/>
                <a:ea typeface="楷体" panose="02010609060101010101" pitchFamily="49" charset="-122"/>
                <a:cs typeface="+mn-cs"/>
              </a:rPr>
              <a:t>1</a:t>
            </a:r>
            <a:r>
              <a:rPr lang="zh-CN" altLang="en-US" sz="2500" b="1" dirty="0">
                <a:latin typeface="楷体" panose="02010609060101010101" pitchFamily="49" charset="-122"/>
                <a:ea typeface="楷体" panose="02010609060101010101" pitchFamily="49" charset="-122"/>
                <a:cs typeface="+mn-cs"/>
              </a:rPr>
              <a:t>时收到的数据进入</a:t>
            </a:r>
            <a:r>
              <a:rPr lang="en-US" altLang="zh-CN" sz="2500" b="1" dirty="0">
                <a:latin typeface="楷体" panose="02010609060101010101" pitchFamily="49" charset="-122"/>
                <a:ea typeface="楷体" panose="02010609060101010101" pitchFamily="49" charset="-122"/>
                <a:cs typeface="+mn-cs"/>
              </a:rPr>
              <a:t>SBUF</a:t>
            </a:r>
            <a:r>
              <a:rPr lang="zh-CN" altLang="en-US" sz="2500" b="1" dirty="0">
                <a:latin typeface="楷体" panose="02010609060101010101" pitchFamily="49" charset="-122"/>
                <a:ea typeface="楷体" panose="02010609060101010101" pitchFamily="49" charset="-122"/>
                <a:cs typeface="+mn-cs"/>
              </a:rPr>
              <a:t>，并激活</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，进而在中断服务中将数据从</a:t>
            </a:r>
            <a:r>
              <a:rPr lang="en-US" altLang="zh-CN" sz="2500" b="1" dirty="0">
                <a:latin typeface="楷体" panose="02010609060101010101" pitchFamily="49" charset="-122"/>
                <a:ea typeface="楷体" panose="02010609060101010101" pitchFamily="49" charset="-122"/>
                <a:cs typeface="+mn-cs"/>
              </a:rPr>
              <a:t>SBUF</a:t>
            </a:r>
            <a:r>
              <a:rPr lang="zh-CN" altLang="en-US" sz="2500" b="1" dirty="0">
                <a:latin typeface="楷体" panose="02010609060101010101" pitchFamily="49" charset="-122"/>
                <a:ea typeface="楷体" panose="02010609060101010101" pitchFamily="49" charset="-122"/>
                <a:cs typeface="+mn-cs"/>
              </a:rPr>
              <a:t>读走）。当</a:t>
            </a:r>
            <a:r>
              <a:rPr lang="en-US" altLang="zh-CN" sz="2500" b="1" dirty="0">
                <a:latin typeface="楷体" panose="02010609060101010101" pitchFamily="49" charset="-122"/>
                <a:ea typeface="楷体" panose="02010609060101010101" pitchFamily="49" charset="-122"/>
                <a:cs typeface="+mn-cs"/>
              </a:rPr>
              <a:t>SM2=0</a:t>
            </a:r>
            <a:r>
              <a:rPr lang="zh-CN" altLang="en-US" sz="2500" b="1" dirty="0">
                <a:latin typeface="楷体" panose="02010609060101010101" pitchFamily="49" charset="-122"/>
                <a:ea typeface="楷体" panose="02010609060101010101" pitchFamily="49" charset="-122"/>
                <a:cs typeface="+mn-cs"/>
              </a:rPr>
              <a:t>时，不论收到的</a:t>
            </a:r>
            <a:r>
              <a:rPr lang="en-US" altLang="zh-CN" sz="2500" b="1" dirty="0">
                <a:latin typeface="楷体" panose="02010609060101010101" pitchFamily="49" charset="-122"/>
                <a:ea typeface="楷体" panose="02010609060101010101" pitchFamily="49" charset="-122"/>
                <a:cs typeface="+mn-cs"/>
              </a:rPr>
              <a:t>RB8</a:t>
            </a:r>
            <a:r>
              <a:rPr lang="zh-CN" altLang="en-US" sz="2500" b="1" dirty="0">
                <a:latin typeface="楷体" panose="02010609060101010101" pitchFamily="49" charset="-122"/>
                <a:ea typeface="楷体" panose="02010609060101010101" pitchFamily="49" charset="-122"/>
                <a:cs typeface="+mn-cs"/>
              </a:rPr>
              <a:t>为</a:t>
            </a:r>
            <a:r>
              <a:rPr lang="en-US" altLang="zh-CN" sz="2500" b="1" dirty="0">
                <a:latin typeface="楷体" panose="02010609060101010101" pitchFamily="49" charset="-122"/>
                <a:ea typeface="楷体" panose="02010609060101010101" pitchFamily="49" charset="-122"/>
                <a:cs typeface="+mn-cs"/>
              </a:rPr>
              <a:t>0</a:t>
            </a:r>
            <a:r>
              <a:rPr lang="zh-CN" altLang="en-US" sz="2500" b="1" dirty="0">
                <a:latin typeface="楷体" panose="02010609060101010101" pitchFamily="49" charset="-122"/>
                <a:ea typeface="楷体" panose="02010609060101010101" pitchFamily="49" charset="-122"/>
                <a:cs typeface="+mn-cs"/>
              </a:rPr>
              <a:t>和</a:t>
            </a:r>
            <a:r>
              <a:rPr lang="en-US" altLang="zh-CN" sz="2500" b="1" dirty="0">
                <a:latin typeface="楷体" panose="02010609060101010101" pitchFamily="49" charset="-122"/>
                <a:ea typeface="楷体" panose="02010609060101010101" pitchFamily="49" charset="-122"/>
                <a:cs typeface="+mn-cs"/>
              </a:rPr>
              <a:t>1</a:t>
            </a:r>
            <a:r>
              <a:rPr lang="zh-CN" altLang="en-US" sz="2500" b="1" dirty="0">
                <a:latin typeface="楷体" panose="02010609060101010101" pitchFamily="49" charset="-122"/>
                <a:ea typeface="楷体" panose="02010609060101010101" pitchFamily="49" charset="-122"/>
                <a:cs typeface="+mn-cs"/>
              </a:rPr>
              <a:t>，均可以使收到的数据进入</a:t>
            </a:r>
            <a:r>
              <a:rPr lang="en-US" altLang="zh-CN" sz="2500" b="1" dirty="0">
                <a:latin typeface="楷体" panose="02010609060101010101" pitchFamily="49" charset="-122"/>
                <a:ea typeface="楷体" panose="02010609060101010101" pitchFamily="49" charset="-122"/>
                <a:cs typeface="+mn-cs"/>
              </a:rPr>
              <a:t>SBUF</a:t>
            </a:r>
            <a:r>
              <a:rPr lang="zh-CN" altLang="en-US" sz="2500" b="1" dirty="0">
                <a:latin typeface="楷体" panose="02010609060101010101" pitchFamily="49" charset="-122"/>
                <a:ea typeface="楷体" panose="02010609060101010101" pitchFamily="49" charset="-122"/>
                <a:cs typeface="+mn-cs"/>
              </a:rPr>
              <a:t>，并激活</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（即此时</a:t>
            </a:r>
            <a:r>
              <a:rPr lang="en-US" altLang="zh-CN" sz="2500" b="1" dirty="0">
                <a:latin typeface="楷体" panose="02010609060101010101" pitchFamily="49" charset="-122"/>
                <a:ea typeface="楷体" panose="02010609060101010101" pitchFamily="49" charset="-122"/>
                <a:cs typeface="+mn-cs"/>
              </a:rPr>
              <a:t>RB8</a:t>
            </a:r>
            <a:r>
              <a:rPr lang="zh-CN" altLang="en-US" sz="2500" b="1" dirty="0">
                <a:latin typeface="楷体" panose="02010609060101010101" pitchFamily="49" charset="-122"/>
                <a:ea typeface="楷体" panose="02010609060101010101" pitchFamily="49" charset="-122"/>
                <a:cs typeface="+mn-cs"/>
              </a:rPr>
              <a:t>不具有控制</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激活的功能）。通过控制</a:t>
            </a:r>
            <a:r>
              <a:rPr lang="en-US" altLang="zh-CN" sz="2500" b="1" dirty="0">
                <a:latin typeface="楷体" panose="02010609060101010101" pitchFamily="49" charset="-122"/>
                <a:ea typeface="楷体" panose="02010609060101010101" pitchFamily="49" charset="-122"/>
                <a:cs typeface="+mn-cs"/>
              </a:rPr>
              <a:t>SM2</a:t>
            </a:r>
            <a:r>
              <a:rPr lang="zh-CN" altLang="en-US" sz="2500" b="1" dirty="0">
                <a:latin typeface="楷体" panose="02010609060101010101" pitchFamily="49" charset="-122"/>
                <a:ea typeface="楷体" panose="02010609060101010101" pitchFamily="49" charset="-122"/>
                <a:cs typeface="+mn-cs"/>
              </a:rPr>
              <a:t>，可以实现多机通信。</a:t>
            </a:r>
          </a:p>
          <a:p>
            <a:pPr>
              <a:spcBef>
                <a:spcPct val="20000"/>
              </a:spcBef>
              <a:buFont typeface="Wingdings" pitchFamily="2" charset="2"/>
              <a:buNone/>
              <a:defRPr/>
            </a:pPr>
            <a:r>
              <a:rPr lang="zh-CN" altLang="en-US" sz="2500" b="1" dirty="0">
                <a:latin typeface="楷体" panose="02010609060101010101" pitchFamily="49" charset="-122"/>
                <a:ea typeface="楷体" panose="02010609060101010101" pitchFamily="49" charset="-122"/>
                <a:cs typeface="+mn-cs"/>
              </a:rPr>
              <a:t>在方式</a:t>
            </a:r>
            <a:r>
              <a:rPr lang="en-US" altLang="zh-CN" sz="2500" b="1" dirty="0">
                <a:latin typeface="楷体" panose="02010609060101010101" pitchFamily="49" charset="-122"/>
                <a:ea typeface="楷体" panose="02010609060101010101" pitchFamily="49" charset="-122"/>
                <a:cs typeface="+mn-cs"/>
              </a:rPr>
              <a:t>0</a:t>
            </a:r>
            <a:r>
              <a:rPr lang="zh-CN" altLang="en-US" sz="2500" b="1" dirty="0">
                <a:latin typeface="楷体" panose="02010609060101010101" pitchFamily="49" charset="-122"/>
                <a:ea typeface="楷体" panose="02010609060101010101" pitchFamily="49" charset="-122"/>
                <a:cs typeface="+mn-cs"/>
              </a:rPr>
              <a:t>时，</a:t>
            </a:r>
            <a:r>
              <a:rPr lang="en-US" altLang="zh-CN" sz="2500" b="1" dirty="0">
                <a:latin typeface="楷体" panose="02010609060101010101" pitchFamily="49" charset="-122"/>
                <a:ea typeface="楷体" panose="02010609060101010101" pitchFamily="49" charset="-122"/>
                <a:cs typeface="+mn-cs"/>
              </a:rPr>
              <a:t>SM2</a:t>
            </a:r>
            <a:r>
              <a:rPr lang="zh-CN" altLang="en-US" sz="2500" b="1" dirty="0">
                <a:latin typeface="楷体" panose="02010609060101010101" pitchFamily="49" charset="-122"/>
                <a:ea typeface="楷体" panose="02010609060101010101" pitchFamily="49" charset="-122"/>
                <a:cs typeface="+mn-cs"/>
              </a:rPr>
              <a:t>必须是</a:t>
            </a:r>
            <a:r>
              <a:rPr lang="en-US" altLang="zh-CN" sz="2500" b="1" dirty="0">
                <a:latin typeface="楷体" panose="02010609060101010101" pitchFamily="49" charset="-122"/>
                <a:ea typeface="楷体" panose="02010609060101010101" pitchFamily="49" charset="-122"/>
                <a:cs typeface="+mn-cs"/>
              </a:rPr>
              <a:t>0</a:t>
            </a:r>
            <a:r>
              <a:rPr lang="zh-CN" altLang="en-US" sz="2500" b="1" dirty="0">
                <a:latin typeface="楷体" panose="02010609060101010101" pitchFamily="49" charset="-122"/>
                <a:ea typeface="楷体" panose="02010609060101010101" pitchFamily="49" charset="-122"/>
                <a:cs typeface="+mn-cs"/>
              </a:rPr>
              <a:t>。在方式</a:t>
            </a:r>
            <a:r>
              <a:rPr lang="en-US" altLang="zh-CN" sz="2500" b="1" dirty="0">
                <a:latin typeface="楷体" panose="02010609060101010101" pitchFamily="49" charset="-122"/>
                <a:ea typeface="楷体" panose="02010609060101010101" pitchFamily="49" charset="-122"/>
                <a:cs typeface="+mn-cs"/>
              </a:rPr>
              <a:t>1</a:t>
            </a:r>
            <a:r>
              <a:rPr lang="zh-CN" altLang="en-US" sz="2500" b="1" dirty="0">
                <a:latin typeface="楷体" panose="02010609060101010101" pitchFamily="49" charset="-122"/>
                <a:ea typeface="楷体" panose="02010609060101010101" pitchFamily="49" charset="-122"/>
                <a:cs typeface="+mn-cs"/>
              </a:rPr>
              <a:t>时，若</a:t>
            </a:r>
            <a:r>
              <a:rPr lang="en-US" altLang="zh-CN" sz="2500" b="1" dirty="0">
                <a:latin typeface="楷体" panose="02010609060101010101" pitchFamily="49" charset="-122"/>
                <a:ea typeface="楷体" panose="02010609060101010101" pitchFamily="49" charset="-122"/>
                <a:cs typeface="+mn-cs"/>
              </a:rPr>
              <a:t>SM2=1</a:t>
            </a:r>
            <a:r>
              <a:rPr lang="zh-CN" altLang="en-US" sz="2500" b="1" dirty="0">
                <a:latin typeface="楷体" panose="02010609060101010101" pitchFamily="49" charset="-122"/>
                <a:ea typeface="楷体" panose="02010609060101010101" pitchFamily="49" charset="-122"/>
                <a:cs typeface="+mn-cs"/>
              </a:rPr>
              <a:t>，则只有接收到有效停止位时，</a:t>
            </a:r>
            <a:r>
              <a:rPr lang="en-US" altLang="zh-CN" sz="2500" b="1" dirty="0">
                <a:latin typeface="楷体" panose="02010609060101010101" pitchFamily="49" charset="-122"/>
                <a:ea typeface="楷体" panose="02010609060101010101" pitchFamily="49" charset="-122"/>
                <a:cs typeface="+mn-cs"/>
              </a:rPr>
              <a:t>RI</a:t>
            </a:r>
            <a:r>
              <a:rPr lang="zh-CN" altLang="en-US" sz="2500" b="1" dirty="0">
                <a:latin typeface="楷体" panose="02010609060101010101" pitchFamily="49" charset="-122"/>
                <a:ea typeface="楷体" panose="02010609060101010101" pitchFamily="49" charset="-122"/>
                <a:cs typeface="+mn-cs"/>
              </a:rPr>
              <a:t>才置</a:t>
            </a:r>
            <a:r>
              <a:rPr lang="en-US" altLang="zh-CN" sz="2500" b="1" dirty="0">
                <a:latin typeface="楷体" panose="02010609060101010101" pitchFamily="49" charset="-122"/>
                <a:ea typeface="楷体" panose="02010609060101010101" pitchFamily="49" charset="-122"/>
                <a:cs typeface="+mn-cs"/>
              </a:rPr>
              <a:t>1</a:t>
            </a:r>
            <a:r>
              <a:rPr lang="zh-CN" altLang="en-US" sz="2500" b="1" dirty="0">
                <a:latin typeface="楷体" panose="02010609060101010101" pitchFamily="49" charset="-122"/>
                <a:ea typeface="楷体" panose="02010609060101010101" pitchFamily="49" charset="-122"/>
                <a:cs typeface="+mn-cs"/>
              </a:rPr>
              <a:t>。</a:t>
            </a:r>
          </a:p>
          <a:p>
            <a:pPr>
              <a:spcBef>
                <a:spcPct val="20000"/>
              </a:spcBef>
              <a:buFont typeface="Arial" pitchFamily="34" charset="0"/>
              <a:buChar char="•"/>
              <a:defRPr/>
            </a:pPr>
            <a:r>
              <a:rPr lang="en-US" altLang="zh-CN" sz="2500" b="1" dirty="0">
                <a:solidFill>
                  <a:srgbClr val="0000FF"/>
                </a:solidFill>
                <a:latin typeface="楷体" panose="02010609060101010101" pitchFamily="49" charset="-122"/>
                <a:ea typeface="楷体" panose="02010609060101010101" pitchFamily="49" charset="-122"/>
                <a:cs typeface="+mn-cs"/>
              </a:rPr>
              <a:t>REN</a:t>
            </a:r>
            <a:r>
              <a:rPr lang="zh-CN" altLang="en-US" sz="2500" b="1" dirty="0">
                <a:solidFill>
                  <a:srgbClr val="0000FF"/>
                </a:solidFill>
                <a:latin typeface="楷体" panose="02010609060101010101" pitchFamily="49" charset="-122"/>
                <a:ea typeface="楷体" panose="02010609060101010101" pitchFamily="49" charset="-122"/>
                <a:cs typeface="+mn-cs"/>
              </a:rPr>
              <a:t>   允许串行接收位  </a:t>
            </a:r>
            <a:r>
              <a:rPr lang="zh-CN" altLang="en-US" sz="2500" b="1" dirty="0">
                <a:latin typeface="楷体" panose="02010609060101010101" pitchFamily="49" charset="-122"/>
                <a:ea typeface="楷体" panose="02010609060101010101" pitchFamily="49" charset="-122"/>
                <a:cs typeface="+mn-cs"/>
              </a:rPr>
              <a:t>由软件置</a:t>
            </a:r>
            <a:r>
              <a:rPr lang="en-US" altLang="zh-CN" sz="2500" b="1" dirty="0">
                <a:latin typeface="楷体" panose="02010609060101010101" pitchFamily="49" charset="-122"/>
                <a:ea typeface="楷体" panose="02010609060101010101" pitchFamily="49" charset="-122"/>
                <a:cs typeface="+mn-cs"/>
              </a:rPr>
              <a:t>REN=1</a:t>
            </a:r>
            <a:r>
              <a:rPr lang="zh-CN" altLang="en-US" sz="2500" b="1" dirty="0">
                <a:latin typeface="楷体" panose="02010609060101010101" pitchFamily="49" charset="-122"/>
                <a:ea typeface="楷体" panose="02010609060101010101" pitchFamily="49" charset="-122"/>
                <a:cs typeface="+mn-cs"/>
              </a:rPr>
              <a:t>，则启动串行口接收数据；若软件置</a:t>
            </a:r>
            <a:r>
              <a:rPr lang="en-US" altLang="zh-CN" sz="2500" b="1" dirty="0">
                <a:latin typeface="楷体" panose="02010609060101010101" pitchFamily="49" charset="-122"/>
                <a:ea typeface="楷体" panose="02010609060101010101" pitchFamily="49" charset="-122"/>
                <a:cs typeface="+mn-cs"/>
              </a:rPr>
              <a:t>REN=0</a:t>
            </a:r>
            <a:r>
              <a:rPr lang="zh-CN" altLang="en-US" sz="2500" b="1" dirty="0">
                <a:latin typeface="楷体" panose="02010609060101010101" pitchFamily="49" charset="-122"/>
                <a:ea typeface="楷体" panose="02010609060101010101" pitchFamily="49" charset="-122"/>
                <a:cs typeface="+mn-cs"/>
              </a:rPr>
              <a:t>，则禁止接收。</a:t>
            </a:r>
          </a:p>
        </p:txBody>
      </p:sp>
    </p:spTree>
    <p:extLst>
      <p:ext uri="{BB962C8B-B14F-4D97-AF65-F5344CB8AC3E}">
        <p14:creationId xmlns:p14="http://schemas.microsoft.com/office/powerpoint/2010/main" val="1722593414"/>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串口相关</a:t>
            </a:r>
            <a:r>
              <a:rPr lang="en-US" altLang="zh-CN" sz="3200" spc="600" dirty="0">
                <a:latin typeface="Arial" panose="020B0604020202020204" pitchFamily="34" charset="0"/>
                <a:ea typeface="隶书" pitchFamily="49" charset="-122"/>
                <a:cs typeface="Arial" panose="020B0604020202020204" pitchFamily="34" charset="0"/>
              </a:rPr>
              <a:t>SFR</a:t>
            </a:r>
            <a:r>
              <a:rPr lang="zh-CN" altLang="en-US" sz="3200" spc="600" dirty="0">
                <a:latin typeface="隶书" pitchFamily="49" charset="-122"/>
                <a:ea typeface="隶书" pitchFamily="49" charset="-122"/>
              </a:rPr>
              <a:t>解析</a:t>
            </a:r>
            <a:endParaRPr lang="zh-CN" altLang="en-US" sz="3200" dirty="0"/>
          </a:p>
        </p:txBody>
      </p:sp>
      <p:pic>
        <p:nvPicPr>
          <p:cNvPr id="3" name="Picture 3">
            <a:extLst>
              <a:ext uri="{FF2B5EF4-FFF2-40B4-BE49-F238E27FC236}">
                <a16:creationId xmlns:a16="http://schemas.microsoft.com/office/drawing/2014/main" id="{05541870-498B-7689-9613-3C6342E95CC9}"/>
              </a:ext>
            </a:extLst>
          </p:cNvPr>
          <p:cNvPicPr>
            <a:picLocks noChangeAspect="1" noChangeArrowheads="1"/>
          </p:cNvPicPr>
          <p:nvPr/>
        </p:nvPicPr>
        <p:blipFill>
          <a:blip r:embed="rId3"/>
          <a:srcRect/>
          <a:stretch>
            <a:fillRect/>
          </a:stretch>
        </p:blipFill>
        <p:spPr bwMode="auto">
          <a:xfrm>
            <a:off x="395288" y="1267083"/>
            <a:ext cx="8064500" cy="935038"/>
          </a:xfrm>
          <a:prstGeom prst="rect">
            <a:avLst/>
          </a:prstGeom>
          <a:noFill/>
          <a:ln w="9525">
            <a:noFill/>
            <a:miter lim="800000"/>
            <a:headEnd/>
            <a:tailEnd/>
          </a:ln>
        </p:spPr>
      </p:pic>
      <p:sp>
        <p:nvSpPr>
          <p:cNvPr id="4" name="Rectangle 6">
            <a:extLst>
              <a:ext uri="{FF2B5EF4-FFF2-40B4-BE49-F238E27FC236}">
                <a16:creationId xmlns:a16="http://schemas.microsoft.com/office/drawing/2014/main" id="{1274A795-22BC-7924-A32E-B5C571E5C55F}"/>
              </a:ext>
            </a:extLst>
          </p:cNvPr>
          <p:cNvSpPr txBox="1">
            <a:spLocks noRot="1" noChangeArrowheads="1"/>
          </p:cNvSpPr>
          <p:nvPr/>
        </p:nvSpPr>
        <p:spPr>
          <a:xfrm>
            <a:off x="395288" y="2418021"/>
            <a:ext cx="8137525" cy="3981450"/>
          </a:xfrm>
          <a:prstGeom prst="rect">
            <a:avLst/>
          </a:prstGeom>
          <a:noFill/>
        </p:spPr>
        <p:txBody>
          <a:bodyPr/>
          <a:lstStyle/>
          <a:p>
            <a:pPr>
              <a:lnSpc>
                <a:spcPct val="120000"/>
              </a:lnSpc>
              <a:spcBef>
                <a:spcPct val="20000"/>
              </a:spcBef>
              <a:buFont typeface="Arial" pitchFamily="34" charset="0"/>
              <a:buChar char="•"/>
              <a:defRPr/>
            </a:pPr>
            <a:r>
              <a:rPr lang="en-US" altLang="zh-CN" sz="2800" b="1" dirty="0">
                <a:solidFill>
                  <a:srgbClr val="0000FF"/>
                </a:solidFill>
                <a:latin typeface="楷体" panose="02010609060101010101" pitchFamily="49" charset="-122"/>
                <a:ea typeface="楷体" panose="02010609060101010101" pitchFamily="49" charset="-122"/>
                <a:cs typeface="+mn-cs"/>
              </a:rPr>
              <a:t>TB8</a:t>
            </a:r>
            <a:r>
              <a:rPr lang="zh-CN" altLang="en-US" sz="2800" b="1" dirty="0">
                <a:latin typeface="楷体" panose="02010609060101010101" pitchFamily="49" charset="-122"/>
                <a:ea typeface="楷体" panose="02010609060101010101" pitchFamily="49" charset="-122"/>
                <a:cs typeface="+mn-cs"/>
              </a:rPr>
              <a:t>  在方式</a:t>
            </a:r>
            <a:r>
              <a:rPr lang="en-US" altLang="zh-CN" sz="2800" b="1" dirty="0">
                <a:latin typeface="楷体" panose="02010609060101010101" pitchFamily="49" charset="-122"/>
                <a:ea typeface="楷体" panose="02010609060101010101" pitchFamily="49" charset="-122"/>
                <a:cs typeface="+mn-cs"/>
              </a:rPr>
              <a:t>2</a:t>
            </a:r>
            <a:r>
              <a:rPr lang="zh-CN" altLang="en-US" sz="2800" b="1" dirty="0">
                <a:latin typeface="楷体" panose="02010609060101010101" pitchFamily="49" charset="-122"/>
                <a:ea typeface="楷体" panose="02010609060101010101" pitchFamily="49" charset="-122"/>
                <a:cs typeface="+mn-cs"/>
              </a:rPr>
              <a:t>或方式</a:t>
            </a:r>
            <a:r>
              <a:rPr lang="en-US" altLang="zh-CN" sz="2800" b="1" dirty="0">
                <a:latin typeface="楷体" panose="02010609060101010101" pitchFamily="49" charset="-122"/>
                <a:ea typeface="楷体" panose="02010609060101010101" pitchFamily="49" charset="-122"/>
                <a:cs typeface="+mn-cs"/>
              </a:rPr>
              <a:t>3</a:t>
            </a:r>
            <a:r>
              <a:rPr lang="zh-CN" altLang="en-US" sz="2800" b="1" dirty="0">
                <a:latin typeface="楷体" panose="02010609060101010101" pitchFamily="49" charset="-122"/>
                <a:ea typeface="楷体" panose="02010609060101010101" pitchFamily="49" charset="-122"/>
                <a:cs typeface="+mn-cs"/>
              </a:rPr>
              <a:t>中，是发送数据的第</a:t>
            </a:r>
            <a:r>
              <a:rPr lang="en-US" altLang="zh-CN" sz="2800" b="1" dirty="0">
                <a:latin typeface="楷体" panose="02010609060101010101" pitchFamily="49" charset="-122"/>
                <a:ea typeface="楷体" panose="02010609060101010101" pitchFamily="49" charset="-122"/>
                <a:cs typeface="+mn-cs"/>
              </a:rPr>
              <a:t>9</a:t>
            </a:r>
            <a:r>
              <a:rPr lang="zh-CN" altLang="en-US" sz="2800" b="1" dirty="0">
                <a:latin typeface="楷体" panose="02010609060101010101" pitchFamily="49" charset="-122"/>
                <a:ea typeface="楷体" panose="02010609060101010101" pitchFamily="49" charset="-122"/>
                <a:cs typeface="+mn-cs"/>
              </a:rPr>
              <a:t>位，可以用软件规定其作用。可以用作数据的奇偶校验位，或在多机通信中，作为地址帧</a:t>
            </a:r>
            <a:r>
              <a:rPr lang="en-US" altLang="zh-CN" sz="2800" b="1" dirty="0">
                <a:latin typeface="楷体" panose="02010609060101010101" pitchFamily="49" charset="-122"/>
                <a:ea typeface="楷体" panose="02010609060101010101" pitchFamily="49" charset="-122"/>
                <a:cs typeface="+mn-cs"/>
              </a:rPr>
              <a:t>/</a:t>
            </a:r>
            <a:r>
              <a:rPr lang="zh-CN" altLang="en-US" sz="2800" b="1" dirty="0">
                <a:latin typeface="楷体" panose="02010609060101010101" pitchFamily="49" charset="-122"/>
                <a:ea typeface="楷体" panose="02010609060101010101" pitchFamily="49" charset="-122"/>
                <a:cs typeface="+mn-cs"/>
              </a:rPr>
              <a:t>数据帧的标志位。在方式</a:t>
            </a:r>
            <a:r>
              <a:rPr lang="en-US" altLang="zh-CN" sz="2800" b="1" dirty="0">
                <a:latin typeface="楷体" panose="02010609060101010101" pitchFamily="49" charset="-122"/>
                <a:ea typeface="楷体" panose="02010609060101010101" pitchFamily="49" charset="-122"/>
                <a:cs typeface="+mn-cs"/>
              </a:rPr>
              <a:t>0</a:t>
            </a:r>
            <a:r>
              <a:rPr lang="zh-CN" altLang="en-US" sz="2800" b="1" dirty="0">
                <a:latin typeface="楷体" panose="02010609060101010101" pitchFamily="49" charset="-122"/>
                <a:ea typeface="楷体" panose="02010609060101010101" pitchFamily="49" charset="-122"/>
                <a:cs typeface="+mn-cs"/>
              </a:rPr>
              <a:t>和方式</a:t>
            </a:r>
            <a:r>
              <a:rPr lang="en-US" altLang="zh-CN" sz="2800" b="1" dirty="0">
                <a:latin typeface="楷体" panose="02010609060101010101" pitchFamily="49" charset="-122"/>
                <a:ea typeface="楷体" panose="02010609060101010101" pitchFamily="49" charset="-122"/>
                <a:cs typeface="+mn-cs"/>
              </a:rPr>
              <a:t>1</a:t>
            </a:r>
            <a:r>
              <a:rPr lang="zh-CN" altLang="en-US" sz="2800" b="1" dirty="0">
                <a:latin typeface="楷体" panose="02010609060101010101" pitchFamily="49" charset="-122"/>
                <a:ea typeface="楷体" panose="02010609060101010101" pitchFamily="49" charset="-122"/>
                <a:cs typeface="+mn-cs"/>
              </a:rPr>
              <a:t>中，该位未用。</a:t>
            </a:r>
          </a:p>
          <a:p>
            <a:pPr>
              <a:lnSpc>
                <a:spcPct val="120000"/>
              </a:lnSpc>
              <a:spcBef>
                <a:spcPct val="20000"/>
              </a:spcBef>
              <a:buFont typeface="Arial" pitchFamily="34" charset="0"/>
              <a:buChar char="•"/>
              <a:defRPr/>
            </a:pPr>
            <a:r>
              <a:rPr lang="en-US" altLang="zh-CN" sz="2800" b="1" dirty="0">
                <a:solidFill>
                  <a:srgbClr val="0000FF"/>
                </a:solidFill>
                <a:latin typeface="楷体" panose="02010609060101010101" pitchFamily="49" charset="-122"/>
                <a:ea typeface="楷体" panose="02010609060101010101" pitchFamily="49" charset="-122"/>
                <a:cs typeface="+mn-cs"/>
              </a:rPr>
              <a:t>RB8</a:t>
            </a:r>
            <a:r>
              <a:rPr lang="zh-CN" altLang="en-US" sz="2800" b="1" dirty="0">
                <a:latin typeface="楷体" panose="02010609060101010101" pitchFamily="49" charset="-122"/>
                <a:ea typeface="楷体" panose="02010609060101010101" pitchFamily="49" charset="-122"/>
                <a:cs typeface="+mn-cs"/>
              </a:rPr>
              <a:t>  在方式</a:t>
            </a:r>
            <a:r>
              <a:rPr lang="en-US" altLang="zh-CN" sz="2800" b="1" dirty="0">
                <a:latin typeface="楷体" panose="02010609060101010101" pitchFamily="49" charset="-122"/>
                <a:ea typeface="楷体" panose="02010609060101010101" pitchFamily="49" charset="-122"/>
                <a:cs typeface="+mn-cs"/>
              </a:rPr>
              <a:t>2</a:t>
            </a:r>
            <a:r>
              <a:rPr lang="zh-CN" altLang="en-US" sz="2800" b="1" dirty="0">
                <a:latin typeface="楷体" panose="02010609060101010101" pitchFamily="49" charset="-122"/>
                <a:ea typeface="楷体" panose="02010609060101010101" pitchFamily="49" charset="-122"/>
                <a:cs typeface="+mn-cs"/>
              </a:rPr>
              <a:t>或方式</a:t>
            </a:r>
            <a:r>
              <a:rPr lang="en-US" altLang="zh-CN" sz="2800" b="1" dirty="0">
                <a:latin typeface="楷体" panose="02010609060101010101" pitchFamily="49" charset="-122"/>
                <a:ea typeface="楷体" panose="02010609060101010101" pitchFamily="49" charset="-122"/>
                <a:cs typeface="+mn-cs"/>
              </a:rPr>
              <a:t>3</a:t>
            </a:r>
            <a:r>
              <a:rPr lang="zh-CN" altLang="en-US" sz="2800" b="1" dirty="0">
                <a:latin typeface="楷体" panose="02010609060101010101" pitchFamily="49" charset="-122"/>
                <a:ea typeface="楷体" panose="02010609060101010101" pitchFamily="49" charset="-122"/>
                <a:cs typeface="+mn-cs"/>
              </a:rPr>
              <a:t>中，是接收数据的第</a:t>
            </a:r>
            <a:r>
              <a:rPr lang="en-US" altLang="zh-CN" sz="2800" b="1" dirty="0">
                <a:latin typeface="楷体" panose="02010609060101010101" pitchFamily="49" charset="-122"/>
                <a:ea typeface="楷体" panose="02010609060101010101" pitchFamily="49" charset="-122"/>
                <a:cs typeface="+mn-cs"/>
              </a:rPr>
              <a:t>9</a:t>
            </a:r>
            <a:r>
              <a:rPr lang="zh-CN" altLang="en-US" sz="2800" b="1" dirty="0">
                <a:latin typeface="楷体" panose="02010609060101010101" pitchFamily="49" charset="-122"/>
                <a:ea typeface="楷体" panose="02010609060101010101" pitchFamily="49" charset="-122"/>
                <a:cs typeface="+mn-cs"/>
              </a:rPr>
              <a:t>位，作为奇偶校验位或地址帧</a:t>
            </a:r>
            <a:r>
              <a:rPr lang="en-US" altLang="zh-CN" sz="2800" b="1" dirty="0">
                <a:latin typeface="楷体" panose="02010609060101010101" pitchFamily="49" charset="-122"/>
                <a:ea typeface="楷体" panose="02010609060101010101" pitchFamily="49" charset="-122"/>
                <a:cs typeface="+mn-cs"/>
              </a:rPr>
              <a:t>/</a:t>
            </a:r>
            <a:r>
              <a:rPr lang="zh-CN" altLang="en-US" sz="2800" b="1" dirty="0">
                <a:latin typeface="楷体" panose="02010609060101010101" pitchFamily="49" charset="-122"/>
                <a:ea typeface="楷体" panose="02010609060101010101" pitchFamily="49" charset="-122"/>
                <a:cs typeface="+mn-cs"/>
              </a:rPr>
              <a:t>数据帧的标志位。在方式</a:t>
            </a:r>
            <a:r>
              <a:rPr lang="en-US" altLang="zh-CN" sz="2800" b="1" dirty="0">
                <a:latin typeface="楷体" panose="02010609060101010101" pitchFamily="49" charset="-122"/>
                <a:ea typeface="楷体" panose="02010609060101010101" pitchFamily="49" charset="-122"/>
                <a:cs typeface="+mn-cs"/>
              </a:rPr>
              <a:t>1</a:t>
            </a:r>
            <a:r>
              <a:rPr lang="zh-CN" altLang="en-US" sz="2800" b="1" dirty="0">
                <a:latin typeface="楷体" panose="02010609060101010101" pitchFamily="49" charset="-122"/>
                <a:ea typeface="楷体" panose="02010609060101010101" pitchFamily="49" charset="-122"/>
                <a:cs typeface="+mn-cs"/>
              </a:rPr>
              <a:t>时，若</a:t>
            </a:r>
            <a:r>
              <a:rPr lang="en-US" altLang="zh-CN" sz="2800" b="1" dirty="0">
                <a:latin typeface="楷体" panose="02010609060101010101" pitchFamily="49" charset="-122"/>
                <a:ea typeface="楷体" panose="02010609060101010101" pitchFamily="49" charset="-122"/>
                <a:cs typeface="+mn-cs"/>
              </a:rPr>
              <a:t>SM2=0</a:t>
            </a:r>
            <a:r>
              <a:rPr lang="zh-CN" altLang="en-US" sz="2800" b="1" dirty="0">
                <a:latin typeface="楷体" panose="02010609060101010101" pitchFamily="49" charset="-122"/>
                <a:ea typeface="楷体" panose="02010609060101010101" pitchFamily="49" charset="-122"/>
                <a:cs typeface="+mn-cs"/>
              </a:rPr>
              <a:t>，则</a:t>
            </a:r>
            <a:r>
              <a:rPr lang="en-US" altLang="zh-CN" sz="2800" b="1" dirty="0">
                <a:latin typeface="楷体" panose="02010609060101010101" pitchFamily="49" charset="-122"/>
                <a:ea typeface="楷体" panose="02010609060101010101" pitchFamily="49" charset="-122"/>
                <a:cs typeface="+mn-cs"/>
              </a:rPr>
              <a:t>RB8</a:t>
            </a:r>
            <a:r>
              <a:rPr lang="zh-CN" altLang="en-US" sz="2800" b="1" dirty="0">
                <a:latin typeface="楷体" panose="02010609060101010101" pitchFamily="49" charset="-122"/>
                <a:ea typeface="楷体" panose="02010609060101010101" pitchFamily="49" charset="-122"/>
                <a:cs typeface="+mn-cs"/>
              </a:rPr>
              <a:t>是接收到的停止位。</a:t>
            </a:r>
          </a:p>
        </p:txBody>
      </p:sp>
    </p:spTree>
    <p:extLst>
      <p:ext uri="{BB962C8B-B14F-4D97-AF65-F5344CB8AC3E}">
        <p14:creationId xmlns:p14="http://schemas.microsoft.com/office/powerpoint/2010/main" val="3984788057"/>
      </p:ext>
    </p:extLst>
  </p:cSld>
  <p:clrMapOvr>
    <a:masterClrMapping/>
  </p:clrMapOvr>
  <p:transition spd="slow" advClick="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串口相关</a:t>
            </a:r>
            <a:r>
              <a:rPr lang="en-US" altLang="zh-CN" sz="3200" spc="600" dirty="0">
                <a:latin typeface="Arial" panose="020B0604020202020204" pitchFamily="34" charset="0"/>
                <a:ea typeface="隶书" pitchFamily="49" charset="-122"/>
                <a:cs typeface="Arial" panose="020B0604020202020204" pitchFamily="34" charset="0"/>
              </a:rPr>
              <a:t>SFR</a:t>
            </a:r>
            <a:r>
              <a:rPr lang="zh-CN" altLang="en-US" sz="3200" spc="600" dirty="0">
                <a:latin typeface="隶书" pitchFamily="49" charset="-122"/>
                <a:ea typeface="隶书" pitchFamily="49" charset="-122"/>
              </a:rPr>
              <a:t>解析</a:t>
            </a:r>
            <a:endParaRPr lang="zh-CN" altLang="en-US" sz="3200" dirty="0"/>
          </a:p>
        </p:txBody>
      </p:sp>
      <p:pic>
        <p:nvPicPr>
          <p:cNvPr id="3" name="Picture 3">
            <a:extLst>
              <a:ext uri="{FF2B5EF4-FFF2-40B4-BE49-F238E27FC236}">
                <a16:creationId xmlns:a16="http://schemas.microsoft.com/office/drawing/2014/main" id="{3F7A4F12-67B1-BDBE-9876-B41F77439EA5}"/>
              </a:ext>
            </a:extLst>
          </p:cNvPr>
          <p:cNvPicPr>
            <a:picLocks noChangeAspect="1" noChangeArrowheads="1"/>
          </p:cNvPicPr>
          <p:nvPr/>
        </p:nvPicPr>
        <p:blipFill>
          <a:blip r:embed="rId3"/>
          <a:srcRect/>
          <a:stretch>
            <a:fillRect/>
          </a:stretch>
        </p:blipFill>
        <p:spPr bwMode="auto">
          <a:xfrm>
            <a:off x="395288" y="1208172"/>
            <a:ext cx="8064500" cy="935038"/>
          </a:xfrm>
          <a:prstGeom prst="rect">
            <a:avLst/>
          </a:prstGeom>
          <a:noFill/>
          <a:ln w="9525">
            <a:noFill/>
            <a:miter lim="800000"/>
            <a:headEnd/>
            <a:tailEnd/>
          </a:ln>
        </p:spPr>
      </p:pic>
      <p:sp>
        <p:nvSpPr>
          <p:cNvPr id="4" name="Rectangle 6">
            <a:extLst>
              <a:ext uri="{FF2B5EF4-FFF2-40B4-BE49-F238E27FC236}">
                <a16:creationId xmlns:a16="http://schemas.microsoft.com/office/drawing/2014/main" id="{90321A75-BCCD-5D49-0DE5-0143599B0C5E}"/>
              </a:ext>
            </a:extLst>
          </p:cNvPr>
          <p:cNvSpPr>
            <a:spLocks noChangeArrowheads="1"/>
          </p:cNvSpPr>
          <p:nvPr/>
        </p:nvSpPr>
        <p:spPr bwMode="auto">
          <a:xfrm>
            <a:off x="284163" y="2287672"/>
            <a:ext cx="8497887" cy="4176713"/>
          </a:xfrm>
          <a:prstGeom prst="rect">
            <a:avLst/>
          </a:prstGeom>
          <a:noFill/>
          <a:ln w="9525">
            <a:noFill/>
            <a:miter lim="800000"/>
            <a:headEnd/>
            <a:tailEnd/>
          </a:ln>
        </p:spPr>
        <p:txBody>
          <a:bodyPr/>
          <a:lstStyle/>
          <a:p>
            <a:pPr>
              <a:lnSpc>
                <a:spcPct val="120000"/>
              </a:lnSpc>
              <a:spcBef>
                <a:spcPct val="20000"/>
              </a:spcBef>
              <a:buClr>
                <a:schemeClr val="hlink"/>
              </a:buClr>
              <a:buFont typeface="Wingdings" pitchFamily="2" charset="2"/>
              <a:buChar char="v"/>
              <a:defRPr/>
            </a:pPr>
            <a:r>
              <a:rPr lang="en-US" altLang="zh-CN" sz="2600" b="1" dirty="0">
                <a:solidFill>
                  <a:srgbClr val="0000FF"/>
                </a:solidFill>
                <a:latin typeface="楷体" panose="02010609060101010101" pitchFamily="49" charset="-122"/>
                <a:ea typeface="楷体" panose="02010609060101010101" pitchFamily="49" charset="-122"/>
              </a:rPr>
              <a:t>TI</a:t>
            </a:r>
            <a:r>
              <a:rPr lang="zh-CN" altLang="en-US" sz="2600" b="1" dirty="0">
                <a:solidFill>
                  <a:srgbClr val="0000FF"/>
                </a:solidFill>
                <a:latin typeface="楷体" panose="02010609060101010101" pitchFamily="49" charset="-122"/>
                <a:ea typeface="楷体" panose="02010609060101010101" pitchFamily="49" charset="-122"/>
              </a:rPr>
              <a:t>，发送中断标志位</a:t>
            </a:r>
            <a:r>
              <a:rPr lang="zh-CN" altLang="en-US" sz="2600" b="1" dirty="0">
                <a:latin typeface="楷体" panose="02010609060101010101" pitchFamily="49" charset="-122"/>
                <a:ea typeface="楷体" panose="02010609060101010101" pitchFamily="49" charset="-122"/>
              </a:rPr>
              <a:t>。在方式</a:t>
            </a:r>
            <a:r>
              <a:rPr lang="en-US" altLang="zh-CN" sz="2600" b="1" dirty="0">
                <a:latin typeface="楷体" panose="02010609060101010101" pitchFamily="49" charset="-122"/>
                <a:ea typeface="楷体" panose="02010609060101010101" pitchFamily="49" charset="-122"/>
              </a:rPr>
              <a:t>0</a:t>
            </a:r>
            <a:r>
              <a:rPr lang="zh-CN" altLang="en-US" sz="2600" b="1" dirty="0">
                <a:latin typeface="楷体" panose="02010609060101010101" pitchFamily="49" charset="-122"/>
                <a:ea typeface="楷体" panose="02010609060101010101" pitchFamily="49" charset="-122"/>
              </a:rPr>
              <a:t>时，当串行发送第</a:t>
            </a:r>
            <a:r>
              <a:rPr lang="en-US" altLang="zh-CN" sz="2600" b="1" dirty="0">
                <a:latin typeface="楷体" panose="02010609060101010101" pitchFamily="49" charset="-122"/>
                <a:ea typeface="楷体" panose="02010609060101010101" pitchFamily="49" charset="-122"/>
              </a:rPr>
              <a:t>8</a:t>
            </a:r>
            <a:r>
              <a:rPr lang="zh-CN" altLang="en-US" sz="2600" b="1" dirty="0">
                <a:latin typeface="楷体" panose="02010609060101010101" pitchFamily="49" charset="-122"/>
                <a:ea typeface="楷体" panose="02010609060101010101" pitchFamily="49" charset="-122"/>
              </a:rPr>
              <a:t>位数据结束时，或在其它方式，串行发送停止位的开始时，由内部硬件使</a:t>
            </a:r>
            <a:r>
              <a:rPr lang="en-US" altLang="zh-CN" sz="2600" b="1" dirty="0">
                <a:latin typeface="楷体" panose="02010609060101010101" pitchFamily="49" charset="-122"/>
                <a:ea typeface="楷体" panose="02010609060101010101" pitchFamily="49" charset="-122"/>
              </a:rPr>
              <a:t>TI</a:t>
            </a:r>
            <a:r>
              <a:rPr lang="zh-CN" altLang="en-US" sz="2600" b="1" dirty="0">
                <a:latin typeface="楷体" panose="02010609060101010101" pitchFamily="49" charset="-122"/>
                <a:ea typeface="楷体" panose="02010609060101010101" pitchFamily="49" charset="-122"/>
              </a:rPr>
              <a:t>置</a:t>
            </a:r>
            <a:r>
              <a:rPr lang="en-US" altLang="zh-CN" sz="2600" b="1" dirty="0">
                <a:latin typeface="楷体" panose="02010609060101010101" pitchFamily="49" charset="-122"/>
                <a:ea typeface="楷体" panose="02010609060101010101" pitchFamily="49" charset="-122"/>
              </a:rPr>
              <a:t>1</a:t>
            </a:r>
            <a:r>
              <a:rPr lang="zh-CN" altLang="en-US" sz="2600" b="1" dirty="0">
                <a:latin typeface="楷体" panose="02010609060101010101" pitchFamily="49" charset="-122"/>
                <a:ea typeface="楷体" panose="02010609060101010101" pitchFamily="49" charset="-122"/>
              </a:rPr>
              <a:t>，向</a:t>
            </a:r>
            <a:r>
              <a:rPr lang="en-US" altLang="zh-CN" sz="2600" b="1" dirty="0">
                <a:latin typeface="楷体" panose="02010609060101010101" pitchFamily="49" charset="-122"/>
                <a:ea typeface="楷体" panose="02010609060101010101" pitchFamily="49" charset="-122"/>
              </a:rPr>
              <a:t>CPU</a:t>
            </a:r>
            <a:r>
              <a:rPr lang="zh-CN" altLang="en-US" sz="2600" b="1" dirty="0">
                <a:latin typeface="楷体" panose="02010609060101010101" pitchFamily="49" charset="-122"/>
                <a:ea typeface="楷体" panose="02010609060101010101" pitchFamily="49" charset="-122"/>
              </a:rPr>
              <a:t>发中断申请。在中断服务程序中，</a:t>
            </a:r>
            <a:r>
              <a:rPr lang="zh-CN" altLang="en-US" sz="2600" b="1" dirty="0">
                <a:solidFill>
                  <a:srgbClr val="FF00FF"/>
                </a:solidFill>
                <a:latin typeface="楷体" panose="02010609060101010101" pitchFamily="49" charset="-122"/>
                <a:ea typeface="楷体" panose="02010609060101010101" pitchFamily="49" charset="-122"/>
              </a:rPr>
              <a:t>必须用软件将其清</a:t>
            </a:r>
            <a:r>
              <a:rPr lang="en-US" altLang="zh-CN" sz="2600" b="1" dirty="0">
                <a:solidFill>
                  <a:srgbClr val="FF00FF"/>
                </a:solidFill>
                <a:latin typeface="楷体" panose="02010609060101010101" pitchFamily="49" charset="-122"/>
                <a:ea typeface="楷体" panose="02010609060101010101" pitchFamily="49" charset="-122"/>
              </a:rPr>
              <a:t>0</a:t>
            </a:r>
            <a:r>
              <a:rPr lang="zh-CN" altLang="en-US" sz="2600" b="1" dirty="0">
                <a:latin typeface="楷体" panose="02010609060101010101" pitchFamily="49" charset="-122"/>
                <a:ea typeface="楷体" panose="02010609060101010101" pitchFamily="49" charset="-122"/>
              </a:rPr>
              <a:t>，取消此中断申请。</a:t>
            </a:r>
          </a:p>
          <a:p>
            <a:pPr>
              <a:lnSpc>
                <a:spcPct val="120000"/>
              </a:lnSpc>
              <a:spcBef>
                <a:spcPct val="20000"/>
              </a:spcBef>
              <a:buClr>
                <a:schemeClr val="hlink"/>
              </a:buClr>
              <a:buFont typeface="Wingdings" pitchFamily="2" charset="2"/>
              <a:buChar char="v"/>
              <a:defRPr/>
            </a:pPr>
            <a:r>
              <a:rPr lang="en-US" altLang="zh-CN" sz="2600" b="1" dirty="0">
                <a:solidFill>
                  <a:srgbClr val="0000FF"/>
                </a:solidFill>
                <a:latin typeface="楷体" panose="02010609060101010101" pitchFamily="49" charset="-122"/>
                <a:ea typeface="楷体" panose="02010609060101010101" pitchFamily="49" charset="-122"/>
              </a:rPr>
              <a:t>RI</a:t>
            </a:r>
            <a:r>
              <a:rPr lang="zh-CN" altLang="en-US" sz="2600" b="1" dirty="0">
                <a:solidFill>
                  <a:srgbClr val="0000FF"/>
                </a:solidFill>
                <a:latin typeface="楷体" panose="02010609060101010101" pitchFamily="49" charset="-122"/>
                <a:ea typeface="楷体" panose="02010609060101010101" pitchFamily="49" charset="-122"/>
              </a:rPr>
              <a:t>，接收中断标志位</a:t>
            </a:r>
            <a:r>
              <a:rPr lang="zh-CN" altLang="en-US" sz="2600" b="1" dirty="0">
                <a:latin typeface="楷体" panose="02010609060101010101" pitchFamily="49" charset="-122"/>
                <a:ea typeface="楷体" panose="02010609060101010101" pitchFamily="49" charset="-122"/>
              </a:rPr>
              <a:t>。在方式</a:t>
            </a:r>
            <a:r>
              <a:rPr lang="en-US" altLang="zh-CN" sz="2600" b="1" dirty="0">
                <a:latin typeface="楷体" panose="02010609060101010101" pitchFamily="49" charset="-122"/>
                <a:ea typeface="楷体" panose="02010609060101010101" pitchFamily="49" charset="-122"/>
              </a:rPr>
              <a:t>0</a:t>
            </a:r>
            <a:r>
              <a:rPr lang="zh-CN" altLang="en-US" sz="2600" b="1" dirty="0">
                <a:latin typeface="楷体" panose="02010609060101010101" pitchFamily="49" charset="-122"/>
                <a:ea typeface="楷体" panose="02010609060101010101" pitchFamily="49" charset="-122"/>
              </a:rPr>
              <a:t>时，当串行接收第</a:t>
            </a:r>
            <a:r>
              <a:rPr lang="en-US" altLang="zh-CN" sz="2600" b="1" dirty="0">
                <a:latin typeface="楷体" panose="02010609060101010101" pitchFamily="49" charset="-122"/>
                <a:ea typeface="楷体" panose="02010609060101010101" pitchFamily="49" charset="-122"/>
              </a:rPr>
              <a:t>8</a:t>
            </a:r>
            <a:r>
              <a:rPr lang="zh-CN" altLang="en-US" sz="2600" b="1" dirty="0">
                <a:latin typeface="楷体" panose="02010609060101010101" pitchFamily="49" charset="-122"/>
                <a:ea typeface="楷体" panose="02010609060101010101" pitchFamily="49" charset="-122"/>
              </a:rPr>
              <a:t>位数据结束时，或在其它方式，串行接收停止位的中间时，由内部硬件使</a:t>
            </a:r>
            <a:r>
              <a:rPr lang="en-US" altLang="zh-CN" sz="2600" b="1" dirty="0">
                <a:latin typeface="楷体" panose="02010609060101010101" pitchFamily="49" charset="-122"/>
                <a:ea typeface="楷体" panose="02010609060101010101" pitchFamily="49" charset="-122"/>
              </a:rPr>
              <a:t>RI</a:t>
            </a:r>
            <a:r>
              <a:rPr lang="zh-CN" altLang="en-US" sz="2600" b="1" dirty="0">
                <a:latin typeface="楷体" panose="02010609060101010101" pitchFamily="49" charset="-122"/>
                <a:ea typeface="楷体" panose="02010609060101010101" pitchFamily="49" charset="-122"/>
              </a:rPr>
              <a:t>置</a:t>
            </a:r>
            <a:r>
              <a:rPr lang="en-US" altLang="zh-CN" sz="2600" b="1" dirty="0">
                <a:latin typeface="楷体" panose="02010609060101010101" pitchFamily="49" charset="-122"/>
                <a:ea typeface="楷体" panose="02010609060101010101" pitchFamily="49" charset="-122"/>
              </a:rPr>
              <a:t>1</a:t>
            </a:r>
            <a:r>
              <a:rPr lang="zh-CN" altLang="en-US" sz="2600" b="1" dirty="0">
                <a:latin typeface="楷体" panose="02010609060101010101" pitchFamily="49" charset="-122"/>
                <a:ea typeface="楷体" panose="02010609060101010101" pitchFamily="49" charset="-122"/>
              </a:rPr>
              <a:t>，向</a:t>
            </a:r>
            <a:r>
              <a:rPr lang="en-US" altLang="zh-CN" sz="2600" b="1" dirty="0">
                <a:latin typeface="楷体" panose="02010609060101010101" pitchFamily="49" charset="-122"/>
                <a:ea typeface="楷体" panose="02010609060101010101" pitchFamily="49" charset="-122"/>
              </a:rPr>
              <a:t>CPU</a:t>
            </a:r>
            <a:r>
              <a:rPr lang="zh-CN" altLang="en-US" sz="2600" b="1" dirty="0">
                <a:latin typeface="楷体" panose="02010609060101010101" pitchFamily="49" charset="-122"/>
                <a:ea typeface="楷体" panose="02010609060101010101" pitchFamily="49" charset="-122"/>
              </a:rPr>
              <a:t>发中断申请。也必须在中断服务程序中，</a:t>
            </a:r>
            <a:r>
              <a:rPr lang="zh-CN" altLang="en-US" sz="2600" b="1" dirty="0">
                <a:solidFill>
                  <a:srgbClr val="FF00FF"/>
                </a:solidFill>
                <a:latin typeface="楷体" panose="02010609060101010101" pitchFamily="49" charset="-122"/>
                <a:ea typeface="楷体" panose="02010609060101010101" pitchFamily="49" charset="-122"/>
              </a:rPr>
              <a:t>必须用软件将其清</a:t>
            </a:r>
            <a:r>
              <a:rPr lang="en-US" altLang="zh-CN" sz="2600" b="1" dirty="0">
                <a:solidFill>
                  <a:srgbClr val="FF00FF"/>
                </a:solidFill>
                <a:latin typeface="楷体" panose="02010609060101010101" pitchFamily="49" charset="-122"/>
                <a:ea typeface="楷体" panose="02010609060101010101" pitchFamily="49" charset="-122"/>
              </a:rPr>
              <a:t>0</a:t>
            </a:r>
            <a:r>
              <a:rPr lang="zh-CN" altLang="en-US" sz="2600" b="1" dirty="0">
                <a:latin typeface="楷体" panose="02010609060101010101" pitchFamily="49" charset="-122"/>
                <a:ea typeface="楷体" panose="02010609060101010101" pitchFamily="49" charset="-122"/>
              </a:rPr>
              <a:t>，取消此中断申请。</a:t>
            </a:r>
          </a:p>
        </p:txBody>
      </p:sp>
    </p:spTree>
    <p:extLst>
      <p:ext uri="{BB962C8B-B14F-4D97-AF65-F5344CB8AC3E}">
        <p14:creationId xmlns:p14="http://schemas.microsoft.com/office/powerpoint/2010/main" val="1794747389"/>
      </p:ext>
    </p:extLst>
  </p:cSld>
  <p:clrMapOvr>
    <a:masterClrMapping/>
  </p:clrMapOvr>
  <p:transition spd="slow" advClick="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7">
            <a:extLst>
              <a:ext uri="{FF2B5EF4-FFF2-40B4-BE49-F238E27FC236}">
                <a16:creationId xmlns:a16="http://schemas.microsoft.com/office/drawing/2014/main" id="{7D9574B5-75F8-1214-A8C8-05F216A25089}"/>
              </a:ext>
            </a:extLst>
          </p:cNvPr>
          <p:cNvSpPr>
            <a:spLocks noChangeArrowheads="1"/>
          </p:cNvSpPr>
          <p:nvPr/>
        </p:nvSpPr>
        <p:spPr bwMode="auto">
          <a:xfrm>
            <a:off x="468313" y="1167714"/>
            <a:ext cx="8135937" cy="302418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800" b="1" dirty="0">
                <a:solidFill>
                  <a:srgbClr val="0000FF"/>
                </a:solidFill>
                <a:latin typeface="楷体" panose="02010609060101010101" pitchFamily="49" charset="-122"/>
                <a:ea typeface="楷体" panose="02010609060101010101" pitchFamily="49" charset="-122"/>
              </a:rPr>
              <a:t>一、方式</a:t>
            </a:r>
            <a:r>
              <a:rPr lang="en-US" altLang="zh-CN" sz="2800" b="1" dirty="0">
                <a:solidFill>
                  <a:srgbClr val="0000FF"/>
                </a:solidFill>
                <a:latin typeface="楷体" panose="02010609060101010101" pitchFamily="49" charset="-122"/>
                <a:ea typeface="楷体" panose="02010609060101010101" pitchFamily="49" charset="-122"/>
              </a:rPr>
              <a:t>0</a:t>
            </a:r>
          </a:p>
          <a:p>
            <a:pPr>
              <a:spcBef>
                <a:spcPct val="20000"/>
              </a:spcBef>
              <a:buClr>
                <a:schemeClr val="hlink"/>
              </a:buClr>
              <a:buFont typeface="Wingdings" pitchFamily="2" charset="2"/>
              <a:buNone/>
            </a:pPr>
            <a:r>
              <a:rPr lang="en-US" altLang="zh-CN" sz="2400" b="1" dirty="0">
                <a:latin typeface="楷体" panose="02010609060101010101" pitchFamily="49" charset="-122"/>
                <a:ea typeface="楷体" panose="02010609060101010101" pitchFamily="49" charset="-122"/>
              </a:rPr>
              <a:t>    </a:t>
            </a:r>
            <a:r>
              <a:rPr lang="zh-CN" altLang="en-US" sz="2500" b="1" dirty="0">
                <a:latin typeface="楷体" panose="02010609060101010101" pitchFamily="49" charset="-122"/>
                <a:ea typeface="楷体" panose="02010609060101010101" pitchFamily="49" charset="-122"/>
              </a:rPr>
              <a:t>方式</a:t>
            </a:r>
            <a:r>
              <a:rPr lang="en-US" altLang="zh-CN" sz="2500" b="1" dirty="0">
                <a:latin typeface="楷体" panose="02010609060101010101" pitchFamily="49" charset="-122"/>
                <a:ea typeface="楷体" panose="02010609060101010101" pitchFamily="49" charset="-122"/>
              </a:rPr>
              <a:t>0</a:t>
            </a:r>
            <a:r>
              <a:rPr lang="zh-CN" altLang="en-US" sz="2500" b="1" dirty="0">
                <a:latin typeface="楷体" panose="02010609060101010101" pitchFamily="49" charset="-122"/>
                <a:ea typeface="楷体" panose="02010609060101010101" pitchFamily="49" charset="-122"/>
              </a:rPr>
              <a:t>时，串行口为同步移位寄存器的输入输出方式。主要用于扩展并行输入或输出口。数据由</a:t>
            </a:r>
            <a:r>
              <a:rPr lang="en-US" altLang="zh-CN" sz="2500" b="1" dirty="0">
                <a:latin typeface="楷体" panose="02010609060101010101" pitchFamily="49" charset="-122"/>
                <a:ea typeface="楷体" panose="02010609060101010101" pitchFamily="49" charset="-122"/>
              </a:rPr>
              <a:t>RXD</a:t>
            </a:r>
            <a:r>
              <a:rPr lang="zh-CN" altLang="en-US" sz="2500" b="1" dirty="0">
                <a:latin typeface="楷体" panose="02010609060101010101" pitchFamily="49" charset="-122"/>
                <a:ea typeface="楷体" panose="02010609060101010101" pitchFamily="49" charset="-122"/>
              </a:rPr>
              <a:t>（</a:t>
            </a:r>
            <a:r>
              <a:rPr lang="en-US" altLang="zh-CN" sz="2500" b="1" dirty="0">
                <a:latin typeface="楷体" panose="02010609060101010101" pitchFamily="49" charset="-122"/>
                <a:ea typeface="楷体" panose="02010609060101010101" pitchFamily="49" charset="-122"/>
              </a:rPr>
              <a:t>P3.0</a:t>
            </a:r>
            <a:r>
              <a:rPr lang="zh-CN" altLang="en-US" sz="2500" b="1" dirty="0">
                <a:latin typeface="楷体" panose="02010609060101010101" pitchFamily="49" charset="-122"/>
                <a:ea typeface="楷体" panose="02010609060101010101" pitchFamily="49" charset="-122"/>
              </a:rPr>
              <a:t>）引脚输入或输出，同步移位脉冲由</a:t>
            </a:r>
            <a:r>
              <a:rPr lang="en-US" altLang="zh-CN" sz="2500" b="1" dirty="0">
                <a:latin typeface="楷体" panose="02010609060101010101" pitchFamily="49" charset="-122"/>
                <a:ea typeface="楷体" panose="02010609060101010101" pitchFamily="49" charset="-122"/>
              </a:rPr>
              <a:t>TXD</a:t>
            </a:r>
            <a:r>
              <a:rPr lang="zh-CN" altLang="en-US" sz="2500" b="1" dirty="0">
                <a:latin typeface="楷体" panose="02010609060101010101" pitchFamily="49" charset="-122"/>
                <a:ea typeface="楷体" panose="02010609060101010101" pitchFamily="49" charset="-122"/>
              </a:rPr>
              <a:t>（</a:t>
            </a:r>
            <a:r>
              <a:rPr lang="en-US" altLang="zh-CN" sz="2500" b="1" dirty="0">
                <a:latin typeface="楷体" panose="02010609060101010101" pitchFamily="49" charset="-122"/>
                <a:ea typeface="楷体" panose="02010609060101010101" pitchFamily="49" charset="-122"/>
              </a:rPr>
              <a:t>P3.1</a:t>
            </a:r>
            <a:r>
              <a:rPr lang="zh-CN" altLang="en-US" sz="2500" b="1" dirty="0">
                <a:latin typeface="楷体" panose="02010609060101010101" pitchFamily="49" charset="-122"/>
                <a:ea typeface="楷体" panose="02010609060101010101" pitchFamily="49" charset="-122"/>
              </a:rPr>
              <a:t>）引脚输出。发送和接收均为</a:t>
            </a:r>
            <a:r>
              <a:rPr lang="en-US" altLang="zh-CN" sz="2500" b="1" dirty="0">
                <a:latin typeface="楷体" panose="02010609060101010101" pitchFamily="49" charset="-122"/>
                <a:ea typeface="楷体" panose="02010609060101010101" pitchFamily="49" charset="-122"/>
              </a:rPr>
              <a:t>8</a:t>
            </a:r>
            <a:r>
              <a:rPr lang="zh-CN" altLang="en-US" sz="2500" b="1" dirty="0">
                <a:latin typeface="楷体" panose="02010609060101010101" pitchFamily="49" charset="-122"/>
                <a:ea typeface="楷体" panose="02010609060101010101" pitchFamily="49" charset="-122"/>
              </a:rPr>
              <a:t>位数据，低位在先，高位在后。波特率固定为</a:t>
            </a:r>
            <a:r>
              <a:rPr lang="en-US" altLang="zh-CN" sz="2500" b="1" dirty="0">
                <a:latin typeface="楷体" panose="02010609060101010101" pitchFamily="49" charset="-122"/>
                <a:ea typeface="楷体" panose="02010609060101010101" pitchFamily="49" charset="-122"/>
              </a:rPr>
              <a:t>fosc/12</a:t>
            </a:r>
            <a:r>
              <a:rPr lang="zh-CN" altLang="en-US" sz="2500" b="1" dirty="0">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 </a:t>
            </a:r>
          </a:p>
          <a:p>
            <a:pPr>
              <a:spcBef>
                <a:spcPct val="20000"/>
              </a:spcBef>
              <a:buClr>
                <a:schemeClr val="hlink"/>
              </a:buClr>
              <a:buFont typeface="Wingdings" pitchFamily="2" charset="2"/>
              <a:buNone/>
            </a:pPr>
            <a:r>
              <a:rPr lang="zh-CN" altLang="en-US" sz="2500" b="1" dirty="0">
                <a:latin typeface="楷体" panose="02010609060101010101" pitchFamily="49" charset="-122"/>
                <a:ea typeface="楷体" panose="02010609060101010101" pitchFamily="49" charset="-122"/>
              </a:rPr>
              <a:t>  </a:t>
            </a:r>
            <a:r>
              <a:rPr lang="en-US" altLang="zh-CN" sz="2500" b="1" dirty="0">
                <a:solidFill>
                  <a:srgbClr val="DF5131"/>
                </a:solidFill>
                <a:latin typeface="楷体" panose="02010609060101010101" pitchFamily="49" charset="-122"/>
                <a:ea typeface="楷体" panose="02010609060101010101" pitchFamily="49" charset="-122"/>
              </a:rPr>
              <a:t>1</a:t>
            </a:r>
            <a:r>
              <a:rPr lang="zh-CN" altLang="en-US" sz="2500" b="1" dirty="0">
                <a:solidFill>
                  <a:srgbClr val="DF5131"/>
                </a:solidFill>
                <a:latin typeface="楷体" panose="02010609060101010101" pitchFamily="49" charset="-122"/>
                <a:ea typeface="楷体" panose="02010609060101010101" pitchFamily="49" charset="-122"/>
              </a:rPr>
              <a:t>、方式</a:t>
            </a:r>
            <a:r>
              <a:rPr lang="en-US" altLang="zh-CN" sz="2500" b="1" dirty="0">
                <a:solidFill>
                  <a:srgbClr val="DF5131"/>
                </a:solidFill>
                <a:latin typeface="楷体" panose="02010609060101010101" pitchFamily="49" charset="-122"/>
                <a:ea typeface="楷体" panose="02010609060101010101" pitchFamily="49" charset="-122"/>
              </a:rPr>
              <a:t>0</a:t>
            </a:r>
            <a:r>
              <a:rPr lang="zh-CN" altLang="en-US" sz="2500" b="1" dirty="0">
                <a:solidFill>
                  <a:srgbClr val="DF5131"/>
                </a:solidFill>
                <a:latin typeface="楷体" panose="02010609060101010101" pitchFamily="49" charset="-122"/>
                <a:ea typeface="楷体" panose="02010609060101010101" pitchFamily="49" charset="-122"/>
              </a:rPr>
              <a:t>输出</a:t>
            </a:r>
          </a:p>
        </p:txBody>
      </p:sp>
      <p:graphicFrame>
        <p:nvGraphicFramePr>
          <p:cNvPr id="4" name="Object 8">
            <a:extLst>
              <a:ext uri="{FF2B5EF4-FFF2-40B4-BE49-F238E27FC236}">
                <a16:creationId xmlns:a16="http://schemas.microsoft.com/office/drawing/2014/main" id="{27009B86-2D4D-591C-C2DA-259D258DE9D6}"/>
              </a:ext>
            </a:extLst>
          </p:cNvPr>
          <p:cNvGraphicFramePr>
            <a:graphicFrameLocks noChangeAspect="1"/>
          </p:cNvGraphicFramePr>
          <p:nvPr>
            <p:extLst>
              <p:ext uri="{D42A27DB-BD31-4B8C-83A1-F6EECF244321}">
                <p14:modId xmlns:p14="http://schemas.microsoft.com/office/powerpoint/2010/main" val="1637863412"/>
              </p:ext>
            </p:extLst>
          </p:nvPr>
        </p:nvGraphicFramePr>
        <p:xfrm>
          <a:off x="520700" y="4362279"/>
          <a:ext cx="8197850" cy="2197100"/>
        </p:xfrm>
        <a:graphic>
          <a:graphicData uri="http://schemas.openxmlformats.org/presentationml/2006/ole">
            <mc:AlternateContent xmlns:mc="http://schemas.openxmlformats.org/markup-compatibility/2006">
              <mc:Choice xmlns:v="urn:schemas-microsoft-com:vml" Requires="v">
                <p:oleObj name="Visio" r:id="rId3" imgW="2715816" imgH="858917" progId="">
                  <p:embed/>
                </p:oleObj>
              </mc:Choice>
              <mc:Fallback>
                <p:oleObj name="Visio" r:id="rId3" imgW="2715816" imgH="858917" progId="">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700" y="4362279"/>
                        <a:ext cx="8197850" cy="2197100"/>
                      </a:xfrm>
                      <a:prstGeom prst="rect">
                        <a:avLst/>
                      </a:prstGeom>
                      <a:solidFill>
                        <a:srgbClr val="99CCFF"/>
                      </a:solidFill>
                    </p:spPr>
                  </p:pic>
                </p:oleObj>
              </mc:Fallback>
            </mc:AlternateContent>
          </a:graphicData>
        </a:graphic>
      </p:graphicFrame>
    </p:spTree>
    <p:extLst>
      <p:ext uri="{BB962C8B-B14F-4D97-AF65-F5344CB8AC3E}">
        <p14:creationId xmlns:p14="http://schemas.microsoft.com/office/powerpoint/2010/main" val="3162042766"/>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9B0843BD-CAD2-1922-8D44-680804D45A7D}"/>
              </a:ext>
            </a:extLst>
          </p:cNvPr>
          <p:cNvSpPr>
            <a:spLocks noChangeArrowheads="1"/>
          </p:cNvSpPr>
          <p:nvPr/>
        </p:nvSpPr>
        <p:spPr bwMode="auto">
          <a:xfrm>
            <a:off x="468313" y="1448702"/>
            <a:ext cx="3240087" cy="503237"/>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800" b="1" dirty="0">
                <a:solidFill>
                  <a:srgbClr val="FF6600"/>
                </a:solidFill>
                <a:latin typeface="楷体" panose="02010609060101010101" pitchFamily="49" charset="-122"/>
                <a:ea typeface="楷体" panose="02010609060101010101" pitchFamily="49" charset="-122"/>
              </a:rPr>
              <a:t>2</a:t>
            </a:r>
            <a:r>
              <a:rPr lang="zh-CN" altLang="en-US" sz="2800" b="1" dirty="0">
                <a:solidFill>
                  <a:srgbClr val="FF6600"/>
                </a:solidFill>
                <a:latin typeface="楷体" panose="02010609060101010101" pitchFamily="49" charset="-122"/>
                <a:ea typeface="楷体" panose="02010609060101010101" pitchFamily="49" charset="-122"/>
              </a:rPr>
              <a:t>、方式</a:t>
            </a:r>
            <a:r>
              <a:rPr lang="en-US" altLang="zh-CN" sz="2800" b="1" dirty="0">
                <a:solidFill>
                  <a:srgbClr val="FF6600"/>
                </a:solidFill>
                <a:latin typeface="楷体" panose="02010609060101010101" pitchFamily="49" charset="-122"/>
                <a:ea typeface="楷体" panose="02010609060101010101" pitchFamily="49" charset="-122"/>
              </a:rPr>
              <a:t>0</a:t>
            </a:r>
            <a:r>
              <a:rPr lang="zh-CN" altLang="en-US" sz="2800" b="1" dirty="0">
                <a:solidFill>
                  <a:srgbClr val="FF6600"/>
                </a:solidFill>
                <a:latin typeface="楷体" panose="02010609060101010101" pitchFamily="49" charset="-122"/>
                <a:ea typeface="楷体" panose="02010609060101010101" pitchFamily="49" charset="-122"/>
              </a:rPr>
              <a:t>输入</a:t>
            </a:r>
          </a:p>
        </p:txBody>
      </p:sp>
      <p:graphicFrame>
        <p:nvGraphicFramePr>
          <p:cNvPr id="4" name="Object 6">
            <a:extLst>
              <a:ext uri="{FF2B5EF4-FFF2-40B4-BE49-F238E27FC236}">
                <a16:creationId xmlns:a16="http://schemas.microsoft.com/office/drawing/2014/main" id="{2AF80739-3AD4-023D-973E-F4BBA05096B3}"/>
              </a:ext>
            </a:extLst>
          </p:cNvPr>
          <p:cNvGraphicFramePr>
            <a:graphicFrameLocks noChangeAspect="1"/>
          </p:cNvGraphicFramePr>
          <p:nvPr>
            <p:extLst>
              <p:ext uri="{D42A27DB-BD31-4B8C-83A1-F6EECF244321}">
                <p14:modId xmlns:p14="http://schemas.microsoft.com/office/powerpoint/2010/main" val="3443182419"/>
              </p:ext>
            </p:extLst>
          </p:nvPr>
        </p:nvGraphicFramePr>
        <p:xfrm>
          <a:off x="409575" y="2504389"/>
          <a:ext cx="8486775" cy="2909888"/>
        </p:xfrm>
        <a:graphic>
          <a:graphicData uri="http://schemas.openxmlformats.org/presentationml/2006/ole">
            <mc:AlternateContent xmlns:mc="http://schemas.openxmlformats.org/markup-compatibility/2006">
              <mc:Choice xmlns:v="urn:schemas-microsoft-com:vml" Requires="v">
                <p:oleObj name="Visio" r:id="rId3" imgW="2718197" imgH="942022" progId="">
                  <p:embed/>
                </p:oleObj>
              </mc:Choice>
              <mc:Fallback>
                <p:oleObj name="Visio" r:id="rId3" imgW="2718197" imgH="942022" progId="">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75" y="2504389"/>
                        <a:ext cx="8486775" cy="2909888"/>
                      </a:xfrm>
                      <a:prstGeom prst="rect">
                        <a:avLst/>
                      </a:prstGeom>
                      <a:solidFill>
                        <a:srgbClr val="99CCFF"/>
                      </a:solidFill>
                    </p:spPr>
                  </p:pic>
                </p:oleObj>
              </mc:Fallback>
            </mc:AlternateContent>
          </a:graphicData>
        </a:graphic>
      </p:graphicFrame>
    </p:spTree>
    <p:extLst>
      <p:ext uri="{BB962C8B-B14F-4D97-AF65-F5344CB8AC3E}">
        <p14:creationId xmlns:p14="http://schemas.microsoft.com/office/powerpoint/2010/main" val="3557509058"/>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1B9D0777-1ABB-7B70-E0EC-9FDD957BD9AC}"/>
              </a:ext>
            </a:extLst>
          </p:cNvPr>
          <p:cNvSpPr>
            <a:spLocks noChangeArrowheads="1"/>
          </p:cNvSpPr>
          <p:nvPr/>
        </p:nvSpPr>
        <p:spPr bwMode="auto">
          <a:xfrm>
            <a:off x="494485" y="1118971"/>
            <a:ext cx="8424863" cy="1728787"/>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800" b="1" dirty="0">
                <a:solidFill>
                  <a:srgbClr val="0000FF"/>
                </a:solidFill>
                <a:latin typeface="楷体" panose="02010609060101010101" pitchFamily="49" charset="-122"/>
                <a:ea typeface="楷体" panose="02010609060101010101" pitchFamily="49" charset="-122"/>
              </a:rPr>
              <a:t>二、方式</a:t>
            </a:r>
            <a:r>
              <a:rPr lang="en-US" altLang="zh-CN" sz="2800" b="1" dirty="0">
                <a:solidFill>
                  <a:srgbClr val="0000FF"/>
                </a:solidFill>
                <a:latin typeface="楷体" panose="02010609060101010101" pitchFamily="49" charset="-122"/>
                <a:ea typeface="楷体" panose="02010609060101010101" pitchFamily="49" charset="-122"/>
              </a:rPr>
              <a:t>1</a:t>
            </a:r>
          </a:p>
          <a:p>
            <a:pPr>
              <a:spcBef>
                <a:spcPct val="20000"/>
              </a:spcBef>
              <a:buClr>
                <a:schemeClr val="hlink"/>
              </a:buClr>
              <a:buFont typeface="Wingdings" pitchFamily="2" charset="2"/>
              <a:buNone/>
            </a:pP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方式</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是</a:t>
            </a:r>
            <a:r>
              <a:rPr lang="en-US" altLang="zh-CN" sz="2400" b="1" dirty="0">
                <a:latin typeface="楷体" panose="02010609060101010101" pitchFamily="49" charset="-122"/>
                <a:ea typeface="楷体" panose="02010609060101010101" pitchFamily="49" charset="-122"/>
              </a:rPr>
              <a:t>10</a:t>
            </a:r>
            <a:r>
              <a:rPr lang="zh-CN" altLang="en-US" sz="2400" b="1" dirty="0">
                <a:latin typeface="楷体" panose="02010609060101010101" pitchFamily="49" charset="-122"/>
                <a:ea typeface="楷体" panose="02010609060101010101" pitchFamily="49" charset="-122"/>
              </a:rPr>
              <a:t>位数据的异步通信口。</a:t>
            </a:r>
            <a:r>
              <a:rPr lang="en-US" altLang="zh-CN" sz="2400" b="1" dirty="0">
                <a:latin typeface="楷体" panose="02010609060101010101" pitchFamily="49" charset="-122"/>
                <a:ea typeface="楷体" panose="02010609060101010101" pitchFamily="49" charset="-122"/>
              </a:rPr>
              <a:t>TXD</a:t>
            </a:r>
            <a:r>
              <a:rPr lang="zh-CN" altLang="en-US" sz="2400" b="1" dirty="0">
                <a:latin typeface="楷体" panose="02010609060101010101" pitchFamily="49" charset="-122"/>
                <a:ea typeface="楷体" panose="02010609060101010101" pitchFamily="49" charset="-122"/>
              </a:rPr>
              <a:t>为数据发送引脚，</a:t>
            </a:r>
            <a:r>
              <a:rPr lang="en-US" altLang="zh-CN" sz="2400" b="1" dirty="0">
                <a:latin typeface="楷体" panose="02010609060101010101" pitchFamily="49" charset="-122"/>
                <a:ea typeface="楷体" panose="02010609060101010101" pitchFamily="49" charset="-122"/>
              </a:rPr>
              <a:t>RXD</a:t>
            </a:r>
            <a:r>
              <a:rPr lang="zh-CN" altLang="en-US" sz="2400" b="1" dirty="0">
                <a:latin typeface="楷体" panose="02010609060101010101" pitchFamily="49" charset="-122"/>
                <a:ea typeface="楷体" panose="02010609060101010101" pitchFamily="49" charset="-122"/>
              </a:rPr>
              <a:t>为数据接收引脚，传送一帧数据的格式如图所示。其中</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位起始位，</a:t>
            </a:r>
            <a:r>
              <a:rPr lang="en-US" altLang="zh-CN" sz="2400" b="1" dirty="0">
                <a:latin typeface="楷体" panose="02010609060101010101" pitchFamily="49" charset="-122"/>
                <a:ea typeface="楷体" panose="02010609060101010101" pitchFamily="49" charset="-122"/>
              </a:rPr>
              <a:t>8</a:t>
            </a:r>
            <a:r>
              <a:rPr lang="zh-CN" altLang="en-US" sz="2400" b="1" dirty="0">
                <a:latin typeface="楷体" panose="02010609060101010101" pitchFamily="49" charset="-122"/>
                <a:ea typeface="楷体" panose="02010609060101010101" pitchFamily="49" charset="-122"/>
              </a:rPr>
              <a:t>位数据位，</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位停止位。  </a:t>
            </a:r>
          </a:p>
        </p:txBody>
      </p:sp>
      <p:graphicFrame>
        <p:nvGraphicFramePr>
          <p:cNvPr id="4" name="Object 6">
            <a:extLst>
              <a:ext uri="{FF2B5EF4-FFF2-40B4-BE49-F238E27FC236}">
                <a16:creationId xmlns:a16="http://schemas.microsoft.com/office/drawing/2014/main" id="{82C13489-680D-4504-F11E-A680A5842193}"/>
              </a:ext>
            </a:extLst>
          </p:cNvPr>
          <p:cNvGraphicFramePr>
            <a:graphicFrameLocks noChangeAspect="1"/>
          </p:cNvGraphicFramePr>
          <p:nvPr>
            <p:extLst>
              <p:ext uri="{D42A27DB-BD31-4B8C-83A1-F6EECF244321}">
                <p14:modId xmlns:p14="http://schemas.microsoft.com/office/powerpoint/2010/main" val="3326310035"/>
              </p:ext>
            </p:extLst>
          </p:nvPr>
        </p:nvGraphicFramePr>
        <p:xfrm>
          <a:off x="380185" y="2820771"/>
          <a:ext cx="8308975" cy="1965325"/>
        </p:xfrm>
        <a:graphic>
          <a:graphicData uri="http://schemas.openxmlformats.org/presentationml/2006/ole">
            <mc:AlternateContent xmlns:mc="http://schemas.openxmlformats.org/markup-compatibility/2006">
              <mc:Choice xmlns:v="urn:schemas-microsoft-com:vml" Requires="v">
                <p:oleObj name="Visio" r:id="rId3" imgW="2596753" imgH="804624" progId="">
                  <p:embed/>
                </p:oleObj>
              </mc:Choice>
              <mc:Fallback>
                <p:oleObj name="Visio" r:id="rId3" imgW="2596753" imgH="804624" progId="">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185" y="2820771"/>
                        <a:ext cx="8308975" cy="1965325"/>
                      </a:xfrm>
                      <a:prstGeom prst="rect">
                        <a:avLst/>
                      </a:prstGeom>
                      <a:solidFill>
                        <a:srgbClr val="CCFFFF"/>
                      </a:solidFill>
                    </p:spPr>
                  </p:pic>
                </p:oleObj>
              </mc:Fallback>
            </mc:AlternateContent>
          </a:graphicData>
        </a:graphic>
      </p:graphicFrame>
      <p:sp>
        <p:nvSpPr>
          <p:cNvPr id="5" name="Rectangle 7">
            <a:extLst>
              <a:ext uri="{FF2B5EF4-FFF2-40B4-BE49-F238E27FC236}">
                <a16:creationId xmlns:a16="http://schemas.microsoft.com/office/drawing/2014/main" id="{5C875941-6B55-3A67-0AF8-07AA8AA726E0}"/>
              </a:ext>
            </a:extLst>
          </p:cNvPr>
          <p:cNvSpPr>
            <a:spLocks noChangeArrowheads="1"/>
          </p:cNvSpPr>
          <p:nvPr/>
        </p:nvSpPr>
        <p:spPr bwMode="auto">
          <a:xfrm>
            <a:off x="442098" y="4775627"/>
            <a:ext cx="2773362" cy="503237"/>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a:t>
            </a:r>
            <a:r>
              <a:rPr lang="en-US" altLang="zh-CN" sz="2400" b="1" dirty="0">
                <a:solidFill>
                  <a:srgbClr val="FF6600"/>
                </a:solidFill>
                <a:latin typeface="楷体" panose="02010609060101010101" pitchFamily="49" charset="-122"/>
                <a:ea typeface="楷体" panose="02010609060101010101" pitchFamily="49" charset="-122"/>
              </a:rPr>
              <a:t>1</a:t>
            </a:r>
            <a:r>
              <a:rPr lang="zh-CN" altLang="en-US" sz="2400" b="1" dirty="0">
                <a:solidFill>
                  <a:srgbClr val="FF6600"/>
                </a:solidFill>
                <a:latin typeface="楷体" panose="02010609060101010101" pitchFamily="49" charset="-122"/>
                <a:ea typeface="楷体" panose="02010609060101010101" pitchFamily="49" charset="-122"/>
              </a:rPr>
              <a:t>、方式</a:t>
            </a:r>
            <a:r>
              <a:rPr lang="en-US" altLang="zh-CN" sz="2400" b="1" dirty="0">
                <a:solidFill>
                  <a:srgbClr val="FF6600"/>
                </a:solidFill>
                <a:latin typeface="楷体" panose="02010609060101010101" pitchFamily="49" charset="-122"/>
                <a:ea typeface="楷体" panose="02010609060101010101" pitchFamily="49" charset="-122"/>
              </a:rPr>
              <a:t>1</a:t>
            </a:r>
            <a:r>
              <a:rPr lang="zh-CN" altLang="en-US" sz="2400" b="1" dirty="0">
                <a:solidFill>
                  <a:srgbClr val="FF6600"/>
                </a:solidFill>
                <a:latin typeface="楷体" panose="02010609060101010101" pitchFamily="49" charset="-122"/>
                <a:ea typeface="楷体" panose="02010609060101010101" pitchFamily="49" charset="-122"/>
              </a:rPr>
              <a:t>输出</a:t>
            </a:r>
          </a:p>
        </p:txBody>
      </p:sp>
      <p:graphicFrame>
        <p:nvGraphicFramePr>
          <p:cNvPr id="6" name="Object 8">
            <a:extLst>
              <a:ext uri="{FF2B5EF4-FFF2-40B4-BE49-F238E27FC236}">
                <a16:creationId xmlns:a16="http://schemas.microsoft.com/office/drawing/2014/main" id="{7C1E1DD4-4086-0E6C-F968-3C613EACD2D4}"/>
              </a:ext>
            </a:extLst>
          </p:cNvPr>
          <p:cNvGraphicFramePr>
            <a:graphicFrameLocks noChangeAspect="1"/>
          </p:cNvGraphicFramePr>
          <p:nvPr>
            <p:extLst>
              <p:ext uri="{D42A27DB-BD31-4B8C-83A1-F6EECF244321}">
                <p14:modId xmlns:p14="http://schemas.microsoft.com/office/powerpoint/2010/main" val="3745913883"/>
              </p:ext>
            </p:extLst>
          </p:nvPr>
        </p:nvGraphicFramePr>
        <p:xfrm>
          <a:off x="711973" y="5282211"/>
          <a:ext cx="7343775" cy="1455737"/>
        </p:xfrm>
        <a:graphic>
          <a:graphicData uri="http://schemas.openxmlformats.org/presentationml/2006/ole">
            <mc:AlternateContent xmlns:mc="http://schemas.openxmlformats.org/markup-compatibility/2006">
              <mc:Choice xmlns:v="urn:schemas-microsoft-com:vml" Requires="v">
                <p:oleObj name="Visio" r:id="rId5" imgW="3103721" imgH="632698" progId="">
                  <p:embed/>
                </p:oleObj>
              </mc:Choice>
              <mc:Fallback>
                <p:oleObj name="Visio" r:id="rId5" imgW="3103721" imgH="632698" progId="">
                  <p:embed/>
                  <p:pic>
                    <p:nvPicPr>
                      <p:cNvPr id="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973" y="5282211"/>
                        <a:ext cx="7343775" cy="1455737"/>
                      </a:xfrm>
                      <a:prstGeom prst="rect">
                        <a:avLst/>
                      </a:prstGeom>
                      <a:solidFill>
                        <a:srgbClr val="99CCFF"/>
                      </a:solidFill>
                    </p:spPr>
                  </p:pic>
                </p:oleObj>
              </mc:Fallback>
            </mc:AlternateContent>
          </a:graphicData>
        </a:graphic>
      </p:graphicFrame>
    </p:spTree>
    <p:extLst>
      <p:ext uri="{BB962C8B-B14F-4D97-AF65-F5344CB8AC3E}">
        <p14:creationId xmlns:p14="http://schemas.microsoft.com/office/powerpoint/2010/main" val="4272592680"/>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79218B43-8676-2790-3051-74FD85ACDE77}"/>
              </a:ext>
            </a:extLst>
          </p:cNvPr>
          <p:cNvSpPr>
            <a:spLocks noChangeArrowheads="1"/>
          </p:cNvSpPr>
          <p:nvPr/>
        </p:nvSpPr>
        <p:spPr bwMode="auto">
          <a:xfrm>
            <a:off x="98425" y="1124207"/>
            <a:ext cx="2952750" cy="50323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800" b="1" dirty="0">
                <a:solidFill>
                  <a:srgbClr val="FF6600"/>
                </a:solidFill>
                <a:latin typeface="楷体" panose="02010609060101010101" pitchFamily="49" charset="-122"/>
                <a:ea typeface="楷体" panose="02010609060101010101" pitchFamily="49" charset="-122"/>
              </a:rPr>
              <a:t>2</a:t>
            </a:r>
            <a:r>
              <a:rPr lang="zh-CN" altLang="en-US" sz="2800" b="1" dirty="0">
                <a:solidFill>
                  <a:srgbClr val="FF6600"/>
                </a:solidFill>
                <a:latin typeface="楷体" panose="02010609060101010101" pitchFamily="49" charset="-122"/>
                <a:ea typeface="楷体" panose="02010609060101010101" pitchFamily="49" charset="-122"/>
              </a:rPr>
              <a:t>、方式</a:t>
            </a:r>
            <a:r>
              <a:rPr lang="en-US" altLang="zh-CN" sz="2800" b="1" dirty="0">
                <a:solidFill>
                  <a:srgbClr val="FF6600"/>
                </a:solidFill>
                <a:latin typeface="楷体" panose="02010609060101010101" pitchFamily="49" charset="-122"/>
                <a:ea typeface="楷体" panose="02010609060101010101" pitchFamily="49" charset="-122"/>
              </a:rPr>
              <a:t>1</a:t>
            </a:r>
            <a:r>
              <a:rPr lang="zh-CN" altLang="en-US" sz="2800" b="1" dirty="0">
                <a:solidFill>
                  <a:srgbClr val="FF6600"/>
                </a:solidFill>
                <a:latin typeface="楷体" panose="02010609060101010101" pitchFamily="49" charset="-122"/>
                <a:ea typeface="楷体" panose="02010609060101010101" pitchFamily="49" charset="-122"/>
              </a:rPr>
              <a:t>输入</a:t>
            </a:r>
          </a:p>
        </p:txBody>
      </p:sp>
      <p:sp>
        <p:nvSpPr>
          <p:cNvPr id="4" name="Rectangle 6">
            <a:extLst>
              <a:ext uri="{FF2B5EF4-FFF2-40B4-BE49-F238E27FC236}">
                <a16:creationId xmlns:a16="http://schemas.microsoft.com/office/drawing/2014/main" id="{D1987B8B-B8E0-4D2B-C8CD-5C7F9F05D6BE}"/>
              </a:ext>
            </a:extLst>
          </p:cNvPr>
          <p:cNvSpPr>
            <a:spLocks noChangeArrowheads="1"/>
          </p:cNvSpPr>
          <p:nvPr/>
        </p:nvSpPr>
        <p:spPr bwMode="auto">
          <a:xfrm>
            <a:off x="203200" y="3411795"/>
            <a:ext cx="8893175" cy="3303587"/>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a:t>
            </a:r>
            <a:r>
              <a:rPr lang="zh-CN" altLang="en-US" sz="2500" b="1" dirty="0">
                <a:latin typeface="楷体" panose="02010609060101010101" pitchFamily="49" charset="-122"/>
                <a:ea typeface="楷体" panose="02010609060101010101" pitchFamily="49" charset="-122"/>
              </a:rPr>
              <a:t>用软件置</a:t>
            </a:r>
            <a:r>
              <a:rPr lang="en-US" altLang="zh-CN" sz="2500" b="1" dirty="0">
                <a:latin typeface="楷体" panose="02010609060101010101" pitchFamily="49" charset="-122"/>
                <a:ea typeface="楷体" panose="02010609060101010101" pitchFamily="49" charset="-122"/>
              </a:rPr>
              <a:t>REN</a:t>
            </a:r>
            <a:r>
              <a:rPr lang="zh-CN" altLang="en-US" sz="2500" b="1" dirty="0">
                <a:latin typeface="楷体" panose="02010609060101010101" pitchFamily="49" charset="-122"/>
                <a:ea typeface="楷体" panose="02010609060101010101" pitchFamily="49" charset="-122"/>
              </a:rPr>
              <a:t>为</a:t>
            </a:r>
            <a:r>
              <a:rPr lang="en-US" altLang="zh-CN" sz="2500" b="1" dirty="0">
                <a:latin typeface="楷体" panose="02010609060101010101" pitchFamily="49" charset="-122"/>
                <a:ea typeface="楷体" panose="02010609060101010101" pitchFamily="49" charset="-122"/>
              </a:rPr>
              <a:t>1</a:t>
            </a:r>
            <a:r>
              <a:rPr lang="zh-CN" altLang="en-US" sz="2500" b="1" dirty="0">
                <a:latin typeface="楷体" panose="02010609060101010101" pitchFamily="49" charset="-122"/>
                <a:ea typeface="楷体" panose="02010609060101010101" pitchFamily="49" charset="-122"/>
              </a:rPr>
              <a:t>时，接收器以所选择波特率的</a:t>
            </a:r>
            <a:r>
              <a:rPr lang="en-US" altLang="zh-CN" sz="2500" b="1" dirty="0">
                <a:latin typeface="楷体" panose="02010609060101010101" pitchFamily="49" charset="-122"/>
                <a:ea typeface="楷体" panose="02010609060101010101" pitchFamily="49" charset="-122"/>
              </a:rPr>
              <a:t>16</a:t>
            </a:r>
            <a:r>
              <a:rPr lang="zh-CN" altLang="en-US" sz="2500" b="1" dirty="0">
                <a:latin typeface="楷体" panose="02010609060101010101" pitchFamily="49" charset="-122"/>
                <a:ea typeface="楷体" panose="02010609060101010101" pitchFamily="49" charset="-122"/>
              </a:rPr>
              <a:t>倍速率采样</a:t>
            </a:r>
            <a:r>
              <a:rPr lang="en-US" altLang="zh-CN" sz="2500" b="1" dirty="0">
                <a:latin typeface="楷体" panose="02010609060101010101" pitchFamily="49" charset="-122"/>
                <a:ea typeface="楷体" panose="02010609060101010101" pitchFamily="49" charset="-122"/>
              </a:rPr>
              <a:t>RXD</a:t>
            </a:r>
            <a:r>
              <a:rPr lang="zh-CN" altLang="en-US" sz="2500" b="1" dirty="0">
                <a:latin typeface="楷体" panose="02010609060101010101" pitchFamily="49" charset="-122"/>
                <a:ea typeface="楷体" panose="02010609060101010101" pitchFamily="49" charset="-122"/>
              </a:rPr>
              <a:t>引脚电平，检测到</a:t>
            </a:r>
            <a:r>
              <a:rPr lang="en-US" altLang="zh-CN" sz="2500" b="1" dirty="0">
                <a:latin typeface="楷体" panose="02010609060101010101" pitchFamily="49" charset="-122"/>
                <a:ea typeface="楷体" panose="02010609060101010101" pitchFamily="49" charset="-122"/>
              </a:rPr>
              <a:t>RXD</a:t>
            </a:r>
            <a:r>
              <a:rPr lang="zh-CN" altLang="en-US" sz="2500" b="1" dirty="0">
                <a:latin typeface="楷体" panose="02010609060101010101" pitchFamily="49" charset="-122"/>
                <a:ea typeface="楷体" panose="02010609060101010101" pitchFamily="49" charset="-122"/>
              </a:rPr>
              <a:t>引脚输入电平发生负跳变时，则说明起始位有效，将其移入输入移位寄存器，并开始接收这一帧信息的其余位。接收过程中，数据从输入移位寄存器右边移入，起始位移至输入移位寄存器最左边时，控制电路进行最后一次移位。当</a:t>
            </a:r>
            <a:r>
              <a:rPr lang="en-US" altLang="zh-CN" sz="2500" b="1" dirty="0">
                <a:latin typeface="楷体" panose="02010609060101010101" pitchFamily="49" charset="-122"/>
                <a:ea typeface="楷体" panose="02010609060101010101" pitchFamily="49" charset="-122"/>
              </a:rPr>
              <a:t>RI=0</a:t>
            </a:r>
            <a:r>
              <a:rPr lang="zh-CN" altLang="en-US" sz="2500" b="1" dirty="0">
                <a:latin typeface="楷体" panose="02010609060101010101" pitchFamily="49" charset="-122"/>
                <a:ea typeface="楷体" panose="02010609060101010101" pitchFamily="49" charset="-122"/>
              </a:rPr>
              <a:t>，且</a:t>
            </a:r>
            <a:r>
              <a:rPr lang="en-US" altLang="zh-CN" sz="2500" b="1" dirty="0">
                <a:latin typeface="楷体" panose="02010609060101010101" pitchFamily="49" charset="-122"/>
                <a:ea typeface="楷体" panose="02010609060101010101" pitchFamily="49" charset="-122"/>
              </a:rPr>
              <a:t>SM2=0</a:t>
            </a:r>
            <a:r>
              <a:rPr lang="zh-CN" altLang="en-US" sz="2500" b="1" dirty="0">
                <a:latin typeface="楷体" panose="02010609060101010101" pitchFamily="49" charset="-122"/>
                <a:ea typeface="楷体" panose="02010609060101010101" pitchFamily="49" charset="-122"/>
              </a:rPr>
              <a:t>（或接收到的停止位为</a:t>
            </a:r>
            <a:r>
              <a:rPr lang="en-US" altLang="zh-CN" sz="2500" b="1" dirty="0">
                <a:latin typeface="楷体" panose="02010609060101010101" pitchFamily="49" charset="-122"/>
                <a:ea typeface="楷体" panose="02010609060101010101" pitchFamily="49" charset="-122"/>
              </a:rPr>
              <a:t>1</a:t>
            </a:r>
            <a:r>
              <a:rPr lang="zh-CN" altLang="en-US" sz="2500" b="1" dirty="0">
                <a:latin typeface="楷体" panose="02010609060101010101" pitchFamily="49" charset="-122"/>
                <a:ea typeface="楷体" panose="02010609060101010101" pitchFamily="49" charset="-122"/>
              </a:rPr>
              <a:t>）时，将接收到的</a:t>
            </a:r>
            <a:r>
              <a:rPr lang="en-US" altLang="zh-CN" sz="2500" b="1" dirty="0">
                <a:latin typeface="楷体" panose="02010609060101010101" pitchFamily="49" charset="-122"/>
                <a:ea typeface="楷体" panose="02010609060101010101" pitchFamily="49" charset="-122"/>
              </a:rPr>
              <a:t>9</a:t>
            </a:r>
            <a:r>
              <a:rPr lang="zh-CN" altLang="en-US" sz="2500" b="1" dirty="0">
                <a:latin typeface="楷体" panose="02010609060101010101" pitchFamily="49" charset="-122"/>
                <a:ea typeface="楷体" panose="02010609060101010101" pitchFamily="49" charset="-122"/>
              </a:rPr>
              <a:t>位数据的前</a:t>
            </a:r>
            <a:r>
              <a:rPr lang="en-US" altLang="zh-CN" sz="2500" b="1" dirty="0">
                <a:latin typeface="楷体" panose="02010609060101010101" pitchFamily="49" charset="-122"/>
                <a:ea typeface="楷体" panose="02010609060101010101" pitchFamily="49" charset="-122"/>
              </a:rPr>
              <a:t>8</a:t>
            </a:r>
            <a:r>
              <a:rPr lang="zh-CN" altLang="en-US" sz="2500" b="1" dirty="0">
                <a:latin typeface="楷体" panose="02010609060101010101" pitchFamily="49" charset="-122"/>
                <a:ea typeface="楷体" panose="02010609060101010101" pitchFamily="49" charset="-122"/>
              </a:rPr>
              <a:t>位数据装入接收</a:t>
            </a:r>
            <a:r>
              <a:rPr lang="en-US" altLang="zh-CN" sz="2500" b="1" dirty="0">
                <a:latin typeface="楷体" panose="02010609060101010101" pitchFamily="49" charset="-122"/>
                <a:ea typeface="楷体" panose="02010609060101010101" pitchFamily="49" charset="-122"/>
              </a:rPr>
              <a:t>SBUF</a:t>
            </a:r>
            <a:r>
              <a:rPr lang="zh-CN" altLang="en-US" sz="2500" b="1" dirty="0">
                <a:latin typeface="楷体" panose="02010609060101010101" pitchFamily="49" charset="-122"/>
                <a:ea typeface="楷体" panose="02010609060101010101" pitchFamily="49" charset="-122"/>
              </a:rPr>
              <a:t>，第</a:t>
            </a:r>
            <a:r>
              <a:rPr lang="en-US" altLang="zh-CN" sz="2500" b="1" dirty="0">
                <a:latin typeface="楷体" panose="02010609060101010101" pitchFamily="49" charset="-122"/>
                <a:ea typeface="楷体" panose="02010609060101010101" pitchFamily="49" charset="-122"/>
              </a:rPr>
              <a:t>9</a:t>
            </a:r>
            <a:r>
              <a:rPr lang="zh-CN" altLang="en-US" sz="2500" b="1" dirty="0">
                <a:latin typeface="楷体" panose="02010609060101010101" pitchFamily="49" charset="-122"/>
                <a:ea typeface="楷体" panose="02010609060101010101" pitchFamily="49" charset="-122"/>
              </a:rPr>
              <a:t>位（停止位）进入</a:t>
            </a:r>
            <a:r>
              <a:rPr lang="en-US" altLang="zh-CN" sz="2500" b="1" dirty="0">
                <a:latin typeface="楷体" panose="02010609060101010101" pitchFamily="49" charset="-122"/>
                <a:ea typeface="楷体" panose="02010609060101010101" pitchFamily="49" charset="-122"/>
              </a:rPr>
              <a:t>RB8</a:t>
            </a:r>
            <a:r>
              <a:rPr lang="zh-CN" altLang="en-US" sz="2500" b="1" dirty="0">
                <a:latin typeface="楷体" panose="02010609060101010101" pitchFamily="49" charset="-122"/>
                <a:ea typeface="楷体" panose="02010609060101010101" pitchFamily="49" charset="-122"/>
              </a:rPr>
              <a:t>，并置</a:t>
            </a:r>
            <a:r>
              <a:rPr lang="en-US" altLang="zh-CN" sz="2500" b="1" dirty="0">
                <a:latin typeface="楷体" panose="02010609060101010101" pitchFamily="49" charset="-122"/>
                <a:ea typeface="楷体" panose="02010609060101010101" pitchFamily="49" charset="-122"/>
              </a:rPr>
              <a:t>RI=1</a:t>
            </a:r>
            <a:r>
              <a:rPr lang="zh-CN" altLang="en-US" sz="2500" b="1" dirty="0">
                <a:latin typeface="楷体" panose="02010609060101010101" pitchFamily="49" charset="-122"/>
                <a:ea typeface="楷体" panose="02010609060101010101" pitchFamily="49" charset="-122"/>
              </a:rPr>
              <a:t>，向</a:t>
            </a:r>
            <a:r>
              <a:rPr lang="en-US" altLang="zh-CN" sz="2500" b="1" dirty="0">
                <a:latin typeface="楷体" panose="02010609060101010101" pitchFamily="49" charset="-122"/>
                <a:ea typeface="楷体" panose="02010609060101010101" pitchFamily="49" charset="-122"/>
              </a:rPr>
              <a:t>CPU</a:t>
            </a:r>
            <a:r>
              <a:rPr lang="zh-CN" altLang="en-US" sz="2500" b="1" dirty="0">
                <a:latin typeface="楷体" panose="02010609060101010101" pitchFamily="49" charset="-122"/>
                <a:ea typeface="楷体" panose="02010609060101010101" pitchFamily="49" charset="-122"/>
              </a:rPr>
              <a:t>请求中断。</a:t>
            </a:r>
          </a:p>
        </p:txBody>
      </p:sp>
      <p:graphicFrame>
        <p:nvGraphicFramePr>
          <p:cNvPr id="5" name="Object 7">
            <a:extLst>
              <a:ext uri="{FF2B5EF4-FFF2-40B4-BE49-F238E27FC236}">
                <a16:creationId xmlns:a16="http://schemas.microsoft.com/office/drawing/2014/main" id="{FEA5CEA3-E385-1FBC-E10E-508CFC49D0D1}"/>
              </a:ext>
            </a:extLst>
          </p:cNvPr>
          <p:cNvGraphicFramePr>
            <a:graphicFrameLocks noChangeAspect="1"/>
          </p:cNvGraphicFramePr>
          <p:nvPr>
            <p:extLst>
              <p:ext uri="{D42A27DB-BD31-4B8C-83A1-F6EECF244321}">
                <p14:modId xmlns:p14="http://schemas.microsoft.com/office/powerpoint/2010/main" val="3629935358"/>
              </p:ext>
            </p:extLst>
          </p:nvPr>
        </p:nvGraphicFramePr>
        <p:xfrm>
          <a:off x="598488" y="1675070"/>
          <a:ext cx="8088312" cy="1636712"/>
        </p:xfrm>
        <a:graphic>
          <a:graphicData uri="http://schemas.openxmlformats.org/presentationml/2006/ole">
            <mc:AlternateContent xmlns:mc="http://schemas.openxmlformats.org/markup-compatibility/2006">
              <mc:Choice xmlns:v="urn:schemas-microsoft-com:vml" Requires="v">
                <p:oleObj name="Visio" r:id="rId3" imgW="3120628" imgH="626745" progId="">
                  <p:embed/>
                </p:oleObj>
              </mc:Choice>
              <mc:Fallback>
                <p:oleObj name="Visio" r:id="rId3" imgW="3120628" imgH="626745" progId="">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675070"/>
                        <a:ext cx="8088312" cy="1636712"/>
                      </a:xfrm>
                      <a:prstGeom prst="rect">
                        <a:avLst/>
                      </a:prstGeom>
                      <a:solidFill>
                        <a:srgbClr val="99CCFF"/>
                      </a:solidFill>
                    </p:spPr>
                  </p:pic>
                </p:oleObj>
              </mc:Fallback>
            </mc:AlternateContent>
          </a:graphicData>
        </a:graphic>
      </p:graphicFrame>
    </p:spTree>
    <p:extLst>
      <p:ext uri="{BB962C8B-B14F-4D97-AF65-F5344CB8AC3E}">
        <p14:creationId xmlns:p14="http://schemas.microsoft.com/office/powerpoint/2010/main" val="846638102"/>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D914A45F-24B5-E026-12EF-A239A2793FDF}"/>
              </a:ext>
            </a:extLst>
          </p:cNvPr>
          <p:cNvSpPr>
            <a:spLocks noChangeArrowheads="1"/>
          </p:cNvSpPr>
          <p:nvPr/>
        </p:nvSpPr>
        <p:spPr bwMode="auto">
          <a:xfrm>
            <a:off x="468313" y="1116914"/>
            <a:ext cx="8424862" cy="151288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800" b="1" dirty="0">
                <a:solidFill>
                  <a:srgbClr val="0000FF"/>
                </a:solidFill>
                <a:latin typeface="楷体" panose="02010609060101010101" pitchFamily="49" charset="-122"/>
                <a:ea typeface="楷体" panose="02010609060101010101" pitchFamily="49" charset="-122"/>
              </a:rPr>
              <a:t>三、方式</a:t>
            </a:r>
            <a:r>
              <a:rPr lang="en-US" altLang="zh-CN" sz="2800" b="1" dirty="0">
                <a:solidFill>
                  <a:srgbClr val="0000FF"/>
                </a:solidFill>
                <a:latin typeface="楷体" panose="02010609060101010101" pitchFamily="49" charset="-122"/>
                <a:ea typeface="楷体" panose="02010609060101010101" pitchFamily="49" charset="-122"/>
              </a:rPr>
              <a:t>2</a:t>
            </a:r>
            <a:r>
              <a:rPr lang="zh-CN" altLang="en-US" sz="2800" b="1" dirty="0">
                <a:solidFill>
                  <a:srgbClr val="0000FF"/>
                </a:solidFill>
                <a:latin typeface="楷体" panose="02010609060101010101" pitchFamily="49" charset="-122"/>
                <a:ea typeface="楷体" panose="02010609060101010101" pitchFamily="49" charset="-122"/>
              </a:rPr>
              <a:t>和方式</a:t>
            </a:r>
            <a:r>
              <a:rPr lang="en-US" altLang="zh-CN" sz="2800" b="1" dirty="0">
                <a:solidFill>
                  <a:srgbClr val="0000FF"/>
                </a:solidFill>
                <a:latin typeface="楷体" panose="02010609060101010101" pitchFamily="49" charset="-122"/>
                <a:ea typeface="楷体" panose="02010609060101010101" pitchFamily="49" charset="-122"/>
              </a:rPr>
              <a:t>3</a:t>
            </a:r>
          </a:p>
          <a:p>
            <a:pPr>
              <a:spcBef>
                <a:spcPct val="20000"/>
              </a:spcBef>
              <a:buClr>
                <a:schemeClr val="hlink"/>
              </a:buClr>
              <a:buFont typeface="Wingdings" pitchFamily="2" charset="2"/>
              <a:buNone/>
            </a:pPr>
            <a:r>
              <a:rPr lang="en-US" altLang="zh-CN" sz="2400" b="1" dirty="0">
                <a:solidFill>
                  <a:srgbClr val="00CCFF"/>
                </a:solidFill>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方式</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或方式</a:t>
            </a: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时为</a:t>
            </a:r>
            <a:r>
              <a:rPr lang="en-US" altLang="zh-CN" sz="2400" b="1" dirty="0">
                <a:latin typeface="楷体" panose="02010609060101010101" pitchFamily="49" charset="-122"/>
                <a:ea typeface="楷体" panose="02010609060101010101" pitchFamily="49" charset="-122"/>
              </a:rPr>
              <a:t>11</a:t>
            </a:r>
            <a:r>
              <a:rPr lang="zh-CN" altLang="en-US" sz="2400" b="1" dirty="0">
                <a:latin typeface="楷体" panose="02010609060101010101" pitchFamily="49" charset="-122"/>
                <a:ea typeface="楷体" panose="02010609060101010101" pitchFamily="49" charset="-122"/>
              </a:rPr>
              <a:t>位数据的异步通信口。</a:t>
            </a:r>
            <a:r>
              <a:rPr lang="en-US" altLang="zh-CN" sz="2400" b="1" dirty="0">
                <a:latin typeface="楷体" panose="02010609060101010101" pitchFamily="49" charset="-122"/>
                <a:ea typeface="楷体" panose="02010609060101010101" pitchFamily="49" charset="-122"/>
              </a:rPr>
              <a:t>TXD</a:t>
            </a:r>
            <a:r>
              <a:rPr lang="zh-CN" altLang="en-US" sz="2400" b="1" dirty="0">
                <a:latin typeface="楷体" panose="02010609060101010101" pitchFamily="49" charset="-122"/>
                <a:ea typeface="楷体" panose="02010609060101010101" pitchFamily="49" charset="-122"/>
              </a:rPr>
              <a:t>为数据发送引脚，</a:t>
            </a:r>
            <a:r>
              <a:rPr lang="en-US" altLang="zh-CN" sz="2400" b="1" dirty="0">
                <a:latin typeface="楷体" panose="02010609060101010101" pitchFamily="49" charset="-122"/>
                <a:ea typeface="楷体" panose="02010609060101010101" pitchFamily="49" charset="-122"/>
              </a:rPr>
              <a:t>RXD</a:t>
            </a:r>
            <a:r>
              <a:rPr lang="zh-CN" altLang="en-US" sz="2400" b="1" dirty="0">
                <a:latin typeface="楷体" panose="02010609060101010101" pitchFamily="49" charset="-122"/>
                <a:ea typeface="楷体" panose="02010609060101010101" pitchFamily="49" charset="-122"/>
              </a:rPr>
              <a:t>为数据接收引脚</a:t>
            </a:r>
            <a:r>
              <a:rPr lang="zh-CN" altLang="en-US" sz="3200" dirty="0">
                <a:latin typeface="楷体" panose="02010609060101010101" pitchFamily="49" charset="-122"/>
                <a:ea typeface="楷体" panose="02010609060101010101" pitchFamily="49" charset="-122"/>
              </a:rPr>
              <a:t>。</a:t>
            </a:r>
          </a:p>
        </p:txBody>
      </p:sp>
      <p:sp>
        <p:nvSpPr>
          <p:cNvPr id="4" name="Rectangle 9">
            <a:extLst>
              <a:ext uri="{FF2B5EF4-FFF2-40B4-BE49-F238E27FC236}">
                <a16:creationId xmlns:a16="http://schemas.microsoft.com/office/drawing/2014/main" id="{652D7319-65AF-ECC7-5859-0B60D97CD811}"/>
              </a:ext>
            </a:extLst>
          </p:cNvPr>
          <p:cNvSpPr>
            <a:spLocks noChangeArrowheads="1"/>
          </p:cNvSpPr>
          <p:nvPr/>
        </p:nvSpPr>
        <p:spPr bwMode="auto">
          <a:xfrm>
            <a:off x="250825" y="5055502"/>
            <a:ext cx="8353425" cy="1584325"/>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方式</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和方式</a:t>
            </a: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时起始位</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位，数据</a:t>
            </a:r>
            <a:r>
              <a:rPr lang="en-US" altLang="zh-CN" sz="2400" b="1" dirty="0">
                <a:latin typeface="楷体" panose="02010609060101010101" pitchFamily="49" charset="-122"/>
                <a:ea typeface="楷体" panose="02010609060101010101" pitchFamily="49" charset="-122"/>
              </a:rPr>
              <a:t>9</a:t>
            </a:r>
            <a:r>
              <a:rPr lang="zh-CN" altLang="en-US" sz="2400" b="1" dirty="0">
                <a:latin typeface="楷体" panose="02010609060101010101" pitchFamily="49" charset="-122"/>
                <a:ea typeface="楷体" panose="02010609060101010101" pitchFamily="49" charset="-122"/>
              </a:rPr>
              <a:t>位（含</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位附加的第</a:t>
            </a:r>
            <a:r>
              <a:rPr lang="en-US" altLang="zh-CN" sz="2400" b="1" dirty="0">
                <a:latin typeface="楷体" panose="02010609060101010101" pitchFamily="49" charset="-122"/>
                <a:ea typeface="楷体" panose="02010609060101010101" pitchFamily="49" charset="-122"/>
              </a:rPr>
              <a:t>9</a:t>
            </a:r>
            <a:r>
              <a:rPr lang="zh-CN" altLang="en-US" sz="2400" b="1" dirty="0">
                <a:latin typeface="楷体" panose="02010609060101010101" pitchFamily="49" charset="-122"/>
                <a:ea typeface="楷体" panose="02010609060101010101" pitchFamily="49" charset="-122"/>
              </a:rPr>
              <a:t>位，发送时为</a:t>
            </a:r>
            <a:r>
              <a:rPr lang="en-US" altLang="zh-CN" sz="2400" b="1" dirty="0">
                <a:latin typeface="楷体" panose="02010609060101010101" pitchFamily="49" charset="-122"/>
                <a:ea typeface="楷体" panose="02010609060101010101" pitchFamily="49" charset="-122"/>
              </a:rPr>
              <a:t>SCON</a:t>
            </a:r>
            <a:r>
              <a:rPr lang="zh-CN" altLang="en-US" sz="2400" b="1" dirty="0">
                <a:latin typeface="楷体" panose="02010609060101010101" pitchFamily="49" charset="-122"/>
                <a:ea typeface="楷体" panose="02010609060101010101" pitchFamily="49" charset="-122"/>
              </a:rPr>
              <a:t>中的</a:t>
            </a:r>
            <a:r>
              <a:rPr lang="en-US" altLang="zh-CN" sz="2400" b="1" dirty="0">
                <a:latin typeface="楷体" panose="02010609060101010101" pitchFamily="49" charset="-122"/>
                <a:ea typeface="楷体" panose="02010609060101010101" pitchFamily="49" charset="-122"/>
              </a:rPr>
              <a:t>TB8</a:t>
            </a:r>
            <a:r>
              <a:rPr lang="zh-CN" altLang="en-US" sz="2400" b="1" dirty="0">
                <a:latin typeface="楷体" panose="02010609060101010101" pitchFamily="49" charset="-122"/>
                <a:ea typeface="楷体" panose="02010609060101010101" pitchFamily="49" charset="-122"/>
              </a:rPr>
              <a:t>，接收时为</a:t>
            </a:r>
            <a:r>
              <a:rPr lang="en-US" altLang="zh-CN" sz="2400" b="1" dirty="0">
                <a:latin typeface="楷体" panose="02010609060101010101" pitchFamily="49" charset="-122"/>
                <a:ea typeface="楷体" panose="02010609060101010101" pitchFamily="49" charset="-122"/>
              </a:rPr>
              <a:t>RB8</a:t>
            </a:r>
            <a:r>
              <a:rPr lang="zh-CN" altLang="en-US" sz="2400" b="1" dirty="0">
                <a:latin typeface="楷体" panose="02010609060101010101" pitchFamily="49" charset="-122"/>
                <a:ea typeface="楷体" panose="02010609060101010101" pitchFamily="49" charset="-122"/>
              </a:rPr>
              <a:t>），停止位</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位，一帧数据为</a:t>
            </a:r>
            <a:r>
              <a:rPr lang="en-US" altLang="zh-CN" sz="2400" b="1" dirty="0">
                <a:latin typeface="楷体" panose="02010609060101010101" pitchFamily="49" charset="-122"/>
                <a:ea typeface="楷体" panose="02010609060101010101" pitchFamily="49" charset="-122"/>
              </a:rPr>
              <a:t>11</a:t>
            </a:r>
            <a:r>
              <a:rPr lang="zh-CN" altLang="en-US" sz="2400" b="1" dirty="0">
                <a:latin typeface="楷体" panose="02010609060101010101" pitchFamily="49" charset="-122"/>
                <a:ea typeface="楷体" panose="02010609060101010101" pitchFamily="49" charset="-122"/>
              </a:rPr>
              <a:t>位。方式</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的波特率固定为晶振频率的</a:t>
            </a:r>
            <a:r>
              <a:rPr lang="en-US" altLang="zh-CN" sz="2400" b="1" dirty="0">
                <a:latin typeface="楷体" panose="02010609060101010101" pitchFamily="49" charset="-122"/>
                <a:ea typeface="楷体" panose="02010609060101010101" pitchFamily="49" charset="-122"/>
              </a:rPr>
              <a:t>1/64</a:t>
            </a:r>
            <a:r>
              <a:rPr lang="zh-CN" altLang="en-US" sz="2400" b="1" dirty="0">
                <a:latin typeface="楷体" panose="02010609060101010101" pitchFamily="49" charset="-122"/>
                <a:ea typeface="楷体" panose="02010609060101010101" pitchFamily="49" charset="-122"/>
              </a:rPr>
              <a:t>或</a:t>
            </a:r>
            <a:r>
              <a:rPr lang="en-US" altLang="zh-CN" sz="2400" b="1" dirty="0">
                <a:latin typeface="楷体" panose="02010609060101010101" pitchFamily="49" charset="-122"/>
                <a:ea typeface="楷体" panose="02010609060101010101" pitchFamily="49" charset="-122"/>
              </a:rPr>
              <a:t>1/32</a:t>
            </a:r>
            <a:r>
              <a:rPr lang="zh-CN" altLang="en-US" sz="2400" b="1" dirty="0">
                <a:latin typeface="楷体" panose="02010609060101010101" pitchFamily="49" charset="-122"/>
                <a:ea typeface="楷体" panose="02010609060101010101" pitchFamily="49" charset="-122"/>
              </a:rPr>
              <a:t>，方式</a:t>
            </a: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的波特率由定时器</a:t>
            </a:r>
            <a:r>
              <a:rPr lang="en-US" altLang="zh-CN" sz="2400" b="1" dirty="0">
                <a:latin typeface="楷体" panose="02010609060101010101" pitchFamily="49" charset="-122"/>
                <a:ea typeface="楷体" panose="02010609060101010101" pitchFamily="49" charset="-122"/>
              </a:rPr>
              <a:t>T1</a:t>
            </a:r>
            <a:r>
              <a:rPr lang="zh-CN" altLang="en-US" sz="2400" b="1" dirty="0">
                <a:latin typeface="楷体" panose="02010609060101010101" pitchFamily="49" charset="-122"/>
                <a:ea typeface="楷体" panose="02010609060101010101" pitchFamily="49" charset="-122"/>
              </a:rPr>
              <a:t>的溢出率决定。</a:t>
            </a:r>
            <a:r>
              <a:rPr lang="zh-CN" altLang="en-US" sz="3200" dirty="0">
                <a:latin typeface="楷体" panose="02010609060101010101" pitchFamily="49" charset="-122"/>
                <a:ea typeface="楷体" panose="02010609060101010101" pitchFamily="49" charset="-122"/>
              </a:rPr>
              <a:t> </a:t>
            </a:r>
          </a:p>
        </p:txBody>
      </p:sp>
      <p:graphicFrame>
        <p:nvGraphicFramePr>
          <p:cNvPr id="5" name="Object 12">
            <a:extLst>
              <a:ext uri="{FF2B5EF4-FFF2-40B4-BE49-F238E27FC236}">
                <a16:creationId xmlns:a16="http://schemas.microsoft.com/office/drawing/2014/main" id="{3DA7C5C7-6FB3-7836-ACC0-567712963C1D}"/>
              </a:ext>
            </a:extLst>
          </p:cNvPr>
          <p:cNvGraphicFramePr>
            <a:graphicFrameLocks noChangeAspect="1"/>
          </p:cNvGraphicFramePr>
          <p:nvPr>
            <p:extLst>
              <p:ext uri="{D42A27DB-BD31-4B8C-83A1-F6EECF244321}">
                <p14:modId xmlns:p14="http://schemas.microsoft.com/office/powerpoint/2010/main" val="558473567"/>
              </p:ext>
            </p:extLst>
          </p:nvPr>
        </p:nvGraphicFramePr>
        <p:xfrm>
          <a:off x="361950" y="2701239"/>
          <a:ext cx="8135938" cy="2239963"/>
        </p:xfrm>
        <a:graphic>
          <a:graphicData uri="http://schemas.openxmlformats.org/presentationml/2006/ole">
            <mc:AlternateContent xmlns:mc="http://schemas.openxmlformats.org/markup-compatibility/2006">
              <mc:Choice xmlns:v="urn:schemas-microsoft-com:vml" Requires="v">
                <p:oleObj name="Visio" r:id="rId3" imgW="2796064" imgH="814626" progId="">
                  <p:embed/>
                </p:oleObj>
              </mc:Choice>
              <mc:Fallback>
                <p:oleObj name="Visio" r:id="rId3" imgW="2796064" imgH="814626" progId="">
                  <p:embed/>
                  <p:pic>
                    <p:nvPicPr>
                      <p:cNvPr id="5"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50" y="2701239"/>
                        <a:ext cx="8135938" cy="2239963"/>
                      </a:xfrm>
                      <a:prstGeom prst="rect">
                        <a:avLst/>
                      </a:prstGeom>
                      <a:solidFill>
                        <a:srgbClr val="CCFFFF"/>
                      </a:solidFill>
                    </p:spPr>
                  </p:pic>
                </p:oleObj>
              </mc:Fallback>
            </mc:AlternateContent>
          </a:graphicData>
        </a:graphic>
      </p:graphicFrame>
    </p:spTree>
    <p:extLst>
      <p:ext uri="{BB962C8B-B14F-4D97-AF65-F5344CB8AC3E}">
        <p14:creationId xmlns:p14="http://schemas.microsoft.com/office/powerpoint/2010/main" val="3818272410"/>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A12F20B1-47A8-318B-F46D-A87326DC82E8}"/>
              </a:ext>
            </a:extLst>
          </p:cNvPr>
          <p:cNvSpPr>
            <a:spLocks noChangeArrowheads="1"/>
          </p:cNvSpPr>
          <p:nvPr/>
        </p:nvSpPr>
        <p:spPr bwMode="auto">
          <a:xfrm>
            <a:off x="250825" y="1174061"/>
            <a:ext cx="4968875" cy="50323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800" b="1" dirty="0">
                <a:solidFill>
                  <a:srgbClr val="FF6600"/>
                </a:solidFill>
                <a:latin typeface="楷体" panose="02010609060101010101" pitchFamily="49" charset="-122"/>
                <a:ea typeface="楷体" panose="02010609060101010101" pitchFamily="49" charset="-122"/>
              </a:rPr>
              <a:t>1</a:t>
            </a:r>
            <a:r>
              <a:rPr lang="zh-CN" altLang="en-US" sz="2800" b="1" dirty="0">
                <a:solidFill>
                  <a:srgbClr val="FF6600"/>
                </a:solidFill>
                <a:latin typeface="楷体" panose="02010609060101010101" pitchFamily="49" charset="-122"/>
                <a:ea typeface="楷体" panose="02010609060101010101" pitchFamily="49" charset="-122"/>
              </a:rPr>
              <a:t>、方式</a:t>
            </a:r>
            <a:r>
              <a:rPr lang="en-US" altLang="zh-CN" sz="2800" b="1" dirty="0">
                <a:solidFill>
                  <a:srgbClr val="FF6600"/>
                </a:solidFill>
                <a:latin typeface="楷体" panose="02010609060101010101" pitchFamily="49" charset="-122"/>
                <a:ea typeface="楷体" panose="02010609060101010101" pitchFamily="49" charset="-122"/>
              </a:rPr>
              <a:t>2</a:t>
            </a:r>
            <a:r>
              <a:rPr lang="zh-CN" altLang="en-US" sz="2800" b="1" dirty="0">
                <a:solidFill>
                  <a:srgbClr val="FF6600"/>
                </a:solidFill>
                <a:latin typeface="楷体" panose="02010609060101010101" pitchFamily="49" charset="-122"/>
                <a:ea typeface="楷体" panose="02010609060101010101" pitchFamily="49" charset="-122"/>
              </a:rPr>
              <a:t>和方式</a:t>
            </a:r>
            <a:r>
              <a:rPr lang="en-US" altLang="zh-CN" sz="2800" b="1" dirty="0">
                <a:solidFill>
                  <a:srgbClr val="FF6600"/>
                </a:solidFill>
                <a:latin typeface="楷体" panose="02010609060101010101" pitchFamily="49" charset="-122"/>
                <a:ea typeface="楷体" panose="02010609060101010101" pitchFamily="49" charset="-122"/>
              </a:rPr>
              <a:t>3</a:t>
            </a:r>
            <a:r>
              <a:rPr lang="zh-CN" altLang="en-US" sz="2800" b="1" dirty="0">
                <a:solidFill>
                  <a:srgbClr val="FF6600"/>
                </a:solidFill>
                <a:latin typeface="楷体" panose="02010609060101010101" pitchFamily="49" charset="-122"/>
                <a:ea typeface="楷体" panose="02010609060101010101" pitchFamily="49" charset="-122"/>
              </a:rPr>
              <a:t>输出</a:t>
            </a:r>
          </a:p>
        </p:txBody>
      </p:sp>
      <p:graphicFrame>
        <p:nvGraphicFramePr>
          <p:cNvPr id="4" name="Object 6">
            <a:extLst>
              <a:ext uri="{FF2B5EF4-FFF2-40B4-BE49-F238E27FC236}">
                <a16:creationId xmlns:a16="http://schemas.microsoft.com/office/drawing/2014/main" id="{1BB2F91A-8D4B-8557-968D-DC49D6D91339}"/>
              </a:ext>
            </a:extLst>
          </p:cNvPr>
          <p:cNvGraphicFramePr>
            <a:graphicFrameLocks noChangeAspect="1"/>
          </p:cNvGraphicFramePr>
          <p:nvPr>
            <p:extLst>
              <p:ext uri="{D42A27DB-BD31-4B8C-83A1-F6EECF244321}">
                <p14:modId xmlns:p14="http://schemas.microsoft.com/office/powerpoint/2010/main" val="3142211942"/>
              </p:ext>
            </p:extLst>
          </p:nvPr>
        </p:nvGraphicFramePr>
        <p:xfrm>
          <a:off x="323850" y="1869386"/>
          <a:ext cx="8520113" cy="1820863"/>
        </p:xfrm>
        <a:graphic>
          <a:graphicData uri="http://schemas.openxmlformats.org/presentationml/2006/ole">
            <mc:AlternateContent xmlns:mc="http://schemas.openxmlformats.org/markup-compatibility/2006">
              <mc:Choice xmlns:v="urn:schemas-microsoft-com:vml" Requires="v">
                <p:oleObj name="Visio" r:id="rId3" imgW="3358753" imgH="632698" progId="">
                  <p:embed/>
                </p:oleObj>
              </mc:Choice>
              <mc:Fallback>
                <p:oleObj name="Visio" r:id="rId3" imgW="3358753" imgH="632698" progId="">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869386"/>
                        <a:ext cx="8520113" cy="1820863"/>
                      </a:xfrm>
                      <a:prstGeom prst="rect">
                        <a:avLst/>
                      </a:prstGeom>
                      <a:solidFill>
                        <a:srgbClr val="99CCFF"/>
                      </a:solidFill>
                    </p:spPr>
                  </p:pic>
                </p:oleObj>
              </mc:Fallback>
            </mc:AlternateContent>
          </a:graphicData>
        </a:graphic>
      </p:graphicFrame>
      <p:sp>
        <p:nvSpPr>
          <p:cNvPr id="5" name="Rectangle 7">
            <a:extLst>
              <a:ext uri="{FF2B5EF4-FFF2-40B4-BE49-F238E27FC236}">
                <a16:creationId xmlns:a16="http://schemas.microsoft.com/office/drawing/2014/main" id="{37CD7169-9FFF-D8C8-97D4-61BB8B5C2148}"/>
              </a:ext>
            </a:extLst>
          </p:cNvPr>
          <p:cNvSpPr>
            <a:spLocks noChangeArrowheads="1"/>
          </p:cNvSpPr>
          <p:nvPr/>
        </p:nvSpPr>
        <p:spPr bwMode="auto">
          <a:xfrm>
            <a:off x="250825" y="3885511"/>
            <a:ext cx="8593138" cy="267493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发送开始时，先把起始位</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输出到</a:t>
            </a:r>
            <a:r>
              <a:rPr lang="en-US" altLang="zh-CN" sz="2400" b="1" dirty="0">
                <a:latin typeface="楷体" panose="02010609060101010101" pitchFamily="49" charset="-122"/>
                <a:ea typeface="楷体" panose="02010609060101010101" pitchFamily="49" charset="-122"/>
              </a:rPr>
              <a:t>TXD</a:t>
            </a:r>
            <a:r>
              <a:rPr lang="zh-CN" altLang="en-US" sz="2400" b="1" dirty="0">
                <a:latin typeface="楷体" panose="02010609060101010101" pitchFamily="49" charset="-122"/>
                <a:ea typeface="楷体" panose="02010609060101010101" pitchFamily="49" charset="-122"/>
              </a:rPr>
              <a:t>引脚，然后发送移位寄存器的输出位（</a:t>
            </a:r>
            <a:r>
              <a:rPr lang="en-US" altLang="zh-CN" sz="2400" b="1" dirty="0">
                <a:latin typeface="楷体" panose="02010609060101010101" pitchFamily="49" charset="-122"/>
                <a:ea typeface="楷体" panose="02010609060101010101" pitchFamily="49" charset="-122"/>
              </a:rPr>
              <a:t>D0</a:t>
            </a:r>
            <a:r>
              <a:rPr lang="zh-CN" altLang="en-US" sz="2400" b="1" dirty="0">
                <a:latin typeface="楷体" panose="02010609060101010101" pitchFamily="49" charset="-122"/>
                <a:ea typeface="楷体" panose="02010609060101010101" pitchFamily="49" charset="-122"/>
              </a:rPr>
              <a:t>）到</a:t>
            </a:r>
            <a:r>
              <a:rPr lang="en-US" altLang="zh-CN" sz="2400" b="1" dirty="0">
                <a:latin typeface="楷体" panose="02010609060101010101" pitchFamily="49" charset="-122"/>
                <a:ea typeface="楷体" panose="02010609060101010101" pitchFamily="49" charset="-122"/>
              </a:rPr>
              <a:t>TXD</a:t>
            </a:r>
            <a:r>
              <a:rPr lang="zh-CN" altLang="en-US" sz="2400" b="1" dirty="0">
                <a:latin typeface="楷体" panose="02010609060101010101" pitchFamily="49" charset="-122"/>
                <a:ea typeface="楷体" panose="02010609060101010101" pitchFamily="49" charset="-122"/>
              </a:rPr>
              <a:t>引脚。每一个移位脉冲都使输出移位寄存器的各位右移一位，并由</a:t>
            </a:r>
            <a:r>
              <a:rPr lang="en-US" altLang="zh-CN" sz="2400" b="1" dirty="0">
                <a:latin typeface="楷体" panose="02010609060101010101" pitchFamily="49" charset="-122"/>
                <a:ea typeface="楷体" panose="02010609060101010101" pitchFamily="49" charset="-122"/>
              </a:rPr>
              <a:t>TXD</a:t>
            </a:r>
            <a:r>
              <a:rPr lang="zh-CN" altLang="en-US" sz="2400" b="1" dirty="0">
                <a:latin typeface="楷体" panose="02010609060101010101" pitchFamily="49" charset="-122"/>
                <a:ea typeface="楷体" panose="02010609060101010101" pitchFamily="49" charset="-122"/>
              </a:rPr>
              <a:t>引脚输出。</a:t>
            </a:r>
          </a:p>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第一次移位时，停止位“</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移入输出移位寄存器的第</a:t>
            </a:r>
            <a:r>
              <a:rPr lang="en-US" altLang="zh-CN" sz="2400" b="1" dirty="0">
                <a:latin typeface="楷体" panose="02010609060101010101" pitchFamily="49" charset="-122"/>
                <a:ea typeface="楷体" panose="02010609060101010101" pitchFamily="49" charset="-122"/>
              </a:rPr>
              <a:t>9</a:t>
            </a:r>
            <a:r>
              <a:rPr lang="zh-CN" altLang="en-US" sz="2400" b="1" dirty="0">
                <a:latin typeface="楷体" panose="02010609060101010101" pitchFamily="49" charset="-122"/>
                <a:ea typeface="楷体" panose="02010609060101010101" pitchFamily="49" charset="-122"/>
              </a:rPr>
              <a:t>位上 ，以后每次移位，左边都移入</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。当停止位移至输出位时，左边其余位全为</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，检测电路检测到这一条件时，使控制电路进行最后一次移位，并置</a:t>
            </a:r>
            <a:r>
              <a:rPr lang="en-US" altLang="zh-CN" sz="2400" b="1" dirty="0">
                <a:latin typeface="楷体" panose="02010609060101010101" pitchFamily="49" charset="-122"/>
                <a:ea typeface="楷体" panose="02010609060101010101" pitchFamily="49" charset="-122"/>
              </a:rPr>
              <a:t>TI=1</a:t>
            </a:r>
            <a:r>
              <a:rPr lang="zh-CN" altLang="en-US" sz="2400" b="1" dirty="0">
                <a:latin typeface="楷体" panose="02010609060101010101" pitchFamily="49" charset="-122"/>
                <a:ea typeface="楷体" panose="02010609060101010101" pitchFamily="49" charset="-122"/>
              </a:rPr>
              <a:t>，向</a:t>
            </a:r>
            <a:r>
              <a:rPr lang="en-US" altLang="zh-CN" sz="2400" b="1" dirty="0">
                <a:latin typeface="楷体" panose="02010609060101010101" pitchFamily="49" charset="-122"/>
                <a:ea typeface="楷体" panose="02010609060101010101" pitchFamily="49" charset="-122"/>
              </a:rPr>
              <a:t>CPU</a:t>
            </a:r>
            <a:r>
              <a:rPr lang="zh-CN" altLang="en-US" sz="2400" b="1" dirty="0">
                <a:latin typeface="楷体" panose="02010609060101010101" pitchFamily="49" charset="-122"/>
                <a:ea typeface="楷体" panose="02010609060101010101" pitchFamily="49" charset="-122"/>
              </a:rPr>
              <a:t>请求中断。 </a:t>
            </a:r>
          </a:p>
        </p:txBody>
      </p:sp>
    </p:spTree>
    <p:extLst>
      <p:ext uri="{BB962C8B-B14F-4D97-AF65-F5344CB8AC3E}">
        <p14:creationId xmlns:p14="http://schemas.microsoft.com/office/powerpoint/2010/main" val="2192528854"/>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串口工作方式解析</a:t>
            </a:r>
            <a:endParaRPr lang="zh-CN" altLang="en-US" sz="3200" dirty="0"/>
          </a:p>
        </p:txBody>
      </p:sp>
      <p:sp>
        <p:nvSpPr>
          <p:cNvPr id="3" name="Rectangle 5">
            <a:extLst>
              <a:ext uri="{FF2B5EF4-FFF2-40B4-BE49-F238E27FC236}">
                <a16:creationId xmlns:a16="http://schemas.microsoft.com/office/drawing/2014/main" id="{1F0B715F-1BEA-259E-41C8-67E823CA5315}"/>
              </a:ext>
            </a:extLst>
          </p:cNvPr>
          <p:cNvSpPr>
            <a:spLocks noChangeArrowheads="1"/>
          </p:cNvSpPr>
          <p:nvPr/>
        </p:nvSpPr>
        <p:spPr bwMode="auto">
          <a:xfrm>
            <a:off x="395288" y="1202468"/>
            <a:ext cx="5689600" cy="522287"/>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800" b="1" dirty="0">
                <a:solidFill>
                  <a:srgbClr val="FF6600"/>
                </a:solidFill>
                <a:latin typeface="楷体" panose="02010609060101010101" pitchFamily="49" charset="-122"/>
                <a:ea typeface="楷体" panose="02010609060101010101" pitchFamily="49" charset="-122"/>
              </a:rPr>
              <a:t>2</a:t>
            </a:r>
            <a:r>
              <a:rPr lang="zh-CN" altLang="en-US" sz="2800" b="1" dirty="0">
                <a:solidFill>
                  <a:srgbClr val="FF6600"/>
                </a:solidFill>
                <a:latin typeface="楷体" panose="02010609060101010101" pitchFamily="49" charset="-122"/>
                <a:ea typeface="楷体" panose="02010609060101010101" pitchFamily="49" charset="-122"/>
              </a:rPr>
              <a:t>、方式</a:t>
            </a:r>
            <a:r>
              <a:rPr lang="en-US" altLang="zh-CN" sz="2800" b="1" dirty="0">
                <a:solidFill>
                  <a:srgbClr val="FF6600"/>
                </a:solidFill>
                <a:latin typeface="楷体" panose="02010609060101010101" pitchFamily="49" charset="-122"/>
                <a:ea typeface="楷体" panose="02010609060101010101" pitchFamily="49" charset="-122"/>
              </a:rPr>
              <a:t>2</a:t>
            </a:r>
            <a:r>
              <a:rPr lang="zh-CN" altLang="en-US" sz="2800" b="1" dirty="0">
                <a:solidFill>
                  <a:srgbClr val="FF6600"/>
                </a:solidFill>
                <a:latin typeface="楷体" panose="02010609060101010101" pitchFamily="49" charset="-122"/>
                <a:ea typeface="楷体" panose="02010609060101010101" pitchFamily="49" charset="-122"/>
              </a:rPr>
              <a:t>和方式</a:t>
            </a:r>
            <a:r>
              <a:rPr lang="en-US" altLang="zh-CN" sz="2800" b="1" dirty="0">
                <a:solidFill>
                  <a:srgbClr val="FF6600"/>
                </a:solidFill>
                <a:latin typeface="楷体" panose="02010609060101010101" pitchFamily="49" charset="-122"/>
                <a:ea typeface="楷体" panose="02010609060101010101" pitchFamily="49" charset="-122"/>
              </a:rPr>
              <a:t>3</a:t>
            </a:r>
            <a:r>
              <a:rPr lang="zh-CN" altLang="en-US" sz="2800" b="1" dirty="0">
                <a:solidFill>
                  <a:srgbClr val="FF6600"/>
                </a:solidFill>
                <a:latin typeface="楷体" panose="02010609060101010101" pitchFamily="49" charset="-122"/>
                <a:ea typeface="楷体" panose="02010609060101010101" pitchFamily="49" charset="-122"/>
              </a:rPr>
              <a:t>输入</a:t>
            </a:r>
          </a:p>
        </p:txBody>
      </p:sp>
      <p:sp>
        <p:nvSpPr>
          <p:cNvPr id="4" name="Rectangle 6">
            <a:extLst>
              <a:ext uri="{FF2B5EF4-FFF2-40B4-BE49-F238E27FC236}">
                <a16:creationId xmlns:a16="http://schemas.microsoft.com/office/drawing/2014/main" id="{42CCA415-686F-AB02-DD60-2CA4730F52BB}"/>
              </a:ext>
            </a:extLst>
          </p:cNvPr>
          <p:cNvSpPr>
            <a:spLocks noChangeArrowheads="1"/>
          </p:cNvSpPr>
          <p:nvPr/>
        </p:nvSpPr>
        <p:spPr bwMode="auto">
          <a:xfrm>
            <a:off x="236538" y="3691668"/>
            <a:ext cx="8591550" cy="2825750"/>
          </a:xfrm>
          <a:prstGeom prst="rect">
            <a:avLst/>
          </a:prstGeom>
          <a:noFill/>
          <a:ln w="9525">
            <a:noFill/>
            <a:miter lim="800000"/>
            <a:headEnd/>
            <a:tailEnd/>
          </a:ln>
        </p:spPr>
        <p:txBody>
          <a:bodyPr/>
          <a:lstStyle/>
          <a:p>
            <a:pPr>
              <a:lnSpc>
                <a:spcPct val="120000"/>
              </a:lnSpc>
              <a:spcBef>
                <a:spcPct val="20000"/>
              </a:spcBef>
              <a:buClr>
                <a:schemeClr val="hlink"/>
              </a:buClr>
              <a:buFont typeface="Wingdings" pitchFamily="2" charset="2"/>
              <a:buNone/>
            </a:pPr>
            <a:r>
              <a:rPr lang="zh-CN" altLang="en-US" sz="28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接收时，数据从右边移入输入移位寄存器，在起始位</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移到最左边时，控制电路进行最后一次移位。当</a:t>
            </a:r>
            <a:r>
              <a:rPr lang="en-US" altLang="zh-CN" sz="2400" b="1" dirty="0">
                <a:latin typeface="楷体" panose="02010609060101010101" pitchFamily="49" charset="-122"/>
                <a:ea typeface="楷体" panose="02010609060101010101" pitchFamily="49" charset="-122"/>
              </a:rPr>
              <a:t>RI=0</a:t>
            </a:r>
            <a:r>
              <a:rPr lang="zh-CN" altLang="en-US" sz="2400" b="1" dirty="0">
                <a:latin typeface="楷体" panose="02010609060101010101" pitchFamily="49" charset="-122"/>
                <a:ea typeface="楷体" panose="02010609060101010101" pitchFamily="49" charset="-122"/>
              </a:rPr>
              <a:t>，且</a:t>
            </a:r>
            <a:r>
              <a:rPr lang="en-US" altLang="zh-CN" sz="2400" b="1" dirty="0">
                <a:latin typeface="楷体" panose="02010609060101010101" pitchFamily="49" charset="-122"/>
                <a:ea typeface="楷体" panose="02010609060101010101" pitchFamily="49" charset="-122"/>
              </a:rPr>
              <a:t>SM2=0</a:t>
            </a:r>
            <a:r>
              <a:rPr lang="zh-CN" altLang="en-US" sz="2400" b="1" dirty="0">
                <a:latin typeface="楷体" panose="02010609060101010101" pitchFamily="49" charset="-122"/>
                <a:ea typeface="楷体" panose="02010609060101010101" pitchFamily="49" charset="-122"/>
              </a:rPr>
              <a:t>（或接收到的第</a:t>
            </a:r>
            <a:r>
              <a:rPr lang="en-US" altLang="zh-CN" sz="2400" b="1" dirty="0">
                <a:latin typeface="楷体" panose="02010609060101010101" pitchFamily="49" charset="-122"/>
                <a:ea typeface="楷体" panose="02010609060101010101" pitchFamily="49" charset="-122"/>
              </a:rPr>
              <a:t>9</a:t>
            </a:r>
            <a:r>
              <a:rPr lang="zh-CN" altLang="en-US" sz="2400" b="1" dirty="0">
                <a:latin typeface="楷体" panose="02010609060101010101" pitchFamily="49" charset="-122"/>
                <a:ea typeface="楷体" panose="02010609060101010101" pitchFamily="49" charset="-122"/>
              </a:rPr>
              <a:t>位数据为</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）时，接收到的数据装入接收缓冲器</a:t>
            </a:r>
            <a:r>
              <a:rPr lang="en-US" altLang="zh-CN" sz="2400" b="1" dirty="0">
                <a:latin typeface="楷体" panose="02010609060101010101" pitchFamily="49" charset="-122"/>
                <a:ea typeface="楷体" panose="02010609060101010101" pitchFamily="49" charset="-122"/>
              </a:rPr>
              <a:t>SBUF</a:t>
            </a:r>
            <a:r>
              <a:rPr lang="zh-CN" altLang="en-US" sz="2400" b="1" dirty="0">
                <a:latin typeface="楷体" panose="02010609060101010101" pitchFamily="49" charset="-122"/>
                <a:ea typeface="楷体" panose="02010609060101010101" pitchFamily="49" charset="-122"/>
              </a:rPr>
              <a:t>和</a:t>
            </a:r>
            <a:r>
              <a:rPr lang="en-US" altLang="zh-CN" sz="2400" b="1" dirty="0">
                <a:latin typeface="楷体" panose="02010609060101010101" pitchFamily="49" charset="-122"/>
                <a:ea typeface="楷体" panose="02010609060101010101" pitchFamily="49" charset="-122"/>
              </a:rPr>
              <a:t>RB8</a:t>
            </a:r>
            <a:r>
              <a:rPr lang="zh-CN" altLang="en-US" sz="2400" b="1" dirty="0">
                <a:latin typeface="楷体" panose="02010609060101010101" pitchFamily="49" charset="-122"/>
                <a:ea typeface="楷体" panose="02010609060101010101" pitchFamily="49" charset="-122"/>
              </a:rPr>
              <a:t>（接收数据的第</a:t>
            </a:r>
            <a:r>
              <a:rPr lang="en-US" altLang="zh-CN" sz="2400" b="1" dirty="0">
                <a:latin typeface="楷体" panose="02010609060101010101" pitchFamily="49" charset="-122"/>
                <a:ea typeface="楷体" panose="02010609060101010101" pitchFamily="49" charset="-122"/>
              </a:rPr>
              <a:t>9</a:t>
            </a:r>
            <a:r>
              <a:rPr lang="zh-CN" altLang="en-US" sz="2400" b="1" dirty="0">
                <a:latin typeface="楷体" panose="02010609060101010101" pitchFamily="49" charset="-122"/>
                <a:ea typeface="楷体" panose="02010609060101010101" pitchFamily="49" charset="-122"/>
              </a:rPr>
              <a:t>位），置</a:t>
            </a:r>
            <a:r>
              <a:rPr lang="en-US" altLang="zh-CN" sz="2400" b="1" dirty="0">
                <a:latin typeface="楷体" panose="02010609060101010101" pitchFamily="49" charset="-122"/>
                <a:ea typeface="楷体" panose="02010609060101010101" pitchFamily="49" charset="-122"/>
              </a:rPr>
              <a:t>RI=1</a:t>
            </a:r>
            <a:r>
              <a:rPr lang="zh-CN" altLang="en-US" sz="2400" b="1" dirty="0">
                <a:latin typeface="楷体" panose="02010609060101010101" pitchFamily="49" charset="-122"/>
                <a:ea typeface="楷体" panose="02010609060101010101" pitchFamily="49" charset="-122"/>
              </a:rPr>
              <a:t>，向</a:t>
            </a:r>
            <a:r>
              <a:rPr lang="en-US" altLang="zh-CN" sz="2400" b="1" dirty="0">
                <a:latin typeface="楷体" panose="02010609060101010101" pitchFamily="49" charset="-122"/>
                <a:ea typeface="楷体" panose="02010609060101010101" pitchFamily="49" charset="-122"/>
              </a:rPr>
              <a:t>CPU</a:t>
            </a:r>
            <a:r>
              <a:rPr lang="zh-CN" altLang="en-US" sz="2400" b="1" dirty="0">
                <a:latin typeface="楷体" panose="02010609060101010101" pitchFamily="49" charset="-122"/>
                <a:ea typeface="楷体" panose="02010609060101010101" pitchFamily="49" charset="-122"/>
              </a:rPr>
              <a:t>请求中断。如果条件不满足，则数据丢失，且不置位</a:t>
            </a:r>
            <a:r>
              <a:rPr lang="en-US" altLang="zh-CN" sz="2400" b="1" dirty="0">
                <a:latin typeface="楷体" panose="02010609060101010101" pitchFamily="49" charset="-122"/>
                <a:ea typeface="楷体" panose="02010609060101010101" pitchFamily="49" charset="-122"/>
              </a:rPr>
              <a:t>RI</a:t>
            </a:r>
            <a:r>
              <a:rPr lang="zh-CN" altLang="en-US" sz="2400" b="1" dirty="0">
                <a:latin typeface="楷体" panose="02010609060101010101" pitchFamily="49" charset="-122"/>
                <a:ea typeface="楷体" panose="02010609060101010101" pitchFamily="49" charset="-122"/>
              </a:rPr>
              <a:t>，继续搜索</a:t>
            </a:r>
            <a:r>
              <a:rPr lang="en-US" altLang="zh-CN" sz="2400" b="1" dirty="0">
                <a:latin typeface="楷体" panose="02010609060101010101" pitchFamily="49" charset="-122"/>
                <a:ea typeface="楷体" panose="02010609060101010101" pitchFamily="49" charset="-122"/>
              </a:rPr>
              <a:t>RXD</a:t>
            </a:r>
            <a:r>
              <a:rPr lang="zh-CN" altLang="en-US" sz="2400" b="1" dirty="0">
                <a:latin typeface="楷体" panose="02010609060101010101" pitchFamily="49" charset="-122"/>
                <a:ea typeface="楷体" panose="02010609060101010101" pitchFamily="49" charset="-122"/>
              </a:rPr>
              <a:t>引脚的负跳变。</a:t>
            </a:r>
          </a:p>
        </p:txBody>
      </p:sp>
      <p:graphicFrame>
        <p:nvGraphicFramePr>
          <p:cNvPr id="5" name="Object 7">
            <a:extLst>
              <a:ext uri="{FF2B5EF4-FFF2-40B4-BE49-F238E27FC236}">
                <a16:creationId xmlns:a16="http://schemas.microsoft.com/office/drawing/2014/main" id="{34F7B2C9-D059-21DA-E1F5-F54F72AD2C13}"/>
              </a:ext>
            </a:extLst>
          </p:cNvPr>
          <p:cNvGraphicFramePr>
            <a:graphicFrameLocks noChangeAspect="1"/>
          </p:cNvGraphicFramePr>
          <p:nvPr>
            <p:extLst>
              <p:ext uri="{D42A27DB-BD31-4B8C-83A1-F6EECF244321}">
                <p14:modId xmlns:p14="http://schemas.microsoft.com/office/powerpoint/2010/main" val="3030257353"/>
              </p:ext>
            </p:extLst>
          </p:nvPr>
        </p:nvGraphicFramePr>
        <p:xfrm>
          <a:off x="384175" y="1954943"/>
          <a:ext cx="8572500" cy="1598612"/>
        </p:xfrm>
        <a:graphic>
          <a:graphicData uri="http://schemas.openxmlformats.org/presentationml/2006/ole">
            <mc:AlternateContent xmlns:mc="http://schemas.openxmlformats.org/markup-compatibility/2006">
              <mc:Choice xmlns:v="urn:schemas-microsoft-com:vml" Requires="v">
                <p:oleObj name="Visio" r:id="rId3" imgW="3313986" imgH="644604" progId="">
                  <p:embed/>
                </p:oleObj>
              </mc:Choice>
              <mc:Fallback>
                <p:oleObj name="Visio" r:id="rId3" imgW="3313986" imgH="644604" progId="">
                  <p:embed/>
                  <p:pic>
                    <p:nvPicPr>
                      <p:cNvPr id="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1954943"/>
                        <a:ext cx="8572500" cy="1598612"/>
                      </a:xfrm>
                      <a:prstGeom prst="rect">
                        <a:avLst/>
                      </a:prstGeom>
                      <a:solidFill>
                        <a:srgbClr val="99CCFF"/>
                      </a:solidFill>
                    </p:spPr>
                  </p:pic>
                </p:oleObj>
              </mc:Fallback>
            </mc:AlternateContent>
          </a:graphicData>
        </a:graphic>
      </p:graphicFrame>
    </p:spTree>
    <p:extLst>
      <p:ext uri="{BB962C8B-B14F-4D97-AF65-F5344CB8AC3E}">
        <p14:creationId xmlns:p14="http://schemas.microsoft.com/office/powerpoint/2010/main" val="1890356243"/>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串口相关</a:t>
            </a:r>
            <a:r>
              <a:rPr lang="en-US" altLang="zh-CN" sz="3200" spc="600" dirty="0">
                <a:latin typeface="Arial" panose="020B0604020202020204" pitchFamily="34" charset="0"/>
                <a:ea typeface="隶书" pitchFamily="49" charset="-122"/>
                <a:cs typeface="Arial" panose="020B0604020202020204" pitchFamily="34" charset="0"/>
              </a:rPr>
              <a:t>SFR</a:t>
            </a:r>
            <a:r>
              <a:rPr lang="zh-CN" altLang="en-US" sz="3200" spc="600" dirty="0">
                <a:latin typeface="隶书" pitchFamily="49" charset="-122"/>
                <a:ea typeface="隶书" pitchFamily="49" charset="-122"/>
              </a:rPr>
              <a:t>解析</a:t>
            </a:r>
            <a:endParaRPr lang="zh-CN" altLang="en-US" sz="3200" dirty="0"/>
          </a:p>
        </p:txBody>
      </p:sp>
      <p:pic>
        <p:nvPicPr>
          <p:cNvPr id="5" name="Picture 5">
            <a:extLst>
              <a:ext uri="{FF2B5EF4-FFF2-40B4-BE49-F238E27FC236}">
                <a16:creationId xmlns:a16="http://schemas.microsoft.com/office/drawing/2014/main" id="{91E24A49-5049-79CB-2B50-6B9EC1BA8FFC}"/>
              </a:ext>
            </a:extLst>
          </p:cNvPr>
          <p:cNvPicPr>
            <a:picLocks noChangeAspect="1" noChangeArrowheads="1"/>
          </p:cNvPicPr>
          <p:nvPr/>
        </p:nvPicPr>
        <p:blipFill>
          <a:blip r:embed="rId3"/>
          <a:srcRect/>
          <a:stretch>
            <a:fillRect/>
          </a:stretch>
        </p:blipFill>
        <p:spPr bwMode="auto">
          <a:xfrm>
            <a:off x="250825" y="2095458"/>
            <a:ext cx="8353425" cy="1439862"/>
          </a:xfrm>
          <a:prstGeom prst="rect">
            <a:avLst/>
          </a:prstGeom>
          <a:noFill/>
          <a:ln w="9525">
            <a:noFill/>
            <a:miter lim="800000"/>
            <a:headEnd/>
            <a:tailEnd/>
          </a:ln>
        </p:spPr>
      </p:pic>
      <p:sp>
        <p:nvSpPr>
          <p:cNvPr id="6" name="Rectangle 6">
            <a:extLst>
              <a:ext uri="{FF2B5EF4-FFF2-40B4-BE49-F238E27FC236}">
                <a16:creationId xmlns:a16="http://schemas.microsoft.com/office/drawing/2014/main" id="{B89AAAFE-F6A6-342C-ED65-B7B23D815179}"/>
              </a:ext>
            </a:extLst>
          </p:cNvPr>
          <p:cNvSpPr>
            <a:spLocks noChangeArrowheads="1"/>
          </p:cNvSpPr>
          <p:nvPr/>
        </p:nvSpPr>
        <p:spPr bwMode="auto">
          <a:xfrm>
            <a:off x="458788" y="3776620"/>
            <a:ext cx="7993062" cy="2305050"/>
          </a:xfrm>
          <a:prstGeom prst="rect">
            <a:avLst/>
          </a:prstGeom>
          <a:noFill/>
          <a:ln w="9525">
            <a:noFill/>
            <a:miter lim="800000"/>
            <a:headEnd/>
            <a:tailEnd/>
          </a:ln>
        </p:spPr>
        <p:txBody>
          <a:bodyPr/>
          <a:lstStyle/>
          <a:p>
            <a:pPr>
              <a:lnSpc>
                <a:spcPct val="120000"/>
              </a:lnSpc>
              <a:spcBef>
                <a:spcPct val="20000"/>
              </a:spcBef>
              <a:buClr>
                <a:schemeClr val="hlink"/>
              </a:buClr>
              <a:buFont typeface="Wingdings" pitchFamily="2" charset="2"/>
              <a:buNone/>
            </a:pPr>
            <a:r>
              <a:rPr lang="en-US" altLang="zh-CN" sz="2800" b="1" dirty="0">
                <a:solidFill>
                  <a:srgbClr val="CC0000"/>
                </a:solidFill>
                <a:latin typeface="楷体" panose="02010609060101010101" pitchFamily="49" charset="-122"/>
                <a:ea typeface="楷体" panose="02010609060101010101" pitchFamily="49" charset="-122"/>
              </a:rPr>
              <a:t>SMOD</a:t>
            </a:r>
            <a:r>
              <a:rPr lang="zh-CN" altLang="en-US" sz="2800" b="1" dirty="0">
                <a:solidFill>
                  <a:srgbClr val="CC0000"/>
                </a:solidFill>
                <a:latin typeface="楷体" panose="02010609060101010101" pitchFamily="49" charset="-122"/>
                <a:ea typeface="楷体" panose="02010609060101010101" pitchFamily="49" charset="-122"/>
              </a:rPr>
              <a:t>（</a:t>
            </a:r>
            <a:r>
              <a:rPr lang="en-US" altLang="zh-CN" sz="2800" b="1" dirty="0">
                <a:solidFill>
                  <a:srgbClr val="CC0000"/>
                </a:solidFill>
                <a:latin typeface="楷体" panose="02010609060101010101" pitchFamily="49" charset="-122"/>
                <a:ea typeface="楷体" panose="02010609060101010101" pitchFamily="49" charset="-122"/>
              </a:rPr>
              <a:t>PCON.7</a:t>
            </a:r>
            <a:r>
              <a:rPr lang="zh-CN" altLang="en-US" sz="2800" b="1" dirty="0">
                <a:solidFill>
                  <a:srgbClr val="CC0000"/>
                </a:solidFill>
                <a:latin typeface="楷体" panose="02010609060101010101" pitchFamily="49" charset="-122"/>
                <a:ea typeface="楷体" panose="02010609060101010101" pitchFamily="49" charset="-122"/>
              </a:rPr>
              <a:t>）   波特率倍增位</a:t>
            </a:r>
            <a:endParaRPr lang="en-US" altLang="zh-CN" sz="2800" b="1" dirty="0">
              <a:solidFill>
                <a:srgbClr val="CC0000"/>
              </a:solidFill>
              <a:latin typeface="楷体" panose="02010609060101010101" pitchFamily="49" charset="-122"/>
              <a:ea typeface="楷体" panose="02010609060101010101" pitchFamily="49" charset="-122"/>
            </a:endParaRPr>
          </a:p>
          <a:p>
            <a:pPr>
              <a:lnSpc>
                <a:spcPct val="120000"/>
              </a:lnSpc>
              <a:spcBef>
                <a:spcPct val="20000"/>
              </a:spcBef>
              <a:buClr>
                <a:schemeClr val="hlink"/>
              </a:buClr>
              <a:buFont typeface="Wingdings" pitchFamily="2" charset="2"/>
              <a:buNone/>
            </a:pPr>
            <a:r>
              <a:rPr lang="zh-CN" altLang="en-US" sz="2800" b="1" dirty="0">
                <a:latin typeface="楷体" panose="02010609060101010101" pitchFamily="49" charset="-122"/>
                <a:ea typeface="楷体" panose="02010609060101010101" pitchFamily="49" charset="-122"/>
              </a:rPr>
              <a:t>在串行口方式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、方式</a:t>
            </a:r>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、方式</a:t>
            </a:r>
            <a:r>
              <a:rPr lang="en-US" altLang="zh-CN" sz="2800" b="1" dirty="0">
                <a:latin typeface="楷体" panose="02010609060101010101" pitchFamily="49" charset="-122"/>
                <a:ea typeface="楷体" panose="02010609060101010101" pitchFamily="49" charset="-122"/>
              </a:rPr>
              <a:t>3</a:t>
            </a:r>
            <a:r>
              <a:rPr lang="zh-CN" altLang="en-US" sz="2800" b="1" dirty="0">
                <a:latin typeface="楷体" panose="02010609060101010101" pitchFamily="49" charset="-122"/>
                <a:ea typeface="楷体" panose="02010609060101010101" pitchFamily="49" charset="-122"/>
              </a:rPr>
              <a:t>时，波特率与</a:t>
            </a:r>
            <a:r>
              <a:rPr lang="en-US" altLang="zh-CN" sz="2800" b="1" dirty="0">
                <a:latin typeface="楷体" panose="02010609060101010101" pitchFamily="49" charset="-122"/>
                <a:ea typeface="楷体" panose="02010609060101010101" pitchFamily="49" charset="-122"/>
              </a:rPr>
              <a:t>SMOD</a:t>
            </a:r>
            <a:r>
              <a:rPr lang="zh-CN" altLang="en-US" sz="2800" b="1" dirty="0">
                <a:latin typeface="楷体" panose="02010609060101010101" pitchFamily="49" charset="-122"/>
                <a:ea typeface="楷体" panose="02010609060101010101" pitchFamily="49" charset="-122"/>
              </a:rPr>
              <a:t>有关，当</a:t>
            </a:r>
            <a:r>
              <a:rPr lang="en-US" altLang="zh-CN" sz="2800" b="1" dirty="0">
                <a:latin typeface="楷体" panose="02010609060101010101" pitchFamily="49" charset="-122"/>
                <a:ea typeface="楷体" panose="02010609060101010101" pitchFamily="49" charset="-122"/>
              </a:rPr>
              <a:t>SMOD=1</a:t>
            </a:r>
            <a:r>
              <a:rPr lang="zh-CN" altLang="en-US" sz="2800" b="1" dirty="0">
                <a:latin typeface="楷体" panose="02010609060101010101" pitchFamily="49" charset="-122"/>
                <a:ea typeface="楷体" panose="02010609060101010101" pitchFamily="49" charset="-122"/>
              </a:rPr>
              <a:t>时，波特率提高一倍。</a:t>
            </a:r>
          </a:p>
          <a:p>
            <a:pPr>
              <a:lnSpc>
                <a:spcPct val="120000"/>
              </a:lnSpc>
              <a:spcBef>
                <a:spcPct val="20000"/>
              </a:spcBef>
              <a:buClr>
                <a:schemeClr val="hlink"/>
              </a:buClr>
              <a:buFont typeface="Wingdings" pitchFamily="2" charset="2"/>
              <a:buNone/>
            </a:pPr>
            <a:r>
              <a:rPr lang="zh-CN" altLang="en-US" sz="2800" b="1" dirty="0">
                <a:latin typeface="楷体" panose="02010609060101010101" pitchFamily="49" charset="-122"/>
                <a:ea typeface="楷体" panose="02010609060101010101" pitchFamily="49" charset="-122"/>
              </a:rPr>
              <a:t>复位时，</a:t>
            </a:r>
            <a:r>
              <a:rPr lang="en-US" altLang="zh-CN" sz="2800" b="1" dirty="0">
                <a:latin typeface="楷体" panose="02010609060101010101" pitchFamily="49" charset="-122"/>
                <a:ea typeface="楷体" panose="02010609060101010101" pitchFamily="49" charset="-122"/>
              </a:rPr>
              <a:t>SMOD=0</a:t>
            </a:r>
            <a:r>
              <a:rPr lang="zh-CN" altLang="en-US" sz="2800" b="1" dirty="0">
                <a:latin typeface="楷体" panose="02010609060101010101" pitchFamily="49" charset="-122"/>
                <a:ea typeface="楷体" panose="02010609060101010101" pitchFamily="49" charset="-122"/>
              </a:rPr>
              <a:t>。</a:t>
            </a:r>
          </a:p>
        </p:txBody>
      </p:sp>
      <p:sp>
        <p:nvSpPr>
          <p:cNvPr id="7" name="TextBox 8">
            <a:extLst>
              <a:ext uri="{FF2B5EF4-FFF2-40B4-BE49-F238E27FC236}">
                <a16:creationId xmlns:a16="http://schemas.microsoft.com/office/drawing/2014/main" id="{8159A9F5-F028-1003-F33C-310E4E09FEBF}"/>
              </a:ext>
            </a:extLst>
          </p:cNvPr>
          <p:cNvSpPr txBox="1">
            <a:spLocks noChangeArrowheads="1"/>
          </p:cNvSpPr>
          <p:nvPr/>
        </p:nvSpPr>
        <p:spPr bwMode="auto">
          <a:xfrm>
            <a:off x="377825" y="1256270"/>
            <a:ext cx="7615238" cy="584200"/>
          </a:xfrm>
          <a:prstGeom prst="rect">
            <a:avLst/>
          </a:prstGeom>
          <a:noFill/>
          <a:ln w="9525">
            <a:noFill/>
            <a:miter lim="800000"/>
            <a:headEnd/>
            <a:tailEnd/>
          </a:ln>
        </p:spPr>
        <p:txBody>
          <a:bodyPr>
            <a:spAutoFit/>
          </a:bodyPr>
          <a:lstStyle/>
          <a:p>
            <a:r>
              <a:rPr lang="zh-CN" altLang="en-US" sz="3200" b="1" dirty="0">
                <a:solidFill>
                  <a:srgbClr val="0000FF"/>
                </a:solidFill>
                <a:latin typeface="楷体" panose="02010609060101010101" pitchFamily="49" charset="-122"/>
                <a:ea typeface="楷体" panose="02010609060101010101" pitchFamily="49" charset="-122"/>
              </a:rPr>
              <a:t>电源控制寄存器</a:t>
            </a:r>
            <a:r>
              <a:rPr lang="en-US" altLang="zh-CN" sz="3200" b="1" dirty="0">
                <a:solidFill>
                  <a:srgbClr val="0000FF"/>
                </a:solidFill>
                <a:latin typeface="楷体" panose="02010609060101010101" pitchFamily="49" charset="-122"/>
                <a:ea typeface="楷体" panose="02010609060101010101" pitchFamily="49" charset="-122"/>
              </a:rPr>
              <a:t>PCON</a:t>
            </a:r>
            <a:endParaRPr lang="zh-CN" altLang="en-US" sz="3200" b="1" dirty="0">
              <a:solidFill>
                <a:srgbClr val="0000FF"/>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02764198"/>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串口通信波特率的计算解析</a:t>
            </a:r>
            <a:endParaRPr lang="zh-CN" altLang="en-US" sz="3200" dirty="0"/>
          </a:p>
        </p:txBody>
      </p:sp>
      <p:sp>
        <p:nvSpPr>
          <p:cNvPr id="3" name="Rectangle 3">
            <a:extLst>
              <a:ext uri="{FF2B5EF4-FFF2-40B4-BE49-F238E27FC236}">
                <a16:creationId xmlns:a16="http://schemas.microsoft.com/office/drawing/2014/main" id="{EB5A3F86-26B9-44CF-2D89-87725B364D0D}"/>
              </a:ext>
            </a:extLst>
          </p:cNvPr>
          <p:cNvSpPr txBox="1">
            <a:spLocks noRot="1" noChangeArrowheads="1"/>
          </p:cNvSpPr>
          <p:nvPr/>
        </p:nvSpPr>
        <p:spPr>
          <a:xfrm>
            <a:off x="252413" y="1205042"/>
            <a:ext cx="8623300" cy="5353050"/>
          </a:xfrm>
          <a:prstGeom prst="rect">
            <a:avLst/>
          </a:prstGeom>
          <a:noFill/>
        </p:spPr>
        <p:txBody>
          <a:bodyPr/>
          <a:lstStyle/>
          <a:p>
            <a:pPr>
              <a:lnSpc>
                <a:spcPct val="95000"/>
              </a:lnSpc>
              <a:spcBef>
                <a:spcPct val="20000"/>
              </a:spcBef>
              <a:defRPr/>
            </a:pPr>
            <a:r>
              <a:rPr lang="zh-CN" altLang="en-US" sz="2800" b="1" dirty="0">
                <a:latin typeface="楷体" panose="02010609060101010101" pitchFamily="49" charset="-122"/>
                <a:ea typeface="楷体" panose="02010609060101010101" pitchFamily="49" charset="-122"/>
                <a:cs typeface="+mn-cs"/>
              </a:rPr>
              <a:t>    在串行通信中，收发双方对发送或接收数据的速率要有约定。通过软件可对单片机串行口编程为四种工作方式，其中方式</a:t>
            </a:r>
            <a:r>
              <a:rPr lang="en-US" altLang="zh-CN" sz="2800" b="1" dirty="0">
                <a:latin typeface="楷体" panose="02010609060101010101" pitchFamily="49" charset="-122"/>
                <a:ea typeface="楷体" panose="02010609060101010101" pitchFamily="49" charset="-122"/>
                <a:cs typeface="+mn-cs"/>
              </a:rPr>
              <a:t>0</a:t>
            </a:r>
            <a:r>
              <a:rPr lang="zh-CN" altLang="en-US" sz="2800" b="1" dirty="0">
                <a:latin typeface="楷体" panose="02010609060101010101" pitchFamily="49" charset="-122"/>
                <a:ea typeface="楷体" panose="02010609060101010101" pitchFamily="49" charset="-122"/>
                <a:cs typeface="+mn-cs"/>
              </a:rPr>
              <a:t>和方式</a:t>
            </a:r>
            <a:r>
              <a:rPr lang="en-US" altLang="zh-CN" sz="2800" b="1" dirty="0">
                <a:latin typeface="楷体" panose="02010609060101010101" pitchFamily="49" charset="-122"/>
                <a:ea typeface="楷体" panose="02010609060101010101" pitchFamily="49" charset="-122"/>
                <a:cs typeface="+mn-cs"/>
              </a:rPr>
              <a:t>2</a:t>
            </a:r>
            <a:r>
              <a:rPr lang="zh-CN" altLang="en-US" sz="2800" b="1" dirty="0">
                <a:latin typeface="楷体" panose="02010609060101010101" pitchFamily="49" charset="-122"/>
                <a:ea typeface="楷体" panose="02010609060101010101" pitchFamily="49" charset="-122"/>
                <a:cs typeface="+mn-cs"/>
              </a:rPr>
              <a:t>的波特率是固定的，而方式</a:t>
            </a:r>
            <a:r>
              <a:rPr lang="en-US" altLang="zh-CN" sz="2800" b="1" dirty="0">
                <a:latin typeface="楷体" panose="02010609060101010101" pitchFamily="49" charset="-122"/>
                <a:ea typeface="楷体" panose="02010609060101010101" pitchFamily="49" charset="-122"/>
                <a:cs typeface="+mn-cs"/>
              </a:rPr>
              <a:t>1</a:t>
            </a:r>
            <a:r>
              <a:rPr lang="zh-CN" altLang="en-US" sz="2800" b="1" dirty="0">
                <a:latin typeface="楷体" panose="02010609060101010101" pitchFamily="49" charset="-122"/>
                <a:ea typeface="楷体" panose="02010609060101010101" pitchFamily="49" charset="-122"/>
                <a:cs typeface="+mn-cs"/>
              </a:rPr>
              <a:t>和方式</a:t>
            </a:r>
            <a:r>
              <a:rPr lang="en-US" altLang="zh-CN" sz="2800" b="1" dirty="0">
                <a:latin typeface="楷体" panose="02010609060101010101" pitchFamily="49" charset="-122"/>
                <a:ea typeface="楷体" panose="02010609060101010101" pitchFamily="49" charset="-122"/>
                <a:cs typeface="+mn-cs"/>
              </a:rPr>
              <a:t>3</a:t>
            </a:r>
            <a:r>
              <a:rPr lang="zh-CN" altLang="en-US" sz="2800" b="1" dirty="0">
                <a:latin typeface="楷体" panose="02010609060101010101" pitchFamily="49" charset="-122"/>
                <a:ea typeface="楷体" panose="02010609060101010101" pitchFamily="49" charset="-122"/>
                <a:cs typeface="+mn-cs"/>
              </a:rPr>
              <a:t>的波特率是可变的，由定时器</a:t>
            </a:r>
            <a:r>
              <a:rPr lang="en-US" altLang="zh-CN" sz="2800" b="1" dirty="0">
                <a:latin typeface="楷体" panose="02010609060101010101" pitchFamily="49" charset="-122"/>
                <a:ea typeface="楷体" panose="02010609060101010101" pitchFamily="49" charset="-122"/>
                <a:cs typeface="+mn-cs"/>
              </a:rPr>
              <a:t>T1</a:t>
            </a:r>
            <a:r>
              <a:rPr lang="zh-CN" altLang="en-US" sz="2800" b="1" dirty="0">
                <a:latin typeface="楷体" panose="02010609060101010101" pitchFamily="49" charset="-122"/>
                <a:ea typeface="楷体" panose="02010609060101010101" pitchFamily="49" charset="-122"/>
                <a:cs typeface="+mn-cs"/>
              </a:rPr>
              <a:t>的溢出率来决定。</a:t>
            </a:r>
          </a:p>
          <a:p>
            <a:pPr>
              <a:lnSpc>
                <a:spcPct val="95000"/>
              </a:lnSpc>
              <a:spcBef>
                <a:spcPct val="20000"/>
              </a:spcBef>
              <a:defRPr/>
            </a:pPr>
            <a:r>
              <a:rPr lang="zh-CN" altLang="en-US" sz="2800" b="1" dirty="0">
                <a:latin typeface="楷体" panose="02010609060101010101" pitchFamily="49" charset="-122"/>
                <a:ea typeface="楷体" panose="02010609060101010101" pitchFamily="49" charset="-122"/>
                <a:cs typeface="+mn-cs"/>
              </a:rPr>
              <a:t>    串行口的四种工作方式对应三种波特率。由于输入的移位时钟的来源不同，所以，各种方式的波特率计算公式也不相同。</a:t>
            </a:r>
          </a:p>
          <a:p>
            <a:pPr>
              <a:lnSpc>
                <a:spcPct val="95000"/>
              </a:lnSpc>
              <a:spcBef>
                <a:spcPct val="20000"/>
              </a:spcBef>
              <a:buFont typeface="Arial" pitchFamily="34" charset="0"/>
              <a:buChar char="•"/>
              <a:defRPr/>
            </a:pPr>
            <a:r>
              <a:rPr lang="zh-CN" altLang="en-US" sz="2800" b="1" dirty="0">
                <a:solidFill>
                  <a:srgbClr val="DF5131"/>
                </a:solidFill>
                <a:latin typeface="楷体" panose="02010609060101010101" pitchFamily="49" charset="-122"/>
                <a:ea typeface="楷体" panose="02010609060101010101" pitchFamily="49" charset="-122"/>
                <a:cs typeface="+mn-cs"/>
              </a:rPr>
              <a:t>方式</a:t>
            </a:r>
            <a:r>
              <a:rPr lang="en-US" altLang="zh-CN" sz="2800" b="1" dirty="0">
                <a:solidFill>
                  <a:srgbClr val="DF5131"/>
                </a:solidFill>
                <a:latin typeface="楷体" panose="02010609060101010101" pitchFamily="49" charset="-122"/>
                <a:ea typeface="楷体" panose="02010609060101010101" pitchFamily="49" charset="-122"/>
                <a:cs typeface="+mn-cs"/>
              </a:rPr>
              <a:t>0</a:t>
            </a:r>
            <a:r>
              <a:rPr lang="zh-CN" altLang="en-US" sz="2800" b="1" dirty="0">
                <a:solidFill>
                  <a:srgbClr val="DF5131"/>
                </a:solidFill>
                <a:latin typeface="楷体" panose="02010609060101010101" pitchFamily="49" charset="-122"/>
                <a:ea typeface="楷体" panose="02010609060101010101" pitchFamily="49" charset="-122"/>
                <a:cs typeface="+mn-cs"/>
              </a:rPr>
              <a:t>的波特率 </a:t>
            </a:r>
            <a:r>
              <a:rPr lang="en-US" altLang="zh-CN" sz="2800" b="1" dirty="0">
                <a:solidFill>
                  <a:srgbClr val="DF5131"/>
                </a:solidFill>
                <a:latin typeface="楷体" panose="02010609060101010101" pitchFamily="49" charset="-122"/>
                <a:ea typeface="楷体" panose="02010609060101010101" pitchFamily="49" charset="-122"/>
                <a:cs typeface="+mn-cs"/>
              </a:rPr>
              <a:t>=  fosc/12</a:t>
            </a:r>
          </a:p>
          <a:p>
            <a:pPr>
              <a:lnSpc>
                <a:spcPct val="95000"/>
              </a:lnSpc>
              <a:spcBef>
                <a:spcPct val="20000"/>
              </a:spcBef>
              <a:buFont typeface="Arial" pitchFamily="34" charset="0"/>
              <a:buChar char="•"/>
              <a:defRPr/>
            </a:pPr>
            <a:r>
              <a:rPr lang="zh-CN" altLang="en-US" sz="2800" b="1" dirty="0">
                <a:solidFill>
                  <a:srgbClr val="DF5131"/>
                </a:solidFill>
                <a:latin typeface="楷体" panose="02010609060101010101" pitchFamily="49" charset="-122"/>
                <a:ea typeface="楷体" panose="02010609060101010101" pitchFamily="49" charset="-122"/>
                <a:cs typeface="+mn-cs"/>
              </a:rPr>
              <a:t>方式</a:t>
            </a:r>
            <a:r>
              <a:rPr lang="en-US" altLang="zh-CN" sz="2800" b="1" dirty="0">
                <a:solidFill>
                  <a:srgbClr val="DF5131"/>
                </a:solidFill>
                <a:latin typeface="楷体" panose="02010609060101010101" pitchFamily="49" charset="-122"/>
                <a:ea typeface="楷体" panose="02010609060101010101" pitchFamily="49" charset="-122"/>
                <a:cs typeface="+mn-cs"/>
              </a:rPr>
              <a:t>2</a:t>
            </a:r>
            <a:r>
              <a:rPr lang="zh-CN" altLang="en-US" sz="2800" b="1" dirty="0">
                <a:solidFill>
                  <a:srgbClr val="DF5131"/>
                </a:solidFill>
                <a:latin typeface="楷体" panose="02010609060101010101" pitchFamily="49" charset="-122"/>
                <a:ea typeface="楷体" panose="02010609060101010101" pitchFamily="49" charset="-122"/>
                <a:cs typeface="+mn-cs"/>
              </a:rPr>
              <a:t>的波特率 </a:t>
            </a:r>
            <a:r>
              <a:rPr lang="en-US" altLang="zh-CN" sz="2800" b="1" dirty="0">
                <a:solidFill>
                  <a:srgbClr val="DF5131"/>
                </a:solidFill>
                <a:latin typeface="楷体" panose="02010609060101010101" pitchFamily="49" charset="-122"/>
                <a:ea typeface="楷体" panose="02010609060101010101" pitchFamily="49" charset="-122"/>
                <a:cs typeface="+mn-cs"/>
              </a:rPr>
              <a:t>=</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2</a:t>
            </a:r>
            <a:r>
              <a:rPr lang="en-US" altLang="zh-CN" sz="2800" baseline="30000" dirty="0">
                <a:solidFill>
                  <a:srgbClr val="DF5131"/>
                </a:solidFill>
                <a:latin typeface="楷体" panose="02010609060101010101" pitchFamily="49" charset="-122"/>
                <a:ea typeface="楷体" panose="02010609060101010101" pitchFamily="49" charset="-122"/>
                <a:cs typeface="+mn-cs"/>
              </a:rPr>
              <a:t>SMOD</a:t>
            </a:r>
            <a:r>
              <a:rPr lang="en-US" altLang="zh-CN" sz="2800" b="1" dirty="0">
                <a:solidFill>
                  <a:srgbClr val="DF5131"/>
                </a:solidFill>
                <a:latin typeface="楷体" panose="02010609060101010101" pitchFamily="49" charset="-122"/>
                <a:ea typeface="楷体" panose="02010609060101010101" pitchFamily="49" charset="-122"/>
                <a:cs typeface="+mn-cs"/>
              </a:rPr>
              <a:t>/64</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 fosc </a:t>
            </a:r>
          </a:p>
          <a:p>
            <a:pPr>
              <a:lnSpc>
                <a:spcPct val="95000"/>
              </a:lnSpc>
              <a:spcBef>
                <a:spcPct val="20000"/>
              </a:spcBef>
              <a:buFont typeface="Arial" pitchFamily="34" charset="0"/>
              <a:buChar char="•"/>
              <a:defRPr/>
            </a:pPr>
            <a:r>
              <a:rPr lang="zh-CN" altLang="en-US" sz="2800" b="1" dirty="0">
                <a:solidFill>
                  <a:srgbClr val="DF5131"/>
                </a:solidFill>
                <a:latin typeface="楷体" panose="02010609060101010101" pitchFamily="49" charset="-122"/>
                <a:ea typeface="楷体" panose="02010609060101010101" pitchFamily="49" charset="-122"/>
                <a:cs typeface="+mn-cs"/>
              </a:rPr>
              <a:t>方式</a:t>
            </a:r>
            <a:r>
              <a:rPr lang="en-US" altLang="zh-CN" sz="2800" b="1" dirty="0">
                <a:solidFill>
                  <a:srgbClr val="DF5131"/>
                </a:solidFill>
                <a:latin typeface="楷体" panose="02010609060101010101" pitchFamily="49" charset="-122"/>
                <a:ea typeface="楷体" panose="02010609060101010101" pitchFamily="49" charset="-122"/>
                <a:cs typeface="+mn-cs"/>
              </a:rPr>
              <a:t>1</a:t>
            </a:r>
            <a:r>
              <a:rPr lang="zh-CN" altLang="en-US" sz="2800" b="1" dirty="0">
                <a:solidFill>
                  <a:srgbClr val="DF5131"/>
                </a:solidFill>
                <a:latin typeface="楷体" panose="02010609060101010101" pitchFamily="49" charset="-122"/>
                <a:ea typeface="楷体" panose="02010609060101010101" pitchFamily="49" charset="-122"/>
                <a:cs typeface="+mn-cs"/>
              </a:rPr>
              <a:t>的波特率 </a:t>
            </a:r>
            <a:r>
              <a:rPr lang="en-US" altLang="zh-CN" sz="2800" b="1" dirty="0">
                <a:solidFill>
                  <a:srgbClr val="DF5131"/>
                </a:solidFill>
                <a:latin typeface="楷体" panose="02010609060101010101" pitchFamily="49" charset="-122"/>
                <a:ea typeface="楷体" panose="02010609060101010101" pitchFamily="49" charset="-122"/>
                <a:cs typeface="+mn-cs"/>
              </a:rPr>
              <a:t>=</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2</a:t>
            </a:r>
            <a:r>
              <a:rPr lang="en-US" altLang="zh-CN" sz="2800" baseline="30000" dirty="0">
                <a:solidFill>
                  <a:srgbClr val="DF5131"/>
                </a:solidFill>
                <a:latin typeface="楷体" panose="02010609060101010101" pitchFamily="49" charset="-122"/>
                <a:ea typeface="楷体" panose="02010609060101010101" pitchFamily="49" charset="-122"/>
                <a:cs typeface="+mn-cs"/>
              </a:rPr>
              <a:t>SMOD</a:t>
            </a:r>
            <a:r>
              <a:rPr lang="en-US" altLang="zh-CN" sz="2800" b="1" dirty="0">
                <a:solidFill>
                  <a:srgbClr val="DF5131"/>
                </a:solidFill>
                <a:latin typeface="楷体" panose="02010609060101010101" pitchFamily="49" charset="-122"/>
                <a:ea typeface="楷体" panose="02010609060101010101" pitchFamily="49" charset="-122"/>
                <a:cs typeface="+mn-cs"/>
              </a:rPr>
              <a:t>/32</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T1</a:t>
            </a:r>
            <a:r>
              <a:rPr lang="zh-CN" altLang="en-US" sz="2800" b="1" dirty="0">
                <a:solidFill>
                  <a:srgbClr val="DF5131"/>
                </a:solidFill>
                <a:latin typeface="楷体" panose="02010609060101010101" pitchFamily="49" charset="-122"/>
                <a:ea typeface="楷体" panose="02010609060101010101" pitchFamily="49" charset="-122"/>
                <a:cs typeface="+mn-cs"/>
              </a:rPr>
              <a:t>溢出率）</a:t>
            </a:r>
          </a:p>
          <a:p>
            <a:pPr>
              <a:lnSpc>
                <a:spcPct val="95000"/>
              </a:lnSpc>
              <a:spcBef>
                <a:spcPct val="20000"/>
              </a:spcBef>
              <a:buFont typeface="Arial" pitchFamily="34" charset="0"/>
              <a:buChar char="•"/>
              <a:defRPr/>
            </a:pPr>
            <a:r>
              <a:rPr lang="zh-CN" altLang="en-US" sz="2800" b="1" dirty="0">
                <a:solidFill>
                  <a:srgbClr val="DF5131"/>
                </a:solidFill>
                <a:latin typeface="楷体" panose="02010609060101010101" pitchFamily="49" charset="-122"/>
                <a:ea typeface="楷体" panose="02010609060101010101" pitchFamily="49" charset="-122"/>
                <a:cs typeface="+mn-cs"/>
              </a:rPr>
              <a:t>方式</a:t>
            </a:r>
            <a:r>
              <a:rPr lang="en-US" altLang="zh-CN" sz="2800" b="1" dirty="0">
                <a:solidFill>
                  <a:srgbClr val="DF5131"/>
                </a:solidFill>
                <a:latin typeface="楷体" panose="02010609060101010101" pitchFamily="49" charset="-122"/>
                <a:ea typeface="楷体" panose="02010609060101010101" pitchFamily="49" charset="-122"/>
                <a:cs typeface="+mn-cs"/>
              </a:rPr>
              <a:t>3</a:t>
            </a:r>
            <a:r>
              <a:rPr lang="zh-CN" altLang="en-US" sz="2800" b="1" dirty="0">
                <a:solidFill>
                  <a:srgbClr val="DF5131"/>
                </a:solidFill>
                <a:latin typeface="楷体" panose="02010609060101010101" pitchFamily="49" charset="-122"/>
                <a:ea typeface="楷体" panose="02010609060101010101" pitchFamily="49" charset="-122"/>
                <a:cs typeface="+mn-cs"/>
              </a:rPr>
              <a:t>的波特率 </a:t>
            </a:r>
            <a:r>
              <a:rPr lang="en-US" altLang="zh-CN" sz="2800" b="1" dirty="0">
                <a:solidFill>
                  <a:srgbClr val="DF5131"/>
                </a:solidFill>
                <a:latin typeface="楷体" panose="02010609060101010101" pitchFamily="49" charset="-122"/>
                <a:ea typeface="楷体" panose="02010609060101010101" pitchFamily="49" charset="-122"/>
                <a:cs typeface="+mn-cs"/>
              </a:rPr>
              <a:t>=</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2</a:t>
            </a:r>
            <a:r>
              <a:rPr lang="en-US" altLang="zh-CN" sz="2800" baseline="30000" dirty="0">
                <a:solidFill>
                  <a:srgbClr val="DF5131"/>
                </a:solidFill>
                <a:latin typeface="楷体" panose="02010609060101010101" pitchFamily="49" charset="-122"/>
                <a:ea typeface="楷体" panose="02010609060101010101" pitchFamily="49" charset="-122"/>
                <a:cs typeface="+mn-cs"/>
              </a:rPr>
              <a:t>SMOD</a:t>
            </a:r>
            <a:r>
              <a:rPr lang="en-US" altLang="zh-CN" sz="2800" b="1" dirty="0">
                <a:solidFill>
                  <a:srgbClr val="DF5131"/>
                </a:solidFill>
                <a:latin typeface="楷体" panose="02010609060101010101" pitchFamily="49" charset="-122"/>
                <a:ea typeface="楷体" panose="02010609060101010101" pitchFamily="49" charset="-122"/>
                <a:cs typeface="+mn-cs"/>
              </a:rPr>
              <a:t>/32</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a:t>
            </a:r>
            <a:r>
              <a:rPr lang="zh-CN" altLang="en-US" sz="2800" b="1" dirty="0">
                <a:solidFill>
                  <a:srgbClr val="DF5131"/>
                </a:solidFill>
                <a:latin typeface="楷体" panose="02010609060101010101" pitchFamily="49" charset="-122"/>
                <a:ea typeface="楷体" panose="02010609060101010101" pitchFamily="49" charset="-122"/>
                <a:cs typeface="+mn-cs"/>
              </a:rPr>
              <a:t>（</a:t>
            </a:r>
            <a:r>
              <a:rPr lang="en-US" altLang="zh-CN" sz="2800" b="1" dirty="0">
                <a:solidFill>
                  <a:srgbClr val="DF5131"/>
                </a:solidFill>
                <a:latin typeface="楷体" panose="02010609060101010101" pitchFamily="49" charset="-122"/>
                <a:ea typeface="楷体" panose="02010609060101010101" pitchFamily="49" charset="-122"/>
                <a:cs typeface="+mn-cs"/>
              </a:rPr>
              <a:t>T1</a:t>
            </a:r>
            <a:r>
              <a:rPr lang="zh-CN" altLang="en-US" sz="2800" b="1" dirty="0">
                <a:solidFill>
                  <a:srgbClr val="DF5131"/>
                </a:solidFill>
                <a:latin typeface="楷体" panose="02010609060101010101" pitchFamily="49" charset="-122"/>
                <a:ea typeface="楷体" panose="02010609060101010101" pitchFamily="49" charset="-122"/>
                <a:cs typeface="+mn-cs"/>
              </a:rPr>
              <a:t>溢出率）</a:t>
            </a:r>
          </a:p>
        </p:txBody>
      </p:sp>
    </p:spTree>
    <p:extLst>
      <p:ext uri="{BB962C8B-B14F-4D97-AF65-F5344CB8AC3E}">
        <p14:creationId xmlns:p14="http://schemas.microsoft.com/office/powerpoint/2010/main" val="2367735440"/>
      </p:ext>
    </p:extLst>
  </p:cSld>
  <p:clrMapOvr>
    <a:masterClrMapping/>
  </p:clrMapOvr>
  <p:transition spd="slow" advClick="0">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串口通信波特率的计算解析</a:t>
            </a:r>
            <a:endParaRPr lang="zh-CN" altLang="en-US" sz="3200" dirty="0"/>
          </a:p>
        </p:txBody>
      </p:sp>
      <p:sp>
        <p:nvSpPr>
          <p:cNvPr id="4" name="Rectangle 5">
            <a:extLst>
              <a:ext uri="{FF2B5EF4-FFF2-40B4-BE49-F238E27FC236}">
                <a16:creationId xmlns:a16="http://schemas.microsoft.com/office/drawing/2014/main" id="{AD40F98C-9352-AAAA-F539-D10C03AAD2A2}"/>
              </a:ext>
            </a:extLst>
          </p:cNvPr>
          <p:cNvSpPr>
            <a:spLocks noChangeArrowheads="1"/>
          </p:cNvSpPr>
          <p:nvPr/>
        </p:nvSpPr>
        <p:spPr bwMode="auto">
          <a:xfrm>
            <a:off x="323850" y="1350920"/>
            <a:ext cx="8351838" cy="5040313"/>
          </a:xfrm>
          <a:prstGeom prst="rect">
            <a:avLst/>
          </a:prstGeom>
          <a:noFill/>
          <a:ln w="9525">
            <a:noFill/>
            <a:miter lim="800000"/>
            <a:headEnd/>
            <a:tailEnd/>
          </a:ln>
        </p:spPr>
        <p:txBody>
          <a:bodyPr/>
          <a:lstStyle/>
          <a:p>
            <a:pPr>
              <a:lnSpc>
                <a:spcPct val="120000"/>
              </a:lnSpc>
              <a:spcBef>
                <a:spcPct val="20000"/>
              </a:spcBef>
              <a:buClr>
                <a:schemeClr val="hlink"/>
              </a:buClr>
              <a:buFont typeface="Wingdings" pitchFamily="2" charset="2"/>
              <a:buNone/>
            </a:pPr>
            <a:r>
              <a:rPr lang="zh-CN" altLang="en-US" sz="2800" b="1" dirty="0">
                <a:latin typeface="楷体" panose="02010609060101010101" pitchFamily="49" charset="-122"/>
                <a:ea typeface="楷体" panose="02010609060101010101" pitchFamily="49" charset="-122"/>
              </a:rPr>
              <a:t>    当</a:t>
            </a:r>
            <a:r>
              <a:rPr lang="en-US" altLang="zh-CN" sz="2800" b="1" dirty="0">
                <a:latin typeface="楷体" panose="02010609060101010101" pitchFamily="49" charset="-122"/>
                <a:ea typeface="楷体" panose="02010609060101010101" pitchFamily="49" charset="-122"/>
              </a:rPr>
              <a:t>T1</a:t>
            </a:r>
            <a:r>
              <a:rPr lang="zh-CN" altLang="en-US" sz="2800" b="1" dirty="0">
                <a:latin typeface="楷体" panose="02010609060101010101" pitchFamily="49" charset="-122"/>
                <a:ea typeface="楷体" panose="02010609060101010101" pitchFamily="49" charset="-122"/>
              </a:rPr>
              <a:t>作为波特率发生器时，最典型的用法是使</a:t>
            </a:r>
            <a:r>
              <a:rPr lang="en-US" altLang="zh-CN" sz="2800" b="1" dirty="0">
                <a:latin typeface="楷体" panose="02010609060101010101" pitchFamily="49" charset="-122"/>
                <a:ea typeface="楷体" panose="02010609060101010101" pitchFamily="49" charset="-122"/>
              </a:rPr>
              <a:t>T1</a:t>
            </a:r>
            <a:r>
              <a:rPr lang="zh-CN" altLang="en-US" sz="2800" b="1" dirty="0">
                <a:latin typeface="楷体" panose="02010609060101010101" pitchFamily="49" charset="-122"/>
                <a:ea typeface="楷体" panose="02010609060101010101" pitchFamily="49" charset="-122"/>
              </a:rPr>
              <a:t>工作在自动重装模式的</a:t>
            </a:r>
            <a:r>
              <a:rPr lang="en-US" altLang="zh-CN" sz="2800" b="1" dirty="0">
                <a:latin typeface="楷体" panose="02010609060101010101" pitchFamily="49" charset="-122"/>
                <a:ea typeface="楷体" panose="02010609060101010101" pitchFamily="49" charset="-122"/>
              </a:rPr>
              <a:t>8</a:t>
            </a:r>
            <a:r>
              <a:rPr lang="zh-CN" altLang="en-US" sz="2800" b="1" dirty="0">
                <a:latin typeface="楷体" panose="02010609060101010101" pitchFamily="49" charset="-122"/>
                <a:ea typeface="楷体" panose="02010609060101010101" pitchFamily="49" charset="-122"/>
              </a:rPr>
              <a:t>位定时器方式（即方式</a:t>
            </a:r>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，且</a:t>
            </a:r>
            <a:r>
              <a:rPr lang="en-US" altLang="zh-CN" sz="2800" b="1" dirty="0">
                <a:latin typeface="楷体" panose="02010609060101010101" pitchFamily="49" charset="-122"/>
                <a:ea typeface="楷体" panose="02010609060101010101" pitchFamily="49" charset="-122"/>
              </a:rPr>
              <a:t>TCON</a:t>
            </a:r>
            <a:r>
              <a:rPr lang="zh-CN" altLang="en-US" sz="2800" b="1" dirty="0">
                <a:latin typeface="楷体" panose="02010609060101010101" pitchFamily="49" charset="-122"/>
                <a:ea typeface="楷体" panose="02010609060101010101" pitchFamily="49" charset="-122"/>
              </a:rPr>
              <a:t>的</a:t>
            </a:r>
            <a:r>
              <a:rPr lang="en-US" altLang="zh-CN" sz="2800" b="1" dirty="0">
                <a:latin typeface="楷体" panose="02010609060101010101" pitchFamily="49" charset="-122"/>
                <a:ea typeface="楷体" panose="02010609060101010101" pitchFamily="49" charset="-122"/>
              </a:rPr>
              <a:t>TR1=1</a:t>
            </a:r>
            <a:r>
              <a:rPr lang="zh-CN" altLang="en-US" sz="2800" b="1" dirty="0">
                <a:latin typeface="楷体" panose="02010609060101010101" pitchFamily="49" charset="-122"/>
                <a:ea typeface="楷体" panose="02010609060101010101" pitchFamily="49" charset="-122"/>
              </a:rPr>
              <a:t>，以启动定时器）。这时溢出率取决于</a:t>
            </a:r>
            <a:r>
              <a:rPr lang="en-US" altLang="zh-CN" sz="2800" b="1" dirty="0">
                <a:latin typeface="楷体" panose="02010609060101010101" pitchFamily="49" charset="-122"/>
                <a:ea typeface="楷体" panose="02010609060101010101" pitchFamily="49" charset="-122"/>
              </a:rPr>
              <a:t>TH1</a:t>
            </a:r>
            <a:r>
              <a:rPr lang="zh-CN" altLang="en-US" sz="2800" b="1" dirty="0">
                <a:latin typeface="楷体" panose="02010609060101010101" pitchFamily="49" charset="-122"/>
                <a:ea typeface="楷体" panose="02010609060101010101" pitchFamily="49" charset="-122"/>
              </a:rPr>
              <a:t>中的计数值。</a:t>
            </a:r>
          </a:p>
          <a:p>
            <a:pPr>
              <a:lnSpc>
                <a:spcPct val="120000"/>
              </a:lnSpc>
              <a:spcBef>
                <a:spcPct val="20000"/>
              </a:spcBef>
              <a:buClr>
                <a:schemeClr val="hlink"/>
              </a:buClr>
              <a:buFont typeface="Wingdings" pitchFamily="2" charset="2"/>
              <a:buNone/>
            </a:pPr>
            <a:r>
              <a:rPr lang="zh-CN" altLang="en-US" sz="2800" b="1" dirty="0">
                <a:latin typeface="楷体" panose="02010609060101010101" pitchFamily="49" charset="-122"/>
                <a:ea typeface="楷体" panose="02010609060101010101" pitchFamily="49" charset="-122"/>
              </a:rPr>
              <a:t>   </a:t>
            </a:r>
            <a:r>
              <a:rPr lang="en-US" altLang="zh-CN" sz="2800" b="1" dirty="0">
                <a:solidFill>
                  <a:srgbClr val="FF00FF"/>
                </a:solidFill>
                <a:latin typeface="楷体" panose="02010609060101010101" pitchFamily="49" charset="-122"/>
                <a:ea typeface="楷体" panose="02010609060101010101" pitchFamily="49" charset="-122"/>
              </a:rPr>
              <a:t>T1 </a:t>
            </a:r>
            <a:r>
              <a:rPr lang="zh-CN" altLang="en-US" sz="2800" b="1" dirty="0">
                <a:solidFill>
                  <a:srgbClr val="FF00FF"/>
                </a:solidFill>
                <a:latin typeface="楷体" panose="02010609060101010101" pitchFamily="49" charset="-122"/>
                <a:ea typeface="楷体" panose="02010609060101010101" pitchFamily="49" charset="-122"/>
              </a:rPr>
              <a:t>溢出率 </a:t>
            </a:r>
            <a:r>
              <a:rPr lang="en-US" altLang="zh-CN" sz="2800" b="1" dirty="0">
                <a:solidFill>
                  <a:srgbClr val="FF00FF"/>
                </a:solidFill>
                <a:latin typeface="楷体" panose="02010609060101010101" pitchFamily="49" charset="-122"/>
                <a:ea typeface="楷体" panose="02010609060101010101" pitchFamily="49" charset="-122"/>
              </a:rPr>
              <a:t>= fosc /{12×[256 </a:t>
            </a:r>
            <a:r>
              <a:rPr lang="zh-CN" altLang="en-US" sz="2800" b="1" dirty="0">
                <a:solidFill>
                  <a:srgbClr val="FF00FF"/>
                </a:solidFill>
                <a:latin typeface="楷体" panose="02010609060101010101" pitchFamily="49" charset="-122"/>
                <a:ea typeface="楷体" panose="02010609060101010101" pitchFamily="49" charset="-122"/>
              </a:rPr>
              <a:t>－（</a:t>
            </a:r>
            <a:r>
              <a:rPr lang="en-US" altLang="zh-CN" sz="2800" b="1" dirty="0">
                <a:solidFill>
                  <a:srgbClr val="FF00FF"/>
                </a:solidFill>
                <a:latin typeface="楷体" panose="02010609060101010101" pitchFamily="49" charset="-122"/>
                <a:ea typeface="楷体" panose="02010609060101010101" pitchFamily="49" charset="-122"/>
              </a:rPr>
              <a:t>TH1</a:t>
            </a:r>
            <a:r>
              <a:rPr lang="zh-CN" altLang="en-US" sz="2800" b="1" dirty="0">
                <a:solidFill>
                  <a:srgbClr val="FF00FF"/>
                </a:solidFill>
                <a:latin typeface="楷体" panose="02010609060101010101" pitchFamily="49" charset="-122"/>
                <a:ea typeface="楷体" panose="02010609060101010101" pitchFamily="49" charset="-122"/>
              </a:rPr>
              <a:t>）</a:t>
            </a:r>
            <a:r>
              <a:rPr lang="en-US" altLang="zh-CN" sz="2800" b="1" dirty="0">
                <a:solidFill>
                  <a:srgbClr val="FF00FF"/>
                </a:solidFill>
                <a:latin typeface="楷体" panose="02010609060101010101" pitchFamily="49" charset="-122"/>
                <a:ea typeface="楷体" panose="02010609060101010101" pitchFamily="49" charset="-122"/>
              </a:rPr>
              <a:t>]}</a:t>
            </a:r>
          </a:p>
          <a:p>
            <a:pPr>
              <a:lnSpc>
                <a:spcPct val="120000"/>
              </a:lnSpc>
              <a:spcBef>
                <a:spcPct val="20000"/>
              </a:spcBef>
              <a:buClr>
                <a:schemeClr val="hlink"/>
              </a:buClr>
              <a:buFont typeface="Wingdings" pitchFamily="2" charset="2"/>
              <a:buNone/>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在单片机的应用中，常用的晶振频率为：</a:t>
            </a:r>
            <a:r>
              <a:rPr lang="en-US" altLang="zh-CN" sz="2800" b="1" dirty="0">
                <a:latin typeface="楷体" panose="02010609060101010101" pitchFamily="49" charset="-122"/>
                <a:ea typeface="楷体" panose="02010609060101010101" pitchFamily="49" charset="-122"/>
              </a:rPr>
              <a:t>12MHz</a:t>
            </a:r>
            <a:r>
              <a:rPr lang="zh-CN" altLang="en-US" sz="2800" b="1" dirty="0">
                <a:latin typeface="楷体" panose="02010609060101010101" pitchFamily="49" charset="-122"/>
                <a:ea typeface="楷体" panose="02010609060101010101" pitchFamily="49" charset="-122"/>
              </a:rPr>
              <a:t>和</a:t>
            </a:r>
            <a:r>
              <a:rPr lang="en-US" altLang="zh-CN" sz="2800" b="1" dirty="0">
                <a:latin typeface="楷体" panose="02010609060101010101" pitchFamily="49" charset="-122"/>
                <a:ea typeface="楷体" panose="02010609060101010101" pitchFamily="49" charset="-122"/>
              </a:rPr>
              <a:t>11.0592MHz</a:t>
            </a:r>
            <a:r>
              <a:rPr lang="zh-CN" altLang="en-US" sz="2800" b="1" dirty="0">
                <a:latin typeface="楷体" panose="02010609060101010101" pitchFamily="49" charset="-122"/>
                <a:ea typeface="楷体" panose="02010609060101010101" pitchFamily="49" charset="-122"/>
              </a:rPr>
              <a:t>。所以，选用的波特率也相对固定。常用的串行口波特率为</a:t>
            </a:r>
            <a:r>
              <a:rPr lang="en-US" altLang="zh-CN" sz="2800" b="1" dirty="0">
                <a:latin typeface="楷体" panose="02010609060101010101" pitchFamily="49" charset="-122"/>
                <a:ea typeface="楷体" panose="02010609060101010101" pitchFamily="49" charset="-122"/>
              </a:rPr>
              <a:t>4800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9600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19200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38400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115200</a:t>
            </a:r>
            <a:r>
              <a:rPr lang="zh-CN" altLang="en-US" sz="2800" b="1" dirty="0">
                <a:latin typeface="楷体" panose="02010609060101010101" pitchFamily="49" charset="-122"/>
                <a:ea typeface="楷体" panose="02010609060101010101" pitchFamily="49" charset="-122"/>
              </a:rPr>
              <a:t>等。</a:t>
            </a:r>
          </a:p>
        </p:txBody>
      </p:sp>
    </p:spTree>
    <p:extLst>
      <p:ext uri="{BB962C8B-B14F-4D97-AF65-F5344CB8AC3E}">
        <p14:creationId xmlns:p14="http://schemas.microsoft.com/office/powerpoint/2010/main" val="2603483968"/>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隶书" pitchFamily="49" charset="-122"/>
                <a:ea typeface="隶书" pitchFamily="49" charset="-122"/>
              </a:rPr>
              <a:t>串口初始化设置解析</a:t>
            </a:r>
            <a:endParaRPr lang="zh-CN" altLang="en-US" sz="3200" dirty="0"/>
          </a:p>
        </p:txBody>
      </p:sp>
      <p:sp>
        <p:nvSpPr>
          <p:cNvPr id="3" name="Rectangle 6">
            <a:extLst>
              <a:ext uri="{FF2B5EF4-FFF2-40B4-BE49-F238E27FC236}">
                <a16:creationId xmlns:a16="http://schemas.microsoft.com/office/drawing/2014/main" id="{87CCF74F-B00C-5DBD-4BC8-2C69B4DFC2B3}"/>
              </a:ext>
            </a:extLst>
          </p:cNvPr>
          <p:cNvSpPr txBox="1">
            <a:spLocks noRot="1" noChangeArrowheads="1"/>
          </p:cNvSpPr>
          <p:nvPr/>
        </p:nvSpPr>
        <p:spPr>
          <a:xfrm>
            <a:off x="179388" y="1208517"/>
            <a:ext cx="8713787" cy="5256213"/>
          </a:xfrm>
          <a:prstGeom prst="rect">
            <a:avLst/>
          </a:prstGeom>
          <a:noFill/>
        </p:spPr>
        <p:txBody>
          <a:bodyPr/>
          <a:lstStyle/>
          <a:p>
            <a:pPr>
              <a:lnSpc>
                <a:spcPct val="120000"/>
              </a:lnSpc>
              <a:spcBef>
                <a:spcPct val="20000"/>
              </a:spcBef>
              <a:buFont typeface="Wingdings" pitchFamily="2" charset="2"/>
              <a:buNone/>
              <a:defRPr/>
            </a:pPr>
            <a:r>
              <a:rPr lang="zh-CN" altLang="en-US" sz="2800" b="1" dirty="0">
                <a:latin typeface="楷体" panose="02010609060101010101" pitchFamily="49" charset="-122"/>
                <a:ea typeface="楷体" panose="02010609060101010101" pitchFamily="49" charset="-122"/>
                <a:cs typeface="+mn-cs"/>
              </a:rPr>
              <a:t>    串行口工作之前，应对其进行初始化，主要是设置产生波特率的定时器</a:t>
            </a:r>
            <a:r>
              <a:rPr lang="en-US" altLang="zh-CN" sz="2800" b="1" dirty="0">
                <a:latin typeface="楷体" panose="02010609060101010101" pitchFamily="49" charset="-122"/>
                <a:ea typeface="楷体" panose="02010609060101010101" pitchFamily="49" charset="-122"/>
                <a:cs typeface="+mn-cs"/>
              </a:rPr>
              <a:t>1</a:t>
            </a:r>
            <a:r>
              <a:rPr lang="zh-CN" altLang="en-US" sz="2800" b="1" dirty="0">
                <a:latin typeface="楷体" panose="02010609060101010101" pitchFamily="49" charset="-122"/>
                <a:ea typeface="楷体" panose="02010609060101010101" pitchFamily="49" charset="-122"/>
                <a:cs typeface="+mn-cs"/>
              </a:rPr>
              <a:t>、串行口控制和中断控制。具体步骤如下：</a:t>
            </a:r>
          </a:p>
          <a:p>
            <a:pPr>
              <a:lnSpc>
                <a:spcPct val="120000"/>
              </a:lnSpc>
              <a:spcBef>
                <a:spcPct val="20000"/>
              </a:spcBef>
              <a:buFont typeface="Arial" pitchFamily="34" charset="0"/>
              <a:buChar char="•"/>
              <a:defRPr/>
            </a:pPr>
            <a:r>
              <a:rPr lang="zh-CN" altLang="en-US" sz="2800" b="1" dirty="0">
                <a:solidFill>
                  <a:srgbClr val="006600"/>
                </a:solidFill>
                <a:latin typeface="楷体" panose="02010609060101010101" pitchFamily="49" charset="-122"/>
                <a:ea typeface="楷体" panose="02010609060101010101" pitchFamily="49" charset="-122"/>
                <a:cs typeface="+mn-cs"/>
              </a:rPr>
              <a:t>确定</a:t>
            </a:r>
            <a:r>
              <a:rPr lang="en-US" altLang="zh-CN" sz="2800" b="1" dirty="0">
                <a:solidFill>
                  <a:srgbClr val="006600"/>
                </a:solidFill>
                <a:latin typeface="楷体" panose="02010609060101010101" pitchFamily="49" charset="-122"/>
                <a:ea typeface="楷体" panose="02010609060101010101" pitchFamily="49" charset="-122"/>
                <a:cs typeface="+mn-cs"/>
              </a:rPr>
              <a:t>T1</a:t>
            </a:r>
            <a:r>
              <a:rPr lang="zh-CN" altLang="en-US" sz="2800" b="1" dirty="0">
                <a:solidFill>
                  <a:srgbClr val="006600"/>
                </a:solidFill>
                <a:latin typeface="楷体" panose="02010609060101010101" pitchFamily="49" charset="-122"/>
                <a:ea typeface="楷体" panose="02010609060101010101" pitchFamily="49" charset="-122"/>
                <a:cs typeface="+mn-cs"/>
              </a:rPr>
              <a:t>的工作方式（编程</a:t>
            </a:r>
            <a:r>
              <a:rPr lang="en-US" altLang="zh-CN" sz="2800" b="1" dirty="0">
                <a:solidFill>
                  <a:srgbClr val="006600"/>
                </a:solidFill>
                <a:latin typeface="楷体" panose="02010609060101010101" pitchFamily="49" charset="-122"/>
                <a:ea typeface="楷体" panose="02010609060101010101" pitchFamily="49" charset="-122"/>
                <a:cs typeface="+mn-cs"/>
              </a:rPr>
              <a:t>TMOD</a:t>
            </a:r>
            <a:r>
              <a:rPr lang="zh-CN" altLang="en-US" sz="2800" b="1" dirty="0">
                <a:solidFill>
                  <a:srgbClr val="006600"/>
                </a:solidFill>
                <a:latin typeface="楷体" panose="02010609060101010101" pitchFamily="49" charset="-122"/>
                <a:ea typeface="楷体" panose="02010609060101010101" pitchFamily="49" charset="-122"/>
                <a:cs typeface="+mn-cs"/>
              </a:rPr>
              <a:t>寄存器）；</a:t>
            </a:r>
          </a:p>
          <a:p>
            <a:pPr>
              <a:lnSpc>
                <a:spcPct val="120000"/>
              </a:lnSpc>
              <a:spcBef>
                <a:spcPct val="20000"/>
              </a:spcBef>
              <a:buFont typeface="Arial" pitchFamily="34" charset="0"/>
              <a:buChar char="•"/>
              <a:defRPr/>
            </a:pPr>
            <a:r>
              <a:rPr lang="zh-CN" altLang="en-US" sz="2800" b="1" dirty="0">
                <a:solidFill>
                  <a:srgbClr val="006600"/>
                </a:solidFill>
                <a:latin typeface="楷体" panose="02010609060101010101" pitchFamily="49" charset="-122"/>
                <a:ea typeface="楷体" panose="02010609060101010101" pitchFamily="49" charset="-122"/>
                <a:cs typeface="+mn-cs"/>
              </a:rPr>
              <a:t>计算</a:t>
            </a:r>
            <a:r>
              <a:rPr lang="en-US" altLang="zh-CN" sz="2800" b="1" dirty="0">
                <a:solidFill>
                  <a:srgbClr val="006600"/>
                </a:solidFill>
                <a:latin typeface="楷体" panose="02010609060101010101" pitchFamily="49" charset="-122"/>
                <a:ea typeface="楷体" panose="02010609060101010101" pitchFamily="49" charset="-122"/>
                <a:cs typeface="+mn-cs"/>
              </a:rPr>
              <a:t>T1</a:t>
            </a:r>
            <a:r>
              <a:rPr lang="zh-CN" altLang="en-US" sz="2800" b="1" dirty="0">
                <a:solidFill>
                  <a:srgbClr val="006600"/>
                </a:solidFill>
                <a:latin typeface="楷体" panose="02010609060101010101" pitchFamily="49" charset="-122"/>
                <a:ea typeface="楷体" panose="02010609060101010101" pitchFamily="49" charset="-122"/>
                <a:cs typeface="+mn-cs"/>
              </a:rPr>
              <a:t>的初值，装载</a:t>
            </a:r>
            <a:r>
              <a:rPr lang="en-US" altLang="zh-CN" sz="2800" b="1" dirty="0">
                <a:solidFill>
                  <a:srgbClr val="006600"/>
                </a:solidFill>
                <a:latin typeface="楷体" panose="02010609060101010101" pitchFamily="49" charset="-122"/>
                <a:ea typeface="楷体" panose="02010609060101010101" pitchFamily="49" charset="-122"/>
                <a:cs typeface="+mn-cs"/>
              </a:rPr>
              <a:t>TH1</a:t>
            </a:r>
            <a:r>
              <a:rPr lang="zh-CN" altLang="en-US" sz="2800" b="1" dirty="0">
                <a:solidFill>
                  <a:srgbClr val="006600"/>
                </a:solidFill>
                <a:latin typeface="楷体" panose="02010609060101010101" pitchFamily="49" charset="-122"/>
                <a:ea typeface="楷体" panose="02010609060101010101" pitchFamily="49" charset="-122"/>
                <a:cs typeface="+mn-cs"/>
              </a:rPr>
              <a:t>、</a:t>
            </a:r>
            <a:r>
              <a:rPr lang="en-US" altLang="zh-CN" sz="2800" b="1" dirty="0">
                <a:solidFill>
                  <a:srgbClr val="006600"/>
                </a:solidFill>
                <a:latin typeface="楷体" panose="02010609060101010101" pitchFamily="49" charset="-122"/>
                <a:ea typeface="楷体" panose="02010609060101010101" pitchFamily="49" charset="-122"/>
                <a:cs typeface="+mn-cs"/>
              </a:rPr>
              <a:t>TL1</a:t>
            </a:r>
            <a:r>
              <a:rPr lang="zh-CN" altLang="en-US" sz="2800" b="1" dirty="0">
                <a:solidFill>
                  <a:srgbClr val="006600"/>
                </a:solidFill>
                <a:latin typeface="楷体" panose="02010609060101010101" pitchFamily="49" charset="-122"/>
                <a:ea typeface="楷体" panose="02010609060101010101" pitchFamily="49" charset="-122"/>
                <a:cs typeface="+mn-cs"/>
              </a:rPr>
              <a:t>；</a:t>
            </a:r>
          </a:p>
          <a:p>
            <a:pPr>
              <a:lnSpc>
                <a:spcPct val="120000"/>
              </a:lnSpc>
              <a:spcBef>
                <a:spcPct val="20000"/>
              </a:spcBef>
              <a:buFont typeface="Arial" pitchFamily="34" charset="0"/>
              <a:buChar char="•"/>
              <a:defRPr/>
            </a:pPr>
            <a:r>
              <a:rPr lang="zh-CN" altLang="en-US" sz="2800" b="1" dirty="0">
                <a:solidFill>
                  <a:srgbClr val="006600"/>
                </a:solidFill>
                <a:latin typeface="楷体" panose="02010609060101010101" pitchFamily="49" charset="-122"/>
                <a:ea typeface="楷体" panose="02010609060101010101" pitchFamily="49" charset="-122"/>
                <a:cs typeface="+mn-cs"/>
              </a:rPr>
              <a:t>启动</a:t>
            </a:r>
            <a:r>
              <a:rPr lang="en-US" altLang="zh-CN" sz="2800" b="1" dirty="0">
                <a:solidFill>
                  <a:srgbClr val="006600"/>
                </a:solidFill>
                <a:latin typeface="楷体" panose="02010609060101010101" pitchFamily="49" charset="-122"/>
                <a:ea typeface="楷体" panose="02010609060101010101" pitchFamily="49" charset="-122"/>
                <a:cs typeface="+mn-cs"/>
              </a:rPr>
              <a:t>T1</a:t>
            </a:r>
            <a:r>
              <a:rPr lang="zh-CN" altLang="en-US" sz="2800" b="1" dirty="0">
                <a:solidFill>
                  <a:srgbClr val="006600"/>
                </a:solidFill>
                <a:latin typeface="楷体" panose="02010609060101010101" pitchFamily="49" charset="-122"/>
                <a:ea typeface="楷体" panose="02010609060101010101" pitchFamily="49" charset="-122"/>
                <a:cs typeface="+mn-cs"/>
              </a:rPr>
              <a:t>（编程</a:t>
            </a:r>
            <a:r>
              <a:rPr lang="en-US" altLang="zh-CN" sz="2800" b="1" dirty="0">
                <a:solidFill>
                  <a:srgbClr val="006600"/>
                </a:solidFill>
                <a:latin typeface="楷体" panose="02010609060101010101" pitchFamily="49" charset="-122"/>
                <a:ea typeface="楷体" panose="02010609060101010101" pitchFamily="49" charset="-122"/>
                <a:cs typeface="+mn-cs"/>
              </a:rPr>
              <a:t>TCON</a:t>
            </a:r>
            <a:r>
              <a:rPr lang="zh-CN" altLang="en-US" sz="2800" b="1" dirty="0">
                <a:solidFill>
                  <a:srgbClr val="006600"/>
                </a:solidFill>
                <a:latin typeface="楷体" panose="02010609060101010101" pitchFamily="49" charset="-122"/>
                <a:ea typeface="楷体" panose="02010609060101010101" pitchFamily="49" charset="-122"/>
                <a:cs typeface="+mn-cs"/>
              </a:rPr>
              <a:t>中的</a:t>
            </a:r>
            <a:r>
              <a:rPr lang="en-US" altLang="zh-CN" sz="2800" b="1" dirty="0">
                <a:solidFill>
                  <a:srgbClr val="006600"/>
                </a:solidFill>
                <a:latin typeface="楷体" panose="02010609060101010101" pitchFamily="49" charset="-122"/>
                <a:ea typeface="楷体" panose="02010609060101010101" pitchFamily="49" charset="-122"/>
                <a:cs typeface="+mn-cs"/>
              </a:rPr>
              <a:t>TR1</a:t>
            </a:r>
            <a:r>
              <a:rPr lang="zh-CN" altLang="en-US" sz="2800" b="1" dirty="0">
                <a:solidFill>
                  <a:srgbClr val="006600"/>
                </a:solidFill>
                <a:latin typeface="楷体" panose="02010609060101010101" pitchFamily="49" charset="-122"/>
                <a:ea typeface="楷体" panose="02010609060101010101" pitchFamily="49" charset="-122"/>
                <a:cs typeface="+mn-cs"/>
              </a:rPr>
              <a:t>位）；</a:t>
            </a:r>
          </a:p>
          <a:p>
            <a:pPr>
              <a:lnSpc>
                <a:spcPct val="120000"/>
              </a:lnSpc>
              <a:spcBef>
                <a:spcPct val="20000"/>
              </a:spcBef>
              <a:buFont typeface="Arial" pitchFamily="34" charset="0"/>
              <a:buChar char="•"/>
              <a:defRPr/>
            </a:pPr>
            <a:r>
              <a:rPr lang="zh-CN" altLang="en-US" sz="2800" b="1" dirty="0">
                <a:solidFill>
                  <a:srgbClr val="006600"/>
                </a:solidFill>
                <a:latin typeface="楷体" panose="02010609060101010101" pitchFamily="49" charset="-122"/>
                <a:ea typeface="楷体" panose="02010609060101010101" pitchFamily="49" charset="-122"/>
                <a:cs typeface="+mn-cs"/>
              </a:rPr>
              <a:t>确定串行口控制（编程</a:t>
            </a:r>
            <a:r>
              <a:rPr lang="en-US" altLang="zh-CN" sz="2800" b="1" dirty="0">
                <a:solidFill>
                  <a:srgbClr val="006600"/>
                </a:solidFill>
                <a:latin typeface="楷体" panose="02010609060101010101" pitchFamily="49" charset="-122"/>
                <a:ea typeface="楷体" panose="02010609060101010101" pitchFamily="49" charset="-122"/>
                <a:cs typeface="+mn-cs"/>
              </a:rPr>
              <a:t>SCON</a:t>
            </a:r>
            <a:r>
              <a:rPr lang="zh-CN" altLang="en-US" sz="2800" b="1" dirty="0">
                <a:solidFill>
                  <a:srgbClr val="006600"/>
                </a:solidFill>
                <a:latin typeface="楷体" panose="02010609060101010101" pitchFamily="49" charset="-122"/>
                <a:ea typeface="楷体" panose="02010609060101010101" pitchFamily="49" charset="-122"/>
                <a:cs typeface="+mn-cs"/>
              </a:rPr>
              <a:t>寄存器）；</a:t>
            </a:r>
          </a:p>
          <a:p>
            <a:pPr>
              <a:lnSpc>
                <a:spcPct val="120000"/>
              </a:lnSpc>
              <a:spcBef>
                <a:spcPct val="20000"/>
              </a:spcBef>
              <a:buFont typeface="Arial" pitchFamily="34" charset="0"/>
              <a:buChar char="•"/>
              <a:defRPr/>
            </a:pPr>
            <a:r>
              <a:rPr lang="zh-CN" altLang="en-US" sz="2800" b="1" dirty="0">
                <a:solidFill>
                  <a:srgbClr val="006600"/>
                </a:solidFill>
                <a:latin typeface="楷体" panose="02010609060101010101" pitchFamily="49" charset="-122"/>
                <a:ea typeface="楷体" panose="02010609060101010101" pitchFamily="49" charset="-122"/>
                <a:cs typeface="+mn-cs"/>
              </a:rPr>
              <a:t>串行口在中断方式工作时，要进行中断设置（编程</a:t>
            </a:r>
            <a:r>
              <a:rPr lang="en-US" altLang="zh-CN" sz="2800" b="1" dirty="0">
                <a:solidFill>
                  <a:srgbClr val="006600"/>
                </a:solidFill>
                <a:latin typeface="楷体" panose="02010609060101010101" pitchFamily="49" charset="-122"/>
                <a:ea typeface="楷体" panose="02010609060101010101" pitchFamily="49" charset="-122"/>
                <a:cs typeface="+mn-cs"/>
              </a:rPr>
              <a:t>IE</a:t>
            </a:r>
            <a:r>
              <a:rPr lang="zh-CN" altLang="en-US" sz="2800" b="1" dirty="0">
                <a:solidFill>
                  <a:srgbClr val="006600"/>
                </a:solidFill>
                <a:latin typeface="楷体" panose="02010609060101010101" pitchFamily="49" charset="-122"/>
                <a:ea typeface="楷体" panose="02010609060101010101" pitchFamily="49" charset="-122"/>
                <a:cs typeface="+mn-cs"/>
              </a:rPr>
              <a:t>、</a:t>
            </a:r>
            <a:r>
              <a:rPr lang="en-US" altLang="zh-CN" sz="2800" b="1" dirty="0">
                <a:solidFill>
                  <a:srgbClr val="006600"/>
                </a:solidFill>
                <a:latin typeface="楷体" panose="02010609060101010101" pitchFamily="49" charset="-122"/>
                <a:ea typeface="楷体" panose="02010609060101010101" pitchFamily="49" charset="-122"/>
                <a:cs typeface="+mn-cs"/>
              </a:rPr>
              <a:t>IP</a:t>
            </a:r>
            <a:r>
              <a:rPr lang="zh-CN" altLang="en-US" sz="2800" b="1" dirty="0">
                <a:solidFill>
                  <a:srgbClr val="006600"/>
                </a:solidFill>
                <a:latin typeface="楷体" panose="02010609060101010101" pitchFamily="49" charset="-122"/>
                <a:ea typeface="楷体" panose="02010609060101010101" pitchFamily="49" charset="-122"/>
                <a:cs typeface="+mn-cs"/>
              </a:rPr>
              <a:t>寄存器）。</a:t>
            </a:r>
          </a:p>
        </p:txBody>
      </p:sp>
    </p:spTree>
    <p:extLst>
      <p:ext uri="{BB962C8B-B14F-4D97-AF65-F5344CB8AC3E}">
        <p14:creationId xmlns:p14="http://schemas.microsoft.com/office/powerpoint/2010/main" val="2167422695"/>
      </p:ext>
    </p:extLst>
  </p:cSld>
  <p:clrMapOvr>
    <a:masterClrMapping/>
  </p:clrMapOvr>
  <p:transition spd="slow" advClick="0">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串口通信程序设计解析</a:t>
            </a:r>
            <a:endParaRPr lang="zh-CN" altLang="en-US" sz="3200" dirty="0"/>
          </a:p>
        </p:txBody>
      </p:sp>
      <p:sp>
        <p:nvSpPr>
          <p:cNvPr id="3" name="TextBox 4">
            <a:extLst>
              <a:ext uri="{FF2B5EF4-FFF2-40B4-BE49-F238E27FC236}">
                <a16:creationId xmlns:a16="http://schemas.microsoft.com/office/drawing/2014/main" id="{396E93E0-65DE-742A-239A-39D3702FA7BC}"/>
              </a:ext>
            </a:extLst>
          </p:cNvPr>
          <p:cNvSpPr txBox="1">
            <a:spLocks noChangeArrowheads="1"/>
          </p:cNvSpPr>
          <p:nvPr/>
        </p:nvSpPr>
        <p:spPr bwMode="auto">
          <a:xfrm>
            <a:off x="125413" y="1176767"/>
            <a:ext cx="8907462" cy="5416868"/>
          </a:xfrm>
          <a:prstGeom prst="rect">
            <a:avLst/>
          </a:prstGeom>
          <a:noFill/>
          <a:ln w="9525">
            <a:noFill/>
            <a:miter lim="800000"/>
            <a:headEnd/>
            <a:tailEnd/>
          </a:ln>
        </p:spPr>
        <p:txBody>
          <a:bodyPr>
            <a:spAutoFit/>
          </a:bodyPr>
          <a:lstStyle/>
          <a:p>
            <a:pPr>
              <a:lnSpc>
                <a:spcPct val="200000"/>
              </a:lnSpc>
            </a:pPr>
            <a:r>
              <a:rPr lang="zh-CN" altLang="en-US" sz="2800" b="1" dirty="0">
                <a:latin typeface="楷体" panose="02010609060101010101" pitchFamily="49" charset="-122"/>
                <a:ea typeface="楷体" panose="02010609060101010101" pitchFamily="49" charset="-122"/>
              </a:rPr>
              <a:t>例：请按照以下要求编写程序。</a:t>
            </a:r>
            <a:endParaRPr lang="en-US" altLang="zh-CN" sz="2800" b="1" dirty="0">
              <a:latin typeface="楷体" panose="02010609060101010101" pitchFamily="49" charset="-122"/>
              <a:ea typeface="楷体" panose="02010609060101010101" pitchFamily="49" charset="-122"/>
            </a:endParaRPr>
          </a:p>
          <a:p>
            <a:pPr>
              <a:lnSpc>
                <a:spcPct val="200000"/>
              </a:lnSpc>
            </a:pPr>
            <a:r>
              <a:rPr lang="zh-CN" altLang="en-US" sz="2800" b="1" dirty="0">
                <a:latin typeface="楷体" panose="02010609060101010101" pitchFamily="49" charset="-122"/>
                <a:ea typeface="楷体" panose="02010609060101010101" pitchFamily="49" charset="-122"/>
              </a:rPr>
              <a:t>要求：</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    单片机与</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机进行串行通信，要求单片机发送一个字符“</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”给</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机。通信速率为</a:t>
            </a:r>
            <a:r>
              <a:rPr lang="en-US" altLang="zh-CN" sz="2800" b="1" dirty="0">
                <a:latin typeface="楷体" panose="02010609060101010101" pitchFamily="49" charset="-122"/>
                <a:ea typeface="楷体" panose="02010609060101010101" pitchFamily="49" charset="-122"/>
              </a:rPr>
              <a:t>9600bps</a:t>
            </a:r>
            <a:r>
              <a:rPr lang="zh-CN" altLang="en-US" sz="2800" b="1" dirty="0">
                <a:latin typeface="楷体" panose="02010609060101010101" pitchFamily="49" charset="-122"/>
                <a:ea typeface="楷体" panose="02010609060101010101" pitchFamily="49" charset="-122"/>
              </a:rPr>
              <a:t>，单片机外接晶振频率为</a:t>
            </a:r>
            <a:r>
              <a:rPr lang="en-US" altLang="zh-CN" sz="2800" b="1" dirty="0">
                <a:latin typeface="楷体" panose="02010609060101010101" pitchFamily="49" charset="-122"/>
                <a:ea typeface="楷体" panose="02010609060101010101" pitchFamily="49" charset="-122"/>
              </a:rPr>
              <a:t>11.0592MHz</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pP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、如果发送一个字符串“</a:t>
            </a:r>
            <a:r>
              <a:rPr lang="en-US" altLang="zh-CN" sz="2400" b="1" dirty="0">
                <a:latin typeface="楷体" panose="02010609060101010101" pitchFamily="49" charset="-122"/>
                <a:ea typeface="楷体" panose="02010609060101010101" pitchFamily="49" charset="-122"/>
              </a:rPr>
              <a:t>Hello, World</a:t>
            </a:r>
            <a:r>
              <a:rPr lang="zh-CN" altLang="en-US" sz="2400" b="1" dirty="0">
                <a:latin typeface="楷体" panose="02010609060101010101" pitchFamily="49" charset="-122"/>
                <a:ea typeface="楷体" panose="02010609060101010101" pitchFamily="49" charset="-122"/>
              </a:rPr>
              <a:t>！”，程序该怎么改写</a:t>
            </a:r>
            <a:r>
              <a:rPr lang="en-US" altLang="zh-CN" sz="2400" b="1" dirty="0">
                <a:latin typeface="楷体" panose="02010609060101010101" pitchFamily="49" charset="-122"/>
                <a:ea typeface="楷体" panose="02010609060101010101" pitchFamily="49" charset="-122"/>
              </a:rPr>
              <a:t>?</a:t>
            </a:r>
          </a:p>
          <a:p>
            <a:pPr>
              <a:lnSpc>
                <a:spcPct val="150000"/>
              </a:lnSpc>
            </a:pP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、如果将通信速率改为</a:t>
            </a:r>
            <a:r>
              <a:rPr lang="en-US" altLang="zh-CN" sz="2400" b="1" dirty="0">
                <a:latin typeface="楷体" panose="02010609060101010101" pitchFamily="49" charset="-122"/>
                <a:ea typeface="楷体" panose="02010609060101010101" pitchFamily="49" charset="-122"/>
              </a:rPr>
              <a:t>4800bps</a:t>
            </a:r>
            <a:r>
              <a:rPr lang="zh-CN" altLang="en-US" sz="2400" b="1" dirty="0">
                <a:latin typeface="楷体" panose="02010609060101010101" pitchFamily="49" charset="-122"/>
                <a:ea typeface="楷体" panose="02010609060101010101" pitchFamily="49" charset="-122"/>
              </a:rPr>
              <a:t>，怎么修改程序？</a:t>
            </a:r>
            <a:endParaRPr lang="en-US" altLang="zh-CN" sz="2400" b="1" dirty="0">
              <a:latin typeface="楷体" panose="02010609060101010101" pitchFamily="49" charset="-122"/>
              <a:ea typeface="楷体" panose="02010609060101010101" pitchFamily="49" charset="-122"/>
            </a:endParaRPr>
          </a:p>
          <a:p>
            <a:pPr>
              <a:lnSpc>
                <a:spcPct val="150000"/>
              </a:lnSpc>
            </a:pP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、编写程序实现收发字符，收到字符后，回送这个字符给</a:t>
            </a:r>
            <a:r>
              <a:rPr lang="en-US" altLang="zh-CN" sz="2400" b="1" dirty="0">
                <a:latin typeface="楷体" panose="02010609060101010101" pitchFamily="49" charset="-122"/>
                <a:ea typeface="楷体" panose="02010609060101010101" pitchFamily="49" charset="-122"/>
              </a:rPr>
              <a:t>PC</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06469384"/>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5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heckerboard(across)">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多机通信方式解析</a:t>
            </a:r>
            <a:endParaRPr lang="zh-CN" altLang="en-US" sz="3200" dirty="0"/>
          </a:p>
        </p:txBody>
      </p:sp>
      <p:sp>
        <p:nvSpPr>
          <p:cNvPr id="4" name="Rectangle 5">
            <a:extLst>
              <a:ext uri="{FF2B5EF4-FFF2-40B4-BE49-F238E27FC236}">
                <a16:creationId xmlns:a16="http://schemas.microsoft.com/office/drawing/2014/main" id="{DDE04CFE-8B1C-1F83-1901-6B46CAD63BE9}"/>
              </a:ext>
            </a:extLst>
          </p:cNvPr>
          <p:cNvSpPr>
            <a:spLocks noChangeArrowheads="1"/>
          </p:cNvSpPr>
          <p:nvPr/>
        </p:nvSpPr>
        <p:spPr bwMode="auto">
          <a:xfrm>
            <a:off x="323850" y="1172304"/>
            <a:ext cx="8496300" cy="3027363"/>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400" b="1" dirty="0">
                <a:solidFill>
                  <a:srgbClr val="0000FF"/>
                </a:solidFill>
                <a:latin typeface="楷体" panose="02010609060101010101" pitchFamily="49" charset="-122"/>
                <a:ea typeface="楷体" panose="02010609060101010101" pitchFamily="49" charset="-122"/>
              </a:rPr>
              <a:t>1</a:t>
            </a:r>
            <a:r>
              <a:rPr lang="zh-CN" altLang="en-US" sz="2400" b="1" dirty="0">
                <a:solidFill>
                  <a:srgbClr val="0000FF"/>
                </a:solidFill>
                <a:latin typeface="楷体" panose="02010609060101010101" pitchFamily="49" charset="-122"/>
                <a:ea typeface="楷体" panose="02010609060101010101" pitchFamily="49" charset="-122"/>
              </a:rPr>
              <a:t>、硬件连接</a:t>
            </a:r>
          </a:p>
          <a:p>
            <a:pPr>
              <a:spcBef>
                <a:spcPct val="20000"/>
              </a:spcBef>
              <a:buClr>
                <a:schemeClr val="hlink"/>
              </a:buClr>
              <a:buFont typeface="Wingdings" pitchFamily="2" charset="2"/>
              <a:buNone/>
            </a:pPr>
            <a:r>
              <a:rPr lang="zh-CN" altLang="en-US" sz="2400" b="1" dirty="0">
                <a:latin typeface="楷体" panose="02010609060101010101" pitchFamily="49" charset="-122"/>
                <a:ea typeface="楷体" panose="02010609060101010101" pitchFamily="49" charset="-122"/>
              </a:rPr>
              <a:t>    单片机构成的多机系统常采用总线型主从式结构。所谓主从式，即在数个单片机中，有一个是主机，其余的是从机，从机要服从主机的调度、支配。</a:t>
            </a:r>
            <a:r>
              <a:rPr lang="en-US" altLang="zh-CN" sz="2400" b="1" dirty="0">
                <a:latin typeface="楷体" panose="02010609060101010101" pitchFamily="49" charset="-122"/>
                <a:ea typeface="楷体" panose="02010609060101010101" pitchFamily="49" charset="-122"/>
              </a:rPr>
              <a:t>AT89C52</a:t>
            </a:r>
            <a:r>
              <a:rPr lang="zh-CN" altLang="en-US" sz="2400" b="1" dirty="0">
                <a:latin typeface="楷体" panose="02010609060101010101" pitchFamily="49" charset="-122"/>
                <a:ea typeface="楷体" panose="02010609060101010101" pitchFamily="49" charset="-122"/>
              </a:rPr>
              <a:t>单片机的串行口方式</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和方式</a:t>
            </a:r>
            <a:r>
              <a:rPr lang="en-US" altLang="zh-CN" sz="2400" b="1" dirty="0">
                <a:latin typeface="楷体" panose="02010609060101010101" pitchFamily="49" charset="-122"/>
                <a:ea typeface="楷体" panose="02010609060101010101" pitchFamily="49" charset="-122"/>
              </a:rPr>
              <a:t>3</a:t>
            </a:r>
            <a:r>
              <a:rPr lang="zh-CN" altLang="en-US" sz="2400" b="1" dirty="0">
                <a:latin typeface="楷体" panose="02010609060101010101" pitchFamily="49" charset="-122"/>
                <a:ea typeface="楷体" panose="02010609060101010101" pitchFamily="49" charset="-122"/>
              </a:rPr>
              <a:t>适于这种主从式的通信结构。当然采用不同的通信标准时，还需进行相应的电平转换，有时还要对信号进行光电隔离。在实际的多机应用系统中，常采用</a:t>
            </a:r>
            <a:r>
              <a:rPr lang="en-US" altLang="zh-CN" sz="2400" b="1" dirty="0">
                <a:latin typeface="楷体" panose="02010609060101010101" pitchFamily="49" charset="-122"/>
                <a:ea typeface="楷体" panose="02010609060101010101" pitchFamily="49" charset="-122"/>
              </a:rPr>
              <a:t>RS-485</a:t>
            </a:r>
            <a:r>
              <a:rPr lang="zh-CN" altLang="en-US" sz="2400" b="1" dirty="0">
                <a:latin typeface="楷体" panose="02010609060101010101" pitchFamily="49" charset="-122"/>
                <a:ea typeface="楷体" panose="02010609060101010101" pitchFamily="49" charset="-122"/>
              </a:rPr>
              <a:t>串行标准总线进行数据传输。</a:t>
            </a:r>
            <a:endParaRPr lang="zh-CN" altLang="en-US" sz="3200" dirty="0">
              <a:latin typeface="楷体" panose="02010609060101010101" pitchFamily="49" charset="-122"/>
              <a:ea typeface="楷体" panose="02010609060101010101" pitchFamily="49" charset="-122"/>
            </a:endParaRPr>
          </a:p>
        </p:txBody>
      </p:sp>
      <p:graphicFrame>
        <p:nvGraphicFramePr>
          <p:cNvPr id="5" name="Object 6">
            <a:extLst>
              <a:ext uri="{FF2B5EF4-FFF2-40B4-BE49-F238E27FC236}">
                <a16:creationId xmlns:a16="http://schemas.microsoft.com/office/drawing/2014/main" id="{0CB98A24-3261-6D8F-FDFF-1CDFD0FB9C09}"/>
              </a:ext>
            </a:extLst>
          </p:cNvPr>
          <p:cNvGraphicFramePr>
            <a:graphicFrameLocks noChangeAspect="1"/>
          </p:cNvGraphicFramePr>
          <p:nvPr>
            <p:extLst>
              <p:ext uri="{D42A27DB-BD31-4B8C-83A1-F6EECF244321}">
                <p14:modId xmlns:p14="http://schemas.microsoft.com/office/powerpoint/2010/main" val="3205893901"/>
              </p:ext>
            </p:extLst>
          </p:nvPr>
        </p:nvGraphicFramePr>
        <p:xfrm>
          <a:off x="334963" y="4340954"/>
          <a:ext cx="8262937" cy="2255838"/>
        </p:xfrm>
        <a:graphic>
          <a:graphicData uri="http://schemas.openxmlformats.org/presentationml/2006/ole">
            <mc:AlternateContent xmlns:mc="http://schemas.openxmlformats.org/markup-compatibility/2006">
              <mc:Choice xmlns:v="urn:schemas-microsoft-com:vml" Requires="v">
                <p:oleObj name="Visio" r:id="rId3" imgW="2535079" imgH="691753" progId="">
                  <p:embed/>
                </p:oleObj>
              </mc:Choice>
              <mc:Fallback>
                <p:oleObj name="Visio" r:id="rId3" imgW="2535079" imgH="691753" progId="">
                  <p:embed/>
                  <p:pic>
                    <p:nvPicPr>
                      <p:cNvPr id="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963" y="4340954"/>
                        <a:ext cx="8262937" cy="2255838"/>
                      </a:xfrm>
                      <a:prstGeom prst="rect">
                        <a:avLst/>
                      </a:prstGeom>
                      <a:solidFill>
                        <a:srgbClr val="FFFFCC"/>
                      </a:solidFill>
                    </p:spPr>
                  </p:pic>
                </p:oleObj>
              </mc:Fallback>
            </mc:AlternateContent>
          </a:graphicData>
        </a:graphic>
      </p:graphicFrame>
    </p:spTree>
    <p:extLst>
      <p:ext uri="{BB962C8B-B14F-4D97-AF65-F5344CB8AC3E}">
        <p14:creationId xmlns:p14="http://schemas.microsoft.com/office/powerpoint/2010/main" val="1734599721"/>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多机通信方式解析</a:t>
            </a:r>
            <a:endParaRPr lang="zh-CN" altLang="en-US" sz="3200" dirty="0"/>
          </a:p>
        </p:txBody>
      </p:sp>
      <p:sp>
        <p:nvSpPr>
          <p:cNvPr id="3" name="Rectangle 3">
            <a:extLst>
              <a:ext uri="{FF2B5EF4-FFF2-40B4-BE49-F238E27FC236}">
                <a16:creationId xmlns:a16="http://schemas.microsoft.com/office/drawing/2014/main" id="{768A9625-7476-6C17-DAF2-008CA305352B}"/>
              </a:ext>
            </a:extLst>
          </p:cNvPr>
          <p:cNvSpPr>
            <a:spLocks noChangeArrowheads="1"/>
          </p:cNvSpPr>
          <p:nvPr/>
        </p:nvSpPr>
        <p:spPr bwMode="auto">
          <a:xfrm>
            <a:off x="323850" y="1217570"/>
            <a:ext cx="8496300" cy="5233988"/>
          </a:xfrm>
          <a:prstGeom prst="rect">
            <a:avLst/>
          </a:prstGeom>
          <a:noFill/>
          <a:ln w="9525">
            <a:noFill/>
            <a:miter lim="800000"/>
            <a:headEnd/>
            <a:tailEnd/>
          </a:ln>
        </p:spPr>
        <p:txBody>
          <a:bodyPr/>
          <a:lstStyle/>
          <a:p>
            <a:pPr>
              <a:spcBef>
                <a:spcPct val="20000"/>
              </a:spcBef>
              <a:buClr>
                <a:schemeClr val="hlink"/>
              </a:buClr>
              <a:buFont typeface="Wingdings" pitchFamily="2" charset="2"/>
              <a:buNone/>
            </a:pPr>
            <a:r>
              <a:rPr lang="en-US" altLang="zh-CN" sz="2800" b="1" dirty="0">
                <a:solidFill>
                  <a:srgbClr val="0000FF"/>
                </a:solidFill>
                <a:latin typeface="楷体" panose="02010609060101010101" pitchFamily="49" charset="-122"/>
                <a:ea typeface="楷体" panose="02010609060101010101" pitchFamily="49" charset="-122"/>
              </a:rPr>
              <a:t>2</a:t>
            </a:r>
            <a:r>
              <a:rPr lang="zh-CN" altLang="en-US" sz="2800" b="1" dirty="0">
                <a:solidFill>
                  <a:srgbClr val="0000FF"/>
                </a:solidFill>
                <a:latin typeface="楷体" panose="02010609060101010101" pitchFamily="49" charset="-122"/>
                <a:ea typeface="楷体" panose="02010609060101010101" pitchFamily="49" charset="-122"/>
              </a:rPr>
              <a:t>、通信协议</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所有从机的</a:t>
            </a:r>
            <a:r>
              <a:rPr lang="en-US" altLang="zh-CN" sz="2600" b="1" dirty="0">
                <a:latin typeface="楷体" panose="02010609060101010101" pitchFamily="49" charset="-122"/>
                <a:ea typeface="楷体" panose="02010609060101010101" pitchFamily="49" charset="-122"/>
              </a:rPr>
              <a:t>SM2</a:t>
            </a:r>
            <a:r>
              <a:rPr lang="zh-CN" altLang="en-US" sz="2600" b="1" dirty="0">
                <a:latin typeface="楷体" panose="02010609060101010101" pitchFamily="49" charset="-122"/>
                <a:ea typeface="楷体" panose="02010609060101010101" pitchFamily="49" charset="-122"/>
              </a:rPr>
              <a:t>位置</a:t>
            </a:r>
            <a:r>
              <a:rPr lang="en-US" altLang="zh-CN" sz="2600" b="1" dirty="0">
                <a:latin typeface="楷体" panose="02010609060101010101" pitchFamily="49" charset="-122"/>
                <a:ea typeface="楷体" panose="02010609060101010101" pitchFamily="49" charset="-122"/>
              </a:rPr>
              <a:t>1</a:t>
            </a:r>
            <a:r>
              <a:rPr lang="zh-CN" altLang="en-US" sz="2600" b="1" dirty="0">
                <a:latin typeface="楷体" panose="02010609060101010101" pitchFamily="49" charset="-122"/>
                <a:ea typeface="楷体" panose="02010609060101010101" pitchFamily="49" charset="-122"/>
              </a:rPr>
              <a:t>，处于接收地址帧状态。</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主机发送一地址帧，其中</a:t>
            </a:r>
            <a:r>
              <a:rPr lang="en-US" altLang="zh-CN" sz="2600" b="1" dirty="0">
                <a:latin typeface="楷体" panose="02010609060101010101" pitchFamily="49" charset="-122"/>
                <a:ea typeface="楷体" panose="02010609060101010101" pitchFamily="49" charset="-122"/>
              </a:rPr>
              <a:t>8</a:t>
            </a:r>
            <a:r>
              <a:rPr lang="zh-CN" altLang="en-US" sz="2600" b="1" dirty="0">
                <a:latin typeface="楷体" panose="02010609060101010101" pitchFamily="49" charset="-122"/>
                <a:ea typeface="楷体" panose="02010609060101010101" pitchFamily="49" charset="-122"/>
              </a:rPr>
              <a:t>位是地址，第</a:t>
            </a:r>
            <a:r>
              <a:rPr lang="en-US" altLang="zh-CN" sz="2600" b="1" dirty="0">
                <a:latin typeface="楷体" panose="02010609060101010101" pitchFamily="49" charset="-122"/>
                <a:ea typeface="楷体" panose="02010609060101010101" pitchFamily="49" charset="-122"/>
              </a:rPr>
              <a:t>9</a:t>
            </a:r>
            <a:r>
              <a:rPr lang="zh-CN" altLang="en-US" sz="2600" b="1" dirty="0">
                <a:latin typeface="楷体" panose="02010609060101010101" pitchFamily="49" charset="-122"/>
                <a:ea typeface="楷体" panose="02010609060101010101" pitchFamily="49" charset="-122"/>
              </a:rPr>
              <a:t>位为地址</a:t>
            </a:r>
            <a:r>
              <a:rPr lang="en-US" altLang="zh-CN" sz="2600" b="1" dirty="0">
                <a:latin typeface="楷体" panose="02010609060101010101" pitchFamily="49" charset="-122"/>
                <a:ea typeface="楷体" panose="02010609060101010101" pitchFamily="49" charset="-122"/>
              </a:rPr>
              <a:t>/</a:t>
            </a:r>
            <a:r>
              <a:rPr lang="zh-CN" altLang="en-US" sz="2600" b="1" dirty="0">
                <a:latin typeface="楷体" panose="02010609060101010101" pitchFamily="49" charset="-122"/>
                <a:ea typeface="楷体" panose="02010609060101010101" pitchFamily="49" charset="-122"/>
              </a:rPr>
              <a:t>数据的区分标志，该位置</a:t>
            </a:r>
            <a:r>
              <a:rPr lang="en-US" altLang="zh-CN" sz="2600" b="1" dirty="0">
                <a:latin typeface="楷体" panose="02010609060101010101" pitchFamily="49" charset="-122"/>
                <a:ea typeface="楷体" panose="02010609060101010101" pitchFamily="49" charset="-122"/>
              </a:rPr>
              <a:t>1</a:t>
            </a:r>
            <a:r>
              <a:rPr lang="zh-CN" altLang="en-US" sz="2600" b="1" dirty="0">
                <a:latin typeface="楷体" panose="02010609060101010101" pitchFamily="49" charset="-122"/>
                <a:ea typeface="楷体" panose="02010609060101010101" pitchFamily="49" charset="-122"/>
              </a:rPr>
              <a:t>表示该帧为地址帧。   </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所有从机收到地址帧后，都将接收的地址与本机的  地址比较。对于地址相符的从机，使自己的</a:t>
            </a:r>
            <a:r>
              <a:rPr lang="en-US" altLang="zh-CN" sz="2600" b="1" dirty="0">
                <a:latin typeface="楷体" panose="02010609060101010101" pitchFamily="49" charset="-122"/>
                <a:ea typeface="楷体" panose="02010609060101010101" pitchFamily="49" charset="-122"/>
              </a:rPr>
              <a:t>SM2</a:t>
            </a:r>
            <a:r>
              <a:rPr lang="zh-CN" altLang="en-US" sz="2600" b="1" dirty="0">
                <a:latin typeface="楷体" panose="02010609060101010101" pitchFamily="49" charset="-122"/>
                <a:ea typeface="楷体" panose="02010609060101010101" pitchFamily="49" charset="-122"/>
              </a:rPr>
              <a:t>位置</a:t>
            </a:r>
            <a:r>
              <a:rPr lang="en-US" altLang="zh-CN" sz="2600" b="1" dirty="0">
                <a:latin typeface="楷体" panose="02010609060101010101" pitchFamily="49" charset="-122"/>
                <a:ea typeface="楷体" panose="02010609060101010101" pitchFamily="49" charset="-122"/>
              </a:rPr>
              <a:t>0</a:t>
            </a:r>
            <a:r>
              <a:rPr lang="zh-CN" altLang="en-US" sz="2600" b="1" dirty="0">
                <a:latin typeface="楷体" panose="02010609060101010101" pitchFamily="49" charset="-122"/>
                <a:ea typeface="楷体" panose="02010609060101010101" pitchFamily="49" charset="-122"/>
              </a:rPr>
              <a:t>（以接收主机随后发来的数据帧），并把本站地址发回主机作为应答；对于地址不符的从机，仍保持</a:t>
            </a:r>
            <a:r>
              <a:rPr lang="en-US" altLang="zh-CN" sz="2600" b="1" dirty="0">
                <a:latin typeface="楷体" panose="02010609060101010101" pitchFamily="49" charset="-122"/>
                <a:ea typeface="楷体" panose="02010609060101010101" pitchFamily="49" charset="-122"/>
              </a:rPr>
              <a:t>SM2=1</a:t>
            </a:r>
            <a:r>
              <a:rPr lang="zh-CN" altLang="en-US" sz="2600" b="1" dirty="0">
                <a:latin typeface="楷体" panose="02010609060101010101" pitchFamily="49" charset="-122"/>
                <a:ea typeface="楷体" panose="02010609060101010101" pitchFamily="49" charset="-122"/>
              </a:rPr>
              <a:t>，对主机随后发来的数据帧不予理睬。</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从机发送数据结束后，要发送一帧校验和，并置第</a:t>
            </a:r>
            <a:r>
              <a:rPr lang="en-US" altLang="zh-CN" sz="2600" b="1" dirty="0">
                <a:latin typeface="楷体" panose="02010609060101010101" pitchFamily="49" charset="-122"/>
                <a:ea typeface="楷体" panose="02010609060101010101" pitchFamily="49" charset="-122"/>
              </a:rPr>
              <a:t>9</a:t>
            </a:r>
            <a:r>
              <a:rPr lang="zh-CN" altLang="en-US" sz="2600" b="1" dirty="0">
                <a:latin typeface="楷体" panose="02010609060101010101" pitchFamily="49" charset="-122"/>
                <a:ea typeface="楷体" panose="02010609060101010101" pitchFamily="49" charset="-122"/>
              </a:rPr>
              <a:t>位（</a:t>
            </a:r>
            <a:r>
              <a:rPr lang="en-US" altLang="zh-CN" sz="2600" b="1" dirty="0">
                <a:latin typeface="楷体" panose="02010609060101010101" pitchFamily="49" charset="-122"/>
                <a:ea typeface="楷体" panose="02010609060101010101" pitchFamily="49" charset="-122"/>
              </a:rPr>
              <a:t>TB8</a:t>
            </a:r>
            <a:r>
              <a:rPr lang="zh-CN" altLang="en-US" sz="2600" b="1" dirty="0">
                <a:latin typeface="楷体" panose="02010609060101010101" pitchFamily="49" charset="-122"/>
                <a:ea typeface="楷体" panose="02010609060101010101" pitchFamily="49" charset="-122"/>
              </a:rPr>
              <a:t>）为</a:t>
            </a:r>
            <a:r>
              <a:rPr lang="en-US" altLang="zh-CN" sz="2600" b="1" dirty="0">
                <a:latin typeface="楷体" panose="02010609060101010101" pitchFamily="49" charset="-122"/>
                <a:ea typeface="楷体" panose="02010609060101010101" pitchFamily="49" charset="-122"/>
              </a:rPr>
              <a:t>1</a:t>
            </a:r>
            <a:r>
              <a:rPr lang="zh-CN" altLang="en-US" sz="2600" b="1" dirty="0">
                <a:latin typeface="楷体" panose="02010609060101010101" pitchFamily="49" charset="-122"/>
                <a:ea typeface="楷体" panose="02010609060101010101" pitchFamily="49" charset="-122"/>
              </a:rPr>
              <a:t>，作为从机数据传送结束的标志。</a:t>
            </a:r>
          </a:p>
        </p:txBody>
      </p:sp>
    </p:spTree>
    <p:extLst>
      <p:ext uri="{BB962C8B-B14F-4D97-AF65-F5344CB8AC3E}">
        <p14:creationId xmlns:p14="http://schemas.microsoft.com/office/powerpoint/2010/main" val="2079263247"/>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多机通信方式解析</a:t>
            </a:r>
            <a:endParaRPr lang="zh-CN" altLang="en-US" sz="3200" dirty="0"/>
          </a:p>
        </p:txBody>
      </p:sp>
      <p:sp>
        <p:nvSpPr>
          <p:cNvPr id="3" name="Rectangle 3">
            <a:extLst>
              <a:ext uri="{FF2B5EF4-FFF2-40B4-BE49-F238E27FC236}">
                <a16:creationId xmlns:a16="http://schemas.microsoft.com/office/drawing/2014/main" id="{04DA33BA-1630-C23E-C73F-6D4B324D7845}"/>
              </a:ext>
            </a:extLst>
          </p:cNvPr>
          <p:cNvSpPr>
            <a:spLocks noChangeArrowheads="1"/>
          </p:cNvSpPr>
          <p:nvPr/>
        </p:nvSpPr>
        <p:spPr bwMode="auto">
          <a:xfrm>
            <a:off x="323850" y="1275021"/>
            <a:ext cx="8496300" cy="5124450"/>
          </a:xfrm>
          <a:prstGeom prst="rect">
            <a:avLst/>
          </a:prstGeom>
          <a:noFill/>
          <a:ln w="9525">
            <a:noFill/>
            <a:miter lim="800000"/>
            <a:headEnd/>
            <a:tailEnd/>
          </a:ln>
        </p:spPr>
        <p:txBody>
          <a:bodyPr/>
          <a:lstStyle/>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主机接收数据时先判断数据接收标志（</a:t>
            </a:r>
            <a:r>
              <a:rPr lang="en-US" altLang="zh-CN" sz="2600" b="1" dirty="0">
                <a:latin typeface="楷体" panose="02010609060101010101" pitchFamily="49" charset="-122"/>
                <a:ea typeface="楷体" panose="02010609060101010101" pitchFamily="49" charset="-122"/>
              </a:rPr>
              <a:t>RB8</a:t>
            </a:r>
            <a:r>
              <a:rPr lang="zh-CN" altLang="en-US" sz="2600" b="1" dirty="0">
                <a:latin typeface="楷体" panose="02010609060101010101" pitchFamily="49" charset="-122"/>
                <a:ea typeface="楷体" panose="02010609060101010101" pitchFamily="49" charset="-122"/>
              </a:rPr>
              <a:t>），若</a:t>
            </a:r>
            <a:r>
              <a:rPr lang="en-US" altLang="zh-CN" sz="2600" b="1" dirty="0">
                <a:latin typeface="楷体" panose="02010609060101010101" pitchFamily="49" charset="-122"/>
                <a:ea typeface="楷体" panose="02010609060101010101" pitchFamily="49" charset="-122"/>
              </a:rPr>
              <a:t>RB8=1</a:t>
            </a:r>
            <a:r>
              <a:rPr lang="zh-CN" altLang="en-US" sz="2600" b="1" dirty="0">
                <a:latin typeface="楷体" panose="02010609060101010101" pitchFamily="49" charset="-122"/>
                <a:ea typeface="楷体" panose="02010609060101010101" pitchFamily="49" charset="-122"/>
              </a:rPr>
              <a:t>，表示数据传送结束，并比较此帧校验和，若正确则回送正确信号</a:t>
            </a:r>
            <a:r>
              <a:rPr lang="en-US" altLang="zh-CN" sz="2600" b="1" dirty="0">
                <a:latin typeface="楷体" panose="02010609060101010101" pitchFamily="49" charset="-122"/>
                <a:ea typeface="楷体" panose="02010609060101010101" pitchFamily="49" charset="-122"/>
              </a:rPr>
              <a:t>00H</a:t>
            </a:r>
            <a:r>
              <a:rPr lang="zh-CN" altLang="en-US" sz="2600" b="1" dirty="0">
                <a:latin typeface="楷体" panose="02010609060101010101" pitchFamily="49" charset="-122"/>
                <a:ea typeface="楷体" panose="02010609060101010101" pitchFamily="49" charset="-122"/>
              </a:rPr>
              <a:t>，此信号命令该从机复位（即重新等待地址帧）；若校验和出错，则发送</a:t>
            </a:r>
            <a:r>
              <a:rPr lang="en-US" altLang="zh-CN" sz="2600" b="1" dirty="0">
                <a:latin typeface="楷体" panose="02010609060101010101" pitchFamily="49" charset="-122"/>
                <a:ea typeface="楷体" panose="02010609060101010101" pitchFamily="49" charset="-122"/>
              </a:rPr>
              <a:t>0FFH</a:t>
            </a:r>
            <a:r>
              <a:rPr lang="zh-CN" altLang="en-US" sz="2600" b="1" dirty="0">
                <a:latin typeface="楷体" panose="02010609060101010101" pitchFamily="49" charset="-122"/>
                <a:ea typeface="楷体" panose="02010609060101010101" pitchFamily="49" charset="-122"/>
              </a:rPr>
              <a:t>，命令该从机重发数据。若接收帧的</a:t>
            </a:r>
            <a:r>
              <a:rPr lang="en-US" altLang="zh-CN" sz="2600" b="1" dirty="0">
                <a:latin typeface="楷体" panose="02010609060101010101" pitchFamily="49" charset="-122"/>
                <a:ea typeface="楷体" panose="02010609060101010101" pitchFamily="49" charset="-122"/>
              </a:rPr>
              <a:t>RB8=0</a:t>
            </a:r>
            <a:r>
              <a:rPr lang="zh-CN" altLang="en-US" sz="2600" b="1" dirty="0">
                <a:latin typeface="楷体" panose="02010609060101010101" pitchFamily="49" charset="-122"/>
                <a:ea typeface="楷体" panose="02010609060101010101" pitchFamily="49" charset="-122"/>
              </a:rPr>
              <a:t>，则存数据到缓冲区，并准备接收下帧信息。</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主机收到从机应答地址后，确认地址是否相符，如果地址不符，发复位信号（数据帧中</a:t>
            </a:r>
            <a:r>
              <a:rPr lang="en-US" altLang="zh-CN" sz="2600" b="1" dirty="0">
                <a:latin typeface="楷体" panose="02010609060101010101" pitchFamily="49" charset="-122"/>
                <a:ea typeface="楷体" panose="02010609060101010101" pitchFamily="49" charset="-122"/>
              </a:rPr>
              <a:t>TB8=1</a:t>
            </a:r>
            <a:r>
              <a:rPr lang="zh-CN" altLang="en-US" sz="2600" b="1" dirty="0">
                <a:latin typeface="楷体" panose="02010609060101010101" pitchFamily="49" charset="-122"/>
                <a:ea typeface="楷体" panose="02010609060101010101" pitchFamily="49" charset="-122"/>
              </a:rPr>
              <a:t>）；如果地址相符，则清</a:t>
            </a:r>
            <a:r>
              <a:rPr lang="en-US" altLang="zh-CN" sz="2600" b="1" dirty="0">
                <a:latin typeface="楷体" panose="02010609060101010101" pitchFamily="49" charset="-122"/>
                <a:ea typeface="楷体" panose="02010609060101010101" pitchFamily="49" charset="-122"/>
              </a:rPr>
              <a:t>TB8</a:t>
            </a:r>
            <a:r>
              <a:rPr lang="zh-CN" altLang="en-US" sz="2600" b="1" dirty="0">
                <a:latin typeface="楷体" panose="02010609060101010101" pitchFamily="49" charset="-122"/>
                <a:ea typeface="楷体" panose="02010609060101010101" pitchFamily="49" charset="-122"/>
              </a:rPr>
              <a:t>，开始发送数据。</a:t>
            </a:r>
          </a:p>
          <a:p>
            <a:pPr>
              <a:lnSpc>
                <a:spcPct val="110000"/>
              </a:lnSpc>
              <a:spcBef>
                <a:spcPct val="20000"/>
              </a:spcBef>
              <a:buClr>
                <a:schemeClr val="hlink"/>
              </a:buClr>
              <a:buFont typeface="Wingdings" pitchFamily="2" charset="2"/>
              <a:buChar char="v"/>
            </a:pPr>
            <a:r>
              <a:rPr lang="zh-CN" altLang="en-US" sz="2600" b="1" dirty="0">
                <a:latin typeface="楷体" panose="02010609060101010101" pitchFamily="49" charset="-122"/>
                <a:ea typeface="楷体" panose="02010609060101010101" pitchFamily="49" charset="-122"/>
              </a:rPr>
              <a:t>从机收到复位命令后回到监听地址状态（</a:t>
            </a:r>
            <a:r>
              <a:rPr lang="en-US" altLang="zh-CN" sz="2600" b="1" dirty="0">
                <a:latin typeface="楷体" panose="02010609060101010101" pitchFamily="49" charset="-122"/>
                <a:ea typeface="楷体" panose="02010609060101010101" pitchFamily="49" charset="-122"/>
              </a:rPr>
              <a:t>SM2=1</a:t>
            </a:r>
            <a:r>
              <a:rPr lang="zh-CN" altLang="en-US" sz="2600" b="1" dirty="0">
                <a:latin typeface="楷体" panose="02010609060101010101" pitchFamily="49" charset="-122"/>
                <a:ea typeface="楷体" panose="02010609060101010101" pitchFamily="49" charset="-122"/>
              </a:rPr>
              <a:t>）。否则开始接收数据和命令。</a:t>
            </a:r>
          </a:p>
        </p:txBody>
      </p:sp>
    </p:spTree>
    <p:extLst>
      <p:ext uri="{BB962C8B-B14F-4D97-AF65-F5344CB8AC3E}">
        <p14:creationId xmlns:p14="http://schemas.microsoft.com/office/powerpoint/2010/main" val="2951111760"/>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en-US" altLang="zh-CN" sz="3200" spc="650" dirty="0">
                <a:latin typeface="Arial" panose="020B0604020202020204" pitchFamily="34" charset="0"/>
                <a:ea typeface="隶书" pitchFamily="49" charset="-122"/>
                <a:cs typeface="Arial" panose="020B0604020202020204" pitchFamily="34" charset="0"/>
              </a:rPr>
              <a:t>RS232</a:t>
            </a:r>
            <a:r>
              <a:rPr lang="zh-CN" altLang="en-US" sz="3200" spc="650" dirty="0">
                <a:latin typeface="隶书" pitchFamily="49" charset="-122"/>
                <a:ea typeface="隶书" pitchFamily="49" charset="-122"/>
              </a:rPr>
              <a:t>接口电路解析</a:t>
            </a:r>
            <a:endParaRPr lang="zh-CN" altLang="en-US" sz="3200" dirty="0"/>
          </a:p>
        </p:txBody>
      </p:sp>
      <p:sp>
        <p:nvSpPr>
          <p:cNvPr id="3" name="TextBox 6">
            <a:extLst>
              <a:ext uri="{FF2B5EF4-FFF2-40B4-BE49-F238E27FC236}">
                <a16:creationId xmlns:a16="http://schemas.microsoft.com/office/drawing/2014/main" id="{EEBE3D76-497B-2700-E39F-17E00E66EF08}"/>
              </a:ext>
            </a:extLst>
          </p:cNvPr>
          <p:cNvSpPr txBox="1">
            <a:spLocks noChangeArrowheads="1"/>
          </p:cNvSpPr>
          <p:nvPr/>
        </p:nvSpPr>
        <p:spPr bwMode="auto">
          <a:xfrm>
            <a:off x="294803" y="1133862"/>
            <a:ext cx="8358188" cy="715581"/>
          </a:xfrm>
          <a:prstGeom prst="rect">
            <a:avLst/>
          </a:prstGeom>
          <a:noFill/>
          <a:ln w="9525">
            <a:noFill/>
            <a:miter lim="800000"/>
            <a:headEnd/>
            <a:tailEnd/>
          </a:ln>
        </p:spPr>
        <p:txBody>
          <a:bodyPr>
            <a:spAutoFit/>
          </a:bodyPr>
          <a:lstStyle/>
          <a:p>
            <a:pPr>
              <a:lnSpc>
                <a:spcPct val="150000"/>
              </a:lnSpc>
            </a:pPr>
            <a:r>
              <a:rPr lang="en-US" altLang="zh-CN" sz="3200" b="1" dirty="0">
                <a:latin typeface="楷体" panose="02010609060101010101" pitchFamily="49" charset="-122"/>
                <a:ea typeface="楷体" panose="02010609060101010101" pitchFamily="49" charset="-122"/>
              </a:rPr>
              <a:t>RS232</a:t>
            </a:r>
            <a:r>
              <a:rPr lang="zh-CN" altLang="en-US" sz="3200" b="1" dirty="0">
                <a:latin typeface="楷体" panose="02010609060101010101" pitchFamily="49" charset="-122"/>
                <a:ea typeface="楷体" panose="02010609060101010101" pitchFamily="49" charset="-122"/>
              </a:rPr>
              <a:t>接口电路图</a:t>
            </a:r>
            <a:endParaRPr lang="en-US" altLang="zh-CN" sz="2800" b="1" dirty="0">
              <a:latin typeface="楷体" panose="02010609060101010101" pitchFamily="49" charset="-122"/>
              <a:ea typeface="楷体" panose="02010609060101010101" pitchFamily="49" charset="-122"/>
            </a:endParaRPr>
          </a:p>
        </p:txBody>
      </p:sp>
      <p:pic>
        <p:nvPicPr>
          <p:cNvPr id="4" name="Picture 3">
            <a:extLst>
              <a:ext uri="{FF2B5EF4-FFF2-40B4-BE49-F238E27FC236}">
                <a16:creationId xmlns:a16="http://schemas.microsoft.com/office/drawing/2014/main" id="{549DA34E-2B4E-33EB-C769-B219210994BD}"/>
              </a:ext>
            </a:extLst>
          </p:cNvPr>
          <p:cNvPicPr>
            <a:picLocks noChangeAspect="1" noChangeArrowheads="1"/>
          </p:cNvPicPr>
          <p:nvPr/>
        </p:nvPicPr>
        <p:blipFill>
          <a:blip r:embed="rId3"/>
          <a:srcRect/>
          <a:stretch>
            <a:fillRect/>
          </a:stretch>
        </p:blipFill>
        <p:spPr bwMode="auto">
          <a:xfrm>
            <a:off x="72553" y="2088464"/>
            <a:ext cx="8939213" cy="3967163"/>
          </a:xfrm>
          <a:prstGeom prst="rect">
            <a:avLst/>
          </a:prstGeom>
          <a:noFill/>
          <a:ln w="9525">
            <a:noFill/>
            <a:miter lim="800000"/>
            <a:headEnd/>
            <a:tailEnd/>
          </a:ln>
        </p:spPr>
      </p:pic>
    </p:spTree>
    <p:extLst>
      <p:ext uri="{BB962C8B-B14F-4D97-AF65-F5344CB8AC3E}">
        <p14:creationId xmlns:p14="http://schemas.microsoft.com/office/powerpoint/2010/main" val="2422754999"/>
      </p:ext>
    </p:extLst>
  </p:cSld>
  <p:clrMapOvr>
    <a:masterClrMapping/>
  </p:clrMapOvr>
  <p:transition spd="slow" advClick="0">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串口通信程序设计解析</a:t>
            </a:r>
            <a:endParaRPr lang="zh-CN" altLang="en-US" sz="3200" dirty="0"/>
          </a:p>
        </p:txBody>
      </p:sp>
      <p:sp>
        <p:nvSpPr>
          <p:cNvPr id="3" name="TextBox 4">
            <a:extLst>
              <a:ext uri="{FF2B5EF4-FFF2-40B4-BE49-F238E27FC236}">
                <a16:creationId xmlns:a16="http://schemas.microsoft.com/office/drawing/2014/main" id="{9970FD82-63A1-1406-EBC6-0FC301AC02A8}"/>
              </a:ext>
            </a:extLst>
          </p:cNvPr>
          <p:cNvSpPr txBox="1">
            <a:spLocks noChangeArrowheads="1"/>
          </p:cNvSpPr>
          <p:nvPr/>
        </p:nvSpPr>
        <p:spPr bwMode="auto">
          <a:xfrm>
            <a:off x="361950" y="1419225"/>
            <a:ext cx="8482013" cy="4616648"/>
          </a:xfrm>
          <a:prstGeom prst="rect">
            <a:avLst/>
          </a:prstGeom>
          <a:noFill/>
          <a:ln w="9525">
            <a:noFill/>
            <a:miter lim="800000"/>
            <a:headEnd/>
            <a:tailEnd/>
          </a:ln>
        </p:spPr>
        <p:txBody>
          <a:bodyPr>
            <a:spAutoFit/>
          </a:bodyPr>
          <a:lstStyle/>
          <a:p>
            <a:pPr>
              <a:lnSpc>
                <a:spcPct val="150000"/>
              </a:lnSpc>
            </a:pPr>
            <a:r>
              <a:rPr lang="zh-CN" altLang="en-US" sz="2800" b="1" dirty="0">
                <a:latin typeface="楷体" panose="02010609060101010101" pitchFamily="49" charset="-122"/>
                <a:ea typeface="楷体" panose="02010609060101010101" pitchFamily="49" charset="-122"/>
              </a:rPr>
              <a:t>例：请按照以下要求编写程序。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要求：</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    单片机与</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机进行串行通信，要求单片机接收</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发送过来的数据，判断其是否为大写字母，如果是则转换为小写字母回送，如果是其他字符，则直接回送。通信速率为</a:t>
            </a:r>
            <a:r>
              <a:rPr lang="en-US" altLang="zh-CN" sz="2800" b="1" dirty="0">
                <a:latin typeface="楷体" panose="02010609060101010101" pitchFamily="49" charset="-122"/>
                <a:ea typeface="楷体" panose="02010609060101010101" pitchFamily="49" charset="-122"/>
              </a:rPr>
              <a:t>9600bps</a:t>
            </a:r>
            <a:r>
              <a:rPr lang="zh-CN" altLang="en-US" sz="2800" b="1" dirty="0">
                <a:latin typeface="楷体" panose="02010609060101010101" pitchFamily="49" charset="-122"/>
                <a:ea typeface="楷体" panose="02010609060101010101" pitchFamily="49" charset="-122"/>
              </a:rPr>
              <a:t>，单片机外接晶振频率为</a:t>
            </a:r>
            <a:r>
              <a:rPr lang="en-US" altLang="zh-CN" sz="2800" b="1" dirty="0">
                <a:latin typeface="楷体" panose="02010609060101010101" pitchFamily="49" charset="-122"/>
                <a:ea typeface="楷体" panose="02010609060101010101" pitchFamily="49" charset="-122"/>
              </a:rPr>
              <a:t>11.0592MHz</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0809843"/>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5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50" dirty="0">
                <a:latin typeface="隶书" pitchFamily="49" charset="-122"/>
                <a:ea typeface="隶书" pitchFamily="49" charset="-122"/>
              </a:rPr>
              <a:t>串口通信程序设计解析</a:t>
            </a:r>
            <a:endParaRPr lang="zh-CN" altLang="en-US" sz="3200" dirty="0"/>
          </a:p>
        </p:txBody>
      </p:sp>
      <p:sp>
        <p:nvSpPr>
          <p:cNvPr id="4" name="TextBox 4">
            <a:extLst>
              <a:ext uri="{FF2B5EF4-FFF2-40B4-BE49-F238E27FC236}">
                <a16:creationId xmlns:a16="http://schemas.microsoft.com/office/drawing/2014/main" id="{CB883A72-3B05-F388-A63E-F9E9C62EBDBF}"/>
              </a:ext>
            </a:extLst>
          </p:cNvPr>
          <p:cNvSpPr txBox="1">
            <a:spLocks noChangeArrowheads="1"/>
          </p:cNvSpPr>
          <p:nvPr/>
        </p:nvSpPr>
        <p:spPr bwMode="auto">
          <a:xfrm>
            <a:off x="361950" y="1215468"/>
            <a:ext cx="8482013" cy="5262979"/>
          </a:xfrm>
          <a:prstGeom prst="rect">
            <a:avLst/>
          </a:prstGeom>
          <a:noFill/>
          <a:ln w="9525">
            <a:noFill/>
            <a:miter lim="800000"/>
            <a:headEnd/>
            <a:tailEnd/>
          </a:ln>
        </p:spPr>
        <p:txBody>
          <a:bodyPr>
            <a:spAutoFit/>
          </a:bodyPr>
          <a:lstStyle/>
          <a:p>
            <a:pPr>
              <a:lnSpc>
                <a:spcPct val="150000"/>
              </a:lnSpc>
            </a:pPr>
            <a:r>
              <a:rPr lang="zh-CN" altLang="en-US" sz="2800" b="1" dirty="0">
                <a:latin typeface="楷体" panose="02010609060101010101" pitchFamily="49" charset="-122"/>
                <a:ea typeface="楷体" panose="02010609060101010101" pitchFamily="49" charset="-122"/>
              </a:rPr>
              <a:t>例：请按照以下要求编写程序。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要求：</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    单片机与</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机进行串行通信，要求单片机接收</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发送过来的数据，当收到的“</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”时回送字符串“</a:t>
            </a:r>
            <a:r>
              <a:rPr lang="en-US" altLang="zh-CN" sz="2800" b="1" dirty="0">
                <a:latin typeface="楷体" panose="02010609060101010101" pitchFamily="49" charset="-122"/>
                <a:ea typeface="楷体" panose="02010609060101010101" pitchFamily="49" charset="-122"/>
              </a:rPr>
              <a:t>OK</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当收到“</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”时回送字符串“</a:t>
            </a:r>
            <a:r>
              <a:rPr lang="en-US" altLang="zh-CN" sz="2800" b="1" dirty="0">
                <a:latin typeface="楷体" panose="02010609060101010101" pitchFamily="49" charset="-122"/>
                <a:ea typeface="楷体" panose="02010609060101010101" pitchFamily="49" charset="-122"/>
              </a:rPr>
              <a:t>ERR</a:t>
            </a:r>
            <a:r>
              <a:rPr lang="zh-CN" altLang="en-US" sz="2800" b="1" dirty="0">
                <a:latin typeface="楷体" panose="02010609060101010101" pitchFamily="49" charset="-122"/>
                <a:ea typeface="楷体" panose="02010609060101010101" pitchFamily="49" charset="-122"/>
              </a:rPr>
              <a:t>”；收到其他字符时回送“ * ”。通信速率为</a:t>
            </a:r>
            <a:r>
              <a:rPr lang="en-US" altLang="zh-CN" sz="2800" b="1" dirty="0">
                <a:latin typeface="楷体" panose="02010609060101010101" pitchFamily="49" charset="-122"/>
                <a:ea typeface="楷体" panose="02010609060101010101" pitchFamily="49" charset="-122"/>
              </a:rPr>
              <a:t>4800bps</a:t>
            </a:r>
            <a:r>
              <a:rPr lang="zh-CN" altLang="en-US" sz="2800" b="1" dirty="0">
                <a:latin typeface="楷体" panose="02010609060101010101" pitchFamily="49" charset="-122"/>
                <a:ea typeface="楷体" panose="02010609060101010101" pitchFamily="49" charset="-122"/>
              </a:rPr>
              <a:t>，要求使用波特率加倍的方式完成，单片机外接晶振频率为</a:t>
            </a:r>
            <a:r>
              <a:rPr lang="en-US" altLang="zh-CN" sz="2800" b="1" dirty="0">
                <a:latin typeface="楷体" panose="02010609060101010101" pitchFamily="49" charset="-122"/>
                <a:ea typeface="楷体" panose="02010609060101010101" pitchFamily="49" charset="-122"/>
              </a:rPr>
              <a:t>22.1184MHz</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71464505"/>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ox(in)">
                                      <p:cBhvr>
                                        <p:cTn id="10" dur="500"/>
                                        <p:tgtEl>
                                          <p:spTgt spid="4">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ox(in)">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8BB0E-A65A-65FE-E4C1-D36BECE4B549}"/>
              </a:ext>
            </a:extLst>
          </p:cNvPr>
          <p:cNvSpPr/>
          <p:nvPr/>
        </p:nvSpPr>
        <p:spPr>
          <a:xfrm>
            <a:off x="-9052" y="367225"/>
            <a:ext cx="9143999" cy="641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a:extLst>
              <a:ext uri="{FF2B5EF4-FFF2-40B4-BE49-F238E27FC236}">
                <a16:creationId xmlns:a16="http://schemas.microsoft.com/office/drawing/2014/main" id="{9BA7BD8F-D742-4EF1-FDF8-DBFC9F76C2B2}"/>
              </a:ext>
            </a:extLst>
          </p:cNvPr>
          <p:cNvSpPr txBox="1"/>
          <p:nvPr/>
        </p:nvSpPr>
        <p:spPr>
          <a:xfrm>
            <a:off x="36151" y="397876"/>
            <a:ext cx="6509504" cy="584775"/>
          </a:xfrm>
          <a:prstGeom prst="rect">
            <a:avLst/>
          </a:prstGeom>
          <a:noFill/>
        </p:spPr>
        <p:txBody>
          <a:bodyPr wrap="square" rtlCol="0">
            <a:spAutoFit/>
          </a:bodyPr>
          <a:lstStyle/>
          <a:p>
            <a:r>
              <a:rPr lang="zh-CN" altLang="en-US" sz="3200" spc="600" dirty="0">
                <a:latin typeface="Arial Rounded MT Bold" panose="020F0704030504030204" pitchFamily="34" charset="0"/>
                <a:ea typeface="隶书" pitchFamily="49" charset="-122"/>
              </a:rPr>
              <a:t>本 章 小 结</a:t>
            </a:r>
            <a:endParaRPr lang="zh-CN" altLang="en-US" sz="3200" dirty="0"/>
          </a:p>
        </p:txBody>
      </p:sp>
      <p:sp>
        <p:nvSpPr>
          <p:cNvPr id="4" name="内容占位符 2">
            <a:extLst>
              <a:ext uri="{FF2B5EF4-FFF2-40B4-BE49-F238E27FC236}">
                <a16:creationId xmlns:a16="http://schemas.microsoft.com/office/drawing/2014/main" id="{905EE62E-ADFA-5E7B-A489-FADDAC93F7A2}"/>
              </a:ext>
            </a:extLst>
          </p:cNvPr>
          <p:cNvSpPr txBox="1">
            <a:spLocks/>
          </p:cNvSpPr>
          <p:nvPr/>
        </p:nvSpPr>
        <p:spPr>
          <a:xfrm>
            <a:off x="49856" y="1388720"/>
            <a:ext cx="8923338" cy="5005387"/>
          </a:xfrm>
          <a:prstGeom prst="rect">
            <a:avLst/>
          </a:prstGeom>
        </p:spPr>
        <p:txBody>
          <a:bodyPr/>
          <a:lstStyle/>
          <a:p>
            <a:pPr marL="342900" indent="-342900" eaLnBrk="0" hangingPunct="0">
              <a:lnSpc>
                <a:spcPct val="120000"/>
              </a:lnSpc>
              <a:spcBef>
                <a:spcPct val="20000"/>
              </a:spcBef>
              <a:defRPr/>
            </a:pPr>
            <a:r>
              <a:rPr lang="zh-CN" altLang="en-US" sz="2800" b="1" dirty="0">
                <a:latin typeface="楷体" panose="02010609060101010101" pitchFamily="49" charset="-122"/>
                <a:ea typeface="楷体" panose="02010609060101010101" pitchFamily="49" charset="-122"/>
                <a:cs typeface="+mn-cs"/>
              </a:rPr>
              <a:t>      </a:t>
            </a:r>
            <a:r>
              <a:rPr lang="zh-CN" altLang="en-US" sz="2800" b="1" dirty="0">
                <a:solidFill>
                  <a:srgbClr val="0000FF"/>
                </a:solidFill>
                <a:latin typeface="楷体" panose="02010609060101010101" pitchFamily="49" charset="-122"/>
                <a:ea typeface="楷体" panose="02010609060101010101" pitchFamily="49" charset="-122"/>
                <a:cs typeface="+mn-cs"/>
              </a:rPr>
              <a:t>这一讲中主要介绍了</a:t>
            </a:r>
            <a:r>
              <a:rPr lang="en-US" altLang="zh-CN" sz="2800" b="1" dirty="0">
                <a:solidFill>
                  <a:srgbClr val="0000FF"/>
                </a:solidFill>
                <a:latin typeface="楷体" panose="02010609060101010101" pitchFamily="49" charset="-122"/>
                <a:ea typeface="楷体" panose="02010609060101010101" pitchFamily="49" charset="-122"/>
                <a:cs typeface="+mn-cs"/>
              </a:rPr>
              <a:t>MCS51</a:t>
            </a:r>
            <a:r>
              <a:rPr lang="zh-CN" altLang="en-US" sz="2800" b="1" dirty="0">
                <a:solidFill>
                  <a:srgbClr val="0000FF"/>
                </a:solidFill>
                <a:latin typeface="楷体" panose="02010609060101010101" pitchFamily="49" charset="-122"/>
                <a:ea typeface="楷体" panose="02010609060101010101" pitchFamily="49" charset="-122"/>
                <a:cs typeface="+mn-cs"/>
              </a:rPr>
              <a:t>单片机的串行通信接口的工作原理，串口初始化程序编写的方法以及基本的串口程序设计的方法。</a:t>
            </a:r>
            <a:endParaRPr lang="en-US" altLang="zh-CN" sz="2800" b="1" dirty="0">
              <a:solidFill>
                <a:srgbClr val="0000FF"/>
              </a:solidFill>
              <a:latin typeface="楷体" panose="02010609060101010101" pitchFamily="49" charset="-122"/>
              <a:ea typeface="楷体" panose="02010609060101010101" pitchFamily="49" charset="-122"/>
              <a:cs typeface="+mn-cs"/>
            </a:endParaRPr>
          </a:p>
          <a:p>
            <a:pPr marL="342900" indent="-342900" eaLnBrk="0" hangingPunct="0">
              <a:lnSpc>
                <a:spcPct val="120000"/>
              </a:lnSpc>
              <a:spcBef>
                <a:spcPct val="20000"/>
              </a:spcBef>
              <a:defRPr/>
            </a:pPr>
            <a:r>
              <a:rPr lang="en-US" altLang="zh-CN" sz="2800" b="1" dirty="0">
                <a:latin typeface="楷体" panose="02010609060101010101" pitchFamily="49" charset="-122"/>
                <a:ea typeface="楷体" panose="02010609060101010101" pitchFamily="49" charset="-122"/>
                <a:cs typeface="+mn-cs"/>
              </a:rPr>
              <a:t>      </a:t>
            </a:r>
            <a:r>
              <a:rPr lang="zh-CN" altLang="en-US" sz="2800" b="1" dirty="0">
                <a:solidFill>
                  <a:srgbClr val="CC0000"/>
                </a:solidFill>
                <a:latin typeface="楷体" panose="02010609060101010101" pitchFamily="49" charset="-122"/>
                <a:ea typeface="楷体" panose="02010609060101010101" pitchFamily="49" charset="-122"/>
                <a:cs typeface="+mn-cs"/>
              </a:rPr>
              <a:t>本部分测试主要以编程题为主，主要考查串行接口程序设计的方法，灵活应用串口来实现收发数据是主要的学习目标。</a:t>
            </a:r>
            <a:endParaRPr lang="en-US" altLang="zh-CN" sz="2800" b="1" dirty="0">
              <a:solidFill>
                <a:srgbClr val="CC0000"/>
              </a:solidFill>
              <a:latin typeface="楷体" panose="02010609060101010101" pitchFamily="49" charset="-122"/>
              <a:ea typeface="楷体" panose="02010609060101010101" pitchFamily="49" charset="-122"/>
              <a:cs typeface="+mn-cs"/>
            </a:endParaRPr>
          </a:p>
          <a:p>
            <a:pPr marL="342900" indent="-342900" eaLnBrk="0" hangingPunct="0">
              <a:lnSpc>
                <a:spcPct val="120000"/>
              </a:lnSpc>
              <a:spcBef>
                <a:spcPct val="20000"/>
              </a:spcBef>
              <a:defRPr/>
            </a:pPr>
            <a:r>
              <a:rPr lang="en-US" altLang="zh-CN" sz="2800" b="1" dirty="0">
                <a:latin typeface="楷体" panose="02010609060101010101" pitchFamily="49" charset="-122"/>
                <a:ea typeface="楷体" panose="02010609060101010101" pitchFamily="49" charset="-122"/>
                <a:cs typeface="+mn-cs"/>
              </a:rPr>
              <a:t>      </a:t>
            </a:r>
            <a:r>
              <a:rPr lang="zh-CN" altLang="en-US" sz="2800" b="1" dirty="0">
                <a:solidFill>
                  <a:srgbClr val="18478F"/>
                </a:solidFill>
                <a:latin typeface="楷体" panose="02010609060101010101" pitchFamily="49" charset="-122"/>
                <a:ea typeface="楷体" panose="02010609060101010101" pitchFamily="49" charset="-122"/>
                <a:cs typeface="+mn-cs"/>
              </a:rPr>
              <a:t>串行通信部分的程序设计综合性较强，希望在课后多思考，多练习，综合运用知识的能力是测试的主要目的。</a:t>
            </a:r>
            <a:endParaRPr lang="en-US" altLang="zh-CN" sz="2800" b="1" dirty="0">
              <a:solidFill>
                <a:srgbClr val="18478F"/>
              </a:solidFill>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821750625"/>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amond(in)">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amond(in)">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amond(in)">
                                      <p:cBhvr>
                                        <p:cTn id="17"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13.12.17"/>
  <p:tag name="AS_TITLE" val="Spire.Presentation for .NET "/>
  <p:tag name="AS_VERSION" val="2.1.0.0"/>
  <p:tag name="ISPRING_PLAYERS_CUSTOMIZATION" val="UEsDBBQAAgAIAMidiEepAcR2+wIAALAIAAAUAAAAdW5pdmVyc2FsL3BsYXllci54bWytVU1v2zAMPadA/4Ohe6WkH2sb2C26AsUO61Ag67ZboNqKrcW2PEmum/76UZK/53QrsEMCm+J7pMhH2r9+yVLvmUnFRR6gBZ4jj+WhiHgeB+jx693RBbq+Ojzwi5TumPR4FKAy5wZAU+RFTIWSFxrAD1QnAeoZMDAjr5BcSK53wH0G3G2k41N0eDADl1wFKNG6WBJSVRXmChB5rERaGhKFQ5GRQjLFcs0kcWkgr8Eu9d/R8MtETvSuYKqHLPT7A9ckLceL4gOS6gQLGZPj+XxBftx/XoUJy+gRz5WmeciQB5Wc2VI+0XB7L6IyZcrYZr5LcsW0NklY28zXS764yD0lwwA5h3XGlKIxUzjNY0QclkyA/U1KVVLzqAGt4VVbXvNav7V5XzdutnOkcy7Kp5SrBI76kM46CfTJMKqf2etaBT02CrozTMiT7FfJJYvs67dWjPMFcgFbxdk8sapCOICnOxpqIXe3AAMV1R3EbdOwaxq2oJYDt9FXHQVqbrthVJeSNaWa+c88YuILlZIaWVxpWTKfjIw1lgzBPnFXrpvUNcRPdJae/UNvjN+oNT/VW52xgP/RmE9A1NaE5xF7uePgo1kGNdUMim1sWBcpNjG7nFT5lPV0PTC5HOumwEU8TWXMYAwjqinp7GQflEmqwCUs5QjbO9gLTnicpPDTkwzj0700GZXbSYbewV5wKsLtBLQ1t2Uk4zqOxNQqyCcT68QPS6VFxl+tPAd7Ri+tDt8auebopuDtwfn8j1EcxGgGc4MmVpd56u2r5vDBzKlWnc+6cJaBWmEemC4L59XMQlmMfCK2oWWqb/s5NfuwBx3lPDUd01zfQe+iWvFX5lU8Ml+6xYmpScKMZgL04eKkxwD9hO0yCG9N+yJuRN7UAWNi39y/rWiz5evWua7v67APNXzmrHIYN1MfQR2xFGUejXqIi+4jolLYaTeSUS9lG7jR4hhEKooAncJDfefLs8vuyueLywZr83pwgV0u71jpdcKdgkit6/Yifr0b4PE3UEsDBBQAAgAIAHCAfUmJRWTYbhgAALdDAAAXAAAAdW5pdmVyc2FsL3VuaXZlcnNhbC5wbmftXHlYU9e2p7VFb6tQrt7KnLa2ilYZRAGZcq0CAioiaq1Ioo2CihARJJBRSwVLA6kioKJJBRHFIVrUCJm01MSKGAEpQ0iixpgAGQgJJJDpnRNE0Nr37nvv9nv3fo8//EzO3mf9fr+11l57nY998t2a1RHT3nN+z8bGZlrkiuVrbWzeDbOxmZQ9xRa44pW/6SPgv7fS10Z8YXP5gWs38OWdpKWrltrYXCW9b9z6LvD9L3tWfJVuY2NXD/57i4s8t83GZtnKyOVL12XBFAI4tRL1lUUdOhuy3/7WL9NXHXWMWckjno/o3L/c4eNr3236aNUVj7mr9BUbci795czGS0sPO7uYV544sivC7sfzX899Kyo6Oc2EFzVe3Isa8G1DqRZjGjeni6io/ntHOzCNm3wVrCNDV5J4bvQwqFlNQlHZ5mHl9TZYkKbnAvVtgJxNV+agi7Q9iKuslTfGZjB8QhzBq48z/Qd5uKQKmQuS4SByAC9tWcCxQ/vlm0UWExw7Gbyy/7oTRuZmbg8Gv1z5G8KeKY6ADsdiZ4Hfb3USQ7SFWtuRibtC8gvZCy3fw41fY+NRNE0yaGD/Yt988qHYGeAU9MJ/2Y8Ad6unNvtVeFiVzg2PtTokjlhuVXrWMewtUM4qn5GJZV/PAONu4ycprKLg0ZNH3POP3nTHA0w1m935I/DtM/4xVEWIriudXgpD79T1N3ipPt3Z9U3adE7KCn8Ex2rw2uB9X54chlFcT4479KnpWpoLp2AFrWIEdZNBqGOhUsw/nKH5py6vc/ubFfPhiU8bo15OKTrzVXfmOiv435OPLPpcUDjCcMeqI4mV/NgRFpcimy9mBM2zUv1xceSJ4tSIET3XZkfWNCvOWTnv/+3TnRsmQP7ZIHUhw7ft8Vcwzw5HZKqw0iAeQ+ymajcZeRbs5+LFCrgo65J4cbLbGPh5AmIzo/cy/ekHHR1ZjblN+46+hD9rFqBEuLQMhhux7TKfPcZxgCqGFEOp6k5St5oLYQ/G9KwZozZcyuHwfw1zyZH5kFq6x2jGWewiOPzGsE778pm4k6vjx91Bc3Us5Yj68JJ7xcmqfb116IGejuRIaloAsmGp9hPASvQ4KyXLnqylNSe7Pmh58hFayO1+Pp6wW+FBjCCKmnas2LZJE7zanzqOtNe03GXgjdWX/Q/Z9cSNZ2xbfzq+e7Fd2wXn5ZMH5o5FyRSd8+ThJa1z3qPdH7g9qnqDMbsg3keB52LGAtADd56al1rZFjA/SPUHI3L63T8YIXoG/gE17tTynOHxSitv75FtQBf4f4Eb7+LmLQEZnzM5LqdDx0d4p7drXTFMXLCGMpZOj9iLHO0AV6nD38Qka9Yb1SrpKpbe5PtGhhWI3Ng3+g430y289U3WShK2Oa5/A6W0ADmj/tyb1C7rCX7zQP3AiWkVb6S1vtW7+k3O8O5F/4Gp7KjXBsCkIgX3372uuzkQYtaL1YvtpIo9r1GXrMkKqlvRsHXdK/EomSRWyMoVea96hg6sN6HfIqEnJxl61odYPT4AoqrQgfMBAUI7TnKbAj5OkC4HYtyCkp5CcZqu1qhPcF8dTiVxbupZOqZXIcmtoG3XBwkxEyV0AmQC5F8BBDMkKaU2uh/RDo7vtjDKWmkmkqHmXB9adgTfeXOaOPzMKKIixCCvoX8Jy5Z0Tv0kkl5T5p26rM7J90/uHkcNdGLUd2aiqKzhHuVPIHceXq49WV/KNkoE9fZQBkaFEdHpBiXdSy5Q4XVKkkVP4mH7iyhdIUPPitTZ+8saXjSbl5C43s5vs+uavYcPemGfyHy0aM6K4buzSAxF7dgsk4pg6czIrsMbxRC2ZAk36ZAwnReS1s6IRTi65fT2D41NHe6lwss8Y/h64iNTemjfrUlpDxnzEXsSzK4HRudk1jhTDgeSkdgPk5wXevGToIYOmmnzgbL60eFOi8PwZAjWu/BYqcJsUBH4vL/dXPIiA/xrksjZz5steyt7nXhFeNatbqeR2KYmwk09X4r3Z88z//zZzcUvp1NxiuQ0RnBxDL6/SC2derJkJHsUiZlALxMAI+ezD7qnThvJic5GeU/rBWB25RwKdqGZcaDlRXoJ5M17sqPsocY9xuxJVYiR9KB3VD7pP6pkW8x6je1q7ih7QxF0qAgw3AyGQ58+efVLXRjZ6byngB1gp1phrJ1UtXXUDs6soZDqJXOHZmn3pI/qyYwJGVjn6hmzwNR1oMV7lMdlGNM5oiHOIE+CuhDMtyS+owNAJhYHbCJ3TrIP/mD8QH7zjuxdQBLQxTzITezICrke3zQZqr8dsJncOZPVd1CfbLPZ84UHLgEc3fMrJOdD9I9z1G02Nze/vEUKtQyBCBiRQfjKLTuCkc4LkLmAz/pT2La3JAtHockE81DARuFUq+P22XiSXvh+Q7FtQ9kTILQktt0tyaiPq1NbRX+HnoFPftz/Yr2mrieoZxIcJgOTgS6WxP7wlsT7lcnBVpJv33QdJdnaeuFL8ZZs3y4gP8cNLI4MlEtK4UKmtjmaLiVjPIUFTqNlIIHaBsOk6IDHrl/GysnaVh2wVWf9GXXrUs9AG1yE09FFAisdi1llsd2QiN1NIqnVV2FjOBsGoBYNlA4x9+XRAYqKTt2KTXFiBAZLJJEGql+Wu+vV6uPbjvwmkiNCxjDuecxLmWVldWXu+vDYnS4jWbXq/ML8KP5dq/3dUcWx6zrDrUa2xFUTy5v9RgJXtnb7jOJhXQXEtAMFrBGByKwQsbqvct35YM1rEyLIVpD2o/Mqzj2iA6XBQCcRjGI6Ca+taIKbWuEJGF7gGPZ5pNh3OVe2hMOrIqN75ASVC6Jbv7tJfWMOOetppw4GHT8VMeVSOE+yY9io4cENwpPjgGgxuJ64JEIGfsipPK/ARxtMWbDL6mm/SkDsQArxlNhr/Yl9ZJ3vOBGJ1hkBawGlPXxz78ENBKzZRaTndBiMDWxjw3XVr+P8gqPfhV/TPv3eC/YqMt0kW2LOMvb7hnOnBJo/Oau+sZUBH3CqHPVcoVMY22JSqS5vrt2rICgyeaEGeRmlMlPvF+n/m2MgBCO/6s/lRS0mOr/ACkyc4UY4qhNDLPoOKMkhg+hj+DhjyC+ytE3feVpcE6bjcDv10E85XH52buyod7j4s7L+3pmhFqMGWeidhyzK6AQm7HV0s5wMtS0ot24W69x886N6WvGOTOFHgeOCeePwmJxrBcQXk53CKlO2jbnwv86X1mgv5jXDE3tCloIQuQkhRmCxF78c24PXM83DvXQkwcBPooTZXmzRO0Igvev/vTqERGb/vc/pbIuBLTJ1UEwdSntLnz0KLJ8H+F36je6QFusC5I2hX0CDWzHwFK5TXqYr396w63fLMwb7dHra8rd+2/6qt4bmx7bnvrrgiznTt5yqHmNT3bzn7Ytx61/K3rTeeXUuXH8QvkXSzEb9dmne2IKfN21OvWMjS3NKdWUtKXR4h1H3oG79OLTKJ9u88y+XxWaUvWp/oWNYW6NH3apxcVq/M8CJWN6bOENwdryMRSenhjft881PfY2QbYWszimMdv5VMjmxGQJiOX/deHW5Rbc96lLDm1Kqx7kvqv7XLTMS/CtkfhN0J+j+O9KlISKadAxpCB1sNekYFdOfdUr4e6aKY7HaemAzV5aJjM+Vd2bCgw1Sbah2w+9RuMRywnAVAT2oAAuRSxgy7vcKM2fB4x55oA1/hvcyj1fIMEINWTAnVP0djWEf8ntzfGAXiQlW/6IUYlQ4DYF0QJsHNT6JF+aR3yAc6DFS4RM5NUF3gu7/BV2Oxz20qd/Lsvf1nkCA0wnSgn/XmOCeTqccmvTeFU8xgjmOdw9QsrQd5Vf2vt73NQ4/92fXGvryoK7cGY8H/UJvcLn6P6ejUxwzqyGWw8VFJWPwbi3j+h7ZdUJLc8yYpaDZ1gDs2/gSqNPHCfRSdf0Yj8JfQc/HupW8pJm50hrNnitjIUYsBF2+Lm8ccJE1jIHzx9Gzpkbr1jH23G1g/M7ZRU9QmqD0T6BE+76wHKq/bZ8JMckiUCN/P1ThVHxTG8HUdp22a9prNoGHUxVdxapBUmFM9CAP4diKfm11CGQQCnuv5F5HEnFXyGt3p2bMwBnVXNxZ2b3X77rrEcgqkennN6k7yjfFvEYS6Ih8DrHEbirvQ5df0833qZDpo0uUdb2Xa6CB1IHiVx1Fl3nUQZZDsp8druH9VeAigoZiHq1BG0p/NyswnKfet9w+gYke2O3qRjgDo6FeI+Ey9H3JtQcTCTxB6f8HpZ3E8ottbBOfnWDwX2A6M/GXnQmQCZAJkAmQCZAJkAmQCZAJkAmQCZAJkAmQCZAJkH9JEBh+SJJck/cpk5k2a+wqGaOsFbggGWngqy8Uv9T6mw4vETHgcRtl8ZewWr+cFc1K+Wwi/4dUDvF/dq7yv3Ews0vdc4GqBD/b3Pj5f3eacwz1XmyFDMU2CATSUF2tICK0/7BgcmjfAYEAJRI8yEoQDxS0LYEhh7NH3txaQGNcq1jPQeTysM99Z3a2cwyFXDmEgpffy7o/F8V8n1Tuxej7WanDq3RPv1fsYgjVdS0862tOv/WAp6AqcWvF7e0cUik5aSeDt12RJ75OkS7x6vm5QlYFNXXr36a7UINM2P1liCFLVALHJ3Sw5jbTDhT8NfbI4+1Gcnr37ckQIu/6IuGckMGNYumeDkpf1pNYbaZhfhPTChbAjCPkDumv8tJdR+/8+T5OJ5hJEGVVNGsWVHK7zqnTa+/HvF3X53EC9kjxiQmb+gvBLCUo8Rp/Qjp4AE0/+AyFl6IeuNOMLK47Ri7n1moeBPGwRjGE0MCv3Qw3Pp0pMg64izwtOOMA3DJQZnFX1krJAhrbpKAFDwarUEKIeM0wEhE8CB4n1XDjzTQfISo40XJDrdkUOshQ+ZMRjAfqulIR4XgqJ+kYRfpSqDHyZ63hTsMPZOTckOcLiZQ4NAvhGEZalFsJH66Ed5q6eKaufdxzyxDBbqQlRrNPRsHWDGKcmDt8nDJ0/P1plzbf16P88EwudUB/HZLzRG/2cVdacHYI71XLtg7gpSYfuwQVu0DdrkbICQx1qHgJh8/pdc/p1pvVGiceRq/vMBRAko16MddNVYPt2h4oSQpTFkhX8JjP9oEp9q44ec9Z0eewEu3J6G6f0q1GmO4nFutcrHYFYrOzaAPlNGoH1k+YHfq+9hPo7Jm+ZmaBw54hHNRQAzU8T4r2tJjm590DKEXU95iqaesv60ScLPnejyAqXyEKzJdSVRAeZrB4co8Fml1OMEX6TAZPX3tq74xVEFLVD2QM4JQZzeleldyTX6BTwcRKMTpoGsyB5XnNGs9K7uYSNVfWkg47Gqu1Tdh2q4uE7E6JFvsOlSxzLJ1TQDAQ8rpFEv1FgVqh112FxF3QXRBuqBUSXPJICawHakV/SgOF77ia+3gJht1j8Iwbzgo+qO0CdL6ARpskcPN2rEWzgjcNWBB1CYPwvUfPSBOiSLUrKUP3k55qYN8CyJUO850otTQLorNYfXx/HuXXu5JIsWjvtmAj6rhtY4/pgQExf70lxTUoX3lKZ2rWJZzVqrPAc7CdISZtC/3Cl1T3kHfOSmFRpCUj8OddnJbnabsAvRfbSlnaSr2hvqHEyugnnORz+Hc8HIy2e0aInIGkO3RL0yuap5TMt9ztHyDylEGuV25u3mmMLyTmWTyRHI9NJtrVg7HaHIjxsXJISmEPNpmLzEqV2ZOlWolWVmqPHe9llsQOmz8O0a1F39/KNTvPr5TaAjXlFCzrycGyftTGqd1Dpc0IT76+tpCSjjZrvPOFPy76xq3TIgnqTsGIa97ltpGCeRCqNAuBDTau7NJgVzVVWkXLG838gMFkq+rUVo9Au/ZoL2aGYhYONcjr9g2D4LRNNbQCFdUOa2XS68TzhTV4ME1oEfSM1RtyoOwucSG2GMhfjkR/J/ZSoxZTH7eCxz7qnv6ef/9AWEG5vyy4Qoa/G4V0GcyR6dMGweAnE781wEU+dkpo0V6syNFDV681I1MglmBOg1q1cxDfyj/SQXARKxocUBbRr3qp2mR4K5PBkrR95kbdhxXJTYMA4TqIW0RrUnghdANbfr6KnJ+zFeBZr2OTJ7tnPd59tIuG5ZsJKvYqa4LKXaA0nHhx111LQynZBSjCA05whK+J1beuOXkjoKUYwQaXjW3B0mS/LYVbd0PXfIY4GrRu2vauY2rV11MPituysXTXKdzHx8xuRBUcz5EMCJGDN5bVWPxyfXYoCQyTdxCxLQRvNPFLLG6FFibkiws6vgtU2c9l7e4Wp2F/k7J83jmr66DD8pbtAohKDO7VgVi2hBZp9W6T2XdbKdtPHP2+axDxrDXECSzzAJUrmk5ei3YDk34RflpzL7AnHiiKhpAMPLMrYT7L2cSB37q2Gzv4zHEZ9yFGz+quLbUTEc7vsgxqU45Yc7Iv2pbI+9YN2uYyhNB21wI70MbSMjWtERJFRQDDRznUpWhwY9+zF6ApgppaoHdoqgWWgKEd2Ofb0OyRzIO1mhXd/E/BzysXch66DNWVvzClNdyOi7ZaejSOXSKhYTjLAJ7zVbC0+GVWicxqE7/lhVxNFOVjTMh/boIyt85fiISjDdbVnkgdpymYk9R4FrqawOTNXjWy9rGPJ0EOsecEV2oDS5oRq3canc+0Ab3Hh2Yx1IzQNZHwWrlvTQlHV0Cr5NogS0PddQSNUX+ivFuRx4GUQQTV0FD2WDSOq/2fquLtKsR8NdteRHhRX4LVv0xX676tOgrjAi6ZWwDP0QbOC2/aMpWMMIJvaGbqhBiVchlk+GE8w2JSiUzDVMtwh8ExYqsnLtjTkjvQATkNFKxo8IAmlmJ17MqfjBXDFRL+oAVjGdVWwk5ETHGzYLBBUSrKSK4O3Y0I/SsBnjWve/F8oNje09dWtXkjZoT0nVJhk3Tx7IH4pHqp49eXpQiIob3DQNS5kSKhH/ZNByLqSPmsToWul+mz+PYEMb8HWR3DYwKrM0Ts63vhtvrlYqZKvOvmM5EjC1lKF5lShwyShhJYPSiVSNGMQnqHTtcmqNBt/PCHvU6qIPci/PzHc5q54iuWCpGBAymAiGXClhgoTrEAuhN7vxKS5GXVud21Tc01tvDDuw151iI6M01//GKFFj+SA1VUgqlXrcsFKjsB3FRY/cXUX6RQUrxfvvC9bmlNBtAI1EA/JARgHxh7qOYeJdL8HJkJvvJR2xhs7KtPgs8+0OtSv304q/aQVn3TnzX1jrn3IIzqc7KQ17WSBI+yan4PWB3NiAe9e1YIS4X+If6A1N6BWh7O02zu+6kSdEPtbopZWyVOp5TGZmw1vhslTj7kXkgW1/xkHqJYhu7rpfU0y22I8bZSR7DoxLJwws4pzy41cxvCzpC4lWqn4+Lkg56WANMOo0pNe0B6sihEucaaUEBJBAm4t7ksj+g2taRPAvbuVJ0ABTeGPN0exaMDY8c5Ij+CHFIm8s33NHKQRk5HUsWCyTyfR66FO8SGEpUv68deqvEelaEw3Qw54/ADLQriNfNwqHvMyAqde2Z0hwL3Jf77Xow9/VSvE2QU2LjgxC6iQzyMQ3jTwSAVQ7MAIf0h/NqTPhNePZPgw4KYKl+YS/NltWuyCoEAwcBGMd6b9VviMPPp9kheLcDwK2Cv87ojZXhUyL6JzShrnnI3vpJU+r0jXDoLtxJ2VoNd4EAFhO2/FCBR3WkBu7vNuQ1GpvJgRFOZ2ml11R4y70QUAYvHTmuqd1D09eYPizU02qK3+zd0iyWfrDadN4i57rzDZMyvvWDbHM1JLMaLsmZx2jQrXzSZ4URKNPoyIiFrRojkHjZK+tURqPa0/R32jm6I+QlE6PqQA4WwcMawaCBB6cKF19IMK2Z9hCwOhXnuwjJJca5iNQL2LPm7LDew274zN3SuNNiFv12VV6V/RgH65Srz1Kq4AJVXV1FMaLafjVsh2Zc9mMy+YdBALZqAm018trmXzUqxeXYJb6ARgvAMsJk2FcScrL24QMUALCnzxNwld+ZYNmfNcFs9AEpu4p0YFohMAoFBZDEH4GeLcVxEM8na9tM6t+/OniloT72TDvsF6PxP4HrjRYGGznIVToURT6nTXSXh5HIc2NafgbwP3iHjejgTD6djcU1qbi6Xlpcjg5iaIKdMV5+q/XKszxxdMGL5wTnkrK9RvBCdXMnQPKA5ivyFJe6TwFFt4sufPADPj6inWZ9fkn0HHwbBCKYBffjY70WAv0MhdnnL+rSQKD+NkpsJofHWx5uN9Ks5hQ/Cm5rAN1c4qHfAazcFBaZ0UVmFTFbgL2xnDnYmq5dabdPKrqIKBZoqRabF/pjdAccbxw1gbG0iw1Yvv/zFlm/+A1BLAwQUAAIACABwgH1JPhPYuk0AAABrAAAAGwAAAHVuaXZlcnNhbC91bml2ZXJzYWwucG5nLnhtbLOxr8jNUShLLSrOzM+zVTLUM1Cyt+PlsikoSi3LTC1XqACKGekZQICSQqWtkgkStzwzpSQDqMLAxBwhmJGamZ5RYqtkbmEKF9QHmgkAUEsBAgAAFAACAAgAyJ2IR6kBxHb7AgAAsAgAABQAAAAAAAAAAQAAAAAAAAAAAHVuaXZlcnNhbC9wbGF5ZXIueG1sUEsBAgAAFAACAAgAcIB9SYlFZNhuGAAAt0MAABcAAAAAAAAAAAAAAAAALQMAAHVuaXZlcnNhbC91bml2ZXJzYWwucG5nUEsBAgAAFAACAAgAcIB9ST4T2LpNAAAAawAAABsAAAAAAAAAAQAAAAAA0BsAAHVuaXZlcnNhbC91bml2ZXJzYWwucG5nLnhtbFBLBQYAAAAAAwADANAAAABWHAAAAAA="/>
  <p:tag name="ISPRING_PRESENTATION_TITLE" val="5867628dbe20f"/>
  <p:tag name="ISPRING_SCORM_ENDPOINT" val="&lt;endpoint&gt;&lt;enable&gt;0&lt;/enable&gt;&lt;lrs&gt;http://&lt;/lrs&gt;&lt;auth&gt;0&lt;/auth&gt;&lt;login&gt;&lt;/login&gt;&lt;password&gt;&lt;/password&gt;&lt;key&gt;&lt;/key&gt;&lt;name&gt;&lt;/name&gt;&lt;email&gt;&lt;/email&gt;&lt;/endpoint&gt;&#10;"/>
  <p:tag name="ISPRING_SCORM_RATE_SLIDES" val="1"/>
  <p:tag name="ISPRING_ULTRA_SCORM_COURSE_ID" val="DF011BF0-E0B5-471C-8EDD-EC6605E25B4E"/>
  <p:tag name="ISPRINGCLOUDFOLDERID" val="0"/>
  <p:tag name="ISPRINGCLOUDFOLDERPATH" val="Repository"/>
  <p:tag name="ISPRINGONLINEFOLDERID" val="0"/>
  <p:tag name="ISPRINGONLINEFOLDERPATH" val="Content List"/>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alibri"/>
        <a:ea typeface=""/>
        <a:cs typeface=""/>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alibri"/>
        <a:ea typeface=""/>
        <a:cs typeface=""/>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Uigh" typeface="Microsoft Uighur"/>
        <a:font script="Beng" typeface="Vrinda"/>
        <a:font script="Thai" typeface="Angsana New"/>
        <a:font script="Syre" typeface="Estrangelo Edessa"/>
        <a:font script="Syrj" typeface="Estrangelo Edessa"/>
        <a:font script="Mlym" typeface="Kartika"/>
        <a:font script="Nkoo" typeface="Ebrima"/>
        <a:font script="Yiii" typeface="Microsoft Yi Baiti"/>
        <a:font script="Cher" typeface="Plantagenet Cherokee"/>
        <a:font script="Orya" typeface="Kalinga"/>
        <a:font script="Geor" typeface="Sylfaen"/>
        <a:font script="Gujr" typeface="Shruti"/>
        <a:font script="Viet" typeface="Times New Roman"/>
        <a:font script="Tale" typeface="Microsoft Tai Le"/>
        <a:font script="Arab" typeface="Times New Roman"/>
        <a:font script="Hebr" typeface="Times New Roman"/>
        <a:font script="Bopo" typeface="Microsoft JhengHei"/>
        <a:font script="Telu" typeface="Gautami"/>
        <a:font script="Ethi" typeface="Nyala"/>
        <a:font script="Lisu" typeface="Segoe UI"/>
        <a:font script="Jpan" typeface="游ゴシック Light"/>
        <a:font script="Sora" typeface="Nirmala UI"/>
        <a:font script="Talu" typeface="Microsoft New Tai Lue"/>
        <a:font script="Armn" typeface="Arial"/>
        <a:font script="Sinh" typeface="Iskoola Pota"/>
        <a:font script="Taml" typeface="Latha"/>
        <a:font script="Tfng" typeface="Ebrima"/>
        <a:font script="Syrn" typeface="Estrangelo Edessa"/>
        <a:font script="Deva" typeface="Mangal"/>
        <a:font script="Knda" typeface="Tunga"/>
        <a:font script="Tibt" typeface="Microsoft Himalaya"/>
        <a:font script="Khmr" typeface="MoolBoran"/>
        <a:font script="Mymr" typeface="Myanmar Text"/>
        <a:font script="Olck" typeface="Nirmala UI"/>
        <a:font script="Bugi" typeface="Leelawadee UI"/>
        <a:font script="Java" typeface="Javanese Text"/>
        <a:font script="Hant" typeface="新細明體"/>
        <a:font script="Laoo" typeface="DokChampa"/>
        <a:font script="Mong" typeface="Mongolian Baiti"/>
        <a:font script="Hans" typeface="等线 Light"/>
        <a:font script="Phag" typeface="Phagspa"/>
        <a:font script="Guru" typeface="Raavi"/>
        <a:font script="Osma" typeface="Ebrima"/>
        <a:font script="Thaa" typeface="MV Boli"/>
        <a:font script="Cans" typeface="Euphemia"/>
        <a:font script="Hang" typeface="맑은 고딕"/>
        <a:font script="Syrc" typeface="Estrangelo Edessa"/>
      </a:majorFont>
      <a:minorFont>
        <a:latin typeface="等线" panose="020F0502020204030204"/>
        <a:ea typeface=""/>
        <a:cs typeface=""/>
        <a:font script="Uigh" typeface="Microsoft Uighur"/>
        <a:font script="Beng" typeface="Vrinda"/>
        <a:font script="Thai" typeface="Cordia New"/>
        <a:font script="Syre" typeface="Estrangelo Edessa"/>
        <a:font script="Syrj" typeface="Estrangelo Edessa"/>
        <a:font script="Mlym" typeface="Kartika"/>
        <a:font script="Nkoo" typeface="Ebrima"/>
        <a:font script="Yiii" typeface="Microsoft Yi Baiti"/>
        <a:font script="Cher" typeface="Plantagenet Cherokee"/>
        <a:font script="Orya" typeface="Kalinga"/>
        <a:font script="Geor" typeface="Sylfaen"/>
        <a:font script="Gujr" typeface="Shruti"/>
        <a:font script="Viet" typeface="Arial"/>
        <a:font script="Tale" typeface="Microsoft Tai Le"/>
        <a:font script="Arab" typeface="Arial"/>
        <a:font script="Hebr" typeface="Arial"/>
        <a:font script="Bopo" typeface="Microsoft JhengHei"/>
        <a:font script="Telu" typeface="Gautami"/>
        <a:font script="Ethi" typeface="Nyala"/>
        <a:font script="Lisu" typeface="Segoe UI"/>
        <a:font script="Jpan" typeface="游ゴシック"/>
        <a:font script="Sora" typeface="Nirmala UI"/>
        <a:font script="Talu" typeface="Microsoft New Tai Lue"/>
        <a:font script="Armn" typeface="Arial"/>
        <a:font script="Sinh" typeface="Iskoola Pota"/>
        <a:font script="Taml" typeface="Latha"/>
        <a:font script="Tfng" typeface="Ebrima"/>
        <a:font script="Syrn" typeface="Estrangelo Edessa"/>
        <a:font script="Deva" typeface="Mangal"/>
        <a:font script="Knda" typeface="Tunga"/>
        <a:font script="Tibt" typeface="Microsoft Himalaya"/>
        <a:font script="Khmr" typeface="DaunPenh"/>
        <a:font script="Mymr" typeface="Myanmar Text"/>
        <a:font script="Olck" typeface="Nirmala UI"/>
        <a:font script="Bugi" typeface="Leelawadee UI"/>
        <a:font script="Java" typeface="Javanese Text"/>
        <a:font script="Hant" typeface="新細明體"/>
        <a:font script="Laoo" typeface="DokChampa"/>
        <a:font script="Mong" typeface="Mongolian Baiti"/>
        <a:font script="Hans" typeface="等线"/>
        <a:font script="Phag" typeface="Phagspa"/>
        <a:font script="Guru" typeface="Raavi"/>
        <a:font script="Osma" typeface="Ebrima"/>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alibri"/>
        <a:ea typeface=""/>
        <a:cs typeface=""/>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2177</TotalTime>
  <Words>3766</Words>
  <Application>Microsoft Office PowerPoint</Application>
  <PresentationFormat>全屏显示(4:3)</PresentationFormat>
  <Paragraphs>252</Paragraphs>
  <Slides>42</Slides>
  <Notes>39</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1</vt:i4>
      </vt:variant>
      <vt:variant>
        <vt:lpstr>幻灯片标题</vt:lpstr>
      </vt:variant>
      <vt:variant>
        <vt:i4>42</vt:i4>
      </vt:variant>
    </vt:vector>
  </HeadingPairs>
  <TitlesOfParts>
    <vt:vector size="57" baseType="lpstr">
      <vt:lpstr>等线</vt:lpstr>
      <vt:lpstr>等线 Light</vt:lpstr>
      <vt:lpstr>楷体</vt:lpstr>
      <vt:lpstr>隶书</vt:lpstr>
      <vt:lpstr>微软雅黑</vt:lpstr>
      <vt:lpstr>Arial</vt:lpstr>
      <vt:lpstr>Arial Rounded MT Bold</vt:lpstr>
      <vt:lpstr>Calibri</vt:lpstr>
      <vt:lpstr>Calibri Light</vt:lpstr>
      <vt:lpstr>times new roman</vt:lpstr>
      <vt:lpstr>Wingdings</vt:lpstr>
      <vt:lpstr>Office 主题</vt:lpstr>
      <vt:lpstr>1_Office 主题</vt:lpstr>
      <vt:lpstr>自定义设计方案</vt:lpstr>
      <vt:lpstr>Visio</vt:lpstr>
      <vt:lpstr>PowerPoint 演示文稿</vt:lpstr>
      <vt:lpstr>PowerPoint 演示文稿</vt:lpstr>
      <vt:lpstr>举例：编程初始化串口</vt:lpstr>
      <vt:lpstr>PowerPoint 演示文稿</vt:lpstr>
      <vt:lpstr>PowerPoint 演示文稿</vt:lpstr>
      <vt:lpstr>PowerPoint 演示文稿</vt:lpstr>
      <vt:lpstr>常见的串行通信接口</vt:lpstr>
      <vt:lpstr>PowerPoint 演示文稿</vt:lpstr>
      <vt:lpstr>PowerPoint 演示文稿</vt:lpstr>
      <vt:lpstr>PowerPoint 演示文稿</vt:lpstr>
      <vt:lpstr>Stc-ISP波特率（每秒传送的二进制位数）的设置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微处理器课件</dc:title>
  <dc:subject>第一章</dc:subject>
  <dc:creator>Zhaojian</dc:creator>
  <cp:lastModifiedBy>周 启忠</cp:lastModifiedBy>
  <cp:revision>159</cp:revision>
  <dcterms:created xsi:type="dcterms:W3CDTF">2021-11-13T12:03:39Z</dcterms:created>
  <dcterms:modified xsi:type="dcterms:W3CDTF">2023-04-25T04:22:42Z</dcterms:modified>
</cp:coreProperties>
</file>