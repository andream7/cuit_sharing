
<file path=[Content_Types].xml><?xml version="1.0" encoding="utf-8"?>
<Types xmlns="http://schemas.openxmlformats.org/package/2006/content-types">
  <Default Extension="bin" ContentType="application/vnd.openxmlformats-officedocument.oleObject"/>
  <Default Extension="png" ContentType="image/png"/>
  <Default Extension="tmp"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38.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notesSlides/notesSlide39.xml" ContentType="application/vnd.openxmlformats-officedocument.presentationml.notesSlide+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40.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0" r:id="rId2"/>
  </p:sldMasterIdLst>
  <p:notesMasterIdLst>
    <p:notesMasterId r:id="rId100"/>
  </p:notesMasterIdLst>
  <p:sldIdLst>
    <p:sldId id="256" r:id="rId3"/>
    <p:sldId id="346" r:id="rId4"/>
    <p:sldId id="349" r:id="rId5"/>
    <p:sldId id="355" r:id="rId6"/>
    <p:sldId id="356" r:id="rId7"/>
    <p:sldId id="361" r:id="rId8"/>
    <p:sldId id="357" r:id="rId9"/>
    <p:sldId id="358" r:id="rId10"/>
    <p:sldId id="363" r:id="rId11"/>
    <p:sldId id="348" r:id="rId12"/>
    <p:sldId id="366" r:id="rId13"/>
    <p:sldId id="368" r:id="rId14"/>
    <p:sldId id="443" r:id="rId15"/>
    <p:sldId id="444" r:id="rId16"/>
    <p:sldId id="369" r:id="rId17"/>
    <p:sldId id="372" r:id="rId18"/>
    <p:sldId id="430" r:id="rId19"/>
    <p:sldId id="375" r:id="rId20"/>
    <p:sldId id="376" r:id="rId21"/>
    <p:sldId id="381" r:id="rId22"/>
    <p:sldId id="382" r:id="rId23"/>
    <p:sldId id="384" r:id="rId24"/>
    <p:sldId id="397" r:id="rId25"/>
    <p:sldId id="433" r:id="rId26"/>
    <p:sldId id="385" r:id="rId27"/>
    <p:sldId id="386" r:id="rId28"/>
    <p:sldId id="387" r:id="rId29"/>
    <p:sldId id="388" r:id="rId30"/>
    <p:sldId id="389" r:id="rId31"/>
    <p:sldId id="395" r:id="rId32"/>
    <p:sldId id="380" r:id="rId33"/>
    <p:sldId id="396" r:id="rId34"/>
    <p:sldId id="399" r:id="rId35"/>
    <p:sldId id="400" r:id="rId36"/>
    <p:sldId id="439" r:id="rId37"/>
    <p:sldId id="265" r:id="rId38"/>
    <p:sldId id="266" r:id="rId39"/>
    <p:sldId id="267" r:id="rId40"/>
    <p:sldId id="268" r:id="rId41"/>
    <p:sldId id="269" r:id="rId42"/>
    <p:sldId id="270" r:id="rId43"/>
    <p:sldId id="271" r:id="rId44"/>
    <p:sldId id="272" r:id="rId45"/>
    <p:sldId id="434" r:id="rId46"/>
    <p:sldId id="403" r:id="rId47"/>
    <p:sldId id="404" r:id="rId48"/>
    <p:sldId id="405" r:id="rId49"/>
    <p:sldId id="406" r:id="rId50"/>
    <p:sldId id="407" r:id="rId51"/>
    <p:sldId id="408" r:id="rId52"/>
    <p:sldId id="409" r:id="rId53"/>
    <p:sldId id="410" r:id="rId54"/>
    <p:sldId id="411" r:id="rId55"/>
    <p:sldId id="412" r:id="rId56"/>
    <p:sldId id="413" r:id="rId57"/>
    <p:sldId id="414" r:id="rId58"/>
    <p:sldId id="415" r:id="rId59"/>
    <p:sldId id="416" r:id="rId60"/>
    <p:sldId id="417" r:id="rId61"/>
    <p:sldId id="442" r:id="rId62"/>
    <p:sldId id="418" r:id="rId63"/>
    <p:sldId id="275" r:id="rId64"/>
    <p:sldId id="276" r:id="rId65"/>
    <p:sldId id="277" r:id="rId66"/>
    <p:sldId id="278" r:id="rId67"/>
    <p:sldId id="436" r:id="rId68"/>
    <p:sldId id="279" r:id="rId69"/>
    <p:sldId id="280" r:id="rId70"/>
    <p:sldId id="438" r:id="rId71"/>
    <p:sldId id="422" r:id="rId72"/>
    <p:sldId id="440" r:id="rId73"/>
    <p:sldId id="424" r:id="rId74"/>
    <p:sldId id="281" r:id="rId75"/>
    <p:sldId id="282" r:id="rId76"/>
    <p:sldId id="292" r:id="rId77"/>
    <p:sldId id="293" r:id="rId78"/>
    <p:sldId id="294" r:id="rId79"/>
    <p:sldId id="296" r:id="rId80"/>
    <p:sldId id="295" r:id="rId81"/>
    <p:sldId id="297" r:id="rId82"/>
    <p:sldId id="298" r:id="rId83"/>
    <p:sldId id="299" r:id="rId84"/>
    <p:sldId id="300" r:id="rId85"/>
    <p:sldId id="301" r:id="rId86"/>
    <p:sldId id="302" r:id="rId87"/>
    <p:sldId id="427" r:id="rId88"/>
    <p:sldId id="303" r:id="rId89"/>
    <p:sldId id="304" r:id="rId90"/>
    <p:sldId id="305" r:id="rId91"/>
    <p:sldId id="306" r:id="rId92"/>
    <p:sldId id="307" r:id="rId93"/>
    <p:sldId id="308" r:id="rId94"/>
    <p:sldId id="309" r:id="rId95"/>
    <p:sldId id="310" r:id="rId96"/>
    <p:sldId id="428" r:id="rId97"/>
    <p:sldId id="446" r:id="rId98"/>
    <p:sldId id="311" r:id="rId9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Full" cryptAlgorithmClass="hash" cryptAlgorithmType="typeAny" cryptAlgorithmSid="4" spinCount="100000" saltData="dX5C8p4Wx2Fg7DG3rvD0Lg==" hashData="BjfH76vZ7dhzkHTcEEtAdWuPh4A="/>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35" autoAdjust="0"/>
    <p:restoredTop sz="84000" autoAdjust="0"/>
  </p:normalViewPr>
  <p:slideViewPr>
    <p:cSldViewPr>
      <p:cViewPr>
        <p:scale>
          <a:sx n="70" d="100"/>
          <a:sy n="70" d="100"/>
        </p:scale>
        <p:origin x="-24"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5" Type="http://schemas.openxmlformats.org/officeDocument/2006/relationships/image" Target="../media/image12.wmf"/><Relationship Id="rId4"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5" Type="http://schemas.openxmlformats.org/officeDocument/2006/relationships/image" Target="../media/image22.wmf"/><Relationship Id="rId4"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image" Target="../media/image25.emf"/><Relationship Id="rId7" Type="http://schemas.openxmlformats.org/officeDocument/2006/relationships/image" Target="../media/image29.e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11" Type="http://schemas.openxmlformats.org/officeDocument/2006/relationships/image" Target="../media/image33.wmf"/><Relationship Id="rId5" Type="http://schemas.openxmlformats.org/officeDocument/2006/relationships/image" Target="../media/image27.emf"/><Relationship Id="rId10" Type="http://schemas.openxmlformats.org/officeDocument/2006/relationships/image" Target="../media/image32.wmf"/><Relationship Id="rId4" Type="http://schemas.openxmlformats.org/officeDocument/2006/relationships/image" Target="../media/image26.emf"/><Relationship Id="rId9"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9.wmf"/><Relationship Id="rId4" Type="http://schemas.openxmlformats.org/officeDocument/2006/relationships/image" Target="../media/image3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4" Type="http://schemas.openxmlformats.org/officeDocument/2006/relationships/image" Target="../media/image4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 Id="rId4" Type="http://schemas.openxmlformats.org/officeDocument/2006/relationships/image" Target="../media/image5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image" Target="../media/image54.emf"/><Relationship Id="rId7" Type="http://schemas.openxmlformats.org/officeDocument/2006/relationships/image" Target="../media/image58.wmf"/><Relationship Id="rId2" Type="http://schemas.openxmlformats.org/officeDocument/2006/relationships/image" Target="../media/image53.wmf"/><Relationship Id="rId1" Type="http://schemas.openxmlformats.org/officeDocument/2006/relationships/image" Target="../media/image52.wmf"/><Relationship Id="rId6" Type="http://schemas.openxmlformats.org/officeDocument/2006/relationships/image" Target="../media/image57.wmf"/><Relationship Id="rId11" Type="http://schemas.openxmlformats.org/officeDocument/2006/relationships/image" Target="../media/image62.wmf"/><Relationship Id="rId5" Type="http://schemas.openxmlformats.org/officeDocument/2006/relationships/image" Target="../media/image56.wmf"/><Relationship Id="rId10" Type="http://schemas.openxmlformats.org/officeDocument/2006/relationships/image" Target="../media/image61.wmf"/><Relationship Id="rId4" Type="http://schemas.openxmlformats.org/officeDocument/2006/relationships/image" Target="../media/image55.emf"/><Relationship Id="rId9" Type="http://schemas.openxmlformats.org/officeDocument/2006/relationships/image" Target="../media/image6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72.emf"/><Relationship Id="rId7" Type="http://schemas.openxmlformats.org/officeDocument/2006/relationships/image" Target="../media/image76.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 Id="rId9" Type="http://schemas.openxmlformats.org/officeDocument/2006/relationships/image" Target="../media/image78.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4" Type="http://schemas.openxmlformats.org/officeDocument/2006/relationships/image" Target="../media/image82.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image" Target="../media/image85.wmf"/><Relationship Id="rId7" Type="http://schemas.openxmlformats.org/officeDocument/2006/relationships/image" Target="../media/image89.wmf"/><Relationship Id="rId2" Type="http://schemas.openxmlformats.org/officeDocument/2006/relationships/image" Target="../media/image84.wmf"/><Relationship Id="rId1" Type="http://schemas.openxmlformats.org/officeDocument/2006/relationships/image" Target="../media/image83.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emf"/><Relationship Id="rId1" Type="http://schemas.openxmlformats.org/officeDocument/2006/relationships/image" Target="../media/image98.e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image" Target="../media/image102.emf"/><Relationship Id="rId1" Type="http://schemas.openxmlformats.org/officeDocument/2006/relationships/image" Target="../media/image101.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0.wmf"/><Relationship Id="rId7" Type="http://schemas.openxmlformats.org/officeDocument/2006/relationships/image" Target="../media/image114.wmf"/><Relationship Id="rId2" Type="http://schemas.openxmlformats.org/officeDocument/2006/relationships/image" Target="../media/image109.wmf"/><Relationship Id="rId1" Type="http://schemas.openxmlformats.org/officeDocument/2006/relationships/image" Target="../media/image108.wmf"/><Relationship Id="rId6" Type="http://schemas.openxmlformats.org/officeDocument/2006/relationships/image" Target="../media/image113.wmf"/><Relationship Id="rId5" Type="http://schemas.openxmlformats.org/officeDocument/2006/relationships/image" Target="../media/image112.wmf"/><Relationship Id="rId4" Type="http://schemas.openxmlformats.org/officeDocument/2006/relationships/image" Target="../media/image111.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118.emf"/><Relationship Id="rId1" Type="http://schemas.openxmlformats.org/officeDocument/2006/relationships/image" Target="../media/image117.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emf"/><Relationship Id="rId1" Type="http://schemas.openxmlformats.org/officeDocument/2006/relationships/image" Target="../media/image119.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35.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 Id="rId6" Type="http://schemas.openxmlformats.org/officeDocument/2006/relationships/image" Target="../media/image142.wmf"/><Relationship Id="rId5" Type="http://schemas.openxmlformats.org/officeDocument/2006/relationships/image" Target="../media/image141.wmf"/><Relationship Id="rId4" Type="http://schemas.openxmlformats.org/officeDocument/2006/relationships/image" Target="../media/image140.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48.emf"/><Relationship Id="rId2" Type="http://schemas.openxmlformats.org/officeDocument/2006/relationships/image" Target="../media/image147.emf"/><Relationship Id="rId1" Type="http://schemas.openxmlformats.org/officeDocument/2006/relationships/image" Target="../media/image146.emf"/><Relationship Id="rId4" Type="http://schemas.openxmlformats.org/officeDocument/2006/relationships/image" Target="../media/image149.e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157.wmf"/><Relationship Id="rId3" Type="http://schemas.openxmlformats.org/officeDocument/2006/relationships/image" Target="../media/image152.wmf"/><Relationship Id="rId7" Type="http://schemas.openxmlformats.org/officeDocument/2006/relationships/image" Target="../media/image156.wmf"/><Relationship Id="rId2" Type="http://schemas.openxmlformats.org/officeDocument/2006/relationships/image" Target="../media/image151.wmf"/><Relationship Id="rId1" Type="http://schemas.openxmlformats.org/officeDocument/2006/relationships/image" Target="../media/image150.wmf"/><Relationship Id="rId6" Type="http://schemas.openxmlformats.org/officeDocument/2006/relationships/image" Target="../media/image155.wmf"/><Relationship Id="rId5" Type="http://schemas.openxmlformats.org/officeDocument/2006/relationships/image" Target="../media/image154.wmf"/><Relationship Id="rId4" Type="http://schemas.openxmlformats.org/officeDocument/2006/relationships/image" Target="../media/image153.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image" Target="../media/image161.wmf"/><Relationship Id="rId1" Type="http://schemas.openxmlformats.org/officeDocument/2006/relationships/image" Target="../media/image160.wmf"/><Relationship Id="rId4" Type="http://schemas.openxmlformats.org/officeDocument/2006/relationships/image" Target="../media/image163.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74.wmf"/><Relationship Id="rId3" Type="http://schemas.openxmlformats.org/officeDocument/2006/relationships/image" Target="../media/image169.wmf"/><Relationship Id="rId7" Type="http://schemas.openxmlformats.org/officeDocument/2006/relationships/image" Target="../media/image173.wmf"/><Relationship Id="rId2" Type="http://schemas.openxmlformats.org/officeDocument/2006/relationships/image" Target="../media/image168.wmf"/><Relationship Id="rId1" Type="http://schemas.openxmlformats.org/officeDocument/2006/relationships/image" Target="../media/image167.wmf"/><Relationship Id="rId6" Type="http://schemas.openxmlformats.org/officeDocument/2006/relationships/image" Target="../media/image172.wmf"/><Relationship Id="rId5" Type="http://schemas.openxmlformats.org/officeDocument/2006/relationships/image" Target="../media/image171.wmf"/><Relationship Id="rId4" Type="http://schemas.openxmlformats.org/officeDocument/2006/relationships/image" Target="../media/image170.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75.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80.wmf"/><Relationship Id="rId2" Type="http://schemas.openxmlformats.org/officeDocument/2006/relationships/image" Target="../media/image179.wmf"/><Relationship Id="rId1" Type="http://schemas.openxmlformats.org/officeDocument/2006/relationships/image" Target="../media/image178.wmf"/><Relationship Id="rId5" Type="http://schemas.openxmlformats.org/officeDocument/2006/relationships/image" Target="../media/image182.wmf"/><Relationship Id="rId4" Type="http://schemas.openxmlformats.org/officeDocument/2006/relationships/image" Target="../media/image181.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3.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90.wmf"/><Relationship Id="rId2" Type="http://schemas.openxmlformats.org/officeDocument/2006/relationships/image" Target="../media/image189.wmf"/><Relationship Id="rId1" Type="http://schemas.openxmlformats.org/officeDocument/2006/relationships/image" Target="../media/image18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7CD7D9-A3F8-40E6-8C7C-15A011720ACA}" type="datetimeFigureOut">
              <a:rPr lang="zh-CN" altLang="en-US" smtClean="0"/>
              <a:t>2024/5/21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CA1740-08B3-4D40-96D5-2AC0B6106466}" type="slidenum">
              <a:rPr lang="zh-CN" altLang="en-US" smtClean="0"/>
              <a:t>‹#›</a:t>
            </a:fld>
            <a:endParaRPr lang="zh-CN" altLang="en-US"/>
          </a:p>
        </p:txBody>
      </p:sp>
    </p:spTree>
    <p:extLst>
      <p:ext uri="{BB962C8B-B14F-4D97-AF65-F5344CB8AC3E}">
        <p14:creationId xmlns:p14="http://schemas.microsoft.com/office/powerpoint/2010/main" val="1571763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3</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4</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5</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6</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7</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8</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9</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11</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12</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13</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14</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15</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16</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18</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19</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20</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21</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22</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23</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24</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25</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26</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27</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28</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29</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30</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31</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33</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34</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36</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37</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38</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39</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40</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41</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42</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43</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55</a:t>
            </a:fld>
            <a:endParaRPr lang="zh-CN" altLang="en-US"/>
          </a:p>
        </p:txBody>
      </p:sp>
    </p:spTree>
    <p:extLst>
      <p:ext uri="{BB962C8B-B14F-4D97-AF65-F5344CB8AC3E}">
        <p14:creationId xmlns:p14="http://schemas.microsoft.com/office/powerpoint/2010/main" val="40181511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t>56</a:t>
            </a:fld>
            <a:endParaRPr lang="zh-CN" altLang="en-US"/>
          </a:p>
        </p:txBody>
      </p:sp>
    </p:spTree>
    <p:extLst>
      <p:ext uri="{BB962C8B-B14F-4D97-AF65-F5344CB8AC3E}">
        <p14:creationId xmlns:p14="http://schemas.microsoft.com/office/powerpoint/2010/main" val="11178687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57</a:t>
            </a:fld>
            <a:endParaRPr lang="zh-CN" altLang="en-US"/>
          </a:p>
        </p:txBody>
      </p:sp>
    </p:spTree>
    <p:extLst>
      <p:ext uri="{BB962C8B-B14F-4D97-AF65-F5344CB8AC3E}">
        <p14:creationId xmlns:p14="http://schemas.microsoft.com/office/powerpoint/2010/main" val="9169609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62</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63</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64</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65</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66</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67</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68</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70</a:t>
            </a:fld>
            <a:endParaRPr lang="zh-CN" altLang="en-US"/>
          </a:p>
        </p:txBody>
      </p:sp>
    </p:spTree>
    <p:extLst>
      <p:ext uri="{BB962C8B-B14F-4D97-AF65-F5344CB8AC3E}">
        <p14:creationId xmlns:p14="http://schemas.microsoft.com/office/powerpoint/2010/main" val="17914199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1D603C9-610D-4167-AF3D-F893BB3A3164}" type="slidenum">
              <a:rPr lang="zh-CN" altLang="en-US" smtClean="0"/>
              <a:t>71</a:t>
            </a:fld>
            <a:endParaRPr lang="zh-CN" altLang="en-US"/>
          </a:p>
        </p:txBody>
      </p:sp>
    </p:spTree>
    <p:extLst>
      <p:ext uri="{BB962C8B-B14F-4D97-AF65-F5344CB8AC3E}">
        <p14:creationId xmlns:p14="http://schemas.microsoft.com/office/powerpoint/2010/main" val="17914199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73</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74</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75</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76</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77</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78</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79</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80</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81</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82</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83</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84</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85</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87</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88</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89</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90</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91</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92</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93</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94</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t>95</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t>96</a:t>
            </a:fld>
            <a:endParaRPr lang="zh-CN" altLang="en-US"/>
          </a:p>
        </p:txBody>
      </p:sp>
    </p:spTree>
    <p:extLst>
      <p:ext uri="{BB962C8B-B14F-4D97-AF65-F5344CB8AC3E}">
        <p14:creationId xmlns:p14="http://schemas.microsoft.com/office/powerpoint/2010/main" val="324573654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01D603C9-610D-4167-AF3D-F893BB3A3164}" type="slidenum">
              <a:rPr lang="zh-CN" altLang="en-US" smtClean="0">
                <a:solidFill>
                  <a:prstClr val="black"/>
                </a:solidFill>
              </a:rPr>
              <a:pPr/>
              <a:t>97</a:t>
            </a:fld>
            <a:endParaRPr lang="zh-CN" altLang="en-US">
              <a:solidFill>
                <a:prstClr val="black"/>
              </a:solidFill>
            </a:endParaRPr>
          </a:p>
        </p:txBody>
      </p:sp>
    </p:spTree>
    <p:extLst>
      <p:ext uri="{BB962C8B-B14F-4D97-AF65-F5344CB8AC3E}">
        <p14:creationId xmlns:p14="http://schemas.microsoft.com/office/powerpoint/2010/main" val="3245736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矩形 6"/>
          <p:cNvSpPr/>
          <p:nvPr userDrawn="1"/>
        </p:nvSpPr>
        <p:spPr>
          <a:xfrm rot="907403">
            <a:off x="6032060" y="583623"/>
            <a:ext cx="3097322" cy="523220"/>
          </a:xfrm>
          <a:prstGeom prst="rect">
            <a:avLst/>
          </a:prstGeom>
          <a:noFill/>
        </p:spPr>
        <p:txBody>
          <a:bodyPr wrap="none" lIns="91440" tIns="45720" rIns="91440" bIns="45720">
            <a:spAutoFit/>
          </a:bodyPr>
          <a:lstStyle/>
          <a:p>
            <a:pPr algn="ctr"/>
            <a:r>
              <a:rPr lang="en-US" altLang="zh-CN" sz="2800" b="0" cap="none" spc="0" dirty="0" smtClean="0">
                <a:ln w="10160">
                  <a:solidFill>
                    <a:schemeClr val="accent1"/>
                  </a:solidFill>
                  <a:prstDash val="solid"/>
                </a:ln>
                <a:solidFill>
                  <a:srgbClr val="FFFFFF"/>
                </a:solidFill>
                <a:effectLst>
                  <a:outerShdw blurRad="38100" dist="32000" dir="5400000" algn="tl">
                    <a:srgbClr val="000000">
                      <a:alpha val="30000"/>
                    </a:srgbClr>
                  </a:outerShdw>
                </a:effectLst>
              </a:rPr>
              <a:t>TFF</a:t>
            </a:r>
            <a:r>
              <a:rPr lang="zh-CN" altLang="en-US" sz="2800" b="0" cap="none" spc="0" baseline="0" dirty="0" smtClean="0">
                <a:ln w="10160">
                  <a:solidFill>
                    <a:schemeClr val="accent1"/>
                  </a:solidFill>
                  <a:prstDash val="solid"/>
                </a:ln>
                <a:solidFill>
                  <a:srgbClr val="FFFFFF"/>
                </a:solidFill>
                <a:effectLst>
                  <a:outerShdw blurRad="38100" dist="32000" dir="5400000" algn="tl">
                    <a:srgbClr val="000000">
                      <a:alpha val="30000"/>
                    </a:srgbClr>
                  </a:outerShdw>
                </a:effectLst>
              </a:rPr>
              <a:t>制作 转载无效</a:t>
            </a:r>
            <a:endParaRPr lang="zh-CN" altLang="en-US" sz="2800" b="0" cap="none" spc="0" dirty="0">
              <a:ln w="10160">
                <a:solidFill>
                  <a:schemeClr val="accent1"/>
                </a:solidFill>
                <a:prstDash val="solid"/>
              </a:ln>
              <a:solidFill>
                <a:srgbClr val="FFFFFF"/>
              </a:solidFill>
              <a:effectLst>
                <a:outerShdw blurRad="38100" dist="32000" dir="5400000" algn="tl">
                  <a:srgbClr val="000000">
                    <a:alpha val="30000"/>
                  </a:srgbClr>
                </a:outerShdw>
              </a:effectLs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矩形 6"/>
          <p:cNvSpPr/>
          <p:nvPr userDrawn="1"/>
        </p:nvSpPr>
        <p:spPr>
          <a:xfrm rot="907403">
            <a:off x="6032060" y="583623"/>
            <a:ext cx="3097322" cy="523220"/>
          </a:xfrm>
          <a:prstGeom prst="rect">
            <a:avLst/>
          </a:prstGeom>
          <a:noFill/>
        </p:spPr>
        <p:txBody>
          <a:bodyPr wrap="none" lIns="91440" tIns="45720" rIns="91440" bIns="45720">
            <a:spAutoFit/>
          </a:bodyPr>
          <a:lstStyle/>
          <a:p>
            <a:pPr algn="ctr"/>
            <a:r>
              <a:rPr lang="en-US" altLang="zh-CN" sz="2800" b="0" cap="none" spc="0" dirty="0" smtClean="0">
                <a:ln w="10160">
                  <a:solidFill>
                    <a:schemeClr val="accent1"/>
                  </a:solidFill>
                  <a:prstDash val="solid"/>
                </a:ln>
                <a:solidFill>
                  <a:srgbClr val="FFFFFF"/>
                </a:solidFill>
                <a:effectLst>
                  <a:outerShdw blurRad="38100" dist="32000" dir="5400000" algn="tl">
                    <a:srgbClr val="000000">
                      <a:alpha val="30000"/>
                    </a:srgbClr>
                  </a:outerShdw>
                </a:effectLst>
              </a:rPr>
              <a:t>TFF</a:t>
            </a:r>
            <a:r>
              <a:rPr lang="zh-CN" altLang="en-US" sz="2800" b="0" cap="none" spc="0" baseline="0" dirty="0" smtClean="0">
                <a:ln w="10160">
                  <a:solidFill>
                    <a:schemeClr val="accent1"/>
                  </a:solidFill>
                  <a:prstDash val="solid"/>
                </a:ln>
                <a:solidFill>
                  <a:srgbClr val="FFFFFF"/>
                </a:solidFill>
                <a:effectLst>
                  <a:outerShdw blurRad="38100" dist="32000" dir="5400000" algn="tl">
                    <a:srgbClr val="000000">
                      <a:alpha val="30000"/>
                    </a:srgbClr>
                  </a:outerShdw>
                </a:effectLst>
              </a:rPr>
              <a:t>制作 转载无效</a:t>
            </a:r>
            <a:endParaRPr lang="zh-CN" altLang="en-US" sz="2800" b="0" cap="none" spc="0" dirty="0">
              <a:ln w="10160">
                <a:solidFill>
                  <a:schemeClr val="accent1"/>
                </a:solidFill>
                <a:prstDash val="solid"/>
              </a:ln>
              <a:solidFill>
                <a:srgbClr val="FFFFFF"/>
              </a:solidFill>
              <a:effectLst>
                <a:outerShdw blurRad="38100" dist="32000" dir="5400000" algn="tl">
                  <a:srgbClr val="000000">
                    <a:alpha val="30000"/>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2024/5/21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2024/5/21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2024/5/21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2024/5/21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2024/5/21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2024/5/21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pic>
        <p:nvPicPr>
          <p:cNvPr id="5122" name="Picture 2" descr="F:\辅助资料\成都信息工程大学校标logo发布\校标-标准色.jpg"/>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512" y="-26987"/>
            <a:ext cx="1367755" cy="1367755"/>
          </a:xfrm>
          <a:prstGeom prst="rect">
            <a:avLst/>
          </a:prstGeom>
          <a:noFill/>
          <a:extLst>
            <a:ext uri="{909E8E84-426E-40DD-AFC4-6F175D3DCCD1}">
              <a14:hiddenFill xmlns:a14="http://schemas.microsoft.com/office/drawing/2010/main">
                <a:solidFill>
                  <a:srgbClr val="FFFFFF"/>
                </a:solidFill>
              </a14:hiddenFill>
            </a:ext>
          </a:extLst>
        </p:spPr>
      </p:pic>
      <p:sp>
        <p:nvSpPr>
          <p:cNvPr id="4" name="任意多边形 7"/>
          <p:cNvSpPr>
            <a:spLocks noChangeArrowheads="1"/>
          </p:cNvSpPr>
          <p:nvPr/>
        </p:nvSpPr>
        <p:spPr bwMode="auto">
          <a:xfrm>
            <a:off x="755576" y="1218456"/>
            <a:ext cx="79248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38100">
            <a:solidFill>
              <a:srgbClr val="862714"/>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sz="2400" smtClean="0">
              <a:solidFill>
                <a:srgbClr val="000000"/>
              </a:solidFill>
              <a:ea typeface="隶书" pitchFamily="49" charset="-122"/>
            </a:endParaRPr>
          </a:p>
        </p:txBody>
      </p:sp>
      <p:sp>
        <p:nvSpPr>
          <p:cNvPr id="5" name="直线 8"/>
          <p:cNvSpPr>
            <a:spLocks noChangeShapeType="1"/>
          </p:cNvSpPr>
          <p:nvPr/>
        </p:nvSpPr>
        <p:spPr bwMode="auto">
          <a:xfrm>
            <a:off x="1116013" y="2924175"/>
            <a:ext cx="7344419" cy="0"/>
          </a:xfrm>
          <a:prstGeom prst="line">
            <a:avLst/>
          </a:prstGeom>
          <a:noFill/>
          <a:ln w="19050">
            <a:solidFill>
              <a:srgbClr val="00589A"/>
            </a:solidFill>
            <a:round/>
          </a:ln>
        </p:spPr>
        <p:txBody>
          <a:bodyPr/>
          <a:lstStyle/>
          <a:p>
            <a:pPr algn="ctr" fontAlgn="base">
              <a:spcBef>
                <a:spcPct val="0"/>
              </a:spcBef>
              <a:spcAft>
                <a:spcPct val="0"/>
              </a:spcAft>
              <a:defRPr/>
            </a:pPr>
            <a:endParaRPr lang="zh-CN" altLang="en-US" sz="2400" dirty="0">
              <a:ln w="38100">
                <a:solidFill>
                  <a:srgbClr val="000000"/>
                </a:solidFill>
              </a:ln>
              <a:solidFill>
                <a:srgbClr val="000000"/>
              </a:solidFill>
              <a:ea typeface="隶书" pitchFamily="49" charset="-122"/>
            </a:endParaRPr>
          </a:p>
        </p:txBody>
      </p:sp>
      <p:sp>
        <p:nvSpPr>
          <p:cNvPr id="6" name="自选图形 10"/>
          <p:cNvSpPr>
            <a:spLocks noChangeArrowheads="1"/>
          </p:cNvSpPr>
          <p:nvPr/>
        </p:nvSpPr>
        <p:spPr bwMode="auto">
          <a:xfrm>
            <a:off x="433983" y="2192846"/>
            <a:ext cx="643186" cy="1020130"/>
          </a:xfrm>
          <a:prstGeom prst="star4">
            <a:avLst>
              <a:gd name="adj" fmla="val 10434"/>
            </a:avLst>
          </a:prstGeom>
          <a:solidFill>
            <a:srgbClr val="00589A">
              <a:alpha val="69019"/>
            </a:srgbClr>
          </a:solidFill>
          <a:ln w="25400">
            <a:noFill/>
            <a:miter lim="800000"/>
          </a:ln>
        </p:spPr>
        <p:txBody>
          <a:bodyPr wrap="none" anchor="ctr"/>
          <a:lstStyle>
            <a:lvl1pPr algn="ctr">
              <a:defRPr sz="2400">
                <a:solidFill>
                  <a:schemeClr val="tx1"/>
                </a:solidFill>
                <a:latin typeface="Arial" pitchFamily="34" charset="0"/>
                <a:ea typeface="隶书" pitchFamily="49" charset="-122"/>
              </a:defRPr>
            </a:lvl1pPr>
            <a:lvl2pPr marL="742950" indent="-285750" algn="ctr">
              <a:defRPr sz="2400">
                <a:solidFill>
                  <a:schemeClr val="tx1"/>
                </a:solidFill>
                <a:latin typeface="Arial" pitchFamily="34" charset="0"/>
                <a:ea typeface="隶书" pitchFamily="49" charset="-122"/>
              </a:defRPr>
            </a:lvl2pPr>
            <a:lvl3pPr marL="1143000" indent="-228600" algn="ctr">
              <a:defRPr sz="2400">
                <a:solidFill>
                  <a:schemeClr val="tx1"/>
                </a:solidFill>
                <a:latin typeface="Arial" pitchFamily="34" charset="0"/>
                <a:ea typeface="隶书" pitchFamily="49" charset="-122"/>
              </a:defRPr>
            </a:lvl3pPr>
            <a:lvl4pPr marL="1600200" indent="-228600" algn="ctr">
              <a:defRPr sz="2400">
                <a:solidFill>
                  <a:schemeClr val="tx1"/>
                </a:solidFill>
                <a:latin typeface="Arial" pitchFamily="34" charset="0"/>
                <a:ea typeface="隶书" pitchFamily="49" charset="-122"/>
              </a:defRPr>
            </a:lvl4pPr>
            <a:lvl5pPr marL="2057400" indent="-228600" algn="ctr">
              <a:defRPr sz="2400">
                <a:solidFill>
                  <a:schemeClr val="tx1"/>
                </a:solidFill>
                <a:latin typeface="Arial" pitchFamily="34" charset="0"/>
                <a:ea typeface="隶书" pitchFamily="49" charset="-122"/>
              </a:defRPr>
            </a:lvl5pPr>
            <a:lvl6pPr marL="2514600" indent="-228600" algn="ctr" eaLnBrk="0" fontAlgn="base" hangingPunct="0">
              <a:spcBef>
                <a:spcPct val="0"/>
              </a:spcBef>
              <a:spcAft>
                <a:spcPct val="0"/>
              </a:spcAft>
              <a:defRPr sz="2400">
                <a:solidFill>
                  <a:schemeClr val="tx1"/>
                </a:solidFill>
                <a:latin typeface="Arial" pitchFamily="34" charset="0"/>
                <a:ea typeface="隶书" pitchFamily="49" charset="-122"/>
              </a:defRPr>
            </a:lvl6pPr>
            <a:lvl7pPr marL="2971800" indent="-228600" algn="ctr" eaLnBrk="0" fontAlgn="base" hangingPunct="0">
              <a:spcBef>
                <a:spcPct val="0"/>
              </a:spcBef>
              <a:spcAft>
                <a:spcPct val="0"/>
              </a:spcAft>
              <a:defRPr sz="2400">
                <a:solidFill>
                  <a:schemeClr val="tx1"/>
                </a:solidFill>
                <a:latin typeface="Arial" pitchFamily="34" charset="0"/>
                <a:ea typeface="隶书" pitchFamily="49" charset="-122"/>
              </a:defRPr>
            </a:lvl7pPr>
            <a:lvl8pPr marL="3429000" indent="-228600" algn="ctr" eaLnBrk="0" fontAlgn="base" hangingPunct="0">
              <a:spcBef>
                <a:spcPct val="0"/>
              </a:spcBef>
              <a:spcAft>
                <a:spcPct val="0"/>
              </a:spcAft>
              <a:defRPr sz="2400">
                <a:solidFill>
                  <a:schemeClr val="tx1"/>
                </a:solidFill>
                <a:latin typeface="Arial" pitchFamily="34" charset="0"/>
                <a:ea typeface="隶书" pitchFamily="49" charset="-122"/>
              </a:defRPr>
            </a:lvl8pPr>
            <a:lvl9pPr marL="3886200" indent="-228600" algn="ctr" eaLnBrk="0" fontAlgn="base" hangingPunct="0">
              <a:spcBef>
                <a:spcPct val="0"/>
              </a:spcBef>
              <a:spcAft>
                <a:spcPct val="0"/>
              </a:spcAft>
              <a:defRPr sz="2400">
                <a:solidFill>
                  <a:schemeClr val="tx1"/>
                </a:solidFill>
                <a:latin typeface="Arial" pitchFamily="34" charset="0"/>
                <a:ea typeface="隶书" pitchFamily="49" charset="-122"/>
              </a:defRPr>
            </a:lvl9pPr>
          </a:lstStyle>
          <a:p>
            <a:pPr fontAlgn="base">
              <a:spcBef>
                <a:spcPct val="0"/>
              </a:spcBef>
              <a:spcAft>
                <a:spcPct val="0"/>
              </a:spcAft>
              <a:defRPr/>
            </a:pPr>
            <a:endParaRPr lang="zh-CN" altLang="en-US" sz="1800" smtClean="0">
              <a:solidFill>
                <a:srgbClr val="0070C0"/>
              </a:solidFill>
              <a:ea typeface="宋体" pitchFamily="2" charset="-122"/>
            </a:endParaRPr>
          </a:p>
        </p:txBody>
      </p:sp>
      <p:sp>
        <p:nvSpPr>
          <p:cNvPr id="313346" name="矩形 2"/>
          <p:cNvSpPr>
            <a:spLocks noGrp="1" noChangeArrowheads="1"/>
          </p:cNvSpPr>
          <p:nvPr>
            <p:ph type="ctrTitle"/>
          </p:nvPr>
        </p:nvSpPr>
        <p:spPr>
          <a:xfrm>
            <a:off x="914400" y="1524000"/>
            <a:ext cx="7623175" cy="968896"/>
          </a:xfrm>
        </p:spPr>
        <p:txBody>
          <a:bodyPr/>
          <a:lstStyle>
            <a:lvl1pPr algn="ctr">
              <a:defRPr sz="5000">
                <a:solidFill>
                  <a:srgbClr val="00589A"/>
                </a:solidFill>
              </a:defRPr>
            </a:lvl1pPr>
          </a:lstStyle>
          <a:p>
            <a:pPr lvl="0"/>
            <a:r>
              <a:rPr lang="zh-CN" altLang="en-US" noProof="0" dirty="0" smtClean="0"/>
              <a:t>单击此处编辑母版标题样式</a:t>
            </a:r>
          </a:p>
        </p:txBody>
      </p:sp>
      <p:sp>
        <p:nvSpPr>
          <p:cNvPr id="313347" name="矩形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ea typeface="隶书" pitchFamily="49" charset="-122"/>
              </a:defRPr>
            </a:lvl1pPr>
          </a:lstStyle>
          <a:p>
            <a:pPr lvl="0"/>
            <a:r>
              <a:rPr lang="zh-CN" altLang="en-US" noProof="0" dirty="0" smtClean="0"/>
              <a:t>单击此处编辑母版副标题样式</a:t>
            </a:r>
          </a:p>
        </p:txBody>
      </p:sp>
      <p:sp>
        <p:nvSpPr>
          <p:cNvPr id="9" name="矩形 4"/>
          <p:cNvSpPr>
            <a:spLocks noGrp="1" noChangeArrowheads="1"/>
          </p:cNvSpPr>
          <p:nvPr>
            <p:ph type="dt" sz="half" idx="10"/>
          </p:nvPr>
        </p:nvSpPr>
        <p:spPr/>
        <p:txBody>
          <a:bodyPr/>
          <a:lstStyle>
            <a:lvl1pPr>
              <a:defRPr/>
            </a:lvl1pPr>
          </a:lstStyle>
          <a:p>
            <a:pPr>
              <a:defRPr/>
            </a:pPr>
            <a:endParaRPr lang="en-US" altLang="zh-CN" dirty="0">
              <a:solidFill>
                <a:srgbClr val="000000"/>
              </a:solidFill>
            </a:endParaRPr>
          </a:p>
        </p:txBody>
      </p:sp>
      <p:sp>
        <p:nvSpPr>
          <p:cNvPr id="10" name="矩形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solidFill>
                <a:srgbClr val="000000"/>
              </a:solidFill>
            </a:endParaRPr>
          </a:p>
        </p:txBody>
      </p:sp>
      <p:sp>
        <p:nvSpPr>
          <p:cNvPr id="11" name="矩形 6"/>
          <p:cNvSpPr>
            <a:spLocks noGrp="1" noChangeArrowheads="1"/>
          </p:cNvSpPr>
          <p:nvPr>
            <p:ph type="sldNum" sz="quarter" idx="12"/>
          </p:nvPr>
        </p:nvSpPr>
        <p:spPr/>
        <p:txBody>
          <a:bodyPr/>
          <a:lstStyle>
            <a:lvl1pPr>
              <a:defRPr/>
            </a:lvl1pPr>
          </a:lstStyle>
          <a:p>
            <a:fld id="{FEE15EE7-BBF0-46FE-8859-211590154EBB}" type="slidenum">
              <a:rPr lang="zh-CN" altLang="en-US">
                <a:solidFill>
                  <a:srgbClr val="000000"/>
                </a:solidFill>
              </a:rPr>
              <a:pPr/>
              <a:t>‹#›</a:t>
            </a:fld>
            <a:endParaRPr lang="en-US" altLang="zh-CN">
              <a:solidFill>
                <a:srgbClr val="000000"/>
              </a:solidFill>
            </a:endParaRPr>
          </a:p>
        </p:txBody>
      </p:sp>
      <p:sp>
        <p:nvSpPr>
          <p:cNvPr id="12" name="矩形 11"/>
          <p:cNvSpPr/>
          <p:nvPr userDrawn="1"/>
        </p:nvSpPr>
        <p:spPr>
          <a:xfrm rot="907403">
            <a:off x="6032060" y="583623"/>
            <a:ext cx="3097322" cy="523220"/>
          </a:xfrm>
          <a:prstGeom prst="rect">
            <a:avLst/>
          </a:prstGeom>
          <a:noFill/>
        </p:spPr>
        <p:txBody>
          <a:bodyPr wrap="none" lIns="91440" tIns="45720" rIns="91440" bIns="45720">
            <a:spAutoFit/>
          </a:bodyPr>
          <a:lstStyle/>
          <a:p>
            <a:pPr algn="ctr"/>
            <a:r>
              <a:rPr lang="en-US" altLang="zh-CN" sz="2800" b="0" cap="none" spc="0" dirty="0" smtClean="0">
                <a:ln w="10160">
                  <a:solidFill>
                    <a:schemeClr val="accent1"/>
                  </a:solidFill>
                  <a:prstDash val="solid"/>
                </a:ln>
                <a:solidFill>
                  <a:srgbClr val="FFFFFF"/>
                </a:solidFill>
                <a:effectLst>
                  <a:outerShdw blurRad="38100" dist="32000" dir="5400000" algn="tl">
                    <a:srgbClr val="000000">
                      <a:alpha val="30000"/>
                    </a:srgbClr>
                  </a:outerShdw>
                </a:effectLst>
              </a:rPr>
              <a:t>TFF</a:t>
            </a:r>
            <a:r>
              <a:rPr lang="zh-CN" altLang="en-US" sz="2800" b="0" cap="none" spc="0" baseline="0" dirty="0" smtClean="0">
                <a:ln w="10160">
                  <a:solidFill>
                    <a:schemeClr val="accent1"/>
                  </a:solidFill>
                  <a:prstDash val="solid"/>
                </a:ln>
                <a:solidFill>
                  <a:srgbClr val="FFFFFF"/>
                </a:solidFill>
                <a:effectLst>
                  <a:outerShdw blurRad="38100" dist="32000" dir="5400000" algn="tl">
                    <a:srgbClr val="000000">
                      <a:alpha val="30000"/>
                    </a:srgbClr>
                  </a:outerShdw>
                </a:effectLst>
              </a:rPr>
              <a:t>制作 转载无效</a:t>
            </a:r>
            <a:endParaRPr lang="zh-CN" altLang="en-US" sz="2800" b="0" cap="none" spc="0" dirty="0">
              <a:ln w="10160">
                <a:solidFill>
                  <a:schemeClr val="accent1"/>
                </a:solidFill>
                <a:prstDash val="solid"/>
              </a:ln>
              <a:solidFill>
                <a:srgbClr val="FFFFFF"/>
              </a:solidFill>
              <a:effectLst>
                <a:outerShdw blurRad="38100" dist="32000" dir="5400000" algn="tl">
                  <a:srgbClr val="000000">
                    <a:alpha val="30000"/>
                  </a:srgbClr>
                </a:outerShdw>
              </a:effectLst>
            </a:endParaRPr>
          </a:p>
        </p:txBody>
      </p:sp>
    </p:spTree>
    <p:extLst>
      <p:ext uri="{BB962C8B-B14F-4D97-AF65-F5344CB8AC3E}">
        <p14:creationId xmlns:p14="http://schemas.microsoft.com/office/powerpoint/2010/main" val="1494034921"/>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67544" y="404813"/>
            <a:ext cx="8229600" cy="647923"/>
          </a:xfrm>
        </p:spPr>
        <p:txBody>
          <a:bodyPr/>
          <a:lstStyle>
            <a:lvl1pPr>
              <a:defRPr>
                <a:solidFill>
                  <a:srgbClr val="00589A"/>
                </a:solidFill>
              </a:defRPr>
            </a:lvl1pPr>
          </a:lstStyle>
          <a:p>
            <a:r>
              <a:rPr lang="zh-CN" altLang="en-US" noProof="1" smtClean="0"/>
              <a:t>单击此处编辑母版标题</a:t>
            </a:r>
            <a:endParaRPr lang="zh-CN" altLang="en-US" noProof="1"/>
          </a:p>
        </p:txBody>
      </p:sp>
      <p:sp>
        <p:nvSpPr>
          <p:cNvPr id="3" name="内容占位符 2"/>
          <p:cNvSpPr>
            <a:spLocks noGrp="1"/>
          </p:cNvSpPr>
          <p:nvPr>
            <p:ph idx="1"/>
          </p:nvPr>
        </p:nvSpPr>
        <p:spPr>
          <a:xfrm>
            <a:off x="385192" y="1159123"/>
            <a:ext cx="8219256" cy="4790157"/>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矩形 4"/>
          <p:cNvSpPr>
            <a:spLocks noGrp="1" noChangeArrowheads="1"/>
          </p:cNvSpPr>
          <p:nvPr>
            <p:ph type="dt" sz="half" idx="10"/>
          </p:nvPr>
        </p:nvSpPr>
        <p:spPr>
          <a:ln/>
        </p:spPr>
        <p:txBody>
          <a:bodyPr/>
          <a:lstStyle>
            <a:lvl1pPr>
              <a:defRPr/>
            </a:lvl1pPr>
          </a:lstStyle>
          <a:p>
            <a:pPr>
              <a:defRPr/>
            </a:pPr>
            <a:endParaRPr lang="en-US" altLang="zh-CN" dirty="0">
              <a:solidFill>
                <a:srgbClr val="000000"/>
              </a:solidFill>
            </a:endParaRPr>
          </a:p>
        </p:txBody>
      </p:sp>
      <p:sp>
        <p:nvSpPr>
          <p:cNvPr id="5" name="矩形 5"/>
          <p:cNvSpPr>
            <a:spLocks noGrp="1" noChangeArrowheads="1"/>
          </p:cNvSpPr>
          <p:nvPr>
            <p:ph type="ftr" sz="quarter" idx="11"/>
          </p:nvPr>
        </p:nvSpPr>
        <p:spPr>
          <a:ln/>
        </p:spPr>
        <p:txBody>
          <a:bodyPr/>
          <a:lstStyle>
            <a:lvl1pPr>
              <a:defRPr/>
            </a:lvl1pPr>
          </a:lstStyle>
          <a:p>
            <a:pPr>
              <a:defRPr/>
            </a:pPr>
            <a:endParaRPr lang="en-US" altLang="zh-CN" dirty="0">
              <a:solidFill>
                <a:srgbClr val="000000"/>
              </a:solidFill>
            </a:endParaRPr>
          </a:p>
        </p:txBody>
      </p:sp>
      <p:sp>
        <p:nvSpPr>
          <p:cNvPr id="6" name="矩形 6"/>
          <p:cNvSpPr>
            <a:spLocks noGrp="1" noChangeArrowheads="1"/>
          </p:cNvSpPr>
          <p:nvPr>
            <p:ph type="sldNum" sz="quarter" idx="12"/>
          </p:nvPr>
        </p:nvSpPr>
        <p:spPr>
          <a:xfrm>
            <a:off x="6553200" y="6381328"/>
            <a:ext cx="2133600" cy="457200"/>
          </a:xfrm>
          <a:ln/>
        </p:spPr>
        <p:txBody>
          <a:bodyPr/>
          <a:lstStyle>
            <a:lvl1pPr>
              <a:defRPr/>
            </a:lvl1pPr>
          </a:lstStyle>
          <a:p>
            <a:fld id="{27EF5AEE-92E6-46FE-BB6C-E2D001C3EAEA}" type="slidenum">
              <a:rPr lang="zh-CN" altLang="en-US">
                <a:solidFill>
                  <a:srgbClr val="000000"/>
                </a:solidFill>
              </a:rPr>
              <a:pPr/>
              <a:t>‹#›</a:t>
            </a:fld>
            <a:endParaRPr lang="en-US" altLang="zh-CN" dirty="0">
              <a:solidFill>
                <a:srgbClr val="000000"/>
              </a:solidFill>
            </a:endParaRPr>
          </a:p>
        </p:txBody>
      </p:sp>
    </p:spTree>
    <p:extLst>
      <p:ext uri="{BB962C8B-B14F-4D97-AF65-F5344CB8AC3E}">
        <p14:creationId xmlns:p14="http://schemas.microsoft.com/office/powerpoint/2010/main" val="2197824773"/>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矩形 6"/>
          <p:cNvSpPr>
            <a:spLocks noGrp="1" noChangeArrowheads="1"/>
          </p:cNvSpPr>
          <p:nvPr>
            <p:ph type="sldNum" sz="quarter" idx="12"/>
          </p:nvPr>
        </p:nvSpPr>
        <p:spPr>
          <a:ln/>
        </p:spPr>
        <p:txBody>
          <a:bodyPr/>
          <a:lstStyle>
            <a:lvl1pPr>
              <a:defRPr/>
            </a:lvl1pPr>
          </a:lstStyle>
          <a:p>
            <a:fld id="{EA7FC6DF-76A8-4754-B3B1-7DD30F14B015}" type="slidenum">
              <a:rPr lang="zh-CN" altLang="en-US">
                <a:solidFill>
                  <a:srgbClr val="000000"/>
                </a:solidFill>
              </a:rPr>
              <a:pPr/>
              <a:t>‹#›</a:t>
            </a:fld>
            <a:endParaRPr lang="en-US" altLang="zh-CN">
              <a:solidFill>
                <a:srgbClr val="000000"/>
              </a:solidFill>
            </a:endParaRPr>
          </a:p>
        </p:txBody>
      </p:sp>
      <p:sp>
        <p:nvSpPr>
          <p:cNvPr id="8" name="矩形 7"/>
          <p:cNvSpPr/>
          <p:nvPr userDrawn="1"/>
        </p:nvSpPr>
        <p:spPr>
          <a:xfrm rot="907403">
            <a:off x="6032060" y="583623"/>
            <a:ext cx="3097322" cy="523220"/>
          </a:xfrm>
          <a:prstGeom prst="rect">
            <a:avLst/>
          </a:prstGeom>
          <a:noFill/>
        </p:spPr>
        <p:txBody>
          <a:bodyPr wrap="none" lIns="91440" tIns="45720" rIns="91440" bIns="45720">
            <a:spAutoFit/>
          </a:bodyPr>
          <a:lstStyle/>
          <a:p>
            <a:pPr algn="ctr"/>
            <a:r>
              <a:rPr lang="en-US" altLang="zh-CN" sz="2800" b="0" cap="none" spc="0" dirty="0" smtClean="0">
                <a:ln w="10160">
                  <a:solidFill>
                    <a:schemeClr val="accent1"/>
                  </a:solidFill>
                  <a:prstDash val="solid"/>
                </a:ln>
                <a:solidFill>
                  <a:srgbClr val="FFFFFF"/>
                </a:solidFill>
                <a:effectLst>
                  <a:outerShdw blurRad="38100" dist="32000" dir="5400000" algn="tl">
                    <a:srgbClr val="000000">
                      <a:alpha val="30000"/>
                    </a:srgbClr>
                  </a:outerShdw>
                </a:effectLst>
              </a:rPr>
              <a:t>TFF</a:t>
            </a:r>
            <a:r>
              <a:rPr lang="zh-CN" altLang="en-US" sz="2800" b="0" cap="none" spc="0" baseline="0" dirty="0" smtClean="0">
                <a:ln w="10160">
                  <a:solidFill>
                    <a:schemeClr val="accent1"/>
                  </a:solidFill>
                  <a:prstDash val="solid"/>
                </a:ln>
                <a:solidFill>
                  <a:srgbClr val="FFFFFF"/>
                </a:solidFill>
                <a:effectLst>
                  <a:outerShdw blurRad="38100" dist="32000" dir="5400000" algn="tl">
                    <a:srgbClr val="000000">
                      <a:alpha val="30000"/>
                    </a:srgbClr>
                  </a:outerShdw>
                </a:effectLst>
              </a:rPr>
              <a:t>制作 转载无效</a:t>
            </a:r>
            <a:endParaRPr lang="zh-CN" altLang="en-US" sz="2800" b="0" cap="none" spc="0" dirty="0">
              <a:ln w="10160">
                <a:solidFill>
                  <a:schemeClr val="accent1"/>
                </a:solidFill>
                <a:prstDash val="solid"/>
              </a:ln>
              <a:solidFill>
                <a:srgbClr val="FFFFFF"/>
              </a:solidFill>
              <a:effectLst>
                <a:outerShdw blurRad="38100" dist="32000" dir="5400000" algn="tl">
                  <a:srgbClr val="000000">
                    <a:alpha val="30000"/>
                  </a:srgbClr>
                </a:outerShdw>
              </a:effectLst>
            </a:endParaRPr>
          </a:p>
        </p:txBody>
      </p:sp>
    </p:spTree>
    <p:extLst>
      <p:ext uri="{BB962C8B-B14F-4D97-AF65-F5344CB8AC3E}">
        <p14:creationId xmlns:p14="http://schemas.microsoft.com/office/powerpoint/2010/main" val="201851179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矩形 6"/>
          <p:cNvSpPr>
            <a:spLocks noGrp="1" noChangeArrowheads="1"/>
          </p:cNvSpPr>
          <p:nvPr>
            <p:ph type="sldNum" sz="quarter" idx="12"/>
          </p:nvPr>
        </p:nvSpPr>
        <p:spPr>
          <a:ln/>
        </p:spPr>
        <p:txBody>
          <a:bodyPr/>
          <a:lstStyle>
            <a:lvl1pPr>
              <a:defRPr/>
            </a:lvl1pPr>
          </a:lstStyle>
          <a:p>
            <a:fld id="{6A336B30-F19D-4614-BAC0-2B91D250371C}"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02818290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8"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9" name="矩形 6"/>
          <p:cNvSpPr>
            <a:spLocks noGrp="1" noChangeArrowheads="1"/>
          </p:cNvSpPr>
          <p:nvPr>
            <p:ph type="sldNum" sz="quarter" idx="12"/>
          </p:nvPr>
        </p:nvSpPr>
        <p:spPr>
          <a:ln/>
        </p:spPr>
        <p:txBody>
          <a:bodyPr/>
          <a:lstStyle>
            <a:lvl1pPr>
              <a:defRPr/>
            </a:lvl1pPr>
          </a:lstStyle>
          <a:p>
            <a:fld id="{FF120C42-B051-46E5-92A7-8805542EC1F3}" type="slidenum">
              <a:rPr lang="zh-CN" altLang="en-US">
                <a:solidFill>
                  <a:srgbClr val="000000"/>
                </a:solidFill>
              </a:rPr>
              <a:pPr/>
              <a:t>‹#›</a:t>
            </a:fld>
            <a:endParaRPr lang="en-US" altLang="zh-CN">
              <a:solidFill>
                <a:srgbClr val="000000"/>
              </a:solidFill>
            </a:endParaRPr>
          </a:p>
        </p:txBody>
      </p:sp>
      <p:sp>
        <p:nvSpPr>
          <p:cNvPr id="10" name="矩形 9"/>
          <p:cNvSpPr/>
          <p:nvPr userDrawn="1"/>
        </p:nvSpPr>
        <p:spPr>
          <a:xfrm rot="907403">
            <a:off x="6032060" y="583623"/>
            <a:ext cx="3097322" cy="523220"/>
          </a:xfrm>
          <a:prstGeom prst="rect">
            <a:avLst/>
          </a:prstGeom>
          <a:noFill/>
        </p:spPr>
        <p:txBody>
          <a:bodyPr wrap="none" lIns="91440" tIns="45720" rIns="91440" bIns="45720">
            <a:spAutoFit/>
          </a:bodyPr>
          <a:lstStyle/>
          <a:p>
            <a:pPr algn="ctr"/>
            <a:r>
              <a:rPr lang="en-US" altLang="zh-CN" sz="2800" b="0" cap="none" spc="0" dirty="0" smtClean="0">
                <a:ln w="10160">
                  <a:solidFill>
                    <a:schemeClr val="accent1"/>
                  </a:solidFill>
                  <a:prstDash val="solid"/>
                </a:ln>
                <a:solidFill>
                  <a:srgbClr val="FFFFFF"/>
                </a:solidFill>
                <a:effectLst>
                  <a:outerShdw blurRad="38100" dist="32000" dir="5400000" algn="tl">
                    <a:srgbClr val="000000">
                      <a:alpha val="30000"/>
                    </a:srgbClr>
                  </a:outerShdw>
                </a:effectLst>
              </a:rPr>
              <a:t>TFF</a:t>
            </a:r>
            <a:r>
              <a:rPr lang="zh-CN" altLang="en-US" sz="2800" b="0" cap="none" spc="0" baseline="0" dirty="0" smtClean="0">
                <a:ln w="10160">
                  <a:solidFill>
                    <a:schemeClr val="accent1"/>
                  </a:solidFill>
                  <a:prstDash val="solid"/>
                </a:ln>
                <a:solidFill>
                  <a:srgbClr val="FFFFFF"/>
                </a:solidFill>
                <a:effectLst>
                  <a:outerShdw blurRad="38100" dist="32000" dir="5400000" algn="tl">
                    <a:srgbClr val="000000">
                      <a:alpha val="30000"/>
                    </a:srgbClr>
                  </a:outerShdw>
                </a:effectLst>
              </a:rPr>
              <a:t>制作 转载无效</a:t>
            </a:r>
            <a:endParaRPr lang="zh-CN" altLang="en-US" sz="2800" b="0" cap="none" spc="0" dirty="0">
              <a:ln w="10160">
                <a:solidFill>
                  <a:schemeClr val="accent1"/>
                </a:solidFill>
                <a:prstDash val="solid"/>
              </a:ln>
              <a:solidFill>
                <a:srgbClr val="FFFFFF"/>
              </a:solidFill>
              <a:effectLst>
                <a:outerShdw blurRad="38100" dist="32000" dir="5400000" algn="tl">
                  <a:srgbClr val="000000">
                    <a:alpha val="30000"/>
                  </a:srgbClr>
                </a:outerShdw>
              </a:effectLst>
            </a:endParaRPr>
          </a:p>
        </p:txBody>
      </p:sp>
    </p:spTree>
    <p:extLst>
      <p:ext uri="{BB962C8B-B14F-4D97-AF65-F5344CB8AC3E}">
        <p14:creationId xmlns:p14="http://schemas.microsoft.com/office/powerpoint/2010/main" val="19376947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矩形 6"/>
          <p:cNvSpPr>
            <a:spLocks noGrp="1" noChangeArrowheads="1"/>
          </p:cNvSpPr>
          <p:nvPr>
            <p:ph type="sldNum" sz="quarter" idx="12"/>
          </p:nvPr>
        </p:nvSpPr>
        <p:spPr>
          <a:ln/>
        </p:spPr>
        <p:txBody>
          <a:bodyPr/>
          <a:lstStyle>
            <a:lvl1pPr>
              <a:defRPr/>
            </a:lvl1pPr>
          </a:lstStyle>
          <a:p>
            <a:fld id="{88495401-6A3A-4A51-8C92-4F8149FC0502}" type="slidenum">
              <a:rPr lang="zh-CN" altLang="en-US">
                <a:solidFill>
                  <a:srgbClr val="000000"/>
                </a:solidFill>
              </a:rPr>
              <a:pPr/>
              <a:t>‹#›</a:t>
            </a:fld>
            <a:endParaRPr lang="en-US" altLang="zh-CN">
              <a:solidFill>
                <a:srgbClr val="000000"/>
              </a:solidFill>
            </a:endParaRPr>
          </a:p>
        </p:txBody>
      </p:sp>
      <p:sp>
        <p:nvSpPr>
          <p:cNvPr id="6" name="矩形 5"/>
          <p:cNvSpPr/>
          <p:nvPr userDrawn="1"/>
        </p:nvSpPr>
        <p:spPr>
          <a:xfrm rot="907403">
            <a:off x="6032060" y="583623"/>
            <a:ext cx="3097322" cy="523220"/>
          </a:xfrm>
          <a:prstGeom prst="rect">
            <a:avLst/>
          </a:prstGeom>
          <a:noFill/>
        </p:spPr>
        <p:txBody>
          <a:bodyPr wrap="none" lIns="91440" tIns="45720" rIns="91440" bIns="45720">
            <a:spAutoFit/>
          </a:bodyPr>
          <a:lstStyle/>
          <a:p>
            <a:pPr algn="ctr"/>
            <a:r>
              <a:rPr lang="en-US" altLang="zh-CN" sz="2800" b="0" cap="none" spc="0" dirty="0" smtClean="0">
                <a:ln w="10160">
                  <a:solidFill>
                    <a:schemeClr val="accent1"/>
                  </a:solidFill>
                  <a:prstDash val="solid"/>
                </a:ln>
                <a:solidFill>
                  <a:srgbClr val="FFFFFF"/>
                </a:solidFill>
                <a:effectLst>
                  <a:outerShdw blurRad="38100" dist="32000" dir="5400000" algn="tl">
                    <a:srgbClr val="000000">
                      <a:alpha val="30000"/>
                    </a:srgbClr>
                  </a:outerShdw>
                </a:effectLst>
              </a:rPr>
              <a:t>TFF</a:t>
            </a:r>
            <a:r>
              <a:rPr lang="zh-CN" altLang="en-US" sz="2800" b="0" cap="none" spc="0" baseline="0" dirty="0" smtClean="0">
                <a:ln w="10160">
                  <a:solidFill>
                    <a:schemeClr val="accent1"/>
                  </a:solidFill>
                  <a:prstDash val="solid"/>
                </a:ln>
                <a:solidFill>
                  <a:srgbClr val="FFFFFF"/>
                </a:solidFill>
                <a:effectLst>
                  <a:outerShdw blurRad="38100" dist="32000" dir="5400000" algn="tl">
                    <a:srgbClr val="000000">
                      <a:alpha val="30000"/>
                    </a:srgbClr>
                  </a:outerShdw>
                </a:effectLst>
              </a:rPr>
              <a:t>制作 转载无效</a:t>
            </a:r>
            <a:endParaRPr lang="zh-CN" altLang="en-US" sz="2800" b="0" cap="none" spc="0" dirty="0">
              <a:ln w="10160">
                <a:solidFill>
                  <a:schemeClr val="accent1"/>
                </a:solidFill>
                <a:prstDash val="solid"/>
              </a:ln>
              <a:solidFill>
                <a:srgbClr val="FFFFFF"/>
              </a:solidFill>
              <a:effectLst>
                <a:outerShdw blurRad="38100" dist="32000" dir="5400000" algn="tl">
                  <a:srgbClr val="000000">
                    <a:alpha val="30000"/>
                  </a:srgbClr>
                </a:outerShdw>
              </a:effectLst>
            </a:endParaRPr>
          </a:p>
        </p:txBody>
      </p:sp>
    </p:spTree>
    <p:extLst>
      <p:ext uri="{BB962C8B-B14F-4D97-AF65-F5344CB8AC3E}">
        <p14:creationId xmlns:p14="http://schemas.microsoft.com/office/powerpoint/2010/main" val="33069059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2" name="灯片编号占位符 6"/>
          <p:cNvSpPr>
            <a:spLocks noGrp="1"/>
          </p:cNvSpPr>
          <p:nvPr>
            <p:ph type="sldNum" sz="quarter" idx="10"/>
          </p:nvPr>
        </p:nvSpPr>
        <p:spPr>
          <a:xfrm>
            <a:off x="107950" y="6308725"/>
            <a:ext cx="2133600" cy="457200"/>
          </a:xfrm>
        </p:spPr>
        <p:txBody>
          <a:bodyPr/>
          <a:lstStyle>
            <a:lvl1pPr algn="l">
              <a:defRPr sz="1400"/>
            </a:lvl1pPr>
          </a:lstStyle>
          <a:p>
            <a:fld id="{4F6AC5A2-3006-43B3-A5CE-E7F760EBD795}" type="slidenum">
              <a:rPr lang="zh-CN" altLang="en-US">
                <a:solidFill>
                  <a:srgbClr val="000000"/>
                </a:solidFill>
              </a:rPr>
              <a:pPr/>
              <a:t>‹#›</a:t>
            </a:fld>
            <a:endParaRPr lang="en-US" altLang="zh-CN">
              <a:solidFill>
                <a:srgbClr val="000000"/>
              </a:solidFill>
            </a:endParaRPr>
          </a:p>
        </p:txBody>
      </p:sp>
      <p:sp>
        <p:nvSpPr>
          <p:cNvPr id="3" name="日期占位符 1"/>
          <p:cNvSpPr>
            <a:spLocks noGrp="1"/>
          </p:cNvSpPr>
          <p:nvPr>
            <p:ph type="dt" sz="half" idx="11"/>
          </p:nvPr>
        </p:nvSpPr>
        <p:spPr/>
        <p:txBody>
          <a:bodyPr/>
          <a:lstStyle>
            <a:lvl1pPr>
              <a:defRPr/>
            </a:lvl1pPr>
          </a:lstStyle>
          <a:p>
            <a:pPr>
              <a:defRPr/>
            </a:pPr>
            <a:endParaRPr lang="en-US" altLang="zh-CN">
              <a:solidFill>
                <a:srgbClr val="000000"/>
              </a:solidFill>
            </a:endParaRPr>
          </a:p>
        </p:txBody>
      </p:sp>
      <p:sp>
        <p:nvSpPr>
          <p:cNvPr id="4" name="页脚占位符 2"/>
          <p:cNvSpPr>
            <a:spLocks noGrp="1"/>
          </p:cNvSpPr>
          <p:nvPr>
            <p:ph type="ftr" sz="quarter" idx="12"/>
          </p:nvPr>
        </p:nvSpPr>
        <p:spPr/>
        <p:txBody>
          <a:bodyPr/>
          <a:lstStyle>
            <a:lvl1pPr>
              <a:defRPr/>
            </a:lvl1pPr>
          </a:lstStyle>
          <a:p>
            <a:pPr>
              <a:defRPr/>
            </a:pPr>
            <a:endParaRPr lang="en-US" altLang="zh-CN">
              <a:solidFill>
                <a:srgbClr val="000000"/>
              </a:solidFill>
            </a:endParaRPr>
          </a:p>
        </p:txBody>
      </p:sp>
      <p:sp>
        <p:nvSpPr>
          <p:cNvPr id="5" name="矩形 4"/>
          <p:cNvSpPr/>
          <p:nvPr userDrawn="1"/>
        </p:nvSpPr>
        <p:spPr>
          <a:xfrm rot="907403">
            <a:off x="6032060" y="583623"/>
            <a:ext cx="3097322" cy="523220"/>
          </a:xfrm>
          <a:prstGeom prst="rect">
            <a:avLst/>
          </a:prstGeom>
          <a:noFill/>
        </p:spPr>
        <p:txBody>
          <a:bodyPr wrap="none" lIns="91440" tIns="45720" rIns="91440" bIns="45720">
            <a:spAutoFit/>
          </a:bodyPr>
          <a:lstStyle/>
          <a:p>
            <a:pPr algn="ctr"/>
            <a:r>
              <a:rPr lang="en-US" altLang="zh-CN" sz="2800" b="0" cap="none" spc="0" dirty="0" smtClean="0">
                <a:ln w="10160">
                  <a:solidFill>
                    <a:schemeClr val="accent1"/>
                  </a:solidFill>
                  <a:prstDash val="solid"/>
                </a:ln>
                <a:solidFill>
                  <a:srgbClr val="FFFFFF"/>
                </a:solidFill>
                <a:effectLst>
                  <a:outerShdw blurRad="38100" dist="32000" dir="5400000" algn="tl">
                    <a:srgbClr val="000000">
                      <a:alpha val="30000"/>
                    </a:srgbClr>
                  </a:outerShdw>
                </a:effectLst>
              </a:rPr>
              <a:t>TFF</a:t>
            </a:r>
            <a:r>
              <a:rPr lang="zh-CN" altLang="en-US" sz="2800" b="0" cap="none" spc="0" baseline="0" dirty="0" smtClean="0">
                <a:ln w="10160">
                  <a:solidFill>
                    <a:schemeClr val="accent1"/>
                  </a:solidFill>
                  <a:prstDash val="solid"/>
                </a:ln>
                <a:solidFill>
                  <a:srgbClr val="FFFFFF"/>
                </a:solidFill>
                <a:effectLst>
                  <a:outerShdw blurRad="38100" dist="32000" dir="5400000" algn="tl">
                    <a:srgbClr val="000000">
                      <a:alpha val="30000"/>
                    </a:srgbClr>
                  </a:outerShdw>
                </a:effectLst>
              </a:rPr>
              <a:t>制作 转载无效</a:t>
            </a:r>
            <a:endParaRPr lang="zh-CN" altLang="en-US" sz="2800" b="0" cap="none" spc="0" dirty="0">
              <a:ln w="10160">
                <a:solidFill>
                  <a:schemeClr val="accent1"/>
                </a:solidFill>
                <a:prstDash val="solid"/>
              </a:ln>
              <a:solidFill>
                <a:srgbClr val="FFFFFF"/>
              </a:solidFill>
              <a:effectLst>
                <a:outerShdw blurRad="38100" dist="32000" dir="5400000" algn="tl">
                  <a:srgbClr val="000000">
                    <a:alpha val="30000"/>
                  </a:srgbClr>
                </a:outerShdw>
              </a:effectLst>
            </a:endParaRPr>
          </a:p>
        </p:txBody>
      </p:sp>
    </p:spTree>
    <p:extLst>
      <p:ext uri="{BB962C8B-B14F-4D97-AF65-F5344CB8AC3E}">
        <p14:creationId xmlns:p14="http://schemas.microsoft.com/office/powerpoint/2010/main" val="25022373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矩形 6"/>
          <p:cNvSpPr>
            <a:spLocks noGrp="1" noChangeArrowheads="1"/>
          </p:cNvSpPr>
          <p:nvPr>
            <p:ph type="sldNum" sz="quarter" idx="12"/>
          </p:nvPr>
        </p:nvSpPr>
        <p:spPr>
          <a:ln/>
        </p:spPr>
        <p:txBody>
          <a:bodyPr/>
          <a:lstStyle>
            <a:lvl1pPr>
              <a:defRPr/>
            </a:lvl1pPr>
          </a:lstStyle>
          <a:p>
            <a:fld id="{7451F12E-3330-452C-A79D-0A49D000BFA4}"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052417866"/>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矩形 6"/>
          <p:cNvSpPr>
            <a:spLocks noGrp="1" noChangeArrowheads="1"/>
          </p:cNvSpPr>
          <p:nvPr>
            <p:ph type="sldNum" sz="quarter" idx="12"/>
          </p:nvPr>
        </p:nvSpPr>
        <p:spPr>
          <a:ln/>
        </p:spPr>
        <p:txBody>
          <a:bodyPr/>
          <a:lstStyle>
            <a:lvl1pPr>
              <a:defRPr/>
            </a:lvl1pPr>
          </a:lstStyle>
          <a:p>
            <a:fld id="{7A6BBBBB-D658-447A-805A-D15D5CBA0549}"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2815825686"/>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矩形 6"/>
          <p:cNvSpPr>
            <a:spLocks noGrp="1" noChangeArrowheads="1"/>
          </p:cNvSpPr>
          <p:nvPr>
            <p:ph type="sldNum" sz="quarter" idx="12"/>
          </p:nvPr>
        </p:nvSpPr>
        <p:spPr>
          <a:ln/>
        </p:spPr>
        <p:txBody>
          <a:bodyPr/>
          <a:lstStyle>
            <a:lvl1pPr>
              <a:defRPr/>
            </a:lvl1pPr>
          </a:lstStyle>
          <a:p>
            <a:fld id="{2C34166B-7EEE-4A6B-A320-33BFEAF76DA2}"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631044368"/>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0850" y="404813"/>
            <a:ext cx="2112963" cy="5726112"/>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404813"/>
            <a:ext cx="6191250" cy="5726112"/>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矩形 6"/>
          <p:cNvSpPr>
            <a:spLocks noGrp="1" noChangeArrowheads="1"/>
          </p:cNvSpPr>
          <p:nvPr>
            <p:ph type="sldNum" sz="quarter" idx="12"/>
          </p:nvPr>
        </p:nvSpPr>
        <p:spPr>
          <a:ln/>
        </p:spPr>
        <p:txBody>
          <a:bodyPr/>
          <a:lstStyle>
            <a:lvl1pPr>
              <a:defRPr/>
            </a:lvl1pPr>
          </a:lstStyle>
          <a:p>
            <a:fld id="{18B2E0B1-C515-45F4-88BF-5D8F8A58535C}"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6263130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4213" y="404813"/>
            <a:ext cx="8229600" cy="1139825"/>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600200"/>
            <a:ext cx="4038600" cy="453072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3072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矩形 6"/>
          <p:cNvSpPr>
            <a:spLocks noGrp="1" noChangeArrowheads="1"/>
          </p:cNvSpPr>
          <p:nvPr>
            <p:ph type="sldNum" sz="quarter" idx="12"/>
          </p:nvPr>
        </p:nvSpPr>
        <p:spPr>
          <a:ln/>
        </p:spPr>
        <p:txBody>
          <a:bodyPr/>
          <a:lstStyle>
            <a:lvl1pPr>
              <a:defRPr/>
            </a:lvl1pPr>
          </a:lstStyle>
          <a:p>
            <a:fld id="{09856E6F-DA5B-4C47-B748-80919483F25A}"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515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4213" y="404813"/>
            <a:ext cx="8229600" cy="1139825"/>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600200"/>
            <a:ext cx="4038600" cy="453072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4648200" y="1600200"/>
            <a:ext cx="4038600" cy="2189163"/>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4648200" y="3941763"/>
            <a:ext cx="4038600" cy="2189162"/>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6"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7"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8" name="矩形 6"/>
          <p:cNvSpPr>
            <a:spLocks noGrp="1" noChangeArrowheads="1"/>
          </p:cNvSpPr>
          <p:nvPr>
            <p:ph type="sldNum" sz="quarter" idx="12"/>
          </p:nvPr>
        </p:nvSpPr>
        <p:spPr>
          <a:ln/>
        </p:spPr>
        <p:txBody>
          <a:bodyPr/>
          <a:lstStyle>
            <a:lvl1pPr>
              <a:defRPr/>
            </a:lvl1pPr>
          </a:lstStyle>
          <a:p>
            <a:fld id="{620A3C41-D381-4223-B72C-278E40297BFD}"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5255267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4213" y="404813"/>
            <a:ext cx="8229600" cy="1139825"/>
          </a:xfrm>
        </p:spPr>
        <p:txBody>
          <a:bodyPr/>
          <a:lstStyle/>
          <a:p>
            <a:r>
              <a:rPr lang="zh-CN" altLang="en-US" noProof="1" smtClean="0"/>
              <a:t>单击此处编辑母版标题样式</a:t>
            </a:r>
            <a:endParaRPr lang="zh-CN" altLang="en-US" noProof="1"/>
          </a:p>
        </p:txBody>
      </p:sp>
      <p:sp>
        <p:nvSpPr>
          <p:cNvPr id="3" name="表格占位符 2"/>
          <p:cNvSpPr>
            <a:spLocks noGrp="1"/>
          </p:cNvSpPr>
          <p:nvPr>
            <p:ph type="tbl" idx="1"/>
          </p:nvPr>
        </p:nvSpPr>
        <p:spPr>
          <a:xfrm>
            <a:off x="457200" y="1600200"/>
            <a:ext cx="8229600" cy="4530725"/>
          </a:xfrm>
        </p:spPr>
        <p:txBody>
          <a:bodyPr/>
          <a:lstStyle/>
          <a:p>
            <a:pPr lvl="0"/>
            <a:endParaRPr lang="zh-CN" altLang="en-US" noProof="0" smtClean="0"/>
          </a:p>
        </p:txBody>
      </p:sp>
      <p:sp>
        <p:nvSpPr>
          <p:cNvPr id="4"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5"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6" name="矩形 6"/>
          <p:cNvSpPr>
            <a:spLocks noGrp="1" noChangeArrowheads="1"/>
          </p:cNvSpPr>
          <p:nvPr>
            <p:ph type="sldNum" sz="quarter" idx="12"/>
          </p:nvPr>
        </p:nvSpPr>
        <p:spPr>
          <a:ln/>
        </p:spPr>
        <p:txBody>
          <a:bodyPr/>
          <a:lstStyle>
            <a:lvl1pPr>
              <a:defRPr/>
            </a:lvl1pPr>
          </a:lstStyle>
          <a:p>
            <a:fld id="{8E6F4243-0D8E-439D-9505-EC3986282A5D}"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733123749"/>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684213" y="404813"/>
            <a:ext cx="8229600" cy="1139825"/>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57200" y="1600200"/>
            <a:ext cx="4038600" cy="453072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剪贴画占位符 3"/>
          <p:cNvSpPr>
            <a:spLocks noGrp="1"/>
          </p:cNvSpPr>
          <p:nvPr>
            <p:ph type="clipArt" sz="half" idx="2"/>
          </p:nvPr>
        </p:nvSpPr>
        <p:spPr>
          <a:xfrm>
            <a:off x="4648200" y="1600200"/>
            <a:ext cx="4038600" cy="4530725"/>
          </a:xfrm>
        </p:spPr>
        <p:txBody>
          <a:bodyPr/>
          <a:lstStyle/>
          <a:p>
            <a:pPr lvl="0"/>
            <a:endParaRPr lang="zh-CN" altLang="en-US" noProof="0"/>
          </a:p>
        </p:txBody>
      </p:sp>
      <p:sp>
        <p:nvSpPr>
          <p:cNvPr id="5"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6"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7" name="矩形 6"/>
          <p:cNvSpPr>
            <a:spLocks noGrp="1" noChangeArrowheads="1"/>
          </p:cNvSpPr>
          <p:nvPr>
            <p:ph type="sldNum" sz="quarter" idx="12"/>
          </p:nvPr>
        </p:nvSpPr>
        <p:spPr>
          <a:ln/>
        </p:spPr>
        <p:txBody>
          <a:bodyPr/>
          <a:lstStyle>
            <a:lvl1pPr>
              <a:defRPr/>
            </a:lvl1pPr>
          </a:lstStyle>
          <a:p>
            <a:fld id="{A162597C-7D7F-4697-91DC-9025CBB2D5AF}"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1515623768"/>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4213" y="404813"/>
            <a:ext cx="8229600" cy="1139825"/>
          </a:xfr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3072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quarter" idx="2"/>
          </p:nvPr>
        </p:nvSpPr>
        <p:spPr>
          <a:xfrm>
            <a:off x="4648200" y="1600200"/>
            <a:ext cx="4038600" cy="2189163"/>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内容占位符 4"/>
          <p:cNvSpPr>
            <a:spLocks noGrp="1"/>
          </p:cNvSpPr>
          <p:nvPr>
            <p:ph sz="quarter" idx="3"/>
          </p:nvPr>
        </p:nvSpPr>
        <p:spPr>
          <a:xfrm>
            <a:off x="4648200" y="3941763"/>
            <a:ext cx="4038600" cy="2189162"/>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6"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7"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8" name="矩形 6"/>
          <p:cNvSpPr>
            <a:spLocks noGrp="1" noChangeArrowheads="1"/>
          </p:cNvSpPr>
          <p:nvPr>
            <p:ph type="sldNum" sz="quarter" idx="12"/>
          </p:nvPr>
        </p:nvSpPr>
        <p:spPr>
          <a:ln/>
        </p:spPr>
        <p:txBody>
          <a:bodyPr/>
          <a:lstStyle>
            <a:lvl1pPr>
              <a:defRPr/>
            </a:lvl1pPr>
          </a:lstStyle>
          <a:p>
            <a:fld id="{35096139-2164-4DC2-8338-941E8C1382AA}"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771252402"/>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404813"/>
            <a:ext cx="8456613" cy="5726112"/>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3" name="矩形 4"/>
          <p:cNvSpPr>
            <a:spLocks noGrp="1" noChangeArrowheads="1"/>
          </p:cNvSpPr>
          <p:nvPr>
            <p:ph type="dt" sz="half" idx="10"/>
          </p:nvPr>
        </p:nvSpPr>
        <p:spPr>
          <a:ln/>
        </p:spPr>
        <p:txBody>
          <a:bodyPr/>
          <a:lstStyle>
            <a:lvl1pPr>
              <a:defRPr/>
            </a:lvl1pPr>
          </a:lstStyle>
          <a:p>
            <a:pPr>
              <a:defRPr/>
            </a:pPr>
            <a:endParaRPr lang="en-US" altLang="zh-CN">
              <a:solidFill>
                <a:srgbClr val="000000"/>
              </a:solidFill>
            </a:endParaRPr>
          </a:p>
        </p:txBody>
      </p:sp>
      <p:sp>
        <p:nvSpPr>
          <p:cNvPr id="4" name="矩形 5"/>
          <p:cNvSpPr>
            <a:spLocks noGrp="1" noChangeArrowheads="1"/>
          </p:cNvSpPr>
          <p:nvPr>
            <p:ph type="ftr" sz="quarter" idx="11"/>
          </p:nvPr>
        </p:nvSpPr>
        <p:spPr>
          <a:ln/>
        </p:spPr>
        <p:txBody>
          <a:bodyPr/>
          <a:lstStyle>
            <a:lvl1pPr>
              <a:defRPr/>
            </a:lvl1pPr>
          </a:lstStyle>
          <a:p>
            <a:pPr>
              <a:defRPr/>
            </a:pPr>
            <a:endParaRPr lang="en-US" altLang="zh-CN">
              <a:solidFill>
                <a:srgbClr val="000000"/>
              </a:solidFill>
            </a:endParaRPr>
          </a:p>
        </p:txBody>
      </p:sp>
      <p:sp>
        <p:nvSpPr>
          <p:cNvPr id="5" name="矩形 6"/>
          <p:cNvSpPr>
            <a:spLocks noGrp="1" noChangeArrowheads="1"/>
          </p:cNvSpPr>
          <p:nvPr>
            <p:ph type="sldNum" sz="quarter" idx="12"/>
          </p:nvPr>
        </p:nvSpPr>
        <p:spPr>
          <a:ln/>
        </p:spPr>
        <p:txBody>
          <a:bodyPr/>
          <a:lstStyle>
            <a:lvl1pPr>
              <a:defRPr/>
            </a:lvl1pPr>
          </a:lstStyle>
          <a:p>
            <a:fld id="{6E65879C-4280-4F9A-A2CB-6DEE71350E17}" type="slidenum">
              <a:rPr lang="zh-CN" altLang="en-US">
                <a:solidFill>
                  <a:srgbClr val="000000"/>
                </a:solidFill>
              </a:rPr>
              <a:pPr/>
              <a:t>‹#›</a:t>
            </a:fld>
            <a:endParaRPr lang="en-US" altLang="zh-CN">
              <a:solidFill>
                <a:srgbClr val="000000"/>
              </a:solidFill>
            </a:endParaRPr>
          </a:p>
        </p:txBody>
      </p:sp>
    </p:spTree>
    <p:extLst>
      <p:ext uri="{BB962C8B-B14F-4D97-AF65-F5344CB8AC3E}">
        <p14:creationId xmlns:p14="http://schemas.microsoft.com/office/powerpoint/2010/main" val="3575765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2024/5/21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
        <p:nvSpPr>
          <p:cNvPr id="7" name="矩形 6"/>
          <p:cNvSpPr/>
          <p:nvPr userDrawn="1"/>
        </p:nvSpPr>
        <p:spPr>
          <a:xfrm rot="907403">
            <a:off x="6032060" y="583623"/>
            <a:ext cx="3097322" cy="523220"/>
          </a:xfrm>
          <a:prstGeom prst="rect">
            <a:avLst/>
          </a:prstGeom>
          <a:noFill/>
        </p:spPr>
        <p:txBody>
          <a:bodyPr wrap="none" lIns="91440" tIns="45720" rIns="91440" bIns="45720">
            <a:spAutoFit/>
          </a:bodyPr>
          <a:lstStyle/>
          <a:p>
            <a:pPr algn="ctr"/>
            <a:r>
              <a:rPr lang="en-US" altLang="zh-CN" sz="2800" b="0" cap="none" spc="0" dirty="0" smtClean="0">
                <a:ln w="10160">
                  <a:solidFill>
                    <a:schemeClr val="accent1"/>
                  </a:solidFill>
                  <a:prstDash val="solid"/>
                </a:ln>
                <a:solidFill>
                  <a:srgbClr val="FFFFFF"/>
                </a:solidFill>
                <a:effectLst>
                  <a:outerShdw blurRad="38100" dist="32000" dir="5400000" algn="tl">
                    <a:srgbClr val="000000">
                      <a:alpha val="30000"/>
                    </a:srgbClr>
                  </a:outerShdw>
                </a:effectLst>
              </a:rPr>
              <a:t>TFF</a:t>
            </a:r>
            <a:r>
              <a:rPr lang="zh-CN" altLang="en-US" sz="2800" b="0" cap="none" spc="0" baseline="0" dirty="0" smtClean="0">
                <a:ln w="10160">
                  <a:solidFill>
                    <a:schemeClr val="accent1"/>
                  </a:solidFill>
                  <a:prstDash val="solid"/>
                </a:ln>
                <a:solidFill>
                  <a:srgbClr val="FFFFFF"/>
                </a:solidFill>
                <a:effectLst>
                  <a:outerShdw blurRad="38100" dist="32000" dir="5400000" algn="tl">
                    <a:srgbClr val="000000">
                      <a:alpha val="30000"/>
                    </a:srgbClr>
                  </a:outerShdw>
                </a:effectLst>
              </a:rPr>
              <a:t>制作 转载无效</a:t>
            </a:r>
            <a:endParaRPr lang="zh-CN" altLang="en-US" sz="2800" b="0" cap="none" spc="0" dirty="0">
              <a:ln w="10160">
                <a:solidFill>
                  <a:schemeClr val="accent1"/>
                </a:solidFill>
                <a:prstDash val="solid"/>
              </a:ln>
              <a:solidFill>
                <a:srgbClr val="FFFFFF"/>
              </a:solidFill>
              <a:effectLst>
                <a:outerShdw blurRad="38100" dist="32000" dir="5400000" algn="tl">
                  <a:srgbClr val="000000">
                    <a:alpha val="30000"/>
                  </a:srgbClr>
                </a:outerShdw>
              </a:effectLs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矩形 2"/>
          <p:cNvSpPr>
            <a:spLocks noGrp="1" noChangeArrowheads="1"/>
          </p:cNvSpPr>
          <p:nvPr>
            <p:ph type="title" idx="4294967295"/>
          </p:nvPr>
        </p:nvSpPr>
        <p:spPr bwMode="auto">
          <a:xfrm>
            <a:off x="684213" y="404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单击此处编辑母版标题样式</a:t>
            </a:r>
          </a:p>
        </p:txBody>
      </p:sp>
      <p:sp>
        <p:nvSpPr>
          <p:cNvPr id="1027" name="矩形 3"/>
          <p:cNvSpPr>
            <a:spLocks noGrp="1" noChangeArrowheads="1"/>
          </p:cNvSpPr>
          <p:nvPr>
            <p:ph type="body" idx="4294967295"/>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312324" name="矩形 4"/>
          <p:cNvSpPr>
            <a:spLocks noGrp="1" noChangeArrowheads="1"/>
          </p:cNvSpPr>
          <p:nvPr>
            <p:ph type="dt" sz="half" idx="2"/>
          </p:nvPr>
        </p:nvSpPr>
        <p:spPr bwMode="auto">
          <a:xfrm>
            <a:off x="457200" y="6243638"/>
            <a:ext cx="2133600" cy="457200"/>
          </a:xfrm>
          <a:prstGeom prst="rect">
            <a:avLst/>
          </a:prstGeom>
          <a:noFill/>
          <a:ln>
            <a:noFill/>
          </a:ln>
          <a:effectLst/>
        </p:spPr>
        <p:txBody>
          <a:bodyPr vert="horz" wrap="square" lIns="91440" tIns="45720" rIns="91440" bIns="45720" numCol="1" anchor="b" anchorCtr="0" compatLnSpc="1"/>
          <a:lstStyle>
            <a:lvl1pPr algn="l" eaLnBrk="1" hangingPunct="1">
              <a:defRPr sz="1200">
                <a:latin typeface="+mj-lt"/>
                <a:ea typeface="+mn-ea"/>
              </a:defRPr>
            </a:lvl1pPr>
          </a:lstStyle>
          <a:p>
            <a:pPr fontAlgn="base">
              <a:spcBef>
                <a:spcPct val="0"/>
              </a:spcBef>
              <a:spcAft>
                <a:spcPct val="0"/>
              </a:spcAft>
              <a:defRPr/>
            </a:pPr>
            <a:endParaRPr lang="en-US" altLang="zh-CN">
              <a:solidFill>
                <a:srgbClr val="000000"/>
              </a:solidFill>
            </a:endParaRPr>
          </a:p>
        </p:txBody>
      </p:sp>
      <p:sp>
        <p:nvSpPr>
          <p:cNvPr id="312325" name="矩形 5"/>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b" anchorCtr="0" compatLnSpc="1"/>
          <a:lstStyle>
            <a:lvl1pPr algn="ctr" eaLnBrk="1" hangingPunct="1">
              <a:defRPr sz="1200">
                <a:latin typeface="+mj-lt"/>
                <a:ea typeface="+mn-ea"/>
              </a:defRPr>
            </a:lvl1pPr>
          </a:lstStyle>
          <a:p>
            <a:pPr fontAlgn="base">
              <a:spcBef>
                <a:spcPct val="0"/>
              </a:spcBef>
              <a:spcAft>
                <a:spcPct val="0"/>
              </a:spcAft>
              <a:defRPr/>
            </a:pPr>
            <a:endParaRPr lang="en-US" altLang="zh-CN">
              <a:solidFill>
                <a:srgbClr val="000000"/>
              </a:solidFill>
            </a:endParaRPr>
          </a:p>
        </p:txBody>
      </p:sp>
      <p:sp>
        <p:nvSpPr>
          <p:cNvPr id="312326" name="矩形 6"/>
          <p:cNvSpPr>
            <a:spLocks noGrp="1" noChangeArrowheads="1"/>
          </p:cNvSpPr>
          <p:nvPr>
            <p:ph type="sldNum" sz="quarter" idx="4"/>
          </p:nvPr>
        </p:nvSpPr>
        <p:spPr bwMode="auto">
          <a:xfrm>
            <a:off x="6553200" y="6243638"/>
            <a:ext cx="2133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atin typeface="Garamond" pitchFamily="18" charset="0"/>
                <a:ea typeface="宋体" pitchFamily="2" charset="-122"/>
              </a:defRPr>
            </a:lvl1pPr>
          </a:lstStyle>
          <a:p>
            <a:pPr fontAlgn="base">
              <a:spcBef>
                <a:spcPct val="0"/>
              </a:spcBef>
              <a:spcAft>
                <a:spcPct val="0"/>
              </a:spcAft>
            </a:pPr>
            <a:fld id="{ABB58EAA-B687-4709-8AC8-412444719074}" type="slidenum">
              <a:rPr lang="zh-CN" altLang="en-US" smtClean="0">
                <a:solidFill>
                  <a:srgbClr val="000000"/>
                </a:solidFill>
              </a:rPr>
              <a:pPr fontAlgn="base">
                <a:spcBef>
                  <a:spcPct val="0"/>
                </a:spcBef>
                <a:spcAft>
                  <a:spcPct val="0"/>
                </a:spcAft>
              </a:pPr>
              <a:t>‹#›</a:t>
            </a:fld>
            <a:endParaRPr lang="en-US" altLang="zh-CN" smtClean="0">
              <a:solidFill>
                <a:srgbClr val="000000"/>
              </a:solidFill>
            </a:endParaRPr>
          </a:p>
        </p:txBody>
      </p:sp>
      <p:sp>
        <p:nvSpPr>
          <p:cNvPr id="1031" name="任意多边形 7"/>
          <p:cNvSpPr>
            <a:spLocks noChangeArrowheads="1"/>
          </p:cNvSpPr>
          <p:nvPr/>
        </p:nvSpPr>
        <p:spPr bwMode="auto">
          <a:xfrm>
            <a:off x="395288" y="298450"/>
            <a:ext cx="82296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8575">
            <a:solidFill>
              <a:srgbClr val="862714"/>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sz="2400" smtClean="0">
              <a:solidFill>
                <a:srgbClr val="00589A"/>
              </a:solidFill>
              <a:ea typeface="隶书" pitchFamily="49" charset="-122"/>
            </a:endParaRPr>
          </a:p>
        </p:txBody>
      </p:sp>
      <p:sp>
        <p:nvSpPr>
          <p:cNvPr id="1032" name="直线 8"/>
          <p:cNvSpPr>
            <a:spLocks noChangeShapeType="1"/>
          </p:cNvSpPr>
          <p:nvPr/>
        </p:nvSpPr>
        <p:spPr bwMode="auto">
          <a:xfrm>
            <a:off x="468313" y="6597650"/>
            <a:ext cx="8229600" cy="0"/>
          </a:xfrm>
          <a:prstGeom prst="line">
            <a:avLst/>
          </a:prstGeom>
          <a:noFill/>
          <a:ln w="25400">
            <a:solidFill>
              <a:srgbClr val="00589A"/>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2400" smtClean="0">
              <a:solidFill>
                <a:srgbClr val="000000"/>
              </a:solidFill>
              <a:ea typeface="隶书" pitchFamily="49" charset="-122"/>
            </a:endParaRPr>
          </a:p>
        </p:txBody>
      </p:sp>
      <p:sp>
        <p:nvSpPr>
          <p:cNvPr id="1034" name="艺术字 11"/>
          <p:cNvSpPr>
            <a:spLocks noChangeArrowheads="1" noChangeShapeType="1" noTextEdit="1"/>
          </p:cNvSpPr>
          <p:nvPr userDrawn="1"/>
        </p:nvSpPr>
        <p:spPr bwMode="auto">
          <a:xfrm rot="-5400000">
            <a:off x="-50850" y="440087"/>
            <a:ext cx="571605" cy="212727"/>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fontAlgn="base">
              <a:spcBef>
                <a:spcPct val="0"/>
              </a:spcBef>
              <a:spcAft>
                <a:spcPct val="0"/>
              </a:spcAft>
            </a:pPr>
            <a:r>
              <a:rPr lang="en-US" altLang="zh-CN" sz="3600" dirty="0" smtClean="0">
                <a:solidFill>
                  <a:srgbClr val="00589A"/>
                </a:solidFill>
                <a:effectLst>
                  <a:outerShdw blurRad="38100" dist="38100" dir="2700000" algn="tl">
                    <a:srgbClr val="000000">
                      <a:alpha val="43137"/>
                    </a:srgbClr>
                  </a:outerShdw>
                </a:effectLst>
                <a:latin typeface="宋体"/>
              </a:rPr>
              <a:t>CUIT</a:t>
            </a:r>
            <a:endParaRPr lang="zh-CN" altLang="en-US" sz="3600" dirty="0" smtClean="0">
              <a:solidFill>
                <a:srgbClr val="00589A"/>
              </a:solidFill>
              <a:effectLst>
                <a:outerShdw blurRad="38100" dist="38100" dir="2700000" algn="tl">
                  <a:srgbClr val="000000">
                    <a:alpha val="43137"/>
                  </a:srgbClr>
                </a:outerShdw>
              </a:effectLst>
              <a:latin typeface="宋体"/>
            </a:endParaRPr>
          </a:p>
        </p:txBody>
      </p:sp>
      <p:sp>
        <p:nvSpPr>
          <p:cNvPr id="10" name="矩形 9"/>
          <p:cNvSpPr/>
          <p:nvPr userDrawn="1"/>
        </p:nvSpPr>
        <p:spPr>
          <a:xfrm rot="907403">
            <a:off x="6032060" y="583623"/>
            <a:ext cx="3097322" cy="523220"/>
          </a:xfrm>
          <a:prstGeom prst="rect">
            <a:avLst/>
          </a:prstGeom>
          <a:noFill/>
        </p:spPr>
        <p:txBody>
          <a:bodyPr wrap="none" lIns="91440" tIns="45720" rIns="91440" bIns="45720">
            <a:spAutoFit/>
          </a:bodyPr>
          <a:lstStyle/>
          <a:p>
            <a:pPr algn="ctr"/>
            <a:r>
              <a:rPr lang="en-US" altLang="zh-CN" sz="2800" b="0" cap="none" spc="0" dirty="0" smtClean="0">
                <a:ln w="10160">
                  <a:solidFill>
                    <a:schemeClr val="accent1"/>
                  </a:solidFill>
                  <a:prstDash val="solid"/>
                </a:ln>
                <a:solidFill>
                  <a:srgbClr val="FFFFFF"/>
                </a:solidFill>
                <a:effectLst>
                  <a:outerShdw blurRad="38100" dist="32000" dir="5400000" algn="tl">
                    <a:srgbClr val="000000">
                      <a:alpha val="30000"/>
                    </a:srgbClr>
                  </a:outerShdw>
                </a:effectLst>
              </a:rPr>
              <a:t>TFF</a:t>
            </a:r>
            <a:r>
              <a:rPr lang="zh-CN" altLang="en-US" sz="2800" b="0" cap="none" spc="0" baseline="0" dirty="0" smtClean="0">
                <a:ln w="10160">
                  <a:solidFill>
                    <a:schemeClr val="accent1"/>
                  </a:solidFill>
                  <a:prstDash val="solid"/>
                </a:ln>
                <a:solidFill>
                  <a:srgbClr val="FFFFFF"/>
                </a:solidFill>
                <a:effectLst>
                  <a:outerShdw blurRad="38100" dist="32000" dir="5400000" algn="tl">
                    <a:srgbClr val="000000">
                      <a:alpha val="30000"/>
                    </a:srgbClr>
                  </a:outerShdw>
                </a:effectLst>
              </a:rPr>
              <a:t>制作 转载无效</a:t>
            </a:r>
            <a:endParaRPr lang="zh-CN" altLang="en-US" sz="2800" b="0" cap="none" spc="0" dirty="0">
              <a:ln w="10160">
                <a:solidFill>
                  <a:schemeClr val="accent1"/>
                </a:solidFill>
                <a:prstDash val="solid"/>
              </a:ln>
              <a:solidFill>
                <a:srgbClr val="FFFFFF"/>
              </a:solidFill>
              <a:effectLst>
                <a:outerShdw blurRad="38100" dist="32000" dir="5400000" algn="tl">
                  <a:srgbClr val="000000">
                    <a:alpha val="30000"/>
                  </a:srgbClr>
                </a:outerShdw>
              </a:effectLst>
            </a:endParaRPr>
          </a:p>
        </p:txBody>
      </p:sp>
    </p:spTree>
    <p:extLst>
      <p:ext uri="{BB962C8B-B14F-4D97-AF65-F5344CB8AC3E}">
        <p14:creationId xmlns:p14="http://schemas.microsoft.com/office/powerpoint/2010/main" val="4866779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iming>
    <p:tnLst>
      <p:par>
        <p:cTn id="1" dur="indefinite" restart="never" nodeType="tmRoot"/>
      </p:par>
    </p:tnLst>
  </p:timing>
  <p:hf hdr="0" ftr="0" dt="0"/>
  <p:txStyles>
    <p:titleStyle>
      <a:lvl1pPr algn="l" rtl="0" eaLnBrk="0" fontAlgn="base" hangingPunct="0">
        <a:spcBef>
          <a:spcPct val="0"/>
        </a:spcBef>
        <a:spcAft>
          <a:spcPct val="0"/>
        </a:spcAft>
        <a:defRPr sz="4200">
          <a:solidFill>
            <a:srgbClr val="00589A"/>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华文行楷" pitchFamily="2" charset="-122"/>
        </a:defRPr>
      </a:lvl2pPr>
      <a:lvl3pPr algn="l" rtl="0" eaLnBrk="0" fontAlgn="base" hangingPunct="0">
        <a:spcBef>
          <a:spcPct val="0"/>
        </a:spcBef>
        <a:spcAft>
          <a:spcPct val="0"/>
        </a:spcAft>
        <a:defRPr sz="4200">
          <a:solidFill>
            <a:schemeClr val="tx2"/>
          </a:solidFill>
          <a:latin typeface="Garamond" pitchFamily="18" charset="0"/>
          <a:ea typeface="华文行楷" pitchFamily="2" charset="-122"/>
        </a:defRPr>
      </a:lvl3pPr>
      <a:lvl4pPr algn="l" rtl="0" eaLnBrk="0" fontAlgn="base" hangingPunct="0">
        <a:spcBef>
          <a:spcPct val="0"/>
        </a:spcBef>
        <a:spcAft>
          <a:spcPct val="0"/>
        </a:spcAft>
        <a:defRPr sz="4200">
          <a:solidFill>
            <a:schemeClr val="tx2"/>
          </a:solidFill>
          <a:latin typeface="Garamond" pitchFamily="18" charset="0"/>
          <a:ea typeface="华文行楷" pitchFamily="2" charset="-122"/>
        </a:defRPr>
      </a:lvl4pPr>
      <a:lvl5pPr algn="l" rtl="0" eaLnBrk="0" fontAlgn="base" hangingPunct="0">
        <a:spcBef>
          <a:spcPct val="0"/>
        </a:spcBef>
        <a:spcAft>
          <a:spcPct val="0"/>
        </a:spcAft>
        <a:defRPr sz="4200">
          <a:solidFill>
            <a:schemeClr val="tx2"/>
          </a:solidFill>
          <a:latin typeface="Garamond" pitchFamily="18" charset="0"/>
          <a:ea typeface="华文行楷" pitchFamily="2" charset="-122"/>
        </a:defRPr>
      </a:lvl5pPr>
      <a:lvl6pPr marL="457200" algn="l" rtl="0" fontAlgn="base">
        <a:spcBef>
          <a:spcPct val="0"/>
        </a:spcBef>
        <a:spcAft>
          <a:spcPct val="0"/>
        </a:spcAft>
        <a:defRPr sz="4200">
          <a:solidFill>
            <a:schemeClr val="tx2"/>
          </a:solidFill>
          <a:latin typeface="Garamond" pitchFamily="18" charset="0"/>
          <a:ea typeface="华文行楷" pitchFamily="2" charset="-122"/>
        </a:defRPr>
      </a:lvl6pPr>
      <a:lvl7pPr marL="914400" algn="l" rtl="0" fontAlgn="base">
        <a:spcBef>
          <a:spcPct val="0"/>
        </a:spcBef>
        <a:spcAft>
          <a:spcPct val="0"/>
        </a:spcAft>
        <a:defRPr sz="4200">
          <a:solidFill>
            <a:schemeClr val="tx2"/>
          </a:solidFill>
          <a:latin typeface="Garamond" pitchFamily="18" charset="0"/>
          <a:ea typeface="华文行楷" pitchFamily="2" charset="-122"/>
        </a:defRPr>
      </a:lvl7pPr>
      <a:lvl8pPr marL="1371600" algn="l" rtl="0" fontAlgn="base">
        <a:spcBef>
          <a:spcPct val="0"/>
        </a:spcBef>
        <a:spcAft>
          <a:spcPct val="0"/>
        </a:spcAft>
        <a:defRPr sz="4200">
          <a:solidFill>
            <a:schemeClr val="tx2"/>
          </a:solidFill>
          <a:latin typeface="Garamond" pitchFamily="18" charset="0"/>
          <a:ea typeface="华文行楷" pitchFamily="2" charset="-122"/>
        </a:defRPr>
      </a:lvl8pPr>
      <a:lvl9pPr marL="1828800" algn="l" rtl="0" fontAlgn="base">
        <a:spcBef>
          <a:spcPct val="0"/>
        </a:spcBef>
        <a:spcAft>
          <a:spcPct val="0"/>
        </a:spcAft>
        <a:defRPr sz="4200">
          <a:solidFill>
            <a:schemeClr val="tx2"/>
          </a:solidFill>
          <a:latin typeface="Garamond" pitchFamily="18" charset="0"/>
          <a:ea typeface="华文行楷"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8.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6.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2.wmf"/><Relationship Id="rId3" Type="http://schemas.openxmlformats.org/officeDocument/2006/relationships/notesSlide" Target="../notesSlides/notesSlide10.xml"/><Relationship Id="rId7" Type="http://schemas.openxmlformats.org/officeDocument/2006/relationships/image" Target="../media/image9.wmf"/><Relationship Id="rId12"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6.bin"/><Relationship Id="rId11" Type="http://schemas.openxmlformats.org/officeDocument/2006/relationships/image" Target="../media/image11.wmf"/><Relationship Id="rId5" Type="http://schemas.openxmlformats.org/officeDocument/2006/relationships/image" Target="../media/image8.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0.wmf"/><Relationship Id="rId14" Type="http://schemas.openxmlformats.org/officeDocument/2006/relationships/image" Target="../media/image88.pn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12.wmf"/><Relationship Id="rId3" Type="http://schemas.openxmlformats.org/officeDocument/2006/relationships/notesSlide" Target="../notesSlides/notesSlide11.xml"/><Relationship Id="rId7" Type="http://schemas.openxmlformats.org/officeDocument/2006/relationships/image" Target="../media/image14.wmf"/><Relationship Id="rId12"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11.bin"/><Relationship Id="rId11" Type="http://schemas.openxmlformats.org/officeDocument/2006/relationships/image" Target="../media/image11.wmf"/><Relationship Id="rId5" Type="http://schemas.openxmlformats.org/officeDocument/2006/relationships/image" Target="../media/image13.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15.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8.png"/><Relationship Id="rId4" Type="http://schemas.openxmlformats.org/officeDocument/2006/relationships/image" Target="../media/image17.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oleObject" Target="../embeddings/oleObject21.bin"/><Relationship Id="rId3" Type="http://schemas.openxmlformats.org/officeDocument/2006/relationships/notesSlide" Target="../notesSlides/notesSlide15.xml"/><Relationship Id="rId7" Type="http://schemas.openxmlformats.org/officeDocument/2006/relationships/oleObject" Target="../embeddings/oleObject18.bin"/><Relationship Id="rId12" Type="http://schemas.openxmlformats.org/officeDocument/2006/relationships/image" Target="../media/image21.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7.bin"/><Relationship Id="rId11" Type="http://schemas.openxmlformats.org/officeDocument/2006/relationships/oleObject" Target="../embeddings/oleObject20.bin"/><Relationship Id="rId5" Type="http://schemas.openxmlformats.org/officeDocument/2006/relationships/image" Target="../media/image18.wmf"/><Relationship Id="rId10" Type="http://schemas.openxmlformats.org/officeDocument/2006/relationships/image" Target="../media/image20.wmf"/><Relationship Id="rId4" Type="http://schemas.openxmlformats.org/officeDocument/2006/relationships/oleObject" Target="../embeddings/oleObject16.bin"/><Relationship Id="rId9" Type="http://schemas.openxmlformats.org/officeDocument/2006/relationships/oleObject" Target="../embeddings/oleObject19.bin"/><Relationship Id="rId14" Type="http://schemas.openxmlformats.org/officeDocument/2006/relationships/image" Target="../media/image22.wmf"/></Relationships>
</file>

<file path=ppt/slides/_rels/slide20.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oleObject" Target="../embeddings/oleObject26.bin"/><Relationship Id="rId18" Type="http://schemas.openxmlformats.org/officeDocument/2006/relationships/image" Target="../media/image29.emf"/><Relationship Id="rId26" Type="http://schemas.openxmlformats.org/officeDocument/2006/relationships/image" Target="../media/image33.wmf"/><Relationship Id="rId3" Type="http://schemas.openxmlformats.org/officeDocument/2006/relationships/notesSlide" Target="../notesSlides/notesSlide16.xml"/><Relationship Id="rId21" Type="http://schemas.openxmlformats.org/officeDocument/2006/relationships/oleObject" Target="../embeddings/oleObject30.bin"/><Relationship Id="rId7" Type="http://schemas.openxmlformats.org/officeDocument/2006/relationships/image" Target="../media/image24.wmf"/><Relationship Id="rId12" Type="http://schemas.openxmlformats.org/officeDocument/2006/relationships/image" Target="../media/image26.emf"/><Relationship Id="rId17" Type="http://schemas.openxmlformats.org/officeDocument/2006/relationships/oleObject" Target="../embeddings/oleObject28.bin"/><Relationship Id="rId25" Type="http://schemas.openxmlformats.org/officeDocument/2006/relationships/oleObject" Target="../embeddings/oleObject32.bin"/><Relationship Id="rId2" Type="http://schemas.openxmlformats.org/officeDocument/2006/relationships/slideLayout" Target="../slideLayouts/slideLayout2.xml"/><Relationship Id="rId16" Type="http://schemas.openxmlformats.org/officeDocument/2006/relationships/image" Target="../media/image28.wmf"/><Relationship Id="rId20" Type="http://schemas.openxmlformats.org/officeDocument/2006/relationships/image" Target="../media/image30.wmf"/><Relationship Id="rId1" Type="http://schemas.openxmlformats.org/officeDocument/2006/relationships/vmlDrawing" Target="../drawings/vmlDrawing6.vml"/><Relationship Id="rId6" Type="http://schemas.openxmlformats.org/officeDocument/2006/relationships/oleObject" Target="../embeddings/oleObject23.bin"/><Relationship Id="rId11" Type="http://schemas.openxmlformats.org/officeDocument/2006/relationships/oleObject" Target="../embeddings/oleObject25.bin"/><Relationship Id="rId24" Type="http://schemas.openxmlformats.org/officeDocument/2006/relationships/image" Target="../media/image32.wmf"/><Relationship Id="rId5" Type="http://schemas.openxmlformats.org/officeDocument/2006/relationships/image" Target="../media/image23.wmf"/><Relationship Id="rId15" Type="http://schemas.openxmlformats.org/officeDocument/2006/relationships/oleObject" Target="../embeddings/oleObject27.bin"/><Relationship Id="rId23" Type="http://schemas.openxmlformats.org/officeDocument/2006/relationships/oleObject" Target="../embeddings/oleObject31.bin"/><Relationship Id="rId10" Type="http://schemas.openxmlformats.org/officeDocument/2006/relationships/image" Target="../media/image25.emf"/><Relationship Id="rId19" Type="http://schemas.openxmlformats.org/officeDocument/2006/relationships/oleObject" Target="../embeddings/oleObject29.bin"/><Relationship Id="rId4" Type="http://schemas.openxmlformats.org/officeDocument/2006/relationships/oleObject" Target="../embeddings/oleObject22.bin"/><Relationship Id="rId9" Type="http://schemas.openxmlformats.org/officeDocument/2006/relationships/oleObject" Target="../embeddings/oleObject24.bin"/><Relationship Id="rId14" Type="http://schemas.openxmlformats.org/officeDocument/2006/relationships/image" Target="../media/image27.emf"/><Relationship Id="rId22" Type="http://schemas.openxmlformats.org/officeDocument/2006/relationships/image" Target="../media/image31.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39.wmf"/><Relationship Id="rId3" Type="http://schemas.openxmlformats.org/officeDocument/2006/relationships/notesSlide" Target="../notesSlides/notesSlide21.xml"/><Relationship Id="rId7" Type="http://schemas.openxmlformats.org/officeDocument/2006/relationships/image" Target="../media/image36.wmf"/><Relationship Id="rId12"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34.bin"/><Relationship Id="rId11" Type="http://schemas.openxmlformats.org/officeDocument/2006/relationships/image" Target="../media/image38.wmf"/><Relationship Id="rId5" Type="http://schemas.openxmlformats.org/officeDocument/2006/relationships/image" Target="../media/image35.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37.wmf"/></Relationships>
</file>

<file path=ppt/slides/_rels/slide2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notesSlide" Target="../notesSlides/notesSlide22.xml"/><Relationship Id="rId7" Type="http://schemas.openxmlformats.org/officeDocument/2006/relationships/image" Target="../media/image41.wmf"/><Relationship Id="rId12" Type="http://schemas.openxmlformats.org/officeDocument/2006/relationships/image" Target="../media/image43.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39.bin"/><Relationship Id="rId11" Type="http://schemas.openxmlformats.org/officeDocument/2006/relationships/oleObject" Target="../embeddings/oleObject41.bin"/><Relationship Id="rId5" Type="http://schemas.openxmlformats.org/officeDocument/2006/relationships/image" Target="../media/image40.wmf"/><Relationship Id="rId10" Type="http://schemas.openxmlformats.org/officeDocument/2006/relationships/image" Target="../media/image42.wmf"/><Relationship Id="rId4" Type="http://schemas.openxmlformats.org/officeDocument/2006/relationships/oleObject" Target="../embeddings/oleObject38.bin"/><Relationship Id="rId9" Type="http://schemas.openxmlformats.org/officeDocument/2006/relationships/oleObject" Target="../embeddings/oleObject40.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46.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43.bin"/><Relationship Id="rId5" Type="http://schemas.openxmlformats.org/officeDocument/2006/relationships/image" Target="../media/image45.wmf"/><Relationship Id="rId4" Type="http://schemas.openxmlformats.org/officeDocument/2006/relationships/oleObject" Target="../embeddings/oleObject42.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notesSlide" Target="../notesSlides/notesSlide24.xml"/><Relationship Id="rId7"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45.bin"/><Relationship Id="rId11" Type="http://schemas.openxmlformats.org/officeDocument/2006/relationships/image" Target="../media/image50.wmf"/><Relationship Id="rId5" Type="http://schemas.openxmlformats.org/officeDocument/2006/relationships/image" Target="../media/image47.wmf"/><Relationship Id="rId10" Type="http://schemas.openxmlformats.org/officeDocument/2006/relationships/oleObject" Target="../embeddings/oleObject47.bin"/><Relationship Id="rId4" Type="http://schemas.openxmlformats.org/officeDocument/2006/relationships/oleObject" Target="../embeddings/oleObject44.bin"/><Relationship Id="rId9" Type="http://schemas.openxmlformats.org/officeDocument/2006/relationships/image" Target="../media/image49.wmf"/></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51.wmf"/><Relationship Id="rId4" Type="http://schemas.openxmlformats.org/officeDocument/2006/relationships/oleObject" Target="../embeddings/oleObject48.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oleObject" Target="../embeddings/oleObject53.bin"/><Relationship Id="rId18" Type="http://schemas.openxmlformats.org/officeDocument/2006/relationships/image" Target="../media/image58.wmf"/><Relationship Id="rId26" Type="http://schemas.openxmlformats.org/officeDocument/2006/relationships/image" Target="../media/image62.wmf"/><Relationship Id="rId3" Type="http://schemas.openxmlformats.org/officeDocument/2006/relationships/notesSlide" Target="../notesSlides/notesSlide26.xml"/><Relationship Id="rId21" Type="http://schemas.openxmlformats.org/officeDocument/2006/relationships/oleObject" Target="../embeddings/oleObject57.bin"/><Relationship Id="rId7" Type="http://schemas.openxmlformats.org/officeDocument/2006/relationships/image" Target="../media/image53.wmf"/><Relationship Id="rId12" Type="http://schemas.openxmlformats.org/officeDocument/2006/relationships/image" Target="../media/image63.jpeg"/><Relationship Id="rId17" Type="http://schemas.openxmlformats.org/officeDocument/2006/relationships/oleObject" Target="../embeddings/oleObject55.bin"/><Relationship Id="rId25" Type="http://schemas.openxmlformats.org/officeDocument/2006/relationships/oleObject" Target="../embeddings/oleObject59.bin"/><Relationship Id="rId2" Type="http://schemas.openxmlformats.org/officeDocument/2006/relationships/slideLayout" Target="../slideLayouts/slideLayout2.xml"/><Relationship Id="rId16" Type="http://schemas.openxmlformats.org/officeDocument/2006/relationships/image" Target="../media/image57.wmf"/><Relationship Id="rId20" Type="http://schemas.openxmlformats.org/officeDocument/2006/relationships/image" Target="../media/image59.wmf"/><Relationship Id="rId1" Type="http://schemas.openxmlformats.org/officeDocument/2006/relationships/vmlDrawing" Target="../drawings/vmlDrawing12.vml"/><Relationship Id="rId6" Type="http://schemas.openxmlformats.org/officeDocument/2006/relationships/oleObject" Target="../embeddings/oleObject50.bin"/><Relationship Id="rId11" Type="http://schemas.openxmlformats.org/officeDocument/2006/relationships/image" Target="../media/image55.emf"/><Relationship Id="rId24" Type="http://schemas.openxmlformats.org/officeDocument/2006/relationships/image" Target="../media/image61.wmf"/><Relationship Id="rId5" Type="http://schemas.openxmlformats.org/officeDocument/2006/relationships/image" Target="../media/image52.wmf"/><Relationship Id="rId15" Type="http://schemas.openxmlformats.org/officeDocument/2006/relationships/oleObject" Target="../embeddings/oleObject54.bin"/><Relationship Id="rId23" Type="http://schemas.openxmlformats.org/officeDocument/2006/relationships/oleObject" Target="../embeddings/oleObject58.bin"/><Relationship Id="rId10" Type="http://schemas.openxmlformats.org/officeDocument/2006/relationships/oleObject" Target="../embeddings/oleObject52.bin"/><Relationship Id="rId19" Type="http://schemas.openxmlformats.org/officeDocument/2006/relationships/oleObject" Target="../embeddings/oleObject56.bin"/><Relationship Id="rId4" Type="http://schemas.openxmlformats.org/officeDocument/2006/relationships/oleObject" Target="../embeddings/oleObject49.bin"/><Relationship Id="rId9" Type="http://schemas.openxmlformats.org/officeDocument/2006/relationships/image" Target="../media/image54.emf"/><Relationship Id="rId14" Type="http://schemas.openxmlformats.org/officeDocument/2006/relationships/image" Target="../media/image56.wmf"/><Relationship Id="rId22" Type="http://schemas.openxmlformats.org/officeDocument/2006/relationships/image" Target="../media/image60.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2.bin"/><Relationship Id="rId13" Type="http://schemas.openxmlformats.org/officeDocument/2006/relationships/image" Target="../media/image68.wmf"/><Relationship Id="rId3" Type="http://schemas.openxmlformats.org/officeDocument/2006/relationships/notesSlide" Target="../notesSlides/notesSlide27.xml"/><Relationship Id="rId7" Type="http://schemas.openxmlformats.org/officeDocument/2006/relationships/image" Target="../media/image65.wmf"/><Relationship Id="rId12"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61.bin"/><Relationship Id="rId11" Type="http://schemas.openxmlformats.org/officeDocument/2006/relationships/image" Target="../media/image67.wmf"/><Relationship Id="rId5" Type="http://schemas.openxmlformats.org/officeDocument/2006/relationships/image" Target="../media/image64.wmf"/><Relationship Id="rId15" Type="http://schemas.openxmlformats.org/officeDocument/2006/relationships/image" Target="../media/image69.wmf"/><Relationship Id="rId10" Type="http://schemas.openxmlformats.org/officeDocument/2006/relationships/oleObject" Target="../embeddings/oleObject63.bin"/><Relationship Id="rId4" Type="http://schemas.openxmlformats.org/officeDocument/2006/relationships/oleObject" Target="../embeddings/oleObject60.bin"/><Relationship Id="rId9" Type="http://schemas.openxmlformats.org/officeDocument/2006/relationships/image" Target="../media/image66.wmf"/><Relationship Id="rId14" Type="http://schemas.openxmlformats.org/officeDocument/2006/relationships/oleObject" Target="../embeddings/oleObject65.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68.bin"/><Relationship Id="rId13" Type="http://schemas.openxmlformats.org/officeDocument/2006/relationships/image" Target="../media/image74.wmf"/><Relationship Id="rId18" Type="http://schemas.openxmlformats.org/officeDocument/2006/relationships/oleObject" Target="../embeddings/oleObject73.bin"/><Relationship Id="rId3" Type="http://schemas.openxmlformats.org/officeDocument/2006/relationships/notesSlide" Target="../notesSlides/notesSlide30.xml"/><Relationship Id="rId21" Type="http://schemas.openxmlformats.org/officeDocument/2006/relationships/image" Target="../media/image78.wmf"/><Relationship Id="rId7" Type="http://schemas.openxmlformats.org/officeDocument/2006/relationships/image" Target="../media/image71.wmf"/><Relationship Id="rId12" Type="http://schemas.openxmlformats.org/officeDocument/2006/relationships/oleObject" Target="../embeddings/oleObject70.bin"/><Relationship Id="rId17" Type="http://schemas.openxmlformats.org/officeDocument/2006/relationships/image" Target="../media/image76.wmf"/><Relationship Id="rId2" Type="http://schemas.openxmlformats.org/officeDocument/2006/relationships/slideLayout" Target="../slideLayouts/slideLayout13.xml"/><Relationship Id="rId16" Type="http://schemas.openxmlformats.org/officeDocument/2006/relationships/oleObject" Target="../embeddings/oleObject72.bin"/><Relationship Id="rId20" Type="http://schemas.openxmlformats.org/officeDocument/2006/relationships/oleObject" Target="../embeddings/oleObject74.bin"/><Relationship Id="rId1" Type="http://schemas.openxmlformats.org/officeDocument/2006/relationships/vmlDrawing" Target="../drawings/vmlDrawing14.vml"/><Relationship Id="rId6" Type="http://schemas.openxmlformats.org/officeDocument/2006/relationships/oleObject" Target="../embeddings/oleObject67.bin"/><Relationship Id="rId11" Type="http://schemas.openxmlformats.org/officeDocument/2006/relationships/image" Target="../media/image73.wmf"/><Relationship Id="rId5" Type="http://schemas.openxmlformats.org/officeDocument/2006/relationships/image" Target="../media/image70.wmf"/><Relationship Id="rId15" Type="http://schemas.openxmlformats.org/officeDocument/2006/relationships/image" Target="../media/image75.wmf"/><Relationship Id="rId10" Type="http://schemas.openxmlformats.org/officeDocument/2006/relationships/oleObject" Target="../embeddings/oleObject69.bin"/><Relationship Id="rId19" Type="http://schemas.openxmlformats.org/officeDocument/2006/relationships/image" Target="../media/image77.wmf"/><Relationship Id="rId4" Type="http://schemas.openxmlformats.org/officeDocument/2006/relationships/oleObject" Target="../embeddings/oleObject66.bin"/><Relationship Id="rId9" Type="http://schemas.openxmlformats.org/officeDocument/2006/relationships/image" Target="../media/image72.emf"/><Relationship Id="rId14" Type="http://schemas.openxmlformats.org/officeDocument/2006/relationships/oleObject" Target="../embeddings/oleObject71.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77.bin"/><Relationship Id="rId3" Type="http://schemas.openxmlformats.org/officeDocument/2006/relationships/notesSlide" Target="../notesSlides/notesSlide31.xml"/><Relationship Id="rId7" Type="http://schemas.openxmlformats.org/officeDocument/2006/relationships/image" Target="../media/image80.wmf"/><Relationship Id="rId2" Type="http://schemas.openxmlformats.org/officeDocument/2006/relationships/slideLayout" Target="../slideLayouts/slideLayout13.xml"/><Relationship Id="rId1" Type="http://schemas.openxmlformats.org/officeDocument/2006/relationships/vmlDrawing" Target="../drawings/vmlDrawing15.vml"/><Relationship Id="rId6" Type="http://schemas.openxmlformats.org/officeDocument/2006/relationships/oleObject" Target="../embeddings/oleObject76.bin"/><Relationship Id="rId11" Type="http://schemas.openxmlformats.org/officeDocument/2006/relationships/image" Target="../media/image82.wmf"/><Relationship Id="rId5" Type="http://schemas.openxmlformats.org/officeDocument/2006/relationships/image" Target="../media/image79.wmf"/><Relationship Id="rId10" Type="http://schemas.openxmlformats.org/officeDocument/2006/relationships/oleObject" Target="../embeddings/oleObject78.bin"/><Relationship Id="rId4" Type="http://schemas.openxmlformats.org/officeDocument/2006/relationships/oleObject" Target="../embeddings/oleObject75.bin"/><Relationship Id="rId9" Type="http://schemas.openxmlformats.org/officeDocument/2006/relationships/image" Target="../media/image81.wmf"/></Relationships>
</file>

<file path=ppt/slides/_rels/slide38.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image" Target="../media/image92.png"/><Relationship Id="rId18" Type="http://schemas.openxmlformats.org/officeDocument/2006/relationships/oleObject" Target="../embeddings/oleObject85.bin"/><Relationship Id="rId3" Type="http://schemas.openxmlformats.org/officeDocument/2006/relationships/notesSlide" Target="../notesSlides/notesSlide32.xml"/><Relationship Id="rId21" Type="http://schemas.openxmlformats.org/officeDocument/2006/relationships/image" Target="../media/image90.wmf"/><Relationship Id="rId7" Type="http://schemas.openxmlformats.org/officeDocument/2006/relationships/oleObject" Target="../embeddings/oleObject80.bin"/><Relationship Id="rId12" Type="http://schemas.openxmlformats.org/officeDocument/2006/relationships/image" Target="../media/image86.wmf"/><Relationship Id="rId17" Type="http://schemas.openxmlformats.org/officeDocument/2006/relationships/image" Target="../media/image88.wmf"/><Relationship Id="rId2" Type="http://schemas.openxmlformats.org/officeDocument/2006/relationships/slideLayout" Target="../slideLayouts/slideLayout13.xml"/><Relationship Id="rId16" Type="http://schemas.openxmlformats.org/officeDocument/2006/relationships/oleObject" Target="../embeddings/oleObject84.bin"/><Relationship Id="rId20" Type="http://schemas.openxmlformats.org/officeDocument/2006/relationships/oleObject" Target="../embeddings/oleObject86.bin"/><Relationship Id="rId1" Type="http://schemas.openxmlformats.org/officeDocument/2006/relationships/vmlDrawing" Target="../drawings/vmlDrawing16.vml"/><Relationship Id="rId6" Type="http://schemas.openxmlformats.org/officeDocument/2006/relationships/image" Target="../media/image83.wmf"/><Relationship Id="rId11" Type="http://schemas.openxmlformats.org/officeDocument/2006/relationships/oleObject" Target="../embeddings/oleObject82.bin"/><Relationship Id="rId5" Type="http://schemas.openxmlformats.org/officeDocument/2006/relationships/oleObject" Target="../embeddings/oleObject79.bin"/><Relationship Id="rId15" Type="http://schemas.openxmlformats.org/officeDocument/2006/relationships/image" Target="../media/image87.wmf"/><Relationship Id="rId10" Type="http://schemas.openxmlformats.org/officeDocument/2006/relationships/image" Target="../media/image85.wmf"/><Relationship Id="rId19" Type="http://schemas.openxmlformats.org/officeDocument/2006/relationships/image" Target="../media/image89.wmf"/><Relationship Id="rId4" Type="http://schemas.openxmlformats.org/officeDocument/2006/relationships/image" Target="../media/image91.png"/><Relationship Id="rId9" Type="http://schemas.openxmlformats.org/officeDocument/2006/relationships/oleObject" Target="../embeddings/oleObject81.bin"/><Relationship Id="rId14" Type="http://schemas.openxmlformats.org/officeDocument/2006/relationships/oleObject" Target="../embeddings/oleObject83.bin"/></Relationships>
</file>

<file path=ppt/slides/_rels/slide39.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notesSlide" Target="../notesSlides/notesSlide33.xml"/><Relationship Id="rId7" Type="http://schemas.openxmlformats.org/officeDocument/2006/relationships/image" Target="../media/image94.png"/><Relationship Id="rId2" Type="http://schemas.openxmlformats.org/officeDocument/2006/relationships/slideLayout" Target="../slideLayouts/slideLayout13.xml"/><Relationship Id="rId1" Type="http://schemas.openxmlformats.org/officeDocument/2006/relationships/vmlDrawing" Target="../drawings/vmlDrawing17.vml"/><Relationship Id="rId6" Type="http://schemas.openxmlformats.org/officeDocument/2006/relationships/image" Target="../media/image93.png"/><Relationship Id="rId5" Type="http://schemas.openxmlformats.org/officeDocument/2006/relationships/image" Target="../media/image72.emf"/><Relationship Id="rId10" Type="http://schemas.openxmlformats.org/officeDocument/2006/relationships/image" Target="../media/image97.png"/><Relationship Id="rId4" Type="http://schemas.openxmlformats.org/officeDocument/2006/relationships/oleObject" Target="../embeddings/oleObject87.bin"/><Relationship Id="rId9" Type="http://schemas.openxmlformats.org/officeDocument/2006/relationships/image" Target="../media/image96.png"/></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notesSlide" Target="../notesSlides/notesSlide34.xml"/><Relationship Id="rId7" Type="http://schemas.openxmlformats.org/officeDocument/2006/relationships/image" Target="../media/image99.emf"/><Relationship Id="rId2" Type="http://schemas.openxmlformats.org/officeDocument/2006/relationships/slideLayout" Target="../slideLayouts/slideLayout13.xml"/><Relationship Id="rId1" Type="http://schemas.openxmlformats.org/officeDocument/2006/relationships/vmlDrawing" Target="../drawings/vmlDrawing18.vml"/><Relationship Id="rId6" Type="http://schemas.openxmlformats.org/officeDocument/2006/relationships/oleObject" Target="../embeddings/oleObject89.bin"/><Relationship Id="rId5" Type="http://schemas.openxmlformats.org/officeDocument/2006/relationships/image" Target="../media/image98.emf"/><Relationship Id="rId4" Type="http://schemas.openxmlformats.org/officeDocument/2006/relationships/oleObject" Target="../embeddings/oleObject88.bin"/><Relationship Id="rId9" Type="http://schemas.openxmlformats.org/officeDocument/2006/relationships/image" Target="../media/image100.w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93.bin"/><Relationship Id="rId3" Type="http://schemas.openxmlformats.org/officeDocument/2006/relationships/notesSlide" Target="../notesSlides/notesSlide35.xml"/><Relationship Id="rId7" Type="http://schemas.openxmlformats.org/officeDocument/2006/relationships/image" Target="../media/image102.emf"/><Relationship Id="rId2" Type="http://schemas.openxmlformats.org/officeDocument/2006/relationships/slideLayout" Target="../slideLayouts/slideLayout13.xml"/><Relationship Id="rId1" Type="http://schemas.openxmlformats.org/officeDocument/2006/relationships/vmlDrawing" Target="../drawings/vmlDrawing19.vml"/><Relationship Id="rId6" Type="http://schemas.openxmlformats.org/officeDocument/2006/relationships/oleObject" Target="../embeddings/oleObject92.bin"/><Relationship Id="rId11" Type="http://schemas.openxmlformats.org/officeDocument/2006/relationships/image" Target="../media/image105.png"/><Relationship Id="rId5" Type="http://schemas.openxmlformats.org/officeDocument/2006/relationships/image" Target="../media/image101.emf"/><Relationship Id="rId10" Type="http://schemas.openxmlformats.org/officeDocument/2006/relationships/image" Target="../media/image104.png"/><Relationship Id="rId4" Type="http://schemas.openxmlformats.org/officeDocument/2006/relationships/oleObject" Target="../embeddings/oleObject91.bin"/><Relationship Id="rId9" Type="http://schemas.openxmlformats.org/officeDocument/2006/relationships/image" Target="../media/image103.e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tags" Target="../tags/tag25.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 Type="http://schemas.openxmlformats.org/officeDocument/2006/relationships/tags" Target="../tags/tag9.xml"/><Relationship Id="rId16" Type="http://schemas.openxmlformats.org/officeDocument/2006/relationships/tags" Target="../tags/tag23.xml"/><Relationship Id="rId20" Type="http://schemas.openxmlformats.org/officeDocument/2006/relationships/image" Target="../media/image106.tmp"/><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tags" Target="../tags/tag22.xml"/><Relationship Id="rId10" Type="http://schemas.openxmlformats.org/officeDocument/2006/relationships/tags" Target="../tags/tag17.xml"/><Relationship Id="rId19" Type="http://schemas.openxmlformats.org/officeDocument/2006/relationships/slideLayout" Target="../slideLayouts/slideLayout18.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s>
</file>

<file path=ppt/slides/_rels/slide46.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tags" Target="../tags/tag43.xml"/><Relationship Id="rId3" Type="http://schemas.openxmlformats.org/officeDocument/2006/relationships/tags" Target="../tags/tag28.xml"/><Relationship Id="rId21" Type="http://schemas.openxmlformats.org/officeDocument/2006/relationships/slideLayout" Target="../slideLayouts/slideLayout18.xml"/><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tags" Target="../tags/tag42.xml"/><Relationship Id="rId2" Type="http://schemas.openxmlformats.org/officeDocument/2006/relationships/tags" Target="../tags/tag27.xml"/><Relationship Id="rId16" Type="http://schemas.openxmlformats.org/officeDocument/2006/relationships/tags" Target="../tags/tag41.xml"/><Relationship Id="rId20" Type="http://schemas.openxmlformats.org/officeDocument/2006/relationships/tags" Target="../tags/tag45.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10" Type="http://schemas.openxmlformats.org/officeDocument/2006/relationships/tags" Target="../tags/tag35.xml"/><Relationship Id="rId19" Type="http://schemas.openxmlformats.org/officeDocument/2006/relationships/tags" Target="../tags/tag44.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 Id="rId22" Type="http://schemas.openxmlformats.org/officeDocument/2006/relationships/image" Target="../media/image106.tmp"/></Relationships>
</file>

<file path=ppt/slides/_rels/slide47.xml.rels><?xml version="1.0" encoding="UTF-8" standalone="yes"?>
<Relationships xmlns="http://schemas.openxmlformats.org/package/2006/relationships"><Relationship Id="rId8" Type="http://schemas.openxmlformats.org/officeDocument/2006/relationships/tags" Target="../tags/tag53.xml"/><Relationship Id="rId13" Type="http://schemas.openxmlformats.org/officeDocument/2006/relationships/tags" Target="../tags/tag58.xml"/><Relationship Id="rId18" Type="http://schemas.openxmlformats.org/officeDocument/2006/relationships/tags" Target="../tags/tag63.xml"/><Relationship Id="rId3" Type="http://schemas.openxmlformats.org/officeDocument/2006/relationships/tags" Target="../tags/tag48.xml"/><Relationship Id="rId7" Type="http://schemas.openxmlformats.org/officeDocument/2006/relationships/tags" Target="../tags/tag52.xml"/><Relationship Id="rId12" Type="http://schemas.openxmlformats.org/officeDocument/2006/relationships/tags" Target="../tags/tag57.xml"/><Relationship Id="rId17" Type="http://schemas.openxmlformats.org/officeDocument/2006/relationships/tags" Target="../tags/tag62.xml"/><Relationship Id="rId2" Type="http://schemas.openxmlformats.org/officeDocument/2006/relationships/tags" Target="../tags/tag47.xml"/><Relationship Id="rId16" Type="http://schemas.openxmlformats.org/officeDocument/2006/relationships/tags" Target="../tags/tag61.xml"/><Relationship Id="rId20" Type="http://schemas.openxmlformats.org/officeDocument/2006/relationships/image" Target="../media/image106.tmp"/><Relationship Id="rId1" Type="http://schemas.openxmlformats.org/officeDocument/2006/relationships/tags" Target="../tags/tag46.xml"/><Relationship Id="rId6" Type="http://schemas.openxmlformats.org/officeDocument/2006/relationships/tags" Target="../tags/tag51.xml"/><Relationship Id="rId11" Type="http://schemas.openxmlformats.org/officeDocument/2006/relationships/tags" Target="../tags/tag56.xml"/><Relationship Id="rId5" Type="http://schemas.openxmlformats.org/officeDocument/2006/relationships/tags" Target="../tags/tag50.xml"/><Relationship Id="rId15" Type="http://schemas.openxmlformats.org/officeDocument/2006/relationships/tags" Target="../tags/tag60.xml"/><Relationship Id="rId10" Type="http://schemas.openxmlformats.org/officeDocument/2006/relationships/tags" Target="../tags/tag55.xml"/><Relationship Id="rId19" Type="http://schemas.openxmlformats.org/officeDocument/2006/relationships/slideLayout" Target="../slideLayouts/slideLayout18.xml"/><Relationship Id="rId4" Type="http://schemas.openxmlformats.org/officeDocument/2006/relationships/tags" Target="../tags/tag49.xml"/><Relationship Id="rId9" Type="http://schemas.openxmlformats.org/officeDocument/2006/relationships/tags" Target="../tags/tag54.xml"/><Relationship Id="rId14" Type="http://schemas.openxmlformats.org/officeDocument/2006/relationships/tags" Target="../tags/tag59.xml"/></Relationships>
</file>

<file path=ppt/slides/_rels/slide48.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tags" Target="../tags/tag76.xml"/><Relationship Id="rId18" Type="http://schemas.openxmlformats.org/officeDocument/2006/relationships/tags" Target="../tags/tag81.xml"/><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tags" Target="../tags/tag75.xml"/><Relationship Id="rId17" Type="http://schemas.openxmlformats.org/officeDocument/2006/relationships/tags" Target="../tags/tag80.xml"/><Relationship Id="rId2" Type="http://schemas.openxmlformats.org/officeDocument/2006/relationships/tags" Target="../tags/tag65.xml"/><Relationship Id="rId16" Type="http://schemas.openxmlformats.org/officeDocument/2006/relationships/tags" Target="../tags/tag79.xml"/><Relationship Id="rId20" Type="http://schemas.openxmlformats.org/officeDocument/2006/relationships/image" Target="../media/image106.tmp"/><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5" Type="http://schemas.openxmlformats.org/officeDocument/2006/relationships/tags" Target="../tags/tag68.xml"/><Relationship Id="rId15" Type="http://schemas.openxmlformats.org/officeDocument/2006/relationships/tags" Target="../tags/tag78.xml"/><Relationship Id="rId10" Type="http://schemas.openxmlformats.org/officeDocument/2006/relationships/tags" Target="../tags/tag73.xml"/><Relationship Id="rId19" Type="http://schemas.openxmlformats.org/officeDocument/2006/relationships/slideLayout" Target="../slideLayouts/slideLayout18.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tags" Target="../tags/tag77.xml"/></Relationships>
</file>

<file path=ppt/slides/_rels/slide49.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18" Type="http://schemas.openxmlformats.org/officeDocument/2006/relationships/tags" Target="../tags/tag99.xml"/><Relationship Id="rId3" Type="http://schemas.openxmlformats.org/officeDocument/2006/relationships/tags" Target="../tags/tag84.xml"/><Relationship Id="rId21" Type="http://schemas.openxmlformats.org/officeDocument/2006/relationships/tags" Target="../tags/tag102.xml"/><Relationship Id="rId7" Type="http://schemas.openxmlformats.org/officeDocument/2006/relationships/tags" Target="../tags/tag88.xml"/><Relationship Id="rId12" Type="http://schemas.openxmlformats.org/officeDocument/2006/relationships/tags" Target="../tags/tag93.xml"/><Relationship Id="rId17" Type="http://schemas.openxmlformats.org/officeDocument/2006/relationships/tags" Target="../tags/tag98.xml"/><Relationship Id="rId2" Type="http://schemas.openxmlformats.org/officeDocument/2006/relationships/tags" Target="../tags/tag83.xml"/><Relationship Id="rId16" Type="http://schemas.openxmlformats.org/officeDocument/2006/relationships/tags" Target="../tags/tag97.xml"/><Relationship Id="rId20" Type="http://schemas.openxmlformats.org/officeDocument/2006/relationships/tags" Target="../tags/tag101.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24" Type="http://schemas.openxmlformats.org/officeDocument/2006/relationships/image" Target="../media/image106.tmp"/><Relationship Id="rId5" Type="http://schemas.openxmlformats.org/officeDocument/2006/relationships/tags" Target="../tags/tag86.xml"/><Relationship Id="rId15" Type="http://schemas.openxmlformats.org/officeDocument/2006/relationships/tags" Target="../tags/tag96.xml"/><Relationship Id="rId23" Type="http://schemas.openxmlformats.org/officeDocument/2006/relationships/slideLayout" Target="../slideLayouts/slideLayout18.xml"/><Relationship Id="rId10" Type="http://schemas.openxmlformats.org/officeDocument/2006/relationships/tags" Target="../tags/tag91.xml"/><Relationship Id="rId19" Type="http://schemas.openxmlformats.org/officeDocument/2006/relationships/tags" Target="../tags/tag100.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tags" Target="../tags/tag95.xml"/><Relationship Id="rId22" Type="http://schemas.openxmlformats.org/officeDocument/2006/relationships/tags" Target="../tags/tag103.xml"/></Relationships>
</file>

<file path=ppt/slides/_rels/slide50.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tags" Target="../tags/tag116.xml"/><Relationship Id="rId18" Type="http://schemas.openxmlformats.org/officeDocument/2006/relationships/tags" Target="../tags/tag121.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tags" Target="../tags/tag115.xml"/><Relationship Id="rId17" Type="http://schemas.openxmlformats.org/officeDocument/2006/relationships/tags" Target="../tags/tag120.xml"/><Relationship Id="rId2" Type="http://schemas.openxmlformats.org/officeDocument/2006/relationships/tags" Target="../tags/tag105.xml"/><Relationship Id="rId16" Type="http://schemas.openxmlformats.org/officeDocument/2006/relationships/tags" Target="../tags/tag119.xml"/><Relationship Id="rId20" Type="http://schemas.openxmlformats.org/officeDocument/2006/relationships/image" Target="../media/image106.tmp"/><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5" Type="http://schemas.openxmlformats.org/officeDocument/2006/relationships/tags" Target="../tags/tag118.xml"/><Relationship Id="rId10" Type="http://schemas.openxmlformats.org/officeDocument/2006/relationships/tags" Target="../tags/tag113.xml"/><Relationship Id="rId19" Type="http://schemas.openxmlformats.org/officeDocument/2006/relationships/slideLayout" Target="../slideLayouts/slideLayout18.xml"/><Relationship Id="rId4" Type="http://schemas.openxmlformats.org/officeDocument/2006/relationships/tags" Target="../tags/tag107.xml"/><Relationship Id="rId9" Type="http://schemas.openxmlformats.org/officeDocument/2006/relationships/tags" Target="../tags/tag112.xml"/><Relationship Id="rId14" Type="http://schemas.openxmlformats.org/officeDocument/2006/relationships/tags" Target="../tags/tag117.xml"/></Relationships>
</file>

<file path=ppt/slides/_rels/slide51.xml.rels><?xml version="1.0" encoding="UTF-8" standalone="yes"?>
<Relationships xmlns="http://schemas.openxmlformats.org/package/2006/relationships"><Relationship Id="rId8" Type="http://schemas.openxmlformats.org/officeDocument/2006/relationships/tags" Target="../tags/tag129.xml"/><Relationship Id="rId3" Type="http://schemas.openxmlformats.org/officeDocument/2006/relationships/tags" Target="../tags/tag124.xml"/><Relationship Id="rId7" Type="http://schemas.openxmlformats.org/officeDocument/2006/relationships/tags" Target="../tags/tag128.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image" Target="../media/image106.tmp"/><Relationship Id="rId5" Type="http://schemas.openxmlformats.org/officeDocument/2006/relationships/tags" Target="../tags/tag126.xml"/><Relationship Id="rId10" Type="http://schemas.openxmlformats.org/officeDocument/2006/relationships/slideLayout" Target="../slideLayouts/slideLayout18.xml"/><Relationship Id="rId4" Type="http://schemas.openxmlformats.org/officeDocument/2006/relationships/tags" Target="../tags/tag125.xml"/><Relationship Id="rId9" Type="http://schemas.openxmlformats.org/officeDocument/2006/relationships/tags" Target="../tags/tag130.xml"/></Relationships>
</file>

<file path=ppt/slides/_rels/slide52.xml.rels><?xml version="1.0" encoding="UTF-8" standalone="yes"?>
<Relationships xmlns="http://schemas.openxmlformats.org/package/2006/relationships"><Relationship Id="rId8" Type="http://schemas.openxmlformats.org/officeDocument/2006/relationships/tags" Target="../tags/tag138.xml"/><Relationship Id="rId13" Type="http://schemas.openxmlformats.org/officeDocument/2006/relationships/tags" Target="../tags/tag143.xml"/><Relationship Id="rId3" Type="http://schemas.openxmlformats.org/officeDocument/2006/relationships/tags" Target="../tags/tag133.xml"/><Relationship Id="rId7" Type="http://schemas.openxmlformats.org/officeDocument/2006/relationships/tags" Target="../tags/tag137.xml"/><Relationship Id="rId12" Type="http://schemas.openxmlformats.org/officeDocument/2006/relationships/tags" Target="../tags/tag142.xml"/><Relationship Id="rId2" Type="http://schemas.openxmlformats.org/officeDocument/2006/relationships/tags" Target="../tags/tag132.xml"/><Relationship Id="rId16" Type="http://schemas.openxmlformats.org/officeDocument/2006/relationships/image" Target="../media/image106.tmp"/><Relationship Id="rId1" Type="http://schemas.openxmlformats.org/officeDocument/2006/relationships/tags" Target="../tags/tag131.xml"/><Relationship Id="rId6" Type="http://schemas.openxmlformats.org/officeDocument/2006/relationships/tags" Target="../tags/tag136.xml"/><Relationship Id="rId11" Type="http://schemas.openxmlformats.org/officeDocument/2006/relationships/tags" Target="../tags/tag141.xml"/><Relationship Id="rId5" Type="http://schemas.openxmlformats.org/officeDocument/2006/relationships/tags" Target="../tags/tag135.xml"/><Relationship Id="rId15" Type="http://schemas.openxmlformats.org/officeDocument/2006/relationships/slideLayout" Target="../slideLayouts/slideLayout18.xml"/><Relationship Id="rId10" Type="http://schemas.openxmlformats.org/officeDocument/2006/relationships/tags" Target="../tags/tag140.xml"/><Relationship Id="rId4" Type="http://schemas.openxmlformats.org/officeDocument/2006/relationships/tags" Target="../tags/tag134.xml"/><Relationship Id="rId9" Type="http://schemas.openxmlformats.org/officeDocument/2006/relationships/tags" Target="../tags/tag139.xml"/><Relationship Id="rId14" Type="http://schemas.openxmlformats.org/officeDocument/2006/relationships/tags" Target="../tags/tag144.xml"/></Relationships>
</file>

<file path=ppt/slides/_rels/slide53.xml.rels><?xml version="1.0" encoding="UTF-8" standalone="yes"?>
<Relationships xmlns="http://schemas.openxmlformats.org/package/2006/relationships"><Relationship Id="rId8" Type="http://schemas.openxmlformats.org/officeDocument/2006/relationships/tags" Target="../tags/tag152.xml"/><Relationship Id="rId13" Type="http://schemas.openxmlformats.org/officeDocument/2006/relationships/tags" Target="../tags/tag157.xml"/><Relationship Id="rId3" Type="http://schemas.openxmlformats.org/officeDocument/2006/relationships/tags" Target="../tags/tag147.xml"/><Relationship Id="rId7" Type="http://schemas.openxmlformats.org/officeDocument/2006/relationships/tags" Target="../tags/tag151.xml"/><Relationship Id="rId12" Type="http://schemas.openxmlformats.org/officeDocument/2006/relationships/tags" Target="../tags/tag156.xml"/><Relationship Id="rId2" Type="http://schemas.openxmlformats.org/officeDocument/2006/relationships/tags" Target="../tags/tag146.xml"/><Relationship Id="rId16" Type="http://schemas.openxmlformats.org/officeDocument/2006/relationships/image" Target="../media/image106.tmp"/><Relationship Id="rId1" Type="http://schemas.openxmlformats.org/officeDocument/2006/relationships/tags" Target="../tags/tag145.xml"/><Relationship Id="rId6" Type="http://schemas.openxmlformats.org/officeDocument/2006/relationships/tags" Target="../tags/tag150.xml"/><Relationship Id="rId11" Type="http://schemas.openxmlformats.org/officeDocument/2006/relationships/tags" Target="../tags/tag155.xml"/><Relationship Id="rId5" Type="http://schemas.openxmlformats.org/officeDocument/2006/relationships/tags" Target="../tags/tag149.xml"/><Relationship Id="rId15" Type="http://schemas.openxmlformats.org/officeDocument/2006/relationships/slideLayout" Target="../slideLayouts/slideLayout18.xml"/><Relationship Id="rId10" Type="http://schemas.openxmlformats.org/officeDocument/2006/relationships/tags" Target="../tags/tag154.xml"/><Relationship Id="rId4" Type="http://schemas.openxmlformats.org/officeDocument/2006/relationships/tags" Target="../tags/tag148.xml"/><Relationship Id="rId9" Type="http://schemas.openxmlformats.org/officeDocument/2006/relationships/tags" Target="../tags/tag153.xml"/><Relationship Id="rId14" Type="http://schemas.openxmlformats.org/officeDocument/2006/relationships/tags" Target="../tags/tag158.xml"/></Relationships>
</file>

<file path=ppt/slides/_rels/slide54.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tags" Target="../tags/tag170.xml"/><Relationship Id="rId2" Type="http://schemas.openxmlformats.org/officeDocument/2006/relationships/tags" Target="../tags/tag160.xml"/><Relationship Id="rId16" Type="http://schemas.openxmlformats.org/officeDocument/2006/relationships/image" Target="../media/image106.tmp"/><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5" Type="http://schemas.openxmlformats.org/officeDocument/2006/relationships/slideLayout" Target="../slideLayouts/slideLayout18.xml"/><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s>
</file>

<file path=ppt/slides/_rels/slide55.xml.rels><?xml version="1.0" encoding="UTF-8" standalone="yes"?>
<Relationships xmlns="http://schemas.openxmlformats.org/package/2006/relationships"><Relationship Id="rId8" Type="http://schemas.openxmlformats.org/officeDocument/2006/relationships/tags" Target="../tags/tag180.xml"/><Relationship Id="rId13" Type="http://schemas.openxmlformats.org/officeDocument/2006/relationships/tags" Target="../tags/tag185.xml"/><Relationship Id="rId3" Type="http://schemas.openxmlformats.org/officeDocument/2006/relationships/tags" Target="../tags/tag175.xml"/><Relationship Id="rId7" Type="http://schemas.openxmlformats.org/officeDocument/2006/relationships/tags" Target="../tags/tag179.xml"/><Relationship Id="rId12" Type="http://schemas.openxmlformats.org/officeDocument/2006/relationships/tags" Target="../tags/tag184.xml"/><Relationship Id="rId17" Type="http://schemas.openxmlformats.org/officeDocument/2006/relationships/image" Target="../media/image106.tmp"/><Relationship Id="rId2" Type="http://schemas.openxmlformats.org/officeDocument/2006/relationships/tags" Target="../tags/tag174.xml"/><Relationship Id="rId16" Type="http://schemas.openxmlformats.org/officeDocument/2006/relationships/notesSlide" Target="../notesSlides/notesSlide38.xml"/><Relationship Id="rId1" Type="http://schemas.openxmlformats.org/officeDocument/2006/relationships/tags" Target="../tags/tag173.xml"/><Relationship Id="rId6" Type="http://schemas.openxmlformats.org/officeDocument/2006/relationships/tags" Target="../tags/tag178.xml"/><Relationship Id="rId11" Type="http://schemas.openxmlformats.org/officeDocument/2006/relationships/tags" Target="../tags/tag183.xml"/><Relationship Id="rId5" Type="http://schemas.openxmlformats.org/officeDocument/2006/relationships/tags" Target="../tags/tag177.xml"/><Relationship Id="rId15" Type="http://schemas.openxmlformats.org/officeDocument/2006/relationships/slideLayout" Target="../slideLayouts/slideLayout18.xml"/><Relationship Id="rId10" Type="http://schemas.openxmlformats.org/officeDocument/2006/relationships/tags" Target="../tags/tag182.xml"/><Relationship Id="rId4" Type="http://schemas.openxmlformats.org/officeDocument/2006/relationships/tags" Target="../tags/tag176.xml"/><Relationship Id="rId9" Type="http://schemas.openxmlformats.org/officeDocument/2006/relationships/tags" Target="../tags/tag181.xml"/><Relationship Id="rId14" Type="http://schemas.openxmlformats.org/officeDocument/2006/relationships/tags" Target="../tags/tag186.xml"/></Relationships>
</file>

<file path=ppt/slides/_rels/slide56.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tags" Target="../tags/tag199.xml"/><Relationship Id="rId3" Type="http://schemas.openxmlformats.org/officeDocument/2006/relationships/tags" Target="../tags/tag189.xml"/><Relationship Id="rId7" Type="http://schemas.openxmlformats.org/officeDocument/2006/relationships/tags" Target="../tags/tag193.xml"/><Relationship Id="rId12" Type="http://schemas.openxmlformats.org/officeDocument/2006/relationships/tags" Target="../tags/tag198.xml"/><Relationship Id="rId17" Type="http://schemas.openxmlformats.org/officeDocument/2006/relationships/image" Target="../media/image106.tmp"/><Relationship Id="rId2" Type="http://schemas.openxmlformats.org/officeDocument/2006/relationships/tags" Target="../tags/tag188.xml"/><Relationship Id="rId16" Type="http://schemas.openxmlformats.org/officeDocument/2006/relationships/notesSlide" Target="../notesSlides/notesSlide39.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tags" Target="../tags/tag197.xml"/><Relationship Id="rId5" Type="http://schemas.openxmlformats.org/officeDocument/2006/relationships/tags" Target="../tags/tag191.xml"/><Relationship Id="rId15" Type="http://schemas.openxmlformats.org/officeDocument/2006/relationships/slideLayout" Target="../slideLayouts/slideLayout18.xml"/><Relationship Id="rId10" Type="http://schemas.openxmlformats.org/officeDocument/2006/relationships/tags" Target="../tags/tag196.xml"/><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tags" Target="../tags/tag200.xml"/></Relationships>
</file>

<file path=ppt/slides/_rels/slide57.xml.rels><?xml version="1.0" encoding="UTF-8" standalone="yes"?>
<Relationships xmlns="http://schemas.openxmlformats.org/package/2006/relationships"><Relationship Id="rId8" Type="http://schemas.openxmlformats.org/officeDocument/2006/relationships/tags" Target="../tags/tag208.xml"/><Relationship Id="rId13" Type="http://schemas.openxmlformats.org/officeDocument/2006/relationships/tags" Target="../tags/tag213.xml"/><Relationship Id="rId3" Type="http://schemas.openxmlformats.org/officeDocument/2006/relationships/tags" Target="../tags/tag203.xml"/><Relationship Id="rId7" Type="http://schemas.openxmlformats.org/officeDocument/2006/relationships/tags" Target="../tags/tag207.xml"/><Relationship Id="rId12" Type="http://schemas.openxmlformats.org/officeDocument/2006/relationships/tags" Target="../tags/tag212.xml"/><Relationship Id="rId17" Type="http://schemas.openxmlformats.org/officeDocument/2006/relationships/image" Target="../media/image106.tmp"/><Relationship Id="rId2" Type="http://schemas.openxmlformats.org/officeDocument/2006/relationships/tags" Target="../tags/tag202.xml"/><Relationship Id="rId16" Type="http://schemas.openxmlformats.org/officeDocument/2006/relationships/notesSlide" Target="../notesSlides/notesSlide40.xml"/><Relationship Id="rId1" Type="http://schemas.openxmlformats.org/officeDocument/2006/relationships/tags" Target="../tags/tag201.xml"/><Relationship Id="rId6" Type="http://schemas.openxmlformats.org/officeDocument/2006/relationships/tags" Target="../tags/tag206.xml"/><Relationship Id="rId11" Type="http://schemas.openxmlformats.org/officeDocument/2006/relationships/tags" Target="../tags/tag211.xml"/><Relationship Id="rId5" Type="http://schemas.openxmlformats.org/officeDocument/2006/relationships/tags" Target="../tags/tag205.xml"/><Relationship Id="rId15" Type="http://schemas.openxmlformats.org/officeDocument/2006/relationships/slideLayout" Target="../slideLayouts/slideLayout18.xml"/><Relationship Id="rId10" Type="http://schemas.openxmlformats.org/officeDocument/2006/relationships/tags" Target="../tags/tag210.xml"/><Relationship Id="rId4" Type="http://schemas.openxmlformats.org/officeDocument/2006/relationships/tags" Target="../tags/tag204.xml"/><Relationship Id="rId9" Type="http://schemas.openxmlformats.org/officeDocument/2006/relationships/tags" Target="../tags/tag209.xml"/><Relationship Id="rId14" Type="http://schemas.openxmlformats.org/officeDocument/2006/relationships/tags" Target="../tags/tag214.xml"/></Relationships>
</file>

<file path=ppt/slides/_rels/slide58.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3" Type="http://schemas.openxmlformats.org/officeDocument/2006/relationships/tags" Target="../tags/tag217.xml"/><Relationship Id="rId7" Type="http://schemas.openxmlformats.org/officeDocument/2006/relationships/tags" Target="../tags/tag221.xml"/><Relationship Id="rId12" Type="http://schemas.openxmlformats.org/officeDocument/2006/relationships/tags" Target="../tags/tag226.xml"/><Relationship Id="rId2" Type="http://schemas.openxmlformats.org/officeDocument/2006/relationships/tags" Target="../tags/tag216.xml"/><Relationship Id="rId16" Type="http://schemas.openxmlformats.org/officeDocument/2006/relationships/image" Target="../media/image106.tmp"/><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5" Type="http://schemas.openxmlformats.org/officeDocument/2006/relationships/tags" Target="../tags/tag219.xml"/><Relationship Id="rId15" Type="http://schemas.openxmlformats.org/officeDocument/2006/relationships/slideLayout" Target="../slideLayouts/slideLayout18.xml"/><Relationship Id="rId10" Type="http://schemas.openxmlformats.org/officeDocument/2006/relationships/tags" Target="../tags/tag224.xml"/><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s>
</file>

<file path=ppt/slides/_rels/slide59.xml.rels><?xml version="1.0" encoding="UTF-8" standalone="yes"?>
<Relationships xmlns="http://schemas.openxmlformats.org/package/2006/relationships"><Relationship Id="rId8" Type="http://schemas.openxmlformats.org/officeDocument/2006/relationships/tags" Target="../tags/tag236.xml"/><Relationship Id="rId13" Type="http://schemas.openxmlformats.org/officeDocument/2006/relationships/tags" Target="../tags/tag241.xml"/><Relationship Id="rId3" Type="http://schemas.openxmlformats.org/officeDocument/2006/relationships/tags" Target="../tags/tag231.xml"/><Relationship Id="rId7" Type="http://schemas.openxmlformats.org/officeDocument/2006/relationships/tags" Target="../tags/tag235.xml"/><Relationship Id="rId12" Type="http://schemas.openxmlformats.org/officeDocument/2006/relationships/tags" Target="../tags/tag240.xml"/><Relationship Id="rId2" Type="http://schemas.openxmlformats.org/officeDocument/2006/relationships/tags" Target="../tags/tag230.xml"/><Relationship Id="rId16" Type="http://schemas.openxmlformats.org/officeDocument/2006/relationships/image" Target="../media/image106.tmp"/><Relationship Id="rId1" Type="http://schemas.openxmlformats.org/officeDocument/2006/relationships/tags" Target="../tags/tag229.xml"/><Relationship Id="rId6" Type="http://schemas.openxmlformats.org/officeDocument/2006/relationships/tags" Target="../tags/tag234.xml"/><Relationship Id="rId11" Type="http://schemas.openxmlformats.org/officeDocument/2006/relationships/tags" Target="../tags/tag239.xml"/><Relationship Id="rId5" Type="http://schemas.openxmlformats.org/officeDocument/2006/relationships/tags" Target="../tags/tag233.xml"/><Relationship Id="rId15" Type="http://schemas.openxmlformats.org/officeDocument/2006/relationships/slideLayout" Target="../slideLayouts/slideLayout18.xml"/><Relationship Id="rId10" Type="http://schemas.openxmlformats.org/officeDocument/2006/relationships/tags" Target="../tags/tag238.xml"/><Relationship Id="rId4" Type="http://schemas.openxmlformats.org/officeDocument/2006/relationships/tags" Target="../tags/tag232.xml"/><Relationship Id="rId9" Type="http://schemas.openxmlformats.org/officeDocument/2006/relationships/tags" Target="../tags/tag237.xml"/><Relationship Id="rId14" Type="http://schemas.openxmlformats.org/officeDocument/2006/relationships/tags" Target="../tags/tag242.xml"/></Relationships>
</file>

<file path=ppt/slides/_rels/slide60.xml.rels><?xml version="1.0" encoding="UTF-8" standalone="yes"?>
<Relationships xmlns="http://schemas.openxmlformats.org/package/2006/relationships"><Relationship Id="rId8" Type="http://schemas.openxmlformats.org/officeDocument/2006/relationships/tags" Target="../tags/tag250.xml"/><Relationship Id="rId13" Type="http://schemas.openxmlformats.org/officeDocument/2006/relationships/tags" Target="../tags/tag255.xml"/><Relationship Id="rId3" Type="http://schemas.openxmlformats.org/officeDocument/2006/relationships/tags" Target="../tags/tag245.xml"/><Relationship Id="rId7" Type="http://schemas.openxmlformats.org/officeDocument/2006/relationships/tags" Target="../tags/tag249.xml"/><Relationship Id="rId12" Type="http://schemas.openxmlformats.org/officeDocument/2006/relationships/tags" Target="../tags/tag254.xml"/><Relationship Id="rId2" Type="http://schemas.openxmlformats.org/officeDocument/2006/relationships/tags" Target="../tags/tag244.xml"/><Relationship Id="rId16" Type="http://schemas.openxmlformats.org/officeDocument/2006/relationships/image" Target="../media/image106.tmp"/><Relationship Id="rId1" Type="http://schemas.openxmlformats.org/officeDocument/2006/relationships/tags" Target="../tags/tag243.xml"/><Relationship Id="rId6" Type="http://schemas.openxmlformats.org/officeDocument/2006/relationships/tags" Target="../tags/tag248.xml"/><Relationship Id="rId11" Type="http://schemas.openxmlformats.org/officeDocument/2006/relationships/tags" Target="../tags/tag253.xml"/><Relationship Id="rId5" Type="http://schemas.openxmlformats.org/officeDocument/2006/relationships/tags" Target="../tags/tag247.xml"/><Relationship Id="rId15" Type="http://schemas.openxmlformats.org/officeDocument/2006/relationships/slideLayout" Target="../slideLayouts/slideLayout18.xml"/><Relationship Id="rId10" Type="http://schemas.openxmlformats.org/officeDocument/2006/relationships/tags" Target="../tags/tag252.xml"/><Relationship Id="rId4" Type="http://schemas.openxmlformats.org/officeDocument/2006/relationships/tags" Target="../tags/tag246.xml"/><Relationship Id="rId9" Type="http://schemas.openxmlformats.org/officeDocument/2006/relationships/tags" Target="../tags/tag251.xml"/><Relationship Id="rId14" Type="http://schemas.openxmlformats.org/officeDocument/2006/relationships/tags" Target="../tags/tag256.xml"/></Relationships>
</file>

<file path=ppt/slides/_rels/slide61.xml.rels><?xml version="1.0" encoding="UTF-8" standalone="yes"?>
<Relationships xmlns="http://schemas.openxmlformats.org/package/2006/relationships"><Relationship Id="rId2" Type="http://schemas.openxmlformats.org/officeDocument/2006/relationships/image" Target="../media/image107.gif"/><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96.bin"/><Relationship Id="rId13" Type="http://schemas.openxmlformats.org/officeDocument/2006/relationships/oleObject" Target="../embeddings/oleObject99.bin"/><Relationship Id="rId18" Type="http://schemas.openxmlformats.org/officeDocument/2006/relationships/oleObject" Target="../embeddings/oleObject102.bin"/><Relationship Id="rId3" Type="http://schemas.openxmlformats.org/officeDocument/2006/relationships/notesSlide" Target="../notesSlides/notesSlide41.xml"/><Relationship Id="rId7" Type="http://schemas.openxmlformats.org/officeDocument/2006/relationships/image" Target="../media/image109.wmf"/><Relationship Id="rId12" Type="http://schemas.openxmlformats.org/officeDocument/2006/relationships/oleObject" Target="../embeddings/oleObject98.bin"/><Relationship Id="rId17" Type="http://schemas.openxmlformats.org/officeDocument/2006/relationships/image" Target="../media/image113.wmf"/><Relationship Id="rId2" Type="http://schemas.openxmlformats.org/officeDocument/2006/relationships/slideLayout" Target="../slideLayouts/slideLayout13.xml"/><Relationship Id="rId16" Type="http://schemas.openxmlformats.org/officeDocument/2006/relationships/oleObject" Target="../embeddings/oleObject101.bin"/><Relationship Id="rId1" Type="http://schemas.openxmlformats.org/officeDocument/2006/relationships/vmlDrawing" Target="../drawings/vmlDrawing20.vml"/><Relationship Id="rId6" Type="http://schemas.openxmlformats.org/officeDocument/2006/relationships/oleObject" Target="../embeddings/oleObject95.bin"/><Relationship Id="rId11" Type="http://schemas.openxmlformats.org/officeDocument/2006/relationships/image" Target="../media/image111.wmf"/><Relationship Id="rId5" Type="http://schemas.openxmlformats.org/officeDocument/2006/relationships/image" Target="../media/image108.wmf"/><Relationship Id="rId15" Type="http://schemas.openxmlformats.org/officeDocument/2006/relationships/image" Target="../media/image112.wmf"/><Relationship Id="rId10" Type="http://schemas.openxmlformats.org/officeDocument/2006/relationships/oleObject" Target="../embeddings/oleObject97.bin"/><Relationship Id="rId19" Type="http://schemas.openxmlformats.org/officeDocument/2006/relationships/image" Target="../media/image114.wmf"/><Relationship Id="rId4" Type="http://schemas.openxmlformats.org/officeDocument/2006/relationships/oleObject" Target="../embeddings/oleObject94.bin"/><Relationship Id="rId9" Type="http://schemas.openxmlformats.org/officeDocument/2006/relationships/image" Target="../media/image110.wmf"/><Relationship Id="rId14" Type="http://schemas.openxmlformats.org/officeDocument/2006/relationships/oleObject" Target="../embeddings/oleObject100.bin"/></Relationships>
</file>

<file path=ppt/slides/_rels/slide6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116.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3.xml"/><Relationship Id="rId7" Type="http://schemas.openxmlformats.org/officeDocument/2006/relationships/image" Target="../media/image118.emf"/><Relationship Id="rId2" Type="http://schemas.openxmlformats.org/officeDocument/2006/relationships/slideLayout" Target="../slideLayouts/slideLayout13.xml"/><Relationship Id="rId1" Type="http://schemas.openxmlformats.org/officeDocument/2006/relationships/vmlDrawing" Target="../drawings/vmlDrawing21.vml"/><Relationship Id="rId6" Type="http://schemas.openxmlformats.org/officeDocument/2006/relationships/oleObject" Target="../embeddings/oleObject104.bin"/><Relationship Id="rId5" Type="http://schemas.openxmlformats.org/officeDocument/2006/relationships/image" Target="../media/image117.emf"/><Relationship Id="rId4" Type="http://schemas.openxmlformats.org/officeDocument/2006/relationships/oleObject" Target="../embeddings/oleObject103.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107.bin"/><Relationship Id="rId3" Type="http://schemas.openxmlformats.org/officeDocument/2006/relationships/notesSlide" Target="../notesSlides/notesSlide44.xml"/><Relationship Id="rId7" Type="http://schemas.openxmlformats.org/officeDocument/2006/relationships/image" Target="../media/image120.emf"/><Relationship Id="rId2" Type="http://schemas.openxmlformats.org/officeDocument/2006/relationships/slideLayout" Target="../slideLayouts/slideLayout13.xml"/><Relationship Id="rId1" Type="http://schemas.openxmlformats.org/officeDocument/2006/relationships/vmlDrawing" Target="../drawings/vmlDrawing22.vml"/><Relationship Id="rId6" Type="http://schemas.openxmlformats.org/officeDocument/2006/relationships/oleObject" Target="../embeddings/oleObject106.bin"/><Relationship Id="rId5" Type="http://schemas.openxmlformats.org/officeDocument/2006/relationships/image" Target="../media/image119.emf"/><Relationship Id="rId4" Type="http://schemas.openxmlformats.org/officeDocument/2006/relationships/oleObject" Target="../embeddings/oleObject105.bin"/><Relationship Id="rId9" Type="http://schemas.openxmlformats.org/officeDocument/2006/relationships/image" Target="../media/image121.w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12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107.gif"/><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110.bin"/><Relationship Id="rId13" Type="http://schemas.openxmlformats.org/officeDocument/2006/relationships/image" Target="../media/image129.wmf"/><Relationship Id="rId3" Type="http://schemas.openxmlformats.org/officeDocument/2006/relationships/notesSlide" Target="../notesSlides/notesSlide50.xml"/><Relationship Id="rId7" Type="http://schemas.openxmlformats.org/officeDocument/2006/relationships/image" Target="../media/image126.wmf"/><Relationship Id="rId12" Type="http://schemas.openxmlformats.org/officeDocument/2006/relationships/oleObject" Target="../embeddings/oleObject112.bin"/><Relationship Id="rId2" Type="http://schemas.openxmlformats.org/officeDocument/2006/relationships/slideLayout" Target="../slideLayouts/slideLayout13.xml"/><Relationship Id="rId1" Type="http://schemas.openxmlformats.org/officeDocument/2006/relationships/vmlDrawing" Target="../drawings/vmlDrawing23.vml"/><Relationship Id="rId6" Type="http://schemas.openxmlformats.org/officeDocument/2006/relationships/oleObject" Target="../embeddings/oleObject109.bin"/><Relationship Id="rId11" Type="http://schemas.openxmlformats.org/officeDocument/2006/relationships/image" Target="../media/image128.wmf"/><Relationship Id="rId5" Type="http://schemas.openxmlformats.org/officeDocument/2006/relationships/image" Target="../media/image125.wmf"/><Relationship Id="rId15" Type="http://schemas.openxmlformats.org/officeDocument/2006/relationships/image" Target="../media/image130.wmf"/><Relationship Id="rId10" Type="http://schemas.openxmlformats.org/officeDocument/2006/relationships/oleObject" Target="../embeddings/oleObject111.bin"/><Relationship Id="rId4" Type="http://schemas.openxmlformats.org/officeDocument/2006/relationships/oleObject" Target="../embeddings/oleObject108.bin"/><Relationship Id="rId9" Type="http://schemas.openxmlformats.org/officeDocument/2006/relationships/image" Target="../media/image127.wmf"/><Relationship Id="rId14" Type="http://schemas.openxmlformats.org/officeDocument/2006/relationships/oleObject" Target="../embeddings/oleObject113.bin"/></Relationships>
</file>

<file path=ppt/slides/_rels/slide74.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132.png"/></Relationships>
</file>

<file path=ppt/slides/_rels/slide7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134.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vmlDrawing" Target="../drawings/vmlDrawing24.vml"/><Relationship Id="rId6" Type="http://schemas.openxmlformats.org/officeDocument/2006/relationships/image" Target="../media/image136.png"/><Relationship Id="rId5" Type="http://schemas.openxmlformats.org/officeDocument/2006/relationships/image" Target="../media/image135.emf"/><Relationship Id="rId4" Type="http://schemas.openxmlformats.org/officeDocument/2006/relationships/oleObject" Target="../embeddings/oleObject114.bin"/></Relationships>
</file>

<file path=ppt/slides/_rels/slide77.xml.rels><?xml version="1.0" encoding="UTF-8" standalone="yes"?>
<Relationships xmlns="http://schemas.openxmlformats.org/package/2006/relationships"><Relationship Id="rId8" Type="http://schemas.openxmlformats.org/officeDocument/2006/relationships/oleObject" Target="../embeddings/oleObject117.bin"/><Relationship Id="rId13" Type="http://schemas.openxmlformats.org/officeDocument/2006/relationships/image" Target="../media/image141.wmf"/><Relationship Id="rId3" Type="http://schemas.openxmlformats.org/officeDocument/2006/relationships/notesSlide" Target="../notesSlides/notesSlide54.xml"/><Relationship Id="rId7" Type="http://schemas.openxmlformats.org/officeDocument/2006/relationships/image" Target="../media/image138.wmf"/><Relationship Id="rId12" Type="http://schemas.openxmlformats.org/officeDocument/2006/relationships/oleObject" Target="../embeddings/oleObject119.bin"/><Relationship Id="rId2" Type="http://schemas.openxmlformats.org/officeDocument/2006/relationships/slideLayout" Target="../slideLayouts/slideLayout13.xml"/><Relationship Id="rId1" Type="http://schemas.openxmlformats.org/officeDocument/2006/relationships/vmlDrawing" Target="../drawings/vmlDrawing25.vml"/><Relationship Id="rId6" Type="http://schemas.openxmlformats.org/officeDocument/2006/relationships/oleObject" Target="../embeddings/oleObject116.bin"/><Relationship Id="rId11" Type="http://schemas.openxmlformats.org/officeDocument/2006/relationships/image" Target="../media/image140.wmf"/><Relationship Id="rId5" Type="http://schemas.openxmlformats.org/officeDocument/2006/relationships/image" Target="../media/image137.wmf"/><Relationship Id="rId15" Type="http://schemas.openxmlformats.org/officeDocument/2006/relationships/image" Target="../media/image142.wmf"/><Relationship Id="rId10" Type="http://schemas.openxmlformats.org/officeDocument/2006/relationships/oleObject" Target="../embeddings/oleObject118.bin"/><Relationship Id="rId4" Type="http://schemas.openxmlformats.org/officeDocument/2006/relationships/oleObject" Target="../embeddings/oleObject115.bin"/><Relationship Id="rId9" Type="http://schemas.openxmlformats.org/officeDocument/2006/relationships/image" Target="../media/image139.wmf"/><Relationship Id="rId14" Type="http://schemas.openxmlformats.org/officeDocument/2006/relationships/oleObject" Target="../embeddings/oleObject120.bin"/></Relationships>
</file>

<file path=ppt/slides/_rels/slide78.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55.xml"/><Relationship Id="rId1" Type="http://schemas.openxmlformats.org/officeDocument/2006/relationships/slideLayout" Target="../slideLayouts/slideLayout13.xml"/><Relationship Id="rId5" Type="http://schemas.openxmlformats.org/officeDocument/2006/relationships/image" Target="../media/image145.png"/><Relationship Id="rId4" Type="http://schemas.openxmlformats.org/officeDocument/2006/relationships/image" Target="../media/image144.png"/></Relationships>
</file>

<file path=ppt/slides/_rels/slide79.xml.rels><?xml version="1.0" encoding="UTF-8" standalone="yes"?>
<Relationships xmlns="http://schemas.openxmlformats.org/package/2006/relationships"><Relationship Id="rId8" Type="http://schemas.openxmlformats.org/officeDocument/2006/relationships/oleObject" Target="../embeddings/oleObject123.bin"/><Relationship Id="rId3" Type="http://schemas.openxmlformats.org/officeDocument/2006/relationships/notesSlide" Target="../notesSlides/notesSlide56.xml"/><Relationship Id="rId7" Type="http://schemas.openxmlformats.org/officeDocument/2006/relationships/image" Target="../media/image147.emf"/><Relationship Id="rId2" Type="http://schemas.openxmlformats.org/officeDocument/2006/relationships/slideLayout" Target="../slideLayouts/slideLayout13.xml"/><Relationship Id="rId1" Type="http://schemas.openxmlformats.org/officeDocument/2006/relationships/vmlDrawing" Target="../drawings/vmlDrawing26.vml"/><Relationship Id="rId6" Type="http://schemas.openxmlformats.org/officeDocument/2006/relationships/oleObject" Target="../embeddings/oleObject122.bin"/><Relationship Id="rId11" Type="http://schemas.openxmlformats.org/officeDocument/2006/relationships/image" Target="../media/image149.emf"/><Relationship Id="rId5" Type="http://schemas.openxmlformats.org/officeDocument/2006/relationships/image" Target="../media/image146.emf"/><Relationship Id="rId10" Type="http://schemas.openxmlformats.org/officeDocument/2006/relationships/oleObject" Target="../embeddings/oleObject124.bin"/><Relationship Id="rId4" Type="http://schemas.openxmlformats.org/officeDocument/2006/relationships/oleObject" Target="../embeddings/oleObject121.bin"/><Relationship Id="rId9" Type="http://schemas.openxmlformats.org/officeDocument/2006/relationships/image" Target="../media/image148.emf"/></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127.bin"/><Relationship Id="rId13" Type="http://schemas.openxmlformats.org/officeDocument/2006/relationships/image" Target="../media/image154.wmf"/><Relationship Id="rId18" Type="http://schemas.openxmlformats.org/officeDocument/2006/relationships/oleObject" Target="../embeddings/oleObject132.bin"/><Relationship Id="rId3" Type="http://schemas.openxmlformats.org/officeDocument/2006/relationships/notesSlide" Target="../notesSlides/notesSlide57.xml"/><Relationship Id="rId7" Type="http://schemas.openxmlformats.org/officeDocument/2006/relationships/image" Target="../media/image151.wmf"/><Relationship Id="rId12" Type="http://schemas.openxmlformats.org/officeDocument/2006/relationships/oleObject" Target="../embeddings/oleObject129.bin"/><Relationship Id="rId17" Type="http://schemas.openxmlformats.org/officeDocument/2006/relationships/image" Target="../media/image156.wmf"/><Relationship Id="rId2" Type="http://schemas.openxmlformats.org/officeDocument/2006/relationships/slideLayout" Target="../slideLayouts/slideLayout13.xml"/><Relationship Id="rId16" Type="http://schemas.openxmlformats.org/officeDocument/2006/relationships/oleObject" Target="../embeddings/oleObject131.bin"/><Relationship Id="rId1" Type="http://schemas.openxmlformats.org/officeDocument/2006/relationships/vmlDrawing" Target="../drawings/vmlDrawing27.vml"/><Relationship Id="rId6" Type="http://schemas.openxmlformats.org/officeDocument/2006/relationships/oleObject" Target="../embeddings/oleObject126.bin"/><Relationship Id="rId11" Type="http://schemas.openxmlformats.org/officeDocument/2006/relationships/image" Target="../media/image153.wmf"/><Relationship Id="rId5" Type="http://schemas.openxmlformats.org/officeDocument/2006/relationships/image" Target="../media/image150.wmf"/><Relationship Id="rId15" Type="http://schemas.openxmlformats.org/officeDocument/2006/relationships/image" Target="../media/image155.wmf"/><Relationship Id="rId10" Type="http://schemas.openxmlformats.org/officeDocument/2006/relationships/oleObject" Target="../embeddings/oleObject128.bin"/><Relationship Id="rId19" Type="http://schemas.openxmlformats.org/officeDocument/2006/relationships/image" Target="../media/image157.wmf"/><Relationship Id="rId4" Type="http://schemas.openxmlformats.org/officeDocument/2006/relationships/oleObject" Target="../embeddings/oleObject125.bin"/><Relationship Id="rId9" Type="http://schemas.openxmlformats.org/officeDocument/2006/relationships/image" Target="../media/image152.wmf"/><Relationship Id="rId14" Type="http://schemas.openxmlformats.org/officeDocument/2006/relationships/oleObject" Target="../embeddings/oleObject130.bin"/></Relationships>
</file>

<file path=ppt/slides/_rels/slide8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159.png"/></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135.bin"/><Relationship Id="rId3" Type="http://schemas.openxmlformats.org/officeDocument/2006/relationships/notesSlide" Target="../notesSlides/notesSlide59.xml"/><Relationship Id="rId7" Type="http://schemas.openxmlformats.org/officeDocument/2006/relationships/image" Target="../media/image161.wmf"/><Relationship Id="rId2" Type="http://schemas.openxmlformats.org/officeDocument/2006/relationships/slideLayout" Target="../slideLayouts/slideLayout13.xml"/><Relationship Id="rId1" Type="http://schemas.openxmlformats.org/officeDocument/2006/relationships/vmlDrawing" Target="../drawings/vmlDrawing28.vml"/><Relationship Id="rId6" Type="http://schemas.openxmlformats.org/officeDocument/2006/relationships/oleObject" Target="../embeddings/oleObject134.bin"/><Relationship Id="rId11" Type="http://schemas.openxmlformats.org/officeDocument/2006/relationships/image" Target="../media/image163.wmf"/><Relationship Id="rId5" Type="http://schemas.openxmlformats.org/officeDocument/2006/relationships/image" Target="../media/image160.wmf"/><Relationship Id="rId10" Type="http://schemas.openxmlformats.org/officeDocument/2006/relationships/oleObject" Target="../embeddings/oleObject136.bin"/><Relationship Id="rId4" Type="http://schemas.openxmlformats.org/officeDocument/2006/relationships/oleObject" Target="../embeddings/oleObject133.bin"/><Relationship Id="rId9" Type="http://schemas.openxmlformats.org/officeDocument/2006/relationships/image" Target="../media/image162.wmf"/></Relationships>
</file>

<file path=ppt/slides/_rels/slide83.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60.xml"/><Relationship Id="rId1" Type="http://schemas.openxmlformats.org/officeDocument/2006/relationships/slideLayout" Target="../slideLayouts/slideLayout13.xml"/><Relationship Id="rId4" Type="http://schemas.openxmlformats.org/officeDocument/2006/relationships/image" Target="../media/image165.png"/></Relationships>
</file>

<file path=ppt/slides/_rels/slide84.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107.gif"/><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139.bin"/><Relationship Id="rId13" Type="http://schemas.openxmlformats.org/officeDocument/2006/relationships/image" Target="../media/image171.wmf"/><Relationship Id="rId18" Type="http://schemas.openxmlformats.org/officeDocument/2006/relationships/oleObject" Target="../embeddings/oleObject144.bin"/><Relationship Id="rId3" Type="http://schemas.openxmlformats.org/officeDocument/2006/relationships/notesSlide" Target="../notesSlides/notesSlide63.xml"/><Relationship Id="rId7" Type="http://schemas.openxmlformats.org/officeDocument/2006/relationships/image" Target="../media/image168.wmf"/><Relationship Id="rId12" Type="http://schemas.openxmlformats.org/officeDocument/2006/relationships/oleObject" Target="../embeddings/oleObject141.bin"/><Relationship Id="rId17" Type="http://schemas.openxmlformats.org/officeDocument/2006/relationships/image" Target="../media/image173.wmf"/><Relationship Id="rId2" Type="http://schemas.openxmlformats.org/officeDocument/2006/relationships/slideLayout" Target="../slideLayouts/slideLayout13.xml"/><Relationship Id="rId16" Type="http://schemas.openxmlformats.org/officeDocument/2006/relationships/oleObject" Target="../embeddings/oleObject143.bin"/><Relationship Id="rId1" Type="http://schemas.openxmlformats.org/officeDocument/2006/relationships/vmlDrawing" Target="../drawings/vmlDrawing29.vml"/><Relationship Id="rId6" Type="http://schemas.openxmlformats.org/officeDocument/2006/relationships/oleObject" Target="../embeddings/oleObject138.bin"/><Relationship Id="rId11" Type="http://schemas.openxmlformats.org/officeDocument/2006/relationships/image" Target="../media/image170.wmf"/><Relationship Id="rId5" Type="http://schemas.openxmlformats.org/officeDocument/2006/relationships/image" Target="../media/image167.wmf"/><Relationship Id="rId15" Type="http://schemas.openxmlformats.org/officeDocument/2006/relationships/image" Target="../media/image172.wmf"/><Relationship Id="rId10" Type="http://schemas.openxmlformats.org/officeDocument/2006/relationships/oleObject" Target="../embeddings/oleObject140.bin"/><Relationship Id="rId19" Type="http://schemas.openxmlformats.org/officeDocument/2006/relationships/image" Target="../media/image174.wmf"/><Relationship Id="rId4" Type="http://schemas.openxmlformats.org/officeDocument/2006/relationships/oleObject" Target="../embeddings/oleObject137.bin"/><Relationship Id="rId9" Type="http://schemas.openxmlformats.org/officeDocument/2006/relationships/image" Target="../media/image169.wmf"/><Relationship Id="rId14" Type="http://schemas.openxmlformats.org/officeDocument/2006/relationships/oleObject" Target="../embeddings/oleObject142.bin"/></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vmlDrawing" Target="../drawings/vmlDrawing30.vml"/><Relationship Id="rId6" Type="http://schemas.openxmlformats.org/officeDocument/2006/relationships/image" Target="../media/image176.png"/><Relationship Id="rId5" Type="http://schemas.openxmlformats.org/officeDocument/2006/relationships/image" Target="../media/image175.wmf"/><Relationship Id="rId4" Type="http://schemas.openxmlformats.org/officeDocument/2006/relationships/oleObject" Target="../embeddings/oleObject145.bin"/></Relationships>
</file>

<file path=ppt/slides/_rels/slide89.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8" Type="http://schemas.openxmlformats.org/officeDocument/2006/relationships/oleObject" Target="../embeddings/oleObject148.bin"/><Relationship Id="rId13" Type="http://schemas.openxmlformats.org/officeDocument/2006/relationships/image" Target="../media/image182.wmf"/><Relationship Id="rId3" Type="http://schemas.openxmlformats.org/officeDocument/2006/relationships/notesSlide" Target="../notesSlides/notesSlide66.xml"/><Relationship Id="rId7" Type="http://schemas.openxmlformats.org/officeDocument/2006/relationships/image" Target="../media/image179.wmf"/><Relationship Id="rId12" Type="http://schemas.openxmlformats.org/officeDocument/2006/relationships/oleObject" Target="../embeddings/oleObject150.bin"/><Relationship Id="rId2" Type="http://schemas.openxmlformats.org/officeDocument/2006/relationships/slideLayout" Target="../slideLayouts/slideLayout13.xml"/><Relationship Id="rId1" Type="http://schemas.openxmlformats.org/officeDocument/2006/relationships/vmlDrawing" Target="../drawings/vmlDrawing31.vml"/><Relationship Id="rId6" Type="http://schemas.openxmlformats.org/officeDocument/2006/relationships/oleObject" Target="../embeddings/oleObject147.bin"/><Relationship Id="rId11" Type="http://schemas.openxmlformats.org/officeDocument/2006/relationships/image" Target="../media/image181.wmf"/><Relationship Id="rId5" Type="http://schemas.openxmlformats.org/officeDocument/2006/relationships/image" Target="../media/image178.wmf"/><Relationship Id="rId10" Type="http://schemas.openxmlformats.org/officeDocument/2006/relationships/oleObject" Target="../embeddings/oleObject149.bin"/><Relationship Id="rId4" Type="http://schemas.openxmlformats.org/officeDocument/2006/relationships/oleObject" Target="../embeddings/oleObject146.bin"/><Relationship Id="rId9" Type="http://schemas.openxmlformats.org/officeDocument/2006/relationships/image" Target="../media/image180.wmf"/></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vmlDrawing" Target="../drawings/vmlDrawing32.vml"/><Relationship Id="rId6" Type="http://schemas.openxmlformats.org/officeDocument/2006/relationships/image" Target="../media/image184.jpeg"/><Relationship Id="rId5" Type="http://schemas.openxmlformats.org/officeDocument/2006/relationships/image" Target="../media/image183.wmf"/><Relationship Id="rId4" Type="http://schemas.openxmlformats.org/officeDocument/2006/relationships/oleObject" Target="../embeddings/oleObject151.bin"/></Relationships>
</file>

<file path=ppt/slides/_rels/slide93.xml.rels><?xml version="1.0" encoding="UTF-8" standalone="yes"?>
<Relationships xmlns="http://schemas.openxmlformats.org/package/2006/relationships"><Relationship Id="rId3" Type="http://schemas.openxmlformats.org/officeDocument/2006/relationships/image" Target="../media/image185.jpeg"/><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70.xml"/><Relationship Id="rId1" Type="http://schemas.openxmlformats.org/officeDocument/2006/relationships/slideLayout" Target="../slideLayouts/slideLayout13.xml"/><Relationship Id="rId4" Type="http://schemas.openxmlformats.org/officeDocument/2006/relationships/image" Target="../media/image187.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8" Type="http://schemas.openxmlformats.org/officeDocument/2006/relationships/oleObject" Target="../embeddings/oleObject154.bin"/><Relationship Id="rId3" Type="http://schemas.openxmlformats.org/officeDocument/2006/relationships/notesSlide" Target="../notesSlides/notesSlide72.xml"/><Relationship Id="rId7" Type="http://schemas.openxmlformats.org/officeDocument/2006/relationships/image" Target="../media/image189.wmf"/><Relationship Id="rId2" Type="http://schemas.openxmlformats.org/officeDocument/2006/relationships/slideLayout" Target="../slideLayouts/slideLayout13.xml"/><Relationship Id="rId1" Type="http://schemas.openxmlformats.org/officeDocument/2006/relationships/vmlDrawing" Target="../drawings/vmlDrawing33.vml"/><Relationship Id="rId6" Type="http://schemas.openxmlformats.org/officeDocument/2006/relationships/oleObject" Target="../embeddings/oleObject153.bin"/><Relationship Id="rId5" Type="http://schemas.openxmlformats.org/officeDocument/2006/relationships/image" Target="../media/image188.wmf"/><Relationship Id="rId4" Type="http://schemas.openxmlformats.org/officeDocument/2006/relationships/oleObject" Target="../embeddings/oleObject152.bin"/><Relationship Id="rId9" Type="http://schemas.openxmlformats.org/officeDocument/2006/relationships/image" Target="../media/image190.wmf"/></Relationships>
</file>

<file path=ppt/slides/_rels/slide97.xml.rels><?xml version="1.0" encoding="UTF-8" standalone="yes"?>
<Relationships xmlns="http://schemas.openxmlformats.org/package/2006/relationships"><Relationship Id="rId3" Type="http://schemas.openxmlformats.org/officeDocument/2006/relationships/image" Target="../media/image191.gif"/><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基本知识点复习</a:t>
            </a:r>
            <a:endParaRPr lang="zh-CN" altLang="en-US" dirty="0"/>
          </a:p>
        </p:txBody>
      </p:sp>
    </p:spTree>
    <p:extLst>
      <p:ext uri="{BB962C8B-B14F-4D97-AF65-F5344CB8AC3E}">
        <p14:creationId xmlns:p14="http://schemas.microsoft.com/office/powerpoint/2010/main" val="12389840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203848" y="2348880"/>
            <a:ext cx="2664296" cy="584775"/>
          </a:xfrm>
          <a:prstGeom prst="rect">
            <a:avLst/>
          </a:prstGeom>
          <a:noFill/>
        </p:spPr>
        <p:txBody>
          <a:bodyPr wrap="square" rtlCol="0">
            <a:spAutoFit/>
          </a:bodyPr>
          <a:lstStyle/>
          <a:p>
            <a:r>
              <a:rPr lang="zh-CN" altLang="en-US" sz="3200" b="1" dirty="0"/>
              <a:t>第一</a:t>
            </a:r>
            <a:r>
              <a:rPr lang="zh-CN" altLang="en-US" sz="3200" b="1" dirty="0" smtClean="0"/>
              <a:t>章  绪论</a:t>
            </a:r>
            <a:endParaRPr lang="zh-CN" altLang="en-US" sz="3200" b="1" dirty="0"/>
          </a:p>
        </p:txBody>
      </p:sp>
    </p:spTree>
    <p:extLst>
      <p:ext uri="{BB962C8B-B14F-4D97-AF65-F5344CB8AC3E}">
        <p14:creationId xmlns:p14="http://schemas.microsoft.com/office/powerpoint/2010/main" val="11563362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3</a:t>
            </a:fld>
            <a:endParaRPr lang="en-US" altLang="zh-CN" dirty="0">
              <a:solidFill>
                <a:srgbClr val="000000"/>
              </a:solidFill>
            </a:endParaRPr>
          </a:p>
        </p:txBody>
      </p:sp>
      <p:sp>
        <p:nvSpPr>
          <p:cNvPr id="21" name="内容占位符 20"/>
          <p:cNvSpPr>
            <a:spLocks noGrp="1"/>
          </p:cNvSpPr>
          <p:nvPr>
            <p:ph idx="1"/>
          </p:nvPr>
        </p:nvSpPr>
        <p:spPr>
          <a:xfrm>
            <a:off x="395536" y="260648"/>
            <a:ext cx="6309943" cy="648072"/>
          </a:xfrm>
          <a:solidFill>
            <a:srgbClr val="862714"/>
          </a:solidFill>
        </p:spPr>
        <p:txBody>
          <a:bodyPr/>
          <a:lstStyle/>
          <a:p>
            <a:pPr>
              <a:buClr>
                <a:schemeClr val="bg1"/>
              </a:buClr>
              <a:buFont typeface="Wingdings" panose="05000000000000000000" pitchFamily="2" charset="2"/>
              <a:buChar char="l"/>
            </a:pPr>
            <a:r>
              <a:rPr lang="en-US" altLang="zh-CN" sz="3600" dirty="0" smtClean="0">
                <a:solidFill>
                  <a:schemeClr val="bg1"/>
                </a:solidFill>
                <a:latin typeface="Garamond"/>
                <a:ea typeface="华文行楷"/>
                <a:cs typeface="+mj-cs"/>
              </a:rPr>
              <a:t>1.1.1  </a:t>
            </a:r>
            <a:r>
              <a:rPr lang="zh-CN" altLang="en-US" sz="3600" dirty="0" smtClean="0">
                <a:solidFill>
                  <a:schemeClr val="bg1"/>
                </a:solidFill>
                <a:latin typeface="Garamond"/>
                <a:ea typeface="华文行楷"/>
                <a:cs typeface="+mj-cs"/>
              </a:rPr>
              <a:t>通信系统及其基本组成</a:t>
            </a:r>
            <a:endParaRPr lang="zh-CN" altLang="en-US" sz="2800" dirty="0"/>
          </a:p>
        </p:txBody>
      </p:sp>
      <p:sp>
        <p:nvSpPr>
          <p:cNvPr id="22" name="Rectangle 26"/>
          <p:cNvSpPr>
            <a:spLocks noChangeArrowheads="1"/>
          </p:cNvSpPr>
          <p:nvPr/>
        </p:nvSpPr>
        <p:spPr bwMode="auto">
          <a:xfrm>
            <a:off x="3635895" y="4594327"/>
            <a:ext cx="1944688" cy="4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003399"/>
                </a:solidFill>
                <a:latin typeface="Times New Roman" pitchFamily="18" charset="0"/>
                <a:ea typeface="宋体" pitchFamily="2" charset="-122"/>
              </a:defRPr>
            </a:lvl1pPr>
            <a:lvl2pPr marL="742950" indent="-285750" eaLnBrk="0" hangingPunct="0">
              <a:defRPr sz="2000" b="1">
                <a:solidFill>
                  <a:srgbClr val="003399"/>
                </a:solidFill>
                <a:latin typeface="Times New Roman" pitchFamily="18" charset="0"/>
                <a:ea typeface="宋体" pitchFamily="2" charset="-122"/>
              </a:defRPr>
            </a:lvl2pPr>
            <a:lvl3pPr marL="1143000" indent="-228600" eaLnBrk="0" hangingPunct="0">
              <a:defRPr sz="2000" b="1">
                <a:solidFill>
                  <a:srgbClr val="003399"/>
                </a:solidFill>
                <a:latin typeface="Times New Roman" pitchFamily="18" charset="0"/>
                <a:ea typeface="宋体" pitchFamily="2" charset="-122"/>
              </a:defRPr>
            </a:lvl3pPr>
            <a:lvl4pPr marL="1600200" indent="-228600" eaLnBrk="0" hangingPunct="0">
              <a:defRPr sz="2000" b="1">
                <a:solidFill>
                  <a:srgbClr val="003399"/>
                </a:solidFill>
                <a:latin typeface="Times New Roman" pitchFamily="18" charset="0"/>
                <a:ea typeface="宋体" pitchFamily="2" charset="-122"/>
              </a:defRPr>
            </a:lvl4pPr>
            <a:lvl5pPr marL="2057400" indent="-228600" eaLnBrk="0" hangingPunct="0">
              <a:defRPr sz="2000" b="1">
                <a:solidFill>
                  <a:srgbClr val="003399"/>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9pPr>
          </a:lstStyle>
          <a:p>
            <a:pPr eaLnBrk="1" hangingPunct="1">
              <a:spcBef>
                <a:spcPct val="0"/>
              </a:spcBef>
              <a:buClrTx/>
              <a:buSzTx/>
              <a:buFont typeface="Wingdings" pitchFamily="2" charset="2"/>
              <a:buNone/>
            </a:pPr>
            <a:r>
              <a:rPr lang="zh-CN" altLang="en-US" sz="2400" dirty="0">
                <a:solidFill>
                  <a:srgbClr val="0033CC"/>
                </a:solidFill>
              </a:rPr>
              <a:t>噪声与干扰</a:t>
            </a:r>
            <a:endParaRPr lang="zh-CN" altLang="en-US" sz="2400" dirty="0">
              <a:solidFill>
                <a:schemeClr val="tx1"/>
              </a:solidFill>
            </a:endParaRPr>
          </a:p>
        </p:txBody>
      </p:sp>
      <p:grpSp>
        <p:nvGrpSpPr>
          <p:cNvPr id="25" name="Group 31"/>
          <p:cNvGrpSpPr>
            <a:grpSpLocks/>
          </p:cNvGrpSpPr>
          <p:nvPr/>
        </p:nvGrpSpPr>
        <p:grpSpPr bwMode="auto">
          <a:xfrm>
            <a:off x="1116533" y="3067150"/>
            <a:ext cx="6726237" cy="879475"/>
            <a:chOff x="0" y="0"/>
            <a:chExt cx="4237" cy="554"/>
          </a:xfrm>
        </p:grpSpPr>
        <p:sp>
          <p:nvSpPr>
            <p:cNvPr id="26" name="Line 4"/>
            <p:cNvSpPr>
              <a:spLocks noChangeShapeType="1"/>
            </p:cNvSpPr>
            <p:nvPr/>
          </p:nvSpPr>
          <p:spPr bwMode="auto">
            <a:xfrm>
              <a:off x="1467" y="267"/>
              <a:ext cx="394" cy="0"/>
            </a:xfrm>
            <a:prstGeom prst="line">
              <a:avLst/>
            </a:prstGeom>
            <a:noFill/>
            <a:ln w="57150">
              <a:solidFill>
                <a:srgbClr val="FF0066"/>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7" name="Line 7"/>
            <p:cNvSpPr>
              <a:spLocks noChangeShapeType="1"/>
            </p:cNvSpPr>
            <p:nvPr/>
          </p:nvSpPr>
          <p:spPr bwMode="auto">
            <a:xfrm>
              <a:off x="517" y="275"/>
              <a:ext cx="422" cy="0"/>
            </a:xfrm>
            <a:prstGeom prst="line">
              <a:avLst/>
            </a:prstGeom>
            <a:noFill/>
            <a:ln w="57150">
              <a:solidFill>
                <a:srgbClr val="FF0066"/>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8" name="Rectangle 9"/>
            <p:cNvSpPr>
              <a:spLocks noChangeArrowheads="1"/>
            </p:cNvSpPr>
            <p:nvPr/>
          </p:nvSpPr>
          <p:spPr bwMode="auto">
            <a:xfrm>
              <a:off x="939" y="0"/>
              <a:ext cx="528" cy="536"/>
            </a:xfrm>
            <a:prstGeom prst="rect">
              <a:avLst/>
            </a:prstGeom>
            <a:solidFill>
              <a:srgbClr val="FFFFCC"/>
            </a:solidFill>
            <a:ln w="28575">
              <a:solidFill>
                <a:srgbClr val="0033CC"/>
              </a:solidFill>
              <a:miter lim="800000"/>
              <a:headEnd/>
              <a:tailEnd/>
            </a:ln>
          </p:spPr>
          <p:txBody>
            <a:bodyPr>
              <a:spAutoFit/>
            </a:bodyPr>
            <a:lstStyle>
              <a:lvl1pPr eaLnBrk="0" hangingPunct="0">
                <a:defRPr sz="2000" b="1">
                  <a:solidFill>
                    <a:srgbClr val="003399"/>
                  </a:solidFill>
                  <a:latin typeface="Times New Roman" pitchFamily="18" charset="0"/>
                  <a:ea typeface="宋体" pitchFamily="2" charset="-122"/>
                </a:defRPr>
              </a:lvl1pPr>
              <a:lvl2pPr marL="742950" indent="-285750" eaLnBrk="0" hangingPunct="0">
                <a:defRPr sz="2000" b="1">
                  <a:solidFill>
                    <a:srgbClr val="003399"/>
                  </a:solidFill>
                  <a:latin typeface="Times New Roman" pitchFamily="18" charset="0"/>
                  <a:ea typeface="宋体" pitchFamily="2" charset="-122"/>
                </a:defRPr>
              </a:lvl2pPr>
              <a:lvl3pPr marL="1143000" indent="-228600" eaLnBrk="0" hangingPunct="0">
                <a:defRPr sz="2000" b="1">
                  <a:solidFill>
                    <a:srgbClr val="003399"/>
                  </a:solidFill>
                  <a:latin typeface="Times New Roman" pitchFamily="18" charset="0"/>
                  <a:ea typeface="宋体" pitchFamily="2" charset="-122"/>
                </a:defRPr>
              </a:lvl3pPr>
              <a:lvl4pPr marL="1600200" indent="-228600" eaLnBrk="0" hangingPunct="0">
                <a:defRPr sz="2000" b="1">
                  <a:solidFill>
                    <a:srgbClr val="003399"/>
                  </a:solidFill>
                  <a:latin typeface="Times New Roman" pitchFamily="18" charset="0"/>
                  <a:ea typeface="宋体" pitchFamily="2" charset="-122"/>
                </a:defRPr>
              </a:lvl4pPr>
              <a:lvl5pPr marL="2057400" indent="-228600" eaLnBrk="0" hangingPunct="0">
                <a:defRPr sz="2000" b="1">
                  <a:solidFill>
                    <a:srgbClr val="003399"/>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9pPr>
            </a:lstStyle>
            <a:p>
              <a:pPr eaLnBrk="1" hangingPunct="1">
                <a:spcBef>
                  <a:spcPct val="0"/>
                </a:spcBef>
                <a:buClrTx/>
                <a:buSzTx/>
                <a:buFont typeface="Wingdings" pitchFamily="2" charset="2"/>
                <a:buNone/>
              </a:pPr>
              <a:r>
                <a:rPr lang="zh-CN" altLang="en-US" sz="2400" dirty="0">
                  <a:solidFill>
                    <a:srgbClr val="0033CC"/>
                  </a:solidFill>
                  <a:ea typeface="楷体_GB2312" pitchFamily="1" charset="-122"/>
                </a:rPr>
                <a:t>发送</a:t>
              </a:r>
            </a:p>
            <a:p>
              <a:pPr eaLnBrk="1" hangingPunct="1">
                <a:spcBef>
                  <a:spcPct val="0"/>
                </a:spcBef>
                <a:buClrTx/>
                <a:buSzTx/>
                <a:buFont typeface="Wingdings" pitchFamily="2" charset="2"/>
                <a:buNone/>
              </a:pPr>
              <a:r>
                <a:rPr lang="zh-CN" altLang="en-US" sz="2400" dirty="0">
                  <a:solidFill>
                    <a:srgbClr val="0033CC"/>
                  </a:solidFill>
                  <a:ea typeface="楷体_GB2312" pitchFamily="1" charset="-122"/>
                </a:rPr>
                <a:t>设备</a:t>
              </a:r>
            </a:p>
          </p:txBody>
        </p:sp>
        <p:sp>
          <p:nvSpPr>
            <p:cNvPr id="29" name="Rectangle 10"/>
            <p:cNvSpPr>
              <a:spLocks noChangeArrowheads="1"/>
            </p:cNvSpPr>
            <p:nvPr/>
          </p:nvSpPr>
          <p:spPr bwMode="auto">
            <a:xfrm>
              <a:off x="1861" y="114"/>
              <a:ext cx="528" cy="306"/>
            </a:xfrm>
            <a:prstGeom prst="rect">
              <a:avLst/>
            </a:prstGeom>
            <a:solidFill>
              <a:srgbClr val="FFFFCC"/>
            </a:solidFill>
            <a:ln w="28575">
              <a:solidFill>
                <a:srgbClr val="0033CC"/>
              </a:solidFill>
              <a:miter lim="800000"/>
              <a:headEnd/>
              <a:tailEnd/>
            </a:ln>
          </p:spPr>
          <p:txBody>
            <a:bodyPr>
              <a:spAutoFit/>
            </a:bodyPr>
            <a:lstStyle>
              <a:lvl1pPr eaLnBrk="0" hangingPunct="0">
                <a:defRPr sz="2000" b="1">
                  <a:solidFill>
                    <a:srgbClr val="003399"/>
                  </a:solidFill>
                  <a:latin typeface="Times New Roman" pitchFamily="18" charset="0"/>
                  <a:ea typeface="宋体" pitchFamily="2" charset="-122"/>
                </a:defRPr>
              </a:lvl1pPr>
              <a:lvl2pPr marL="742950" indent="-285750" eaLnBrk="0" hangingPunct="0">
                <a:defRPr sz="2000" b="1">
                  <a:solidFill>
                    <a:srgbClr val="003399"/>
                  </a:solidFill>
                  <a:latin typeface="Times New Roman" pitchFamily="18" charset="0"/>
                  <a:ea typeface="宋体" pitchFamily="2" charset="-122"/>
                </a:defRPr>
              </a:lvl2pPr>
              <a:lvl3pPr marL="1143000" indent="-228600" eaLnBrk="0" hangingPunct="0">
                <a:defRPr sz="2000" b="1">
                  <a:solidFill>
                    <a:srgbClr val="003399"/>
                  </a:solidFill>
                  <a:latin typeface="Times New Roman" pitchFamily="18" charset="0"/>
                  <a:ea typeface="宋体" pitchFamily="2" charset="-122"/>
                </a:defRPr>
              </a:lvl3pPr>
              <a:lvl4pPr marL="1600200" indent="-228600" eaLnBrk="0" hangingPunct="0">
                <a:defRPr sz="2000" b="1">
                  <a:solidFill>
                    <a:srgbClr val="003399"/>
                  </a:solidFill>
                  <a:latin typeface="Times New Roman" pitchFamily="18" charset="0"/>
                  <a:ea typeface="宋体" pitchFamily="2" charset="-122"/>
                </a:defRPr>
              </a:lvl4pPr>
              <a:lvl5pPr marL="2057400" indent="-228600" eaLnBrk="0" hangingPunct="0">
                <a:defRPr sz="2000" b="1">
                  <a:solidFill>
                    <a:srgbClr val="003399"/>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9pPr>
            </a:lstStyle>
            <a:p>
              <a:pPr algn="ctr" eaLnBrk="1" hangingPunct="1">
                <a:spcBef>
                  <a:spcPct val="0"/>
                </a:spcBef>
                <a:buClrTx/>
                <a:buSzTx/>
                <a:buFont typeface="Wingdings" pitchFamily="2" charset="2"/>
                <a:buNone/>
              </a:pPr>
              <a:r>
                <a:rPr lang="zh-CN" altLang="en-US" sz="2400">
                  <a:solidFill>
                    <a:srgbClr val="0033CC"/>
                  </a:solidFill>
                  <a:ea typeface="楷体_GB2312" pitchFamily="1" charset="-122"/>
                </a:rPr>
                <a:t>信道</a:t>
              </a:r>
            </a:p>
          </p:txBody>
        </p:sp>
        <p:sp>
          <p:nvSpPr>
            <p:cNvPr id="30" name="Line 11"/>
            <p:cNvSpPr>
              <a:spLocks noChangeShapeType="1"/>
            </p:cNvSpPr>
            <p:nvPr/>
          </p:nvSpPr>
          <p:spPr bwMode="auto">
            <a:xfrm>
              <a:off x="2389" y="258"/>
              <a:ext cx="381" cy="0"/>
            </a:xfrm>
            <a:prstGeom prst="line">
              <a:avLst/>
            </a:prstGeom>
            <a:noFill/>
            <a:ln w="57150">
              <a:solidFill>
                <a:srgbClr val="FF0066"/>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1" name="Rectangle 12"/>
            <p:cNvSpPr>
              <a:spLocks noChangeArrowheads="1"/>
            </p:cNvSpPr>
            <p:nvPr/>
          </p:nvSpPr>
          <p:spPr bwMode="auto">
            <a:xfrm>
              <a:off x="2770" y="18"/>
              <a:ext cx="528" cy="536"/>
            </a:xfrm>
            <a:prstGeom prst="rect">
              <a:avLst/>
            </a:prstGeom>
            <a:solidFill>
              <a:srgbClr val="FFFFCC"/>
            </a:solidFill>
            <a:ln w="28575">
              <a:solidFill>
                <a:srgbClr val="0033CC"/>
              </a:solidFill>
              <a:miter lim="800000"/>
              <a:headEnd/>
              <a:tailEnd/>
            </a:ln>
          </p:spPr>
          <p:txBody>
            <a:bodyPr>
              <a:spAutoFit/>
            </a:bodyPr>
            <a:lstStyle>
              <a:lvl1pPr eaLnBrk="0" hangingPunct="0">
                <a:defRPr sz="2000" b="1">
                  <a:solidFill>
                    <a:srgbClr val="003399"/>
                  </a:solidFill>
                  <a:latin typeface="Times New Roman" pitchFamily="18" charset="0"/>
                  <a:ea typeface="宋体" pitchFamily="2" charset="-122"/>
                </a:defRPr>
              </a:lvl1pPr>
              <a:lvl2pPr marL="742950" indent="-285750" eaLnBrk="0" hangingPunct="0">
                <a:defRPr sz="2000" b="1">
                  <a:solidFill>
                    <a:srgbClr val="003399"/>
                  </a:solidFill>
                  <a:latin typeface="Times New Roman" pitchFamily="18" charset="0"/>
                  <a:ea typeface="宋体" pitchFamily="2" charset="-122"/>
                </a:defRPr>
              </a:lvl2pPr>
              <a:lvl3pPr marL="1143000" indent="-228600" eaLnBrk="0" hangingPunct="0">
                <a:defRPr sz="2000" b="1">
                  <a:solidFill>
                    <a:srgbClr val="003399"/>
                  </a:solidFill>
                  <a:latin typeface="Times New Roman" pitchFamily="18" charset="0"/>
                  <a:ea typeface="宋体" pitchFamily="2" charset="-122"/>
                </a:defRPr>
              </a:lvl3pPr>
              <a:lvl4pPr marL="1600200" indent="-228600" eaLnBrk="0" hangingPunct="0">
                <a:defRPr sz="2000" b="1">
                  <a:solidFill>
                    <a:srgbClr val="003399"/>
                  </a:solidFill>
                  <a:latin typeface="Times New Roman" pitchFamily="18" charset="0"/>
                  <a:ea typeface="宋体" pitchFamily="2" charset="-122"/>
                </a:defRPr>
              </a:lvl4pPr>
              <a:lvl5pPr marL="2057400" indent="-228600" eaLnBrk="0" hangingPunct="0">
                <a:defRPr sz="2000" b="1">
                  <a:solidFill>
                    <a:srgbClr val="003399"/>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9pPr>
            </a:lstStyle>
            <a:p>
              <a:pPr eaLnBrk="1" hangingPunct="1">
                <a:spcBef>
                  <a:spcPct val="0"/>
                </a:spcBef>
                <a:buClrTx/>
                <a:buSzTx/>
                <a:buFont typeface="Wingdings" pitchFamily="2" charset="2"/>
                <a:buNone/>
              </a:pPr>
              <a:r>
                <a:rPr lang="zh-CN" altLang="en-US" sz="2400">
                  <a:solidFill>
                    <a:srgbClr val="0033CC"/>
                  </a:solidFill>
                  <a:ea typeface="楷体_GB2312" pitchFamily="1" charset="-122"/>
                </a:rPr>
                <a:t>接收</a:t>
              </a:r>
            </a:p>
            <a:p>
              <a:pPr eaLnBrk="1" hangingPunct="1">
                <a:spcBef>
                  <a:spcPct val="0"/>
                </a:spcBef>
                <a:buClrTx/>
                <a:buSzTx/>
                <a:buFont typeface="Wingdings" pitchFamily="2" charset="2"/>
                <a:buNone/>
              </a:pPr>
              <a:r>
                <a:rPr lang="zh-CN" altLang="en-US" sz="2400">
                  <a:solidFill>
                    <a:srgbClr val="0033CC"/>
                  </a:solidFill>
                  <a:ea typeface="楷体_GB2312" pitchFamily="1" charset="-122"/>
                </a:rPr>
                <a:t>设备</a:t>
              </a:r>
            </a:p>
          </p:txBody>
        </p:sp>
        <p:sp>
          <p:nvSpPr>
            <p:cNvPr id="32" name="Line 13"/>
            <p:cNvSpPr>
              <a:spLocks noChangeShapeType="1"/>
            </p:cNvSpPr>
            <p:nvPr/>
          </p:nvSpPr>
          <p:spPr bwMode="auto">
            <a:xfrm>
              <a:off x="3298" y="267"/>
              <a:ext cx="343" cy="0"/>
            </a:xfrm>
            <a:prstGeom prst="line">
              <a:avLst/>
            </a:prstGeom>
            <a:noFill/>
            <a:ln w="57150">
              <a:solidFill>
                <a:srgbClr val="FF0066"/>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33" name="Rectangle 30"/>
            <p:cNvSpPr>
              <a:spLocks noChangeArrowheads="1"/>
            </p:cNvSpPr>
            <p:nvPr/>
          </p:nvSpPr>
          <p:spPr bwMode="auto">
            <a:xfrm>
              <a:off x="3661" y="113"/>
              <a:ext cx="576" cy="306"/>
            </a:xfrm>
            <a:prstGeom prst="rect">
              <a:avLst/>
            </a:prstGeom>
            <a:solidFill>
              <a:srgbClr val="FFFFCC"/>
            </a:solidFill>
            <a:ln w="28575">
              <a:solidFill>
                <a:srgbClr val="0033CC"/>
              </a:solidFill>
              <a:miter lim="800000"/>
              <a:headEnd/>
              <a:tailEnd/>
            </a:ln>
          </p:spPr>
          <p:txBody>
            <a:bodyPr>
              <a:spAutoFit/>
            </a:bodyPr>
            <a:lstStyle>
              <a:lvl1pPr eaLnBrk="0" hangingPunct="0">
                <a:defRPr sz="2000" b="1">
                  <a:solidFill>
                    <a:srgbClr val="003399"/>
                  </a:solidFill>
                  <a:latin typeface="Times New Roman" pitchFamily="18" charset="0"/>
                  <a:ea typeface="宋体" pitchFamily="2" charset="-122"/>
                </a:defRPr>
              </a:lvl1pPr>
              <a:lvl2pPr marL="742950" indent="-285750" eaLnBrk="0" hangingPunct="0">
                <a:defRPr sz="2000" b="1">
                  <a:solidFill>
                    <a:srgbClr val="003399"/>
                  </a:solidFill>
                  <a:latin typeface="Times New Roman" pitchFamily="18" charset="0"/>
                  <a:ea typeface="宋体" pitchFamily="2" charset="-122"/>
                </a:defRPr>
              </a:lvl2pPr>
              <a:lvl3pPr marL="1143000" indent="-228600" eaLnBrk="0" hangingPunct="0">
                <a:defRPr sz="2000" b="1">
                  <a:solidFill>
                    <a:srgbClr val="003399"/>
                  </a:solidFill>
                  <a:latin typeface="Times New Roman" pitchFamily="18" charset="0"/>
                  <a:ea typeface="宋体" pitchFamily="2" charset="-122"/>
                </a:defRPr>
              </a:lvl3pPr>
              <a:lvl4pPr marL="1600200" indent="-228600" eaLnBrk="0" hangingPunct="0">
                <a:defRPr sz="2000" b="1">
                  <a:solidFill>
                    <a:srgbClr val="003399"/>
                  </a:solidFill>
                  <a:latin typeface="Times New Roman" pitchFamily="18" charset="0"/>
                  <a:ea typeface="宋体" pitchFamily="2" charset="-122"/>
                </a:defRPr>
              </a:lvl4pPr>
              <a:lvl5pPr marL="2057400" indent="-228600" eaLnBrk="0" hangingPunct="0">
                <a:defRPr sz="2000" b="1">
                  <a:solidFill>
                    <a:srgbClr val="003399"/>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9pPr>
            </a:lstStyle>
            <a:p>
              <a:pPr eaLnBrk="1" hangingPunct="1">
                <a:spcBef>
                  <a:spcPct val="0"/>
                </a:spcBef>
                <a:buClrTx/>
                <a:buSzTx/>
                <a:buFont typeface="Wingdings" pitchFamily="2" charset="2"/>
                <a:buNone/>
              </a:pPr>
              <a:r>
                <a:rPr lang="zh-CN" altLang="en-US" sz="2400" dirty="0">
                  <a:solidFill>
                    <a:srgbClr val="0033CC"/>
                  </a:solidFill>
                  <a:ea typeface="楷体_GB2312" pitchFamily="1" charset="-122"/>
                </a:rPr>
                <a:t>信宿</a:t>
              </a:r>
            </a:p>
          </p:txBody>
        </p:sp>
        <p:sp>
          <p:nvSpPr>
            <p:cNvPr id="34" name="Rectangle 6"/>
            <p:cNvSpPr>
              <a:spLocks noChangeArrowheads="1"/>
            </p:cNvSpPr>
            <p:nvPr/>
          </p:nvSpPr>
          <p:spPr bwMode="auto">
            <a:xfrm>
              <a:off x="0" y="128"/>
              <a:ext cx="576" cy="306"/>
            </a:xfrm>
            <a:prstGeom prst="rect">
              <a:avLst/>
            </a:prstGeom>
            <a:solidFill>
              <a:srgbClr val="FFFFCC"/>
            </a:solidFill>
            <a:ln w="28575">
              <a:solidFill>
                <a:srgbClr val="0033CC"/>
              </a:solidFill>
              <a:miter lim="800000"/>
              <a:headEnd/>
              <a:tailEnd/>
            </a:ln>
          </p:spPr>
          <p:txBody>
            <a:bodyPr>
              <a:spAutoFit/>
            </a:bodyPr>
            <a:lstStyle>
              <a:lvl1pPr eaLnBrk="0" hangingPunct="0">
                <a:defRPr sz="2000" b="1">
                  <a:solidFill>
                    <a:srgbClr val="003399"/>
                  </a:solidFill>
                  <a:latin typeface="Times New Roman" pitchFamily="18" charset="0"/>
                  <a:ea typeface="宋体" pitchFamily="2" charset="-122"/>
                </a:defRPr>
              </a:lvl1pPr>
              <a:lvl2pPr marL="742950" indent="-285750" eaLnBrk="0" hangingPunct="0">
                <a:defRPr sz="2000" b="1">
                  <a:solidFill>
                    <a:srgbClr val="003399"/>
                  </a:solidFill>
                  <a:latin typeface="Times New Roman" pitchFamily="18" charset="0"/>
                  <a:ea typeface="宋体" pitchFamily="2" charset="-122"/>
                </a:defRPr>
              </a:lvl2pPr>
              <a:lvl3pPr marL="1143000" indent="-228600" eaLnBrk="0" hangingPunct="0">
                <a:defRPr sz="2000" b="1">
                  <a:solidFill>
                    <a:srgbClr val="003399"/>
                  </a:solidFill>
                  <a:latin typeface="Times New Roman" pitchFamily="18" charset="0"/>
                  <a:ea typeface="宋体" pitchFamily="2" charset="-122"/>
                </a:defRPr>
              </a:lvl3pPr>
              <a:lvl4pPr marL="1600200" indent="-228600" eaLnBrk="0" hangingPunct="0">
                <a:defRPr sz="2000" b="1">
                  <a:solidFill>
                    <a:srgbClr val="003399"/>
                  </a:solidFill>
                  <a:latin typeface="Times New Roman" pitchFamily="18" charset="0"/>
                  <a:ea typeface="宋体" pitchFamily="2" charset="-122"/>
                </a:defRPr>
              </a:lvl4pPr>
              <a:lvl5pPr marL="2057400" indent="-228600" eaLnBrk="0" hangingPunct="0">
                <a:defRPr sz="2000" b="1">
                  <a:solidFill>
                    <a:srgbClr val="003399"/>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宋体" pitchFamily="2" charset="-122"/>
                </a:defRPr>
              </a:lvl9pPr>
            </a:lstStyle>
            <a:p>
              <a:pPr eaLnBrk="1" hangingPunct="1">
                <a:spcBef>
                  <a:spcPct val="0"/>
                </a:spcBef>
                <a:buClrTx/>
                <a:buSzTx/>
                <a:buFont typeface="Wingdings" pitchFamily="2" charset="2"/>
                <a:buNone/>
              </a:pPr>
              <a:r>
                <a:rPr lang="zh-CN" altLang="en-US" sz="2400">
                  <a:solidFill>
                    <a:srgbClr val="0033CC"/>
                  </a:solidFill>
                  <a:ea typeface="楷体_GB2312" pitchFamily="1" charset="-122"/>
                </a:rPr>
                <a:t>信源</a:t>
              </a:r>
            </a:p>
          </p:txBody>
        </p:sp>
      </p:grpSp>
      <p:sp>
        <p:nvSpPr>
          <p:cNvPr id="40" name="内容占位符 20"/>
          <p:cNvSpPr txBox="1">
            <a:spLocks/>
          </p:cNvSpPr>
          <p:nvPr/>
        </p:nvSpPr>
        <p:spPr bwMode="auto">
          <a:xfrm>
            <a:off x="421518" y="1124744"/>
            <a:ext cx="8136904"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buClr>
                <a:srgbClr val="005696"/>
              </a:buClr>
              <a:buFont typeface="Wingdings" pitchFamily="2" charset="2"/>
              <a:buChar char="l"/>
            </a:pPr>
            <a:r>
              <a:rPr lang="zh-CN" altLang="en-US" sz="2400" b="1" kern="0" dirty="0" smtClean="0">
                <a:solidFill>
                  <a:srgbClr val="005696"/>
                </a:solidFill>
                <a:latin typeface="宋体"/>
              </a:rPr>
              <a:t>传递信息所需的一切技术设备的总和称为</a:t>
            </a:r>
            <a:r>
              <a:rPr lang="zh-CN" altLang="en-US" sz="2400" b="1" kern="0" dirty="0" smtClean="0">
                <a:solidFill>
                  <a:srgbClr val="FF0000"/>
                </a:solidFill>
                <a:latin typeface="宋体"/>
              </a:rPr>
              <a:t>通信系统</a:t>
            </a:r>
            <a:endParaRPr lang="en-US" altLang="zh-CN" sz="2400" b="1" kern="0" dirty="0">
              <a:solidFill>
                <a:srgbClr val="FF0000"/>
              </a:solidFill>
              <a:latin typeface="宋体"/>
            </a:endParaRPr>
          </a:p>
          <a:p>
            <a:pPr marL="0" indent="0">
              <a:buClr>
                <a:srgbClr val="C00000"/>
              </a:buClr>
              <a:buFont typeface="Wingdings" pitchFamily="2" charset="2"/>
              <a:buNone/>
            </a:pPr>
            <a:endParaRPr lang="en-US" altLang="zh-CN" sz="2400" b="1" kern="0" dirty="0" smtClean="0">
              <a:solidFill>
                <a:srgbClr val="C00000"/>
              </a:solidFill>
              <a:latin typeface="宋体"/>
            </a:endParaRPr>
          </a:p>
        </p:txBody>
      </p:sp>
      <p:sp>
        <p:nvSpPr>
          <p:cNvPr id="3" name="TextBox 2"/>
          <p:cNvSpPr txBox="1"/>
          <p:nvPr/>
        </p:nvSpPr>
        <p:spPr>
          <a:xfrm>
            <a:off x="3058327" y="5581721"/>
            <a:ext cx="3647152" cy="369332"/>
          </a:xfrm>
          <a:prstGeom prst="rect">
            <a:avLst/>
          </a:prstGeom>
          <a:noFill/>
        </p:spPr>
        <p:txBody>
          <a:bodyPr wrap="none" rtlCol="0">
            <a:spAutoFit/>
          </a:bodyPr>
          <a:lstStyle/>
          <a:p>
            <a:r>
              <a:rPr lang="zh-CN" altLang="en-US" b="1" dirty="0" smtClean="0"/>
              <a:t>通信系统简化模型图及各部分功能</a:t>
            </a:r>
            <a:endParaRPr lang="zh-CN" altLang="en-US" b="1" dirty="0"/>
          </a:p>
        </p:txBody>
      </p:sp>
      <p:sp>
        <p:nvSpPr>
          <p:cNvPr id="41" name="Line 25"/>
          <p:cNvSpPr>
            <a:spLocks noChangeShapeType="1"/>
          </p:cNvSpPr>
          <p:nvPr/>
        </p:nvSpPr>
        <p:spPr bwMode="auto">
          <a:xfrm rot="16200000">
            <a:off x="4211637" y="4226026"/>
            <a:ext cx="720725" cy="0"/>
          </a:xfrm>
          <a:prstGeom prst="line">
            <a:avLst/>
          </a:prstGeom>
          <a:noFill/>
          <a:ln w="57150">
            <a:solidFill>
              <a:srgbClr val="FF0066"/>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43" name="TextBox 42"/>
          <p:cNvSpPr txBox="1"/>
          <p:nvPr/>
        </p:nvSpPr>
        <p:spPr>
          <a:xfrm>
            <a:off x="2706618" y="3419407"/>
            <a:ext cx="861895" cy="369332"/>
          </a:xfrm>
          <a:prstGeom prst="rect">
            <a:avLst/>
          </a:prstGeom>
          <a:noFill/>
        </p:spPr>
        <p:txBody>
          <a:bodyPr wrap="square" rtlCol="0">
            <a:spAutoFit/>
          </a:bodyPr>
          <a:lstStyle/>
          <a:p>
            <a:r>
              <a:rPr lang="zh-CN" altLang="en-US" b="1" dirty="0" smtClean="0">
                <a:solidFill>
                  <a:srgbClr val="00B0F0"/>
                </a:solidFill>
                <a:latin typeface="+mn-ea"/>
              </a:rPr>
              <a:t>电</a:t>
            </a:r>
            <a:endParaRPr lang="zh-CN" altLang="en-US" b="1" dirty="0">
              <a:solidFill>
                <a:srgbClr val="00B0F0"/>
              </a:solidFill>
              <a:latin typeface="+mn-ea"/>
            </a:endParaRPr>
          </a:p>
        </p:txBody>
      </p:sp>
      <p:sp>
        <p:nvSpPr>
          <p:cNvPr id="48" name="TextBox 47"/>
          <p:cNvSpPr txBox="1"/>
          <p:nvPr/>
        </p:nvSpPr>
        <p:spPr>
          <a:xfrm>
            <a:off x="304317" y="3895647"/>
            <a:ext cx="1834156" cy="461665"/>
          </a:xfrm>
          <a:prstGeom prst="rect">
            <a:avLst/>
          </a:prstGeom>
          <a:noFill/>
        </p:spPr>
        <p:txBody>
          <a:bodyPr wrap="none" rtlCol="0">
            <a:spAutoFit/>
          </a:bodyPr>
          <a:lstStyle/>
          <a:p>
            <a:r>
              <a:rPr lang="zh-CN" altLang="en-US" sz="2400" b="1" dirty="0" smtClean="0">
                <a:solidFill>
                  <a:srgbClr val="FF0000"/>
                </a:solidFill>
              </a:rPr>
              <a:t>非电</a:t>
            </a:r>
            <a:r>
              <a:rPr lang="en-US" altLang="zh-CN" sz="2400" b="1" dirty="0" smtClean="0">
                <a:solidFill>
                  <a:srgbClr val="FF0000"/>
                </a:solidFill>
              </a:rPr>
              <a:t>-</a:t>
            </a:r>
            <a:r>
              <a:rPr lang="zh-CN" altLang="en-US" sz="2400" b="1" dirty="0" smtClean="0">
                <a:solidFill>
                  <a:srgbClr val="FF0000"/>
                </a:solidFill>
              </a:rPr>
              <a:t>电转换</a:t>
            </a:r>
            <a:endParaRPr lang="zh-CN" altLang="en-US" sz="2400" b="1" dirty="0">
              <a:solidFill>
                <a:srgbClr val="FF0000"/>
              </a:solidFill>
            </a:endParaRPr>
          </a:p>
        </p:txBody>
      </p:sp>
      <p:sp>
        <p:nvSpPr>
          <p:cNvPr id="49" name="TextBox 48"/>
          <p:cNvSpPr txBox="1"/>
          <p:nvPr/>
        </p:nvSpPr>
        <p:spPr>
          <a:xfrm>
            <a:off x="2572920" y="2132857"/>
            <a:ext cx="969319" cy="830997"/>
          </a:xfrm>
          <a:prstGeom prst="rect">
            <a:avLst/>
          </a:prstGeom>
          <a:noFill/>
        </p:spPr>
        <p:txBody>
          <a:bodyPr wrap="square" rtlCol="0">
            <a:spAutoFit/>
          </a:bodyPr>
          <a:lstStyle/>
          <a:p>
            <a:r>
              <a:rPr lang="zh-CN" altLang="en-US" sz="2400" b="1" dirty="0" smtClean="0">
                <a:solidFill>
                  <a:srgbClr val="FF0000"/>
                </a:solidFill>
              </a:rPr>
              <a:t>调制放大</a:t>
            </a:r>
            <a:endParaRPr lang="zh-CN" altLang="en-US" sz="2400" b="1" dirty="0">
              <a:solidFill>
                <a:srgbClr val="FF0000"/>
              </a:solidFill>
            </a:endParaRPr>
          </a:p>
        </p:txBody>
      </p:sp>
      <p:sp>
        <p:nvSpPr>
          <p:cNvPr id="50" name="TextBox 49"/>
          <p:cNvSpPr txBox="1"/>
          <p:nvPr/>
        </p:nvSpPr>
        <p:spPr>
          <a:xfrm>
            <a:off x="5486326" y="2132856"/>
            <a:ext cx="865782" cy="830997"/>
          </a:xfrm>
          <a:prstGeom prst="rect">
            <a:avLst/>
          </a:prstGeom>
          <a:noFill/>
        </p:spPr>
        <p:txBody>
          <a:bodyPr wrap="square" rtlCol="0">
            <a:spAutoFit/>
          </a:bodyPr>
          <a:lstStyle/>
          <a:p>
            <a:r>
              <a:rPr lang="zh-CN" altLang="en-US" sz="2400" b="1" dirty="0" smtClean="0">
                <a:solidFill>
                  <a:srgbClr val="FF0000"/>
                </a:solidFill>
              </a:rPr>
              <a:t>解调放大</a:t>
            </a:r>
            <a:endParaRPr lang="zh-CN" altLang="en-US" sz="2400" b="1" dirty="0">
              <a:solidFill>
                <a:srgbClr val="FF0000"/>
              </a:solidFill>
            </a:endParaRPr>
          </a:p>
        </p:txBody>
      </p:sp>
      <p:sp>
        <p:nvSpPr>
          <p:cNvPr id="51" name="TextBox 50"/>
          <p:cNvSpPr txBox="1"/>
          <p:nvPr/>
        </p:nvSpPr>
        <p:spPr>
          <a:xfrm>
            <a:off x="6770254" y="3941798"/>
            <a:ext cx="1834156" cy="461665"/>
          </a:xfrm>
          <a:prstGeom prst="rect">
            <a:avLst/>
          </a:prstGeom>
          <a:noFill/>
        </p:spPr>
        <p:txBody>
          <a:bodyPr wrap="none" rtlCol="0">
            <a:spAutoFit/>
          </a:bodyPr>
          <a:lstStyle/>
          <a:p>
            <a:r>
              <a:rPr lang="zh-CN" altLang="en-US" sz="2400" b="1" dirty="0" smtClean="0">
                <a:solidFill>
                  <a:srgbClr val="FF0000"/>
                </a:solidFill>
              </a:rPr>
              <a:t>电</a:t>
            </a:r>
            <a:r>
              <a:rPr lang="en-US" altLang="zh-CN" sz="2400" b="1" dirty="0" smtClean="0">
                <a:solidFill>
                  <a:srgbClr val="FF0000"/>
                </a:solidFill>
              </a:rPr>
              <a:t>-</a:t>
            </a:r>
            <a:r>
              <a:rPr lang="zh-CN" altLang="en-US" sz="2400" b="1" dirty="0" smtClean="0">
                <a:solidFill>
                  <a:srgbClr val="FF0000"/>
                </a:solidFill>
              </a:rPr>
              <a:t>非电转换</a:t>
            </a:r>
            <a:endParaRPr lang="zh-CN" altLang="en-US" sz="2400" b="1" dirty="0">
              <a:solidFill>
                <a:srgbClr val="FF0000"/>
              </a:solidFill>
            </a:endParaRPr>
          </a:p>
        </p:txBody>
      </p:sp>
    </p:spTree>
    <p:custDataLst>
      <p:tags r:id="rId1"/>
    </p:custDataLst>
    <p:extLst>
      <p:ext uri="{BB962C8B-B14F-4D97-AF65-F5344CB8AC3E}">
        <p14:creationId xmlns:p14="http://schemas.microsoft.com/office/powerpoint/2010/main" val="612207404"/>
      </p:ext>
    </p:extLst>
  </p:cSld>
  <p:clrMapOvr>
    <a:masterClrMapping/>
  </p:clrMapOvr>
  <mc:AlternateContent xmlns:mc="http://schemas.openxmlformats.org/markup-compatibility/2006" xmlns:p14="http://schemas.microsoft.com/office/powerpoint/2010/main">
    <mc:Choice Requires="p14">
      <p:transition spd="slow" p14:dur="2000" advTm="209"/>
    </mc:Choice>
    <mc:Fallback xmlns="">
      <p:transition spd="slow" advTm="209"/>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4</a:t>
            </a:fld>
            <a:endParaRPr lang="en-US" altLang="zh-CN" dirty="0">
              <a:solidFill>
                <a:srgbClr val="000000"/>
              </a:solidFill>
            </a:endParaRPr>
          </a:p>
        </p:txBody>
      </p:sp>
      <p:sp>
        <p:nvSpPr>
          <p:cNvPr id="21" name="内容占位符 20"/>
          <p:cNvSpPr>
            <a:spLocks noGrp="1"/>
          </p:cNvSpPr>
          <p:nvPr>
            <p:ph idx="1"/>
          </p:nvPr>
        </p:nvSpPr>
        <p:spPr>
          <a:xfrm>
            <a:off x="395536" y="260648"/>
            <a:ext cx="6624736" cy="648072"/>
          </a:xfrm>
          <a:solidFill>
            <a:srgbClr val="862714"/>
          </a:solidFill>
        </p:spPr>
        <p:txBody>
          <a:bodyPr/>
          <a:lstStyle/>
          <a:p>
            <a:pPr>
              <a:buClr>
                <a:schemeClr val="bg1"/>
              </a:buClr>
              <a:buFont typeface="Wingdings" panose="05000000000000000000" pitchFamily="2" charset="2"/>
              <a:buChar char="l"/>
            </a:pPr>
            <a:r>
              <a:rPr lang="en-US" altLang="zh-CN" sz="3600" dirty="0" smtClean="0">
                <a:solidFill>
                  <a:schemeClr val="bg1"/>
                </a:solidFill>
                <a:latin typeface="Garamond"/>
                <a:ea typeface="华文行楷"/>
                <a:cs typeface="+mj-cs"/>
              </a:rPr>
              <a:t>1.2.3 </a:t>
            </a:r>
            <a:r>
              <a:rPr lang="zh-CN" altLang="en-US" sz="3600" dirty="0" smtClean="0">
                <a:solidFill>
                  <a:schemeClr val="bg1"/>
                </a:solidFill>
                <a:latin typeface="Garamond"/>
                <a:ea typeface="华文行楷"/>
                <a:cs typeface="+mj-cs"/>
              </a:rPr>
              <a:t>高频与射频设计的必要性</a:t>
            </a:r>
            <a:endParaRPr lang="zh-CN" altLang="en-US" sz="2800" dirty="0"/>
          </a:p>
        </p:txBody>
      </p:sp>
      <p:sp>
        <p:nvSpPr>
          <p:cNvPr id="12" name="内容占位符 20"/>
          <p:cNvSpPr txBox="1">
            <a:spLocks/>
          </p:cNvSpPr>
          <p:nvPr/>
        </p:nvSpPr>
        <p:spPr bwMode="auto">
          <a:xfrm>
            <a:off x="467544" y="1709495"/>
            <a:ext cx="8280920" cy="3384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buClr>
                <a:srgbClr val="C00000"/>
              </a:buClr>
              <a:buFont typeface="Wingdings" pitchFamily="2" charset="2"/>
              <a:buChar char="l"/>
            </a:pPr>
            <a:r>
              <a:rPr lang="zh-CN" altLang="en-US" sz="2400" b="1" kern="0" dirty="0" smtClean="0">
                <a:solidFill>
                  <a:srgbClr val="C00000"/>
                </a:solidFill>
                <a:latin typeface="宋体"/>
              </a:rPr>
              <a:t>集总参数：</a:t>
            </a:r>
            <a:r>
              <a:rPr lang="zh-CN" altLang="en-US" sz="2400" b="1" kern="0" dirty="0" smtClean="0">
                <a:solidFill>
                  <a:srgbClr val="00589A"/>
                </a:solidFill>
                <a:latin typeface="宋体"/>
              </a:rPr>
              <a:t>独立的局域性元件，在一定的频率范围内提供特定的电路性能。</a:t>
            </a:r>
            <a:endParaRPr lang="en-US" altLang="zh-CN" sz="2400" b="1" kern="0" dirty="0" smtClean="0">
              <a:solidFill>
                <a:srgbClr val="00589A"/>
              </a:solidFill>
              <a:latin typeface="宋体"/>
            </a:endParaRPr>
          </a:p>
          <a:p>
            <a:pPr indent="342900">
              <a:buClr>
                <a:srgbClr val="00589A"/>
              </a:buClr>
              <a:buSzPct val="50000"/>
            </a:pPr>
            <a:r>
              <a:rPr lang="zh-CN" altLang="en-US" sz="2000" kern="0" dirty="0" smtClean="0">
                <a:solidFill>
                  <a:srgbClr val="005696"/>
                </a:solidFill>
                <a:latin typeface="宋体"/>
              </a:rPr>
              <a:t>在低频时，一个电容的容抗由电容器自身的特性决定，不受周围元件和环境的影响。如果把其他元件靠近这个电容器，容抗不会发生变化。</a:t>
            </a:r>
            <a:endParaRPr lang="en-US" altLang="zh-CN" sz="2000" kern="0" dirty="0" smtClean="0">
              <a:solidFill>
                <a:srgbClr val="005696"/>
              </a:solidFill>
              <a:latin typeface="宋体"/>
            </a:endParaRPr>
          </a:p>
          <a:p>
            <a:pPr indent="342900">
              <a:buClr>
                <a:srgbClr val="00589A"/>
              </a:buClr>
              <a:buSzPct val="50000"/>
            </a:pPr>
            <a:endParaRPr lang="en-US" altLang="zh-CN" sz="1600" kern="0" dirty="0" smtClean="0">
              <a:solidFill>
                <a:srgbClr val="005696"/>
              </a:solidFill>
              <a:latin typeface="宋体"/>
            </a:endParaRPr>
          </a:p>
          <a:p>
            <a:pPr indent="342900">
              <a:buClr>
                <a:srgbClr val="00589A"/>
              </a:buClr>
              <a:buSzPct val="50000"/>
            </a:pPr>
            <a:endParaRPr lang="en-US" altLang="zh-CN" sz="1600" kern="0" dirty="0" smtClean="0">
              <a:solidFill>
                <a:srgbClr val="005696"/>
              </a:solidFill>
              <a:latin typeface="宋体"/>
            </a:endParaRPr>
          </a:p>
          <a:p>
            <a:pPr>
              <a:buClr>
                <a:srgbClr val="C00000"/>
              </a:buClr>
              <a:buFont typeface="Wingdings" pitchFamily="2" charset="2"/>
              <a:buChar char="l"/>
            </a:pPr>
            <a:r>
              <a:rPr lang="zh-CN" altLang="en-US" sz="2400" b="1" kern="0" dirty="0" smtClean="0">
                <a:solidFill>
                  <a:srgbClr val="C00000"/>
                </a:solidFill>
                <a:latin typeface="Times New Roman" pitchFamily="18" charset="0"/>
                <a:sym typeface="Symbol" pitchFamily="18" charset="2"/>
              </a:rPr>
              <a:t>分布参数：</a:t>
            </a:r>
            <a:r>
              <a:rPr lang="zh-CN" altLang="en-US" sz="2400" b="1" kern="0" dirty="0" smtClean="0">
                <a:solidFill>
                  <a:srgbClr val="00589A"/>
                </a:solidFill>
                <a:latin typeface="Times New Roman" pitchFamily="18" charset="0"/>
                <a:sym typeface="Symbol" pitchFamily="18" charset="2"/>
              </a:rPr>
              <a:t>元件特性延伸到一定的空间范围，其特性受到周围环境的影响。</a:t>
            </a:r>
            <a:endParaRPr lang="en-US" altLang="zh-CN" sz="2400" b="1" kern="0" dirty="0" smtClean="0">
              <a:solidFill>
                <a:srgbClr val="00589A"/>
              </a:solidFill>
              <a:latin typeface="宋体"/>
            </a:endParaRPr>
          </a:p>
        </p:txBody>
      </p:sp>
    </p:spTree>
    <p:custDataLst>
      <p:tags r:id="rId1"/>
    </p:custDataLst>
    <p:extLst>
      <p:ext uri="{BB962C8B-B14F-4D97-AF65-F5344CB8AC3E}">
        <p14:creationId xmlns:p14="http://schemas.microsoft.com/office/powerpoint/2010/main" val="3885583476"/>
      </p:ext>
    </p:extLst>
  </p:cSld>
  <p:clrMapOvr>
    <a:masterClrMapping/>
  </p:clrMapOvr>
  <mc:AlternateContent xmlns:mc="http://schemas.openxmlformats.org/markup-compatibility/2006" xmlns:p14="http://schemas.microsoft.com/office/powerpoint/2010/main">
    <mc:Choice Requires="p14">
      <p:transition spd="slow" p14:dur="2000" advTm="234322"/>
    </mc:Choice>
    <mc:Fallback xmlns="">
      <p:transition spd="slow" advTm="234322"/>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5</a:t>
            </a:fld>
            <a:endParaRPr lang="en-US" altLang="zh-CN" dirty="0">
              <a:solidFill>
                <a:srgbClr val="000000"/>
              </a:solidFill>
            </a:endParaRPr>
          </a:p>
        </p:txBody>
      </p:sp>
      <p:sp>
        <p:nvSpPr>
          <p:cNvPr id="21" name="内容占位符 20"/>
          <p:cNvSpPr>
            <a:spLocks noGrp="1"/>
          </p:cNvSpPr>
          <p:nvPr>
            <p:ph idx="1"/>
          </p:nvPr>
        </p:nvSpPr>
        <p:spPr>
          <a:xfrm>
            <a:off x="395536" y="260648"/>
            <a:ext cx="6746627" cy="648072"/>
          </a:xfrm>
          <a:solidFill>
            <a:srgbClr val="862714"/>
          </a:solidFill>
        </p:spPr>
        <p:txBody>
          <a:bodyPr/>
          <a:lstStyle/>
          <a:p>
            <a:pPr>
              <a:buClr>
                <a:schemeClr val="bg1"/>
              </a:buClr>
              <a:buFont typeface="Wingdings" panose="05000000000000000000" pitchFamily="2" charset="2"/>
              <a:buChar char="l"/>
            </a:pPr>
            <a:r>
              <a:rPr lang="en-US" altLang="zh-CN" sz="3600" dirty="0" smtClean="0">
                <a:solidFill>
                  <a:schemeClr val="bg1"/>
                </a:solidFill>
                <a:latin typeface="Garamond"/>
                <a:ea typeface="华文行楷"/>
                <a:cs typeface="+mj-cs"/>
              </a:rPr>
              <a:t>1.3 </a:t>
            </a:r>
            <a:r>
              <a:rPr lang="zh-CN" altLang="en-US" sz="3600" dirty="0" smtClean="0">
                <a:solidFill>
                  <a:schemeClr val="bg1"/>
                </a:solidFill>
                <a:latin typeface="Garamond"/>
                <a:ea typeface="华文行楷"/>
                <a:cs typeface="+mj-cs"/>
              </a:rPr>
              <a:t>非线性电子线路的基本概念</a:t>
            </a:r>
            <a:endParaRPr lang="zh-CN" altLang="en-US" sz="2800" dirty="0"/>
          </a:p>
        </p:txBody>
      </p:sp>
      <p:sp>
        <p:nvSpPr>
          <p:cNvPr id="12" name="内容占位符 20"/>
          <p:cNvSpPr txBox="1">
            <a:spLocks/>
          </p:cNvSpPr>
          <p:nvPr/>
        </p:nvSpPr>
        <p:spPr bwMode="auto">
          <a:xfrm>
            <a:off x="395536" y="1052736"/>
            <a:ext cx="8208912"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Clr>
                <a:srgbClr val="C00000"/>
              </a:buClr>
              <a:buFont typeface="Wingdings" pitchFamily="2" charset="2"/>
              <a:buChar char="l"/>
            </a:pPr>
            <a:r>
              <a:rPr lang="zh-CN" altLang="en-US" sz="2400" b="1" kern="0" dirty="0" smtClean="0">
                <a:solidFill>
                  <a:srgbClr val="C00000"/>
                </a:solidFill>
                <a:latin typeface="宋体"/>
              </a:rPr>
              <a:t>线性电路</a:t>
            </a:r>
            <a:r>
              <a:rPr lang="en-US" altLang="zh-CN" sz="2400" b="1" kern="0" dirty="0">
                <a:solidFill>
                  <a:srgbClr val="C00000"/>
                </a:solidFill>
                <a:latin typeface="宋体"/>
              </a:rPr>
              <a:t>——</a:t>
            </a:r>
            <a:r>
              <a:rPr lang="zh-CN" altLang="en-US" sz="2400" b="1" kern="0" dirty="0" smtClean="0">
                <a:solidFill>
                  <a:srgbClr val="00589A"/>
                </a:solidFill>
                <a:latin typeface="宋体"/>
              </a:rPr>
              <a:t>全部由线性或处于线性工作状态的元器件组成的电路。伏安特性曲线为</a:t>
            </a:r>
            <a:r>
              <a:rPr lang="zh-CN" altLang="en-US" sz="2400" b="1" kern="0" dirty="0" smtClean="0">
                <a:solidFill>
                  <a:srgbClr val="FF0000"/>
                </a:solidFill>
                <a:latin typeface="宋体"/>
              </a:rPr>
              <a:t>线性函数</a:t>
            </a:r>
            <a:r>
              <a:rPr lang="zh-CN" altLang="en-US" sz="2400" b="1" kern="0" dirty="0" smtClean="0">
                <a:solidFill>
                  <a:srgbClr val="00589A"/>
                </a:solidFill>
                <a:latin typeface="宋体"/>
              </a:rPr>
              <a:t>；</a:t>
            </a:r>
            <a:endParaRPr lang="en-US" altLang="zh-CN" sz="2400" b="1" kern="0" dirty="0" smtClean="0">
              <a:solidFill>
                <a:srgbClr val="00589A"/>
              </a:solidFill>
              <a:latin typeface="宋体"/>
            </a:endParaRPr>
          </a:p>
          <a:p>
            <a:pPr>
              <a:lnSpc>
                <a:spcPct val="150000"/>
              </a:lnSpc>
              <a:buClr>
                <a:srgbClr val="C00000"/>
              </a:buClr>
              <a:buFont typeface="Wingdings" pitchFamily="2" charset="2"/>
              <a:buChar char="l"/>
            </a:pPr>
            <a:r>
              <a:rPr lang="zh-CN" altLang="en-US" sz="2400" b="1" kern="0" dirty="0" smtClean="0">
                <a:solidFill>
                  <a:srgbClr val="C00000"/>
                </a:solidFill>
                <a:latin typeface="宋体"/>
              </a:rPr>
              <a:t>非线性电路</a:t>
            </a:r>
            <a:r>
              <a:rPr lang="en-US" altLang="zh-CN" sz="2400" b="1" kern="0" dirty="0" smtClean="0">
                <a:solidFill>
                  <a:srgbClr val="C00000"/>
                </a:solidFill>
                <a:latin typeface="宋体"/>
              </a:rPr>
              <a:t>——</a:t>
            </a:r>
            <a:r>
              <a:rPr lang="zh-CN" altLang="en-US" sz="2400" b="1" kern="0" dirty="0" smtClean="0">
                <a:solidFill>
                  <a:srgbClr val="00589A"/>
                </a:solidFill>
                <a:latin typeface="宋体"/>
              </a:rPr>
              <a:t>有一个以上非线性或处于非线性工作状态的元器件。伏安特性曲线为</a:t>
            </a:r>
            <a:r>
              <a:rPr lang="zh-CN" altLang="en-US" sz="2400" b="1" kern="0" dirty="0" smtClean="0">
                <a:solidFill>
                  <a:srgbClr val="FF0000"/>
                </a:solidFill>
                <a:latin typeface="宋体"/>
              </a:rPr>
              <a:t>非线性函数</a:t>
            </a:r>
            <a:r>
              <a:rPr lang="zh-CN" altLang="en-US" sz="2400" b="1" kern="0" dirty="0" smtClean="0">
                <a:solidFill>
                  <a:srgbClr val="00589A"/>
                </a:solidFill>
                <a:latin typeface="宋体"/>
              </a:rPr>
              <a:t>；</a:t>
            </a:r>
            <a:endParaRPr lang="en-US" altLang="zh-CN" sz="2400" b="1" kern="0" dirty="0" smtClean="0">
              <a:solidFill>
                <a:srgbClr val="00589A"/>
              </a:solidFill>
              <a:latin typeface="宋体"/>
            </a:endParaRPr>
          </a:p>
          <a:p>
            <a:pPr>
              <a:lnSpc>
                <a:spcPct val="150000"/>
              </a:lnSpc>
              <a:buClr>
                <a:srgbClr val="C00000"/>
              </a:buClr>
              <a:buFont typeface="Wingdings" pitchFamily="2" charset="2"/>
              <a:buChar char="l"/>
            </a:pPr>
            <a:r>
              <a:rPr lang="zh-CN" altLang="en-US" sz="2400" kern="0" dirty="0" smtClean="0">
                <a:solidFill>
                  <a:srgbClr val="005696"/>
                </a:solidFill>
                <a:latin typeface="宋体"/>
              </a:rPr>
              <a:t>线性元件：</a:t>
            </a:r>
            <a:r>
              <a:rPr lang="en-US" altLang="zh-CN" sz="2400" dirty="0">
                <a:solidFill>
                  <a:srgbClr val="FF0066"/>
                </a:solidFill>
                <a:latin typeface="Times New Roman" pitchFamily="18" charset="0"/>
                <a:ea typeface="宋体" pitchFamily="2" charset="-122"/>
              </a:rPr>
              <a:t>R</a:t>
            </a:r>
            <a:r>
              <a:rPr lang="zh-CN" altLang="en-US" sz="2400" dirty="0">
                <a:solidFill>
                  <a:srgbClr val="FF0066"/>
                </a:solidFill>
                <a:latin typeface="Times New Roman" pitchFamily="18" charset="0"/>
                <a:ea typeface="宋体" pitchFamily="2" charset="-122"/>
              </a:rPr>
              <a:t>、</a:t>
            </a:r>
            <a:r>
              <a:rPr lang="en-US" altLang="zh-CN" sz="2400" dirty="0">
                <a:solidFill>
                  <a:srgbClr val="FF0066"/>
                </a:solidFill>
                <a:latin typeface="Times New Roman" pitchFamily="18" charset="0"/>
                <a:ea typeface="宋体" pitchFamily="2" charset="-122"/>
              </a:rPr>
              <a:t>L</a:t>
            </a:r>
            <a:r>
              <a:rPr lang="zh-CN" altLang="en-US" sz="2400" dirty="0">
                <a:solidFill>
                  <a:srgbClr val="FF0066"/>
                </a:solidFill>
                <a:latin typeface="Times New Roman" pitchFamily="18" charset="0"/>
                <a:ea typeface="宋体" pitchFamily="2" charset="-122"/>
              </a:rPr>
              <a:t>、</a:t>
            </a:r>
            <a:r>
              <a:rPr lang="en-US" altLang="zh-CN" sz="2400" dirty="0" smtClean="0">
                <a:solidFill>
                  <a:srgbClr val="FF0066"/>
                </a:solidFill>
                <a:latin typeface="Times New Roman" pitchFamily="18" charset="0"/>
                <a:ea typeface="宋体" pitchFamily="2" charset="-122"/>
              </a:rPr>
              <a:t>C</a:t>
            </a:r>
            <a:r>
              <a:rPr lang="zh-CN" altLang="en-US" sz="2400" dirty="0" smtClean="0">
                <a:solidFill>
                  <a:srgbClr val="FF0066"/>
                </a:solidFill>
                <a:latin typeface="Times New Roman" pitchFamily="18" charset="0"/>
                <a:ea typeface="宋体" pitchFamily="2" charset="-122"/>
              </a:rPr>
              <a:t>        </a:t>
            </a:r>
            <a:r>
              <a:rPr lang="zh-CN" altLang="en-US" sz="2400" kern="0" dirty="0" smtClean="0">
                <a:solidFill>
                  <a:srgbClr val="005696"/>
                </a:solidFill>
                <a:latin typeface="宋体"/>
              </a:rPr>
              <a:t>非线性元件：</a:t>
            </a:r>
            <a:r>
              <a:rPr lang="zh-CN" altLang="en-US" sz="2400" dirty="0">
                <a:solidFill>
                  <a:srgbClr val="FF0066"/>
                </a:solidFill>
                <a:latin typeface="Times New Roman" pitchFamily="18" charset="0"/>
                <a:ea typeface="宋体" pitchFamily="2" charset="-122"/>
              </a:rPr>
              <a:t>二极管</a:t>
            </a:r>
            <a:r>
              <a:rPr lang="zh-CN" altLang="en-US" sz="2400" dirty="0" smtClean="0">
                <a:solidFill>
                  <a:srgbClr val="FF0066"/>
                </a:solidFill>
                <a:latin typeface="Times New Roman" pitchFamily="18" charset="0"/>
                <a:ea typeface="宋体" pitchFamily="2" charset="-122"/>
              </a:rPr>
              <a:t>、</a:t>
            </a:r>
            <a:r>
              <a:rPr lang="zh-CN" altLang="en-US" sz="2400" dirty="0">
                <a:solidFill>
                  <a:srgbClr val="FF0066"/>
                </a:solidFill>
                <a:latin typeface="Times New Roman" pitchFamily="18" charset="0"/>
                <a:ea typeface="宋体" pitchFamily="2" charset="-122"/>
              </a:rPr>
              <a:t>晶体</a:t>
            </a:r>
            <a:r>
              <a:rPr lang="zh-CN" altLang="en-US" sz="2400" dirty="0" smtClean="0">
                <a:solidFill>
                  <a:srgbClr val="FF0066"/>
                </a:solidFill>
                <a:latin typeface="Times New Roman" pitchFamily="18" charset="0"/>
                <a:ea typeface="宋体" pitchFamily="2" charset="-122"/>
              </a:rPr>
              <a:t>管</a:t>
            </a:r>
            <a:endParaRPr lang="en-US" altLang="zh-CN" sz="2400" dirty="0">
              <a:solidFill>
                <a:srgbClr val="FF0066"/>
              </a:solidFill>
              <a:latin typeface="Times New Roman" pitchFamily="18" charset="0"/>
              <a:ea typeface="宋体" pitchFamily="2" charset="-122"/>
            </a:endParaRPr>
          </a:p>
        </p:txBody>
      </p:sp>
      <p:grpSp>
        <p:nvGrpSpPr>
          <p:cNvPr id="7" name="Group 8"/>
          <p:cNvGrpSpPr>
            <a:grpSpLocks/>
          </p:cNvGrpSpPr>
          <p:nvPr/>
        </p:nvGrpSpPr>
        <p:grpSpPr bwMode="auto">
          <a:xfrm>
            <a:off x="1826716" y="4023452"/>
            <a:ext cx="1881188" cy="1752600"/>
            <a:chOff x="0" y="0"/>
            <a:chExt cx="1185" cy="1104"/>
          </a:xfrm>
        </p:grpSpPr>
        <p:sp>
          <p:nvSpPr>
            <p:cNvPr id="8" name="Line 9"/>
            <p:cNvSpPr>
              <a:spLocks noChangeShapeType="1"/>
            </p:cNvSpPr>
            <p:nvPr/>
          </p:nvSpPr>
          <p:spPr bwMode="auto">
            <a:xfrm>
              <a:off x="0" y="654"/>
              <a:ext cx="966" cy="0"/>
            </a:xfrm>
            <a:prstGeom prst="line">
              <a:avLst/>
            </a:prstGeom>
            <a:noFill/>
            <a:ln w="1905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9" name="Line 10"/>
            <p:cNvSpPr>
              <a:spLocks noChangeShapeType="1"/>
            </p:cNvSpPr>
            <p:nvPr/>
          </p:nvSpPr>
          <p:spPr bwMode="auto">
            <a:xfrm rot="-5400000">
              <a:off x="-84" y="612"/>
              <a:ext cx="984" cy="0"/>
            </a:xfrm>
            <a:prstGeom prst="line">
              <a:avLst/>
            </a:prstGeom>
            <a:noFill/>
            <a:ln w="1905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11"/>
            <p:cNvSpPr txBox="1">
              <a:spLocks noChangeArrowheads="1"/>
            </p:cNvSpPr>
            <p:nvPr/>
          </p:nvSpPr>
          <p:spPr bwMode="auto">
            <a:xfrm>
              <a:off x="944" y="480"/>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en-US" altLang="zh-CN" i="1">
                  <a:solidFill>
                    <a:schemeClr val="tx1"/>
                  </a:solidFill>
                  <a:latin typeface="Times New Roman" pitchFamily="18" charset="0"/>
                  <a:ea typeface="宋体" pitchFamily="2" charset="-122"/>
                </a:rPr>
                <a:t>u</a:t>
              </a:r>
            </a:p>
          </p:txBody>
        </p:sp>
        <p:sp>
          <p:nvSpPr>
            <p:cNvPr id="11" name="Text Box 12"/>
            <p:cNvSpPr txBox="1">
              <a:spLocks noChangeArrowheads="1"/>
            </p:cNvSpPr>
            <p:nvPr/>
          </p:nvSpPr>
          <p:spPr bwMode="auto">
            <a:xfrm>
              <a:off x="440"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en-US" altLang="zh-CN" i="1">
                  <a:solidFill>
                    <a:schemeClr val="tx1"/>
                  </a:solidFill>
                  <a:latin typeface="Times New Roman" pitchFamily="18" charset="0"/>
                  <a:ea typeface="宋体" pitchFamily="2" charset="-122"/>
                </a:rPr>
                <a:t>i</a:t>
              </a:r>
            </a:p>
          </p:txBody>
        </p:sp>
        <p:sp>
          <p:nvSpPr>
            <p:cNvPr id="13" name="Text Box 13"/>
            <p:cNvSpPr txBox="1">
              <a:spLocks noChangeArrowheads="1"/>
            </p:cNvSpPr>
            <p:nvPr/>
          </p:nvSpPr>
          <p:spPr bwMode="auto">
            <a:xfrm>
              <a:off x="356" y="59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en-US" altLang="zh-CN" sz="2400" i="1">
                  <a:solidFill>
                    <a:schemeClr val="tx1"/>
                  </a:solidFill>
                  <a:latin typeface="Times New Roman" pitchFamily="18" charset="0"/>
                  <a:ea typeface="宋体" pitchFamily="2" charset="-122"/>
                </a:rPr>
                <a:t>O</a:t>
              </a:r>
            </a:p>
          </p:txBody>
        </p:sp>
        <p:sp>
          <p:nvSpPr>
            <p:cNvPr id="14" name="Line 14"/>
            <p:cNvSpPr>
              <a:spLocks noChangeShapeType="1"/>
            </p:cNvSpPr>
            <p:nvPr/>
          </p:nvSpPr>
          <p:spPr bwMode="auto">
            <a:xfrm flipV="1">
              <a:off x="102" y="294"/>
              <a:ext cx="804" cy="588"/>
            </a:xfrm>
            <a:prstGeom prst="line">
              <a:avLst/>
            </a:prstGeom>
            <a:noFill/>
            <a:ln w="38100">
              <a:solidFill>
                <a:srgbClr val="FF0066"/>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5" name="Group 15"/>
            <p:cNvGrpSpPr>
              <a:grpSpLocks/>
            </p:cNvGrpSpPr>
            <p:nvPr/>
          </p:nvGrpSpPr>
          <p:grpSpPr bwMode="auto">
            <a:xfrm>
              <a:off x="408" y="378"/>
              <a:ext cx="402" cy="267"/>
              <a:chOff x="0" y="0"/>
              <a:chExt cx="402" cy="267"/>
            </a:xfrm>
          </p:grpSpPr>
          <p:sp>
            <p:nvSpPr>
              <p:cNvPr id="18" name="Line 16"/>
              <p:cNvSpPr>
                <a:spLocks noChangeShapeType="1"/>
              </p:cNvSpPr>
              <p:nvPr/>
            </p:nvSpPr>
            <p:spPr bwMode="auto">
              <a:xfrm>
                <a:off x="0" y="0"/>
                <a:ext cx="402" cy="0"/>
              </a:xfrm>
              <a:prstGeom prst="line">
                <a:avLst/>
              </a:prstGeom>
              <a:noFill/>
              <a:ln w="19050">
                <a:solidFill>
                  <a:srgbClr val="0033CC"/>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17"/>
              <p:cNvSpPr>
                <a:spLocks noChangeShapeType="1"/>
              </p:cNvSpPr>
              <p:nvPr/>
            </p:nvSpPr>
            <p:spPr bwMode="auto">
              <a:xfrm rot="-5400000">
                <a:off x="255" y="141"/>
                <a:ext cx="252" cy="0"/>
              </a:xfrm>
              <a:prstGeom prst="line">
                <a:avLst/>
              </a:prstGeom>
              <a:noFill/>
              <a:ln w="19050">
                <a:solidFill>
                  <a:srgbClr val="0033CC"/>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 name="Rectangle 18"/>
            <p:cNvSpPr>
              <a:spLocks noChangeArrowheads="1"/>
            </p:cNvSpPr>
            <p:nvPr/>
          </p:nvSpPr>
          <p:spPr bwMode="auto">
            <a:xfrm>
              <a:off x="630" y="63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en-US" altLang="zh-CN" sz="2400" i="1">
                  <a:solidFill>
                    <a:srgbClr val="0033CC"/>
                  </a:solidFill>
                  <a:latin typeface="Times New Roman" pitchFamily="18" charset="0"/>
                  <a:ea typeface="宋体" pitchFamily="2" charset="-122"/>
                </a:rPr>
                <a:t>U</a:t>
              </a:r>
            </a:p>
          </p:txBody>
        </p:sp>
        <p:sp>
          <p:nvSpPr>
            <p:cNvPr id="17" name="Rectangle 19"/>
            <p:cNvSpPr>
              <a:spLocks noChangeArrowheads="1"/>
            </p:cNvSpPr>
            <p:nvPr/>
          </p:nvSpPr>
          <p:spPr bwMode="auto">
            <a:xfrm>
              <a:off x="168" y="246"/>
              <a:ext cx="1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en-US" altLang="zh-CN" sz="2400" i="1">
                  <a:solidFill>
                    <a:srgbClr val="0033CC"/>
                  </a:solidFill>
                  <a:latin typeface="Times New Roman" pitchFamily="18" charset="0"/>
                  <a:ea typeface="宋体" pitchFamily="2" charset="-122"/>
                </a:rPr>
                <a:t>I</a:t>
              </a:r>
            </a:p>
          </p:txBody>
        </p:sp>
      </p:grpSp>
      <p:grpSp>
        <p:nvGrpSpPr>
          <p:cNvPr id="20" name="Group 20"/>
          <p:cNvGrpSpPr>
            <a:grpSpLocks/>
          </p:cNvGrpSpPr>
          <p:nvPr/>
        </p:nvGrpSpPr>
        <p:grpSpPr bwMode="auto">
          <a:xfrm>
            <a:off x="5162550" y="3947252"/>
            <a:ext cx="2433638" cy="1924050"/>
            <a:chOff x="0" y="0"/>
            <a:chExt cx="1533" cy="1212"/>
          </a:xfrm>
        </p:grpSpPr>
        <p:sp>
          <p:nvSpPr>
            <p:cNvPr id="22" name="Line 21"/>
            <p:cNvSpPr>
              <a:spLocks noChangeShapeType="1"/>
            </p:cNvSpPr>
            <p:nvPr/>
          </p:nvSpPr>
          <p:spPr bwMode="auto">
            <a:xfrm>
              <a:off x="0" y="762"/>
              <a:ext cx="1247" cy="0"/>
            </a:xfrm>
            <a:prstGeom prst="line">
              <a:avLst/>
            </a:prstGeom>
            <a:noFill/>
            <a:ln w="1905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2"/>
            <p:cNvSpPr>
              <a:spLocks noChangeShapeType="1"/>
            </p:cNvSpPr>
            <p:nvPr/>
          </p:nvSpPr>
          <p:spPr bwMode="auto">
            <a:xfrm rot="-5400000">
              <a:off x="-12" y="720"/>
              <a:ext cx="984" cy="0"/>
            </a:xfrm>
            <a:prstGeom prst="line">
              <a:avLst/>
            </a:prstGeom>
            <a:noFill/>
            <a:ln w="19050">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24" name="Text Box 23"/>
            <p:cNvSpPr txBox="1">
              <a:spLocks noChangeArrowheads="1"/>
            </p:cNvSpPr>
            <p:nvPr/>
          </p:nvSpPr>
          <p:spPr bwMode="auto">
            <a:xfrm>
              <a:off x="1226" y="564"/>
              <a:ext cx="24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en-US" altLang="zh-CN" i="1">
                  <a:solidFill>
                    <a:schemeClr val="tx1"/>
                  </a:solidFill>
                  <a:latin typeface="Times New Roman" pitchFamily="18" charset="0"/>
                  <a:ea typeface="宋体" pitchFamily="2" charset="-122"/>
                </a:rPr>
                <a:t>u</a:t>
              </a:r>
            </a:p>
          </p:txBody>
        </p:sp>
        <p:sp>
          <p:nvSpPr>
            <p:cNvPr id="25" name="Text Box 24"/>
            <p:cNvSpPr txBox="1">
              <a:spLocks noChangeArrowheads="1"/>
            </p:cNvSpPr>
            <p:nvPr/>
          </p:nvSpPr>
          <p:spPr bwMode="auto">
            <a:xfrm>
              <a:off x="464" y="0"/>
              <a:ext cx="1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en-US" altLang="zh-CN" i="1">
                  <a:solidFill>
                    <a:schemeClr val="tx1"/>
                  </a:solidFill>
                  <a:latin typeface="Times New Roman" pitchFamily="18" charset="0"/>
                  <a:ea typeface="宋体" pitchFamily="2" charset="-122"/>
                </a:rPr>
                <a:t>i</a:t>
              </a:r>
            </a:p>
          </p:txBody>
        </p:sp>
        <p:sp>
          <p:nvSpPr>
            <p:cNvPr id="26" name="Text Box 25"/>
            <p:cNvSpPr txBox="1">
              <a:spLocks noChangeArrowheads="1"/>
            </p:cNvSpPr>
            <p:nvPr/>
          </p:nvSpPr>
          <p:spPr bwMode="auto">
            <a:xfrm>
              <a:off x="428" y="704"/>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en-US" altLang="zh-CN" sz="2400" i="1" dirty="0">
                  <a:solidFill>
                    <a:schemeClr val="tx1"/>
                  </a:solidFill>
                  <a:latin typeface="Times New Roman" pitchFamily="18" charset="0"/>
                  <a:ea typeface="宋体" pitchFamily="2" charset="-122"/>
                </a:rPr>
                <a:t>O</a:t>
              </a:r>
            </a:p>
          </p:txBody>
        </p:sp>
        <p:sp>
          <p:nvSpPr>
            <p:cNvPr id="27" name="Freeform 26"/>
            <p:cNvSpPr>
              <a:spLocks/>
            </p:cNvSpPr>
            <p:nvPr/>
          </p:nvSpPr>
          <p:spPr bwMode="auto">
            <a:xfrm>
              <a:off x="60" y="174"/>
              <a:ext cx="822" cy="720"/>
            </a:xfrm>
            <a:custGeom>
              <a:avLst/>
              <a:gdLst>
                <a:gd name="T0" fmla="*/ 0 w 822"/>
                <a:gd name="T1" fmla="*/ 720 h 720"/>
                <a:gd name="T2" fmla="*/ 204 w 822"/>
                <a:gd name="T3" fmla="*/ 672 h 720"/>
                <a:gd name="T4" fmla="*/ 426 w 822"/>
                <a:gd name="T5" fmla="*/ 582 h 720"/>
                <a:gd name="T6" fmla="*/ 510 w 822"/>
                <a:gd name="T7" fmla="*/ 522 h 720"/>
                <a:gd name="T8" fmla="*/ 594 w 822"/>
                <a:gd name="T9" fmla="*/ 432 h 720"/>
                <a:gd name="T10" fmla="*/ 720 w 822"/>
                <a:gd name="T11" fmla="*/ 240 h 720"/>
                <a:gd name="T12" fmla="*/ 822 w 822"/>
                <a:gd name="T13" fmla="*/ 0 h 720"/>
                <a:gd name="T14" fmla="*/ 0 60000 65536"/>
                <a:gd name="T15" fmla="*/ 0 60000 65536"/>
                <a:gd name="T16" fmla="*/ 0 60000 65536"/>
                <a:gd name="T17" fmla="*/ 0 60000 65536"/>
                <a:gd name="T18" fmla="*/ 0 60000 65536"/>
                <a:gd name="T19" fmla="*/ 0 60000 65536"/>
                <a:gd name="T20" fmla="*/ 0 60000 65536"/>
                <a:gd name="T21" fmla="*/ 0 w 822"/>
                <a:gd name="T22" fmla="*/ 0 h 720"/>
                <a:gd name="T23" fmla="*/ 822 w 822"/>
                <a:gd name="T24" fmla="*/ 720 h 7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22" h="720">
                  <a:moveTo>
                    <a:pt x="0" y="720"/>
                  </a:moveTo>
                  <a:cubicBezTo>
                    <a:pt x="34" y="712"/>
                    <a:pt x="133" y="695"/>
                    <a:pt x="204" y="672"/>
                  </a:cubicBezTo>
                  <a:cubicBezTo>
                    <a:pt x="275" y="649"/>
                    <a:pt x="375" y="607"/>
                    <a:pt x="426" y="582"/>
                  </a:cubicBezTo>
                  <a:cubicBezTo>
                    <a:pt x="477" y="557"/>
                    <a:pt x="482" y="547"/>
                    <a:pt x="510" y="522"/>
                  </a:cubicBezTo>
                  <a:cubicBezTo>
                    <a:pt x="538" y="497"/>
                    <a:pt x="559" y="479"/>
                    <a:pt x="594" y="432"/>
                  </a:cubicBezTo>
                  <a:cubicBezTo>
                    <a:pt x="629" y="385"/>
                    <a:pt x="682" y="312"/>
                    <a:pt x="720" y="240"/>
                  </a:cubicBezTo>
                  <a:cubicBezTo>
                    <a:pt x="758" y="168"/>
                    <a:pt x="801" y="50"/>
                    <a:pt x="822" y="0"/>
                  </a:cubicBezTo>
                </a:path>
              </a:pathLst>
            </a:custGeom>
            <a:noFill/>
            <a:ln w="38100" cmpd="sng">
              <a:solidFill>
                <a:srgbClr val="FF0066"/>
              </a:solidFill>
              <a:bevel/>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28" name="Group 27"/>
            <p:cNvGrpSpPr>
              <a:grpSpLocks/>
            </p:cNvGrpSpPr>
            <p:nvPr/>
          </p:nvGrpSpPr>
          <p:grpSpPr bwMode="auto">
            <a:xfrm>
              <a:off x="462" y="468"/>
              <a:ext cx="300" cy="285"/>
              <a:chOff x="0" y="0"/>
              <a:chExt cx="402" cy="267"/>
            </a:xfrm>
          </p:grpSpPr>
          <p:sp>
            <p:nvSpPr>
              <p:cNvPr id="41" name="Line 28"/>
              <p:cNvSpPr>
                <a:spLocks noChangeShapeType="1"/>
              </p:cNvSpPr>
              <p:nvPr/>
            </p:nvSpPr>
            <p:spPr bwMode="auto">
              <a:xfrm>
                <a:off x="0" y="0"/>
                <a:ext cx="402" cy="0"/>
              </a:xfrm>
              <a:prstGeom prst="line">
                <a:avLst/>
              </a:prstGeom>
              <a:noFill/>
              <a:ln w="19050">
                <a:solidFill>
                  <a:srgbClr val="0033CC"/>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29"/>
              <p:cNvSpPr>
                <a:spLocks noChangeShapeType="1"/>
              </p:cNvSpPr>
              <p:nvPr/>
            </p:nvSpPr>
            <p:spPr bwMode="auto">
              <a:xfrm rot="-5400000">
                <a:off x="255" y="141"/>
                <a:ext cx="252" cy="0"/>
              </a:xfrm>
              <a:prstGeom prst="line">
                <a:avLst/>
              </a:prstGeom>
              <a:noFill/>
              <a:ln w="19050">
                <a:solidFill>
                  <a:srgbClr val="0033CC"/>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9" name="Rectangle 30"/>
            <p:cNvSpPr>
              <a:spLocks noChangeArrowheads="1"/>
            </p:cNvSpPr>
            <p:nvPr/>
          </p:nvSpPr>
          <p:spPr bwMode="auto">
            <a:xfrm>
              <a:off x="210" y="318"/>
              <a:ext cx="3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en-US" altLang="zh-CN" sz="2400" i="1">
                  <a:solidFill>
                    <a:srgbClr val="0033CC"/>
                  </a:solidFill>
                  <a:latin typeface="Times New Roman" pitchFamily="18" charset="0"/>
                  <a:ea typeface="宋体" pitchFamily="2" charset="-122"/>
                </a:rPr>
                <a:t>I</a:t>
              </a:r>
              <a:r>
                <a:rPr lang="en-US" altLang="zh-CN" sz="2400" baseline="-25000">
                  <a:solidFill>
                    <a:srgbClr val="0033CC"/>
                  </a:solidFill>
                  <a:latin typeface="Times New Roman" pitchFamily="18" charset="0"/>
                  <a:ea typeface="宋体" pitchFamily="2" charset="-122"/>
                </a:rPr>
                <a:t>Q</a:t>
              </a:r>
            </a:p>
          </p:txBody>
        </p:sp>
        <p:sp>
          <p:nvSpPr>
            <p:cNvPr id="30" name="Rectangle 31"/>
            <p:cNvSpPr>
              <a:spLocks noChangeArrowheads="1"/>
            </p:cNvSpPr>
            <p:nvPr/>
          </p:nvSpPr>
          <p:spPr bwMode="auto">
            <a:xfrm>
              <a:off x="630" y="756"/>
              <a:ext cx="3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en-US" altLang="zh-CN" sz="2400" i="1">
                  <a:solidFill>
                    <a:srgbClr val="0033CC"/>
                  </a:solidFill>
                  <a:latin typeface="Times New Roman" pitchFamily="18" charset="0"/>
                  <a:ea typeface="宋体" pitchFamily="2" charset="-122"/>
                </a:rPr>
                <a:t>U</a:t>
              </a:r>
              <a:r>
                <a:rPr lang="en-US" altLang="zh-CN" sz="2400" baseline="-25000">
                  <a:solidFill>
                    <a:srgbClr val="0033CC"/>
                  </a:solidFill>
                  <a:latin typeface="Times New Roman" pitchFamily="18" charset="0"/>
                  <a:ea typeface="宋体" pitchFamily="2" charset="-122"/>
                </a:rPr>
                <a:t>Q</a:t>
              </a:r>
            </a:p>
          </p:txBody>
        </p:sp>
        <p:sp>
          <p:nvSpPr>
            <p:cNvPr id="31" name="Rectangle 32"/>
            <p:cNvSpPr>
              <a:spLocks noChangeArrowheads="1"/>
            </p:cNvSpPr>
            <p:nvPr/>
          </p:nvSpPr>
          <p:spPr bwMode="auto">
            <a:xfrm>
              <a:off x="582" y="204"/>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en-US" altLang="zh-CN" sz="2400" i="1">
                  <a:solidFill>
                    <a:srgbClr val="0033CC"/>
                  </a:solidFill>
                  <a:latin typeface="Times New Roman" pitchFamily="18" charset="0"/>
                  <a:ea typeface="宋体" pitchFamily="2" charset="-122"/>
                </a:rPr>
                <a:t>Q</a:t>
              </a:r>
            </a:p>
          </p:txBody>
        </p:sp>
        <p:sp>
          <p:nvSpPr>
            <p:cNvPr id="32" name="Line 33"/>
            <p:cNvSpPr>
              <a:spLocks noChangeShapeType="1"/>
            </p:cNvSpPr>
            <p:nvPr/>
          </p:nvSpPr>
          <p:spPr bwMode="auto">
            <a:xfrm>
              <a:off x="618" y="630"/>
              <a:ext cx="0" cy="9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 name="Line 34"/>
            <p:cNvSpPr>
              <a:spLocks noChangeShapeType="1"/>
            </p:cNvSpPr>
            <p:nvPr/>
          </p:nvSpPr>
          <p:spPr bwMode="auto">
            <a:xfrm>
              <a:off x="858" y="246"/>
              <a:ext cx="0" cy="48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35"/>
            <p:cNvSpPr>
              <a:spLocks noChangeShapeType="1"/>
            </p:cNvSpPr>
            <p:nvPr/>
          </p:nvSpPr>
          <p:spPr bwMode="auto">
            <a:xfrm>
              <a:off x="858" y="246"/>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Line 36"/>
            <p:cNvSpPr>
              <a:spLocks noChangeShapeType="1"/>
            </p:cNvSpPr>
            <p:nvPr/>
          </p:nvSpPr>
          <p:spPr bwMode="auto">
            <a:xfrm>
              <a:off x="600" y="648"/>
              <a:ext cx="6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37"/>
            <p:cNvSpPr>
              <a:spLocks noChangeShapeType="1"/>
            </p:cNvSpPr>
            <p:nvPr/>
          </p:nvSpPr>
          <p:spPr bwMode="auto">
            <a:xfrm>
              <a:off x="1086" y="252"/>
              <a:ext cx="0" cy="402"/>
            </a:xfrm>
            <a:prstGeom prst="line">
              <a:avLst/>
            </a:prstGeom>
            <a:noFill/>
            <a:ln w="1905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7" name="Line 38"/>
            <p:cNvSpPr>
              <a:spLocks noChangeShapeType="1"/>
            </p:cNvSpPr>
            <p:nvPr/>
          </p:nvSpPr>
          <p:spPr bwMode="auto">
            <a:xfrm rot="5400000">
              <a:off x="738" y="576"/>
              <a:ext cx="6" cy="252"/>
            </a:xfrm>
            <a:prstGeom prst="line">
              <a:avLst/>
            </a:prstGeom>
            <a:noFill/>
            <a:ln w="1905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38" name="Text Box 39"/>
            <p:cNvSpPr txBox="1">
              <a:spLocks noChangeArrowheads="1"/>
            </p:cNvSpPr>
            <p:nvPr/>
          </p:nvSpPr>
          <p:spPr bwMode="auto">
            <a:xfrm>
              <a:off x="884" y="672"/>
              <a:ext cx="4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zh-CN" altLang="en-US" sz="2400" dirty="0">
                  <a:solidFill>
                    <a:srgbClr val="FF0066"/>
                  </a:solidFill>
                  <a:latin typeface="Times New Roman" pitchFamily="18" charset="0"/>
                  <a:ea typeface="宋体" pitchFamily="2" charset="-122"/>
                  <a:sym typeface="Symbol" pitchFamily="18" charset="2"/>
                </a:rPr>
                <a:t></a:t>
              </a:r>
              <a:r>
                <a:rPr lang="en-US" altLang="zh-CN" i="1" dirty="0">
                  <a:solidFill>
                    <a:srgbClr val="FF0066"/>
                  </a:solidFill>
                  <a:latin typeface="Times New Roman" pitchFamily="18" charset="0"/>
                  <a:ea typeface="宋体" pitchFamily="2" charset="-122"/>
                </a:rPr>
                <a:t>u</a:t>
              </a:r>
            </a:p>
          </p:txBody>
        </p:sp>
        <p:sp>
          <p:nvSpPr>
            <p:cNvPr id="39" name="Text Box 40"/>
            <p:cNvSpPr txBox="1">
              <a:spLocks noChangeArrowheads="1"/>
            </p:cNvSpPr>
            <p:nvPr/>
          </p:nvSpPr>
          <p:spPr bwMode="auto">
            <a:xfrm>
              <a:off x="1088" y="258"/>
              <a:ext cx="44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eaLnBrk="1" hangingPunct="1">
                <a:spcBef>
                  <a:spcPct val="0"/>
                </a:spcBef>
                <a:buClrTx/>
                <a:buSzTx/>
                <a:buFont typeface="Wingdings" pitchFamily="2" charset="2"/>
                <a:buNone/>
              </a:pPr>
              <a:r>
                <a:rPr lang="zh-CN" altLang="en-US" sz="2400">
                  <a:solidFill>
                    <a:srgbClr val="FF0066"/>
                  </a:solidFill>
                  <a:latin typeface="Times New Roman" pitchFamily="18" charset="0"/>
                  <a:ea typeface="宋体" pitchFamily="2" charset="-122"/>
                  <a:sym typeface="Symbol" pitchFamily="18" charset="2"/>
                </a:rPr>
                <a:t></a:t>
              </a:r>
              <a:r>
                <a:rPr lang="en-US" altLang="zh-CN" i="1">
                  <a:solidFill>
                    <a:srgbClr val="FF0066"/>
                  </a:solidFill>
                  <a:latin typeface="Times New Roman" pitchFamily="18" charset="0"/>
                  <a:ea typeface="宋体" pitchFamily="2" charset="-122"/>
                </a:rPr>
                <a:t>i</a:t>
              </a:r>
            </a:p>
          </p:txBody>
        </p:sp>
        <p:sp>
          <p:nvSpPr>
            <p:cNvPr id="40" name="Line 41"/>
            <p:cNvSpPr>
              <a:spLocks noChangeShapeType="1"/>
            </p:cNvSpPr>
            <p:nvPr/>
          </p:nvSpPr>
          <p:spPr bwMode="auto">
            <a:xfrm>
              <a:off x="756" y="702"/>
              <a:ext cx="210" cy="1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3" name="AutoShape 42"/>
          <p:cNvSpPr>
            <a:spLocks noChangeArrowheads="1"/>
          </p:cNvSpPr>
          <p:nvPr/>
        </p:nvSpPr>
        <p:spPr bwMode="auto">
          <a:xfrm>
            <a:off x="1518593" y="5887772"/>
            <a:ext cx="1824682" cy="565564"/>
          </a:xfrm>
          <a:prstGeom prst="wedgeRoundRectCallout">
            <a:avLst>
              <a:gd name="adj1" fmla="val 16891"/>
              <a:gd name="adj2" fmla="val -143737"/>
              <a:gd name="adj3" fmla="val 16667"/>
            </a:avLst>
          </a:prstGeom>
          <a:solidFill>
            <a:srgbClr val="CCFFFF"/>
          </a:solidFill>
          <a:ln w="9525">
            <a:solidFill>
              <a:srgbClr val="0033CC"/>
            </a:solidFill>
            <a:miter lim="800000"/>
            <a:headEnd/>
            <a:tailEnd/>
          </a:ln>
        </p:spPr>
        <p:txBody>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algn="ctr" eaLnBrk="1" hangingPunct="1">
              <a:spcBef>
                <a:spcPct val="0"/>
              </a:spcBef>
              <a:buClrTx/>
              <a:buSzTx/>
              <a:buFont typeface="Wingdings" pitchFamily="2" charset="2"/>
              <a:buNone/>
            </a:pPr>
            <a:r>
              <a:rPr lang="zh-CN" altLang="en-US" sz="2400" dirty="0">
                <a:solidFill>
                  <a:srgbClr val="0033CC"/>
                </a:solidFill>
                <a:latin typeface="Times New Roman" pitchFamily="18" charset="0"/>
                <a:ea typeface="宋体" pitchFamily="2" charset="-122"/>
              </a:rPr>
              <a:t>电导为常数 </a:t>
            </a:r>
          </a:p>
        </p:txBody>
      </p:sp>
      <p:sp>
        <p:nvSpPr>
          <p:cNvPr id="44" name="AutoShape 43"/>
          <p:cNvSpPr>
            <a:spLocks noChangeArrowheads="1"/>
          </p:cNvSpPr>
          <p:nvPr/>
        </p:nvSpPr>
        <p:spPr bwMode="auto">
          <a:xfrm>
            <a:off x="5167313" y="5913503"/>
            <a:ext cx="2324100" cy="482021"/>
          </a:xfrm>
          <a:prstGeom prst="wedgeRoundRectCallout">
            <a:avLst>
              <a:gd name="adj1" fmla="val 6740"/>
              <a:gd name="adj2" fmla="val -123458"/>
              <a:gd name="adj3" fmla="val 16667"/>
            </a:avLst>
          </a:prstGeom>
          <a:solidFill>
            <a:srgbClr val="CCFFFF"/>
          </a:solidFill>
          <a:ln w="9525">
            <a:solidFill>
              <a:srgbClr val="0033CC"/>
            </a:solidFill>
            <a:miter lim="800000"/>
            <a:headEnd/>
            <a:tailEnd/>
          </a:ln>
        </p:spPr>
        <p:txBody>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algn="ctr" eaLnBrk="1" hangingPunct="1">
              <a:spcBef>
                <a:spcPct val="0"/>
              </a:spcBef>
              <a:buClrTx/>
              <a:buSzTx/>
              <a:buFont typeface="Wingdings" pitchFamily="2" charset="2"/>
              <a:buNone/>
            </a:pPr>
            <a:r>
              <a:rPr lang="zh-CN" altLang="en-US" sz="2400" dirty="0">
                <a:solidFill>
                  <a:srgbClr val="0033CC"/>
                </a:solidFill>
                <a:latin typeface="Times New Roman" pitchFamily="18" charset="0"/>
                <a:ea typeface="宋体" pitchFamily="2" charset="-122"/>
              </a:rPr>
              <a:t>电导不为常数 </a:t>
            </a:r>
          </a:p>
        </p:txBody>
      </p:sp>
    </p:spTree>
    <p:custDataLst>
      <p:tags r:id="rId1"/>
    </p:custDataLst>
    <p:extLst>
      <p:ext uri="{BB962C8B-B14F-4D97-AF65-F5344CB8AC3E}">
        <p14:creationId xmlns:p14="http://schemas.microsoft.com/office/powerpoint/2010/main" val="3248321154"/>
      </p:ext>
    </p:extLst>
  </p:cSld>
  <p:clrMapOvr>
    <a:masterClrMapping/>
  </p:clrMapOvr>
  <mc:AlternateContent xmlns:mc="http://schemas.openxmlformats.org/markup-compatibility/2006" xmlns:p14="http://schemas.microsoft.com/office/powerpoint/2010/main">
    <mc:Choice Requires="p14">
      <p:transition spd="slow" p14:dur="2000" advTm="3603"/>
    </mc:Choice>
    <mc:Fallback xmlns="">
      <p:transition spd="slow" advTm="3603"/>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内容占位符 20"/>
          <p:cNvSpPr>
            <a:spLocks noGrp="1"/>
          </p:cNvSpPr>
          <p:nvPr>
            <p:ph idx="1"/>
          </p:nvPr>
        </p:nvSpPr>
        <p:spPr>
          <a:xfrm>
            <a:off x="395536" y="260648"/>
            <a:ext cx="6169037" cy="648072"/>
          </a:xfrm>
          <a:solidFill>
            <a:srgbClr val="862714"/>
          </a:solidFill>
        </p:spPr>
        <p:txBody>
          <a:bodyPr/>
          <a:lstStyle/>
          <a:p>
            <a:pPr>
              <a:buClr>
                <a:schemeClr val="bg1"/>
              </a:buClr>
              <a:buFont typeface="Wingdings" panose="05000000000000000000" pitchFamily="2" charset="2"/>
              <a:buChar char="l"/>
            </a:pPr>
            <a:r>
              <a:rPr lang="en-US" altLang="zh-CN" sz="3600" dirty="0" smtClean="0">
                <a:solidFill>
                  <a:schemeClr val="bg1"/>
                </a:solidFill>
                <a:latin typeface="Garamond"/>
                <a:ea typeface="华文行楷"/>
                <a:cs typeface="+mj-cs"/>
              </a:rPr>
              <a:t>1.3.2 </a:t>
            </a:r>
            <a:r>
              <a:rPr lang="zh-CN" altLang="en-US" sz="3600" dirty="0" smtClean="0">
                <a:solidFill>
                  <a:schemeClr val="bg1"/>
                </a:solidFill>
                <a:latin typeface="Garamond"/>
                <a:ea typeface="华文行楷"/>
                <a:cs typeface="+mj-cs"/>
              </a:rPr>
              <a:t>非线性电路的基本特点</a:t>
            </a:r>
            <a:endParaRPr lang="zh-CN" altLang="en-US" sz="2800" dirty="0"/>
          </a:p>
        </p:txBody>
      </p:sp>
      <p:sp>
        <p:nvSpPr>
          <p:cNvPr id="12" name="内容占位符 20"/>
          <p:cNvSpPr txBox="1">
            <a:spLocks/>
          </p:cNvSpPr>
          <p:nvPr/>
        </p:nvSpPr>
        <p:spPr bwMode="auto">
          <a:xfrm>
            <a:off x="395536" y="1556792"/>
            <a:ext cx="8496944" cy="3312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Clr>
                <a:srgbClr val="C00000"/>
              </a:buClr>
              <a:buFont typeface="Wingdings" pitchFamily="2" charset="2"/>
              <a:buChar char="l"/>
            </a:pPr>
            <a:r>
              <a:rPr lang="zh-CN" altLang="en-US" sz="2400" b="1" kern="0" dirty="0" smtClean="0">
                <a:solidFill>
                  <a:srgbClr val="C00000"/>
                </a:solidFill>
                <a:latin typeface="宋体"/>
              </a:rPr>
              <a:t>（</a:t>
            </a:r>
            <a:r>
              <a:rPr lang="en-US" altLang="zh-CN" sz="2400" b="1" kern="0" dirty="0" smtClean="0">
                <a:solidFill>
                  <a:srgbClr val="C00000"/>
                </a:solidFill>
                <a:latin typeface="宋体"/>
              </a:rPr>
              <a:t>1</a:t>
            </a:r>
            <a:r>
              <a:rPr lang="zh-CN" altLang="en-US" sz="2400" b="1" kern="0" dirty="0" smtClean="0">
                <a:solidFill>
                  <a:srgbClr val="C00000"/>
                </a:solidFill>
                <a:latin typeface="宋体"/>
              </a:rPr>
              <a:t>）时变的交变电导。</a:t>
            </a:r>
            <a:endParaRPr lang="en-US" altLang="zh-CN" sz="2800" b="1" kern="0" dirty="0">
              <a:solidFill>
                <a:srgbClr val="C00000"/>
              </a:solidFill>
              <a:latin typeface="Times New Roman"/>
              <a:cs typeface="Times New Roman"/>
            </a:endParaRPr>
          </a:p>
          <a:p>
            <a:pPr indent="342900">
              <a:buClr>
                <a:srgbClr val="00589A"/>
              </a:buClr>
              <a:buSzPct val="50000"/>
            </a:pPr>
            <a:endParaRPr lang="en-US" altLang="zh-CN" sz="2400" kern="0" dirty="0" smtClean="0">
              <a:solidFill>
                <a:srgbClr val="005696"/>
              </a:solidFill>
              <a:latin typeface="宋体"/>
            </a:endParaRPr>
          </a:p>
          <a:p>
            <a:pPr>
              <a:lnSpc>
                <a:spcPct val="150000"/>
              </a:lnSpc>
              <a:buClr>
                <a:srgbClr val="C00000"/>
              </a:buClr>
              <a:buFont typeface="Wingdings" pitchFamily="2" charset="2"/>
              <a:buChar char="l"/>
            </a:pPr>
            <a:r>
              <a:rPr lang="zh-CN" altLang="en-US" sz="2400" b="1" kern="0" dirty="0" smtClean="0">
                <a:solidFill>
                  <a:srgbClr val="C00000"/>
                </a:solidFill>
                <a:latin typeface="宋体"/>
              </a:rPr>
              <a:t>（</a:t>
            </a:r>
            <a:r>
              <a:rPr lang="en-US" altLang="zh-CN" sz="2400" b="1" kern="0" dirty="0" smtClean="0">
                <a:solidFill>
                  <a:srgbClr val="C00000"/>
                </a:solidFill>
                <a:latin typeface="宋体"/>
              </a:rPr>
              <a:t>2</a:t>
            </a:r>
            <a:r>
              <a:rPr lang="zh-CN" altLang="en-US" sz="2400" b="1" kern="0" dirty="0" smtClean="0">
                <a:solidFill>
                  <a:srgbClr val="C00000"/>
                </a:solidFill>
                <a:latin typeface="宋体"/>
              </a:rPr>
              <a:t>）叠加定理不再适用</a:t>
            </a:r>
            <a:endParaRPr lang="en-US" altLang="zh-CN" sz="2400" b="1" kern="0" dirty="0" smtClean="0">
              <a:solidFill>
                <a:srgbClr val="C00000"/>
              </a:solidFill>
              <a:latin typeface="宋体"/>
            </a:endParaRPr>
          </a:p>
          <a:p>
            <a:pPr indent="342900">
              <a:lnSpc>
                <a:spcPct val="150000"/>
              </a:lnSpc>
              <a:buClr>
                <a:srgbClr val="00589A"/>
              </a:buClr>
              <a:buSzPct val="50000"/>
            </a:pPr>
            <a:endParaRPr lang="en-US" altLang="zh-CN" sz="2000" kern="0" dirty="0">
              <a:solidFill>
                <a:srgbClr val="005696"/>
              </a:solidFill>
              <a:latin typeface="宋体"/>
            </a:endParaRPr>
          </a:p>
          <a:p>
            <a:pPr>
              <a:lnSpc>
                <a:spcPct val="150000"/>
              </a:lnSpc>
              <a:buClr>
                <a:srgbClr val="C00000"/>
              </a:buClr>
              <a:buFont typeface="Wingdings" pitchFamily="2" charset="2"/>
              <a:buChar char="l"/>
            </a:pPr>
            <a:r>
              <a:rPr lang="zh-CN" altLang="en-US" sz="2400" b="1" kern="0" dirty="0" smtClean="0">
                <a:solidFill>
                  <a:srgbClr val="C00000"/>
                </a:solidFill>
                <a:latin typeface="宋体"/>
              </a:rPr>
              <a:t>（</a:t>
            </a:r>
            <a:r>
              <a:rPr lang="en-US" altLang="zh-CN" sz="2400" b="1" kern="0" dirty="0" smtClean="0">
                <a:solidFill>
                  <a:srgbClr val="C00000"/>
                </a:solidFill>
                <a:latin typeface="宋体"/>
              </a:rPr>
              <a:t>3</a:t>
            </a:r>
            <a:r>
              <a:rPr lang="zh-CN" altLang="en-US" sz="2400" b="1" kern="0" dirty="0" smtClean="0">
                <a:solidFill>
                  <a:srgbClr val="C00000"/>
                </a:solidFill>
                <a:latin typeface="宋体"/>
              </a:rPr>
              <a:t>）输出</a:t>
            </a:r>
            <a:r>
              <a:rPr lang="zh-CN" altLang="en-US" sz="2400" b="1" kern="0" dirty="0">
                <a:solidFill>
                  <a:srgbClr val="C00000"/>
                </a:solidFill>
                <a:latin typeface="宋体"/>
              </a:rPr>
              <a:t>产生新的频率分量，可用于频率变换（混频器）</a:t>
            </a:r>
            <a:endParaRPr lang="en-US" altLang="zh-CN" sz="2800" b="1" kern="0" dirty="0">
              <a:solidFill>
                <a:srgbClr val="C00000"/>
              </a:solidFill>
              <a:latin typeface="Times New Roman"/>
              <a:cs typeface="Times New Roman"/>
            </a:endParaRPr>
          </a:p>
          <a:p>
            <a:pPr marL="0" indent="0">
              <a:lnSpc>
                <a:spcPct val="150000"/>
              </a:lnSpc>
              <a:buClr>
                <a:srgbClr val="C00000"/>
              </a:buClr>
              <a:buNone/>
            </a:pPr>
            <a:endParaRPr lang="en-US" altLang="zh-CN" sz="2400" b="1" kern="0" dirty="0" smtClean="0">
              <a:solidFill>
                <a:srgbClr val="00589A"/>
              </a:solidFill>
              <a:latin typeface="宋体"/>
            </a:endParaRPr>
          </a:p>
        </p:txBody>
      </p:sp>
      <p:sp>
        <p:nvSpPr>
          <p:cNvPr id="69" name="灯片编号占位符 1"/>
          <p:cNvSpPr txBox="1">
            <a:spLocks noGrp="1" noChangeArrowheads="1"/>
          </p:cNvSpPr>
          <p:nvPr/>
        </p:nvSpPr>
        <p:spPr bwMode="auto">
          <a:xfrm>
            <a:off x="6565008" y="6578377"/>
            <a:ext cx="2205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algn="r" eaLnBrk="1" hangingPunct="1">
              <a:spcBef>
                <a:spcPct val="0"/>
              </a:spcBef>
              <a:buClrTx/>
              <a:buSzTx/>
              <a:buFont typeface="Wingdings" pitchFamily="2" charset="2"/>
              <a:buNone/>
            </a:pPr>
            <a:fld id="{7AC463C5-E041-416F-ABD3-E238F82011FE}" type="slidenum">
              <a:rPr lang="en-US" altLang="zh-CN" sz="1000">
                <a:solidFill>
                  <a:schemeClr val="tx1"/>
                </a:solidFill>
                <a:ea typeface="宋体" pitchFamily="2" charset="-122"/>
              </a:rPr>
              <a:pPr algn="r" eaLnBrk="1" hangingPunct="1">
                <a:spcBef>
                  <a:spcPct val="0"/>
                </a:spcBef>
                <a:buClrTx/>
                <a:buSzTx/>
                <a:buFont typeface="Wingdings" pitchFamily="2" charset="2"/>
                <a:buNone/>
              </a:pPr>
              <a:t>6</a:t>
            </a:fld>
            <a:endParaRPr lang="en-US" altLang="zh-CN" sz="1000">
              <a:solidFill>
                <a:schemeClr val="tx1"/>
              </a:solidFill>
              <a:ea typeface="宋体" pitchFamily="2" charset="-122"/>
            </a:endParaRPr>
          </a:p>
        </p:txBody>
      </p:sp>
    </p:spTree>
    <p:custDataLst>
      <p:tags r:id="rId1"/>
    </p:custDataLst>
    <p:extLst>
      <p:ext uri="{BB962C8B-B14F-4D97-AF65-F5344CB8AC3E}">
        <p14:creationId xmlns:p14="http://schemas.microsoft.com/office/powerpoint/2010/main" val="202707870"/>
      </p:ext>
    </p:extLst>
  </p:cSld>
  <p:clrMapOvr>
    <a:masterClrMapping/>
  </p:clrMapOvr>
  <mc:AlternateContent xmlns:mc="http://schemas.openxmlformats.org/markup-compatibility/2006" xmlns:p14="http://schemas.microsoft.com/office/powerpoint/2010/main">
    <mc:Choice Requires="p14">
      <p:transition spd="slow" p14:dur="2000" advTm="27294"/>
    </mc:Choice>
    <mc:Fallback xmlns="">
      <p:transition spd="slow" advTm="27294"/>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7</a:t>
            </a:fld>
            <a:endParaRPr lang="en-US" altLang="zh-CN" dirty="0">
              <a:solidFill>
                <a:srgbClr val="000000"/>
              </a:solidFill>
            </a:endParaRPr>
          </a:p>
        </p:txBody>
      </p:sp>
      <p:sp>
        <p:nvSpPr>
          <p:cNvPr id="21" name="内容占位符 20"/>
          <p:cNvSpPr>
            <a:spLocks noGrp="1"/>
          </p:cNvSpPr>
          <p:nvPr>
            <p:ph idx="1"/>
          </p:nvPr>
        </p:nvSpPr>
        <p:spPr>
          <a:xfrm>
            <a:off x="395536" y="260648"/>
            <a:ext cx="6192688" cy="648072"/>
          </a:xfrm>
          <a:solidFill>
            <a:srgbClr val="862714"/>
          </a:solidFill>
        </p:spPr>
        <p:txBody>
          <a:bodyPr/>
          <a:lstStyle/>
          <a:p>
            <a:pPr>
              <a:buClr>
                <a:schemeClr val="bg1"/>
              </a:buClr>
              <a:buFont typeface="Wingdings" panose="05000000000000000000" pitchFamily="2" charset="2"/>
              <a:buChar char="l"/>
            </a:pPr>
            <a:r>
              <a:rPr lang="en-US" altLang="zh-CN" sz="3600" dirty="0" smtClean="0">
                <a:solidFill>
                  <a:schemeClr val="bg1"/>
                </a:solidFill>
                <a:latin typeface="Garamond"/>
                <a:ea typeface="华文行楷"/>
                <a:cs typeface="+mj-cs"/>
              </a:rPr>
              <a:t>1.1.1  </a:t>
            </a:r>
            <a:r>
              <a:rPr lang="zh-CN" altLang="en-US" sz="3600" dirty="0" smtClean="0">
                <a:solidFill>
                  <a:schemeClr val="bg1"/>
                </a:solidFill>
                <a:latin typeface="Garamond"/>
                <a:ea typeface="华文行楷"/>
                <a:cs typeface="+mj-cs"/>
              </a:rPr>
              <a:t>通信系统及其基本组成</a:t>
            </a:r>
            <a:endParaRPr lang="zh-CN" altLang="en-US" sz="2800" dirty="0"/>
          </a:p>
        </p:txBody>
      </p:sp>
      <p:sp>
        <p:nvSpPr>
          <p:cNvPr id="12" name="内容占位符 20"/>
          <p:cNvSpPr txBox="1">
            <a:spLocks/>
          </p:cNvSpPr>
          <p:nvPr/>
        </p:nvSpPr>
        <p:spPr bwMode="auto">
          <a:xfrm>
            <a:off x="395536" y="1124744"/>
            <a:ext cx="8389726" cy="5328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buClr>
                <a:srgbClr val="C00000"/>
              </a:buClr>
              <a:buFont typeface="Wingdings" pitchFamily="2" charset="2"/>
              <a:buChar char="l"/>
            </a:pPr>
            <a:r>
              <a:rPr lang="zh-CN" altLang="en-US" sz="2400" b="1" kern="0" dirty="0" smtClean="0">
                <a:solidFill>
                  <a:srgbClr val="C00000"/>
                </a:solidFill>
                <a:latin typeface="宋体"/>
              </a:rPr>
              <a:t>无线通信系统的典型框图</a:t>
            </a:r>
            <a:endParaRPr lang="en-US" altLang="zh-CN" sz="2400" b="1" kern="0" dirty="0">
              <a:solidFill>
                <a:srgbClr val="C00000"/>
              </a:solidFill>
              <a:latin typeface="宋体"/>
            </a:endParaRPr>
          </a:p>
          <a:p>
            <a:pPr>
              <a:buClr>
                <a:srgbClr val="C00000"/>
              </a:buClr>
              <a:buFont typeface="Wingdings" pitchFamily="2" charset="2"/>
              <a:buChar char="l"/>
            </a:pPr>
            <a:endParaRPr lang="en-US" altLang="zh-CN" sz="2400" b="1" kern="0" dirty="0" smtClean="0">
              <a:solidFill>
                <a:srgbClr val="C00000"/>
              </a:solidFill>
              <a:latin typeface="宋体"/>
            </a:endParaRPr>
          </a:p>
          <a:p>
            <a:pPr>
              <a:buClr>
                <a:srgbClr val="C00000"/>
              </a:buClr>
              <a:buFont typeface="Wingdings" pitchFamily="2" charset="2"/>
              <a:buChar char="l"/>
            </a:pPr>
            <a:endParaRPr lang="en-US" altLang="zh-CN" sz="2400" b="1" kern="0" dirty="0">
              <a:solidFill>
                <a:srgbClr val="C00000"/>
              </a:solidFill>
              <a:latin typeface="宋体"/>
            </a:endParaRPr>
          </a:p>
          <a:p>
            <a:pPr>
              <a:buClr>
                <a:srgbClr val="C00000"/>
              </a:buClr>
              <a:buFont typeface="Wingdings" pitchFamily="2" charset="2"/>
              <a:buChar char="l"/>
            </a:pPr>
            <a:endParaRPr lang="en-US" altLang="zh-CN" sz="2400" b="1" kern="0" dirty="0" smtClean="0">
              <a:solidFill>
                <a:srgbClr val="C00000"/>
              </a:solidFill>
              <a:latin typeface="宋体"/>
            </a:endParaRPr>
          </a:p>
          <a:p>
            <a:pPr>
              <a:buClr>
                <a:srgbClr val="C00000"/>
              </a:buClr>
              <a:buFont typeface="Wingdings" pitchFamily="2" charset="2"/>
              <a:buChar char="l"/>
            </a:pPr>
            <a:endParaRPr lang="en-US" altLang="zh-CN" sz="2400" b="1" kern="0" dirty="0">
              <a:solidFill>
                <a:srgbClr val="C00000"/>
              </a:solidFill>
              <a:latin typeface="宋体"/>
            </a:endParaRPr>
          </a:p>
          <a:p>
            <a:pPr>
              <a:buClr>
                <a:srgbClr val="C00000"/>
              </a:buClr>
              <a:buFont typeface="Wingdings" pitchFamily="2" charset="2"/>
              <a:buChar char="l"/>
            </a:pPr>
            <a:endParaRPr lang="en-US" altLang="zh-CN" sz="2400" b="1" kern="0" dirty="0" smtClean="0">
              <a:solidFill>
                <a:srgbClr val="C00000"/>
              </a:solidFill>
              <a:latin typeface="宋体"/>
            </a:endParaRPr>
          </a:p>
          <a:p>
            <a:pPr>
              <a:buClr>
                <a:srgbClr val="C00000"/>
              </a:buClr>
              <a:buFont typeface="Wingdings" pitchFamily="2" charset="2"/>
              <a:buChar char="l"/>
            </a:pPr>
            <a:endParaRPr lang="en-US" altLang="zh-CN" sz="2400" b="1" kern="0" dirty="0">
              <a:solidFill>
                <a:srgbClr val="C00000"/>
              </a:solidFill>
              <a:latin typeface="宋体"/>
            </a:endParaRPr>
          </a:p>
          <a:p>
            <a:pPr marL="0" indent="0">
              <a:buClr>
                <a:srgbClr val="C00000"/>
              </a:buClr>
              <a:buNone/>
            </a:pPr>
            <a:endParaRPr lang="en-US" altLang="zh-CN" sz="2400" b="1" kern="0" dirty="0" smtClean="0">
              <a:solidFill>
                <a:srgbClr val="C00000"/>
              </a:solidFill>
              <a:latin typeface="宋体"/>
            </a:endParaRPr>
          </a:p>
          <a:p>
            <a:pPr>
              <a:buClr>
                <a:srgbClr val="C00000"/>
              </a:buClr>
              <a:buFont typeface="Wingdings" pitchFamily="2" charset="2"/>
              <a:buChar char="l"/>
            </a:pPr>
            <a:r>
              <a:rPr lang="zh-CN" altLang="en-US" sz="2400" b="1" kern="0" dirty="0" smtClean="0">
                <a:solidFill>
                  <a:srgbClr val="C00000"/>
                </a:solidFill>
                <a:latin typeface="宋体"/>
              </a:rPr>
              <a:t>目标</a:t>
            </a:r>
            <a:r>
              <a:rPr lang="en-US" altLang="zh-CN" sz="2400" b="1" kern="0" dirty="0" smtClean="0">
                <a:solidFill>
                  <a:srgbClr val="C00000"/>
                </a:solidFill>
                <a:latin typeface="宋体"/>
              </a:rPr>
              <a:t>1</a:t>
            </a:r>
            <a:r>
              <a:rPr lang="zh-CN" altLang="en-US" sz="2400" b="1" kern="0" dirty="0" smtClean="0">
                <a:solidFill>
                  <a:srgbClr val="C00000"/>
                </a:solidFill>
                <a:latin typeface="宋体"/>
              </a:rPr>
              <a:t>测评</a:t>
            </a:r>
            <a:endParaRPr lang="en-US" altLang="zh-CN" sz="2400" b="1" kern="0" dirty="0">
              <a:solidFill>
                <a:srgbClr val="C00000"/>
              </a:solidFill>
              <a:latin typeface="宋体"/>
            </a:endParaRPr>
          </a:p>
          <a:p>
            <a:pPr indent="0">
              <a:buClr>
                <a:srgbClr val="00589A"/>
              </a:buClr>
              <a:buSzPct val="50000"/>
              <a:buNone/>
            </a:pPr>
            <a:endParaRPr lang="en-US" altLang="zh-CN" sz="2400" kern="0" dirty="0">
              <a:solidFill>
                <a:srgbClr val="005696"/>
              </a:solidFill>
              <a:latin typeface="宋体"/>
            </a:endParaRPr>
          </a:p>
          <a:p>
            <a:pPr indent="342900">
              <a:buClr>
                <a:srgbClr val="00589A"/>
              </a:buClr>
              <a:buSzPct val="50000"/>
            </a:pPr>
            <a:endParaRPr lang="en-US" altLang="zh-CN" sz="2400" kern="0" dirty="0" smtClean="0">
              <a:solidFill>
                <a:srgbClr val="005696"/>
              </a:solidFill>
              <a:latin typeface="宋体"/>
            </a:endParaRPr>
          </a:p>
          <a:p>
            <a:pPr indent="342900">
              <a:buClr>
                <a:srgbClr val="00589A"/>
              </a:buClr>
              <a:buSzPct val="50000"/>
            </a:pPr>
            <a:endParaRPr lang="en-US" altLang="zh-CN" sz="2400" kern="0" dirty="0" smtClean="0">
              <a:solidFill>
                <a:srgbClr val="005696"/>
              </a:solidFill>
              <a:latin typeface="宋体"/>
            </a:endParaRPr>
          </a:p>
        </p:txBody>
      </p:sp>
      <p:pic>
        <p:nvPicPr>
          <p:cNvPr id="23" name="Picture 5" descr="C:\Users\T410\Pictures\图片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2059643"/>
            <a:ext cx="8662987"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椭圆 42"/>
          <p:cNvSpPr/>
          <p:nvPr/>
        </p:nvSpPr>
        <p:spPr bwMode="auto">
          <a:xfrm>
            <a:off x="1641699" y="4206412"/>
            <a:ext cx="1150590" cy="983580"/>
          </a:xfrm>
          <a:prstGeom prst="ellipse">
            <a:avLst/>
          </a:prstGeom>
          <a:noFill/>
          <a:ln w="285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noFill/>
              <a:effectLst/>
              <a:latin typeface="Arial" charset="0"/>
              <a:ea typeface="隶书" pitchFamily="49" charset="-122"/>
            </a:endParaRPr>
          </a:p>
        </p:txBody>
      </p:sp>
      <p:sp>
        <p:nvSpPr>
          <p:cNvPr id="2" name="TextBox 1"/>
          <p:cNvSpPr txBox="1"/>
          <p:nvPr/>
        </p:nvSpPr>
        <p:spPr>
          <a:xfrm>
            <a:off x="3225875" y="4622723"/>
            <a:ext cx="4049507" cy="461665"/>
          </a:xfrm>
          <a:prstGeom prst="rect">
            <a:avLst/>
          </a:prstGeom>
          <a:noFill/>
        </p:spPr>
        <p:txBody>
          <a:bodyPr wrap="none" rtlCol="0">
            <a:spAutoFit/>
          </a:bodyPr>
          <a:lstStyle/>
          <a:p>
            <a:r>
              <a:rPr lang="zh-CN" altLang="en-US" sz="2400" b="1" dirty="0" smtClean="0">
                <a:latin typeface="+mn-ea"/>
              </a:rPr>
              <a:t>目标</a:t>
            </a:r>
            <a:r>
              <a:rPr lang="en-US" altLang="zh-CN" sz="2400" b="1" dirty="0" smtClean="0">
                <a:latin typeface="+mn-ea"/>
              </a:rPr>
              <a:t>1</a:t>
            </a:r>
            <a:r>
              <a:rPr lang="zh-CN" altLang="en-US" sz="2400" b="1" dirty="0" smtClean="0">
                <a:latin typeface="+mn-ea"/>
              </a:rPr>
              <a:t>测评：振荡器的作用？</a:t>
            </a:r>
            <a:endParaRPr lang="zh-CN" altLang="en-US" sz="2400" b="1" dirty="0">
              <a:latin typeface="+mn-ea"/>
            </a:endParaRPr>
          </a:p>
        </p:txBody>
      </p:sp>
      <p:sp>
        <p:nvSpPr>
          <p:cNvPr id="9" name="椭圆 8"/>
          <p:cNvSpPr/>
          <p:nvPr/>
        </p:nvSpPr>
        <p:spPr bwMode="auto">
          <a:xfrm>
            <a:off x="5629523" y="3316695"/>
            <a:ext cx="1150590" cy="983580"/>
          </a:xfrm>
          <a:prstGeom prst="ellipse">
            <a:avLst/>
          </a:prstGeom>
          <a:noFill/>
          <a:ln w="285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noFill/>
              <a:effectLst/>
              <a:latin typeface="Arial" charset="0"/>
              <a:ea typeface="隶书" pitchFamily="49" charset="-122"/>
            </a:endParaRPr>
          </a:p>
        </p:txBody>
      </p:sp>
      <p:sp>
        <p:nvSpPr>
          <p:cNvPr id="3" name="TextBox 2"/>
          <p:cNvSpPr txBox="1"/>
          <p:nvPr/>
        </p:nvSpPr>
        <p:spPr>
          <a:xfrm>
            <a:off x="1432164" y="5234023"/>
            <a:ext cx="1569660" cy="646331"/>
          </a:xfrm>
          <a:prstGeom prst="rect">
            <a:avLst/>
          </a:prstGeom>
          <a:noFill/>
        </p:spPr>
        <p:txBody>
          <a:bodyPr wrap="none" rtlCol="0">
            <a:spAutoFit/>
          </a:bodyPr>
          <a:lstStyle/>
          <a:p>
            <a:r>
              <a:rPr lang="zh-CN" altLang="en-US" dirty="0" smtClean="0">
                <a:solidFill>
                  <a:srgbClr val="FF0000"/>
                </a:solidFill>
              </a:rPr>
              <a:t>产生载波信号</a:t>
            </a:r>
            <a:endParaRPr lang="en-US" altLang="zh-CN" dirty="0" smtClean="0">
              <a:solidFill>
                <a:srgbClr val="FF0000"/>
              </a:solidFill>
            </a:endParaRPr>
          </a:p>
          <a:p>
            <a:r>
              <a:rPr lang="zh-CN" altLang="en-US" dirty="0" smtClean="0">
                <a:solidFill>
                  <a:srgbClr val="FF0000"/>
                </a:solidFill>
              </a:rPr>
              <a:t>用于</a:t>
            </a:r>
            <a:r>
              <a:rPr lang="zh-CN" altLang="en-US" dirty="0">
                <a:solidFill>
                  <a:srgbClr val="FF0000"/>
                </a:solidFill>
              </a:rPr>
              <a:t>调制</a:t>
            </a:r>
          </a:p>
        </p:txBody>
      </p:sp>
      <p:sp>
        <p:nvSpPr>
          <p:cNvPr id="11" name="TextBox 10"/>
          <p:cNvSpPr txBox="1"/>
          <p:nvPr/>
        </p:nvSpPr>
        <p:spPr>
          <a:xfrm>
            <a:off x="6843289" y="3653944"/>
            <a:ext cx="1569660" cy="646331"/>
          </a:xfrm>
          <a:prstGeom prst="rect">
            <a:avLst/>
          </a:prstGeom>
          <a:noFill/>
        </p:spPr>
        <p:txBody>
          <a:bodyPr wrap="none" rtlCol="0">
            <a:spAutoFit/>
          </a:bodyPr>
          <a:lstStyle/>
          <a:p>
            <a:r>
              <a:rPr lang="zh-CN" altLang="en-US" dirty="0" smtClean="0">
                <a:solidFill>
                  <a:srgbClr val="FF0000"/>
                </a:solidFill>
              </a:rPr>
              <a:t>产生本地信号</a:t>
            </a:r>
            <a:endParaRPr lang="en-US" altLang="zh-CN" dirty="0" smtClean="0">
              <a:solidFill>
                <a:srgbClr val="FF0000"/>
              </a:solidFill>
            </a:endParaRPr>
          </a:p>
          <a:p>
            <a:r>
              <a:rPr lang="zh-CN" altLang="en-US" dirty="0" smtClean="0">
                <a:solidFill>
                  <a:srgbClr val="FF0000"/>
                </a:solidFill>
              </a:rPr>
              <a:t>用于频率变换</a:t>
            </a:r>
            <a:endParaRPr lang="zh-CN" altLang="en-US" dirty="0">
              <a:solidFill>
                <a:srgbClr val="FF0000"/>
              </a:solidFill>
            </a:endParaRPr>
          </a:p>
        </p:txBody>
      </p:sp>
    </p:spTree>
    <p:custDataLst>
      <p:tags r:id="rId1"/>
    </p:custDataLst>
    <p:extLst>
      <p:ext uri="{BB962C8B-B14F-4D97-AF65-F5344CB8AC3E}">
        <p14:creationId xmlns:p14="http://schemas.microsoft.com/office/powerpoint/2010/main" val="2529931154"/>
      </p:ext>
    </p:extLst>
  </p:cSld>
  <p:clrMapOvr>
    <a:masterClrMapping/>
  </p:clrMapOvr>
  <mc:AlternateContent xmlns:mc="http://schemas.openxmlformats.org/markup-compatibility/2006" xmlns:p14="http://schemas.microsoft.com/office/powerpoint/2010/main">
    <mc:Choice Requires="p14">
      <p:transition spd="slow" p14:dur="2000" advTm="34"/>
    </mc:Choice>
    <mc:Fallback xmlns="">
      <p:transition spd="slow" advTm="34"/>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8</a:t>
            </a:fld>
            <a:endParaRPr lang="en-US" altLang="zh-CN" dirty="0">
              <a:solidFill>
                <a:srgbClr val="000000"/>
              </a:solidFill>
            </a:endParaRPr>
          </a:p>
        </p:txBody>
      </p:sp>
      <p:sp>
        <p:nvSpPr>
          <p:cNvPr id="21" name="内容占位符 20"/>
          <p:cNvSpPr>
            <a:spLocks noGrp="1"/>
          </p:cNvSpPr>
          <p:nvPr>
            <p:ph idx="1"/>
          </p:nvPr>
        </p:nvSpPr>
        <p:spPr>
          <a:xfrm>
            <a:off x="395536" y="260648"/>
            <a:ext cx="1800200" cy="648072"/>
          </a:xfrm>
          <a:solidFill>
            <a:srgbClr val="862714"/>
          </a:solidFill>
        </p:spPr>
        <p:txBody>
          <a:bodyPr/>
          <a:lstStyle/>
          <a:p>
            <a:pPr>
              <a:buClr>
                <a:schemeClr val="bg1"/>
              </a:buClr>
              <a:buFont typeface="Wingdings" panose="05000000000000000000" pitchFamily="2" charset="2"/>
              <a:buChar char="l"/>
            </a:pPr>
            <a:r>
              <a:rPr lang="zh-CN" altLang="en-US" sz="3600" dirty="0" smtClean="0">
                <a:solidFill>
                  <a:schemeClr val="bg1"/>
                </a:solidFill>
                <a:latin typeface="Garamond"/>
                <a:ea typeface="华文行楷"/>
                <a:cs typeface="+mj-cs"/>
              </a:rPr>
              <a:t>小结</a:t>
            </a:r>
            <a:endParaRPr lang="zh-CN" altLang="en-US" sz="2800" dirty="0"/>
          </a:p>
        </p:txBody>
      </p:sp>
      <p:sp>
        <p:nvSpPr>
          <p:cNvPr id="12" name="内容占位符 20"/>
          <p:cNvSpPr txBox="1">
            <a:spLocks/>
          </p:cNvSpPr>
          <p:nvPr/>
        </p:nvSpPr>
        <p:spPr bwMode="auto">
          <a:xfrm>
            <a:off x="395536" y="1052736"/>
            <a:ext cx="8136904" cy="1296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buClr>
                <a:srgbClr val="C00000"/>
              </a:buClr>
              <a:buFont typeface="Wingdings" pitchFamily="2" charset="2"/>
              <a:buChar char="l"/>
            </a:pPr>
            <a:r>
              <a:rPr lang="zh-CN" altLang="en-US" sz="2400" b="1" kern="0" dirty="0">
                <a:solidFill>
                  <a:srgbClr val="C00000"/>
                </a:solidFill>
                <a:latin typeface="宋体"/>
              </a:rPr>
              <a:t>目标</a:t>
            </a:r>
            <a:r>
              <a:rPr lang="en-US" altLang="zh-CN" sz="2400" b="1" kern="0" dirty="0" smtClean="0">
                <a:solidFill>
                  <a:srgbClr val="C00000"/>
                </a:solidFill>
                <a:latin typeface="宋体"/>
              </a:rPr>
              <a:t>2 </a:t>
            </a:r>
            <a:r>
              <a:rPr lang="zh-CN" altLang="en-US" sz="2400" b="1" kern="0" dirty="0" smtClean="0">
                <a:solidFill>
                  <a:srgbClr val="C00000"/>
                </a:solidFill>
                <a:latin typeface="宋体"/>
              </a:rPr>
              <a:t>测评</a:t>
            </a:r>
            <a:endParaRPr lang="en-US" altLang="zh-CN" sz="2400" b="1" kern="0" dirty="0">
              <a:solidFill>
                <a:srgbClr val="C00000"/>
              </a:solidFill>
              <a:latin typeface="Times New Roman"/>
              <a:cs typeface="Times New Roman"/>
            </a:endParaRPr>
          </a:p>
          <a:p>
            <a:pPr indent="0">
              <a:buClr>
                <a:srgbClr val="00589A"/>
              </a:buClr>
              <a:buSzPct val="50000"/>
              <a:buNone/>
            </a:pPr>
            <a:r>
              <a:rPr lang="zh-CN" altLang="en-US" sz="2400" kern="0" dirty="0" smtClean="0">
                <a:solidFill>
                  <a:srgbClr val="005696"/>
                </a:solidFill>
                <a:latin typeface="宋体"/>
              </a:rPr>
              <a:t>（</a:t>
            </a:r>
            <a:r>
              <a:rPr lang="en-US" altLang="zh-CN" sz="2400" kern="0" dirty="0" smtClean="0">
                <a:solidFill>
                  <a:srgbClr val="005696"/>
                </a:solidFill>
                <a:latin typeface="宋体"/>
              </a:rPr>
              <a:t>1</a:t>
            </a:r>
            <a:r>
              <a:rPr lang="zh-CN" altLang="en-US" sz="2400" kern="0" dirty="0" smtClean="0">
                <a:solidFill>
                  <a:srgbClr val="005696"/>
                </a:solidFill>
                <a:latin typeface="宋体"/>
              </a:rPr>
              <a:t>）高频电路设计和实现为何较难？</a:t>
            </a:r>
            <a:endParaRPr lang="en-US" altLang="zh-CN" sz="2400" kern="0" dirty="0" smtClean="0">
              <a:solidFill>
                <a:srgbClr val="005696"/>
              </a:solidFill>
              <a:latin typeface="宋体"/>
            </a:endParaRPr>
          </a:p>
          <a:p>
            <a:pPr indent="0">
              <a:buClr>
                <a:srgbClr val="00589A"/>
              </a:buClr>
              <a:buSzPct val="50000"/>
              <a:buNone/>
            </a:pPr>
            <a:r>
              <a:rPr lang="zh-CN" altLang="en-US" sz="2400" kern="0" dirty="0" smtClean="0">
                <a:solidFill>
                  <a:srgbClr val="005696"/>
                </a:solidFill>
                <a:latin typeface="宋体"/>
              </a:rPr>
              <a:t>（</a:t>
            </a:r>
            <a:r>
              <a:rPr lang="en-US" altLang="zh-CN" sz="2400" kern="0" dirty="0" smtClean="0">
                <a:solidFill>
                  <a:srgbClr val="005696"/>
                </a:solidFill>
                <a:latin typeface="宋体"/>
              </a:rPr>
              <a:t>2</a:t>
            </a:r>
            <a:r>
              <a:rPr lang="zh-CN" altLang="en-US" sz="2400" kern="0" dirty="0" smtClean="0">
                <a:solidFill>
                  <a:srgbClr val="005696"/>
                </a:solidFill>
                <a:latin typeface="宋体"/>
              </a:rPr>
              <a:t>）如何</a:t>
            </a:r>
            <a:r>
              <a:rPr lang="zh-CN" altLang="en-US" sz="2400" kern="0" dirty="0">
                <a:solidFill>
                  <a:srgbClr val="005696"/>
                </a:solidFill>
                <a:latin typeface="宋体"/>
              </a:rPr>
              <a:t>才能设计出高性能的高频电路</a:t>
            </a:r>
            <a:r>
              <a:rPr lang="zh-CN" altLang="en-US" sz="2400" kern="0" dirty="0" smtClean="0">
                <a:solidFill>
                  <a:srgbClr val="005696"/>
                </a:solidFill>
                <a:latin typeface="宋体"/>
              </a:rPr>
              <a:t>？</a:t>
            </a:r>
            <a:endParaRPr lang="en-US" altLang="zh-CN" sz="2400" kern="0" dirty="0" smtClean="0">
              <a:solidFill>
                <a:srgbClr val="005696"/>
              </a:solidFill>
              <a:latin typeface="宋体"/>
            </a:endParaRPr>
          </a:p>
          <a:p>
            <a:pPr indent="0">
              <a:buClr>
                <a:srgbClr val="00589A"/>
              </a:buClr>
              <a:buSzPct val="50000"/>
              <a:buNone/>
            </a:pPr>
            <a:endParaRPr lang="en-US" altLang="zh-CN" sz="1800" b="1" kern="0" dirty="0">
              <a:solidFill>
                <a:srgbClr val="C00000"/>
              </a:solidFill>
              <a:latin typeface="宋体"/>
            </a:endParaRPr>
          </a:p>
        </p:txBody>
      </p:sp>
      <p:sp>
        <p:nvSpPr>
          <p:cNvPr id="2" name="TextBox 1"/>
          <p:cNvSpPr txBox="1"/>
          <p:nvPr/>
        </p:nvSpPr>
        <p:spPr>
          <a:xfrm>
            <a:off x="788617" y="4303289"/>
            <a:ext cx="4431455" cy="2215991"/>
          </a:xfrm>
          <a:prstGeom prst="rect">
            <a:avLst/>
          </a:prstGeom>
          <a:noFill/>
        </p:spPr>
        <p:txBody>
          <a:bodyPr wrap="square" rtlCol="0">
            <a:spAutoFit/>
          </a:bodyPr>
          <a:lstStyle/>
          <a:p>
            <a:pPr>
              <a:lnSpc>
                <a:spcPct val="150000"/>
              </a:lnSpc>
              <a:buClr>
                <a:srgbClr val="00589A"/>
              </a:buClr>
              <a:buSzPct val="50000"/>
            </a:pPr>
            <a:r>
              <a:rPr lang="zh-CN" altLang="en-US" sz="2000" b="1" kern="0" dirty="0" smtClean="0">
                <a:solidFill>
                  <a:srgbClr val="005696"/>
                </a:solidFill>
                <a:latin typeface="宋体"/>
              </a:rPr>
              <a:t>（</a:t>
            </a:r>
            <a:r>
              <a:rPr lang="en-US" altLang="zh-CN" sz="2000" b="1" kern="0" dirty="0" smtClean="0">
                <a:solidFill>
                  <a:srgbClr val="005696"/>
                </a:solidFill>
                <a:latin typeface="宋体"/>
              </a:rPr>
              <a:t>2</a:t>
            </a:r>
            <a:r>
              <a:rPr lang="zh-CN" altLang="en-US" sz="2000" b="1" kern="0" dirty="0" smtClean="0">
                <a:solidFill>
                  <a:srgbClr val="005696"/>
                </a:solidFill>
                <a:latin typeface="宋体"/>
              </a:rPr>
              <a:t>）</a:t>
            </a:r>
            <a:endParaRPr lang="en-US" altLang="zh-CN" sz="2000" b="1" kern="0" dirty="0" smtClean="0">
              <a:solidFill>
                <a:srgbClr val="005696"/>
              </a:solidFill>
              <a:latin typeface="宋体"/>
            </a:endParaRPr>
          </a:p>
          <a:p>
            <a:pPr marL="342900" indent="-342900">
              <a:lnSpc>
                <a:spcPct val="150000"/>
              </a:lnSpc>
              <a:buClr>
                <a:srgbClr val="00589A"/>
              </a:buClr>
              <a:buSzPct val="50000"/>
              <a:buFont typeface="Wingdings" panose="05000000000000000000" pitchFamily="2" charset="2"/>
              <a:buChar char="u"/>
            </a:pPr>
            <a:r>
              <a:rPr lang="zh-CN" altLang="en-US" sz="2000" b="1" kern="0" dirty="0" smtClean="0">
                <a:solidFill>
                  <a:srgbClr val="005696"/>
                </a:solidFill>
                <a:latin typeface="宋体"/>
              </a:rPr>
              <a:t>确定工作频率</a:t>
            </a:r>
            <a:endParaRPr lang="en-US" altLang="zh-CN" sz="2000" b="1" kern="0" dirty="0" smtClean="0">
              <a:solidFill>
                <a:srgbClr val="005696"/>
              </a:solidFill>
              <a:latin typeface="宋体"/>
            </a:endParaRPr>
          </a:p>
          <a:p>
            <a:pPr marL="342900" indent="-342900">
              <a:lnSpc>
                <a:spcPct val="150000"/>
              </a:lnSpc>
              <a:buClr>
                <a:srgbClr val="00589A"/>
              </a:buClr>
              <a:buSzPct val="50000"/>
              <a:buFont typeface="Wingdings" panose="05000000000000000000" pitchFamily="2" charset="2"/>
              <a:buChar char="u"/>
            </a:pPr>
            <a:r>
              <a:rPr lang="zh-CN" altLang="en-US" sz="2000" b="1" kern="0" dirty="0" smtClean="0">
                <a:solidFill>
                  <a:srgbClr val="005696"/>
                </a:solidFill>
                <a:latin typeface="宋体"/>
              </a:rPr>
              <a:t>建立</a:t>
            </a:r>
            <a:r>
              <a:rPr lang="zh-CN" altLang="en-US" sz="2000" b="1" kern="0" dirty="0">
                <a:solidFill>
                  <a:srgbClr val="005696"/>
                </a:solidFill>
                <a:latin typeface="宋体"/>
              </a:rPr>
              <a:t>正确的电路模型</a:t>
            </a:r>
            <a:endParaRPr lang="en-US" altLang="zh-CN" sz="2000" b="1" kern="0" dirty="0">
              <a:solidFill>
                <a:srgbClr val="005696"/>
              </a:solidFill>
              <a:latin typeface="宋体"/>
            </a:endParaRPr>
          </a:p>
          <a:p>
            <a:pPr marL="342900" indent="-342900">
              <a:lnSpc>
                <a:spcPct val="150000"/>
              </a:lnSpc>
              <a:buClr>
                <a:srgbClr val="00589A"/>
              </a:buClr>
              <a:buSzPct val="50000"/>
              <a:buFont typeface="Wingdings" panose="05000000000000000000" pitchFamily="2" charset="2"/>
              <a:buChar char="u"/>
            </a:pPr>
            <a:r>
              <a:rPr lang="zh-CN" altLang="en-US" sz="2000" b="1" kern="0" dirty="0">
                <a:solidFill>
                  <a:srgbClr val="005696"/>
                </a:solidFill>
                <a:latin typeface="宋体"/>
              </a:rPr>
              <a:t>考虑分布参数的影响</a:t>
            </a:r>
            <a:endParaRPr lang="en-US" altLang="zh-CN" sz="2000" b="1" kern="0" dirty="0">
              <a:solidFill>
                <a:srgbClr val="005696"/>
              </a:solidFill>
              <a:latin typeface="宋体"/>
            </a:endParaRPr>
          </a:p>
          <a:p>
            <a:endParaRPr lang="zh-CN" altLang="en-US" dirty="0"/>
          </a:p>
        </p:txBody>
      </p:sp>
      <p:sp>
        <p:nvSpPr>
          <p:cNvPr id="6" name="TextBox 5"/>
          <p:cNvSpPr txBox="1"/>
          <p:nvPr/>
        </p:nvSpPr>
        <p:spPr>
          <a:xfrm>
            <a:off x="737574" y="2348880"/>
            <a:ext cx="7452828" cy="1938992"/>
          </a:xfrm>
          <a:prstGeom prst="rect">
            <a:avLst/>
          </a:prstGeom>
          <a:noFill/>
        </p:spPr>
        <p:txBody>
          <a:bodyPr wrap="square" rtlCol="0">
            <a:spAutoFit/>
          </a:bodyPr>
          <a:lstStyle/>
          <a:p>
            <a:pPr>
              <a:lnSpc>
                <a:spcPct val="150000"/>
              </a:lnSpc>
              <a:buClr>
                <a:srgbClr val="00589A"/>
              </a:buClr>
              <a:buSzPct val="50000"/>
            </a:pPr>
            <a:r>
              <a:rPr lang="zh-CN" altLang="en-US" sz="2000" b="1" kern="0" dirty="0" smtClean="0">
                <a:solidFill>
                  <a:srgbClr val="005696"/>
                </a:solidFill>
                <a:latin typeface="宋体"/>
              </a:rPr>
              <a:t>（</a:t>
            </a:r>
            <a:r>
              <a:rPr lang="en-US" altLang="zh-CN" sz="2000" b="1" kern="0" dirty="0" smtClean="0">
                <a:solidFill>
                  <a:srgbClr val="005696"/>
                </a:solidFill>
                <a:latin typeface="宋体"/>
              </a:rPr>
              <a:t>1</a:t>
            </a:r>
            <a:r>
              <a:rPr lang="zh-CN" altLang="en-US" sz="2000" b="1" kern="0" dirty="0" smtClean="0">
                <a:solidFill>
                  <a:srgbClr val="005696"/>
                </a:solidFill>
                <a:latin typeface="宋体"/>
              </a:rPr>
              <a:t>）</a:t>
            </a:r>
            <a:r>
              <a:rPr lang="en-US" altLang="zh-CN" sz="2000" b="1" kern="0" dirty="0" smtClean="0">
                <a:solidFill>
                  <a:srgbClr val="005696"/>
                </a:solidFill>
                <a:latin typeface="宋体"/>
              </a:rPr>
              <a:t>P5</a:t>
            </a:r>
            <a:r>
              <a:rPr lang="zh-CN" altLang="en-US" sz="2000" b="1" kern="0" dirty="0" smtClean="0">
                <a:solidFill>
                  <a:srgbClr val="005696"/>
                </a:solidFill>
                <a:latin typeface="宋体"/>
              </a:rPr>
              <a:t>：</a:t>
            </a:r>
            <a:endParaRPr lang="en-US" altLang="zh-CN" sz="2000" b="1" kern="0" dirty="0" smtClean="0">
              <a:solidFill>
                <a:srgbClr val="005696"/>
              </a:solidFill>
              <a:latin typeface="宋体"/>
            </a:endParaRPr>
          </a:p>
          <a:p>
            <a:pPr marL="342900" indent="-342900">
              <a:lnSpc>
                <a:spcPct val="150000"/>
              </a:lnSpc>
              <a:buClr>
                <a:srgbClr val="00589A"/>
              </a:buClr>
              <a:buSzPct val="50000"/>
              <a:buFont typeface="Wingdings" panose="05000000000000000000" pitchFamily="2" charset="2"/>
              <a:buChar char="u"/>
            </a:pPr>
            <a:r>
              <a:rPr lang="zh-CN" altLang="en-US" sz="2000" b="1" kern="0" dirty="0" smtClean="0">
                <a:solidFill>
                  <a:srgbClr val="005696"/>
                </a:solidFill>
                <a:latin typeface="宋体"/>
              </a:rPr>
              <a:t>高频电路中器件存在非线性、时变性、不稳定性、器件模型的不准确性；</a:t>
            </a:r>
            <a:endParaRPr lang="en-US" altLang="zh-CN" sz="2000" b="1" kern="0" dirty="0" smtClean="0">
              <a:solidFill>
                <a:srgbClr val="005696"/>
              </a:solidFill>
              <a:latin typeface="宋体"/>
            </a:endParaRPr>
          </a:p>
          <a:p>
            <a:pPr marL="342900" indent="-342900">
              <a:lnSpc>
                <a:spcPct val="150000"/>
              </a:lnSpc>
              <a:buClr>
                <a:srgbClr val="00589A"/>
              </a:buClr>
              <a:buSzPct val="50000"/>
              <a:buFont typeface="Wingdings" panose="05000000000000000000" pitchFamily="2" charset="2"/>
              <a:buChar char="u"/>
            </a:pPr>
            <a:r>
              <a:rPr lang="zh-CN" altLang="en-US" sz="2000" b="1" kern="0" dirty="0" smtClean="0">
                <a:solidFill>
                  <a:srgbClr val="005696"/>
                </a:solidFill>
                <a:latin typeface="宋体"/>
              </a:rPr>
              <a:t>分布与寄生参数的影响</a:t>
            </a:r>
            <a:endParaRPr lang="zh-CN" altLang="en-US" sz="1600" dirty="0"/>
          </a:p>
        </p:txBody>
      </p:sp>
    </p:spTree>
    <p:custDataLst>
      <p:tags r:id="rId1"/>
    </p:custDataLst>
    <p:extLst>
      <p:ext uri="{BB962C8B-B14F-4D97-AF65-F5344CB8AC3E}">
        <p14:creationId xmlns:p14="http://schemas.microsoft.com/office/powerpoint/2010/main" val="2501197442"/>
      </p:ext>
    </p:extLst>
  </p:cSld>
  <p:clrMapOvr>
    <a:masterClrMapping/>
  </p:clrMapOvr>
  <mc:AlternateContent xmlns:mc="http://schemas.openxmlformats.org/markup-compatibility/2006" xmlns:p14="http://schemas.microsoft.com/office/powerpoint/2010/main">
    <mc:Choice Requires="p14">
      <p:transition spd="slow" p14:dur="2000" advTm="1176"/>
    </mc:Choice>
    <mc:Fallback xmlns="">
      <p:transition spd="slow" advTm="1176"/>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灯片编号占位符 1"/>
          <p:cNvSpPr txBox="1">
            <a:spLocks noGrp="1" noChangeArrowheads="1"/>
          </p:cNvSpPr>
          <p:nvPr/>
        </p:nvSpPr>
        <p:spPr bwMode="auto">
          <a:xfrm>
            <a:off x="6565008" y="6578377"/>
            <a:ext cx="2205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rgbClr val="0000FF"/>
                </a:solidFill>
                <a:latin typeface="Arial" pitchFamily="34" charset="0"/>
                <a:ea typeface="黑体" pitchFamily="49" charset="-122"/>
              </a:defRPr>
            </a:lvl1pPr>
            <a:lvl2pPr marL="742950" indent="-285750" eaLnBrk="0" hangingPunct="0">
              <a:buClr>
                <a:srgbClr val="CCCC00"/>
              </a:buClr>
              <a:buSzPct val="60000"/>
              <a:buChar char="n"/>
              <a:defRPr sz="2400">
                <a:solidFill>
                  <a:schemeClr val="tx1"/>
                </a:solidFill>
                <a:latin typeface="Arial" pitchFamily="34" charset="0"/>
                <a:ea typeface="宋体" pitchFamily="2" charset="-122"/>
              </a:defRPr>
            </a:lvl2pPr>
            <a:lvl3pPr marL="1143000" indent="-228600" eaLnBrk="0" hangingPunct="0">
              <a:buClr>
                <a:schemeClr val="folHlink"/>
              </a:buClr>
              <a:buSzPct val="80000"/>
              <a:buChar char="•"/>
              <a:defRPr sz="2300">
                <a:solidFill>
                  <a:schemeClr val="tx1"/>
                </a:solidFill>
                <a:latin typeface="Arial" pitchFamily="34" charset="0"/>
                <a:ea typeface="宋体" pitchFamily="2" charset="-122"/>
              </a:defRPr>
            </a:lvl3pPr>
            <a:lvl4pPr marL="1600200" indent="-228600" eaLnBrk="0" hangingPunct="0">
              <a:buClr>
                <a:schemeClr val="tx2"/>
              </a:buClr>
              <a:buSzPct val="75000"/>
              <a:buChar char="§"/>
              <a:defRPr sz="2000">
                <a:solidFill>
                  <a:schemeClr val="tx1"/>
                </a:solidFill>
                <a:latin typeface="Arial" pitchFamily="34" charset="0"/>
                <a:ea typeface="宋体" pitchFamily="2" charset="-122"/>
              </a:defRPr>
            </a:lvl4pPr>
            <a:lvl5pPr marL="2057400" indent="-228600" eaLnBrk="0" hangingPunct="0">
              <a:buClr>
                <a:schemeClr val="folHlink"/>
              </a:buClr>
              <a:buSzPct val="80000"/>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itchFamily="34" charset="0"/>
                <a:ea typeface="宋体" pitchFamily="2" charset="-122"/>
              </a:defRPr>
            </a:lvl9pPr>
          </a:lstStyle>
          <a:p>
            <a:pPr algn="r" eaLnBrk="1" hangingPunct="1">
              <a:spcBef>
                <a:spcPct val="0"/>
              </a:spcBef>
              <a:buClrTx/>
              <a:buSzTx/>
              <a:buFont typeface="Wingdings" pitchFamily="2" charset="2"/>
              <a:buNone/>
            </a:pPr>
            <a:fld id="{7AC463C5-E041-416F-ABD3-E238F82011FE}" type="slidenum">
              <a:rPr lang="en-US" altLang="zh-CN" sz="1000">
                <a:solidFill>
                  <a:schemeClr val="tx1"/>
                </a:solidFill>
                <a:ea typeface="宋体" pitchFamily="2" charset="-122"/>
              </a:rPr>
              <a:pPr algn="r" eaLnBrk="1" hangingPunct="1">
                <a:spcBef>
                  <a:spcPct val="0"/>
                </a:spcBef>
                <a:buClrTx/>
                <a:buSzTx/>
                <a:buFont typeface="Wingdings" pitchFamily="2" charset="2"/>
                <a:buNone/>
              </a:pPr>
              <a:t>9</a:t>
            </a:fld>
            <a:endParaRPr lang="en-US" altLang="zh-CN" sz="1000">
              <a:solidFill>
                <a:schemeClr val="tx1"/>
              </a:solidFill>
              <a:ea typeface="宋体" pitchFamily="2" charset="-122"/>
            </a:endParaRPr>
          </a:p>
        </p:txBody>
      </p:sp>
      <p:pic>
        <p:nvPicPr>
          <p:cNvPr id="5" name="Picture 2" descr="思考"/>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686" y="1431345"/>
            <a:ext cx="1264165" cy="1061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015851" y="2823922"/>
            <a:ext cx="6437243" cy="1723549"/>
          </a:xfrm>
          <a:prstGeom prst="rect">
            <a:avLst/>
          </a:prstGeom>
        </p:spPr>
        <p:txBody>
          <a:bodyPr wrap="square">
            <a:spAutoFit/>
          </a:bodyPr>
          <a:lstStyle/>
          <a:p>
            <a:pPr>
              <a:buClr>
                <a:srgbClr val="C00000"/>
              </a:buClr>
              <a:buSzPct val="50000"/>
              <a:buFont typeface="Wingdings" pitchFamily="2" charset="2"/>
              <a:buChar char="l"/>
            </a:pPr>
            <a:r>
              <a:rPr lang="zh-CN" altLang="en-US" sz="3200" b="1" kern="0" dirty="0">
                <a:solidFill>
                  <a:srgbClr val="C00000"/>
                </a:solidFill>
                <a:latin typeface="宋体"/>
              </a:rPr>
              <a:t>目标</a:t>
            </a:r>
            <a:r>
              <a:rPr lang="en-US" altLang="zh-CN" sz="3200" b="1" kern="0" dirty="0">
                <a:solidFill>
                  <a:srgbClr val="C00000"/>
                </a:solidFill>
                <a:latin typeface="宋体"/>
              </a:rPr>
              <a:t>3</a:t>
            </a:r>
            <a:r>
              <a:rPr lang="zh-CN" altLang="en-US" sz="3200" b="1" kern="0" dirty="0">
                <a:solidFill>
                  <a:srgbClr val="C00000"/>
                </a:solidFill>
                <a:latin typeface="宋体"/>
              </a:rPr>
              <a:t>测评：</a:t>
            </a:r>
            <a:endParaRPr lang="en-US" altLang="zh-CN" sz="3200" b="1" kern="0" dirty="0">
              <a:solidFill>
                <a:srgbClr val="C00000"/>
              </a:solidFill>
              <a:latin typeface="Times New Roman"/>
              <a:cs typeface="Times New Roman"/>
            </a:endParaRPr>
          </a:p>
          <a:p>
            <a:pPr indent="342900">
              <a:buClr>
                <a:srgbClr val="00589A"/>
              </a:buClr>
              <a:buSzPct val="50000"/>
            </a:pPr>
            <a:r>
              <a:rPr lang="zh-CN" altLang="en-US" sz="2800" kern="0" dirty="0">
                <a:solidFill>
                  <a:srgbClr val="005696"/>
                </a:solidFill>
                <a:latin typeface="宋体"/>
              </a:rPr>
              <a:t>高频电路中非线性电路有何作用？</a:t>
            </a:r>
            <a:endParaRPr lang="en-US" altLang="zh-CN" sz="2800" kern="0" dirty="0">
              <a:solidFill>
                <a:srgbClr val="005696"/>
              </a:solidFill>
              <a:latin typeface="宋体"/>
            </a:endParaRPr>
          </a:p>
          <a:p>
            <a:pPr indent="0">
              <a:buClr>
                <a:srgbClr val="00589A"/>
              </a:buClr>
              <a:buSzPct val="50000"/>
              <a:buNone/>
            </a:pPr>
            <a:r>
              <a:rPr lang="en-US" altLang="zh-CN" b="1" kern="0" dirty="0">
                <a:solidFill>
                  <a:srgbClr val="005696"/>
                </a:solidFill>
                <a:latin typeface="宋体"/>
                <a:cs typeface="Times New Roman"/>
              </a:rPr>
              <a:t>  </a:t>
            </a:r>
          </a:p>
          <a:p>
            <a:pPr indent="0">
              <a:buClr>
                <a:srgbClr val="00589A"/>
              </a:buClr>
              <a:buSzPct val="50000"/>
              <a:buNone/>
            </a:pPr>
            <a:r>
              <a:rPr lang="en-US" altLang="zh-CN" sz="2800" b="1" kern="0" dirty="0">
                <a:solidFill>
                  <a:srgbClr val="005696"/>
                </a:solidFill>
                <a:latin typeface="宋体"/>
                <a:cs typeface="Times New Roman"/>
              </a:rPr>
              <a:t>   </a:t>
            </a:r>
            <a:r>
              <a:rPr lang="zh-CN" altLang="en-US" sz="2800" b="1" kern="0" dirty="0">
                <a:solidFill>
                  <a:srgbClr val="005696"/>
                </a:solidFill>
                <a:latin typeface="宋体"/>
                <a:cs typeface="Times New Roman"/>
              </a:rPr>
              <a:t>放大、频率变换</a:t>
            </a:r>
            <a:endParaRPr lang="en-US" altLang="zh-CN" sz="2800" b="1" kern="0" dirty="0">
              <a:solidFill>
                <a:srgbClr val="00B0F0"/>
              </a:solidFill>
              <a:latin typeface="Times New Roman"/>
              <a:cs typeface="Times New Roman"/>
            </a:endParaRPr>
          </a:p>
        </p:txBody>
      </p:sp>
    </p:spTree>
    <p:custDataLst>
      <p:tags r:id="rId1"/>
    </p:custDataLst>
    <p:extLst>
      <p:ext uri="{BB962C8B-B14F-4D97-AF65-F5344CB8AC3E}">
        <p14:creationId xmlns:p14="http://schemas.microsoft.com/office/powerpoint/2010/main" val="1488726489"/>
      </p:ext>
    </p:extLst>
  </p:cSld>
  <p:clrMapOvr>
    <a:masterClrMapping/>
  </p:clrMapOvr>
  <mc:AlternateContent xmlns:mc="http://schemas.openxmlformats.org/markup-compatibility/2006" xmlns:p14="http://schemas.microsoft.com/office/powerpoint/2010/main">
    <mc:Choice Requires="p14">
      <p:transition spd="slow" p14:dur="2000" advTm="73481"/>
    </mc:Choice>
    <mc:Fallback xmlns="">
      <p:transition spd="slow" advTm="73481"/>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309495" y="2703941"/>
            <a:ext cx="6696744" cy="584775"/>
          </a:xfrm>
          <a:prstGeom prst="rect">
            <a:avLst/>
          </a:prstGeom>
          <a:noFill/>
        </p:spPr>
        <p:txBody>
          <a:bodyPr wrap="square" rtlCol="0">
            <a:spAutoFit/>
          </a:bodyPr>
          <a:lstStyle/>
          <a:p>
            <a:r>
              <a:rPr lang="zh-CN" altLang="en-US" sz="3200" b="1" dirty="0" smtClean="0"/>
              <a:t>第二章  谐振与小信号选频放大电路</a:t>
            </a:r>
            <a:endParaRPr lang="zh-CN" altLang="en-US" sz="3200" b="1" dirty="0"/>
          </a:p>
        </p:txBody>
      </p:sp>
    </p:spTree>
    <p:extLst>
      <p:ext uri="{BB962C8B-B14F-4D97-AF65-F5344CB8AC3E}">
        <p14:creationId xmlns:p14="http://schemas.microsoft.com/office/powerpoint/2010/main" val="11513040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11</a:t>
            </a:fld>
            <a:endParaRPr lang="en-US" altLang="zh-CN" dirty="0">
              <a:solidFill>
                <a:srgbClr val="000000"/>
              </a:solidFill>
            </a:endParaRPr>
          </a:p>
        </p:txBody>
      </p:sp>
      <p:sp>
        <p:nvSpPr>
          <p:cNvPr id="21" name="内容占位符 20"/>
          <p:cNvSpPr>
            <a:spLocks noGrp="1"/>
          </p:cNvSpPr>
          <p:nvPr>
            <p:ph idx="1"/>
          </p:nvPr>
        </p:nvSpPr>
        <p:spPr>
          <a:xfrm>
            <a:off x="395536" y="260648"/>
            <a:ext cx="4176464" cy="648072"/>
          </a:xfrm>
          <a:solidFill>
            <a:srgbClr val="862714"/>
          </a:solidFill>
        </p:spPr>
        <p:txBody>
          <a:bodyPr/>
          <a:lstStyle/>
          <a:p>
            <a:pPr>
              <a:buClr>
                <a:schemeClr val="bg1"/>
              </a:buClr>
              <a:buFont typeface="Wingdings" panose="05000000000000000000" pitchFamily="2" charset="2"/>
              <a:buChar char="l"/>
            </a:pPr>
            <a:r>
              <a:rPr lang="en-US" altLang="zh-CN" sz="3600" dirty="0">
                <a:solidFill>
                  <a:schemeClr val="bg1"/>
                </a:solidFill>
                <a:latin typeface="Garamond"/>
                <a:ea typeface="华文行楷"/>
                <a:cs typeface="+mj-cs"/>
              </a:rPr>
              <a:t>2.1 </a:t>
            </a:r>
            <a:r>
              <a:rPr lang="zh-CN" altLang="en-US" sz="3600" dirty="0">
                <a:solidFill>
                  <a:schemeClr val="bg1"/>
                </a:solidFill>
                <a:latin typeface="Garamond"/>
                <a:ea typeface="华文行楷"/>
                <a:cs typeface="+mj-cs"/>
              </a:rPr>
              <a:t>选频电路概述</a:t>
            </a:r>
            <a:endParaRPr lang="zh-CN" altLang="en-US" sz="2800" dirty="0"/>
          </a:p>
        </p:txBody>
      </p:sp>
      <p:sp>
        <p:nvSpPr>
          <p:cNvPr id="12" name="内容占位符 20"/>
          <p:cNvSpPr txBox="1">
            <a:spLocks/>
          </p:cNvSpPr>
          <p:nvPr/>
        </p:nvSpPr>
        <p:spPr bwMode="auto">
          <a:xfrm>
            <a:off x="356470" y="1124744"/>
            <a:ext cx="6591794" cy="2837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buClr>
                <a:srgbClr val="C00000"/>
              </a:buClr>
              <a:buFont typeface="Wingdings" panose="05000000000000000000" pitchFamily="2" charset="2"/>
              <a:buChar char="l"/>
            </a:pPr>
            <a:r>
              <a:rPr lang="zh-CN" altLang="en-US" sz="2400" b="1" kern="0" dirty="0">
                <a:solidFill>
                  <a:srgbClr val="FF0000"/>
                </a:solidFill>
                <a:latin typeface="+mn-ea"/>
                <a:cs typeface="+mj-cs"/>
              </a:rPr>
              <a:t>选频电路三大指标：</a:t>
            </a:r>
            <a:endParaRPr lang="en-US" altLang="zh-CN" sz="2400" b="1" kern="0" dirty="0">
              <a:solidFill>
                <a:srgbClr val="FF0000"/>
              </a:solidFill>
              <a:latin typeface="+mn-ea"/>
              <a:cs typeface="+mj-cs"/>
            </a:endParaRPr>
          </a:p>
          <a:p>
            <a:pPr>
              <a:lnSpc>
                <a:spcPct val="150000"/>
              </a:lnSpc>
              <a:buClr>
                <a:srgbClr val="002060"/>
              </a:buClr>
              <a:buSzPct val="50000"/>
            </a:pPr>
            <a:r>
              <a:rPr lang="zh-CN" altLang="en-US" sz="2000" b="1" kern="0" dirty="0">
                <a:solidFill>
                  <a:srgbClr val="005696"/>
                </a:solidFill>
                <a:latin typeface="+mn-ea"/>
                <a:cs typeface="+mj-cs"/>
              </a:rPr>
              <a:t>（</a:t>
            </a:r>
            <a:r>
              <a:rPr lang="en-US" altLang="zh-CN" sz="2000" b="1" kern="0" dirty="0">
                <a:solidFill>
                  <a:srgbClr val="005696"/>
                </a:solidFill>
                <a:latin typeface="+mn-ea"/>
                <a:cs typeface="+mj-cs"/>
              </a:rPr>
              <a:t>1</a:t>
            </a:r>
            <a:r>
              <a:rPr lang="zh-CN" altLang="en-US" sz="2000" b="1" kern="0" dirty="0">
                <a:solidFill>
                  <a:srgbClr val="005696"/>
                </a:solidFill>
                <a:latin typeface="+mn-ea"/>
                <a:cs typeface="+mj-cs"/>
              </a:rPr>
              <a:t>）中心频率</a:t>
            </a:r>
            <a:r>
              <a:rPr lang="en-US" altLang="zh-CN" sz="2000" b="1" i="1" kern="0" dirty="0" smtClean="0">
                <a:solidFill>
                  <a:srgbClr val="005696"/>
                </a:solidFill>
                <a:latin typeface="+mn-ea"/>
                <a:cs typeface="+mj-cs"/>
              </a:rPr>
              <a:t>f</a:t>
            </a:r>
            <a:r>
              <a:rPr lang="en-US" altLang="zh-CN" sz="2000" b="1" i="1" kern="0" baseline="-25000" dirty="0" smtClean="0">
                <a:solidFill>
                  <a:srgbClr val="005696"/>
                </a:solidFill>
                <a:latin typeface="+mn-ea"/>
                <a:cs typeface="+mj-cs"/>
              </a:rPr>
              <a:t>0  </a:t>
            </a:r>
            <a:r>
              <a:rPr lang="zh-CN" altLang="en-US" sz="2000" b="1" kern="0" dirty="0" smtClean="0">
                <a:solidFill>
                  <a:srgbClr val="005696"/>
                </a:solidFill>
                <a:latin typeface="+mn-ea"/>
                <a:cs typeface="+mj-cs"/>
              </a:rPr>
              <a:t>：</a:t>
            </a:r>
            <a:r>
              <a:rPr lang="zh-CN" altLang="en-US" sz="2000" kern="0" dirty="0">
                <a:solidFill>
                  <a:srgbClr val="005696"/>
                </a:solidFill>
                <a:latin typeface="+mn-ea"/>
                <a:cs typeface="+mj-cs"/>
              </a:rPr>
              <a:t>电压传输系数最大处。</a:t>
            </a:r>
            <a:endParaRPr lang="en-US" altLang="zh-CN" sz="2000" kern="0" dirty="0">
              <a:solidFill>
                <a:srgbClr val="005696"/>
              </a:solidFill>
              <a:latin typeface="+mn-ea"/>
              <a:cs typeface="+mj-cs"/>
            </a:endParaRPr>
          </a:p>
          <a:p>
            <a:pPr>
              <a:lnSpc>
                <a:spcPct val="150000"/>
              </a:lnSpc>
              <a:buClr>
                <a:srgbClr val="002060"/>
              </a:buClr>
              <a:buSzPct val="50000"/>
            </a:pPr>
            <a:r>
              <a:rPr lang="zh-CN" altLang="en-US" sz="2000" b="1" kern="0" dirty="0">
                <a:solidFill>
                  <a:srgbClr val="005696"/>
                </a:solidFill>
                <a:latin typeface="+mn-ea"/>
                <a:cs typeface="+mj-cs"/>
              </a:rPr>
              <a:t>（</a:t>
            </a:r>
            <a:r>
              <a:rPr lang="en-US" altLang="zh-CN" sz="2000" b="1" kern="0" dirty="0">
                <a:solidFill>
                  <a:srgbClr val="005696"/>
                </a:solidFill>
                <a:latin typeface="+mn-ea"/>
                <a:cs typeface="+mj-cs"/>
              </a:rPr>
              <a:t>2</a:t>
            </a:r>
            <a:r>
              <a:rPr lang="zh-CN" altLang="en-US" sz="2000" b="1" kern="0" dirty="0">
                <a:solidFill>
                  <a:srgbClr val="005696"/>
                </a:solidFill>
                <a:latin typeface="+mn-ea"/>
                <a:cs typeface="+mj-cs"/>
              </a:rPr>
              <a:t>）</a:t>
            </a:r>
            <a:r>
              <a:rPr lang="en-US" altLang="zh-CN" sz="2000" b="1" kern="0" dirty="0">
                <a:solidFill>
                  <a:srgbClr val="005696"/>
                </a:solidFill>
                <a:latin typeface="+mn-ea"/>
                <a:cs typeface="+mj-cs"/>
              </a:rPr>
              <a:t>3dB</a:t>
            </a:r>
            <a:r>
              <a:rPr lang="zh-CN" altLang="en-US" sz="2000" b="1" kern="0" dirty="0">
                <a:solidFill>
                  <a:srgbClr val="005696"/>
                </a:solidFill>
                <a:latin typeface="+mn-ea"/>
                <a:cs typeface="+mj-cs"/>
              </a:rPr>
              <a:t>带宽</a:t>
            </a:r>
            <a:r>
              <a:rPr lang="en-US" altLang="zh-CN" sz="2000" b="1" kern="0" dirty="0" smtClean="0">
                <a:solidFill>
                  <a:srgbClr val="005696"/>
                </a:solidFill>
                <a:latin typeface="+mn-ea"/>
                <a:cs typeface="+mj-cs"/>
              </a:rPr>
              <a:t>BW</a:t>
            </a:r>
            <a:r>
              <a:rPr lang="en-US" altLang="zh-CN" sz="2000" b="1" kern="0" baseline="-25000" dirty="0" smtClean="0">
                <a:solidFill>
                  <a:srgbClr val="005696"/>
                </a:solidFill>
                <a:latin typeface="+mn-ea"/>
                <a:cs typeface="+mj-cs"/>
              </a:rPr>
              <a:t>0.7 </a:t>
            </a:r>
            <a:r>
              <a:rPr lang="en-US" altLang="zh-CN" sz="2000" b="1" kern="0" dirty="0" smtClean="0">
                <a:solidFill>
                  <a:srgbClr val="005696"/>
                </a:solidFill>
                <a:latin typeface="+mn-ea"/>
                <a:cs typeface="+mj-cs"/>
              </a:rPr>
              <a:t>:</a:t>
            </a:r>
            <a:r>
              <a:rPr lang="zh-CN" altLang="en-US" sz="2000" kern="0" dirty="0" smtClean="0">
                <a:solidFill>
                  <a:srgbClr val="005696"/>
                </a:solidFill>
                <a:latin typeface="+mn-ea"/>
                <a:cs typeface="+mj-cs"/>
              </a:rPr>
              <a:t>电压</a:t>
            </a:r>
            <a:r>
              <a:rPr lang="zh-CN" altLang="en-US" sz="2000" kern="0" dirty="0">
                <a:solidFill>
                  <a:srgbClr val="005696"/>
                </a:solidFill>
                <a:latin typeface="+mn-ea"/>
                <a:cs typeface="+mj-cs"/>
              </a:rPr>
              <a:t>传输系数下降到最大</a:t>
            </a:r>
            <a:endParaRPr lang="en-US" altLang="zh-CN" sz="2000" kern="0" dirty="0">
              <a:solidFill>
                <a:srgbClr val="005696"/>
              </a:solidFill>
              <a:latin typeface="+mn-ea"/>
              <a:cs typeface="+mj-cs"/>
            </a:endParaRPr>
          </a:p>
          <a:p>
            <a:pPr marL="0" indent="0">
              <a:lnSpc>
                <a:spcPct val="150000"/>
              </a:lnSpc>
              <a:buClr>
                <a:srgbClr val="002060"/>
              </a:buClr>
              <a:buSzPct val="50000"/>
              <a:buNone/>
            </a:pPr>
            <a:r>
              <a:rPr lang="en-US" altLang="zh-CN" sz="2000" kern="0" dirty="0">
                <a:solidFill>
                  <a:srgbClr val="005696"/>
                </a:solidFill>
                <a:latin typeface="+mn-ea"/>
                <a:cs typeface="+mj-cs"/>
              </a:rPr>
              <a:t>       </a:t>
            </a:r>
            <a:r>
              <a:rPr lang="zh-CN" altLang="en-US" sz="2000" kern="0" dirty="0">
                <a:solidFill>
                  <a:srgbClr val="005696"/>
                </a:solidFill>
                <a:latin typeface="+mn-ea"/>
                <a:cs typeface="+mj-cs"/>
              </a:rPr>
              <a:t>值的    （</a:t>
            </a:r>
            <a:r>
              <a:rPr lang="en-US" altLang="zh-CN" sz="2000" kern="0" dirty="0">
                <a:solidFill>
                  <a:srgbClr val="005696"/>
                </a:solidFill>
                <a:latin typeface="+mn-ea"/>
                <a:cs typeface="+mj-cs"/>
              </a:rPr>
              <a:t>0.7</a:t>
            </a:r>
            <a:r>
              <a:rPr lang="zh-CN" altLang="en-US" sz="2000" kern="0" dirty="0">
                <a:solidFill>
                  <a:srgbClr val="005696"/>
                </a:solidFill>
                <a:latin typeface="+mn-ea"/>
                <a:cs typeface="+mj-cs"/>
              </a:rPr>
              <a:t>）时，所对应的频带宽度。</a:t>
            </a:r>
            <a:endParaRPr lang="en-US" altLang="zh-CN" sz="2000" kern="0" dirty="0">
              <a:solidFill>
                <a:srgbClr val="005696"/>
              </a:solidFill>
              <a:latin typeface="+mn-ea"/>
              <a:cs typeface="+mj-cs"/>
            </a:endParaRPr>
          </a:p>
          <a:p>
            <a:pPr>
              <a:buClr>
                <a:srgbClr val="002060"/>
              </a:buClr>
              <a:buSzPct val="50000"/>
            </a:pPr>
            <a:r>
              <a:rPr lang="zh-CN" altLang="en-US" sz="2000" b="1" kern="0" dirty="0">
                <a:solidFill>
                  <a:srgbClr val="005696"/>
                </a:solidFill>
                <a:latin typeface="+mn-ea"/>
                <a:cs typeface="+mj-cs"/>
              </a:rPr>
              <a:t>（</a:t>
            </a:r>
            <a:r>
              <a:rPr lang="en-US" altLang="zh-CN" sz="2000" b="1" kern="0" dirty="0">
                <a:solidFill>
                  <a:srgbClr val="005696"/>
                </a:solidFill>
                <a:latin typeface="+mn-ea"/>
                <a:cs typeface="+mj-cs"/>
              </a:rPr>
              <a:t>3</a:t>
            </a:r>
            <a:r>
              <a:rPr lang="zh-CN" altLang="en-US" sz="2000" b="1" kern="0" dirty="0">
                <a:solidFill>
                  <a:srgbClr val="005696"/>
                </a:solidFill>
                <a:latin typeface="+mn-ea"/>
                <a:cs typeface="+mj-cs"/>
              </a:rPr>
              <a:t>）矩形系数：</a:t>
            </a:r>
            <a:endParaRPr lang="en-US" altLang="zh-CN" sz="2000" b="1" kern="0" dirty="0">
              <a:solidFill>
                <a:srgbClr val="005696"/>
              </a:solidFill>
              <a:latin typeface="+mn-ea"/>
              <a:cs typeface="+mj-cs"/>
            </a:endParaRPr>
          </a:p>
          <a:p>
            <a:pPr>
              <a:buClr>
                <a:srgbClr val="C00000"/>
              </a:buClr>
              <a:buFont typeface="Wingdings" panose="05000000000000000000" pitchFamily="2" charset="2"/>
              <a:buChar char="l"/>
            </a:pPr>
            <a:endParaRPr lang="en-US" altLang="zh-CN" sz="2400" b="1" kern="0" dirty="0">
              <a:solidFill>
                <a:srgbClr val="FF0000"/>
              </a:solidFill>
              <a:latin typeface="+mn-ea"/>
              <a:cs typeface="+mj-cs"/>
            </a:endParaRPr>
          </a:p>
          <a:p>
            <a:pPr marL="0" indent="0">
              <a:lnSpc>
                <a:spcPct val="150000"/>
              </a:lnSpc>
              <a:buClr>
                <a:srgbClr val="C00000"/>
              </a:buClr>
              <a:buNone/>
            </a:pPr>
            <a:endParaRPr lang="en-US" altLang="zh-CN" sz="2000" kern="0" dirty="0">
              <a:solidFill>
                <a:srgbClr val="005696"/>
              </a:solidFill>
              <a:latin typeface="+mn-ea"/>
              <a:cs typeface="+mj-cs"/>
            </a:endParaRPr>
          </a:p>
          <a:p>
            <a:pPr marL="0" indent="0">
              <a:lnSpc>
                <a:spcPct val="150000"/>
              </a:lnSpc>
              <a:buClr>
                <a:srgbClr val="C00000"/>
              </a:buClr>
              <a:buNone/>
            </a:pPr>
            <a:endParaRPr lang="en-US" altLang="zh-CN" sz="2000" b="1" kern="0" dirty="0">
              <a:solidFill>
                <a:srgbClr val="005696"/>
              </a:solidFill>
              <a:latin typeface="+mn-ea"/>
              <a:cs typeface="+mj-cs"/>
            </a:endParaRPr>
          </a:p>
          <a:p>
            <a:pPr marL="0" indent="0">
              <a:lnSpc>
                <a:spcPct val="150000"/>
              </a:lnSpc>
              <a:buClr>
                <a:srgbClr val="C00000"/>
              </a:buClr>
              <a:buNone/>
            </a:pPr>
            <a:endParaRPr lang="en-US" altLang="zh-CN" sz="2000" b="1" kern="0" dirty="0">
              <a:solidFill>
                <a:srgbClr val="005696"/>
              </a:solidFill>
              <a:latin typeface="+mn-ea"/>
              <a:cs typeface="+mj-cs"/>
            </a:endParaRPr>
          </a:p>
          <a:p>
            <a:pPr marL="0" indent="0">
              <a:lnSpc>
                <a:spcPct val="150000"/>
              </a:lnSpc>
              <a:buClr>
                <a:srgbClr val="C00000"/>
              </a:buClr>
              <a:buNone/>
            </a:pPr>
            <a:endParaRPr lang="en-US" altLang="zh-CN" sz="2000" b="1" kern="0" dirty="0">
              <a:solidFill>
                <a:srgbClr val="005696"/>
              </a:solidFill>
              <a:latin typeface="+mn-ea"/>
              <a:cs typeface="+mj-cs"/>
            </a:endParaRPr>
          </a:p>
          <a:p>
            <a:pPr marL="0" indent="0">
              <a:lnSpc>
                <a:spcPct val="150000"/>
              </a:lnSpc>
              <a:buClr>
                <a:srgbClr val="C00000"/>
              </a:buClr>
              <a:buNone/>
            </a:pPr>
            <a:endParaRPr lang="en-US" altLang="zh-CN" sz="1400" b="1" kern="0" dirty="0">
              <a:solidFill>
                <a:srgbClr val="005696"/>
              </a:solidFill>
              <a:latin typeface="+mn-ea"/>
              <a:cs typeface="+mj-cs"/>
            </a:endParaRPr>
          </a:p>
        </p:txBody>
      </p:sp>
      <p:grpSp>
        <p:nvGrpSpPr>
          <p:cNvPr id="16" name="Group 5"/>
          <p:cNvGrpSpPr>
            <a:grpSpLocks/>
          </p:cNvGrpSpPr>
          <p:nvPr/>
        </p:nvGrpSpPr>
        <p:grpSpPr bwMode="auto">
          <a:xfrm>
            <a:off x="5940152" y="908720"/>
            <a:ext cx="3477319" cy="2881437"/>
            <a:chOff x="3291" y="52"/>
            <a:chExt cx="2009" cy="1679"/>
          </a:xfrm>
        </p:grpSpPr>
        <p:graphicFrame>
          <p:nvGraphicFramePr>
            <p:cNvPr id="17" name="Object 6"/>
            <p:cNvGraphicFramePr>
              <a:graphicFrameLocks noChangeAspect="1"/>
            </p:cNvGraphicFramePr>
            <p:nvPr>
              <p:extLst>
                <p:ext uri="{D42A27DB-BD31-4B8C-83A1-F6EECF244321}">
                  <p14:modId xmlns:p14="http://schemas.microsoft.com/office/powerpoint/2010/main" val="946063443"/>
                </p:ext>
              </p:extLst>
            </p:nvPr>
          </p:nvGraphicFramePr>
          <p:xfrm>
            <a:off x="3715" y="52"/>
            <a:ext cx="365" cy="866"/>
          </p:xfrm>
          <a:graphic>
            <a:graphicData uri="http://schemas.openxmlformats.org/presentationml/2006/ole">
              <mc:AlternateContent xmlns:mc="http://schemas.openxmlformats.org/markup-compatibility/2006">
                <mc:Choice xmlns:v="urn:schemas-microsoft-com:vml" Requires="v">
                  <p:oleObj spid="_x0000_s105562" name="Equation" r:id="rId4" imgW="304560" imgH="660240" progId="Equation.DSMT4">
                    <p:embed/>
                  </p:oleObj>
                </mc:Choice>
                <mc:Fallback>
                  <p:oleObj name="Equation" r:id="rId4" imgW="304560" imgH="660240" progId="Equation.DSMT4">
                    <p:embed/>
                    <p:pic>
                      <p:nvPicPr>
                        <p:cNvPr id="0" name=""/>
                        <p:cNvPicPr>
                          <a:picLocks noChangeAspect="1" noChangeArrowheads="1"/>
                        </p:cNvPicPr>
                        <p:nvPr/>
                      </p:nvPicPr>
                      <p:blipFill>
                        <a:blip r:embed="rId5"/>
                        <a:srcRect/>
                        <a:stretch>
                          <a:fillRect/>
                        </a:stretch>
                      </p:blipFill>
                      <p:spPr bwMode="auto">
                        <a:xfrm>
                          <a:off x="3715" y="52"/>
                          <a:ext cx="365" cy="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Line 7"/>
            <p:cNvSpPr>
              <a:spLocks noChangeShapeType="1"/>
            </p:cNvSpPr>
            <p:nvPr/>
          </p:nvSpPr>
          <p:spPr bwMode="auto">
            <a:xfrm>
              <a:off x="3456" y="1399"/>
              <a:ext cx="1512" cy="0"/>
            </a:xfrm>
            <a:prstGeom prst="line">
              <a:avLst/>
            </a:prstGeom>
            <a:noFill/>
            <a:ln w="25400">
              <a:solidFill>
                <a:srgbClr val="00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19" name="Line 8"/>
            <p:cNvSpPr>
              <a:spLocks noChangeShapeType="1"/>
            </p:cNvSpPr>
            <p:nvPr/>
          </p:nvSpPr>
          <p:spPr bwMode="auto">
            <a:xfrm rot="-5400000">
              <a:off x="3639" y="885"/>
              <a:ext cx="1029" cy="0"/>
            </a:xfrm>
            <a:prstGeom prst="line">
              <a:avLst/>
            </a:prstGeom>
            <a:noFill/>
            <a:ln w="25400">
              <a:solidFill>
                <a:srgbClr val="00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20" name="Rectangle 9"/>
            <p:cNvSpPr>
              <a:spLocks noChangeArrowheads="1"/>
            </p:cNvSpPr>
            <p:nvPr/>
          </p:nvSpPr>
          <p:spPr bwMode="auto">
            <a:xfrm>
              <a:off x="4030" y="1356"/>
              <a:ext cx="527" cy="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000" b="1" i="1" u="none" strike="noStrike" kern="0" cap="none" spc="0" normalizeH="0" baseline="0" noProof="0" dirty="0">
                  <a:ln>
                    <a:noFill/>
                  </a:ln>
                  <a:solidFill>
                    <a:srgbClr val="000000"/>
                  </a:solidFill>
                  <a:effectLst/>
                  <a:uLnTx/>
                  <a:uFillTx/>
                  <a:latin typeface="Times New Roman" pitchFamily="18" charset="0"/>
                  <a:ea typeface="宋体" pitchFamily="2" charset="-122"/>
                </a:rPr>
                <a:t>O</a:t>
              </a:r>
              <a:endParaRPr kumimoji="1" lang="en-US" altLang="zh-CN" sz="2000" b="1" i="0" u="none" strike="noStrike" kern="0" cap="none" spc="0" normalizeH="0" baseline="-25000" noProof="0" dirty="0">
                <a:ln>
                  <a:noFill/>
                </a:ln>
                <a:solidFill>
                  <a:srgbClr val="000000"/>
                </a:solidFill>
                <a:effectLst/>
                <a:uLnTx/>
                <a:uFillTx/>
                <a:latin typeface="Times New Roman" pitchFamily="18" charset="0"/>
                <a:ea typeface="宋体" pitchFamily="2"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1" lang="en-US" altLang="zh-CN" sz="2000" b="1" i="0" u="none" strike="noStrike" kern="0" cap="none" spc="0" normalizeH="0" baseline="-25000" noProof="0" dirty="0">
                <a:ln>
                  <a:noFill/>
                </a:ln>
                <a:solidFill>
                  <a:srgbClr val="000000"/>
                </a:solidFill>
                <a:effectLst/>
                <a:uLnTx/>
                <a:uFillTx/>
                <a:latin typeface="Times New Roman" pitchFamily="18" charset="0"/>
                <a:ea typeface="宋体" pitchFamily="2" charset="-122"/>
                <a:sym typeface="Symbol" pitchFamily="18" charset="2"/>
              </a:endParaRPr>
            </a:p>
          </p:txBody>
        </p:sp>
        <p:sp>
          <p:nvSpPr>
            <p:cNvPr id="22" name="Rectangle 10"/>
            <p:cNvSpPr>
              <a:spLocks noChangeArrowheads="1"/>
            </p:cNvSpPr>
            <p:nvPr/>
          </p:nvSpPr>
          <p:spPr bwMode="auto">
            <a:xfrm>
              <a:off x="4183" y="463"/>
              <a:ext cx="4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1.0</a:t>
              </a:r>
              <a:endParaRPr kumimoji="1" lang="en-US" altLang="zh-CN" sz="2400" b="1" i="0" u="none" strike="noStrike" kern="0" cap="none" spc="0" normalizeH="0" baseline="-25000" noProof="0">
                <a:ln>
                  <a:noFill/>
                </a:ln>
                <a:solidFill>
                  <a:srgbClr val="000000"/>
                </a:solidFill>
                <a:effectLst/>
                <a:uLnTx/>
                <a:uFillTx/>
                <a:latin typeface="Times New Roman" pitchFamily="18" charset="0"/>
                <a:ea typeface="宋体" pitchFamily="2" charset="-122"/>
              </a:endParaRPr>
            </a:p>
          </p:txBody>
        </p:sp>
        <p:sp>
          <p:nvSpPr>
            <p:cNvPr id="23" name="Rectangle 11"/>
            <p:cNvSpPr>
              <a:spLocks noChangeArrowheads="1"/>
            </p:cNvSpPr>
            <p:nvPr/>
          </p:nvSpPr>
          <p:spPr bwMode="auto">
            <a:xfrm>
              <a:off x="4914" y="1187"/>
              <a:ext cx="3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 f</a:t>
              </a:r>
            </a:p>
          </p:txBody>
        </p:sp>
        <p:grpSp>
          <p:nvGrpSpPr>
            <p:cNvPr id="24" name="Group 12"/>
            <p:cNvGrpSpPr>
              <a:grpSpLocks/>
            </p:cNvGrpSpPr>
            <p:nvPr/>
          </p:nvGrpSpPr>
          <p:grpSpPr bwMode="auto">
            <a:xfrm>
              <a:off x="3582" y="722"/>
              <a:ext cx="1155" cy="644"/>
              <a:chOff x="546" y="2596"/>
              <a:chExt cx="1155" cy="644"/>
            </a:xfrm>
          </p:grpSpPr>
          <p:sp>
            <p:nvSpPr>
              <p:cNvPr id="33" name="Freeform 13"/>
              <p:cNvSpPr>
                <a:spLocks/>
              </p:cNvSpPr>
              <p:nvPr/>
            </p:nvSpPr>
            <p:spPr bwMode="auto">
              <a:xfrm>
                <a:off x="546" y="2596"/>
                <a:ext cx="579" cy="644"/>
              </a:xfrm>
              <a:custGeom>
                <a:avLst/>
                <a:gdLst>
                  <a:gd name="T0" fmla="*/ 0 w 579"/>
                  <a:gd name="T1" fmla="*/ 644 h 644"/>
                  <a:gd name="T2" fmla="*/ 176 w 579"/>
                  <a:gd name="T3" fmla="*/ 578 h 644"/>
                  <a:gd name="T4" fmla="*/ 366 w 579"/>
                  <a:gd name="T5" fmla="*/ 401 h 644"/>
                  <a:gd name="T6" fmla="*/ 445 w 579"/>
                  <a:gd name="T7" fmla="*/ 241 h 644"/>
                  <a:gd name="T8" fmla="*/ 512 w 579"/>
                  <a:gd name="T9" fmla="*/ 48 h 644"/>
                  <a:gd name="T10" fmla="*/ 579 w 579"/>
                  <a:gd name="T11" fmla="*/ 0 h 6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9" h="644">
                    <a:moveTo>
                      <a:pt x="0" y="644"/>
                    </a:moveTo>
                    <a:cubicBezTo>
                      <a:pt x="31" y="633"/>
                      <a:pt x="115" y="618"/>
                      <a:pt x="176" y="578"/>
                    </a:cubicBezTo>
                    <a:cubicBezTo>
                      <a:pt x="237" y="538"/>
                      <a:pt x="322" y="457"/>
                      <a:pt x="366" y="401"/>
                    </a:cubicBezTo>
                    <a:cubicBezTo>
                      <a:pt x="411" y="345"/>
                      <a:pt x="421" y="300"/>
                      <a:pt x="445" y="241"/>
                    </a:cubicBezTo>
                    <a:cubicBezTo>
                      <a:pt x="469" y="182"/>
                      <a:pt x="489" y="88"/>
                      <a:pt x="512" y="48"/>
                    </a:cubicBezTo>
                    <a:cubicBezTo>
                      <a:pt x="534" y="8"/>
                      <a:pt x="557" y="4"/>
                      <a:pt x="579" y="0"/>
                    </a:cubicBezTo>
                  </a:path>
                </a:pathLst>
              </a:custGeom>
              <a:noFill/>
              <a:ln w="38100" cmpd="sng">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34" name="Freeform 14"/>
              <p:cNvSpPr>
                <a:spLocks/>
              </p:cNvSpPr>
              <p:nvPr/>
            </p:nvSpPr>
            <p:spPr bwMode="auto">
              <a:xfrm flipH="1">
                <a:off x="1122" y="2596"/>
                <a:ext cx="579" cy="644"/>
              </a:xfrm>
              <a:custGeom>
                <a:avLst/>
                <a:gdLst>
                  <a:gd name="T0" fmla="*/ 0 w 579"/>
                  <a:gd name="T1" fmla="*/ 644 h 644"/>
                  <a:gd name="T2" fmla="*/ 176 w 579"/>
                  <a:gd name="T3" fmla="*/ 578 h 644"/>
                  <a:gd name="T4" fmla="*/ 366 w 579"/>
                  <a:gd name="T5" fmla="*/ 401 h 644"/>
                  <a:gd name="T6" fmla="*/ 445 w 579"/>
                  <a:gd name="T7" fmla="*/ 241 h 644"/>
                  <a:gd name="T8" fmla="*/ 512 w 579"/>
                  <a:gd name="T9" fmla="*/ 48 h 644"/>
                  <a:gd name="T10" fmla="*/ 579 w 579"/>
                  <a:gd name="T11" fmla="*/ 0 h 6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9" h="644">
                    <a:moveTo>
                      <a:pt x="0" y="644"/>
                    </a:moveTo>
                    <a:cubicBezTo>
                      <a:pt x="31" y="633"/>
                      <a:pt x="115" y="618"/>
                      <a:pt x="176" y="578"/>
                    </a:cubicBezTo>
                    <a:cubicBezTo>
                      <a:pt x="237" y="538"/>
                      <a:pt x="322" y="457"/>
                      <a:pt x="366" y="401"/>
                    </a:cubicBezTo>
                    <a:cubicBezTo>
                      <a:pt x="411" y="345"/>
                      <a:pt x="421" y="300"/>
                      <a:pt x="445" y="241"/>
                    </a:cubicBezTo>
                    <a:cubicBezTo>
                      <a:pt x="469" y="182"/>
                      <a:pt x="489" y="88"/>
                      <a:pt x="512" y="48"/>
                    </a:cubicBezTo>
                    <a:cubicBezTo>
                      <a:pt x="534" y="8"/>
                      <a:pt x="557" y="4"/>
                      <a:pt x="579" y="0"/>
                    </a:cubicBezTo>
                  </a:path>
                </a:pathLst>
              </a:custGeom>
              <a:noFill/>
              <a:ln w="38100" cmpd="sng">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grpSp>
        <p:sp>
          <p:nvSpPr>
            <p:cNvPr id="25" name="Rectangle 15"/>
            <p:cNvSpPr>
              <a:spLocks noChangeArrowheads="1"/>
            </p:cNvSpPr>
            <p:nvPr/>
          </p:nvSpPr>
          <p:spPr bwMode="auto">
            <a:xfrm>
              <a:off x="4346" y="730"/>
              <a:ext cx="39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0.7</a:t>
              </a:r>
            </a:p>
          </p:txBody>
        </p:sp>
        <p:sp>
          <p:nvSpPr>
            <p:cNvPr id="26" name="Rectangle 16"/>
            <p:cNvSpPr>
              <a:spLocks noChangeArrowheads="1"/>
            </p:cNvSpPr>
            <p:nvPr/>
          </p:nvSpPr>
          <p:spPr bwMode="auto">
            <a:xfrm>
              <a:off x="4044" y="940"/>
              <a:ext cx="240" cy="456"/>
            </a:xfrm>
            <a:prstGeom prst="rect">
              <a:avLst/>
            </a:prstGeom>
            <a:noFill/>
            <a:ln w="19050">
              <a:solidFill>
                <a:srgbClr val="000000"/>
              </a:solidFill>
              <a:prstDash val="dash"/>
              <a:miter lim="800000"/>
              <a:headEnd/>
              <a:tailEnd/>
            </a:ln>
            <a:effectLst/>
            <a:extLst>
              <a:ext uri="{909E8E84-426E-40DD-AFC4-6F175D3DCCD1}">
                <a14:hiddenFill xmlns:a14="http://schemas.microsoft.com/office/drawing/2010/main">
                  <a:solidFill>
                    <a:srgbClr val="99660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Arial" pitchFamily="34" charset="0"/>
                <a:ea typeface="宋体" pitchFamily="2" charset="-122"/>
              </a:endParaRPr>
            </a:p>
          </p:txBody>
        </p:sp>
        <p:sp>
          <p:nvSpPr>
            <p:cNvPr id="27" name="Rectangle 17"/>
            <p:cNvSpPr>
              <a:spLocks noChangeArrowheads="1"/>
            </p:cNvSpPr>
            <p:nvPr/>
          </p:nvSpPr>
          <p:spPr bwMode="auto">
            <a:xfrm>
              <a:off x="3804" y="1258"/>
              <a:ext cx="696" cy="144"/>
            </a:xfrm>
            <a:prstGeom prst="rect">
              <a:avLst/>
            </a:prstGeom>
            <a:noFill/>
            <a:ln w="19050">
              <a:solidFill>
                <a:srgbClr val="000000"/>
              </a:solidFill>
              <a:prstDash val="dash"/>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Arial" pitchFamily="34" charset="0"/>
                <a:ea typeface="宋体" pitchFamily="2" charset="-122"/>
              </a:endParaRPr>
            </a:p>
          </p:txBody>
        </p:sp>
        <p:sp>
          <p:nvSpPr>
            <p:cNvPr id="28" name="Rectangle 18"/>
            <p:cNvSpPr>
              <a:spLocks noChangeArrowheads="1"/>
            </p:cNvSpPr>
            <p:nvPr/>
          </p:nvSpPr>
          <p:spPr bwMode="auto">
            <a:xfrm>
              <a:off x="4466" y="1078"/>
              <a:ext cx="7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0.1</a:t>
              </a:r>
            </a:p>
          </p:txBody>
        </p:sp>
        <p:sp>
          <p:nvSpPr>
            <p:cNvPr id="29" name="Line 19"/>
            <p:cNvSpPr>
              <a:spLocks noChangeShapeType="1"/>
            </p:cNvSpPr>
            <p:nvPr/>
          </p:nvSpPr>
          <p:spPr bwMode="auto">
            <a:xfrm flipV="1">
              <a:off x="4032" y="1138"/>
              <a:ext cx="264" cy="0"/>
            </a:xfrm>
            <a:prstGeom prst="line">
              <a:avLst/>
            </a:prstGeom>
            <a:noFill/>
            <a:ln w="19050">
              <a:solidFill>
                <a:srgbClr val="9966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30" name="Line 20"/>
            <p:cNvSpPr>
              <a:spLocks noChangeShapeType="1"/>
            </p:cNvSpPr>
            <p:nvPr/>
          </p:nvSpPr>
          <p:spPr bwMode="auto">
            <a:xfrm flipV="1">
              <a:off x="3798" y="1353"/>
              <a:ext cx="702" cy="0"/>
            </a:xfrm>
            <a:prstGeom prst="line">
              <a:avLst/>
            </a:prstGeom>
            <a:noFill/>
            <a:ln w="9525">
              <a:solidFill>
                <a:srgbClr val="0099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31" name="Rectangle 21"/>
            <p:cNvSpPr>
              <a:spLocks noChangeArrowheads="1"/>
            </p:cNvSpPr>
            <p:nvPr/>
          </p:nvSpPr>
          <p:spPr bwMode="auto">
            <a:xfrm>
              <a:off x="3321" y="851"/>
              <a:ext cx="57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996600"/>
                  </a:solidFill>
                  <a:effectLst/>
                  <a:uLnTx/>
                  <a:uFillTx/>
                  <a:latin typeface="Times New Roman" pitchFamily="18" charset="0"/>
                  <a:ea typeface="宋体" pitchFamily="2" charset="-122"/>
                </a:rPr>
                <a:t>BW</a:t>
              </a:r>
              <a:r>
                <a:rPr kumimoji="1" lang="en-US" altLang="zh-CN" sz="2400" b="1" i="0" u="none" strike="noStrike" kern="0" cap="none" spc="0" normalizeH="0" baseline="-25000" noProof="0">
                  <a:ln>
                    <a:noFill/>
                  </a:ln>
                  <a:solidFill>
                    <a:srgbClr val="996600"/>
                  </a:solidFill>
                  <a:effectLst/>
                  <a:uLnTx/>
                  <a:uFillTx/>
                  <a:latin typeface="Times New Roman" pitchFamily="18" charset="0"/>
                  <a:ea typeface="宋体" pitchFamily="2" charset="-122"/>
                </a:rPr>
                <a:t>0.7</a:t>
              </a:r>
            </a:p>
          </p:txBody>
        </p:sp>
        <p:sp>
          <p:nvSpPr>
            <p:cNvPr id="32" name="Rectangle 22"/>
            <p:cNvSpPr>
              <a:spLocks noChangeArrowheads="1"/>
            </p:cNvSpPr>
            <p:nvPr/>
          </p:nvSpPr>
          <p:spPr bwMode="auto">
            <a:xfrm>
              <a:off x="3291" y="1407"/>
              <a:ext cx="8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9900"/>
                  </a:solidFill>
                  <a:effectLst/>
                  <a:uLnTx/>
                  <a:uFillTx/>
                  <a:latin typeface="Times New Roman" pitchFamily="18" charset="0"/>
                  <a:ea typeface="宋体" pitchFamily="2" charset="-122"/>
                </a:rPr>
                <a:t>BW</a:t>
              </a:r>
              <a:r>
                <a:rPr kumimoji="1" lang="en-US" altLang="zh-CN" sz="2400" b="1" i="0" u="none" strike="noStrike" kern="0" cap="none" spc="0" normalizeH="0" baseline="-25000" noProof="0">
                  <a:ln>
                    <a:noFill/>
                  </a:ln>
                  <a:solidFill>
                    <a:srgbClr val="009900"/>
                  </a:solidFill>
                  <a:effectLst/>
                  <a:uLnTx/>
                  <a:uFillTx/>
                  <a:latin typeface="Times New Roman" pitchFamily="18" charset="0"/>
                  <a:ea typeface="宋体" pitchFamily="2" charset="-122"/>
                </a:rPr>
                <a:t>0.1</a:t>
              </a:r>
            </a:p>
          </p:txBody>
        </p:sp>
      </p:grpSp>
      <p:graphicFrame>
        <p:nvGraphicFramePr>
          <p:cNvPr id="15" name="对象 14"/>
          <p:cNvGraphicFramePr>
            <a:graphicFrameLocks noChangeAspect="1"/>
          </p:cNvGraphicFramePr>
          <p:nvPr>
            <p:extLst>
              <p:ext uri="{D42A27DB-BD31-4B8C-83A1-F6EECF244321}">
                <p14:modId xmlns:p14="http://schemas.microsoft.com/office/powerpoint/2010/main" val="497584583"/>
              </p:ext>
            </p:extLst>
          </p:nvPr>
        </p:nvGraphicFramePr>
        <p:xfrm>
          <a:off x="6012807" y="3645024"/>
          <a:ext cx="2735657" cy="1289418"/>
        </p:xfrm>
        <a:graphic>
          <a:graphicData uri="http://schemas.openxmlformats.org/presentationml/2006/ole">
            <mc:AlternateContent xmlns:mc="http://schemas.openxmlformats.org/markup-compatibility/2006">
              <mc:Choice xmlns:v="urn:schemas-microsoft-com:vml" Requires="v">
                <p:oleObj spid="_x0000_s105563" name="Equation" r:id="rId6" imgW="1993680" imgH="939600" progId="Equation.DSMT4">
                  <p:embed/>
                </p:oleObj>
              </mc:Choice>
              <mc:Fallback>
                <p:oleObj name="Equation" r:id="rId6" imgW="1993680" imgH="939600" progId="Equation.DSMT4">
                  <p:embed/>
                  <p:pic>
                    <p:nvPicPr>
                      <p:cNvPr id="0" name=""/>
                      <p:cNvPicPr/>
                      <p:nvPr/>
                    </p:nvPicPr>
                    <p:blipFill>
                      <a:blip r:embed="rId7"/>
                      <a:stretch>
                        <a:fillRect/>
                      </a:stretch>
                    </p:blipFill>
                    <p:spPr>
                      <a:xfrm>
                        <a:off x="6012807" y="3645024"/>
                        <a:ext cx="2735657" cy="1289418"/>
                      </a:xfrm>
                      <a:prstGeom prst="rect">
                        <a:avLst/>
                      </a:prstGeom>
                    </p:spPr>
                  </p:pic>
                </p:oleObj>
              </mc:Fallback>
            </mc:AlternateContent>
          </a:graphicData>
        </a:graphic>
      </p:graphicFrame>
      <p:graphicFrame>
        <p:nvGraphicFramePr>
          <p:cNvPr id="36" name="对象 35"/>
          <p:cNvGraphicFramePr>
            <a:graphicFrameLocks noChangeAspect="1"/>
          </p:cNvGraphicFramePr>
          <p:nvPr>
            <p:extLst>
              <p:ext uri="{D42A27DB-BD31-4B8C-83A1-F6EECF244321}">
                <p14:modId xmlns:p14="http://schemas.microsoft.com/office/powerpoint/2010/main" val="2871090106"/>
              </p:ext>
            </p:extLst>
          </p:nvPr>
        </p:nvGraphicFramePr>
        <p:xfrm>
          <a:off x="1907704" y="2659324"/>
          <a:ext cx="468312" cy="319088"/>
        </p:xfrm>
        <a:graphic>
          <a:graphicData uri="http://schemas.openxmlformats.org/presentationml/2006/ole">
            <mc:AlternateContent xmlns:mc="http://schemas.openxmlformats.org/markup-compatibility/2006">
              <mc:Choice xmlns:v="urn:schemas-microsoft-com:vml" Requires="v">
                <p:oleObj spid="_x0000_s105564" name="公式" r:id="rId8" imgW="355446" imgH="241195" progId="Equation.3">
                  <p:embed/>
                </p:oleObj>
              </mc:Choice>
              <mc:Fallback>
                <p:oleObj name="公式" r:id="rId8" imgW="355446" imgH="24119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07704" y="2659324"/>
                        <a:ext cx="468312" cy="319088"/>
                      </a:xfrm>
                      <a:prstGeom prst="rect">
                        <a:avLst/>
                      </a:prstGeom>
                      <a:noFill/>
                      <a:ln>
                        <a:noFill/>
                      </a:ln>
                    </p:spPr>
                  </p:pic>
                </p:oleObj>
              </mc:Fallback>
            </mc:AlternateContent>
          </a:graphicData>
        </a:graphic>
      </p:graphicFrame>
      <p:graphicFrame>
        <p:nvGraphicFramePr>
          <p:cNvPr id="37" name="对象 36"/>
          <p:cNvGraphicFramePr>
            <a:graphicFrameLocks noChangeAspect="1"/>
          </p:cNvGraphicFramePr>
          <p:nvPr>
            <p:extLst>
              <p:ext uri="{D42A27DB-BD31-4B8C-83A1-F6EECF244321}">
                <p14:modId xmlns:p14="http://schemas.microsoft.com/office/powerpoint/2010/main" val="735736698"/>
              </p:ext>
            </p:extLst>
          </p:nvPr>
        </p:nvGraphicFramePr>
        <p:xfrm>
          <a:off x="726876" y="3861048"/>
          <a:ext cx="4421188" cy="1581150"/>
        </p:xfrm>
        <a:graphic>
          <a:graphicData uri="http://schemas.openxmlformats.org/presentationml/2006/ole">
            <mc:AlternateContent xmlns:mc="http://schemas.openxmlformats.org/markup-compatibility/2006">
              <mc:Choice xmlns:v="urn:schemas-microsoft-com:vml" Requires="v">
                <p:oleObj spid="_x0000_s105565" name="Equation" r:id="rId10" imgW="2412720" imgH="863280" progId="Equation.DSMT4">
                  <p:embed/>
                </p:oleObj>
              </mc:Choice>
              <mc:Fallback>
                <p:oleObj name="Equation" r:id="rId10" imgW="2412720" imgH="863280" progId="Equation.DSMT4">
                  <p:embed/>
                  <p:pic>
                    <p:nvPicPr>
                      <p:cNvPr id="0" name=""/>
                      <p:cNvPicPr>
                        <a:picLocks noChangeAspect="1" noChangeArrowheads="1"/>
                      </p:cNvPicPr>
                      <p:nvPr/>
                    </p:nvPicPr>
                    <p:blipFill>
                      <a:blip r:embed="rId11"/>
                      <a:srcRect/>
                      <a:stretch>
                        <a:fillRect/>
                      </a:stretch>
                    </p:blipFill>
                    <p:spPr bwMode="auto">
                      <a:xfrm>
                        <a:off x="726876" y="3861048"/>
                        <a:ext cx="4421188"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TextBox 37"/>
          <p:cNvSpPr txBox="1"/>
          <p:nvPr/>
        </p:nvSpPr>
        <p:spPr>
          <a:xfrm>
            <a:off x="395535" y="5747442"/>
            <a:ext cx="5940345" cy="646331"/>
          </a:xfrm>
          <a:prstGeom prst="rect">
            <a:avLst/>
          </a:prstGeom>
          <a:noFill/>
        </p:spPr>
        <p:txBody>
          <a:bodyPr wrap="square" rtlCol="0">
            <a:spAutoFit/>
          </a:bodyPr>
          <a:lstStyle/>
          <a:p>
            <a:r>
              <a:rPr lang="zh-CN" altLang="en-US" dirty="0">
                <a:solidFill>
                  <a:srgbClr val="0070C0"/>
                </a:solidFill>
              </a:rPr>
              <a:t>说明在截止频率附近的陡峭变化程度。理想矩形系数</a:t>
            </a:r>
            <a:r>
              <a:rPr lang="en-US" altLang="zh-CN" dirty="0">
                <a:solidFill>
                  <a:srgbClr val="0070C0"/>
                </a:solidFill>
              </a:rPr>
              <a:t>K=1</a:t>
            </a:r>
            <a:r>
              <a:rPr lang="zh-CN" altLang="en-US" dirty="0">
                <a:solidFill>
                  <a:srgbClr val="0070C0"/>
                </a:solidFill>
              </a:rPr>
              <a:t>，越小频率选择性越好。</a:t>
            </a:r>
          </a:p>
        </p:txBody>
      </p:sp>
      <p:grpSp>
        <p:nvGrpSpPr>
          <p:cNvPr id="39" name="Group 23"/>
          <p:cNvGrpSpPr>
            <a:grpSpLocks/>
          </p:cNvGrpSpPr>
          <p:nvPr/>
        </p:nvGrpSpPr>
        <p:grpSpPr bwMode="auto">
          <a:xfrm>
            <a:off x="6510607" y="5011929"/>
            <a:ext cx="2309865" cy="1297391"/>
            <a:chOff x="72" y="2443"/>
            <a:chExt cx="1604" cy="1391"/>
          </a:xfrm>
        </p:grpSpPr>
        <p:sp>
          <p:nvSpPr>
            <p:cNvPr id="40" name="Rectangle 24"/>
            <p:cNvSpPr>
              <a:spLocks noChangeArrowheads="1"/>
            </p:cNvSpPr>
            <p:nvPr/>
          </p:nvSpPr>
          <p:spPr bwMode="auto">
            <a:xfrm>
              <a:off x="646" y="3429"/>
              <a:ext cx="527" cy="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000" b="1" i="1" u="none" strike="noStrike" kern="0" cap="none" spc="0" normalizeH="0" baseline="0" noProof="0">
                  <a:ln>
                    <a:noFill/>
                  </a:ln>
                  <a:solidFill>
                    <a:srgbClr val="000000"/>
                  </a:solidFill>
                  <a:effectLst/>
                  <a:uLnTx/>
                  <a:uFillTx/>
                  <a:latin typeface="Times New Roman" pitchFamily="18" charset="0"/>
                  <a:ea typeface="宋体" pitchFamily="2" charset="-122"/>
                </a:rPr>
                <a:t>O</a:t>
              </a:r>
              <a:endParaRPr kumimoji="1" lang="en-US" altLang="zh-CN" sz="2000" b="1" i="0" u="none" strike="noStrike" kern="0" cap="none" spc="0" normalizeH="0" baseline="-25000" noProof="0">
                <a:ln>
                  <a:noFill/>
                </a:ln>
                <a:solidFill>
                  <a:srgbClr val="000000"/>
                </a:solidFill>
                <a:effectLst/>
                <a:uLnTx/>
                <a:uFillTx/>
                <a:latin typeface="Times New Roman" pitchFamily="18" charset="0"/>
                <a:ea typeface="宋体" pitchFamily="2"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1" lang="en-US" altLang="zh-CN" sz="2000" b="1" i="0" u="none" strike="noStrike" kern="0" cap="none" spc="0" normalizeH="0" baseline="-25000" noProof="0">
                <a:ln>
                  <a:noFill/>
                </a:ln>
                <a:solidFill>
                  <a:srgbClr val="000000"/>
                </a:solidFill>
                <a:effectLst/>
                <a:uLnTx/>
                <a:uFillTx/>
                <a:latin typeface="Times New Roman" pitchFamily="18" charset="0"/>
                <a:ea typeface="宋体" pitchFamily="2" charset="-122"/>
                <a:sym typeface="Symbol" pitchFamily="18" charset="2"/>
              </a:endParaRPr>
            </a:p>
          </p:txBody>
        </p:sp>
        <p:grpSp>
          <p:nvGrpSpPr>
            <p:cNvPr id="41" name="Group 25"/>
            <p:cNvGrpSpPr>
              <a:grpSpLocks/>
            </p:cNvGrpSpPr>
            <p:nvPr/>
          </p:nvGrpSpPr>
          <p:grpSpPr bwMode="auto">
            <a:xfrm>
              <a:off x="72" y="2443"/>
              <a:ext cx="1604" cy="1391"/>
              <a:chOff x="72" y="2443"/>
              <a:chExt cx="1604" cy="1391"/>
            </a:xfrm>
          </p:grpSpPr>
          <p:sp>
            <p:nvSpPr>
              <p:cNvPr id="42" name="Rectangle 26"/>
              <p:cNvSpPr>
                <a:spLocks noChangeArrowheads="1"/>
              </p:cNvSpPr>
              <p:nvPr/>
            </p:nvSpPr>
            <p:spPr bwMode="auto">
              <a:xfrm>
                <a:off x="1290" y="3339"/>
                <a:ext cx="386" cy="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f</a:t>
                </a:r>
              </a:p>
            </p:txBody>
          </p:sp>
          <p:grpSp>
            <p:nvGrpSpPr>
              <p:cNvPr id="43" name="Group 27"/>
              <p:cNvGrpSpPr>
                <a:grpSpLocks/>
              </p:cNvGrpSpPr>
              <p:nvPr/>
            </p:nvGrpSpPr>
            <p:grpSpPr bwMode="auto">
              <a:xfrm>
                <a:off x="72" y="2443"/>
                <a:ext cx="1512" cy="1037"/>
                <a:chOff x="372" y="2575"/>
                <a:chExt cx="1512" cy="1037"/>
              </a:xfrm>
            </p:grpSpPr>
            <p:sp>
              <p:nvSpPr>
                <p:cNvPr id="45" name="Line 29"/>
                <p:cNvSpPr>
                  <a:spLocks noChangeShapeType="1"/>
                </p:cNvSpPr>
                <p:nvPr/>
              </p:nvSpPr>
              <p:spPr bwMode="auto">
                <a:xfrm>
                  <a:off x="372" y="3604"/>
                  <a:ext cx="1512" cy="0"/>
                </a:xfrm>
                <a:prstGeom prst="line">
                  <a:avLst/>
                </a:prstGeom>
                <a:noFill/>
                <a:ln w="25400">
                  <a:solidFill>
                    <a:srgbClr val="00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46" name="Line 30"/>
                <p:cNvSpPr>
                  <a:spLocks noChangeShapeType="1"/>
                </p:cNvSpPr>
                <p:nvPr/>
              </p:nvSpPr>
              <p:spPr bwMode="auto">
                <a:xfrm rot="-5400000">
                  <a:off x="555" y="3090"/>
                  <a:ext cx="1029" cy="0"/>
                </a:xfrm>
                <a:prstGeom prst="line">
                  <a:avLst/>
                </a:prstGeom>
                <a:noFill/>
                <a:ln w="25400">
                  <a:solidFill>
                    <a:srgbClr val="00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47" name="Rectangle 31"/>
                <p:cNvSpPr>
                  <a:spLocks noChangeArrowheads="1"/>
                </p:cNvSpPr>
                <p:nvPr/>
              </p:nvSpPr>
              <p:spPr bwMode="auto">
                <a:xfrm>
                  <a:off x="1099" y="2668"/>
                  <a:ext cx="4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1.0</a:t>
                  </a:r>
                  <a:endParaRPr kumimoji="1" lang="en-US" altLang="zh-CN" sz="2400" b="1" i="0" u="none" strike="noStrike" kern="0" cap="none" spc="0" normalizeH="0" baseline="-25000" noProof="0" dirty="0">
                    <a:ln>
                      <a:noFill/>
                    </a:ln>
                    <a:solidFill>
                      <a:srgbClr val="000000"/>
                    </a:solidFill>
                    <a:effectLst/>
                    <a:uLnTx/>
                    <a:uFillTx/>
                    <a:latin typeface="Times New Roman" pitchFamily="18" charset="0"/>
                    <a:ea typeface="宋体" pitchFamily="2" charset="-122"/>
                  </a:endParaRPr>
                </a:p>
              </p:txBody>
            </p:sp>
            <p:grpSp>
              <p:nvGrpSpPr>
                <p:cNvPr id="48" name="Group 32"/>
                <p:cNvGrpSpPr>
                  <a:grpSpLocks/>
                </p:cNvGrpSpPr>
                <p:nvPr/>
              </p:nvGrpSpPr>
              <p:grpSpPr bwMode="auto">
                <a:xfrm>
                  <a:off x="864" y="3096"/>
                  <a:ext cx="408" cy="516"/>
                  <a:chOff x="1332" y="3168"/>
                  <a:chExt cx="408" cy="516"/>
                </a:xfrm>
              </p:grpSpPr>
              <p:sp>
                <p:nvSpPr>
                  <p:cNvPr id="49" name="Line 33"/>
                  <p:cNvSpPr>
                    <a:spLocks noChangeShapeType="1"/>
                  </p:cNvSpPr>
                  <p:nvPr/>
                </p:nvSpPr>
                <p:spPr bwMode="auto">
                  <a:xfrm>
                    <a:off x="1332" y="3168"/>
                    <a:ext cx="396" cy="0"/>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50" name="Line 34"/>
                  <p:cNvSpPr>
                    <a:spLocks noChangeShapeType="1"/>
                  </p:cNvSpPr>
                  <p:nvPr/>
                </p:nvSpPr>
                <p:spPr bwMode="auto">
                  <a:xfrm>
                    <a:off x="1740" y="3168"/>
                    <a:ext cx="0" cy="504"/>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51" name="Line 35"/>
                  <p:cNvSpPr>
                    <a:spLocks noChangeShapeType="1"/>
                  </p:cNvSpPr>
                  <p:nvPr/>
                </p:nvSpPr>
                <p:spPr bwMode="auto">
                  <a:xfrm>
                    <a:off x="1332" y="3180"/>
                    <a:ext cx="0" cy="504"/>
                  </a:xfrm>
                  <a:prstGeom prst="line">
                    <a:avLst/>
                  </a:prstGeom>
                  <a:noFill/>
                  <a:ln w="381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grpSp>
          </p:grpSp>
        </p:grpSp>
      </p:grpSp>
      <p:sp>
        <p:nvSpPr>
          <p:cNvPr id="2" name="TextBox 1"/>
          <p:cNvSpPr txBox="1"/>
          <p:nvPr/>
        </p:nvSpPr>
        <p:spPr>
          <a:xfrm>
            <a:off x="3432595" y="4863647"/>
            <a:ext cx="439544" cy="369332"/>
          </a:xfrm>
          <a:prstGeom prst="rect">
            <a:avLst/>
          </a:prstGeom>
          <a:noFill/>
        </p:spPr>
        <p:txBody>
          <a:bodyPr wrap="none" rtlCol="0">
            <a:spAutoFit/>
          </a:bodyPr>
          <a:lstStyle/>
          <a:p>
            <a:r>
              <a:rPr lang="zh-CN" altLang="en-US" dirty="0">
                <a:solidFill>
                  <a:srgbClr val="FF0000"/>
                </a:solidFill>
              </a:rPr>
              <a:t>≥</a:t>
            </a:r>
            <a:r>
              <a:rPr lang="en-US" altLang="zh-CN" dirty="0">
                <a:solidFill>
                  <a:srgbClr val="FF0000"/>
                </a:solidFill>
              </a:rPr>
              <a:t>1</a:t>
            </a:r>
            <a:endParaRPr lang="zh-CN" altLang="en-US" dirty="0">
              <a:solidFill>
                <a:srgbClr val="FF0000"/>
              </a:solidFill>
            </a:endParaRPr>
          </a:p>
        </p:txBody>
      </p:sp>
    </p:spTree>
    <p:extLst>
      <p:ext uri="{BB962C8B-B14F-4D97-AF65-F5344CB8AC3E}">
        <p14:creationId xmlns:p14="http://schemas.microsoft.com/office/powerpoint/2010/main" val="2452253600"/>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12</a:t>
            </a:fld>
            <a:endParaRPr lang="en-US" altLang="zh-CN" dirty="0">
              <a:solidFill>
                <a:srgbClr val="000000"/>
              </a:solidFill>
            </a:endParaRPr>
          </a:p>
        </p:txBody>
      </p:sp>
      <p:sp>
        <p:nvSpPr>
          <p:cNvPr id="21" name="内容占位符 20"/>
          <p:cNvSpPr>
            <a:spLocks noGrp="1"/>
          </p:cNvSpPr>
          <p:nvPr>
            <p:ph idx="1"/>
          </p:nvPr>
        </p:nvSpPr>
        <p:spPr>
          <a:xfrm>
            <a:off x="395536" y="260648"/>
            <a:ext cx="6552728" cy="648072"/>
          </a:xfrm>
          <a:solidFill>
            <a:srgbClr val="862714"/>
          </a:solidFill>
        </p:spPr>
        <p:txBody>
          <a:bodyPr/>
          <a:lstStyle/>
          <a:p>
            <a:pPr>
              <a:buClr>
                <a:schemeClr val="bg1"/>
              </a:buClr>
              <a:buFont typeface="Wingdings" panose="05000000000000000000" pitchFamily="2" charset="2"/>
              <a:buChar char="l"/>
            </a:pPr>
            <a:r>
              <a:rPr lang="en-US" altLang="zh-CN" sz="3600" dirty="0">
                <a:solidFill>
                  <a:schemeClr val="bg1"/>
                </a:solidFill>
                <a:latin typeface="Garamond"/>
                <a:ea typeface="华文行楷"/>
                <a:cs typeface="+mj-cs"/>
              </a:rPr>
              <a:t>2.2  LC</a:t>
            </a:r>
            <a:r>
              <a:rPr lang="zh-CN" altLang="en-US" sz="3600" dirty="0">
                <a:solidFill>
                  <a:schemeClr val="bg1"/>
                </a:solidFill>
                <a:latin typeface="Garamond"/>
                <a:ea typeface="华文行楷"/>
                <a:cs typeface="+mj-cs"/>
              </a:rPr>
              <a:t>谐振回路选频特性分析</a:t>
            </a:r>
            <a:endParaRPr lang="zh-CN" altLang="en-US" sz="2800" dirty="0"/>
          </a:p>
        </p:txBody>
      </p:sp>
      <p:sp>
        <p:nvSpPr>
          <p:cNvPr id="12" name="内容占位符 20"/>
          <p:cNvSpPr txBox="1">
            <a:spLocks/>
          </p:cNvSpPr>
          <p:nvPr/>
        </p:nvSpPr>
        <p:spPr bwMode="auto">
          <a:xfrm>
            <a:off x="1211014" y="2060848"/>
            <a:ext cx="4297090" cy="2376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Clr>
                <a:srgbClr val="C00000"/>
              </a:buClr>
              <a:buFont typeface="Wingdings" panose="05000000000000000000" pitchFamily="2" charset="2"/>
              <a:buChar char="l"/>
            </a:pPr>
            <a:r>
              <a:rPr lang="en-US" altLang="zh-CN" sz="2800" b="1" kern="0" dirty="0" smtClean="0">
                <a:solidFill>
                  <a:srgbClr val="FF0000"/>
                </a:solidFill>
                <a:latin typeface="+mn-ea"/>
              </a:rPr>
              <a:t>LC</a:t>
            </a:r>
            <a:r>
              <a:rPr lang="zh-CN" altLang="en-US" sz="2800" b="1" kern="0" dirty="0">
                <a:solidFill>
                  <a:srgbClr val="FF0000"/>
                </a:solidFill>
                <a:latin typeface="+mn-ea"/>
              </a:rPr>
              <a:t>谐振回路的作用：</a:t>
            </a:r>
            <a:endParaRPr lang="en-US" altLang="zh-CN" sz="2800" b="1" kern="0" dirty="0">
              <a:solidFill>
                <a:srgbClr val="FF0000"/>
              </a:solidFill>
              <a:latin typeface="+mn-ea"/>
            </a:endParaRPr>
          </a:p>
          <a:p>
            <a:pPr>
              <a:lnSpc>
                <a:spcPct val="150000"/>
              </a:lnSpc>
              <a:buClr>
                <a:srgbClr val="002060"/>
              </a:buClr>
              <a:buSzPct val="50000"/>
            </a:pPr>
            <a:r>
              <a:rPr lang="zh-CN" altLang="en-US" sz="2000" b="1" kern="0" dirty="0">
                <a:solidFill>
                  <a:srgbClr val="0070C0"/>
                </a:solidFill>
                <a:latin typeface="+mn-ea"/>
              </a:rPr>
              <a:t>选频；</a:t>
            </a:r>
            <a:endParaRPr lang="en-US" altLang="zh-CN" sz="2000" b="1" kern="0" dirty="0">
              <a:solidFill>
                <a:srgbClr val="0070C0"/>
              </a:solidFill>
              <a:latin typeface="+mn-ea"/>
            </a:endParaRPr>
          </a:p>
          <a:p>
            <a:pPr>
              <a:lnSpc>
                <a:spcPct val="150000"/>
              </a:lnSpc>
              <a:buClr>
                <a:srgbClr val="002060"/>
              </a:buClr>
              <a:buSzPct val="50000"/>
            </a:pPr>
            <a:r>
              <a:rPr lang="zh-CN" altLang="en-US" sz="2000" b="1" kern="0" dirty="0" smtClean="0">
                <a:solidFill>
                  <a:srgbClr val="0070C0"/>
                </a:solidFill>
                <a:latin typeface="+mn-ea"/>
              </a:rPr>
              <a:t>阻抗</a:t>
            </a:r>
            <a:r>
              <a:rPr lang="zh-CN" altLang="en-US" sz="2000" b="1" kern="0" dirty="0">
                <a:solidFill>
                  <a:srgbClr val="0070C0"/>
                </a:solidFill>
                <a:latin typeface="+mn-ea"/>
              </a:rPr>
              <a:t>变换；</a:t>
            </a:r>
            <a:endParaRPr lang="en-US" altLang="zh-CN" sz="2000" b="1" kern="0" dirty="0">
              <a:solidFill>
                <a:srgbClr val="0070C0"/>
              </a:solidFill>
              <a:latin typeface="+mn-ea"/>
            </a:endParaRPr>
          </a:p>
          <a:p>
            <a:pPr>
              <a:lnSpc>
                <a:spcPct val="150000"/>
              </a:lnSpc>
              <a:buClr>
                <a:srgbClr val="002060"/>
              </a:buClr>
              <a:buSzPct val="50000"/>
            </a:pPr>
            <a:r>
              <a:rPr lang="zh-CN" altLang="en-US" sz="2000" b="1" kern="0" dirty="0">
                <a:solidFill>
                  <a:srgbClr val="0070C0"/>
                </a:solidFill>
                <a:latin typeface="+mn-ea"/>
                <a:cs typeface="+mj-cs"/>
              </a:rPr>
              <a:t>移相、相频转换、负载。</a:t>
            </a:r>
            <a:endParaRPr lang="en-US" altLang="zh-CN" sz="2000" b="1" kern="0" dirty="0">
              <a:solidFill>
                <a:srgbClr val="FF0000"/>
              </a:solidFill>
              <a:latin typeface="+mn-ea"/>
              <a:cs typeface="+mj-cs"/>
            </a:endParaRPr>
          </a:p>
          <a:p>
            <a:pPr marL="0" indent="0">
              <a:lnSpc>
                <a:spcPct val="150000"/>
              </a:lnSpc>
              <a:buClr>
                <a:srgbClr val="C00000"/>
              </a:buClr>
              <a:buNone/>
            </a:pPr>
            <a:endParaRPr lang="en-US" altLang="zh-CN" sz="2000" kern="0" dirty="0">
              <a:solidFill>
                <a:srgbClr val="005696"/>
              </a:solidFill>
              <a:latin typeface="+mn-ea"/>
              <a:cs typeface="+mj-cs"/>
            </a:endParaRPr>
          </a:p>
          <a:p>
            <a:pPr marL="0" indent="0">
              <a:lnSpc>
                <a:spcPct val="150000"/>
              </a:lnSpc>
              <a:buClr>
                <a:srgbClr val="C00000"/>
              </a:buClr>
              <a:buNone/>
            </a:pPr>
            <a:endParaRPr lang="en-US" altLang="zh-CN" sz="2000" b="1" kern="0" dirty="0">
              <a:solidFill>
                <a:srgbClr val="005696"/>
              </a:solidFill>
              <a:latin typeface="+mn-ea"/>
              <a:cs typeface="+mj-cs"/>
            </a:endParaRPr>
          </a:p>
          <a:p>
            <a:pPr marL="0" indent="0">
              <a:lnSpc>
                <a:spcPct val="150000"/>
              </a:lnSpc>
              <a:buClr>
                <a:srgbClr val="C00000"/>
              </a:buClr>
              <a:buNone/>
            </a:pPr>
            <a:endParaRPr lang="en-US" altLang="zh-CN" sz="2000" b="1" kern="0" dirty="0">
              <a:solidFill>
                <a:srgbClr val="005696"/>
              </a:solidFill>
              <a:latin typeface="+mn-ea"/>
              <a:cs typeface="+mj-cs"/>
            </a:endParaRPr>
          </a:p>
          <a:p>
            <a:pPr marL="0" indent="0">
              <a:lnSpc>
                <a:spcPct val="150000"/>
              </a:lnSpc>
              <a:buClr>
                <a:srgbClr val="C00000"/>
              </a:buClr>
              <a:buNone/>
            </a:pPr>
            <a:endParaRPr lang="en-US" altLang="zh-CN" sz="2000" b="1" kern="0" dirty="0">
              <a:solidFill>
                <a:srgbClr val="005696"/>
              </a:solidFill>
              <a:latin typeface="+mn-ea"/>
              <a:cs typeface="+mj-cs"/>
            </a:endParaRPr>
          </a:p>
          <a:p>
            <a:pPr marL="0" indent="0">
              <a:lnSpc>
                <a:spcPct val="150000"/>
              </a:lnSpc>
              <a:buClr>
                <a:srgbClr val="C00000"/>
              </a:buClr>
              <a:buNone/>
            </a:pPr>
            <a:endParaRPr lang="en-US" altLang="zh-CN" sz="1400" b="1" kern="0" dirty="0">
              <a:solidFill>
                <a:srgbClr val="005696"/>
              </a:solidFill>
              <a:latin typeface="+mn-ea"/>
              <a:cs typeface="+mj-cs"/>
            </a:endParaRPr>
          </a:p>
        </p:txBody>
      </p:sp>
    </p:spTree>
    <p:extLst>
      <p:ext uri="{BB962C8B-B14F-4D97-AF65-F5344CB8AC3E}">
        <p14:creationId xmlns:p14="http://schemas.microsoft.com/office/powerpoint/2010/main" val="1362106438"/>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13</a:t>
            </a:fld>
            <a:endParaRPr lang="en-US" altLang="zh-CN" dirty="0">
              <a:solidFill>
                <a:srgbClr val="000000"/>
              </a:solidFill>
            </a:endParaRPr>
          </a:p>
        </p:txBody>
      </p:sp>
      <p:sp>
        <p:nvSpPr>
          <p:cNvPr id="21" name="内容占位符 20"/>
          <p:cNvSpPr>
            <a:spLocks noGrp="1"/>
          </p:cNvSpPr>
          <p:nvPr>
            <p:ph idx="1"/>
          </p:nvPr>
        </p:nvSpPr>
        <p:spPr>
          <a:xfrm>
            <a:off x="395536" y="260648"/>
            <a:ext cx="4464496" cy="648072"/>
          </a:xfrm>
          <a:noFill/>
        </p:spPr>
        <p:txBody>
          <a:bodyPr/>
          <a:lstStyle/>
          <a:p>
            <a:pPr>
              <a:buClr>
                <a:schemeClr val="bg1"/>
              </a:buClr>
              <a:buFont typeface="Wingdings" panose="05000000000000000000" pitchFamily="2" charset="2"/>
              <a:buChar char="l"/>
            </a:pPr>
            <a:r>
              <a:rPr lang="en-US" altLang="zh-CN" sz="3600" dirty="0">
                <a:solidFill>
                  <a:schemeClr val="accent2">
                    <a:lumMod val="50000"/>
                  </a:schemeClr>
                </a:solidFill>
                <a:latin typeface="Garamond"/>
                <a:ea typeface="华文行楷"/>
                <a:cs typeface="+mj-cs"/>
              </a:rPr>
              <a:t>2.2.1  </a:t>
            </a:r>
            <a:r>
              <a:rPr lang="zh-CN" altLang="en-US" sz="3600" dirty="0">
                <a:solidFill>
                  <a:schemeClr val="accent2">
                    <a:lumMod val="50000"/>
                  </a:schemeClr>
                </a:solidFill>
                <a:latin typeface="Garamond"/>
                <a:ea typeface="华文行楷"/>
                <a:cs typeface="+mj-cs"/>
              </a:rPr>
              <a:t>并联谐振</a:t>
            </a:r>
            <a:r>
              <a:rPr lang="zh-CN" altLang="en-US" sz="3600" dirty="0" smtClean="0">
                <a:solidFill>
                  <a:schemeClr val="accent2">
                    <a:lumMod val="50000"/>
                  </a:schemeClr>
                </a:solidFill>
                <a:latin typeface="Garamond"/>
                <a:ea typeface="华文行楷"/>
                <a:cs typeface="+mj-cs"/>
              </a:rPr>
              <a:t>回路</a:t>
            </a:r>
            <a:endParaRPr lang="zh-CN" altLang="en-US" sz="2800" dirty="0">
              <a:solidFill>
                <a:schemeClr val="accent2">
                  <a:lumMod val="50000"/>
                </a:schemeClr>
              </a:solidFill>
            </a:endParaRPr>
          </a:p>
        </p:txBody>
      </p:sp>
      <p:sp>
        <p:nvSpPr>
          <p:cNvPr id="33" name="内容占位符 20"/>
          <p:cNvSpPr txBox="1">
            <a:spLocks/>
          </p:cNvSpPr>
          <p:nvPr/>
        </p:nvSpPr>
        <p:spPr bwMode="auto">
          <a:xfrm>
            <a:off x="780164" y="980728"/>
            <a:ext cx="3215772"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Clr>
                <a:srgbClr val="002060"/>
              </a:buClr>
              <a:buSzPct val="50000"/>
            </a:pPr>
            <a:r>
              <a:rPr lang="zh-CN" altLang="en-US" sz="2400" b="1" kern="0" dirty="0">
                <a:solidFill>
                  <a:srgbClr val="FF0000"/>
                </a:solidFill>
                <a:latin typeface="+mn-ea"/>
                <a:cs typeface="+mj-cs"/>
              </a:rPr>
              <a:t>阻抗与品质因数：</a:t>
            </a:r>
            <a:endParaRPr lang="en-US" altLang="zh-CN" sz="2400" b="1" kern="0" dirty="0">
              <a:solidFill>
                <a:srgbClr val="FF0000"/>
              </a:solidFill>
              <a:latin typeface="+mn-ea"/>
              <a:cs typeface="+mj-cs"/>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487450803"/>
              </p:ext>
            </p:extLst>
          </p:nvPr>
        </p:nvGraphicFramePr>
        <p:xfrm>
          <a:off x="2972257" y="1556792"/>
          <a:ext cx="2175808" cy="1187474"/>
        </p:xfrm>
        <a:graphic>
          <a:graphicData uri="http://schemas.openxmlformats.org/presentationml/2006/ole">
            <mc:AlternateContent xmlns:mc="http://schemas.openxmlformats.org/markup-compatibility/2006">
              <mc:Choice xmlns:v="urn:schemas-microsoft-com:vml" Requires="v">
                <p:oleObj spid="_x0000_s124965" name="公式" r:id="rId4" imgW="1054100" imgH="660400" progId="Equation.3">
                  <p:embed/>
                </p:oleObj>
              </mc:Choice>
              <mc:Fallback>
                <p:oleObj name="公式" r:id="rId4" imgW="1054100" imgH="660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2257" y="1556792"/>
                        <a:ext cx="2175808" cy="1187474"/>
                      </a:xfrm>
                      <a:prstGeom prst="rect">
                        <a:avLst/>
                      </a:prstGeom>
                      <a:noFill/>
                      <a:ln>
                        <a:noFill/>
                      </a:ln>
                    </p:spPr>
                  </p:pic>
                </p:oleObj>
              </mc:Fallback>
            </mc:AlternateContent>
          </a:graphicData>
        </a:graphic>
      </p:graphicFrame>
      <p:sp>
        <p:nvSpPr>
          <p:cNvPr id="34" name="内容占位符 20"/>
          <p:cNvSpPr txBox="1">
            <a:spLocks/>
          </p:cNvSpPr>
          <p:nvPr/>
        </p:nvSpPr>
        <p:spPr bwMode="auto">
          <a:xfrm>
            <a:off x="515842" y="4797152"/>
            <a:ext cx="3624110"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Clr>
                <a:srgbClr val="002060"/>
              </a:buClr>
              <a:buSzPct val="50000"/>
            </a:pPr>
            <a:r>
              <a:rPr lang="zh-CN" altLang="en-US" sz="2000" b="1" kern="0" dirty="0">
                <a:solidFill>
                  <a:srgbClr val="FF0000"/>
                </a:solidFill>
                <a:latin typeface="+mn-ea"/>
                <a:cs typeface="+mj-cs"/>
              </a:rPr>
              <a:t>阻抗的幅值（幅频特性）</a:t>
            </a:r>
            <a:endParaRPr lang="en-US" altLang="zh-CN" sz="2000" b="1" kern="0" dirty="0">
              <a:solidFill>
                <a:srgbClr val="FF0000"/>
              </a:solidFill>
              <a:latin typeface="+mn-ea"/>
              <a:cs typeface="+mj-cs"/>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741124620"/>
              </p:ext>
            </p:extLst>
          </p:nvPr>
        </p:nvGraphicFramePr>
        <p:xfrm>
          <a:off x="852172" y="3516956"/>
          <a:ext cx="2782549" cy="1208188"/>
        </p:xfrm>
        <a:graphic>
          <a:graphicData uri="http://schemas.openxmlformats.org/presentationml/2006/ole">
            <mc:AlternateContent xmlns:mc="http://schemas.openxmlformats.org/markup-compatibility/2006">
              <mc:Choice xmlns:v="urn:schemas-microsoft-com:vml" Requires="v">
                <p:oleObj spid="_x0000_s124966" name="Equation" r:id="rId6" imgW="1282680" imgH="685800" progId="Equation.DSMT4">
                  <p:embed/>
                </p:oleObj>
              </mc:Choice>
              <mc:Fallback>
                <p:oleObj name="Equation" r:id="rId6" imgW="1282680" imgH="685800" progId="Equation.DSMT4">
                  <p:embed/>
                  <p:pic>
                    <p:nvPicPr>
                      <p:cNvPr id="0" name=""/>
                      <p:cNvPicPr>
                        <a:picLocks noChangeAspect="1" noChangeArrowheads="1"/>
                      </p:cNvPicPr>
                      <p:nvPr/>
                    </p:nvPicPr>
                    <p:blipFill>
                      <a:blip r:embed="rId7"/>
                      <a:srcRect/>
                      <a:stretch>
                        <a:fillRect/>
                      </a:stretch>
                    </p:blipFill>
                    <p:spPr bwMode="auto">
                      <a:xfrm>
                        <a:off x="852172" y="3516956"/>
                        <a:ext cx="2782549" cy="1208188"/>
                      </a:xfrm>
                      <a:prstGeom prst="rect">
                        <a:avLst/>
                      </a:prstGeom>
                      <a:noFill/>
                      <a:ln>
                        <a:noFill/>
                      </a:ln>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327894626"/>
              </p:ext>
            </p:extLst>
          </p:nvPr>
        </p:nvGraphicFramePr>
        <p:xfrm>
          <a:off x="4932040" y="3717032"/>
          <a:ext cx="2928210" cy="792088"/>
        </p:xfrm>
        <a:graphic>
          <a:graphicData uri="http://schemas.openxmlformats.org/presentationml/2006/ole">
            <mc:AlternateContent xmlns:mc="http://schemas.openxmlformats.org/markup-compatibility/2006">
              <mc:Choice xmlns:v="urn:schemas-microsoft-com:vml" Requires="v">
                <p:oleObj spid="_x0000_s124967" name="Equation" r:id="rId8" imgW="1295280" imgH="431640" progId="Equation.DSMT4">
                  <p:embed/>
                </p:oleObj>
              </mc:Choice>
              <mc:Fallback>
                <p:oleObj name="Equation" r:id="rId8" imgW="1295280" imgH="431640" progId="Equation.DSMT4">
                  <p:embed/>
                  <p:pic>
                    <p:nvPicPr>
                      <p:cNvPr id="0" name=""/>
                      <p:cNvPicPr>
                        <a:picLocks noChangeAspect="1" noChangeArrowheads="1"/>
                      </p:cNvPicPr>
                      <p:nvPr/>
                    </p:nvPicPr>
                    <p:blipFill>
                      <a:blip r:embed="rId9"/>
                      <a:srcRect/>
                      <a:stretch>
                        <a:fillRect/>
                      </a:stretch>
                    </p:blipFill>
                    <p:spPr bwMode="auto">
                      <a:xfrm>
                        <a:off x="4932040" y="3717032"/>
                        <a:ext cx="2928210" cy="792088"/>
                      </a:xfrm>
                      <a:prstGeom prst="rect">
                        <a:avLst/>
                      </a:prstGeom>
                      <a:noFill/>
                      <a:ln>
                        <a:noFill/>
                      </a:ln>
                    </p:spPr>
                  </p:pic>
                </p:oleObj>
              </mc:Fallback>
            </mc:AlternateContent>
          </a:graphicData>
        </a:graphic>
      </p:graphicFrame>
      <p:sp>
        <p:nvSpPr>
          <p:cNvPr id="36" name="内容占位符 20"/>
          <p:cNvSpPr txBox="1">
            <a:spLocks/>
          </p:cNvSpPr>
          <p:nvPr/>
        </p:nvSpPr>
        <p:spPr bwMode="auto">
          <a:xfrm>
            <a:off x="4548290" y="4725144"/>
            <a:ext cx="348009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Clr>
                <a:srgbClr val="002060"/>
              </a:buClr>
              <a:buSzPct val="50000"/>
            </a:pPr>
            <a:r>
              <a:rPr lang="zh-CN" altLang="en-US" sz="2000" b="1" kern="0" dirty="0">
                <a:solidFill>
                  <a:srgbClr val="FF0000"/>
                </a:solidFill>
                <a:latin typeface="+mn-ea"/>
                <a:cs typeface="+mj-cs"/>
              </a:rPr>
              <a:t>阻抗的相位（相频特性）</a:t>
            </a:r>
            <a:endParaRPr lang="en-US" altLang="zh-CN" sz="2000" b="1" kern="0" dirty="0">
              <a:solidFill>
                <a:srgbClr val="FF0000"/>
              </a:solidFill>
              <a:latin typeface="+mn-ea"/>
              <a:cs typeface="+mj-cs"/>
            </a:endParaRPr>
          </a:p>
        </p:txBody>
      </p:sp>
      <p:sp>
        <p:nvSpPr>
          <p:cNvPr id="10" name="TextBox 9"/>
          <p:cNvSpPr txBox="1"/>
          <p:nvPr/>
        </p:nvSpPr>
        <p:spPr>
          <a:xfrm>
            <a:off x="5220072" y="5291916"/>
            <a:ext cx="2262158" cy="369332"/>
          </a:xfrm>
          <a:prstGeom prst="rect">
            <a:avLst/>
          </a:prstGeom>
          <a:noFill/>
        </p:spPr>
        <p:txBody>
          <a:bodyPr wrap="none" rtlCol="0">
            <a:spAutoFit/>
          </a:bodyPr>
          <a:lstStyle/>
          <a:p>
            <a:r>
              <a:rPr lang="zh-CN" altLang="en-US" b="1" dirty="0">
                <a:solidFill>
                  <a:schemeClr val="accent6">
                    <a:lumMod val="75000"/>
                  </a:schemeClr>
                </a:solidFill>
              </a:rPr>
              <a:t>电压和电流的相位差</a:t>
            </a:r>
          </a:p>
        </p:txBody>
      </p:sp>
      <p:cxnSp>
        <p:nvCxnSpPr>
          <p:cNvPr id="6" name="直接箭头连接符 5"/>
          <p:cNvCxnSpPr/>
          <p:nvPr/>
        </p:nvCxnSpPr>
        <p:spPr bwMode="auto">
          <a:xfrm flipH="1">
            <a:off x="3347864" y="2780928"/>
            <a:ext cx="864096" cy="720080"/>
          </a:xfrm>
          <a:prstGeom prst="straightConnector1">
            <a:avLst/>
          </a:prstGeom>
          <a:solidFill>
            <a:schemeClr val="accent1"/>
          </a:solidFill>
          <a:ln w="28575" cap="flat" cmpd="sng" algn="ctr">
            <a:solidFill>
              <a:srgbClr val="C00000"/>
            </a:solidFill>
            <a:prstDash val="solid"/>
            <a:round/>
            <a:headEnd type="none" w="med" len="med"/>
            <a:tailEnd type="arrow"/>
          </a:ln>
        </p:spPr>
      </p:cxnSp>
      <p:cxnSp>
        <p:nvCxnSpPr>
          <p:cNvPr id="8" name="直接箭头连接符 7"/>
          <p:cNvCxnSpPr/>
          <p:nvPr/>
        </p:nvCxnSpPr>
        <p:spPr bwMode="auto">
          <a:xfrm>
            <a:off x="4211960" y="2780928"/>
            <a:ext cx="864096" cy="720080"/>
          </a:xfrm>
          <a:prstGeom prst="straightConnector1">
            <a:avLst/>
          </a:prstGeom>
          <a:solidFill>
            <a:schemeClr val="accent1"/>
          </a:solidFill>
          <a:ln w="28575" cap="flat" cmpd="sng" algn="ctr">
            <a:solidFill>
              <a:srgbClr val="C00000"/>
            </a:solidFill>
            <a:prstDash val="solid"/>
            <a:round/>
            <a:headEnd type="none" w="med" len="med"/>
            <a:tailEnd type="arrow"/>
          </a:ln>
        </p:spPr>
      </p:cxnSp>
      <p:graphicFrame>
        <p:nvGraphicFramePr>
          <p:cNvPr id="3" name="对象 2"/>
          <p:cNvGraphicFramePr>
            <a:graphicFrameLocks noChangeAspect="1"/>
          </p:cNvGraphicFramePr>
          <p:nvPr>
            <p:extLst>
              <p:ext uri="{D42A27DB-BD31-4B8C-83A1-F6EECF244321}">
                <p14:modId xmlns:p14="http://schemas.microsoft.com/office/powerpoint/2010/main" val="4289257121"/>
              </p:ext>
            </p:extLst>
          </p:nvPr>
        </p:nvGraphicFramePr>
        <p:xfrm>
          <a:off x="5796136" y="1268760"/>
          <a:ext cx="2514600" cy="457200"/>
        </p:xfrm>
        <a:graphic>
          <a:graphicData uri="http://schemas.openxmlformats.org/presentationml/2006/ole">
            <mc:AlternateContent xmlns:mc="http://schemas.openxmlformats.org/markup-compatibility/2006">
              <mc:Choice xmlns:v="urn:schemas-microsoft-com:vml" Requires="v">
                <p:oleObj spid="_x0000_s124968" name="Equation" r:id="rId10" imgW="1218960" imgH="253800" progId="Equation.DSMT4">
                  <p:embed/>
                </p:oleObj>
              </mc:Choice>
              <mc:Fallback>
                <p:oleObj name="Equation" r:id="rId10" imgW="1218960" imgH="253800" progId="Equation.DSMT4">
                  <p:embed/>
                  <p:pic>
                    <p:nvPicPr>
                      <p:cNvPr id="0" name=""/>
                      <p:cNvPicPr>
                        <a:picLocks noChangeAspect="1" noChangeArrowheads="1"/>
                      </p:cNvPicPr>
                      <p:nvPr/>
                    </p:nvPicPr>
                    <p:blipFill>
                      <a:blip r:embed="rId11"/>
                      <a:srcRect/>
                      <a:stretch>
                        <a:fillRect/>
                      </a:stretch>
                    </p:blipFill>
                    <p:spPr bwMode="auto">
                      <a:xfrm>
                        <a:off x="5796136" y="126876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407467504"/>
              </p:ext>
            </p:extLst>
          </p:nvPr>
        </p:nvGraphicFramePr>
        <p:xfrm>
          <a:off x="5889451" y="2202631"/>
          <a:ext cx="2066925" cy="722313"/>
        </p:xfrm>
        <a:graphic>
          <a:graphicData uri="http://schemas.openxmlformats.org/presentationml/2006/ole">
            <mc:AlternateContent xmlns:mc="http://schemas.openxmlformats.org/markup-compatibility/2006">
              <mc:Choice xmlns:v="urn:schemas-microsoft-com:vml" Requires="v">
                <p:oleObj spid="_x0000_s124969" name="Equation" r:id="rId12" imgW="914400" imgH="393480" progId="Equation.DSMT4">
                  <p:embed/>
                </p:oleObj>
              </mc:Choice>
              <mc:Fallback>
                <p:oleObj name="Equation" r:id="rId12" imgW="914400" imgH="393480" progId="Equation.DSMT4">
                  <p:embed/>
                  <p:pic>
                    <p:nvPicPr>
                      <p:cNvPr id="0" name=""/>
                      <p:cNvPicPr>
                        <a:picLocks noChangeAspect="1" noChangeArrowheads="1"/>
                      </p:cNvPicPr>
                      <p:nvPr/>
                    </p:nvPicPr>
                    <p:blipFill>
                      <a:blip r:embed="rId13"/>
                      <a:srcRect/>
                      <a:stretch>
                        <a:fillRect/>
                      </a:stretch>
                    </p:blipFill>
                    <p:spPr bwMode="auto">
                      <a:xfrm>
                        <a:off x="5889451" y="2202631"/>
                        <a:ext cx="2066925"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bwMode="auto">
          <a:xfrm>
            <a:off x="5652120" y="1124744"/>
            <a:ext cx="2808312" cy="1872208"/>
          </a:xfrm>
          <a:prstGeom prst="rect">
            <a:avLst/>
          </a:prstGeom>
          <a:noFill/>
          <a:ln w="38100" cap="flat" cmpd="sng" algn="ctr">
            <a:solidFill>
              <a:srgbClr val="00589A"/>
            </a:solidFill>
            <a:prstDash val="sysDash"/>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隶书" pitchFamily="49" charset="-122"/>
            </a:endParaRPr>
          </a:p>
        </p:txBody>
      </p:sp>
      <p:cxnSp>
        <p:nvCxnSpPr>
          <p:cNvPr id="17" name="直接箭头连接符 16"/>
          <p:cNvCxnSpPr/>
          <p:nvPr/>
        </p:nvCxnSpPr>
        <p:spPr bwMode="auto">
          <a:xfrm>
            <a:off x="5148064" y="2053618"/>
            <a:ext cx="432048" cy="0"/>
          </a:xfrm>
          <a:prstGeom prst="straightConnector1">
            <a:avLst/>
          </a:prstGeom>
          <a:solidFill>
            <a:schemeClr val="accent1"/>
          </a:solidFill>
          <a:ln w="28575" cap="flat" cmpd="sng" algn="ctr">
            <a:solidFill>
              <a:srgbClr val="00589A"/>
            </a:solidFill>
            <a:prstDash val="solid"/>
            <a:round/>
            <a:headEnd type="none" w="med" len="med"/>
            <a:tailEnd type="arrow"/>
          </a:ln>
        </p:spPr>
      </p:cxnSp>
      <mc:AlternateContent xmlns:mc="http://schemas.openxmlformats.org/markup-compatibility/2006" xmlns:a14="http://schemas.microsoft.com/office/drawing/2010/main">
        <mc:Choice Requires="a14">
          <p:sp>
            <p:nvSpPr>
              <p:cNvPr id="12" name="TextBox 11"/>
              <p:cNvSpPr txBox="1"/>
              <p:nvPr/>
            </p:nvSpPr>
            <p:spPr>
              <a:xfrm>
                <a:off x="5652120" y="1757177"/>
                <a:ext cx="1995546" cy="4735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CN" sz="2000" i="1" smtClean="0">
                              <a:latin typeface="Cambria Math"/>
                            </a:rPr>
                          </m:ctrlPr>
                        </m:dPr>
                        <m:e>
                          <m:r>
                            <a:rPr lang="en-US" altLang="zh-CN" sz="2000" b="0" i="1" smtClean="0">
                              <a:latin typeface="Cambria Math"/>
                            </a:rPr>
                            <m:t>𝑍</m:t>
                          </m:r>
                        </m:e>
                      </m:d>
                      <m:r>
                        <a:rPr lang="en-US" altLang="zh-CN" sz="2000" b="0" i="1" smtClean="0">
                          <a:latin typeface="Cambria Math"/>
                        </a:rPr>
                        <m:t>=</m:t>
                      </m:r>
                      <m:rad>
                        <m:radPr>
                          <m:degHide m:val="on"/>
                          <m:ctrlPr>
                            <a:rPr lang="en-US" altLang="zh-CN" sz="2000" b="0" i="1" smtClean="0">
                              <a:latin typeface="Cambria Math"/>
                            </a:rPr>
                          </m:ctrlPr>
                        </m:radPr>
                        <m:deg/>
                        <m:e>
                          <m:sSup>
                            <m:sSupPr>
                              <m:ctrlPr>
                                <a:rPr lang="en-US" altLang="zh-CN" sz="2000" b="0" i="1" smtClean="0">
                                  <a:latin typeface="Cambria Math"/>
                                </a:rPr>
                              </m:ctrlPr>
                            </m:sSupPr>
                            <m:e>
                              <m:r>
                                <a:rPr lang="en-US" altLang="zh-CN" sz="2000" b="0" i="1" smtClean="0">
                                  <a:latin typeface="Cambria Math"/>
                                </a:rPr>
                                <m:t>𝑅</m:t>
                              </m:r>
                            </m:e>
                            <m:sup>
                              <m:r>
                                <a:rPr lang="en-US" altLang="zh-CN" sz="2000" b="0" i="1" smtClean="0">
                                  <a:latin typeface="Cambria Math"/>
                                </a:rPr>
                                <m:t>2</m:t>
                              </m:r>
                            </m:sup>
                          </m:sSup>
                          <m:r>
                            <a:rPr lang="en-US" altLang="zh-CN" sz="2000" b="0" i="1" smtClean="0">
                              <a:latin typeface="Cambria Math"/>
                            </a:rPr>
                            <m:t>+</m:t>
                          </m:r>
                          <m:sSup>
                            <m:sSupPr>
                              <m:ctrlPr>
                                <a:rPr lang="en-US" altLang="zh-CN" sz="2000" b="0" i="1" smtClean="0">
                                  <a:latin typeface="Cambria Math"/>
                                </a:rPr>
                              </m:ctrlPr>
                            </m:sSupPr>
                            <m:e>
                              <m:r>
                                <a:rPr lang="en-US" altLang="zh-CN" sz="2000" b="0" i="1" smtClean="0">
                                  <a:latin typeface="Cambria Math"/>
                                </a:rPr>
                                <m:t>𝑋</m:t>
                              </m:r>
                            </m:e>
                            <m:sup>
                              <m:r>
                                <a:rPr lang="en-US" altLang="zh-CN" sz="2000" b="0" i="1" smtClean="0">
                                  <a:latin typeface="Cambria Math"/>
                                </a:rPr>
                                <m:t>2</m:t>
                              </m:r>
                            </m:sup>
                          </m:sSup>
                        </m:e>
                      </m:rad>
                    </m:oMath>
                  </m:oMathPara>
                </a14:m>
                <a:endParaRPr lang="zh-CN" alt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5652120" y="1757177"/>
                <a:ext cx="1995546" cy="473591"/>
              </a:xfrm>
              <a:prstGeom prst="rect">
                <a:avLst/>
              </a:prstGeom>
              <a:blipFill rotWithShape="1">
                <a:blip r:embed="rId14"/>
                <a:stretch>
                  <a:fillRect/>
                </a:stretch>
              </a:blipFill>
            </p:spPr>
            <p:txBody>
              <a:bodyPr/>
              <a:lstStyle/>
              <a:p>
                <a:r>
                  <a:rPr lang="zh-CN" altLang="en-US">
                    <a:noFill/>
                  </a:rPr>
                  <a:t> </a:t>
                </a:r>
              </a:p>
            </p:txBody>
          </p:sp>
        </mc:Fallback>
      </mc:AlternateContent>
      <p:sp>
        <p:nvSpPr>
          <p:cNvPr id="18" name="TextBox 17"/>
          <p:cNvSpPr txBox="1"/>
          <p:nvPr/>
        </p:nvSpPr>
        <p:spPr>
          <a:xfrm>
            <a:off x="323528" y="2201173"/>
            <a:ext cx="2832022" cy="875881"/>
          </a:xfrm>
          <a:prstGeom prst="rect">
            <a:avLst/>
          </a:prstGeom>
          <a:noFill/>
          <a:ln>
            <a:solidFill>
              <a:srgbClr val="FF0000"/>
            </a:solidFill>
          </a:ln>
        </p:spPr>
        <p:txBody>
          <a:bodyPr wrap="square" rtlCol="0">
            <a:spAutoFit/>
          </a:bodyPr>
          <a:lstStyle/>
          <a:p>
            <a:pPr>
              <a:lnSpc>
                <a:spcPct val="150000"/>
              </a:lnSpc>
            </a:pPr>
            <a:r>
              <a:rPr lang="zh-CN" altLang="en-US" b="1" dirty="0" smtClean="0">
                <a:solidFill>
                  <a:schemeClr val="accent2">
                    <a:lumMod val="50000"/>
                  </a:schemeClr>
                </a:solidFill>
              </a:rPr>
              <a:t>重要，掌握谐振回路的阻抗表达式，便于分析</a:t>
            </a:r>
            <a:endParaRPr lang="zh-CN" altLang="en-US" b="1" dirty="0">
              <a:solidFill>
                <a:schemeClr val="accent2">
                  <a:lumMod val="50000"/>
                </a:schemeClr>
              </a:solidFill>
            </a:endParaRPr>
          </a:p>
        </p:txBody>
      </p:sp>
    </p:spTree>
    <p:extLst>
      <p:ext uri="{BB962C8B-B14F-4D97-AF65-F5344CB8AC3E}">
        <p14:creationId xmlns:p14="http://schemas.microsoft.com/office/powerpoint/2010/main" val="2978320986"/>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14</a:t>
            </a:fld>
            <a:endParaRPr lang="en-US" altLang="zh-CN" dirty="0">
              <a:solidFill>
                <a:srgbClr val="000000"/>
              </a:solidFill>
            </a:endParaRPr>
          </a:p>
        </p:txBody>
      </p:sp>
      <p:sp>
        <p:nvSpPr>
          <p:cNvPr id="21" name="内容占位符 20"/>
          <p:cNvSpPr>
            <a:spLocks noGrp="1"/>
          </p:cNvSpPr>
          <p:nvPr>
            <p:ph idx="1"/>
          </p:nvPr>
        </p:nvSpPr>
        <p:spPr>
          <a:xfrm>
            <a:off x="395536" y="260648"/>
            <a:ext cx="4392488" cy="648072"/>
          </a:xfrm>
          <a:noFill/>
        </p:spPr>
        <p:txBody>
          <a:bodyPr/>
          <a:lstStyle/>
          <a:p>
            <a:pPr>
              <a:buClr>
                <a:schemeClr val="bg1"/>
              </a:buClr>
              <a:buFont typeface="Wingdings" panose="05000000000000000000" pitchFamily="2" charset="2"/>
              <a:buChar char="l"/>
            </a:pPr>
            <a:r>
              <a:rPr lang="en-US" altLang="zh-CN" sz="3600" dirty="0">
                <a:solidFill>
                  <a:schemeClr val="accent2">
                    <a:lumMod val="50000"/>
                  </a:schemeClr>
                </a:solidFill>
                <a:latin typeface="Garamond"/>
                <a:ea typeface="华文行楷"/>
                <a:cs typeface="+mj-cs"/>
              </a:rPr>
              <a:t>2.2.2  </a:t>
            </a:r>
            <a:r>
              <a:rPr lang="zh-CN" altLang="en-US" sz="3600" dirty="0">
                <a:solidFill>
                  <a:schemeClr val="accent2">
                    <a:lumMod val="50000"/>
                  </a:schemeClr>
                </a:solidFill>
                <a:latin typeface="Garamond"/>
                <a:ea typeface="华文行楷"/>
                <a:cs typeface="+mj-cs"/>
              </a:rPr>
              <a:t>串联谐振</a:t>
            </a:r>
            <a:r>
              <a:rPr lang="zh-CN" altLang="en-US" sz="3600" dirty="0" smtClean="0">
                <a:solidFill>
                  <a:schemeClr val="accent2">
                    <a:lumMod val="50000"/>
                  </a:schemeClr>
                </a:solidFill>
                <a:latin typeface="Garamond"/>
                <a:ea typeface="华文行楷"/>
                <a:cs typeface="+mj-cs"/>
              </a:rPr>
              <a:t>回路</a:t>
            </a:r>
            <a:endParaRPr lang="zh-CN" altLang="en-US" sz="2800" dirty="0">
              <a:solidFill>
                <a:schemeClr val="accent2">
                  <a:lumMod val="50000"/>
                </a:schemeClr>
              </a:solidFill>
            </a:endParaRPr>
          </a:p>
        </p:txBody>
      </p:sp>
      <p:sp>
        <p:nvSpPr>
          <p:cNvPr id="33" name="内容占位符 20"/>
          <p:cNvSpPr txBox="1">
            <a:spLocks/>
          </p:cNvSpPr>
          <p:nvPr/>
        </p:nvSpPr>
        <p:spPr bwMode="auto">
          <a:xfrm>
            <a:off x="780164" y="980728"/>
            <a:ext cx="3215772"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Clr>
                <a:srgbClr val="002060"/>
              </a:buClr>
              <a:buSzPct val="50000"/>
            </a:pPr>
            <a:r>
              <a:rPr lang="zh-CN" altLang="en-US" sz="2400" b="1" kern="0" dirty="0">
                <a:solidFill>
                  <a:srgbClr val="FF0000"/>
                </a:solidFill>
                <a:latin typeface="+mn-ea"/>
                <a:cs typeface="+mj-cs"/>
              </a:rPr>
              <a:t>阻抗与品质因数：</a:t>
            </a:r>
            <a:endParaRPr lang="en-US" altLang="zh-CN" sz="2400" b="1" kern="0" dirty="0">
              <a:solidFill>
                <a:srgbClr val="FF0000"/>
              </a:solidFill>
              <a:latin typeface="+mn-ea"/>
              <a:cs typeface="+mj-cs"/>
            </a:endParaRPr>
          </a:p>
        </p:txBody>
      </p:sp>
      <p:sp>
        <p:nvSpPr>
          <p:cNvPr id="34" name="内容占位符 20"/>
          <p:cNvSpPr txBox="1">
            <a:spLocks/>
          </p:cNvSpPr>
          <p:nvPr/>
        </p:nvSpPr>
        <p:spPr bwMode="auto">
          <a:xfrm>
            <a:off x="731866" y="4581128"/>
            <a:ext cx="3624110"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Clr>
                <a:srgbClr val="002060"/>
              </a:buClr>
              <a:buSzPct val="50000"/>
            </a:pPr>
            <a:r>
              <a:rPr lang="zh-CN" altLang="en-US" sz="2000" b="1" kern="0" dirty="0">
                <a:solidFill>
                  <a:srgbClr val="FF0000"/>
                </a:solidFill>
                <a:latin typeface="+mn-ea"/>
                <a:cs typeface="+mj-cs"/>
              </a:rPr>
              <a:t>阻抗的幅值（幅频特性）</a:t>
            </a:r>
            <a:endParaRPr lang="en-US" altLang="zh-CN" sz="2000" b="1" kern="0" dirty="0">
              <a:solidFill>
                <a:srgbClr val="FF0000"/>
              </a:solidFill>
              <a:latin typeface="+mn-ea"/>
              <a:cs typeface="+mj-cs"/>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599471456"/>
              </p:ext>
            </p:extLst>
          </p:nvPr>
        </p:nvGraphicFramePr>
        <p:xfrm>
          <a:off x="1115616" y="3695700"/>
          <a:ext cx="2836863" cy="849313"/>
        </p:xfrm>
        <a:graphic>
          <a:graphicData uri="http://schemas.openxmlformats.org/presentationml/2006/ole">
            <mc:AlternateContent xmlns:mc="http://schemas.openxmlformats.org/markup-compatibility/2006">
              <mc:Choice xmlns:v="urn:schemas-microsoft-com:vml" Requires="v">
                <p:oleObj spid="_x0000_s125989" name="Equation" r:id="rId4" imgW="1307880" imgH="482400" progId="Equation.DSMT4">
                  <p:embed/>
                </p:oleObj>
              </mc:Choice>
              <mc:Fallback>
                <p:oleObj name="Equation" r:id="rId4" imgW="1307880" imgH="482400" progId="Equation.DSMT4">
                  <p:embed/>
                  <p:pic>
                    <p:nvPicPr>
                      <p:cNvPr id="0" name=""/>
                      <p:cNvPicPr>
                        <a:picLocks noChangeAspect="1" noChangeArrowheads="1"/>
                      </p:cNvPicPr>
                      <p:nvPr/>
                    </p:nvPicPr>
                    <p:blipFill>
                      <a:blip r:embed="rId5"/>
                      <a:srcRect/>
                      <a:stretch>
                        <a:fillRect/>
                      </a:stretch>
                    </p:blipFill>
                    <p:spPr bwMode="auto">
                      <a:xfrm>
                        <a:off x="1115616" y="3695700"/>
                        <a:ext cx="2836863" cy="849313"/>
                      </a:xfrm>
                      <a:prstGeom prst="rect">
                        <a:avLst/>
                      </a:prstGeom>
                      <a:noFill/>
                      <a:ln>
                        <a:noFill/>
                      </a:ln>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296364655"/>
              </p:ext>
            </p:extLst>
          </p:nvPr>
        </p:nvGraphicFramePr>
        <p:xfrm>
          <a:off x="4788024" y="3716338"/>
          <a:ext cx="2698750" cy="792162"/>
        </p:xfrm>
        <a:graphic>
          <a:graphicData uri="http://schemas.openxmlformats.org/presentationml/2006/ole">
            <mc:AlternateContent xmlns:mc="http://schemas.openxmlformats.org/markup-compatibility/2006">
              <mc:Choice xmlns:v="urn:schemas-microsoft-com:vml" Requires="v">
                <p:oleObj spid="_x0000_s125990" name="Equation" r:id="rId6" imgW="1193760" imgH="431640" progId="Equation.DSMT4">
                  <p:embed/>
                </p:oleObj>
              </mc:Choice>
              <mc:Fallback>
                <p:oleObj name="Equation" r:id="rId6" imgW="1193760" imgH="431640" progId="Equation.DSMT4">
                  <p:embed/>
                  <p:pic>
                    <p:nvPicPr>
                      <p:cNvPr id="0" name=""/>
                      <p:cNvPicPr>
                        <a:picLocks noChangeAspect="1" noChangeArrowheads="1"/>
                      </p:cNvPicPr>
                      <p:nvPr/>
                    </p:nvPicPr>
                    <p:blipFill>
                      <a:blip r:embed="rId7"/>
                      <a:srcRect/>
                      <a:stretch>
                        <a:fillRect/>
                      </a:stretch>
                    </p:blipFill>
                    <p:spPr bwMode="auto">
                      <a:xfrm>
                        <a:off x="4788024" y="3716338"/>
                        <a:ext cx="2698750" cy="792162"/>
                      </a:xfrm>
                      <a:prstGeom prst="rect">
                        <a:avLst/>
                      </a:prstGeom>
                      <a:noFill/>
                      <a:ln>
                        <a:noFill/>
                      </a:ln>
                    </p:spPr>
                  </p:pic>
                </p:oleObj>
              </mc:Fallback>
            </mc:AlternateContent>
          </a:graphicData>
        </a:graphic>
      </p:graphicFrame>
      <p:sp>
        <p:nvSpPr>
          <p:cNvPr id="36" name="内容占位符 20"/>
          <p:cNvSpPr txBox="1">
            <a:spLocks/>
          </p:cNvSpPr>
          <p:nvPr/>
        </p:nvSpPr>
        <p:spPr bwMode="auto">
          <a:xfrm>
            <a:off x="4548290" y="4581128"/>
            <a:ext cx="3480094"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Clr>
                <a:srgbClr val="002060"/>
              </a:buClr>
              <a:buSzPct val="50000"/>
            </a:pPr>
            <a:r>
              <a:rPr lang="zh-CN" altLang="en-US" sz="2000" b="1" kern="0" dirty="0">
                <a:solidFill>
                  <a:srgbClr val="FF0000"/>
                </a:solidFill>
                <a:latin typeface="+mn-ea"/>
                <a:cs typeface="+mj-cs"/>
              </a:rPr>
              <a:t>阻抗的相位（相频特性）</a:t>
            </a:r>
            <a:endParaRPr lang="en-US" altLang="zh-CN" sz="2000" b="1" kern="0" dirty="0">
              <a:solidFill>
                <a:srgbClr val="FF0000"/>
              </a:solidFill>
              <a:latin typeface="+mn-ea"/>
              <a:cs typeface="+mj-cs"/>
            </a:endParaRPr>
          </a:p>
        </p:txBody>
      </p:sp>
      <p:sp>
        <p:nvSpPr>
          <p:cNvPr id="10" name="TextBox 9"/>
          <p:cNvSpPr txBox="1"/>
          <p:nvPr/>
        </p:nvSpPr>
        <p:spPr>
          <a:xfrm>
            <a:off x="5220072" y="5157192"/>
            <a:ext cx="2262158" cy="369332"/>
          </a:xfrm>
          <a:prstGeom prst="rect">
            <a:avLst/>
          </a:prstGeom>
          <a:noFill/>
        </p:spPr>
        <p:txBody>
          <a:bodyPr wrap="none" rtlCol="0">
            <a:spAutoFit/>
          </a:bodyPr>
          <a:lstStyle/>
          <a:p>
            <a:r>
              <a:rPr lang="zh-CN" altLang="en-US" b="1" dirty="0">
                <a:solidFill>
                  <a:schemeClr val="accent6">
                    <a:lumMod val="75000"/>
                  </a:schemeClr>
                </a:solidFill>
              </a:rPr>
              <a:t>电压和电流的相位差</a:t>
            </a:r>
          </a:p>
        </p:txBody>
      </p:sp>
      <p:cxnSp>
        <p:nvCxnSpPr>
          <p:cNvPr id="6" name="直接箭头连接符 5"/>
          <p:cNvCxnSpPr/>
          <p:nvPr/>
        </p:nvCxnSpPr>
        <p:spPr bwMode="auto">
          <a:xfrm flipH="1">
            <a:off x="3347864" y="2780928"/>
            <a:ext cx="864096" cy="720080"/>
          </a:xfrm>
          <a:prstGeom prst="straightConnector1">
            <a:avLst/>
          </a:prstGeom>
          <a:solidFill>
            <a:schemeClr val="accent1"/>
          </a:solidFill>
          <a:ln w="28575" cap="flat" cmpd="sng" algn="ctr">
            <a:solidFill>
              <a:srgbClr val="C00000"/>
            </a:solidFill>
            <a:prstDash val="solid"/>
            <a:round/>
            <a:headEnd type="none" w="med" len="med"/>
            <a:tailEnd type="arrow"/>
          </a:ln>
        </p:spPr>
      </p:cxnSp>
      <p:cxnSp>
        <p:nvCxnSpPr>
          <p:cNvPr id="8" name="直接箭头连接符 7"/>
          <p:cNvCxnSpPr/>
          <p:nvPr/>
        </p:nvCxnSpPr>
        <p:spPr bwMode="auto">
          <a:xfrm>
            <a:off x="4211960" y="2780928"/>
            <a:ext cx="864096" cy="720080"/>
          </a:xfrm>
          <a:prstGeom prst="straightConnector1">
            <a:avLst/>
          </a:prstGeom>
          <a:solidFill>
            <a:schemeClr val="accent1"/>
          </a:solidFill>
          <a:ln w="28575" cap="flat" cmpd="sng" algn="ctr">
            <a:solidFill>
              <a:srgbClr val="C00000"/>
            </a:solidFill>
            <a:prstDash val="solid"/>
            <a:round/>
            <a:headEnd type="none" w="med" len="med"/>
            <a:tailEnd type="arrow"/>
          </a:ln>
        </p:spPr>
      </p:cxnSp>
      <p:graphicFrame>
        <p:nvGraphicFramePr>
          <p:cNvPr id="3" name="对象 2"/>
          <p:cNvGraphicFramePr>
            <a:graphicFrameLocks noChangeAspect="1"/>
          </p:cNvGraphicFramePr>
          <p:nvPr>
            <p:extLst>
              <p:ext uri="{D42A27DB-BD31-4B8C-83A1-F6EECF244321}">
                <p14:modId xmlns:p14="http://schemas.microsoft.com/office/powerpoint/2010/main" val="2923923717"/>
              </p:ext>
            </p:extLst>
          </p:nvPr>
        </p:nvGraphicFramePr>
        <p:xfrm>
          <a:off x="2947516" y="1700808"/>
          <a:ext cx="2528888" cy="893763"/>
        </p:xfrm>
        <a:graphic>
          <a:graphicData uri="http://schemas.openxmlformats.org/presentationml/2006/ole">
            <mc:AlternateContent xmlns:mc="http://schemas.openxmlformats.org/markup-compatibility/2006">
              <mc:Choice xmlns:v="urn:schemas-microsoft-com:vml" Requires="v">
                <p:oleObj spid="_x0000_s125991" name="Equation" r:id="rId8" imgW="1244520" imgH="482400" progId="Equation.DSMT4">
                  <p:embed/>
                </p:oleObj>
              </mc:Choice>
              <mc:Fallback>
                <p:oleObj name="Equation" r:id="rId8" imgW="1244520" imgH="4824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47516" y="1700808"/>
                        <a:ext cx="2528888"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4218848322"/>
              </p:ext>
            </p:extLst>
          </p:nvPr>
        </p:nvGraphicFramePr>
        <p:xfrm>
          <a:off x="6228184" y="1472208"/>
          <a:ext cx="2514600" cy="457200"/>
        </p:xfrm>
        <a:graphic>
          <a:graphicData uri="http://schemas.openxmlformats.org/presentationml/2006/ole">
            <mc:AlternateContent xmlns:mc="http://schemas.openxmlformats.org/markup-compatibility/2006">
              <mc:Choice xmlns:v="urn:schemas-microsoft-com:vml" Requires="v">
                <p:oleObj spid="_x0000_s125992" name="Equation" r:id="rId10" imgW="1218960" imgH="253800" progId="Equation.DSMT4">
                  <p:embed/>
                </p:oleObj>
              </mc:Choice>
              <mc:Fallback>
                <p:oleObj name="Equation" r:id="rId10" imgW="1218960" imgH="253800" progId="Equation.DSMT4">
                  <p:embed/>
                  <p:pic>
                    <p:nvPicPr>
                      <p:cNvPr id="0" name=""/>
                      <p:cNvPicPr>
                        <a:picLocks noChangeAspect="1" noChangeArrowheads="1"/>
                      </p:cNvPicPr>
                      <p:nvPr/>
                    </p:nvPicPr>
                    <p:blipFill>
                      <a:blip r:embed="rId11"/>
                      <a:srcRect/>
                      <a:stretch>
                        <a:fillRect/>
                      </a:stretch>
                    </p:blipFill>
                    <p:spPr bwMode="auto">
                      <a:xfrm>
                        <a:off x="6228184" y="1472208"/>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353789218"/>
              </p:ext>
            </p:extLst>
          </p:nvPr>
        </p:nvGraphicFramePr>
        <p:xfrm>
          <a:off x="6516216" y="2058615"/>
          <a:ext cx="2066925" cy="722313"/>
        </p:xfrm>
        <a:graphic>
          <a:graphicData uri="http://schemas.openxmlformats.org/presentationml/2006/ole">
            <mc:AlternateContent xmlns:mc="http://schemas.openxmlformats.org/markup-compatibility/2006">
              <mc:Choice xmlns:v="urn:schemas-microsoft-com:vml" Requires="v">
                <p:oleObj spid="_x0000_s125993" name="Equation" r:id="rId12" imgW="914400" imgH="393480" progId="Equation.DSMT4">
                  <p:embed/>
                </p:oleObj>
              </mc:Choice>
              <mc:Fallback>
                <p:oleObj name="Equation" r:id="rId12" imgW="914400" imgH="393480" progId="Equation.DSMT4">
                  <p:embed/>
                  <p:pic>
                    <p:nvPicPr>
                      <p:cNvPr id="0" name=""/>
                      <p:cNvPicPr>
                        <a:picLocks noChangeAspect="1" noChangeArrowheads="1"/>
                      </p:cNvPicPr>
                      <p:nvPr/>
                    </p:nvPicPr>
                    <p:blipFill>
                      <a:blip r:embed="rId13"/>
                      <a:srcRect/>
                      <a:stretch>
                        <a:fillRect/>
                      </a:stretch>
                    </p:blipFill>
                    <p:spPr bwMode="auto">
                      <a:xfrm>
                        <a:off x="6516216" y="2058615"/>
                        <a:ext cx="2066925"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矩形 14"/>
          <p:cNvSpPr/>
          <p:nvPr/>
        </p:nvSpPr>
        <p:spPr bwMode="auto">
          <a:xfrm>
            <a:off x="6156176" y="1326307"/>
            <a:ext cx="2808312" cy="1454622"/>
          </a:xfrm>
          <a:prstGeom prst="rect">
            <a:avLst/>
          </a:prstGeom>
          <a:noFill/>
          <a:ln w="38100" cap="flat" cmpd="sng" algn="ctr">
            <a:solidFill>
              <a:srgbClr val="00589A"/>
            </a:solidFill>
            <a:prstDash val="sysDash"/>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隶书" pitchFamily="49" charset="-122"/>
            </a:endParaRPr>
          </a:p>
        </p:txBody>
      </p:sp>
      <p:cxnSp>
        <p:nvCxnSpPr>
          <p:cNvPr id="16" name="直接箭头连接符 15"/>
          <p:cNvCxnSpPr/>
          <p:nvPr/>
        </p:nvCxnSpPr>
        <p:spPr bwMode="auto">
          <a:xfrm>
            <a:off x="5580112" y="2053618"/>
            <a:ext cx="432048" cy="0"/>
          </a:xfrm>
          <a:prstGeom prst="straightConnector1">
            <a:avLst/>
          </a:prstGeom>
          <a:solidFill>
            <a:schemeClr val="accent1"/>
          </a:solidFill>
          <a:ln w="28575" cap="flat" cmpd="sng" algn="ctr">
            <a:solidFill>
              <a:srgbClr val="00589A"/>
            </a:solidFill>
            <a:prstDash val="solid"/>
            <a:round/>
            <a:headEnd type="none" w="med" len="med"/>
            <a:tailEnd type="arrow"/>
          </a:ln>
        </p:spPr>
      </p:cxnSp>
      <p:sp>
        <p:nvSpPr>
          <p:cNvPr id="17" name="TextBox 16"/>
          <p:cNvSpPr txBox="1"/>
          <p:nvPr/>
        </p:nvSpPr>
        <p:spPr>
          <a:xfrm>
            <a:off x="323528" y="2409103"/>
            <a:ext cx="2832022" cy="875881"/>
          </a:xfrm>
          <a:prstGeom prst="rect">
            <a:avLst/>
          </a:prstGeom>
          <a:noFill/>
          <a:ln>
            <a:solidFill>
              <a:srgbClr val="FF0000"/>
            </a:solidFill>
          </a:ln>
        </p:spPr>
        <p:txBody>
          <a:bodyPr wrap="square" rtlCol="0">
            <a:spAutoFit/>
          </a:bodyPr>
          <a:lstStyle/>
          <a:p>
            <a:pPr>
              <a:lnSpc>
                <a:spcPct val="150000"/>
              </a:lnSpc>
            </a:pPr>
            <a:r>
              <a:rPr lang="zh-CN" altLang="en-US" b="1" dirty="0" smtClean="0">
                <a:solidFill>
                  <a:schemeClr val="accent2">
                    <a:lumMod val="50000"/>
                  </a:schemeClr>
                </a:solidFill>
              </a:rPr>
              <a:t>重要，掌握谐振回路的阻抗表达式，便于分析</a:t>
            </a:r>
            <a:endParaRPr lang="zh-CN" altLang="en-US" b="1" dirty="0">
              <a:solidFill>
                <a:schemeClr val="accent2">
                  <a:lumMod val="50000"/>
                </a:schemeClr>
              </a:solidFill>
            </a:endParaRPr>
          </a:p>
        </p:txBody>
      </p:sp>
    </p:spTree>
    <p:extLst>
      <p:ext uri="{BB962C8B-B14F-4D97-AF65-F5344CB8AC3E}">
        <p14:creationId xmlns:p14="http://schemas.microsoft.com/office/powerpoint/2010/main" val="2947239588"/>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15</a:t>
            </a:fld>
            <a:endParaRPr lang="en-US" altLang="zh-CN" dirty="0">
              <a:solidFill>
                <a:srgbClr val="000000"/>
              </a:solidFill>
            </a:endParaRPr>
          </a:p>
        </p:txBody>
      </p:sp>
      <p:grpSp>
        <p:nvGrpSpPr>
          <p:cNvPr id="10" name="Group 38"/>
          <p:cNvGrpSpPr>
            <a:grpSpLocks/>
          </p:cNvGrpSpPr>
          <p:nvPr/>
        </p:nvGrpSpPr>
        <p:grpSpPr bwMode="auto">
          <a:xfrm>
            <a:off x="1420887" y="972415"/>
            <a:ext cx="2359025" cy="2565438"/>
            <a:chOff x="150" y="0"/>
            <a:chExt cx="1486" cy="1617"/>
          </a:xfrm>
        </p:grpSpPr>
        <p:sp>
          <p:nvSpPr>
            <p:cNvPr id="11" name="Line 39"/>
            <p:cNvSpPr>
              <a:spLocks noChangeShapeType="1"/>
            </p:cNvSpPr>
            <p:nvPr/>
          </p:nvSpPr>
          <p:spPr bwMode="auto">
            <a:xfrm>
              <a:off x="150" y="1156"/>
              <a:ext cx="1323" cy="0"/>
            </a:xfrm>
            <a:prstGeom prst="line">
              <a:avLst/>
            </a:prstGeom>
            <a:noFill/>
            <a:ln w="254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2" name="Line 40"/>
            <p:cNvSpPr>
              <a:spLocks noChangeShapeType="1"/>
            </p:cNvSpPr>
            <p:nvPr/>
          </p:nvSpPr>
          <p:spPr bwMode="auto">
            <a:xfrm rot="-5400000">
              <a:off x="238" y="633"/>
              <a:ext cx="1046" cy="0"/>
            </a:xfrm>
            <a:prstGeom prst="line">
              <a:avLst/>
            </a:prstGeom>
            <a:noFill/>
            <a:ln w="254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3" name="Rectangle 41"/>
            <p:cNvSpPr>
              <a:spLocks noChangeArrowheads="1"/>
            </p:cNvSpPr>
            <p:nvPr/>
          </p:nvSpPr>
          <p:spPr bwMode="auto">
            <a:xfrm>
              <a:off x="608" y="1091"/>
              <a:ext cx="3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en-US" altLang="zh-CN" sz="2400" i="1">
                  <a:solidFill>
                    <a:schemeClr val="tx1"/>
                  </a:solidFill>
                  <a:sym typeface="Symbol" pitchFamily="18" charset="2"/>
                </a:rPr>
                <a:t>O</a:t>
              </a:r>
              <a:endParaRPr lang="en-US" altLang="zh-CN" sz="2400" baseline="-25000">
                <a:solidFill>
                  <a:schemeClr val="tx1"/>
                </a:solidFill>
                <a:sym typeface="Symbol" pitchFamily="18" charset="2"/>
              </a:endParaRPr>
            </a:p>
          </p:txBody>
        </p:sp>
        <p:sp>
          <p:nvSpPr>
            <p:cNvPr id="14" name="Text Box 42"/>
            <p:cNvSpPr txBox="1">
              <a:spLocks noChangeArrowheads="1"/>
            </p:cNvSpPr>
            <p:nvPr/>
          </p:nvSpPr>
          <p:spPr bwMode="auto">
            <a:xfrm>
              <a:off x="710" y="0"/>
              <a:ext cx="6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zh-CN" altLang="en-US" sz="2400">
                  <a:solidFill>
                    <a:schemeClr val="tx1"/>
                  </a:solidFill>
                  <a:sym typeface="Symbol" pitchFamily="18" charset="2"/>
                </a:rPr>
                <a:t></a:t>
              </a:r>
              <a:r>
                <a:rPr lang="en-US" altLang="zh-CN" sz="2400">
                  <a:solidFill>
                    <a:schemeClr val="tx1"/>
                  </a:solidFill>
                </a:rPr>
                <a:t>Z</a:t>
              </a:r>
              <a:r>
                <a:rPr lang="en-US" altLang="zh-CN" sz="2400" baseline="-25000">
                  <a:solidFill>
                    <a:schemeClr val="tx1"/>
                  </a:solidFill>
                </a:rPr>
                <a:t> </a:t>
              </a:r>
              <a:r>
                <a:rPr lang="en-US" altLang="zh-CN" sz="2400">
                  <a:solidFill>
                    <a:schemeClr val="tx1"/>
                  </a:solidFill>
                  <a:sym typeface="Symbol" pitchFamily="18" charset="2"/>
                </a:rPr>
                <a:t></a:t>
              </a:r>
            </a:p>
          </p:txBody>
        </p:sp>
        <p:sp>
          <p:nvSpPr>
            <p:cNvPr id="15" name="Rectangle 43"/>
            <p:cNvSpPr>
              <a:spLocks noChangeArrowheads="1"/>
            </p:cNvSpPr>
            <p:nvPr/>
          </p:nvSpPr>
          <p:spPr bwMode="auto">
            <a:xfrm>
              <a:off x="377" y="288"/>
              <a:ext cx="3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en-US" altLang="zh-CN" sz="2400">
                  <a:solidFill>
                    <a:srgbClr val="FF3300"/>
                  </a:solidFill>
                </a:rPr>
                <a:t>R</a:t>
              </a:r>
              <a:r>
                <a:rPr lang="en-US" altLang="zh-CN" sz="2400" baseline="-25000">
                  <a:solidFill>
                    <a:srgbClr val="FF3300"/>
                  </a:solidFill>
                </a:rPr>
                <a:t>P</a:t>
              </a:r>
            </a:p>
          </p:txBody>
        </p:sp>
        <p:sp>
          <p:nvSpPr>
            <p:cNvPr id="16" name="Text Box 44"/>
            <p:cNvSpPr txBox="1">
              <a:spLocks noChangeArrowheads="1"/>
            </p:cNvSpPr>
            <p:nvPr/>
          </p:nvSpPr>
          <p:spPr bwMode="auto">
            <a:xfrm>
              <a:off x="1270" y="826"/>
              <a:ext cx="366" cy="278"/>
            </a:xfrm>
            <a:prstGeom prst="rect">
              <a:avLst/>
            </a:prstGeom>
            <a:noFill/>
            <a:ln w="9525">
              <a:noFill/>
              <a:miter lim="800000"/>
              <a:headEnd/>
              <a:tailEnd/>
            </a:ln>
          </p:spPr>
          <p:txBody>
            <a:bodyPr wrap="none">
              <a:spAutoFit/>
            </a:bodyPr>
            <a:lstStyle/>
            <a:p>
              <a:pPr algn="l">
                <a:spcBef>
                  <a:spcPct val="0"/>
                </a:spcBef>
                <a:buClrTx/>
                <a:buSzTx/>
                <a:buFont typeface="Wingdings" pitchFamily="2" charset="2"/>
                <a:buNone/>
                <a:defRPr/>
              </a:pPr>
              <a:r>
                <a:rPr lang="zh-CN" altLang="en-US" sz="2400">
                  <a:solidFill>
                    <a:schemeClr val="tx1"/>
                  </a:solidFill>
                  <a:effectLst>
                    <a:outerShdw blurRad="38100" dist="38100" dir="2700000" algn="tl">
                      <a:srgbClr val="C0C0C0"/>
                    </a:outerShdw>
                  </a:effectLst>
                  <a:cs typeface="Times New Roman" pitchFamily="18" charset="0"/>
                </a:rPr>
                <a:t>∆</a:t>
              </a:r>
              <a:r>
                <a:rPr lang="zh-CN" altLang="en-US" sz="2400" i="1">
                  <a:solidFill>
                    <a:schemeClr val="tx1"/>
                  </a:solidFill>
                  <a:sym typeface="Symbol" pitchFamily="18" charset="2"/>
                </a:rPr>
                <a:t></a:t>
              </a:r>
            </a:p>
          </p:txBody>
        </p:sp>
        <p:grpSp>
          <p:nvGrpSpPr>
            <p:cNvPr id="17" name="Group 45"/>
            <p:cNvGrpSpPr>
              <a:grpSpLocks/>
            </p:cNvGrpSpPr>
            <p:nvPr/>
          </p:nvGrpSpPr>
          <p:grpSpPr bwMode="auto">
            <a:xfrm>
              <a:off x="239" y="501"/>
              <a:ext cx="1044" cy="545"/>
              <a:chOff x="0" y="0"/>
              <a:chExt cx="984" cy="288"/>
            </a:xfrm>
          </p:grpSpPr>
          <p:sp>
            <p:nvSpPr>
              <p:cNvPr id="19" name="Freeform 46"/>
              <p:cNvSpPr>
                <a:spLocks/>
              </p:cNvSpPr>
              <p:nvPr/>
            </p:nvSpPr>
            <p:spPr bwMode="auto">
              <a:xfrm flipH="1">
                <a:off x="480" y="0"/>
                <a:ext cx="504" cy="288"/>
              </a:xfrm>
              <a:custGeom>
                <a:avLst/>
                <a:gdLst>
                  <a:gd name="T0" fmla="*/ 0 w 576"/>
                  <a:gd name="T1" fmla="*/ 162 h 384"/>
                  <a:gd name="T2" fmla="*/ 161 w 576"/>
                  <a:gd name="T3" fmla="*/ 122 h 384"/>
                  <a:gd name="T4" fmla="*/ 290 w 576"/>
                  <a:gd name="T5" fmla="*/ 20 h 384"/>
                  <a:gd name="T6" fmla="*/ 386 w 576"/>
                  <a:gd name="T7" fmla="*/ 0 h 384"/>
                  <a:gd name="T8" fmla="*/ 0 60000 65536"/>
                  <a:gd name="T9" fmla="*/ 0 60000 65536"/>
                  <a:gd name="T10" fmla="*/ 0 60000 65536"/>
                  <a:gd name="T11" fmla="*/ 0 60000 65536"/>
                  <a:gd name="T12" fmla="*/ 0 w 576"/>
                  <a:gd name="T13" fmla="*/ 0 h 384"/>
                  <a:gd name="T14" fmla="*/ 576 w 576"/>
                  <a:gd name="T15" fmla="*/ 384 h 384"/>
                </a:gdLst>
                <a:ahLst/>
                <a:cxnLst>
                  <a:cxn ang="T8">
                    <a:pos x="T0" y="T1"/>
                  </a:cxn>
                  <a:cxn ang="T9">
                    <a:pos x="T2" y="T3"/>
                  </a:cxn>
                  <a:cxn ang="T10">
                    <a:pos x="T4" y="T5"/>
                  </a:cxn>
                  <a:cxn ang="T11">
                    <a:pos x="T6" y="T7"/>
                  </a:cxn>
                </a:cxnLst>
                <a:rect l="T12" t="T13" r="T14" b="T15"/>
                <a:pathLst>
                  <a:path w="576" h="384">
                    <a:moveTo>
                      <a:pt x="0" y="384"/>
                    </a:moveTo>
                    <a:cubicBezTo>
                      <a:pt x="84" y="364"/>
                      <a:pt x="168" y="344"/>
                      <a:pt x="240" y="288"/>
                    </a:cubicBezTo>
                    <a:cubicBezTo>
                      <a:pt x="312" y="232"/>
                      <a:pt x="376" y="96"/>
                      <a:pt x="432" y="48"/>
                    </a:cubicBezTo>
                    <a:cubicBezTo>
                      <a:pt x="488" y="0"/>
                      <a:pt x="552" y="8"/>
                      <a:pt x="576" y="0"/>
                    </a:cubicBezTo>
                  </a:path>
                </a:pathLst>
              </a:custGeom>
              <a:noFill/>
              <a:ln w="28575">
                <a:solidFill>
                  <a:srgbClr val="0033CC"/>
                </a:solidFill>
                <a:bevel/>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 name="Freeform 47"/>
              <p:cNvSpPr>
                <a:spLocks/>
              </p:cNvSpPr>
              <p:nvPr/>
            </p:nvSpPr>
            <p:spPr bwMode="auto">
              <a:xfrm>
                <a:off x="0" y="0"/>
                <a:ext cx="504" cy="288"/>
              </a:xfrm>
              <a:custGeom>
                <a:avLst/>
                <a:gdLst>
                  <a:gd name="T0" fmla="*/ 0 w 576"/>
                  <a:gd name="T1" fmla="*/ 162 h 384"/>
                  <a:gd name="T2" fmla="*/ 161 w 576"/>
                  <a:gd name="T3" fmla="*/ 122 h 384"/>
                  <a:gd name="T4" fmla="*/ 290 w 576"/>
                  <a:gd name="T5" fmla="*/ 20 h 384"/>
                  <a:gd name="T6" fmla="*/ 386 w 576"/>
                  <a:gd name="T7" fmla="*/ 0 h 384"/>
                  <a:gd name="T8" fmla="*/ 0 60000 65536"/>
                  <a:gd name="T9" fmla="*/ 0 60000 65536"/>
                  <a:gd name="T10" fmla="*/ 0 60000 65536"/>
                  <a:gd name="T11" fmla="*/ 0 60000 65536"/>
                  <a:gd name="T12" fmla="*/ 0 w 576"/>
                  <a:gd name="T13" fmla="*/ 0 h 384"/>
                  <a:gd name="T14" fmla="*/ 576 w 576"/>
                  <a:gd name="T15" fmla="*/ 384 h 384"/>
                </a:gdLst>
                <a:ahLst/>
                <a:cxnLst>
                  <a:cxn ang="T8">
                    <a:pos x="T0" y="T1"/>
                  </a:cxn>
                  <a:cxn ang="T9">
                    <a:pos x="T2" y="T3"/>
                  </a:cxn>
                  <a:cxn ang="T10">
                    <a:pos x="T4" y="T5"/>
                  </a:cxn>
                  <a:cxn ang="T11">
                    <a:pos x="T6" y="T7"/>
                  </a:cxn>
                </a:cxnLst>
                <a:rect l="T12" t="T13" r="T14" b="T15"/>
                <a:pathLst>
                  <a:path w="576" h="384">
                    <a:moveTo>
                      <a:pt x="0" y="384"/>
                    </a:moveTo>
                    <a:cubicBezTo>
                      <a:pt x="84" y="364"/>
                      <a:pt x="168" y="344"/>
                      <a:pt x="240" y="288"/>
                    </a:cubicBezTo>
                    <a:cubicBezTo>
                      <a:pt x="312" y="232"/>
                      <a:pt x="376" y="96"/>
                      <a:pt x="432" y="48"/>
                    </a:cubicBezTo>
                    <a:cubicBezTo>
                      <a:pt x="488" y="0"/>
                      <a:pt x="552" y="8"/>
                      <a:pt x="576" y="0"/>
                    </a:cubicBezTo>
                  </a:path>
                </a:pathLst>
              </a:custGeom>
              <a:noFill/>
              <a:ln w="28575">
                <a:solidFill>
                  <a:srgbClr val="0033CC"/>
                </a:solidFill>
                <a:bevel/>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8" name="Text Box 48"/>
            <p:cNvSpPr txBox="1">
              <a:spLocks noChangeArrowheads="1"/>
            </p:cNvSpPr>
            <p:nvPr/>
          </p:nvSpPr>
          <p:spPr bwMode="auto">
            <a:xfrm>
              <a:off x="185" y="1367"/>
              <a:ext cx="1182" cy="250"/>
            </a:xfrm>
            <a:prstGeom prst="rect">
              <a:avLst/>
            </a:prstGeom>
            <a:noFill/>
            <a:ln w="9525">
              <a:noFill/>
              <a:miter lim="800000"/>
              <a:headEnd/>
              <a:tailEnd/>
            </a:ln>
          </p:spPr>
          <p:txBody>
            <a:bodyPr wrap="square">
              <a:spAutoFit/>
            </a:bodyPr>
            <a:lstStyle/>
            <a:p>
              <a:pPr>
                <a:spcBef>
                  <a:spcPct val="0"/>
                </a:spcBef>
                <a:buClrTx/>
                <a:buSzTx/>
                <a:buFont typeface="Wingdings" pitchFamily="2" charset="2"/>
                <a:buNone/>
                <a:defRPr/>
              </a:pPr>
              <a:r>
                <a:rPr lang="zh-CN" altLang="en-US" sz="2000" dirty="0">
                  <a:solidFill>
                    <a:schemeClr val="tx1"/>
                  </a:solidFill>
                </a:rPr>
                <a:t>阻抗幅频特性</a:t>
              </a:r>
              <a:endParaRPr lang="zh-CN" altLang="en-US" sz="2000" dirty="0">
                <a:solidFill>
                  <a:schemeClr val="tx1"/>
                </a:solidFill>
                <a:effectLst>
                  <a:outerShdw blurRad="38100" dist="38100" dir="2700000" algn="tl">
                    <a:srgbClr val="C0C0C0"/>
                  </a:outerShdw>
                </a:effectLst>
                <a:latin typeface="宋体" pitchFamily="2" charset="-122"/>
              </a:endParaRPr>
            </a:p>
          </p:txBody>
        </p:sp>
      </p:grpSp>
      <p:grpSp>
        <p:nvGrpSpPr>
          <p:cNvPr id="22" name="Group 49"/>
          <p:cNvGrpSpPr>
            <a:grpSpLocks/>
          </p:cNvGrpSpPr>
          <p:nvPr/>
        </p:nvGrpSpPr>
        <p:grpSpPr bwMode="auto">
          <a:xfrm>
            <a:off x="5004048" y="908720"/>
            <a:ext cx="2579687" cy="2663825"/>
            <a:chOff x="0" y="0"/>
            <a:chExt cx="1625" cy="1678"/>
          </a:xfrm>
        </p:grpSpPr>
        <p:sp>
          <p:nvSpPr>
            <p:cNvPr id="23" name="Line 50"/>
            <p:cNvSpPr>
              <a:spLocks noChangeShapeType="1"/>
            </p:cNvSpPr>
            <p:nvPr/>
          </p:nvSpPr>
          <p:spPr bwMode="auto">
            <a:xfrm>
              <a:off x="176" y="852"/>
              <a:ext cx="1248" cy="0"/>
            </a:xfrm>
            <a:prstGeom prst="line">
              <a:avLst/>
            </a:prstGeom>
            <a:noFill/>
            <a:ln w="254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4" name="Line 51"/>
            <p:cNvSpPr>
              <a:spLocks noChangeShapeType="1"/>
            </p:cNvSpPr>
            <p:nvPr/>
          </p:nvSpPr>
          <p:spPr bwMode="auto">
            <a:xfrm rot="5400000" flipH="1">
              <a:off x="145" y="721"/>
              <a:ext cx="1294" cy="0"/>
            </a:xfrm>
            <a:prstGeom prst="line">
              <a:avLst/>
            </a:prstGeom>
            <a:noFill/>
            <a:ln w="25400">
              <a:solidFill>
                <a:schemeClr val="tx1"/>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5" name="Text Box 52"/>
            <p:cNvSpPr txBox="1">
              <a:spLocks noChangeArrowheads="1"/>
            </p:cNvSpPr>
            <p:nvPr/>
          </p:nvSpPr>
          <p:spPr bwMode="auto">
            <a:xfrm>
              <a:off x="1232" y="790"/>
              <a:ext cx="366" cy="289"/>
            </a:xfrm>
            <a:prstGeom prst="rect">
              <a:avLst/>
            </a:prstGeom>
            <a:noFill/>
            <a:ln w="9525">
              <a:noFill/>
              <a:miter lim="800000"/>
              <a:headEnd/>
              <a:tailEnd/>
            </a:ln>
          </p:spPr>
          <p:txBody>
            <a:bodyPr wrap="none">
              <a:spAutoFit/>
            </a:bodyPr>
            <a:lstStyle/>
            <a:p>
              <a:pPr algn="l">
                <a:spcBef>
                  <a:spcPct val="0"/>
                </a:spcBef>
                <a:buClrTx/>
                <a:buSzTx/>
                <a:buFont typeface="Wingdings" pitchFamily="2" charset="2"/>
                <a:buNone/>
                <a:defRPr/>
              </a:pPr>
              <a:r>
                <a:rPr lang="zh-CN" altLang="en-US" sz="2400" dirty="0">
                  <a:solidFill>
                    <a:schemeClr val="tx1"/>
                  </a:solidFill>
                  <a:effectLst>
                    <a:outerShdw blurRad="38100" dist="38100" dir="2700000" algn="tl">
                      <a:srgbClr val="C0C0C0"/>
                    </a:outerShdw>
                  </a:effectLst>
                  <a:cs typeface="Times New Roman" pitchFamily="18" charset="0"/>
                </a:rPr>
                <a:t>∆</a:t>
              </a:r>
              <a:r>
                <a:rPr lang="zh-CN" altLang="en-US" sz="2400" i="1" dirty="0">
                  <a:solidFill>
                    <a:schemeClr val="tx1"/>
                  </a:solidFill>
                  <a:sym typeface="Symbol" pitchFamily="18" charset="2"/>
                </a:rPr>
                <a:t></a:t>
              </a:r>
            </a:p>
          </p:txBody>
        </p:sp>
        <p:sp>
          <p:nvSpPr>
            <p:cNvPr id="26" name="Rectangle 53"/>
            <p:cNvSpPr>
              <a:spLocks noChangeArrowheads="1"/>
            </p:cNvSpPr>
            <p:nvPr/>
          </p:nvSpPr>
          <p:spPr bwMode="auto">
            <a:xfrm>
              <a:off x="464" y="763"/>
              <a:ext cx="3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en-US" altLang="zh-CN" sz="2400" i="1">
                  <a:solidFill>
                    <a:schemeClr val="tx1"/>
                  </a:solidFill>
                  <a:sym typeface="Symbol" pitchFamily="18" charset="2"/>
                </a:rPr>
                <a:t>O</a:t>
              </a:r>
              <a:endParaRPr lang="en-US" altLang="zh-CN" sz="2400" baseline="-25000">
                <a:solidFill>
                  <a:schemeClr val="tx1"/>
                </a:solidFill>
                <a:sym typeface="Symbol" pitchFamily="18" charset="2"/>
              </a:endParaRPr>
            </a:p>
          </p:txBody>
        </p:sp>
        <p:sp>
          <p:nvSpPr>
            <p:cNvPr id="27" name="Text Box 54"/>
            <p:cNvSpPr txBox="1">
              <a:spLocks noChangeArrowheads="1"/>
            </p:cNvSpPr>
            <p:nvPr/>
          </p:nvSpPr>
          <p:spPr bwMode="auto">
            <a:xfrm>
              <a:off x="835" y="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zh-CN" altLang="en-US" sz="2400">
                  <a:solidFill>
                    <a:schemeClr val="tx1"/>
                  </a:solidFill>
                  <a:sym typeface="Symbol" pitchFamily="18" charset="2"/>
                </a:rPr>
                <a:t></a:t>
              </a:r>
            </a:p>
          </p:txBody>
        </p:sp>
        <p:sp>
          <p:nvSpPr>
            <p:cNvPr id="28" name="Line 55"/>
            <p:cNvSpPr>
              <a:spLocks noChangeShapeType="1"/>
            </p:cNvSpPr>
            <p:nvPr/>
          </p:nvSpPr>
          <p:spPr bwMode="auto">
            <a:xfrm>
              <a:off x="0" y="325"/>
              <a:ext cx="800" cy="0"/>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56"/>
            <p:cNvSpPr>
              <a:spLocks noChangeShapeType="1"/>
            </p:cNvSpPr>
            <p:nvPr/>
          </p:nvSpPr>
          <p:spPr bwMode="auto">
            <a:xfrm>
              <a:off x="803" y="1278"/>
              <a:ext cx="822" cy="0"/>
            </a:xfrm>
            <a:prstGeom prst="line">
              <a:avLst/>
            </a:prstGeom>
            <a:noFill/>
            <a:ln w="2857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Text Box 57"/>
            <p:cNvSpPr txBox="1">
              <a:spLocks noChangeArrowheads="1"/>
            </p:cNvSpPr>
            <p:nvPr/>
          </p:nvSpPr>
          <p:spPr bwMode="auto">
            <a:xfrm>
              <a:off x="810" y="224"/>
              <a:ext cx="3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en-US" altLang="zh-CN" sz="2400">
                  <a:solidFill>
                    <a:srgbClr val="FF0066"/>
                  </a:solidFill>
                </a:rPr>
                <a:t>90</a:t>
              </a:r>
              <a:r>
                <a:rPr lang="en-US" altLang="zh-CN" sz="2400">
                  <a:solidFill>
                    <a:srgbClr val="FF0066"/>
                  </a:solidFill>
                  <a:cs typeface="Times New Roman" pitchFamily="18" charset="0"/>
                </a:rPr>
                <a:t>º</a:t>
              </a:r>
              <a:endParaRPr lang="en-US" altLang="zh-CN" sz="2400">
                <a:solidFill>
                  <a:srgbClr val="FF0066"/>
                </a:solidFill>
              </a:endParaRPr>
            </a:p>
          </p:txBody>
        </p:sp>
        <p:sp>
          <p:nvSpPr>
            <p:cNvPr id="31" name="Text Box 58"/>
            <p:cNvSpPr txBox="1">
              <a:spLocks noChangeArrowheads="1"/>
            </p:cNvSpPr>
            <p:nvPr/>
          </p:nvSpPr>
          <p:spPr bwMode="auto">
            <a:xfrm>
              <a:off x="368" y="1126"/>
              <a:ext cx="4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en-US" altLang="zh-CN" sz="2400" dirty="0">
                  <a:solidFill>
                    <a:srgbClr val="FF0066"/>
                  </a:solidFill>
                </a:rPr>
                <a:t>-90</a:t>
              </a:r>
              <a:r>
                <a:rPr lang="en-US" altLang="zh-CN" sz="2400" dirty="0">
                  <a:solidFill>
                    <a:srgbClr val="FF0066"/>
                  </a:solidFill>
                  <a:cs typeface="Times New Roman" pitchFamily="18" charset="0"/>
                </a:rPr>
                <a:t>º</a:t>
              </a:r>
              <a:endParaRPr lang="en-US" altLang="zh-CN" sz="2400" dirty="0">
                <a:solidFill>
                  <a:srgbClr val="FF0066"/>
                </a:solidFill>
              </a:endParaRPr>
            </a:p>
          </p:txBody>
        </p:sp>
        <p:sp>
          <p:nvSpPr>
            <p:cNvPr id="32" name="Freeform 59"/>
            <p:cNvSpPr>
              <a:spLocks/>
            </p:cNvSpPr>
            <p:nvPr/>
          </p:nvSpPr>
          <p:spPr bwMode="auto">
            <a:xfrm>
              <a:off x="132" y="368"/>
              <a:ext cx="660" cy="461"/>
            </a:xfrm>
            <a:custGeom>
              <a:avLst/>
              <a:gdLst>
                <a:gd name="T0" fmla="*/ 0 w 672"/>
                <a:gd name="T1" fmla="*/ 0 h 240"/>
                <a:gd name="T2" fmla="*/ 363 w 672"/>
                <a:gd name="T3" fmla="*/ 340 h 240"/>
                <a:gd name="T4" fmla="*/ 636 w 672"/>
                <a:gd name="T5" fmla="*/ 1702 h 240"/>
                <a:gd name="T6" fmla="*/ 0 60000 65536"/>
                <a:gd name="T7" fmla="*/ 0 60000 65536"/>
                <a:gd name="T8" fmla="*/ 0 60000 65536"/>
                <a:gd name="T9" fmla="*/ 0 w 672"/>
                <a:gd name="T10" fmla="*/ 0 h 240"/>
                <a:gd name="T11" fmla="*/ 672 w 672"/>
                <a:gd name="T12" fmla="*/ 240 h 240"/>
              </a:gdLst>
              <a:ahLst/>
              <a:cxnLst>
                <a:cxn ang="T6">
                  <a:pos x="T0" y="T1"/>
                </a:cxn>
                <a:cxn ang="T7">
                  <a:pos x="T2" y="T3"/>
                </a:cxn>
                <a:cxn ang="T8">
                  <a:pos x="T4" y="T5"/>
                </a:cxn>
              </a:cxnLst>
              <a:rect l="T9" t="T10" r="T11" b="T12"/>
              <a:pathLst>
                <a:path w="672" h="240">
                  <a:moveTo>
                    <a:pt x="0" y="0"/>
                  </a:moveTo>
                  <a:cubicBezTo>
                    <a:pt x="136" y="4"/>
                    <a:pt x="272" y="8"/>
                    <a:pt x="384" y="48"/>
                  </a:cubicBezTo>
                  <a:cubicBezTo>
                    <a:pt x="496" y="88"/>
                    <a:pt x="584" y="164"/>
                    <a:pt x="672" y="240"/>
                  </a:cubicBezTo>
                </a:path>
              </a:pathLst>
            </a:custGeom>
            <a:noFill/>
            <a:ln w="28575">
              <a:solidFill>
                <a:srgbClr val="0033CC"/>
              </a:solidFill>
              <a:bevel/>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 name="Freeform 60"/>
            <p:cNvSpPr>
              <a:spLocks/>
            </p:cNvSpPr>
            <p:nvPr/>
          </p:nvSpPr>
          <p:spPr bwMode="auto">
            <a:xfrm flipH="1" flipV="1">
              <a:off x="792" y="829"/>
              <a:ext cx="660" cy="407"/>
            </a:xfrm>
            <a:custGeom>
              <a:avLst/>
              <a:gdLst>
                <a:gd name="T0" fmla="*/ 0 w 672"/>
                <a:gd name="T1" fmla="*/ 0 h 240"/>
                <a:gd name="T2" fmla="*/ 363 w 672"/>
                <a:gd name="T3" fmla="*/ 232 h 240"/>
                <a:gd name="T4" fmla="*/ 636 w 672"/>
                <a:gd name="T5" fmla="*/ 1170 h 240"/>
                <a:gd name="T6" fmla="*/ 0 60000 65536"/>
                <a:gd name="T7" fmla="*/ 0 60000 65536"/>
                <a:gd name="T8" fmla="*/ 0 60000 65536"/>
                <a:gd name="T9" fmla="*/ 0 w 672"/>
                <a:gd name="T10" fmla="*/ 0 h 240"/>
                <a:gd name="T11" fmla="*/ 672 w 672"/>
                <a:gd name="T12" fmla="*/ 240 h 240"/>
              </a:gdLst>
              <a:ahLst/>
              <a:cxnLst>
                <a:cxn ang="T6">
                  <a:pos x="T0" y="T1"/>
                </a:cxn>
                <a:cxn ang="T7">
                  <a:pos x="T2" y="T3"/>
                </a:cxn>
                <a:cxn ang="T8">
                  <a:pos x="T4" y="T5"/>
                </a:cxn>
              </a:cxnLst>
              <a:rect l="T9" t="T10" r="T11" b="T12"/>
              <a:pathLst>
                <a:path w="672" h="240">
                  <a:moveTo>
                    <a:pt x="0" y="0"/>
                  </a:moveTo>
                  <a:cubicBezTo>
                    <a:pt x="136" y="4"/>
                    <a:pt x="272" y="8"/>
                    <a:pt x="384" y="48"/>
                  </a:cubicBezTo>
                  <a:cubicBezTo>
                    <a:pt x="496" y="88"/>
                    <a:pt x="584" y="164"/>
                    <a:pt x="672" y="240"/>
                  </a:cubicBezTo>
                </a:path>
              </a:pathLst>
            </a:custGeom>
            <a:noFill/>
            <a:ln w="28575">
              <a:solidFill>
                <a:srgbClr val="0033CC"/>
              </a:solidFill>
              <a:bevel/>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 name="Text Box 61"/>
            <p:cNvSpPr txBox="1">
              <a:spLocks noChangeArrowheads="1"/>
            </p:cNvSpPr>
            <p:nvPr/>
          </p:nvSpPr>
          <p:spPr bwMode="auto">
            <a:xfrm>
              <a:off x="265" y="1428"/>
              <a:ext cx="1141" cy="250"/>
            </a:xfrm>
            <a:prstGeom prst="rect">
              <a:avLst/>
            </a:prstGeom>
            <a:noFill/>
            <a:ln w="9525">
              <a:noFill/>
              <a:miter lim="800000"/>
              <a:headEnd/>
              <a:tailEnd/>
            </a:ln>
          </p:spPr>
          <p:txBody>
            <a:bodyPr wrap="square">
              <a:spAutoFit/>
            </a:bodyPr>
            <a:lstStyle/>
            <a:p>
              <a:pPr>
                <a:spcBef>
                  <a:spcPct val="0"/>
                </a:spcBef>
                <a:buClrTx/>
                <a:buSzTx/>
                <a:buFont typeface="Wingdings" pitchFamily="2" charset="2"/>
                <a:buNone/>
                <a:defRPr/>
              </a:pPr>
              <a:r>
                <a:rPr lang="zh-CN" altLang="en-US" sz="2000" dirty="0">
                  <a:solidFill>
                    <a:schemeClr val="tx1"/>
                  </a:solidFill>
                </a:rPr>
                <a:t>阻抗相频特性</a:t>
              </a:r>
              <a:endParaRPr lang="zh-CN" altLang="en-US" sz="2000" dirty="0">
                <a:solidFill>
                  <a:schemeClr val="tx1"/>
                </a:solidFill>
                <a:effectLst>
                  <a:outerShdw blurRad="38100" dist="38100" dir="2700000" algn="tl">
                    <a:srgbClr val="C0C0C0"/>
                  </a:outerShdw>
                </a:effectLst>
                <a:latin typeface="宋体" pitchFamily="2" charset="-122"/>
              </a:endParaRPr>
            </a:p>
          </p:txBody>
        </p:sp>
        <p:sp>
          <p:nvSpPr>
            <p:cNvPr id="38" name="Text Box 62"/>
            <p:cNvSpPr txBox="1">
              <a:spLocks noChangeArrowheads="1"/>
            </p:cNvSpPr>
            <p:nvPr/>
          </p:nvSpPr>
          <p:spPr bwMode="auto">
            <a:xfrm>
              <a:off x="771" y="581"/>
              <a:ext cx="2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en-US" altLang="zh-CN" sz="2400">
                  <a:solidFill>
                    <a:srgbClr val="FF0066"/>
                  </a:solidFill>
                </a:rPr>
                <a:t>0</a:t>
              </a:r>
              <a:r>
                <a:rPr lang="en-US" altLang="zh-CN" sz="2400">
                  <a:solidFill>
                    <a:srgbClr val="FF0066"/>
                  </a:solidFill>
                  <a:cs typeface="Times New Roman" pitchFamily="18" charset="0"/>
                </a:rPr>
                <a:t>º</a:t>
              </a:r>
              <a:endParaRPr lang="en-US" altLang="zh-CN" sz="2400">
                <a:solidFill>
                  <a:srgbClr val="FF0066"/>
                </a:solidFill>
              </a:endParaRPr>
            </a:p>
          </p:txBody>
        </p:sp>
      </p:grpSp>
      <p:sp>
        <p:nvSpPr>
          <p:cNvPr id="33" name="内容占位符 20"/>
          <p:cNvSpPr txBox="1">
            <a:spLocks/>
          </p:cNvSpPr>
          <p:nvPr/>
        </p:nvSpPr>
        <p:spPr bwMode="auto">
          <a:xfrm>
            <a:off x="611560" y="3429000"/>
            <a:ext cx="8568952"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Clr>
                <a:srgbClr val="C00000"/>
              </a:buClr>
              <a:buFont typeface="Wingdings" panose="05000000000000000000" pitchFamily="2" charset="2"/>
              <a:buChar char="l"/>
            </a:pPr>
            <a:r>
              <a:rPr lang="zh-CN" altLang="en-US" sz="2400" b="1" kern="0" dirty="0">
                <a:solidFill>
                  <a:srgbClr val="FF0000"/>
                </a:solidFill>
                <a:latin typeface="+mn-ea"/>
                <a:cs typeface="+mj-cs"/>
              </a:rPr>
              <a:t>谐振时：</a:t>
            </a:r>
            <a:r>
              <a:rPr lang="zh-CN" altLang="en-US" sz="2000" b="1" kern="0" dirty="0">
                <a:solidFill>
                  <a:srgbClr val="0070C0"/>
                </a:solidFill>
                <a:latin typeface="+mn-ea"/>
                <a:cs typeface="+mj-cs"/>
              </a:rPr>
              <a:t>回路的阻抗最大，相移为零，回路阻抗为纯电阻</a:t>
            </a:r>
            <a:r>
              <a:rPr lang="en-US" altLang="zh-CN" sz="2000" b="1" kern="0" dirty="0" err="1">
                <a:solidFill>
                  <a:srgbClr val="0070C0"/>
                </a:solidFill>
                <a:latin typeface="+mn-ea"/>
                <a:cs typeface="+mj-cs"/>
              </a:rPr>
              <a:t>R</a:t>
            </a:r>
            <a:r>
              <a:rPr lang="en-US" altLang="zh-CN" sz="2000" b="1" kern="0" baseline="-25000" dirty="0" err="1">
                <a:solidFill>
                  <a:srgbClr val="0070C0"/>
                </a:solidFill>
                <a:latin typeface="+mn-ea"/>
                <a:cs typeface="+mj-cs"/>
              </a:rPr>
              <a:t>p</a:t>
            </a:r>
            <a:r>
              <a:rPr lang="zh-CN" altLang="en-US" sz="2000" b="1" kern="0" dirty="0">
                <a:solidFill>
                  <a:srgbClr val="0070C0"/>
                </a:solidFill>
                <a:latin typeface="+mn-ea"/>
                <a:cs typeface="+mj-cs"/>
              </a:rPr>
              <a:t>。</a:t>
            </a:r>
            <a:endParaRPr lang="en-US" altLang="zh-CN" sz="2000" b="1" kern="0" dirty="0">
              <a:solidFill>
                <a:srgbClr val="0070C0"/>
              </a:solidFill>
              <a:latin typeface="+mn-ea"/>
              <a:cs typeface="+mj-cs"/>
            </a:endParaRPr>
          </a:p>
          <a:p>
            <a:pPr marL="0" indent="0">
              <a:lnSpc>
                <a:spcPct val="150000"/>
              </a:lnSpc>
              <a:buClr>
                <a:srgbClr val="C00000"/>
              </a:buClr>
              <a:buNone/>
            </a:pPr>
            <a:r>
              <a:rPr lang="en-US" altLang="zh-CN" sz="2000" b="1" kern="0" dirty="0">
                <a:solidFill>
                  <a:srgbClr val="0070C0"/>
                </a:solidFill>
                <a:latin typeface="+mn-ea"/>
                <a:cs typeface="+mj-cs"/>
              </a:rPr>
              <a:t>            </a:t>
            </a:r>
            <a:r>
              <a:rPr lang="zh-CN" altLang="en-US" sz="2000" b="1" kern="0" dirty="0">
                <a:solidFill>
                  <a:srgbClr val="0070C0"/>
                </a:solidFill>
                <a:latin typeface="+mn-ea"/>
                <a:cs typeface="+mj-cs"/>
              </a:rPr>
              <a:t>回路两端产生</a:t>
            </a:r>
            <a:r>
              <a:rPr lang="zh-CN" altLang="en-US" sz="2000" b="1" kern="0" dirty="0">
                <a:solidFill>
                  <a:schemeClr val="accent6">
                    <a:lumMod val="75000"/>
                  </a:schemeClr>
                </a:solidFill>
                <a:latin typeface="+mn-ea"/>
                <a:cs typeface="+mj-cs"/>
              </a:rPr>
              <a:t>最大输出电压</a:t>
            </a:r>
            <a:r>
              <a:rPr lang="zh-CN" altLang="en-US" sz="2000" b="1" kern="0" dirty="0">
                <a:solidFill>
                  <a:srgbClr val="0070C0"/>
                </a:solidFill>
                <a:latin typeface="+mn-ea"/>
                <a:cs typeface="+mj-cs"/>
              </a:rPr>
              <a:t>。</a:t>
            </a:r>
            <a:endParaRPr lang="en-US" altLang="zh-CN" sz="2000" b="1" kern="0" dirty="0">
              <a:solidFill>
                <a:srgbClr val="0070C0"/>
              </a:solidFill>
              <a:latin typeface="+mn-ea"/>
              <a:cs typeface="+mj-cs"/>
            </a:endParaRPr>
          </a:p>
          <a:p>
            <a:pPr lvl="0" eaLnBrk="1" fontAlgn="auto" hangingPunct="1">
              <a:lnSpc>
                <a:spcPct val="150000"/>
              </a:lnSpc>
              <a:spcBef>
                <a:spcPts val="0"/>
              </a:spcBef>
              <a:spcAft>
                <a:spcPts val="0"/>
              </a:spcAft>
              <a:buClr>
                <a:srgbClr val="C00000"/>
              </a:buClr>
              <a:buFont typeface="Wingdings" panose="05000000000000000000" pitchFamily="2" charset="2"/>
              <a:buChar char="l"/>
            </a:pPr>
            <a:r>
              <a:rPr lang="zh-CN" altLang="en-US" sz="2400" b="1" kern="0" dirty="0">
                <a:solidFill>
                  <a:srgbClr val="FF0000"/>
                </a:solidFill>
                <a:latin typeface="+mn-ea"/>
                <a:cs typeface="+mj-cs"/>
              </a:rPr>
              <a:t>失谐时：</a:t>
            </a:r>
            <a:r>
              <a:rPr lang="zh-CN" altLang="en-US" sz="2000" b="1" kern="0" dirty="0">
                <a:solidFill>
                  <a:srgbClr val="0070C0"/>
                </a:solidFill>
                <a:latin typeface="宋体"/>
              </a:rPr>
              <a:t>回路的阻抗下降，有相移，回路阻抗不为纯电阻。</a:t>
            </a:r>
            <a:endParaRPr lang="en-US" altLang="zh-CN" sz="2000" b="1" kern="0" dirty="0">
              <a:solidFill>
                <a:srgbClr val="0070C0"/>
              </a:solidFill>
              <a:latin typeface="宋体"/>
            </a:endParaRPr>
          </a:p>
          <a:p>
            <a:pPr marL="0" lvl="0" indent="0" eaLnBrk="1" fontAlgn="auto" hangingPunct="1">
              <a:lnSpc>
                <a:spcPct val="150000"/>
              </a:lnSpc>
              <a:spcBef>
                <a:spcPts val="0"/>
              </a:spcBef>
              <a:spcAft>
                <a:spcPts val="0"/>
              </a:spcAft>
              <a:buClr>
                <a:srgbClr val="C00000"/>
              </a:buClr>
              <a:buNone/>
            </a:pPr>
            <a:r>
              <a:rPr lang="en-US" altLang="zh-CN" sz="2000" b="1" kern="0" dirty="0">
                <a:solidFill>
                  <a:srgbClr val="0070C0"/>
                </a:solidFill>
                <a:latin typeface="宋体"/>
              </a:rPr>
              <a:t>             </a:t>
            </a:r>
            <a:r>
              <a:rPr lang="zh-CN" altLang="en-US" sz="2000" b="1" kern="0" dirty="0">
                <a:solidFill>
                  <a:srgbClr val="0070C0"/>
                </a:solidFill>
                <a:latin typeface="宋体"/>
              </a:rPr>
              <a:t>回路两端输出</a:t>
            </a:r>
            <a:r>
              <a:rPr lang="zh-CN" altLang="en-US" sz="2000" b="1" kern="0" dirty="0">
                <a:solidFill>
                  <a:schemeClr val="accent6">
                    <a:lumMod val="75000"/>
                  </a:schemeClr>
                </a:solidFill>
                <a:latin typeface="宋体"/>
              </a:rPr>
              <a:t>电压下降</a:t>
            </a:r>
            <a:endParaRPr lang="en-US" altLang="zh-CN" sz="2000" b="1" kern="0" dirty="0">
              <a:solidFill>
                <a:schemeClr val="accent6">
                  <a:lumMod val="75000"/>
                </a:schemeClr>
              </a:solidFill>
              <a:latin typeface="宋体"/>
            </a:endParaRPr>
          </a:p>
          <a:p>
            <a:pPr lvl="0" eaLnBrk="1" fontAlgn="auto" hangingPunct="1">
              <a:lnSpc>
                <a:spcPct val="150000"/>
              </a:lnSpc>
              <a:spcBef>
                <a:spcPts val="0"/>
              </a:spcBef>
              <a:spcAft>
                <a:spcPts val="0"/>
              </a:spcAft>
              <a:buClr>
                <a:srgbClr val="C00000"/>
              </a:buClr>
              <a:buFont typeface="Wingdings" panose="05000000000000000000" pitchFamily="2" charset="2"/>
              <a:buChar char="l"/>
            </a:pPr>
            <a:r>
              <a:rPr lang="zh-CN" altLang="en-US" sz="2400" b="1" kern="0" dirty="0">
                <a:solidFill>
                  <a:srgbClr val="FF0000"/>
                </a:solidFill>
                <a:latin typeface="+mn-ea"/>
                <a:cs typeface="+mj-cs"/>
              </a:rPr>
              <a:t>远离谐振频率时：</a:t>
            </a:r>
            <a:r>
              <a:rPr lang="zh-CN" altLang="en-US" sz="2000" b="1" kern="0" dirty="0">
                <a:solidFill>
                  <a:srgbClr val="0070C0"/>
                </a:solidFill>
                <a:latin typeface="宋体"/>
              </a:rPr>
              <a:t>回路的阻抗趋于</a:t>
            </a:r>
            <a:r>
              <a:rPr lang="en-US" altLang="zh-CN" sz="2000" b="1" kern="0" dirty="0">
                <a:solidFill>
                  <a:srgbClr val="0070C0"/>
                </a:solidFill>
                <a:latin typeface="宋体"/>
              </a:rPr>
              <a:t>0</a:t>
            </a:r>
            <a:r>
              <a:rPr lang="zh-CN" altLang="en-US" sz="2000" b="1" kern="0" dirty="0">
                <a:solidFill>
                  <a:srgbClr val="0070C0"/>
                </a:solidFill>
                <a:latin typeface="宋体"/>
              </a:rPr>
              <a:t>，</a:t>
            </a:r>
            <a:r>
              <a:rPr lang="zh-CN" altLang="en-US" sz="2000" b="1" kern="0" dirty="0">
                <a:solidFill>
                  <a:schemeClr val="accent6">
                    <a:lumMod val="75000"/>
                  </a:schemeClr>
                </a:solidFill>
                <a:latin typeface="宋体"/>
              </a:rPr>
              <a:t>输出电压趋于</a:t>
            </a:r>
            <a:r>
              <a:rPr lang="en-US" altLang="zh-CN" sz="2000" b="1" kern="0" dirty="0">
                <a:solidFill>
                  <a:schemeClr val="accent6">
                    <a:lumMod val="75000"/>
                  </a:schemeClr>
                </a:solidFill>
                <a:latin typeface="宋体"/>
              </a:rPr>
              <a:t>0</a:t>
            </a:r>
          </a:p>
          <a:p>
            <a:pPr marL="0" lvl="0" indent="0" eaLnBrk="1" fontAlgn="auto" hangingPunct="1">
              <a:lnSpc>
                <a:spcPct val="150000"/>
              </a:lnSpc>
              <a:spcBef>
                <a:spcPts val="0"/>
              </a:spcBef>
              <a:spcAft>
                <a:spcPts val="0"/>
              </a:spcAft>
              <a:buClr>
                <a:srgbClr val="C00000"/>
              </a:buClr>
              <a:buNone/>
            </a:pPr>
            <a:r>
              <a:rPr lang="zh-CN" altLang="en-US" sz="2400" b="1" kern="0" dirty="0">
                <a:solidFill>
                  <a:srgbClr val="C00000"/>
                </a:solidFill>
                <a:latin typeface="宋体"/>
                <a:cs typeface="+mj-cs"/>
              </a:rPr>
              <a:t>                并联谐振回路具有选频作用！</a:t>
            </a:r>
            <a:endParaRPr lang="en-US" altLang="zh-CN" sz="2400" b="1" kern="0" dirty="0">
              <a:solidFill>
                <a:srgbClr val="C00000"/>
              </a:solidFill>
              <a:latin typeface="+mn-ea"/>
              <a:cs typeface="+mj-cs"/>
            </a:endParaRPr>
          </a:p>
        </p:txBody>
      </p:sp>
      <p:sp>
        <p:nvSpPr>
          <p:cNvPr id="3" name="TextBox 2"/>
          <p:cNvSpPr txBox="1"/>
          <p:nvPr/>
        </p:nvSpPr>
        <p:spPr>
          <a:xfrm>
            <a:off x="143508" y="184357"/>
            <a:ext cx="4284476" cy="523220"/>
          </a:xfrm>
          <a:prstGeom prst="rect">
            <a:avLst/>
          </a:prstGeom>
          <a:noFill/>
        </p:spPr>
        <p:txBody>
          <a:bodyPr wrap="square" rtlCol="0">
            <a:spAutoFit/>
          </a:bodyPr>
          <a:lstStyle/>
          <a:p>
            <a:pPr marL="342900" indent="-342900">
              <a:buFont typeface="Arial" panose="020B0604020202020204" pitchFamily="34" charset="0"/>
              <a:buChar char="•"/>
            </a:pPr>
            <a:r>
              <a:rPr lang="zh-CN" altLang="en-US" sz="2800" b="1" dirty="0" smtClean="0">
                <a:solidFill>
                  <a:srgbClr val="FF0000"/>
                </a:solidFill>
              </a:rPr>
              <a:t>并联谐振</a:t>
            </a:r>
            <a:r>
              <a:rPr lang="zh-CN" altLang="en-US" sz="2800" b="1" dirty="0" smtClean="0"/>
              <a:t>回路幅频特性</a:t>
            </a:r>
            <a:endParaRPr lang="zh-CN" altLang="en-US" sz="2800" b="1" dirty="0"/>
          </a:p>
        </p:txBody>
      </p:sp>
    </p:spTree>
    <p:extLst>
      <p:ext uri="{BB962C8B-B14F-4D97-AF65-F5344CB8AC3E}">
        <p14:creationId xmlns:p14="http://schemas.microsoft.com/office/powerpoint/2010/main" val="3963833347"/>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16</a:t>
            </a:fld>
            <a:endParaRPr lang="en-US" altLang="zh-CN" dirty="0">
              <a:solidFill>
                <a:srgbClr val="000000"/>
              </a:solidFill>
            </a:endParaRPr>
          </a:p>
        </p:txBody>
      </p:sp>
      <p:sp>
        <p:nvSpPr>
          <p:cNvPr id="33" name="内容占位符 20"/>
          <p:cNvSpPr txBox="1">
            <a:spLocks/>
          </p:cNvSpPr>
          <p:nvPr/>
        </p:nvSpPr>
        <p:spPr bwMode="auto">
          <a:xfrm>
            <a:off x="395536" y="3356992"/>
            <a:ext cx="8568952" cy="316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lnSpc>
                <a:spcPct val="150000"/>
              </a:lnSpc>
              <a:buClr>
                <a:srgbClr val="C00000"/>
              </a:buClr>
              <a:buFont typeface="Wingdings" panose="05000000000000000000" pitchFamily="2" charset="2"/>
              <a:buChar char="l"/>
            </a:pPr>
            <a:r>
              <a:rPr lang="zh-CN" altLang="en-US" sz="2400" b="1" kern="0" dirty="0">
                <a:solidFill>
                  <a:srgbClr val="FF0000"/>
                </a:solidFill>
                <a:latin typeface="+mn-ea"/>
                <a:cs typeface="+mj-cs"/>
              </a:rPr>
              <a:t>谐振时：</a:t>
            </a:r>
            <a:r>
              <a:rPr lang="zh-CN" altLang="en-US" sz="2000" b="1" kern="0" dirty="0">
                <a:solidFill>
                  <a:srgbClr val="0070C0"/>
                </a:solidFill>
                <a:latin typeface="+mn-ea"/>
                <a:cs typeface="+mj-cs"/>
              </a:rPr>
              <a:t>回路的阻抗最小，相移为零，回路阻抗为纯电阻</a:t>
            </a:r>
            <a:r>
              <a:rPr lang="en-US" altLang="zh-CN" sz="2000" b="1" kern="0" dirty="0">
                <a:solidFill>
                  <a:srgbClr val="0070C0"/>
                </a:solidFill>
                <a:latin typeface="+mn-ea"/>
                <a:cs typeface="+mj-cs"/>
              </a:rPr>
              <a:t>r</a:t>
            </a:r>
            <a:r>
              <a:rPr lang="zh-CN" altLang="en-US" sz="2000" b="1" kern="0" dirty="0">
                <a:solidFill>
                  <a:srgbClr val="0070C0"/>
                </a:solidFill>
                <a:latin typeface="+mn-ea"/>
                <a:cs typeface="+mj-cs"/>
              </a:rPr>
              <a:t>。</a:t>
            </a:r>
            <a:endParaRPr lang="en-US" altLang="zh-CN" sz="2000" b="1" kern="0" dirty="0">
              <a:solidFill>
                <a:srgbClr val="0070C0"/>
              </a:solidFill>
              <a:latin typeface="+mn-ea"/>
              <a:cs typeface="+mj-cs"/>
            </a:endParaRPr>
          </a:p>
          <a:p>
            <a:pPr marL="0" indent="0">
              <a:lnSpc>
                <a:spcPct val="150000"/>
              </a:lnSpc>
              <a:buClr>
                <a:srgbClr val="C00000"/>
              </a:buClr>
              <a:buNone/>
            </a:pPr>
            <a:r>
              <a:rPr lang="en-US" altLang="zh-CN" sz="2000" b="1" kern="0" dirty="0">
                <a:solidFill>
                  <a:srgbClr val="0070C0"/>
                </a:solidFill>
                <a:latin typeface="+mn-ea"/>
                <a:cs typeface="+mj-cs"/>
              </a:rPr>
              <a:t>            </a:t>
            </a:r>
            <a:r>
              <a:rPr lang="zh-CN" altLang="en-US" sz="2000" b="1" kern="0" dirty="0">
                <a:solidFill>
                  <a:srgbClr val="0070C0"/>
                </a:solidFill>
                <a:latin typeface="+mn-ea"/>
                <a:cs typeface="+mj-cs"/>
              </a:rPr>
              <a:t>回路产生</a:t>
            </a:r>
            <a:r>
              <a:rPr lang="zh-CN" altLang="en-US" sz="2000" b="1" kern="0" dirty="0">
                <a:solidFill>
                  <a:schemeClr val="accent6">
                    <a:lumMod val="75000"/>
                  </a:schemeClr>
                </a:solidFill>
                <a:latin typeface="+mn-ea"/>
                <a:cs typeface="+mj-cs"/>
              </a:rPr>
              <a:t>最大电流。</a:t>
            </a:r>
            <a:endParaRPr lang="en-US" altLang="zh-CN" sz="2000" b="1" kern="0" dirty="0">
              <a:solidFill>
                <a:schemeClr val="accent6">
                  <a:lumMod val="75000"/>
                </a:schemeClr>
              </a:solidFill>
              <a:latin typeface="+mn-ea"/>
              <a:cs typeface="+mj-cs"/>
            </a:endParaRPr>
          </a:p>
          <a:p>
            <a:pPr lvl="0" eaLnBrk="1" fontAlgn="auto" hangingPunct="1">
              <a:lnSpc>
                <a:spcPct val="150000"/>
              </a:lnSpc>
              <a:spcBef>
                <a:spcPts val="0"/>
              </a:spcBef>
              <a:spcAft>
                <a:spcPts val="0"/>
              </a:spcAft>
              <a:buClr>
                <a:srgbClr val="C00000"/>
              </a:buClr>
              <a:buFont typeface="Wingdings" panose="05000000000000000000" pitchFamily="2" charset="2"/>
              <a:buChar char="l"/>
            </a:pPr>
            <a:r>
              <a:rPr lang="zh-CN" altLang="en-US" sz="2400" b="1" kern="0" dirty="0">
                <a:solidFill>
                  <a:srgbClr val="FF0000"/>
                </a:solidFill>
                <a:latin typeface="+mn-ea"/>
                <a:cs typeface="+mj-cs"/>
              </a:rPr>
              <a:t>失谐时：</a:t>
            </a:r>
            <a:r>
              <a:rPr lang="zh-CN" altLang="en-US" sz="2000" b="1" kern="0" dirty="0">
                <a:solidFill>
                  <a:srgbClr val="0070C0"/>
                </a:solidFill>
                <a:latin typeface="宋体"/>
              </a:rPr>
              <a:t>回路的阻抗增加，有相移，回路阻抗不为纯电阻。</a:t>
            </a:r>
            <a:endParaRPr lang="en-US" altLang="zh-CN" sz="2000" b="1" kern="0" dirty="0">
              <a:solidFill>
                <a:srgbClr val="0070C0"/>
              </a:solidFill>
              <a:latin typeface="宋体"/>
            </a:endParaRPr>
          </a:p>
          <a:p>
            <a:pPr marL="0" lvl="0" indent="0" eaLnBrk="1" fontAlgn="auto" hangingPunct="1">
              <a:lnSpc>
                <a:spcPct val="150000"/>
              </a:lnSpc>
              <a:spcBef>
                <a:spcPts val="0"/>
              </a:spcBef>
              <a:spcAft>
                <a:spcPts val="0"/>
              </a:spcAft>
              <a:buClr>
                <a:srgbClr val="C00000"/>
              </a:buClr>
              <a:buNone/>
            </a:pPr>
            <a:r>
              <a:rPr lang="en-US" altLang="zh-CN" sz="2000" b="1" kern="0" dirty="0">
                <a:solidFill>
                  <a:srgbClr val="0070C0"/>
                </a:solidFill>
                <a:latin typeface="宋体"/>
              </a:rPr>
              <a:t>             </a:t>
            </a:r>
            <a:r>
              <a:rPr lang="zh-CN" altLang="en-US" sz="2000" b="1" kern="0" dirty="0">
                <a:solidFill>
                  <a:srgbClr val="0070C0"/>
                </a:solidFill>
                <a:latin typeface="宋体"/>
              </a:rPr>
              <a:t>回路</a:t>
            </a:r>
            <a:r>
              <a:rPr lang="zh-CN" altLang="en-US" sz="2000" b="1" kern="0" dirty="0">
                <a:solidFill>
                  <a:schemeClr val="accent6">
                    <a:lumMod val="75000"/>
                  </a:schemeClr>
                </a:solidFill>
                <a:latin typeface="宋体"/>
              </a:rPr>
              <a:t>电流下降。</a:t>
            </a:r>
            <a:endParaRPr lang="en-US" altLang="zh-CN" sz="2000" b="1" kern="0" dirty="0">
              <a:solidFill>
                <a:schemeClr val="accent6">
                  <a:lumMod val="75000"/>
                </a:schemeClr>
              </a:solidFill>
              <a:latin typeface="宋体"/>
            </a:endParaRPr>
          </a:p>
          <a:p>
            <a:pPr lvl="0" eaLnBrk="1" fontAlgn="auto" hangingPunct="1">
              <a:lnSpc>
                <a:spcPct val="150000"/>
              </a:lnSpc>
              <a:spcBef>
                <a:spcPts val="0"/>
              </a:spcBef>
              <a:spcAft>
                <a:spcPts val="0"/>
              </a:spcAft>
              <a:buClr>
                <a:srgbClr val="C00000"/>
              </a:buClr>
              <a:buFont typeface="Wingdings" panose="05000000000000000000" pitchFamily="2" charset="2"/>
              <a:buChar char="l"/>
            </a:pPr>
            <a:r>
              <a:rPr lang="zh-CN" altLang="en-US" sz="2400" b="1" kern="0" dirty="0">
                <a:solidFill>
                  <a:srgbClr val="FF0000"/>
                </a:solidFill>
                <a:latin typeface="+mn-ea"/>
                <a:cs typeface="+mj-cs"/>
              </a:rPr>
              <a:t>远离谐振频率时：</a:t>
            </a:r>
            <a:r>
              <a:rPr lang="zh-CN" altLang="en-US" sz="2000" b="1" kern="0" dirty="0">
                <a:solidFill>
                  <a:srgbClr val="0070C0"/>
                </a:solidFill>
                <a:latin typeface="宋体"/>
              </a:rPr>
              <a:t>回路的阻抗趋于∞，</a:t>
            </a:r>
            <a:r>
              <a:rPr lang="zh-CN" altLang="en-US" sz="2000" b="1" kern="0" dirty="0">
                <a:solidFill>
                  <a:schemeClr val="accent6">
                    <a:lumMod val="75000"/>
                  </a:schemeClr>
                </a:solidFill>
                <a:latin typeface="宋体"/>
              </a:rPr>
              <a:t>电流趋于</a:t>
            </a:r>
            <a:r>
              <a:rPr lang="en-US" altLang="zh-CN" sz="2000" b="1" kern="0" dirty="0">
                <a:solidFill>
                  <a:schemeClr val="accent6">
                    <a:lumMod val="75000"/>
                  </a:schemeClr>
                </a:solidFill>
                <a:latin typeface="宋体"/>
              </a:rPr>
              <a:t>0</a:t>
            </a:r>
          </a:p>
          <a:p>
            <a:pPr marL="0" lvl="0" indent="0" eaLnBrk="1" fontAlgn="auto" hangingPunct="1">
              <a:lnSpc>
                <a:spcPct val="150000"/>
              </a:lnSpc>
              <a:spcBef>
                <a:spcPts val="0"/>
              </a:spcBef>
              <a:spcAft>
                <a:spcPts val="0"/>
              </a:spcAft>
              <a:buClr>
                <a:srgbClr val="C00000"/>
              </a:buClr>
              <a:buNone/>
            </a:pPr>
            <a:r>
              <a:rPr lang="zh-CN" altLang="en-US" sz="2400" b="1" kern="0" dirty="0">
                <a:solidFill>
                  <a:srgbClr val="C00000"/>
                </a:solidFill>
                <a:latin typeface="宋体"/>
                <a:cs typeface="+mj-cs"/>
              </a:rPr>
              <a:t>                串联谐振回路具有选频作用！</a:t>
            </a:r>
            <a:endParaRPr lang="en-US" altLang="zh-CN" sz="2400" b="1" kern="0" dirty="0">
              <a:solidFill>
                <a:srgbClr val="C00000"/>
              </a:solidFill>
              <a:latin typeface="+mn-ea"/>
              <a:cs typeface="+mj-cs"/>
            </a:endParaRPr>
          </a:p>
        </p:txBody>
      </p:sp>
      <p:pic>
        <p:nvPicPr>
          <p:cNvPr id="34" name="Picture 4" descr="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1134832"/>
            <a:ext cx="5531926" cy="2334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143508" y="184357"/>
            <a:ext cx="4284476" cy="523220"/>
          </a:xfrm>
          <a:prstGeom prst="rect">
            <a:avLst/>
          </a:prstGeom>
          <a:noFill/>
        </p:spPr>
        <p:txBody>
          <a:bodyPr wrap="square" rtlCol="0">
            <a:spAutoFit/>
          </a:bodyPr>
          <a:lstStyle/>
          <a:p>
            <a:pPr marL="342900" indent="-342900">
              <a:buFont typeface="Arial" panose="020B0604020202020204" pitchFamily="34" charset="0"/>
              <a:buChar char="•"/>
            </a:pPr>
            <a:r>
              <a:rPr lang="zh-CN" altLang="en-US" sz="2800" b="1" dirty="0">
                <a:solidFill>
                  <a:srgbClr val="FF0000"/>
                </a:solidFill>
              </a:rPr>
              <a:t>串</a:t>
            </a:r>
            <a:r>
              <a:rPr lang="zh-CN" altLang="en-US" sz="2800" b="1" dirty="0" smtClean="0">
                <a:solidFill>
                  <a:srgbClr val="FF0000"/>
                </a:solidFill>
              </a:rPr>
              <a:t>联谐振</a:t>
            </a:r>
            <a:r>
              <a:rPr lang="zh-CN" altLang="en-US" sz="2800" b="1" dirty="0" smtClean="0"/>
              <a:t>回路幅频特性</a:t>
            </a:r>
            <a:endParaRPr lang="zh-CN" altLang="en-US" sz="2800" b="1" dirty="0"/>
          </a:p>
        </p:txBody>
      </p:sp>
    </p:spTree>
    <p:extLst>
      <p:ext uri="{BB962C8B-B14F-4D97-AF65-F5344CB8AC3E}">
        <p14:creationId xmlns:p14="http://schemas.microsoft.com/office/powerpoint/2010/main" val="222628554"/>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659771434"/>
              </p:ext>
            </p:extLst>
          </p:nvPr>
        </p:nvGraphicFramePr>
        <p:xfrm>
          <a:off x="2195736" y="1412776"/>
          <a:ext cx="4261857" cy="1296144"/>
        </p:xfrm>
        <a:graphic>
          <a:graphicData uri="http://schemas.openxmlformats.org/presentationml/2006/ole">
            <mc:AlternateContent xmlns:mc="http://schemas.openxmlformats.org/markup-compatibility/2006">
              <mc:Choice xmlns:v="urn:schemas-microsoft-com:vml" Requires="v">
                <p:oleObj spid="_x0000_s123924" name="Equation" r:id="rId3" imgW="1562100" imgH="482600" progId="Equation.DSMT4">
                  <p:embed/>
                </p:oleObj>
              </mc:Choice>
              <mc:Fallback>
                <p:oleObj name="Equation" r:id="rId3" imgW="1562100" imgH="482600" progId="Equation.DSMT4">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736" y="1412776"/>
                        <a:ext cx="4261857" cy="1296144"/>
                      </a:xfrm>
                      <a:prstGeom prst="rect">
                        <a:avLst/>
                      </a:prstGeom>
                      <a:noFill/>
                      <a:ln>
                        <a:noFill/>
                      </a:ln>
                    </p:spPr>
                  </p:pic>
                </p:oleObj>
              </mc:Fallback>
            </mc:AlternateContent>
          </a:graphicData>
        </a:graphic>
      </p:graphicFrame>
      <p:sp>
        <p:nvSpPr>
          <p:cNvPr id="5" name="TextBox 4"/>
          <p:cNvSpPr txBox="1"/>
          <p:nvPr/>
        </p:nvSpPr>
        <p:spPr>
          <a:xfrm>
            <a:off x="143508" y="457508"/>
            <a:ext cx="5292588" cy="523220"/>
          </a:xfrm>
          <a:prstGeom prst="rect">
            <a:avLst/>
          </a:prstGeom>
          <a:noFill/>
        </p:spPr>
        <p:txBody>
          <a:bodyPr wrap="square" rtlCol="0">
            <a:spAutoFit/>
          </a:bodyPr>
          <a:lstStyle/>
          <a:p>
            <a:pPr marL="342900" indent="-342900">
              <a:buFont typeface="Arial" panose="020B0604020202020204" pitchFamily="34" charset="0"/>
              <a:buChar char="•"/>
            </a:pPr>
            <a:r>
              <a:rPr lang="zh-CN" altLang="en-US" sz="2800" b="1" dirty="0" smtClean="0">
                <a:solidFill>
                  <a:srgbClr val="FF0000"/>
                </a:solidFill>
              </a:rPr>
              <a:t>串、并联谐振</a:t>
            </a:r>
            <a:r>
              <a:rPr lang="zh-CN" altLang="en-US" sz="2800" b="1" dirty="0" smtClean="0"/>
              <a:t>回路相频特性</a:t>
            </a:r>
            <a:endParaRPr lang="zh-CN" altLang="en-US" sz="2800" b="1" dirty="0"/>
          </a:p>
        </p:txBody>
      </p:sp>
      <mc:AlternateContent xmlns:mc="http://schemas.openxmlformats.org/markup-compatibility/2006" xmlns:a14="http://schemas.microsoft.com/office/drawing/2010/main">
        <mc:Choice Requires="a14">
          <p:sp>
            <p:nvSpPr>
              <p:cNvPr id="6" name="TextBox 5"/>
              <p:cNvSpPr txBox="1"/>
              <p:nvPr/>
            </p:nvSpPr>
            <p:spPr>
              <a:xfrm>
                <a:off x="2267744" y="3356992"/>
                <a:ext cx="4248472" cy="1053494"/>
              </a:xfrm>
              <a:prstGeom prst="rect">
                <a:avLst/>
              </a:prstGeom>
              <a:noFill/>
            </p:spPr>
            <p:txBody>
              <a:bodyPr wrap="square" rtlCol="0">
                <a:spAutoFit/>
              </a:bodyPr>
              <a:lstStyle/>
              <a:p>
                <a:r>
                  <a:rPr lang="zh-CN" altLang="en-US" sz="2800" dirty="0" smtClean="0"/>
                  <a:t>串联</a:t>
                </a:r>
                <a14:m>
                  <m:oMath xmlns:m="http://schemas.openxmlformats.org/officeDocument/2006/math">
                    <m:d>
                      <m:dPr>
                        <m:begChr m:val="{"/>
                        <m:endChr m:val=""/>
                        <m:ctrlPr>
                          <a:rPr lang="en-US" altLang="zh-CN" sz="2800" i="1" smtClean="0">
                            <a:latin typeface="Cambria Math"/>
                          </a:rPr>
                        </m:ctrlPr>
                      </m:dPr>
                      <m:e>
                        <m:eqArr>
                          <m:eqArrPr>
                            <m:ctrlPr>
                              <a:rPr lang="en-US" altLang="zh-CN" sz="2800" i="1" smtClean="0">
                                <a:latin typeface="Cambria Math"/>
                              </a:rPr>
                            </m:ctrlPr>
                          </m:eqArrPr>
                          <m:e>
                            <m:r>
                              <a:rPr lang="zh-CN" altLang="en-US" sz="2800" i="1" smtClean="0">
                                <a:latin typeface="Cambria Math"/>
                              </a:rPr>
                              <m:t>𝜔</m:t>
                            </m:r>
                            <m:r>
                              <a:rPr lang="en-US" altLang="zh-CN" sz="2800" b="0" i="1" smtClean="0">
                                <a:latin typeface="Cambria Math"/>
                              </a:rPr>
                              <m:t>&gt;</m:t>
                            </m:r>
                            <m:sSub>
                              <m:sSubPr>
                                <m:ctrlPr>
                                  <a:rPr lang="en-US" altLang="zh-CN" sz="2800" b="0" i="1" smtClean="0">
                                    <a:latin typeface="Cambria Math"/>
                                  </a:rPr>
                                </m:ctrlPr>
                              </m:sSubPr>
                              <m:e>
                                <m:r>
                                  <a:rPr lang="zh-CN" altLang="en-US" sz="2800" b="0" i="1" smtClean="0">
                                    <a:latin typeface="Cambria Math"/>
                                  </a:rPr>
                                  <m:t>𝜔</m:t>
                                </m:r>
                              </m:e>
                              <m:sub>
                                <m:r>
                                  <a:rPr lang="en-US" altLang="zh-CN" sz="2800" b="0" i="1" smtClean="0">
                                    <a:latin typeface="Cambria Math"/>
                                  </a:rPr>
                                  <m:t>0</m:t>
                                </m:r>
                              </m:sub>
                            </m:sSub>
                            <m:r>
                              <a:rPr lang="en-US" altLang="zh-CN" sz="2800" b="0" i="1" smtClean="0">
                                <a:latin typeface="Cambria Math"/>
                              </a:rPr>
                              <m:t>     </m:t>
                            </m:r>
                            <m:r>
                              <a:rPr lang="en-US" altLang="zh-CN" sz="2800" b="0" i="1" smtClean="0">
                                <a:latin typeface="Cambria Math"/>
                              </a:rPr>
                              <m:t>𝑍</m:t>
                            </m:r>
                            <m:r>
                              <a:rPr lang="zh-CN" altLang="en-US" sz="2800" b="0" i="1" smtClean="0">
                                <a:latin typeface="Cambria Math"/>
                              </a:rPr>
                              <m:t>呈</m:t>
                            </m:r>
                            <m:r>
                              <a:rPr lang="zh-CN" altLang="en-US" sz="2800" i="1">
                                <a:latin typeface="Cambria Math"/>
                              </a:rPr>
                              <m:t>感性</m:t>
                            </m:r>
                          </m:e>
                          <m:e>
                            <m:r>
                              <a:rPr lang="zh-CN" altLang="en-US" sz="2800" i="1" smtClean="0">
                                <a:latin typeface="Cambria Math"/>
                              </a:rPr>
                              <m:t>𝜔</m:t>
                            </m:r>
                            <m:r>
                              <a:rPr lang="en-US" altLang="zh-CN" sz="2800" b="0" i="1" smtClean="0">
                                <a:latin typeface="Cambria Math"/>
                              </a:rPr>
                              <m:t>&lt;</m:t>
                            </m:r>
                            <m:sSub>
                              <m:sSubPr>
                                <m:ctrlPr>
                                  <a:rPr lang="en-US" altLang="zh-CN" sz="2800" b="0" i="1" smtClean="0">
                                    <a:latin typeface="Cambria Math"/>
                                  </a:rPr>
                                </m:ctrlPr>
                              </m:sSubPr>
                              <m:e>
                                <m:r>
                                  <a:rPr lang="zh-CN" altLang="en-US" sz="2800" b="0" i="1" smtClean="0">
                                    <a:latin typeface="Cambria Math"/>
                                  </a:rPr>
                                  <m:t>𝜔</m:t>
                                </m:r>
                              </m:e>
                              <m:sub>
                                <m:r>
                                  <a:rPr lang="en-US" altLang="zh-CN" sz="2800" b="0" i="1" smtClean="0">
                                    <a:latin typeface="Cambria Math"/>
                                  </a:rPr>
                                  <m:t>0</m:t>
                                </m:r>
                              </m:sub>
                            </m:sSub>
                            <m:r>
                              <a:rPr lang="en-US" altLang="zh-CN" sz="2800" b="0" i="1" smtClean="0">
                                <a:latin typeface="Cambria Math"/>
                              </a:rPr>
                              <m:t>     </m:t>
                            </m:r>
                            <m:r>
                              <a:rPr lang="en-US" altLang="zh-CN" sz="2800" b="0" i="1" smtClean="0">
                                <a:latin typeface="Cambria Math"/>
                              </a:rPr>
                              <m:t>𝑍</m:t>
                            </m:r>
                            <m:r>
                              <a:rPr lang="zh-CN" altLang="en-US" sz="2800" b="0" i="1" smtClean="0">
                                <a:latin typeface="Cambria Math"/>
                              </a:rPr>
                              <m:t>呈容性</m:t>
                            </m:r>
                          </m:e>
                        </m:eqArr>
                      </m:e>
                    </m:d>
                  </m:oMath>
                </a14:m>
                <a:endParaRPr lang="zh-CN" altLang="en-US" sz="2800" dirty="0"/>
              </a:p>
            </p:txBody>
          </p:sp>
        </mc:Choice>
        <mc:Fallback xmlns="">
          <p:sp>
            <p:nvSpPr>
              <p:cNvPr id="6" name="TextBox 5"/>
              <p:cNvSpPr txBox="1">
                <a:spLocks noRot="1" noChangeAspect="1" noMove="1" noResize="1" noEditPoints="1" noAdjustHandles="1" noChangeArrowheads="1" noChangeShapeType="1" noTextEdit="1"/>
              </p:cNvSpPr>
              <p:nvPr/>
            </p:nvSpPr>
            <p:spPr>
              <a:xfrm>
                <a:off x="2267744" y="3356992"/>
                <a:ext cx="4248472" cy="1053494"/>
              </a:xfrm>
              <a:prstGeom prst="rect">
                <a:avLst/>
              </a:prstGeom>
              <a:blipFill rotWithShape="1">
                <a:blip r:embed="rId5"/>
                <a:stretch>
                  <a:fillRect l="-2869"/>
                </a:stretch>
              </a:blipFill>
            </p:spPr>
            <p:txBody>
              <a:bodyPr/>
              <a:lstStyle/>
              <a:p>
                <a:r>
                  <a:rPr lang="zh-CN" altLang="en-US">
                    <a:noFill/>
                  </a:rPr>
                  <a:t> </a:t>
                </a:r>
              </a:p>
            </p:txBody>
          </p:sp>
        </mc:Fallback>
      </mc:AlternateContent>
      <p:sp>
        <p:nvSpPr>
          <p:cNvPr id="7" name="TextBox 6"/>
          <p:cNvSpPr txBox="1"/>
          <p:nvPr/>
        </p:nvSpPr>
        <p:spPr>
          <a:xfrm>
            <a:off x="1691680" y="5085184"/>
            <a:ext cx="5472608" cy="830997"/>
          </a:xfrm>
          <a:prstGeom prst="rect">
            <a:avLst/>
          </a:prstGeom>
          <a:noFill/>
        </p:spPr>
        <p:txBody>
          <a:bodyPr wrap="square" rtlCol="0">
            <a:spAutoFit/>
          </a:bodyPr>
          <a:lstStyle/>
          <a:p>
            <a:r>
              <a:rPr lang="zh-CN" altLang="en-US" sz="2400" dirty="0" smtClean="0">
                <a:solidFill>
                  <a:srgbClr val="FF0000"/>
                </a:solidFill>
              </a:rPr>
              <a:t>重要！第四章 振荡电路中分析是否起振还会用到！ 如课后习题</a:t>
            </a:r>
            <a:r>
              <a:rPr lang="en-US" altLang="zh-CN" sz="2400" dirty="0" smtClean="0">
                <a:solidFill>
                  <a:srgbClr val="FF0000"/>
                </a:solidFill>
              </a:rPr>
              <a:t>4.10</a:t>
            </a:r>
            <a:endParaRPr lang="zh-CN" altLang="en-US" sz="2400" dirty="0">
              <a:solidFill>
                <a:srgbClr val="FF0000"/>
              </a:solidFill>
            </a:endParaRPr>
          </a:p>
        </p:txBody>
      </p:sp>
    </p:spTree>
    <p:extLst>
      <p:ext uri="{BB962C8B-B14F-4D97-AF65-F5344CB8AC3E}">
        <p14:creationId xmlns:p14="http://schemas.microsoft.com/office/powerpoint/2010/main" val="91464728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18</a:t>
            </a:fld>
            <a:endParaRPr lang="en-US" altLang="zh-CN" dirty="0">
              <a:solidFill>
                <a:srgbClr val="000000"/>
              </a:solidFill>
            </a:endParaRPr>
          </a:p>
        </p:txBody>
      </p:sp>
      <p:sp>
        <p:nvSpPr>
          <p:cNvPr id="21" name="内容占位符 20"/>
          <p:cNvSpPr>
            <a:spLocks noGrp="1"/>
          </p:cNvSpPr>
          <p:nvPr>
            <p:ph idx="1"/>
          </p:nvPr>
        </p:nvSpPr>
        <p:spPr>
          <a:xfrm>
            <a:off x="395536" y="260648"/>
            <a:ext cx="6624736" cy="648072"/>
          </a:xfrm>
          <a:solidFill>
            <a:srgbClr val="862714"/>
          </a:solidFill>
        </p:spPr>
        <p:txBody>
          <a:bodyPr/>
          <a:lstStyle/>
          <a:p>
            <a:pPr>
              <a:buClr>
                <a:schemeClr val="bg1"/>
              </a:buClr>
              <a:buFont typeface="Wingdings" panose="05000000000000000000" pitchFamily="2" charset="2"/>
              <a:buChar char="l"/>
            </a:pPr>
            <a:r>
              <a:rPr lang="en-US" altLang="zh-CN" sz="3600" dirty="0">
                <a:solidFill>
                  <a:schemeClr val="bg1"/>
                </a:solidFill>
                <a:latin typeface="Garamond"/>
                <a:ea typeface="华文行楷"/>
                <a:cs typeface="+mj-cs"/>
              </a:rPr>
              <a:t>2.2.3 </a:t>
            </a:r>
            <a:r>
              <a:rPr lang="zh-CN" altLang="en-US" sz="3600" dirty="0">
                <a:solidFill>
                  <a:schemeClr val="bg1"/>
                </a:solidFill>
                <a:latin typeface="Garamond"/>
                <a:ea typeface="华文行楷"/>
                <a:cs typeface="+mj-cs"/>
              </a:rPr>
              <a:t>串、并联谐振回路的激励</a:t>
            </a:r>
            <a:endParaRPr lang="zh-CN" altLang="en-US" sz="2800" dirty="0"/>
          </a:p>
        </p:txBody>
      </p:sp>
      <p:sp>
        <p:nvSpPr>
          <p:cNvPr id="8" name="内容占位符 20"/>
          <p:cNvSpPr txBox="1">
            <a:spLocks/>
          </p:cNvSpPr>
          <p:nvPr/>
        </p:nvSpPr>
        <p:spPr bwMode="auto">
          <a:xfrm>
            <a:off x="611560" y="2636910"/>
            <a:ext cx="7560840" cy="1296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lvl="0">
              <a:lnSpc>
                <a:spcPct val="150000"/>
              </a:lnSpc>
              <a:buClr>
                <a:srgbClr val="C00000"/>
              </a:buClr>
              <a:buFont typeface="Wingdings" panose="05000000000000000000" pitchFamily="2" charset="2"/>
              <a:buChar char="l"/>
            </a:pPr>
            <a:r>
              <a:rPr lang="zh-CN" altLang="en-US" sz="2400" b="1" kern="0" dirty="0">
                <a:solidFill>
                  <a:srgbClr val="FF0000"/>
                </a:solidFill>
                <a:latin typeface="+mn-ea"/>
                <a:cs typeface="+mj-cs"/>
              </a:rPr>
              <a:t>并联谐振回路：</a:t>
            </a:r>
            <a:r>
              <a:rPr lang="zh-CN" altLang="en-US" sz="2000" b="1" kern="0" dirty="0">
                <a:solidFill>
                  <a:srgbClr val="0070C0"/>
                </a:solidFill>
                <a:latin typeface="+mn-ea"/>
                <a:cs typeface="+mj-cs"/>
              </a:rPr>
              <a:t>适用于电源内阻高的情况，如恒流源</a:t>
            </a:r>
            <a:r>
              <a:rPr lang="en-US" altLang="zh-CN" sz="2000" b="1" kern="0" dirty="0">
                <a:solidFill>
                  <a:srgbClr val="0070C0"/>
                </a:solidFill>
                <a:latin typeface="+mn-ea"/>
                <a:cs typeface="+mj-cs"/>
              </a:rPr>
              <a:t>Is</a:t>
            </a:r>
            <a:r>
              <a:rPr lang="zh-CN" altLang="en-US" sz="2000" b="1" kern="0" dirty="0">
                <a:solidFill>
                  <a:srgbClr val="0070C0"/>
                </a:solidFill>
                <a:latin typeface="+mn-ea"/>
                <a:cs typeface="+mj-cs"/>
              </a:rPr>
              <a:t>；</a:t>
            </a:r>
            <a:endParaRPr lang="en-US" altLang="zh-CN" sz="2000" b="1" kern="0" dirty="0">
              <a:solidFill>
                <a:srgbClr val="0070C0"/>
              </a:solidFill>
              <a:latin typeface="+mn-ea"/>
              <a:cs typeface="+mj-cs"/>
            </a:endParaRPr>
          </a:p>
          <a:p>
            <a:pPr>
              <a:lnSpc>
                <a:spcPct val="150000"/>
              </a:lnSpc>
              <a:buClr>
                <a:srgbClr val="C00000"/>
              </a:buClr>
              <a:buFont typeface="Wingdings" panose="05000000000000000000" pitchFamily="2" charset="2"/>
              <a:buChar char="l"/>
            </a:pPr>
            <a:r>
              <a:rPr lang="zh-CN" altLang="en-US" sz="2400" b="1" kern="0" dirty="0">
                <a:solidFill>
                  <a:srgbClr val="FF0000"/>
                </a:solidFill>
                <a:latin typeface="+mn-ea"/>
                <a:cs typeface="+mj-cs"/>
              </a:rPr>
              <a:t>串联谐振回路：</a:t>
            </a:r>
            <a:r>
              <a:rPr lang="zh-CN" altLang="en-US" sz="2000" b="1" kern="0" dirty="0">
                <a:solidFill>
                  <a:srgbClr val="0070C0"/>
                </a:solidFill>
                <a:latin typeface="+mn-ea"/>
                <a:cs typeface="+mj-cs"/>
              </a:rPr>
              <a:t>适用于电源内阻低的情况，如恒压源</a:t>
            </a:r>
            <a:r>
              <a:rPr lang="en-US" altLang="zh-CN" sz="2000" b="1" kern="0" dirty="0">
                <a:solidFill>
                  <a:srgbClr val="0070C0"/>
                </a:solidFill>
                <a:latin typeface="+mn-ea"/>
                <a:cs typeface="+mj-cs"/>
              </a:rPr>
              <a:t>V</a:t>
            </a:r>
            <a:r>
              <a:rPr lang="en-US" altLang="zh-CN" sz="2000" b="1" kern="0" baseline="-25000" dirty="0">
                <a:solidFill>
                  <a:srgbClr val="0070C0"/>
                </a:solidFill>
                <a:latin typeface="+mn-ea"/>
                <a:cs typeface="+mj-cs"/>
              </a:rPr>
              <a:t>s</a:t>
            </a:r>
            <a:r>
              <a:rPr lang="zh-CN" altLang="en-US" sz="2000" b="1" kern="0" dirty="0">
                <a:solidFill>
                  <a:srgbClr val="0070C0"/>
                </a:solidFill>
                <a:latin typeface="+mn-ea"/>
                <a:cs typeface="+mj-cs"/>
              </a:rPr>
              <a:t>；</a:t>
            </a:r>
            <a:endParaRPr lang="en-US" altLang="zh-CN" sz="2000" b="1" kern="0" dirty="0">
              <a:solidFill>
                <a:srgbClr val="0070C0"/>
              </a:solidFill>
              <a:latin typeface="+mn-ea"/>
              <a:cs typeface="+mj-cs"/>
            </a:endParaRPr>
          </a:p>
        </p:txBody>
      </p:sp>
      <p:sp>
        <p:nvSpPr>
          <p:cNvPr id="7" name="TextBox 6"/>
          <p:cNvSpPr txBox="1"/>
          <p:nvPr/>
        </p:nvSpPr>
        <p:spPr>
          <a:xfrm>
            <a:off x="771706" y="1988840"/>
            <a:ext cx="7152920" cy="400110"/>
          </a:xfrm>
          <a:prstGeom prst="rect">
            <a:avLst/>
          </a:prstGeom>
          <a:noFill/>
        </p:spPr>
        <p:txBody>
          <a:bodyPr wrap="none" rtlCol="0">
            <a:spAutoFit/>
          </a:bodyPr>
          <a:lstStyle/>
          <a:p>
            <a:r>
              <a:rPr lang="zh-CN" altLang="en-US" sz="2000" b="1" dirty="0">
                <a:solidFill>
                  <a:srgbClr val="0070C0"/>
                </a:solidFill>
              </a:rPr>
              <a:t>为了获得最大的电源输出功率；电源与谐振回路的初次匹配。</a:t>
            </a:r>
          </a:p>
        </p:txBody>
      </p:sp>
    </p:spTree>
    <p:extLst>
      <p:ext uri="{BB962C8B-B14F-4D97-AF65-F5344CB8AC3E}">
        <p14:creationId xmlns:p14="http://schemas.microsoft.com/office/powerpoint/2010/main" val="133710306"/>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19</a:t>
            </a:fld>
            <a:endParaRPr lang="en-US" altLang="zh-CN" dirty="0">
              <a:solidFill>
                <a:srgbClr val="000000"/>
              </a:solidFill>
            </a:endParaRPr>
          </a:p>
        </p:txBody>
      </p:sp>
      <p:sp>
        <p:nvSpPr>
          <p:cNvPr id="21" name="内容占位符 20"/>
          <p:cNvSpPr>
            <a:spLocks noGrp="1"/>
          </p:cNvSpPr>
          <p:nvPr>
            <p:ph idx="1"/>
          </p:nvPr>
        </p:nvSpPr>
        <p:spPr>
          <a:xfrm>
            <a:off x="395536" y="260648"/>
            <a:ext cx="6120680" cy="648072"/>
          </a:xfrm>
          <a:solidFill>
            <a:srgbClr val="862714"/>
          </a:solidFill>
        </p:spPr>
        <p:txBody>
          <a:bodyPr/>
          <a:lstStyle/>
          <a:p>
            <a:pPr>
              <a:buClr>
                <a:schemeClr val="bg1"/>
              </a:buClr>
              <a:buFont typeface="Wingdings" panose="05000000000000000000" pitchFamily="2" charset="2"/>
              <a:buChar char="l"/>
            </a:pPr>
            <a:r>
              <a:rPr lang="en-US" altLang="zh-CN" sz="3600" dirty="0">
                <a:solidFill>
                  <a:schemeClr val="bg1"/>
                </a:solidFill>
                <a:latin typeface="Garamond"/>
                <a:ea typeface="华文行楷"/>
                <a:cs typeface="+mj-cs"/>
              </a:rPr>
              <a:t>2.2.3 </a:t>
            </a:r>
            <a:r>
              <a:rPr lang="zh-CN" altLang="en-US" sz="3600" dirty="0">
                <a:solidFill>
                  <a:schemeClr val="bg1"/>
                </a:solidFill>
                <a:latin typeface="Garamond"/>
                <a:ea typeface="华文行楷"/>
                <a:cs typeface="+mj-cs"/>
              </a:rPr>
              <a:t>串、并联谐振回路特点</a:t>
            </a:r>
            <a:endParaRPr lang="zh-CN" altLang="en-US" sz="2800" dirty="0"/>
          </a:p>
        </p:txBody>
      </p:sp>
      <p:graphicFrame>
        <p:nvGraphicFramePr>
          <p:cNvPr id="2" name="表格 1"/>
          <p:cNvGraphicFramePr>
            <a:graphicFrameLocks noGrp="1"/>
          </p:cNvGraphicFramePr>
          <p:nvPr>
            <p:extLst>
              <p:ext uri="{D42A27DB-BD31-4B8C-83A1-F6EECF244321}">
                <p14:modId xmlns:p14="http://schemas.microsoft.com/office/powerpoint/2010/main" val="2548465131"/>
              </p:ext>
            </p:extLst>
          </p:nvPr>
        </p:nvGraphicFramePr>
        <p:xfrm>
          <a:off x="1379984" y="1988840"/>
          <a:ext cx="6096000" cy="2880320"/>
        </p:xfrm>
        <a:graphic>
          <a:graphicData uri="http://schemas.openxmlformats.org/drawingml/2006/table">
            <a:tbl>
              <a:tblPr firstRow="1" bandRow="1">
                <a:tableStyleId>{5940675A-B579-460E-94D1-54222C63F5DA}</a:tableStyleId>
              </a:tblPr>
              <a:tblGrid>
                <a:gridCol w="2032000">
                  <a:extLst>
                    <a:ext uri="{9D8B030D-6E8A-4147-A177-3AD203B41FA5}">
                      <a16:colId xmlns="" xmlns:a16="http://schemas.microsoft.com/office/drawing/2014/main" val="20000"/>
                    </a:ext>
                  </a:extLst>
                </a:gridCol>
                <a:gridCol w="2032000">
                  <a:extLst>
                    <a:ext uri="{9D8B030D-6E8A-4147-A177-3AD203B41FA5}">
                      <a16:colId xmlns="" xmlns:a16="http://schemas.microsoft.com/office/drawing/2014/main" val="20001"/>
                    </a:ext>
                  </a:extLst>
                </a:gridCol>
                <a:gridCol w="2032000">
                  <a:extLst>
                    <a:ext uri="{9D8B030D-6E8A-4147-A177-3AD203B41FA5}">
                      <a16:colId xmlns="" xmlns:a16="http://schemas.microsoft.com/office/drawing/2014/main" val="20002"/>
                    </a:ext>
                  </a:extLst>
                </a:gridCol>
              </a:tblGrid>
              <a:tr h="370840">
                <a:tc>
                  <a:txBody>
                    <a:bodyPr/>
                    <a:lstStyle/>
                    <a:p>
                      <a:pPr algn="ctr"/>
                      <a:r>
                        <a:rPr lang="zh-CN" altLang="en-US" b="1" dirty="0"/>
                        <a:t>参数</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b="1" dirty="0"/>
                        <a:t>并联谐振</a:t>
                      </a:r>
                    </a:p>
                  </a:txBody>
                  <a:tcPr/>
                </a:tc>
                <a:tc>
                  <a:txBody>
                    <a:bodyPr/>
                    <a:lstStyle/>
                    <a:p>
                      <a:pPr algn="ctr"/>
                      <a:r>
                        <a:rPr lang="zh-CN" altLang="en-US" b="1" dirty="0"/>
                        <a:t>串联谐振</a:t>
                      </a:r>
                    </a:p>
                  </a:txBody>
                  <a:tcPr/>
                </a:tc>
                <a:extLst>
                  <a:ext uri="{0D108BD9-81ED-4DB2-BD59-A6C34878D82A}">
                    <a16:rowId xmlns="" xmlns:a16="http://schemas.microsoft.com/office/drawing/2014/main" val="10000"/>
                  </a:ext>
                </a:extLst>
              </a:tr>
              <a:tr h="493256">
                <a:tc>
                  <a:txBody>
                    <a:bodyPr/>
                    <a:lstStyle/>
                    <a:p>
                      <a:pPr algn="ctr"/>
                      <a:r>
                        <a:rPr lang="zh-CN" altLang="en-US" b="1" dirty="0"/>
                        <a:t>谐振频率</a:t>
                      </a:r>
                    </a:p>
                  </a:txBody>
                  <a:tcPr/>
                </a:tc>
                <a:tc>
                  <a:txBody>
                    <a:bodyPr/>
                    <a:lstStyle/>
                    <a:p>
                      <a:pPr algn="ctr"/>
                      <a:endParaRPr lang="zh-CN" altLang="en-US" dirty="0"/>
                    </a:p>
                  </a:txBody>
                  <a:tcPr/>
                </a:tc>
                <a:tc>
                  <a:txBody>
                    <a:bodyPr/>
                    <a:lstStyle/>
                    <a:p>
                      <a:pPr algn="ctr"/>
                      <a:endParaRPr lang="zh-CN" altLang="en-US"/>
                    </a:p>
                  </a:txBody>
                  <a:tcPr/>
                </a:tc>
                <a:extLst>
                  <a:ext uri="{0D108BD9-81ED-4DB2-BD59-A6C34878D82A}">
                    <a16:rowId xmlns="" xmlns:a16="http://schemas.microsoft.com/office/drawing/2014/main" val="10001"/>
                  </a:ext>
                </a:extLst>
              </a:tr>
              <a:tr h="504056">
                <a:tc>
                  <a:txBody>
                    <a:bodyPr/>
                    <a:lstStyle/>
                    <a:p>
                      <a:pPr algn="ctr"/>
                      <a:r>
                        <a:rPr lang="zh-CN" altLang="en-US" b="1" dirty="0"/>
                        <a:t>电压</a:t>
                      </a:r>
                      <a:r>
                        <a:rPr lang="en-US" altLang="zh-CN" b="1" dirty="0"/>
                        <a:t>/</a:t>
                      </a:r>
                      <a:r>
                        <a:rPr lang="zh-CN" altLang="en-US" b="1" dirty="0"/>
                        <a:t>电流谐振</a:t>
                      </a:r>
                    </a:p>
                  </a:txBody>
                  <a:tcPr/>
                </a:tc>
                <a:tc>
                  <a:txBody>
                    <a:bodyPr/>
                    <a:lstStyle/>
                    <a:p>
                      <a:pPr algn="ctr"/>
                      <a:endParaRPr lang="zh-CN" altLang="en-US" baseline="-25000" dirty="0"/>
                    </a:p>
                  </a:txBody>
                  <a:tcPr/>
                </a:tc>
                <a:tc>
                  <a:txBody>
                    <a:bodyPr/>
                    <a:lstStyle/>
                    <a:p>
                      <a:pPr algn="ctr"/>
                      <a:endParaRPr lang="zh-CN" altLang="en-US" baseline="-25000" dirty="0"/>
                    </a:p>
                  </a:txBody>
                  <a:tcPr/>
                </a:tc>
                <a:extLst>
                  <a:ext uri="{0D108BD9-81ED-4DB2-BD59-A6C34878D82A}">
                    <a16:rowId xmlns="" xmlns:a16="http://schemas.microsoft.com/office/drawing/2014/main" val="10002"/>
                  </a:ext>
                </a:extLst>
              </a:tr>
              <a:tr h="504056">
                <a:tc>
                  <a:txBody>
                    <a:bodyPr/>
                    <a:lstStyle/>
                    <a:p>
                      <a:pPr algn="ctr"/>
                      <a:r>
                        <a:rPr lang="zh-CN" altLang="en-US" b="1" dirty="0"/>
                        <a:t>品质因数</a:t>
                      </a:r>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 xmlns:a16="http://schemas.microsoft.com/office/drawing/2014/main" val="10003"/>
                  </a:ext>
                </a:extLst>
              </a:tr>
              <a:tr h="576064">
                <a:tc>
                  <a:txBody>
                    <a:bodyPr/>
                    <a:lstStyle/>
                    <a:p>
                      <a:pPr algn="ctr"/>
                      <a:r>
                        <a:rPr lang="zh-CN" altLang="en-US" b="1" dirty="0"/>
                        <a:t>通频带</a:t>
                      </a:r>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 xmlns:a16="http://schemas.microsoft.com/office/drawing/2014/main" val="10004"/>
                  </a:ext>
                </a:extLst>
              </a:tr>
              <a:tr h="432048">
                <a:tc>
                  <a:txBody>
                    <a:bodyPr/>
                    <a:lstStyle/>
                    <a:p>
                      <a:pPr algn="ctr"/>
                      <a:r>
                        <a:rPr lang="zh-CN" altLang="en-US" b="1" dirty="0"/>
                        <a:t>激励信号</a:t>
                      </a:r>
                    </a:p>
                  </a:txBody>
                  <a:tcPr/>
                </a:tc>
                <a:tc>
                  <a:txBody>
                    <a:bodyPr/>
                    <a:lstStyle/>
                    <a:p>
                      <a:pPr algn="ctr"/>
                      <a:endParaRPr lang="zh-CN" altLang="en-US" dirty="0"/>
                    </a:p>
                  </a:txBody>
                  <a:tcPr/>
                </a:tc>
                <a:tc>
                  <a:txBody>
                    <a:bodyPr/>
                    <a:lstStyle/>
                    <a:p>
                      <a:pPr algn="ctr"/>
                      <a:endParaRPr lang="zh-CN" altLang="en-US" dirty="0"/>
                    </a:p>
                  </a:txBody>
                  <a:tcPr/>
                </a:tc>
                <a:extLst>
                  <a:ext uri="{0D108BD9-81ED-4DB2-BD59-A6C34878D82A}">
                    <a16:rowId xmlns="" xmlns:a16="http://schemas.microsoft.com/office/drawing/2014/main" val="10005"/>
                  </a:ext>
                </a:extLst>
              </a:tr>
            </a:tbl>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912536569"/>
              </p:ext>
            </p:extLst>
          </p:nvPr>
        </p:nvGraphicFramePr>
        <p:xfrm>
          <a:off x="3923928" y="2348880"/>
          <a:ext cx="978005" cy="481915"/>
        </p:xfrm>
        <a:graphic>
          <a:graphicData uri="http://schemas.openxmlformats.org/presentationml/2006/ole">
            <mc:AlternateContent xmlns:mc="http://schemas.openxmlformats.org/markup-compatibility/2006">
              <mc:Choice xmlns:v="urn:schemas-microsoft-com:vml" Requires="v">
                <p:oleObj spid="_x0000_s108678" name="Equation" r:id="rId4" imgW="876240" imgH="419040" progId="Equation.DSMT4">
                  <p:embed/>
                </p:oleObj>
              </mc:Choice>
              <mc:Fallback>
                <p:oleObj name="Equation" r:id="rId4" imgW="876240" imgH="4190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3928" y="2348880"/>
                        <a:ext cx="978005" cy="481915"/>
                      </a:xfrm>
                      <a:prstGeom prst="rect">
                        <a:avLst/>
                      </a:prstGeom>
                      <a:noFill/>
                      <a:ln>
                        <a:noFill/>
                      </a:ln>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54815630"/>
              </p:ext>
            </p:extLst>
          </p:nvPr>
        </p:nvGraphicFramePr>
        <p:xfrm>
          <a:off x="5898157" y="2348880"/>
          <a:ext cx="978099" cy="481583"/>
        </p:xfrm>
        <a:graphic>
          <a:graphicData uri="http://schemas.openxmlformats.org/presentationml/2006/ole">
            <mc:AlternateContent xmlns:mc="http://schemas.openxmlformats.org/markup-compatibility/2006">
              <mc:Choice xmlns:v="urn:schemas-microsoft-com:vml" Requires="v">
                <p:oleObj spid="_x0000_s108679" name="Equation" r:id="rId6" imgW="876300" imgH="419100" progId="Equation.DSMT4">
                  <p:embed/>
                </p:oleObj>
              </mc:Choice>
              <mc:Fallback>
                <p:oleObj name="Equation" r:id="rId6" imgW="876300" imgH="4191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8157" y="2348880"/>
                        <a:ext cx="978099" cy="481583"/>
                      </a:xfrm>
                      <a:prstGeom prst="rect">
                        <a:avLst/>
                      </a:prstGeom>
                      <a:noFill/>
                      <a:ln>
                        <a:noFill/>
                      </a:ln>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226350640"/>
              </p:ext>
            </p:extLst>
          </p:nvPr>
        </p:nvGraphicFramePr>
        <p:xfrm>
          <a:off x="5885463" y="3356992"/>
          <a:ext cx="1206817" cy="504056"/>
        </p:xfrm>
        <a:graphic>
          <a:graphicData uri="http://schemas.openxmlformats.org/presentationml/2006/ole">
            <mc:AlternateContent xmlns:mc="http://schemas.openxmlformats.org/markup-compatibility/2006">
              <mc:Choice xmlns:v="urn:schemas-microsoft-com:vml" Requires="v">
                <p:oleObj spid="_x0000_s108680" name="Equation" r:id="rId7" imgW="1066680" imgH="431640" progId="Equation.DSMT4">
                  <p:embed/>
                </p:oleObj>
              </mc:Choice>
              <mc:Fallback>
                <p:oleObj name="Equation" r:id="rId7" imgW="1066680" imgH="4316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5463" y="3356992"/>
                        <a:ext cx="1206817" cy="504056"/>
                      </a:xfrm>
                      <a:prstGeom prst="rect">
                        <a:avLst/>
                      </a:prstGeom>
                      <a:noFill/>
                      <a:ln>
                        <a:noFill/>
                      </a:ln>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669936171"/>
              </p:ext>
            </p:extLst>
          </p:nvPr>
        </p:nvGraphicFramePr>
        <p:xfrm>
          <a:off x="3851920" y="3356992"/>
          <a:ext cx="1296144" cy="512282"/>
        </p:xfrm>
        <a:graphic>
          <a:graphicData uri="http://schemas.openxmlformats.org/presentationml/2006/ole">
            <mc:AlternateContent xmlns:mc="http://schemas.openxmlformats.org/markup-compatibility/2006">
              <mc:Choice xmlns:v="urn:schemas-microsoft-com:vml" Requires="v">
                <p:oleObj spid="_x0000_s108681" name="Equation" r:id="rId9" imgW="1143000" imgH="457200" progId="Equation.DSMT4">
                  <p:embed/>
                </p:oleObj>
              </mc:Choice>
              <mc:Fallback>
                <p:oleObj name="Equation" r:id="rId9" imgW="1143000" imgH="4572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1920" y="3356992"/>
                        <a:ext cx="1296144" cy="512282"/>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151874640"/>
              </p:ext>
            </p:extLst>
          </p:nvPr>
        </p:nvGraphicFramePr>
        <p:xfrm>
          <a:off x="3995936" y="3932436"/>
          <a:ext cx="707040" cy="504676"/>
        </p:xfrm>
        <a:graphic>
          <a:graphicData uri="http://schemas.openxmlformats.org/presentationml/2006/ole">
            <mc:AlternateContent xmlns:mc="http://schemas.openxmlformats.org/markup-compatibility/2006">
              <mc:Choice xmlns:v="urn:schemas-microsoft-com:vml" Requires="v">
                <p:oleObj spid="_x0000_s108682" name="Equation" r:id="rId11" imgW="711000" imgH="419040" progId="Equation.DSMT4">
                  <p:embed/>
                </p:oleObj>
              </mc:Choice>
              <mc:Fallback>
                <p:oleObj name="Equation" r:id="rId11" imgW="711000" imgH="419040" progId="Equation.DSMT4">
                  <p:embed/>
                  <p:pic>
                    <p:nvPicPr>
                      <p:cNvPr id="0" name=""/>
                      <p:cNvPicPr>
                        <a:picLocks noChangeAspect="1" noChangeArrowheads="1"/>
                      </p:cNvPicPr>
                      <p:nvPr/>
                    </p:nvPicPr>
                    <p:blipFill>
                      <a:blip r:embed="rId12"/>
                      <a:srcRect/>
                      <a:stretch>
                        <a:fillRect/>
                      </a:stretch>
                    </p:blipFill>
                    <p:spPr bwMode="auto">
                      <a:xfrm>
                        <a:off x="3995936" y="3932436"/>
                        <a:ext cx="707040" cy="504676"/>
                      </a:xfrm>
                      <a:prstGeom prst="rect">
                        <a:avLst/>
                      </a:prstGeom>
                      <a:noFill/>
                      <a:ln>
                        <a:noFill/>
                      </a:ln>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172057345"/>
              </p:ext>
            </p:extLst>
          </p:nvPr>
        </p:nvGraphicFramePr>
        <p:xfrm>
          <a:off x="6096223" y="3933056"/>
          <a:ext cx="708025" cy="504825"/>
        </p:xfrm>
        <a:graphic>
          <a:graphicData uri="http://schemas.openxmlformats.org/presentationml/2006/ole">
            <mc:AlternateContent xmlns:mc="http://schemas.openxmlformats.org/markup-compatibility/2006">
              <mc:Choice xmlns:v="urn:schemas-microsoft-com:vml" Requires="v">
                <p:oleObj spid="_x0000_s108683" name="Equation" r:id="rId13" imgW="711000" imgH="419040" progId="Equation.DSMT4">
                  <p:embed/>
                </p:oleObj>
              </mc:Choice>
              <mc:Fallback>
                <p:oleObj name="Equation" r:id="rId13" imgW="711000" imgH="41904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96223" y="3933056"/>
                        <a:ext cx="7080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Box 13"/>
          <p:cNvSpPr txBox="1"/>
          <p:nvPr/>
        </p:nvSpPr>
        <p:spPr>
          <a:xfrm>
            <a:off x="3255564" y="1556792"/>
            <a:ext cx="2252540" cy="338554"/>
          </a:xfrm>
          <a:prstGeom prst="rect">
            <a:avLst/>
          </a:prstGeom>
          <a:noFill/>
        </p:spPr>
        <p:txBody>
          <a:bodyPr wrap="none" rtlCol="0">
            <a:spAutoFit/>
          </a:bodyPr>
          <a:lstStyle/>
          <a:p>
            <a:r>
              <a:rPr lang="zh-CN" altLang="en-US" sz="1600" b="1" dirty="0"/>
              <a:t>串并联谐振回路对照表</a:t>
            </a:r>
          </a:p>
        </p:txBody>
      </p:sp>
      <p:sp>
        <p:nvSpPr>
          <p:cNvPr id="3" name="TextBox 2"/>
          <p:cNvSpPr txBox="1"/>
          <p:nvPr/>
        </p:nvSpPr>
        <p:spPr>
          <a:xfrm>
            <a:off x="3605820" y="2924944"/>
            <a:ext cx="1552028" cy="369332"/>
          </a:xfrm>
          <a:prstGeom prst="rect">
            <a:avLst/>
          </a:prstGeom>
          <a:noFill/>
        </p:spPr>
        <p:txBody>
          <a:bodyPr wrap="none" rtlCol="0">
            <a:spAutoFit/>
          </a:bodyPr>
          <a:lstStyle/>
          <a:p>
            <a:r>
              <a:rPr lang="zh-CN" altLang="en-US" dirty="0"/>
              <a:t>电压谐振</a:t>
            </a:r>
            <a:r>
              <a:rPr lang="en-US" altLang="zh-CN" dirty="0"/>
              <a:t>V</a:t>
            </a:r>
            <a:r>
              <a:rPr lang="en-US" altLang="zh-CN" baseline="-25000" dirty="0"/>
              <a:t>max</a:t>
            </a:r>
            <a:endParaRPr lang="zh-CN" altLang="en-US" baseline="-25000" dirty="0"/>
          </a:p>
        </p:txBody>
      </p:sp>
      <p:sp>
        <p:nvSpPr>
          <p:cNvPr id="15" name="TextBox 14"/>
          <p:cNvSpPr txBox="1"/>
          <p:nvPr/>
        </p:nvSpPr>
        <p:spPr>
          <a:xfrm>
            <a:off x="5724128" y="2924944"/>
            <a:ext cx="1462260" cy="369332"/>
          </a:xfrm>
          <a:prstGeom prst="rect">
            <a:avLst/>
          </a:prstGeom>
          <a:noFill/>
        </p:spPr>
        <p:txBody>
          <a:bodyPr wrap="none" rtlCol="0">
            <a:spAutoFit/>
          </a:bodyPr>
          <a:lstStyle/>
          <a:p>
            <a:r>
              <a:rPr lang="zh-CN" altLang="en-US" dirty="0"/>
              <a:t>电流谐振</a:t>
            </a:r>
            <a:r>
              <a:rPr lang="en-US" altLang="zh-CN" dirty="0"/>
              <a:t>I</a:t>
            </a:r>
            <a:r>
              <a:rPr lang="en-US" altLang="zh-CN" baseline="-25000" dirty="0"/>
              <a:t>max</a:t>
            </a:r>
            <a:endParaRPr lang="zh-CN" altLang="en-US" baseline="-25000" dirty="0"/>
          </a:p>
        </p:txBody>
      </p:sp>
      <p:sp>
        <p:nvSpPr>
          <p:cNvPr id="16" name="TextBox 15"/>
          <p:cNvSpPr txBox="1"/>
          <p:nvPr/>
        </p:nvSpPr>
        <p:spPr>
          <a:xfrm>
            <a:off x="3943252" y="4499828"/>
            <a:ext cx="877163" cy="369332"/>
          </a:xfrm>
          <a:prstGeom prst="rect">
            <a:avLst/>
          </a:prstGeom>
          <a:noFill/>
        </p:spPr>
        <p:txBody>
          <a:bodyPr wrap="none" rtlCol="0">
            <a:spAutoFit/>
          </a:bodyPr>
          <a:lstStyle/>
          <a:p>
            <a:r>
              <a:rPr lang="zh-CN" altLang="en-US" dirty="0"/>
              <a:t>电流源</a:t>
            </a:r>
            <a:endParaRPr lang="zh-CN" altLang="en-US" baseline="-25000" dirty="0"/>
          </a:p>
        </p:txBody>
      </p:sp>
      <p:sp>
        <p:nvSpPr>
          <p:cNvPr id="17" name="TextBox 16"/>
          <p:cNvSpPr txBox="1"/>
          <p:nvPr/>
        </p:nvSpPr>
        <p:spPr>
          <a:xfrm>
            <a:off x="6016676" y="4499828"/>
            <a:ext cx="877163" cy="369332"/>
          </a:xfrm>
          <a:prstGeom prst="rect">
            <a:avLst/>
          </a:prstGeom>
          <a:noFill/>
        </p:spPr>
        <p:txBody>
          <a:bodyPr wrap="none" rtlCol="0">
            <a:spAutoFit/>
          </a:bodyPr>
          <a:lstStyle/>
          <a:p>
            <a:r>
              <a:rPr lang="zh-CN" altLang="en-US" dirty="0"/>
              <a:t>电压源</a:t>
            </a:r>
            <a:endParaRPr lang="zh-CN" altLang="en-US" baseline="-25000" dirty="0"/>
          </a:p>
        </p:txBody>
      </p:sp>
    </p:spTree>
    <p:extLst>
      <p:ext uri="{BB962C8B-B14F-4D97-AF65-F5344CB8AC3E}">
        <p14:creationId xmlns:p14="http://schemas.microsoft.com/office/powerpoint/2010/main" val="2401424271"/>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20</a:t>
            </a:fld>
            <a:endParaRPr lang="en-US" altLang="zh-CN" dirty="0">
              <a:solidFill>
                <a:srgbClr val="000000"/>
              </a:solidFill>
            </a:endParaRPr>
          </a:p>
        </p:txBody>
      </p:sp>
      <p:sp>
        <p:nvSpPr>
          <p:cNvPr id="21" name="内容占位符 20"/>
          <p:cNvSpPr>
            <a:spLocks noGrp="1"/>
          </p:cNvSpPr>
          <p:nvPr>
            <p:ph idx="1"/>
          </p:nvPr>
        </p:nvSpPr>
        <p:spPr>
          <a:xfrm>
            <a:off x="395536" y="260648"/>
            <a:ext cx="5184576" cy="648072"/>
          </a:xfrm>
          <a:solidFill>
            <a:srgbClr val="862714"/>
          </a:solidFill>
        </p:spPr>
        <p:txBody>
          <a:bodyPr/>
          <a:lstStyle/>
          <a:p>
            <a:pPr>
              <a:buClr>
                <a:schemeClr val="bg1"/>
              </a:buClr>
              <a:buFont typeface="Wingdings" panose="05000000000000000000" pitchFamily="2" charset="2"/>
              <a:buChar char="l"/>
            </a:pPr>
            <a:r>
              <a:rPr lang="en-US" altLang="zh-CN" sz="3200" dirty="0">
                <a:solidFill>
                  <a:schemeClr val="bg1"/>
                </a:solidFill>
                <a:latin typeface="Garamond"/>
                <a:ea typeface="华文行楷"/>
                <a:cs typeface="+mj-cs"/>
              </a:rPr>
              <a:t>2.3.2   </a:t>
            </a:r>
            <a:r>
              <a:rPr lang="zh-CN" altLang="en-US" sz="3200" dirty="0">
                <a:solidFill>
                  <a:schemeClr val="bg1"/>
                </a:solidFill>
                <a:latin typeface="Garamond"/>
                <a:ea typeface="华文行楷"/>
                <a:cs typeface="+mj-cs"/>
              </a:rPr>
              <a:t>基本阻抗变换</a:t>
            </a:r>
            <a:r>
              <a:rPr lang="zh-CN" altLang="en-US" sz="3200" dirty="0" smtClean="0">
                <a:solidFill>
                  <a:schemeClr val="bg1"/>
                </a:solidFill>
                <a:latin typeface="Garamond"/>
                <a:ea typeface="华文行楷"/>
                <a:cs typeface="+mj-cs"/>
              </a:rPr>
              <a:t>电路</a:t>
            </a:r>
            <a:endParaRPr lang="zh-CN" altLang="en-US" sz="3200" dirty="0"/>
          </a:p>
        </p:txBody>
      </p:sp>
      <p:graphicFrame>
        <p:nvGraphicFramePr>
          <p:cNvPr id="107" name="Object 92"/>
          <p:cNvGraphicFramePr>
            <a:graphicFrameLocks noChangeAspect="1"/>
          </p:cNvGraphicFramePr>
          <p:nvPr>
            <p:extLst>
              <p:ext uri="{D42A27DB-BD31-4B8C-83A1-F6EECF244321}">
                <p14:modId xmlns:p14="http://schemas.microsoft.com/office/powerpoint/2010/main" val="1022249739"/>
              </p:ext>
            </p:extLst>
          </p:nvPr>
        </p:nvGraphicFramePr>
        <p:xfrm>
          <a:off x="1187624" y="5373216"/>
          <a:ext cx="550863" cy="319087"/>
        </p:xfrm>
        <a:graphic>
          <a:graphicData uri="http://schemas.openxmlformats.org/presentationml/2006/ole">
            <mc:AlternateContent xmlns:mc="http://schemas.openxmlformats.org/markup-compatibility/2006">
              <mc:Choice xmlns:v="urn:schemas-microsoft-com:vml" Requires="v">
                <p:oleObj spid="_x0000_s109823" name="Equation" r:id="rId4" imgW="241200" imgH="139680" progId="Equation.DSMT4">
                  <p:embed/>
                </p:oleObj>
              </mc:Choice>
              <mc:Fallback>
                <p:oleObj name="Equation" r:id="rId4" imgW="241200" imgH="139680" progId="Equation.DSMT4">
                  <p:embed/>
                  <p:pic>
                    <p:nvPicPr>
                      <p:cNvPr id="0" name=""/>
                      <p:cNvPicPr>
                        <a:picLocks noChangeAspect="1" noChangeArrowheads="1"/>
                      </p:cNvPicPr>
                      <p:nvPr/>
                    </p:nvPicPr>
                    <p:blipFill>
                      <a:blip r:embed="rId5"/>
                      <a:srcRect/>
                      <a:stretch>
                        <a:fillRect/>
                      </a:stretch>
                    </p:blipFill>
                    <p:spPr bwMode="auto">
                      <a:xfrm>
                        <a:off x="1187624" y="5373216"/>
                        <a:ext cx="550863" cy="319087"/>
                      </a:xfrm>
                      <a:prstGeom prst="rect">
                        <a:avLst/>
                      </a:prstGeom>
                      <a:noFill/>
                      <a:ln>
                        <a:noFill/>
                      </a:ln>
                      <a:effectLst/>
                    </p:spPr>
                  </p:pic>
                </p:oleObj>
              </mc:Fallback>
            </mc:AlternateContent>
          </a:graphicData>
        </a:graphic>
      </p:graphicFrame>
      <p:graphicFrame>
        <p:nvGraphicFramePr>
          <p:cNvPr id="143" name="Object 129"/>
          <p:cNvGraphicFramePr>
            <a:graphicFrameLocks noChangeAspect="1"/>
          </p:cNvGraphicFramePr>
          <p:nvPr>
            <p:extLst>
              <p:ext uri="{D42A27DB-BD31-4B8C-83A1-F6EECF244321}">
                <p14:modId xmlns:p14="http://schemas.microsoft.com/office/powerpoint/2010/main" val="2237849535"/>
              </p:ext>
            </p:extLst>
          </p:nvPr>
        </p:nvGraphicFramePr>
        <p:xfrm>
          <a:off x="1006475" y="4335463"/>
          <a:ext cx="1517650" cy="571500"/>
        </p:xfrm>
        <a:graphic>
          <a:graphicData uri="http://schemas.openxmlformats.org/presentationml/2006/ole">
            <mc:AlternateContent xmlns:mc="http://schemas.openxmlformats.org/markup-compatibility/2006">
              <mc:Choice xmlns:v="urn:schemas-microsoft-com:vml" Requires="v">
                <p:oleObj spid="_x0000_s109824" name="Equation" r:id="rId6" imgW="672840" imgH="241200" progId="Equation.DSMT4">
                  <p:embed/>
                </p:oleObj>
              </mc:Choice>
              <mc:Fallback>
                <p:oleObj name="Equation" r:id="rId6" imgW="672840" imgH="241200" progId="Equation.DSMT4">
                  <p:embed/>
                  <p:pic>
                    <p:nvPicPr>
                      <p:cNvPr id="0" name=""/>
                      <p:cNvPicPr>
                        <a:picLocks noChangeAspect="1" noChangeArrowheads="1"/>
                      </p:cNvPicPr>
                      <p:nvPr/>
                    </p:nvPicPr>
                    <p:blipFill>
                      <a:blip r:embed="rId7"/>
                      <a:srcRect/>
                      <a:stretch>
                        <a:fillRect/>
                      </a:stretch>
                    </p:blipFill>
                    <p:spPr bwMode="auto">
                      <a:xfrm>
                        <a:off x="1006475" y="4335463"/>
                        <a:ext cx="1517650" cy="571500"/>
                      </a:xfrm>
                      <a:prstGeom prst="rect">
                        <a:avLst/>
                      </a:prstGeom>
                      <a:noFill/>
                      <a:ln>
                        <a:noFill/>
                      </a:ln>
                      <a:effectLst/>
                    </p:spPr>
                  </p:pic>
                </p:oleObj>
              </mc:Fallback>
            </mc:AlternateContent>
          </a:graphicData>
        </a:graphic>
      </p:graphicFrame>
      <p:pic>
        <p:nvPicPr>
          <p:cNvPr id="144" name="Picture 13" descr="2"/>
          <p:cNvPicPr>
            <a:picLocks noChangeAspect="1" noChangeArrowheads="1"/>
          </p:cNvPicPr>
          <p:nvPr/>
        </p:nvPicPr>
        <p:blipFill>
          <a:blip r:embed="rId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5289" y="1772816"/>
            <a:ext cx="3150171" cy="2304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p:cNvGraphicFramePr>
            <a:graphicFrameLocks noChangeAspect="1"/>
          </p:cNvGraphicFramePr>
          <p:nvPr>
            <p:extLst>
              <p:ext uri="{D42A27DB-BD31-4B8C-83A1-F6EECF244321}">
                <p14:modId xmlns:p14="http://schemas.microsoft.com/office/powerpoint/2010/main" val="2754470265"/>
              </p:ext>
            </p:extLst>
          </p:nvPr>
        </p:nvGraphicFramePr>
        <p:xfrm>
          <a:off x="2843808" y="1700808"/>
          <a:ext cx="3447029" cy="2304256"/>
        </p:xfrm>
        <a:graphic>
          <a:graphicData uri="http://schemas.openxmlformats.org/presentationml/2006/ole">
            <mc:AlternateContent xmlns:mc="http://schemas.openxmlformats.org/markup-compatibility/2006">
              <mc:Choice xmlns:v="urn:schemas-microsoft-com:vml" Requires="v">
                <p:oleObj spid="_x0000_s109825" name="Visio" r:id="rId9" imgW="6124418" imgH="4092733" progId="Visio.Drawing.11">
                  <p:embed/>
                </p:oleObj>
              </mc:Choice>
              <mc:Fallback>
                <p:oleObj name="Visio" r:id="rId9" imgW="6124418" imgH="4092733" progId="Visio.Drawing.11">
                  <p:embed/>
                  <p:pic>
                    <p:nvPicPr>
                      <p:cNvPr id="0" name=""/>
                      <p:cNvPicPr>
                        <a:picLocks noChangeAspect="1" noChangeArrowheads="1"/>
                      </p:cNvPicPr>
                      <p:nvPr/>
                    </p:nvPicPr>
                    <p:blipFill>
                      <a:blip r:embed="rId10"/>
                      <a:srcRect/>
                      <a:stretch>
                        <a:fillRect/>
                      </a:stretch>
                    </p:blipFill>
                    <p:spPr bwMode="auto">
                      <a:xfrm>
                        <a:off x="2843808" y="1700808"/>
                        <a:ext cx="3447029" cy="2304256"/>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789943006"/>
              </p:ext>
            </p:extLst>
          </p:nvPr>
        </p:nvGraphicFramePr>
        <p:xfrm>
          <a:off x="5696972" y="1670781"/>
          <a:ext cx="3447028" cy="2304256"/>
        </p:xfrm>
        <a:graphic>
          <a:graphicData uri="http://schemas.openxmlformats.org/presentationml/2006/ole">
            <mc:AlternateContent xmlns:mc="http://schemas.openxmlformats.org/markup-compatibility/2006">
              <mc:Choice xmlns:v="urn:schemas-microsoft-com:vml" Requires="v">
                <p:oleObj spid="_x0000_s109826" name="Visio" r:id="rId11" imgW="6124418" imgH="4092733" progId="Visio.Drawing.11">
                  <p:embed/>
                </p:oleObj>
              </mc:Choice>
              <mc:Fallback>
                <p:oleObj name="Visio" r:id="rId11" imgW="6124418" imgH="4092733" progId="Visio.Drawing.11">
                  <p:embed/>
                  <p:pic>
                    <p:nvPicPr>
                      <p:cNvPr id="0" name=""/>
                      <p:cNvPicPr>
                        <a:picLocks noChangeAspect="1" noChangeArrowheads="1"/>
                      </p:cNvPicPr>
                      <p:nvPr/>
                    </p:nvPicPr>
                    <p:blipFill>
                      <a:blip r:embed="rId12"/>
                      <a:srcRect/>
                      <a:stretch>
                        <a:fillRect/>
                      </a:stretch>
                    </p:blipFill>
                    <p:spPr bwMode="auto">
                      <a:xfrm>
                        <a:off x="5696972" y="1670781"/>
                        <a:ext cx="3447028" cy="2304256"/>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791683215"/>
              </p:ext>
            </p:extLst>
          </p:nvPr>
        </p:nvGraphicFramePr>
        <p:xfrm>
          <a:off x="3635896" y="4293096"/>
          <a:ext cx="1747837" cy="585787"/>
        </p:xfrm>
        <a:graphic>
          <a:graphicData uri="http://schemas.openxmlformats.org/presentationml/2006/ole">
            <mc:AlternateContent xmlns:mc="http://schemas.openxmlformats.org/markup-compatibility/2006">
              <mc:Choice xmlns:v="urn:schemas-microsoft-com:vml" Requires="v">
                <p:oleObj spid="_x0000_s109827" name="Equation" r:id="rId13" imgW="634680" imgH="241200" progId="Equation.DSMT4">
                  <p:embed/>
                </p:oleObj>
              </mc:Choice>
              <mc:Fallback>
                <p:oleObj name="Equation" r:id="rId13" imgW="634680" imgH="24120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35896" y="4293096"/>
                        <a:ext cx="1747837"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4158470296"/>
              </p:ext>
            </p:extLst>
          </p:nvPr>
        </p:nvGraphicFramePr>
        <p:xfrm>
          <a:off x="3635896" y="5373216"/>
          <a:ext cx="655638" cy="357187"/>
        </p:xfrm>
        <a:graphic>
          <a:graphicData uri="http://schemas.openxmlformats.org/presentationml/2006/ole">
            <mc:AlternateContent xmlns:mc="http://schemas.openxmlformats.org/markup-compatibility/2006">
              <mc:Choice xmlns:v="urn:schemas-microsoft-com:vml" Requires="v">
                <p:oleObj spid="_x0000_s109828" name="Equation" r:id="rId15" imgW="266400" imgH="164880" progId="Equation.DSMT4">
                  <p:embed/>
                </p:oleObj>
              </mc:Choice>
              <mc:Fallback>
                <p:oleObj name="Equation" r:id="rId15" imgW="266400" imgH="164880" progId="Equation.DSMT4">
                  <p:embed/>
                  <p:pic>
                    <p:nvPicPr>
                      <p:cNvPr id="0" name=""/>
                      <p:cNvPicPr>
                        <a:picLocks noChangeAspect="1" noChangeArrowheads="1"/>
                      </p:cNvPicPr>
                      <p:nvPr/>
                    </p:nvPicPr>
                    <p:blipFill>
                      <a:blip r:embed="rId16"/>
                      <a:srcRect/>
                      <a:stretch>
                        <a:fillRect/>
                      </a:stretch>
                    </p:blipFill>
                    <p:spPr bwMode="auto">
                      <a:xfrm>
                        <a:off x="3635896" y="5373216"/>
                        <a:ext cx="655638" cy="357187"/>
                      </a:xfrm>
                      <a:prstGeom prst="rect">
                        <a:avLst/>
                      </a:prstGeom>
                      <a:noFill/>
                      <a:ln>
                        <a:noFill/>
                      </a:ln>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883601187"/>
              </p:ext>
            </p:extLst>
          </p:nvPr>
        </p:nvGraphicFramePr>
        <p:xfrm>
          <a:off x="6516216" y="4281785"/>
          <a:ext cx="1747838" cy="587375"/>
        </p:xfrm>
        <a:graphic>
          <a:graphicData uri="http://schemas.openxmlformats.org/presentationml/2006/ole">
            <mc:AlternateContent xmlns:mc="http://schemas.openxmlformats.org/markup-compatibility/2006">
              <mc:Choice xmlns:v="urn:schemas-microsoft-com:vml" Requires="v">
                <p:oleObj spid="_x0000_s109829" name="Equation" r:id="rId17" imgW="634680" imgH="241200" progId="Equation.DSMT4">
                  <p:embed/>
                </p:oleObj>
              </mc:Choice>
              <mc:Fallback>
                <p:oleObj name="Equation" r:id="rId17" imgW="634680" imgH="241200" progId="Equation.DSMT4">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516216" y="4281785"/>
                        <a:ext cx="1747838"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017272362"/>
              </p:ext>
            </p:extLst>
          </p:nvPr>
        </p:nvGraphicFramePr>
        <p:xfrm>
          <a:off x="6539384" y="5425852"/>
          <a:ext cx="696912" cy="379412"/>
        </p:xfrm>
        <a:graphic>
          <a:graphicData uri="http://schemas.openxmlformats.org/presentationml/2006/ole">
            <mc:AlternateContent xmlns:mc="http://schemas.openxmlformats.org/markup-compatibility/2006">
              <mc:Choice xmlns:v="urn:schemas-microsoft-com:vml" Requires="v">
                <p:oleObj spid="_x0000_s109830" name="Equation" r:id="rId19" imgW="266400" imgH="164880" progId="Equation.DSMT4">
                  <p:embed/>
                </p:oleObj>
              </mc:Choice>
              <mc:Fallback>
                <p:oleObj name="Equation" r:id="rId19" imgW="266400" imgH="164880" progId="Equation.DSMT4">
                  <p:embed/>
                  <p:pic>
                    <p:nvPicPr>
                      <p:cNvPr id="0" name=""/>
                      <p:cNvPicPr>
                        <a:picLocks noChangeAspect="1" noChangeArrowheads="1"/>
                      </p:cNvPicPr>
                      <p:nvPr/>
                    </p:nvPicPr>
                    <p:blipFill>
                      <a:blip r:embed="rId20"/>
                      <a:srcRect/>
                      <a:stretch>
                        <a:fillRect/>
                      </a:stretch>
                    </p:blipFill>
                    <p:spPr bwMode="auto">
                      <a:xfrm>
                        <a:off x="6539384" y="5425852"/>
                        <a:ext cx="696912" cy="379412"/>
                      </a:xfrm>
                      <a:prstGeom prst="rect">
                        <a:avLst/>
                      </a:prstGeom>
                      <a:noFill/>
                      <a:ln>
                        <a:noFill/>
                      </a:ln>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032832458"/>
              </p:ext>
            </p:extLst>
          </p:nvPr>
        </p:nvGraphicFramePr>
        <p:xfrm>
          <a:off x="1760315" y="5033863"/>
          <a:ext cx="579437" cy="987425"/>
        </p:xfrm>
        <a:graphic>
          <a:graphicData uri="http://schemas.openxmlformats.org/presentationml/2006/ole">
            <mc:AlternateContent xmlns:mc="http://schemas.openxmlformats.org/markup-compatibility/2006">
              <mc:Choice xmlns:v="urn:schemas-microsoft-com:vml" Requires="v">
                <p:oleObj spid="_x0000_s109831" name="Equation" r:id="rId21" imgW="253800" imgH="431640" progId="Equation.DSMT4">
                  <p:embed/>
                </p:oleObj>
              </mc:Choice>
              <mc:Fallback>
                <p:oleObj name="Equation" r:id="rId21" imgW="253800" imgH="431640" progId="Equation.DSMT4">
                  <p:embed/>
                  <p:pic>
                    <p:nvPicPr>
                      <p:cNvPr id="0" name=""/>
                      <p:cNvPicPr>
                        <a:picLocks noChangeAspect="1" noChangeArrowheads="1"/>
                      </p:cNvPicPr>
                      <p:nvPr/>
                    </p:nvPicPr>
                    <p:blipFill>
                      <a:blip r:embed="rId22"/>
                      <a:srcRect/>
                      <a:stretch>
                        <a:fillRect/>
                      </a:stretch>
                    </p:blipFill>
                    <p:spPr bwMode="auto">
                      <a:xfrm>
                        <a:off x="1760315" y="5033863"/>
                        <a:ext cx="579437" cy="98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226813752"/>
              </p:ext>
            </p:extLst>
          </p:nvPr>
        </p:nvGraphicFramePr>
        <p:xfrm>
          <a:off x="4219526" y="5085184"/>
          <a:ext cx="1341438" cy="936625"/>
        </p:xfrm>
        <a:graphic>
          <a:graphicData uri="http://schemas.openxmlformats.org/presentationml/2006/ole">
            <mc:AlternateContent xmlns:mc="http://schemas.openxmlformats.org/markup-compatibility/2006">
              <mc:Choice xmlns:v="urn:schemas-microsoft-com:vml" Requires="v">
                <p:oleObj spid="_x0000_s109832" name="Equation" r:id="rId23" imgW="545760" imgH="431640" progId="Equation.DSMT4">
                  <p:embed/>
                </p:oleObj>
              </mc:Choice>
              <mc:Fallback>
                <p:oleObj name="Equation" r:id="rId23" imgW="545760" imgH="431640" progId="Equation.DSMT4">
                  <p:embed/>
                  <p:pic>
                    <p:nvPicPr>
                      <p:cNvPr id="0" name=""/>
                      <p:cNvPicPr>
                        <a:picLocks noChangeAspect="1" noChangeArrowheads="1"/>
                      </p:cNvPicPr>
                      <p:nvPr/>
                    </p:nvPicPr>
                    <p:blipFill>
                      <a:blip r:embed="rId24"/>
                      <a:srcRect/>
                      <a:stretch>
                        <a:fillRect/>
                      </a:stretch>
                    </p:blipFill>
                    <p:spPr bwMode="auto">
                      <a:xfrm>
                        <a:off x="4219526" y="5085184"/>
                        <a:ext cx="1341438"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930031598"/>
              </p:ext>
            </p:extLst>
          </p:nvPr>
        </p:nvGraphicFramePr>
        <p:xfrm>
          <a:off x="7164288" y="5085184"/>
          <a:ext cx="1328738" cy="995362"/>
        </p:xfrm>
        <a:graphic>
          <a:graphicData uri="http://schemas.openxmlformats.org/presentationml/2006/ole">
            <mc:AlternateContent xmlns:mc="http://schemas.openxmlformats.org/markup-compatibility/2006">
              <mc:Choice xmlns:v="urn:schemas-microsoft-com:vml" Requires="v">
                <p:oleObj spid="_x0000_s109833" name="Equation" r:id="rId25" imgW="507960" imgH="431640" progId="Equation.DSMT4">
                  <p:embed/>
                </p:oleObj>
              </mc:Choice>
              <mc:Fallback>
                <p:oleObj name="Equation" r:id="rId25" imgW="507960" imgH="431640" progId="Equation.DSMT4">
                  <p:embed/>
                  <p:pic>
                    <p:nvPicPr>
                      <p:cNvPr id="0" name=""/>
                      <p:cNvPicPr>
                        <a:picLocks noChangeAspect="1" noChangeArrowheads="1"/>
                      </p:cNvPicPr>
                      <p:nvPr/>
                    </p:nvPicPr>
                    <p:blipFill>
                      <a:blip r:embed="rId26"/>
                      <a:srcRect/>
                      <a:stretch>
                        <a:fillRect/>
                      </a:stretch>
                    </p:blipFill>
                    <p:spPr bwMode="auto">
                      <a:xfrm>
                        <a:off x="7164288" y="5085184"/>
                        <a:ext cx="1328738" cy="99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32395665"/>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21</a:t>
            </a:fld>
            <a:endParaRPr lang="en-US" altLang="zh-CN" dirty="0">
              <a:solidFill>
                <a:srgbClr val="000000"/>
              </a:solidFill>
            </a:endParaRPr>
          </a:p>
        </p:txBody>
      </p:sp>
      <p:sp>
        <p:nvSpPr>
          <p:cNvPr id="21" name="内容占位符 20"/>
          <p:cNvSpPr>
            <a:spLocks noGrp="1"/>
          </p:cNvSpPr>
          <p:nvPr>
            <p:ph idx="1"/>
          </p:nvPr>
        </p:nvSpPr>
        <p:spPr>
          <a:xfrm>
            <a:off x="395536" y="260648"/>
            <a:ext cx="5976664" cy="648072"/>
          </a:xfrm>
          <a:solidFill>
            <a:srgbClr val="862714"/>
          </a:solidFill>
        </p:spPr>
        <p:txBody>
          <a:bodyPr/>
          <a:lstStyle/>
          <a:p>
            <a:pPr>
              <a:buClr>
                <a:schemeClr val="bg1"/>
              </a:buClr>
              <a:buFont typeface="Wingdings" panose="05000000000000000000" pitchFamily="2" charset="2"/>
              <a:buChar char="l"/>
            </a:pPr>
            <a:r>
              <a:rPr lang="en-US" altLang="zh-CN" sz="3200" dirty="0">
                <a:solidFill>
                  <a:schemeClr val="bg1"/>
                </a:solidFill>
                <a:latin typeface="Garamond"/>
                <a:ea typeface="华文行楷"/>
                <a:cs typeface="+mj-cs"/>
              </a:rPr>
              <a:t>2.4.1 </a:t>
            </a:r>
            <a:r>
              <a:rPr lang="zh-CN" altLang="en-US" dirty="0" smtClean="0">
                <a:solidFill>
                  <a:schemeClr val="bg1"/>
                </a:solidFill>
                <a:latin typeface="Garamond"/>
                <a:ea typeface="华文行楷"/>
                <a:cs typeface="+mj-cs"/>
              </a:rPr>
              <a:t>高频小信号选频放大电路</a:t>
            </a:r>
            <a:endParaRPr lang="zh-CN" altLang="en-US" sz="3200" dirty="0"/>
          </a:p>
        </p:txBody>
      </p:sp>
      <p:sp>
        <p:nvSpPr>
          <p:cNvPr id="2" name="TextBox 1"/>
          <p:cNvSpPr txBox="1"/>
          <p:nvPr/>
        </p:nvSpPr>
        <p:spPr>
          <a:xfrm>
            <a:off x="467544" y="1535881"/>
            <a:ext cx="8280920" cy="3693319"/>
          </a:xfrm>
          <a:prstGeom prst="rect">
            <a:avLst/>
          </a:prstGeom>
          <a:noFill/>
        </p:spPr>
        <p:txBody>
          <a:bodyPr wrap="square" rtlCol="0">
            <a:spAutoFit/>
          </a:bodyPr>
          <a:lstStyle/>
          <a:p>
            <a:pPr marL="342900" indent="-342900">
              <a:lnSpc>
                <a:spcPct val="150000"/>
              </a:lnSpc>
              <a:buSzPct val="65000"/>
              <a:buFont typeface="Wingdings" panose="05000000000000000000" pitchFamily="2" charset="2"/>
              <a:buChar char="l"/>
            </a:pPr>
            <a:r>
              <a:rPr lang="zh-CN" altLang="en-US" sz="2400" b="1" dirty="0">
                <a:solidFill>
                  <a:srgbClr val="FF0000"/>
                </a:solidFill>
              </a:rPr>
              <a:t>放大电路的本质：</a:t>
            </a:r>
            <a:r>
              <a:rPr lang="zh-CN" altLang="en-US" sz="2000" b="1" dirty="0">
                <a:solidFill>
                  <a:srgbClr val="0070C0"/>
                </a:solidFill>
              </a:rPr>
              <a:t>能量的控制和转化；</a:t>
            </a:r>
            <a:endParaRPr lang="en-US" altLang="zh-CN" sz="2000" b="1" dirty="0">
              <a:solidFill>
                <a:srgbClr val="0070C0"/>
              </a:solidFill>
            </a:endParaRPr>
          </a:p>
          <a:p>
            <a:pPr marL="342900" indent="-342900">
              <a:lnSpc>
                <a:spcPct val="150000"/>
              </a:lnSpc>
              <a:buSzPct val="65000"/>
              <a:buFont typeface="Wingdings" panose="05000000000000000000" pitchFamily="2" charset="2"/>
              <a:buChar char="l"/>
            </a:pPr>
            <a:r>
              <a:rPr lang="zh-CN" altLang="en-US" sz="2000" b="1" dirty="0">
                <a:solidFill>
                  <a:srgbClr val="0070C0"/>
                </a:solidFill>
              </a:rPr>
              <a:t>    将直流电源的能量转换成负载所获得的交流能量，使负载输出的交流能量大于（交流）信号源所提供的能量。</a:t>
            </a:r>
            <a:endParaRPr lang="en-US" altLang="zh-CN" sz="2000" b="1" dirty="0">
              <a:solidFill>
                <a:srgbClr val="0070C0"/>
              </a:solidFill>
            </a:endParaRPr>
          </a:p>
          <a:p>
            <a:pPr marL="342900" indent="-342900">
              <a:lnSpc>
                <a:spcPct val="150000"/>
              </a:lnSpc>
              <a:buSzPct val="65000"/>
              <a:buFont typeface="Wingdings" panose="05000000000000000000" pitchFamily="2" charset="2"/>
              <a:buChar char="l"/>
            </a:pPr>
            <a:r>
              <a:rPr lang="zh-CN" altLang="en-US" sz="2400" b="1" dirty="0">
                <a:solidFill>
                  <a:srgbClr val="FF0000"/>
                </a:solidFill>
              </a:rPr>
              <a:t>放大电路的基本特征：</a:t>
            </a:r>
            <a:r>
              <a:rPr lang="zh-CN" altLang="en-US" sz="2000" b="1" dirty="0">
                <a:solidFill>
                  <a:srgbClr val="0070C0"/>
                </a:solidFill>
              </a:rPr>
              <a:t>功率放大</a:t>
            </a:r>
            <a:endParaRPr lang="en-US" altLang="zh-CN" sz="2000" b="1" dirty="0">
              <a:solidFill>
                <a:srgbClr val="0070C0"/>
              </a:solidFill>
            </a:endParaRPr>
          </a:p>
          <a:p>
            <a:pPr marL="342900" indent="-342900">
              <a:lnSpc>
                <a:spcPct val="150000"/>
              </a:lnSpc>
              <a:buSzPct val="65000"/>
              <a:buFont typeface="Wingdings" panose="05000000000000000000" pitchFamily="2" charset="2"/>
              <a:buChar char="l"/>
            </a:pPr>
            <a:r>
              <a:rPr lang="en-US" altLang="zh-CN" sz="2000" b="1" dirty="0">
                <a:solidFill>
                  <a:srgbClr val="0070C0"/>
                </a:solidFill>
              </a:rPr>
              <a:t>    </a:t>
            </a:r>
            <a:r>
              <a:rPr lang="zh-CN" altLang="en-US" sz="2000" b="1" dirty="0">
                <a:solidFill>
                  <a:srgbClr val="0070C0"/>
                </a:solidFill>
              </a:rPr>
              <a:t>负载上总是获得比输入信号大得多的电压或者电流，或兼而有之</a:t>
            </a:r>
            <a:endParaRPr lang="en-US" altLang="zh-CN" sz="2000" b="1" dirty="0">
              <a:solidFill>
                <a:srgbClr val="0070C0"/>
              </a:solidFill>
            </a:endParaRPr>
          </a:p>
          <a:p>
            <a:pPr marL="342900" indent="-342900">
              <a:lnSpc>
                <a:spcPct val="150000"/>
              </a:lnSpc>
              <a:buSzPct val="65000"/>
              <a:buFont typeface="Wingdings" panose="05000000000000000000" pitchFamily="2" charset="2"/>
              <a:buChar char="l"/>
            </a:pPr>
            <a:r>
              <a:rPr lang="zh-CN" altLang="en-US" sz="2400" b="1" dirty="0">
                <a:solidFill>
                  <a:srgbClr val="FF0000"/>
                </a:solidFill>
              </a:rPr>
              <a:t>有源元件：</a:t>
            </a:r>
            <a:r>
              <a:rPr lang="zh-CN" altLang="en-US" sz="2000" b="1" dirty="0">
                <a:solidFill>
                  <a:srgbClr val="0070C0"/>
                </a:solidFill>
              </a:rPr>
              <a:t>能够控制能量的元件，如晶体管、场效应管</a:t>
            </a:r>
            <a:endParaRPr lang="en-US" altLang="zh-CN" sz="2000" b="1" dirty="0">
              <a:solidFill>
                <a:srgbClr val="0070C0"/>
              </a:solidFill>
            </a:endParaRPr>
          </a:p>
          <a:p>
            <a:pPr marL="342900" indent="-342900">
              <a:lnSpc>
                <a:spcPct val="150000"/>
              </a:lnSpc>
              <a:buSzPct val="65000"/>
              <a:buFont typeface="Wingdings" panose="05000000000000000000" pitchFamily="2" charset="2"/>
              <a:buChar char="l"/>
            </a:pPr>
            <a:r>
              <a:rPr lang="zh-CN" altLang="en-US" sz="2400" b="1" dirty="0">
                <a:solidFill>
                  <a:srgbClr val="FF0000"/>
                </a:solidFill>
              </a:rPr>
              <a:t>放大的前提：</a:t>
            </a:r>
            <a:r>
              <a:rPr lang="zh-CN" altLang="en-US" sz="2000" b="1" dirty="0">
                <a:solidFill>
                  <a:srgbClr val="0070C0"/>
                </a:solidFill>
              </a:rPr>
              <a:t>不失真。</a:t>
            </a:r>
            <a:endParaRPr lang="en-US" altLang="zh-CN" sz="2000" b="1" dirty="0">
              <a:solidFill>
                <a:srgbClr val="0070C0"/>
              </a:solidFill>
            </a:endParaRPr>
          </a:p>
        </p:txBody>
      </p:sp>
    </p:spTree>
    <p:extLst>
      <p:ext uri="{BB962C8B-B14F-4D97-AF65-F5344CB8AC3E}">
        <p14:creationId xmlns:p14="http://schemas.microsoft.com/office/powerpoint/2010/main" val="847976519"/>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22</a:t>
            </a:fld>
            <a:endParaRPr lang="en-US" altLang="zh-CN" dirty="0">
              <a:solidFill>
                <a:srgbClr val="000000"/>
              </a:solidFill>
            </a:endParaRPr>
          </a:p>
        </p:txBody>
      </p:sp>
      <p:sp>
        <p:nvSpPr>
          <p:cNvPr id="21" name="内容占位符 20"/>
          <p:cNvSpPr>
            <a:spLocks noGrp="1"/>
          </p:cNvSpPr>
          <p:nvPr>
            <p:ph idx="1"/>
          </p:nvPr>
        </p:nvSpPr>
        <p:spPr>
          <a:xfrm>
            <a:off x="395536" y="260648"/>
            <a:ext cx="2664296" cy="648072"/>
          </a:xfrm>
          <a:solidFill>
            <a:srgbClr val="862714"/>
          </a:solidFill>
        </p:spPr>
        <p:txBody>
          <a:bodyPr/>
          <a:lstStyle/>
          <a:p>
            <a:pPr>
              <a:buClr>
                <a:schemeClr val="bg1"/>
              </a:buClr>
              <a:buFont typeface="Wingdings" panose="05000000000000000000" pitchFamily="2" charset="2"/>
              <a:buChar char="l"/>
            </a:pPr>
            <a:r>
              <a:rPr lang="en-US" altLang="zh-CN" sz="3200" dirty="0">
                <a:solidFill>
                  <a:schemeClr val="bg1"/>
                </a:solidFill>
                <a:latin typeface="Garamond"/>
                <a:ea typeface="华文行楷"/>
                <a:cs typeface="+mj-cs"/>
              </a:rPr>
              <a:t>2.4.1 </a:t>
            </a:r>
            <a:r>
              <a:rPr lang="zh-CN" altLang="en-US" sz="3200" dirty="0">
                <a:solidFill>
                  <a:schemeClr val="bg1"/>
                </a:solidFill>
                <a:latin typeface="Garamond"/>
                <a:ea typeface="华文行楷"/>
                <a:cs typeface="+mj-cs"/>
              </a:rPr>
              <a:t>概述</a:t>
            </a:r>
            <a:endParaRPr lang="zh-CN" altLang="en-US" sz="3200" dirty="0"/>
          </a:p>
        </p:txBody>
      </p:sp>
      <p:sp>
        <p:nvSpPr>
          <p:cNvPr id="15" name="Rectangle 3"/>
          <p:cNvSpPr>
            <a:spLocks noChangeArrowheads="1"/>
          </p:cNvSpPr>
          <p:nvPr/>
        </p:nvSpPr>
        <p:spPr bwMode="auto">
          <a:xfrm>
            <a:off x="467544" y="908720"/>
            <a:ext cx="4205869" cy="400110"/>
          </a:xfrm>
          <a:prstGeom prst="rect">
            <a:avLst/>
          </a:prstGeom>
          <a:noFill/>
          <a:ln w="9525">
            <a:noFill/>
            <a:miter lim="800000"/>
            <a:headEnd/>
            <a:tailEnd/>
          </a:ln>
        </p:spPr>
        <p:txBody>
          <a:bodyPr wrap="square">
            <a:spAutoFit/>
          </a:bodyPr>
          <a:lstStyle/>
          <a:p>
            <a:pPr algn="l">
              <a:spcBef>
                <a:spcPct val="0"/>
              </a:spcBef>
              <a:buClrTx/>
              <a:buSzTx/>
              <a:buFont typeface="Wingdings" pitchFamily="2" charset="2"/>
              <a:buNone/>
              <a:defRPr/>
            </a:pPr>
            <a:r>
              <a:rPr lang="en-US" sz="2000" b="1" dirty="0">
                <a:solidFill>
                  <a:srgbClr val="0066FF"/>
                </a:solidFill>
                <a:ea typeface="黑体" pitchFamily="49" charset="-122"/>
              </a:rPr>
              <a:t>1.</a:t>
            </a:r>
            <a:r>
              <a:rPr lang="zh-CN" altLang="en-US" sz="2000" b="1" dirty="0">
                <a:solidFill>
                  <a:srgbClr val="0066FF"/>
                </a:solidFill>
                <a:ea typeface="黑体" pitchFamily="49" charset="-122"/>
              </a:rPr>
              <a:t>高频小信号放大器</a:t>
            </a:r>
            <a:endParaRPr lang="zh-CN" altLang="en-US" sz="2000" b="1" dirty="0">
              <a:solidFill>
                <a:srgbClr val="FF0000"/>
              </a:solidFill>
              <a:ea typeface="黑体" pitchFamily="49" charset="-122"/>
            </a:endParaRPr>
          </a:p>
        </p:txBody>
      </p:sp>
      <p:sp>
        <p:nvSpPr>
          <p:cNvPr id="2" name="TextBox 1"/>
          <p:cNvSpPr txBox="1"/>
          <p:nvPr/>
        </p:nvSpPr>
        <p:spPr>
          <a:xfrm>
            <a:off x="467544" y="1456323"/>
            <a:ext cx="8136904" cy="5078313"/>
          </a:xfrm>
          <a:prstGeom prst="rect">
            <a:avLst/>
          </a:prstGeom>
          <a:noFill/>
        </p:spPr>
        <p:txBody>
          <a:bodyPr wrap="square" rtlCol="0">
            <a:spAutoFit/>
          </a:bodyPr>
          <a:lstStyle/>
          <a:p>
            <a:pPr marL="342900" indent="-342900">
              <a:lnSpc>
                <a:spcPct val="150000"/>
              </a:lnSpc>
              <a:buSzPct val="65000"/>
              <a:buFont typeface="Wingdings" panose="05000000000000000000" pitchFamily="2" charset="2"/>
              <a:buChar char="l"/>
            </a:pPr>
            <a:r>
              <a:rPr lang="zh-CN" altLang="en-US" sz="2400" b="1" dirty="0">
                <a:solidFill>
                  <a:srgbClr val="0070C0"/>
                </a:solidFill>
              </a:rPr>
              <a:t>功能：</a:t>
            </a:r>
            <a:r>
              <a:rPr lang="zh-CN" altLang="en-US" sz="2400" dirty="0"/>
              <a:t>放大、选频；</a:t>
            </a:r>
            <a:endParaRPr lang="en-US" altLang="zh-CN" sz="2400" dirty="0"/>
          </a:p>
          <a:p>
            <a:pPr marL="342900" indent="-342900">
              <a:lnSpc>
                <a:spcPct val="150000"/>
              </a:lnSpc>
              <a:buSzPct val="65000"/>
              <a:buFont typeface="Wingdings" panose="05000000000000000000" pitchFamily="2" charset="2"/>
              <a:buChar char="l"/>
            </a:pPr>
            <a:r>
              <a:rPr lang="zh-CN" altLang="en-US" sz="2400" b="1" dirty="0">
                <a:solidFill>
                  <a:srgbClr val="0070C0"/>
                </a:solidFill>
              </a:rPr>
              <a:t>中心频率：</a:t>
            </a:r>
            <a:r>
              <a:rPr lang="zh-CN" altLang="en-US" sz="2400" dirty="0"/>
              <a:t>几百千赫兹</a:t>
            </a:r>
            <a:r>
              <a:rPr lang="en-US" altLang="zh-CN" sz="2400" dirty="0"/>
              <a:t>~</a:t>
            </a:r>
            <a:r>
              <a:rPr lang="zh-CN" altLang="en-US" sz="2400" dirty="0"/>
              <a:t>几百兆赫兹；</a:t>
            </a:r>
            <a:endParaRPr lang="en-US" altLang="zh-CN" sz="2400" dirty="0"/>
          </a:p>
          <a:p>
            <a:pPr marL="342900" indent="-342900">
              <a:lnSpc>
                <a:spcPct val="150000"/>
              </a:lnSpc>
              <a:buSzPct val="65000"/>
              <a:buFont typeface="Wingdings" panose="05000000000000000000" pitchFamily="2" charset="2"/>
              <a:buChar char="l"/>
            </a:pPr>
            <a:r>
              <a:rPr lang="zh-CN" altLang="en-US" sz="2400" b="1" dirty="0">
                <a:solidFill>
                  <a:srgbClr val="0070C0"/>
                </a:solidFill>
              </a:rPr>
              <a:t>频带宽度：</a:t>
            </a:r>
            <a:r>
              <a:rPr lang="zh-CN" altLang="en-US" sz="2400" dirty="0"/>
              <a:t>几千赫兹</a:t>
            </a:r>
            <a:r>
              <a:rPr lang="en-US" altLang="zh-CN" sz="2400" dirty="0"/>
              <a:t>~</a:t>
            </a:r>
            <a:r>
              <a:rPr lang="zh-CN" altLang="en-US" sz="2400" dirty="0"/>
              <a:t>几十兆赫兹；</a:t>
            </a:r>
            <a:endParaRPr lang="en-US" altLang="zh-CN" sz="2400" dirty="0"/>
          </a:p>
          <a:p>
            <a:pPr marL="342900" indent="-342900">
              <a:lnSpc>
                <a:spcPct val="150000"/>
              </a:lnSpc>
              <a:buSzPct val="65000"/>
              <a:buFont typeface="Wingdings" panose="05000000000000000000" pitchFamily="2" charset="2"/>
              <a:buChar char="l"/>
            </a:pPr>
            <a:r>
              <a:rPr lang="zh-CN" altLang="en-US" sz="2400" b="1" dirty="0">
                <a:solidFill>
                  <a:srgbClr val="0070C0"/>
                </a:solidFill>
              </a:rPr>
              <a:t>组成：</a:t>
            </a:r>
            <a:r>
              <a:rPr lang="zh-CN" altLang="en-US" sz="2400" b="1" dirty="0">
                <a:solidFill>
                  <a:srgbClr val="FF0000"/>
                </a:solidFill>
              </a:rPr>
              <a:t>小信号放大器   </a:t>
            </a:r>
            <a:r>
              <a:rPr lang="en-US" altLang="zh-CN" sz="2400" b="1" dirty="0">
                <a:solidFill>
                  <a:srgbClr val="FF0000"/>
                </a:solidFill>
              </a:rPr>
              <a:t>+   </a:t>
            </a:r>
            <a:r>
              <a:rPr lang="zh-CN" altLang="en-US" sz="2400" b="1" dirty="0">
                <a:solidFill>
                  <a:srgbClr val="FF0000"/>
                </a:solidFill>
              </a:rPr>
              <a:t>选频回路</a:t>
            </a:r>
            <a:endParaRPr lang="en-US" altLang="zh-CN" sz="2400" b="1" dirty="0">
              <a:solidFill>
                <a:srgbClr val="FF0000"/>
              </a:solidFill>
            </a:endParaRPr>
          </a:p>
          <a:p>
            <a:pPr marL="342900" indent="-342900">
              <a:lnSpc>
                <a:spcPct val="150000"/>
              </a:lnSpc>
              <a:buSzPct val="65000"/>
              <a:buFont typeface="Wingdings" panose="05000000000000000000" pitchFamily="2" charset="2"/>
              <a:buChar char="l"/>
            </a:pPr>
            <a:r>
              <a:rPr lang="zh-CN" altLang="en-US" sz="2400" dirty="0"/>
              <a:t>通常以各种选频电路作为负载，由于信号较小，工作在</a:t>
            </a:r>
            <a:r>
              <a:rPr lang="zh-CN" altLang="en-US" sz="2400" dirty="0">
                <a:solidFill>
                  <a:srgbClr val="FF0000"/>
                </a:solidFill>
              </a:rPr>
              <a:t>线性范围</a:t>
            </a:r>
            <a:r>
              <a:rPr lang="zh-CN" altLang="en-US" sz="2400" dirty="0"/>
              <a:t>内。</a:t>
            </a:r>
            <a:endParaRPr lang="en-US" altLang="zh-CN" sz="2400" dirty="0"/>
          </a:p>
          <a:p>
            <a:pPr marL="342900" indent="-342900">
              <a:lnSpc>
                <a:spcPct val="150000"/>
              </a:lnSpc>
              <a:buSzPct val="65000"/>
              <a:buFont typeface="Wingdings" panose="05000000000000000000" pitchFamily="2" charset="2"/>
              <a:buChar char="l"/>
            </a:pPr>
            <a:r>
              <a:rPr lang="zh-CN" altLang="en-US" sz="2400" dirty="0"/>
              <a:t>静态工作点属于</a:t>
            </a:r>
            <a:r>
              <a:rPr lang="zh-CN" altLang="en-US" sz="2400" b="1" dirty="0">
                <a:solidFill>
                  <a:srgbClr val="FF0000"/>
                </a:solidFill>
              </a:rPr>
              <a:t>甲类</a:t>
            </a:r>
            <a:r>
              <a:rPr lang="zh-CN" altLang="en-US" sz="2400" dirty="0"/>
              <a:t>状态</a:t>
            </a:r>
            <a:endParaRPr lang="en-US" altLang="zh-CN" sz="2400" dirty="0"/>
          </a:p>
          <a:p>
            <a:pPr marL="342900" indent="-342900">
              <a:lnSpc>
                <a:spcPct val="150000"/>
              </a:lnSpc>
              <a:buSzPct val="65000"/>
              <a:buFont typeface="Wingdings" panose="05000000000000000000" pitchFamily="2" charset="2"/>
              <a:buChar char="l"/>
            </a:pPr>
            <a:r>
              <a:rPr lang="zh-CN" altLang="en-US" sz="2400" dirty="0"/>
              <a:t>输入输出频率相同，失真小。常采用</a:t>
            </a:r>
            <a:r>
              <a:rPr lang="zh-CN" altLang="en-US" sz="2400" b="1" dirty="0">
                <a:solidFill>
                  <a:srgbClr val="FF0000"/>
                </a:solidFill>
              </a:rPr>
              <a:t>线性模型的等效电路分析法</a:t>
            </a:r>
            <a:r>
              <a:rPr lang="zh-CN" altLang="en-US" sz="2400" dirty="0"/>
              <a:t>。</a:t>
            </a:r>
            <a:endParaRPr lang="en-US" altLang="zh-CN" sz="2400" dirty="0"/>
          </a:p>
        </p:txBody>
      </p:sp>
    </p:spTree>
    <p:extLst>
      <p:ext uri="{BB962C8B-B14F-4D97-AF65-F5344CB8AC3E}">
        <p14:creationId xmlns:p14="http://schemas.microsoft.com/office/powerpoint/2010/main" val="2060351261"/>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23</a:t>
            </a:fld>
            <a:endParaRPr lang="en-US" altLang="zh-CN" dirty="0">
              <a:solidFill>
                <a:srgbClr val="000000"/>
              </a:solidFill>
            </a:endParaRPr>
          </a:p>
        </p:txBody>
      </p:sp>
      <p:sp>
        <p:nvSpPr>
          <p:cNvPr id="21" name="内容占位符 20"/>
          <p:cNvSpPr>
            <a:spLocks noGrp="1"/>
          </p:cNvSpPr>
          <p:nvPr>
            <p:ph idx="1"/>
          </p:nvPr>
        </p:nvSpPr>
        <p:spPr>
          <a:xfrm>
            <a:off x="395536" y="260648"/>
            <a:ext cx="5441441" cy="648072"/>
          </a:xfrm>
          <a:solidFill>
            <a:srgbClr val="862714"/>
          </a:solidFill>
        </p:spPr>
        <p:txBody>
          <a:bodyPr/>
          <a:lstStyle/>
          <a:p>
            <a:pPr>
              <a:buClr>
                <a:schemeClr val="bg1"/>
              </a:buClr>
              <a:buFont typeface="Wingdings" panose="05000000000000000000" pitchFamily="2" charset="2"/>
              <a:buChar char="l"/>
            </a:pPr>
            <a:r>
              <a:rPr lang="en-US" altLang="zh-CN" sz="3600" dirty="0">
                <a:solidFill>
                  <a:schemeClr val="bg1"/>
                </a:solidFill>
                <a:latin typeface="Garamond"/>
                <a:ea typeface="华文行楷"/>
                <a:cs typeface="+mj-cs"/>
              </a:rPr>
              <a:t>3.1 </a:t>
            </a:r>
            <a:r>
              <a:rPr lang="zh-CN" altLang="en-US" sz="3600" dirty="0">
                <a:solidFill>
                  <a:schemeClr val="bg1"/>
                </a:solidFill>
                <a:latin typeface="Garamond"/>
                <a:ea typeface="华文行楷"/>
                <a:cs typeface="+mj-cs"/>
              </a:rPr>
              <a:t>高频功率放大器概述</a:t>
            </a:r>
            <a:endParaRPr lang="zh-CN" altLang="en-US" sz="2800" dirty="0"/>
          </a:p>
        </p:txBody>
      </p:sp>
      <p:sp>
        <p:nvSpPr>
          <p:cNvPr id="6" name="Rectangle 3"/>
          <p:cNvSpPr txBox="1">
            <a:spLocks noChangeArrowheads="1"/>
          </p:cNvSpPr>
          <p:nvPr/>
        </p:nvSpPr>
        <p:spPr bwMode="auto">
          <a:xfrm>
            <a:off x="395536" y="1125538"/>
            <a:ext cx="8074025" cy="575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marL="288925" indent="-288925" eaLnBrk="1" hangingPunct="1">
              <a:lnSpc>
                <a:spcPct val="120000"/>
              </a:lnSpc>
              <a:spcBef>
                <a:spcPct val="0"/>
              </a:spcBef>
              <a:tabLst>
                <a:tab pos="1327150" algn="l"/>
              </a:tabLst>
              <a:defRPr/>
            </a:pPr>
            <a:r>
              <a:rPr lang="zh-CN" altLang="en-US" sz="2400" b="1" kern="0" dirty="0">
                <a:solidFill>
                  <a:srgbClr val="00589A"/>
                </a:solidFill>
              </a:rPr>
              <a:t>按静态工作点划分：</a:t>
            </a:r>
          </a:p>
        </p:txBody>
      </p:sp>
      <p:graphicFrame>
        <p:nvGraphicFramePr>
          <p:cNvPr id="12" name="表格 11"/>
          <p:cNvGraphicFramePr>
            <a:graphicFrameLocks noGrp="1"/>
          </p:cNvGraphicFramePr>
          <p:nvPr>
            <p:extLst>
              <p:ext uri="{D42A27DB-BD31-4B8C-83A1-F6EECF244321}">
                <p14:modId xmlns:p14="http://schemas.microsoft.com/office/powerpoint/2010/main" val="1448772781"/>
              </p:ext>
            </p:extLst>
          </p:nvPr>
        </p:nvGraphicFramePr>
        <p:xfrm>
          <a:off x="656965" y="1844824"/>
          <a:ext cx="7628284" cy="3600400"/>
        </p:xfrm>
        <a:graphic>
          <a:graphicData uri="http://schemas.openxmlformats.org/drawingml/2006/table">
            <a:tbl>
              <a:tblPr firstRow="1" bandRow="1">
                <a:tableStyleId>{5940675A-B579-460E-94D1-54222C63F5DA}</a:tableStyleId>
              </a:tblPr>
              <a:tblGrid>
                <a:gridCol w="2592288">
                  <a:extLst>
                    <a:ext uri="{9D8B030D-6E8A-4147-A177-3AD203B41FA5}">
                      <a16:colId xmlns:a16="http://schemas.microsoft.com/office/drawing/2014/main" xmlns="" val="20000"/>
                    </a:ext>
                  </a:extLst>
                </a:gridCol>
                <a:gridCol w="5035996">
                  <a:extLst>
                    <a:ext uri="{9D8B030D-6E8A-4147-A177-3AD203B41FA5}">
                      <a16:colId xmlns:a16="http://schemas.microsoft.com/office/drawing/2014/main" xmlns="" val="20001"/>
                    </a:ext>
                  </a:extLst>
                </a:gridCol>
              </a:tblGrid>
              <a:tr h="720080">
                <a:tc>
                  <a:txBody>
                    <a:bodyPr/>
                    <a:lstStyle/>
                    <a:p>
                      <a:pPr algn="ctr"/>
                      <a:r>
                        <a:rPr lang="zh-CN" altLang="en-US" sz="2000" dirty="0">
                          <a:latin typeface="Times New Roman" panose="02020603050405020304" pitchFamily="18" charset="0"/>
                          <a:cs typeface="Times New Roman" panose="02020603050405020304" pitchFamily="18" charset="0"/>
                        </a:rPr>
                        <a:t>甲类放大器</a:t>
                      </a:r>
                    </a:p>
                  </a:txBody>
                  <a:tcPr anchor="ctr"/>
                </a:tc>
                <a:tc>
                  <a:txBody>
                    <a:bodyPr/>
                    <a:lstStyle/>
                    <a:p>
                      <a:pPr algn="ctr"/>
                      <a:r>
                        <a:rPr lang="zh-CN" altLang="en-US" sz="2000" dirty="0" smtClean="0">
                          <a:latin typeface="Times New Roman" panose="02020603050405020304" pitchFamily="18" charset="0"/>
                          <a:cs typeface="Times New Roman" panose="02020603050405020304" pitchFamily="18" charset="0"/>
                        </a:rPr>
                        <a:t>小信号时线性</a:t>
                      </a:r>
                      <a:r>
                        <a:rPr lang="zh-CN" altLang="en-US" sz="2000" dirty="0">
                          <a:latin typeface="Times New Roman" panose="02020603050405020304" pitchFamily="18" charset="0"/>
                          <a:cs typeface="Times New Roman" panose="02020603050405020304" pitchFamily="18" charset="0"/>
                        </a:rPr>
                        <a:t>放大，输出、输入频率相同，失真小</a:t>
                      </a:r>
                      <a:r>
                        <a:rPr lang="zh-CN" altLang="en-US" sz="2000" dirty="0" smtClean="0">
                          <a:latin typeface="Times New Roman" panose="02020603050405020304" pitchFamily="18" charset="0"/>
                          <a:cs typeface="Times New Roman" panose="02020603050405020304" pitchFamily="18" charset="0"/>
                        </a:rPr>
                        <a:t>。</a:t>
                      </a:r>
                      <a:r>
                        <a:rPr lang="zh-CN" altLang="en-US" sz="2000" dirty="0" smtClean="0">
                          <a:solidFill>
                            <a:srgbClr val="FF0000"/>
                          </a:solidFill>
                          <a:latin typeface="Times New Roman" panose="02020603050405020304" pitchFamily="18" charset="0"/>
                          <a:cs typeface="Times New Roman" panose="02020603050405020304" pitchFamily="18" charset="0"/>
                        </a:rPr>
                        <a:t>（半）导</a:t>
                      </a:r>
                      <a:r>
                        <a:rPr lang="zh-CN" altLang="en-US" sz="2000" dirty="0">
                          <a:solidFill>
                            <a:srgbClr val="FF0000"/>
                          </a:solidFill>
                          <a:latin typeface="Times New Roman" panose="02020603050405020304" pitchFamily="18" charset="0"/>
                          <a:cs typeface="Times New Roman" panose="02020603050405020304" pitchFamily="18" charset="0"/>
                        </a:rPr>
                        <a:t>通角</a:t>
                      </a:r>
                      <a:r>
                        <a:rPr lang="en-US" altLang="zh-CN" sz="2000" dirty="0">
                          <a:latin typeface="Times New Roman" panose="02020603050405020304" pitchFamily="18" charset="0"/>
                          <a:cs typeface="Times New Roman" panose="02020603050405020304" pitchFamily="18" charset="0"/>
                        </a:rPr>
                        <a:t>180°</a:t>
                      </a:r>
                      <a:r>
                        <a:rPr lang="zh-CN" altLang="en-US" sz="2000" dirty="0">
                          <a:latin typeface="Times New Roman" panose="02020603050405020304" pitchFamily="18" charset="0"/>
                          <a:cs typeface="Times New Roman" panose="02020603050405020304" pitchFamily="18" charset="0"/>
                        </a:rPr>
                        <a:t>理想效率</a:t>
                      </a:r>
                      <a:r>
                        <a:rPr lang="en-US" altLang="zh-CN" sz="2000" dirty="0">
                          <a:solidFill>
                            <a:srgbClr val="FF0000"/>
                          </a:solidFill>
                          <a:latin typeface="Times New Roman" panose="02020603050405020304" pitchFamily="18" charset="0"/>
                          <a:cs typeface="Times New Roman" panose="02020603050405020304" pitchFamily="18" charset="0"/>
                        </a:rPr>
                        <a:t>50%</a:t>
                      </a:r>
                      <a:endParaRPr lang="zh-CN" altLang="en-US" sz="2000"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0"/>
                  </a:ext>
                </a:extLst>
              </a:tr>
              <a:tr h="792088">
                <a:tc>
                  <a:txBody>
                    <a:bodyPr/>
                    <a:lstStyle/>
                    <a:p>
                      <a:pPr algn="ctr"/>
                      <a:r>
                        <a:rPr lang="zh-CN" altLang="en-US" sz="2000" dirty="0">
                          <a:latin typeface="Times New Roman" panose="02020603050405020304" pitchFamily="18" charset="0"/>
                          <a:cs typeface="Times New Roman" panose="02020603050405020304" pitchFamily="18" charset="0"/>
                        </a:rPr>
                        <a:t>乙类放大器</a:t>
                      </a:r>
                    </a:p>
                  </a:txBody>
                  <a:tcPr anchor="ctr"/>
                </a:tc>
                <a:tc>
                  <a:txBody>
                    <a:bodyPr/>
                    <a:lstStyle/>
                    <a:p>
                      <a:pPr algn="ctr"/>
                      <a:r>
                        <a:rPr lang="zh-CN" altLang="en-US" sz="2000" dirty="0">
                          <a:latin typeface="Times New Roman" panose="02020603050405020304" pitchFamily="18" charset="0"/>
                          <a:cs typeface="Times New Roman" panose="02020603050405020304" pitchFamily="18" charset="0"/>
                        </a:rPr>
                        <a:t>输出是输入的半个正弦波，半波失真，产生谐波</a:t>
                      </a:r>
                      <a:r>
                        <a:rPr lang="zh-CN" altLang="en-US" sz="2000" dirty="0" smtClean="0">
                          <a:latin typeface="Times New Roman" panose="02020603050405020304" pitchFamily="18" charset="0"/>
                          <a:cs typeface="Times New Roman" panose="02020603050405020304" pitchFamily="18" charset="0"/>
                        </a:rPr>
                        <a:t>。</a:t>
                      </a:r>
                      <a:r>
                        <a:rPr lang="zh-CN" altLang="en-US" sz="2000" dirty="0" smtClean="0">
                          <a:solidFill>
                            <a:srgbClr val="FF0000"/>
                          </a:solidFill>
                          <a:latin typeface="Times New Roman" panose="02020603050405020304" pitchFamily="18" charset="0"/>
                          <a:cs typeface="Times New Roman" panose="02020603050405020304" pitchFamily="18" charset="0"/>
                        </a:rPr>
                        <a:t>（半）导</a:t>
                      </a:r>
                      <a:r>
                        <a:rPr lang="zh-CN" altLang="en-US" sz="2000" dirty="0">
                          <a:solidFill>
                            <a:srgbClr val="FF0000"/>
                          </a:solidFill>
                          <a:latin typeface="Times New Roman" panose="02020603050405020304" pitchFamily="18" charset="0"/>
                          <a:cs typeface="Times New Roman" panose="02020603050405020304" pitchFamily="18" charset="0"/>
                        </a:rPr>
                        <a:t>通角</a:t>
                      </a:r>
                      <a:r>
                        <a:rPr lang="en-US" altLang="zh-CN" sz="2000" dirty="0">
                          <a:latin typeface="Times New Roman" panose="02020603050405020304" pitchFamily="18" charset="0"/>
                          <a:cs typeface="Times New Roman" panose="02020603050405020304" pitchFamily="18" charset="0"/>
                        </a:rPr>
                        <a:t>90°</a:t>
                      </a:r>
                      <a:r>
                        <a:rPr lang="zh-CN" altLang="en-US" sz="2000" dirty="0">
                          <a:latin typeface="Times New Roman" panose="02020603050405020304" pitchFamily="18" charset="0"/>
                          <a:cs typeface="Times New Roman" panose="02020603050405020304" pitchFamily="18" charset="0"/>
                        </a:rPr>
                        <a:t>理想效率</a:t>
                      </a:r>
                      <a:r>
                        <a:rPr lang="en-US" altLang="zh-CN" sz="2000" dirty="0">
                          <a:solidFill>
                            <a:srgbClr val="FF0000"/>
                          </a:solidFill>
                          <a:latin typeface="Times New Roman" panose="02020603050405020304" pitchFamily="18" charset="0"/>
                          <a:cs typeface="Times New Roman" panose="02020603050405020304" pitchFamily="18" charset="0"/>
                        </a:rPr>
                        <a:t>78.5%</a:t>
                      </a:r>
                      <a:endParaRPr lang="zh-CN" altLang="en-US" sz="2000"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1"/>
                  </a:ext>
                </a:extLst>
              </a:tr>
              <a:tr h="720080">
                <a:tc>
                  <a:txBody>
                    <a:bodyPr/>
                    <a:lstStyle/>
                    <a:p>
                      <a:pPr algn="ctr"/>
                      <a:r>
                        <a:rPr lang="zh-CN" altLang="en-US" sz="2000" dirty="0">
                          <a:latin typeface="Times New Roman" panose="02020603050405020304" pitchFamily="18" charset="0"/>
                          <a:cs typeface="Times New Roman" panose="02020603050405020304" pitchFamily="18" charset="0"/>
                        </a:rPr>
                        <a:t>丙类放大器</a:t>
                      </a:r>
                    </a:p>
                  </a:txBody>
                  <a:tcPr anchor="ctr"/>
                </a:tc>
                <a:tc>
                  <a:txBody>
                    <a:bodyPr/>
                    <a:lstStyle/>
                    <a:p>
                      <a:pPr algn="ctr"/>
                      <a:r>
                        <a:rPr lang="zh-CN" altLang="en-US" sz="2000" dirty="0">
                          <a:latin typeface="Times New Roman" panose="02020603050405020304" pitchFamily="18" charset="0"/>
                          <a:cs typeface="Times New Roman" panose="02020603050405020304" pitchFamily="18" charset="0"/>
                        </a:rPr>
                        <a:t>半波失真增大，谐波更加丰富</a:t>
                      </a:r>
                      <a:r>
                        <a:rPr lang="zh-CN" altLang="en-US" sz="2000" dirty="0" smtClean="0">
                          <a:latin typeface="Times New Roman" panose="02020603050405020304" pitchFamily="18" charset="0"/>
                          <a:cs typeface="Times New Roman" panose="02020603050405020304" pitchFamily="18" charset="0"/>
                        </a:rPr>
                        <a:t>。</a:t>
                      </a:r>
                      <a:r>
                        <a:rPr lang="zh-CN" altLang="en-US" sz="2000" dirty="0" smtClean="0">
                          <a:solidFill>
                            <a:srgbClr val="FF0000"/>
                          </a:solidFill>
                          <a:latin typeface="Times New Roman" panose="02020603050405020304" pitchFamily="18" charset="0"/>
                          <a:cs typeface="Times New Roman" panose="02020603050405020304" pitchFamily="18" charset="0"/>
                        </a:rPr>
                        <a:t>半）导通角</a:t>
                      </a:r>
                      <a:r>
                        <a:rPr lang="zh-CN" altLang="en-US" sz="2000" dirty="0" smtClean="0">
                          <a:latin typeface="Times New Roman" panose="02020603050405020304" pitchFamily="18" charset="0"/>
                          <a:cs typeface="Times New Roman" panose="02020603050405020304" pitchFamily="18" charset="0"/>
                        </a:rPr>
                        <a:t>在</a:t>
                      </a:r>
                      <a:r>
                        <a:rPr lang="en-US" altLang="zh-CN" sz="2000" dirty="0">
                          <a:latin typeface="Times New Roman" panose="02020603050405020304" pitchFamily="18" charset="0"/>
                          <a:cs typeface="Times New Roman" panose="02020603050405020304" pitchFamily="18" charset="0"/>
                        </a:rPr>
                        <a:t>0-90°</a:t>
                      </a:r>
                      <a:r>
                        <a:rPr lang="zh-CN" altLang="en-US" sz="2000" dirty="0">
                          <a:latin typeface="Times New Roman" panose="02020603050405020304" pitchFamily="18" charset="0"/>
                          <a:cs typeface="Times New Roman" panose="02020603050405020304" pitchFamily="18" charset="0"/>
                        </a:rPr>
                        <a:t>理想效率</a:t>
                      </a:r>
                      <a:r>
                        <a:rPr lang="en-US" altLang="zh-CN" sz="2000" dirty="0">
                          <a:solidFill>
                            <a:srgbClr val="FF0000"/>
                          </a:solidFill>
                          <a:latin typeface="Times New Roman" panose="02020603050405020304" pitchFamily="18" charset="0"/>
                          <a:cs typeface="Times New Roman" panose="02020603050405020304" pitchFamily="18" charset="0"/>
                        </a:rPr>
                        <a:t>78.5-100%</a:t>
                      </a:r>
                      <a:endParaRPr lang="zh-CN" altLang="en-US" sz="2000"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2"/>
                  </a:ext>
                </a:extLst>
              </a:tr>
              <a:tr h="720080">
                <a:tc>
                  <a:txBody>
                    <a:bodyPr/>
                    <a:lstStyle/>
                    <a:p>
                      <a:pPr algn="ctr"/>
                      <a:r>
                        <a:rPr lang="zh-CN" altLang="en-US" sz="2000" dirty="0">
                          <a:latin typeface="Times New Roman" panose="02020603050405020304" pitchFamily="18" charset="0"/>
                          <a:cs typeface="Times New Roman" panose="02020603050405020304" pitchFamily="18" charset="0"/>
                        </a:rPr>
                        <a:t>丁类放大器</a:t>
                      </a:r>
                    </a:p>
                  </a:txBody>
                  <a:tcPr anchor="ctr"/>
                </a:tc>
                <a:tc>
                  <a:txBody>
                    <a:bodyPr/>
                    <a:lstStyle/>
                    <a:p>
                      <a:pPr algn="ctr"/>
                      <a:r>
                        <a:rPr lang="zh-CN" altLang="en-US" sz="2000" dirty="0">
                          <a:latin typeface="Times New Roman" panose="02020603050405020304" pitchFamily="18" charset="0"/>
                          <a:cs typeface="Times New Roman" panose="02020603050405020304" pitchFamily="18" charset="0"/>
                        </a:rPr>
                        <a:t>开关型功率放大器，理想效率</a:t>
                      </a:r>
                      <a:r>
                        <a:rPr lang="en-US" altLang="zh-CN" sz="2000" dirty="0">
                          <a:latin typeface="Times New Roman" panose="02020603050405020304" pitchFamily="18" charset="0"/>
                          <a:cs typeface="Times New Roman" panose="02020603050405020304" pitchFamily="18" charset="0"/>
                        </a:rPr>
                        <a:t>100%</a:t>
                      </a:r>
                      <a:endParaRPr lang="zh-CN" alt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3"/>
                  </a:ext>
                </a:extLst>
              </a:tr>
              <a:tr h="648072">
                <a:tc>
                  <a:txBody>
                    <a:bodyPr/>
                    <a:lstStyle/>
                    <a:p>
                      <a:pPr algn="ctr"/>
                      <a:r>
                        <a:rPr lang="zh-CN" altLang="en-US" sz="2000" dirty="0">
                          <a:latin typeface="Times New Roman" panose="02020603050405020304" pitchFamily="18" charset="0"/>
                          <a:cs typeface="Times New Roman" panose="02020603050405020304" pitchFamily="18" charset="0"/>
                        </a:rPr>
                        <a:t>戊类放大器</a:t>
                      </a:r>
                    </a:p>
                  </a:txBody>
                  <a:tcPr anchor="ctr"/>
                </a:tc>
                <a:tc>
                  <a:txBody>
                    <a:bodyPr/>
                    <a:lstStyle/>
                    <a:p>
                      <a:pPr algn="ctr"/>
                      <a:r>
                        <a:rPr lang="zh-CN" altLang="en-US" sz="2000" kern="1200" dirty="0">
                          <a:solidFill>
                            <a:schemeClr val="tx1"/>
                          </a:solidFill>
                          <a:latin typeface="Times New Roman" panose="02020603050405020304" pitchFamily="18" charset="0"/>
                          <a:ea typeface="+mn-ea"/>
                          <a:cs typeface="Times New Roman" panose="02020603050405020304" pitchFamily="18" charset="0"/>
                        </a:rPr>
                        <a:t>开关型功率放大器，理想效率</a:t>
                      </a:r>
                      <a:r>
                        <a:rPr lang="en-US" altLang="zh-CN" sz="2000" kern="1200" dirty="0">
                          <a:solidFill>
                            <a:schemeClr val="tx1"/>
                          </a:solidFill>
                          <a:latin typeface="Times New Roman" panose="02020603050405020304" pitchFamily="18" charset="0"/>
                          <a:ea typeface="+mn-ea"/>
                          <a:cs typeface="Times New Roman" panose="02020603050405020304" pitchFamily="18" charset="0"/>
                        </a:rPr>
                        <a:t>100%</a:t>
                      </a:r>
                      <a:endParaRPr lang="zh-CN"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xmlns="" val="10004"/>
                  </a:ext>
                </a:extLst>
              </a:tr>
            </a:tbl>
          </a:graphicData>
        </a:graphic>
      </p:graphicFrame>
      <p:sp>
        <p:nvSpPr>
          <p:cNvPr id="2" name="矩形 1"/>
          <p:cNvSpPr/>
          <p:nvPr/>
        </p:nvSpPr>
        <p:spPr bwMode="auto">
          <a:xfrm>
            <a:off x="580393" y="1844824"/>
            <a:ext cx="2736304" cy="720080"/>
          </a:xfrm>
          <a:prstGeom prst="rect">
            <a:avLst/>
          </a:prstGeom>
          <a:noFill/>
          <a:ln w="285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隶书" pitchFamily="49" charset="-122"/>
            </a:endParaRPr>
          </a:p>
        </p:txBody>
      </p:sp>
      <p:sp>
        <p:nvSpPr>
          <p:cNvPr id="3" name="TextBox 2"/>
          <p:cNvSpPr txBox="1"/>
          <p:nvPr/>
        </p:nvSpPr>
        <p:spPr>
          <a:xfrm>
            <a:off x="796417" y="5764614"/>
            <a:ext cx="5040560" cy="369332"/>
          </a:xfrm>
          <a:prstGeom prst="rect">
            <a:avLst/>
          </a:prstGeom>
          <a:noFill/>
        </p:spPr>
        <p:txBody>
          <a:bodyPr wrap="square" rtlCol="0">
            <a:spAutoFit/>
          </a:bodyPr>
          <a:lstStyle/>
          <a:p>
            <a:r>
              <a:rPr lang="zh-CN" altLang="en-US" b="1" dirty="0">
                <a:solidFill>
                  <a:srgbClr val="FF0000"/>
                </a:solidFill>
              </a:rPr>
              <a:t>注意</a:t>
            </a:r>
            <a:r>
              <a:rPr lang="zh-CN" altLang="en-US" b="1" dirty="0" smtClean="0">
                <a:solidFill>
                  <a:srgbClr val="FF0000"/>
                </a:solidFill>
              </a:rPr>
              <a:t>：本课程中，导通角一般指的是半导通角。</a:t>
            </a:r>
            <a:endParaRPr lang="zh-CN" altLang="en-US" b="1" dirty="0">
              <a:solidFill>
                <a:srgbClr val="FF0000"/>
              </a:solidFill>
            </a:endParaRPr>
          </a:p>
        </p:txBody>
      </p:sp>
    </p:spTree>
    <p:extLst>
      <p:ext uri="{BB962C8B-B14F-4D97-AF65-F5344CB8AC3E}">
        <p14:creationId xmlns:p14="http://schemas.microsoft.com/office/powerpoint/2010/main" val="3921091139"/>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24</a:t>
            </a:fld>
            <a:endParaRPr lang="en-US" altLang="zh-CN" dirty="0">
              <a:solidFill>
                <a:srgbClr val="000000"/>
              </a:solidFill>
            </a:endParaRPr>
          </a:p>
        </p:txBody>
      </p:sp>
      <p:sp>
        <p:nvSpPr>
          <p:cNvPr id="21" name="内容占位符 20"/>
          <p:cNvSpPr>
            <a:spLocks noGrp="1"/>
          </p:cNvSpPr>
          <p:nvPr>
            <p:ph idx="1"/>
          </p:nvPr>
        </p:nvSpPr>
        <p:spPr>
          <a:xfrm>
            <a:off x="395536" y="260648"/>
            <a:ext cx="5472608" cy="648072"/>
          </a:xfrm>
          <a:solidFill>
            <a:srgbClr val="862714"/>
          </a:solidFill>
        </p:spPr>
        <p:txBody>
          <a:bodyPr/>
          <a:lstStyle/>
          <a:p>
            <a:pPr>
              <a:buClr>
                <a:schemeClr val="bg1"/>
              </a:buClr>
              <a:buFont typeface="Wingdings" panose="05000000000000000000" pitchFamily="2" charset="2"/>
              <a:buChar char="l"/>
            </a:pPr>
            <a:r>
              <a:rPr lang="en-US" altLang="zh-CN" sz="3600" dirty="0">
                <a:solidFill>
                  <a:schemeClr val="bg1"/>
                </a:solidFill>
                <a:latin typeface="Garamond"/>
                <a:ea typeface="华文行楷"/>
                <a:cs typeface="+mj-cs"/>
              </a:rPr>
              <a:t>3.1 </a:t>
            </a:r>
            <a:r>
              <a:rPr lang="zh-CN" altLang="en-US" sz="3600" dirty="0">
                <a:solidFill>
                  <a:schemeClr val="bg1"/>
                </a:solidFill>
                <a:latin typeface="Garamond"/>
                <a:ea typeface="华文行楷"/>
                <a:cs typeface="+mj-cs"/>
              </a:rPr>
              <a:t>高频功率放大器概述</a:t>
            </a:r>
            <a:endParaRPr lang="zh-CN" altLang="en-US" sz="2800" dirty="0"/>
          </a:p>
        </p:txBody>
      </p:sp>
      <p:sp>
        <p:nvSpPr>
          <p:cNvPr id="3" name="TextBox 2"/>
          <p:cNvSpPr txBox="1"/>
          <p:nvPr/>
        </p:nvSpPr>
        <p:spPr>
          <a:xfrm>
            <a:off x="658527" y="1052736"/>
            <a:ext cx="5040560" cy="369332"/>
          </a:xfrm>
          <a:prstGeom prst="rect">
            <a:avLst/>
          </a:prstGeom>
          <a:noFill/>
        </p:spPr>
        <p:txBody>
          <a:bodyPr wrap="square" rtlCol="0">
            <a:spAutoFit/>
          </a:bodyPr>
          <a:lstStyle/>
          <a:p>
            <a:r>
              <a:rPr lang="zh-CN" altLang="en-US" b="1" dirty="0">
                <a:solidFill>
                  <a:srgbClr val="FF0000"/>
                </a:solidFill>
              </a:rPr>
              <a:t>注意</a:t>
            </a:r>
            <a:r>
              <a:rPr lang="zh-CN" altLang="en-US" b="1" dirty="0" smtClean="0">
                <a:solidFill>
                  <a:srgbClr val="FF0000"/>
                </a:solidFill>
              </a:rPr>
              <a:t>：本课程中，导通角一般指的是半导通角。</a:t>
            </a:r>
            <a:endParaRPr lang="zh-CN" altLang="en-US" b="1" dirty="0">
              <a:solidFill>
                <a:srgbClr val="FF0000"/>
              </a:solidFill>
            </a:endParaRPr>
          </a:p>
        </p:txBody>
      </p:sp>
      <p:sp>
        <p:nvSpPr>
          <p:cNvPr id="8" name="TextBox 7"/>
          <p:cNvSpPr txBox="1"/>
          <p:nvPr/>
        </p:nvSpPr>
        <p:spPr>
          <a:xfrm>
            <a:off x="658527" y="1528939"/>
            <a:ext cx="1944216" cy="369332"/>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dirty="0"/>
              <a:t>导通</a:t>
            </a:r>
            <a:r>
              <a:rPr lang="zh-CN" altLang="en-US" b="1" dirty="0" smtClean="0"/>
              <a:t>角计算：</a:t>
            </a:r>
            <a:endParaRPr lang="zh-CN" altLang="en-US" b="1" dirty="0"/>
          </a:p>
        </p:txBody>
      </p:sp>
      <p:sp>
        <p:nvSpPr>
          <p:cNvPr id="9" name="TextBox 8"/>
          <p:cNvSpPr txBox="1"/>
          <p:nvPr/>
        </p:nvSpPr>
        <p:spPr>
          <a:xfrm>
            <a:off x="998858" y="1979972"/>
            <a:ext cx="3789166" cy="50129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smtClean="0"/>
              <a:t>信号一个周期对应角度</a:t>
            </a:r>
            <a:r>
              <a:rPr lang="en-US" altLang="zh-CN" sz="2000" dirty="0" smtClean="0"/>
              <a:t>360°</a:t>
            </a:r>
          </a:p>
        </p:txBody>
      </p:sp>
      <p:sp>
        <p:nvSpPr>
          <p:cNvPr id="11" name="TextBox 10"/>
          <p:cNvSpPr txBox="1"/>
          <p:nvPr/>
        </p:nvSpPr>
        <p:spPr>
          <a:xfrm>
            <a:off x="1043608" y="2522327"/>
            <a:ext cx="7128792" cy="10156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smtClean="0">
                <a:solidFill>
                  <a:srgbClr val="FF0000"/>
                </a:solidFill>
              </a:rPr>
              <a:t>甲类功放</a:t>
            </a:r>
            <a:r>
              <a:rPr lang="zh-CN" altLang="en-US" sz="2000" b="1" dirty="0" smtClean="0"/>
              <a:t>（</a:t>
            </a:r>
            <a:r>
              <a:rPr lang="zh-CN" altLang="en-US" sz="2000" dirty="0"/>
              <a:t>如第二章的小信号放大器</a:t>
            </a:r>
            <a:r>
              <a:rPr lang="zh-CN" altLang="en-US" sz="2000" b="1" dirty="0" smtClean="0"/>
              <a:t>）</a:t>
            </a:r>
            <a:r>
              <a:rPr lang="zh-CN" altLang="en-US" sz="2000" dirty="0" smtClean="0"/>
              <a:t>：</a:t>
            </a:r>
            <a:r>
              <a:rPr lang="zh-CN" altLang="en-US" sz="2000" dirty="0"/>
              <a:t>导通时间是</a:t>
            </a:r>
            <a:r>
              <a:rPr lang="zh-CN" altLang="en-US" sz="2000" dirty="0" smtClean="0"/>
              <a:t>信号的整个周期，导通角为</a:t>
            </a:r>
            <a:r>
              <a:rPr lang="en-US" altLang="zh-CN" sz="2000" dirty="0" smtClean="0"/>
              <a:t>180°</a:t>
            </a:r>
            <a:r>
              <a:rPr lang="zh-CN" altLang="en-US" sz="2000" dirty="0" smtClean="0"/>
              <a:t>；</a:t>
            </a:r>
            <a:endParaRPr lang="zh-CN" altLang="en-US" sz="2000" dirty="0"/>
          </a:p>
        </p:txBody>
      </p:sp>
      <p:sp>
        <p:nvSpPr>
          <p:cNvPr id="13" name="TextBox 12"/>
          <p:cNvSpPr txBox="1"/>
          <p:nvPr/>
        </p:nvSpPr>
        <p:spPr>
          <a:xfrm>
            <a:off x="1043608" y="3680417"/>
            <a:ext cx="7128792" cy="55399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a:solidFill>
                  <a:srgbClr val="FF0000"/>
                </a:solidFill>
              </a:rPr>
              <a:t>乙</a:t>
            </a:r>
            <a:r>
              <a:rPr lang="zh-CN" altLang="en-US" sz="2000" b="1" dirty="0" smtClean="0">
                <a:solidFill>
                  <a:srgbClr val="FF0000"/>
                </a:solidFill>
              </a:rPr>
              <a:t>类功放</a:t>
            </a:r>
            <a:r>
              <a:rPr lang="zh-CN" altLang="en-US" sz="2000" dirty="0" smtClean="0"/>
              <a:t>：</a:t>
            </a:r>
            <a:r>
              <a:rPr lang="zh-CN" altLang="en-US" sz="2000" dirty="0"/>
              <a:t>导通时间是</a:t>
            </a:r>
            <a:r>
              <a:rPr lang="zh-CN" altLang="en-US" sz="2000" dirty="0" smtClean="0"/>
              <a:t>信号的半个周期，导通角为</a:t>
            </a:r>
            <a:r>
              <a:rPr lang="en-US" altLang="zh-CN" sz="2000" dirty="0"/>
              <a:t>9</a:t>
            </a:r>
            <a:r>
              <a:rPr lang="en-US" altLang="zh-CN" sz="2000" dirty="0" smtClean="0"/>
              <a:t>0°</a:t>
            </a:r>
            <a:r>
              <a:rPr lang="zh-CN" altLang="en-US" sz="2000" dirty="0" smtClean="0"/>
              <a:t>；</a:t>
            </a:r>
            <a:endParaRPr lang="zh-CN" altLang="en-US" sz="2000" dirty="0"/>
          </a:p>
        </p:txBody>
      </p:sp>
      <p:sp>
        <p:nvSpPr>
          <p:cNvPr id="14" name="TextBox 13"/>
          <p:cNvSpPr txBox="1"/>
          <p:nvPr/>
        </p:nvSpPr>
        <p:spPr>
          <a:xfrm>
            <a:off x="1043608" y="4422010"/>
            <a:ext cx="7344816" cy="10156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000" b="1" dirty="0">
                <a:solidFill>
                  <a:srgbClr val="FF0000"/>
                </a:solidFill>
              </a:rPr>
              <a:t>丙</a:t>
            </a:r>
            <a:r>
              <a:rPr lang="zh-CN" altLang="en-US" sz="2000" b="1" dirty="0" smtClean="0">
                <a:solidFill>
                  <a:srgbClr val="FF0000"/>
                </a:solidFill>
              </a:rPr>
              <a:t>类功放（如第三章的高频谐振功放）</a:t>
            </a:r>
            <a:r>
              <a:rPr lang="zh-CN" altLang="en-US" sz="2000" dirty="0" smtClean="0"/>
              <a:t>：</a:t>
            </a:r>
            <a:r>
              <a:rPr lang="zh-CN" altLang="en-US" sz="2000" dirty="0"/>
              <a:t>导通</a:t>
            </a:r>
            <a:r>
              <a:rPr lang="zh-CN" altLang="en-US" sz="2000" dirty="0" smtClean="0"/>
              <a:t>时间小于信号的半个周期，导通角为</a:t>
            </a:r>
            <a:r>
              <a:rPr lang="en-US" altLang="zh-CN" sz="2000" dirty="0" smtClean="0"/>
              <a:t>0-90°</a:t>
            </a:r>
            <a:r>
              <a:rPr lang="zh-CN" altLang="en-US" sz="2000" dirty="0" smtClean="0"/>
              <a:t>；</a:t>
            </a:r>
            <a:endParaRPr lang="zh-CN" altLang="en-US" sz="2000" dirty="0"/>
          </a:p>
        </p:txBody>
      </p:sp>
      <p:sp>
        <p:nvSpPr>
          <p:cNvPr id="15" name="TextBox 14"/>
          <p:cNvSpPr txBox="1"/>
          <p:nvPr/>
        </p:nvSpPr>
        <p:spPr>
          <a:xfrm>
            <a:off x="827584" y="5517232"/>
            <a:ext cx="7632848" cy="875881"/>
          </a:xfrm>
          <a:prstGeom prst="rect">
            <a:avLst/>
          </a:prstGeom>
          <a:noFill/>
          <a:ln>
            <a:solidFill>
              <a:srgbClr val="002060"/>
            </a:solidFill>
          </a:ln>
        </p:spPr>
        <p:txBody>
          <a:bodyPr wrap="square" rtlCol="0">
            <a:spAutoFit/>
          </a:bodyPr>
          <a:lstStyle/>
          <a:p>
            <a:pPr>
              <a:lnSpc>
                <a:spcPct val="150000"/>
              </a:lnSpc>
            </a:pPr>
            <a:r>
              <a:rPr lang="zh-CN" altLang="en-US" dirty="0" smtClean="0"/>
              <a:t>例如：某放大器的工作时间（即晶体管的导通时间）是信号周期的</a:t>
            </a:r>
            <a:r>
              <a:rPr lang="en-US" altLang="zh-CN" dirty="0" smtClean="0"/>
              <a:t>1/6</a:t>
            </a:r>
            <a:r>
              <a:rPr lang="zh-CN" altLang="en-US" dirty="0" smtClean="0"/>
              <a:t>，则放大器的导通角为：（</a:t>
            </a:r>
            <a:r>
              <a:rPr lang="en-US" altLang="zh-CN" dirty="0"/>
              <a:t>1/6</a:t>
            </a:r>
            <a:r>
              <a:rPr lang="zh-CN" altLang="en-US" dirty="0" smtClean="0"/>
              <a:t>）</a:t>
            </a:r>
            <a:r>
              <a:rPr lang="en-US" altLang="zh-CN" dirty="0" smtClean="0"/>
              <a:t>*360/2=30°</a:t>
            </a:r>
            <a:r>
              <a:rPr lang="zh-CN" altLang="en-US" dirty="0" smtClean="0"/>
              <a:t>（这里导通角指半导通角）；</a:t>
            </a:r>
            <a:endParaRPr lang="zh-CN" altLang="en-US" dirty="0"/>
          </a:p>
        </p:txBody>
      </p:sp>
    </p:spTree>
    <p:extLst>
      <p:ext uri="{BB962C8B-B14F-4D97-AF65-F5344CB8AC3E}">
        <p14:creationId xmlns:p14="http://schemas.microsoft.com/office/powerpoint/2010/main" val="2285657230"/>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25</a:t>
            </a:fld>
            <a:endParaRPr lang="en-US" altLang="zh-CN" dirty="0">
              <a:solidFill>
                <a:srgbClr val="000000"/>
              </a:solidFill>
            </a:endParaRPr>
          </a:p>
        </p:txBody>
      </p:sp>
      <p:sp>
        <p:nvSpPr>
          <p:cNvPr id="21" name="内容占位符 20"/>
          <p:cNvSpPr>
            <a:spLocks noGrp="1"/>
          </p:cNvSpPr>
          <p:nvPr>
            <p:ph idx="1"/>
          </p:nvPr>
        </p:nvSpPr>
        <p:spPr>
          <a:xfrm>
            <a:off x="395536" y="260648"/>
            <a:ext cx="2304256" cy="648072"/>
          </a:xfrm>
          <a:solidFill>
            <a:srgbClr val="862714"/>
          </a:solidFill>
        </p:spPr>
        <p:txBody>
          <a:bodyPr/>
          <a:lstStyle/>
          <a:p>
            <a:pPr>
              <a:buClr>
                <a:schemeClr val="bg1"/>
              </a:buClr>
              <a:buFont typeface="Wingdings" panose="05000000000000000000" pitchFamily="2" charset="2"/>
              <a:buChar char="l"/>
            </a:pPr>
            <a:r>
              <a:rPr lang="en-US" altLang="zh-CN" sz="3200" dirty="0">
                <a:solidFill>
                  <a:schemeClr val="bg1"/>
                </a:solidFill>
                <a:latin typeface="Garamond"/>
                <a:ea typeface="华文行楷"/>
                <a:cs typeface="+mj-cs"/>
              </a:rPr>
              <a:t>2.4.1 </a:t>
            </a:r>
            <a:r>
              <a:rPr lang="zh-CN" altLang="en-US" sz="3200" dirty="0">
                <a:solidFill>
                  <a:schemeClr val="bg1"/>
                </a:solidFill>
                <a:latin typeface="Garamond"/>
                <a:ea typeface="华文行楷"/>
                <a:cs typeface="+mj-cs"/>
              </a:rPr>
              <a:t>概述</a:t>
            </a:r>
            <a:endParaRPr lang="zh-CN" altLang="en-US" sz="3200" dirty="0"/>
          </a:p>
        </p:txBody>
      </p:sp>
      <p:sp>
        <p:nvSpPr>
          <p:cNvPr id="15" name="Rectangle 3"/>
          <p:cNvSpPr>
            <a:spLocks noChangeArrowheads="1"/>
          </p:cNvSpPr>
          <p:nvPr/>
        </p:nvSpPr>
        <p:spPr bwMode="auto">
          <a:xfrm>
            <a:off x="467544" y="1124744"/>
            <a:ext cx="6984776" cy="400110"/>
          </a:xfrm>
          <a:prstGeom prst="rect">
            <a:avLst/>
          </a:prstGeom>
          <a:noFill/>
          <a:ln w="9525">
            <a:noFill/>
            <a:miter lim="800000"/>
            <a:headEnd/>
            <a:tailEnd/>
          </a:ln>
        </p:spPr>
        <p:txBody>
          <a:bodyPr wrap="square">
            <a:spAutoFit/>
          </a:bodyPr>
          <a:lstStyle/>
          <a:p>
            <a:pPr algn="l">
              <a:spcBef>
                <a:spcPct val="0"/>
              </a:spcBef>
              <a:buClrTx/>
              <a:buSzTx/>
              <a:buFont typeface="Wingdings" pitchFamily="2" charset="2"/>
              <a:buNone/>
              <a:defRPr/>
            </a:pPr>
            <a:r>
              <a:rPr lang="en-US" sz="2000" b="1" dirty="0">
                <a:solidFill>
                  <a:srgbClr val="0066FF"/>
                </a:solidFill>
                <a:ea typeface="黑体" pitchFamily="49" charset="-122"/>
              </a:rPr>
              <a:t>2.</a:t>
            </a:r>
            <a:r>
              <a:rPr lang="zh-CN" altLang="en-US" sz="2000" b="1" dirty="0">
                <a:solidFill>
                  <a:srgbClr val="0066FF"/>
                </a:solidFill>
                <a:ea typeface="黑体" pitchFamily="49" charset="-122"/>
              </a:rPr>
              <a:t>高频小信号放大器的主要性能指标</a:t>
            </a:r>
            <a:r>
              <a:rPr lang="en-US" altLang="zh-CN" sz="2000" b="1" dirty="0">
                <a:solidFill>
                  <a:srgbClr val="0066FF"/>
                </a:solidFill>
                <a:ea typeface="黑体" pitchFamily="49" charset="-122"/>
              </a:rPr>
              <a:t>——</a:t>
            </a:r>
            <a:r>
              <a:rPr lang="zh-CN" altLang="en-US" sz="2000" b="1" dirty="0">
                <a:solidFill>
                  <a:srgbClr val="FF0000"/>
                </a:solidFill>
                <a:ea typeface="黑体" pitchFamily="49" charset="-122"/>
              </a:rPr>
              <a:t>增益</a:t>
            </a:r>
          </a:p>
        </p:txBody>
      </p:sp>
      <p:sp>
        <p:nvSpPr>
          <p:cNvPr id="2" name="TextBox 1"/>
          <p:cNvSpPr txBox="1"/>
          <p:nvPr/>
        </p:nvSpPr>
        <p:spPr>
          <a:xfrm>
            <a:off x="755576" y="1628800"/>
            <a:ext cx="7488832" cy="574581"/>
          </a:xfrm>
          <a:prstGeom prst="rect">
            <a:avLst/>
          </a:prstGeom>
          <a:noFill/>
        </p:spPr>
        <p:txBody>
          <a:bodyPr wrap="square" rtlCol="0">
            <a:spAutoFit/>
          </a:bodyPr>
          <a:lstStyle/>
          <a:p>
            <a:pPr marL="342900" indent="-342900">
              <a:lnSpc>
                <a:spcPct val="150000"/>
              </a:lnSpc>
              <a:buSzPct val="65000"/>
              <a:buFont typeface="Wingdings" panose="05000000000000000000" pitchFamily="2" charset="2"/>
              <a:buChar char="l"/>
            </a:pPr>
            <a:r>
              <a:rPr lang="zh-CN" altLang="en-US" sz="2400" b="1" dirty="0">
                <a:solidFill>
                  <a:srgbClr val="0070C0"/>
                </a:solidFill>
              </a:rPr>
              <a:t>在中心频率上：</a:t>
            </a:r>
            <a:endParaRPr lang="en-US" altLang="zh-CN" sz="2400" dirty="0"/>
          </a:p>
        </p:txBody>
      </p:sp>
      <p:sp>
        <p:nvSpPr>
          <p:cNvPr id="3" name="矩形 2"/>
          <p:cNvSpPr/>
          <p:nvPr/>
        </p:nvSpPr>
        <p:spPr>
          <a:xfrm>
            <a:off x="899592" y="4437112"/>
            <a:ext cx="7848872" cy="1477328"/>
          </a:xfrm>
          <a:prstGeom prst="rect">
            <a:avLst/>
          </a:prstGeom>
        </p:spPr>
        <p:txBody>
          <a:bodyPr wrap="square">
            <a:spAutoFit/>
          </a:bodyPr>
          <a:lstStyle/>
          <a:p>
            <a:pPr>
              <a:lnSpc>
                <a:spcPct val="150000"/>
              </a:lnSpc>
              <a:buClr>
                <a:srgbClr val="FF6600"/>
              </a:buClr>
              <a:buFont typeface="Wingdings" pitchFamily="2" charset="2"/>
              <a:buNone/>
            </a:pPr>
            <a:r>
              <a:rPr lang="zh-CN" altLang="en-US" sz="2000" b="1" dirty="0">
                <a:latin typeface="+mn-ea"/>
              </a:rPr>
              <a:t>式中，      分别为放大电路中心频率上的输出、输入电压有效值；                            </a:t>
            </a:r>
            <a:endParaRPr lang="en-US" altLang="zh-CN" sz="2000" b="1" dirty="0">
              <a:latin typeface="+mn-ea"/>
            </a:endParaRPr>
          </a:p>
          <a:p>
            <a:pPr>
              <a:lnSpc>
                <a:spcPct val="150000"/>
              </a:lnSpc>
              <a:buClr>
                <a:srgbClr val="FF6600"/>
              </a:buClr>
              <a:buFont typeface="Wingdings" pitchFamily="2" charset="2"/>
              <a:buNone/>
            </a:pPr>
            <a:r>
              <a:rPr lang="en-US" altLang="zh-CN" sz="2000" b="1" dirty="0">
                <a:latin typeface="+mn-ea"/>
              </a:rPr>
              <a:t>            </a:t>
            </a:r>
            <a:r>
              <a:rPr lang="zh-CN" altLang="en-US" sz="2000" b="1" dirty="0">
                <a:latin typeface="+mn-ea"/>
              </a:rPr>
              <a:t>分别为放大电路中心频率的输出、输入功率，常用分     </a:t>
            </a:r>
            <a:endParaRPr lang="en-US" altLang="zh-CN" sz="2000" b="1" dirty="0">
              <a:latin typeface="+mn-ea"/>
            </a:endParaRPr>
          </a:p>
          <a:p>
            <a:pPr>
              <a:lnSpc>
                <a:spcPct val="150000"/>
              </a:lnSpc>
              <a:buClr>
                <a:srgbClr val="FF6600"/>
              </a:buClr>
              <a:buFont typeface="Wingdings" pitchFamily="2" charset="2"/>
              <a:buNone/>
            </a:pPr>
            <a:r>
              <a:rPr lang="en-US" altLang="zh-CN" sz="2000" b="1" dirty="0">
                <a:latin typeface="+mn-ea"/>
              </a:rPr>
              <a:t>     </a:t>
            </a:r>
            <a:r>
              <a:rPr lang="zh-CN" altLang="en-US" sz="2000" b="1" dirty="0">
                <a:latin typeface="+mn-ea"/>
              </a:rPr>
              <a:t>贝表示。</a:t>
            </a:r>
          </a:p>
        </p:txBody>
      </p:sp>
      <p:graphicFrame>
        <p:nvGraphicFramePr>
          <p:cNvPr id="5" name="对象 4"/>
          <p:cNvGraphicFramePr>
            <a:graphicFrameLocks noChangeAspect="1"/>
          </p:cNvGraphicFramePr>
          <p:nvPr>
            <p:extLst>
              <p:ext uri="{D42A27DB-BD31-4B8C-83A1-F6EECF244321}">
                <p14:modId xmlns:p14="http://schemas.microsoft.com/office/powerpoint/2010/main" val="39527978"/>
              </p:ext>
            </p:extLst>
          </p:nvPr>
        </p:nvGraphicFramePr>
        <p:xfrm>
          <a:off x="2267744" y="2225343"/>
          <a:ext cx="1224136" cy="946107"/>
        </p:xfrm>
        <a:graphic>
          <a:graphicData uri="http://schemas.openxmlformats.org/presentationml/2006/ole">
            <mc:AlternateContent xmlns:mc="http://schemas.openxmlformats.org/markup-compatibility/2006">
              <mc:Choice xmlns:v="urn:schemas-microsoft-com:vml" Requires="v">
                <p:oleObj spid="_x0000_s112752" name="Equation" r:id="rId4" imgW="558558" imgH="431613" progId="Equation.DSMT4">
                  <p:embed/>
                </p:oleObj>
              </mc:Choice>
              <mc:Fallback>
                <p:oleObj name="Equation" r:id="rId4" imgW="558558" imgH="43161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2225343"/>
                        <a:ext cx="1224136" cy="946107"/>
                      </a:xfrm>
                      <a:prstGeom prst="rect">
                        <a:avLst/>
                      </a:prstGeom>
                      <a:noFill/>
                      <a:ln>
                        <a:noFill/>
                      </a:ln>
                      <a:effec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335876237"/>
              </p:ext>
            </p:extLst>
          </p:nvPr>
        </p:nvGraphicFramePr>
        <p:xfrm>
          <a:off x="5129966" y="2255832"/>
          <a:ext cx="1170226" cy="885136"/>
        </p:xfrm>
        <a:graphic>
          <a:graphicData uri="http://schemas.openxmlformats.org/presentationml/2006/ole">
            <mc:AlternateContent xmlns:mc="http://schemas.openxmlformats.org/markup-compatibility/2006">
              <mc:Choice xmlns:v="urn:schemas-microsoft-com:vml" Requires="v">
                <p:oleObj spid="_x0000_s112753" name="Equation" r:id="rId6" imgW="571252" imgH="431613" progId="Equation.DSMT4">
                  <p:embed/>
                </p:oleObj>
              </mc:Choice>
              <mc:Fallback>
                <p:oleObj name="Equation" r:id="rId6" imgW="571252" imgH="43161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29966" y="2255832"/>
                        <a:ext cx="1170226" cy="885136"/>
                      </a:xfrm>
                      <a:prstGeom prst="rect">
                        <a:avLst/>
                      </a:prstGeom>
                      <a:noFill/>
                      <a:ln>
                        <a:noFill/>
                      </a:ln>
                      <a:effec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611410229"/>
              </p:ext>
            </p:extLst>
          </p:nvPr>
        </p:nvGraphicFramePr>
        <p:xfrm>
          <a:off x="2226394" y="3319388"/>
          <a:ext cx="5441950" cy="901700"/>
        </p:xfrm>
        <a:graphic>
          <a:graphicData uri="http://schemas.openxmlformats.org/presentationml/2006/ole">
            <mc:AlternateContent xmlns:mc="http://schemas.openxmlformats.org/markup-compatibility/2006">
              <mc:Choice xmlns:v="urn:schemas-microsoft-com:vml" Requires="v">
                <p:oleObj spid="_x0000_s112754" name="Equation" r:id="rId8" imgW="2616120" imgH="431640" progId="Equation.DSMT4">
                  <p:embed/>
                </p:oleObj>
              </mc:Choice>
              <mc:Fallback>
                <p:oleObj name="Equation" r:id="rId8" imgW="2616120" imgH="431640" progId="Equation.DSMT4">
                  <p:embed/>
                  <p:pic>
                    <p:nvPicPr>
                      <p:cNvPr id="0" name=""/>
                      <p:cNvPicPr>
                        <a:picLocks noChangeAspect="1" noChangeArrowheads="1"/>
                      </p:cNvPicPr>
                      <p:nvPr/>
                    </p:nvPicPr>
                    <p:blipFill>
                      <a:blip r:embed="rId9"/>
                      <a:srcRect/>
                      <a:stretch>
                        <a:fillRect/>
                      </a:stretch>
                    </p:blipFill>
                    <p:spPr bwMode="auto">
                      <a:xfrm>
                        <a:off x="2226394" y="3319388"/>
                        <a:ext cx="5441950" cy="901700"/>
                      </a:xfrm>
                      <a:prstGeom prst="rect">
                        <a:avLst/>
                      </a:prstGeom>
                      <a:noFill/>
                      <a:ln>
                        <a:noFill/>
                      </a:ln>
                      <a:effec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000080493"/>
              </p:ext>
            </p:extLst>
          </p:nvPr>
        </p:nvGraphicFramePr>
        <p:xfrm>
          <a:off x="1619672" y="4437112"/>
          <a:ext cx="936104" cy="510602"/>
        </p:xfrm>
        <a:graphic>
          <a:graphicData uri="http://schemas.openxmlformats.org/presentationml/2006/ole">
            <mc:AlternateContent xmlns:mc="http://schemas.openxmlformats.org/markup-compatibility/2006">
              <mc:Choice xmlns:v="urn:schemas-microsoft-com:vml" Requires="v">
                <p:oleObj spid="_x0000_s112755" name="Equation" r:id="rId10" imgW="419100" imgH="228600" progId="Equation.DSMT4">
                  <p:embed/>
                </p:oleObj>
              </mc:Choice>
              <mc:Fallback>
                <p:oleObj name="Equation" r:id="rId10" imgW="419100" imgH="2286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19672" y="4437112"/>
                        <a:ext cx="936104" cy="510602"/>
                      </a:xfrm>
                      <a:prstGeom prst="rect">
                        <a:avLst/>
                      </a:prstGeom>
                      <a:noFill/>
                      <a:ln>
                        <a:noFill/>
                      </a:ln>
                      <a:effec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932628647"/>
              </p:ext>
            </p:extLst>
          </p:nvPr>
        </p:nvGraphicFramePr>
        <p:xfrm>
          <a:off x="1691680" y="5013176"/>
          <a:ext cx="720477" cy="393209"/>
        </p:xfrm>
        <a:graphic>
          <a:graphicData uri="http://schemas.openxmlformats.org/presentationml/2006/ole">
            <mc:AlternateContent xmlns:mc="http://schemas.openxmlformats.org/markup-compatibility/2006">
              <mc:Choice xmlns:v="urn:schemas-microsoft-com:vml" Requires="v">
                <p:oleObj spid="_x0000_s112756" name="Equation" r:id="rId12" imgW="406224" imgH="228501" progId="Equation.DSMT4">
                  <p:embed/>
                </p:oleObj>
              </mc:Choice>
              <mc:Fallback>
                <p:oleObj name="Equation" r:id="rId12" imgW="406224" imgH="228501"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91680" y="5013176"/>
                        <a:ext cx="720477" cy="393209"/>
                      </a:xfrm>
                      <a:prstGeom prst="rect">
                        <a:avLst/>
                      </a:prstGeom>
                      <a:noFill/>
                      <a:ln>
                        <a:noFill/>
                      </a:ln>
                      <a:effectLst/>
                    </p:spPr>
                  </p:pic>
                </p:oleObj>
              </mc:Fallback>
            </mc:AlternateContent>
          </a:graphicData>
        </a:graphic>
      </p:graphicFrame>
      <p:sp>
        <p:nvSpPr>
          <p:cNvPr id="10" name="TextBox 9"/>
          <p:cNvSpPr txBox="1"/>
          <p:nvPr/>
        </p:nvSpPr>
        <p:spPr>
          <a:xfrm>
            <a:off x="1159748" y="2492896"/>
            <a:ext cx="1107996" cy="369332"/>
          </a:xfrm>
          <a:prstGeom prst="rect">
            <a:avLst/>
          </a:prstGeom>
          <a:noFill/>
        </p:spPr>
        <p:txBody>
          <a:bodyPr wrap="none" rtlCol="0">
            <a:spAutoFit/>
          </a:bodyPr>
          <a:lstStyle/>
          <a:p>
            <a:r>
              <a:rPr lang="zh-CN" altLang="en-US" b="1" dirty="0"/>
              <a:t>电压增益</a:t>
            </a:r>
          </a:p>
        </p:txBody>
      </p:sp>
      <p:sp>
        <p:nvSpPr>
          <p:cNvPr id="13" name="TextBox 12"/>
          <p:cNvSpPr txBox="1"/>
          <p:nvPr/>
        </p:nvSpPr>
        <p:spPr>
          <a:xfrm>
            <a:off x="3942788" y="2492896"/>
            <a:ext cx="1114408" cy="369332"/>
          </a:xfrm>
          <a:prstGeom prst="rect">
            <a:avLst/>
          </a:prstGeom>
          <a:noFill/>
        </p:spPr>
        <p:txBody>
          <a:bodyPr wrap="none" rtlCol="0">
            <a:spAutoFit/>
          </a:bodyPr>
          <a:lstStyle/>
          <a:p>
            <a:r>
              <a:rPr lang="zh-CN" altLang="en-US" b="1" dirty="0"/>
              <a:t>功率增益</a:t>
            </a:r>
          </a:p>
        </p:txBody>
      </p:sp>
      <p:sp>
        <p:nvSpPr>
          <p:cNvPr id="14" name="TextBox 13"/>
          <p:cNvSpPr txBox="1"/>
          <p:nvPr/>
        </p:nvSpPr>
        <p:spPr>
          <a:xfrm>
            <a:off x="1153336" y="3582244"/>
            <a:ext cx="1114408" cy="369332"/>
          </a:xfrm>
          <a:prstGeom prst="rect">
            <a:avLst/>
          </a:prstGeom>
          <a:noFill/>
        </p:spPr>
        <p:txBody>
          <a:bodyPr wrap="none" rtlCol="0">
            <a:spAutoFit/>
          </a:bodyPr>
          <a:lstStyle/>
          <a:p>
            <a:r>
              <a:rPr lang="zh-CN" altLang="en-US" b="1" dirty="0"/>
              <a:t>分贝表示</a:t>
            </a:r>
          </a:p>
        </p:txBody>
      </p:sp>
    </p:spTree>
    <p:extLst>
      <p:ext uri="{BB962C8B-B14F-4D97-AF65-F5344CB8AC3E}">
        <p14:creationId xmlns:p14="http://schemas.microsoft.com/office/powerpoint/2010/main" val="1878324721"/>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26</a:t>
            </a:fld>
            <a:endParaRPr lang="en-US" altLang="zh-CN" dirty="0">
              <a:solidFill>
                <a:srgbClr val="000000"/>
              </a:solidFill>
            </a:endParaRPr>
          </a:p>
        </p:txBody>
      </p:sp>
      <p:sp>
        <p:nvSpPr>
          <p:cNvPr id="21" name="内容占位符 20"/>
          <p:cNvSpPr>
            <a:spLocks noGrp="1"/>
          </p:cNvSpPr>
          <p:nvPr>
            <p:ph idx="1"/>
          </p:nvPr>
        </p:nvSpPr>
        <p:spPr>
          <a:xfrm>
            <a:off x="395536" y="260648"/>
            <a:ext cx="2398372" cy="648072"/>
          </a:xfrm>
          <a:solidFill>
            <a:srgbClr val="862714"/>
          </a:solidFill>
        </p:spPr>
        <p:txBody>
          <a:bodyPr/>
          <a:lstStyle/>
          <a:p>
            <a:pPr>
              <a:buClr>
                <a:schemeClr val="bg1"/>
              </a:buClr>
              <a:buFont typeface="Wingdings" panose="05000000000000000000" pitchFamily="2" charset="2"/>
              <a:buChar char="l"/>
            </a:pPr>
            <a:r>
              <a:rPr lang="en-US" altLang="zh-CN" sz="3200" dirty="0">
                <a:solidFill>
                  <a:schemeClr val="bg1"/>
                </a:solidFill>
                <a:latin typeface="Garamond"/>
                <a:ea typeface="华文行楷"/>
                <a:cs typeface="+mj-cs"/>
              </a:rPr>
              <a:t>2.4.1 </a:t>
            </a:r>
            <a:r>
              <a:rPr lang="zh-CN" altLang="en-US" sz="3200" dirty="0">
                <a:solidFill>
                  <a:schemeClr val="bg1"/>
                </a:solidFill>
                <a:latin typeface="Garamond"/>
                <a:ea typeface="华文行楷"/>
                <a:cs typeface="+mj-cs"/>
              </a:rPr>
              <a:t>概述</a:t>
            </a:r>
            <a:endParaRPr lang="zh-CN" altLang="en-US" sz="3200" dirty="0"/>
          </a:p>
        </p:txBody>
      </p:sp>
      <p:sp>
        <p:nvSpPr>
          <p:cNvPr id="15" name="Rectangle 3"/>
          <p:cNvSpPr>
            <a:spLocks noChangeArrowheads="1"/>
          </p:cNvSpPr>
          <p:nvPr/>
        </p:nvSpPr>
        <p:spPr bwMode="auto">
          <a:xfrm>
            <a:off x="467544" y="1124744"/>
            <a:ext cx="6984776" cy="400110"/>
          </a:xfrm>
          <a:prstGeom prst="rect">
            <a:avLst/>
          </a:prstGeom>
          <a:noFill/>
          <a:ln w="9525">
            <a:noFill/>
            <a:miter lim="800000"/>
            <a:headEnd/>
            <a:tailEnd/>
          </a:ln>
        </p:spPr>
        <p:txBody>
          <a:bodyPr wrap="square">
            <a:spAutoFit/>
          </a:bodyPr>
          <a:lstStyle/>
          <a:p>
            <a:pPr algn="l">
              <a:spcBef>
                <a:spcPct val="0"/>
              </a:spcBef>
              <a:buClrTx/>
              <a:buSzTx/>
              <a:buFont typeface="Wingdings" pitchFamily="2" charset="2"/>
              <a:buNone/>
              <a:defRPr/>
            </a:pPr>
            <a:r>
              <a:rPr lang="en-US" sz="2000" b="1" dirty="0">
                <a:solidFill>
                  <a:srgbClr val="0066FF"/>
                </a:solidFill>
                <a:ea typeface="黑体" pitchFamily="49" charset="-122"/>
              </a:rPr>
              <a:t>3.</a:t>
            </a:r>
            <a:r>
              <a:rPr lang="zh-CN" altLang="en-US" sz="2000" b="1" dirty="0">
                <a:solidFill>
                  <a:srgbClr val="0066FF"/>
                </a:solidFill>
                <a:ea typeface="黑体" pitchFamily="49" charset="-122"/>
              </a:rPr>
              <a:t>高频小信号放大器的主要性能指标</a:t>
            </a:r>
            <a:r>
              <a:rPr lang="en-US" altLang="zh-CN" sz="2000" b="1" dirty="0">
                <a:solidFill>
                  <a:srgbClr val="0066FF"/>
                </a:solidFill>
                <a:ea typeface="黑体" pitchFamily="49" charset="-122"/>
              </a:rPr>
              <a:t>——</a:t>
            </a:r>
            <a:r>
              <a:rPr lang="zh-CN" altLang="en-US" sz="2000" b="1" dirty="0">
                <a:solidFill>
                  <a:srgbClr val="FF0000"/>
                </a:solidFill>
                <a:ea typeface="黑体" pitchFamily="49" charset="-122"/>
              </a:rPr>
              <a:t>通频带</a:t>
            </a:r>
          </a:p>
        </p:txBody>
      </p:sp>
      <p:sp>
        <p:nvSpPr>
          <p:cNvPr id="2" name="TextBox 1"/>
          <p:cNvSpPr txBox="1"/>
          <p:nvPr/>
        </p:nvSpPr>
        <p:spPr>
          <a:xfrm>
            <a:off x="755576" y="1628800"/>
            <a:ext cx="7488832" cy="1754326"/>
          </a:xfrm>
          <a:prstGeom prst="rect">
            <a:avLst/>
          </a:prstGeom>
          <a:noFill/>
        </p:spPr>
        <p:txBody>
          <a:bodyPr wrap="square" rtlCol="0">
            <a:spAutoFit/>
          </a:bodyPr>
          <a:lstStyle/>
          <a:p>
            <a:pPr marL="342900" indent="-342900">
              <a:lnSpc>
                <a:spcPct val="150000"/>
              </a:lnSpc>
              <a:buSzPct val="65000"/>
              <a:buFont typeface="Wingdings" panose="05000000000000000000" pitchFamily="2" charset="2"/>
              <a:buChar char="l"/>
            </a:pPr>
            <a:r>
              <a:rPr lang="zh-CN" altLang="en-US" sz="2400" b="1" dirty="0">
                <a:latin typeface="楷体_GB2312" pitchFamily="49" charset="-122"/>
                <a:ea typeface="楷体_GB2312" pitchFamily="49" charset="-122"/>
              </a:rPr>
              <a:t>放大器的电压增益下降到最大值的</a:t>
            </a:r>
            <a:r>
              <a:rPr lang="en-US" altLang="zh-CN" sz="2400" b="1" dirty="0">
                <a:latin typeface="楷体_GB2312" pitchFamily="49" charset="-122"/>
                <a:ea typeface="楷体_GB2312" pitchFamily="49" charset="-122"/>
              </a:rPr>
              <a:t>0.7</a:t>
            </a:r>
            <a:r>
              <a:rPr lang="zh-CN" altLang="en-US" sz="2400" b="1" dirty="0">
                <a:latin typeface="楷体_GB2312" pitchFamily="49" charset="-122"/>
                <a:ea typeface="楷体_GB2312" pitchFamily="49" charset="-122"/>
              </a:rPr>
              <a:t>倍时所对应的频率宽度称为</a:t>
            </a:r>
            <a:r>
              <a:rPr lang="zh-CN" altLang="en-US" sz="2400" b="1" dirty="0">
                <a:solidFill>
                  <a:srgbClr val="FF0066"/>
                </a:solidFill>
                <a:latin typeface="楷体_GB2312" pitchFamily="49" charset="-122"/>
                <a:ea typeface="楷体_GB2312" pitchFamily="49" charset="-122"/>
              </a:rPr>
              <a:t>放大器的通频带</a:t>
            </a:r>
            <a:r>
              <a:rPr lang="zh-CN" altLang="en-US" sz="2400" b="1" dirty="0">
                <a:latin typeface="楷体_GB2312" pitchFamily="49" charset="-122"/>
                <a:ea typeface="楷体_GB2312" pitchFamily="49" charset="-122"/>
              </a:rPr>
              <a:t>。</a:t>
            </a:r>
            <a:endParaRPr lang="en-US" altLang="zh-CN" sz="2400" b="1" dirty="0">
              <a:latin typeface="楷体_GB2312" pitchFamily="49" charset="-122"/>
              <a:ea typeface="楷体_GB2312" pitchFamily="49" charset="-122"/>
            </a:endParaRPr>
          </a:p>
          <a:p>
            <a:pPr marL="342900" indent="-342900">
              <a:lnSpc>
                <a:spcPct val="150000"/>
              </a:lnSpc>
              <a:buSzPct val="65000"/>
              <a:buFont typeface="Wingdings" panose="05000000000000000000" pitchFamily="2" charset="2"/>
              <a:buChar char="l"/>
            </a:pPr>
            <a:r>
              <a:rPr lang="zh-CN" altLang="en-US" sz="2400" b="1" dirty="0">
                <a:latin typeface="楷体_GB2312" pitchFamily="49" charset="-122"/>
                <a:ea typeface="楷体_GB2312" pitchFamily="49" charset="-122"/>
              </a:rPr>
              <a:t>常用           表示      也称为</a:t>
            </a:r>
            <a:r>
              <a:rPr lang="en-US" altLang="zh-CN" sz="2400" b="1" dirty="0">
                <a:solidFill>
                  <a:srgbClr val="FF0066"/>
                </a:solidFill>
                <a:latin typeface="楷体_GB2312" pitchFamily="49" charset="-122"/>
                <a:ea typeface="楷体_GB2312" pitchFamily="49" charset="-122"/>
              </a:rPr>
              <a:t>3dB</a:t>
            </a:r>
            <a:r>
              <a:rPr lang="zh-CN" altLang="en-US" sz="2400" b="1" dirty="0">
                <a:solidFill>
                  <a:srgbClr val="FF0066"/>
                </a:solidFill>
                <a:latin typeface="楷体_GB2312" pitchFamily="49" charset="-122"/>
                <a:ea typeface="楷体_GB2312" pitchFamily="49" charset="-122"/>
              </a:rPr>
              <a:t>带宽。</a:t>
            </a:r>
            <a:endParaRPr lang="zh-CN" altLang="en-US" sz="2400" b="1" dirty="0">
              <a:latin typeface="楷体_GB2312" pitchFamily="49" charset="-122"/>
              <a:ea typeface="楷体_GB2312" pitchFamily="49"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1105930914"/>
              </p:ext>
            </p:extLst>
          </p:nvPr>
        </p:nvGraphicFramePr>
        <p:xfrm>
          <a:off x="1907704" y="2864867"/>
          <a:ext cx="1368425" cy="492125"/>
        </p:xfrm>
        <a:graphic>
          <a:graphicData uri="http://schemas.openxmlformats.org/presentationml/2006/ole">
            <mc:AlternateContent xmlns:mc="http://schemas.openxmlformats.org/markup-compatibility/2006">
              <mc:Choice xmlns:v="urn:schemas-microsoft-com:vml" Requires="v">
                <p:oleObj spid="_x0000_s113754" name="Equation" r:id="rId4" imgW="634725" imgH="228501" progId="Equation.DSMT4">
                  <p:embed/>
                </p:oleObj>
              </mc:Choice>
              <mc:Fallback>
                <p:oleObj name="Equation" r:id="rId4" imgW="634725" imgH="228501"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7704" y="2864867"/>
                        <a:ext cx="1368425" cy="49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691955103"/>
              </p:ext>
            </p:extLst>
          </p:nvPr>
        </p:nvGraphicFramePr>
        <p:xfrm>
          <a:off x="4157439" y="2848750"/>
          <a:ext cx="846609" cy="508242"/>
        </p:xfrm>
        <a:graphic>
          <a:graphicData uri="http://schemas.openxmlformats.org/presentationml/2006/ole">
            <mc:AlternateContent xmlns:mc="http://schemas.openxmlformats.org/markup-compatibility/2006">
              <mc:Choice xmlns:v="urn:schemas-microsoft-com:vml" Requires="v">
                <p:oleObj spid="_x0000_s113755" name="Equation" r:id="rId6" imgW="381000" imgH="228600" progId="Equation.DSMT4">
                  <p:embed/>
                </p:oleObj>
              </mc:Choice>
              <mc:Fallback>
                <p:oleObj name="Equation" r:id="rId6" imgW="381000" imgH="2286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57439" y="2848750"/>
                        <a:ext cx="846609" cy="508242"/>
                      </a:xfrm>
                      <a:prstGeom prst="rect">
                        <a:avLst/>
                      </a:prstGeom>
                      <a:noFill/>
                      <a:ln>
                        <a:noFill/>
                      </a:ln>
                      <a:effectLst/>
                    </p:spPr>
                  </p:pic>
                </p:oleObj>
              </mc:Fallback>
            </mc:AlternateContent>
          </a:graphicData>
        </a:graphic>
      </p:graphicFrame>
      <p:pic>
        <p:nvPicPr>
          <p:cNvPr id="14"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93908" y="3602169"/>
            <a:ext cx="3430939" cy="290245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对象 2"/>
          <p:cNvGraphicFramePr>
            <a:graphicFrameLocks noChangeAspect="1"/>
          </p:cNvGraphicFramePr>
          <p:nvPr>
            <p:extLst>
              <p:ext uri="{D42A27DB-BD31-4B8C-83A1-F6EECF244321}">
                <p14:modId xmlns:p14="http://schemas.microsoft.com/office/powerpoint/2010/main" val="2610785599"/>
              </p:ext>
            </p:extLst>
          </p:nvPr>
        </p:nvGraphicFramePr>
        <p:xfrm>
          <a:off x="3275856" y="3429000"/>
          <a:ext cx="432048" cy="774086"/>
        </p:xfrm>
        <a:graphic>
          <a:graphicData uri="http://schemas.openxmlformats.org/presentationml/2006/ole">
            <mc:AlternateContent xmlns:mc="http://schemas.openxmlformats.org/markup-compatibility/2006">
              <mc:Choice xmlns:v="urn:schemas-microsoft-com:vml" Requires="v">
                <p:oleObj spid="_x0000_s113756" name="Equation" r:id="rId9" imgW="203040" imgH="431640" progId="Equation.DSMT4">
                  <p:embed/>
                </p:oleObj>
              </mc:Choice>
              <mc:Fallback>
                <p:oleObj name="Equation" r:id="rId9" imgW="203040" imgH="431640" progId="Equation.DSMT4">
                  <p:embed/>
                  <p:pic>
                    <p:nvPicPr>
                      <p:cNvPr id="0" name=""/>
                      <p:cNvPicPr/>
                      <p:nvPr/>
                    </p:nvPicPr>
                    <p:blipFill>
                      <a:blip r:embed="rId10"/>
                      <a:stretch>
                        <a:fillRect/>
                      </a:stretch>
                    </p:blipFill>
                    <p:spPr>
                      <a:xfrm>
                        <a:off x="3275856" y="3429000"/>
                        <a:ext cx="432048" cy="774086"/>
                      </a:xfrm>
                      <a:prstGeom prst="rect">
                        <a:avLst/>
                      </a:prstGeom>
                      <a:solidFill>
                        <a:schemeClr val="bg1"/>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557134461"/>
              </p:ext>
            </p:extLst>
          </p:nvPr>
        </p:nvGraphicFramePr>
        <p:xfrm>
          <a:off x="6084168" y="3717032"/>
          <a:ext cx="1542658" cy="904317"/>
        </p:xfrm>
        <a:graphic>
          <a:graphicData uri="http://schemas.openxmlformats.org/presentationml/2006/ole">
            <mc:AlternateContent xmlns:mc="http://schemas.openxmlformats.org/markup-compatibility/2006">
              <mc:Choice xmlns:v="urn:schemas-microsoft-com:vml" Requires="v">
                <p:oleObj spid="_x0000_s113757" name="Equation" r:id="rId11" imgW="736560" imgH="431640" progId="Equation.DSMT4">
                  <p:embed/>
                </p:oleObj>
              </mc:Choice>
              <mc:Fallback>
                <p:oleObj name="Equation" r:id="rId11" imgW="736560" imgH="431640" progId="Equation.DSMT4">
                  <p:embed/>
                  <p:pic>
                    <p:nvPicPr>
                      <p:cNvPr id="0" name=""/>
                      <p:cNvPicPr/>
                      <p:nvPr/>
                    </p:nvPicPr>
                    <p:blipFill>
                      <a:blip r:embed="rId12"/>
                      <a:stretch>
                        <a:fillRect/>
                      </a:stretch>
                    </p:blipFill>
                    <p:spPr>
                      <a:xfrm>
                        <a:off x="6084168" y="3717032"/>
                        <a:ext cx="1542658" cy="904317"/>
                      </a:xfrm>
                      <a:prstGeom prst="rect">
                        <a:avLst/>
                      </a:prstGeom>
                      <a:solidFill>
                        <a:schemeClr val="accent1">
                          <a:lumMod val="20000"/>
                          <a:lumOff val="80000"/>
                        </a:schemeClr>
                      </a:solidFill>
                    </p:spPr>
                  </p:pic>
                </p:oleObj>
              </mc:Fallback>
            </mc:AlternateContent>
          </a:graphicData>
        </a:graphic>
      </p:graphicFrame>
    </p:spTree>
    <p:extLst>
      <p:ext uri="{BB962C8B-B14F-4D97-AF65-F5344CB8AC3E}">
        <p14:creationId xmlns:p14="http://schemas.microsoft.com/office/powerpoint/2010/main" val="3316177917"/>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27</a:t>
            </a:fld>
            <a:endParaRPr lang="en-US" altLang="zh-CN" dirty="0">
              <a:solidFill>
                <a:srgbClr val="000000"/>
              </a:solidFill>
            </a:endParaRPr>
          </a:p>
        </p:txBody>
      </p:sp>
      <p:sp>
        <p:nvSpPr>
          <p:cNvPr id="21" name="内容占位符 20"/>
          <p:cNvSpPr>
            <a:spLocks noGrp="1"/>
          </p:cNvSpPr>
          <p:nvPr>
            <p:ph idx="1"/>
          </p:nvPr>
        </p:nvSpPr>
        <p:spPr>
          <a:xfrm>
            <a:off x="395536" y="260648"/>
            <a:ext cx="2356182" cy="648072"/>
          </a:xfrm>
          <a:solidFill>
            <a:srgbClr val="862714"/>
          </a:solidFill>
        </p:spPr>
        <p:txBody>
          <a:bodyPr/>
          <a:lstStyle/>
          <a:p>
            <a:pPr>
              <a:buClr>
                <a:schemeClr val="bg1"/>
              </a:buClr>
              <a:buFont typeface="Wingdings" panose="05000000000000000000" pitchFamily="2" charset="2"/>
              <a:buChar char="l"/>
            </a:pPr>
            <a:r>
              <a:rPr lang="en-US" altLang="zh-CN" sz="3200" dirty="0">
                <a:solidFill>
                  <a:schemeClr val="bg1"/>
                </a:solidFill>
                <a:latin typeface="Garamond"/>
                <a:ea typeface="华文行楷"/>
                <a:cs typeface="+mj-cs"/>
              </a:rPr>
              <a:t>2.4.1 </a:t>
            </a:r>
            <a:r>
              <a:rPr lang="zh-CN" altLang="en-US" sz="3200" dirty="0">
                <a:solidFill>
                  <a:schemeClr val="bg1"/>
                </a:solidFill>
                <a:latin typeface="Garamond"/>
                <a:ea typeface="华文行楷"/>
                <a:cs typeface="+mj-cs"/>
              </a:rPr>
              <a:t>概述</a:t>
            </a:r>
            <a:endParaRPr lang="zh-CN" altLang="en-US" sz="3200" dirty="0"/>
          </a:p>
        </p:txBody>
      </p:sp>
      <p:sp>
        <p:nvSpPr>
          <p:cNvPr id="15" name="Rectangle 3"/>
          <p:cNvSpPr>
            <a:spLocks noChangeArrowheads="1"/>
          </p:cNvSpPr>
          <p:nvPr/>
        </p:nvSpPr>
        <p:spPr bwMode="auto">
          <a:xfrm>
            <a:off x="467544" y="1124744"/>
            <a:ext cx="6984776" cy="400110"/>
          </a:xfrm>
          <a:prstGeom prst="rect">
            <a:avLst/>
          </a:prstGeom>
          <a:noFill/>
          <a:ln w="9525">
            <a:noFill/>
            <a:miter lim="800000"/>
            <a:headEnd/>
            <a:tailEnd/>
          </a:ln>
        </p:spPr>
        <p:txBody>
          <a:bodyPr wrap="square">
            <a:spAutoFit/>
          </a:bodyPr>
          <a:lstStyle/>
          <a:p>
            <a:pPr algn="l">
              <a:spcBef>
                <a:spcPct val="0"/>
              </a:spcBef>
              <a:buClrTx/>
              <a:buSzTx/>
              <a:buFont typeface="Wingdings" pitchFamily="2" charset="2"/>
              <a:buNone/>
              <a:defRPr/>
            </a:pPr>
            <a:r>
              <a:rPr lang="en-US" sz="2000" b="1" dirty="0" smtClean="0">
                <a:solidFill>
                  <a:srgbClr val="0066FF"/>
                </a:solidFill>
                <a:ea typeface="黑体" pitchFamily="49" charset="-122"/>
              </a:rPr>
              <a:t>4.</a:t>
            </a:r>
            <a:r>
              <a:rPr lang="zh-CN" altLang="en-US" sz="2000" b="1" dirty="0" smtClean="0">
                <a:solidFill>
                  <a:srgbClr val="0066FF"/>
                </a:solidFill>
                <a:ea typeface="黑体" pitchFamily="49" charset="-122"/>
              </a:rPr>
              <a:t>高频</a:t>
            </a:r>
            <a:r>
              <a:rPr lang="zh-CN" altLang="en-US" sz="2000" b="1" dirty="0">
                <a:solidFill>
                  <a:srgbClr val="0066FF"/>
                </a:solidFill>
                <a:ea typeface="黑体" pitchFamily="49" charset="-122"/>
              </a:rPr>
              <a:t>小信号放大器的主要性能指标</a:t>
            </a:r>
            <a:r>
              <a:rPr lang="en-US" altLang="zh-CN" sz="2000" b="1" dirty="0">
                <a:solidFill>
                  <a:srgbClr val="0066FF"/>
                </a:solidFill>
                <a:ea typeface="黑体" pitchFamily="49" charset="-122"/>
              </a:rPr>
              <a:t>——</a:t>
            </a:r>
            <a:r>
              <a:rPr lang="zh-CN" altLang="en-US" sz="2000" b="1" dirty="0">
                <a:solidFill>
                  <a:srgbClr val="FF0000"/>
                </a:solidFill>
                <a:ea typeface="黑体" pitchFamily="49" charset="-122"/>
              </a:rPr>
              <a:t>选择性</a:t>
            </a:r>
          </a:p>
        </p:txBody>
      </p:sp>
      <p:sp>
        <p:nvSpPr>
          <p:cNvPr id="12" name="TextBox 11"/>
          <p:cNvSpPr txBox="1"/>
          <p:nvPr/>
        </p:nvSpPr>
        <p:spPr>
          <a:xfrm>
            <a:off x="467544" y="1755508"/>
            <a:ext cx="8280920" cy="574581"/>
          </a:xfrm>
          <a:prstGeom prst="rect">
            <a:avLst/>
          </a:prstGeom>
          <a:noFill/>
        </p:spPr>
        <p:txBody>
          <a:bodyPr wrap="square" rtlCol="0">
            <a:spAutoFit/>
          </a:bodyPr>
          <a:lstStyle/>
          <a:p>
            <a:pPr marL="342900" indent="-342900">
              <a:lnSpc>
                <a:spcPct val="150000"/>
              </a:lnSpc>
              <a:buSzPct val="65000"/>
              <a:buFont typeface="Wingdings" panose="05000000000000000000" pitchFamily="2" charset="2"/>
              <a:buChar char="l"/>
            </a:pPr>
            <a:r>
              <a:rPr lang="en-US" altLang="zh-CN" sz="2400" b="1" dirty="0">
                <a:solidFill>
                  <a:srgbClr val="FF0000"/>
                </a:solidFill>
              </a:rPr>
              <a:t>(1)</a:t>
            </a:r>
            <a:r>
              <a:rPr lang="zh-CN" altLang="en-US" sz="2400" b="1" dirty="0">
                <a:solidFill>
                  <a:srgbClr val="FF0000"/>
                </a:solidFill>
              </a:rPr>
              <a:t>矩形系数：</a:t>
            </a:r>
            <a:endParaRPr lang="en-US" altLang="zh-CN" sz="2400" b="1" dirty="0">
              <a:solidFill>
                <a:srgbClr val="FF0000"/>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416431442"/>
              </p:ext>
            </p:extLst>
          </p:nvPr>
        </p:nvGraphicFramePr>
        <p:xfrm>
          <a:off x="2872956" y="1717258"/>
          <a:ext cx="1657743" cy="894655"/>
        </p:xfrm>
        <a:graphic>
          <a:graphicData uri="http://schemas.openxmlformats.org/presentationml/2006/ole">
            <mc:AlternateContent xmlns:mc="http://schemas.openxmlformats.org/markup-compatibility/2006">
              <mc:Choice xmlns:v="urn:schemas-microsoft-com:vml" Requires="v">
                <p:oleObj spid="_x0000_s114734" name="Equation" r:id="rId4" imgW="799920" imgH="431640" progId="Equation.DSMT4">
                  <p:embed/>
                </p:oleObj>
              </mc:Choice>
              <mc:Fallback>
                <p:oleObj name="Equation" r:id="rId4" imgW="799920" imgH="431640" progId="Equation.DSMT4">
                  <p:embed/>
                  <p:pic>
                    <p:nvPicPr>
                      <p:cNvPr id="0" name=""/>
                      <p:cNvPicPr/>
                      <p:nvPr/>
                    </p:nvPicPr>
                    <p:blipFill>
                      <a:blip r:embed="rId5"/>
                      <a:stretch>
                        <a:fillRect/>
                      </a:stretch>
                    </p:blipFill>
                    <p:spPr>
                      <a:xfrm>
                        <a:off x="2872956" y="1717258"/>
                        <a:ext cx="1657743" cy="894655"/>
                      </a:xfrm>
                      <a:prstGeom prst="rect">
                        <a:avLst/>
                      </a:prstGeom>
                    </p:spPr>
                  </p:pic>
                </p:oleObj>
              </mc:Fallback>
            </mc:AlternateContent>
          </a:graphicData>
        </a:graphic>
      </p:graphicFrame>
      <p:sp>
        <p:nvSpPr>
          <p:cNvPr id="13" name="TextBox 12"/>
          <p:cNvSpPr txBox="1"/>
          <p:nvPr/>
        </p:nvSpPr>
        <p:spPr>
          <a:xfrm>
            <a:off x="539552" y="2636912"/>
            <a:ext cx="7063230" cy="553998"/>
          </a:xfrm>
          <a:prstGeom prst="rect">
            <a:avLst/>
          </a:prstGeom>
          <a:noFill/>
        </p:spPr>
        <p:txBody>
          <a:bodyPr wrap="square" rtlCol="0">
            <a:spAutoFit/>
          </a:bodyPr>
          <a:lstStyle/>
          <a:p>
            <a:pPr marL="342900" indent="-342900">
              <a:lnSpc>
                <a:spcPct val="150000"/>
              </a:lnSpc>
              <a:buSzPct val="65000"/>
              <a:buFont typeface="Wingdings" panose="05000000000000000000" pitchFamily="2" charset="2"/>
              <a:buChar char="l"/>
            </a:pPr>
            <a:r>
              <a:rPr lang="zh-CN" altLang="en-US" sz="2000" b="1" dirty="0">
                <a:solidFill>
                  <a:srgbClr val="0070C0"/>
                </a:solidFill>
              </a:rPr>
              <a:t>表征放大器对截止频率以外的信号的衰减程度。</a:t>
            </a:r>
            <a:r>
              <a:rPr lang="en-US" altLang="zh-CN" sz="2000" b="1" dirty="0">
                <a:solidFill>
                  <a:srgbClr val="0070C0"/>
                </a:solidFill>
                <a:latin typeface="Times New Roman" panose="02020603050405020304" pitchFamily="18" charset="0"/>
                <a:cs typeface="Times New Roman" panose="02020603050405020304" pitchFamily="18" charset="0"/>
              </a:rPr>
              <a:t>K </a:t>
            </a:r>
            <a:r>
              <a:rPr lang="zh-CN" altLang="en-US" sz="2000" b="1" dirty="0">
                <a:solidFill>
                  <a:srgbClr val="0070C0"/>
                </a:solidFill>
                <a:latin typeface="Times New Roman" panose="02020603050405020304" pitchFamily="18" charset="0"/>
                <a:cs typeface="Times New Roman" panose="02020603050405020304" pitchFamily="18" charset="0"/>
              </a:rPr>
              <a:t>≥ </a:t>
            </a:r>
            <a:r>
              <a:rPr lang="en-US" altLang="zh-CN" sz="2000" b="1" dirty="0">
                <a:solidFill>
                  <a:srgbClr val="0070C0"/>
                </a:solidFill>
                <a:latin typeface="Times New Roman" panose="02020603050405020304" pitchFamily="18" charset="0"/>
                <a:cs typeface="Times New Roman" panose="02020603050405020304" pitchFamily="18" charset="0"/>
              </a:rPr>
              <a:t>1</a:t>
            </a:r>
          </a:p>
        </p:txBody>
      </p:sp>
      <p:graphicFrame>
        <p:nvGraphicFramePr>
          <p:cNvPr id="2" name="对象 1"/>
          <p:cNvGraphicFramePr>
            <a:graphicFrameLocks noChangeAspect="1"/>
          </p:cNvGraphicFramePr>
          <p:nvPr>
            <p:extLst>
              <p:ext uri="{D42A27DB-BD31-4B8C-83A1-F6EECF244321}">
                <p14:modId xmlns:p14="http://schemas.microsoft.com/office/powerpoint/2010/main" val="2678377707"/>
              </p:ext>
            </p:extLst>
          </p:nvPr>
        </p:nvGraphicFramePr>
        <p:xfrm>
          <a:off x="3673891" y="3548404"/>
          <a:ext cx="431800" cy="774700"/>
        </p:xfrm>
        <a:graphic>
          <a:graphicData uri="http://schemas.openxmlformats.org/presentationml/2006/ole">
            <mc:AlternateContent xmlns:mc="http://schemas.openxmlformats.org/markup-compatibility/2006">
              <mc:Choice xmlns:v="urn:schemas-microsoft-com:vml" Requires="v">
                <p:oleObj spid="_x0000_s114735" name="Equation" r:id="rId6" imgW="203040" imgH="431640" progId="Equation.DSMT4">
                  <p:embed/>
                </p:oleObj>
              </mc:Choice>
              <mc:Fallback>
                <p:oleObj name="Equation" r:id="rId6" imgW="203040" imgH="4316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73891" y="3548404"/>
                        <a:ext cx="431800" cy="774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 name="Group 5"/>
          <p:cNvGrpSpPr>
            <a:grpSpLocks/>
          </p:cNvGrpSpPr>
          <p:nvPr/>
        </p:nvGrpSpPr>
        <p:grpSpPr bwMode="auto">
          <a:xfrm>
            <a:off x="2699792" y="3685590"/>
            <a:ext cx="3477319" cy="2335698"/>
            <a:chOff x="3291" y="370"/>
            <a:chExt cx="2009" cy="1361"/>
          </a:xfrm>
        </p:grpSpPr>
        <p:sp>
          <p:nvSpPr>
            <p:cNvPr id="16" name="Line 7"/>
            <p:cNvSpPr>
              <a:spLocks noChangeShapeType="1"/>
            </p:cNvSpPr>
            <p:nvPr/>
          </p:nvSpPr>
          <p:spPr bwMode="auto">
            <a:xfrm>
              <a:off x="3456" y="1399"/>
              <a:ext cx="1512" cy="0"/>
            </a:xfrm>
            <a:prstGeom prst="line">
              <a:avLst/>
            </a:prstGeom>
            <a:noFill/>
            <a:ln w="25400">
              <a:solidFill>
                <a:srgbClr val="00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17" name="Line 8"/>
            <p:cNvSpPr>
              <a:spLocks noChangeShapeType="1"/>
            </p:cNvSpPr>
            <p:nvPr/>
          </p:nvSpPr>
          <p:spPr bwMode="auto">
            <a:xfrm rot="-5400000">
              <a:off x="3639" y="885"/>
              <a:ext cx="1029" cy="0"/>
            </a:xfrm>
            <a:prstGeom prst="line">
              <a:avLst/>
            </a:prstGeom>
            <a:noFill/>
            <a:ln w="25400">
              <a:solidFill>
                <a:srgbClr val="00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18" name="Rectangle 9"/>
            <p:cNvSpPr>
              <a:spLocks noChangeArrowheads="1"/>
            </p:cNvSpPr>
            <p:nvPr/>
          </p:nvSpPr>
          <p:spPr bwMode="auto">
            <a:xfrm>
              <a:off x="4030" y="1356"/>
              <a:ext cx="527" cy="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000" b="1" i="1" u="none" strike="noStrike" kern="0" cap="none" spc="0" normalizeH="0" baseline="0" noProof="0" dirty="0">
                  <a:ln>
                    <a:noFill/>
                  </a:ln>
                  <a:solidFill>
                    <a:srgbClr val="000000"/>
                  </a:solidFill>
                  <a:effectLst/>
                  <a:uLnTx/>
                  <a:uFillTx/>
                  <a:latin typeface="Times New Roman" pitchFamily="18" charset="0"/>
                  <a:ea typeface="宋体" pitchFamily="2" charset="-122"/>
                </a:rPr>
                <a:t>O</a:t>
              </a:r>
              <a:endParaRPr kumimoji="1" lang="en-US" altLang="zh-CN" sz="2000" b="1" i="0" u="none" strike="noStrike" kern="0" cap="none" spc="0" normalizeH="0" baseline="-25000" noProof="0" dirty="0">
                <a:ln>
                  <a:noFill/>
                </a:ln>
                <a:solidFill>
                  <a:srgbClr val="000000"/>
                </a:solidFill>
                <a:effectLst/>
                <a:uLnTx/>
                <a:uFillTx/>
                <a:latin typeface="Times New Roman" pitchFamily="18" charset="0"/>
                <a:ea typeface="宋体" pitchFamily="2" charset="-122"/>
              </a:endParaRPr>
            </a:p>
            <a:p>
              <a:pPr marL="0" marR="0" lvl="0" indent="0" defTabSz="914400" eaLnBrk="1" fontAlgn="base" latinLnBrk="0" hangingPunct="1">
                <a:lnSpc>
                  <a:spcPct val="100000"/>
                </a:lnSpc>
                <a:spcBef>
                  <a:spcPct val="0"/>
                </a:spcBef>
                <a:spcAft>
                  <a:spcPct val="0"/>
                </a:spcAft>
                <a:buClrTx/>
                <a:buSzTx/>
                <a:buFontTx/>
                <a:buNone/>
                <a:tabLst/>
                <a:defRPr/>
              </a:pPr>
              <a:endParaRPr kumimoji="1" lang="en-US" altLang="zh-CN" sz="2000" b="1" i="0" u="none" strike="noStrike" kern="0" cap="none" spc="0" normalizeH="0" baseline="-25000" noProof="0" dirty="0">
                <a:ln>
                  <a:noFill/>
                </a:ln>
                <a:solidFill>
                  <a:srgbClr val="000000"/>
                </a:solidFill>
                <a:effectLst/>
                <a:uLnTx/>
                <a:uFillTx/>
                <a:latin typeface="Times New Roman" pitchFamily="18" charset="0"/>
                <a:ea typeface="宋体" pitchFamily="2" charset="-122"/>
                <a:sym typeface="Symbol" pitchFamily="18" charset="2"/>
              </a:endParaRPr>
            </a:p>
          </p:txBody>
        </p:sp>
        <p:sp>
          <p:nvSpPr>
            <p:cNvPr id="19" name="Rectangle 10"/>
            <p:cNvSpPr>
              <a:spLocks noChangeArrowheads="1"/>
            </p:cNvSpPr>
            <p:nvPr/>
          </p:nvSpPr>
          <p:spPr bwMode="auto">
            <a:xfrm>
              <a:off x="4183" y="463"/>
              <a:ext cx="4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pitchFamily="2" charset="-122"/>
                </a:rPr>
                <a:t>1.0</a:t>
              </a:r>
              <a:endParaRPr kumimoji="1" lang="en-US" altLang="zh-CN" sz="2400" b="1" i="0" u="none" strike="noStrike" kern="0" cap="none" spc="0" normalizeH="0" baseline="-25000" noProof="0">
                <a:ln>
                  <a:noFill/>
                </a:ln>
                <a:solidFill>
                  <a:srgbClr val="000000"/>
                </a:solidFill>
                <a:effectLst/>
                <a:uLnTx/>
                <a:uFillTx/>
                <a:latin typeface="Times New Roman" pitchFamily="18" charset="0"/>
                <a:ea typeface="宋体" pitchFamily="2" charset="-122"/>
              </a:endParaRPr>
            </a:p>
          </p:txBody>
        </p:sp>
        <p:sp>
          <p:nvSpPr>
            <p:cNvPr id="20" name="Rectangle 11"/>
            <p:cNvSpPr>
              <a:spLocks noChangeArrowheads="1"/>
            </p:cNvSpPr>
            <p:nvPr/>
          </p:nvSpPr>
          <p:spPr bwMode="auto">
            <a:xfrm>
              <a:off x="4914" y="1187"/>
              <a:ext cx="38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dirty="0">
                  <a:ln>
                    <a:noFill/>
                  </a:ln>
                  <a:solidFill>
                    <a:srgbClr val="000000"/>
                  </a:solidFill>
                  <a:effectLst/>
                  <a:uLnTx/>
                  <a:uFillTx/>
                  <a:latin typeface="Times New Roman" pitchFamily="18" charset="0"/>
                  <a:ea typeface="宋体" pitchFamily="2" charset="-122"/>
                </a:rPr>
                <a:t> f</a:t>
              </a:r>
            </a:p>
          </p:txBody>
        </p:sp>
        <p:grpSp>
          <p:nvGrpSpPr>
            <p:cNvPr id="22" name="Group 12"/>
            <p:cNvGrpSpPr>
              <a:grpSpLocks/>
            </p:cNvGrpSpPr>
            <p:nvPr/>
          </p:nvGrpSpPr>
          <p:grpSpPr bwMode="auto">
            <a:xfrm>
              <a:off x="3582" y="722"/>
              <a:ext cx="1155" cy="644"/>
              <a:chOff x="546" y="2596"/>
              <a:chExt cx="1155" cy="644"/>
            </a:xfrm>
          </p:grpSpPr>
          <p:sp>
            <p:nvSpPr>
              <p:cNvPr id="31" name="Freeform 13"/>
              <p:cNvSpPr>
                <a:spLocks/>
              </p:cNvSpPr>
              <p:nvPr/>
            </p:nvSpPr>
            <p:spPr bwMode="auto">
              <a:xfrm>
                <a:off x="546" y="2596"/>
                <a:ext cx="579" cy="644"/>
              </a:xfrm>
              <a:custGeom>
                <a:avLst/>
                <a:gdLst>
                  <a:gd name="T0" fmla="*/ 0 w 579"/>
                  <a:gd name="T1" fmla="*/ 644 h 644"/>
                  <a:gd name="T2" fmla="*/ 176 w 579"/>
                  <a:gd name="T3" fmla="*/ 578 h 644"/>
                  <a:gd name="T4" fmla="*/ 366 w 579"/>
                  <a:gd name="T5" fmla="*/ 401 h 644"/>
                  <a:gd name="T6" fmla="*/ 445 w 579"/>
                  <a:gd name="T7" fmla="*/ 241 h 644"/>
                  <a:gd name="T8" fmla="*/ 512 w 579"/>
                  <a:gd name="T9" fmla="*/ 48 h 644"/>
                  <a:gd name="T10" fmla="*/ 579 w 579"/>
                  <a:gd name="T11" fmla="*/ 0 h 6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9" h="644">
                    <a:moveTo>
                      <a:pt x="0" y="644"/>
                    </a:moveTo>
                    <a:cubicBezTo>
                      <a:pt x="31" y="633"/>
                      <a:pt x="115" y="618"/>
                      <a:pt x="176" y="578"/>
                    </a:cubicBezTo>
                    <a:cubicBezTo>
                      <a:pt x="237" y="538"/>
                      <a:pt x="322" y="457"/>
                      <a:pt x="366" y="401"/>
                    </a:cubicBezTo>
                    <a:cubicBezTo>
                      <a:pt x="411" y="345"/>
                      <a:pt x="421" y="300"/>
                      <a:pt x="445" y="241"/>
                    </a:cubicBezTo>
                    <a:cubicBezTo>
                      <a:pt x="469" y="182"/>
                      <a:pt x="489" y="88"/>
                      <a:pt x="512" y="48"/>
                    </a:cubicBezTo>
                    <a:cubicBezTo>
                      <a:pt x="534" y="8"/>
                      <a:pt x="557" y="4"/>
                      <a:pt x="579" y="0"/>
                    </a:cubicBezTo>
                  </a:path>
                </a:pathLst>
              </a:custGeom>
              <a:noFill/>
              <a:ln w="38100" cmpd="sng">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32" name="Freeform 14"/>
              <p:cNvSpPr>
                <a:spLocks/>
              </p:cNvSpPr>
              <p:nvPr/>
            </p:nvSpPr>
            <p:spPr bwMode="auto">
              <a:xfrm flipH="1">
                <a:off x="1122" y="2596"/>
                <a:ext cx="579" cy="644"/>
              </a:xfrm>
              <a:custGeom>
                <a:avLst/>
                <a:gdLst>
                  <a:gd name="T0" fmla="*/ 0 w 579"/>
                  <a:gd name="T1" fmla="*/ 644 h 644"/>
                  <a:gd name="T2" fmla="*/ 176 w 579"/>
                  <a:gd name="T3" fmla="*/ 578 h 644"/>
                  <a:gd name="T4" fmla="*/ 366 w 579"/>
                  <a:gd name="T5" fmla="*/ 401 h 644"/>
                  <a:gd name="T6" fmla="*/ 445 w 579"/>
                  <a:gd name="T7" fmla="*/ 241 h 644"/>
                  <a:gd name="T8" fmla="*/ 512 w 579"/>
                  <a:gd name="T9" fmla="*/ 48 h 644"/>
                  <a:gd name="T10" fmla="*/ 579 w 579"/>
                  <a:gd name="T11" fmla="*/ 0 h 6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9" h="644">
                    <a:moveTo>
                      <a:pt x="0" y="644"/>
                    </a:moveTo>
                    <a:cubicBezTo>
                      <a:pt x="31" y="633"/>
                      <a:pt x="115" y="618"/>
                      <a:pt x="176" y="578"/>
                    </a:cubicBezTo>
                    <a:cubicBezTo>
                      <a:pt x="237" y="538"/>
                      <a:pt x="322" y="457"/>
                      <a:pt x="366" y="401"/>
                    </a:cubicBezTo>
                    <a:cubicBezTo>
                      <a:pt x="411" y="345"/>
                      <a:pt x="421" y="300"/>
                      <a:pt x="445" y="241"/>
                    </a:cubicBezTo>
                    <a:cubicBezTo>
                      <a:pt x="469" y="182"/>
                      <a:pt x="489" y="88"/>
                      <a:pt x="512" y="48"/>
                    </a:cubicBezTo>
                    <a:cubicBezTo>
                      <a:pt x="534" y="8"/>
                      <a:pt x="557" y="4"/>
                      <a:pt x="579" y="0"/>
                    </a:cubicBezTo>
                  </a:path>
                </a:pathLst>
              </a:custGeom>
              <a:noFill/>
              <a:ln w="38100" cmpd="sng">
                <a:solidFill>
                  <a:srgbClr val="FF0066"/>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grpSp>
        <p:sp>
          <p:nvSpPr>
            <p:cNvPr id="23" name="Rectangle 15"/>
            <p:cNvSpPr>
              <a:spLocks noChangeArrowheads="1"/>
            </p:cNvSpPr>
            <p:nvPr/>
          </p:nvSpPr>
          <p:spPr bwMode="auto">
            <a:xfrm>
              <a:off x="4346" y="730"/>
              <a:ext cx="39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0.7</a:t>
              </a:r>
            </a:p>
          </p:txBody>
        </p:sp>
        <p:sp>
          <p:nvSpPr>
            <p:cNvPr id="24" name="Rectangle 16"/>
            <p:cNvSpPr>
              <a:spLocks noChangeArrowheads="1"/>
            </p:cNvSpPr>
            <p:nvPr/>
          </p:nvSpPr>
          <p:spPr bwMode="auto">
            <a:xfrm>
              <a:off x="4044" y="940"/>
              <a:ext cx="240" cy="456"/>
            </a:xfrm>
            <a:prstGeom prst="rect">
              <a:avLst/>
            </a:prstGeom>
            <a:noFill/>
            <a:ln w="19050">
              <a:solidFill>
                <a:srgbClr val="000000"/>
              </a:solidFill>
              <a:prstDash val="dash"/>
              <a:miter lim="800000"/>
              <a:headEnd/>
              <a:tailEnd/>
            </a:ln>
            <a:effectLst/>
            <a:extLst>
              <a:ext uri="{909E8E84-426E-40DD-AFC4-6F175D3DCCD1}">
                <a14:hiddenFill xmlns:a14="http://schemas.microsoft.com/office/drawing/2010/main">
                  <a:solidFill>
                    <a:srgbClr val="996600">
                      <a:alpha val="50195"/>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Arial" pitchFamily="34" charset="0"/>
                <a:ea typeface="宋体" pitchFamily="2" charset="-122"/>
              </a:endParaRPr>
            </a:p>
          </p:txBody>
        </p:sp>
        <p:sp>
          <p:nvSpPr>
            <p:cNvPr id="25" name="Rectangle 17"/>
            <p:cNvSpPr>
              <a:spLocks noChangeArrowheads="1"/>
            </p:cNvSpPr>
            <p:nvPr/>
          </p:nvSpPr>
          <p:spPr bwMode="auto">
            <a:xfrm>
              <a:off x="3804" y="1258"/>
              <a:ext cx="696" cy="144"/>
            </a:xfrm>
            <a:prstGeom prst="rect">
              <a:avLst/>
            </a:prstGeom>
            <a:noFill/>
            <a:ln w="19050">
              <a:solidFill>
                <a:srgbClr val="000000"/>
              </a:solidFill>
              <a:prstDash val="dash"/>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Arial" pitchFamily="34" charset="0"/>
                <a:ea typeface="宋体" pitchFamily="2" charset="-122"/>
              </a:endParaRPr>
            </a:p>
          </p:txBody>
        </p:sp>
        <p:sp>
          <p:nvSpPr>
            <p:cNvPr id="26" name="Rectangle 18"/>
            <p:cNvSpPr>
              <a:spLocks noChangeArrowheads="1"/>
            </p:cNvSpPr>
            <p:nvPr/>
          </p:nvSpPr>
          <p:spPr bwMode="auto">
            <a:xfrm>
              <a:off x="4466" y="1078"/>
              <a:ext cx="70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pitchFamily="2" charset="-122"/>
                </a:rPr>
                <a:t>0.1</a:t>
              </a:r>
            </a:p>
          </p:txBody>
        </p:sp>
        <p:sp>
          <p:nvSpPr>
            <p:cNvPr id="27" name="Line 19"/>
            <p:cNvSpPr>
              <a:spLocks noChangeShapeType="1"/>
            </p:cNvSpPr>
            <p:nvPr/>
          </p:nvSpPr>
          <p:spPr bwMode="auto">
            <a:xfrm flipV="1">
              <a:off x="4032" y="1138"/>
              <a:ext cx="264" cy="0"/>
            </a:xfrm>
            <a:prstGeom prst="line">
              <a:avLst/>
            </a:prstGeom>
            <a:noFill/>
            <a:ln w="19050">
              <a:solidFill>
                <a:srgbClr val="9966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28" name="Line 20"/>
            <p:cNvSpPr>
              <a:spLocks noChangeShapeType="1"/>
            </p:cNvSpPr>
            <p:nvPr/>
          </p:nvSpPr>
          <p:spPr bwMode="auto">
            <a:xfrm flipV="1">
              <a:off x="3798" y="1353"/>
              <a:ext cx="702" cy="0"/>
            </a:xfrm>
            <a:prstGeom prst="line">
              <a:avLst/>
            </a:prstGeom>
            <a:noFill/>
            <a:ln w="9525">
              <a:solidFill>
                <a:srgbClr val="009900"/>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endParaRPr>
            </a:p>
          </p:txBody>
        </p:sp>
        <p:sp>
          <p:nvSpPr>
            <p:cNvPr id="29" name="Rectangle 21"/>
            <p:cNvSpPr>
              <a:spLocks noChangeArrowheads="1"/>
            </p:cNvSpPr>
            <p:nvPr/>
          </p:nvSpPr>
          <p:spPr bwMode="auto">
            <a:xfrm>
              <a:off x="3321" y="851"/>
              <a:ext cx="57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996600"/>
                  </a:solidFill>
                  <a:effectLst/>
                  <a:uLnTx/>
                  <a:uFillTx/>
                  <a:latin typeface="Times New Roman" pitchFamily="18" charset="0"/>
                  <a:ea typeface="宋体" pitchFamily="2" charset="-122"/>
                </a:rPr>
                <a:t>BW</a:t>
              </a:r>
              <a:r>
                <a:rPr kumimoji="1" lang="en-US" altLang="zh-CN" sz="2400" b="1" i="0" u="none" strike="noStrike" kern="0" cap="none" spc="0" normalizeH="0" baseline="-25000" noProof="0">
                  <a:ln>
                    <a:noFill/>
                  </a:ln>
                  <a:solidFill>
                    <a:srgbClr val="996600"/>
                  </a:solidFill>
                  <a:effectLst/>
                  <a:uLnTx/>
                  <a:uFillTx/>
                  <a:latin typeface="Times New Roman" pitchFamily="18" charset="0"/>
                  <a:ea typeface="宋体" pitchFamily="2" charset="-122"/>
                </a:rPr>
                <a:t>0.7</a:t>
              </a:r>
            </a:p>
          </p:txBody>
        </p:sp>
        <p:sp>
          <p:nvSpPr>
            <p:cNvPr id="30" name="Rectangle 22"/>
            <p:cNvSpPr>
              <a:spLocks noChangeArrowheads="1"/>
            </p:cNvSpPr>
            <p:nvPr/>
          </p:nvSpPr>
          <p:spPr bwMode="auto">
            <a:xfrm>
              <a:off x="3291" y="1407"/>
              <a:ext cx="8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itchFamily="34" charset="0"/>
                  <a:ea typeface="宋体" pitchFamily="2" charset="-122"/>
                </a:defRPr>
              </a:lvl1pPr>
              <a:lvl2pPr marL="742950" indent="-285750">
                <a:defRPr sz="2400">
                  <a:solidFill>
                    <a:schemeClr val="tx1"/>
                  </a:solidFill>
                  <a:latin typeface="Arial" pitchFamily="34" charset="0"/>
                  <a:ea typeface="宋体" pitchFamily="2" charset="-122"/>
                </a:defRPr>
              </a:lvl2pPr>
              <a:lvl3pPr marL="1143000" indent="-228600">
                <a:defRPr sz="2400">
                  <a:solidFill>
                    <a:schemeClr val="tx1"/>
                  </a:solidFill>
                  <a:latin typeface="Arial" pitchFamily="34" charset="0"/>
                  <a:ea typeface="宋体" pitchFamily="2" charset="-122"/>
                </a:defRPr>
              </a:lvl3pPr>
              <a:lvl4pPr marL="1600200" indent="-228600">
                <a:defRPr sz="2400">
                  <a:solidFill>
                    <a:schemeClr val="tx1"/>
                  </a:solidFill>
                  <a:latin typeface="Arial" pitchFamily="34" charset="0"/>
                  <a:ea typeface="宋体" pitchFamily="2" charset="-122"/>
                </a:defRPr>
              </a:lvl4pPr>
              <a:lvl5pPr marL="2057400" indent="-228600">
                <a:defRPr sz="2400">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400">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400">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400">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400">
                  <a:solidFill>
                    <a:schemeClr val="tx1"/>
                  </a:solidFill>
                  <a:latin typeface="Arial" pitchFamily="34"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400" b="1" i="1" u="none" strike="noStrike" kern="0" cap="none" spc="0" normalizeH="0" baseline="0" noProof="0">
                  <a:ln>
                    <a:noFill/>
                  </a:ln>
                  <a:solidFill>
                    <a:srgbClr val="009900"/>
                  </a:solidFill>
                  <a:effectLst/>
                  <a:uLnTx/>
                  <a:uFillTx/>
                  <a:latin typeface="Times New Roman" pitchFamily="18" charset="0"/>
                  <a:ea typeface="宋体" pitchFamily="2" charset="-122"/>
                </a:rPr>
                <a:t>BW</a:t>
              </a:r>
              <a:r>
                <a:rPr kumimoji="1" lang="en-US" altLang="zh-CN" sz="2400" b="1" i="0" u="none" strike="noStrike" kern="0" cap="none" spc="0" normalizeH="0" baseline="-25000" noProof="0">
                  <a:ln>
                    <a:noFill/>
                  </a:ln>
                  <a:solidFill>
                    <a:srgbClr val="009900"/>
                  </a:solidFill>
                  <a:effectLst/>
                  <a:uLnTx/>
                  <a:uFillTx/>
                  <a:latin typeface="Times New Roman" pitchFamily="18" charset="0"/>
                  <a:ea typeface="宋体" pitchFamily="2" charset="-122"/>
                </a:rPr>
                <a:t>0.1</a:t>
              </a:r>
            </a:p>
          </p:txBody>
        </p:sp>
      </p:grpSp>
    </p:spTree>
    <p:extLst>
      <p:ext uri="{BB962C8B-B14F-4D97-AF65-F5344CB8AC3E}">
        <p14:creationId xmlns:p14="http://schemas.microsoft.com/office/powerpoint/2010/main" val="3267256378"/>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28</a:t>
            </a:fld>
            <a:endParaRPr lang="en-US" altLang="zh-CN" dirty="0">
              <a:solidFill>
                <a:srgbClr val="000000"/>
              </a:solidFill>
            </a:endParaRPr>
          </a:p>
        </p:txBody>
      </p:sp>
      <p:sp>
        <p:nvSpPr>
          <p:cNvPr id="21" name="内容占位符 20"/>
          <p:cNvSpPr>
            <a:spLocks noGrp="1"/>
          </p:cNvSpPr>
          <p:nvPr>
            <p:ph idx="1"/>
          </p:nvPr>
        </p:nvSpPr>
        <p:spPr>
          <a:xfrm>
            <a:off x="395536" y="260648"/>
            <a:ext cx="2304256" cy="648072"/>
          </a:xfrm>
          <a:solidFill>
            <a:srgbClr val="862714"/>
          </a:solidFill>
        </p:spPr>
        <p:txBody>
          <a:bodyPr/>
          <a:lstStyle/>
          <a:p>
            <a:pPr>
              <a:buClr>
                <a:schemeClr val="bg1"/>
              </a:buClr>
              <a:buFont typeface="Wingdings" panose="05000000000000000000" pitchFamily="2" charset="2"/>
              <a:buChar char="l"/>
            </a:pPr>
            <a:r>
              <a:rPr lang="en-US" altLang="zh-CN" sz="3200" dirty="0">
                <a:solidFill>
                  <a:schemeClr val="bg1"/>
                </a:solidFill>
                <a:latin typeface="Garamond"/>
                <a:ea typeface="华文行楷"/>
                <a:cs typeface="+mj-cs"/>
              </a:rPr>
              <a:t>2.4.1 </a:t>
            </a:r>
            <a:r>
              <a:rPr lang="zh-CN" altLang="en-US" sz="3200" dirty="0">
                <a:solidFill>
                  <a:schemeClr val="bg1"/>
                </a:solidFill>
                <a:latin typeface="Garamond"/>
                <a:ea typeface="华文行楷"/>
                <a:cs typeface="+mj-cs"/>
              </a:rPr>
              <a:t>概述</a:t>
            </a:r>
            <a:endParaRPr lang="zh-CN" altLang="en-US" sz="3200" dirty="0"/>
          </a:p>
        </p:txBody>
      </p:sp>
      <p:sp>
        <p:nvSpPr>
          <p:cNvPr id="15" name="Rectangle 3"/>
          <p:cNvSpPr>
            <a:spLocks noChangeArrowheads="1"/>
          </p:cNvSpPr>
          <p:nvPr/>
        </p:nvSpPr>
        <p:spPr bwMode="auto">
          <a:xfrm>
            <a:off x="467544" y="1124744"/>
            <a:ext cx="6984776" cy="400110"/>
          </a:xfrm>
          <a:prstGeom prst="rect">
            <a:avLst/>
          </a:prstGeom>
          <a:noFill/>
          <a:ln w="9525">
            <a:noFill/>
            <a:miter lim="800000"/>
            <a:headEnd/>
            <a:tailEnd/>
          </a:ln>
        </p:spPr>
        <p:txBody>
          <a:bodyPr wrap="square">
            <a:spAutoFit/>
          </a:bodyPr>
          <a:lstStyle/>
          <a:p>
            <a:pPr algn="l">
              <a:spcBef>
                <a:spcPct val="0"/>
              </a:spcBef>
              <a:buClrTx/>
              <a:buSzTx/>
              <a:buFont typeface="Wingdings" pitchFamily="2" charset="2"/>
              <a:buNone/>
              <a:defRPr/>
            </a:pPr>
            <a:r>
              <a:rPr lang="en-US" sz="2000" b="1" dirty="0">
                <a:solidFill>
                  <a:srgbClr val="0066FF"/>
                </a:solidFill>
                <a:ea typeface="黑体" pitchFamily="49" charset="-122"/>
              </a:rPr>
              <a:t>4.</a:t>
            </a:r>
            <a:r>
              <a:rPr lang="zh-CN" altLang="en-US" sz="2000" b="1" dirty="0">
                <a:solidFill>
                  <a:srgbClr val="0066FF"/>
                </a:solidFill>
                <a:ea typeface="黑体" pitchFamily="49" charset="-122"/>
              </a:rPr>
              <a:t>高频小信号放大器的主要性能指标</a:t>
            </a:r>
            <a:r>
              <a:rPr lang="en-US" altLang="zh-CN" sz="2000" b="1" dirty="0">
                <a:solidFill>
                  <a:srgbClr val="0066FF"/>
                </a:solidFill>
                <a:ea typeface="黑体" pitchFamily="49" charset="-122"/>
              </a:rPr>
              <a:t>——</a:t>
            </a:r>
            <a:r>
              <a:rPr lang="zh-CN" altLang="en-US" sz="2000" b="1" dirty="0">
                <a:solidFill>
                  <a:srgbClr val="FF0000"/>
                </a:solidFill>
                <a:ea typeface="黑体" pitchFamily="49" charset="-122"/>
              </a:rPr>
              <a:t>选择性</a:t>
            </a:r>
          </a:p>
        </p:txBody>
      </p:sp>
      <p:sp>
        <p:nvSpPr>
          <p:cNvPr id="12" name="TextBox 11"/>
          <p:cNvSpPr txBox="1"/>
          <p:nvPr/>
        </p:nvSpPr>
        <p:spPr>
          <a:xfrm>
            <a:off x="467544" y="1755508"/>
            <a:ext cx="8280920" cy="574581"/>
          </a:xfrm>
          <a:prstGeom prst="rect">
            <a:avLst/>
          </a:prstGeom>
          <a:noFill/>
        </p:spPr>
        <p:txBody>
          <a:bodyPr wrap="square" rtlCol="0">
            <a:spAutoFit/>
          </a:bodyPr>
          <a:lstStyle/>
          <a:p>
            <a:pPr marL="342900" indent="-342900">
              <a:lnSpc>
                <a:spcPct val="150000"/>
              </a:lnSpc>
              <a:buSzPct val="65000"/>
              <a:buFont typeface="Wingdings" panose="05000000000000000000" pitchFamily="2" charset="2"/>
              <a:buChar char="l"/>
            </a:pPr>
            <a:r>
              <a:rPr lang="en-US" altLang="zh-CN" sz="2400" b="1" dirty="0">
                <a:solidFill>
                  <a:srgbClr val="FF0000"/>
                </a:solidFill>
              </a:rPr>
              <a:t>(2)</a:t>
            </a:r>
            <a:r>
              <a:rPr lang="zh-CN" altLang="en-US" sz="2400" b="1" dirty="0">
                <a:solidFill>
                  <a:srgbClr val="FF0000"/>
                </a:solidFill>
              </a:rPr>
              <a:t>抑制比：</a:t>
            </a:r>
            <a:endParaRPr lang="en-US" altLang="zh-CN" sz="2400" b="1" dirty="0">
              <a:solidFill>
                <a:srgbClr val="FF0000"/>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076534104"/>
              </p:ext>
            </p:extLst>
          </p:nvPr>
        </p:nvGraphicFramePr>
        <p:xfrm>
          <a:off x="1907704" y="2420888"/>
          <a:ext cx="1657350" cy="1000125"/>
        </p:xfrm>
        <a:graphic>
          <a:graphicData uri="http://schemas.openxmlformats.org/presentationml/2006/ole">
            <mc:AlternateContent xmlns:mc="http://schemas.openxmlformats.org/markup-compatibility/2006">
              <mc:Choice xmlns:v="urn:schemas-microsoft-com:vml" Requires="v">
                <p:oleObj spid="_x0000_s115802" name="Equation" r:id="rId4" imgW="799920" imgH="482400" progId="Equation.DSMT4">
                  <p:embed/>
                </p:oleObj>
              </mc:Choice>
              <mc:Fallback>
                <p:oleObj name="Equation" r:id="rId4" imgW="799920" imgH="482400" progId="Equation.DSMT4">
                  <p:embed/>
                  <p:pic>
                    <p:nvPicPr>
                      <p:cNvPr id="0" name=""/>
                      <p:cNvPicPr/>
                      <p:nvPr/>
                    </p:nvPicPr>
                    <p:blipFill>
                      <a:blip r:embed="rId5"/>
                      <a:stretch>
                        <a:fillRect/>
                      </a:stretch>
                    </p:blipFill>
                    <p:spPr>
                      <a:xfrm>
                        <a:off x="1907704" y="2420888"/>
                        <a:ext cx="1657350" cy="1000125"/>
                      </a:xfrm>
                      <a:prstGeom prst="rect">
                        <a:avLst/>
                      </a:prstGeom>
                    </p:spPr>
                  </p:pic>
                </p:oleObj>
              </mc:Fallback>
            </mc:AlternateContent>
          </a:graphicData>
        </a:graphic>
      </p:graphicFrame>
      <p:sp>
        <p:nvSpPr>
          <p:cNvPr id="13" name="TextBox 12"/>
          <p:cNvSpPr txBox="1"/>
          <p:nvPr/>
        </p:nvSpPr>
        <p:spPr>
          <a:xfrm>
            <a:off x="549820" y="5188960"/>
            <a:ext cx="7063230" cy="553998"/>
          </a:xfrm>
          <a:prstGeom prst="rect">
            <a:avLst/>
          </a:prstGeom>
          <a:noFill/>
        </p:spPr>
        <p:txBody>
          <a:bodyPr wrap="square" rtlCol="0">
            <a:spAutoFit/>
          </a:bodyPr>
          <a:lstStyle/>
          <a:p>
            <a:pPr marL="342900" indent="-342900">
              <a:lnSpc>
                <a:spcPct val="150000"/>
              </a:lnSpc>
              <a:buSzPct val="65000"/>
              <a:buFont typeface="Wingdings" panose="05000000000000000000" pitchFamily="2" charset="2"/>
              <a:buChar char="l"/>
            </a:pPr>
            <a:r>
              <a:rPr lang="zh-CN" altLang="en-US" sz="2000" b="1" dirty="0">
                <a:solidFill>
                  <a:srgbClr val="0070C0"/>
                </a:solidFill>
              </a:rPr>
              <a:t>表征对带外某一特定干扰信号 </a:t>
            </a:r>
            <a:r>
              <a:rPr lang="en-US" altLang="zh-CN" sz="2000" b="1" i="1" dirty="0" err="1">
                <a:solidFill>
                  <a:srgbClr val="0070C0"/>
                </a:solidFill>
                <a:latin typeface="Times New Roman" panose="02020603050405020304" pitchFamily="18" charset="0"/>
                <a:cs typeface="Times New Roman" panose="02020603050405020304" pitchFamily="18" charset="0"/>
              </a:rPr>
              <a:t>f</a:t>
            </a:r>
            <a:r>
              <a:rPr lang="en-US" altLang="zh-CN" sz="2000" b="1" i="1" baseline="-25000" dirty="0" err="1">
                <a:solidFill>
                  <a:srgbClr val="0070C0"/>
                </a:solidFill>
                <a:latin typeface="Times New Roman" panose="02020603050405020304" pitchFamily="18" charset="0"/>
                <a:cs typeface="Times New Roman" panose="02020603050405020304" pitchFamily="18" charset="0"/>
              </a:rPr>
              <a:t>N</a:t>
            </a:r>
            <a:r>
              <a:rPr lang="en-US" altLang="zh-CN" sz="2000" b="1" i="1" baseline="-25000" dirty="0">
                <a:solidFill>
                  <a:srgbClr val="0070C0"/>
                </a:solidFill>
                <a:latin typeface="Times New Roman" panose="02020603050405020304" pitchFamily="18" charset="0"/>
                <a:cs typeface="Times New Roman" panose="02020603050405020304" pitchFamily="18" charset="0"/>
              </a:rPr>
              <a:t> </a:t>
            </a:r>
            <a:r>
              <a:rPr lang="zh-CN" altLang="en-US" sz="2000" b="1" dirty="0">
                <a:solidFill>
                  <a:srgbClr val="0070C0"/>
                </a:solidFill>
              </a:rPr>
              <a:t>的抑制能力。</a:t>
            </a:r>
            <a:endParaRPr lang="en-US" altLang="zh-CN" sz="2000" b="1" dirty="0">
              <a:solidFill>
                <a:srgbClr val="0070C0"/>
              </a:solidFill>
              <a:latin typeface="Times New Roman" panose="02020603050405020304" pitchFamily="18" charset="0"/>
              <a:cs typeface="Times New Roman" panose="02020603050405020304" pitchFamily="18" charset="0"/>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787978194"/>
              </p:ext>
            </p:extLst>
          </p:nvPr>
        </p:nvGraphicFramePr>
        <p:xfrm>
          <a:off x="3977134" y="2441435"/>
          <a:ext cx="2894012" cy="1000125"/>
        </p:xfrm>
        <a:graphic>
          <a:graphicData uri="http://schemas.openxmlformats.org/presentationml/2006/ole">
            <mc:AlternateContent xmlns:mc="http://schemas.openxmlformats.org/markup-compatibility/2006">
              <mc:Choice xmlns:v="urn:schemas-microsoft-com:vml" Requires="v">
                <p:oleObj spid="_x0000_s115803" name="Equation" r:id="rId6" imgW="1396800" imgH="482400" progId="Equation.DSMT4">
                  <p:embed/>
                </p:oleObj>
              </mc:Choice>
              <mc:Fallback>
                <p:oleObj name="Equation" r:id="rId6" imgW="1396800" imgH="482400" progId="Equation.DSMT4">
                  <p:embed/>
                  <p:pic>
                    <p:nvPicPr>
                      <p:cNvPr id="0" name=""/>
                      <p:cNvPicPr>
                        <a:picLocks noChangeAspect="1" noChangeArrowheads="1"/>
                      </p:cNvPicPr>
                      <p:nvPr/>
                    </p:nvPicPr>
                    <p:blipFill>
                      <a:blip r:embed="rId7"/>
                      <a:srcRect/>
                      <a:stretch>
                        <a:fillRect/>
                      </a:stretch>
                    </p:blipFill>
                    <p:spPr bwMode="auto">
                      <a:xfrm>
                        <a:off x="3977134" y="2441435"/>
                        <a:ext cx="289401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611989982"/>
              </p:ext>
            </p:extLst>
          </p:nvPr>
        </p:nvGraphicFramePr>
        <p:xfrm>
          <a:off x="1907704" y="3802063"/>
          <a:ext cx="1631950" cy="974725"/>
        </p:xfrm>
        <a:graphic>
          <a:graphicData uri="http://schemas.openxmlformats.org/presentationml/2006/ole">
            <mc:AlternateContent xmlns:mc="http://schemas.openxmlformats.org/markup-compatibility/2006">
              <mc:Choice xmlns:v="urn:schemas-microsoft-com:vml" Requires="v">
                <p:oleObj spid="_x0000_s115804" name="Equation" r:id="rId8" imgW="787320" imgH="469800" progId="Equation.DSMT4">
                  <p:embed/>
                </p:oleObj>
              </mc:Choice>
              <mc:Fallback>
                <p:oleObj name="Equation" r:id="rId8" imgW="787320" imgH="469800" progId="Equation.DSMT4">
                  <p:embed/>
                  <p:pic>
                    <p:nvPicPr>
                      <p:cNvPr id="0" name=""/>
                      <p:cNvPicPr>
                        <a:picLocks noChangeAspect="1" noChangeArrowheads="1"/>
                      </p:cNvPicPr>
                      <p:nvPr/>
                    </p:nvPicPr>
                    <p:blipFill>
                      <a:blip r:embed="rId9"/>
                      <a:srcRect/>
                      <a:stretch>
                        <a:fillRect/>
                      </a:stretch>
                    </p:blipFill>
                    <p:spPr bwMode="auto">
                      <a:xfrm>
                        <a:off x="1907704" y="3802063"/>
                        <a:ext cx="1631950"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172584326"/>
              </p:ext>
            </p:extLst>
          </p:nvPr>
        </p:nvGraphicFramePr>
        <p:xfrm>
          <a:off x="3923928" y="3789040"/>
          <a:ext cx="2919413" cy="973138"/>
        </p:xfrm>
        <a:graphic>
          <a:graphicData uri="http://schemas.openxmlformats.org/presentationml/2006/ole">
            <mc:AlternateContent xmlns:mc="http://schemas.openxmlformats.org/markup-compatibility/2006">
              <mc:Choice xmlns:v="urn:schemas-microsoft-com:vml" Requires="v">
                <p:oleObj spid="_x0000_s115805" name="Equation" r:id="rId10" imgW="1409400" imgH="469800" progId="Equation.DSMT4">
                  <p:embed/>
                </p:oleObj>
              </mc:Choice>
              <mc:Fallback>
                <p:oleObj name="Equation" r:id="rId10" imgW="1409400" imgH="469800" progId="Equation.DSMT4">
                  <p:embed/>
                  <p:pic>
                    <p:nvPicPr>
                      <p:cNvPr id="0" name=""/>
                      <p:cNvPicPr>
                        <a:picLocks noChangeAspect="1" noChangeArrowheads="1"/>
                      </p:cNvPicPr>
                      <p:nvPr/>
                    </p:nvPicPr>
                    <p:blipFill>
                      <a:blip r:embed="rId11"/>
                      <a:srcRect/>
                      <a:stretch>
                        <a:fillRect/>
                      </a:stretch>
                    </p:blipFill>
                    <p:spPr bwMode="auto">
                      <a:xfrm>
                        <a:off x="3923928" y="3789040"/>
                        <a:ext cx="2919413" cy="97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38341406"/>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29</a:t>
            </a:fld>
            <a:endParaRPr lang="en-US" altLang="zh-CN" dirty="0">
              <a:solidFill>
                <a:srgbClr val="000000"/>
              </a:solidFill>
            </a:endParaRPr>
          </a:p>
        </p:txBody>
      </p:sp>
      <p:sp>
        <p:nvSpPr>
          <p:cNvPr id="21" name="内容占位符 20"/>
          <p:cNvSpPr>
            <a:spLocks noGrp="1"/>
          </p:cNvSpPr>
          <p:nvPr>
            <p:ph idx="1"/>
          </p:nvPr>
        </p:nvSpPr>
        <p:spPr>
          <a:xfrm>
            <a:off x="395536" y="260648"/>
            <a:ext cx="2304256" cy="648072"/>
          </a:xfrm>
          <a:solidFill>
            <a:srgbClr val="862714"/>
          </a:solidFill>
        </p:spPr>
        <p:txBody>
          <a:bodyPr/>
          <a:lstStyle/>
          <a:p>
            <a:pPr>
              <a:buClr>
                <a:schemeClr val="bg1"/>
              </a:buClr>
              <a:buFont typeface="Wingdings" panose="05000000000000000000" pitchFamily="2" charset="2"/>
              <a:buChar char="l"/>
            </a:pPr>
            <a:r>
              <a:rPr lang="en-US" altLang="zh-CN" sz="3200" dirty="0">
                <a:solidFill>
                  <a:schemeClr val="bg1"/>
                </a:solidFill>
                <a:latin typeface="Garamond"/>
                <a:ea typeface="华文行楷"/>
                <a:cs typeface="+mj-cs"/>
              </a:rPr>
              <a:t>2.4.1 </a:t>
            </a:r>
            <a:r>
              <a:rPr lang="zh-CN" altLang="en-US" sz="3200" dirty="0">
                <a:solidFill>
                  <a:schemeClr val="bg1"/>
                </a:solidFill>
                <a:latin typeface="Garamond"/>
                <a:ea typeface="华文行楷"/>
                <a:cs typeface="+mj-cs"/>
              </a:rPr>
              <a:t>概述</a:t>
            </a:r>
            <a:endParaRPr lang="zh-CN" altLang="en-US" sz="3200" dirty="0"/>
          </a:p>
        </p:txBody>
      </p:sp>
      <p:sp>
        <p:nvSpPr>
          <p:cNvPr id="15" name="Rectangle 3"/>
          <p:cNvSpPr>
            <a:spLocks noChangeArrowheads="1"/>
          </p:cNvSpPr>
          <p:nvPr/>
        </p:nvSpPr>
        <p:spPr bwMode="auto">
          <a:xfrm>
            <a:off x="467544" y="1124744"/>
            <a:ext cx="6984776" cy="400110"/>
          </a:xfrm>
          <a:prstGeom prst="rect">
            <a:avLst/>
          </a:prstGeom>
          <a:noFill/>
          <a:ln w="9525">
            <a:noFill/>
            <a:miter lim="800000"/>
            <a:headEnd/>
            <a:tailEnd/>
          </a:ln>
        </p:spPr>
        <p:txBody>
          <a:bodyPr wrap="square">
            <a:spAutoFit/>
          </a:bodyPr>
          <a:lstStyle/>
          <a:p>
            <a:pPr algn="l">
              <a:spcBef>
                <a:spcPct val="0"/>
              </a:spcBef>
              <a:buClrTx/>
              <a:buSzTx/>
              <a:buFont typeface="Wingdings" pitchFamily="2" charset="2"/>
              <a:buNone/>
              <a:defRPr/>
            </a:pPr>
            <a:r>
              <a:rPr lang="en-US" sz="2000" b="1" dirty="0">
                <a:solidFill>
                  <a:srgbClr val="0066FF"/>
                </a:solidFill>
                <a:ea typeface="黑体" pitchFamily="49" charset="-122"/>
              </a:rPr>
              <a:t>5.</a:t>
            </a:r>
            <a:r>
              <a:rPr lang="zh-CN" altLang="en-US" sz="2000" b="1" dirty="0">
                <a:solidFill>
                  <a:srgbClr val="0066FF"/>
                </a:solidFill>
                <a:ea typeface="黑体" pitchFamily="49" charset="-122"/>
              </a:rPr>
              <a:t>高频小信号放大器的主要性能指标</a:t>
            </a:r>
            <a:r>
              <a:rPr lang="en-US" altLang="zh-CN" sz="2000" b="1" dirty="0">
                <a:solidFill>
                  <a:srgbClr val="0066FF"/>
                </a:solidFill>
                <a:ea typeface="黑体" pitchFamily="49" charset="-122"/>
              </a:rPr>
              <a:t>——</a:t>
            </a:r>
            <a:r>
              <a:rPr lang="zh-CN" altLang="en-US" sz="2000" b="1" dirty="0">
                <a:solidFill>
                  <a:srgbClr val="FF0000"/>
                </a:solidFill>
                <a:ea typeface="黑体" pitchFamily="49" charset="-122"/>
              </a:rPr>
              <a:t>噪声系数</a:t>
            </a:r>
          </a:p>
        </p:txBody>
      </p:sp>
      <p:sp>
        <p:nvSpPr>
          <p:cNvPr id="9" name="TextBox 8"/>
          <p:cNvSpPr txBox="1"/>
          <p:nvPr/>
        </p:nvSpPr>
        <p:spPr>
          <a:xfrm>
            <a:off x="755576" y="1628800"/>
            <a:ext cx="7488832" cy="1113766"/>
          </a:xfrm>
          <a:prstGeom prst="rect">
            <a:avLst/>
          </a:prstGeom>
          <a:noFill/>
        </p:spPr>
        <p:txBody>
          <a:bodyPr wrap="square" rtlCol="0">
            <a:spAutoFit/>
          </a:bodyPr>
          <a:lstStyle/>
          <a:p>
            <a:pPr marL="342900" indent="-342900">
              <a:lnSpc>
                <a:spcPct val="150000"/>
              </a:lnSpc>
              <a:buSzPct val="65000"/>
              <a:buFont typeface="Wingdings" panose="05000000000000000000" pitchFamily="2" charset="2"/>
              <a:buChar char="l"/>
            </a:pPr>
            <a:r>
              <a:rPr lang="zh-CN" altLang="en-US" sz="2400" b="1" dirty="0">
                <a:latin typeface="楷体_GB2312" pitchFamily="49" charset="-122"/>
                <a:ea typeface="楷体_GB2312" pitchFamily="49" charset="-122"/>
              </a:rPr>
              <a:t>噪声系数是用来表征放大器</a:t>
            </a:r>
            <a:r>
              <a:rPr lang="zh-CN" altLang="en-US" sz="2400" b="1" dirty="0">
                <a:solidFill>
                  <a:srgbClr val="FF0000"/>
                </a:solidFill>
                <a:latin typeface="楷体_GB2312" pitchFamily="49" charset="-122"/>
                <a:ea typeface="楷体_GB2312" pitchFamily="49" charset="-122"/>
              </a:rPr>
              <a:t>本身产生</a:t>
            </a:r>
            <a:r>
              <a:rPr lang="zh-CN" altLang="en-US" sz="2400" b="1" dirty="0">
                <a:latin typeface="楷体_GB2312" pitchFamily="49" charset="-122"/>
                <a:ea typeface="楷体_GB2312" pitchFamily="49" charset="-122"/>
              </a:rPr>
              <a:t>噪声电平大小的一个参数。</a:t>
            </a:r>
          </a:p>
        </p:txBody>
      </p:sp>
      <p:graphicFrame>
        <p:nvGraphicFramePr>
          <p:cNvPr id="3" name="对象 2"/>
          <p:cNvGraphicFramePr>
            <a:graphicFrameLocks noChangeAspect="1"/>
          </p:cNvGraphicFramePr>
          <p:nvPr>
            <p:extLst>
              <p:ext uri="{D42A27DB-BD31-4B8C-83A1-F6EECF244321}">
                <p14:modId xmlns:p14="http://schemas.microsoft.com/office/powerpoint/2010/main" val="1352119646"/>
              </p:ext>
            </p:extLst>
          </p:nvPr>
        </p:nvGraphicFramePr>
        <p:xfrm>
          <a:off x="2627784" y="2996952"/>
          <a:ext cx="3422650" cy="887412"/>
        </p:xfrm>
        <a:graphic>
          <a:graphicData uri="http://schemas.openxmlformats.org/presentationml/2006/ole">
            <mc:AlternateContent xmlns:mc="http://schemas.openxmlformats.org/markup-compatibility/2006">
              <mc:Choice xmlns:v="urn:schemas-microsoft-com:vml" Requires="v">
                <p:oleObj spid="_x0000_s116760" name="Equation" r:id="rId4" imgW="1714320" imgH="444240" progId="Equation.DSMT4">
                  <p:embed/>
                </p:oleObj>
              </mc:Choice>
              <mc:Fallback>
                <p:oleObj name="Equation" r:id="rId4" imgW="1714320" imgH="444240" progId="Equation.DSMT4">
                  <p:embed/>
                  <p:pic>
                    <p:nvPicPr>
                      <p:cNvPr id="0" name=""/>
                      <p:cNvPicPr>
                        <a:picLocks noChangeAspect="1" noChangeArrowheads="1"/>
                      </p:cNvPicPr>
                      <p:nvPr/>
                    </p:nvPicPr>
                    <p:blipFill>
                      <a:blip r:embed="rId5"/>
                      <a:srcRect/>
                      <a:stretch>
                        <a:fillRect/>
                      </a:stretch>
                    </p:blipFill>
                    <p:spPr bwMode="auto">
                      <a:xfrm>
                        <a:off x="2627784" y="2996952"/>
                        <a:ext cx="3422650" cy="887412"/>
                      </a:xfrm>
                      <a:prstGeom prst="rect">
                        <a:avLst/>
                      </a:prstGeom>
                      <a:noFill/>
                      <a:ln>
                        <a:noFill/>
                      </a:ln>
                      <a:effectLst/>
                    </p:spPr>
                  </p:pic>
                </p:oleObj>
              </mc:Fallback>
            </mc:AlternateContent>
          </a:graphicData>
        </a:graphic>
      </p:graphicFrame>
      <p:sp>
        <p:nvSpPr>
          <p:cNvPr id="12" name="TextBox 11"/>
          <p:cNvSpPr txBox="1"/>
          <p:nvPr/>
        </p:nvSpPr>
        <p:spPr>
          <a:xfrm>
            <a:off x="768775" y="4149080"/>
            <a:ext cx="7488832" cy="2215991"/>
          </a:xfrm>
          <a:prstGeom prst="rect">
            <a:avLst/>
          </a:prstGeom>
          <a:noFill/>
        </p:spPr>
        <p:txBody>
          <a:bodyPr wrap="square" rtlCol="0">
            <a:spAutoFit/>
          </a:bodyPr>
          <a:lstStyle/>
          <a:p>
            <a:pPr marL="342900" indent="-342900">
              <a:lnSpc>
                <a:spcPct val="150000"/>
              </a:lnSpc>
              <a:buSzPct val="65000"/>
              <a:buFont typeface="Wingdings" panose="05000000000000000000" pitchFamily="2" charset="2"/>
              <a:buChar char="l"/>
            </a:pPr>
            <a:r>
              <a:rPr lang="en-US" altLang="zh-CN" sz="2400" b="1" i="1" dirty="0">
                <a:solidFill>
                  <a:srgbClr val="FF0000"/>
                </a:solidFill>
                <a:latin typeface="Times New Roman" panose="02020603050405020304" pitchFamily="18" charset="0"/>
                <a:ea typeface="方正舒体" panose="02010601030101010101" pitchFamily="2" charset="-122"/>
                <a:cs typeface="Times New Roman" panose="02020603050405020304" pitchFamily="18" charset="0"/>
              </a:rPr>
              <a:t>N</a:t>
            </a:r>
            <a:r>
              <a:rPr lang="en-US" altLang="zh-CN" sz="2400" b="1" i="1" baseline="-25000" dirty="0">
                <a:solidFill>
                  <a:srgbClr val="FF0000"/>
                </a:solidFill>
                <a:latin typeface="Times New Roman" panose="02020603050405020304" pitchFamily="18" charset="0"/>
                <a:ea typeface="方正舒体" panose="02010601030101010101" pitchFamily="2" charset="-122"/>
                <a:cs typeface="Times New Roman" panose="02020603050405020304" pitchFamily="18" charset="0"/>
              </a:rPr>
              <a:t>F </a:t>
            </a:r>
            <a:r>
              <a:rPr lang="zh-CN" altLang="en-US" sz="2400" b="1" dirty="0">
                <a:latin typeface="楷体_GB2312" pitchFamily="49" charset="-122"/>
                <a:ea typeface="楷体_GB2312" pitchFamily="49" charset="-122"/>
              </a:rPr>
              <a:t>越接近</a:t>
            </a:r>
            <a:r>
              <a:rPr lang="en-US" altLang="zh-CN" sz="2400" b="1" dirty="0">
                <a:latin typeface="楷体_GB2312" pitchFamily="49" charset="-122"/>
                <a:ea typeface="楷体_GB2312" pitchFamily="49" charset="-122"/>
              </a:rPr>
              <a:t>1</a:t>
            </a:r>
            <a:r>
              <a:rPr lang="zh-CN" altLang="en-US" sz="2400" b="1" dirty="0">
                <a:latin typeface="楷体_GB2312" pitchFamily="49" charset="-122"/>
                <a:ea typeface="楷体_GB2312" pitchFamily="49" charset="-122"/>
              </a:rPr>
              <a:t>越好。</a:t>
            </a:r>
            <a:r>
              <a:rPr lang="en-US" altLang="zh-CN" sz="2400" b="1" i="1" dirty="0">
                <a:latin typeface="Times New Roman" panose="02020603050405020304" pitchFamily="18" charset="0"/>
                <a:ea typeface="方正舒体" panose="02010601030101010101" pitchFamily="2" charset="-122"/>
                <a:cs typeface="Times New Roman" panose="02020603050405020304" pitchFamily="18" charset="0"/>
              </a:rPr>
              <a:t> N</a:t>
            </a:r>
            <a:r>
              <a:rPr lang="en-US" altLang="zh-CN" sz="2400" b="1" i="1" baseline="-25000" dirty="0">
                <a:latin typeface="Times New Roman" panose="02020603050405020304" pitchFamily="18" charset="0"/>
                <a:ea typeface="方正舒体" panose="02010601030101010101" pitchFamily="2" charset="-122"/>
                <a:cs typeface="Times New Roman" panose="02020603050405020304" pitchFamily="18" charset="0"/>
              </a:rPr>
              <a:t>F </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1</a:t>
            </a:r>
          </a:p>
          <a:p>
            <a:pPr marL="342900" indent="-342900">
              <a:lnSpc>
                <a:spcPct val="150000"/>
              </a:lnSpc>
              <a:buSzPct val="65000"/>
              <a:buFont typeface="Wingdings" panose="05000000000000000000" pitchFamily="2" charset="2"/>
              <a:buChar char="l"/>
            </a:pPr>
            <a:endParaRPr lang="en-US" altLang="zh-CN" sz="2000" b="1" dirty="0">
              <a:latin typeface="楷体_GB2312" pitchFamily="49" charset="-122"/>
              <a:ea typeface="楷体_GB2312" pitchFamily="49" charset="-122"/>
            </a:endParaRPr>
          </a:p>
          <a:p>
            <a:pPr>
              <a:lnSpc>
                <a:spcPct val="150000"/>
              </a:lnSpc>
              <a:buSzPct val="65000"/>
            </a:pPr>
            <a:r>
              <a:rPr lang="en-US" altLang="zh-CN" sz="2400" b="1" dirty="0">
                <a:latin typeface="楷体_GB2312" pitchFamily="49" charset="-122"/>
                <a:ea typeface="楷体_GB2312" pitchFamily="49" charset="-122"/>
              </a:rPr>
              <a:t>    </a:t>
            </a:r>
            <a:r>
              <a:rPr lang="zh-CN" altLang="en-US" sz="2400" b="1" dirty="0">
                <a:solidFill>
                  <a:srgbClr val="FF0000"/>
                </a:solidFill>
                <a:latin typeface="楷体_GB2312" pitchFamily="49" charset="-122"/>
                <a:ea typeface="楷体_GB2312" pitchFamily="49" charset="-122"/>
              </a:rPr>
              <a:t>放大器的性能指标相互之间既有联系又有矛盾。    </a:t>
            </a:r>
            <a:endParaRPr lang="en-US" altLang="zh-CN" sz="2400" b="1" dirty="0">
              <a:solidFill>
                <a:srgbClr val="FF0000"/>
              </a:solidFill>
              <a:latin typeface="楷体_GB2312" pitchFamily="49" charset="-122"/>
              <a:ea typeface="楷体_GB2312" pitchFamily="49" charset="-122"/>
            </a:endParaRPr>
          </a:p>
          <a:p>
            <a:pPr>
              <a:lnSpc>
                <a:spcPct val="150000"/>
              </a:lnSpc>
              <a:buSzPct val="65000"/>
            </a:pPr>
            <a:r>
              <a:rPr lang="en-US" altLang="zh-CN" sz="2400" b="1" dirty="0">
                <a:solidFill>
                  <a:srgbClr val="FF0000"/>
                </a:solidFill>
                <a:latin typeface="楷体_GB2312" pitchFamily="49" charset="-122"/>
                <a:ea typeface="楷体_GB2312" pitchFamily="49" charset="-122"/>
              </a:rPr>
              <a:t>    </a:t>
            </a:r>
            <a:r>
              <a:rPr lang="zh-CN" altLang="en-US" sz="2400" b="1" dirty="0">
                <a:solidFill>
                  <a:srgbClr val="FF0000"/>
                </a:solidFill>
                <a:latin typeface="楷体_GB2312" pitchFamily="49" charset="-122"/>
                <a:ea typeface="楷体_GB2312" pitchFamily="49" charset="-122"/>
              </a:rPr>
              <a:t>增益越高，通频带越窄，品质因数越高。</a:t>
            </a:r>
          </a:p>
        </p:txBody>
      </p:sp>
    </p:spTree>
    <p:extLst>
      <p:ext uri="{BB962C8B-B14F-4D97-AF65-F5344CB8AC3E}">
        <p14:creationId xmlns:p14="http://schemas.microsoft.com/office/powerpoint/2010/main" val="1841992697"/>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30</a:t>
            </a:fld>
            <a:endParaRPr lang="en-US" altLang="zh-CN" dirty="0">
              <a:solidFill>
                <a:srgbClr val="00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835728066"/>
              </p:ext>
            </p:extLst>
          </p:nvPr>
        </p:nvGraphicFramePr>
        <p:xfrm>
          <a:off x="2411760" y="4190157"/>
          <a:ext cx="2357438" cy="534987"/>
        </p:xfrm>
        <a:graphic>
          <a:graphicData uri="http://schemas.openxmlformats.org/presentationml/2006/ole">
            <mc:AlternateContent xmlns:mc="http://schemas.openxmlformats.org/markup-compatibility/2006">
              <mc:Choice xmlns:v="urn:schemas-microsoft-com:vml" Requires="v">
                <p:oleObj spid="_x0000_s120052" name="Equation" r:id="rId4" imgW="1231560" imgH="279360" progId="Equation.DSMT4">
                  <p:embed/>
                </p:oleObj>
              </mc:Choice>
              <mc:Fallback>
                <p:oleObj name="Equation" r:id="rId4" imgW="1231560" imgH="279360" progId="Equation.DSMT4">
                  <p:embed/>
                  <p:pic>
                    <p:nvPicPr>
                      <p:cNvPr id="0" name=""/>
                      <p:cNvPicPr>
                        <a:picLocks noChangeAspect="1" noChangeArrowheads="1"/>
                      </p:cNvPicPr>
                      <p:nvPr/>
                    </p:nvPicPr>
                    <p:blipFill>
                      <a:blip r:embed="rId5"/>
                      <a:srcRect/>
                      <a:stretch>
                        <a:fillRect/>
                      </a:stretch>
                    </p:blipFill>
                    <p:spPr bwMode="auto">
                      <a:xfrm>
                        <a:off x="2411760" y="4190157"/>
                        <a:ext cx="2357438" cy="534987"/>
                      </a:xfrm>
                      <a:prstGeom prst="rect">
                        <a:avLst/>
                      </a:prstGeom>
                      <a:noFill/>
                      <a:ln>
                        <a:noFill/>
                      </a:ln>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202194257"/>
              </p:ext>
            </p:extLst>
          </p:nvPr>
        </p:nvGraphicFramePr>
        <p:xfrm>
          <a:off x="2555776" y="1042001"/>
          <a:ext cx="2067177" cy="802823"/>
        </p:xfrm>
        <a:graphic>
          <a:graphicData uri="http://schemas.openxmlformats.org/presentationml/2006/ole">
            <mc:AlternateContent xmlns:mc="http://schemas.openxmlformats.org/markup-compatibility/2006">
              <mc:Choice xmlns:v="urn:schemas-microsoft-com:vml" Requires="v">
                <p:oleObj spid="_x0000_s120053" name="Equation" r:id="rId6" imgW="1180800" imgH="457200" progId="Equation.DSMT4">
                  <p:embed/>
                </p:oleObj>
              </mc:Choice>
              <mc:Fallback>
                <p:oleObj name="Equation" r:id="rId6" imgW="1180800" imgH="457200" progId="Equation.DSMT4">
                  <p:embed/>
                  <p:pic>
                    <p:nvPicPr>
                      <p:cNvPr id="0" name=""/>
                      <p:cNvPicPr>
                        <a:picLocks noChangeAspect="1" noChangeArrowheads="1"/>
                      </p:cNvPicPr>
                      <p:nvPr/>
                    </p:nvPicPr>
                    <p:blipFill>
                      <a:blip r:embed="rId7"/>
                      <a:srcRect/>
                      <a:stretch>
                        <a:fillRect/>
                      </a:stretch>
                    </p:blipFill>
                    <p:spPr bwMode="auto">
                      <a:xfrm>
                        <a:off x="2555776" y="1042001"/>
                        <a:ext cx="2067177" cy="802823"/>
                      </a:xfrm>
                      <a:prstGeom prst="rect">
                        <a:avLst/>
                      </a:prstGeom>
                      <a:noFill/>
                      <a:ln>
                        <a:noFill/>
                      </a:ln>
                    </p:spPr>
                  </p:pic>
                </p:oleObj>
              </mc:Fallback>
            </mc:AlternateContent>
          </a:graphicData>
        </a:graphic>
      </p:graphicFrame>
      <p:sp>
        <p:nvSpPr>
          <p:cNvPr id="6" name="TextBox 5"/>
          <p:cNvSpPr txBox="1"/>
          <p:nvPr/>
        </p:nvSpPr>
        <p:spPr>
          <a:xfrm>
            <a:off x="363642" y="476672"/>
            <a:ext cx="2480166" cy="369332"/>
          </a:xfrm>
          <a:prstGeom prst="rect">
            <a:avLst/>
          </a:prstGeom>
          <a:noFill/>
        </p:spPr>
        <p:txBody>
          <a:bodyPr wrap="none" rtlCol="0">
            <a:spAutoFit/>
          </a:bodyPr>
          <a:lstStyle/>
          <a:p>
            <a:r>
              <a:rPr lang="en-US" altLang="zh-CN" b="1" dirty="0" smtClean="0">
                <a:solidFill>
                  <a:prstClr val="black"/>
                </a:solidFill>
              </a:rPr>
              <a:t>1</a:t>
            </a:r>
            <a:r>
              <a:rPr lang="zh-CN" altLang="en-US" b="1" dirty="0" smtClean="0">
                <a:solidFill>
                  <a:prstClr val="black"/>
                </a:solidFill>
              </a:rPr>
              <a:t>、空载</a:t>
            </a:r>
            <a:r>
              <a:rPr lang="en-US" altLang="zh-CN" b="1" dirty="0" smtClean="0">
                <a:solidFill>
                  <a:prstClr val="black"/>
                </a:solidFill>
              </a:rPr>
              <a:t>LC</a:t>
            </a:r>
            <a:r>
              <a:rPr lang="zh-CN" altLang="en-US" b="1" dirty="0" smtClean="0">
                <a:solidFill>
                  <a:prstClr val="black"/>
                </a:solidFill>
              </a:rPr>
              <a:t>谐振回路：</a:t>
            </a:r>
            <a:endParaRPr lang="zh-CN" altLang="en-US" b="1" dirty="0">
              <a:solidFill>
                <a:prstClr val="black"/>
              </a:solidFill>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409031372"/>
              </p:ext>
            </p:extLst>
          </p:nvPr>
        </p:nvGraphicFramePr>
        <p:xfrm>
          <a:off x="179512" y="990020"/>
          <a:ext cx="2447925" cy="1946275"/>
        </p:xfrm>
        <a:graphic>
          <a:graphicData uri="http://schemas.openxmlformats.org/presentationml/2006/ole">
            <mc:AlternateContent xmlns:mc="http://schemas.openxmlformats.org/markup-compatibility/2006">
              <mc:Choice xmlns:v="urn:schemas-microsoft-com:vml" Requires="v">
                <p:oleObj spid="_x0000_s120054" name="Visio" r:id="rId8" imgW="1668774" imgH="1472218" progId="Visio.Drawing.11">
                  <p:embed/>
                </p:oleObj>
              </mc:Choice>
              <mc:Fallback>
                <p:oleObj name="Visio" r:id="rId8" imgW="1668774" imgH="1472218" progId="Visio.Drawing.1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512" y="990020"/>
                        <a:ext cx="2447925"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347230" y="3532793"/>
            <a:ext cx="2480166" cy="369332"/>
          </a:xfrm>
          <a:prstGeom prst="rect">
            <a:avLst/>
          </a:prstGeom>
          <a:noFill/>
        </p:spPr>
        <p:txBody>
          <a:bodyPr wrap="none" rtlCol="0">
            <a:spAutoFit/>
          </a:bodyPr>
          <a:lstStyle/>
          <a:p>
            <a:r>
              <a:rPr lang="en-US" altLang="zh-CN" b="1" dirty="0" smtClean="0">
                <a:solidFill>
                  <a:prstClr val="black"/>
                </a:solidFill>
              </a:rPr>
              <a:t>2</a:t>
            </a:r>
            <a:r>
              <a:rPr lang="zh-CN" altLang="en-US" b="1" dirty="0" smtClean="0">
                <a:solidFill>
                  <a:prstClr val="black"/>
                </a:solidFill>
              </a:rPr>
              <a:t>、有载</a:t>
            </a:r>
            <a:r>
              <a:rPr lang="en-US" altLang="zh-CN" b="1" dirty="0" smtClean="0">
                <a:solidFill>
                  <a:prstClr val="black"/>
                </a:solidFill>
              </a:rPr>
              <a:t>LC</a:t>
            </a:r>
            <a:r>
              <a:rPr lang="zh-CN" altLang="en-US" b="1" dirty="0" smtClean="0">
                <a:solidFill>
                  <a:prstClr val="black"/>
                </a:solidFill>
              </a:rPr>
              <a:t>谐振回路：</a:t>
            </a:r>
            <a:endParaRPr lang="zh-CN" altLang="en-US" b="1" dirty="0">
              <a:solidFill>
                <a:prstClr val="black"/>
              </a:solidFill>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3529489249"/>
              </p:ext>
            </p:extLst>
          </p:nvPr>
        </p:nvGraphicFramePr>
        <p:xfrm>
          <a:off x="107504" y="3902125"/>
          <a:ext cx="2474913" cy="2033587"/>
        </p:xfrm>
        <a:graphic>
          <a:graphicData uri="http://schemas.openxmlformats.org/presentationml/2006/ole">
            <mc:AlternateContent xmlns:mc="http://schemas.openxmlformats.org/markup-compatibility/2006">
              <mc:Choice xmlns:v="urn:schemas-microsoft-com:vml" Requires="v">
                <p:oleObj spid="_x0000_s120055" name="Visio" r:id="rId10" imgW="1683081" imgH="1515407" progId="Visio.Drawing.11">
                  <p:embed/>
                </p:oleObj>
              </mc:Choice>
              <mc:Fallback>
                <p:oleObj name="Visio" r:id="rId10" imgW="1683081" imgH="1515407" progId="Visio.Drawing.11">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7504" y="3902125"/>
                        <a:ext cx="2474913" cy="203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7" name="Picture 46"/>
          <p:cNvPicPr>
            <a:picLocks noChangeAspect="1" noChangeArrowheads="1"/>
          </p:cNvPicPr>
          <p:nvPr/>
        </p:nvPicPr>
        <p:blipFill>
          <a:blip r:embed="rId12" cstate="print">
            <a:biLevel thresh="50000"/>
            <a:extLst>
              <a:ext uri="{28A0092B-C50C-407E-A947-70E740481C1C}">
                <a14:useLocalDpi xmlns:a14="http://schemas.microsoft.com/office/drawing/2010/main" val="0"/>
              </a:ext>
            </a:extLst>
          </a:blip>
          <a:srcRect/>
          <a:stretch>
            <a:fillRect/>
          </a:stretch>
        </p:blipFill>
        <p:spPr bwMode="auto">
          <a:xfrm>
            <a:off x="5699144" y="1196752"/>
            <a:ext cx="2570248" cy="15433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p:cNvSpPr txBox="1"/>
          <p:nvPr/>
        </p:nvSpPr>
        <p:spPr>
          <a:xfrm>
            <a:off x="5148064" y="476672"/>
            <a:ext cx="3672408" cy="646331"/>
          </a:xfrm>
          <a:prstGeom prst="rect">
            <a:avLst/>
          </a:prstGeom>
          <a:noFill/>
        </p:spPr>
        <p:txBody>
          <a:bodyPr wrap="square" rtlCol="0">
            <a:spAutoFit/>
          </a:bodyPr>
          <a:lstStyle/>
          <a:p>
            <a:r>
              <a:rPr lang="en-US" altLang="zh-CN" b="1" dirty="0">
                <a:solidFill>
                  <a:prstClr val="black"/>
                </a:solidFill>
              </a:rPr>
              <a:t>3</a:t>
            </a:r>
            <a:r>
              <a:rPr lang="zh-CN" altLang="en-US" b="1" dirty="0" smtClean="0">
                <a:solidFill>
                  <a:prstClr val="black"/>
                </a:solidFill>
              </a:rPr>
              <a:t>、小信号谐振放大器中</a:t>
            </a:r>
            <a:r>
              <a:rPr lang="en-US" altLang="zh-CN" b="1" dirty="0" smtClean="0">
                <a:solidFill>
                  <a:prstClr val="black"/>
                </a:solidFill>
              </a:rPr>
              <a:t>LC</a:t>
            </a:r>
            <a:r>
              <a:rPr lang="zh-CN" altLang="en-US" b="1" dirty="0" smtClean="0">
                <a:solidFill>
                  <a:prstClr val="black"/>
                </a:solidFill>
              </a:rPr>
              <a:t>谐振回路：</a:t>
            </a:r>
            <a:endParaRPr lang="zh-CN" altLang="en-US" b="1" dirty="0">
              <a:solidFill>
                <a:prstClr val="black"/>
              </a:solidFill>
            </a:endParaRPr>
          </a:p>
        </p:txBody>
      </p:sp>
      <p:graphicFrame>
        <p:nvGraphicFramePr>
          <p:cNvPr id="15" name="对象 14"/>
          <p:cNvGraphicFramePr>
            <a:graphicFrameLocks noChangeAspect="1"/>
          </p:cNvGraphicFramePr>
          <p:nvPr>
            <p:extLst>
              <p:ext uri="{D42A27DB-BD31-4B8C-83A1-F6EECF244321}">
                <p14:modId xmlns:p14="http://schemas.microsoft.com/office/powerpoint/2010/main" val="4011391735"/>
              </p:ext>
            </p:extLst>
          </p:nvPr>
        </p:nvGraphicFramePr>
        <p:xfrm>
          <a:off x="2627784" y="1772816"/>
          <a:ext cx="1330325" cy="795337"/>
        </p:xfrm>
        <a:graphic>
          <a:graphicData uri="http://schemas.openxmlformats.org/presentationml/2006/ole">
            <mc:AlternateContent xmlns:mc="http://schemas.openxmlformats.org/markup-compatibility/2006">
              <mc:Choice xmlns:v="urn:schemas-microsoft-com:vml" Requires="v">
                <p:oleObj spid="_x0000_s120056" name="Equation" r:id="rId13" imgW="698400" imgH="419040" progId="Equation.DSMT4">
                  <p:embed/>
                </p:oleObj>
              </mc:Choice>
              <mc:Fallback>
                <p:oleObj name="Equation" r:id="rId13" imgW="698400" imgH="419040" progId="Equation.DSMT4">
                  <p:embed/>
                  <p:pic>
                    <p:nvPicPr>
                      <p:cNvPr id="0" name=""/>
                      <p:cNvPicPr>
                        <a:picLocks noChangeAspect="1" noChangeArrowheads="1"/>
                      </p:cNvPicPr>
                      <p:nvPr/>
                    </p:nvPicPr>
                    <p:blipFill>
                      <a:blip r:embed="rId14"/>
                      <a:srcRect/>
                      <a:stretch>
                        <a:fillRect/>
                      </a:stretch>
                    </p:blipFill>
                    <p:spPr bwMode="auto">
                      <a:xfrm>
                        <a:off x="2627784" y="1772816"/>
                        <a:ext cx="1330325"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503707157"/>
              </p:ext>
            </p:extLst>
          </p:nvPr>
        </p:nvGraphicFramePr>
        <p:xfrm>
          <a:off x="2760595" y="4869160"/>
          <a:ext cx="1330325" cy="796925"/>
        </p:xfrm>
        <a:graphic>
          <a:graphicData uri="http://schemas.openxmlformats.org/presentationml/2006/ole">
            <mc:AlternateContent xmlns:mc="http://schemas.openxmlformats.org/markup-compatibility/2006">
              <mc:Choice xmlns:v="urn:schemas-microsoft-com:vml" Requires="v">
                <p:oleObj spid="_x0000_s120057" name="Equation" r:id="rId15" imgW="698400" imgH="419040" progId="Equation.DSMT4">
                  <p:embed/>
                </p:oleObj>
              </mc:Choice>
              <mc:Fallback>
                <p:oleObj name="Equation" r:id="rId15" imgW="698400" imgH="419040" progId="Equation.DSMT4">
                  <p:embed/>
                  <p:pic>
                    <p:nvPicPr>
                      <p:cNvPr id="0" name=""/>
                      <p:cNvPicPr>
                        <a:picLocks noChangeAspect="1" noChangeArrowheads="1"/>
                      </p:cNvPicPr>
                      <p:nvPr/>
                    </p:nvPicPr>
                    <p:blipFill>
                      <a:blip r:embed="rId16"/>
                      <a:srcRect/>
                      <a:stretch>
                        <a:fillRect/>
                      </a:stretch>
                    </p:blipFill>
                    <p:spPr bwMode="auto">
                      <a:xfrm>
                        <a:off x="2760595" y="4869160"/>
                        <a:ext cx="1330325"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3887908906"/>
              </p:ext>
            </p:extLst>
          </p:nvPr>
        </p:nvGraphicFramePr>
        <p:xfrm>
          <a:off x="6217369" y="5080918"/>
          <a:ext cx="1450975" cy="868362"/>
        </p:xfrm>
        <a:graphic>
          <a:graphicData uri="http://schemas.openxmlformats.org/presentationml/2006/ole">
            <mc:AlternateContent xmlns:mc="http://schemas.openxmlformats.org/markup-compatibility/2006">
              <mc:Choice xmlns:v="urn:schemas-microsoft-com:vml" Requires="v">
                <p:oleObj spid="_x0000_s120058" name="Equation" r:id="rId17" imgW="761760" imgH="457200" progId="Equation.DSMT4">
                  <p:embed/>
                </p:oleObj>
              </mc:Choice>
              <mc:Fallback>
                <p:oleObj name="Equation" r:id="rId17" imgW="761760" imgH="457200" progId="Equation.DSMT4">
                  <p:embed/>
                  <p:pic>
                    <p:nvPicPr>
                      <p:cNvPr id="0" name=""/>
                      <p:cNvPicPr>
                        <a:picLocks noChangeAspect="1" noChangeArrowheads="1"/>
                      </p:cNvPicPr>
                      <p:nvPr/>
                    </p:nvPicPr>
                    <p:blipFill>
                      <a:blip r:embed="rId18"/>
                      <a:srcRect/>
                      <a:stretch>
                        <a:fillRect/>
                      </a:stretch>
                    </p:blipFill>
                    <p:spPr bwMode="auto">
                      <a:xfrm>
                        <a:off x="6217369" y="5080918"/>
                        <a:ext cx="1450975"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126913388"/>
              </p:ext>
            </p:extLst>
          </p:nvPr>
        </p:nvGraphicFramePr>
        <p:xfrm>
          <a:off x="6012160" y="2800735"/>
          <a:ext cx="1440160" cy="844289"/>
        </p:xfrm>
        <a:graphic>
          <a:graphicData uri="http://schemas.openxmlformats.org/presentationml/2006/ole">
            <mc:AlternateContent xmlns:mc="http://schemas.openxmlformats.org/markup-compatibility/2006">
              <mc:Choice xmlns:v="urn:schemas-microsoft-com:vml" Requires="v">
                <p:oleObj spid="_x0000_s120059" name="Equation" r:id="rId19" imgW="736560" imgH="431640" progId="Equation.DSMT4">
                  <p:embed/>
                </p:oleObj>
              </mc:Choice>
              <mc:Fallback>
                <p:oleObj name="Equation" r:id="rId19" imgW="736560" imgH="431640" progId="Equation.DSMT4">
                  <p:embed/>
                  <p:pic>
                    <p:nvPicPr>
                      <p:cNvPr id="0" name=""/>
                      <p:cNvPicPr>
                        <a:picLocks noChangeAspect="1" noChangeArrowheads="1"/>
                      </p:cNvPicPr>
                      <p:nvPr/>
                    </p:nvPicPr>
                    <p:blipFill>
                      <a:blip r:embed="rId20"/>
                      <a:srcRect/>
                      <a:stretch>
                        <a:fillRect/>
                      </a:stretch>
                    </p:blipFill>
                    <p:spPr bwMode="auto">
                      <a:xfrm>
                        <a:off x="6012160" y="2800735"/>
                        <a:ext cx="1440160" cy="844289"/>
                      </a:xfrm>
                      <a:prstGeom prst="rect">
                        <a:avLst/>
                      </a:prstGeom>
                      <a:noFill/>
                      <a:ln>
                        <a:noFill/>
                      </a:ln>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4189368066"/>
              </p:ext>
            </p:extLst>
          </p:nvPr>
        </p:nvGraphicFramePr>
        <p:xfrm>
          <a:off x="5436096" y="3789040"/>
          <a:ext cx="3457575" cy="522287"/>
        </p:xfrm>
        <a:graphic>
          <a:graphicData uri="http://schemas.openxmlformats.org/presentationml/2006/ole">
            <mc:AlternateContent xmlns:mc="http://schemas.openxmlformats.org/markup-compatibility/2006">
              <mc:Choice xmlns:v="urn:schemas-microsoft-com:vml" Requires="v">
                <p:oleObj spid="_x0000_s120060" name="Equation" r:id="rId21" imgW="1676160" imgH="253800" progId="Equation.DSMT4">
                  <p:embed/>
                </p:oleObj>
              </mc:Choice>
              <mc:Fallback>
                <p:oleObj name="Equation" r:id="rId21" imgW="1676160" imgH="253800" progId="Equation.DSMT4">
                  <p:embed/>
                  <p:pic>
                    <p:nvPicPr>
                      <p:cNvPr id="0" name=""/>
                      <p:cNvPicPr>
                        <a:picLocks noChangeAspect="1" noChangeArrowheads="1"/>
                      </p:cNvPicPr>
                      <p:nvPr/>
                    </p:nvPicPr>
                    <p:blipFill>
                      <a:blip r:embed="rId22"/>
                      <a:srcRect/>
                      <a:stretch>
                        <a:fillRect/>
                      </a:stretch>
                    </p:blipFill>
                    <p:spPr bwMode="auto">
                      <a:xfrm>
                        <a:off x="5436096" y="3789040"/>
                        <a:ext cx="34575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3498464970"/>
              </p:ext>
            </p:extLst>
          </p:nvPr>
        </p:nvGraphicFramePr>
        <p:xfrm>
          <a:off x="6234261" y="4365104"/>
          <a:ext cx="1362075" cy="822325"/>
        </p:xfrm>
        <a:graphic>
          <a:graphicData uri="http://schemas.openxmlformats.org/presentationml/2006/ole">
            <mc:AlternateContent xmlns:mc="http://schemas.openxmlformats.org/markup-compatibility/2006">
              <mc:Choice xmlns:v="urn:schemas-microsoft-com:vml" Requires="v">
                <p:oleObj spid="_x0000_s120061" name="Equation" r:id="rId23" imgW="736560" imgH="444240" progId="Equation.DSMT4">
                  <p:embed/>
                </p:oleObj>
              </mc:Choice>
              <mc:Fallback>
                <p:oleObj name="Equation" r:id="rId23" imgW="736560" imgH="444240" progId="Equation.DSMT4">
                  <p:embed/>
                  <p:pic>
                    <p:nvPicPr>
                      <p:cNvPr id="0" name=""/>
                      <p:cNvPicPr>
                        <a:picLocks noChangeAspect="1" noChangeArrowheads="1"/>
                      </p:cNvPicPr>
                      <p:nvPr/>
                    </p:nvPicPr>
                    <p:blipFill>
                      <a:blip r:embed="rId24"/>
                      <a:srcRect/>
                      <a:stretch>
                        <a:fillRect/>
                      </a:stretch>
                    </p:blipFill>
                    <p:spPr bwMode="auto">
                      <a:xfrm>
                        <a:off x="6234261" y="4365104"/>
                        <a:ext cx="13620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851565877"/>
              </p:ext>
            </p:extLst>
          </p:nvPr>
        </p:nvGraphicFramePr>
        <p:xfrm>
          <a:off x="5724128" y="5994548"/>
          <a:ext cx="2684463" cy="458788"/>
        </p:xfrm>
        <a:graphic>
          <a:graphicData uri="http://schemas.openxmlformats.org/presentationml/2006/ole">
            <mc:AlternateContent xmlns:mc="http://schemas.openxmlformats.org/markup-compatibility/2006">
              <mc:Choice xmlns:v="urn:schemas-microsoft-com:vml" Requires="v">
                <p:oleObj spid="_x0000_s120062" name="Equation" r:id="rId25" imgW="1409400" imgH="241200" progId="Equation.DSMT4">
                  <p:embed/>
                </p:oleObj>
              </mc:Choice>
              <mc:Fallback>
                <p:oleObj name="Equation" r:id="rId25" imgW="1409400" imgH="241200" progId="Equation.DSMT4">
                  <p:embed/>
                  <p:pic>
                    <p:nvPicPr>
                      <p:cNvPr id="0" name=""/>
                      <p:cNvPicPr>
                        <a:picLocks noChangeAspect="1" noChangeArrowheads="1"/>
                      </p:cNvPicPr>
                      <p:nvPr/>
                    </p:nvPicPr>
                    <p:blipFill>
                      <a:blip r:embed="rId26"/>
                      <a:srcRect/>
                      <a:stretch>
                        <a:fillRect/>
                      </a:stretch>
                    </p:blipFill>
                    <p:spPr bwMode="auto">
                      <a:xfrm>
                        <a:off x="5724128" y="5994548"/>
                        <a:ext cx="2684463"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6" name="直接连接符 25"/>
          <p:cNvCxnSpPr/>
          <p:nvPr/>
        </p:nvCxnSpPr>
        <p:spPr bwMode="auto">
          <a:xfrm>
            <a:off x="5004048" y="332656"/>
            <a:ext cx="0" cy="6264696"/>
          </a:xfrm>
          <a:prstGeom prst="line">
            <a:avLst/>
          </a:prstGeom>
          <a:solidFill>
            <a:schemeClr val="accent1"/>
          </a:solidFill>
          <a:ln w="38100" cap="flat" cmpd="sng" algn="ctr">
            <a:solidFill>
              <a:srgbClr val="0070C0"/>
            </a:solidFill>
            <a:prstDash val="solid"/>
            <a:round/>
            <a:headEnd type="none" w="med" len="med"/>
            <a:tailEnd type="none" w="med" len="med"/>
          </a:ln>
        </p:spPr>
      </p:cxnSp>
      <p:cxnSp>
        <p:nvCxnSpPr>
          <p:cNvPr id="28" name="直接连接符 27"/>
          <p:cNvCxnSpPr/>
          <p:nvPr/>
        </p:nvCxnSpPr>
        <p:spPr bwMode="auto">
          <a:xfrm flipH="1">
            <a:off x="179512" y="3284984"/>
            <a:ext cx="4824536" cy="0"/>
          </a:xfrm>
          <a:prstGeom prst="line">
            <a:avLst/>
          </a:prstGeom>
          <a:solidFill>
            <a:schemeClr val="accent1"/>
          </a:solidFill>
          <a:ln w="38100" cap="flat" cmpd="sng" algn="ctr">
            <a:solidFill>
              <a:srgbClr val="0070C0"/>
            </a:solidFill>
            <a:prstDash val="solid"/>
            <a:round/>
            <a:headEnd type="none" w="med" len="med"/>
            <a:tailEnd type="none" w="med" len="med"/>
          </a:ln>
        </p:spPr>
      </p:cxnSp>
    </p:spTree>
    <p:extLst>
      <p:ext uri="{BB962C8B-B14F-4D97-AF65-F5344CB8AC3E}">
        <p14:creationId xmlns:p14="http://schemas.microsoft.com/office/powerpoint/2010/main" val="3776323767"/>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31</a:t>
            </a:fld>
            <a:endParaRPr lang="en-US" altLang="zh-CN" dirty="0">
              <a:solidFill>
                <a:srgbClr val="000000"/>
              </a:solidFill>
            </a:endParaRPr>
          </a:p>
        </p:txBody>
      </p:sp>
      <p:sp>
        <p:nvSpPr>
          <p:cNvPr id="21" name="内容占位符 20"/>
          <p:cNvSpPr>
            <a:spLocks noGrp="1"/>
          </p:cNvSpPr>
          <p:nvPr>
            <p:ph idx="1"/>
          </p:nvPr>
        </p:nvSpPr>
        <p:spPr>
          <a:xfrm>
            <a:off x="395536" y="260648"/>
            <a:ext cx="3816424" cy="648072"/>
          </a:xfrm>
          <a:solidFill>
            <a:srgbClr val="862714"/>
          </a:solidFill>
        </p:spPr>
        <p:txBody>
          <a:bodyPr/>
          <a:lstStyle/>
          <a:p>
            <a:pPr>
              <a:buClr>
                <a:schemeClr val="bg1"/>
              </a:buClr>
              <a:buFont typeface="Wingdings" panose="05000000000000000000" pitchFamily="2" charset="2"/>
              <a:buChar char="l"/>
            </a:pPr>
            <a:r>
              <a:rPr lang="en-US" altLang="zh-CN" sz="3600" dirty="0">
                <a:solidFill>
                  <a:schemeClr val="bg1"/>
                </a:solidFill>
                <a:latin typeface="Garamond"/>
                <a:ea typeface="华文行楷"/>
                <a:cs typeface="+mj-cs"/>
              </a:rPr>
              <a:t>2.2.3 </a:t>
            </a:r>
            <a:r>
              <a:rPr lang="zh-CN" altLang="en-US" sz="3600" dirty="0">
                <a:solidFill>
                  <a:schemeClr val="bg1"/>
                </a:solidFill>
                <a:latin typeface="Garamond"/>
                <a:ea typeface="华文行楷"/>
                <a:cs typeface="+mj-cs"/>
              </a:rPr>
              <a:t>目标</a:t>
            </a:r>
            <a:r>
              <a:rPr lang="en-US" altLang="zh-CN" sz="3600" dirty="0">
                <a:solidFill>
                  <a:schemeClr val="bg1"/>
                </a:solidFill>
                <a:latin typeface="Garamond"/>
                <a:ea typeface="华文行楷"/>
                <a:cs typeface="+mj-cs"/>
              </a:rPr>
              <a:t>1 </a:t>
            </a:r>
            <a:r>
              <a:rPr lang="zh-CN" altLang="en-US" sz="3600" dirty="0">
                <a:solidFill>
                  <a:schemeClr val="bg1"/>
                </a:solidFill>
                <a:latin typeface="Garamond"/>
                <a:ea typeface="华文行楷"/>
                <a:cs typeface="+mj-cs"/>
              </a:rPr>
              <a:t>测评</a:t>
            </a:r>
            <a:endParaRPr lang="zh-CN" altLang="en-US" sz="2800" dirty="0"/>
          </a:p>
        </p:txBody>
      </p:sp>
      <p:grpSp>
        <p:nvGrpSpPr>
          <p:cNvPr id="15" name="Group 2"/>
          <p:cNvGrpSpPr>
            <a:grpSpLocks/>
          </p:cNvGrpSpPr>
          <p:nvPr/>
        </p:nvGrpSpPr>
        <p:grpSpPr bwMode="auto">
          <a:xfrm>
            <a:off x="5868144" y="1161678"/>
            <a:ext cx="2871788" cy="1619250"/>
            <a:chOff x="0" y="0"/>
            <a:chExt cx="1809" cy="1020"/>
          </a:xfrm>
        </p:grpSpPr>
        <p:grpSp>
          <p:nvGrpSpPr>
            <p:cNvPr id="16" name="Group 3"/>
            <p:cNvGrpSpPr>
              <a:grpSpLocks/>
            </p:cNvGrpSpPr>
            <p:nvPr/>
          </p:nvGrpSpPr>
          <p:grpSpPr bwMode="auto">
            <a:xfrm>
              <a:off x="641" y="192"/>
              <a:ext cx="712" cy="636"/>
              <a:chOff x="0" y="0"/>
              <a:chExt cx="712" cy="636"/>
            </a:xfrm>
          </p:grpSpPr>
          <p:sp>
            <p:nvSpPr>
              <p:cNvPr id="43" name="Text Box 4"/>
              <p:cNvSpPr txBox="1">
                <a:spLocks noChangeArrowheads="1"/>
              </p:cNvSpPr>
              <p:nvPr/>
            </p:nvSpPr>
            <p:spPr bwMode="auto">
              <a:xfrm>
                <a:off x="12" y="0"/>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en-US" altLang="zh-CN" sz="2400" i="1">
                    <a:solidFill>
                      <a:srgbClr val="0000FF"/>
                    </a:solidFill>
                  </a:rPr>
                  <a:t>L</a:t>
                </a:r>
              </a:p>
            </p:txBody>
          </p:sp>
          <p:sp>
            <p:nvSpPr>
              <p:cNvPr id="44" name="Text Box 5"/>
              <p:cNvSpPr txBox="1">
                <a:spLocks noChangeArrowheads="1"/>
              </p:cNvSpPr>
              <p:nvPr/>
            </p:nvSpPr>
            <p:spPr bwMode="auto">
              <a:xfrm>
                <a:off x="0" y="348"/>
                <a:ext cx="1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en-US" altLang="zh-CN" sz="2400" i="1">
                    <a:solidFill>
                      <a:srgbClr val="0000FF"/>
                    </a:solidFill>
                  </a:rPr>
                  <a:t>r</a:t>
                </a:r>
              </a:p>
            </p:txBody>
          </p:sp>
          <p:sp>
            <p:nvSpPr>
              <p:cNvPr id="45" name="Text Box 6"/>
              <p:cNvSpPr txBox="1">
                <a:spLocks noChangeArrowheads="1"/>
              </p:cNvSpPr>
              <p:nvPr/>
            </p:nvSpPr>
            <p:spPr bwMode="auto">
              <a:xfrm>
                <a:off x="468" y="324"/>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en-US" altLang="zh-CN" sz="2400" i="1">
                    <a:solidFill>
                      <a:srgbClr val="0000FF"/>
                    </a:solidFill>
                  </a:rPr>
                  <a:t>C</a:t>
                </a:r>
              </a:p>
            </p:txBody>
          </p:sp>
        </p:grpSp>
        <p:grpSp>
          <p:nvGrpSpPr>
            <p:cNvPr id="17" name="Group 7"/>
            <p:cNvGrpSpPr>
              <a:grpSpLocks/>
            </p:cNvGrpSpPr>
            <p:nvPr/>
          </p:nvGrpSpPr>
          <p:grpSpPr bwMode="auto">
            <a:xfrm>
              <a:off x="0" y="0"/>
              <a:ext cx="1481" cy="1020"/>
              <a:chOff x="0" y="0"/>
              <a:chExt cx="1481" cy="1020"/>
            </a:xfrm>
          </p:grpSpPr>
          <p:grpSp>
            <p:nvGrpSpPr>
              <p:cNvPr id="19" name="Group 8"/>
              <p:cNvGrpSpPr>
                <a:grpSpLocks/>
              </p:cNvGrpSpPr>
              <p:nvPr/>
            </p:nvGrpSpPr>
            <p:grpSpPr bwMode="auto">
              <a:xfrm>
                <a:off x="912" y="9"/>
                <a:ext cx="76" cy="672"/>
                <a:chOff x="0" y="0"/>
                <a:chExt cx="76" cy="695"/>
              </a:xfrm>
            </p:grpSpPr>
            <p:sp>
              <p:nvSpPr>
                <p:cNvPr id="37" name="Arc 9"/>
                <p:cNvSpPr>
                  <a:spLocks/>
                </p:cNvSpPr>
                <p:nvPr/>
              </p:nvSpPr>
              <p:spPr bwMode="auto">
                <a:xfrm>
                  <a:off x="0" y="144"/>
                  <a:ext cx="76" cy="98"/>
                </a:xfrm>
                <a:custGeom>
                  <a:avLst/>
                  <a:gdLst>
                    <a:gd name="T0" fmla="*/ 0 w 23843"/>
                    <a:gd name="T1" fmla="*/ 0 h 43200"/>
                    <a:gd name="T2" fmla="*/ 0 w 23843"/>
                    <a:gd name="T3" fmla="*/ 0 h 43200"/>
                    <a:gd name="T4" fmla="*/ 0 w 23843"/>
                    <a:gd name="T5" fmla="*/ 0 h 43200"/>
                    <a:gd name="T6" fmla="*/ 0 w 23843"/>
                    <a:gd name="T7" fmla="*/ 0 h 43200"/>
                    <a:gd name="T8" fmla="*/ 0 w 23843"/>
                    <a:gd name="T9" fmla="*/ 0 h 43200"/>
                    <a:gd name="T10" fmla="*/ 0 w 23843"/>
                    <a:gd name="T11" fmla="*/ 0 h 43200"/>
                    <a:gd name="T12" fmla="*/ 0 w 23843"/>
                    <a:gd name="T13" fmla="*/ 0 h 43200"/>
                    <a:gd name="T14" fmla="*/ 0 w 23843"/>
                    <a:gd name="T15" fmla="*/ 0 h 43200"/>
                    <a:gd name="T16" fmla="*/ 0 w 23843"/>
                    <a:gd name="T17" fmla="*/ 0 h 432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43"/>
                    <a:gd name="T28" fmla="*/ 0 h 43200"/>
                    <a:gd name="T29" fmla="*/ 23843 w 23843"/>
                    <a:gd name="T30" fmla="*/ 43200 h 432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lnTo>
                        <a:pt x="2242" y="0"/>
                      </a:lnTo>
                      <a:close/>
                    </a:path>
                  </a:pathLst>
                </a:custGeom>
                <a:noFill/>
                <a:ln w="28575">
                  <a:solidFill>
                    <a:schemeClr val="tx1"/>
                  </a:solidFill>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8" name="Arc 10"/>
                <p:cNvSpPr>
                  <a:spLocks/>
                </p:cNvSpPr>
                <p:nvPr/>
              </p:nvSpPr>
              <p:spPr bwMode="auto">
                <a:xfrm>
                  <a:off x="12" y="340"/>
                  <a:ext cx="60" cy="98"/>
                </a:xfrm>
                <a:custGeom>
                  <a:avLst/>
                  <a:gdLst>
                    <a:gd name="T0" fmla="*/ 0 w 23843"/>
                    <a:gd name="T1" fmla="*/ 0 h 43200"/>
                    <a:gd name="T2" fmla="*/ 0 w 23843"/>
                    <a:gd name="T3" fmla="*/ 0 h 43200"/>
                    <a:gd name="T4" fmla="*/ 0 w 23843"/>
                    <a:gd name="T5" fmla="*/ 0 h 43200"/>
                    <a:gd name="T6" fmla="*/ 0 w 23843"/>
                    <a:gd name="T7" fmla="*/ 0 h 43200"/>
                    <a:gd name="T8" fmla="*/ 0 w 23843"/>
                    <a:gd name="T9" fmla="*/ 0 h 43200"/>
                    <a:gd name="T10" fmla="*/ 0 w 23843"/>
                    <a:gd name="T11" fmla="*/ 0 h 43200"/>
                    <a:gd name="T12" fmla="*/ 0 w 23843"/>
                    <a:gd name="T13" fmla="*/ 0 h 43200"/>
                    <a:gd name="T14" fmla="*/ 0 w 23843"/>
                    <a:gd name="T15" fmla="*/ 0 h 43200"/>
                    <a:gd name="T16" fmla="*/ 0 w 23843"/>
                    <a:gd name="T17" fmla="*/ 0 h 432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43"/>
                    <a:gd name="T28" fmla="*/ 0 h 43200"/>
                    <a:gd name="T29" fmla="*/ 23843 w 23843"/>
                    <a:gd name="T30" fmla="*/ 43200 h 432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lnTo>
                        <a:pt x="2242" y="0"/>
                      </a:lnTo>
                      <a:close/>
                    </a:path>
                  </a:pathLst>
                </a:custGeom>
                <a:noFill/>
                <a:ln w="28575">
                  <a:solidFill>
                    <a:schemeClr val="tx1"/>
                  </a:solidFill>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39" name="Arc 11"/>
                <p:cNvSpPr>
                  <a:spLocks/>
                </p:cNvSpPr>
                <p:nvPr/>
              </p:nvSpPr>
              <p:spPr bwMode="auto">
                <a:xfrm>
                  <a:off x="16" y="236"/>
                  <a:ext cx="60" cy="98"/>
                </a:xfrm>
                <a:custGeom>
                  <a:avLst/>
                  <a:gdLst>
                    <a:gd name="T0" fmla="*/ 0 w 23843"/>
                    <a:gd name="T1" fmla="*/ 0 h 43200"/>
                    <a:gd name="T2" fmla="*/ 0 w 23843"/>
                    <a:gd name="T3" fmla="*/ 0 h 43200"/>
                    <a:gd name="T4" fmla="*/ 0 w 23843"/>
                    <a:gd name="T5" fmla="*/ 0 h 43200"/>
                    <a:gd name="T6" fmla="*/ 0 w 23843"/>
                    <a:gd name="T7" fmla="*/ 0 h 43200"/>
                    <a:gd name="T8" fmla="*/ 0 w 23843"/>
                    <a:gd name="T9" fmla="*/ 0 h 43200"/>
                    <a:gd name="T10" fmla="*/ 0 w 23843"/>
                    <a:gd name="T11" fmla="*/ 0 h 43200"/>
                    <a:gd name="T12" fmla="*/ 0 w 23843"/>
                    <a:gd name="T13" fmla="*/ 0 h 43200"/>
                    <a:gd name="T14" fmla="*/ 0 w 23843"/>
                    <a:gd name="T15" fmla="*/ 0 h 43200"/>
                    <a:gd name="T16" fmla="*/ 0 w 23843"/>
                    <a:gd name="T17" fmla="*/ 0 h 432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43"/>
                    <a:gd name="T28" fmla="*/ 0 h 43200"/>
                    <a:gd name="T29" fmla="*/ 23843 w 23843"/>
                    <a:gd name="T30" fmla="*/ 43200 h 432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lnTo>
                        <a:pt x="2242" y="0"/>
                      </a:lnTo>
                      <a:close/>
                    </a:path>
                  </a:pathLst>
                </a:custGeom>
                <a:noFill/>
                <a:ln w="28575">
                  <a:solidFill>
                    <a:schemeClr val="tx1"/>
                  </a:solidFill>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0" name="Arc 12"/>
                <p:cNvSpPr>
                  <a:spLocks/>
                </p:cNvSpPr>
                <p:nvPr/>
              </p:nvSpPr>
              <p:spPr bwMode="auto">
                <a:xfrm>
                  <a:off x="0" y="440"/>
                  <a:ext cx="60" cy="98"/>
                </a:xfrm>
                <a:custGeom>
                  <a:avLst/>
                  <a:gdLst>
                    <a:gd name="T0" fmla="*/ 0 w 23843"/>
                    <a:gd name="T1" fmla="*/ 0 h 43200"/>
                    <a:gd name="T2" fmla="*/ 0 w 23843"/>
                    <a:gd name="T3" fmla="*/ 0 h 43200"/>
                    <a:gd name="T4" fmla="*/ 0 w 23843"/>
                    <a:gd name="T5" fmla="*/ 0 h 43200"/>
                    <a:gd name="T6" fmla="*/ 0 w 23843"/>
                    <a:gd name="T7" fmla="*/ 0 h 43200"/>
                    <a:gd name="T8" fmla="*/ 0 w 23843"/>
                    <a:gd name="T9" fmla="*/ 0 h 43200"/>
                    <a:gd name="T10" fmla="*/ 0 w 23843"/>
                    <a:gd name="T11" fmla="*/ 0 h 43200"/>
                    <a:gd name="T12" fmla="*/ 0 w 23843"/>
                    <a:gd name="T13" fmla="*/ 0 h 43200"/>
                    <a:gd name="T14" fmla="*/ 0 w 23843"/>
                    <a:gd name="T15" fmla="*/ 0 h 43200"/>
                    <a:gd name="T16" fmla="*/ 0 w 23843"/>
                    <a:gd name="T17" fmla="*/ 0 h 432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843"/>
                    <a:gd name="T28" fmla="*/ 0 h 43200"/>
                    <a:gd name="T29" fmla="*/ 23843 w 23843"/>
                    <a:gd name="T30" fmla="*/ 43200 h 432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lnTo>
                        <a:pt x="2242" y="0"/>
                      </a:lnTo>
                      <a:close/>
                    </a:path>
                  </a:pathLst>
                </a:custGeom>
                <a:noFill/>
                <a:ln w="28575">
                  <a:solidFill>
                    <a:schemeClr val="tx1"/>
                  </a:solidFill>
                  <a:bevel/>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1" name="Line 13"/>
                <p:cNvSpPr>
                  <a:spLocks noChangeShapeType="1"/>
                </p:cNvSpPr>
                <p:nvPr/>
              </p:nvSpPr>
              <p:spPr bwMode="auto">
                <a:xfrm flipH="1" flipV="1">
                  <a:off x="0" y="0"/>
                  <a:ext cx="0" cy="1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14"/>
                <p:cNvSpPr>
                  <a:spLocks noChangeShapeType="1"/>
                </p:cNvSpPr>
                <p:nvPr/>
              </p:nvSpPr>
              <p:spPr bwMode="auto">
                <a:xfrm>
                  <a:off x="0" y="528"/>
                  <a:ext cx="0" cy="1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0" name="Line 15"/>
              <p:cNvSpPr>
                <a:spLocks noChangeShapeType="1"/>
              </p:cNvSpPr>
              <p:nvPr/>
            </p:nvSpPr>
            <p:spPr bwMode="auto">
              <a:xfrm flipV="1">
                <a:off x="336" y="9"/>
                <a:ext cx="104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6"/>
              <p:cNvSpPr>
                <a:spLocks noChangeShapeType="1"/>
              </p:cNvSpPr>
              <p:nvPr/>
            </p:nvSpPr>
            <p:spPr bwMode="auto">
              <a:xfrm flipV="1">
                <a:off x="336" y="1017"/>
                <a:ext cx="106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Rectangle 17"/>
              <p:cNvSpPr>
                <a:spLocks noChangeArrowheads="1"/>
              </p:cNvSpPr>
              <p:nvPr/>
            </p:nvSpPr>
            <p:spPr bwMode="auto">
              <a:xfrm>
                <a:off x="864" y="681"/>
                <a:ext cx="96" cy="192"/>
              </a:xfrm>
              <a:prstGeom prst="rect">
                <a:avLst/>
              </a:prstGeom>
              <a:noFill/>
              <a:ln w="38100" cmpd="sng">
                <a:solidFill>
                  <a:schemeClr val="tx1"/>
                </a:solidFill>
                <a:miter lim="800000"/>
                <a:headEnd/>
                <a:tailEnd/>
              </a:ln>
            </p:spPr>
            <p:txBody>
              <a:bodyPr wrap="none" anchor="ctr"/>
              <a:lstStyle/>
              <a:p>
                <a:pPr>
                  <a:defRPr/>
                </a:pPr>
                <a:endParaRPr lang="zh-CN" altLang="en-US">
                  <a:effectLst>
                    <a:outerShdw blurRad="38100" dist="38100" dir="2700000" algn="tl">
                      <a:srgbClr val="C0C0C0"/>
                    </a:outerShdw>
                  </a:effectLst>
                </a:endParaRPr>
              </a:p>
            </p:txBody>
          </p:sp>
          <p:sp>
            <p:nvSpPr>
              <p:cNvPr id="24" name="Line 18"/>
              <p:cNvSpPr>
                <a:spLocks noChangeShapeType="1"/>
              </p:cNvSpPr>
              <p:nvPr/>
            </p:nvSpPr>
            <p:spPr bwMode="auto">
              <a:xfrm>
                <a:off x="1289" y="480"/>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19"/>
              <p:cNvSpPr>
                <a:spLocks noChangeShapeType="1"/>
              </p:cNvSpPr>
              <p:nvPr/>
            </p:nvSpPr>
            <p:spPr bwMode="auto">
              <a:xfrm>
                <a:off x="1289" y="528"/>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20"/>
              <p:cNvSpPr>
                <a:spLocks noChangeShapeType="1"/>
              </p:cNvSpPr>
              <p:nvPr/>
            </p:nvSpPr>
            <p:spPr bwMode="auto">
              <a:xfrm>
                <a:off x="1385" y="0"/>
                <a:ext cx="0" cy="4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21"/>
              <p:cNvSpPr>
                <a:spLocks noChangeShapeType="1"/>
              </p:cNvSpPr>
              <p:nvPr/>
            </p:nvSpPr>
            <p:spPr bwMode="auto">
              <a:xfrm>
                <a:off x="1391" y="533"/>
                <a:ext cx="0" cy="4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22"/>
              <p:cNvSpPr>
                <a:spLocks noChangeShapeType="1"/>
              </p:cNvSpPr>
              <p:nvPr/>
            </p:nvSpPr>
            <p:spPr bwMode="auto">
              <a:xfrm>
                <a:off x="912" y="873"/>
                <a:ext cx="0" cy="1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Line 23"/>
              <p:cNvSpPr>
                <a:spLocks noChangeShapeType="1"/>
              </p:cNvSpPr>
              <p:nvPr/>
            </p:nvSpPr>
            <p:spPr bwMode="auto">
              <a:xfrm>
                <a:off x="336" y="9"/>
                <a:ext cx="0" cy="100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30" name="Group 24"/>
              <p:cNvGrpSpPr>
                <a:grpSpLocks/>
              </p:cNvGrpSpPr>
              <p:nvPr/>
            </p:nvGrpSpPr>
            <p:grpSpPr bwMode="auto">
              <a:xfrm>
                <a:off x="192" y="393"/>
                <a:ext cx="288" cy="288"/>
                <a:chOff x="0" y="0"/>
                <a:chExt cx="288" cy="288"/>
              </a:xfrm>
            </p:grpSpPr>
            <p:sp>
              <p:nvSpPr>
                <p:cNvPr id="35" name="Oval 25"/>
                <p:cNvSpPr>
                  <a:spLocks noChangeArrowheads="1"/>
                </p:cNvSpPr>
                <p:nvPr/>
              </p:nvSpPr>
              <p:spPr bwMode="auto">
                <a:xfrm>
                  <a:off x="0" y="0"/>
                  <a:ext cx="288" cy="288"/>
                </a:xfrm>
                <a:prstGeom prst="ellipse">
                  <a:avLst/>
                </a:prstGeom>
                <a:solidFill>
                  <a:schemeClr val="bg1"/>
                </a:solidFill>
                <a:ln w="38100" cmpd="sng">
                  <a:solidFill>
                    <a:schemeClr val="tx1"/>
                  </a:solidFill>
                  <a:round/>
                  <a:headEnd/>
                  <a:tailEnd/>
                </a:ln>
              </p:spPr>
              <p:txBody>
                <a:bodyPr wrap="none" anchor="ctr"/>
                <a:lstStyle/>
                <a:p>
                  <a:pPr>
                    <a:defRPr/>
                  </a:pPr>
                  <a:endParaRPr lang="zh-CN" altLang="en-US">
                    <a:effectLst>
                      <a:outerShdw blurRad="38100" dist="38100" dir="2700000" algn="tl">
                        <a:srgbClr val="C0C0C0"/>
                      </a:outerShdw>
                    </a:effectLst>
                  </a:endParaRPr>
                </a:p>
              </p:txBody>
            </p:sp>
            <p:sp>
              <p:nvSpPr>
                <p:cNvPr id="36" name="Line 26"/>
                <p:cNvSpPr>
                  <a:spLocks noChangeShapeType="1"/>
                </p:cNvSpPr>
                <p:nvPr/>
              </p:nvSpPr>
              <p:spPr bwMode="auto">
                <a:xfrm>
                  <a:off x="0" y="144"/>
                  <a:ext cx="288"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1" name="Group 27"/>
              <p:cNvGrpSpPr>
                <a:grpSpLocks/>
              </p:cNvGrpSpPr>
              <p:nvPr/>
            </p:nvGrpSpPr>
            <p:grpSpPr bwMode="auto">
              <a:xfrm>
                <a:off x="0" y="489"/>
                <a:ext cx="262" cy="519"/>
                <a:chOff x="0" y="0"/>
                <a:chExt cx="262" cy="519"/>
              </a:xfrm>
            </p:grpSpPr>
            <p:sp>
              <p:nvSpPr>
                <p:cNvPr id="33" name="Text Box 28"/>
                <p:cNvSpPr txBox="1">
                  <a:spLocks noChangeArrowheads="1"/>
                </p:cNvSpPr>
                <p:nvPr/>
              </p:nvSpPr>
              <p:spPr bwMode="auto">
                <a:xfrm>
                  <a:off x="0" y="192"/>
                  <a:ext cx="26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en-US" altLang="zh-CN" i="1">
                      <a:solidFill>
                        <a:srgbClr val="FF3300"/>
                      </a:solidFill>
                    </a:rPr>
                    <a:t>I</a:t>
                  </a:r>
                  <a:r>
                    <a:rPr lang="en-US" altLang="zh-CN" baseline="-25000">
                      <a:solidFill>
                        <a:srgbClr val="FF3300"/>
                      </a:solidFill>
                    </a:rPr>
                    <a:t>s</a:t>
                  </a:r>
                </a:p>
              </p:txBody>
            </p:sp>
            <p:sp>
              <p:nvSpPr>
                <p:cNvPr id="34" name="Text Box 29"/>
                <p:cNvSpPr txBox="1">
                  <a:spLocks noChangeArrowheads="1"/>
                </p:cNvSpPr>
                <p:nvPr/>
              </p:nvSpPr>
              <p:spPr bwMode="auto">
                <a:xfrm>
                  <a:off x="48" y="0"/>
                  <a:ext cx="1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0"/>
                    </a:spcBef>
                    <a:buClrTx/>
                    <a:buSzTx/>
                    <a:buFont typeface="Wingdings" pitchFamily="2" charset="2"/>
                    <a:buNone/>
                  </a:pPr>
                  <a:r>
                    <a:rPr lang="en-US" altLang="zh-CN">
                      <a:solidFill>
                        <a:srgbClr val="FF3300"/>
                      </a:solidFill>
                    </a:rPr>
                    <a:t>.</a:t>
                  </a:r>
                </a:p>
              </p:txBody>
            </p:sp>
          </p:grpSp>
          <p:sp>
            <p:nvSpPr>
              <p:cNvPr id="32" name="Line 30"/>
              <p:cNvSpPr>
                <a:spLocks noChangeShapeType="1"/>
              </p:cNvSpPr>
              <p:nvPr/>
            </p:nvSpPr>
            <p:spPr bwMode="auto">
              <a:xfrm flipV="1">
                <a:off x="144" y="201"/>
                <a:ext cx="0" cy="384"/>
              </a:xfrm>
              <a:prstGeom prst="line">
                <a:avLst/>
              </a:prstGeom>
              <a:noFill/>
              <a:ln w="28575">
                <a:solidFill>
                  <a:srgbClr val="FF33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18" name="Rectangle 31"/>
            <p:cNvSpPr>
              <a:spLocks noChangeArrowheads="1"/>
            </p:cNvSpPr>
            <p:nvPr/>
          </p:nvSpPr>
          <p:spPr bwMode="auto">
            <a:xfrm>
              <a:off x="1481" y="6"/>
              <a:ext cx="328"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spcBef>
                  <a:spcPct val="50000"/>
                </a:spcBef>
                <a:buClrTx/>
                <a:buSzTx/>
                <a:buFont typeface="Wingdings" pitchFamily="2" charset="2"/>
                <a:buNone/>
              </a:pPr>
              <a:r>
                <a:rPr lang="en-US" altLang="zh-CN" sz="2400">
                  <a:solidFill>
                    <a:srgbClr val="FF0066"/>
                  </a:solidFill>
                </a:rPr>
                <a:t>+</a:t>
              </a:r>
            </a:p>
            <a:p>
              <a:pPr algn="l" eaLnBrk="1" hangingPunct="1">
                <a:spcBef>
                  <a:spcPct val="50000"/>
                </a:spcBef>
                <a:buClrTx/>
                <a:buSzTx/>
                <a:buFont typeface="Wingdings" pitchFamily="2" charset="2"/>
                <a:buNone/>
              </a:pPr>
              <a:r>
                <a:rPr lang="en-US" altLang="zh-CN" sz="2400" i="1">
                  <a:solidFill>
                    <a:srgbClr val="0033CC"/>
                  </a:solidFill>
                </a:rPr>
                <a:t>U</a:t>
              </a:r>
              <a:r>
                <a:rPr lang="en-US" altLang="zh-CN" sz="2400" baseline="-25000">
                  <a:solidFill>
                    <a:srgbClr val="0033CC"/>
                  </a:solidFill>
                </a:rPr>
                <a:t>o</a:t>
              </a:r>
            </a:p>
            <a:p>
              <a:pPr algn="l" eaLnBrk="1" hangingPunct="1">
                <a:spcBef>
                  <a:spcPct val="50000"/>
                </a:spcBef>
                <a:buClrTx/>
                <a:buSzTx/>
                <a:buFont typeface="Wingdings" pitchFamily="2" charset="2"/>
                <a:buNone/>
              </a:pPr>
              <a:r>
                <a:rPr lang="en-US" altLang="zh-CN" sz="2400" i="1">
                  <a:solidFill>
                    <a:srgbClr val="0033CC"/>
                  </a:solidFill>
                </a:rPr>
                <a:t> </a:t>
              </a:r>
              <a:r>
                <a:rPr lang="en-US" altLang="zh-CN" sz="2400">
                  <a:solidFill>
                    <a:srgbClr val="FF0066"/>
                  </a:solidFill>
                  <a:cs typeface="Times New Roman" pitchFamily="18" charset="0"/>
                </a:rPr>
                <a:t>–</a:t>
              </a:r>
            </a:p>
          </p:txBody>
        </p:sp>
      </p:grpSp>
      <p:sp>
        <p:nvSpPr>
          <p:cNvPr id="46" name="Text Box 32"/>
          <p:cNvSpPr txBox="1">
            <a:spLocks noChangeArrowheads="1"/>
          </p:cNvSpPr>
          <p:nvPr/>
        </p:nvSpPr>
        <p:spPr bwMode="auto">
          <a:xfrm>
            <a:off x="467544" y="2693832"/>
            <a:ext cx="34605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eaLnBrk="1" hangingPunct="1">
              <a:lnSpc>
                <a:spcPct val="120000"/>
              </a:lnSpc>
              <a:spcBef>
                <a:spcPct val="0"/>
              </a:spcBef>
            </a:pPr>
            <a:r>
              <a:rPr lang="en-US" altLang="zh-CN" sz="2000" dirty="0">
                <a:solidFill>
                  <a:srgbClr val="FF0066"/>
                </a:solidFill>
              </a:rPr>
              <a:t>[</a:t>
            </a:r>
            <a:r>
              <a:rPr lang="zh-CN" altLang="en-US" sz="2000" dirty="0">
                <a:solidFill>
                  <a:srgbClr val="FF0066"/>
                </a:solidFill>
              </a:rPr>
              <a:t>解</a:t>
            </a:r>
            <a:r>
              <a:rPr lang="en-US" altLang="zh-CN" sz="2000" dirty="0">
                <a:solidFill>
                  <a:srgbClr val="FF0066"/>
                </a:solidFill>
              </a:rPr>
              <a:t>] </a:t>
            </a:r>
            <a:r>
              <a:rPr lang="zh-CN" altLang="en-US" sz="2000" dirty="0">
                <a:solidFill>
                  <a:schemeClr val="tx1"/>
                </a:solidFill>
              </a:rPr>
              <a:t>（</a:t>
            </a:r>
            <a:r>
              <a:rPr lang="en-US" altLang="zh-CN" sz="2000" dirty="0">
                <a:solidFill>
                  <a:schemeClr val="tx1"/>
                </a:solidFill>
              </a:rPr>
              <a:t>1</a:t>
            </a:r>
            <a:r>
              <a:rPr lang="zh-CN" altLang="en-US" sz="2000" dirty="0">
                <a:solidFill>
                  <a:schemeClr val="tx1"/>
                </a:solidFill>
              </a:rPr>
              <a:t>）求</a:t>
            </a:r>
            <a:r>
              <a:rPr lang="en-US" altLang="zh-CN" sz="2000" i="1" dirty="0">
                <a:solidFill>
                  <a:schemeClr val="tx1"/>
                </a:solidFill>
              </a:rPr>
              <a:t>f</a:t>
            </a:r>
            <a:r>
              <a:rPr lang="en-US" altLang="zh-CN" sz="2000" baseline="-25000" dirty="0">
                <a:solidFill>
                  <a:schemeClr val="tx1"/>
                </a:solidFill>
              </a:rPr>
              <a:t>0</a:t>
            </a:r>
            <a:r>
              <a:rPr lang="zh-CN" altLang="en-US" sz="2000" dirty="0">
                <a:solidFill>
                  <a:schemeClr val="tx1"/>
                </a:solidFill>
              </a:rPr>
              <a:t>、</a:t>
            </a:r>
            <a:r>
              <a:rPr lang="en-US" altLang="zh-CN" sz="2000" i="1" dirty="0" err="1">
                <a:solidFill>
                  <a:schemeClr val="tx1"/>
                </a:solidFill>
              </a:rPr>
              <a:t>R</a:t>
            </a:r>
            <a:r>
              <a:rPr lang="en-US" altLang="zh-CN" sz="2000" baseline="-25000" dirty="0" err="1">
                <a:solidFill>
                  <a:schemeClr val="tx1"/>
                </a:solidFill>
              </a:rPr>
              <a:t>p</a:t>
            </a:r>
            <a:endParaRPr lang="zh-CN" altLang="en-US" sz="2000" dirty="0">
              <a:solidFill>
                <a:schemeClr val="tx1"/>
              </a:solidFill>
            </a:endParaRPr>
          </a:p>
        </p:txBody>
      </p:sp>
      <p:sp>
        <p:nvSpPr>
          <p:cNvPr id="47" name="Text Box 33"/>
          <p:cNvSpPr txBox="1">
            <a:spLocks noChangeArrowheads="1"/>
          </p:cNvSpPr>
          <p:nvPr/>
        </p:nvSpPr>
        <p:spPr bwMode="auto">
          <a:xfrm>
            <a:off x="467544" y="1076543"/>
            <a:ext cx="564373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algn="l" eaLnBrk="1" hangingPunct="1">
              <a:lnSpc>
                <a:spcPct val="120000"/>
              </a:lnSpc>
              <a:spcBef>
                <a:spcPct val="0"/>
              </a:spcBef>
              <a:buClrTx/>
              <a:buSzTx/>
              <a:buFont typeface="Wingdings" pitchFamily="2" charset="2"/>
              <a:buNone/>
            </a:pPr>
            <a:r>
              <a:rPr lang="zh-CN" altLang="en-US" sz="2000" dirty="0">
                <a:solidFill>
                  <a:srgbClr val="FF3399"/>
                </a:solidFill>
                <a:latin typeface="黑体" pitchFamily="49" charset="-122"/>
                <a:ea typeface="黑体" pitchFamily="49" charset="-122"/>
              </a:rPr>
              <a:t>例</a:t>
            </a:r>
            <a:r>
              <a:rPr lang="en-US" altLang="zh-CN" sz="2000" dirty="0">
                <a:solidFill>
                  <a:srgbClr val="FF3399"/>
                </a:solidFill>
                <a:latin typeface="黑体" pitchFamily="49" charset="-122"/>
                <a:ea typeface="黑体" pitchFamily="49" charset="-122"/>
              </a:rPr>
              <a:t>2 </a:t>
            </a:r>
            <a:r>
              <a:rPr lang="zh-CN" altLang="en-US" sz="2000" dirty="0">
                <a:solidFill>
                  <a:schemeClr val="tx1"/>
                </a:solidFill>
                <a:latin typeface="黑体" pitchFamily="49" charset="-122"/>
                <a:ea typeface="黑体" pitchFamily="49" charset="-122"/>
              </a:rPr>
              <a:t>并联谐振回路如图</a:t>
            </a:r>
            <a:r>
              <a:rPr lang="en-US" altLang="zh-CN" sz="2000" dirty="0">
                <a:solidFill>
                  <a:schemeClr val="tx1"/>
                </a:solidFill>
                <a:latin typeface="黑体" pitchFamily="49" charset="-122"/>
                <a:ea typeface="黑体" pitchFamily="49" charset="-122"/>
              </a:rPr>
              <a:t>2.2</a:t>
            </a:r>
            <a:r>
              <a:rPr lang="zh-CN" altLang="en-US" sz="2000" dirty="0">
                <a:solidFill>
                  <a:schemeClr val="tx1"/>
                </a:solidFill>
                <a:latin typeface="黑体" pitchFamily="49" charset="-122"/>
                <a:ea typeface="黑体" pitchFamily="49" charset="-122"/>
              </a:rPr>
              <a:t>所示的，已知</a:t>
            </a:r>
            <a:r>
              <a:rPr lang="en-US" altLang="zh-CN" sz="2000" i="1" dirty="0">
                <a:solidFill>
                  <a:schemeClr val="tx1"/>
                </a:solidFill>
              </a:rPr>
              <a:t>L</a:t>
            </a:r>
            <a:r>
              <a:rPr lang="en-US" altLang="zh-CN" sz="2000" dirty="0">
                <a:solidFill>
                  <a:schemeClr val="tx1"/>
                </a:solidFill>
              </a:rPr>
              <a:t>=200 </a:t>
            </a:r>
            <a:r>
              <a:rPr lang="en-US" altLang="zh-CN" sz="2000" dirty="0">
                <a:solidFill>
                  <a:schemeClr val="tx1"/>
                </a:solidFill>
                <a:sym typeface="Symbol" pitchFamily="18" charset="2"/>
              </a:rPr>
              <a:t></a:t>
            </a:r>
            <a:r>
              <a:rPr lang="en-US" altLang="zh-CN" sz="2000" dirty="0">
                <a:solidFill>
                  <a:schemeClr val="tx1"/>
                </a:solidFill>
              </a:rPr>
              <a:t>H, </a:t>
            </a:r>
            <a:r>
              <a:rPr lang="en-US" altLang="zh-CN" sz="2000" i="1" dirty="0">
                <a:solidFill>
                  <a:schemeClr val="tx1"/>
                </a:solidFill>
              </a:rPr>
              <a:t>C</a:t>
            </a:r>
            <a:r>
              <a:rPr lang="en-US" altLang="zh-CN" sz="2000" dirty="0">
                <a:solidFill>
                  <a:schemeClr val="tx1"/>
                </a:solidFill>
              </a:rPr>
              <a:t>=20 </a:t>
            </a:r>
            <a:r>
              <a:rPr lang="en-US" altLang="zh-CN" sz="2000" dirty="0">
                <a:solidFill>
                  <a:schemeClr val="tx1"/>
                </a:solidFill>
                <a:sym typeface="Symbol" pitchFamily="18" charset="2"/>
              </a:rPr>
              <a:t>pF,  </a:t>
            </a:r>
            <a:r>
              <a:rPr lang="en-US" altLang="zh-CN" sz="2000" i="1" dirty="0">
                <a:solidFill>
                  <a:schemeClr val="tx1"/>
                </a:solidFill>
              </a:rPr>
              <a:t>r </a:t>
            </a:r>
            <a:r>
              <a:rPr lang="en-US" altLang="zh-CN" sz="2000" dirty="0">
                <a:solidFill>
                  <a:schemeClr val="tx1"/>
                </a:solidFill>
              </a:rPr>
              <a:t>=10 </a:t>
            </a:r>
            <a:r>
              <a:rPr lang="en-US" altLang="zh-CN" sz="2000" dirty="0">
                <a:solidFill>
                  <a:schemeClr val="tx1"/>
                </a:solidFill>
                <a:sym typeface="Symbol" pitchFamily="18" charset="2"/>
              </a:rPr>
              <a:t></a:t>
            </a:r>
            <a:r>
              <a:rPr lang="en-US" altLang="zh-CN" sz="2000" dirty="0">
                <a:solidFill>
                  <a:schemeClr val="tx1"/>
                </a:solidFill>
              </a:rPr>
              <a:t>, </a:t>
            </a:r>
            <a:r>
              <a:rPr lang="zh-CN" altLang="en-US" sz="2000" dirty="0">
                <a:solidFill>
                  <a:schemeClr val="tx1"/>
                </a:solidFill>
              </a:rPr>
              <a:t>试求</a:t>
            </a:r>
          </a:p>
          <a:p>
            <a:pPr algn="l" eaLnBrk="1" hangingPunct="1">
              <a:lnSpc>
                <a:spcPct val="120000"/>
              </a:lnSpc>
              <a:spcBef>
                <a:spcPct val="0"/>
              </a:spcBef>
              <a:buClrTx/>
              <a:buSzTx/>
              <a:buFont typeface="Wingdings" pitchFamily="2" charset="2"/>
              <a:buNone/>
            </a:pPr>
            <a:r>
              <a:rPr lang="zh-CN" altLang="en-US" sz="2000" dirty="0">
                <a:solidFill>
                  <a:schemeClr val="tx1"/>
                </a:solidFill>
              </a:rPr>
              <a:t>（</a:t>
            </a:r>
            <a:r>
              <a:rPr lang="en-US" altLang="zh-CN" sz="2000" dirty="0">
                <a:solidFill>
                  <a:schemeClr val="tx1"/>
                </a:solidFill>
              </a:rPr>
              <a:t>1</a:t>
            </a:r>
            <a:r>
              <a:rPr lang="zh-CN" altLang="en-US" sz="2000" dirty="0">
                <a:solidFill>
                  <a:schemeClr val="tx1"/>
                </a:solidFill>
              </a:rPr>
              <a:t>） </a:t>
            </a:r>
            <a:r>
              <a:rPr lang="en-US" altLang="zh-CN" sz="2000" i="1" dirty="0">
                <a:solidFill>
                  <a:schemeClr val="tx1"/>
                </a:solidFill>
              </a:rPr>
              <a:t>f</a:t>
            </a:r>
            <a:r>
              <a:rPr lang="en-US" altLang="zh-CN" sz="2000" baseline="-25000" dirty="0">
                <a:solidFill>
                  <a:schemeClr val="tx1"/>
                </a:solidFill>
              </a:rPr>
              <a:t>0</a:t>
            </a:r>
            <a:r>
              <a:rPr lang="zh-CN" altLang="en-US" sz="2000" dirty="0">
                <a:solidFill>
                  <a:schemeClr val="tx1"/>
                </a:solidFill>
              </a:rPr>
              <a:t>、</a:t>
            </a:r>
            <a:r>
              <a:rPr lang="en-US" altLang="zh-CN" sz="2000" i="1" dirty="0" err="1">
                <a:solidFill>
                  <a:schemeClr val="tx1"/>
                </a:solidFill>
              </a:rPr>
              <a:t>R</a:t>
            </a:r>
            <a:r>
              <a:rPr lang="en-US" altLang="zh-CN" sz="2000" baseline="-25000" dirty="0" err="1">
                <a:solidFill>
                  <a:schemeClr val="tx1"/>
                </a:solidFill>
              </a:rPr>
              <a:t>p</a:t>
            </a:r>
            <a:r>
              <a:rPr lang="zh-CN" altLang="en-US" sz="2000" dirty="0">
                <a:solidFill>
                  <a:schemeClr val="tx1"/>
                </a:solidFill>
              </a:rPr>
              <a:t>；</a:t>
            </a:r>
          </a:p>
          <a:p>
            <a:pPr eaLnBrk="1" hangingPunct="1">
              <a:lnSpc>
                <a:spcPct val="120000"/>
              </a:lnSpc>
              <a:spcBef>
                <a:spcPct val="0"/>
              </a:spcBef>
            </a:pPr>
            <a:r>
              <a:rPr lang="zh-CN" altLang="en-US" sz="2000" dirty="0">
                <a:solidFill>
                  <a:schemeClr val="tx1"/>
                </a:solidFill>
              </a:rPr>
              <a:t>（</a:t>
            </a:r>
            <a:r>
              <a:rPr lang="en-US" altLang="zh-CN" sz="2000" dirty="0">
                <a:solidFill>
                  <a:schemeClr val="tx1"/>
                </a:solidFill>
              </a:rPr>
              <a:t>2</a:t>
            </a:r>
            <a:r>
              <a:rPr lang="zh-CN" altLang="en-US" sz="2000" dirty="0">
                <a:solidFill>
                  <a:schemeClr val="tx1"/>
                </a:solidFill>
              </a:rPr>
              <a:t>）</a:t>
            </a:r>
            <a:r>
              <a:rPr lang="en-US" altLang="zh-CN" sz="2000" dirty="0">
                <a:solidFill>
                  <a:schemeClr val="tx1"/>
                </a:solidFill>
                <a:sym typeface="Symbol" pitchFamily="18" charset="2"/>
              </a:rPr>
              <a:t>3dB</a:t>
            </a:r>
            <a:r>
              <a:rPr lang="zh-CN" altLang="en-US" sz="2000" dirty="0">
                <a:solidFill>
                  <a:schemeClr val="tx1"/>
                </a:solidFill>
                <a:sym typeface="Symbol" pitchFamily="18" charset="2"/>
              </a:rPr>
              <a:t>带宽时的</a:t>
            </a:r>
            <a:r>
              <a:rPr lang="zh-CN" altLang="en-US" sz="2000" dirty="0">
                <a:solidFill>
                  <a:schemeClr val="tx1"/>
                </a:solidFill>
              </a:rPr>
              <a:t>相移值。</a:t>
            </a:r>
          </a:p>
        </p:txBody>
      </p:sp>
      <p:sp>
        <p:nvSpPr>
          <p:cNvPr id="7" name="TextBox 6"/>
          <p:cNvSpPr txBox="1"/>
          <p:nvPr/>
        </p:nvSpPr>
        <p:spPr>
          <a:xfrm>
            <a:off x="6630144" y="2970831"/>
            <a:ext cx="1338828" cy="369332"/>
          </a:xfrm>
          <a:prstGeom prst="rect">
            <a:avLst/>
          </a:prstGeom>
          <a:noFill/>
        </p:spPr>
        <p:txBody>
          <a:bodyPr wrap="none" rtlCol="0">
            <a:spAutoFit/>
          </a:bodyPr>
          <a:lstStyle/>
          <a:p>
            <a:r>
              <a:rPr lang="zh-CN" altLang="en-US" b="1" dirty="0">
                <a:solidFill>
                  <a:srgbClr val="FF0000"/>
                </a:solidFill>
              </a:rPr>
              <a:t>并联谐振！</a:t>
            </a:r>
          </a:p>
        </p:txBody>
      </p:sp>
      <p:graphicFrame>
        <p:nvGraphicFramePr>
          <p:cNvPr id="2" name="对象 1"/>
          <p:cNvGraphicFramePr>
            <a:graphicFrameLocks noChangeAspect="1"/>
          </p:cNvGraphicFramePr>
          <p:nvPr>
            <p:extLst>
              <p:ext uri="{D42A27DB-BD31-4B8C-83A1-F6EECF244321}">
                <p14:modId xmlns:p14="http://schemas.microsoft.com/office/powerpoint/2010/main" val="2633668669"/>
              </p:ext>
            </p:extLst>
          </p:nvPr>
        </p:nvGraphicFramePr>
        <p:xfrm>
          <a:off x="971600" y="3371521"/>
          <a:ext cx="3121025" cy="754062"/>
        </p:xfrm>
        <a:graphic>
          <a:graphicData uri="http://schemas.openxmlformats.org/presentationml/2006/ole">
            <mc:AlternateContent xmlns:mc="http://schemas.openxmlformats.org/markup-compatibility/2006">
              <mc:Choice xmlns:v="urn:schemas-microsoft-com:vml" Requires="v">
                <p:oleObj spid="_x0000_s110732" name="Equation" r:id="rId4" imgW="1511280" imgH="419040" progId="Equation.DSMT4">
                  <p:embed/>
                </p:oleObj>
              </mc:Choice>
              <mc:Fallback>
                <p:oleObj name="Equation" r:id="rId4" imgW="1511280" imgH="419040" progId="Equation.DSMT4">
                  <p:embed/>
                  <p:pic>
                    <p:nvPicPr>
                      <p:cNvPr id="0" name=""/>
                      <p:cNvPicPr>
                        <a:picLocks noChangeAspect="1" noChangeArrowheads="1"/>
                      </p:cNvPicPr>
                      <p:nvPr/>
                    </p:nvPicPr>
                    <p:blipFill>
                      <a:blip r:embed="rId5"/>
                      <a:srcRect/>
                      <a:stretch>
                        <a:fillRect/>
                      </a:stretch>
                    </p:blipFill>
                    <p:spPr bwMode="auto">
                      <a:xfrm>
                        <a:off x="971600" y="3371521"/>
                        <a:ext cx="3121025"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87487760"/>
              </p:ext>
            </p:extLst>
          </p:nvPr>
        </p:nvGraphicFramePr>
        <p:xfrm>
          <a:off x="4820394" y="4653136"/>
          <a:ext cx="2927350" cy="2027238"/>
        </p:xfrm>
        <a:graphic>
          <a:graphicData uri="http://schemas.openxmlformats.org/presentationml/2006/ole">
            <mc:AlternateContent xmlns:mc="http://schemas.openxmlformats.org/markup-compatibility/2006">
              <mc:Choice xmlns:v="urn:schemas-microsoft-com:vml" Requires="v">
                <p:oleObj spid="_x0000_s110733" name="Equation" r:id="rId6" imgW="1295280" imgH="1104840" progId="Equation.DSMT4">
                  <p:embed/>
                </p:oleObj>
              </mc:Choice>
              <mc:Fallback>
                <p:oleObj name="Equation" r:id="rId6" imgW="1295280" imgH="1104840" progId="Equation.DSMT4">
                  <p:embed/>
                  <p:pic>
                    <p:nvPicPr>
                      <p:cNvPr id="0" name=""/>
                      <p:cNvPicPr>
                        <a:picLocks noChangeAspect="1" noChangeArrowheads="1"/>
                      </p:cNvPicPr>
                      <p:nvPr/>
                    </p:nvPicPr>
                    <p:blipFill>
                      <a:blip r:embed="rId7"/>
                      <a:srcRect/>
                      <a:stretch>
                        <a:fillRect/>
                      </a:stretch>
                    </p:blipFill>
                    <p:spPr bwMode="auto">
                      <a:xfrm>
                        <a:off x="4820394" y="4653136"/>
                        <a:ext cx="2927350"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374505168"/>
              </p:ext>
            </p:extLst>
          </p:nvPr>
        </p:nvGraphicFramePr>
        <p:xfrm>
          <a:off x="1043608" y="4370017"/>
          <a:ext cx="2124075" cy="708025"/>
        </p:xfrm>
        <a:graphic>
          <a:graphicData uri="http://schemas.openxmlformats.org/presentationml/2006/ole">
            <mc:AlternateContent xmlns:mc="http://schemas.openxmlformats.org/markup-compatibility/2006">
              <mc:Choice xmlns:v="urn:schemas-microsoft-com:vml" Requires="v">
                <p:oleObj spid="_x0000_s110734" name="Equation" r:id="rId8" imgW="1028520" imgH="393480" progId="Equation.DSMT4">
                  <p:embed/>
                </p:oleObj>
              </mc:Choice>
              <mc:Fallback>
                <p:oleObj name="Equation" r:id="rId8" imgW="1028520" imgH="393480" progId="Equation.DSMT4">
                  <p:embed/>
                  <p:pic>
                    <p:nvPicPr>
                      <p:cNvPr id="0" name=""/>
                      <p:cNvPicPr>
                        <a:picLocks noChangeAspect="1" noChangeArrowheads="1"/>
                      </p:cNvPicPr>
                      <p:nvPr/>
                    </p:nvPicPr>
                    <p:blipFill>
                      <a:blip r:embed="rId9"/>
                      <a:srcRect/>
                      <a:stretch>
                        <a:fillRect/>
                      </a:stretch>
                    </p:blipFill>
                    <p:spPr bwMode="auto">
                      <a:xfrm>
                        <a:off x="1043608" y="4370017"/>
                        <a:ext cx="21240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253754247"/>
              </p:ext>
            </p:extLst>
          </p:nvPr>
        </p:nvGraphicFramePr>
        <p:xfrm>
          <a:off x="4605338" y="3340100"/>
          <a:ext cx="3511550" cy="754063"/>
        </p:xfrm>
        <a:graphic>
          <a:graphicData uri="http://schemas.openxmlformats.org/presentationml/2006/ole">
            <mc:AlternateContent xmlns:mc="http://schemas.openxmlformats.org/markup-compatibility/2006">
              <mc:Choice xmlns:v="urn:schemas-microsoft-com:vml" Requires="v">
                <p:oleObj spid="_x0000_s110735" name="Equation" r:id="rId10" imgW="1701720" imgH="419040" progId="Equation.DSMT4">
                  <p:embed/>
                </p:oleObj>
              </mc:Choice>
              <mc:Fallback>
                <p:oleObj name="Equation" r:id="rId10" imgW="1701720" imgH="419040" progId="Equation.DSMT4">
                  <p:embed/>
                  <p:pic>
                    <p:nvPicPr>
                      <p:cNvPr id="0" name=""/>
                      <p:cNvPicPr>
                        <a:picLocks noChangeAspect="1" noChangeArrowheads="1"/>
                      </p:cNvPicPr>
                      <p:nvPr/>
                    </p:nvPicPr>
                    <p:blipFill>
                      <a:blip r:embed="rId11"/>
                      <a:srcRect/>
                      <a:stretch>
                        <a:fillRect/>
                      </a:stretch>
                    </p:blipFill>
                    <p:spPr bwMode="auto">
                      <a:xfrm>
                        <a:off x="4605338" y="3340100"/>
                        <a:ext cx="3511550"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491646787"/>
              </p:ext>
            </p:extLst>
          </p:nvPr>
        </p:nvGraphicFramePr>
        <p:xfrm>
          <a:off x="1243075" y="5877272"/>
          <a:ext cx="2176462" cy="433388"/>
        </p:xfrm>
        <a:graphic>
          <a:graphicData uri="http://schemas.openxmlformats.org/presentationml/2006/ole">
            <mc:AlternateContent xmlns:mc="http://schemas.openxmlformats.org/markup-compatibility/2006">
              <mc:Choice xmlns:v="urn:schemas-microsoft-com:vml" Requires="v">
                <p:oleObj spid="_x0000_s110736" name="Equation" r:id="rId12" imgW="1054080" imgH="241200" progId="Equation.DSMT4">
                  <p:embed/>
                </p:oleObj>
              </mc:Choice>
              <mc:Fallback>
                <p:oleObj name="Equation" r:id="rId12" imgW="1054080" imgH="241200" progId="Equation.DSMT4">
                  <p:embed/>
                  <p:pic>
                    <p:nvPicPr>
                      <p:cNvPr id="0" name=""/>
                      <p:cNvPicPr>
                        <a:picLocks noChangeAspect="1" noChangeArrowheads="1"/>
                      </p:cNvPicPr>
                      <p:nvPr/>
                    </p:nvPicPr>
                    <p:blipFill>
                      <a:blip r:embed="rId13"/>
                      <a:srcRect/>
                      <a:stretch>
                        <a:fillRect/>
                      </a:stretch>
                    </p:blipFill>
                    <p:spPr bwMode="auto">
                      <a:xfrm>
                        <a:off x="1243075" y="5877272"/>
                        <a:ext cx="2176462"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 name="Text Box 32"/>
          <p:cNvSpPr txBox="1">
            <a:spLocks noChangeArrowheads="1"/>
          </p:cNvSpPr>
          <p:nvPr/>
        </p:nvSpPr>
        <p:spPr bwMode="auto">
          <a:xfrm>
            <a:off x="1043608" y="5229200"/>
            <a:ext cx="25753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rgbClr val="003399"/>
                </a:solidFill>
                <a:latin typeface="Times New Roman" pitchFamily="18" charset="0"/>
                <a:ea typeface="宋体" pitchFamily="2" charset="-122"/>
              </a:defRPr>
            </a:lvl1pPr>
            <a:lvl2pPr marL="742950" indent="-285750" eaLnBrk="0" hangingPunct="0">
              <a:defRPr sz="2800" b="1">
                <a:solidFill>
                  <a:srgbClr val="003399"/>
                </a:solidFill>
                <a:latin typeface="Times New Roman" pitchFamily="18" charset="0"/>
                <a:ea typeface="宋体" pitchFamily="2" charset="-122"/>
              </a:defRPr>
            </a:lvl2pPr>
            <a:lvl3pPr marL="1143000" indent="-228600" eaLnBrk="0" hangingPunct="0">
              <a:defRPr sz="2800" b="1">
                <a:solidFill>
                  <a:srgbClr val="003399"/>
                </a:solidFill>
                <a:latin typeface="Times New Roman" pitchFamily="18" charset="0"/>
                <a:ea typeface="宋体" pitchFamily="2" charset="-122"/>
              </a:defRPr>
            </a:lvl3pPr>
            <a:lvl4pPr marL="1600200" indent="-228600" eaLnBrk="0" hangingPunct="0">
              <a:defRPr sz="2800" b="1">
                <a:solidFill>
                  <a:srgbClr val="003399"/>
                </a:solidFill>
                <a:latin typeface="Times New Roman" pitchFamily="18" charset="0"/>
                <a:ea typeface="宋体" pitchFamily="2" charset="-122"/>
              </a:defRPr>
            </a:lvl4pPr>
            <a:lvl5pPr marL="2057400" indent="-228600" eaLnBrk="0" hangingPunct="0">
              <a:defRPr sz="2800" b="1">
                <a:solidFill>
                  <a:srgbClr val="003399"/>
                </a:solidFill>
                <a:latin typeface="Times New Roman" pitchFamily="18" charset="0"/>
                <a:ea typeface="宋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800" b="1">
                <a:solidFill>
                  <a:srgbClr val="003399"/>
                </a:solidFill>
                <a:latin typeface="Times New Roman" pitchFamily="18" charset="0"/>
                <a:ea typeface="宋体" pitchFamily="2" charset="-122"/>
              </a:defRPr>
            </a:lvl9pPr>
          </a:lstStyle>
          <a:p>
            <a:pPr eaLnBrk="1" hangingPunct="1">
              <a:lnSpc>
                <a:spcPct val="120000"/>
              </a:lnSpc>
              <a:spcBef>
                <a:spcPct val="0"/>
              </a:spcBef>
            </a:pPr>
            <a:r>
              <a:rPr lang="zh-CN" altLang="en-US" sz="2000" dirty="0">
                <a:solidFill>
                  <a:schemeClr val="tx1"/>
                </a:solidFill>
              </a:rPr>
              <a:t>（</a:t>
            </a:r>
            <a:r>
              <a:rPr lang="en-US" altLang="zh-CN" sz="2000" dirty="0">
                <a:solidFill>
                  <a:schemeClr val="tx1"/>
                </a:solidFill>
              </a:rPr>
              <a:t>2</a:t>
            </a:r>
            <a:r>
              <a:rPr lang="zh-CN" altLang="en-US" sz="2000" dirty="0">
                <a:solidFill>
                  <a:schemeClr val="tx1"/>
                </a:solidFill>
              </a:rPr>
              <a:t>）求</a:t>
            </a:r>
            <a:r>
              <a:rPr lang="en-US" altLang="zh-CN" sz="2000" i="1" dirty="0">
                <a:solidFill>
                  <a:schemeClr val="tx1"/>
                </a:solidFill>
              </a:rPr>
              <a:t>BW</a:t>
            </a:r>
            <a:r>
              <a:rPr lang="en-US" altLang="zh-CN" sz="2000" i="1" baseline="-25000" dirty="0">
                <a:solidFill>
                  <a:schemeClr val="tx1"/>
                </a:solidFill>
              </a:rPr>
              <a:t>0.7</a:t>
            </a:r>
            <a:endParaRPr lang="zh-CN" altLang="en-US" sz="2000" baseline="-25000" dirty="0">
              <a:solidFill>
                <a:schemeClr val="tx1"/>
              </a:solidFill>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669895222"/>
              </p:ext>
            </p:extLst>
          </p:nvPr>
        </p:nvGraphicFramePr>
        <p:xfrm>
          <a:off x="4176017" y="4043090"/>
          <a:ext cx="4716463" cy="754062"/>
        </p:xfrm>
        <a:graphic>
          <a:graphicData uri="http://schemas.openxmlformats.org/presentationml/2006/ole">
            <mc:AlternateContent xmlns:mc="http://schemas.openxmlformats.org/markup-compatibility/2006">
              <mc:Choice xmlns:v="urn:schemas-microsoft-com:vml" Requires="v">
                <p:oleObj spid="_x0000_s110737" name="Equation" r:id="rId14" imgW="2286000" imgH="419040" progId="Equation.DSMT4">
                  <p:embed/>
                </p:oleObj>
              </mc:Choice>
              <mc:Fallback>
                <p:oleObj name="Equation" r:id="rId14" imgW="2286000" imgH="419040" progId="Equation.DSMT4">
                  <p:embed/>
                  <p:pic>
                    <p:nvPicPr>
                      <p:cNvPr id="0" name=""/>
                      <p:cNvPicPr>
                        <a:picLocks noChangeAspect="1" noChangeArrowheads="1"/>
                      </p:cNvPicPr>
                      <p:nvPr/>
                    </p:nvPicPr>
                    <p:blipFill>
                      <a:blip r:embed="rId15"/>
                      <a:srcRect/>
                      <a:stretch>
                        <a:fillRect/>
                      </a:stretch>
                    </p:blipFill>
                    <p:spPr bwMode="auto">
                      <a:xfrm>
                        <a:off x="4176017" y="4043090"/>
                        <a:ext cx="4716463"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60800561"/>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51720" y="2484185"/>
            <a:ext cx="5040560" cy="584775"/>
          </a:xfrm>
          <a:prstGeom prst="rect">
            <a:avLst/>
          </a:prstGeom>
          <a:noFill/>
        </p:spPr>
        <p:txBody>
          <a:bodyPr wrap="square" rtlCol="0">
            <a:spAutoFit/>
          </a:bodyPr>
          <a:lstStyle/>
          <a:p>
            <a:r>
              <a:rPr lang="zh-CN" altLang="en-US" sz="3200" b="1" dirty="0" smtClean="0"/>
              <a:t>第三章  高频功率放大电路</a:t>
            </a:r>
            <a:endParaRPr lang="zh-CN" altLang="en-US" sz="3200" b="1" dirty="0"/>
          </a:p>
        </p:txBody>
      </p:sp>
    </p:spTree>
    <p:extLst>
      <p:ext uri="{BB962C8B-B14F-4D97-AF65-F5344CB8AC3E}">
        <p14:creationId xmlns:p14="http://schemas.microsoft.com/office/powerpoint/2010/main" val="223246754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33</a:t>
            </a:fld>
            <a:endParaRPr lang="en-US" altLang="zh-CN" dirty="0">
              <a:solidFill>
                <a:srgbClr val="000000"/>
              </a:solidFill>
            </a:endParaRPr>
          </a:p>
        </p:txBody>
      </p:sp>
      <p:sp>
        <p:nvSpPr>
          <p:cNvPr id="21" name="内容占位符 20"/>
          <p:cNvSpPr>
            <a:spLocks noGrp="1"/>
          </p:cNvSpPr>
          <p:nvPr>
            <p:ph idx="1"/>
          </p:nvPr>
        </p:nvSpPr>
        <p:spPr>
          <a:xfrm>
            <a:off x="395536" y="260648"/>
            <a:ext cx="5400600" cy="648072"/>
          </a:xfrm>
          <a:solidFill>
            <a:srgbClr val="862714"/>
          </a:solidFill>
        </p:spPr>
        <p:txBody>
          <a:bodyPr/>
          <a:lstStyle/>
          <a:p>
            <a:pPr>
              <a:buClr>
                <a:schemeClr val="bg1"/>
              </a:buClr>
              <a:buFont typeface="Wingdings" panose="05000000000000000000" pitchFamily="2" charset="2"/>
              <a:buChar char="l"/>
            </a:pPr>
            <a:r>
              <a:rPr lang="en-US" altLang="zh-CN" sz="3600" dirty="0">
                <a:solidFill>
                  <a:schemeClr val="bg1"/>
                </a:solidFill>
                <a:latin typeface="Garamond"/>
                <a:ea typeface="华文行楷"/>
                <a:cs typeface="+mj-cs"/>
              </a:rPr>
              <a:t>3.1 </a:t>
            </a:r>
            <a:r>
              <a:rPr lang="zh-CN" altLang="en-US" sz="3600" dirty="0">
                <a:solidFill>
                  <a:schemeClr val="bg1"/>
                </a:solidFill>
                <a:latin typeface="Garamond"/>
                <a:ea typeface="华文行楷"/>
                <a:cs typeface="+mj-cs"/>
              </a:rPr>
              <a:t>高频功率放大器概述</a:t>
            </a:r>
            <a:endParaRPr lang="zh-CN" altLang="en-US" sz="2800" dirty="0"/>
          </a:p>
        </p:txBody>
      </p:sp>
      <p:sp>
        <p:nvSpPr>
          <p:cNvPr id="6" name="Rectangle 3"/>
          <p:cNvSpPr txBox="1">
            <a:spLocks noChangeArrowheads="1"/>
          </p:cNvSpPr>
          <p:nvPr/>
        </p:nvSpPr>
        <p:spPr bwMode="auto">
          <a:xfrm>
            <a:off x="395536" y="1197546"/>
            <a:ext cx="8074025" cy="511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marL="288925" indent="-288925" eaLnBrk="1" hangingPunct="1">
              <a:lnSpc>
                <a:spcPct val="120000"/>
              </a:lnSpc>
              <a:spcBef>
                <a:spcPct val="0"/>
              </a:spcBef>
              <a:tabLst>
                <a:tab pos="1327150" algn="l"/>
              </a:tabLst>
              <a:defRPr/>
            </a:pPr>
            <a:r>
              <a:rPr lang="zh-CN" altLang="en-US" sz="2400" b="1" kern="0" dirty="0">
                <a:solidFill>
                  <a:srgbClr val="00589A"/>
                </a:solidFill>
              </a:rPr>
              <a:t>作用：</a:t>
            </a:r>
          </a:p>
          <a:p>
            <a:pPr marL="765175" lvl="1" indent="-285750" eaLnBrk="1" hangingPunct="1">
              <a:lnSpc>
                <a:spcPct val="150000"/>
              </a:lnSpc>
              <a:spcBef>
                <a:spcPct val="0"/>
              </a:spcBef>
              <a:tabLst>
                <a:tab pos="1327150" algn="l"/>
              </a:tabLst>
              <a:defRPr/>
            </a:pPr>
            <a:r>
              <a:rPr lang="zh-CN" altLang="en-US" sz="2000" b="1" kern="0" dirty="0">
                <a:latin typeface="Times New Roman" pitchFamily="18" charset="0"/>
              </a:rPr>
              <a:t>放大高频信号或高频已调波信号，将直流电能转换成交流输出功率。</a:t>
            </a:r>
          </a:p>
          <a:p>
            <a:pPr marL="288925" indent="-288925" eaLnBrk="1" hangingPunct="1">
              <a:lnSpc>
                <a:spcPct val="120000"/>
              </a:lnSpc>
              <a:spcBef>
                <a:spcPct val="0"/>
              </a:spcBef>
              <a:tabLst>
                <a:tab pos="1327150" algn="l"/>
              </a:tabLst>
              <a:defRPr/>
            </a:pPr>
            <a:r>
              <a:rPr lang="zh-CN" altLang="en-US" sz="2400" b="1" kern="0" dirty="0">
                <a:solidFill>
                  <a:srgbClr val="00589A"/>
                </a:solidFill>
              </a:rPr>
              <a:t>主要解决的问题：</a:t>
            </a:r>
          </a:p>
          <a:p>
            <a:pPr marL="765175" lvl="1" indent="-285750" eaLnBrk="1" hangingPunct="1">
              <a:lnSpc>
                <a:spcPct val="150000"/>
              </a:lnSpc>
              <a:spcBef>
                <a:spcPct val="0"/>
              </a:spcBef>
              <a:tabLst>
                <a:tab pos="1327150" algn="l"/>
              </a:tabLst>
              <a:defRPr/>
            </a:pPr>
            <a:r>
              <a:rPr lang="zh-CN" altLang="en-US" sz="2000" b="1" kern="0" dirty="0">
                <a:solidFill>
                  <a:srgbClr val="FF3300"/>
                </a:solidFill>
              </a:rPr>
              <a:t>高效率</a:t>
            </a:r>
            <a:r>
              <a:rPr lang="zh-CN" altLang="en-US" sz="2000" b="1" kern="0" dirty="0"/>
              <a:t>和</a:t>
            </a:r>
            <a:r>
              <a:rPr lang="zh-CN" altLang="en-US" sz="2000" b="1" kern="0" dirty="0">
                <a:solidFill>
                  <a:srgbClr val="FF3300"/>
                </a:solidFill>
              </a:rPr>
              <a:t>高功率</a:t>
            </a:r>
            <a:r>
              <a:rPr lang="zh-CN" altLang="en-US" sz="2000" b="1" kern="0" dirty="0"/>
              <a:t>输出</a:t>
            </a:r>
          </a:p>
          <a:p>
            <a:pPr marL="288925" indent="-288925" eaLnBrk="1" hangingPunct="1">
              <a:lnSpc>
                <a:spcPct val="120000"/>
              </a:lnSpc>
              <a:spcBef>
                <a:spcPct val="0"/>
              </a:spcBef>
              <a:tabLst>
                <a:tab pos="1327150" algn="l"/>
              </a:tabLst>
              <a:defRPr/>
            </a:pPr>
            <a:r>
              <a:rPr lang="zh-CN" altLang="en-US" sz="2400" b="1" kern="0" dirty="0">
                <a:solidFill>
                  <a:srgbClr val="00589A"/>
                </a:solidFill>
              </a:rPr>
              <a:t>输出功率范围：</a:t>
            </a:r>
          </a:p>
          <a:p>
            <a:pPr marL="765175" lvl="1" indent="-285750" eaLnBrk="1" hangingPunct="1">
              <a:lnSpc>
                <a:spcPct val="150000"/>
              </a:lnSpc>
              <a:spcBef>
                <a:spcPct val="0"/>
              </a:spcBef>
              <a:tabLst>
                <a:tab pos="1327150" algn="l"/>
              </a:tabLst>
              <a:defRPr/>
            </a:pPr>
            <a:r>
              <a:rPr lang="zh-CN" altLang="en-US" sz="2000" b="1" kern="0" dirty="0" smtClean="0">
                <a:latin typeface="Times New Roman" pitchFamily="18" charset="0"/>
              </a:rPr>
              <a:t>毫瓦级至千瓦级。为了实现大功率输出，末级前就必须</a:t>
            </a:r>
            <a:r>
              <a:rPr lang="zh-CN" altLang="en-US" sz="2000" b="1" kern="0" dirty="0" smtClean="0">
                <a:solidFill>
                  <a:srgbClr val="FF3300"/>
                </a:solidFill>
                <a:latin typeface="Times New Roman" pitchFamily="18" charset="0"/>
              </a:rPr>
              <a:t>有足够高的激励功率电平</a:t>
            </a:r>
            <a:r>
              <a:rPr lang="zh-CN" altLang="en-US" sz="2000" b="1" kern="0" dirty="0" smtClean="0">
                <a:latin typeface="Times New Roman" pitchFamily="18" charset="0"/>
              </a:rPr>
              <a:t>，实际中往往由多级功率放大器组成大功率放大器（</a:t>
            </a:r>
            <a:r>
              <a:rPr lang="en-US" altLang="zh-CN" sz="2000" b="1" kern="0" dirty="0" smtClean="0">
                <a:latin typeface="Times New Roman" pitchFamily="18" charset="0"/>
              </a:rPr>
              <a:t>2~4</a:t>
            </a:r>
            <a:r>
              <a:rPr lang="zh-CN" altLang="en-US" sz="2000" b="1" kern="0" dirty="0" smtClean="0">
                <a:latin typeface="Times New Roman" pitchFamily="18" charset="0"/>
              </a:rPr>
              <a:t>级），而各级的工作状态也往往不同，有缓冲放大、中间放大、推挽放大、末级功放等。</a:t>
            </a:r>
            <a:endParaRPr lang="zh-CN" altLang="en-US" sz="2000" b="1" kern="0" dirty="0">
              <a:latin typeface="Times New Roman" pitchFamily="18" charset="0"/>
            </a:endParaRPr>
          </a:p>
        </p:txBody>
      </p:sp>
      <p:sp>
        <p:nvSpPr>
          <p:cNvPr id="2" name="TextBox 1"/>
          <p:cNvSpPr txBox="1"/>
          <p:nvPr/>
        </p:nvSpPr>
        <p:spPr>
          <a:xfrm>
            <a:off x="4211960" y="2596262"/>
            <a:ext cx="745947" cy="400110"/>
          </a:xfrm>
          <a:prstGeom prst="rect">
            <a:avLst/>
          </a:prstGeom>
          <a:noFill/>
        </p:spPr>
        <p:txBody>
          <a:bodyPr wrap="square" rtlCol="0">
            <a:spAutoFit/>
          </a:bodyPr>
          <a:lstStyle/>
          <a:p>
            <a:r>
              <a:rPr lang="zh-CN" altLang="en-US" sz="2000" b="1" dirty="0" smtClean="0">
                <a:solidFill>
                  <a:srgbClr val="0070C0"/>
                </a:solidFill>
              </a:rPr>
              <a:t>对比：</a:t>
            </a:r>
            <a:endParaRPr lang="zh-CN" altLang="en-US" sz="2000" b="1" dirty="0">
              <a:solidFill>
                <a:srgbClr val="0070C0"/>
              </a:solidFill>
            </a:endParaRPr>
          </a:p>
        </p:txBody>
      </p:sp>
      <p:sp>
        <p:nvSpPr>
          <p:cNvPr id="3" name="矩形 2"/>
          <p:cNvSpPr/>
          <p:nvPr/>
        </p:nvSpPr>
        <p:spPr>
          <a:xfrm>
            <a:off x="4211960" y="3068960"/>
            <a:ext cx="3539752" cy="400110"/>
          </a:xfrm>
          <a:prstGeom prst="rect">
            <a:avLst/>
          </a:prstGeom>
        </p:spPr>
        <p:txBody>
          <a:bodyPr wrap="none">
            <a:spAutoFit/>
          </a:bodyPr>
          <a:lstStyle/>
          <a:p>
            <a:r>
              <a:rPr lang="zh-CN" altLang="en-US" sz="2000" b="1" dirty="0"/>
              <a:t>高频小信号谐振功放：不失真</a:t>
            </a:r>
          </a:p>
        </p:txBody>
      </p:sp>
      <p:sp>
        <p:nvSpPr>
          <p:cNvPr id="5" name="圆角矩形 4"/>
          <p:cNvSpPr/>
          <p:nvPr/>
        </p:nvSpPr>
        <p:spPr bwMode="auto">
          <a:xfrm>
            <a:off x="4211960" y="2596262"/>
            <a:ext cx="3539752" cy="872808"/>
          </a:xfrm>
          <a:prstGeom prst="roundRect">
            <a:avLst/>
          </a:prstGeom>
          <a:noFill/>
          <a:ln w="9525" cap="flat" cmpd="sng" algn="ctr">
            <a:solidFill>
              <a:schemeClr val="accent2"/>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Tree>
    <p:extLst>
      <p:ext uri="{BB962C8B-B14F-4D97-AF65-F5344CB8AC3E}">
        <p14:creationId xmlns:p14="http://schemas.microsoft.com/office/powerpoint/2010/main" val="3695980830"/>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34</a:t>
            </a:fld>
            <a:endParaRPr lang="en-US" altLang="zh-CN" dirty="0">
              <a:solidFill>
                <a:srgbClr val="000000"/>
              </a:solidFill>
            </a:endParaRPr>
          </a:p>
        </p:txBody>
      </p:sp>
      <p:sp>
        <p:nvSpPr>
          <p:cNvPr id="21" name="内容占位符 20"/>
          <p:cNvSpPr>
            <a:spLocks noGrp="1"/>
          </p:cNvSpPr>
          <p:nvPr>
            <p:ph idx="1"/>
          </p:nvPr>
        </p:nvSpPr>
        <p:spPr>
          <a:xfrm>
            <a:off x="395536" y="260648"/>
            <a:ext cx="5441441" cy="648072"/>
          </a:xfrm>
          <a:solidFill>
            <a:srgbClr val="862714"/>
          </a:solidFill>
        </p:spPr>
        <p:txBody>
          <a:bodyPr/>
          <a:lstStyle/>
          <a:p>
            <a:pPr>
              <a:buClr>
                <a:schemeClr val="bg1"/>
              </a:buClr>
              <a:buFont typeface="Wingdings" panose="05000000000000000000" pitchFamily="2" charset="2"/>
              <a:buChar char="l"/>
            </a:pPr>
            <a:r>
              <a:rPr lang="en-US" altLang="zh-CN" sz="3600" dirty="0">
                <a:solidFill>
                  <a:schemeClr val="bg1"/>
                </a:solidFill>
                <a:latin typeface="Garamond"/>
                <a:ea typeface="华文行楷"/>
                <a:cs typeface="+mj-cs"/>
              </a:rPr>
              <a:t>3.1 </a:t>
            </a:r>
            <a:r>
              <a:rPr lang="zh-CN" altLang="en-US" sz="3600" dirty="0">
                <a:solidFill>
                  <a:schemeClr val="bg1"/>
                </a:solidFill>
                <a:latin typeface="Garamond"/>
                <a:ea typeface="华文行楷"/>
                <a:cs typeface="+mj-cs"/>
              </a:rPr>
              <a:t>高频功率放大器概述</a:t>
            </a:r>
            <a:endParaRPr lang="zh-CN" altLang="en-US" sz="2800" dirty="0"/>
          </a:p>
        </p:txBody>
      </p:sp>
      <p:sp>
        <p:nvSpPr>
          <p:cNvPr id="6" name="Rectangle 3"/>
          <p:cNvSpPr txBox="1">
            <a:spLocks noChangeArrowheads="1"/>
          </p:cNvSpPr>
          <p:nvPr/>
        </p:nvSpPr>
        <p:spPr bwMode="auto">
          <a:xfrm>
            <a:off x="395536" y="1197546"/>
            <a:ext cx="8074025" cy="575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marL="288925" indent="-288925" eaLnBrk="1" hangingPunct="1">
              <a:lnSpc>
                <a:spcPct val="120000"/>
              </a:lnSpc>
              <a:spcBef>
                <a:spcPct val="0"/>
              </a:spcBef>
              <a:tabLst>
                <a:tab pos="1327150" algn="l"/>
              </a:tabLst>
              <a:defRPr/>
            </a:pPr>
            <a:r>
              <a:rPr lang="zh-CN" altLang="en-US" sz="2400" b="1" kern="0" dirty="0">
                <a:solidFill>
                  <a:srgbClr val="00589A"/>
                </a:solidFill>
              </a:rPr>
              <a:t>按静态工作点划分：</a:t>
            </a:r>
          </a:p>
        </p:txBody>
      </p:sp>
      <p:graphicFrame>
        <p:nvGraphicFramePr>
          <p:cNvPr id="12" name="表格 11"/>
          <p:cNvGraphicFramePr>
            <a:graphicFrameLocks noGrp="1"/>
          </p:cNvGraphicFramePr>
          <p:nvPr>
            <p:extLst>
              <p:ext uri="{D42A27DB-BD31-4B8C-83A1-F6EECF244321}">
                <p14:modId xmlns:p14="http://schemas.microsoft.com/office/powerpoint/2010/main" val="1072873725"/>
              </p:ext>
            </p:extLst>
          </p:nvPr>
        </p:nvGraphicFramePr>
        <p:xfrm>
          <a:off x="688132" y="1988840"/>
          <a:ext cx="7628284" cy="3600400"/>
        </p:xfrm>
        <a:graphic>
          <a:graphicData uri="http://schemas.openxmlformats.org/drawingml/2006/table">
            <a:tbl>
              <a:tblPr firstRow="1" bandRow="1">
                <a:tableStyleId>{5940675A-B579-460E-94D1-54222C63F5DA}</a:tableStyleId>
              </a:tblPr>
              <a:tblGrid>
                <a:gridCol w="2592288">
                  <a:extLst>
                    <a:ext uri="{9D8B030D-6E8A-4147-A177-3AD203B41FA5}">
                      <a16:colId xmlns:a16="http://schemas.microsoft.com/office/drawing/2014/main" xmlns="" val="20000"/>
                    </a:ext>
                  </a:extLst>
                </a:gridCol>
                <a:gridCol w="5035996">
                  <a:extLst>
                    <a:ext uri="{9D8B030D-6E8A-4147-A177-3AD203B41FA5}">
                      <a16:colId xmlns:a16="http://schemas.microsoft.com/office/drawing/2014/main" xmlns="" val="20001"/>
                    </a:ext>
                  </a:extLst>
                </a:gridCol>
              </a:tblGrid>
              <a:tr h="720080">
                <a:tc>
                  <a:txBody>
                    <a:bodyPr/>
                    <a:lstStyle/>
                    <a:p>
                      <a:pPr algn="ctr"/>
                      <a:r>
                        <a:rPr lang="zh-CN" altLang="en-US" sz="2000" dirty="0">
                          <a:latin typeface="Times New Roman" panose="02020603050405020304" pitchFamily="18" charset="0"/>
                          <a:cs typeface="Times New Roman" panose="02020603050405020304" pitchFamily="18" charset="0"/>
                        </a:rPr>
                        <a:t>甲类放大器</a:t>
                      </a:r>
                    </a:p>
                  </a:txBody>
                  <a:tcPr anchor="ctr"/>
                </a:tc>
                <a:tc>
                  <a:txBody>
                    <a:bodyPr/>
                    <a:lstStyle/>
                    <a:p>
                      <a:pPr algn="ctr"/>
                      <a:r>
                        <a:rPr lang="zh-CN" altLang="en-US" sz="2000" dirty="0" smtClean="0">
                          <a:latin typeface="Times New Roman" panose="02020603050405020304" pitchFamily="18" charset="0"/>
                          <a:cs typeface="Times New Roman" panose="02020603050405020304" pitchFamily="18" charset="0"/>
                        </a:rPr>
                        <a:t>小信号时线性</a:t>
                      </a:r>
                      <a:r>
                        <a:rPr lang="zh-CN" altLang="en-US" sz="2000" dirty="0">
                          <a:latin typeface="Times New Roman" panose="02020603050405020304" pitchFamily="18" charset="0"/>
                          <a:cs typeface="Times New Roman" panose="02020603050405020304" pitchFamily="18" charset="0"/>
                        </a:rPr>
                        <a:t>放大，输出、输入频率相同，失真小。半导通角</a:t>
                      </a:r>
                      <a:r>
                        <a:rPr lang="en-US" altLang="zh-CN" sz="2000" dirty="0">
                          <a:latin typeface="Times New Roman" panose="02020603050405020304" pitchFamily="18" charset="0"/>
                          <a:cs typeface="Times New Roman" panose="02020603050405020304" pitchFamily="18" charset="0"/>
                        </a:rPr>
                        <a:t>180°</a:t>
                      </a:r>
                      <a:r>
                        <a:rPr lang="zh-CN" altLang="en-US" sz="2000" dirty="0">
                          <a:latin typeface="Times New Roman" panose="02020603050405020304" pitchFamily="18" charset="0"/>
                          <a:cs typeface="Times New Roman" panose="02020603050405020304" pitchFamily="18" charset="0"/>
                        </a:rPr>
                        <a:t>理想效率</a:t>
                      </a:r>
                      <a:r>
                        <a:rPr lang="en-US" altLang="zh-CN" sz="2000" dirty="0">
                          <a:solidFill>
                            <a:srgbClr val="FF0000"/>
                          </a:solidFill>
                          <a:latin typeface="Times New Roman" panose="02020603050405020304" pitchFamily="18" charset="0"/>
                          <a:cs typeface="Times New Roman" panose="02020603050405020304" pitchFamily="18" charset="0"/>
                        </a:rPr>
                        <a:t>50%</a:t>
                      </a:r>
                      <a:endParaRPr lang="zh-CN" altLang="en-US" sz="2000"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0"/>
                  </a:ext>
                </a:extLst>
              </a:tr>
              <a:tr h="792088">
                <a:tc>
                  <a:txBody>
                    <a:bodyPr/>
                    <a:lstStyle/>
                    <a:p>
                      <a:pPr algn="ctr"/>
                      <a:r>
                        <a:rPr lang="zh-CN" altLang="en-US" sz="2000" dirty="0">
                          <a:latin typeface="Times New Roman" panose="02020603050405020304" pitchFamily="18" charset="0"/>
                          <a:cs typeface="Times New Roman" panose="02020603050405020304" pitchFamily="18" charset="0"/>
                        </a:rPr>
                        <a:t>乙类放大器</a:t>
                      </a:r>
                    </a:p>
                  </a:txBody>
                  <a:tcPr anchor="ctr"/>
                </a:tc>
                <a:tc>
                  <a:txBody>
                    <a:bodyPr/>
                    <a:lstStyle/>
                    <a:p>
                      <a:pPr algn="ctr"/>
                      <a:r>
                        <a:rPr lang="zh-CN" altLang="en-US" sz="2000" dirty="0">
                          <a:latin typeface="Times New Roman" panose="02020603050405020304" pitchFamily="18" charset="0"/>
                          <a:cs typeface="Times New Roman" panose="02020603050405020304" pitchFamily="18" charset="0"/>
                        </a:rPr>
                        <a:t>输出是输入的半个正弦波，半波失真，产生谐波。半导通角</a:t>
                      </a:r>
                      <a:r>
                        <a:rPr lang="en-US" altLang="zh-CN" sz="2000" dirty="0">
                          <a:latin typeface="Times New Roman" panose="02020603050405020304" pitchFamily="18" charset="0"/>
                          <a:cs typeface="Times New Roman" panose="02020603050405020304" pitchFamily="18" charset="0"/>
                        </a:rPr>
                        <a:t>90°</a:t>
                      </a:r>
                      <a:r>
                        <a:rPr lang="zh-CN" altLang="en-US" sz="2000" dirty="0">
                          <a:latin typeface="Times New Roman" panose="02020603050405020304" pitchFamily="18" charset="0"/>
                          <a:cs typeface="Times New Roman" panose="02020603050405020304" pitchFamily="18" charset="0"/>
                        </a:rPr>
                        <a:t>理想效率</a:t>
                      </a:r>
                      <a:r>
                        <a:rPr lang="en-US" altLang="zh-CN" sz="2000" dirty="0">
                          <a:solidFill>
                            <a:srgbClr val="FF0000"/>
                          </a:solidFill>
                          <a:latin typeface="Times New Roman" panose="02020603050405020304" pitchFamily="18" charset="0"/>
                          <a:cs typeface="Times New Roman" panose="02020603050405020304" pitchFamily="18" charset="0"/>
                        </a:rPr>
                        <a:t>78.5%</a:t>
                      </a:r>
                      <a:endParaRPr lang="zh-CN" altLang="en-US" sz="2000"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1"/>
                  </a:ext>
                </a:extLst>
              </a:tr>
              <a:tr h="720080">
                <a:tc>
                  <a:txBody>
                    <a:bodyPr/>
                    <a:lstStyle/>
                    <a:p>
                      <a:pPr algn="ctr"/>
                      <a:r>
                        <a:rPr lang="zh-CN" altLang="en-US" sz="2000" dirty="0">
                          <a:latin typeface="Times New Roman" panose="02020603050405020304" pitchFamily="18" charset="0"/>
                          <a:cs typeface="Times New Roman" panose="02020603050405020304" pitchFamily="18" charset="0"/>
                        </a:rPr>
                        <a:t>丙类放大器</a:t>
                      </a:r>
                    </a:p>
                  </a:txBody>
                  <a:tcPr anchor="ctr"/>
                </a:tc>
                <a:tc>
                  <a:txBody>
                    <a:bodyPr/>
                    <a:lstStyle/>
                    <a:p>
                      <a:pPr algn="ctr"/>
                      <a:r>
                        <a:rPr lang="zh-CN" altLang="en-US" sz="2000" dirty="0">
                          <a:latin typeface="Times New Roman" panose="02020603050405020304" pitchFamily="18" charset="0"/>
                          <a:cs typeface="Times New Roman" panose="02020603050405020304" pitchFamily="18" charset="0"/>
                        </a:rPr>
                        <a:t>半波失真增大，谐波更加丰富。半导通角在</a:t>
                      </a:r>
                      <a:r>
                        <a:rPr lang="en-US" altLang="zh-CN" sz="2000" dirty="0">
                          <a:latin typeface="Times New Roman" panose="02020603050405020304" pitchFamily="18" charset="0"/>
                          <a:cs typeface="Times New Roman" panose="02020603050405020304" pitchFamily="18" charset="0"/>
                        </a:rPr>
                        <a:t>0-90°</a:t>
                      </a:r>
                      <a:r>
                        <a:rPr lang="zh-CN" altLang="en-US" sz="2000" dirty="0">
                          <a:latin typeface="Times New Roman" panose="02020603050405020304" pitchFamily="18" charset="0"/>
                          <a:cs typeface="Times New Roman" panose="02020603050405020304" pitchFamily="18" charset="0"/>
                        </a:rPr>
                        <a:t>理想效率</a:t>
                      </a:r>
                      <a:r>
                        <a:rPr lang="en-US" altLang="zh-CN" sz="2000" dirty="0">
                          <a:solidFill>
                            <a:srgbClr val="FF0000"/>
                          </a:solidFill>
                          <a:latin typeface="Times New Roman" panose="02020603050405020304" pitchFamily="18" charset="0"/>
                          <a:cs typeface="Times New Roman" panose="02020603050405020304" pitchFamily="18" charset="0"/>
                        </a:rPr>
                        <a:t>78.5-100%</a:t>
                      </a:r>
                      <a:endParaRPr lang="zh-CN" altLang="en-US" sz="2000"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2"/>
                  </a:ext>
                </a:extLst>
              </a:tr>
              <a:tr h="720080">
                <a:tc>
                  <a:txBody>
                    <a:bodyPr/>
                    <a:lstStyle/>
                    <a:p>
                      <a:pPr algn="ctr"/>
                      <a:r>
                        <a:rPr lang="zh-CN" altLang="en-US" sz="2000" dirty="0">
                          <a:latin typeface="Times New Roman" panose="02020603050405020304" pitchFamily="18" charset="0"/>
                          <a:cs typeface="Times New Roman" panose="02020603050405020304" pitchFamily="18" charset="0"/>
                        </a:rPr>
                        <a:t>丁类放大器</a:t>
                      </a:r>
                    </a:p>
                  </a:txBody>
                  <a:tcPr anchor="ctr"/>
                </a:tc>
                <a:tc>
                  <a:txBody>
                    <a:bodyPr/>
                    <a:lstStyle/>
                    <a:p>
                      <a:pPr algn="ctr"/>
                      <a:r>
                        <a:rPr lang="zh-CN" altLang="en-US" sz="2000" dirty="0">
                          <a:latin typeface="Times New Roman" panose="02020603050405020304" pitchFamily="18" charset="0"/>
                          <a:cs typeface="Times New Roman" panose="02020603050405020304" pitchFamily="18" charset="0"/>
                        </a:rPr>
                        <a:t>开关型功率放大器，理想效率</a:t>
                      </a:r>
                      <a:r>
                        <a:rPr lang="en-US" altLang="zh-CN" sz="2000" dirty="0">
                          <a:latin typeface="Times New Roman" panose="02020603050405020304" pitchFamily="18" charset="0"/>
                          <a:cs typeface="Times New Roman" panose="02020603050405020304" pitchFamily="18" charset="0"/>
                        </a:rPr>
                        <a:t>100%</a:t>
                      </a:r>
                      <a:endParaRPr lang="zh-CN" altLang="en-US"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xmlns="" val="10003"/>
                  </a:ext>
                </a:extLst>
              </a:tr>
              <a:tr h="648072">
                <a:tc>
                  <a:txBody>
                    <a:bodyPr/>
                    <a:lstStyle/>
                    <a:p>
                      <a:pPr algn="ctr"/>
                      <a:r>
                        <a:rPr lang="zh-CN" altLang="en-US" sz="2000" dirty="0">
                          <a:latin typeface="Times New Roman" panose="02020603050405020304" pitchFamily="18" charset="0"/>
                          <a:cs typeface="Times New Roman" panose="02020603050405020304" pitchFamily="18" charset="0"/>
                        </a:rPr>
                        <a:t>戊类放大器</a:t>
                      </a:r>
                    </a:p>
                  </a:txBody>
                  <a:tcPr anchor="ctr"/>
                </a:tc>
                <a:tc>
                  <a:txBody>
                    <a:bodyPr/>
                    <a:lstStyle/>
                    <a:p>
                      <a:pPr algn="ctr"/>
                      <a:r>
                        <a:rPr lang="zh-CN" altLang="en-US" sz="2000" kern="1200" dirty="0">
                          <a:solidFill>
                            <a:schemeClr val="tx1"/>
                          </a:solidFill>
                          <a:latin typeface="Times New Roman" panose="02020603050405020304" pitchFamily="18" charset="0"/>
                          <a:ea typeface="+mn-ea"/>
                          <a:cs typeface="Times New Roman" panose="02020603050405020304" pitchFamily="18" charset="0"/>
                        </a:rPr>
                        <a:t>开关型功率放大器，理想效率</a:t>
                      </a:r>
                      <a:r>
                        <a:rPr lang="en-US" altLang="zh-CN" sz="2000" kern="1200" dirty="0">
                          <a:solidFill>
                            <a:schemeClr val="tx1"/>
                          </a:solidFill>
                          <a:latin typeface="Times New Roman" panose="02020603050405020304" pitchFamily="18" charset="0"/>
                          <a:ea typeface="+mn-ea"/>
                          <a:cs typeface="Times New Roman" panose="02020603050405020304" pitchFamily="18" charset="0"/>
                        </a:rPr>
                        <a:t>100%</a:t>
                      </a:r>
                      <a:endParaRPr lang="zh-CN"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xmlns="" val="10004"/>
                  </a:ext>
                </a:extLst>
              </a:tr>
            </a:tbl>
          </a:graphicData>
        </a:graphic>
      </p:graphicFrame>
      <p:sp>
        <p:nvSpPr>
          <p:cNvPr id="2" name="矩形 1"/>
          <p:cNvSpPr/>
          <p:nvPr/>
        </p:nvSpPr>
        <p:spPr bwMode="auto">
          <a:xfrm>
            <a:off x="611560" y="3501008"/>
            <a:ext cx="2736304" cy="720080"/>
          </a:xfrm>
          <a:prstGeom prst="rect">
            <a:avLst/>
          </a:prstGeom>
          <a:noFill/>
          <a:ln w="28575" cap="flat" cmpd="sng" algn="ctr">
            <a:solidFill>
              <a:srgbClr val="FF0000"/>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隶书" pitchFamily="49" charset="-122"/>
            </a:endParaRPr>
          </a:p>
        </p:txBody>
      </p:sp>
      <p:sp>
        <p:nvSpPr>
          <p:cNvPr id="7" name="TextBox 6"/>
          <p:cNvSpPr txBox="1"/>
          <p:nvPr/>
        </p:nvSpPr>
        <p:spPr>
          <a:xfrm>
            <a:off x="796417" y="5867980"/>
            <a:ext cx="5040560" cy="369332"/>
          </a:xfrm>
          <a:prstGeom prst="rect">
            <a:avLst/>
          </a:prstGeom>
          <a:noFill/>
        </p:spPr>
        <p:txBody>
          <a:bodyPr wrap="square" rtlCol="0">
            <a:spAutoFit/>
          </a:bodyPr>
          <a:lstStyle/>
          <a:p>
            <a:r>
              <a:rPr lang="zh-CN" altLang="en-US" b="1" dirty="0">
                <a:solidFill>
                  <a:srgbClr val="FF0000"/>
                </a:solidFill>
              </a:rPr>
              <a:t>注意</a:t>
            </a:r>
            <a:r>
              <a:rPr lang="zh-CN" altLang="en-US" b="1" dirty="0" smtClean="0">
                <a:solidFill>
                  <a:srgbClr val="FF0000"/>
                </a:solidFill>
              </a:rPr>
              <a:t>：本课程中，导通角一般指的是半导通角。</a:t>
            </a:r>
            <a:endParaRPr lang="zh-CN" altLang="en-US" b="1" dirty="0">
              <a:solidFill>
                <a:srgbClr val="FF0000"/>
              </a:solidFill>
            </a:endParaRPr>
          </a:p>
        </p:txBody>
      </p:sp>
    </p:spTree>
    <p:extLst>
      <p:ext uri="{BB962C8B-B14F-4D97-AF65-F5344CB8AC3E}">
        <p14:creationId xmlns:p14="http://schemas.microsoft.com/office/powerpoint/2010/main" val="664482899"/>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18048" y="1153896"/>
            <a:ext cx="3886000" cy="400110"/>
          </a:xfrm>
          <a:prstGeom prst="rect">
            <a:avLst/>
          </a:prstGeom>
          <a:noFill/>
        </p:spPr>
        <p:txBody>
          <a:bodyPr wrap="none" rtlCol="0">
            <a:spAutoFit/>
          </a:bodyPr>
          <a:lstStyle/>
          <a:p>
            <a:pPr marL="342900" indent="-342900">
              <a:buFont typeface="Arial" panose="020B0604020202020204" pitchFamily="34" charset="0"/>
              <a:buChar char="•"/>
            </a:pPr>
            <a:r>
              <a:rPr lang="zh-CN" altLang="en-US" sz="2000" b="1" dirty="0" smtClean="0">
                <a:solidFill>
                  <a:srgbClr val="0070C0"/>
                </a:solidFill>
              </a:rPr>
              <a:t>丙类谐振功放工作原理总结：</a:t>
            </a:r>
            <a:endParaRPr lang="zh-CN" altLang="en-US" sz="2000" b="1" dirty="0">
              <a:solidFill>
                <a:srgbClr val="0070C0"/>
              </a:solidFill>
            </a:endParaRPr>
          </a:p>
        </p:txBody>
      </p:sp>
      <p:sp>
        <p:nvSpPr>
          <p:cNvPr id="5" name="Rectangle 3"/>
          <p:cNvSpPr txBox="1">
            <a:spLocks noChangeArrowheads="1"/>
          </p:cNvSpPr>
          <p:nvPr/>
        </p:nvSpPr>
        <p:spPr bwMode="auto">
          <a:xfrm>
            <a:off x="827582" y="1852398"/>
            <a:ext cx="7272810" cy="301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marL="765175" lvl="1" indent="-285750" eaLnBrk="1" hangingPunct="1">
              <a:lnSpc>
                <a:spcPct val="150000"/>
              </a:lnSpc>
              <a:spcBef>
                <a:spcPct val="0"/>
              </a:spcBef>
              <a:tabLst>
                <a:tab pos="1327150" algn="l"/>
              </a:tabLst>
              <a:defRPr/>
            </a:pPr>
            <a:r>
              <a:rPr lang="zh-CN" altLang="en-US" sz="2000" b="1" kern="0" dirty="0">
                <a:latin typeface="Times New Roman" pitchFamily="18" charset="0"/>
              </a:rPr>
              <a:t>静态</a:t>
            </a:r>
            <a:r>
              <a:rPr lang="zh-CN" altLang="en-US" sz="2000" b="1" kern="0" dirty="0" smtClean="0">
                <a:latin typeface="Times New Roman" pitchFamily="18" charset="0"/>
              </a:rPr>
              <a:t>工作点：</a:t>
            </a:r>
            <a:r>
              <a:rPr lang="zh-CN" altLang="en-US" sz="2000" kern="0" dirty="0" smtClean="0">
                <a:latin typeface="Times New Roman" pitchFamily="18" charset="0"/>
              </a:rPr>
              <a:t>设置在丙类状态，工作在丙类状态；</a:t>
            </a:r>
            <a:endParaRPr lang="en-US" altLang="zh-CN" sz="2000" kern="0" dirty="0" smtClean="0">
              <a:latin typeface="Times New Roman" pitchFamily="18" charset="0"/>
            </a:endParaRPr>
          </a:p>
          <a:p>
            <a:pPr marL="765175" lvl="1" indent="-285750" eaLnBrk="1" hangingPunct="1">
              <a:lnSpc>
                <a:spcPct val="150000"/>
              </a:lnSpc>
              <a:spcBef>
                <a:spcPct val="0"/>
              </a:spcBef>
              <a:tabLst>
                <a:tab pos="1327150" algn="l"/>
              </a:tabLst>
              <a:defRPr/>
            </a:pPr>
            <a:r>
              <a:rPr lang="zh-CN" altLang="en-US" sz="2000" b="1" kern="0" dirty="0" smtClean="0">
                <a:latin typeface="Times New Roman" pitchFamily="18" charset="0"/>
              </a:rPr>
              <a:t>电路结构特点：</a:t>
            </a:r>
            <a:r>
              <a:rPr lang="zh-CN" altLang="en-US" sz="2000" kern="0" dirty="0" smtClean="0">
                <a:latin typeface="Times New Roman" pitchFamily="18" charset="0"/>
              </a:rPr>
              <a:t>负载端接</a:t>
            </a:r>
            <a:r>
              <a:rPr lang="en-US" altLang="zh-CN" sz="2000" kern="0" dirty="0" smtClean="0">
                <a:latin typeface="Times New Roman" pitchFamily="18" charset="0"/>
              </a:rPr>
              <a:t>LC</a:t>
            </a:r>
            <a:r>
              <a:rPr lang="zh-CN" altLang="en-US" sz="2000" kern="0" dirty="0" smtClean="0">
                <a:latin typeface="Times New Roman" pitchFamily="18" charset="0"/>
              </a:rPr>
              <a:t>谐振回路进行选频滤波</a:t>
            </a:r>
            <a:r>
              <a:rPr lang="zh-CN" altLang="en-US" sz="2000" b="1" kern="0" dirty="0" smtClean="0">
                <a:latin typeface="Times New Roman" pitchFamily="18" charset="0"/>
              </a:rPr>
              <a:t>；</a:t>
            </a:r>
            <a:endParaRPr lang="en-US" altLang="zh-CN" sz="2000" b="1" kern="0" dirty="0" smtClean="0">
              <a:latin typeface="Times New Roman" pitchFamily="18" charset="0"/>
            </a:endParaRPr>
          </a:p>
          <a:p>
            <a:pPr marL="765175" lvl="1" indent="-285750" eaLnBrk="1" hangingPunct="1">
              <a:lnSpc>
                <a:spcPct val="150000"/>
              </a:lnSpc>
              <a:spcBef>
                <a:spcPct val="0"/>
              </a:spcBef>
              <a:tabLst>
                <a:tab pos="1327150" algn="l"/>
              </a:tabLst>
              <a:defRPr/>
            </a:pPr>
            <a:r>
              <a:rPr lang="zh-CN" altLang="en-US" sz="2000" b="1" kern="0" dirty="0" smtClean="0">
                <a:latin typeface="Times New Roman" pitchFamily="18" charset="0"/>
              </a:rPr>
              <a:t>集电极输出电流</a:t>
            </a:r>
            <a:r>
              <a:rPr lang="en-US" altLang="zh-CN" sz="2000" b="1" i="1" kern="0" dirty="0" err="1" smtClean="0">
                <a:latin typeface="Times New Roman" pitchFamily="18" charset="0"/>
              </a:rPr>
              <a:t>i</a:t>
            </a:r>
            <a:r>
              <a:rPr lang="en-US" altLang="zh-CN" sz="2000" b="1" i="1" kern="0" baseline="-25000" dirty="0" err="1" smtClean="0">
                <a:latin typeface="Times New Roman" pitchFamily="18" charset="0"/>
              </a:rPr>
              <a:t>c</a:t>
            </a:r>
            <a:r>
              <a:rPr lang="zh-CN" altLang="en-US" sz="2000" b="1" kern="0" dirty="0" smtClean="0">
                <a:latin typeface="Times New Roman" pitchFamily="18" charset="0"/>
              </a:rPr>
              <a:t>：</a:t>
            </a:r>
            <a:r>
              <a:rPr lang="zh-CN" altLang="en-US" sz="2000" kern="0" dirty="0" smtClean="0">
                <a:latin typeface="Times New Roman" pitchFamily="18" charset="0"/>
              </a:rPr>
              <a:t>余弦脉冲；</a:t>
            </a:r>
            <a:endParaRPr lang="en-US" altLang="zh-CN" sz="2000" kern="0" dirty="0" smtClean="0">
              <a:latin typeface="Times New Roman" pitchFamily="18" charset="0"/>
            </a:endParaRPr>
          </a:p>
          <a:p>
            <a:pPr marL="765175" lvl="1" indent="-285750" eaLnBrk="1" hangingPunct="1">
              <a:lnSpc>
                <a:spcPct val="150000"/>
              </a:lnSpc>
              <a:spcBef>
                <a:spcPct val="0"/>
              </a:spcBef>
              <a:tabLst>
                <a:tab pos="1327150" algn="l"/>
              </a:tabLst>
              <a:defRPr/>
            </a:pPr>
            <a:r>
              <a:rPr lang="zh-CN" altLang="en-US" sz="2000" b="1" kern="0" dirty="0" smtClean="0">
                <a:latin typeface="Times New Roman" pitchFamily="18" charset="0"/>
              </a:rPr>
              <a:t>集电极输出电压：</a:t>
            </a:r>
            <a:r>
              <a:rPr lang="zh-CN" altLang="en-US" sz="2000" kern="0" dirty="0" smtClean="0">
                <a:latin typeface="Times New Roman" pitchFamily="18" charset="0"/>
              </a:rPr>
              <a:t>因</a:t>
            </a:r>
            <a:r>
              <a:rPr lang="en-US" altLang="zh-CN" sz="2000" kern="0" dirty="0" smtClean="0">
                <a:latin typeface="Times New Roman" pitchFamily="18" charset="0"/>
              </a:rPr>
              <a:t>LC</a:t>
            </a:r>
            <a:r>
              <a:rPr lang="zh-CN" altLang="en-US" sz="2000" kern="0" dirty="0" smtClean="0">
                <a:latin typeface="Times New Roman" pitchFamily="18" charset="0"/>
              </a:rPr>
              <a:t>谐振回路的选频作用，输出电压是与输入信号频率相同的余弦电压，但相位相反。</a:t>
            </a:r>
            <a:endParaRPr lang="en-US" altLang="zh-CN" sz="2000" kern="0" dirty="0" smtClean="0">
              <a:latin typeface="Times New Roman" pitchFamily="18" charset="0"/>
            </a:endParaRPr>
          </a:p>
          <a:p>
            <a:pPr marL="765175" lvl="1" indent="-285750" eaLnBrk="1" hangingPunct="1">
              <a:lnSpc>
                <a:spcPct val="150000"/>
              </a:lnSpc>
              <a:spcBef>
                <a:spcPct val="0"/>
              </a:spcBef>
              <a:tabLst>
                <a:tab pos="1327150" algn="l"/>
              </a:tabLst>
              <a:defRPr/>
            </a:pPr>
            <a:r>
              <a:rPr lang="zh-CN" altLang="en-US" sz="2000" b="1" kern="0" dirty="0" smtClean="0">
                <a:latin typeface="Times New Roman" pitchFamily="18" charset="0"/>
              </a:rPr>
              <a:t>放大功能：</a:t>
            </a:r>
            <a:r>
              <a:rPr lang="zh-CN" altLang="en-US" sz="2000" kern="0" dirty="0" smtClean="0">
                <a:latin typeface="Times New Roman" pitchFamily="18" charset="0"/>
              </a:rPr>
              <a:t>实现高功率、高效率的输出。</a:t>
            </a:r>
            <a:endParaRPr lang="en-US" altLang="zh-CN" sz="2000" kern="0" dirty="0">
              <a:latin typeface="Times New Roman" pitchFamily="18" charset="0"/>
            </a:endParaRPr>
          </a:p>
        </p:txBody>
      </p:sp>
      <p:sp>
        <p:nvSpPr>
          <p:cNvPr id="6" name="TextBox 5"/>
          <p:cNvSpPr txBox="1"/>
          <p:nvPr/>
        </p:nvSpPr>
        <p:spPr>
          <a:xfrm>
            <a:off x="1555288" y="5085184"/>
            <a:ext cx="5032936" cy="923330"/>
          </a:xfrm>
          <a:prstGeom prst="rect">
            <a:avLst/>
          </a:prstGeom>
          <a:noFill/>
          <a:ln>
            <a:solidFill>
              <a:srgbClr val="FF0000"/>
            </a:solidFill>
          </a:ln>
        </p:spPr>
        <p:txBody>
          <a:bodyPr wrap="square" rtlCol="0">
            <a:spAutoFit/>
          </a:bodyPr>
          <a:lstStyle/>
          <a:p>
            <a:pPr>
              <a:lnSpc>
                <a:spcPct val="150000"/>
              </a:lnSpc>
            </a:pPr>
            <a:r>
              <a:rPr lang="zh-CN" altLang="en-US" b="1" dirty="0" smtClean="0">
                <a:solidFill>
                  <a:srgbClr val="FF0000"/>
                </a:solidFill>
              </a:rPr>
              <a:t>重要，需掌握丙类谐振功放的工作原理，以上原理能够描述出来</a:t>
            </a:r>
            <a:endParaRPr lang="zh-CN" altLang="en-US" b="1" dirty="0">
              <a:solidFill>
                <a:srgbClr val="FF0000"/>
              </a:solidFill>
            </a:endParaRPr>
          </a:p>
        </p:txBody>
      </p:sp>
    </p:spTree>
    <p:extLst>
      <p:ext uri="{BB962C8B-B14F-4D97-AF65-F5344CB8AC3E}">
        <p14:creationId xmlns:p14="http://schemas.microsoft.com/office/powerpoint/2010/main" val="227959174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36</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第三章知识点梳理</a:t>
            </a:r>
            <a:endParaRPr lang="zh-CN" altLang="en-US" sz="2400" b="1" dirty="0">
              <a:solidFill>
                <a:prstClr val="black"/>
              </a:solidFill>
            </a:endParaRPr>
          </a:p>
        </p:txBody>
      </p:sp>
      <p:sp>
        <p:nvSpPr>
          <p:cNvPr id="6" name="TextBox 5"/>
          <p:cNvSpPr txBox="1"/>
          <p:nvPr/>
        </p:nvSpPr>
        <p:spPr>
          <a:xfrm>
            <a:off x="539552" y="836712"/>
            <a:ext cx="2276585" cy="369332"/>
          </a:xfrm>
          <a:prstGeom prst="rect">
            <a:avLst/>
          </a:prstGeom>
          <a:noFill/>
        </p:spPr>
        <p:txBody>
          <a:bodyPr wrap="none" rtlCol="0">
            <a:spAutoFit/>
          </a:bodyPr>
          <a:lstStyle/>
          <a:p>
            <a:r>
              <a:rPr lang="zh-CN" altLang="en-US" b="1" dirty="0" smtClean="0"/>
              <a:t>一、灵活使用公式：</a:t>
            </a:r>
            <a:endParaRPr lang="zh-CN" altLang="en-US" b="1" dirty="0"/>
          </a:p>
        </p:txBody>
      </p:sp>
      <p:graphicFrame>
        <p:nvGraphicFramePr>
          <p:cNvPr id="7168" name="对象 7167"/>
          <p:cNvGraphicFramePr>
            <a:graphicFrameLocks noChangeAspect="1"/>
          </p:cNvGraphicFramePr>
          <p:nvPr>
            <p:extLst>
              <p:ext uri="{D42A27DB-BD31-4B8C-83A1-F6EECF244321}">
                <p14:modId xmlns:p14="http://schemas.microsoft.com/office/powerpoint/2010/main" val="4286386325"/>
              </p:ext>
            </p:extLst>
          </p:nvPr>
        </p:nvGraphicFramePr>
        <p:xfrm>
          <a:off x="755576" y="2885504"/>
          <a:ext cx="2232248" cy="471406"/>
        </p:xfrm>
        <a:graphic>
          <a:graphicData uri="http://schemas.openxmlformats.org/presentationml/2006/ole">
            <mc:AlternateContent xmlns:mc="http://schemas.openxmlformats.org/markup-compatibility/2006">
              <mc:Choice xmlns:v="urn:schemas-microsoft-com:vml" Requires="v">
                <p:oleObj spid="_x0000_s62302" name="Equation" r:id="rId4" imgW="1143000" imgH="228600" progId="Equation.DSMT4">
                  <p:embed/>
                </p:oleObj>
              </mc:Choice>
              <mc:Fallback>
                <p:oleObj name="Equation" r:id="rId4" imgW="1143000" imgH="228600" progId="Equation.DSMT4">
                  <p:embed/>
                  <p:pic>
                    <p:nvPicPr>
                      <p:cNvPr id="0" name="Object 62"/>
                      <p:cNvPicPr>
                        <a:picLocks noChangeAspect="1" noChangeArrowheads="1"/>
                      </p:cNvPicPr>
                      <p:nvPr/>
                    </p:nvPicPr>
                    <p:blipFill>
                      <a:blip r:embed="rId5"/>
                      <a:srcRect/>
                      <a:stretch>
                        <a:fillRect/>
                      </a:stretch>
                    </p:blipFill>
                    <p:spPr bwMode="auto">
                      <a:xfrm>
                        <a:off x="755576" y="2885504"/>
                        <a:ext cx="2232248" cy="471406"/>
                      </a:xfrm>
                      <a:prstGeom prst="rect">
                        <a:avLst/>
                      </a:prstGeom>
                      <a:noFill/>
                      <a:ln>
                        <a:noFill/>
                      </a:ln>
                      <a:effectLst/>
                    </p:spPr>
                  </p:pic>
                </p:oleObj>
              </mc:Fallback>
            </mc:AlternateContent>
          </a:graphicData>
        </a:graphic>
      </p:graphicFrame>
      <p:graphicFrame>
        <p:nvGraphicFramePr>
          <p:cNvPr id="7169" name="对象 7168"/>
          <p:cNvGraphicFramePr>
            <a:graphicFrameLocks noChangeAspect="1"/>
          </p:cNvGraphicFramePr>
          <p:nvPr>
            <p:extLst>
              <p:ext uri="{D42A27DB-BD31-4B8C-83A1-F6EECF244321}">
                <p14:modId xmlns:p14="http://schemas.microsoft.com/office/powerpoint/2010/main" val="3053513677"/>
              </p:ext>
            </p:extLst>
          </p:nvPr>
        </p:nvGraphicFramePr>
        <p:xfrm>
          <a:off x="755576" y="3461568"/>
          <a:ext cx="1512887" cy="471488"/>
        </p:xfrm>
        <a:graphic>
          <a:graphicData uri="http://schemas.openxmlformats.org/presentationml/2006/ole">
            <mc:AlternateContent xmlns:mc="http://schemas.openxmlformats.org/markup-compatibility/2006">
              <mc:Choice xmlns:v="urn:schemas-microsoft-com:vml" Requires="v">
                <p:oleObj spid="_x0000_s62303" name="Equation" r:id="rId6" imgW="774360" imgH="228600" progId="Equation.DSMT4">
                  <p:embed/>
                </p:oleObj>
              </mc:Choice>
              <mc:Fallback>
                <p:oleObj name="Equation" r:id="rId6" imgW="774360" imgH="228600" progId="Equation.DSMT4">
                  <p:embed/>
                  <p:pic>
                    <p:nvPicPr>
                      <p:cNvPr id="0" name="对象 7167"/>
                      <p:cNvPicPr>
                        <a:picLocks noChangeAspect="1" noChangeArrowheads="1"/>
                      </p:cNvPicPr>
                      <p:nvPr/>
                    </p:nvPicPr>
                    <p:blipFill>
                      <a:blip r:embed="rId7"/>
                      <a:srcRect/>
                      <a:stretch>
                        <a:fillRect/>
                      </a:stretch>
                    </p:blipFill>
                    <p:spPr bwMode="auto">
                      <a:xfrm>
                        <a:off x="755576" y="3461568"/>
                        <a:ext cx="151288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172" name="TextBox 7171"/>
          <p:cNvSpPr txBox="1"/>
          <p:nvPr/>
        </p:nvSpPr>
        <p:spPr>
          <a:xfrm>
            <a:off x="611560" y="1331476"/>
            <a:ext cx="3416320" cy="369332"/>
          </a:xfrm>
          <a:prstGeom prst="rect">
            <a:avLst/>
          </a:prstGeom>
          <a:noFill/>
        </p:spPr>
        <p:txBody>
          <a:bodyPr wrap="none" rtlCol="0">
            <a:spAutoFit/>
          </a:bodyPr>
          <a:lstStyle/>
          <a:p>
            <a:r>
              <a:rPr lang="zh-CN" altLang="en-US" b="1" dirty="0" smtClean="0">
                <a:solidFill>
                  <a:schemeClr val="accent6">
                    <a:lumMod val="75000"/>
                  </a:schemeClr>
                </a:solidFill>
              </a:rPr>
              <a:t>根据典型高频功率放大器电路：</a:t>
            </a:r>
            <a:endParaRPr lang="zh-CN" altLang="en-US" b="1" dirty="0">
              <a:solidFill>
                <a:schemeClr val="accent6">
                  <a:lumMod val="75000"/>
                </a:schemeClr>
              </a:solidFill>
            </a:endParaRPr>
          </a:p>
        </p:txBody>
      </p:sp>
      <p:sp>
        <p:nvSpPr>
          <p:cNvPr id="83" name="TextBox 82"/>
          <p:cNvSpPr txBox="1"/>
          <p:nvPr/>
        </p:nvSpPr>
        <p:spPr>
          <a:xfrm>
            <a:off x="683568" y="4077072"/>
            <a:ext cx="2509020" cy="369332"/>
          </a:xfrm>
          <a:prstGeom prst="rect">
            <a:avLst/>
          </a:prstGeom>
          <a:noFill/>
        </p:spPr>
        <p:txBody>
          <a:bodyPr wrap="none" rtlCol="0">
            <a:spAutoFit/>
          </a:bodyPr>
          <a:lstStyle/>
          <a:p>
            <a:r>
              <a:rPr lang="zh-CN" altLang="en-US" b="1" dirty="0" smtClean="0">
                <a:solidFill>
                  <a:schemeClr val="accent6">
                    <a:lumMod val="75000"/>
                  </a:schemeClr>
                </a:solidFill>
              </a:rPr>
              <a:t>根据晶体管特性曲线：</a:t>
            </a:r>
            <a:endParaRPr lang="zh-CN" altLang="en-US" b="1" dirty="0">
              <a:solidFill>
                <a:schemeClr val="accent6">
                  <a:lumMod val="75000"/>
                </a:schemeClr>
              </a:solidFill>
            </a:endParaRPr>
          </a:p>
        </p:txBody>
      </p:sp>
      <p:graphicFrame>
        <p:nvGraphicFramePr>
          <p:cNvPr id="7173" name="对象 7172"/>
          <p:cNvGraphicFramePr>
            <a:graphicFrameLocks noChangeAspect="1"/>
          </p:cNvGraphicFramePr>
          <p:nvPr>
            <p:extLst>
              <p:ext uri="{D42A27DB-BD31-4B8C-83A1-F6EECF244321}">
                <p14:modId xmlns:p14="http://schemas.microsoft.com/office/powerpoint/2010/main" val="1412087044"/>
              </p:ext>
            </p:extLst>
          </p:nvPr>
        </p:nvGraphicFramePr>
        <p:xfrm>
          <a:off x="4644008" y="3248514"/>
          <a:ext cx="4320480" cy="3204822"/>
        </p:xfrm>
        <a:graphic>
          <a:graphicData uri="http://schemas.openxmlformats.org/presentationml/2006/ole">
            <mc:AlternateContent xmlns:mc="http://schemas.openxmlformats.org/markup-compatibility/2006">
              <mc:Choice xmlns:v="urn:schemas-microsoft-com:vml" Requires="v">
                <p:oleObj spid="_x0000_s62304" name="Visio" r:id="rId8" imgW="3257916" imgH="2428862" progId="Visio.Drawing.11">
                  <p:embed/>
                </p:oleObj>
              </mc:Choice>
              <mc:Fallback>
                <p:oleObj name="Visio" r:id="rId8" imgW="3257916" imgH="2428862" progId="Visio.Drawing.11">
                  <p:embed/>
                  <p:pic>
                    <p:nvPicPr>
                      <p:cNvPr id="0" name="对象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4008" y="3248514"/>
                        <a:ext cx="4320480" cy="3204822"/>
                      </a:xfrm>
                      <a:prstGeom prst="rect">
                        <a:avLst/>
                      </a:prstGeom>
                      <a:noFill/>
                      <a:ln>
                        <a:noFill/>
                      </a:ln>
                    </p:spPr>
                  </p:pic>
                </p:oleObj>
              </mc:Fallback>
            </mc:AlternateContent>
          </a:graphicData>
        </a:graphic>
      </p:graphicFrame>
      <p:graphicFrame>
        <p:nvGraphicFramePr>
          <p:cNvPr id="7176" name="对象 7175"/>
          <p:cNvGraphicFramePr>
            <a:graphicFrameLocks noChangeAspect="1"/>
          </p:cNvGraphicFramePr>
          <p:nvPr>
            <p:extLst>
              <p:ext uri="{D42A27DB-BD31-4B8C-83A1-F6EECF244321}">
                <p14:modId xmlns:p14="http://schemas.microsoft.com/office/powerpoint/2010/main" val="3491823961"/>
              </p:ext>
            </p:extLst>
          </p:nvPr>
        </p:nvGraphicFramePr>
        <p:xfrm>
          <a:off x="2843808" y="5517232"/>
          <a:ext cx="2079625" cy="471487"/>
        </p:xfrm>
        <a:graphic>
          <a:graphicData uri="http://schemas.openxmlformats.org/presentationml/2006/ole">
            <mc:AlternateContent xmlns:mc="http://schemas.openxmlformats.org/markup-compatibility/2006">
              <mc:Choice xmlns:v="urn:schemas-microsoft-com:vml" Requires="v">
                <p:oleObj spid="_x0000_s62305" name="Equation" r:id="rId10" imgW="1117440" imgH="253800" progId="Equation.DSMT4">
                  <p:embed/>
                </p:oleObj>
              </mc:Choice>
              <mc:Fallback>
                <p:oleObj name="Equation" r:id="rId10" imgW="1117440" imgH="253800" progId="Equation.DSMT4">
                  <p:embed/>
                  <p:pic>
                    <p:nvPicPr>
                      <p:cNvPr id="0" name="对象 6"/>
                      <p:cNvPicPr>
                        <a:picLocks noChangeAspect="1" noChangeArrowheads="1"/>
                      </p:cNvPicPr>
                      <p:nvPr/>
                    </p:nvPicPr>
                    <p:blipFill>
                      <a:blip r:embed="rId11"/>
                      <a:srcRect/>
                      <a:stretch>
                        <a:fillRect/>
                      </a:stretch>
                    </p:blipFill>
                    <p:spPr bwMode="auto">
                      <a:xfrm>
                        <a:off x="2843808" y="5517232"/>
                        <a:ext cx="20796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177" name="对象 7176"/>
          <p:cNvGraphicFramePr>
            <a:graphicFrameLocks noChangeAspect="1"/>
          </p:cNvGraphicFramePr>
          <p:nvPr>
            <p:extLst>
              <p:ext uri="{D42A27DB-BD31-4B8C-83A1-F6EECF244321}">
                <p14:modId xmlns:p14="http://schemas.microsoft.com/office/powerpoint/2010/main" val="4072009905"/>
              </p:ext>
            </p:extLst>
          </p:nvPr>
        </p:nvGraphicFramePr>
        <p:xfrm>
          <a:off x="2843808" y="6021288"/>
          <a:ext cx="1966912" cy="473075"/>
        </p:xfrm>
        <a:graphic>
          <a:graphicData uri="http://schemas.openxmlformats.org/presentationml/2006/ole">
            <mc:AlternateContent xmlns:mc="http://schemas.openxmlformats.org/markup-compatibility/2006">
              <mc:Choice xmlns:v="urn:schemas-microsoft-com:vml" Requires="v">
                <p:oleObj spid="_x0000_s62306" name="Equation" r:id="rId12" imgW="1054080" imgH="253800" progId="Equation.DSMT4">
                  <p:embed/>
                </p:oleObj>
              </mc:Choice>
              <mc:Fallback>
                <p:oleObj name="Equation" r:id="rId12" imgW="1054080" imgH="253800" progId="Equation.DSMT4">
                  <p:embed/>
                  <p:pic>
                    <p:nvPicPr>
                      <p:cNvPr id="0" name="对象 7"/>
                      <p:cNvPicPr>
                        <a:picLocks noChangeAspect="1" noChangeArrowheads="1"/>
                      </p:cNvPicPr>
                      <p:nvPr/>
                    </p:nvPicPr>
                    <p:blipFill>
                      <a:blip r:embed="rId13"/>
                      <a:srcRect/>
                      <a:stretch>
                        <a:fillRect/>
                      </a:stretch>
                    </p:blipFill>
                    <p:spPr bwMode="auto">
                      <a:xfrm>
                        <a:off x="2843808" y="6021288"/>
                        <a:ext cx="1966912"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9" name="组合 78"/>
          <p:cNvGrpSpPr/>
          <p:nvPr/>
        </p:nvGrpSpPr>
        <p:grpSpPr>
          <a:xfrm>
            <a:off x="5004048" y="393027"/>
            <a:ext cx="3828827" cy="2819949"/>
            <a:chOff x="2034750" y="1855242"/>
            <a:chExt cx="4913513" cy="3456877"/>
          </a:xfrm>
        </p:grpSpPr>
        <p:grpSp>
          <p:nvGrpSpPr>
            <p:cNvPr id="80" name="组合 79"/>
            <p:cNvGrpSpPr/>
            <p:nvPr/>
          </p:nvGrpSpPr>
          <p:grpSpPr>
            <a:xfrm>
              <a:off x="2034750" y="1855242"/>
              <a:ext cx="4913513" cy="3456877"/>
              <a:chOff x="2034751" y="1855242"/>
              <a:chExt cx="4464886" cy="2866548"/>
            </a:xfrm>
          </p:grpSpPr>
          <p:sp>
            <p:nvSpPr>
              <p:cNvPr id="96" name="Rectangle 5"/>
              <p:cNvSpPr>
                <a:spLocks noChangeArrowheads="1"/>
              </p:cNvSpPr>
              <p:nvPr/>
            </p:nvSpPr>
            <p:spPr bwMode="auto">
              <a:xfrm>
                <a:off x="4893839" y="1855242"/>
                <a:ext cx="639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lang="en-US" altLang="zh-CN" sz="2400" i="1">
                    <a:solidFill>
                      <a:srgbClr val="FF0066"/>
                    </a:solidFill>
                  </a:rPr>
                  <a:t>i</a:t>
                </a:r>
                <a:r>
                  <a:rPr lang="en-US" altLang="zh-CN" sz="2400" baseline="-25000">
                    <a:solidFill>
                      <a:srgbClr val="FF0066"/>
                    </a:solidFill>
                  </a:rPr>
                  <a:t>C</a:t>
                </a:r>
              </a:p>
            </p:txBody>
          </p:sp>
          <p:sp>
            <p:nvSpPr>
              <p:cNvPr id="97" name="Line 7"/>
              <p:cNvSpPr>
                <a:spLocks noChangeShapeType="1"/>
              </p:cNvSpPr>
              <p:nvPr/>
            </p:nvSpPr>
            <p:spPr bwMode="auto">
              <a:xfrm>
                <a:off x="4212487" y="2401689"/>
                <a:ext cx="0" cy="433561"/>
              </a:xfrm>
              <a:prstGeom prst="line">
                <a:avLst/>
              </a:prstGeom>
              <a:noFill/>
              <a:ln w="25400">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98" name="Line 8"/>
              <p:cNvSpPr>
                <a:spLocks noChangeShapeType="1"/>
              </p:cNvSpPr>
              <p:nvPr/>
            </p:nvSpPr>
            <p:spPr bwMode="auto">
              <a:xfrm>
                <a:off x="4114181" y="4330750"/>
                <a:ext cx="239934" cy="0"/>
              </a:xfrm>
              <a:prstGeom prst="line">
                <a:avLst/>
              </a:prstGeom>
              <a:noFill/>
              <a:ln w="381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99" name="Line 9"/>
              <p:cNvSpPr>
                <a:spLocks noChangeShapeType="1"/>
              </p:cNvSpPr>
              <p:nvPr/>
            </p:nvSpPr>
            <p:spPr bwMode="auto">
              <a:xfrm>
                <a:off x="3949226" y="2882999"/>
                <a:ext cx="0" cy="437381"/>
              </a:xfrm>
              <a:prstGeom prst="line">
                <a:avLst/>
              </a:prstGeom>
              <a:noFill/>
              <a:ln w="381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00" name="Line 10"/>
              <p:cNvSpPr>
                <a:spLocks noChangeShapeType="1"/>
              </p:cNvSpPr>
              <p:nvPr/>
            </p:nvSpPr>
            <p:spPr bwMode="auto">
              <a:xfrm flipV="1">
                <a:off x="3949226" y="2810421"/>
                <a:ext cx="274925" cy="217736"/>
              </a:xfrm>
              <a:prstGeom prst="line">
                <a:avLst/>
              </a:prstGeom>
              <a:noFill/>
              <a:ln w="381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01" name="Line 11"/>
              <p:cNvSpPr>
                <a:spLocks noChangeShapeType="1"/>
              </p:cNvSpPr>
              <p:nvPr/>
            </p:nvSpPr>
            <p:spPr bwMode="auto">
              <a:xfrm>
                <a:off x="3949226" y="3171404"/>
                <a:ext cx="324911" cy="150887"/>
              </a:xfrm>
              <a:prstGeom prst="line">
                <a:avLst/>
              </a:prstGeom>
              <a:noFill/>
              <a:ln w="38100">
                <a:solidFill>
                  <a:schemeClr val="tx1"/>
                </a:solidFill>
                <a:round/>
                <a:headEnd/>
                <a:tailEnd type="stealth" w="med" len="me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02" name="Text Box 12"/>
              <p:cNvSpPr txBox="1">
                <a:spLocks noChangeArrowheads="1"/>
              </p:cNvSpPr>
              <p:nvPr/>
            </p:nvSpPr>
            <p:spPr bwMode="auto">
              <a:xfrm>
                <a:off x="2034751" y="3064446"/>
                <a:ext cx="559846" cy="106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gn="ctr">
                  <a:lnSpc>
                    <a:spcPct val="80000"/>
                  </a:lnSpc>
                </a:pPr>
                <a:r>
                  <a:rPr lang="en-US" altLang="zh-CN" sz="2400" i="1">
                    <a:solidFill>
                      <a:srgbClr val="FF0066"/>
                    </a:solidFill>
                  </a:rPr>
                  <a:t>+</a:t>
                </a:r>
              </a:p>
              <a:p>
                <a:pPr algn="ctr">
                  <a:lnSpc>
                    <a:spcPct val="80000"/>
                  </a:lnSpc>
                </a:pPr>
                <a:r>
                  <a:rPr lang="en-US" altLang="zh-CN" i="1">
                    <a:solidFill>
                      <a:srgbClr val="FF0066"/>
                    </a:solidFill>
                    <a:cs typeface="Times New Roman" pitchFamily="18" charset="0"/>
                    <a:sym typeface="Symbol" pitchFamily="18" charset="2"/>
                  </a:rPr>
                  <a:t>u</a:t>
                </a:r>
                <a:r>
                  <a:rPr lang="en-US" altLang="zh-CN" baseline="-25000">
                    <a:solidFill>
                      <a:srgbClr val="FF0066"/>
                    </a:solidFill>
                    <a:cs typeface="Times New Roman" pitchFamily="18" charset="0"/>
                    <a:sym typeface="Symbol" pitchFamily="18" charset="2"/>
                  </a:rPr>
                  <a:t>i</a:t>
                </a:r>
                <a:r>
                  <a:rPr lang="en-US" altLang="zh-CN">
                    <a:solidFill>
                      <a:srgbClr val="FF0066"/>
                    </a:solidFill>
                    <a:cs typeface="Times New Roman" pitchFamily="18" charset="0"/>
                    <a:sym typeface="Symbol" pitchFamily="18" charset="2"/>
                  </a:rPr>
                  <a:t>–</a:t>
                </a:r>
              </a:p>
            </p:txBody>
          </p:sp>
          <p:sp>
            <p:nvSpPr>
              <p:cNvPr id="103" name="Line 13"/>
              <p:cNvSpPr>
                <a:spLocks noChangeShapeType="1"/>
              </p:cNvSpPr>
              <p:nvPr/>
            </p:nvSpPr>
            <p:spPr bwMode="auto">
              <a:xfrm flipH="1" flipV="1">
                <a:off x="2681240" y="3117925"/>
                <a:ext cx="1276317" cy="3820"/>
              </a:xfrm>
              <a:prstGeom prst="line">
                <a:avLst/>
              </a:prstGeom>
              <a:noFill/>
              <a:ln w="254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04" name="Line 14"/>
              <p:cNvSpPr>
                <a:spLocks noChangeShapeType="1"/>
              </p:cNvSpPr>
              <p:nvPr/>
            </p:nvSpPr>
            <p:spPr bwMode="auto">
              <a:xfrm>
                <a:off x="2674575" y="4147394"/>
                <a:ext cx="2799232" cy="0"/>
              </a:xfrm>
              <a:prstGeom prst="line">
                <a:avLst/>
              </a:prstGeom>
              <a:noFill/>
              <a:ln w="254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05" name="Oval 15"/>
              <p:cNvSpPr>
                <a:spLocks noChangeArrowheads="1"/>
              </p:cNvSpPr>
              <p:nvPr/>
            </p:nvSpPr>
            <p:spPr bwMode="auto">
              <a:xfrm>
                <a:off x="4194159" y="4109194"/>
                <a:ext cx="68315" cy="72579"/>
              </a:xfrm>
              <a:prstGeom prst="ellipse">
                <a:avLst/>
              </a:prstGeom>
              <a:noFill/>
              <a:ln w="381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06" name="Oval 16"/>
              <p:cNvSpPr>
                <a:spLocks noChangeArrowheads="1"/>
              </p:cNvSpPr>
              <p:nvPr/>
            </p:nvSpPr>
            <p:spPr bwMode="auto">
              <a:xfrm>
                <a:off x="4674027" y="3964037"/>
                <a:ext cx="301584" cy="345703"/>
              </a:xfrm>
              <a:prstGeom prst="ellipse">
                <a:avLst/>
              </a:prstGeom>
              <a:noFill/>
              <a:ln w="38100">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07" name="Text Box 17"/>
              <p:cNvSpPr txBox="1">
                <a:spLocks noChangeArrowheads="1"/>
              </p:cNvSpPr>
              <p:nvPr/>
            </p:nvSpPr>
            <p:spPr bwMode="auto">
              <a:xfrm>
                <a:off x="4644008" y="3382368"/>
                <a:ext cx="638158" cy="458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gn="ctr"/>
                <a:r>
                  <a:rPr lang="en-US" altLang="zh-CN" sz="2400" i="1" dirty="0">
                    <a:solidFill>
                      <a:schemeClr val="tx1"/>
                    </a:solidFill>
                  </a:rPr>
                  <a:t>r</a:t>
                </a:r>
                <a:r>
                  <a:rPr lang="en-US" altLang="zh-CN" sz="2400" baseline="-25000" dirty="0">
                    <a:solidFill>
                      <a:schemeClr val="tx1"/>
                    </a:solidFill>
                  </a:rPr>
                  <a:t>e</a:t>
                </a:r>
                <a:endParaRPr lang="en-US" altLang="zh-CN" sz="2400" b="0" dirty="0">
                  <a:solidFill>
                    <a:schemeClr val="tx1"/>
                  </a:solidFill>
                </a:endParaRPr>
              </a:p>
            </p:txBody>
          </p:sp>
          <p:sp>
            <p:nvSpPr>
              <p:cNvPr id="108" name="Text Box 18"/>
              <p:cNvSpPr txBox="1">
                <a:spLocks noChangeArrowheads="1"/>
              </p:cNvSpPr>
              <p:nvPr/>
            </p:nvSpPr>
            <p:spPr bwMode="auto">
              <a:xfrm>
                <a:off x="4195825" y="2772222"/>
                <a:ext cx="634826" cy="909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gn="ctr">
                  <a:lnSpc>
                    <a:spcPct val="80000"/>
                  </a:lnSpc>
                </a:pPr>
                <a:r>
                  <a:rPr lang="en-US" altLang="zh-CN" sz="2400" i="1" dirty="0">
                    <a:solidFill>
                      <a:srgbClr val="FF0066"/>
                    </a:solidFill>
                  </a:rPr>
                  <a:t>+</a:t>
                </a:r>
              </a:p>
              <a:p>
                <a:pPr algn="ctr">
                  <a:lnSpc>
                    <a:spcPct val="80000"/>
                  </a:lnSpc>
                </a:pPr>
                <a:r>
                  <a:rPr lang="en-US" altLang="zh-CN" sz="2400" i="1" dirty="0" err="1">
                    <a:solidFill>
                      <a:srgbClr val="0033CC"/>
                    </a:solidFill>
                  </a:rPr>
                  <a:t>u</a:t>
                </a:r>
                <a:r>
                  <a:rPr lang="en-US" altLang="zh-CN" sz="2400" baseline="-25000" dirty="0" err="1">
                    <a:solidFill>
                      <a:srgbClr val="0033CC"/>
                    </a:solidFill>
                  </a:rPr>
                  <a:t>CE</a:t>
                </a:r>
                <a:endParaRPr lang="en-US" altLang="zh-CN" sz="2400" baseline="-25000" dirty="0">
                  <a:solidFill>
                    <a:srgbClr val="0033CC"/>
                  </a:solidFill>
                </a:endParaRPr>
              </a:p>
              <a:p>
                <a:pPr algn="ctr">
                  <a:lnSpc>
                    <a:spcPct val="80000"/>
                  </a:lnSpc>
                </a:pPr>
                <a:r>
                  <a:rPr lang="en-US" altLang="zh-CN" baseline="-25000" dirty="0">
                    <a:solidFill>
                      <a:srgbClr val="FF3300"/>
                    </a:solidFill>
                    <a:cs typeface="Times New Roman" pitchFamily="18" charset="0"/>
                    <a:sym typeface="Symbol" pitchFamily="18" charset="2"/>
                  </a:rPr>
                  <a:t>–</a:t>
                </a:r>
              </a:p>
            </p:txBody>
          </p:sp>
          <p:sp>
            <p:nvSpPr>
              <p:cNvPr id="109" name="Text Box 19"/>
              <p:cNvSpPr txBox="1">
                <a:spLocks noChangeArrowheads="1"/>
              </p:cNvSpPr>
              <p:nvPr/>
            </p:nvSpPr>
            <p:spPr bwMode="auto">
              <a:xfrm>
                <a:off x="2834532" y="3047256"/>
                <a:ext cx="1701200" cy="859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gn="ctr">
                  <a:lnSpc>
                    <a:spcPct val="80000"/>
                  </a:lnSpc>
                </a:pPr>
                <a:r>
                  <a:rPr lang="en-US" altLang="zh-CN" sz="2400" i="1" dirty="0">
                    <a:solidFill>
                      <a:srgbClr val="FF0066"/>
                    </a:solidFill>
                  </a:rPr>
                  <a:t>+</a:t>
                </a:r>
              </a:p>
              <a:p>
                <a:pPr algn="ctr">
                  <a:lnSpc>
                    <a:spcPct val="60000"/>
                  </a:lnSpc>
                </a:pPr>
                <a:r>
                  <a:rPr lang="en-US" altLang="zh-CN" sz="2400" i="1" dirty="0">
                    <a:solidFill>
                      <a:srgbClr val="FF0066"/>
                    </a:solidFill>
                  </a:rPr>
                  <a:t>      </a:t>
                </a:r>
                <a:r>
                  <a:rPr lang="en-US" altLang="zh-CN" sz="2400" i="1" dirty="0" err="1">
                    <a:solidFill>
                      <a:srgbClr val="0033CC"/>
                    </a:solidFill>
                  </a:rPr>
                  <a:t>u</a:t>
                </a:r>
                <a:r>
                  <a:rPr lang="en-US" altLang="zh-CN" sz="2400" baseline="-25000" dirty="0" err="1">
                    <a:solidFill>
                      <a:srgbClr val="0033CC"/>
                    </a:solidFill>
                  </a:rPr>
                  <a:t>BE</a:t>
                </a:r>
                <a:endParaRPr lang="en-US" altLang="zh-CN" sz="2400" baseline="-25000" dirty="0">
                  <a:solidFill>
                    <a:srgbClr val="0033CC"/>
                  </a:solidFill>
                </a:endParaRPr>
              </a:p>
              <a:p>
                <a:pPr algn="ctr">
                  <a:lnSpc>
                    <a:spcPct val="60000"/>
                  </a:lnSpc>
                </a:pPr>
                <a:r>
                  <a:rPr lang="en-US" altLang="zh-CN" sz="2400" i="1" dirty="0">
                    <a:solidFill>
                      <a:srgbClr val="FF0066"/>
                    </a:solidFill>
                  </a:rPr>
                  <a:t>       </a:t>
                </a:r>
                <a:r>
                  <a:rPr lang="en-US" altLang="zh-CN" i="1" dirty="0">
                    <a:solidFill>
                      <a:srgbClr val="FF0066"/>
                    </a:solidFill>
                  </a:rPr>
                  <a:t> </a:t>
                </a:r>
                <a:r>
                  <a:rPr lang="en-US" altLang="zh-CN" dirty="0">
                    <a:solidFill>
                      <a:srgbClr val="FF0066"/>
                    </a:solidFill>
                    <a:cs typeface="Times New Roman" pitchFamily="18" charset="0"/>
                    <a:sym typeface="Symbol" pitchFamily="18" charset="2"/>
                  </a:rPr>
                  <a:t></a:t>
                </a:r>
                <a:r>
                  <a:rPr lang="en-US" altLang="zh-CN" i="1" dirty="0">
                    <a:solidFill>
                      <a:srgbClr val="FF0066"/>
                    </a:solidFill>
                  </a:rPr>
                  <a:t> </a:t>
                </a:r>
              </a:p>
            </p:txBody>
          </p:sp>
          <p:sp>
            <p:nvSpPr>
              <p:cNvPr id="110" name="Line 20"/>
              <p:cNvSpPr>
                <a:spLocks noChangeShapeType="1"/>
              </p:cNvSpPr>
              <p:nvPr/>
            </p:nvSpPr>
            <p:spPr bwMode="auto">
              <a:xfrm>
                <a:off x="2674575" y="3104555"/>
                <a:ext cx="0" cy="1042839"/>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11" name="Line 21"/>
              <p:cNvSpPr>
                <a:spLocks noChangeShapeType="1"/>
              </p:cNvSpPr>
              <p:nvPr/>
            </p:nvSpPr>
            <p:spPr bwMode="auto">
              <a:xfrm>
                <a:off x="4212487" y="2405509"/>
                <a:ext cx="1279649" cy="0"/>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12" name="Line 22"/>
              <p:cNvSpPr>
                <a:spLocks noChangeShapeType="1"/>
              </p:cNvSpPr>
              <p:nvPr/>
            </p:nvSpPr>
            <p:spPr bwMode="auto">
              <a:xfrm>
                <a:off x="4230815" y="3322290"/>
                <a:ext cx="0" cy="995090"/>
              </a:xfrm>
              <a:prstGeom prst="line">
                <a:avLst/>
              </a:prstGeom>
              <a:noFill/>
              <a:ln w="25400">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13" name="Oval 23"/>
              <p:cNvSpPr>
                <a:spLocks noChangeArrowheads="1"/>
              </p:cNvSpPr>
              <p:nvPr/>
            </p:nvSpPr>
            <p:spPr bwMode="auto">
              <a:xfrm>
                <a:off x="2514619" y="3505647"/>
                <a:ext cx="301584" cy="343793"/>
              </a:xfrm>
              <a:prstGeom prst="ellipse">
                <a:avLst/>
              </a:prstGeom>
              <a:noFill/>
              <a:ln w="38100">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14" name="Rectangle 24"/>
              <p:cNvSpPr>
                <a:spLocks noChangeArrowheads="1"/>
              </p:cNvSpPr>
              <p:nvPr/>
            </p:nvSpPr>
            <p:spPr bwMode="auto">
              <a:xfrm>
                <a:off x="4674027" y="4240982"/>
                <a:ext cx="742092" cy="467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r>
                  <a:rPr lang="en-US" altLang="zh-CN" sz="2400" i="1" dirty="0" smtClean="0">
                    <a:solidFill>
                      <a:srgbClr val="0033CC"/>
                    </a:solidFill>
                  </a:rPr>
                  <a:t>V</a:t>
                </a:r>
                <a:r>
                  <a:rPr lang="en-US" altLang="zh-CN" sz="2400" baseline="-25000" dirty="0" smtClean="0">
                    <a:solidFill>
                      <a:srgbClr val="0033CC"/>
                    </a:solidFill>
                  </a:rPr>
                  <a:t>CC</a:t>
                </a:r>
                <a:endParaRPr lang="en-US" altLang="zh-CN" sz="2400" baseline="-25000" dirty="0">
                  <a:solidFill>
                    <a:srgbClr val="0033CC"/>
                  </a:solidFill>
                </a:endParaRPr>
              </a:p>
            </p:txBody>
          </p:sp>
          <p:sp>
            <p:nvSpPr>
              <p:cNvPr id="115" name="Rectangle 25"/>
              <p:cNvSpPr>
                <a:spLocks noChangeArrowheads="1"/>
              </p:cNvSpPr>
              <p:nvPr/>
            </p:nvSpPr>
            <p:spPr bwMode="auto">
              <a:xfrm>
                <a:off x="3074466" y="4240982"/>
                <a:ext cx="717773" cy="467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r>
                  <a:rPr lang="en-US" altLang="zh-CN" sz="2400" i="1" dirty="0" smtClean="0">
                    <a:solidFill>
                      <a:srgbClr val="0033CC"/>
                    </a:solidFill>
                  </a:rPr>
                  <a:t>V</a:t>
                </a:r>
                <a:r>
                  <a:rPr lang="en-US" altLang="zh-CN" sz="2400" baseline="-25000" dirty="0" smtClean="0">
                    <a:solidFill>
                      <a:srgbClr val="0033CC"/>
                    </a:solidFill>
                  </a:rPr>
                  <a:t>BB</a:t>
                </a:r>
                <a:endParaRPr lang="en-US" altLang="zh-CN" sz="2400" baseline="-25000" dirty="0">
                  <a:solidFill>
                    <a:srgbClr val="0033CC"/>
                  </a:solidFill>
                </a:endParaRPr>
              </a:p>
            </p:txBody>
          </p:sp>
          <p:sp>
            <p:nvSpPr>
              <p:cNvPr id="116" name="Line 26"/>
              <p:cNvSpPr>
                <a:spLocks noChangeShapeType="1"/>
              </p:cNvSpPr>
              <p:nvPr/>
            </p:nvSpPr>
            <p:spPr bwMode="auto">
              <a:xfrm>
                <a:off x="3554334" y="2955578"/>
                <a:ext cx="319912" cy="0"/>
              </a:xfrm>
              <a:prstGeom prst="line">
                <a:avLst/>
              </a:prstGeom>
              <a:noFill/>
              <a:ln w="28575">
                <a:solidFill>
                  <a:srgbClr val="FF0066"/>
                </a:solidFill>
                <a:round/>
                <a:headEnd/>
                <a:tailEnd type="stealth" w="med" len="me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17" name="Line 27"/>
              <p:cNvSpPr>
                <a:spLocks noChangeShapeType="1"/>
              </p:cNvSpPr>
              <p:nvPr/>
            </p:nvSpPr>
            <p:spPr bwMode="auto">
              <a:xfrm flipH="1">
                <a:off x="4434093" y="2267992"/>
                <a:ext cx="319912" cy="0"/>
              </a:xfrm>
              <a:prstGeom prst="line">
                <a:avLst/>
              </a:prstGeom>
              <a:noFill/>
              <a:ln w="28575">
                <a:solidFill>
                  <a:srgbClr val="FF0066"/>
                </a:solidFill>
                <a:round/>
                <a:headEnd/>
                <a:tailEnd type="stealth" w="med" len="me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18" name="Rectangle 28"/>
              <p:cNvSpPr>
                <a:spLocks noChangeArrowheads="1"/>
              </p:cNvSpPr>
              <p:nvPr/>
            </p:nvSpPr>
            <p:spPr bwMode="auto">
              <a:xfrm>
                <a:off x="3394378" y="2405509"/>
                <a:ext cx="639824" cy="458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lang="en-US" altLang="zh-CN" sz="2400" i="1">
                    <a:solidFill>
                      <a:srgbClr val="FF0066"/>
                    </a:solidFill>
                  </a:rPr>
                  <a:t>i</a:t>
                </a:r>
                <a:r>
                  <a:rPr lang="en-US" altLang="zh-CN" sz="2400" baseline="-25000">
                    <a:solidFill>
                      <a:srgbClr val="FF0066"/>
                    </a:solidFill>
                  </a:rPr>
                  <a:t>B</a:t>
                </a:r>
              </a:p>
            </p:txBody>
          </p:sp>
          <p:sp>
            <p:nvSpPr>
              <p:cNvPr id="119" name="Oval 29"/>
              <p:cNvSpPr>
                <a:spLocks noChangeArrowheads="1"/>
              </p:cNvSpPr>
              <p:nvPr/>
            </p:nvSpPr>
            <p:spPr bwMode="auto">
              <a:xfrm>
                <a:off x="3234422" y="3964037"/>
                <a:ext cx="301584" cy="345703"/>
              </a:xfrm>
              <a:prstGeom prst="ellipse">
                <a:avLst/>
              </a:prstGeom>
              <a:noFill/>
              <a:ln w="38100">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20" name="Text Box 30"/>
              <p:cNvSpPr txBox="1">
                <a:spLocks noChangeArrowheads="1"/>
              </p:cNvSpPr>
              <p:nvPr/>
            </p:nvSpPr>
            <p:spPr bwMode="auto">
              <a:xfrm>
                <a:off x="5868144" y="2437979"/>
                <a:ext cx="631493" cy="157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gn="ctr">
                  <a:lnSpc>
                    <a:spcPct val="80000"/>
                  </a:lnSpc>
                </a:pPr>
                <a:r>
                  <a:rPr lang="en-US" altLang="zh-CN" dirty="0">
                    <a:solidFill>
                      <a:srgbClr val="FF0066"/>
                    </a:solidFill>
                    <a:latin typeface="宋体" pitchFamily="2" charset="-122"/>
                    <a:sym typeface="Symbol" pitchFamily="18" charset="2"/>
                  </a:rPr>
                  <a:t>–</a:t>
                </a:r>
                <a:endParaRPr lang="en-US" altLang="zh-CN" sz="2400" i="1" dirty="0">
                  <a:solidFill>
                    <a:srgbClr val="FF0066"/>
                  </a:solidFill>
                </a:endParaRPr>
              </a:p>
              <a:p>
                <a:pPr algn="ctr">
                  <a:lnSpc>
                    <a:spcPct val="80000"/>
                  </a:lnSpc>
                </a:pPr>
                <a:endParaRPr lang="en-US" altLang="zh-CN" baseline="-25000" dirty="0">
                  <a:solidFill>
                    <a:srgbClr val="FF0066"/>
                  </a:solidFill>
                  <a:cs typeface="Times New Roman" pitchFamily="18" charset="0"/>
                  <a:sym typeface="Symbol" pitchFamily="18" charset="2"/>
                </a:endParaRPr>
              </a:p>
              <a:p>
                <a:pPr algn="ctr">
                  <a:lnSpc>
                    <a:spcPct val="80000"/>
                  </a:lnSpc>
                </a:pPr>
                <a:r>
                  <a:rPr lang="en-US" altLang="zh-CN" i="1" dirty="0" err="1">
                    <a:solidFill>
                      <a:srgbClr val="FF0066"/>
                    </a:solidFill>
                    <a:cs typeface="Times New Roman" pitchFamily="18" charset="0"/>
                    <a:sym typeface="Symbol" pitchFamily="18" charset="2"/>
                  </a:rPr>
                  <a:t>u</a:t>
                </a:r>
                <a:r>
                  <a:rPr lang="en-US" altLang="zh-CN" baseline="-25000" dirty="0" err="1">
                    <a:solidFill>
                      <a:srgbClr val="FF0066"/>
                    </a:solidFill>
                    <a:cs typeface="Times New Roman" pitchFamily="18" charset="0"/>
                    <a:sym typeface="Symbol" pitchFamily="18" charset="2"/>
                  </a:rPr>
                  <a:t>c</a:t>
                </a:r>
                <a:endParaRPr lang="en-US" altLang="zh-CN" baseline="-25000" dirty="0">
                  <a:solidFill>
                    <a:srgbClr val="FF0066"/>
                  </a:solidFill>
                  <a:cs typeface="Times New Roman" pitchFamily="18" charset="0"/>
                  <a:sym typeface="Symbol" pitchFamily="18" charset="2"/>
                </a:endParaRPr>
              </a:p>
              <a:p>
                <a:pPr algn="ctr">
                  <a:lnSpc>
                    <a:spcPct val="80000"/>
                  </a:lnSpc>
                </a:pPr>
                <a:endParaRPr lang="en-US" altLang="zh-CN" baseline="-25000" dirty="0">
                  <a:solidFill>
                    <a:srgbClr val="FF0066"/>
                  </a:solidFill>
                  <a:cs typeface="Times New Roman" pitchFamily="18" charset="0"/>
                  <a:sym typeface="Symbol" pitchFamily="18" charset="2"/>
                </a:endParaRPr>
              </a:p>
              <a:p>
                <a:pPr algn="ctr">
                  <a:lnSpc>
                    <a:spcPct val="80000"/>
                  </a:lnSpc>
                </a:pPr>
                <a:r>
                  <a:rPr lang="en-US" altLang="zh-CN" i="1" dirty="0">
                    <a:solidFill>
                      <a:srgbClr val="FF0066"/>
                    </a:solidFill>
                  </a:rPr>
                  <a:t>+</a:t>
                </a:r>
              </a:p>
            </p:txBody>
          </p:sp>
          <p:sp>
            <p:nvSpPr>
              <p:cNvPr id="121" name="Text Box 31"/>
              <p:cNvSpPr txBox="1">
                <a:spLocks noChangeArrowheads="1"/>
              </p:cNvSpPr>
              <p:nvPr/>
            </p:nvSpPr>
            <p:spPr bwMode="auto">
              <a:xfrm>
                <a:off x="2780772" y="4038130"/>
                <a:ext cx="1279649" cy="67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nSpc>
                    <a:spcPct val="80000"/>
                  </a:lnSpc>
                </a:pPr>
                <a:r>
                  <a:rPr lang="en-US" altLang="zh-CN" sz="2400" i="1" dirty="0">
                    <a:solidFill>
                      <a:srgbClr val="0033CC"/>
                    </a:solidFill>
                  </a:rPr>
                  <a:t>+  </a:t>
                </a:r>
                <a:r>
                  <a:rPr lang="en-US" altLang="zh-CN" sz="2400" i="1" dirty="0" smtClean="0">
                    <a:solidFill>
                      <a:srgbClr val="0033CC"/>
                    </a:solidFill>
                  </a:rPr>
                  <a:t>     </a:t>
                </a:r>
                <a:r>
                  <a:rPr lang="en-US" altLang="zh-CN" dirty="0" smtClean="0">
                    <a:solidFill>
                      <a:srgbClr val="0033CC"/>
                    </a:solidFill>
                    <a:cs typeface="Times New Roman" pitchFamily="18" charset="0"/>
                    <a:sym typeface="Symbol" pitchFamily="18" charset="2"/>
                  </a:rPr>
                  <a:t>–</a:t>
                </a:r>
                <a:endParaRPr lang="en-US" altLang="zh-CN" sz="2400" i="1" dirty="0" smtClean="0">
                  <a:solidFill>
                    <a:srgbClr val="0033CC"/>
                  </a:solidFill>
                </a:endParaRPr>
              </a:p>
              <a:p>
                <a:pPr algn="ctr">
                  <a:lnSpc>
                    <a:spcPct val="80000"/>
                  </a:lnSpc>
                </a:pPr>
                <a:endParaRPr lang="zh-CN" altLang="en-US" baseline="-25000" dirty="0">
                  <a:solidFill>
                    <a:srgbClr val="0033CC"/>
                  </a:solidFill>
                  <a:sym typeface="Symbol" pitchFamily="18" charset="2"/>
                </a:endParaRPr>
              </a:p>
            </p:txBody>
          </p:sp>
          <p:sp>
            <p:nvSpPr>
              <p:cNvPr id="122" name="Text Box 32"/>
              <p:cNvSpPr txBox="1">
                <a:spLocks noChangeArrowheads="1"/>
              </p:cNvSpPr>
              <p:nvPr/>
            </p:nvSpPr>
            <p:spPr bwMode="auto">
              <a:xfrm>
                <a:off x="4392772" y="4057124"/>
                <a:ext cx="1279649" cy="66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nSpc>
                    <a:spcPct val="80000"/>
                  </a:lnSpc>
                </a:pPr>
                <a:r>
                  <a:rPr lang="en-US" altLang="zh-CN" dirty="0">
                    <a:solidFill>
                      <a:srgbClr val="0033CC"/>
                    </a:solidFill>
                    <a:cs typeface="Times New Roman" pitchFamily="18" charset="0"/>
                    <a:sym typeface="Symbol" pitchFamily="18" charset="2"/>
                  </a:rPr>
                  <a:t>–      </a:t>
                </a:r>
                <a:r>
                  <a:rPr lang="en-US" altLang="zh-CN" sz="2400" i="1" dirty="0">
                    <a:solidFill>
                      <a:srgbClr val="0033CC"/>
                    </a:solidFill>
                    <a:cs typeface="Times New Roman" pitchFamily="18" charset="0"/>
                  </a:rPr>
                  <a:t>+</a:t>
                </a:r>
              </a:p>
              <a:p>
                <a:pPr algn="ctr">
                  <a:lnSpc>
                    <a:spcPct val="80000"/>
                  </a:lnSpc>
                </a:pPr>
                <a:endParaRPr lang="zh-CN" altLang="en-US" baseline="-25000" dirty="0">
                  <a:solidFill>
                    <a:srgbClr val="0033CC"/>
                  </a:solidFill>
                  <a:cs typeface="Times New Roman" pitchFamily="18" charset="0"/>
                  <a:sym typeface="Symbol" pitchFamily="18" charset="2"/>
                </a:endParaRPr>
              </a:p>
            </p:txBody>
          </p:sp>
          <p:grpSp>
            <p:nvGrpSpPr>
              <p:cNvPr id="123" name="Group 33"/>
              <p:cNvGrpSpPr>
                <a:grpSpLocks/>
              </p:cNvGrpSpPr>
              <p:nvPr/>
            </p:nvGrpSpPr>
            <p:grpSpPr bwMode="auto">
              <a:xfrm>
                <a:off x="5168419" y="2567856"/>
                <a:ext cx="103305" cy="897682"/>
                <a:chOff x="3312" y="2016"/>
                <a:chExt cx="76" cy="695"/>
              </a:xfrm>
            </p:grpSpPr>
            <p:sp>
              <p:nvSpPr>
                <p:cNvPr id="136" name="Arc 34"/>
                <p:cNvSpPr>
                  <a:spLocks/>
                </p:cNvSpPr>
                <p:nvPr/>
              </p:nvSpPr>
              <p:spPr bwMode="auto">
                <a:xfrm>
                  <a:off x="3312" y="2160"/>
                  <a:ext cx="76" cy="98"/>
                </a:xfrm>
                <a:custGeom>
                  <a:avLst/>
                  <a:gdLst>
                    <a:gd name="G0" fmla="+- 2243 0 0"/>
                    <a:gd name="G1" fmla="+- 21600 0 0"/>
                    <a:gd name="G2" fmla="+- 21600 0 0"/>
                    <a:gd name="T0" fmla="*/ 2243 w 23843"/>
                    <a:gd name="T1" fmla="*/ 0 h 43200"/>
                    <a:gd name="T2" fmla="*/ 0 w 23843"/>
                    <a:gd name="T3" fmla="*/ 43083 h 43200"/>
                    <a:gd name="T4" fmla="*/ 2243 w 23843"/>
                    <a:gd name="T5" fmla="*/ 21600 h 43200"/>
                  </a:gdLst>
                  <a:ahLst/>
                  <a:cxnLst>
                    <a:cxn ang="0">
                      <a:pos x="T0" y="T1"/>
                    </a:cxn>
                    <a:cxn ang="0">
                      <a:pos x="T2" y="T3"/>
                    </a:cxn>
                    <a:cxn ang="0">
                      <a:pos x="T4" y="T5"/>
                    </a:cxn>
                  </a:cxnLst>
                  <a:rect l="0" t="0" r="r" b="b"/>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close/>
                    </a:path>
                  </a:pathLst>
                </a:cu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37" name="Arc 35"/>
                <p:cNvSpPr>
                  <a:spLocks/>
                </p:cNvSpPr>
                <p:nvPr/>
              </p:nvSpPr>
              <p:spPr bwMode="auto">
                <a:xfrm>
                  <a:off x="3322" y="2355"/>
                  <a:ext cx="62" cy="96"/>
                </a:xfrm>
                <a:custGeom>
                  <a:avLst/>
                  <a:gdLst>
                    <a:gd name="G0" fmla="+- 2243 0 0"/>
                    <a:gd name="G1" fmla="+- 21600 0 0"/>
                    <a:gd name="G2" fmla="+- 21600 0 0"/>
                    <a:gd name="T0" fmla="*/ 2243 w 23843"/>
                    <a:gd name="T1" fmla="*/ 0 h 43200"/>
                    <a:gd name="T2" fmla="*/ 0 w 23843"/>
                    <a:gd name="T3" fmla="*/ 43083 h 43200"/>
                    <a:gd name="T4" fmla="*/ 2243 w 23843"/>
                    <a:gd name="T5" fmla="*/ 21600 h 43200"/>
                  </a:gdLst>
                  <a:ahLst/>
                  <a:cxnLst>
                    <a:cxn ang="0">
                      <a:pos x="T0" y="T1"/>
                    </a:cxn>
                    <a:cxn ang="0">
                      <a:pos x="T2" y="T3"/>
                    </a:cxn>
                    <a:cxn ang="0">
                      <a:pos x="T4" y="T5"/>
                    </a:cxn>
                  </a:cxnLst>
                  <a:rect l="0" t="0" r="r" b="b"/>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close/>
                    </a:path>
                  </a:pathLst>
                </a:cu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38" name="Arc 36"/>
                <p:cNvSpPr>
                  <a:spLocks/>
                </p:cNvSpPr>
                <p:nvPr/>
              </p:nvSpPr>
              <p:spPr bwMode="auto">
                <a:xfrm>
                  <a:off x="3328" y="2252"/>
                  <a:ext cx="60" cy="98"/>
                </a:xfrm>
                <a:custGeom>
                  <a:avLst/>
                  <a:gdLst>
                    <a:gd name="G0" fmla="+- 2243 0 0"/>
                    <a:gd name="G1" fmla="+- 21600 0 0"/>
                    <a:gd name="G2" fmla="+- 21600 0 0"/>
                    <a:gd name="T0" fmla="*/ 2243 w 23843"/>
                    <a:gd name="T1" fmla="*/ 0 h 43200"/>
                    <a:gd name="T2" fmla="*/ 0 w 23843"/>
                    <a:gd name="T3" fmla="*/ 43083 h 43200"/>
                    <a:gd name="T4" fmla="*/ 2243 w 23843"/>
                    <a:gd name="T5" fmla="*/ 21600 h 43200"/>
                  </a:gdLst>
                  <a:ahLst/>
                  <a:cxnLst>
                    <a:cxn ang="0">
                      <a:pos x="T0" y="T1"/>
                    </a:cxn>
                    <a:cxn ang="0">
                      <a:pos x="T2" y="T3"/>
                    </a:cxn>
                    <a:cxn ang="0">
                      <a:pos x="T4" y="T5"/>
                    </a:cxn>
                  </a:cxnLst>
                  <a:rect l="0" t="0" r="r" b="b"/>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close/>
                    </a:path>
                  </a:pathLst>
                </a:cu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39" name="Arc 37"/>
                <p:cNvSpPr>
                  <a:spLocks/>
                </p:cNvSpPr>
                <p:nvPr/>
              </p:nvSpPr>
              <p:spPr bwMode="auto">
                <a:xfrm>
                  <a:off x="3312" y="2456"/>
                  <a:ext cx="60" cy="97"/>
                </a:xfrm>
                <a:custGeom>
                  <a:avLst/>
                  <a:gdLst>
                    <a:gd name="G0" fmla="+- 2243 0 0"/>
                    <a:gd name="G1" fmla="+- 21600 0 0"/>
                    <a:gd name="G2" fmla="+- 21600 0 0"/>
                    <a:gd name="T0" fmla="*/ 2243 w 23843"/>
                    <a:gd name="T1" fmla="*/ 0 h 43200"/>
                    <a:gd name="T2" fmla="*/ 0 w 23843"/>
                    <a:gd name="T3" fmla="*/ 43083 h 43200"/>
                    <a:gd name="T4" fmla="*/ 2243 w 23843"/>
                    <a:gd name="T5" fmla="*/ 21600 h 43200"/>
                  </a:gdLst>
                  <a:ahLst/>
                  <a:cxnLst>
                    <a:cxn ang="0">
                      <a:pos x="T0" y="T1"/>
                    </a:cxn>
                    <a:cxn ang="0">
                      <a:pos x="T2" y="T3"/>
                    </a:cxn>
                    <a:cxn ang="0">
                      <a:pos x="T4" y="T5"/>
                    </a:cxn>
                  </a:cxnLst>
                  <a:rect l="0" t="0" r="r" b="b"/>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close/>
                    </a:path>
                  </a:pathLst>
                </a:cu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40" name="Line 38"/>
                <p:cNvSpPr>
                  <a:spLocks noChangeShapeType="1"/>
                </p:cNvSpPr>
                <p:nvPr/>
              </p:nvSpPr>
              <p:spPr bwMode="auto">
                <a:xfrm flipH="1" flipV="1">
                  <a:off x="3312" y="2016"/>
                  <a:ext cx="0" cy="144"/>
                </a:xfrm>
                <a:prstGeom prst="line">
                  <a:avLst/>
                </a:pr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41" name="Line 39"/>
                <p:cNvSpPr>
                  <a:spLocks noChangeShapeType="1"/>
                </p:cNvSpPr>
                <p:nvPr/>
              </p:nvSpPr>
              <p:spPr bwMode="auto">
                <a:xfrm>
                  <a:off x="3312" y="2542"/>
                  <a:ext cx="0" cy="166"/>
                </a:xfrm>
                <a:prstGeom prst="line">
                  <a:avLst/>
                </a:pr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grpSp>
          <p:sp>
            <p:nvSpPr>
              <p:cNvPr id="124" name="Line 40"/>
              <p:cNvSpPr>
                <a:spLocks noChangeShapeType="1"/>
              </p:cNvSpPr>
              <p:nvPr/>
            </p:nvSpPr>
            <p:spPr bwMode="auto">
              <a:xfrm flipV="1">
                <a:off x="5157227" y="2558455"/>
                <a:ext cx="675093" cy="0"/>
              </a:xfrm>
              <a:prstGeom prst="line">
                <a:avLst/>
              </a:pr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25" name="Rectangle 41"/>
              <p:cNvSpPr>
                <a:spLocks noChangeArrowheads="1"/>
              </p:cNvSpPr>
              <p:nvPr/>
            </p:nvSpPr>
            <p:spPr bwMode="auto">
              <a:xfrm>
                <a:off x="5103437" y="3465538"/>
                <a:ext cx="129964" cy="276944"/>
              </a:xfrm>
              <a:prstGeom prst="rect">
                <a:avLst/>
              </a:prstGeom>
              <a:noFill/>
              <a:ln w="38100">
                <a:solidFill>
                  <a:schemeClr val="tx1"/>
                </a:solidFill>
                <a:miter lim="800000"/>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26" name="Line 43"/>
              <p:cNvSpPr>
                <a:spLocks noChangeShapeType="1"/>
              </p:cNvSpPr>
              <p:nvPr/>
            </p:nvSpPr>
            <p:spPr bwMode="auto">
              <a:xfrm>
                <a:off x="5696802" y="3287192"/>
                <a:ext cx="259929" cy="0"/>
              </a:xfrm>
              <a:prstGeom prst="line">
                <a:avLst/>
              </a:prstGeom>
              <a:noFill/>
              <a:ln w="38100">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27" name="Line 44"/>
              <p:cNvSpPr>
                <a:spLocks noChangeShapeType="1"/>
              </p:cNvSpPr>
              <p:nvPr/>
            </p:nvSpPr>
            <p:spPr bwMode="auto">
              <a:xfrm flipH="1">
                <a:off x="5828749" y="2558454"/>
                <a:ext cx="3572" cy="630139"/>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28" name="Line 45"/>
              <p:cNvSpPr>
                <a:spLocks noChangeShapeType="1"/>
              </p:cNvSpPr>
              <p:nvPr/>
            </p:nvSpPr>
            <p:spPr bwMode="auto">
              <a:xfrm>
                <a:off x="5199716" y="3763491"/>
                <a:ext cx="0" cy="206276"/>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29" name="Line 49"/>
              <p:cNvSpPr>
                <a:spLocks noChangeShapeType="1"/>
              </p:cNvSpPr>
              <p:nvPr/>
            </p:nvSpPr>
            <p:spPr bwMode="auto">
              <a:xfrm>
                <a:off x="5492136" y="2401688"/>
                <a:ext cx="3332" cy="167085"/>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30" name="Line 50"/>
              <p:cNvSpPr>
                <a:spLocks noChangeShapeType="1"/>
              </p:cNvSpPr>
              <p:nvPr/>
            </p:nvSpPr>
            <p:spPr bwMode="auto">
              <a:xfrm>
                <a:off x="5465477" y="3946848"/>
                <a:ext cx="0" cy="202456"/>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31" name="Rectangle 51"/>
              <p:cNvSpPr>
                <a:spLocks noChangeArrowheads="1"/>
              </p:cNvSpPr>
              <p:nvPr/>
            </p:nvSpPr>
            <p:spPr bwMode="auto">
              <a:xfrm>
                <a:off x="4798520" y="2707729"/>
                <a:ext cx="369899" cy="45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lang="en-US" altLang="zh-CN" sz="2400" i="1" dirty="0">
                    <a:solidFill>
                      <a:schemeClr val="tx1"/>
                    </a:solidFill>
                  </a:rPr>
                  <a:t>L</a:t>
                </a:r>
              </a:p>
            </p:txBody>
          </p:sp>
          <p:sp>
            <p:nvSpPr>
              <p:cNvPr id="132" name="Rectangle 52"/>
              <p:cNvSpPr>
                <a:spLocks noChangeArrowheads="1"/>
              </p:cNvSpPr>
              <p:nvPr/>
            </p:nvSpPr>
            <p:spPr bwMode="auto">
              <a:xfrm>
                <a:off x="5250263" y="3071462"/>
                <a:ext cx="386561" cy="45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lang="en-US" altLang="zh-CN" sz="2400" i="1" dirty="0">
                    <a:solidFill>
                      <a:schemeClr val="tx1"/>
                    </a:solidFill>
                  </a:rPr>
                  <a:t>C</a:t>
                </a:r>
              </a:p>
            </p:txBody>
          </p:sp>
          <p:sp>
            <p:nvSpPr>
              <p:cNvPr id="133" name="Line 44"/>
              <p:cNvSpPr>
                <a:spLocks noChangeShapeType="1"/>
              </p:cNvSpPr>
              <p:nvPr/>
            </p:nvSpPr>
            <p:spPr bwMode="auto">
              <a:xfrm>
                <a:off x="5832321" y="3293775"/>
                <a:ext cx="0" cy="653073"/>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34" name="Line 40"/>
              <p:cNvSpPr>
                <a:spLocks noChangeShapeType="1"/>
              </p:cNvSpPr>
              <p:nvPr/>
            </p:nvSpPr>
            <p:spPr bwMode="auto">
              <a:xfrm flipV="1">
                <a:off x="5180553" y="3964037"/>
                <a:ext cx="651767" cy="0"/>
              </a:xfrm>
              <a:prstGeom prst="line">
                <a:avLst/>
              </a:pr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135" name="Line 43"/>
              <p:cNvSpPr>
                <a:spLocks noChangeShapeType="1"/>
              </p:cNvSpPr>
              <p:nvPr/>
            </p:nvSpPr>
            <p:spPr bwMode="auto">
              <a:xfrm>
                <a:off x="5696802" y="3198817"/>
                <a:ext cx="259929" cy="0"/>
              </a:xfrm>
              <a:prstGeom prst="line">
                <a:avLst/>
              </a:prstGeom>
              <a:noFill/>
              <a:ln w="38100">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grpSp>
        <p:grpSp>
          <p:nvGrpSpPr>
            <p:cNvPr id="81" name="组合 80"/>
            <p:cNvGrpSpPr/>
            <p:nvPr/>
          </p:nvGrpSpPr>
          <p:grpSpPr>
            <a:xfrm>
              <a:off x="4651280" y="4356610"/>
              <a:ext cx="866447" cy="543826"/>
              <a:chOff x="-812538" y="4730645"/>
              <a:chExt cx="986073" cy="543826"/>
            </a:xfrm>
          </p:grpSpPr>
          <p:grpSp>
            <p:nvGrpSpPr>
              <p:cNvPr id="90" name="组合 89"/>
              <p:cNvGrpSpPr/>
              <p:nvPr/>
            </p:nvGrpSpPr>
            <p:grpSpPr>
              <a:xfrm>
                <a:off x="-575103" y="4730645"/>
                <a:ext cx="575103" cy="543826"/>
                <a:chOff x="-1044624" y="4227651"/>
                <a:chExt cx="648072" cy="582865"/>
              </a:xfrm>
            </p:grpSpPr>
            <p:sp>
              <p:nvSpPr>
                <p:cNvPr id="93" name="矩形 92"/>
                <p:cNvSpPr/>
                <p:nvPr/>
              </p:nvSpPr>
              <p:spPr bwMode="auto">
                <a:xfrm>
                  <a:off x="-1044624" y="4227651"/>
                  <a:ext cx="648072" cy="582865"/>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隶书" pitchFamily="49" charset="-122"/>
                  </a:endParaRPr>
                </a:p>
              </p:txBody>
            </p:sp>
            <p:cxnSp>
              <p:nvCxnSpPr>
                <p:cNvPr id="94" name="直接连接符 93"/>
                <p:cNvCxnSpPr/>
                <p:nvPr/>
              </p:nvCxnSpPr>
              <p:spPr bwMode="auto">
                <a:xfrm>
                  <a:off x="-684584" y="4260120"/>
                  <a:ext cx="0" cy="421502"/>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95" name="直接连接符 94"/>
                <p:cNvCxnSpPr/>
                <p:nvPr/>
              </p:nvCxnSpPr>
              <p:spPr bwMode="auto">
                <a:xfrm>
                  <a:off x="-828600" y="4365104"/>
                  <a:ext cx="0" cy="254329"/>
                </a:xfrm>
                <a:prstGeom prst="line">
                  <a:avLst/>
                </a:prstGeom>
                <a:solidFill>
                  <a:schemeClr val="accent1"/>
                </a:solidFill>
                <a:ln w="9525" cap="flat" cmpd="sng" algn="ctr">
                  <a:solidFill>
                    <a:schemeClr val="tx1"/>
                  </a:solidFill>
                  <a:prstDash val="solid"/>
                  <a:round/>
                  <a:headEnd type="none" w="med" len="med"/>
                  <a:tailEnd type="none" w="med" len="med"/>
                </a:ln>
              </p:spPr>
            </p:cxnSp>
          </p:grpSp>
          <p:cxnSp>
            <p:nvCxnSpPr>
              <p:cNvPr id="91" name="直接连接符 90"/>
              <p:cNvCxnSpPr/>
              <p:nvPr/>
            </p:nvCxnSpPr>
            <p:spPr bwMode="auto">
              <a:xfrm flipH="1">
                <a:off x="-255601" y="4987278"/>
                <a:ext cx="429136" cy="0"/>
              </a:xfrm>
              <a:prstGeom prst="line">
                <a:avLst/>
              </a:prstGeom>
              <a:solidFill>
                <a:schemeClr val="accent1"/>
              </a:solidFill>
              <a:ln w="28575" cap="flat" cmpd="sng" algn="ctr">
                <a:solidFill>
                  <a:schemeClr val="tx1"/>
                </a:solidFill>
                <a:prstDash val="solid"/>
                <a:round/>
                <a:headEnd type="none" w="med" len="med"/>
                <a:tailEnd type="none" w="med" len="med"/>
              </a:ln>
            </p:spPr>
          </p:cxnSp>
          <p:cxnSp>
            <p:nvCxnSpPr>
              <p:cNvPr id="92" name="直接连接符 91"/>
              <p:cNvCxnSpPr/>
              <p:nvPr/>
            </p:nvCxnSpPr>
            <p:spPr bwMode="auto">
              <a:xfrm flipH="1">
                <a:off x="-812538" y="4989390"/>
                <a:ext cx="429136" cy="0"/>
              </a:xfrm>
              <a:prstGeom prst="line">
                <a:avLst/>
              </a:prstGeom>
              <a:solidFill>
                <a:schemeClr val="accent1"/>
              </a:solidFill>
              <a:ln w="28575" cap="flat" cmpd="sng" algn="ctr">
                <a:solidFill>
                  <a:schemeClr val="tx1"/>
                </a:solidFill>
                <a:prstDash val="solid"/>
                <a:round/>
                <a:headEnd type="none" w="med" len="med"/>
                <a:tailEnd type="none" w="med" len="med"/>
              </a:ln>
            </p:spPr>
          </p:cxnSp>
        </p:grpSp>
        <p:grpSp>
          <p:nvGrpSpPr>
            <p:cNvPr id="82" name="组合 81"/>
            <p:cNvGrpSpPr/>
            <p:nvPr/>
          </p:nvGrpSpPr>
          <p:grpSpPr>
            <a:xfrm>
              <a:off x="3002906" y="4356611"/>
              <a:ext cx="986073" cy="543825"/>
              <a:chOff x="-812538" y="4730646"/>
              <a:chExt cx="986073" cy="543825"/>
            </a:xfrm>
          </p:grpSpPr>
          <p:grpSp>
            <p:nvGrpSpPr>
              <p:cNvPr id="84" name="组合 83"/>
              <p:cNvGrpSpPr/>
              <p:nvPr/>
            </p:nvGrpSpPr>
            <p:grpSpPr>
              <a:xfrm>
                <a:off x="-575103" y="4730646"/>
                <a:ext cx="575103" cy="543825"/>
                <a:chOff x="-1044624" y="4227652"/>
                <a:chExt cx="648072" cy="582864"/>
              </a:xfrm>
            </p:grpSpPr>
            <p:sp>
              <p:nvSpPr>
                <p:cNvPr id="87" name="矩形 86"/>
                <p:cNvSpPr/>
                <p:nvPr/>
              </p:nvSpPr>
              <p:spPr bwMode="auto">
                <a:xfrm>
                  <a:off x="-1044624" y="4227652"/>
                  <a:ext cx="648072" cy="582864"/>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隶书" pitchFamily="49" charset="-122"/>
                  </a:endParaRPr>
                </a:p>
              </p:txBody>
            </p:sp>
            <p:cxnSp>
              <p:nvCxnSpPr>
                <p:cNvPr id="88" name="直接连接符 87"/>
                <p:cNvCxnSpPr/>
                <p:nvPr/>
              </p:nvCxnSpPr>
              <p:spPr bwMode="auto">
                <a:xfrm>
                  <a:off x="-828600" y="4260120"/>
                  <a:ext cx="0" cy="421502"/>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89" name="直接连接符 88"/>
                <p:cNvCxnSpPr/>
                <p:nvPr/>
              </p:nvCxnSpPr>
              <p:spPr bwMode="auto">
                <a:xfrm>
                  <a:off x="-684584" y="4365104"/>
                  <a:ext cx="0" cy="254330"/>
                </a:xfrm>
                <a:prstGeom prst="line">
                  <a:avLst/>
                </a:prstGeom>
                <a:solidFill>
                  <a:schemeClr val="accent1"/>
                </a:solidFill>
                <a:ln w="9525" cap="flat" cmpd="sng" algn="ctr">
                  <a:solidFill>
                    <a:schemeClr val="tx1"/>
                  </a:solidFill>
                  <a:prstDash val="solid"/>
                  <a:round/>
                  <a:headEnd type="none" w="med" len="med"/>
                  <a:tailEnd type="none" w="med" len="med"/>
                </a:ln>
              </p:spPr>
            </p:cxnSp>
          </p:grpSp>
          <p:cxnSp>
            <p:nvCxnSpPr>
              <p:cNvPr id="85" name="直接连接符 84"/>
              <p:cNvCxnSpPr/>
              <p:nvPr/>
            </p:nvCxnSpPr>
            <p:spPr bwMode="auto">
              <a:xfrm flipH="1">
                <a:off x="-255601" y="4987278"/>
                <a:ext cx="429136" cy="0"/>
              </a:xfrm>
              <a:prstGeom prst="line">
                <a:avLst/>
              </a:prstGeom>
              <a:solidFill>
                <a:schemeClr val="accent1"/>
              </a:solidFill>
              <a:ln w="28575" cap="flat" cmpd="sng" algn="ctr">
                <a:solidFill>
                  <a:schemeClr val="tx1"/>
                </a:solidFill>
                <a:prstDash val="solid"/>
                <a:round/>
                <a:headEnd type="none" w="med" len="med"/>
                <a:tailEnd type="none" w="med" len="med"/>
              </a:ln>
            </p:spPr>
          </p:cxnSp>
          <p:cxnSp>
            <p:nvCxnSpPr>
              <p:cNvPr id="86" name="直接连接符 85"/>
              <p:cNvCxnSpPr/>
              <p:nvPr/>
            </p:nvCxnSpPr>
            <p:spPr bwMode="auto">
              <a:xfrm flipH="1">
                <a:off x="-812538" y="4989390"/>
                <a:ext cx="429136" cy="0"/>
              </a:xfrm>
              <a:prstGeom prst="line">
                <a:avLst/>
              </a:prstGeom>
              <a:solidFill>
                <a:schemeClr val="accent1"/>
              </a:solidFill>
              <a:ln w="28575" cap="flat" cmpd="sng" algn="ctr">
                <a:solidFill>
                  <a:schemeClr val="tx1"/>
                </a:solidFill>
                <a:prstDash val="solid"/>
                <a:round/>
                <a:headEnd type="none" w="med" len="med"/>
                <a:tailEnd type="none" w="med" len="med"/>
              </a:ln>
            </p:spPr>
          </p:cxnSp>
        </p:grpSp>
      </p:grpSp>
      <p:graphicFrame>
        <p:nvGraphicFramePr>
          <p:cNvPr id="2" name="对象 1"/>
          <p:cNvGraphicFramePr>
            <a:graphicFrameLocks/>
          </p:cNvGraphicFramePr>
          <p:nvPr>
            <p:extLst>
              <p:ext uri="{D42A27DB-BD31-4B8C-83A1-F6EECF244321}">
                <p14:modId xmlns:p14="http://schemas.microsoft.com/office/powerpoint/2010/main" val="729727841"/>
              </p:ext>
            </p:extLst>
          </p:nvPr>
        </p:nvGraphicFramePr>
        <p:xfrm>
          <a:off x="636017" y="1772816"/>
          <a:ext cx="3863975" cy="431800"/>
        </p:xfrm>
        <a:graphic>
          <a:graphicData uri="http://schemas.openxmlformats.org/presentationml/2006/ole">
            <mc:AlternateContent xmlns:mc="http://schemas.openxmlformats.org/markup-compatibility/2006">
              <mc:Choice xmlns:v="urn:schemas-microsoft-com:vml" Requires="v">
                <p:oleObj spid="_x0000_s62307" name="Equation" r:id="rId14" imgW="2019240" imgH="228600" progId="Equation.DSMT4">
                  <p:embed/>
                </p:oleObj>
              </mc:Choice>
              <mc:Fallback>
                <p:oleObj name="Equation" r:id="rId14" imgW="2019240" imgH="228600" progId="Equation.DSMT4">
                  <p:embed/>
                  <p:pic>
                    <p:nvPicPr>
                      <p:cNvPr id="0" name="对象 6"/>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6017" y="1772816"/>
                        <a:ext cx="38639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4194689089"/>
              </p:ext>
            </p:extLst>
          </p:nvPr>
        </p:nvGraphicFramePr>
        <p:xfrm>
          <a:off x="683569" y="2325684"/>
          <a:ext cx="2736304" cy="452470"/>
        </p:xfrm>
        <a:graphic>
          <a:graphicData uri="http://schemas.openxmlformats.org/presentationml/2006/ole">
            <mc:AlternateContent xmlns:mc="http://schemas.openxmlformats.org/markup-compatibility/2006">
              <mc:Choice xmlns:v="urn:schemas-microsoft-com:vml" Requires="v">
                <p:oleObj spid="_x0000_s62308" name="Equation" r:id="rId16" imgW="1447560" imgH="228600" progId="Equation.DSMT4">
                  <p:embed/>
                </p:oleObj>
              </mc:Choice>
              <mc:Fallback>
                <p:oleObj name="Equation" r:id="rId16" imgW="1447560" imgH="228600" progId="Equation.DSMT4">
                  <p:embed/>
                  <p:pic>
                    <p:nvPicPr>
                      <p:cNvPr id="0" name="对象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3569" y="2325684"/>
                        <a:ext cx="2736304" cy="452470"/>
                      </a:xfrm>
                      <a:prstGeom prst="rect">
                        <a:avLst/>
                      </a:prstGeom>
                      <a:noFill/>
                      <a:ln>
                        <a:noFill/>
                      </a:ln>
                    </p:spPr>
                  </p:pic>
                </p:oleObj>
              </mc:Fallback>
            </mc:AlternateContent>
          </a:graphicData>
        </a:graphic>
      </p:graphicFrame>
      <p:sp>
        <p:nvSpPr>
          <p:cNvPr id="143" name="TextBox 142"/>
          <p:cNvSpPr txBox="1"/>
          <p:nvPr/>
        </p:nvSpPr>
        <p:spPr>
          <a:xfrm>
            <a:off x="1187624" y="2380818"/>
            <a:ext cx="930255" cy="400110"/>
          </a:xfrm>
          <a:prstGeom prst="rect">
            <a:avLst/>
          </a:prstGeom>
          <a:solidFill>
            <a:schemeClr val="bg1"/>
          </a:solidFill>
        </p:spPr>
        <p:txBody>
          <a:bodyPr wrap="none" rtlCol="0">
            <a:spAutoFit/>
          </a:bodyPr>
          <a:lstStyle/>
          <a:p>
            <a:r>
              <a:rPr lang="en-US" altLang="zh-CN" sz="2000" dirty="0" smtClean="0">
                <a:latin typeface="Times New Roman" panose="02020603050405020304" pitchFamily="18" charset="0"/>
                <a:cs typeface="Times New Roman" panose="02020603050405020304" pitchFamily="18" charset="0"/>
              </a:rPr>
              <a:t>= V</a:t>
            </a:r>
            <a:r>
              <a:rPr lang="en-US" altLang="zh-CN" sz="2000" baseline="-25000" dirty="0" smtClean="0">
                <a:latin typeface="Times New Roman" panose="02020603050405020304" pitchFamily="18" charset="0"/>
                <a:cs typeface="Times New Roman" panose="02020603050405020304" pitchFamily="18" charset="0"/>
              </a:rPr>
              <a:t>CC </a:t>
            </a:r>
            <a:r>
              <a:rPr lang="en-US" altLang="zh-CN" sz="2000" dirty="0" smtClean="0">
                <a:latin typeface="Times New Roman" panose="02020603050405020304" pitchFamily="18" charset="0"/>
                <a:cs typeface="Times New Roman" panose="02020603050405020304" pitchFamily="18" charset="0"/>
              </a:rPr>
              <a:t>-</a:t>
            </a:r>
            <a:endParaRPr lang="zh-CN" altLang="en-US" sz="2000" dirty="0">
              <a:latin typeface="Times New Roman" panose="02020603050405020304" pitchFamily="18" charset="0"/>
              <a:cs typeface="Times New Roman" panose="02020603050405020304" pitchFamily="18" charset="0"/>
            </a:endParaRPr>
          </a:p>
        </p:txBody>
      </p:sp>
      <p:sp>
        <p:nvSpPr>
          <p:cNvPr id="144" name="TextBox 143"/>
          <p:cNvSpPr txBox="1"/>
          <p:nvPr/>
        </p:nvSpPr>
        <p:spPr>
          <a:xfrm>
            <a:off x="1043608" y="1772816"/>
            <a:ext cx="822462" cy="400110"/>
          </a:xfrm>
          <a:prstGeom prst="rect">
            <a:avLst/>
          </a:prstGeom>
          <a:solidFill>
            <a:schemeClr val="bg1"/>
          </a:solidFill>
        </p:spPr>
        <p:txBody>
          <a:bodyPr wrap="square" rtlCol="0">
            <a:spAutoFit/>
          </a:bodyPr>
          <a:lstStyle/>
          <a:p>
            <a:r>
              <a:rPr lang="en-US" altLang="zh-CN" sz="2000" dirty="0" smtClean="0">
                <a:latin typeface="Times New Roman" panose="02020603050405020304" pitchFamily="18" charset="0"/>
                <a:cs typeface="Times New Roman" panose="02020603050405020304" pitchFamily="18" charset="0"/>
              </a:rPr>
              <a:t>= V</a:t>
            </a:r>
            <a:r>
              <a:rPr lang="en-US" altLang="zh-CN" sz="2000" baseline="-25000" dirty="0" smtClean="0">
                <a:latin typeface="Times New Roman" panose="02020603050405020304" pitchFamily="18" charset="0"/>
                <a:cs typeface="Times New Roman" panose="02020603050405020304" pitchFamily="18" charset="0"/>
              </a:rPr>
              <a:t>BB</a:t>
            </a:r>
            <a:endParaRPr lang="zh-CN" altLang="en-US" sz="2000" baseline="-25000" dirty="0">
              <a:latin typeface="Times New Roman" panose="02020603050405020304" pitchFamily="18" charset="0"/>
              <a:cs typeface="Times New Roman" panose="02020603050405020304" pitchFamily="18" charset="0"/>
            </a:endParaRPr>
          </a:p>
        </p:txBody>
      </p:sp>
      <p:sp>
        <p:nvSpPr>
          <p:cNvPr id="145" name="TextBox 144"/>
          <p:cNvSpPr txBox="1"/>
          <p:nvPr/>
        </p:nvSpPr>
        <p:spPr>
          <a:xfrm>
            <a:off x="2267744" y="1772816"/>
            <a:ext cx="802014" cy="400110"/>
          </a:xfrm>
          <a:prstGeom prst="rect">
            <a:avLst/>
          </a:prstGeom>
          <a:solidFill>
            <a:schemeClr val="bg1"/>
          </a:solidFill>
        </p:spPr>
        <p:txBody>
          <a:bodyPr wrap="none" rtlCol="0">
            <a:spAutoFit/>
          </a:bodyPr>
          <a:lstStyle/>
          <a:p>
            <a:r>
              <a:rPr lang="en-US" altLang="zh-CN" sz="2000" dirty="0" smtClean="0">
                <a:latin typeface="Times New Roman" panose="02020603050405020304" pitchFamily="18" charset="0"/>
                <a:cs typeface="Times New Roman" panose="02020603050405020304" pitchFamily="18" charset="0"/>
              </a:rPr>
              <a:t>= V</a:t>
            </a:r>
            <a:r>
              <a:rPr lang="en-US" altLang="zh-CN" sz="2000" baseline="-25000" dirty="0" smtClean="0">
                <a:latin typeface="Times New Roman" panose="02020603050405020304" pitchFamily="18" charset="0"/>
                <a:cs typeface="Times New Roman" panose="02020603050405020304" pitchFamily="18" charset="0"/>
              </a:rPr>
              <a:t>BB</a:t>
            </a:r>
            <a:endParaRPr lang="zh-CN" altLang="en-US" sz="2000" baseline="-25000" dirty="0">
              <a:latin typeface="Times New Roman" panose="02020603050405020304" pitchFamily="18" charset="0"/>
              <a:cs typeface="Times New Roman" panose="02020603050405020304" pitchFamily="18" charset="0"/>
            </a:endParaRPr>
          </a:p>
        </p:txBody>
      </p:sp>
      <p:graphicFrame>
        <p:nvGraphicFramePr>
          <p:cNvPr id="146" name="对象 145"/>
          <p:cNvGraphicFramePr>
            <a:graphicFrameLocks/>
          </p:cNvGraphicFramePr>
          <p:nvPr>
            <p:extLst>
              <p:ext uri="{D42A27DB-BD31-4B8C-83A1-F6EECF244321}">
                <p14:modId xmlns:p14="http://schemas.microsoft.com/office/powerpoint/2010/main" val="635269327"/>
              </p:ext>
            </p:extLst>
          </p:nvPr>
        </p:nvGraphicFramePr>
        <p:xfrm>
          <a:off x="654468" y="4545112"/>
          <a:ext cx="3557587" cy="900112"/>
        </p:xfrm>
        <a:graphic>
          <a:graphicData uri="http://schemas.openxmlformats.org/presentationml/2006/ole">
            <mc:AlternateContent xmlns:mc="http://schemas.openxmlformats.org/markup-compatibility/2006">
              <mc:Choice xmlns:v="urn:schemas-microsoft-com:vml" Requires="v">
                <p:oleObj spid="_x0000_s62309" name="Equation" r:id="rId18" imgW="1968480" imgH="482400" progId="Equation.DSMT4">
                  <p:embed/>
                </p:oleObj>
              </mc:Choice>
              <mc:Fallback>
                <p:oleObj name="Equation" r:id="rId18" imgW="1968480" imgH="482400" progId="Equation.DSMT4">
                  <p:embed/>
                  <p:pic>
                    <p:nvPicPr>
                      <p:cNvPr id="0" name=""/>
                      <p:cNvPicPr>
                        <a:picLocks noChangeArrowheads="1"/>
                      </p:cNvPicPr>
                      <p:nvPr/>
                    </p:nvPicPr>
                    <p:blipFill>
                      <a:blip r:embed="rId19"/>
                      <a:srcRect/>
                      <a:stretch>
                        <a:fillRect/>
                      </a:stretch>
                    </p:blipFill>
                    <p:spPr bwMode="auto">
                      <a:xfrm>
                        <a:off x="654468" y="4545112"/>
                        <a:ext cx="3557587" cy="900112"/>
                      </a:xfrm>
                      <a:prstGeom prst="rect">
                        <a:avLst/>
                      </a:prstGeom>
                      <a:noFill/>
                      <a:ln>
                        <a:noFill/>
                      </a:ln>
                      <a:extLst/>
                    </p:spPr>
                  </p:pic>
                </p:oleObj>
              </mc:Fallback>
            </mc:AlternateContent>
          </a:graphicData>
        </a:graphic>
      </p:graphicFrame>
      <p:sp>
        <p:nvSpPr>
          <p:cNvPr id="148" name="矩形 147"/>
          <p:cNvSpPr/>
          <p:nvPr/>
        </p:nvSpPr>
        <p:spPr bwMode="auto">
          <a:xfrm>
            <a:off x="2222169" y="4644645"/>
            <a:ext cx="504056" cy="296523"/>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r>
              <a:rPr kumimoji="0" lang="en-US" altLang="zh-CN" b="0" i="0" u="none" strike="noStrike" cap="none" normalizeH="0" baseline="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V</a:t>
            </a:r>
            <a:r>
              <a:rPr kumimoji="0" lang="en-US" altLang="zh-CN" b="0" i="0"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BZ</a:t>
            </a:r>
            <a:endParaRPr kumimoji="0" lang="zh-CN" altLang="en-US" b="0" i="0"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endParaRPr>
          </a:p>
        </p:txBody>
      </p:sp>
      <p:sp>
        <p:nvSpPr>
          <p:cNvPr id="149" name="矩形 148"/>
          <p:cNvSpPr/>
          <p:nvPr/>
        </p:nvSpPr>
        <p:spPr bwMode="auto">
          <a:xfrm>
            <a:off x="3678804" y="4644645"/>
            <a:ext cx="504056" cy="296523"/>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r>
              <a:rPr kumimoji="0" lang="en-US" altLang="zh-CN" b="0" i="0" u="none" strike="noStrike" cap="none" normalizeH="0" baseline="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V</a:t>
            </a:r>
            <a:r>
              <a:rPr kumimoji="0" lang="en-US" altLang="zh-CN" b="0" i="0"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BZ</a:t>
            </a:r>
            <a:endParaRPr kumimoji="0" lang="zh-CN" altLang="en-US" b="0" i="0"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endParaRPr>
          </a:p>
        </p:txBody>
      </p:sp>
      <p:sp>
        <p:nvSpPr>
          <p:cNvPr id="150" name="矩形 149"/>
          <p:cNvSpPr/>
          <p:nvPr/>
        </p:nvSpPr>
        <p:spPr bwMode="auto">
          <a:xfrm>
            <a:off x="3534788" y="5076693"/>
            <a:ext cx="504056" cy="296523"/>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r>
              <a:rPr kumimoji="0" lang="en-US" altLang="zh-CN" b="0" i="0" u="none" strike="noStrike" cap="none" normalizeH="0" baseline="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V</a:t>
            </a:r>
            <a:r>
              <a:rPr kumimoji="0" lang="en-US" altLang="zh-CN" b="0" i="0"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BZ</a:t>
            </a:r>
            <a:endParaRPr kumimoji="0" lang="zh-CN" altLang="en-US" b="0" i="0"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endParaRPr>
          </a:p>
        </p:txBody>
      </p:sp>
      <p:graphicFrame>
        <p:nvGraphicFramePr>
          <p:cNvPr id="151" name="对象 150"/>
          <p:cNvGraphicFramePr>
            <a:graphicFrameLocks/>
          </p:cNvGraphicFramePr>
          <p:nvPr>
            <p:extLst>
              <p:ext uri="{D42A27DB-BD31-4B8C-83A1-F6EECF244321}">
                <p14:modId xmlns:p14="http://schemas.microsoft.com/office/powerpoint/2010/main" val="676091896"/>
              </p:ext>
            </p:extLst>
          </p:nvPr>
        </p:nvGraphicFramePr>
        <p:xfrm>
          <a:off x="539552" y="5624622"/>
          <a:ext cx="2217738" cy="844550"/>
        </p:xfrm>
        <a:graphic>
          <a:graphicData uri="http://schemas.openxmlformats.org/presentationml/2006/ole">
            <mc:AlternateContent xmlns:mc="http://schemas.openxmlformats.org/markup-compatibility/2006">
              <mc:Choice xmlns:v="urn:schemas-microsoft-com:vml" Requires="v">
                <p:oleObj spid="_x0000_s62310" name="Equation" r:id="rId20" imgW="1143000" imgH="431640" progId="Equation.DSMT4">
                  <p:embed/>
                </p:oleObj>
              </mc:Choice>
              <mc:Fallback>
                <p:oleObj name="Equation" r:id="rId20" imgW="1143000" imgH="431640" progId="Equation.DSMT4">
                  <p:embed/>
                  <p:pic>
                    <p:nvPicPr>
                      <p:cNvPr id="0" name=""/>
                      <p:cNvPicPr>
                        <a:picLocks noChangeArrowheads="1"/>
                      </p:cNvPicPr>
                      <p:nvPr/>
                    </p:nvPicPr>
                    <p:blipFill>
                      <a:blip r:embed="rId21"/>
                      <a:srcRect/>
                      <a:stretch>
                        <a:fillRect/>
                      </a:stretch>
                    </p:blipFill>
                    <p:spPr bwMode="auto">
                      <a:xfrm>
                        <a:off x="539552" y="5624622"/>
                        <a:ext cx="2217738" cy="844550"/>
                      </a:xfrm>
                      <a:prstGeom prst="rect">
                        <a:avLst/>
                      </a:prstGeom>
                      <a:noFill/>
                      <a:ln>
                        <a:noFill/>
                      </a:ln>
                    </p:spPr>
                  </p:pic>
                </p:oleObj>
              </mc:Fallback>
            </mc:AlternateContent>
          </a:graphicData>
        </a:graphic>
      </p:graphicFrame>
      <p:sp>
        <p:nvSpPr>
          <p:cNvPr id="153" name="矩形 152"/>
          <p:cNvSpPr/>
          <p:nvPr/>
        </p:nvSpPr>
        <p:spPr bwMode="auto">
          <a:xfrm>
            <a:off x="2195736" y="5601008"/>
            <a:ext cx="504056" cy="399490"/>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r>
              <a:rPr kumimoji="0" lang="en-US" altLang="zh-CN" sz="2600" b="0" i="1" u="none" strike="noStrike" cap="none" normalizeH="0" baseline="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V</a:t>
            </a:r>
            <a:r>
              <a:rPr kumimoji="0" lang="en-US" altLang="zh-CN" sz="2600" b="0" i="1"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BB</a:t>
            </a:r>
            <a:endParaRPr kumimoji="0" lang="zh-CN" altLang="en-US" sz="2600" b="0" i="1"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endParaRPr>
          </a:p>
        </p:txBody>
      </p:sp>
      <p:sp>
        <p:nvSpPr>
          <p:cNvPr id="154" name="矩形 153"/>
          <p:cNvSpPr/>
          <p:nvPr/>
        </p:nvSpPr>
        <p:spPr bwMode="auto">
          <a:xfrm>
            <a:off x="1475656" y="5601008"/>
            <a:ext cx="504056" cy="399490"/>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r>
              <a:rPr kumimoji="0" lang="en-US" altLang="zh-CN" sz="2600" b="0" i="1" u="none" strike="noStrike" cap="none" normalizeH="0" baseline="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V</a:t>
            </a:r>
            <a:r>
              <a:rPr kumimoji="0" lang="en-US" altLang="zh-CN" sz="2600" b="0" i="1"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BZ</a:t>
            </a:r>
            <a:endParaRPr kumimoji="0" lang="zh-CN" altLang="en-US" sz="2600" b="0" i="1"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endParaRPr>
          </a:p>
        </p:txBody>
      </p:sp>
    </p:spTree>
    <p:extLst>
      <p:ext uri="{BB962C8B-B14F-4D97-AF65-F5344CB8AC3E}">
        <p14:creationId xmlns:p14="http://schemas.microsoft.com/office/powerpoint/2010/main" val="3224634765"/>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37</a:t>
            </a:fld>
            <a:endParaRPr lang="en-US" altLang="zh-CN" dirty="0">
              <a:solidFill>
                <a:srgbClr val="000000"/>
              </a:solidFill>
            </a:endParaRPr>
          </a:p>
        </p:txBody>
      </p:sp>
      <p:sp>
        <p:nvSpPr>
          <p:cNvPr id="6" name="TextBox 5"/>
          <p:cNvSpPr txBox="1"/>
          <p:nvPr/>
        </p:nvSpPr>
        <p:spPr>
          <a:xfrm>
            <a:off x="539552" y="836712"/>
            <a:ext cx="2276585" cy="369332"/>
          </a:xfrm>
          <a:prstGeom prst="rect">
            <a:avLst/>
          </a:prstGeom>
          <a:noFill/>
        </p:spPr>
        <p:txBody>
          <a:bodyPr wrap="none" rtlCol="0">
            <a:spAutoFit/>
          </a:bodyPr>
          <a:lstStyle/>
          <a:p>
            <a:r>
              <a:rPr lang="zh-CN" altLang="en-US" b="1" dirty="0" smtClean="0"/>
              <a:t>一、灵活使用公式：</a:t>
            </a:r>
            <a:endParaRPr lang="zh-CN" altLang="en-US" b="1" dirty="0"/>
          </a:p>
        </p:txBody>
      </p:sp>
      <p:sp>
        <p:nvSpPr>
          <p:cNvPr id="7172" name="TextBox 7171"/>
          <p:cNvSpPr txBox="1"/>
          <p:nvPr/>
        </p:nvSpPr>
        <p:spPr>
          <a:xfrm>
            <a:off x="704876" y="1434378"/>
            <a:ext cx="1346844" cy="369332"/>
          </a:xfrm>
          <a:prstGeom prst="rect">
            <a:avLst/>
          </a:prstGeom>
          <a:noFill/>
        </p:spPr>
        <p:txBody>
          <a:bodyPr wrap="none" rtlCol="0">
            <a:spAutoFit/>
          </a:bodyPr>
          <a:lstStyle/>
          <a:p>
            <a:r>
              <a:rPr lang="zh-CN" altLang="en-US" b="1" dirty="0" smtClean="0">
                <a:solidFill>
                  <a:schemeClr val="accent6">
                    <a:lumMod val="75000"/>
                  </a:schemeClr>
                </a:solidFill>
              </a:rPr>
              <a:t>功率相关：</a:t>
            </a:r>
            <a:endParaRPr lang="zh-CN" altLang="en-US" b="1" dirty="0">
              <a:solidFill>
                <a:schemeClr val="accent6">
                  <a:lumMod val="75000"/>
                </a:schemeClr>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97560629"/>
              </p:ext>
            </p:extLst>
          </p:nvPr>
        </p:nvGraphicFramePr>
        <p:xfrm>
          <a:off x="1406417" y="1866426"/>
          <a:ext cx="1655762" cy="495300"/>
        </p:xfrm>
        <a:graphic>
          <a:graphicData uri="http://schemas.openxmlformats.org/presentationml/2006/ole">
            <mc:AlternateContent xmlns:mc="http://schemas.openxmlformats.org/markup-compatibility/2006">
              <mc:Choice xmlns:v="urn:schemas-microsoft-com:vml" Requires="v">
                <p:oleObj spid="_x0000_s79125" name="Equation" r:id="rId4" imgW="761760" imgH="228600" progId="Equation.DSMT4">
                  <p:embed/>
                </p:oleObj>
              </mc:Choice>
              <mc:Fallback>
                <p:oleObj name="Equation" r:id="rId4" imgW="761760" imgH="228600" progId="Equation.DSMT4">
                  <p:embed/>
                  <p:pic>
                    <p:nvPicPr>
                      <p:cNvPr id="0" name="对象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6417" y="1866426"/>
                        <a:ext cx="1655762"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504937468"/>
              </p:ext>
            </p:extLst>
          </p:nvPr>
        </p:nvGraphicFramePr>
        <p:xfrm>
          <a:off x="1403648" y="4509120"/>
          <a:ext cx="1224136" cy="986510"/>
        </p:xfrm>
        <a:graphic>
          <a:graphicData uri="http://schemas.openxmlformats.org/presentationml/2006/ole">
            <mc:AlternateContent xmlns:mc="http://schemas.openxmlformats.org/markup-compatibility/2006">
              <mc:Choice xmlns:v="urn:schemas-microsoft-com:vml" Requires="v">
                <p:oleObj spid="_x0000_s79126" name="Equation" r:id="rId6" imgW="533160" imgH="431640" progId="Equation.DSMT4">
                  <p:embed/>
                </p:oleObj>
              </mc:Choice>
              <mc:Fallback>
                <p:oleObj name="Equation" r:id="rId6" imgW="533160" imgH="431640" progId="Equation.DSMT4">
                  <p:embed/>
                  <p:pic>
                    <p:nvPicPr>
                      <p:cNvPr id="0" name="对象 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648" y="4509120"/>
                        <a:ext cx="1224136" cy="986510"/>
                      </a:xfrm>
                      <a:prstGeom prst="rect">
                        <a:avLst/>
                      </a:prstGeom>
                      <a:noFill/>
                      <a:ln>
                        <a:noFill/>
                      </a:ln>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840151389"/>
              </p:ext>
            </p:extLst>
          </p:nvPr>
        </p:nvGraphicFramePr>
        <p:xfrm>
          <a:off x="1384038" y="3429000"/>
          <a:ext cx="2827922" cy="992882"/>
        </p:xfrm>
        <a:graphic>
          <a:graphicData uri="http://schemas.openxmlformats.org/presentationml/2006/ole">
            <mc:AlternateContent xmlns:mc="http://schemas.openxmlformats.org/markup-compatibility/2006">
              <mc:Choice xmlns:v="urn:schemas-microsoft-com:vml" Requires="v">
                <p:oleObj spid="_x0000_s79127" name="Equation" r:id="rId8" imgW="1295280" imgH="457200" progId="Equation.DSMT4">
                  <p:embed/>
                </p:oleObj>
              </mc:Choice>
              <mc:Fallback>
                <p:oleObj name="Equation" r:id="rId8" imgW="1295280" imgH="457200" progId="Equation.DSMT4">
                  <p:embed/>
                  <p:pic>
                    <p:nvPicPr>
                      <p:cNvPr id="0" name="对象 5"/>
                      <p:cNvPicPr>
                        <a:picLocks noChangeAspect="1" noChangeArrowheads="1"/>
                      </p:cNvPicPr>
                      <p:nvPr/>
                    </p:nvPicPr>
                    <p:blipFill>
                      <a:blip r:embed="rId9"/>
                      <a:srcRect/>
                      <a:stretch>
                        <a:fillRect/>
                      </a:stretch>
                    </p:blipFill>
                    <p:spPr bwMode="auto">
                      <a:xfrm>
                        <a:off x="1384038" y="3429000"/>
                        <a:ext cx="2827922" cy="992882"/>
                      </a:xfrm>
                      <a:prstGeom prst="rect">
                        <a:avLst/>
                      </a:prstGeom>
                      <a:noFill/>
                      <a:ln>
                        <a:noFill/>
                      </a:ln>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929944583"/>
              </p:ext>
            </p:extLst>
          </p:nvPr>
        </p:nvGraphicFramePr>
        <p:xfrm>
          <a:off x="1403648" y="2780928"/>
          <a:ext cx="1570211" cy="460488"/>
        </p:xfrm>
        <a:graphic>
          <a:graphicData uri="http://schemas.openxmlformats.org/presentationml/2006/ole">
            <mc:AlternateContent xmlns:mc="http://schemas.openxmlformats.org/markup-compatibility/2006">
              <mc:Choice xmlns:v="urn:schemas-microsoft-com:vml" Requires="v">
                <p:oleObj spid="_x0000_s79128" name="Equation" r:id="rId10" imgW="774360" imgH="228600" progId="Equation.DSMT4">
                  <p:embed/>
                </p:oleObj>
              </mc:Choice>
              <mc:Fallback>
                <p:oleObj name="Equation" r:id="rId10" imgW="774360" imgH="228600" progId="Equation.DSMT4">
                  <p:embed/>
                  <p:pic>
                    <p:nvPicPr>
                      <p:cNvPr id="0" name=""/>
                      <p:cNvPicPr>
                        <a:picLocks noChangeAspect="1" noChangeArrowheads="1"/>
                      </p:cNvPicPr>
                      <p:nvPr/>
                    </p:nvPicPr>
                    <p:blipFill>
                      <a:blip r:embed="rId11"/>
                      <a:srcRect/>
                      <a:stretch>
                        <a:fillRect/>
                      </a:stretch>
                    </p:blipFill>
                    <p:spPr bwMode="auto">
                      <a:xfrm>
                        <a:off x="1403648" y="2780928"/>
                        <a:ext cx="1570211" cy="460488"/>
                      </a:xfrm>
                      <a:prstGeom prst="rect">
                        <a:avLst/>
                      </a:prstGeom>
                      <a:noFill/>
                      <a:ln>
                        <a:noFill/>
                      </a:ln>
                      <a:effectLst/>
                    </p:spPr>
                  </p:pic>
                </p:oleObj>
              </mc:Fallback>
            </mc:AlternateContent>
          </a:graphicData>
        </a:graphic>
      </p:graphicFrame>
      <p:sp>
        <p:nvSpPr>
          <p:cNvPr id="12" name="矩形 11"/>
          <p:cNvSpPr/>
          <p:nvPr/>
        </p:nvSpPr>
        <p:spPr bwMode="auto">
          <a:xfrm>
            <a:off x="2051720" y="2753693"/>
            <a:ext cx="936104" cy="427261"/>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r>
              <a:rPr lang="en-US" altLang="zh-CN" sz="2400" i="1" dirty="0" smtClean="0">
                <a:latin typeface="Times New Roman" panose="02020603050405020304" pitchFamily="18" charset="0"/>
                <a:ea typeface="隶书" pitchFamily="49" charset="-122"/>
                <a:cs typeface="Times New Roman" panose="02020603050405020304" pitchFamily="18" charset="0"/>
              </a:rPr>
              <a:t>I</a:t>
            </a:r>
            <a:r>
              <a:rPr lang="en-US" altLang="zh-CN" sz="2400" i="1" baseline="-25000" dirty="0" smtClean="0">
                <a:latin typeface="Times New Roman" panose="02020603050405020304" pitchFamily="18" charset="0"/>
                <a:ea typeface="隶书" pitchFamily="49" charset="-122"/>
                <a:cs typeface="Times New Roman" panose="02020603050405020304" pitchFamily="18" charset="0"/>
              </a:rPr>
              <a:t>C0</a:t>
            </a:r>
            <a:r>
              <a:rPr kumimoji="0" lang="en-US" altLang="zh-CN" sz="2400" b="0" i="1" u="none" strike="noStrike" cap="none" normalizeH="0" baseline="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V</a:t>
            </a:r>
            <a:r>
              <a:rPr kumimoji="0" lang="en-US" altLang="zh-CN" sz="2400" b="0" i="1"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CC</a:t>
            </a:r>
            <a:endParaRPr kumimoji="0" lang="zh-CN" altLang="en-US" sz="2400" b="0" i="1"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endParaRPr>
          </a:p>
        </p:txBody>
      </p:sp>
    </p:spTree>
    <p:extLst>
      <p:ext uri="{BB962C8B-B14F-4D97-AF65-F5344CB8AC3E}">
        <p14:creationId xmlns:p14="http://schemas.microsoft.com/office/powerpoint/2010/main" val="1502241188"/>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38</a:t>
            </a:fld>
            <a:endParaRPr lang="en-US" altLang="zh-CN" dirty="0">
              <a:solidFill>
                <a:srgbClr val="000000"/>
              </a:solidFill>
            </a:endParaRPr>
          </a:p>
        </p:txBody>
      </p:sp>
      <p:sp>
        <p:nvSpPr>
          <p:cNvPr id="6" name="TextBox 5"/>
          <p:cNvSpPr txBox="1"/>
          <p:nvPr/>
        </p:nvSpPr>
        <p:spPr>
          <a:xfrm>
            <a:off x="539552" y="404664"/>
            <a:ext cx="2276585" cy="369332"/>
          </a:xfrm>
          <a:prstGeom prst="rect">
            <a:avLst/>
          </a:prstGeom>
          <a:noFill/>
        </p:spPr>
        <p:txBody>
          <a:bodyPr wrap="none" rtlCol="0">
            <a:spAutoFit/>
          </a:bodyPr>
          <a:lstStyle/>
          <a:p>
            <a:r>
              <a:rPr lang="zh-CN" altLang="en-US" b="1" dirty="0" smtClean="0"/>
              <a:t>一、灵活使用公式：</a:t>
            </a:r>
            <a:endParaRPr lang="zh-CN" altLang="en-US" b="1" dirty="0"/>
          </a:p>
        </p:txBody>
      </p:sp>
      <p:sp>
        <p:nvSpPr>
          <p:cNvPr id="23" name="TextBox 22"/>
          <p:cNvSpPr txBox="1"/>
          <p:nvPr/>
        </p:nvSpPr>
        <p:spPr>
          <a:xfrm>
            <a:off x="711239" y="827420"/>
            <a:ext cx="2276585" cy="369332"/>
          </a:xfrm>
          <a:prstGeom prst="rect">
            <a:avLst/>
          </a:prstGeom>
          <a:noFill/>
        </p:spPr>
        <p:txBody>
          <a:bodyPr wrap="none" rtlCol="0">
            <a:spAutoFit/>
          </a:bodyPr>
          <a:lstStyle/>
          <a:p>
            <a:r>
              <a:rPr lang="zh-CN" altLang="en-US" b="1" dirty="0" smtClean="0">
                <a:solidFill>
                  <a:schemeClr val="accent6">
                    <a:lumMod val="75000"/>
                  </a:schemeClr>
                </a:solidFill>
              </a:rPr>
              <a:t>滤波匹配网络相关：</a:t>
            </a:r>
            <a:endParaRPr lang="zh-CN" altLang="en-US" b="1" dirty="0">
              <a:solidFill>
                <a:schemeClr val="accent6">
                  <a:lumMod val="75000"/>
                </a:schemeClr>
              </a:solidFill>
            </a:endParaRPr>
          </a:p>
        </p:txBody>
      </p:sp>
      <p:pic>
        <p:nvPicPr>
          <p:cNvPr id="822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196752"/>
            <a:ext cx="4392488" cy="165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3" name="对象 12"/>
          <p:cNvGraphicFramePr>
            <a:graphicFrameLocks noChangeAspect="1"/>
          </p:cNvGraphicFramePr>
          <p:nvPr>
            <p:extLst>
              <p:ext uri="{D42A27DB-BD31-4B8C-83A1-F6EECF244321}">
                <p14:modId xmlns:p14="http://schemas.microsoft.com/office/powerpoint/2010/main" val="1334749323"/>
              </p:ext>
            </p:extLst>
          </p:nvPr>
        </p:nvGraphicFramePr>
        <p:xfrm>
          <a:off x="4788024" y="1092582"/>
          <a:ext cx="2019300" cy="581025"/>
        </p:xfrm>
        <a:graphic>
          <a:graphicData uri="http://schemas.openxmlformats.org/presentationml/2006/ole">
            <mc:AlternateContent xmlns:mc="http://schemas.openxmlformats.org/markup-compatibility/2006">
              <mc:Choice xmlns:v="urn:schemas-microsoft-com:vml" Requires="v">
                <p:oleObj spid="_x0000_s83412" name="Equation" r:id="rId5" imgW="1091880" imgH="241200" progId="Equation.DSMT4">
                  <p:embed/>
                </p:oleObj>
              </mc:Choice>
              <mc:Fallback>
                <p:oleObj name="Equation" r:id="rId5" imgW="1091880" imgH="241200" progId="Equation.DSMT4">
                  <p:embed/>
                  <p:pic>
                    <p:nvPicPr>
                      <p:cNvPr id="0" name=""/>
                      <p:cNvPicPr>
                        <a:picLocks noChangeAspect="1" noChangeArrowheads="1"/>
                      </p:cNvPicPr>
                      <p:nvPr/>
                    </p:nvPicPr>
                    <p:blipFill>
                      <a:blip r:embed="rId6">
                        <a:grayscl/>
                        <a:biLevel thresh="50000"/>
                      </a:blip>
                      <a:srcRect/>
                      <a:stretch>
                        <a:fillRect/>
                      </a:stretch>
                    </p:blipFill>
                    <p:spPr bwMode="auto">
                      <a:xfrm>
                        <a:off x="4788024" y="1092582"/>
                        <a:ext cx="2019300" cy="581025"/>
                      </a:xfrm>
                      <a:prstGeom prst="rect">
                        <a:avLst/>
                      </a:prstGeom>
                      <a:noFill/>
                      <a:ln>
                        <a:noFill/>
                      </a:ln>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022332098"/>
              </p:ext>
            </p:extLst>
          </p:nvPr>
        </p:nvGraphicFramePr>
        <p:xfrm>
          <a:off x="4932040" y="1700808"/>
          <a:ext cx="1804592" cy="875593"/>
        </p:xfrm>
        <a:graphic>
          <a:graphicData uri="http://schemas.openxmlformats.org/presentationml/2006/ole">
            <mc:AlternateContent xmlns:mc="http://schemas.openxmlformats.org/markup-compatibility/2006">
              <mc:Choice xmlns:v="urn:schemas-microsoft-com:vml" Requires="v">
                <p:oleObj spid="_x0000_s83413" name="Equation" r:id="rId7" imgW="939600" imgH="419040" progId="Equation.DSMT4">
                  <p:embed/>
                </p:oleObj>
              </mc:Choice>
              <mc:Fallback>
                <p:oleObj name="Equation" r:id="rId7" imgW="939600" imgH="419040" progId="Equation.DSMT4">
                  <p:embed/>
                  <p:pic>
                    <p:nvPicPr>
                      <p:cNvPr id="0" name=""/>
                      <p:cNvPicPr>
                        <a:picLocks noChangeAspect="1" noChangeArrowheads="1"/>
                      </p:cNvPicPr>
                      <p:nvPr/>
                    </p:nvPicPr>
                    <p:blipFill>
                      <a:blip r:embed="rId8">
                        <a:grayscl/>
                        <a:biLevel thresh="50000"/>
                      </a:blip>
                      <a:srcRect/>
                      <a:stretch>
                        <a:fillRect/>
                      </a:stretch>
                    </p:blipFill>
                    <p:spPr bwMode="auto">
                      <a:xfrm>
                        <a:off x="4932040" y="1700808"/>
                        <a:ext cx="1804592" cy="875593"/>
                      </a:xfrm>
                      <a:prstGeom prst="rect">
                        <a:avLst/>
                      </a:prstGeom>
                      <a:noFill/>
                      <a:ln>
                        <a:noFill/>
                      </a:ln>
                    </p:spPr>
                  </p:pic>
                </p:oleObj>
              </mc:Fallback>
            </mc:AlternateContent>
          </a:graphicData>
        </a:graphic>
      </p:graphicFrame>
      <p:graphicFrame>
        <p:nvGraphicFramePr>
          <p:cNvPr id="79" name="Object 58"/>
          <p:cNvGraphicFramePr>
            <a:graphicFrameLocks noChangeAspect="1"/>
          </p:cNvGraphicFramePr>
          <p:nvPr>
            <p:extLst>
              <p:ext uri="{D42A27DB-BD31-4B8C-83A1-F6EECF244321}">
                <p14:modId xmlns:p14="http://schemas.microsoft.com/office/powerpoint/2010/main" val="759049911"/>
              </p:ext>
            </p:extLst>
          </p:nvPr>
        </p:nvGraphicFramePr>
        <p:xfrm>
          <a:off x="7164288" y="957503"/>
          <a:ext cx="1354137" cy="831851"/>
        </p:xfrm>
        <a:graphic>
          <a:graphicData uri="http://schemas.openxmlformats.org/presentationml/2006/ole">
            <mc:AlternateContent xmlns:mc="http://schemas.openxmlformats.org/markup-compatibility/2006">
              <mc:Choice xmlns:v="urn:schemas-microsoft-com:vml" Requires="v">
                <p:oleObj spid="_x0000_s83414" name="Equation" r:id="rId9" imgW="736560" imgH="419040" progId="Equation.DSMT4">
                  <p:embed/>
                </p:oleObj>
              </mc:Choice>
              <mc:Fallback>
                <p:oleObj name="Equation" r:id="rId9" imgW="736560" imgH="419040" progId="Equation.DSMT4">
                  <p:embed/>
                  <p:pic>
                    <p:nvPicPr>
                      <p:cNvPr id="0" name=""/>
                      <p:cNvPicPr>
                        <a:picLocks noChangeAspect="1" noChangeArrowheads="1"/>
                      </p:cNvPicPr>
                      <p:nvPr/>
                    </p:nvPicPr>
                    <p:blipFill>
                      <a:blip r:embed="rId10">
                        <a:grayscl/>
                        <a:biLevel thresh="50000"/>
                      </a:blip>
                      <a:srcRect/>
                      <a:stretch>
                        <a:fillRect/>
                      </a:stretch>
                    </p:blipFill>
                    <p:spPr bwMode="auto">
                      <a:xfrm>
                        <a:off x="7164288" y="957503"/>
                        <a:ext cx="1354137" cy="831851"/>
                      </a:xfrm>
                      <a:prstGeom prst="rect">
                        <a:avLst/>
                      </a:prstGeom>
                      <a:noFill/>
                      <a:ln>
                        <a:noFill/>
                      </a:ln>
                      <a:effectLst/>
                    </p:spPr>
                  </p:pic>
                </p:oleObj>
              </mc:Fallback>
            </mc:AlternateContent>
          </a:graphicData>
        </a:graphic>
      </p:graphicFrame>
      <p:graphicFrame>
        <p:nvGraphicFramePr>
          <p:cNvPr id="80" name="对象 79"/>
          <p:cNvGraphicFramePr>
            <a:graphicFrameLocks noChangeAspect="1"/>
          </p:cNvGraphicFramePr>
          <p:nvPr>
            <p:extLst>
              <p:ext uri="{D42A27DB-BD31-4B8C-83A1-F6EECF244321}">
                <p14:modId xmlns:p14="http://schemas.microsoft.com/office/powerpoint/2010/main" val="3772774827"/>
              </p:ext>
            </p:extLst>
          </p:nvPr>
        </p:nvGraphicFramePr>
        <p:xfrm>
          <a:off x="4716016" y="2572320"/>
          <a:ext cx="4322762" cy="928688"/>
        </p:xfrm>
        <a:graphic>
          <a:graphicData uri="http://schemas.openxmlformats.org/presentationml/2006/ole">
            <mc:AlternateContent xmlns:mc="http://schemas.openxmlformats.org/markup-compatibility/2006">
              <mc:Choice xmlns:v="urn:schemas-microsoft-com:vml" Requires="v">
                <p:oleObj spid="_x0000_s83415" name="Equation" r:id="rId11" imgW="2247840" imgH="482400" progId="Equation.DSMT4">
                  <p:embed/>
                </p:oleObj>
              </mc:Choice>
              <mc:Fallback>
                <p:oleObj name="Equation" r:id="rId11" imgW="2247840" imgH="482400" progId="Equation.DSMT4">
                  <p:embed/>
                  <p:pic>
                    <p:nvPicPr>
                      <p:cNvPr id="0" name=""/>
                      <p:cNvPicPr/>
                      <p:nvPr/>
                    </p:nvPicPr>
                    <p:blipFill>
                      <a:blip r:embed="rId12"/>
                      <a:stretch>
                        <a:fillRect/>
                      </a:stretch>
                    </p:blipFill>
                    <p:spPr>
                      <a:xfrm>
                        <a:off x="4716016" y="2572320"/>
                        <a:ext cx="4322762" cy="928688"/>
                      </a:xfrm>
                      <a:prstGeom prst="rect">
                        <a:avLst/>
                      </a:prstGeom>
                    </p:spPr>
                  </p:pic>
                </p:oleObj>
              </mc:Fallback>
            </mc:AlternateContent>
          </a:graphicData>
        </a:graphic>
      </p:graphicFrame>
      <p:pic>
        <p:nvPicPr>
          <p:cNvPr id="9218" name="Picture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1520" y="3861047"/>
            <a:ext cx="5042163" cy="1656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7" name="对象 6"/>
          <p:cNvGraphicFramePr>
            <a:graphicFrameLocks noChangeAspect="1"/>
          </p:cNvGraphicFramePr>
          <p:nvPr>
            <p:extLst>
              <p:ext uri="{D42A27DB-BD31-4B8C-83A1-F6EECF244321}">
                <p14:modId xmlns:p14="http://schemas.microsoft.com/office/powerpoint/2010/main" val="3408357717"/>
              </p:ext>
            </p:extLst>
          </p:nvPr>
        </p:nvGraphicFramePr>
        <p:xfrm>
          <a:off x="5004048" y="3921745"/>
          <a:ext cx="1981200" cy="587375"/>
        </p:xfrm>
        <a:graphic>
          <a:graphicData uri="http://schemas.openxmlformats.org/presentationml/2006/ole">
            <mc:AlternateContent xmlns:mc="http://schemas.openxmlformats.org/markup-compatibility/2006">
              <mc:Choice xmlns:v="urn:schemas-microsoft-com:vml" Requires="v">
                <p:oleObj spid="_x0000_s83416" name="Equation" r:id="rId14" imgW="1041120" imgH="241200" progId="Equation.DSMT4">
                  <p:embed/>
                </p:oleObj>
              </mc:Choice>
              <mc:Fallback>
                <p:oleObj name="Equation" r:id="rId14" imgW="1041120" imgH="241200" progId="Equation.DSMT4">
                  <p:embed/>
                  <p:pic>
                    <p:nvPicPr>
                      <p:cNvPr id="0" name="Object 60"/>
                      <p:cNvPicPr>
                        <a:picLocks noChangeAspect="1" noChangeArrowheads="1"/>
                      </p:cNvPicPr>
                      <p:nvPr/>
                    </p:nvPicPr>
                    <p:blipFill>
                      <a:blip r:embed="rId15">
                        <a:grayscl/>
                        <a:biLevel thresh="50000"/>
                      </a:blip>
                      <a:srcRect/>
                      <a:stretch>
                        <a:fillRect/>
                      </a:stretch>
                    </p:blipFill>
                    <p:spPr bwMode="auto">
                      <a:xfrm>
                        <a:off x="5004048" y="3921745"/>
                        <a:ext cx="19812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44327391"/>
              </p:ext>
            </p:extLst>
          </p:nvPr>
        </p:nvGraphicFramePr>
        <p:xfrm>
          <a:off x="5076056" y="4509120"/>
          <a:ext cx="1879590" cy="923576"/>
        </p:xfrm>
        <a:graphic>
          <a:graphicData uri="http://schemas.openxmlformats.org/presentationml/2006/ole">
            <mc:AlternateContent xmlns:mc="http://schemas.openxmlformats.org/markup-compatibility/2006">
              <mc:Choice xmlns:v="urn:schemas-microsoft-com:vml" Requires="v">
                <p:oleObj spid="_x0000_s83417" name="Equation" r:id="rId16" imgW="914400" imgH="419040" progId="Equation.DSMT4">
                  <p:embed/>
                </p:oleObj>
              </mc:Choice>
              <mc:Fallback>
                <p:oleObj name="Equation" r:id="rId16" imgW="914400" imgH="419040" progId="Equation.DSMT4">
                  <p:embed/>
                  <p:pic>
                    <p:nvPicPr>
                      <p:cNvPr id="0" name="Object 61"/>
                      <p:cNvPicPr>
                        <a:picLocks noChangeAspect="1" noChangeArrowheads="1"/>
                      </p:cNvPicPr>
                      <p:nvPr/>
                    </p:nvPicPr>
                    <p:blipFill>
                      <a:blip r:embed="rId17">
                        <a:grayscl/>
                        <a:biLevel thresh="50000"/>
                      </a:blip>
                      <a:srcRect/>
                      <a:stretch>
                        <a:fillRect/>
                      </a:stretch>
                    </p:blipFill>
                    <p:spPr bwMode="auto">
                      <a:xfrm>
                        <a:off x="5076056" y="4509120"/>
                        <a:ext cx="1879590" cy="923576"/>
                      </a:xfrm>
                      <a:prstGeom prst="rect">
                        <a:avLst/>
                      </a:prstGeom>
                      <a:noFill/>
                      <a:ln>
                        <a:noFill/>
                      </a:ln>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747409417"/>
              </p:ext>
            </p:extLst>
          </p:nvPr>
        </p:nvGraphicFramePr>
        <p:xfrm>
          <a:off x="7236296" y="3789040"/>
          <a:ext cx="1477885" cy="836856"/>
        </p:xfrm>
        <a:graphic>
          <a:graphicData uri="http://schemas.openxmlformats.org/presentationml/2006/ole">
            <mc:AlternateContent xmlns:mc="http://schemas.openxmlformats.org/markup-compatibility/2006">
              <mc:Choice xmlns:v="urn:schemas-microsoft-com:vml" Requires="v">
                <p:oleObj spid="_x0000_s83418" name="Equation" r:id="rId18" imgW="799920" imgH="419040" progId="Equation.DSMT4">
                  <p:embed/>
                </p:oleObj>
              </mc:Choice>
              <mc:Fallback>
                <p:oleObj name="Equation" r:id="rId18" imgW="799920" imgH="419040" progId="Equation.DSMT4">
                  <p:embed/>
                  <p:pic>
                    <p:nvPicPr>
                      <p:cNvPr id="0" name="Object 4"/>
                      <p:cNvPicPr>
                        <a:picLocks noChangeAspect="1" noChangeArrowheads="1"/>
                      </p:cNvPicPr>
                      <p:nvPr/>
                    </p:nvPicPr>
                    <p:blipFill>
                      <a:blip r:embed="rId19">
                        <a:grayscl/>
                        <a:biLevel thresh="50000"/>
                      </a:blip>
                      <a:srcRect/>
                      <a:stretch>
                        <a:fillRect/>
                      </a:stretch>
                    </p:blipFill>
                    <p:spPr bwMode="auto">
                      <a:xfrm>
                        <a:off x="7236296" y="3789040"/>
                        <a:ext cx="1477885" cy="836856"/>
                      </a:xfrm>
                      <a:prstGeom prst="rect">
                        <a:avLst/>
                      </a:prstGeom>
                      <a:noFill/>
                      <a:ln>
                        <a:noFill/>
                      </a:ln>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098434086"/>
              </p:ext>
            </p:extLst>
          </p:nvPr>
        </p:nvGraphicFramePr>
        <p:xfrm>
          <a:off x="4716016" y="5301208"/>
          <a:ext cx="4287075" cy="1008112"/>
        </p:xfrm>
        <a:graphic>
          <a:graphicData uri="http://schemas.openxmlformats.org/presentationml/2006/ole">
            <mc:AlternateContent xmlns:mc="http://schemas.openxmlformats.org/markup-compatibility/2006">
              <mc:Choice xmlns:v="urn:schemas-microsoft-com:vml" Requires="v">
                <p:oleObj spid="_x0000_s83419" name="Equation" r:id="rId20" imgW="2044440" imgH="482400" progId="Equation.DSMT4">
                  <p:embed/>
                </p:oleObj>
              </mc:Choice>
              <mc:Fallback>
                <p:oleObj name="Equation" r:id="rId20" imgW="2044440" imgH="482400" progId="Equation.DSMT4">
                  <p:embed/>
                  <p:pic>
                    <p:nvPicPr>
                      <p:cNvPr id="0" name=""/>
                      <p:cNvPicPr>
                        <a:picLocks noChangeAspect="1" noChangeArrowheads="1"/>
                      </p:cNvPicPr>
                      <p:nvPr/>
                    </p:nvPicPr>
                    <p:blipFill>
                      <a:blip r:embed="rId21"/>
                      <a:srcRect/>
                      <a:stretch>
                        <a:fillRect/>
                      </a:stretch>
                    </p:blipFill>
                    <p:spPr bwMode="auto">
                      <a:xfrm>
                        <a:off x="4716016" y="5301208"/>
                        <a:ext cx="4287075" cy="1008112"/>
                      </a:xfrm>
                      <a:prstGeom prst="rect">
                        <a:avLst/>
                      </a:prstGeom>
                      <a:noFill/>
                      <a:ln>
                        <a:noFill/>
                      </a:ln>
                      <a:extLst/>
                    </p:spPr>
                  </p:pic>
                </p:oleObj>
              </mc:Fallback>
            </mc:AlternateContent>
          </a:graphicData>
        </a:graphic>
      </p:graphicFrame>
      <p:cxnSp>
        <p:nvCxnSpPr>
          <p:cNvPr id="28" name="直接连接符 27"/>
          <p:cNvCxnSpPr/>
          <p:nvPr/>
        </p:nvCxnSpPr>
        <p:spPr bwMode="auto">
          <a:xfrm flipH="1">
            <a:off x="72008" y="3573016"/>
            <a:ext cx="9036496" cy="0"/>
          </a:xfrm>
          <a:prstGeom prst="line">
            <a:avLst/>
          </a:prstGeom>
          <a:solidFill>
            <a:schemeClr val="accent1"/>
          </a:solidFill>
          <a:ln w="38100" cap="flat" cmpd="sng" algn="ctr">
            <a:solidFill>
              <a:srgbClr val="0070C0"/>
            </a:solidFill>
            <a:prstDash val="solid"/>
            <a:round/>
            <a:headEnd type="none" w="med" len="med"/>
            <a:tailEnd type="none" w="med" len="med"/>
          </a:ln>
        </p:spPr>
      </p:cxnSp>
    </p:spTree>
    <p:extLst>
      <p:ext uri="{BB962C8B-B14F-4D97-AF65-F5344CB8AC3E}">
        <p14:creationId xmlns:p14="http://schemas.microsoft.com/office/powerpoint/2010/main" val="2299408184"/>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3" name="对象 7172"/>
          <p:cNvGraphicFramePr>
            <a:graphicFrameLocks noChangeAspect="1"/>
          </p:cNvGraphicFramePr>
          <p:nvPr>
            <p:extLst>
              <p:ext uri="{D42A27DB-BD31-4B8C-83A1-F6EECF244321}">
                <p14:modId xmlns:p14="http://schemas.microsoft.com/office/powerpoint/2010/main" val="2915710402"/>
              </p:ext>
            </p:extLst>
          </p:nvPr>
        </p:nvGraphicFramePr>
        <p:xfrm>
          <a:off x="395536" y="3356992"/>
          <a:ext cx="4320480" cy="3204822"/>
        </p:xfrm>
        <a:graphic>
          <a:graphicData uri="http://schemas.openxmlformats.org/presentationml/2006/ole">
            <mc:AlternateContent xmlns:mc="http://schemas.openxmlformats.org/markup-compatibility/2006">
              <mc:Choice xmlns:v="urn:schemas-microsoft-com:vml" Requires="v">
                <p:oleObj spid="_x0000_s10560" name="Visio" r:id="rId4" imgW="3257916" imgH="2428862" progId="Visio.Drawing.11">
                  <p:embed/>
                </p:oleObj>
              </mc:Choice>
              <mc:Fallback>
                <p:oleObj name="Visio" r:id="rId4" imgW="3257916" imgH="2428862"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36" y="3356992"/>
                        <a:ext cx="4320480" cy="3204822"/>
                      </a:xfrm>
                      <a:prstGeom prst="rect">
                        <a:avLst/>
                      </a:prstGeom>
                      <a:noFill/>
                      <a:ln>
                        <a:noFill/>
                      </a:ln>
                    </p:spPr>
                  </p:pic>
                </p:oleObj>
              </mc:Fallback>
            </mc:AlternateContent>
          </a:graphicData>
        </a:graphic>
      </p:graphicFrame>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39</a:t>
            </a:fld>
            <a:endParaRPr lang="en-US" altLang="zh-CN" dirty="0">
              <a:solidFill>
                <a:srgbClr val="000000"/>
              </a:solidFill>
            </a:endParaRPr>
          </a:p>
        </p:txBody>
      </p:sp>
      <p:sp>
        <p:nvSpPr>
          <p:cNvPr id="6" name="TextBox 5"/>
          <p:cNvSpPr txBox="1"/>
          <p:nvPr/>
        </p:nvSpPr>
        <p:spPr>
          <a:xfrm>
            <a:off x="539552" y="395372"/>
            <a:ext cx="2973891" cy="369332"/>
          </a:xfrm>
          <a:prstGeom prst="rect">
            <a:avLst/>
          </a:prstGeom>
          <a:noFill/>
        </p:spPr>
        <p:txBody>
          <a:bodyPr wrap="none" rtlCol="0">
            <a:spAutoFit/>
          </a:bodyPr>
          <a:lstStyle/>
          <a:p>
            <a:r>
              <a:rPr lang="zh-CN" altLang="en-US" b="1" dirty="0" smtClean="0"/>
              <a:t>二、掌握典型图形及绘制：</a:t>
            </a:r>
            <a:endParaRPr lang="zh-CN" altLang="en-US" b="1" dirty="0"/>
          </a:p>
        </p:txBody>
      </p:sp>
      <p:sp>
        <p:nvSpPr>
          <p:cNvPr id="7172" name="TextBox 7171"/>
          <p:cNvSpPr txBox="1"/>
          <p:nvPr/>
        </p:nvSpPr>
        <p:spPr>
          <a:xfrm>
            <a:off x="822432" y="899428"/>
            <a:ext cx="2741456" cy="369332"/>
          </a:xfrm>
          <a:prstGeom prst="rect">
            <a:avLst/>
          </a:prstGeom>
          <a:noFill/>
        </p:spPr>
        <p:txBody>
          <a:bodyPr wrap="none" rtlCol="0">
            <a:spAutoFit/>
          </a:bodyPr>
          <a:lstStyle/>
          <a:p>
            <a:r>
              <a:rPr lang="zh-CN" altLang="en-US" b="1" dirty="0" smtClean="0">
                <a:solidFill>
                  <a:schemeClr val="accent6">
                    <a:lumMod val="75000"/>
                  </a:schemeClr>
                </a:solidFill>
              </a:rPr>
              <a:t>典型高频功率放大器电路</a:t>
            </a:r>
            <a:endParaRPr lang="zh-CN" altLang="en-US" b="1" dirty="0">
              <a:solidFill>
                <a:schemeClr val="accent6">
                  <a:lumMod val="75000"/>
                </a:schemeClr>
              </a:solidFill>
            </a:endParaRPr>
          </a:p>
        </p:txBody>
      </p:sp>
      <p:sp>
        <p:nvSpPr>
          <p:cNvPr id="83" name="TextBox 82"/>
          <p:cNvSpPr txBox="1"/>
          <p:nvPr/>
        </p:nvSpPr>
        <p:spPr>
          <a:xfrm>
            <a:off x="2483768" y="5517232"/>
            <a:ext cx="1811714" cy="369332"/>
          </a:xfrm>
          <a:prstGeom prst="rect">
            <a:avLst/>
          </a:prstGeom>
          <a:noFill/>
        </p:spPr>
        <p:txBody>
          <a:bodyPr wrap="none" rtlCol="0">
            <a:spAutoFit/>
          </a:bodyPr>
          <a:lstStyle/>
          <a:p>
            <a:r>
              <a:rPr lang="zh-CN" altLang="en-US" b="1" dirty="0" smtClean="0">
                <a:solidFill>
                  <a:schemeClr val="accent6">
                    <a:lumMod val="75000"/>
                  </a:schemeClr>
                </a:solidFill>
              </a:rPr>
              <a:t>晶体管特性曲线</a:t>
            </a:r>
            <a:endParaRPr lang="zh-CN" altLang="en-US" b="1" dirty="0">
              <a:solidFill>
                <a:schemeClr val="accent6">
                  <a:lumMod val="75000"/>
                </a:schemeClr>
              </a:solidFill>
            </a:endParaRPr>
          </a:p>
        </p:txBody>
      </p:sp>
      <p:pic>
        <p:nvPicPr>
          <p:cNvPr id="1024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68145" y="257800"/>
            <a:ext cx="2232248" cy="1222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8"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26235" y="1412776"/>
            <a:ext cx="3190181" cy="1467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9"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4227" y="2852936"/>
            <a:ext cx="3406205" cy="1541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50" name="Picture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60591" y="4049312"/>
            <a:ext cx="2699841" cy="147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51" name="Picture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00317" y="5299731"/>
            <a:ext cx="3238286" cy="1585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 name="TextBox 61"/>
          <p:cNvSpPr txBox="1"/>
          <p:nvPr/>
        </p:nvSpPr>
        <p:spPr>
          <a:xfrm>
            <a:off x="8331362" y="2636912"/>
            <a:ext cx="417102" cy="1477328"/>
          </a:xfrm>
          <a:prstGeom prst="rect">
            <a:avLst/>
          </a:prstGeom>
          <a:noFill/>
        </p:spPr>
        <p:txBody>
          <a:bodyPr wrap="none" rtlCol="0">
            <a:spAutoFit/>
          </a:bodyPr>
          <a:lstStyle/>
          <a:p>
            <a:r>
              <a:rPr lang="zh-CN" altLang="en-US" b="1" dirty="0" smtClean="0">
                <a:solidFill>
                  <a:schemeClr val="accent6">
                    <a:lumMod val="75000"/>
                  </a:schemeClr>
                </a:solidFill>
              </a:rPr>
              <a:t>波</a:t>
            </a:r>
            <a:endParaRPr lang="en-US" altLang="zh-CN" b="1" dirty="0" smtClean="0">
              <a:solidFill>
                <a:schemeClr val="accent6">
                  <a:lumMod val="75000"/>
                </a:schemeClr>
              </a:solidFill>
            </a:endParaRPr>
          </a:p>
          <a:p>
            <a:endParaRPr lang="en-US" altLang="zh-CN" b="1" dirty="0" smtClean="0">
              <a:solidFill>
                <a:schemeClr val="accent6">
                  <a:lumMod val="75000"/>
                </a:schemeClr>
              </a:solidFill>
            </a:endParaRPr>
          </a:p>
          <a:p>
            <a:r>
              <a:rPr lang="zh-CN" altLang="en-US" b="1" dirty="0" smtClean="0">
                <a:solidFill>
                  <a:schemeClr val="accent6">
                    <a:lumMod val="75000"/>
                  </a:schemeClr>
                </a:solidFill>
              </a:rPr>
              <a:t>形</a:t>
            </a:r>
            <a:endParaRPr lang="en-US" altLang="zh-CN" b="1" dirty="0" smtClean="0">
              <a:solidFill>
                <a:schemeClr val="accent6">
                  <a:lumMod val="75000"/>
                </a:schemeClr>
              </a:solidFill>
            </a:endParaRPr>
          </a:p>
          <a:p>
            <a:endParaRPr lang="en-US" altLang="zh-CN" b="1" dirty="0" smtClean="0">
              <a:solidFill>
                <a:schemeClr val="accent6">
                  <a:lumMod val="75000"/>
                </a:schemeClr>
              </a:solidFill>
            </a:endParaRPr>
          </a:p>
          <a:p>
            <a:r>
              <a:rPr lang="zh-CN" altLang="en-US" b="1" dirty="0">
                <a:solidFill>
                  <a:schemeClr val="accent6">
                    <a:lumMod val="75000"/>
                  </a:schemeClr>
                </a:solidFill>
              </a:rPr>
              <a:t>图</a:t>
            </a:r>
            <a:endParaRPr lang="en-US" altLang="zh-CN" b="1" dirty="0" smtClean="0">
              <a:solidFill>
                <a:schemeClr val="accent6">
                  <a:lumMod val="75000"/>
                </a:schemeClr>
              </a:solidFill>
            </a:endParaRPr>
          </a:p>
        </p:txBody>
      </p:sp>
      <p:grpSp>
        <p:nvGrpSpPr>
          <p:cNvPr id="14" name="组合 13"/>
          <p:cNvGrpSpPr/>
          <p:nvPr/>
        </p:nvGrpSpPr>
        <p:grpSpPr>
          <a:xfrm>
            <a:off x="107504" y="1124744"/>
            <a:ext cx="3960440" cy="2574931"/>
            <a:chOff x="2034750" y="1855242"/>
            <a:chExt cx="4913513" cy="3541320"/>
          </a:xfrm>
        </p:grpSpPr>
        <p:grpSp>
          <p:nvGrpSpPr>
            <p:cNvPr id="15" name="组合 14"/>
            <p:cNvGrpSpPr/>
            <p:nvPr/>
          </p:nvGrpSpPr>
          <p:grpSpPr>
            <a:xfrm>
              <a:off x="2034750" y="1855242"/>
              <a:ext cx="4913513" cy="3541320"/>
              <a:chOff x="2034751" y="1855242"/>
              <a:chExt cx="4464886" cy="2936569"/>
            </a:xfrm>
          </p:grpSpPr>
          <p:sp>
            <p:nvSpPr>
              <p:cNvPr id="30" name="Rectangle 5"/>
              <p:cNvSpPr>
                <a:spLocks noChangeArrowheads="1"/>
              </p:cNvSpPr>
              <p:nvPr/>
            </p:nvSpPr>
            <p:spPr bwMode="auto">
              <a:xfrm>
                <a:off x="4893839" y="1855242"/>
                <a:ext cx="639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lang="en-US" altLang="zh-CN" sz="2400" i="1">
                    <a:solidFill>
                      <a:srgbClr val="FF0066"/>
                    </a:solidFill>
                  </a:rPr>
                  <a:t>i</a:t>
                </a:r>
                <a:r>
                  <a:rPr lang="en-US" altLang="zh-CN" sz="2400" baseline="-25000">
                    <a:solidFill>
                      <a:srgbClr val="FF0066"/>
                    </a:solidFill>
                  </a:rPr>
                  <a:t>C</a:t>
                </a:r>
              </a:p>
            </p:txBody>
          </p:sp>
          <p:sp>
            <p:nvSpPr>
              <p:cNvPr id="31" name="Line 7"/>
              <p:cNvSpPr>
                <a:spLocks noChangeShapeType="1"/>
              </p:cNvSpPr>
              <p:nvPr/>
            </p:nvSpPr>
            <p:spPr bwMode="auto">
              <a:xfrm>
                <a:off x="4212487" y="2401689"/>
                <a:ext cx="0" cy="433561"/>
              </a:xfrm>
              <a:prstGeom prst="line">
                <a:avLst/>
              </a:prstGeom>
              <a:noFill/>
              <a:ln w="25400">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32" name="Line 8"/>
              <p:cNvSpPr>
                <a:spLocks noChangeShapeType="1"/>
              </p:cNvSpPr>
              <p:nvPr/>
            </p:nvSpPr>
            <p:spPr bwMode="auto">
              <a:xfrm>
                <a:off x="4114181" y="4330750"/>
                <a:ext cx="239934" cy="0"/>
              </a:xfrm>
              <a:prstGeom prst="line">
                <a:avLst/>
              </a:prstGeom>
              <a:noFill/>
              <a:ln w="381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33" name="Line 9"/>
              <p:cNvSpPr>
                <a:spLocks noChangeShapeType="1"/>
              </p:cNvSpPr>
              <p:nvPr/>
            </p:nvSpPr>
            <p:spPr bwMode="auto">
              <a:xfrm>
                <a:off x="3949226" y="2882999"/>
                <a:ext cx="0" cy="437381"/>
              </a:xfrm>
              <a:prstGeom prst="line">
                <a:avLst/>
              </a:prstGeom>
              <a:noFill/>
              <a:ln w="381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34" name="Line 10"/>
              <p:cNvSpPr>
                <a:spLocks noChangeShapeType="1"/>
              </p:cNvSpPr>
              <p:nvPr/>
            </p:nvSpPr>
            <p:spPr bwMode="auto">
              <a:xfrm flipV="1">
                <a:off x="3949226" y="2810421"/>
                <a:ext cx="274925" cy="217736"/>
              </a:xfrm>
              <a:prstGeom prst="line">
                <a:avLst/>
              </a:prstGeom>
              <a:noFill/>
              <a:ln w="381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35" name="Line 11"/>
              <p:cNvSpPr>
                <a:spLocks noChangeShapeType="1"/>
              </p:cNvSpPr>
              <p:nvPr/>
            </p:nvSpPr>
            <p:spPr bwMode="auto">
              <a:xfrm>
                <a:off x="3949226" y="3171404"/>
                <a:ext cx="324911" cy="150887"/>
              </a:xfrm>
              <a:prstGeom prst="line">
                <a:avLst/>
              </a:prstGeom>
              <a:noFill/>
              <a:ln w="38100">
                <a:solidFill>
                  <a:schemeClr val="tx1"/>
                </a:solidFill>
                <a:round/>
                <a:headEnd/>
                <a:tailEnd type="stealth" w="med" len="me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36" name="Text Box 12"/>
              <p:cNvSpPr txBox="1">
                <a:spLocks noChangeArrowheads="1"/>
              </p:cNvSpPr>
              <p:nvPr/>
            </p:nvSpPr>
            <p:spPr bwMode="auto">
              <a:xfrm>
                <a:off x="2034751" y="3064446"/>
                <a:ext cx="559846" cy="106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gn="ctr">
                  <a:lnSpc>
                    <a:spcPct val="80000"/>
                  </a:lnSpc>
                </a:pPr>
                <a:r>
                  <a:rPr lang="en-US" altLang="zh-CN" sz="2400" i="1">
                    <a:solidFill>
                      <a:srgbClr val="FF0066"/>
                    </a:solidFill>
                  </a:rPr>
                  <a:t>+</a:t>
                </a:r>
              </a:p>
              <a:p>
                <a:pPr algn="ctr">
                  <a:lnSpc>
                    <a:spcPct val="80000"/>
                  </a:lnSpc>
                </a:pPr>
                <a:r>
                  <a:rPr lang="en-US" altLang="zh-CN" i="1">
                    <a:solidFill>
                      <a:srgbClr val="FF0066"/>
                    </a:solidFill>
                    <a:cs typeface="Times New Roman" pitchFamily="18" charset="0"/>
                    <a:sym typeface="Symbol" pitchFamily="18" charset="2"/>
                  </a:rPr>
                  <a:t>u</a:t>
                </a:r>
                <a:r>
                  <a:rPr lang="en-US" altLang="zh-CN" baseline="-25000">
                    <a:solidFill>
                      <a:srgbClr val="FF0066"/>
                    </a:solidFill>
                    <a:cs typeface="Times New Roman" pitchFamily="18" charset="0"/>
                    <a:sym typeface="Symbol" pitchFamily="18" charset="2"/>
                  </a:rPr>
                  <a:t>i</a:t>
                </a:r>
                <a:r>
                  <a:rPr lang="en-US" altLang="zh-CN">
                    <a:solidFill>
                      <a:srgbClr val="FF0066"/>
                    </a:solidFill>
                    <a:cs typeface="Times New Roman" pitchFamily="18" charset="0"/>
                    <a:sym typeface="Symbol" pitchFamily="18" charset="2"/>
                  </a:rPr>
                  <a:t>–</a:t>
                </a:r>
              </a:p>
            </p:txBody>
          </p:sp>
          <p:sp>
            <p:nvSpPr>
              <p:cNvPr id="37" name="Line 13"/>
              <p:cNvSpPr>
                <a:spLocks noChangeShapeType="1"/>
              </p:cNvSpPr>
              <p:nvPr/>
            </p:nvSpPr>
            <p:spPr bwMode="auto">
              <a:xfrm flipH="1" flipV="1">
                <a:off x="2681240" y="3117925"/>
                <a:ext cx="1276317" cy="3820"/>
              </a:xfrm>
              <a:prstGeom prst="line">
                <a:avLst/>
              </a:prstGeom>
              <a:noFill/>
              <a:ln w="254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38" name="Line 14"/>
              <p:cNvSpPr>
                <a:spLocks noChangeShapeType="1"/>
              </p:cNvSpPr>
              <p:nvPr/>
            </p:nvSpPr>
            <p:spPr bwMode="auto">
              <a:xfrm>
                <a:off x="2674575" y="4147394"/>
                <a:ext cx="2799232" cy="0"/>
              </a:xfrm>
              <a:prstGeom prst="line">
                <a:avLst/>
              </a:prstGeom>
              <a:noFill/>
              <a:ln w="254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39" name="Oval 15"/>
              <p:cNvSpPr>
                <a:spLocks noChangeArrowheads="1"/>
              </p:cNvSpPr>
              <p:nvPr/>
            </p:nvSpPr>
            <p:spPr bwMode="auto">
              <a:xfrm>
                <a:off x="4194159" y="4109194"/>
                <a:ext cx="68315" cy="72579"/>
              </a:xfrm>
              <a:prstGeom prst="ellipse">
                <a:avLst/>
              </a:prstGeom>
              <a:noFill/>
              <a:ln w="38100">
                <a:solidFill>
                  <a:schemeClr val="tx1"/>
                </a:solidFill>
                <a:round/>
                <a:headEnd/>
                <a:tailEnd/>
              </a:ln>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40" name="Oval 16"/>
              <p:cNvSpPr>
                <a:spLocks noChangeArrowheads="1"/>
              </p:cNvSpPr>
              <p:nvPr/>
            </p:nvSpPr>
            <p:spPr bwMode="auto">
              <a:xfrm>
                <a:off x="4674027" y="3964037"/>
                <a:ext cx="301584" cy="345703"/>
              </a:xfrm>
              <a:prstGeom prst="ellipse">
                <a:avLst/>
              </a:prstGeom>
              <a:noFill/>
              <a:ln w="38100">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41" name="Text Box 17"/>
              <p:cNvSpPr txBox="1">
                <a:spLocks noChangeArrowheads="1"/>
              </p:cNvSpPr>
              <p:nvPr/>
            </p:nvSpPr>
            <p:spPr bwMode="auto">
              <a:xfrm>
                <a:off x="4644008" y="3382368"/>
                <a:ext cx="638158" cy="458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type="none" w="sm" len="lg"/>
                  </a14:hiddenLine>
                </a:ext>
              </a:extLst>
            </p:spPr>
            <p:txBody>
              <a:bodyPr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gn="ctr"/>
                <a:r>
                  <a:rPr lang="en-US" altLang="zh-CN" sz="2400" i="1" dirty="0">
                    <a:solidFill>
                      <a:schemeClr val="tx1"/>
                    </a:solidFill>
                  </a:rPr>
                  <a:t>r</a:t>
                </a:r>
                <a:r>
                  <a:rPr lang="en-US" altLang="zh-CN" sz="2400" baseline="-25000" dirty="0">
                    <a:solidFill>
                      <a:schemeClr val="tx1"/>
                    </a:solidFill>
                  </a:rPr>
                  <a:t>e</a:t>
                </a:r>
                <a:endParaRPr lang="en-US" altLang="zh-CN" sz="2400" b="0" dirty="0">
                  <a:solidFill>
                    <a:schemeClr val="tx1"/>
                  </a:solidFill>
                </a:endParaRPr>
              </a:p>
            </p:txBody>
          </p:sp>
          <p:sp>
            <p:nvSpPr>
              <p:cNvPr id="42" name="Text Box 18"/>
              <p:cNvSpPr txBox="1">
                <a:spLocks noChangeArrowheads="1"/>
              </p:cNvSpPr>
              <p:nvPr/>
            </p:nvSpPr>
            <p:spPr bwMode="auto">
              <a:xfrm>
                <a:off x="4195825" y="2772222"/>
                <a:ext cx="634826" cy="909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gn="ctr">
                  <a:lnSpc>
                    <a:spcPct val="80000"/>
                  </a:lnSpc>
                </a:pPr>
                <a:r>
                  <a:rPr lang="en-US" altLang="zh-CN" sz="2400" i="1" dirty="0">
                    <a:solidFill>
                      <a:srgbClr val="FF0066"/>
                    </a:solidFill>
                  </a:rPr>
                  <a:t>+</a:t>
                </a:r>
              </a:p>
              <a:p>
                <a:pPr algn="ctr">
                  <a:lnSpc>
                    <a:spcPct val="80000"/>
                  </a:lnSpc>
                </a:pPr>
                <a:r>
                  <a:rPr lang="en-US" altLang="zh-CN" sz="2400" i="1" dirty="0" err="1">
                    <a:solidFill>
                      <a:srgbClr val="0033CC"/>
                    </a:solidFill>
                  </a:rPr>
                  <a:t>u</a:t>
                </a:r>
                <a:r>
                  <a:rPr lang="en-US" altLang="zh-CN" sz="2400" baseline="-25000" dirty="0" err="1">
                    <a:solidFill>
                      <a:srgbClr val="0033CC"/>
                    </a:solidFill>
                  </a:rPr>
                  <a:t>CE</a:t>
                </a:r>
                <a:endParaRPr lang="en-US" altLang="zh-CN" sz="2400" baseline="-25000" dirty="0">
                  <a:solidFill>
                    <a:srgbClr val="0033CC"/>
                  </a:solidFill>
                </a:endParaRPr>
              </a:p>
              <a:p>
                <a:pPr algn="ctr">
                  <a:lnSpc>
                    <a:spcPct val="80000"/>
                  </a:lnSpc>
                </a:pPr>
                <a:r>
                  <a:rPr lang="en-US" altLang="zh-CN" baseline="-25000" dirty="0">
                    <a:solidFill>
                      <a:srgbClr val="FF3300"/>
                    </a:solidFill>
                    <a:cs typeface="Times New Roman" pitchFamily="18" charset="0"/>
                    <a:sym typeface="Symbol" pitchFamily="18" charset="2"/>
                  </a:rPr>
                  <a:t>–</a:t>
                </a:r>
              </a:p>
            </p:txBody>
          </p:sp>
          <p:sp>
            <p:nvSpPr>
              <p:cNvPr id="43" name="Text Box 19"/>
              <p:cNvSpPr txBox="1">
                <a:spLocks noChangeArrowheads="1"/>
              </p:cNvSpPr>
              <p:nvPr/>
            </p:nvSpPr>
            <p:spPr bwMode="auto">
              <a:xfrm>
                <a:off x="2834532" y="3047256"/>
                <a:ext cx="1701200" cy="859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sm" len="lg"/>
                  </a14:hiddenLine>
                </a:ext>
              </a:extLst>
            </p:spPr>
            <p:txBody>
              <a:bodyP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gn="ctr">
                  <a:lnSpc>
                    <a:spcPct val="80000"/>
                  </a:lnSpc>
                </a:pPr>
                <a:r>
                  <a:rPr lang="en-US" altLang="zh-CN" sz="2400" i="1" dirty="0">
                    <a:solidFill>
                      <a:srgbClr val="FF0066"/>
                    </a:solidFill>
                  </a:rPr>
                  <a:t>+</a:t>
                </a:r>
              </a:p>
              <a:p>
                <a:pPr algn="ctr">
                  <a:lnSpc>
                    <a:spcPct val="60000"/>
                  </a:lnSpc>
                </a:pPr>
                <a:r>
                  <a:rPr lang="en-US" altLang="zh-CN" sz="2400" i="1" dirty="0">
                    <a:solidFill>
                      <a:srgbClr val="FF0066"/>
                    </a:solidFill>
                  </a:rPr>
                  <a:t>      </a:t>
                </a:r>
                <a:r>
                  <a:rPr lang="en-US" altLang="zh-CN" sz="2400" i="1" dirty="0" err="1">
                    <a:solidFill>
                      <a:srgbClr val="0033CC"/>
                    </a:solidFill>
                  </a:rPr>
                  <a:t>u</a:t>
                </a:r>
                <a:r>
                  <a:rPr lang="en-US" altLang="zh-CN" sz="2400" baseline="-25000" dirty="0" err="1">
                    <a:solidFill>
                      <a:srgbClr val="0033CC"/>
                    </a:solidFill>
                  </a:rPr>
                  <a:t>BE</a:t>
                </a:r>
                <a:endParaRPr lang="en-US" altLang="zh-CN" sz="2400" baseline="-25000" dirty="0">
                  <a:solidFill>
                    <a:srgbClr val="0033CC"/>
                  </a:solidFill>
                </a:endParaRPr>
              </a:p>
              <a:p>
                <a:pPr algn="ctr">
                  <a:lnSpc>
                    <a:spcPct val="60000"/>
                  </a:lnSpc>
                </a:pPr>
                <a:r>
                  <a:rPr lang="en-US" altLang="zh-CN" sz="2400" i="1" dirty="0">
                    <a:solidFill>
                      <a:srgbClr val="FF0066"/>
                    </a:solidFill>
                  </a:rPr>
                  <a:t>       </a:t>
                </a:r>
                <a:r>
                  <a:rPr lang="en-US" altLang="zh-CN" i="1" dirty="0">
                    <a:solidFill>
                      <a:srgbClr val="FF0066"/>
                    </a:solidFill>
                  </a:rPr>
                  <a:t> </a:t>
                </a:r>
                <a:r>
                  <a:rPr lang="en-US" altLang="zh-CN" dirty="0">
                    <a:solidFill>
                      <a:srgbClr val="FF0066"/>
                    </a:solidFill>
                    <a:cs typeface="Times New Roman" pitchFamily="18" charset="0"/>
                    <a:sym typeface="Symbol" pitchFamily="18" charset="2"/>
                  </a:rPr>
                  <a:t></a:t>
                </a:r>
                <a:r>
                  <a:rPr lang="en-US" altLang="zh-CN" i="1" dirty="0">
                    <a:solidFill>
                      <a:srgbClr val="FF0066"/>
                    </a:solidFill>
                  </a:rPr>
                  <a:t> </a:t>
                </a:r>
              </a:p>
            </p:txBody>
          </p:sp>
          <p:sp>
            <p:nvSpPr>
              <p:cNvPr id="44" name="Line 20"/>
              <p:cNvSpPr>
                <a:spLocks noChangeShapeType="1"/>
              </p:cNvSpPr>
              <p:nvPr/>
            </p:nvSpPr>
            <p:spPr bwMode="auto">
              <a:xfrm>
                <a:off x="2674575" y="3104555"/>
                <a:ext cx="0" cy="1042839"/>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45" name="Line 21"/>
              <p:cNvSpPr>
                <a:spLocks noChangeShapeType="1"/>
              </p:cNvSpPr>
              <p:nvPr/>
            </p:nvSpPr>
            <p:spPr bwMode="auto">
              <a:xfrm>
                <a:off x="4212487" y="2405509"/>
                <a:ext cx="1279649" cy="0"/>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46" name="Line 22"/>
              <p:cNvSpPr>
                <a:spLocks noChangeShapeType="1"/>
              </p:cNvSpPr>
              <p:nvPr/>
            </p:nvSpPr>
            <p:spPr bwMode="auto">
              <a:xfrm>
                <a:off x="4230815" y="3322290"/>
                <a:ext cx="0" cy="995090"/>
              </a:xfrm>
              <a:prstGeom prst="line">
                <a:avLst/>
              </a:prstGeom>
              <a:noFill/>
              <a:ln w="25400">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47" name="Oval 23"/>
              <p:cNvSpPr>
                <a:spLocks noChangeArrowheads="1"/>
              </p:cNvSpPr>
              <p:nvPr/>
            </p:nvSpPr>
            <p:spPr bwMode="auto">
              <a:xfrm>
                <a:off x="2514619" y="3505647"/>
                <a:ext cx="301584" cy="343793"/>
              </a:xfrm>
              <a:prstGeom prst="ellipse">
                <a:avLst/>
              </a:prstGeom>
              <a:noFill/>
              <a:ln w="38100">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48" name="Rectangle 24"/>
              <p:cNvSpPr>
                <a:spLocks noChangeArrowheads="1"/>
              </p:cNvSpPr>
              <p:nvPr/>
            </p:nvSpPr>
            <p:spPr bwMode="auto">
              <a:xfrm>
                <a:off x="4674027" y="4240982"/>
                <a:ext cx="742092" cy="469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r>
                  <a:rPr lang="en-US" altLang="zh-CN" sz="2400" i="1" dirty="0" smtClean="0">
                    <a:solidFill>
                      <a:srgbClr val="0033CC"/>
                    </a:solidFill>
                  </a:rPr>
                  <a:t>V</a:t>
                </a:r>
                <a:r>
                  <a:rPr lang="en-US" altLang="zh-CN" sz="2400" baseline="-25000" dirty="0" smtClean="0">
                    <a:solidFill>
                      <a:srgbClr val="0033CC"/>
                    </a:solidFill>
                  </a:rPr>
                  <a:t>CC</a:t>
                </a:r>
                <a:endParaRPr lang="en-US" altLang="zh-CN" sz="2400" baseline="-25000" dirty="0">
                  <a:solidFill>
                    <a:srgbClr val="0033CC"/>
                  </a:solidFill>
                </a:endParaRPr>
              </a:p>
            </p:txBody>
          </p:sp>
          <p:sp>
            <p:nvSpPr>
              <p:cNvPr id="49" name="Rectangle 25"/>
              <p:cNvSpPr>
                <a:spLocks noChangeArrowheads="1"/>
              </p:cNvSpPr>
              <p:nvPr/>
            </p:nvSpPr>
            <p:spPr bwMode="auto">
              <a:xfrm>
                <a:off x="3074466" y="4240982"/>
                <a:ext cx="717773" cy="46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r>
                  <a:rPr lang="en-US" altLang="zh-CN" sz="2400" i="1" dirty="0" smtClean="0">
                    <a:solidFill>
                      <a:srgbClr val="0033CC"/>
                    </a:solidFill>
                  </a:rPr>
                  <a:t>V</a:t>
                </a:r>
                <a:r>
                  <a:rPr lang="en-US" altLang="zh-CN" sz="2400" baseline="-25000" dirty="0" smtClean="0">
                    <a:solidFill>
                      <a:srgbClr val="0033CC"/>
                    </a:solidFill>
                  </a:rPr>
                  <a:t>BB</a:t>
                </a:r>
                <a:endParaRPr lang="en-US" altLang="zh-CN" sz="2400" baseline="-25000" dirty="0">
                  <a:solidFill>
                    <a:srgbClr val="0033CC"/>
                  </a:solidFill>
                </a:endParaRPr>
              </a:p>
            </p:txBody>
          </p:sp>
          <p:sp>
            <p:nvSpPr>
              <p:cNvPr id="50" name="Line 26"/>
              <p:cNvSpPr>
                <a:spLocks noChangeShapeType="1"/>
              </p:cNvSpPr>
              <p:nvPr/>
            </p:nvSpPr>
            <p:spPr bwMode="auto">
              <a:xfrm>
                <a:off x="3554334" y="2955578"/>
                <a:ext cx="319912" cy="0"/>
              </a:xfrm>
              <a:prstGeom prst="line">
                <a:avLst/>
              </a:prstGeom>
              <a:noFill/>
              <a:ln w="28575">
                <a:solidFill>
                  <a:srgbClr val="FF0066"/>
                </a:solidFill>
                <a:round/>
                <a:headEnd/>
                <a:tailEnd type="stealth" w="med" len="me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51" name="Line 27"/>
              <p:cNvSpPr>
                <a:spLocks noChangeShapeType="1"/>
              </p:cNvSpPr>
              <p:nvPr/>
            </p:nvSpPr>
            <p:spPr bwMode="auto">
              <a:xfrm flipH="1">
                <a:off x="4434093" y="2267992"/>
                <a:ext cx="319912" cy="0"/>
              </a:xfrm>
              <a:prstGeom prst="line">
                <a:avLst/>
              </a:prstGeom>
              <a:noFill/>
              <a:ln w="28575">
                <a:solidFill>
                  <a:srgbClr val="FF0066"/>
                </a:solidFill>
                <a:round/>
                <a:headEnd/>
                <a:tailEnd type="stealth" w="med" len="me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52" name="Rectangle 28"/>
              <p:cNvSpPr>
                <a:spLocks noChangeArrowheads="1"/>
              </p:cNvSpPr>
              <p:nvPr/>
            </p:nvSpPr>
            <p:spPr bwMode="auto">
              <a:xfrm>
                <a:off x="3394378" y="2405509"/>
                <a:ext cx="639824" cy="458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lang="en-US" altLang="zh-CN" sz="2400" i="1">
                    <a:solidFill>
                      <a:srgbClr val="FF0066"/>
                    </a:solidFill>
                  </a:rPr>
                  <a:t>i</a:t>
                </a:r>
                <a:r>
                  <a:rPr lang="en-US" altLang="zh-CN" sz="2400" baseline="-25000">
                    <a:solidFill>
                      <a:srgbClr val="FF0066"/>
                    </a:solidFill>
                  </a:rPr>
                  <a:t>B</a:t>
                </a:r>
              </a:p>
            </p:txBody>
          </p:sp>
          <p:sp>
            <p:nvSpPr>
              <p:cNvPr id="53" name="Oval 29"/>
              <p:cNvSpPr>
                <a:spLocks noChangeArrowheads="1"/>
              </p:cNvSpPr>
              <p:nvPr/>
            </p:nvSpPr>
            <p:spPr bwMode="auto">
              <a:xfrm>
                <a:off x="3234422" y="3964037"/>
                <a:ext cx="301584" cy="345703"/>
              </a:xfrm>
              <a:prstGeom prst="ellipse">
                <a:avLst/>
              </a:prstGeom>
              <a:noFill/>
              <a:ln w="38100">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54" name="Text Box 30"/>
              <p:cNvSpPr txBox="1">
                <a:spLocks noChangeArrowheads="1"/>
              </p:cNvSpPr>
              <p:nvPr/>
            </p:nvSpPr>
            <p:spPr bwMode="auto">
              <a:xfrm>
                <a:off x="5868144" y="2437979"/>
                <a:ext cx="631493" cy="157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gn="ctr">
                  <a:lnSpc>
                    <a:spcPct val="80000"/>
                  </a:lnSpc>
                </a:pPr>
                <a:r>
                  <a:rPr lang="en-US" altLang="zh-CN" dirty="0">
                    <a:solidFill>
                      <a:srgbClr val="FF0066"/>
                    </a:solidFill>
                    <a:latin typeface="宋体" pitchFamily="2" charset="-122"/>
                    <a:sym typeface="Symbol" pitchFamily="18" charset="2"/>
                  </a:rPr>
                  <a:t>–</a:t>
                </a:r>
                <a:endParaRPr lang="en-US" altLang="zh-CN" sz="2400" i="1" dirty="0">
                  <a:solidFill>
                    <a:srgbClr val="FF0066"/>
                  </a:solidFill>
                </a:endParaRPr>
              </a:p>
              <a:p>
                <a:pPr algn="ctr">
                  <a:lnSpc>
                    <a:spcPct val="80000"/>
                  </a:lnSpc>
                </a:pPr>
                <a:endParaRPr lang="en-US" altLang="zh-CN" baseline="-25000" dirty="0">
                  <a:solidFill>
                    <a:srgbClr val="FF0066"/>
                  </a:solidFill>
                  <a:cs typeface="Times New Roman" pitchFamily="18" charset="0"/>
                  <a:sym typeface="Symbol" pitchFamily="18" charset="2"/>
                </a:endParaRPr>
              </a:p>
              <a:p>
                <a:pPr algn="ctr">
                  <a:lnSpc>
                    <a:spcPct val="80000"/>
                  </a:lnSpc>
                </a:pPr>
                <a:r>
                  <a:rPr lang="en-US" altLang="zh-CN" i="1" dirty="0" err="1">
                    <a:solidFill>
                      <a:srgbClr val="FF0066"/>
                    </a:solidFill>
                    <a:cs typeface="Times New Roman" pitchFamily="18" charset="0"/>
                    <a:sym typeface="Symbol" pitchFamily="18" charset="2"/>
                  </a:rPr>
                  <a:t>u</a:t>
                </a:r>
                <a:r>
                  <a:rPr lang="en-US" altLang="zh-CN" baseline="-25000" dirty="0" err="1">
                    <a:solidFill>
                      <a:srgbClr val="FF0066"/>
                    </a:solidFill>
                    <a:cs typeface="Times New Roman" pitchFamily="18" charset="0"/>
                    <a:sym typeface="Symbol" pitchFamily="18" charset="2"/>
                  </a:rPr>
                  <a:t>c</a:t>
                </a:r>
                <a:endParaRPr lang="en-US" altLang="zh-CN" baseline="-25000" dirty="0">
                  <a:solidFill>
                    <a:srgbClr val="FF0066"/>
                  </a:solidFill>
                  <a:cs typeface="Times New Roman" pitchFamily="18" charset="0"/>
                  <a:sym typeface="Symbol" pitchFamily="18" charset="2"/>
                </a:endParaRPr>
              </a:p>
              <a:p>
                <a:pPr algn="ctr">
                  <a:lnSpc>
                    <a:spcPct val="80000"/>
                  </a:lnSpc>
                </a:pPr>
                <a:endParaRPr lang="en-US" altLang="zh-CN" baseline="-25000" dirty="0">
                  <a:solidFill>
                    <a:srgbClr val="FF0066"/>
                  </a:solidFill>
                  <a:cs typeface="Times New Roman" pitchFamily="18" charset="0"/>
                  <a:sym typeface="Symbol" pitchFamily="18" charset="2"/>
                </a:endParaRPr>
              </a:p>
              <a:p>
                <a:pPr algn="ctr">
                  <a:lnSpc>
                    <a:spcPct val="80000"/>
                  </a:lnSpc>
                </a:pPr>
                <a:r>
                  <a:rPr lang="en-US" altLang="zh-CN" i="1" dirty="0">
                    <a:solidFill>
                      <a:srgbClr val="FF0066"/>
                    </a:solidFill>
                  </a:rPr>
                  <a:t>+</a:t>
                </a:r>
              </a:p>
            </p:txBody>
          </p:sp>
          <p:sp>
            <p:nvSpPr>
              <p:cNvPr id="55" name="Text Box 31"/>
              <p:cNvSpPr txBox="1">
                <a:spLocks noChangeArrowheads="1"/>
              </p:cNvSpPr>
              <p:nvPr/>
            </p:nvSpPr>
            <p:spPr bwMode="auto">
              <a:xfrm>
                <a:off x="2832130" y="4122066"/>
                <a:ext cx="1279649" cy="66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nSpc>
                    <a:spcPct val="80000"/>
                  </a:lnSpc>
                </a:pPr>
                <a:r>
                  <a:rPr lang="en-US" altLang="zh-CN" sz="2400" i="1" dirty="0">
                    <a:solidFill>
                      <a:srgbClr val="0033CC"/>
                    </a:solidFill>
                  </a:rPr>
                  <a:t>+  </a:t>
                </a:r>
                <a:r>
                  <a:rPr lang="en-US" altLang="zh-CN" sz="2400" i="1" dirty="0" smtClean="0">
                    <a:solidFill>
                      <a:srgbClr val="0033CC"/>
                    </a:solidFill>
                  </a:rPr>
                  <a:t>     </a:t>
                </a:r>
                <a:r>
                  <a:rPr lang="en-US" altLang="zh-CN" dirty="0">
                    <a:solidFill>
                      <a:srgbClr val="0033CC"/>
                    </a:solidFill>
                    <a:cs typeface="Times New Roman" pitchFamily="18" charset="0"/>
                    <a:sym typeface="Symbol" pitchFamily="18" charset="2"/>
                  </a:rPr>
                  <a:t>–</a:t>
                </a:r>
                <a:endParaRPr lang="en-US" altLang="zh-CN" sz="2400" i="1" dirty="0">
                  <a:solidFill>
                    <a:srgbClr val="0033CC"/>
                  </a:solidFill>
                </a:endParaRPr>
              </a:p>
              <a:p>
                <a:pPr algn="ctr">
                  <a:lnSpc>
                    <a:spcPct val="80000"/>
                  </a:lnSpc>
                </a:pPr>
                <a:endParaRPr lang="zh-CN" altLang="en-US" baseline="-25000" dirty="0">
                  <a:solidFill>
                    <a:srgbClr val="0033CC"/>
                  </a:solidFill>
                  <a:sym typeface="Symbol" pitchFamily="18" charset="2"/>
                </a:endParaRPr>
              </a:p>
            </p:txBody>
          </p:sp>
          <p:sp>
            <p:nvSpPr>
              <p:cNvPr id="56" name="Text Box 32"/>
              <p:cNvSpPr txBox="1">
                <a:spLocks noChangeArrowheads="1"/>
              </p:cNvSpPr>
              <p:nvPr/>
            </p:nvSpPr>
            <p:spPr bwMode="auto">
              <a:xfrm>
                <a:off x="4314739" y="4127145"/>
                <a:ext cx="1279649" cy="66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a:lnSpc>
                    <a:spcPct val="80000"/>
                  </a:lnSpc>
                </a:pPr>
                <a:r>
                  <a:rPr lang="en-US" altLang="zh-CN" dirty="0">
                    <a:solidFill>
                      <a:srgbClr val="0033CC"/>
                    </a:solidFill>
                    <a:cs typeface="Times New Roman" pitchFamily="18" charset="0"/>
                    <a:sym typeface="Symbol" pitchFamily="18" charset="2"/>
                  </a:rPr>
                  <a:t>–      </a:t>
                </a:r>
                <a:r>
                  <a:rPr lang="en-US" altLang="zh-CN" sz="2400" i="1" dirty="0">
                    <a:solidFill>
                      <a:srgbClr val="0033CC"/>
                    </a:solidFill>
                    <a:cs typeface="Times New Roman" pitchFamily="18" charset="0"/>
                  </a:rPr>
                  <a:t>+</a:t>
                </a:r>
              </a:p>
              <a:p>
                <a:pPr algn="ctr">
                  <a:lnSpc>
                    <a:spcPct val="80000"/>
                  </a:lnSpc>
                </a:pPr>
                <a:endParaRPr lang="zh-CN" altLang="en-US" baseline="-25000" dirty="0">
                  <a:solidFill>
                    <a:srgbClr val="0033CC"/>
                  </a:solidFill>
                  <a:cs typeface="Times New Roman" pitchFamily="18" charset="0"/>
                  <a:sym typeface="Symbol" pitchFamily="18" charset="2"/>
                </a:endParaRPr>
              </a:p>
            </p:txBody>
          </p:sp>
          <p:grpSp>
            <p:nvGrpSpPr>
              <p:cNvPr id="57" name="Group 33"/>
              <p:cNvGrpSpPr>
                <a:grpSpLocks/>
              </p:cNvGrpSpPr>
              <p:nvPr/>
            </p:nvGrpSpPr>
            <p:grpSpPr bwMode="auto">
              <a:xfrm>
                <a:off x="5168419" y="2567856"/>
                <a:ext cx="103305" cy="897682"/>
                <a:chOff x="3312" y="2016"/>
                <a:chExt cx="76" cy="695"/>
              </a:xfrm>
            </p:grpSpPr>
            <p:sp>
              <p:nvSpPr>
                <p:cNvPr id="71" name="Arc 34"/>
                <p:cNvSpPr>
                  <a:spLocks/>
                </p:cNvSpPr>
                <p:nvPr/>
              </p:nvSpPr>
              <p:spPr bwMode="auto">
                <a:xfrm>
                  <a:off x="3312" y="2160"/>
                  <a:ext cx="76" cy="98"/>
                </a:xfrm>
                <a:custGeom>
                  <a:avLst/>
                  <a:gdLst>
                    <a:gd name="G0" fmla="+- 2243 0 0"/>
                    <a:gd name="G1" fmla="+- 21600 0 0"/>
                    <a:gd name="G2" fmla="+- 21600 0 0"/>
                    <a:gd name="T0" fmla="*/ 2243 w 23843"/>
                    <a:gd name="T1" fmla="*/ 0 h 43200"/>
                    <a:gd name="T2" fmla="*/ 0 w 23843"/>
                    <a:gd name="T3" fmla="*/ 43083 h 43200"/>
                    <a:gd name="T4" fmla="*/ 2243 w 23843"/>
                    <a:gd name="T5" fmla="*/ 21600 h 43200"/>
                  </a:gdLst>
                  <a:ahLst/>
                  <a:cxnLst>
                    <a:cxn ang="0">
                      <a:pos x="T0" y="T1"/>
                    </a:cxn>
                    <a:cxn ang="0">
                      <a:pos x="T2" y="T3"/>
                    </a:cxn>
                    <a:cxn ang="0">
                      <a:pos x="T4" y="T5"/>
                    </a:cxn>
                  </a:cxnLst>
                  <a:rect l="0" t="0" r="r" b="b"/>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close/>
                    </a:path>
                  </a:pathLst>
                </a:cu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72" name="Arc 35"/>
                <p:cNvSpPr>
                  <a:spLocks/>
                </p:cNvSpPr>
                <p:nvPr/>
              </p:nvSpPr>
              <p:spPr bwMode="auto">
                <a:xfrm>
                  <a:off x="3322" y="2355"/>
                  <a:ext cx="62" cy="96"/>
                </a:xfrm>
                <a:custGeom>
                  <a:avLst/>
                  <a:gdLst>
                    <a:gd name="G0" fmla="+- 2243 0 0"/>
                    <a:gd name="G1" fmla="+- 21600 0 0"/>
                    <a:gd name="G2" fmla="+- 21600 0 0"/>
                    <a:gd name="T0" fmla="*/ 2243 w 23843"/>
                    <a:gd name="T1" fmla="*/ 0 h 43200"/>
                    <a:gd name="T2" fmla="*/ 0 w 23843"/>
                    <a:gd name="T3" fmla="*/ 43083 h 43200"/>
                    <a:gd name="T4" fmla="*/ 2243 w 23843"/>
                    <a:gd name="T5" fmla="*/ 21600 h 43200"/>
                  </a:gdLst>
                  <a:ahLst/>
                  <a:cxnLst>
                    <a:cxn ang="0">
                      <a:pos x="T0" y="T1"/>
                    </a:cxn>
                    <a:cxn ang="0">
                      <a:pos x="T2" y="T3"/>
                    </a:cxn>
                    <a:cxn ang="0">
                      <a:pos x="T4" y="T5"/>
                    </a:cxn>
                  </a:cxnLst>
                  <a:rect l="0" t="0" r="r" b="b"/>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close/>
                    </a:path>
                  </a:pathLst>
                </a:cu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73" name="Arc 36"/>
                <p:cNvSpPr>
                  <a:spLocks/>
                </p:cNvSpPr>
                <p:nvPr/>
              </p:nvSpPr>
              <p:spPr bwMode="auto">
                <a:xfrm>
                  <a:off x="3328" y="2252"/>
                  <a:ext cx="60" cy="98"/>
                </a:xfrm>
                <a:custGeom>
                  <a:avLst/>
                  <a:gdLst>
                    <a:gd name="G0" fmla="+- 2243 0 0"/>
                    <a:gd name="G1" fmla="+- 21600 0 0"/>
                    <a:gd name="G2" fmla="+- 21600 0 0"/>
                    <a:gd name="T0" fmla="*/ 2243 w 23843"/>
                    <a:gd name="T1" fmla="*/ 0 h 43200"/>
                    <a:gd name="T2" fmla="*/ 0 w 23843"/>
                    <a:gd name="T3" fmla="*/ 43083 h 43200"/>
                    <a:gd name="T4" fmla="*/ 2243 w 23843"/>
                    <a:gd name="T5" fmla="*/ 21600 h 43200"/>
                  </a:gdLst>
                  <a:ahLst/>
                  <a:cxnLst>
                    <a:cxn ang="0">
                      <a:pos x="T0" y="T1"/>
                    </a:cxn>
                    <a:cxn ang="0">
                      <a:pos x="T2" y="T3"/>
                    </a:cxn>
                    <a:cxn ang="0">
                      <a:pos x="T4" y="T5"/>
                    </a:cxn>
                  </a:cxnLst>
                  <a:rect l="0" t="0" r="r" b="b"/>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close/>
                    </a:path>
                  </a:pathLst>
                </a:cu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74" name="Arc 37"/>
                <p:cNvSpPr>
                  <a:spLocks/>
                </p:cNvSpPr>
                <p:nvPr/>
              </p:nvSpPr>
              <p:spPr bwMode="auto">
                <a:xfrm>
                  <a:off x="3312" y="2456"/>
                  <a:ext cx="60" cy="97"/>
                </a:xfrm>
                <a:custGeom>
                  <a:avLst/>
                  <a:gdLst>
                    <a:gd name="G0" fmla="+- 2243 0 0"/>
                    <a:gd name="G1" fmla="+- 21600 0 0"/>
                    <a:gd name="G2" fmla="+- 21600 0 0"/>
                    <a:gd name="T0" fmla="*/ 2243 w 23843"/>
                    <a:gd name="T1" fmla="*/ 0 h 43200"/>
                    <a:gd name="T2" fmla="*/ 0 w 23843"/>
                    <a:gd name="T3" fmla="*/ 43083 h 43200"/>
                    <a:gd name="T4" fmla="*/ 2243 w 23843"/>
                    <a:gd name="T5" fmla="*/ 21600 h 43200"/>
                  </a:gdLst>
                  <a:ahLst/>
                  <a:cxnLst>
                    <a:cxn ang="0">
                      <a:pos x="T0" y="T1"/>
                    </a:cxn>
                    <a:cxn ang="0">
                      <a:pos x="T2" y="T3"/>
                    </a:cxn>
                    <a:cxn ang="0">
                      <a:pos x="T4" y="T5"/>
                    </a:cxn>
                  </a:cxnLst>
                  <a:rect l="0" t="0" r="r" b="b"/>
                  <a:pathLst>
                    <a:path w="23843" h="43200" fill="none" extrusionOk="0">
                      <a:moveTo>
                        <a:pt x="2242" y="0"/>
                      </a:moveTo>
                      <a:cubicBezTo>
                        <a:pt x="14172" y="0"/>
                        <a:pt x="23843" y="9670"/>
                        <a:pt x="23843" y="21600"/>
                      </a:cubicBezTo>
                      <a:cubicBezTo>
                        <a:pt x="23843" y="33529"/>
                        <a:pt x="14172" y="43200"/>
                        <a:pt x="2243" y="43200"/>
                      </a:cubicBezTo>
                      <a:cubicBezTo>
                        <a:pt x="1493" y="43200"/>
                        <a:pt x="745" y="43161"/>
                        <a:pt x="-1" y="43083"/>
                      </a:cubicBezTo>
                    </a:path>
                    <a:path w="23843" h="43200" stroke="0" extrusionOk="0">
                      <a:moveTo>
                        <a:pt x="2242" y="0"/>
                      </a:moveTo>
                      <a:cubicBezTo>
                        <a:pt x="14172" y="0"/>
                        <a:pt x="23843" y="9670"/>
                        <a:pt x="23843" y="21600"/>
                      </a:cubicBezTo>
                      <a:cubicBezTo>
                        <a:pt x="23843" y="33529"/>
                        <a:pt x="14172" y="43200"/>
                        <a:pt x="2243" y="43200"/>
                      </a:cubicBezTo>
                      <a:cubicBezTo>
                        <a:pt x="1493" y="43200"/>
                        <a:pt x="745" y="43161"/>
                        <a:pt x="-1" y="43083"/>
                      </a:cubicBezTo>
                      <a:lnTo>
                        <a:pt x="2243" y="21600"/>
                      </a:lnTo>
                      <a:close/>
                    </a:path>
                  </a:pathLst>
                </a:cu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75" name="Line 38"/>
                <p:cNvSpPr>
                  <a:spLocks noChangeShapeType="1"/>
                </p:cNvSpPr>
                <p:nvPr/>
              </p:nvSpPr>
              <p:spPr bwMode="auto">
                <a:xfrm flipH="1" flipV="1">
                  <a:off x="3312" y="2016"/>
                  <a:ext cx="0" cy="144"/>
                </a:xfrm>
                <a:prstGeom prst="line">
                  <a:avLst/>
                </a:pr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76" name="Line 39"/>
                <p:cNvSpPr>
                  <a:spLocks noChangeShapeType="1"/>
                </p:cNvSpPr>
                <p:nvPr/>
              </p:nvSpPr>
              <p:spPr bwMode="auto">
                <a:xfrm>
                  <a:off x="3312" y="2542"/>
                  <a:ext cx="0" cy="166"/>
                </a:xfrm>
                <a:prstGeom prst="line">
                  <a:avLst/>
                </a:pr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grpSp>
          <p:sp>
            <p:nvSpPr>
              <p:cNvPr id="58" name="Line 40"/>
              <p:cNvSpPr>
                <a:spLocks noChangeShapeType="1"/>
              </p:cNvSpPr>
              <p:nvPr/>
            </p:nvSpPr>
            <p:spPr bwMode="auto">
              <a:xfrm flipV="1">
                <a:off x="5157227" y="2558455"/>
                <a:ext cx="675093" cy="0"/>
              </a:xfrm>
              <a:prstGeom prst="line">
                <a:avLst/>
              </a:pr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59" name="Rectangle 41"/>
              <p:cNvSpPr>
                <a:spLocks noChangeArrowheads="1"/>
              </p:cNvSpPr>
              <p:nvPr/>
            </p:nvSpPr>
            <p:spPr bwMode="auto">
              <a:xfrm>
                <a:off x="5103437" y="3465538"/>
                <a:ext cx="129964" cy="276944"/>
              </a:xfrm>
              <a:prstGeom prst="rect">
                <a:avLst/>
              </a:prstGeom>
              <a:noFill/>
              <a:ln w="38100">
                <a:solidFill>
                  <a:schemeClr val="tx1"/>
                </a:solidFill>
                <a:miter lim="800000"/>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60" name="Line 43"/>
              <p:cNvSpPr>
                <a:spLocks noChangeShapeType="1"/>
              </p:cNvSpPr>
              <p:nvPr/>
            </p:nvSpPr>
            <p:spPr bwMode="auto">
              <a:xfrm>
                <a:off x="5696802" y="3287192"/>
                <a:ext cx="259929" cy="0"/>
              </a:xfrm>
              <a:prstGeom prst="line">
                <a:avLst/>
              </a:prstGeom>
              <a:noFill/>
              <a:ln w="38100">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61" name="Line 44"/>
              <p:cNvSpPr>
                <a:spLocks noChangeShapeType="1"/>
              </p:cNvSpPr>
              <p:nvPr/>
            </p:nvSpPr>
            <p:spPr bwMode="auto">
              <a:xfrm flipH="1">
                <a:off x="5828749" y="2558454"/>
                <a:ext cx="3572" cy="630139"/>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63" name="Line 45"/>
              <p:cNvSpPr>
                <a:spLocks noChangeShapeType="1"/>
              </p:cNvSpPr>
              <p:nvPr/>
            </p:nvSpPr>
            <p:spPr bwMode="auto">
              <a:xfrm>
                <a:off x="5199716" y="3763491"/>
                <a:ext cx="0" cy="206276"/>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64" name="Line 49"/>
              <p:cNvSpPr>
                <a:spLocks noChangeShapeType="1"/>
              </p:cNvSpPr>
              <p:nvPr/>
            </p:nvSpPr>
            <p:spPr bwMode="auto">
              <a:xfrm>
                <a:off x="5492136" y="2401688"/>
                <a:ext cx="3332" cy="167085"/>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65" name="Line 50"/>
              <p:cNvSpPr>
                <a:spLocks noChangeShapeType="1"/>
              </p:cNvSpPr>
              <p:nvPr/>
            </p:nvSpPr>
            <p:spPr bwMode="auto">
              <a:xfrm>
                <a:off x="5465477" y="3946848"/>
                <a:ext cx="0" cy="202456"/>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66" name="Rectangle 51"/>
              <p:cNvSpPr>
                <a:spLocks noChangeArrowheads="1"/>
              </p:cNvSpPr>
              <p:nvPr/>
            </p:nvSpPr>
            <p:spPr bwMode="auto">
              <a:xfrm>
                <a:off x="4798520" y="2707729"/>
                <a:ext cx="369899" cy="45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lang="en-US" altLang="zh-CN" sz="2400" i="1" dirty="0">
                    <a:solidFill>
                      <a:schemeClr val="tx1"/>
                    </a:solidFill>
                  </a:rPr>
                  <a:t>L</a:t>
                </a:r>
              </a:p>
            </p:txBody>
          </p:sp>
          <p:sp>
            <p:nvSpPr>
              <p:cNvPr id="67" name="Rectangle 52"/>
              <p:cNvSpPr>
                <a:spLocks noChangeArrowheads="1"/>
              </p:cNvSpPr>
              <p:nvPr/>
            </p:nvSpPr>
            <p:spPr bwMode="auto">
              <a:xfrm>
                <a:off x="5250263" y="3071462"/>
                <a:ext cx="386561" cy="456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lang="en-US" altLang="zh-CN" sz="2400" i="1" dirty="0">
                    <a:solidFill>
                      <a:schemeClr val="tx1"/>
                    </a:solidFill>
                  </a:rPr>
                  <a:t>C</a:t>
                </a:r>
              </a:p>
            </p:txBody>
          </p:sp>
          <p:sp>
            <p:nvSpPr>
              <p:cNvPr id="68" name="Line 44"/>
              <p:cNvSpPr>
                <a:spLocks noChangeShapeType="1"/>
              </p:cNvSpPr>
              <p:nvPr/>
            </p:nvSpPr>
            <p:spPr bwMode="auto">
              <a:xfrm>
                <a:off x="5832321" y="3293775"/>
                <a:ext cx="0" cy="653073"/>
              </a:xfrm>
              <a:prstGeom prst="line">
                <a:avLst/>
              </a:prstGeom>
              <a:noFill/>
              <a:ln w="28575">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69" name="Line 40"/>
              <p:cNvSpPr>
                <a:spLocks noChangeShapeType="1"/>
              </p:cNvSpPr>
              <p:nvPr/>
            </p:nvSpPr>
            <p:spPr bwMode="auto">
              <a:xfrm flipV="1">
                <a:off x="5180553" y="3964037"/>
                <a:ext cx="651767" cy="0"/>
              </a:xfrm>
              <a:prstGeom prst="line">
                <a:avLst/>
              </a:prstGeom>
              <a:noFill/>
              <a:ln w="28575">
                <a:solidFill>
                  <a:schemeClr val="tx1"/>
                </a:solidFill>
                <a:round/>
                <a:headEnd/>
                <a:tailEnd/>
              </a:ln>
              <a:effectLst/>
            </p:spPr>
            <p:txBody>
              <a:bodyPr wrap="none" anchor="ct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sp>
            <p:nvSpPr>
              <p:cNvPr id="70" name="Line 43"/>
              <p:cNvSpPr>
                <a:spLocks noChangeShapeType="1"/>
              </p:cNvSpPr>
              <p:nvPr/>
            </p:nvSpPr>
            <p:spPr bwMode="auto">
              <a:xfrm>
                <a:off x="5696802" y="3198817"/>
                <a:ext cx="259929" cy="0"/>
              </a:xfrm>
              <a:prstGeom prst="line">
                <a:avLst/>
              </a:prstGeom>
              <a:noFill/>
              <a:ln w="38100">
                <a:solidFill>
                  <a:schemeClr val="tx1"/>
                </a:solidFill>
                <a:round/>
                <a:headEnd/>
                <a:tailEnd/>
              </a:ln>
              <a:effectLst/>
            </p:spPr>
            <p:txBody>
              <a:bodyPr/>
              <a:lstStyle/>
              <a:p>
                <a:pPr algn="ctr" eaLnBrk="1" hangingPunct="1">
                  <a:spcBef>
                    <a:spcPct val="20000"/>
                  </a:spcBef>
                  <a:buClr>
                    <a:schemeClr val="accent2"/>
                  </a:buClr>
                  <a:buSzPct val="70000"/>
                  <a:buFont typeface="Wingdings" panose="05000000000000000000" pitchFamily="2" charset="2"/>
                  <a:buChar char="l"/>
                  <a:defRPr/>
                </a:pPr>
                <a:endParaRPr lang="zh-CN" altLang="en-US">
                  <a:effectLst>
                    <a:outerShdw blurRad="38100" dist="38100" dir="2700000" algn="tl">
                      <a:srgbClr val="000000">
                        <a:alpha val="43137"/>
                      </a:srgbClr>
                    </a:outerShdw>
                  </a:effectLst>
                </a:endParaRPr>
              </a:p>
            </p:txBody>
          </p:sp>
        </p:grpSp>
        <p:grpSp>
          <p:nvGrpSpPr>
            <p:cNvPr id="16" name="组合 15"/>
            <p:cNvGrpSpPr/>
            <p:nvPr/>
          </p:nvGrpSpPr>
          <p:grpSpPr>
            <a:xfrm>
              <a:off x="4651280" y="4356609"/>
              <a:ext cx="866447" cy="523094"/>
              <a:chOff x="-812538" y="4730644"/>
              <a:chExt cx="986073" cy="523094"/>
            </a:xfrm>
          </p:grpSpPr>
          <p:grpSp>
            <p:nvGrpSpPr>
              <p:cNvPr id="24" name="组合 23"/>
              <p:cNvGrpSpPr/>
              <p:nvPr/>
            </p:nvGrpSpPr>
            <p:grpSpPr>
              <a:xfrm>
                <a:off x="-575103" y="4730644"/>
                <a:ext cx="575103" cy="523094"/>
                <a:chOff x="-1044624" y="4227652"/>
                <a:chExt cx="648072" cy="560645"/>
              </a:xfrm>
            </p:grpSpPr>
            <p:sp>
              <p:nvSpPr>
                <p:cNvPr id="27" name="矩形 26"/>
                <p:cNvSpPr/>
                <p:nvPr/>
              </p:nvSpPr>
              <p:spPr bwMode="auto">
                <a:xfrm>
                  <a:off x="-1044624" y="4227652"/>
                  <a:ext cx="648072" cy="560645"/>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隶书" pitchFamily="49" charset="-122"/>
                  </a:endParaRPr>
                </a:p>
              </p:txBody>
            </p:sp>
            <p:cxnSp>
              <p:nvCxnSpPr>
                <p:cNvPr id="28" name="直接连接符 27"/>
                <p:cNvCxnSpPr/>
                <p:nvPr/>
              </p:nvCxnSpPr>
              <p:spPr bwMode="auto">
                <a:xfrm>
                  <a:off x="-684584" y="4260120"/>
                  <a:ext cx="0" cy="421502"/>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29" name="直接连接符 28"/>
                <p:cNvCxnSpPr/>
                <p:nvPr/>
              </p:nvCxnSpPr>
              <p:spPr bwMode="auto">
                <a:xfrm>
                  <a:off x="-828600" y="4365104"/>
                  <a:ext cx="0" cy="254329"/>
                </a:xfrm>
                <a:prstGeom prst="line">
                  <a:avLst/>
                </a:prstGeom>
                <a:solidFill>
                  <a:schemeClr val="accent1"/>
                </a:solidFill>
                <a:ln w="9525" cap="flat" cmpd="sng" algn="ctr">
                  <a:solidFill>
                    <a:schemeClr val="tx1"/>
                  </a:solidFill>
                  <a:prstDash val="solid"/>
                  <a:round/>
                  <a:headEnd type="none" w="med" len="med"/>
                  <a:tailEnd type="none" w="med" len="med"/>
                </a:ln>
              </p:spPr>
            </p:cxnSp>
          </p:grpSp>
          <p:cxnSp>
            <p:nvCxnSpPr>
              <p:cNvPr id="25" name="直接连接符 24"/>
              <p:cNvCxnSpPr/>
              <p:nvPr/>
            </p:nvCxnSpPr>
            <p:spPr bwMode="auto">
              <a:xfrm flipH="1">
                <a:off x="-255601" y="4987278"/>
                <a:ext cx="429136" cy="0"/>
              </a:xfrm>
              <a:prstGeom prst="line">
                <a:avLst/>
              </a:prstGeom>
              <a:solidFill>
                <a:schemeClr val="accent1"/>
              </a:solidFill>
              <a:ln w="28575" cap="flat" cmpd="sng" algn="ctr">
                <a:solidFill>
                  <a:schemeClr val="tx1"/>
                </a:solidFill>
                <a:prstDash val="solid"/>
                <a:round/>
                <a:headEnd type="none" w="med" len="med"/>
                <a:tailEnd type="none" w="med" len="med"/>
              </a:ln>
            </p:spPr>
          </p:cxnSp>
          <p:cxnSp>
            <p:nvCxnSpPr>
              <p:cNvPr id="26" name="直接连接符 25"/>
              <p:cNvCxnSpPr/>
              <p:nvPr/>
            </p:nvCxnSpPr>
            <p:spPr bwMode="auto">
              <a:xfrm flipH="1">
                <a:off x="-812538" y="4989390"/>
                <a:ext cx="429136" cy="0"/>
              </a:xfrm>
              <a:prstGeom prst="line">
                <a:avLst/>
              </a:prstGeom>
              <a:solidFill>
                <a:schemeClr val="accent1"/>
              </a:solidFill>
              <a:ln w="28575" cap="flat" cmpd="sng" algn="ctr">
                <a:solidFill>
                  <a:schemeClr val="tx1"/>
                </a:solidFill>
                <a:prstDash val="solid"/>
                <a:round/>
                <a:headEnd type="none" w="med" len="med"/>
                <a:tailEnd type="none" w="med" len="med"/>
              </a:ln>
            </p:spPr>
          </p:cxnSp>
        </p:grpSp>
        <p:grpSp>
          <p:nvGrpSpPr>
            <p:cNvPr id="17" name="组合 16"/>
            <p:cNvGrpSpPr/>
            <p:nvPr/>
          </p:nvGrpSpPr>
          <p:grpSpPr>
            <a:xfrm>
              <a:off x="3002906" y="4356610"/>
              <a:ext cx="986074" cy="543826"/>
              <a:chOff x="-812538" y="4730645"/>
              <a:chExt cx="986074" cy="543826"/>
            </a:xfrm>
          </p:grpSpPr>
          <p:grpSp>
            <p:nvGrpSpPr>
              <p:cNvPr id="18" name="组合 17"/>
              <p:cNvGrpSpPr/>
              <p:nvPr/>
            </p:nvGrpSpPr>
            <p:grpSpPr>
              <a:xfrm>
                <a:off x="-575103" y="4730645"/>
                <a:ext cx="575103" cy="543826"/>
                <a:chOff x="-1044624" y="4227651"/>
                <a:chExt cx="648072" cy="582865"/>
              </a:xfrm>
            </p:grpSpPr>
            <p:sp>
              <p:nvSpPr>
                <p:cNvPr id="21" name="矩形 20"/>
                <p:cNvSpPr/>
                <p:nvPr/>
              </p:nvSpPr>
              <p:spPr bwMode="auto">
                <a:xfrm>
                  <a:off x="-1044624" y="4227651"/>
                  <a:ext cx="648072" cy="582865"/>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a:ln>
                      <a:noFill/>
                    </a:ln>
                    <a:solidFill>
                      <a:schemeClr val="tx1"/>
                    </a:solidFill>
                    <a:effectLst/>
                    <a:latin typeface="Arial" charset="0"/>
                    <a:ea typeface="隶书" pitchFamily="49" charset="-122"/>
                  </a:endParaRPr>
                </a:p>
              </p:txBody>
            </p:sp>
            <p:cxnSp>
              <p:nvCxnSpPr>
                <p:cNvPr id="22" name="直接连接符 21"/>
                <p:cNvCxnSpPr/>
                <p:nvPr/>
              </p:nvCxnSpPr>
              <p:spPr bwMode="auto">
                <a:xfrm>
                  <a:off x="-828600" y="4260120"/>
                  <a:ext cx="0" cy="421502"/>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23" name="直接连接符 22"/>
                <p:cNvCxnSpPr/>
                <p:nvPr/>
              </p:nvCxnSpPr>
              <p:spPr bwMode="auto">
                <a:xfrm>
                  <a:off x="-684584" y="4365104"/>
                  <a:ext cx="0" cy="254330"/>
                </a:xfrm>
                <a:prstGeom prst="line">
                  <a:avLst/>
                </a:prstGeom>
                <a:solidFill>
                  <a:schemeClr val="accent1"/>
                </a:solidFill>
                <a:ln w="9525" cap="flat" cmpd="sng" algn="ctr">
                  <a:solidFill>
                    <a:schemeClr val="tx1"/>
                  </a:solidFill>
                  <a:prstDash val="solid"/>
                  <a:round/>
                  <a:headEnd type="none" w="med" len="med"/>
                  <a:tailEnd type="none" w="med" len="med"/>
                </a:ln>
              </p:spPr>
            </p:cxnSp>
          </p:grpSp>
          <p:cxnSp>
            <p:nvCxnSpPr>
              <p:cNvPr id="19" name="直接连接符 18"/>
              <p:cNvCxnSpPr/>
              <p:nvPr/>
            </p:nvCxnSpPr>
            <p:spPr bwMode="auto">
              <a:xfrm flipH="1">
                <a:off x="-255601" y="4987278"/>
                <a:ext cx="429137" cy="0"/>
              </a:xfrm>
              <a:prstGeom prst="line">
                <a:avLst/>
              </a:prstGeom>
              <a:solidFill>
                <a:schemeClr val="accent1"/>
              </a:solidFill>
              <a:ln w="28575" cap="flat" cmpd="sng" algn="ctr">
                <a:solidFill>
                  <a:schemeClr val="tx1"/>
                </a:solidFill>
                <a:prstDash val="solid"/>
                <a:round/>
                <a:headEnd type="none" w="med" len="med"/>
                <a:tailEnd type="none" w="med" len="med"/>
              </a:ln>
            </p:spPr>
          </p:cxnSp>
          <p:cxnSp>
            <p:nvCxnSpPr>
              <p:cNvPr id="20" name="直接连接符 19"/>
              <p:cNvCxnSpPr/>
              <p:nvPr/>
            </p:nvCxnSpPr>
            <p:spPr bwMode="auto">
              <a:xfrm flipH="1">
                <a:off x="-812538" y="4989390"/>
                <a:ext cx="429136" cy="0"/>
              </a:xfrm>
              <a:prstGeom prst="line">
                <a:avLst/>
              </a:prstGeom>
              <a:solidFill>
                <a:schemeClr val="accent1"/>
              </a:solidFill>
              <a:ln w="28575" cap="flat" cmpd="sng" algn="ctr">
                <a:solidFill>
                  <a:schemeClr val="tx1"/>
                </a:solidFill>
                <a:prstDash val="solid"/>
                <a:round/>
                <a:headEnd type="none" w="med" len="med"/>
                <a:tailEnd type="none" w="med" len="med"/>
              </a:ln>
            </p:spPr>
          </p:cxnSp>
        </p:grpSp>
      </p:grpSp>
      <p:sp>
        <p:nvSpPr>
          <p:cNvPr id="77" name="Rectangle 14"/>
          <p:cNvSpPr>
            <a:spLocks noChangeArrowheads="1"/>
          </p:cNvSpPr>
          <p:nvPr/>
        </p:nvSpPr>
        <p:spPr bwMode="auto">
          <a:xfrm>
            <a:off x="5157018" y="2024658"/>
            <a:ext cx="711127" cy="461665"/>
          </a:xfrm>
          <a:prstGeom prst="rect">
            <a:avLst/>
          </a:prstGeom>
          <a:solidFill>
            <a:schemeClr val="bg1"/>
          </a:solidFill>
          <a:ln>
            <a:noFill/>
          </a:ln>
          <a:extLst/>
        </p:spPr>
        <p:txBody>
          <a:bodyPr wrap="squar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kumimoji="1" lang="en-US" altLang="zh-CN" sz="2400" i="1" dirty="0" smtClean="0">
                <a:solidFill>
                  <a:srgbClr val="FF0066"/>
                </a:solidFill>
              </a:rPr>
              <a:t>V</a:t>
            </a:r>
            <a:r>
              <a:rPr kumimoji="1" lang="en-US" altLang="zh-CN" sz="2400" baseline="-25000" dirty="0" smtClean="0">
                <a:solidFill>
                  <a:srgbClr val="FF0066"/>
                </a:solidFill>
              </a:rPr>
              <a:t>BB</a:t>
            </a:r>
            <a:endParaRPr kumimoji="1" lang="en-US" altLang="zh-CN" sz="2400" baseline="-25000" dirty="0">
              <a:solidFill>
                <a:srgbClr val="FF0066"/>
              </a:solidFill>
            </a:endParaRPr>
          </a:p>
        </p:txBody>
      </p:sp>
      <p:sp>
        <p:nvSpPr>
          <p:cNvPr id="78" name="Rectangle 16"/>
          <p:cNvSpPr>
            <a:spLocks noChangeArrowheads="1"/>
          </p:cNvSpPr>
          <p:nvPr/>
        </p:nvSpPr>
        <p:spPr bwMode="auto">
          <a:xfrm>
            <a:off x="5076056" y="1700808"/>
            <a:ext cx="760412" cy="457200"/>
          </a:xfrm>
          <a:prstGeom prst="rect">
            <a:avLst/>
          </a:prstGeom>
          <a:solidFill>
            <a:schemeClr val="bg1"/>
          </a:solidFill>
          <a:ln>
            <a:noFill/>
          </a:ln>
          <a:extLst/>
        </p:spPr>
        <p:txBody>
          <a:bodyPr wrap="squar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kumimoji="1" lang="en-US" altLang="zh-CN" sz="2400" i="1" dirty="0" smtClean="0">
                <a:solidFill>
                  <a:srgbClr val="0033CC"/>
                </a:solidFill>
              </a:rPr>
              <a:t>V</a:t>
            </a:r>
            <a:r>
              <a:rPr kumimoji="1" lang="en-US" altLang="zh-CN" sz="2400" baseline="-25000" dirty="0" smtClean="0">
                <a:solidFill>
                  <a:srgbClr val="0033CC"/>
                </a:solidFill>
              </a:rPr>
              <a:t>BZ</a:t>
            </a:r>
            <a:endParaRPr kumimoji="1" lang="en-US" altLang="zh-CN" sz="2400" baseline="-25000" dirty="0">
              <a:solidFill>
                <a:srgbClr val="0033CC"/>
              </a:solidFill>
            </a:endParaRPr>
          </a:p>
        </p:txBody>
      </p:sp>
      <p:sp>
        <p:nvSpPr>
          <p:cNvPr id="79" name="Rectangle 74"/>
          <p:cNvSpPr>
            <a:spLocks noChangeArrowheads="1"/>
          </p:cNvSpPr>
          <p:nvPr/>
        </p:nvSpPr>
        <p:spPr bwMode="auto">
          <a:xfrm>
            <a:off x="5265094" y="5701898"/>
            <a:ext cx="603050" cy="400110"/>
          </a:xfrm>
          <a:prstGeom prst="rect">
            <a:avLst/>
          </a:prstGeom>
          <a:solidFill>
            <a:schemeClr val="bg1"/>
          </a:solidFill>
          <a:ln>
            <a:noFill/>
          </a:ln>
          <a:extLst/>
        </p:spPr>
        <p:txBody>
          <a:bodyPr wrap="non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kumimoji="1" lang="en-US" altLang="zh-CN" sz="2000" i="1" dirty="0" smtClean="0">
                <a:solidFill>
                  <a:schemeClr val="tx1"/>
                </a:solidFill>
              </a:rPr>
              <a:t>V</a:t>
            </a:r>
            <a:r>
              <a:rPr kumimoji="1" lang="en-US" altLang="zh-CN" sz="2000" baseline="-25000" dirty="0" smtClean="0">
                <a:solidFill>
                  <a:schemeClr val="tx1"/>
                </a:solidFill>
              </a:rPr>
              <a:t>CC</a:t>
            </a:r>
            <a:endParaRPr kumimoji="1" lang="en-US" altLang="zh-CN" sz="2000" baseline="-25000" dirty="0">
              <a:solidFill>
                <a:schemeClr val="tx1"/>
              </a:solidFill>
            </a:endParaRPr>
          </a:p>
        </p:txBody>
      </p:sp>
    </p:spTree>
    <p:extLst>
      <p:ext uri="{BB962C8B-B14F-4D97-AF65-F5344CB8AC3E}">
        <p14:creationId xmlns:p14="http://schemas.microsoft.com/office/powerpoint/2010/main" val="2404657186"/>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40</a:t>
            </a:fld>
            <a:endParaRPr lang="en-US" altLang="zh-CN" dirty="0">
              <a:solidFill>
                <a:srgbClr val="000000"/>
              </a:solidFill>
            </a:endParaRPr>
          </a:p>
        </p:txBody>
      </p:sp>
      <p:sp>
        <p:nvSpPr>
          <p:cNvPr id="6" name="TextBox 5"/>
          <p:cNvSpPr txBox="1"/>
          <p:nvPr/>
        </p:nvSpPr>
        <p:spPr>
          <a:xfrm>
            <a:off x="539552" y="395372"/>
            <a:ext cx="2973891" cy="369332"/>
          </a:xfrm>
          <a:prstGeom prst="rect">
            <a:avLst/>
          </a:prstGeom>
          <a:noFill/>
        </p:spPr>
        <p:txBody>
          <a:bodyPr wrap="none" rtlCol="0">
            <a:spAutoFit/>
          </a:bodyPr>
          <a:lstStyle/>
          <a:p>
            <a:r>
              <a:rPr lang="zh-CN" altLang="en-US" b="1" dirty="0" smtClean="0"/>
              <a:t>二、掌握典型图形及绘制：</a:t>
            </a:r>
            <a:endParaRPr lang="zh-CN" altLang="en-US" b="1" dirty="0"/>
          </a:p>
        </p:txBody>
      </p:sp>
      <p:sp>
        <p:nvSpPr>
          <p:cNvPr id="7172" name="TextBox 7171"/>
          <p:cNvSpPr txBox="1"/>
          <p:nvPr/>
        </p:nvSpPr>
        <p:spPr>
          <a:xfrm>
            <a:off x="822432" y="899428"/>
            <a:ext cx="3206327" cy="369332"/>
          </a:xfrm>
          <a:prstGeom prst="rect">
            <a:avLst/>
          </a:prstGeom>
          <a:noFill/>
        </p:spPr>
        <p:txBody>
          <a:bodyPr wrap="none" rtlCol="0">
            <a:spAutoFit/>
          </a:bodyPr>
          <a:lstStyle/>
          <a:p>
            <a:r>
              <a:rPr lang="zh-CN" altLang="en-US" b="1" dirty="0" smtClean="0">
                <a:solidFill>
                  <a:schemeClr val="accent6">
                    <a:lumMod val="75000"/>
                  </a:schemeClr>
                </a:solidFill>
              </a:rPr>
              <a:t>自给偏置高频功率放大器电路</a:t>
            </a:r>
            <a:endParaRPr lang="zh-CN" altLang="en-US" b="1" dirty="0">
              <a:solidFill>
                <a:schemeClr val="accent6">
                  <a:lumMod val="75000"/>
                </a:schemeClr>
              </a:solidFill>
            </a:endParaRPr>
          </a:p>
        </p:txBody>
      </p:sp>
      <p:graphicFrame>
        <p:nvGraphicFramePr>
          <p:cNvPr id="24" name="Object 10"/>
          <p:cNvGraphicFramePr>
            <a:graphicFrameLocks noChangeAspect="1"/>
          </p:cNvGraphicFramePr>
          <p:nvPr>
            <p:extLst>
              <p:ext uri="{D42A27DB-BD31-4B8C-83A1-F6EECF244321}">
                <p14:modId xmlns:p14="http://schemas.microsoft.com/office/powerpoint/2010/main" val="2258862016"/>
              </p:ext>
            </p:extLst>
          </p:nvPr>
        </p:nvGraphicFramePr>
        <p:xfrm>
          <a:off x="1332433" y="1654200"/>
          <a:ext cx="2447925" cy="2387600"/>
        </p:xfrm>
        <a:graphic>
          <a:graphicData uri="http://schemas.openxmlformats.org/presentationml/2006/ole">
            <mc:AlternateContent xmlns:mc="http://schemas.openxmlformats.org/markup-compatibility/2006">
              <mc:Choice xmlns:v="urn:schemas-microsoft-com:vml" Requires="v">
                <p:oleObj spid="_x0000_s12181" name="Visio" r:id="rId4" imgW="1120302" imgH="1289649" progId="Visio.Drawing.11">
                  <p:embed/>
                </p:oleObj>
              </mc:Choice>
              <mc:Fallback>
                <p:oleObj name="Visio" r:id="rId4" imgW="1120302" imgH="1289649" progId="Visio.Drawing.11">
                  <p:embed/>
                  <p:pic>
                    <p:nvPicPr>
                      <p:cNvPr id="0" name=""/>
                      <p:cNvPicPr>
                        <a:picLocks noChangeAspect="1" noChangeArrowheads="1"/>
                      </p:cNvPicPr>
                      <p:nvPr/>
                    </p:nvPicPr>
                    <p:blipFill>
                      <a:blip r:embed="rId5"/>
                      <a:srcRect/>
                      <a:stretch>
                        <a:fillRect/>
                      </a:stretch>
                    </p:blipFill>
                    <p:spPr bwMode="auto">
                      <a:xfrm>
                        <a:off x="1332433" y="1654200"/>
                        <a:ext cx="2447925" cy="2387600"/>
                      </a:xfrm>
                      <a:prstGeom prst="rect">
                        <a:avLst/>
                      </a:prstGeom>
                      <a:solidFill>
                        <a:srgbClr val="CCFFFF"/>
                      </a:solidFill>
                      <a:ln w="28575" algn="ctr">
                        <a:solidFill>
                          <a:srgbClr val="CC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13"/>
          <p:cNvGraphicFramePr>
            <a:graphicFrameLocks noChangeAspect="1"/>
          </p:cNvGraphicFramePr>
          <p:nvPr>
            <p:extLst>
              <p:ext uri="{D42A27DB-BD31-4B8C-83A1-F6EECF244321}">
                <p14:modId xmlns:p14="http://schemas.microsoft.com/office/powerpoint/2010/main" val="270304932"/>
              </p:ext>
            </p:extLst>
          </p:nvPr>
        </p:nvGraphicFramePr>
        <p:xfrm>
          <a:off x="4859858" y="1628800"/>
          <a:ext cx="2376487" cy="2413000"/>
        </p:xfrm>
        <a:graphic>
          <a:graphicData uri="http://schemas.openxmlformats.org/presentationml/2006/ole">
            <mc:AlternateContent xmlns:mc="http://schemas.openxmlformats.org/markup-compatibility/2006">
              <mc:Choice xmlns:v="urn:schemas-microsoft-com:vml" Requires="v">
                <p:oleObj spid="_x0000_s12182" name="Visio" r:id="rId6" imgW="1181100" imgH="1240841" progId="Visio.Drawing.11">
                  <p:embed/>
                </p:oleObj>
              </mc:Choice>
              <mc:Fallback>
                <p:oleObj name="Visio" r:id="rId6" imgW="1181100" imgH="1240841"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59858" y="1628800"/>
                        <a:ext cx="2376487" cy="2413000"/>
                      </a:xfrm>
                      <a:prstGeom prst="rect">
                        <a:avLst/>
                      </a:prstGeom>
                      <a:solidFill>
                        <a:srgbClr val="CCFFFF"/>
                      </a:solidFill>
                      <a:ln w="28575" algn="ctr">
                        <a:solidFill>
                          <a:srgbClr val="CC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 name="AutoShape 14"/>
          <p:cNvSpPr>
            <a:spLocks noChangeArrowheads="1"/>
          </p:cNvSpPr>
          <p:nvPr/>
        </p:nvSpPr>
        <p:spPr bwMode="auto">
          <a:xfrm>
            <a:off x="3923233" y="5427688"/>
            <a:ext cx="3313112" cy="457200"/>
          </a:xfrm>
          <a:prstGeom prst="wedgeRectCallout">
            <a:avLst>
              <a:gd name="adj1" fmla="val 23551"/>
              <a:gd name="adj2" fmla="val -510069"/>
            </a:avLst>
          </a:prstGeom>
          <a:solidFill>
            <a:schemeClr val="hlink">
              <a:alpha val="43921"/>
            </a:schemeClr>
          </a:solidFill>
          <a:ln w="9525">
            <a:solidFill>
              <a:srgbClr val="009900"/>
            </a:solidFill>
            <a:miter lim="800000"/>
            <a:headEnd/>
            <a:tailEnd/>
          </a:ln>
        </p:spPr>
        <p:txBody>
          <a:bodyPr lIns="72000" tIns="72000" rIns="72000" bIns="72000">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kumimoji="1" lang="zh-CN" altLang="en-US" sz="2000">
                <a:solidFill>
                  <a:schemeClr val="tx1"/>
                </a:solidFill>
              </a:rPr>
              <a:t>射极偏置提供</a:t>
            </a:r>
            <a:r>
              <a:rPr kumimoji="1" lang="zh-CN" altLang="en-US" sz="2000">
                <a:solidFill>
                  <a:srgbClr val="FF3300"/>
                </a:solidFill>
              </a:rPr>
              <a:t>负偏压</a:t>
            </a:r>
          </a:p>
        </p:txBody>
      </p:sp>
      <p:sp>
        <p:nvSpPr>
          <p:cNvPr id="27" name="AutoShape 15"/>
          <p:cNvSpPr>
            <a:spLocks noChangeArrowheads="1"/>
          </p:cNvSpPr>
          <p:nvPr/>
        </p:nvSpPr>
        <p:spPr bwMode="auto">
          <a:xfrm>
            <a:off x="808434" y="4293096"/>
            <a:ext cx="7219950" cy="1997075"/>
          </a:xfrm>
          <a:prstGeom prst="wedgeRectCallout">
            <a:avLst>
              <a:gd name="adj1" fmla="val -28894"/>
              <a:gd name="adj2" fmla="val -49384"/>
            </a:avLst>
          </a:prstGeom>
          <a:solidFill>
            <a:srgbClr val="FFCCFF"/>
          </a:solidFill>
          <a:ln w="28575">
            <a:solidFill>
              <a:srgbClr val="CCCC00"/>
            </a:solidFill>
            <a:miter lim="800000"/>
            <a:headEnd/>
            <a:tailEnd/>
          </a:ln>
        </p:spPr>
        <p:txBody>
          <a:bodyPr lIns="72000" tIns="72000" rIns="72000" bIns="72000">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kumimoji="1" lang="zh-CN" altLang="en-US" sz="2400" dirty="0">
                <a:solidFill>
                  <a:schemeClr val="tx1"/>
                </a:solidFill>
              </a:rPr>
              <a:t>        左图所示的自给偏置电路中，未加输入信号时，</a:t>
            </a:r>
            <a:r>
              <a:rPr kumimoji="1" lang="en-US" altLang="zh-CN" sz="2400" i="1" dirty="0" err="1">
                <a:solidFill>
                  <a:schemeClr val="tx1"/>
                </a:solidFill>
              </a:rPr>
              <a:t>i</a:t>
            </a:r>
            <a:r>
              <a:rPr kumimoji="1" lang="en-US" altLang="zh-CN" sz="2400" baseline="-25000" dirty="0" err="1">
                <a:solidFill>
                  <a:schemeClr val="tx1"/>
                </a:solidFill>
              </a:rPr>
              <a:t>B</a:t>
            </a:r>
            <a:r>
              <a:rPr kumimoji="1" lang="en-US" altLang="zh-CN" sz="2400" dirty="0">
                <a:solidFill>
                  <a:schemeClr val="tx1"/>
                </a:solidFill>
              </a:rPr>
              <a:t>=0</a:t>
            </a:r>
            <a:r>
              <a:rPr kumimoji="1" lang="zh-CN" altLang="en-US" sz="2400" dirty="0">
                <a:solidFill>
                  <a:schemeClr val="tx1"/>
                </a:solidFill>
              </a:rPr>
              <a:t>，因此偏置电压也为零。当输入信号幅度由小加大时，</a:t>
            </a:r>
            <a:r>
              <a:rPr kumimoji="1" lang="en-US" altLang="zh-CN" sz="2400" i="1" dirty="0" err="1">
                <a:solidFill>
                  <a:schemeClr val="tx1"/>
                </a:solidFill>
              </a:rPr>
              <a:t>i</a:t>
            </a:r>
            <a:r>
              <a:rPr kumimoji="1" lang="en-US" altLang="zh-CN" sz="2400" baseline="-25000" dirty="0" err="1">
                <a:solidFill>
                  <a:schemeClr val="tx1"/>
                </a:solidFill>
              </a:rPr>
              <a:t>B</a:t>
            </a:r>
            <a:r>
              <a:rPr kumimoji="1" lang="zh-CN" altLang="en-US" sz="2400" dirty="0">
                <a:solidFill>
                  <a:schemeClr val="tx1"/>
                </a:solidFill>
              </a:rPr>
              <a:t>增大，其直流分量 </a:t>
            </a:r>
            <a:r>
              <a:rPr kumimoji="1" lang="en-US" altLang="zh-CN" sz="2400" i="1" dirty="0">
                <a:solidFill>
                  <a:schemeClr val="tx1"/>
                </a:solidFill>
              </a:rPr>
              <a:t>I</a:t>
            </a:r>
            <a:r>
              <a:rPr kumimoji="1" lang="en-US" altLang="zh-CN" sz="2400" baseline="-25000" dirty="0">
                <a:solidFill>
                  <a:schemeClr val="tx1"/>
                </a:solidFill>
              </a:rPr>
              <a:t>B0 </a:t>
            </a:r>
            <a:r>
              <a:rPr kumimoji="1" lang="zh-CN" altLang="en-US" sz="2400" dirty="0">
                <a:solidFill>
                  <a:schemeClr val="tx1"/>
                </a:solidFill>
              </a:rPr>
              <a:t>也增大，反向偏压随之增大。这种</a:t>
            </a:r>
            <a:r>
              <a:rPr kumimoji="1" lang="zh-CN" altLang="en-US" sz="2400" dirty="0">
                <a:solidFill>
                  <a:srgbClr val="FF0000"/>
                </a:solidFill>
              </a:rPr>
              <a:t>偏置电压随输入信号幅度而变化的现象称为自给偏置效应。</a:t>
            </a:r>
          </a:p>
        </p:txBody>
      </p:sp>
      <p:sp>
        <p:nvSpPr>
          <p:cNvPr id="28" name="AutoShape 7"/>
          <p:cNvSpPr>
            <a:spLocks noChangeArrowheads="1"/>
          </p:cNvSpPr>
          <p:nvPr/>
        </p:nvSpPr>
        <p:spPr bwMode="auto">
          <a:xfrm>
            <a:off x="1332433" y="4437088"/>
            <a:ext cx="5111750" cy="762000"/>
          </a:xfrm>
          <a:prstGeom prst="wedgeRectCallout">
            <a:avLst>
              <a:gd name="adj1" fmla="val -37949"/>
              <a:gd name="adj2" fmla="val -163333"/>
            </a:avLst>
          </a:prstGeom>
          <a:solidFill>
            <a:schemeClr val="hlink">
              <a:alpha val="43921"/>
            </a:schemeClr>
          </a:solidFill>
          <a:ln w="9525">
            <a:solidFill>
              <a:schemeClr val="tx1"/>
            </a:solidFill>
            <a:miter lim="800000"/>
            <a:headEnd/>
            <a:tailEnd/>
          </a:ln>
        </p:spPr>
        <p:txBody>
          <a:bodyPr lIns="72000" tIns="72000" rIns="72000" bIns="72000">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eaLnBrk="1" hangingPunct="1"/>
            <a:r>
              <a:rPr kumimoji="1" lang="zh-CN" altLang="en-US" sz="2000" dirty="0">
                <a:solidFill>
                  <a:schemeClr val="tx1"/>
                </a:solidFill>
              </a:rPr>
              <a:t>    利用</a:t>
            </a:r>
            <a:r>
              <a:rPr kumimoji="1" lang="en-US" altLang="zh-CN" sz="2000" i="1" dirty="0">
                <a:solidFill>
                  <a:schemeClr val="tx1"/>
                </a:solidFill>
              </a:rPr>
              <a:t>I</a:t>
            </a:r>
            <a:r>
              <a:rPr kumimoji="1" lang="en-US" altLang="zh-CN" sz="2000" baseline="-25000" dirty="0">
                <a:solidFill>
                  <a:schemeClr val="tx1"/>
                </a:solidFill>
              </a:rPr>
              <a:t>B0 </a:t>
            </a:r>
            <a:r>
              <a:rPr kumimoji="1" lang="zh-CN" altLang="en-US" sz="2000" dirty="0">
                <a:solidFill>
                  <a:schemeClr val="tx1"/>
                </a:solidFill>
              </a:rPr>
              <a:t>流经</a:t>
            </a:r>
            <a:r>
              <a:rPr kumimoji="1" lang="en-US" altLang="zh-CN" sz="2000" i="1" dirty="0">
                <a:solidFill>
                  <a:schemeClr val="tx1"/>
                </a:solidFill>
              </a:rPr>
              <a:t>R</a:t>
            </a:r>
            <a:r>
              <a:rPr kumimoji="1" lang="en-US" altLang="zh-CN" sz="2000" baseline="-25000" dirty="0">
                <a:solidFill>
                  <a:schemeClr val="tx1"/>
                </a:solidFill>
              </a:rPr>
              <a:t>B</a:t>
            </a:r>
            <a:r>
              <a:rPr kumimoji="1" lang="zh-CN" altLang="en-US" sz="2000" dirty="0">
                <a:solidFill>
                  <a:schemeClr val="tx1"/>
                </a:solidFill>
              </a:rPr>
              <a:t>产生</a:t>
            </a:r>
            <a:r>
              <a:rPr kumimoji="1" lang="zh-CN" altLang="en-US" sz="2000" dirty="0">
                <a:solidFill>
                  <a:srgbClr val="FF3300"/>
                </a:solidFill>
              </a:rPr>
              <a:t>负偏压</a:t>
            </a:r>
            <a:r>
              <a:rPr kumimoji="1" lang="zh-CN" altLang="en-US" sz="2000" dirty="0" smtClean="0">
                <a:solidFill>
                  <a:schemeClr val="tx1"/>
                </a:solidFill>
              </a:rPr>
              <a:t>：</a:t>
            </a:r>
            <a:r>
              <a:rPr kumimoji="1" lang="en-US" altLang="zh-CN" sz="2000" dirty="0" smtClean="0">
                <a:solidFill>
                  <a:schemeClr val="tx1"/>
                </a:solidFill>
              </a:rPr>
              <a:t>V</a:t>
            </a:r>
            <a:r>
              <a:rPr kumimoji="1" lang="en-US" altLang="zh-CN" sz="2000" baseline="-25000" dirty="0" smtClean="0">
                <a:solidFill>
                  <a:schemeClr val="tx1"/>
                </a:solidFill>
              </a:rPr>
              <a:t>BB</a:t>
            </a:r>
            <a:r>
              <a:rPr kumimoji="1" lang="en-US" altLang="zh-CN" sz="2000" dirty="0">
                <a:solidFill>
                  <a:schemeClr val="tx1"/>
                </a:solidFill>
              </a:rPr>
              <a:t>= </a:t>
            </a:r>
            <a:r>
              <a:rPr kumimoji="1" lang="en-US" altLang="zh-CN" sz="2000" i="1" dirty="0">
                <a:solidFill>
                  <a:schemeClr val="tx1"/>
                </a:solidFill>
              </a:rPr>
              <a:t>I</a:t>
            </a:r>
            <a:r>
              <a:rPr kumimoji="1" lang="en-US" altLang="zh-CN" sz="2000" baseline="-25000" dirty="0">
                <a:solidFill>
                  <a:schemeClr val="tx1"/>
                </a:solidFill>
              </a:rPr>
              <a:t>B0 </a:t>
            </a:r>
            <a:r>
              <a:rPr kumimoji="1" lang="en-US" altLang="zh-CN" sz="2000" i="1" dirty="0">
                <a:solidFill>
                  <a:schemeClr val="tx1"/>
                </a:solidFill>
              </a:rPr>
              <a:t>R</a:t>
            </a:r>
            <a:r>
              <a:rPr kumimoji="1" lang="en-US" altLang="zh-CN" sz="2000" baseline="-25000" dirty="0">
                <a:solidFill>
                  <a:schemeClr val="tx1"/>
                </a:solidFill>
              </a:rPr>
              <a:t>B</a:t>
            </a:r>
            <a:endParaRPr kumimoji="1" lang="en-US" altLang="zh-CN" sz="2000" dirty="0">
              <a:solidFill>
                <a:schemeClr val="tx1"/>
              </a:solidFill>
            </a:endParaRPr>
          </a:p>
          <a:p>
            <a:pPr eaLnBrk="1" hangingPunct="1"/>
            <a:r>
              <a:rPr kumimoji="1" lang="zh-CN" altLang="en-US" sz="2000" dirty="0">
                <a:solidFill>
                  <a:schemeClr val="tx1"/>
                </a:solidFill>
              </a:rPr>
              <a:t>调节</a:t>
            </a:r>
            <a:r>
              <a:rPr kumimoji="1" lang="en-US" altLang="zh-CN" sz="2000" i="1" dirty="0">
                <a:solidFill>
                  <a:schemeClr val="tx1"/>
                </a:solidFill>
              </a:rPr>
              <a:t>R</a:t>
            </a:r>
            <a:r>
              <a:rPr kumimoji="1" lang="en-US" altLang="zh-CN" sz="2000" baseline="-25000" dirty="0">
                <a:solidFill>
                  <a:schemeClr val="tx1"/>
                </a:solidFill>
              </a:rPr>
              <a:t>B</a:t>
            </a:r>
            <a:r>
              <a:rPr kumimoji="1" lang="zh-CN" altLang="en-US" sz="2000" dirty="0">
                <a:solidFill>
                  <a:schemeClr val="tx1"/>
                </a:solidFill>
              </a:rPr>
              <a:t>，可调节反偏电压大小。</a:t>
            </a:r>
          </a:p>
        </p:txBody>
      </p:sp>
      <p:sp>
        <p:nvSpPr>
          <p:cNvPr id="29" name="Rectangle 16"/>
          <p:cNvSpPr>
            <a:spLocks noChangeArrowheads="1"/>
          </p:cNvSpPr>
          <p:nvPr/>
        </p:nvSpPr>
        <p:spPr bwMode="auto">
          <a:xfrm>
            <a:off x="827584" y="4293096"/>
            <a:ext cx="7154863" cy="1994247"/>
          </a:xfrm>
          <a:prstGeom prst="rect">
            <a:avLst/>
          </a:prstGeom>
          <a:solidFill>
            <a:schemeClr val="accent5">
              <a:lumMod val="20000"/>
              <a:lumOff val="80000"/>
            </a:schemeClr>
          </a:solidFill>
          <a:ln w="9525">
            <a:solidFill>
              <a:schemeClr val="tx1"/>
            </a:solidFill>
            <a:miter lim="800000"/>
            <a:headEnd/>
            <a:tailEnd/>
          </a:ln>
        </p:spPr>
        <p:txBody>
          <a:bodyPr tIns="118800" bIns="118800">
            <a:spAutoFit/>
          </a:bodyPr>
          <a:lstStyle>
            <a:lvl1pPr marL="342900" indent="-342900">
              <a:defRPr sz="2800" b="1">
                <a:solidFill>
                  <a:srgbClr val="003399"/>
                </a:solidFill>
                <a:latin typeface="Times New Roman" pitchFamily="18" charset="0"/>
                <a:ea typeface="宋体" pitchFamily="2" charset="-122"/>
              </a:defRPr>
            </a:lvl1pPr>
            <a:lvl2pPr>
              <a:defRPr sz="2800" b="1">
                <a:solidFill>
                  <a:srgbClr val="003399"/>
                </a:solidFill>
                <a:latin typeface="Times New Roman" pitchFamily="18" charset="0"/>
                <a:ea typeface="宋体" pitchFamily="2" charset="-122"/>
              </a:defRPr>
            </a:lvl2pPr>
            <a:lvl3pPr>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lvl="1" eaLnBrk="1" fontAlgn="t" hangingPunct="1">
              <a:spcBef>
                <a:spcPct val="50000"/>
              </a:spcBef>
              <a:spcAft>
                <a:spcPct val="50000"/>
              </a:spcAft>
            </a:pPr>
            <a:r>
              <a:rPr kumimoji="1" lang="zh-CN" altLang="en-US" sz="2400" dirty="0">
                <a:solidFill>
                  <a:srgbClr val="FF3300"/>
                </a:solidFill>
                <a:latin typeface="Arial" pitchFamily="34" charset="0"/>
              </a:rPr>
              <a:t>自给偏置效应可自动维持放大器稳定工作。</a:t>
            </a:r>
          </a:p>
          <a:p>
            <a:pPr lvl="2" eaLnBrk="1" fontAlgn="t" hangingPunct="1">
              <a:lnSpc>
                <a:spcPct val="80000"/>
              </a:lnSpc>
              <a:spcBef>
                <a:spcPct val="50000"/>
              </a:spcBef>
            </a:pPr>
            <a:endParaRPr kumimoji="1" lang="en-US" altLang="zh-CN" sz="1000" dirty="0">
              <a:solidFill>
                <a:schemeClr val="tx1"/>
              </a:solidFill>
              <a:latin typeface="Arial" pitchFamily="34" charset="0"/>
              <a:sym typeface="Symbol" pitchFamily="18" charset="2"/>
            </a:endParaRPr>
          </a:p>
          <a:p>
            <a:pPr lvl="2" eaLnBrk="1" fontAlgn="t" hangingPunct="1">
              <a:lnSpc>
                <a:spcPct val="80000"/>
              </a:lnSpc>
              <a:spcBef>
                <a:spcPct val="50000"/>
              </a:spcBef>
            </a:pPr>
            <a:endParaRPr kumimoji="1" lang="en-US" altLang="zh-CN" sz="1000" dirty="0">
              <a:solidFill>
                <a:schemeClr val="tx1"/>
              </a:solidFill>
              <a:latin typeface="Arial" pitchFamily="34" charset="0"/>
              <a:sym typeface="Symbol" pitchFamily="18" charset="2"/>
            </a:endParaRPr>
          </a:p>
          <a:p>
            <a:pPr lvl="2" eaLnBrk="1" fontAlgn="t" hangingPunct="1">
              <a:lnSpc>
                <a:spcPct val="80000"/>
              </a:lnSpc>
              <a:spcBef>
                <a:spcPct val="50000"/>
              </a:spcBef>
            </a:pPr>
            <a:endParaRPr kumimoji="1" lang="en-US" altLang="zh-CN" sz="1000" dirty="0">
              <a:solidFill>
                <a:schemeClr val="tx1"/>
              </a:solidFill>
              <a:latin typeface="Arial" pitchFamily="34" charset="0"/>
              <a:sym typeface="Symbol" pitchFamily="18" charset="2"/>
            </a:endParaRPr>
          </a:p>
          <a:p>
            <a:pPr lvl="2" eaLnBrk="1" fontAlgn="t" hangingPunct="1">
              <a:lnSpc>
                <a:spcPct val="80000"/>
              </a:lnSpc>
              <a:spcBef>
                <a:spcPct val="50000"/>
              </a:spcBef>
            </a:pPr>
            <a:endParaRPr kumimoji="1" lang="en-US" altLang="zh-CN" sz="1000" dirty="0">
              <a:solidFill>
                <a:schemeClr val="tx1"/>
              </a:solidFill>
              <a:latin typeface="Arial" pitchFamily="34" charset="0"/>
              <a:sym typeface="Symbol" pitchFamily="18" charset="2"/>
            </a:endParaRPr>
          </a:p>
          <a:p>
            <a:pPr lvl="2" eaLnBrk="1" fontAlgn="t" hangingPunct="1">
              <a:lnSpc>
                <a:spcPct val="80000"/>
              </a:lnSpc>
              <a:spcBef>
                <a:spcPct val="50000"/>
              </a:spcBef>
            </a:pPr>
            <a:endParaRPr kumimoji="1" lang="en-US" altLang="zh-CN" sz="1000" dirty="0">
              <a:solidFill>
                <a:schemeClr val="tx1"/>
              </a:solidFill>
              <a:latin typeface="Arial" pitchFamily="34" charset="0"/>
              <a:sym typeface="Symbol" pitchFamily="18" charset="2"/>
            </a:endParaRPr>
          </a:p>
          <a:p>
            <a:pPr lvl="2" eaLnBrk="1" fontAlgn="t" hangingPunct="1">
              <a:lnSpc>
                <a:spcPct val="80000"/>
              </a:lnSpc>
              <a:spcBef>
                <a:spcPct val="50000"/>
              </a:spcBef>
            </a:pPr>
            <a:endParaRPr kumimoji="1" lang="en-US" altLang="zh-CN" sz="1000" dirty="0">
              <a:solidFill>
                <a:schemeClr val="tx1"/>
              </a:solidFill>
              <a:latin typeface="Arial" pitchFamily="34" charset="0"/>
              <a:sym typeface="Symbol" pitchFamily="18" charset="2"/>
            </a:endParaRPr>
          </a:p>
        </p:txBody>
      </p:sp>
      <p:graphicFrame>
        <p:nvGraphicFramePr>
          <p:cNvPr id="30" name="对象 29"/>
          <p:cNvGraphicFramePr>
            <a:graphicFrameLocks noChangeAspect="1"/>
          </p:cNvGraphicFramePr>
          <p:nvPr>
            <p:extLst>
              <p:ext uri="{D42A27DB-BD31-4B8C-83A1-F6EECF244321}">
                <p14:modId xmlns:p14="http://schemas.microsoft.com/office/powerpoint/2010/main" val="3654944699"/>
              </p:ext>
            </p:extLst>
          </p:nvPr>
        </p:nvGraphicFramePr>
        <p:xfrm>
          <a:off x="2652489" y="5013176"/>
          <a:ext cx="3143647" cy="483638"/>
        </p:xfrm>
        <a:graphic>
          <a:graphicData uri="http://schemas.openxmlformats.org/presentationml/2006/ole">
            <mc:AlternateContent xmlns:mc="http://schemas.openxmlformats.org/markup-compatibility/2006">
              <mc:Choice xmlns:v="urn:schemas-microsoft-com:vml" Requires="v">
                <p:oleObj spid="_x0000_s12183" name="Equation" r:id="rId8" imgW="1485720" imgH="228600" progId="Equation.DSMT4">
                  <p:embed/>
                </p:oleObj>
              </mc:Choice>
              <mc:Fallback>
                <p:oleObj name="Equation" r:id="rId8" imgW="1485720" imgH="228600" progId="Equation.DSMT4">
                  <p:embed/>
                  <p:pic>
                    <p:nvPicPr>
                      <p:cNvPr id="0" name=""/>
                      <p:cNvPicPr>
                        <a:picLocks noChangeAspect="1" noChangeArrowheads="1"/>
                      </p:cNvPicPr>
                      <p:nvPr/>
                    </p:nvPicPr>
                    <p:blipFill>
                      <a:blip r:embed="rId9"/>
                      <a:srcRect/>
                      <a:stretch>
                        <a:fillRect/>
                      </a:stretch>
                    </p:blipFill>
                    <p:spPr bwMode="auto">
                      <a:xfrm>
                        <a:off x="2652489" y="5013176"/>
                        <a:ext cx="3143647" cy="483638"/>
                      </a:xfrm>
                      <a:prstGeom prst="rect">
                        <a:avLst/>
                      </a:prstGeom>
                      <a:noFill/>
                      <a:ln>
                        <a:noFill/>
                      </a:ln>
                      <a:effectLst/>
                    </p:spPr>
                  </p:pic>
                </p:oleObj>
              </mc:Fallback>
            </mc:AlternateContent>
          </a:graphicData>
        </a:graphic>
      </p:graphicFrame>
      <p:cxnSp>
        <p:nvCxnSpPr>
          <p:cNvPr id="31" name="直接箭头连接符 30"/>
          <p:cNvCxnSpPr/>
          <p:nvPr/>
        </p:nvCxnSpPr>
        <p:spPr bwMode="auto">
          <a:xfrm flipV="1">
            <a:off x="5868144" y="4983784"/>
            <a:ext cx="0" cy="457200"/>
          </a:xfrm>
          <a:prstGeom prst="straightConnector1">
            <a:avLst/>
          </a:prstGeom>
          <a:solidFill>
            <a:schemeClr val="accent1"/>
          </a:solidFill>
          <a:ln w="38100" cap="flat" cmpd="sng" algn="ctr">
            <a:solidFill>
              <a:srgbClr val="FF0000"/>
            </a:solidFill>
            <a:prstDash val="solid"/>
            <a:round/>
            <a:headEnd type="none" w="med" len="med"/>
            <a:tailEnd type="arrow"/>
          </a:ln>
        </p:spPr>
      </p:cxnSp>
      <p:sp>
        <p:nvSpPr>
          <p:cNvPr id="32" name="TextBox 31"/>
          <p:cNvSpPr txBox="1"/>
          <p:nvPr/>
        </p:nvSpPr>
        <p:spPr>
          <a:xfrm>
            <a:off x="2289810" y="5471622"/>
            <a:ext cx="1107996" cy="369332"/>
          </a:xfrm>
          <a:prstGeom prst="rect">
            <a:avLst/>
          </a:prstGeom>
          <a:noFill/>
        </p:spPr>
        <p:txBody>
          <a:bodyPr wrap="none" rtlCol="0">
            <a:spAutoFit/>
          </a:bodyPr>
          <a:lstStyle/>
          <a:p>
            <a:r>
              <a:rPr lang="zh-CN" altLang="en-US" b="1" dirty="0">
                <a:solidFill>
                  <a:srgbClr val="FF0000"/>
                </a:solidFill>
              </a:rPr>
              <a:t>保持稳定</a:t>
            </a:r>
          </a:p>
        </p:txBody>
      </p:sp>
      <p:sp>
        <p:nvSpPr>
          <p:cNvPr id="33" name="矩形 32"/>
          <p:cNvSpPr/>
          <p:nvPr/>
        </p:nvSpPr>
        <p:spPr bwMode="auto">
          <a:xfrm>
            <a:off x="3419872" y="5058786"/>
            <a:ext cx="648072" cy="386438"/>
          </a:xfrm>
          <a:prstGeom prst="rect">
            <a:avLst/>
          </a:prstGeom>
          <a:solidFill>
            <a:schemeClr val="accent5">
              <a:lumMod val="20000"/>
              <a:lumOff val="80000"/>
            </a:schemeClr>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r>
              <a:rPr lang="en-US" altLang="zh-CN" sz="2800" i="1" dirty="0">
                <a:latin typeface="Times New Roman" panose="02020603050405020304" pitchFamily="18" charset="0"/>
                <a:ea typeface="隶书" pitchFamily="49" charset="-122"/>
                <a:cs typeface="Times New Roman" panose="02020603050405020304" pitchFamily="18" charset="0"/>
              </a:rPr>
              <a:t>-</a:t>
            </a:r>
            <a:r>
              <a:rPr kumimoji="0" lang="en-US" altLang="zh-CN" sz="2800" b="0" i="1" u="none" strike="noStrike" cap="none" normalizeH="0" baseline="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V</a:t>
            </a:r>
            <a:r>
              <a:rPr kumimoji="0" lang="en-US" altLang="zh-CN" sz="2800" b="0" i="1"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rPr>
              <a:t>BB</a:t>
            </a:r>
            <a:endParaRPr kumimoji="0" lang="zh-CN" altLang="en-US" sz="2800" b="0" i="1" u="none" strike="noStrike" cap="none" normalizeH="0" baseline="-25000" dirty="0" smtClean="0">
              <a:ln>
                <a:noFill/>
              </a:ln>
              <a:solidFill>
                <a:schemeClr val="tx1"/>
              </a:solidFill>
              <a:effectLst/>
              <a:latin typeface="Times New Roman" panose="02020603050405020304" pitchFamily="18" charset="0"/>
              <a:ea typeface="隶书" pitchFamily="49" charset="-122"/>
              <a:cs typeface="Times New Roman" panose="02020603050405020304" pitchFamily="18" charset="0"/>
            </a:endParaRPr>
          </a:p>
        </p:txBody>
      </p:sp>
      <p:cxnSp>
        <p:nvCxnSpPr>
          <p:cNvPr id="34" name="直接箭头连接符 33"/>
          <p:cNvCxnSpPr/>
          <p:nvPr/>
        </p:nvCxnSpPr>
        <p:spPr bwMode="auto">
          <a:xfrm flipV="1">
            <a:off x="4067944" y="5013176"/>
            <a:ext cx="0" cy="457200"/>
          </a:xfrm>
          <a:prstGeom prst="straightConnector1">
            <a:avLst/>
          </a:prstGeom>
          <a:solidFill>
            <a:schemeClr val="accent1"/>
          </a:solidFill>
          <a:ln w="38100" cap="flat" cmpd="sng" algn="ctr">
            <a:solidFill>
              <a:srgbClr val="FF0000"/>
            </a:solidFill>
            <a:prstDash val="solid"/>
            <a:round/>
            <a:headEnd type="none" w="med" len="med"/>
            <a:tailEnd type="arrow"/>
          </a:ln>
        </p:spPr>
      </p:cxnSp>
    </p:spTree>
    <p:extLst>
      <p:ext uri="{BB962C8B-B14F-4D97-AF65-F5344CB8AC3E}">
        <p14:creationId xmlns:p14="http://schemas.microsoft.com/office/powerpoint/2010/main" val="1295796619"/>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41</a:t>
            </a:fld>
            <a:endParaRPr lang="en-US" altLang="zh-CN" dirty="0">
              <a:solidFill>
                <a:srgbClr val="000000"/>
              </a:solidFill>
            </a:endParaRPr>
          </a:p>
        </p:txBody>
      </p:sp>
      <p:sp>
        <p:nvSpPr>
          <p:cNvPr id="6" name="TextBox 5"/>
          <p:cNvSpPr txBox="1"/>
          <p:nvPr/>
        </p:nvSpPr>
        <p:spPr>
          <a:xfrm>
            <a:off x="539552" y="395372"/>
            <a:ext cx="2973891" cy="369332"/>
          </a:xfrm>
          <a:prstGeom prst="rect">
            <a:avLst/>
          </a:prstGeom>
          <a:noFill/>
        </p:spPr>
        <p:txBody>
          <a:bodyPr wrap="none" rtlCol="0">
            <a:spAutoFit/>
          </a:bodyPr>
          <a:lstStyle/>
          <a:p>
            <a:r>
              <a:rPr lang="zh-CN" altLang="en-US" b="1" dirty="0" smtClean="0"/>
              <a:t>二、掌握典型图形及绘制：</a:t>
            </a:r>
            <a:endParaRPr lang="zh-CN" altLang="en-US" b="1" dirty="0"/>
          </a:p>
        </p:txBody>
      </p:sp>
      <p:sp>
        <p:nvSpPr>
          <p:cNvPr id="7172" name="TextBox 7171"/>
          <p:cNvSpPr txBox="1"/>
          <p:nvPr/>
        </p:nvSpPr>
        <p:spPr>
          <a:xfrm>
            <a:off x="822432" y="827420"/>
            <a:ext cx="1664238" cy="369332"/>
          </a:xfrm>
          <a:prstGeom prst="rect">
            <a:avLst/>
          </a:prstGeom>
          <a:noFill/>
        </p:spPr>
        <p:txBody>
          <a:bodyPr wrap="none" rtlCol="0">
            <a:spAutoFit/>
          </a:bodyPr>
          <a:lstStyle/>
          <a:p>
            <a:r>
              <a:rPr lang="en-US" altLang="zh-CN" b="1" dirty="0" smtClean="0">
                <a:solidFill>
                  <a:schemeClr val="accent6">
                    <a:lumMod val="75000"/>
                  </a:schemeClr>
                </a:solidFill>
              </a:rPr>
              <a:t>L</a:t>
            </a:r>
            <a:r>
              <a:rPr lang="zh-CN" altLang="en-US" b="1" dirty="0" smtClean="0">
                <a:solidFill>
                  <a:schemeClr val="accent6">
                    <a:lumMod val="75000"/>
                  </a:schemeClr>
                </a:solidFill>
              </a:rPr>
              <a:t>型和</a:t>
            </a:r>
            <a:r>
              <a:rPr lang="en-US" altLang="zh-CN" b="1" dirty="0" smtClean="0">
                <a:solidFill>
                  <a:schemeClr val="accent6">
                    <a:lumMod val="75000"/>
                  </a:schemeClr>
                </a:solidFill>
              </a:rPr>
              <a:t>π</a:t>
            </a:r>
            <a:r>
              <a:rPr lang="zh-CN" altLang="en-US" b="1" dirty="0" smtClean="0">
                <a:solidFill>
                  <a:schemeClr val="accent6">
                    <a:lumMod val="75000"/>
                  </a:schemeClr>
                </a:solidFill>
              </a:rPr>
              <a:t>型电路</a:t>
            </a:r>
            <a:endParaRPr lang="zh-CN" altLang="en-US" b="1" dirty="0">
              <a:solidFill>
                <a:schemeClr val="accent6">
                  <a:lumMod val="75000"/>
                </a:schemeClr>
              </a:solidFill>
            </a:endParaRPr>
          </a:p>
        </p:txBody>
      </p:sp>
      <p:sp>
        <p:nvSpPr>
          <p:cNvPr id="24" name="Rectangle 6"/>
          <p:cNvSpPr>
            <a:spLocks noChangeArrowheads="1"/>
          </p:cNvSpPr>
          <p:nvPr/>
        </p:nvSpPr>
        <p:spPr bwMode="auto">
          <a:xfrm>
            <a:off x="790699" y="1352426"/>
            <a:ext cx="29908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dirty="0" smtClean="0">
                <a:ln>
                  <a:noFill/>
                </a:ln>
                <a:solidFill>
                  <a:srgbClr val="0033CC"/>
                </a:solidFill>
                <a:effectLst/>
                <a:uLnTx/>
                <a:uFillTx/>
              </a:rPr>
              <a:t>低阻变高阻型</a:t>
            </a:r>
            <a:endParaRPr kumimoji="1" lang="en-US" altLang="zh-CN" sz="1800" b="1" i="0" u="none" strike="noStrike" kern="0" cap="none" spc="0" normalizeH="0" baseline="0" noProof="0" dirty="0" smtClean="0">
              <a:ln>
                <a:noFill/>
              </a:ln>
              <a:solidFill>
                <a:srgbClr val="0033CC"/>
              </a:solidFill>
              <a:effectLst/>
              <a:uLnTx/>
              <a:uFillTx/>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1800" kern="0" dirty="0" smtClean="0">
                <a:solidFill>
                  <a:srgbClr val="0033CC"/>
                </a:solidFill>
              </a:rPr>
              <a:t>串联到并联</a:t>
            </a:r>
            <a:endParaRPr kumimoji="1" lang="zh-CN" altLang="en-US" sz="1800" b="1" i="0" u="none" strike="noStrike" kern="0" cap="none" spc="0" normalizeH="0" baseline="0" noProof="0" dirty="0" smtClean="0">
              <a:ln>
                <a:noFill/>
              </a:ln>
              <a:solidFill>
                <a:srgbClr val="000000"/>
              </a:solidFill>
              <a:effectLst/>
              <a:uLnTx/>
              <a:uFillTx/>
            </a:endParaRPr>
          </a:p>
        </p:txBody>
      </p:sp>
      <p:sp>
        <p:nvSpPr>
          <p:cNvPr id="25" name="Rectangle 33"/>
          <p:cNvSpPr>
            <a:spLocks noChangeArrowheads="1"/>
          </p:cNvSpPr>
          <p:nvPr/>
        </p:nvSpPr>
        <p:spPr bwMode="auto">
          <a:xfrm>
            <a:off x="3995936" y="1340768"/>
            <a:ext cx="161366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rgbClr val="003399"/>
                </a:solidFill>
                <a:latin typeface="Times New Roman" pitchFamily="18" charset="0"/>
                <a:ea typeface="宋体" pitchFamily="2" charset="-122"/>
              </a:defRPr>
            </a:lvl1pPr>
            <a:lvl2pPr marL="742950" indent="-285750">
              <a:defRPr sz="2800" b="1">
                <a:solidFill>
                  <a:srgbClr val="003399"/>
                </a:solidFill>
                <a:latin typeface="Times New Roman" pitchFamily="18" charset="0"/>
                <a:ea typeface="宋体" pitchFamily="2" charset="-122"/>
              </a:defRPr>
            </a:lvl2pPr>
            <a:lvl3pPr marL="1143000" indent="-228600">
              <a:defRPr sz="2800" b="1">
                <a:solidFill>
                  <a:srgbClr val="003399"/>
                </a:solidFill>
                <a:latin typeface="Times New Roman" pitchFamily="18" charset="0"/>
                <a:ea typeface="宋体" pitchFamily="2" charset="-122"/>
              </a:defRPr>
            </a:lvl3pPr>
            <a:lvl4pPr marL="1600200" indent="-228600">
              <a:defRPr sz="2800" b="1">
                <a:solidFill>
                  <a:srgbClr val="003399"/>
                </a:solidFill>
                <a:latin typeface="Times New Roman" pitchFamily="18" charset="0"/>
                <a:ea typeface="宋体" pitchFamily="2" charset="-122"/>
              </a:defRPr>
            </a:lvl4pPr>
            <a:lvl5pPr marL="2057400" indent="-228600">
              <a:defRPr sz="2800" b="1">
                <a:solidFill>
                  <a:srgbClr val="003399"/>
                </a:solidFill>
                <a:latin typeface="Times New Roman" pitchFamily="18" charset="0"/>
                <a:ea typeface="宋体" pitchFamily="2" charset="-122"/>
              </a:defRPr>
            </a:lvl5pPr>
            <a:lvl6pPr marL="2514600" indent="-228600" eaLnBrk="0" fontAlgn="base" hangingPunct="0">
              <a:spcBef>
                <a:spcPct val="0"/>
              </a:spcBef>
              <a:spcAft>
                <a:spcPct val="0"/>
              </a:spcAft>
              <a:defRPr sz="2800" b="1">
                <a:solidFill>
                  <a:srgbClr val="003399"/>
                </a:solidFill>
                <a:latin typeface="Times New Roman" pitchFamily="18" charset="0"/>
                <a:ea typeface="宋体" pitchFamily="2" charset="-122"/>
              </a:defRPr>
            </a:lvl6pPr>
            <a:lvl7pPr marL="2971800" indent="-228600" eaLnBrk="0" fontAlgn="base" hangingPunct="0">
              <a:spcBef>
                <a:spcPct val="0"/>
              </a:spcBef>
              <a:spcAft>
                <a:spcPct val="0"/>
              </a:spcAft>
              <a:defRPr sz="2800" b="1">
                <a:solidFill>
                  <a:srgbClr val="003399"/>
                </a:solidFill>
                <a:latin typeface="Times New Roman" pitchFamily="18" charset="0"/>
                <a:ea typeface="宋体" pitchFamily="2" charset="-122"/>
              </a:defRPr>
            </a:lvl7pPr>
            <a:lvl8pPr marL="3429000" indent="-228600" eaLnBrk="0" fontAlgn="base" hangingPunct="0">
              <a:spcBef>
                <a:spcPct val="0"/>
              </a:spcBef>
              <a:spcAft>
                <a:spcPct val="0"/>
              </a:spcAft>
              <a:defRPr sz="2800" b="1">
                <a:solidFill>
                  <a:srgbClr val="003399"/>
                </a:solidFill>
                <a:latin typeface="Times New Roman" pitchFamily="18" charset="0"/>
                <a:ea typeface="宋体" pitchFamily="2" charset="-122"/>
              </a:defRPr>
            </a:lvl8pPr>
            <a:lvl9pPr marL="3886200" indent="-228600" eaLnBrk="0" fontAlgn="base" hangingPunct="0">
              <a:spcBef>
                <a:spcPct val="0"/>
              </a:spcBef>
              <a:spcAft>
                <a:spcPct val="0"/>
              </a:spcAft>
              <a:defRPr sz="2800" b="1">
                <a:solidFill>
                  <a:srgbClr val="003399"/>
                </a:solidFill>
                <a:latin typeface="Times New Roman" pitchFamily="18" charset="0"/>
                <a:ea typeface="宋体" pitchFamily="2"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b="1" i="0" u="none" strike="noStrike" kern="0" cap="none" spc="0" normalizeH="0" baseline="0" noProof="0" dirty="0" smtClean="0">
                <a:ln>
                  <a:noFill/>
                </a:ln>
                <a:solidFill>
                  <a:srgbClr val="0033CC"/>
                </a:solidFill>
                <a:effectLst/>
                <a:uLnTx/>
                <a:uFillTx/>
              </a:rPr>
              <a:t>高阻变低阻型</a:t>
            </a:r>
            <a:endParaRPr kumimoji="1" lang="en-US" altLang="zh-CN" sz="1800" b="1" i="0" u="none" strike="noStrike" kern="0" cap="none" spc="0" normalizeH="0" baseline="0" noProof="0" dirty="0" smtClean="0">
              <a:ln>
                <a:noFill/>
              </a:ln>
              <a:solidFill>
                <a:srgbClr val="0033CC"/>
              </a:solidFill>
              <a:effectLst/>
              <a:uLnTx/>
              <a:uFillTx/>
            </a:endParaRPr>
          </a:p>
          <a:p>
            <a:pPr marL="0" marR="0" lvl="0" indent="0" defTabSz="914400" eaLnBrk="1" fontAlgn="base" latinLnBrk="0" hangingPunct="1">
              <a:lnSpc>
                <a:spcPct val="100000"/>
              </a:lnSpc>
              <a:spcBef>
                <a:spcPct val="0"/>
              </a:spcBef>
              <a:spcAft>
                <a:spcPct val="0"/>
              </a:spcAft>
              <a:buClrTx/>
              <a:buSzTx/>
              <a:buFontTx/>
              <a:buNone/>
              <a:tabLst/>
              <a:defRPr/>
            </a:pPr>
            <a:r>
              <a:rPr kumimoji="1" lang="zh-CN" altLang="en-US" sz="1800" kern="0" dirty="0" smtClean="0">
                <a:solidFill>
                  <a:srgbClr val="0033CC"/>
                </a:solidFill>
              </a:rPr>
              <a:t>  并联到串联</a:t>
            </a:r>
            <a:endParaRPr kumimoji="1" lang="zh-CN" altLang="en-US" sz="1800" b="1" i="0" u="none" strike="noStrike" kern="0" cap="none" spc="0" normalizeH="0" baseline="0" noProof="0" dirty="0" smtClean="0">
              <a:ln>
                <a:noFill/>
              </a:ln>
              <a:solidFill>
                <a:srgbClr val="0033CC"/>
              </a:solidFill>
              <a:effectLst/>
              <a:uLnTx/>
              <a:uFillTx/>
            </a:endParaRPr>
          </a:p>
        </p:txBody>
      </p:sp>
      <p:graphicFrame>
        <p:nvGraphicFramePr>
          <p:cNvPr id="28" name="Object 61"/>
          <p:cNvGraphicFramePr>
            <a:graphicFrameLocks noChangeAspect="1"/>
          </p:cNvGraphicFramePr>
          <p:nvPr>
            <p:extLst>
              <p:ext uri="{D42A27DB-BD31-4B8C-83A1-F6EECF244321}">
                <p14:modId xmlns:p14="http://schemas.microsoft.com/office/powerpoint/2010/main" val="2867245371"/>
              </p:ext>
            </p:extLst>
          </p:nvPr>
        </p:nvGraphicFramePr>
        <p:xfrm>
          <a:off x="1052933" y="3944714"/>
          <a:ext cx="5187795" cy="1865060"/>
        </p:xfrm>
        <a:graphic>
          <a:graphicData uri="http://schemas.openxmlformats.org/presentationml/2006/ole">
            <mc:AlternateContent xmlns:mc="http://schemas.openxmlformats.org/markup-compatibility/2006">
              <mc:Choice xmlns:v="urn:schemas-microsoft-com:vml" Requires="v">
                <p:oleObj spid="_x0000_s13194" name="Visio" r:id="rId4" imgW="2673764" imgH="963663" progId="Visio.Drawing.11">
                  <p:embed/>
                </p:oleObj>
              </mc:Choice>
              <mc:Fallback>
                <p:oleObj name="Visio" r:id="rId4" imgW="2673764" imgH="963663" progId="Visio.Drawing.11">
                  <p:embed/>
                  <p:pic>
                    <p:nvPicPr>
                      <p:cNvPr id="0" name=""/>
                      <p:cNvPicPr>
                        <a:picLocks noChangeAspect="1" noChangeArrowheads="1"/>
                      </p:cNvPicPr>
                      <p:nvPr/>
                    </p:nvPicPr>
                    <p:blipFill>
                      <a:blip r:embed="rId5"/>
                      <a:srcRect/>
                      <a:stretch>
                        <a:fillRect/>
                      </a:stretch>
                    </p:blipFill>
                    <p:spPr bwMode="auto">
                      <a:xfrm>
                        <a:off x="1052933" y="3944714"/>
                        <a:ext cx="5187795" cy="1865060"/>
                      </a:xfrm>
                      <a:prstGeom prst="rect">
                        <a:avLst/>
                      </a:prstGeom>
                      <a:noFill/>
                      <a:ln>
                        <a:noFill/>
                      </a:ln>
                      <a:extLst/>
                    </p:spPr>
                  </p:pic>
                </p:oleObj>
              </mc:Fallback>
            </mc:AlternateContent>
          </a:graphicData>
        </a:graphic>
      </p:graphicFrame>
      <p:graphicFrame>
        <p:nvGraphicFramePr>
          <p:cNvPr id="29" name="Object 69"/>
          <p:cNvGraphicFramePr>
            <a:graphicFrameLocks noChangeAspect="1"/>
          </p:cNvGraphicFramePr>
          <p:nvPr>
            <p:extLst>
              <p:ext uri="{D42A27DB-BD31-4B8C-83A1-F6EECF244321}">
                <p14:modId xmlns:p14="http://schemas.microsoft.com/office/powerpoint/2010/main" val="832626807"/>
              </p:ext>
            </p:extLst>
          </p:nvPr>
        </p:nvGraphicFramePr>
        <p:xfrm>
          <a:off x="1403648" y="1994470"/>
          <a:ext cx="2041525" cy="1614487"/>
        </p:xfrm>
        <a:graphic>
          <a:graphicData uri="http://schemas.openxmlformats.org/presentationml/2006/ole">
            <mc:AlternateContent xmlns:mc="http://schemas.openxmlformats.org/markup-compatibility/2006">
              <mc:Choice xmlns:v="urn:schemas-microsoft-com:vml" Requires="v">
                <p:oleObj spid="_x0000_s13195" name="Visio" r:id="rId6" imgW="1111301" imgH="880262" progId="Visio.Drawing.11">
                  <p:embed/>
                </p:oleObj>
              </mc:Choice>
              <mc:Fallback>
                <p:oleObj name="Visio" r:id="rId6" imgW="1111301" imgH="880262" progId="Visio.Drawing.11">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648" y="1994470"/>
                        <a:ext cx="2041525" cy="1614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72"/>
          <p:cNvGraphicFramePr>
            <a:graphicFrameLocks noChangeAspect="1"/>
          </p:cNvGraphicFramePr>
          <p:nvPr>
            <p:extLst>
              <p:ext uri="{D42A27DB-BD31-4B8C-83A1-F6EECF244321}">
                <p14:modId xmlns:p14="http://schemas.microsoft.com/office/powerpoint/2010/main" val="895769681"/>
              </p:ext>
            </p:extLst>
          </p:nvPr>
        </p:nvGraphicFramePr>
        <p:xfrm>
          <a:off x="3923928" y="1995273"/>
          <a:ext cx="1942628" cy="1577743"/>
        </p:xfrm>
        <a:graphic>
          <a:graphicData uri="http://schemas.openxmlformats.org/presentationml/2006/ole">
            <mc:AlternateContent xmlns:mc="http://schemas.openxmlformats.org/markup-compatibility/2006">
              <mc:Choice xmlns:v="urn:schemas-microsoft-com:vml" Requires="v">
                <p:oleObj spid="_x0000_s13196" name="Visio" r:id="rId8" imgW="1082040" imgH="879348" progId="Visio.Drawing.11">
                  <p:embed/>
                </p:oleObj>
              </mc:Choice>
              <mc:Fallback>
                <p:oleObj name="Visio" r:id="rId8" imgW="1082040" imgH="879348" progId="Visio.Drawing.1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3928" y="1995273"/>
                        <a:ext cx="1942628" cy="1577743"/>
                      </a:xfrm>
                      <a:prstGeom prst="rect">
                        <a:avLst/>
                      </a:prstGeom>
                      <a:noFill/>
                      <a:ln>
                        <a:noFill/>
                      </a:ln>
                      <a:effectLst/>
                      <a:extLst/>
                    </p:spPr>
                  </p:pic>
                </p:oleObj>
              </mc:Fallback>
            </mc:AlternateContent>
          </a:graphicData>
        </a:graphic>
      </p:graphicFrame>
      <p:pic>
        <p:nvPicPr>
          <p:cNvPr id="12291"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84745" y="1928490"/>
            <a:ext cx="2328193"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3" name="Picture 5"/>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240729" y="3933056"/>
            <a:ext cx="2651751"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8490483"/>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42</a:t>
            </a:fld>
            <a:endParaRPr lang="en-US" altLang="zh-CN" dirty="0">
              <a:solidFill>
                <a:srgbClr val="000000"/>
              </a:solidFill>
            </a:endParaRPr>
          </a:p>
        </p:txBody>
      </p:sp>
      <p:sp>
        <p:nvSpPr>
          <p:cNvPr id="6" name="TextBox 5"/>
          <p:cNvSpPr txBox="1"/>
          <p:nvPr/>
        </p:nvSpPr>
        <p:spPr>
          <a:xfrm>
            <a:off x="539552" y="467380"/>
            <a:ext cx="2044149" cy="369332"/>
          </a:xfrm>
          <a:prstGeom prst="rect">
            <a:avLst/>
          </a:prstGeom>
          <a:noFill/>
        </p:spPr>
        <p:txBody>
          <a:bodyPr wrap="none" rtlCol="0">
            <a:spAutoFit/>
          </a:bodyPr>
          <a:lstStyle/>
          <a:p>
            <a:r>
              <a:rPr lang="zh-CN" altLang="en-US" b="1" dirty="0" smtClean="0"/>
              <a:t>三、基本知识点：</a:t>
            </a:r>
            <a:endParaRPr lang="zh-CN" altLang="en-US" b="1" dirty="0"/>
          </a:p>
        </p:txBody>
      </p:sp>
      <p:sp>
        <p:nvSpPr>
          <p:cNvPr id="2" name="TextBox 1"/>
          <p:cNvSpPr txBox="1"/>
          <p:nvPr/>
        </p:nvSpPr>
        <p:spPr>
          <a:xfrm>
            <a:off x="581706" y="764704"/>
            <a:ext cx="8094750" cy="5170646"/>
          </a:xfrm>
          <a:prstGeom prst="rect">
            <a:avLst/>
          </a:prstGeom>
          <a:noFill/>
        </p:spPr>
        <p:txBody>
          <a:bodyPr wrap="square" rtlCol="0">
            <a:spAutoFit/>
          </a:bodyPr>
          <a:lstStyle/>
          <a:p>
            <a:pPr>
              <a:lnSpc>
                <a:spcPct val="150000"/>
              </a:lnSpc>
            </a:pPr>
            <a:r>
              <a:rPr lang="zh-CN" altLang="en-US" sz="2000" b="1" dirty="0" smtClean="0">
                <a:solidFill>
                  <a:srgbClr val="0070C0"/>
                </a:solidFill>
              </a:rPr>
              <a:t>一、甲、乙、丙类放大器的区分方法：半导通角；</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zh-CN" altLang="en-US" sz="2000" b="1" dirty="0"/>
              <a:t>甲</a:t>
            </a:r>
            <a:r>
              <a:rPr lang="zh-CN" altLang="en-US" sz="2000" b="1" dirty="0" smtClean="0"/>
              <a:t>类（</a:t>
            </a:r>
            <a:r>
              <a:rPr lang="en-US" altLang="zh-CN" sz="2000" b="1" dirty="0" smtClean="0"/>
              <a:t>180°</a:t>
            </a:r>
            <a:r>
              <a:rPr lang="zh-CN" altLang="en-US" sz="2000" b="1" dirty="0" smtClean="0"/>
              <a:t>）乙类（</a:t>
            </a:r>
            <a:r>
              <a:rPr lang="en-US" altLang="zh-CN" sz="2000" b="1" dirty="0" smtClean="0"/>
              <a:t>90°</a:t>
            </a:r>
            <a:r>
              <a:rPr lang="zh-CN" altLang="en-US" sz="2000" b="1" dirty="0" smtClean="0"/>
              <a:t>）丙类（</a:t>
            </a:r>
            <a:r>
              <a:rPr lang="en-US" altLang="zh-CN" sz="2000" b="1" dirty="0" smtClean="0"/>
              <a:t>0-90°</a:t>
            </a:r>
            <a:r>
              <a:rPr lang="zh-CN" altLang="en-US" sz="2000" b="1" dirty="0" smtClean="0"/>
              <a:t>）</a:t>
            </a:r>
            <a:endParaRPr lang="en-US" altLang="zh-CN" sz="2000" b="1" dirty="0" smtClean="0"/>
          </a:p>
          <a:p>
            <a:pPr marL="342900" indent="-342900">
              <a:lnSpc>
                <a:spcPct val="150000"/>
              </a:lnSpc>
              <a:buFont typeface="Arial" panose="020B0604020202020204" pitchFamily="34" charset="0"/>
              <a:buChar char="•"/>
            </a:pPr>
            <a:r>
              <a:rPr lang="zh-CN" altLang="en-US" sz="2000" b="1" dirty="0" smtClean="0"/>
              <a:t>效率：甲类＜乙类＜丙类</a:t>
            </a:r>
            <a:endParaRPr lang="en-US" altLang="zh-CN" sz="2000" b="1" dirty="0" smtClean="0"/>
          </a:p>
          <a:p>
            <a:pPr>
              <a:lnSpc>
                <a:spcPct val="150000"/>
              </a:lnSpc>
            </a:pPr>
            <a:r>
              <a:rPr lang="zh-CN" altLang="en-US" sz="2000" b="1" dirty="0" smtClean="0">
                <a:solidFill>
                  <a:srgbClr val="0070C0"/>
                </a:solidFill>
              </a:rPr>
              <a:t>二、高频谐振功放中谐振回路的选频作用；高频谐振功放集电极输出电流的波形是余弦脉冲波，</a:t>
            </a:r>
            <a:r>
              <a:rPr lang="en-US" altLang="zh-CN" sz="2000" b="1" dirty="0" smtClean="0">
                <a:solidFill>
                  <a:srgbClr val="0070C0"/>
                </a:solidFill>
              </a:rPr>
              <a:t>LC</a:t>
            </a:r>
            <a:r>
              <a:rPr lang="zh-CN" altLang="en-US" sz="2000" b="1" dirty="0" smtClean="0">
                <a:solidFill>
                  <a:srgbClr val="0070C0"/>
                </a:solidFill>
              </a:rPr>
              <a:t>谐振回路两端的输出电压波形是余弦波；</a:t>
            </a:r>
            <a:endParaRPr lang="en-US" altLang="zh-CN" sz="2000" b="1" dirty="0" smtClean="0">
              <a:solidFill>
                <a:srgbClr val="0070C0"/>
              </a:solidFill>
            </a:endParaRPr>
          </a:p>
          <a:p>
            <a:pPr>
              <a:lnSpc>
                <a:spcPct val="150000"/>
              </a:lnSpc>
            </a:pPr>
            <a:r>
              <a:rPr lang="zh-CN" altLang="en-US" sz="2000" b="1" dirty="0" smtClean="0">
                <a:solidFill>
                  <a:srgbClr val="0070C0"/>
                </a:solidFill>
              </a:rPr>
              <a:t>三、高频谐振功放的三个工作状态：</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zh-CN" altLang="en-US" sz="2000" b="1" dirty="0"/>
              <a:t>过</a:t>
            </a:r>
            <a:r>
              <a:rPr lang="zh-CN" altLang="en-US" sz="2000" b="1" dirty="0" smtClean="0"/>
              <a:t>压、欠压、临界</a:t>
            </a:r>
            <a:endParaRPr lang="en-US" altLang="zh-CN" sz="2000" b="1" dirty="0" smtClean="0"/>
          </a:p>
          <a:p>
            <a:pPr>
              <a:lnSpc>
                <a:spcPct val="150000"/>
              </a:lnSpc>
            </a:pPr>
            <a:r>
              <a:rPr lang="zh-CN" altLang="en-US" sz="2000" b="1" dirty="0">
                <a:solidFill>
                  <a:srgbClr val="0070C0"/>
                </a:solidFill>
              </a:rPr>
              <a:t>四</a:t>
            </a:r>
            <a:r>
              <a:rPr lang="zh-CN" altLang="en-US" sz="2000" b="1" dirty="0" smtClean="0">
                <a:solidFill>
                  <a:srgbClr val="0070C0"/>
                </a:solidFill>
              </a:rPr>
              <a:t>、工作状态由什么决定？</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zh-CN" altLang="en-US" sz="2000" b="1" dirty="0" smtClean="0"/>
              <a:t>动态特性曲线中</a:t>
            </a:r>
            <a:r>
              <a:rPr lang="en-US" altLang="zh-CN" sz="2000" b="1" dirty="0" smtClean="0"/>
              <a:t>A</a:t>
            </a:r>
            <a:r>
              <a:rPr lang="zh-CN" altLang="en-US" sz="2000" b="1" dirty="0" smtClean="0"/>
              <a:t>点的位置； </a:t>
            </a:r>
            <a:endParaRPr lang="en-US" altLang="zh-CN" sz="2000" b="1" dirty="0" smtClean="0"/>
          </a:p>
          <a:p>
            <a:pPr>
              <a:lnSpc>
                <a:spcPct val="150000"/>
              </a:lnSpc>
            </a:pPr>
            <a:r>
              <a:rPr lang="zh-CN" altLang="en-US" sz="2000" b="1" dirty="0">
                <a:solidFill>
                  <a:srgbClr val="0070C0"/>
                </a:solidFill>
              </a:rPr>
              <a:t>五</a:t>
            </a:r>
            <a:r>
              <a:rPr lang="zh-CN" altLang="en-US" sz="2000" b="1" dirty="0" smtClean="0">
                <a:solidFill>
                  <a:srgbClr val="0070C0"/>
                </a:solidFill>
              </a:rPr>
              <a:t>、影响高频功放工作状态的四个参量：</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en-US" altLang="zh-CN" sz="2000" b="1" dirty="0" smtClean="0">
                <a:latin typeface="Times New Roman" panose="02020603050405020304" pitchFamily="18" charset="0"/>
                <a:cs typeface="Times New Roman" panose="02020603050405020304" pitchFamily="18" charset="0"/>
              </a:rPr>
              <a:t>V</a:t>
            </a:r>
            <a:r>
              <a:rPr lang="en-US" altLang="zh-CN" sz="2000" b="1" baseline="-25000" dirty="0" smtClean="0">
                <a:latin typeface="Times New Roman" panose="02020603050405020304" pitchFamily="18" charset="0"/>
                <a:cs typeface="Times New Roman" panose="02020603050405020304" pitchFamily="18" charset="0"/>
              </a:rPr>
              <a:t>BB</a:t>
            </a:r>
            <a:r>
              <a:rPr lang="zh-CN" altLang="en-US" sz="2000" b="1" dirty="0">
                <a:latin typeface="Times New Roman" panose="02020603050405020304" pitchFamily="18" charset="0"/>
                <a:cs typeface="Times New Roman" panose="02020603050405020304" pitchFamily="18" charset="0"/>
              </a:rPr>
              <a:t>，</a:t>
            </a:r>
            <a:r>
              <a:rPr lang="en-US" altLang="zh-CN" sz="2000" b="1" dirty="0" err="1">
                <a:latin typeface="Times New Roman" panose="02020603050405020304" pitchFamily="18" charset="0"/>
                <a:cs typeface="Times New Roman" panose="02020603050405020304" pitchFamily="18" charset="0"/>
              </a:rPr>
              <a:t>U</a:t>
            </a:r>
            <a:r>
              <a:rPr lang="en-US" altLang="zh-CN" sz="2000" b="1" baseline="-25000" dirty="0" err="1">
                <a:latin typeface="Times New Roman" panose="02020603050405020304" pitchFamily="18" charset="0"/>
                <a:cs typeface="Times New Roman" panose="02020603050405020304" pitchFamily="18" charset="0"/>
              </a:rPr>
              <a:t>im</a:t>
            </a:r>
            <a:r>
              <a:rPr lang="zh-CN" altLang="en-US" sz="2000" b="1" dirty="0" smtClean="0">
                <a:latin typeface="Times New Roman" panose="02020603050405020304" pitchFamily="18" charset="0"/>
                <a:cs typeface="Times New Roman" panose="02020603050405020304" pitchFamily="18" charset="0"/>
              </a:rPr>
              <a:t>，</a:t>
            </a:r>
            <a:r>
              <a:rPr lang="en-US" altLang="zh-CN" sz="2000" b="1" dirty="0" smtClean="0">
                <a:latin typeface="Times New Roman" panose="02020603050405020304" pitchFamily="18" charset="0"/>
                <a:cs typeface="Times New Roman" panose="02020603050405020304" pitchFamily="18" charset="0"/>
              </a:rPr>
              <a:t>V</a:t>
            </a:r>
            <a:r>
              <a:rPr lang="en-US" altLang="zh-CN" sz="2000" b="1" baseline="-25000" dirty="0" smtClean="0">
                <a:latin typeface="Times New Roman" panose="02020603050405020304" pitchFamily="18" charset="0"/>
                <a:cs typeface="Times New Roman" panose="02020603050405020304" pitchFamily="18" charset="0"/>
              </a:rPr>
              <a:t>CC</a:t>
            </a:r>
            <a:r>
              <a:rPr lang="zh-CN"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R</a:t>
            </a:r>
            <a:r>
              <a:rPr lang="en-US" altLang="zh-CN" sz="2000" b="1" baseline="-25000" dirty="0">
                <a:latin typeface="Times New Roman" panose="02020603050405020304" pitchFamily="18" charset="0"/>
                <a:cs typeface="Times New Roman" panose="02020603050405020304" pitchFamily="18" charset="0"/>
              </a:rPr>
              <a:t>e</a:t>
            </a:r>
            <a:endParaRPr lang="en-US" altLang="zh-CN" sz="2000" b="1" dirty="0" smtClean="0"/>
          </a:p>
        </p:txBody>
      </p:sp>
    </p:spTree>
    <p:extLst>
      <p:ext uri="{BB962C8B-B14F-4D97-AF65-F5344CB8AC3E}">
        <p14:creationId xmlns:p14="http://schemas.microsoft.com/office/powerpoint/2010/main" val="967677467"/>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43</a:t>
            </a:fld>
            <a:endParaRPr lang="en-US" altLang="zh-CN" dirty="0">
              <a:solidFill>
                <a:srgbClr val="000000"/>
              </a:solidFill>
            </a:endParaRPr>
          </a:p>
        </p:txBody>
      </p:sp>
      <p:sp>
        <p:nvSpPr>
          <p:cNvPr id="6" name="TextBox 5"/>
          <p:cNvSpPr txBox="1"/>
          <p:nvPr/>
        </p:nvSpPr>
        <p:spPr>
          <a:xfrm>
            <a:off x="539552" y="332656"/>
            <a:ext cx="2044149" cy="369332"/>
          </a:xfrm>
          <a:prstGeom prst="rect">
            <a:avLst/>
          </a:prstGeom>
          <a:noFill/>
        </p:spPr>
        <p:txBody>
          <a:bodyPr wrap="none" rtlCol="0">
            <a:spAutoFit/>
          </a:bodyPr>
          <a:lstStyle/>
          <a:p>
            <a:r>
              <a:rPr lang="zh-CN" altLang="en-US" b="1" dirty="0" smtClean="0"/>
              <a:t>三、基本知识点：</a:t>
            </a:r>
            <a:endParaRPr lang="zh-CN" altLang="en-US" b="1" dirty="0"/>
          </a:p>
        </p:txBody>
      </p:sp>
      <p:sp>
        <p:nvSpPr>
          <p:cNvPr id="2" name="TextBox 1"/>
          <p:cNvSpPr txBox="1"/>
          <p:nvPr/>
        </p:nvSpPr>
        <p:spPr>
          <a:xfrm>
            <a:off x="539552" y="620688"/>
            <a:ext cx="8094750" cy="6093976"/>
          </a:xfrm>
          <a:prstGeom prst="rect">
            <a:avLst/>
          </a:prstGeom>
          <a:noFill/>
        </p:spPr>
        <p:txBody>
          <a:bodyPr wrap="square" rtlCol="0">
            <a:spAutoFit/>
          </a:bodyPr>
          <a:lstStyle/>
          <a:p>
            <a:pPr>
              <a:lnSpc>
                <a:spcPct val="150000"/>
              </a:lnSpc>
            </a:pPr>
            <a:r>
              <a:rPr lang="zh-CN" altLang="en-US" sz="2000" b="1" dirty="0" smtClean="0">
                <a:solidFill>
                  <a:srgbClr val="0070C0"/>
                </a:solidFill>
              </a:rPr>
              <a:t>七、</a:t>
            </a:r>
            <a:r>
              <a:rPr lang="en-US" altLang="zh-CN" sz="2000" b="1" dirty="0" smtClean="0">
                <a:solidFill>
                  <a:srgbClr val="0070C0"/>
                </a:solidFill>
              </a:rPr>
              <a:t>V</a:t>
            </a:r>
            <a:r>
              <a:rPr lang="en-US" altLang="zh-CN" sz="2000" b="1" baseline="-25000" dirty="0" smtClean="0">
                <a:solidFill>
                  <a:srgbClr val="0070C0"/>
                </a:solidFill>
                <a:latin typeface="Times New Roman" panose="02020603050405020304" pitchFamily="18" charset="0"/>
                <a:cs typeface="Times New Roman" panose="02020603050405020304" pitchFamily="18" charset="0"/>
              </a:rPr>
              <a:t>BB</a:t>
            </a:r>
            <a:r>
              <a:rPr lang="zh-CN" altLang="en-US" sz="2000" b="1" dirty="0">
                <a:solidFill>
                  <a:srgbClr val="0070C0"/>
                </a:solidFill>
                <a:latin typeface="Times New Roman" panose="02020603050405020304" pitchFamily="18" charset="0"/>
                <a:cs typeface="Times New Roman" panose="02020603050405020304" pitchFamily="18" charset="0"/>
              </a:rPr>
              <a:t>，</a:t>
            </a:r>
            <a:r>
              <a:rPr lang="en-US" altLang="zh-CN" sz="2000" b="1" dirty="0" err="1">
                <a:solidFill>
                  <a:srgbClr val="0070C0"/>
                </a:solidFill>
                <a:latin typeface="Times New Roman" panose="02020603050405020304" pitchFamily="18" charset="0"/>
                <a:cs typeface="Times New Roman" panose="02020603050405020304" pitchFamily="18" charset="0"/>
              </a:rPr>
              <a:t>U</a:t>
            </a:r>
            <a:r>
              <a:rPr lang="en-US" altLang="zh-CN" sz="2000" b="1" baseline="-25000" dirty="0" err="1">
                <a:solidFill>
                  <a:srgbClr val="0070C0"/>
                </a:solidFill>
                <a:latin typeface="Times New Roman" panose="02020603050405020304" pitchFamily="18" charset="0"/>
                <a:cs typeface="Times New Roman" panose="02020603050405020304" pitchFamily="18" charset="0"/>
              </a:rPr>
              <a:t>im</a:t>
            </a:r>
            <a:r>
              <a:rPr lang="zh-CN" altLang="en-US" sz="2000" b="1" dirty="0" smtClean="0">
                <a:solidFill>
                  <a:srgbClr val="0070C0"/>
                </a:solidFill>
                <a:latin typeface="Times New Roman" panose="02020603050405020304" pitchFamily="18" charset="0"/>
                <a:cs typeface="Times New Roman" panose="02020603050405020304" pitchFamily="18" charset="0"/>
              </a:rPr>
              <a:t>，</a:t>
            </a:r>
            <a:r>
              <a:rPr lang="en-US" altLang="zh-CN" sz="2000" b="1" dirty="0" smtClean="0">
                <a:solidFill>
                  <a:srgbClr val="0070C0"/>
                </a:solidFill>
                <a:latin typeface="Times New Roman" panose="02020603050405020304" pitchFamily="18" charset="0"/>
                <a:cs typeface="Times New Roman" panose="02020603050405020304" pitchFamily="18" charset="0"/>
              </a:rPr>
              <a:t>V</a:t>
            </a:r>
            <a:r>
              <a:rPr lang="en-US" altLang="zh-CN" sz="2000" b="1" baseline="-25000" dirty="0" smtClean="0">
                <a:solidFill>
                  <a:srgbClr val="0070C0"/>
                </a:solidFill>
                <a:latin typeface="Times New Roman" panose="02020603050405020304" pitchFamily="18" charset="0"/>
                <a:cs typeface="Times New Roman" panose="02020603050405020304" pitchFamily="18" charset="0"/>
              </a:rPr>
              <a:t>CC</a:t>
            </a:r>
            <a:r>
              <a:rPr lang="zh-CN" altLang="en-US" sz="2000" b="1" dirty="0">
                <a:solidFill>
                  <a:srgbClr val="0070C0"/>
                </a:solidFill>
                <a:latin typeface="Times New Roman" panose="02020603050405020304" pitchFamily="18" charset="0"/>
                <a:cs typeface="Times New Roman" panose="02020603050405020304" pitchFamily="18" charset="0"/>
              </a:rPr>
              <a:t>，</a:t>
            </a:r>
            <a:r>
              <a:rPr lang="en-US" altLang="zh-CN" sz="2000" b="1" dirty="0" smtClean="0">
                <a:solidFill>
                  <a:srgbClr val="0070C0"/>
                </a:solidFill>
                <a:latin typeface="Times New Roman" panose="02020603050405020304" pitchFamily="18" charset="0"/>
                <a:cs typeface="Times New Roman" panose="02020603050405020304" pitchFamily="18" charset="0"/>
              </a:rPr>
              <a:t>R</a:t>
            </a:r>
            <a:r>
              <a:rPr lang="en-US" altLang="zh-CN" sz="2000" b="1" baseline="-25000" dirty="0" smtClean="0">
                <a:solidFill>
                  <a:srgbClr val="0070C0"/>
                </a:solidFill>
                <a:latin typeface="Times New Roman" panose="02020603050405020304" pitchFamily="18" charset="0"/>
                <a:cs typeface="Times New Roman" panose="02020603050405020304" pitchFamily="18" charset="0"/>
              </a:rPr>
              <a:t>e</a:t>
            </a:r>
            <a:r>
              <a:rPr lang="zh-CN" altLang="en-US" sz="2000" b="1" dirty="0" smtClean="0">
                <a:solidFill>
                  <a:srgbClr val="0070C0"/>
                </a:solidFill>
              </a:rPr>
              <a:t>对高频功放动态特性曲线的影响：</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en-US" altLang="zh-CN" sz="2000" b="1" dirty="0" smtClean="0">
                <a:latin typeface="Times New Roman" panose="02020603050405020304" pitchFamily="18" charset="0"/>
                <a:cs typeface="Times New Roman" panose="02020603050405020304" pitchFamily="18" charset="0"/>
              </a:rPr>
              <a:t>V</a:t>
            </a:r>
            <a:r>
              <a:rPr lang="en-US" altLang="zh-CN" sz="2000" b="1" baseline="-25000" dirty="0" smtClean="0">
                <a:latin typeface="Times New Roman" panose="02020603050405020304" pitchFamily="18" charset="0"/>
                <a:cs typeface="Times New Roman" panose="02020603050405020304" pitchFamily="18" charset="0"/>
              </a:rPr>
              <a:t>BB</a:t>
            </a:r>
            <a:r>
              <a:rPr lang="zh-CN" altLang="en-US" sz="2000" b="1" dirty="0">
                <a:latin typeface="Times New Roman" panose="02020603050405020304" pitchFamily="18" charset="0"/>
                <a:cs typeface="Times New Roman" panose="02020603050405020304" pitchFamily="18" charset="0"/>
              </a:rPr>
              <a:t>，</a:t>
            </a:r>
            <a:r>
              <a:rPr lang="en-US" altLang="zh-CN" sz="2000" b="1" dirty="0" err="1" smtClean="0">
                <a:latin typeface="Times New Roman" panose="02020603050405020304" pitchFamily="18" charset="0"/>
                <a:cs typeface="Times New Roman" panose="02020603050405020304" pitchFamily="18" charset="0"/>
              </a:rPr>
              <a:t>U</a:t>
            </a:r>
            <a:r>
              <a:rPr lang="en-US" altLang="zh-CN" sz="2000" b="1" baseline="-25000" dirty="0" err="1" smtClean="0">
                <a:latin typeface="Times New Roman" panose="02020603050405020304" pitchFamily="18" charset="0"/>
                <a:cs typeface="Times New Roman" panose="02020603050405020304" pitchFamily="18" charset="0"/>
              </a:rPr>
              <a:t>im</a:t>
            </a:r>
            <a:r>
              <a:rPr lang="zh-CN" altLang="en-US" sz="2000" b="1" dirty="0" smtClean="0">
                <a:latin typeface="Times New Roman" panose="02020603050405020304" pitchFamily="18" charset="0"/>
                <a:cs typeface="Times New Roman" panose="02020603050405020304" pitchFamily="18" charset="0"/>
              </a:rPr>
              <a:t>，</a:t>
            </a:r>
            <a:r>
              <a:rPr lang="en-US" altLang="zh-CN" sz="2000" b="1" dirty="0" smtClean="0">
                <a:latin typeface="Times New Roman" panose="02020603050405020304" pitchFamily="18" charset="0"/>
                <a:cs typeface="Times New Roman" panose="02020603050405020304" pitchFamily="18" charset="0"/>
              </a:rPr>
              <a:t>R</a:t>
            </a:r>
            <a:r>
              <a:rPr lang="en-US" altLang="zh-CN" sz="2000" b="1" baseline="-25000" dirty="0" smtClean="0">
                <a:latin typeface="Times New Roman" panose="02020603050405020304" pitchFamily="18" charset="0"/>
                <a:cs typeface="Times New Roman" panose="02020603050405020304" pitchFamily="18" charset="0"/>
              </a:rPr>
              <a:t>e</a:t>
            </a:r>
            <a:r>
              <a:rPr lang="zh-CN" altLang="en-US" sz="2000" b="1" dirty="0" smtClean="0">
                <a:latin typeface="Times New Roman" panose="02020603050405020304" pitchFamily="18" charset="0"/>
                <a:cs typeface="Times New Roman" panose="02020603050405020304" pitchFamily="18" charset="0"/>
              </a:rPr>
              <a:t>由小变大，欠压</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临界</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过压；</a:t>
            </a:r>
            <a:endParaRPr lang="en-US" altLang="zh-CN" sz="2000" b="1" dirty="0" smtClean="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altLang="zh-CN" sz="2000" b="1" dirty="0" smtClean="0">
                <a:latin typeface="Times New Roman" panose="02020603050405020304" pitchFamily="18" charset="0"/>
                <a:cs typeface="Times New Roman" panose="02020603050405020304" pitchFamily="18" charset="0"/>
              </a:rPr>
              <a:t>V</a:t>
            </a:r>
            <a:r>
              <a:rPr lang="en-US" altLang="zh-CN" sz="2000" b="1" baseline="-25000" dirty="0" smtClean="0">
                <a:latin typeface="Times New Roman" panose="02020603050405020304" pitchFamily="18" charset="0"/>
                <a:cs typeface="Times New Roman" panose="02020603050405020304" pitchFamily="18" charset="0"/>
              </a:rPr>
              <a:t>CC</a:t>
            </a:r>
            <a:r>
              <a:rPr lang="zh-CN" altLang="en-US" sz="2000" b="1" dirty="0" smtClean="0">
                <a:latin typeface="Times New Roman" panose="02020603050405020304" pitchFamily="18" charset="0"/>
                <a:cs typeface="Times New Roman" panose="02020603050405020304" pitchFamily="18" charset="0"/>
              </a:rPr>
              <a:t>由小变大，过压</a:t>
            </a:r>
            <a:r>
              <a:rPr lang="en-US" altLang="zh-CN" sz="2000" b="1" dirty="0">
                <a:latin typeface="Times New Roman" panose="02020603050405020304" pitchFamily="18" charset="0"/>
                <a:cs typeface="Times New Roman" panose="02020603050405020304" pitchFamily="18" charset="0"/>
              </a:rPr>
              <a:t>—</a:t>
            </a:r>
            <a:r>
              <a:rPr lang="zh-CN" altLang="en-US" sz="2000" b="1" dirty="0">
                <a:latin typeface="Times New Roman" panose="02020603050405020304" pitchFamily="18" charset="0"/>
                <a:cs typeface="Times New Roman" panose="02020603050405020304" pitchFamily="18" charset="0"/>
              </a:rPr>
              <a:t>临界</a:t>
            </a:r>
            <a:r>
              <a:rPr lang="en-US" altLang="zh-CN" sz="2000" b="1" dirty="0" smtClean="0">
                <a:latin typeface="Times New Roman" panose="02020603050405020304" pitchFamily="18" charset="0"/>
                <a:cs typeface="Times New Roman" panose="02020603050405020304" pitchFamily="18" charset="0"/>
              </a:rPr>
              <a:t>—</a:t>
            </a:r>
            <a:r>
              <a:rPr lang="zh-CN" altLang="en-US" sz="2000" b="1" dirty="0" smtClean="0">
                <a:latin typeface="Times New Roman" panose="02020603050405020304" pitchFamily="18" charset="0"/>
                <a:cs typeface="Times New Roman" panose="02020603050405020304" pitchFamily="18" charset="0"/>
              </a:rPr>
              <a:t>欠压；</a:t>
            </a:r>
            <a:endParaRPr lang="en-US" altLang="zh-CN" sz="2000" b="1" dirty="0" smtClean="0">
              <a:latin typeface="Times New Roman" panose="02020603050405020304" pitchFamily="18" charset="0"/>
              <a:cs typeface="Times New Roman" panose="02020603050405020304" pitchFamily="18" charset="0"/>
            </a:endParaRPr>
          </a:p>
          <a:p>
            <a:pPr>
              <a:lnSpc>
                <a:spcPct val="150000"/>
              </a:lnSpc>
            </a:pPr>
            <a:r>
              <a:rPr lang="zh-CN" altLang="en-US" sz="2000" b="1" dirty="0" smtClean="0">
                <a:solidFill>
                  <a:srgbClr val="0070C0"/>
                </a:solidFill>
              </a:rPr>
              <a:t>八、工作状态对集电极电流的影响：</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zh-CN" altLang="en-US" sz="2000" b="1" dirty="0" smtClean="0"/>
              <a:t>在过压区，顶部凹陷余弦脉冲电流；</a:t>
            </a:r>
            <a:endParaRPr lang="en-US" altLang="zh-CN" sz="2000" b="1" dirty="0" smtClean="0"/>
          </a:p>
          <a:p>
            <a:pPr>
              <a:lnSpc>
                <a:spcPct val="150000"/>
              </a:lnSpc>
            </a:pPr>
            <a:r>
              <a:rPr lang="zh-CN" altLang="en-US" sz="2000" b="1" dirty="0" smtClean="0">
                <a:solidFill>
                  <a:srgbClr val="0070C0"/>
                </a:solidFill>
              </a:rPr>
              <a:t>九、工作状态对输出功率的影响：</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zh-CN" altLang="en-US" sz="2000" b="1" dirty="0" smtClean="0"/>
              <a:t>临界点有最大输出功率</a:t>
            </a:r>
            <a:endParaRPr lang="en-US" altLang="zh-CN" sz="2000" b="1" dirty="0" smtClean="0"/>
          </a:p>
          <a:p>
            <a:pPr>
              <a:lnSpc>
                <a:spcPct val="150000"/>
              </a:lnSpc>
            </a:pPr>
            <a:r>
              <a:rPr lang="zh-CN" altLang="en-US" sz="2000" b="1" dirty="0">
                <a:solidFill>
                  <a:srgbClr val="0070C0"/>
                </a:solidFill>
              </a:rPr>
              <a:t>十</a:t>
            </a:r>
            <a:r>
              <a:rPr lang="zh-CN" altLang="en-US" sz="2000" b="1" dirty="0" smtClean="0">
                <a:solidFill>
                  <a:srgbClr val="0070C0"/>
                </a:solidFill>
              </a:rPr>
              <a:t>、基极自给偏压电路的自给偏置效应，可以起到稳定输出电压振幅值的作用。</a:t>
            </a:r>
            <a:endParaRPr lang="en-US" altLang="zh-CN" sz="2000" b="1" dirty="0" smtClean="0">
              <a:solidFill>
                <a:srgbClr val="0070C0"/>
              </a:solidFill>
            </a:endParaRPr>
          </a:p>
          <a:p>
            <a:pPr>
              <a:lnSpc>
                <a:spcPct val="150000"/>
              </a:lnSpc>
            </a:pPr>
            <a:r>
              <a:rPr lang="zh-CN" altLang="en-US" sz="2000" b="1" dirty="0" smtClean="0">
                <a:solidFill>
                  <a:srgbClr val="0070C0"/>
                </a:solidFill>
              </a:rPr>
              <a:t>十一、</a:t>
            </a:r>
            <a:r>
              <a:rPr lang="en-US" altLang="zh-CN" sz="2000" b="1" dirty="0" smtClean="0">
                <a:solidFill>
                  <a:srgbClr val="0070C0"/>
                </a:solidFill>
              </a:rPr>
              <a:t>L</a:t>
            </a:r>
            <a:r>
              <a:rPr lang="zh-CN" altLang="en-US" sz="2000" b="1" dirty="0" smtClean="0">
                <a:solidFill>
                  <a:srgbClr val="0070C0"/>
                </a:solidFill>
              </a:rPr>
              <a:t>型滤波匹配网络：</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zh-CN" altLang="en-US" sz="2000" b="1" dirty="0" smtClean="0"/>
              <a:t>串联变并联：低阻</a:t>
            </a:r>
            <a:r>
              <a:rPr lang="en-US" altLang="zh-CN" sz="2000" b="1" dirty="0" smtClean="0"/>
              <a:t>—</a:t>
            </a:r>
            <a:r>
              <a:rPr lang="zh-CN" altLang="en-US" sz="2000" b="1" dirty="0" smtClean="0"/>
              <a:t>高阻；</a:t>
            </a:r>
            <a:endParaRPr lang="en-US" altLang="zh-CN" sz="2000" b="1" dirty="0" smtClean="0"/>
          </a:p>
          <a:p>
            <a:pPr marL="342900" indent="-342900">
              <a:lnSpc>
                <a:spcPct val="150000"/>
              </a:lnSpc>
              <a:buFont typeface="Arial" panose="020B0604020202020204" pitchFamily="34" charset="0"/>
              <a:buChar char="•"/>
            </a:pPr>
            <a:r>
              <a:rPr lang="zh-CN" altLang="en-US" sz="2000" b="1" dirty="0" smtClean="0"/>
              <a:t>并联变串联：高阻</a:t>
            </a:r>
            <a:r>
              <a:rPr lang="en-US" altLang="zh-CN" sz="2000" b="1" dirty="0" smtClean="0"/>
              <a:t>—</a:t>
            </a:r>
            <a:r>
              <a:rPr lang="zh-CN" altLang="en-US" sz="2000" b="1" dirty="0" smtClean="0"/>
              <a:t>低阻；</a:t>
            </a:r>
            <a:endParaRPr lang="en-US" altLang="zh-CN" sz="2000" b="1" dirty="0" smtClean="0"/>
          </a:p>
          <a:p>
            <a:pPr>
              <a:lnSpc>
                <a:spcPct val="150000"/>
              </a:lnSpc>
            </a:pPr>
            <a:r>
              <a:rPr lang="zh-CN" altLang="en-US" sz="2000" b="1" dirty="0" smtClean="0">
                <a:solidFill>
                  <a:srgbClr val="0070C0"/>
                </a:solidFill>
              </a:rPr>
              <a:t>十二、功率合成技术</a:t>
            </a:r>
            <a:endParaRPr lang="en-US" altLang="zh-CN" sz="2000" b="1" dirty="0" smtClean="0">
              <a:solidFill>
                <a:srgbClr val="0070C0"/>
              </a:solidFill>
            </a:endParaRPr>
          </a:p>
        </p:txBody>
      </p:sp>
    </p:spTree>
    <p:extLst>
      <p:ext uri="{BB962C8B-B14F-4D97-AF65-F5344CB8AC3E}">
        <p14:creationId xmlns:p14="http://schemas.microsoft.com/office/powerpoint/2010/main" val="1348016150"/>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44</a:t>
            </a:fld>
            <a:endParaRPr lang="en-US" altLang="zh-CN" dirty="0">
              <a:solidFill>
                <a:srgbClr val="000000"/>
              </a:solidFill>
            </a:endParaRPr>
          </a:p>
        </p:txBody>
      </p:sp>
      <p:sp>
        <p:nvSpPr>
          <p:cNvPr id="5" name="TextBox 4"/>
          <p:cNvSpPr txBox="1"/>
          <p:nvPr/>
        </p:nvSpPr>
        <p:spPr>
          <a:xfrm>
            <a:off x="3261713" y="3010999"/>
            <a:ext cx="3039615" cy="461665"/>
          </a:xfrm>
          <a:prstGeom prst="rect">
            <a:avLst/>
          </a:prstGeom>
          <a:noFill/>
        </p:spPr>
        <p:txBody>
          <a:bodyPr wrap="none" rtlCol="0">
            <a:spAutoFit/>
          </a:bodyPr>
          <a:lstStyle/>
          <a:p>
            <a:r>
              <a:rPr lang="zh-CN" altLang="en-US" sz="2400" dirty="0" smtClean="0"/>
              <a:t>第三章 随堂练习复习</a:t>
            </a:r>
            <a:endParaRPr lang="zh-CN" altLang="en-US" sz="2400" dirty="0"/>
          </a:p>
        </p:txBody>
      </p:sp>
    </p:spTree>
    <p:extLst>
      <p:ext uri="{BB962C8B-B14F-4D97-AF65-F5344CB8AC3E}">
        <p14:creationId xmlns:p14="http://schemas.microsoft.com/office/powerpoint/2010/main" val="19600500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45</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a:ea typeface="Microsoft Yahei"/>
                <a:sym typeface="Microsoft Yahei"/>
              </a:rPr>
              <a:t>1</a:t>
            </a:r>
            <a:r>
              <a:rPr lang="zh-CN" altLang="en-US" sz="2600" dirty="0" smtClean="0">
                <a:solidFill>
                  <a:srgbClr val="000000"/>
                </a:solidFill>
                <a:latin typeface="Microsoft Yahei"/>
                <a:ea typeface="Microsoft Yahei"/>
                <a:sym typeface="Microsoft Yahei"/>
              </a:rPr>
              <a:t>、谐振放大器的三种工作状态是（）（）（）。</a:t>
            </a:r>
            <a:endParaRPr lang="zh-CN" altLang="en-US" sz="2600" dirty="0">
              <a:solidFill>
                <a:srgbClr val="000000"/>
              </a:solidFill>
              <a:latin typeface="Microsoft Yahei"/>
              <a:ea typeface="Microsoft Yahei"/>
              <a:sym typeface="Microsoft Yahei"/>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欠压</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4718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过压</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5"/>
            </p:custDataLst>
          </p:nvPr>
        </p:nvSpPr>
        <p:spPr>
          <a:xfrm>
            <a:off x="1828800" y="41576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临界</a:t>
            </a:r>
            <a:endParaRPr lang="zh-CN" altLang="en-US" sz="2600" dirty="0">
              <a:solidFill>
                <a:srgbClr val="000000"/>
              </a:solidFill>
              <a:latin typeface="Microsoft Yahei"/>
              <a:ea typeface="Microsoft Yahei"/>
              <a:sym typeface="Microsoft Yahei"/>
            </a:endParaRPr>
          </a:p>
        </p:txBody>
      </p:sp>
      <p:sp>
        <p:nvSpPr>
          <p:cNvPr id="10" name="TextBox 9"/>
          <p:cNvSpPr txBox="1"/>
          <p:nvPr>
            <p:custDataLst>
              <p:tags r:id="rId6"/>
            </p:custDataLst>
          </p:nvPr>
        </p:nvSpPr>
        <p:spPr>
          <a:xfrm>
            <a:off x="1828800" y="48434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弱过压</a:t>
            </a:r>
            <a:endParaRPr lang="zh-CN" altLang="en-US" sz="2600" dirty="0">
              <a:solidFill>
                <a:srgbClr val="000000"/>
              </a:solidFill>
              <a:latin typeface="Microsoft Yahei"/>
              <a:ea typeface="Microsoft Yahei"/>
              <a:sym typeface="Microsoft Yahei"/>
            </a:endParaRPr>
          </a:p>
        </p:txBody>
      </p:sp>
      <p:sp>
        <p:nvSpPr>
          <p:cNvPr id="11" name="矩形 10"/>
          <p:cNvSpPr>
            <a:spLocks noChangeAspect="1"/>
          </p:cNvSpPr>
          <p:nvPr>
            <p:custDataLst>
              <p:tags r:id="rId7"/>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8"/>
            </p:custDataLst>
          </p:nvPr>
        </p:nvSpPr>
        <p:spPr bwMode="auto">
          <a:xfrm>
            <a:off x="1114425" y="35361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3" name="矩形 12"/>
          <p:cNvSpPr>
            <a:spLocks noChangeAspect="1"/>
          </p:cNvSpPr>
          <p:nvPr>
            <p:custDataLst>
              <p:tags r:id="rId9"/>
            </p:custDataLst>
          </p:nvPr>
        </p:nvSpPr>
        <p:spPr bwMode="auto">
          <a:xfrm>
            <a:off x="1114425" y="42219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C</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4" name="矩形 13"/>
          <p:cNvSpPr>
            <a:spLocks noChangeAspect="1"/>
          </p:cNvSpPr>
          <p:nvPr>
            <p:custDataLst>
              <p:tags r:id="rId10"/>
            </p:custDataLst>
          </p:nvPr>
        </p:nvSpPr>
        <p:spPr bwMode="auto">
          <a:xfrm>
            <a:off x="1114425" y="49077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D</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26" name="组合 25"/>
          <p:cNvGrpSpPr/>
          <p:nvPr>
            <p:custDataLst>
              <p:tags r:id="rId12"/>
            </p:custDataLst>
          </p:nvPr>
        </p:nvGrpSpPr>
        <p:grpSpPr>
          <a:xfrm>
            <a:off x="0" y="0"/>
            <a:ext cx="9144000" cy="635000"/>
            <a:chOff x="0" y="0"/>
            <a:chExt cx="9144000" cy="635000"/>
          </a:xfrm>
        </p:grpSpPr>
        <p:sp>
          <p:nvSpPr>
            <p:cNvPr id="23" name="TitleBackground"/>
            <p:cNvSpPr/>
            <p:nvPr>
              <p:custDataLst>
                <p:tags r:id="rId15"/>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24" name="ColorBlock"/>
            <p:cNvSpPr/>
            <p:nvPr>
              <p:custDataLst>
                <p:tags r:id="rId16"/>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25"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22"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3</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2" name="TextBox 1"/>
          <p:cNvSpPr txBox="1"/>
          <p:nvPr>
            <p:custDataLst>
              <p:tags r:id="rId14"/>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325588990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46</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a:ea typeface="Microsoft Yahei"/>
                <a:sym typeface="Microsoft Yahei"/>
              </a:rPr>
              <a:t>2</a:t>
            </a:r>
            <a:r>
              <a:rPr lang="zh-CN" altLang="en-US" sz="2600" dirty="0" smtClean="0">
                <a:solidFill>
                  <a:srgbClr val="000000"/>
                </a:solidFill>
                <a:latin typeface="Microsoft Yahei"/>
                <a:ea typeface="Microsoft Yahei"/>
                <a:sym typeface="Microsoft Yahei"/>
              </a:rPr>
              <a:t>、谐振功放一般工作在（）或（）状态。</a:t>
            </a:r>
            <a:endParaRPr lang="zh-CN" altLang="en-US" sz="2600" dirty="0">
              <a:solidFill>
                <a:srgbClr val="000000"/>
              </a:solidFill>
              <a:latin typeface="Microsoft Yahei"/>
              <a:ea typeface="Microsoft Yahei"/>
              <a:sym typeface="Microsoft Yahei"/>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欠压</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4718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过压</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5"/>
            </p:custDataLst>
          </p:nvPr>
        </p:nvSpPr>
        <p:spPr>
          <a:xfrm>
            <a:off x="1828800" y="41576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临界</a:t>
            </a:r>
            <a:endParaRPr lang="zh-CN" altLang="en-US" sz="2600" dirty="0">
              <a:solidFill>
                <a:srgbClr val="000000"/>
              </a:solidFill>
              <a:latin typeface="Microsoft Yahei"/>
              <a:ea typeface="Microsoft Yahei"/>
              <a:sym typeface="Microsoft Yahei"/>
            </a:endParaRPr>
          </a:p>
        </p:txBody>
      </p:sp>
      <p:sp>
        <p:nvSpPr>
          <p:cNvPr id="10" name="TextBox 9"/>
          <p:cNvSpPr txBox="1"/>
          <p:nvPr>
            <p:custDataLst>
              <p:tags r:id="rId6"/>
            </p:custDataLst>
          </p:nvPr>
        </p:nvSpPr>
        <p:spPr>
          <a:xfrm>
            <a:off x="1828800" y="48434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弱过压</a:t>
            </a:r>
            <a:endParaRPr lang="zh-CN" altLang="en-US" sz="2600" dirty="0">
              <a:solidFill>
                <a:srgbClr val="000000"/>
              </a:solidFill>
              <a:latin typeface="Microsoft Yahei"/>
              <a:ea typeface="Microsoft Yahei"/>
              <a:sym typeface="Microsoft Yahei"/>
            </a:endParaRPr>
          </a:p>
        </p:txBody>
      </p:sp>
      <p:sp>
        <p:nvSpPr>
          <p:cNvPr id="11" name="矩形 10"/>
          <p:cNvSpPr>
            <a:spLocks noChangeAspect="1"/>
          </p:cNvSpPr>
          <p:nvPr>
            <p:custDataLst>
              <p:tags r:id="rId7"/>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8"/>
            </p:custDataLst>
          </p:nvPr>
        </p:nvSpPr>
        <p:spPr bwMode="auto">
          <a:xfrm>
            <a:off x="1114425" y="35361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3" name="矩形 12"/>
          <p:cNvSpPr>
            <a:spLocks noChangeAspect="1"/>
          </p:cNvSpPr>
          <p:nvPr>
            <p:custDataLst>
              <p:tags r:id="rId9"/>
            </p:custDataLst>
          </p:nvPr>
        </p:nvSpPr>
        <p:spPr bwMode="auto">
          <a:xfrm>
            <a:off x="1114425" y="42219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C</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4" name="矩形 13"/>
          <p:cNvSpPr>
            <a:spLocks noChangeAspect="1"/>
          </p:cNvSpPr>
          <p:nvPr>
            <p:custDataLst>
              <p:tags r:id="rId10"/>
            </p:custDataLst>
          </p:nvPr>
        </p:nvSpPr>
        <p:spPr bwMode="auto">
          <a:xfrm>
            <a:off x="1114425" y="49077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D</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sp>
        <p:nvSpPr>
          <p:cNvPr id="22" name="TextBox 21"/>
          <p:cNvSpPr txBox="1"/>
          <p:nvPr>
            <p:custDataLst>
              <p:tags r:id="rId12"/>
            </p:custDataLst>
          </p:nvPr>
        </p:nvSpPr>
        <p:spPr>
          <a:xfrm>
            <a:off x="1828800" y="55292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弱欠压</a:t>
            </a:r>
            <a:endParaRPr lang="zh-CN" altLang="en-US" sz="2600" dirty="0">
              <a:solidFill>
                <a:srgbClr val="000000"/>
              </a:solidFill>
              <a:latin typeface="Microsoft Yahei"/>
              <a:ea typeface="Microsoft Yahei"/>
              <a:sym typeface="Microsoft Yahei"/>
            </a:endParaRPr>
          </a:p>
        </p:txBody>
      </p:sp>
      <p:sp>
        <p:nvSpPr>
          <p:cNvPr id="23" name="矩形 22"/>
          <p:cNvSpPr>
            <a:spLocks noChangeAspect="1"/>
          </p:cNvSpPr>
          <p:nvPr>
            <p:custDataLst>
              <p:tags r:id="rId13"/>
            </p:custDataLst>
          </p:nvPr>
        </p:nvSpPr>
        <p:spPr bwMode="auto">
          <a:xfrm>
            <a:off x="1114425" y="55935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E</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grpSp>
        <p:nvGrpSpPr>
          <p:cNvPr id="20" name="组合 19"/>
          <p:cNvGrpSpPr/>
          <p:nvPr>
            <p:custDataLst>
              <p:tags r:id="rId14"/>
            </p:custDataLst>
          </p:nvPr>
        </p:nvGrpSpPr>
        <p:grpSpPr>
          <a:xfrm>
            <a:off x="0" y="0"/>
            <a:ext cx="9144000" cy="635000"/>
            <a:chOff x="0" y="0"/>
            <a:chExt cx="9144000" cy="635000"/>
          </a:xfrm>
        </p:grpSpPr>
        <p:sp>
          <p:nvSpPr>
            <p:cNvPr id="16" name="TitleBackground"/>
            <p:cNvSpPr/>
            <p:nvPr>
              <p:custDataLst>
                <p:tags r:id="rId17"/>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7" name="ColorBlock"/>
            <p:cNvSpPr/>
            <p:nvPr>
              <p:custDataLst>
                <p:tags r:id="rId18"/>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8" name="TypeText"/>
            <p:cNvSpPr txBox="1"/>
            <p:nvPr>
              <p:custDataLst>
                <p:tags r:id="rId1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19" name="TipText"/>
            <p:cNvSpPr txBox="1"/>
            <p:nvPr>
              <p:custDataLst>
                <p:tags r:id="rId20"/>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2</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15"/>
            </p:custDataLst>
          </p:nvPr>
        </p:nvPicPr>
        <p:blipFill>
          <a:blip r:embed="rId22">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2" name="TextBox 1"/>
          <p:cNvSpPr txBox="1"/>
          <p:nvPr>
            <p:custDataLst>
              <p:tags r:id="rId16"/>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410408689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47</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a:ea typeface="Microsoft Yahei"/>
                <a:sym typeface="Microsoft Yahei"/>
              </a:rPr>
              <a:t>3</a:t>
            </a:r>
            <a:r>
              <a:rPr lang="zh-CN" altLang="en-US" sz="2600" dirty="0" smtClean="0">
                <a:solidFill>
                  <a:srgbClr val="000000"/>
                </a:solidFill>
                <a:latin typeface="Microsoft Yahei"/>
                <a:ea typeface="Microsoft Yahei"/>
                <a:sym typeface="Microsoft Yahei"/>
              </a:rPr>
              <a:t>、谐振功率放大器用于集电极调幅时应工作在（）状态。</a:t>
            </a:r>
            <a:endParaRPr lang="zh-CN" altLang="en-US" sz="2600" dirty="0">
              <a:solidFill>
                <a:srgbClr val="000000"/>
              </a:solidFill>
              <a:latin typeface="Microsoft Yahei"/>
              <a:ea typeface="Microsoft Yahei"/>
              <a:sym typeface="Microsoft Yahei"/>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欠压</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过压</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临界</a:t>
            </a:r>
          </a:p>
        </p:txBody>
      </p:sp>
      <p:sp>
        <p:nvSpPr>
          <p:cNvPr id="10" name="TextBox 9"/>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弱过压</a:t>
            </a:r>
            <a:endParaRPr lang="zh-CN" altLang="en-US" sz="2600" dirty="0">
              <a:solidFill>
                <a:srgbClr val="000000"/>
              </a:solidFill>
              <a:latin typeface="Microsoft Yahei"/>
              <a:ea typeface="Microsoft Yahei"/>
              <a:sym typeface="Microsoft Yahei"/>
            </a:endParaRPr>
          </a:p>
        </p:txBody>
      </p:sp>
      <p:sp>
        <p:nvSpPr>
          <p:cNvPr id="11" name="矩形 10"/>
          <p:cNvSpPr>
            <a:spLocks noChangeAspect="1"/>
          </p:cNvSpPr>
          <p:nvPr>
            <p:custDataLst>
              <p:tags r:id="rId7"/>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8"/>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3" name="矩形 12"/>
          <p:cNvSpPr>
            <a:spLocks noChangeAspect="1"/>
          </p:cNvSpPr>
          <p:nvPr>
            <p:custDataLst>
              <p:tags r:id="rId9"/>
            </p:custDataLst>
          </p:nvPr>
        </p:nvSpPr>
        <p:spPr bwMode="auto">
          <a:xfrm>
            <a:off x="1114425" y="45648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C</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4" name="矩形 13"/>
          <p:cNvSpPr>
            <a:spLocks noChangeAspect="1"/>
          </p:cNvSpPr>
          <p:nvPr>
            <p:custDataLst>
              <p:tags r:id="rId10"/>
            </p:custDataLst>
          </p:nvPr>
        </p:nvSpPr>
        <p:spPr bwMode="auto">
          <a:xfrm>
            <a:off x="1114425" y="54221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D</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sp>
        <p:nvSpPr>
          <p:cNvPr id="25" name="TextBox 24"/>
          <p:cNvSpPr txBox="1"/>
          <p:nvPr/>
        </p:nvSpPr>
        <p:spPr>
          <a:xfrm>
            <a:off x="7727125" y="1954587"/>
            <a:ext cx="697627" cy="400110"/>
          </a:xfrm>
          <a:prstGeom prst="rect">
            <a:avLst/>
          </a:prstGeom>
          <a:noFill/>
        </p:spPr>
        <p:txBody>
          <a:bodyPr wrap="none" rtlCol="0">
            <a:spAutoFit/>
          </a:bodyPr>
          <a:lstStyle/>
          <a:p>
            <a:r>
              <a:rPr lang="zh-CN" altLang="en-US" sz="2000" b="1" dirty="0" smtClean="0"/>
              <a:t>单选</a:t>
            </a:r>
            <a:endParaRPr lang="zh-CN" altLang="en-US" sz="2000" b="1" dirty="0"/>
          </a:p>
        </p:txBody>
      </p:sp>
      <p:grpSp>
        <p:nvGrpSpPr>
          <p:cNvPr id="24" name="组合 23"/>
          <p:cNvGrpSpPr/>
          <p:nvPr>
            <p:custDataLst>
              <p:tags r:id="rId12"/>
            </p:custDataLst>
          </p:nvPr>
        </p:nvGrpSpPr>
        <p:grpSpPr>
          <a:xfrm>
            <a:off x="0" y="0"/>
            <a:ext cx="9144000" cy="635000"/>
            <a:chOff x="1836712" y="0"/>
            <a:chExt cx="9144000" cy="635000"/>
          </a:xfrm>
        </p:grpSpPr>
        <p:sp>
          <p:nvSpPr>
            <p:cNvPr id="21" name="TitleBackground"/>
            <p:cNvSpPr/>
            <p:nvPr>
              <p:custDataLst>
                <p:tags r:id="rId15"/>
              </p:custDataLst>
            </p:nvPr>
          </p:nvSpPr>
          <p:spPr bwMode="auto">
            <a:xfrm>
              <a:off x="1836712"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22" name="ColorBlock"/>
            <p:cNvSpPr/>
            <p:nvPr>
              <p:custDataLst>
                <p:tags r:id="rId16"/>
              </p:custDataLst>
            </p:nvPr>
          </p:nvSpPr>
          <p:spPr bwMode="auto">
            <a:xfrm>
              <a:off x="1836712"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23" name="TypeText"/>
            <p:cNvSpPr txBox="1"/>
            <p:nvPr>
              <p:custDataLst>
                <p:tags r:id="rId17"/>
              </p:custDataLst>
            </p:nvPr>
          </p:nvSpPr>
          <p:spPr>
            <a:xfrm>
              <a:off x="2090712" y="0"/>
              <a:ext cx="1905000" cy="635000"/>
            </a:xfrm>
            <a:prstGeom prst="rect">
              <a:avLst/>
            </a:prstGeom>
            <a:noFill/>
          </p:spPr>
          <p:txBody>
            <a:bodyPr vert="horz" wrap="none" rtlCol="0" anchor="ctr" anchorCtr="0">
              <a:noAutofit/>
            </a:bodyPr>
            <a:lstStyle/>
            <a:p>
              <a:r>
                <a:rPr lang="zh-CN" altLang="en-US" sz="2600" dirty="0" smtClean="0">
                  <a:solidFill>
                    <a:srgbClr val="000000"/>
                  </a:solidFill>
                  <a:latin typeface="Microsoft Yahei"/>
                  <a:ea typeface="Microsoft Yahei"/>
                  <a:sym typeface="Microsoft Yahei"/>
                </a:rPr>
                <a:t>多选题</a:t>
              </a:r>
              <a:endParaRPr lang="zh-CN" altLang="en-US" sz="2600" dirty="0">
                <a:solidFill>
                  <a:srgbClr val="000000"/>
                </a:solidFill>
                <a:latin typeface="Microsoft Yahei"/>
                <a:ea typeface="Microsoft Yahei"/>
                <a:sym typeface="Microsoft Yahei"/>
              </a:endParaRPr>
            </a:p>
          </p:txBody>
        </p:sp>
        <p:sp>
          <p:nvSpPr>
            <p:cNvPr id="2" name="TipText"/>
            <p:cNvSpPr txBox="1"/>
            <p:nvPr>
              <p:custDataLst>
                <p:tags r:id="rId18"/>
              </p:custDataLst>
            </p:nvPr>
          </p:nvSpPr>
          <p:spPr>
            <a:xfrm>
              <a:off x="3362617" y="109220"/>
              <a:ext cx="2286000" cy="508000"/>
            </a:xfrm>
            <a:prstGeom prst="rect">
              <a:avLst/>
            </a:prstGeom>
            <a:noFill/>
          </p:spPr>
          <p:txBody>
            <a:bodyPr vert="horz" wrap="none" rtlCol="0" anchor="ctr" anchorCtr="0">
              <a:noAutofit/>
            </a:bodyPr>
            <a:lstStyle/>
            <a:p>
              <a:r>
                <a:rPr lang="en-US" altLang="zh-CN" sz="2000" dirty="0" smtClean="0">
                  <a:solidFill>
                    <a:srgbClr val="808080"/>
                  </a:solidFill>
                  <a:latin typeface="Microsoft Yahei"/>
                  <a:ea typeface="Microsoft Yahei"/>
                  <a:sym typeface="Microsoft Yahei"/>
                </a:rPr>
                <a:t>1</a:t>
              </a:r>
              <a:r>
                <a:rPr lang="zh-CN" altLang="en-US" sz="2000" dirty="0" smtClean="0">
                  <a:solidFill>
                    <a:srgbClr val="808080"/>
                  </a:solidFill>
                  <a:latin typeface="Microsoft Yahei"/>
                  <a:ea typeface="Microsoft Yahei"/>
                  <a:sym typeface="Microsoft Yahei"/>
                </a:rPr>
                <a:t>分</a:t>
              </a:r>
              <a:endParaRPr lang="zh-CN" altLang="en-US" sz="2000" dirty="0">
                <a:solidFill>
                  <a:srgbClr val="808080"/>
                </a:solidFill>
                <a:latin typeface="Microsoft Yahei"/>
                <a:ea typeface="Microsoft Yahei"/>
                <a:sym typeface="Microsoft Yahei"/>
              </a:endParaRPr>
            </a:p>
          </p:txBody>
        </p:sp>
      </p:grpSp>
      <p:pic>
        <p:nvPicPr>
          <p:cNvPr id="5" name="图片 4"/>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3" name="TextBox 2"/>
          <p:cNvSpPr txBox="1"/>
          <p:nvPr>
            <p:custDataLst>
              <p:tags r:id="rId14"/>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327560919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48</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a:ea typeface="Microsoft Yahei"/>
                <a:sym typeface="Microsoft Yahei"/>
              </a:rPr>
              <a:t>4</a:t>
            </a:r>
            <a:r>
              <a:rPr lang="zh-CN" altLang="en-US" sz="2600" dirty="0" smtClean="0">
                <a:solidFill>
                  <a:srgbClr val="000000"/>
                </a:solidFill>
                <a:latin typeface="Microsoft Yahei"/>
                <a:ea typeface="Microsoft Yahei"/>
                <a:sym typeface="Microsoft Yahei"/>
              </a:rPr>
              <a:t>、丙类谐振功率放大器集电极电流为（），由于负载为</a:t>
            </a:r>
            <a:r>
              <a:rPr lang="en-US" altLang="zh-CN" sz="2600" dirty="0" smtClean="0">
                <a:solidFill>
                  <a:srgbClr val="000000"/>
                </a:solidFill>
                <a:latin typeface="Microsoft Yahei"/>
                <a:ea typeface="Microsoft Yahei"/>
                <a:sym typeface="Microsoft Yahei"/>
              </a:rPr>
              <a:t>LC</a:t>
            </a:r>
            <a:r>
              <a:rPr lang="zh-CN" altLang="en-US" sz="2600" dirty="0" smtClean="0">
                <a:solidFill>
                  <a:srgbClr val="000000"/>
                </a:solidFill>
                <a:latin typeface="Microsoft Yahei"/>
                <a:ea typeface="Microsoft Yahei"/>
                <a:sym typeface="Microsoft Yahei"/>
              </a:rPr>
              <a:t>谐振回路，所以输出电压为（）</a:t>
            </a:r>
            <a:endParaRPr lang="zh-CN" altLang="en-US" sz="2600" dirty="0">
              <a:solidFill>
                <a:srgbClr val="000000"/>
              </a:solidFill>
              <a:latin typeface="Microsoft Yahei"/>
              <a:ea typeface="Microsoft Yahei"/>
              <a:sym typeface="Microsoft Yahei"/>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方波</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余弦脉冲</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正弦波（余弦波）</a:t>
            </a:r>
            <a:endParaRPr lang="zh-CN" altLang="en-US" sz="2600" dirty="0">
              <a:solidFill>
                <a:srgbClr val="000000"/>
              </a:solidFill>
              <a:latin typeface="Microsoft Yahei"/>
              <a:ea typeface="Microsoft Yahei"/>
              <a:sym typeface="Microsoft Yahei"/>
            </a:endParaRPr>
          </a:p>
        </p:txBody>
      </p:sp>
      <p:sp>
        <p:nvSpPr>
          <p:cNvPr id="10" name="TextBox 9"/>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余弦凹陷脉冲</a:t>
            </a:r>
            <a:endParaRPr lang="zh-CN" altLang="en-US" sz="2600" dirty="0">
              <a:solidFill>
                <a:srgbClr val="000000"/>
              </a:solidFill>
              <a:latin typeface="Microsoft Yahei"/>
              <a:ea typeface="Microsoft Yahei"/>
              <a:sym typeface="Microsoft Yahei"/>
            </a:endParaRPr>
          </a:p>
        </p:txBody>
      </p:sp>
      <p:sp>
        <p:nvSpPr>
          <p:cNvPr id="11" name="矩形 10"/>
          <p:cNvSpPr>
            <a:spLocks noChangeAspect="1"/>
          </p:cNvSpPr>
          <p:nvPr>
            <p:custDataLst>
              <p:tags r:id="rId7"/>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8"/>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3" name="矩形 12"/>
          <p:cNvSpPr>
            <a:spLocks noChangeAspect="1"/>
          </p:cNvSpPr>
          <p:nvPr>
            <p:custDataLst>
              <p:tags r:id="rId9"/>
            </p:custDataLst>
          </p:nvPr>
        </p:nvSpPr>
        <p:spPr bwMode="auto">
          <a:xfrm>
            <a:off x="1114425" y="45648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C</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4" name="矩形 13"/>
          <p:cNvSpPr>
            <a:spLocks noChangeAspect="1"/>
          </p:cNvSpPr>
          <p:nvPr>
            <p:custDataLst>
              <p:tags r:id="rId10"/>
            </p:custDataLst>
          </p:nvPr>
        </p:nvSpPr>
        <p:spPr bwMode="auto">
          <a:xfrm>
            <a:off x="1114425" y="54221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D</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20" name="组合 19"/>
          <p:cNvGrpSpPr/>
          <p:nvPr>
            <p:custDataLst>
              <p:tags r:id="rId12"/>
            </p:custDataLst>
          </p:nvPr>
        </p:nvGrpSpPr>
        <p:grpSpPr>
          <a:xfrm>
            <a:off x="0" y="0"/>
            <a:ext cx="9144000" cy="635000"/>
            <a:chOff x="0" y="0"/>
            <a:chExt cx="9144000" cy="635000"/>
          </a:xfrm>
        </p:grpSpPr>
        <p:sp>
          <p:nvSpPr>
            <p:cNvPr id="16" name="TitleBackground"/>
            <p:cNvSpPr/>
            <p:nvPr>
              <p:custDataLst>
                <p:tags r:id="rId15"/>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7" name="ColorBlock"/>
            <p:cNvSpPr/>
            <p:nvPr>
              <p:custDataLst>
                <p:tags r:id="rId16"/>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8"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19"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2</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2" name="TextBox 1"/>
          <p:cNvSpPr txBox="1"/>
          <p:nvPr>
            <p:custDataLst>
              <p:tags r:id="rId14"/>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57774417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49</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a:ea typeface="Microsoft Yahei"/>
                <a:sym typeface="Microsoft Yahei"/>
              </a:rPr>
              <a:t>5</a:t>
            </a:r>
            <a:r>
              <a:rPr lang="zh-CN" altLang="en-US" sz="2600" dirty="0" smtClean="0">
                <a:solidFill>
                  <a:srgbClr val="000000"/>
                </a:solidFill>
                <a:latin typeface="Microsoft Yahei"/>
                <a:ea typeface="Microsoft Yahei"/>
                <a:sym typeface="Microsoft Yahei"/>
              </a:rPr>
              <a:t>、利用谐振功率放大器的基极调制特性进行调幅，可得到（）调制波，此时功放应工作在（）状态。</a:t>
            </a:r>
            <a:endParaRPr lang="zh-CN" altLang="en-US" sz="2600" dirty="0">
              <a:solidFill>
                <a:srgbClr val="000000"/>
              </a:solidFill>
              <a:latin typeface="Microsoft Yahei"/>
              <a:ea typeface="Microsoft Yahei"/>
              <a:sym typeface="Microsoft Yahei"/>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smtClean="0">
                <a:solidFill>
                  <a:srgbClr val="000000"/>
                </a:solidFill>
                <a:latin typeface="Microsoft Yahei"/>
                <a:ea typeface="Microsoft Yahei"/>
                <a:sym typeface="Microsoft Yahei"/>
              </a:rPr>
              <a:t>DSB</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357563"/>
            <a:ext cx="6400800" cy="642938"/>
          </a:xfrm>
          <a:prstGeom prst="rect">
            <a:avLst/>
          </a:prstGeom>
          <a:noFill/>
        </p:spPr>
        <p:txBody>
          <a:bodyPr vert="horz" rtlCol="0" anchor="ctr" anchorCtr="0">
            <a:noAutofit/>
          </a:bodyPr>
          <a:lstStyle/>
          <a:p>
            <a:r>
              <a:rPr lang="en-US" altLang="zh-CN" sz="2600" dirty="0" smtClean="0">
                <a:solidFill>
                  <a:srgbClr val="000000"/>
                </a:solidFill>
                <a:latin typeface="Microsoft Yahei"/>
                <a:ea typeface="Microsoft Yahei"/>
                <a:sym typeface="Microsoft Yahei"/>
              </a:rPr>
              <a:t>AM</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5"/>
            </p:custDataLst>
          </p:nvPr>
        </p:nvSpPr>
        <p:spPr>
          <a:xfrm>
            <a:off x="1828800" y="3929063"/>
            <a:ext cx="6400800" cy="642938"/>
          </a:xfrm>
          <a:prstGeom prst="rect">
            <a:avLst/>
          </a:prstGeom>
          <a:noFill/>
        </p:spPr>
        <p:txBody>
          <a:bodyPr vert="horz" rtlCol="0" anchor="ctr" anchorCtr="0">
            <a:noAutofit/>
          </a:bodyPr>
          <a:lstStyle/>
          <a:p>
            <a:r>
              <a:rPr lang="en-US" altLang="zh-CN" sz="2600" dirty="0" smtClean="0">
                <a:solidFill>
                  <a:srgbClr val="000000"/>
                </a:solidFill>
                <a:latin typeface="Microsoft Yahei"/>
                <a:ea typeface="Microsoft Yahei"/>
                <a:sym typeface="Microsoft Yahei"/>
              </a:rPr>
              <a:t>SSB</a:t>
            </a:r>
            <a:endParaRPr lang="zh-CN" altLang="en-US" sz="2600" dirty="0">
              <a:solidFill>
                <a:srgbClr val="000000"/>
              </a:solidFill>
              <a:latin typeface="Microsoft Yahei"/>
              <a:ea typeface="Microsoft Yahei"/>
              <a:sym typeface="Microsoft Yahei"/>
            </a:endParaRPr>
          </a:p>
        </p:txBody>
      </p:sp>
      <p:sp>
        <p:nvSpPr>
          <p:cNvPr id="10" name="TextBox 9"/>
          <p:cNvSpPr txBox="1"/>
          <p:nvPr>
            <p:custDataLst>
              <p:tags r:id="rId6"/>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欠压</a:t>
            </a:r>
          </a:p>
        </p:txBody>
      </p:sp>
      <p:sp>
        <p:nvSpPr>
          <p:cNvPr id="11" name="矩形 10"/>
          <p:cNvSpPr>
            <a:spLocks noChangeAspect="1"/>
          </p:cNvSpPr>
          <p:nvPr>
            <p:custDataLst>
              <p:tags r:id="rId7"/>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8"/>
            </p:custDataLst>
          </p:nvPr>
        </p:nvSpPr>
        <p:spPr bwMode="auto">
          <a:xfrm>
            <a:off x="1114425" y="34218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3" name="矩形 12"/>
          <p:cNvSpPr>
            <a:spLocks noChangeAspect="1"/>
          </p:cNvSpPr>
          <p:nvPr>
            <p:custDataLst>
              <p:tags r:id="rId9"/>
            </p:custDataLst>
          </p:nvPr>
        </p:nvSpPr>
        <p:spPr bwMode="auto">
          <a:xfrm>
            <a:off x="1114425" y="3993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C</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4" name="矩形 13"/>
          <p:cNvSpPr>
            <a:spLocks noChangeAspect="1"/>
          </p:cNvSpPr>
          <p:nvPr>
            <p:custDataLst>
              <p:tags r:id="rId10"/>
            </p:custDataLst>
          </p:nvPr>
        </p:nvSpPr>
        <p:spPr bwMode="auto">
          <a:xfrm>
            <a:off x="1114425" y="45648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D</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sp>
        <p:nvSpPr>
          <p:cNvPr id="22" name="TextBox 21"/>
          <p:cNvSpPr txBox="1"/>
          <p:nvPr>
            <p:custDataLst>
              <p:tags r:id="rId12"/>
            </p:custDataLst>
          </p:nvPr>
        </p:nvSpPr>
        <p:spPr>
          <a:xfrm>
            <a:off x="1828800" y="5072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过压</a:t>
            </a:r>
            <a:endParaRPr lang="zh-CN" altLang="en-US" sz="2600" dirty="0">
              <a:solidFill>
                <a:srgbClr val="000000"/>
              </a:solidFill>
              <a:latin typeface="Microsoft Yahei"/>
              <a:ea typeface="Microsoft Yahei"/>
              <a:sym typeface="Microsoft Yahei"/>
            </a:endParaRPr>
          </a:p>
        </p:txBody>
      </p:sp>
      <p:sp>
        <p:nvSpPr>
          <p:cNvPr id="23" name="矩形 22"/>
          <p:cNvSpPr>
            <a:spLocks noChangeAspect="1"/>
          </p:cNvSpPr>
          <p:nvPr>
            <p:custDataLst>
              <p:tags r:id="rId13"/>
            </p:custDataLst>
          </p:nvPr>
        </p:nvSpPr>
        <p:spPr bwMode="auto">
          <a:xfrm>
            <a:off x="1114425" y="5136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E</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24" name="TextBox 23"/>
          <p:cNvSpPr txBox="1"/>
          <p:nvPr>
            <p:custDataLst>
              <p:tags r:id="rId14"/>
            </p:custDataLst>
          </p:nvPr>
        </p:nvSpPr>
        <p:spPr>
          <a:xfrm>
            <a:off x="1828800" y="56435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临界</a:t>
            </a:r>
            <a:endParaRPr lang="zh-CN" altLang="en-US" sz="2600" dirty="0">
              <a:solidFill>
                <a:srgbClr val="000000"/>
              </a:solidFill>
              <a:latin typeface="Microsoft Yahei"/>
              <a:ea typeface="Microsoft Yahei"/>
              <a:sym typeface="Microsoft Yahei"/>
            </a:endParaRPr>
          </a:p>
        </p:txBody>
      </p:sp>
      <p:sp>
        <p:nvSpPr>
          <p:cNvPr id="25" name="矩形 24"/>
          <p:cNvSpPr>
            <a:spLocks noChangeAspect="1"/>
          </p:cNvSpPr>
          <p:nvPr>
            <p:custDataLst>
              <p:tags r:id="rId15"/>
            </p:custDataLst>
          </p:nvPr>
        </p:nvSpPr>
        <p:spPr bwMode="auto">
          <a:xfrm>
            <a:off x="1114425" y="57078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F</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grpSp>
        <p:nvGrpSpPr>
          <p:cNvPr id="20" name="组合 19"/>
          <p:cNvGrpSpPr/>
          <p:nvPr>
            <p:custDataLst>
              <p:tags r:id="rId16"/>
            </p:custDataLst>
          </p:nvPr>
        </p:nvGrpSpPr>
        <p:grpSpPr>
          <a:xfrm>
            <a:off x="0" y="0"/>
            <a:ext cx="9144000" cy="635000"/>
            <a:chOff x="0" y="0"/>
            <a:chExt cx="9144000" cy="635000"/>
          </a:xfrm>
        </p:grpSpPr>
        <p:sp>
          <p:nvSpPr>
            <p:cNvPr id="16" name="TitleBackground"/>
            <p:cNvSpPr/>
            <p:nvPr>
              <p:custDataLst>
                <p:tags r:id="rId19"/>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7" name="ColorBlock"/>
            <p:cNvSpPr/>
            <p:nvPr>
              <p:custDataLst>
                <p:tags r:id="rId20"/>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8" name="TypeText"/>
            <p:cNvSpPr txBox="1"/>
            <p:nvPr>
              <p:custDataLst>
                <p:tags r:id="rId21"/>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19" name="TipText"/>
            <p:cNvSpPr txBox="1"/>
            <p:nvPr>
              <p:custDataLst>
                <p:tags r:id="rId22"/>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2</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17"/>
            </p:custDataLst>
          </p:nvPr>
        </p:nvPicPr>
        <p:blipFill>
          <a:blip r:embed="rId24">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2" name="TextBox 1"/>
          <p:cNvSpPr txBox="1"/>
          <p:nvPr>
            <p:custDataLst>
              <p:tags r:id="rId18"/>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248558886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50</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a:ea typeface="Microsoft Yahei"/>
                <a:sym typeface="Microsoft Yahei"/>
              </a:rPr>
              <a:t>6</a:t>
            </a:r>
            <a:r>
              <a:rPr lang="zh-CN" altLang="en-US" sz="2600" dirty="0" smtClean="0">
                <a:solidFill>
                  <a:srgbClr val="000000"/>
                </a:solidFill>
                <a:latin typeface="Microsoft Yahei"/>
                <a:ea typeface="Microsoft Yahei"/>
                <a:sym typeface="Microsoft Yahei"/>
              </a:rPr>
              <a:t>、在功率放大器中，对滤波匹配网络的要求不包括（）。</a:t>
            </a:r>
            <a:endParaRPr lang="zh-CN" altLang="en-US" sz="2600" dirty="0">
              <a:solidFill>
                <a:srgbClr val="000000"/>
              </a:solidFill>
              <a:latin typeface="Microsoft Yahei"/>
              <a:ea typeface="Microsoft Yahei"/>
              <a:sym typeface="Microsoft Yahei"/>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自身损耗小</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提供偏置电压</a:t>
            </a:r>
            <a:endParaRPr lang="zh-CN" altLang="en-US" sz="2600" dirty="0">
              <a:solidFill>
                <a:srgbClr val="000000"/>
              </a:solidFill>
              <a:latin typeface="Microsoft Yahei"/>
              <a:ea typeface="Microsoft Yahei"/>
              <a:sym typeface="Microsoft Yahei"/>
            </a:endParaRPr>
          </a:p>
        </p:txBody>
      </p:sp>
      <p:sp>
        <p:nvSpPr>
          <p:cNvPr id="9" name="TextBox 8"/>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滤波</a:t>
            </a:r>
            <a:endParaRPr lang="zh-CN" altLang="en-US" sz="2600" dirty="0">
              <a:solidFill>
                <a:srgbClr val="000000"/>
              </a:solidFill>
              <a:latin typeface="Microsoft Yahei"/>
              <a:ea typeface="Microsoft Yahei"/>
              <a:sym typeface="Microsoft Yahei"/>
            </a:endParaRPr>
          </a:p>
        </p:txBody>
      </p:sp>
      <p:sp>
        <p:nvSpPr>
          <p:cNvPr id="10" name="TextBox 9"/>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阻抗变换</a:t>
            </a:r>
            <a:endParaRPr lang="zh-CN" altLang="en-US" sz="2600" dirty="0">
              <a:solidFill>
                <a:srgbClr val="000000"/>
              </a:solidFill>
              <a:latin typeface="Microsoft Yahei"/>
              <a:ea typeface="Microsoft Yahei"/>
              <a:sym typeface="Microsoft Yahei"/>
            </a:endParaRPr>
          </a:p>
        </p:txBody>
      </p:sp>
      <p:sp>
        <p:nvSpPr>
          <p:cNvPr id="11" name="矩形 10"/>
          <p:cNvSpPr>
            <a:spLocks noChangeAspect="1"/>
          </p:cNvSpPr>
          <p:nvPr>
            <p:custDataLst>
              <p:tags r:id="rId7"/>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8"/>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3" name="矩形 12"/>
          <p:cNvSpPr>
            <a:spLocks noChangeAspect="1"/>
          </p:cNvSpPr>
          <p:nvPr>
            <p:custDataLst>
              <p:tags r:id="rId9"/>
            </p:custDataLst>
          </p:nvPr>
        </p:nvSpPr>
        <p:spPr bwMode="auto">
          <a:xfrm>
            <a:off x="1114425" y="45648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C</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4" name="矩形 13"/>
          <p:cNvSpPr>
            <a:spLocks noChangeAspect="1"/>
          </p:cNvSpPr>
          <p:nvPr>
            <p:custDataLst>
              <p:tags r:id="rId10"/>
            </p:custDataLst>
          </p:nvPr>
        </p:nvSpPr>
        <p:spPr bwMode="auto">
          <a:xfrm>
            <a:off x="1114425" y="54221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D</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sp>
        <p:nvSpPr>
          <p:cNvPr id="25" name="TextBox 24"/>
          <p:cNvSpPr txBox="1"/>
          <p:nvPr/>
        </p:nvSpPr>
        <p:spPr>
          <a:xfrm>
            <a:off x="7366436" y="2154642"/>
            <a:ext cx="697627" cy="400110"/>
          </a:xfrm>
          <a:prstGeom prst="rect">
            <a:avLst/>
          </a:prstGeom>
          <a:noFill/>
        </p:spPr>
        <p:txBody>
          <a:bodyPr wrap="none" rtlCol="0">
            <a:spAutoFit/>
          </a:bodyPr>
          <a:lstStyle/>
          <a:p>
            <a:r>
              <a:rPr lang="zh-CN" altLang="en-US" sz="2000" b="1" dirty="0" smtClean="0"/>
              <a:t>单选</a:t>
            </a:r>
            <a:endParaRPr lang="zh-CN" altLang="en-US" sz="2000" b="1" dirty="0"/>
          </a:p>
        </p:txBody>
      </p:sp>
      <p:grpSp>
        <p:nvGrpSpPr>
          <p:cNvPr id="24" name="组合 23"/>
          <p:cNvGrpSpPr/>
          <p:nvPr>
            <p:custDataLst>
              <p:tags r:id="rId12"/>
            </p:custDataLst>
          </p:nvPr>
        </p:nvGrpSpPr>
        <p:grpSpPr>
          <a:xfrm>
            <a:off x="0" y="0"/>
            <a:ext cx="9144000" cy="635000"/>
            <a:chOff x="0" y="0"/>
            <a:chExt cx="9144000" cy="635000"/>
          </a:xfrm>
        </p:grpSpPr>
        <p:sp>
          <p:nvSpPr>
            <p:cNvPr id="21" name="TitleBackground"/>
            <p:cNvSpPr/>
            <p:nvPr>
              <p:custDataLst>
                <p:tags r:id="rId15"/>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22" name="ColorBlock"/>
            <p:cNvSpPr/>
            <p:nvPr>
              <p:custDataLst>
                <p:tags r:id="rId16"/>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23" name="TypeText"/>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2" name="TipText"/>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3" name="TextBox 2"/>
          <p:cNvSpPr txBox="1"/>
          <p:nvPr>
            <p:custDataLst>
              <p:tags r:id="rId14"/>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14545905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51</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a:ea typeface="Microsoft Yahei"/>
                <a:sym typeface="Microsoft Yahei"/>
              </a:rPr>
              <a:t>7</a:t>
            </a:r>
            <a:r>
              <a:rPr lang="zh-CN" altLang="en-US" sz="2600" dirty="0" smtClean="0">
                <a:solidFill>
                  <a:srgbClr val="000000"/>
                </a:solidFill>
                <a:latin typeface="Microsoft Yahei"/>
                <a:ea typeface="Microsoft Yahei"/>
                <a:sym typeface="Microsoft Yahei"/>
              </a:rPr>
              <a:t>、将几个电子期间的输出功率叠加起来，以获得足够大的输出功率，这种技术称之为</a:t>
            </a:r>
            <a:r>
              <a:rPr lang="zh-CN" altLang="en-US" sz="2600" dirty="0" smtClean="0">
                <a:solidFill>
                  <a:srgbClr val="639EF4"/>
                </a:solidFill>
                <a:latin typeface="Microsoft Yahei"/>
                <a:ea typeface="Microsoft Yahei"/>
                <a:sym typeface="Microsoft Yahei"/>
              </a:rPr>
              <a:t> </a:t>
            </a:r>
            <a:r>
              <a:rPr lang="en-US" altLang="zh-CN" sz="2600" dirty="0" smtClean="0">
                <a:solidFill>
                  <a:srgbClr val="639EF4"/>
                </a:solidFill>
                <a:latin typeface="Microsoft Yahei"/>
                <a:ea typeface="Microsoft Yahei"/>
                <a:sym typeface="Microsoft Yahei"/>
              </a:rPr>
              <a:t>[</a:t>
            </a:r>
            <a:r>
              <a:rPr lang="zh-CN" altLang="en-US" sz="2600" dirty="0" smtClean="0">
                <a:solidFill>
                  <a:srgbClr val="639EF4"/>
                </a:solidFill>
                <a:latin typeface="Microsoft Yahei"/>
                <a:ea typeface="Microsoft Yahei"/>
                <a:sym typeface="Microsoft Yahei"/>
              </a:rPr>
              <a:t>填空</a:t>
            </a:r>
            <a:r>
              <a:rPr lang="en-US" altLang="zh-CN" sz="2600" dirty="0" smtClean="0">
                <a:solidFill>
                  <a:srgbClr val="639EF4"/>
                </a:solidFill>
                <a:latin typeface="Microsoft Yahei"/>
                <a:ea typeface="Microsoft Yahei"/>
                <a:sym typeface="Microsoft Yahei"/>
              </a:rPr>
              <a:t>1]</a:t>
            </a:r>
            <a:r>
              <a:rPr lang="en-US" altLang="zh-CN" sz="2600" dirty="0" smtClean="0">
                <a:solidFill>
                  <a:srgbClr val="000000"/>
                </a:solidFill>
                <a:latin typeface="Microsoft Yahei"/>
                <a:ea typeface="Microsoft Yahei"/>
                <a:sym typeface="Microsoft Yahei"/>
              </a:rPr>
              <a:t> </a:t>
            </a:r>
            <a:endParaRPr lang="zh-CN" altLang="en-US" sz="2600" dirty="0">
              <a:solidFill>
                <a:srgbClr val="000000"/>
              </a:solidFill>
              <a:latin typeface="Microsoft Yahei"/>
              <a:ea typeface="Microsoft Yahei"/>
              <a:sym typeface="Microsoft Yahei"/>
            </a:endParaRPr>
          </a:p>
        </p:txBody>
      </p:sp>
      <p:sp>
        <p:nvSpPr>
          <p:cNvPr id="7" name="圆角矩形 6"/>
          <p:cNvSpPr/>
          <p:nvPr>
            <p:custDataLst>
              <p:tags r:id="rId3"/>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作答</a:t>
            </a:r>
          </a:p>
        </p:txBody>
      </p:sp>
      <p:grpSp>
        <p:nvGrpSpPr>
          <p:cNvPr id="12" name="组合 11"/>
          <p:cNvGrpSpPr/>
          <p:nvPr>
            <p:custDataLst>
              <p:tags r:id="rId4"/>
            </p:custDataLst>
          </p:nvPr>
        </p:nvGrpSpPr>
        <p:grpSpPr>
          <a:xfrm>
            <a:off x="0" y="0"/>
            <a:ext cx="9144000" cy="635000"/>
            <a:chOff x="0" y="0"/>
            <a:chExt cx="9144000" cy="635000"/>
          </a:xfrm>
        </p:grpSpPr>
        <p:sp>
          <p:nvSpPr>
            <p:cNvPr id="8" name="TitleBackground"/>
            <p:cNvSpPr/>
            <p:nvPr>
              <p:custDataLst>
                <p:tags r:id="rId6"/>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9" name="ColorBlock"/>
            <p:cNvSpPr/>
            <p:nvPr>
              <p:custDataLst>
                <p:tags r:id="rId7"/>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0"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填空题</a:t>
              </a:r>
              <a:endParaRPr lang="zh-CN" altLang="en-US" sz="2600">
                <a:solidFill>
                  <a:srgbClr val="000000"/>
                </a:solidFill>
                <a:latin typeface="Microsoft Yahei"/>
                <a:ea typeface="Microsoft Yahei"/>
                <a:sym typeface="Microsoft Yahei"/>
              </a:endParaRPr>
            </a:p>
          </p:txBody>
        </p:sp>
        <p:sp>
          <p:nvSpPr>
            <p:cNvPr id="11"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407157277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52</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a:ea typeface="Microsoft Yahei"/>
                <a:sym typeface="Microsoft Yahei"/>
              </a:rPr>
              <a:t>8</a:t>
            </a:r>
            <a:r>
              <a:rPr lang="zh-CN" altLang="en-US" sz="2600" dirty="0" smtClean="0">
                <a:solidFill>
                  <a:srgbClr val="000000"/>
                </a:solidFill>
                <a:latin typeface="Microsoft Yahei"/>
                <a:ea typeface="Microsoft Yahei"/>
                <a:sym typeface="Microsoft Yahei"/>
              </a:rPr>
              <a:t>、</a:t>
            </a:r>
            <a:r>
              <a:rPr lang="zh-CN" altLang="en-US" sz="2800" b="1" kern="0" dirty="0">
                <a:latin typeface="Times New Roman" pitchFamily="18" charset="0"/>
              </a:rPr>
              <a:t>改变谐振功率放大器的输出负载，可以改变动态负载线的斜率。所以只要改变</a:t>
            </a:r>
            <a:r>
              <a:rPr lang="en-US" altLang="zh-CN" sz="2800" b="1" i="1" kern="0" dirty="0">
                <a:latin typeface="Times New Roman" pitchFamily="18" charset="0"/>
              </a:rPr>
              <a:t>R</a:t>
            </a:r>
            <a:r>
              <a:rPr lang="en-US" altLang="zh-CN" sz="2800" b="1" kern="0" baseline="-25000" dirty="0">
                <a:latin typeface="Times New Roman" pitchFamily="18" charset="0"/>
              </a:rPr>
              <a:t>L</a:t>
            </a:r>
            <a:r>
              <a:rPr lang="zh-CN" altLang="en-US" sz="2800" b="1" kern="0" dirty="0">
                <a:latin typeface="Times New Roman" pitchFamily="18" charset="0"/>
              </a:rPr>
              <a:t>就可以有甲、乙、丙三种不同的</a:t>
            </a:r>
            <a:r>
              <a:rPr lang="zh-CN" altLang="en-US" sz="2800" b="1" kern="0" dirty="0" smtClean="0">
                <a:latin typeface="Times New Roman" pitchFamily="18" charset="0"/>
              </a:rPr>
              <a:t>工作状态</a:t>
            </a:r>
            <a:r>
              <a:rPr lang="zh-CN" altLang="en-US" sz="2800" b="1" kern="0" dirty="0">
                <a:latin typeface="Times New Roman" pitchFamily="18" charset="0"/>
              </a:rPr>
              <a:t>。</a:t>
            </a: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正确</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错误</a:t>
            </a:r>
            <a:endParaRPr lang="zh-CN" altLang="en-US" sz="2600" dirty="0">
              <a:solidFill>
                <a:srgbClr val="000000"/>
              </a:solidFill>
              <a:latin typeface="Microsoft Yahei"/>
              <a:ea typeface="Microsoft Yahei"/>
              <a:sym typeface="Microsoft Yahei"/>
            </a:endParaRPr>
          </a:p>
        </p:txBody>
      </p:sp>
      <p:sp>
        <p:nvSpPr>
          <p:cNvPr id="11" name="矩形 10"/>
          <p:cNvSpPr>
            <a:spLocks noChangeAspect="1"/>
          </p:cNvSpPr>
          <p:nvPr>
            <p:custDataLst>
              <p:tags r:id="rId5"/>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6"/>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14" name="组合 13"/>
          <p:cNvGrpSpPr/>
          <p:nvPr>
            <p:custDataLst>
              <p:tags r:id="rId8"/>
            </p:custDataLst>
          </p:nvPr>
        </p:nvGrpSpPr>
        <p:grpSpPr>
          <a:xfrm>
            <a:off x="0" y="0"/>
            <a:ext cx="9144000" cy="635000"/>
            <a:chOff x="0" y="0"/>
            <a:chExt cx="9144000" cy="635000"/>
          </a:xfrm>
        </p:grpSpPr>
        <p:sp>
          <p:nvSpPr>
            <p:cNvPr id="9" name="TitleBackground"/>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0" name="ColorBlock"/>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3"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2"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22" name="TextBox 21"/>
          <p:cNvSpPr txBox="1"/>
          <p:nvPr>
            <p:custDataLst>
              <p:tags r:id="rId10"/>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75524022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53</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600" dirty="0" smtClean="0">
                <a:solidFill>
                  <a:srgbClr val="000000"/>
                </a:solidFill>
                <a:latin typeface="Microsoft Yahei"/>
                <a:ea typeface="Microsoft Yahei"/>
                <a:sym typeface="Microsoft Yahei"/>
              </a:rPr>
              <a:t>9</a:t>
            </a:r>
            <a:r>
              <a:rPr lang="zh-CN" altLang="en-US" sz="2600" dirty="0" smtClean="0">
                <a:solidFill>
                  <a:srgbClr val="000000"/>
                </a:solidFill>
                <a:latin typeface="Microsoft Yahei"/>
                <a:ea typeface="Microsoft Yahei"/>
                <a:sym typeface="Microsoft Yahei"/>
              </a:rPr>
              <a:t>、</a:t>
            </a:r>
            <a:r>
              <a:rPr lang="zh-CN" altLang="en-US" sz="2800" b="1" kern="0" dirty="0">
                <a:latin typeface="Times New Roman" pitchFamily="18" charset="0"/>
              </a:rPr>
              <a:t>谐振功率放大器的输出功率可表示为</a:t>
            </a:r>
            <a:r>
              <a:rPr lang="en-US" altLang="zh-CN" sz="2800" b="1" i="1" kern="0" dirty="0">
                <a:latin typeface="Times New Roman" pitchFamily="18" charset="0"/>
              </a:rPr>
              <a:t>P</a:t>
            </a:r>
            <a:r>
              <a:rPr lang="en-US" altLang="zh-CN" sz="2800" b="1" kern="0" baseline="-25000" dirty="0">
                <a:latin typeface="Times New Roman" pitchFamily="18" charset="0"/>
              </a:rPr>
              <a:t>o</a:t>
            </a:r>
            <a:r>
              <a:rPr lang="en-US" altLang="zh-CN" sz="2800" b="1" kern="0" dirty="0">
                <a:latin typeface="Times New Roman" pitchFamily="18" charset="0"/>
              </a:rPr>
              <a:t>=</a:t>
            </a:r>
            <a:r>
              <a:rPr lang="en-US" altLang="zh-CN" sz="2800" b="1" i="1" kern="0" dirty="0">
                <a:latin typeface="Times New Roman" pitchFamily="18" charset="0"/>
              </a:rPr>
              <a:t>I</a:t>
            </a:r>
            <a:r>
              <a:rPr lang="en-US" altLang="zh-CN" sz="2800" b="1" kern="0" baseline="30000" dirty="0">
                <a:latin typeface="Times New Roman" pitchFamily="18" charset="0"/>
              </a:rPr>
              <a:t>2</a:t>
            </a:r>
            <a:r>
              <a:rPr lang="en-US" altLang="zh-CN" sz="2800" b="1" kern="0" baseline="-25000" dirty="0">
                <a:latin typeface="Times New Roman" pitchFamily="18" charset="0"/>
              </a:rPr>
              <a:t>c1m</a:t>
            </a:r>
            <a:r>
              <a:rPr lang="en-US" altLang="zh-CN" sz="2800" b="1" i="1" kern="0" dirty="0">
                <a:latin typeface="Times New Roman" pitchFamily="18" charset="0"/>
              </a:rPr>
              <a:t>R</a:t>
            </a:r>
            <a:r>
              <a:rPr lang="en-US" altLang="zh-CN" sz="2800" b="1" kern="0" baseline="-25000" dirty="0">
                <a:latin typeface="Times New Roman" pitchFamily="18" charset="0"/>
              </a:rPr>
              <a:t>e</a:t>
            </a:r>
            <a:r>
              <a:rPr lang="en-US" altLang="zh-CN" sz="2800" b="1" kern="0" dirty="0">
                <a:latin typeface="Times New Roman" pitchFamily="18" charset="0"/>
              </a:rPr>
              <a:t>/2</a:t>
            </a:r>
            <a:r>
              <a:rPr lang="zh-CN" altLang="en-US" sz="2800" b="1" kern="0" dirty="0">
                <a:latin typeface="Times New Roman" pitchFamily="18" charset="0"/>
              </a:rPr>
              <a:t>，在</a:t>
            </a:r>
            <a:r>
              <a:rPr lang="en-US" altLang="zh-CN" sz="2800" b="1" kern="0" dirty="0">
                <a:latin typeface="Times New Roman" pitchFamily="18" charset="0"/>
              </a:rPr>
              <a:t>V</a:t>
            </a:r>
            <a:r>
              <a:rPr lang="en-US" altLang="zh-CN" sz="2800" b="1" kern="0" baseline="-25000" dirty="0">
                <a:latin typeface="Times New Roman" pitchFamily="18" charset="0"/>
              </a:rPr>
              <a:t>CC</a:t>
            </a:r>
            <a:r>
              <a:rPr lang="zh-CN" altLang="en-US" sz="2800" b="1" kern="0" dirty="0">
                <a:latin typeface="Times New Roman" pitchFamily="18" charset="0"/>
              </a:rPr>
              <a:t>、</a:t>
            </a:r>
            <a:r>
              <a:rPr lang="en-US" altLang="zh-CN" sz="2800" b="1" kern="0" dirty="0">
                <a:latin typeface="Times New Roman" pitchFamily="18" charset="0"/>
              </a:rPr>
              <a:t>V</a:t>
            </a:r>
            <a:r>
              <a:rPr lang="en-US" altLang="zh-CN" sz="2800" b="1" kern="0" baseline="-25000" dirty="0">
                <a:latin typeface="Times New Roman" pitchFamily="18" charset="0"/>
              </a:rPr>
              <a:t>BB</a:t>
            </a:r>
            <a:r>
              <a:rPr lang="zh-CN" altLang="en-US" sz="2800" b="1" kern="0" dirty="0">
                <a:latin typeface="Times New Roman" pitchFamily="18" charset="0"/>
              </a:rPr>
              <a:t>、</a:t>
            </a:r>
            <a:r>
              <a:rPr lang="en-US" altLang="zh-CN" sz="2800" b="1" kern="0" dirty="0" err="1">
                <a:latin typeface="Times New Roman" pitchFamily="18" charset="0"/>
              </a:rPr>
              <a:t>U</a:t>
            </a:r>
            <a:r>
              <a:rPr lang="en-US" altLang="zh-CN" sz="2800" b="1" kern="0" baseline="-25000" dirty="0" err="1">
                <a:latin typeface="Times New Roman" pitchFamily="18" charset="0"/>
              </a:rPr>
              <a:t>im</a:t>
            </a:r>
            <a:r>
              <a:rPr lang="zh-CN" altLang="en-US" sz="2800" b="1" kern="0" dirty="0">
                <a:latin typeface="Times New Roman" pitchFamily="18" charset="0"/>
              </a:rPr>
              <a:t>一定时，</a:t>
            </a:r>
            <a:r>
              <a:rPr lang="en-US" altLang="zh-CN" sz="2800" b="1" i="1" kern="0" dirty="0">
                <a:latin typeface="Times New Roman" pitchFamily="18" charset="0"/>
              </a:rPr>
              <a:t>R</a:t>
            </a:r>
            <a:r>
              <a:rPr lang="en-US" altLang="zh-CN" sz="2800" b="1" kern="0" baseline="-25000" dirty="0">
                <a:latin typeface="Times New Roman" pitchFamily="18" charset="0"/>
              </a:rPr>
              <a:t>e</a:t>
            </a:r>
            <a:r>
              <a:rPr lang="zh-CN" altLang="en-US" sz="2800" b="1" kern="0" dirty="0">
                <a:latin typeface="Times New Roman" pitchFamily="18" charset="0"/>
              </a:rPr>
              <a:t>越大，</a:t>
            </a:r>
            <a:r>
              <a:rPr lang="en-US" altLang="zh-CN" sz="2800" b="1" i="1" kern="0" dirty="0">
                <a:latin typeface="Times New Roman" pitchFamily="18" charset="0"/>
              </a:rPr>
              <a:t>P</a:t>
            </a:r>
            <a:r>
              <a:rPr lang="en-US" altLang="zh-CN" sz="2800" b="1" kern="0" baseline="-25000" dirty="0">
                <a:latin typeface="Times New Roman" pitchFamily="18" charset="0"/>
              </a:rPr>
              <a:t>o</a:t>
            </a:r>
            <a:r>
              <a:rPr lang="zh-CN" altLang="en-US" sz="2800" b="1" kern="0" dirty="0">
                <a:latin typeface="Times New Roman" pitchFamily="18" charset="0"/>
              </a:rPr>
              <a:t>也越大</a:t>
            </a:r>
            <a:r>
              <a:rPr lang="zh-CN" altLang="en-US" sz="2800" b="1" kern="0" dirty="0" smtClean="0">
                <a:latin typeface="Times New Roman" pitchFamily="18" charset="0"/>
              </a:rPr>
              <a:t>。</a:t>
            </a:r>
            <a:endParaRPr lang="en-US" altLang="zh-CN" sz="2800" b="1" kern="0" dirty="0">
              <a:latin typeface="Times New Roman" pitchFamily="18" charset="0"/>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正确</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错误</a:t>
            </a:r>
            <a:endParaRPr lang="zh-CN" altLang="en-US" sz="2600" dirty="0">
              <a:solidFill>
                <a:srgbClr val="000000"/>
              </a:solidFill>
              <a:latin typeface="Microsoft Yahei"/>
              <a:ea typeface="Microsoft Yahei"/>
              <a:sym typeface="Microsoft Yahei"/>
            </a:endParaRPr>
          </a:p>
        </p:txBody>
      </p:sp>
      <p:sp>
        <p:nvSpPr>
          <p:cNvPr id="11" name="矩形 10"/>
          <p:cNvSpPr>
            <a:spLocks noChangeAspect="1"/>
          </p:cNvSpPr>
          <p:nvPr>
            <p:custDataLst>
              <p:tags r:id="rId5"/>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6"/>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14" name="组合 13"/>
          <p:cNvGrpSpPr/>
          <p:nvPr>
            <p:custDataLst>
              <p:tags r:id="rId8"/>
            </p:custDataLst>
          </p:nvPr>
        </p:nvGrpSpPr>
        <p:grpSpPr>
          <a:xfrm>
            <a:off x="0" y="0"/>
            <a:ext cx="9144000" cy="635000"/>
            <a:chOff x="0" y="0"/>
            <a:chExt cx="9144000" cy="635000"/>
          </a:xfrm>
        </p:grpSpPr>
        <p:sp>
          <p:nvSpPr>
            <p:cNvPr id="9" name="TitleBackground"/>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0" name="ColorBlock"/>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3"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2"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3" name="TextBox 2"/>
          <p:cNvSpPr txBox="1"/>
          <p:nvPr>
            <p:custDataLst>
              <p:tags r:id="rId10"/>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134641719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54</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800" b="1" kern="0" dirty="0" smtClean="0">
                <a:latin typeface="Times New Roman" pitchFamily="18" charset="0"/>
              </a:rPr>
              <a:t>10</a:t>
            </a:r>
            <a:r>
              <a:rPr lang="zh-CN" altLang="en-US" sz="2800" b="1" kern="0" dirty="0" smtClean="0">
                <a:latin typeface="Times New Roman" pitchFamily="18" charset="0"/>
              </a:rPr>
              <a:t>、谐振</a:t>
            </a:r>
            <a:r>
              <a:rPr lang="zh-CN" altLang="en-US" sz="2800" b="1" kern="0" dirty="0">
                <a:latin typeface="Times New Roman" pitchFamily="18" charset="0"/>
              </a:rPr>
              <a:t>功率放大器输出给集电极负载谐振电阻</a:t>
            </a:r>
            <a:r>
              <a:rPr lang="en-US" altLang="zh-CN" sz="2800" b="1" i="1" kern="0" dirty="0">
                <a:latin typeface="Times New Roman" pitchFamily="18" charset="0"/>
              </a:rPr>
              <a:t>R</a:t>
            </a:r>
            <a:r>
              <a:rPr lang="en-US" altLang="zh-CN" sz="2800" b="1" kern="0" baseline="-25000" dirty="0">
                <a:latin typeface="Times New Roman" pitchFamily="18" charset="0"/>
              </a:rPr>
              <a:t>e</a:t>
            </a:r>
            <a:r>
              <a:rPr lang="zh-CN" altLang="en-US" sz="2800" b="1" kern="0" dirty="0">
                <a:latin typeface="Times New Roman" pitchFamily="18" charset="0"/>
              </a:rPr>
              <a:t>的功率等于谐振回路中总串联电阻</a:t>
            </a:r>
            <a:r>
              <a:rPr lang="en-US" altLang="zh-CN" sz="2800" b="1" kern="0" dirty="0">
                <a:latin typeface="Times New Roman" pitchFamily="18" charset="0"/>
              </a:rPr>
              <a:t>r</a:t>
            </a:r>
            <a:r>
              <a:rPr lang="zh-CN" altLang="en-US" sz="2800" b="1" kern="0" dirty="0">
                <a:latin typeface="Times New Roman" pitchFamily="18" charset="0"/>
              </a:rPr>
              <a:t>上所消耗的</a:t>
            </a:r>
            <a:r>
              <a:rPr lang="zh-CN" altLang="en-US" sz="2800" b="1" kern="0" dirty="0" smtClean="0">
                <a:latin typeface="Times New Roman" pitchFamily="18" charset="0"/>
              </a:rPr>
              <a:t>功率。</a:t>
            </a:r>
            <a:endParaRPr lang="zh-CN" altLang="en-US" sz="2600" dirty="0">
              <a:solidFill>
                <a:srgbClr val="000000"/>
              </a:solidFill>
              <a:latin typeface="Microsoft Yahei"/>
              <a:ea typeface="Microsoft Yahei"/>
              <a:sym typeface="Microsoft Yahei"/>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正确</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错误</a:t>
            </a:r>
          </a:p>
        </p:txBody>
      </p:sp>
      <p:sp>
        <p:nvSpPr>
          <p:cNvPr id="11" name="矩形 10"/>
          <p:cNvSpPr>
            <a:spLocks noChangeAspect="1"/>
          </p:cNvSpPr>
          <p:nvPr>
            <p:custDataLst>
              <p:tags r:id="rId5"/>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6"/>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14" name="组合 13"/>
          <p:cNvGrpSpPr/>
          <p:nvPr>
            <p:custDataLst>
              <p:tags r:id="rId8"/>
            </p:custDataLst>
          </p:nvPr>
        </p:nvGrpSpPr>
        <p:grpSpPr>
          <a:xfrm>
            <a:off x="0" y="0"/>
            <a:ext cx="9144000" cy="635000"/>
            <a:chOff x="0" y="0"/>
            <a:chExt cx="9144000" cy="635000"/>
          </a:xfrm>
        </p:grpSpPr>
        <p:sp>
          <p:nvSpPr>
            <p:cNvPr id="9" name="TitleBackground"/>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0" name="ColorBlock"/>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3"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2"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3" name="TextBox 2"/>
          <p:cNvSpPr txBox="1"/>
          <p:nvPr>
            <p:custDataLst>
              <p:tags r:id="rId10"/>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38583256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55</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800" b="1" kern="0" dirty="0" smtClean="0">
                <a:latin typeface="Times New Roman" pitchFamily="18" charset="0"/>
              </a:rPr>
              <a:t>11</a:t>
            </a:r>
            <a:r>
              <a:rPr lang="zh-CN" altLang="en-US" sz="2800" b="1" kern="0" dirty="0" smtClean="0">
                <a:latin typeface="Times New Roman" pitchFamily="18" charset="0"/>
              </a:rPr>
              <a:t>、</a:t>
            </a:r>
            <a:r>
              <a:rPr lang="zh-CN" altLang="en-US" sz="2800" b="1" kern="0" dirty="0">
                <a:latin typeface="Times New Roman" pitchFamily="18" charset="0"/>
              </a:rPr>
              <a:t>谐振功率放大器放大调幅信号时，放大器的工作点应设在丙类。</a:t>
            </a:r>
          </a:p>
          <a:p>
            <a:endParaRPr lang="zh-CN" altLang="en-US" sz="2600" dirty="0">
              <a:solidFill>
                <a:srgbClr val="000000"/>
              </a:solidFill>
              <a:latin typeface="Microsoft Yahei"/>
              <a:ea typeface="Microsoft Yahei"/>
              <a:sym typeface="Microsoft Yahei"/>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正确</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错误</a:t>
            </a:r>
          </a:p>
        </p:txBody>
      </p:sp>
      <p:sp>
        <p:nvSpPr>
          <p:cNvPr id="11" name="矩形 10"/>
          <p:cNvSpPr>
            <a:spLocks noChangeAspect="1"/>
          </p:cNvSpPr>
          <p:nvPr>
            <p:custDataLst>
              <p:tags r:id="rId5"/>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6"/>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14" name="组合 13"/>
          <p:cNvGrpSpPr/>
          <p:nvPr>
            <p:custDataLst>
              <p:tags r:id="rId8"/>
            </p:custDataLst>
          </p:nvPr>
        </p:nvGrpSpPr>
        <p:grpSpPr>
          <a:xfrm>
            <a:off x="0" y="0"/>
            <a:ext cx="9144000" cy="635000"/>
            <a:chOff x="0" y="0"/>
            <a:chExt cx="9144000" cy="635000"/>
          </a:xfrm>
        </p:grpSpPr>
        <p:sp>
          <p:nvSpPr>
            <p:cNvPr id="9" name="TitleBackground"/>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0" name="ColorBlock"/>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3"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2"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9"/>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3" name="TextBox 2"/>
          <p:cNvSpPr txBox="1"/>
          <p:nvPr>
            <p:custDataLst>
              <p:tags r:id="rId10"/>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105606732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56</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800" b="1" kern="0" dirty="0" smtClean="0">
                <a:latin typeface="Times New Roman" pitchFamily="18" charset="0"/>
              </a:rPr>
              <a:t>12</a:t>
            </a:r>
            <a:r>
              <a:rPr lang="zh-CN" altLang="en-US" sz="2800" b="1" kern="0" dirty="0" smtClean="0">
                <a:latin typeface="Times New Roman" pitchFamily="18" charset="0"/>
              </a:rPr>
              <a:t>、</a:t>
            </a:r>
            <a:r>
              <a:rPr lang="zh-CN" altLang="en-US" sz="2800" b="1" kern="0" dirty="0">
                <a:latin typeface="Times New Roman" pitchFamily="18" charset="0"/>
              </a:rPr>
              <a:t>在谐振功率放大器的输出级中，匹配网络的阻抗变换作用是将负载转换为放大器所要求的最佳负载电阻</a:t>
            </a:r>
            <a:r>
              <a:rPr lang="zh-CN" altLang="en-US" sz="2800" b="1" kern="0" dirty="0" smtClean="0">
                <a:latin typeface="Times New Roman" pitchFamily="18" charset="0"/>
              </a:rPr>
              <a:t>。</a:t>
            </a:r>
            <a:endParaRPr lang="zh-CN" altLang="en-US" sz="2800" b="1" kern="0" dirty="0">
              <a:latin typeface="Times New Roman" pitchFamily="18" charset="0"/>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正确</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错误</a:t>
            </a:r>
          </a:p>
        </p:txBody>
      </p:sp>
      <p:sp>
        <p:nvSpPr>
          <p:cNvPr id="11" name="矩形 10"/>
          <p:cNvSpPr>
            <a:spLocks noChangeAspect="1"/>
          </p:cNvSpPr>
          <p:nvPr>
            <p:custDataLst>
              <p:tags r:id="rId5"/>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6"/>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13" name="组合 12"/>
          <p:cNvGrpSpPr/>
          <p:nvPr>
            <p:custDataLst>
              <p:tags r:id="rId8"/>
            </p:custDataLst>
          </p:nvPr>
        </p:nvGrpSpPr>
        <p:grpSpPr>
          <a:xfrm>
            <a:off x="0" y="0"/>
            <a:ext cx="9144000" cy="635000"/>
            <a:chOff x="0" y="0"/>
            <a:chExt cx="9144000" cy="635000"/>
          </a:xfrm>
        </p:grpSpPr>
        <p:sp>
          <p:nvSpPr>
            <p:cNvPr id="3" name="TitleBackground"/>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9" name="ColorBlock"/>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0"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2"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9"/>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14" name="TextBox 13"/>
          <p:cNvSpPr txBox="1"/>
          <p:nvPr>
            <p:custDataLst>
              <p:tags r:id="rId10"/>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113855198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57</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800" b="1" kern="0" dirty="0" smtClean="0">
                <a:latin typeface="Times New Roman" pitchFamily="18" charset="0"/>
              </a:rPr>
              <a:t>13</a:t>
            </a:r>
            <a:r>
              <a:rPr lang="zh-CN" altLang="en-US" sz="2800" b="1" kern="0" dirty="0" smtClean="0">
                <a:latin typeface="Times New Roman" pitchFamily="18" charset="0"/>
              </a:rPr>
              <a:t>、</a:t>
            </a:r>
            <a:r>
              <a:rPr lang="zh-CN" altLang="en-US" sz="2800" b="1" kern="0" dirty="0">
                <a:latin typeface="Times New Roman" pitchFamily="18" charset="0"/>
              </a:rPr>
              <a:t>某谐振放大器工作在过压状态，现要调整使之工作到临界状态，若其他参数不变，可以增加负载</a:t>
            </a:r>
            <a:r>
              <a:rPr lang="en-US" altLang="zh-CN" sz="2800" b="1" kern="0" dirty="0">
                <a:latin typeface="Times New Roman" pitchFamily="18" charset="0"/>
              </a:rPr>
              <a:t>R</a:t>
            </a:r>
            <a:r>
              <a:rPr lang="en-US" altLang="zh-CN" sz="2800" b="1" kern="0" baseline="-25000" dirty="0">
                <a:latin typeface="Times New Roman" pitchFamily="18" charset="0"/>
              </a:rPr>
              <a:t>e</a:t>
            </a:r>
            <a:r>
              <a:rPr lang="zh-CN" altLang="en-US" sz="2800" b="1" kern="0" dirty="0">
                <a:latin typeface="Times New Roman" pitchFamily="18" charset="0"/>
              </a:rPr>
              <a:t>来实现</a:t>
            </a:r>
            <a:r>
              <a:rPr lang="zh-CN" altLang="en-US" sz="2800" b="1" kern="0" dirty="0" smtClean="0">
                <a:latin typeface="Times New Roman" pitchFamily="18" charset="0"/>
              </a:rPr>
              <a:t>。</a:t>
            </a:r>
            <a:endParaRPr lang="zh-CN" altLang="en-US" sz="2800" b="1" kern="0" dirty="0">
              <a:latin typeface="Times New Roman" pitchFamily="18" charset="0"/>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正确</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错误</a:t>
            </a:r>
          </a:p>
        </p:txBody>
      </p:sp>
      <p:sp>
        <p:nvSpPr>
          <p:cNvPr id="11" name="矩形 10"/>
          <p:cNvSpPr>
            <a:spLocks noChangeAspect="1"/>
          </p:cNvSpPr>
          <p:nvPr>
            <p:custDataLst>
              <p:tags r:id="rId5"/>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6"/>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14" name="组合 13"/>
          <p:cNvGrpSpPr/>
          <p:nvPr>
            <p:custDataLst>
              <p:tags r:id="rId8"/>
            </p:custDataLst>
          </p:nvPr>
        </p:nvGrpSpPr>
        <p:grpSpPr>
          <a:xfrm>
            <a:off x="0" y="0"/>
            <a:ext cx="9144000" cy="635000"/>
            <a:chOff x="0" y="0"/>
            <a:chExt cx="9144000" cy="635000"/>
          </a:xfrm>
        </p:grpSpPr>
        <p:sp>
          <p:nvSpPr>
            <p:cNvPr id="9" name="TitleBackground"/>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0" name="ColorBlock"/>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3"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2"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9"/>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3" name="TextBox 2"/>
          <p:cNvSpPr txBox="1"/>
          <p:nvPr>
            <p:custDataLst>
              <p:tags r:id="rId10"/>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57416851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58</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800" b="1" kern="0" dirty="0" smtClean="0">
                <a:latin typeface="Times New Roman" pitchFamily="18" charset="0"/>
              </a:rPr>
              <a:t>14</a:t>
            </a:r>
            <a:r>
              <a:rPr lang="zh-CN" altLang="en-US" sz="2800" b="1" kern="0" dirty="0" smtClean="0">
                <a:latin typeface="Times New Roman" pitchFamily="18" charset="0"/>
              </a:rPr>
              <a:t>、</a:t>
            </a:r>
            <a:r>
              <a:rPr lang="zh-CN" altLang="en-US" sz="2800" b="1" kern="0" dirty="0">
                <a:latin typeface="Times New Roman" pitchFamily="18" charset="0"/>
              </a:rPr>
              <a:t>某谐振放大器工作在过压状态，现要调整使之工作到临界状态，若其他参数不变，可以增大</a:t>
            </a:r>
            <a:r>
              <a:rPr lang="en-US" altLang="zh-CN" sz="2800" b="1" kern="0" dirty="0">
                <a:latin typeface="Times New Roman" pitchFamily="18" charset="0"/>
              </a:rPr>
              <a:t>V</a:t>
            </a:r>
            <a:r>
              <a:rPr lang="en-US" altLang="zh-CN" sz="2800" b="1" kern="0" baseline="-25000" dirty="0">
                <a:latin typeface="Times New Roman" pitchFamily="18" charset="0"/>
              </a:rPr>
              <a:t>CC</a:t>
            </a:r>
            <a:r>
              <a:rPr lang="zh-CN" altLang="en-US" sz="2800" b="1" kern="0" dirty="0">
                <a:latin typeface="Times New Roman" pitchFamily="18" charset="0"/>
              </a:rPr>
              <a:t>来实现</a:t>
            </a:r>
            <a:r>
              <a:rPr lang="zh-CN" altLang="en-US" sz="2800" b="1" kern="0" dirty="0" smtClean="0">
                <a:latin typeface="Times New Roman" pitchFamily="18" charset="0"/>
              </a:rPr>
              <a:t>。</a:t>
            </a:r>
            <a:endParaRPr lang="zh-CN" altLang="en-US" sz="2800" b="1" kern="0" dirty="0">
              <a:latin typeface="Times New Roman" pitchFamily="18" charset="0"/>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正确</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错误</a:t>
            </a:r>
          </a:p>
        </p:txBody>
      </p:sp>
      <p:sp>
        <p:nvSpPr>
          <p:cNvPr id="11" name="矩形 10"/>
          <p:cNvSpPr>
            <a:spLocks noChangeAspect="1"/>
          </p:cNvSpPr>
          <p:nvPr>
            <p:custDataLst>
              <p:tags r:id="rId5"/>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6"/>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47" name="组合 46"/>
          <p:cNvGrpSpPr/>
          <p:nvPr>
            <p:custDataLst>
              <p:tags r:id="rId8"/>
            </p:custDataLst>
          </p:nvPr>
        </p:nvGrpSpPr>
        <p:grpSpPr>
          <a:xfrm>
            <a:off x="0" y="0"/>
            <a:ext cx="9144000" cy="635000"/>
            <a:chOff x="0" y="0"/>
            <a:chExt cx="9144000" cy="635000"/>
          </a:xfrm>
        </p:grpSpPr>
        <p:sp>
          <p:nvSpPr>
            <p:cNvPr id="44" name="TitleBackground"/>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45" name="ColorBlock"/>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46"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43"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5" name="图片 4"/>
          <p:cNvPicPr>
            <a:picLocks/>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42" name="TextBox 41"/>
          <p:cNvSpPr txBox="1"/>
          <p:nvPr>
            <p:custDataLst>
              <p:tags r:id="rId10"/>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236929231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59</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800" b="1" kern="0" dirty="0" smtClean="0">
                <a:latin typeface="Times New Roman" pitchFamily="18" charset="0"/>
              </a:rPr>
              <a:t>15</a:t>
            </a:r>
            <a:r>
              <a:rPr lang="zh-CN" altLang="en-US" sz="2800" b="1" kern="0" dirty="0" smtClean="0">
                <a:latin typeface="Times New Roman" pitchFamily="18" charset="0"/>
              </a:rPr>
              <a:t>、</a:t>
            </a:r>
            <a:r>
              <a:rPr lang="zh-CN" altLang="en-US" sz="2800" b="1" kern="0" dirty="0">
                <a:latin typeface="Times New Roman" pitchFamily="18" charset="0"/>
              </a:rPr>
              <a:t>基极调幅工作在过压状态，集电极调幅工作在欠压状态</a:t>
            </a:r>
            <a:r>
              <a:rPr lang="zh-CN" altLang="en-US" sz="2800" b="1" kern="0" dirty="0" smtClean="0">
                <a:latin typeface="Times New Roman" pitchFamily="18" charset="0"/>
              </a:rPr>
              <a:t>。</a:t>
            </a:r>
            <a:endParaRPr lang="zh-CN" altLang="en-US" sz="2800" b="1" kern="0" dirty="0">
              <a:latin typeface="Times New Roman" pitchFamily="18" charset="0"/>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正确</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错误</a:t>
            </a:r>
          </a:p>
        </p:txBody>
      </p:sp>
      <p:sp>
        <p:nvSpPr>
          <p:cNvPr id="11" name="矩形 10"/>
          <p:cNvSpPr>
            <a:spLocks noChangeAspect="1"/>
          </p:cNvSpPr>
          <p:nvPr>
            <p:custDataLst>
              <p:tags r:id="rId5"/>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6"/>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14" name="组合 13"/>
          <p:cNvGrpSpPr/>
          <p:nvPr>
            <p:custDataLst>
              <p:tags r:id="rId8"/>
            </p:custDataLst>
          </p:nvPr>
        </p:nvGrpSpPr>
        <p:grpSpPr>
          <a:xfrm>
            <a:off x="0" y="0"/>
            <a:ext cx="9144000" cy="635000"/>
            <a:chOff x="0" y="0"/>
            <a:chExt cx="9144000" cy="635000"/>
          </a:xfrm>
        </p:grpSpPr>
        <p:sp>
          <p:nvSpPr>
            <p:cNvPr id="9" name="TitleBackground"/>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0" name="ColorBlock"/>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3"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2"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22" name="图片 21"/>
          <p:cNvPicPr>
            <a:picLocks/>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3" name="TextBox 2"/>
          <p:cNvSpPr txBox="1"/>
          <p:nvPr>
            <p:custDataLst>
              <p:tags r:id="rId10"/>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23435389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fld id="{27EF5AEE-92E6-46FE-BB6C-E2D001C3EAEA}" type="slidenum">
              <a:rPr lang="zh-CN" altLang="en-US" smtClean="0">
                <a:solidFill>
                  <a:srgbClr val="000000"/>
                </a:solidFill>
              </a:rPr>
              <a:pPr/>
              <a:t>60</a:t>
            </a:fld>
            <a:endParaRPr lang="en-US" altLang="zh-CN" dirty="0">
              <a:solidFill>
                <a:srgbClr val="000000"/>
              </a:solidFill>
            </a:endParaRPr>
          </a:p>
        </p:txBody>
      </p:sp>
      <p:sp>
        <p:nvSpPr>
          <p:cNvPr id="6" name="TextBox 5"/>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en-US" altLang="zh-CN" sz="2800" b="1" kern="0" dirty="0" smtClean="0">
                <a:latin typeface="Times New Roman" pitchFamily="18" charset="0"/>
              </a:rPr>
              <a:t>16</a:t>
            </a:r>
            <a:r>
              <a:rPr lang="zh-CN" altLang="en-US" sz="2800" b="1" kern="0" dirty="0" smtClean="0">
                <a:latin typeface="Times New Roman" pitchFamily="18" charset="0"/>
              </a:rPr>
              <a:t>、功放必须外加激励信号才能工作。</a:t>
            </a:r>
            <a:endParaRPr lang="zh-CN" altLang="en-US" sz="2800" b="1" kern="0" dirty="0">
              <a:latin typeface="Times New Roman" pitchFamily="18" charset="0"/>
            </a:endParaRPr>
          </a:p>
        </p:txBody>
      </p:sp>
      <p:sp>
        <p:nvSpPr>
          <p:cNvPr id="7" name="TextBox 6"/>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smtClean="0">
                <a:solidFill>
                  <a:srgbClr val="000000"/>
                </a:solidFill>
                <a:latin typeface="Microsoft Yahei"/>
                <a:ea typeface="Microsoft Yahei"/>
                <a:sym typeface="Microsoft Yahei"/>
              </a:rPr>
              <a:t>正确</a:t>
            </a:r>
            <a:endParaRPr lang="zh-CN" altLang="en-US" sz="2600" dirty="0">
              <a:solidFill>
                <a:srgbClr val="000000"/>
              </a:solidFill>
              <a:latin typeface="Microsoft Yahei"/>
              <a:ea typeface="Microsoft Yahei"/>
              <a:sym typeface="Microsoft Yahei"/>
            </a:endParaRPr>
          </a:p>
        </p:txBody>
      </p:sp>
      <p:sp>
        <p:nvSpPr>
          <p:cNvPr id="8" name="TextBox 7"/>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a:ea typeface="Microsoft Yahei"/>
                <a:sym typeface="Microsoft Yahei"/>
              </a:rPr>
              <a:t>错误</a:t>
            </a:r>
          </a:p>
        </p:txBody>
      </p:sp>
      <p:sp>
        <p:nvSpPr>
          <p:cNvPr id="11" name="矩形 10"/>
          <p:cNvSpPr>
            <a:spLocks noChangeAspect="1"/>
          </p:cNvSpPr>
          <p:nvPr>
            <p:custDataLst>
              <p:tags r:id="rId5"/>
            </p:custDataLst>
          </p:nvPr>
        </p:nvSpPr>
        <p:spPr bwMode="auto">
          <a:xfrm>
            <a:off x="1114425" y="285035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A</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2" name="矩形 11"/>
          <p:cNvSpPr>
            <a:spLocks noChangeAspect="1"/>
          </p:cNvSpPr>
          <p:nvPr>
            <p:custDataLst>
              <p:tags r:id="rId6"/>
            </p:custDataLst>
          </p:nvPr>
        </p:nvSpPr>
        <p:spPr bwMode="auto">
          <a:xfrm>
            <a:off x="1114425" y="3707606"/>
            <a:ext cx="514350" cy="514350"/>
          </a:xfrm>
          <a:prstGeom prst="rect">
            <a:avLst/>
          </a:prstGeom>
          <a:solidFill>
            <a:srgbClr val="808080"/>
          </a:solidFill>
          <a:ln w="127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algn="ctr" defTabSz="914400" rtl="0" eaLnBrk="1" fontAlgn="base" latinLnBrk="0" hangingPunct="1">
              <a:spcBef>
                <a:spcPct val="0"/>
              </a:spcBef>
              <a:spcAft>
                <a:spcPct val="0"/>
              </a:spcAft>
              <a:buClrTx/>
              <a:buSzTx/>
              <a:buFontTx/>
              <a:buNone/>
            </a:pPr>
            <a:r>
              <a:rPr kumimoji="0" lang="en-US" altLang="zh-CN" sz="1600" b="0" i="0" u="none" strike="noStrike" cap="none" normalizeH="0" baseline="0" smtClean="0">
                <a:ln>
                  <a:noFill/>
                </a:ln>
                <a:solidFill>
                  <a:srgbClr val="FFFFFF"/>
                </a:solidFill>
                <a:effectLst/>
                <a:latin typeface="Microsoft Yahei"/>
                <a:ea typeface="Microsoft Yahei"/>
                <a:sym typeface="Microsoft Yahei"/>
              </a:rPr>
              <a:t>B</a:t>
            </a:r>
            <a:endParaRPr kumimoji="0" lang="zh-CN" altLang="en-US" sz="1600" b="0" i="0" u="none" strike="noStrike" cap="none" normalizeH="0" baseline="0" smtClean="0">
              <a:ln>
                <a:noFill/>
              </a:ln>
              <a:solidFill>
                <a:srgbClr val="FFFFFF"/>
              </a:solidFill>
              <a:effectLst/>
              <a:latin typeface="Microsoft Yahei"/>
              <a:ea typeface="Microsoft Yahei"/>
              <a:sym typeface="Microsoft Yahei"/>
            </a:endParaRPr>
          </a:p>
        </p:txBody>
      </p:sp>
      <p:sp>
        <p:nvSpPr>
          <p:cNvPr id="15" name="圆角矩形 14"/>
          <p:cNvSpPr/>
          <p:nvPr>
            <p:custDataLst>
              <p:tags r:id="rId7"/>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p:spPr>
        <p:txBody>
          <a:bodyPr vert="horz" wrap="none" lIns="91440" tIns="45720" rIns="91440" bIns="45720" numCol="1" rtlCol="0" anchor="ctr" anchorCtr="1" compatLnSpc="1"/>
          <a:lstStyle/>
          <a:p>
            <a:pPr marL="0" marR="0" indent="0" algn="ctr" defTabSz="914400" rtl="0" eaLnBrk="1" fontAlgn="base" latinLnBrk="0" hangingPunct="1">
              <a:spcBef>
                <a:spcPct val="0"/>
              </a:spcBef>
              <a:spcAft>
                <a:spcPct val="0"/>
              </a:spcAft>
              <a:buClrTx/>
              <a:buSzTx/>
              <a:buFontTx/>
              <a:buNone/>
            </a:pPr>
            <a:r>
              <a:rPr kumimoji="0" lang="zh-CN" altLang="en-US" sz="1600" b="0" i="0" u="none" strike="noStrike" cap="none" normalizeH="0" baseline="0" smtClean="0">
                <a:ln>
                  <a:noFill/>
                </a:ln>
                <a:solidFill>
                  <a:srgbClr val="FFFFFF"/>
                </a:solidFill>
                <a:effectLst/>
                <a:latin typeface="Microsoft Yahei"/>
                <a:ea typeface="Microsoft Yahei"/>
                <a:sym typeface="Microsoft Yahei"/>
              </a:rPr>
              <a:t>提交</a:t>
            </a:r>
          </a:p>
        </p:txBody>
      </p:sp>
      <p:grpSp>
        <p:nvGrpSpPr>
          <p:cNvPr id="14" name="组合 13"/>
          <p:cNvGrpSpPr/>
          <p:nvPr>
            <p:custDataLst>
              <p:tags r:id="rId8"/>
            </p:custDataLst>
          </p:nvPr>
        </p:nvGrpSpPr>
        <p:grpSpPr>
          <a:xfrm>
            <a:off x="0" y="0"/>
            <a:ext cx="9144000" cy="635000"/>
            <a:chOff x="0" y="0"/>
            <a:chExt cx="9144000" cy="635000"/>
          </a:xfrm>
        </p:grpSpPr>
        <p:sp>
          <p:nvSpPr>
            <p:cNvPr id="9" name="TitleBackground"/>
            <p:cNvSpPr/>
            <p:nvPr>
              <p:custDataLst>
                <p:tags r:id="rId11"/>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0" name="ColorBlock"/>
            <p:cNvSpPr/>
            <p:nvPr>
              <p:custDataLst>
                <p:tags r:id="rId12"/>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3" name="TypeText"/>
            <p:cNvSpPr txBox="1"/>
            <p:nvPr>
              <p:custDataLst>
                <p:tags r:id="rId13"/>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a:ea typeface="Microsoft Yahei"/>
                  <a:sym typeface="Microsoft Yahei"/>
                </a:rPr>
                <a:t>多选题</a:t>
              </a:r>
              <a:endParaRPr lang="zh-CN" altLang="en-US" sz="2600">
                <a:solidFill>
                  <a:srgbClr val="000000"/>
                </a:solidFill>
                <a:latin typeface="Microsoft Yahei"/>
                <a:ea typeface="Microsoft Yahei"/>
                <a:sym typeface="Microsoft Yahei"/>
              </a:endParaRPr>
            </a:p>
          </p:txBody>
        </p:sp>
        <p:sp>
          <p:nvSpPr>
            <p:cNvPr id="2" name="TipText"/>
            <p:cNvSpPr txBox="1"/>
            <p:nvPr>
              <p:custDataLst>
                <p:tags r:id="rId14"/>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a:ea typeface="Microsoft Yahei"/>
                  <a:sym typeface="Microsoft Yahei"/>
                </a:rPr>
                <a:t>1</a:t>
              </a:r>
              <a:r>
                <a:rPr lang="zh-CN" altLang="en-US" sz="2000" smtClean="0">
                  <a:solidFill>
                    <a:srgbClr val="808080"/>
                  </a:solidFill>
                  <a:latin typeface="Microsoft Yahei"/>
                  <a:ea typeface="Microsoft Yahei"/>
                  <a:sym typeface="Microsoft Yahei"/>
                </a:rPr>
                <a:t>分</a:t>
              </a:r>
              <a:endParaRPr lang="zh-CN" altLang="en-US" sz="2000">
                <a:solidFill>
                  <a:srgbClr val="808080"/>
                </a:solidFill>
                <a:latin typeface="Microsoft Yahei"/>
                <a:ea typeface="Microsoft Yahei"/>
                <a:sym typeface="Microsoft Yahei"/>
              </a:endParaRPr>
            </a:p>
          </p:txBody>
        </p:sp>
      </p:grpSp>
      <p:pic>
        <p:nvPicPr>
          <p:cNvPr id="22" name="图片 21"/>
          <p:cNvPicPr>
            <a:picLocks/>
          </p:cNvPicPr>
          <p:nvPr>
            <p:custDataLst>
              <p:tags r:id="rId9"/>
            </p:custDataLst>
          </p:nvPr>
        </p:nvPicPr>
        <p:blipFill>
          <a:blip r:embed="rId16">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
        <p:nvSpPr>
          <p:cNvPr id="3" name="TextBox 2"/>
          <p:cNvSpPr txBox="1"/>
          <p:nvPr>
            <p:custDataLst>
              <p:tags r:id="rId10"/>
            </p:custDataLst>
          </p:nvPr>
        </p:nvSpPr>
        <p:spPr>
          <a:xfrm>
            <a:off x="914400" y="635000"/>
            <a:ext cx="7315200" cy="365760"/>
          </a:xfrm>
          <a:prstGeom prst="rect">
            <a:avLst/>
          </a:prstGeom>
          <a:solidFill>
            <a:srgbClr val="FBFAEF">
              <a:alpha val="90000"/>
            </a:srgbClr>
          </a:solidFill>
        </p:spPr>
        <p:txBody>
          <a:bodyPr vert="horz" wrap="none" rtlCol="0" anchor="ctr" anchorCtr="1">
            <a:noAutofit/>
          </a:bodyPr>
          <a:lstStyle/>
          <a:p>
            <a:r>
              <a:rPr lang="zh-CN" altLang="en-US" sz="1200" smtClean="0">
                <a:solidFill>
                  <a:srgbClr val="F84F41"/>
                </a:solidFill>
                <a:latin typeface="Microsoft Yahei"/>
                <a:ea typeface="Microsoft Yahei"/>
                <a:sym typeface="Microsoft Yahei"/>
              </a:rPr>
              <a:t>此题未设置答案，请点击右侧设置按钮</a:t>
            </a:r>
            <a:endParaRPr lang="zh-CN" altLang="en-US" sz="1200">
              <a:solidFill>
                <a:srgbClr val="F84F41"/>
              </a:solidFill>
              <a:latin typeface="Microsoft Yahei"/>
              <a:ea typeface="Microsoft Yahei"/>
              <a:sym typeface="Microsoft Yahei"/>
            </a:endParaRPr>
          </a:p>
        </p:txBody>
      </p:sp>
    </p:spTree>
    <p:custDataLst>
      <p:tags r:id="rId1"/>
    </p:custDataLst>
    <p:extLst>
      <p:ext uri="{BB962C8B-B14F-4D97-AF65-F5344CB8AC3E}">
        <p14:creationId xmlns:p14="http://schemas.microsoft.com/office/powerpoint/2010/main" val="414847493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眼镜"/>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762871" y="3645024"/>
            <a:ext cx="1673225" cy="133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2339752" y="2484185"/>
            <a:ext cx="4608512" cy="584775"/>
          </a:xfrm>
          <a:prstGeom prst="rect">
            <a:avLst/>
          </a:prstGeom>
          <a:noFill/>
        </p:spPr>
        <p:txBody>
          <a:bodyPr wrap="square" rtlCol="0">
            <a:spAutoFit/>
          </a:bodyPr>
          <a:lstStyle/>
          <a:p>
            <a:r>
              <a:rPr lang="zh-CN" altLang="en-US" sz="3200" b="1" dirty="0" smtClean="0"/>
              <a:t>第</a:t>
            </a:r>
            <a:r>
              <a:rPr lang="zh-CN" altLang="en-US" sz="3200" b="1" dirty="0"/>
              <a:t>四</a:t>
            </a:r>
            <a:r>
              <a:rPr lang="zh-CN" altLang="en-US" sz="3200" b="1" dirty="0" smtClean="0"/>
              <a:t>章  正弦波振荡电路</a:t>
            </a:r>
            <a:endParaRPr lang="zh-CN" altLang="en-US" sz="3200" b="1" dirty="0"/>
          </a:p>
        </p:txBody>
      </p:sp>
    </p:spTree>
    <p:extLst>
      <p:ext uri="{BB962C8B-B14F-4D97-AF65-F5344CB8AC3E}">
        <p14:creationId xmlns:p14="http://schemas.microsoft.com/office/powerpoint/2010/main" val="375978496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62</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第四章知识点梳理</a:t>
            </a:r>
            <a:endParaRPr lang="zh-CN" altLang="en-US" sz="2400" b="1" dirty="0">
              <a:solidFill>
                <a:prstClr val="black"/>
              </a:solidFill>
            </a:endParaRPr>
          </a:p>
        </p:txBody>
      </p:sp>
      <p:sp>
        <p:nvSpPr>
          <p:cNvPr id="6" name="TextBox 5"/>
          <p:cNvSpPr txBox="1"/>
          <p:nvPr/>
        </p:nvSpPr>
        <p:spPr>
          <a:xfrm>
            <a:off x="539552" y="836712"/>
            <a:ext cx="2044149" cy="369332"/>
          </a:xfrm>
          <a:prstGeom prst="rect">
            <a:avLst/>
          </a:prstGeom>
          <a:noFill/>
        </p:spPr>
        <p:txBody>
          <a:bodyPr wrap="none" rtlCol="0">
            <a:spAutoFit/>
          </a:bodyPr>
          <a:lstStyle/>
          <a:p>
            <a:r>
              <a:rPr lang="zh-CN" altLang="en-US" b="1" dirty="0" smtClean="0"/>
              <a:t>一、灵活使用公式</a:t>
            </a:r>
            <a:endParaRPr lang="zh-CN" altLang="en-US" b="1" dirty="0"/>
          </a:p>
        </p:txBody>
      </p:sp>
      <p:sp>
        <p:nvSpPr>
          <p:cNvPr id="7172" name="TextBox 7171"/>
          <p:cNvSpPr txBox="1"/>
          <p:nvPr/>
        </p:nvSpPr>
        <p:spPr>
          <a:xfrm>
            <a:off x="611560" y="1444605"/>
            <a:ext cx="1811714" cy="369332"/>
          </a:xfrm>
          <a:prstGeom prst="rect">
            <a:avLst/>
          </a:prstGeom>
          <a:noFill/>
        </p:spPr>
        <p:txBody>
          <a:bodyPr wrap="none" rtlCol="0">
            <a:spAutoFit/>
          </a:bodyPr>
          <a:lstStyle/>
          <a:p>
            <a:r>
              <a:rPr lang="zh-CN" altLang="en-US" b="1" dirty="0" smtClean="0">
                <a:solidFill>
                  <a:schemeClr val="accent6">
                    <a:lumMod val="75000"/>
                  </a:schemeClr>
                </a:solidFill>
              </a:rPr>
              <a:t>振幅起振条件：</a:t>
            </a:r>
            <a:endParaRPr lang="zh-CN" altLang="en-US" b="1" dirty="0">
              <a:solidFill>
                <a:schemeClr val="accent6">
                  <a:lumMod val="75000"/>
                </a:schemeClr>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3817237528"/>
              </p:ext>
            </p:extLst>
          </p:nvPr>
        </p:nvGraphicFramePr>
        <p:xfrm>
          <a:off x="2580779" y="1407537"/>
          <a:ext cx="1127125" cy="406400"/>
        </p:xfrm>
        <a:graphic>
          <a:graphicData uri="http://schemas.openxmlformats.org/presentationml/2006/ole">
            <mc:AlternateContent xmlns:mc="http://schemas.openxmlformats.org/markup-compatibility/2006">
              <mc:Choice xmlns:v="urn:schemas-microsoft-com:vml" Requires="v">
                <p:oleObj spid="_x0000_s94528" name="Equation" r:id="rId4" imgW="457200" imgH="164880" progId="Equation.DSMT4">
                  <p:embed/>
                </p:oleObj>
              </mc:Choice>
              <mc:Fallback>
                <p:oleObj name="Equation" r:id="rId4" imgW="457200" imgH="164880" progId="Equation.DSMT4">
                  <p:embed/>
                  <p:pic>
                    <p:nvPicPr>
                      <p:cNvPr id="0" name="对象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0779" y="1407537"/>
                        <a:ext cx="11271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136674711"/>
              </p:ext>
            </p:extLst>
          </p:nvPr>
        </p:nvGraphicFramePr>
        <p:xfrm>
          <a:off x="2580953" y="2029961"/>
          <a:ext cx="2351087" cy="585787"/>
        </p:xfrm>
        <a:graphic>
          <a:graphicData uri="http://schemas.openxmlformats.org/presentationml/2006/ole">
            <mc:AlternateContent xmlns:mc="http://schemas.openxmlformats.org/markup-compatibility/2006">
              <mc:Choice xmlns:v="urn:schemas-microsoft-com:vml" Requires="v">
                <p:oleObj spid="_x0000_s94529" name="Equation" r:id="rId6" imgW="914400" imgH="228600" progId="Equation.DSMT4">
                  <p:embed/>
                </p:oleObj>
              </mc:Choice>
              <mc:Fallback>
                <p:oleObj name="Equation" r:id="rId6" imgW="914400" imgH="228600" progId="Equation.DSMT4">
                  <p:embed/>
                  <p:pic>
                    <p:nvPicPr>
                      <p:cNvPr id="0" name="对象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80953" y="2029961"/>
                        <a:ext cx="2351087" cy="585787"/>
                      </a:xfrm>
                      <a:prstGeom prst="rect">
                        <a:avLst/>
                      </a:prstGeom>
                      <a:noFill/>
                      <a:ln>
                        <a:noFill/>
                      </a:ln>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199590578"/>
              </p:ext>
            </p:extLst>
          </p:nvPr>
        </p:nvGraphicFramePr>
        <p:xfrm>
          <a:off x="5076056" y="2085325"/>
          <a:ext cx="1893888" cy="520700"/>
        </p:xfrm>
        <a:graphic>
          <a:graphicData uri="http://schemas.openxmlformats.org/presentationml/2006/ole">
            <mc:AlternateContent xmlns:mc="http://schemas.openxmlformats.org/markup-compatibility/2006">
              <mc:Choice xmlns:v="urn:schemas-microsoft-com:vml" Requires="v">
                <p:oleObj spid="_x0000_s94530" name="Equation" r:id="rId8" imgW="736560" imgH="203040" progId="Equation.DSMT4">
                  <p:embed/>
                </p:oleObj>
              </mc:Choice>
              <mc:Fallback>
                <p:oleObj name="Equation" r:id="rId8" imgW="736560" imgH="203040" progId="Equation.DSMT4">
                  <p:embed/>
                  <p:pic>
                    <p:nvPicPr>
                      <p:cNvPr id="0" name="对象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76056" y="2085325"/>
                        <a:ext cx="18938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 name="TextBox 19"/>
          <p:cNvSpPr txBox="1"/>
          <p:nvPr/>
        </p:nvSpPr>
        <p:spPr>
          <a:xfrm>
            <a:off x="611560" y="2173977"/>
            <a:ext cx="1811714" cy="369332"/>
          </a:xfrm>
          <a:prstGeom prst="rect">
            <a:avLst/>
          </a:prstGeom>
          <a:noFill/>
        </p:spPr>
        <p:txBody>
          <a:bodyPr wrap="none" rtlCol="0">
            <a:spAutoFit/>
          </a:bodyPr>
          <a:lstStyle/>
          <a:p>
            <a:r>
              <a:rPr lang="zh-CN" altLang="en-US" b="1" dirty="0">
                <a:solidFill>
                  <a:schemeClr val="accent6">
                    <a:lumMod val="75000"/>
                  </a:schemeClr>
                </a:solidFill>
              </a:rPr>
              <a:t>相位</a:t>
            </a:r>
            <a:r>
              <a:rPr lang="zh-CN" altLang="en-US" b="1" dirty="0" smtClean="0">
                <a:solidFill>
                  <a:schemeClr val="accent6">
                    <a:lumMod val="75000"/>
                  </a:schemeClr>
                </a:solidFill>
              </a:rPr>
              <a:t>起振条件：</a:t>
            </a:r>
            <a:endParaRPr lang="zh-CN" altLang="en-US" b="1" dirty="0">
              <a:solidFill>
                <a:schemeClr val="accent6">
                  <a:lumMod val="75000"/>
                </a:schemeClr>
              </a:solidFill>
            </a:endParaRPr>
          </a:p>
        </p:txBody>
      </p:sp>
      <p:sp>
        <p:nvSpPr>
          <p:cNvPr id="21" name="TextBox 20"/>
          <p:cNvSpPr txBox="1"/>
          <p:nvPr/>
        </p:nvSpPr>
        <p:spPr>
          <a:xfrm>
            <a:off x="611560" y="2803465"/>
            <a:ext cx="1811714" cy="369332"/>
          </a:xfrm>
          <a:prstGeom prst="rect">
            <a:avLst/>
          </a:prstGeom>
          <a:noFill/>
        </p:spPr>
        <p:txBody>
          <a:bodyPr wrap="none" rtlCol="0">
            <a:spAutoFit/>
          </a:bodyPr>
          <a:lstStyle/>
          <a:p>
            <a:r>
              <a:rPr lang="zh-CN" altLang="en-US" b="1" dirty="0" smtClean="0">
                <a:solidFill>
                  <a:schemeClr val="accent6">
                    <a:lumMod val="75000"/>
                  </a:schemeClr>
                </a:solidFill>
              </a:rPr>
              <a:t>振幅平衡条件：</a:t>
            </a:r>
            <a:endParaRPr lang="zh-CN" altLang="en-US" b="1" dirty="0">
              <a:solidFill>
                <a:schemeClr val="accent6">
                  <a:lumMod val="75000"/>
                </a:schemeClr>
              </a:solidFill>
            </a:endParaRPr>
          </a:p>
        </p:txBody>
      </p:sp>
      <p:sp>
        <p:nvSpPr>
          <p:cNvPr id="22" name="TextBox 21"/>
          <p:cNvSpPr txBox="1"/>
          <p:nvPr/>
        </p:nvSpPr>
        <p:spPr>
          <a:xfrm>
            <a:off x="611560" y="3532837"/>
            <a:ext cx="1811714" cy="369332"/>
          </a:xfrm>
          <a:prstGeom prst="rect">
            <a:avLst/>
          </a:prstGeom>
          <a:noFill/>
        </p:spPr>
        <p:txBody>
          <a:bodyPr wrap="none" rtlCol="0">
            <a:spAutoFit/>
          </a:bodyPr>
          <a:lstStyle/>
          <a:p>
            <a:r>
              <a:rPr lang="zh-CN" altLang="en-US" b="1" dirty="0" smtClean="0">
                <a:solidFill>
                  <a:schemeClr val="accent6">
                    <a:lumMod val="75000"/>
                  </a:schemeClr>
                </a:solidFill>
              </a:rPr>
              <a:t>相位</a:t>
            </a:r>
            <a:r>
              <a:rPr lang="zh-CN" altLang="en-US" b="1" dirty="0">
                <a:solidFill>
                  <a:schemeClr val="accent6">
                    <a:lumMod val="75000"/>
                  </a:schemeClr>
                </a:solidFill>
              </a:rPr>
              <a:t>平衡</a:t>
            </a:r>
            <a:r>
              <a:rPr lang="zh-CN" altLang="en-US" b="1" dirty="0" smtClean="0">
                <a:solidFill>
                  <a:schemeClr val="accent6">
                    <a:lumMod val="75000"/>
                  </a:schemeClr>
                </a:solidFill>
              </a:rPr>
              <a:t>条件：</a:t>
            </a:r>
            <a:endParaRPr lang="zh-CN" altLang="en-US" b="1" dirty="0">
              <a:solidFill>
                <a:schemeClr val="accent6">
                  <a:lumMod val="75000"/>
                </a:schemeClr>
              </a:solidFill>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1956605678"/>
              </p:ext>
            </p:extLst>
          </p:nvPr>
        </p:nvGraphicFramePr>
        <p:xfrm>
          <a:off x="2555776" y="2766397"/>
          <a:ext cx="1127125" cy="406400"/>
        </p:xfrm>
        <a:graphic>
          <a:graphicData uri="http://schemas.openxmlformats.org/presentationml/2006/ole">
            <mc:AlternateContent xmlns:mc="http://schemas.openxmlformats.org/markup-compatibility/2006">
              <mc:Choice xmlns:v="urn:schemas-microsoft-com:vml" Requires="v">
                <p:oleObj spid="_x0000_s94531" name="Equation" r:id="rId10" imgW="457200" imgH="164880" progId="Equation.DSMT4">
                  <p:embed/>
                </p:oleObj>
              </mc:Choice>
              <mc:Fallback>
                <p:oleObj name="Equation" r:id="rId10" imgW="457200" imgH="164880" progId="Equation.DSMT4">
                  <p:embed/>
                  <p:pic>
                    <p:nvPicPr>
                      <p:cNvPr id="0" name="对象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55776" y="2766397"/>
                        <a:ext cx="11271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017701332"/>
              </p:ext>
            </p:extLst>
          </p:nvPr>
        </p:nvGraphicFramePr>
        <p:xfrm>
          <a:off x="2555776" y="3424609"/>
          <a:ext cx="2351087" cy="585788"/>
        </p:xfrm>
        <a:graphic>
          <a:graphicData uri="http://schemas.openxmlformats.org/presentationml/2006/ole">
            <mc:AlternateContent xmlns:mc="http://schemas.openxmlformats.org/markup-compatibility/2006">
              <mc:Choice xmlns:v="urn:schemas-microsoft-com:vml" Requires="v">
                <p:oleObj spid="_x0000_s94532" name="Equation" r:id="rId12" imgW="914400" imgH="228600" progId="Equation.DSMT4">
                  <p:embed/>
                </p:oleObj>
              </mc:Choice>
              <mc:Fallback>
                <p:oleObj name="Equation" r:id="rId12" imgW="914400" imgH="228600" progId="Equation.DSMT4">
                  <p:embed/>
                  <p:pic>
                    <p:nvPicPr>
                      <p:cNvPr id="0" name="对象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776" y="3424609"/>
                        <a:ext cx="23510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141903530"/>
              </p:ext>
            </p:extLst>
          </p:nvPr>
        </p:nvGraphicFramePr>
        <p:xfrm>
          <a:off x="5076056" y="3453477"/>
          <a:ext cx="1893888" cy="520700"/>
        </p:xfrm>
        <a:graphic>
          <a:graphicData uri="http://schemas.openxmlformats.org/presentationml/2006/ole">
            <mc:AlternateContent xmlns:mc="http://schemas.openxmlformats.org/markup-compatibility/2006">
              <mc:Choice xmlns:v="urn:schemas-microsoft-com:vml" Requires="v">
                <p:oleObj spid="_x0000_s94533" name="Equation" r:id="rId13" imgW="736560" imgH="203040" progId="Equation.DSMT4">
                  <p:embed/>
                </p:oleObj>
              </mc:Choice>
              <mc:Fallback>
                <p:oleObj name="Equation" r:id="rId13" imgW="736560" imgH="203040" progId="Equation.DSMT4">
                  <p:embed/>
                  <p:pic>
                    <p:nvPicPr>
                      <p:cNvPr id="0" name="对象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76056" y="3453477"/>
                        <a:ext cx="189388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TextBox 25"/>
          <p:cNvSpPr txBox="1"/>
          <p:nvPr/>
        </p:nvSpPr>
        <p:spPr>
          <a:xfrm>
            <a:off x="611560" y="4406225"/>
            <a:ext cx="1811714" cy="369332"/>
          </a:xfrm>
          <a:prstGeom prst="rect">
            <a:avLst/>
          </a:prstGeom>
          <a:noFill/>
        </p:spPr>
        <p:txBody>
          <a:bodyPr wrap="none" rtlCol="0">
            <a:spAutoFit/>
          </a:bodyPr>
          <a:lstStyle/>
          <a:p>
            <a:r>
              <a:rPr lang="zh-CN" altLang="en-US" b="1" dirty="0" smtClean="0">
                <a:solidFill>
                  <a:schemeClr val="accent6">
                    <a:lumMod val="75000"/>
                  </a:schemeClr>
                </a:solidFill>
              </a:rPr>
              <a:t>振幅稳定条件：</a:t>
            </a:r>
            <a:endParaRPr lang="zh-CN" altLang="en-US" b="1" dirty="0">
              <a:solidFill>
                <a:schemeClr val="accent6">
                  <a:lumMod val="75000"/>
                </a:schemeClr>
              </a:solidFill>
            </a:endParaRPr>
          </a:p>
        </p:txBody>
      </p:sp>
      <p:sp>
        <p:nvSpPr>
          <p:cNvPr id="27" name="TextBox 26"/>
          <p:cNvSpPr txBox="1"/>
          <p:nvPr/>
        </p:nvSpPr>
        <p:spPr>
          <a:xfrm>
            <a:off x="611560" y="5405045"/>
            <a:ext cx="1811714" cy="369332"/>
          </a:xfrm>
          <a:prstGeom prst="rect">
            <a:avLst/>
          </a:prstGeom>
          <a:noFill/>
        </p:spPr>
        <p:txBody>
          <a:bodyPr wrap="none" rtlCol="0">
            <a:spAutoFit/>
          </a:bodyPr>
          <a:lstStyle/>
          <a:p>
            <a:r>
              <a:rPr lang="zh-CN" altLang="en-US" b="1" dirty="0" smtClean="0">
                <a:solidFill>
                  <a:schemeClr val="accent6">
                    <a:lumMod val="75000"/>
                  </a:schemeClr>
                </a:solidFill>
              </a:rPr>
              <a:t>相位稳定条件：</a:t>
            </a:r>
            <a:endParaRPr lang="zh-CN" altLang="en-US" b="1" dirty="0">
              <a:solidFill>
                <a:schemeClr val="accent6">
                  <a:lumMod val="75000"/>
                </a:schemeClr>
              </a:solidFill>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2481570976"/>
              </p:ext>
            </p:extLst>
          </p:nvPr>
        </p:nvGraphicFramePr>
        <p:xfrm>
          <a:off x="2555776" y="4118193"/>
          <a:ext cx="1873250" cy="865187"/>
        </p:xfrm>
        <a:graphic>
          <a:graphicData uri="http://schemas.openxmlformats.org/presentationml/2006/ole">
            <mc:AlternateContent xmlns:mc="http://schemas.openxmlformats.org/markup-compatibility/2006">
              <mc:Choice xmlns:v="urn:schemas-microsoft-com:vml" Requires="v">
                <p:oleObj spid="_x0000_s94534" name="Equation" r:id="rId14" imgW="850900" imgH="508000" progId="Equation.DSMT4">
                  <p:embed/>
                </p:oleObj>
              </mc:Choice>
              <mc:Fallback>
                <p:oleObj name="Equation" r:id="rId14" imgW="850900" imgH="508000" progId="Equation.DSMT4">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55776" y="4118193"/>
                        <a:ext cx="1873250"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86240030"/>
              </p:ext>
            </p:extLst>
          </p:nvPr>
        </p:nvGraphicFramePr>
        <p:xfrm>
          <a:off x="5148064" y="4108380"/>
          <a:ext cx="1871662" cy="936625"/>
        </p:xfrm>
        <a:graphic>
          <a:graphicData uri="http://schemas.openxmlformats.org/presentationml/2006/ole">
            <mc:AlternateContent xmlns:mc="http://schemas.openxmlformats.org/markup-compatibility/2006">
              <mc:Choice xmlns:v="urn:schemas-microsoft-com:vml" Requires="v">
                <p:oleObj spid="_x0000_s94535" name="Equation" r:id="rId16" imgW="850900" imgH="508000" progId="Equation.DSMT4">
                  <p:embed/>
                </p:oleObj>
              </mc:Choice>
              <mc:Fallback>
                <p:oleObj name="Equation" r:id="rId16" imgW="850900" imgH="508000" progId="Equation.DSMT4">
                  <p:embed/>
                  <p:pic>
                    <p:nvPicPr>
                      <p:cNvPr id="0" name="Object 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148064" y="4108380"/>
                        <a:ext cx="1871662"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288288771"/>
              </p:ext>
            </p:extLst>
          </p:nvPr>
        </p:nvGraphicFramePr>
        <p:xfrm>
          <a:off x="2555776" y="5230142"/>
          <a:ext cx="1800225" cy="719138"/>
        </p:xfrm>
        <a:graphic>
          <a:graphicData uri="http://schemas.openxmlformats.org/presentationml/2006/ole">
            <mc:AlternateContent xmlns:mc="http://schemas.openxmlformats.org/markup-compatibility/2006">
              <mc:Choice xmlns:v="urn:schemas-microsoft-com:vml" Requires="v">
                <p:oleObj spid="_x0000_s94536" name="Equation" r:id="rId18" imgW="863225" imgH="418918" progId="Equation.DSMT4">
                  <p:embed/>
                </p:oleObj>
              </mc:Choice>
              <mc:Fallback>
                <p:oleObj name="Equation" r:id="rId18" imgW="863225" imgH="418918" progId="Equation.DSMT4">
                  <p:embed/>
                  <p:pic>
                    <p:nvPicPr>
                      <p:cNvPr id="0" name="Object 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555776" y="5230142"/>
                        <a:ext cx="18002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29400287"/>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63</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第四章知识点梳理</a:t>
            </a:r>
            <a:endParaRPr lang="zh-CN" altLang="en-US" sz="2400" b="1" dirty="0">
              <a:solidFill>
                <a:prstClr val="black"/>
              </a:solidFill>
            </a:endParaRPr>
          </a:p>
        </p:txBody>
      </p:sp>
      <p:sp>
        <p:nvSpPr>
          <p:cNvPr id="6" name="TextBox 5"/>
          <p:cNvSpPr txBox="1"/>
          <p:nvPr/>
        </p:nvSpPr>
        <p:spPr>
          <a:xfrm>
            <a:off x="539552" y="836712"/>
            <a:ext cx="1811714" cy="369332"/>
          </a:xfrm>
          <a:prstGeom prst="rect">
            <a:avLst/>
          </a:prstGeom>
          <a:noFill/>
        </p:spPr>
        <p:txBody>
          <a:bodyPr wrap="none" rtlCol="0">
            <a:spAutoFit/>
          </a:bodyPr>
          <a:lstStyle/>
          <a:p>
            <a:r>
              <a:rPr lang="zh-CN" altLang="en-US" b="1" dirty="0"/>
              <a:t>二</a:t>
            </a:r>
            <a:r>
              <a:rPr lang="zh-CN" altLang="en-US" b="1" dirty="0" smtClean="0"/>
              <a:t>、稳定点判断</a:t>
            </a:r>
            <a:endParaRPr lang="zh-CN" altLang="en-US" b="1" dirty="0"/>
          </a:p>
        </p:txBody>
      </p:sp>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040" y="1818395"/>
            <a:ext cx="3528392" cy="369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1752271"/>
            <a:ext cx="3476339" cy="3620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1763688" y="5661248"/>
            <a:ext cx="1281120" cy="369332"/>
          </a:xfrm>
          <a:prstGeom prst="rect">
            <a:avLst/>
          </a:prstGeom>
          <a:noFill/>
        </p:spPr>
        <p:txBody>
          <a:bodyPr wrap="none" rtlCol="0">
            <a:spAutoFit/>
          </a:bodyPr>
          <a:lstStyle/>
          <a:p>
            <a:r>
              <a:rPr lang="zh-CN" altLang="en-US" b="1" dirty="0"/>
              <a:t>稳定</a:t>
            </a:r>
            <a:r>
              <a:rPr lang="zh-CN" altLang="en-US" b="1" dirty="0" smtClean="0"/>
              <a:t>点：</a:t>
            </a:r>
            <a:r>
              <a:rPr lang="en-US" altLang="zh-CN" b="1" dirty="0" smtClean="0"/>
              <a:t>A</a:t>
            </a:r>
            <a:endParaRPr lang="zh-CN" altLang="en-US" b="1" dirty="0"/>
          </a:p>
        </p:txBody>
      </p:sp>
      <p:sp>
        <p:nvSpPr>
          <p:cNvPr id="134" name="TextBox 133"/>
          <p:cNvSpPr txBox="1"/>
          <p:nvPr/>
        </p:nvSpPr>
        <p:spPr>
          <a:xfrm>
            <a:off x="6065294" y="5661248"/>
            <a:ext cx="1693092" cy="369332"/>
          </a:xfrm>
          <a:prstGeom prst="rect">
            <a:avLst/>
          </a:prstGeom>
          <a:noFill/>
        </p:spPr>
        <p:txBody>
          <a:bodyPr wrap="none" rtlCol="0">
            <a:spAutoFit/>
          </a:bodyPr>
          <a:lstStyle/>
          <a:p>
            <a:r>
              <a:rPr lang="zh-CN" altLang="en-US" b="1" dirty="0"/>
              <a:t>稳定</a:t>
            </a:r>
            <a:r>
              <a:rPr lang="zh-CN" altLang="en-US" b="1" dirty="0" smtClean="0"/>
              <a:t>点：</a:t>
            </a:r>
            <a:r>
              <a:rPr lang="en-US" altLang="zh-CN" b="1" dirty="0" smtClean="0"/>
              <a:t>O</a:t>
            </a:r>
            <a:r>
              <a:rPr lang="zh-CN" altLang="en-US" b="1" dirty="0" smtClean="0"/>
              <a:t>、</a:t>
            </a:r>
            <a:r>
              <a:rPr lang="en-US" altLang="zh-CN" b="1" dirty="0" smtClean="0"/>
              <a:t>B</a:t>
            </a:r>
            <a:endParaRPr lang="zh-CN" altLang="en-US" b="1" dirty="0"/>
          </a:p>
        </p:txBody>
      </p:sp>
      <p:cxnSp>
        <p:nvCxnSpPr>
          <p:cNvPr id="9" name="直接连接符 8"/>
          <p:cNvCxnSpPr/>
          <p:nvPr/>
        </p:nvCxnSpPr>
        <p:spPr bwMode="auto">
          <a:xfrm>
            <a:off x="3228942" y="5517092"/>
            <a:ext cx="366713" cy="0"/>
          </a:xfrm>
          <a:prstGeom prst="line">
            <a:avLst/>
          </a:prstGeom>
          <a:solidFill>
            <a:schemeClr val="accent1"/>
          </a:solidFill>
          <a:ln w="19050" cap="flat" cmpd="sng" algn="ctr">
            <a:solidFill>
              <a:srgbClr val="FF0000"/>
            </a:solidFill>
            <a:prstDash val="solid"/>
            <a:round/>
            <a:headEnd type="none" w="med" len="med"/>
            <a:tailEnd type="none" w="med" len="med"/>
          </a:ln>
        </p:spPr>
      </p:cxnSp>
      <p:sp>
        <p:nvSpPr>
          <p:cNvPr id="10" name="TextBox 9"/>
          <p:cNvSpPr txBox="1"/>
          <p:nvPr/>
        </p:nvSpPr>
        <p:spPr>
          <a:xfrm>
            <a:off x="3640456" y="5338875"/>
            <a:ext cx="1715534" cy="307777"/>
          </a:xfrm>
          <a:prstGeom prst="rect">
            <a:avLst/>
          </a:prstGeom>
          <a:noFill/>
        </p:spPr>
        <p:txBody>
          <a:bodyPr wrap="none" rtlCol="0">
            <a:spAutoFit/>
          </a:bodyPr>
          <a:lstStyle/>
          <a:p>
            <a:r>
              <a:rPr lang="zh-CN" altLang="en-US" sz="1400" dirty="0" smtClean="0"/>
              <a:t>反馈</a:t>
            </a:r>
            <a:r>
              <a:rPr lang="zh-CN" altLang="en-US" sz="1400" dirty="0" smtClean="0">
                <a:latin typeface="Times New Roman" panose="02020603050405020304" pitchFamily="18" charset="0"/>
                <a:cs typeface="Times New Roman" panose="02020603050405020304" pitchFamily="18" charset="0"/>
              </a:rPr>
              <a:t>特性曲线 </a:t>
            </a:r>
            <a:r>
              <a:rPr lang="en-US" altLang="zh-CN" sz="1400" i="1" dirty="0" err="1" smtClean="0">
                <a:latin typeface="Times New Roman" panose="02020603050405020304" pitchFamily="18" charset="0"/>
                <a:cs typeface="Times New Roman" panose="02020603050405020304" pitchFamily="18" charset="0"/>
              </a:rPr>
              <a:t>U</a:t>
            </a:r>
            <a:r>
              <a:rPr lang="en-US" altLang="zh-CN" sz="1400" i="1" baseline="-25000" dirty="0" err="1" smtClean="0">
                <a:latin typeface="Times New Roman" panose="02020603050405020304" pitchFamily="18" charset="0"/>
                <a:cs typeface="Times New Roman" panose="02020603050405020304" pitchFamily="18" charset="0"/>
              </a:rPr>
              <a:t>o</a:t>
            </a:r>
            <a:r>
              <a:rPr lang="en-US" altLang="zh-CN" sz="1400" dirty="0" smtClean="0">
                <a:latin typeface="Times New Roman" panose="02020603050405020304" pitchFamily="18" charset="0"/>
                <a:cs typeface="Times New Roman" panose="02020603050405020304" pitchFamily="18" charset="0"/>
              </a:rPr>
              <a:t>/</a:t>
            </a:r>
            <a:r>
              <a:rPr lang="en-US" altLang="zh-CN" sz="1400" i="1" dirty="0" err="1" smtClean="0">
                <a:latin typeface="Times New Roman" panose="02020603050405020304" pitchFamily="18" charset="0"/>
                <a:cs typeface="Times New Roman" panose="02020603050405020304" pitchFamily="18" charset="0"/>
              </a:rPr>
              <a:t>U</a:t>
            </a:r>
            <a:r>
              <a:rPr lang="en-US" altLang="zh-CN" sz="1400" i="1" baseline="-25000" dirty="0" err="1" smtClean="0">
                <a:latin typeface="Times New Roman" panose="02020603050405020304" pitchFamily="18" charset="0"/>
                <a:cs typeface="Times New Roman" panose="02020603050405020304" pitchFamily="18" charset="0"/>
              </a:rPr>
              <a:t>f</a:t>
            </a:r>
            <a:endParaRPr lang="en-US" altLang="zh-CN" sz="1400" i="1" baseline="-25000" dirty="0" smtClean="0">
              <a:latin typeface="Times New Roman" panose="02020603050405020304" pitchFamily="18" charset="0"/>
              <a:cs typeface="Times New Roman" panose="02020603050405020304" pitchFamily="18" charset="0"/>
            </a:endParaRPr>
          </a:p>
        </p:txBody>
      </p:sp>
      <p:sp>
        <p:nvSpPr>
          <p:cNvPr id="11" name="Line 75"/>
          <p:cNvSpPr>
            <a:spLocks noChangeShapeType="1"/>
          </p:cNvSpPr>
          <p:nvPr/>
        </p:nvSpPr>
        <p:spPr bwMode="auto">
          <a:xfrm flipH="1">
            <a:off x="3209169" y="5112979"/>
            <a:ext cx="386485"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TextBox 11"/>
          <p:cNvSpPr txBox="1"/>
          <p:nvPr/>
        </p:nvSpPr>
        <p:spPr>
          <a:xfrm>
            <a:off x="3635896" y="4959090"/>
            <a:ext cx="1749197" cy="307777"/>
          </a:xfrm>
          <a:prstGeom prst="rect">
            <a:avLst/>
          </a:prstGeom>
          <a:noFill/>
        </p:spPr>
        <p:txBody>
          <a:bodyPr wrap="none" rtlCol="0">
            <a:spAutoFit/>
          </a:bodyPr>
          <a:lstStyle/>
          <a:p>
            <a:r>
              <a:rPr lang="zh-CN" altLang="en-US" sz="1400" dirty="0"/>
              <a:t>放大</a:t>
            </a:r>
            <a:r>
              <a:rPr lang="zh-CN" altLang="en-US" sz="1400" dirty="0" smtClean="0">
                <a:latin typeface="Times New Roman" panose="02020603050405020304" pitchFamily="18" charset="0"/>
                <a:cs typeface="Times New Roman" panose="02020603050405020304" pitchFamily="18" charset="0"/>
              </a:rPr>
              <a:t>特性曲线 </a:t>
            </a:r>
            <a:r>
              <a:rPr lang="en-US" altLang="zh-CN" sz="1400" i="1" dirty="0" err="1" smtClean="0">
                <a:latin typeface="Times New Roman" panose="02020603050405020304" pitchFamily="18" charset="0"/>
                <a:cs typeface="Times New Roman" panose="02020603050405020304" pitchFamily="18" charset="0"/>
              </a:rPr>
              <a:t>U</a:t>
            </a:r>
            <a:r>
              <a:rPr lang="en-US" altLang="zh-CN" sz="1400" i="1" baseline="-25000" dirty="0" err="1" smtClean="0">
                <a:latin typeface="Times New Roman" panose="02020603050405020304" pitchFamily="18" charset="0"/>
                <a:cs typeface="Times New Roman" panose="02020603050405020304" pitchFamily="18" charset="0"/>
              </a:rPr>
              <a:t>o</a:t>
            </a:r>
            <a:r>
              <a:rPr lang="en-US" altLang="zh-CN" sz="1400" dirty="0" smtClean="0">
                <a:latin typeface="Times New Roman" panose="02020603050405020304" pitchFamily="18" charset="0"/>
                <a:cs typeface="Times New Roman" panose="02020603050405020304" pitchFamily="18" charset="0"/>
              </a:rPr>
              <a:t>/</a:t>
            </a:r>
            <a:r>
              <a:rPr lang="en-US" altLang="zh-CN" sz="1400" i="1" dirty="0" err="1" smtClean="0">
                <a:latin typeface="Times New Roman" panose="02020603050405020304" pitchFamily="18" charset="0"/>
                <a:cs typeface="Times New Roman" panose="02020603050405020304" pitchFamily="18" charset="0"/>
              </a:rPr>
              <a:t>U</a:t>
            </a:r>
            <a:r>
              <a:rPr lang="en-US" altLang="zh-CN" sz="1400" baseline="-25000" dirty="0" err="1" smtClean="0">
                <a:latin typeface="Times New Roman" panose="02020603050405020304" pitchFamily="18" charset="0"/>
                <a:cs typeface="Times New Roman" panose="02020603050405020304" pitchFamily="18" charset="0"/>
              </a:rPr>
              <a:t>i</a:t>
            </a:r>
            <a:endParaRPr lang="en-US" altLang="zh-CN" sz="1400" baseline="-25000" dirty="0" smtClean="0">
              <a:latin typeface="Times New Roman" panose="02020603050405020304" pitchFamily="18" charset="0"/>
              <a:cs typeface="Times New Roman" panose="02020603050405020304" pitchFamily="18" charset="0"/>
            </a:endParaRPr>
          </a:p>
        </p:txBody>
      </p:sp>
      <p:sp>
        <p:nvSpPr>
          <p:cNvPr id="13" name="Line 9"/>
          <p:cNvSpPr>
            <a:spLocks noChangeShapeType="1"/>
          </p:cNvSpPr>
          <p:nvPr/>
        </p:nvSpPr>
        <p:spPr bwMode="auto">
          <a:xfrm flipH="1">
            <a:off x="1208214" y="2420888"/>
            <a:ext cx="2715714" cy="213129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9"/>
          <p:cNvSpPr>
            <a:spLocks noChangeShapeType="1"/>
          </p:cNvSpPr>
          <p:nvPr/>
        </p:nvSpPr>
        <p:spPr bwMode="auto">
          <a:xfrm flipH="1">
            <a:off x="5292080" y="2420888"/>
            <a:ext cx="2520280" cy="220750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787847343"/>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64</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第四章知识点梳理</a:t>
            </a:r>
            <a:endParaRPr lang="zh-CN" altLang="en-US" sz="2400" b="1" dirty="0">
              <a:solidFill>
                <a:prstClr val="black"/>
              </a:solidFill>
            </a:endParaRPr>
          </a:p>
        </p:txBody>
      </p:sp>
      <p:sp>
        <p:nvSpPr>
          <p:cNvPr id="6" name="TextBox 5"/>
          <p:cNvSpPr txBox="1"/>
          <p:nvPr/>
        </p:nvSpPr>
        <p:spPr>
          <a:xfrm>
            <a:off x="539552" y="836712"/>
            <a:ext cx="3438762" cy="369332"/>
          </a:xfrm>
          <a:prstGeom prst="rect">
            <a:avLst/>
          </a:prstGeom>
          <a:noFill/>
        </p:spPr>
        <p:txBody>
          <a:bodyPr wrap="none" rtlCol="0">
            <a:spAutoFit/>
          </a:bodyPr>
          <a:lstStyle/>
          <a:p>
            <a:r>
              <a:rPr lang="zh-CN" altLang="en-US" b="1" dirty="0"/>
              <a:t>三</a:t>
            </a:r>
            <a:r>
              <a:rPr lang="zh-CN" altLang="en-US" b="1" dirty="0" smtClean="0"/>
              <a:t>、判断振荡器是否有可能起振</a:t>
            </a:r>
            <a:endParaRPr lang="zh-CN" altLang="en-US" b="1" dirty="0"/>
          </a:p>
        </p:txBody>
      </p:sp>
      <p:sp>
        <p:nvSpPr>
          <p:cNvPr id="2" name="TextBox 1"/>
          <p:cNvSpPr txBox="1"/>
          <p:nvPr/>
        </p:nvSpPr>
        <p:spPr>
          <a:xfrm>
            <a:off x="839280" y="1340768"/>
            <a:ext cx="7757252" cy="1015663"/>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2000" b="1" dirty="0" smtClean="0"/>
              <a:t>简单判断：使用</a:t>
            </a:r>
            <a:r>
              <a:rPr lang="zh-CN" altLang="en-US" sz="2000" b="1" dirty="0" smtClean="0">
                <a:solidFill>
                  <a:srgbClr val="0070C0"/>
                </a:solidFill>
              </a:rPr>
              <a:t>瞬时极性法</a:t>
            </a:r>
            <a:r>
              <a:rPr lang="zh-CN" altLang="en-US" sz="2000" b="1" dirty="0" smtClean="0"/>
              <a:t>判断是否构成</a:t>
            </a:r>
            <a:r>
              <a:rPr lang="zh-CN" altLang="en-US" sz="2000" b="1" dirty="0" smtClean="0">
                <a:solidFill>
                  <a:srgbClr val="0070C0"/>
                </a:solidFill>
              </a:rPr>
              <a:t>正反馈；</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zh-CN" altLang="en-US" sz="2000" b="1" dirty="0" smtClean="0"/>
              <a:t>若反馈回路与输入端相连的端口瞬时极性相同，则构成正反馈；</a:t>
            </a:r>
            <a:endParaRPr lang="en-US" altLang="zh-CN" sz="2000" b="1" dirty="0" smtClean="0"/>
          </a:p>
        </p:txBody>
      </p:sp>
      <p:graphicFrame>
        <p:nvGraphicFramePr>
          <p:cNvPr id="3" name="对象 2"/>
          <p:cNvGraphicFramePr>
            <a:graphicFrameLocks noChangeAspect="1"/>
          </p:cNvGraphicFramePr>
          <p:nvPr>
            <p:extLst>
              <p:ext uri="{D42A27DB-BD31-4B8C-83A1-F6EECF244321}">
                <p14:modId xmlns:p14="http://schemas.microsoft.com/office/powerpoint/2010/main" val="442333782"/>
              </p:ext>
            </p:extLst>
          </p:nvPr>
        </p:nvGraphicFramePr>
        <p:xfrm>
          <a:off x="1863205" y="2769852"/>
          <a:ext cx="5453559" cy="1383234"/>
        </p:xfrm>
        <a:graphic>
          <a:graphicData uri="http://schemas.openxmlformats.org/presentationml/2006/ole">
            <mc:AlternateContent xmlns:mc="http://schemas.openxmlformats.org/markup-compatibility/2006">
              <mc:Choice xmlns:v="urn:schemas-microsoft-com:vml" Requires="v">
                <p:oleObj spid="_x0000_s54139" r:id="rId4" imgW="3453079" imgH="876300" progId="Visio.Drawing.11">
                  <p:embed/>
                </p:oleObj>
              </mc:Choice>
              <mc:Fallback>
                <p:oleObj r:id="rId4" imgW="3453079" imgH="876300"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3205" y="2769852"/>
                        <a:ext cx="5453559" cy="1383234"/>
                      </a:xfrm>
                      <a:prstGeom prst="rect">
                        <a:avLst/>
                      </a:prstGeom>
                      <a:solidFill>
                        <a:srgbClr val="CCFFFF"/>
                      </a:solidFill>
                      <a:ln>
                        <a:noFill/>
                      </a:ln>
                      <a:effec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235828647"/>
              </p:ext>
            </p:extLst>
          </p:nvPr>
        </p:nvGraphicFramePr>
        <p:xfrm>
          <a:off x="1835696" y="4437112"/>
          <a:ext cx="5428109" cy="1591718"/>
        </p:xfrm>
        <a:graphic>
          <a:graphicData uri="http://schemas.openxmlformats.org/presentationml/2006/ole">
            <mc:AlternateContent xmlns:mc="http://schemas.openxmlformats.org/markup-compatibility/2006">
              <mc:Choice xmlns:v="urn:schemas-microsoft-com:vml" Requires="v">
                <p:oleObj spid="_x0000_s54140" name="Visio" r:id="rId6" imgW="4317704" imgH="1270577" progId="Visio.Drawing.11">
                  <p:embed/>
                </p:oleObj>
              </mc:Choice>
              <mc:Fallback>
                <p:oleObj name="Visio" r:id="rId6" imgW="4317704" imgH="1270577" progId="Visio.Drawing.11">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5696" y="4437112"/>
                        <a:ext cx="5428109" cy="1591718"/>
                      </a:xfrm>
                      <a:prstGeom prst="rect">
                        <a:avLst/>
                      </a:prstGeom>
                      <a:solidFill>
                        <a:srgbClr val="CCCCFF"/>
                      </a:solidFill>
                      <a:ln>
                        <a:noFill/>
                      </a:ln>
                    </p:spPr>
                  </p:pic>
                </p:oleObj>
              </mc:Fallback>
            </mc:AlternateContent>
          </a:graphicData>
        </a:graphic>
      </p:graphicFrame>
    </p:spTree>
    <p:extLst>
      <p:ext uri="{BB962C8B-B14F-4D97-AF65-F5344CB8AC3E}">
        <p14:creationId xmlns:p14="http://schemas.microsoft.com/office/powerpoint/2010/main" val="849594535"/>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65</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第四章知识点梳理</a:t>
            </a:r>
            <a:endParaRPr lang="zh-CN" altLang="en-US" sz="2400" b="1" dirty="0">
              <a:solidFill>
                <a:prstClr val="black"/>
              </a:solidFill>
            </a:endParaRPr>
          </a:p>
        </p:txBody>
      </p:sp>
      <p:sp>
        <p:nvSpPr>
          <p:cNvPr id="6" name="TextBox 5"/>
          <p:cNvSpPr txBox="1"/>
          <p:nvPr/>
        </p:nvSpPr>
        <p:spPr>
          <a:xfrm>
            <a:off x="539552" y="836712"/>
            <a:ext cx="2044149" cy="369332"/>
          </a:xfrm>
          <a:prstGeom prst="rect">
            <a:avLst/>
          </a:prstGeom>
          <a:noFill/>
        </p:spPr>
        <p:txBody>
          <a:bodyPr wrap="none" rtlCol="0">
            <a:spAutoFit/>
          </a:bodyPr>
          <a:lstStyle/>
          <a:p>
            <a:r>
              <a:rPr lang="zh-CN" altLang="en-US" b="1" dirty="0" smtClean="0"/>
              <a:t>四、三点式振荡器</a:t>
            </a:r>
            <a:endParaRPr lang="zh-CN" altLang="en-US" b="1" dirty="0"/>
          </a:p>
        </p:txBody>
      </p:sp>
      <p:graphicFrame>
        <p:nvGraphicFramePr>
          <p:cNvPr id="7" name="对象 6"/>
          <p:cNvGraphicFramePr>
            <a:graphicFrameLocks noChangeAspect="1"/>
          </p:cNvGraphicFramePr>
          <p:nvPr>
            <p:extLst>
              <p:ext uri="{D42A27DB-BD31-4B8C-83A1-F6EECF244321}">
                <p14:modId xmlns:p14="http://schemas.microsoft.com/office/powerpoint/2010/main" val="1192984086"/>
              </p:ext>
            </p:extLst>
          </p:nvPr>
        </p:nvGraphicFramePr>
        <p:xfrm>
          <a:off x="1259632" y="1412776"/>
          <a:ext cx="1930400" cy="1757363"/>
        </p:xfrm>
        <a:graphic>
          <a:graphicData uri="http://schemas.openxmlformats.org/presentationml/2006/ole">
            <mc:AlternateContent xmlns:mc="http://schemas.openxmlformats.org/markup-compatibility/2006">
              <mc:Choice xmlns:v="urn:schemas-microsoft-com:vml" Requires="v">
                <p:oleObj spid="_x0000_s20191" r:id="rId4" imgW="1089965" imgH="904951" progId="Visio.Drawing.11">
                  <p:embed/>
                </p:oleObj>
              </mc:Choice>
              <mc:Fallback>
                <p:oleObj r:id="rId4" imgW="1089965" imgH="904951" progId="Visio.Drawing.11">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9632" y="1412776"/>
                        <a:ext cx="1930400" cy="175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783989590"/>
              </p:ext>
            </p:extLst>
          </p:nvPr>
        </p:nvGraphicFramePr>
        <p:xfrm>
          <a:off x="4847382" y="1412776"/>
          <a:ext cx="2039938" cy="1817687"/>
        </p:xfrm>
        <a:graphic>
          <a:graphicData uri="http://schemas.openxmlformats.org/presentationml/2006/ole">
            <mc:AlternateContent xmlns:mc="http://schemas.openxmlformats.org/markup-compatibility/2006">
              <mc:Choice xmlns:v="urn:schemas-microsoft-com:vml" Requires="v">
                <p:oleObj spid="_x0000_s20192" r:id="rId6" imgW="1110691" imgH="936955" progId="Visio.Drawing.11">
                  <p:embed/>
                </p:oleObj>
              </mc:Choice>
              <mc:Fallback>
                <p:oleObj r:id="rId6" imgW="1110691" imgH="936955" progId="Visio.Drawing.11">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7382" y="1412776"/>
                        <a:ext cx="2039938" cy="181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 name="TextBox 30"/>
          <p:cNvSpPr txBox="1"/>
          <p:nvPr/>
        </p:nvSpPr>
        <p:spPr>
          <a:xfrm>
            <a:off x="611560" y="3201357"/>
            <a:ext cx="4968552" cy="3323987"/>
          </a:xfrm>
          <a:prstGeom prst="rect">
            <a:avLst/>
          </a:prstGeom>
          <a:noFill/>
        </p:spPr>
        <p:txBody>
          <a:bodyPr wrap="square" rtlCol="0">
            <a:spAutoFit/>
          </a:bodyPr>
          <a:lstStyle/>
          <a:p>
            <a:pPr>
              <a:lnSpc>
                <a:spcPct val="150000"/>
              </a:lnSpc>
            </a:pPr>
            <a:r>
              <a:rPr lang="zh-CN" altLang="en-US" sz="2000" b="1" dirty="0">
                <a:solidFill>
                  <a:srgbClr val="0070C0"/>
                </a:solidFill>
                <a:latin typeface="Times New Roman" panose="02020603050405020304" pitchFamily="18" charset="0"/>
                <a:cs typeface="Times New Roman" panose="02020603050405020304" pitchFamily="18" charset="0"/>
              </a:rPr>
              <a:t>三点式</a:t>
            </a:r>
            <a:r>
              <a:rPr lang="zh-CN" altLang="en-US" sz="2000" b="1" dirty="0" smtClean="0">
                <a:solidFill>
                  <a:srgbClr val="0070C0"/>
                </a:solidFill>
                <a:latin typeface="Times New Roman" panose="02020603050405020304" pitchFamily="18" charset="0"/>
                <a:cs typeface="Times New Roman" panose="02020603050405020304" pitchFamily="18" charset="0"/>
              </a:rPr>
              <a:t>振荡器的构成原则（相位条件）</a:t>
            </a:r>
            <a:endParaRPr lang="en-US" altLang="zh-CN" sz="2000" b="1" dirty="0" smtClean="0">
              <a:solidFill>
                <a:srgbClr val="0070C0"/>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l"/>
            </a:pPr>
            <a:r>
              <a:rPr lang="zh-CN" altLang="en-US" sz="2000" b="1" dirty="0" smtClean="0">
                <a:solidFill>
                  <a:srgbClr val="0070C0"/>
                </a:solidFill>
                <a:latin typeface="Times New Roman" panose="02020603050405020304" pitchFamily="18" charset="0"/>
                <a:cs typeface="Times New Roman" panose="02020603050405020304" pitchFamily="18" charset="0"/>
              </a:rPr>
              <a:t>晶体管： </a:t>
            </a:r>
            <a:r>
              <a:rPr lang="zh-CN" altLang="en-US" sz="2000" b="1" dirty="0" smtClean="0">
                <a:solidFill>
                  <a:srgbClr val="FF0000"/>
                </a:solidFill>
                <a:latin typeface="Times New Roman" panose="02020603050405020304" pitchFamily="18" charset="0"/>
                <a:cs typeface="Times New Roman" panose="02020603050405020304" pitchFamily="18" charset="0"/>
              </a:rPr>
              <a:t>“</a:t>
            </a:r>
            <a:r>
              <a:rPr lang="zh-CN" altLang="en-US" sz="2000" b="1" dirty="0">
                <a:solidFill>
                  <a:srgbClr val="FF0000"/>
                </a:solidFill>
                <a:latin typeface="Times New Roman" panose="02020603050405020304" pitchFamily="18" charset="0"/>
                <a:cs typeface="Times New Roman" panose="02020603050405020304" pitchFamily="18" charset="0"/>
              </a:rPr>
              <a:t>射同基反”</a:t>
            </a:r>
            <a:endParaRPr lang="en-US" altLang="zh-CN" sz="2000" b="1" dirty="0" smtClean="0">
              <a:solidFill>
                <a:srgbClr val="FF0000"/>
              </a:solidFill>
              <a:latin typeface="Times New Roman" panose="02020603050405020304" pitchFamily="18" charset="0"/>
              <a:cs typeface="Times New Roman" panose="02020603050405020304" pitchFamily="18" charset="0"/>
            </a:endParaRPr>
          </a:p>
          <a:p>
            <a:pPr marL="342900" indent="-342900">
              <a:lnSpc>
                <a:spcPct val="150000"/>
              </a:lnSpc>
              <a:buSzPct val="70000"/>
              <a:buFont typeface="Wingdings" panose="05000000000000000000" pitchFamily="2" charset="2"/>
              <a:buChar char="p"/>
            </a:pPr>
            <a:r>
              <a:rPr lang="en-US" altLang="zh-CN" sz="2000" b="1" dirty="0" smtClean="0">
                <a:latin typeface="Times New Roman" panose="02020603050405020304" pitchFamily="18" charset="0"/>
                <a:cs typeface="Times New Roman" panose="02020603050405020304" pitchFamily="18" charset="0"/>
              </a:rPr>
              <a:t>C-E:X</a:t>
            </a:r>
            <a:r>
              <a:rPr lang="en-US" altLang="zh-CN" sz="2000" b="1" baseline="-25000" dirty="0" smtClean="0">
                <a:latin typeface="Times New Roman" panose="02020603050405020304" pitchFamily="18" charset="0"/>
                <a:cs typeface="Times New Roman" panose="02020603050405020304" pitchFamily="18" charset="0"/>
              </a:rPr>
              <a:t>1</a:t>
            </a:r>
          </a:p>
          <a:p>
            <a:pPr marL="342900" indent="-342900">
              <a:lnSpc>
                <a:spcPct val="150000"/>
              </a:lnSpc>
              <a:buSzPct val="70000"/>
              <a:buFont typeface="Wingdings" panose="05000000000000000000" pitchFamily="2" charset="2"/>
              <a:buChar char="p"/>
            </a:pPr>
            <a:r>
              <a:rPr lang="en-US" altLang="zh-CN" sz="2000" b="1" dirty="0" smtClean="0">
                <a:latin typeface="Times New Roman" panose="02020603050405020304" pitchFamily="18" charset="0"/>
                <a:cs typeface="Times New Roman" panose="02020603050405020304" pitchFamily="18" charset="0"/>
              </a:rPr>
              <a:t>B-E</a:t>
            </a:r>
            <a:r>
              <a:rPr lang="en-US" altLang="zh-CN" sz="2000" b="1" dirty="0">
                <a:latin typeface="Times New Roman" panose="02020603050405020304" pitchFamily="18" charset="0"/>
                <a:cs typeface="Times New Roman" panose="02020603050405020304" pitchFamily="18" charset="0"/>
              </a:rPr>
              <a:t>:</a:t>
            </a:r>
            <a:r>
              <a:rPr lang="en-US" altLang="zh-CN" sz="2000" b="1" dirty="0" smtClean="0">
                <a:latin typeface="Times New Roman" panose="02020603050405020304" pitchFamily="18" charset="0"/>
                <a:cs typeface="Times New Roman" panose="02020603050405020304" pitchFamily="18" charset="0"/>
              </a:rPr>
              <a:t>X</a:t>
            </a:r>
            <a:r>
              <a:rPr lang="en-US" altLang="zh-CN" sz="2000" b="1" baseline="-25000" dirty="0" smtClean="0">
                <a:latin typeface="Times New Roman" panose="02020603050405020304" pitchFamily="18" charset="0"/>
                <a:cs typeface="Times New Roman" panose="02020603050405020304" pitchFamily="18" charset="0"/>
              </a:rPr>
              <a:t>2</a:t>
            </a:r>
            <a:endParaRPr lang="en-US" altLang="zh-CN" sz="2000" b="1" dirty="0" smtClean="0">
              <a:latin typeface="Times New Roman" panose="02020603050405020304" pitchFamily="18" charset="0"/>
              <a:cs typeface="Times New Roman" panose="02020603050405020304" pitchFamily="18" charset="0"/>
            </a:endParaRPr>
          </a:p>
          <a:p>
            <a:pPr marL="342900" indent="-342900">
              <a:lnSpc>
                <a:spcPct val="150000"/>
              </a:lnSpc>
              <a:buSzPct val="70000"/>
              <a:buFont typeface="Wingdings" panose="05000000000000000000" pitchFamily="2" charset="2"/>
              <a:buChar char="p"/>
            </a:pPr>
            <a:r>
              <a:rPr lang="en-US" altLang="zh-CN" sz="2000" b="1" dirty="0" smtClean="0">
                <a:latin typeface="Times New Roman" panose="02020603050405020304" pitchFamily="18" charset="0"/>
                <a:cs typeface="Times New Roman" panose="02020603050405020304" pitchFamily="18" charset="0"/>
              </a:rPr>
              <a:t>B-C:X</a:t>
            </a:r>
            <a:r>
              <a:rPr lang="en-US" altLang="zh-CN" sz="2000" b="1" baseline="-25000" dirty="0" smtClean="0">
                <a:latin typeface="Times New Roman" panose="02020603050405020304" pitchFamily="18" charset="0"/>
                <a:cs typeface="Times New Roman" panose="02020603050405020304" pitchFamily="18" charset="0"/>
              </a:rPr>
              <a:t>3</a:t>
            </a:r>
          </a:p>
          <a:p>
            <a:pPr marL="342900" indent="-342900">
              <a:lnSpc>
                <a:spcPct val="150000"/>
              </a:lnSpc>
              <a:buSzPct val="70000"/>
              <a:buFont typeface="Wingdings" panose="05000000000000000000" pitchFamily="2" charset="2"/>
              <a:buChar char="p"/>
            </a:pPr>
            <a:r>
              <a:rPr lang="zh-CN" altLang="en-US" sz="2000" b="1" dirty="0" smtClean="0">
                <a:solidFill>
                  <a:srgbClr val="0070C0"/>
                </a:solidFill>
                <a:latin typeface="Times New Roman" panose="02020603050405020304" pitchFamily="18" charset="0"/>
                <a:cs typeface="Times New Roman" panose="02020603050405020304" pitchFamily="18" charset="0"/>
              </a:rPr>
              <a:t>场效应管： </a:t>
            </a:r>
            <a:r>
              <a:rPr lang="zh-CN" altLang="en-US" sz="2000" b="1" dirty="0" smtClean="0">
                <a:solidFill>
                  <a:srgbClr val="FF0000"/>
                </a:solidFill>
                <a:latin typeface="Times New Roman" panose="02020603050405020304" pitchFamily="18" charset="0"/>
                <a:cs typeface="Times New Roman" panose="02020603050405020304" pitchFamily="18" charset="0"/>
              </a:rPr>
              <a:t>“源同栅反”</a:t>
            </a:r>
            <a:endParaRPr lang="en-US" altLang="zh-CN" sz="2000" b="1" dirty="0" smtClean="0">
              <a:solidFill>
                <a:srgbClr val="FF0000"/>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l"/>
            </a:pPr>
            <a:r>
              <a:rPr lang="zh-CN" altLang="en-US" sz="2000" b="1" dirty="0" smtClean="0">
                <a:solidFill>
                  <a:srgbClr val="00589A"/>
                </a:solidFill>
                <a:latin typeface="Times New Roman" panose="02020603050405020304" pitchFamily="18" charset="0"/>
                <a:cs typeface="Times New Roman" panose="02020603050405020304" pitchFamily="18" charset="0"/>
              </a:rPr>
              <a:t>对运放：</a:t>
            </a:r>
            <a:r>
              <a:rPr lang="zh-CN" altLang="en-US" sz="2000" b="1" dirty="0" smtClean="0">
                <a:solidFill>
                  <a:srgbClr val="FF0000"/>
                </a:solidFill>
                <a:latin typeface="Times New Roman" panose="02020603050405020304" pitchFamily="18" charset="0"/>
                <a:cs typeface="Times New Roman" panose="02020603050405020304" pitchFamily="18" charset="0"/>
              </a:rPr>
              <a:t>“同相端相同，反相端相反”</a:t>
            </a:r>
            <a:endParaRPr lang="en-US" altLang="zh-CN" sz="2000" b="1" dirty="0" smtClean="0">
              <a:solidFill>
                <a:srgbClr val="FF000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5364088" y="3491716"/>
            <a:ext cx="3312368" cy="400110"/>
          </a:xfrm>
          <a:prstGeom prst="rect">
            <a:avLst/>
          </a:prstGeom>
          <a:noFill/>
        </p:spPr>
        <p:txBody>
          <a:bodyPr wrap="square" rtlCol="0">
            <a:spAutoFit/>
          </a:bodyPr>
          <a:lstStyle/>
          <a:p>
            <a:r>
              <a:rPr lang="zh-CN" altLang="en-US" sz="2000" b="1" dirty="0" smtClean="0"/>
              <a:t>谐振回路频率即是振荡频率：</a:t>
            </a:r>
            <a:endParaRPr lang="zh-CN" altLang="en-US" sz="2000" b="1" dirty="0"/>
          </a:p>
        </p:txBody>
      </p:sp>
      <p:graphicFrame>
        <p:nvGraphicFramePr>
          <p:cNvPr id="13" name="对象 12"/>
          <p:cNvGraphicFramePr>
            <a:graphicFrameLocks noChangeAspect="1"/>
          </p:cNvGraphicFramePr>
          <p:nvPr>
            <p:extLst>
              <p:ext uri="{D42A27DB-BD31-4B8C-83A1-F6EECF244321}">
                <p14:modId xmlns:p14="http://schemas.microsoft.com/office/powerpoint/2010/main" val="2116333495"/>
              </p:ext>
            </p:extLst>
          </p:nvPr>
        </p:nvGraphicFramePr>
        <p:xfrm>
          <a:off x="6169025" y="4076700"/>
          <a:ext cx="1703388" cy="787400"/>
        </p:xfrm>
        <a:graphic>
          <a:graphicData uri="http://schemas.openxmlformats.org/presentationml/2006/ole">
            <mc:AlternateContent xmlns:mc="http://schemas.openxmlformats.org/markup-compatibility/2006">
              <mc:Choice xmlns:v="urn:schemas-microsoft-com:vml" Requires="v">
                <p:oleObj spid="_x0000_s20193" name="Equation" r:id="rId8" imgW="990360" imgH="457200" progId="Equation.DSMT4">
                  <p:embed/>
                </p:oleObj>
              </mc:Choice>
              <mc:Fallback>
                <p:oleObj name="Equation" r:id="rId8" imgW="990360" imgH="457200" progId="Equation.DSMT4">
                  <p:embed/>
                  <p:pic>
                    <p:nvPicPr>
                      <p:cNvPr id="0" name="对象 44"/>
                      <p:cNvPicPr>
                        <a:picLocks noChangeAspect="1" noChangeArrowheads="1"/>
                      </p:cNvPicPr>
                      <p:nvPr/>
                    </p:nvPicPr>
                    <p:blipFill>
                      <a:blip r:embed="rId9"/>
                      <a:srcRect/>
                      <a:stretch>
                        <a:fillRect/>
                      </a:stretch>
                    </p:blipFill>
                    <p:spPr bwMode="auto">
                      <a:xfrm>
                        <a:off x="6169025" y="4076700"/>
                        <a:ext cx="1703388"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28759143"/>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66</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第四章知识点梳理</a:t>
            </a:r>
            <a:endParaRPr lang="zh-CN" altLang="en-US" sz="2400" b="1" dirty="0">
              <a:solidFill>
                <a:prstClr val="black"/>
              </a:solidFill>
            </a:endParaRPr>
          </a:p>
        </p:txBody>
      </p:sp>
      <p:sp>
        <p:nvSpPr>
          <p:cNvPr id="6" name="TextBox 5"/>
          <p:cNvSpPr txBox="1"/>
          <p:nvPr/>
        </p:nvSpPr>
        <p:spPr>
          <a:xfrm>
            <a:off x="539552" y="836712"/>
            <a:ext cx="5530681" cy="369332"/>
          </a:xfrm>
          <a:prstGeom prst="rect">
            <a:avLst/>
          </a:prstGeom>
          <a:noFill/>
        </p:spPr>
        <p:txBody>
          <a:bodyPr wrap="none" rtlCol="0">
            <a:spAutoFit/>
          </a:bodyPr>
          <a:lstStyle/>
          <a:p>
            <a:r>
              <a:rPr lang="zh-CN" altLang="en-US" b="1" dirty="0"/>
              <a:t>五</a:t>
            </a:r>
            <a:r>
              <a:rPr lang="zh-CN" altLang="en-US" b="1" dirty="0" smtClean="0"/>
              <a:t>、普通电感三点式振荡器、电容三点式振荡器对比</a:t>
            </a:r>
            <a:endParaRPr lang="zh-CN" altLang="en-US" b="1" dirty="0"/>
          </a:p>
        </p:txBody>
      </p:sp>
      <p:sp>
        <p:nvSpPr>
          <p:cNvPr id="7" name="Rectangle 14"/>
          <p:cNvSpPr>
            <a:spLocks noChangeArrowheads="1"/>
          </p:cNvSpPr>
          <p:nvPr/>
        </p:nvSpPr>
        <p:spPr bwMode="auto">
          <a:xfrm>
            <a:off x="457200" y="1412776"/>
            <a:ext cx="8218488" cy="4104456"/>
          </a:xfrm>
          <a:prstGeom prst="rect">
            <a:avLst/>
          </a:prstGeom>
          <a:noFill/>
          <a:ln w="9525">
            <a:noFill/>
            <a:miter lim="800000"/>
            <a:headEnd/>
            <a:tailEnd/>
          </a:ln>
        </p:spPr>
        <p:txBody>
          <a:bodyPr/>
          <a:lstStyle/>
          <a:p>
            <a:pPr marL="273050" indent="-273050" algn="l">
              <a:lnSpc>
                <a:spcPct val="150000"/>
              </a:lnSpc>
              <a:buFont typeface="Wingdings" pitchFamily="2" charset="2"/>
              <a:buNone/>
              <a:defRPr/>
            </a:pPr>
            <a:r>
              <a:rPr lang="zh-CN" altLang="en-US" sz="2400" dirty="0">
                <a:solidFill>
                  <a:schemeClr val="accent1"/>
                </a:solidFill>
                <a:latin typeface="Arial" pitchFamily="34" charset="0"/>
                <a:ea typeface="方正舒体" pitchFamily="2" charset="-122"/>
              </a:rPr>
              <a:t>从</a:t>
            </a:r>
            <a:r>
              <a:rPr lang="zh-CN" altLang="en-US" sz="2400" b="1" dirty="0">
                <a:solidFill>
                  <a:schemeClr val="accent1"/>
                </a:solidFill>
                <a:latin typeface="Arial" pitchFamily="34" charset="0"/>
                <a:ea typeface="方正舒体" pitchFamily="2" charset="-122"/>
              </a:rPr>
              <a:t>输出波形、最高振荡频率、调整频率</a:t>
            </a:r>
            <a:r>
              <a:rPr lang="zh-CN" altLang="en-US" sz="2400" dirty="0">
                <a:solidFill>
                  <a:schemeClr val="accent1"/>
                </a:solidFill>
                <a:latin typeface="Arial" pitchFamily="34" charset="0"/>
                <a:ea typeface="方正舒体" pitchFamily="2" charset="-122"/>
              </a:rPr>
              <a:t>三方面比较</a:t>
            </a:r>
            <a:endParaRPr lang="en-US" sz="2400" dirty="0">
              <a:solidFill>
                <a:schemeClr val="accent1"/>
              </a:solidFill>
              <a:latin typeface="Arial" pitchFamily="34" charset="0"/>
              <a:ea typeface="方正舒体" pitchFamily="2" charset="-122"/>
            </a:endParaRPr>
          </a:p>
          <a:p>
            <a:pPr marL="273050" indent="-273050" algn="l">
              <a:lnSpc>
                <a:spcPct val="150000"/>
              </a:lnSpc>
              <a:defRPr/>
            </a:pPr>
            <a:r>
              <a:rPr lang="en-US" altLang="zh-CN" sz="2400" dirty="0" smtClean="0">
                <a:solidFill>
                  <a:srgbClr val="0000FF"/>
                </a:solidFill>
                <a:latin typeface="Arial" pitchFamily="34" charset="0"/>
              </a:rPr>
              <a:t>1</a:t>
            </a:r>
            <a:r>
              <a:rPr lang="zh-CN" altLang="en-US" sz="2400" dirty="0" smtClean="0">
                <a:solidFill>
                  <a:srgbClr val="0000FF"/>
                </a:solidFill>
                <a:latin typeface="Arial" pitchFamily="34" charset="0"/>
              </a:rPr>
              <a:t>）电容</a:t>
            </a:r>
            <a:r>
              <a:rPr lang="zh-CN" altLang="en-US" sz="2400" dirty="0">
                <a:solidFill>
                  <a:srgbClr val="0000FF"/>
                </a:solidFill>
                <a:latin typeface="Arial" pitchFamily="34" charset="0"/>
              </a:rPr>
              <a:t>三点式</a:t>
            </a:r>
            <a:r>
              <a:rPr lang="zh-CN" altLang="en-US" sz="2400" dirty="0" smtClean="0">
                <a:solidFill>
                  <a:srgbClr val="0000FF"/>
                </a:solidFill>
                <a:latin typeface="Arial" pitchFamily="34" charset="0"/>
              </a:rPr>
              <a:t>振荡器</a:t>
            </a:r>
            <a:r>
              <a:rPr lang="zh-CN" altLang="en-US" sz="2400" dirty="0">
                <a:solidFill>
                  <a:srgbClr val="0000FF"/>
                </a:solidFill>
                <a:latin typeface="Arial" pitchFamily="34" charset="0"/>
              </a:rPr>
              <a:t>电路的输出波形质量好</a:t>
            </a:r>
            <a:r>
              <a:rPr lang="zh-CN" altLang="en-US" sz="1400" dirty="0">
                <a:solidFill>
                  <a:schemeClr val="tx1"/>
                </a:solidFill>
                <a:latin typeface="Arial" pitchFamily="34" charset="0"/>
                <a:ea typeface="幼圆" pitchFamily="49" charset="-122"/>
              </a:rPr>
              <a:t>反馈电压取自电容时，电容对于高次谐波容抗小，滤除高次谐波的能力强，而电感对高次谐波呈现的阻抗大</a:t>
            </a:r>
          </a:p>
          <a:p>
            <a:pPr marL="273050" indent="-273050" algn="l">
              <a:lnSpc>
                <a:spcPct val="150000"/>
              </a:lnSpc>
              <a:defRPr/>
            </a:pPr>
            <a:r>
              <a:rPr lang="en-US" altLang="zh-CN" sz="2400" dirty="0" smtClean="0">
                <a:solidFill>
                  <a:srgbClr val="0000FF"/>
                </a:solidFill>
                <a:latin typeface="Arial" pitchFamily="34" charset="0"/>
              </a:rPr>
              <a:t>2</a:t>
            </a:r>
            <a:r>
              <a:rPr lang="zh-CN" altLang="en-US" sz="2400" dirty="0" smtClean="0">
                <a:solidFill>
                  <a:srgbClr val="0000FF"/>
                </a:solidFill>
                <a:latin typeface="Arial" pitchFamily="34" charset="0"/>
              </a:rPr>
              <a:t>）电容</a:t>
            </a:r>
            <a:r>
              <a:rPr lang="zh-CN" altLang="en-US" sz="2400" dirty="0">
                <a:solidFill>
                  <a:srgbClr val="0000FF"/>
                </a:solidFill>
                <a:latin typeface="Arial" pitchFamily="34" charset="0"/>
              </a:rPr>
              <a:t>三点式</a:t>
            </a:r>
            <a:r>
              <a:rPr lang="zh-CN" altLang="en-US" sz="2400" dirty="0" smtClean="0">
                <a:solidFill>
                  <a:srgbClr val="0000FF"/>
                </a:solidFill>
                <a:latin typeface="Arial" pitchFamily="34" charset="0"/>
              </a:rPr>
              <a:t>振荡器</a:t>
            </a:r>
            <a:r>
              <a:rPr lang="zh-CN" altLang="en-US" sz="2400" dirty="0">
                <a:solidFill>
                  <a:srgbClr val="0000FF"/>
                </a:solidFill>
                <a:latin typeface="Arial" pitchFamily="34" charset="0"/>
              </a:rPr>
              <a:t>能够振荡的最高频率较高</a:t>
            </a:r>
            <a:r>
              <a:rPr lang="zh-CN" altLang="en-US" sz="1400" dirty="0">
                <a:solidFill>
                  <a:schemeClr val="tx1"/>
                </a:solidFill>
                <a:latin typeface="Arial" pitchFamily="34" charset="0"/>
                <a:ea typeface="幼圆" pitchFamily="49" charset="-122"/>
              </a:rPr>
              <a:t>可达上千兆。</a:t>
            </a:r>
            <a:r>
              <a:rPr lang="zh-CN" altLang="en-US" sz="1400" dirty="0" smtClean="0">
                <a:solidFill>
                  <a:schemeClr val="tx1"/>
                </a:solidFill>
                <a:latin typeface="Arial" pitchFamily="34" charset="0"/>
                <a:ea typeface="幼圆" pitchFamily="49" charset="-122"/>
              </a:rPr>
              <a:t>电感</a:t>
            </a:r>
            <a:r>
              <a:rPr lang="zh-CN" altLang="en-US" sz="1400" dirty="0">
                <a:latin typeface="Arial" pitchFamily="34" charset="0"/>
                <a:ea typeface="幼圆" pitchFamily="49" charset="-122"/>
              </a:rPr>
              <a:t>三点</a:t>
            </a:r>
            <a:r>
              <a:rPr lang="zh-CN" altLang="en-US" sz="1400" dirty="0" smtClean="0">
                <a:solidFill>
                  <a:schemeClr val="tx1"/>
                </a:solidFill>
                <a:latin typeface="Arial" pitchFamily="34" charset="0"/>
                <a:ea typeface="幼圆" pitchFamily="49" charset="-122"/>
              </a:rPr>
              <a:t>式</a:t>
            </a:r>
            <a:r>
              <a:rPr lang="zh-CN" altLang="en-US" sz="1400" dirty="0">
                <a:solidFill>
                  <a:schemeClr val="tx1"/>
                </a:solidFill>
                <a:latin typeface="Arial" pitchFamily="34" charset="0"/>
                <a:ea typeface="幼圆" pitchFamily="49" charset="-122"/>
              </a:rPr>
              <a:t>振荡器中，晶体管的结电容并联在</a:t>
            </a:r>
            <a:r>
              <a:rPr lang="en-US" sz="1400" dirty="0">
                <a:solidFill>
                  <a:schemeClr val="tx1"/>
                </a:solidFill>
                <a:latin typeface="Arial" pitchFamily="34" charset="0"/>
                <a:ea typeface="幼圆" pitchFamily="49" charset="-122"/>
              </a:rPr>
              <a:t>L1</a:t>
            </a:r>
            <a:r>
              <a:rPr lang="zh-CN" altLang="en-US" sz="1400" dirty="0">
                <a:solidFill>
                  <a:schemeClr val="tx1"/>
                </a:solidFill>
                <a:latin typeface="Arial" pitchFamily="34" charset="0"/>
                <a:ea typeface="幼圆" pitchFamily="49" charset="-122"/>
              </a:rPr>
              <a:t>和</a:t>
            </a:r>
            <a:r>
              <a:rPr lang="en-US" sz="1400" dirty="0">
                <a:solidFill>
                  <a:schemeClr val="tx1"/>
                </a:solidFill>
                <a:latin typeface="Arial" pitchFamily="34" charset="0"/>
                <a:ea typeface="幼圆" pitchFamily="49" charset="-122"/>
              </a:rPr>
              <a:t>L2</a:t>
            </a:r>
            <a:r>
              <a:rPr lang="zh-CN" altLang="en-US" sz="1400" dirty="0">
                <a:solidFill>
                  <a:schemeClr val="tx1"/>
                </a:solidFill>
                <a:latin typeface="Arial" pitchFamily="34" charset="0"/>
                <a:ea typeface="幼圆" pitchFamily="49" charset="-122"/>
              </a:rPr>
              <a:t>上，频率较高时影响较大，可改变回路的电抗性质而破坏了相位平衡条件。一般只能达几十兆</a:t>
            </a:r>
          </a:p>
          <a:p>
            <a:pPr marL="273050" indent="-273050" algn="l">
              <a:lnSpc>
                <a:spcPct val="150000"/>
              </a:lnSpc>
              <a:defRPr/>
            </a:pPr>
            <a:r>
              <a:rPr lang="en-US" altLang="zh-CN" sz="2400" dirty="0" smtClean="0">
                <a:solidFill>
                  <a:srgbClr val="0000FF"/>
                </a:solidFill>
                <a:latin typeface="Arial" pitchFamily="34" charset="0"/>
              </a:rPr>
              <a:t>3</a:t>
            </a:r>
            <a:r>
              <a:rPr lang="zh-CN" altLang="en-US" sz="2400" dirty="0" smtClean="0">
                <a:solidFill>
                  <a:srgbClr val="0000FF"/>
                </a:solidFill>
                <a:latin typeface="Arial" pitchFamily="34" charset="0"/>
              </a:rPr>
              <a:t>）电容三点式振荡器若要通过调整可变电容来调整谐振频率，会影响反馈系数。而电感</a:t>
            </a:r>
            <a:r>
              <a:rPr lang="zh-CN" altLang="en-US" sz="2400" dirty="0">
                <a:solidFill>
                  <a:srgbClr val="0000FF"/>
                </a:solidFill>
                <a:latin typeface="Arial" pitchFamily="34" charset="0"/>
              </a:rPr>
              <a:t>三点</a:t>
            </a:r>
            <a:r>
              <a:rPr lang="zh-CN" altLang="en-US" sz="2400" dirty="0" smtClean="0">
                <a:solidFill>
                  <a:srgbClr val="0000FF"/>
                </a:solidFill>
                <a:latin typeface="Arial" pitchFamily="34" charset="0"/>
              </a:rPr>
              <a:t>式振荡器则不会。</a:t>
            </a:r>
            <a:r>
              <a:rPr lang="zh-CN" altLang="en-US" sz="1400" dirty="0" smtClean="0">
                <a:solidFill>
                  <a:schemeClr val="tx1"/>
                </a:solidFill>
                <a:latin typeface="Arial" pitchFamily="34" charset="0"/>
                <a:ea typeface="幼圆" pitchFamily="49" charset="-122"/>
              </a:rPr>
              <a:t>电容</a:t>
            </a:r>
            <a:r>
              <a:rPr lang="zh-CN" altLang="en-US" sz="1400" dirty="0">
                <a:solidFill>
                  <a:schemeClr val="tx1"/>
                </a:solidFill>
                <a:latin typeface="Arial" pitchFamily="34" charset="0"/>
                <a:ea typeface="幼圆" pitchFamily="49" charset="-122"/>
              </a:rPr>
              <a:t>回授式中改变两个电容中的任一个都会同时改变反馈系数</a:t>
            </a:r>
          </a:p>
        </p:txBody>
      </p:sp>
      <p:sp>
        <p:nvSpPr>
          <p:cNvPr id="8" name="TextBox 7"/>
          <p:cNvSpPr txBox="1"/>
          <p:nvPr/>
        </p:nvSpPr>
        <p:spPr>
          <a:xfrm>
            <a:off x="1011624" y="5733256"/>
            <a:ext cx="7411003" cy="400110"/>
          </a:xfrm>
          <a:prstGeom prst="rect">
            <a:avLst/>
          </a:prstGeom>
          <a:noFill/>
        </p:spPr>
        <p:txBody>
          <a:bodyPr wrap="none" rtlCol="0">
            <a:spAutoFit/>
          </a:bodyPr>
          <a:lstStyle/>
          <a:p>
            <a:r>
              <a:rPr lang="zh-CN" altLang="en-US" sz="2000" b="1" dirty="0" smtClean="0">
                <a:solidFill>
                  <a:srgbClr val="FF3399"/>
                </a:solidFill>
              </a:rPr>
              <a:t>电容三点式振荡器的应用性更强，缺点：频率调整影响反馈系数</a:t>
            </a:r>
            <a:endParaRPr lang="zh-CN" altLang="en-US" sz="2000" b="1" dirty="0">
              <a:solidFill>
                <a:srgbClr val="FF3399"/>
              </a:solidFill>
            </a:endParaRPr>
          </a:p>
        </p:txBody>
      </p:sp>
    </p:spTree>
    <p:extLst>
      <p:ext uri="{BB962C8B-B14F-4D97-AF65-F5344CB8AC3E}">
        <p14:creationId xmlns:p14="http://schemas.microsoft.com/office/powerpoint/2010/main" val="4090144149"/>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67</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第四章知识点梳理</a:t>
            </a:r>
            <a:endParaRPr lang="zh-CN" altLang="en-US" sz="2400" b="1" dirty="0">
              <a:solidFill>
                <a:prstClr val="black"/>
              </a:solidFill>
            </a:endParaRPr>
          </a:p>
        </p:txBody>
      </p:sp>
      <p:sp>
        <p:nvSpPr>
          <p:cNvPr id="6" name="TextBox 5"/>
          <p:cNvSpPr txBox="1"/>
          <p:nvPr/>
        </p:nvSpPr>
        <p:spPr>
          <a:xfrm>
            <a:off x="539552" y="836712"/>
            <a:ext cx="2973891" cy="369332"/>
          </a:xfrm>
          <a:prstGeom prst="rect">
            <a:avLst/>
          </a:prstGeom>
          <a:noFill/>
        </p:spPr>
        <p:txBody>
          <a:bodyPr wrap="none" rtlCol="0">
            <a:spAutoFit/>
          </a:bodyPr>
          <a:lstStyle/>
          <a:p>
            <a:r>
              <a:rPr lang="zh-CN" altLang="en-US" b="1" dirty="0"/>
              <a:t>六</a:t>
            </a:r>
            <a:r>
              <a:rPr lang="zh-CN" altLang="en-US" b="1" dirty="0" smtClean="0"/>
              <a:t>、改进电容三点式振荡器</a:t>
            </a:r>
            <a:endParaRPr lang="zh-CN" altLang="en-US" b="1" dirty="0"/>
          </a:p>
        </p:txBody>
      </p:sp>
      <p:sp>
        <p:nvSpPr>
          <p:cNvPr id="31" name="TextBox 30"/>
          <p:cNvSpPr txBox="1"/>
          <p:nvPr/>
        </p:nvSpPr>
        <p:spPr>
          <a:xfrm>
            <a:off x="395536" y="1340768"/>
            <a:ext cx="8424936" cy="37856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smtClean="0">
                <a:solidFill>
                  <a:srgbClr val="00B050"/>
                </a:solidFill>
                <a:latin typeface="Times New Roman" panose="02020603050405020304" pitchFamily="18" charset="0"/>
                <a:cs typeface="Times New Roman" panose="02020603050405020304" pitchFamily="18" charset="0"/>
              </a:rPr>
              <a:t>普通电容三点式振荡器</a:t>
            </a:r>
            <a:r>
              <a:rPr lang="zh-CN" altLang="en-US" sz="2000" b="1" dirty="0" smtClean="0">
                <a:latin typeface="Times New Roman" panose="02020603050405020304" pitchFamily="18" charset="0"/>
                <a:cs typeface="Times New Roman" panose="02020603050405020304" pitchFamily="18" charset="0"/>
              </a:rPr>
              <a:t>缺点：通过调整电容改变振荡频率，会影响反馈系数；</a:t>
            </a:r>
            <a:endParaRPr lang="en-US" altLang="zh-CN" sz="2000" b="1" dirty="0" smtClean="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smtClean="0">
                <a:solidFill>
                  <a:srgbClr val="00B050"/>
                </a:solidFill>
                <a:latin typeface="Times New Roman" panose="02020603050405020304" pitchFamily="18" charset="0"/>
                <a:cs typeface="Times New Roman" panose="02020603050405020304" pitchFamily="18" charset="0"/>
              </a:rPr>
              <a:t>改进电容三点式振荡器：</a:t>
            </a:r>
            <a:r>
              <a:rPr lang="zh-CN" altLang="en-US" sz="2000" b="1" dirty="0" smtClean="0">
                <a:solidFill>
                  <a:schemeClr val="accent6">
                    <a:lumMod val="75000"/>
                  </a:schemeClr>
                </a:solidFill>
                <a:latin typeface="Times New Roman" panose="02020603050405020304" pitchFamily="18" charset="0"/>
                <a:cs typeface="Times New Roman" panose="02020603050405020304" pitchFamily="18" charset="0"/>
              </a:rPr>
              <a:t>克拉泼电路、西勒电路</a:t>
            </a:r>
            <a:endParaRPr lang="en-US" altLang="zh-CN" sz="2000" b="1" dirty="0" smtClean="0">
              <a:solidFill>
                <a:schemeClr val="accent6">
                  <a:lumMod val="75000"/>
                </a:schemeClr>
              </a:solidFill>
              <a:latin typeface="Times New Roman" panose="02020603050405020304" pitchFamily="18" charset="0"/>
              <a:cs typeface="Times New Roman" panose="02020603050405020304" pitchFamily="18" charset="0"/>
            </a:endParaRPr>
          </a:p>
          <a:p>
            <a:pPr>
              <a:lnSpc>
                <a:spcPct val="150000"/>
              </a:lnSpc>
            </a:pPr>
            <a:r>
              <a:rPr lang="en-US" altLang="zh-CN" sz="2000" b="1" dirty="0">
                <a:latin typeface="Times New Roman" panose="02020603050405020304" pitchFamily="18" charset="0"/>
                <a:cs typeface="Times New Roman" panose="02020603050405020304" pitchFamily="18" charset="0"/>
              </a:rPr>
              <a:t> </a:t>
            </a:r>
            <a:r>
              <a:rPr lang="en-US" altLang="zh-CN" sz="2000" b="1" dirty="0" smtClean="0">
                <a:latin typeface="Times New Roman" panose="02020603050405020304" pitchFamily="18" charset="0"/>
                <a:cs typeface="Times New Roman" panose="02020603050405020304" pitchFamily="18" charset="0"/>
              </a:rPr>
              <a:t>     </a:t>
            </a:r>
            <a:r>
              <a:rPr lang="zh-CN" altLang="en-US" sz="2000" b="1" dirty="0" smtClean="0">
                <a:solidFill>
                  <a:schemeClr val="accent6">
                    <a:lumMod val="75000"/>
                  </a:schemeClr>
                </a:solidFill>
                <a:latin typeface="Times New Roman" panose="02020603050405020304" pitchFamily="18" charset="0"/>
                <a:cs typeface="Times New Roman" panose="02020603050405020304" pitchFamily="18" charset="0"/>
              </a:rPr>
              <a:t>克拉泼电路</a:t>
            </a:r>
            <a:r>
              <a:rPr lang="zh-CN" altLang="en-US" sz="2000" b="1" dirty="0" smtClean="0">
                <a:latin typeface="Times New Roman" panose="02020603050405020304" pitchFamily="18" charset="0"/>
                <a:cs typeface="Times New Roman" panose="02020603050405020304" pitchFamily="18" charset="0"/>
              </a:rPr>
              <a:t>优点：提高频率稳定性，且通过调整电容改变振荡频率不会影响反馈系数；</a:t>
            </a:r>
            <a:endParaRPr lang="en-US" altLang="zh-CN" sz="2000" b="1" dirty="0" smtClean="0">
              <a:latin typeface="Times New Roman" panose="02020603050405020304" pitchFamily="18" charset="0"/>
              <a:cs typeface="Times New Roman" panose="02020603050405020304" pitchFamily="18" charset="0"/>
            </a:endParaRPr>
          </a:p>
          <a:p>
            <a:pPr>
              <a:lnSpc>
                <a:spcPct val="150000"/>
              </a:lnSpc>
            </a:pPr>
            <a:r>
              <a:rPr lang="en-US" altLang="zh-CN" sz="2000" b="1" dirty="0">
                <a:latin typeface="Times New Roman" panose="02020603050405020304" pitchFamily="18" charset="0"/>
                <a:cs typeface="Times New Roman" panose="02020603050405020304" pitchFamily="18" charset="0"/>
              </a:rPr>
              <a:t> </a:t>
            </a:r>
            <a:r>
              <a:rPr lang="en-US" altLang="zh-CN" sz="2000" b="1" dirty="0" smtClean="0">
                <a:latin typeface="Times New Roman" panose="02020603050405020304" pitchFamily="18" charset="0"/>
                <a:cs typeface="Times New Roman" panose="02020603050405020304" pitchFamily="18" charset="0"/>
              </a:rPr>
              <a:t>                          </a:t>
            </a:r>
            <a:r>
              <a:rPr lang="zh-CN" altLang="en-US" sz="2000" b="1" dirty="0" smtClean="0">
                <a:latin typeface="Times New Roman" panose="02020603050405020304" pitchFamily="18" charset="0"/>
                <a:cs typeface="Times New Roman" panose="02020603050405020304" pitchFamily="18" charset="0"/>
              </a:rPr>
              <a:t>缺点：工作频率较高时，可能停振；</a:t>
            </a:r>
            <a:endParaRPr lang="en-US" altLang="zh-CN" sz="2000" b="1" dirty="0" smtClean="0">
              <a:latin typeface="Times New Roman" panose="02020603050405020304" pitchFamily="18" charset="0"/>
              <a:cs typeface="Times New Roman" panose="02020603050405020304" pitchFamily="18" charset="0"/>
            </a:endParaRPr>
          </a:p>
          <a:p>
            <a:pPr>
              <a:lnSpc>
                <a:spcPct val="150000"/>
              </a:lnSpc>
            </a:pPr>
            <a:r>
              <a:rPr lang="en-US" altLang="zh-CN" sz="2000" b="1" dirty="0">
                <a:latin typeface="Times New Roman" panose="02020603050405020304" pitchFamily="18" charset="0"/>
                <a:cs typeface="Times New Roman" panose="02020603050405020304" pitchFamily="18" charset="0"/>
              </a:rPr>
              <a:t> </a:t>
            </a:r>
            <a:r>
              <a:rPr lang="en-US" altLang="zh-CN" sz="2000" b="1" dirty="0" smtClean="0">
                <a:latin typeface="Times New Roman" panose="02020603050405020304" pitchFamily="18" charset="0"/>
                <a:cs typeface="Times New Roman" panose="02020603050405020304" pitchFamily="18" charset="0"/>
              </a:rPr>
              <a:t>     </a:t>
            </a:r>
            <a:r>
              <a:rPr lang="zh-CN" altLang="en-US" sz="2000" b="1" dirty="0" smtClean="0">
                <a:solidFill>
                  <a:schemeClr val="accent6">
                    <a:lumMod val="75000"/>
                  </a:schemeClr>
                </a:solidFill>
                <a:latin typeface="Times New Roman" panose="02020603050405020304" pitchFamily="18" charset="0"/>
                <a:cs typeface="Times New Roman" panose="02020603050405020304" pitchFamily="18" charset="0"/>
              </a:rPr>
              <a:t>西勒电容</a:t>
            </a:r>
            <a:r>
              <a:rPr lang="zh-CN" altLang="en-US" sz="2000" b="1" dirty="0" smtClean="0">
                <a:latin typeface="Times New Roman" panose="02020603050405020304" pitchFamily="18" charset="0"/>
                <a:cs typeface="Times New Roman" panose="02020603050405020304" pitchFamily="18" charset="0"/>
              </a:rPr>
              <a:t>优点：不会停振，稳定性高，改变振荡频率的同时不会影响反馈系数。</a:t>
            </a:r>
            <a:endParaRPr lang="en-US" altLang="zh-CN" sz="2000" b="1" dirty="0" smtClean="0">
              <a:latin typeface="Times New Roman" panose="02020603050405020304" pitchFamily="18" charset="0"/>
              <a:cs typeface="Times New Roman" panose="02020603050405020304" pitchFamily="18" charset="0"/>
            </a:endParaRPr>
          </a:p>
        </p:txBody>
      </p:sp>
      <p:sp>
        <p:nvSpPr>
          <p:cNvPr id="10" name="TextBox 9"/>
          <p:cNvSpPr txBox="1"/>
          <p:nvPr/>
        </p:nvSpPr>
        <p:spPr>
          <a:xfrm>
            <a:off x="691952" y="5445224"/>
            <a:ext cx="2741456" cy="369332"/>
          </a:xfrm>
          <a:prstGeom prst="rect">
            <a:avLst/>
          </a:prstGeom>
          <a:noFill/>
        </p:spPr>
        <p:txBody>
          <a:bodyPr wrap="none" rtlCol="0">
            <a:spAutoFit/>
          </a:bodyPr>
          <a:lstStyle/>
          <a:p>
            <a:r>
              <a:rPr lang="zh-CN" altLang="en-US" b="1" dirty="0"/>
              <a:t>六</a:t>
            </a:r>
            <a:r>
              <a:rPr lang="zh-CN" altLang="en-US" b="1" dirty="0" smtClean="0"/>
              <a:t>、掌握交流通路的画法</a:t>
            </a:r>
            <a:endParaRPr lang="zh-CN" altLang="en-US" b="1" dirty="0"/>
          </a:p>
        </p:txBody>
      </p:sp>
    </p:spTree>
    <p:extLst>
      <p:ext uri="{BB962C8B-B14F-4D97-AF65-F5344CB8AC3E}">
        <p14:creationId xmlns:p14="http://schemas.microsoft.com/office/powerpoint/2010/main" val="1235826055"/>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68</a:t>
            </a:fld>
            <a:endParaRPr lang="en-US" altLang="zh-CN" dirty="0">
              <a:solidFill>
                <a:srgbClr val="000000"/>
              </a:solidFill>
            </a:endParaRPr>
          </a:p>
        </p:txBody>
      </p:sp>
      <p:sp>
        <p:nvSpPr>
          <p:cNvPr id="6" name="TextBox 5"/>
          <p:cNvSpPr txBox="1"/>
          <p:nvPr/>
        </p:nvSpPr>
        <p:spPr>
          <a:xfrm>
            <a:off x="539552" y="404664"/>
            <a:ext cx="2276585" cy="369332"/>
          </a:xfrm>
          <a:prstGeom prst="rect">
            <a:avLst/>
          </a:prstGeom>
          <a:noFill/>
        </p:spPr>
        <p:txBody>
          <a:bodyPr wrap="none" rtlCol="0">
            <a:spAutoFit/>
          </a:bodyPr>
          <a:lstStyle/>
          <a:p>
            <a:r>
              <a:rPr lang="zh-CN" altLang="en-US" b="1" dirty="0" smtClean="0"/>
              <a:t>七、石英晶体振荡器</a:t>
            </a:r>
            <a:endParaRPr lang="zh-CN" altLang="en-US" b="1" dirty="0"/>
          </a:p>
        </p:txBody>
      </p:sp>
      <p:sp>
        <p:nvSpPr>
          <p:cNvPr id="31" name="TextBox 30"/>
          <p:cNvSpPr txBox="1"/>
          <p:nvPr/>
        </p:nvSpPr>
        <p:spPr>
          <a:xfrm>
            <a:off x="395536" y="692696"/>
            <a:ext cx="2952328" cy="4955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smtClean="0">
                <a:solidFill>
                  <a:schemeClr val="accent6">
                    <a:lumMod val="75000"/>
                  </a:schemeClr>
                </a:solidFill>
                <a:latin typeface="Times New Roman" panose="02020603050405020304" pitchFamily="18" charset="0"/>
                <a:cs typeface="Times New Roman" panose="02020603050405020304" pitchFamily="18" charset="0"/>
              </a:rPr>
              <a:t>石英晶体等效电路：</a:t>
            </a:r>
            <a:endParaRPr lang="en-US" altLang="zh-CN" sz="2000" b="1" dirty="0" smtClean="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7" name="矩形 6"/>
          <p:cNvSpPr/>
          <p:nvPr/>
        </p:nvSpPr>
        <p:spPr bwMode="auto">
          <a:xfrm>
            <a:off x="5292080" y="1127826"/>
            <a:ext cx="2261865" cy="2602127"/>
          </a:xfrm>
          <a:prstGeom prst="rect">
            <a:avLst/>
          </a:prstGeom>
          <a:solidFill>
            <a:srgbClr val="F8B6F8"/>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pic>
        <p:nvPicPr>
          <p:cNvPr id="8" name="Picture 5"/>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59632" y="1052736"/>
            <a:ext cx="6192688" cy="27523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1271934" y="1641721"/>
            <a:ext cx="461665" cy="1685718"/>
          </a:xfrm>
          <a:prstGeom prst="rect">
            <a:avLst/>
          </a:prstGeom>
          <a:noFill/>
        </p:spPr>
        <p:txBody>
          <a:bodyPr vert="eaVert" wrap="none" rtlCol="0">
            <a:spAutoFit/>
          </a:bodyPr>
          <a:lstStyle/>
          <a:p>
            <a:r>
              <a:rPr lang="zh-CN" altLang="en-US" b="1" dirty="0" smtClean="0">
                <a:solidFill>
                  <a:srgbClr val="0070C0"/>
                </a:solidFill>
              </a:rPr>
              <a:t>石英晶体的</a:t>
            </a:r>
            <a:r>
              <a:rPr lang="zh-CN" altLang="en-US" b="1" dirty="0">
                <a:solidFill>
                  <a:srgbClr val="0070C0"/>
                </a:solidFill>
              </a:rPr>
              <a:t>符号</a:t>
            </a:r>
          </a:p>
        </p:txBody>
      </p:sp>
      <p:sp>
        <p:nvSpPr>
          <p:cNvPr id="11" name="TextBox 10"/>
          <p:cNvSpPr txBox="1"/>
          <p:nvPr/>
        </p:nvSpPr>
        <p:spPr>
          <a:xfrm>
            <a:off x="2297361" y="1271842"/>
            <a:ext cx="430887" cy="2314095"/>
          </a:xfrm>
          <a:prstGeom prst="rect">
            <a:avLst/>
          </a:prstGeom>
          <a:noFill/>
        </p:spPr>
        <p:txBody>
          <a:bodyPr vert="eaVert" wrap="none" rtlCol="0">
            <a:spAutoFit/>
          </a:bodyPr>
          <a:lstStyle/>
          <a:p>
            <a:r>
              <a:rPr lang="zh-CN" altLang="en-US" sz="1600" b="1" dirty="0" smtClean="0">
                <a:solidFill>
                  <a:srgbClr val="0070C0"/>
                </a:solidFill>
              </a:rPr>
              <a:t>基音和泛音晶体等效电路</a:t>
            </a:r>
            <a:endParaRPr lang="zh-CN" altLang="en-US" sz="1600" b="1" dirty="0">
              <a:solidFill>
                <a:srgbClr val="0070C0"/>
              </a:solidFill>
            </a:endParaRPr>
          </a:p>
        </p:txBody>
      </p:sp>
      <p:sp>
        <p:nvSpPr>
          <p:cNvPr id="12" name="TextBox 11"/>
          <p:cNvSpPr txBox="1"/>
          <p:nvPr/>
        </p:nvSpPr>
        <p:spPr>
          <a:xfrm>
            <a:off x="5249689" y="1497705"/>
            <a:ext cx="461665" cy="1913344"/>
          </a:xfrm>
          <a:prstGeom prst="rect">
            <a:avLst/>
          </a:prstGeom>
          <a:noFill/>
        </p:spPr>
        <p:txBody>
          <a:bodyPr vert="eaVert" wrap="none" rtlCol="0">
            <a:spAutoFit/>
          </a:bodyPr>
          <a:lstStyle/>
          <a:p>
            <a:r>
              <a:rPr lang="zh-CN" altLang="en-US" b="1" dirty="0" smtClean="0">
                <a:solidFill>
                  <a:srgbClr val="0070C0"/>
                </a:solidFill>
              </a:rPr>
              <a:t>基音晶体等效电路</a:t>
            </a:r>
            <a:endParaRPr lang="zh-CN" altLang="en-US" b="1" dirty="0">
              <a:solidFill>
                <a:srgbClr val="0070C0"/>
              </a:solidFill>
            </a:endParaRPr>
          </a:p>
        </p:txBody>
      </p:sp>
      <p:pic>
        <p:nvPicPr>
          <p:cNvPr id="13" name="Picture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3573016"/>
            <a:ext cx="2507978" cy="27399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Group 3"/>
          <p:cNvGrpSpPr>
            <a:grpSpLocks/>
          </p:cNvGrpSpPr>
          <p:nvPr/>
        </p:nvGrpSpPr>
        <p:grpSpPr bwMode="auto">
          <a:xfrm>
            <a:off x="3816287" y="3858385"/>
            <a:ext cx="3790134" cy="1658847"/>
            <a:chOff x="0" y="0"/>
            <a:chExt cx="3000" cy="2366"/>
          </a:xfrm>
        </p:grpSpPr>
        <p:sp>
          <p:nvSpPr>
            <p:cNvPr id="15" name="Text Box 4"/>
            <p:cNvSpPr txBox="1">
              <a:spLocks noChangeArrowheads="1"/>
            </p:cNvSpPr>
            <p:nvPr/>
          </p:nvSpPr>
          <p:spPr bwMode="auto">
            <a:xfrm>
              <a:off x="204" y="0"/>
              <a:ext cx="2472"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003399"/>
                  </a:solidFill>
                  <a:latin typeface="Times New Roman" pitchFamily="18" charset="0"/>
                  <a:ea typeface="黑体" pitchFamily="49" charset="-122"/>
                </a:defRPr>
              </a:lvl1pPr>
              <a:lvl2pPr marL="742950" indent="-285750" eaLnBrk="0" hangingPunct="0">
                <a:defRPr sz="2000" b="1">
                  <a:solidFill>
                    <a:srgbClr val="003399"/>
                  </a:solidFill>
                  <a:latin typeface="Times New Roman" pitchFamily="18" charset="0"/>
                  <a:ea typeface="黑体" pitchFamily="49" charset="-122"/>
                </a:defRPr>
              </a:lvl2pPr>
              <a:lvl3pPr marL="1143000" indent="-228600" eaLnBrk="0" hangingPunct="0">
                <a:defRPr sz="2000" b="1">
                  <a:solidFill>
                    <a:srgbClr val="003399"/>
                  </a:solidFill>
                  <a:latin typeface="Times New Roman" pitchFamily="18" charset="0"/>
                  <a:ea typeface="黑体" pitchFamily="49" charset="-122"/>
                </a:defRPr>
              </a:lvl3pPr>
              <a:lvl4pPr marL="1600200" indent="-228600" eaLnBrk="0" hangingPunct="0">
                <a:defRPr sz="2000" b="1">
                  <a:solidFill>
                    <a:srgbClr val="003399"/>
                  </a:solidFill>
                  <a:latin typeface="Times New Roman" pitchFamily="18" charset="0"/>
                  <a:ea typeface="黑体" pitchFamily="49" charset="-122"/>
                </a:defRPr>
              </a:lvl4pPr>
              <a:lvl5pPr marL="2057400" indent="-228600" eaLnBrk="0" hangingPunct="0">
                <a:defRPr sz="2000" b="1">
                  <a:solidFill>
                    <a:srgbClr val="003399"/>
                  </a:solidFill>
                  <a:latin typeface="Times New Roman" pitchFamily="18" charset="0"/>
                  <a:ea typeface="黑体" pitchFamily="49"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9pPr>
            </a:lstStyle>
            <a:p>
              <a:pPr algn="l" eaLnBrk="1" hangingPunct="1">
                <a:spcBef>
                  <a:spcPct val="0"/>
                </a:spcBef>
                <a:buClrTx/>
                <a:buSzTx/>
                <a:buFont typeface="Wingdings" pitchFamily="2" charset="2"/>
                <a:buNone/>
              </a:pPr>
              <a:r>
                <a:rPr lang="zh-CN" altLang="en-US" sz="2400" dirty="0">
                  <a:solidFill>
                    <a:srgbClr val="0000CC"/>
                  </a:solidFill>
                  <a:ea typeface="宋体" pitchFamily="2" charset="-122"/>
                </a:rPr>
                <a:t>并联型晶体振荡器</a:t>
              </a:r>
            </a:p>
          </p:txBody>
        </p:sp>
        <p:sp>
          <p:nvSpPr>
            <p:cNvPr id="16" name="Text Box 5"/>
            <p:cNvSpPr txBox="1">
              <a:spLocks noChangeArrowheads="1"/>
            </p:cNvSpPr>
            <p:nvPr/>
          </p:nvSpPr>
          <p:spPr bwMode="auto">
            <a:xfrm>
              <a:off x="228" y="1708"/>
              <a:ext cx="2772"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003399"/>
                  </a:solidFill>
                  <a:latin typeface="Times New Roman" pitchFamily="18" charset="0"/>
                  <a:ea typeface="黑体" pitchFamily="49" charset="-122"/>
                </a:defRPr>
              </a:lvl1pPr>
              <a:lvl2pPr marL="742950" indent="-285750" eaLnBrk="0" hangingPunct="0">
                <a:defRPr sz="2000" b="1">
                  <a:solidFill>
                    <a:srgbClr val="003399"/>
                  </a:solidFill>
                  <a:latin typeface="Times New Roman" pitchFamily="18" charset="0"/>
                  <a:ea typeface="黑体" pitchFamily="49" charset="-122"/>
                </a:defRPr>
              </a:lvl2pPr>
              <a:lvl3pPr marL="1143000" indent="-228600" eaLnBrk="0" hangingPunct="0">
                <a:defRPr sz="2000" b="1">
                  <a:solidFill>
                    <a:srgbClr val="003399"/>
                  </a:solidFill>
                  <a:latin typeface="Times New Roman" pitchFamily="18" charset="0"/>
                  <a:ea typeface="黑体" pitchFamily="49" charset="-122"/>
                </a:defRPr>
              </a:lvl3pPr>
              <a:lvl4pPr marL="1600200" indent="-228600" eaLnBrk="0" hangingPunct="0">
                <a:defRPr sz="2000" b="1">
                  <a:solidFill>
                    <a:srgbClr val="003399"/>
                  </a:solidFill>
                  <a:latin typeface="Times New Roman" pitchFamily="18" charset="0"/>
                  <a:ea typeface="黑体" pitchFamily="49" charset="-122"/>
                </a:defRPr>
              </a:lvl4pPr>
              <a:lvl5pPr marL="2057400" indent="-228600" eaLnBrk="0" hangingPunct="0">
                <a:defRPr sz="2000" b="1">
                  <a:solidFill>
                    <a:srgbClr val="003399"/>
                  </a:solidFill>
                  <a:latin typeface="Times New Roman" pitchFamily="18" charset="0"/>
                  <a:ea typeface="黑体" pitchFamily="49"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9pPr>
            </a:lstStyle>
            <a:p>
              <a:pPr algn="l" eaLnBrk="1" hangingPunct="1">
                <a:spcBef>
                  <a:spcPct val="0"/>
                </a:spcBef>
                <a:buClrTx/>
                <a:buSzTx/>
                <a:buFont typeface="Wingdings" pitchFamily="2" charset="2"/>
                <a:buNone/>
              </a:pPr>
              <a:r>
                <a:rPr lang="zh-CN" altLang="en-US" sz="2400" dirty="0">
                  <a:solidFill>
                    <a:srgbClr val="0000CC"/>
                  </a:solidFill>
                  <a:ea typeface="宋体" pitchFamily="2" charset="-122"/>
                </a:rPr>
                <a:t>串联型晶体振荡器</a:t>
              </a:r>
            </a:p>
          </p:txBody>
        </p:sp>
        <p:sp>
          <p:nvSpPr>
            <p:cNvPr id="17" name="AutoShape 6"/>
            <p:cNvSpPr>
              <a:spLocks/>
            </p:cNvSpPr>
            <p:nvPr/>
          </p:nvSpPr>
          <p:spPr bwMode="auto">
            <a:xfrm>
              <a:off x="0" y="120"/>
              <a:ext cx="256" cy="1917"/>
            </a:xfrm>
            <a:prstGeom prst="leftBrace">
              <a:avLst>
                <a:gd name="adj1" fmla="val 46977"/>
                <a:gd name="adj2" fmla="val 50000"/>
              </a:avLst>
            </a:prstGeom>
            <a:noFill/>
            <a:ln w="9525" cmpd="sng">
              <a:solidFill>
                <a:schemeClr val="accent1"/>
              </a:solidFill>
              <a:round/>
              <a:headEnd/>
              <a:tailEnd/>
            </a:ln>
          </p:spPr>
          <p:txBody>
            <a:bodyPr wrap="square" anchor="ctr">
              <a:spAutoFit/>
            </a:bodyPr>
            <a:lstStyle/>
            <a:p>
              <a:pPr>
                <a:defRPr/>
              </a:pPr>
              <a:endParaRPr lang="zh-CN" altLang="en-US">
                <a:effectLst>
                  <a:outerShdw blurRad="38100" dist="38100" dir="2700000" algn="tl">
                    <a:srgbClr val="C0C0C0"/>
                  </a:outerShdw>
                </a:effectLst>
              </a:endParaRPr>
            </a:p>
          </p:txBody>
        </p:sp>
      </p:grpSp>
      <p:sp>
        <p:nvSpPr>
          <p:cNvPr id="3" name="TextBox 2"/>
          <p:cNvSpPr txBox="1"/>
          <p:nvPr/>
        </p:nvSpPr>
        <p:spPr>
          <a:xfrm>
            <a:off x="4114816" y="5589240"/>
            <a:ext cx="4777664" cy="923330"/>
          </a:xfrm>
          <a:prstGeom prst="rect">
            <a:avLst/>
          </a:prstGeom>
          <a:noFill/>
        </p:spPr>
        <p:txBody>
          <a:bodyPr wrap="square" rtlCol="0">
            <a:spAutoFit/>
          </a:bodyPr>
          <a:lstStyle/>
          <a:p>
            <a:r>
              <a:rPr lang="zh-CN" altLang="en-US" b="1" dirty="0">
                <a:ea typeface="宋体" pitchFamily="2" charset="-122"/>
              </a:rPr>
              <a:t> </a:t>
            </a:r>
            <a:r>
              <a:rPr lang="en-US" altLang="zh-CN" b="1" i="1" dirty="0">
                <a:ea typeface="宋体" pitchFamily="2" charset="-122"/>
              </a:rPr>
              <a:t>f </a:t>
            </a:r>
            <a:r>
              <a:rPr lang="en-US" altLang="zh-CN" b="1" dirty="0">
                <a:ea typeface="宋体" pitchFamily="2" charset="-122"/>
              </a:rPr>
              <a:t>= </a:t>
            </a:r>
            <a:r>
              <a:rPr lang="en-US" altLang="zh-CN" b="1" i="1" dirty="0">
                <a:ea typeface="宋体" pitchFamily="2" charset="-122"/>
              </a:rPr>
              <a:t>f</a:t>
            </a:r>
            <a:r>
              <a:rPr lang="en-US" altLang="zh-CN" b="1" i="1" baseline="-25000" dirty="0">
                <a:ea typeface="宋体" pitchFamily="2" charset="-122"/>
              </a:rPr>
              <a:t>s</a:t>
            </a:r>
            <a:r>
              <a:rPr lang="zh-CN" altLang="en-US" b="1" dirty="0">
                <a:ea typeface="宋体" pitchFamily="2" charset="-122"/>
              </a:rPr>
              <a:t>，晶体工作在串联谐振状态，在振荡器中用作</a:t>
            </a:r>
            <a:r>
              <a:rPr lang="zh-CN" altLang="en-US" b="1" dirty="0">
                <a:solidFill>
                  <a:srgbClr val="0000FF"/>
                </a:solidFill>
                <a:ea typeface="宋体" pitchFamily="2" charset="-122"/>
              </a:rPr>
              <a:t>高选择性</a:t>
            </a:r>
            <a:r>
              <a:rPr lang="zh-CN" altLang="en-US" b="1" dirty="0">
                <a:solidFill>
                  <a:srgbClr val="FF0066"/>
                </a:solidFill>
                <a:ea typeface="宋体" pitchFamily="2" charset="-122"/>
              </a:rPr>
              <a:t>短路元件。</a:t>
            </a:r>
          </a:p>
          <a:p>
            <a:endParaRPr lang="zh-CN" altLang="en-US" b="1" dirty="0"/>
          </a:p>
        </p:txBody>
      </p:sp>
      <p:sp>
        <p:nvSpPr>
          <p:cNvPr id="20" name="TextBox 19"/>
          <p:cNvSpPr txBox="1"/>
          <p:nvPr/>
        </p:nvSpPr>
        <p:spPr>
          <a:xfrm>
            <a:off x="4139952" y="4377878"/>
            <a:ext cx="4968552" cy="923330"/>
          </a:xfrm>
          <a:prstGeom prst="rect">
            <a:avLst/>
          </a:prstGeom>
          <a:noFill/>
        </p:spPr>
        <p:txBody>
          <a:bodyPr wrap="square" rtlCol="0">
            <a:spAutoFit/>
          </a:bodyPr>
          <a:lstStyle/>
          <a:p>
            <a:r>
              <a:rPr lang="zh-CN" altLang="en-US" b="1" dirty="0">
                <a:ea typeface="宋体" pitchFamily="2" charset="-122"/>
              </a:rPr>
              <a:t> </a:t>
            </a:r>
            <a:r>
              <a:rPr lang="en-US" altLang="zh-CN" b="1" i="1" dirty="0">
                <a:ea typeface="宋体" pitchFamily="2" charset="-122"/>
              </a:rPr>
              <a:t>f</a:t>
            </a:r>
            <a:r>
              <a:rPr lang="en-US" altLang="zh-CN" b="1" i="1" baseline="-25000" dirty="0">
                <a:ea typeface="宋体" pitchFamily="2" charset="-122"/>
              </a:rPr>
              <a:t>s</a:t>
            </a:r>
            <a:r>
              <a:rPr lang="en-US" altLang="zh-CN" b="1" dirty="0">
                <a:ea typeface="宋体" pitchFamily="2" charset="-122"/>
              </a:rPr>
              <a:t> &lt; </a:t>
            </a:r>
            <a:r>
              <a:rPr lang="en-US" altLang="zh-CN" b="1" i="1" dirty="0">
                <a:ea typeface="宋体" pitchFamily="2" charset="-122"/>
              </a:rPr>
              <a:t>f &lt; </a:t>
            </a:r>
            <a:r>
              <a:rPr lang="en-US" altLang="zh-CN" b="1" dirty="0">
                <a:ea typeface="宋体" pitchFamily="2" charset="-122"/>
              </a:rPr>
              <a:t> </a:t>
            </a:r>
            <a:r>
              <a:rPr lang="en-US" altLang="zh-CN" b="1" i="1" dirty="0" err="1">
                <a:ea typeface="宋体" pitchFamily="2" charset="-122"/>
              </a:rPr>
              <a:t>f</a:t>
            </a:r>
            <a:r>
              <a:rPr lang="en-US" altLang="zh-CN" b="1" i="1" baseline="-25000" dirty="0" err="1">
                <a:ea typeface="宋体" pitchFamily="2" charset="-122"/>
              </a:rPr>
              <a:t>p</a:t>
            </a:r>
            <a:r>
              <a:rPr lang="zh-CN" altLang="en-US" b="1" dirty="0">
                <a:ea typeface="宋体" pitchFamily="2" charset="-122"/>
              </a:rPr>
              <a:t>，晶体</a:t>
            </a:r>
            <a:r>
              <a:rPr lang="zh-CN" altLang="en-US" b="1" dirty="0">
                <a:solidFill>
                  <a:srgbClr val="FF0066"/>
                </a:solidFill>
                <a:ea typeface="宋体" pitchFamily="2" charset="-122"/>
              </a:rPr>
              <a:t>呈感性。</a:t>
            </a:r>
            <a:r>
              <a:rPr lang="zh-CN" altLang="en-US" b="1" dirty="0">
                <a:ea typeface="宋体" pitchFamily="2" charset="-122"/>
              </a:rPr>
              <a:t>晶体作为高</a:t>
            </a:r>
            <a:r>
              <a:rPr lang="en-US" altLang="zh-CN" b="1" dirty="0">
                <a:ea typeface="宋体" pitchFamily="2" charset="-122"/>
              </a:rPr>
              <a:t>Q</a:t>
            </a:r>
            <a:r>
              <a:rPr lang="zh-CN" altLang="en-US" b="1" dirty="0">
                <a:ea typeface="宋体" pitchFamily="2" charset="-122"/>
              </a:rPr>
              <a:t>元件与其它元件并联构成振动所需的并联谐振回路。</a:t>
            </a:r>
          </a:p>
          <a:p>
            <a:endParaRPr lang="zh-CN" altLang="en-US" b="1" dirty="0"/>
          </a:p>
        </p:txBody>
      </p:sp>
    </p:spTree>
    <p:extLst>
      <p:ext uri="{BB962C8B-B14F-4D97-AF65-F5344CB8AC3E}">
        <p14:creationId xmlns:p14="http://schemas.microsoft.com/office/powerpoint/2010/main" val="1333460640"/>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69</a:t>
            </a:fld>
            <a:endParaRPr lang="en-US" altLang="zh-CN" dirty="0">
              <a:solidFill>
                <a:srgbClr val="000000"/>
              </a:solidFill>
            </a:endParaRPr>
          </a:p>
        </p:txBody>
      </p:sp>
      <p:sp>
        <p:nvSpPr>
          <p:cNvPr id="5" name="TextBox 4"/>
          <p:cNvSpPr txBox="1"/>
          <p:nvPr/>
        </p:nvSpPr>
        <p:spPr>
          <a:xfrm>
            <a:off x="3261713" y="3010999"/>
            <a:ext cx="3039615" cy="461665"/>
          </a:xfrm>
          <a:prstGeom prst="rect">
            <a:avLst/>
          </a:prstGeom>
          <a:noFill/>
        </p:spPr>
        <p:txBody>
          <a:bodyPr wrap="none" rtlCol="0">
            <a:spAutoFit/>
          </a:bodyPr>
          <a:lstStyle/>
          <a:p>
            <a:r>
              <a:rPr lang="zh-CN" altLang="en-US" sz="2400" dirty="0" smtClean="0"/>
              <a:t>第四章 随堂练习复习</a:t>
            </a:r>
            <a:endParaRPr lang="zh-CN" altLang="en-US" sz="2400" dirty="0"/>
          </a:p>
        </p:txBody>
      </p:sp>
    </p:spTree>
    <p:extLst>
      <p:ext uri="{BB962C8B-B14F-4D97-AF65-F5344CB8AC3E}">
        <p14:creationId xmlns:p14="http://schemas.microsoft.com/office/powerpoint/2010/main" val="257394964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553200" y="6381328"/>
            <a:ext cx="2133600" cy="457200"/>
          </a:xfrm>
        </p:spPr>
        <p:txBody>
          <a:bodyPr/>
          <a:lstStyle/>
          <a:p>
            <a:fld id="{27EF5AEE-92E6-46FE-BB6C-E2D001C3EAEA}" type="slidenum">
              <a:rPr lang="zh-CN" altLang="en-US" smtClean="0">
                <a:solidFill>
                  <a:srgbClr val="000000"/>
                </a:solidFill>
              </a:rPr>
              <a:pPr/>
              <a:t>70</a:t>
            </a:fld>
            <a:endParaRPr lang="en-US" altLang="zh-CN">
              <a:solidFill>
                <a:srgbClr val="000000"/>
              </a:solidFill>
            </a:endParaRPr>
          </a:p>
        </p:txBody>
      </p:sp>
      <p:sp>
        <p:nvSpPr>
          <p:cNvPr id="8" name="内容占位符 4"/>
          <p:cNvSpPr txBox="1">
            <a:spLocks noChangeArrowheads="1"/>
          </p:cNvSpPr>
          <p:nvPr/>
        </p:nvSpPr>
        <p:spPr bwMode="auto">
          <a:xfrm>
            <a:off x="467544" y="908721"/>
            <a:ext cx="8435280" cy="309634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a:buFont typeface="Wingdings" pitchFamily="2" charset="2"/>
              <a:buNone/>
              <a:defRPr/>
            </a:pPr>
            <a:r>
              <a:rPr lang="zh-CN" altLang="en-US" sz="2400" kern="0" dirty="0" smtClean="0"/>
              <a:t>判断以下几种说法是否正确？</a:t>
            </a:r>
          </a:p>
          <a:p>
            <a:pPr>
              <a:buFont typeface="Wingdings" pitchFamily="2" charset="2"/>
              <a:buNone/>
              <a:defRPr/>
            </a:pPr>
            <a:r>
              <a:rPr lang="zh-CN" altLang="en-US" sz="2400" kern="0" dirty="0" smtClean="0"/>
              <a:t>（</a:t>
            </a:r>
            <a:r>
              <a:rPr lang="en-US" sz="2400" kern="0" dirty="0" smtClean="0"/>
              <a:t>1</a:t>
            </a:r>
            <a:r>
              <a:rPr lang="zh-CN" altLang="en-US" sz="2400" kern="0" dirty="0" smtClean="0"/>
              <a:t>）只要具有正反馈，电路就一定能产生振荡。</a:t>
            </a:r>
          </a:p>
          <a:p>
            <a:pPr>
              <a:buFont typeface="Wingdings" pitchFamily="2" charset="2"/>
              <a:buNone/>
              <a:defRPr/>
            </a:pPr>
            <a:r>
              <a:rPr lang="zh-CN" altLang="en-US" sz="2400" kern="0" dirty="0" smtClean="0"/>
              <a:t>（</a:t>
            </a:r>
            <a:r>
              <a:rPr lang="en-US" sz="2400" kern="0" dirty="0" smtClean="0"/>
              <a:t>2</a:t>
            </a:r>
            <a:r>
              <a:rPr lang="zh-CN" altLang="en-US" sz="2400" kern="0" dirty="0" smtClean="0"/>
              <a:t>）只要满足相位平衡条件一定能产生振荡。</a:t>
            </a:r>
            <a:endParaRPr lang="en-US" sz="2400" kern="0" dirty="0" smtClean="0"/>
          </a:p>
          <a:p>
            <a:pPr>
              <a:buFont typeface="Wingdings" pitchFamily="2" charset="2"/>
              <a:buNone/>
              <a:defRPr/>
            </a:pPr>
            <a:r>
              <a:rPr lang="zh-CN" altLang="en-US" sz="2400" kern="0" dirty="0" smtClean="0"/>
              <a:t>（</a:t>
            </a:r>
            <a:r>
              <a:rPr lang="en-US" sz="2400" kern="0" dirty="0" smtClean="0"/>
              <a:t>3</a:t>
            </a:r>
            <a:r>
              <a:rPr lang="zh-CN" altLang="en-US" sz="2400" kern="0" dirty="0" smtClean="0"/>
              <a:t>）满足稳定条件的放大器，一定能产生振荡。</a:t>
            </a:r>
          </a:p>
          <a:p>
            <a:pPr>
              <a:buFont typeface="Wingdings" pitchFamily="2" charset="2"/>
              <a:buNone/>
              <a:defRPr/>
            </a:pPr>
            <a:r>
              <a:rPr lang="zh-CN" altLang="en-US" sz="2400" kern="0" dirty="0" smtClean="0"/>
              <a:t>（</a:t>
            </a:r>
            <a:r>
              <a:rPr lang="en-US" sz="2400" kern="0" dirty="0" smtClean="0"/>
              <a:t>4</a:t>
            </a:r>
            <a:r>
              <a:rPr lang="zh-CN" altLang="en-US" sz="2400" kern="0" dirty="0" smtClean="0"/>
              <a:t>）正弦波振荡器和负反馈放大器的振荡本质是一样的，即反馈信号维持放大器的输入。</a:t>
            </a:r>
            <a:endParaRPr lang="en-US" altLang="zh-CN" sz="2400" kern="0" dirty="0" smtClean="0"/>
          </a:p>
          <a:p>
            <a:pPr>
              <a:buFont typeface="Wingdings" pitchFamily="2" charset="2"/>
              <a:buNone/>
              <a:defRPr/>
            </a:pPr>
            <a:r>
              <a:rPr lang="zh-CN" altLang="en-US" sz="2400" kern="0" dirty="0" smtClean="0"/>
              <a:t>（</a:t>
            </a:r>
            <a:r>
              <a:rPr lang="en-US" altLang="zh-CN" sz="2400" kern="0" dirty="0" smtClean="0"/>
              <a:t>5</a:t>
            </a:r>
            <a:r>
              <a:rPr lang="zh-CN" altLang="en-US" sz="2400" kern="0" dirty="0" smtClean="0"/>
              <a:t>）下图所示交流通路可否产生振荡？</a:t>
            </a:r>
          </a:p>
        </p:txBody>
      </p:sp>
      <p:pic>
        <p:nvPicPr>
          <p:cNvPr id="419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0089" y="4440115"/>
            <a:ext cx="1395879" cy="15811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4040217" y="4711307"/>
            <a:ext cx="3671198" cy="369332"/>
          </a:xfrm>
          <a:prstGeom prst="rect">
            <a:avLst/>
          </a:prstGeom>
          <a:noFill/>
        </p:spPr>
        <p:txBody>
          <a:bodyPr wrap="none" rtlCol="0">
            <a:spAutoFit/>
          </a:bodyPr>
          <a:lstStyle/>
          <a:p>
            <a:r>
              <a:rPr lang="en-US" altLang="zh-CN" b="1" dirty="0" smtClean="0">
                <a:solidFill>
                  <a:srgbClr val="FF0000"/>
                </a:solidFill>
              </a:rPr>
              <a:t>×</a:t>
            </a:r>
            <a:r>
              <a:rPr lang="zh-CN" altLang="en-US" b="1" dirty="0" smtClean="0">
                <a:solidFill>
                  <a:srgbClr val="FF0000"/>
                </a:solidFill>
              </a:rPr>
              <a:t>，不满足“射同基反”的原则。</a:t>
            </a:r>
            <a:endParaRPr lang="zh-CN" altLang="en-US" b="1" dirty="0">
              <a:solidFill>
                <a:srgbClr val="FF0000"/>
              </a:solidFill>
            </a:endParaRPr>
          </a:p>
        </p:txBody>
      </p:sp>
      <p:sp>
        <p:nvSpPr>
          <p:cNvPr id="3" name="矩形 2"/>
          <p:cNvSpPr/>
          <p:nvPr/>
        </p:nvSpPr>
        <p:spPr bwMode="auto">
          <a:xfrm>
            <a:off x="1231905" y="4392089"/>
            <a:ext cx="2232248" cy="117727"/>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Tree>
    <p:extLst>
      <p:ext uri="{BB962C8B-B14F-4D97-AF65-F5344CB8AC3E}">
        <p14:creationId xmlns:p14="http://schemas.microsoft.com/office/powerpoint/2010/main" val="2243709823"/>
      </p:ext>
    </p:extLst>
  </p:cSld>
  <p:clrMapOvr>
    <a:masterClrMapping/>
  </p:clrMapOvr>
  <mc:AlternateContent xmlns:mc="http://schemas.openxmlformats.org/markup-compatibility/2006" xmlns:p14="http://schemas.microsoft.com/office/powerpoint/2010/main">
    <mc:Choice Requires="p14">
      <p:transition spd="slow" p14:dur="2000" advTm="1174"/>
    </mc:Choice>
    <mc:Fallback xmlns="">
      <p:transition spd="slow" advTm="1174"/>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553200" y="6381328"/>
            <a:ext cx="2133600" cy="457200"/>
          </a:xfrm>
        </p:spPr>
        <p:txBody>
          <a:bodyPr/>
          <a:lstStyle/>
          <a:p>
            <a:fld id="{27EF5AEE-92E6-46FE-BB6C-E2D001C3EAEA}" type="slidenum">
              <a:rPr lang="zh-CN" altLang="en-US" smtClean="0">
                <a:solidFill>
                  <a:srgbClr val="000000"/>
                </a:solidFill>
              </a:rPr>
              <a:pPr/>
              <a:t>71</a:t>
            </a:fld>
            <a:endParaRPr lang="en-US" altLang="zh-CN">
              <a:solidFill>
                <a:srgbClr val="000000"/>
              </a:solidFill>
            </a:endParaRPr>
          </a:p>
        </p:txBody>
      </p:sp>
      <p:sp>
        <p:nvSpPr>
          <p:cNvPr id="4" name="矩形 3"/>
          <p:cNvSpPr/>
          <p:nvPr/>
        </p:nvSpPr>
        <p:spPr>
          <a:xfrm>
            <a:off x="512333" y="1052736"/>
            <a:ext cx="8351547" cy="2862322"/>
          </a:xfrm>
          <a:prstGeom prst="rect">
            <a:avLst/>
          </a:prstGeom>
        </p:spPr>
        <p:txBody>
          <a:bodyPr wrap="square">
            <a:spAutoFit/>
          </a:bodyPr>
          <a:lstStyle/>
          <a:p>
            <a:pPr>
              <a:lnSpc>
                <a:spcPct val="150000"/>
              </a:lnSpc>
              <a:buFont typeface="Wingdings" pitchFamily="2" charset="2"/>
              <a:buNone/>
              <a:defRPr/>
            </a:pPr>
            <a:r>
              <a:rPr lang="zh-CN" altLang="en-US" sz="2400" kern="0" dirty="0"/>
              <a:t>（</a:t>
            </a:r>
            <a:r>
              <a:rPr lang="en-US" altLang="zh-CN" sz="2400" kern="0" dirty="0"/>
              <a:t>6</a:t>
            </a:r>
            <a:r>
              <a:rPr lang="zh-CN" altLang="en-US" sz="2400" kern="0" dirty="0"/>
              <a:t>）振荡器的振幅起振条件、振幅平衡条件、相位起振条件、相位平衡条件分别是什么</a:t>
            </a:r>
            <a:r>
              <a:rPr lang="zh-CN" altLang="en-US" sz="2400" kern="0" dirty="0" smtClean="0"/>
              <a:t>？</a:t>
            </a:r>
            <a:endParaRPr lang="en-US" altLang="zh-CN" sz="2400" kern="0" dirty="0" smtClean="0"/>
          </a:p>
          <a:p>
            <a:pPr>
              <a:lnSpc>
                <a:spcPct val="150000"/>
              </a:lnSpc>
              <a:buFont typeface="Wingdings" pitchFamily="2" charset="2"/>
              <a:buNone/>
              <a:defRPr/>
            </a:pPr>
            <a:r>
              <a:rPr lang="zh-CN" altLang="en-US" sz="2400" kern="0" dirty="0" smtClean="0"/>
              <a:t>（</a:t>
            </a:r>
            <a:r>
              <a:rPr lang="en-US" altLang="zh-CN" sz="2400" kern="0" dirty="0" smtClean="0"/>
              <a:t>7</a:t>
            </a:r>
            <a:r>
              <a:rPr lang="zh-CN" altLang="en-US" sz="2400" kern="0" dirty="0" smtClean="0"/>
              <a:t>）哪种电容振荡器没有高频停振问题？</a:t>
            </a:r>
            <a:endParaRPr lang="en-US" altLang="zh-CN" sz="2400" kern="0" dirty="0" smtClean="0"/>
          </a:p>
          <a:p>
            <a:pPr>
              <a:lnSpc>
                <a:spcPct val="150000"/>
              </a:lnSpc>
              <a:buFont typeface="Wingdings" pitchFamily="2" charset="2"/>
              <a:buNone/>
              <a:defRPr/>
            </a:pPr>
            <a:r>
              <a:rPr lang="zh-CN" altLang="en-US" sz="2400" kern="0" dirty="0" smtClean="0"/>
              <a:t>（</a:t>
            </a:r>
            <a:r>
              <a:rPr lang="en-US" altLang="zh-CN" sz="2400" kern="0" dirty="0" smtClean="0"/>
              <a:t>8</a:t>
            </a:r>
            <a:r>
              <a:rPr lang="zh-CN" altLang="en-US" sz="2400" kern="0" dirty="0" smtClean="0"/>
              <a:t>）振荡器的主要性能指标是什么？</a:t>
            </a:r>
            <a:endParaRPr lang="en-US" altLang="zh-CN" sz="2400" kern="0" dirty="0" smtClean="0"/>
          </a:p>
          <a:p>
            <a:pPr>
              <a:lnSpc>
                <a:spcPct val="150000"/>
              </a:lnSpc>
              <a:buFont typeface="Wingdings" pitchFamily="2" charset="2"/>
              <a:buNone/>
              <a:defRPr/>
            </a:pPr>
            <a:r>
              <a:rPr lang="zh-CN" altLang="en-US" sz="2400" kern="0" dirty="0" smtClean="0"/>
              <a:t>（</a:t>
            </a:r>
            <a:r>
              <a:rPr lang="en-US" altLang="zh-CN" sz="2400" kern="0" dirty="0" smtClean="0"/>
              <a:t>9</a:t>
            </a:r>
            <a:r>
              <a:rPr lang="zh-CN" altLang="en-US" sz="2400" kern="0" dirty="0" smtClean="0"/>
              <a:t>）振荡器必须要外加激励信号吗？</a:t>
            </a:r>
            <a:endParaRPr lang="en-US" altLang="zh-CN" sz="2400" kern="0" dirty="0"/>
          </a:p>
        </p:txBody>
      </p:sp>
    </p:spTree>
    <p:extLst>
      <p:ext uri="{BB962C8B-B14F-4D97-AF65-F5344CB8AC3E}">
        <p14:creationId xmlns:p14="http://schemas.microsoft.com/office/powerpoint/2010/main" val="987787706"/>
      </p:ext>
    </p:extLst>
  </p:cSld>
  <p:clrMapOvr>
    <a:masterClrMapping/>
  </p:clrMapOvr>
  <mc:AlternateContent xmlns:mc="http://schemas.openxmlformats.org/markup-compatibility/2006" xmlns:p14="http://schemas.microsoft.com/office/powerpoint/2010/main">
    <mc:Choice Requires="p14">
      <p:transition spd="slow" p14:dur="2000" advTm="1174"/>
    </mc:Choice>
    <mc:Fallback xmlns="">
      <p:transition spd="slow" advTm="1174"/>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眼镜"/>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762871" y="3645024"/>
            <a:ext cx="1673225" cy="133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2339752" y="2484185"/>
            <a:ext cx="5112568" cy="584775"/>
          </a:xfrm>
          <a:prstGeom prst="rect">
            <a:avLst/>
          </a:prstGeom>
          <a:noFill/>
        </p:spPr>
        <p:txBody>
          <a:bodyPr wrap="square" rtlCol="0">
            <a:spAutoFit/>
          </a:bodyPr>
          <a:lstStyle/>
          <a:p>
            <a:r>
              <a:rPr lang="zh-CN" altLang="en-US" sz="3200" b="1" dirty="0" smtClean="0"/>
              <a:t>第五章  线性频谱搬移电路</a:t>
            </a:r>
            <a:endParaRPr lang="zh-CN" altLang="en-US" sz="3200" b="1" dirty="0"/>
          </a:p>
        </p:txBody>
      </p:sp>
    </p:spTree>
    <p:extLst>
      <p:ext uri="{BB962C8B-B14F-4D97-AF65-F5344CB8AC3E}">
        <p14:creationId xmlns:p14="http://schemas.microsoft.com/office/powerpoint/2010/main" val="429384477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73</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第五章知识点梳理</a:t>
            </a:r>
            <a:endParaRPr lang="zh-CN" altLang="en-US" sz="2400" b="1" dirty="0">
              <a:solidFill>
                <a:prstClr val="black"/>
              </a:solidFill>
            </a:endParaRPr>
          </a:p>
        </p:txBody>
      </p:sp>
      <p:sp>
        <p:nvSpPr>
          <p:cNvPr id="6" name="TextBox 5"/>
          <p:cNvSpPr txBox="1"/>
          <p:nvPr/>
        </p:nvSpPr>
        <p:spPr>
          <a:xfrm>
            <a:off x="539552" y="836712"/>
            <a:ext cx="3438762" cy="369332"/>
          </a:xfrm>
          <a:prstGeom prst="rect">
            <a:avLst/>
          </a:prstGeom>
          <a:noFill/>
        </p:spPr>
        <p:txBody>
          <a:bodyPr wrap="none" rtlCol="0">
            <a:spAutoFit/>
          </a:bodyPr>
          <a:lstStyle/>
          <a:p>
            <a:r>
              <a:rPr lang="zh-CN" altLang="en-US" b="1" dirty="0" smtClean="0"/>
              <a:t>一、三种基本调幅方法的表达式</a:t>
            </a:r>
            <a:endParaRPr lang="zh-CN" altLang="en-US" b="1" dirty="0"/>
          </a:p>
        </p:txBody>
      </p:sp>
      <p:sp>
        <p:nvSpPr>
          <p:cNvPr id="23" name="TextBox 22"/>
          <p:cNvSpPr txBox="1"/>
          <p:nvPr/>
        </p:nvSpPr>
        <p:spPr>
          <a:xfrm>
            <a:off x="611560" y="1146810"/>
            <a:ext cx="5330305" cy="553998"/>
          </a:xfrm>
          <a:prstGeom prst="rect">
            <a:avLst/>
          </a:prstGeom>
          <a:noFill/>
        </p:spPr>
        <p:txBody>
          <a:bodyPr wrap="none" rtlCol="0">
            <a:spAutoFit/>
          </a:bodyPr>
          <a:lstStyle/>
          <a:p>
            <a:pPr>
              <a:lnSpc>
                <a:spcPct val="150000"/>
              </a:lnSpc>
            </a:pPr>
            <a:r>
              <a:rPr lang="zh-CN" altLang="en-US" sz="2000" b="1" dirty="0" smtClean="0">
                <a:solidFill>
                  <a:srgbClr val="0070C0"/>
                </a:solidFill>
              </a:rPr>
              <a:t>普通双边带</a:t>
            </a:r>
            <a:r>
              <a:rPr lang="zh-CN" altLang="en-US" sz="2000" b="1" dirty="0" smtClean="0">
                <a:solidFill>
                  <a:srgbClr val="0070C0"/>
                </a:solidFill>
                <a:latin typeface="Times New Roman" panose="02020603050405020304" pitchFamily="18" charset="0"/>
                <a:cs typeface="Times New Roman" panose="02020603050405020304" pitchFamily="18" charset="0"/>
              </a:rPr>
              <a:t>调幅：</a:t>
            </a:r>
            <a:r>
              <a:rPr lang="en-US" altLang="zh-CN" sz="2000" b="1" dirty="0" smtClean="0">
                <a:solidFill>
                  <a:srgbClr val="FF3399"/>
                </a:solidFill>
                <a:latin typeface="Times New Roman" panose="02020603050405020304" pitchFamily="18" charset="0"/>
                <a:cs typeface="Times New Roman" panose="02020603050405020304" pitchFamily="18" charset="0"/>
              </a:rPr>
              <a:t>AM</a:t>
            </a:r>
            <a:r>
              <a:rPr lang="en-US" altLang="zh-CN" sz="2000" b="1" dirty="0" smtClean="0">
                <a:solidFill>
                  <a:srgbClr val="0070C0"/>
                </a:solidFill>
                <a:latin typeface="Times New Roman" panose="02020603050405020304" pitchFamily="18" charset="0"/>
                <a:cs typeface="Times New Roman" panose="02020603050405020304" pitchFamily="18" charset="0"/>
              </a:rPr>
              <a:t>(Amplitude modulation)</a:t>
            </a:r>
          </a:p>
        </p:txBody>
      </p:sp>
      <p:sp>
        <p:nvSpPr>
          <p:cNvPr id="24" name="TextBox 23"/>
          <p:cNvSpPr txBox="1"/>
          <p:nvPr/>
        </p:nvSpPr>
        <p:spPr>
          <a:xfrm>
            <a:off x="639668" y="3306976"/>
            <a:ext cx="5660524" cy="553998"/>
          </a:xfrm>
          <a:prstGeom prst="rect">
            <a:avLst/>
          </a:prstGeom>
          <a:noFill/>
        </p:spPr>
        <p:txBody>
          <a:bodyPr wrap="none" rtlCol="0">
            <a:spAutoFit/>
          </a:bodyPr>
          <a:lstStyle/>
          <a:p>
            <a:pPr>
              <a:lnSpc>
                <a:spcPct val="150000"/>
              </a:lnSpc>
            </a:pPr>
            <a:r>
              <a:rPr lang="zh-CN" altLang="en-US" sz="2000" b="1" dirty="0" smtClean="0">
                <a:solidFill>
                  <a:srgbClr val="0070C0"/>
                </a:solidFill>
              </a:rPr>
              <a:t>抑制载波的双边带</a:t>
            </a:r>
            <a:r>
              <a:rPr lang="zh-CN" altLang="en-US" sz="2000" b="1" dirty="0" smtClean="0">
                <a:solidFill>
                  <a:srgbClr val="0070C0"/>
                </a:solidFill>
                <a:latin typeface="Times New Roman" panose="02020603050405020304" pitchFamily="18" charset="0"/>
                <a:cs typeface="Times New Roman" panose="02020603050405020304" pitchFamily="18" charset="0"/>
              </a:rPr>
              <a:t>调幅：</a:t>
            </a:r>
            <a:r>
              <a:rPr lang="en-US" altLang="zh-CN" sz="2000" b="1" dirty="0" smtClean="0">
                <a:solidFill>
                  <a:srgbClr val="FF3399"/>
                </a:solidFill>
                <a:latin typeface="Times New Roman" panose="02020603050405020304" pitchFamily="18" charset="0"/>
                <a:cs typeface="Times New Roman" panose="02020603050405020304" pitchFamily="18" charset="0"/>
              </a:rPr>
              <a:t>DSB</a:t>
            </a:r>
            <a:r>
              <a:rPr lang="en-US" altLang="zh-CN" sz="2000" b="1" dirty="0" smtClean="0">
                <a:solidFill>
                  <a:srgbClr val="0070C0"/>
                </a:solidFill>
                <a:latin typeface="Times New Roman" panose="02020603050405020304" pitchFamily="18" charset="0"/>
                <a:cs typeface="Times New Roman" panose="02020603050405020304" pitchFamily="18" charset="0"/>
              </a:rPr>
              <a:t>(Double Side Band)</a:t>
            </a:r>
          </a:p>
        </p:txBody>
      </p:sp>
      <p:sp>
        <p:nvSpPr>
          <p:cNvPr id="25" name="TextBox 24"/>
          <p:cNvSpPr txBox="1"/>
          <p:nvPr/>
        </p:nvSpPr>
        <p:spPr>
          <a:xfrm>
            <a:off x="721979" y="5301208"/>
            <a:ext cx="4354077" cy="553998"/>
          </a:xfrm>
          <a:prstGeom prst="rect">
            <a:avLst/>
          </a:prstGeom>
          <a:noFill/>
        </p:spPr>
        <p:txBody>
          <a:bodyPr wrap="none" rtlCol="0">
            <a:spAutoFit/>
          </a:bodyPr>
          <a:lstStyle/>
          <a:p>
            <a:pPr>
              <a:lnSpc>
                <a:spcPct val="150000"/>
              </a:lnSpc>
            </a:pPr>
            <a:r>
              <a:rPr lang="zh-CN" altLang="en-US" sz="2000" b="1" dirty="0" smtClean="0">
                <a:solidFill>
                  <a:srgbClr val="0070C0"/>
                </a:solidFill>
              </a:rPr>
              <a:t>单边带</a:t>
            </a:r>
            <a:r>
              <a:rPr lang="zh-CN" altLang="en-US" sz="2000" b="1" dirty="0" smtClean="0">
                <a:solidFill>
                  <a:srgbClr val="0070C0"/>
                </a:solidFill>
                <a:latin typeface="Times New Roman" panose="02020603050405020304" pitchFamily="18" charset="0"/>
                <a:cs typeface="Times New Roman" panose="02020603050405020304" pitchFamily="18" charset="0"/>
              </a:rPr>
              <a:t>调幅：</a:t>
            </a:r>
            <a:r>
              <a:rPr lang="en-US" altLang="zh-CN" sz="2000" b="1" dirty="0" smtClean="0">
                <a:solidFill>
                  <a:srgbClr val="FF3399"/>
                </a:solidFill>
                <a:latin typeface="Times New Roman" panose="02020603050405020304" pitchFamily="18" charset="0"/>
                <a:cs typeface="Times New Roman" panose="02020603050405020304" pitchFamily="18" charset="0"/>
              </a:rPr>
              <a:t>SSB</a:t>
            </a:r>
            <a:r>
              <a:rPr lang="en-US" altLang="zh-CN" sz="2000" b="1" dirty="0" smtClean="0">
                <a:solidFill>
                  <a:srgbClr val="0070C0"/>
                </a:solidFill>
                <a:latin typeface="Times New Roman" panose="02020603050405020304" pitchFamily="18" charset="0"/>
                <a:cs typeface="Times New Roman" panose="02020603050405020304" pitchFamily="18" charset="0"/>
              </a:rPr>
              <a:t>(Single Side Band)</a:t>
            </a:r>
          </a:p>
        </p:txBody>
      </p:sp>
      <p:graphicFrame>
        <p:nvGraphicFramePr>
          <p:cNvPr id="28" name="对象 27"/>
          <p:cNvGraphicFramePr>
            <a:graphicFrameLocks noChangeAspect="1"/>
          </p:cNvGraphicFramePr>
          <p:nvPr>
            <p:extLst>
              <p:ext uri="{D42A27DB-BD31-4B8C-83A1-F6EECF244321}">
                <p14:modId xmlns:p14="http://schemas.microsoft.com/office/powerpoint/2010/main" val="2773446970"/>
              </p:ext>
            </p:extLst>
          </p:nvPr>
        </p:nvGraphicFramePr>
        <p:xfrm>
          <a:off x="1331640" y="2363589"/>
          <a:ext cx="7737772" cy="760709"/>
        </p:xfrm>
        <a:graphic>
          <a:graphicData uri="http://schemas.openxmlformats.org/presentationml/2006/ole">
            <mc:AlternateContent xmlns:mc="http://schemas.openxmlformats.org/markup-compatibility/2006">
              <mc:Choice xmlns:v="urn:schemas-microsoft-com:vml" Requires="v">
                <p:oleObj spid="_x0000_s86350" name="Equation" r:id="rId4" imgW="4025880" imgH="393480" progId="Equation.DSMT4">
                  <p:embed/>
                </p:oleObj>
              </mc:Choice>
              <mc:Fallback>
                <p:oleObj name="Equation" r:id="rId4" imgW="4025880" imgH="393480" progId="Equation.DSMT4">
                  <p:embed/>
                  <p:pic>
                    <p:nvPicPr>
                      <p:cNvPr id="0" name=""/>
                      <p:cNvPicPr>
                        <a:picLocks noChangeAspect="1" noChangeArrowheads="1"/>
                      </p:cNvPicPr>
                      <p:nvPr/>
                    </p:nvPicPr>
                    <p:blipFill>
                      <a:blip r:embed="rId5"/>
                      <a:srcRect/>
                      <a:stretch>
                        <a:fillRect/>
                      </a:stretch>
                    </p:blipFill>
                    <p:spPr bwMode="auto">
                      <a:xfrm>
                        <a:off x="1331640" y="2363589"/>
                        <a:ext cx="7737772" cy="760709"/>
                      </a:xfrm>
                      <a:prstGeom prst="rect">
                        <a:avLst/>
                      </a:prstGeom>
                      <a:noFill/>
                      <a:ln>
                        <a:noFill/>
                      </a:ln>
                      <a:extLst/>
                    </p:spPr>
                  </p:pic>
                </p:oleObj>
              </mc:Fallback>
            </mc:AlternateContent>
          </a:graphicData>
        </a:graphic>
      </p:graphicFrame>
      <p:graphicFrame>
        <p:nvGraphicFramePr>
          <p:cNvPr id="30" name="对象 29"/>
          <p:cNvGraphicFramePr>
            <a:graphicFrameLocks noChangeAspect="1"/>
          </p:cNvGraphicFramePr>
          <p:nvPr>
            <p:extLst>
              <p:ext uri="{D42A27DB-BD31-4B8C-83A1-F6EECF244321}">
                <p14:modId xmlns:p14="http://schemas.microsoft.com/office/powerpoint/2010/main" val="4282641889"/>
              </p:ext>
            </p:extLst>
          </p:nvPr>
        </p:nvGraphicFramePr>
        <p:xfrm>
          <a:off x="323528" y="1844824"/>
          <a:ext cx="4430712" cy="614362"/>
        </p:xfrm>
        <a:graphic>
          <a:graphicData uri="http://schemas.openxmlformats.org/presentationml/2006/ole">
            <mc:AlternateContent xmlns:mc="http://schemas.openxmlformats.org/markup-compatibility/2006">
              <mc:Choice xmlns:v="urn:schemas-microsoft-com:vml" Requires="v">
                <p:oleObj spid="_x0000_s86351" name="Equation" r:id="rId6" imgW="2019240" imgH="279360" progId="Equation.DSMT4">
                  <p:embed/>
                </p:oleObj>
              </mc:Choice>
              <mc:Fallback>
                <p:oleObj name="Equation" r:id="rId6" imgW="2019240" imgH="279360" progId="Equation.DSMT4">
                  <p:embed/>
                  <p:pic>
                    <p:nvPicPr>
                      <p:cNvPr id="0" name=""/>
                      <p:cNvPicPr/>
                      <p:nvPr/>
                    </p:nvPicPr>
                    <p:blipFill>
                      <a:blip r:embed="rId7"/>
                      <a:stretch>
                        <a:fillRect/>
                      </a:stretch>
                    </p:blipFill>
                    <p:spPr>
                      <a:xfrm>
                        <a:off x="323528" y="1844824"/>
                        <a:ext cx="4430712" cy="614362"/>
                      </a:xfrm>
                      <a:prstGeom prst="rect">
                        <a:avLst/>
                      </a:prstGeom>
                    </p:spPr>
                  </p:pic>
                </p:oleObj>
              </mc:Fallback>
            </mc:AlternateContent>
          </a:graphicData>
        </a:graphic>
      </p:graphicFrame>
      <p:cxnSp>
        <p:nvCxnSpPr>
          <p:cNvPr id="31" name="直接连接符 30"/>
          <p:cNvCxnSpPr/>
          <p:nvPr/>
        </p:nvCxnSpPr>
        <p:spPr bwMode="auto">
          <a:xfrm>
            <a:off x="3095110" y="3140968"/>
            <a:ext cx="6048890" cy="0"/>
          </a:xfrm>
          <a:prstGeom prst="line">
            <a:avLst/>
          </a:prstGeom>
          <a:solidFill>
            <a:schemeClr val="accent1"/>
          </a:solidFill>
          <a:ln w="28575" cap="flat" cmpd="sng" algn="ctr">
            <a:solidFill>
              <a:srgbClr val="00B050"/>
            </a:solidFill>
            <a:prstDash val="solid"/>
            <a:round/>
            <a:headEnd type="none" w="med" len="med"/>
            <a:tailEnd type="none" w="med" len="med"/>
          </a:ln>
        </p:spPr>
      </p:cxnSp>
      <p:graphicFrame>
        <p:nvGraphicFramePr>
          <p:cNvPr id="33" name="对象 32"/>
          <p:cNvGraphicFramePr>
            <a:graphicFrameLocks noChangeAspect="1"/>
          </p:cNvGraphicFramePr>
          <p:nvPr>
            <p:extLst>
              <p:ext uri="{D42A27DB-BD31-4B8C-83A1-F6EECF244321}">
                <p14:modId xmlns:p14="http://schemas.microsoft.com/office/powerpoint/2010/main" val="3168951793"/>
              </p:ext>
            </p:extLst>
          </p:nvPr>
        </p:nvGraphicFramePr>
        <p:xfrm>
          <a:off x="1670875" y="3907273"/>
          <a:ext cx="3371850" cy="557213"/>
        </p:xfrm>
        <a:graphic>
          <a:graphicData uri="http://schemas.openxmlformats.org/presentationml/2006/ole">
            <mc:AlternateContent xmlns:mc="http://schemas.openxmlformats.org/markup-compatibility/2006">
              <mc:Choice xmlns:v="urn:schemas-microsoft-com:vml" Requires="v">
                <p:oleObj spid="_x0000_s86352" name="Equation" r:id="rId8" imgW="1536480" imgH="253800" progId="Equation.DSMT4">
                  <p:embed/>
                </p:oleObj>
              </mc:Choice>
              <mc:Fallback>
                <p:oleObj name="Equation" r:id="rId8" imgW="1536480" imgH="253800" progId="Equation.DSMT4">
                  <p:embed/>
                  <p:pic>
                    <p:nvPicPr>
                      <p:cNvPr id="0" name=""/>
                      <p:cNvPicPr/>
                      <p:nvPr/>
                    </p:nvPicPr>
                    <p:blipFill>
                      <a:blip r:embed="rId9"/>
                      <a:stretch>
                        <a:fillRect/>
                      </a:stretch>
                    </p:blipFill>
                    <p:spPr>
                      <a:xfrm>
                        <a:off x="1670875" y="3907273"/>
                        <a:ext cx="3371850" cy="557213"/>
                      </a:xfrm>
                      <a:prstGeom prst="rect">
                        <a:avLst/>
                      </a:prstGeom>
                    </p:spPr>
                  </p:pic>
                </p:oleObj>
              </mc:Fallback>
            </mc:AlternateContent>
          </a:graphicData>
        </a:graphic>
      </p:graphicFrame>
      <p:graphicFrame>
        <p:nvGraphicFramePr>
          <p:cNvPr id="34" name="对象 33"/>
          <p:cNvGraphicFramePr>
            <a:graphicFrameLocks noChangeAspect="1"/>
          </p:cNvGraphicFramePr>
          <p:nvPr>
            <p:extLst>
              <p:ext uri="{D42A27DB-BD31-4B8C-83A1-F6EECF244321}">
                <p14:modId xmlns:p14="http://schemas.microsoft.com/office/powerpoint/2010/main" val="2422439525"/>
              </p:ext>
            </p:extLst>
          </p:nvPr>
        </p:nvGraphicFramePr>
        <p:xfrm>
          <a:off x="1522511" y="4509046"/>
          <a:ext cx="5065713" cy="619125"/>
        </p:xfrm>
        <a:graphic>
          <a:graphicData uri="http://schemas.openxmlformats.org/presentationml/2006/ole">
            <mc:AlternateContent xmlns:mc="http://schemas.openxmlformats.org/markup-compatibility/2006">
              <mc:Choice xmlns:v="urn:schemas-microsoft-com:vml" Requires="v">
                <p:oleObj spid="_x0000_s86353" name="Equation" r:id="rId10" imgW="3238200" imgH="393480" progId="Equation.DSMT4">
                  <p:embed/>
                </p:oleObj>
              </mc:Choice>
              <mc:Fallback>
                <p:oleObj name="Equation" r:id="rId10" imgW="3238200" imgH="393480" progId="Equation.DSMT4">
                  <p:embed/>
                  <p:pic>
                    <p:nvPicPr>
                      <p:cNvPr id="0" name=""/>
                      <p:cNvPicPr>
                        <a:picLocks noChangeAspect="1" noChangeArrowheads="1"/>
                      </p:cNvPicPr>
                      <p:nvPr/>
                    </p:nvPicPr>
                    <p:blipFill>
                      <a:blip r:embed="rId11"/>
                      <a:srcRect/>
                      <a:stretch>
                        <a:fillRect/>
                      </a:stretch>
                    </p:blipFill>
                    <p:spPr bwMode="auto">
                      <a:xfrm>
                        <a:off x="1522511" y="4509046"/>
                        <a:ext cx="5065713"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5" name="直接连接符 34"/>
          <p:cNvCxnSpPr/>
          <p:nvPr/>
        </p:nvCxnSpPr>
        <p:spPr bwMode="auto">
          <a:xfrm>
            <a:off x="4283968" y="5157118"/>
            <a:ext cx="2232248" cy="0"/>
          </a:xfrm>
          <a:prstGeom prst="line">
            <a:avLst/>
          </a:prstGeom>
          <a:solidFill>
            <a:schemeClr val="accent1"/>
          </a:solidFill>
          <a:ln w="28575" cap="flat" cmpd="sng" algn="ctr">
            <a:solidFill>
              <a:srgbClr val="00B050"/>
            </a:solidFill>
            <a:prstDash val="solid"/>
            <a:round/>
            <a:headEnd type="none" w="med" len="med"/>
            <a:tailEnd type="none" w="med" len="med"/>
          </a:ln>
        </p:spPr>
      </p:cxnSp>
      <p:cxnSp>
        <p:nvCxnSpPr>
          <p:cNvPr id="36" name="直接连接符 35"/>
          <p:cNvCxnSpPr/>
          <p:nvPr/>
        </p:nvCxnSpPr>
        <p:spPr bwMode="auto">
          <a:xfrm>
            <a:off x="1742883" y="5157118"/>
            <a:ext cx="2253053" cy="0"/>
          </a:xfrm>
          <a:prstGeom prst="line">
            <a:avLst/>
          </a:prstGeom>
          <a:solidFill>
            <a:schemeClr val="accent1"/>
          </a:solidFill>
          <a:ln w="28575" cap="flat" cmpd="sng" algn="ctr">
            <a:solidFill>
              <a:srgbClr val="00B050"/>
            </a:solidFill>
            <a:prstDash val="solid"/>
            <a:round/>
            <a:headEnd type="none" w="med" len="med"/>
            <a:tailEnd type="none" w="med" len="med"/>
          </a:ln>
        </p:spPr>
      </p:cxnSp>
      <p:graphicFrame>
        <p:nvGraphicFramePr>
          <p:cNvPr id="37" name="对象 36"/>
          <p:cNvGraphicFramePr>
            <a:graphicFrameLocks noChangeAspect="1"/>
          </p:cNvGraphicFramePr>
          <p:nvPr>
            <p:extLst>
              <p:ext uri="{D42A27DB-BD31-4B8C-83A1-F6EECF244321}">
                <p14:modId xmlns:p14="http://schemas.microsoft.com/office/powerpoint/2010/main" val="3654226159"/>
              </p:ext>
            </p:extLst>
          </p:nvPr>
        </p:nvGraphicFramePr>
        <p:xfrm>
          <a:off x="539552" y="5733108"/>
          <a:ext cx="3736975" cy="792162"/>
        </p:xfrm>
        <a:graphic>
          <a:graphicData uri="http://schemas.openxmlformats.org/presentationml/2006/ole">
            <mc:AlternateContent xmlns:mc="http://schemas.openxmlformats.org/markup-compatibility/2006">
              <mc:Choice xmlns:v="urn:schemas-microsoft-com:vml" Requires="v">
                <p:oleObj spid="_x0000_s86354" name="Equation" r:id="rId12" imgW="1993680" imgH="393480" progId="Equation.DSMT4">
                  <p:embed/>
                </p:oleObj>
              </mc:Choice>
              <mc:Fallback>
                <p:oleObj name="Equation" r:id="rId12" imgW="1993680" imgH="393480" progId="Equation.DSMT4">
                  <p:embed/>
                  <p:pic>
                    <p:nvPicPr>
                      <p:cNvPr id="0" name=""/>
                      <p:cNvPicPr>
                        <a:picLocks noChangeAspect="1" noChangeArrowheads="1"/>
                      </p:cNvPicPr>
                      <p:nvPr/>
                    </p:nvPicPr>
                    <p:blipFill>
                      <a:blip r:embed="rId13"/>
                      <a:srcRect/>
                      <a:stretch>
                        <a:fillRect/>
                      </a:stretch>
                    </p:blipFill>
                    <p:spPr bwMode="auto">
                      <a:xfrm>
                        <a:off x="539552" y="5733108"/>
                        <a:ext cx="3736975"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8" name="对象 37"/>
          <p:cNvGraphicFramePr>
            <a:graphicFrameLocks noChangeAspect="1"/>
          </p:cNvGraphicFramePr>
          <p:nvPr>
            <p:extLst>
              <p:ext uri="{D42A27DB-BD31-4B8C-83A1-F6EECF244321}">
                <p14:modId xmlns:p14="http://schemas.microsoft.com/office/powerpoint/2010/main" val="1465205570"/>
              </p:ext>
            </p:extLst>
          </p:nvPr>
        </p:nvGraphicFramePr>
        <p:xfrm>
          <a:off x="4973650" y="5733182"/>
          <a:ext cx="3735388" cy="792162"/>
        </p:xfrm>
        <a:graphic>
          <a:graphicData uri="http://schemas.openxmlformats.org/presentationml/2006/ole">
            <mc:AlternateContent xmlns:mc="http://schemas.openxmlformats.org/markup-compatibility/2006">
              <mc:Choice xmlns:v="urn:schemas-microsoft-com:vml" Requires="v">
                <p:oleObj spid="_x0000_s86355" name="Equation" r:id="rId14" imgW="1993680" imgH="393480" progId="Equation.DSMT4">
                  <p:embed/>
                </p:oleObj>
              </mc:Choice>
              <mc:Fallback>
                <p:oleObj name="Equation" r:id="rId14" imgW="1993680" imgH="393480" progId="Equation.DSMT4">
                  <p:embed/>
                  <p:pic>
                    <p:nvPicPr>
                      <p:cNvPr id="0" name=""/>
                      <p:cNvPicPr>
                        <a:picLocks noChangeAspect="1" noChangeArrowheads="1"/>
                      </p:cNvPicPr>
                      <p:nvPr/>
                    </p:nvPicPr>
                    <p:blipFill>
                      <a:blip r:embed="rId15"/>
                      <a:srcRect/>
                      <a:stretch>
                        <a:fillRect/>
                      </a:stretch>
                    </p:blipFill>
                    <p:spPr bwMode="auto">
                      <a:xfrm>
                        <a:off x="4973650" y="5733182"/>
                        <a:ext cx="3735388"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 name="TextBox 38"/>
          <p:cNvSpPr txBox="1"/>
          <p:nvPr/>
        </p:nvSpPr>
        <p:spPr>
          <a:xfrm>
            <a:off x="4355976" y="5877198"/>
            <a:ext cx="617674" cy="646331"/>
          </a:xfrm>
          <a:prstGeom prst="rect">
            <a:avLst/>
          </a:prstGeom>
          <a:noFill/>
        </p:spPr>
        <p:txBody>
          <a:bodyPr wrap="square" rtlCol="0">
            <a:spAutoFit/>
          </a:bodyPr>
          <a:lstStyle/>
          <a:p>
            <a:pPr>
              <a:lnSpc>
                <a:spcPct val="150000"/>
              </a:lnSpc>
            </a:pPr>
            <a:r>
              <a:rPr lang="zh-CN" altLang="en-US" sz="2400" b="1" dirty="0" smtClean="0">
                <a:solidFill>
                  <a:srgbClr val="0070C0"/>
                </a:solidFill>
              </a:rPr>
              <a:t>或</a:t>
            </a:r>
            <a:endParaRPr lang="zh-CN" altLang="en-US" sz="2400" b="1" dirty="0">
              <a:solidFill>
                <a:srgbClr val="0070C0"/>
              </a:solidFill>
            </a:endParaRPr>
          </a:p>
        </p:txBody>
      </p:sp>
    </p:spTree>
    <p:extLst>
      <p:ext uri="{BB962C8B-B14F-4D97-AF65-F5344CB8AC3E}">
        <p14:creationId xmlns:p14="http://schemas.microsoft.com/office/powerpoint/2010/main" val="3690832629"/>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74</a:t>
            </a:fld>
            <a:endParaRPr lang="en-US" altLang="zh-CN" dirty="0">
              <a:solidFill>
                <a:srgbClr val="000000"/>
              </a:solidFill>
            </a:endParaRPr>
          </a:p>
        </p:txBody>
      </p:sp>
      <p:sp>
        <p:nvSpPr>
          <p:cNvPr id="6" name="TextBox 5"/>
          <p:cNvSpPr txBox="1"/>
          <p:nvPr/>
        </p:nvSpPr>
        <p:spPr>
          <a:xfrm>
            <a:off x="539552" y="467380"/>
            <a:ext cx="2973891" cy="369332"/>
          </a:xfrm>
          <a:prstGeom prst="rect">
            <a:avLst/>
          </a:prstGeom>
          <a:noFill/>
        </p:spPr>
        <p:txBody>
          <a:bodyPr wrap="none" rtlCol="0">
            <a:spAutoFit/>
          </a:bodyPr>
          <a:lstStyle/>
          <a:p>
            <a:r>
              <a:rPr lang="zh-CN" altLang="en-US" b="1" dirty="0"/>
              <a:t>二</a:t>
            </a:r>
            <a:r>
              <a:rPr lang="zh-CN" altLang="en-US" b="1" dirty="0" smtClean="0"/>
              <a:t>、基本调幅信号的频谱图</a:t>
            </a:r>
            <a:endParaRPr lang="zh-CN" altLang="en-US" b="1" dirty="0"/>
          </a:p>
        </p:txBody>
      </p:sp>
      <p:pic>
        <p:nvPicPr>
          <p:cNvPr id="18"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214" y="1629122"/>
            <a:ext cx="33401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 descr="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1960" y="4035766"/>
            <a:ext cx="4698142" cy="1841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5902838" y="2369810"/>
            <a:ext cx="1316386" cy="461665"/>
          </a:xfrm>
          <a:prstGeom prst="rect">
            <a:avLst/>
          </a:prstGeom>
          <a:noFill/>
        </p:spPr>
        <p:txBody>
          <a:bodyPr wrap="non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AM</a:t>
            </a:r>
            <a:r>
              <a:rPr lang="zh-CN" altLang="en-US" sz="2400" b="1" dirty="0">
                <a:solidFill>
                  <a:srgbClr val="FF0000"/>
                </a:solidFill>
                <a:latin typeface="Times New Roman" panose="02020603050405020304" pitchFamily="18" charset="0"/>
                <a:cs typeface="Times New Roman" panose="02020603050405020304" pitchFamily="18" charset="0"/>
              </a:rPr>
              <a:t>信号</a:t>
            </a:r>
          </a:p>
        </p:txBody>
      </p:sp>
    </p:spTree>
    <p:extLst>
      <p:ext uri="{BB962C8B-B14F-4D97-AF65-F5344CB8AC3E}">
        <p14:creationId xmlns:p14="http://schemas.microsoft.com/office/powerpoint/2010/main" val="1491802437"/>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75</a:t>
            </a:fld>
            <a:endParaRPr lang="en-US" altLang="zh-CN" dirty="0">
              <a:solidFill>
                <a:srgbClr val="000000"/>
              </a:solidFill>
            </a:endParaRPr>
          </a:p>
        </p:txBody>
      </p:sp>
      <p:sp>
        <p:nvSpPr>
          <p:cNvPr id="6" name="TextBox 5"/>
          <p:cNvSpPr txBox="1"/>
          <p:nvPr/>
        </p:nvSpPr>
        <p:spPr>
          <a:xfrm>
            <a:off x="539552" y="467380"/>
            <a:ext cx="2973891" cy="369332"/>
          </a:xfrm>
          <a:prstGeom prst="rect">
            <a:avLst/>
          </a:prstGeom>
          <a:noFill/>
        </p:spPr>
        <p:txBody>
          <a:bodyPr wrap="none" rtlCol="0">
            <a:spAutoFit/>
          </a:bodyPr>
          <a:lstStyle/>
          <a:p>
            <a:r>
              <a:rPr lang="zh-CN" altLang="en-US" b="1" dirty="0" smtClean="0"/>
              <a:t>二、基本调幅信号的频谱图</a:t>
            </a:r>
            <a:endParaRPr lang="zh-CN" altLang="en-US" b="1" dirty="0"/>
          </a:p>
        </p:txBody>
      </p:sp>
      <p:sp>
        <p:nvSpPr>
          <p:cNvPr id="2" name="TextBox 1"/>
          <p:cNvSpPr txBox="1"/>
          <p:nvPr/>
        </p:nvSpPr>
        <p:spPr>
          <a:xfrm>
            <a:off x="6071601" y="2348909"/>
            <a:ext cx="1402948" cy="461665"/>
          </a:xfrm>
          <a:prstGeom prst="rect">
            <a:avLst/>
          </a:prstGeom>
          <a:noFill/>
        </p:spPr>
        <p:txBody>
          <a:bodyPr wrap="non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DSB</a:t>
            </a:r>
            <a:r>
              <a:rPr lang="zh-CN" altLang="en-US" sz="2400" b="1" dirty="0" smtClean="0">
                <a:solidFill>
                  <a:srgbClr val="FF0000"/>
                </a:solidFill>
                <a:latin typeface="Times New Roman" panose="02020603050405020304" pitchFamily="18" charset="0"/>
                <a:cs typeface="Times New Roman" panose="02020603050405020304" pitchFamily="18" charset="0"/>
              </a:rPr>
              <a:t>信号</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pic>
        <p:nvPicPr>
          <p:cNvPr id="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592" y="1412776"/>
            <a:ext cx="3767137" cy="438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3789040"/>
            <a:ext cx="3826087" cy="244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334593"/>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76</a:t>
            </a:fld>
            <a:endParaRPr lang="en-US" altLang="zh-CN" dirty="0">
              <a:solidFill>
                <a:srgbClr val="000000"/>
              </a:solidFill>
            </a:endParaRPr>
          </a:p>
        </p:txBody>
      </p:sp>
      <p:sp>
        <p:nvSpPr>
          <p:cNvPr id="6" name="TextBox 5"/>
          <p:cNvSpPr txBox="1"/>
          <p:nvPr/>
        </p:nvSpPr>
        <p:spPr>
          <a:xfrm>
            <a:off x="539552" y="467380"/>
            <a:ext cx="2973891" cy="369332"/>
          </a:xfrm>
          <a:prstGeom prst="rect">
            <a:avLst/>
          </a:prstGeom>
          <a:noFill/>
        </p:spPr>
        <p:txBody>
          <a:bodyPr wrap="none" rtlCol="0">
            <a:spAutoFit/>
          </a:bodyPr>
          <a:lstStyle/>
          <a:p>
            <a:r>
              <a:rPr lang="zh-CN" altLang="en-US" b="1" dirty="0" smtClean="0"/>
              <a:t>二、基本调幅信号的频谱图</a:t>
            </a:r>
            <a:endParaRPr lang="zh-CN" altLang="en-US" b="1" dirty="0"/>
          </a:p>
        </p:txBody>
      </p:sp>
      <p:sp>
        <p:nvSpPr>
          <p:cNvPr id="2" name="TextBox 1"/>
          <p:cNvSpPr txBox="1"/>
          <p:nvPr/>
        </p:nvSpPr>
        <p:spPr>
          <a:xfrm>
            <a:off x="1583107" y="1268760"/>
            <a:ext cx="1351652" cy="461665"/>
          </a:xfrm>
          <a:prstGeom prst="rect">
            <a:avLst/>
          </a:prstGeom>
          <a:noFill/>
        </p:spPr>
        <p:txBody>
          <a:bodyPr wrap="none" rtlCol="0">
            <a:spAutoFit/>
          </a:bodyPr>
          <a:lstStyle/>
          <a:p>
            <a:r>
              <a:rPr lang="en-US" altLang="zh-CN" sz="2400" b="1" dirty="0">
                <a:solidFill>
                  <a:srgbClr val="FF0000"/>
                </a:solidFill>
                <a:latin typeface="Times New Roman" panose="02020603050405020304" pitchFamily="18" charset="0"/>
                <a:cs typeface="Times New Roman" panose="02020603050405020304" pitchFamily="18" charset="0"/>
              </a:rPr>
              <a:t>S</a:t>
            </a:r>
            <a:r>
              <a:rPr lang="en-US" altLang="zh-CN" sz="2400" b="1" dirty="0" smtClean="0">
                <a:solidFill>
                  <a:srgbClr val="FF0000"/>
                </a:solidFill>
                <a:latin typeface="Times New Roman" panose="02020603050405020304" pitchFamily="18" charset="0"/>
                <a:cs typeface="Times New Roman" panose="02020603050405020304" pitchFamily="18" charset="0"/>
              </a:rPr>
              <a:t>SB</a:t>
            </a:r>
            <a:r>
              <a:rPr lang="zh-CN" altLang="en-US" sz="2400" b="1" dirty="0" smtClean="0">
                <a:solidFill>
                  <a:srgbClr val="FF0000"/>
                </a:solidFill>
                <a:latin typeface="Times New Roman" panose="02020603050405020304" pitchFamily="18" charset="0"/>
                <a:cs typeface="Times New Roman" panose="02020603050405020304" pitchFamily="18" charset="0"/>
              </a:rPr>
              <a:t>信号</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576719489"/>
              </p:ext>
            </p:extLst>
          </p:nvPr>
        </p:nvGraphicFramePr>
        <p:xfrm>
          <a:off x="574531" y="2060848"/>
          <a:ext cx="3967162" cy="2730500"/>
        </p:xfrm>
        <a:graphic>
          <a:graphicData uri="http://schemas.openxmlformats.org/presentationml/2006/ole">
            <mc:AlternateContent xmlns:mc="http://schemas.openxmlformats.org/markup-compatibility/2006">
              <mc:Choice xmlns:v="urn:schemas-microsoft-com:vml" Requires="v">
                <p:oleObj spid="_x0000_s35012" r:id="rId4" imgW="2371954" imgH="1473708" progId="Visio.Drawing.11">
                  <p:embed/>
                </p:oleObj>
              </mc:Choice>
              <mc:Fallback>
                <p:oleObj r:id="rId4" imgW="2371954" imgH="1473708"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531" y="2060848"/>
                        <a:ext cx="3967162" cy="273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Box 7"/>
          <p:cNvSpPr txBox="1"/>
          <p:nvPr/>
        </p:nvSpPr>
        <p:spPr>
          <a:xfrm>
            <a:off x="5645862" y="1268760"/>
            <a:ext cx="1402948" cy="461665"/>
          </a:xfrm>
          <a:prstGeom prst="rect">
            <a:avLst/>
          </a:prstGeom>
          <a:noFill/>
        </p:spPr>
        <p:txBody>
          <a:bodyPr wrap="none" rtlCol="0">
            <a:spAutoFit/>
          </a:bodyPr>
          <a:lstStyle/>
          <a:p>
            <a:r>
              <a:rPr lang="en-US" altLang="zh-CN" sz="2400" b="1" dirty="0" smtClean="0">
                <a:solidFill>
                  <a:srgbClr val="FF0000"/>
                </a:solidFill>
                <a:latin typeface="Times New Roman" panose="02020603050405020304" pitchFamily="18" charset="0"/>
                <a:cs typeface="Times New Roman" panose="02020603050405020304" pitchFamily="18" charset="0"/>
              </a:rPr>
              <a:t>VSB</a:t>
            </a:r>
            <a:r>
              <a:rPr lang="zh-CN" altLang="en-US" sz="2400" b="1" dirty="0" smtClean="0">
                <a:solidFill>
                  <a:srgbClr val="FF0000"/>
                </a:solidFill>
                <a:latin typeface="Times New Roman" panose="02020603050405020304" pitchFamily="18" charset="0"/>
                <a:cs typeface="Times New Roman" panose="02020603050405020304" pitchFamily="18" charset="0"/>
              </a:rPr>
              <a:t>信号</a:t>
            </a:r>
            <a:endParaRPr lang="zh-CN" altLang="en-US" sz="2400" b="1" dirty="0">
              <a:solidFill>
                <a:srgbClr val="FF0000"/>
              </a:solidFill>
              <a:latin typeface="Times New Roman" panose="02020603050405020304" pitchFamily="18" charset="0"/>
              <a:cs typeface="Times New Roman" panose="02020603050405020304" pitchFamily="18" charset="0"/>
            </a:endParaRPr>
          </a:p>
        </p:txBody>
      </p:sp>
      <p:pic>
        <p:nvPicPr>
          <p:cNvPr id="3481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8024" y="2838277"/>
            <a:ext cx="4102079" cy="18148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2551566"/>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77</a:t>
            </a:fld>
            <a:endParaRPr lang="en-US" altLang="zh-CN" dirty="0">
              <a:solidFill>
                <a:srgbClr val="000000"/>
              </a:solidFill>
            </a:endParaRPr>
          </a:p>
        </p:txBody>
      </p:sp>
      <p:sp>
        <p:nvSpPr>
          <p:cNvPr id="6" name="TextBox 5"/>
          <p:cNvSpPr txBox="1"/>
          <p:nvPr/>
        </p:nvSpPr>
        <p:spPr>
          <a:xfrm>
            <a:off x="539551" y="476672"/>
            <a:ext cx="3438762" cy="369332"/>
          </a:xfrm>
          <a:prstGeom prst="rect">
            <a:avLst/>
          </a:prstGeom>
          <a:noFill/>
        </p:spPr>
        <p:txBody>
          <a:bodyPr wrap="none" rtlCol="0">
            <a:spAutoFit/>
          </a:bodyPr>
          <a:lstStyle/>
          <a:p>
            <a:r>
              <a:rPr lang="zh-CN" altLang="en-US" b="1" dirty="0" smtClean="0"/>
              <a:t>三、基本调幅信号的功率、带宽</a:t>
            </a:r>
            <a:endParaRPr lang="zh-CN" altLang="en-US" b="1" dirty="0"/>
          </a:p>
        </p:txBody>
      </p:sp>
      <p:graphicFrame>
        <p:nvGraphicFramePr>
          <p:cNvPr id="9" name="表格 8"/>
          <p:cNvGraphicFramePr>
            <a:graphicFrameLocks noGrp="1"/>
          </p:cNvGraphicFramePr>
          <p:nvPr>
            <p:extLst>
              <p:ext uri="{D42A27DB-BD31-4B8C-83A1-F6EECF244321}">
                <p14:modId xmlns:p14="http://schemas.microsoft.com/office/powerpoint/2010/main" val="1572470718"/>
              </p:ext>
            </p:extLst>
          </p:nvPr>
        </p:nvGraphicFramePr>
        <p:xfrm>
          <a:off x="395536" y="1124744"/>
          <a:ext cx="8712968" cy="4968552"/>
        </p:xfrm>
        <a:graphic>
          <a:graphicData uri="http://schemas.openxmlformats.org/drawingml/2006/table">
            <a:tbl>
              <a:tblPr firstRow="1" bandRow="1">
                <a:tableStyleId>{5940675A-B579-460E-94D1-54222C63F5DA}</a:tableStyleId>
              </a:tblPr>
              <a:tblGrid>
                <a:gridCol w="936104"/>
                <a:gridCol w="2736304"/>
                <a:gridCol w="1728192"/>
                <a:gridCol w="1224136"/>
                <a:gridCol w="2088232"/>
              </a:tblGrid>
              <a:tr h="720080">
                <a:tc>
                  <a:txBody>
                    <a:bodyPr/>
                    <a:lstStyle/>
                    <a:p>
                      <a:pPr algn="ctr"/>
                      <a:r>
                        <a:rPr lang="zh-CN" altLang="en-US" sz="2000" dirty="0" smtClean="0">
                          <a:latin typeface="Times New Roman" panose="02020603050405020304" pitchFamily="18" charset="0"/>
                          <a:cs typeface="Times New Roman" panose="02020603050405020304" pitchFamily="18" charset="0"/>
                        </a:rPr>
                        <a:t>调幅类型</a:t>
                      </a: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2000" dirty="0" smtClean="0">
                          <a:latin typeface="Times New Roman" panose="02020603050405020304" pitchFamily="18" charset="0"/>
                          <a:cs typeface="Times New Roman" panose="02020603050405020304" pitchFamily="18" charset="0"/>
                        </a:rPr>
                        <a:t>包络、频谱特点</a:t>
                      </a: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2000" dirty="0" smtClean="0">
                          <a:latin typeface="Times New Roman" panose="02020603050405020304" pitchFamily="18" charset="0"/>
                          <a:cs typeface="Times New Roman" panose="02020603050405020304" pitchFamily="18" charset="0"/>
                        </a:rPr>
                        <a:t>功率</a:t>
                      </a: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2000" dirty="0" smtClean="0">
                          <a:latin typeface="Times New Roman" panose="02020603050405020304" pitchFamily="18" charset="0"/>
                          <a:cs typeface="Times New Roman" panose="02020603050405020304" pitchFamily="18" charset="0"/>
                        </a:rPr>
                        <a:t>带宽</a:t>
                      </a: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2000" dirty="0" smtClean="0">
                          <a:latin typeface="Times New Roman" panose="02020603050405020304" pitchFamily="18" charset="0"/>
                          <a:cs typeface="Times New Roman" panose="02020603050405020304" pitchFamily="18" charset="0"/>
                        </a:rPr>
                        <a:t>特点</a:t>
                      </a:r>
                      <a:endParaRPr lang="zh-CN" altLang="en-US" sz="2000" dirty="0">
                        <a:latin typeface="Times New Roman" panose="02020603050405020304" pitchFamily="18" charset="0"/>
                        <a:cs typeface="Times New Roman" panose="02020603050405020304" pitchFamily="18" charset="0"/>
                      </a:endParaRPr>
                    </a:p>
                  </a:txBody>
                  <a:tcPr anchor="ctr"/>
                </a:tc>
              </a:tr>
              <a:tr h="1008112">
                <a:tc>
                  <a:txBody>
                    <a:bodyPr/>
                    <a:lstStyle/>
                    <a:p>
                      <a:pPr algn="ctr"/>
                      <a:r>
                        <a:rPr lang="en-US" altLang="zh-CN" sz="2000" dirty="0" smtClean="0">
                          <a:latin typeface="Times New Roman" panose="02020603050405020304" pitchFamily="18" charset="0"/>
                          <a:cs typeface="Times New Roman" panose="02020603050405020304" pitchFamily="18" charset="0"/>
                        </a:rPr>
                        <a:t>AM</a:t>
                      </a: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r>
              <a:tr h="1080120">
                <a:tc>
                  <a:txBody>
                    <a:bodyPr/>
                    <a:lstStyle/>
                    <a:p>
                      <a:pPr algn="ctr"/>
                      <a:r>
                        <a:rPr lang="en-US" altLang="zh-CN" sz="2000" dirty="0" smtClean="0">
                          <a:latin typeface="Times New Roman" panose="02020603050405020304" pitchFamily="18" charset="0"/>
                          <a:cs typeface="Times New Roman" panose="02020603050405020304" pitchFamily="18" charset="0"/>
                        </a:rPr>
                        <a:t>DSB</a:t>
                      </a: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r>
              <a:tr h="1152128">
                <a:tc>
                  <a:txBody>
                    <a:bodyPr/>
                    <a:lstStyle/>
                    <a:p>
                      <a:pPr algn="ctr"/>
                      <a:r>
                        <a:rPr lang="en-US" altLang="zh-CN" sz="2000" dirty="0" smtClean="0">
                          <a:latin typeface="Times New Roman" panose="02020603050405020304" pitchFamily="18" charset="0"/>
                          <a:cs typeface="Times New Roman" panose="02020603050405020304" pitchFamily="18" charset="0"/>
                        </a:rPr>
                        <a:t>SSB</a:t>
                      </a: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dirty="0">
                        <a:latin typeface="Times New Roman" panose="02020603050405020304" pitchFamily="18" charset="0"/>
                        <a:cs typeface="Times New Roman" panose="02020603050405020304" pitchFamily="18" charset="0"/>
                      </a:endParaRPr>
                    </a:p>
                  </a:txBody>
                  <a:tcPr anchor="ctr"/>
                </a:tc>
              </a:tr>
              <a:tr h="1008112">
                <a:tc>
                  <a:txBody>
                    <a:bodyPr/>
                    <a:lstStyle/>
                    <a:p>
                      <a:pPr algn="ctr"/>
                      <a:r>
                        <a:rPr lang="en-US" altLang="zh-CN" sz="2000" dirty="0" smtClean="0">
                          <a:latin typeface="Times New Roman" panose="02020603050405020304" pitchFamily="18" charset="0"/>
                          <a:cs typeface="Times New Roman" panose="02020603050405020304" pitchFamily="18" charset="0"/>
                        </a:rPr>
                        <a:t>VSB</a:t>
                      </a:r>
                      <a:endParaRPr lang="zh-CN" altLang="en-US" sz="2000" dirty="0">
                        <a:latin typeface="Times New Roman" panose="02020603050405020304" pitchFamily="18" charset="0"/>
                        <a:cs typeface="Times New Roman" panose="02020603050405020304" pitchFamily="18" charset="0"/>
                      </a:endParaRPr>
                    </a:p>
                  </a:txBody>
                  <a:tcPr anchor="ctr"/>
                </a:tc>
                <a:tc>
                  <a:txBody>
                    <a:bodyPr/>
                    <a:lstStyle/>
                    <a:p>
                      <a:pPr algn="ctr"/>
                      <a:endParaRPr lang="zh-CN"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zh-CN"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zh-CN"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c>
                  <a:txBody>
                    <a:bodyPr/>
                    <a:lstStyle/>
                    <a:p>
                      <a:pPr algn="ctr"/>
                      <a:endParaRPr lang="zh-CN" altLang="en-US" sz="2000" kern="1200" dirty="0">
                        <a:solidFill>
                          <a:schemeClr val="tx1"/>
                        </a:solidFill>
                        <a:latin typeface="Times New Roman" panose="02020603050405020304" pitchFamily="18" charset="0"/>
                        <a:ea typeface="+mn-ea"/>
                        <a:cs typeface="Times New Roman" panose="02020603050405020304" pitchFamily="18" charset="0"/>
                      </a:endParaRPr>
                    </a:p>
                  </a:txBody>
                  <a:tcPr anchor="ctr"/>
                </a:tc>
              </a:tr>
            </a:tbl>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479481365"/>
              </p:ext>
            </p:extLst>
          </p:nvPr>
        </p:nvGraphicFramePr>
        <p:xfrm>
          <a:off x="4341862" y="1989584"/>
          <a:ext cx="1238250" cy="812800"/>
        </p:xfrm>
        <a:graphic>
          <a:graphicData uri="http://schemas.openxmlformats.org/presentationml/2006/ole">
            <mc:AlternateContent xmlns:mc="http://schemas.openxmlformats.org/markup-compatibility/2006">
              <mc:Choice xmlns:v="urn:schemas-microsoft-com:vml" Requires="v">
                <p:oleObj spid="_x0000_s120950" name="Equation" r:id="rId4" imgW="736560" imgH="482400" progId="Equation.DSMT4">
                  <p:embed/>
                </p:oleObj>
              </mc:Choice>
              <mc:Fallback>
                <p:oleObj name="Equation" r:id="rId4" imgW="736560" imgH="482400" progId="Equation.DSMT4">
                  <p:embed/>
                  <p:pic>
                    <p:nvPicPr>
                      <p:cNvPr id="0" name=""/>
                      <p:cNvPicPr>
                        <a:picLocks noChangeAspect="1" noChangeArrowheads="1"/>
                      </p:cNvPicPr>
                      <p:nvPr/>
                    </p:nvPicPr>
                    <p:blipFill>
                      <a:blip r:embed="rId5"/>
                      <a:srcRect/>
                      <a:stretch>
                        <a:fillRect/>
                      </a:stretch>
                    </p:blipFill>
                    <p:spPr bwMode="auto">
                      <a:xfrm>
                        <a:off x="4341862" y="1989584"/>
                        <a:ext cx="1238250" cy="812800"/>
                      </a:xfrm>
                      <a:prstGeom prst="rect">
                        <a:avLst/>
                      </a:prstGeom>
                      <a:noFill/>
                      <a:ln>
                        <a:noFill/>
                      </a:ln>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599813937"/>
              </p:ext>
            </p:extLst>
          </p:nvPr>
        </p:nvGraphicFramePr>
        <p:xfrm>
          <a:off x="4598466" y="4077072"/>
          <a:ext cx="909638" cy="806450"/>
        </p:xfrm>
        <a:graphic>
          <a:graphicData uri="http://schemas.openxmlformats.org/presentationml/2006/ole">
            <mc:AlternateContent xmlns:mc="http://schemas.openxmlformats.org/markup-compatibility/2006">
              <mc:Choice xmlns:v="urn:schemas-microsoft-com:vml" Requires="v">
                <p:oleObj spid="_x0000_s120951" name="Equation" r:id="rId6" imgW="444240" imgH="393480" progId="Equation.DSMT4">
                  <p:embed/>
                </p:oleObj>
              </mc:Choice>
              <mc:Fallback>
                <p:oleObj name="Equation" r:id="rId6" imgW="444240" imgH="393480" progId="Equation.DSMT4">
                  <p:embed/>
                  <p:pic>
                    <p:nvPicPr>
                      <p:cNvPr id="0" name=""/>
                      <p:cNvPicPr>
                        <a:picLocks noChangeAspect="1" noChangeArrowheads="1"/>
                      </p:cNvPicPr>
                      <p:nvPr/>
                    </p:nvPicPr>
                    <p:blipFill>
                      <a:blip r:embed="rId7"/>
                      <a:srcRect/>
                      <a:stretch>
                        <a:fillRect/>
                      </a:stretch>
                    </p:blipFill>
                    <p:spPr bwMode="auto">
                      <a:xfrm>
                        <a:off x="4598466" y="4077072"/>
                        <a:ext cx="909638"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051394266"/>
              </p:ext>
            </p:extLst>
          </p:nvPr>
        </p:nvGraphicFramePr>
        <p:xfrm>
          <a:off x="4526459" y="2996952"/>
          <a:ext cx="909637" cy="806450"/>
        </p:xfrm>
        <a:graphic>
          <a:graphicData uri="http://schemas.openxmlformats.org/presentationml/2006/ole">
            <mc:AlternateContent xmlns:mc="http://schemas.openxmlformats.org/markup-compatibility/2006">
              <mc:Choice xmlns:v="urn:schemas-microsoft-com:vml" Requires="v">
                <p:oleObj spid="_x0000_s120952" name="Equation" r:id="rId8" imgW="444240" imgH="393480" progId="Equation.DSMT4">
                  <p:embed/>
                </p:oleObj>
              </mc:Choice>
              <mc:Fallback>
                <p:oleObj name="Equation" r:id="rId8" imgW="444240" imgH="393480" progId="Equation.DSMT4">
                  <p:embed/>
                  <p:pic>
                    <p:nvPicPr>
                      <p:cNvPr id="0" name=""/>
                      <p:cNvPicPr>
                        <a:picLocks noChangeAspect="1" noChangeArrowheads="1"/>
                      </p:cNvPicPr>
                      <p:nvPr/>
                    </p:nvPicPr>
                    <p:blipFill>
                      <a:blip r:embed="rId9"/>
                      <a:srcRect/>
                      <a:stretch>
                        <a:fillRect/>
                      </a:stretch>
                    </p:blipFill>
                    <p:spPr bwMode="auto">
                      <a:xfrm>
                        <a:off x="4526459" y="2996952"/>
                        <a:ext cx="909637"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4297167" y="5302949"/>
            <a:ext cx="1107996" cy="646331"/>
          </a:xfrm>
          <a:prstGeom prst="rect">
            <a:avLst/>
          </a:prstGeom>
          <a:noFill/>
        </p:spPr>
        <p:txBody>
          <a:bodyPr wrap="none" rtlCol="0">
            <a:spAutoFit/>
          </a:bodyPr>
          <a:lstStyle/>
          <a:p>
            <a:pPr algn="ctr"/>
            <a:r>
              <a:rPr lang="en-US" altLang="zh-CN" dirty="0" smtClean="0"/>
              <a:t>DSB</a:t>
            </a:r>
            <a:r>
              <a:rPr lang="zh-CN" altLang="en-US" dirty="0" smtClean="0"/>
              <a:t>和</a:t>
            </a:r>
            <a:endParaRPr lang="en-US" altLang="zh-CN" dirty="0" smtClean="0"/>
          </a:p>
          <a:p>
            <a:pPr algn="ctr"/>
            <a:r>
              <a:rPr lang="en-US" altLang="zh-CN" dirty="0" smtClean="0"/>
              <a:t>SSB</a:t>
            </a:r>
            <a:r>
              <a:rPr lang="zh-CN" altLang="en-US" dirty="0" smtClean="0"/>
              <a:t>之间</a:t>
            </a:r>
            <a:endParaRPr lang="zh-CN" altLang="en-US" dirty="0"/>
          </a:p>
        </p:txBody>
      </p:sp>
      <p:graphicFrame>
        <p:nvGraphicFramePr>
          <p:cNvPr id="14" name="对象 13"/>
          <p:cNvGraphicFramePr>
            <a:graphicFrameLocks noChangeAspect="1"/>
          </p:cNvGraphicFramePr>
          <p:nvPr>
            <p:extLst>
              <p:ext uri="{D42A27DB-BD31-4B8C-83A1-F6EECF244321}">
                <p14:modId xmlns:p14="http://schemas.microsoft.com/office/powerpoint/2010/main" val="2253067865"/>
              </p:ext>
            </p:extLst>
          </p:nvPr>
        </p:nvGraphicFramePr>
        <p:xfrm>
          <a:off x="6156176" y="2154759"/>
          <a:ext cx="493712" cy="338137"/>
        </p:xfrm>
        <a:graphic>
          <a:graphicData uri="http://schemas.openxmlformats.org/presentationml/2006/ole">
            <mc:AlternateContent xmlns:mc="http://schemas.openxmlformats.org/markup-compatibility/2006">
              <mc:Choice xmlns:v="urn:schemas-microsoft-com:vml" Requires="v">
                <p:oleObj spid="_x0000_s120953" name="Equation" r:id="rId10" imgW="241200" imgH="164880" progId="Equation.DSMT4">
                  <p:embed/>
                </p:oleObj>
              </mc:Choice>
              <mc:Fallback>
                <p:oleObj name="Equation" r:id="rId10" imgW="241200" imgH="164880" progId="Equation.DSMT4">
                  <p:embed/>
                  <p:pic>
                    <p:nvPicPr>
                      <p:cNvPr id="0" name=""/>
                      <p:cNvPicPr>
                        <a:picLocks noChangeAspect="1" noChangeArrowheads="1"/>
                      </p:cNvPicPr>
                      <p:nvPr/>
                    </p:nvPicPr>
                    <p:blipFill>
                      <a:blip r:embed="rId11"/>
                      <a:srcRect/>
                      <a:stretch>
                        <a:fillRect/>
                      </a:stretch>
                    </p:blipFill>
                    <p:spPr bwMode="auto">
                      <a:xfrm>
                        <a:off x="6156176" y="2154759"/>
                        <a:ext cx="4937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473939670"/>
              </p:ext>
            </p:extLst>
          </p:nvPr>
        </p:nvGraphicFramePr>
        <p:xfrm>
          <a:off x="6166520" y="3234878"/>
          <a:ext cx="493712" cy="338138"/>
        </p:xfrm>
        <a:graphic>
          <a:graphicData uri="http://schemas.openxmlformats.org/presentationml/2006/ole">
            <mc:AlternateContent xmlns:mc="http://schemas.openxmlformats.org/markup-compatibility/2006">
              <mc:Choice xmlns:v="urn:schemas-microsoft-com:vml" Requires="v">
                <p:oleObj spid="_x0000_s120954" name="Equation" r:id="rId12" imgW="241200" imgH="164880" progId="Equation.DSMT4">
                  <p:embed/>
                </p:oleObj>
              </mc:Choice>
              <mc:Fallback>
                <p:oleObj name="Equation" r:id="rId12" imgW="241200" imgH="16488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66520" y="3234878"/>
                        <a:ext cx="4937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201742775"/>
              </p:ext>
            </p:extLst>
          </p:nvPr>
        </p:nvGraphicFramePr>
        <p:xfrm>
          <a:off x="6250086" y="4364484"/>
          <a:ext cx="338138" cy="338138"/>
        </p:xfrm>
        <a:graphic>
          <a:graphicData uri="http://schemas.openxmlformats.org/presentationml/2006/ole">
            <mc:AlternateContent xmlns:mc="http://schemas.openxmlformats.org/markup-compatibility/2006">
              <mc:Choice xmlns:v="urn:schemas-microsoft-com:vml" Requires="v">
                <p:oleObj spid="_x0000_s120955" name="Equation" r:id="rId14" imgW="164880" imgH="164880" progId="Equation.DSMT4">
                  <p:embed/>
                </p:oleObj>
              </mc:Choice>
              <mc:Fallback>
                <p:oleObj name="Equation" r:id="rId14" imgW="164880" imgH="164880" progId="Equation.DSMT4">
                  <p:embed/>
                  <p:pic>
                    <p:nvPicPr>
                      <p:cNvPr id="0" name=""/>
                      <p:cNvPicPr>
                        <a:picLocks noChangeAspect="1" noChangeArrowheads="1"/>
                      </p:cNvPicPr>
                      <p:nvPr/>
                    </p:nvPicPr>
                    <p:blipFill>
                      <a:blip r:embed="rId15"/>
                      <a:srcRect/>
                      <a:stretch>
                        <a:fillRect/>
                      </a:stretch>
                    </p:blipFill>
                    <p:spPr bwMode="auto">
                      <a:xfrm>
                        <a:off x="6250086" y="4364484"/>
                        <a:ext cx="3381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TextBox 16"/>
          <p:cNvSpPr txBox="1"/>
          <p:nvPr/>
        </p:nvSpPr>
        <p:spPr>
          <a:xfrm>
            <a:off x="5912276" y="5302949"/>
            <a:ext cx="1107996" cy="646331"/>
          </a:xfrm>
          <a:prstGeom prst="rect">
            <a:avLst/>
          </a:prstGeom>
          <a:noFill/>
        </p:spPr>
        <p:txBody>
          <a:bodyPr wrap="none" rtlCol="0">
            <a:spAutoFit/>
          </a:bodyPr>
          <a:lstStyle/>
          <a:p>
            <a:pPr algn="ctr"/>
            <a:r>
              <a:rPr lang="en-US" altLang="zh-CN" dirty="0" smtClean="0"/>
              <a:t>DSB</a:t>
            </a:r>
            <a:r>
              <a:rPr lang="zh-CN" altLang="en-US" dirty="0" smtClean="0"/>
              <a:t>和</a:t>
            </a:r>
            <a:endParaRPr lang="en-US" altLang="zh-CN" dirty="0" smtClean="0"/>
          </a:p>
          <a:p>
            <a:pPr algn="ctr"/>
            <a:r>
              <a:rPr lang="en-US" altLang="zh-CN" dirty="0" smtClean="0"/>
              <a:t>SSB</a:t>
            </a:r>
            <a:r>
              <a:rPr lang="zh-CN" altLang="en-US" dirty="0" smtClean="0"/>
              <a:t>之间</a:t>
            </a:r>
            <a:endParaRPr lang="zh-CN" altLang="en-US" dirty="0"/>
          </a:p>
        </p:txBody>
      </p:sp>
      <p:sp>
        <p:nvSpPr>
          <p:cNvPr id="18" name="TextBox 17"/>
          <p:cNvSpPr txBox="1"/>
          <p:nvPr/>
        </p:nvSpPr>
        <p:spPr>
          <a:xfrm>
            <a:off x="7164288" y="1988840"/>
            <a:ext cx="1800494" cy="646331"/>
          </a:xfrm>
          <a:prstGeom prst="rect">
            <a:avLst/>
          </a:prstGeom>
          <a:noFill/>
        </p:spPr>
        <p:txBody>
          <a:bodyPr wrap="none" rtlCol="0">
            <a:spAutoFit/>
          </a:bodyPr>
          <a:lstStyle/>
          <a:p>
            <a:pPr algn="ctr"/>
            <a:r>
              <a:rPr lang="zh-CN" altLang="en-US" dirty="0" smtClean="0"/>
              <a:t>调制效率最低</a:t>
            </a:r>
            <a:endParaRPr lang="en-US" altLang="zh-CN" dirty="0" smtClean="0"/>
          </a:p>
          <a:p>
            <a:pPr algn="ctr"/>
            <a:r>
              <a:rPr lang="zh-CN" altLang="en-US" dirty="0"/>
              <a:t>频带</a:t>
            </a:r>
            <a:r>
              <a:rPr lang="zh-CN" altLang="en-US" dirty="0" smtClean="0"/>
              <a:t>利用率最低</a:t>
            </a:r>
            <a:endParaRPr lang="zh-CN" altLang="en-US" dirty="0"/>
          </a:p>
        </p:txBody>
      </p:sp>
      <p:sp>
        <p:nvSpPr>
          <p:cNvPr id="19" name="TextBox 18"/>
          <p:cNvSpPr txBox="1"/>
          <p:nvPr/>
        </p:nvSpPr>
        <p:spPr>
          <a:xfrm>
            <a:off x="7164288" y="3070701"/>
            <a:ext cx="1800494" cy="646331"/>
          </a:xfrm>
          <a:prstGeom prst="rect">
            <a:avLst/>
          </a:prstGeom>
          <a:noFill/>
        </p:spPr>
        <p:txBody>
          <a:bodyPr wrap="none" rtlCol="0">
            <a:spAutoFit/>
          </a:bodyPr>
          <a:lstStyle/>
          <a:p>
            <a:pPr algn="ctr"/>
            <a:r>
              <a:rPr lang="zh-CN" altLang="en-US" dirty="0" smtClean="0"/>
              <a:t>调制效率较高</a:t>
            </a:r>
            <a:endParaRPr lang="en-US" altLang="zh-CN" dirty="0" smtClean="0"/>
          </a:p>
          <a:p>
            <a:pPr algn="ctr"/>
            <a:r>
              <a:rPr lang="zh-CN" altLang="en-US" dirty="0"/>
              <a:t>频带</a:t>
            </a:r>
            <a:r>
              <a:rPr lang="zh-CN" altLang="en-US" dirty="0" smtClean="0"/>
              <a:t>利用率最低</a:t>
            </a:r>
            <a:endParaRPr lang="zh-CN" altLang="en-US" dirty="0"/>
          </a:p>
        </p:txBody>
      </p:sp>
      <p:sp>
        <p:nvSpPr>
          <p:cNvPr id="20" name="TextBox 19"/>
          <p:cNvSpPr txBox="1"/>
          <p:nvPr/>
        </p:nvSpPr>
        <p:spPr>
          <a:xfrm>
            <a:off x="7092280" y="4222829"/>
            <a:ext cx="1800494" cy="646331"/>
          </a:xfrm>
          <a:prstGeom prst="rect">
            <a:avLst/>
          </a:prstGeom>
          <a:noFill/>
        </p:spPr>
        <p:txBody>
          <a:bodyPr wrap="none" rtlCol="0">
            <a:spAutoFit/>
          </a:bodyPr>
          <a:lstStyle/>
          <a:p>
            <a:pPr algn="ctr"/>
            <a:r>
              <a:rPr lang="zh-CN" altLang="en-US" dirty="0" smtClean="0"/>
              <a:t>调制效率最高</a:t>
            </a:r>
            <a:endParaRPr lang="en-US" altLang="zh-CN" dirty="0" smtClean="0"/>
          </a:p>
          <a:p>
            <a:pPr algn="ctr"/>
            <a:r>
              <a:rPr lang="zh-CN" altLang="en-US" dirty="0"/>
              <a:t>频带</a:t>
            </a:r>
            <a:r>
              <a:rPr lang="zh-CN" altLang="en-US" dirty="0" smtClean="0"/>
              <a:t>利用率最高</a:t>
            </a:r>
            <a:endParaRPr lang="zh-CN" altLang="en-US" dirty="0"/>
          </a:p>
        </p:txBody>
      </p:sp>
      <p:sp>
        <p:nvSpPr>
          <p:cNvPr id="21" name="TextBox 20"/>
          <p:cNvSpPr txBox="1"/>
          <p:nvPr/>
        </p:nvSpPr>
        <p:spPr>
          <a:xfrm>
            <a:off x="7164288" y="5302949"/>
            <a:ext cx="1800494" cy="646331"/>
          </a:xfrm>
          <a:prstGeom prst="rect">
            <a:avLst/>
          </a:prstGeom>
          <a:noFill/>
        </p:spPr>
        <p:txBody>
          <a:bodyPr wrap="none" rtlCol="0">
            <a:spAutoFit/>
          </a:bodyPr>
          <a:lstStyle/>
          <a:p>
            <a:pPr algn="ctr"/>
            <a:r>
              <a:rPr lang="zh-CN" altLang="en-US" dirty="0" smtClean="0"/>
              <a:t>调制效率较高</a:t>
            </a:r>
            <a:endParaRPr lang="en-US" altLang="zh-CN" dirty="0" smtClean="0"/>
          </a:p>
          <a:p>
            <a:pPr algn="ctr"/>
            <a:r>
              <a:rPr lang="zh-CN" altLang="en-US" dirty="0"/>
              <a:t>频带</a:t>
            </a:r>
            <a:r>
              <a:rPr lang="zh-CN" altLang="en-US" dirty="0" smtClean="0"/>
              <a:t>利用率较高</a:t>
            </a:r>
            <a:endParaRPr lang="zh-CN" altLang="en-US" dirty="0"/>
          </a:p>
        </p:txBody>
      </p:sp>
      <p:sp>
        <p:nvSpPr>
          <p:cNvPr id="22" name="TextBox 21"/>
          <p:cNvSpPr txBox="1"/>
          <p:nvPr/>
        </p:nvSpPr>
        <p:spPr>
          <a:xfrm>
            <a:off x="1115616" y="2062589"/>
            <a:ext cx="3168352" cy="646331"/>
          </a:xfrm>
          <a:prstGeom prst="rect">
            <a:avLst/>
          </a:prstGeom>
          <a:noFill/>
        </p:spPr>
        <p:txBody>
          <a:bodyPr wrap="square" rtlCol="0">
            <a:spAutoFit/>
          </a:bodyPr>
          <a:lstStyle/>
          <a:p>
            <a:pPr algn="ctr"/>
            <a:r>
              <a:rPr lang="zh-CN" altLang="en-US" dirty="0"/>
              <a:t>包络反映</a:t>
            </a:r>
            <a:r>
              <a:rPr lang="en-US" altLang="zh-CN" dirty="0">
                <a:solidFill>
                  <a:prstClr val="black"/>
                </a:solidFill>
              </a:rPr>
              <a:t>u</a:t>
            </a:r>
            <a:r>
              <a:rPr lang="el-GR" altLang="zh-CN" baseline="-25000" dirty="0">
                <a:solidFill>
                  <a:prstClr val="black"/>
                </a:solidFill>
                <a:latin typeface="Times New Roman"/>
                <a:cs typeface="Times New Roman"/>
              </a:rPr>
              <a:t>Ω</a:t>
            </a:r>
            <a:r>
              <a:rPr lang="en-US" altLang="zh-CN" dirty="0">
                <a:solidFill>
                  <a:prstClr val="black"/>
                </a:solidFill>
                <a:latin typeface="Times New Roman"/>
                <a:cs typeface="Times New Roman"/>
              </a:rPr>
              <a:t>(t)</a:t>
            </a:r>
            <a:r>
              <a:rPr lang="zh-CN" altLang="en-US" dirty="0"/>
              <a:t>的波形</a:t>
            </a:r>
          </a:p>
          <a:p>
            <a:pPr algn="ctr"/>
            <a:r>
              <a:rPr lang="zh-CN" altLang="en-US" dirty="0" smtClean="0"/>
              <a:t>载频、上边带、下边带</a:t>
            </a:r>
            <a:endParaRPr lang="en-US" altLang="zh-CN" dirty="0" smtClean="0"/>
          </a:p>
        </p:txBody>
      </p:sp>
      <p:sp>
        <p:nvSpPr>
          <p:cNvPr id="23" name="TextBox 22"/>
          <p:cNvSpPr txBox="1"/>
          <p:nvPr/>
        </p:nvSpPr>
        <p:spPr>
          <a:xfrm>
            <a:off x="1403902" y="3009726"/>
            <a:ext cx="2491387" cy="923330"/>
          </a:xfrm>
          <a:prstGeom prst="rect">
            <a:avLst/>
          </a:prstGeom>
          <a:noFill/>
        </p:spPr>
        <p:txBody>
          <a:bodyPr wrap="none" rtlCol="0">
            <a:spAutoFit/>
          </a:bodyPr>
          <a:lstStyle/>
          <a:p>
            <a:pPr algn="ctr"/>
            <a:r>
              <a:rPr lang="zh-CN" altLang="en-US" dirty="0"/>
              <a:t>包络不反映</a:t>
            </a:r>
            <a:r>
              <a:rPr lang="en-US" altLang="zh-CN" dirty="0"/>
              <a:t>u</a:t>
            </a:r>
            <a:r>
              <a:rPr lang="el-GR" altLang="zh-CN" baseline="-25000" dirty="0">
                <a:latin typeface="Times New Roman"/>
                <a:cs typeface="Times New Roman"/>
              </a:rPr>
              <a:t>Ω</a:t>
            </a:r>
            <a:r>
              <a:rPr lang="en-US" altLang="zh-CN" dirty="0">
                <a:latin typeface="Times New Roman"/>
                <a:cs typeface="Times New Roman"/>
              </a:rPr>
              <a:t>(t)</a:t>
            </a:r>
            <a:r>
              <a:rPr lang="zh-CN" altLang="en-US" dirty="0">
                <a:latin typeface="Times New Roman"/>
                <a:cs typeface="Times New Roman"/>
              </a:rPr>
              <a:t>的</a:t>
            </a:r>
            <a:r>
              <a:rPr lang="zh-CN" altLang="en-US" dirty="0" smtClean="0">
                <a:latin typeface="Times New Roman"/>
                <a:cs typeface="Times New Roman"/>
              </a:rPr>
              <a:t>波形</a:t>
            </a:r>
            <a:endParaRPr lang="en-US" altLang="zh-CN" dirty="0" smtClean="0">
              <a:latin typeface="Times New Roman"/>
              <a:cs typeface="Times New Roman"/>
            </a:endParaRPr>
          </a:p>
          <a:p>
            <a:pPr algn="ctr"/>
            <a:r>
              <a:rPr lang="zh-CN" altLang="en-US" dirty="0" smtClean="0">
                <a:latin typeface="Times New Roman"/>
                <a:cs typeface="Times New Roman"/>
              </a:rPr>
              <a:t>与</a:t>
            </a:r>
            <a:r>
              <a:rPr lang="en-US" altLang="zh-CN" dirty="0" smtClean="0">
                <a:latin typeface="Times New Roman"/>
                <a:cs typeface="Times New Roman"/>
              </a:rPr>
              <a:t>|</a:t>
            </a:r>
            <a:r>
              <a:rPr lang="en-US" altLang="zh-CN" dirty="0"/>
              <a:t> u</a:t>
            </a:r>
            <a:r>
              <a:rPr lang="el-GR" altLang="zh-CN" baseline="-25000" dirty="0">
                <a:latin typeface="Times New Roman"/>
                <a:cs typeface="Times New Roman"/>
              </a:rPr>
              <a:t>Ω</a:t>
            </a:r>
            <a:r>
              <a:rPr lang="en-US" altLang="zh-CN" dirty="0">
                <a:latin typeface="Times New Roman"/>
                <a:cs typeface="Times New Roman"/>
              </a:rPr>
              <a:t>(t) </a:t>
            </a:r>
            <a:r>
              <a:rPr lang="en-US" altLang="zh-CN" dirty="0" smtClean="0">
                <a:latin typeface="Times New Roman"/>
                <a:cs typeface="Times New Roman"/>
              </a:rPr>
              <a:t>|</a:t>
            </a:r>
            <a:r>
              <a:rPr lang="zh-CN" altLang="en-US" dirty="0" smtClean="0">
                <a:latin typeface="Times New Roman"/>
                <a:cs typeface="Times New Roman"/>
              </a:rPr>
              <a:t>成正比</a:t>
            </a:r>
            <a:endParaRPr lang="zh-CN" altLang="en-US" dirty="0"/>
          </a:p>
          <a:p>
            <a:pPr algn="ctr"/>
            <a:r>
              <a:rPr lang="zh-CN" altLang="en-US" dirty="0" smtClean="0"/>
              <a:t>上边带、下边带</a:t>
            </a:r>
            <a:endParaRPr lang="en-US" altLang="zh-CN" dirty="0" smtClean="0"/>
          </a:p>
        </p:txBody>
      </p:sp>
      <p:sp>
        <p:nvSpPr>
          <p:cNvPr id="24" name="TextBox 23"/>
          <p:cNvSpPr txBox="1"/>
          <p:nvPr/>
        </p:nvSpPr>
        <p:spPr>
          <a:xfrm>
            <a:off x="1403902" y="4077072"/>
            <a:ext cx="2491387" cy="923330"/>
          </a:xfrm>
          <a:prstGeom prst="rect">
            <a:avLst/>
          </a:prstGeom>
          <a:noFill/>
        </p:spPr>
        <p:txBody>
          <a:bodyPr wrap="none" rtlCol="0">
            <a:spAutoFit/>
          </a:bodyPr>
          <a:lstStyle/>
          <a:p>
            <a:pPr algn="ctr"/>
            <a:r>
              <a:rPr lang="zh-CN" altLang="en-US" dirty="0"/>
              <a:t>包络不反映</a:t>
            </a:r>
            <a:r>
              <a:rPr lang="en-US" altLang="zh-CN" dirty="0"/>
              <a:t>u</a:t>
            </a:r>
            <a:r>
              <a:rPr lang="el-GR" altLang="zh-CN" baseline="-25000" dirty="0">
                <a:latin typeface="Times New Roman"/>
                <a:cs typeface="Times New Roman"/>
              </a:rPr>
              <a:t>Ω</a:t>
            </a:r>
            <a:r>
              <a:rPr lang="en-US" altLang="zh-CN" dirty="0">
                <a:latin typeface="Times New Roman"/>
                <a:cs typeface="Times New Roman"/>
              </a:rPr>
              <a:t>(t)</a:t>
            </a:r>
            <a:r>
              <a:rPr lang="zh-CN" altLang="en-US" dirty="0">
                <a:latin typeface="Times New Roman"/>
                <a:cs typeface="Times New Roman"/>
              </a:rPr>
              <a:t>的</a:t>
            </a:r>
            <a:r>
              <a:rPr lang="zh-CN" altLang="en-US" dirty="0" smtClean="0">
                <a:latin typeface="Times New Roman"/>
                <a:cs typeface="Times New Roman"/>
              </a:rPr>
              <a:t>波形</a:t>
            </a:r>
            <a:endParaRPr lang="en-US" altLang="zh-CN" dirty="0" smtClean="0">
              <a:latin typeface="Times New Roman"/>
              <a:cs typeface="Times New Roman"/>
            </a:endParaRPr>
          </a:p>
          <a:p>
            <a:pPr algn="ctr"/>
            <a:r>
              <a:rPr lang="zh-CN" altLang="en-US" dirty="0" smtClean="0"/>
              <a:t>与</a:t>
            </a:r>
            <a:r>
              <a:rPr lang="en-US" altLang="zh-CN" dirty="0" err="1" smtClean="0"/>
              <a:t>U</a:t>
            </a:r>
            <a:r>
              <a:rPr lang="en-US" altLang="zh-CN" baseline="-25000" dirty="0" err="1" smtClean="0"/>
              <a:t>cm</a:t>
            </a:r>
            <a:r>
              <a:rPr lang="zh-CN" altLang="en-US" dirty="0" smtClean="0"/>
              <a:t>成正比</a:t>
            </a:r>
            <a:endParaRPr lang="zh-CN" altLang="en-US" dirty="0"/>
          </a:p>
          <a:p>
            <a:pPr algn="ctr"/>
            <a:r>
              <a:rPr lang="zh-CN" altLang="en-US" dirty="0" smtClean="0"/>
              <a:t>上边带或下边带</a:t>
            </a:r>
            <a:endParaRPr lang="en-US" altLang="zh-CN" dirty="0" smtClean="0"/>
          </a:p>
        </p:txBody>
      </p:sp>
      <p:sp>
        <p:nvSpPr>
          <p:cNvPr id="25" name="TextBox 24"/>
          <p:cNvSpPr txBox="1"/>
          <p:nvPr/>
        </p:nvSpPr>
        <p:spPr>
          <a:xfrm>
            <a:off x="1432286" y="5169966"/>
            <a:ext cx="2491388" cy="923330"/>
          </a:xfrm>
          <a:prstGeom prst="rect">
            <a:avLst/>
          </a:prstGeom>
          <a:noFill/>
        </p:spPr>
        <p:txBody>
          <a:bodyPr wrap="none" rtlCol="0">
            <a:spAutoFit/>
          </a:bodyPr>
          <a:lstStyle/>
          <a:p>
            <a:pPr algn="ctr"/>
            <a:r>
              <a:rPr lang="zh-CN" altLang="en-US" dirty="0"/>
              <a:t>包络不反映</a:t>
            </a:r>
            <a:r>
              <a:rPr lang="en-US" altLang="zh-CN" dirty="0"/>
              <a:t>u</a:t>
            </a:r>
            <a:r>
              <a:rPr lang="el-GR" altLang="zh-CN" baseline="-25000" dirty="0">
                <a:latin typeface="Times New Roman"/>
                <a:cs typeface="Times New Roman"/>
              </a:rPr>
              <a:t>Ω</a:t>
            </a:r>
            <a:r>
              <a:rPr lang="en-US" altLang="zh-CN" dirty="0">
                <a:latin typeface="Times New Roman"/>
                <a:cs typeface="Times New Roman"/>
              </a:rPr>
              <a:t>(t)</a:t>
            </a:r>
            <a:r>
              <a:rPr lang="zh-CN" altLang="en-US" dirty="0">
                <a:latin typeface="Times New Roman"/>
                <a:cs typeface="Times New Roman"/>
              </a:rPr>
              <a:t>的波形</a:t>
            </a:r>
            <a:endParaRPr lang="zh-CN" altLang="en-US" dirty="0"/>
          </a:p>
          <a:p>
            <a:pPr algn="ctr"/>
            <a:r>
              <a:rPr lang="zh-CN" altLang="en-US" dirty="0" smtClean="0"/>
              <a:t>一</a:t>
            </a:r>
            <a:r>
              <a:rPr lang="zh-CN" altLang="en-US" dirty="0"/>
              <a:t>个</a:t>
            </a:r>
            <a:r>
              <a:rPr lang="zh-CN" altLang="en-US" dirty="0" smtClean="0"/>
              <a:t>边带的大部分和</a:t>
            </a:r>
            <a:endParaRPr lang="en-US" altLang="zh-CN" dirty="0" smtClean="0"/>
          </a:p>
          <a:p>
            <a:pPr algn="ctr"/>
            <a:r>
              <a:rPr lang="zh-CN" altLang="en-US" dirty="0"/>
              <a:t>另一</a:t>
            </a:r>
            <a:r>
              <a:rPr lang="zh-CN" altLang="en-US" dirty="0" smtClean="0"/>
              <a:t>个边带的小部分</a:t>
            </a:r>
            <a:endParaRPr lang="en-US" altLang="zh-CN" dirty="0" smtClean="0"/>
          </a:p>
        </p:txBody>
      </p:sp>
    </p:spTree>
    <p:extLst>
      <p:ext uri="{BB962C8B-B14F-4D97-AF65-F5344CB8AC3E}">
        <p14:creationId xmlns:p14="http://schemas.microsoft.com/office/powerpoint/2010/main" val="2064241273"/>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78</a:t>
            </a:fld>
            <a:endParaRPr lang="en-US" altLang="zh-CN" dirty="0">
              <a:solidFill>
                <a:srgbClr val="000000"/>
              </a:solidFill>
            </a:endParaRPr>
          </a:p>
        </p:txBody>
      </p:sp>
      <p:sp>
        <p:nvSpPr>
          <p:cNvPr id="6" name="TextBox 5"/>
          <p:cNvSpPr txBox="1"/>
          <p:nvPr/>
        </p:nvSpPr>
        <p:spPr>
          <a:xfrm>
            <a:off x="539552" y="467380"/>
            <a:ext cx="5065810" cy="369332"/>
          </a:xfrm>
          <a:prstGeom prst="rect">
            <a:avLst/>
          </a:prstGeom>
          <a:noFill/>
        </p:spPr>
        <p:txBody>
          <a:bodyPr wrap="none" rtlCol="0">
            <a:spAutoFit/>
          </a:bodyPr>
          <a:lstStyle/>
          <a:p>
            <a:r>
              <a:rPr lang="zh-CN" altLang="en-US" b="1" dirty="0"/>
              <a:t>四</a:t>
            </a:r>
            <a:r>
              <a:rPr lang="zh-CN" altLang="en-US" b="1" dirty="0" smtClean="0"/>
              <a:t>、掌握基本调幅电路的模型（会分析、会画）</a:t>
            </a:r>
            <a:endParaRPr lang="zh-CN" altLang="en-US" b="1" dirty="0"/>
          </a:p>
        </p:txBody>
      </p:sp>
      <p:pic>
        <p:nvPicPr>
          <p:cNvPr id="368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1268760"/>
            <a:ext cx="474980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968" y="3306365"/>
            <a:ext cx="4267200" cy="127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4026" y="5323607"/>
            <a:ext cx="6102350" cy="1201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066901" y="868650"/>
            <a:ext cx="1128835" cy="400110"/>
          </a:xfrm>
          <a:prstGeom prst="rect">
            <a:avLst/>
          </a:prstGeom>
          <a:noFill/>
        </p:spPr>
        <p:txBody>
          <a:bodyPr wrap="none" rtlCol="0">
            <a:spAutoFit/>
          </a:bodyPr>
          <a:lstStyle/>
          <a:p>
            <a:r>
              <a:rPr lang="en-US" altLang="zh-CN" sz="2000" b="1" dirty="0" smtClean="0">
                <a:solidFill>
                  <a:srgbClr val="00B050"/>
                </a:solidFill>
                <a:latin typeface="Times New Roman" panose="02020603050405020304" pitchFamily="18" charset="0"/>
                <a:cs typeface="Times New Roman" panose="02020603050405020304" pitchFamily="18" charset="0"/>
              </a:rPr>
              <a:t>AM</a:t>
            </a:r>
            <a:r>
              <a:rPr lang="zh-CN" altLang="en-US" sz="2000" b="1" dirty="0" smtClean="0">
                <a:solidFill>
                  <a:srgbClr val="00B050"/>
                </a:solidFill>
                <a:latin typeface="Times New Roman" panose="02020603050405020304" pitchFamily="18" charset="0"/>
                <a:cs typeface="Times New Roman" panose="02020603050405020304" pitchFamily="18" charset="0"/>
              </a:rPr>
              <a:t>调幅</a:t>
            </a:r>
            <a:endParaRPr lang="zh-CN" altLang="en-US" sz="2000" b="1" dirty="0">
              <a:solidFill>
                <a:srgbClr val="00B05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1187624" y="3068960"/>
            <a:ext cx="1200970" cy="400110"/>
          </a:xfrm>
          <a:prstGeom prst="rect">
            <a:avLst/>
          </a:prstGeom>
          <a:noFill/>
        </p:spPr>
        <p:txBody>
          <a:bodyPr wrap="none" rtlCol="0">
            <a:spAutoFit/>
          </a:bodyPr>
          <a:lstStyle/>
          <a:p>
            <a:r>
              <a:rPr lang="en-US" altLang="zh-CN" sz="2000" b="1" dirty="0" smtClean="0">
                <a:solidFill>
                  <a:srgbClr val="00B050"/>
                </a:solidFill>
                <a:latin typeface="Times New Roman" panose="02020603050405020304" pitchFamily="18" charset="0"/>
                <a:cs typeface="Times New Roman" panose="02020603050405020304" pitchFamily="18" charset="0"/>
              </a:rPr>
              <a:t>DSB</a:t>
            </a:r>
            <a:r>
              <a:rPr lang="zh-CN" altLang="en-US" sz="2000" b="1" dirty="0" smtClean="0">
                <a:solidFill>
                  <a:srgbClr val="00B050"/>
                </a:solidFill>
                <a:latin typeface="Times New Roman" panose="02020603050405020304" pitchFamily="18" charset="0"/>
                <a:cs typeface="Times New Roman" panose="02020603050405020304" pitchFamily="18" charset="0"/>
              </a:rPr>
              <a:t>调幅</a:t>
            </a:r>
            <a:endParaRPr lang="zh-CN" altLang="en-US" sz="2000" b="1" dirty="0">
              <a:solidFill>
                <a:srgbClr val="00B05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259632" y="4973106"/>
            <a:ext cx="1157689" cy="400110"/>
          </a:xfrm>
          <a:prstGeom prst="rect">
            <a:avLst/>
          </a:prstGeom>
          <a:noFill/>
        </p:spPr>
        <p:txBody>
          <a:bodyPr wrap="none" rtlCol="0">
            <a:spAutoFit/>
          </a:bodyPr>
          <a:lstStyle/>
          <a:p>
            <a:r>
              <a:rPr lang="en-US" altLang="zh-CN" sz="2000" b="1" dirty="0" smtClean="0">
                <a:solidFill>
                  <a:srgbClr val="00B050"/>
                </a:solidFill>
                <a:latin typeface="Times New Roman" panose="02020603050405020304" pitchFamily="18" charset="0"/>
                <a:cs typeface="Times New Roman" panose="02020603050405020304" pitchFamily="18" charset="0"/>
              </a:rPr>
              <a:t>SSB</a:t>
            </a:r>
            <a:r>
              <a:rPr lang="zh-CN" altLang="en-US" sz="2000" b="1" dirty="0" smtClean="0">
                <a:solidFill>
                  <a:srgbClr val="00B050"/>
                </a:solidFill>
                <a:latin typeface="Times New Roman" panose="02020603050405020304" pitchFamily="18" charset="0"/>
                <a:cs typeface="Times New Roman" panose="02020603050405020304" pitchFamily="18" charset="0"/>
              </a:rPr>
              <a:t>调幅</a:t>
            </a:r>
            <a:endParaRPr lang="zh-CN" altLang="en-US" sz="2000" b="1" dirty="0">
              <a:solidFill>
                <a:srgbClr val="00B050"/>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5048701" y="2385837"/>
            <a:ext cx="3456384" cy="923330"/>
          </a:xfrm>
          <a:prstGeom prst="rect">
            <a:avLst/>
          </a:prstGeom>
          <a:noFill/>
          <a:ln>
            <a:solidFill>
              <a:srgbClr val="FF0000"/>
            </a:solidFill>
          </a:ln>
        </p:spPr>
        <p:txBody>
          <a:bodyPr wrap="square" rtlCol="0">
            <a:spAutoFit/>
          </a:bodyPr>
          <a:lstStyle/>
          <a:p>
            <a:pPr>
              <a:lnSpc>
                <a:spcPct val="150000"/>
              </a:lnSpc>
            </a:pPr>
            <a:r>
              <a:rPr lang="zh-CN" altLang="en-US" b="1" dirty="0" smtClean="0">
                <a:solidFill>
                  <a:srgbClr val="FF0000"/>
                </a:solidFill>
              </a:rPr>
              <a:t>重要，需掌握每种调制方式由哪些电路构成，需会画图</a:t>
            </a:r>
            <a:endParaRPr lang="zh-CN" altLang="en-US" b="1" dirty="0">
              <a:solidFill>
                <a:srgbClr val="FF0000"/>
              </a:solidFill>
            </a:endParaRPr>
          </a:p>
        </p:txBody>
      </p:sp>
    </p:spTree>
    <p:extLst>
      <p:ext uri="{BB962C8B-B14F-4D97-AF65-F5344CB8AC3E}">
        <p14:creationId xmlns:p14="http://schemas.microsoft.com/office/powerpoint/2010/main" val="2973016166"/>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79</a:t>
            </a:fld>
            <a:endParaRPr lang="en-US" altLang="zh-CN" dirty="0">
              <a:solidFill>
                <a:srgbClr val="000000"/>
              </a:solidFill>
            </a:endParaRPr>
          </a:p>
        </p:txBody>
      </p:sp>
      <p:sp>
        <p:nvSpPr>
          <p:cNvPr id="6" name="TextBox 5"/>
          <p:cNvSpPr txBox="1"/>
          <p:nvPr/>
        </p:nvSpPr>
        <p:spPr>
          <a:xfrm>
            <a:off x="539552" y="467380"/>
            <a:ext cx="3671198" cy="369332"/>
          </a:xfrm>
          <a:prstGeom prst="rect">
            <a:avLst/>
          </a:prstGeom>
          <a:noFill/>
        </p:spPr>
        <p:txBody>
          <a:bodyPr wrap="none" rtlCol="0">
            <a:spAutoFit/>
          </a:bodyPr>
          <a:lstStyle/>
          <a:p>
            <a:r>
              <a:rPr lang="zh-CN" altLang="en-US" b="1" dirty="0" smtClean="0"/>
              <a:t>五、二极管平衡调幅电路分析方法</a:t>
            </a:r>
            <a:endParaRPr lang="zh-CN" altLang="en-US" b="1" dirty="0"/>
          </a:p>
        </p:txBody>
      </p:sp>
      <p:graphicFrame>
        <p:nvGraphicFramePr>
          <p:cNvPr id="7" name="对象 6"/>
          <p:cNvGraphicFramePr>
            <a:graphicFrameLocks noChangeAspect="1"/>
          </p:cNvGraphicFramePr>
          <p:nvPr>
            <p:extLst>
              <p:ext uri="{D42A27DB-BD31-4B8C-83A1-F6EECF244321}">
                <p14:modId xmlns:p14="http://schemas.microsoft.com/office/powerpoint/2010/main" val="1031392163"/>
              </p:ext>
            </p:extLst>
          </p:nvPr>
        </p:nvGraphicFramePr>
        <p:xfrm>
          <a:off x="251520" y="1268760"/>
          <a:ext cx="4603750" cy="2149475"/>
        </p:xfrm>
        <a:graphic>
          <a:graphicData uri="http://schemas.openxmlformats.org/presentationml/2006/ole">
            <mc:AlternateContent xmlns:mc="http://schemas.openxmlformats.org/markup-compatibility/2006">
              <mc:Choice xmlns:v="urn:schemas-microsoft-com:vml" Requires="v">
                <p:oleObj spid="_x0000_s37619" name="Visio" r:id="rId4" imgW="4126856" imgH="1927326" progId="Visio.Drawing.11">
                  <p:embed/>
                </p:oleObj>
              </mc:Choice>
              <mc:Fallback>
                <p:oleObj name="Visio" r:id="rId4" imgW="4126856" imgH="1927326" progId="Visio.Drawing.11">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520" y="1268760"/>
                        <a:ext cx="4603750"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824746142"/>
              </p:ext>
            </p:extLst>
          </p:nvPr>
        </p:nvGraphicFramePr>
        <p:xfrm>
          <a:off x="5592067" y="1124744"/>
          <a:ext cx="3300413" cy="2441575"/>
        </p:xfrm>
        <a:graphic>
          <a:graphicData uri="http://schemas.openxmlformats.org/presentationml/2006/ole">
            <mc:AlternateContent xmlns:mc="http://schemas.openxmlformats.org/markup-compatibility/2006">
              <mc:Choice xmlns:v="urn:schemas-microsoft-com:vml" Requires="v">
                <p:oleObj spid="_x0000_s37620" name="Visio" r:id="rId6" imgW="2599261" imgH="1926246" progId="Visio.Drawing.11">
                  <p:embed/>
                </p:oleObj>
              </mc:Choice>
              <mc:Fallback>
                <p:oleObj name="Visio" r:id="rId6" imgW="2599261" imgH="1926246" progId="Visio.Drawing.11">
                  <p:embed/>
                  <p:pic>
                    <p:nvPicPr>
                      <p:cNvPr id="0" name="对象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92067" y="1124744"/>
                        <a:ext cx="3300413" cy="244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右箭头 9"/>
          <p:cNvSpPr/>
          <p:nvPr/>
        </p:nvSpPr>
        <p:spPr bwMode="auto">
          <a:xfrm>
            <a:off x="4716016" y="2204864"/>
            <a:ext cx="576064" cy="216024"/>
          </a:xfrm>
          <a:prstGeom prst="rightArrow">
            <a:avLst/>
          </a:prstGeom>
          <a:solidFill>
            <a:schemeClr val="accent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sp>
        <p:nvSpPr>
          <p:cNvPr id="11" name="TextBox 10"/>
          <p:cNvSpPr txBox="1"/>
          <p:nvPr/>
        </p:nvSpPr>
        <p:spPr>
          <a:xfrm>
            <a:off x="4400108" y="1844824"/>
            <a:ext cx="1107996" cy="369332"/>
          </a:xfrm>
          <a:prstGeom prst="rect">
            <a:avLst/>
          </a:prstGeom>
          <a:noFill/>
        </p:spPr>
        <p:txBody>
          <a:bodyPr wrap="none" rtlCol="0">
            <a:spAutoFit/>
          </a:bodyPr>
          <a:lstStyle/>
          <a:p>
            <a:r>
              <a:rPr lang="zh-CN" altLang="en-US" b="1" dirty="0" smtClean="0">
                <a:solidFill>
                  <a:srgbClr val="0070C0"/>
                </a:solidFill>
              </a:rPr>
              <a:t>等效电路</a:t>
            </a:r>
            <a:endParaRPr lang="zh-CN" altLang="en-US" b="1" dirty="0">
              <a:solidFill>
                <a:srgbClr val="0070C0"/>
              </a:solidFill>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3886366713"/>
              </p:ext>
            </p:extLst>
          </p:nvPr>
        </p:nvGraphicFramePr>
        <p:xfrm>
          <a:off x="1036221" y="4031328"/>
          <a:ext cx="3176061" cy="2350000"/>
        </p:xfrm>
        <a:graphic>
          <a:graphicData uri="http://schemas.openxmlformats.org/presentationml/2006/ole">
            <mc:AlternateContent xmlns:mc="http://schemas.openxmlformats.org/markup-compatibility/2006">
              <mc:Choice xmlns:v="urn:schemas-microsoft-com:vml" Requires="v">
                <p:oleObj spid="_x0000_s37621" name="Visio" r:id="rId8" imgW="2599261" imgH="1926246" progId="Visio.Drawing.11">
                  <p:embed/>
                </p:oleObj>
              </mc:Choice>
              <mc:Fallback>
                <p:oleObj name="Visio" r:id="rId8" imgW="2599261" imgH="1926246" progId="Visio.Drawing.11">
                  <p:embed/>
                  <p:pic>
                    <p:nvPicPr>
                      <p:cNvPr id="0" name="对象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6221" y="4031328"/>
                        <a:ext cx="3176061" cy="2350000"/>
                      </a:xfrm>
                      <a:prstGeom prst="rect">
                        <a:avLst/>
                      </a:prstGeom>
                      <a:noFill/>
                      <a:ln>
                        <a:noFill/>
                      </a:ln>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1984896642"/>
              </p:ext>
            </p:extLst>
          </p:nvPr>
        </p:nvGraphicFramePr>
        <p:xfrm>
          <a:off x="5292080" y="4103336"/>
          <a:ext cx="3176061" cy="2350000"/>
        </p:xfrm>
        <a:graphic>
          <a:graphicData uri="http://schemas.openxmlformats.org/presentationml/2006/ole">
            <mc:AlternateContent xmlns:mc="http://schemas.openxmlformats.org/markup-compatibility/2006">
              <mc:Choice xmlns:v="urn:schemas-microsoft-com:vml" Requires="v">
                <p:oleObj spid="_x0000_s37622" name="Visio" r:id="rId10" imgW="2599261" imgH="1926246" progId="Visio.Drawing.11">
                  <p:embed/>
                </p:oleObj>
              </mc:Choice>
              <mc:Fallback>
                <p:oleObj name="Visio" r:id="rId10" imgW="2599261" imgH="1926246" progId="Visio.Drawing.11">
                  <p:embed/>
                  <p:pic>
                    <p:nvPicPr>
                      <p:cNvPr id="0" name="对象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92080" y="4103336"/>
                        <a:ext cx="3176061" cy="2350000"/>
                      </a:xfrm>
                      <a:prstGeom prst="rect">
                        <a:avLst/>
                      </a:prstGeom>
                      <a:noFill/>
                      <a:ln>
                        <a:noFill/>
                      </a:ln>
                    </p:spPr>
                  </p:pic>
                </p:oleObj>
              </mc:Fallback>
            </mc:AlternateContent>
          </a:graphicData>
        </a:graphic>
      </p:graphicFrame>
      <p:sp>
        <p:nvSpPr>
          <p:cNvPr id="16" name="TextBox 15"/>
          <p:cNvSpPr txBox="1"/>
          <p:nvPr/>
        </p:nvSpPr>
        <p:spPr>
          <a:xfrm>
            <a:off x="971600" y="980728"/>
            <a:ext cx="1539204" cy="369332"/>
          </a:xfrm>
          <a:prstGeom prst="rect">
            <a:avLst/>
          </a:prstGeom>
          <a:noFill/>
        </p:spPr>
        <p:txBody>
          <a:bodyPr wrap="none" rtlCol="0">
            <a:spAutoFit/>
          </a:bodyPr>
          <a:lstStyle/>
          <a:p>
            <a:r>
              <a:rPr lang="en-US" altLang="zh-CN" b="1" dirty="0" smtClean="0">
                <a:solidFill>
                  <a:srgbClr val="00B050"/>
                </a:solidFill>
              </a:rPr>
              <a:t>1.</a:t>
            </a:r>
            <a:r>
              <a:rPr lang="zh-CN" altLang="en-US" b="1" dirty="0" smtClean="0">
                <a:solidFill>
                  <a:srgbClr val="00B050"/>
                </a:solidFill>
              </a:rPr>
              <a:t>画等效电路</a:t>
            </a:r>
            <a:endParaRPr lang="zh-CN" altLang="en-US" b="1" dirty="0">
              <a:solidFill>
                <a:srgbClr val="00B050"/>
              </a:solidFill>
            </a:endParaRPr>
          </a:p>
        </p:txBody>
      </p:sp>
      <p:sp>
        <p:nvSpPr>
          <p:cNvPr id="21" name="TextBox 20"/>
          <p:cNvSpPr txBox="1"/>
          <p:nvPr/>
        </p:nvSpPr>
        <p:spPr>
          <a:xfrm>
            <a:off x="971600" y="3573016"/>
            <a:ext cx="5955476" cy="369332"/>
          </a:xfrm>
          <a:prstGeom prst="rect">
            <a:avLst/>
          </a:prstGeom>
          <a:noFill/>
        </p:spPr>
        <p:txBody>
          <a:bodyPr wrap="none" rtlCol="0">
            <a:spAutoFit/>
          </a:bodyPr>
          <a:lstStyle/>
          <a:p>
            <a:r>
              <a:rPr lang="en-US" altLang="zh-CN" b="1" dirty="0">
                <a:solidFill>
                  <a:srgbClr val="00B050"/>
                </a:solidFill>
              </a:rPr>
              <a:t>2</a:t>
            </a:r>
            <a:r>
              <a:rPr lang="en-US" altLang="zh-CN" b="1" dirty="0" smtClean="0">
                <a:solidFill>
                  <a:srgbClr val="00B050"/>
                </a:solidFill>
              </a:rPr>
              <a:t>.</a:t>
            </a:r>
            <a:r>
              <a:rPr lang="zh-CN" altLang="en-US" b="1" dirty="0" smtClean="0">
                <a:solidFill>
                  <a:srgbClr val="00B050"/>
                </a:solidFill>
              </a:rPr>
              <a:t>举一反三，判断类似电路是否具有调幅（乘法器）功能</a:t>
            </a:r>
            <a:endParaRPr lang="zh-CN" altLang="en-US" b="1" dirty="0">
              <a:solidFill>
                <a:srgbClr val="00B050"/>
              </a:solidFill>
            </a:endParaRPr>
          </a:p>
        </p:txBody>
      </p:sp>
    </p:spTree>
    <p:extLst>
      <p:ext uri="{BB962C8B-B14F-4D97-AF65-F5344CB8AC3E}">
        <p14:creationId xmlns:p14="http://schemas.microsoft.com/office/powerpoint/2010/main" val="3045944392"/>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80</a:t>
            </a:fld>
            <a:endParaRPr lang="en-US" altLang="zh-CN" dirty="0">
              <a:solidFill>
                <a:srgbClr val="000000"/>
              </a:solidFill>
            </a:endParaRPr>
          </a:p>
        </p:txBody>
      </p:sp>
      <p:sp>
        <p:nvSpPr>
          <p:cNvPr id="6" name="TextBox 5"/>
          <p:cNvSpPr txBox="1"/>
          <p:nvPr/>
        </p:nvSpPr>
        <p:spPr>
          <a:xfrm>
            <a:off x="539552" y="404664"/>
            <a:ext cx="3671198" cy="369332"/>
          </a:xfrm>
          <a:prstGeom prst="rect">
            <a:avLst/>
          </a:prstGeom>
          <a:noFill/>
        </p:spPr>
        <p:txBody>
          <a:bodyPr wrap="none" rtlCol="0">
            <a:spAutoFit/>
          </a:bodyPr>
          <a:lstStyle/>
          <a:p>
            <a:r>
              <a:rPr lang="zh-CN" altLang="en-US" b="1" dirty="0" smtClean="0"/>
              <a:t>五、二极管平衡调幅电路分析方法</a:t>
            </a:r>
            <a:endParaRPr lang="zh-CN" altLang="en-US" b="1" dirty="0"/>
          </a:p>
        </p:txBody>
      </p:sp>
      <p:sp>
        <p:nvSpPr>
          <p:cNvPr id="16" name="TextBox 15"/>
          <p:cNvSpPr txBox="1"/>
          <p:nvPr/>
        </p:nvSpPr>
        <p:spPr>
          <a:xfrm>
            <a:off x="971600" y="836712"/>
            <a:ext cx="1771639" cy="369332"/>
          </a:xfrm>
          <a:prstGeom prst="rect">
            <a:avLst/>
          </a:prstGeom>
          <a:noFill/>
        </p:spPr>
        <p:txBody>
          <a:bodyPr wrap="none" rtlCol="0">
            <a:spAutoFit/>
          </a:bodyPr>
          <a:lstStyle/>
          <a:p>
            <a:r>
              <a:rPr lang="en-US" altLang="zh-CN" b="1" dirty="0" smtClean="0">
                <a:solidFill>
                  <a:srgbClr val="00B050"/>
                </a:solidFill>
              </a:rPr>
              <a:t>3.</a:t>
            </a:r>
            <a:r>
              <a:rPr lang="zh-CN" altLang="en-US" b="1" dirty="0">
                <a:solidFill>
                  <a:srgbClr val="00B050"/>
                </a:solidFill>
              </a:rPr>
              <a:t>涉及</a:t>
            </a:r>
            <a:r>
              <a:rPr lang="zh-CN" altLang="en-US" b="1" dirty="0" smtClean="0">
                <a:solidFill>
                  <a:srgbClr val="00B050"/>
                </a:solidFill>
              </a:rPr>
              <a:t>到的函数</a:t>
            </a:r>
            <a:endParaRPr lang="zh-CN" altLang="en-US" b="1" dirty="0">
              <a:solidFill>
                <a:srgbClr val="00B050"/>
              </a:solidFill>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1624575796"/>
              </p:ext>
            </p:extLst>
          </p:nvPr>
        </p:nvGraphicFramePr>
        <p:xfrm>
          <a:off x="1835696" y="3071307"/>
          <a:ext cx="2843213" cy="990600"/>
        </p:xfrm>
        <a:graphic>
          <a:graphicData uri="http://schemas.openxmlformats.org/presentationml/2006/ole">
            <mc:AlternateContent xmlns:mc="http://schemas.openxmlformats.org/markup-compatibility/2006">
              <mc:Choice xmlns:v="urn:schemas-microsoft-com:vml" Requires="v">
                <p:oleObj spid="_x0000_s85442" name="Equation" r:id="rId4" imgW="1384200" imgH="482400" progId="Equation.DSMT4">
                  <p:embed/>
                </p:oleObj>
              </mc:Choice>
              <mc:Fallback>
                <p:oleObj name="Equation" r:id="rId4" imgW="1384200" imgH="482400" progId="Equation.DSMT4">
                  <p:embed/>
                  <p:pic>
                    <p:nvPicPr>
                      <p:cNvPr id="0" name=""/>
                      <p:cNvPicPr>
                        <a:picLocks noChangeAspect="1" noChangeArrowheads="1"/>
                      </p:cNvPicPr>
                      <p:nvPr/>
                    </p:nvPicPr>
                    <p:blipFill>
                      <a:blip r:embed="rId5"/>
                      <a:srcRect/>
                      <a:stretch>
                        <a:fillRect/>
                      </a:stretch>
                    </p:blipFill>
                    <p:spPr bwMode="auto">
                      <a:xfrm>
                        <a:off x="1835696" y="3071307"/>
                        <a:ext cx="284321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603702996"/>
              </p:ext>
            </p:extLst>
          </p:nvPr>
        </p:nvGraphicFramePr>
        <p:xfrm>
          <a:off x="2667000" y="2095342"/>
          <a:ext cx="914400" cy="198438"/>
        </p:xfrm>
        <a:graphic>
          <a:graphicData uri="http://schemas.openxmlformats.org/presentationml/2006/ole">
            <mc:AlternateContent xmlns:mc="http://schemas.openxmlformats.org/markup-compatibility/2006">
              <mc:Choice xmlns:v="urn:schemas-microsoft-com:vml" Requires="v">
                <p:oleObj spid="_x0000_s85443" name="Equation" r:id="rId6" imgW="914400" imgH="198720" progId="Equation.DSMT4">
                  <p:embed/>
                </p:oleObj>
              </mc:Choice>
              <mc:Fallback>
                <p:oleObj name="Equation" r:id="rId6" imgW="914400" imgH="198720" progId="Equation.DSMT4">
                  <p:embed/>
                  <p:pic>
                    <p:nvPicPr>
                      <p:cNvPr id="0" name=""/>
                      <p:cNvPicPr/>
                      <p:nvPr/>
                    </p:nvPicPr>
                    <p:blipFill>
                      <a:blip r:embed="rId7"/>
                      <a:stretch>
                        <a:fillRect/>
                      </a:stretch>
                    </p:blipFill>
                    <p:spPr>
                      <a:xfrm>
                        <a:off x="2667000" y="2095342"/>
                        <a:ext cx="914400" cy="198438"/>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918433298"/>
              </p:ext>
            </p:extLst>
          </p:nvPr>
        </p:nvGraphicFramePr>
        <p:xfrm>
          <a:off x="1835696" y="1248014"/>
          <a:ext cx="2763837" cy="990600"/>
        </p:xfrm>
        <a:graphic>
          <a:graphicData uri="http://schemas.openxmlformats.org/presentationml/2006/ole">
            <mc:AlternateContent xmlns:mc="http://schemas.openxmlformats.org/markup-compatibility/2006">
              <mc:Choice xmlns:v="urn:schemas-microsoft-com:vml" Requires="v">
                <p:oleObj spid="_x0000_s85444" name="Equation" r:id="rId8" imgW="1346040" imgH="482400" progId="Equation.DSMT4">
                  <p:embed/>
                </p:oleObj>
              </mc:Choice>
              <mc:Fallback>
                <p:oleObj name="Equation" r:id="rId8" imgW="1346040" imgH="4824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5696" y="1248014"/>
                        <a:ext cx="2763837"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389874210"/>
              </p:ext>
            </p:extLst>
          </p:nvPr>
        </p:nvGraphicFramePr>
        <p:xfrm>
          <a:off x="1835696" y="5519579"/>
          <a:ext cx="2895600" cy="990600"/>
        </p:xfrm>
        <a:graphic>
          <a:graphicData uri="http://schemas.openxmlformats.org/presentationml/2006/ole">
            <mc:AlternateContent xmlns:mc="http://schemas.openxmlformats.org/markup-compatibility/2006">
              <mc:Choice xmlns:v="urn:schemas-microsoft-com:vml" Requires="v">
                <p:oleObj spid="_x0000_s85445" name="Equation" r:id="rId10" imgW="1409400" imgH="482400" progId="Equation.DSMT4">
                  <p:embed/>
                </p:oleObj>
              </mc:Choice>
              <mc:Fallback>
                <p:oleObj name="Equation" r:id="rId10" imgW="1409400" imgH="482400" progId="Equation.DSMT4">
                  <p:embed/>
                  <p:pic>
                    <p:nvPicPr>
                      <p:cNvPr id="0" name=""/>
                      <p:cNvPicPr>
                        <a:picLocks noChangeAspect="1" noChangeArrowheads="1"/>
                      </p:cNvPicPr>
                      <p:nvPr/>
                    </p:nvPicPr>
                    <p:blipFill>
                      <a:blip r:embed="rId11"/>
                      <a:srcRect/>
                      <a:stretch>
                        <a:fillRect/>
                      </a:stretch>
                    </p:blipFill>
                    <p:spPr bwMode="auto">
                      <a:xfrm>
                        <a:off x="1835696" y="5519579"/>
                        <a:ext cx="2895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Box 18"/>
          <p:cNvSpPr txBox="1"/>
          <p:nvPr/>
        </p:nvSpPr>
        <p:spPr>
          <a:xfrm>
            <a:off x="256418" y="1581250"/>
            <a:ext cx="1579278" cy="369332"/>
          </a:xfrm>
          <a:prstGeom prst="rect">
            <a:avLst/>
          </a:prstGeom>
          <a:noFill/>
        </p:spPr>
        <p:txBody>
          <a:bodyPr wrap="none" rtlCol="0">
            <a:spAutoFit/>
          </a:bodyPr>
          <a:lstStyle/>
          <a:p>
            <a:r>
              <a:rPr lang="zh-CN" altLang="en-US" b="1" dirty="0">
                <a:solidFill>
                  <a:srgbClr val="FF3399"/>
                </a:solidFill>
              </a:rPr>
              <a:t>单</a:t>
            </a:r>
            <a:r>
              <a:rPr lang="zh-CN" altLang="en-US" b="1" dirty="0" smtClean="0">
                <a:solidFill>
                  <a:srgbClr val="FF3399"/>
                </a:solidFill>
              </a:rPr>
              <a:t>向开关函数</a:t>
            </a:r>
            <a:endParaRPr lang="zh-CN" altLang="en-US" b="1" dirty="0">
              <a:solidFill>
                <a:srgbClr val="FF3399"/>
              </a:solidFill>
            </a:endParaRPr>
          </a:p>
        </p:txBody>
      </p:sp>
      <p:graphicFrame>
        <p:nvGraphicFramePr>
          <p:cNvPr id="20" name="对象 19"/>
          <p:cNvGraphicFramePr>
            <a:graphicFrameLocks noChangeAspect="1"/>
          </p:cNvGraphicFramePr>
          <p:nvPr>
            <p:extLst>
              <p:ext uri="{D42A27DB-BD31-4B8C-83A1-F6EECF244321}">
                <p14:modId xmlns:p14="http://schemas.microsoft.com/office/powerpoint/2010/main" val="3399588180"/>
              </p:ext>
            </p:extLst>
          </p:nvPr>
        </p:nvGraphicFramePr>
        <p:xfrm>
          <a:off x="4788024" y="1109579"/>
          <a:ext cx="4206875" cy="1489075"/>
        </p:xfrm>
        <a:graphic>
          <a:graphicData uri="http://schemas.openxmlformats.org/presentationml/2006/ole">
            <mc:AlternateContent xmlns:mc="http://schemas.openxmlformats.org/markup-compatibility/2006">
              <mc:Choice xmlns:v="urn:schemas-microsoft-com:vml" Requires="v">
                <p:oleObj spid="_x0000_s85446" name="Equation" r:id="rId12" imgW="2400120" imgH="812520" progId="Equation.DSMT4">
                  <p:embed/>
                </p:oleObj>
              </mc:Choice>
              <mc:Fallback>
                <p:oleObj name="Equation" r:id="rId12" imgW="2400120" imgH="812520" progId="Equation.DSMT4">
                  <p:embed/>
                  <p:pic>
                    <p:nvPicPr>
                      <p:cNvPr id="0" name=""/>
                      <p:cNvPicPr>
                        <a:picLocks noChangeAspect="1" noChangeArrowheads="1"/>
                      </p:cNvPicPr>
                      <p:nvPr/>
                    </p:nvPicPr>
                    <p:blipFill>
                      <a:blip r:embed="rId13"/>
                      <a:srcRect/>
                      <a:stretch>
                        <a:fillRect/>
                      </a:stretch>
                    </p:blipFill>
                    <p:spPr bwMode="auto">
                      <a:xfrm>
                        <a:off x="4788024" y="1109579"/>
                        <a:ext cx="4206875"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TextBox 21"/>
          <p:cNvSpPr txBox="1"/>
          <p:nvPr/>
        </p:nvSpPr>
        <p:spPr>
          <a:xfrm>
            <a:off x="256418" y="3413835"/>
            <a:ext cx="1579278" cy="369332"/>
          </a:xfrm>
          <a:prstGeom prst="rect">
            <a:avLst/>
          </a:prstGeom>
          <a:noFill/>
        </p:spPr>
        <p:txBody>
          <a:bodyPr wrap="none" rtlCol="0">
            <a:spAutoFit/>
          </a:bodyPr>
          <a:lstStyle/>
          <a:p>
            <a:r>
              <a:rPr lang="zh-CN" altLang="en-US" b="1" dirty="0" smtClean="0">
                <a:solidFill>
                  <a:srgbClr val="FF3399"/>
                </a:solidFill>
              </a:rPr>
              <a:t>反向开关函数</a:t>
            </a:r>
            <a:endParaRPr lang="zh-CN" altLang="en-US" b="1" dirty="0">
              <a:solidFill>
                <a:srgbClr val="FF3399"/>
              </a:solidFill>
            </a:endParaRPr>
          </a:p>
        </p:txBody>
      </p:sp>
      <p:graphicFrame>
        <p:nvGraphicFramePr>
          <p:cNvPr id="23" name="对象 22"/>
          <p:cNvGraphicFramePr>
            <a:graphicFrameLocks noChangeAspect="1"/>
          </p:cNvGraphicFramePr>
          <p:nvPr>
            <p:extLst>
              <p:ext uri="{D42A27DB-BD31-4B8C-83A1-F6EECF244321}">
                <p14:modId xmlns:p14="http://schemas.microsoft.com/office/powerpoint/2010/main" val="236792662"/>
              </p:ext>
            </p:extLst>
          </p:nvPr>
        </p:nvGraphicFramePr>
        <p:xfrm>
          <a:off x="4788024" y="2981787"/>
          <a:ext cx="4206875" cy="1489075"/>
        </p:xfrm>
        <a:graphic>
          <a:graphicData uri="http://schemas.openxmlformats.org/presentationml/2006/ole">
            <mc:AlternateContent xmlns:mc="http://schemas.openxmlformats.org/markup-compatibility/2006">
              <mc:Choice xmlns:v="urn:schemas-microsoft-com:vml" Requires="v">
                <p:oleObj spid="_x0000_s85447" name="Equation" r:id="rId14" imgW="2400120" imgH="812520" progId="Equation.DSMT4">
                  <p:embed/>
                </p:oleObj>
              </mc:Choice>
              <mc:Fallback>
                <p:oleObj name="Equation" r:id="rId14" imgW="2400120" imgH="812520" progId="Equation.DSMT4">
                  <p:embed/>
                  <p:pic>
                    <p:nvPicPr>
                      <p:cNvPr id="0" name=""/>
                      <p:cNvPicPr>
                        <a:picLocks noChangeAspect="1" noChangeArrowheads="1"/>
                      </p:cNvPicPr>
                      <p:nvPr/>
                    </p:nvPicPr>
                    <p:blipFill>
                      <a:blip r:embed="rId15"/>
                      <a:srcRect/>
                      <a:stretch>
                        <a:fillRect/>
                      </a:stretch>
                    </p:blipFill>
                    <p:spPr bwMode="auto">
                      <a:xfrm>
                        <a:off x="4788024" y="2981787"/>
                        <a:ext cx="4206875"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TextBox 23"/>
          <p:cNvSpPr txBox="1"/>
          <p:nvPr/>
        </p:nvSpPr>
        <p:spPr>
          <a:xfrm>
            <a:off x="251520" y="5852815"/>
            <a:ext cx="1579278" cy="369332"/>
          </a:xfrm>
          <a:prstGeom prst="rect">
            <a:avLst/>
          </a:prstGeom>
          <a:noFill/>
        </p:spPr>
        <p:txBody>
          <a:bodyPr wrap="none" rtlCol="0">
            <a:spAutoFit/>
          </a:bodyPr>
          <a:lstStyle/>
          <a:p>
            <a:r>
              <a:rPr lang="zh-CN" altLang="en-US" b="1" dirty="0">
                <a:solidFill>
                  <a:srgbClr val="FF3399"/>
                </a:solidFill>
              </a:rPr>
              <a:t>双</a:t>
            </a:r>
            <a:r>
              <a:rPr lang="zh-CN" altLang="en-US" b="1" dirty="0" smtClean="0">
                <a:solidFill>
                  <a:srgbClr val="FF3399"/>
                </a:solidFill>
              </a:rPr>
              <a:t>向开关函数</a:t>
            </a:r>
            <a:endParaRPr lang="zh-CN" altLang="en-US" b="1" dirty="0">
              <a:solidFill>
                <a:srgbClr val="FF3399"/>
              </a:solidFill>
            </a:endParaRPr>
          </a:p>
        </p:txBody>
      </p:sp>
      <p:graphicFrame>
        <p:nvGraphicFramePr>
          <p:cNvPr id="25" name="对象 24"/>
          <p:cNvGraphicFramePr>
            <a:graphicFrameLocks noChangeAspect="1"/>
          </p:cNvGraphicFramePr>
          <p:nvPr>
            <p:extLst>
              <p:ext uri="{D42A27DB-BD31-4B8C-83A1-F6EECF244321}">
                <p14:modId xmlns:p14="http://schemas.microsoft.com/office/powerpoint/2010/main" val="448053061"/>
              </p:ext>
            </p:extLst>
          </p:nvPr>
        </p:nvGraphicFramePr>
        <p:xfrm>
          <a:off x="395536" y="4998011"/>
          <a:ext cx="3365500" cy="520700"/>
        </p:xfrm>
        <a:graphic>
          <a:graphicData uri="http://schemas.openxmlformats.org/presentationml/2006/ole">
            <mc:AlternateContent xmlns:mc="http://schemas.openxmlformats.org/markup-compatibility/2006">
              <mc:Choice xmlns:v="urn:schemas-microsoft-com:vml" Requires="v">
                <p:oleObj spid="_x0000_s85448" name="Equation" r:id="rId16" imgW="1638000" imgH="253800" progId="Equation.DSMT4">
                  <p:embed/>
                </p:oleObj>
              </mc:Choice>
              <mc:Fallback>
                <p:oleObj name="Equation" r:id="rId16" imgW="1638000" imgH="253800" progId="Equation.DSMT4">
                  <p:embed/>
                  <p:pic>
                    <p:nvPicPr>
                      <p:cNvPr id="0" name=""/>
                      <p:cNvPicPr>
                        <a:picLocks noChangeAspect="1" noChangeArrowheads="1"/>
                      </p:cNvPicPr>
                      <p:nvPr/>
                    </p:nvPicPr>
                    <p:blipFill>
                      <a:blip r:embed="rId17"/>
                      <a:srcRect/>
                      <a:stretch>
                        <a:fillRect/>
                      </a:stretch>
                    </p:blipFill>
                    <p:spPr bwMode="auto">
                      <a:xfrm>
                        <a:off x="395536" y="4998011"/>
                        <a:ext cx="3365500" cy="520700"/>
                      </a:xfrm>
                      <a:prstGeom prst="rect">
                        <a:avLst/>
                      </a:prstGeom>
                      <a:noFill/>
                      <a:ln>
                        <a:noFill/>
                      </a:ln>
                    </p:spPr>
                  </p:pic>
                </p:oleObj>
              </mc:Fallback>
            </mc:AlternateContent>
          </a:graphicData>
        </a:graphic>
      </p:graphicFrame>
      <p:cxnSp>
        <p:nvCxnSpPr>
          <p:cNvPr id="26" name="直接连接符 25"/>
          <p:cNvCxnSpPr/>
          <p:nvPr/>
        </p:nvCxnSpPr>
        <p:spPr bwMode="auto">
          <a:xfrm>
            <a:off x="35496" y="2693755"/>
            <a:ext cx="9036496" cy="0"/>
          </a:xfrm>
          <a:prstGeom prst="line">
            <a:avLst/>
          </a:prstGeom>
          <a:solidFill>
            <a:schemeClr val="accent1"/>
          </a:solidFill>
          <a:ln w="19050" cap="flat" cmpd="sng" algn="ctr">
            <a:solidFill>
              <a:srgbClr val="0070C0"/>
            </a:solidFill>
            <a:prstDash val="solid"/>
            <a:round/>
            <a:headEnd type="none" w="med" len="med"/>
            <a:tailEnd type="none" w="med" len="med"/>
          </a:ln>
        </p:spPr>
      </p:cxnSp>
      <p:cxnSp>
        <p:nvCxnSpPr>
          <p:cNvPr id="27" name="直接连接符 26"/>
          <p:cNvCxnSpPr/>
          <p:nvPr/>
        </p:nvCxnSpPr>
        <p:spPr bwMode="auto">
          <a:xfrm>
            <a:off x="35496" y="4853995"/>
            <a:ext cx="9036496" cy="0"/>
          </a:xfrm>
          <a:prstGeom prst="line">
            <a:avLst/>
          </a:prstGeom>
          <a:solidFill>
            <a:schemeClr val="accent1"/>
          </a:solidFill>
          <a:ln w="19050" cap="flat" cmpd="sng" algn="ctr">
            <a:solidFill>
              <a:srgbClr val="0070C0"/>
            </a:solidFill>
            <a:prstDash val="solid"/>
            <a:round/>
            <a:headEnd type="none" w="med" len="med"/>
            <a:tailEnd type="none" w="med" len="med"/>
          </a:ln>
        </p:spPr>
      </p:cxnSp>
      <p:graphicFrame>
        <p:nvGraphicFramePr>
          <p:cNvPr id="28" name="对象 27"/>
          <p:cNvGraphicFramePr>
            <a:graphicFrameLocks noChangeAspect="1"/>
          </p:cNvGraphicFramePr>
          <p:nvPr>
            <p:extLst>
              <p:ext uri="{D42A27DB-BD31-4B8C-83A1-F6EECF244321}">
                <p14:modId xmlns:p14="http://schemas.microsoft.com/office/powerpoint/2010/main" val="1464630940"/>
              </p:ext>
            </p:extLst>
          </p:nvPr>
        </p:nvGraphicFramePr>
        <p:xfrm>
          <a:off x="4788024" y="5108277"/>
          <a:ext cx="4206875" cy="1489075"/>
        </p:xfrm>
        <a:graphic>
          <a:graphicData uri="http://schemas.openxmlformats.org/presentationml/2006/ole">
            <mc:AlternateContent xmlns:mc="http://schemas.openxmlformats.org/markup-compatibility/2006">
              <mc:Choice xmlns:v="urn:schemas-microsoft-com:vml" Requires="v">
                <p:oleObj spid="_x0000_s85449" name="Equation" r:id="rId18" imgW="2400120" imgH="812520" progId="Equation.DSMT4">
                  <p:embed/>
                </p:oleObj>
              </mc:Choice>
              <mc:Fallback>
                <p:oleObj name="Equation" r:id="rId18" imgW="2400120" imgH="812520" progId="Equation.DSMT4">
                  <p:embed/>
                  <p:pic>
                    <p:nvPicPr>
                      <p:cNvPr id="0" name=""/>
                      <p:cNvPicPr>
                        <a:picLocks noChangeAspect="1" noChangeArrowheads="1"/>
                      </p:cNvPicPr>
                      <p:nvPr/>
                    </p:nvPicPr>
                    <p:blipFill>
                      <a:blip r:embed="rId19"/>
                      <a:srcRect/>
                      <a:stretch>
                        <a:fillRect/>
                      </a:stretch>
                    </p:blipFill>
                    <p:spPr bwMode="auto">
                      <a:xfrm>
                        <a:off x="4788024" y="5108277"/>
                        <a:ext cx="4206875"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8763272"/>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81</a:t>
            </a:fld>
            <a:endParaRPr lang="en-US" altLang="zh-CN" dirty="0">
              <a:solidFill>
                <a:srgbClr val="000000"/>
              </a:solidFill>
            </a:endParaRPr>
          </a:p>
        </p:txBody>
      </p:sp>
      <p:sp>
        <p:nvSpPr>
          <p:cNvPr id="6" name="TextBox 5"/>
          <p:cNvSpPr txBox="1"/>
          <p:nvPr/>
        </p:nvSpPr>
        <p:spPr>
          <a:xfrm>
            <a:off x="539552" y="467380"/>
            <a:ext cx="2509020" cy="369332"/>
          </a:xfrm>
          <a:prstGeom prst="rect">
            <a:avLst/>
          </a:prstGeom>
          <a:noFill/>
        </p:spPr>
        <p:txBody>
          <a:bodyPr wrap="none" rtlCol="0">
            <a:spAutoFit/>
          </a:bodyPr>
          <a:lstStyle/>
          <a:p>
            <a:r>
              <a:rPr lang="zh-CN" altLang="en-US" b="1" dirty="0" smtClean="0"/>
              <a:t>六、峰值包络检波电路</a:t>
            </a:r>
            <a:endParaRPr lang="zh-CN" altLang="en-US" b="1" dirty="0"/>
          </a:p>
        </p:txBody>
      </p:sp>
      <p:pic>
        <p:nvPicPr>
          <p:cNvPr id="1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815" y="1335485"/>
            <a:ext cx="3180914"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8" descr="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97114" y="1216967"/>
            <a:ext cx="4014078" cy="2644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115616" y="4421732"/>
            <a:ext cx="3005951" cy="400110"/>
          </a:xfrm>
          <a:prstGeom prst="rect">
            <a:avLst/>
          </a:prstGeom>
          <a:noFill/>
        </p:spPr>
        <p:txBody>
          <a:bodyPr wrap="none" rtlCol="0">
            <a:spAutoFit/>
          </a:bodyPr>
          <a:lstStyle/>
          <a:p>
            <a:r>
              <a:rPr lang="zh-CN" altLang="en-US" sz="2000" b="1" dirty="0" smtClean="0">
                <a:solidFill>
                  <a:srgbClr val="00B050"/>
                </a:solidFill>
              </a:rPr>
              <a:t>掌握电路图，检波原理。</a:t>
            </a:r>
            <a:endParaRPr lang="zh-CN" altLang="en-US" sz="2000" b="1" dirty="0">
              <a:solidFill>
                <a:srgbClr val="00B050"/>
              </a:solidFill>
            </a:endParaRPr>
          </a:p>
        </p:txBody>
      </p:sp>
    </p:spTree>
    <p:extLst>
      <p:ext uri="{BB962C8B-B14F-4D97-AF65-F5344CB8AC3E}">
        <p14:creationId xmlns:p14="http://schemas.microsoft.com/office/powerpoint/2010/main" val="3281410011"/>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82</a:t>
            </a:fld>
            <a:endParaRPr lang="en-US" altLang="zh-CN" dirty="0">
              <a:solidFill>
                <a:srgbClr val="000000"/>
              </a:solidFill>
            </a:endParaRPr>
          </a:p>
        </p:txBody>
      </p:sp>
      <p:sp>
        <p:nvSpPr>
          <p:cNvPr id="6" name="TextBox 5"/>
          <p:cNvSpPr txBox="1"/>
          <p:nvPr/>
        </p:nvSpPr>
        <p:spPr>
          <a:xfrm>
            <a:off x="539552" y="467380"/>
            <a:ext cx="4136069" cy="369332"/>
          </a:xfrm>
          <a:prstGeom prst="rect">
            <a:avLst/>
          </a:prstGeom>
          <a:noFill/>
        </p:spPr>
        <p:txBody>
          <a:bodyPr wrap="none" rtlCol="0">
            <a:spAutoFit/>
          </a:bodyPr>
          <a:lstStyle/>
          <a:p>
            <a:r>
              <a:rPr lang="zh-CN" altLang="en-US" b="1" dirty="0"/>
              <a:t>七</a:t>
            </a:r>
            <a:r>
              <a:rPr lang="zh-CN" altLang="en-US" b="1" dirty="0" smtClean="0"/>
              <a:t>、峰值包络检波电路的主要性能指标</a:t>
            </a:r>
            <a:endParaRPr lang="zh-CN" altLang="en-US" b="1" dirty="0"/>
          </a:p>
        </p:txBody>
      </p:sp>
      <p:sp>
        <p:nvSpPr>
          <p:cNvPr id="7" name="TextBox 6"/>
          <p:cNvSpPr txBox="1"/>
          <p:nvPr/>
        </p:nvSpPr>
        <p:spPr>
          <a:xfrm>
            <a:off x="899592" y="836712"/>
            <a:ext cx="2122697" cy="400110"/>
          </a:xfrm>
          <a:prstGeom prst="rect">
            <a:avLst/>
          </a:prstGeom>
          <a:noFill/>
        </p:spPr>
        <p:txBody>
          <a:bodyPr wrap="none" rtlCol="0">
            <a:spAutoFit/>
          </a:bodyPr>
          <a:lstStyle/>
          <a:p>
            <a:r>
              <a:rPr lang="en-US" altLang="zh-CN" sz="2000" b="1" dirty="0" smtClean="0">
                <a:solidFill>
                  <a:srgbClr val="0070C0"/>
                </a:solidFill>
              </a:rPr>
              <a:t>1</a:t>
            </a:r>
            <a:r>
              <a:rPr lang="zh-CN" altLang="en-US" sz="2000" b="1" dirty="0" smtClean="0">
                <a:solidFill>
                  <a:srgbClr val="0070C0"/>
                </a:solidFill>
              </a:rPr>
              <a:t>）电压传输系数</a:t>
            </a:r>
            <a:endParaRPr lang="zh-CN" altLang="en-US" sz="2000" b="1" dirty="0">
              <a:solidFill>
                <a:srgbClr val="0070C0"/>
              </a:solidFill>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577343872"/>
              </p:ext>
            </p:extLst>
          </p:nvPr>
        </p:nvGraphicFramePr>
        <p:xfrm>
          <a:off x="1456035" y="1355913"/>
          <a:ext cx="4556125" cy="785813"/>
        </p:xfrm>
        <a:graphic>
          <a:graphicData uri="http://schemas.openxmlformats.org/presentationml/2006/ole">
            <mc:AlternateContent xmlns:mc="http://schemas.openxmlformats.org/markup-compatibility/2006">
              <mc:Choice xmlns:v="urn:schemas-microsoft-com:vml" Requires="v">
                <p:oleObj spid="_x0000_s40663" name="Equation" r:id="rId4" imgW="2577960" imgH="444240" progId="Equation.DSMT4">
                  <p:embed/>
                </p:oleObj>
              </mc:Choice>
              <mc:Fallback>
                <p:oleObj name="Equation" r:id="rId4" imgW="2577960" imgH="444240" progId="Equation.DSMT4">
                  <p:embed/>
                  <p:pic>
                    <p:nvPicPr>
                      <p:cNvPr id="0" name=""/>
                      <p:cNvPicPr/>
                      <p:nvPr/>
                    </p:nvPicPr>
                    <p:blipFill>
                      <a:blip r:embed="rId5"/>
                      <a:stretch>
                        <a:fillRect/>
                      </a:stretch>
                    </p:blipFill>
                    <p:spPr>
                      <a:xfrm>
                        <a:off x="1456035" y="1355913"/>
                        <a:ext cx="4556125" cy="785813"/>
                      </a:xfrm>
                      <a:prstGeom prst="rect">
                        <a:avLst/>
                      </a:prstGeom>
                      <a:noFill/>
                    </p:spPr>
                  </p:pic>
                </p:oleObj>
              </mc:Fallback>
            </mc:AlternateContent>
          </a:graphicData>
        </a:graphic>
      </p:graphicFrame>
      <p:sp>
        <p:nvSpPr>
          <p:cNvPr id="9" name="TextBox 8"/>
          <p:cNvSpPr txBox="1"/>
          <p:nvPr/>
        </p:nvSpPr>
        <p:spPr>
          <a:xfrm>
            <a:off x="1010033" y="2492896"/>
            <a:ext cx="1617751" cy="400110"/>
          </a:xfrm>
          <a:prstGeom prst="rect">
            <a:avLst/>
          </a:prstGeom>
          <a:noFill/>
        </p:spPr>
        <p:txBody>
          <a:bodyPr wrap="none" rtlCol="0">
            <a:spAutoFit/>
          </a:bodyPr>
          <a:lstStyle/>
          <a:p>
            <a:r>
              <a:rPr lang="en-US" altLang="zh-CN" sz="2000" b="1" dirty="0">
                <a:solidFill>
                  <a:srgbClr val="0070C0"/>
                </a:solidFill>
              </a:rPr>
              <a:t>2</a:t>
            </a:r>
            <a:r>
              <a:rPr lang="zh-CN" altLang="en-US" sz="2000" b="1" dirty="0" smtClean="0">
                <a:solidFill>
                  <a:srgbClr val="0070C0"/>
                </a:solidFill>
              </a:rPr>
              <a:t>）输入电阻</a:t>
            </a:r>
            <a:endParaRPr lang="zh-CN" altLang="en-US" sz="2000" b="1" dirty="0">
              <a:solidFill>
                <a:srgbClr val="0070C0"/>
              </a:solidFill>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3566355051"/>
              </p:ext>
            </p:extLst>
          </p:nvPr>
        </p:nvGraphicFramePr>
        <p:xfrm>
          <a:off x="1859609" y="3140968"/>
          <a:ext cx="4264025" cy="785812"/>
        </p:xfrm>
        <a:graphic>
          <a:graphicData uri="http://schemas.openxmlformats.org/presentationml/2006/ole">
            <mc:AlternateContent xmlns:mc="http://schemas.openxmlformats.org/markup-compatibility/2006">
              <mc:Choice xmlns:v="urn:schemas-microsoft-com:vml" Requires="v">
                <p:oleObj spid="_x0000_s40664" name="Equation" r:id="rId6" imgW="2412720" imgH="444240" progId="Equation.DSMT4">
                  <p:embed/>
                </p:oleObj>
              </mc:Choice>
              <mc:Fallback>
                <p:oleObj name="Equation" r:id="rId6" imgW="2412720" imgH="444240" progId="Equation.DSMT4">
                  <p:embed/>
                  <p:pic>
                    <p:nvPicPr>
                      <p:cNvPr id="0" name=""/>
                      <p:cNvPicPr>
                        <a:picLocks noChangeAspect="1" noChangeArrowheads="1"/>
                      </p:cNvPicPr>
                      <p:nvPr/>
                    </p:nvPicPr>
                    <p:blipFill>
                      <a:blip r:embed="rId7"/>
                      <a:srcRect/>
                      <a:stretch>
                        <a:fillRect/>
                      </a:stretch>
                    </p:blipFill>
                    <p:spPr bwMode="auto">
                      <a:xfrm>
                        <a:off x="1859609" y="3140968"/>
                        <a:ext cx="4264025" cy="785812"/>
                      </a:xfrm>
                      <a:prstGeom prst="rect">
                        <a:avLst/>
                      </a:prstGeom>
                      <a:noFill/>
                      <a:ln>
                        <a:noFill/>
                      </a:ln>
                      <a:extLst/>
                    </p:spPr>
                  </p:pic>
                </p:oleObj>
              </mc:Fallback>
            </mc:AlternateContent>
          </a:graphicData>
        </a:graphic>
      </p:graphicFrame>
      <p:graphicFrame>
        <p:nvGraphicFramePr>
          <p:cNvPr id="11" name="对象 10"/>
          <p:cNvGraphicFramePr>
            <a:graphicFrameLocks/>
          </p:cNvGraphicFramePr>
          <p:nvPr>
            <p:extLst>
              <p:ext uri="{D42A27DB-BD31-4B8C-83A1-F6EECF244321}">
                <p14:modId xmlns:p14="http://schemas.microsoft.com/office/powerpoint/2010/main" val="272405024"/>
              </p:ext>
            </p:extLst>
          </p:nvPr>
        </p:nvGraphicFramePr>
        <p:xfrm>
          <a:off x="6588224" y="3068960"/>
          <a:ext cx="1224136" cy="864096"/>
        </p:xfrm>
        <a:graphic>
          <a:graphicData uri="http://schemas.openxmlformats.org/presentationml/2006/ole">
            <mc:AlternateContent xmlns:mc="http://schemas.openxmlformats.org/markup-compatibility/2006">
              <mc:Choice xmlns:v="urn:schemas-microsoft-com:vml" Requires="v">
                <p:oleObj spid="_x0000_s40665" name="Equation" r:id="rId8" imgW="520560" imgH="393480" progId="Equation.DSMT4">
                  <p:embed/>
                </p:oleObj>
              </mc:Choice>
              <mc:Fallback>
                <p:oleObj name="Equation" r:id="rId8" imgW="520560" imgH="393480" progId="Equation.DSMT4">
                  <p:embed/>
                  <p:pic>
                    <p:nvPicPr>
                      <p:cNvPr id="0" name=""/>
                      <p:cNvPicPr>
                        <a:picLocks noChangeArrowheads="1"/>
                      </p:cNvPicPr>
                      <p:nvPr/>
                    </p:nvPicPr>
                    <p:blipFill>
                      <a:blip r:embed="rId9"/>
                      <a:srcRect/>
                      <a:stretch>
                        <a:fillRect/>
                      </a:stretch>
                    </p:blipFill>
                    <p:spPr bwMode="auto">
                      <a:xfrm>
                        <a:off x="6588224" y="3068960"/>
                        <a:ext cx="1224136" cy="864096"/>
                      </a:xfrm>
                      <a:prstGeom prst="rect">
                        <a:avLst/>
                      </a:prstGeom>
                      <a:noFill/>
                      <a:ln>
                        <a:noFill/>
                      </a:ln>
                      <a:effectLst/>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943576694"/>
              </p:ext>
            </p:extLst>
          </p:nvPr>
        </p:nvGraphicFramePr>
        <p:xfrm>
          <a:off x="6444208" y="1412776"/>
          <a:ext cx="1425575" cy="504825"/>
        </p:xfrm>
        <a:graphic>
          <a:graphicData uri="http://schemas.openxmlformats.org/presentationml/2006/ole">
            <mc:AlternateContent xmlns:mc="http://schemas.openxmlformats.org/markup-compatibility/2006">
              <mc:Choice xmlns:v="urn:schemas-microsoft-com:vml" Requires="v">
                <p:oleObj spid="_x0000_s40666" name="Equation" r:id="rId10" imgW="647640" imgH="228600" progId="Equation.DSMT4">
                  <p:embed/>
                </p:oleObj>
              </mc:Choice>
              <mc:Fallback>
                <p:oleObj name="Equation" r:id="rId10" imgW="647640" imgH="228600" progId="Equation.DSMT4">
                  <p:embed/>
                  <p:pic>
                    <p:nvPicPr>
                      <p:cNvPr id="0" name="对象 14"/>
                      <p:cNvPicPr>
                        <a:picLocks noChangeAspect="1" noChangeArrowheads="1"/>
                      </p:cNvPicPr>
                      <p:nvPr/>
                    </p:nvPicPr>
                    <p:blipFill>
                      <a:blip r:embed="rId11"/>
                      <a:srcRect/>
                      <a:stretch>
                        <a:fillRect/>
                      </a:stretch>
                    </p:blipFill>
                    <p:spPr bwMode="auto">
                      <a:xfrm>
                        <a:off x="6444208" y="1412776"/>
                        <a:ext cx="1425575" cy="504825"/>
                      </a:xfrm>
                      <a:prstGeom prst="rect">
                        <a:avLst/>
                      </a:prstGeom>
                      <a:noFill/>
                      <a:ln>
                        <a:noFill/>
                      </a:ln>
                    </p:spPr>
                  </p:pic>
                </p:oleObj>
              </mc:Fallback>
            </mc:AlternateContent>
          </a:graphicData>
        </a:graphic>
      </p:graphicFrame>
      <p:sp>
        <p:nvSpPr>
          <p:cNvPr id="14" name="TextBox 13"/>
          <p:cNvSpPr txBox="1"/>
          <p:nvPr/>
        </p:nvSpPr>
        <p:spPr>
          <a:xfrm>
            <a:off x="1043608" y="4221088"/>
            <a:ext cx="6005170" cy="400110"/>
          </a:xfrm>
          <a:prstGeom prst="rect">
            <a:avLst/>
          </a:prstGeom>
          <a:noFill/>
        </p:spPr>
        <p:txBody>
          <a:bodyPr wrap="none" rtlCol="0">
            <a:spAutoFit/>
          </a:bodyPr>
          <a:lstStyle/>
          <a:p>
            <a:r>
              <a:rPr lang="en-US" altLang="zh-CN" sz="2000" b="1" dirty="0" smtClean="0">
                <a:solidFill>
                  <a:srgbClr val="0070C0"/>
                </a:solidFill>
              </a:rPr>
              <a:t>3</a:t>
            </a:r>
            <a:r>
              <a:rPr lang="zh-CN" altLang="en-US" sz="2000" b="1" dirty="0" smtClean="0">
                <a:solidFill>
                  <a:srgbClr val="0070C0"/>
                </a:solidFill>
              </a:rPr>
              <a:t>）检波失真：</a:t>
            </a:r>
            <a:r>
              <a:rPr lang="zh-CN" altLang="en-US" sz="2000" b="1" dirty="0" smtClean="0">
                <a:solidFill>
                  <a:srgbClr val="FF3399"/>
                </a:solidFill>
              </a:rPr>
              <a:t>惰性失真、负峰切割失真、频率失真</a:t>
            </a:r>
            <a:endParaRPr lang="zh-CN" altLang="en-US" sz="2000" b="1" dirty="0">
              <a:solidFill>
                <a:srgbClr val="FF3399"/>
              </a:solidFill>
            </a:endParaRPr>
          </a:p>
        </p:txBody>
      </p:sp>
      <p:sp>
        <p:nvSpPr>
          <p:cNvPr id="15" name="TextBox 14"/>
          <p:cNvSpPr txBox="1"/>
          <p:nvPr/>
        </p:nvSpPr>
        <p:spPr>
          <a:xfrm>
            <a:off x="1259632" y="4953942"/>
            <a:ext cx="6480720" cy="1338828"/>
          </a:xfrm>
          <a:prstGeom prst="rect">
            <a:avLst/>
          </a:prstGeom>
          <a:noFill/>
        </p:spPr>
        <p:txBody>
          <a:bodyPr wrap="square" rtlCol="0">
            <a:spAutoFit/>
          </a:bodyPr>
          <a:lstStyle/>
          <a:p>
            <a:pPr>
              <a:lnSpc>
                <a:spcPct val="150000"/>
              </a:lnSpc>
            </a:pPr>
            <a:r>
              <a:rPr lang="zh-CN" altLang="en-US" b="1" dirty="0" smtClean="0">
                <a:solidFill>
                  <a:schemeClr val="accent6">
                    <a:lumMod val="75000"/>
                  </a:schemeClr>
                </a:solidFill>
                <a:latin typeface="+mn-ea"/>
                <a:cs typeface="Times New Roman" panose="02020603050405020304" pitchFamily="18" charset="0"/>
              </a:rPr>
              <a:t>惰性失真原因：</a:t>
            </a:r>
            <a:r>
              <a:rPr lang="en-US" altLang="zh-CN" b="1" dirty="0" smtClean="0">
                <a:latin typeface="+mn-ea"/>
                <a:cs typeface="Times New Roman" panose="02020603050405020304" pitchFamily="18" charset="0"/>
              </a:rPr>
              <a:t>C</a:t>
            </a:r>
            <a:r>
              <a:rPr lang="zh-CN" altLang="en-US" b="1" dirty="0" smtClean="0">
                <a:latin typeface="+mn-ea"/>
                <a:cs typeface="Times New Roman" panose="02020603050405020304" pitchFamily="18" charset="0"/>
              </a:rPr>
              <a:t>放电过慢，放电速度小于包络的下降速度</a:t>
            </a:r>
            <a:endParaRPr lang="en-US" altLang="zh-CN" b="1" dirty="0" smtClean="0">
              <a:latin typeface="+mn-ea"/>
              <a:cs typeface="Times New Roman" panose="02020603050405020304" pitchFamily="18" charset="0"/>
            </a:endParaRPr>
          </a:p>
          <a:p>
            <a:pPr>
              <a:lnSpc>
                <a:spcPct val="150000"/>
              </a:lnSpc>
            </a:pPr>
            <a:r>
              <a:rPr lang="zh-CN" altLang="en-US" b="1" dirty="0">
                <a:solidFill>
                  <a:schemeClr val="accent6">
                    <a:lumMod val="75000"/>
                  </a:schemeClr>
                </a:solidFill>
                <a:latin typeface="+mn-ea"/>
                <a:cs typeface="Times New Roman" panose="02020603050405020304" pitchFamily="18" charset="0"/>
              </a:rPr>
              <a:t>负峰切割失真原因：</a:t>
            </a:r>
            <a:r>
              <a:rPr lang="zh-CN" altLang="en-US" b="1" dirty="0" smtClean="0">
                <a:latin typeface="+mn-ea"/>
                <a:cs typeface="Times New Roman" panose="02020603050405020304" pitchFamily="18" charset="0"/>
              </a:rPr>
              <a:t>交、直流负载电阻不相等。</a:t>
            </a:r>
            <a:endParaRPr lang="en-US" altLang="zh-CN" b="1" dirty="0" smtClean="0">
              <a:latin typeface="+mn-ea"/>
              <a:cs typeface="Times New Roman" panose="02020603050405020304" pitchFamily="18" charset="0"/>
            </a:endParaRPr>
          </a:p>
          <a:p>
            <a:pPr>
              <a:lnSpc>
                <a:spcPct val="150000"/>
              </a:lnSpc>
            </a:pPr>
            <a:r>
              <a:rPr lang="zh-CN" altLang="en-US" b="1" dirty="0">
                <a:solidFill>
                  <a:schemeClr val="accent6">
                    <a:lumMod val="75000"/>
                  </a:schemeClr>
                </a:solidFill>
                <a:latin typeface="+mn-ea"/>
                <a:cs typeface="Times New Roman" panose="02020603050405020304" pitchFamily="18" charset="0"/>
              </a:rPr>
              <a:t>频率失真原因：</a:t>
            </a:r>
            <a:r>
              <a:rPr lang="zh-CN" altLang="en-US" b="1" dirty="0">
                <a:latin typeface="+mn-ea"/>
                <a:cs typeface="Times New Roman" panose="02020603050405020304" pitchFamily="18" charset="0"/>
              </a:rPr>
              <a:t>电容与电阻的大小不符合要求</a:t>
            </a:r>
            <a:r>
              <a:rPr lang="zh-CN" altLang="en-US" b="1" dirty="0" smtClean="0">
                <a:latin typeface="+mn-ea"/>
                <a:cs typeface="Times New Roman" panose="02020603050405020304" pitchFamily="18" charset="0"/>
              </a:rPr>
              <a:t>。</a:t>
            </a:r>
            <a:endParaRPr lang="zh-CN" altLang="en-US" b="1" dirty="0">
              <a:latin typeface="+mn-ea"/>
              <a:cs typeface="Times New Roman" panose="02020603050405020304" pitchFamily="18" charset="0"/>
            </a:endParaRPr>
          </a:p>
        </p:txBody>
      </p:sp>
    </p:spTree>
    <p:extLst>
      <p:ext uri="{BB962C8B-B14F-4D97-AF65-F5344CB8AC3E}">
        <p14:creationId xmlns:p14="http://schemas.microsoft.com/office/powerpoint/2010/main" val="2881476919"/>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83</a:t>
            </a:fld>
            <a:endParaRPr lang="en-US" altLang="zh-CN" dirty="0">
              <a:solidFill>
                <a:srgbClr val="000000"/>
              </a:solidFill>
            </a:endParaRPr>
          </a:p>
        </p:txBody>
      </p:sp>
      <p:sp>
        <p:nvSpPr>
          <p:cNvPr id="6" name="TextBox 5"/>
          <p:cNvSpPr txBox="1"/>
          <p:nvPr/>
        </p:nvSpPr>
        <p:spPr>
          <a:xfrm>
            <a:off x="539552" y="467380"/>
            <a:ext cx="2741456" cy="369332"/>
          </a:xfrm>
          <a:prstGeom prst="rect">
            <a:avLst/>
          </a:prstGeom>
          <a:noFill/>
        </p:spPr>
        <p:txBody>
          <a:bodyPr wrap="none" rtlCol="0">
            <a:spAutoFit/>
          </a:bodyPr>
          <a:lstStyle/>
          <a:p>
            <a:r>
              <a:rPr lang="zh-CN" altLang="en-US" b="1" dirty="0"/>
              <a:t>八</a:t>
            </a:r>
            <a:r>
              <a:rPr lang="zh-CN" altLang="en-US" b="1" dirty="0" smtClean="0"/>
              <a:t>、</a:t>
            </a:r>
            <a:r>
              <a:rPr lang="zh-CN" altLang="en-US" b="1" dirty="0" smtClean="0">
                <a:solidFill>
                  <a:srgbClr val="FF0000"/>
                </a:solidFill>
              </a:rPr>
              <a:t>乘积型同步</a:t>
            </a:r>
            <a:r>
              <a:rPr lang="zh-CN" altLang="en-US" b="1" dirty="0" smtClean="0"/>
              <a:t>检波电路</a:t>
            </a:r>
            <a:endParaRPr lang="zh-CN" altLang="en-US" b="1" dirty="0"/>
          </a:p>
        </p:txBody>
      </p:sp>
      <p:grpSp>
        <p:nvGrpSpPr>
          <p:cNvPr id="7" name="组合 6"/>
          <p:cNvGrpSpPr/>
          <p:nvPr/>
        </p:nvGrpSpPr>
        <p:grpSpPr>
          <a:xfrm>
            <a:off x="1331640" y="1268760"/>
            <a:ext cx="5953125" cy="1990725"/>
            <a:chOff x="1475656" y="1550725"/>
            <a:chExt cx="5953125" cy="1990725"/>
          </a:xfrm>
        </p:grpSpPr>
        <p:pic>
          <p:nvPicPr>
            <p:cNvPr id="8"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1550725"/>
              <a:ext cx="595312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bwMode="auto">
            <a:xfrm>
              <a:off x="2614760" y="3109610"/>
              <a:ext cx="1021136" cy="431840"/>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grpSp>
      <p:grpSp>
        <p:nvGrpSpPr>
          <p:cNvPr id="11" name="组合 10"/>
          <p:cNvGrpSpPr/>
          <p:nvPr/>
        </p:nvGrpSpPr>
        <p:grpSpPr>
          <a:xfrm>
            <a:off x="2262733" y="3877022"/>
            <a:ext cx="4181475" cy="2000250"/>
            <a:chOff x="1974701" y="1124744"/>
            <a:chExt cx="4181475" cy="2000250"/>
          </a:xfrm>
        </p:grpSpPr>
        <p:pic>
          <p:nvPicPr>
            <p:cNvPr id="12"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4701" y="1124744"/>
              <a:ext cx="4181475"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p:nvPr/>
          </p:nvSpPr>
          <p:spPr bwMode="auto">
            <a:xfrm>
              <a:off x="1974701" y="2579955"/>
              <a:ext cx="1152128" cy="529655"/>
            </a:xfrm>
            <a:prstGeom prst="rect">
              <a:avLst/>
            </a:prstGeom>
            <a:solidFill>
              <a:schemeClr val="bg1"/>
            </a:solidFill>
            <a:ln w="9525" cap="flat" cmpd="sng" algn="ctr">
              <a:no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charset="0"/>
                <a:ea typeface="隶书" pitchFamily="49" charset="-122"/>
              </a:endParaRPr>
            </a:p>
          </p:txBody>
        </p:sp>
      </p:grpSp>
      <p:sp>
        <p:nvSpPr>
          <p:cNvPr id="2" name="TextBox 1"/>
          <p:cNvSpPr txBox="1"/>
          <p:nvPr/>
        </p:nvSpPr>
        <p:spPr>
          <a:xfrm>
            <a:off x="3635896" y="1156958"/>
            <a:ext cx="877163" cy="369332"/>
          </a:xfrm>
          <a:prstGeom prst="rect">
            <a:avLst/>
          </a:prstGeom>
          <a:noFill/>
        </p:spPr>
        <p:txBody>
          <a:bodyPr wrap="none" rtlCol="0">
            <a:spAutoFit/>
          </a:bodyPr>
          <a:lstStyle/>
          <a:p>
            <a:r>
              <a:rPr lang="zh-CN" altLang="en-US" dirty="0" smtClean="0">
                <a:solidFill>
                  <a:srgbClr val="FF0000"/>
                </a:solidFill>
              </a:rPr>
              <a:t>相乘器</a:t>
            </a:r>
            <a:endParaRPr lang="zh-CN" altLang="en-US" dirty="0">
              <a:solidFill>
                <a:srgbClr val="FF0000"/>
              </a:solidFill>
            </a:endParaRPr>
          </a:p>
        </p:txBody>
      </p:sp>
      <p:sp>
        <p:nvSpPr>
          <p:cNvPr id="13" name="TextBox 12"/>
          <p:cNvSpPr txBox="1"/>
          <p:nvPr/>
        </p:nvSpPr>
        <p:spPr>
          <a:xfrm>
            <a:off x="3491880" y="3507690"/>
            <a:ext cx="877163" cy="369332"/>
          </a:xfrm>
          <a:prstGeom prst="rect">
            <a:avLst/>
          </a:prstGeom>
          <a:noFill/>
        </p:spPr>
        <p:txBody>
          <a:bodyPr wrap="none" rtlCol="0">
            <a:spAutoFit/>
          </a:bodyPr>
          <a:lstStyle/>
          <a:p>
            <a:r>
              <a:rPr lang="zh-CN" altLang="en-US" dirty="0" smtClean="0">
                <a:solidFill>
                  <a:srgbClr val="FF0000"/>
                </a:solidFill>
              </a:rPr>
              <a:t>相乘器</a:t>
            </a:r>
            <a:endParaRPr lang="zh-CN" altLang="en-US" dirty="0">
              <a:solidFill>
                <a:srgbClr val="FF0000"/>
              </a:solidFill>
            </a:endParaRPr>
          </a:p>
        </p:txBody>
      </p:sp>
      <p:sp>
        <p:nvSpPr>
          <p:cNvPr id="15" name="TextBox 14"/>
          <p:cNvSpPr txBox="1"/>
          <p:nvPr/>
        </p:nvSpPr>
        <p:spPr>
          <a:xfrm>
            <a:off x="5076056" y="602960"/>
            <a:ext cx="3456384" cy="923330"/>
          </a:xfrm>
          <a:prstGeom prst="rect">
            <a:avLst/>
          </a:prstGeom>
          <a:noFill/>
          <a:ln>
            <a:solidFill>
              <a:srgbClr val="FF0000"/>
            </a:solidFill>
          </a:ln>
        </p:spPr>
        <p:txBody>
          <a:bodyPr wrap="square" rtlCol="0">
            <a:spAutoFit/>
          </a:bodyPr>
          <a:lstStyle/>
          <a:p>
            <a:pPr>
              <a:lnSpc>
                <a:spcPct val="150000"/>
              </a:lnSpc>
            </a:pPr>
            <a:r>
              <a:rPr lang="zh-CN" altLang="en-US" b="1" dirty="0" smtClean="0">
                <a:solidFill>
                  <a:srgbClr val="FF0000"/>
                </a:solidFill>
              </a:rPr>
              <a:t>重要，需掌握乘积型、叠加型同步检波电路的构成，需会画图</a:t>
            </a:r>
            <a:endParaRPr lang="zh-CN" altLang="en-US" b="1" dirty="0">
              <a:solidFill>
                <a:srgbClr val="FF0000"/>
              </a:solidFill>
            </a:endParaRPr>
          </a:p>
        </p:txBody>
      </p:sp>
    </p:spTree>
    <p:extLst>
      <p:ext uri="{BB962C8B-B14F-4D97-AF65-F5344CB8AC3E}">
        <p14:creationId xmlns:p14="http://schemas.microsoft.com/office/powerpoint/2010/main" val="2907752274"/>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84</a:t>
            </a:fld>
            <a:endParaRPr lang="en-US" altLang="zh-CN" dirty="0">
              <a:solidFill>
                <a:srgbClr val="000000"/>
              </a:solidFill>
            </a:endParaRPr>
          </a:p>
        </p:txBody>
      </p:sp>
      <p:sp>
        <p:nvSpPr>
          <p:cNvPr id="6" name="TextBox 5"/>
          <p:cNvSpPr txBox="1"/>
          <p:nvPr/>
        </p:nvSpPr>
        <p:spPr>
          <a:xfrm>
            <a:off x="539552" y="467380"/>
            <a:ext cx="2741456" cy="369332"/>
          </a:xfrm>
          <a:prstGeom prst="rect">
            <a:avLst/>
          </a:prstGeom>
          <a:noFill/>
        </p:spPr>
        <p:txBody>
          <a:bodyPr wrap="none" rtlCol="0">
            <a:spAutoFit/>
          </a:bodyPr>
          <a:lstStyle/>
          <a:p>
            <a:r>
              <a:rPr lang="zh-CN" altLang="en-US" b="1" dirty="0" smtClean="0"/>
              <a:t>九、</a:t>
            </a:r>
            <a:r>
              <a:rPr lang="zh-CN" altLang="en-US" b="1" dirty="0" smtClean="0">
                <a:solidFill>
                  <a:srgbClr val="FF0000"/>
                </a:solidFill>
              </a:rPr>
              <a:t>叠加型同步</a:t>
            </a:r>
            <a:r>
              <a:rPr lang="zh-CN" altLang="en-US" b="1" dirty="0" smtClean="0"/>
              <a:t>检波电路</a:t>
            </a:r>
            <a:endParaRPr lang="zh-CN" altLang="en-US" b="1" dirty="0"/>
          </a:p>
        </p:txBody>
      </p:sp>
      <p:pic>
        <p:nvPicPr>
          <p:cNvPr id="10"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7" y="2605658"/>
            <a:ext cx="4086225"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2915815" y="2265776"/>
            <a:ext cx="877163" cy="369332"/>
          </a:xfrm>
          <a:prstGeom prst="rect">
            <a:avLst/>
          </a:prstGeom>
          <a:noFill/>
        </p:spPr>
        <p:txBody>
          <a:bodyPr wrap="none" rtlCol="0">
            <a:spAutoFit/>
          </a:bodyPr>
          <a:lstStyle/>
          <a:p>
            <a:r>
              <a:rPr lang="zh-CN" altLang="en-US" dirty="0">
                <a:solidFill>
                  <a:srgbClr val="FF0000"/>
                </a:solidFill>
              </a:rPr>
              <a:t>加法</a:t>
            </a:r>
            <a:r>
              <a:rPr lang="zh-CN" altLang="en-US" dirty="0" smtClean="0">
                <a:solidFill>
                  <a:srgbClr val="FF0000"/>
                </a:solidFill>
              </a:rPr>
              <a:t>器</a:t>
            </a:r>
            <a:endParaRPr lang="zh-CN" altLang="en-US" dirty="0">
              <a:solidFill>
                <a:srgbClr val="FF0000"/>
              </a:solidFill>
            </a:endParaRPr>
          </a:p>
        </p:txBody>
      </p:sp>
      <p:sp>
        <p:nvSpPr>
          <p:cNvPr id="7" name="TextBox 6"/>
          <p:cNvSpPr txBox="1"/>
          <p:nvPr/>
        </p:nvSpPr>
        <p:spPr>
          <a:xfrm>
            <a:off x="5076056" y="602960"/>
            <a:ext cx="3456384" cy="923330"/>
          </a:xfrm>
          <a:prstGeom prst="rect">
            <a:avLst/>
          </a:prstGeom>
          <a:noFill/>
          <a:ln>
            <a:solidFill>
              <a:srgbClr val="FF0000"/>
            </a:solidFill>
          </a:ln>
        </p:spPr>
        <p:txBody>
          <a:bodyPr wrap="square" rtlCol="0">
            <a:spAutoFit/>
          </a:bodyPr>
          <a:lstStyle/>
          <a:p>
            <a:pPr>
              <a:lnSpc>
                <a:spcPct val="150000"/>
              </a:lnSpc>
            </a:pPr>
            <a:r>
              <a:rPr lang="zh-CN" altLang="en-US" b="1" dirty="0" smtClean="0">
                <a:solidFill>
                  <a:srgbClr val="FF0000"/>
                </a:solidFill>
              </a:rPr>
              <a:t>重要，需掌握乘积型、叠加型同步检波电路的构成，需会画图</a:t>
            </a:r>
            <a:endParaRPr lang="zh-CN" altLang="en-US" b="1" dirty="0">
              <a:solidFill>
                <a:srgbClr val="FF0000"/>
              </a:solidFill>
            </a:endParaRPr>
          </a:p>
        </p:txBody>
      </p:sp>
    </p:spTree>
    <p:extLst>
      <p:ext uri="{BB962C8B-B14F-4D97-AF65-F5344CB8AC3E}">
        <p14:creationId xmlns:p14="http://schemas.microsoft.com/office/powerpoint/2010/main" val="3689753109"/>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85</a:t>
            </a:fld>
            <a:endParaRPr lang="en-US" altLang="zh-CN" dirty="0">
              <a:solidFill>
                <a:srgbClr val="000000"/>
              </a:solidFill>
            </a:endParaRPr>
          </a:p>
        </p:txBody>
      </p:sp>
      <p:sp>
        <p:nvSpPr>
          <p:cNvPr id="6" name="TextBox 5"/>
          <p:cNvSpPr txBox="1"/>
          <p:nvPr/>
        </p:nvSpPr>
        <p:spPr>
          <a:xfrm>
            <a:off x="539552" y="467380"/>
            <a:ext cx="2973891" cy="369332"/>
          </a:xfrm>
          <a:prstGeom prst="rect">
            <a:avLst/>
          </a:prstGeom>
          <a:noFill/>
        </p:spPr>
        <p:txBody>
          <a:bodyPr wrap="none" rtlCol="0">
            <a:spAutoFit/>
          </a:bodyPr>
          <a:lstStyle/>
          <a:p>
            <a:r>
              <a:rPr lang="zh-CN" altLang="en-US" b="1" dirty="0" smtClean="0"/>
              <a:t>十、线性频谱搬移电路框图</a:t>
            </a:r>
            <a:endParaRPr lang="zh-CN" altLang="en-US" b="1" dirty="0"/>
          </a:p>
        </p:txBody>
      </p:sp>
      <p:sp>
        <p:nvSpPr>
          <p:cNvPr id="5" name="TextBox 4"/>
          <p:cNvSpPr txBox="1"/>
          <p:nvPr/>
        </p:nvSpPr>
        <p:spPr>
          <a:xfrm>
            <a:off x="2827308" y="1268760"/>
            <a:ext cx="1960793" cy="553998"/>
          </a:xfrm>
          <a:prstGeom prst="rect">
            <a:avLst/>
          </a:prstGeom>
          <a:noFill/>
        </p:spPr>
        <p:txBody>
          <a:bodyPr wrap="none" rtlCol="0">
            <a:spAutoFit/>
          </a:bodyPr>
          <a:lstStyle/>
          <a:p>
            <a:pPr>
              <a:lnSpc>
                <a:spcPct val="150000"/>
              </a:lnSpc>
            </a:pPr>
            <a:r>
              <a:rPr lang="en-US" altLang="zh-CN" sz="2000" b="1" dirty="0" smtClean="0"/>
              <a:t>1)</a:t>
            </a:r>
            <a:r>
              <a:rPr lang="zh-CN" altLang="en-US" sz="2000" b="1" dirty="0" smtClean="0"/>
              <a:t>幅度调制电路</a:t>
            </a:r>
            <a:endParaRPr lang="en-US" altLang="zh-CN" sz="2000" b="1" dirty="0" smtClean="0"/>
          </a:p>
        </p:txBody>
      </p:sp>
      <p:sp>
        <p:nvSpPr>
          <p:cNvPr id="7" name="TextBox 6"/>
          <p:cNvSpPr txBox="1"/>
          <p:nvPr/>
        </p:nvSpPr>
        <p:spPr>
          <a:xfrm>
            <a:off x="217128" y="3110499"/>
            <a:ext cx="2249334" cy="1015663"/>
          </a:xfrm>
          <a:prstGeom prst="rect">
            <a:avLst/>
          </a:prstGeom>
          <a:noFill/>
        </p:spPr>
        <p:txBody>
          <a:bodyPr wrap="none" rtlCol="0">
            <a:spAutoFit/>
          </a:bodyPr>
          <a:lstStyle/>
          <a:p>
            <a:pPr algn="ctr">
              <a:lnSpc>
                <a:spcPct val="150000"/>
              </a:lnSpc>
            </a:pPr>
            <a:r>
              <a:rPr lang="zh-CN" altLang="en-US" sz="2000" b="1" dirty="0" smtClean="0"/>
              <a:t>线性频谱搬移电路</a:t>
            </a:r>
            <a:endParaRPr lang="en-US" altLang="zh-CN" sz="2000" b="1" dirty="0" smtClean="0"/>
          </a:p>
          <a:p>
            <a:pPr algn="ctr">
              <a:lnSpc>
                <a:spcPct val="150000"/>
              </a:lnSpc>
            </a:pPr>
            <a:r>
              <a:rPr lang="zh-CN" altLang="en-US" sz="2000" b="1" dirty="0" smtClean="0"/>
              <a:t>幅度调制</a:t>
            </a:r>
            <a:endParaRPr lang="en-US" altLang="zh-CN" sz="2000" b="1" dirty="0" smtClean="0"/>
          </a:p>
        </p:txBody>
      </p:sp>
      <p:sp>
        <p:nvSpPr>
          <p:cNvPr id="8" name="左大括号 7"/>
          <p:cNvSpPr/>
          <p:nvPr/>
        </p:nvSpPr>
        <p:spPr bwMode="auto">
          <a:xfrm>
            <a:off x="2451526" y="1361605"/>
            <a:ext cx="429898" cy="4138259"/>
          </a:xfrm>
          <a:prstGeom prst="leftBrace">
            <a:avLst/>
          </a:prstGeom>
          <a:noFill/>
          <a:ln w="2857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effectLst/>
              <a:latin typeface="Arial" charset="0"/>
              <a:ea typeface="隶书" pitchFamily="49" charset="-122"/>
            </a:endParaRPr>
          </a:p>
        </p:txBody>
      </p:sp>
      <p:sp>
        <p:nvSpPr>
          <p:cNvPr id="9" name="TextBox 8"/>
          <p:cNvSpPr txBox="1"/>
          <p:nvPr/>
        </p:nvSpPr>
        <p:spPr>
          <a:xfrm>
            <a:off x="2812173" y="5005626"/>
            <a:ext cx="1186543" cy="494238"/>
          </a:xfrm>
          <a:prstGeom prst="rect">
            <a:avLst/>
          </a:prstGeom>
          <a:noFill/>
        </p:spPr>
        <p:txBody>
          <a:bodyPr wrap="none" rtlCol="0">
            <a:spAutoFit/>
          </a:bodyPr>
          <a:lstStyle/>
          <a:p>
            <a:pPr>
              <a:lnSpc>
                <a:spcPct val="150000"/>
              </a:lnSpc>
            </a:pPr>
            <a:r>
              <a:rPr lang="en-US" altLang="zh-CN" sz="2000" b="1" dirty="0" smtClean="0"/>
              <a:t>3)</a:t>
            </a:r>
            <a:r>
              <a:rPr lang="zh-CN" altLang="en-US" sz="2000" b="1" dirty="0" smtClean="0"/>
              <a:t>混频器</a:t>
            </a:r>
            <a:endParaRPr lang="en-US" altLang="zh-CN" sz="2000" b="1" dirty="0" smtClean="0"/>
          </a:p>
        </p:txBody>
      </p:sp>
      <p:sp>
        <p:nvSpPr>
          <p:cNvPr id="11" name="TextBox 10"/>
          <p:cNvSpPr txBox="1"/>
          <p:nvPr/>
        </p:nvSpPr>
        <p:spPr>
          <a:xfrm>
            <a:off x="2748668" y="3078778"/>
            <a:ext cx="1702710" cy="553998"/>
          </a:xfrm>
          <a:prstGeom prst="rect">
            <a:avLst/>
          </a:prstGeom>
          <a:noFill/>
        </p:spPr>
        <p:txBody>
          <a:bodyPr wrap="none" rtlCol="0">
            <a:spAutoFit/>
          </a:bodyPr>
          <a:lstStyle/>
          <a:p>
            <a:pPr>
              <a:lnSpc>
                <a:spcPct val="150000"/>
              </a:lnSpc>
            </a:pPr>
            <a:r>
              <a:rPr lang="en-US" altLang="zh-CN" sz="2000" b="1" dirty="0" smtClean="0"/>
              <a:t>2</a:t>
            </a:r>
            <a:r>
              <a:rPr lang="en-US" altLang="zh-CN" sz="2000" b="1" dirty="0"/>
              <a:t>)</a:t>
            </a:r>
            <a:r>
              <a:rPr lang="zh-CN" altLang="en-US" sz="2000" b="1" dirty="0" smtClean="0"/>
              <a:t>振幅解调器</a:t>
            </a:r>
            <a:endParaRPr lang="en-US" altLang="zh-CN" sz="2000" b="1" dirty="0" smtClean="0"/>
          </a:p>
        </p:txBody>
      </p:sp>
      <p:sp>
        <p:nvSpPr>
          <p:cNvPr id="12" name="TextBox 11"/>
          <p:cNvSpPr txBox="1"/>
          <p:nvPr/>
        </p:nvSpPr>
        <p:spPr>
          <a:xfrm>
            <a:off x="4995110" y="1264985"/>
            <a:ext cx="1811714" cy="507831"/>
          </a:xfrm>
          <a:prstGeom prst="rect">
            <a:avLst/>
          </a:prstGeom>
          <a:noFill/>
        </p:spPr>
        <p:txBody>
          <a:bodyPr wrap="none" rtlCol="0">
            <a:spAutoFit/>
          </a:bodyPr>
          <a:lstStyle/>
          <a:p>
            <a:pPr>
              <a:lnSpc>
                <a:spcPct val="150000"/>
              </a:lnSpc>
            </a:pPr>
            <a:r>
              <a:rPr lang="zh-CN" altLang="en-US" b="1" dirty="0" smtClean="0"/>
              <a:t>低电平调幅电路</a:t>
            </a:r>
            <a:endParaRPr lang="en-US" altLang="zh-CN" b="1" dirty="0" smtClean="0"/>
          </a:p>
        </p:txBody>
      </p:sp>
      <p:sp>
        <p:nvSpPr>
          <p:cNvPr id="13" name="TextBox 12"/>
          <p:cNvSpPr txBox="1"/>
          <p:nvPr/>
        </p:nvSpPr>
        <p:spPr>
          <a:xfrm>
            <a:off x="4972435" y="1710626"/>
            <a:ext cx="4136069" cy="507831"/>
          </a:xfrm>
          <a:prstGeom prst="rect">
            <a:avLst/>
          </a:prstGeom>
          <a:noFill/>
        </p:spPr>
        <p:txBody>
          <a:bodyPr wrap="none" rtlCol="0">
            <a:spAutoFit/>
          </a:bodyPr>
          <a:lstStyle/>
          <a:p>
            <a:pPr>
              <a:lnSpc>
                <a:spcPct val="150000"/>
              </a:lnSpc>
            </a:pPr>
            <a:r>
              <a:rPr lang="zh-CN" altLang="en-US" b="1" dirty="0" smtClean="0"/>
              <a:t>高电平调幅电路（利用高频功放实现）</a:t>
            </a:r>
            <a:endParaRPr lang="en-US" altLang="zh-CN" b="1" dirty="0" smtClean="0"/>
          </a:p>
        </p:txBody>
      </p:sp>
      <p:sp>
        <p:nvSpPr>
          <p:cNvPr id="14" name="TextBox 13"/>
          <p:cNvSpPr txBox="1"/>
          <p:nvPr/>
        </p:nvSpPr>
        <p:spPr>
          <a:xfrm>
            <a:off x="4648547" y="2564904"/>
            <a:ext cx="2868093" cy="507831"/>
          </a:xfrm>
          <a:prstGeom prst="rect">
            <a:avLst/>
          </a:prstGeom>
          <a:noFill/>
        </p:spPr>
        <p:txBody>
          <a:bodyPr wrap="none" rtlCol="0">
            <a:spAutoFit/>
          </a:bodyPr>
          <a:lstStyle/>
          <a:p>
            <a:pPr>
              <a:lnSpc>
                <a:spcPct val="150000"/>
              </a:lnSpc>
            </a:pPr>
            <a:r>
              <a:rPr lang="zh-CN" altLang="en-US" b="1" dirty="0" smtClean="0"/>
              <a:t>二极管包络检波电路：</a:t>
            </a:r>
            <a:r>
              <a:rPr lang="en-US" altLang="zh-CN" b="1" dirty="0" smtClean="0"/>
              <a:t>AM</a:t>
            </a:r>
          </a:p>
        </p:txBody>
      </p:sp>
      <p:sp>
        <p:nvSpPr>
          <p:cNvPr id="15" name="TextBox 14"/>
          <p:cNvSpPr txBox="1"/>
          <p:nvPr/>
        </p:nvSpPr>
        <p:spPr>
          <a:xfrm>
            <a:off x="4620876" y="3608130"/>
            <a:ext cx="1633781" cy="923330"/>
          </a:xfrm>
          <a:prstGeom prst="rect">
            <a:avLst/>
          </a:prstGeom>
          <a:noFill/>
        </p:spPr>
        <p:txBody>
          <a:bodyPr wrap="none" rtlCol="0">
            <a:spAutoFit/>
          </a:bodyPr>
          <a:lstStyle/>
          <a:p>
            <a:pPr>
              <a:lnSpc>
                <a:spcPct val="150000"/>
              </a:lnSpc>
            </a:pPr>
            <a:r>
              <a:rPr lang="zh-CN" altLang="en-US" b="1" dirty="0" smtClean="0"/>
              <a:t>同步检波器</a:t>
            </a:r>
            <a:endParaRPr lang="en-US" altLang="zh-CN" b="1" dirty="0" smtClean="0"/>
          </a:p>
          <a:p>
            <a:pPr>
              <a:lnSpc>
                <a:spcPct val="150000"/>
              </a:lnSpc>
            </a:pPr>
            <a:r>
              <a:rPr lang="en-US" altLang="zh-CN" b="1" dirty="0" smtClean="0"/>
              <a:t>AM,DSB,SSB</a:t>
            </a:r>
          </a:p>
        </p:txBody>
      </p:sp>
      <p:sp>
        <p:nvSpPr>
          <p:cNvPr id="16" name="TextBox 15"/>
          <p:cNvSpPr txBox="1"/>
          <p:nvPr/>
        </p:nvSpPr>
        <p:spPr>
          <a:xfrm>
            <a:off x="6548116" y="3216719"/>
            <a:ext cx="881973" cy="454035"/>
          </a:xfrm>
          <a:prstGeom prst="rect">
            <a:avLst/>
          </a:prstGeom>
          <a:noFill/>
        </p:spPr>
        <p:txBody>
          <a:bodyPr wrap="none" rtlCol="0">
            <a:spAutoFit/>
          </a:bodyPr>
          <a:lstStyle/>
          <a:p>
            <a:pPr>
              <a:lnSpc>
                <a:spcPct val="150000"/>
              </a:lnSpc>
            </a:pPr>
            <a:r>
              <a:rPr lang="zh-CN" altLang="en-US" b="1" dirty="0" smtClean="0"/>
              <a:t>乘积型</a:t>
            </a:r>
            <a:endParaRPr lang="en-US" altLang="zh-CN" b="1" dirty="0" smtClean="0"/>
          </a:p>
        </p:txBody>
      </p:sp>
      <p:sp>
        <p:nvSpPr>
          <p:cNvPr id="17" name="TextBox 16"/>
          <p:cNvSpPr txBox="1"/>
          <p:nvPr/>
        </p:nvSpPr>
        <p:spPr>
          <a:xfrm>
            <a:off x="6548116" y="4055085"/>
            <a:ext cx="881973" cy="454035"/>
          </a:xfrm>
          <a:prstGeom prst="rect">
            <a:avLst/>
          </a:prstGeom>
          <a:noFill/>
        </p:spPr>
        <p:txBody>
          <a:bodyPr wrap="none" rtlCol="0">
            <a:spAutoFit/>
          </a:bodyPr>
          <a:lstStyle/>
          <a:p>
            <a:pPr>
              <a:lnSpc>
                <a:spcPct val="150000"/>
              </a:lnSpc>
            </a:pPr>
            <a:r>
              <a:rPr lang="zh-CN" altLang="en-US" b="1" dirty="0" smtClean="0"/>
              <a:t>叠加型</a:t>
            </a:r>
            <a:endParaRPr lang="en-US" altLang="zh-CN" b="1" dirty="0" smtClean="0"/>
          </a:p>
        </p:txBody>
      </p:sp>
      <p:sp>
        <p:nvSpPr>
          <p:cNvPr id="18" name="TextBox 17"/>
          <p:cNvSpPr txBox="1"/>
          <p:nvPr/>
        </p:nvSpPr>
        <p:spPr>
          <a:xfrm>
            <a:off x="4166054" y="4520496"/>
            <a:ext cx="1811714" cy="454035"/>
          </a:xfrm>
          <a:prstGeom prst="rect">
            <a:avLst/>
          </a:prstGeom>
          <a:noFill/>
        </p:spPr>
        <p:txBody>
          <a:bodyPr wrap="none" rtlCol="0">
            <a:spAutoFit/>
          </a:bodyPr>
          <a:lstStyle/>
          <a:p>
            <a:pPr>
              <a:lnSpc>
                <a:spcPct val="150000"/>
              </a:lnSpc>
            </a:pPr>
            <a:r>
              <a:rPr lang="zh-CN" altLang="en-US" b="1" dirty="0" smtClean="0"/>
              <a:t>二极管混频电路</a:t>
            </a:r>
            <a:endParaRPr lang="en-US" altLang="zh-CN" b="1" dirty="0" smtClean="0"/>
          </a:p>
        </p:txBody>
      </p:sp>
      <p:sp>
        <p:nvSpPr>
          <p:cNvPr id="19" name="TextBox 18"/>
          <p:cNvSpPr txBox="1"/>
          <p:nvPr/>
        </p:nvSpPr>
        <p:spPr>
          <a:xfrm>
            <a:off x="4131130" y="5081409"/>
            <a:ext cx="1811714" cy="507831"/>
          </a:xfrm>
          <a:prstGeom prst="rect">
            <a:avLst/>
          </a:prstGeom>
          <a:noFill/>
        </p:spPr>
        <p:txBody>
          <a:bodyPr wrap="none" rtlCol="0">
            <a:spAutoFit/>
          </a:bodyPr>
          <a:lstStyle/>
          <a:p>
            <a:pPr>
              <a:lnSpc>
                <a:spcPct val="150000"/>
              </a:lnSpc>
            </a:pPr>
            <a:r>
              <a:rPr lang="zh-CN" altLang="en-US" b="1" dirty="0" smtClean="0"/>
              <a:t>三极管混频电路</a:t>
            </a:r>
            <a:endParaRPr lang="en-US" altLang="zh-CN" b="1" dirty="0" smtClean="0"/>
          </a:p>
        </p:txBody>
      </p:sp>
      <p:sp>
        <p:nvSpPr>
          <p:cNvPr id="20" name="TextBox 19"/>
          <p:cNvSpPr txBox="1"/>
          <p:nvPr/>
        </p:nvSpPr>
        <p:spPr>
          <a:xfrm>
            <a:off x="4131130" y="5585465"/>
            <a:ext cx="1811714" cy="507831"/>
          </a:xfrm>
          <a:prstGeom prst="rect">
            <a:avLst/>
          </a:prstGeom>
          <a:noFill/>
        </p:spPr>
        <p:txBody>
          <a:bodyPr wrap="none" rtlCol="0">
            <a:spAutoFit/>
          </a:bodyPr>
          <a:lstStyle/>
          <a:p>
            <a:pPr>
              <a:lnSpc>
                <a:spcPct val="150000"/>
              </a:lnSpc>
            </a:pPr>
            <a:r>
              <a:rPr lang="zh-CN" altLang="en-US" b="1" dirty="0" smtClean="0"/>
              <a:t>乘积型混频电路</a:t>
            </a:r>
            <a:endParaRPr lang="en-US" altLang="zh-CN" b="1" dirty="0" smtClean="0"/>
          </a:p>
        </p:txBody>
      </p:sp>
      <p:sp>
        <p:nvSpPr>
          <p:cNvPr id="21" name="左大括号 20"/>
          <p:cNvSpPr/>
          <p:nvPr/>
        </p:nvSpPr>
        <p:spPr bwMode="auto">
          <a:xfrm>
            <a:off x="6372200" y="3455885"/>
            <a:ext cx="214949" cy="895037"/>
          </a:xfrm>
          <a:prstGeom prst="leftBrace">
            <a:avLst/>
          </a:prstGeom>
          <a:noFill/>
          <a:ln w="2857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effectLst/>
              <a:latin typeface="Arial" charset="0"/>
              <a:ea typeface="隶书" pitchFamily="49" charset="-122"/>
            </a:endParaRPr>
          </a:p>
        </p:txBody>
      </p:sp>
      <p:sp>
        <p:nvSpPr>
          <p:cNvPr id="22" name="左大括号 21"/>
          <p:cNvSpPr/>
          <p:nvPr/>
        </p:nvSpPr>
        <p:spPr bwMode="auto">
          <a:xfrm>
            <a:off x="3988189" y="4747936"/>
            <a:ext cx="214949" cy="1121786"/>
          </a:xfrm>
          <a:prstGeom prst="leftBrace">
            <a:avLst/>
          </a:prstGeom>
          <a:noFill/>
          <a:ln w="2857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effectLst/>
              <a:latin typeface="Arial" charset="0"/>
              <a:ea typeface="隶书" pitchFamily="49" charset="-122"/>
            </a:endParaRPr>
          </a:p>
        </p:txBody>
      </p:sp>
      <p:sp>
        <p:nvSpPr>
          <p:cNvPr id="23" name="左大括号 22"/>
          <p:cNvSpPr/>
          <p:nvPr/>
        </p:nvSpPr>
        <p:spPr bwMode="auto">
          <a:xfrm>
            <a:off x="4477935" y="2790143"/>
            <a:ext cx="214949" cy="1142913"/>
          </a:xfrm>
          <a:prstGeom prst="leftBrace">
            <a:avLst/>
          </a:prstGeom>
          <a:noFill/>
          <a:ln w="2857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effectLst/>
              <a:latin typeface="Arial" charset="0"/>
              <a:ea typeface="隶书" pitchFamily="49" charset="-122"/>
            </a:endParaRPr>
          </a:p>
        </p:txBody>
      </p:sp>
      <p:sp>
        <p:nvSpPr>
          <p:cNvPr id="24" name="左大括号 23"/>
          <p:cNvSpPr/>
          <p:nvPr/>
        </p:nvSpPr>
        <p:spPr bwMode="auto">
          <a:xfrm>
            <a:off x="4825640" y="1120893"/>
            <a:ext cx="214949" cy="895037"/>
          </a:xfrm>
          <a:prstGeom prst="leftBrace">
            <a:avLst/>
          </a:prstGeom>
          <a:noFill/>
          <a:ln w="2857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marL="0" marR="0" indent="0" algn="ctr" defTabSz="914400" rtl="0" eaLnBrk="1" fontAlgn="base" latinLnBrk="0" hangingPunct="1">
              <a:spcBef>
                <a:spcPct val="0"/>
              </a:spcBef>
              <a:spcAft>
                <a:spcPct val="0"/>
              </a:spcAft>
              <a:buClrTx/>
              <a:buSzTx/>
              <a:buFontTx/>
              <a:buNone/>
            </a:pPr>
            <a:endParaRPr kumimoji="0" lang="zh-CN" altLang="en-US" sz="2400" b="0" i="0" u="none" strike="noStrike" cap="none" normalizeH="0" baseline="0" smtClean="0">
              <a:ln>
                <a:noFill/>
              </a:ln>
              <a:effectLst/>
              <a:latin typeface="Arial" charset="0"/>
              <a:ea typeface="隶书" pitchFamily="49" charset="-122"/>
            </a:endParaRPr>
          </a:p>
        </p:txBody>
      </p:sp>
      <p:sp>
        <p:nvSpPr>
          <p:cNvPr id="26" name="TextBox 25"/>
          <p:cNvSpPr txBox="1"/>
          <p:nvPr/>
        </p:nvSpPr>
        <p:spPr>
          <a:xfrm>
            <a:off x="5004048" y="836712"/>
            <a:ext cx="1811714" cy="507831"/>
          </a:xfrm>
          <a:prstGeom prst="rect">
            <a:avLst/>
          </a:prstGeom>
          <a:noFill/>
        </p:spPr>
        <p:txBody>
          <a:bodyPr wrap="none" rtlCol="0">
            <a:spAutoFit/>
          </a:bodyPr>
          <a:lstStyle/>
          <a:p>
            <a:pPr>
              <a:lnSpc>
                <a:spcPct val="150000"/>
              </a:lnSpc>
            </a:pPr>
            <a:r>
              <a:rPr lang="zh-CN" altLang="en-US" b="1" dirty="0" smtClean="0"/>
              <a:t>相乘器电路原理</a:t>
            </a:r>
            <a:endParaRPr lang="en-US" altLang="zh-CN" b="1" dirty="0" smtClean="0"/>
          </a:p>
        </p:txBody>
      </p:sp>
    </p:spTree>
    <p:extLst>
      <p:ext uri="{BB962C8B-B14F-4D97-AF65-F5344CB8AC3E}">
        <p14:creationId xmlns:p14="http://schemas.microsoft.com/office/powerpoint/2010/main" val="1347714460"/>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眼镜"/>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762871" y="3645024"/>
            <a:ext cx="1673225" cy="133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2195736" y="2492896"/>
            <a:ext cx="5328592" cy="584775"/>
          </a:xfrm>
          <a:prstGeom prst="rect">
            <a:avLst/>
          </a:prstGeom>
          <a:noFill/>
        </p:spPr>
        <p:txBody>
          <a:bodyPr wrap="square" rtlCol="0">
            <a:spAutoFit/>
          </a:bodyPr>
          <a:lstStyle/>
          <a:p>
            <a:r>
              <a:rPr lang="zh-CN" altLang="en-US" sz="3200" b="1" dirty="0" smtClean="0"/>
              <a:t>第六章  角度调制与解调电路</a:t>
            </a:r>
            <a:endParaRPr lang="zh-CN" altLang="en-US" sz="3200" b="1" dirty="0"/>
          </a:p>
        </p:txBody>
      </p:sp>
    </p:spTree>
    <p:extLst>
      <p:ext uri="{BB962C8B-B14F-4D97-AF65-F5344CB8AC3E}">
        <p14:creationId xmlns:p14="http://schemas.microsoft.com/office/powerpoint/2010/main" val="429384477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87</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第六章知识点梳理</a:t>
            </a:r>
            <a:endParaRPr lang="zh-CN" altLang="en-US" sz="2400" b="1" dirty="0">
              <a:solidFill>
                <a:prstClr val="black"/>
              </a:solidFill>
            </a:endParaRPr>
          </a:p>
        </p:txBody>
      </p:sp>
      <p:sp>
        <p:nvSpPr>
          <p:cNvPr id="6" name="TextBox 5"/>
          <p:cNvSpPr txBox="1"/>
          <p:nvPr/>
        </p:nvSpPr>
        <p:spPr>
          <a:xfrm>
            <a:off x="539552" y="651852"/>
            <a:ext cx="2276585" cy="369332"/>
          </a:xfrm>
          <a:prstGeom prst="rect">
            <a:avLst/>
          </a:prstGeom>
          <a:noFill/>
        </p:spPr>
        <p:txBody>
          <a:bodyPr wrap="none" rtlCol="0">
            <a:spAutoFit/>
          </a:bodyPr>
          <a:lstStyle/>
          <a:p>
            <a:r>
              <a:rPr lang="zh-CN" altLang="en-US" b="1" dirty="0" smtClean="0"/>
              <a:t>一、调角波的表达式</a:t>
            </a:r>
            <a:endParaRPr lang="zh-CN" altLang="en-US" b="1" dirty="0"/>
          </a:p>
        </p:txBody>
      </p:sp>
      <p:sp>
        <p:nvSpPr>
          <p:cNvPr id="23" name="TextBox 22"/>
          <p:cNvSpPr txBox="1"/>
          <p:nvPr/>
        </p:nvSpPr>
        <p:spPr>
          <a:xfrm>
            <a:off x="611560" y="939884"/>
            <a:ext cx="4524187" cy="495585"/>
          </a:xfrm>
          <a:prstGeom prst="rect">
            <a:avLst/>
          </a:prstGeom>
          <a:noFill/>
        </p:spPr>
        <p:txBody>
          <a:bodyPr wrap="none" rtlCol="0">
            <a:spAutoFit/>
          </a:bodyPr>
          <a:lstStyle/>
          <a:p>
            <a:pPr>
              <a:lnSpc>
                <a:spcPct val="150000"/>
              </a:lnSpc>
            </a:pPr>
            <a:r>
              <a:rPr lang="zh-CN" altLang="en-US" sz="2000" b="1" dirty="0" smtClean="0">
                <a:solidFill>
                  <a:srgbClr val="0070C0"/>
                </a:solidFill>
                <a:latin typeface="Times New Roman" panose="02020603050405020304" pitchFamily="18" charset="0"/>
                <a:cs typeface="Times New Roman" panose="02020603050405020304" pitchFamily="18" charset="0"/>
              </a:rPr>
              <a:t>调频信号：</a:t>
            </a:r>
            <a:r>
              <a:rPr lang="en-US" altLang="zh-CN" sz="2000" b="1" dirty="0" smtClean="0">
                <a:solidFill>
                  <a:srgbClr val="FF3399"/>
                </a:solidFill>
                <a:latin typeface="Times New Roman" panose="02020603050405020304" pitchFamily="18" charset="0"/>
                <a:cs typeface="Times New Roman" panose="02020603050405020304" pitchFamily="18" charset="0"/>
              </a:rPr>
              <a:t>FM</a:t>
            </a:r>
            <a:r>
              <a:rPr lang="en-US" altLang="zh-CN" sz="2000" b="1" dirty="0" smtClean="0">
                <a:solidFill>
                  <a:srgbClr val="0070C0"/>
                </a:solidFill>
                <a:latin typeface="Times New Roman" panose="02020603050405020304" pitchFamily="18" charset="0"/>
                <a:cs typeface="Times New Roman" panose="02020603050405020304" pitchFamily="18" charset="0"/>
              </a:rPr>
              <a:t>(Frequency modulation)</a:t>
            </a:r>
          </a:p>
        </p:txBody>
      </p:sp>
      <p:sp>
        <p:nvSpPr>
          <p:cNvPr id="24" name="TextBox 23"/>
          <p:cNvSpPr txBox="1"/>
          <p:nvPr/>
        </p:nvSpPr>
        <p:spPr>
          <a:xfrm>
            <a:off x="714600" y="3717032"/>
            <a:ext cx="4001416" cy="495585"/>
          </a:xfrm>
          <a:prstGeom prst="rect">
            <a:avLst/>
          </a:prstGeom>
          <a:noFill/>
        </p:spPr>
        <p:txBody>
          <a:bodyPr wrap="none" rtlCol="0">
            <a:spAutoFit/>
          </a:bodyPr>
          <a:lstStyle/>
          <a:p>
            <a:pPr>
              <a:lnSpc>
                <a:spcPct val="150000"/>
              </a:lnSpc>
            </a:pPr>
            <a:r>
              <a:rPr lang="zh-CN" altLang="en-US" sz="2000" b="1" dirty="0" smtClean="0">
                <a:solidFill>
                  <a:srgbClr val="0070C0"/>
                </a:solidFill>
              </a:rPr>
              <a:t>调相信号</a:t>
            </a:r>
            <a:r>
              <a:rPr lang="zh-CN" altLang="en-US" sz="2000" b="1" dirty="0" smtClean="0">
                <a:solidFill>
                  <a:srgbClr val="0070C0"/>
                </a:solidFill>
                <a:latin typeface="Times New Roman" panose="02020603050405020304" pitchFamily="18" charset="0"/>
                <a:cs typeface="Times New Roman" panose="02020603050405020304" pitchFamily="18" charset="0"/>
              </a:rPr>
              <a:t>：</a:t>
            </a:r>
            <a:r>
              <a:rPr lang="en-US" altLang="zh-CN" sz="2000" b="1" dirty="0" smtClean="0">
                <a:solidFill>
                  <a:srgbClr val="FF3399"/>
                </a:solidFill>
                <a:latin typeface="Times New Roman" panose="02020603050405020304" pitchFamily="18" charset="0"/>
                <a:cs typeface="Times New Roman" panose="02020603050405020304" pitchFamily="18" charset="0"/>
              </a:rPr>
              <a:t>PM</a:t>
            </a:r>
            <a:r>
              <a:rPr lang="en-US" altLang="zh-CN" sz="2000" b="1" dirty="0" smtClean="0">
                <a:solidFill>
                  <a:srgbClr val="0070C0"/>
                </a:solidFill>
                <a:latin typeface="Times New Roman" panose="02020603050405020304" pitchFamily="18" charset="0"/>
                <a:cs typeface="Times New Roman" panose="02020603050405020304" pitchFamily="18" charset="0"/>
              </a:rPr>
              <a:t>(Phase modulation)</a:t>
            </a:r>
          </a:p>
        </p:txBody>
      </p:sp>
      <p:sp>
        <p:nvSpPr>
          <p:cNvPr id="18" name="TextBox 17"/>
          <p:cNvSpPr txBox="1"/>
          <p:nvPr/>
        </p:nvSpPr>
        <p:spPr>
          <a:xfrm>
            <a:off x="611560" y="1587956"/>
            <a:ext cx="3206327" cy="369332"/>
          </a:xfrm>
          <a:prstGeom prst="rect">
            <a:avLst/>
          </a:prstGeom>
          <a:noFill/>
        </p:spPr>
        <p:txBody>
          <a:bodyPr wrap="none" rtlCol="0">
            <a:spAutoFit/>
          </a:bodyPr>
          <a:lstStyle/>
          <a:p>
            <a:r>
              <a:rPr lang="zh-CN" altLang="en-US" b="1" dirty="0" smtClean="0">
                <a:solidFill>
                  <a:srgbClr val="FF0000"/>
                </a:solidFill>
              </a:rPr>
              <a:t>调制对象：瞬时频率偏移量</a:t>
            </a:r>
            <a:r>
              <a:rPr lang="zh-CN" altLang="en-US" b="1" dirty="0" smtClean="0">
                <a:solidFill>
                  <a:srgbClr val="FF0000"/>
                </a:solidFill>
                <a:latin typeface="Times New Roman"/>
                <a:cs typeface="Times New Roman"/>
              </a:rPr>
              <a:t>：</a:t>
            </a:r>
            <a:endParaRPr lang="zh-CN" altLang="en-US" b="1" dirty="0">
              <a:solidFill>
                <a:srgbClr val="FF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275708575"/>
              </p:ext>
            </p:extLst>
          </p:nvPr>
        </p:nvGraphicFramePr>
        <p:xfrm>
          <a:off x="3635896" y="1484872"/>
          <a:ext cx="2383251" cy="575976"/>
        </p:xfrm>
        <a:graphic>
          <a:graphicData uri="http://schemas.openxmlformats.org/presentationml/2006/ole">
            <mc:AlternateContent xmlns:mc="http://schemas.openxmlformats.org/markup-compatibility/2006">
              <mc:Choice xmlns:v="urn:schemas-microsoft-com:vml" Requires="v">
                <p:oleObj spid="_x0000_s98538" name="Equation" r:id="rId4" imgW="1054080" imgH="253800" progId="Equation.DSMT4">
                  <p:embed/>
                </p:oleObj>
              </mc:Choice>
              <mc:Fallback>
                <p:oleObj name="Equation" r:id="rId4" imgW="1054080" imgH="253800" progId="Equation.DSMT4">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896" y="1484872"/>
                        <a:ext cx="2383251" cy="575976"/>
                      </a:xfrm>
                      <a:prstGeom prst="rect">
                        <a:avLst/>
                      </a:prstGeom>
                      <a:noFill/>
                      <a:ln>
                        <a:noFill/>
                      </a:ln>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183555407"/>
              </p:ext>
            </p:extLst>
          </p:nvPr>
        </p:nvGraphicFramePr>
        <p:xfrm>
          <a:off x="3851920" y="4149080"/>
          <a:ext cx="2396009" cy="593364"/>
        </p:xfrm>
        <a:graphic>
          <a:graphicData uri="http://schemas.openxmlformats.org/presentationml/2006/ole">
            <mc:AlternateContent xmlns:mc="http://schemas.openxmlformats.org/markup-compatibility/2006">
              <mc:Choice xmlns:v="urn:schemas-microsoft-com:vml" Requires="v">
                <p:oleObj spid="_x0000_s98539" name="Equation" r:id="rId6" imgW="1028520" imgH="253800" progId="Equation.DSMT4">
                  <p:embed/>
                </p:oleObj>
              </mc:Choice>
              <mc:Fallback>
                <p:oleObj name="Equation" r:id="rId6" imgW="1028520" imgH="253800" progId="Equation.DSMT4">
                  <p:embed/>
                  <p:pic>
                    <p:nvPicPr>
                      <p:cNvPr id="0" name="对象 4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1920" y="4149080"/>
                        <a:ext cx="2396009" cy="593364"/>
                      </a:xfrm>
                      <a:prstGeom prst="rect">
                        <a:avLst/>
                      </a:prstGeom>
                      <a:noFill/>
                      <a:ln>
                        <a:noFill/>
                      </a:ln>
                    </p:spPr>
                  </p:pic>
                </p:oleObj>
              </mc:Fallback>
            </mc:AlternateContent>
          </a:graphicData>
        </a:graphic>
      </p:graphicFrame>
      <p:sp>
        <p:nvSpPr>
          <p:cNvPr id="21" name="TextBox 20"/>
          <p:cNvSpPr txBox="1"/>
          <p:nvPr/>
        </p:nvSpPr>
        <p:spPr>
          <a:xfrm>
            <a:off x="717601" y="4293096"/>
            <a:ext cx="3206327" cy="369332"/>
          </a:xfrm>
          <a:prstGeom prst="rect">
            <a:avLst/>
          </a:prstGeom>
          <a:noFill/>
        </p:spPr>
        <p:txBody>
          <a:bodyPr wrap="none" rtlCol="0">
            <a:spAutoFit/>
          </a:bodyPr>
          <a:lstStyle/>
          <a:p>
            <a:r>
              <a:rPr lang="zh-CN" altLang="en-US" b="1" dirty="0" smtClean="0">
                <a:solidFill>
                  <a:srgbClr val="FF0000"/>
                </a:solidFill>
              </a:rPr>
              <a:t>调制对象：瞬时频率偏移量</a:t>
            </a:r>
            <a:r>
              <a:rPr lang="zh-CN" altLang="en-US" b="1" dirty="0" smtClean="0">
                <a:solidFill>
                  <a:srgbClr val="FF0000"/>
                </a:solidFill>
                <a:latin typeface="Times New Roman"/>
                <a:cs typeface="Times New Roman"/>
              </a:rPr>
              <a:t>：</a:t>
            </a:r>
            <a:endParaRPr lang="zh-CN" altLang="en-US" b="1" dirty="0">
              <a:solidFill>
                <a:srgbClr val="FF0000"/>
              </a:solidFill>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2026668444"/>
              </p:ext>
            </p:extLst>
          </p:nvPr>
        </p:nvGraphicFramePr>
        <p:xfrm>
          <a:off x="816127" y="2164020"/>
          <a:ext cx="4348584" cy="914075"/>
        </p:xfrm>
        <a:graphic>
          <a:graphicData uri="http://schemas.openxmlformats.org/presentationml/2006/ole">
            <mc:AlternateContent xmlns:mc="http://schemas.openxmlformats.org/markup-compatibility/2006">
              <mc:Choice xmlns:v="urn:schemas-microsoft-com:vml" Requires="v">
                <p:oleObj spid="_x0000_s98540" name="Equation" r:id="rId8" imgW="2311200" imgH="482400" progId="Equation.DSMT4">
                  <p:embed/>
                </p:oleObj>
              </mc:Choice>
              <mc:Fallback>
                <p:oleObj name="Equation" r:id="rId8" imgW="2311200" imgH="482400" progId="Equation.DSMT4">
                  <p:embed/>
                  <p:pic>
                    <p:nvPicPr>
                      <p:cNvPr id="0"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6127" y="2164020"/>
                        <a:ext cx="4348584" cy="914075"/>
                      </a:xfrm>
                      <a:prstGeom prst="rect">
                        <a:avLst/>
                      </a:prstGeom>
                      <a:noFill/>
                      <a:ln>
                        <a:noFill/>
                      </a:ln>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870270107"/>
              </p:ext>
            </p:extLst>
          </p:nvPr>
        </p:nvGraphicFramePr>
        <p:xfrm>
          <a:off x="837493" y="2974131"/>
          <a:ext cx="1680702" cy="886917"/>
        </p:xfrm>
        <a:graphic>
          <a:graphicData uri="http://schemas.openxmlformats.org/presentationml/2006/ole">
            <mc:AlternateContent xmlns:mc="http://schemas.openxmlformats.org/markup-compatibility/2006">
              <mc:Choice xmlns:v="urn:schemas-microsoft-com:vml" Requires="v">
                <p:oleObj spid="_x0000_s98541" name="Equation" r:id="rId10" imgW="799920" imgH="419040" progId="Equation.DSMT4">
                  <p:embed/>
                </p:oleObj>
              </mc:Choice>
              <mc:Fallback>
                <p:oleObj name="Equation" r:id="rId10" imgW="799920" imgH="419040" progId="Equation.DSMT4">
                  <p:embed/>
                  <p:pic>
                    <p:nvPicPr>
                      <p:cNvPr id="0" name="对象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7493" y="2974131"/>
                        <a:ext cx="1680702" cy="886917"/>
                      </a:xfrm>
                      <a:prstGeom prst="rect">
                        <a:avLst/>
                      </a:prstGeom>
                      <a:noFill/>
                      <a:ln>
                        <a:noFill/>
                      </a:ln>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992319762"/>
              </p:ext>
            </p:extLst>
          </p:nvPr>
        </p:nvGraphicFramePr>
        <p:xfrm>
          <a:off x="971600" y="4797152"/>
          <a:ext cx="6034087" cy="731838"/>
        </p:xfrm>
        <a:graphic>
          <a:graphicData uri="http://schemas.openxmlformats.org/presentationml/2006/ole">
            <mc:AlternateContent xmlns:mc="http://schemas.openxmlformats.org/markup-compatibility/2006">
              <mc:Choice xmlns:v="urn:schemas-microsoft-com:vml" Requires="v">
                <p:oleObj spid="_x0000_s98542" name="Equation" r:id="rId12" imgW="2311200" imgH="279360" progId="Equation.DSMT4">
                  <p:embed/>
                </p:oleObj>
              </mc:Choice>
              <mc:Fallback>
                <p:oleObj name="Equation" r:id="rId12" imgW="2311200" imgH="279360" progId="Equation.DSMT4">
                  <p:embed/>
                  <p:pic>
                    <p:nvPicPr>
                      <p:cNvPr id="0" name="对象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71600" y="4797152"/>
                        <a:ext cx="6034087"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850314605"/>
              </p:ext>
            </p:extLst>
          </p:nvPr>
        </p:nvGraphicFramePr>
        <p:xfrm>
          <a:off x="994722" y="5733256"/>
          <a:ext cx="1773237" cy="565150"/>
        </p:xfrm>
        <a:graphic>
          <a:graphicData uri="http://schemas.openxmlformats.org/presentationml/2006/ole">
            <mc:AlternateContent xmlns:mc="http://schemas.openxmlformats.org/markup-compatibility/2006">
              <mc:Choice xmlns:v="urn:schemas-microsoft-com:vml" Requires="v">
                <p:oleObj spid="_x0000_s98543" name="Equation" r:id="rId14" imgW="761760" imgH="241200" progId="Equation.DSMT4">
                  <p:embed/>
                </p:oleObj>
              </mc:Choice>
              <mc:Fallback>
                <p:oleObj name="Equation" r:id="rId14" imgW="761760" imgH="241200" progId="Equation.DSMT4">
                  <p:embed/>
                  <p:pic>
                    <p:nvPicPr>
                      <p:cNvPr id="0" name="对象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94722" y="5733256"/>
                        <a:ext cx="1773237"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TextBox 28"/>
          <p:cNvSpPr txBox="1"/>
          <p:nvPr/>
        </p:nvSpPr>
        <p:spPr>
          <a:xfrm>
            <a:off x="5724128" y="1052736"/>
            <a:ext cx="3312368" cy="286232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smtClean="0">
                <a:solidFill>
                  <a:srgbClr val="0070C0"/>
                </a:solidFill>
              </a:rPr>
              <a:t>调频时，最大角频偏</a:t>
            </a:r>
            <a:r>
              <a:rPr lang="zh-CN" altLang="en-US" sz="2000" b="1" dirty="0" smtClean="0">
                <a:solidFill>
                  <a:srgbClr val="0070C0"/>
                </a:solidFill>
                <a:latin typeface="Times New Roman"/>
                <a:cs typeface="Times New Roman"/>
              </a:rPr>
              <a:t>∆</a:t>
            </a:r>
            <a:r>
              <a:rPr lang="el-GR" altLang="zh-CN" sz="2000" b="1" dirty="0" smtClean="0">
                <a:solidFill>
                  <a:srgbClr val="0070C0"/>
                </a:solidFill>
                <a:latin typeface="Times New Roman"/>
                <a:cs typeface="Times New Roman"/>
              </a:rPr>
              <a:t>ω</a:t>
            </a:r>
            <a:r>
              <a:rPr lang="en-US" altLang="zh-CN" sz="2000" b="1" baseline="-25000" dirty="0" smtClean="0">
                <a:solidFill>
                  <a:srgbClr val="0070C0"/>
                </a:solidFill>
                <a:latin typeface="Times New Roman"/>
                <a:cs typeface="Times New Roman"/>
              </a:rPr>
              <a:t>m</a:t>
            </a:r>
            <a:r>
              <a:rPr lang="zh-CN" altLang="en-US" sz="2000" b="1" dirty="0" smtClean="0">
                <a:solidFill>
                  <a:srgbClr val="0070C0"/>
                </a:solidFill>
              </a:rPr>
              <a:t>与</a:t>
            </a:r>
            <a:r>
              <a:rPr lang="el-GR" altLang="zh-CN" sz="2000" b="1" dirty="0" smtClean="0">
                <a:solidFill>
                  <a:srgbClr val="0070C0"/>
                </a:solidFill>
                <a:latin typeface="Times New Roman"/>
                <a:cs typeface="Times New Roman"/>
              </a:rPr>
              <a:t>Ω</a:t>
            </a:r>
            <a:r>
              <a:rPr lang="zh-CN" altLang="en-US" sz="2000" b="1" dirty="0" smtClean="0">
                <a:solidFill>
                  <a:srgbClr val="0070C0"/>
                </a:solidFill>
              </a:rPr>
              <a:t>无关，最大相位偏移</a:t>
            </a:r>
            <a:r>
              <a:rPr lang="en-US" altLang="zh-CN" sz="2000" b="1" dirty="0" smtClean="0">
                <a:solidFill>
                  <a:srgbClr val="0070C0"/>
                </a:solidFill>
              </a:rPr>
              <a:t>m</a:t>
            </a:r>
            <a:r>
              <a:rPr lang="en-US" altLang="zh-CN" sz="2000" b="1" baseline="-25000" dirty="0" smtClean="0">
                <a:solidFill>
                  <a:srgbClr val="0070C0"/>
                </a:solidFill>
              </a:rPr>
              <a:t>f</a:t>
            </a:r>
            <a:r>
              <a:rPr lang="zh-CN" altLang="en-US" sz="2000" b="1" dirty="0" smtClean="0">
                <a:solidFill>
                  <a:srgbClr val="0070C0"/>
                </a:solidFill>
              </a:rPr>
              <a:t>与</a:t>
            </a:r>
            <a:r>
              <a:rPr lang="el-GR" altLang="zh-CN" sz="2000" b="1" dirty="0">
                <a:solidFill>
                  <a:srgbClr val="0070C0"/>
                </a:solidFill>
                <a:latin typeface="Times New Roman"/>
                <a:cs typeface="Times New Roman"/>
              </a:rPr>
              <a:t>Ω </a:t>
            </a:r>
            <a:r>
              <a:rPr lang="zh-CN" altLang="en-US" sz="2000" b="1" dirty="0" smtClean="0">
                <a:solidFill>
                  <a:srgbClr val="0070C0"/>
                </a:solidFill>
                <a:latin typeface="Times New Roman"/>
                <a:cs typeface="Times New Roman"/>
              </a:rPr>
              <a:t>有关</a:t>
            </a:r>
            <a:r>
              <a:rPr lang="zh-CN" altLang="en-US" sz="2000" b="1" dirty="0" smtClean="0">
                <a:solidFill>
                  <a:srgbClr val="0070C0"/>
                </a:solidFill>
              </a:rPr>
              <a:t>；</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zh-CN" altLang="en-US" sz="2000" b="1" dirty="0" smtClean="0">
                <a:solidFill>
                  <a:srgbClr val="0070C0"/>
                </a:solidFill>
              </a:rPr>
              <a:t>调相</a:t>
            </a:r>
            <a:r>
              <a:rPr lang="zh-CN" altLang="en-US" sz="2000" b="1" dirty="0">
                <a:solidFill>
                  <a:srgbClr val="0070C0"/>
                </a:solidFill>
              </a:rPr>
              <a:t>时，最大角频偏</a:t>
            </a:r>
            <a:r>
              <a:rPr lang="zh-CN" altLang="en-US" sz="2000" b="1" dirty="0">
                <a:solidFill>
                  <a:srgbClr val="0070C0"/>
                </a:solidFill>
                <a:latin typeface="Times New Roman"/>
                <a:cs typeface="Times New Roman"/>
              </a:rPr>
              <a:t>∆</a:t>
            </a:r>
            <a:r>
              <a:rPr lang="el-GR" altLang="zh-CN" sz="2000" b="1" dirty="0">
                <a:solidFill>
                  <a:srgbClr val="0070C0"/>
                </a:solidFill>
                <a:latin typeface="Times New Roman"/>
                <a:cs typeface="Times New Roman"/>
              </a:rPr>
              <a:t>ω</a:t>
            </a:r>
            <a:r>
              <a:rPr lang="en-US" altLang="zh-CN" sz="2000" b="1" baseline="-25000" dirty="0">
                <a:solidFill>
                  <a:srgbClr val="0070C0"/>
                </a:solidFill>
                <a:latin typeface="Times New Roman"/>
                <a:cs typeface="Times New Roman"/>
              </a:rPr>
              <a:t>m</a:t>
            </a:r>
            <a:r>
              <a:rPr lang="zh-CN" altLang="en-US" sz="2000" b="1" dirty="0">
                <a:solidFill>
                  <a:srgbClr val="0070C0"/>
                </a:solidFill>
              </a:rPr>
              <a:t>与</a:t>
            </a:r>
            <a:r>
              <a:rPr lang="el-GR" altLang="zh-CN" sz="2000" b="1" dirty="0" smtClean="0">
                <a:solidFill>
                  <a:srgbClr val="0070C0"/>
                </a:solidFill>
                <a:latin typeface="Times New Roman"/>
                <a:cs typeface="Times New Roman"/>
              </a:rPr>
              <a:t>Ω</a:t>
            </a:r>
            <a:r>
              <a:rPr lang="zh-CN" altLang="en-US" sz="2000" b="1" dirty="0" smtClean="0">
                <a:solidFill>
                  <a:srgbClr val="0070C0"/>
                </a:solidFill>
              </a:rPr>
              <a:t>有关</a:t>
            </a:r>
            <a:r>
              <a:rPr lang="zh-CN" altLang="en-US" sz="2000" b="1" dirty="0">
                <a:solidFill>
                  <a:srgbClr val="0070C0"/>
                </a:solidFill>
              </a:rPr>
              <a:t>，最大相位偏移</a:t>
            </a:r>
            <a:r>
              <a:rPr lang="en-US" altLang="zh-CN" sz="2000" b="1" dirty="0" err="1" smtClean="0">
                <a:solidFill>
                  <a:srgbClr val="0070C0"/>
                </a:solidFill>
              </a:rPr>
              <a:t>m</a:t>
            </a:r>
            <a:r>
              <a:rPr lang="en-US" altLang="zh-CN" sz="2000" b="1" baseline="-25000" dirty="0" err="1" smtClean="0">
                <a:solidFill>
                  <a:srgbClr val="0070C0"/>
                </a:solidFill>
              </a:rPr>
              <a:t>p</a:t>
            </a:r>
            <a:r>
              <a:rPr lang="zh-CN" altLang="en-US" sz="2000" b="1" dirty="0" smtClean="0">
                <a:solidFill>
                  <a:srgbClr val="0070C0"/>
                </a:solidFill>
              </a:rPr>
              <a:t>与</a:t>
            </a:r>
            <a:r>
              <a:rPr lang="el-GR" altLang="zh-CN" sz="2000" b="1" dirty="0">
                <a:solidFill>
                  <a:srgbClr val="0070C0"/>
                </a:solidFill>
                <a:latin typeface="Times New Roman"/>
                <a:cs typeface="Times New Roman"/>
              </a:rPr>
              <a:t>Ω </a:t>
            </a:r>
            <a:r>
              <a:rPr lang="zh-CN" altLang="en-US" sz="2000" b="1" dirty="0">
                <a:solidFill>
                  <a:srgbClr val="0070C0"/>
                </a:solidFill>
                <a:latin typeface="Times New Roman"/>
                <a:cs typeface="Times New Roman"/>
              </a:rPr>
              <a:t>无</a:t>
            </a:r>
            <a:r>
              <a:rPr lang="zh-CN" altLang="en-US" sz="2000" b="1" dirty="0" smtClean="0">
                <a:solidFill>
                  <a:srgbClr val="0070C0"/>
                </a:solidFill>
                <a:latin typeface="Times New Roman"/>
                <a:cs typeface="Times New Roman"/>
              </a:rPr>
              <a:t>关；</a:t>
            </a:r>
            <a:endParaRPr lang="en-US" altLang="zh-CN" sz="2000" b="1" dirty="0" smtClean="0">
              <a:solidFill>
                <a:srgbClr val="0070C0"/>
              </a:solidFill>
              <a:latin typeface="Times New Roman"/>
              <a:cs typeface="Times New Roman"/>
            </a:endParaRPr>
          </a:p>
        </p:txBody>
      </p:sp>
      <p:graphicFrame>
        <p:nvGraphicFramePr>
          <p:cNvPr id="13" name="对象 12"/>
          <p:cNvGraphicFramePr>
            <a:graphicFrameLocks noChangeAspect="1"/>
          </p:cNvGraphicFramePr>
          <p:nvPr>
            <p:extLst>
              <p:ext uri="{D42A27DB-BD31-4B8C-83A1-F6EECF244321}">
                <p14:modId xmlns:p14="http://schemas.microsoft.com/office/powerpoint/2010/main" val="3702880030"/>
              </p:ext>
            </p:extLst>
          </p:nvPr>
        </p:nvGraphicFramePr>
        <p:xfrm>
          <a:off x="2987824" y="3260403"/>
          <a:ext cx="2801938" cy="528637"/>
        </p:xfrm>
        <a:graphic>
          <a:graphicData uri="http://schemas.openxmlformats.org/presentationml/2006/ole">
            <mc:AlternateContent xmlns:mc="http://schemas.openxmlformats.org/markup-compatibility/2006">
              <mc:Choice xmlns:v="urn:schemas-microsoft-com:vml" Requires="v">
                <p:oleObj spid="_x0000_s98544" name="Equation" r:id="rId16" imgW="1282680" imgH="241200" progId="Equation.DSMT4">
                  <p:embed/>
                </p:oleObj>
              </mc:Choice>
              <mc:Fallback>
                <p:oleObj name="Equation" r:id="rId16" imgW="1282680" imgH="241200" progId="Equation.DSMT4">
                  <p:embed/>
                  <p:pic>
                    <p:nvPicPr>
                      <p:cNvPr id="0" name="对象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987824" y="3260403"/>
                        <a:ext cx="2801938"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069378205"/>
              </p:ext>
            </p:extLst>
          </p:nvPr>
        </p:nvGraphicFramePr>
        <p:xfrm>
          <a:off x="2987824" y="5780683"/>
          <a:ext cx="3051175" cy="528637"/>
        </p:xfrm>
        <a:graphic>
          <a:graphicData uri="http://schemas.openxmlformats.org/presentationml/2006/ole">
            <mc:AlternateContent xmlns:mc="http://schemas.openxmlformats.org/markup-compatibility/2006">
              <mc:Choice xmlns:v="urn:schemas-microsoft-com:vml" Requires="v">
                <p:oleObj spid="_x0000_s98545" name="Equation" r:id="rId18" imgW="1396800" imgH="241200" progId="Equation.DSMT4">
                  <p:embed/>
                </p:oleObj>
              </mc:Choice>
              <mc:Fallback>
                <p:oleObj name="Equation" r:id="rId18" imgW="1396800" imgH="241200" progId="Equation.DSMT4">
                  <p:embed/>
                  <p:pic>
                    <p:nvPicPr>
                      <p:cNvPr id="0" name="对象 2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87824" y="5780683"/>
                        <a:ext cx="3051175"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2" name="直接连接符 31"/>
          <p:cNvCxnSpPr/>
          <p:nvPr/>
        </p:nvCxnSpPr>
        <p:spPr bwMode="auto">
          <a:xfrm>
            <a:off x="4787583" y="3862005"/>
            <a:ext cx="1008112" cy="0"/>
          </a:xfrm>
          <a:prstGeom prst="line">
            <a:avLst/>
          </a:prstGeom>
          <a:solidFill>
            <a:schemeClr val="accent1"/>
          </a:solidFill>
          <a:ln w="28575" cap="flat" cmpd="sng" algn="ctr">
            <a:solidFill>
              <a:srgbClr val="FF0000"/>
            </a:solidFill>
            <a:prstDash val="solid"/>
            <a:round/>
            <a:headEnd type="none" w="med" len="med"/>
            <a:tailEnd type="none" w="med" len="med"/>
          </a:ln>
        </p:spPr>
      </p:cxnSp>
      <p:cxnSp>
        <p:nvCxnSpPr>
          <p:cNvPr id="40" name="直接连接符 39"/>
          <p:cNvCxnSpPr/>
          <p:nvPr/>
        </p:nvCxnSpPr>
        <p:spPr bwMode="auto">
          <a:xfrm>
            <a:off x="4803349" y="6381328"/>
            <a:ext cx="1280819" cy="0"/>
          </a:xfrm>
          <a:prstGeom prst="line">
            <a:avLst/>
          </a:prstGeom>
          <a:solidFill>
            <a:schemeClr val="accent1"/>
          </a:solidFill>
          <a:ln w="28575" cap="flat" cmpd="sng" algn="ctr">
            <a:solidFill>
              <a:srgbClr val="FF0000"/>
            </a:solidFill>
            <a:prstDash val="solid"/>
            <a:round/>
            <a:headEnd type="none" w="med" len="med"/>
            <a:tailEnd type="none" w="med" len="med"/>
          </a:ln>
        </p:spPr>
      </p:cxnSp>
      <p:cxnSp>
        <p:nvCxnSpPr>
          <p:cNvPr id="42" name="直接连接符 41"/>
          <p:cNvCxnSpPr/>
          <p:nvPr/>
        </p:nvCxnSpPr>
        <p:spPr bwMode="auto">
          <a:xfrm>
            <a:off x="1542182" y="3840438"/>
            <a:ext cx="1008112" cy="0"/>
          </a:xfrm>
          <a:prstGeom prst="line">
            <a:avLst/>
          </a:prstGeom>
          <a:solidFill>
            <a:schemeClr val="accent1"/>
          </a:solidFill>
          <a:ln w="28575" cap="flat" cmpd="sng" algn="ctr">
            <a:solidFill>
              <a:srgbClr val="FF0000"/>
            </a:solidFill>
            <a:prstDash val="solid"/>
            <a:round/>
            <a:headEnd type="none" w="med" len="med"/>
            <a:tailEnd type="none" w="med" len="med"/>
          </a:ln>
        </p:spPr>
      </p:cxnSp>
      <p:cxnSp>
        <p:nvCxnSpPr>
          <p:cNvPr id="43" name="直接连接符 42"/>
          <p:cNvCxnSpPr/>
          <p:nvPr/>
        </p:nvCxnSpPr>
        <p:spPr bwMode="auto">
          <a:xfrm>
            <a:off x="1808025" y="6381328"/>
            <a:ext cx="1008112" cy="0"/>
          </a:xfrm>
          <a:prstGeom prst="line">
            <a:avLst/>
          </a:prstGeom>
          <a:solidFill>
            <a:schemeClr val="accent1"/>
          </a:solidFill>
          <a:ln w="28575" cap="flat" cmpd="sng" algn="ctr">
            <a:solidFill>
              <a:srgbClr val="FF0000"/>
            </a:solidFill>
            <a:prstDash val="solid"/>
            <a:round/>
            <a:headEnd type="none" w="med" len="med"/>
            <a:tailEnd type="none" w="med" len="med"/>
          </a:ln>
        </p:spPr>
      </p:cxnSp>
    </p:spTree>
    <p:extLst>
      <p:ext uri="{BB962C8B-B14F-4D97-AF65-F5344CB8AC3E}">
        <p14:creationId xmlns:p14="http://schemas.microsoft.com/office/powerpoint/2010/main" val="3785269667"/>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88</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第六章知识点梳理</a:t>
            </a:r>
            <a:endParaRPr lang="zh-CN" altLang="en-US" sz="2400" b="1" dirty="0">
              <a:solidFill>
                <a:prstClr val="black"/>
              </a:solidFill>
            </a:endParaRPr>
          </a:p>
        </p:txBody>
      </p:sp>
      <p:sp>
        <p:nvSpPr>
          <p:cNvPr id="6" name="TextBox 5"/>
          <p:cNvSpPr txBox="1"/>
          <p:nvPr/>
        </p:nvSpPr>
        <p:spPr>
          <a:xfrm>
            <a:off x="539552" y="651852"/>
            <a:ext cx="2044149" cy="369332"/>
          </a:xfrm>
          <a:prstGeom prst="rect">
            <a:avLst/>
          </a:prstGeom>
          <a:noFill/>
        </p:spPr>
        <p:txBody>
          <a:bodyPr wrap="none" rtlCol="0">
            <a:spAutoFit/>
          </a:bodyPr>
          <a:lstStyle/>
          <a:p>
            <a:r>
              <a:rPr lang="zh-CN" altLang="en-US" b="1" dirty="0"/>
              <a:t>二</a:t>
            </a:r>
            <a:r>
              <a:rPr lang="zh-CN" altLang="en-US" b="1" dirty="0" smtClean="0"/>
              <a:t>、调角波的频谱</a:t>
            </a:r>
            <a:endParaRPr lang="zh-CN" altLang="en-US" b="1" dirty="0"/>
          </a:p>
        </p:txBody>
      </p:sp>
      <p:graphicFrame>
        <p:nvGraphicFramePr>
          <p:cNvPr id="9" name="对象 8"/>
          <p:cNvGraphicFramePr>
            <a:graphicFrameLocks noChangeAspect="1"/>
          </p:cNvGraphicFramePr>
          <p:nvPr>
            <p:extLst>
              <p:ext uri="{D42A27DB-BD31-4B8C-83A1-F6EECF244321}">
                <p14:modId xmlns:p14="http://schemas.microsoft.com/office/powerpoint/2010/main" val="218415548"/>
              </p:ext>
            </p:extLst>
          </p:nvPr>
        </p:nvGraphicFramePr>
        <p:xfrm>
          <a:off x="1344613" y="1412776"/>
          <a:ext cx="6323012" cy="1984375"/>
        </p:xfrm>
        <a:graphic>
          <a:graphicData uri="http://schemas.openxmlformats.org/presentationml/2006/ole">
            <mc:AlternateContent xmlns:mc="http://schemas.openxmlformats.org/markup-compatibility/2006">
              <mc:Choice xmlns:v="urn:schemas-microsoft-com:vml" Requires="v">
                <p:oleObj spid="_x0000_s44191" name="Equation" r:id="rId4" imgW="3162240" imgH="990360" progId="Equation.DSMT4">
                  <p:embed/>
                </p:oleObj>
              </mc:Choice>
              <mc:Fallback>
                <p:oleObj name="Equation" r:id="rId4" imgW="3162240" imgH="990360" progId="Equation.DSMT4">
                  <p:embed/>
                  <p:pic>
                    <p:nvPicPr>
                      <p:cNvPr id="0" name="对象 8"/>
                      <p:cNvPicPr>
                        <a:picLocks noChangeAspect="1" noChangeArrowheads="1"/>
                      </p:cNvPicPr>
                      <p:nvPr/>
                    </p:nvPicPr>
                    <p:blipFill>
                      <a:blip r:embed="rId5"/>
                      <a:srcRect/>
                      <a:stretch>
                        <a:fillRect/>
                      </a:stretch>
                    </p:blipFill>
                    <p:spPr bwMode="auto">
                      <a:xfrm>
                        <a:off x="1344613" y="1412776"/>
                        <a:ext cx="6323012" cy="1984375"/>
                      </a:xfrm>
                      <a:prstGeom prst="rect">
                        <a:avLst/>
                      </a:prstGeom>
                      <a:noFill/>
                      <a:ln>
                        <a:noFill/>
                      </a:ln>
                      <a:effectLst/>
                    </p:spPr>
                  </p:pic>
                </p:oleObj>
              </mc:Fallback>
            </mc:AlternateContent>
          </a:graphicData>
        </a:graphic>
      </p:graphicFrame>
      <p:sp>
        <p:nvSpPr>
          <p:cNvPr id="22" name="TextBox 21"/>
          <p:cNvSpPr txBox="1"/>
          <p:nvPr/>
        </p:nvSpPr>
        <p:spPr>
          <a:xfrm>
            <a:off x="611560" y="980728"/>
            <a:ext cx="7992888" cy="49423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a:solidFill>
                  <a:srgbClr val="0070C0"/>
                </a:solidFill>
              </a:rPr>
              <a:t>调频波</a:t>
            </a:r>
            <a:r>
              <a:rPr lang="en-US" altLang="zh-CN" sz="2000" b="1" dirty="0">
                <a:solidFill>
                  <a:srgbClr val="0070C0"/>
                </a:solidFill>
              </a:rPr>
              <a:t>FM</a:t>
            </a:r>
            <a:r>
              <a:rPr lang="zh-CN" altLang="en-US" sz="2000" b="1" dirty="0">
                <a:solidFill>
                  <a:srgbClr val="0070C0"/>
                </a:solidFill>
              </a:rPr>
              <a:t>和调相波</a:t>
            </a:r>
            <a:r>
              <a:rPr lang="en-US" altLang="zh-CN" sz="2000" b="1" dirty="0" smtClean="0">
                <a:solidFill>
                  <a:srgbClr val="0070C0"/>
                </a:solidFill>
              </a:rPr>
              <a:t>PM</a:t>
            </a:r>
            <a:r>
              <a:rPr lang="zh-CN" altLang="en-US" sz="2000" b="1" dirty="0" smtClean="0">
                <a:solidFill>
                  <a:srgbClr val="0070C0"/>
                </a:solidFill>
              </a:rPr>
              <a:t>具有相似的频谱结构。</a:t>
            </a:r>
            <a:r>
              <a:rPr lang="zh-CN" altLang="en-US" sz="2000" b="1" dirty="0">
                <a:solidFill>
                  <a:srgbClr val="0070C0"/>
                </a:solidFill>
              </a:rPr>
              <a:t>以</a:t>
            </a:r>
            <a:r>
              <a:rPr lang="zh-CN" altLang="en-US" sz="2000" b="1" dirty="0">
                <a:solidFill>
                  <a:srgbClr val="FF0000"/>
                </a:solidFill>
              </a:rPr>
              <a:t>调频波</a:t>
            </a:r>
            <a:r>
              <a:rPr lang="zh-CN" altLang="en-US" sz="2000" b="1" dirty="0">
                <a:solidFill>
                  <a:srgbClr val="0070C0"/>
                </a:solidFill>
              </a:rPr>
              <a:t>为</a:t>
            </a:r>
            <a:r>
              <a:rPr lang="zh-CN" altLang="en-US" sz="2000" b="1" dirty="0" smtClean="0">
                <a:solidFill>
                  <a:srgbClr val="0070C0"/>
                </a:solidFill>
              </a:rPr>
              <a:t>例</a:t>
            </a:r>
            <a:endParaRPr lang="zh-CN" altLang="en-US" sz="2000" b="1" dirty="0">
              <a:solidFill>
                <a:srgbClr val="0070C0"/>
              </a:solidFill>
            </a:endParaRPr>
          </a:p>
        </p:txBody>
      </p:sp>
      <p:sp>
        <p:nvSpPr>
          <p:cNvPr id="25" name="TextBox 24"/>
          <p:cNvSpPr txBox="1"/>
          <p:nvPr/>
        </p:nvSpPr>
        <p:spPr>
          <a:xfrm>
            <a:off x="2078733" y="6053226"/>
            <a:ext cx="5373587" cy="400110"/>
          </a:xfrm>
          <a:prstGeom prst="rect">
            <a:avLst/>
          </a:prstGeom>
          <a:noFill/>
        </p:spPr>
        <p:txBody>
          <a:bodyPr wrap="none" rtlCol="0">
            <a:spAutoFit/>
          </a:bodyPr>
          <a:lstStyle/>
          <a:p>
            <a:r>
              <a:rPr lang="zh-CN" altLang="en-US" sz="2000" b="1" dirty="0" smtClean="0">
                <a:solidFill>
                  <a:srgbClr val="FF0000"/>
                </a:solidFill>
              </a:rPr>
              <a:t>调频指数</a:t>
            </a:r>
            <a:r>
              <a:rPr lang="en-US" altLang="zh-CN" sz="2000" b="1" dirty="0" smtClean="0">
                <a:solidFill>
                  <a:srgbClr val="FF0000"/>
                </a:solidFill>
              </a:rPr>
              <a:t>m</a:t>
            </a:r>
            <a:r>
              <a:rPr lang="en-US" altLang="zh-CN" sz="2000" b="1" baseline="-25000" dirty="0" smtClean="0">
                <a:solidFill>
                  <a:srgbClr val="FF0000"/>
                </a:solidFill>
              </a:rPr>
              <a:t>f</a:t>
            </a:r>
            <a:r>
              <a:rPr lang="zh-CN" altLang="en-US" sz="2000" b="1" dirty="0" smtClean="0">
                <a:solidFill>
                  <a:srgbClr val="FF0000"/>
                </a:solidFill>
              </a:rPr>
              <a:t>不同，边频分量不同，频谱图不同</a:t>
            </a:r>
            <a:endParaRPr lang="zh-CN" altLang="en-US" sz="2000" b="1" dirty="0">
              <a:solidFill>
                <a:srgbClr val="FF0000"/>
              </a:solidFill>
            </a:endParaRPr>
          </a:p>
        </p:txBody>
      </p:sp>
      <p:pic>
        <p:nvPicPr>
          <p:cNvPr id="4403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0295" y="3306843"/>
            <a:ext cx="6674073" cy="2683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4161419"/>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89</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第六章知识点梳理</a:t>
            </a:r>
            <a:endParaRPr lang="zh-CN" altLang="en-US" sz="2400" b="1" dirty="0">
              <a:solidFill>
                <a:prstClr val="black"/>
              </a:solidFill>
            </a:endParaRPr>
          </a:p>
        </p:txBody>
      </p:sp>
      <p:sp>
        <p:nvSpPr>
          <p:cNvPr id="6" name="TextBox 5"/>
          <p:cNvSpPr txBox="1"/>
          <p:nvPr/>
        </p:nvSpPr>
        <p:spPr>
          <a:xfrm>
            <a:off x="539552" y="651852"/>
            <a:ext cx="2044149" cy="369332"/>
          </a:xfrm>
          <a:prstGeom prst="rect">
            <a:avLst/>
          </a:prstGeom>
          <a:noFill/>
        </p:spPr>
        <p:txBody>
          <a:bodyPr wrap="none" rtlCol="0">
            <a:spAutoFit/>
          </a:bodyPr>
          <a:lstStyle/>
          <a:p>
            <a:r>
              <a:rPr lang="zh-CN" altLang="en-US" b="1" dirty="0"/>
              <a:t>二</a:t>
            </a:r>
            <a:r>
              <a:rPr lang="zh-CN" altLang="en-US" b="1" dirty="0" smtClean="0"/>
              <a:t>、调角波的频谱</a:t>
            </a:r>
            <a:endParaRPr lang="zh-CN" altLang="en-US" b="1" dirty="0"/>
          </a:p>
        </p:txBody>
      </p:sp>
      <p:pic>
        <p:nvPicPr>
          <p:cNvPr id="10" name="Picture 2" desc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2132856"/>
            <a:ext cx="5473700" cy="449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a:off x="5076056" y="2959784"/>
            <a:ext cx="3816424" cy="14773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smtClean="0">
                <a:latin typeface="Times New Roman" panose="02020603050405020304" pitchFamily="18" charset="0"/>
                <a:cs typeface="Times New Roman" panose="02020603050405020304" pitchFamily="18" charset="0"/>
              </a:rPr>
              <a:t>调制指数</a:t>
            </a:r>
            <a:r>
              <a:rPr lang="en-US" altLang="zh-CN" sz="2000" b="1" dirty="0" smtClean="0">
                <a:latin typeface="Times New Roman" panose="02020603050405020304" pitchFamily="18" charset="0"/>
                <a:cs typeface="Times New Roman" panose="02020603050405020304" pitchFamily="18" charset="0"/>
              </a:rPr>
              <a:t>m</a:t>
            </a:r>
            <a:r>
              <a:rPr lang="en-US" altLang="zh-CN" sz="2000" b="1" baseline="-25000" dirty="0" smtClean="0">
                <a:latin typeface="Times New Roman" panose="02020603050405020304" pitchFamily="18" charset="0"/>
                <a:cs typeface="Times New Roman" panose="02020603050405020304" pitchFamily="18" charset="0"/>
              </a:rPr>
              <a:t>f </a:t>
            </a:r>
            <a:r>
              <a:rPr lang="zh-CN" altLang="en-US" sz="2000" b="1" dirty="0" smtClean="0">
                <a:latin typeface="Times New Roman" panose="02020603050405020304" pitchFamily="18" charset="0"/>
                <a:cs typeface="Times New Roman" panose="02020603050405020304" pitchFamily="18" charset="0"/>
              </a:rPr>
              <a:t>越大，振幅较大的边频分量越多！</a:t>
            </a:r>
            <a:endParaRPr lang="en-US" altLang="zh-CN" sz="2000" b="1" dirty="0" smtClean="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sz="2000" b="1" dirty="0" smtClean="0">
                <a:latin typeface="Times New Roman" panose="02020603050405020304" pitchFamily="18" charset="0"/>
                <a:cs typeface="Times New Roman" panose="02020603050405020304" pitchFamily="18" charset="0"/>
              </a:rPr>
              <a:t>调角波是非线性频谱变</a:t>
            </a:r>
            <a:r>
              <a:rPr lang="zh-CN" altLang="en-US" sz="2000" b="1" dirty="0" smtClean="0"/>
              <a:t>换</a:t>
            </a:r>
            <a:endParaRPr lang="en-US" altLang="zh-CN" sz="2000" b="1" dirty="0" smtClean="0"/>
          </a:p>
        </p:txBody>
      </p:sp>
      <p:sp>
        <p:nvSpPr>
          <p:cNvPr id="12" name="TextBox 11"/>
          <p:cNvSpPr txBox="1"/>
          <p:nvPr/>
        </p:nvSpPr>
        <p:spPr>
          <a:xfrm>
            <a:off x="755576" y="1103598"/>
            <a:ext cx="4580100" cy="957250"/>
          </a:xfrm>
          <a:prstGeom prst="rect">
            <a:avLst/>
          </a:prstGeom>
          <a:solidFill>
            <a:schemeClr val="bg1">
              <a:lumMod val="95000"/>
            </a:schemeClr>
          </a:solidFill>
        </p:spPr>
        <p:txBody>
          <a:bodyPr wrap="none" rtlCol="0">
            <a:spAutoFit/>
          </a:bodyPr>
          <a:lstStyle/>
          <a:p>
            <a:pPr algn="ctr">
              <a:lnSpc>
                <a:spcPct val="150000"/>
              </a:lnSpc>
            </a:pPr>
            <a:r>
              <a:rPr lang="zh-CN" altLang="en-US" sz="2000" b="1" dirty="0" smtClean="0">
                <a:solidFill>
                  <a:srgbClr val="00B0F0"/>
                </a:solidFill>
                <a:latin typeface="Times New Roman" panose="02020603050405020304" pitchFamily="18" charset="0"/>
                <a:cs typeface="Times New Roman" panose="02020603050405020304" pitchFamily="18" charset="0"/>
              </a:rPr>
              <a:t>在相同载波和相同调制信号作用下，</a:t>
            </a:r>
            <a:endParaRPr lang="en-US" altLang="zh-CN" sz="2000" b="1" dirty="0" smtClean="0">
              <a:solidFill>
                <a:srgbClr val="00B0F0"/>
              </a:solidFill>
              <a:latin typeface="Times New Roman" panose="02020603050405020304" pitchFamily="18" charset="0"/>
              <a:cs typeface="Times New Roman" panose="02020603050405020304" pitchFamily="18" charset="0"/>
            </a:endParaRPr>
          </a:p>
          <a:p>
            <a:pPr algn="ctr">
              <a:lnSpc>
                <a:spcPct val="150000"/>
              </a:lnSpc>
            </a:pPr>
            <a:r>
              <a:rPr lang="en-US" altLang="zh-CN" sz="2000" b="1" dirty="0" smtClean="0">
                <a:solidFill>
                  <a:srgbClr val="00B0F0"/>
                </a:solidFill>
                <a:latin typeface="Times New Roman" panose="02020603050405020304" pitchFamily="18" charset="0"/>
                <a:cs typeface="Times New Roman" panose="02020603050405020304" pitchFamily="18" charset="0"/>
              </a:rPr>
              <a:t>m</a:t>
            </a:r>
            <a:r>
              <a:rPr lang="en-US" altLang="zh-CN" sz="2000" b="1" baseline="-25000" dirty="0" smtClean="0">
                <a:solidFill>
                  <a:srgbClr val="00B0F0"/>
                </a:solidFill>
                <a:latin typeface="Times New Roman" panose="02020603050405020304" pitchFamily="18" charset="0"/>
                <a:cs typeface="Times New Roman" panose="02020603050405020304" pitchFamily="18" charset="0"/>
              </a:rPr>
              <a:t>f</a:t>
            </a:r>
            <a:r>
              <a:rPr lang="zh-CN" altLang="en-US" sz="2000" b="1" dirty="0" smtClean="0">
                <a:solidFill>
                  <a:srgbClr val="00B0F0"/>
                </a:solidFill>
                <a:latin typeface="Times New Roman" panose="02020603050405020304" pitchFamily="18" charset="0"/>
                <a:cs typeface="Times New Roman" panose="02020603050405020304" pitchFamily="18" charset="0"/>
              </a:rPr>
              <a:t>分别取</a:t>
            </a:r>
            <a:r>
              <a:rPr lang="en-US" altLang="zh-CN" sz="2000" b="1" dirty="0" smtClean="0">
                <a:solidFill>
                  <a:srgbClr val="00B0F0"/>
                </a:solidFill>
                <a:latin typeface="Times New Roman" panose="02020603050405020304" pitchFamily="18" charset="0"/>
                <a:cs typeface="Times New Roman" panose="02020603050405020304" pitchFamily="18" charset="0"/>
              </a:rPr>
              <a:t>0.5</a:t>
            </a:r>
            <a:r>
              <a:rPr lang="zh-CN" altLang="en-US" sz="2000" b="1" dirty="0" smtClean="0">
                <a:solidFill>
                  <a:srgbClr val="00B0F0"/>
                </a:solidFill>
                <a:latin typeface="Times New Roman" panose="02020603050405020304" pitchFamily="18" charset="0"/>
                <a:cs typeface="Times New Roman" panose="02020603050405020304" pitchFamily="18" charset="0"/>
              </a:rPr>
              <a:t>、</a:t>
            </a:r>
            <a:r>
              <a:rPr lang="en-US" altLang="zh-CN" sz="2000" b="1" dirty="0" smtClean="0">
                <a:solidFill>
                  <a:srgbClr val="00B0F0"/>
                </a:solidFill>
                <a:latin typeface="Times New Roman" panose="02020603050405020304" pitchFamily="18" charset="0"/>
                <a:cs typeface="Times New Roman" panose="02020603050405020304" pitchFamily="18" charset="0"/>
              </a:rPr>
              <a:t>2.4</a:t>
            </a:r>
            <a:r>
              <a:rPr lang="zh-CN" altLang="en-US" sz="2000" b="1" dirty="0" smtClean="0">
                <a:solidFill>
                  <a:srgbClr val="00B0F0"/>
                </a:solidFill>
                <a:latin typeface="Times New Roman" panose="02020603050405020304" pitchFamily="18" charset="0"/>
                <a:cs typeface="Times New Roman" panose="02020603050405020304" pitchFamily="18" charset="0"/>
              </a:rPr>
              <a:t>、</a:t>
            </a:r>
            <a:r>
              <a:rPr lang="en-US" altLang="zh-CN" sz="2000" b="1" dirty="0" smtClean="0">
                <a:solidFill>
                  <a:srgbClr val="00B0F0"/>
                </a:solidFill>
                <a:latin typeface="Times New Roman" panose="02020603050405020304" pitchFamily="18" charset="0"/>
                <a:cs typeface="Times New Roman" panose="02020603050405020304" pitchFamily="18" charset="0"/>
              </a:rPr>
              <a:t>5</a:t>
            </a:r>
            <a:r>
              <a:rPr lang="zh-CN" altLang="en-US" sz="2000" b="1" dirty="0" smtClean="0">
                <a:solidFill>
                  <a:srgbClr val="00B0F0"/>
                </a:solidFill>
                <a:latin typeface="Times New Roman" panose="02020603050405020304" pitchFamily="18" charset="0"/>
                <a:cs typeface="Times New Roman" panose="02020603050405020304" pitchFamily="18" charset="0"/>
              </a:rPr>
              <a:t>时的调角波频谱图</a:t>
            </a:r>
            <a:endParaRPr lang="zh-CN" altLang="en-US" sz="2000" b="1" dirty="0">
              <a:solidFill>
                <a:srgbClr val="00B0F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8385126"/>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90</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第六章知识点梳理</a:t>
            </a:r>
            <a:endParaRPr lang="zh-CN" altLang="en-US" sz="2400" b="1" dirty="0">
              <a:solidFill>
                <a:prstClr val="black"/>
              </a:solidFill>
            </a:endParaRPr>
          </a:p>
        </p:txBody>
      </p:sp>
      <p:sp>
        <p:nvSpPr>
          <p:cNvPr id="6" name="TextBox 5"/>
          <p:cNvSpPr txBox="1"/>
          <p:nvPr/>
        </p:nvSpPr>
        <p:spPr>
          <a:xfrm>
            <a:off x="539552" y="651852"/>
            <a:ext cx="2044149" cy="369332"/>
          </a:xfrm>
          <a:prstGeom prst="rect">
            <a:avLst/>
          </a:prstGeom>
          <a:noFill/>
        </p:spPr>
        <p:txBody>
          <a:bodyPr wrap="none" rtlCol="0">
            <a:spAutoFit/>
          </a:bodyPr>
          <a:lstStyle/>
          <a:p>
            <a:r>
              <a:rPr lang="zh-CN" altLang="en-US" b="1" dirty="0" smtClean="0"/>
              <a:t>三、调角波的带宽</a:t>
            </a:r>
            <a:endParaRPr lang="zh-CN" altLang="en-US" b="1" dirty="0"/>
          </a:p>
        </p:txBody>
      </p:sp>
      <p:sp>
        <p:nvSpPr>
          <p:cNvPr id="8" name="TextBox 7"/>
          <p:cNvSpPr txBox="1"/>
          <p:nvPr/>
        </p:nvSpPr>
        <p:spPr>
          <a:xfrm>
            <a:off x="288032" y="1340768"/>
            <a:ext cx="8748464" cy="147732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smtClean="0">
                <a:solidFill>
                  <a:srgbClr val="0070C0"/>
                </a:solidFill>
              </a:rPr>
              <a:t>调角波的边频分量无限多，频谱是无限宽；</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zh-CN" altLang="en-US" sz="2000" b="1" dirty="0" smtClean="0">
                <a:solidFill>
                  <a:srgbClr val="0070C0"/>
                </a:solidFill>
              </a:rPr>
              <a:t>但并非所有的边频都有一样的重要性；</a:t>
            </a:r>
            <a:endParaRPr lang="en-US" altLang="zh-CN" sz="2000" b="1" dirty="0" smtClean="0">
              <a:solidFill>
                <a:srgbClr val="0070C0"/>
              </a:solidFill>
            </a:endParaRPr>
          </a:p>
          <a:p>
            <a:pPr marL="342900" indent="-342900">
              <a:lnSpc>
                <a:spcPct val="150000"/>
              </a:lnSpc>
              <a:buFont typeface="Arial" panose="020B0604020202020204" pitchFamily="34" charset="0"/>
              <a:buChar char="•"/>
            </a:pPr>
            <a:r>
              <a:rPr lang="zh-CN" altLang="en-US" sz="2000" b="1" dirty="0" smtClean="0">
                <a:solidFill>
                  <a:srgbClr val="0070C0"/>
                </a:solidFill>
              </a:rPr>
              <a:t>将振幅较小的边频分量去掉则失真较小，剩余的频谱带宽称为</a:t>
            </a:r>
            <a:r>
              <a:rPr lang="zh-CN" altLang="en-US" sz="2000" b="1" dirty="0" smtClean="0">
                <a:solidFill>
                  <a:srgbClr val="FF0000"/>
                </a:solidFill>
              </a:rPr>
              <a:t>有效带宽：</a:t>
            </a:r>
            <a:endParaRPr lang="zh-CN" altLang="en-US" sz="2000" b="1" dirty="0">
              <a:solidFill>
                <a:srgbClr val="FF0000"/>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844246891"/>
              </p:ext>
            </p:extLst>
          </p:nvPr>
        </p:nvGraphicFramePr>
        <p:xfrm>
          <a:off x="1763713" y="3028504"/>
          <a:ext cx="4821237" cy="544512"/>
        </p:xfrm>
        <a:graphic>
          <a:graphicData uri="http://schemas.openxmlformats.org/presentationml/2006/ole">
            <mc:AlternateContent xmlns:mc="http://schemas.openxmlformats.org/markup-compatibility/2006">
              <mc:Choice xmlns:v="urn:schemas-microsoft-com:vml" Requires="v">
                <p:oleObj spid="_x0000_s45824" name="Equation" r:id="rId4" imgW="2019240" imgH="228600" progId="Equation.DSMT4">
                  <p:embed/>
                </p:oleObj>
              </mc:Choice>
              <mc:Fallback>
                <p:oleObj name="Equation" r:id="rId4" imgW="2019240" imgH="228600" progId="Equation.DSMT4">
                  <p:embed/>
                  <p:pic>
                    <p:nvPicPr>
                      <p:cNvPr id="0" name="对象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3028504"/>
                        <a:ext cx="4821237"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Box 12"/>
          <p:cNvSpPr txBox="1"/>
          <p:nvPr/>
        </p:nvSpPr>
        <p:spPr>
          <a:xfrm>
            <a:off x="1115616" y="3933056"/>
            <a:ext cx="2304256" cy="49423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000" b="1" dirty="0" smtClean="0">
                <a:solidFill>
                  <a:srgbClr val="FF0000"/>
                </a:solidFill>
              </a:rPr>
              <a:t>1</a:t>
            </a:r>
            <a:r>
              <a:rPr lang="zh-CN" altLang="en-US" sz="2000" b="1" dirty="0" smtClean="0">
                <a:solidFill>
                  <a:srgbClr val="FF0000"/>
                </a:solidFill>
              </a:rPr>
              <a:t>）窄带调角</a:t>
            </a:r>
            <a:r>
              <a:rPr lang="zh-CN" altLang="en-US" sz="2000" b="1" dirty="0">
                <a:solidFill>
                  <a:srgbClr val="FF0000"/>
                </a:solidFill>
              </a:rPr>
              <a:t>：</a:t>
            </a:r>
            <a:endParaRPr lang="en-US" altLang="zh-CN" sz="2000" b="1" dirty="0" smtClean="0">
              <a:solidFill>
                <a:srgbClr val="FF0000"/>
              </a:solidFill>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1847216492"/>
              </p:ext>
            </p:extLst>
          </p:nvPr>
        </p:nvGraphicFramePr>
        <p:xfrm>
          <a:off x="3524746" y="4090293"/>
          <a:ext cx="723900" cy="320675"/>
        </p:xfrm>
        <a:graphic>
          <a:graphicData uri="http://schemas.openxmlformats.org/presentationml/2006/ole">
            <mc:AlternateContent xmlns:mc="http://schemas.openxmlformats.org/markup-compatibility/2006">
              <mc:Choice xmlns:v="urn:schemas-microsoft-com:vml" Requires="v">
                <p:oleObj spid="_x0000_s45825" name="Equation" r:id="rId6" imgW="406080" imgH="177480" progId="Equation.DSMT4">
                  <p:embed/>
                </p:oleObj>
              </mc:Choice>
              <mc:Fallback>
                <p:oleObj name="Equation" r:id="rId6" imgW="406080" imgH="177480" progId="Equation.DSMT4">
                  <p:embed/>
                  <p:pic>
                    <p:nvPicPr>
                      <p:cNvPr id="0" name=""/>
                      <p:cNvPicPr>
                        <a:picLocks noChangeAspect="1" noChangeArrowheads="1"/>
                      </p:cNvPicPr>
                      <p:nvPr/>
                    </p:nvPicPr>
                    <p:blipFill>
                      <a:blip r:embed="rId7"/>
                      <a:srcRect/>
                      <a:stretch>
                        <a:fillRect/>
                      </a:stretch>
                    </p:blipFill>
                    <p:spPr bwMode="auto">
                      <a:xfrm>
                        <a:off x="3524746" y="4090293"/>
                        <a:ext cx="7239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155238866"/>
              </p:ext>
            </p:extLst>
          </p:nvPr>
        </p:nvGraphicFramePr>
        <p:xfrm>
          <a:off x="4644008" y="4050333"/>
          <a:ext cx="1512887" cy="458787"/>
        </p:xfrm>
        <a:graphic>
          <a:graphicData uri="http://schemas.openxmlformats.org/presentationml/2006/ole">
            <mc:AlternateContent xmlns:mc="http://schemas.openxmlformats.org/markup-compatibility/2006">
              <mc:Choice xmlns:v="urn:schemas-microsoft-com:vml" Requires="v">
                <p:oleObj spid="_x0000_s45826" name="Equation" r:id="rId8" imgW="749300" imgH="228600" progId="Equation.DSMT4">
                  <p:embed/>
                </p:oleObj>
              </mc:Choice>
              <mc:Fallback>
                <p:oleObj name="Equation" r:id="rId8" imgW="74930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4008" y="4050333"/>
                        <a:ext cx="151288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TextBox 15"/>
          <p:cNvSpPr txBox="1"/>
          <p:nvPr/>
        </p:nvSpPr>
        <p:spPr>
          <a:xfrm>
            <a:off x="1115616" y="4509120"/>
            <a:ext cx="6408712" cy="55399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smtClean="0">
                <a:solidFill>
                  <a:srgbClr val="0070C0"/>
                </a:solidFill>
              </a:rPr>
              <a:t>相当于</a:t>
            </a:r>
            <a:r>
              <a:rPr lang="en-US" altLang="zh-CN" sz="2000" b="1" dirty="0" smtClean="0">
                <a:solidFill>
                  <a:srgbClr val="0070C0"/>
                </a:solidFill>
              </a:rPr>
              <a:t>AM</a:t>
            </a:r>
            <a:r>
              <a:rPr lang="zh-CN" altLang="en-US" sz="2000" b="1" dirty="0" smtClean="0">
                <a:solidFill>
                  <a:srgbClr val="0070C0"/>
                </a:solidFill>
              </a:rPr>
              <a:t>调制信号的带宽和频谱，只有一对边频；</a:t>
            </a:r>
            <a:endParaRPr lang="en-US" altLang="zh-CN" sz="2000" b="1" dirty="0" smtClean="0">
              <a:solidFill>
                <a:srgbClr val="0070C0"/>
              </a:solidFill>
            </a:endParaRPr>
          </a:p>
        </p:txBody>
      </p:sp>
      <p:sp>
        <p:nvSpPr>
          <p:cNvPr id="17" name="TextBox 16"/>
          <p:cNvSpPr txBox="1"/>
          <p:nvPr/>
        </p:nvSpPr>
        <p:spPr>
          <a:xfrm>
            <a:off x="1115616" y="5107250"/>
            <a:ext cx="2304256" cy="49423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altLang="zh-CN" sz="2000" b="1" dirty="0">
                <a:solidFill>
                  <a:srgbClr val="FF0000"/>
                </a:solidFill>
              </a:rPr>
              <a:t>2</a:t>
            </a:r>
            <a:r>
              <a:rPr lang="zh-CN" altLang="en-US" sz="2000" b="1" dirty="0" smtClean="0">
                <a:solidFill>
                  <a:srgbClr val="FF0000"/>
                </a:solidFill>
              </a:rPr>
              <a:t>）</a:t>
            </a:r>
            <a:r>
              <a:rPr lang="zh-CN" altLang="en-US" sz="2000" b="1" dirty="0">
                <a:solidFill>
                  <a:srgbClr val="FF0000"/>
                </a:solidFill>
              </a:rPr>
              <a:t>宽</a:t>
            </a:r>
            <a:r>
              <a:rPr lang="zh-CN" altLang="en-US" sz="2000" b="1" dirty="0" smtClean="0">
                <a:solidFill>
                  <a:srgbClr val="FF0000"/>
                </a:solidFill>
              </a:rPr>
              <a:t>带调角</a:t>
            </a:r>
            <a:r>
              <a:rPr lang="zh-CN" altLang="en-US" sz="2000" b="1" dirty="0">
                <a:solidFill>
                  <a:srgbClr val="FF0000"/>
                </a:solidFill>
              </a:rPr>
              <a:t>：</a:t>
            </a:r>
            <a:endParaRPr lang="en-US" altLang="zh-CN" sz="2000" b="1" dirty="0" smtClean="0">
              <a:solidFill>
                <a:srgbClr val="FF0000"/>
              </a:solidFill>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1027800618"/>
              </p:ext>
            </p:extLst>
          </p:nvPr>
        </p:nvGraphicFramePr>
        <p:xfrm>
          <a:off x="3524746" y="5223768"/>
          <a:ext cx="723900" cy="320675"/>
        </p:xfrm>
        <a:graphic>
          <a:graphicData uri="http://schemas.openxmlformats.org/presentationml/2006/ole">
            <mc:AlternateContent xmlns:mc="http://schemas.openxmlformats.org/markup-compatibility/2006">
              <mc:Choice xmlns:v="urn:schemas-microsoft-com:vml" Requires="v">
                <p:oleObj spid="_x0000_s45827" name="Equation" r:id="rId10" imgW="406080" imgH="177480" progId="Equation.DSMT4">
                  <p:embed/>
                </p:oleObj>
              </mc:Choice>
              <mc:Fallback>
                <p:oleObj name="Equation" r:id="rId10" imgW="406080" imgH="177480" progId="Equation.DSMT4">
                  <p:embed/>
                  <p:pic>
                    <p:nvPicPr>
                      <p:cNvPr id="0" name=""/>
                      <p:cNvPicPr>
                        <a:picLocks noChangeAspect="1" noChangeArrowheads="1"/>
                      </p:cNvPicPr>
                      <p:nvPr/>
                    </p:nvPicPr>
                    <p:blipFill>
                      <a:blip r:embed="rId11"/>
                      <a:srcRect/>
                      <a:stretch>
                        <a:fillRect/>
                      </a:stretch>
                    </p:blipFill>
                    <p:spPr bwMode="auto">
                      <a:xfrm>
                        <a:off x="3524746" y="5223768"/>
                        <a:ext cx="7239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550404909"/>
              </p:ext>
            </p:extLst>
          </p:nvPr>
        </p:nvGraphicFramePr>
        <p:xfrm>
          <a:off x="4590504" y="5202461"/>
          <a:ext cx="2717800" cy="458787"/>
        </p:xfrm>
        <a:graphic>
          <a:graphicData uri="http://schemas.openxmlformats.org/presentationml/2006/ole">
            <mc:AlternateContent xmlns:mc="http://schemas.openxmlformats.org/markup-compatibility/2006">
              <mc:Choice xmlns:v="urn:schemas-microsoft-com:vml" Requires="v">
                <p:oleObj spid="_x0000_s45828" name="Equation" r:id="rId12" imgW="1346200" imgH="228600" progId="Equation.DSMT4">
                  <p:embed/>
                </p:oleObj>
              </mc:Choice>
              <mc:Fallback>
                <p:oleObj name="Equation" r:id="rId12" imgW="1346200" imgH="2286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90504" y="5202461"/>
                        <a:ext cx="2717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7016209"/>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91</a:t>
            </a:fld>
            <a:endParaRPr lang="en-US" altLang="zh-CN" dirty="0">
              <a:solidFill>
                <a:srgbClr val="000000"/>
              </a:solidFill>
            </a:endParaRPr>
          </a:p>
        </p:txBody>
      </p:sp>
      <p:sp>
        <p:nvSpPr>
          <p:cNvPr id="5" name="TextBox 4"/>
          <p:cNvSpPr txBox="1"/>
          <p:nvPr/>
        </p:nvSpPr>
        <p:spPr>
          <a:xfrm>
            <a:off x="2920410" y="332656"/>
            <a:ext cx="2659702" cy="461665"/>
          </a:xfrm>
          <a:prstGeom prst="rect">
            <a:avLst/>
          </a:prstGeom>
          <a:noFill/>
        </p:spPr>
        <p:txBody>
          <a:bodyPr wrap="none" rtlCol="0">
            <a:spAutoFit/>
          </a:bodyPr>
          <a:lstStyle/>
          <a:p>
            <a:r>
              <a:rPr lang="zh-CN" altLang="en-US" sz="2400" b="1" dirty="0" smtClean="0">
                <a:solidFill>
                  <a:prstClr val="black"/>
                </a:solidFill>
              </a:rPr>
              <a:t>第六章知识点梳理</a:t>
            </a:r>
            <a:endParaRPr lang="zh-CN" altLang="en-US" sz="2400" b="1" dirty="0">
              <a:solidFill>
                <a:prstClr val="black"/>
              </a:solidFill>
            </a:endParaRPr>
          </a:p>
        </p:txBody>
      </p:sp>
      <p:sp>
        <p:nvSpPr>
          <p:cNvPr id="6" name="TextBox 5"/>
          <p:cNvSpPr txBox="1"/>
          <p:nvPr/>
        </p:nvSpPr>
        <p:spPr>
          <a:xfrm>
            <a:off x="539552" y="764704"/>
            <a:ext cx="3206327" cy="369332"/>
          </a:xfrm>
          <a:prstGeom prst="rect">
            <a:avLst/>
          </a:prstGeom>
          <a:noFill/>
        </p:spPr>
        <p:txBody>
          <a:bodyPr wrap="none" rtlCol="0">
            <a:spAutoFit/>
          </a:bodyPr>
          <a:lstStyle/>
          <a:p>
            <a:r>
              <a:rPr lang="zh-CN" altLang="en-US" b="1" dirty="0"/>
              <a:t>四</a:t>
            </a:r>
            <a:r>
              <a:rPr lang="zh-CN" altLang="en-US" b="1" dirty="0" smtClean="0"/>
              <a:t>、调角信号与调幅信号相比</a:t>
            </a:r>
            <a:endParaRPr lang="zh-CN" altLang="en-US" b="1" dirty="0"/>
          </a:p>
        </p:txBody>
      </p:sp>
      <p:sp>
        <p:nvSpPr>
          <p:cNvPr id="20" name="Rectangle 5"/>
          <p:cNvSpPr>
            <a:spLocks noChangeArrowheads="1"/>
          </p:cNvSpPr>
          <p:nvPr/>
        </p:nvSpPr>
        <p:spPr bwMode="auto">
          <a:xfrm>
            <a:off x="371153" y="1052150"/>
            <a:ext cx="8449319"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eaLnBrk="0" hangingPunct="0">
              <a:defRPr sz="2000" b="1">
                <a:solidFill>
                  <a:srgbClr val="003399"/>
                </a:solidFill>
                <a:latin typeface="Times New Roman" pitchFamily="18" charset="0"/>
                <a:ea typeface="黑体" pitchFamily="49" charset="-122"/>
              </a:defRPr>
            </a:lvl1pPr>
            <a:lvl2pPr marL="742950" indent="-285750" eaLnBrk="0" hangingPunct="0">
              <a:defRPr sz="2000" b="1">
                <a:solidFill>
                  <a:srgbClr val="003399"/>
                </a:solidFill>
                <a:latin typeface="Times New Roman" pitchFamily="18" charset="0"/>
                <a:ea typeface="黑体" pitchFamily="49" charset="-122"/>
              </a:defRPr>
            </a:lvl2pPr>
            <a:lvl3pPr marL="1143000" indent="-228600" eaLnBrk="0" hangingPunct="0">
              <a:defRPr sz="2000" b="1">
                <a:solidFill>
                  <a:srgbClr val="003399"/>
                </a:solidFill>
                <a:latin typeface="Times New Roman" pitchFamily="18" charset="0"/>
                <a:ea typeface="黑体" pitchFamily="49" charset="-122"/>
              </a:defRPr>
            </a:lvl3pPr>
            <a:lvl4pPr marL="1600200" indent="-228600" eaLnBrk="0" hangingPunct="0">
              <a:defRPr sz="2000" b="1">
                <a:solidFill>
                  <a:srgbClr val="003399"/>
                </a:solidFill>
                <a:latin typeface="Times New Roman" pitchFamily="18" charset="0"/>
                <a:ea typeface="黑体" pitchFamily="49" charset="-122"/>
              </a:defRPr>
            </a:lvl4pPr>
            <a:lvl5pPr marL="2057400" indent="-228600" eaLnBrk="0" hangingPunct="0">
              <a:defRPr sz="2000" b="1">
                <a:solidFill>
                  <a:srgbClr val="003399"/>
                </a:solidFill>
                <a:latin typeface="Times New Roman" pitchFamily="18" charset="0"/>
                <a:ea typeface="黑体" pitchFamily="49"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9pPr>
          </a:lstStyle>
          <a:p>
            <a:pPr algn="l" eaLnBrk="1" hangingPunct="1">
              <a:spcBef>
                <a:spcPct val="0"/>
              </a:spcBef>
              <a:buClrTx/>
              <a:buSzTx/>
              <a:buFontTx/>
              <a:buNone/>
            </a:pPr>
            <a:r>
              <a:rPr kumimoji="1" lang="zh-CN" altLang="en-US" sz="2400" dirty="0">
                <a:solidFill>
                  <a:srgbClr val="0000CC"/>
                </a:solidFill>
                <a:ea typeface="宋体" pitchFamily="2" charset="-122"/>
                <a:cs typeface="Times New Roman" pitchFamily="18" charset="0"/>
              </a:rPr>
              <a:t>优点：抗干扰能力</a:t>
            </a:r>
            <a:r>
              <a:rPr kumimoji="1" lang="zh-CN" altLang="en-US" sz="2400" dirty="0" smtClean="0">
                <a:solidFill>
                  <a:srgbClr val="0000CC"/>
                </a:solidFill>
                <a:ea typeface="宋体" pitchFamily="2" charset="-122"/>
                <a:cs typeface="Times New Roman" pitchFamily="18" charset="0"/>
              </a:rPr>
              <a:t>强、设备</a:t>
            </a:r>
            <a:r>
              <a:rPr kumimoji="1" lang="zh-CN" altLang="en-US" sz="2400" dirty="0">
                <a:solidFill>
                  <a:srgbClr val="0000CC"/>
                </a:solidFill>
                <a:ea typeface="宋体" pitchFamily="2" charset="-122"/>
                <a:cs typeface="Times New Roman" pitchFamily="18" charset="0"/>
              </a:rPr>
              <a:t>利用率</a:t>
            </a:r>
            <a:r>
              <a:rPr kumimoji="1" lang="zh-CN" altLang="en-US" sz="2400" dirty="0" smtClean="0">
                <a:solidFill>
                  <a:srgbClr val="0000CC"/>
                </a:solidFill>
                <a:ea typeface="宋体" pitchFamily="2" charset="-122"/>
                <a:cs typeface="Times New Roman" pitchFamily="18" charset="0"/>
              </a:rPr>
              <a:t>高、信号传输保真度高</a:t>
            </a:r>
            <a:endParaRPr kumimoji="1" lang="zh-CN" altLang="en-US" sz="2400" dirty="0">
              <a:solidFill>
                <a:srgbClr val="0000CC"/>
              </a:solidFill>
              <a:ea typeface="宋体" pitchFamily="2" charset="-122"/>
              <a:cs typeface="Times New Roman" pitchFamily="18" charset="0"/>
            </a:endParaRPr>
          </a:p>
          <a:p>
            <a:pPr algn="l" eaLnBrk="1" hangingPunct="1">
              <a:spcBef>
                <a:spcPct val="0"/>
              </a:spcBef>
              <a:buClrTx/>
              <a:buSzTx/>
              <a:buFontTx/>
              <a:buNone/>
            </a:pPr>
            <a:r>
              <a:rPr kumimoji="1" lang="zh-CN" altLang="en-US" sz="2400" dirty="0" smtClean="0">
                <a:solidFill>
                  <a:srgbClr val="000000"/>
                </a:solidFill>
                <a:ea typeface="宋体" pitchFamily="2" charset="-122"/>
                <a:cs typeface="Times New Roman" pitchFamily="18" charset="0"/>
              </a:rPr>
              <a:t>        调幅波的</a:t>
            </a:r>
            <a:r>
              <a:rPr kumimoji="1" lang="en-US" altLang="zh-CN" sz="2400" dirty="0" smtClean="0">
                <a:solidFill>
                  <a:srgbClr val="000000"/>
                </a:solidFill>
                <a:ea typeface="宋体" pitchFamily="2" charset="-122"/>
                <a:cs typeface="Times New Roman" pitchFamily="18" charset="0"/>
              </a:rPr>
              <a:t>m</a:t>
            </a:r>
            <a:r>
              <a:rPr kumimoji="1" lang="en-US" altLang="zh-CN" sz="2400" baseline="-25000" dirty="0" smtClean="0">
                <a:solidFill>
                  <a:srgbClr val="000000"/>
                </a:solidFill>
                <a:ea typeface="宋体" pitchFamily="2" charset="-122"/>
                <a:cs typeface="Times New Roman" pitchFamily="18" charset="0"/>
              </a:rPr>
              <a:t>a</a:t>
            </a:r>
            <a:r>
              <a:rPr kumimoji="1" lang="zh-CN" altLang="en-US" sz="2400" dirty="0" smtClean="0">
                <a:solidFill>
                  <a:srgbClr val="000000"/>
                </a:solidFill>
                <a:ea typeface="宋体" pitchFamily="2" charset="-122"/>
                <a:cs typeface="Times New Roman" pitchFamily="18" charset="0"/>
              </a:rPr>
              <a:t>≤</a:t>
            </a:r>
            <a:r>
              <a:rPr kumimoji="1" lang="en-US" altLang="zh-CN" sz="2400" dirty="0" smtClean="0">
                <a:solidFill>
                  <a:srgbClr val="000000"/>
                </a:solidFill>
                <a:ea typeface="宋体" pitchFamily="2" charset="-122"/>
                <a:cs typeface="Times New Roman" pitchFamily="18" charset="0"/>
              </a:rPr>
              <a:t>1</a:t>
            </a:r>
            <a:r>
              <a:rPr kumimoji="1" lang="zh-CN" altLang="en-US" sz="2400" dirty="0" smtClean="0">
                <a:solidFill>
                  <a:srgbClr val="000000"/>
                </a:solidFill>
                <a:ea typeface="宋体" pitchFamily="2" charset="-122"/>
                <a:cs typeface="Times New Roman" pitchFamily="18" charset="0"/>
              </a:rPr>
              <a:t>，而调角波的</a:t>
            </a:r>
            <a:r>
              <a:rPr kumimoji="1" lang="en-US" altLang="zh-CN" sz="2400" dirty="0" smtClean="0">
                <a:solidFill>
                  <a:srgbClr val="000000"/>
                </a:solidFill>
                <a:ea typeface="宋体" pitchFamily="2" charset="-122"/>
                <a:cs typeface="Times New Roman" pitchFamily="18" charset="0"/>
              </a:rPr>
              <a:t>m</a:t>
            </a:r>
            <a:r>
              <a:rPr kumimoji="1" lang="zh-CN" altLang="en-US" sz="2400" dirty="0" smtClean="0">
                <a:solidFill>
                  <a:srgbClr val="000000"/>
                </a:solidFill>
                <a:ea typeface="宋体" pitchFamily="2" charset="-122"/>
                <a:cs typeface="Times New Roman" pitchFamily="18" charset="0"/>
              </a:rPr>
              <a:t>可远大于</a:t>
            </a:r>
            <a:r>
              <a:rPr kumimoji="1" lang="en-US" altLang="zh-CN" sz="2400" dirty="0" smtClean="0">
                <a:solidFill>
                  <a:srgbClr val="000000"/>
                </a:solidFill>
                <a:ea typeface="宋体" pitchFamily="2" charset="-122"/>
                <a:cs typeface="Times New Roman" pitchFamily="18" charset="0"/>
              </a:rPr>
              <a:t>1</a:t>
            </a:r>
            <a:r>
              <a:rPr kumimoji="1" lang="zh-CN" altLang="en-US" sz="2400" dirty="0" smtClean="0">
                <a:solidFill>
                  <a:srgbClr val="000000"/>
                </a:solidFill>
                <a:ea typeface="宋体" pitchFamily="2" charset="-122"/>
                <a:cs typeface="Times New Roman" pitchFamily="18" charset="0"/>
              </a:rPr>
              <a:t>，则信号携带有用信息的边频分量功率越多，信噪比大，且调角信号幅度不携带信息，所以抗干扰和抗噪声性能远高于调幅系统。</a:t>
            </a:r>
          </a:p>
          <a:p>
            <a:pPr algn="l" eaLnBrk="1" hangingPunct="1">
              <a:spcBef>
                <a:spcPct val="0"/>
              </a:spcBef>
              <a:buClrTx/>
              <a:buSzTx/>
              <a:buFontTx/>
              <a:buNone/>
            </a:pPr>
            <a:r>
              <a:rPr kumimoji="1" lang="zh-CN" altLang="en-US" sz="2400" dirty="0" smtClean="0">
                <a:solidFill>
                  <a:srgbClr val="000000"/>
                </a:solidFill>
                <a:ea typeface="宋体" pitchFamily="2" charset="-122"/>
                <a:cs typeface="Times New Roman" pitchFamily="18" charset="0"/>
              </a:rPr>
              <a:t>        调幅波的平均功率与</a:t>
            </a:r>
            <a:r>
              <a:rPr kumimoji="1" lang="en-US" altLang="zh-CN" sz="2400" dirty="0" smtClean="0">
                <a:solidFill>
                  <a:srgbClr val="000000"/>
                </a:solidFill>
                <a:ea typeface="宋体" pitchFamily="2" charset="-122"/>
                <a:cs typeface="Times New Roman" pitchFamily="18" charset="0"/>
              </a:rPr>
              <a:t>m</a:t>
            </a:r>
            <a:r>
              <a:rPr kumimoji="1" lang="en-US" altLang="zh-CN" sz="2400" baseline="-25000" dirty="0" smtClean="0">
                <a:solidFill>
                  <a:srgbClr val="000000"/>
                </a:solidFill>
                <a:ea typeface="宋体" pitchFamily="2" charset="-122"/>
                <a:cs typeface="Times New Roman" pitchFamily="18" charset="0"/>
              </a:rPr>
              <a:t>a</a:t>
            </a:r>
            <a:r>
              <a:rPr kumimoji="1" lang="zh-CN" altLang="en-US" sz="2400" dirty="0" smtClean="0">
                <a:solidFill>
                  <a:srgbClr val="000000"/>
                </a:solidFill>
                <a:ea typeface="宋体" pitchFamily="2" charset="-122"/>
                <a:cs typeface="Times New Roman" pitchFamily="18" charset="0"/>
              </a:rPr>
              <a:t>有关，但</a:t>
            </a:r>
            <a:r>
              <a:rPr kumimoji="1" lang="en-US" altLang="zh-CN" sz="2400" dirty="0" smtClean="0">
                <a:solidFill>
                  <a:srgbClr val="000000"/>
                </a:solidFill>
                <a:ea typeface="宋体" pitchFamily="2" charset="-122"/>
                <a:cs typeface="Times New Roman" pitchFamily="18" charset="0"/>
              </a:rPr>
              <a:t>m</a:t>
            </a:r>
            <a:r>
              <a:rPr kumimoji="1" lang="en-US" altLang="zh-CN" sz="2400" baseline="-25000" dirty="0" smtClean="0">
                <a:solidFill>
                  <a:srgbClr val="000000"/>
                </a:solidFill>
                <a:ea typeface="宋体" pitchFamily="2" charset="-122"/>
                <a:cs typeface="Times New Roman" pitchFamily="18" charset="0"/>
              </a:rPr>
              <a:t>a</a:t>
            </a:r>
            <a:r>
              <a:rPr kumimoji="1" lang="zh-CN" altLang="en-US" sz="2400" dirty="0" smtClean="0">
                <a:solidFill>
                  <a:srgbClr val="000000"/>
                </a:solidFill>
                <a:ea typeface="宋体" pitchFamily="2" charset="-122"/>
                <a:cs typeface="Times New Roman" pitchFamily="18" charset="0"/>
              </a:rPr>
              <a:t>取值受限，故受调制程度有限，所以功率放大管利用率低。而调角信号功率等于未调制时的载波功率，与调制指数</a:t>
            </a:r>
            <a:r>
              <a:rPr kumimoji="1" lang="en-US" altLang="zh-CN" sz="2400" dirty="0" smtClean="0">
                <a:solidFill>
                  <a:srgbClr val="000000"/>
                </a:solidFill>
                <a:ea typeface="宋体" pitchFamily="2" charset="-122"/>
                <a:cs typeface="Times New Roman" pitchFamily="18" charset="0"/>
              </a:rPr>
              <a:t>m</a:t>
            </a:r>
            <a:r>
              <a:rPr kumimoji="1" lang="zh-CN" altLang="en-US" sz="2400" dirty="0" smtClean="0">
                <a:solidFill>
                  <a:srgbClr val="000000"/>
                </a:solidFill>
                <a:ea typeface="宋体" pitchFamily="2" charset="-122"/>
                <a:cs typeface="Times New Roman" pitchFamily="18" charset="0"/>
              </a:rPr>
              <a:t>无关，因此功率放大管可工作在最大利用率状态。</a:t>
            </a:r>
            <a:endParaRPr kumimoji="1" lang="en-US" altLang="zh-CN" sz="2400" dirty="0" smtClean="0">
              <a:solidFill>
                <a:srgbClr val="000000"/>
              </a:solidFill>
              <a:ea typeface="宋体" pitchFamily="2" charset="-122"/>
              <a:cs typeface="Times New Roman" pitchFamily="18" charset="0"/>
            </a:endParaRPr>
          </a:p>
          <a:p>
            <a:pPr algn="l" eaLnBrk="1" hangingPunct="1">
              <a:spcBef>
                <a:spcPct val="0"/>
              </a:spcBef>
              <a:buClrTx/>
              <a:buSzTx/>
              <a:buFontTx/>
              <a:buNone/>
            </a:pPr>
            <a:r>
              <a:rPr kumimoji="1" lang="en-US" altLang="zh-CN" sz="2400" dirty="0" smtClean="0">
                <a:solidFill>
                  <a:srgbClr val="000000"/>
                </a:solidFill>
                <a:ea typeface="宋体" pitchFamily="2" charset="-122"/>
                <a:cs typeface="Times New Roman" pitchFamily="18" charset="0"/>
              </a:rPr>
              <a:t>    </a:t>
            </a:r>
            <a:r>
              <a:rPr kumimoji="1" lang="zh-CN" altLang="en-US" sz="2400" dirty="0" smtClean="0">
                <a:solidFill>
                  <a:srgbClr val="000000"/>
                </a:solidFill>
                <a:ea typeface="宋体" pitchFamily="2" charset="-122"/>
                <a:cs typeface="Times New Roman" pitchFamily="18" charset="0"/>
              </a:rPr>
              <a:t>    调角波比调幅波抗干扰能力强，又占有较宽的频带，传输的调制信号频率范围较大，所以调角波的传输保真度高。</a:t>
            </a:r>
            <a:endParaRPr kumimoji="1" lang="zh-CN" altLang="en-US" sz="2400" dirty="0">
              <a:solidFill>
                <a:srgbClr val="000000"/>
              </a:solidFill>
              <a:ea typeface="宋体" pitchFamily="2" charset="-122"/>
              <a:cs typeface="Times New Roman" pitchFamily="18" charset="0"/>
            </a:endParaRPr>
          </a:p>
        </p:txBody>
      </p:sp>
      <p:sp>
        <p:nvSpPr>
          <p:cNvPr id="21" name="Rectangle 6"/>
          <p:cNvSpPr>
            <a:spLocks noChangeArrowheads="1"/>
          </p:cNvSpPr>
          <p:nvPr/>
        </p:nvSpPr>
        <p:spPr bwMode="auto">
          <a:xfrm>
            <a:off x="371152" y="4771018"/>
            <a:ext cx="844931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eaLnBrk="0" hangingPunct="0">
              <a:defRPr sz="2000" b="1">
                <a:solidFill>
                  <a:srgbClr val="003399"/>
                </a:solidFill>
                <a:latin typeface="Times New Roman" pitchFamily="18" charset="0"/>
                <a:ea typeface="黑体" pitchFamily="49" charset="-122"/>
              </a:defRPr>
            </a:lvl1pPr>
            <a:lvl2pPr marL="742950" indent="-285750" eaLnBrk="0" hangingPunct="0">
              <a:defRPr sz="2000" b="1">
                <a:solidFill>
                  <a:srgbClr val="003399"/>
                </a:solidFill>
                <a:latin typeface="Times New Roman" pitchFamily="18" charset="0"/>
                <a:ea typeface="黑体" pitchFamily="49" charset="-122"/>
              </a:defRPr>
            </a:lvl2pPr>
            <a:lvl3pPr marL="1143000" indent="-228600" eaLnBrk="0" hangingPunct="0">
              <a:defRPr sz="2000" b="1">
                <a:solidFill>
                  <a:srgbClr val="003399"/>
                </a:solidFill>
                <a:latin typeface="Times New Roman" pitchFamily="18" charset="0"/>
                <a:ea typeface="黑体" pitchFamily="49" charset="-122"/>
              </a:defRPr>
            </a:lvl3pPr>
            <a:lvl4pPr marL="1600200" indent="-228600" eaLnBrk="0" hangingPunct="0">
              <a:defRPr sz="2000" b="1">
                <a:solidFill>
                  <a:srgbClr val="003399"/>
                </a:solidFill>
                <a:latin typeface="Times New Roman" pitchFamily="18" charset="0"/>
                <a:ea typeface="黑体" pitchFamily="49" charset="-122"/>
              </a:defRPr>
            </a:lvl4pPr>
            <a:lvl5pPr marL="2057400" indent="-228600" eaLnBrk="0" hangingPunct="0">
              <a:defRPr sz="2000" b="1">
                <a:solidFill>
                  <a:srgbClr val="003399"/>
                </a:solidFill>
                <a:latin typeface="Times New Roman" pitchFamily="18" charset="0"/>
                <a:ea typeface="黑体" pitchFamily="49"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49" charset="-122"/>
              </a:defRPr>
            </a:lvl9pPr>
          </a:lstStyle>
          <a:p>
            <a:pPr algn="l" eaLnBrk="1" hangingPunct="1">
              <a:spcBef>
                <a:spcPct val="0"/>
              </a:spcBef>
              <a:buClrTx/>
              <a:buSzTx/>
              <a:buFontTx/>
              <a:buNone/>
            </a:pPr>
            <a:r>
              <a:rPr kumimoji="1" lang="zh-CN" altLang="en-US" sz="2400" dirty="0">
                <a:solidFill>
                  <a:srgbClr val="0000CC"/>
                </a:solidFill>
                <a:ea typeface="宋体" pitchFamily="2" charset="-122"/>
                <a:cs typeface="Times New Roman" pitchFamily="18" charset="0"/>
              </a:rPr>
              <a:t>缺点</a:t>
            </a:r>
            <a:r>
              <a:rPr kumimoji="1" lang="zh-CN" altLang="en-US" sz="2400" dirty="0" smtClean="0">
                <a:solidFill>
                  <a:srgbClr val="0000CC"/>
                </a:solidFill>
                <a:ea typeface="宋体" pitchFamily="2" charset="-122"/>
                <a:cs typeface="Times New Roman" pitchFamily="18" charset="0"/>
              </a:rPr>
              <a:t>：频带利用率低，有效</a:t>
            </a:r>
            <a:r>
              <a:rPr kumimoji="1" lang="zh-CN" altLang="en-US" sz="2400" dirty="0">
                <a:solidFill>
                  <a:srgbClr val="0000CC"/>
                </a:solidFill>
                <a:ea typeface="宋体" pitchFamily="2" charset="-122"/>
                <a:cs typeface="Times New Roman" pitchFamily="18" charset="0"/>
              </a:rPr>
              <a:t>带宽比调幅信号大得多，且有效带宽与</a:t>
            </a:r>
            <a:r>
              <a:rPr kumimoji="1" lang="en-US" altLang="zh-CN" sz="2400" dirty="0">
                <a:solidFill>
                  <a:srgbClr val="0000CC"/>
                </a:solidFill>
                <a:ea typeface="宋体" pitchFamily="2" charset="-122"/>
                <a:cs typeface="Times New Roman" pitchFamily="18" charset="0"/>
              </a:rPr>
              <a:t>m</a:t>
            </a:r>
            <a:r>
              <a:rPr kumimoji="1" lang="zh-CN" altLang="en-US" sz="2400" dirty="0">
                <a:solidFill>
                  <a:srgbClr val="0000CC"/>
                </a:solidFill>
                <a:ea typeface="宋体" pitchFamily="2" charset="-122"/>
                <a:cs typeface="Times New Roman" pitchFamily="18" charset="0"/>
              </a:rPr>
              <a:t>相关</a:t>
            </a:r>
            <a:r>
              <a:rPr kumimoji="1" lang="zh-CN" altLang="en-US" sz="2400" dirty="0" smtClean="0">
                <a:solidFill>
                  <a:srgbClr val="0000CC"/>
                </a:solidFill>
                <a:ea typeface="宋体" pitchFamily="2" charset="-122"/>
                <a:cs typeface="Times New Roman" pitchFamily="18" charset="0"/>
              </a:rPr>
              <a:t>。抗干扰能力强，则带宽越宽。</a:t>
            </a:r>
            <a:endParaRPr kumimoji="1" lang="zh-CN" altLang="en-US" sz="2400" dirty="0">
              <a:solidFill>
                <a:srgbClr val="0000CC"/>
              </a:solidFill>
              <a:ea typeface="宋体" pitchFamily="2" charset="-122"/>
              <a:cs typeface="Times New Roman" pitchFamily="18" charset="0"/>
            </a:endParaRPr>
          </a:p>
          <a:p>
            <a:pPr algn="l" eaLnBrk="1" hangingPunct="1">
              <a:spcBef>
                <a:spcPct val="0"/>
              </a:spcBef>
              <a:buClrTx/>
              <a:buSzTx/>
              <a:buFontTx/>
              <a:buNone/>
            </a:pPr>
            <a:r>
              <a:rPr kumimoji="1" lang="zh-CN" altLang="en-US" sz="2400" dirty="0" smtClean="0">
                <a:solidFill>
                  <a:schemeClr val="tx1"/>
                </a:solidFill>
                <a:ea typeface="宋体" pitchFamily="2" charset="-122"/>
                <a:cs typeface="Times New Roman" pitchFamily="18" charset="0"/>
              </a:rPr>
              <a:t>        故</a:t>
            </a:r>
            <a:r>
              <a:rPr kumimoji="1" lang="zh-CN" altLang="en-US" sz="2400" dirty="0">
                <a:solidFill>
                  <a:srgbClr val="000000"/>
                </a:solidFill>
                <a:ea typeface="宋体" pitchFamily="2" charset="-122"/>
                <a:cs typeface="Times New Roman" pitchFamily="18" charset="0"/>
              </a:rPr>
              <a:t>角度调制不宜在信道拥挤、且频率范围不宽的短波</a:t>
            </a:r>
            <a:r>
              <a:rPr kumimoji="1" lang="zh-CN" altLang="en-US" sz="2400" dirty="0" smtClean="0">
                <a:solidFill>
                  <a:srgbClr val="000000"/>
                </a:solidFill>
                <a:ea typeface="宋体" pitchFamily="2" charset="-122"/>
                <a:cs typeface="Times New Roman" pitchFamily="18" charset="0"/>
              </a:rPr>
              <a:t>波段使用</a:t>
            </a:r>
            <a:r>
              <a:rPr kumimoji="1" lang="zh-CN" altLang="en-US" sz="2400" dirty="0">
                <a:solidFill>
                  <a:srgbClr val="000000"/>
                </a:solidFill>
                <a:ea typeface="宋体" pitchFamily="2" charset="-122"/>
                <a:cs typeface="Times New Roman" pitchFamily="18" charset="0"/>
              </a:rPr>
              <a:t>，而适合在频率范围很宽的超高频或微波波段使用</a:t>
            </a:r>
            <a:r>
              <a:rPr kumimoji="1" lang="zh-CN" altLang="en-US" sz="2400" dirty="0" smtClean="0">
                <a:solidFill>
                  <a:srgbClr val="000000"/>
                </a:solidFill>
                <a:ea typeface="宋体" pitchFamily="2" charset="-122"/>
                <a:cs typeface="Times New Roman" pitchFamily="18" charset="0"/>
              </a:rPr>
              <a:t>。</a:t>
            </a:r>
            <a:endParaRPr kumimoji="1" lang="zh-CN" altLang="en-US" sz="2400" dirty="0">
              <a:solidFill>
                <a:srgbClr val="0066CC"/>
              </a:solidFill>
              <a:ea typeface="宋体" pitchFamily="2" charset="-122"/>
              <a:cs typeface="Times New Roman" pitchFamily="18" charset="0"/>
            </a:endParaRPr>
          </a:p>
        </p:txBody>
      </p:sp>
    </p:spTree>
    <p:extLst>
      <p:ext uri="{BB962C8B-B14F-4D97-AF65-F5344CB8AC3E}">
        <p14:creationId xmlns:p14="http://schemas.microsoft.com/office/powerpoint/2010/main" val="4228768151"/>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92</a:t>
            </a:fld>
            <a:endParaRPr lang="en-US" altLang="zh-CN" dirty="0">
              <a:solidFill>
                <a:srgbClr val="000000"/>
              </a:solidFill>
            </a:endParaRPr>
          </a:p>
        </p:txBody>
      </p:sp>
      <p:sp>
        <p:nvSpPr>
          <p:cNvPr id="6" name="TextBox 5"/>
          <p:cNvSpPr txBox="1"/>
          <p:nvPr/>
        </p:nvSpPr>
        <p:spPr>
          <a:xfrm>
            <a:off x="539552" y="404664"/>
            <a:ext cx="1579278" cy="369332"/>
          </a:xfrm>
          <a:prstGeom prst="rect">
            <a:avLst/>
          </a:prstGeom>
          <a:noFill/>
        </p:spPr>
        <p:txBody>
          <a:bodyPr wrap="none" rtlCol="0">
            <a:spAutoFit/>
          </a:bodyPr>
          <a:lstStyle/>
          <a:p>
            <a:r>
              <a:rPr lang="zh-CN" altLang="en-US" b="1" dirty="0" smtClean="0"/>
              <a:t>五、调频电路</a:t>
            </a:r>
            <a:endParaRPr lang="zh-CN" altLang="en-US" b="1" dirty="0"/>
          </a:p>
        </p:txBody>
      </p:sp>
      <p:sp>
        <p:nvSpPr>
          <p:cNvPr id="7" name="TextBox 6"/>
          <p:cNvSpPr txBox="1"/>
          <p:nvPr/>
        </p:nvSpPr>
        <p:spPr>
          <a:xfrm>
            <a:off x="683568" y="773175"/>
            <a:ext cx="2119491" cy="553998"/>
          </a:xfrm>
          <a:prstGeom prst="rect">
            <a:avLst/>
          </a:prstGeom>
          <a:noFill/>
        </p:spPr>
        <p:txBody>
          <a:bodyPr wrap="none" rtlCol="0">
            <a:spAutoFit/>
          </a:bodyPr>
          <a:lstStyle/>
          <a:p>
            <a:pPr>
              <a:lnSpc>
                <a:spcPct val="150000"/>
              </a:lnSpc>
            </a:pPr>
            <a:r>
              <a:rPr lang="en-US" altLang="zh-CN" sz="2000" b="1" dirty="0" smtClean="0">
                <a:solidFill>
                  <a:srgbClr val="0070C0"/>
                </a:solidFill>
                <a:latin typeface="Times New Roman" panose="02020603050405020304" pitchFamily="18" charset="0"/>
                <a:cs typeface="Times New Roman" panose="02020603050405020304" pitchFamily="18" charset="0"/>
              </a:rPr>
              <a:t>1</a:t>
            </a:r>
            <a:r>
              <a:rPr lang="zh-CN" altLang="en-US" sz="2000" b="1" dirty="0" smtClean="0">
                <a:solidFill>
                  <a:srgbClr val="0070C0"/>
                </a:solidFill>
                <a:latin typeface="Times New Roman" panose="02020603050405020304" pitchFamily="18" charset="0"/>
                <a:cs typeface="Times New Roman" panose="02020603050405020304" pitchFamily="18" charset="0"/>
              </a:rPr>
              <a:t>、直接调频电路</a:t>
            </a:r>
            <a:endParaRPr lang="en-US" altLang="zh-CN" sz="2000" b="1" dirty="0" smtClean="0">
              <a:solidFill>
                <a:srgbClr val="0070C0"/>
              </a:solidFill>
              <a:latin typeface="Times New Roman" panose="02020603050405020304" pitchFamily="18" charset="0"/>
              <a:cs typeface="Times New Roman" panose="02020603050405020304" pitchFamily="18" charset="0"/>
            </a:endParaRPr>
          </a:p>
        </p:txBody>
      </p:sp>
      <p:sp>
        <p:nvSpPr>
          <p:cNvPr id="2" name="矩形 1"/>
          <p:cNvSpPr/>
          <p:nvPr/>
        </p:nvSpPr>
        <p:spPr>
          <a:xfrm>
            <a:off x="683568" y="1338630"/>
            <a:ext cx="6192688" cy="2554545"/>
          </a:xfrm>
          <a:prstGeom prst="rect">
            <a:avLst/>
          </a:prstGeom>
        </p:spPr>
        <p:txBody>
          <a:bodyPr wrap="square">
            <a:spAutoFit/>
          </a:bodyPr>
          <a:lstStyle/>
          <a:p>
            <a:pPr marL="342900" indent="-342900">
              <a:lnSpc>
                <a:spcPct val="200000"/>
              </a:lnSpc>
              <a:buFont typeface="Arial" panose="020B0604020202020204" pitchFamily="34" charset="0"/>
              <a:buChar char="•"/>
            </a:pPr>
            <a:r>
              <a:rPr lang="zh-CN" altLang="en-US" sz="2000" b="1" dirty="0">
                <a:latin typeface="Times New Roman"/>
                <a:cs typeface="Times New Roman"/>
              </a:rPr>
              <a:t>直接调频电路就是一种振荡频率可控的</a:t>
            </a:r>
            <a:r>
              <a:rPr lang="zh-CN" altLang="en-US" sz="2000" b="1" dirty="0" smtClean="0">
                <a:solidFill>
                  <a:srgbClr val="FF0066"/>
                </a:solidFill>
                <a:latin typeface="Times New Roman"/>
                <a:cs typeface="Times New Roman"/>
              </a:rPr>
              <a:t>振荡器</a:t>
            </a:r>
            <a:r>
              <a:rPr lang="zh-CN" altLang="en-US" sz="2000" b="1" dirty="0" smtClean="0">
                <a:latin typeface="Times New Roman"/>
                <a:cs typeface="Times New Roman"/>
              </a:rPr>
              <a:t>；</a:t>
            </a:r>
            <a:endParaRPr lang="en-US" altLang="zh-CN" sz="2000" b="1" dirty="0" smtClean="0">
              <a:latin typeface="Times New Roman"/>
              <a:cs typeface="Times New Roman"/>
            </a:endParaRPr>
          </a:p>
          <a:p>
            <a:pPr marL="342900" indent="-342900">
              <a:lnSpc>
                <a:spcPct val="200000"/>
              </a:lnSpc>
              <a:buFont typeface="Arial" panose="020B0604020202020204" pitchFamily="34" charset="0"/>
              <a:buChar char="•"/>
            </a:pPr>
            <a:r>
              <a:rPr lang="zh-CN" altLang="en-US" sz="2000" b="1" dirty="0" smtClean="0">
                <a:latin typeface="Times New Roman"/>
                <a:cs typeface="Times New Roman"/>
              </a:rPr>
              <a:t>使用</a:t>
            </a:r>
            <a:r>
              <a:rPr lang="zh-CN" altLang="en-US" sz="2000" b="1" dirty="0" smtClean="0">
                <a:solidFill>
                  <a:srgbClr val="FF0066"/>
                </a:solidFill>
                <a:latin typeface="Times New Roman"/>
                <a:cs typeface="Times New Roman"/>
              </a:rPr>
              <a:t>变容二极管</a:t>
            </a:r>
            <a:r>
              <a:rPr lang="zh-CN" altLang="en-US" sz="2000" b="1" dirty="0" smtClean="0">
                <a:latin typeface="Times New Roman"/>
                <a:cs typeface="Times New Roman"/>
              </a:rPr>
              <a:t>作为可控电抗元件；</a:t>
            </a:r>
            <a:endParaRPr lang="en-US" altLang="zh-CN" sz="2000" b="1" dirty="0" smtClean="0">
              <a:latin typeface="Times New Roman"/>
              <a:cs typeface="Times New Roman"/>
            </a:endParaRPr>
          </a:p>
          <a:p>
            <a:pPr marL="342900" indent="-342900">
              <a:lnSpc>
                <a:spcPct val="200000"/>
              </a:lnSpc>
              <a:buFont typeface="Arial" panose="020B0604020202020204" pitchFamily="34" charset="0"/>
              <a:buChar char="•"/>
            </a:pPr>
            <a:r>
              <a:rPr lang="zh-CN" altLang="en-US" sz="2000" b="1" dirty="0" smtClean="0">
                <a:latin typeface="Times New Roman"/>
                <a:cs typeface="Times New Roman"/>
              </a:rPr>
              <a:t>变容二极管工作在反偏状态：</a:t>
            </a:r>
            <a:endParaRPr lang="en-US" altLang="zh-CN" sz="2000" b="1" dirty="0" smtClean="0">
              <a:latin typeface="Times New Roman"/>
              <a:cs typeface="Times New Roman"/>
            </a:endParaRPr>
          </a:p>
          <a:p>
            <a:pPr marL="342900" indent="-342900">
              <a:lnSpc>
                <a:spcPct val="200000"/>
              </a:lnSpc>
              <a:buFont typeface="Arial" panose="020B0604020202020204" pitchFamily="34" charset="0"/>
              <a:buChar char="•"/>
            </a:pPr>
            <a:r>
              <a:rPr lang="zh-CN" altLang="en-US" sz="2000" b="1" dirty="0" smtClean="0">
                <a:latin typeface="Times New Roman"/>
                <a:cs typeface="Times New Roman"/>
              </a:rPr>
              <a:t>二极管结电容受静态偏压、调制信号控制</a:t>
            </a:r>
            <a:endParaRPr lang="en-US" altLang="zh-CN" sz="2000" b="1" dirty="0">
              <a:latin typeface="Times New Roman"/>
              <a:cs typeface="Times New Roman"/>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32528786"/>
              </p:ext>
            </p:extLst>
          </p:nvPr>
        </p:nvGraphicFramePr>
        <p:xfrm>
          <a:off x="4427984" y="2492896"/>
          <a:ext cx="1701800" cy="935038"/>
        </p:xfrm>
        <a:graphic>
          <a:graphicData uri="http://schemas.openxmlformats.org/presentationml/2006/ole">
            <mc:AlternateContent xmlns:mc="http://schemas.openxmlformats.org/markup-compatibility/2006">
              <mc:Choice xmlns:v="urn:schemas-microsoft-com:vml" Requires="v">
                <p:oleObj spid="_x0000_s46233" name="Equation" r:id="rId4" imgW="812520" imgH="444240" progId="Equation.DSMT4">
                  <p:embed/>
                </p:oleObj>
              </mc:Choice>
              <mc:Fallback>
                <p:oleObj name="Equation" r:id="rId4" imgW="812520" imgH="444240" progId="Equation.DSMT4">
                  <p:embed/>
                  <p:pic>
                    <p:nvPicPr>
                      <p:cNvPr id="0" name="对象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7984" y="2492896"/>
                        <a:ext cx="1701800"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TextBox 9"/>
          <p:cNvSpPr txBox="1"/>
          <p:nvPr/>
        </p:nvSpPr>
        <p:spPr>
          <a:xfrm>
            <a:off x="755576" y="3861048"/>
            <a:ext cx="2119491" cy="553998"/>
          </a:xfrm>
          <a:prstGeom prst="rect">
            <a:avLst/>
          </a:prstGeom>
          <a:noFill/>
        </p:spPr>
        <p:txBody>
          <a:bodyPr wrap="none" rtlCol="0">
            <a:spAutoFit/>
          </a:bodyPr>
          <a:lstStyle/>
          <a:p>
            <a:pPr>
              <a:lnSpc>
                <a:spcPct val="150000"/>
              </a:lnSpc>
            </a:pPr>
            <a:r>
              <a:rPr lang="en-US" altLang="zh-CN" sz="2000" b="1" dirty="0">
                <a:solidFill>
                  <a:srgbClr val="0070C0"/>
                </a:solidFill>
                <a:latin typeface="Times New Roman" panose="02020603050405020304" pitchFamily="18" charset="0"/>
                <a:cs typeface="Times New Roman" panose="02020603050405020304" pitchFamily="18" charset="0"/>
              </a:rPr>
              <a:t>2</a:t>
            </a:r>
            <a:r>
              <a:rPr lang="zh-CN" altLang="en-US" sz="2000" b="1" dirty="0" smtClean="0">
                <a:solidFill>
                  <a:srgbClr val="0070C0"/>
                </a:solidFill>
                <a:latin typeface="Times New Roman" panose="02020603050405020304" pitchFamily="18" charset="0"/>
                <a:cs typeface="Times New Roman" panose="02020603050405020304" pitchFamily="18" charset="0"/>
              </a:rPr>
              <a:t>、</a:t>
            </a:r>
            <a:r>
              <a:rPr lang="zh-CN" altLang="en-US" sz="2000" b="1" dirty="0">
                <a:solidFill>
                  <a:srgbClr val="0070C0"/>
                </a:solidFill>
                <a:latin typeface="Times New Roman" panose="02020603050405020304" pitchFamily="18" charset="0"/>
                <a:cs typeface="Times New Roman" panose="02020603050405020304" pitchFamily="18" charset="0"/>
              </a:rPr>
              <a:t>间</a:t>
            </a:r>
            <a:r>
              <a:rPr lang="zh-CN" altLang="en-US" sz="2000" b="1" dirty="0" smtClean="0">
                <a:solidFill>
                  <a:srgbClr val="0070C0"/>
                </a:solidFill>
                <a:latin typeface="Times New Roman" panose="02020603050405020304" pitchFamily="18" charset="0"/>
                <a:cs typeface="Times New Roman" panose="02020603050405020304" pitchFamily="18" charset="0"/>
              </a:rPr>
              <a:t>接调频电路</a:t>
            </a:r>
            <a:endParaRPr lang="en-US" altLang="zh-CN" sz="2000" b="1" dirty="0" smtClean="0">
              <a:solidFill>
                <a:srgbClr val="0070C0"/>
              </a:solidFill>
              <a:latin typeface="Times New Roman" panose="02020603050405020304" pitchFamily="18" charset="0"/>
              <a:cs typeface="Times New Roman" panose="02020603050405020304" pitchFamily="18" charset="0"/>
            </a:endParaRPr>
          </a:p>
        </p:txBody>
      </p:sp>
      <p:sp>
        <p:nvSpPr>
          <p:cNvPr id="11" name="矩形 10"/>
          <p:cNvSpPr/>
          <p:nvPr/>
        </p:nvSpPr>
        <p:spPr>
          <a:xfrm>
            <a:off x="1043608" y="4221088"/>
            <a:ext cx="4680520" cy="707886"/>
          </a:xfrm>
          <a:prstGeom prst="rect">
            <a:avLst/>
          </a:prstGeom>
        </p:spPr>
        <p:txBody>
          <a:bodyPr wrap="square">
            <a:spAutoFit/>
          </a:bodyPr>
          <a:lstStyle/>
          <a:p>
            <a:pPr>
              <a:lnSpc>
                <a:spcPct val="200000"/>
              </a:lnSpc>
            </a:pPr>
            <a:r>
              <a:rPr lang="zh-CN" altLang="en-US" sz="2000" b="1" dirty="0" smtClean="0">
                <a:latin typeface="Times New Roman"/>
                <a:cs typeface="Times New Roman"/>
              </a:rPr>
              <a:t>工作原理：先积分、后调相</a:t>
            </a:r>
            <a:endParaRPr lang="en-US" altLang="zh-CN" sz="2000" b="1" dirty="0">
              <a:latin typeface="Times New Roman"/>
              <a:cs typeface="Times New Roman"/>
            </a:endParaRPr>
          </a:p>
        </p:txBody>
      </p:sp>
      <p:pic>
        <p:nvPicPr>
          <p:cNvPr id="12" name="Picture 29" descr="间接调频原理"/>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9992" y="3861048"/>
            <a:ext cx="4104456" cy="2492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5774232"/>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93</a:t>
            </a:fld>
            <a:endParaRPr lang="en-US" altLang="zh-CN" dirty="0">
              <a:solidFill>
                <a:srgbClr val="000000"/>
              </a:solidFill>
            </a:endParaRPr>
          </a:p>
        </p:txBody>
      </p:sp>
      <p:sp>
        <p:nvSpPr>
          <p:cNvPr id="6" name="TextBox 5"/>
          <p:cNvSpPr txBox="1"/>
          <p:nvPr/>
        </p:nvSpPr>
        <p:spPr>
          <a:xfrm>
            <a:off x="539552" y="404664"/>
            <a:ext cx="3438762" cy="369332"/>
          </a:xfrm>
          <a:prstGeom prst="rect">
            <a:avLst/>
          </a:prstGeom>
          <a:noFill/>
        </p:spPr>
        <p:txBody>
          <a:bodyPr wrap="none" rtlCol="0">
            <a:spAutoFit/>
          </a:bodyPr>
          <a:lstStyle/>
          <a:p>
            <a:r>
              <a:rPr lang="zh-CN" altLang="en-US" b="1" dirty="0" smtClean="0"/>
              <a:t>六、扩展最大角频率偏移的方法</a:t>
            </a:r>
            <a:endParaRPr lang="zh-CN" altLang="en-US" b="1" dirty="0"/>
          </a:p>
        </p:txBody>
      </p:sp>
      <p:sp>
        <p:nvSpPr>
          <p:cNvPr id="7" name="TextBox 6"/>
          <p:cNvSpPr txBox="1"/>
          <p:nvPr/>
        </p:nvSpPr>
        <p:spPr>
          <a:xfrm>
            <a:off x="683568" y="773175"/>
            <a:ext cx="1345240" cy="495585"/>
          </a:xfrm>
          <a:prstGeom prst="rect">
            <a:avLst/>
          </a:prstGeom>
          <a:noFill/>
        </p:spPr>
        <p:txBody>
          <a:bodyPr wrap="none" rtlCol="0">
            <a:spAutoFit/>
          </a:bodyPr>
          <a:lstStyle/>
          <a:p>
            <a:pPr>
              <a:lnSpc>
                <a:spcPct val="150000"/>
              </a:lnSpc>
            </a:pPr>
            <a:r>
              <a:rPr lang="en-US" altLang="zh-CN" sz="2000" b="1" dirty="0" smtClean="0">
                <a:solidFill>
                  <a:srgbClr val="0070C0"/>
                </a:solidFill>
                <a:latin typeface="Times New Roman" panose="02020603050405020304" pitchFamily="18" charset="0"/>
                <a:cs typeface="Times New Roman" panose="02020603050405020304" pitchFamily="18" charset="0"/>
              </a:rPr>
              <a:t>1</a:t>
            </a:r>
            <a:r>
              <a:rPr lang="zh-CN" altLang="en-US" sz="2000" b="1" dirty="0" smtClean="0">
                <a:solidFill>
                  <a:srgbClr val="0070C0"/>
                </a:solidFill>
                <a:latin typeface="Times New Roman" panose="02020603050405020304" pitchFamily="18" charset="0"/>
                <a:cs typeface="Times New Roman" panose="02020603050405020304" pitchFamily="18" charset="0"/>
              </a:rPr>
              <a:t>、倍频器</a:t>
            </a:r>
            <a:endParaRPr lang="en-US" altLang="zh-CN" sz="2000" b="1" dirty="0" smtClean="0">
              <a:solidFill>
                <a:srgbClr val="0070C0"/>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683568" y="1916832"/>
            <a:ext cx="1345240" cy="553998"/>
          </a:xfrm>
          <a:prstGeom prst="rect">
            <a:avLst/>
          </a:prstGeom>
          <a:noFill/>
        </p:spPr>
        <p:txBody>
          <a:bodyPr wrap="none" rtlCol="0">
            <a:spAutoFit/>
          </a:bodyPr>
          <a:lstStyle/>
          <a:p>
            <a:pPr>
              <a:lnSpc>
                <a:spcPct val="150000"/>
              </a:lnSpc>
            </a:pPr>
            <a:r>
              <a:rPr lang="en-US" altLang="zh-CN" sz="2000" b="1" dirty="0">
                <a:solidFill>
                  <a:srgbClr val="0070C0"/>
                </a:solidFill>
                <a:latin typeface="Times New Roman" panose="02020603050405020304" pitchFamily="18" charset="0"/>
                <a:cs typeface="Times New Roman" panose="02020603050405020304" pitchFamily="18" charset="0"/>
              </a:rPr>
              <a:t>2</a:t>
            </a:r>
            <a:r>
              <a:rPr lang="zh-CN" altLang="en-US" sz="2000" b="1" dirty="0" smtClean="0">
                <a:solidFill>
                  <a:srgbClr val="0070C0"/>
                </a:solidFill>
                <a:latin typeface="Times New Roman" panose="02020603050405020304" pitchFamily="18" charset="0"/>
                <a:cs typeface="Times New Roman" panose="02020603050405020304" pitchFamily="18" charset="0"/>
              </a:rPr>
              <a:t>、混频器</a:t>
            </a:r>
            <a:endParaRPr lang="en-US" altLang="zh-CN" sz="2000" b="1" dirty="0" smtClean="0">
              <a:solidFill>
                <a:srgbClr val="0070C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827212" y="1290826"/>
            <a:ext cx="3744416" cy="55399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l-GR" altLang="zh-CN" sz="2000" b="1" dirty="0" smtClean="0">
                <a:solidFill>
                  <a:srgbClr val="FF0000"/>
                </a:solidFill>
                <a:latin typeface="Times New Roman"/>
                <a:cs typeface="Times New Roman"/>
              </a:rPr>
              <a:t>ω</a:t>
            </a:r>
            <a:r>
              <a:rPr lang="en-US" altLang="zh-CN" sz="2000" b="1" baseline="-25000" dirty="0" smtClean="0">
                <a:solidFill>
                  <a:srgbClr val="FF0000"/>
                </a:solidFill>
                <a:latin typeface="Times New Roman"/>
                <a:cs typeface="Times New Roman"/>
              </a:rPr>
              <a:t>c</a:t>
            </a:r>
            <a:r>
              <a:rPr lang="zh-CN" altLang="en-US" sz="2000" b="1" dirty="0" smtClean="0">
                <a:solidFill>
                  <a:srgbClr val="FF0000"/>
                </a:solidFill>
                <a:latin typeface="Times New Roman"/>
                <a:cs typeface="Times New Roman"/>
              </a:rPr>
              <a:t>和</a:t>
            </a:r>
            <a:r>
              <a:rPr lang="el-GR" altLang="zh-CN" sz="2000" b="1" dirty="0" smtClean="0">
                <a:solidFill>
                  <a:srgbClr val="FF0000"/>
                </a:solidFill>
                <a:latin typeface="Times New Roman"/>
                <a:cs typeface="Times New Roman"/>
              </a:rPr>
              <a:t>∆ω</a:t>
            </a:r>
            <a:r>
              <a:rPr lang="en-US" altLang="zh-CN" sz="2000" b="1" baseline="-25000" dirty="0" smtClean="0">
                <a:solidFill>
                  <a:srgbClr val="FF0000"/>
                </a:solidFill>
                <a:latin typeface="Times New Roman"/>
                <a:cs typeface="Times New Roman"/>
              </a:rPr>
              <a:t>m</a:t>
            </a:r>
            <a:r>
              <a:rPr lang="zh-CN" altLang="en-US" sz="2000" b="1" dirty="0" smtClean="0">
                <a:solidFill>
                  <a:srgbClr val="FF0000"/>
                </a:solidFill>
              </a:rPr>
              <a:t>均可提高</a:t>
            </a:r>
            <a:r>
              <a:rPr lang="en-US" altLang="zh-CN" sz="2000" b="1" dirty="0" smtClean="0">
                <a:solidFill>
                  <a:srgbClr val="FF0000"/>
                </a:solidFill>
              </a:rPr>
              <a:t>n</a:t>
            </a:r>
            <a:r>
              <a:rPr lang="zh-CN" altLang="en-US" sz="2000" b="1" dirty="0" smtClean="0">
                <a:solidFill>
                  <a:srgbClr val="FF0000"/>
                </a:solidFill>
              </a:rPr>
              <a:t>倍</a:t>
            </a:r>
            <a:r>
              <a:rPr lang="zh-CN" altLang="en-US" sz="2000" b="1" dirty="0" smtClean="0">
                <a:solidFill>
                  <a:srgbClr val="0070C0"/>
                </a:solidFill>
              </a:rPr>
              <a:t>，</a:t>
            </a:r>
            <a:endParaRPr lang="en-US" altLang="zh-CN" sz="2000" b="1" dirty="0" smtClean="0">
              <a:solidFill>
                <a:srgbClr val="0070C0"/>
              </a:solidFill>
            </a:endParaRPr>
          </a:p>
        </p:txBody>
      </p:sp>
      <p:sp>
        <p:nvSpPr>
          <p:cNvPr id="14" name="TextBox 13"/>
          <p:cNvSpPr txBox="1"/>
          <p:nvPr/>
        </p:nvSpPr>
        <p:spPr>
          <a:xfrm>
            <a:off x="827584" y="2492896"/>
            <a:ext cx="6696744" cy="4955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b="1" dirty="0" smtClean="0">
                <a:solidFill>
                  <a:srgbClr val="FF0000"/>
                </a:solidFill>
                <a:latin typeface="Times New Roman"/>
                <a:cs typeface="Times New Roman"/>
              </a:rPr>
              <a:t>根据上混频、下混频，通过</a:t>
            </a:r>
            <a:r>
              <a:rPr lang="el-GR" altLang="zh-CN" sz="2000" b="1" dirty="0" smtClean="0">
                <a:solidFill>
                  <a:srgbClr val="FF0000"/>
                </a:solidFill>
                <a:latin typeface="Times New Roman"/>
                <a:cs typeface="Times New Roman"/>
              </a:rPr>
              <a:t>ω</a:t>
            </a:r>
            <a:r>
              <a:rPr lang="en-US" altLang="zh-CN" sz="2000" b="1" baseline="-25000" dirty="0" smtClean="0">
                <a:solidFill>
                  <a:srgbClr val="FF0000"/>
                </a:solidFill>
                <a:latin typeface="Times New Roman"/>
                <a:cs typeface="Times New Roman"/>
              </a:rPr>
              <a:t>L</a:t>
            </a:r>
            <a:r>
              <a:rPr lang="zh-CN" altLang="en-US" sz="2000" b="1" dirty="0" smtClean="0">
                <a:solidFill>
                  <a:srgbClr val="FF0000"/>
                </a:solidFill>
                <a:latin typeface="Times New Roman"/>
                <a:cs typeface="Times New Roman"/>
              </a:rPr>
              <a:t>改变</a:t>
            </a:r>
            <a:r>
              <a:rPr lang="el-GR" altLang="zh-CN" sz="2000" b="1" dirty="0" smtClean="0">
                <a:solidFill>
                  <a:srgbClr val="FF0000"/>
                </a:solidFill>
                <a:latin typeface="Times New Roman"/>
                <a:cs typeface="Times New Roman"/>
              </a:rPr>
              <a:t>ω</a:t>
            </a:r>
            <a:r>
              <a:rPr lang="en-US" altLang="zh-CN" sz="2000" b="1" baseline="-25000" dirty="0" smtClean="0">
                <a:solidFill>
                  <a:srgbClr val="FF0000"/>
                </a:solidFill>
                <a:latin typeface="Times New Roman"/>
                <a:cs typeface="Times New Roman"/>
              </a:rPr>
              <a:t>c</a:t>
            </a:r>
            <a:endParaRPr lang="en-US" altLang="zh-CN" sz="2000" b="1" dirty="0" smtClean="0">
              <a:solidFill>
                <a:srgbClr val="0070C0"/>
              </a:solidFill>
            </a:endParaRPr>
          </a:p>
        </p:txBody>
      </p:sp>
      <p:sp>
        <p:nvSpPr>
          <p:cNvPr id="5" name="TextBox 4"/>
          <p:cNvSpPr txBox="1"/>
          <p:nvPr/>
        </p:nvSpPr>
        <p:spPr>
          <a:xfrm>
            <a:off x="755576" y="3212976"/>
            <a:ext cx="5827236" cy="400110"/>
          </a:xfrm>
          <a:prstGeom prst="rect">
            <a:avLst/>
          </a:prstGeom>
          <a:noFill/>
        </p:spPr>
        <p:txBody>
          <a:bodyPr wrap="none" rtlCol="0">
            <a:spAutoFit/>
          </a:bodyPr>
          <a:lstStyle/>
          <a:p>
            <a:r>
              <a:rPr lang="zh-CN" altLang="en-US" sz="2000" b="1" dirty="0" smtClean="0">
                <a:solidFill>
                  <a:srgbClr val="0070C0"/>
                </a:solidFill>
              </a:rPr>
              <a:t>可根据调频设备组成框图分析输入输出频率关系：</a:t>
            </a:r>
            <a:endParaRPr lang="zh-CN" altLang="en-US" sz="2000" b="1" dirty="0">
              <a:solidFill>
                <a:srgbClr val="0070C0"/>
              </a:solidFill>
            </a:endParaRPr>
          </a:p>
        </p:txBody>
      </p:sp>
      <p:pic>
        <p:nvPicPr>
          <p:cNvPr id="15" name="Picture 5" descr="扩展频偏"/>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3717032"/>
            <a:ext cx="5904656" cy="2896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137847"/>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94</a:t>
            </a:fld>
            <a:endParaRPr lang="en-US" altLang="zh-CN" dirty="0">
              <a:solidFill>
                <a:srgbClr val="000000"/>
              </a:solidFill>
            </a:endParaRPr>
          </a:p>
        </p:txBody>
      </p:sp>
      <p:sp>
        <p:nvSpPr>
          <p:cNvPr id="6" name="TextBox 5"/>
          <p:cNvSpPr txBox="1"/>
          <p:nvPr/>
        </p:nvSpPr>
        <p:spPr>
          <a:xfrm>
            <a:off x="539552" y="404664"/>
            <a:ext cx="1579278" cy="369332"/>
          </a:xfrm>
          <a:prstGeom prst="rect">
            <a:avLst/>
          </a:prstGeom>
          <a:noFill/>
        </p:spPr>
        <p:txBody>
          <a:bodyPr wrap="none" rtlCol="0">
            <a:spAutoFit/>
          </a:bodyPr>
          <a:lstStyle/>
          <a:p>
            <a:r>
              <a:rPr lang="zh-CN" altLang="en-US" b="1" dirty="0"/>
              <a:t>七</a:t>
            </a:r>
            <a:r>
              <a:rPr lang="zh-CN" altLang="en-US" b="1" dirty="0" smtClean="0"/>
              <a:t>、鉴频电路</a:t>
            </a:r>
            <a:endParaRPr lang="zh-CN" altLang="en-US" b="1" dirty="0"/>
          </a:p>
        </p:txBody>
      </p:sp>
      <p:sp>
        <p:nvSpPr>
          <p:cNvPr id="7" name="TextBox 6"/>
          <p:cNvSpPr txBox="1"/>
          <p:nvPr/>
        </p:nvSpPr>
        <p:spPr>
          <a:xfrm>
            <a:off x="683568" y="773175"/>
            <a:ext cx="1861407" cy="553998"/>
          </a:xfrm>
          <a:prstGeom prst="rect">
            <a:avLst/>
          </a:prstGeom>
          <a:noFill/>
        </p:spPr>
        <p:txBody>
          <a:bodyPr wrap="none" rtlCol="0">
            <a:spAutoFit/>
          </a:bodyPr>
          <a:lstStyle/>
          <a:p>
            <a:pPr>
              <a:lnSpc>
                <a:spcPct val="150000"/>
              </a:lnSpc>
            </a:pPr>
            <a:r>
              <a:rPr lang="en-US" altLang="zh-CN" sz="2000" b="1" dirty="0" smtClean="0">
                <a:solidFill>
                  <a:srgbClr val="0070C0"/>
                </a:solidFill>
                <a:latin typeface="Times New Roman" panose="02020603050405020304" pitchFamily="18" charset="0"/>
                <a:cs typeface="Times New Roman" panose="02020603050405020304" pitchFamily="18" charset="0"/>
              </a:rPr>
              <a:t>1</a:t>
            </a:r>
            <a:r>
              <a:rPr lang="zh-CN" altLang="en-US" sz="2000" b="1" dirty="0" smtClean="0">
                <a:solidFill>
                  <a:srgbClr val="0070C0"/>
                </a:solidFill>
                <a:latin typeface="Times New Roman" panose="02020603050405020304" pitchFamily="18" charset="0"/>
                <a:cs typeface="Times New Roman" panose="02020603050405020304" pitchFamily="18" charset="0"/>
              </a:rPr>
              <a:t>、斜率鉴频器</a:t>
            </a:r>
            <a:endParaRPr lang="en-US" altLang="zh-CN" sz="2000" b="1" dirty="0" smtClean="0">
              <a:solidFill>
                <a:srgbClr val="0070C0"/>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683568" y="3595082"/>
            <a:ext cx="1861407" cy="553998"/>
          </a:xfrm>
          <a:prstGeom prst="rect">
            <a:avLst/>
          </a:prstGeom>
          <a:noFill/>
        </p:spPr>
        <p:txBody>
          <a:bodyPr wrap="none" rtlCol="0">
            <a:spAutoFit/>
          </a:bodyPr>
          <a:lstStyle/>
          <a:p>
            <a:pPr>
              <a:lnSpc>
                <a:spcPct val="150000"/>
              </a:lnSpc>
            </a:pPr>
            <a:r>
              <a:rPr lang="en-US" altLang="zh-CN" sz="2000" b="1" dirty="0">
                <a:solidFill>
                  <a:srgbClr val="0070C0"/>
                </a:solidFill>
                <a:latin typeface="Times New Roman" panose="02020603050405020304" pitchFamily="18" charset="0"/>
                <a:cs typeface="Times New Roman" panose="02020603050405020304" pitchFamily="18" charset="0"/>
              </a:rPr>
              <a:t>2</a:t>
            </a:r>
            <a:r>
              <a:rPr lang="zh-CN" altLang="en-US" sz="2000" b="1" dirty="0" smtClean="0">
                <a:solidFill>
                  <a:srgbClr val="0070C0"/>
                </a:solidFill>
                <a:latin typeface="Times New Roman" panose="02020603050405020304" pitchFamily="18" charset="0"/>
                <a:cs typeface="Times New Roman" panose="02020603050405020304" pitchFamily="18" charset="0"/>
              </a:rPr>
              <a:t>、相位鉴频器</a:t>
            </a:r>
            <a:endParaRPr lang="en-US" altLang="zh-CN" sz="2000" b="1" dirty="0" smtClean="0">
              <a:solidFill>
                <a:srgbClr val="0070C0"/>
              </a:solidFill>
              <a:latin typeface="Times New Roman" panose="02020603050405020304" pitchFamily="18" charset="0"/>
              <a:cs typeface="Times New Roman" panose="02020603050405020304" pitchFamily="18" charset="0"/>
            </a:endParaRPr>
          </a:p>
        </p:txBody>
      </p:sp>
      <p:pic>
        <p:nvPicPr>
          <p:cNvPr id="11" name="Picture 6" descr="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9693" y="1583631"/>
            <a:ext cx="6924675" cy="155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AutoShape 8"/>
          <p:cNvSpPr>
            <a:spLocks noChangeArrowheads="1"/>
          </p:cNvSpPr>
          <p:nvPr/>
        </p:nvSpPr>
        <p:spPr bwMode="auto">
          <a:xfrm>
            <a:off x="3491012" y="1182142"/>
            <a:ext cx="3097212" cy="374650"/>
          </a:xfrm>
          <a:prstGeom prst="wedgeRectCallout">
            <a:avLst>
              <a:gd name="adj1" fmla="val -24270"/>
              <a:gd name="adj2" fmla="val 227396"/>
            </a:avLst>
          </a:prstGeom>
          <a:solidFill>
            <a:srgbClr val="FFCCCC"/>
          </a:solidFill>
          <a:ln w="9525">
            <a:solidFill>
              <a:schemeClr val="tx1"/>
            </a:solidFill>
            <a:miter lim="800000"/>
            <a:headEnd/>
            <a:tailEnd/>
          </a:ln>
        </p:spPr>
        <p:txBody>
          <a:bodyPr lIns="0" tIns="0" rIns="0" bIns="0">
            <a:spAutoFit/>
          </a:bodyPr>
          <a:lstStyle>
            <a:lvl1pPr eaLnBrk="0" hangingPunct="0">
              <a:defRPr sz="2000" b="1">
                <a:solidFill>
                  <a:srgbClr val="003399"/>
                </a:solidFill>
                <a:latin typeface="Times New Roman" pitchFamily="18" charset="0"/>
                <a:ea typeface="黑体" pitchFamily="2" charset="-122"/>
              </a:defRPr>
            </a:lvl1pPr>
            <a:lvl2pPr marL="742950" indent="-285750" eaLnBrk="0" hangingPunct="0">
              <a:defRPr sz="2000" b="1">
                <a:solidFill>
                  <a:srgbClr val="003399"/>
                </a:solidFill>
                <a:latin typeface="Times New Roman" pitchFamily="18" charset="0"/>
                <a:ea typeface="黑体" pitchFamily="2" charset="-122"/>
              </a:defRPr>
            </a:lvl2pPr>
            <a:lvl3pPr marL="1143000" indent="-228600" eaLnBrk="0" hangingPunct="0">
              <a:defRPr sz="2000" b="1">
                <a:solidFill>
                  <a:srgbClr val="003399"/>
                </a:solidFill>
                <a:latin typeface="Times New Roman" pitchFamily="18" charset="0"/>
                <a:ea typeface="黑体" pitchFamily="2" charset="-122"/>
              </a:defRPr>
            </a:lvl3pPr>
            <a:lvl4pPr marL="1600200" indent="-228600" eaLnBrk="0" hangingPunct="0">
              <a:defRPr sz="2000" b="1">
                <a:solidFill>
                  <a:srgbClr val="003399"/>
                </a:solidFill>
                <a:latin typeface="Times New Roman" pitchFamily="18" charset="0"/>
                <a:ea typeface="黑体" pitchFamily="2" charset="-122"/>
              </a:defRPr>
            </a:lvl4pPr>
            <a:lvl5pPr marL="2057400" indent="-228600" eaLnBrk="0" hangingPunct="0">
              <a:defRPr sz="2000" b="1">
                <a:solidFill>
                  <a:srgbClr val="003399"/>
                </a:solidFill>
                <a:latin typeface="Times New Roman" pitchFamily="18" charset="0"/>
                <a:ea typeface="黑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2" charset="-122"/>
              </a:defRPr>
            </a:lvl9pPr>
          </a:lstStyle>
          <a:p>
            <a:pPr algn="l" eaLnBrk="1" hangingPunct="1">
              <a:spcBef>
                <a:spcPct val="0"/>
              </a:spcBef>
              <a:buClrTx/>
              <a:buSzTx/>
              <a:buFontTx/>
              <a:buNone/>
            </a:pPr>
            <a:r>
              <a:rPr kumimoji="1" lang="zh-CN" altLang="en-US" sz="2400" dirty="0">
                <a:solidFill>
                  <a:schemeClr val="tx1"/>
                </a:solidFill>
                <a:latin typeface="宋体" pitchFamily="2" charset="-122"/>
                <a:ea typeface="宋体" pitchFamily="2" charset="-122"/>
              </a:rPr>
              <a:t>调幅</a:t>
            </a:r>
            <a:r>
              <a:rPr kumimoji="1" lang="en-US" altLang="zh-CN" sz="2400" dirty="0">
                <a:solidFill>
                  <a:schemeClr val="tx1"/>
                </a:solidFill>
                <a:latin typeface="宋体" pitchFamily="2" charset="-122"/>
                <a:ea typeface="宋体" pitchFamily="2" charset="-122"/>
              </a:rPr>
              <a:t>-</a:t>
            </a:r>
            <a:r>
              <a:rPr kumimoji="1" lang="zh-CN" altLang="en-US" sz="2400" dirty="0">
                <a:solidFill>
                  <a:schemeClr val="tx1"/>
                </a:solidFill>
                <a:latin typeface="宋体" pitchFamily="2" charset="-122"/>
                <a:ea typeface="宋体" pitchFamily="2" charset="-122"/>
              </a:rPr>
              <a:t>调频波</a:t>
            </a:r>
            <a:r>
              <a:rPr kumimoji="1" lang="en-US" altLang="zh-CN" sz="2400" dirty="0">
                <a:solidFill>
                  <a:schemeClr val="tx1"/>
                </a:solidFill>
                <a:latin typeface="宋体" pitchFamily="2" charset="-122"/>
                <a:ea typeface="宋体" pitchFamily="2" charset="-122"/>
              </a:rPr>
              <a:t>(AM-FM)</a:t>
            </a:r>
            <a:endParaRPr kumimoji="1" lang="el-GR" altLang="zh-CN" sz="2400" dirty="0">
              <a:solidFill>
                <a:schemeClr val="tx1"/>
              </a:solidFill>
              <a:latin typeface="宋体" pitchFamily="2" charset="-122"/>
              <a:ea typeface="宋体" pitchFamily="2" charset="-122"/>
            </a:endParaRPr>
          </a:p>
        </p:txBody>
      </p:sp>
      <p:pic>
        <p:nvPicPr>
          <p:cNvPr id="16" name="Picture 7" descr="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4694386"/>
            <a:ext cx="6884987" cy="175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AutoShape 8"/>
          <p:cNvSpPr>
            <a:spLocks noChangeArrowheads="1"/>
          </p:cNvSpPr>
          <p:nvPr/>
        </p:nvSpPr>
        <p:spPr bwMode="auto">
          <a:xfrm>
            <a:off x="3563888" y="4062462"/>
            <a:ext cx="3097212" cy="374650"/>
          </a:xfrm>
          <a:prstGeom prst="wedgeRectCallout">
            <a:avLst>
              <a:gd name="adj1" fmla="val -24270"/>
              <a:gd name="adj2" fmla="val 227396"/>
            </a:avLst>
          </a:prstGeom>
          <a:solidFill>
            <a:srgbClr val="FFCCCC"/>
          </a:solidFill>
          <a:ln w="9525">
            <a:solidFill>
              <a:schemeClr val="tx1"/>
            </a:solidFill>
            <a:miter lim="800000"/>
            <a:headEnd/>
            <a:tailEnd/>
          </a:ln>
        </p:spPr>
        <p:txBody>
          <a:bodyPr lIns="0" tIns="0" rIns="0" bIns="0">
            <a:spAutoFit/>
          </a:bodyPr>
          <a:lstStyle>
            <a:lvl1pPr eaLnBrk="0" hangingPunct="0">
              <a:defRPr sz="2000" b="1">
                <a:solidFill>
                  <a:srgbClr val="003399"/>
                </a:solidFill>
                <a:latin typeface="Times New Roman" pitchFamily="18" charset="0"/>
                <a:ea typeface="黑体" pitchFamily="2" charset="-122"/>
              </a:defRPr>
            </a:lvl1pPr>
            <a:lvl2pPr marL="742950" indent="-285750" eaLnBrk="0" hangingPunct="0">
              <a:defRPr sz="2000" b="1">
                <a:solidFill>
                  <a:srgbClr val="003399"/>
                </a:solidFill>
                <a:latin typeface="Times New Roman" pitchFamily="18" charset="0"/>
                <a:ea typeface="黑体" pitchFamily="2" charset="-122"/>
              </a:defRPr>
            </a:lvl2pPr>
            <a:lvl3pPr marL="1143000" indent="-228600" eaLnBrk="0" hangingPunct="0">
              <a:defRPr sz="2000" b="1">
                <a:solidFill>
                  <a:srgbClr val="003399"/>
                </a:solidFill>
                <a:latin typeface="Times New Roman" pitchFamily="18" charset="0"/>
                <a:ea typeface="黑体" pitchFamily="2" charset="-122"/>
              </a:defRPr>
            </a:lvl3pPr>
            <a:lvl4pPr marL="1600200" indent="-228600" eaLnBrk="0" hangingPunct="0">
              <a:defRPr sz="2000" b="1">
                <a:solidFill>
                  <a:srgbClr val="003399"/>
                </a:solidFill>
                <a:latin typeface="Times New Roman" pitchFamily="18" charset="0"/>
                <a:ea typeface="黑体" pitchFamily="2" charset="-122"/>
              </a:defRPr>
            </a:lvl4pPr>
            <a:lvl5pPr marL="2057400" indent="-228600" eaLnBrk="0" hangingPunct="0">
              <a:defRPr sz="2000" b="1">
                <a:solidFill>
                  <a:srgbClr val="003399"/>
                </a:solidFill>
                <a:latin typeface="Times New Roman" pitchFamily="18" charset="0"/>
                <a:ea typeface="黑体" pitchFamily="2" charset="-122"/>
              </a:defRPr>
            </a:lvl5pPr>
            <a:lvl6pPr marL="25146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2" charset="-122"/>
              </a:defRPr>
            </a:lvl6pPr>
            <a:lvl7pPr marL="29718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2" charset="-122"/>
              </a:defRPr>
            </a:lvl7pPr>
            <a:lvl8pPr marL="34290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2" charset="-122"/>
              </a:defRPr>
            </a:lvl8pPr>
            <a:lvl9pPr marL="3886200" indent="-228600" algn="ctr" eaLnBrk="0" fontAlgn="base" hangingPunct="0">
              <a:spcBef>
                <a:spcPct val="20000"/>
              </a:spcBef>
              <a:spcAft>
                <a:spcPct val="0"/>
              </a:spcAft>
              <a:buClr>
                <a:schemeClr val="accent2"/>
              </a:buClr>
              <a:buSzPct val="70000"/>
              <a:buFont typeface="Wingdings" pitchFamily="2" charset="2"/>
              <a:buChar char="l"/>
              <a:defRPr sz="2000" b="1">
                <a:solidFill>
                  <a:srgbClr val="003399"/>
                </a:solidFill>
                <a:latin typeface="Times New Roman" pitchFamily="18" charset="0"/>
                <a:ea typeface="黑体" pitchFamily="2" charset="-122"/>
              </a:defRPr>
            </a:lvl9pPr>
          </a:lstStyle>
          <a:p>
            <a:pPr algn="l" eaLnBrk="1" hangingPunct="1">
              <a:spcBef>
                <a:spcPct val="0"/>
              </a:spcBef>
              <a:buClrTx/>
              <a:buSzTx/>
              <a:buFontTx/>
              <a:buNone/>
            </a:pPr>
            <a:r>
              <a:rPr kumimoji="1" lang="zh-CN" altLang="en-US" sz="2400" dirty="0" smtClean="0">
                <a:solidFill>
                  <a:schemeClr val="tx1"/>
                </a:solidFill>
                <a:latin typeface="宋体" pitchFamily="2" charset="-122"/>
                <a:ea typeface="宋体" pitchFamily="2" charset="-122"/>
              </a:rPr>
              <a:t>调频</a:t>
            </a:r>
            <a:r>
              <a:rPr kumimoji="1" lang="en-US" altLang="zh-CN" sz="2400" dirty="0" smtClean="0">
                <a:solidFill>
                  <a:schemeClr val="tx1"/>
                </a:solidFill>
                <a:latin typeface="宋体" pitchFamily="2" charset="-122"/>
                <a:ea typeface="宋体" pitchFamily="2" charset="-122"/>
              </a:rPr>
              <a:t>-</a:t>
            </a:r>
            <a:r>
              <a:rPr kumimoji="1" lang="zh-CN" altLang="en-US" sz="2400" dirty="0" smtClean="0">
                <a:solidFill>
                  <a:schemeClr val="tx1"/>
                </a:solidFill>
                <a:latin typeface="宋体" pitchFamily="2" charset="-122"/>
                <a:ea typeface="宋体" pitchFamily="2" charset="-122"/>
              </a:rPr>
              <a:t>调相波</a:t>
            </a:r>
            <a:r>
              <a:rPr kumimoji="1" lang="en-US" altLang="zh-CN" sz="2400" dirty="0" smtClean="0">
                <a:solidFill>
                  <a:schemeClr val="tx1"/>
                </a:solidFill>
                <a:latin typeface="宋体" pitchFamily="2" charset="-122"/>
                <a:ea typeface="宋体" pitchFamily="2" charset="-122"/>
              </a:rPr>
              <a:t>(FM-PM</a:t>
            </a:r>
            <a:r>
              <a:rPr kumimoji="1" lang="en-US" altLang="zh-CN" sz="2400" dirty="0">
                <a:solidFill>
                  <a:schemeClr val="tx1"/>
                </a:solidFill>
                <a:latin typeface="宋体" pitchFamily="2" charset="-122"/>
                <a:ea typeface="宋体" pitchFamily="2" charset="-122"/>
              </a:rPr>
              <a:t>)</a:t>
            </a:r>
            <a:endParaRPr kumimoji="1" lang="el-GR" altLang="zh-CN" sz="2400" dirty="0">
              <a:solidFill>
                <a:schemeClr val="tx1"/>
              </a:solidFill>
              <a:latin typeface="宋体" pitchFamily="2" charset="-122"/>
              <a:ea typeface="宋体" pitchFamily="2" charset="-122"/>
            </a:endParaRPr>
          </a:p>
        </p:txBody>
      </p:sp>
    </p:spTree>
    <p:extLst>
      <p:ext uri="{BB962C8B-B14F-4D97-AF65-F5344CB8AC3E}">
        <p14:creationId xmlns:p14="http://schemas.microsoft.com/office/powerpoint/2010/main" val="1693090401"/>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95</a:t>
            </a:fld>
            <a:endParaRPr lang="en-US" altLang="zh-CN" dirty="0">
              <a:solidFill>
                <a:srgbClr val="000000"/>
              </a:solidFill>
            </a:endParaRPr>
          </a:p>
        </p:txBody>
      </p:sp>
      <p:sp>
        <p:nvSpPr>
          <p:cNvPr id="21" name="内容占位符 20"/>
          <p:cNvSpPr>
            <a:spLocks noGrp="1"/>
          </p:cNvSpPr>
          <p:nvPr>
            <p:ph idx="1"/>
          </p:nvPr>
        </p:nvSpPr>
        <p:spPr>
          <a:xfrm>
            <a:off x="395536" y="260648"/>
            <a:ext cx="1440160" cy="504056"/>
          </a:xfrm>
          <a:solidFill>
            <a:srgbClr val="862714"/>
          </a:solidFill>
        </p:spPr>
        <p:txBody>
          <a:bodyPr anchor="ctr"/>
          <a:lstStyle/>
          <a:p>
            <a:pPr>
              <a:buClr>
                <a:schemeClr val="bg1"/>
              </a:buClr>
              <a:buFont typeface="Wingdings" panose="05000000000000000000" pitchFamily="2" charset="2"/>
              <a:buChar char="l"/>
            </a:pPr>
            <a:r>
              <a:rPr lang="zh-CN" altLang="en-US" sz="2400" dirty="0" smtClean="0">
                <a:solidFill>
                  <a:schemeClr val="bg1"/>
                </a:solidFill>
                <a:latin typeface="Garamond"/>
                <a:ea typeface="华文行楷"/>
                <a:cs typeface="+mj-cs"/>
              </a:rPr>
              <a:t>练习</a:t>
            </a:r>
            <a:endParaRPr lang="zh-CN" altLang="en-US" sz="2400" dirty="0"/>
          </a:p>
        </p:txBody>
      </p:sp>
      <p:sp>
        <p:nvSpPr>
          <p:cNvPr id="2" name="TextBox 1"/>
          <p:cNvSpPr txBox="1"/>
          <p:nvPr/>
        </p:nvSpPr>
        <p:spPr>
          <a:xfrm>
            <a:off x="11844808" y="2924944"/>
            <a:ext cx="184731" cy="369332"/>
          </a:xfrm>
          <a:prstGeom prst="rect">
            <a:avLst/>
          </a:prstGeom>
          <a:noFill/>
        </p:spPr>
        <p:txBody>
          <a:bodyPr wrap="none" rtlCol="0">
            <a:spAutoFit/>
          </a:bodyPr>
          <a:lstStyle/>
          <a:p>
            <a:endParaRPr lang="zh-CN" altLang="en-US" dirty="0"/>
          </a:p>
        </p:txBody>
      </p:sp>
      <p:sp>
        <p:nvSpPr>
          <p:cNvPr id="9" name="Rectangle 3"/>
          <p:cNvSpPr txBox="1">
            <a:spLocks noChangeArrowheads="1"/>
          </p:cNvSpPr>
          <p:nvPr/>
        </p:nvSpPr>
        <p:spPr bwMode="auto">
          <a:xfrm>
            <a:off x="251520" y="692696"/>
            <a:ext cx="8712968" cy="6165304"/>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marL="261938" indent="-261938" eaLnBrk="1" hangingPunct="1">
              <a:lnSpc>
                <a:spcPct val="200000"/>
              </a:lnSpc>
              <a:buClr>
                <a:srgbClr val="FF00FF"/>
              </a:buClr>
              <a:buFont typeface="Wingdings" pitchFamily="2" charset="2"/>
              <a:buChar char="u"/>
              <a:tabLst>
                <a:tab pos="1139825" algn="l"/>
              </a:tabLst>
              <a:defRPr/>
            </a:pPr>
            <a:r>
              <a:rPr lang="zh-CN" altLang="en-US" sz="2000" b="1" kern="0" dirty="0" smtClean="0">
                <a:latin typeface="+mn-ea"/>
              </a:rPr>
              <a:t>如果高频振荡器的</a:t>
            </a:r>
            <a:r>
              <a:rPr lang="zh-CN" altLang="en-US" sz="2000" b="1" u="sng" kern="0" dirty="0" smtClean="0">
                <a:latin typeface="+mn-ea"/>
              </a:rPr>
              <a:t>                    </a:t>
            </a:r>
            <a:r>
              <a:rPr lang="zh-CN" altLang="en-US" sz="2000" b="1" kern="0" dirty="0" smtClean="0">
                <a:latin typeface="+mn-ea"/>
              </a:rPr>
              <a:t>和调制信号成正比，则称调频。</a:t>
            </a:r>
          </a:p>
          <a:p>
            <a:pPr marL="261938" indent="-261938" eaLnBrk="1" hangingPunct="1">
              <a:lnSpc>
                <a:spcPct val="200000"/>
              </a:lnSpc>
              <a:buClr>
                <a:srgbClr val="FF00FF"/>
              </a:buClr>
              <a:buFont typeface="Wingdings" pitchFamily="2" charset="2"/>
              <a:buChar char="u"/>
              <a:tabLst>
                <a:tab pos="1139825" algn="l"/>
              </a:tabLst>
              <a:defRPr/>
            </a:pPr>
            <a:r>
              <a:rPr lang="zh-CN" altLang="en-US" sz="2000" b="1" kern="0" dirty="0" smtClean="0">
                <a:latin typeface="+mn-ea"/>
              </a:rPr>
              <a:t>设调制信号为</a:t>
            </a:r>
            <a:r>
              <a:rPr lang="en-US" altLang="zh-CN" sz="2000" b="1" i="1" kern="0" dirty="0" err="1" smtClean="0">
                <a:latin typeface="+mn-ea"/>
              </a:rPr>
              <a:t>u</a:t>
            </a:r>
            <a:r>
              <a:rPr lang="en-US" altLang="zh-CN" sz="2000" b="1" kern="0" baseline="-30000" dirty="0" err="1" smtClean="0">
                <a:latin typeface="+mn-ea"/>
              </a:rPr>
              <a:t>Ω</a:t>
            </a:r>
            <a:r>
              <a:rPr lang="en-US" altLang="zh-CN" sz="2000" b="1" kern="0" dirty="0" smtClean="0">
                <a:latin typeface="+mn-ea"/>
              </a:rPr>
              <a:t>(t)=</a:t>
            </a:r>
            <a:r>
              <a:rPr lang="en-US" altLang="zh-CN" sz="2000" b="1" i="1" kern="0" dirty="0" err="1" smtClean="0">
                <a:latin typeface="+mn-ea"/>
              </a:rPr>
              <a:t>U</a:t>
            </a:r>
            <a:r>
              <a:rPr lang="en-US" altLang="zh-CN" sz="2000" b="1" kern="0" baseline="-30000" dirty="0" err="1" smtClean="0">
                <a:latin typeface="+mn-ea"/>
              </a:rPr>
              <a:t>Ωm</a:t>
            </a:r>
            <a:r>
              <a:rPr lang="en-US" altLang="zh-CN" sz="2000" b="1" kern="0" dirty="0" err="1" smtClean="0">
                <a:latin typeface="+mn-ea"/>
              </a:rPr>
              <a:t>cos</a:t>
            </a:r>
            <a:r>
              <a:rPr lang="en-US" altLang="zh-CN" sz="2000" b="1" kern="0" dirty="0" err="1" smtClean="0">
                <a:latin typeface="+mn-ea"/>
                <a:sym typeface="Symbol" pitchFamily="18" charset="2"/>
              </a:rPr>
              <a:t></a:t>
            </a:r>
            <a:r>
              <a:rPr lang="en-US" altLang="zh-CN" sz="2000" b="1" kern="0" dirty="0" err="1" smtClean="0">
                <a:latin typeface="+mn-ea"/>
              </a:rPr>
              <a:t>t</a:t>
            </a:r>
            <a:r>
              <a:rPr lang="zh-CN" altLang="en-US" sz="2000" b="1" kern="0" dirty="0" smtClean="0">
                <a:latin typeface="+mn-ea"/>
              </a:rPr>
              <a:t>时，调角波的数学表达式可以表示为</a:t>
            </a:r>
            <a:r>
              <a:rPr lang="en-US" altLang="zh-CN" sz="2000" b="1" i="1" kern="0" dirty="0" smtClean="0">
                <a:latin typeface="+mn-ea"/>
              </a:rPr>
              <a:t>u</a:t>
            </a:r>
            <a:r>
              <a:rPr lang="en-US" altLang="zh-CN" sz="2000" b="1" kern="0" dirty="0" smtClean="0">
                <a:latin typeface="+mn-ea"/>
              </a:rPr>
              <a:t>(t)=</a:t>
            </a:r>
            <a:r>
              <a:rPr lang="en-US" altLang="zh-CN" sz="2000" b="1" i="1" kern="0" dirty="0" err="1" smtClean="0">
                <a:latin typeface="+mn-ea"/>
              </a:rPr>
              <a:t>U</a:t>
            </a:r>
            <a:r>
              <a:rPr lang="en-US" altLang="zh-CN" sz="2000" b="1" kern="0" baseline="-30000" dirty="0" err="1" smtClean="0">
                <a:latin typeface="+mn-ea"/>
              </a:rPr>
              <a:t>cm</a:t>
            </a:r>
            <a:r>
              <a:rPr lang="en-US" altLang="zh-CN" sz="2000" b="1" kern="0" dirty="0" err="1" smtClean="0">
                <a:latin typeface="+mn-ea"/>
              </a:rPr>
              <a:t>cos</a:t>
            </a:r>
            <a:r>
              <a:rPr lang="en-US" altLang="zh-CN" sz="2000" b="1" kern="0" dirty="0" smtClean="0">
                <a:latin typeface="+mn-ea"/>
              </a:rPr>
              <a:t>(</a:t>
            </a:r>
            <a:r>
              <a:rPr lang="en-US" altLang="zh-CN" sz="2000" b="1" i="1" kern="0" dirty="0" smtClean="0">
                <a:latin typeface="+mn-ea"/>
                <a:sym typeface="Symbol" pitchFamily="18" charset="2"/>
              </a:rPr>
              <a:t></a:t>
            </a:r>
            <a:r>
              <a:rPr lang="en-US" altLang="zh-CN" sz="2000" b="1" kern="0" baseline="-30000" dirty="0" err="1" smtClean="0">
                <a:latin typeface="+mn-ea"/>
              </a:rPr>
              <a:t>c</a:t>
            </a:r>
            <a:r>
              <a:rPr lang="en-US" altLang="zh-CN" sz="2000" b="1" kern="0" dirty="0" err="1" smtClean="0">
                <a:latin typeface="+mn-ea"/>
              </a:rPr>
              <a:t>t</a:t>
            </a:r>
            <a:r>
              <a:rPr lang="en-US" altLang="zh-CN" sz="2000" b="1" kern="0" dirty="0" smtClean="0">
                <a:latin typeface="+mn-ea"/>
              </a:rPr>
              <a:t> + </a:t>
            </a:r>
            <a:r>
              <a:rPr lang="en-US" altLang="zh-CN" sz="2000" b="1" kern="0" dirty="0" err="1" smtClean="0">
                <a:latin typeface="+mn-ea"/>
              </a:rPr>
              <a:t>m</a:t>
            </a:r>
            <a:r>
              <a:rPr lang="en-US" altLang="zh-CN" sz="2000" b="1" i="1" kern="0" baseline="-25000" dirty="0" err="1" smtClean="0">
                <a:latin typeface="+mn-ea"/>
              </a:rPr>
              <a:t>f</a:t>
            </a:r>
            <a:r>
              <a:rPr lang="en-US" altLang="zh-CN" sz="2000" b="1" kern="0" dirty="0" err="1" smtClean="0">
                <a:latin typeface="+mn-ea"/>
              </a:rPr>
              <a:t>sin</a:t>
            </a:r>
            <a:r>
              <a:rPr lang="en-US" altLang="zh-CN" sz="2000" b="1" kern="0" dirty="0" err="1" smtClean="0">
                <a:latin typeface="+mn-ea"/>
                <a:sym typeface="Symbol" pitchFamily="18" charset="2"/>
              </a:rPr>
              <a:t></a:t>
            </a:r>
            <a:r>
              <a:rPr lang="en-US" altLang="zh-CN" sz="2000" b="1" kern="0" dirty="0" err="1" smtClean="0">
                <a:latin typeface="+mn-ea"/>
              </a:rPr>
              <a:t>t</a:t>
            </a:r>
            <a:r>
              <a:rPr lang="en-US" altLang="zh-CN" sz="2000" b="1" kern="0" dirty="0" smtClean="0">
                <a:latin typeface="+mn-ea"/>
              </a:rPr>
              <a:t>)</a:t>
            </a:r>
            <a:r>
              <a:rPr lang="zh-CN" altLang="en-US" sz="2000" b="1" kern="0" dirty="0" smtClean="0">
                <a:latin typeface="+mn-ea"/>
              </a:rPr>
              <a:t>。其频谱不是调制信号频谱的简单搬移，而是由</a:t>
            </a:r>
            <a:r>
              <a:rPr lang="zh-CN" altLang="en-US" sz="2000" b="1" u="sng" kern="0" dirty="0" smtClean="0">
                <a:latin typeface="+mn-ea"/>
              </a:rPr>
              <a:t>       </a:t>
            </a:r>
            <a:r>
              <a:rPr lang="zh-CN" altLang="en-US" sz="2000" b="1" kern="0" dirty="0" smtClean="0">
                <a:latin typeface="+mn-ea"/>
              </a:rPr>
              <a:t>分量和</a:t>
            </a:r>
            <a:r>
              <a:rPr lang="zh-CN" altLang="en-US" sz="2000" b="1" u="sng" kern="0" dirty="0" smtClean="0">
                <a:latin typeface="+mn-ea"/>
              </a:rPr>
              <a:t>                  </a:t>
            </a:r>
            <a:r>
              <a:rPr lang="zh-CN" altLang="en-US" sz="2000" b="1" kern="0" dirty="0" smtClean="0">
                <a:latin typeface="+mn-ea"/>
              </a:rPr>
              <a:t>分量所组成。但有效频带宽度</a:t>
            </a:r>
            <a:r>
              <a:rPr lang="en-US" altLang="zh-CN" sz="2000" b="1" kern="0" dirty="0" smtClean="0">
                <a:latin typeface="+mn-ea"/>
              </a:rPr>
              <a:t>B</a:t>
            </a:r>
            <a:r>
              <a:rPr lang="zh-CN" altLang="en-US" sz="2000" b="1" kern="0" dirty="0" smtClean="0">
                <a:latin typeface="+mn-ea"/>
              </a:rPr>
              <a:t>可以用近似公式计算。即</a:t>
            </a:r>
            <a:r>
              <a:rPr lang="en-US" altLang="zh-CN" sz="2000" b="1" kern="0" dirty="0" smtClean="0">
                <a:latin typeface="+mn-ea"/>
              </a:rPr>
              <a:t>B=</a:t>
            </a:r>
            <a:r>
              <a:rPr lang="en-US" altLang="zh-CN" sz="2000" b="1" u="sng" kern="0" dirty="0" smtClean="0">
                <a:latin typeface="+mn-ea"/>
              </a:rPr>
              <a:t>                      </a:t>
            </a:r>
            <a:r>
              <a:rPr lang="zh-CN" altLang="en-US" sz="2000" b="1" kern="0" dirty="0" smtClean="0">
                <a:latin typeface="+mn-ea"/>
              </a:rPr>
              <a:t>。</a:t>
            </a:r>
            <a:endParaRPr lang="en-US" altLang="zh-CN" sz="2000" b="1" kern="0" dirty="0" smtClean="0">
              <a:latin typeface="+mn-ea"/>
            </a:endParaRPr>
          </a:p>
          <a:p>
            <a:pPr marL="261938" indent="-261938" eaLnBrk="1" hangingPunct="1">
              <a:lnSpc>
                <a:spcPct val="200000"/>
              </a:lnSpc>
              <a:buClr>
                <a:srgbClr val="FF00FF"/>
              </a:buClr>
              <a:buFont typeface="Wingdings" pitchFamily="2" charset="2"/>
              <a:buChar char="u"/>
              <a:tabLst>
                <a:tab pos="1139825" algn="l"/>
              </a:tabLst>
              <a:defRPr/>
            </a:pPr>
            <a:r>
              <a:rPr lang="zh-CN" altLang="en-US" sz="2000" b="1" kern="0" dirty="0" smtClean="0">
                <a:latin typeface="+mn-ea"/>
              </a:rPr>
              <a:t>调频波的</a:t>
            </a:r>
            <a:r>
              <a:rPr lang="zh-CN" altLang="en-US" sz="2000" b="1" u="sng" kern="0" dirty="0" smtClean="0">
                <a:latin typeface="+mn-ea"/>
              </a:rPr>
              <a:t>               </a:t>
            </a:r>
            <a:r>
              <a:rPr lang="zh-CN" altLang="en-US" sz="2000" b="1" kern="0" dirty="0" smtClean="0">
                <a:latin typeface="+mn-ea"/>
              </a:rPr>
              <a:t>与调制信号的积分成正比。</a:t>
            </a:r>
            <a:endParaRPr lang="en-US" altLang="zh-CN" sz="2000" b="1" kern="0" dirty="0" smtClean="0">
              <a:latin typeface="+mn-ea"/>
            </a:endParaRPr>
          </a:p>
          <a:p>
            <a:pPr marL="261938" indent="-261938" eaLnBrk="1" hangingPunct="1">
              <a:lnSpc>
                <a:spcPct val="150000"/>
              </a:lnSpc>
              <a:buClr>
                <a:srgbClr val="FF00FF"/>
              </a:buClr>
              <a:buFont typeface="Wingdings" pitchFamily="2" charset="2"/>
              <a:buChar char="u"/>
              <a:tabLst>
                <a:tab pos="1139825" algn="l"/>
              </a:tabLst>
              <a:defRPr/>
            </a:pPr>
            <a:r>
              <a:rPr lang="zh-CN" altLang="en-US" sz="2000" b="1" kern="0" dirty="0">
                <a:latin typeface="+mn-ea"/>
              </a:rPr>
              <a:t>调频波的解调简称为 </a:t>
            </a:r>
            <a:r>
              <a:rPr lang="zh-CN" altLang="en-US" sz="2000" b="1" u="sng" kern="0" dirty="0">
                <a:latin typeface="+mn-ea"/>
              </a:rPr>
              <a:t>      </a:t>
            </a:r>
            <a:r>
              <a:rPr lang="zh-CN" altLang="en-US" sz="2000" b="1" kern="0" dirty="0">
                <a:latin typeface="+mn-ea"/>
              </a:rPr>
              <a:t>，完成鉴频功能的电路称</a:t>
            </a:r>
            <a:r>
              <a:rPr lang="zh-CN" altLang="en-US" sz="2000" b="1" u="sng" kern="0" dirty="0">
                <a:latin typeface="+mn-ea"/>
              </a:rPr>
              <a:t>          </a:t>
            </a:r>
            <a:r>
              <a:rPr lang="zh-CN" altLang="en-US" sz="2000" b="1" kern="0" dirty="0">
                <a:latin typeface="+mn-ea"/>
              </a:rPr>
              <a:t>。</a:t>
            </a:r>
            <a:endParaRPr lang="en-US" altLang="zh-CN" sz="2000" b="1" kern="0" dirty="0">
              <a:latin typeface="+mn-ea"/>
            </a:endParaRPr>
          </a:p>
          <a:p>
            <a:pPr eaLnBrk="1" hangingPunct="1">
              <a:lnSpc>
                <a:spcPct val="150000"/>
              </a:lnSpc>
              <a:buClr>
                <a:srgbClr val="FF00FF"/>
              </a:buClr>
              <a:buFont typeface="Wingdings" pitchFamily="2" charset="2"/>
              <a:buChar char="u"/>
              <a:defRPr/>
            </a:pPr>
            <a:r>
              <a:rPr lang="zh-CN" altLang="en-US" sz="2000" b="1" dirty="0">
                <a:ea typeface="幼圆" pitchFamily="49" charset="-122"/>
              </a:rPr>
              <a:t>调频信号在鉴频之前，需用 </a:t>
            </a:r>
            <a:r>
              <a:rPr lang="zh-CN" altLang="en-US" sz="2000" b="1" u="sng" dirty="0">
                <a:ea typeface="幼圆" pitchFamily="49" charset="-122"/>
              </a:rPr>
              <a:t>                 </a:t>
            </a:r>
            <a:r>
              <a:rPr lang="zh-CN" altLang="en-US" sz="2000" b="1" dirty="0">
                <a:ea typeface="幼圆" pitchFamily="49" charset="-122"/>
              </a:rPr>
              <a:t>电路来消除调频信号上的寄生调幅。</a:t>
            </a:r>
          </a:p>
          <a:p>
            <a:pPr marL="261938" indent="-261938" eaLnBrk="1" hangingPunct="1">
              <a:lnSpc>
                <a:spcPct val="200000"/>
              </a:lnSpc>
              <a:buClr>
                <a:srgbClr val="FF00FF"/>
              </a:buClr>
              <a:buFont typeface="Wingdings" pitchFamily="2" charset="2"/>
              <a:buChar char="u"/>
              <a:tabLst>
                <a:tab pos="1139825" algn="l"/>
              </a:tabLst>
              <a:defRPr/>
            </a:pPr>
            <a:r>
              <a:rPr lang="en-US" altLang="zh-CN" sz="2000" b="1" dirty="0">
                <a:ea typeface="幼圆" pitchFamily="49" charset="-122"/>
              </a:rPr>
              <a:t>FM</a:t>
            </a:r>
            <a:r>
              <a:rPr lang="zh-CN" altLang="en-US" sz="2000" b="1" dirty="0">
                <a:ea typeface="幼圆" pitchFamily="49" charset="-122"/>
              </a:rPr>
              <a:t>调制方案主要有两种：直接调频和间接调频，而间接调频电路由积分器和</a:t>
            </a:r>
            <a:r>
              <a:rPr lang="zh-CN" altLang="en-US" sz="2000" b="1" u="sng" dirty="0">
                <a:ea typeface="幼圆" pitchFamily="49" charset="-122"/>
              </a:rPr>
              <a:t>                   </a:t>
            </a:r>
            <a:r>
              <a:rPr lang="zh-CN" altLang="en-US" sz="2000" b="1" dirty="0">
                <a:ea typeface="幼圆" pitchFamily="49" charset="-122"/>
              </a:rPr>
              <a:t>构成。</a:t>
            </a:r>
          </a:p>
          <a:p>
            <a:pPr marL="261938" indent="-261938" eaLnBrk="1" hangingPunct="1">
              <a:lnSpc>
                <a:spcPct val="200000"/>
              </a:lnSpc>
              <a:buClr>
                <a:srgbClr val="FF00FF"/>
              </a:buClr>
              <a:buFont typeface="Wingdings" pitchFamily="2" charset="2"/>
              <a:buChar char="u"/>
              <a:tabLst>
                <a:tab pos="1139825" algn="l"/>
              </a:tabLst>
              <a:defRPr/>
            </a:pPr>
            <a:endParaRPr lang="zh-CN" altLang="en-US" sz="2000" b="1" kern="0" dirty="0" smtClean="0">
              <a:latin typeface="+mn-ea"/>
            </a:endParaRPr>
          </a:p>
        </p:txBody>
      </p:sp>
    </p:spTree>
    <p:extLst>
      <p:ext uri="{BB962C8B-B14F-4D97-AF65-F5344CB8AC3E}">
        <p14:creationId xmlns:p14="http://schemas.microsoft.com/office/powerpoint/2010/main" val="3096578007"/>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27EF5AEE-92E6-46FE-BB6C-E2D001C3EAEA}" type="slidenum">
              <a:rPr lang="zh-CN" altLang="en-US" smtClean="0">
                <a:solidFill>
                  <a:srgbClr val="000000"/>
                </a:solidFill>
              </a:rPr>
              <a:pPr/>
              <a:t>96</a:t>
            </a:fld>
            <a:endParaRPr lang="en-US" altLang="zh-CN" dirty="0">
              <a:solidFill>
                <a:srgbClr val="000000"/>
              </a:solidFill>
            </a:endParaRPr>
          </a:p>
        </p:txBody>
      </p:sp>
      <p:sp>
        <p:nvSpPr>
          <p:cNvPr id="21" name="内容占位符 20"/>
          <p:cNvSpPr>
            <a:spLocks noGrp="1"/>
          </p:cNvSpPr>
          <p:nvPr>
            <p:ph idx="1"/>
          </p:nvPr>
        </p:nvSpPr>
        <p:spPr>
          <a:xfrm>
            <a:off x="395536" y="260648"/>
            <a:ext cx="1152128" cy="504056"/>
          </a:xfrm>
          <a:solidFill>
            <a:srgbClr val="862714"/>
          </a:solidFill>
        </p:spPr>
        <p:txBody>
          <a:bodyPr anchor="ctr"/>
          <a:lstStyle/>
          <a:p>
            <a:pPr>
              <a:buClr>
                <a:schemeClr val="bg1"/>
              </a:buClr>
              <a:buFont typeface="Wingdings" panose="05000000000000000000" pitchFamily="2" charset="2"/>
              <a:buChar char="l"/>
            </a:pPr>
            <a:r>
              <a:rPr lang="zh-CN" altLang="en-US" sz="2400" dirty="0" smtClean="0">
                <a:solidFill>
                  <a:schemeClr val="bg1"/>
                </a:solidFill>
                <a:latin typeface="Garamond"/>
                <a:ea typeface="华文行楷"/>
                <a:cs typeface="+mj-cs"/>
              </a:rPr>
              <a:t>练习</a:t>
            </a:r>
            <a:endParaRPr lang="zh-CN" altLang="en-US" sz="2400" dirty="0"/>
          </a:p>
        </p:txBody>
      </p:sp>
      <p:sp>
        <p:nvSpPr>
          <p:cNvPr id="2" name="TextBox 1"/>
          <p:cNvSpPr txBox="1"/>
          <p:nvPr/>
        </p:nvSpPr>
        <p:spPr>
          <a:xfrm>
            <a:off x="11844808" y="2924944"/>
            <a:ext cx="184731" cy="369332"/>
          </a:xfrm>
          <a:prstGeom prst="rect">
            <a:avLst/>
          </a:prstGeom>
          <a:noFill/>
        </p:spPr>
        <p:txBody>
          <a:bodyPr wrap="none" rtlCol="0">
            <a:spAutoFit/>
          </a:bodyPr>
          <a:lstStyle/>
          <a:p>
            <a:endParaRPr lang="zh-CN" altLang="en-US" dirty="0"/>
          </a:p>
        </p:txBody>
      </p:sp>
      <p:sp>
        <p:nvSpPr>
          <p:cNvPr id="9" name="Rectangle 3"/>
          <p:cNvSpPr txBox="1">
            <a:spLocks noChangeArrowheads="1"/>
          </p:cNvSpPr>
          <p:nvPr/>
        </p:nvSpPr>
        <p:spPr bwMode="auto">
          <a:xfrm>
            <a:off x="35496" y="836712"/>
            <a:ext cx="9073008" cy="5184576"/>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5pPr>
            <a:lvl6pPr marL="21386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8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30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10280"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a:lstStyle>
          <a:p>
            <a:pPr marL="261938" indent="-261938" eaLnBrk="1" hangingPunct="1">
              <a:lnSpc>
                <a:spcPct val="200000"/>
              </a:lnSpc>
              <a:buClr>
                <a:srgbClr val="FF00FF"/>
              </a:buClr>
              <a:buFont typeface="Wingdings" pitchFamily="2" charset="2"/>
              <a:buChar char="u"/>
              <a:tabLst>
                <a:tab pos="1139825" algn="l"/>
              </a:tabLst>
              <a:defRPr/>
            </a:pPr>
            <a:r>
              <a:rPr lang="zh-CN" altLang="en-US" sz="2000" b="1" u="sng" kern="0" dirty="0" smtClean="0">
                <a:latin typeface="+mn-ea"/>
              </a:rPr>
              <a:t>           </a:t>
            </a:r>
            <a:r>
              <a:rPr lang="zh-CN" altLang="en-US" sz="2000" b="1" kern="0" dirty="0" smtClean="0">
                <a:latin typeface="+mn-ea"/>
              </a:rPr>
              <a:t>是利用</a:t>
            </a:r>
            <a:r>
              <a:rPr lang="en-US" altLang="zh-CN" sz="2000" b="1" kern="0" dirty="0" smtClean="0">
                <a:latin typeface="+mn-ea"/>
              </a:rPr>
              <a:t>PN</a:t>
            </a:r>
            <a:r>
              <a:rPr lang="zh-CN" altLang="en-US" sz="2000" b="1" kern="0" dirty="0" smtClean="0">
                <a:latin typeface="+mn-ea"/>
              </a:rPr>
              <a:t>结的结电容随外加电压的变化这一特性制成的一种电压控制可控电抗器，正常工作时处于</a:t>
            </a:r>
            <a:r>
              <a:rPr lang="zh-CN" altLang="en-US" sz="2000" b="1" u="sng" kern="0" dirty="0" smtClean="0">
                <a:latin typeface="+mn-ea"/>
              </a:rPr>
              <a:t>      </a:t>
            </a:r>
            <a:r>
              <a:rPr lang="zh-CN" altLang="en-US" sz="2000" b="1" kern="0" dirty="0" smtClean="0">
                <a:latin typeface="+mn-ea"/>
              </a:rPr>
              <a:t>状态。加入反偏静态电压和调制信号是，</a:t>
            </a:r>
            <a:r>
              <a:rPr lang="en-US" altLang="zh-CN" sz="2000" b="1" kern="0" dirty="0" err="1" smtClean="0">
                <a:latin typeface="+mn-ea"/>
              </a:rPr>
              <a:t>C</a:t>
            </a:r>
            <a:r>
              <a:rPr lang="en-US" altLang="zh-CN" sz="2000" b="1" kern="0" baseline="-25000" dirty="0" err="1" smtClean="0">
                <a:latin typeface="+mn-ea"/>
              </a:rPr>
              <a:t>j</a:t>
            </a:r>
            <a:r>
              <a:rPr lang="zh-CN" altLang="en-US" sz="2000" b="1" kern="0" dirty="0" smtClean="0">
                <a:latin typeface="+mn-ea"/>
              </a:rPr>
              <a:t>的计算式为：</a:t>
            </a:r>
            <a:endParaRPr lang="en-US" altLang="zh-CN" sz="2000" b="1" kern="0" dirty="0" smtClean="0">
              <a:latin typeface="+mn-ea"/>
            </a:endParaRPr>
          </a:p>
          <a:p>
            <a:pPr eaLnBrk="1" hangingPunct="1">
              <a:lnSpc>
                <a:spcPct val="150000"/>
              </a:lnSpc>
              <a:buClr>
                <a:srgbClr val="FF00FF"/>
              </a:buClr>
              <a:buFont typeface="Wingdings" pitchFamily="2" charset="2"/>
              <a:buChar char="u"/>
              <a:defRPr/>
            </a:pPr>
            <a:r>
              <a:rPr lang="zh-CN" altLang="en-US" sz="2000" b="1" dirty="0">
                <a:ea typeface="幼圆" pitchFamily="49" charset="-122"/>
              </a:rPr>
              <a:t> 若调频波的最大频率偏移（△</a:t>
            </a:r>
            <a:r>
              <a:rPr lang="en-US" altLang="zh-CN" sz="2000" b="1" dirty="0" err="1">
                <a:ea typeface="幼圆" pitchFamily="49" charset="-122"/>
              </a:rPr>
              <a:t>f</a:t>
            </a:r>
            <a:r>
              <a:rPr lang="en-US" altLang="zh-CN" sz="2000" b="1" baseline="-25000" dirty="0" err="1">
                <a:ea typeface="幼圆" pitchFamily="49" charset="-122"/>
              </a:rPr>
              <a:t>max</a:t>
            </a:r>
            <a:r>
              <a:rPr lang="zh-CN" altLang="en-US" sz="2000" b="1" dirty="0">
                <a:ea typeface="幼圆" pitchFamily="49" charset="-122"/>
              </a:rPr>
              <a:t>）为</a:t>
            </a:r>
            <a:r>
              <a:rPr lang="en-US" altLang="zh-CN" sz="2000" b="1" dirty="0">
                <a:ea typeface="幼圆" pitchFamily="49" charset="-122"/>
              </a:rPr>
              <a:t>75kHz</a:t>
            </a:r>
            <a:r>
              <a:rPr lang="zh-CN" altLang="en-US" sz="2000" b="1" dirty="0">
                <a:ea typeface="幼圆" pitchFamily="49" charset="-122"/>
              </a:rPr>
              <a:t>，调制信号频率为</a:t>
            </a:r>
            <a:r>
              <a:rPr lang="en-US" altLang="zh-CN" sz="2000" b="1" dirty="0">
                <a:ea typeface="幼圆" pitchFamily="49" charset="-122"/>
              </a:rPr>
              <a:t>1kHz</a:t>
            </a:r>
            <a:r>
              <a:rPr lang="zh-CN" altLang="en-US" sz="2000" b="1" dirty="0">
                <a:ea typeface="幼圆" pitchFamily="49" charset="-122"/>
              </a:rPr>
              <a:t>，则该</a:t>
            </a:r>
            <a:r>
              <a:rPr lang="en-US" altLang="zh-CN" sz="2000" b="1" dirty="0">
                <a:ea typeface="幼圆" pitchFamily="49" charset="-122"/>
              </a:rPr>
              <a:t>FM</a:t>
            </a:r>
            <a:r>
              <a:rPr lang="zh-CN" altLang="en-US" sz="2000" b="1" dirty="0">
                <a:ea typeface="幼圆" pitchFamily="49" charset="-122"/>
              </a:rPr>
              <a:t>波的调频指数为</a:t>
            </a:r>
            <a:r>
              <a:rPr lang="zh-CN" altLang="en-US" sz="2000" b="1" u="sng" dirty="0">
                <a:ea typeface="幼圆" pitchFamily="49" charset="-122"/>
              </a:rPr>
              <a:t>                </a:t>
            </a:r>
            <a:r>
              <a:rPr lang="zh-CN" altLang="en-US" sz="2000" b="1" dirty="0">
                <a:ea typeface="幼圆" pitchFamily="49" charset="-122"/>
              </a:rPr>
              <a:t> ，有效带宽为</a:t>
            </a:r>
            <a:r>
              <a:rPr lang="zh-CN" altLang="en-US" sz="2000" b="1" u="sng" dirty="0">
                <a:ea typeface="幼圆" pitchFamily="49" charset="-122"/>
              </a:rPr>
              <a:t>         </a:t>
            </a:r>
            <a:r>
              <a:rPr lang="en-US" altLang="zh-CN" sz="2000" b="1" u="sng" dirty="0">
                <a:ea typeface="幼圆" pitchFamily="49" charset="-122"/>
              </a:rPr>
              <a:t>       </a:t>
            </a:r>
            <a:r>
              <a:rPr lang="zh-CN" altLang="en-US" sz="2000" b="1" u="sng" dirty="0">
                <a:ea typeface="幼圆" pitchFamily="49" charset="-122"/>
              </a:rPr>
              <a:t>     </a:t>
            </a:r>
            <a:r>
              <a:rPr lang="zh-CN" altLang="en-US" sz="2000" b="1" dirty="0">
                <a:ea typeface="幼圆" pitchFamily="49" charset="-122"/>
              </a:rPr>
              <a:t> 。</a:t>
            </a:r>
            <a:endParaRPr lang="en-US" altLang="zh-CN" sz="2000" b="1" dirty="0">
              <a:ea typeface="幼圆" pitchFamily="49" charset="-122"/>
            </a:endParaRPr>
          </a:p>
          <a:p>
            <a:pPr eaLnBrk="1" hangingPunct="1">
              <a:lnSpc>
                <a:spcPct val="150000"/>
              </a:lnSpc>
              <a:buClr>
                <a:srgbClr val="FF00FF"/>
              </a:buClr>
              <a:buFont typeface="Wingdings" pitchFamily="2" charset="2"/>
              <a:buChar char="u"/>
              <a:defRPr/>
            </a:pPr>
            <a:endParaRPr lang="zh-CN" altLang="en-US" sz="2000" b="1" dirty="0">
              <a:ea typeface="幼圆" pitchFamily="49" charset="-122"/>
            </a:endParaRPr>
          </a:p>
          <a:p>
            <a:pPr eaLnBrk="1" hangingPunct="1">
              <a:lnSpc>
                <a:spcPct val="150000"/>
              </a:lnSpc>
              <a:buClr>
                <a:srgbClr val="FF00FF"/>
              </a:buClr>
              <a:buFont typeface="Wingdings" pitchFamily="2" charset="2"/>
              <a:buChar char="u"/>
              <a:defRPr/>
            </a:pPr>
            <a:r>
              <a:rPr lang="zh-CN" altLang="en-US" sz="2000" b="1" dirty="0" smtClean="0">
                <a:ea typeface="幼圆" pitchFamily="49" charset="-122"/>
              </a:rPr>
              <a:t>相位</a:t>
            </a:r>
            <a:r>
              <a:rPr lang="zh-CN" altLang="en-US" sz="2000" b="1" dirty="0">
                <a:ea typeface="幼圆" pitchFamily="49" charset="-122"/>
              </a:rPr>
              <a:t>鉴频器是先将等幅的调频信号输入频</a:t>
            </a:r>
            <a:r>
              <a:rPr lang="en-US" altLang="zh-CN" sz="2000" b="1" dirty="0">
                <a:ea typeface="幼圆" pitchFamily="49" charset="-122"/>
              </a:rPr>
              <a:t>-</a:t>
            </a:r>
            <a:r>
              <a:rPr lang="zh-CN" altLang="en-US" sz="2000" b="1" dirty="0">
                <a:ea typeface="幼圆" pitchFamily="49" charset="-122"/>
              </a:rPr>
              <a:t>相变换网络，变换</a:t>
            </a:r>
            <a:r>
              <a:rPr lang="zh-CN" altLang="en-US" sz="2000" b="1" dirty="0" smtClean="0">
                <a:ea typeface="幼圆" pitchFamily="49" charset="-122"/>
              </a:rPr>
              <a:t>成 </a:t>
            </a:r>
            <a:r>
              <a:rPr lang="zh-CN" altLang="en-US" sz="2000" b="1" u="sng" dirty="0" smtClean="0">
                <a:ea typeface="幼圆" pitchFamily="49" charset="-122"/>
              </a:rPr>
              <a:t>                 </a:t>
            </a:r>
            <a:r>
              <a:rPr lang="zh-CN" altLang="en-US" sz="2000" b="1" dirty="0" smtClean="0">
                <a:ea typeface="幼圆" pitchFamily="49" charset="-122"/>
              </a:rPr>
              <a:t>信号</a:t>
            </a:r>
            <a:r>
              <a:rPr lang="zh-CN" altLang="en-US" sz="2000" b="1" dirty="0">
                <a:ea typeface="幼圆" pitchFamily="49" charset="-122"/>
              </a:rPr>
              <a:t>，然后用</a:t>
            </a:r>
            <a:r>
              <a:rPr lang="zh-CN" altLang="en-US" sz="2000" b="1" u="sng" dirty="0">
                <a:ea typeface="幼圆" pitchFamily="49" charset="-122"/>
              </a:rPr>
              <a:t>                </a:t>
            </a:r>
            <a:r>
              <a:rPr lang="zh-CN" altLang="en-US" sz="2000" b="1" dirty="0">
                <a:ea typeface="幼圆" pitchFamily="49" charset="-122"/>
              </a:rPr>
              <a:t>进行解调。</a:t>
            </a:r>
            <a:r>
              <a:rPr lang="zh-CN" altLang="en-US" sz="2000" b="1" dirty="0"/>
              <a:t> </a:t>
            </a:r>
            <a:endParaRPr lang="zh-CN" altLang="en-US" sz="2000" b="1" dirty="0">
              <a:ea typeface="幼圆" pitchFamily="49" charset="-122"/>
            </a:endParaRPr>
          </a:p>
          <a:p>
            <a:pPr eaLnBrk="1" hangingPunct="1">
              <a:lnSpc>
                <a:spcPct val="150000"/>
              </a:lnSpc>
              <a:buClr>
                <a:srgbClr val="FF00FF"/>
              </a:buClr>
              <a:buFont typeface="Wingdings" pitchFamily="2" charset="2"/>
              <a:buChar char="u"/>
              <a:defRPr/>
            </a:pPr>
            <a:r>
              <a:rPr lang="zh-CN" altLang="en-US" sz="2000" b="1" dirty="0">
                <a:ea typeface="幼圆" pitchFamily="49" charset="-122"/>
              </a:rPr>
              <a:t>斜率鉴频器的组成框图如图所示，则</a:t>
            </a:r>
            <a:r>
              <a:rPr lang="en-US" altLang="zh-CN" sz="2000" b="1" dirty="0">
                <a:ea typeface="幼圆" pitchFamily="49" charset="-122"/>
              </a:rPr>
              <a:t>u</a:t>
            </a:r>
            <a:r>
              <a:rPr lang="en-US" altLang="zh-CN" sz="2000" b="1" baseline="-30000" dirty="0">
                <a:ea typeface="幼圆" pitchFamily="49" charset="-122"/>
              </a:rPr>
              <a:t>1</a:t>
            </a:r>
            <a:r>
              <a:rPr lang="en-US" altLang="zh-CN" sz="2000" b="1" dirty="0">
                <a:ea typeface="幼圆" pitchFamily="49" charset="-122"/>
              </a:rPr>
              <a:t>(t)</a:t>
            </a:r>
            <a:r>
              <a:rPr lang="zh-CN" altLang="en-US" sz="2000" b="1" dirty="0">
                <a:ea typeface="幼圆" pitchFamily="49" charset="-122"/>
              </a:rPr>
              <a:t>为</a:t>
            </a:r>
            <a:r>
              <a:rPr lang="zh-CN" altLang="en-US" sz="2000" b="1" u="sng" dirty="0">
                <a:ea typeface="幼圆" pitchFamily="49" charset="-122"/>
              </a:rPr>
              <a:t>                    </a:t>
            </a:r>
            <a:r>
              <a:rPr lang="zh-CN" altLang="en-US" sz="2000" b="1" dirty="0">
                <a:ea typeface="幼圆" pitchFamily="49" charset="-122"/>
              </a:rPr>
              <a:t>信号，方框</a:t>
            </a:r>
            <a:r>
              <a:rPr lang="en-US" altLang="zh-CN" sz="2000" b="1" dirty="0">
                <a:ea typeface="幼圆" pitchFamily="49" charset="-122"/>
              </a:rPr>
              <a:t>A</a:t>
            </a:r>
            <a:r>
              <a:rPr lang="zh-CN" altLang="en-US" sz="2000" b="1" dirty="0">
                <a:ea typeface="幼圆" pitchFamily="49" charset="-122"/>
              </a:rPr>
              <a:t>为</a:t>
            </a:r>
            <a:r>
              <a:rPr lang="zh-CN" altLang="en-US" sz="2000" b="1" u="sng" dirty="0">
                <a:ea typeface="幼圆" pitchFamily="49" charset="-122"/>
              </a:rPr>
              <a:t>                       </a:t>
            </a:r>
            <a:r>
              <a:rPr lang="zh-CN" altLang="en-US" sz="2000" b="1" dirty="0">
                <a:ea typeface="幼圆" pitchFamily="49" charset="-122"/>
              </a:rPr>
              <a:t>。</a:t>
            </a:r>
          </a:p>
          <a:p>
            <a:pPr marL="261938" indent="-261938" eaLnBrk="1" hangingPunct="1">
              <a:lnSpc>
                <a:spcPct val="200000"/>
              </a:lnSpc>
              <a:buClr>
                <a:srgbClr val="FF00FF"/>
              </a:buClr>
              <a:buFont typeface="Wingdings" pitchFamily="2" charset="2"/>
              <a:buChar char="u"/>
              <a:tabLst>
                <a:tab pos="1139825" algn="l"/>
              </a:tabLst>
              <a:defRPr/>
            </a:pPr>
            <a:endParaRPr lang="en-US" altLang="zh-CN" sz="2000" b="1" kern="0" dirty="0" smtClean="0">
              <a:latin typeface="+mn-ea"/>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2392210598"/>
              </p:ext>
            </p:extLst>
          </p:nvPr>
        </p:nvGraphicFramePr>
        <p:xfrm>
          <a:off x="2483768" y="3672854"/>
          <a:ext cx="1699801" cy="548234"/>
        </p:xfrm>
        <a:graphic>
          <a:graphicData uri="http://schemas.openxmlformats.org/presentationml/2006/ole">
            <mc:AlternateContent xmlns:mc="http://schemas.openxmlformats.org/markup-compatibility/2006">
              <mc:Choice xmlns:v="urn:schemas-microsoft-com:vml" Requires="v">
                <p:oleObj spid="_x0000_s127000" name="Equation" r:id="rId4" imgW="749160" imgH="241200" progId="Equation.DSMT4">
                  <p:embed/>
                </p:oleObj>
              </mc:Choice>
              <mc:Fallback>
                <p:oleObj name="Equation" r:id="rId4" imgW="749160" imgH="241200" progId="Equation.DSMT4">
                  <p:embed/>
                  <p:pic>
                    <p:nvPicPr>
                      <p:cNvPr id="0" name=""/>
                      <p:cNvPicPr>
                        <a:picLocks noChangeAspect="1" noChangeArrowheads="1"/>
                      </p:cNvPicPr>
                      <p:nvPr/>
                    </p:nvPicPr>
                    <p:blipFill>
                      <a:blip r:embed="rId5"/>
                      <a:srcRect/>
                      <a:stretch>
                        <a:fillRect/>
                      </a:stretch>
                    </p:blipFill>
                    <p:spPr bwMode="auto">
                      <a:xfrm>
                        <a:off x="2483768" y="3672854"/>
                        <a:ext cx="1699801" cy="548234"/>
                      </a:xfrm>
                      <a:prstGeom prst="rect">
                        <a:avLst/>
                      </a:prstGeom>
                      <a:noFill/>
                      <a:ln>
                        <a:noFill/>
                      </a:ln>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159133877"/>
              </p:ext>
            </p:extLst>
          </p:nvPr>
        </p:nvGraphicFramePr>
        <p:xfrm>
          <a:off x="4947046" y="3645024"/>
          <a:ext cx="3081338" cy="492125"/>
        </p:xfrm>
        <a:graphic>
          <a:graphicData uri="http://schemas.openxmlformats.org/presentationml/2006/ole">
            <mc:AlternateContent xmlns:mc="http://schemas.openxmlformats.org/markup-compatibility/2006">
              <mc:Choice xmlns:v="urn:schemas-microsoft-com:vml" Requires="v">
                <p:oleObj spid="_x0000_s127001" name="Equation" r:id="rId6" imgW="1587240" imgH="253800" progId="Equation.DSMT4">
                  <p:embed/>
                </p:oleObj>
              </mc:Choice>
              <mc:Fallback>
                <p:oleObj name="Equation" r:id="rId6" imgW="1587240" imgH="253800" progId="Equation.DSMT4">
                  <p:embed/>
                  <p:pic>
                    <p:nvPicPr>
                      <p:cNvPr id="0" name=""/>
                      <p:cNvPicPr>
                        <a:picLocks noChangeAspect="1" noChangeArrowheads="1"/>
                      </p:cNvPicPr>
                      <p:nvPr/>
                    </p:nvPicPr>
                    <p:blipFill>
                      <a:blip r:embed="rId7"/>
                      <a:srcRect/>
                      <a:stretch>
                        <a:fillRect/>
                      </a:stretch>
                    </p:blipFill>
                    <p:spPr bwMode="auto">
                      <a:xfrm>
                        <a:off x="4947046" y="3645024"/>
                        <a:ext cx="3081338" cy="492125"/>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442545216"/>
              </p:ext>
            </p:extLst>
          </p:nvPr>
        </p:nvGraphicFramePr>
        <p:xfrm>
          <a:off x="3779391" y="5790868"/>
          <a:ext cx="3744937" cy="878492"/>
        </p:xfrm>
        <a:graphic>
          <a:graphicData uri="http://schemas.openxmlformats.org/presentationml/2006/ole">
            <mc:AlternateContent xmlns:mc="http://schemas.openxmlformats.org/markup-compatibility/2006">
              <mc:Choice xmlns:v="urn:schemas-microsoft-com:vml" Requires="v">
                <p:oleObj spid="_x0000_s127002" name="Visio" r:id="rId8" imgW="2524148" imgH="592001" progId="Visio.Drawing.11">
                  <p:embed/>
                </p:oleObj>
              </mc:Choice>
              <mc:Fallback>
                <p:oleObj name="Visio" r:id="rId8" imgW="2524148" imgH="592001" progId="Visio.Drawing.11">
                  <p:embed/>
                  <p:pic>
                    <p:nvPicPr>
                      <p:cNvPr id="0" name="对象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79391" y="5790868"/>
                        <a:ext cx="3744937" cy="878492"/>
                      </a:xfrm>
                      <a:prstGeom prst="rect">
                        <a:avLst/>
                      </a:prstGeom>
                      <a:solidFill>
                        <a:srgbClr val="DBEEF4"/>
                      </a:solidFill>
                      <a:ln>
                        <a:noFill/>
                      </a:ln>
                    </p:spPr>
                  </p:pic>
                </p:oleObj>
              </mc:Fallback>
            </mc:AlternateContent>
          </a:graphicData>
        </a:graphic>
      </p:graphicFrame>
    </p:spTree>
    <p:extLst>
      <p:ext uri="{BB962C8B-B14F-4D97-AF65-F5344CB8AC3E}">
        <p14:creationId xmlns:p14="http://schemas.microsoft.com/office/powerpoint/2010/main" val="3359931146"/>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6553200" y="6428184"/>
            <a:ext cx="2133600" cy="457200"/>
          </a:xfrm>
        </p:spPr>
        <p:txBody>
          <a:bodyPr/>
          <a:lstStyle/>
          <a:p>
            <a:fld id="{27EF5AEE-92E6-46FE-BB6C-E2D001C3EAEA}" type="slidenum">
              <a:rPr lang="zh-CN" altLang="en-US" smtClean="0">
                <a:solidFill>
                  <a:srgbClr val="000000"/>
                </a:solidFill>
              </a:rPr>
              <a:pPr/>
              <a:t>97</a:t>
            </a:fld>
            <a:endParaRPr lang="en-US" altLang="zh-CN" dirty="0">
              <a:solidFill>
                <a:srgbClr val="000000"/>
              </a:solidFill>
            </a:endParaRPr>
          </a:p>
        </p:txBody>
      </p:sp>
      <p:sp>
        <p:nvSpPr>
          <p:cNvPr id="6" name="TextBox 5"/>
          <p:cNvSpPr txBox="1"/>
          <p:nvPr/>
        </p:nvSpPr>
        <p:spPr>
          <a:xfrm>
            <a:off x="2195736" y="836712"/>
            <a:ext cx="4752528" cy="3416320"/>
          </a:xfrm>
          <a:prstGeom prst="rect">
            <a:avLst/>
          </a:prstGeom>
          <a:noFill/>
        </p:spPr>
        <p:txBody>
          <a:bodyPr wrap="square" rtlCol="0">
            <a:spAutoFit/>
          </a:bodyPr>
          <a:lstStyle/>
          <a:p>
            <a:pPr>
              <a:lnSpc>
                <a:spcPct val="200000"/>
              </a:lnSpc>
            </a:pPr>
            <a:r>
              <a:rPr lang="zh-CN" altLang="en-US" sz="3600" b="1" dirty="0" smtClean="0">
                <a:solidFill>
                  <a:srgbClr val="FF0066"/>
                </a:solidFill>
              </a:rPr>
              <a:t>祝大家：</a:t>
            </a:r>
            <a:endParaRPr lang="en-US" altLang="zh-CN" sz="3600" b="1" dirty="0" smtClean="0">
              <a:solidFill>
                <a:srgbClr val="FF0066"/>
              </a:solidFill>
            </a:endParaRPr>
          </a:p>
          <a:p>
            <a:pPr algn="ctr">
              <a:lnSpc>
                <a:spcPct val="200000"/>
              </a:lnSpc>
            </a:pPr>
            <a:r>
              <a:rPr lang="zh-CN" altLang="en-US" sz="3600" b="1" dirty="0" smtClean="0">
                <a:solidFill>
                  <a:srgbClr val="FF0066"/>
                </a:solidFill>
              </a:rPr>
              <a:t>学习快乐！</a:t>
            </a:r>
            <a:endParaRPr lang="en-US" altLang="zh-CN" sz="3600" b="1" dirty="0" smtClean="0">
              <a:solidFill>
                <a:srgbClr val="FF0066"/>
              </a:solidFill>
            </a:endParaRPr>
          </a:p>
          <a:p>
            <a:pPr algn="ctr">
              <a:lnSpc>
                <a:spcPct val="200000"/>
              </a:lnSpc>
            </a:pPr>
            <a:r>
              <a:rPr lang="zh-CN" altLang="en-US" sz="3600" b="1" dirty="0" smtClean="0">
                <a:solidFill>
                  <a:srgbClr val="FF0066"/>
                </a:solidFill>
              </a:rPr>
              <a:t>学业进步！</a:t>
            </a:r>
            <a:endParaRPr lang="zh-CN" altLang="en-US" sz="3600" b="1" dirty="0">
              <a:solidFill>
                <a:srgbClr val="FF0066"/>
              </a:solidFill>
            </a:endParaRPr>
          </a:p>
        </p:txBody>
      </p:sp>
      <p:pic>
        <p:nvPicPr>
          <p:cNvPr id="13" name="Picture 2" descr="谢蝶"/>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4221087"/>
            <a:ext cx="3312368" cy="1893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989878"/>
      </p:ext>
    </p:extLst>
  </p:cSld>
  <p:clrMapOvr>
    <a:masterClrMapping/>
  </p:clrMapOvr>
  <mc:AlternateContent xmlns:mc="http://schemas.openxmlformats.org/markup-compatibility/2006" xmlns:p14="http://schemas.microsoft.com/office/powerpoint/2010/main">
    <mc:Choice Requires="p14">
      <p:transition spd="slow" p14:dur="2000" advTm="62969"/>
    </mc:Choice>
    <mc:Fallback xmlns="">
      <p:transition spd="slow" advTm="62969"/>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0.1"/>
</p:tagLst>
</file>

<file path=ppt/tags/tag2.xml><?xml version="1.0" encoding="utf-8"?>
<p:tagLst xmlns:a="http://schemas.openxmlformats.org/drawingml/2006/main" xmlns:r="http://schemas.openxmlformats.org/officeDocument/2006/relationships" xmlns:p="http://schemas.openxmlformats.org/presentationml/2006/main">
  <p:tag name="TIMING" val="|0.1|5.5|36.3|13|37.2|4|70.9|39.5"/>
</p:tagLst>
</file>

<file path=ppt/tags/tag3.xml><?xml version="1.0" encoding="utf-8"?>
<p:tagLst xmlns:a="http://schemas.openxmlformats.org/drawingml/2006/main" xmlns:r="http://schemas.openxmlformats.org/officeDocument/2006/relationships" xmlns:p="http://schemas.openxmlformats.org/presentationml/2006/main">
  <p:tag name="TIMING" val="|0.6|0.3|1.1|1.2"/>
</p:tagLst>
</file>

<file path=ppt/tags/tag4.xml><?xml version="1.0" encoding="utf-8"?>
<p:tagLst xmlns:a="http://schemas.openxmlformats.org/drawingml/2006/main" xmlns:r="http://schemas.openxmlformats.org/officeDocument/2006/relationships" xmlns:p="http://schemas.openxmlformats.org/presentationml/2006/main">
  <p:tag name="TIMING" val="|0.5|0.4|0.6|0.5|5.2|6.5"/>
</p:tagLst>
</file>

<file path=ppt/tags/tag5.xml><?xml version="1.0" encoding="utf-8"?>
<p:tagLst xmlns:a="http://schemas.openxmlformats.org/drawingml/2006/main" xmlns:r="http://schemas.openxmlformats.org/officeDocument/2006/relationships" xmlns:p="http://schemas.openxmlformats.org/presentationml/2006/main">
  <p:tag name="TIMING" val="|0|0"/>
</p:tagLst>
</file>

<file path=ppt/tags/tag6.xml><?xml version="1.0" encoding="utf-8"?>
<p:tagLst xmlns:a="http://schemas.openxmlformats.org/drawingml/2006/main" xmlns:r="http://schemas.openxmlformats.org/officeDocument/2006/relationships" xmlns:p="http://schemas.openxmlformats.org/presentationml/2006/main">
  <p:tag name="TIMING" val="|0.3|0.4|0.2"/>
</p:tagLst>
</file>

<file path=ppt/tags/tag7.xml><?xml version="1.0" encoding="utf-8"?>
<p:tagLst xmlns:a="http://schemas.openxmlformats.org/drawingml/2006/main" xmlns:r="http://schemas.openxmlformats.org/officeDocument/2006/relationships" xmlns:p="http://schemas.openxmlformats.org/presentationml/2006/main">
  <p:tag name="TIMING" val="|54.5|14.1"/>
</p:tagLst>
</file>

<file path=ppt/tags/tag8.xml><?xml version="1.0" encoding="utf-8"?>
<p:tagLst xmlns:a="http://schemas.openxmlformats.org/drawingml/2006/main" xmlns:r="http://schemas.openxmlformats.org/officeDocument/2006/relationships" xmlns:p="http://schemas.openxmlformats.org/presentationml/2006/main">
  <p:tag name="RAINPROBLEMTYPE" val="MultipleChoiceMA"/>
  <p:tag name="RAINPROBLEM" val="MultipleChoiceMA"/>
  <p:tag name="PROBLEMSCORE" val="3.0"/>
  <p:tag name="PROBLEMSCORE_HALF" val="1.0"/>
</p:tagLst>
</file>

<file path=ppt/tags/tag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7.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1.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1.0"/>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41.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6.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0"/>
</p:tagLst>
</file>

<file path=ppt/tags/tag4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2.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5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59.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0.0"/>
</p:tagLst>
</file>

<file path=ppt/tags/tag6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7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77.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 val="MultipleChoiceMA"/>
  <p:tag name="PROBLEMSCORE" val="2.0"/>
  <p:tag name="PROBLEMSCORE_HALF" val="0.0"/>
</p:tagLst>
</file>

<file path=ppt/tags/tag8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8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9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9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99.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0"/>
</p:tagLst>
</file>

<file path=ppt/tags/tag10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0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12.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13.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17.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2.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
  <p:tag name="PROBLEMBLANK" val="[{&quot;num&quot;:1,&quot;caseSensitive&quot;:false,&quot;fuzzyMatch&quot;:true,&quot;Score&quot;:1.0,&quot;answers&quot;:[&quot;功率合成技术&quot;]}]"/>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1.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0"/>
</p:tagLst>
</file>

<file path=ppt/tags/tag13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3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3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5.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0"/>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5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54.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9.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0"/>
</p:tagLst>
</file>

<file path=ppt/tags/tag16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6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68.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3.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0"/>
</p:tagLst>
</file>

<file path=ppt/tags/tag17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7.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7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7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82.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7.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0"/>
</p:tagLst>
</file>

<file path=ppt/tags/tag18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192.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19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1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196.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1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1.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0"/>
</p:tagLst>
</file>

<file path=ppt/tags/tag20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2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0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10.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5.xml><?xml version="1.0" encoding="utf-8"?>
<p:tagLst xmlns:a="http://schemas.openxmlformats.org/drawingml/2006/main" xmlns:r="http://schemas.openxmlformats.org/officeDocument/2006/relationships" xmlns:p="http://schemas.openxmlformats.org/presentationml/2006/main">
  <p:tag name="ANONYMOUSPOLLING" val="False"/>
  <p:tag name="PROBLEMSCORE_HALF" val="0.0"/>
  <p:tag name="RAINPROBLEMTYPE" val="MultipleChoiceMA"/>
  <p:tag name="RAINPROBLEM" val="MultipleChoiceMA"/>
  <p:tag name="PROBLEMSCORE" val="1.0"/>
</p:tagLst>
</file>

<file path=ppt/tags/tag2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9.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220.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2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24.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9.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0"/>
</p:tagLst>
</file>

<file path=ppt/tags/tag23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3.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2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3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38.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3.xml><?xml version="1.0" encoding="utf-8"?>
<p:tagLst xmlns:a="http://schemas.openxmlformats.org/drawingml/2006/main" xmlns:r="http://schemas.openxmlformats.org/officeDocument/2006/relationships" xmlns:p="http://schemas.openxmlformats.org/presentationml/2006/main">
  <p:tag name="PROBLEMSCORE" val="1.0"/>
  <p:tag name="RAINPROBLEMTYPE" val="MultipleChoiceMA"/>
  <p:tag name="RAINPROBLEM" val="MultipleChoiceMA"/>
  <p:tag name="PROBLEMSCORE_HALF" val="0.0"/>
</p:tagLst>
</file>

<file path=ppt/tags/tag24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4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7.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MultipleChoiceMA"/>
</p:tagLst>
</file>

<file path=ppt/tags/tag24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24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2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252.xml><?xml version="1.0" encoding="utf-8"?>
<p:tagLst xmlns:a="http://schemas.openxmlformats.org/drawingml/2006/main" xmlns:r="http://schemas.openxmlformats.org/officeDocument/2006/relationships" xmlns:p="http://schemas.openxmlformats.org/presentationml/2006/main">
  <p:tag name="RAINPROBLEM" val="ProblemWarning"/>
</p:tagLst>
</file>

<file path=ppt/tags/tag2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CUTFF">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CU1">
      <a:majorFont>
        <a:latin typeface="Garamond"/>
        <a:ea typeface="华文行楷"/>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charset="0"/>
            <a:ea typeface="隶书"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charset="0"/>
            <a:ea typeface="隶书" pitchFamily="49" charset="-122"/>
          </a:defRPr>
        </a:defPPr>
      </a:lstStyle>
    </a:lnDef>
  </a:objectDefaults>
  <a:extraClrSchemeLst>
    <a:extraClrScheme>
      <a:clrScheme name="SCU1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SCU1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SCU1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SCU1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SCU1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SCU1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SCU1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SCU1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SCU1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5421</Words>
  <Application>Microsoft Office PowerPoint</Application>
  <PresentationFormat>全屏显示(4:3)</PresentationFormat>
  <Paragraphs>969</Paragraphs>
  <Slides>97</Slides>
  <Notes>73</Notes>
  <HiddenSlides>0</HiddenSlides>
  <MMClips>0</MMClips>
  <ScaleCrop>false</ScaleCrop>
  <HeadingPairs>
    <vt:vector size="6" baseType="variant">
      <vt:variant>
        <vt:lpstr>主题</vt:lpstr>
      </vt:variant>
      <vt:variant>
        <vt:i4>2</vt:i4>
      </vt:variant>
      <vt:variant>
        <vt:lpstr>嵌入 OLE 服务器</vt:lpstr>
      </vt:variant>
      <vt:variant>
        <vt:i4>4</vt:i4>
      </vt:variant>
      <vt:variant>
        <vt:lpstr>幻灯片标题</vt:lpstr>
      </vt:variant>
      <vt:variant>
        <vt:i4>97</vt:i4>
      </vt:variant>
    </vt:vector>
  </HeadingPairs>
  <TitlesOfParts>
    <vt:vector size="103" baseType="lpstr">
      <vt:lpstr>Office 主题</vt:lpstr>
      <vt:lpstr>SCUTFF</vt:lpstr>
      <vt:lpstr>Equation</vt:lpstr>
      <vt:lpstr>公式</vt:lpstr>
      <vt:lpstr>Visio</vt:lpstr>
      <vt:lpstr>Microsoft Visio 绘图</vt:lpstr>
      <vt:lpstr>基本知识点复习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习    题</dc:title>
  <dc:creator/>
  <cp:lastModifiedBy/>
  <cp:revision>307</cp:revision>
  <dcterms:created xsi:type="dcterms:W3CDTF">2017-05-14T08:50:09Z</dcterms:created>
  <dcterms:modified xsi:type="dcterms:W3CDTF">2024-05-21T14:16:33Z</dcterms:modified>
</cp:coreProperties>
</file>