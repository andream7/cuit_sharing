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7" r:id="rId11"/>
    <p:sldId id="268" r:id="rId12"/>
    <p:sldId id="269" r:id="rId13"/>
    <p:sldId id="270" r:id="rId14"/>
    <p:sldId id="271" r:id="rId15"/>
    <p:sldId id="272" r:id="rId16"/>
    <p:sldId id="273" r:id="rId17"/>
    <p:sldId id="274" r:id="rId18"/>
    <p:sldId id="275" r:id="rId1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F4F5E6D6-52C6-4AB9-895A-44AA2A729F69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7"/>
            <p14:sldId id="268"/>
            <p14:sldId id="269"/>
            <p14:sldId id="270"/>
            <p14:sldId id="271"/>
            <p14:sldId id="272"/>
            <p14:sldId id="273"/>
            <p14:sldId id="274"/>
            <p14:sldId id="27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5" d="100"/>
          <a:sy n="95" d="100"/>
        </p:scale>
        <p:origin x="424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008312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_slide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assets.mindshow.fun/themes/whitegreen_plants_simple_20230503/Cover-b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talog_slide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assets.mindshow.fun/themes/whitegreen_plants_simple_20230503/Catalog-b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ssion_slide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assets.mindshow.fun/themes/whitegreen_plants_simple_20230503/Session-b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_slide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nd_slide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assets.mindshow.fun/themes/whitegreen_plants_simple_20230503/Cover-b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5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7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5.sv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6.sv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363" y="1219200"/>
            <a:ext cx="3906203" cy="13335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l">
              <a:buNone/>
            </a:pPr>
            <a:r>
              <a:rPr lang="en-US" sz="2944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工程实践之五子棋游戏</a:t>
            </a:r>
            <a:endParaRPr lang="en-US" sz="2944" dirty="0"/>
          </a:p>
        </p:txBody>
      </p:sp>
      <p:sp>
        <p:nvSpPr>
          <p:cNvPr id="3" name="Text 1"/>
          <p:cNvSpPr/>
          <p:nvPr/>
        </p:nvSpPr>
        <p:spPr>
          <a:xfrm>
            <a:off x="674875" y="3648075"/>
            <a:ext cx="1943100" cy="2762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3838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毛乾屹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14363" y="4071937"/>
            <a:ext cx="1943100" cy="2762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3838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2022083036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662238" y="428625"/>
            <a:ext cx="5162550" cy="8286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CONTENTS 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2662238" y="1347787"/>
            <a:ext cx="5386388" cy="321945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 algn="l">
              <a:lnSpc>
                <a:spcPct val="150000"/>
              </a:lnSpc>
              <a:buSzPct val="100000"/>
              <a:buChar char="•"/>
            </a:pPr>
            <a:r>
              <a:rPr lang="en-US" sz="1600" dirty="0">
                <a:solidFill>
                  <a:srgbClr val="3838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介绍程序基本信息</a:t>
            </a:r>
            <a:endParaRPr lang="en-US" sz="1600" dirty="0"/>
          </a:p>
          <a:p>
            <a:pPr marL="342900" indent="-342900" algn="l">
              <a:lnSpc>
                <a:spcPct val="150000"/>
              </a:lnSpc>
              <a:buSzPct val="100000"/>
              <a:buChar char="•"/>
            </a:pPr>
            <a:r>
              <a:rPr lang="en-US" sz="1600" dirty="0">
                <a:solidFill>
                  <a:srgbClr val="3838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程序演示</a:t>
            </a:r>
            <a:endParaRPr lang="en-US" sz="1600" dirty="0"/>
          </a:p>
          <a:p>
            <a:pPr marL="342900" indent="-342900" algn="l">
              <a:lnSpc>
                <a:spcPct val="150000"/>
              </a:lnSpc>
              <a:buSzPct val="100000"/>
              <a:buChar char="•"/>
            </a:pPr>
            <a:r>
              <a:rPr lang="en-US" sz="1600" dirty="0">
                <a:solidFill>
                  <a:srgbClr val="3838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遇到的问题</a:t>
            </a:r>
            <a:endParaRPr lang="en-US" sz="1600" dirty="0"/>
          </a:p>
          <a:p>
            <a:pPr marL="342900" indent="-342900" algn="l">
              <a:lnSpc>
                <a:spcPct val="150000"/>
              </a:lnSpc>
              <a:buSzPct val="100000"/>
              <a:buChar char="•"/>
            </a:pPr>
            <a:r>
              <a:rPr lang="en-US" sz="1600" dirty="0">
                <a:solidFill>
                  <a:srgbClr val="3838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问答环节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990975" y="942975"/>
            <a:ext cx="1452563" cy="12430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5400" b="1" dirty="0">
                <a:solidFill>
                  <a:srgbClr val="8DC11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01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3990975" y="2185988"/>
            <a:ext cx="4777740" cy="195262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3838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介绍程序基本信息</a:t>
            </a:r>
            <a:endParaRPr lang="en-US" sz="3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219325" y="285750"/>
            <a:ext cx="4705350" cy="55245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920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介绍程序基本信息</a:t>
            </a:r>
            <a:endParaRPr lang="en-US" sz="1920" dirty="0"/>
          </a:p>
        </p:txBody>
      </p:sp>
      <p:sp>
        <p:nvSpPr>
          <p:cNvPr id="4" name="Text 1"/>
          <p:cNvSpPr/>
          <p:nvPr/>
        </p:nvSpPr>
        <p:spPr>
          <a:xfrm>
            <a:off x="533400" y="2690813"/>
            <a:ext cx="1614488" cy="71437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600" dirty="0">
                <a:solidFill>
                  <a:srgbClr val="3838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程序的基本功能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2686050" y="2690813"/>
            <a:ext cx="1614488" cy="3571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600" dirty="0">
                <a:solidFill>
                  <a:srgbClr val="3838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程序设计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4838700" y="2690813"/>
            <a:ext cx="1614488" cy="71437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600" dirty="0">
                <a:solidFill>
                  <a:srgbClr val="3838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功能模块划分、重点板块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6991350" y="2690813"/>
            <a:ext cx="1614488" cy="71437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600" dirty="0">
                <a:solidFill>
                  <a:srgbClr val="3838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采用的开发工具是什么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71550" y="1319213"/>
            <a:ext cx="2300288" cy="200977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920" b="1" dirty="0">
                <a:solidFill>
                  <a:srgbClr val="3838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程序的基本功能</a:t>
            </a:r>
            <a:endParaRPr lang="en-US" sz="1920" dirty="0"/>
          </a:p>
        </p:txBody>
      </p:sp>
      <p:sp>
        <p:nvSpPr>
          <p:cNvPr id="4" name="Text 1"/>
          <p:cNvSpPr/>
          <p:nvPr/>
        </p:nvSpPr>
        <p:spPr>
          <a:xfrm>
            <a:off x="4510088" y="1366838"/>
            <a:ext cx="3571875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80" dirty="0">
                <a:solidFill>
                  <a:srgbClr val="3838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五子棋游戏：黑棋先行;五子棋专用盘为15*15方格，五个子的连接方向为横、竖、斜，当任一方的五个子在各方向上连成一线时，则该方获胜。</a:t>
            </a:r>
            <a:endParaRPr lang="en-US" sz="128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228600"/>
            <a:ext cx="7806690" cy="5524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功能模块划分、重点板块</a:t>
            </a:r>
            <a:endParaRPr lang="en-US" sz="24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61672" y="1168360"/>
            <a:ext cx="7449207" cy="33337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9978" y="1074717"/>
            <a:ext cx="2975084" cy="97512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36" dirty="0">
                <a:solidFill>
                  <a:srgbClr val="3838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欢迎界面模块，初始化模块，下棋模块，判断胜负，玩家注册模块，积分排行模块，人机对战模块</a:t>
            </a:r>
            <a:endParaRPr lang="en-US" sz="1236" dirty="0"/>
          </a:p>
        </p:txBody>
      </p:sp>
      <p:sp>
        <p:nvSpPr>
          <p:cNvPr id="5" name="Text 2"/>
          <p:cNvSpPr/>
          <p:nvPr/>
        </p:nvSpPr>
        <p:spPr>
          <a:xfrm>
            <a:off x="4982889" y="1168360"/>
            <a:ext cx="2975084" cy="42887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36" dirty="0">
                <a:solidFill>
                  <a:srgbClr val="3838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 重点模块：下棋模块，判断胜负</a:t>
            </a:r>
            <a:endParaRPr lang="en-US" sz="1236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59CFC08A-D89A-A18E-D9D1-6D0DC5279F7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9978" y="2105938"/>
            <a:ext cx="3202427" cy="2422647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A20A5952-E89C-A8D0-5AA1-08B937B41F3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22407" y="1534258"/>
            <a:ext cx="3245930" cy="288937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228600"/>
            <a:ext cx="7806690" cy="5524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采用的开发工具是什么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62000" y="1304925"/>
            <a:ext cx="1390650" cy="3429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 algn="l">
              <a:lnSpc>
                <a:spcPct val="150000"/>
              </a:lnSpc>
              <a:buSzPct val="100000"/>
              <a:buChar char="•"/>
            </a:pPr>
            <a:r>
              <a:rPr lang="en-US" sz="1536" dirty="0">
                <a:solidFill>
                  <a:srgbClr val="3838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小熊猫c++</a:t>
            </a:r>
            <a:endParaRPr lang="en-US" sz="1536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F7A40048-E204-8143-81F6-F2D09CB01D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2060548"/>
            <a:ext cx="8001411" cy="1022403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5FA2BA5A-FB34-841C-BB27-04D798A2058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44588" y="1301732"/>
            <a:ext cx="831893" cy="69218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990975" y="942975"/>
            <a:ext cx="1452563" cy="12430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5400" b="1" dirty="0">
                <a:solidFill>
                  <a:srgbClr val="8DC11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02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3990975" y="2185988"/>
            <a:ext cx="4777740" cy="195262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3838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程序演示</a:t>
            </a:r>
            <a:endParaRPr lang="en-US" sz="3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71550" y="1090613"/>
            <a:ext cx="7286625" cy="50006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760" b="1" dirty="0">
                <a:solidFill>
                  <a:srgbClr val="3838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程序演示</a:t>
            </a:r>
            <a:endParaRPr lang="en-US" sz="1760" dirty="0"/>
          </a:p>
        </p:txBody>
      </p:sp>
      <p:sp>
        <p:nvSpPr>
          <p:cNvPr id="4" name="Text 1"/>
          <p:cNvSpPr/>
          <p:nvPr/>
        </p:nvSpPr>
        <p:spPr>
          <a:xfrm>
            <a:off x="800100" y="3124200"/>
            <a:ext cx="2286000" cy="9525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80" dirty="0">
                <a:solidFill>
                  <a:srgbClr val="3838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展示程序的界面设计、功能可用性、容错处理等等方面</a:t>
            </a:r>
            <a:endParaRPr lang="en-US" sz="1280" dirty="0"/>
          </a:p>
        </p:txBody>
      </p:sp>
      <p:sp>
        <p:nvSpPr>
          <p:cNvPr id="5" name="Text 2"/>
          <p:cNvSpPr/>
          <p:nvPr/>
        </p:nvSpPr>
        <p:spPr>
          <a:xfrm>
            <a:off x="3429000" y="3124200"/>
            <a:ext cx="2286000" cy="381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80" dirty="0" err="1">
                <a:solidFill>
                  <a:srgbClr val="3838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统计代码量</a:t>
            </a:r>
            <a:r>
              <a:rPr lang="zh-CN" altLang="en-US" sz="1280" dirty="0">
                <a:solidFill>
                  <a:srgbClr val="3838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</a:t>
            </a:r>
            <a:endParaRPr lang="en-US" sz="1280" dirty="0">
              <a:solidFill>
                <a:srgbClr val="383838"/>
              </a:solidFill>
              <a:latin typeface="Noto Sans SC" pitchFamily="34" charset="0"/>
              <a:ea typeface="Noto Sans SC" pitchFamily="34" charset="-122"/>
              <a:cs typeface="Noto Sans SC" pitchFamily="34" charset="-120"/>
            </a:endParaRPr>
          </a:p>
          <a:p>
            <a:pPr marL="0" indent="0" algn="l">
              <a:lnSpc>
                <a:spcPct val="150000"/>
              </a:lnSpc>
              <a:buNone/>
            </a:pPr>
            <a:endParaRPr lang="en-US" sz="1280" dirty="0">
              <a:solidFill>
                <a:srgbClr val="383838"/>
              </a:solidFill>
              <a:latin typeface="Noto Sans SC" pitchFamily="34" charset="0"/>
              <a:ea typeface="Noto Sans SC" pitchFamily="34" charset="-122"/>
            </a:endParaRPr>
          </a:p>
          <a:p>
            <a:pPr marL="0" indent="0" algn="l">
              <a:lnSpc>
                <a:spcPct val="150000"/>
              </a:lnSpc>
              <a:buNone/>
            </a:pPr>
            <a:r>
              <a:rPr lang="en-US" sz="1280" dirty="0">
                <a:solidFill>
                  <a:srgbClr val="383838"/>
                </a:solidFill>
                <a:latin typeface="Noto Sans SC" pitchFamily="34" charset="0"/>
                <a:ea typeface="Noto Sans SC" pitchFamily="34" charset="-122"/>
              </a:rPr>
              <a:t>397</a:t>
            </a:r>
            <a:r>
              <a:rPr lang="zh-CN" altLang="en-US" sz="1280" dirty="0">
                <a:solidFill>
                  <a:srgbClr val="383838"/>
                </a:solidFill>
                <a:latin typeface="Noto Sans SC" pitchFamily="34" charset="0"/>
                <a:ea typeface="Noto Sans SC" pitchFamily="34" charset="-122"/>
              </a:rPr>
              <a:t>行</a:t>
            </a:r>
            <a:endParaRPr lang="en-US" sz="1280" dirty="0"/>
          </a:p>
        </p:txBody>
      </p:sp>
      <p:sp>
        <p:nvSpPr>
          <p:cNvPr id="6" name="Text 3"/>
          <p:cNvSpPr/>
          <p:nvPr/>
        </p:nvSpPr>
        <p:spPr>
          <a:xfrm>
            <a:off x="6057900" y="3124200"/>
            <a:ext cx="2286000" cy="381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80" dirty="0" err="1">
                <a:solidFill>
                  <a:srgbClr val="3838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展示代码规范应用情况</a:t>
            </a:r>
            <a:r>
              <a:rPr lang="zh-CN" altLang="en-US" sz="1280" dirty="0">
                <a:solidFill>
                  <a:srgbClr val="3838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</a:t>
            </a:r>
            <a:endParaRPr lang="en-US" sz="1280" dirty="0">
              <a:solidFill>
                <a:srgbClr val="383838"/>
              </a:solidFill>
              <a:latin typeface="Noto Sans SC" pitchFamily="34" charset="0"/>
              <a:ea typeface="Noto Sans SC" pitchFamily="34" charset="-122"/>
              <a:cs typeface="Noto Sans SC" pitchFamily="34" charset="-120"/>
            </a:endParaRPr>
          </a:p>
          <a:p>
            <a:pPr>
              <a:lnSpc>
                <a:spcPct val="150000"/>
              </a:lnSpc>
            </a:pPr>
            <a:r>
              <a:rPr lang="en-US" altLang="zh-CN" sz="1400" dirty="0" err="1">
                <a:solidFill>
                  <a:srgbClr val="3838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命名法驼峰命名法；程序分为三个文件，一个头文件，一个c函数文件，一个主程序</a:t>
            </a:r>
            <a:r>
              <a:rPr lang="en-US" altLang="zh-CN" sz="1400" dirty="0">
                <a:solidFill>
                  <a:srgbClr val="3838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；</a:t>
            </a:r>
            <a:endParaRPr lang="en-US" altLang="zh-CN" sz="1400" dirty="0"/>
          </a:p>
          <a:p>
            <a:pPr marL="0" indent="0" algn="l">
              <a:lnSpc>
                <a:spcPct val="150000"/>
              </a:lnSpc>
              <a:buNone/>
            </a:pPr>
            <a:endParaRPr lang="en-US" sz="128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990975" y="942975"/>
            <a:ext cx="1452563" cy="12430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5400" b="1" dirty="0">
                <a:solidFill>
                  <a:srgbClr val="8DC11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03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3990975" y="2185988"/>
            <a:ext cx="4777740" cy="195262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3838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遇到的问题</a:t>
            </a:r>
            <a:endParaRPr lang="en-US" sz="3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228600"/>
            <a:ext cx="7806690" cy="5524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遇到的问题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62000" y="1304925"/>
            <a:ext cx="4676775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 algn="l">
              <a:lnSpc>
                <a:spcPct val="150000"/>
              </a:lnSpc>
              <a:buSzPct val="100000"/>
              <a:buChar char="•"/>
            </a:pPr>
            <a:r>
              <a:rPr lang="en-US" sz="1536" dirty="0">
                <a:solidFill>
                  <a:srgbClr val="3838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你在设计中遇到过哪些问题？如何解决的？</a:t>
            </a:r>
            <a:endParaRPr lang="en-US" sz="1536" dirty="0"/>
          </a:p>
          <a:p>
            <a:pPr marL="342900" indent="-342900" algn="l">
              <a:lnSpc>
                <a:spcPct val="150000"/>
              </a:lnSpc>
              <a:buSzPct val="100000"/>
              <a:buChar char="•"/>
            </a:pPr>
            <a:r>
              <a:rPr lang="en-US" sz="1536" dirty="0">
                <a:solidFill>
                  <a:srgbClr val="3838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你对自己的程序有什么改进设想？</a:t>
            </a:r>
            <a:endParaRPr lang="en-US" sz="1536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228600"/>
            <a:ext cx="7806690" cy="5524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你在设计中遇到过哪些问题？如何解决的？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62000" y="1304925"/>
            <a:ext cx="7715250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 algn="l">
              <a:lnSpc>
                <a:spcPct val="150000"/>
              </a:lnSpc>
              <a:buSzPct val="100000"/>
              <a:buChar char="•"/>
            </a:pPr>
            <a:r>
              <a:rPr lang="en-US" sz="1536" dirty="0">
                <a:solidFill>
                  <a:srgbClr val="3838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多文件编程出现问题，新建成了图形界面应用程序，导致一直打不开exe程序，cpu一直被占用，后来换成了控制台程序</a:t>
            </a:r>
            <a:endParaRPr lang="en-US" sz="1536" dirty="0"/>
          </a:p>
          <a:p>
            <a:pPr marL="342900" indent="-342900" algn="l">
              <a:lnSpc>
                <a:spcPct val="150000"/>
              </a:lnSpc>
              <a:buSzPct val="100000"/>
              <a:buChar char="•"/>
            </a:pPr>
            <a:r>
              <a:rPr lang="en-US" sz="1536" dirty="0">
                <a:solidFill>
                  <a:srgbClr val="3838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switch case结构中，最开始输入数字以外的字符程序会发生错误，改进为：输入改为字符的形式</a:t>
            </a:r>
            <a:endParaRPr lang="en-US" sz="1536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71550" y="1319213"/>
            <a:ext cx="2300288" cy="200977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920" b="1" dirty="0">
                <a:solidFill>
                  <a:srgbClr val="3838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你对自己的程序有什么改进设想？</a:t>
            </a:r>
            <a:endParaRPr lang="en-US" sz="1920" dirty="0"/>
          </a:p>
        </p:txBody>
      </p:sp>
      <p:sp>
        <p:nvSpPr>
          <p:cNvPr id="4" name="Text 1"/>
          <p:cNvSpPr/>
          <p:nvPr/>
        </p:nvSpPr>
        <p:spPr>
          <a:xfrm>
            <a:off x="4510088" y="1366838"/>
            <a:ext cx="3571875" cy="42862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920" dirty="0">
                <a:solidFill>
                  <a:srgbClr val="3838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优化人机算法</a:t>
            </a:r>
            <a:endParaRPr lang="en-US" sz="1920" dirty="0"/>
          </a:p>
        </p:txBody>
      </p:sp>
      <p:sp>
        <p:nvSpPr>
          <p:cNvPr id="5" name="Text 2"/>
          <p:cNvSpPr/>
          <p:nvPr/>
        </p:nvSpPr>
        <p:spPr>
          <a:xfrm>
            <a:off x="4510088" y="2224088"/>
            <a:ext cx="3571875" cy="42862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920" dirty="0">
                <a:solidFill>
                  <a:srgbClr val="3838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优化图形化界面</a:t>
            </a:r>
            <a:endParaRPr lang="en-US" sz="192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990975" y="942975"/>
            <a:ext cx="1452563" cy="12430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5400" b="1" dirty="0">
                <a:solidFill>
                  <a:srgbClr val="8DC11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04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3990975" y="2185988"/>
            <a:ext cx="4777740" cy="195262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3838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问答环节</a:t>
            </a:r>
            <a:endParaRPr lang="en-US" sz="3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228600"/>
            <a:ext cx="7806690" cy="5524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问答环节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62000" y="1304925"/>
            <a:ext cx="4676775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 algn="l">
              <a:lnSpc>
                <a:spcPct val="150000"/>
              </a:lnSpc>
              <a:buSzPct val="100000"/>
              <a:buChar char="•"/>
            </a:pPr>
            <a:r>
              <a:rPr lang="en-US" sz="1536" dirty="0">
                <a:solidFill>
                  <a:srgbClr val="3838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你对软件工程师职责的认识是怎样的</a:t>
            </a:r>
            <a:endParaRPr lang="en-US" sz="1536" dirty="0"/>
          </a:p>
          <a:p>
            <a:pPr marL="342900" indent="-342900" algn="l">
              <a:lnSpc>
                <a:spcPct val="150000"/>
              </a:lnSpc>
              <a:buSzPct val="100000"/>
              <a:buChar char="•"/>
            </a:pPr>
            <a:r>
              <a:rPr lang="en-US" sz="1536" dirty="0">
                <a:solidFill>
                  <a:srgbClr val="3838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你对工程伦理问题的学习和认识是怎样的？</a:t>
            </a:r>
            <a:endParaRPr lang="en-US" sz="1536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228600"/>
            <a:ext cx="7806690" cy="5524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你对软件工程师职责的认识是怎样的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62000" y="1304925"/>
            <a:ext cx="771525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 algn="l">
              <a:lnSpc>
                <a:spcPct val="150000"/>
              </a:lnSpc>
              <a:buSzPct val="100000"/>
              <a:buChar char="•"/>
            </a:pPr>
            <a:r>
              <a:rPr lang="en-US" sz="1536" dirty="0">
                <a:solidFill>
                  <a:srgbClr val="3838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作为一个软件工程师，职责主要包括以下几个方面：软件设计，编码实现，软件测试，软件维护,团队协作：软件工程师需要与团队成员合作，包括与其他开发人员、测试人员、项目经理等进行有效沟通和协作，以完成项目目标。</a:t>
            </a:r>
            <a:endParaRPr lang="en-US" sz="1536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228600"/>
            <a:ext cx="7806690" cy="5524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你对工程伦理问题的学习和认识是怎样的？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62000" y="1304925"/>
            <a:ext cx="7715250" cy="10287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 algn="l">
              <a:lnSpc>
                <a:spcPct val="150000"/>
              </a:lnSpc>
              <a:buSzPct val="100000"/>
              <a:buChar char="•"/>
            </a:pPr>
            <a:r>
              <a:rPr lang="en-US" sz="1536" dirty="0">
                <a:solidFill>
                  <a:srgbClr val="3838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工程伦理是指在工程实践中，遵循职业规范和职业道德，保障公众利益和人类福祉的一种伦理观念。我会在我的工程实践中，始终遵循职业规范和职业道德，注重保障公众利益和人类福祉。</a:t>
            </a:r>
            <a:endParaRPr lang="en-US" sz="1536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0063" y="1614488"/>
            <a:ext cx="3395663" cy="5524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THE END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00063" y="2057400"/>
            <a:ext cx="3395663" cy="103346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500" b="1" dirty="0">
                <a:solidFill>
                  <a:srgbClr val="8DC11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THANKS</a:t>
            </a:r>
            <a:endParaRPr lang="en-US" sz="4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</TotalTime>
  <Words>193</Words>
  <Application>Microsoft Office PowerPoint</Application>
  <PresentationFormat>全屏显示(16:9)</PresentationFormat>
  <Paragraphs>71</Paragraphs>
  <Slides>18</Slides>
  <Notes>18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18</vt:i4>
      </vt:variant>
    </vt:vector>
  </HeadingPairs>
  <TitlesOfParts>
    <vt:vector size="23" baseType="lpstr">
      <vt:lpstr>Noto Sans SC</vt:lpstr>
      <vt:lpstr>等线</vt:lpstr>
      <vt:lpstr>Arial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工程实践之五子棋游戏</dc:title>
  <dc:subject/>
  <dc:creator>毛乾屹</dc:creator>
  <cp:lastModifiedBy>1774150482@qq.com</cp:lastModifiedBy>
  <cp:revision>9</cp:revision>
  <dcterms:created xsi:type="dcterms:W3CDTF">2023-05-10T14:06:41Z</dcterms:created>
  <dcterms:modified xsi:type="dcterms:W3CDTF">2023-05-10T14:44:00Z</dcterms:modified>
</cp:coreProperties>
</file>