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ink/ink2.xml" ContentType="application/inkml+xml"/>
  <Override PartName="/ppt/notesSlides/notesSlide8.xml" ContentType="application/vnd.openxmlformats-officedocument.presentationml.notesSlide+xml"/>
  <Override PartName="/ppt/ink/ink3.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4.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5.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6.xml" ContentType="application/inkml+xml"/>
  <Override PartName="/ppt/ink/ink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0"/>
  </p:notesMasterIdLst>
  <p:sldIdLst>
    <p:sldId id="256" r:id="rId2"/>
    <p:sldId id="865" r:id="rId3"/>
    <p:sldId id="866" r:id="rId4"/>
    <p:sldId id="867" r:id="rId5"/>
    <p:sldId id="868" r:id="rId6"/>
    <p:sldId id="869" r:id="rId7"/>
    <p:sldId id="870" r:id="rId8"/>
    <p:sldId id="871" r:id="rId9"/>
    <p:sldId id="872" r:id="rId10"/>
    <p:sldId id="873" r:id="rId11"/>
    <p:sldId id="874" r:id="rId12"/>
    <p:sldId id="875" r:id="rId13"/>
    <p:sldId id="876" r:id="rId14"/>
    <p:sldId id="877" r:id="rId15"/>
    <p:sldId id="878" r:id="rId16"/>
    <p:sldId id="879" r:id="rId17"/>
    <p:sldId id="880" r:id="rId18"/>
    <p:sldId id="881" r:id="rId19"/>
    <p:sldId id="882" r:id="rId20"/>
    <p:sldId id="883" r:id="rId21"/>
    <p:sldId id="884" r:id="rId22"/>
    <p:sldId id="885" r:id="rId23"/>
    <p:sldId id="886" r:id="rId24"/>
    <p:sldId id="887" r:id="rId25"/>
    <p:sldId id="888" r:id="rId26"/>
    <p:sldId id="889" r:id="rId27"/>
    <p:sldId id="890" r:id="rId28"/>
    <p:sldId id="891" r:id="rId29"/>
  </p:sldIdLst>
  <p:sldSz cx="9144000" cy="5141913"/>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p15:clr>
            <a:srgbClr val="A4A3A4"/>
          </p15:clr>
        </p15:guide>
        <p15:guide id="2" pos="2880">
          <p15:clr>
            <a:srgbClr val="A4A3A4"/>
          </p15:clr>
        </p15:guide>
        <p15:guide id="3" pos="129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434"/>
    <a:srgbClr val="EEAF57"/>
    <a:srgbClr val="108692"/>
    <a:srgbClr val="16B2C1"/>
    <a:srgbClr val="19BAA9"/>
    <a:srgbClr val="B2D138"/>
    <a:srgbClr val="89A13D"/>
    <a:srgbClr val="E33F24"/>
    <a:srgbClr val="138F81"/>
    <a:srgbClr val="A44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1502" autoAdjust="0"/>
    <p:restoredTop sz="93450" autoAdjust="0"/>
  </p:normalViewPr>
  <p:slideViewPr>
    <p:cSldViewPr showGuides="1">
      <p:cViewPr varScale="1">
        <p:scale>
          <a:sx n="103" d="100"/>
          <a:sy n="103" d="100"/>
        </p:scale>
        <p:origin x="288" y="77"/>
      </p:cViewPr>
      <p:guideLst>
        <p:guide orient="horz" pos="1619"/>
        <p:guide pos="2880"/>
        <p:guide pos="1292"/>
      </p:guideLst>
    </p:cSldViewPr>
  </p:slideViewPr>
  <p:notesTextViewPr>
    <p:cViewPr>
      <p:scale>
        <a:sx n="1" d="1"/>
        <a:sy n="1" d="1"/>
      </p:scale>
      <p:origin x="0" y="0"/>
    </p:cViewPr>
  </p:notesTextViewPr>
  <p:sorterViewPr>
    <p:cViewPr>
      <p:scale>
        <a:sx n="120" d="100"/>
        <a:sy n="120" d="100"/>
      </p:scale>
      <p:origin x="0" y="-43531"/>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3T08:51:33.599"/>
    </inkml:context>
    <inkml:brush xml:id="br0">
      <inkml:brushProperty name="width" value="0.35" units="cm"/>
      <inkml:brushProperty name="height" value="0.35" units="cm"/>
      <inkml:brushProperty name="color" value="#FFFFFF"/>
    </inkml:brush>
  </inkml:definitions>
  <inkml:trace contextRef="#ctx0" brushRef="#br0">0 43 24575,'108'2'0,"116"-5"0,-197-1 0,46-12 0,-52 10 0,0 1 0,1 1 0,40-2 0,1632 7-1365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3T08:51:37.806"/>
    </inkml:context>
    <inkml:brush xml:id="br0">
      <inkml:brushProperty name="width" value="0.35" units="cm"/>
      <inkml:brushProperty name="height" value="0.35" units="cm"/>
      <inkml:brushProperty name="color" value="#FFFFFF"/>
    </inkml:brush>
  </inkml:definitions>
  <inkml:trace contextRef="#ctx0" brushRef="#br0">0 0 24575,'600'0'0,"-575"1"0,44 9 0,-44-6 0,42 2 0,326-6 0,-369 1 0,45 8 0,-44-4 0,43 1 0,510-7 0,-563 2 0,1 1 0,27 6 0,-26-5 0,-1 0 0,21 1 0,5-3 0,-17-2 0,0 2 0,-1 1 0,34 7 0,-42-6-455,0 0 0,25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3T08:51:41.728"/>
    </inkml:context>
    <inkml:brush xml:id="br0">
      <inkml:brushProperty name="width" value="0.35" units="cm"/>
      <inkml:brushProperty name="height" value="0.35" units="cm"/>
      <inkml:brushProperty name="color" value="#FFFFFF"/>
    </inkml:brush>
  </inkml:definitions>
  <inkml:trace contextRef="#ctx0" brushRef="#br0">0 0 24575,'44'17'0,"120"0"0,-110-10 0,-1-3 0,97-5 0,-52-1 0,-60 2 0,-8-1 0,0 1 0,0 2 0,54 10 0,-50-7 0,1-1 0,0-1 0,0-2 0,43-4 0,6 1 0,494 2 0,-563 0 0,1 2 0,27 6 0,-26-4 0,0-1 0,19 1 0,16-4 0,-26 0 0,0 0 0,-1 2 0,40 7 0,-29-3 15,0-2 1,-1-1-1,1-2 0,40-4 0,6 1-1456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3T08:51:48.950"/>
    </inkml:context>
    <inkml:brush xml:id="br0">
      <inkml:brushProperty name="width" value="0.35" units="cm"/>
      <inkml:brushProperty name="height" value="0.35" units="cm"/>
      <inkml:brushProperty name="color" value="#FFFFFF"/>
    </inkml:brush>
  </inkml:definitions>
  <inkml:trace contextRef="#ctx0" brushRef="#br0">1 145 24575,'0'-1'0,"1"0"0,-1 1 0,0-1 0,1 0 0,-1 0 0,1 0 0,-1 0 0,1 1 0,0-1 0,-1 0 0,1 0 0,0 1 0,0-1 0,-1 0 0,1 1 0,0-1 0,0 1 0,0-1 0,0 1 0,0 0 0,0-1 0,0 1 0,0 0 0,0 0 0,0 0 0,0-1 0,1 1 0,32-4 0,-30 4 0,52-2 0,-32 2 0,0-1 0,0-1 0,25-6 0,-13 3 0,0 1 0,0 1 0,0 2 0,38 4 0,9-1 0,620-2 0,-679-1 0,45-8 0,-44 4 0,42-1 0,-37 6 0,-5 1 0,0-2 0,-1-1 0,46-8 0,-36 4 0,0 2 0,0 1 0,0 2 0,49 4 0,-1-1 0,-58-3 0,45-8 0,-44 5 0,42-3 0,-46 7 0,0-1 0,0-1 0,28-7 0,-27 5 0,1 1 0,35 0 0,-35 3 0,-1-2 0,37-6 0,-37 4-341,-1 2 0,1 0-1,27 1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3T08:52:09.069"/>
    </inkml:context>
    <inkml:brush xml:id="br0">
      <inkml:brushProperty name="width" value="0.35" units="cm"/>
      <inkml:brushProperty name="height" value="0.35" units="cm"/>
      <inkml:brushProperty name="color" value="#FFFFFF"/>
    </inkml:brush>
  </inkml:definitions>
  <inkml:trace contextRef="#ctx0" brushRef="#br0">1 0 24575,'6'1'0,"1"0"0,-1 0 0,1 0 0,9 5 0,21 3 0,32 1 0,-46-5 0,0-1 0,31 0 0,1-5 0,-26 0 0,1 1 0,-1 1 0,0 2 0,35 7 0,-33-5 0,1-1 0,0-1 0,0-2 0,45-3 0,-2 0 0,546 2 0,-597 1 0,45 8 0,-44-4 0,43 1 0,861-7 0,-917 0-289,-1 0 0,1-1 0,21-6 0,-31 8 80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3T08:52:14.678"/>
    </inkml:context>
    <inkml:brush xml:id="br0">
      <inkml:brushProperty name="width" value="0.35" units="cm"/>
      <inkml:brushProperty name="height" value="0.35" units="cm"/>
      <inkml:brushProperty name="color" value="#FFFFFF"/>
    </inkml:brush>
  </inkml:definitions>
  <inkml:trace contextRef="#ctx0" brushRef="#br0">1 1 24575,'1962'0'-1365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3T08:52:51.397"/>
    </inkml:context>
    <inkml:brush xml:id="br0">
      <inkml:brushProperty name="width" value="0.35" units="cm"/>
      <inkml:brushProperty name="height" value="0.35" units="cm"/>
      <inkml:brushProperty name="color" value="#FFFFFF"/>
    </inkml:brush>
  </inkml:definitions>
  <inkml:trace contextRef="#ctx0" brushRef="#br0">638 68 24575,'-3'1'0,"0"-1"0,1 0 0,-1 0 0,0 1 0,0 0 0,0 0 0,0-1 0,0 2 0,1-1 0,-1 0 0,0 0 0,1 1 0,-1 0 0,1-1 0,0 1 0,-1 0 0,-2 4 0,-2 2 0,1 1 0,0-1 0,-8 17 0,9-17 0,1 0 0,-1 0 0,0 0 0,-1-1 0,-7 8 0,11-13 0,0-1 0,0 1 0,0 0 0,0-1 0,-1 1 0,1-1 0,-1 0 0,1 0 0,-1 0 0,0 0 0,1 0 0,-1-1 0,0 1 0,0-1 0,1 0 0,-1 0 0,0 0 0,0 0 0,1 0 0,-1 0 0,-3-2 0,-5-1 0,1-1 0,-1 0 0,1-1 0,0 0 0,1-1 0,-1 0 0,1 0 0,0-1 0,-15-14 0,13 10 0,-2 1 0,1 1 0,-1 0 0,-15-8 0,28 17 0,-1 0 0,0 0 0,1-1 0,-1 1 0,0 0 0,1 0 0,-1 0 0,0 0 0,1 0 0,-1 0 0,0 0 0,1 0 0,-1 0 0,1 0 0,-1 0 0,0 1 0,1-1 0,-1 0 0,0 0 0,1 1 0,-1-1 0,1 0 0,-1 1 0,1-1 0,-1 0 0,1 1 0,-1-1 0,1 1 0,-1-1 0,1 1 0,-1-1 0,1 1 0,0-1 0,-1 1 0,1 0 0,0-1 0,-1 1 0,1-1 0,0 1 0,0 0 0,0-1 0,0 2 0,-8 39 0,6-23 0,-1-10 0,2 0 0,-1 0 0,1 1 0,0-1 0,1 0 0,-1 1 0,2-1 0,1 10 0,-2-15 0,1-1 0,0 1 0,0 0 0,0-1 0,0 1 0,1-1 0,-1 1 0,1-1 0,-1 0 0,1 1 0,0-1 0,0 0 0,0 0 0,0 0 0,0 0 0,1-1 0,-1 1 0,0-1 0,1 1 0,-1-1 0,1 0 0,0 0 0,-1 0 0,1 0 0,0 0 0,0-1 0,4 1 0,48 8 0,0-2 0,73-1 0,-161-6 0,1-1 0,-1-1 0,-35-8 0,45 6 0,0 1 0,-24 0 0,24 2 0,0-1 0,-24-6 0,5 2 0,34 6 0,0-1 0,0 0 0,0 0 0,0-1 0,-14-5 0,20 6 0,-1-1 0,1 1 0,0 0 0,0-1 0,0 0 0,0 1 0,0-1 0,0 0 0,1 0 0,-1 0 0,1 0 0,-1 0 0,1-1 0,0 1 0,0 0 0,0-1 0,0 1 0,0 0 0,0-1 0,1 1 0,-1-1 0,1 1 0,0-4 0,-4-16 0,-11-40 0,-2-4 0,17 64 0,-1 1 0,1-1 0,0 0 0,-1 0 0,1 0 0,0 0 0,0-1 0,1 1 0,-1 0 0,0 1 0,1-1 0,-1 0 0,1 0 0,-1 0 0,1 0 0,0 0 0,0 0 0,0 1 0,0-1 0,0 0 0,0 1 0,1-1 0,-1 1 0,0-1 0,1 1 0,-1 0 0,1-1 0,0 1 0,-1 0 0,1 0 0,0 0 0,0 0 0,0 0 0,-1 1 0,1-1 0,0 1 0,0-1 0,3 0 0,9 0 0,0-1 0,0 1 0,0 1 0,23 3 0,-9-1 0,56-1-1365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044898-C4BB-437C-9A8D-230A78619F8D}" type="datetimeFigureOut">
              <a:rPr lang="zh-CN" altLang="en-US" smtClean="0"/>
              <a:t>2024/11/4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5AF454-C1DB-447C-9EEC-A5F3AC4DF9C4}" type="slidenum">
              <a:rPr lang="zh-CN" altLang="en-US" smtClean="0"/>
              <a:t>‹#›</a:t>
            </a:fld>
            <a:endParaRPr lang="zh-CN" altLang="en-US"/>
          </a:p>
        </p:txBody>
      </p:sp>
    </p:spTree>
    <p:extLst>
      <p:ext uri="{BB962C8B-B14F-4D97-AF65-F5344CB8AC3E}">
        <p14:creationId xmlns:p14="http://schemas.microsoft.com/office/powerpoint/2010/main" val="3508784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4ED5ADF-93AE-4238-903C-1AC36264F4B8}" type="slidenum">
              <a:rPr lang="zh-CN" altLang="en-US" smtClean="0"/>
              <a:pPr/>
              <a:t>1</a:t>
            </a:fld>
            <a:endParaRPr lang="zh-CN" altLang="en-US"/>
          </a:p>
        </p:txBody>
      </p:sp>
    </p:spTree>
    <p:extLst>
      <p:ext uri="{BB962C8B-B14F-4D97-AF65-F5344CB8AC3E}">
        <p14:creationId xmlns:p14="http://schemas.microsoft.com/office/powerpoint/2010/main" val="41125877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2</a:t>
            </a:fld>
            <a:endParaRPr lang="zh-CN" altLang="en-US"/>
          </a:p>
        </p:txBody>
      </p:sp>
    </p:spTree>
    <p:extLst>
      <p:ext uri="{BB962C8B-B14F-4D97-AF65-F5344CB8AC3E}">
        <p14:creationId xmlns:p14="http://schemas.microsoft.com/office/powerpoint/2010/main" val="3937234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9AED1-6F9A-C8E2-7D0B-D4F9047EB8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B1320F-DC96-616A-8EB2-E73B2B7567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C5CD56-8C66-C64D-1D9C-F3C6654C54F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79A0E0B-EC3D-3240-EBA6-83837E01568F}"/>
              </a:ext>
            </a:extLst>
          </p:cNvPr>
          <p:cNvSpPr>
            <a:spLocks noGrp="1"/>
          </p:cNvSpPr>
          <p:nvPr>
            <p:ph type="sldNum" sz="quarter" idx="10"/>
          </p:nvPr>
        </p:nvSpPr>
        <p:spPr/>
        <p:txBody>
          <a:bodyPr/>
          <a:lstStyle/>
          <a:p>
            <a:fld id="{2F3082F6-F77F-487A-A20D-05E951C2AB1F}" type="slidenum">
              <a:rPr lang="zh-CN" altLang="en-US" smtClean="0"/>
              <a:t>3</a:t>
            </a:fld>
            <a:endParaRPr lang="zh-CN" altLang="en-US"/>
          </a:p>
        </p:txBody>
      </p:sp>
    </p:spTree>
    <p:extLst>
      <p:ext uri="{BB962C8B-B14F-4D97-AF65-F5344CB8AC3E}">
        <p14:creationId xmlns:p14="http://schemas.microsoft.com/office/powerpoint/2010/main" val="2123418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1435F-AA9F-4574-155B-1E2B177D6B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AD9760-752D-901D-396C-7B76A94756A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E9CC4B-066C-76F7-B342-9066FDCF17A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8A63774-7D9B-A50C-6818-73D9BC664E94}"/>
              </a:ext>
            </a:extLst>
          </p:cNvPr>
          <p:cNvSpPr>
            <a:spLocks noGrp="1"/>
          </p:cNvSpPr>
          <p:nvPr>
            <p:ph type="sldNum" sz="quarter" idx="10"/>
          </p:nvPr>
        </p:nvSpPr>
        <p:spPr/>
        <p:txBody>
          <a:bodyPr/>
          <a:lstStyle/>
          <a:p>
            <a:fld id="{2F3082F6-F77F-487A-A20D-05E951C2AB1F}" type="slidenum">
              <a:rPr lang="zh-CN" altLang="en-US" smtClean="0"/>
              <a:t>4</a:t>
            </a:fld>
            <a:endParaRPr lang="zh-CN" altLang="en-US"/>
          </a:p>
        </p:txBody>
      </p:sp>
    </p:spTree>
    <p:extLst>
      <p:ext uri="{BB962C8B-B14F-4D97-AF65-F5344CB8AC3E}">
        <p14:creationId xmlns:p14="http://schemas.microsoft.com/office/powerpoint/2010/main" val="1806113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5BC8A-3F60-8D2D-B347-50FEDF5C5C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8D0324-4A51-2B07-0F97-96A84A92A1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6D2B854-BD80-DF1C-D43C-CFF3033A954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8D5008A-BC3D-0D9A-3DA3-EEC53BD187A2}"/>
              </a:ext>
            </a:extLst>
          </p:cNvPr>
          <p:cNvSpPr>
            <a:spLocks noGrp="1"/>
          </p:cNvSpPr>
          <p:nvPr>
            <p:ph type="sldNum" sz="quarter" idx="10"/>
          </p:nvPr>
        </p:nvSpPr>
        <p:spPr/>
        <p:txBody>
          <a:bodyPr/>
          <a:lstStyle/>
          <a:p>
            <a:fld id="{2F3082F6-F77F-487A-A20D-05E951C2AB1F}" type="slidenum">
              <a:rPr lang="zh-CN" altLang="en-US" smtClean="0"/>
              <a:t>5</a:t>
            </a:fld>
            <a:endParaRPr lang="zh-CN" altLang="en-US"/>
          </a:p>
        </p:txBody>
      </p:sp>
    </p:spTree>
    <p:extLst>
      <p:ext uri="{BB962C8B-B14F-4D97-AF65-F5344CB8AC3E}">
        <p14:creationId xmlns:p14="http://schemas.microsoft.com/office/powerpoint/2010/main" val="2833407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EE617-E83E-ACF0-2029-3DEADF81EA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B87CF3-7DF8-3DFF-345E-4E17D480FB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2F97E8-332E-1518-8798-CF50016A827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A55F686-4249-E486-6B5F-887472C1ED81}"/>
              </a:ext>
            </a:extLst>
          </p:cNvPr>
          <p:cNvSpPr>
            <a:spLocks noGrp="1"/>
          </p:cNvSpPr>
          <p:nvPr>
            <p:ph type="sldNum" sz="quarter" idx="10"/>
          </p:nvPr>
        </p:nvSpPr>
        <p:spPr/>
        <p:txBody>
          <a:bodyPr/>
          <a:lstStyle/>
          <a:p>
            <a:fld id="{2F3082F6-F77F-487A-A20D-05E951C2AB1F}" type="slidenum">
              <a:rPr lang="zh-CN" altLang="en-US" smtClean="0"/>
              <a:t>6</a:t>
            </a:fld>
            <a:endParaRPr lang="zh-CN" altLang="en-US"/>
          </a:p>
        </p:txBody>
      </p:sp>
    </p:spTree>
    <p:extLst>
      <p:ext uri="{BB962C8B-B14F-4D97-AF65-F5344CB8AC3E}">
        <p14:creationId xmlns:p14="http://schemas.microsoft.com/office/powerpoint/2010/main" val="2162987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94D6B-EE81-897C-0FF7-250A701FAF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485D43C-E123-D2F3-D395-B7E605C623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DB31EA-1767-C38B-E00D-7817E176706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D64522B-66F6-9503-7881-8B2E4EB7F995}"/>
              </a:ext>
            </a:extLst>
          </p:cNvPr>
          <p:cNvSpPr>
            <a:spLocks noGrp="1"/>
          </p:cNvSpPr>
          <p:nvPr>
            <p:ph type="sldNum" sz="quarter" idx="10"/>
          </p:nvPr>
        </p:nvSpPr>
        <p:spPr/>
        <p:txBody>
          <a:bodyPr/>
          <a:lstStyle/>
          <a:p>
            <a:fld id="{2F3082F6-F77F-487A-A20D-05E951C2AB1F}" type="slidenum">
              <a:rPr lang="zh-CN" altLang="en-US" smtClean="0"/>
              <a:t>7</a:t>
            </a:fld>
            <a:endParaRPr lang="zh-CN" altLang="en-US"/>
          </a:p>
        </p:txBody>
      </p:sp>
    </p:spTree>
    <p:extLst>
      <p:ext uri="{BB962C8B-B14F-4D97-AF65-F5344CB8AC3E}">
        <p14:creationId xmlns:p14="http://schemas.microsoft.com/office/powerpoint/2010/main" val="3798170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C045D-92FF-9424-08B3-F43C32E006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1838DB-341D-3413-D8E0-094D8CF33A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F18674-DF56-C8A4-1FF6-AF73475A16F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7C3FDA2-57D1-A0E8-6C73-7F139B8AD507}"/>
              </a:ext>
            </a:extLst>
          </p:cNvPr>
          <p:cNvSpPr>
            <a:spLocks noGrp="1"/>
          </p:cNvSpPr>
          <p:nvPr>
            <p:ph type="sldNum" sz="quarter" idx="10"/>
          </p:nvPr>
        </p:nvSpPr>
        <p:spPr/>
        <p:txBody>
          <a:bodyPr/>
          <a:lstStyle/>
          <a:p>
            <a:fld id="{2F3082F6-F77F-487A-A20D-05E951C2AB1F}" type="slidenum">
              <a:rPr lang="zh-CN" altLang="en-US" smtClean="0"/>
              <a:t>8</a:t>
            </a:fld>
            <a:endParaRPr lang="zh-CN" altLang="en-US"/>
          </a:p>
        </p:txBody>
      </p:sp>
    </p:spTree>
    <p:extLst>
      <p:ext uri="{BB962C8B-B14F-4D97-AF65-F5344CB8AC3E}">
        <p14:creationId xmlns:p14="http://schemas.microsoft.com/office/powerpoint/2010/main" val="4053428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24FB3-F98D-54B8-D717-868137E43F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44AE55-A77D-04F5-5BC9-8F7F54FA06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78FD507-92C3-86FE-A1F5-E73029AD204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4E5B60C-831C-AD52-1B7F-44EA1A856D54}"/>
              </a:ext>
            </a:extLst>
          </p:cNvPr>
          <p:cNvSpPr>
            <a:spLocks noGrp="1"/>
          </p:cNvSpPr>
          <p:nvPr>
            <p:ph type="sldNum" sz="quarter" idx="10"/>
          </p:nvPr>
        </p:nvSpPr>
        <p:spPr/>
        <p:txBody>
          <a:bodyPr/>
          <a:lstStyle/>
          <a:p>
            <a:fld id="{2F3082F6-F77F-487A-A20D-05E951C2AB1F}" type="slidenum">
              <a:rPr lang="zh-CN" altLang="en-US" smtClean="0"/>
              <a:t>9</a:t>
            </a:fld>
            <a:endParaRPr lang="zh-CN" altLang="en-US"/>
          </a:p>
        </p:txBody>
      </p:sp>
    </p:spTree>
    <p:extLst>
      <p:ext uri="{BB962C8B-B14F-4D97-AF65-F5344CB8AC3E}">
        <p14:creationId xmlns:p14="http://schemas.microsoft.com/office/powerpoint/2010/main" val="3003388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6BA46-B96A-0758-325E-CA3EC2890A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6B0251-701A-F776-1D9C-94D824941B3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B42C7C-F114-4E1D-B5A8-BFE72B9B7DE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F6F50E3-920D-F45D-D1F0-EA6BCF60B0D7}"/>
              </a:ext>
            </a:extLst>
          </p:cNvPr>
          <p:cNvSpPr>
            <a:spLocks noGrp="1"/>
          </p:cNvSpPr>
          <p:nvPr>
            <p:ph type="sldNum" sz="quarter" idx="10"/>
          </p:nvPr>
        </p:nvSpPr>
        <p:spPr/>
        <p:txBody>
          <a:bodyPr/>
          <a:lstStyle/>
          <a:p>
            <a:fld id="{2F3082F6-F77F-487A-A20D-05E951C2AB1F}" type="slidenum">
              <a:rPr lang="zh-CN" altLang="en-US" smtClean="0"/>
              <a:t>10</a:t>
            </a:fld>
            <a:endParaRPr lang="zh-CN" altLang="en-US"/>
          </a:p>
        </p:txBody>
      </p:sp>
    </p:spTree>
    <p:extLst>
      <p:ext uri="{BB962C8B-B14F-4D97-AF65-F5344CB8AC3E}">
        <p14:creationId xmlns:p14="http://schemas.microsoft.com/office/powerpoint/2010/main" val="3794484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47CD4-BAEF-7A61-0BE5-D0CC3CCBB8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9743A7-7DFA-8853-F1D1-1EEA434A42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4114677-9CF0-D240-BF46-F69EFD2EC29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9A49F3C-4329-BA4B-CD95-8D5169E47DAA}"/>
              </a:ext>
            </a:extLst>
          </p:cNvPr>
          <p:cNvSpPr>
            <a:spLocks noGrp="1"/>
          </p:cNvSpPr>
          <p:nvPr>
            <p:ph type="sldNum" sz="quarter" idx="10"/>
          </p:nvPr>
        </p:nvSpPr>
        <p:spPr/>
        <p:txBody>
          <a:bodyPr/>
          <a:lstStyle/>
          <a:p>
            <a:fld id="{2F3082F6-F77F-487A-A20D-05E951C2AB1F}" type="slidenum">
              <a:rPr lang="zh-CN" altLang="en-US" smtClean="0"/>
              <a:t>11</a:t>
            </a:fld>
            <a:endParaRPr lang="zh-CN" altLang="en-US"/>
          </a:p>
        </p:txBody>
      </p:sp>
    </p:spTree>
    <p:extLst>
      <p:ext uri="{BB962C8B-B14F-4D97-AF65-F5344CB8AC3E}">
        <p14:creationId xmlns:p14="http://schemas.microsoft.com/office/powerpoint/2010/main" val="787868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6296D-8E41-2D38-A8E1-9038D3B74AB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F1B5FB-FB2B-591A-5FDD-0E4E62BB63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638663-E276-A921-4832-008C33545FC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B27CB90-0D0D-A09B-03ED-7826DBBCA8ED}"/>
              </a:ext>
            </a:extLst>
          </p:cNvPr>
          <p:cNvSpPr>
            <a:spLocks noGrp="1"/>
          </p:cNvSpPr>
          <p:nvPr>
            <p:ph type="sldNum" sz="quarter" idx="10"/>
          </p:nvPr>
        </p:nvSpPr>
        <p:spPr/>
        <p:txBody>
          <a:bodyPr/>
          <a:lstStyle/>
          <a:p>
            <a:fld id="{2F3082F6-F77F-487A-A20D-05E951C2AB1F}" type="slidenum">
              <a:rPr lang="zh-CN" altLang="en-US" smtClean="0"/>
              <a:t>12</a:t>
            </a:fld>
            <a:endParaRPr lang="zh-CN" altLang="en-US"/>
          </a:p>
        </p:txBody>
      </p:sp>
    </p:spTree>
    <p:extLst>
      <p:ext uri="{BB962C8B-B14F-4D97-AF65-F5344CB8AC3E}">
        <p14:creationId xmlns:p14="http://schemas.microsoft.com/office/powerpoint/2010/main" val="899744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9B949-C094-B3D7-5B03-12393F3533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900A75-307C-BB3C-8781-600B2E47A3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BEF7F3-C168-B0D8-D69F-1CD850CC4CB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FD0D465-92E0-DE3D-F985-A2A97EBA1E02}"/>
              </a:ext>
            </a:extLst>
          </p:cNvPr>
          <p:cNvSpPr>
            <a:spLocks noGrp="1"/>
          </p:cNvSpPr>
          <p:nvPr>
            <p:ph type="sldNum" sz="quarter" idx="10"/>
          </p:nvPr>
        </p:nvSpPr>
        <p:spPr/>
        <p:txBody>
          <a:bodyPr/>
          <a:lstStyle/>
          <a:p>
            <a:fld id="{2F3082F6-F77F-487A-A20D-05E951C2AB1F}" type="slidenum">
              <a:rPr lang="zh-CN" altLang="en-US" smtClean="0"/>
              <a:t>13</a:t>
            </a:fld>
            <a:endParaRPr lang="zh-CN" altLang="en-US"/>
          </a:p>
        </p:txBody>
      </p:sp>
    </p:spTree>
    <p:extLst>
      <p:ext uri="{BB962C8B-B14F-4D97-AF65-F5344CB8AC3E}">
        <p14:creationId xmlns:p14="http://schemas.microsoft.com/office/powerpoint/2010/main" val="3172533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75C05-8C4E-233D-D566-4080A807E5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311217-2365-063A-9F0B-1560197D309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5FCA7B-0FC6-D96A-A8E0-3270550FF2C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0BC1ECF-69D6-AB0C-B76A-1006C9B72893}"/>
              </a:ext>
            </a:extLst>
          </p:cNvPr>
          <p:cNvSpPr>
            <a:spLocks noGrp="1"/>
          </p:cNvSpPr>
          <p:nvPr>
            <p:ph type="sldNum" sz="quarter" idx="10"/>
          </p:nvPr>
        </p:nvSpPr>
        <p:spPr/>
        <p:txBody>
          <a:bodyPr/>
          <a:lstStyle/>
          <a:p>
            <a:fld id="{2F3082F6-F77F-487A-A20D-05E951C2AB1F}" type="slidenum">
              <a:rPr lang="zh-CN" altLang="en-US" smtClean="0"/>
              <a:t>14</a:t>
            </a:fld>
            <a:endParaRPr lang="zh-CN" altLang="en-US"/>
          </a:p>
        </p:txBody>
      </p:sp>
    </p:spTree>
    <p:extLst>
      <p:ext uri="{BB962C8B-B14F-4D97-AF65-F5344CB8AC3E}">
        <p14:creationId xmlns:p14="http://schemas.microsoft.com/office/powerpoint/2010/main" val="544693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C1281-92F2-F9C0-4C9B-0DD8DD6546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E8DBC9-3952-9888-1D3F-CBE9B6E722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7EAB31-4614-8E29-CB53-C8432B57FFA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6EF774D-DB05-3BE8-0997-72F48585D1CC}"/>
              </a:ext>
            </a:extLst>
          </p:cNvPr>
          <p:cNvSpPr>
            <a:spLocks noGrp="1"/>
          </p:cNvSpPr>
          <p:nvPr>
            <p:ph type="sldNum" sz="quarter" idx="10"/>
          </p:nvPr>
        </p:nvSpPr>
        <p:spPr/>
        <p:txBody>
          <a:bodyPr/>
          <a:lstStyle/>
          <a:p>
            <a:fld id="{2F3082F6-F77F-487A-A20D-05E951C2AB1F}" type="slidenum">
              <a:rPr lang="zh-CN" altLang="en-US" smtClean="0"/>
              <a:t>15</a:t>
            </a:fld>
            <a:endParaRPr lang="zh-CN" altLang="en-US"/>
          </a:p>
        </p:txBody>
      </p:sp>
    </p:spTree>
    <p:extLst>
      <p:ext uri="{BB962C8B-B14F-4D97-AF65-F5344CB8AC3E}">
        <p14:creationId xmlns:p14="http://schemas.microsoft.com/office/powerpoint/2010/main" val="15695139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0447D-BB84-BD74-D780-83EF9A2FF1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1F2574-9454-4C20-2D99-C2EEC6EC6D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9B2E15-F6F5-38DE-E3B8-D9BB1E4DE29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88D5A30-49F8-ACCA-F18A-058227AAABDE}"/>
              </a:ext>
            </a:extLst>
          </p:cNvPr>
          <p:cNvSpPr>
            <a:spLocks noGrp="1"/>
          </p:cNvSpPr>
          <p:nvPr>
            <p:ph type="sldNum" sz="quarter" idx="10"/>
          </p:nvPr>
        </p:nvSpPr>
        <p:spPr/>
        <p:txBody>
          <a:bodyPr/>
          <a:lstStyle/>
          <a:p>
            <a:fld id="{2F3082F6-F77F-487A-A20D-05E951C2AB1F}" type="slidenum">
              <a:rPr lang="zh-CN" altLang="en-US" smtClean="0"/>
              <a:t>16</a:t>
            </a:fld>
            <a:endParaRPr lang="zh-CN" altLang="en-US"/>
          </a:p>
        </p:txBody>
      </p:sp>
    </p:spTree>
    <p:extLst>
      <p:ext uri="{BB962C8B-B14F-4D97-AF65-F5344CB8AC3E}">
        <p14:creationId xmlns:p14="http://schemas.microsoft.com/office/powerpoint/2010/main" val="2203683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55A77-3887-2992-C005-15640B5A2D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8C7AC4-9B6C-F054-E63F-1DFC9E56171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D97445-1D67-283F-48EE-A37A2222D7B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23DCAD3-8704-0A5F-D1F3-72C0E137D1F0}"/>
              </a:ext>
            </a:extLst>
          </p:cNvPr>
          <p:cNvSpPr>
            <a:spLocks noGrp="1"/>
          </p:cNvSpPr>
          <p:nvPr>
            <p:ph type="sldNum" sz="quarter" idx="10"/>
          </p:nvPr>
        </p:nvSpPr>
        <p:spPr/>
        <p:txBody>
          <a:bodyPr/>
          <a:lstStyle/>
          <a:p>
            <a:fld id="{2F3082F6-F77F-487A-A20D-05E951C2AB1F}" type="slidenum">
              <a:rPr lang="zh-CN" altLang="en-US" smtClean="0"/>
              <a:t>17</a:t>
            </a:fld>
            <a:endParaRPr lang="zh-CN" altLang="en-US"/>
          </a:p>
        </p:txBody>
      </p:sp>
    </p:spTree>
    <p:extLst>
      <p:ext uri="{BB962C8B-B14F-4D97-AF65-F5344CB8AC3E}">
        <p14:creationId xmlns:p14="http://schemas.microsoft.com/office/powerpoint/2010/main" val="31521738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DE7E0-7D73-367A-E24A-9320FA2D24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CF52AB-C1FC-089A-1329-C89E1EABAB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243A21-717F-9072-1E90-CA91B929CF9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7920A78-644F-83C0-23F4-580BEAC502D7}"/>
              </a:ext>
            </a:extLst>
          </p:cNvPr>
          <p:cNvSpPr>
            <a:spLocks noGrp="1"/>
          </p:cNvSpPr>
          <p:nvPr>
            <p:ph type="sldNum" sz="quarter" idx="10"/>
          </p:nvPr>
        </p:nvSpPr>
        <p:spPr/>
        <p:txBody>
          <a:bodyPr/>
          <a:lstStyle/>
          <a:p>
            <a:fld id="{2F3082F6-F77F-487A-A20D-05E951C2AB1F}" type="slidenum">
              <a:rPr lang="zh-CN" altLang="en-US" smtClean="0"/>
              <a:t>18</a:t>
            </a:fld>
            <a:endParaRPr lang="zh-CN" altLang="en-US"/>
          </a:p>
        </p:txBody>
      </p:sp>
    </p:spTree>
    <p:extLst>
      <p:ext uri="{BB962C8B-B14F-4D97-AF65-F5344CB8AC3E}">
        <p14:creationId xmlns:p14="http://schemas.microsoft.com/office/powerpoint/2010/main" val="10925935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79046-43F0-A600-3610-784F20455DB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87FC66-14F4-E6D0-7E3D-663C2216B2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96552F-E5B1-5690-7AB5-CCF7341471D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7FBEB33-B2DF-D8F0-5311-6DB2B32F842F}"/>
              </a:ext>
            </a:extLst>
          </p:cNvPr>
          <p:cNvSpPr>
            <a:spLocks noGrp="1"/>
          </p:cNvSpPr>
          <p:nvPr>
            <p:ph type="sldNum" sz="quarter" idx="10"/>
          </p:nvPr>
        </p:nvSpPr>
        <p:spPr/>
        <p:txBody>
          <a:bodyPr/>
          <a:lstStyle/>
          <a:p>
            <a:fld id="{2F3082F6-F77F-487A-A20D-05E951C2AB1F}" type="slidenum">
              <a:rPr lang="zh-CN" altLang="en-US" smtClean="0"/>
              <a:t>19</a:t>
            </a:fld>
            <a:endParaRPr lang="zh-CN" altLang="en-US"/>
          </a:p>
        </p:txBody>
      </p:sp>
    </p:spTree>
    <p:extLst>
      <p:ext uri="{BB962C8B-B14F-4D97-AF65-F5344CB8AC3E}">
        <p14:creationId xmlns:p14="http://schemas.microsoft.com/office/powerpoint/2010/main" val="11245283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ED84C-E222-8130-A9D8-84E399874B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CFA3D4-2CF5-1EE4-42D3-996729A196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B1AA52-ED6A-E20E-C5F8-32D9BD541AC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FCA3A4D-F05B-EF91-44B4-7E297A5B3B59}"/>
              </a:ext>
            </a:extLst>
          </p:cNvPr>
          <p:cNvSpPr>
            <a:spLocks noGrp="1"/>
          </p:cNvSpPr>
          <p:nvPr>
            <p:ph type="sldNum" sz="quarter" idx="10"/>
          </p:nvPr>
        </p:nvSpPr>
        <p:spPr/>
        <p:txBody>
          <a:bodyPr/>
          <a:lstStyle/>
          <a:p>
            <a:fld id="{2F3082F6-F77F-487A-A20D-05E951C2AB1F}" type="slidenum">
              <a:rPr lang="zh-CN" altLang="en-US" smtClean="0"/>
              <a:t>20</a:t>
            </a:fld>
            <a:endParaRPr lang="zh-CN" altLang="en-US"/>
          </a:p>
        </p:txBody>
      </p:sp>
    </p:spTree>
    <p:extLst>
      <p:ext uri="{BB962C8B-B14F-4D97-AF65-F5344CB8AC3E}">
        <p14:creationId xmlns:p14="http://schemas.microsoft.com/office/powerpoint/2010/main" val="25455827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44809-A879-E32E-D6DE-272B168D01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728888-95AE-A5BB-5832-56CEED27A1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453060-A356-273A-C62E-EDA1B66F32A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8EF118E-A6AC-6769-75A2-C970D91402EB}"/>
              </a:ext>
            </a:extLst>
          </p:cNvPr>
          <p:cNvSpPr>
            <a:spLocks noGrp="1"/>
          </p:cNvSpPr>
          <p:nvPr>
            <p:ph type="sldNum" sz="quarter" idx="10"/>
          </p:nvPr>
        </p:nvSpPr>
        <p:spPr/>
        <p:txBody>
          <a:bodyPr/>
          <a:lstStyle/>
          <a:p>
            <a:fld id="{2F3082F6-F77F-487A-A20D-05E951C2AB1F}" type="slidenum">
              <a:rPr lang="zh-CN" altLang="en-US" smtClean="0"/>
              <a:t>21</a:t>
            </a:fld>
            <a:endParaRPr lang="zh-CN" altLang="en-US"/>
          </a:p>
        </p:txBody>
      </p:sp>
    </p:spTree>
    <p:extLst>
      <p:ext uri="{BB962C8B-B14F-4D97-AF65-F5344CB8AC3E}">
        <p14:creationId xmlns:p14="http://schemas.microsoft.com/office/powerpoint/2010/main" val="17649188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8D847-67AD-BE5F-66D3-E290E689DE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CE09C9-F0E1-7DEE-EE6E-D079096617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85C2BF-AAE9-0A56-4FCC-64FAA99E5D2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8CEBACB-28FD-887B-8D4A-8C333CA6049C}"/>
              </a:ext>
            </a:extLst>
          </p:cNvPr>
          <p:cNvSpPr>
            <a:spLocks noGrp="1"/>
          </p:cNvSpPr>
          <p:nvPr>
            <p:ph type="sldNum" sz="quarter" idx="10"/>
          </p:nvPr>
        </p:nvSpPr>
        <p:spPr/>
        <p:txBody>
          <a:bodyPr/>
          <a:lstStyle/>
          <a:p>
            <a:fld id="{2F3082F6-F77F-487A-A20D-05E951C2AB1F}" type="slidenum">
              <a:rPr lang="zh-CN" altLang="en-US" smtClean="0"/>
              <a:t>22</a:t>
            </a:fld>
            <a:endParaRPr lang="zh-CN" altLang="en-US"/>
          </a:p>
        </p:txBody>
      </p:sp>
    </p:spTree>
    <p:extLst>
      <p:ext uri="{BB962C8B-B14F-4D97-AF65-F5344CB8AC3E}">
        <p14:creationId xmlns:p14="http://schemas.microsoft.com/office/powerpoint/2010/main" val="3905429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E42FB-454C-77DC-1CFD-66BCD360D60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57D27F-6FAF-7BE9-128E-A30F2C3B38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DA6F8D-AD7F-C8A4-9BC7-7AD0B625042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0C6E46A-181F-69BE-755D-D839DB19120E}"/>
              </a:ext>
            </a:extLst>
          </p:cNvPr>
          <p:cNvSpPr>
            <a:spLocks noGrp="1"/>
          </p:cNvSpPr>
          <p:nvPr>
            <p:ph type="sldNum" sz="quarter" idx="10"/>
          </p:nvPr>
        </p:nvSpPr>
        <p:spPr/>
        <p:txBody>
          <a:bodyPr/>
          <a:lstStyle/>
          <a:p>
            <a:fld id="{2F3082F6-F77F-487A-A20D-05E951C2AB1F}" type="slidenum">
              <a:rPr lang="zh-CN" altLang="en-US" smtClean="0"/>
              <a:t>23</a:t>
            </a:fld>
            <a:endParaRPr lang="zh-CN" altLang="en-US"/>
          </a:p>
        </p:txBody>
      </p:sp>
    </p:spTree>
    <p:extLst>
      <p:ext uri="{BB962C8B-B14F-4D97-AF65-F5344CB8AC3E}">
        <p14:creationId xmlns:p14="http://schemas.microsoft.com/office/powerpoint/2010/main" val="3336816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54CE3-779F-AEDC-0F75-A657F0317D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EB96ED-7668-667B-405D-305ECC59CA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4B6F45-F289-C747-0ED0-089B5B4203A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E1E7F7C-7F82-3192-3BEA-F2FEF53244E4}"/>
              </a:ext>
            </a:extLst>
          </p:cNvPr>
          <p:cNvSpPr>
            <a:spLocks noGrp="1"/>
          </p:cNvSpPr>
          <p:nvPr>
            <p:ph type="sldNum" sz="quarter" idx="10"/>
          </p:nvPr>
        </p:nvSpPr>
        <p:spPr/>
        <p:txBody>
          <a:bodyPr/>
          <a:lstStyle/>
          <a:p>
            <a:fld id="{2F3082F6-F77F-487A-A20D-05E951C2AB1F}" type="slidenum">
              <a:rPr lang="zh-CN" altLang="en-US" smtClean="0"/>
              <a:t>24</a:t>
            </a:fld>
            <a:endParaRPr lang="zh-CN" altLang="en-US"/>
          </a:p>
        </p:txBody>
      </p:sp>
    </p:spTree>
    <p:extLst>
      <p:ext uri="{BB962C8B-B14F-4D97-AF65-F5344CB8AC3E}">
        <p14:creationId xmlns:p14="http://schemas.microsoft.com/office/powerpoint/2010/main" val="5279069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DDACC-FCA8-40A6-37CE-FB7A36338E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A4C5D7-A7AC-E1A1-8A11-A7B33C3B6C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C88E90-9403-0418-9AA6-22CCC2DA40E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0CCA603-A647-C67C-8F2F-F4912667BEDD}"/>
              </a:ext>
            </a:extLst>
          </p:cNvPr>
          <p:cNvSpPr>
            <a:spLocks noGrp="1"/>
          </p:cNvSpPr>
          <p:nvPr>
            <p:ph type="sldNum" sz="quarter" idx="10"/>
          </p:nvPr>
        </p:nvSpPr>
        <p:spPr/>
        <p:txBody>
          <a:bodyPr/>
          <a:lstStyle/>
          <a:p>
            <a:fld id="{2F3082F6-F77F-487A-A20D-05E951C2AB1F}" type="slidenum">
              <a:rPr lang="zh-CN" altLang="en-US" smtClean="0"/>
              <a:t>25</a:t>
            </a:fld>
            <a:endParaRPr lang="zh-CN" altLang="en-US"/>
          </a:p>
        </p:txBody>
      </p:sp>
    </p:spTree>
    <p:extLst>
      <p:ext uri="{BB962C8B-B14F-4D97-AF65-F5344CB8AC3E}">
        <p14:creationId xmlns:p14="http://schemas.microsoft.com/office/powerpoint/2010/main" val="13717404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00D44-1C49-F0F1-1FE1-CED5E766EB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EB2A6D-7434-C47D-B807-4BAAD37D6E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4244C1-7527-66B5-4C00-E4B8AE8E05C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9649785-0763-40CD-EED0-D3FFEC4D5096}"/>
              </a:ext>
            </a:extLst>
          </p:cNvPr>
          <p:cNvSpPr>
            <a:spLocks noGrp="1"/>
          </p:cNvSpPr>
          <p:nvPr>
            <p:ph type="sldNum" sz="quarter" idx="10"/>
          </p:nvPr>
        </p:nvSpPr>
        <p:spPr/>
        <p:txBody>
          <a:bodyPr/>
          <a:lstStyle/>
          <a:p>
            <a:fld id="{2F3082F6-F77F-487A-A20D-05E951C2AB1F}" type="slidenum">
              <a:rPr lang="zh-CN" altLang="en-US" smtClean="0"/>
              <a:t>26</a:t>
            </a:fld>
            <a:endParaRPr lang="zh-CN" altLang="en-US"/>
          </a:p>
        </p:txBody>
      </p:sp>
    </p:spTree>
    <p:extLst>
      <p:ext uri="{BB962C8B-B14F-4D97-AF65-F5344CB8AC3E}">
        <p14:creationId xmlns:p14="http://schemas.microsoft.com/office/powerpoint/2010/main" val="20079264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8EC6E-86E0-C13A-27AE-DE2970878A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4BB622-4890-CECB-34DD-D38323DD82A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7C22B9-596E-708E-4795-4AD2E653748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4A0A0FE-FB1C-341F-5897-495C7FA38EF6}"/>
              </a:ext>
            </a:extLst>
          </p:cNvPr>
          <p:cNvSpPr>
            <a:spLocks noGrp="1"/>
          </p:cNvSpPr>
          <p:nvPr>
            <p:ph type="sldNum" sz="quarter" idx="10"/>
          </p:nvPr>
        </p:nvSpPr>
        <p:spPr/>
        <p:txBody>
          <a:bodyPr/>
          <a:lstStyle/>
          <a:p>
            <a:fld id="{2F3082F6-F77F-487A-A20D-05E951C2AB1F}" type="slidenum">
              <a:rPr lang="zh-CN" altLang="en-US" smtClean="0"/>
              <a:t>27</a:t>
            </a:fld>
            <a:endParaRPr lang="zh-CN" altLang="en-US"/>
          </a:p>
        </p:txBody>
      </p:sp>
    </p:spTree>
    <p:extLst>
      <p:ext uri="{BB962C8B-B14F-4D97-AF65-F5344CB8AC3E}">
        <p14:creationId xmlns:p14="http://schemas.microsoft.com/office/powerpoint/2010/main" val="39852506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E9B4D-8614-3BE0-AF0A-15D947C7B8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3A7AA0-BB91-7D47-4004-7307A9EBB5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514A8E-20EB-2CB9-B715-3D2F8D0E9E3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E46A480-B388-0EBE-2601-6E137D167B26}"/>
              </a:ext>
            </a:extLst>
          </p:cNvPr>
          <p:cNvSpPr>
            <a:spLocks noGrp="1"/>
          </p:cNvSpPr>
          <p:nvPr>
            <p:ph type="sldNum" sz="quarter" idx="10"/>
          </p:nvPr>
        </p:nvSpPr>
        <p:spPr/>
        <p:txBody>
          <a:bodyPr/>
          <a:lstStyle/>
          <a:p>
            <a:fld id="{2F3082F6-F77F-487A-A20D-05E951C2AB1F}" type="slidenum">
              <a:rPr lang="zh-CN" altLang="en-US" smtClean="0"/>
              <a:t>28</a:t>
            </a:fld>
            <a:endParaRPr lang="zh-CN" altLang="en-US"/>
          </a:p>
        </p:txBody>
      </p:sp>
    </p:spTree>
    <p:extLst>
      <p:ext uri="{BB962C8B-B14F-4D97-AF65-F5344CB8AC3E}">
        <p14:creationId xmlns:p14="http://schemas.microsoft.com/office/powerpoint/2010/main" val="3268815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326"/>
            <a:ext cx="7772400" cy="1102179"/>
          </a:xfrm>
        </p:spPr>
        <p:txBody>
          <a:bodyPr/>
          <a:lstStyle/>
          <a:p>
            <a:r>
              <a:rPr lang="zh-CN" altLang="en-US"/>
              <a:t>单击此处编辑母版标题样式</a:t>
            </a:r>
          </a:p>
        </p:txBody>
      </p:sp>
      <p:sp>
        <p:nvSpPr>
          <p:cNvPr id="3" name="副标题 2"/>
          <p:cNvSpPr>
            <a:spLocks noGrp="1"/>
          </p:cNvSpPr>
          <p:nvPr>
            <p:ph type="subTitle" idx="1"/>
          </p:nvPr>
        </p:nvSpPr>
        <p:spPr>
          <a:xfrm>
            <a:off x="1371600" y="2913751"/>
            <a:ext cx="6400800" cy="1314044"/>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360361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2384691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4156"/>
            <a:ext cx="7772400" cy="1021241"/>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363"/>
            <a:ext cx="7772400" cy="112479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260401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899835"/>
            <a:ext cx="4038600" cy="25435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899835"/>
            <a:ext cx="4038600" cy="25435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65C0B0F-957D-4B21-995C-671B925970BC}" type="datetimeFigureOut">
              <a:rPr lang="zh-CN" altLang="en-US" smtClean="0"/>
              <a:t>2024/11/4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45678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15"/>
            <a:ext cx="8229600" cy="856986"/>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80"/>
            <a:ext cx="4040188" cy="47967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0653"/>
            <a:ext cx="4040188" cy="29625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6" y="1150980"/>
            <a:ext cx="4041775" cy="47967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0653"/>
            <a:ext cx="4041775" cy="29625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65C0B0F-957D-4B21-995C-671B925970BC}" type="datetimeFigureOut">
              <a:rPr lang="zh-CN" altLang="en-US" smtClean="0"/>
              <a:t>2024/11/4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142337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65C0B0F-957D-4B21-995C-671B925970BC}" type="datetimeFigureOut">
              <a:rPr lang="zh-CN" altLang="en-US" smtClean="0"/>
              <a:t>2024/11/4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907618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65C0B0F-957D-4B21-995C-671B925970BC}" type="datetimeFigureOut">
              <a:rPr lang="zh-CN" altLang="en-US" smtClean="0"/>
              <a:t>2024/11/4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722439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24"/>
            <a:ext cx="3008313" cy="871269"/>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25"/>
            <a:ext cx="5111750" cy="43884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1" y="1075993"/>
            <a:ext cx="3008313" cy="35172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65C0B0F-957D-4B21-995C-671B925970BC}" type="datetimeFigureOut">
              <a:rPr lang="zh-CN" altLang="en-US" smtClean="0"/>
              <a:t>2024/11/4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1300608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599339"/>
            <a:ext cx="5486400" cy="42492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439"/>
            <a:ext cx="5486400" cy="308514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4024262"/>
            <a:ext cx="5486400" cy="60346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65C0B0F-957D-4B21-995C-671B925970BC}" type="datetimeFigureOut">
              <a:rPr lang="zh-CN" altLang="en-US" smtClean="0"/>
              <a:t>2024/11/4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323456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1595090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34"/>
            <a:ext cx="2057400" cy="328868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34"/>
            <a:ext cx="6019800" cy="3288682"/>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737874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1_标题和内容">
    <p:spTree>
      <p:nvGrpSpPr>
        <p:cNvPr id="1" name=""/>
        <p:cNvGrpSpPr/>
        <p:nvPr/>
      </p:nvGrpSpPr>
      <p:grpSpPr>
        <a:xfrm>
          <a:off x="0" y="0"/>
          <a:ext cx="0" cy="0"/>
          <a:chOff x="0" y="0"/>
          <a:chExt cx="0" cy="0"/>
        </a:xfrm>
      </p:grpSpPr>
      <p:grpSp>
        <p:nvGrpSpPr>
          <p:cNvPr id="3" name="组合 2"/>
          <p:cNvGrpSpPr/>
          <p:nvPr/>
        </p:nvGrpSpPr>
        <p:grpSpPr>
          <a:xfrm>
            <a:off x="3329701" y="691898"/>
            <a:ext cx="2484599" cy="34279"/>
            <a:chOff x="1198662" y="-603448"/>
            <a:chExt cx="4188175" cy="72008"/>
          </a:xfrm>
        </p:grpSpPr>
        <p:sp>
          <p:nvSpPr>
            <p:cNvPr id="4" name="矩形 3"/>
            <p:cNvSpPr/>
            <p:nvPr/>
          </p:nvSpPr>
          <p:spPr>
            <a:xfrm>
              <a:off x="1198662" y="-603448"/>
              <a:ext cx="837635" cy="72008"/>
            </a:xfrm>
            <a:prstGeom prst="rect">
              <a:avLst/>
            </a:prstGeom>
            <a:solidFill>
              <a:srgbClr val="FFAC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p:nvSpPr>
          <p:spPr>
            <a:xfrm>
              <a:off x="2036297" y="-603448"/>
              <a:ext cx="837635" cy="72008"/>
            </a:xfrm>
            <a:prstGeom prst="rect">
              <a:avLst/>
            </a:prstGeom>
            <a:solidFill>
              <a:srgbClr val="DF5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p:nvSpPr>
          <p:spPr>
            <a:xfrm>
              <a:off x="2873932" y="-603448"/>
              <a:ext cx="837635" cy="72008"/>
            </a:xfrm>
            <a:prstGeom prst="rect">
              <a:avLst/>
            </a:prstGeom>
            <a:solidFill>
              <a:srgbClr val="49C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3711567" y="-603448"/>
              <a:ext cx="837635" cy="72008"/>
            </a:xfrm>
            <a:prstGeom prst="rect">
              <a:avLst/>
            </a:prstGeom>
            <a:solidFill>
              <a:srgbClr val="3BA9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p:nvPr/>
          </p:nvSpPr>
          <p:spPr>
            <a:xfrm>
              <a:off x="4549202" y="-603448"/>
              <a:ext cx="837635" cy="72008"/>
            </a:xfrm>
            <a:prstGeom prst="rect">
              <a:avLst/>
            </a:prstGeom>
            <a:solidFill>
              <a:srgbClr val="9DCB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 name="矩形 1"/>
          <p:cNvSpPr/>
          <p:nvPr/>
        </p:nvSpPr>
        <p:spPr>
          <a:xfrm>
            <a:off x="0" y="951277"/>
            <a:ext cx="9144000" cy="3725264"/>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0" name="组合 9">
            <a:extLst>
              <a:ext uri="{FF2B5EF4-FFF2-40B4-BE49-F238E27FC236}">
                <a16:creationId xmlns:a16="http://schemas.microsoft.com/office/drawing/2014/main" id="{8D4214A4-CC29-49CA-88C6-9CB466401618}"/>
              </a:ext>
            </a:extLst>
          </p:cNvPr>
          <p:cNvGrpSpPr/>
          <p:nvPr userDrawn="1"/>
        </p:nvGrpSpPr>
        <p:grpSpPr>
          <a:xfrm>
            <a:off x="3329701" y="691898"/>
            <a:ext cx="2484599" cy="34279"/>
            <a:chOff x="1198662" y="-603448"/>
            <a:chExt cx="4188175" cy="72008"/>
          </a:xfrm>
        </p:grpSpPr>
        <p:sp>
          <p:nvSpPr>
            <p:cNvPr id="11" name="矩形 10">
              <a:extLst>
                <a:ext uri="{FF2B5EF4-FFF2-40B4-BE49-F238E27FC236}">
                  <a16:creationId xmlns:a16="http://schemas.microsoft.com/office/drawing/2014/main" id="{E57375C0-826E-4EB3-B8CB-6D84F70B4CE7}"/>
                </a:ext>
              </a:extLst>
            </p:cNvPr>
            <p:cNvSpPr/>
            <p:nvPr/>
          </p:nvSpPr>
          <p:spPr>
            <a:xfrm>
              <a:off x="1198662" y="-603448"/>
              <a:ext cx="837635" cy="72008"/>
            </a:xfrm>
            <a:prstGeom prst="rect">
              <a:avLst/>
            </a:prstGeom>
            <a:solidFill>
              <a:srgbClr val="FFAC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a:extLst>
                <a:ext uri="{FF2B5EF4-FFF2-40B4-BE49-F238E27FC236}">
                  <a16:creationId xmlns:a16="http://schemas.microsoft.com/office/drawing/2014/main" id="{64594317-1EE8-4F70-A47D-EC9BA20A1CD5}"/>
                </a:ext>
              </a:extLst>
            </p:cNvPr>
            <p:cNvSpPr/>
            <p:nvPr/>
          </p:nvSpPr>
          <p:spPr>
            <a:xfrm>
              <a:off x="2036297" y="-603448"/>
              <a:ext cx="837635" cy="72008"/>
            </a:xfrm>
            <a:prstGeom prst="rect">
              <a:avLst/>
            </a:prstGeom>
            <a:solidFill>
              <a:srgbClr val="DF5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a:extLst>
                <a:ext uri="{FF2B5EF4-FFF2-40B4-BE49-F238E27FC236}">
                  <a16:creationId xmlns:a16="http://schemas.microsoft.com/office/drawing/2014/main" id="{E16B281D-8116-4C4E-A4D2-0E5788EA0744}"/>
                </a:ext>
              </a:extLst>
            </p:cNvPr>
            <p:cNvSpPr/>
            <p:nvPr/>
          </p:nvSpPr>
          <p:spPr>
            <a:xfrm>
              <a:off x="2873932" y="-603448"/>
              <a:ext cx="837635" cy="72008"/>
            </a:xfrm>
            <a:prstGeom prst="rect">
              <a:avLst/>
            </a:prstGeom>
            <a:solidFill>
              <a:srgbClr val="49C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矩形 13">
              <a:extLst>
                <a:ext uri="{FF2B5EF4-FFF2-40B4-BE49-F238E27FC236}">
                  <a16:creationId xmlns:a16="http://schemas.microsoft.com/office/drawing/2014/main" id="{7DCCF03A-9D05-4BCB-A5F7-14E9BC01259A}"/>
                </a:ext>
              </a:extLst>
            </p:cNvPr>
            <p:cNvSpPr/>
            <p:nvPr/>
          </p:nvSpPr>
          <p:spPr>
            <a:xfrm>
              <a:off x="3711567" y="-603448"/>
              <a:ext cx="837635" cy="72008"/>
            </a:xfrm>
            <a:prstGeom prst="rect">
              <a:avLst/>
            </a:prstGeom>
            <a:solidFill>
              <a:srgbClr val="3BA9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a:extLst>
                <a:ext uri="{FF2B5EF4-FFF2-40B4-BE49-F238E27FC236}">
                  <a16:creationId xmlns:a16="http://schemas.microsoft.com/office/drawing/2014/main" id="{EDCBA3E5-F380-4B10-BA4A-7D71D428C75E}"/>
                </a:ext>
              </a:extLst>
            </p:cNvPr>
            <p:cNvSpPr/>
            <p:nvPr/>
          </p:nvSpPr>
          <p:spPr>
            <a:xfrm>
              <a:off x="4549202" y="-603448"/>
              <a:ext cx="837635" cy="72008"/>
            </a:xfrm>
            <a:prstGeom prst="rect">
              <a:avLst/>
            </a:prstGeom>
            <a:solidFill>
              <a:srgbClr val="9DCB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6" name="矩形 15">
            <a:extLst>
              <a:ext uri="{FF2B5EF4-FFF2-40B4-BE49-F238E27FC236}">
                <a16:creationId xmlns:a16="http://schemas.microsoft.com/office/drawing/2014/main" id="{2265230D-89C3-41E3-8045-201ED8ED3AA8}"/>
              </a:ext>
            </a:extLst>
          </p:cNvPr>
          <p:cNvSpPr/>
          <p:nvPr userDrawn="1"/>
        </p:nvSpPr>
        <p:spPr>
          <a:xfrm>
            <a:off x="0" y="951277"/>
            <a:ext cx="9144000" cy="3725264"/>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4275328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grpSp>
        <p:nvGrpSpPr>
          <p:cNvPr id="3" name="组合 2"/>
          <p:cNvGrpSpPr/>
          <p:nvPr userDrawn="1"/>
        </p:nvGrpSpPr>
        <p:grpSpPr>
          <a:xfrm>
            <a:off x="3329701" y="691898"/>
            <a:ext cx="2484599" cy="34279"/>
            <a:chOff x="1198662" y="-603448"/>
            <a:chExt cx="4188175" cy="72008"/>
          </a:xfrm>
        </p:grpSpPr>
        <p:sp>
          <p:nvSpPr>
            <p:cNvPr id="4" name="矩形 3"/>
            <p:cNvSpPr/>
            <p:nvPr/>
          </p:nvSpPr>
          <p:spPr>
            <a:xfrm>
              <a:off x="1198662" y="-603448"/>
              <a:ext cx="837635" cy="72008"/>
            </a:xfrm>
            <a:prstGeom prst="rect">
              <a:avLst/>
            </a:prstGeom>
            <a:solidFill>
              <a:srgbClr val="FFAC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p:nvSpPr>
          <p:spPr>
            <a:xfrm>
              <a:off x="2036297" y="-603448"/>
              <a:ext cx="837635" cy="72008"/>
            </a:xfrm>
            <a:prstGeom prst="rect">
              <a:avLst/>
            </a:prstGeom>
            <a:solidFill>
              <a:srgbClr val="DF5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p:nvSpPr>
          <p:spPr>
            <a:xfrm>
              <a:off x="2873932" y="-603448"/>
              <a:ext cx="837635" cy="72008"/>
            </a:xfrm>
            <a:prstGeom prst="rect">
              <a:avLst/>
            </a:prstGeom>
            <a:solidFill>
              <a:srgbClr val="49C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3711567" y="-603448"/>
              <a:ext cx="837635" cy="72008"/>
            </a:xfrm>
            <a:prstGeom prst="rect">
              <a:avLst/>
            </a:prstGeom>
            <a:solidFill>
              <a:srgbClr val="3BA9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p:nvPr/>
          </p:nvSpPr>
          <p:spPr>
            <a:xfrm>
              <a:off x="4549202" y="-603448"/>
              <a:ext cx="837635" cy="72008"/>
            </a:xfrm>
            <a:prstGeom prst="rect">
              <a:avLst/>
            </a:prstGeom>
            <a:solidFill>
              <a:srgbClr val="9DCB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 name="矩形 1"/>
          <p:cNvSpPr/>
          <p:nvPr userDrawn="1"/>
        </p:nvSpPr>
        <p:spPr>
          <a:xfrm>
            <a:off x="0" y="951277"/>
            <a:ext cx="9144000" cy="3725264"/>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1135096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15"/>
            <a:ext cx="8229600" cy="856986"/>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199780"/>
            <a:ext cx="8229600" cy="3393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4765792"/>
            <a:ext cx="2133600" cy="273759"/>
          </a:xfrm>
          <a:prstGeom prst="rect">
            <a:avLst/>
          </a:prstGeom>
        </p:spPr>
        <p:txBody>
          <a:bodyPr vert="horz" lIns="91440" tIns="45720" rIns="91440" bIns="45720" rtlCol="0" anchor="ctr"/>
          <a:lstStyle>
            <a:lvl1pPr algn="l">
              <a:defRPr sz="1200">
                <a:solidFill>
                  <a:schemeClr val="tx1">
                    <a:tint val="75000"/>
                  </a:schemeClr>
                </a:solidFill>
              </a:defRPr>
            </a:lvl1pPr>
          </a:lstStyle>
          <a:p>
            <a:fld id="{B65C0B0F-957D-4B21-995C-671B925970BC}" type="datetimeFigureOut">
              <a:rPr lang="zh-CN" altLang="en-US" smtClean="0"/>
              <a:t>2024/11/4</a:t>
            </a:fld>
            <a:endParaRPr lang="zh-CN" altLang="en-US"/>
          </a:p>
        </p:txBody>
      </p:sp>
      <p:sp>
        <p:nvSpPr>
          <p:cNvPr id="5" name="页脚占位符 4"/>
          <p:cNvSpPr>
            <a:spLocks noGrp="1"/>
          </p:cNvSpPr>
          <p:nvPr>
            <p:ph type="ftr" sz="quarter" idx="3"/>
          </p:nvPr>
        </p:nvSpPr>
        <p:spPr>
          <a:xfrm>
            <a:off x="3124200" y="4765792"/>
            <a:ext cx="2895600" cy="27375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5792"/>
            <a:ext cx="2133600" cy="273759"/>
          </a:xfrm>
          <a:prstGeom prst="rect">
            <a:avLst/>
          </a:prstGeom>
        </p:spPr>
        <p:txBody>
          <a:bodyPr vert="horz" lIns="91440" tIns="45720" rIns="91440" bIns="45720" rtlCol="0" anchor="ctr"/>
          <a:lstStyle>
            <a:lvl1pPr algn="r">
              <a:defRPr sz="1200">
                <a:solidFill>
                  <a:schemeClr val="tx1">
                    <a:tint val="75000"/>
                  </a:schemeClr>
                </a:solidFill>
              </a:defRPr>
            </a:lvl1p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19566823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70"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yuexi@cuit.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customXml" Target="../ink/ink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customXml" Target="../ink/ink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customXml" Target="../ink/ink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customXml" Target="../ink/ink4.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30.png"/><Relationship Id="rId4" Type="http://schemas.openxmlformats.org/officeDocument/2006/relationships/customXml" Target="../ink/ink5.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3.png"/><Relationship Id="rId7"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customXml" Target="../ink/ink6.xml"/><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40015" y="36824"/>
            <a:ext cx="2202140" cy="5088830"/>
            <a:chOff x="0" y="70798"/>
            <a:chExt cx="2937093" cy="6787202"/>
          </a:xfrm>
        </p:grpSpPr>
        <p:sp>
          <p:nvSpPr>
            <p:cNvPr id="2" name="矩形 1"/>
            <p:cNvSpPr/>
            <p:nvPr/>
          </p:nvSpPr>
          <p:spPr>
            <a:xfrm>
              <a:off x="0" y="4875301"/>
              <a:ext cx="2446986" cy="1982699"/>
            </a:xfrm>
            <a:prstGeom prst="rect">
              <a:avLst/>
            </a:prstGeom>
            <a:solidFill>
              <a:schemeClr val="bg1">
                <a:alpha val="0"/>
              </a:schemeClr>
            </a:solidFill>
            <a:ln w="57150">
              <a:solidFill>
                <a:srgbClr val="00AF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矩形 23"/>
            <p:cNvSpPr/>
            <p:nvPr/>
          </p:nvSpPr>
          <p:spPr>
            <a:xfrm>
              <a:off x="490107" y="70798"/>
              <a:ext cx="2446986" cy="2150771"/>
            </a:xfrm>
            <a:prstGeom prst="rect">
              <a:avLst/>
            </a:prstGeom>
            <a:solidFill>
              <a:schemeClr val="bg1">
                <a:alpha val="0"/>
              </a:schemeClr>
            </a:solidFill>
            <a:ln w="57150">
              <a:solidFill>
                <a:srgbClr val="E870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矩形 24"/>
            <p:cNvSpPr/>
            <p:nvPr/>
          </p:nvSpPr>
          <p:spPr>
            <a:xfrm>
              <a:off x="490107" y="3582522"/>
              <a:ext cx="2446986" cy="1982699"/>
            </a:xfrm>
            <a:prstGeom prst="rect">
              <a:avLst/>
            </a:prstGeom>
            <a:solidFill>
              <a:srgbClr val="FFB850">
                <a:alpha val="0"/>
              </a:srgbClr>
            </a:solidFill>
            <a:ln w="57150">
              <a:solidFill>
                <a:srgbClr val="FFB8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矩形 25"/>
            <p:cNvSpPr/>
            <p:nvPr/>
          </p:nvSpPr>
          <p:spPr>
            <a:xfrm>
              <a:off x="0" y="1961633"/>
              <a:ext cx="2446986" cy="2150771"/>
            </a:xfrm>
            <a:prstGeom prst="rect">
              <a:avLst/>
            </a:prstGeom>
            <a:solidFill>
              <a:schemeClr val="bg1">
                <a:alpha val="0"/>
              </a:schemeClr>
            </a:solidFill>
            <a:ln w="57150">
              <a:solidFill>
                <a:srgbClr val="01A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4" name="组合 3"/>
          <p:cNvGrpSpPr/>
          <p:nvPr/>
        </p:nvGrpSpPr>
        <p:grpSpPr>
          <a:xfrm>
            <a:off x="7868933" y="34639"/>
            <a:ext cx="2202140" cy="5088830"/>
            <a:chOff x="9178140" y="0"/>
            <a:chExt cx="2937093" cy="6787202"/>
          </a:xfrm>
        </p:grpSpPr>
        <p:sp>
          <p:nvSpPr>
            <p:cNvPr id="28" name="矩形 27"/>
            <p:cNvSpPr/>
            <p:nvPr/>
          </p:nvSpPr>
          <p:spPr>
            <a:xfrm>
              <a:off x="9178140" y="4804503"/>
              <a:ext cx="2446986" cy="1982699"/>
            </a:xfrm>
            <a:prstGeom prst="rect">
              <a:avLst/>
            </a:prstGeom>
            <a:solidFill>
              <a:srgbClr val="E87071">
                <a:alpha val="0"/>
              </a:srgbClr>
            </a:solidFill>
            <a:ln w="57150">
              <a:solidFill>
                <a:srgbClr val="E870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矩形 28"/>
            <p:cNvSpPr/>
            <p:nvPr/>
          </p:nvSpPr>
          <p:spPr>
            <a:xfrm>
              <a:off x="9668247" y="0"/>
              <a:ext cx="2446986" cy="2150771"/>
            </a:xfrm>
            <a:prstGeom prst="rect">
              <a:avLst/>
            </a:prstGeom>
            <a:solidFill>
              <a:schemeClr val="bg1">
                <a:alpha val="0"/>
              </a:schemeClr>
            </a:solidFill>
            <a:ln w="57150">
              <a:solidFill>
                <a:srgbClr val="00AF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0" name="矩形 29"/>
            <p:cNvSpPr/>
            <p:nvPr/>
          </p:nvSpPr>
          <p:spPr>
            <a:xfrm>
              <a:off x="9668247" y="3511724"/>
              <a:ext cx="2446986" cy="1982699"/>
            </a:xfrm>
            <a:prstGeom prst="rect">
              <a:avLst/>
            </a:prstGeom>
            <a:solidFill>
              <a:schemeClr val="bg1">
                <a:alpha val="0"/>
              </a:schemeClr>
            </a:solidFill>
            <a:ln w="57150">
              <a:solidFill>
                <a:srgbClr val="01A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1" name="矩形 30"/>
            <p:cNvSpPr/>
            <p:nvPr/>
          </p:nvSpPr>
          <p:spPr>
            <a:xfrm>
              <a:off x="9178140" y="1890835"/>
              <a:ext cx="2446986" cy="2150771"/>
            </a:xfrm>
            <a:prstGeom prst="rect">
              <a:avLst/>
            </a:prstGeom>
            <a:solidFill>
              <a:schemeClr val="bg1">
                <a:alpha val="0"/>
              </a:schemeClr>
            </a:solidFill>
            <a:ln w="57150">
              <a:solidFill>
                <a:srgbClr val="FFB8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5" name="文本框 4"/>
          <p:cNvSpPr txBox="1"/>
          <p:nvPr/>
        </p:nvSpPr>
        <p:spPr>
          <a:xfrm>
            <a:off x="1907704" y="1702304"/>
            <a:ext cx="5688632" cy="3046988"/>
          </a:xfrm>
          <a:prstGeom prst="rect">
            <a:avLst/>
          </a:prstGeom>
          <a:noFill/>
        </p:spPr>
        <p:txBody>
          <a:bodyPr wrap="square" rtlCol="0">
            <a:spAutoFit/>
          </a:bodyPr>
          <a:lstStyle/>
          <a:p>
            <a:pPr algn="ctr"/>
            <a:r>
              <a:rPr lang="zh-CN" altLang="en-US" sz="3600" b="1" dirty="0">
                <a:latin typeface="+mn-ea"/>
              </a:rPr>
              <a:t>机器学习</a:t>
            </a:r>
            <a:endParaRPr lang="en-US" altLang="zh-CN" sz="3600" b="1" dirty="0">
              <a:latin typeface="+mn-ea"/>
            </a:endParaRPr>
          </a:p>
          <a:p>
            <a:pPr algn="ctr"/>
            <a:r>
              <a:rPr lang="en-US" altLang="zh-CN" sz="3600" b="1" dirty="0">
                <a:latin typeface="+mn-ea"/>
              </a:rPr>
              <a:t>--</a:t>
            </a:r>
            <a:r>
              <a:rPr lang="zh-CN" altLang="en-US" sz="3600" b="1" dirty="0">
                <a:latin typeface="+mn-ea"/>
              </a:rPr>
              <a:t>第</a:t>
            </a:r>
            <a:r>
              <a:rPr lang="en-US" altLang="zh-CN" sz="3600" b="1" dirty="0">
                <a:latin typeface="+mn-ea"/>
              </a:rPr>
              <a:t>5</a:t>
            </a:r>
            <a:r>
              <a:rPr lang="zh-CN" altLang="en-US" sz="3600" b="1" dirty="0">
                <a:latin typeface="+mn-ea"/>
              </a:rPr>
              <a:t>章 梯度下降算法</a:t>
            </a:r>
            <a:endParaRPr lang="en-US" altLang="zh-CN" sz="3600" b="1" dirty="0">
              <a:latin typeface="+mn-ea"/>
            </a:endParaRPr>
          </a:p>
          <a:p>
            <a:pPr algn="ctr"/>
            <a:endParaRPr lang="en-US" altLang="zh-CN" sz="3600" b="1" dirty="0">
              <a:latin typeface="+mn-ea"/>
            </a:endParaRPr>
          </a:p>
          <a:p>
            <a:pPr algn="ctr"/>
            <a:r>
              <a:rPr lang="zh-CN" altLang="en-US" sz="2800" dirty="0">
                <a:solidFill>
                  <a:schemeClr val="tx1"/>
                </a:solidFill>
              </a:rPr>
              <a:t>授课教师：徐浩</a:t>
            </a:r>
            <a:endParaRPr lang="en-US" altLang="zh-CN" sz="2800" dirty="0">
              <a:solidFill>
                <a:schemeClr val="tx1"/>
              </a:solidFill>
            </a:endParaRPr>
          </a:p>
          <a:p>
            <a:pPr algn="ctr"/>
            <a:r>
              <a:rPr lang="en-US" altLang="zh-CN" sz="2800" dirty="0">
                <a:solidFill>
                  <a:schemeClr val="tx1"/>
                </a:solidFill>
              </a:rPr>
              <a:t>Mail</a:t>
            </a:r>
            <a:r>
              <a:rPr lang="zh-CN" altLang="en-US" sz="2800" dirty="0">
                <a:solidFill>
                  <a:schemeClr val="tx1"/>
                </a:solidFill>
              </a:rPr>
              <a:t>：</a:t>
            </a:r>
            <a:r>
              <a:rPr lang="en-US" altLang="zh-CN" sz="2800" dirty="0"/>
              <a:t>xuhao</a:t>
            </a:r>
            <a:r>
              <a:rPr lang="en-US" altLang="zh-CN" sz="2800" dirty="0">
                <a:solidFill>
                  <a:schemeClr val="tx1"/>
                </a:solidFill>
                <a:hlinkClick r:id="rId3"/>
              </a:rPr>
              <a:t>@cuit.edu.cn</a:t>
            </a:r>
            <a:endParaRPr lang="en-US" altLang="zh-CN" sz="2800" dirty="0">
              <a:solidFill>
                <a:schemeClr val="tx1"/>
              </a:solidFill>
            </a:endParaRPr>
          </a:p>
          <a:p>
            <a:pPr algn="ctr"/>
            <a:r>
              <a:rPr lang="en-US" altLang="zh-CN" sz="2800" dirty="0">
                <a:solidFill>
                  <a:schemeClr val="tx1"/>
                </a:solidFill>
              </a:rPr>
              <a:t>QQ:</a:t>
            </a:r>
            <a:r>
              <a:rPr lang="en-US" altLang="zh-CN" sz="2800" dirty="0"/>
              <a:t>249851191</a:t>
            </a:r>
            <a:endParaRPr lang="zh-CN" altLang="en-US" sz="2800" dirty="0">
              <a:solidFill>
                <a:schemeClr val="tx1"/>
              </a:solidFill>
            </a:endParaRPr>
          </a:p>
        </p:txBody>
      </p: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52227" y="304621"/>
            <a:ext cx="3523613" cy="638440"/>
          </a:xfrm>
          <a:prstGeom prst="rect">
            <a:avLst/>
          </a:prstGeom>
        </p:spPr>
      </p:pic>
    </p:spTree>
    <p:extLst>
      <p:ext uri="{BB962C8B-B14F-4D97-AF65-F5344CB8AC3E}">
        <p14:creationId xmlns:p14="http://schemas.microsoft.com/office/powerpoint/2010/main" val="3737404336"/>
      </p:ext>
    </p:extLst>
  </p:cSld>
  <p:clrMapOvr>
    <a:masterClrMapping/>
  </p:clrMapOvr>
  <mc:AlternateContent xmlns:mc="http://schemas.openxmlformats.org/markup-compatibility/2006" xmlns:p14="http://schemas.microsoft.com/office/powerpoint/2010/main">
    <mc:Choice Requires="p14">
      <p:transition spd="slow" p14:dur="1600" advTm="1747">
        <p:blinds dir="vert"/>
      </p:transition>
    </mc:Choice>
    <mc:Fallback xmlns="">
      <p:transition spd="slow" advTm="1747">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2587657" y="204238"/>
            <a:ext cx="3894015"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梯度下降算法</a:t>
            </a:r>
            <a:endParaRPr lang="zh-CN" altLang="en-US" sz="3200" kern="0" dirty="0">
              <a:latin typeface="宋体" panose="02010600030101010101" pitchFamily="2" charset="-122"/>
              <a:ea typeface="宋体" panose="02010600030101010101" pitchFamily="2" charset="-122"/>
            </a:endParaRPr>
          </a:p>
        </p:txBody>
      </p:sp>
      <p:sp>
        <p:nvSpPr>
          <p:cNvPr id="3" name="TextBox 2"/>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9" name="文本框 8">
            <a:extLst>
              <a:ext uri="{FF2B5EF4-FFF2-40B4-BE49-F238E27FC236}">
                <a16:creationId xmlns:a16="http://schemas.microsoft.com/office/drawing/2014/main" id="{99B87FD3-9A6B-578F-ABB9-D6F879134FAF}"/>
              </a:ext>
            </a:extLst>
          </p:cNvPr>
          <p:cNvSpPr txBox="1"/>
          <p:nvPr/>
        </p:nvSpPr>
        <p:spPr>
          <a:xfrm>
            <a:off x="683568" y="999725"/>
            <a:ext cx="7200800" cy="746743"/>
          </a:xfrm>
          <a:prstGeom prst="rect">
            <a:avLst/>
          </a:prstGeom>
          <a:noFill/>
        </p:spPr>
        <p:txBody>
          <a:bodyPr wrap="square">
            <a:spAutoFit/>
          </a:bodyPr>
          <a:lstStyle/>
          <a:p>
            <a:pPr>
              <a:lnSpc>
                <a:spcPct val="150000"/>
              </a:lnSpc>
            </a:pPr>
            <a:r>
              <a:rPr lang="zh-CN" altLang="en-US" sz="3200" b="1" dirty="0"/>
              <a:t>算法背景</a:t>
            </a:r>
          </a:p>
        </p:txBody>
      </p:sp>
      <p:pic>
        <p:nvPicPr>
          <p:cNvPr id="5" name="图片 4">
            <a:extLst>
              <a:ext uri="{FF2B5EF4-FFF2-40B4-BE49-F238E27FC236}">
                <a16:creationId xmlns:a16="http://schemas.microsoft.com/office/drawing/2014/main" id="{0C1FF31A-A8A0-3DD1-BE07-8232D67EF562}"/>
              </a:ext>
            </a:extLst>
          </p:cNvPr>
          <p:cNvPicPr>
            <a:picLocks noChangeAspect="1"/>
          </p:cNvPicPr>
          <p:nvPr/>
        </p:nvPicPr>
        <p:blipFill>
          <a:blip r:embed="rId4"/>
          <a:stretch>
            <a:fillRect/>
          </a:stretch>
        </p:blipFill>
        <p:spPr>
          <a:xfrm>
            <a:off x="273947" y="1922884"/>
            <a:ext cx="8596105" cy="2812024"/>
          </a:xfrm>
          <a:prstGeom prst="rect">
            <a:avLst/>
          </a:prstGeom>
        </p:spPr>
      </p:pic>
    </p:spTree>
    <p:extLst>
      <p:ext uri="{BB962C8B-B14F-4D97-AF65-F5344CB8AC3E}">
        <p14:creationId xmlns:p14="http://schemas.microsoft.com/office/powerpoint/2010/main" val="1627207214"/>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44563-C5B2-9A8C-8C95-7A36A876440B}"/>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DA4C736D-9F0C-C040-1630-7277B58D23E9}"/>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64E4F366-A3FC-C00F-34C1-4F208B5CF2EC}"/>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2780DA29-252C-3A7D-6F77-D34EE5D4261D}"/>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406F027F-2A68-8FEB-3031-2905330E00C3}"/>
              </a:ext>
            </a:extLst>
          </p:cNvPr>
          <p:cNvSpPr txBox="1"/>
          <p:nvPr/>
        </p:nvSpPr>
        <p:spPr>
          <a:xfrm>
            <a:off x="459852" y="1173646"/>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一、回顾梯度的意义</a:t>
            </a:r>
          </a:p>
        </p:txBody>
      </p:sp>
      <p:pic>
        <p:nvPicPr>
          <p:cNvPr id="6" name="图片 5">
            <a:extLst>
              <a:ext uri="{FF2B5EF4-FFF2-40B4-BE49-F238E27FC236}">
                <a16:creationId xmlns:a16="http://schemas.microsoft.com/office/drawing/2014/main" id="{C3CD438B-8A89-6EDD-58F1-DC0ACDE5E113}"/>
              </a:ext>
            </a:extLst>
          </p:cNvPr>
          <p:cNvPicPr>
            <a:picLocks noChangeAspect="1"/>
          </p:cNvPicPr>
          <p:nvPr/>
        </p:nvPicPr>
        <p:blipFill>
          <a:blip r:embed="rId4"/>
          <a:stretch>
            <a:fillRect/>
          </a:stretch>
        </p:blipFill>
        <p:spPr>
          <a:xfrm>
            <a:off x="300620" y="1994892"/>
            <a:ext cx="8542760" cy="2522439"/>
          </a:xfrm>
          <a:prstGeom prst="rect">
            <a:avLst/>
          </a:prstGeom>
        </p:spPr>
      </p:pic>
    </p:spTree>
    <p:extLst>
      <p:ext uri="{BB962C8B-B14F-4D97-AF65-F5344CB8AC3E}">
        <p14:creationId xmlns:p14="http://schemas.microsoft.com/office/powerpoint/2010/main" val="3584542515"/>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4AC05-17C2-A022-C01E-F65BD6406C46}"/>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8015CE6D-A809-E53F-D232-8530C01A4475}"/>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6CCCBA2B-33A8-4340-982F-A24DA5587138}"/>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27CA1421-00F7-9C34-25F6-95F27A38D016}"/>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77A4F87E-55D1-C61B-F304-0046F06B15AA}"/>
              </a:ext>
            </a:extLst>
          </p:cNvPr>
          <p:cNvSpPr txBox="1"/>
          <p:nvPr/>
        </p:nvSpPr>
        <p:spPr>
          <a:xfrm>
            <a:off x="459852" y="1173646"/>
            <a:ext cx="5166360" cy="461665"/>
          </a:xfrm>
          <a:prstGeom prst="rect">
            <a:avLst/>
          </a:prstGeom>
          <a:noFill/>
        </p:spPr>
        <p:txBody>
          <a:bodyPr wrap="square">
            <a:spAutoFit/>
          </a:bodyPr>
          <a:lstStyle/>
          <a:p>
            <a:pPr algn="l"/>
            <a:r>
              <a:rPr lang="zh-CN" altLang="en-US" sz="2400" b="1" dirty="0">
                <a:solidFill>
                  <a:srgbClr val="4F4F4F"/>
                </a:solidFill>
                <a:latin typeface="PingFang SC"/>
              </a:rPr>
              <a:t>二</a:t>
            </a:r>
            <a:r>
              <a:rPr lang="zh-CN" altLang="en-US" sz="2400" b="1" i="0" dirty="0">
                <a:solidFill>
                  <a:srgbClr val="4F4F4F"/>
                </a:solidFill>
                <a:effectLst/>
                <a:latin typeface="PingFang SC"/>
              </a:rPr>
              <a:t>、梯度下降算法</a:t>
            </a:r>
          </a:p>
        </p:txBody>
      </p:sp>
      <p:pic>
        <p:nvPicPr>
          <p:cNvPr id="7" name="图片 6">
            <a:extLst>
              <a:ext uri="{FF2B5EF4-FFF2-40B4-BE49-F238E27FC236}">
                <a16:creationId xmlns:a16="http://schemas.microsoft.com/office/drawing/2014/main" id="{44847054-140D-48FD-C285-B0BABDA99CE4}"/>
              </a:ext>
            </a:extLst>
          </p:cNvPr>
          <p:cNvPicPr>
            <a:picLocks noChangeAspect="1"/>
          </p:cNvPicPr>
          <p:nvPr/>
        </p:nvPicPr>
        <p:blipFill>
          <a:blip r:embed="rId4"/>
          <a:stretch>
            <a:fillRect/>
          </a:stretch>
        </p:blipFill>
        <p:spPr>
          <a:xfrm>
            <a:off x="1763688" y="1706860"/>
            <a:ext cx="6336704" cy="3291722"/>
          </a:xfrm>
          <a:prstGeom prst="rect">
            <a:avLst/>
          </a:prstGeom>
        </p:spPr>
      </p:pic>
    </p:spTree>
    <p:extLst>
      <p:ext uri="{BB962C8B-B14F-4D97-AF65-F5344CB8AC3E}">
        <p14:creationId xmlns:p14="http://schemas.microsoft.com/office/powerpoint/2010/main" val="1683422348"/>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F5C26-DA3F-D5DF-5C95-6B33DB93DDA6}"/>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BC980058-328A-AE7F-3B51-5A6A206EE426}"/>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BAC930AB-27E6-F355-8994-2235AB8ADA81}"/>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6EDCA75E-0C29-38BD-28A7-7A93C11C424E}"/>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159EE19D-9B86-D4F8-165C-A034ED717557}"/>
              </a:ext>
            </a:extLst>
          </p:cNvPr>
          <p:cNvSpPr txBox="1"/>
          <p:nvPr/>
        </p:nvSpPr>
        <p:spPr>
          <a:xfrm>
            <a:off x="459852" y="1173646"/>
            <a:ext cx="5166360" cy="461665"/>
          </a:xfrm>
          <a:prstGeom prst="rect">
            <a:avLst/>
          </a:prstGeom>
          <a:noFill/>
        </p:spPr>
        <p:txBody>
          <a:bodyPr wrap="square">
            <a:spAutoFit/>
          </a:bodyPr>
          <a:lstStyle/>
          <a:p>
            <a:pPr algn="l"/>
            <a:r>
              <a:rPr lang="zh-CN" altLang="en-US" sz="2400" b="1" dirty="0">
                <a:solidFill>
                  <a:srgbClr val="4F4F4F"/>
                </a:solidFill>
                <a:latin typeface="PingFang SC"/>
              </a:rPr>
              <a:t>二</a:t>
            </a:r>
            <a:r>
              <a:rPr lang="zh-CN" altLang="en-US" sz="2400" b="1" i="0" dirty="0">
                <a:solidFill>
                  <a:srgbClr val="4F4F4F"/>
                </a:solidFill>
                <a:effectLst/>
                <a:latin typeface="PingFang SC"/>
              </a:rPr>
              <a:t>、梯度下降算法</a:t>
            </a:r>
          </a:p>
        </p:txBody>
      </p:sp>
      <p:pic>
        <p:nvPicPr>
          <p:cNvPr id="6" name="图片 5">
            <a:extLst>
              <a:ext uri="{FF2B5EF4-FFF2-40B4-BE49-F238E27FC236}">
                <a16:creationId xmlns:a16="http://schemas.microsoft.com/office/drawing/2014/main" id="{67DCFC88-015E-0ACC-0AED-036D62355178}"/>
              </a:ext>
            </a:extLst>
          </p:cNvPr>
          <p:cNvPicPr>
            <a:picLocks noChangeAspect="1"/>
          </p:cNvPicPr>
          <p:nvPr/>
        </p:nvPicPr>
        <p:blipFill>
          <a:blip r:embed="rId4"/>
          <a:stretch>
            <a:fillRect/>
          </a:stretch>
        </p:blipFill>
        <p:spPr>
          <a:xfrm>
            <a:off x="1284455" y="1831676"/>
            <a:ext cx="6500423" cy="2370025"/>
          </a:xfrm>
          <a:prstGeom prst="rect">
            <a:avLst/>
          </a:prstGeom>
        </p:spPr>
      </p:pic>
    </p:spTree>
    <p:extLst>
      <p:ext uri="{BB962C8B-B14F-4D97-AF65-F5344CB8AC3E}">
        <p14:creationId xmlns:p14="http://schemas.microsoft.com/office/powerpoint/2010/main" val="997280992"/>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D2353-18E9-75A6-2AAA-170AAAC7B927}"/>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CB148BBB-F062-1B92-B560-52033D5BCA86}"/>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C806D18C-C7BF-1F72-11E1-71B18DF0BDD5}"/>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D5164BDF-ACB4-6FFC-0EDB-62F39DBF51B1}"/>
              </a:ext>
            </a:extLst>
          </p:cNvPr>
          <p:cNvSpPr txBox="1"/>
          <p:nvPr/>
        </p:nvSpPr>
        <p:spPr>
          <a:xfrm>
            <a:off x="432016" y="871762"/>
            <a:ext cx="5166360" cy="461665"/>
          </a:xfrm>
          <a:prstGeom prst="rect">
            <a:avLst/>
          </a:prstGeom>
          <a:noFill/>
        </p:spPr>
        <p:txBody>
          <a:bodyPr wrap="square">
            <a:spAutoFit/>
          </a:bodyPr>
          <a:lstStyle/>
          <a:p>
            <a:pPr algn="l"/>
            <a:r>
              <a:rPr lang="zh-CN" altLang="en-US" sz="2400" b="1" dirty="0">
                <a:solidFill>
                  <a:srgbClr val="4F4F4F"/>
                </a:solidFill>
                <a:latin typeface="PingFang SC"/>
              </a:rPr>
              <a:t>二</a:t>
            </a:r>
            <a:r>
              <a:rPr lang="zh-CN" altLang="en-US" sz="2400" b="1" i="0" dirty="0">
                <a:solidFill>
                  <a:srgbClr val="4F4F4F"/>
                </a:solidFill>
                <a:effectLst/>
                <a:latin typeface="PingFang SC"/>
              </a:rPr>
              <a:t>、梯度下降算法</a:t>
            </a:r>
          </a:p>
        </p:txBody>
      </p:sp>
      <p:pic>
        <p:nvPicPr>
          <p:cNvPr id="8" name="图片 7">
            <a:extLst>
              <a:ext uri="{FF2B5EF4-FFF2-40B4-BE49-F238E27FC236}">
                <a16:creationId xmlns:a16="http://schemas.microsoft.com/office/drawing/2014/main" id="{662482BD-AB8F-7B35-1FE5-6F00009D615B}"/>
              </a:ext>
            </a:extLst>
          </p:cNvPr>
          <p:cNvPicPr>
            <a:picLocks noChangeAspect="1"/>
          </p:cNvPicPr>
          <p:nvPr/>
        </p:nvPicPr>
        <p:blipFill>
          <a:blip r:embed="rId4"/>
          <a:stretch>
            <a:fillRect/>
          </a:stretch>
        </p:blipFill>
        <p:spPr>
          <a:xfrm>
            <a:off x="102737" y="1346820"/>
            <a:ext cx="4973319" cy="3552371"/>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19C2B3B7-1617-2F40-D8D9-1AD7E26604A4}"/>
                  </a:ext>
                </a:extLst>
              </p:cNvPr>
              <p:cNvSpPr txBox="1"/>
              <p:nvPr/>
            </p:nvSpPr>
            <p:spPr>
              <a:xfrm>
                <a:off x="5142480" y="1058788"/>
                <a:ext cx="3894016" cy="3970318"/>
              </a:xfrm>
              <a:prstGeom prst="rect">
                <a:avLst/>
              </a:prstGeom>
              <a:noFill/>
            </p:spPr>
            <p:txBody>
              <a:bodyPr wrap="square">
                <a:spAutoFit/>
              </a:bodyPr>
              <a:lstStyle/>
              <a:p>
                <a:r>
                  <a:rPr lang="zh-CN" altLang="en-US" dirty="0"/>
                  <a:t>左图展示了在二维情况下</a:t>
                </a:r>
                <a:r>
                  <a:rPr lang="en-US" altLang="zh-CN" dirty="0"/>
                  <a:t>MSE</a:t>
                </a:r>
                <a:r>
                  <a:rPr lang="zh-CN" altLang="en-US" dirty="0"/>
                  <a:t>损失函数梯度下降的迭代过程。图中的椭圆线条是损失函数的等值线，颜色表示损失函数值的大小，越偏蓝色的地方损失越小，越偏红色的地方损失越大。</a:t>
                </a:r>
                <a:r>
                  <a:rPr lang="en-US" altLang="zh-CN" dirty="0"/>
                  <a:t>3</a:t>
                </a:r>
                <a:r>
                  <a:rPr lang="zh-CN" altLang="en-US" dirty="0"/>
                  <a:t>条曲线代表了从</a:t>
                </a:r>
                <a:r>
                  <a:rPr lang="en-US" altLang="zh-CN" dirty="0"/>
                  <a:t>3</a:t>
                </a:r>
                <a:r>
                  <a:rPr lang="zh-CN" altLang="en-US" dirty="0"/>
                  <a:t>个不同的初值进行梯度下降的过程中参数值的变化情况。可以看出，在</a:t>
                </a:r>
                <a:r>
                  <a:rPr lang="en-US" altLang="zh-CN" dirty="0"/>
                  <a:t>MSE</a:t>
                </a:r>
                <a:r>
                  <a:rPr lang="zh-CN" altLang="en-US" dirty="0"/>
                  <a:t>损失的情况下，无论初始值如何，参数都不断沿箭头所指的梯度反方向变化，最终到达损失函数的最小值点</a:t>
                </a:r>
                <a14:m>
                  <m:oMath xmlns:m="http://schemas.openxmlformats.org/officeDocument/2006/math">
                    <m:sSup>
                      <m:sSupPr>
                        <m:ctrlPr>
                          <a:rPr lang="pt-BR" altLang="zh-CN" i="1" smtClean="0">
                            <a:latin typeface="Cambria Math" panose="02040503050406030204" pitchFamily="18" charset="0"/>
                          </a:rPr>
                        </m:ctrlPr>
                      </m:sSupPr>
                      <m:e>
                        <m:r>
                          <a:rPr lang="zh-CN" altLang="pt-BR" i="1" smtClean="0">
                            <a:latin typeface="Cambria Math" panose="02040503050406030204" pitchFamily="18" charset="0"/>
                          </a:rPr>
                          <m:t>𝜃</m:t>
                        </m:r>
                      </m:e>
                      <m:sup>
                        <m:r>
                          <a:rPr lang="en-US" altLang="zh-CN" b="0" i="1" smtClean="0">
                            <a:latin typeface="Cambria Math" panose="02040503050406030204" pitchFamily="18" charset="0"/>
                          </a:rPr>
                          <m:t>∗</m:t>
                        </m:r>
                      </m:sup>
                    </m:sSup>
                  </m:oMath>
                </a14:m>
                <a:r>
                  <a:rPr lang="zh-CN" altLang="en-US" dirty="0"/>
                  <a:t>。这是因为</a:t>
                </a:r>
                <a:r>
                  <a:rPr lang="en-US" altLang="zh-CN" dirty="0"/>
                  <a:t>MSE</a:t>
                </a:r>
                <a:r>
                  <a:rPr lang="zh-CN" altLang="en-US" dirty="0"/>
                  <a:t>损失函数关于参数是凸函数，所以无论起点如何，沿梯度方向都可以到达是损失函数最小的地方。</a:t>
                </a:r>
              </a:p>
            </p:txBody>
          </p:sp>
        </mc:Choice>
        <mc:Fallback xmlns="">
          <p:sp>
            <p:nvSpPr>
              <p:cNvPr id="10" name="文本框 9">
                <a:extLst>
                  <a:ext uri="{FF2B5EF4-FFF2-40B4-BE49-F238E27FC236}">
                    <a16:creationId xmlns:a16="http://schemas.microsoft.com/office/drawing/2014/main" id="{19C2B3B7-1617-2F40-D8D9-1AD7E26604A4}"/>
                  </a:ext>
                </a:extLst>
              </p:cNvPr>
              <p:cNvSpPr txBox="1">
                <a:spLocks noRot="1" noChangeAspect="1" noMove="1" noResize="1" noEditPoints="1" noAdjustHandles="1" noChangeArrowheads="1" noChangeShapeType="1" noTextEdit="1"/>
              </p:cNvSpPr>
              <p:nvPr/>
            </p:nvSpPr>
            <p:spPr>
              <a:xfrm>
                <a:off x="5142480" y="1058788"/>
                <a:ext cx="3894016" cy="3970318"/>
              </a:xfrm>
              <a:prstGeom prst="rect">
                <a:avLst/>
              </a:prstGeom>
              <a:blipFill>
                <a:blip r:embed="rId5"/>
                <a:stretch>
                  <a:fillRect l="-1411" t="-1382" r="-5799" b="-1075"/>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F5A258B-5A04-6BE6-38E8-ADCF19524A3C}"/>
              </a:ext>
            </a:extLst>
          </p:cNvPr>
          <p:cNvSpPr txBox="1"/>
          <p:nvPr/>
        </p:nvSpPr>
        <p:spPr>
          <a:xfrm>
            <a:off x="1094750" y="4875212"/>
            <a:ext cx="2901186" cy="307777"/>
          </a:xfrm>
          <a:prstGeom prst="rect">
            <a:avLst/>
          </a:prstGeom>
          <a:noFill/>
        </p:spPr>
        <p:txBody>
          <a:bodyPr wrap="square">
            <a:spAutoFit/>
          </a:bodyPr>
          <a:lstStyle/>
          <a:p>
            <a:r>
              <a:rPr lang="zh-CN" altLang="en-US" sz="1400" dirty="0"/>
              <a:t>二维</a:t>
            </a:r>
            <a:r>
              <a:rPr lang="en-US" altLang="zh-CN" sz="1400" dirty="0"/>
              <a:t>MSE</a:t>
            </a:r>
            <a:r>
              <a:rPr lang="zh-CN" altLang="en-US" sz="1400" dirty="0"/>
              <a:t>损失函数的梯度下降示意</a:t>
            </a:r>
          </a:p>
        </p:txBody>
      </p:sp>
      <mc:AlternateContent xmlns:mc="http://schemas.openxmlformats.org/markup-compatibility/2006" xmlns:p14="http://schemas.microsoft.com/office/powerpoint/2010/main">
        <mc:Choice Requires="p14">
          <p:contentPart p14:bwMode="auto" r:id="rId6">
            <p14:nvContentPartPr>
              <p14:cNvPr id="3" name="墨迹 2">
                <a:extLst>
                  <a:ext uri="{FF2B5EF4-FFF2-40B4-BE49-F238E27FC236}">
                    <a16:creationId xmlns:a16="http://schemas.microsoft.com/office/drawing/2014/main" id="{DECE8092-BF22-FB38-9C63-DA8A091A2B52}"/>
                  </a:ext>
                </a:extLst>
              </p14:cNvPr>
              <p14:cNvContentPartPr/>
              <p14:nvPr/>
            </p14:nvContentPartPr>
            <p14:xfrm>
              <a:off x="4066191" y="4824070"/>
              <a:ext cx="811080" cy="16200"/>
            </p14:xfrm>
          </p:contentPart>
        </mc:Choice>
        <mc:Fallback xmlns="">
          <p:pic>
            <p:nvPicPr>
              <p:cNvPr id="3" name="墨迹 2">
                <a:extLst>
                  <a:ext uri="{FF2B5EF4-FFF2-40B4-BE49-F238E27FC236}">
                    <a16:creationId xmlns:a16="http://schemas.microsoft.com/office/drawing/2014/main" id="{DECE8092-BF22-FB38-9C63-DA8A091A2B52}"/>
                  </a:ext>
                </a:extLst>
              </p:cNvPr>
              <p:cNvPicPr/>
              <p:nvPr/>
            </p:nvPicPr>
            <p:blipFill>
              <a:blip r:embed="rId7"/>
              <a:stretch>
                <a:fillRect/>
              </a:stretch>
            </p:blipFill>
            <p:spPr>
              <a:xfrm>
                <a:off x="4003191" y="4761430"/>
                <a:ext cx="936720" cy="141840"/>
              </a:xfrm>
              <a:prstGeom prst="rect">
                <a:avLst/>
              </a:prstGeom>
            </p:spPr>
          </p:pic>
        </mc:Fallback>
      </mc:AlternateContent>
    </p:spTree>
    <p:extLst>
      <p:ext uri="{BB962C8B-B14F-4D97-AF65-F5344CB8AC3E}">
        <p14:creationId xmlns:p14="http://schemas.microsoft.com/office/powerpoint/2010/main" val="3530700443"/>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C4475-49C3-DFF5-B31A-11E2B61EE9D2}"/>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2580CE5C-9F20-0E23-A869-FC73BAD8FE06}"/>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8E71485B-7C88-B05D-FCEF-CB156E4D93C6}"/>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2F4CDED6-060D-415B-B9E3-9F739534839A}"/>
              </a:ext>
            </a:extLst>
          </p:cNvPr>
          <p:cNvSpPr txBox="1"/>
          <p:nvPr/>
        </p:nvSpPr>
        <p:spPr>
          <a:xfrm>
            <a:off x="432016" y="770756"/>
            <a:ext cx="5166360" cy="461665"/>
          </a:xfrm>
          <a:prstGeom prst="rect">
            <a:avLst/>
          </a:prstGeom>
          <a:noFill/>
        </p:spPr>
        <p:txBody>
          <a:bodyPr wrap="square">
            <a:spAutoFit/>
          </a:bodyPr>
          <a:lstStyle/>
          <a:p>
            <a:pPr algn="l"/>
            <a:r>
              <a:rPr lang="zh-CN" altLang="en-US" sz="2400" b="1" dirty="0">
                <a:solidFill>
                  <a:srgbClr val="4F4F4F"/>
                </a:solidFill>
                <a:latin typeface="PingFang SC"/>
              </a:rPr>
              <a:t>二</a:t>
            </a:r>
            <a:r>
              <a:rPr lang="zh-CN" altLang="en-US" sz="2400" b="1" i="0" dirty="0">
                <a:solidFill>
                  <a:srgbClr val="4F4F4F"/>
                </a:solidFill>
                <a:effectLst/>
                <a:latin typeface="PingFang SC"/>
              </a:rPr>
              <a:t>、梯度下降算法</a:t>
            </a:r>
          </a:p>
        </p:txBody>
      </p:sp>
      <p:sp>
        <p:nvSpPr>
          <p:cNvPr id="4" name="文本框 3">
            <a:extLst>
              <a:ext uri="{FF2B5EF4-FFF2-40B4-BE49-F238E27FC236}">
                <a16:creationId xmlns:a16="http://schemas.microsoft.com/office/drawing/2014/main" id="{36D31DD4-5105-F023-82B8-BA0E895F4A08}"/>
              </a:ext>
            </a:extLst>
          </p:cNvPr>
          <p:cNvSpPr txBox="1"/>
          <p:nvPr/>
        </p:nvSpPr>
        <p:spPr>
          <a:xfrm>
            <a:off x="1094750" y="4855467"/>
            <a:ext cx="2901186" cy="307777"/>
          </a:xfrm>
          <a:prstGeom prst="rect">
            <a:avLst/>
          </a:prstGeom>
          <a:noFill/>
        </p:spPr>
        <p:txBody>
          <a:bodyPr wrap="square">
            <a:spAutoFit/>
          </a:bodyPr>
          <a:lstStyle/>
          <a:p>
            <a:r>
              <a:rPr lang="zh-CN" altLang="en-US" sz="1400" dirty="0"/>
              <a:t>有两个局部极小值的损失函数</a:t>
            </a:r>
          </a:p>
        </p:txBody>
      </p:sp>
      <p:sp>
        <p:nvSpPr>
          <p:cNvPr id="7" name="文本框 6">
            <a:extLst>
              <a:ext uri="{FF2B5EF4-FFF2-40B4-BE49-F238E27FC236}">
                <a16:creationId xmlns:a16="http://schemas.microsoft.com/office/drawing/2014/main" id="{E28FC0BC-3641-F4D2-B571-107745F25189}"/>
              </a:ext>
            </a:extLst>
          </p:cNvPr>
          <p:cNvSpPr txBox="1"/>
          <p:nvPr/>
        </p:nvSpPr>
        <p:spPr>
          <a:xfrm>
            <a:off x="5598376" y="1389219"/>
            <a:ext cx="3168352" cy="3139321"/>
          </a:xfrm>
          <a:prstGeom prst="rect">
            <a:avLst/>
          </a:prstGeom>
          <a:noFill/>
        </p:spPr>
        <p:txBody>
          <a:bodyPr wrap="square">
            <a:spAutoFit/>
          </a:bodyPr>
          <a:lstStyle/>
          <a:p>
            <a:r>
              <a:rPr lang="zh-CN" altLang="en-US" dirty="0"/>
              <a:t>如果需要优化的损失函数是非凸的，梯度下降就可能陷入局部极小值，无法达到全局最优如左图所示，损失函数在空间上有两个局部极小值点𝜃</a:t>
            </a:r>
            <a:r>
              <a:rPr lang="en-US" altLang="zh-CN" baseline="-25000" dirty="0"/>
              <a:t>1</a:t>
            </a:r>
            <a:r>
              <a:rPr lang="en-US" altLang="zh-CN" dirty="0"/>
              <a:t>*</a:t>
            </a:r>
            <a:r>
              <a:rPr lang="zh-CN" altLang="en-US" dirty="0"/>
              <a:t>和𝜃</a:t>
            </a:r>
            <a:r>
              <a:rPr lang="en-US" altLang="zh-CN" baseline="-25000" dirty="0"/>
              <a:t>2</a:t>
            </a:r>
            <a:r>
              <a:rPr lang="en-US" altLang="zh-CN" dirty="0"/>
              <a:t>* </a:t>
            </a:r>
            <a:r>
              <a:rPr lang="zh-CN" altLang="en-US" dirty="0"/>
              <a:t>。其中，𝜃</a:t>
            </a:r>
            <a:r>
              <a:rPr lang="en-US" altLang="zh-CN" baseline="-25000" dirty="0"/>
              <a:t>1</a:t>
            </a:r>
            <a:r>
              <a:rPr lang="en-US" altLang="zh-CN" dirty="0"/>
              <a:t>*</a:t>
            </a:r>
            <a:r>
              <a:rPr lang="zh-CN" altLang="en-US" dirty="0"/>
              <a:t>是全局最小值，两条曲线分别代表从不同的起始参数出发进行梯度下降的结果。可以看出，如果参数的初始值比较靠下，梯度下降算法就只能收敛到较差的解𝜃</a:t>
            </a:r>
            <a:r>
              <a:rPr lang="en-US" altLang="zh-CN" baseline="-25000" dirty="0"/>
              <a:t>2</a:t>
            </a:r>
            <a:r>
              <a:rPr lang="en-US" altLang="zh-CN" dirty="0"/>
              <a:t>*</a:t>
            </a:r>
            <a:r>
              <a:rPr lang="zh-CN" altLang="en-US" dirty="0"/>
              <a:t>上。</a:t>
            </a:r>
          </a:p>
        </p:txBody>
      </p:sp>
      <p:pic>
        <p:nvPicPr>
          <p:cNvPr id="9" name="图片 8">
            <a:extLst>
              <a:ext uri="{FF2B5EF4-FFF2-40B4-BE49-F238E27FC236}">
                <a16:creationId xmlns:a16="http://schemas.microsoft.com/office/drawing/2014/main" id="{90A6ABC1-3E77-9A99-10F1-6118BF695994}"/>
              </a:ext>
            </a:extLst>
          </p:cNvPr>
          <p:cNvPicPr>
            <a:picLocks noChangeAspect="1"/>
          </p:cNvPicPr>
          <p:nvPr/>
        </p:nvPicPr>
        <p:blipFill>
          <a:blip r:embed="rId4"/>
          <a:stretch>
            <a:fillRect/>
          </a:stretch>
        </p:blipFill>
        <p:spPr>
          <a:xfrm>
            <a:off x="215736" y="1230586"/>
            <a:ext cx="5148352" cy="3677394"/>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6D0C60A8-1E7E-B010-2088-4A35B7D9DA5E}"/>
                  </a:ext>
                </a:extLst>
              </p14:cNvPr>
              <p14:cNvContentPartPr/>
              <p14:nvPr/>
            </p14:nvContentPartPr>
            <p14:xfrm>
              <a:off x="4341231" y="4817230"/>
              <a:ext cx="840600" cy="29880"/>
            </p14:xfrm>
          </p:contentPart>
        </mc:Choice>
        <mc:Fallback xmlns="">
          <p:pic>
            <p:nvPicPr>
              <p:cNvPr id="3" name="墨迹 2">
                <a:extLst>
                  <a:ext uri="{FF2B5EF4-FFF2-40B4-BE49-F238E27FC236}">
                    <a16:creationId xmlns:a16="http://schemas.microsoft.com/office/drawing/2014/main" id="{6D0C60A8-1E7E-B010-2088-4A35B7D9DA5E}"/>
                  </a:ext>
                </a:extLst>
              </p:cNvPr>
              <p:cNvPicPr/>
              <p:nvPr/>
            </p:nvPicPr>
            <p:blipFill>
              <a:blip r:embed="rId6"/>
              <a:stretch>
                <a:fillRect/>
              </a:stretch>
            </p:blipFill>
            <p:spPr>
              <a:xfrm>
                <a:off x="4278231" y="4754230"/>
                <a:ext cx="966240" cy="155520"/>
              </a:xfrm>
              <a:prstGeom prst="rect">
                <a:avLst/>
              </a:prstGeom>
            </p:spPr>
          </p:pic>
        </mc:Fallback>
      </mc:AlternateContent>
    </p:spTree>
    <p:extLst>
      <p:ext uri="{BB962C8B-B14F-4D97-AF65-F5344CB8AC3E}">
        <p14:creationId xmlns:p14="http://schemas.microsoft.com/office/powerpoint/2010/main" val="1537974232"/>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D0DE1-2DE4-7E4A-F0D7-C72E832B0534}"/>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47A7424B-F780-C8B3-8B75-6524E3069D20}"/>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4F7EA858-DFD4-13FD-D445-9B79CB18E71E}"/>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6C85790E-D972-4D02-6FE4-EC78FB32D0CC}"/>
              </a:ext>
            </a:extLst>
          </p:cNvPr>
          <p:cNvSpPr txBox="1"/>
          <p:nvPr/>
        </p:nvSpPr>
        <p:spPr>
          <a:xfrm>
            <a:off x="432016" y="770756"/>
            <a:ext cx="5166360" cy="461665"/>
          </a:xfrm>
          <a:prstGeom prst="rect">
            <a:avLst/>
          </a:prstGeom>
          <a:noFill/>
        </p:spPr>
        <p:txBody>
          <a:bodyPr wrap="square">
            <a:spAutoFit/>
          </a:bodyPr>
          <a:lstStyle/>
          <a:p>
            <a:pPr algn="l"/>
            <a:r>
              <a:rPr lang="zh-CN" altLang="en-US" sz="2400" b="1" dirty="0">
                <a:solidFill>
                  <a:srgbClr val="4F4F4F"/>
                </a:solidFill>
                <a:latin typeface="PingFang SC"/>
              </a:rPr>
              <a:t>二</a:t>
            </a:r>
            <a:r>
              <a:rPr lang="zh-CN" altLang="en-US" sz="2400" b="1" i="0" dirty="0">
                <a:solidFill>
                  <a:srgbClr val="4F4F4F"/>
                </a:solidFill>
                <a:effectLst/>
                <a:latin typeface="PingFang SC"/>
              </a:rPr>
              <a:t>、梯度下降算法</a:t>
            </a:r>
          </a:p>
        </p:txBody>
      </p:sp>
      <p:sp>
        <p:nvSpPr>
          <p:cNvPr id="4" name="文本框 3">
            <a:extLst>
              <a:ext uri="{FF2B5EF4-FFF2-40B4-BE49-F238E27FC236}">
                <a16:creationId xmlns:a16="http://schemas.microsoft.com/office/drawing/2014/main" id="{A85BAD9C-E2BE-2F0E-63C2-6A7BACDFFE1C}"/>
              </a:ext>
            </a:extLst>
          </p:cNvPr>
          <p:cNvSpPr txBox="1"/>
          <p:nvPr/>
        </p:nvSpPr>
        <p:spPr>
          <a:xfrm>
            <a:off x="1094750" y="4855467"/>
            <a:ext cx="2901186" cy="307777"/>
          </a:xfrm>
          <a:prstGeom prst="rect">
            <a:avLst/>
          </a:prstGeom>
          <a:noFill/>
        </p:spPr>
        <p:txBody>
          <a:bodyPr wrap="square">
            <a:spAutoFit/>
          </a:bodyPr>
          <a:lstStyle/>
          <a:p>
            <a:r>
              <a:rPr lang="zh-CN" altLang="en-US" sz="1400" dirty="0"/>
              <a:t>有两个局部极小值的损失函数</a:t>
            </a:r>
          </a:p>
        </p:txBody>
      </p:sp>
      <p:sp>
        <p:nvSpPr>
          <p:cNvPr id="7" name="文本框 6">
            <a:extLst>
              <a:ext uri="{FF2B5EF4-FFF2-40B4-BE49-F238E27FC236}">
                <a16:creationId xmlns:a16="http://schemas.microsoft.com/office/drawing/2014/main" id="{FFA6B4A1-8723-40CD-24A9-232A81261B79}"/>
              </a:ext>
            </a:extLst>
          </p:cNvPr>
          <p:cNvSpPr txBox="1"/>
          <p:nvPr/>
        </p:nvSpPr>
        <p:spPr>
          <a:xfrm>
            <a:off x="5436096" y="1186975"/>
            <a:ext cx="3707904" cy="3416320"/>
          </a:xfrm>
          <a:prstGeom prst="rect">
            <a:avLst/>
          </a:prstGeom>
          <a:noFill/>
        </p:spPr>
        <p:txBody>
          <a:bodyPr wrap="square">
            <a:spAutoFit/>
          </a:bodyPr>
          <a:lstStyle/>
          <a:p>
            <a:r>
              <a:rPr lang="zh-CN" altLang="en-US" dirty="0"/>
              <a:t>图中的两个起始参数位置其实非常接近，在这样的情况下，模型得到的结果受初始的随机参数以及计算误差的影响非常大，从而非常不稳定。当模型较为复杂时，我们通常无法直观判断损失函数是否为凸函数，也无法先验地得知函数有几个局部极小值点、其中哪个才是全局最优，还很难控制随机生成的初始参数的位置。</a:t>
            </a:r>
            <a:r>
              <a:rPr lang="zh-CN" altLang="en-US" dirty="0">
                <a:solidFill>
                  <a:srgbClr val="FF0000"/>
                </a:solidFill>
              </a:rPr>
              <a:t>因此，在现代的深度学习中，非凸函数的优化仍然是一个重要的研究课题</a:t>
            </a:r>
            <a:r>
              <a:rPr lang="zh-CN" altLang="en-US" dirty="0"/>
              <a:t>。</a:t>
            </a:r>
          </a:p>
        </p:txBody>
      </p:sp>
      <p:pic>
        <p:nvPicPr>
          <p:cNvPr id="9" name="图片 8">
            <a:extLst>
              <a:ext uri="{FF2B5EF4-FFF2-40B4-BE49-F238E27FC236}">
                <a16:creationId xmlns:a16="http://schemas.microsoft.com/office/drawing/2014/main" id="{5A6E327B-3ADA-A144-2D6B-3D83454277DE}"/>
              </a:ext>
            </a:extLst>
          </p:cNvPr>
          <p:cNvPicPr>
            <a:picLocks noChangeAspect="1"/>
          </p:cNvPicPr>
          <p:nvPr/>
        </p:nvPicPr>
        <p:blipFill>
          <a:blip r:embed="rId4"/>
          <a:stretch>
            <a:fillRect/>
          </a:stretch>
        </p:blipFill>
        <p:spPr>
          <a:xfrm>
            <a:off x="143728" y="1230586"/>
            <a:ext cx="5148352" cy="3677394"/>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C5355192-4BE4-FC57-9B8B-3020E711243E}"/>
                  </a:ext>
                </a:extLst>
              </p14:cNvPr>
              <p14:cNvContentPartPr/>
              <p14:nvPr/>
            </p14:nvContentPartPr>
            <p14:xfrm>
              <a:off x="4296591" y="4802110"/>
              <a:ext cx="825840" cy="39600"/>
            </p14:xfrm>
          </p:contentPart>
        </mc:Choice>
        <mc:Fallback xmlns="">
          <p:pic>
            <p:nvPicPr>
              <p:cNvPr id="3" name="墨迹 2">
                <a:extLst>
                  <a:ext uri="{FF2B5EF4-FFF2-40B4-BE49-F238E27FC236}">
                    <a16:creationId xmlns:a16="http://schemas.microsoft.com/office/drawing/2014/main" id="{C5355192-4BE4-FC57-9B8B-3020E711243E}"/>
                  </a:ext>
                </a:extLst>
              </p:cNvPr>
              <p:cNvPicPr/>
              <p:nvPr/>
            </p:nvPicPr>
            <p:blipFill>
              <a:blip r:embed="rId6"/>
              <a:stretch>
                <a:fillRect/>
              </a:stretch>
            </p:blipFill>
            <p:spPr>
              <a:xfrm>
                <a:off x="4233591" y="4739110"/>
                <a:ext cx="951480" cy="165240"/>
              </a:xfrm>
              <a:prstGeom prst="rect">
                <a:avLst/>
              </a:prstGeom>
            </p:spPr>
          </p:pic>
        </mc:Fallback>
      </mc:AlternateContent>
    </p:spTree>
    <p:extLst>
      <p:ext uri="{BB962C8B-B14F-4D97-AF65-F5344CB8AC3E}">
        <p14:creationId xmlns:p14="http://schemas.microsoft.com/office/powerpoint/2010/main" val="472243804"/>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9F946-629B-E2E6-22C3-E2FEFEE3E284}"/>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AAC27DE8-FD91-20C4-0118-815C59C71412}"/>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85BB8DC3-AE43-6E6F-75FF-8BBC1FE42993}"/>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96EFC186-B407-0504-654A-F89EB6029450}"/>
              </a:ext>
            </a:extLst>
          </p:cNvPr>
          <p:cNvSpPr txBox="1"/>
          <p:nvPr/>
        </p:nvSpPr>
        <p:spPr>
          <a:xfrm>
            <a:off x="432016" y="770756"/>
            <a:ext cx="5166360" cy="461665"/>
          </a:xfrm>
          <a:prstGeom prst="rect">
            <a:avLst/>
          </a:prstGeom>
          <a:noFill/>
        </p:spPr>
        <p:txBody>
          <a:bodyPr wrap="square">
            <a:spAutoFit/>
          </a:bodyPr>
          <a:lstStyle/>
          <a:p>
            <a:pPr algn="l"/>
            <a:r>
              <a:rPr lang="zh-CN" altLang="en-US" sz="2400" b="1" dirty="0">
                <a:solidFill>
                  <a:srgbClr val="4F4F4F"/>
                </a:solidFill>
                <a:latin typeface="PingFang SC"/>
              </a:rPr>
              <a:t>二</a:t>
            </a:r>
            <a:r>
              <a:rPr lang="zh-CN" altLang="en-US" sz="2400" b="1" i="0" dirty="0">
                <a:solidFill>
                  <a:srgbClr val="4F4F4F"/>
                </a:solidFill>
                <a:effectLst/>
                <a:latin typeface="PingFang SC"/>
              </a:rPr>
              <a:t>、梯度下降算法</a:t>
            </a:r>
          </a:p>
        </p:txBody>
      </p:sp>
      <p:pic>
        <p:nvPicPr>
          <p:cNvPr id="6" name="图片 5">
            <a:extLst>
              <a:ext uri="{FF2B5EF4-FFF2-40B4-BE49-F238E27FC236}">
                <a16:creationId xmlns:a16="http://schemas.microsoft.com/office/drawing/2014/main" id="{21FE2AAF-8874-311E-F5F7-B2BC8F54E147}"/>
              </a:ext>
            </a:extLst>
          </p:cNvPr>
          <p:cNvPicPr>
            <a:picLocks noChangeAspect="1"/>
          </p:cNvPicPr>
          <p:nvPr/>
        </p:nvPicPr>
        <p:blipFill>
          <a:blip r:embed="rId4"/>
          <a:stretch>
            <a:fillRect/>
          </a:stretch>
        </p:blipFill>
        <p:spPr>
          <a:xfrm>
            <a:off x="235844" y="1600908"/>
            <a:ext cx="8672312" cy="2278577"/>
          </a:xfrm>
          <a:prstGeom prst="rect">
            <a:avLst/>
          </a:prstGeom>
        </p:spPr>
      </p:pic>
    </p:spTree>
    <p:extLst>
      <p:ext uri="{BB962C8B-B14F-4D97-AF65-F5344CB8AC3E}">
        <p14:creationId xmlns:p14="http://schemas.microsoft.com/office/powerpoint/2010/main" val="3908887504"/>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FCADF-5C8B-3ACA-BF4A-DD8B4EC3120A}"/>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6A40FB38-4F43-E48C-D8B3-1843067C5A85}"/>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41FBEE48-AB01-41A4-14D7-757A9620EC6A}"/>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CFF04338-FAF6-BF32-47E2-360729EADE02}"/>
              </a:ext>
            </a:extLst>
          </p:cNvPr>
          <p:cNvSpPr txBox="1"/>
          <p:nvPr/>
        </p:nvSpPr>
        <p:spPr>
          <a:xfrm>
            <a:off x="432016" y="770756"/>
            <a:ext cx="5166360" cy="461665"/>
          </a:xfrm>
          <a:prstGeom prst="rect">
            <a:avLst/>
          </a:prstGeom>
          <a:noFill/>
        </p:spPr>
        <p:txBody>
          <a:bodyPr wrap="square">
            <a:spAutoFit/>
          </a:bodyPr>
          <a:lstStyle/>
          <a:p>
            <a:pPr algn="l"/>
            <a:r>
              <a:rPr lang="zh-CN" altLang="en-US" sz="2400" b="1" dirty="0">
                <a:solidFill>
                  <a:srgbClr val="4F4F4F"/>
                </a:solidFill>
                <a:latin typeface="PingFang SC"/>
              </a:rPr>
              <a:t>二</a:t>
            </a:r>
            <a:r>
              <a:rPr lang="zh-CN" altLang="en-US" sz="2400" b="1" i="0" dirty="0">
                <a:solidFill>
                  <a:srgbClr val="4F4F4F"/>
                </a:solidFill>
                <a:effectLst/>
                <a:latin typeface="PingFang SC"/>
              </a:rPr>
              <a:t>、梯度下降算法</a:t>
            </a:r>
          </a:p>
        </p:txBody>
      </p:sp>
      <p:pic>
        <p:nvPicPr>
          <p:cNvPr id="4" name="图片 3">
            <a:extLst>
              <a:ext uri="{FF2B5EF4-FFF2-40B4-BE49-F238E27FC236}">
                <a16:creationId xmlns:a16="http://schemas.microsoft.com/office/drawing/2014/main" id="{86760DBD-2D6F-0CA9-02B0-A0F5849816C1}"/>
              </a:ext>
            </a:extLst>
          </p:cNvPr>
          <p:cNvPicPr>
            <a:picLocks noChangeAspect="1"/>
          </p:cNvPicPr>
          <p:nvPr/>
        </p:nvPicPr>
        <p:blipFill>
          <a:blip r:embed="rId4"/>
          <a:stretch>
            <a:fillRect/>
          </a:stretch>
        </p:blipFill>
        <p:spPr>
          <a:xfrm>
            <a:off x="323528" y="1355531"/>
            <a:ext cx="8596105" cy="2880610"/>
          </a:xfrm>
          <a:prstGeom prst="rect">
            <a:avLst/>
          </a:prstGeom>
        </p:spPr>
      </p:pic>
    </p:spTree>
    <p:extLst>
      <p:ext uri="{BB962C8B-B14F-4D97-AF65-F5344CB8AC3E}">
        <p14:creationId xmlns:p14="http://schemas.microsoft.com/office/powerpoint/2010/main" val="3241035758"/>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D9E4A-CDE9-EEE0-4243-B4817695E784}"/>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04EAECCF-58A5-4AAC-94EA-9D0894199CCB}"/>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4D76B2AF-65F9-D14A-2DC9-0C0321773A2A}"/>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CFD0AD45-A4BC-08B4-F233-BA590DA77727}"/>
              </a:ext>
            </a:extLst>
          </p:cNvPr>
          <p:cNvSpPr txBox="1"/>
          <p:nvPr/>
        </p:nvSpPr>
        <p:spPr>
          <a:xfrm>
            <a:off x="432016" y="770756"/>
            <a:ext cx="5166360" cy="461665"/>
          </a:xfrm>
          <a:prstGeom prst="rect">
            <a:avLst/>
          </a:prstGeom>
          <a:noFill/>
        </p:spPr>
        <p:txBody>
          <a:bodyPr wrap="square">
            <a:spAutoFit/>
          </a:bodyPr>
          <a:lstStyle/>
          <a:p>
            <a:pPr algn="l"/>
            <a:r>
              <a:rPr lang="zh-CN" altLang="en-US" sz="2400" b="1" dirty="0">
                <a:solidFill>
                  <a:srgbClr val="4F4F4F"/>
                </a:solidFill>
                <a:latin typeface="PingFang SC"/>
              </a:rPr>
              <a:t>二</a:t>
            </a:r>
            <a:r>
              <a:rPr lang="zh-CN" altLang="en-US" sz="2400" b="1" i="0" dirty="0">
                <a:solidFill>
                  <a:srgbClr val="4F4F4F"/>
                </a:solidFill>
                <a:effectLst/>
                <a:latin typeface="PingFang SC"/>
              </a:rPr>
              <a:t>、梯度下降算法</a:t>
            </a:r>
          </a:p>
        </p:txBody>
      </p:sp>
      <p:pic>
        <p:nvPicPr>
          <p:cNvPr id="6" name="图片 5">
            <a:extLst>
              <a:ext uri="{FF2B5EF4-FFF2-40B4-BE49-F238E27FC236}">
                <a16:creationId xmlns:a16="http://schemas.microsoft.com/office/drawing/2014/main" id="{85B9EA85-6157-962B-6C63-812BEE4D7CE9}"/>
              </a:ext>
            </a:extLst>
          </p:cNvPr>
          <p:cNvPicPr>
            <a:picLocks noChangeAspect="1"/>
          </p:cNvPicPr>
          <p:nvPr/>
        </p:nvPicPr>
        <p:blipFill>
          <a:blip r:embed="rId4"/>
          <a:stretch>
            <a:fillRect/>
          </a:stretch>
        </p:blipFill>
        <p:spPr>
          <a:xfrm>
            <a:off x="220603" y="1488822"/>
            <a:ext cx="8702794" cy="2164268"/>
          </a:xfrm>
          <a:prstGeom prst="rect">
            <a:avLst/>
          </a:prstGeom>
        </p:spPr>
      </p:pic>
      <p:sp>
        <p:nvSpPr>
          <p:cNvPr id="11" name="矩形 10">
            <a:extLst>
              <a:ext uri="{FF2B5EF4-FFF2-40B4-BE49-F238E27FC236}">
                <a16:creationId xmlns:a16="http://schemas.microsoft.com/office/drawing/2014/main" id="{CDB80958-FEA7-552E-4FD8-7671A0AF8FE2}"/>
              </a:ext>
            </a:extLst>
          </p:cNvPr>
          <p:cNvSpPr/>
          <p:nvPr/>
        </p:nvSpPr>
        <p:spPr>
          <a:xfrm>
            <a:off x="4067943" y="3363044"/>
            <a:ext cx="4855453" cy="290046"/>
          </a:xfrm>
          <a:prstGeom prst="rect">
            <a:avLst/>
          </a:prstGeom>
          <a:solidFill>
            <a:schemeClr val="bg1"/>
          </a:solidFill>
          <a:ln w="12700">
            <a:noFill/>
          </a:ln>
          <a:effectLst>
            <a:outerShdw blurRad="254000" dist="190500" dir="3540000" sx="105000" sy="105000" algn="tl" rotWithShape="0">
              <a:srgbClr val="A44A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Tree>
    <p:extLst>
      <p:ext uri="{BB962C8B-B14F-4D97-AF65-F5344CB8AC3E}">
        <p14:creationId xmlns:p14="http://schemas.microsoft.com/office/powerpoint/2010/main" val="273485292"/>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81A8F-F0C7-D209-D278-83A6DB6E3AF6}"/>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28549BBD-6DE0-1D53-06A8-547C0FB05A00}"/>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FCF69A21-8051-19C1-884E-1FAF34C5608D}"/>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A0F2C71A-9233-8701-403C-840B0DCA304B}"/>
              </a:ext>
            </a:extLst>
          </p:cNvPr>
          <p:cNvSpPr txBox="1"/>
          <p:nvPr/>
        </p:nvSpPr>
        <p:spPr>
          <a:xfrm>
            <a:off x="432016" y="770756"/>
            <a:ext cx="5166360" cy="461665"/>
          </a:xfrm>
          <a:prstGeom prst="rect">
            <a:avLst/>
          </a:prstGeom>
          <a:noFill/>
        </p:spPr>
        <p:txBody>
          <a:bodyPr wrap="square">
            <a:spAutoFit/>
          </a:bodyPr>
          <a:lstStyle/>
          <a:p>
            <a:pPr algn="l"/>
            <a:r>
              <a:rPr lang="zh-CN" altLang="en-US" sz="2400" b="1" dirty="0">
                <a:solidFill>
                  <a:srgbClr val="4F4F4F"/>
                </a:solidFill>
                <a:latin typeface="PingFang SC"/>
              </a:rPr>
              <a:t>二</a:t>
            </a:r>
            <a:r>
              <a:rPr lang="zh-CN" altLang="en-US" sz="2400" b="1" i="0" dirty="0">
                <a:solidFill>
                  <a:srgbClr val="4F4F4F"/>
                </a:solidFill>
                <a:effectLst/>
                <a:latin typeface="PingFang SC"/>
              </a:rPr>
              <a:t>、梯度下降算法</a:t>
            </a:r>
          </a:p>
        </p:txBody>
      </p:sp>
      <p:pic>
        <p:nvPicPr>
          <p:cNvPr id="3" name="图片 2">
            <a:extLst>
              <a:ext uri="{FF2B5EF4-FFF2-40B4-BE49-F238E27FC236}">
                <a16:creationId xmlns:a16="http://schemas.microsoft.com/office/drawing/2014/main" id="{725B1A5D-9B24-501A-EF1A-5CEBBFA76121}"/>
              </a:ext>
            </a:extLst>
          </p:cNvPr>
          <p:cNvPicPr>
            <a:picLocks noChangeAspect="1"/>
          </p:cNvPicPr>
          <p:nvPr/>
        </p:nvPicPr>
        <p:blipFill>
          <a:blip r:embed="rId4"/>
          <a:stretch>
            <a:fillRect/>
          </a:stretch>
        </p:blipFill>
        <p:spPr>
          <a:xfrm>
            <a:off x="107504" y="1206057"/>
            <a:ext cx="5418864" cy="3870617"/>
          </a:xfrm>
          <a:prstGeom prst="rect">
            <a:avLst/>
          </a:prstGeom>
        </p:spPr>
      </p:pic>
      <p:sp>
        <p:nvSpPr>
          <p:cNvPr id="7" name="文本框 6">
            <a:extLst>
              <a:ext uri="{FF2B5EF4-FFF2-40B4-BE49-F238E27FC236}">
                <a16:creationId xmlns:a16="http://schemas.microsoft.com/office/drawing/2014/main" id="{5691FA5E-E994-B318-2D16-FC442748AF97}"/>
              </a:ext>
            </a:extLst>
          </p:cNvPr>
          <p:cNvSpPr txBox="1"/>
          <p:nvPr/>
        </p:nvSpPr>
        <p:spPr>
          <a:xfrm>
            <a:off x="5687616" y="1110040"/>
            <a:ext cx="3456384" cy="4031873"/>
          </a:xfrm>
          <a:prstGeom prst="rect">
            <a:avLst/>
          </a:prstGeom>
          <a:noFill/>
        </p:spPr>
        <p:txBody>
          <a:bodyPr wrap="square">
            <a:spAutoFit/>
          </a:bodyPr>
          <a:lstStyle/>
          <a:p>
            <a:r>
              <a:rPr lang="zh-CN" altLang="en-US" sz="1600" dirty="0"/>
              <a:t>左图中展示了在</a:t>
            </a:r>
            <a:r>
              <a:rPr lang="en-US" altLang="zh-CN" sz="1600" dirty="0"/>
              <a:t>MSE</a:t>
            </a:r>
            <a:r>
              <a:rPr lang="zh-CN" altLang="en-US" sz="1600" dirty="0"/>
              <a:t>损失下进行梯度下降时参数的轨迹，绿色实线表示从起点进行梯度下降，蓝色虚线表示从</a:t>
            </a:r>
            <a:r>
              <a:rPr lang="en-US" altLang="zh-CN" sz="1600" dirty="0"/>
              <a:t>MBGD</a:t>
            </a:r>
            <a:r>
              <a:rPr lang="zh-CN" altLang="en-US" sz="1600" dirty="0"/>
              <a:t>，红色虚线表示</a:t>
            </a:r>
            <a:r>
              <a:rPr lang="en-US" altLang="zh-CN" sz="1600" dirty="0"/>
              <a:t>SGD</a:t>
            </a:r>
            <a:r>
              <a:rPr lang="zh-CN" altLang="en-US" sz="1600" dirty="0"/>
              <a:t>。可以看出，全样本的</a:t>
            </a:r>
            <a:r>
              <a:rPr lang="en-US" altLang="zh-CN" sz="1600" dirty="0"/>
              <a:t>GD</a:t>
            </a:r>
            <a:r>
              <a:rPr lang="zh-CN" altLang="en-US" sz="1600" dirty="0"/>
              <a:t>每次计算出的都是精确的梯度值，下降轨迹完全沿梯度方向；</a:t>
            </a:r>
            <a:r>
              <a:rPr lang="en-US" altLang="zh-CN" sz="1600" dirty="0"/>
              <a:t>MBGD</a:t>
            </a:r>
            <a:r>
              <a:rPr lang="zh-CN" altLang="en-US" sz="1600" dirty="0"/>
              <a:t>的轨迹存在一定的振荡，但是始终与实线偏离不远，并且最后也可以收敛到最优解的位置；</a:t>
            </a:r>
            <a:r>
              <a:rPr lang="en-US" altLang="zh-CN" sz="1600" dirty="0"/>
              <a:t>SGD</a:t>
            </a:r>
            <a:r>
              <a:rPr lang="zh-CN" altLang="en-US" sz="1600" dirty="0"/>
              <a:t>的轨迹则震荡很大，并且在最优解附近时，由于其随机性较大，其轨迹会在周围反复抖动，很难真正收敛到最优解。虽然</a:t>
            </a:r>
            <a:r>
              <a:rPr lang="en-US" altLang="zh-CN" sz="1600" dirty="0"/>
              <a:t>MBGD</a:t>
            </a:r>
            <a:r>
              <a:rPr lang="zh-CN" altLang="en-US" sz="1600" dirty="0"/>
              <a:t>也有在最优解附近抖动的情况，但是其抖动幅度较小，在合适的情况下可以认为它得到了最优解很好的近似。</a:t>
            </a:r>
          </a:p>
        </p:txBody>
      </p:sp>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334BD5A9-0F8C-5DAB-DA18-067002E21A54}"/>
                  </a:ext>
                </a:extLst>
              </p14:cNvPr>
              <p14:cNvContentPartPr/>
              <p14:nvPr/>
            </p14:nvContentPartPr>
            <p14:xfrm>
              <a:off x="4430151" y="4935814"/>
              <a:ext cx="907560" cy="52560"/>
            </p14:xfrm>
          </p:contentPart>
        </mc:Choice>
        <mc:Fallback xmlns="">
          <p:pic>
            <p:nvPicPr>
              <p:cNvPr id="4" name="墨迹 3">
                <a:extLst>
                  <a:ext uri="{FF2B5EF4-FFF2-40B4-BE49-F238E27FC236}">
                    <a16:creationId xmlns:a16="http://schemas.microsoft.com/office/drawing/2014/main" id="{334BD5A9-0F8C-5DAB-DA18-067002E21A54}"/>
                  </a:ext>
                </a:extLst>
              </p:cNvPr>
              <p:cNvPicPr/>
              <p:nvPr/>
            </p:nvPicPr>
            <p:blipFill>
              <a:blip r:embed="rId6"/>
              <a:stretch>
                <a:fillRect/>
              </a:stretch>
            </p:blipFill>
            <p:spPr>
              <a:xfrm>
                <a:off x="4367511" y="4872814"/>
                <a:ext cx="1033200" cy="178200"/>
              </a:xfrm>
              <a:prstGeom prst="rect">
                <a:avLst/>
              </a:prstGeom>
            </p:spPr>
          </p:pic>
        </mc:Fallback>
      </mc:AlternateContent>
    </p:spTree>
    <p:extLst>
      <p:ext uri="{BB962C8B-B14F-4D97-AF65-F5344CB8AC3E}">
        <p14:creationId xmlns:p14="http://schemas.microsoft.com/office/powerpoint/2010/main" val="3600351730"/>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B6522-5548-9405-4A9E-8E03D8A384BA}"/>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A47013DC-68AD-ADBC-AD1A-89BE4E801605}"/>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B9F2C7A8-6B67-DC32-6E01-211EF4FF2988}"/>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D9AFC1E0-8756-BC47-DBEA-2BAC79823778}"/>
              </a:ext>
            </a:extLst>
          </p:cNvPr>
          <p:cNvSpPr txBox="1"/>
          <p:nvPr/>
        </p:nvSpPr>
        <p:spPr>
          <a:xfrm>
            <a:off x="432016" y="770756"/>
            <a:ext cx="5166360" cy="461665"/>
          </a:xfrm>
          <a:prstGeom prst="rect">
            <a:avLst/>
          </a:prstGeom>
          <a:noFill/>
        </p:spPr>
        <p:txBody>
          <a:bodyPr wrap="square">
            <a:spAutoFit/>
          </a:bodyPr>
          <a:lstStyle/>
          <a:p>
            <a:pPr algn="l"/>
            <a:r>
              <a:rPr lang="zh-CN" altLang="en-US" sz="2400" b="1" dirty="0">
                <a:solidFill>
                  <a:srgbClr val="4F4F4F"/>
                </a:solidFill>
                <a:latin typeface="PingFang SC"/>
              </a:rPr>
              <a:t>二</a:t>
            </a:r>
            <a:r>
              <a:rPr lang="zh-CN" altLang="en-US" sz="2400" b="1" i="0" dirty="0">
                <a:solidFill>
                  <a:srgbClr val="4F4F4F"/>
                </a:solidFill>
                <a:effectLst/>
                <a:latin typeface="PingFang SC"/>
              </a:rPr>
              <a:t>、梯度下降算法</a:t>
            </a:r>
          </a:p>
        </p:txBody>
      </p:sp>
      <p:sp>
        <p:nvSpPr>
          <p:cNvPr id="7" name="文本框 6">
            <a:extLst>
              <a:ext uri="{FF2B5EF4-FFF2-40B4-BE49-F238E27FC236}">
                <a16:creationId xmlns:a16="http://schemas.microsoft.com/office/drawing/2014/main" id="{9C907BD4-59B4-E2D8-AEF4-E441E0242AFF}"/>
              </a:ext>
            </a:extLst>
          </p:cNvPr>
          <p:cNvSpPr txBox="1"/>
          <p:nvPr/>
        </p:nvSpPr>
        <p:spPr>
          <a:xfrm>
            <a:off x="755576" y="1355531"/>
            <a:ext cx="7740352" cy="1015663"/>
          </a:xfrm>
          <a:prstGeom prst="rect">
            <a:avLst/>
          </a:prstGeom>
          <a:noFill/>
        </p:spPr>
        <p:txBody>
          <a:bodyPr wrap="square">
            <a:spAutoFit/>
          </a:bodyPr>
          <a:lstStyle/>
          <a:p>
            <a:r>
              <a:rPr lang="zh-CN" altLang="en-US" sz="2000" dirty="0"/>
              <a:t>虽然</a:t>
            </a:r>
            <a:r>
              <a:rPr lang="en-US" altLang="zh-CN" sz="2000" dirty="0"/>
              <a:t>SGD</a:t>
            </a:r>
            <a:r>
              <a:rPr lang="zh-CN" altLang="en-US" sz="2000" dirty="0"/>
              <a:t>与</a:t>
            </a:r>
            <a:r>
              <a:rPr lang="en-US" altLang="zh-CN" sz="2000" dirty="0"/>
              <a:t>MBGD</a:t>
            </a:r>
            <a:r>
              <a:rPr lang="zh-CN" altLang="en-US" sz="2000" dirty="0"/>
              <a:t>理论上是不同的算法，但是作为</a:t>
            </a:r>
            <a:r>
              <a:rPr lang="en-US" altLang="zh-CN" sz="2000" dirty="0"/>
              <a:t>SGD</a:t>
            </a:r>
            <a:r>
              <a:rPr lang="zh-CN" altLang="en-US" sz="2000" dirty="0"/>
              <a:t>的扩展，在</a:t>
            </a:r>
            <a:r>
              <a:rPr lang="zh-CN" altLang="en-US" sz="2000" dirty="0">
                <a:solidFill>
                  <a:srgbClr val="FF0000"/>
                </a:solidFill>
                <a:highlight>
                  <a:srgbClr val="FFFF00"/>
                </a:highlight>
              </a:rPr>
              <a:t>现代深度学习中</a:t>
            </a:r>
            <a:r>
              <a:rPr lang="en-US" altLang="zh-CN" sz="2000" dirty="0">
                <a:solidFill>
                  <a:srgbClr val="FF0000"/>
                </a:solidFill>
                <a:highlight>
                  <a:srgbClr val="FFFF00"/>
                </a:highlight>
              </a:rPr>
              <a:t>SGD</a:t>
            </a:r>
            <a:r>
              <a:rPr lang="zh-CN" altLang="en-US" sz="2000" dirty="0">
                <a:solidFill>
                  <a:srgbClr val="FF0000"/>
                </a:solidFill>
                <a:highlight>
                  <a:srgbClr val="FFFF00"/>
                </a:highlight>
              </a:rPr>
              <a:t>已经成为了</a:t>
            </a:r>
            <a:r>
              <a:rPr lang="en-US" altLang="zh-CN" sz="2000" dirty="0">
                <a:solidFill>
                  <a:srgbClr val="FF0000"/>
                </a:solidFill>
                <a:highlight>
                  <a:srgbClr val="FFFF00"/>
                </a:highlight>
              </a:rPr>
              <a:t>MBGD</a:t>
            </a:r>
            <a:r>
              <a:rPr lang="zh-CN" altLang="en-US" sz="2000" dirty="0">
                <a:solidFill>
                  <a:srgbClr val="FF0000"/>
                </a:solidFill>
                <a:highlight>
                  <a:srgbClr val="FFFF00"/>
                </a:highlight>
              </a:rPr>
              <a:t>的代名词，在不少代码库中</a:t>
            </a:r>
            <a:r>
              <a:rPr lang="en-US" altLang="zh-CN" sz="2000" dirty="0">
                <a:solidFill>
                  <a:srgbClr val="FF0000"/>
                </a:solidFill>
                <a:highlight>
                  <a:srgbClr val="FFFF00"/>
                </a:highlight>
              </a:rPr>
              <a:t>SGD</a:t>
            </a:r>
            <a:r>
              <a:rPr lang="zh-CN" altLang="en-US" sz="2000" dirty="0">
                <a:solidFill>
                  <a:srgbClr val="FF0000"/>
                </a:solidFill>
                <a:highlight>
                  <a:srgbClr val="FFFF00"/>
                </a:highlight>
              </a:rPr>
              <a:t>就是</a:t>
            </a:r>
            <a:r>
              <a:rPr lang="en-US" altLang="zh-CN" sz="2000" dirty="0">
                <a:solidFill>
                  <a:srgbClr val="FF0000"/>
                </a:solidFill>
                <a:highlight>
                  <a:srgbClr val="FFFF00"/>
                </a:highlight>
              </a:rPr>
              <a:t>MBGD</a:t>
            </a:r>
            <a:r>
              <a:rPr lang="zh-CN" altLang="en-US" sz="2000" dirty="0"/>
              <a:t>。</a:t>
            </a:r>
            <a:r>
              <a:rPr lang="zh-CN" altLang="en-US" sz="2000" dirty="0">
                <a:solidFill>
                  <a:srgbClr val="FF0000"/>
                </a:solidFill>
                <a:highlight>
                  <a:srgbClr val="FFFF00"/>
                </a:highlight>
              </a:rPr>
              <a:t>因此，不再区分这两个算法，统一称为</a:t>
            </a:r>
            <a:r>
              <a:rPr lang="en-US" altLang="zh-CN" sz="2000" dirty="0">
                <a:solidFill>
                  <a:srgbClr val="FF0000"/>
                </a:solidFill>
                <a:highlight>
                  <a:srgbClr val="FFFF00"/>
                </a:highlight>
              </a:rPr>
              <a:t>SGD</a:t>
            </a:r>
            <a:r>
              <a:rPr lang="zh-CN" altLang="en-US" sz="2000" dirty="0">
                <a:solidFill>
                  <a:srgbClr val="FF0000"/>
                </a:solidFill>
                <a:highlight>
                  <a:srgbClr val="FFFF00"/>
                </a:highlight>
              </a:rPr>
              <a:t>。</a:t>
            </a:r>
          </a:p>
        </p:txBody>
      </p:sp>
    </p:spTree>
    <p:extLst>
      <p:ext uri="{BB962C8B-B14F-4D97-AF65-F5344CB8AC3E}">
        <p14:creationId xmlns:p14="http://schemas.microsoft.com/office/powerpoint/2010/main" val="887093039"/>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5D1B1-8024-0F4D-C349-34869D851CA1}"/>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54DF7F35-269E-516D-5E04-EB30A6D0B513}"/>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84F24B44-C016-B151-C4E6-259C5D8C549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613CAE99-2719-C188-91A2-0482A1A78EB3}"/>
              </a:ext>
            </a:extLst>
          </p:cNvPr>
          <p:cNvSpPr txBox="1"/>
          <p:nvPr/>
        </p:nvSpPr>
        <p:spPr>
          <a:xfrm>
            <a:off x="611560" y="928674"/>
            <a:ext cx="5400600" cy="461665"/>
          </a:xfrm>
          <a:prstGeom prst="rect">
            <a:avLst/>
          </a:prstGeom>
          <a:noFill/>
        </p:spPr>
        <p:txBody>
          <a:bodyPr wrap="square">
            <a:spAutoFit/>
          </a:bodyPr>
          <a:lstStyle/>
          <a:p>
            <a:pPr algn="l"/>
            <a:r>
              <a:rPr lang="zh-CN" altLang="en-US" sz="2400" b="1" dirty="0">
                <a:solidFill>
                  <a:srgbClr val="4F4F4F"/>
                </a:solidFill>
                <a:latin typeface="PingFang SC"/>
              </a:rPr>
              <a:t>三</a:t>
            </a:r>
            <a:r>
              <a:rPr lang="zh-CN" altLang="en-US" sz="2400" b="1" i="0" dirty="0">
                <a:solidFill>
                  <a:srgbClr val="4F4F4F"/>
                </a:solidFill>
                <a:effectLst/>
                <a:latin typeface="PingFang SC"/>
              </a:rPr>
              <a:t>、</a:t>
            </a:r>
            <a:r>
              <a:rPr lang="en-US" altLang="zh-CN" sz="2400" b="1" i="0" dirty="0">
                <a:solidFill>
                  <a:srgbClr val="4F4F4F"/>
                </a:solidFill>
                <a:effectLst/>
                <a:latin typeface="PingFang SC"/>
              </a:rPr>
              <a:t>SGD</a:t>
            </a:r>
            <a:r>
              <a:rPr lang="zh-CN" altLang="en-US" sz="2400" b="1" i="0" dirty="0">
                <a:solidFill>
                  <a:srgbClr val="4F4F4F"/>
                </a:solidFill>
                <a:effectLst/>
                <a:latin typeface="PingFang SC"/>
              </a:rPr>
              <a:t>算法完成相同的线性回归任务</a:t>
            </a:r>
          </a:p>
        </p:txBody>
      </p:sp>
      <p:pic>
        <p:nvPicPr>
          <p:cNvPr id="4" name="图片 3">
            <a:extLst>
              <a:ext uri="{FF2B5EF4-FFF2-40B4-BE49-F238E27FC236}">
                <a16:creationId xmlns:a16="http://schemas.microsoft.com/office/drawing/2014/main" id="{AEC4A650-8A67-5492-6C02-D983F6436310}"/>
              </a:ext>
            </a:extLst>
          </p:cNvPr>
          <p:cNvPicPr>
            <a:picLocks noChangeAspect="1"/>
          </p:cNvPicPr>
          <p:nvPr/>
        </p:nvPicPr>
        <p:blipFill>
          <a:blip r:embed="rId4"/>
          <a:stretch>
            <a:fillRect/>
          </a:stretch>
        </p:blipFill>
        <p:spPr>
          <a:xfrm>
            <a:off x="1403648" y="1346820"/>
            <a:ext cx="3684781" cy="3751574"/>
          </a:xfrm>
          <a:prstGeom prst="rect">
            <a:avLst/>
          </a:prstGeom>
        </p:spPr>
      </p:pic>
      <p:sp>
        <p:nvSpPr>
          <p:cNvPr id="6" name="文本框 5">
            <a:extLst>
              <a:ext uri="{FF2B5EF4-FFF2-40B4-BE49-F238E27FC236}">
                <a16:creationId xmlns:a16="http://schemas.microsoft.com/office/drawing/2014/main" id="{92C0EE53-636C-0DA5-6DD4-9C4AABE80BEC}"/>
              </a:ext>
            </a:extLst>
          </p:cNvPr>
          <p:cNvSpPr txBox="1"/>
          <p:nvPr/>
        </p:nvSpPr>
        <p:spPr>
          <a:xfrm>
            <a:off x="5508104" y="1746603"/>
            <a:ext cx="2483768" cy="1200329"/>
          </a:xfrm>
          <a:prstGeom prst="rect">
            <a:avLst/>
          </a:prstGeom>
          <a:noFill/>
        </p:spPr>
        <p:txBody>
          <a:bodyPr wrap="square">
            <a:spAutoFit/>
          </a:bodyPr>
          <a:lstStyle/>
          <a:p>
            <a:r>
              <a:rPr lang="en-US" altLang="zh-CN" sz="2400" dirty="0"/>
              <a:t>Python</a:t>
            </a:r>
            <a:r>
              <a:rPr lang="zh-CN" altLang="en-US" sz="2400" dirty="0"/>
              <a:t>中</a:t>
            </a:r>
            <a:r>
              <a:rPr lang="zh-CN" altLang="en-US" sz="2400" dirty="0">
                <a:solidFill>
                  <a:srgbClr val="FF0000"/>
                </a:solidFill>
              </a:rPr>
              <a:t>生成器</a:t>
            </a:r>
            <a:r>
              <a:rPr lang="zh-CN" altLang="en-US" sz="2400" dirty="0"/>
              <a:t>是可以用</a:t>
            </a:r>
            <a:r>
              <a:rPr lang="en-US" altLang="zh-CN" sz="2400" dirty="0"/>
              <a:t>for</a:t>
            </a:r>
            <a:r>
              <a:rPr lang="zh-CN" altLang="en-US" sz="2400" dirty="0"/>
              <a:t>循环来进行迭代的。</a:t>
            </a:r>
            <a:endParaRPr lang="zh-CN" altLang="en-US" sz="2400" dirty="0">
              <a:solidFill>
                <a:srgbClr val="FF0000"/>
              </a:solidFill>
              <a:highlight>
                <a:srgbClr val="FFFF00"/>
              </a:highlight>
            </a:endParaRPr>
          </a:p>
        </p:txBody>
      </p:sp>
    </p:spTree>
    <p:extLst>
      <p:ext uri="{BB962C8B-B14F-4D97-AF65-F5344CB8AC3E}">
        <p14:creationId xmlns:p14="http://schemas.microsoft.com/office/powerpoint/2010/main" val="3736216130"/>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90AA5-956F-886B-CC20-68094683B671}"/>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DCE5E72F-0040-1BA4-C387-7D6E3249CF6E}"/>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38484D4B-C391-67D5-3050-C63BA40FE438}"/>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C1D3CA04-5B8A-628F-8EC1-BB68226B1383}"/>
              </a:ext>
            </a:extLst>
          </p:cNvPr>
          <p:cNvSpPr txBox="1"/>
          <p:nvPr/>
        </p:nvSpPr>
        <p:spPr>
          <a:xfrm>
            <a:off x="611560" y="928674"/>
            <a:ext cx="5400600" cy="461665"/>
          </a:xfrm>
          <a:prstGeom prst="rect">
            <a:avLst/>
          </a:prstGeom>
          <a:noFill/>
        </p:spPr>
        <p:txBody>
          <a:bodyPr wrap="square">
            <a:spAutoFit/>
          </a:bodyPr>
          <a:lstStyle/>
          <a:p>
            <a:pPr algn="l"/>
            <a:r>
              <a:rPr lang="zh-CN" altLang="en-US" sz="2400" b="1" dirty="0">
                <a:solidFill>
                  <a:srgbClr val="4F4F4F"/>
                </a:solidFill>
                <a:latin typeface="PingFang SC"/>
              </a:rPr>
              <a:t>三</a:t>
            </a:r>
            <a:r>
              <a:rPr lang="zh-CN" altLang="en-US" sz="2400" b="1" i="0" dirty="0">
                <a:solidFill>
                  <a:srgbClr val="4F4F4F"/>
                </a:solidFill>
                <a:effectLst/>
                <a:latin typeface="PingFang SC"/>
              </a:rPr>
              <a:t>、</a:t>
            </a:r>
            <a:r>
              <a:rPr lang="en-US" altLang="zh-CN" sz="2400" b="1" i="0" dirty="0">
                <a:solidFill>
                  <a:srgbClr val="4F4F4F"/>
                </a:solidFill>
                <a:effectLst/>
                <a:latin typeface="PingFang SC"/>
              </a:rPr>
              <a:t>SGD</a:t>
            </a:r>
            <a:r>
              <a:rPr lang="zh-CN" altLang="en-US" sz="2400" b="1" i="0" dirty="0">
                <a:solidFill>
                  <a:srgbClr val="4F4F4F"/>
                </a:solidFill>
                <a:effectLst/>
                <a:latin typeface="PingFang SC"/>
              </a:rPr>
              <a:t>算法完成相同的线性回归任务</a:t>
            </a:r>
          </a:p>
        </p:txBody>
      </p:sp>
      <p:pic>
        <p:nvPicPr>
          <p:cNvPr id="7" name="图片 6">
            <a:extLst>
              <a:ext uri="{FF2B5EF4-FFF2-40B4-BE49-F238E27FC236}">
                <a16:creationId xmlns:a16="http://schemas.microsoft.com/office/drawing/2014/main" id="{113E6D54-CBA8-42B5-BE59-AC24803BEA9B}"/>
              </a:ext>
            </a:extLst>
          </p:cNvPr>
          <p:cNvPicPr>
            <a:picLocks noChangeAspect="1"/>
          </p:cNvPicPr>
          <p:nvPr/>
        </p:nvPicPr>
        <p:blipFill>
          <a:blip r:embed="rId4"/>
          <a:stretch>
            <a:fillRect/>
          </a:stretch>
        </p:blipFill>
        <p:spPr>
          <a:xfrm>
            <a:off x="395536" y="1568576"/>
            <a:ext cx="8550381" cy="685859"/>
          </a:xfrm>
          <a:prstGeom prst="rect">
            <a:avLst/>
          </a:prstGeom>
        </p:spPr>
      </p:pic>
    </p:spTree>
    <p:extLst>
      <p:ext uri="{BB962C8B-B14F-4D97-AF65-F5344CB8AC3E}">
        <p14:creationId xmlns:p14="http://schemas.microsoft.com/office/powerpoint/2010/main" val="1846138020"/>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ADD83-84A0-7C48-E4A6-4AF30EB8D053}"/>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9FCBCF29-22F9-57EA-D5C2-285BF1002D40}"/>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AC16E4F7-6D7A-8109-B856-D6BE7AD4E314}"/>
              </a:ext>
            </a:extLst>
          </p:cNvPr>
          <p:cNvPicPr>
            <a:picLocks noChangeAspect="1"/>
          </p:cNvPicPr>
          <p:nvPr/>
        </p:nvPicPr>
        <p:blipFill>
          <a:blip r:embed="rId3" cstate="print"/>
          <a:stretch>
            <a:fillRect/>
          </a:stretch>
        </p:blipFill>
        <p:spPr>
          <a:xfrm>
            <a:off x="-32" y="64578"/>
            <a:ext cx="864096" cy="864096"/>
          </a:xfrm>
          <a:prstGeom prst="rect">
            <a:avLst/>
          </a:prstGeom>
        </p:spPr>
      </p:pic>
      <p:pic>
        <p:nvPicPr>
          <p:cNvPr id="6" name="图片 5">
            <a:extLst>
              <a:ext uri="{FF2B5EF4-FFF2-40B4-BE49-F238E27FC236}">
                <a16:creationId xmlns:a16="http://schemas.microsoft.com/office/drawing/2014/main" id="{FD218665-6B9E-565A-C8E8-E667AA5C4EA0}"/>
              </a:ext>
            </a:extLst>
          </p:cNvPr>
          <p:cNvPicPr>
            <a:picLocks noChangeAspect="1"/>
          </p:cNvPicPr>
          <p:nvPr/>
        </p:nvPicPr>
        <p:blipFill>
          <a:blip r:embed="rId4"/>
          <a:stretch>
            <a:fillRect/>
          </a:stretch>
        </p:blipFill>
        <p:spPr>
          <a:xfrm>
            <a:off x="1619672" y="789013"/>
            <a:ext cx="3600400" cy="4308217"/>
          </a:xfrm>
          <a:prstGeom prst="rect">
            <a:avLst/>
          </a:prstGeom>
        </p:spPr>
      </p:pic>
      <p:sp>
        <p:nvSpPr>
          <p:cNvPr id="4" name="文本框 3">
            <a:extLst>
              <a:ext uri="{FF2B5EF4-FFF2-40B4-BE49-F238E27FC236}">
                <a16:creationId xmlns:a16="http://schemas.microsoft.com/office/drawing/2014/main" id="{52575A3D-2E61-B670-3647-7F1B5E32D54B}"/>
              </a:ext>
            </a:extLst>
          </p:cNvPr>
          <p:cNvSpPr txBox="1"/>
          <p:nvPr/>
        </p:nvSpPr>
        <p:spPr>
          <a:xfrm>
            <a:off x="5652120" y="1202804"/>
            <a:ext cx="1584176" cy="2585323"/>
          </a:xfrm>
          <a:prstGeom prst="rect">
            <a:avLst/>
          </a:prstGeom>
          <a:noFill/>
        </p:spPr>
        <p:txBody>
          <a:bodyPr wrap="square">
            <a:spAutoFit/>
          </a:bodyPr>
          <a:lstStyle/>
          <a:p>
            <a:r>
              <a:rPr lang="zh-CN" altLang="en-US" sz="1800" dirty="0"/>
              <a:t>在模型优化中，</a:t>
            </a:r>
            <a:r>
              <a:rPr lang="zh-CN" altLang="en-US" sz="1800" dirty="0">
                <a:solidFill>
                  <a:srgbClr val="FF0000"/>
                </a:solidFill>
              </a:rPr>
              <a:t>我们一般将一次参数更新称为一步</a:t>
            </a:r>
            <a:r>
              <a:rPr lang="en-US" altLang="zh-CN" sz="1800" dirty="0">
                <a:solidFill>
                  <a:srgbClr val="FF0000"/>
                </a:solidFill>
              </a:rPr>
              <a:t>(step)</a:t>
            </a:r>
            <a:r>
              <a:rPr lang="zh-CN" altLang="en-US" sz="1800" dirty="0">
                <a:solidFill>
                  <a:srgbClr val="FF0000"/>
                </a:solidFill>
              </a:rPr>
              <a:t>，例如进行一次梯度下降；而将遍历一次所有训练数据称为一轮</a:t>
            </a:r>
            <a:r>
              <a:rPr lang="en-US" altLang="zh-CN" sz="1800" dirty="0">
                <a:solidFill>
                  <a:srgbClr val="FF0000"/>
                </a:solidFill>
              </a:rPr>
              <a:t>(epoch)</a:t>
            </a:r>
            <a:r>
              <a:rPr lang="zh-CN" altLang="en-US" sz="1800" dirty="0"/>
              <a:t>。</a:t>
            </a:r>
            <a:endParaRPr lang="zh-CN" altLang="en-US" dirty="0"/>
          </a:p>
        </p:txBody>
      </p:sp>
    </p:spTree>
    <p:extLst>
      <p:ext uri="{BB962C8B-B14F-4D97-AF65-F5344CB8AC3E}">
        <p14:creationId xmlns:p14="http://schemas.microsoft.com/office/powerpoint/2010/main" val="3774127439"/>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B6FB2-6ACA-DF1C-9289-DE40FD545643}"/>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9C9A5E04-E35E-9CC5-09AA-2B3E19EDA886}"/>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BD793EF8-5D58-8CB5-A671-94CF94A0DAF0}"/>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73FDBBF3-A0C7-7BA9-C396-605DF3EDD157}"/>
              </a:ext>
            </a:extLst>
          </p:cNvPr>
          <p:cNvSpPr txBox="1"/>
          <p:nvPr/>
        </p:nvSpPr>
        <p:spPr>
          <a:xfrm>
            <a:off x="611560" y="928674"/>
            <a:ext cx="5400600" cy="461665"/>
          </a:xfrm>
          <a:prstGeom prst="rect">
            <a:avLst/>
          </a:prstGeom>
          <a:noFill/>
        </p:spPr>
        <p:txBody>
          <a:bodyPr wrap="square">
            <a:spAutoFit/>
          </a:bodyPr>
          <a:lstStyle/>
          <a:p>
            <a:pPr algn="l"/>
            <a:r>
              <a:rPr lang="zh-CN" altLang="en-US" sz="2400" b="1" dirty="0">
                <a:solidFill>
                  <a:srgbClr val="4F4F4F"/>
                </a:solidFill>
                <a:latin typeface="PingFang SC"/>
              </a:rPr>
              <a:t>三</a:t>
            </a:r>
            <a:r>
              <a:rPr lang="zh-CN" altLang="en-US" sz="2400" b="1" i="0" dirty="0">
                <a:solidFill>
                  <a:srgbClr val="4F4F4F"/>
                </a:solidFill>
                <a:effectLst/>
                <a:latin typeface="PingFang SC"/>
              </a:rPr>
              <a:t>、</a:t>
            </a:r>
            <a:r>
              <a:rPr lang="en-US" altLang="zh-CN" sz="2400" b="1" i="0" dirty="0">
                <a:solidFill>
                  <a:srgbClr val="4F4F4F"/>
                </a:solidFill>
                <a:effectLst/>
                <a:latin typeface="PingFang SC"/>
              </a:rPr>
              <a:t>SGD</a:t>
            </a:r>
            <a:r>
              <a:rPr lang="zh-CN" altLang="en-US" sz="2400" b="1" i="0" dirty="0">
                <a:solidFill>
                  <a:srgbClr val="4F4F4F"/>
                </a:solidFill>
                <a:effectLst/>
                <a:latin typeface="PingFang SC"/>
              </a:rPr>
              <a:t>算法完成相同的线性回归任务</a:t>
            </a:r>
          </a:p>
        </p:txBody>
      </p:sp>
      <p:pic>
        <p:nvPicPr>
          <p:cNvPr id="4" name="图片 3">
            <a:extLst>
              <a:ext uri="{FF2B5EF4-FFF2-40B4-BE49-F238E27FC236}">
                <a16:creationId xmlns:a16="http://schemas.microsoft.com/office/drawing/2014/main" id="{6BB1EAF2-8D84-42A0-D4C6-67D50D07BD4E}"/>
              </a:ext>
            </a:extLst>
          </p:cNvPr>
          <p:cNvPicPr>
            <a:picLocks noChangeAspect="1"/>
          </p:cNvPicPr>
          <p:nvPr/>
        </p:nvPicPr>
        <p:blipFill>
          <a:blip r:embed="rId4"/>
          <a:stretch>
            <a:fillRect/>
          </a:stretch>
        </p:blipFill>
        <p:spPr>
          <a:xfrm>
            <a:off x="1994939" y="1358476"/>
            <a:ext cx="4654750" cy="3722765"/>
          </a:xfrm>
          <a:prstGeom prst="rect">
            <a:avLst/>
          </a:prstGeom>
        </p:spPr>
      </p:pic>
    </p:spTree>
    <p:extLst>
      <p:ext uri="{BB962C8B-B14F-4D97-AF65-F5344CB8AC3E}">
        <p14:creationId xmlns:p14="http://schemas.microsoft.com/office/powerpoint/2010/main" val="3409400088"/>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89D52-A602-39C2-01DB-7025B66C8D1E}"/>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D2B71C3B-3D9A-5CAD-9DE7-38DC2D3B283E}"/>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28121C8E-D961-BC6C-D898-0C8AD5688805}"/>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93683EC9-2827-1A78-C89C-E3E0F04C739B}"/>
              </a:ext>
            </a:extLst>
          </p:cNvPr>
          <p:cNvSpPr txBox="1"/>
          <p:nvPr/>
        </p:nvSpPr>
        <p:spPr>
          <a:xfrm>
            <a:off x="611560" y="928674"/>
            <a:ext cx="5400600" cy="461665"/>
          </a:xfrm>
          <a:prstGeom prst="rect">
            <a:avLst/>
          </a:prstGeom>
          <a:noFill/>
        </p:spPr>
        <p:txBody>
          <a:bodyPr wrap="square">
            <a:spAutoFit/>
          </a:bodyPr>
          <a:lstStyle/>
          <a:p>
            <a:pPr algn="l"/>
            <a:r>
              <a:rPr lang="zh-CN" altLang="en-US" sz="2400" b="1" dirty="0">
                <a:solidFill>
                  <a:srgbClr val="4F4F4F"/>
                </a:solidFill>
                <a:latin typeface="PingFang SC"/>
              </a:rPr>
              <a:t>三</a:t>
            </a:r>
            <a:r>
              <a:rPr lang="zh-CN" altLang="en-US" sz="2400" b="1" i="0" dirty="0">
                <a:solidFill>
                  <a:srgbClr val="4F4F4F"/>
                </a:solidFill>
                <a:effectLst/>
                <a:latin typeface="PingFang SC"/>
              </a:rPr>
              <a:t>、</a:t>
            </a:r>
            <a:r>
              <a:rPr lang="en-US" altLang="zh-CN" sz="2400" b="1" i="0" dirty="0">
                <a:solidFill>
                  <a:srgbClr val="4F4F4F"/>
                </a:solidFill>
                <a:effectLst/>
                <a:latin typeface="PingFang SC"/>
              </a:rPr>
              <a:t>SGD</a:t>
            </a:r>
            <a:r>
              <a:rPr lang="zh-CN" altLang="en-US" sz="2400" b="1" i="0" dirty="0">
                <a:solidFill>
                  <a:srgbClr val="4F4F4F"/>
                </a:solidFill>
                <a:effectLst/>
                <a:latin typeface="PingFang SC"/>
              </a:rPr>
              <a:t>算法完成相同的线性回归任务</a:t>
            </a:r>
          </a:p>
        </p:txBody>
      </p:sp>
      <p:sp>
        <p:nvSpPr>
          <p:cNvPr id="6" name="文本框 5">
            <a:extLst>
              <a:ext uri="{FF2B5EF4-FFF2-40B4-BE49-F238E27FC236}">
                <a16:creationId xmlns:a16="http://schemas.microsoft.com/office/drawing/2014/main" id="{E580483F-BB2D-80CB-8793-655EDDA196B6}"/>
              </a:ext>
            </a:extLst>
          </p:cNvPr>
          <p:cNvSpPr txBox="1"/>
          <p:nvPr/>
        </p:nvSpPr>
        <p:spPr>
          <a:xfrm>
            <a:off x="6762595" y="1850876"/>
            <a:ext cx="1997968" cy="1815882"/>
          </a:xfrm>
          <a:prstGeom prst="rect">
            <a:avLst/>
          </a:prstGeom>
          <a:noFill/>
        </p:spPr>
        <p:txBody>
          <a:bodyPr wrap="square">
            <a:spAutoFit/>
          </a:bodyPr>
          <a:lstStyle/>
          <a:p>
            <a:r>
              <a:rPr lang="zh-CN" altLang="en-US" sz="1600" dirty="0"/>
              <a:t>可以看出，最终得到的结果</a:t>
            </a:r>
            <a:r>
              <a:rPr lang="zh-CN" altLang="en-US" sz="1600" dirty="0">
                <a:solidFill>
                  <a:srgbClr val="FF0000"/>
                </a:solidFill>
              </a:rPr>
              <a:t>和上一节课精确计算的结果虽然有差别，但已经十分接近</a:t>
            </a:r>
            <a:r>
              <a:rPr lang="zh-CN" altLang="en-US" sz="1600" dirty="0"/>
              <a:t>，</a:t>
            </a:r>
            <a:r>
              <a:rPr lang="en-US" altLang="zh-CN" sz="1600" dirty="0"/>
              <a:t>RMSE</a:t>
            </a:r>
            <a:r>
              <a:rPr lang="zh-CN" altLang="en-US" sz="1600" dirty="0"/>
              <a:t>也在可以接受的范围内。</a:t>
            </a:r>
          </a:p>
        </p:txBody>
      </p:sp>
      <p:pic>
        <p:nvPicPr>
          <p:cNvPr id="4" name="图片 3">
            <a:extLst>
              <a:ext uri="{FF2B5EF4-FFF2-40B4-BE49-F238E27FC236}">
                <a16:creationId xmlns:a16="http://schemas.microsoft.com/office/drawing/2014/main" id="{DDDEC54D-051B-60A3-6863-1BCEFBA293A9}"/>
              </a:ext>
            </a:extLst>
          </p:cNvPr>
          <p:cNvPicPr>
            <a:picLocks noChangeAspect="1"/>
          </p:cNvPicPr>
          <p:nvPr/>
        </p:nvPicPr>
        <p:blipFill>
          <a:blip r:embed="rId4"/>
          <a:stretch>
            <a:fillRect/>
          </a:stretch>
        </p:blipFill>
        <p:spPr>
          <a:xfrm>
            <a:off x="357440" y="1346820"/>
            <a:ext cx="6124235" cy="3735893"/>
          </a:xfrm>
          <a:prstGeom prst="rect">
            <a:avLst/>
          </a:prstGeom>
        </p:spPr>
      </p:pic>
    </p:spTree>
    <p:extLst>
      <p:ext uri="{BB962C8B-B14F-4D97-AF65-F5344CB8AC3E}">
        <p14:creationId xmlns:p14="http://schemas.microsoft.com/office/powerpoint/2010/main" val="1343182116"/>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ECF67-8757-4CB3-80C1-8EA9E896B47A}"/>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8A6D8055-EA75-A32C-26AE-CFF3A98BDA07}"/>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79BD2DB4-008A-ECC9-AB78-26C80998CE3B}"/>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7120A61E-51DE-6B39-5DA1-F0BF2A33DDB3}"/>
              </a:ext>
            </a:extLst>
          </p:cNvPr>
          <p:cNvSpPr txBox="1"/>
          <p:nvPr/>
        </p:nvSpPr>
        <p:spPr>
          <a:xfrm>
            <a:off x="611560" y="928674"/>
            <a:ext cx="5400600" cy="461665"/>
          </a:xfrm>
          <a:prstGeom prst="rect">
            <a:avLst/>
          </a:prstGeom>
          <a:noFill/>
        </p:spPr>
        <p:txBody>
          <a:bodyPr wrap="square">
            <a:spAutoFit/>
          </a:bodyPr>
          <a:lstStyle/>
          <a:p>
            <a:pPr algn="l"/>
            <a:r>
              <a:rPr lang="zh-CN" altLang="en-US" sz="2400" b="1" i="0" dirty="0">
                <a:solidFill>
                  <a:srgbClr val="4F4F4F"/>
                </a:solidFill>
                <a:effectLst/>
                <a:latin typeface="PingFang SC"/>
              </a:rPr>
              <a:t>四、解析法与梯度下降法比较</a:t>
            </a:r>
          </a:p>
        </p:txBody>
      </p:sp>
      <p:sp>
        <p:nvSpPr>
          <p:cNvPr id="4" name="文本框 3">
            <a:extLst>
              <a:ext uri="{FF2B5EF4-FFF2-40B4-BE49-F238E27FC236}">
                <a16:creationId xmlns:a16="http://schemas.microsoft.com/office/drawing/2014/main" id="{C255EF00-D79E-7387-9DE5-0C19359B2D25}"/>
              </a:ext>
            </a:extLst>
          </p:cNvPr>
          <p:cNvSpPr txBox="1"/>
          <p:nvPr/>
        </p:nvSpPr>
        <p:spPr>
          <a:xfrm>
            <a:off x="1043608" y="1530000"/>
            <a:ext cx="6840760" cy="3046988"/>
          </a:xfrm>
          <a:prstGeom prst="rect">
            <a:avLst/>
          </a:prstGeom>
          <a:noFill/>
        </p:spPr>
        <p:txBody>
          <a:bodyPr wrap="square">
            <a:spAutoFit/>
          </a:bodyPr>
          <a:lstStyle/>
          <a:p>
            <a:r>
              <a:rPr lang="zh-CN" altLang="en-US" sz="2400" dirty="0"/>
              <a:t>解析方法与梯度下降方法各有优劣。前者能直接得到精确的解，但计算的时空开销较大，其</a:t>
            </a:r>
            <a:r>
              <a:rPr lang="zh-CN" altLang="en-US" sz="2400" dirty="0">
                <a:solidFill>
                  <a:srgbClr val="FF0000"/>
                </a:solidFill>
                <a:highlight>
                  <a:srgbClr val="FFFF00"/>
                </a:highlight>
              </a:rPr>
              <a:t>表达式一般情况下也难以计算</a:t>
            </a:r>
            <a:r>
              <a:rPr lang="zh-CN" altLang="en-US" sz="2400" dirty="0"/>
              <a:t>；后者通过数值近似方法，用较小的时空复杂度得到了与精确解接近的结果，但是往往需要</a:t>
            </a:r>
            <a:r>
              <a:rPr lang="zh-CN" altLang="en-US" sz="2400" dirty="0">
                <a:solidFill>
                  <a:srgbClr val="FF0000"/>
                </a:solidFill>
              </a:rPr>
              <a:t>手动调整学习率和迭代次数</a:t>
            </a:r>
            <a:r>
              <a:rPr lang="zh-CN" altLang="en-US" sz="2400" dirty="0"/>
              <a:t>。整体而言，梯度下降方法更为常用，它也衍生出了许多更有效、更快速的优化方法，</a:t>
            </a:r>
            <a:r>
              <a:rPr lang="zh-CN" altLang="en-US" sz="2400" dirty="0">
                <a:solidFill>
                  <a:srgbClr val="FF0000"/>
                </a:solidFill>
              </a:rPr>
              <a:t>是现代深度学习的基础之一</a:t>
            </a:r>
            <a:r>
              <a:rPr lang="zh-CN" altLang="en-US" sz="2400" dirty="0"/>
              <a:t>。</a:t>
            </a:r>
          </a:p>
        </p:txBody>
      </p:sp>
    </p:spTree>
    <p:extLst>
      <p:ext uri="{BB962C8B-B14F-4D97-AF65-F5344CB8AC3E}">
        <p14:creationId xmlns:p14="http://schemas.microsoft.com/office/powerpoint/2010/main" val="3197169442"/>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8380F-0B3F-AA85-56D0-4A687A0764AB}"/>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70227BBE-301B-AD53-159B-D22F9CFFE977}"/>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99667F23-3A0D-2C36-9693-50B813D99D4A}"/>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F86C2E71-A4F1-5600-261B-B7A9F9E0CA4D}"/>
              </a:ext>
            </a:extLst>
          </p:cNvPr>
          <p:cNvSpPr txBox="1"/>
          <p:nvPr/>
        </p:nvSpPr>
        <p:spPr>
          <a:xfrm>
            <a:off x="611560" y="928674"/>
            <a:ext cx="5400600" cy="461665"/>
          </a:xfrm>
          <a:prstGeom prst="rect">
            <a:avLst/>
          </a:prstGeom>
          <a:noFill/>
        </p:spPr>
        <p:txBody>
          <a:bodyPr wrap="square">
            <a:spAutoFit/>
          </a:bodyPr>
          <a:lstStyle/>
          <a:p>
            <a:pPr algn="l"/>
            <a:r>
              <a:rPr lang="zh-CN" altLang="en-US" sz="2400" b="1" i="0" dirty="0">
                <a:solidFill>
                  <a:srgbClr val="4F4F4F"/>
                </a:solidFill>
                <a:effectLst/>
                <a:latin typeface="PingFang SC"/>
              </a:rPr>
              <a:t>五、思考</a:t>
            </a:r>
          </a:p>
        </p:txBody>
      </p:sp>
      <p:sp>
        <p:nvSpPr>
          <p:cNvPr id="6" name="文本框 5">
            <a:extLst>
              <a:ext uri="{FF2B5EF4-FFF2-40B4-BE49-F238E27FC236}">
                <a16:creationId xmlns:a16="http://schemas.microsoft.com/office/drawing/2014/main" id="{C5371EFD-6FD5-B558-CF39-CB6D9CA86DA0}"/>
              </a:ext>
            </a:extLst>
          </p:cNvPr>
          <p:cNvSpPr txBox="1"/>
          <p:nvPr/>
        </p:nvSpPr>
        <p:spPr>
          <a:xfrm>
            <a:off x="1161840" y="1535308"/>
            <a:ext cx="6578512" cy="707886"/>
          </a:xfrm>
          <a:prstGeom prst="rect">
            <a:avLst/>
          </a:prstGeom>
          <a:noFill/>
        </p:spPr>
        <p:txBody>
          <a:bodyPr wrap="square">
            <a:spAutoFit/>
          </a:bodyPr>
          <a:lstStyle/>
          <a:p>
            <a:r>
              <a:rPr lang="zh-CN" altLang="en-US" sz="2000" dirty="0"/>
              <a:t>调整</a:t>
            </a:r>
            <a:r>
              <a:rPr lang="en-US" altLang="zh-CN" sz="2000" dirty="0"/>
              <a:t>SGD</a:t>
            </a:r>
            <a:r>
              <a:rPr lang="zh-CN" altLang="en-US" sz="2000" dirty="0"/>
              <a:t>算法中</a:t>
            </a:r>
            <a:r>
              <a:rPr lang="en-US" altLang="zh-CN" sz="2000" dirty="0" err="1"/>
              <a:t>batch_size</a:t>
            </a:r>
            <a:r>
              <a:rPr lang="zh-CN" altLang="en-US" sz="2000" dirty="0"/>
              <a:t>的大小，观察结果的变化。对较大规模的数据集，</a:t>
            </a:r>
            <a:r>
              <a:rPr lang="en-US" altLang="zh-CN" sz="2000" dirty="0" err="1"/>
              <a:t>batch_size</a:t>
            </a:r>
            <a:r>
              <a:rPr lang="zh-CN" altLang="en-US" sz="2000" dirty="0"/>
              <a:t>过小和过大分别有什么缺点？</a:t>
            </a:r>
          </a:p>
        </p:txBody>
      </p:sp>
    </p:spTree>
    <p:extLst>
      <p:ext uri="{BB962C8B-B14F-4D97-AF65-F5344CB8AC3E}">
        <p14:creationId xmlns:p14="http://schemas.microsoft.com/office/powerpoint/2010/main" val="2528124494"/>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01EB4-9A05-A566-33F1-68B4AF7B2130}"/>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0D93B22C-BBD8-6B77-E5BA-55C217773122}"/>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760E9CB6-704D-C65F-37AB-F6D5BF52ABC9}"/>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15367435-6C49-342C-B6A5-7A3908E3D822}"/>
              </a:ext>
            </a:extLst>
          </p:cNvPr>
          <p:cNvSpPr txBox="1"/>
          <p:nvPr/>
        </p:nvSpPr>
        <p:spPr>
          <a:xfrm>
            <a:off x="611560" y="928674"/>
            <a:ext cx="5400600" cy="461665"/>
          </a:xfrm>
          <a:prstGeom prst="rect">
            <a:avLst/>
          </a:prstGeom>
          <a:noFill/>
        </p:spPr>
        <p:txBody>
          <a:bodyPr wrap="square">
            <a:spAutoFit/>
          </a:bodyPr>
          <a:lstStyle/>
          <a:p>
            <a:pPr algn="l"/>
            <a:r>
              <a:rPr lang="zh-CN" altLang="en-US" sz="2400" b="1" i="0" dirty="0">
                <a:solidFill>
                  <a:srgbClr val="4F4F4F"/>
                </a:solidFill>
                <a:effectLst/>
                <a:latin typeface="PingFang SC"/>
              </a:rPr>
              <a:t>五、思考</a:t>
            </a:r>
          </a:p>
        </p:txBody>
      </p:sp>
      <p:sp>
        <p:nvSpPr>
          <p:cNvPr id="4" name="文本框 3">
            <a:extLst>
              <a:ext uri="{FF2B5EF4-FFF2-40B4-BE49-F238E27FC236}">
                <a16:creationId xmlns:a16="http://schemas.microsoft.com/office/drawing/2014/main" id="{AA758775-1BA2-6D3A-0C71-59382D85F577}"/>
              </a:ext>
            </a:extLst>
          </p:cNvPr>
          <p:cNvSpPr txBox="1"/>
          <p:nvPr/>
        </p:nvSpPr>
        <p:spPr>
          <a:xfrm>
            <a:off x="1115616" y="1390339"/>
            <a:ext cx="6624736" cy="3416320"/>
          </a:xfrm>
          <a:prstGeom prst="rect">
            <a:avLst/>
          </a:prstGeom>
          <a:noFill/>
        </p:spPr>
        <p:txBody>
          <a:bodyPr wrap="square">
            <a:spAutoFit/>
          </a:bodyPr>
          <a:lstStyle/>
          <a:p>
            <a:r>
              <a:rPr lang="zh-CN" altLang="en-US" dirty="0">
                <a:solidFill>
                  <a:srgbClr val="FF0000"/>
                </a:solidFill>
              </a:rPr>
              <a:t>过小的批量</a:t>
            </a:r>
            <a:r>
              <a:rPr lang="zh-CN" altLang="en-US" dirty="0"/>
              <a:t>：训练过程中需要更多的参数更新步骤，因此训练速度可能会变慢。较小的批量可能无法充分利用计算资源，导致训练过程中的并行性较低，无法充分利用</a:t>
            </a:r>
            <a:r>
              <a:rPr lang="en-US" altLang="zh-CN" dirty="0"/>
              <a:t>GPU</a:t>
            </a:r>
            <a:r>
              <a:rPr lang="zh-CN" altLang="en-US" dirty="0"/>
              <a:t>等加速计算资源。梯度的估计可能会更加不稳定，因为每个批量中的样本可能并不代表整个数据集的分布情况，这可能会导致训练过程中的震荡。</a:t>
            </a:r>
            <a:endParaRPr lang="en-US" altLang="zh-CN" dirty="0"/>
          </a:p>
          <a:p>
            <a:endParaRPr lang="en-US" altLang="zh-CN" dirty="0"/>
          </a:p>
          <a:p>
            <a:r>
              <a:rPr lang="zh-CN" altLang="en-US" dirty="0">
                <a:solidFill>
                  <a:srgbClr val="FF0000"/>
                </a:solidFill>
              </a:rPr>
              <a:t>过大的批量</a:t>
            </a:r>
            <a:r>
              <a:rPr lang="zh-CN" altLang="en-US" dirty="0"/>
              <a:t>：训练过程中每个参数更新所使用的样本数目较多，因此训练速度可能会变慢，特别是在大规模数据集上。较大的批量可能需要较大的内存来存储计算过程中的梯度信息和中间结果，这可能会导致内存不足或者性能下降。过大的批量可能会导致训练过程中</a:t>
            </a:r>
            <a:r>
              <a:rPr lang="zh-CN" altLang="en-US" dirty="0">
                <a:solidFill>
                  <a:srgbClr val="FF0000"/>
                </a:solidFill>
              </a:rPr>
              <a:t>陷入局部极小值</a:t>
            </a:r>
            <a:r>
              <a:rPr lang="zh-CN" altLang="en-US" dirty="0"/>
              <a:t>，因为每次参数更新所使用的样本数目较多，可能会限制参数空间的搜索范围（</a:t>
            </a:r>
            <a:r>
              <a:rPr lang="zh-CN" altLang="en-US" dirty="0">
                <a:solidFill>
                  <a:srgbClr val="FF0000"/>
                </a:solidFill>
              </a:rPr>
              <a:t>随机性好也不好</a:t>
            </a:r>
            <a:r>
              <a:rPr lang="zh-CN" altLang="en-US" dirty="0"/>
              <a:t>）。</a:t>
            </a:r>
          </a:p>
        </p:txBody>
      </p:sp>
    </p:spTree>
    <p:extLst>
      <p:ext uri="{BB962C8B-B14F-4D97-AF65-F5344CB8AC3E}">
        <p14:creationId xmlns:p14="http://schemas.microsoft.com/office/powerpoint/2010/main" val="1792301565"/>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B880E-6FFB-DED5-DC28-605B7BE675A5}"/>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9FFEF0F5-CE7D-4699-95FB-817C525B156C}"/>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508CD9E7-ECDD-3BC6-9135-4B6B8C5C0DB6}"/>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D7D937EB-E996-94B1-DE3D-1CD246A6942C}"/>
              </a:ext>
            </a:extLst>
          </p:cNvPr>
          <p:cNvSpPr txBox="1"/>
          <p:nvPr/>
        </p:nvSpPr>
        <p:spPr>
          <a:xfrm>
            <a:off x="611560" y="928674"/>
            <a:ext cx="5400600" cy="461665"/>
          </a:xfrm>
          <a:prstGeom prst="rect">
            <a:avLst/>
          </a:prstGeom>
          <a:noFill/>
        </p:spPr>
        <p:txBody>
          <a:bodyPr wrap="square">
            <a:spAutoFit/>
          </a:bodyPr>
          <a:lstStyle/>
          <a:p>
            <a:pPr algn="l"/>
            <a:r>
              <a:rPr lang="zh-CN" altLang="en-US" sz="2400" b="1" dirty="0">
                <a:solidFill>
                  <a:srgbClr val="4F4F4F"/>
                </a:solidFill>
                <a:latin typeface="PingFang SC"/>
              </a:rPr>
              <a:t>六</a:t>
            </a:r>
            <a:r>
              <a:rPr lang="zh-CN" altLang="en-US" sz="2400" b="1" i="0" dirty="0">
                <a:solidFill>
                  <a:srgbClr val="4F4F4F"/>
                </a:solidFill>
                <a:effectLst/>
                <a:latin typeface="PingFang SC"/>
              </a:rPr>
              <a:t>、学习率对迭代的影响</a:t>
            </a:r>
          </a:p>
        </p:txBody>
      </p:sp>
      <p:sp>
        <p:nvSpPr>
          <p:cNvPr id="6" name="文本框 5">
            <a:extLst>
              <a:ext uri="{FF2B5EF4-FFF2-40B4-BE49-F238E27FC236}">
                <a16:creationId xmlns:a16="http://schemas.microsoft.com/office/drawing/2014/main" id="{CADB1F56-32F2-4C13-9A5B-0B74C98D3713}"/>
              </a:ext>
            </a:extLst>
          </p:cNvPr>
          <p:cNvSpPr txBox="1"/>
          <p:nvPr/>
        </p:nvSpPr>
        <p:spPr>
          <a:xfrm>
            <a:off x="755576" y="1390339"/>
            <a:ext cx="6606480" cy="646331"/>
          </a:xfrm>
          <a:prstGeom prst="rect">
            <a:avLst/>
          </a:prstGeom>
          <a:noFill/>
        </p:spPr>
        <p:txBody>
          <a:bodyPr wrap="square">
            <a:spAutoFit/>
          </a:bodyPr>
          <a:lstStyle/>
          <a:p>
            <a:r>
              <a:rPr lang="zh-CN" altLang="en-US" dirty="0"/>
              <a:t>在梯度下降算法中，学习率是一个非常关键的参数。我们调整上面设置的学习率，观察训练结果的变化。</a:t>
            </a:r>
          </a:p>
        </p:txBody>
      </p:sp>
      <p:pic>
        <p:nvPicPr>
          <p:cNvPr id="8" name="图片 7">
            <a:extLst>
              <a:ext uri="{FF2B5EF4-FFF2-40B4-BE49-F238E27FC236}">
                <a16:creationId xmlns:a16="http://schemas.microsoft.com/office/drawing/2014/main" id="{BD5FE2F1-04C0-F46B-3AB2-E72AD12F15F5}"/>
              </a:ext>
            </a:extLst>
          </p:cNvPr>
          <p:cNvPicPr>
            <a:picLocks noChangeAspect="1"/>
          </p:cNvPicPr>
          <p:nvPr/>
        </p:nvPicPr>
        <p:blipFill>
          <a:blip r:embed="rId4"/>
          <a:stretch>
            <a:fillRect/>
          </a:stretch>
        </p:blipFill>
        <p:spPr>
          <a:xfrm>
            <a:off x="1853764" y="2055248"/>
            <a:ext cx="4398965" cy="3035988"/>
          </a:xfrm>
          <a:prstGeom prst="rect">
            <a:avLst/>
          </a:prstGeom>
        </p:spPr>
      </p:pic>
    </p:spTree>
    <p:extLst>
      <p:ext uri="{BB962C8B-B14F-4D97-AF65-F5344CB8AC3E}">
        <p14:creationId xmlns:p14="http://schemas.microsoft.com/office/powerpoint/2010/main" val="3797209317"/>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50541-29AD-EC03-516B-C7A26A737491}"/>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B6F8CEDF-A36F-B0C9-40A3-E9B3090DCD2C}"/>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80E1A802-E093-5A77-6D93-B09388365883}"/>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C45D547D-A8DC-20AC-1298-7E58ACF0C5CE}"/>
              </a:ext>
            </a:extLst>
          </p:cNvPr>
          <p:cNvSpPr txBox="1"/>
          <p:nvPr/>
        </p:nvSpPr>
        <p:spPr>
          <a:xfrm>
            <a:off x="611560" y="928674"/>
            <a:ext cx="5400600" cy="461665"/>
          </a:xfrm>
          <a:prstGeom prst="rect">
            <a:avLst/>
          </a:prstGeom>
          <a:noFill/>
        </p:spPr>
        <p:txBody>
          <a:bodyPr wrap="square">
            <a:spAutoFit/>
          </a:bodyPr>
          <a:lstStyle/>
          <a:p>
            <a:pPr algn="l"/>
            <a:r>
              <a:rPr lang="zh-CN" altLang="en-US" sz="2400" b="1" dirty="0">
                <a:solidFill>
                  <a:srgbClr val="4F4F4F"/>
                </a:solidFill>
                <a:latin typeface="PingFang SC"/>
              </a:rPr>
              <a:t>六</a:t>
            </a:r>
            <a:r>
              <a:rPr lang="zh-CN" altLang="en-US" sz="2400" b="1" i="0" dirty="0">
                <a:solidFill>
                  <a:srgbClr val="4F4F4F"/>
                </a:solidFill>
                <a:effectLst/>
                <a:latin typeface="PingFang SC"/>
              </a:rPr>
              <a:t>、学习率对迭代的影响</a:t>
            </a:r>
          </a:p>
        </p:txBody>
      </p:sp>
      <p:sp>
        <p:nvSpPr>
          <p:cNvPr id="6" name="文本框 5">
            <a:extLst>
              <a:ext uri="{FF2B5EF4-FFF2-40B4-BE49-F238E27FC236}">
                <a16:creationId xmlns:a16="http://schemas.microsoft.com/office/drawing/2014/main" id="{0CD50E1F-E5E8-C6F1-B225-0A9C26EEC7C8}"/>
              </a:ext>
            </a:extLst>
          </p:cNvPr>
          <p:cNvSpPr txBox="1"/>
          <p:nvPr/>
        </p:nvSpPr>
        <p:spPr>
          <a:xfrm>
            <a:off x="755576" y="1390339"/>
            <a:ext cx="7200800" cy="369332"/>
          </a:xfrm>
          <a:prstGeom prst="rect">
            <a:avLst/>
          </a:prstGeom>
          <a:noFill/>
        </p:spPr>
        <p:txBody>
          <a:bodyPr wrap="square">
            <a:spAutoFit/>
          </a:bodyPr>
          <a:lstStyle/>
          <a:p>
            <a:r>
              <a:rPr lang="zh-CN" altLang="en-US" dirty="0"/>
              <a:t>可以看出，随着学习率增大，算法的收敛速度明显加快。</a:t>
            </a:r>
          </a:p>
        </p:txBody>
      </p:sp>
      <p:pic>
        <p:nvPicPr>
          <p:cNvPr id="8" name="图片 7">
            <a:extLst>
              <a:ext uri="{FF2B5EF4-FFF2-40B4-BE49-F238E27FC236}">
                <a16:creationId xmlns:a16="http://schemas.microsoft.com/office/drawing/2014/main" id="{6F9B141C-5D7B-9D1D-265B-7791E5E9952E}"/>
              </a:ext>
            </a:extLst>
          </p:cNvPr>
          <p:cNvPicPr>
            <a:picLocks noChangeAspect="1"/>
          </p:cNvPicPr>
          <p:nvPr/>
        </p:nvPicPr>
        <p:blipFill>
          <a:blip r:embed="rId4"/>
          <a:stretch>
            <a:fillRect/>
          </a:stretch>
        </p:blipFill>
        <p:spPr>
          <a:xfrm>
            <a:off x="1827867" y="1758650"/>
            <a:ext cx="4688940" cy="3260577"/>
          </a:xfrm>
          <a:prstGeom prst="rect">
            <a:avLst/>
          </a:prstGeom>
        </p:spPr>
      </p:pic>
    </p:spTree>
    <p:extLst>
      <p:ext uri="{BB962C8B-B14F-4D97-AF65-F5344CB8AC3E}">
        <p14:creationId xmlns:p14="http://schemas.microsoft.com/office/powerpoint/2010/main" val="1401975678"/>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0765B-76FF-E531-9184-A4839FF0F9C1}"/>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C91C7698-77C6-BC4F-B33C-76F585D5E5FE}"/>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BFEF5C9B-9A9F-A400-C461-6B3ECE88F1E5}"/>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AD376CC9-882C-986F-FD13-EAF9AB7AF6F9}"/>
              </a:ext>
            </a:extLst>
          </p:cNvPr>
          <p:cNvSpPr txBox="1"/>
          <p:nvPr/>
        </p:nvSpPr>
        <p:spPr>
          <a:xfrm>
            <a:off x="611560" y="928674"/>
            <a:ext cx="5400600" cy="461665"/>
          </a:xfrm>
          <a:prstGeom prst="rect">
            <a:avLst/>
          </a:prstGeom>
          <a:noFill/>
        </p:spPr>
        <p:txBody>
          <a:bodyPr wrap="square">
            <a:spAutoFit/>
          </a:bodyPr>
          <a:lstStyle/>
          <a:p>
            <a:pPr algn="l"/>
            <a:r>
              <a:rPr lang="zh-CN" altLang="en-US" sz="2400" b="1" dirty="0">
                <a:solidFill>
                  <a:srgbClr val="4F4F4F"/>
                </a:solidFill>
                <a:latin typeface="PingFang SC"/>
              </a:rPr>
              <a:t>六</a:t>
            </a:r>
            <a:r>
              <a:rPr lang="zh-CN" altLang="en-US" sz="2400" b="1" i="0" dirty="0">
                <a:solidFill>
                  <a:srgbClr val="4F4F4F"/>
                </a:solidFill>
                <a:effectLst/>
                <a:latin typeface="PingFang SC"/>
              </a:rPr>
              <a:t>、学习率对迭代的影响</a:t>
            </a:r>
          </a:p>
        </p:txBody>
      </p:sp>
      <p:sp>
        <p:nvSpPr>
          <p:cNvPr id="6" name="文本框 5">
            <a:extLst>
              <a:ext uri="{FF2B5EF4-FFF2-40B4-BE49-F238E27FC236}">
                <a16:creationId xmlns:a16="http://schemas.microsoft.com/office/drawing/2014/main" id="{B2001117-9C7F-2954-8975-8A16C4D7C255}"/>
              </a:ext>
            </a:extLst>
          </p:cNvPr>
          <p:cNvSpPr txBox="1"/>
          <p:nvPr/>
        </p:nvSpPr>
        <p:spPr>
          <a:xfrm>
            <a:off x="611560" y="1390339"/>
            <a:ext cx="7344816" cy="369332"/>
          </a:xfrm>
          <a:prstGeom prst="rect">
            <a:avLst/>
          </a:prstGeom>
          <a:noFill/>
        </p:spPr>
        <p:txBody>
          <a:bodyPr wrap="square">
            <a:spAutoFit/>
          </a:bodyPr>
          <a:lstStyle/>
          <a:p>
            <a:r>
              <a:rPr lang="zh-CN" altLang="en-US" dirty="0"/>
              <a:t>那么，学习率是不是越大越好呢？我们将学习率继续上调到</a:t>
            </a:r>
            <a:r>
              <a:rPr lang="en-US" altLang="zh-CN" dirty="0">
                <a:solidFill>
                  <a:srgbClr val="FF0000"/>
                </a:solidFill>
              </a:rPr>
              <a:t>1.5</a:t>
            </a:r>
            <a:r>
              <a:rPr lang="zh-CN" altLang="en-US" dirty="0"/>
              <a:t>观察结果。</a:t>
            </a:r>
          </a:p>
        </p:txBody>
      </p:sp>
      <p:pic>
        <p:nvPicPr>
          <p:cNvPr id="7" name="图片 6">
            <a:extLst>
              <a:ext uri="{FF2B5EF4-FFF2-40B4-BE49-F238E27FC236}">
                <a16:creationId xmlns:a16="http://schemas.microsoft.com/office/drawing/2014/main" id="{2C8055EE-9B7A-B37C-7E73-14FFC7C1B803}"/>
              </a:ext>
            </a:extLst>
          </p:cNvPr>
          <p:cNvPicPr>
            <a:picLocks noChangeAspect="1"/>
          </p:cNvPicPr>
          <p:nvPr/>
        </p:nvPicPr>
        <p:blipFill>
          <a:blip r:embed="rId4"/>
          <a:stretch>
            <a:fillRect/>
          </a:stretch>
        </p:blipFill>
        <p:spPr>
          <a:xfrm>
            <a:off x="515551" y="1982538"/>
            <a:ext cx="7536833" cy="2126164"/>
          </a:xfrm>
          <a:prstGeom prst="rect">
            <a:avLst/>
          </a:prstGeom>
        </p:spPr>
      </p:pic>
    </p:spTree>
    <p:extLst>
      <p:ext uri="{BB962C8B-B14F-4D97-AF65-F5344CB8AC3E}">
        <p14:creationId xmlns:p14="http://schemas.microsoft.com/office/powerpoint/2010/main" val="38152822"/>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6FF00-4274-B0E1-EFC8-E762EBD167DF}"/>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C7B74F71-F086-C4A0-9772-5D4BDBBEEC6A}"/>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21A6E1DC-9099-8FFA-FC1E-520097611169}"/>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D10A1091-DC1F-ED22-DC6B-6ED617C6C547}"/>
              </a:ext>
            </a:extLst>
          </p:cNvPr>
          <p:cNvSpPr txBox="1"/>
          <p:nvPr/>
        </p:nvSpPr>
        <p:spPr>
          <a:xfrm>
            <a:off x="611560" y="928674"/>
            <a:ext cx="5400600" cy="461665"/>
          </a:xfrm>
          <a:prstGeom prst="rect">
            <a:avLst/>
          </a:prstGeom>
          <a:noFill/>
        </p:spPr>
        <p:txBody>
          <a:bodyPr wrap="square">
            <a:spAutoFit/>
          </a:bodyPr>
          <a:lstStyle/>
          <a:p>
            <a:pPr algn="l"/>
            <a:r>
              <a:rPr lang="zh-CN" altLang="en-US" sz="2400" b="1" dirty="0">
                <a:solidFill>
                  <a:srgbClr val="4F4F4F"/>
                </a:solidFill>
                <a:latin typeface="PingFang SC"/>
              </a:rPr>
              <a:t>六</a:t>
            </a:r>
            <a:r>
              <a:rPr lang="zh-CN" altLang="en-US" sz="2400" b="1" i="0" dirty="0">
                <a:solidFill>
                  <a:srgbClr val="4F4F4F"/>
                </a:solidFill>
                <a:effectLst/>
                <a:latin typeface="PingFang SC"/>
              </a:rPr>
              <a:t>、学习率对迭代的影响</a:t>
            </a:r>
          </a:p>
        </p:txBody>
      </p:sp>
      <p:sp>
        <p:nvSpPr>
          <p:cNvPr id="8" name="文本框 7">
            <a:extLst>
              <a:ext uri="{FF2B5EF4-FFF2-40B4-BE49-F238E27FC236}">
                <a16:creationId xmlns:a16="http://schemas.microsoft.com/office/drawing/2014/main" id="{D547CE34-2E91-41C5-8DE6-774CAAD7B76F}"/>
              </a:ext>
            </a:extLst>
          </p:cNvPr>
          <p:cNvSpPr txBox="1"/>
          <p:nvPr/>
        </p:nvSpPr>
        <p:spPr>
          <a:xfrm>
            <a:off x="6444208" y="1850876"/>
            <a:ext cx="2232248" cy="2585323"/>
          </a:xfrm>
          <a:prstGeom prst="rect">
            <a:avLst/>
          </a:prstGeom>
          <a:noFill/>
        </p:spPr>
        <p:txBody>
          <a:bodyPr wrap="square">
            <a:spAutoFit/>
          </a:bodyPr>
          <a:lstStyle/>
          <a:p>
            <a:r>
              <a:rPr lang="zh-CN" altLang="en-US" dirty="0"/>
              <a:t>然而，算法的</a:t>
            </a:r>
            <a:r>
              <a:rPr lang="en-US" altLang="zh-CN" dirty="0"/>
              <a:t>RMSE</a:t>
            </a:r>
            <a:r>
              <a:rPr lang="zh-CN" altLang="en-US" dirty="0"/>
              <a:t>随着迭代不但没有减小，反而</a:t>
            </a:r>
            <a:r>
              <a:rPr lang="zh-CN" altLang="en-US" dirty="0">
                <a:solidFill>
                  <a:srgbClr val="FF0000"/>
                </a:solidFill>
              </a:rPr>
              <a:t>发散</a:t>
            </a:r>
            <a:r>
              <a:rPr lang="zh-CN" altLang="en-US" dirty="0"/>
              <a:t>了。注意，由于原始的损失数值过大，我们将纵轴改为了</a:t>
            </a:r>
            <a:r>
              <a:rPr lang="zh-CN" altLang="en-US" dirty="0">
                <a:solidFill>
                  <a:srgbClr val="FF0000"/>
                </a:solidFill>
              </a:rPr>
              <a:t>损失的对数</a:t>
            </a:r>
            <a:r>
              <a:rPr lang="zh-CN" altLang="en-US" dirty="0"/>
              <a:t>，因此图中的直线对应于实际的指数增长。</a:t>
            </a:r>
          </a:p>
        </p:txBody>
      </p:sp>
      <mc:AlternateContent xmlns:mc="http://schemas.openxmlformats.org/markup-compatibility/2006" xmlns:p14="http://schemas.microsoft.com/office/powerpoint/2010/main">
        <mc:Choice Requires="p14">
          <p:contentPart p14:bwMode="auto" r:id="rId4">
            <p14:nvContentPartPr>
              <p14:cNvPr id="9" name="墨迹 8">
                <a:extLst>
                  <a:ext uri="{FF2B5EF4-FFF2-40B4-BE49-F238E27FC236}">
                    <a16:creationId xmlns:a16="http://schemas.microsoft.com/office/drawing/2014/main" id="{941D3425-67FC-82B9-194B-5142E1F3CA2B}"/>
                  </a:ext>
                </a:extLst>
              </p14:cNvPr>
              <p14:cNvContentPartPr/>
              <p14:nvPr/>
            </p14:nvContentPartPr>
            <p14:xfrm>
              <a:off x="5025231" y="4631254"/>
              <a:ext cx="925200" cy="30600"/>
            </p14:xfrm>
          </p:contentPart>
        </mc:Choice>
        <mc:Fallback xmlns="">
          <p:pic>
            <p:nvPicPr>
              <p:cNvPr id="9" name="墨迹 8">
                <a:extLst>
                  <a:ext uri="{FF2B5EF4-FFF2-40B4-BE49-F238E27FC236}">
                    <a16:creationId xmlns:a16="http://schemas.microsoft.com/office/drawing/2014/main" id="{941D3425-67FC-82B9-194B-5142E1F3CA2B}"/>
                  </a:ext>
                </a:extLst>
              </p:cNvPr>
              <p:cNvPicPr/>
              <p:nvPr/>
            </p:nvPicPr>
            <p:blipFill>
              <a:blip r:embed="rId6"/>
              <a:stretch>
                <a:fillRect/>
              </a:stretch>
            </p:blipFill>
            <p:spPr>
              <a:xfrm>
                <a:off x="4962591" y="4568254"/>
                <a:ext cx="1050840" cy="156240"/>
              </a:xfrm>
              <a:prstGeom prst="rect">
                <a:avLst/>
              </a:prstGeom>
            </p:spPr>
          </p:pic>
        </mc:Fallback>
      </mc:AlternateContent>
      <p:pic>
        <p:nvPicPr>
          <p:cNvPr id="6" name="图片 5">
            <a:extLst>
              <a:ext uri="{FF2B5EF4-FFF2-40B4-BE49-F238E27FC236}">
                <a16:creationId xmlns:a16="http://schemas.microsoft.com/office/drawing/2014/main" id="{FDF77C41-AF5F-D59D-8235-7E05DAE04297}"/>
              </a:ext>
            </a:extLst>
          </p:cNvPr>
          <p:cNvPicPr>
            <a:picLocks noChangeAspect="1"/>
          </p:cNvPicPr>
          <p:nvPr/>
        </p:nvPicPr>
        <p:blipFill>
          <a:blip r:embed="rId7"/>
          <a:stretch>
            <a:fillRect/>
          </a:stretch>
        </p:blipFill>
        <p:spPr>
          <a:xfrm>
            <a:off x="611560" y="1360810"/>
            <a:ext cx="5645016" cy="3723085"/>
          </a:xfrm>
          <a:prstGeom prst="rect">
            <a:avLst/>
          </a:prstGeom>
        </p:spPr>
      </p:pic>
    </p:spTree>
    <p:extLst>
      <p:ext uri="{BB962C8B-B14F-4D97-AF65-F5344CB8AC3E}">
        <p14:creationId xmlns:p14="http://schemas.microsoft.com/office/powerpoint/2010/main" val="850283601"/>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B8C1D-2BBA-06C9-D87B-C98CB6034C9D}"/>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ECA44800-94F7-23A2-EB15-28964E43FA36}"/>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87685584-BBD6-269A-A45B-3E5BB1BC28AA}"/>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A1018232-1464-1189-3FA2-04CECCF771F7}"/>
              </a:ext>
            </a:extLst>
          </p:cNvPr>
          <p:cNvSpPr txBox="1"/>
          <p:nvPr/>
        </p:nvSpPr>
        <p:spPr>
          <a:xfrm>
            <a:off x="611560" y="928674"/>
            <a:ext cx="5400600" cy="461665"/>
          </a:xfrm>
          <a:prstGeom prst="rect">
            <a:avLst/>
          </a:prstGeom>
          <a:noFill/>
        </p:spPr>
        <p:txBody>
          <a:bodyPr wrap="square">
            <a:spAutoFit/>
          </a:bodyPr>
          <a:lstStyle/>
          <a:p>
            <a:pPr algn="l"/>
            <a:r>
              <a:rPr lang="zh-CN" altLang="en-US" sz="2400" b="1" dirty="0">
                <a:solidFill>
                  <a:srgbClr val="4F4F4F"/>
                </a:solidFill>
                <a:latin typeface="PingFang SC"/>
              </a:rPr>
              <a:t>六</a:t>
            </a:r>
            <a:r>
              <a:rPr lang="zh-CN" altLang="en-US" sz="2400" b="1" i="0" dirty="0">
                <a:solidFill>
                  <a:srgbClr val="4F4F4F"/>
                </a:solidFill>
                <a:effectLst/>
                <a:latin typeface="PingFang SC"/>
              </a:rPr>
              <a:t>、学习率对迭代的影响</a:t>
            </a:r>
          </a:p>
        </p:txBody>
      </p:sp>
      <p:pic>
        <p:nvPicPr>
          <p:cNvPr id="6" name="图片 5">
            <a:extLst>
              <a:ext uri="{FF2B5EF4-FFF2-40B4-BE49-F238E27FC236}">
                <a16:creationId xmlns:a16="http://schemas.microsoft.com/office/drawing/2014/main" id="{5B0F21D8-ED43-0858-BAEA-92BBE17B8D1B}"/>
              </a:ext>
            </a:extLst>
          </p:cNvPr>
          <p:cNvPicPr>
            <a:picLocks noChangeAspect="1"/>
          </p:cNvPicPr>
          <p:nvPr/>
        </p:nvPicPr>
        <p:blipFill>
          <a:blip r:embed="rId4"/>
          <a:stretch>
            <a:fillRect/>
          </a:stretch>
        </p:blipFill>
        <p:spPr>
          <a:xfrm>
            <a:off x="414216" y="1792770"/>
            <a:ext cx="8535140" cy="2088061"/>
          </a:xfrm>
          <a:prstGeom prst="rect">
            <a:avLst/>
          </a:prstGeom>
        </p:spPr>
      </p:pic>
    </p:spTree>
    <p:extLst>
      <p:ext uri="{BB962C8B-B14F-4D97-AF65-F5344CB8AC3E}">
        <p14:creationId xmlns:p14="http://schemas.microsoft.com/office/powerpoint/2010/main" val="3588716054"/>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2061F-509C-C826-7252-55E1928CF25B}"/>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8381EE8A-C4C4-48BF-96C5-862B652B05DC}"/>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7D43A436-4F1E-53EA-E9FE-9D1A6869E8D4}"/>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28FACA50-FB74-E395-4FA4-7D9846C3117F}"/>
              </a:ext>
            </a:extLst>
          </p:cNvPr>
          <p:cNvSpPr txBox="1"/>
          <p:nvPr/>
        </p:nvSpPr>
        <p:spPr>
          <a:xfrm>
            <a:off x="611560" y="928674"/>
            <a:ext cx="5400600" cy="461665"/>
          </a:xfrm>
          <a:prstGeom prst="rect">
            <a:avLst/>
          </a:prstGeom>
          <a:noFill/>
        </p:spPr>
        <p:txBody>
          <a:bodyPr wrap="square">
            <a:spAutoFit/>
          </a:bodyPr>
          <a:lstStyle/>
          <a:p>
            <a:pPr algn="l"/>
            <a:r>
              <a:rPr lang="zh-CN" altLang="en-US" sz="2400" b="1" dirty="0">
                <a:solidFill>
                  <a:srgbClr val="4F4F4F"/>
                </a:solidFill>
                <a:latin typeface="PingFang SC"/>
              </a:rPr>
              <a:t>六</a:t>
            </a:r>
            <a:r>
              <a:rPr lang="zh-CN" altLang="en-US" sz="2400" b="1" i="0" dirty="0">
                <a:solidFill>
                  <a:srgbClr val="4F4F4F"/>
                </a:solidFill>
                <a:effectLst/>
                <a:latin typeface="PingFang SC"/>
              </a:rPr>
              <a:t>、学习率对迭代的影响</a:t>
            </a:r>
          </a:p>
        </p:txBody>
      </p:sp>
      <p:pic>
        <p:nvPicPr>
          <p:cNvPr id="4" name="图片 3">
            <a:extLst>
              <a:ext uri="{FF2B5EF4-FFF2-40B4-BE49-F238E27FC236}">
                <a16:creationId xmlns:a16="http://schemas.microsoft.com/office/drawing/2014/main" id="{23F51448-12BE-93C8-6C04-064AAC01E948}"/>
              </a:ext>
            </a:extLst>
          </p:cNvPr>
          <p:cNvPicPr>
            <a:picLocks noChangeAspect="1"/>
          </p:cNvPicPr>
          <p:nvPr/>
        </p:nvPicPr>
        <p:blipFill>
          <a:blip r:embed="rId4"/>
          <a:stretch>
            <a:fillRect/>
          </a:stretch>
        </p:blipFill>
        <p:spPr>
          <a:xfrm>
            <a:off x="275293" y="1816586"/>
            <a:ext cx="8593413" cy="1794781"/>
          </a:xfrm>
          <a:prstGeom prst="rect">
            <a:avLst/>
          </a:prstGeom>
        </p:spPr>
      </p:pic>
    </p:spTree>
    <p:extLst>
      <p:ext uri="{BB962C8B-B14F-4D97-AF65-F5344CB8AC3E}">
        <p14:creationId xmlns:p14="http://schemas.microsoft.com/office/powerpoint/2010/main" val="3904355944"/>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FA0F8-4589-878B-0054-1DE1095F622B}"/>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E3E2374D-D97B-7832-E490-371647D0CAA5}"/>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4FD47A30-2EE2-5948-8DA9-32F584F7199D}"/>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F85A8A67-8B0B-59F0-324E-35E0AF0D638B}"/>
              </a:ext>
            </a:extLst>
          </p:cNvPr>
          <p:cNvSpPr txBox="1"/>
          <p:nvPr/>
        </p:nvSpPr>
        <p:spPr>
          <a:xfrm>
            <a:off x="611560" y="928674"/>
            <a:ext cx="5400600" cy="461665"/>
          </a:xfrm>
          <a:prstGeom prst="rect">
            <a:avLst/>
          </a:prstGeom>
          <a:noFill/>
        </p:spPr>
        <p:txBody>
          <a:bodyPr wrap="square">
            <a:spAutoFit/>
          </a:bodyPr>
          <a:lstStyle/>
          <a:p>
            <a:pPr algn="l"/>
            <a:r>
              <a:rPr lang="zh-CN" altLang="en-US" sz="2400" b="1" dirty="0">
                <a:solidFill>
                  <a:srgbClr val="4F4F4F"/>
                </a:solidFill>
                <a:latin typeface="PingFang SC"/>
              </a:rPr>
              <a:t>六</a:t>
            </a:r>
            <a:r>
              <a:rPr lang="zh-CN" altLang="en-US" sz="2400" b="1" i="0" dirty="0">
                <a:solidFill>
                  <a:srgbClr val="4F4F4F"/>
                </a:solidFill>
                <a:effectLst/>
                <a:latin typeface="PingFang SC"/>
              </a:rPr>
              <a:t>、学习率对迭代的影响</a:t>
            </a:r>
          </a:p>
        </p:txBody>
      </p:sp>
      <p:pic>
        <p:nvPicPr>
          <p:cNvPr id="8" name="图片 7">
            <a:extLst>
              <a:ext uri="{FF2B5EF4-FFF2-40B4-BE49-F238E27FC236}">
                <a16:creationId xmlns:a16="http://schemas.microsoft.com/office/drawing/2014/main" id="{539A8535-EB6E-31B8-5197-8347F78D93E1}"/>
              </a:ext>
            </a:extLst>
          </p:cNvPr>
          <p:cNvPicPr>
            <a:picLocks noChangeAspect="1"/>
          </p:cNvPicPr>
          <p:nvPr/>
        </p:nvPicPr>
        <p:blipFill>
          <a:blip r:embed="rId4"/>
          <a:stretch>
            <a:fillRect/>
          </a:stretch>
        </p:blipFill>
        <p:spPr>
          <a:xfrm>
            <a:off x="327292" y="1390339"/>
            <a:ext cx="8489416" cy="952583"/>
          </a:xfrm>
          <a:prstGeom prst="rect">
            <a:avLst/>
          </a:prstGeom>
        </p:spPr>
      </p:pic>
      <p:pic>
        <p:nvPicPr>
          <p:cNvPr id="10" name="图片 9">
            <a:extLst>
              <a:ext uri="{FF2B5EF4-FFF2-40B4-BE49-F238E27FC236}">
                <a16:creationId xmlns:a16="http://schemas.microsoft.com/office/drawing/2014/main" id="{123E08C5-89D4-18BC-4F68-B73AFC7A264D}"/>
              </a:ext>
            </a:extLst>
          </p:cNvPr>
          <p:cNvPicPr>
            <a:picLocks noChangeAspect="1"/>
          </p:cNvPicPr>
          <p:nvPr/>
        </p:nvPicPr>
        <p:blipFill>
          <a:blip r:embed="rId5"/>
          <a:stretch>
            <a:fillRect/>
          </a:stretch>
        </p:blipFill>
        <p:spPr>
          <a:xfrm>
            <a:off x="2267743" y="2354932"/>
            <a:ext cx="4357165" cy="2723228"/>
          </a:xfrm>
          <a:prstGeom prst="rect">
            <a:avLst/>
          </a:prstGeom>
        </p:spPr>
      </p:pic>
      <mc:AlternateContent xmlns:mc="http://schemas.openxmlformats.org/markup-compatibility/2006" xmlns:p14="http://schemas.microsoft.com/office/powerpoint/2010/main">
        <mc:Choice Requires="p14">
          <p:contentPart p14:bwMode="auto" r:id="rId6">
            <p14:nvContentPartPr>
              <p14:cNvPr id="11" name="墨迹 10">
                <a:extLst>
                  <a:ext uri="{FF2B5EF4-FFF2-40B4-BE49-F238E27FC236}">
                    <a16:creationId xmlns:a16="http://schemas.microsoft.com/office/drawing/2014/main" id="{8A715158-E1C8-5F83-F34E-4C00A9D4E815}"/>
                  </a:ext>
                </a:extLst>
              </p14:cNvPr>
              <p14:cNvContentPartPr/>
              <p14:nvPr/>
            </p14:nvContentPartPr>
            <p14:xfrm>
              <a:off x="5783391" y="4980454"/>
              <a:ext cx="706680" cy="360"/>
            </p14:xfrm>
          </p:contentPart>
        </mc:Choice>
        <mc:Fallback xmlns="">
          <p:pic>
            <p:nvPicPr>
              <p:cNvPr id="11" name="墨迹 10">
                <a:extLst>
                  <a:ext uri="{FF2B5EF4-FFF2-40B4-BE49-F238E27FC236}">
                    <a16:creationId xmlns:a16="http://schemas.microsoft.com/office/drawing/2014/main" id="{8A715158-E1C8-5F83-F34E-4C00A9D4E815}"/>
                  </a:ext>
                </a:extLst>
              </p:cNvPr>
              <p:cNvPicPr/>
              <p:nvPr/>
            </p:nvPicPr>
            <p:blipFill>
              <a:blip r:embed="rId7"/>
              <a:stretch>
                <a:fillRect/>
              </a:stretch>
            </p:blipFill>
            <p:spPr>
              <a:xfrm>
                <a:off x="5720751" y="4917814"/>
                <a:ext cx="832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墨迹 11">
                <a:extLst>
                  <a:ext uri="{FF2B5EF4-FFF2-40B4-BE49-F238E27FC236}">
                    <a16:creationId xmlns:a16="http://schemas.microsoft.com/office/drawing/2014/main" id="{E4A6B5B8-73CE-BF57-C3B8-E20D0A36EBF5}"/>
                  </a:ext>
                </a:extLst>
              </p14:cNvPr>
              <p14:cNvContentPartPr/>
              <p14:nvPr/>
            </p14:nvContentPartPr>
            <p14:xfrm>
              <a:off x="736551" y="1476934"/>
              <a:ext cx="230040" cy="114480"/>
            </p14:xfrm>
          </p:contentPart>
        </mc:Choice>
        <mc:Fallback xmlns="">
          <p:pic>
            <p:nvPicPr>
              <p:cNvPr id="12" name="墨迹 11">
                <a:extLst>
                  <a:ext uri="{FF2B5EF4-FFF2-40B4-BE49-F238E27FC236}">
                    <a16:creationId xmlns:a16="http://schemas.microsoft.com/office/drawing/2014/main" id="{E4A6B5B8-73CE-BF57-C3B8-E20D0A36EBF5}"/>
                  </a:ext>
                </a:extLst>
              </p:cNvPr>
              <p:cNvPicPr/>
              <p:nvPr/>
            </p:nvPicPr>
            <p:blipFill>
              <a:blip r:embed="rId9"/>
              <a:stretch>
                <a:fillRect/>
              </a:stretch>
            </p:blipFill>
            <p:spPr>
              <a:xfrm>
                <a:off x="673551" y="1413934"/>
                <a:ext cx="355680" cy="240120"/>
              </a:xfrm>
              <a:prstGeom prst="rect">
                <a:avLst/>
              </a:prstGeom>
            </p:spPr>
          </p:pic>
        </mc:Fallback>
      </mc:AlternateContent>
    </p:spTree>
    <p:extLst>
      <p:ext uri="{BB962C8B-B14F-4D97-AF65-F5344CB8AC3E}">
        <p14:creationId xmlns:p14="http://schemas.microsoft.com/office/powerpoint/2010/main" val="2592856618"/>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bg1">
                <a:lumMod val="75000"/>
              </a:schemeClr>
            </a:gs>
            <a:gs pos="50000">
              <a:schemeClr val="bg1">
                <a:lumMod val="95000"/>
              </a:schemeClr>
            </a:gs>
            <a:gs pos="100000">
              <a:schemeClr val="bg1"/>
            </a:gs>
          </a:gsLst>
          <a:lin ang="2700000" scaled="1"/>
          <a:tileRect/>
        </a:gradFill>
        <a:ln w="12700">
          <a:gradFill>
            <a:gsLst>
              <a:gs pos="100000">
                <a:schemeClr val="bg1">
                  <a:lumMod val="75000"/>
                </a:schemeClr>
              </a:gs>
              <a:gs pos="50000">
                <a:schemeClr val="bg1">
                  <a:lumMod val="95000"/>
                </a:schemeClr>
              </a:gs>
              <a:gs pos="0">
                <a:schemeClr val="bg1"/>
              </a:gs>
            </a:gsLst>
            <a:lin ang="5400000" scaled="0"/>
          </a:gradFill>
        </a:ln>
        <a:effectLst>
          <a:outerShdw blurRad="254000" dist="190500" dir="3540000" sx="105000" sy="105000" algn="tl" rotWithShape="0">
            <a:srgbClr val="A44A00">
              <a:alpha val="25000"/>
            </a:srgbClr>
          </a:outerShdw>
        </a:effectLst>
      </a:spPr>
      <a:bodyPr rtlCol="0" anchor="ctr"/>
      <a:lstStyle>
        <a:defPPr algn="ctr">
          <a:defRPr>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第0章 课程说明.potx" id="{437E4210-DF9B-40D2-AB7F-7247346DC1A6}" vid="{3EB706F5-A3C8-4C0C-96A8-58DCE5A24CF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5314</TotalTime>
  <Words>1407</Words>
  <Application>Microsoft Office PowerPoint</Application>
  <PresentationFormat>自定义</PresentationFormat>
  <Paragraphs>111</Paragraphs>
  <Slides>28</Slides>
  <Notes>28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28</vt:i4>
      </vt:variant>
    </vt:vector>
  </HeadingPairs>
  <TitlesOfParts>
    <vt:vector size="35" baseType="lpstr">
      <vt:lpstr>PingFang SC</vt:lpstr>
      <vt:lpstr>华文楷体</vt:lpstr>
      <vt:lpstr>宋体</vt:lpstr>
      <vt:lpstr>Arial</vt:lpstr>
      <vt:lpstr>Calibri</vt:lpstr>
      <vt:lpstr>Cambria Math</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简洁工作汇报</dc:title>
  <dc:creator>第一PPT模板网：www.1ppt.com</dc:creator>
  <cp:keywords>第一PPT模板网：www.1ppt.com</cp:keywords>
  <cp:lastModifiedBy>Administrator</cp:lastModifiedBy>
  <cp:revision>347</cp:revision>
  <dcterms:created xsi:type="dcterms:W3CDTF">2015-10-15T23:19:12Z</dcterms:created>
  <dcterms:modified xsi:type="dcterms:W3CDTF">2024-11-04T13:32:54Z</dcterms:modified>
</cp:coreProperties>
</file>