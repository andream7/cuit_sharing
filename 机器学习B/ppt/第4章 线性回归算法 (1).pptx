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5"/>
  </p:notesMasterIdLst>
  <p:sldIdLst>
    <p:sldId id="256" r:id="rId2"/>
    <p:sldId id="865" r:id="rId3"/>
    <p:sldId id="866" r:id="rId4"/>
    <p:sldId id="867" r:id="rId5"/>
    <p:sldId id="868" r:id="rId6"/>
    <p:sldId id="870" r:id="rId7"/>
    <p:sldId id="869" r:id="rId8"/>
    <p:sldId id="872" r:id="rId9"/>
    <p:sldId id="873" r:id="rId10"/>
    <p:sldId id="874" r:id="rId11"/>
    <p:sldId id="875" r:id="rId12"/>
    <p:sldId id="876" r:id="rId13"/>
    <p:sldId id="877" r:id="rId14"/>
    <p:sldId id="878" r:id="rId15"/>
    <p:sldId id="879" r:id="rId16"/>
    <p:sldId id="880" r:id="rId17"/>
    <p:sldId id="881" r:id="rId18"/>
    <p:sldId id="886" r:id="rId19"/>
    <p:sldId id="889" r:id="rId20"/>
    <p:sldId id="882" r:id="rId21"/>
    <p:sldId id="883" r:id="rId22"/>
    <p:sldId id="887" r:id="rId23"/>
    <p:sldId id="884" r:id="rId24"/>
    <p:sldId id="885" r:id="rId25"/>
    <p:sldId id="888" r:id="rId26"/>
    <p:sldId id="890" r:id="rId27"/>
    <p:sldId id="891" r:id="rId28"/>
    <p:sldId id="892" r:id="rId29"/>
    <p:sldId id="893" r:id="rId30"/>
    <p:sldId id="894" r:id="rId31"/>
    <p:sldId id="895" r:id="rId32"/>
    <p:sldId id="896" r:id="rId33"/>
    <p:sldId id="897" r:id="rId34"/>
  </p:sldIdLst>
  <p:sldSz cx="9144000" cy="5141913"/>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guide id="3"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434"/>
    <a:srgbClr val="EEAF57"/>
    <a:srgbClr val="108692"/>
    <a:srgbClr val="16B2C1"/>
    <a:srgbClr val="19BAA9"/>
    <a:srgbClr val="B2D138"/>
    <a:srgbClr val="89A13D"/>
    <a:srgbClr val="E33F24"/>
    <a:srgbClr val="138F81"/>
    <a:srgbClr val="A44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1502" autoAdjust="0"/>
    <p:restoredTop sz="93450" autoAdjust="0"/>
  </p:normalViewPr>
  <p:slideViewPr>
    <p:cSldViewPr showGuides="1">
      <p:cViewPr varScale="1">
        <p:scale>
          <a:sx n="100" d="100"/>
          <a:sy n="100" d="100"/>
        </p:scale>
        <p:origin x="662" y="67"/>
      </p:cViewPr>
      <p:guideLst>
        <p:guide orient="horz" pos="1619"/>
        <p:guide pos="2880"/>
        <p:guide pos="1292"/>
      </p:guideLst>
    </p:cSldViewPr>
  </p:slideViewPr>
  <p:notesTextViewPr>
    <p:cViewPr>
      <p:scale>
        <a:sx n="1" d="1"/>
        <a:sy n="1" d="1"/>
      </p:scale>
      <p:origin x="0" y="0"/>
    </p:cViewPr>
  </p:notesTextViewPr>
  <p:sorterViewPr>
    <p:cViewPr>
      <p:scale>
        <a:sx n="120" d="100"/>
        <a:sy n="120" d="100"/>
      </p:scale>
      <p:origin x="0" y="-4353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044898-C4BB-437C-9A8D-230A78619F8D}" type="datetimeFigureOut">
              <a:rPr lang="zh-CN" altLang="en-US" smtClean="0"/>
              <a:t>2024/10/28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5AF454-C1DB-447C-9EEC-A5F3AC4DF9C4}" type="slidenum">
              <a:rPr lang="zh-CN" altLang="en-US" smtClean="0"/>
              <a:t>‹#›</a:t>
            </a:fld>
            <a:endParaRPr lang="zh-CN" altLang="en-US"/>
          </a:p>
        </p:txBody>
      </p:sp>
    </p:spTree>
    <p:extLst>
      <p:ext uri="{BB962C8B-B14F-4D97-AF65-F5344CB8AC3E}">
        <p14:creationId xmlns:p14="http://schemas.microsoft.com/office/powerpoint/2010/main" val="350878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4ED5ADF-93AE-4238-903C-1AC36264F4B8}" type="slidenum">
              <a:rPr lang="zh-CN" altLang="en-US" smtClean="0"/>
              <a:pPr/>
              <a:t>1</a:t>
            </a:fld>
            <a:endParaRPr lang="zh-CN" altLang="en-US"/>
          </a:p>
        </p:txBody>
      </p:sp>
    </p:spTree>
    <p:extLst>
      <p:ext uri="{BB962C8B-B14F-4D97-AF65-F5344CB8AC3E}">
        <p14:creationId xmlns:p14="http://schemas.microsoft.com/office/powerpoint/2010/main" val="4112587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082F6-F77F-487A-A20D-05E951C2AB1F}" type="slidenum">
              <a:rPr lang="zh-CN" altLang="en-US" smtClean="0"/>
              <a:t>2</a:t>
            </a:fld>
            <a:endParaRPr lang="zh-CN" altLang="en-US"/>
          </a:p>
        </p:txBody>
      </p:sp>
    </p:spTree>
    <p:extLst>
      <p:ext uri="{BB962C8B-B14F-4D97-AF65-F5344CB8AC3E}">
        <p14:creationId xmlns:p14="http://schemas.microsoft.com/office/powerpoint/2010/main" val="3937234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9AED1-6F9A-C8E2-7D0B-D4F9047EB8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B1320F-DC96-616A-8EB2-E73B2B7567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C5CD56-8C66-C64D-1D9C-F3C6654C54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79A0E0B-EC3D-3240-EBA6-83837E01568F}"/>
              </a:ext>
            </a:extLst>
          </p:cNvPr>
          <p:cNvSpPr>
            <a:spLocks noGrp="1"/>
          </p:cNvSpPr>
          <p:nvPr>
            <p:ph type="sldNum" sz="quarter" idx="10"/>
          </p:nvPr>
        </p:nvSpPr>
        <p:spPr/>
        <p:txBody>
          <a:bodyPr/>
          <a:lstStyle/>
          <a:p>
            <a:fld id="{2F3082F6-F77F-487A-A20D-05E951C2AB1F}" type="slidenum">
              <a:rPr lang="zh-CN" altLang="en-US" smtClean="0"/>
              <a:t>3</a:t>
            </a:fld>
            <a:endParaRPr lang="zh-CN" altLang="en-US"/>
          </a:p>
        </p:txBody>
      </p:sp>
    </p:spTree>
    <p:extLst>
      <p:ext uri="{BB962C8B-B14F-4D97-AF65-F5344CB8AC3E}">
        <p14:creationId xmlns:p14="http://schemas.microsoft.com/office/powerpoint/2010/main" val="2123418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2732-1C58-F93C-70D9-6524F026D8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D875F9-32A9-BF51-EC41-B0CFC32629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79CC29-2079-2472-A4DB-2B93CF57D7F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34EA17E-E87B-89E4-218D-EB1978B0DBA2}"/>
              </a:ext>
            </a:extLst>
          </p:cNvPr>
          <p:cNvSpPr>
            <a:spLocks noGrp="1"/>
          </p:cNvSpPr>
          <p:nvPr>
            <p:ph type="sldNum" sz="quarter" idx="10"/>
          </p:nvPr>
        </p:nvSpPr>
        <p:spPr/>
        <p:txBody>
          <a:bodyPr/>
          <a:lstStyle/>
          <a:p>
            <a:fld id="{2F3082F6-F77F-487A-A20D-05E951C2AB1F}" type="slidenum">
              <a:rPr lang="zh-CN" altLang="en-US" smtClean="0"/>
              <a:t>4</a:t>
            </a:fld>
            <a:endParaRPr lang="zh-CN" altLang="en-US"/>
          </a:p>
        </p:txBody>
      </p:sp>
    </p:spTree>
    <p:extLst>
      <p:ext uri="{BB962C8B-B14F-4D97-AF65-F5344CB8AC3E}">
        <p14:creationId xmlns:p14="http://schemas.microsoft.com/office/powerpoint/2010/main" val="1242802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4E3E5-9779-03F1-C43F-195FD932EC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A2B094-CCF9-41BF-2AD1-E335F393AF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E8B541-4970-B962-3C1D-AF646DB32C5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9C6BF3B-7DA9-D55B-36E8-4895D6BFF80E}"/>
              </a:ext>
            </a:extLst>
          </p:cNvPr>
          <p:cNvSpPr>
            <a:spLocks noGrp="1"/>
          </p:cNvSpPr>
          <p:nvPr>
            <p:ph type="sldNum" sz="quarter" idx="10"/>
          </p:nvPr>
        </p:nvSpPr>
        <p:spPr/>
        <p:txBody>
          <a:bodyPr/>
          <a:lstStyle/>
          <a:p>
            <a:fld id="{2F3082F6-F77F-487A-A20D-05E951C2AB1F}" type="slidenum">
              <a:rPr lang="zh-CN" altLang="en-US" smtClean="0"/>
              <a:t>5</a:t>
            </a:fld>
            <a:endParaRPr lang="zh-CN" altLang="en-US"/>
          </a:p>
        </p:txBody>
      </p:sp>
    </p:spTree>
    <p:extLst>
      <p:ext uri="{BB962C8B-B14F-4D97-AF65-F5344CB8AC3E}">
        <p14:creationId xmlns:p14="http://schemas.microsoft.com/office/powerpoint/2010/main" val="3112278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A2345-A1C0-F499-1C2E-DF511EF19E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C500BF-36DA-A35F-B495-C7705650FF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56237D-C3F9-7D49-5A45-C68F658A1BC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513C0FD-37A9-379D-6B3D-6818AB9C4CD2}"/>
              </a:ext>
            </a:extLst>
          </p:cNvPr>
          <p:cNvSpPr>
            <a:spLocks noGrp="1"/>
          </p:cNvSpPr>
          <p:nvPr>
            <p:ph type="sldNum" sz="quarter" idx="10"/>
          </p:nvPr>
        </p:nvSpPr>
        <p:spPr/>
        <p:txBody>
          <a:bodyPr/>
          <a:lstStyle/>
          <a:p>
            <a:fld id="{2F3082F6-F77F-487A-A20D-05E951C2AB1F}" type="slidenum">
              <a:rPr lang="zh-CN" altLang="en-US" smtClean="0"/>
              <a:t>6</a:t>
            </a:fld>
            <a:endParaRPr lang="zh-CN" altLang="en-US"/>
          </a:p>
        </p:txBody>
      </p:sp>
    </p:spTree>
    <p:extLst>
      <p:ext uri="{BB962C8B-B14F-4D97-AF65-F5344CB8AC3E}">
        <p14:creationId xmlns:p14="http://schemas.microsoft.com/office/powerpoint/2010/main" val="2962870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61D22-D6D4-A5FE-9858-B6A0990FE5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6BE449-6390-289F-A06A-0CEB1EA3FD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16CF2B-4A8B-2950-1732-AB14B5F21A9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81355A1-0B6C-DAD8-2322-AB07ABD6F774}"/>
              </a:ext>
            </a:extLst>
          </p:cNvPr>
          <p:cNvSpPr>
            <a:spLocks noGrp="1"/>
          </p:cNvSpPr>
          <p:nvPr>
            <p:ph type="sldNum" sz="quarter" idx="10"/>
          </p:nvPr>
        </p:nvSpPr>
        <p:spPr/>
        <p:txBody>
          <a:bodyPr/>
          <a:lstStyle/>
          <a:p>
            <a:fld id="{2F3082F6-F77F-487A-A20D-05E951C2AB1F}" type="slidenum">
              <a:rPr lang="zh-CN" altLang="en-US" smtClean="0"/>
              <a:t>7</a:t>
            </a:fld>
            <a:endParaRPr lang="zh-CN" altLang="en-US"/>
          </a:p>
        </p:txBody>
      </p:sp>
    </p:spTree>
    <p:extLst>
      <p:ext uri="{BB962C8B-B14F-4D97-AF65-F5344CB8AC3E}">
        <p14:creationId xmlns:p14="http://schemas.microsoft.com/office/powerpoint/2010/main" val="265252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6013-5706-E197-BFB3-FDCD5BD066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5A8A35-B075-6E85-3A67-97FE2F3FD4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AD0EAE-F8A4-8F5E-0D47-6EE94235C03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FC79A1-4507-2411-10D2-E2F738E01ABE}"/>
              </a:ext>
            </a:extLst>
          </p:cNvPr>
          <p:cNvSpPr>
            <a:spLocks noGrp="1"/>
          </p:cNvSpPr>
          <p:nvPr>
            <p:ph type="sldNum" sz="quarter" idx="10"/>
          </p:nvPr>
        </p:nvSpPr>
        <p:spPr/>
        <p:txBody>
          <a:bodyPr/>
          <a:lstStyle/>
          <a:p>
            <a:fld id="{2F3082F6-F77F-487A-A20D-05E951C2AB1F}" type="slidenum">
              <a:rPr lang="zh-CN" altLang="en-US" smtClean="0"/>
              <a:t>8</a:t>
            </a:fld>
            <a:endParaRPr lang="zh-CN" altLang="en-US"/>
          </a:p>
        </p:txBody>
      </p:sp>
    </p:spTree>
    <p:extLst>
      <p:ext uri="{BB962C8B-B14F-4D97-AF65-F5344CB8AC3E}">
        <p14:creationId xmlns:p14="http://schemas.microsoft.com/office/powerpoint/2010/main" val="753364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78AC2-47D0-7BBB-4B37-8F2FF1B49A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EB7154-DFB7-19EE-E31E-A4ABD268E9E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49050A-9700-8217-4E97-95CCDA12321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A0DD92-AEB2-C306-B0EC-88C6453AE01B}"/>
              </a:ext>
            </a:extLst>
          </p:cNvPr>
          <p:cNvSpPr>
            <a:spLocks noGrp="1"/>
          </p:cNvSpPr>
          <p:nvPr>
            <p:ph type="sldNum" sz="quarter" idx="10"/>
          </p:nvPr>
        </p:nvSpPr>
        <p:spPr/>
        <p:txBody>
          <a:bodyPr/>
          <a:lstStyle/>
          <a:p>
            <a:fld id="{2F3082F6-F77F-487A-A20D-05E951C2AB1F}" type="slidenum">
              <a:rPr lang="zh-CN" altLang="en-US" smtClean="0"/>
              <a:t>9</a:t>
            </a:fld>
            <a:endParaRPr lang="zh-CN" altLang="en-US"/>
          </a:p>
        </p:txBody>
      </p:sp>
    </p:spTree>
    <p:extLst>
      <p:ext uri="{BB962C8B-B14F-4D97-AF65-F5344CB8AC3E}">
        <p14:creationId xmlns:p14="http://schemas.microsoft.com/office/powerpoint/2010/main" val="3967300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7230B-BC3D-9E5B-EA51-0EF69BB0DA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8754BC-D468-9BA8-F71F-0F4A03B9D0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6D1467-6CD7-0966-3A66-E40DCFC75BE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3816849-6051-3F59-2C52-54868D770008}"/>
              </a:ext>
            </a:extLst>
          </p:cNvPr>
          <p:cNvSpPr>
            <a:spLocks noGrp="1"/>
          </p:cNvSpPr>
          <p:nvPr>
            <p:ph type="sldNum" sz="quarter" idx="10"/>
          </p:nvPr>
        </p:nvSpPr>
        <p:spPr/>
        <p:txBody>
          <a:bodyPr/>
          <a:lstStyle/>
          <a:p>
            <a:fld id="{2F3082F6-F77F-487A-A20D-05E951C2AB1F}" type="slidenum">
              <a:rPr lang="zh-CN" altLang="en-US" smtClean="0"/>
              <a:t>10</a:t>
            </a:fld>
            <a:endParaRPr lang="zh-CN" altLang="en-US"/>
          </a:p>
        </p:txBody>
      </p:sp>
    </p:spTree>
    <p:extLst>
      <p:ext uri="{BB962C8B-B14F-4D97-AF65-F5344CB8AC3E}">
        <p14:creationId xmlns:p14="http://schemas.microsoft.com/office/powerpoint/2010/main" val="3631294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FC4F9-60B9-58E9-09D6-F51E4856C6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398158-7651-465A-4AF4-DB662E9321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1862CE-4891-8541-AA2D-D8F75016484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ACA3D4E-1F71-96CA-E5F1-882B11C4883C}"/>
              </a:ext>
            </a:extLst>
          </p:cNvPr>
          <p:cNvSpPr>
            <a:spLocks noGrp="1"/>
          </p:cNvSpPr>
          <p:nvPr>
            <p:ph type="sldNum" sz="quarter" idx="10"/>
          </p:nvPr>
        </p:nvSpPr>
        <p:spPr/>
        <p:txBody>
          <a:bodyPr/>
          <a:lstStyle/>
          <a:p>
            <a:fld id="{2F3082F6-F77F-487A-A20D-05E951C2AB1F}" type="slidenum">
              <a:rPr lang="zh-CN" altLang="en-US" smtClean="0"/>
              <a:t>11</a:t>
            </a:fld>
            <a:endParaRPr lang="zh-CN" altLang="en-US"/>
          </a:p>
        </p:txBody>
      </p:sp>
    </p:spTree>
    <p:extLst>
      <p:ext uri="{BB962C8B-B14F-4D97-AF65-F5344CB8AC3E}">
        <p14:creationId xmlns:p14="http://schemas.microsoft.com/office/powerpoint/2010/main" val="2169613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E08B-7594-84D3-5C65-217E5E9074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89663E-38ED-3F6A-6E64-92F094FD24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752DBF-7FA1-82ED-62F1-0AB8032D809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2C047A8-16FE-7DC6-3440-9DC13A74373B}"/>
              </a:ext>
            </a:extLst>
          </p:cNvPr>
          <p:cNvSpPr>
            <a:spLocks noGrp="1"/>
          </p:cNvSpPr>
          <p:nvPr>
            <p:ph type="sldNum" sz="quarter" idx="10"/>
          </p:nvPr>
        </p:nvSpPr>
        <p:spPr/>
        <p:txBody>
          <a:bodyPr/>
          <a:lstStyle/>
          <a:p>
            <a:fld id="{2F3082F6-F77F-487A-A20D-05E951C2AB1F}" type="slidenum">
              <a:rPr lang="zh-CN" altLang="en-US" smtClean="0"/>
              <a:t>12</a:t>
            </a:fld>
            <a:endParaRPr lang="zh-CN" altLang="en-US"/>
          </a:p>
        </p:txBody>
      </p:sp>
    </p:spTree>
    <p:extLst>
      <p:ext uri="{BB962C8B-B14F-4D97-AF65-F5344CB8AC3E}">
        <p14:creationId xmlns:p14="http://schemas.microsoft.com/office/powerpoint/2010/main" val="3741677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4D22F-2F6C-1E1C-9881-43E4C83A46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B012F9-3EDE-E717-10BC-12E5441458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7AEAF2-E85D-E2B9-214C-F13763B0E99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DB52498-0727-1198-5574-D7F1B63C92CC}"/>
              </a:ext>
            </a:extLst>
          </p:cNvPr>
          <p:cNvSpPr>
            <a:spLocks noGrp="1"/>
          </p:cNvSpPr>
          <p:nvPr>
            <p:ph type="sldNum" sz="quarter" idx="10"/>
          </p:nvPr>
        </p:nvSpPr>
        <p:spPr/>
        <p:txBody>
          <a:bodyPr/>
          <a:lstStyle/>
          <a:p>
            <a:fld id="{2F3082F6-F77F-487A-A20D-05E951C2AB1F}" type="slidenum">
              <a:rPr lang="zh-CN" altLang="en-US" smtClean="0"/>
              <a:t>13</a:t>
            </a:fld>
            <a:endParaRPr lang="zh-CN" altLang="en-US"/>
          </a:p>
        </p:txBody>
      </p:sp>
    </p:spTree>
    <p:extLst>
      <p:ext uri="{BB962C8B-B14F-4D97-AF65-F5344CB8AC3E}">
        <p14:creationId xmlns:p14="http://schemas.microsoft.com/office/powerpoint/2010/main" val="3891773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11B3-6BEA-C7D0-57E5-8630089057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C50BF8-09B1-9A01-D6FA-7D8472A55F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FB627B-18C9-8BA7-1DF4-A98E383680A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AC55600-387C-B849-A14D-89468E0FA938}"/>
              </a:ext>
            </a:extLst>
          </p:cNvPr>
          <p:cNvSpPr>
            <a:spLocks noGrp="1"/>
          </p:cNvSpPr>
          <p:nvPr>
            <p:ph type="sldNum" sz="quarter" idx="10"/>
          </p:nvPr>
        </p:nvSpPr>
        <p:spPr/>
        <p:txBody>
          <a:bodyPr/>
          <a:lstStyle/>
          <a:p>
            <a:fld id="{2F3082F6-F77F-487A-A20D-05E951C2AB1F}" type="slidenum">
              <a:rPr lang="zh-CN" altLang="en-US" smtClean="0"/>
              <a:t>14</a:t>
            </a:fld>
            <a:endParaRPr lang="zh-CN" altLang="en-US"/>
          </a:p>
        </p:txBody>
      </p:sp>
    </p:spTree>
    <p:extLst>
      <p:ext uri="{BB962C8B-B14F-4D97-AF65-F5344CB8AC3E}">
        <p14:creationId xmlns:p14="http://schemas.microsoft.com/office/powerpoint/2010/main" val="3332771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560AE-7DB9-F7D9-20AA-B5328C74B6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6E9F5C-0784-567B-24C9-B47C6E5D4E5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87FB7C-F9EC-612D-2121-63447855EFD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77D3760-2CA1-F03B-6D0C-FF92B0407EF4}"/>
              </a:ext>
            </a:extLst>
          </p:cNvPr>
          <p:cNvSpPr>
            <a:spLocks noGrp="1"/>
          </p:cNvSpPr>
          <p:nvPr>
            <p:ph type="sldNum" sz="quarter" idx="10"/>
          </p:nvPr>
        </p:nvSpPr>
        <p:spPr/>
        <p:txBody>
          <a:bodyPr/>
          <a:lstStyle/>
          <a:p>
            <a:fld id="{2F3082F6-F77F-487A-A20D-05E951C2AB1F}" type="slidenum">
              <a:rPr lang="zh-CN" altLang="en-US" smtClean="0"/>
              <a:t>15</a:t>
            </a:fld>
            <a:endParaRPr lang="zh-CN" altLang="en-US"/>
          </a:p>
        </p:txBody>
      </p:sp>
    </p:spTree>
    <p:extLst>
      <p:ext uri="{BB962C8B-B14F-4D97-AF65-F5344CB8AC3E}">
        <p14:creationId xmlns:p14="http://schemas.microsoft.com/office/powerpoint/2010/main" val="1772948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1BA5B-BA12-9C48-4F43-169CC787A1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542E5A-65B9-71EA-5191-9A85E17E51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140E0D-D0DF-2B2B-AAC1-C8D8A788A3D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4576D87-F6C2-0344-4AF1-5CB6F443C3FA}"/>
              </a:ext>
            </a:extLst>
          </p:cNvPr>
          <p:cNvSpPr>
            <a:spLocks noGrp="1"/>
          </p:cNvSpPr>
          <p:nvPr>
            <p:ph type="sldNum" sz="quarter" idx="10"/>
          </p:nvPr>
        </p:nvSpPr>
        <p:spPr/>
        <p:txBody>
          <a:bodyPr/>
          <a:lstStyle/>
          <a:p>
            <a:fld id="{2F3082F6-F77F-487A-A20D-05E951C2AB1F}" type="slidenum">
              <a:rPr lang="zh-CN" altLang="en-US" smtClean="0"/>
              <a:t>16</a:t>
            </a:fld>
            <a:endParaRPr lang="zh-CN" altLang="en-US"/>
          </a:p>
        </p:txBody>
      </p:sp>
    </p:spTree>
    <p:extLst>
      <p:ext uri="{BB962C8B-B14F-4D97-AF65-F5344CB8AC3E}">
        <p14:creationId xmlns:p14="http://schemas.microsoft.com/office/powerpoint/2010/main" val="2828103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81A3C-934B-99C1-7E12-0788583BCD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94F950-A28D-BDEE-034C-A6D68B8611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85D1CB-1E94-2929-EA72-98858A77515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F82D01D-A0E9-CFA5-08F5-5D0F7546C3F3}"/>
              </a:ext>
            </a:extLst>
          </p:cNvPr>
          <p:cNvSpPr>
            <a:spLocks noGrp="1"/>
          </p:cNvSpPr>
          <p:nvPr>
            <p:ph type="sldNum" sz="quarter" idx="10"/>
          </p:nvPr>
        </p:nvSpPr>
        <p:spPr/>
        <p:txBody>
          <a:bodyPr/>
          <a:lstStyle/>
          <a:p>
            <a:fld id="{2F3082F6-F77F-487A-A20D-05E951C2AB1F}" type="slidenum">
              <a:rPr lang="zh-CN" altLang="en-US" smtClean="0"/>
              <a:t>17</a:t>
            </a:fld>
            <a:endParaRPr lang="zh-CN" altLang="en-US"/>
          </a:p>
        </p:txBody>
      </p:sp>
    </p:spTree>
    <p:extLst>
      <p:ext uri="{BB962C8B-B14F-4D97-AF65-F5344CB8AC3E}">
        <p14:creationId xmlns:p14="http://schemas.microsoft.com/office/powerpoint/2010/main" val="3572306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338F9-512A-BE34-DF8F-044BFB29F7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8B2041-9214-D8B7-0321-DF2E7F52E0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7B7EB9-6321-8022-DD56-7E3D805B63F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5A9F94-29F9-D9F3-5CAE-2AC05877E66D}"/>
              </a:ext>
            </a:extLst>
          </p:cNvPr>
          <p:cNvSpPr>
            <a:spLocks noGrp="1"/>
          </p:cNvSpPr>
          <p:nvPr>
            <p:ph type="sldNum" sz="quarter" idx="10"/>
          </p:nvPr>
        </p:nvSpPr>
        <p:spPr/>
        <p:txBody>
          <a:bodyPr/>
          <a:lstStyle/>
          <a:p>
            <a:fld id="{2F3082F6-F77F-487A-A20D-05E951C2AB1F}" type="slidenum">
              <a:rPr lang="zh-CN" altLang="en-US" smtClean="0"/>
              <a:t>18</a:t>
            </a:fld>
            <a:endParaRPr lang="zh-CN" altLang="en-US"/>
          </a:p>
        </p:txBody>
      </p:sp>
    </p:spTree>
    <p:extLst>
      <p:ext uri="{BB962C8B-B14F-4D97-AF65-F5344CB8AC3E}">
        <p14:creationId xmlns:p14="http://schemas.microsoft.com/office/powerpoint/2010/main" val="1200333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E71D-6091-061F-E503-D6A200BDA5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2461B8-5E78-E47A-17B4-39D2DD6F12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B6492F-A6B1-0532-2218-00B44ACE84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22BA05-4819-BB3E-DBA2-7009ACBA2EE8}"/>
              </a:ext>
            </a:extLst>
          </p:cNvPr>
          <p:cNvSpPr>
            <a:spLocks noGrp="1"/>
          </p:cNvSpPr>
          <p:nvPr>
            <p:ph type="sldNum" sz="quarter" idx="10"/>
          </p:nvPr>
        </p:nvSpPr>
        <p:spPr/>
        <p:txBody>
          <a:bodyPr/>
          <a:lstStyle/>
          <a:p>
            <a:fld id="{2F3082F6-F77F-487A-A20D-05E951C2AB1F}" type="slidenum">
              <a:rPr lang="zh-CN" altLang="en-US" smtClean="0"/>
              <a:t>19</a:t>
            </a:fld>
            <a:endParaRPr lang="zh-CN" altLang="en-US"/>
          </a:p>
        </p:txBody>
      </p:sp>
    </p:spTree>
    <p:extLst>
      <p:ext uri="{BB962C8B-B14F-4D97-AF65-F5344CB8AC3E}">
        <p14:creationId xmlns:p14="http://schemas.microsoft.com/office/powerpoint/2010/main" val="12728457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C05DC-8F51-5022-AB93-97E1434B3E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488440-44D4-3484-7585-31592720C5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01AED6-D242-2314-6DA9-F995B450ADE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074EA74-4AA1-80E3-A08C-1EDEF7E726A2}"/>
              </a:ext>
            </a:extLst>
          </p:cNvPr>
          <p:cNvSpPr>
            <a:spLocks noGrp="1"/>
          </p:cNvSpPr>
          <p:nvPr>
            <p:ph type="sldNum" sz="quarter" idx="10"/>
          </p:nvPr>
        </p:nvSpPr>
        <p:spPr/>
        <p:txBody>
          <a:bodyPr/>
          <a:lstStyle/>
          <a:p>
            <a:fld id="{2F3082F6-F77F-487A-A20D-05E951C2AB1F}" type="slidenum">
              <a:rPr lang="zh-CN" altLang="en-US" smtClean="0"/>
              <a:t>20</a:t>
            </a:fld>
            <a:endParaRPr lang="zh-CN" altLang="en-US"/>
          </a:p>
        </p:txBody>
      </p:sp>
    </p:spTree>
    <p:extLst>
      <p:ext uri="{BB962C8B-B14F-4D97-AF65-F5344CB8AC3E}">
        <p14:creationId xmlns:p14="http://schemas.microsoft.com/office/powerpoint/2010/main" val="148708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C1E2-C39E-EF2D-C8FC-EFFAEEF012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0BAD08-E92C-9C46-BB0F-C884777677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2CE8DF-15A0-AD1D-78B9-5BCA11C2C29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34EC1B7-7865-9DAF-0ED6-A764C3A6535D}"/>
              </a:ext>
            </a:extLst>
          </p:cNvPr>
          <p:cNvSpPr>
            <a:spLocks noGrp="1"/>
          </p:cNvSpPr>
          <p:nvPr>
            <p:ph type="sldNum" sz="quarter" idx="10"/>
          </p:nvPr>
        </p:nvSpPr>
        <p:spPr/>
        <p:txBody>
          <a:bodyPr/>
          <a:lstStyle/>
          <a:p>
            <a:fld id="{2F3082F6-F77F-487A-A20D-05E951C2AB1F}" type="slidenum">
              <a:rPr lang="zh-CN" altLang="en-US" smtClean="0"/>
              <a:t>21</a:t>
            </a:fld>
            <a:endParaRPr lang="zh-CN" altLang="en-US"/>
          </a:p>
        </p:txBody>
      </p:sp>
    </p:spTree>
    <p:extLst>
      <p:ext uri="{BB962C8B-B14F-4D97-AF65-F5344CB8AC3E}">
        <p14:creationId xmlns:p14="http://schemas.microsoft.com/office/powerpoint/2010/main" val="1381380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DB8B-906A-717B-8BD5-70D1797944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4248E1-D785-C5A7-D6DD-60EAD78BCB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49A3B4-D70E-019F-F834-F3A671B9A81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6E111EF-DFC0-B70F-322D-F075E8B7F4FB}"/>
              </a:ext>
            </a:extLst>
          </p:cNvPr>
          <p:cNvSpPr>
            <a:spLocks noGrp="1"/>
          </p:cNvSpPr>
          <p:nvPr>
            <p:ph type="sldNum" sz="quarter" idx="10"/>
          </p:nvPr>
        </p:nvSpPr>
        <p:spPr/>
        <p:txBody>
          <a:bodyPr/>
          <a:lstStyle/>
          <a:p>
            <a:fld id="{2F3082F6-F77F-487A-A20D-05E951C2AB1F}" type="slidenum">
              <a:rPr lang="zh-CN" altLang="en-US" smtClean="0"/>
              <a:t>22</a:t>
            </a:fld>
            <a:endParaRPr lang="zh-CN" altLang="en-US"/>
          </a:p>
        </p:txBody>
      </p:sp>
    </p:spTree>
    <p:extLst>
      <p:ext uri="{BB962C8B-B14F-4D97-AF65-F5344CB8AC3E}">
        <p14:creationId xmlns:p14="http://schemas.microsoft.com/office/powerpoint/2010/main" val="2826206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3A15F-6D18-78B2-95B4-15B67C85FB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0021F4-7A4A-9449-29EE-F26143B352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D359BD-6851-6EBF-C102-591EAA3D6C8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3F1173C-17C5-2F60-C575-2A7C38DD5E3C}"/>
              </a:ext>
            </a:extLst>
          </p:cNvPr>
          <p:cNvSpPr>
            <a:spLocks noGrp="1"/>
          </p:cNvSpPr>
          <p:nvPr>
            <p:ph type="sldNum" sz="quarter" idx="10"/>
          </p:nvPr>
        </p:nvSpPr>
        <p:spPr/>
        <p:txBody>
          <a:bodyPr/>
          <a:lstStyle/>
          <a:p>
            <a:fld id="{2F3082F6-F77F-487A-A20D-05E951C2AB1F}" type="slidenum">
              <a:rPr lang="zh-CN" altLang="en-US" smtClean="0"/>
              <a:t>23</a:t>
            </a:fld>
            <a:endParaRPr lang="zh-CN" altLang="en-US"/>
          </a:p>
        </p:txBody>
      </p:sp>
    </p:spTree>
    <p:extLst>
      <p:ext uri="{BB962C8B-B14F-4D97-AF65-F5344CB8AC3E}">
        <p14:creationId xmlns:p14="http://schemas.microsoft.com/office/powerpoint/2010/main" val="12923228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161D-1857-964E-DB20-ED792CA3CA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47CC64-B699-5C09-4080-32447AD80E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4E95D8-A24D-FBD7-CCD2-E51E79B1A11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B272008-28F4-7816-2318-EC32D3744A03}"/>
              </a:ext>
            </a:extLst>
          </p:cNvPr>
          <p:cNvSpPr>
            <a:spLocks noGrp="1"/>
          </p:cNvSpPr>
          <p:nvPr>
            <p:ph type="sldNum" sz="quarter" idx="10"/>
          </p:nvPr>
        </p:nvSpPr>
        <p:spPr/>
        <p:txBody>
          <a:bodyPr/>
          <a:lstStyle/>
          <a:p>
            <a:fld id="{2F3082F6-F77F-487A-A20D-05E951C2AB1F}" type="slidenum">
              <a:rPr lang="zh-CN" altLang="en-US" smtClean="0"/>
              <a:t>24</a:t>
            </a:fld>
            <a:endParaRPr lang="zh-CN" altLang="en-US"/>
          </a:p>
        </p:txBody>
      </p:sp>
    </p:spTree>
    <p:extLst>
      <p:ext uri="{BB962C8B-B14F-4D97-AF65-F5344CB8AC3E}">
        <p14:creationId xmlns:p14="http://schemas.microsoft.com/office/powerpoint/2010/main" val="2911829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BB041-D535-2D80-5F0D-58DB3FC4B2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08E654-E329-AF10-02C5-D1DD34A81D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8FF7E2-101A-A083-BE6F-42936EE8BF7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7B13A5F-31A6-AC4B-FF4F-351935808EBC}"/>
              </a:ext>
            </a:extLst>
          </p:cNvPr>
          <p:cNvSpPr>
            <a:spLocks noGrp="1"/>
          </p:cNvSpPr>
          <p:nvPr>
            <p:ph type="sldNum" sz="quarter" idx="10"/>
          </p:nvPr>
        </p:nvSpPr>
        <p:spPr/>
        <p:txBody>
          <a:bodyPr/>
          <a:lstStyle/>
          <a:p>
            <a:fld id="{2F3082F6-F77F-487A-A20D-05E951C2AB1F}" type="slidenum">
              <a:rPr lang="zh-CN" altLang="en-US" smtClean="0"/>
              <a:t>25</a:t>
            </a:fld>
            <a:endParaRPr lang="zh-CN" altLang="en-US"/>
          </a:p>
        </p:txBody>
      </p:sp>
    </p:spTree>
    <p:extLst>
      <p:ext uri="{BB962C8B-B14F-4D97-AF65-F5344CB8AC3E}">
        <p14:creationId xmlns:p14="http://schemas.microsoft.com/office/powerpoint/2010/main" val="1426332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4FA8-5D86-5AEF-3A7F-DC8BDB1B96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1449CF-B641-3AD8-8F1B-20363D0F91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CFA871-2406-FE38-F582-C0EA3165D32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F5D7803-EB12-8744-277A-7C2A16ECCD29}"/>
              </a:ext>
            </a:extLst>
          </p:cNvPr>
          <p:cNvSpPr>
            <a:spLocks noGrp="1"/>
          </p:cNvSpPr>
          <p:nvPr>
            <p:ph type="sldNum" sz="quarter" idx="10"/>
          </p:nvPr>
        </p:nvSpPr>
        <p:spPr/>
        <p:txBody>
          <a:bodyPr/>
          <a:lstStyle/>
          <a:p>
            <a:fld id="{2F3082F6-F77F-487A-A20D-05E951C2AB1F}" type="slidenum">
              <a:rPr lang="zh-CN" altLang="en-US" smtClean="0"/>
              <a:t>26</a:t>
            </a:fld>
            <a:endParaRPr lang="zh-CN" altLang="en-US"/>
          </a:p>
        </p:txBody>
      </p:sp>
    </p:spTree>
    <p:extLst>
      <p:ext uri="{BB962C8B-B14F-4D97-AF65-F5344CB8AC3E}">
        <p14:creationId xmlns:p14="http://schemas.microsoft.com/office/powerpoint/2010/main" val="3310463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96A99-C847-49C5-A50D-E82F09AF61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DB8F75-7FC3-C08F-7611-A0299A451E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D62EB8-3A79-CD91-4597-21AE02CB9F4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62D855-CA78-2175-B616-9BC43079F34B}"/>
              </a:ext>
            </a:extLst>
          </p:cNvPr>
          <p:cNvSpPr>
            <a:spLocks noGrp="1"/>
          </p:cNvSpPr>
          <p:nvPr>
            <p:ph type="sldNum" sz="quarter" idx="10"/>
          </p:nvPr>
        </p:nvSpPr>
        <p:spPr/>
        <p:txBody>
          <a:bodyPr/>
          <a:lstStyle/>
          <a:p>
            <a:fld id="{2F3082F6-F77F-487A-A20D-05E951C2AB1F}" type="slidenum">
              <a:rPr lang="zh-CN" altLang="en-US" smtClean="0"/>
              <a:t>27</a:t>
            </a:fld>
            <a:endParaRPr lang="zh-CN" altLang="en-US"/>
          </a:p>
        </p:txBody>
      </p:sp>
    </p:spTree>
    <p:extLst>
      <p:ext uri="{BB962C8B-B14F-4D97-AF65-F5344CB8AC3E}">
        <p14:creationId xmlns:p14="http://schemas.microsoft.com/office/powerpoint/2010/main" val="3546138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7785-0591-D794-A7D4-F41C7FFD49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02AF8A-DE08-A920-5D9A-68A9AFFA26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A688B7-3AFB-994E-97F6-CCAC5AD5735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F26D32A-9E88-CB27-F156-D05F72BC85FA}"/>
              </a:ext>
            </a:extLst>
          </p:cNvPr>
          <p:cNvSpPr>
            <a:spLocks noGrp="1"/>
          </p:cNvSpPr>
          <p:nvPr>
            <p:ph type="sldNum" sz="quarter" idx="10"/>
          </p:nvPr>
        </p:nvSpPr>
        <p:spPr/>
        <p:txBody>
          <a:bodyPr/>
          <a:lstStyle/>
          <a:p>
            <a:fld id="{2F3082F6-F77F-487A-A20D-05E951C2AB1F}" type="slidenum">
              <a:rPr lang="zh-CN" altLang="en-US" smtClean="0"/>
              <a:t>28</a:t>
            </a:fld>
            <a:endParaRPr lang="zh-CN" altLang="en-US"/>
          </a:p>
        </p:txBody>
      </p:sp>
    </p:spTree>
    <p:extLst>
      <p:ext uri="{BB962C8B-B14F-4D97-AF65-F5344CB8AC3E}">
        <p14:creationId xmlns:p14="http://schemas.microsoft.com/office/powerpoint/2010/main" val="31841020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DD41-1DB6-77EF-9053-2D81455283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D056D3-D639-095D-8ECB-234000F102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8C10EA-41E9-D711-FFC2-60D0924AD7E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0B5AE1D-1FD2-8E10-AF1F-EB093618F591}"/>
              </a:ext>
            </a:extLst>
          </p:cNvPr>
          <p:cNvSpPr>
            <a:spLocks noGrp="1"/>
          </p:cNvSpPr>
          <p:nvPr>
            <p:ph type="sldNum" sz="quarter" idx="10"/>
          </p:nvPr>
        </p:nvSpPr>
        <p:spPr/>
        <p:txBody>
          <a:bodyPr/>
          <a:lstStyle/>
          <a:p>
            <a:fld id="{2F3082F6-F77F-487A-A20D-05E951C2AB1F}" type="slidenum">
              <a:rPr lang="zh-CN" altLang="en-US" smtClean="0"/>
              <a:t>29</a:t>
            </a:fld>
            <a:endParaRPr lang="zh-CN" altLang="en-US"/>
          </a:p>
        </p:txBody>
      </p:sp>
    </p:spTree>
    <p:extLst>
      <p:ext uri="{BB962C8B-B14F-4D97-AF65-F5344CB8AC3E}">
        <p14:creationId xmlns:p14="http://schemas.microsoft.com/office/powerpoint/2010/main" val="31917351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46C67-7E8D-2E13-5E95-1BD8CB7D13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92AF57-757A-F3A7-ED88-228DD0EF30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8DB2C5-744C-4769-5265-F8D9425061C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4266AC0-E5A9-B319-21EF-E0A028CBE43A}"/>
              </a:ext>
            </a:extLst>
          </p:cNvPr>
          <p:cNvSpPr>
            <a:spLocks noGrp="1"/>
          </p:cNvSpPr>
          <p:nvPr>
            <p:ph type="sldNum" sz="quarter" idx="10"/>
          </p:nvPr>
        </p:nvSpPr>
        <p:spPr/>
        <p:txBody>
          <a:bodyPr/>
          <a:lstStyle/>
          <a:p>
            <a:fld id="{2F3082F6-F77F-487A-A20D-05E951C2AB1F}" type="slidenum">
              <a:rPr lang="zh-CN" altLang="en-US" smtClean="0"/>
              <a:t>30</a:t>
            </a:fld>
            <a:endParaRPr lang="zh-CN" altLang="en-US"/>
          </a:p>
        </p:txBody>
      </p:sp>
    </p:spTree>
    <p:extLst>
      <p:ext uri="{BB962C8B-B14F-4D97-AF65-F5344CB8AC3E}">
        <p14:creationId xmlns:p14="http://schemas.microsoft.com/office/powerpoint/2010/main" val="1838753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E25AE-CBA2-912D-865D-8ADB47C444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76271E-514D-655D-322E-3FC95B7EE0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F7B548-2C68-3E82-DEDF-92E01B7EE37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EC652A8-5897-CF20-B142-D2A1D1246009}"/>
              </a:ext>
            </a:extLst>
          </p:cNvPr>
          <p:cNvSpPr>
            <a:spLocks noGrp="1"/>
          </p:cNvSpPr>
          <p:nvPr>
            <p:ph type="sldNum" sz="quarter" idx="10"/>
          </p:nvPr>
        </p:nvSpPr>
        <p:spPr/>
        <p:txBody>
          <a:bodyPr/>
          <a:lstStyle/>
          <a:p>
            <a:fld id="{2F3082F6-F77F-487A-A20D-05E951C2AB1F}" type="slidenum">
              <a:rPr lang="zh-CN" altLang="en-US" smtClean="0"/>
              <a:t>31</a:t>
            </a:fld>
            <a:endParaRPr lang="zh-CN" altLang="en-US"/>
          </a:p>
        </p:txBody>
      </p:sp>
    </p:spTree>
    <p:extLst>
      <p:ext uri="{BB962C8B-B14F-4D97-AF65-F5344CB8AC3E}">
        <p14:creationId xmlns:p14="http://schemas.microsoft.com/office/powerpoint/2010/main" val="15890168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9A3C8-9AC0-7E08-6510-C850D585F8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0E3A1F-74F1-5383-29BC-43F0F7E649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CF58C5-C20B-99A7-8F82-66F82EF9DBE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AFE7E3F-DB5D-BD9A-B2BF-DF58550FF5B4}"/>
              </a:ext>
            </a:extLst>
          </p:cNvPr>
          <p:cNvSpPr>
            <a:spLocks noGrp="1"/>
          </p:cNvSpPr>
          <p:nvPr>
            <p:ph type="sldNum" sz="quarter" idx="10"/>
          </p:nvPr>
        </p:nvSpPr>
        <p:spPr/>
        <p:txBody>
          <a:bodyPr/>
          <a:lstStyle/>
          <a:p>
            <a:fld id="{2F3082F6-F77F-487A-A20D-05E951C2AB1F}" type="slidenum">
              <a:rPr lang="zh-CN" altLang="en-US" smtClean="0"/>
              <a:t>32</a:t>
            </a:fld>
            <a:endParaRPr lang="zh-CN" altLang="en-US"/>
          </a:p>
        </p:txBody>
      </p:sp>
    </p:spTree>
    <p:extLst>
      <p:ext uri="{BB962C8B-B14F-4D97-AF65-F5344CB8AC3E}">
        <p14:creationId xmlns:p14="http://schemas.microsoft.com/office/powerpoint/2010/main" val="3751162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2F6A4-F997-676C-BF4A-FCCC9931E9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96B075-22F8-13DD-5856-DA34AE5165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1098E0-7193-48C2-9349-4C76806C950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0E1AC91-6AA1-5841-5718-093594A2A8E5}"/>
              </a:ext>
            </a:extLst>
          </p:cNvPr>
          <p:cNvSpPr>
            <a:spLocks noGrp="1"/>
          </p:cNvSpPr>
          <p:nvPr>
            <p:ph type="sldNum" sz="quarter" idx="10"/>
          </p:nvPr>
        </p:nvSpPr>
        <p:spPr/>
        <p:txBody>
          <a:bodyPr/>
          <a:lstStyle/>
          <a:p>
            <a:fld id="{2F3082F6-F77F-487A-A20D-05E951C2AB1F}" type="slidenum">
              <a:rPr lang="zh-CN" altLang="en-US" smtClean="0"/>
              <a:t>33</a:t>
            </a:fld>
            <a:endParaRPr lang="zh-CN" altLang="en-US"/>
          </a:p>
        </p:txBody>
      </p:sp>
    </p:spTree>
    <p:extLst>
      <p:ext uri="{BB962C8B-B14F-4D97-AF65-F5344CB8AC3E}">
        <p14:creationId xmlns:p14="http://schemas.microsoft.com/office/powerpoint/2010/main" val="3917908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26"/>
            <a:ext cx="7772400" cy="1102179"/>
          </a:xfrm>
        </p:spPr>
        <p:txBody>
          <a:bodyPr/>
          <a:lstStyle/>
          <a:p>
            <a:r>
              <a:rPr lang="zh-CN" altLang="en-US"/>
              <a:t>单击此处编辑母版标题样式</a:t>
            </a:r>
          </a:p>
        </p:txBody>
      </p:sp>
      <p:sp>
        <p:nvSpPr>
          <p:cNvPr id="3" name="副标题 2"/>
          <p:cNvSpPr>
            <a:spLocks noGrp="1"/>
          </p:cNvSpPr>
          <p:nvPr>
            <p:ph type="subTitle" idx="1"/>
          </p:nvPr>
        </p:nvSpPr>
        <p:spPr>
          <a:xfrm>
            <a:off x="1371600" y="2913751"/>
            <a:ext cx="6400800" cy="131404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36036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2384691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156"/>
            <a:ext cx="7772400" cy="1021241"/>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363"/>
            <a:ext cx="7772400" cy="112479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260401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45678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80"/>
            <a:ext cx="4040188"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0653"/>
            <a:ext cx="4040188"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6" y="1150980"/>
            <a:ext cx="4041775"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0653"/>
            <a:ext cx="4041775"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142337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90761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722439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24"/>
            <a:ext cx="3008313" cy="871269"/>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25"/>
            <a:ext cx="5111750" cy="43884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1" y="1075993"/>
            <a:ext cx="3008313" cy="35172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300608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599339"/>
            <a:ext cx="5486400" cy="42492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439"/>
            <a:ext cx="5486400" cy="30851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4024262"/>
            <a:ext cx="5486400" cy="603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323456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59509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34"/>
            <a:ext cx="2057400" cy="328868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34"/>
            <a:ext cx="6019800" cy="328868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65C0B0F-957D-4B21-995C-671B925970BC}" type="datetimeFigureOut">
              <a:rPr lang="zh-CN" altLang="en-US" smtClean="0"/>
              <a:t>2024/10/28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3737874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1_标题和内容">
    <p:spTree>
      <p:nvGrpSpPr>
        <p:cNvPr id="1" name=""/>
        <p:cNvGrpSpPr/>
        <p:nvPr/>
      </p:nvGrpSpPr>
      <p:grpSpPr>
        <a:xfrm>
          <a:off x="0" y="0"/>
          <a:ext cx="0" cy="0"/>
          <a:chOff x="0" y="0"/>
          <a:chExt cx="0" cy="0"/>
        </a:xfrm>
      </p:grpSpPr>
      <p:grpSp>
        <p:nvGrpSpPr>
          <p:cNvPr id="3" name="组合 2"/>
          <p:cNvGrpSpPr/>
          <p:nvPr/>
        </p:nvGrpSpPr>
        <p:grpSpPr>
          <a:xfrm>
            <a:off x="3329701" y="691898"/>
            <a:ext cx="2484599" cy="34279"/>
            <a:chOff x="1198662" y="-603448"/>
            <a:chExt cx="4188175" cy="72008"/>
          </a:xfrm>
        </p:grpSpPr>
        <p:sp>
          <p:nvSpPr>
            <p:cNvPr id="4" name="矩形 3"/>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矩形 1"/>
          <p:cNvSpPr/>
          <p:nvPr/>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8D4214A4-CC29-49CA-88C6-9CB466401618}"/>
              </a:ext>
            </a:extLst>
          </p:cNvPr>
          <p:cNvGrpSpPr/>
          <p:nvPr userDrawn="1"/>
        </p:nvGrpSpPr>
        <p:grpSpPr>
          <a:xfrm>
            <a:off x="3329701" y="691898"/>
            <a:ext cx="2484599" cy="34279"/>
            <a:chOff x="1198662" y="-603448"/>
            <a:chExt cx="4188175" cy="72008"/>
          </a:xfrm>
        </p:grpSpPr>
        <p:sp>
          <p:nvSpPr>
            <p:cNvPr id="11" name="矩形 10">
              <a:extLst>
                <a:ext uri="{FF2B5EF4-FFF2-40B4-BE49-F238E27FC236}">
                  <a16:creationId xmlns:a16="http://schemas.microsoft.com/office/drawing/2014/main" id="{E57375C0-826E-4EB3-B8CB-6D84F70B4CE7}"/>
                </a:ext>
              </a:extLst>
            </p:cNvPr>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a:extLst>
                <a:ext uri="{FF2B5EF4-FFF2-40B4-BE49-F238E27FC236}">
                  <a16:creationId xmlns:a16="http://schemas.microsoft.com/office/drawing/2014/main" id="{64594317-1EE8-4F70-A47D-EC9BA20A1CD5}"/>
                </a:ext>
              </a:extLst>
            </p:cNvPr>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a:extLst>
                <a:ext uri="{FF2B5EF4-FFF2-40B4-BE49-F238E27FC236}">
                  <a16:creationId xmlns:a16="http://schemas.microsoft.com/office/drawing/2014/main" id="{E16B281D-8116-4C4E-A4D2-0E5788EA0744}"/>
                </a:ext>
              </a:extLst>
            </p:cNvPr>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a:extLst>
                <a:ext uri="{FF2B5EF4-FFF2-40B4-BE49-F238E27FC236}">
                  <a16:creationId xmlns:a16="http://schemas.microsoft.com/office/drawing/2014/main" id="{7DCCF03A-9D05-4BCB-A5F7-14E9BC01259A}"/>
                </a:ext>
              </a:extLst>
            </p:cNvPr>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a:extLst>
                <a:ext uri="{FF2B5EF4-FFF2-40B4-BE49-F238E27FC236}">
                  <a16:creationId xmlns:a16="http://schemas.microsoft.com/office/drawing/2014/main" id="{EDCBA3E5-F380-4B10-BA4A-7D71D428C75E}"/>
                </a:ext>
              </a:extLst>
            </p:cNvPr>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6" name="矩形 15">
            <a:extLst>
              <a:ext uri="{FF2B5EF4-FFF2-40B4-BE49-F238E27FC236}">
                <a16:creationId xmlns:a16="http://schemas.microsoft.com/office/drawing/2014/main" id="{2265230D-89C3-41E3-8045-201ED8ED3AA8}"/>
              </a:ext>
            </a:extLst>
          </p:cNvPr>
          <p:cNvSpPr/>
          <p:nvPr userDrawn="1"/>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4275328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grpSp>
        <p:nvGrpSpPr>
          <p:cNvPr id="3" name="组合 2"/>
          <p:cNvGrpSpPr/>
          <p:nvPr userDrawn="1"/>
        </p:nvGrpSpPr>
        <p:grpSpPr>
          <a:xfrm>
            <a:off x="3329701" y="691898"/>
            <a:ext cx="2484599" cy="34279"/>
            <a:chOff x="1198662" y="-603448"/>
            <a:chExt cx="4188175" cy="72008"/>
          </a:xfrm>
        </p:grpSpPr>
        <p:sp>
          <p:nvSpPr>
            <p:cNvPr id="4" name="矩形 3"/>
            <p:cNvSpPr/>
            <p:nvPr/>
          </p:nvSpPr>
          <p:spPr>
            <a:xfrm>
              <a:off x="1198662" y="-603448"/>
              <a:ext cx="837635" cy="72008"/>
            </a:xfrm>
            <a:prstGeom prst="rect">
              <a:avLst/>
            </a:prstGeom>
            <a:solidFill>
              <a:srgbClr val="FFA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2036297" y="-603448"/>
              <a:ext cx="837635" cy="72008"/>
            </a:xfrm>
            <a:prstGeom prst="rect">
              <a:avLst/>
            </a:prstGeom>
            <a:solidFill>
              <a:srgbClr val="DF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p:nvSpPr>
          <p:spPr>
            <a:xfrm>
              <a:off x="2873932" y="-603448"/>
              <a:ext cx="837635" cy="72008"/>
            </a:xfrm>
            <a:prstGeom prst="rect">
              <a:avLst/>
            </a:prstGeom>
            <a:solidFill>
              <a:srgbClr val="49C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3711567" y="-603448"/>
              <a:ext cx="837635" cy="72008"/>
            </a:xfrm>
            <a:prstGeom prst="rect">
              <a:avLst/>
            </a:prstGeom>
            <a:solidFill>
              <a:srgbClr val="3BA9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4549202" y="-603448"/>
              <a:ext cx="837635" cy="72008"/>
            </a:xfrm>
            <a:prstGeom prst="rect">
              <a:avLst/>
            </a:prstGeom>
            <a:solidFill>
              <a:srgbClr val="9DCB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矩形 1"/>
          <p:cNvSpPr/>
          <p:nvPr userDrawn="1"/>
        </p:nvSpPr>
        <p:spPr>
          <a:xfrm>
            <a:off x="0" y="951277"/>
            <a:ext cx="9144000" cy="3725264"/>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1135096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15"/>
            <a:ext cx="8229600" cy="85698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199780"/>
            <a:ext cx="8229600" cy="3393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5792"/>
            <a:ext cx="2133600" cy="273759"/>
          </a:xfrm>
          <a:prstGeom prst="rect">
            <a:avLst/>
          </a:prstGeom>
        </p:spPr>
        <p:txBody>
          <a:bodyPr vert="horz" lIns="91440" tIns="45720" rIns="91440" bIns="45720" rtlCol="0" anchor="ctr"/>
          <a:lstStyle>
            <a:lvl1pPr algn="l">
              <a:defRPr sz="1200">
                <a:solidFill>
                  <a:schemeClr val="tx1">
                    <a:tint val="75000"/>
                  </a:schemeClr>
                </a:solidFill>
              </a:defRPr>
            </a:lvl1pPr>
          </a:lstStyle>
          <a:p>
            <a:fld id="{B65C0B0F-957D-4B21-995C-671B925970BC}" type="datetimeFigureOut">
              <a:rPr lang="zh-CN" altLang="en-US" smtClean="0"/>
              <a:t>2024/10/28</a:t>
            </a:fld>
            <a:endParaRPr lang="zh-CN" altLang="en-US"/>
          </a:p>
        </p:txBody>
      </p:sp>
      <p:sp>
        <p:nvSpPr>
          <p:cNvPr id="5" name="页脚占位符 4"/>
          <p:cNvSpPr>
            <a:spLocks noGrp="1"/>
          </p:cNvSpPr>
          <p:nvPr>
            <p:ph type="ftr" sz="quarter" idx="3"/>
          </p:nvPr>
        </p:nvSpPr>
        <p:spPr>
          <a:xfrm>
            <a:off x="3124200" y="4765792"/>
            <a:ext cx="2895600" cy="27375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5792"/>
            <a:ext cx="2133600" cy="273759"/>
          </a:xfrm>
          <a:prstGeom prst="rect">
            <a:avLst/>
          </a:prstGeom>
        </p:spPr>
        <p:txBody>
          <a:bodyPr vert="horz" lIns="91440" tIns="45720" rIns="91440" bIns="45720" rtlCol="0" anchor="ctr"/>
          <a:lstStyle>
            <a:lvl1pPr algn="r">
              <a:defRPr sz="1200">
                <a:solidFill>
                  <a:schemeClr val="tx1">
                    <a:tint val="75000"/>
                  </a:schemeClr>
                </a:solidFill>
              </a:defRPr>
            </a:lvl1pPr>
          </a:lstStyle>
          <a:p>
            <a:fld id="{4A86CF50-A36E-4027-A15B-F18594CC304E}" type="slidenum">
              <a:rPr lang="zh-CN" altLang="en-US" smtClean="0"/>
              <a:t>‹#›</a:t>
            </a:fld>
            <a:endParaRPr lang="zh-CN" altLang="en-US"/>
          </a:p>
        </p:txBody>
      </p:sp>
    </p:spTree>
    <p:extLst>
      <p:ext uri="{BB962C8B-B14F-4D97-AF65-F5344CB8AC3E}">
        <p14:creationId xmlns:p14="http://schemas.microsoft.com/office/powerpoint/2010/main" val="19566823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70"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exi@cuit.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19.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40015" y="36824"/>
            <a:ext cx="2202140" cy="5088830"/>
            <a:chOff x="0" y="70798"/>
            <a:chExt cx="2937093" cy="6787202"/>
          </a:xfrm>
        </p:grpSpPr>
        <p:sp>
          <p:nvSpPr>
            <p:cNvPr id="2" name="矩形 1"/>
            <p:cNvSpPr/>
            <p:nvPr/>
          </p:nvSpPr>
          <p:spPr>
            <a:xfrm>
              <a:off x="0" y="4875301"/>
              <a:ext cx="2446986" cy="1982699"/>
            </a:xfrm>
            <a:prstGeom prst="rect">
              <a:avLst/>
            </a:prstGeom>
            <a:solidFill>
              <a:schemeClr val="bg1">
                <a:alpha val="0"/>
              </a:schemeClr>
            </a:solidFill>
            <a:ln w="57150">
              <a:solidFill>
                <a:srgbClr val="00AF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矩形 23"/>
            <p:cNvSpPr/>
            <p:nvPr/>
          </p:nvSpPr>
          <p:spPr>
            <a:xfrm>
              <a:off x="490107" y="70798"/>
              <a:ext cx="2446986" cy="2150771"/>
            </a:xfrm>
            <a:prstGeom prst="rect">
              <a:avLst/>
            </a:prstGeom>
            <a:solidFill>
              <a:schemeClr val="bg1">
                <a:alpha val="0"/>
              </a:schemeClr>
            </a:solidFill>
            <a:ln w="57150">
              <a:solidFill>
                <a:srgbClr val="E870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矩形 24"/>
            <p:cNvSpPr/>
            <p:nvPr/>
          </p:nvSpPr>
          <p:spPr>
            <a:xfrm>
              <a:off x="490107" y="3582522"/>
              <a:ext cx="2446986" cy="1982699"/>
            </a:xfrm>
            <a:prstGeom prst="rect">
              <a:avLst/>
            </a:prstGeom>
            <a:solidFill>
              <a:srgbClr val="FFB850">
                <a:alpha val="0"/>
              </a:srgbClr>
            </a:solidFill>
            <a:ln w="57150">
              <a:solidFill>
                <a:srgbClr val="FFB8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矩形 25"/>
            <p:cNvSpPr/>
            <p:nvPr/>
          </p:nvSpPr>
          <p:spPr>
            <a:xfrm>
              <a:off x="0" y="1961633"/>
              <a:ext cx="2446986" cy="2150771"/>
            </a:xfrm>
            <a:prstGeom prst="rect">
              <a:avLst/>
            </a:prstGeom>
            <a:solidFill>
              <a:schemeClr val="bg1">
                <a:alpha val="0"/>
              </a:schemeClr>
            </a:solidFill>
            <a:ln w="57150">
              <a:solidFill>
                <a:srgbClr val="01A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4" name="组合 3"/>
          <p:cNvGrpSpPr/>
          <p:nvPr/>
        </p:nvGrpSpPr>
        <p:grpSpPr>
          <a:xfrm>
            <a:off x="7868933" y="34639"/>
            <a:ext cx="2202140" cy="5088830"/>
            <a:chOff x="9178140" y="0"/>
            <a:chExt cx="2937093" cy="6787202"/>
          </a:xfrm>
        </p:grpSpPr>
        <p:sp>
          <p:nvSpPr>
            <p:cNvPr id="28" name="矩形 27"/>
            <p:cNvSpPr/>
            <p:nvPr/>
          </p:nvSpPr>
          <p:spPr>
            <a:xfrm>
              <a:off x="9178140" y="4804503"/>
              <a:ext cx="2446986" cy="1982699"/>
            </a:xfrm>
            <a:prstGeom prst="rect">
              <a:avLst/>
            </a:prstGeom>
            <a:solidFill>
              <a:srgbClr val="E87071">
                <a:alpha val="0"/>
              </a:srgbClr>
            </a:solidFill>
            <a:ln w="57150">
              <a:solidFill>
                <a:srgbClr val="E870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矩形 28"/>
            <p:cNvSpPr/>
            <p:nvPr/>
          </p:nvSpPr>
          <p:spPr>
            <a:xfrm>
              <a:off x="9668247" y="0"/>
              <a:ext cx="2446986" cy="2150771"/>
            </a:xfrm>
            <a:prstGeom prst="rect">
              <a:avLst/>
            </a:prstGeom>
            <a:solidFill>
              <a:schemeClr val="bg1">
                <a:alpha val="0"/>
              </a:schemeClr>
            </a:solidFill>
            <a:ln w="57150">
              <a:solidFill>
                <a:srgbClr val="00AF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矩形 29"/>
            <p:cNvSpPr/>
            <p:nvPr/>
          </p:nvSpPr>
          <p:spPr>
            <a:xfrm>
              <a:off x="9668247" y="3511724"/>
              <a:ext cx="2446986" cy="1982699"/>
            </a:xfrm>
            <a:prstGeom prst="rect">
              <a:avLst/>
            </a:prstGeom>
            <a:solidFill>
              <a:schemeClr val="bg1">
                <a:alpha val="0"/>
              </a:schemeClr>
            </a:solidFill>
            <a:ln w="57150">
              <a:solidFill>
                <a:srgbClr val="01A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矩形 30"/>
            <p:cNvSpPr/>
            <p:nvPr/>
          </p:nvSpPr>
          <p:spPr>
            <a:xfrm>
              <a:off x="9178140" y="1890835"/>
              <a:ext cx="2446986" cy="2150771"/>
            </a:xfrm>
            <a:prstGeom prst="rect">
              <a:avLst/>
            </a:prstGeom>
            <a:solidFill>
              <a:schemeClr val="bg1">
                <a:alpha val="0"/>
              </a:schemeClr>
            </a:solidFill>
            <a:ln w="57150">
              <a:solidFill>
                <a:srgbClr val="FFB8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5" name="文本框 4"/>
          <p:cNvSpPr txBox="1"/>
          <p:nvPr/>
        </p:nvSpPr>
        <p:spPr>
          <a:xfrm>
            <a:off x="1907704" y="1702304"/>
            <a:ext cx="5688632" cy="3046988"/>
          </a:xfrm>
          <a:prstGeom prst="rect">
            <a:avLst/>
          </a:prstGeom>
          <a:noFill/>
        </p:spPr>
        <p:txBody>
          <a:bodyPr wrap="square" rtlCol="0">
            <a:spAutoFit/>
          </a:bodyPr>
          <a:lstStyle/>
          <a:p>
            <a:pPr algn="ctr"/>
            <a:r>
              <a:rPr lang="zh-CN" altLang="en-US" sz="3600" b="1" dirty="0">
                <a:latin typeface="+mn-ea"/>
              </a:rPr>
              <a:t>机器学习</a:t>
            </a:r>
            <a:endParaRPr lang="en-US" altLang="zh-CN" sz="3600" b="1" dirty="0">
              <a:latin typeface="+mn-ea"/>
            </a:endParaRPr>
          </a:p>
          <a:p>
            <a:pPr algn="ctr"/>
            <a:r>
              <a:rPr lang="en-US" altLang="zh-CN" sz="3600" b="1" dirty="0">
                <a:latin typeface="+mn-ea"/>
              </a:rPr>
              <a:t>--</a:t>
            </a:r>
            <a:r>
              <a:rPr lang="zh-CN" altLang="en-US" sz="3600" b="1" dirty="0">
                <a:latin typeface="+mn-ea"/>
              </a:rPr>
              <a:t>第</a:t>
            </a:r>
            <a:r>
              <a:rPr lang="en-US" altLang="zh-CN" sz="3600" b="1" dirty="0">
                <a:latin typeface="+mn-ea"/>
              </a:rPr>
              <a:t>4</a:t>
            </a:r>
            <a:r>
              <a:rPr lang="zh-CN" altLang="en-US" sz="3600" b="1" dirty="0">
                <a:latin typeface="+mn-ea"/>
              </a:rPr>
              <a:t>章 线性回归算法</a:t>
            </a:r>
            <a:endParaRPr lang="en-US" altLang="zh-CN" sz="3600" b="1" dirty="0">
              <a:latin typeface="+mn-ea"/>
            </a:endParaRPr>
          </a:p>
          <a:p>
            <a:pPr algn="ctr"/>
            <a:endParaRPr lang="en-US" altLang="zh-CN" sz="3600" b="1" dirty="0">
              <a:latin typeface="+mn-ea"/>
            </a:endParaRPr>
          </a:p>
          <a:p>
            <a:pPr algn="ctr"/>
            <a:r>
              <a:rPr lang="zh-CN" altLang="en-US" sz="2800" dirty="0">
                <a:solidFill>
                  <a:schemeClr val="tx1"/>
                </a:solidFill>
              </a:rPr>
              <a:t>授课教师：徐浩</a:t>
            </a:r>
            <a:endParaRPr lang="en-US" altLang="zh-CN" sz="2800" dirty="0">
              <a:solidFill>
                <a:schemeClr val="tx1"/>
              </a:solidFill>
            </a:endParaRPr>
          </a:p>
          <a:p>
            <a:pPr algn="ctr"/>
            <a:r>
              <a:rPr lang="en-US" altLang="zh-CN" sz="2800" dirty="0">
                <a:solidFill>
                  <a:schemeClr val="tx1"/>
                </a:solidFill>
              </a:rPr>
              <a:t>Mail</a:t>
            </a:r>
            <a:r>
              <a:rPr lang="zh-CN" altLang="en-US" sz="2800" dirty="0">
                <a:solidFill>
                  <a:schemeClr val="tx1"/>
                </a:solidFill>
              </a:rPr>
              <a:t>：</a:t>
            </a:r>
            <a:r>
              <a:rPr lang="en-US" altLang="zh-CN" sz="2800" dirty="0"/>
              <a:t>xuhao</a:t>
            </a:r>
            <a:r>
              <a:rPr lang="en-US" altLang="zh-CN" sz="2800" dirty="0">
                <a:solidFill>
                  <a:schemeClr val="tx1"/>
                </a:solidFill>
                <a:hlinkClick r:id="rId3"/>
              </a:rPr>
              <a:t>@cuit.edu.cn</a:t>
            </a:r>
            <a:endParaRPr lang="en-US" altLang="zh-CN" sz="2800" dirty="0">
              <a:solidFill>
                <a:schemeClr val="tx1"/>
              </a:solidFill>
            </a:endParaRPr>
          </a:p>
          <a:p>
            <a:pPr algn="ctr"/>
            <a:r>
              <a:rPr lang="en-US" altLang="zh-CN" sz="2800" dirty="0">
                <a:solidFill>
                  <a:schemeClr val="tx1"/>
                </a:solidFill>
              </a:rPr>
              <a:t>QQ:</a:t>
            </a:r>
            <a:r>
              <a:rPr lang="en-US" altLang="zh-CN" sz="2800" dirty="0"/>
              <a:t>249851191</a:t>
            </a:r>
            <a:endParaRPr lang="zh-CN" altLang="en-US" sz="2800" dirty="0">
              <a:solidFill>
                <a:schemeClr val="tx1"/>
              </a:solidFill>
            </a:endParaRP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52227" y="304621"/>
            <a:ext cx="3523613" cy="638440"/>
          </a:xfrm>
          <a:prstGeom prst="rect">
            <a:avLst/>
          </a:prstGeom>
        </p:spPr>
      </p:pic>
    </p:spTree>
    <p:extLst>
      <p:ext uri="{BB962C8B-B14F-4D97-AF65-F5344CB8AC3E}">
        <p14:creationId xmlns:p14="http://schemas.microsoft.com/office/powerpoint/2010/main" val="3737404336"/>
      </p:ext>
    </p:extLst>
  </p:cSld>
  <p:clrMapOvr>
    <a:masterClrMapping/>
  </p:clrMapOvr>
  <mc:AlternateContent xmlns:mc="http://schemas.openxmlformats.org/markup-compatibility/2006" xmlns:p14="http://schemas.microsoft.com/office/powerpoint/2010/main">
    <mc:Choice Requires="p14">
      <p:transition spd="slow" p14:dur="1600" advTm="1747">
        <p:blinds dir="vert"/>
      </p:transition>
    </mc:Choice>
    <mc:Fallback xmlns="">
      <p:transition spd="slow" advTm="1747">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B8159409-A503-4442-9F2E-FE91B1E7750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9" name="文本框 8">
            <a:extLst>
              <a:ext uri="{FF2B5EF4-FFF2-40B4-BE49-F238E27FC236}">
                <a16:creationId xmlns:a16="http://schemas.microsoft.com/office/drawing/2014/main" id="{99B87FD3-9A6B-578F-ABB9-D6F879134FAF}"/>
              </a:ext>
            </a:extLst>
          </p:cNvPr>
          <p:cNvSpPr txBox="1"/>
          <p:nvPr/>
        </p:nvSpPr>
        <p:spPr>
          <a:xfrm>
            <a:off x="755576" y="1399834"/>
            <a:ext cx="7200800" cy="2799100"/>
          </a:xfrm>
          <a:prstGeom prst="rect">
            <a:avLst/>
          </a:prstGeom>
          <a:noFill/>
        </p:spPr>
        <p:txBody>
          <a:bodyPr wrap="square">
            <a:spAutoFit/>
          </a:bodyPr>
          <a:lstStyle/>
          <a:p>
            <a:pPr>
              <a:lnSpc>
                <a:spcPct val="150000"/>
              </a:lnSpc>
            </a:pPr>
            <a:r>
              <a:rPr lang="zh-CN" altLang="en-US" sz="2400" dirty="0"/>
              <a:t>         线性回归是一种基于数学模型的算法，其首先假设数据集中的样本与标签之间存在</a:t>
            </a:r>
            <a:r>
              <a:rPr lang="zh-CN" altLang="en-US" sz="2400" dirty="0">
                <a:solidFill>
                  <a:srgbClr val="FF0000"/>
                </a:solidFill>
              </a:rPr>
              <a:t>线性关系</a:t>
            </a:r>
            <a:r>
              <a:rPr lang="zh-CN" altLang="en-US" sz="2400" dirty="0"/>
              <a:t>，再建立线性模型求解该关系中的各个参数。在实际生活中，线性回归算法因为其简单易算，在统计学、经济学、天文学、物理学等领域中都有着广泛应用。</a:t>
            </a:r>
          </a:p>
        </p:txBody>
      </p:sp>
    </p:spTree>
    <p:extLst>
      <p:ext uri="{BB962C8B-B14F-4D97-AF65-F5344CB8AC3E}">
        <p14:creationId xmlns:p14="http://schemas.microsoft.com/office/powerpoint/2010/main" val="162720721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44563-C5B2-9A8C-8C95-7A36A876440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DA4C736D-9F0C-C040-1630-7277B58D23E9}"/>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64E4F366-A3FC-C00F-34C1-4F208B5CF2EC}"/>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2780DA29-252C-3A7D-6F77-D34EE5D4261D}"/>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406F027F-2A68-8FEB-3031-2905330E00C3}"/>
              </a:ext>
            </a:extLst>
          </p:cNvPr>
          <p:cNvSpPr txBox="1"/>
          <p:nvPr/>
        </p:nvSpPr>
        <p:spPr>
          <a:xfrm>
            <a:off x="459852" y="1173646"/>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一、线性回归的映射形式和学习目标</a:t>
            </a:r>
          </a:p>
        </p:txBody>
      </p:sp>
      <p:pic>
        <p:nvPicPr>
          <p:cNvPr id="10" name="图片 9">
            <a:extLst>
              <a:ext uri="{FF2B5EF4-FFF2-40B4-BE49-F238E27FC236}">
                <a16:creationId xmlns:a16="http://schemas.microsoft.com/office/drawing/2014/main" id="{480AD090-1AEB-AE6F-E048-A39253DC64A8}"/>
              </a:ext>
            </a:extLst>
          </p:cNvPr>
          <p:cNvPicPr>
            <a:picLocks noChangeAspect="1"/>
          </p:cNvPicPr>
          <p:nvPr/>
        </p:nvPicPr>
        <p:blipFill>
          <a:blip r:embed="rId4"/>
          <a:stretch>
            <a:fillRect/>
          </a:stretch>
        </p:blipFill>
        <p:spPr>
          <a:xfrm>
            <a:off x="201551" y="1994892"/>
            <a:ext cx="8740897" cy="2423370"/>
          </a:xfrm>
          <a:prstGeom prst="rect">
            <a:avLst/>
          </a:prstGeom>
        </p:spPr>
      </p:pic>
    </p:spTree>
    <p:extLst>
      <p:ext uri="{BB962C8B-B14F-4D97-AF65-F5344CB8AC3E}">
        <p14:creationId xmlns:p14="http://schemas.microsoft.com/office/powerpoint/2010/main" val="358454251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3AFD-BA5D-9112-772F-094201D25243}"/>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4F4B9BB4-B4C0-4107-8F66-690F1F97EFD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D9DD8505-74C6-700F-6A92-842FF0A0D01E}"/>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0291466B-876D-042C-6897-9939DC86C87A}"/>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264D4BD7-EC13-952F-CB1D-614001103767}"/>
              </a:ext>
            </a:extLst>
          </p:cNvPr>
          <p:cNvSpPr txBox="1"/>
          <p:nvPr/>
        </p:nvSpPr>
        <p:spPr>
          <a:xfrm>
            <a:off x="459852" y="1173646"/>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一、线性回归的映射形式和学习目标</a:t>
            </a:r>
          </a:p>
        </p:txBody>
      </p:sp>
      <p:pic>
        <p:nvPicPr>
          <p:cNvPr id="4" name="图片 3">
            <a:extLst>
              <a:ext uri="{FF2B5EF4-FFF2-40B4-BE49-F238E27FC236}">
                <a16:creationId xmlns:a16="http://schemas.microsoft.com/office/drawing/2014/main" id="{6AAF345F-DC13-73EE-ABF6-53D1C3416D0E}"/>
              </a:ext>
            </a:extLst>
          </p:cNvPr>
          <p:cNvPicPr>
            <a:picLocks noChangeAspect="1"/>
          </p:cNvPicPr>
          <p:nvPr/>
        </p:nvPicPr>
        <p:blipFill>
          <a:blip r:embed="rId4"/>
          <a:stretch>
            <a:fillRect/>
          </a:stretch>
        </p:blipFill>
        <p:spPr>
          <a:xfrm>
            <a:off x="251520" y="2141623"/>
            <a:ext cx="6696744" cy="2575671"/>
          </a:xfrm>
          <a:prstGeom prst="rect">
            <a:avLst/>
          </a:prstGeom>
        </p:spPr>
      </p:pic>
      <p:sp>
        <p:nvSpPr>
          <p:cNvPr id="7" name="文本框 6">
            <a:extLst>
              <a:ext uri="{FF2B5EF4-FFF2-40B4-BE49-F238E27FC236}">
                <a16:creationId xmlns:a16="http://schemas.microsoft.com/office/drawing/2014/main" id="{B245D6FA-897E-B8A0-1EE5-F310B228F16A}"/>
              </a:ext>
            </a:extLst>
          </p:cNvPr>
          <p:cNvSpPr txBox="1"/>
          <p:nvPr/>
        </p:nvSpPr>
        <p:spPr>
          <a:xfrm>
            <a:off x="1115616" y="1721481"/>
            <a:ext cx="5166360" cy="369332"/>
          </a:xfrm>
          <a:prstGeom prst="rect">
            <a:avLst/>
          </a:prstGeom>
          <a:noFill/>
        </p:spPr>
        <p:txBody>
          <a:bodyPr wrap="square">
            <a:spAutoFit/>
          </a:bodyPr>
          <a:lstStyle/>
          <a:p>
            <a:r>
              <a:rPr lang="zh-CN" altLang="en-US" dirty="0"/>
              <a:t>一维和二维输入特征的线性模型</a:t>
            </a:r>
          </a:p>
        </p:txBody>
      </p:sp>
      <p:sp>
        <p:nvSpPr>
          <p:cNvPr id="9" name="文本框 8">
            <a:extLst>
              <a:ext uri="{FF2B5EF4-FFF2-40B4-BE49-F238E27FC236}">
                <a16:creationId xmlns:a16="http://schemas.microsoft.com/office/drawing/2014/main" id="{08C56110-7C18-4D2F-325B-5EAF485EBBF4}"/>
              </a:ext>
            </a:extLst>
          </p:cNvPr>
          <p:cNvSpPr txBox="1"/>
          <p:nvPr/>
        </p:nvSpPr>
        <p:spPr>
          <a:xfrm>
            <a:off x="7020272" y="2282924"/>
            <a:ext cx="1665372" cy="2031325"/>
          </a:xfrm>
          <a:prstGeom prst="rect">
            <a:avLst/>
          </a:prstGeom>
          <a:noFill/>
        </p:spPr>
        <p:txBody>
          <a:bodyPr wrap="square">
            <a:spAutoFit/>
          </a:bodyPr>
          <a:lstStyle/>
          <a:p>
            <a:r>
              <a:rPr lang="zh-CN" altLang="en-US" dirty="0"/>
              <a:t>图片展示了输入特征是一维和二维情况下的数据点和线性回归模型拟合的结果，</a:t>
            </a:r>
            <a:r>
              <a:rPr lang="zh-CN" altLang="en-US" dirty="0">
                <a:solidFill>
                  <a:srgbClr val="FF0000"/>
                </a:solidFill>
                <a:highlight>
                  <a:srgbClr val="FFFF00"/>
                </a:highlight>
              </a:rPr>
              <a:t>虚线代表什么</a:t>
            </a:r>
            <a:r>
              <a:rPr lang="zh-CN" altLang="en-US" dirty="0"/>
              <a:t>？</a:t>
            </a:r>
          </a:p>
        </p:txBody>
      </p:sp>
    </p:spTree>
    <p:extLst>
      <p:ext uri="{BB962C8B-B14F-4D97-AF65-F5344CB8AC3E}">
        <p14:creationId xmlns:p14="http://schemas.microsoft.com/office/powerpoint/2010/main" val="1076812513"/>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56AD-3888-947A-D820-4250AB5C2847}"/>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21B3341E-437B-BA22-2871-937613B2251C}"/>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897B69A8-6C13-25BC-D9FB-EB60A1E16692}"/>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F0A2670D-D849-F3C9-1011-C9EC0F189DC6}"/>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A273DD62-0C6C-4FC2-665C-F5993D2A18D5}"/>
              </a:ext>
            </a:extLst>
          </p:cNvPr>
          <p:cNvSpPr txBox="1"/>
          <p:nvPr/>
        </p:nvSpPr>
        <p:spPr>
          <a:xfrm>
            <a:off x="459852" y="1173646"/>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一、线性回归的映射形式和学习目标</a:t>
            </a:r>
          </a:p>
        </p:txBody>
      </p:sp>
      <p:pic>
        <p:nvPicPr>
          <p:cNvPr id="11" name="图片 10">
            <a:extLst>
              <a:ext uri="{FF2B5EF4-FFF2-40B4-BE49-F238E27FC236}">
                <a16:creationId xmlns:a16="http://schemas.microsoft.com/office/drawing/2014/main" id="{B7968141-AF32-9781-3E0F-2BB79D3F6953}"/>
              </a:ext>
            </a:extLst>
          </p:cNvPr>
          <p:cNvPicPr>
            <a:picLocks noChangeAspect="1"/>
          </p:cNvPicPr>
          <p:nvPr/>
        </p:nvPicPr>
        <p:blipFill>
          <a:blip r:embed="rId4"/>
          <a:stretch>
            <a:fillRect/>
          </a:stretch>
        </p:blipFill>
        <p:spPr>
          <a:xfrm>
            <a:off x="273947" y="1635311"/>
            <a:ext cx="8596105" cy="3475021"/>
          </a:xfrm>
          <a:prstGeom prst="rect">
            <a:avLst/>
          </a:prstGeom>
        </p:spPr>
      </p:pic>
    </p:spTree>
    <p:extLst>
      <p:ext uri="{BB962C8B-B14F-4D97-AF65-F5344CB8AC3E}">
        <p14:creationId xmlns:p14="http://schemas.microsoft.com/office/powerpoint/2010/main" val="248293968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240E-5DEB-60B7-0EE2-859E96151C04}"/>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C709FDA9-6C86-2176-D5BD-7EFB6D08EF21}"/>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B6CD0B80-139A-96B6-B424-763B6BCDCA65}"/>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543FB252-5C36-5594-CD20-1F2FC3D3AAEB}"/>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50D990C1-9C6C-2182-BC90-3C6E97F53251}"/>
              </a:ext>
            </a:extLst>
          </p:cNvPr>
          <p:cNvSpPr txBox="1"/>
          <p:nvPr/>
        </p:nvSpPr>
        <p:spPr>
          <a:xfrm>
            <a:off x="459852" y="1173646"/>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一、线性回归的映射形式和学习目标</a:t>
            </a:r>
          </a:p>
        </p:txBody>
      </p:sp>
      <p:pic>
        <p:nvPicPr>
          <p:cNvPr id="10" name="图片 9">
            <a:extLst>
              <a:ext uri="{FF2B5EF4-FFF2-40B4-BE49-F238E27FC236}">
                <a16:creationId xmlns:a16="http://schemas.microsoft.com/office/drawing/2014/main" id="{B268B627-62AE-92BB-AD09-396E2669A493}"/>
              </a:ext>
            </a:extLst>
          </p:cNvPr>
          <p:cNvPicPr>
            <a:picLocks noChangeAspect="1"/>
          </p:cNvPicPr>
          <p:nvPr/>
        </p:nvPicPr>
        <p:blipFill>
          <a:blip r:embed="rId4"/>
          <a:stretch>
            <a:fillRect/>
          </a:stretch>
        </p:blipFill>
        <p:spPr>
          <a:xfrm>
            <a:off x="174879" y="1637929"/>
            <a:ext cx="8794242" cy="3299746"/>
          </a:xfrm>
          <a:prstGeom prst="rect">
            <a:avLst/>
          </a:prstGeom>
        </p:spPr>
      </p:pic>
    </p:spTree>
    <p:extLst>
      <p:ext uri="{BB962C8B-B14F-4D97-AF65-F5344CB8AC3E}">
        <p14:creationId xmlns:p14="http://schemas.microsoft.com/office/powerpoint/2010/main" val="401131187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90B12-DE62-A2D2-DC68-629CB51475E2}"/>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BBA5C9FD-B30A-C23A-F9FA-89D39DA7973A}"/>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7D511886-DF67-A05E-1B9F-76217FF7986D}"/>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B748E30B-43FA-8B4F-0583-89837E3D04A8}"/>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553A16D7-437E-56C5-0040-69C188D037EB}"/>
              </a:ext>
            </a:extLst>
          </p:cNvPr>
          <p:cNvSpPr txBox="1"/>
          <p:nvPr/>
        </p:nvSpPr>
        <p:spPr>
          <a:xfrm>
            <a:off x="432016" y="928674"/>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一、线性回归的映射形式和学习目标</a:t>
            </a:r>
          </a:p>
        </p:txBody>
      </p:sp>
      <p:pic>
        <p:nvPicPr>
          <p:cNvPr id="13" name="图片 12">
            <a:extLst>
              <a:ext uri="{FF2B5EF4-FFF2-40B4-BE49-F238E27FC236}">
                <a16:creationId xmlns:a16="http://schemas.microsoft.com/office/drawing/2014/main" id="{47183976-1392-7EEF-62F8-5C0747293882}"/>
              </a:ext>
            </a:extLst>
          </p:cNvPr>
          <p:cNvPicPr>
            <a:picLocks noChangeAspect="1"/>
          </p:cNvPicPr>
          <p:nvPr/>
        </p:nvPicPr>
        <p:blipFill>
          <a:blip r:embed="rId4"/>
          <a:stretch>
            <a:fillRect/>
          </a:stretch>
        </p:blipFill>
        <p:spPr>
          <a:xfrm>
            <a:off x="1813704" y="1355873"/>
            <a:ext cx="5440744" cy="3735363"/>
          </a:xfrm>
          <a:prstGeom prst="rect">
            <a:avLst/>
          </a:prstGeom>
        </p:spPr>
      </p:pic>
    </p:spTree>
    <p:extLst>
      <p:ext uri="{BB962C8B-B14F-4D97-AF65-F5344CB8AC3E}">
        <p14:creationId xmlns:p14="http://schemas.microsoft.com/office/powerpoint/2010/main" val="115291795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38A9-BED2-7BF9-ECE1-1BDA22EDC9DC}"/>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EDF7ECCD-0416-97B2-37FC-C04046610A4B}"/>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CDB1951A-8F3D-3519-274F-625DC36A2C87}"/>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13F60859-1701-FA3A-0D1E-146FA42DDF3B}"/>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E153BA77-6497-CBCA-0F92-8E9C9ECD67FF}"/>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二、线性回归的解析方法</a:t>
            </a:r>
          </a:p>
        </p:txBody>
      </p:sp>
      <p:pic>
        <p:nvPicPr>
          <p:cNvPr id="6" name="图片 5">
            <a:extLst>
              <a:ext uri="{FF2B5EF4-FFF2-40B4-BE49-F238E27FC236}">
                <a16:creationId xmlns:a16="http://schemas.microsoft.com/office/drawing/2014/main" id="{9878DC7D-2CDE-64A2-E1DF-DCBD1C2DB43B}"/>
              </a:ext>
            </a:extLst>
          </p:cNvPr>
          <p:cNvPicPr>
            <a:picLocks noChangeAspect="1"/>
          </p:cNvPicPr>
          <p:nvPr/>
        </p:nvPicPr>
        <p:blipFill>
          <a:blip r:embed="rId4"/>
          <a:stretch>
            <a:fillRect/>
          </a:stretch>
        </p:blipFill>
        <p:spPr>
          <a:xfrm>
            <a:off x="395536" y="1490836"/>
            <a:ext cx="8535140" cy="3467400"/>
          </a:xfrm>
          <a:prstGeom prst="rect">
            <a:avLst/>
          </a:prstGeom>
        </p:spPr>
      </p:pic>
      <p:sp>
        <p:nvSpPr>
          <p:cNvPr id="8" name="文本框 7">
            <a:extLst>
              <a:ext uri="{FF2B5EF4-FFF2-40B4-BE49-F238E27FC236}">
                <a16:creationId xmlns:a16="http://schemas.microsoft.com/office/drawing/2014/main" id="{C42C4D00-BAE6-FCFB-9A71-BF344D1F793D}"/>
              </a:ext>
            </a:extLst>
          </p:cNvPr>
          <p:cNvSpPr txBox="1"/>
          <p:nvPr/>
        </p:nvSpPr>
        <p:spPr>
          <a:xfrm>
            <a:off x="6300192" y="4576296"/>
            <a:ext cx="2592288" cy="307777"/>
          </a:xfrm>
          <a:prstGeom prst="rect">
            <a:avLst/>
          </a:prstGeom>
          <a:noFill/>
        </p:spPr>
        <p:txBody>
          <a:bodyPr wrap="square">
            <a:spAutoFit/>
          </a:bodyPr>
          <a:lstStyle/>
          <a:p>
            <a:pPr algn="l"/>
            <a:r>
              <a:rPr lang="zh-CN" altLang="en-US" sz="1400" b="1" i="0" dirty="0">
                <a:solidFill>
                  <a:srgbClr val="FF0000"/>
                </a:solidFill>
                <a:effectLst/>
                <a:highlight>
                  <a:srgbClr val="FFFF00"/>
                </a:highlight>
                <a:latin typeface="PingFang SC"/>
              </a:rPr>
              <a:t>矩阵乘法，方便后面数学推导</a:t>
            </a:r>
          </a:p>
        </p:txBody>
      </p:sp>
      <p:pic>
        <p:nvPicPr>
          <p:cNvPr id="12" name="图片 11">
            <a:extLst>
              <a:ext uri="{FF2B5EF4-FFF2-40B4-BE49-F238E27FC236}">
                <a16:creationId xmlns:a16="http://schemas.microsoft.com/office/drawing/2014/main" id="{82D54A34-CC43-B3B9-26E5-352C5307F2EE}"/>
              </a:ext>
            </a:extLst>
          </p:cNvPr>
          <p:cNvPicPr>
            <a:picLocks noChangeAspect="1"/>
          </p:cNvPicPr>
          <p:nvPr/>
        </p:nvPicPr>
        <p:blipFill>
          <a:blip r:embed="rId5"/>
          <a:stretch>
            <a:fillRect/>
          </a:stretch>
        </p:blipFill>
        <p:spPr>
          <a:xfrm>
            <a:off x="6261996" y="3938940"/>
            <a:ext cx="2408676" cy="648489"/>
          </a:xfrm>
          <a:prstGeom prst="rect">
            <a:avLst/>
          </a:prstGeom>
        </p:spPr>
      </p:pic>
    </p:spTree>
    <p:extLst>
      <p:ext uri="{BB962C8B-B14F-4D97-AF65-F5344CB8AC3E}">
        <p14:creationId xmlns:p14="http://schemas.microsoft.com/office/powerpoint/2010/main" val="23286176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67F51-8B6F-BF0F-7647-D84AA6221C0F}"/>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C00B7B7E-19E0-46A1-AF14-5EACE3F9575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4068B719-A7B0-E14C-EE1B-E93F73F6D2AC}"/>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78BF9A61-B412-B89A-AE86-91943291E2E6}"/>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6F46F751-046B-590B-8978-5C3C0A4223A3}"/>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二、线性回归的解析方法</a:t>
            </a:r>
          </a:p>
        </p:txBody>
      </p:sp>
      <p:pic>
        <p:nvPicPr>
          <p:cNvPr id="7" name="图片 6">
            <a:extLst>
              <a:ext uri="{FF2B5EF4-FFF2-40B4-BE49-F238E27FC236}">
                <a16:creationId xmlns:a16="http://schemas.microsoft.com/office/drawing/2014/main" id="{8A25D6E7-B239-C535-9BA6-B67936B913BC}"/>
              </a:ext>
            </a:extLst>
          </p:cNvPr>
          <p:cNvPicPr>
            <a:picLocks noChangeAspect="1"/>
          </p:cNvPicPr>
          <p:nvPr/>
        </p:nvPicPr>
        <p:blipFill>
          <a:blip r:embed="rId4"/>
          <a:stretch>
            <a:fillRect/>
          </a:stretch>
        </p:blipFill>
        <p:spPr>
          <a:xfrm>
            <a:off x="827584" y="1499984"/>
            <a:ext cx="7574936" cy="3612193"/>
          </a:xfrm>
          <a:prstGeom prst="rect">
            <a:avLst/>
          </a:prstGeom>
        </p:spPr>
      </p:pic>
      <p:pic>
        <p:nvPicPr>
          <p:cNvPr id="10" name="图片 9">
            <a:extLst>
              <a:ext uri="{FF2B5EF4-FFF2-40B4-BE49-F238E27FC236}">
                <a16:creationId xmlns:a16="http://schemas.microsoft.com/office/drawing/2014/main" id="{280E0F58-BE48-FA42-796D-A7C3086E1946}"/>
              </a:ext>
            </a:extLst>
          </p:cNvPr>
          <p:cNvPicPr>
            <a:picLocks noChangeAspect="1"/>
          </p:cNvPicPr>
          <p:nvPr/>
        </p:nvPicPr>
        <p:blipFill>
          <a:blip r:embed="rId5"/>
          <a:stretch>
            <a:fillRect/>
          </a:stretch>
        </p:blipFill>
        <p:spPr>
          <a:xfrm>
            <a:off x="811600" y="2235494"/>
            <a:ext cx="3414056" cy="640135"/>
          </a:xfrm>
          <a:prstGeom prst="rect">
            <a:avLst/>
          </a:prstGeom>
        </p:spPr>
      </p:pic>
    </p:spTree>
    <p:extLst>
      <p:ext uri="{BB962C8B-B14F-4D97-AF65-F5344CB8AC3E}">
        <p14:creationId xmlns:p14="http://schemas.microsoft.com/office/powerpoint/2010/main" val="3544738696"/>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6CA6-A317-0C4D-4B31-FA4257B62EE3}"/>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4D121679-6FA6-753B-B88D-2635D752BECB}"/>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28235B34-1D39-27A1-B676-EE217F58AB3C}"/>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09210CCC-B1D1-4CDC-5ED7-6C2364A8973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3B5A8B79-23BE-A619-9606-A091D82E80ED}"/>
              </a:ext>
            </a:extLst>
          </p:cNvPr>
          <p:cNvSpPr txBox="1"/>
          <p:nvPr/>
        </p:nvSpPr>
        <p:spPr>
          <a:xfrm>
            <a:off x="459852" y="1058788"/>
            <a:ext cx="5166360" cy="461665"/>
          </a:xfrm>
          <a:prstGeom prst="rect">
            <a:avLst/>
          </a:prstGeom>
          <a:noFill/>
        </p:spPr>
        <p:txBody>
          <a:bodyPr wrap="square">
            <a:spAutoFit/>
          </a:bodyPr>
          <a:lstStyle/>
          <a:p>
            <a:pPr algn="l"/>
            <a:r>
              <a:rPr lang="zh-CN" altLang="en-US" sz="2400" b="1" dirty="0">
                <a:solidFill>
                  <a:srgbClr val="4F4F4F"/>
                </a:solidFill>
                <a:latin typeface="PingFang SC"/>
              </a:rPr>
              <a:t>补充知识：</a:t>
            </a:r>
            <a:r>
              <a:rPr lang="zh-CN" altLang="en-US" sz="2400" b="1" i="0" dirty="0">
                <a:solidFill>
                  <a:srgbClr val="4F4F4F"/>
                </a:solidFill>
                <a:effectLst/>
                <a:latin typeface="PingFang SC"/>
              </a:rPr>
              <a:t>矩阵求导</a:t>
            </a:r>
          </a:p>
        </p:txBody>
      </p:sp>
      <p:pic>
        <p:nvPicPr>
          <p:cNvPr id="6" name="图片 5">
            <a:extLst>
              <a:ext uri="{FF2B5EF4-FFF2-40B4-BE49-F238E27FC236}">
                <a16:creationId xmlns:a16="http://schemas.microsoft.com/office/drawing/2014/main" id="{8EEBFE83-0FFB-7564-FCDB-6DD2CF88BEBE}"/>
              </a:ext>
            </a:extLst>
          </p:cNvPr>
          <p:cNvPicPr>
            <a:picLocks noChangeAspect="1"/>
          </p:cNvPicPr>
          <p:nvPr/>
        </p:nvPicPr>
        <p:blipFill>
          <a:blip r:embed="rId4"/>
          <a:stretch>
            <a:fillRect/>
          </a:stretch>
        </p:blipFill>
        <p:spPr>
          <a:xfrm>
            <a:off x="864064" y="1520453"/>
            <a:ext cx="7604004" cy="3498775"/>
          </a:xfrm>
          <a:prstGeom prst="rect">
            <a:avLst/>
          </a:prstGeom>
        </p:spPr>
      </p:pic>
    </p:spTree>
    <p:extLst>
      <p:ext uri="{BB962C8B-B14F-4D97-AF65-F5344CB8AC3E}">
        <p14:creationId xmlns:p14="http://schemas.microsoft.com/office/powerpoint/2010/main" val="271130693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03E1E-92BF-A267-5BAE-55420656DF0C}"/>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FB2842E5-8063-DB82-7B3F-F31A62DA287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7F40090E-2E46-7A75-571D-734FCE4E77F2}"/>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C6E7E3C7-90E7-33B8-471E-E73CD16BBDFC}"/>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CF2EA515-9817-0C27-F052-09F84B17C063}"/>
              </a:ext>
            </a:extLst>
          </p:cNvPr>
          <p:cNvSpPr txBox="1"/>
          <p:nvPr/>
        </p:nvSpPr>
        <p:spPr>
          <a:xfrm>
            <a:off x="459852" y="1058788"/>
            <a:ext cx="5166360" cy="461665"/>
          </a:xfrm>
          <a:prstGeom prst="rect">
            <a:avLst/>
          </a:prstGeom>
          <a:noFill/>
        </p:spPr>
        <p:txBody>
          <a:bodyPr wrap="square">
            <a:spAutoFit/>
          </a:bodyPr>
          <a:lstStyle/>
          <a:p>
            <a:pPr algn="l"/>
            <a:r>
              <a:rPr lang="zh-CN" altLang="en-US" sz="2400" b="1" dirty="0">
                <a:solidFill>
                  <a:srgbClr val="4F4F4F"/>
                </a:solidFill>
                <a:latin typeface="PingFang SC"/>
              </a:rPr>
              <a:t>补充知识：</a:t>
            </a:r>
            <a:r>
              <a:rPr lang="zh-CN" altLang="en-US" sz="2400" b="1" i="0" dirty="0">
                <a:solidFill>
                  <a:srgbClr val="4F4F4F"/>
                </a:solidFill>
                <a:effectLst/>
                <a:latin typeface="PingFang SC"/>
              </a:rPr>
              <a:t>矩阵求导</a:t>
            </a:r>
          </a:p>
        </p:txBody>
      </p:sp>
      <p:pic>
        <p:nvPicPr>
          <p:cNvPr id="7" name="图片 6">
            <a:extLst>
              <a:ext uri="{FF2B5EF4-FFF2-40B4-BE49-F238E27FC236}">
                <a16:creationId xmlns:a16="http://schemas.microsoft.com/office/drawing/2014/main" id="{27011575-BEA4-71C8-979C-F7483CBE6E08}"/>
              </a:ext>
            </a:extLst>
          </p:cNvPr>
          <p:cNvPicPr>
            <a:picLocks noChangeAspect="1"/>
          </p:cNvPicPr>
          <p:nvPr/>
        </p:nvPicPr>
        <p:blipFill>
          <a:blip r:embed="rId4"/>
          <a:stretch>
            <a:fillRect/>
          </a:stretch>
        </p:blipFill>
        <p:spPr>
          <a:xfrm>
            <a:off x="3356261" y="815946"/>
            <a:ext cx="3993546" cy="4299149"/>
          </a:xfrm>
          <a:prstGeom prst="rect">
            <a:avLst/>
          </a:prstGeom>
        </p:spPr>
      </p:pic>
    </p:spTree>
    <p:extLst>
      <p:ext uri="{BB962C8B-B14F-4D97-AF65-F5344CB8AC3E}">
        <p14:creationId xmlns:p14="http://schemas.microsoft.com/office/powerpoint/2010/main" val="94999099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21DF6-4AFC-3B05-8A29-95BBF23F1188}"/>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5ED8CA40-B898-3558-F950-A666B34AD72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D27A342F-B0B2-00E5-85AF-8D672CDA90EE}"/>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DFFEC35A-AC75-44FE-0116-F41EF8CF069F}"/>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1B004802-3E52-86C3-3CA2-09F99194F0D8}"/>
              </a:ext>
            </a:extLst>
          </p:cNvPr>
          <p:cNvSpPr txBox="1"/>
          <p:nvPr/>
        </p:nvSpPr>
        <p:spPr>
          <a:xfrm>
            <a:off x="459852" y="1058788"/>
            <a:ext cx="5166360" cy="461665"/>
          </a:xfrm>
          <a:prstGeom prst="rect">
            <a:avLst/>
          </a:prstGeom>
          <a:noFill/>
        </p:spPr>
        <p:txBody>
          <a:bodyPr wrap="square">
            <a:spAutoFit/>
          </a:bodyPr>
          <a:lstStyle/>
          <a:p>
            <a:pPr algn="l"/>
            <a:r>
              <a:rPr lang="zh-CN" altLang="en-US" sz="2400" b="1" dirty="0">
                <a:solidFill>
                  <a:srgbClr val="4F4F4F"/>
                </a:solidFill>
                <a:latin typeface="PingFang SC"/>
              </a:rPr>
              <a:t>补充知识：</a:t>
            </a:r>
            <a:r>
              <a:rPr lang="zh-CN" altLang="en-US" sz="2400" b="1" i="0" dirty="0">
                <a:solidFill>
                  <a:srgbClr val="4F4F4F"/>
                </a:solidFill>
                <a:effectLst/>
                <a:latin typeface="PingFang SC"/>
              </a:rPr>
              <a:t>矩阵求导</a:t>
            </a:r>
          </a:p>
        </p:txBody>
      </p:sp>
      <p:pic>
        <p:nvPicPr>
          <p:cNvPr id="6" name="图片 5">
            <a:extLst>
              <a:ext uri="{FF2B5EF4-FFF2-40B4-BE49-F238E27FC236}">
                <a16:creationId xmlns:a16="http://schemas.microsoft.com/office/drawing/2014/main" id="{4521C7B8-B6F8-5528-0E19-9A6D4C21CBEA}"/>
              </a:ext>
            </a:extLst>
          </p:cNvPr>
          <p:cNvPicPr>
            <a:picLocks noChangeAspect="1"/>
          </p:cNvPicPr>
          <p:nvPr/>
        </p:nvPicPr>
        <p:blipFill>
          <a:blip r:embed="rId4"/>
          <a:stretch>
            <a:fillRect/>
          </a:stretch>
        </p:blipFill>
        <p:spPr>
          <a:xfrm>
            <a:off x="836640" y="1520453"/>
            <a:ext cx="4701947" cy="571550"/>
          </a:xfrm>
          <a:prstGeom prst="rect">
            <a:avLst/>
          </a:prstGeom>
        </p:spPr>
      </p:pic>
      <p:pic>
        <p:nvPicPr>
          <p:cNvPr id="11" name="图片 10">
            <a:extLst>
              <a:ext uri="{FF2B5EF4-FFF2-40B4-BE49-F238E27FC236}">
                <a16:creationId xmlns:a16="http://schemas.microsoft.com/office/drawing/2014/main" id="{8486A77E-4DC1-F73D-362B-10DE8042A937}"/>
              </a:ext>
            </a:extLst>
          </p:cNvPr>
          <p:cNvPicPr>
            <a:picLocks noChangeAspect="1"/>
          </p:cNvPicPr>
          <p:nvPr/>
        </p:nvPicPr>
        <p:blipFill>
          <a:blip r:embed="rId5"/>
          <a:stretch>
            <a:fillRect/>
          </a:stretch>
        </p:blipFill>
        <p:spPr>
          <a:xfrm>
            <a:off x="1691680" y="2396019"/>
            <a:ext cx="5044877" cy="678239"/>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1A68F6B-AD99-DA3C-D5A7-7E020BC2A716}"/>
                  </a:ext>
                </a:extLst>
              </p:cNvPr>
              <p:cNvSpPr txBox="1"/>
              <p:nvPr/>
            </p:nvSpPr>
            <p:spPr>
              <a:xfrm>
                <a:off x="1691680" y="3219028"/>
                <a:ext cx="5260901" cy="438582"/>
              </a:xfrm>
              <a:prstGeom prst="rect">
                <a:avLst/>
              </a:prstGeom>
              <a:noFill/>
            </p:spPr>
            <p:txBody>
              <a:bodyPr wrap="square" lIns="0" tIns="0" rIns="0" bIns="0" rtlCol="0">
                <a:spAutoFit/>
              </a:bodyPr>
              <a:lstStyle/>
              <a:p>
                <a14:m>
                  <m:oMath xmlns:m="http://schemas.openxmlformats.org/officeDocument/2006/math">
                    <m:r>
                      <a:rPr lang="en-US" altLang="zh-CN" sz="2800" b="0" i="1" smtClean="0">
                        <a:latin typeface="Cambria Math" panose="02040503050406030204" pitchFamily="18" charset="0"/>
                      </a:rPr>
                      <m:t>0  −</m:t>
                    </m:r>
                    <m:sSup>
                      <m:sSupPr>
                        <m:ctrlPr>
                          <a:rPr lang="pt-BR" altLang="zh-CN" sz="2800" i="1" smtClean="0">
                            <a:latin typeface="Cambria Math" panose="02040503050406030204" pitchFamily="18" charset="0"/>
                          </a:rPr>
                        </m:ctrlPr>
                      </m:sSupPr>
                      <m:e>
                        <m:r>
                          <a:rPr lang="en-US" altLang="zh-CN" sz="2800" b="0" i="1" smtClean="0">
                            <a:latin typeface="Cambria Math" panose="02040503050406030204" pitchFamily="18" charset="0"/>
                          </a:rPr>
                          <m:t>   </m:t>
                        </m:r>
                        <m:r>
                          <m:rPr>
                            <m:sty m:val="p"/>
                          </m:rPr>
                          <a:rPr lang="en-US" altLang="zh-CN" sz="2800" i="1">
                            <a:latin typeface="Cambria Math" panose="02040503050406030204" pitchFamily="18" charset="0"/>
                          </a:rPr>
                          <m:t>X</m:t>
                        </m:r>
                      </m:e>
                      <m:sup>
                        <m:r>
                          <m:rPr>
                            <m:sty m:val="p"/>
                          </m:rPr>
                          <a:rPr lang="en-US" altLang="zh-CN" sz="2800" i="1">
                            <a:latin typeface="Cambria Math" panose="02040503050406030204" pitchFamily="18" charset="0"/>
                          </a:rPr>
                          <m:t>T</m:t>
                        </m:r>
                      </m:sup>
                    </m:sSup>
                    <m:r>
                      <m:rPr>
                        <m:sty m:val="p"/>
                      </m:rPr>
                      <a:rPr lang="en-US" altLang="zh-CN" sz="2800" i="1">
                        <a:latin typeface="Cambria Math" panose="02040503050406030204" pitchFamily="18" charset="0"/>
                      </a:rPr>
                      <m:t>y</m:t>
                    </m:r>
                    <m:r>
                      <a:rPr lang="en-US" altLang="zh-CN" sz="2800" b="0" i="1" smtClean="0">
                        <a:latin typeface="Cambria Math" panose="02040503050406030204" pitchFamily="18" charset="0"/>
                      </a:rPr>
                      <m:t> −</m:t>
                    </m:r>
                  </m:oMath>
                </a14:m>
                <a:r>
                  <a:rPr lang="pt-BR" altLang="zh-CN" sz="2800" dirty="0"/>
                  <a:t> </a:t>
                </a:r>
                <a14:m>
                  <m:oMath xmlns:m="http://schemas.openxmlformats.org/officeDocument/2006/math">
                    <m:sSup>
                      <m:sSupPr>
                        <m:ctrlPr>
                          <a:rPr lang="pt-BR" altLang="zh-CN" sz="2800" i="1">
                            <a:latin typeface="Cambria Math" panose="02040503050406030204" pitchFamily="18" charset="0"/>
                          </a:rPr>
                        </m:ctrlPr>
                      </m:sSupPr>
                      <m:e>
                        <m:r>
                          <m:rPr>
                            <m:sty m:val="p"/>
                          </m:rPr>
                          <a:rPr lang="en-US" altLang="zh-CN" sz="2800" i="1">
                            <a:latin typeface="Cambria Math" panose="02040503050406030204" pitchFamily="18" charset="0"/>
                          </a:rPr>
                          <m:t>X</m:t>
                        </m:r>
                      </m:e>
                      <m:sup>
                        <m:r>
                          <m:rPr>
                            <m:sty m:val="p"/>
                          </m:rPr>
                          <a:rPr lang="en-US" altLang="zh-CN" sz="2800" i="1">
                            <a:latin typeface="Cambria Math" panose="02040503050406030204" pitchFamily="18" charset="0"/>
                          </a:rPr>
                          <m:t>T</m:t>
                        </m:r>
                      </m:sup>
                    </m:sSup>
                    <m:r>
                      <m:rPr>
                        <m:sty m:val="p"/>
                      </m:rPr>
                      <a:rPr lang="en-US" altLang="zh-CN" sz="2800" i="1">
                        <a:latin typeface="Cambria Math" panose="02040503050406030204" pitchFamily="18" charset="0"/>
                      </a:rPr>
                      <m:t>y</m:t>
                    </m:r>
                    <m:r>
                      <a:rPr lang="en-US" altLang="zh-CN" sz="2800" b="0" i="1" smtClean="0">
                        <a:latin typeface="Cambria Math" panose="02040503050406030204" pitchFamily="18" charset="0"/>
                      </a:rPr>
                      <m:t>+</m:t>
                    </m:r>
                    <m:sSup>
                      <m:sSupPr>
                        <m:ctrlPr>
                          <a:rPr lang="pt-BR" altLang="zh-CN" sz="2800" i="1">
                            <a:latin typeface="Cambria Math" panose="02040503050406030204" pitchFamily="18" charset="0"/>
                          </a:rPr>
                        </m:ctrlPr>
                      </m:sSupPr>
                      <m:e>
                        <m:r>
                          <a:rPr lang="en-US" altLang="zh-CN" sz="2800" b="0" i="0" smtClean="0">
                            <a:latin typeface="Cambria Math" panose="02040503050406030204" pitchFamily="18" charset="0"/>
                          </a:rPr>
                          <m:t>(</m:t>
                        </m:r>
                        <m:r>
                          <m:rPr>
                            <m:sty m:val="p"/>
                          </m:rPr>
                          <a:rPr lang="en-US" altLang="zh-CN" sz="2800" i="1">
                            <a:latin typeface="Cambria Math" panose="02040503050406030204" pitchFamily="18" charset="0"/>
                          </a:rPr>
                          <m:t>X</m:t>
                        </m:r>
                      </m:e>
                      <m:sup>
                        <m:r>
                          <m:rPr>
                            <m:sty m:val="p"/>
                          </m:rPr>
                          <a:rPr lang="en-US" altLang="zh-CN" sz="2800" i="1">
                            <a:latin typeface="Cambria Math" panose="02040503050406030204" pitchFamily="18" charset="0"/>
                          </a:rPr>
                          <m:t>T</m:t>
                        </m:r>
                      </m:sup>
                    </m:sSup>
                    <m:r>
                      <m:rPr>
                        <m:sty m:val="p"/>
                      </m:rPr>
                      <a:rPr lang="en-US" altLang="zh-CN" sz="2800" i="1">
                        <a:latin typeface="Cambria Math" panose="02040503050406030204" pitchFamily="18" charset="0"/>
                      </a:rPr>
                      <m:t>X</m:t>
                    </m:r>
                    <m:r>
                      <a:rPr lang="en-US" altLang="zh-CN" sz="2800" b="0" i="1" smtClean="0">
                        <a:latin typeface="Cambria Math" panose="02040503050406030204" pitchFamily="18" charset="0"/>
                      </a:rPr>
                      <m:t>+</m:t>
                    </m:r>
                    <m:sSup>
                      <m:sSupPr>
                        <m:ctrlPr>
                          <a:rPr lang="pt-BR" altLang="zh-CN" sz="2800" i="1">
                            <a:latin typeface="Cambria Math" panose="02040503050406030204" pitchFamily="18" charset="0"/>
                          </a:rPr>
                        </m:ctrlPr>
                      </m:sSupPr>
                      <m:e>
                        <m:r>
                          <m:rPr>
                            <m:sty m:val="p"/>
                          </m:rPr>
                          <a:rPr lang="en-US" altLang="zh-CN" sz="2800" i="1">
                            <a:latin typeface="Cambria Math" panose="02040503050406030204" pitchFamily="18" charset="0"/>
                          </a:rPr>
                          <m:t>X</m:t>
                        </m:r>
                      </m:e>
                      <m:sup>
                        <m:r>
                          <m:rPr>
                            <m:sty m:val="p"/>
                          </m:rPr>
                          <a:rPr lang="en-US" altLang="zh-CN" sz="2800" i="1">
                            <a:latin typeface="Cambria Math" panose="02040503050406030204" pitchFamily="18" charset="0"/>
                          </a:rPr>
                          <m:t>T</m:t>
                        </m:r>
                      </m:sup>
                    </m:sSup>
                  </m:oMath>
                </a14:m>
                <a:r>
                  <a:rPr lang="en-US" altLang="zh-CN" sz="2800" dirty="0"/>
                  <a:t>X</a:t>
                </a:r>
                <a:r>
                  <a:rPr lang="en-US" altLang="zh-CN" sz="2800" dirty="0">
                    <a:latin typeface="Cambria Math" panose="02040503050406030204" pitchFamily="18" charset="0"/>
                  </a:rPr>
                  <a:t>)Ɵ</a:t>
                </a:r>
                <a:endParaRPr lang="zh-CN" altLang="en-US" sz="2800" dirty="0">
                  <a:latin typeface="Cambria Math" panose="02040503050406030204" pitchFamily="18" charset="0"/>
                </a:endParaRPr>
              </a:p>
            </p:txBody>
          </p:sp>
        </mc:Choice>
        <mc:Fallback xmlns="">
          <p:sp>
            <p:nvSpPr>
              <p:cNvPr id="16" name="文本框 15">
                <a:extLst>
                  <a:ext uri="{FF2B5EF4-FFF2-40B4-BE49-F238E27FC236}">
                    <a16:creationId xmlns:a16="http://schemas.microsoft.com/office/drawing/2014/main" id="{71A68F6B-AD99-DA3C-D5A7-7E020BC2A716}"/>
                  </a:ext>
                </a:extLst>
              </p:cNvPr>
              <p:cNvSpPr txBox="1">
                <a:spLocks noRot="1" noChangeAspect="1" noMove="1" noResize="1" noEditPoints="1" noAdjustHandles="1" noChangeArrowheads="1" noChangeShapeType="1" noTextEdit="1"/>
              </p:cNvSpPr>
              <p:nvPr/>
            </p:nvSpPr>
            <p:spPr>
              <a:xfrm>
                <a:off x="1691680" y="3219028"/>
                <a:ext cx="5260901" cy="438582"/>
              </a:xfrm>
              <a:prstGeom prst="rect">
                <a:avLst/>
              </a:prstGeom>
              <a:blipFill>
                <a:blip r:embed="rId6"/>
                <a:stretch>
                  <a:fillRect t="-26389" r="-3476" b="-5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150678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8E490-4C91-CEB7-E0FB-A6790F64B112}"/>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127705A-8364-3757-5E11-86A4CAC817A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E1681E4E-E2AB-10EC-BC77-A66C2315064C}"/>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C29EBBB6-68F1-32D3-53D8-80AA917E1429}"/>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E4472551-6619-EDDA-4000-E16C14C0F252}"/>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二、线性回归的解析方法</a:t>
            </a:r>
          </a:p>
        </p:txBody>
      </p:sp>
      <p:pic>
        <p:nvPicPr>
          <p:cNvPr id="10" name="图片 9">
            <a:extLst>
              <a:ext uri="{FF2B5EF4-FFF2-40B4-BE49-F238E27FC236}">
                <a16:creationId xmlns:a16="http://schemas.microsoft.com/office/drawing/2014/main" id="{B3EB3977-24D3-3FCD-DB90-26A3B8A64CA0}"/>
              </a:ext>
            </a:extLst>
          </p:cNvPr>
          <p:cNvPicPr>
            <a:picLocks noChangeAspect="1"/>
          </p:cNvPicPr>
          <p:nvPr/>
        </p:nvPicPr>
        <p:blipFill>
          <a:blip r:embed="rId4"/>
          <a:stretch>
            <a:fillRect/>
          </a:stretch>
        </p:blipFill>
        <p:spPr>
          <a:xfrm>
            <a:off x="4427984" y="873814"/>
            <a:ext cx="3414056" cy="640135"/>
          </a:xfrm>
          <a:prstGeom prst="rect">
            <a:avLst/>
          </a:prstGeom>
        </p:spPr>
      </p:pic>
      <p:pic>
        <p:nvPicPr>
          <p:cNvPr id="6" name="图片 5">
            <a:extLst>
              <a:ext uri="{FF2B5EF4-FFF2-40B4-BE49-F238E27FC236}">
                <a16:creationId xmlns:a16="http://schemas.microsoft.com/office/drawing/2014/main" id="{D4FF9FC4-F173-2F6F-E63B-65E1839AC077}"/>
              </a:ext>
            </a:extLst>
          </p:cNvPr>
          <p:cNvPicPr>
            <a:picLocks noChangeAspect="1"/>
          </p:cNvPicPr>
          <p:nvPr/>
        </p:nvPicPr>
        <p:blipFill>
          <a:blip r:embed="rId5"/>
          <a:stretch>
            <a:fillRect/>
          </a:stretch>
        </p:blipFill>
        <p:spPr>
          <a:xfrm>
            <a:off x="1303513" y="1710145"/>
            <a:ext cx="6248942" cy="2888230"/>
          </a:xfrm>
          <a:prstGeom prst="rect">
            <a:avLst/>
          </a:prstGeom>
        </p:spPr>
      </p:pic>
    </p:spTree>
    <p:extLst>
      <p:ext uri="{BB962C8B-B14F-4D97-AF65-F5344CB8AC3E}">
        <p14:creationId xmlns:p14="http://schemas.microsoft.com/office/powerpoint/2010/main" val="2755176357"/>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437DC-CA40-5306-E0ED-F4E20F142EDF}"/>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3B4DC662-BFD4-9101-F26C-B8830EB36337}"/>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04196A06-7882-6E46-36FB-9CFE608FD4EE}"/>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5BC86937-3CFF-B904-247E-3A6B784E0E2D}"/>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83CC5799-7AF1-821D-38D5-A05B49E2FBCD}"/>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二、线性回归的解析方法</a:t>
            </a:r>
          </a:p>
        </p:txBody>
      </p:sp>
      <p:pic>
        <p:nvPicPr>
          <p:cNvPr id="7" name="图片 6">
            <a:extLst>
              <a:ext uri="{FF2B5EF4-FFF2-40B4-BE49-F238E27FC236}">
                <a16:creationId xmlns:a16="http://schemas.microsoft.com/office/drawing/2014/main" id="{281B4B83-0C68-B9A8-F64C-C0041C74F1B9}"/>
              </a:ext>
            </a:extLst>
          </p:cNvPr>
          <p:cNvPicPr>
            <a:picLocks noChangeAspect="1"/>
          </p:cNvPicPr>
          <p:nvPr/>
        </p:nvPicPr>
        <p:blipFill>
          <a:blip r:embed="rId4"/>
          <a:stretch>
            <a:fillRect/>
          </a:stretch>
        </p:blipFill>
        <p:spPr>
          <a:xfrm>
            <a:off x="1187624" y="1567292"/>
            <a:ext cx="2179509" cy="419136"/>
          </a:xfrm>
          <a:prstGeom prst="rect">
            <a:avLst/>
          </a:prstGeom>
        </p:spPr>
      </p:pic>
      <p:pic>
        <p:nvPicPr>
          <p:cNvPr id="9" name="图片 8">
            <a:extLst>
              <a:ext uri="{FF2B5EF4-FFF2-40B4-BE49-F238E27FC236}">
                <a16:creationId xmlns:a16="http://schemas.microsoft.com/office/drawing/2014/main" id="{854125FD-6466-34D1-70A1-E3E27A9BD670}"/>
              </a:ext>
            </a:extLst>
          </p:cNvPr>
          <p:cNvPicPr>
            <a:picLocks noChangeAspect="1"/>
          </p:cNvPicPr>
          <p:nvPr/>
        </p:nvPicPr>
        <p:blipFill>
          <a:blip r:embed="rId5"/>
          <a:stretch>
            <a:fillRect/>
          </a:stretch>
        </p:blipFill>
        <p:spPr>
          <a:xfrm>
            <a:off x="304430" y="2354932"/>
            <a:ext cx="8535140" cy="960203"/>
          </a:xfrm>
          <a:prstGeom prst="rect">
            <a:avLst/>
          </a:prstGeom>
        </p:spPr>
      </p:pic>
    </p:spTree>
    <p:extLst>
      <p:ext uri="{BB962C8B-B14F-4D97-AF65-F5344CB8AC3E}">
        <p14:creationId xmlns:p14="http://schemas.microsoft.com/office/powerpoint/2010/main" val="189185977"/>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4149-2022-5B10-A262-707AF35A94E9}"/>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274C3B10-48D4-9296-D210-66B0DCD43355}"/>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37AF64BD-22E9-216A-FA38-D138B6289B1F}"/>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A2F50983-4BAF-E509-06BA-69D886F9D9FB}"/>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6A56DDEC-84B5-313D-9743-A7C9A9937753}"/>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pic>
        <p:nvPicPr>
          <p:cNvPr id="6" name="图片 5">
            <a:extLst>
              <a:ext uri="{FF2B5EF4-FFF2-40B4-BE49-F238E27FC236}">
                <a16:creationId xmlns:a16="http://schemas.microsoft.com/office/drawing/2014/main" id="{8CDDCF41-3AB0-F11B-7294-DFD611419DEC}"/>
              </a:ext>
            </a:extLst>
          </p:cNvPr>
          <p:cNvPicPr>
            <a:picLocks noChangeAspect="1"/>
          </p:cNvPicPr>
          <p:nvPr/>
        </p:nvPicPr>
        <p:blipFill>
          <a:blip r:embed="rId4"/>
          <a:stretch>
            <a:fillRect/>
          </a:stretch>
        </p:blipFill>
        <p:spPr>
          <a:xfrm>
            <a:off x="285378" y="1653170"/>
            <a:ext cx="8573243" cy="3284505"/>
          </a:xfrm>
          <a:prstGeom prst="rect">
            <a:avLst/>
          </a:prstGeom>
        </p:spPr>
      </p:pic>
    </p:spTree>
    <p:extLst>
      <p:ext uri="{BB962C8B-B14F-4D97-AF65-F5344CB8AC3E}">
        <p14:creationId xmlns:p14="http://schemas.microsoft.com/office/powerpoint/2010/main" val="256495114"/>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E0912-7546-E5BC-703E-FB20DE5939F5}"/>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1DFCD204-AFFB-FE0C-F567-4B3CD3F2568A}"/>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DD583976-700E-04FA-15F7-DCB79D23C8D5}"/>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EB484199-9F84-FCED-6D72-4DE0B9B2F68E}"/>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8F25826F-5377-EF36-1557-0F1E5F010F1D}"/>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pic>
        <p:nvPicPr>
          <p:cNvPr id="4" name="图片 3">
            <a:extLst>
              <a:ext uri="{FF2B5EF4-FFF2-40B4-BE49-F238E27FC236}">
                <a16:creationId xmlns:a16="http://schemas.microsoft.com/office/drawing/2014/main" id="{E8FC2350-50B5-AD42-E52E-BD3F8E95ED71}"/>
              </a:ext>
            </a:extLst>
          </p:cNvPr>
          <p:cNvPicPr>
            <a:picLocks noChangeAspect="1"/>
          </p:cNvPicPr>
          <p:nvPr/>
        </p:nvPicPr>
        <p:blipFill>
          <a:blip r:embed="rId4"/>
          <a:stretch>
            <a:fillRect/>
          </a:stretch>
        </p:blipFill>
        <p:spPr>
          <a:xfrm>
            <a:off x="1602237" y="1645100"/>
            <a:ext cx="5864860" cy="2139881"/>
          </a:xfrm>
          <a:prstGeom prst="rect">
            <a:avLst/>
          </a:prstGeom>
        </p:spPr>
      </p:pic>
    </p:spTree>
    <p:extLst>
      <p:ext uri="{BB962C8B-B14F-4D97-AF65-F5344CB8AC3E}">
        <p14:creationId xmlns:p14="http://schemas.microsoft.com/office/powerpoint/2010/main" val="259695314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F8A2F-2684-2D24-A509-BEF6EA0B408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A3E72A8D-9C2A-6778-398B-7F1A42C724AA}"/>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DA01CBEF-3298-D9FF-11C1-590E05519520}"/>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F60A5C5B-463A-D5D7-7093-9713F5D801BA}"/>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08279E82-67F0-3335-962A-B4A393BADA0F}"/>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4119AEE2-CAB7-5E64-12C4-417100D19F2A}"/>
              </a:ext>
            </a:extLst>
          </p:cNvPr>
          <p:cNvSpPr txBox="1"/>
          <p:nvPr/>
        </p:nvSpPr>
        <p:spPr>
          <a:xfrm>
            <a:off x="755576" y="1478211"/>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1</a:t>
            </a:r>
            <a:r>
              <a:rPr lang="zh-CN" altLang="en-US" sz="2000" b="1" i="0" dirty="0">
                <a:solidFill>
                  <a:srgbClr val="FF0000"/>
                </a:solidFill>
                <a:effectLst/>
                <a:latin typeface="PingFang SC"/>
              </a:rPr>
              <a:t>、获取数据</a:t>
            </a:r>
          </a:p>
        </p:txBody>
      </p:sp>
      <p:pic>
        <p:nvPicPr>
          <p:cNvPr id="7" name="图片 6">
            <a:extLst>
              <a:ext uri="{FF2B5EF4-FFF2-40B4-BE49-F238E27FC236}">
                <a16:creationId xmlns:a16="http://schemas.microsoft.com/office/drawing/2014/main" id="{CA95A89A-3711-D6E1-76BC-A0FB0F12D587}"/>
              </a:ext>
            </a:extLst>
          </p:cNvPr>
          <p:cNvPicPr>
            <a:picLocks noChangeAspect="1"/>
          </p:cNvPicPr>
          <p:nvPr/>
        </p:nvPicPr>
        <p:blipFill>
          <a:blip r:embed="rId4"/>
          <a:stretch>
            <a:fillRect/>
          </a:stretch>
        </p:blipFill>
        <p:spPr>
          <a:xfrm>
            <a:off x="1547663" y="1878320"/>
            <a:ext cx="6126769" cy="3140907"/>
          </a:xfrm>
          <a:prstGeom prst="rect">
            <a:avLst/>
          </a:prstGeom>
        </p:spPr>
      </p:pic>
    </p:spTree>
    <p:extLst>
      <p:ext uri="{BB962C8B-B14F-4D97-AF65-F5344CB8AC3E}">
        <p14:creationId xmlns:p14="http://schemas.microsoft.com/office/powerpoint/2010/main" val="378652298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A1F02-50D3-D2DC-41B5-338688215A5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E275DBD2-0C27-413F-D19D-E555CC1DBEDE}"/>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748B93E2-3CC2-4219-A24D-97950814D30D}"/>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9B6FD804-D5D9-827D-BF8E-7D34EC6AB6C5}"/>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AB29D8B-3CD4-0275-86C2-8900169FA5FC}"/>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F9AB6087-5BF9-8AC2-D67E-C1CC390AFE19}"/>
              </a:ext>
            </a:extLst>
          </p:cNvPr>
          <p:cNvSpPr txBox="1"/>
          <p:nvPr/>
        </p:nvSpPr>
        <p:spPr>
          <a:xfrm>
            <a:off x="755576" y="1478211"/>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1</a:t>
            </a:r>
            <a:r>
              <a:rPr lang="zh-CN" altLang="en-US" sz="2000" b="1" i="0" dirty="0">
                <a:solidFill>
                  <a:srgbClr val="FF0000"/>
                </a:solidFill>
                <a:effectLst/>
                <a:latin typeface="PingFang SC"/>
              </a:rPr>
              <a:t>、获取数据</a:t>
            </a:r>
          </a:p>
        </p:txBody>
      </p:sp>
      <p:pic>
        <p:nvPicPr>
          <p:cNvPr id="7" name="图片 6">
            <a:extLst>
              <a:ext uri="{FF2B5EF4-FFF2-40B4-BE49-F238E27FC236}">
                <a16:creationId xmlns:a16="http://schemas.microsoft.com/office/drawing/2014/main" id="{B0275E2D-960E-AE57-183F-9662E4C8739C}"/>
              </a:ext>
            </a:extLst>
          </p:cNvPr>
          <p:cNvPicPr>
            <a:picLocks noChangeAspect="1"/>
          </p:cNvPicPr>
          <p:nvPr/>
        </p:nvPicPr>
        <p:blipFill>
          <a:blip r:embed="rId4"/>
          <a:stretch>
            <a:fillRect/>
          </a:stretch>
        </p:blipFill>
        <p:spPr>
          <a:xfrm>
            <a:off x="459852" y="2498948"/>
            <a:ext cx="8279904" cy="951138"/>
          </a:xfrm>
          <a:prstGeom prst="rect">
            <a:avLst/>
          </a:prstGeom>
        </p:spPr>
      </p:pic>
    </p:spTree>
    <p:extLst>
      <p:ext uri="{BB962C8B-B14F-4D97-AF65-F5344CB8AC3E}">
        <p14:creationId xmlns:p14="http://schemas.microsoft.com/office/powerpoint/2010/main" val="419880077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28F82-07E6-CE29-A40E-ADFD87F0FAC5}"/>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9ADC7C24-57B0-C891-B44C-34E648D9D0BD}"/>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4B59C1B5-4112-F662-E0C6-423A5A412ACD}"/>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4A29B92E-033F-2800-D463-A8328280BE23}"/>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7C4028E-B0F8-F580-EEE5-6E28815BA0A3}"/>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AD78466E-EE32-6967-D1C9-FE2840C364FE}"/>
              </a:ext>
            </a:extLst>
          </p:cNvPr>
          <p:cNvSpPr txBox="1"/>
          <p:nvPr/>
        </p:nvSpPr>
        <p:spPr>
          <a:xfrm>
            <a:off x="755576" y="1478211"/>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2</a:t>
            </a:r>
            <a:r>
              <a:rPr lang="zh-CN" altLang="en-US" sz="2000" b="1" i="0" dirty="0">
                <a:solidFill>
                  <a:srgbClr val="FF0000"/>
                </a:solidFill>
                <a:effectLst/>
                <a:latin typeface="PingFang SC"/>
              </a:rPr>
              <a:t>、数据预处理（标签不做标准化）</a:t>
            </a:r>
          </a:p>
        </p:txBody>
      </p:sp>
      <p:sp>
        <p:nvSpPr>
          <p:cNvPr id="10" name="文本框 9">
            <a:extLst>
              <a:ext uri="{FF2B5EF4-FFF2-40B4-BE49-F238E27FC236}">
                <a16:creationId xmlns:a16="http://schemas.microsoft.com/office/drawing/2014/main" id="{04F0F00B-6D37-A2A0-F16B-443A94A4C3BE}"/>
              </a:ext>
            </a:extLst>
          </p:cNvPr>
          <p:cNvSpPr txBox="1"/>
          <p:nvPr/>
        </p:nvSpPr>
        <p:spPr>
          <a:xfrm>
            <a:off x="1187624" y="1878321"/>
            <a:ext cx="6264696" cy="2953373"/>
          </a:xfrm>
          <a:prstGeom prst="rect">
            <a:avLst/>
          </a:prstGeom>
          <a:noFill/>
        </p:spPr>
        <p:txBody>
          <a:bodyPr wrap="square">
            <a:spAutoFit/>
          </a:bodyPr>
          <a:lstStyle/>
          <a:p>
            <a:pPr>
              <a:lnSpc>
                <a:spcPct val="150000"/>
              </a:lnSpc>
            </a:pPr>
            <a:r>
              <a:rPr lang="zh-CN" altLang="en-US" dirty="0"/>
              <a:t>         对输入数据进行标准化，可以避免不同特征的数据之间数量级差距过大导致的问题。以上面列出的数据条目为例，区域平均收入在</a:t>
            </a:r>
            <a:r>
              <a:rPr lang="en-US" altLang="zh-CN" dirty="0"/>
              <a:t>10</a:t>
            </a:r>
            <a:r>
              <a:rPr lang="en-US" altLang="zh-CN" baseline="30000" dirty="0"/>
              <a:t>4</a:t>
            </a:r>
            <a:r>
              <a:rPr lang="en-US" altLang="zh-CN" dirty="0"/>
              <a:t> </a:t>
            </a:r>
            <a:r>
              <a:rPr lang="zh-CN" altLang="en-US" dirty="0"/>
              <a:t>数量级，而区域平均卧室数在</a:t>
            </a:r>
            <a:r>
              <a:rPr lang="en-US" altLang="zh-CN" dirty="0"/>
              <a:t>10</a:t>
            </a:r>
            <a:r>
              <a:rPr lang="en-US" altLang="zh-CN" baseline="30000" dirty="0"/>
              <a:t>0</a:t>
            </a:r>
            <a:r>
              <a:rPr lang="en-US" altLang="zh-CN" dirty="0"/>
              <a:t> </a:t>
            </a:r>
            <a:r>
              <a:rPr lang="zh-CN" altLang="en-US" dirty="0"/>
              <a:t>数量级，如果直接用原始数据进行训练，假如区域平均收入在运算中产生了</a:t>
            </a:r>
            <a:r>
              <a:rPr lang="en-US" altLang="zh-CN" dirty="0"/>
              <a:t>0.1 %</a:t>
            </a:r>
            <a:r>
              <a:rPr lang="zh-CN" altLang="en-US" dirty="0"/>
              <a:t>的误差，约为</a:t>
            </a:r>
            <a:r>
              <a:rPr lang="en-US" altLang="zh-CN" dirty="0"/>
              <a:t>10</a:t>
            </a:r>
            <a:r>
              <a:rPr lang="en-US" altLang="zh-CN" baseline="30000" dirty="0"/>
              <a:t>1</a:t>
            </a:r>
            <a:r>
              <a:rPr lang="zh-CN" altLang="en-US" dirty="0"/>
              <a:t>，就几乎</a:t>
            </a:r>
            <a:r>
              <a:rPr lang="zh-CN" altLang="en-US" dirty="0">
                <a:solidFill>
                  <a:srgbClr val="FF0000"/>
                </a:solidFill>
                <a:highlight>
                  <a:srgbClr val="FFFF00"/>
                </a:highlight>
              </a:rPr>
              <a:t>足够掩盖区域平均卧室数带来的影响</a:t>
            </a:r>
            <a:r>
              <a:rPr lang="zh-CN" altLang="en-US" dirty="0"/>
              <a:t>。因此，通常来说，我们在训练前将不同特征的数据</a:t>
            </a:r>
            <a:r>
              <a:rPr lang="zh-CN" altLang="en-US" dirty="0">
                <a:solidFill>
                  <a:srgbClr val="FF0000"/>
                </a:solidFill>
                <a:highlight>
                  <a:srgbClr val="FFFF00"/>
                </a:highlight>
              </a:rPr>
              <a:t>放缩到同一量级上</a:t>
            </a:r>
            <a:r>
              <a:rPr lang="zh-CN" altLang="en-US" dirty="0"/>
              <a:t>。</a:t>
            </a:r>
          </a:p>
        </p:txBody>
      </p:sp>
    </p:spTree>
    <p:extLst>
      <p:ext uri="{BB962C8B-B14F-4D97-AF65-F5344CB8AC3E}">
        <p14:creationId xmlns:p14="http://schemas.microsoft.com/office/powerpoint/2010/main" val="2996104013"/>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133-7AE9-5E0E-38C0-2EADB9FB2BAD}"/>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15C7F9E9-D369-7914-E23A-2C1B0C69C8D9}"/>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FD8581AA-7CD0-EF63-72E1-71EA88DA37D2}"/>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D7E6B83D-0FBC-4B27-3DC9-69A65657EB53}"/>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0A6F31A0-7862-925E-8097-F72D471935D5}"/>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A5233BE7-1436-191E-157A-11244D61CC10}"/>
              </a:ext>
            </a:extLst>
          </p:cNvPr>
          <p:cNvSpPr txBox="1"/>
          <p:nvPr/>
        </p:nvSpPr>
        <p:spPr>
          <a:xfrm>
            <a:off x="755576" y="1418828"/>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2</a:t>
            </a:r>
            <a:r>
              <a:rPr lang="zh-CN" altLang="en-US" sz="2000" b="1" i="0" dirty="0">
                <a:solidFill>
                  <a:srgbClr val="FF0000"/>
                </a:solidFill>
                <a:effectLst/>
                <a:latin typeface="PingFang SC"/>
              </a:rPr>
              <a:t>、数据预处理（标签不做标准化）</a:t>
            </a:r>
          </a:p>
        </p:txBody>
      </p:sp>
      <p:pic>
        <p:nvPicPr>
          <p:cNvPr id="12" name="图片 11">
            <a:extLst>
              <a:ext uri="{FF2B5EF4-FFF2-40B4-BE49-F238E27FC236}">
                <a16:creationId xmlns:a16="http://schemas.microsoft.com/office/drawing/2014/main" id="{249D892D-2D9F-8602-6028-EE784732284B}"/>
              </a:ext>
            </a:extLst>
          </p:cNvPr>
          <p:cNvPicPr>
            <a:picLocks noChangeAspect="1"/>
          </p:cNvPicPr>
          <p:nvPr/>
        </p:nvPicPr>
        <p:blipFill>
          <a:blip r:embed="rId4"/>
          <a:stretch>
            <a:fillRect/>
          </a:stretch>
        </p:blipFill>
        <p:spPr>
          <a:xfrm>
            <a:off x="881224" y="1818938"/>
            <a:ext cx="4771585" cy="3300056"/>
          </a:xfrm>
          <a:prstGeom prst="rect">
            <a:avLst/>
          </a:prstGeom>
        </p:spPr>
      </p:pic>
      <p:sp>
        <p:nvSpPr>
          <p:cNvPr id="13" name="文本框 12">
            <a:extLst>
              <a:ext uri="{FF2B5EF4-FFF2-40B4-BE49-F238E27FC236}">
                <a16:creationId xmlns:a16="http://schemas.microsoft.com/office/drawing/2014/main" id="{94AB3421-5E68-5A34-3F76-12A2E357E0D5}"/>
              </a:ext>
            </a:extLst>
          </p:cNvPr>
          <p:cNvSpPr txBox="1"/>
          <p:nvPr/>
        </p:nvSpPr>
        <p:spPr>
          <a:xfrm>
            <a:off x="5743373" y="2138908"/>
            <a:ext cx="1746408" cy="1015663"/>
          </a:xfrm>
          <a:prstGeom prst="rect">
            <a:avLst/>
          </a:prstGeom>
          <a:noFill/>
        </p:spPr>
        <p:txBody>
          <a:bodyPr wrap="square">
            <a:spAutoFit/>
          </a:bodyPr>
          <a:lstStyle/>
          <a:p>
            <a:pPr algn="l"/>
            <a:r>
              <a:rPr lang="zh-CN" altLang="en-US" sz="2000" b="1" i="0" dirty="0">
                <a:effectLst/>
                <a:latin typeface="PingFang SC"/>
              </a:rPr>
              <a:t>只对特征做标准化，标签不做标准化</a:t>
            </a:r>
          </a:p>
        </p:txBody>
      </p:sp>
    </p:spTree>
    <p:extLst>
      <p:ext uri="{BB962C8B-B14F-4D97-AF65-F5344CB8AC3E}">
        <p14:creationId xmlns:p14="http://schemas.microsoft.com/office/powerpoint/2010/main" val="408580398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D24B5-0B58-B236-6F75-1D846A1F2827}"/>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DFD51AC-28BB-C902-F65B-C9D60FBCC35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0247AC57-79D7-93F6-8D00-6F48C2CDF4AE}"/>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A9B81196-9073-7649-9051-D851448A73D7}"/>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2ACAF665-D20B-7AD5-5E4F-61A374B4E458}"/>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D5222E29-A2A0-C319-44BD-5EE25A12BC2C}"/>
              </a:ext>
            </a:extLst>
          </p:cNvPr>
          <p:cNvSpPr txBox="1"/>
          <p:nvPr/>
        </p:nvSpPr>
        <p:spPr>
          <a:xfrm>
            <a:off x="755576" y="1478211"/>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2</a:t>
            </a:r>
            <a:r>
              <a:rPr lang="zh-CN" altLang="en-US" sz="2000" b="1" i="0" dirty="0">
                <a:solidFill>
                  <a:srgbClr val="FF0000"/>
                </a:solidFill>
                <a:effectLst/>
                <a:latin typeface="PingFang SC"/>
              </a:rPr>
              <a:t>、数据预处理（数据随机打乱）</a:t>
            </a:r>
          </a:p>
        </p:txBody>
      </p:sp>
      <p:pic>
        <p:nvPicPr>
          <p:cNvPr id="10" name="图片 9">
            <a:extLst>
              <a:ext uri="{FF2B5EF4-FFF2-40B4-BE49-F238E27FC236}">
                <a16:creationId xmlns:a16="http://schemas.microsoft.com/office/drawing/2014/main" id="{15FA3C4C-4645-1549-6FAB-0CE82D1B5693}"/>
              </a:ext>
            </a:extLst>
          </p:cNvPr>
          <p:cNvPicPr>
            <a:picLocks noChangeAspect="1"/>
          </p:cNvPicPr>
          <p:nvPr/>
        </p:nvPicPr>
        <p:blipFill>
          <a:blip r:embed="rId4"/>
          <a:stretch>
            <a:fillRect/>
          </a:stretch>
        </p:blipFill>
        <p:spPr>
          <a:xfrm>
            <a:off x="1115615" y="1878321"/>
            <a:ext cx="6537977" cy="3059354"/>
          </a:xfrm>
          <a:prstGeom prst="rect">
            <a:avLst/>
          </a:prstGeom>
        </p:spPr>
      </p:pic>
    </p:spTree>
    <p:extLst>
      <p:ext uri="{BB962C8B-B14F-4D97-AF65-F5344CB8AC3E}">
        <p14:creationId xmlns:p14="http://schemas.microsoft.com/office/powerpoint/2010/main" val="3138696643"/>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77A97-E16B-A5E7-FF34-D339550AF78E}"/>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0FED56FD-C256-2ACD-24EE-F9B7F9FC6BA8}"/>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200431C8-1A78-6069-4527-6790F4B5513A}"/>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E97EC8DB-B236-3383-B097-402674373C31}"/>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76883307-A3D3-F52E-328B-0264B06D167C}"/>
              </a:ext>
            </a:extLst>
          </p:cNvPr>
          <p:cNvSpPr txBox="1"/>
          <p:nvPr/>
        </p:nvSpPr>
        <p:spPr>
          <a:xfrm>
            <a:off x="459852" y="1058788"/>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C858AEB5-C346-2557-9B55-31FDB2C238AD}"/>
              </a:ext>
            </a:extLst>
          </p:cNvPr>
          <p:cNvSpPr txBox="1"/>
          <p:nvPr/>
        </p:nvSpPr>
        <p:spPr>
          <a:xfrm>
            <a:off x="755576" y="1478211"/>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2</a:t>
            </a:r>
            <a:r>
              <a:rPr lang="zh-CN" altLang="en-US" sz="2000" b="1" i="0" dirty="0">
                <a:solidFill>
                  <a:srgbClr val="FF0000"/>
                </a:solidFill>
                <a:effectLst/>
                <a:latin typeface="PingFang SC"/>
              </a:rPr>
              <a:t>、数据预处理（数据添加常数项）</a:t>
            </a:r>
          </a:p>
        </p:txBody>
      </p:sp>
      <p:pic>
        <p:nvPicPr>
          <p:cNvPr id="6" name="图片 5">
            <a:extLst>
              <a:ext uri="{FF2B5EF4-FFF2-40B4-BE49-F238E27FC236}">
                <a16:creationId xmlns:a16="http://schemas.microsoft.com/office/drawing/2014/main" id="{71392639-C00F-6F14-77F9-434F290CFD40}"/>
              </a:ext>
            </a:extLst>
          </p:cNvPr>
          <p:cNvPicPr>
            <a:picLocks noChangeAspect="1"/>
          </p:cNvPicPr>
          <p:nvPr/>
        </p:nvPicPr>
        <p:blipFill>
          <a:blip r:embed="rId4"/>
          <a:stretch>
            <a:fillRect/>
          </a:stretch>
        </p:blipFill>
        <p:spPr>
          <a:xfrm>
            <a:off x="288064" y="2786980"/>
            <a:ext cx="8604416" cy="690346"/>
          </a:xfrm>
          <a:prstGeom prst="rect">
            <a:avLst/>
          </a:prstGeom>
        </p:spPr>
      </p:pic>
    </p:spTree>
    <p:extLst>
      <p:ext uri="{BB962C8B-B14F-4D97-AF65-F5344CB8AC3E}">
        <p14:creationId xmlns:p14="http://schemas.microsoft.com/office/powerpoint/2010/main" val="296755642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5EFC6-2005-96E6-D8C9-5B1A3B1C8B0F}"/>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FA696E35-9E91-7B59-7C68-BB5E403F645B}"/>
              </a:ext>
            </a:extLst>
          </p:cNvPr>
          <p:cNvPicPr>
            <a:picLocks noChangeAspect="1"/>
          </p:cNvPicPr>
          <p:nvPr/>
        </p:nvPicPr>
        <p:blipFill>
          <a:blip r:embed="rId3"/>
          <a:stretch>
            <a:fillRect/>
          </a:stretch>
        </p:blipFill>
        <p:spPr>
          <a:xfrm>
            <a:off x="174879" y="2138908"/>
            <a:ext cx="8794242" cy="1181202"/>
          </a:xfrm>
          <a:prstGeom prst="rect">
            <a:avLst/>
          </a:prstGeom>
        </p:spPr>
      </p:pic>
      <p:sp>
        <p:nvSpPr>
          <p:cNvPr id="47" name="TextBox 46">
            <a:extLst>
              <a:ext uri="{FF2B5EF4-FFF2-40B4-BE49-F238E27FC236}">
                <a16:creationId xmlns:a16="http://schemas.microsoft.com/office/drawing/2014/main" id="{1AF9D539-3AFE-7BD4-4B5A-53A1AFCF6B5E}"/>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3D61C71D-F41A-B3C4-4814-CDB4E3AB1AAE}"/>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68AE41DF-CE97-72E8-E7E2-2202BEFB88D8}"/>
              </a:ext>
            </a:extLst>
          </p:cNvPr>
          <p:cNvPicPr>
            <a:picLocks noChangeAspect="1"/>
          </p:cNvPicPr>
          <p:nvPr/>
        </p:nvPicPr>
        <p:blipFill>
          <a:blip r:embed="rId4"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FDC6DB3E-554B-A358-3248-3BFC3BD90ADE}"/>
              </a:ext>
            </a:extLst>
          </p:cNvPr>
          <p:cNvSpPr txBox="1"/>
          <p:nvPr/>
        </p:nvSpPr>
        <p:spPr>
          <a:xfrm>
            <a:off x="432016" y="818459"/>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8FD615BF-0960-A988-15A6-CA96BA56C018}"/>
              </a:ext>
            </a:extLst>
          </p:cNvPr>
          <p:cNvSpPr txBox="1"/>
          <p:nvPr/>
        </p:nvSpPr>
        <p:spPr>
          <a:xfrm>
            <a:off x="755576" y="1151120"/>
            <a:ext cx="5166360" cy="400110"/>
          </a:xfrm>
          <a:prstGeom prst="rect">
            <a:avLst/>
          </a:prstGeom>
          <a:noFill/>
        </p:spPr>
        <p:txBody>
          <a:bodyPr wrap="square">
            <a:spAutoFit/>
          </a:bodyPr>
          <a:lstStyle/>
          <a:p>
            <a:pPr algn="l"/>
            <a:r>
              <a:rPr lang="en-US" altLang="zh-CN" sz="2000" b="1" i="0" dirty="0">
                <a:solidFill>
                  <a:srgbClr val="FF0000"/>
                </a:solidFill>
                <a:effectLst/>
                <a:latin typeface="PingFang SC"/>
              </a:rPr>
              <a:t>4</a:t>
            </a:r>
            <a:r>
              <a:rPr lang="zh-CN" altLang="en-US" sz="2000" b="1" i="0" dirty="0">
                <a:solidFill>
                  <a:srgbClr val="FF0000"/>
                </a:solidFill>
                <a:effectLst/>
                <a:latin typeface="PingFang SC"/>
              </a:rPr>
              <a:t>、机器学习</a:t>
            </a:r>
          </a:p>
        </p:txBody>
      </p:sp>
      <p:pic>
        <p:nvPicPr>
          <p:cNvPr id="9" name="图片 8">
            <a:extLst>
              <a:ext uri="{FF2B5EF4-FFF2-40B4-BE49-F238E27FC236}">
                <a16:creationId xmlns:a16="http://schemas.microsoft.com/office/drawing/2014/main" id="{1B89394D-4561-A8B3-96CD-29C490087539}"/>
              </a:ext>
            </a:extLst>
          </p:cNvPr>
          <p:cNvPicPr>
            <a:picLocks noChangeAspect="1"/>
          </p:cNvPicPr>
          <p:nvPr/>
        </p:nvPicPr>
        <p:blipFill>
          <a:blip r:embed="rId5"/>
          <a:stretch>
            <a:fillRect/>
          </a:stretch>
        </p:blipFill>
        <p:spPr>
          <a:xfrm>
            <a:off x="2771800" y="1575756"/>
            <a:ext cx="2179509" cy="419136"/>
          </a:xfrm>
          <a:prstGeom prst="rect">
            <a:avLst/>
          </a:prstGeom>
        </p:spPr>
      </p:pic>
      <p:pic>
        <p:nvPicPr>
          <p:cNvPr id="15" name="图片 14">
            <a:extLst>
              <a:ext uri="{FF2B5EF4-FFF2-40B4-BE49-F238E27FC236}">
                <a16:creationId xmlns:a16="http://schemas.microsoft.com/office/drawing/2014/main" id="{1AE3102C-E683-E3D7-82B7-7414BA84BABF}"/>
              </a:ext>
            </a:extLst>
          </p:cNvPr>
          <p:cNvPicPr>
            <a:picLocks noChangeAspect="1"/>
          </p:cNvPicPr>
          <p:nvPr/>
        </p:nvPicPr>
        <p:blipFill>
          <a:blip r:embed="rId6"/>
          <a:stretch>
            <a:fillRect/>
          </a:stretch>
        </p:blipFill>
        <p:spPr>
          <a:xfrm>
            <a:off x="432016" y="3523739"/>
            <a:ext cx="8397968" cy="617273"/>
          </a:xfrm>
          <a:prstGeom prst="rect">
            <a:avLst/>
          </a:prstGeom>
        </p:spPr>
      </p:pic>
    </p:spTree>
    <p:extLst>
      <p:ext uri="{BB962C8B-B14F-4D97-AF65-F5344CB8AC3E}">
        <p14:creationId xmlns:p14="http://schemas.microsoft.com/office/powerpoint/2010/main" val="4211859406"/>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8768A-C8B5-CC77-98AD-56B75CBFE5F0}"/>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9F6B71EA-8711-EF96-67AE-98F6802A3577}"/>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99C63146-520E-5615-5EAE-BFFE929BEDA9}"/>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111288DA-580D-7BBE-6ACF-75B75EEBF1E0}"/>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D08717A7-FB9B-BEFF-8DCF-157E2A18F124}"/>
              </a:ext>
            </a:extLst>
          </p:cNvPr>
          <p:cNvSpPr txBox="1"/>
          <p:nvPr/>
        </p:nvSpPr>
        <p:spPr>
          <a:xfrm>
            <a:off x="459852" y="1058788"/>
            <a:ext cx="5166360" cy="830997"/>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endParaRPr lang="en-US" altLang="zh-CN" sz="2400" b="1" i="0" dirty="0">
              <a:solidFill>
                <a:srgbClr val="4F4F4F"/>
              </a:solidFill>
              <a:effectLst/>
              <a:latin typeface="PingFang SC"/>
            </a:endParaRPr>
          </a:p>
          <a:p>
            <a:pPr algn="l"/>
            <a:r>
              <a:rPr lang="zh-CN" altLang="en-US" sz="2400" b="1" dirty="0">
                <a:solidFill>
                  <a:srgbClr val="4F4F4F"/>
                </a:solidFill>
                <a:latin typeface="PingFang SC"/>
              </a:rPr>
              <a:t>查看预测值</a:t>
            </a:r>
            <a:endParaRPr lang="zh-CN" altLang="en-US" sz="2400" b="1" i="0" dirty="0">
              <a:solidFill>
                <a:srgbClr val="4F4F4F"/>
              </a:solidFill>
              <a:effectLst/>
              <a:latin typeface="PingFang SC"/>
            </a:endParaRPr>
          </a:p>
        </p:txBody>
      </p:sp>
      <p:pic>
        <p:nvPicPr>
          <p:cNvPr id="8" name="图片 7">
            <a:extLst>
              <a:ext uri="{FF2B5EF4-FFF2-40B4-BE49-F238E27FC236}">
                <a16:creationId xmlns:a16="http://schemas.microsoft.com/office/drawing/2014/main" id="{26A73ED0-6250-A942-B025-1ADBE7D6CBCB}"/>
              </a:ext>
            </a:extLst>
          </p:cNvPr>
          <p:cNvPicPr>
            <a:picLocks noChangeAspect="1"/>
          </p:cNvPicPr>
          <p:nvPr/>
        </p:nvPicPr>
        <p:blipFill>
          <a:blip r:embed="rId4"/>
          <a:stretch>
            <a:fillRect/>
          </a:stretch>
        </p:blipFill>
        <p:spPr>
          <a:xfrm>
            <a:off x="2339752" y="2642964"/>
            <a:ext cx="3419495" cy="2294711"/>
          </a:xfrm>
          <a:prstGeom prst="rect">
            <a:avLst/>
          </a:prstGeom>
        </p:spPr>
      </p:pic>
      <p:pic>
        <p:nvPicPr>
          <p:cNvPr id="10" name="图片 9">
            <a:extLst>
              <a:ext uri="{FF2B5EF4-FFF2-40B4-BE49-F238E27FC236}">
                <a16:creationId xmlns:a16="http://schemas.microsoft.com/office/drawing/2014/main" id="{6D5EE13E-744D-FB2C-3C27-8DD86A035526}"/>
              </a:ext>
            </a:extLst>
          </p:cNvPr>
          <p:cNvPicPr>
            <a:picLocks noChangeAspect="1"/>
          </p:cNvPicPr>
          <p:nvPr/>
        </p:nvPicPr>
        <p:blipFill>
          <a:blip r:embed="rId5"/>
          <a:stretch>
            <a:fillRect/>
          </a:stretch>
        </p:blipFill>
        <p:spPr>
          <a:xfrm>
            <a:off x="1392128" y="1850747"/>
            <a:ext cx="5616624" cy="722581"/>
          </a:xfrm>
          <a:prstGeom prst="rect">
            <a:avLst/>
          </a:prstGeom>
        </p:spPr>
      </p:pic>
    </p:spTree>
    <p:extLst>
      <p:ext uri="{BB962C8B-B14F-4D97-AF65-F5344CB8AC3E}">
        <p14:creationId xmlns:p14="http://schemas.microsoft.com/office/powerpoint/2010/main" val="2970417861"/>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94899-F816-84F3-6365-BFE58EF26C90}"/>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F509D274-483B-DB92-FC26-C714CD904E38}"/>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815695D0-6E16-2D63-8D13-1DD90BCD6454}"/>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9EDD14A0-FEAD-A3E6-1A63-BF7F03E5550C}"/>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A5069B54-4296-8A6A-F37E-D315422905C6}"/>
              </a:ext>
            </a:extLst>
          </p:cNvPr>
          <p:cNvSpPr txBox="1"/>
          <p:nvPr/>
        </p:nvSpPr>
        <p:spPr>
          <a:xfrm>
            <a:off x="432016" y="818459"/>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9F4EC6A5-4096-15D8-6EB3-6AFFE07B8F83}"/>
              </a:ext>
            </a:extLst>
          </p:cNvPr>
          <p:cNvSpPr txBox="1"/>
          <p:nvPr/>
        </p:nvSpPr>
        <p:spPr>
          <a:xfrm>
            <a:off x="755576" y="1245089"/>
            <a:ext cx="5166360" cy="400110"/>
          </a:xfrm>
          <a:prstGeom prst="rect">
            <a:avLst/>
          </a:prstGeom>
          <a:noFill/>
        </p:spPr>
        <p:txBody>
          <a:bodyPr wrap="square">
            <a:spAutoFit/>
          </a:bodyPr>
          <a:lstStyle/>
          <a:p>
            <a:pPr algn="l"/>
            <a:r>
              <a:rPr lang="en-US" altLang="zh-CN" sz="2000" b="1" dirty="0">
                <a:solidFill>
                  <a:srgbClr val="FF0000"/>
                </a:solidFill>
                <a:latin typeface="PingFang SC"/>
              </a:rPr>
              <a:t>5</a:t>
            </a:r>
            <a:r>
              <a:rPr lang="zh-CN" altLang="en-US" sz="2000" b="1" i="0" dirty="0">
                <a:solidFill>
                  <a:srgbClr val="FF0000"/>
                </a:solidFill>
                <a:effectLst/>
                <a:latin typeface="PingFang SC"/>
              </a:rPr>
              <a:t>、模型评估</a:t>
            </a:r>
          </a:p>
        </p:txBody>
      </p:sp>
      <p:pic>
        <p:nvPicPr>
          <p:cNvPr id="6" name="图片 5">
            <a:extLst>
              <a:ext uri="{FF2B5EF4-FFF2-40B4-BE49-F238E27FC236}">
                <a16:creationId xmlns:a16="http://schemas.microsoft.com/office/drawing/2014/main" id="{7CADB79A-C0AC-1D07-1878-1B18CD95115A}"/>
              </a:ext>
            </a:extLst>
          </p:cNvPr>
          <p:cNvPicPr>
            <a:picLocks noChangeAspect="1"/>
          </p:cNvPicPr>
          <p:nvPr/>
        </p:nvPicPr>
        <p:blipFill>
          <a:blip r:embed="rId4"/>
          <a:stretch>
            <a:fillRect/>
          </a:stretch>
        </p:blipFill>
        <p:spPr>
          <a:xfrm>
            <a:off x="613089" y="1737002"/>
            <a:ext cx="7917822" cy="3200673"/>
          </a:xfrm>
          <a:prstGeom prst="rect">
            <a:avLst/>
          </a:prstGeom>
        </p:spPr>
      </p:pic>
    </p:spTree>
    <p:extLst>
      <p:ext uri="{BB962C8B-B14F-4D97-AF65-F5344CB8AC3E}">
        <p14:creationId xmlns:p14="http://schemas.microsoft.com/office/powerpoint/2010/main" val="271519705"/>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DEF56-479B-DFFD-188A-06E277748722}"/>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8D8752AD-D7B1-78A8-6649-F0C4FD8D6D8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EDF026F3-967C-ABA9-94A6-5634081EB930}"/>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D33FCD63-0B27-ECDF-9D36-6A03DBE3A165}"/>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7AEDE286-7218-1448-A158-593D83A5271A}"/>
              </a:ext>
            </a:extLst>
          </p:cNvPr>
          <p:cNvSpPr txBox="1"/>
          <p:nvPr/>
        </p:nvSpPr>
        <p:spPr>
          <a:xfrm>
            <a:off x="432016" y="818459"/>
            <a:ext cx="5166360" cy="461665"/>
          </a:xfrm>
          <a:prstGeom prst="rect">
            <a:avLst/>
          </a:prstGeom>
          <a:noFill/>
        </p:spPr>
        <p:txBody>
          <a:bodyPr wrap="square">
            <a:spAutoFit/>
          </a:bodyPr>
          <a:lstStyle/>
          <a:p>
            <a:pPr algn="l"/>
            <a:r>
              <a:rPr lang="zh-CN" altLang="en-US" sz="2400" b="1" i="0" dirty="0">
                <a:solidFill>
                  <a:srgbClr val="4F4F4F"/>
                </a:solidFill>
                <a:effectLst/>
                <a:latin typeface="PingFang SC"/>
              </a:rPr>
              <a:t>三、动手实现线性回归的解析方法</a:t>
            </a:r>
          </a:p>
        </p:txBody>
      </p:sp>
      <p:sp>
        <p:nvSpPr>
          <p:cNvPr id="8" name="文本框 7">
            <a:extLst>
              <a:ext uri="{FF2B5EF4-FFF2-40B4-BE49-F238E27FC236}">
                <a16:creationId xmlns:a16="http://schemas.microsoft.com/office/drawing/2014/main" id="{E148259D-8370-C3A4-2704-04D2F6E8C91D}"/>
              </a:ext>
            </a:extLst>
          </p:cNvPr>
          <p:cNvSpPr txBox="1"/>
          <p:nvPr/>
        </p:nvSpPr>
        <p:spPr>
          <a:xfrm>
            <a:off x="755576" y="1245089"/>
            <a:ext cx="5166360" cy="400110"/>
          </a:xfrm>
          <a:prstGeom prst="rect">
            <a:avLst/>
          </a:prstGeom>
          <a:noFill/>
        </p:spPr>
        <p:txBody>
          <a:bodyPr wrap="square">
            <a:spAutoFit/>
          </a:bodyPr>
          <a:lstStyle/>
          <a:p>
            <a:pPr algn="l"/>
            <a:r>
              <a:rPr lang="en-US" altLang="zh-CN" sz="2000" b="1" dirty="0">
                <a:solidFill>
                  <a:srgbClr val="FF0000"/>
                </a:solidFill>
                <a:latin typeface="PingFang SC"/>
              </a:rPr>
              <a:t>5</a:t>
            </a:r>
            <a:r>
              <a:rPr lang="zh-CN" altLang="en-US" sz="2000" b="1" i="0" dirty="0">
                <a:solidFill>
                  <a:srgbClr val="FF0000"/>
                </a:solidFill>
                <a:effectLst/>
                <a:latin typeface="PingFang SC"/>
              </a:rPr>
              <a:t>、模型评估</a:t>
            </a:r>
          </a:p>
        </p:txBody>
      </p:sp>
      <p:pic>
        <p:nvPicPr>
          <p:cNvPr id="7" name="图片 6">
            <a:extLst>
              <a:ext uri="{FF2B5EF4-FFF2-40B4-BE49-F238E27FC236}">
                <a16:creationId xmlns:a16="http://schemas.microsoft.com/office/drawing/2014/main" id="{83CC520C-4A9D-E8D5-4469-24708B4D2A32}"/>
              </a:ext>
            </a:extLst>
          </p:cNvPr>
          <p:cNvPicPr>
            <a:picLocks noChangeAspect="1"/>
          </p:cNvPicPr>
          <p:nvPr/>
        </p:nvPicPr>
        <p:blipFill>
          <a:blip r:embed="rId4"/>
          <a:stretch>
            <a:fillRect/>
          </a:stretch>
        </p:blipFill>
        <p:spPr>
          <a:xfrm>
            <a:off x="1763688" y="1702201"/>
            <a:ext cx="5075360" cy="868755"/>
          </a:xfrm>
          <a:prstGeom prst="rect">
            <a:avLst/>
          </a:prstGeom>
        </p:spPr>
      </p:pic>
      <p:pic>
        <p:nvPicPr>
          <p:cNvPr id="14" name="图片 13">
            <a:extLst>
              <a:ext uri="{FF2B5EF4-FFF2-40B4-BE49-F238E27FC236}">
                <a16:creationId xmlns:a16="http://schemas.microsoft.com/office/drawing/2014/main" id="{FE0EBA3B-DEA3-4747-9AB5-EA812F73E854}"/>
              </a:ext>
            </a:extLst>
          </p:cNvPr>
          <p:cNvPicPr>
            <a:picLocks noChangeAspect="1"/>
          </p:cNvPicPr>
          <p:nvPr/>
        </p:nvPicPr>
        <p:blipFill>
          <a:blip r:embed="rId5"/>
          <a:stretch>
            <a:fillRect/>
          </a:stretch>
        </p:blipFill>
        <p:spPr>
          <a:xfrm>
            <a:off x="1763688" y="3003004"/>
            <a:ext cx="2743438" cy="243861"/>
          </a:xfrm>
          <a:prstGeom prst="rect">
            <a:avLst/>
          </a:prstGeom>
        </p:spPr>
      </p:pic>
    </p:spTree>
    <p:extLst>
      <p:ext uri="{BB962C8B-B14F-4D97-AF65-F5344CB8AC3E}">
        <p14:creationId xmlns:p14="http://schemas.microsoft.com/office/powerpoint/2010/main" val="29617786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53B10-C9CA-0682-6FA1-2031A9958DD2}"/>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F242E035-C21F-B3DF-7524-9AE0AF431E0F}"/>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F2476FED-15A0-11B4-7AB0-04B870617469}"/>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6832B221-9C7C-4CE7-3F3C-7AF6AC43C219}"/>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6CDE6905-8635-4AB9-E4B8-DC37AF29D2E0}"/>
              </a:ext>
            </a:extLst>
          </p:cNvPr>
          <p:cNvSpPr txBox="1"/>
          <p:nvPr/>
        </p:nvSpPr>
        <p:spPr>
          <a:xfrm>
            <a:off x="432016" y="818459"/>
            <a:ext cx="5166360" cy="461665"/>
          </a:xfrm>
          <a:prstGeom prst="rect">
            <a:avLst/>
          </a:prstGeom>
          <a:noFill/>
        </p:spPr>
        <p:txBody>
          <a:bodyPr wrap="square">
            <a:spAutoFit/>
          </a:bodyPr>
          <a:lstStyle/>
          <a:p>
            <a:pPr algn="l"/>
            <a:r>
              <a:rPr lang="zh-CN" altLang="en-US" sz="2400" b="1" dirty="0">
                <a:solidFill>
                  <a:srgbClr val="4F4F4F"/>
                </a:solidFill>
                <a:latin typeface="PingFang SC"/>
              </a:rPr>
              <a:t>四</a:t>
            </a:r>
            <a:r>
              <a:rPr lang="zh-CN" altLang="en-US" sz="2400" b="1" i="0" dirty="0">
                <a:solidFill>
                  <a:srgbClr val="4F4F4F"/>
                </a:solidFill>
                <a:effectLst/>
                <a:latin typeface="PingFang SC"/>
              </a:rPr>
              <a:t>、使用</a:t>
            </a:r>
            <a:r>
              <a:rPr lang="en-US" altLang="zh-CN" sz="2400" b="1" i="0" dirty="0" err="1">
                <a:solidFill>
                  <a:srgbClr val="4F4F4F"/>
                </a:solidFill>
                <a:effectLst/>
                <a:latin typeface="PingFang SC"/>
              </a:rPr>
              <a:t>sklearn</a:t>
            </a:r>
            <a:r>
              <a:rPr lang="zh-CN" altLang="en-US" sz="2400" b="1" i="0" dirty="0">
                <a:solidFill>
                  <a:srgbClr val="4F4F4F"/>
                </a:solidFill>
                <a:effectLst/>
                <a:latin typeface="PingFang SC"/>
              </a:rPr>
              <a:t>中的线性模型</a:t>
            </a:r>
          </a:p>
        </p:txBody>
      </p:sp>
      <p:pic>
        <p:nvPicPr>
          <p:cNvPr id="6" name="图片 5">
            <a:extLst>
              <a:ext uri="{FF2B5EF4-FFF2-40B4-BE49-F238E27FC236}">
                <a16:creationId xmlns:a16="http://schemas.microsoft.com/office/drawing/2014/main" id="{71263DB8-E671-C59B-E6B4-A19D65E47BA8}"/>
              </a:ext>
            </a:extLst>
          </p:cNvPr>
          <p:cNvPicPr>
            <a:picLocks noChangeAspect="1"/>
          </p:cNvPicPr>
          <p:nvPr/>
        </p:nvPicPr>
        <p:blipFill>
          <a:blip r:embed="rId4"/>
          <a:stretch>
            <a:fillRect/>
          </a:stretch>
        </p:blipFill>
        <p:spPr>
          <a:xfrm>
            <a:off x="193930" y="1850804"/>
            <a:ext cx="8756139" cy="1440305"/>
          </a:xfrm>
          <a:prstGeom prst="rect">
            <a:avLst/>
          </a:prstGeom>
        </p:spPr>
      </p:pic>
    </p:spTree>
    <p:extLst>
      <p:ext uri="{BB962C8B-B14F-4D97-AF65-F5344CB8AC3E}">
        <p14:creationId xmlns:p14="http://schemas.microsoft.com/office/powerpoint/2010/main" val="294286476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57884-4BC6-365E-0D63-7A0BB5E167F4}"/>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09235181-D964-3FC8-0BD2-28440E5A950E}"/>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0AD6BEF1-C970-849B-BA46-28E1F388E4FF}"/>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E4A256EE-7A13-77FE-6B5A-92840D9C396D}"/>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7BCBB848-22B1-E3C6-CE42-3F839D157B01}"/>
              </a:ext>
            </a:extLst>
          </p:cNvPr>
          <p:cNvSpPr txBox="1"/>
          <p:nvPr/>
        </p:nvSpPr>
        <p:spPr>
          <a:xfrm>
            <a:off x="432016" y="818459"/>
            <a:ext cx="5166360" cy="461665"/>
          </a:xfrm>
          <a:prstGeom prst="rect">
            <a:avLst/>
          </a:prstGeom>
          <a:noFill/>
        </p:spPr>
        <p:txBody>
          <a:bodyPr wrap="square">
            <a:spAutoFit/>
          </a:bodyPr>
          <a:lstStyle/>
          <a:p>
            <a:pPr algn="l"/>
            <a:r>
              <a:rPr lang="zh-CN" altLang="en-US" sz="2400" b="1" dirty="0">
                <a:solidFill>
                  <a:srgbClr val="4F4F4F"/>
                </a:solidFill>
                <a:latin typeface="PingFang SC"/>
              </a:rPr>
              <a:t>四</a:t>
            </a:r>
            <a:r>
              <a:rPr lang="zh-CN" altLang="en-US" sz="2400" b="1" i="0" dirty="0">
                <a:solidFill>
                  <a:srgbClr val="4F4F4F"/>
                </a:solidFill>
                <a:effectLst/>
                <a:latin typeface="PingFang SC"/>
              </a:rPr>
              <a:t>、使用</a:t>
            </a:r>
            <a:r>
              <a:rPr lang="en-US" altLang="zh-CN" sz="2400" b="1" i="0" dirty="0" err="1">
                <a:solidFill>
                  <a:srgbClr val="4F4F4F"/>
                </a:solidFill>
                <a:effectLst/>
                <a:latin typeface="PingFang SC"/>
              </a:rPr>
              <a:t>sklearn</a:t>
            </a:r>
            <a:r>
              <a:rPr lang="zh-CN" altLang="en-US" sz="2400" b="1" i="0" dirty="0">
                <a:solidFill>
                  <a:srgbClr val="4F4F4F"/>
                </a:solidFill>
                <a:effectLst/>
                <a:latin typeface="PingFang SC"/>
              </a:rPr>
              <a:t>中的线性模型</a:t>
            </a:r>
          </a:p>
        </p:txBody>
      </p:sp>
      <p:pic>
        <p:nvPicPr>
          <p:cNvPr id="7" name="图片 6">
            <a:extLst>
              <a:ext uri="{FF2B5EF4-FFF2-40B4-BE49-F238E27FC236}">
                <a16:creationId xmlns:a16="http://schemas.microsoft.com/office/drawing/2014/main" id="{009C95A3-3FDB-601A-32DA-2209EBF6A189}"/>
              </a:ext>
            </a:extLst>
          </p:cNvPr>
          <p:cNvPicPr>
            <a:picLocks noChangeAspect="1"/>
          </p:cNvPicPr>
          <p:nvPr/>
        </p:nvPicPr>
        <p:blipFill>
          <a:blip r:embed="rId4"/>
          <a:stretch>
            <a:fillRect/>
          </a:stretch>
        </p:blipFill>
        <p:spPr>
          <a:xfrm>
            <a:off x="864064" y="1461390"/>
            <a:ext cx="7679007" cy="3323550"/>
          </a:xfrm>
          <a:prstGeom prst="rect">
            <a:avLst/>
          </a:prstGeom>
        </p:spPr>
      </p:pic>
    </p:spTree>
    <p:extLst>
      <p:ext uri="{BB962C8B-B14F-4D97-AF65-F5344CB8AC3E}">
        <p14:creationId xmlns:p14="http://schemas.microsoft.com/office/powerpoint/2010/main" val="109262996"/>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F88BF-FB85-0A13-6F80-FC429732B60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27E4351F-7EBE-9519-DF08-3A4A3A21FB2B}"/>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3E5D2F66-5E01-CF94-BF64-BA3AE0CC46DE}"/>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ADF018D2-A489-1109-5702-C5FEC62993F9}"/>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565C8209-E0D0-811B-B5D6-672FDA9C6E24}"/>
              </a:ext>
            </a:extLst>
          </p:cNvPr>
          <p:cNvSpPr txBox="1"/>
          <p:nvPr/>
        </p:nvSpPr>
        <p:spPr>
          <a:xfrm>
            <a:off x="432016" y="818459"/>
            <a:ext cx="5166360" cy="461665"/>
          </a:xfrm>
          <a:prstGeom prst="rect">
            <a:avLst/>
          </a:prstGeom>
          <a:noFill/>
        </p:spPr>
        <p:txBody>
          <a:bodyPr wrap="square">
            <a:spAutoFit/>
          </a:bodyPr>
          <a:lstStyle/>
          <a:p>
            <a:pPr algn="l"/>
            <a:r>
              <a:rPr lang="zh-CN" altLang="en-US" sz="2400" b="1" dirty="0">
                <a:solidFill>
                  <a:srgbClr val="4F4F4F"/>
                </a:solidFill>
                <a:latin typeface="PingFang SC"/>
              </a:rPr>
              <a:t>四</a:t>
            </a:r>
            <a:r>
              <a:rPr lang="zh-CN" altLang="en-US" sz="2400" b="1" i="0" dirty="0">
                <a:solidFill>
                  <a:srgbClr val="4F4F4F"/>
                </a:solidFill>
                <a:effectLst/>
                <a:latin typeface="PingFang SC"/>
              </a:rPr>
              <a:t>、使用</a:t>
            </a:r>
            <a:r>
              <a:rPr lang="en-US" altLang="zh-CN" sz="2400" b="1" i="0" dirty="0" err="1">
                <a:solidFill>
                  <a:srgbClr val="4F4F4F"/>
                </a:solidFill>
                <a:effectLst/>
                <a:latin typeface="PingFang SC"/>
              </a:rPr>
              <a:t>sklearn</a:t>
            </a:r>
            <a:r>
              <a:rPr lang="zh-CN" altLang="en-US" sz="2400" b="1" i="0" dirty="0">
                <a:solidFill>
                  <a:srgbClr val="4F4F4F"/>
                </a:solidFill>
                <a:effectLst/>
                <a:latin typeface="PingFang SC"/>
              </a:rPr>
              <a:t>中的线性模型</a:t>
            </a:r>
          </a:p>
        </p:txBody>
      </p:sp>
      <p:pic>
        <p:nvPicPr>
          <p:cNvPr id="6" name="图片 5">
            <a:extLst>
              <a:ext uri="{FF2B5EF4-FFF2-40B4-BE49-F238E27FC236}">
                <a16:creationId xmlns:a16="http://schemas.microsoft.com/office/drawing/2014/main" id="{7AB79A52-D83B-D5BD-5937-2631E34CA305}"/>
              </a:ext>
            </a:extLst>
          </p:cNvPr>
          <p:cNvPicPr>
            <a:picLocks noChangeAspect="1"/>
          </p:cNvPicPr>
          <p:nvPr/>
        </p:nvPicPr>
        <p:blipFill>
          <a:blip r:embed="rId4"/>
          <a:stretch>
            <a:fillRect/>
          </a:stretch>
        </p:blipFill>
        <p:spPr>
          <a:xfrm>
            <a:off x="1303615" y="1374888"/>
            <a:ext cx="6462103" cy="3514376"/>
          </a:xfrm>
          <a:prstGeom prst="rect">
            <a:avLst/>
          </a:prstGeom>
        </p:spPr>
      </p:pic>
    </p:spTree>
    <p:extLst>
      <p:ext uri="{BB962C8B-B14F-4D97-AF65-F5344CB8AC3E}">
        <p14:creationId xmlns:p14="http://schemas.microsoft.com/office/powerpoint/2010/main" val="2079589032"/>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1AED-082B-BC7C-194C-00337001D024}"/>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ECB16C72-102D-CDDD-097C-113DE193D650}"/>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ED89981C-C67E-64F3-537C-C6484D4EDAD2}"/>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48268110-B28D-7B96-9AF9-D51A6762DB02}"/>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A2C4D477-FB63-C3BD-F6AC-A094330B9A30}"/>
              </a:ext>
            </a:extLst>
          </p:cNvPr>
          <p:cNvSpPr txBox="1"/>
          <p:nvPr/>
        </p:nvSpPr>
        <p:spPr>
          <a:xfrm>
            <a:off x="432016" y="818459"/>
            <a:ext cx="5166360" cy="461665"/>
          </a:xfrm>
          <a:prstGeom prst="rect">
            <a:avLst/>
          </a:prstGeom>
          <a:noFill/>
        </p:spPr>
        <p:txBody>
          <a:bodyPr wrap="square">
            <a:spAutoFit/>
          </a:bodyPr>
          <a:lstStyle/>
          <a:p>
            <a:pPr algn="l"/>
            <a:r>
              <a:rPr lang="zh-CN" altLang="en-US" sz="2400" b="1" dirty="0">
                <a:solidFill>
                  <a:srgbClr val="4F4F4F"/>
                </a:solidFill>
                <a:latin typeface="PingFang SC"/>
              </a:rPr>
              <a:t>四</a:t>
            </a:r>
            <a:r>
              <a:rPr lang="zh-CN" altLang="en-US" sz="2400" b="1" i="0" dirty="0">
                <a:solidFill>
                  <a:srgbClr val="4F4F4F"/>
                </a:solidFill>
                <a:effectLst/>
                <a:latin typeface="PingFang SC"/>
              </a:rPr>
              <a:t>、使用</a:t>
            </a:r>
            <a:r>
              <a:rPr lang="en-US" altLang="zh-CN" sz="2400" b="1" i="0" dirty="0" err="1">
                <a:solidFill>
                  <a:srgbClr val="4F4F4F"/>
                </a:solidFill>
                <a:effectLst/>
                <a:latin typeface="PingFang SC"/>
              </a:rPr>
              <a:t>sklearn</a:t>
            </a:r>
            <a:r>
              <a:rPr lang="zh-CN" altLang="en-US" sz="2400" b="1" i="0" dirty="0">
                <a:solidFill>
                  <a:srgbClr val="4F4F4F"/>
                </a:solidFill>
                <a:effectLst/>
                <a:latin typeface="PingFang SC"/>
              </a:rPr>
              <a:t>中的线性模型</a:t>
            </a:r>
          </a:p>
        </p:txBody>
      </p:sp>
      <p:pic>
        <p:nvPicPr>
          <p:cNvPr id="7" name="图片 6">
            <a:extLst>
              <a:ext uri="{FF2B5EF4-FFF2-40B4-BE49-F238E27FC236}">
                <a16:creationId xmlns:a16="http://schemas.microsoft.com/office/drawing/2014/main" id="{9B287C1F-A931-7DD7-9A3C-A55290D09167}"/>
              </a:ext>
            </a:extLst>
          </p:cNvPr>
          <p:cNvPicPr>
            <a:picLocks noChangeAspect="1"/>
          </p:cNvPicPr>
          <p:nvPr/>
        </p:nvPicPr>
        <p:blipFill>
          <a:blip r:embed="rId4"/>
          <a:stretch>
            <a:fillRect/>
          </a:stretch>
        </p:blipFill>
        <p:spPr>
          <a:xfrm>
            <a:off x="323528" y="2930996"/>
            <a:ext cx="8077900" cy="1051651"/>
          </a:xfrm>
          <a:prstGeom prst="rect">
            <a:avLst/>
          </a:prstGeom>
        </p:spPr>
      </p:pic>
      <p:sp>
        <p:nvSpPr>
          <p:cNvPr id="8" name="文本框 7">
            <a:extLst>
              <a:ext uri="{FF2B5EF4-FFF2-40B4-BE49-F238E27FC236}">
                <a16:creationId xmlns:a16="http://schemas.microsoft.com/office/drawing/2014/main" id="{F91EABC5-0660-E18E-2276-A66CAFE08F3A}"/>
              </a:ext>
            </a:extLst>
          </p:cNvPr>
          <p:cNvSpPr txBox="1"/>
          <p:nvPr/>
        </p:nvSpPr>
        <p:spPr>
          <a:xfrm>
            <a:off x="539552" y="1749251"/>
            <a:ext cx="5166360" cy="461665"/>
          </a:xfrm>
          <a:prstGeom prst="rect">
            <a:avLst/>
          </a:prstGeom>
          <a:noFill/>
        </p:spPr>
        <p:txBody>
          <a:bodyPr wrap="square">
            <a:spAutoFit/>
          </a:bodyPr>
          <a:lstStyle/>
          <a:p>
            <a:pPr algn="l"/>
            <a:r>
              <a:rPr lang="zh-CN" altLang="en-US" sz="2400" b="1" dirty="0">
                <a:solidFill>
                  <a:srgbClr val="FF0000"/>
                </a:solidFill>
                <a:latin typeface="PingFang SC"/>
              </a:rPr>
              <a:t>结果和我们手动计算的结果完全一样</a:t>
            </a:r>
            <a:endParaRPr lang="zh-CN" altLang="en-US" sz="2400" b="1" i="0" dirty="0">
              <a:solidFill>
                <a:srgbClr val="FF0000"/>
              </a:solidFill>
              <a:effectLst/>
              <a:latin typeface="PingFang SC"/>
            </a:endParaRPr>
          </a:p>
        </p:txBody>
      </p:sp>
    </p:spTree>
    <p:extLst>
      <p:ext uri="{BB962C8B-B14F-4D97-AF65-F5344CB8AC3E}">
        <p14:creationId xmlns:p14="http://schemas.microsoft.com/office/powerpoint/2010/main" val="787003669"/>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8D274-E303-43AC-8E8A-D09243A4E04D}"/>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1E525EA4-F5C7-2C1B-279E-2DD6A42C83BB}"/>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pic>
        <p:nvPicPr>
          <p:cNvPr id="2" name="图片 1" descr="20100508053929509.png">
            <a:extLst>
              <a:ext uri="{FF2B5EF4-FFF2-40B4-BE49-F238E27FC236}">
                <a16:creationId xmlns:a16="http://schemas.microsoft.com/office/drawing/2014/main" id="{6A333F83-D69D-16F6-B1AA-EECD0CA1319E}"/>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0591F9BE-9EEE-CDE7-2C77-3705EB3A2544}"/>
              </a:ext>
            </a:extLst>
          </p:cNvPr>
          <p:cNvSpPr txBox="1"/>
          <p:nvPr/>
        </p:nvSpPr>
        <p:spPr>
          <a:xfrm>
            <a:off x="107504" y="889578"/>
            <a:ext cx="8460464" cy="461665"/>
          </a:xfrm>
          <a:prstGeom prst="rect">
            <a:avLst/>
          </a:prstGeom>
          <a:noFill/>
        </p:spPr>
        <p:txBody>
          <a:bodyPr wrap="square">
            <a:spAutoFit/>
          </a:bodyPr>
          <a:lstStyle/>
          <a:p>
            <a:pPr algn="l"/>
            <a:r>
              <a:rPr lang="zh-CN" altLang="en-US" sz="2400" b="1" i="0" dirty="0">
                <a:solidFill>
                  <a:srgbClr val="4F4F4F"/>
                </a:solidFill>
                <a:effectLst/>
                <a:latin typeface="PingFang SC"/>
              </a:rPr>
              <a:t>五、对数据进行可视化，并观察预测回归直线和预测误差分布</a:t>
            </a:r>
          </a:p>
        </p:txBody>
      </p:sp>
      <p:pic>
        <p:nvPicPr>
          <p:cNvPr id="6" name="图片 5">
            <a:extLst>
              <a:ext uri="{FF2B5EF4-FFF2-40B4-BE49-F238E27FC236}">
                <a16:creationId xmlns:a16="http://schemas.microsoft.com/office/drawing/2014/main" id="{C3F1C8FB-3BD9-5DCE-70C4-B10CBF73BBF5}"/>
              </a:ext>
            </a:extLst>
          </p:cNvPr>
          <p:cNvPicPr>
            <a:picLocks noChangeAspect="1"/>
          </p:cNvPicPr>
          <p:nvPr/>
        </p:nvPicPr>
        <p:blipFill>
          <a:blip r:embed="rId4"/>
          <a:stretch>
            <a:fillRect/>
          </a:stretch>
        </p:blipFill>
        <p:spPr>
          <a:xfrm>
            <a:off x="251520" y="1470886"/>
            <a:ext cx="7062230" cy="3427693"/>
          </a:xfrm>
          <a:prstGeom prst="rect">
            <a:avLst/>
          </a:prstGeom>
        </p:spPr>
      </p:pic>
      <p:sp>
        <p:nvSpPr>
          <p:cNvPr id="11" name="文本框 10">
            <a:extLst>
              <a:ext uri="{FF2B5EF4-FFF2-40B4-BE49-F238E27FC236}">
                <a16:creationId xmlns:a16="http://schemas.microsoft.com/office/drawing/2014/main" id="{75932EFC-DDFF-0F0C-8DC8-061F7399D5E1}"/>
              </a:ext>
            </a:extLst>
          </p:cNvPr>
          <p:cNvSpPr txBox="1"/>
          <p:nvPr/>
        </p:nvSpPr>
        <p:spPr>
          <a:xfrm>
            <a:off x="7487848" y="1850876"/>
            <a:ext cx="1080120" cy="2308324"/>
          </a:xfrm>
          <a:prstGeom prst="rect">
            <a:avLst/>
          </a:prstGeom>
          <a:noFill/>
        </p:spPr>
        <p:txBody>
          <a:bodyPr wrap="square">
            <a:spAutoFit/>
          </a:bodyPr>
          <a:lstStyle/>
          <a:p>
            <a:pPr algn="l"/>
            <a:r>
              <a:rPr lang="en-US" altLang="zh-CN" sz="1600" b="1" i="0" dirty="0" err="1">
                <a:solidFill>
                  <a:srgbClr val="4F4F4F"/>
                </a:solidFill>
                <a:effectLst/>
                <a:latin typeface="PingFang SC"/>
              </a:rPr>
              <a:t>plt.scatter</a:t>
            </a:r>
            <a:endParaRPr lang="en-US" altLang="zh-CN" sz="1600" b="1" i="0" dirty="0">
              <a:solidFill>
                <a:srgbClr val="4F4F4F"/>
              </a:solidFill>
              <a:effectLst/>
              <a:latin typeface="PingFang SC"/>
            </a:endParaRPr>
          </a:p>
          <a:p>
            <a:pPr algn="l"/>
            <a:r>
              <a:rPr lang="zh-CN" altLang="en-US" sz="1600" b="1" dirty="0">
                <a:solidFill>
                  <a:srgbClr val="4F4F4F"/>
                </a:solidFill>
                <a:latin typeface="PingFang SC"/>
              </a:rPr>
              <a:t>横坐标是真实值，红线方程是</a:t>
            </a:r>
            <a:r>
              <a:rPr lang="en-US" altLang="zh-CN" sz="1600" b="1" dirty="0">
                <a:solidFill>
                  <a:srgbClr val="4F4F4F"/>
                </a:solidFill>
                <a:latin typeface="PingFang SC"/>
              </a:rPr>
              <a:t>Y=X</a:t>
            </a:r>
            <a:r>
              <a:rPr lang="zh-CN" altLang="en-US" sz="1600" b="1" dirty="0">
                <a:solidFill>
                  <a:srgbClr val="4F4F4F"/>
                </a:solidFill>
                <a:latin typeface="PingFang SC"/>
              </a:rPr>
              <a:t>，所以原点离红线越近代表预测越准确</a:t>
            </a:r>
            <a:endParaRPr lang="zh-CN" altLang="en-US" sz="1600" b="1" i="0" dirty="0">
              <a:solidFill>
                <a:srgbClr val="4F4F4F"/>
              </a:solidFill>
              <a:effectLst/>
              <a:latin typeface="PingFang SC"/>
            </a:endParaRPr>
          </a:p>
        </p:txBody>
      </p:sp>
    </p:spTree>
    <p:extLst>
      <p:ext uri="{BB962C8B-B14F-4D97-AF65-F5344CB8AC3E}">
        <p14:creationId xmlns:p14="http://schemas.microsoft.com/office/powerpoint/2010/main" val="168747499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BEF2-B652-F335-23AD-B9AE0512867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60A23453-1312-3F3D-1EF8-BEE8864FAD64}"/>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C1C93A6B-1D6D-4D51-F98F-A41983EF3B79}"/>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6D37866B-8433-8B9D-581F-D09F01BAE61F}"/>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99D86216-CA04-9976-D0DA-16BF0BAD957B}"/>
              </a:ext>
            </a:extLst>
          </p:cNvPr>
          <p:cNvSpPr txBox="1"/>
          <p:nvPr/>
        </p:nvSpPr>
        <p:spPr>
          <a:xfrm>
            <a:off x="107504" y="889578"/>
            <a:ext cx="8460464" cy="461665"/>
          </a:xfrm>
          <a:prstGeom prst="rect">
            <a:avLst/>
          </a:prstGeom>
          <a:noFill/>
        </p:spPr>
        <p:txBody>
          <a:bodyPr wrap="square">
            <a:spAutoFit/>
          </a:bodyPr>
          <a:lstStyle/>
          <a:p>
            <a:pPr algn="l"/>
            <a:r>
              <a:rPr lang="zh-CN" altLang="en-US" sz="2400" b="1" i="0" dirty="0">
                <a:solidFill>
                  <a:srgbClr val="4F4F4F"/>
                </a:solidFill>
                <a:effectLst/>
                <a:latin typeface="PingFang SC"/>
              </a:rPr>
              <a:t>五、对数据进行可视化，并观察预测回归直线和预测误差分布</a:t>
            </a:r>
          </a:p>
        </p:txBody>
      </p:sp>
      <p:pic>
        <p:nvPicPr>
          <p:cNvPr id="9" name="图片 8">
            <a:extLst>
              <a:ext uri="{FF2B5EF4-FFF2-40B4-BE49-F238E27FC236}">
                <a16:creationId xmlns:a16="http://schemas.microsoft.com/office/drawing/2014/main" id="{98F43F56-A05D-A1F5-0864-86405E64CF0A}"/>
              </a:ext>
            </a:extLst>
          </p:cNvPr>
          <p:cNvPicPr>
            <a:picLocks noChangeAspect="1"/>
          </p:cNvPicPr>
          <p:nvPr/>
        </p:nvPicPr>
        <p:blipFill>
          <a:blip r:embed="rId4"/>
          <a:stretch>
            <a:fillRect/>
          </a:stretch>
        </p:blipFill>
        <p:spPr>
          <a:xfrm>
            <a:off x="1547664" y="1422294"/>
            <a:ext cx="5184576" cy="3591823"/>
          </a:xfrm>
          <a:prstGeom prst="rect">
            <a:avLst/>
          </a:prstGeom>
        </p:spPr>
      </p:pic>
    </p:spTree>
    <p:extLst>
      <p:ext uri="{BB962C8B-B14F-4D97-AF65-F5344CB8AC3E}">
        <p14:creationId xmlns:p14="http://schemas.microsoft.com/office/powerpoint/2010/main" val="2945826830"/>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BAF4D-45EB-C7BF-45D9-775B8D9BFD66}"/>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0A16DDCC-57A1-1E19-D646-6B5DD58D06E6}"/>
              </a:ext>
            </a:extLst>
          </p:cNvPr>
          <p:cNvSpPr txBox="1"/>
          <p:nvPr/>
        </p:nvSpPr>
        <p:spPr>
          <a:xfrm>
            <a:off x="2587659" y="204238"/>
            <a:ext cx="3894016" cy="584775"/>
          </a:xfrm>
          <a:prstGeom prst="rect">
            <a:avLst/>
          </a:prstGeom>
          <a:noFill/>
        </p:spPr>
        <p:txBody>
          <a:bodyPr wrap="none" rtlCol="0">
            <a:spAutoFit/>
          </a:bodyPr>
          <a:lstStyle/>
          <a:p>
            <a:pPr algn="ctr" defTabSz="822686">
              <a:defRPr/>
            </a:pPr>
            <a:r>
              <a:rPr lang="zh-CN" altLang="en-US" sz="3200" b="1" dirty="0">
                <a:latin typeface="宋体" panose="02010600030101010101" pitchFamily="2" charset="-122"/>
                <a:ea typeface="宋体" panose="02010600030101010101" pitchFamily="2" charset="-122"/>
              </a:rPr>
              <a:t>第</a:t>
            </a:r>
            <a:r>
              <a:rPr lang="en-US" altLang="zh-CN" sz="3200" b="1" dirty="0">
                <a:latin typeface="宋体" panose="02010600030101010101" pitchFamily="2" charset="-122"/>
                <a:ea typeface="宋体" panose="02010600030101010101" pitchFamily="2" charset="-122"/>
              </a:rPr>
              <a:t>4</a:t>
            </a:r>
            <a:r>
              <a:rPr lang="zh-CN" altLang="en-US" sz="3200" b="1" dirty="0">
                <a:latin typeface="宋体" panose="02010600030101010101" pitchFamily="2" charset="-122"/>
                <a:ea typeface="宋体" panose="02010600030101010101" pitchFamily="2" charset="-122"/>
              </a:rPr>
              <a:t>章 线性回归算法</a:t>
            </a:r>
            <a:endParaRPr lang="zh-CN" altLang="en-US" sz="3200" kern="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EC23B46D-9EDD-D3E0-6D43-FEDFA8BB6CD7}"/>
              </a:ext>
            </a:extLst>
          </p:cNvPr>
          <p:cNvSpPr txBox="1"/>
          <p:nvPr/>
        </p:nvSpPr>
        <p:spPr>
          <a:xfrm>
            <a:off x="-1188640" y="999725"/>
            <a:ext cx="8352928" cy="400110"/>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     </a:t>
            </a:r>
            <a:endParaRPr lang="en-US" altLang="zh-CN" sz="2000" dirty="0">
              <a:latin typeface="宋体" panose="02010600030101010101" pitchFamily="2" charset="-122"/>
            </a:endParaRPr>
          </a:p>
        </p:txBody>
      </p:sp>
      <p:pic>
        <p:nvPicPr>
          <p:cNvPr id="2" name="图片 1" descr="20100508053929509.png">
            <a:extLst>
              <a:ext uri="{FF2B5EF4-FFF2-40B4-BE49-F238E27FC236}">
                <a16:creationId xmlns:a16="http://schemas.microsoft.com/office/drawing/2014/main" id="{7246B2A9-A1EC-D1AB-A129-ECD1B1EC2595}"/>
              </a:ext>
            </a:extLst>
          </p:cNvPr>
          <p:cNvPicPr>
            <a:picLocks noChangeAspect="1"/>
          </p:cNvPicPr>
          <p:nvPr/>
        </p:nvPicPr>
        <p:blipFill>
          <a:blip r:embed="rId3" cstate="print"/>
          <a:stretch>
            <a:fillRect/>
          </a:stretch>
        </p:blipFill>
        <p:spPr>
          <a:xfrm>
            <a:off x="-32" y="64578"/>
            <a:ext cx="864096" cy="864096"/>
          </a:xfrm>
          <a:prstGeom prst="rect">
            <a:avLst/>
          </a:prstGeom>
        </p:spPr>
      </p:pic>
      <p:sp>
        <p:nvSpPr>
          <p:cNvPr id="5" name="文本框 4">
            <a:extLst>
              <a:ext uri="{FF2B5EF4-FFF2-40B4-BE49-F238E27FC236}">
                <a16:creationId xmlns:a16="http://schemas.microsoft.com/office/drawing/2014/main" id="{FED15CB9-0C9A-B989-FA48-8498F5A20EF1}"/>
              </a:ext>
            </a:extLst>
          </p:cNvPr>
          <p:cNvSpPr txBox="1"/>
          <p:nvPr/>
        </p:nvSpPr>
        <p:spPr>
          <a:xfrm>
            <a:off x="107504" y="889578"/>
            <a:ext cx="8460464" cy="461665"/>
          </a:xfrm>
          <a:prstGeom prst="rect">
            <a:avLst/>
          </a:prstGeom>
          <a:noFill/>
        </p:spPr>
        <p:txBody>
          <a:bodyPr wrap="square">
            <a:spAutoFit/>
          </a:bodyPr>
          <a:lstStyle/>
          <a:p>
            <a:pPr algn="l"/>
            <a:r>
              <a:rPr lang="zh-CN" altLang="en-US" sz="2400" b="1" i="0" dirty="0">
                <a:solidFill>
                  <a:srgbClr val="4F4F4F"/>
                </a:solidFill>
                <a:effectLst/>
                <a:latin typeface="PingFang SC"/>
              </a:rPr>
              <a:t>五、对数据进行可视化，并观察预测回归直线和预测误差分布</a:t>
            </a:r>
          </a:p>
        </p:txBody>
      </p:sp>
      <p:pic>
        <p:nvPicPr>
          <p:cNvPr id="6" name="图片 5">
            <a:extLst>
              <a:ext uri="{FF2B5EF4-FFF2-40B4-BE49-F238E27FC236}">
                <a16:creationId xmlns:a16="http://schemas.microsoft.com/office/drawing/2014/main" id="{DC089CB3-EC63-C75C-8CE3-AD4C4380BB66}"/>
              </a:ext>
            </a:extLst>
          </p:cNvPr>
          <p:cNvPicPr>
            <a:picLocks noChangeAspect="1"/>
          </p:cNvPicPr>
          <p:nvPr/>
        </p:nvPicPr>
        <p:blipFill>
          <a:blip r:embed="rId4"/>
          <a:stretch>
            <a:fillRect/>
          </a:stretch>
        </p:blipFill>
        <p:spPr>
          <a:xfrm>
            <a:off x="1024530" y="1366835"/>
            <a:ext cx="7147869" cy="3598330"/>
          </a:xfrm>
          <a:prstGeom prst="rect">
            <a:avLst/>
          </a:prstGeom>
        </p:spPr>
      </p:pic>
    </p:spTree>
    <p:extLst>
      <p:ext uri="{BB962C8B-B14F-4D97-AF65-F5344CB8AC3E}">
        <p14:creationId xmlns:p14="http://schemas.microsoft.com/office/powerpoint/2010/main" val="2169791898"/>
      </p:ext>
    </p:extLst>
  </p:cSld>
  <p:clrMapOvr>
    <a:masterClrMapping/>
  </p:clrMapOvr>
  <mc:AlternateContent xmlns:mc="http://schemas.openxmlformats.org/markup-compatibility/2006" xmlns:p14="http://schemas.microsoft.com/office/powerpoint/2010/main">
    <mc:Choice Requires="p14">
      <p:transition spd="slow" p14:dur="2000" advTm="8264"/>
    </mc:Choice>
    <mc:Fallback xmlns="">
      <p:transition spd="slow" advTm="8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bg1">
                <a:lumMod val="75000"/>
              </a:schemeClr>
            </a:gs>
            <a:gs pos="50000">
              <a:schemeClr val="bg1">
                <a:lumMod val="95000"/>
              </a:schemeClr>
            </a:gs>
            <a:gs pos="100000">
              <a:schemeClr val="bg1"/>
            </a:gs>
          </a:gsLst>
          <a:lin ang="2700000" scaled="1"/>
          <a:tileRect/>
        </a:gradFill>
        <a:ln w="12700">
          <a:gradFill>
            <a:gsLst>
              <a:gs pos="100000">
                <a:schemeClr val="bg1">
                  <a:lumMod val="75000"/>
                </a:schemeClr>
              </a:gs>
              <a:gs pos="50000">
                <a:schemeClr val="bg1">
                  <a:lumMod val="95000"/>
                </a:schemeClr>
              </a:gs>
              <a:gs pos="0">
                <a:schemeClr val="bg1"/>
              </a:gs>
            </a:gsLst>
            <a:lin ang="5400000" scaled="0"/>
          </a:gradFill>
        </a:ln>
        <a:effectLst>
          <a:outerShdw blurRad="254000" dist="190500" dir="3540000" sx="105000" sy="105000" algn="tl" rotWithShape="0">
            <a:srgbClr val="A44A00">
              <a:alpha val="25000"/>
            </a:srgbClr>
          </a:outerShdw>
        </a:effectLst>
      </a:spPr>
      <a:bodyPr rtlCol="0" anchor="ctr"/>
      <a:lstStyle>
        <a:defPPr algn="ctr">
          <a:defRPr>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第0章 课程说明.potx" id="{437E4210-DF9B-40D2-AB7F-7247346DC1A6}" vid="{3EB706F5-A3C8-4C0C-96A8-58DCE5A24CF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4830</TotalTime>
  <Words>830</Words>
  <Application>Microsoft Office PowerPoint</Application>
  <PresentationFormat>自定义</PresentationFormat>
  <Paragraphs>153</Paragraphs>
  <Slides>33</Slides>
  <Notes>33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PingFang SC</vt:lpstr>
      <vt:lpstr>华文楷体</vt:lpstr>
      <vt:lpstr>宋体</vt:lpstr>
      <vt:lpstr>Arial</vt:lpstr>
      <vt:lpstr>Calibri</vt:lpstr>
      <vt:lpstr>Cambria Math</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简洁工作汇报</dc:title>
  <dc:creator>第一PPT模板网：www.1ppt.com</dc:creator>
  <cp:keywords>第一PPT模板网：www.1ppt.com</cp:keywords>
  <cp:lastModifiedBy>Administrator</cp:lastModifiedBy>
  <cp:revision>319</cp:revision>
  <dcterms:created xsi:type="dcterms:W3CDTF">2015-10-15T23:19:12Z</dcterms:created>
  <dcterms:modified xsi:type="dcterms:W3CDTF">2024-10-28T14:07:28Z</dcterms:modified>
</cp:coreProperties>
</file>