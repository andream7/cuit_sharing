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6" r:id="rId2"/>
    <p:sldId id="865" r:id="rId3"/>
    <p:sldId id="866" r:id="rId4"/>
    <p:sldId id="869" r:id="rId5"/>
    <p:sldId id="870" r:id="rId6"/>
    <p:sldId id="871" r:id="rId7"/>
    <p:sldId id="872" r:id="rId8"/>
    <p:sldId id="873" r:id="rId9"/>
    <p:sldId id="874" r:id="rId10"/>
    <p:sldId id="875" r:id="rId11"/>
    <p:sldId id="876" r:id="rId12"/>
    <p:sldId id="877" r:id="rId13"/>
    <p:sldId id="868" r:id="rId14"/>
    <p:sldId id="878" r:id="rId15"/>
    <p:sldId id="887" r:id="rId16"/>
    <p:sldId id="886" r:id="rId17"/>
    <p:sldId id="879" r:id="rId18"/>
    <p:sldId id="889" r:id="rId19"/>
    <p:sldId id="890" r:id="rId20"/>
    <p:sldId id="891" r:id="rId21"/>
    <p:sldId id="880" r:id="rId22"/>
    <p:sldId id="881" r:id="rId23"/>
    <p:sldId id="882" r:id="rId24"/>
    <p:sldId id="883" r:id="rId25"/>
    <p:sldId id="884" r:id="rId26"/>
    <p:sldId id="885" r:id="rId27"/>
    <p:sldId id="888" r:id="rId28"/>
  </p:sldIdLst>
  <p:sldSz cx="9144000" cy="5141913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19">
          <p15:clr>
            <a:srgbClr val="A4A3A4"/>
          </p15:clr>
        </p15:guide>
        <p15:guide id="2" pos="2880">
          <p15:clr>
            <a:srgbClr val="A4A3A4"/>
          </p15:clr>
        </p15:guide>
        <p15:guide id="3" pos="129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434"/>
    <a:srgbClr val="EEAF57"/>
    <a:srgbClr val="108692"/>
    <a:srgbClr val="16B2C1"/>
    <a:srgbClr val="19BAA9"/>
    <a:srgbClr val="B2D138"/>
    <a:srgbClr val="89A13D"/>
    <a:srgbClr val="E33F24"/>
    <a:srgbClr val="138F81"/>
    <a:srgbClr val="A44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1502" autoAdjust="0"/>
    <p:restoredTop sz="93450" autoAdjust="0"/>
  </p:normalViewPr>
  <p:slideViewPr>
    <p:cSldViewPr showGuides="1">
      <p:cViewPr varScale="1">
        <p:scale>
          <a:sx n="100" d="100"/>
          <a:sy n="100" d="100"/>
        </p:scale>
        <p:origin x="662" y="67"/>
      </p:cViewPr>
      <p:guideLst>
        <p:guide orient="horz" pos="1619"/>
        <p:guide pos="2880"/>
        <p:guide pos="129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43531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ags" Target="tags/tag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044898-C4BB-437C-9A8D-230A78619F8D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AF454-C1DB-447C-9EEC-A5F3AC4DF9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87849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ED5ADF-93AE-4238-903C-1AC36264F4B8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587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234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A8937-2051-7E61-9C4F-4C60F7175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48D9EDC-A2E4-F00F-7362-2CB9C50E0E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924C98-D66C-E347-8204-68980932A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3552D96-625A-6CAB-C63E-0712F5DBCF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52086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9B05D-D358-EEE9-34E9-4D100F505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64D10C-9931-8AFA-56DA-B77F831A92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E0B945-F4FF-B809-0CFF-BC5B9B7971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C22AEEE-340E-FEFF-D39B-4C6F359CC5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946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31C94-B110-A212-1381-F502A8796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E96EB4-96D7-50CC-E6CD-61D854880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E691936-6B64-A005-B6A5-D20362E99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9AE17C3-64FC-92FE-DD66-E910D3FBDD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5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6D9267-6120-3B83-534E-D93705301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19570EF-9265-2CF2-1A61-2E307EBC7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D74A4DA-53B7-7A3D-0214-A954585595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A2C57A-665A-4D9B-3DEC-5CF4337CEF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13151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7172B-E0EC-F796-A0DB-99037814C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7CC3562-2FAE-48B2-17B6-C333DFAC08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5BB5405-0A1F-234E-C170-C641E46CCE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043B8C-274F-D68C-6A5B-26A0A0C30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43592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ECFAF-6EFF-BFDD-BBA8-F9DF7A06F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F59FBA-18FF-0394-23BC-7DC1BD832E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3AFE963-2CAC-17EB-3049-D461FA5E83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A8899F-3CC0-B181-C19C-CFD4881338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8526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2FD43-FBF6-ECEA-98AD-92A40C524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F36F744-C56E-C92A-54A4-62402BFC99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7E952CF-8FC9-C3E3-3AC4-125F52A57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ADF3F62-528F-DF53-86A8-35962FCDF5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575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AEC5A-839F-13DA-F4B4-816AFA920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26E44D0-69C9-571A-6815-721AE50DA5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ED20AC6-0365-4E0E-E70B-57BE192D1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FBA9035-C219-EA33-494E-F922601F49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13871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9A4EF-27E3-F4F1-33BE-99BB04B6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95F68A4-2B63-09B7-ED38-D41F7E85D3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E8F77E-364F-BE46-7FE0-85C87D536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85D5A04-4DF6-1AD2-C53F-EE4F9452B10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5255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16CF9-CE66-F47F-0F21-97C4FFE51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E6C49C9-0D72-9CC1-8FD9-50070D1AA2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8C56AB-308D-BEFC-3CBE-A8CD37E436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E52A8DA-9FA7-5A81-5610-27DF1C168EC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2870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C8D25-03C1-BBA2-CFDA-2D20617D9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9D36AB0-93F7-C88A-8C72-B0E1004D6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1285379-AEF5-C7DF-9F71-609A6992A6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9BE4C2-F8A3-6564-AA0F-41508D8E02A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13231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F2969-FBC6-6458-AB8E-0763E281A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B7F04E4-2831-8809-165E-50BD096BE3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F513524-D387-0A2D-314B-C9A15285CF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8EB0FE-4575-9E0B-44BD-633409165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0431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8D43FB-3E74-5D13-9443-3E2B7E220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F1B1F2-1ED1-E34A-4783-E8FAC6E6F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71C3EE-0568-A674-F777-FD9458FAD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BE93C4-A3F0-1D72-5F73-5061291003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233707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4C259B-C507-2770-CF96-6B79A1885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5BC6F13-5BC1-F460-6530-3511B3055F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A5B91C-0BD2-E007-70F4-93D134769E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9223FD-3400-5AB7-B9EC-C690DC51D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89091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81D1C-9106-9CB0-B25D-B4F14AB45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BCB7AF5-F17D-9B1E-F026-EA3995FD6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30B951-559A-8FCD-9BE6-F5706E3E13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367A2E-AC3C-905E-ECC8-C55A9BDE4C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289367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DFE89-5E61-4B50-A71E-EB20D9B3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9337F1C-66FD-EFB3-D3C4-06A254B4CA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82292C0-30BD-5B0C-C5CE-5141F0F2E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4B0AB1-7638-9E77-D4CB-BB39FB9E3F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67033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662E9-32CD-4C6D-74EF-62CAE0C7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20002F-32C6-5449-50ED-C2259F316B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D497EB8-8389-0230-443A-444669D4C3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2841024-3981-B4C1-3D12-116E57BF11E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854995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4EF3C-D471-CF16-4578-9D79E7049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DED480-6F14-3A7B-6AB6-33D5CB9A5F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412797A-61DA-1F88-B8C9-678AE8C360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7B9479-97A1-022D-B42E-2B20548074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8293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0E887-C459-B909-8832-A5319D284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099118C-EE4A-6ABF-84EF-2D525C7C4A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6B30CE-0FC4-B802-D768-A54D6A4C7E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54DAD0-A8B8-BE55-88F4-08EE65D58E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85293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1962B-F3B2-E768-7F66-2D8D516AE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B7090F5-129B-468F-8BE2-63D25764C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1AD3A6-6B61-D2A7-FA5E-9F05B2940D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CF8B09-D503-F260-9A18-BFAE9DE7CA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7603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D970C-5E3D-25C2-761A-C37AD198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4AAEF94-BD05-219E-1975-55D8585681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C9135A7-0A45-441F-9FD3-1573A72264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3C5520-DB16-4823-FCE3-7331088396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74593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C8AA-37ED-D291-B202-BE87F64BA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09C2D7D-76A9-18C2-6D95-FA8FEF001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40C40C-AE80-07DE-7398-F39BE2FC58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437189-9D0A-0103-989D-984B585AC9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55405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55D00-E652-5B17-4084-6F2C2C0B96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8A85DD-4E0C-3FE2-49E0-7B0D27EC7D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27691A-C31E-FE86-DD5E-C20C9FC5F8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7C2A53-2304-6198-CEC9-77F07745E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58468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93355-C5A9-C7DF-E1C1-8D36555FF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2FECF82-780B-022F-715C-0AAFD93E02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9D31C4-5567-1958-B3BE-A48FB66EF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1D6241-1914-D73B-67AD-4C4E14D2C8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78620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39087-6FBE-4C99-97D4-86DC4311F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E9D42F5-2D43-C450-3B2A-1D4245763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A95044D-1CD9-29FF-92CA-B538E43B4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75C237-3AB1-A635-14D7-BC8EAA613B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3082F6-F77F-487A-A20D-05E951C2AB1F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0372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326"/>
            <a:ext cx="7772400" cy="110217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3751"/>
            <a:ext cx="6400800" cy="131404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0361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4691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4156"/>
            <a:ext cx="7772400" cy="1021241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79363"/>
            <a:ext cx="7772400" cy="112479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0401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899835"/>
            <a:ext cx="4038600" cy="25435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899835"/>
            <a:ext cx="4038600" cy="254358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785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15"/>
            <a:ext cx="8229600" cy="85698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0980"/>
            <a:ext cx="4040188" cy="4796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0653"/>
            <a:ext cx="4040188" cy="29625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0980"/>
            <a:ext cx="4041775" cy="47967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0653"/>
            <a:ext cx="4041775" cy="29625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2337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618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2439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24"/>
            <a:ext cx="3008313" cy="87126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25"/>
            <a:ext cx="5111750" cy="43884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5993"/>
            <a:ext cx="3008313" cy="35172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0608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599339"/>
            <a:ext cx="5486400" cy="4249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439"/>
            <a:ext cx="5486400" cy="308514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4262"/>
            <a:ext cx="5486400" cy="60346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456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090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34"/>
            <a:ext cx="2057400" cy="328868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34"/>
            <a:ext cx="6019800" cy="328868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78740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329701" y="691898"/>
            <a:ext cx="2484599" cy="34279"/>
            <a:chOff x="1198662" y="-603448"/>
            <a:chExt cx="4188175" cy="72008"/>
          </a:xfrm>
        </p:grpSpPr>
        <p:sp>
          <p:nvSpPr>
            <p:cNvPr id="4" name="矩形 3"/>
            <p:cNvSpPr/>
            <p:nvPr/>
          </p:nvSpPr>
          <p:spPr>
            <a:xfrm>
              <a:off x="1198662" y="-603448"/>
              <a:ext cx="837635" cy="72008"/>
            </a:xfrm>
            <a:prstGeom prst="rect">
              <a:avLst/>
            </a:prstGeom>
            <a:solidFill>
              <a:srgbClr val="FFAC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矩形 4"/>
            <p:cNvSpPr/>
            <p:nvPr/>
          </p:nvSpPr>
          <p:spPr>
            <a:xfrm>
              <a:off x="2036297" y="-603448"/>
              <a:ext cx="837635" cy="72008"/>
            </a:xfrm>
            <a:prstGeom prst="rect">
              <a:avLst/>
            </a:prstGeom>
            <a:solidFill>
              <a:srgbClr val="DF59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" name="矩形 5"/>
            <p:cNvSpPr/>
            <p:nvPr/>
          </p:nvSpPr>
          <p:spPr>
            <a:xfrm>
              <a:off x="2873932" y="-603448"/>
              <a:ext cx="837635" cy="72008"/>
            </a:xfrm>
            <a:prstGeom prst="rect">
              <a:avLst/>
            </a:prstGeom>
            <a:solidFill>
              <a:srgbClr val="49C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3711567" y="-603448"/>
              <a:ext cx="837635" cy="72008"/>
            </a:xfrm>
            <a:prstGeom prst="rect">
              <a:avLst/>
            </a:prstGeom>
            <a:solidFill>
              <a:srgbClr val="3BA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矩形 8"/>
            <p:cNvSpPr/>
            <p:nvPr/>
          </p:nvSpPr>
          <p:spPr>
            <a:xfrm>
              <a:off x="4549202" y="-603448"/>
              <a:ext cx="837635" cy="72008"/>
            </a:xfrm>
            <a:prstGeom prst="rect">
              <a:avLst/>
            </a:prstGeom>
            <a:solidFill>
              <a:srgbClr val="9DCB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矩形 1"/>
          <p:cNvSpPr/>
          <p:nvPr/>
        </p:nvSpPr>
        <p:spPr>
          <a:xfrm>
            <a:off x="0" y="951277"/>
            <a:ext cx="9144000" cy="3725264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8D4214A4-CC29-49CA-88C6-9CB466401618}"/>
              </a:ext>
            </a:extLst>
          </p:cNvPr>
          <p:cNvGrpSpPr/>
          <p:nvPr userDrawn="1"/>
        </p:nvGrpSpPr>
        <p:grpSpPr>
          <a:xfrm>
            <a:off x="3329701" y="691898"/>
            <a:ext cx="2484599" cy="34279"/>
            <a:chOff x="1198662" y="-603448"/>
            <a:chExt cx="4188175" cy="72008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E57375C0-826E-4EB3-B8CB-6D84F70B4CE7}"/>
                </a:ext>
              </a:extLst>
            </p:cNvPr>
            <p:cNvSpPr/>
            <p:nvPr/>
          </p:nvSpPr>
          <p:spPr>
            <a:xfrm>
              <a:off x="1198662" y="-603448"/>
              <a:ext cx="837635" cy="72008"/>
            </a:xfrm>
            <a:prstGeom prst="rect">
              <a:avLst/>
            </a:prstGeom>
            <a:solidFill>
              <a:srgbClr val="FFAC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64594317-1EE8-4F70-A47D-EC9BA20A1CD5}"/>
                </a:ext>
              </a:extLst>
            </p:cNvPr>
            <p:cNvSpPr/>
            <p:nvPr/>
          </p:nvSpPr>
          <p:spPr>
            <a:xfrm>
              <a:off x="2036297" y="-603448"/>
              <a:ext cx="837635" cy="72008"/>
            </a:xfrm>
            <a:prstGeom prst="rect">
              <a:avLst/>
            </a:prstGeom>
            <a:solidFill>
              <a:srgbClr val="DF59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E16B281D-8116-4C4E-A4D2-0E5788EA0744}"/>
                </a:ext>
              </a:extLst>
            </p:cNvPr>
            <p:cNvSpPr/>
            <p:nvPr/>
          </p:nvSpPr>
          <p:spPr>
            <a:xfrm>
              <a:off x="2873932" y="-603448"/>
              <a:ext cx="837635" cy="72008"/>
            </a:xfrm>
            <a:prstGeom prst="rect">
              <a:avLst/>
            </a:prstGeom>
            <a:solidFill>
              <a:srgbClr val="49C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DCCF03A-9D05-4BCB-A5F7-14E9BC01259A}"/>
                </a:ext>
              </a:extLst>
            </p:cNvPr>
            <p:cNvSpPr/>
            <p:nvPr/>
          </p:nvSpPr>
          <p:spPr>
            <a:xfrm>
              <a:off x="3711567" y="-603448"/>
              <a:ext cx="837635" cy="72008"/>
            </a:xfrm>
            <a:prstGeom prst="rect">
              <a:avLst/>
            </a:prstGeom>
            <a:solidFill>
              <a:srgbClr val="3BA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DCBA3E5-F380-4B10-BA4A-7D71D428C75E}"/>
                </a:ext>
              </a:extLst>
            </p:cNvPr>
            <p:cNvSpPr/>
            <p:nvPr/>
          </p:nvSpPr>
          <p:spPr>
            <a:xfrm>
              <a:off x="4549202" y="-603448"/>
              <a:ext cx="837635" cy="72008"/>
            </a:xfrm>
            <a:prstGeom prst="rect">
              <a:avLst/>
            </a:prstGeom>
            <a:solidFill>
              <a:srgbClr val="9DCB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16" name="矩形 15">
            <a:extLst>
              <a:ext uri="{FF2B5EF4-FFF2-40B4-BE49-F238E27FC236}">
                <a16:creationId xmlns:a16="http://schemas.microsoft.com/office/drawing/2014/main" id="{2265230D-89C3-41E3-8045-201ED8ED3AA8}"/>
              </a:ext>
            </a:extLst>
          </p:cNvPr>
          <p:cNvSpPr/>
          <p:nvPr userDrawn="1"/>
        </p:nvSpPr>
        <p:spPr>
          <a:xfrm>
            <a:off x="0" y="951277"/>
            <a:ext cx="9144000" cy="3725264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42753289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 userDrawn="1"/>
        </p:nvGrpSpPr>
        <p:grpSpPr>
          <a:xfrm>
            <a:off x="3329701" y="691898"/>
            <a:ext cx="2484599" cy="34279"/>
            <a:chOff x="1198662" y="-603448"/>
            <a:chExt cx="4188175" cy="72008"/>
          </a:xfrm>
        </p:grpSpPr>
        <p:sp>
          <p:nvSpPr>
            <p:cNvPr id="4" name="矩形 3"/>
            <p:cNvSpPr/>
            <p:nvPr/>
          </p:nvSpPr>
          <p:spPr>
            <a:xfrm>
              <a:off x="1198662" y="-603448"/>
              <a:ext cx="837635" cy="72008"/>
            </a:xfrm>
            <a:prstGeom prst="rect">
              <a:avLst/>
            </a:prstGeom>
            <a:solidFill>
              <a:srgbClr val="FFAC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5" name="矩形 4"/>
            <p:cNvSpPr/>
            <p:nvPr/>
          </p:nvSpPr>
          <p:spPr>
            <a:xfrm>
              <a:off x="2036297" y="-603448"/>
              <a:ext cx="837635" cy="72008"/>
            </a:xfrm>
            <a:prstGeom prst="rect">
              <a:avLst/>
            </a:prstGeom>
            <a:solidFill>
              <a:srgbClr val="DF594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6" name="矩形 5"/>
            <p:cNvSpPr/>
            <p:nvPr/>
          </p:nvSpPr>
          <p:spPr>
            <a:xfrm>
              <a:off x="2873932" y="-603448"/>
              <a:ext cx="837635" cy="72008"/>
            </a:xfrm>
            <a:prstGeom prst="rect">
              <a:avLst/>
            </a:prstGeom>
            <a:solidFill>
              <a:srgbClr val="49C2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8" name="矩形 7"/>
            <p:cNvSpPr/>
            <p:nvPr/>
          </p:nvSpPr>
          <p:spPr>
            <a:xfrm>
              <a:off x="3711567" y="-603448"/>
              <a:ext cx="837635" cy="72008"/>
            </a:xfrm>
            <a:prstGeom prst="rect">
              <a:avLst/>
            </a:prstGeom>
            <a:solidFill>
              <a:srgbClr val="3BA9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9" name="矩形 8"/>
            <p:cNvSpPr/>
            <p:nvPr/>
          </p:nvSpPr>
          <p:spPr>
            <a:xfrm>
              <a:off x="4549202" y="-603448"/>
              <a:ext cx="837635" cy="72008"/>
            </a:xfrm>
            <a:prstGeom prst="rect">
              <a:avLst/>
            </a:prstGeom>
            <a:solidFill>
              <a:srgbClr val="9DCB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2" name="矩形 1"/>
          <p:cNvSpPr/>
          <p:nvPr userDrawn="1"/>
        </p:nvSpPr>
        <p:spPr>
          <a:xfrm>
            <a:off x="0" y="951277"/>
            <a:ext cx="9144000" cy="3725264"/>
          </a:xfrm>
          <a:prstGeom prst="rect">
            <a:avLst/>
          </a:prstGeom>
          <a:solidFill>
            <a:srgbClr val="F6F6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  <p:extLst>
      <p:ext uri="{BB962C8B-B14F-4D97-AF65-F5344CB8AC3E}">
        <p14:creationId xmlns:p14="http://schemas.microsoft.com/office/powerpoint/2010/main" val="1135096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15"/>
            <a:ext cx="8229600" cy="8569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99780"/>
            <a:ext cx="8229600" cy="33934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5792"/>
            <a:ext cx="21336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5C0B0F-957D-4B21-995C-671B925970BC}" type="datetimeFigureOut">
              <a:rPr lang="zh-CN" altLang="en-US" smtClean="0"/>
              <a:t>2024/10/20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5792"/>
            <a:ext cx="28956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5792"/>
            <a:ext cx="2133600" cy="27375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86CF50-A36E-4027-A15B-F18594CC3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66823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70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uexi@cuit.edu.c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840015" y="36824"/>
            <a:ext cx="2202140" cy="5088830"/>
            <a:chOff x="0" y="70798"/>
            <a:chExt cx="2937093" cy="6787202"/>
          </a:xfrm>
        </p:grpSpPr>
        <p:sp>
          <p:nvSpPr>
            <p:cNvPr id="2" name="矩形 1"/>
            <p:cNvSpPr/>
            <p:nvPr/>
          </p:nvSpPr>
          <p:spPr>
            <a:xfrm>
              <a:off x="0" y="4875301"/>
              <a:ext cx="2446986" cy="1982699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57150">
              <a:solidFill>
                <a:srgbClr val="00AF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4" name="矩形 23"/>
            <p:cNvSpPr/>
            <p:nvPr/>
          </p:nvSpPr>
          <p:spPr>
            <a:xfrm>
              <a:off x="490107" y="70798"/>
              <a:ext cx="2446986" cy="215077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57150">
              <a:solidFill>
                <a:srgbClr val="E870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5" name="矩形 24"/>
            <p:cNvSpPr/>
            <p:nvPr/>
          </p:nvSpPr>
          <p:spPr>
            <a:xfrm>
              <a:off x="490107" y="3582522"/>
              <a:ext cx="2446986" cy="1982699"/>
            </a:xfrm>
            <a:prstGeom prst="rect">
              <a:avLst/>
            </a:prstGeom>
            <a:solidFill>
              <a:srgbClr val="FFB850">
                <a:alpha val="0"/>
              </a:srgbClr>
            </a:solidFill>
            <a:ln w="57150">
              <a:solidFill>
                <a:srgbClr val="FFB8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6" name="矩形 25"/>
            <p:cNvSpPr/>
            <p:nvPr/>
          </p:nvSpPr>
          <p:spPr>
            <a:xfrm>
              <a:off x="0" y="1961633"/>
              <a:ext cx="2446986" cy="215077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57150">
              <a:solidFill>
                <a:srgbClr val="01ACB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7868933" y="34639"/>
            <a:ext cx="2202140" cy="5088830"/>
            <a:chOff x="9178140" y="0"/>
            <a:chExt cx="2937093" cy="6787202"/>
          </a:xfrm>
        </p:grpSpPr>
        <p:sp>
          <p:nvSpPr>
            <p:cNvPr id="28" name="矩形 27"/>
            <p:cNvSpPr/>
            <p:nvPr/>
          </p:nvSpPr>
          <p:spPr>
            <a:xfrm>
              <a:off x="9178140" y="4804503"/>
              <a:ext cx="2446986" cy="1982699"/>
            </a:xfrm>
            <a:prstGeom prst="rect">
              <a:avLst/>
            </a:prstGeom>
            <a:solidFill>
              <a:srgbClr val="E87071">
                <a:alpha val="0"/>
              </a:srgbClr>
            </a:solidFill>
            <a:ln w="57150">
              <a:solidFill>
                <a:srgbClr val="E8707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29" name="矩形 28"/>
            <p:cNvSpPr/>
            <p:nvPr/>
          </p:nvSpPr>
          <p:spPr>
            <a:xfrm>
              <a:off x="9668247" y="0"/>
              <a:ext cx="2446986" cy="215077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57150">
              <a:solidFill>
                <a:srgbClr val="00AF9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0" name="矩形 29"/>
            <p:cNvSpPr/>
            <p:nvPr/>
          </p:nvSpPr>
          <p:spPr>
            <a:xfrm>
              <a:off x="9668247" y="3511724"/>
              <a:ext cx="2446986" cy="1982699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57150">
              <a:solidFill>
                <a:srgbClr val="01ACB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  <p:sp>
          <p:nvSpPr>
            <p:cNvPr id="31" name="矩形 30"/>
            <p:cNvSpPr/>
            <p:nvPr/>
          </p:nvSpPr>
          <p:spPr>
            <a:xfrm>
              <a:off x="9178140" y="1890835"/>
              <a:ext cx="2446986" cy="2150771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 w="57150">
              <a:solidFill>
                <a:srgbClr val="FFB8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1907704" y="1702304"/>
            <a:ext cx="568863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>
                <a:latin typeface="+mn-ea"/>
              </a:rPr>
              <a:t>机器学习</a:t>
            </a:r>
            <a:endParaRPr lang="en-US" altLang="zh-CN" sz="3600" b="1" dirty="0">
              <a:latin typeface="+mn-ea"/>
            </a:endParaRPr>
          </a:p>
          <a:p>
            <a:pPr algn="ctr"/>
            <a:r>
              <a:rPr lang="en-US" altLang="zh-CN" sz="3600" b="1" dirty="0">
                <a:latin typeface="+mn-ea"/>
              </a:rPr>
              <a:t>--</a:t>
            </a:r>
            <a:r>
              <a:rPr lang="zh-CN" altLang="en-US" sz="3600" b="1" dirty="0">
                <a:latin typeface="+mn-ea"/>
              </a:rPr>
              <a:t>第</a:t>
            </a:r>
            <a:r>
              <a:rPr lang="en-US" altLang="zh-CN" sz="3600" b="1" dirty="0">
                <a:latin typeface="+mn-ea"/>
              </a:rPr>
              <a:t>3</a:t>
            </a:r>
            <a:r>
              <a:rPr lang="zh-CN" altLang="en-US" sz="3600" b="1" dirty="0">
                <a:latin typeface="+mn-ea"/>
              </a:rPr>
              <a:t>章 </a:t>
            </a:r>
            <a:r>
              <a:rPr lang="en-US" altLang="zh-CN" sz="3600" b="1" dirty="0">
                <a:latin typeface="+mn-ea"/>
              </a:rPr>
              <a:t>KNN</a:t>
            </a:r>
            <a:r>
              <a:rPr lang="zh-CN" altLang="en-US" sz="3600" b="1" dirty="0">
                <a:latin typeface="+mn-ea"/>
              </a:rPr>
              <a:t>算法</a:t>
            </a:r>
            <a:endParaRPr lang="en-US" altLang="zh-CN" sz="3600" b="1" dirty="0">
              <a:latin typeface="+mn-ea"/>
            </a:endParaRPr>
          </a:p>
          <a:p>
            <a:pPr algn="ctr"/>
            <a:endParaRPr lang="en-US" altLang="zh-CN" sz="3600" b="1" dirty="0">
              <a:latin typeface="+mn-ea"/>
            </a:endParaRPr>
          </a:p>
          <a:p>
            <a:pPr algn="ctr"/>
            <a:r>
              <a:rPr lang="zh-CN" altLang="en-US" sz="2800" dirty="0">
                <a:solidFill>
                  <a:schemeClr val="tx1"/>
                </a:solidFill>
              </a:rPr>
              <a:t>授课教师：徐浩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Mail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  <a:r>
              <a:rPr lang="en-US" altLang="zh-CN" sz="2800" dirty="0"/>
              <a:t>xuhao</a:t>
            </a:r>
            <a:r>
              <a:rPr lang="en-US" altLang="zh-CN" sz="2800" dirty="0">
                <a:solidFill>
                  <a:schemeClr val="tx1"/>
                </a:solidFill>
                <a:hlinkClick r:id="rId3"/>
              </a:rPr>
              <a:t>@cuit.edu.cn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algn="ctr"/>
            <a:r>
              <a:rPr lang="en-US" altLang="zh-CN" sz="2800" dirty="0">
                <a:solidFill>
                  <a:schemeClr val="tx1"/>
                </a:solidFill>
              </a:rPr>
              <a:t>QQ:</a:t>
            </a:r>
            <a:r>
              <a:rPr lang="en-US" altLang="zh-CN" sz="2800" dirty="0"/>
              <a:t>249851191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227" y="304621"/>
            <a:ext cx="3523613" cy="63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740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1747">
        <p:blinds dir="vert"/>
      </p:transition>
    </mc:Choice>
    <mc:Fallback xmlns="">
      <p:transition spd="slow" advTm="1747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/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B8159409-A503-4442-9F2E-FE91B1E7750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9B87FD3-9A6B-578F-ABB9-D6F879134FAF}"/>
              </a:ext>
            </a:extLst>
          </p:cNvPr>
          <p:cNvSpPr txBox="1"/>
          <p:nvPr/>
        </p:nvSpPr>
        <p:spPr>
          <a:xfrm>
            <a:off x="755576" y="1399834"/>
            <a:ext cx="72008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        本文就将介绍一个最基本的分类和回归算法：</a:t>
            </a:r>
            <a:r>
              <a:rPr lang="en-US" altLang="zh-CN" sz="2400" dirty="0"/>
              <a:t>k</a:t>
            </a:r>
            <a:r>
              <a:rPr lang="zh-CN" altLang="en-US" sz="2400" dirty="0"/>
              <a:t>近邻（</a:t>
            </a:r>
            <a:r>
              <a:rPr lang="en-US" altLang="zh-CN" sz="2400" dirty="0"/>
              <a:t>k-nearest neighbor, KNN</a:t>
            </a:r>
            <a:r>
              <a:rPr lang="zh-CN" altLang="en-US" sz="2400" dirty="0"/>
              <a:t>）算法。</a:t>
            </a:r>
            <a:r>
              <a:rPr lang="en-US" altLang="zh-CN" sz="2400" dirty="0"/>
              <a:t>KNN</a:t>
            </a:r>
            <a:r>
              <a:rPr lang="zh-CN" altLang="en-US" sz="2400" dirty="0"/>
              <a:t>是最简单也是最重要的机器学习算法之一，它的思想可以用一句话来概括：“相似的数据往往拥有相同的类别”，这也对应于中国的一句谚语：“</a:t>
            </a:r>
            <a:r>
              <a:rPr lang="zh-CN" altLang="en-US" sz="2400" dirty="0">
                <a:solidFill>
                  <a:srgbClr val="FF0000"/>
                </a:solidFill>
              </a:rPr>
              <a:t>物以类聚，人以群分</a:t>
            </a:r>
            <a:r>
              <a:rPr lang="zh-CN" altLang="en-US" sz="2400" dirty="0"/>
              <a:t>”。</a:t>
            </a:r>
          </a:p>
        </p:txBody>
      </p:sp>
    </p:spTree>
    <p:extLst>
      <p:ext uri="{BB962C8B-B14F-4D97-AF65-F5344CB8AC3E}">
        <p14:creationId xmlns:p14="http://schemas.microsoft.com/office/powerpoint/2010/main" val="162720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985BA-1200-F1A2-A72C-F18AB6C63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BDF63385-EE76-D265-EB03-0C957547E6EB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26424C-80C9-201E-F013-A27E34C0972F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BB4D8468-DE39-4DF6-4C94-A5F0A80FC94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F4B3C6E-1DB7-45B2-467D-AC0BFD3C94DA}"/>
              </a:ext>
            </a:extLst>
          </p:cNvPr>
          <p:cNvSpPr txBox="1"/>
          <p:nvPr/>
        </p:nvSpPr>
        <p:spPr>
          <a:xfrm>
            <a:off x="755576" y="1399834"/>
            <a:ext cx="720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定义：如果⼀个样本在特征空间中的</a:t>
            </a:r>
            <a:r>
              <a:rPr lang="en-US" altLang="zh-CN" sz="2400" dirty="0"/>
              <a:t>k</a:t>
            </a:r>
            <a:r>
              <a:rPr lang="zh-CN" altLang="en-US" sz="2400" dirty="0"/>
              <a:t>个最相似</a:t>
            </a:r>
            <a:r>
              <a:rPr lang="en-US" altLang="zh-CN" sz="2400" dirty="0"/>
              <a:t>(</a:t>
            </a:r>
            <a:r>
              <a:rPr lang="zh-CN" altLang="en-US" sz="2400" dirty="0"/>
              <a:t>即特征空间中最邻近</a:t>
            </a:r>
            <a:r>
              <a:rPr lang="en-US" altLang="zh-CN" sz="2400" dirty="0"/>
              <a:t>)</a:t>
            </a:r>
            <a:r>
              <a:rPr lang="zh-CN" altLang="en-US" sz="2400" dirty="0"/>
              <a:t>的样本中的⼤多数属于某⼀个类别，则该样本也属于这个类别。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E249F8-4A1E-445B-76AA-7F3823725FC9}"/>
              </a:ext>
            </a:extLst>
          </p:cNvPr>
          <p:cNvSpPr txBox="1"/>
          <p:nvPr/>
        </p:nvSpPr>
        <p:spPr>
          <a:xfrm>
            <a:off x="755576" y="934048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</p:spTree>
    <p:extLst>
      <p:ext uri="{BB962C8B-B14F-4D97-AF65-F5344CB8AC3E}">
        <p14:creationId xmlns:p14="http://schemas.microsoft.com/office/powerpoint/2010/main" val="400053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613EE8-AB96-8F40-418D-8F1D8A3C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420E5A66-157C-726F-0DE0-A219155D3377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40168A-4753-C730-B399-9CCD456CD233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46571697-F7B9-1F79-223B-74B5029D99E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7C933CA5-F178-958B-A9F0-6F751E01FCF0}"/>
              </a:ext>
            </a:extLst>
          </p:cNvPr>
          <p:cNvSpPr txBox="1"/>
          <p:nvPr/>
        </p:nvSpPr>
        <p:spPr>
          <a:xfrm>
            <a:off x="788276" y="928674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333D371-4C3C-E2AE-FE39-FDD1820894CE}"/>
              </a:ext>
            </a:extLst>
          </p:cNvPr>
          <p:cNvSpPr txBox="1"/>
          <p:nvPr/>
        </p:nvSpPr>
        <p:spPr>
          <a:xfrm>
            <a:off x="846552" y="1274812"/>
            <a:ext cx="66579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         我们用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算法的一张经典示意图来更清晰地说明其思想。如下图所示，假设共有两个类别的数据点：蓝色圆形和橙色正方形，而中心位置的绿色样本当前尚未被分类。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85064D-893F-9352-081E-E3E04640F4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7904" y="2456599"/>
            <a:ext cx="3215357" cy="25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61288-1418-7559-2958-B414AF54C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ABBA199B-8969-F84A-1808-A05F5F6B774D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70AC1-7790-8532-A78B-0154EAA222CA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82C4A6CB-4EE1-E7E0-9ABF-EF1CACBD8E9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C25C6E2-79B0-3450-EA34-C4350742605B}"/>
              </a:ext>
            </a:extLst>
          </p:cNvPr>
          <p:cNvSpPr txBox="1"/>
          <p:nvPr/>
        </p:nvSpPr>
        <p:spPr>
          <a:xfrm>
            <a:off x="788276" y="928674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782BD0F-4EBF-0E82-495D-1CF4D6ADB2BC}"/>
              </a:ext>
            </a:extLst>
          </p:cNvPr>
          <p:cNvSpPr txBox="1"/>
          <p:nvPr/>
        </p:nvSpPr>
        <p:spPr>
          <a:xfrm>
            <a:off x="838932" y="1328053"/>
            <a:ext cx="6657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当 </a:t>
            </a:r>
            <a:r>
              <a:rPr lang="en-US" altLang="zh-CN" sz="2400" dirty="0"/>
              <a:t>K = 3 </a:t>
            </a:r>
            <a:r>
              <a:rPr lang="zh-CN" altLang="en-US" sz="2400" dirty="0"/>
              <a:t>时，绿色样本的</a:t>
            </a:r>
            <a:r>
              <a:rPr lang="en-US" altLang="zh-CN" sz="2400" dirty="0"/>
              <a:t>3</a:t>
            </a:r>
            <a:r>
              <a:rPr lang="zh-CN" altLang="en-US" sz="2400" dirty="0"/>
              <a:t>个近邻中有两个橙色正方形样本，一个蓝色圆形样本，因此应该将绿色样本点归类为橙色正方形。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9B6CA71-F043-C502-B93B-F9C03CD3A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848" y="2456599"/>
            <a:ext cx="3215357" cy="25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5477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E430F-DCB9-4A03-9C68-CD81CE563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24B4229-2B99-130E-23B5-D1A4E142E116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88A3DE-E500-09D8-F3CF-C951A2B8A2FC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1CB4687F-78E4-30EE-EBCE-F72F5D02E97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94F6F29-5BD5-23EE-9A79-DCBE44565826}"/>
              </a:ext>
            </a:extLst>
          </p:cNvPr>
          <p:cNvSpPr txBox="1"/>
          <p:nvPr/>
        </p:nvSpPr>
        <p:spPr>
          <a:xfrm>
            <a:off x="788276" y="928674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13B16AC-C993-C24A-9928-D234F5CE430D}"/>
              </a:ext>
            </a:extLst>
          </p:cNvPr>
          <p:cNvSpPr txBox="1"/>
          <p:nvPr/>
        </p:nvSpPr>
        <p:spPr>
          <a:xfrm>
            <a:off x="838932" y="1328053"/>
            <a:ext cx="66579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当 </a:t>
            </a:r>
            <a:r>
              <a:rPr lang="en-US" altLang="zh-CN" sz="2400" dirty="0"/>
              <a:t>K = 5 </a:t>
            </a:r>
            <a:r>
              <a:rPr lang="zh-CN" altLang="en-US" sz="2400" dirty="0"/>
              <a:t>时，绿色样本的</a:t>
            </a:r>
            <a:r>
              <a:rPr lang="en-US" altLang="zh-CN" sz="2400" dirty="0"/>
              <a:t>5</a:t>
            </a:r>
            <a:r>
              <a:rPr lang="zh-CN" altLang="en-US" sz="2400" dirty="0"/>
              <a:t>个近邻中有两个橙色正方形样本，三个蓝色圆形样本，因此应该将绿色样本点归类为蓝色圆形。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99E5504-42CD-F900-83E5-432EBCDBE1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5856" y="2456599"/>
            <a:ext cx="3215357" cy="25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13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C18C-0D76-6DC2-0711-D286ACDCF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86DCEE3-2C78-287B-3FC1-89D64B45F75F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C037EC-AB2F-522F-4B8A-F1A4BA4E79AF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69051588-2422-2C47-681C-4B5985162B1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290628B-8F66-E9D7-09DC-559AAA6CEB46}"/>
              </a:ext>
            </a:extLst>
          </p:cNvPr>
          <p:cNvSpPr txBox="1"/>
          <p:nvPr/>
        </p:nvSpPr>
        <p:spPr>
          <a:xfrm>
            <a:off x="683568" y="779372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1AA19B-47D7-B2B9-A2E9-88606EA04B8B}"/>
              </a:ext>
            </a:extLst>
          </p:cNvPr>
          <p:cNvSpPr txBox="1"/>
          <p:nvPr/>
        </p:nvSpPr>
        <p:spPr>
          <a:xfrm>
            <a:off x="683568" y="1149027"/>
            <a:ext cx="66579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         从这个例子中可以看出，</a:t>
            </a:r>
            <a:r>
              <a:rPr lang="en-US" altLang="zh-CN" sz="2400" dirty="0"/>
              <a:t>KNN</a:t>
            </a:r>
            <a:r>
              <a:rPr lang="zh-CN" altLang="en-US" sz="2400" dirty="0"/>
              <a:t>的基本思路是让当前样本的分类服从邻居中的多数分类。但是，当</a:t>
            </a:r>
            <a:r>
              <a:rPr lang="en-US" altLang="zh-CN" sz="2400" dirty="0"/>
              <a:t>K</a:t>
            </a:r>
            <a:r>
              <a:rPr lang="zh-CN" altLang="en-US" sz="2400" dirty="0"/>
              <a:t>的大小变化时，由于邻居的数量变化，其多数类别也可能会变化，从而改变对当前样本的分类判断。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AFCC925-1B41-777E-9448-D5B5CAF16B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588" y="2858987"/>
            <a:ext cx="2599702" cy="207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353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E5AFE-9F42-0A78-48B7-445968D4C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C27F8D88-AC40-7B6A-804E-2DFF201D5822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483897-828F-1EFE-DC63-E3AE43E856BA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2A94357D-601B-44F9-F0F2-FE4FDDA77C5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D0926E1-C155-E08A-3004-35C9C9C963DA}"/>
              </a:ext>
            </a:extLst>
          </p:cNvPr>
          <p:cNvSpPr txBox="1"/>
          <p:nvPr/>
        </p:nvSpPr>
        <p:spPr>
          <a:xfrm>
            <a:off x="788276" y="928674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F687C5-BD79-9323-B56C-7D698473BDFE}"/>
              </a:ext>
            </a:extLst>
          </p:cNvPr>
          <p:cNvSpPr txBox="1"/>
          <p:nvPr/>
        </p:nvSpPr>
        <p:spPr>
          <a:xfrm>
            <a:off x="838932" y="1328053"/>
            <a:ext cx="66579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因此，决定</a:t>
            </a:r>
            <a:r>
              <a:rPr lang="en-US" altLang="zh-CN" sz="2400" dirty="0">
                <a:solidFill>
                  <a:srgbClr val="FF0000"/>
                </a:solidFill>
              </a:rPr>
              <a:t>K</a:t>
            </a:r>
            <a:r>
              <a:rPr lang="zh-CN" altLang="en-US" sz="2400" dirty="0">
                <a:solidFill>
                  <a:srgbClr val="FF0000"/>
                </a:solidFill>
              </a:rPr>
              <a:t>的大小是</a:t>
            </a:r>
            <a:r>
              <a:rPr lang="en-US" altLang="zh-CN" sz="2400" dirty="0">
                <a:solidFill>
                  <a:srgbClr val="FF0000"/>
                </a:solidFill>
              </a:rPr>
              <a:t>KNN</a:t>
            </a:r>
            <a:r>
              <a:rPr lang="zh-CN" altLang="en-US" sz="2400" dirty="0">
                <a:solidFill>
                  <a:srgbClr val="FF0000"/>
                </a:solidFill>
              </a:rPr>
              <a:t>中最重要的部分之一</a:t>
            </a:r>
            <a:r>
              <a:rPr lang="zh-CN" altLang="en-US" sz="2400" dirty="0"/>
              <a:t>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9BABC6-8DEF-3CD8-3F39-4D83CB8B3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1922884"/>
            <a:ext cx="3872431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14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74802-FA01-E598-2015-CE0CDCA14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6B5E6178-1347-877E-AF6F-ED4546B0BF43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28FCB0-1A89-BAB9-A52F-969583CCA9F6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28A06A96-DB11-6062-DF43-050B702760F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AED79F7-4BF5-AEC5-300A-7639D8B8253D}"/>
              </a:ext>
            </a:extLst>
          </p:cNvPr>
          <p:cNvSpPr txBox="1"/>
          <p:nvPr/>
        </p:nvSpPr>
        <p:spPr>
          <a:xfrm>
            <a:off x="788276" y="928674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001B00-F36F-A7FD-96EA-938EBFFC7EED}"/>
              </a:ext>
            </a:extLst>
          </p:cNvPr>
          <p:cNvSpPr txBox="1"/>
          <p:nvPr/>
        </p:nvSpPr>
        <p:spPr>
          <a:xfrm>
            <a:off x="838932" y="1328053"/>
            <a:ext cx="6657972" cy="279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     直观上来说，当</a:t>
            </a:r>
            <a:r>
              <a:rPr lang="en-US" altLang="zh-CN" sz="2400" dirty="0"/>
              <a:t>K</a:t>
            </a:r>
            <a:r>
              <a:rPr lang="zh-CN" altLang="en-US" sz="2400" dirty="0"/>
              <a:t>的取值太小时，分类结果很容易受到待分类样本周围的个别</a:t>
            </a:r>
            <a:r>
              <a:rPr lang="zh-CN" altLang="en-US" sz="2400" dirty="0">
                <a:solidFill>
                  <a:srgbClr val="FF0000"/>
                </a:solidFill>
              </a:rPr>
              <a:t>噪声数据</a:t>
            </a:r>
            <a:r>
              <a:rPr lang="zh-CN" altLang="en-US" sz="2400" dirty="0"/>
              <a:t>影响；当</a:t>
            </a:r>
            <a:r>
              <a:rPr lang="en-US" altLang="zh-CN" sz="2400" dirty="0"/>
              <a:t>K</a:t>
            </a:r>
            <a:r>
              <a:rPr lang="zh-CN" altLang="en-US" sz="2400" dirty="0"/>
              <a:t>的取值太大时，又可能将远处一些不相关的样本包含进来。因此，我们应该根据数据集</a:t>
            </a:r>
            <a:r>
              <a:rPr lang="zh-CN" altLang="en-US" sz="2400" dirty="0">
                <a:solidFill>
                  <a:srgbClr val="FF0000"/>
                </a:solidFill>
              </a:rPr>
              <a:t>动态地调整</a:t>
            </a:r>
            <a:r>
              <a:rPr lang="en-US" altLang="zh-CN" sz="2400" dirty="0"/>
              <a:t>K</a:t>
            </a:r>
            <a:r>
              <a:rPr lang="zh-CN" altLang="en-US" sz="2400" dirty="0"/>
              <a:t>的大小，以得到最理想的结果。</a:t>
            </a:r>
          </a:p>
        </p:txBody>
      </p:sp>
    </p:spTree>
    <p:extLst>
      <p:ext uri="{BB962C8B-B14F-4D97-AF65-F5344CB8AC3E}">
        <p14:creationId xmlns:p14="http://schemas.microsoft.com/office/powerpoint/2010/main" val="716089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FC416-ED1B-9C79-6E64-5D3FFBAD5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6C3292D2-5684-0303-1359-3E8423D7EEA1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E02394-FE4B-454D-0392-7F66CBECDBF9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902001C1-72C9-D4F3-562F-43332596EA39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1E5A858-A46E-15EA-7208-0A8886452784}"/>
              </a:ext>
            </a:extLst>
          </p:cNvPr>
          <p:cNvSpPr txBox="1"/>
          <p:nvPr/>
        </p:nvSpPr>
        <p:spPr>
          <a:xfrm>
            <a:off x="788276" y="928674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A85A7C-054D-CB61-9C21-CE75B00F64B0}"/>
              </a:ext>
            </a:extLst>
          </p:cNvPr>
          <p:cNvSpPr txBox="1"/>
          <p:nvPr/>
        </p:nvSpPr>
        <p:spPr>
          <a:xfrm>
            <a:off x="838932" y="1328053"/>
            <a:ext cx="6657972" cy="2799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         直观上来说，当</a:t>
            </a:r>
            <a:r>
              <a:rPr lang="en-US" altLang="zh-CN" sz="2400" dirty="0"/>
              <a:t>K</a:t>
            </a:r>
            <a:r>
              <a:rPr lang="zh-CN" altLang="en-US" sz="2400" dirty="0"/>
              <a:t>的取值太小时，分类结果很容易受到待分类样本周围的个别</a:t>
            </a:r>
            <a:r>
              <a:rPr lang="zh-CN" altLang="en-US" sz="2400" dirty="0">
                <a:solidFill>
                  <a:srgbClr val="FF0000"/>
                </a:solidFill>
              </a:rPr>
              <a:t>噪声数据</a:t>
            </a:r>
            <a:r>
              <a:rPr lang="zh-CN" altLang="en-US" sz="2400" dirty="0"/>
              <a:t>影响；当</a:t>
            </a:r>
            <a:r>
              <a:rPr lang="en-US" altLang="zh-CN" sz="2400" dirty="0"/>
              <a:t>K</a:t>
            </a:r>
            <a:r>
              <a:rPr lang="zh-CN" altLang="en-US" sz="2400" dirty="0"/>
              <a:t>的取值太大时，又可能将远处一些不相关的样本包含进来。因此，我们应该根据数据集</a:t>
            </a:r>
            <a:r>
              <a:rPr lang="zh-CN" altLang="en-US" sz="2400" dirty="0">
                <a:solidFill>
                  <a:srgbClr val="FF0000"/>
                </a:solidFill>
              </a:rPr>
              <a:t>动态地调整</a:t>
            </a:r>
            <a:r>
              <a:rPr lang="en-US" altLang="zh-CN" sz="2400" dirty="0"/>
              <a:t>K</a:t>
            </a:r>
            <a:r>
              <a:rPr lang="zh-CN" altLang="en-US" sz="2400" dirty="0"/>
              <a:t>的大小，以得到最理想的结果。</a:t>
            </a:r>
          </a:p>
        </p:txBody>
      </p:sp>
    </p:spTree>
    <p:extLst>
      <p:ext uri="{BB962C8B-B14F-4D97-AF65-F5344CB8AC3E}">
        <p14:creationId xmlns:p14="http://schemas.microsoft.com/office/powerpoint/2010/main" val="3922016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BCDC8-43B4-F9FB-3976-370EAD70D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8EDA32FE-2CD7-76AE-1387-22DC940900A8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767E50-3CA5-1A79-358E-A5897C6DF44A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6D8C2290-EF61-E4A0-6340-D8BC322F3391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500AD83-D51C-69AE-5FBE-5008F58F6509}"/>
              </a:ext>
            </a:extLst>
          </p:cNvPr>
          <p:cNvSpPr txBox="1"/>
          <p:nvPr/>
        </p:nvSpPr>
        <p:spPr>
          <a:xfrm>
            <a:off x="788276" y="928674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441062B-40E9-3139-0831-5DC7FB3332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370123"/>
            <a:ext cx="8460432" cy="3571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5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785D8-BF18-026A-B91F-47CF9AE97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218468A9-CC84-BBF6-FB5E-299D06F677B6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A8944A-BB64-1397-F578-8740D038EDE2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0152EE2B-DEB1-540C-056E-FD8E782E1EE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0129B2D-D743-FBA8-5A31-5B77734D884C}"/>
              </a:ext>
            </a:extLst>
          </p:cNvPr>
          <p:cNvSpPr txBox="1"/>
          <p:nvPr/>
        </p:nvSpPr>
        <p:spPr>
          <a:xfrm>
            <a:off x="788276" y="928674"/>
            <a:ext cx="7200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一、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算法的原理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2C3076-23FB-EC70-574E-359498C7BC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1390339"/>
            <a:ext cx="8316500" cy="3662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626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601DC-C72A-60A4-5525-2D98A1270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621B35D-E684-A115-0487-E4A5A2B9337F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3EDCF-39E3-A376-FB42-825CB31DF398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3D93E4BE-7D1F-AF3D-A397-762AA62EBB9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BD52C97-74EB-D29A-2078-B2D0F8CEA7FC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二、距离度量</a:t>
            </a:r>
            <a:endParaRPr lang="en-US" altLang="zh-CN" sz="2400" dirty="0"/>
          </a:p>
          <a:p>
            <a:r>
              <a:rPr lang="en-US" altLang="zh-CN" sz="2400" dirty="0"/>
              <a:t>1</a:t>
            </a:r>
            <a:r>
              <a:rPr lang="zh-CN" altLang="en-US" sz="2400" dirty="0"/>
              <a:t>、欧氏距离：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ED3B417-DF9B-5640-FFC8-7F6B0E364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8160" y="1867179"/>
            <a:ext cx="6355631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24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39CD0-73BF-6E0A-0EE6-9529249D5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205C4B73-C403-D152-F3AE-F5AA5A2A081F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2A5217-230E-BCCB-69C8-4719640AE4BB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A1F3DCB0-FBC7-1897-7DDD-77C6B9411730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3BD6944D-553D-DFA2-EE8C-EA23AAA6DEA4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二、距离度量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、曼哈顿距离：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7A15BB-BA17-7429-5CD9-D3F06F078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64" y="1779125"/>
            <a:ext cx="6824403" cy="327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275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9ACB1-D731-AE1E-9979-9867BD17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69D73268-666A-2559-20CE-CF62C09E93ED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AE60F92-0419-70D8-FBAA-910CA44BBBD2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F74C2577-EB0F-9731-81F8-A816D6ED5C6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9E1D21D-036A-4CED-4EEE-B1206718E660}"/>
              </a:ext>
            </a:extLst>
          </p:cNvPr>
          <p:cNvSpPr txBox="1"/>
          <p:nvPr/>
        </p:nvSpPr>
        <p:spPr>
          <a:xfrm>
            <a:off x="647564" y="909742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二、距离度量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、距离度量实现：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A7020DD-43BD-1C98-1C84-360EF7418B59}"/>
              </a:ext>
            </a:extLst>
          </p:cNvPr>
          <p:cNvSpPr txBox="1"/>
          <p:nvPr/>
        </p:nvSpPr>
        <p:spPr>
          <a:xfrm>
            <a:off x="755576" y="1602483"/>
            <a:ext cx="698477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# </a:t>
            </a:r>
            <a:r>
              <a:rPr lang="zh-CN" altLang="en-US" sz="2400" dirty="0"/>
              <a:t>曼哈顿距离</a:t>
            </a:r>
            <a:r>
              <a:rPr lang="en-US" altLang="zh-CN" sz="2400" dirty="0"/>
              <a:t>(n</a:t>
            </a:r>
            <a:r>
              <a:rPr lang="zh-CN" altLang="en-US" sz="2400" dirty="0"/>
              <a:t>维怎么办？</a:t>
            </a:r>
            <a:r>
              <a:rPr lang="en-US" altLang="zh-CN" sz="2400" dirty="0"/>
              <a:t>)</a:t>
            </a:r>
            <a:endParaRPr lang="zh-CN" altLang="en-US" sz="2400" dirty="0"/>
          </a:p>
          <a:p>
            <a:r>
              <a:rPr lang="en-US" altLang="zh-CN" sz="2400" dirty="0"/>
              <a:t>def distance(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point1</a:t>
            </a:r>
            <a:r>
              <a:rPr lang="en-US" altLang="zh-CN" sz="2400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altLang="zh-CN" sz="2400" b="0" i="0" dirty="0">
                <a:solidFill>
                  <a:srgbClr val="000000"/>
                </a:solidFill>
                <a:effectLst/>
                <a:latin typeface="Source Code Pro" panose="020B0509030403020204" pitchFamily="49" charset="0"/>
              </a:rPr>
              <a:t> point2</a:t>
            </a:r>
            <a:r>
              <a:rPr lang="en-US" altLang="zh-CN" sz="2400" dirty="0"/>
              <a:t>):</a:t>
            </a:r>
          </a:p>
          <a:p>
            <a:r>
              <a:rPr lang="en-US" altLang="zh-CN" sz="2400" dirty="0"/>
              <a:t>	# 2</a:t>
            </a:r>
            <a:r>
              <a:rPr lang="zh-CN" altLang="en-US" sz="2400" dirty="0"/>
              <a:t>维</a:t>
            </a:r>
            <a:endParaRPr lang="en-US" altLang="zh-CN" sz="2000" dirty="0"/>
          </a:p>
          <a:p>
            <a:r>
              <a:rPr lang="en-US" altLang="zh-CN" sz="2000" dirty="0"/>
              <a:t>	x1, y1 = point1    </a:t>
            </a:r>
          </a:p>
          <a:p>
            <a:r>
              <a:rPr lang="en-US" altLang="zh-CN" sz="2000" dirty="0"/>
              <a:t>	x2, y2 = point2    </a:t>
            </a:r>
          </a:p>
          <a:p>
            <a:r>
              <a:rPr lang="en-US" altLang="zh-CN" sz="2000" dirty="0"/>
              <a:t>	return abs(x1 - x2) + abs(y1 - y2)</a:t>
            </a:r>
          </a:p>
          <a:p>
            <a:r>
              <a:rPr lang="en-US" altLang="zh-CN" sz="2000" dirty="0"/>
              <a:t>	# 3</a:t>
            </a:r>
            <a:r>
              <a:rPr lang="zh-CN" altLang="en-US" sz="2000" dirty="0"/>
              <a:t>维</a:t>
            </a:r>
            <a:endParaRPr lang="en-US" altLang="zh-CN" sz="2000" dirty="0"/>
          </a:p>
          <a:p>
            <a:r>
              <a:rPr lang="en-US" altLang="zh-CN" sz="2400" dirty="0"/>
              <a:t>	</a:t>
            </a:r>
            <a:r>
              <a:rPr lang="pl-PL" altLang="zh-CN" sz="2400" dirty="0"/>
              <a:t>x1, y1, z1 = point1</a:t>
            </a:r>
          </a:p>
          <a:p>
            <a:r>
              <a:rPr lang="pl-PL" altLang="zh-CN" sz="2400" dirty="0"/>
              <a:t>   </a:t>
            </a:r>
            <a:r>
              <a:rPr lang="en-US" altLang="zh-CN" sz="2400" dirty="0"/>
              <a:t>	</a:t>
            </a:r>
            <a:r>
              <a:rPr lang="pl-PL" altLang="zh-CN" sz="2400" dirty="0"/>
              <a:t>x2, y2, z2 = point2</a:t>
            </a:r>
          </a:p>
          <a:p>
            <a:r>
              <a:rPr lang="pl-PL" altLang="zh-CN" sz="2400" dirty="0"/>
              <a:t>   </a:t>
            </a:r>
            <a:r>
              <a:rPr lang="en-US" altLang="zh-CN" sz="2400" dirty="0"/>
              <a:t>	</a:t>
            </a:r>
            <a:r>
              <a:rPr lang="pl-PL" altLang="zh-CN" sz="2400" dirty="0"/>
              <a:t>return abs(x1 - x2) + abs(y1 - y2) + abs(z1 - z2)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3298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A27A3-CE30-7D5A-28EE-EB2BBCAEC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37EE56B9-C906-2A3A-1D77-B37647E00E79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63F3EE-EAB5-58B6-DD81-F19C2DFCD51E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3F7FD854-04DA-135C-3B7A-FBDEC7C5603F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6A9CFFA-F533-E721-81E4-FD705415725F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二、距离度量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、距离度量实现：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9B59E1E-709A-FED2-5DBE-71E69851550D}"/>
              </a:ext>
            </a:extLst>
          </p:cNvPr>
          <p:cNvSpPr txBox="1"/>
          <p:nvPr/>
        </p:nvSpPr>
        <p:spPr>
          <a:xfrm>
            <a:off x="1835696" y="2453749"/>
            <a:ext cx="5751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# </a:t>
            </a:r>
            <a:r>
              <a:rPr lang="zh-CN" altLang="en-US" sz="2400" dirty="0"/>
              <a:t>曼哈顿距离</a:t>
            </a:r>
          </a:p>
          <a:p>
            <a:r>
              <a:rPr lang="en-US" altLang="zh-CN" sz="2400" dirty="0"/>
              <a:t>def distance(a, b):</a:t>
            </a:r>
          </a:p>
          <a:p>
            <a:r>
              <a:rPr lang="en-US" altLang="zh-CN" sz="2400" dirty="0"/>
              <a:t>   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0E128BF-D09C-1E82-4E66-BBAB46270357}"/>
              </a:ext>
            </a:extLst>
          </p:cNvPr>
          <p:cNvSpPr txBox="1"/>
          <p:nvPr/>
        </p:nvSpPr>
        <p:spPr>
          <a:xfrm>
            <a:off x="1831132" y="1961190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numpy</a:t>
            </a:r>
            <a:r>
              <a:rPr lang="zh-CN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的矩阵运算</a:t>
            </a:r>
          </a:p>
        </p:txBody>
      </p:sp>
    </p:spTree>
    <p:extLst>
      <p:ext uri="{BB962C8B-B14F-4D97-AF65-F5344CB8AC3E}">
        <p14:creationId xmlns:p14="http://schemas.microsoft.com/office/powerpoint/2010/main" val="2868714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24920-0F41-AA13-24F8-ABB45240F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2E8BAC98-C07C-9647-4327-DD607A345196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68C1AA-2173-969A-45CF-869B3C90B83C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D08B9BC3-88F9-D3C2-42CE-5A1BCC63C09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6FE1DA76-6B5E-EA82-704E-2B32CDA7EFDC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二、距离度量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、距离度量实现：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B3388BA-EACE-7149-86B3-FD467D187B78}"/>
              </a:ext>
            </a:extLst>
          </p:cNvPr>
          <p:cNvSpPr txBox="1"/>
          <p:nvPr/>
        </p:nvSpPr>
        <p:spPr>
          <a:xfrm>
            <a:off x="1835696" y="2453749"/>
            <a:ext cx="5751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# </a:t>
            </a:r>
            <a:r>
              <a:rPr lang="zh-CN" altLang="en-US" sz="2400" dirty="0"/>
              <a:t>欧氏距离</a:t>
            </a:r>
          </a:p>
          <a:p>
            <a:r>
              <a:rPr lang="en-US" altLang="zh-CN" sz="2400" dirty="0"/>
              <a:t>def distance(a, b):</a:t>
            </a:r>
          </a:p>
          <a:p>
            <a:r>
              <a:rPr lang="en-US" altLang="zh-CN" sz="2400" dirty="0"/>
              <a:t>   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B266B3-4743-62C0-6C1F-47E72FC5C16B}"/>
              </a:ext>
            </a:extLst>
          </p:cNvPr>
          <p:cNvSpPr txBox="1"/>
          <p:nvPr/>
        </p:nvSpPr>
        <p:spPr>
          <a:xfrm>
            <a:off x="1831132" y="1961190"/>
            <a:ext cx="5166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solidFill>
                  <a:srgbClr val="FF0000"/>
                </a:solidFill>
                <a:highlight>
                  <a:srgbClr val="FFFF00"/>
                </a:highlight>
              </a:rPr>
              <a:t>numpy</a:t>
            </a:r>
            <a:r>
              <a:rPr lang="zh-CN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的矩阵运算</a:t>
            </a:r>
          </a:p>
        </p:txBody>
      </p:sp>
    </p:spTree>
    <p:extLst>
      <p:ext uri="{BB962C8B-B14F-4D97-AF65-F5344CB8AC3E}">
        <p14:creationId xmlns:p14="http://schemas.microsoft.com/office/powerpoint/2010/main" val="190074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C2E8A-C86D-6433-D776-D630EB056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73328038-67D1-EB6D-05C5-9B57C52B5B5B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E82195-AAB8-7838-6AA7-9FB811D2AC6B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CFA822BD-87D1-FBD5-701F-FBF34B49357C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2F3508A-43D2-E1EA-6F21-550522218997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三、</a:t>
            </a:r>
            <a:r>
              <a:rPr lang="en-US" altLang="zh-CN" sz="2400" dirty="0"/>
              <a:t>KNN</a:t>
            </a:r>
            <a:r>
              <a:rPr lang="zh-CN" altLang="en-US" sz="2400" dirty="0"/>
              <a:t>计算例子</a:t>
            </a:r>
            <a:endParaRPr lang="en-US" altLang="zh-CN" sz="2400" dirty="0"/>
          </a:p>
          <a:p>
            <a:r>
              <a:rPr lang="zh-CN" altLang="en-US" sz="2400" dirty="0"/>
              <a:t>假设我们现在有⼏部电影：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E8CCF30-0F2D-D20F-DF88-9A90D643D1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272" y="1706860"/>
            <a:ext cx="6336704" cy="271467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0C045B8-865A-20C0-1C65-A8033B9722BE}"/>
              </a:ext>
            </a:extLst>
          </p:cNvPr>
          <p:cNvSpPr txBox="1"/>
          <p:nvPr/>
        </p:nvSpPr>
        <p:spPr>
          <a:xfrm>
            <a:off x="611560" y="4534375"/>
            <a:ext cx="734481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其中</a:t>
            </a:r>
            <a:r>
              <a:rPr lang="en-US" altLang="zh-CN" dirty="0">
                <a:solidFill>
                  <a:srgbClr val="FF0000"/>
                </a:solidFill>
              </a:rPr>
              <a:t>9</a:t>
            </a:r>
            <a:r>
              <a:rPr lang="zh-CN" altLang="en-US" dirty="0">
                <a:solidFill>
                  <a:srgbClr val="FF0000"/>
                </a:solidFill>
              </a:rPr>
              <a:t>号</a:t>
            </a:r>
            <a:r>
              <a:rPr lang="zh-CN" altLang="en-US" dirty="0"/>
              <a:t>电影不知道类别，如何去预测？我们可以利⽤</a:t>
            </a:r>
            <a:r>
              <a:rPr lang="en-US" altLang="zh-CN" dirty="0"/>
              <a:t>K</a:t>
            </a:r>
            <a:r>
              <a:rPr lang="zh-CN" altLang="en-US" dirty="0"/>
              <a:t>近邻算法的思想</a:t>
            </a:r>
          </a:p>
        </p:txBody>
      </p:sp>
    </p:spTree>
    <p:extLst>
      <p:ext uri="{BB962C8B-B14F-4D97-AF65-F5344CB8AC3E}">
        <p14:creationId xmlns:p14="http://schemas.microsoft.com/office/powerpoint/2010/main" val="1392037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6865C-9B63-97B6-6D3B-11DC1387D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55C2CDA0-AC95-9936-FA6E-A6117A14CDC0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DC671E-24CA-B978-2999-BE4E5D3ADA3E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D091FC81-165C-C025-5970-0DAD0E239003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9EC60A5-B782-12FB-7307-BCD213A4BE77}"/>
              </a:ext>
            </a:extLst>
          </p:cNvPr>
          <p:cNvSpPr txBox="1"/>
          <p:nvPr/>
        </p:nvSpPr>
        <p:spPr>
          <a:xfrm>
            <a:off x="683568" y="968947"/>
            <a:ext cx="7200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三、</a:t>
            </a:r>
            <a:r>
              <a:rPr lang="en-US" altLang="zh-CN" sz="2400" dirty="0"/>
              <a:t>KNN</a:t>
            </a:r>
            <a:r>
              <a:rPr lang="zh-CN" altLang="en-US" sz="2400" dirty="0"/>
              <a:t>计算例子</a:t>
            </a:r>
            <a:endParaRPr lang="en-US" altLang="zh-CN" sz="2400" dirty="0"/>
          </a:p>
          <a:p>
            <a:r>
              <a:rPr lang="zh-CN" altLang="en-US" sz="2400" dirty="0"/>
              <a:t>分别计算每个电影和被预测电影的距离，然后求解</a:t>
            </a:r>
            <a:endParaRPr lang="en-US" altLang="zh-CN" sz="2400" dirty="0"/>
          </a:p>
          <a:p>
            <a:r>
              <a:rPr lang="en-US" altLang="zh-CN" sz="2400" dirty="0">
                <a:solidFill>
                  <a:srgbClr val="FF0000"/>
                </a:solidFill>
              </a:rPr>
              <a:t>K</a:t>
            </a:r>
            <a:r>
              <a:rPr lang="zh-CN" altLang="en-US" sz="2400" dirty="0">
                <a:solidFill>
                  <a:srgbClr val="FF0000"/>
                </a:solidFill>
              </a:rPr>
              <a:t>取</a:t>
            </a:r>
            <a:r>
              <a:rPr lang="en-US" altLang="zh-CN" sz="2400" dirty="0">
                <a:solidFill>
                  <a:srgbClr val="FF0000"/>
                </a:solidFill>
              </a:rPr>
              <a:t>3</a:t>
            </a:r>
            <a:r>
              <a:rPr lang="zh-CN" altLang="en-US" sz="2400" dirty="0">
                <a:solidFill>
                  <a:srgbClr val="FF0000"/>
                </a:solidFill>
              </a:rPr>
              <a:t>的时候结果又是如何</a:t>
            </a:r>
            <a:r>
              <a:rPr lang="zh-CN" altLang="en-US" sz="2400" dirty="0"/>
              <a:t>？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C2E92A-4D54-BADD-3953-11591E659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2270444"/>
            <a:ext cx="5837426" cy="266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213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2F9B-7CEA-9446-0FB1-D760E8A2E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0136EA44-6DD8-6BA2-61F2-9E5695F0D6A5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49B40DE-8D4D-3821-6C51-0513A135CF33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7A768F56-BDB7-7423-40AA-82D6E205010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B17D414-20C4-4798-4EC0-5E3521531FAB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三、</a:t>
            </a:r>
            <a:r>
              <a:rPr lang="en-US" altLang="zh-CN" sz="2400" dirty="0"/>
              <a:t>KNN</a:t>
            </a:r>
            <a:r>
              <a:rPr lang="zh-CN" altLang="en-US" sz="2400" dirty="0"/>
              <a:t>计算例子</a:t>
            </a:r>
            <a:endParaRPr lang="en-US" altLang="zh-CN" sz="2400" dirty="0"/>
          </a:p>
          <a:p>
            <a:r>
              <a:rPr lang="en-US" altLang="zh-CN" sz="2400" dirty="0"/>
              <a:t>KNN</a:t>
            </a:r>
            <a:r>
              <a:rPr lang="zh-CN" altLang="en-US" sz="2400" dirty="0"/>
              <a:t>算法流程总结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1C31AE-E765-5832-B03B-39D6DC33D195}"/>
              </a:ext>
            </a:extLst>
          </p:cNvPr>
          <p:cNvSpPr txBox="1"/>
          <p:nvPr/>
        </p:nvSpPr>
        <p:spPr>
          <a:xfrm>
            <a:off x="430211" y="2203196"/>
            <a:ext cx="820891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/>
              <a:t>1</a:t>
            </a:r>
            <a:r>
              <a:rPr lang="zh-CN" altLang="en-US" sz="2400" dirty="0"/>
              <a:t>、计算已知类别数据集中的点与当前点之间的距离 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、按距离递增次序排序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、选取与当前点距离</a:t>
            </a:r>
            <a:r>
              <a:rPr lang="zh-CN" altLang="en-US" sz="2400" dirty="0">
                <a:solidFill>
                  <a:srgbClr val="FF0000"/>
                </a:solidFill>
              </a:rPr>
              <a:t>最⼩</a:t>
            </a:r>
            <a:r>
              <a:rPr lang="zh-CN" altLang="en-US" sz="2400" dirty="0"/>
              <a:t>的</a:t>
            </a:r>
            <a:r>
              <a:rPr lang="en-US" altLang="zh-CN" sz="2400" dirty="0"/>
              <a:t>k</a:t>
            </a:r>
            <a:r>
              <a:rPr lang="zh-CN" altLang="en-US" sz="2400" dirty="0"/>
              <a:t>个点 </a:t>
            </a:r>
            <a:endParaRPr lang="en-US" altLang="zh-CN" sz="2400" dirty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、统计前</a:t>
            </a:r>
            <a:r>
              <a:rPr lang="en-US" altLang="zh-CN" sz="2400" dirty="0"/>
              <a:t>k</a:t>
            </a:r>
            <a:r>
              <a:rPr lang="zh-CN" altLang="en-US" sz="2400" dirty="0"/>
              <a:t>个点所在的类别出现的频率 </a:t>
            </a:r>
            <a:endParaRPr lang="en-US" altLang="zh-CN" sz="2400" dirty="0"/>
          </a:p>
          <a:p>
            <a:r>
              <a:rPr lang="en-US" altLang="zh-CN" sz="2400" dirty="0"/>
              <a:t>5</a:t>
            </a:r>
            <a:r>
              <a:rPr lang="zh-CN" altLang="en-US" sz="2400" dirty="0"/>
              <a:t>、返回前</a:t>
            </a:r>
            <a:r>
              <a:rPr lang="en-US" altLang="zh-CN" sz="2400" dirty="0"/>
              <a:t>k</a:t>
            </a:r>
            <a:r>
              <a:rPr lang="zh-CN" altLang="en-US" sz="2400" dirty="0"/>
              <a:t>个点出现频率</a:t>
            </a:r>
            <a:r>
              <a:rPr lang="zh-CN" altLang="en-US" sz="2400" dirty="0">
                <a:solidFill>
                  <a:srgbClr val="FF0000"/>
                </a:solidFill>
              </a:rPr>
              <a:t>最⾼</a:t>
            </a:r>
            <a:r>
              <a:rPr lang="zh-CN" altLang="en-US" sz="2400" dirty="0"/>
              <a:t>的类别作为当前点的预测分类</a:t>
            </a:r>
          </a:p>
        </p:txBody>
      </p:sp>
    </p:spTree>
    <p:extLst>
      <p:ext uri="{BB962C8B-B14F-4D97-AF65-F5344CB8AC3E}">
        <p14:creationId xmlns:p14="http://schemas.microsoft.com/office/powerpoint/2010/main" val="300936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69E71-A0C7-0B2E-A94E-EF56C5D51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A570B03-B839-2AE4-309F-4D3FC89B7CA0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CF53E2-5105-39AA-ED92-0E6B40C3F39C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D18CFD88-5C7D-8F32-F735-1447D90F9D5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19E0BF0-B50A-022F-79D5-BF247B66EBEE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四、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算法实现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KNN</a:t>
            </a:r>
            <a:r>
              <a:rPr lang="zh-CN" altLang="en-US" sz="2400" dirty="0"/>
              <a:t>类的实现：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6ECDAA3-EB40-8064-4DB3-0883AD9FCA74}"/>
              </a:ext>
            </a:extLst>
          </p:cNvPr>
          <p:cNvSpPr txBox="1"/>
          <p:nvPr/>
        </p:nvSpPr>
        <p:spPr>
          <a:xfrm>
            <a:off x="1043608" y="2282924"/>
            <a:ext cx="68407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初始化</a:t>
            </a:r>
            <a:r>
              <a:rPr lang="en-US" altLang="zh-CN" dirty="0"/>
              <a:t>KNN</a:t>
            </a:r>
            <a:r>
              <a:rPr lang="zh-CN" altLang="en-US" dirty="0"/>
              <a:t>类</a:t>
            </a:r>
            <a:endParaRPr lang="en-US" altLang="zh-CN" b="0" i="0" dirty="0">
              <a:solidFill>
                <a:srgbClr val="C678DD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altLang="zh-CN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class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KNN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:</a:t>
            </a:r>
            <a:r>
              <a:rPr lang="en-US" altLang="zh-CN" dirty="0"/>
              <a:t>    </a:t>
            </a:r>
            <a:r>
              <a:rPr lang="en-US" altLang="zh-CN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def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61AEEE"/>
                </a:solidFill>
                <a:effectLst/>
                <a:latin typeface="Source Code Pro" panose="020B0509030403020204" pitchFamily="49" charset="0"/>
              </a:rPr>
              <a:t>__</a:t>
            </a:r>
            <a:r>
              <a:rPr lang="en-US" altLang="zh-CN" b="0" i="0" dirty="0" err="1">
                <a:solidFill>
                  <a:srgbClr val="61AEEE"/>
                </a:solidFill>
                <a:effectLst/>
                <a:latin typeface="Source Code Pro" panose="020B0509030403020204" pitchFamily="49" charset="0"/>
              </a:rPr>
              <a:t>init</a:t>
            </a:r>
            <a:r>
              <a:rPr lang="en-US" altLang="zh-CN" b="0" i="0" dirty="0">
                <a:solidFill>
                  <a:srgbClr val="61AEEE"/>
                </a:solidFill>
                <a:effectLst/>
                <a:latin typeface="Source Code Pro" panose="020B0509030403020204" pitchFamily="49" charset="0"/>
              </a:rPr>
              <a:t>__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k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 err="1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label_num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):</a:t>
            </a:r>
            <a:endParaRPr lang="en-US" altLang="zh-CN" dirty="0"/>
          </a:p>
          <a:p>
            <a:r>
              <a:rPr lang="en-US" altLang="zh-CN" dirty="0"/>
              <a:t>        </a:t>
            </a:r>
            <a:r>
              <a:rPr lang="en-US" altLang="zh-CN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def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61AEEE"/>
                </a:solidFill>
                <a:effectLst/>
                <a:latin typeface="Source Code Pro" panose="020B0509030403020204" pitchFamily="49" charset="0"/>
              </a:rPr>
              <a:t>__</a:t>
            </a:r>
            <a:r>
              <a:rPr lang="en-US" altLang="zh-CN" b="0" i="0" dirty="0" err="1">
                <a:solidFill>
                  <a:srgbClr val="61AEEE"/>
                </a:solidFill>
                <a:effectLst/>
                <a:latin typeface="Source Code Pro" panose="020B0509030403020204" pitchFamily="49" charset="0"/>
              </a:rPr>
              <a:t>init</a:t>
            </a:r>
            <a:r>
              <a:rPr lang="en-US" altLang="zh-CN" b="0" i="0" dirty="0">
                <a:solidFill>
                  <a:srgbClr val="61AEEE"/>
                </a:solidFill>
                <a:effectLst/>
                <a:latin typeface="Source Code Pro" panose="020B0509030403020204" pitchFamily="49" charset="0"/>
              </a:rPr>
              <a:t>__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k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 err="1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label_num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):</a:t>
            </a:r>
          </a:p>
          <a:p>
            <a:r>
              <a:rPr lang="en-US" altLang="zh-CN" dirty="0">
                <a:solidFill>
                  <a:srgbClr val="ABB2BF"/>
                </a:solidFill>
                <a:latin typeface="Source Code Pro" panose="020B0509030403020204" pitchFamily="49" charset="0"/>
              </a:rPr>
              <a:t>	</a:t>
            </a:r>
            <a:r>
              <a:rPr lang="en-US" altLang="zh-CN" b="0" i="0" dirty="0" err="1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en-US" altLang="zh-CN" b="0" i="0" dirty="0" err="1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lang="en-US" altLang="zh-CN" b="0" i="0" dirty="0" err="1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k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669900"/>
                </a:solidFill>
                <a:effectLst/>
                <a:latin typeface="Source Code Pro" panose="020B0509030403020204" pitchFamily="49" charset="0"/>
              </a:rPr>
              <a:t>=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k  </a:t>
            </a:r>
            <a:r>
              <a:rPr lang="en-US" altLang="zh-CN" dirty="0"/>
              <a:t>#  </a:t>
            </a:r>
            <a:r>
              <a:rPr lang="zh-CN" altLang="en-US" dirty="0"/>
              <a:t>定义邻居数量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	</a:t>
            </a:r>
            <a:r>
              <a:rPr lang="en-US" altLang="zh-CN" b="0" i="0" dirty="0" err="1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en-US" altLang="zh-CN" b="0" i="0" dirty="0" err="1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.</a:t>
            </a:r>
            <a:r>
              <a:rPr lang="en-US" altLang="zh-CN" b="0" i="0" dirty="0" err="1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label_num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>
                <a:solidFill>
                  <a:srgbClr val="669900"/>
                </a:solidFill>
                <a:effectLst/>
                <a:latin typeface="Source Code Pro" panose="020B0509030403020204" pitchFamily="49" charset="0"/>
              </a:rPr>
              <a:t>=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 err="1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label_num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  </a:t>
            </a:r>
            <a:r>
              <a:rPr lang="en-US" altLang="zh-CN" dirty="0"/>
              <a:t># </a:t>
            </a:r>
            <a:r>
              <a:rPr lang="zh-CN" altLang="en-US" dirty="0"/>
              <a:t>类别的数量</a:t>
            </a:r>
          </a:p>
        </p:txBody>
      </p:sp>
    </p:spTree>
    <p:extLst>
      <p:ext uri="{BB962C8B-B14F-4D97-AF65-F5344CB8AC3E}">
        <p14:creationId xmlns:p14="http://schemas.microsoft.com/office/powerpoint/2010/main" val="2691217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B11F0E-BC2E-601E-BBDE-AA6476DA1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EB3D43A7-FE4F-BE77-5CD2-225416268E16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1DE090-3E0A-539F-156A-04AB7685734C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9232C6C0-BB26-EB23-3F6F-BEE354E8A9D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FD13513-0246-D0DE-44D6-EC28F2E89C49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四、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算法实现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KNN</a:t>
            </a:r>
            <a:r>
              <a:rPr lang="zh-CN" altLang="en-US" sz="2400" dirty="0"/>
              <a:t>类的实现：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30585B0-A377-2495-0583-4DFD79D736BE}"/>
              </a:ext>
            </a:extLst>
          </p:cNvPr>
          <p:cNvSpPr txBox="1"/>
          <p:nvPr/>
        </p:nvSpPr>
        <p:spPr>
          <a:xfrm>
            <a:off x="1394460" y="1971586"/>
            <a:ext cx="516636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# </a:t>
            </a:r>
            <a:r>
              <a:rPr lang="zh-CN" altLang="en-US" dirty="0"/>
              <a:t>实现训练函数</a:t>
            </a:r>
            <a:endParaRPr lang="en-US" altLang="zh-CN" dirty="0"/>
          </a:p>
          <a:p>
            <a:r>
              <a:rPr lang="fr-FR" altLang="zh-CN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def</a:t>
            </a:r>
            <a:r>
              <a:rPr lang="fr-FR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fr-FR" altLang="zh-CN" b="0" i="0" dirty="0">
                <a:solidFill>
                  <a:srgbClr val="61AEEE"/>
                </a:solidFill>
                <a:effectLst/>
                <a:latin typeface="Source Code Pro" panose="020B0509030403020204" pitchFamily="49" charset="0"/>
              </a:rPr>
              <a:t>fit</a:t>
            </a:r>
            <a:r>
              <a:rPr lang="fr-FR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fr-FR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fr-FR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fr-FR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x_train</a:t>
            </a:r>
            <a:r>
              <a:rPr lang="fr-FR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fr-FR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y_train</a:t>
            </a:r>
            <a:r>
              <a:rPr lang="fr-FR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):</a:t>
            </a:r>
          </a:p>
          <a:p>
            <a:r>
              <a:rPr lang="en-US" altLang="zh-CN" b="0" i="1" dirty="0">
                <a:solidFill>
                  <a:srgbClr val="5C6370"/>
                </a:solidFill>
                <a:effectLst/>
                <a:latin typeface="Source Code Pro" panose="020B0509030403020204" pitchFamily="49" charset="0"/>
              </a:rPr>
              <a:t>	</a:t>
            </a:r>
            <a:r>
              <a:rPr lang="en-US" altLang="zh-CN" dirty="0"/>
              <a:t># </a:t>
            </a:r>
            <a:r>
              <a:rPr lang="zh-CN" altLang="en-US" dirty="0"/>
              <a:t>在类中保存训练数据</a:t>
            </a:r>
          </a:p>
        </p:txBody>
      </p:sp>
    </p:spTree>
    <p:extLst>
      <p:ext uri="{BB962C8B-B14F-4D97-AF65-F5344CB8AC3E}">
        <p14:creationId xmlns:p14="http://schemas.microsoft.com/office/powerpoint/2010/main" val="800898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3C226-8457-92EC-6B9C-0AD316D1A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905C25F6-3303-53C2-951E-354C0DD43090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C4CE0C-F907-1A06-2B89-45C103E76983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7CB6F422-5D31-290A-064E-B3168965E7EB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286AD32-5B26-B4D6-98AF-76F0DE15CBD1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四、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算法实现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KNN</a:t>
            </a:r>
            <a:r>
              <a:rPr lang="zh-CN" altLang="en-US" sz="2400" dirty="0"/>
              <a:t>类的实现：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6256AD1-CEBF-7C5D-C0FB-6D905FF035B4}"/>
              </a:ext>
            </a:extLst>
          </p:cNvPr>
          <p:cNvSpPr txBox="1"/>
          <p:nvPr/>
        </p:nvSpPr>
        <p:spPr>
          <a:xfrm>
            <a:off x="1403648" y="1979878"/>
            <a:ext cx="626469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#  </a:t>
            </a:r>
            <a:r>
              <a:rPr lang="zh-CN" altLang="en-US" dirty="0"/>
              <a:t>获取距离目标样本点最近的</a:t>
            </a:r>
            <a:r>
              <a:rPr lang="en-US" altLang="zh-CN" dirty="0"/>
              <a:t>K</a:t>
            </a:r>
            <a:r>
              <a:rPr lang="zh-CN" altLang="en-US" dirty="0"/>
              <a:t>个样本点的标签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def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0" dirty="0" err="1">
                <a:solidFill>
                  <a:srgbClr val="61AEEE"/>
                </a:solidFill>
                <a:effectLst/>
                <a:latin typeface="Source Code Pro" panose="020B0509030403020204" pitchFamily="49" charset="0"/>
              </a:rPr>
              <a:t>get_knn_indices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(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self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,</a:t>
            </a:r>
            <a:r>
              <a:rPr lang="en-US" altLang="zh-CN" b="0" i="0" dirty="0">
                <a:solidFill>
                  <a:srgbClr val="ABB2BF"/>
                </a:solidFill>
                <a:effectLst/>
                <a:latin typeface="Source Code Pro" panose="020B0509030403020204" pitchFamily="49" charset="0"/>
              </a:rPr>
              <a:t> x</a:t>
            </a:r>
            <a:r>
              <a:rPr lang="en-US" altLang="zh-CN" b="0" i="0" dirty="0">
                <a:solidFill>
                  <a:srgbClr val="999999"/>
                </a:solidFill>
                <a:effectLst/>
                <a:latin typeface="Source Code Pro" panose="020B0509030403020204" pitchFamily="49" charset="0"/>
              </a:rPr>
              <a:t>):</a:t>
            </a:r>
            <a:endParaRPr lang="en-US" altLang="zh-CN" i="1" dirty="0">
              <a:solidFill>
                <a:srgbClr val="5C6370"/>
              </a:solidFill>
              <a:latin typeface="Source Code Pro" panose="020B0509030403020204" pitchFamily="49" charset="0"/>
            </a:endParaRPr>
          </a:p>
          <a:p>
            <a:r>
              <a:rPr lang="en-US" altLang="zh-CN" b="0" i="1" dirty="0">
                <a:solidFill>
                  <a:srgbClr val="5C6370"/>
                </a:solidFill>
                <a:effectLst/>
                <a:latin typeface="Source Code Pro" panose="020B0509030403020204" pitchFamily="49" charset="0"/>
              </a:rPr>
              <a:t>	</a:t>
            </a:r>
            <a:r>
              <a:rPr lang="en-US" altLang="zh-CN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1.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# 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计算已知样本的距离</a:t>
            </a:r>
            <a:endParaRPr lang="en-US" altLang="zh-CN" b="0" i="1" dirty="0">
              <a:solidFill>
                <a:srgbClr val="FF0000"/>
              </a:solidFill>
              <a:effectLst/>
              <a:latin typeface="Source Code Pro" panose="020B0509030403020204" pitchFamily="49" charset="0"/>
            </a:endParaRPr>
          </a:p>
          <a:p>
            <a:endParaRPr lang="en-US" altLang="zh-CN" b="0" i="1" dirty="0">
              <a:solidFill>
                <a:srgbClr val="FF0000"/>
              </a:solidFill>
              <a:effectLst/>
              <a:latin typeface="Source Code Pro" panose="020B0509030403020204" pitchFamily="49" charset="0"/>
            </a:endParaRPr>
          </a:p>
          <a:p>
            <a:r>
              <a:rPr lang="en-US" altLang="zh-CN" i="1" dirty="0">
                <a:solidFill>
                  <a:srgbClr val="FF0000"/>
                </a:solidFill>
                <a:latin typeface="Source Code Pro" panose="020B0509030403020204" pitchFamily="49" charset="0"/>
              </a:rPr>
              <a:t>	2. # </a:t>
            </a:r>
            <a:r>
              <a:rPr lang="zh-CN" altLang="en-US" i="1" dirty="0">
                <a:solidFill>
                  <a:srgbClr val="FF0000"/>
                </a:solidFill>
                <a:latin typeface="Source Code Pro" panose="020B0509030403020204" pitchFamily="49" charset="0"/>
              </a:rPr>
              <a:t>按距离从小到大排序，并得到对应的下标</a:t>
            </a:r>
            <a:endParaRPr lang="en-US" altLang="zh-CN" i="1" dirty="0">
              <a:solidFill>
                <a:srgbClr val="FF0000"/>
              </a:solidFill>
              <a:latin typeface="Source Code Pro" panose="020B0509030403020204" pitchFamily="49" charset="0"/>
            </a:endParaRPr>
          </a:p>
          <a:p>
            <a:endParaRPr lang="en-US" altLang="zh-CN" i="1" dirty="0">
              <a:solidFill>
                <a:srgbClr val="FF0000"/>
              </a:solidFill>
              <a:latin typeface="Source Code Pro" panose="020B0509030403020204" pitchFamily="49" charset="0"/>
            </a:endParaRPr>
          </a:p>
          <a:p>
            <a:r>
              <a:rPr lang="en-US" altLang="zh-CN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	3.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# 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取最近的</a:t>
            </a:r>
            <a:r>
              <a:rPr lang="en-US" altLang="zh-CN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K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个</a:t>
            </a:r>
            <a:endParaRPr lang="en-US" altLang="zh-CN" b="0" i="1" dirty="0">
              <a:solidFill>
                <a:srgbClr val="FF0000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971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49976-DCD0-7B51-51B2-7DEA562A55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62ED1D8C-675D-D111-0D38-1BAA81D28175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676D04-B49C-6B64-0184-2BC48467636E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57843E44-07FC-045F-DE52-37A42F913C5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07F933B-38DC-815F-BF8E-AB61C238BEBA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四、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算法实现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KNN</a:t>
            </a:r>
            <a:r>
              <a:rPr lang="zh-CN" altLang="en-US" sz="2400" dirty="0"/>
              <a:t>类的实现：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6BA4C72-C81D-B091-F2E2-0B8E7C172A2F}"/>
              </a:ext>
            </a:extLst>
          </p:cNvPr>
          <p:cNvSpPr txBox="1"/>
          <p:nvPr/>
        </p:nvSpPr>
        <p:spPr>
          <a:xfrm>
            <a:off x="179512" y="1979878"/>
            <a:ext cx="835292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#</a:t>
            </a:r>
            <a:r>
              <a:rPr lang="zh-CN" altLang="en-US" dirty="0"/>
              <a:t>对</a:t>
            </a:r>
            <a:r>
              <a:rPr lang="en-US" altLang="zh-CN" dirty="0"/>
              <a:t>KNN</a:t>
            </a:r>
            <a:r>
              <a:rPr lang="zh-CN" altLang="en-US" dirty="0"/>
              <a:t>方法的具体实现，观察</a:t>
            </a:r>
            <a:r>
              <a:rPr lang="en-US" altLang="zh-CN" dirty="0"/>
              <a:t>K</a:t>
            </a:r>
            <a:r>
              <a:rPr lang="zh-CN" altLang="en-US" dirty="0"/>
              <a:t>个近邻并使用</a:t>
            </a:r>
            <a:r>
              <a:rPr lang="en-US" altLang="zh-CN" dirty="0" err="1"/>
              <a:t>np.argmax</a:t>
            </a:r>
            <a:r>
              <a:rPr lang="zh-CN" altLang="en-US" dirty="0"/>
              <a:t>获取其中数量最多的类别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	def </a:t>
            </a:r>
            <a:r>
              <a:rPr lang="en-US" altLang="zh-CN" b="0" i="0" dirty="0" err="1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get_label</a:t>
            </a:r>
            <a:r>
              <a:rPr lang="en-US" altLang="zh-CN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(self, x):</a:t>
            </a:r>
          </a:p>
          <a:p>
            <a:pPr lvl="1"/>
            <a:r>
              <a:rPr lang="en-US" altLang="zh-CN" b="0" i="1" dirty="0">
                <a:solidFill>
                  <a:srgbClr val="5C6370"/>
                </a:solidFill>
                <a:effectLst/>
                <a:latin typeface="Source Code Pro" panose="020B0509030403020204" pitchFamily="49" charset="0"/>
              </a:rPr>
              <a:t>		</a:t>
            </a:r>
            <a:r>
              <a:rPr lang="en-US" altLang="zh-CN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1.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# 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类别计数</a:t>
            </a:r>
            <a:endParaRPr lang="en-US" altLang="zh-CN" b="0" i="1" dirty="0">
              <a:solidFill>
                <a:srgbClr val="FF0000"/>
              </a:solidFill>
              <a:effectLst/>
              <a:latin typeface="Source Code Pro" panose="020B0509030403020204" pitchFamily="49" charset="0"/>
            </a:endParaRPr>
          </a:p>
          <a:p>
            <a:pPr lvl="1"/>
            <a:endParaRPr lang="en-US" altLang="zh-CN" i="1" dirty="0">
              <a:solidFill>
                <a:srgbClr val="FF0000"/>
              </a:solidFill>
              <a:latin typeface="Source Code Pro" panose="020B0509030403020204" pitchFamily="49" charset="0"/>
            </a:endParaRPr>
          </a:p>
          <a:p>
            <a:pPr lvl="1"/>
            <a:r>
              <a:rPr lang="en-US" altLang="zh-CN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		2.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 </a:t>
            </a:r>
            <a:r>
              <a:rPr lang="en-US" altLang="zh-CN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# </a:t>
            </a:r>
            <a:r>
              <a:rPr lang="zh-CN" altLang="en-US" b="0" i="1" dirty="0">
                <a:solidFill>
                  <a:srgbClr val="FF0000"/>
                </a:solidFill>
                <a:effectLst/>
                <a:latin typeface="Source Code Pro" panose="020B0509030403020204" pitchFamily="49" charset="0"/>
              </a:rPr>
              <a:t>返回数量最多的类别</a:t>
            </a:r>
            <a:endParaRPr lang="en-US" altLang="zh-CN" b="0" i="1" dirty="0">
              <a:solidFill>
                <a:srgbClr val="FF0000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292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4D8CA-527A-6BD8-2962-2F9F31B4C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11BFC43-8283-BE9F-2682-92083550DF8E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76B755-DB57-4FFD-0580-C86D55B34A9E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B73EAF2D-C158-1B81-061A-638C3B0E51AE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A814A83-CBE8-98C2-1AA0-AC82C20381FE}"/>
              </a:ext>
            </a:extLst>
          </p:cNvPr>
          <p:cNvSpPr txBox="1"/>
          <p:nvPr/>
        </p:nvSpPr>
        <p:spPr>
          <a:xfrm>
            <a:off x="683568" y="968947"/>
            <a:ext cx="7200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四、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算法实现</a:t>
            </a:r>
            <a:endParaRPr lang="en-US" altLang="zh-CN" sz="2400" dirty="0"/>
          </a:p>
          <a:p>
            <a:r>
              <a:rPr lang="en-US" altLang="zh-CN" sz="2400" dirty="0"/>
              <a:t>2</a:t>
            </a:r>
            <a:r>
              <a:rPr lang="zh-CN" altLang="en-US" sz="2400" dirty="0"/>
              <a:t>、</a:t>
            </a:r>
            <a:r>
              <a:rPr lang="en-US" altLang="zh-CN" sz="2400" dirty="0"/>
              <a:t>KNN</a:t>
            </a:r>
            <a:r>
              <a:rPr lang="zh-CN" altLang="en-US" sz="2400" dirty="0"/>
              <a:t>类的实现：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EDE846-52F0-9D84-5285-A15F96EA1EB5}"/>
              </a:ext>
            </a:extLst>
          </p:cNvPr>
          <p:cNvSpPr txBox="1"/>
          <p:nvPr/>
        </p:nvSpPr>
        <p:spPr>
          <a:xfrm>
            <a:off x="179512" y="1979878"/>
            <a:ext cx="835292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	# </a:t>
            </a:r>
            <a:r>
              <a:rPr lang="zh-CN" altLang="en-US" dirty="0"/>
              <a:t>预测样本 </a:t>
            </a:r>
            <a:r>
              <a:rPr lang="en-US" altLang="zh-CN" dirty="0" err="1"/>
              <a:t>test_x</a:t>
            </a:r>
            <a:r>
              <a:rPr lang="en-US" altLang="zh-CN" dirty="0"/>
              <a:t> </a:t>
            </a:r>
            <a:r>
              <a:rPr lang="zh-CN" altLang="en-US" dirty="0"/>
              <a:t>的类别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	def predict(self, </a:t>
            </a:r>
            <a:r>
              <a:rPr lang="en-US" altLang="zh-CN" b="0" i="0" dirty="0" err="1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x_test</a:t>
            </a:r>
            <a:r>
              <a:rPr lang="en-US" altLang="zh-CN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): </a:t>
            </a:r>
          </a:p>
          <a:p>
            <a:pPr lvl="1"/>
            <a:r>
              <a:rPr lang="en-US" altLang="zh-CN" b="0" i="1" dirty="0">
                <a:solidFill>
                  <a:srgbClr val="5C6370"/>
                </a:solidFill>
                <a:effectLst/>
                <a:latin typeface="Source Code Pro" panose="020B0509030403020204" pitchFamily="49" charset="0"/>
              </a:rPr>
              <a:t>		</a:t>
            </a:r>
            <a:endParaRPr lang="en-US" altLang="zh-CN" b="0" i="1" dirty="0">
              <a:solidFill>
                <a:srgbClr val="FF0000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39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4837-ED3E-7488-80A8-241ACF483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1AF3B3FB-EA8A-ABBE-CBBB-AB5358D4969E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34B7B4-16C6-85BC-56E3-ABBDE03178EF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D4E8375F-CA90-068E-B2E4-E5CD01DB9518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A846AA5-16A5-604D-6E1A-67F920F4E94B}"/>
              </a:ext>
            </a:extLst>
          </p:cNvPr>
          <p:cNvSpPr txBox="1"/>
          <p:nvPr/>
        </p:nvSpPr>
        <p:spPr>
          <a:xfrm>
            <a:off x="683568" y="968947"/>
            <a:ext cx="7200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四、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算法实现</a:t>
            </a:r>
            <a:endParaRPr lang="en-US" altLang="zh-CN" sz="2400" dirty="0"/>
          </a:p>
          <a:p>
            <a:r>
              <a:rPr lang="en-US" altLang="zh-CN" sz="2400" dirty="0"/>
              <a:t>3</a:t>
            </a:r>
            <a:r>
              <a:rPr lang="zh-CN" altLang="en-US" sz="2400" dirty="0"/>
              <a:t>、我们在测试集上观察算法的效果，并对不同的</a:t>
            </a:r>
            <a:r>
              <a:rPr lang="en-US" altLang="zh-CN" sz="2400" dirty="0"/>
              <a:t>K </a:t>
            </a:r>
            <a:r>
              <a:rPr lang="zh-CN" altLang="en-US" sz="2400" dirty="0"/>
              <a:t>的取值进行测试：</a:t>
            </a:r>
            <a:endParaRPr lang="en-US" altLang="zh-CN" sz="2400" dirty="0"/>
          </a:p>
          <a:p>
            <a:endParaRPr lang="zh-CN" altLang="en-US" sz="24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EC64C91-1727-932B-DD13-6D31EEE819B8}"/>
              </a:ext>
            </a:extLst>
          </p:cNvPr>
          <p:cNvSpPr txBox="1"/>
          <p:nvPr/>
        </p:nvSpPr>
        <p:spPr>
          <a:xfrm>
            <a:off x="683568" y="2578880"/>
            <a:ext cx="83529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	</a:t>
            </a:r>
            <a:r>
              <a:rPr lang="en-US" altLang="zh-CN" sz="2400" dirty="0"/>
              <a:t>for k in range(1, 10):</a:t>
            </a:r>
          </a:p>
          <a:p>
            <a:r>
              <a:rPr lang="en-US" altLang="zh-CN" sz="2400" b="0" i="0" dirty="0">
                <a:solidFill>
                  <a:srgbClr val="C678DD"/>
                </a:solidFill>
                <a:effectLst/>
                <a:latin typeface="Source Code Pro" panose="020B0509030403020204" pitchFamily="49" charset="0"/>
              </a:rPr>
              <a:t>		……</a:t>
            </a:r>
          </a:p>
          <a:p>
            <a:pPr lvl="1"/>
            <a:r>
              <a:rPr lang="en-US" altLang="zh-CN" b="0" i="1" dirty="0">
                <a:solidFill>
                  <a:srgbClr val="5C6370"/>
                </a:solidFill>
                <a:effectLst/>
                <a:latin typeface="Source Code Pro" panose="020B0509030403020204" pitchFamily="49" charset="0"/>
              </a:rPr>
              <a:t>		</a:t>
            </a:r>
            <a:endParaRPr lang="en-US" altLang="zh-CN" b="0" i="1" dirty="0">
              <a:solidFill>
                <a:srgbClr val="FF0000"/>
              </a:solidFill>
              <a:effectLst/>
              <a:latin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232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B305F-DFCC-191A-B16B-47F540F0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extBox 46">
            <a:extLst>
              <a:ext uri="{FF2B5EF4-FFF2-40B4-BE49-F238E27FC236}">
                <a16:creationId xmlns:a16="http://schemas.microsoft.com/office/drawing/2014/main" id="{D57033C4-86DD-D2A2-6068-9B843845EBD2}"/>
              </a:ext>
            </a:extLst>
          </p:cNvPr>
          <p:cNvSpPr txBox="1"/>
          <p:nvPr/>
        </p:nvSpPr>
        <p:spPr>
          <a:xfrm>
            <a:off x="3101422" y="204238"/>
            <a:ext cx="286649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822686">
              <a:defRPr/>
            </a:pP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章 </a:t>
            </a:r>
            <a:r>
              <a:rPr lang="en-US" altLang="zh-CN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KNN</a:t>
            </a:r>
            <a:r>
              <a:rPr lang="zh-CN" altLang="en-US" sz="3200" b="1" dirty="0">
                <a:latin typeface="宋体" panose="02010600030101010101" pitchFamily="2" charset="-122"/>
                <a:ea typeface="宋体" panose="02010600030101010101" pitchFamily="2" charset="-122"/>
              </a:rPr>
              <a:t>算法</a:t>
            </a:r>
            <a:endParaRPr lang="zh-CN" altLang="en-US" sz="3200" kern="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BA6157-F36A-0E72-1644-4CB84B7BB0CF}"/>
              </a:ext>
            </a:extLst>
          </p:cNvPr>
          <p:cNvSpPr txBox="1"/>
          <p:nvPr/>
        </p:nvSpPr>
        <p:spPr>
          <a:xfrm>
            <a:off x="-1188640" y="999725"/>
            <a:ext cx="83529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</a:t>
            </a:r>
            <a:endParaRPr lang="en-US" altLang="zh-CN" sz="2000" dirty="0">
              <a:latin typeface="宋体" panose="02010600030101010101" pitchFamily="2" charset="-122"/>
            </a:endParaRPr>
          </a:p>
        </p:txBody>
      </p:sp>
      <p:pic>
        <p:nvPicPr>
          <p:cNvPr id="2" name="图片 1" descr="20100508053929509.png">
            <a:extLst>
              <a:ext uri="{FF2B5EF4-FFF2-40B4-BE49-F238E27FC236}">
                <a16:creationId xmlns:a16="http://schemas.microsoft.com/office/drawing/2014/main" id="{9B90CB58-AA8A-EB07-B98E-FC835B67A5FA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2" y="64578"/>
            <a:ext cx="864096" cy="86409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D7560DED-3CE2-9189-B58D-E552CADAA350}"/>
              </a:ext>
            </a:extLst>
          </p:cNvPr>
          <p:cNvSpPr txBox="1"/>
          <p:nvPr/>
        </p:nvSpPr>
        <p:spPr>
          <a:xfrm>
            <a:off x="683568" y="968947"/>
            <a:ext cx="72008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四、</a:t>
            </a:r>
            <a:r>
              <a:rPr lang="en-US" altLang="zh-CN" sz="2400" dirty="0"/>
              <a:t>KNN</a:t>
            </a:r>
            <a:r>
              <a:rPr lang="zh-CN" altLang="en-US" sz="2400" dirty="0"/>
              <a:t>算法实现</a:t>
            </a:r>
            <a:endParaRPr lang="en-US" altLang="zh-CN" sz="2400" dirty="0"/>
          </a:p>
          <a:p>
            <a:r>
              <a:rPr lang="en-US" altLang="zh-CN" sz="2400" dirty="0"/>
              <a:t>4</a:t>
            </a:r>
            <a:r>
              <a:rPr lang="zh-CN" altLang="en-US" sz="2400" dirty="0"/>
              <a:t>、思考：若将距离</a:t>
            </a:r>
            <a:r>
              <a:rPr lang="en-US" altLang="zh-CN" sz="2400" dirty="0"/>
              <a:t>distance(a, b)</a:t>
            </a:r>
            <a:r>
              <a:rPr lang="zh-CN" altLang="en-US" sz="2400" dirty="0"/>
              <a:t>改为</a:t>
            </a:r>
            <a:r>
              <a:rPr lang="zh-CN" altLang="en-US" sz="2400" dirty="0">
                <a:solidFill>
                  <a:srgbClr val="FF0000"/>
                </a:solidFill>
              </a:rPr>
              <a:t>曼哈顿距离</a:t>
            </a:r>
            <a:r>
              <a:rPr lang="zh-CN" altLang="en-US" sz="2400" dirty="0"/>
              <a:t>，观察对分类效果的影响！</a:t>
            </a:r>
            <a:endParaRPr lang="en-US" altLang="zh-CN" sz="2400" dirty="0"/>
          </a:p>
          <a:p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62937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264"/>
    </mc:Choice>
    <mc:Fallback xmlns="">
      <p:transition spd="slow" advTm="826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PowerPoint 演示文稿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gradFill flip="none" rotWithShape="1">
          <a:gsLst>
            <a:gs pos="0">
              <a:schemeClr val="bg1">
                <a:lumMod val="75000"/>
              </a:schemeClr>
            </a:gs>
            <a:gs pos="50000">
              <a:schemeClr val="bg1">
                <a:lumMod val="95000"/>
              </a:schemeClr>
            </a:gs>
            <a:gs pos="100000">
              <a:schemeClr val="bg1"/>
            </a:gs>
          </a:gsLst>
          <a:lin ang="2700000" scaled="1"/>
          <a:tileRect/>
        </a:gradFill>
        <a:ln w="12700">
          <a:gradFill>
            <a:gsLst>
              <a:gs pos="100000">
                <a:schemeClr val="bg1">
                  <a:lumMod val="75000"/>
                </a:schemeClr>
              </a:gs>
              <a:gs pos="50000">
                <a:schemeClr val="bg1">
                  <a:lumMod val="95000"/>
                </a:schemeClr>
              </a:gs>
              <a:gs pos="0">
                <a:schemeClr val="bg1"/>
              </a:gs>
            </a:gsLst>
            <a:lin ang="5400000" scaled="0"/>
          </a:gradFill>
        </a:ln>
        <a:effectLst>
          <a:outerShdw blurRad="254000" dist="190500" dir="3540000" sx="105000" sy="105000" algn="tl" rotWithShape="0">
            <a:srgbClr val="A44A00">
              <a:alpha val="25000"/>
            </a:srgbClr>
          </a:outerShdw>
        </a:effectLst>
      </a:spPr>
      <a:bodyPr rtlCol="0" anchor="ctr"/>
      <a:lstStyle>
        <a:defPPr algn="ctr">
          <a:defRPr>
            <a:gradFill flip="none" rotWithShape="1">
              <a:gsLst>
                <a:gs pos="0">
                  <a:schemeClr val="lt1">
                    <a:shade val="30000"/>
                    <a:satMod val="115000"/>
                  </a:schemeClr>
                </a:gs>
                <a:gs pos="50000">
                  <a:schemeClr val="lt1">
                    <a:shade val="67500"/>
                    <a:satMod val="115000"/>
                  </a:schemeClr>
                </a:gs>
                <a:gs pos="100000">
                  <a:schemeClr val="lt1">
                    <a:shade val="100000"/>
                    <a:satMod val="115000"/>
                  </a:schemeClr>
                </a:gs>
              </a:gsLst>
              <a:lin ang="2700000" scaled="1"/>
              <a:tileRect/>
            </a:gra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第0章 课程说明.potx" id="{437E4210-DF9B-40D2-AB7F-7247346DC1A6}" vid="{3EB706F5-A3C8-4C0C-96A8-58DCE5A24CFF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3898</TotalTime>
  <Words>1348</Words>
  <Application>Microsoft Office PowerPoint</Application>
  <PresentationFormat>自定义</PresentationFormat>
  <Paragraphs>185</Paragraphs>
  <Slides>27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3" baseType="lpstr">
      <vt:lpstr>华文楷体</vt:lpstr>
      <vt:lpstr>宋体</vt:lpstr>
      <vt:lpstr>Arial</vt:lpstr>
      <vt:lpstr>Calibri</vt:lpstr>
      <vt:lpstr>Source Code Pro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简洁工作汇报</dc:title>
  <dc:creator>第一PPT模板网：www.1ppt.com</dc:creator>
  <cp:keywords>第一PPT模板网：www.1ppt.com</cp:keywords>
  <cp:lastModifiedBy>Administrator</cp:lastModifiedBy>
  <cp:revision>275</cp:revision>
  <dcterms:created xsi:type="dcterms:W3CDTF">2015-10-15T23:19:12Z</dcterms:created>
  <dcterms:modified xsi:type="dcterms:W3CDTF">2024-10-20T14:38:17Z</dcterms:modified>
</cp:coreProperties>
</file>