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97" r:id="rId2"/>
    <p:sldId id="410" r:id="rId3"/>
    <p:sldId id="363" r:id="rId4"/>
    <p:sldId id="398" r:id="rId5"/>
    <p:sldId id="394" r:id="rId6"/>
    <p:sldId id="399" r:id="rId7"/>
    <p:sldId id="457" r:id="rId8"/>
    <p:sldId id="462" r:id="rId9"/>
    <p:sldId id="463" r:id="rId10"/>
  </p:sldIdLst>
  <p:sldSz cx="9144000" cy="6858000" type="screen4x3"/>
  <p:notesSz cx="6858000" cy="9144000"/>
  <p:custDataLst>
    <p:tags r:id="rId1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7" userDrawn="1">
          <p15:clr>
            <a:srgbClr val="A4A3A4"/>
          </p15:clr>
        </p15:guide>
        <p15:guide id="2" pos="29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5BAB7F"/>
    <a:srgbClr val="CCCCFF"/>
    <a:srgbClr val="6600FF"/>
    <a:srgbClr val="D60093"/>
    <a:srgbClr val="FFFF66"/>
    <a:srgbClr val="FF3300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585"/>
    <p:restoredTop sz="67130"/>
  </p:normalViewPr>
  <p:slideViewPr>
    <p:cSldViewPr showGuides="1">
      <p:cViewPr varScale="1">
        <p:scale>
          <a:sx n="80" d="100"/>
          <a:sy n="80" d="100"/>
        </p:scale>
        <p:origin x="652" y="60"/>
      </p:cViewPr>
      <p:guideLst>
        <p:guide orient="horz" pos="2187"/>
        <p:guide pos="291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7584EA-F8F4-468B-838E-6FC41342A7CB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2025/10/27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3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FFA3BE2-94C1-4EC6-874D-79B19FD9F2FA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F2DBF8C-73BE-48EB-9DAD-86366B0D9E79}" type="datetime1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2025/10/27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556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第五级</a:t>
            </a:r>
          </a:p>
        </p:txBody>
      </p:sp>
      <p:sp>
        <p:nvSpPr>
          <p:cNvPr id="1556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fontAlgn="base" hangingPunct="1">
              <a:spcBef>
                <a:spcPct val="0"/>
              </a:spcBef>
              <a:defRPr kumimoji="0" sz="1200" b="0"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第一课</a:t>
            </a:r>
          </a:p>
        </p:txBody>
      </p:sp>
      <p:sp>
        <p:nvSpPr>
          <p:cNvPr id="1556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FCCE3B-0661-4084-9292-E9FF9DA1212F}" type="slidenum"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5363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2025/10/27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536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53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2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53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l-GR" dirty="0">
              <a:ea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741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2025/10/27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741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741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3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741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741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9459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2025/10/27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19460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1946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4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1946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1507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2025/10/27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21508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1509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5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151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11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3555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2025/10/27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23556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3557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6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355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9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zh-CN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5603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2025/10/27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25604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5605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7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560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7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l-GR" altLang="zh-CN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7651" name="Rectangle 3"/>
          <p:cNvSpPr txBox="1">
            <a:spLocks noGrp="1"/>
          </p:cNvSpPr>
          <p:nvPr>
            <p:ph type="dt" sz="half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 eaLnBrk="1" hangingPunct="1"/>
            <a:fld id="{BB962C8B-B14F-4D97-AF65-F5344CB8AC3E}" type="datetime1">
              <a:rPr lang="zh-CN" altLang="en-US" sz="1200" b="0" dirty="0">
                <a:latin typeface="Arial" panose="020B0604020202020204" pitchFamily="34" charset="0"/>
              </a:rPr>
              <a:t>2025/10/27</a:t>
            </a:fld>
            <a:endParaRPr lang="zh-CN" altLang="en-US" sz="1200" b="0" dirty="0">
              <a:latin typeface="Arial" panose="020B0604020202020204" pitchFamily="34" charset="0"/>
            </a:endParaRPr>
          </a:p>
        </p:txBody>
      </p:sp>
      <p:sp>
        <p:nvSpPr>
          <p:cNvPr id="27652" name="Rectangle 6"/>
          <p:cNvSpPr txBox="1">
            <a:spLocks noGrp="1"/>
          </p:cNvSpPr>
          <p:nvPr>
            <p:ph type="ftr" sz="quarte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eaLnBrk="1" hangingPunct="1"/>
            <a:r>
              <a:rPr lang="en-US" altLang="zh-CN" sz="1200" b="0" dirty="0">
                <a:latin typeface="Arial" panose="020B0604020202020204" pitchFamily="34" charset="0"/>
              </a:rPr>
              <a:t>第一课</a:t>
            </a:r>
          </a:p>
        </p:txBody>
      </p:sp>
      <p:sp>
        <p:nvSpPr>
          <p:cNvPr id="27653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en-US" altLang="zh-CN" sz="1200" b="0" dirty="0">
                <a:latin typeface="Arial" panose="020B0604020202020204" pitchFamily="34" charset="0"/>
              </a:rPr>
              <a:t>8</a:t>
            </a:fld>
            <a:endParaRPr lang="en-US" altLang="zh-CN" sz="1200" b="0" dirty="0">
              <a:latin typeface="Arial" panose="020B0604020202020204" pitchFamily="34" charset="0"/>
            </a:endParaRPr>
          </a:p>
        </p:txBody>
      </p:sp>
      <p:sp>
        <p:nvSpPr>
          <p:cNvPr id="2765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765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FFFFFF"/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4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ChangeArrowheads="1"/>
          </p:cNvSpPr>
          <p:nvPr/>
        </p:nvSpPr>
        <p:spPr bwMode="auto">
          <a:xfrm>
            <a:off x="0" y="404813"/>
            <a:ext cx="9144000" cy="6119813"/>
          </a:xfrm>
          <a:prstGeom prst="rect">
            <a:avLst/>
          </a:prstGeom>
          <a:gradFill rotWithShape="0">
            <a:gsLst>
              <a:gs pos="0">
                <a:srgbClr val="0000E8"/>
              </a:gs>
              <a:gs pos="100000">
                <a:srgbClr val="0000E8">
                  <a:gamma/>
                  <a:shade val="70196"/>
                  <a:invGamma/>
                </a:srgbClr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marL="342900" indent="-342900"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fontAlgn="base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42900" marR="0" lvl="0" indent="-34290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3" name="Rectangle 5"/>
          <p:cNvSpPr>
            <a:spLocks noChangeArrowheads="1"/>
          </p:cNvSpPr>
          <p:nvPr/>
        </p:nvSpPr>
        <p:spPr bwMode="auto">
          <a:xfrm>
            <a:off x="2843213" y="53975"/>
            <a:ext cx="3744913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第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4 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章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隶书" panose="02010509060101010101" pitchFamily="49" charset="-122"/>
                <a:cs typeface="+mn-cs"/>
              </a:rPr>
              <a:t> 时变电磁场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uLnTx/>
              <a:uFillTx/>
              <a:latin typeface="Times New Roman" panose="02020603050405020304" pitchFamily="18" charset="0"/>
              <a:ea typeface="隶书" panose="02010509060101010101" pitchFamily="49" charset="-122"/>
              <a:cs typeface="+mn-cs"/>
            </a:endParaRPr>
          </a:p>
        </p:txBody>
      </p:sp>
      <p:sp>
        <p:nvSpPr>
          <p:cNvPr id="1028" name="Rectangle 6"/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573CFC"/>
                </a:solidFill>
                <a:effectLst/>
                <a:uLnTx/>
                <a:uFillTx/>
                <a:latin typeface="Arial" panose="020B0604020202020204" pitchFamily="34" charset="0"/>
                <a:ea typeface="华文行楷" panose="02010800040101010101" pitchFamily="2" charset="-122"/>
                <a:cs typeface="+mn-cs"/>
              </a:rPr>
              <a:t>电磁场与电磁波</a:t>
            </a:r>
          </a:p>
        </p:txBody>
      </p:sp>
      <p:sp>
        <p:nvSpPr>
          <p:cNvPr id="1029" name="Rectangle 10" descr="深色横线"/>
          <p:cNvSpPr>
            <a:spLocks noChangeArrowheads="1"/>
          </p:cNvSpPr>
          <p:nvPr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93259" name="Rectangle 1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77050" y="65088"/>
            <a:ext cx="2133600" cy="268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400" b="0" smtClean="0"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8FDF9CC-10E4-46C8-B704-990DA17BA432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21" descr="栎木"/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23" descr="深色横线"/>
          <p:cNvSpPr>
            <a:spLocks noChangeArrowheads="1"/>
          </p:cNvSpPr>
          <p:nvPr/>
        </p:nvSpPr>
        <p:spPr bwMode="auto">
          <a:xfrm>
            <a:off x="0" y="6526213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AutoShape 24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AutoShape 25">
            <a:hlinkClick r:id="" action="ppaction://hlinkshowjump?jump=previousslide" highlightClick="1"/>
          </p:cNvPr>
          <p:cNvSpPr>
            <a:spLocks noChangeArrowheads="1"/>
          </p:cNvSpPr>
          <p:nvPr/>
        </p:nvSpPr>
        <p:spPr bwMode="auto">
          <a:xfrm>
            <a:off x="7954963" y="6597650"/>
            <a:ext cx="360363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AutoShape 26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AutoShape 27">
            <a:hlinkClick r:id="" action="ppaction://hlinkshowjump?jump=lastslide" highlightClick="1"/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fontAlgn="ctr">
              <a:spcBef>
                <a:spcPct val="50000"/>
              </a:spcBef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ctr" hangingPunct="0">
              <a:spcBef>
                <a:spcPct val="5000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13" Type="http://schemas.openxmlformats.org/officeDocument/2006/relationships/oleObject" Target="../embeddings/oleObject6.bin"/><Relationship Id="rId3" Type="http://schemas.openxmlformats.org/officeDocument/2006/relationships/image" Target="../media/image3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8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7.emf"/><Relationship Id="rId4" Type="http://schemas.openxmlformats.org/officeDocument/2006/relationships/image" Target="../media/image4.png"/><Relationship Id="rId9" Type="http://schemas.openxmlformats.org/officeDocument/2006/relationships/oleObject" Target="../embeddings/oleObject4.bin"/><Relationship Id="rId1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15.emf"/><Relationship Id="rId3" Type="http://schemas.openxmlformats.org/officeDocument/2006/relationships/image" Target="../media/image4.png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12.bin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9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10" Type="http://schemas.openxmlformats.org/officeDocument/2006/relationships/oleObject" Target="../embeddings/oleObject11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13.emf"/><Relationship Id="rId14" Type="http://schemas.openxmlformats.org/officeDocument/2006/relationships/oleObject" Target="../embeddings/oleObject13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3" Type="http://schemas.openxmlformats.org/officeDocument/2006/relationships/image" Target="../media/image4.png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emf"/><Relationship Id="rId11" Type="http://schemas.openxmlformats.org/officeDocument/2006/relationships/image" Target="../media/image22.emf"/><Relationship Id="rId5" Type="http://schemas.openxmlformats.org/officeDocument/2006/relationships/image" Target="../media/image18.emf"/><Relationship Id="rId10" Type="http://schemas.openxmlformats.org/officeDocument/2006/relationships/image" Target="../media/image21.e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30.emf"/><Relationship Id="rId3" Type="http://schemas.openxmlformats.org/officeDocument/2006/relationships/oleObject" Target="../embeddings/oleObject17.bin"/><Relationship Id="rId7" Type="http://schemas.openxmlformats.org/officeDocument/2006/relationships/image" Target="../media/image26.png"/><Relationship Id="rId12" Type="http://schemas.openxmlformats.org/officeDocument/2006/relationships/image" Target="../media/image4.png"/><Relationship Id="rId17" Type="http://schemas.openxmlformats.org/officeDocument/2006/relationships/oleObject" Target="../embeddings/oleObject23.bin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emf"/><Relationship Id="rId20" Type="http://schemas.openxmlformats.org/officeDocument/2006/relationships/image" Target="../media/image3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emf"/><Relationship Id="rId11" Type="http://schemas.openxmlformats.org/officeDocument/2006/relationships/image" Target="../media/image27.emf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2.bin"/><Relationship Id="rId10" Type="http://schemas.openxmlformats.org/officeDocument/2006/relationships/oleObject" Target="../embeddings/oleObject20.bin"/><Relationship Id="rId19" Type="http://schemas.openxmlformats.org/officeDocument/2006/relationships/oleObject" Target="../embeddings/oleObject24.bin"/><Relationship Id="rId4" Type="http://schemas.openxmlformats.org/officeDocument/2006/relationships/image" Target="../media/image24.emf"/><Relationship Id="rId9" Type="http://schemas.openxmlformats.org/officeDocument/2006/relationships/image" Target="../media/image26.emf"/><Relationship Id="rId14" Type="http://schemas.openxmlformats.org/officeDocument/2006/relationships/image" Target="../media/image28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oleObject" Target="../embeddings/oleObject25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1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395288" y="1125538"/>
            <a:ext cx="8229600" cy="633412"/>
          </a:xfrm>
          <a:noFill/>
          <a:ln>
            <a:noFill/>
          </a:ln>
        </p:spPr>
        <p:txBody>
          <a:bodyPr/>
          <a:lstStyle/>
          <a:p>
            <a:pPr algn="ctr" eaLnBrk="1" hangingPunct="1"/>
            <a:r>
              <a:rPr lang="en-US" altLang="zh-CN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4.2     </a:t>
            </a:r>
            <a:r>
              <a:rPr lang="zh-C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电磁场的位函数</a:t>
            </a:r>
            <a:endParaRPr lang="zh-CN" altLang="en-US" sz="2800" dirty="0">
              <a:solidFill>
                <a:schemeClr val="bg1"/>
              </a:solidFill>
              <a:latin typeface="Times New Roman" panose="02020603050405020304" pitchFamily="18" charset="0"/>
              <a:ea typeface="幼圆" panose="02010509060101010101" pitchFamily="49" charset="-122"/>
            </a:endParaRPr>
          </a:p>
        </p:txBody>
      </p:sp>
      <p:sp>
        <p:nvSpPr>
          <p:cNvPr id="13316" name="Rectangle 3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317" name="Rectangle 4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318" name="Rectangle 5"/>
          <p:cNvSpPr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3319" name="Rectangle 23"/>
          <p:cNvSpPr/>
          <p:nvPr/>
        </p:nvSpPr>
        <p:spPr>
          <a:xfrm>
            <a:off x="1042988" y="2133600"/>
            <a:ext cx="6119812" cy="3343275"/>
          </a:xfrm>
          <a:prstGeom prst="rect">
            <a:avLst/>
          </a:prstGeom>
          <a:noFill/>
          <a:ln w="22225">
            <a:noFill/>
          </a:ln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solidFill>
                  <a:srgbClr val="990000"/>
                </a:solidFill>
                <a:latin typeface="Arial" panose="020B0604020202020204" pitchFamily="34" charset="0"/>
                <a:ea typeface="楷体_GB2312" pitchFamily="49" charset="-122"/>
              </a:rPr>
              <a:t>              </a:t>
            </a:r>
            <a:r>
              <a:rPr lang="zh-CN" altLang="en-US" sz="2800" dirty="0">
                <a:solidFill>
                  <a:srgbClr val="990000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本节内容</a:t>
            </a:r>
            <a:endParaRPr lang="zh-CN" altLang="en-US" sz="2800" dirty="0"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4.2.1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位函数的定义</a:t>
            </a:r>
            <a:r>
              <a:rPr lang="zh-CN" altLang="en-US" b="0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 </a:t>
            </a:r>
            <a:endParaRPr lang="zh-CN" altLang="en-US" b="0" dirty="0">
              <a:solidFill>
                <a:schemeClr val="bg1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.2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  <a:hlinkClick r:id="" action="ppaction://noaction"/>
              </a:rPr>
              <a:t>位函数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的性质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.3    </a:t>
            </a:r>
            <a:r>
              <a:rPr lang="zh-CN" altLang="en-US" u="sng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位函数的规范条件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4.2</a:t>
            </a: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.4    </a:t>
            </a:r>
            <a:r>
              <a:rPr lang="zh-CN" altLang="en-US" u="sng" dirty="0">
                <a:solidFill>
                  <a:schemeClr val="hlink"/>
                </a:solidFill>
                <a:latin typeface="Times New Roman" panose="02020603050405020304" pitchFamily="18" charset="0"/>
                <a:ea typeface="楷体_GB2312" pitchFamily="49" charset="-122"/>
              </a:rPr>
              <a:t>位函数的微分方程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</a:t>
            </a:r>
          </a:p>
        </p:txBody>
      </p:sp>
      <p:grpSp>
        <p:nvGrpSpPr>
          <p:cNvPr id="13320" name="Group 10"/>
          <p:cNvGrpSpPr/>
          <p:nvPr/>
        </p:nvGrpSpPr>
        <p:grpSpPr>
          <a:xfrm>
            <a:off x="4679950" y="2565400"/>
            <a:ext cx="4464050" cy="2808288"/>
            <a:chOff x="2789" y="2250"/>
            <a:chExt cx="2812" cy="1769"/>
          </a:xfrm>
        </p:grpSpPr>
        <p:sp>
          <p:nvSpPr>
            <p:cNvPr id="13321" name="AutoShape 11"/>
            <p:cNvSpPr/>
            <p:nvPr/>
          </p:nvSpPr>
          <p:spPr>
            <a:xfrm>
              <a:off x="2789" y="2250"/>
              <a:ext cx="2812" cy="1769"/>
            </a:xfrm>
            <a:prstGeom prst="irregularSeal1">
              <a:avLst/>
            </a:prstGeom>
            <a:solidFill>
              <a:srgbClr val="FFFF99">
                <a:alpha val="50195"/>
              </a:srgbClr>
            </a:solidFill>
            <a:ln w="9525" cap="flat" cmpd="sng">
              <a:solidFill>
                <a:srgbClr val="FFFF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3322" name="Rectangle 6"/>
            <p:cNvSpPr/>
            <p:nvPr/>
          </p:nvSpPr>
          <p:spPr>
            <a:xfrm>
              <a:off x="3016" y="2704"/>
              <a:ext cx="2449" cy="36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/>
            <a:p>
              <a:pPr algn="ctr" eaLnBrk="1" hangingPunct="1">
                <a:lnSpc>
                  <a:spcPct val="120000"/>
                </a:lnSpc>
                <a:spcBef>
                  <a:spcPct val="20000"/>
                </a:spcBef>
              </a:pPr>
              <a:r>
                <a:rPr lang="zh-CN" altLang="en-US" sz="2000" u="sng" dirty="0">
                  <a:solidFill>
                    <a:srgbClr val="FF8F8F"/>
                  </a:solidFill>
                  <a:latin typeface="宋体" panose="02010600030101010101" pitchFamily="2" charset="-122"/>
                </a:rPr>
                <a:t>时变</a:t>
              </a:r>
              <a:r>
                <a:rPr lang="zh-CN" altLang="en-US" sz="2000" dirty="0">
                  <a:solidFill>
                    <a:srgbClr val="FF8F8F"/>
                  </a:solidFill>
                  <a:latin typeface="宋体" panose="02010600030101010101" pitchFamily="2" charset="-122"/>
                </a:rPr>
                <a:t>场函数←→</a:t>
              </a:r>
              <a:r>
                <a:rPr lang="zh-CN" altLang="en-US" sz="2000" u="sng" dirty="0">
                  <a:solidFill>
                    <a:srgbClr val="FF8F8F"/>
                  </a:solidFill>
                  <a:latin typeface="宋体" panose="02010600030101010101" pitchFamily="2" charset="-122"/>
                </a:rPr>
                <a:t>动态</a:t>
              </a:r>
              <a:r>
                <a:rPr lang="zh-CN" altLang="en-US" sz="2000" dirty="0">
                  <a:solidFill>
                    <a:srgbClr val="FF8F8F"/>
                  </a:solidFill>
                  <a:latin typeface="宋体" panose="02010600030101010101" pitchFamily="2" charset="-122"/>
                </a:rPr>
                <a:t>位函数</a:t>
              </a:r>
            </a:p>
          </p:txBody>
        </p:sp>
        <p:graphicFrame>
          <p:nvGraphicFramePr>
            <p:cNvPr id="13323" name="Object 15"/>
            <p:cNvGraphicFramePr>
              <a:graphicFrameLocks noChangeAspect="1"/>
            </p:cNvGraphicFramePr>
            <p:nvPr/>
          </p:nvGraphicFramePr>
          <p:xfrm>
            <a:off x="3923" y="2976"/>
            <a:ext cx="469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" imgW="330200" imgH="269875" progId="Equation.3">
                    <p:embed/>
                  </p:oleObj>
                </mc:Choice>
                <mc:Fallback>
                  <p:oleObj r:id="rId2" imgW="330200" imgH="269875" progId="Equation.3">
                    <p:embed/>
                    <p:pic>
                      <p:nvPicPr>
                        <p:cNvPr id="0" name="图片 3078"/>
                        <p:cNvPicPr/>
                        <p:nvPr/>
                      </p:nvPicPr>
                      <p:blipFill>
                        <a:blip r:embed="rId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923" y="2976"/>
                          <a:ext cx="469" cy="5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A9BC138-043E-2254-3FCF-B25E320E7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680" y="4945436"/>
            <a:ext cx="1974847" cy="1306776"/>
          </a:xfrm>
          <a:prstGeom prst="rect">
            <a:avLst/>
          </a:prstGeom>
        </p:spPr>
      </p:pic>
      <p:sp>
        <p:nvSpPr>
          <p:cNvPr id="14338" name="灯片编号占位符 3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2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30118" name="Rectangle 6"/>
          <p:cNvSpPr/>
          <p:nvPr/>
        </p:nvSpPr>
        <p:spPr>
          <a:xfrm>
            <a:off x="287338" y="1379538"/>
            <a:ext cx="8964612" cy="1041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indent="262255" defTabSz="914400" eaLnBrk="1" fontAlgn="ctr" hangingPunct="1">
              <a:lnSpc>
                <a:spcPct val="130000"/>
              </a:lnSpc>
              <a:tabLst>
                <a:tab pos="266700" algn="l"/>
                <a:tab pos="1254125" algn="l"/>
              </a:tabLst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引入</a:t>
            </a:r>
            <a:r>
              <a:rPr lang="en-US" altLang="zh-CN" i="1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A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和</a:t>
            </a:r>
            <a:r>
              <a:rPr lang="zh-CN" altLang="en-US" i="1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  <a:sym typeface="Symbol" panose="05050102010706020507" pitchFamily="18" charset="2"/>
              </a:rPr>
              <a:t>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的意义在于简化电磁场的求解过程，特别是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对于复杂的</a:t>
            </a:r>
            <a:r>
              <a:rPr lang="zh-CN" altLang="en-US" u="sng" dirty="0">
                <a:solidFill>
                  <a:srgbClr val="FF3300"/>
                </a:solidFill>
                <a:latin typeface="Arial" panose="020B0604020202020204" pitchFamily="34" charset="0"/>
                <a:ea typeface="楷体_GB2312" pitchFamily="49" charset="-122"/>
              </a:rPr>
              <a:t>辐射问题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，引入动态位函数可以大大简化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</p:txBody>
      </p:sp>
      <p:sp>
        <p:nvSpPr>
          <p:cNvPr id="730119" name="Text Box 7"/>
          <p:cNvSpPr txBox="1"/>
          <p:nvPr/>
        </p:nvSpPr>
        <p:spPr>
          <a:xfrm>
            <a:off x="63500" y="836613"/>
            <a:ext cx="3638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4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引入动态位函数的意义</a:t>
            </a:r>
          </a:p>
        </p:txBody>
      </p:sp>
      <p:sp>
        <p:nvSpPr>
          <p:cNvPr id="730120" name="Text Box 8"/>
          <p:cNvSpPr txBox="1"/>
          <p:nvPr/>
        </p:nvSpPr>
        <p:spPr>
          <a:xfrm>
            <a:off x="69850" y="2708275"/>
            <a:ext cx="3638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4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动态位函数的定义</a:t>
            </a:r>
          </a:p>
        </p:txBody>
      </p:sp>
      <p:grpSp>
        <p:nvGrpSpPr>
          <p:cNvPr id="730131" name="Group 19"/>
          <p:cNvGrpSpPr/>
          <p:nvPr/>
        </p:nvGrpSpPr>
        <p:grpSpPr>
          <a:xfrm>
            <a:off x="2489200" y="3953172"/>
            <a:ext cx="3173413" cy="915988"/>
            <a:chOff x="1568" y="2626"/>
            <a:chExt cx="1999" cy="577"/>
          </a:xfrm>
        </p:grpSpPr>
        <p:sp>
          <p:nvSpPr>
            <p:cNvPr id="14354" name="AutoShape 11"/>
            <p:cNvSpPr/>
            <p:nvPr/>
          </p:nvSpPr>
          <p:spPr>
            <a:xfrm flipH="1">
              <a:off x="1568" y="2853"/>
              <a:ext cx="544" cy="182"/>
            </a:xfrm>
            <a:prstGeom prst="leftArrow">
              <a:avLst>
                <a:gd name="adj1" fmla="val 50000"/>
                <a:gd name="adj2" fmla="val 74711"/>
              </a:avLst>
            </a:prstGeom>
            <a:solidFill>
              <a:srgbClr val="FFCCFF"/>
            </a:soli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4355" name="Object 12"/>
            <p:cNvGraphicFramePr>
              <a:graphicFrameLocks noChangeAspect="1"/>
            </p:cNvGraphicFramePr>
            <p:nvPr/>
          </p:nvGraphicFramePr>
          <p:xfrm>
            <a:off x="2164" y="2626"/>
            <a:ext cx="1403" cy="5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704850" imgH="247650" progId="Equation.3">
                    <p:embed/>
                  </p:oleObj>
                </mc:Choice>
                <mc:Fallback>
                  <p:oleObj r:id="rId5" imgW="704850" imgH="247650" progId="Equation.3">
                    <p:embed/>
                    <p:pic>
                      <p:nvPicPr>
                        <p:cNvPr id="0" name="图片 3110"/>
                        <p:cNvPicPr/>
                        <p:nvPr/>
                      </p:nvPicPr>
                      <p:blipFill>
                        <a:blip r:embed="rId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64" y="2626"/>
                          <a:ext cx="1403" cy="57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30125" name="Object 13"/>
          <p:cNvGraphicFramePr>
            <a:graphicFrameLocks noChangeAspect="1"/>
          </p:cNvGraphicFramePr>
          <p:nvPr/>
        </p:nvGraphicFramePr>
        <p:xfrm>
          <a:off x="611188" y="3355975"/>
          <a:ext cx="1296987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52425" imgH="93345" progId="Equation.3">
                  <p:embed/>
                </p:oleObj>
              </mc:Choice>
              <mc:Fallback>
                <p:oleObj r:id="rId7" imgW="352425" imgH="93345" progId="Equation.3">
                  <p:embed/>
                  <p:pic>
                    <p:nvPicPr>
                      <p:cNvPr id="0" name="图片 3105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1188" y="3355975"/>
                        <a:ext cx="1296987" cy="5048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0130" name="Group 18"/>
          <p:cNvGrpSpPr/>
          <p:nvPr/>
        </p:nvGrpSpPr>
        <p:grpSpPr>
          <a:xfrm>
            <a:off x="2339975" y="3355975"/>
            <a:ext cx="2633663" cy="504825"/>
            <a:chOff x="1474" y="2114"/>
            <a:chExt cx="1659" cy="318"/>
          </a:xfrm>
        </p:grpSpPr>
        <p:graphicFrame>
          <p:nvGraphicFramePr>
            <p:cNvPr id="14352" name="Object 9"/>
            <p:cNvGraphicFramePr>
              <a:graphicFrameLocks noChangeAspect="1"/>
            </p:cNvGraphicFramePr>
            <p:nvPr/>
          </p:nvGraphicFramePr>
          <p:xfrm>
            <a:off x="2199" y="2114"/>
            <a:ext cx="934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07670" imgH="93345" progId="Equation.3">
                    <p:embed/>
                  </p:oleObj>
                </mc:Choice>
                <mc:Fallback>
                  <p:oleObj r:id="rId9" imgW="407670" imgH="93345" progId="Equation.3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1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199" y="2114"/>
                          <a:ext cx="934" cy="31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3" name="AutoShape 14"/>
            <p:cNvSpPr/>
            <p:nvPr/>
          </p:nvSpPr>
          <p:spPr>
            <a:xfrm flipH="1">
              <a:off x="1474" y="2205"/>
              <a:ext cx="544" cy="182"/>
            </a:xfrm>
            <a:prstGeom prst="leftArrow">
              <a:avLst>
                <a:gd name="adj1" fmla="val 50000"/>
                <a:gd name="adj2" fmla="val 74711"/>
              </a:avLst>
            </a:prstGeom>
            <a:solidFill>
              <a:srgbClr val="FFCCFF"/>
            </a:soli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3012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195829"/>
              </p:ext>
            </p:extLst>
          </p:nvPr>
        </p:nvGraphicFramePr>
        <p:xfrm>
          <a:off x="617538" y="3953172"/>
          <a:ext cx="1814512" cy="915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561975" imgH="247650" progId="Equation.3">
                  <p:embed/>
                </p:oleObj>
              </mc:Choice>
              <mc:Fallback>
                <p:oleObj r:id="rId11" imgW="561975" imgH="24765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12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617538" y="3953172"/>
                        <a:ext cx="1814512" cy="915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30132" name="Group 20"/>
          <p:cNvGrpSpPr/>
          <p:nvPr/>
        </p:nvGrpSpPr>
        <p:grpSpPr>
          <a:xfrm>
            <a:off x="5867400" y="4030960"/>
            <a:ext cx="2935288" cy="838200"/>
            <a:chOff x="3654" y="2671"/>
            <a:chExt cx="1849" cy="528"/>
          </a:xfrm>
        </p:grpSpPr>
        <p:graphicFrame>
          <p:nvGraphicFramePr>
            <p:cNvPr id="14350" name="Object 10"/>
            <p:cNvGraphicFramePr>
              <a:graphicFrameLocks noChangeAspect="1"/>
            </p:cNvGraphicFramePr>
            <p:nvPr/>
          </p:nvGraphicFramePr>
          <p:xfrm>
            <a:off x="4298" y="2671"/>
            <a:ext cx="1205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628015" imgH="247650" progId="Equation.3">
                    <p:embed/>
                  </p:oleObj>
                </mc:Choice>
                <mc:Fallback>
                  <p:oleObj r:id="rId13" imgW="628015" imgH="247650" progId="Equation.3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298" y="2671"/>
                          <a:ext cx="1205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51" name="AutoShape 16"/>
            <p:cNvSpPr/>
            <p:nvPr/>
          </p:nvSpPr>
          <p:spPr>
            <a:xfrm flipH="1">
              <a:off x="3654" y="2852"/>
              <a:ext cx="499" cy="182"/>
            </a:xfrm>
            <a:prstGeom prst="leftArrow">
              <a:avLst>
                <a:gd name="adj1" fmla="val 50000"/>
                <a:gd name="adj2" fmla="val 68531"/>
              </a:avLst>
            </a:prstGeom>
            <a:solidFill>
              <a:srgbClr val="FFCCFF"/>
            </a:soli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30133" name="Group 21"/>
          <p:cNvGrpSpPr/>
          <p:nvPr/>
        </p:nvGrpSpPr>
        <p:grpSpPr>
          <a:xfrm>
            <a:off x="755650" y="5229200"/>
            <a:ext cx="2908300" cy="838200"/>
            <a:chOff x="3654" y="2671"/>
            <a:chExt cx="1832" cy="528"/>
          </a:xfrm>
        </p:grpSpPr>
        <p:graphicFrame>
          <p:nvGraphicFramePr>
            <p:cNvPr id="14348" name="Object 22"/>
            <p:cNvGraphicFramePr>
              <a:graphicFrameLocks noChangeAspect="1"/>
            </p:cNvGraphicFramePr>
            <p:nvPr/>
          </p:nvGraphicFramePr>
          <p:xfrm>
            <a:off x="4314" y="2671"/>
            <a:ext cx="117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611505" imgH="247650" progId="Equation.3">
                    <p:embed/>
                  </p:oleObj>
                </mc:Choice>
                <mc:Fallback>
                  <p:oleObj r:id="rId15" imgW="611505" imgH="24765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314" y="2671"/>
                          <a:ext cx="1172" cy="5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49" name="AutoShape 23"/>
            <p:cNvSpPr/>
            <p:nvPr/>
          </p:nvSpPr>
          <p:spPr>
            <a:xfrm flipH="1">
              <a:off x="3654" y="2852"/>
              <a:ext cx="499" cy="182"/>
            </a:xfrm>
            <a:prstGeom prst="leftArrow">
              <a:avLst>
                <a:gd name="adj1" fmla="val 50000"/>
                <a:gd name="adj2" fmla="val 68531"/>
              </a:avLst>
            </a:prstGeom>
            <a:solidFill>
              <a:srgbClr val="FFCCFF"/>
            </a:solidFill>
            <a:ln w="9525" cap="flat" cmpd="sng">
              <a:solidFill>
                <a:srgbClr val="FF33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eaLnBrk="1" fontAlgn="ctr" hangingPunct="1">
                <a:spcBef>
                  <a:spcPct val="50000"/>
                </a:spcBef>
              </a:pPr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AutoShape 140">
            <a:extLst>
              <a:ext uri="{FF2B5EF4-FFF2-40B4-BE49-F238E27FC236}">
                <a16:creationId xmlns:a16="http://schemas.microsoft.com/office/drawing/2014/main" id="{7FC0009C-7434-2A28-2103-67624C6C8BD5}"/>
              </a:ext>
            </a:extLst>
          </p:cNvPr>
          <p:cNvSpPr/>
          <p:nvPr/>
        </p:nvSpPr>
        <p:spPr>
          <a:xfrm>
            <a:off x="3765522" y="5512369"/>
            <a:ext cx="841375" cy="256580"/>
          </a:xfrm>
          <a:prstGeom prst="rightArrow">
            <a:avLst>
              <a:gd name="adj1" fmla="val 50000"/>
              <a:gd name="adj2" fmla="val 97408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3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3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3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73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73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73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730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730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730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0118" grpId="0"/>
      <p:bldP spid="730119" grpId="0"/>
      <p:bldP spid="730120" grpId="0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4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3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666711" name="Text Box 87"/>
          <p:cNvSpPr txBox="1"/>
          <p:nvPr/>
        </p:nvSpPr>
        <p:spPr>
          <a:xfrm>
            <a:off x="69850" y="404813"/>
            <a:ext cx="38544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动态位函数的不确定性</a:t>
            </a:r>
          </a:p>
        </p:txBody>
      </p:sp>
      <p:graphicFrame>
        <p:nvGraphicFramePr>
          <p:cNvPr id="666736" name="Object 112"/>
          <p:cNvGraphicFramePr>
            <a:graphicFrameLocks noChangeAspect="1"/>
          </p:cNvGraphicFramePr>
          <p:nvPr/>
        </p:nvGraphicFramePr>
        <p:xfrm>
          <a:off x="1187450" y="3141663"/>
          <a:ext cx="7345363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456815" imgH="467995" progId="Equation.DSMT4">
                  <p:embed/>
                </p:oleObj>
              </mc:Choice>
              <mc:Fallback>
                <p:oleObj r:id="rId4" imgW="2456815" imgH="467995" progId="Equation.DSMT4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3141663"/>
                        <a:ext cx="7345363" cy="1492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6754" name="Group 130"/>
          <p:cNvGrpSpPr/>
          <p:nvPr/>
        </p:nvGrpSpPr>
        <p:grpSpPr>
          <a:xfrm>
            <a:off x="71438" y="765175"/>
            <a:ext cx="8964612" cy="1041400"/>
            <a:chOff x="45" y="482"/>
            <a:chExt cx="5647" cy="656"/>
          </a:xfrm>
        </p:grpSpPr>
        <p:graphicFrame>
          <p:nvGraphicFramePr>
            <p:cNvPr id="16398" name="Object 102"/>
            <p:cNvGraphicFramePr>
              <a:graphicFrameLocks noChangeAspect="1"/>
            </p:cNvGraphicFramePr>
            <p:nvPr/>
          </p:nvGraphicFramePr>
          <p:xfrm>
            <a:off x="3198" y="528"/>
            <a:ext cx="68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352425" imgH="115570" progId="Equation.3">
                    <p:embed/>
                  </p:oleObj>
                </mc:Choice>
                <mc:Fallback>
                  <p:oleObj r:id="rId6" imgW="352425" imgH="115570" progId="Equation.3">
                    <p:embed/>
                    <p:pic>
                      <p:nvPicPr>
                        <p:cNvPr id="0" name="图片 3115"/>
                        <p:cNvPicPr/>
                        <p:nvPr/>
                      </p:nvPicPr>
                      <p:blipFill>
                        <a:blip r:embed="rId7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198" y="528"/>
                          <a:ext cx="680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9" name="Rectangle 111"/>
            <p:cNvSpPr/>
            <p:nvPr/>
          </p:nvSpPr>
          <p:spPr>
            <a:xfrm>
              <a:off x="45" y="482"/>
              <a:ext cx="5647" cy="65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 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满足下列变换关系的两组位函数              和                能描述同一个电磁场问题。</a:t>
              </a:r>
            </a:p>
          </p:txBody>
        </p:sp>
        <p:graphicFrame>
          <p:nvGraphicFramePr>
            <p:cNvPr id="16400" name="Object 113"/>
            <p:cNvGraphicFramePr>
              <a:graphicFrameLocks noChangeAspect="1"/>
            </p:cNvGraphicFramePr>
            <p:nvPr/>
          </p:nvGraphicFramePr>
          <p:xfrm>
            <a:off x="4105" y="528"/>
            <a:ext cx="75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401955" imgH="115570" progId="Equation.3">
                    <p:embed/>
                  </p:oleObj>
                </mc:Choice>
                <mc:Fallback>
                  <p:oleObj r:id="rId8" imgW="401955" imgH="115570" progId="Equation.3">
                    <p:embed/>
                    <p:pic>
                      <p:nvPicPr>
                        <p:cNvPr id="0" name="图片 3111"/>
                        <p:cNvPicPr/>
                        <p:nvPr/>
                      </p:nvPicPr>
                      <p:blipFill>
                        <a:blip r:embed="rId9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4105" y="528"/>
                          <a:ext cx="758" cy="29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66739" name="Object 115"/>
          <p:cNvGraphicFramePr>
            <a:graphicFrameLocks noChangeAspect="1"/>
          </p:cNvGraphicFramePr>
          <p:nvPr/>
        </p:nvGraphicFramePr>
        <p:xfrm>
          <a:off x="2268538" y="1700213"/>
          <a:ext cx="2063750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600710" imgH="446405" progId="Equation.DSMT4">
                  <p:embed/>
                </p:oleObj>
              </mc:Choice>
              <mc:Fallback>
                <p:oleObj r:id="rId10" imgW="600710" imgH="446405" progId="Equation.DSMT4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2268538" y="1700213"/>
                        <a:ext cx="2063750" cy="1512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6752" name="Group 128"/>
          <p:cNvGrpSpPr/>
          <p:nvPr/>
        </p:nvGrpSpPr>
        <p:grpSpPr>
          <a:xfrm>
            <a:off x="4637088" y="2133600"/>
            <a:ext cx="2743200" cy="493713"/>
            <a:chOff x="3420" y="1434"/>
            <a:chExt cx="1728" cy="305"/>
          </a:xfrm>
        </p:grpSpPr>
        <p:graphicFrame>
          <p:nvGraphicFramePr>
            <p:cNvPr id="16396" name="Object 125"/>
            <p:cNvGraphicFramePr>
              <a:graphicFrameLocks noChangeAspect="1"/>
            </p:cNvGraphicFramePr>
            <p:nvPr/>
          </p:nvGraphicFramePr>
          <p:xfrm>
            <a:off x="3420" y="1525"/>
            <a:ext cx="186" cy="2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49530" imgH="55245" progId="Equation.3">
                    <p:embed/>
                  </p:oleObj>
                </mc:Choice>
                <mc:Fallback>
                  <p:oleObj r:id="rId12" imgW="49530" imgH="55245" progId="Equation.3">
                    <p:embed/>
                    <p:pic>
                      <p:nvPicPr>
                        <p:cNvPr id="0" name="图片 3113"/>
                        <p:cNvPicPr/>
                        <p:nvPr/>
                      </p:nvPicPr>
                      <p:blipFill>
                        <a:blip r:embed="rId13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420" y="1525"/>
                          <a:ext cx="186" cy="20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397" name="Text Box 126"/>
            <p:cNvSpPr txBox="1"/>
            <p:nvPr/>
          </p:nvSpPr>
          <p:spPr>
            <a:xfrm>
              <a:off x="3424" y="1434"/>
              <a:ext cx="1724" cy="30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10000"/>
                </a:lnSpc>
                <a:spcBef>
                  <a:spcPct val="2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为任意可微函数</a:t>
              </a:r>
            </a:p>
          </p:txBody>
        </p:sp>
      </p:grpSp>
      <p:graphicFrame>
        <p:nvGraphicFramePr>
          <p:cNvPr id="666760" name="Object 136"/>
          <p:cNvGraphicFramePr>
            <a:graphicFrameLocks noGrp="1" noChangeAspect="1"/>
          </p:cNvGraphicFramePr>
          <p:nvPr>
            <p:ph sz="half" idx="2"/>
          </p:nvPr>
        </p:nvGraphicFramePr>
        <p:xfrm>
          <a:off x="1187450" y="4724400"/>
          <a:ext cx="3635375" cy="1338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28090" imgH="407670" progId="Equation.3">
                  <p:embed/>
                </p:oleObj>
              </mc:Choice>
              <mc:Fallback>
                <p:oleObj r:id="rId14" imgW="1228090" imgH="40767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187450" y="4724400"/>
                        <a:ext cx="3635375" cy="13382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764" name="AutoShape 140"/>
          <p:cNvSpPr/>
          <p:nvPr/>
        </p:nvSpPr>
        <p:spPr>
          <a:xfrm>
            <a:off x="250825" y="3789363"/>
            <a:ext cx="841375" cy="215900"/>
          </a:xfrm>
          <a:prstGeom prst="rightArrow">
            <a:avLst>
              <a:gd name="adj1" fmla="val 50000"/>
              <a:gd name="adj2" fmla="val 97408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765" name="AutoShape 141"/>
          <p:cNvSpPr/>
          <p:nvPr/>
        </p:nvSpPr>
        <p:spPr>
          <a:xfrm>
            <a:off x="250825" y="5229225"/>
            <a:ext cx="841375" cy="215900"/>
          </a:xfrm>
          <a:prstGeom prst="rightArrow">
            <a:avLst>
              <a:gd name="adj1" fmla="val 50000"/>
              <a:gd name="adj2" fmla="val 97408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766" name="Rectangle 142"/>
          <p:cNvSpPr/>
          <p:nvPr/>
        </p:nvSpPr>
        <p:spPr>
          <a:xfrm>
            <a:off x="0" y="6021388"/>
            <a:ext cx="8964613" cy="5667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可见，对一给定的电磁场可用不同的动态位函数来描述。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6223DE2-2A30-950C-A91D-D98A2B8B1FC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42432" y="4599278"/>
            <a:ext cx="2381250" cy="1381125"/>
          </a:xfrm>
          <a:prstGeom prst="rect">
            <a:avLst/>
          </a:prstGeom>
        </p:spPr>
      </p:pic>
      <p:sp>
        <p:nvSpPr>
          <p:cNvPr id="5" name="AutoShape 140">
            <a:extLst>
              <a:ext uri="{FF2B5EF4-FFF2-40B4-BE49-F238E27FC236}">
                <a16:creationId xmlns:a16="http://schemas.microsoft.com/office/drawing/2014/main" id="{EE497A0E-BBCC-E000-2FB1-1D79ACC4A210}"/>
              </a:ext>
            </a:extLst>
          </p:cNvPr>
          <p:cNvSpPr/>
          <p:nvPr/>
        </p:nvSpPr>
        <p:spPr>
          <a:xfrm>
            <a:off x="5111941" y="5171592"/>
            <a:ext cx="841375" cy="215900"/>
          </a:xfrm>
          <a:prstGeom prst="rightArrow">
            <a:avLst>
              <a:gd name="adj1" fmla="val 50000"/>
              <a:gd name="adj2" fmla="val 97408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66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66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66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666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60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2000"/>
                                        <p:tgtEl>
                                          <p:spTgt spid="666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2000"/>
                                        <p:tgtEl>
                                          <p:spTgt spid="666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666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2000"/>
                                        <p:tgtEl>
                                          <p:spTgt spid="666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666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711" grpId="0"/>
      <p:bldP spid="666764" grpId="0" animBg="1"/>
      <p:bldP spid="666765" grpId="0" animBg="1"/>
      <p:bldP spid="666766" grpId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4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716806" name="Rectangle 6"/>
          <p:cNvSpPr/>
          <p:nvPr/>
        </p:nvSpPr>
        <p:spPr>
          <a:xfrm>
            <a:off x="107950" y="5419725"/>
            <a:ext cx="85677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hangingPunct="1"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除了利用洛仑兹条件外，另一种常用的是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库仑规范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，即</a:t>
            </a:r>
          </a:p>
        </p:txBody>
      </p:sp>
      <p:sp>
        <p:nvSpPr>
          <p:cNvPr id="716808" name="Rectangle 8"/>
          <p:cNvSpPr/>
          <p:nvPr/>
        </p:nvSpPr>
        <p:spPr>
          <a:xfrm>
            <a:off x="107950" y="4051300"/>
            <a:ext cx="72723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indent="-342900" eaLnBrk="1" fontAlgn="ctr" hangingPunct="1"/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      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在电磁理论中，通常采用</a:t>
            </a:r>
            <a:r>
              <a:rPr lang="zh-CN" altLang="en-US" dirty="0">
                <a:solidFill>
                  <a:srgbClr val="FF9900"/>
                </a:solidFill>
                <a:latin typeface="Arial" panose="020B0604020202020204" pitchFamily="34" charset="0"/>
                <a:ea typeface="楷体_GB2312" pitchFamily="49" charset="-122"/>
              </a:rPr>
              <a:t>洛仑兹规范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，即</a:t>
            </a:r>
          </a:p>
        </p:txBody>
      </p:sp>
      <p:sp>
        <p:nvSpPr>
          <p:cNvPr id="716812" name="Text Box 12"/>
          <p:cNvSpPr txBox="1"/>
          <p:nvPr/>
        </p:nvSpPr>
        <p:spPr>
          <a:xfrm>
            <a:off x="107950" y="1989138"/>
            <a:ext cx="3638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位函数的规范条件</a:t>
            </a:r>
          </a:p>
        </p:txBody>
      </p:sp>
      <p:sp>
        <p:nvSpPr>
          <p:cNvPr id="18438" name="Rectangle 2"/>
          <p:cNvSpPr/>
          <p:nvPr/>
        </p:nvSpPr>
        <p:spPr>
          <a:xfrm>
            <a:off x="50800" y="2492375"/>
            <a:ext cx="9036050" cy="1041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 eaLnBrk="1" fontAlgn="ctr" hangingPunct="1"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造成位函数的不确定性的原因就是没有规定    的散度。利用位函数的不确定性，通过规定    的散度使位函数满足的方程得以简化。 </a:t>
            </a:r>
          </a:p>
        </p:txBody>
      </p:sp>
      <p:graphicFrame>
        <p:nvGraphicFramePr>
          <p:cNvPr id="18439" name="Object 13"/>
          <p:cNvGraphicFramePr>
            <a:graphicFrameLocks noChangeAspect="1"/>
          </p:cNvGraphicFramePr>
          <p:nvPr/>
        </p:nvGraphicFramePr>
        <p:xfrm>
          <a:off x="5954713" y="2563813"/>
          <a:ext cx="2952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9530" imgH="88265" progId="Equation.3">
                  <p:embed/>
                </p:oleObj>
              </mc:Choice>
              <mc:Fallback>
                <p:oleObj r:id="rId4" imgW="49530" imgH="88265" progId="Equation.3">
                  <p:embed/>
                  <p:pic>
                    <p:nvPicPr>
                      <p:cNvPr id="0" name="图片 3102"/>
                      <p:cNvPicPr/>
                      <p:nvPr/>
                    </p:nvPicPr>
                    <p:blipFill>
                      <a:blip r:embed="rId5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5954713" y="2563813"/>
                        <a:ext cx="29527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0" name="Object 15"/>
          <p:cNvGraphicFramePr>
            <a:graphicFrameLocks noChangeAspect="1"/>
          </p:cNvGraphicFramePr>
          <p:nvPr/>
        </p:nvGraphicFramePr>
        <p:xfrm>
          <a:off x="3197225" y="3052763"/>
          <a:ext cx="2952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9530" imgH="88265" progId="Equation.3">
                  <p:embed/>
                </p:oleObj>
              </mc:Choice>
              <mc:Fallback>
                <p:oleObj r:id="rId4" imgW="49530" imgH="88265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197225" y="3052763"/>
                        <a:ext cx="295275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6" name="Object 16"/>
          <p:cNvGraphicFramePr>
            <a:graphicFrameLocks noChangeAspect="1"/>
          </p:cNvGraphicFramePr>
          <p:nvPr/>
        </p:nvGraphicFramePr>
        <p:xfrm>
          <a:off x="3203575" y="6022975"/>
          <a:ext cx="11112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352425" imgH="93345" progId="Equation.3">
                  <p:embed/>
                </p:oleObj>
              </mc:Choice>
              <mc:Fallback>
                <p:oleObj r:id="rId7" imgW="352425" imgH="93345" progId="Equation.3">
                  <p:embed/>
                  <p:pic>
                    <p:nvPicPr>
                      <p:cNvPr id="0" name="图片 3103"/>
                      <p:cNvPicPr/>
                      <p:nvPr/>
                    </p:nvPicPr>
                    <p:blipFill>
                      <a:blip r:embed="rId8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203575" y="6022975"/>
                        <a:ext cx="1111250" cy="4302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6818" name="Object 18"/>
          <p:cNvGraphicFramePr>
            <a:graphicFrameLocks noChangeAspect="1"/>
          </p:cNvGraphicFramePr>
          <p:nvPr/>
        </p:nvGraphicFramePr>
        <p:xfrm>
          <a:off x="1766888" y="4581525"/>
          <a:ext cx="434498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575435" imgH="231140" progId="Equation.3">
                  <p:embed/>
                </p:oleObj>
              </mc:Choice>
              <mc:Fallback>
                <p:oleObj r:id="rId9" imgW="1575435" imgH="231140" progId="Equation.3">
                  <p:embed/>
                  <p:pic>
                    <p:nvPicPr>
                      <p:cNvPr id="0" name="图片 3101"/>
                      <p:cNvPicPr/>
                      <p:nvPr/>
                    </p:nvPicPr>
                    <p:blipFill>
                      <a:blip r:embed="rId10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766888" y="4581525"/>
                        <a:ext cx="4344987" cy="784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6821" name="Rectangle 21"/>
          <p:cNvSpPr/>
          <p:nvPr/>
        </p:nvSpPr>
        <p:spPr>
          <a:xfrm>
            <a:off x="107950" y="404813"/>
            <a:ext cx="8964613" cy="10414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不同位函数之间的上述变换称为</a:t>
            </a:r>
            <a:r>
              <a:rPr lang="zh-CN" altLang="en-US" dirty="0">
                <a:solidFill>
                  <a:srgbClr val="FF9900"/>
                </a:solidFill>
                <a:latin typeface="Times New Roman" panose="02020603050405020304" pitchFamily="18" charset="0"/>
                <a:ea typeface="楷体_GB2312" pitchFamily="49" charset="-122"/>
              </a:rPr>
              <a:t>规范变换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lang="zh-CN" altLang="en-US" u="sng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不同的电磁位或规范可以描述相同的电磁场</a:t>
            </a: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  <a:ea typeface="楷体_GB2312" pitchFamily="49" charset="-122"/>
              </a:rPr>
              <a:t>。</a:t>
            </a:r>
          </a:p>
        </p:txBody>
      </p:sp>
      <p:grpSp>
        <p:nvGrpSpPr>
          <p:cNvPr id="716822" name="Group 22"/>
          <p:cNvGrpSpPr/>
          <p:nvPr/>
        </p:nvGrpSpPr>
        <p:grpSpPr>
          <a:xfrm>
            <a:off x="34925" y="1422400"/>
            <a:ext cx="8640763" cy="493713"/>
            <a:chOff x="22" y="3754"/>
            <a:chExt cx="5443" cy="311"/>
          </a:xfrm>
        </p:grpSpPr>
        <p:graphicFrame>
          <p:nvGraphicFramePr>
            <p:cNvPr id="18445" name="Object 23"/>
            <p:cNvGraphicFramePr>
              <a:graphicFrameLocks noChangeAspect="1"/>
            </p:cNvGraphicFramePr>
            <p:nvPr/>
          </p:nvGraphicFramePr>
          <p:xfrm>
            <a:off x="1474" y="3799"/>
            <a:ext cx="186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49530" imgH="88265" progId="Equation.3">
                    <p:embed/>
                  </p:oleObj>
                </mc:Choice>
                <mc:Fallback>
                  <p:oleObj r:id="rId4" imgW="49530" imgH="88265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11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474" y="3799"/>
                          <a:ext cx="186" cy="25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46" name="Text Box 24"/>
            <p:cNvSpPr txBox="1"/>
            <p:nvPr/>
          </p:nvSpPr>
          <p:spPr>
            <a:xfrm>
              <a:off x="22" y="3754"/>
              <a:ext cx="5443" cy="31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10000"/>
                </a:lnSpc>
                <a:spcBef>
                  <a:spcPct val="20000"/>
                </a:spcBef>
                <a:buBlip>
                  <a:blip r:embed="rId12"/>
                </a:buBlip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原因：未规定    的散度。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1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16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716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16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16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16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716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06" grpId="0"/>
      <p:bldP spid="716808" grpId="0"/>
      <p:bldP spid="716812" grpId="0"/>
      <p:bldP spid="7168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5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graphicFrame>
        <p:nvGraphicFramePr>
          <p:cNvPr id="709635" name="Object 3"/>
          <p:cNvGraphicFramePr>
            <a:graphicFrameLocks noChangeAspect="1"/>
          </p:cNvGraphicFramePr>
          <p:nvPr/>
        </p:nvGraphicFramePr>
        <p:xfrm>
          <a:off x="1476375" y="1298575"/>
          <a:ext cx="195580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88340" imgH="247650" progId="Equation.3">
                  <p:embed/>
                </p:oleObj>
              </mc:Choice>
              <mc:Fallback>
                <p:oleObj r:id="rId3" imgW="688340" imgH="24765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1476375" y="1298575"/>
                        <a:ext cx="1955800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7" name="Object 5"/>
          <p:cNvGraphicFramePr>
            <a:graphicFrameLocks noChangeAspect="1"/>
          </p:cNvGraphicFramePr>
          <p:nvPr/>
        </p:nvGraphicFramePr>
        <p:xfrm>
          <a:off x="3419475" y="2997200"/>
          <a:ext cx="4794250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553210" imgH="247650" progId="Equation.3">
                  <p:embed/>
                </p:oleObj>
              </mc:Choice>
              <mc:Fallback>
                <p:oleObj r:id="rId5" imgW="1553210" imgH="247650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6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3419475" y="2997200"/>
                        <a:ext cx="4794250" cy="83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09639" name="Object 7"/>
              <p:cNvSpPr txBox="1"/>
              <p:nvPr/>
            </p:nvSpPr>
            <p:spPr>
              <a:xfrm>
                <a:off x="2987675" y="4318000"/>
                <a:ext cx="5503863" cy="838200"/>
              </a:xfrm>
              <a:prstGeom prst="rect">
                <a:avLst/>
              </a:prstGeom>
              <a:solidFill>
                <a:schemeClr val="accent1"/>
              </a:solidFill>
              <a:ln w="38100">
                <a:noFill/>
                <a:miter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𝜀𝜇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acc>
                        <m:accPr>
                          <m:chr m:val="⃗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acc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𝜇𝜀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𝜕𝜙</m:t>
                          </m:r>
                        </m:num>
                        <m:den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0963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7675" y="4318000"/>
                <a:ext cx="5503863" cy="838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09640" name="Object 8"/>
          <p:cNvGraphicFramePr>
            <a:graphicFrameLocks noChangeAspect="1"/>
          </p:cNvGraphicFramePr>
          <p:nvPr/>
        </p:nvGraphicFramePr>
        <p:xfrm>
          <a:off x="4859338" y="1341438"/>
          <a:ext cx="24638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848360" imgH="247650" progId="Equation.3">
                  <p:embed/>
                </p:oleObj>
              </mc:Choice>
              <mc:Fallback>
                <p:oleObj r:id="rId8" imgW="848360" imgH="24765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9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859338" y="1341438"/>
                        <a:ext cx="2463800" cy="833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1" name="Object 9"/>
          <p:cNvGraphicFramePr>
            <a:graphicFrameLocks noChangeAspect="1"/>
          </p:cNvGraphicFramePr>
          <p:nvPr/>
        </p:nvGraphicFramePr>
        <p:xfrm>
          <a:off x="4716463" y="5661025"/>
          <a:ext cx="290671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914400" imgH="247650" progId="Equation.3">
                  <p:embed/>
                </p:oleObj>
              </mc:Choice>
              <mc:Fallback>
                <p:oleObj r:id="rId10" imgW="914400" imgH="24765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11">
                        <a:clrChange>
                          <a:clrFrom>
                            <a:srgbClr val="000000"/>
                          </a:clrFrom>
                          <a:clrTo>
                            <a:srgbClr val="FFFFFF"/>
                          </a:clrTo>
                        </a:clrChange>
                      </a:blip>
                      <a:stretch>
                        <a:fillRect/>
                      </a:stretch>
                    </p:blipFill>
                    <p:spPr>
                      <a:xfrm>
                        <a:off x="4716463" y="5661025"/>
                        <a:ext cx="2906712" cy="838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9645" name="AutoShape 13"/>
          <p:cNvSpPr/>
          <p:nvPr/>
        </p:nvSpPr>
        <p:spPr>
          <a:xfrm flipH="1">
            <a:off x="3708400" y="1625600"/>
            <a:ext cx="936625" cy="217488"/>
          </a:xfrm>
          <a:prstGeom prst="leftArrow">
            <a:avLst>
              <a:gd name="adj1" fmla="val 50000"/>
              <a:gd name="adj2" fmla="val 107644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09648" name="Text Box 16"/>
          <p:cNvSpPr txBox="1"/>
          <p:nvPr/>
        </p:nvSpPr>
        <p:spPr>
          <a:xfrm>
            <a:off x="107950" y="595313"/>
            <a:ext cx="37433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12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位函数的微分方程</a:t>
            </a:r>
          </a:p>
        </p:txBody>
      </p:sp>
      <p:sp>
        <p:nvSpPr>
          <p:cNvPr id="709651" name="AutoShape 19"/>
          <p:cNvSpPr/>
          <p:nvPr/>
        </p:nvSpPr>
        <p:spPr>
          <a:xfrm rot="-5400000">
            <a:off x="5262563" y="2493963"/>
            <a:ext cx="850900" cy="273050"/>
          </a:xfrm>
          <a:prstGeom prst="leftArrow">
            <a:avLst>
              <a:gd name="adj1" fmla="val 50000"/>
              <a:gd name="adj2" fmla="val 77892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09652" name="AutoShape 20"/>
          <p:cNvSpPr/>
          <p:nvPr/>
        </p:nvSpPr>
        <p:spPr>
          <a:xfrm rot="-5400000">
            <a:off x="5303838" y="3973513"/>
            <a:ext cx="777875" cy="287337"/>
          </a:xfrm>
          <a:prstGeom prst="leftArrow">
            <a:avLst>
              <a:gd name="adj1" fmla="val 50000"/>
              <a:gd name="adj2" fmla="val 67667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09656" name="AutoShape 24"/>
          <p:cNvSpPr/>
          <p:nvPr/>
        </p:nvSpPr>
        <p:spPr>
          <a:xfrm rot="-5400000">
            <a:off x="5334000" y="5272088"/>
            <a:ext cx="779463" cy="287337"/>
          </a:xfrm>
          <a:prstGeom prst="leftArrow">
            <a:avLst>
              <a:gd name="adj1" fmla="val 50000"/>
              <a:gd name="adj2" fmla="val 67805"/>
            </a:avLst>
          </a:prstGeom>
          <a:solidFill>
            <a:srgbClr val="FFCCFF"/>
          </a:solidFill>
          <a:ln w="9525" cap="flat" cmpd="sng">
            <a:solidFill>
              <a:srgbClr val="FF33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pPr eaLnBrk="1" fontAlgn="ctr" hangingPunct="1">
              <a:spcBef>
                <a:spcPct val="50000"/>
              </a:spcBef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709661" name="Group 29"/>
          <p:cNvGrpSpPr/>
          <p:nvPr/>
        </p:nvGrpSpPr>
        <p:grpSpPr>
          <a:xfrm>
            <a:off x="3943350" y="476250"/>
            <a:ext cx="2400300" cy="1152525"/>
            <a:chOff x="2487" y="255"/>
            <a:chExt cx="1324" cy="771"/>
          </a:xfrm>
        </p:grpSpPr>
        <p:graphicFrame>
          <p:nvGraphicFramePr>
            <p:cNvPr id="20503" name="Object 2"/>
            <p:cNvGraphicFramePr>
              <a:graphicFrameLocks noChangeAspect="1"/>
            </p:cNvGraphicFramePr>
            <p:nvPr/>
          </p:nvGraphicFramePr>
          <p:xfrm>
            <a:off x="2487" y="255"/>
            <a:ext cx="1324" cy="5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743585" imgH="269875" progId="Equation.3">
                    <p:embed/>
                  </p:oleObj>
                </mc:Choice>
                <mc:Fallback>
                  <p:oleObj r:id="rId13" imgW="743585" imgH="269875" progId="Equation.3">
                    <p:embed/>
                    <p:pic>
                      <p:nvPicPr>
                        <p:cNvPr id="0" name="图片 3097"/>
                        <p:cNvPicPr/>
                        <p:nvPr/>
                      </p:nvPicPr>
                      <p:blipFill>
                        <a:blip r:embed="rId14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2487" y="255"/>
                          <a:ext cx="1324" cy="558"/>
                        </a:xfrm>
                        <a:prstGeom prst="rect">
                          <a:avLst/>
                        </a:prstGeom>
                        <a:noFill/>
                        <a:ln w="22225" cap="flat" cmpd="sng">
                          <a:solidFill>
                            <a:srgbClr val="FF0000"/>
                          </a:solidFill>
                          <a:prstDash val="dash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4" name="Line 25"/>
            <p:cNvSpPr/>
            <p:nvPr/>
          </p:nvSpPr>
          <p:spPr>
            <a:xfrm flipH="1">
              <a:off x="2626" y="845"/>
              <a:ext cx="182" cy="181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</p:grpSp>
      <p:grpSp>
        <p:nvGrpSpPr>
          <p:cNvPr id="709662" name="Group 30"/>
          <p:cNvGrpSpPr/>
          <p:nvPr/>
        </p:nvGrpSpPr>
        <p:grpSpPr>
          <a:xfrm>
            <a:off x="862013" y="2233613"/>
            <a:ext cx="4646612" cy="835025"/>
            <a:chOff x="543" y="1407"/>
            <a:chExt cx="2927" cy="526"/>
          </a:xfrm>
        </p:grpSpPr>
        <p:graphicFrame>
          <p:nvGraphicFramePr>
            <p:cNvPr id="20501" name="Object 4"/>
            <p:cNvGraphicFramePr>
              <a:graphicFrameLocks noChangeAspect="1"/>
            </p:cNvGraphicFramePr>
            <p:nvPr/>
          </p:nvGraphicFramePr>
          <p:xfrm>
            <a:off x="543" y="1407"/>
            <a:ext cx="2138" cy="5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211580" imgH="247650" progId="Equation.3">
                    <p:embed/>
                  </p:oleObj>
                </mc:Choice>
                <mc:Fallback>
                  <p:oleObj r:id="rId15" imgW="1211580" imgH="24765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16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543" y="1407"/>
                          <a:ext cx="2138" cy="526"/>
                        </a:xfrm>
                        <a:prstGeom prst="rect">
                          <a:avLst/>
                        </a:prstGeom>
                        <a:noFill/>
                        <a:ln w="22225" cap="flat" cmpd="sng">
                          <a:solidFill>
                            <a:srgbClr val="FF0000"/>
                          </a:solidFill>
                          <a:prstDash val="dash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2" name="Line 26"/>
            <p:cNvSpPr/>
            <p:nvPr/>
          </p:nvSpPr>
          <p:spPr>
            <a:xfrm>
              <a:off x="2699" y="1661"/>
              <a:ext cx="771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</p:grpSp>
      <p:grpSp>
        <p:nvGrpSpPr>
          <p:cNvPr id="709663" name="Group 31"/>
          <p:cNvGrpSpPr/>
          <p:nvPr/>
        </p:nvGrpSpPr>
        <p:grpSpPr>
          <a:xfrm>
            <a:off x="611188" y="3789363"/>
            <a:ext cx="4897437" cy="481012"/>
            <a:chOff x="385" y="2387"/>
            <a:chExt cx="3085" cy="303"/>
          </a:xfrm>
        </p:grpSpPr>
        <p:graphicFrame>
          <p:nvGraphicFramePr>
            <p:cNvPr id="20499" name="Object 6"/>
            <p:cNvGraphicFramePr>
              <a:graphicFrameLocks noChangeAspect="1"/>
            </p:cNvGraphicFramePr>
            <p:nvPr/>
          </p:nvGraphicFramePr>
          <p:xfrm>
            <a:off x="385" y="2387"/>
            <a:ext cx="2305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173480" imgH="115570" progId="Equation.3">
                    <p:embed/>
                  </p:oleObj>
                </mc:Choice>
                <mc:Fallback>
                  <p:oleObj r:id="rId17" imgW="1173480" imgH="11557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18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85" y="2387"/>
                          <a:ext cx="2305" cy="303"/>
                        </a:xfrm>
                        <a:prstGeom prst="rect">
                          <a:avLst/>
                        </a:prstGeom>
                        <a:noFill/>
                        <a:ln w="22225" cap="flat" cmpd="sng">
                          <a:solidFill>
                            <a:srgbClr val="FF0000"/>
                          </a:solidFill>
                          <a:prstDash val="dash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500" name="Line 27"/>
            <p:cNvSpPr/>
            <p:nvPr/>
          </p:nvSpPr>
          <p:spPr>
            <a:xfrm>
              <a:off x="2699" y="2523"/>
              <a:ext cx="771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</p:grpSp>
      <p:grpSp>
        <p:nvGrpSpPr>
          <p:cNvPr id="709664" name="Group 32"/>
          <p:cNvGrpSpPr/>
          <p:nvPr/>
        </p:nvGrpSpPr>
        <p:grpSpPr>
          <a:xfrm>
            <a:off x="1547813" y="5092700"/>
            <a:ext cx="3960812" cy="784225"/>
            <a:chOff x="975" y="3208"/>
            <a:chExt cx="2495" cy="494"/>
          </a:xfrm>
        </p:grpSpPr>
        <p:graphicFrame>
          <p:nvGraphicFramePr>
            <p:cNvPr id="20497" name="Object 22"/>
            <p:cNvGraphicFramePr>
              <a:graphicFrameLocks noChangeAspect="1"/>
            </p:cNvGraphicFramePr>
            <p:nvPr/>
          </p:nvGraphicFramePr>
          <p:xfrm>
            <a:off x="975" y="3208"/>
            <a:ext cx="1369" cy="4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754380" imgH="231140" progId="Equation.3">
                    <p:embed/>
                  </p:oleObj>
                </mc:Choice>
                <mc:Fallback>
                  <p:oleObj r:id="rId19" imgW="754380" imgH="231140" progId="Equation.3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0"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975" y="3208"/>
                          <a:ext cx="1369" cy="494"/>
                        </a:xfrm>
                        <a:prstGeom prst="rect">
                          <a:avLst/>
                        </a:prstGeom>
                        <a:noFill/>
                        <a:ln w="22225" cap="flat" cmpd="sng">
                          <a:solidFill>
                            <a:srgbClr val="FF0000"/>
                          </a:solidFill>
                          <a:prstDash val="dash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8" name="Line 28"/>
            <p:cNvSpPr/>
            <p:nvPr/>
          </p:nvSpPr>
          <p:spPr>
            <a:xfrm>
              <a:off x="2381" y="3435"/>
              <a:ext cx="1089" cy="0"/>
            </a:xfrm>
            <a:prstGeom prst="line">
              <a:avLst/>
            </a:prstGeom>
            <a:ln w="2222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0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70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70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709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0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2000"/>
                                        <p:tgtEl>
                                          <p:spTgt spid="70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000"/>
                                        <p:tgtEl>
                                          <p:spTgt spid="70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000"/>
                                        <p:tgtEl>
                                          <p:spTgt spid="70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0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2000"/>
                                        <p:tgtEl>
                                          <p:spTgt spid="70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2000"/>
                                        <p:tgtEl>
                                          <p:spTgt spid="70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709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709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2000"/>
                                        <p:tgtEl>
                                          <p:spTgt spid="709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70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9645" grpId="0" animBg="1"/>
      <p:bldP spid="709648" grpId="0"/>
      <p:bldP spid="709651" grpId="0" animBg="1"/>
      <p:bldP spid="709652" grpId="0" animBg="1"/>
      <p:bldP spid="70965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B0645967-B29B-770C-2EF3-208D6DF4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0" y="404664"/>
            <a:ext cx="9144000" cy="41890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7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807951" name="Text Box 15"/>
          <p:cNvSpPr txBox="1"/>
          <p:nvPr/>
        </p:nvSpPr>
        <p:spPr>
          <a:xfrm>
            <a:off x="395288" y="668338"/>
            <a:ext cx="3638550" cy="83099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达朗贝尔方程</a:t>
            </a:r>
            <a:endParaRPr lang="en-US" altLang="zh-CN" dirty="0">
              <a:solidFill>
                <a:srgbClr val="FF99CC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eaLnBrk="1" hangingPunct="1"/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（洛伦兹规范）</a:t>
            </a:r>
          </a:p>
        </p:txBody>
      </p:sp>
      <p:sp>
        <p:nvSpPr>
          <p:cNvPr id="807963" name="Text Box 27"/>
          <p:cNvSpPr txBox="1"/>
          <p:nvPr/>
        </p:nvSpPr>
        <p:spPr>
          <a:xfrm>
            <a:off x="217488" y="4537075"/>
            <a:ext cx="8891587" cy="1844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电荷产生动态标量位波动。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传导电流产生动态矢量位波动。</a:t>
            </a:r>
          </a:p>
          <a:p>
            <a:pPr algn="just" eaLnBrk="1" hangingPunct="1">
              <a:lnSpc>
                <a:spcPct val="110000"/>
              </a:lnSpc>
              <a:spcBef>
                <a:spcPct val="20000"/>
              </a:spcBef>
              <a:buBlip>
                <a:blip r:embed="rId4"/>
              </a:buBlip>
            </a:pP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离开源后，动态位函数以波动的形式存在并传播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，由此决定电磁场也以波动的形式存在和传播。</a:t>
            </a:r>
            <a:endParaRPr lang="zh-CN" altLang="en-US" dirty="0">
              <a:solidFill>
                <a:schemeClr val="bg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807967" name="Text Box 31"/>
          <p:cNvSpPr txBox="1"/>
          <p:nvPr/>
        </p:nvSpPr>
        <p:spPr>
          <a:xfrm>
            <a:off x="468313" y="3213100"/>
            <a:ext cx="36385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eaLnBrk="1" hangingPunct="1">
              <a:buBlip>
                <a:blip r:embed="rId3"/>
              </a:buBlip>
            </a:pPr>
            <a:r>
              <a:rPr lang="en-US" altLang="zh-CN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dirty="0">
                <a:solidFill>
                  <a:srgbClr val="FF99CC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有源空间的波动方程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3A3DA3-965B-15A0-D646-A54C841B1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2000" y="522201"/>
            <a:ext cx="3384176" cy="193381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170E716-4527-0D16-EDBA-7FE0644FEA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9912" y="2755132"/>
            <a:ext cx="4020184" cy="17663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07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07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807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951" grpId="0"/>
      <p:bldP spid="807963" grpId="0"/>
      <p:bldP spid="80796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2"/>
          <p:cNvSpPr txBox="1">
            <a:spLocks noGrp="1"/>
          </p:cNvSpPr>
          <p:nvPr>
            <p:ph type="sldNum" sz="quarter" idx="10"/>
          </p:nvPr>
        </p:nvSpPr>
        <p:spPr>
          <a:xfrm>
            <a:off x="6877050" y="65088"/>
            <a:ext cx="2133600" cy="268287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1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b="0" dirty="0">
                <a:latin typeface="Arial" panose="020B0604020202020204" pitchFamily="34" charset="0"/>
              </a:rPr>
              <a:t>8</a:t>
            </a:fld>
            <a:endParaRPr lang="en-US" altLang="zh-CN" sz="1400" b="0" dirty="0">
              <a:latin typeface="Arial" panose="020B0604020202020204" pitchFamily="34" charset="0"/>
            </a:endParaRPr>
          </a:p>
        </p:txBody>
      </p:sp>
      <p:sp>
        <p:nvSpPr>
          <p:cNvPr id="26627" name="Text Box 3"/>
          <p:cNvSpPr txBox="1"/>
          <p:nvPr/>
        </p:nvSpPr>
        <p:spPr>
          <a:xfrm>
            <a:off x="73025" y="620713"/>
            <a:ext cx="9036050" cy="19907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应用洛仑兹条件的特点：① 位函数满足的方程在形式上是对称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的，且比较简单，易求解；② 解的物理意义非常清楚，明确地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反映出</a:t>
            </a:r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  <a:ea typeface="楷体_GB2312" pitchFamily="49" charset="-122"/>
              </a:rPr>
              <a:t>电磁场具有有限的传递速度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；③ 动态矢量位只决定于     </a:t>
            </a:r>
          </a:p>
          <a:p>
            <a:pPr algn="just" eaLnBrk="1" hangingPunct="1">
              <a:lnSpc>
                <a:spcPct val="130000"/>
              </a:lnSpc>
              <a:buNone/>
            </a:pP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，动态标量位只决定于</a:t>
            </a:r>
            <a:r>
              <a:rPr lang="el-GR" altLang="zh-CN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ρ</a:t>
            </a:r>
            <a:r>
              <a:rPr lang="zh-CN" altLang="en-US" i="1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dirty="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这对求解方程特别有利。</a:t>
            </a:r>
          </a:p>
        </p:txBody>
      </p:sp>
      <p:grpSp>
        <p:nvGrpSpPr>
          <p:cNvPr id="839685" name="Group 5"/>
          <p:cNvGrpSpPr/>
          <p:nvPr/>
        </p:nvGrpSpPr>
        <p:grpSpPr>
          <a:xfrm>
            <a:off x="76200" y="2997199"/>
            <a:ext cx="9072563" cy="1485899"/>
            <a:chOff x="48" y="2296"/>
            <a:chExt cx="5715" cy="936"/>
          </a:xfrm>
        </p:grpSpPr>
        <p:graphicFrame>
          <p:nvGraphicFramePr>
            <p:cNvPr id="26629" name="Object 6"/>
            <p:cNvGraphicFramePr>
              <a:graphicFrameLocks noChangeAspect="1"/>
            </p:cNvGraphicFramePr>
            <p:nvPr/>
          </p:nvGraphicFramePr>
          <p:xfrm>
            <a:off x="3574" y="2948"/>
            <a:ext cx="172" cy="2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0" imgH="0" progId="Equation.3">
                    <p:embed/>
                  </p:oleObj>
                </mc:Choice>
                <mc:Fallback>
                  <p:oleObj r:id="rId4" imgW="0" imgH="0" progId="Equation.3">
                    <p:embed/>
                    <p:pic>
                      <p:nvPicPr>
                        <p:cNvPr id="0" name="图片 3118"/>
                        <p:cNvPicPr/>
                        <p:nvPr/>
                      </p:nvPicPr>
                      <p:blipFill>
                        <a:blip>
                          <a:clrChange>
                            <a:clrFrom>
                              <a:srgbClr val="000000"/>
                            </a:clrFrom>
                            <a:clrTo>
                              <a:srgbClr val="FFFFFF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3574" y="2948"/>
                          <a:ext cx="172" cy="20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0" name="Text Box 7"/>
            <p:cNvSpPr txBox="1"/>
            <p:nvPr/>
          </p:nvSpPr>
          <p:spPr>
            <a:xfrm>
              <a:off x="48" y="2296"/>
              <a:ext cx="5715" cy="93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 algn="just" eaLnBrk="1" hangingPunct="1">
                <a:lnSpc>
                  <a:spcPct val="130000"/>
                </a:lnSpc>
                <a:buBlip>
                  <a:blip r:embed="rId3"/>
                </a:buBlip>
              </a:pPr>
              <a:r>
                <a:rPr lang="en-US" altLang="zh-CN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电磁位函数只是简化时变电磁场分析求解的一种辅助函数。应</a:t>
              </a:r>
            </a:p>
            <a:p>
              <a:pPr algn="just" eaLnBrk="1" hangingPunct="1">
                <a:lnSpc>
                  <a:spcPct val="130000"/>
                </a:lnSpc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用不同的规范条件，矢量位</a:t>
              </a:r>
              <a:r>
                <a:rPr lang="en-US" altLang="zh-CN" i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A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和标量位</a:t>
              </a:r>
              <a:r>
                <a:rPr lang="zh-CN" altLang="en-US" i="1" dirty="0">
                  <a:solidFill>
                    <a:schemeClr val="bg1"/>
                  </a:solidFill>
                  <a:latin typeface="Arial" panose="020B0604020202020204" pitchFamily="34" charset="0"/>
                  <a:ea typeface="楷体_GB2312" pitchFamily="49" charset="-122"/>
                  <a:sym typeface="Symbol" panose="05050102010706020507" pitchFamily="18" charset="2"/>
                </a:rPr>
                <a:t>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的解也不相同，但最终</a:t>
              </a:r>
            </a:p>
            <a:p>
              <a:pPr algn="just" eaLnBrk="1" hangingPunct="1">
                <a:lnSpc>
                  <a:spcPct val="130000"/>
                </a:lnSpc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  得到的电磁场矢量是相同的。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839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D965B04-4824-E512-1DD1-8655E2307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8364"/>
            <a:ext cx="9144000" cy="552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0137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41a7196-b802-4a92-9d60-9ddf0d86c09c"/>
  <p:tag name="COMMONDATA" val="eyJoZGlkIjoiOTk5ZGI1MDEzODM3NTRlMzM1MDZjZWE4NTNjMWYxMDkifQ==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0" marR="0" indent="0" algn="l" defTabSz="914400" rtl="0" eaLnBrk="1" fontAlgn="ctr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462</Words>
  <Application>Microsoft Office PowerPoint</Application>
  <PresentationFormat>全屏显示(4:3)</PresentationFormat>
  <Paragraphs>71</Paragraphs>
  <Slides>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楷体_GB2312</vt:lpstr>
      <vt:lpstr>宋体</vt:lpstr>
      <vt:lpstr>幼圆</vt:lpstr>
      <vt:lpstr>Arial</vt:lpstr>
      <vt:lpstr>Cambria Math</vt:lpstr>
      <vt:lpstr>Times New Roman</vt:lpstr>
      <vt:lpstr>1_默认设计模板</vt:lpstr>
      <vt:lpstr>Equation.3</vt:lpstr>
      <vt:lpstr>Equation.DSMT4</vt:lpstr>
      <vt:lpstr>4.2     电磁场的位函数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826</cp:revision>
  <dcterms:created xsi:type="dcterms:W3CDTF">2004-02-10T07:06:00Z</dcterms:created>
  <dcterms:modified xsi:type="dcterms:W3CDTF">2025-10-27T05:57:48Z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710A780561C24E3CBBBD99ACB8507E6D</vt:lpwstr>
  </property>
  <property fmtid="{D5CDD505-2E9C-101B-9397-08002B2CF9AE}" pid="3" name="KSOProductBuildVer">
    <vt:lpwstr>2052-11.1.0.13703</vt:lpwstr>
  </property>
</Properties>
</file>