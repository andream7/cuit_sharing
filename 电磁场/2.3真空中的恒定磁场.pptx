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702" r:id="rId2"/>
    <p:sldId id="714" r:id="rId3"/>
    <p:sldId id="703" r:id="rId4"/>
    <p:sldId id="806" r:id="rId5"/>
    <p:sldId id="704" r:id="rId6"/>
    <p:sldId id="705" r:id="rId7"/>
    <p:sldId id="706" r:id="rId8"/>
    <p:sldId id="709" r:id="rId9"/>
    <p:sldId id="707" r:id="rId10"/>
    <p:sldId id="430" r:id="rId11"/>
    <p:sldId id="625" r:id="rId12"/>
    <p:sldId id="808" r:id="rId13"/>
    <p:sldId id="834" r:id="rId14"/>
    <p:sldId id="627" r:id="rId15"/>
    <p:sldId id="628" r:id="rId16"/>
    <p:sldId id="835" r:id="rId1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D60093"/>
    <a:srgbClr val="77C1C7"/>
    <a:srgbClr val="282828"/>
    <a:srgbClr val="FF3300"/>
    <a:srgbClr val="BAF1F4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9" autoAdjust="0"/>
    <p:restoredTop sz="89574" autoAdjust="0"/>
  </p:normalViewPr>
  <p:slideViewPr>
    <p:cSldViewPr>
      <p:cViewPr varScale="1">
        <p:scale>
          <a:sx n="80" d="100"/>
          <a:sy n="80" d="100"/>
        </p:scale>
        <p:origin x="84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55718582-C99E-0661-2E30-E0147BF80D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80D6E15F-C664-3116-66CE-FD23D12720D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8A6BD1A-3AB5-4CC6-9D29-8EDC4A748354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F7D677A1-55B5-7D8E-61A5-CCE83E1FCCC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2A5216FA-7A4D-65B7-ED93-4F3607904A8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534190-E36B-43DA-8559-619AFF81D21D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B1B28B6C-9F66-6553-78BA-0BAACE0EA3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9B7FF01C-CCF4-2945-C66B-CF6E8F56F43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9C6F435-E508-4CD1-86BF-5A8F77C66126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E476029-3093-BDF0-7F9D-8855CA41B7D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64969551-8F51-A457-1392-8E311915B09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253FBE46-C72A-9CE2-0ECD-DAB55DDC102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95EC9397-CB2A-71EE-CFCB-184D8446F3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5A734A-3362-4E54-BC74-9F9B00AF169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ACA0738E-F589-0459-8951-5556D04A80C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5838DC79-5565-5080-8917-166632E45FF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F2815C1-8812-4B23-B766-27F4007C82ED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6020" name="Rectangle 6">
            <a:extLst>
              <a:ext uri="{FF2B5EF4-FFF2-40B4-BE49-F238E27FC236}">
                <a16:creationId xmlns:a16="http://schemas.microsoft.com/office/drawing/2014/main" id="{A36FCCDA-94FF-2A39-48EA-C9864F74848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86021" name="Rectangle 7">
            <a:extLst>
              <a:ext uri="{FF2B5EF4-FFF2-40B4-BE49-F238E27FC236}">
                <a16:creationId xmlns:a16="http://schemas.microsoft.com/office/drawing/2014/main" id="{528600CE-1EE9-1AEF-7CAE-9E302A9210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9744520-B5FD-43F5-8638-E87EE64D04EA}" type="slidenum">
              <a:rPr altLang="zh-CN"/>
              <a:pPr/>
              <a:t>1</a:t>
            </a:fld>
            <a:endParaRPr lang="zh-CN" altLang="zh-CN"/>
          </a:p>
        </p:txBody>
      </p:sp>
      <p:sp>
        <p:nvSpPr>
          <p:cNvPr id="86022" name="Rectangle 2">
            <a:extLst>
              <a:ext uri="{FF2B5EF4-FFF2-40B4-BE49-F238E27FC236}">
                <a16:creationId xmlns:a16="http://schemas.microsoft.com/office/drawing/2014/main" id="{136F2CDD-6DEF-221E-5229-4CADDDF8F62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6023" name="Rectangle 3">
            <a:extLst>
              <a:ext uri="{FF2B5EF4-FFF2-40B4-BE49-F238E27FC236}">
                <a16:creationId xmlns:a16="http://schemas.microsoft.com/office/drawing/2014/main" id="{8FC92552-39AE-798B-0E97-B56941323A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 b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85379C99-085B-7B5C-5062-4D05FF2923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94FB106B-0E5A-0DCE-5E20-0E350250818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907FF20-DCAD-4D71-8FB0-A8A00444BB1F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8068" name="Rectangle 6">
            <a:extLst>
              <a:ext uri="{FF2B5EF4-FFF2-40B4-BE49-F238E27FC236}">
                <a16:creationId xmlns:a16="http://schemas.microsoft.com/office/drawing/2014/main" id="{F0FDA044-4B85-4BCE-83D9-0EA9BDBE1C2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88069" name="Rectangle 7">
            <a:extLst>
              <a:ext uri="{FF2B5EF4-FFF2-40B4-BE49-F238E27FC236}">
                <a16:creationId xmlns:a16="http://schemas.microsoft.com/office/drawing/2014/main" id="{8124E897-A3D3-2FE0-9E87-672CD8BAC3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B3894CD-DE0B-4CAC-9676-42351EC4A453}" type="slidenum">
              <a:rPr altLang="zh-CN"/>
              <a:pPr/>
              <a:t>2</a:t>
            </a:fld>
            <a:endParaRPr lang="zh-CN" altLang="zh-CN"/>
          </a:p>
        </p:txBody>
      </p:sp>
      <p:sp>
        <p:nvSpPr>
          <p:cNvPr id="88070" name="Rectangle 2">
            <a:extLst>
              <a:ext uri="{FF2B5EF4-FFF2-40B4-BE49-F238E27FC236}">
                <a16:creationId xmlns:a16="http://schemas.microsoft.com/office/drawing/2014/main" id="{27F4D41A-CE99-20C7-EFC4-284D3C8B178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88071" name="Rectangle 3">
            <a:extLst>
              <a:ext uri="{FF2B5EF4-FFF2-40B4-BE49-F238E27FC236}">
                <a16:creationId xmlns:a16="http://schemas.microsoft.com/office/drawing/2014/main" id="{FEA4F709-CD18-A0E7-123B-9BB9111DAE4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algn="l" fontAlgn="base">
              <a:buFont typeface="+mj-lt"/>
              <a:buNone/>
            </a:pPr>
            <a:r>
              <a:rPr lang="zh-CN" altLang="en-US" b="0" i="0" dirty="0">
                <a:effectLst/>
                <a:latin typeface="-apple-system"/>
              </a:rPr>
              <a:t>毕奥</a:t>
            </a:r>
            <a:r>
              <a:rPr lang="en-US" altLang="zh-CN" b="0" i="0" dirty="0">
                <a:effectLst/>
                <a:latin typeface="-apple-system"/>
              </a:rPr>
              <a:t>-</a:t>
            </a:r>
            <a:r>
              <a:rPr lang="zh-CN" altLang="en-US" b="0" i="0" dirty="0">
                <a:effectLst/>
                <a:latin typeface="-apple-system"/>
              </a:rPr>
              <a:t>萨伐尔定律回答“电流怎样产生磁场”；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-apple-system"/>
              </a:rPr>
              <a:t>安培力定律回答“两条载流导线之间怎样产生磁力”。</a:t>
            </a:r>
            <a:endParaRPr lang="en-US" altLang="zh-CN" b="0" i="0" dirty="0">
              <a:effectLst/>
              <a:latin typeface="-apple-system"/>
            </a:endParaRPr>
          </a:p>
          <a:p>
            <a:pPr algn="l" fontAlgn="base">
              <a:buFont typeface="+mj-lt"/>
              <a:buNone/>
            </a:pPr>
            <a:r>
              <a:rPr lang="zh-CN" altLang="en-US" b="0" i="0" dirty="0">
                <a:effectLst/>
                <a:latin typeface="-apple-system"/>
              </a:rPr>
              <a:t>毕奥</a:t>
            </a:r>
            <a:r>
              <a:rPr lang="en-US" altLang="zh-CN" b="0" i="0" dirty="0">
                <a:effectLst/>
                <a:latin typeface="-apple-system"/>
              </a:rPr>
              <a:t>-</a:t>
            </a:r>
            <a:r>
              <a:rPr lang="zh-CN" altLang="en-US" b="0" i="0" dirty="0">
                <a:effectLst/>
                <a:latin typeface="-apple-system"/>
              </a:rPr>
              <a:t>萨伐尔定律 </a:t>
            </a:r>
            <a:r>
              <a:rPr lang="en-US" altLang="zh-CN" b="0" i="0" dirty="0">
                <a:effectLst/>
                <a:latin typeface="-apple-system"/>
              </a:rPr>
              <a:t>+ </a:t>
            </a:r>
            <a:r>
              <a:rPr lang="zh-CN" altLang="en-US" b="0" i="0" dirty="0">
                <a:effectLst/>
                <a:latin typeface="-apple-system"/>
              </a:rPr>
              <a:t>洛伦兹力公式（</a:t>
            </a:r>
            <a:r>
              <a:rPr lang="en-US" altLang="zh-CN" b="1" i="0" dirty="0">
                <a:effectLst/>
                <a:latin typeface="-apple-system"/>
              </a:rPr>
              <a:t>F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= I d</a:t>
            </a:r>
            <a:r>
              <a:rPr lang="en-US" altLang="zh-CN" b="1" i="0" dirty="0">
                <a:effectLst/>
                <a:latin typeface="-apple-system"/>
              </a:rPr>
              <a:t>l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× </a:t>
            </a:r>
            <a:r>
              <a:rPr lang="en-US" altLang="zh-CN" b="1" i="0" dirty="0">
                <a:effectLst/>
                <a:latin typeface="-apple-system"/>
              </a:rPr>
              <a:t>B</a:t>
            </a:r>
            <a:r>
              <a:rPr lang="zh-CN" altLang="en-US" b="0" i="0" dirty="0">
                <a:effectLst/>
                <a:latin typeface="-apple-system"/>
              </a:rPr>
              <a:t>）⇒ 可以推导出安培力定律。因此安培力定律可视为“毕奥</a:t>
            </a:r>
            <a:r>
              <a:rPr lang="en-US" altLang="zh-CN" b="0" i="0" dirty="0">
                <a:effectLst/>
                <a:latin typeface="-apple-system"/>
              </a:rPr>
              <a:t>-</a:t>
            </a:r>
            <a:r>
              <a:rPr lang="zh-CN" altLang="en-US" b="0" i="0" dirty="0">
                <a:effectLst/>
                <a:latin typeface="-apple-system"/>
              </a:rPr>
              <a:t>萨伐尔定律 </a:t>
            </a:r>
            <a:r>
              <a:rPr lang="en-US" altLang="zh-CN" b="0" i="0" dirty="0">
                <a:effectLst/>
                <a:latin typeface="-apple-system"/>
              </a:rPr>
              <a:t>+ </a:t>
            </a:r>
            <a:r>
              <a:rPr lang="zh-CN" altLang="en-US" b="0" i="0" dirty="0">
                <a:effectLst/>
                <a:latin typeface="-apple-system"/>
              </a:rPr>
              <a:t>洛伦兹力”的综合结果。</a:t>
            </a:r>
            <a:endParaRPr lang="zh-CN" altLang="en-US" b="1" dirty="0"/>
          </a:p>
          <a:p>
            <a:pPr eaLnBrk="1" hangingPunct="1"/>
            <a:endParaRPr lang="zh-CN" altLang="en-US" b="1" dirty="0"/>
          </a:p>
          <a:p>
            <a:pPr eaLnBrk="1" hangingPunct="1"/>
            <a:endParaRPr lang="en-US" altLang="zh-CN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14FE4324-E415-588E-547E-23C3B710539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E135F543-A215-958C-6AF8-C99F021E425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F4DD345-D5AF-4969-A969-1C0B9DE504CC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0116" name="Rectangle 6">
            <a:extLst>
              <a:ext uri="{FF2B5EF4-FFF2-40B4-BE49-F238E27FC236}">
                <a16:creationId xmlns:a16="http://schemas.microsoft.com/office/drawing/2014/main" id="{35F03B60-7E41-549B-10B6-B35A3B87E63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90117" name="Rectangle 7">
            <a:extLst>
              <a:ext uri="{FF2B5EF4-FFF2-40B4-BE49-F238E27FC236}">
                <a16:creationId xmlns:a16="http://schemas.microsoft.com/office/drawing/2014/main" id="{E39EF1E5-1D57-A133-B61E-1323CFAB9F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3B4C84C-6CE0-4FB3-9B3A-D6EE9EFB0A61}" type="slidenum">
              <a:rPr altLang="zh-CN"/>
              <a:pPr/>
              <a:t>3</a:t>
            </a:fld>
            <a:endParaRPr lang="zh-CN" altLang="zh-CN"/>
          </a:p>
        </p:txBody>
      </p:sp>
      <p:sp>
        <p:nvSpPr>
          <p:cNvPr id="90118" name="Rectangle 2">
            <a:extLst>
              <a:ext uri="{FF2B5EF4-FFF2-40B4-BE49-F238E27FC236}">
                <a16:creationId xmlns:a16="http://schemas.microsoft.com/office/drawing/2014/main" id="{277C05D0-AC55-D506-523A-2F391113774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0119" name="Rectangle 3">
            <a:extLst>
              <a:ext uri="{FF2B5EF4-FFF2-40B4-BE49-F238E27FC236}">
                <a16:creationId xmlns:a16="http://schemas.microsoft.com/office/drawing/2014/main" id="{97CBAC21-FC07-D1DC-3938-9C34A789580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F7CE8B9D-BE04-B750-7830-19470B05A8D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B818BA13-C07C-774C-CBC0-6F74305EFD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B0F8131-9C8E-4E07-87D6-56C23E91A5B8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164" name="Rectangle 6">
            <a:extLst>
              <a:ext uri="{FF2B5EF4-FFF2-40B4-BE49-F238E27FC236}">
                <a16:creationId xmlns:a16="http://schemas.microsoft.com/office/drawing/2014/main" id="{9F0E2708-963F-ABB0-046F-97D8C2285A5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92165" name="Rectangle 7">
            <a:extLst>
              <a:ext uri="{FF2B5EF4-FFF2-40B4-BE49-F238E27FC236}">
                <a16:creationId xmlns:a16="http://schemas.microsoft.com/office/drawing/2014/main" id="{2B490B7D-8F10-F495-BDA2-C4D8792F72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9B132F7-5244-414F-ACFE-97D15C910689}" type="slidenum">
              <a:rPr altLang="zh-CN"/>
              <a:pPr/>
              <a:t>4</a:t>
            </a:fld>
            <a:endParaRPr lang="zh-CN" altLang="zh-CN"/>
          </a:p>
        </p:txBody>
      </p:sp>
      <p:sp>
        <p:nvSpPr>
          <p:cNvPr id="92166" name="Rectangle 2">
            <a:extLst>
              <a:ext uri="{FF2B5EF4-FFF2-40B4-BE49-F238E27FC236}">
                <a16:creationId xmlns:a16="http://schemas.microsoft.com/office/drawing/2014/main" id="{1D08B47B-DE61-685B-444A-A7E9B10D85B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2167" name="Rectangle 3">
            <a:extLst>
              <a:ext uri="{FF2B5EF4-FFF2-40B4-BE49-F238E27FC236}">
                <a16:creationId xmlns:a16="http://schemas.microsoft.com/office/drawing/2014/main" id="{72B19771-7B63-9D3C-EB1C-B6F7B044BCE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marL="228600" indent="-228600" eaLnBrk="1" hangingPunct="1"/>
            <a:endParaRPr lang="zh-CN" altLang="en-US">
              <a:latin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B9E272B3-281B-BF26-DBB6-DD7EBCC1CC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3C5A3A50-DCCC-EE9E-98D8-F86FFB9BDD3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AE9F4F5-EE44-40E5-B87E-EACB0B6E3302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4212" name="Rectangle 6">
            <a:extLst>
              <a:ext uri="{FF2B5EF4-FFF2-40B4-BE49-F238E27FC236}">
                <a16:creationId xmlns:a16="http://schemas.microsoft.com/office/drawing/2014/main" id="{3C0B30CF-522A-A00F-2DED-490CCE06FD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94213" name="Rectangle 7">
            <a:extLst>
              <a:ext uri="{FF2B5EF4-FFF2-40B4-BE49-F238E27FC236}">
                <a16:creationId xmlns:a16="http://schemas.microsoft.com/office/drawing/2014/main" id="{516E2747-CB54-E0B3-50EC-129ED4514E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D3DE6C5-06CE-41D5-A6FE-48489E328BCA}" type="slidenum">
              <a:rPr altLang="zh-CN"/>
              <a:pPr/>
              <a:t>5</a:t>
            </a:fld>
            <a:endParaRPr lang="zh-CN" altLang="zh-CN"/>
          </a:p>
        </p:txBody>
      </p:sp>
      <p:sp>
        <p:nvSpPr>
          <p:cNvPr id="94214" name="Rectangle 2">
            <a:extLst>
              <a:ext uri="{FF2B5EF4-FFF2-40B4-BE49-F238E27FC236}">
                <a16:creationId xmlns:a16="http://schemas.microsoft.com/office/drawing/2014/main" id="{ECDC18BA-5CA5-7E9D-3D8E-E0DB834785A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4215" name="Rectangle 3">
            <a:extLst>
              <a:ext uri="{FF2B5EF4-FFF2-40B4-BE49-F238E27FC236}">
                <a16:creationId xmlns:a16="http://schemas.microsoft.com/office/drawing/2014/main" id="{3E260298-CA8D-C284-27C1-6B8E4665A5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algn="l" fontAlgn="base">
              <a:buFont typeface="+mj-lt"/>
              <a:buNone/>
            </a:pPr>
            <a:r>
              <a:rPr lang="zh-CN" altLang="en-US" b="0" i="0" dirty="0">
                <a:effectLst/>
                <a:latin typeface="-apple-system"/>
              </a:rPr>
              <a:t>毕奥</a:t>
            </a:r>
            <a:r>
              <a:rPr lang="en-US" altLang="zh-CN" b="0" i="0" dirty="0">
                <a:effectLst/>
                <a:latin typeface="-apple-system"/>
              </a:rPr>
              <a:t>-</a:t>
            </a:r>
            <a:r>
              <a:rPr lang="zh-CN" altLang="en-US" b="0" i="0" dirty="0">
                <a:effectLst/>
                <a:latin typeface="-apple-system"/>
              </a:rPr>
              <a:t>萨伐尔定律回答“电流怎样产生磁场”；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-apple-system"/>
              </a:rPr>
              <a:t>安培力定律回答“两条载流导线之间怎样产生磁力”。</a:t>
            </a:r>
            <a:endParaRPr lang="en-US" altLang="zh-CN" b="0" i="0" dirty="0">
              <a:effectLst/>
              <a:latin typeface="-apple-system"/>
            </a:endParaRPr>
          </a:p>
          <a:p>
            <a:pPr algn="l" fontAlgn="base">
              <a:buFont typeface="+mj-lt"/>
              <a:buNone/>
            </a:pPr>
            <a:r>
              <a:rPr lang="zh-CN" altLang="en-US" b="0" i="0" dirty="0">
                <a:effectLst/>
                <a:latin typeface="-apple-system"/>
              </a:rPr>
              <a:t>毕奥</a:t>
            </a:r>
            <a:r>
              <a:rPr lang="en-US" altLang="zh-CN" b="0" i="0" dirty="0">
                <a:effectLst/>
                <a:latin typeface="-apple-system"/>
              </a:rPr>
              <a:t>-</a:t>
            </a:r>
            <a:r>
              <a:rPr lang="zh-CN" altLang="en-US" b="0" i="0" dirty="0">
                <a:effectLst/>
                <a:latin typeface="-apple-system"/>
              </a:rPr>
              <a:t>萨伐尔定律 </a:t>
            </a:r>
            <a:r>
              <a:rPr lang="en-US" altLang="zh-CN" b="0" i="0" dirty="0">
                <a:effectLst/>
                <a:latin typeface="-apple-system"/>
              </a:rPr>
              <a:t>+ </a:t>
            </a:r>
            <a:r>
              <a:rPr lang="zh-CN" altLang="en-US" b="0" i="0" dirty="0">
                <a:effectLst/>
                <a:latin typeface="-apple-system"/>
              </a:rPr>
              <a:t>洛伦兹力公式（</a:t>
            </a:r>
            <a:r>
              <a:rPr lang="en-US" altLang="zh-CN" b="1" i="0" dirty="0">
                <a:effectLst/>
                <a:latin typeface="-apple-system"/>
              </a:rPr>
              <a:t>F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= I d</a:t>
            </a:r>
            <a:r>
              <a:rPr lang="en-US" altLang="zh-CN" b="1" i="0" dirty="0">
                <a:effectLst/>
                <a:latin typeface="-apple-system"/>
              </a:rPr>
              <a:t>l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× </a:t>
            </a:r>
            <a:r>
              <a:rPr lang="en-US" altLang="zh-CN" b="1" i="0" dirty="0">
                <a:effectLst/>
                <a:latin typeface="-apple-system"/>
              </a:rPr>
              <a:t>B</a:t>
            </a:r>
            <a:r>
              <a:rPr lang="zh-CN" altLang="en-US" b="0" i="0" dirty="0">
                <a:effectLst/>
                <a:latin typeface="-apple-system"/>
              </a:rPr>
              <a:t>）⇒ 可以推导出安培力定律。因此安培力定律可视为“毕奥</a:t>
            </a:r>
            <a:r>
              <a:rPr lang="en-US" altLang="zh-CN" b="0" i="0" dirty="0">
                <a:effectLst/>
                <a:latin typeface="-apple-system"/>
              </a:rPr>
              <a:t>-</a:t>
            </a:r>
            <a:r>
              <a:rPr lang="zh-CN" altLang="en-US" b="0" i="0" dirty="0">
                <a:effectLst/>
                <a:latin typeface="-apple-system"/>
              </a:rPr>
              <a:t>萨伐尔定律 </a:t>
            </a:r>
            <a:r>
              <a:rPr lang="en-US" altLang="zh-CN" b="0" i="0" dirty="0">
                <a:effectLst/>
                <a:latin typeface="-apple-system"/>
              </a:rPr>
              <a:t>+ </a:t>
            </a:r>
            <a:r>
              <a:rPr lang="zh-CN" altLang="en-US" b="0" i="0" dirty="0">
                <a:effectLst/>
                <a:latin typeface="-apple-system"/>
              </a:rPr>
              <a:t>洛伦兹力”的综合结果。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A3F02FEC-4B31-6FFD-AB24-41F9B94A882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99C7C3B9-91DD-C621-1674-8091A9881E8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DB868B6-B23A-4255-BCBA-487F672DEFF6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6260" name="Rectangle 6">
            <a:extLst>
              <a:ext uri="{FF2B5EF4-FFF2-40B4-BE49-F238E27FC236}">
                <a16:creationId xmlns:a16="http://schemas.microsoft.com/office/drawing/2014/main" id="{09DF194B-8C31-8385-AF61-2E601845D2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96261" name="Rectangle 7">
            <a:extLst>
              <a:ext uri="{FF2B5EF4-FFF2-40B4-BE49-F238E27FC236}">
                <a16:creationId xmlns:a16="http://schemas.microsoft.com/office/drawing/2014/main" id="{2C8B8B07-E21C-C0B8-865F-32CBA371DA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27E8370-1180-45B5-9C74-9C8F3A1F0FF2}" type="slidenum">
              <a:rPr altLang="zh-CN"/>
              <a:pPr/>
              <a:t>6</a:t>
            </a:fld>
            <a:endParaRPr lang="zh-CN" altLang="zh-CN"/>
          </a:p>
        </p:txBody>
      </p:sp>
      <p:sp>
        <p:nvSpPr>
          <p:cNvPr id="96262" name="Rectangle 2">
            <a:extLst>
              <a:ext uri="{FF2B5EF4-FFF2-40B4-BE49-F238E27FC236}">
                <a16:creationId xmlns:a16="http://schemas.microsoft.com/office/drawing/2014/main" id="{A2EFB9A2-65AF-26A2-B3BD-40D63BBB6E4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6263" name="Rectangle 3">
            <a:extLst>
              <a:ext uri="{FF2B5EF4-FFF2-40B4-BE49-F238E27FC236}">
                <a16:creationId xmlns:a16="http://schemas.microsoft.com/office/drawing/2014/main" id="{5237F07A-512D-5085-0911-22488B189A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u="sng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F597C442-8172-7826-4807-9D7950AFAA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D46D5DBA-94C5-476F-957B-D0CF9C2E11C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F572650-D4EF-4561-8433-6F1420A8E42F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9332" name="Rectangle 6">
            <a:extLst>
              <a:ext uri="{FF2B5EF4-FFF2-40B4-BE49-F238E27FC236}">
                <a16:creationId xmlns:a16="http://schemas.microsoft.com/office/drawing/2014/main" id="{91F275BF-CC1E-5031-20E0-8E2F427DF21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99333" name="Rectangle 7">
            <a:extLst>
              <a:ext uri="{FF2B5EF4-FFF2-40B4-BE49-F238E27FC236}">
                <a16:creationId xmlns:a16="http://schemas.microsoft.com/office/drawing/2014/main" id="{29247818-CFD5-4746-95F1-A3A49432B3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42837DA-F874-441A-85B1-4A010717AA25}" type="slidenum">
              <a:rPr altLang="zh-CN"/>
              <a:pPr/>
              <a:t>8</a:t>
            </a:fld>
            <a:endParaRPr lang="zh-CN" altLang="zh-CN"/>
          </a:p>
        </p:txBody>
      </p:sp>
      <p:sp>
        <p:nvSpPr>
          <p:cNvPr id="99334" name="Rectangle 2">
            <a:extLst>
              <a:ext uri="{FF2B5EF4-FFF2-40B4-BE49-F238E27FC236}">
                <a16:creationId xmlns:a16="http://schemas.microsoft.com/office/drawing/2014/main" id="{2391DAE9-A803-D9A4-3239-29E2FD16FBD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9335" name="Rectangle 3">
            <a:extLst>
              <a:ext uri="{FF2B5EF4-FFF2-40B4-BE49-F238E27FC236}">
                <a16:creationId xmlns:a16="http://schemas.microsoft.com/office/drawing/2014/main" id="{9FC5096D-E378-9E70-E8E1-86BCB330504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691233D7-D33C-00BC-47F9-A6FFB35876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66CDF2BE-ACC4-F72D-7D89-8B49A41056E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C9F7870-7D23-4D36-A6DA-3910D96A082C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1380" name="Rectangle 6">
            <a:extLst>
              <a:ext uri="{FF2B5EF4-FFF2-40B4-BE49-F238E27FC236}">
                <a16:creationId xmlns:a16="http://schemas.microsoft.com/office/drawing/2014/main" id="{B6A348AB-60B4-3622-F106-5C70CE0A64C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01381" name="Rectangle 7">
            <a:extLst>
              <a:ext uri="{FF2B5EF4-FFF2-40B4-BE49-F238E27FC236}">
                <a16:creationId xmlns:a16="http://schemas.microsoft.com/office/drawing/2014/main" id="{81E02299-57AD-BE7C-869C-84F6D42499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E1DD787-CB9D-4F82-80D4-ED28D9935EEF}" type="slidenum">
              <a:rPr altLang="zh-CN"/>
              <a:pPr/>
              <a:t>9</a:t>
            </a:fld>
            <a:endParaRPr lang="zh-CN" altLang="zh-CN"/>
          </a:p>
        </p:txBody>
      </p:sp>
      <p:sp>
        <p:nvSpPr>
          <p:cNvPr id="101382" name="Rectangle 2">
            <a:extLst>
              <a:ext uri="{FF2B5EF4-FFF2-40B4-BE49-F238E27FC236}">
                <a16:creationId xmlns:a16="http://schemas.microsoft.com/office/drawing/2014/main" id="{8FCD46C4-8A33-0788-C18D-C72E8DB0C23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1383" name="Rectangle 3">
            <a:extLst>
              <a:ext uri="{FF2B5EF4-FFF2-40B4-BE49-F238E27FC236}">
                <a16:creationId xmlns:a16="http://schemas.microsoft.com/office/drawing/2014/main" id="{F8538101-B435-7F61-6A2C-722A6D01453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u="sng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11B20767-AFAC-5086-A1CA-0D8C0F48BD6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C664619D-4261-7AC6-2CD7-C31D762C77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A03F03E-FD51-4911-9CFF-B7C0D8A48E3E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3428" name="Rectangle 6">
            <a:extLst>
              <a:ext uri="{FF2B5EF4-FFF2-40B4-BE49-F238E27FC236}">
                <a16:creationId xmlns:a16="http://schemas.microsoft.com/office/drawing/2014/main" id="{A4893C2E-2214-02D6-5D7C-2C0D5CF659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03429" name="Rectangle 7">
            <a:extLst>
              <a:ext uri="{FF2B5EF4-FFF2-40B4-BE49-F238E27FC236}">
                <a16:creationId xmlns:a16="http://schemas.microsoft.com/office/drawing/2014/main" id="{6993A329-2A9C-560F-9499-2576E9BE74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98C613F-1AB0-4B85-AFCE-5A72E0EA94C0}" type="slidenum">
              <a:rPr altLang="zh-CN"/>
              <a:pPr/>
              <a:t>10</a:t>
            </a:fld>
            <a:endParaRPr lang="zh-CN" altLang="zh-CN"/>
          </a:p>
        </p:txBody>
      </p:sp>
      <p:sp>
        <p:nvSpPr>
          <p:cNvPr id="103430" name="Rectangle 2">
            <a:extLst>
              <a:ext uri="{FF2B5EF4-FFF2-40B4-BE49-F238E27FC236}">
                <a16:creationId xmlns:a16="http://schemas.microsoft.com/office/drawing/2014/main" id="{CAEF10A9-8DEB-A33B-62A8-D4606EDEB0E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3431" name="Rectangle 3">
            <a:extLst>
              <a:ext uri="{FF2B5EF4-FFF2-40B4-BE49-F238E27FC236}">
                <a16:creationId xmlns:a16="http://schemas.microsoft.com/office/drawing/2014/main" id="{59B7C487-AFFD-BCCC-8184-32C83DE55F6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磁通连续原理也称磁路第一定律，是指通过磁路中任一节点的磁通的代数和为零</a:t>
            </a:r>
            <a:endParaRPr lang="zh-CN" altLang="en-US" b="1" u="sng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01CCF417-A43B-8C57-7FE7-CD9EDD861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9E2DAE4F-3B60-198A-CFE3-ED2CB43920B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35B11AF-7966-4436-9F47-BE44DC71CD1E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5476" name="Rectangle 6">
            <a:extLst>
              <a:ext uri="{FF2B5EF4-FFF2-40B4-BE49-F238E27FC236}">
                <a16:creationId xmlns:a16="http://schemas.microsoft.com/office/drawing/2014/main" id="{50464AF1-C31C-D45F-CDB2-F7446EF2F9C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05477" name="Rectangle 7">
            <a:extLst>
              <a:ext uri="{FF2B5EF4-FFF2-40B4-BE49-F238E27FC236}">
                <a16:creationId xmlns:a16="http://schemas.microsoft.com/office/drawing/2014/main" id="{8314F453-D877-BA02-62D2-BF2C537524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AF931F7-4154-412A-9B26-A891263FD4DA}" type="slidenum">
              <a:rPr altLang="zh-CN"/>
              <a:pPr/>
              <a:t>11</a:t>
            </a:fld>
            <a:endParaRPr lang="zh-CN" altLang="zh-CN"/>
          </a:p>
        </p:txBody>
      </p:sp>
      <p:sp>
        <p:nvSpPr>
          <p:cNvPr id="105478" name="Rectangle 2">
            <a:extLst>
              <a:ext uri="{FF2B5EF4-FFF2-40B4-BE49-F238E27FC236}">
                <a16:creationId xmlns:a16="http://schemas.microsoft.com/office/drawing/2014/main" id="{F6A1DF5F-8230-7715-8D48-EB02B0D3D85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5479" name="Rectangle 3">
            <a:extLst>
              <a:ext uri="{FF2B5EF4-FFF2-40B4-BE49-F238E27FC236}">
                <a16:creationId xmlns:a16="http://schemas.microsoft.com/office/drawing/2014/main" id="{8B72EDF9-A8F7-03EB-9E09-91C7A01EE9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EB50C778-17FD-D3DF-FA84-0CD58C9C2A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F8AD091B-D2F1-A5A4-3F8A-9AB30641C05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1100CB6-78CB-4C6D-9E51-3F33DE35A25D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7524" name="Rectangle 6">
            <a:extLst>
              <a:ext uri="{FF2B5EF4-FFF2-40B4-BE49-F238E27FC236}">
                <a16:creationId xmlns:a16="http://schemas.microsoft.com/office/drawing/2014/main" id="{FC1FE2A8-6AFA-6EFE-5522-67159AE585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07525" name="Rectangle 7">
            <a:extLst>
              <a:ext uri="{FF2B5EF4-FFF2-40B4-BE49-F238E27FC236}">
                <a16:creationId xmlns:a16="http://schemas.microsoft.com/office/drawing/2014/main" id="{B5ED1FCF-F6E9-E3CE-546D-3CA4946A1B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E61850F-015B-4BB6-BB00-9B4F49CA038E}" type="slidenum">
              <a:rPr altLang="zh-CN"/>
              <a:pPr/>
              <a:t>12</a:t>
            </a:fld>
            <a:endParaRPr lang="zh-CN" altLang="zh-CN"/>
          </a:p>
        </p:txBody>
      </p:sp>
      <p:sp>
        <p:nvSpPr>
          <p:cNvPr id="107526" name="Rectangle 2">
            <a:extLst>
              <a:ext uri="{FF2B5EF4-FFF2-40B4-BE49-F238E27FC236}">
                <a16:creationId xmlns:a16="http://schemas.microsoft.com/office/drawing/2014/main" id="{9FB86591-F3E1-107D-BE29-C6CF594711F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7527" name="Rectangle 3">
            <a:extLst>
              <a:ext uri="{FF2B5EF4-FFF2-40B4-BE49-F238E27FC236}">
                <a16:creationId xmlns:a16="http://schemas.microsoft.com/office/drawing/2014/main" id="{477C3B4E-B243-4EAA-21A5-1E2DDC2DD1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02498BDB-FAFD-FE68-90DB-3F3CE73A36C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E1F2D9AA-ED90-D4DB-110F-CD36E8866E0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419E1B2A-3374-440E-8F3E-6CB15983F55B}" type="datetime1">
              <a:rPr lang="zh-CN" altLang="en-US"/>
              <a:pPr algn="r" eaLnBrk="1" hangingPunct="1"/>
              <a:t>2025/12/26</a:t>
            </a:fld>
            <a:endParaRPr lang="zh-CN" altLang="en-US"/>
          </a:p>
        </p:txBody>
      </p:sp>
      <p:sp>
        <p:nvSpPr>
          <p:cNvPr id="109572" name="Rectangle 6">
            <a:extLst>
              <a:ext uri="{FF2B5EF4-FFF2-40B4-BE49-F238E27FC236}">
                <a16:creationId xmlns:a16="http://schemas.microsoft.com/office/drawing/2014/main" id="{D6B4AC79-8B63-5CFE-F208-7A2C763DA61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109573" name="Rectangle 7">
            <a:extLst>
              <a:ext uri="{FF2B5EF4-FFF2-40B4-BE49-F238E27FC236}">
                <a16:creationId xmlns:a16="http://schemas.microsoft.com/office/drawing/2014/main" id="{80718075-7D8A-AABD-B632-0A7684F695D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DB86D8F2-6F2A-4C09-8B42-54CDB9EC4102}" type="slidenum">
              <a:rPr lang="en-US" altLang="zh-CN"/>
              <a:pPr algn="r" eaLnBrk="1" hangingPunct="1"/>
              <a:t>13</a:t>
            </a:fld>
            <a:endParaRPr lang="en-US" altLang="zh-CN"/>
          </a:p>
        </p:txBody>
      </p:sp>
      <p:sp>
        <p:nvSpPr>
          <p:cNvPr id="109574" name="Rectangle 2">
            <a:extLst>
              <a:ext uri="{FF2B5EF4-FFF2-40B4-BE49-F238E27FC236}">
                <a16:creationId xmlns:a16="http://schemas.microsoft.com/office/drawing/2014/main" id="{1B7BBF18-D31A-C210-39CB-FEF48774B52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09575" name="Rectangle 3">
            <a:extLst>
              <a:ext uri="{FF2B5EF4-FFF2-40B4-BE49-F238E27FC236}">
                <a16:creationId xmlns:a16="http://schemas.microsoft.com/office/drawing/2014/main" id="{D69E38F4-264A-51F1-34DB-C2C9E9006D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 b="1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AF31C11A-593E-D9B1-59DB-F704976EFE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7042F63B-DD08-A2D0-B98D-FD58CE7F15A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D168AB4-A374-4077-884F-453EE4EB9D5F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2025/12/26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1620" name="Rectangle 6">
            <a:extLst>
              <a:ext uri="{FF2B5EF4-FFF2-40B4-BE49-F238E27FC236}">
                <a16:creationId xmlns:a16="http://schemas.microsoft.com/office/drawing/2014/main" id="{3A394C44-FFFB-150D-FF30-A94D0CE4F6C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11621" name="Rectangle 7">
            <a:extLst>
              <a:ext uri="{FF2B5EF4-FFF2-40B4-BE49-F238E27FC236}">
                <a16:creationId xmlns:a16="http://schemas.microsoft.com/office/drawing/2014/main" id="{47618EE0-F511-BAB8-9957-E39D945F20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0884812-1A42-4AD4-AEEB-BB54F13B4CC0}" type="slidenum">
              <a:rPr altLang="zh-CN"/>
              <a:pPr/>
              <a:t>14</a:t>
            </a:fld>
            <a:endParaRPr lang="zh-CN" altLang="zh-CN"/>
          </a:p>
        </p:txBody>
      </p:sp>
      <p:sp>
        <p:nvSpPr>
          <p:cNvPr id="111622" name="Rectangle 2">
            <a:extLst>
              <a:ext uri="{FF2B5EF4-FFF2-40B4-BE49-F238E27FC236}">
                <a16:creationId xmlns:a16="http://schemas.microsoft.com/office/drawing/2014/main" id="{8B62F55A-32C9-946E-E81C-706275E3387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1623" name="Rectangle 3">
            <a:extLst>
              <a:ext uri="{FF2B5EF4-FFF2-40B4-BE49-F238E27FC236}">
                <a16:creationId xmlns:a16="http://schemas.microsoft.com/office/drawing/2014/main" id="{61ABEDF9-75E9-9F39-4C92-48B0379E03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9C6F435-E508-4CD1-86BF-5A8F77C66126}" type="datetime1">
              <a:rPr lang="zh-CN" altLang="en-US" smtClean="0"/>
              <a:pPr>
                <a:defRPr/>
              </a:pPr>
              <a:t>2025/12/26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434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/>
              <a:t>手绘图在</a:t>
            </a:r>
            <a:r>
              <a:rPr lang="en-US" altLang="zh-CN" b="1" dirty="0"/>
              <a:t>《</a:t>
            </a:r>
            <a:r>
              <a:rPr lang="zh-CN" altLang="en-US" b="1" dirty="0"/>
              <a:t>教材（</a:t>
            </a:r>
            <a:r>
              <a:rPr lang="en-US" altLang="zh-CN" b="1" dirty="0"/>
              <a:t>4</a:t>
            </a:r>
            <a:r>
              <a:rPr lang="zh-CN" altLang="en-US" b="1" dirty="0"/>
              <a:t>版）</a:t>
            </a:r>
            <a:r>
              <a:rPr lang="en-US" altLang="zh-CN" b="1" dirty="0"/>
              <a:t>》47</a:t>
            </a:r>
            <a:r>
              <a:rPr lang="zh-CN" altLang="en-US" b="1" dirty="0"/>
              <a:t>页。</a:t>
            </a:r>
          </a:p>
          <a:p>
            <a:pPr eaLnBrk="1" hangingPunct="1"/>
            <a:r>
              <a:rPr lang="zh-CN" altLang="en-US" dirty="0"/>
              <a:t>结果表明：在无限大均匀平面电流的两侧的磁场为均匀磁场。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9C6F435-E508-4CD1-86BF-5A8F77C66126}" type="datetime1">
              <a:rPr lang="zh-CN" altLang="en-US" smtClean="0"/>
              <a:pPr>
                <a:defRPr/>
              </a:pPr>
              <a:t>2025/12/26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0609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1576166-F8A8-2BB4-DD70-4DCCC41CD5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B07C4-D545-4019-999F-2BF1C9F1667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2712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A496EF-690C-1322-217E-CF93873298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17126-F83D-483A-A81D-FB110B6CC884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01330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C76059A-DCE6-06DB-148D-23EFCAA634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56850-B5A9-4138-96F8-43175F14C54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462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BFA6E9E-9DC4-3D18-4801-133C430B91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0F768-CF50-45CB-A3B0-2FE34A0E6DE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2331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41E05F3-2439-79E4-F7F5-8F2C2B617C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FA487-D0DA-4C3E-9293-2476D2D3F26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1119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89F1C90-3486-2E05-2147-30D0DE02442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52C24-0ABC-4BA9-9C3A-88D241B835A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2845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E9D1B7D-3B07-509D-50EF-026DB3CDB0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1E09E-C200-45A4-8478-86CF5BDF056D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033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5F4CA27-994E-AC0C-771F-3EF4C93DDB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290EF-43E9-4B74-AB16-693B7C0904C9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0739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419DEBC-2523-BBA1-6502-B119703BF9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29BB8-1C94-49D8-A2C5-F57E2411AA7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5114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EC59668-439D-3895-18B9-3DCEC5916B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51D90-C335-447A-8BA8-1A261C7F0EA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820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81BBA34-4FB6-72F9-BF3B-5E2C58618AD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C69E9-5D55-4F66-A766-3326B497F49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1404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0E47C4B-940B-16F5-F902-B74DC20157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D5263-529B-4DFA-A584-ECBA7568C504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5518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E66E56F-91DA-FD1C-A07B-339224985A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19E1B-3695-45AD-9E6B-68F3904643D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49002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31F72C9-FB7F-FB18-0D3D-A796B361CD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88A6E-ED28-4B67-AFFA-044B2EF941D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242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&#38543;&#26426;&#28857;&#21517;&#21161;&#25163;.exe" TargetMode="Externa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501" name="Rectangle 5">
            <a:extLst>
              <a:ext uri="{FF2B5EF4-FFF2-40B4-BE49-F238E27FC236}">
                <a16:creationId xmlns:a16="http://schemas.microsoft.com/office/drawing/2014/main" id="{469081B0-B31B-A751-8DAF-F86981C33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61913"/>
            <a:ext cx="5256212" cy="3508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 eaLnBrk="1" hangingPunct="1">
              <a:lnSpc>
                <a:spcPct val="60000"/>
              </a:lnSpc>
              <a:defRPr/>
            </a:pPr>
            <a:r>
              <a:rPr lang="zh-CN" altLang="en-US">
                <a:latin typeface="Times New Roman" panose="02020603050405020304" pitchFamily="18" charset="0"/>
                <a:ea typeface="隶书" panose="02010509060101010101" pitchFamily="49" charset="-122"/>
              </a:rPr>
              <a:t>第 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2 </a:t>
            </a:r>
            <a:r>
              <a:rPr lang="zh-CN" altLang="en-US">
                <a:latin typeface="Times New Roman" panose="02020603050405020304" pitchFamily="18" charset="0"/>
                <a:ea typeface="隶书" panose="02010509060101010101" pitchFamily="49" charset="-122"/>
              </a:rPr>
              <a:t>章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电磁场的基本规律</a:t>
            </a:r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E6921E0D-608C-456E-16D9-D87EE0F58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-26988"/>
            <a:ext cx="2089150" cy="263526"/>
          </a:xfrm>
          <a:prstGeom prst="rect">
            <a:avLst/>
          </a:prstGeom>
          <a:noFill/>
          <a:ln>
            <a:noFill/>
          </a:ln>
        </p:spPr>
        <p:txBody>
          <a:bodyPr tIns="10800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000">
                <a:solidFill>
                  <a:srgbClr val="573CFC"/>
                </a:solidFill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10" descr="深色横线">
            <a:extLst>
              <a:ext uri="{FF2B5EF4-FFF2-40B4-BE49-F238E27FC236}">
                <a16:creationId xmlns:a16="http://schemas.microsoft.com/office/drawing/2014/main" id="{105FFC0F-C995-9B5A-F064-DA7D993A1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6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sp>
        <p:nvSpPr>
          <p:cNvPr id="490507" name="Rectangle 11">
            <a:extLst>
              <a:ext uri="{FF2B5EF4-FFF2-40B4-BE49-F238E27FC236}">
                <a16:creationId xmlns:a16="http://schemas.microsoft.com/office/drawing/2014/main" id="{2BDE0A9D-C8EC-8929-4C60-946F3D72E3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A2C5FE4-BC8C-4EF0-8366-115BDD2CE81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90516" name="Rectangle 20">
            <a:extLst>
              <a:ext uri="{FF2B5EF4-FFF2-40B4-BE49-F238E27FC236}">
                <a16:creationId xmlns:a16="http://schemas.microsoft.com/office/drawing/2014/main" id="{23391E95-09F1-6997-0833-928A0604D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2113"/>
            <a:ext cx="9144000" cy="6192837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endParaRPr lang="zh-CN" altLang="zh-CN" sz="2800" b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031" name="Rectangle 21" descr="栎木">
            <a:extLst>
              <a:ext uri="{FF2B5EF4-FFF2-40B4-BE49-F238E27FC236}">
                <a16:creationId xmlns:a16="http://schemas.microsoft.com/office/drawing/2014/main" id="{DE51BE3B-C1ED-DA07-DEFE-69DB2216F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sp>
        <p:nvSpPr>
          <p:cNvPr id="1032" name="Rectangle 23" descr="深色横线">
            <a:extLst>
              <a:ext uri="{FF2B5EF4-FFF2-40B4-BE49-F238E27FC236}">
                <a16:creationId xmlns:a16="http://schemas.microsoft.com/office/drawing/2014/main" id="{F7582914-BC2C-28C7-AA83-95E947AF3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pic>
        <p:nvPicPr>
          <p:cNvPr id="1033" name="Picture 29" descr="听诊器">
            <a:hlinkClick r:id="rId17" action="ppaction://hlinkfile"/>
            <a:extLst>
              <a:ext uri="{FF2B5EF4-FFF2-40B4-BE49-F238E27FC236}">
                <a16:creationId xmlns:a16="http://schemas.microsoft.com/office/drawing/2014/main" id="{48FAD43C-68E2-8588-1892-939F72B65C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5862638"/>
            <a:ext cx="508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image" Target="../media/image9.png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14.bin"/><Relationship Id="rId18" Type="http://schemas.openxmlformats.org/officeDocument/2006/relationships/image" Target="../media/image23.emf"/><Relationship Id="rId26" Type="http://schemas.openxmlformats.org/officeDocument/2006/relationships/image" Target="../media/image27.emf"/><Relationship Id="rId3" Type="http://schemas.openxmlformats.org/officeDocument/2006/relationships/oleObject" Target="../embeddings/oleObject9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0.emf"/><Relationship Id="rId17" Type="http://schemas.openxmlformats.org/officeDocument/2006/relationships/oleObject" Target="../embeddings/oleObject16.bin"/><Relationship Id="rId25" Type="http://schemas.openxmlformats.org/officeDocument/2006/relationships/oleObject" Target="../embeddings/oleObject20.bin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.emf"/><Relationship Id="rId20" Type="http://schemas.openxmlformats.org/officeDocument/2006/relationships/image" Target="../media/image24.emf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13.bin"/><Relationship Id="rId24" Type="http://schemas.openxmlformats.org/officeDocument/2006/relationships/image" Target="../media/image26.emf"/><Relationship Id="rId5" Type="http://schemas.openxmlformats.org/officeDocument/2006/relationships/oleObject" Target="../embeddings/oleObject10.bin"/><Relationship Id="rId15" Type="http://schemas.openxmlformats.org/officeDocument/2006/relationships/oleObject" Target="../embeddings/oleObject15.bin"/><Relationship Id="rId23" Type="http://schemas.openxmlformats.org/officeDocument/2006/relationships/oleObject" Target="../embeddings/oleObject19.bin"/><Relationship Id="rId28" Type="http://schemas.openxmlformats.org/officeDocument/2006/relationships/image" Target="../media/image28.emf"/><Relationship Id="rId10" Type="http://schemas.openxmlformats.org/officeDocument/2006/relationships/image" Target="../media/image19.emf"/><Relationship Id="rId19" Type="http://schemas.openxmlformats.org/officeDocument/2006/relationships/oleObject" Target="../embeddings/oleObject17.bin"/><Relationship Id="rId31" Type="http://schemas.openxmlformats.org/officeDocument/2006/relationships/image" Target="../media/image30.e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21.emf"/><Relationship Id="rId22" Type="http://schemas.openxmlformats.org/officeDocument/2006/relationships/image" Target="../media/image25.emf"/><Relationship Id="rId27" Type="http://schemas.openxmlformats.org/officeDocument/2006/relationships/oleObject" Target="../embeddings/oleObject21.bin"/><Relationship Id="rId30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7.emf"/><Relationship Id="rId18" Type="http://schemas.openxmlformats.org/officeDocument/2006/relationships/oleObject" Target="../embeddings/oleObject31.bin"/><Relationship Id="rId3" Type="http://schemas.openxmlformats.org/officeDocument/2006/relationships/image" Target="../media/image32.emf"/><Relationship Id="rId7" Type="http://schemas.openxmlformats.org/officeDocument/2006/relationships/image" Target="../media/image34.e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9.e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0.bin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6.emf"/><Relationship Id="rId5" Type="http://schemas.openxmlformats.org/officeDocument/2006/relationships/image" Target="../media/image33.emf"/><Relationship Id="rId15" Type="http://schemas.openxmlformats.org/officeDocument/2006/relationships/image" Target="../media/image38.e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40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35.emf"/><Relationship Id="rId14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.bin"/><Relationship Id="rId18" Type="http://schemas.openxmlformats.org/officeDocument/2006/relationships/image" Target="../media/image49.emf"/><Relationship Id="rId26" Type="http://schemas.openxmlformats.org/officeDocument/2006/relationships/image" Target="../media/image53.emf"/><Relationship Id="rId39" Type="http://schemas.openxmlformats.org/officeDocument/2006/relationships/oleObject" Target="../embeddings/oleObject50.bin"/><Relationship Id="rId21" Type="http://schemas.openxmlformats.org/officeDocument/2006/relationships/oleObject" Target="../embeddings/oleObject41.bin"/><Relationship Id="rId34" Type="http://schemas.openxmlformats.org/officeDocument/2006/relationships/image" Target="../media/image57.wmf"/><Relationship Id="rId42" Type="http://schemas.openxmlformats.org/officeDocument/2006/relationships/image" Target="../media/image61.emf"/><Relationship Id="rId7" Type="http://schemas.openxmlformats.org/officeDocument/2006/relationships/oleObject" Target="../embeddings/oleObject34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8.emf"/><Relationship Id="rId29" Type="http://schemas.openxmlformats.org/officeDocument/2006/relationships/oleObject" Target="../embeddings/oleObject45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3.e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52.emf"/><Relationship Id="rId32" Type="http://schemas.openxmlformats.org/officeDocument/2006/relationships/image" Target="../media/image56.emf"/><Relationship Id="rId37" Type="http://schemas.openxmlformats.org/officeDocument/2006/relationships/oleObject" Target="../embeddings/oleObject49.bin"/><Relationship Id="rId40" Type="http://schemas.openxmlformats.org/officeDocument/2006/relationships/image" Target="../media/image60.emf"/><Relationship Id="rId45" Type="http://schemas.openxmlformats.org/officeDocument/2006/relationships/oleObject" Target="../embeddings/oleObject53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54.wmf"/><Relationship Id="rId36" Type="http://schemas.openxmlformats.org/officeDocument/2006/relationships/image" Target="../media/image58.emf"/><Relationship Id="rId10" Type="http://schemas.openxmlformats.org/officeDocument/2006/relationships/image" Target="../media/image45.emf"/><Relationship Id="rId19" Type="http://schemas.openxmlformats.org/officeDocument/2006/relationships/oleObject" Target="../embeddings/oleObject40.bin"/><Relationship Id="rId31" Type="http://schemas.openxmlformats.org/officeDocument/2006/relationships/oleObject" Target="../embeddings/oleObject46.bin"/><Relationship Id="rId44" Type="http://schemas.openxmlformats.org/officeDocument/2006/relationships/image" Target="../media/image62.emf"/><Relationship Id="rId4" Type="http://schemas.openxmlformats.org/officeDocument/2006/relationships/image" Target="../media/image42.e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47.emf"/><Relationship Id="rId22" Type="http://schemas.openxmlformats.org/officeDocument/2006/relationships/image" Target="../media/image51.emf"/><Relationship Id="rId27" Type="http://schemas.openxmlformats.org/officeDocument/2006/relationships/oleObject" Target="../embeddings/oleObject44.bin"/><Relationship Id="rId30" Type="http://schemas.openxmlformats.org/officeDocument/2006/relationships/image" Target="../media/image55.wmf"/><Relationship Id="rId35" Type="http://schemas.openxmlformats.org/officeDocument/2006/relationships/oleObject" Target="../embeddings/oleObject48.bin"/><Relationship Id="rId43" Type="http://schemas.openxmlformats.org/officeDocument/2006/relationships/oleObject" Target="../embeddings/oleObject52.bin"/><Relationship Id="rId8" Type="http://schemas.openxmlformats.org/officeDocument/2006/relationships/image" Target="../media/image44.emf"/><Relationship Id="rId3" Type="http://schemas.openxmlformats.org/officeDocument/2006/relationships/oleObject" Target="../embeddings/oleObject32.bin"/><Relationship Id="rId12" Type="http://schemas.openxmlformats.org/officeDocument/2006/relationships/image" Target="../media/image46.e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33" Type="http://schemas.openxmlformats.org/officeDocument/2006/relationships/oleObject" Target="../embeddings/oleObject47.bin"/><Relationship Id="rId38" Type="http://schemas.openxmlformats.org/officeDocument/2006/relationships/image" Target="../media/image59.emf"/><Relationship Id="rId46" Type="http://schemas.openxmlformats.org/officeDocument/2006/relationships/image" Target="../media/image63.emf"/><Relationship Id="rId20" Type="http://schemas.openxmlformats.org/officeDocument/2006/relationships/image" Target="../media/image50.emf"/><Relationship Id="rId41" Type="http://schemas.openxmlformats.org/officeDocument/2006/relationships/oleObject" Target="../embeddings/oleObject5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13" Type="http://schemas.openxmlformats.org/officeDocument/2006/relationships/image" Target="../media/image69.e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oleObject" Target="../embeddings/oleObject58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5.emf"/><Relationship Id="rId11" Type="http://schemas.openxmlformats.org/officeDocument/2006/relationships/image" Target="../media/image68.png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67.e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74.emf"/><Relationship Id="rId4" Type="http://schemas.openxmlformats.org/officeDocument/2006/relationships/image" Target="../media/image71.emf"/><Relationship Id="rId9" Type="http://schemas.openxmlformats.org/officeDocument/2006/relationships/oleObject" Target="../embeddings/oleObject6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7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9.png"/><Relationship Id="rId4" Type="http://schemas.openxmlformats.org/officeDocument/2006/relationships/image" Target="../media/image78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3" Type="http://schemas.openxmlformats.org/officeDocument/2006/relationships/slide" Target="slide15.xml"/><Relationship Id="rId7" Type="http://schemas.openxmlformats.org/officeDocument/2006/relationships/oleObject" Target="../embeddings/oleObject68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e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8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e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91.png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88.emf"/><Relationship Id="rId17" Type="http://schemas.openxmlformats.org/officeDocument/2006/relationships/image" Target="../media/image90.emf"/><Relationship Id="rId2" Type="http://schemas.openxmlformats.org/officeDocument/2006/relationships/notesSlide" Target="../notesSlides/notesSlide13.xml"/><Relationship Id="rId16" Type="http://schemas.openxmlformats.org/officeDocument/2006/relationships/oleObject" Target="../embeddings/oleObject75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5.e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5" Type="http://schemas.openxmlformats.org/officeDocument/2006/relationships/image" Target="../media/image81.png"/><Relationship Id="rId10" Type="http://schemas.openxmlformats.org/officeDocument/2006/relationships/image" Target="../media/image87.emf"/><Relationship Id="rId4" Type="http://schemas.openxmlformats.org/officeDocument/2006/relationships/image" Target="../media/image84.e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89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e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99.emf"/><Relationship Id="rId3" Type="http://schemas.openxmlformats.org/officeDocument/2006/relationships/oleObject" Target="../embeddings/oleObject76.bin"/><Relationship Id="rId21" Type="http://schemas.openxmlformats.org/officeDocument/2006/relationships/image" Target="../media/image81.png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96.emf"/><Relationship Id="rId17" Type="http://schemas.openxmlformats.org/officeDocument/2006/relationships/oleObject" Target="../embeddings/oleObject83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98.emf"/><Relationship Id="rId20" Type="http://schemas.openxmlformats.org/officeDocument/2006/relationships/image" Target="../media/image100.e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3.emf"/><Relationship Id="rId11" Type="http://schemas.openxmlformats.org/officeDocument/2006/relationships/oleObject" Target="../embeddings/oleObject80.bin"/><Relationship Id="rId24" Type="http://schemas.openxmlformats.org/officeDocument/2006/relationships/image" Target="../media/image103.png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23" Type="http://schemas.openxmlformats.org/officeDocument/2006/relationships/image" Target="../media/image102.png"/><Relationship Id="rId10" Type="http://schemas.openxmlformats.org/officeDocument/2006/relationships/image" Target="../media/image95.e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92.e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97.emf"/><Relationship Id="rId22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oleObject" Target="../embeddings/oleObject85.bin"/><Relationship Id="rId7" Type="http://schemas.openxmlformats.org/officeDocument/2006/relationships/image" Target="../media/image10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8.emf"/><Relationship Id="rId4" Type="http://schemas.openxmlformats.org/officeDocument/2006/relationships/image" Target="../media/image104.emf"/><Relationship Id="rId9" Type="http://schemas.openxmlformats.org/officeDocument/2006/relationships/oleObject" Target="../embeddings/oleObject8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灯片编号占位符 3">
            <a:extLst>
              <a:ext uri="{FF2B5EF4-FFF2-40B4-BE49-F238E27FC236}">
                <a16:creationId xmlns:a16="http://schemas.microsoft.com/office/drawing/2014/main" id="{8562612E-C061-443C-3941-D6C9F3F866C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6A278E0-C250-4264-9AE5-7F5D9CA36FC8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A3EF26F4-3F9B-5C25-8D1E-6A724D2A13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765175"/>
            <a:ext cx="8229600" cy="43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2.3   </a:t>
            </a:r>
            <a:r>
              <a:rPr lang="zh-CN" altLang="en-US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真空中恒定磁场的基本规律</a:t>
            </a:r>
          </a:p>
        </p:txBody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CE69D463-C649-C515-F2BB-52080C6C2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3284538"/>
            <a:ext cx="4968875" cy="2289175"/>
          </a:xfrm>
          <a:prstGeom prst="rect">
            <a:avLst/>
          </a:prstGeom>
          <a:solidFill>
            <a:srgbClr val="CCFFFF"/>
          </a:solidFill>
          <a:ln w="2222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本节内容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2.3.1 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" action="ppaction://noaction"/>
              </a:rPr>
              <a:t>安培力定律  磁感应强度</a:t>
            </a:r>
            <a:r>
              <a:rPr lang="zh-CN" altLang="en-US" dirty="0">
                <a:hlinkClick r:id="" action="ppaction://noaction"/>
              </a:rPr>
              <a:t> </a:t>
            </a:r>
            <a:endParaRPr lang="zh-CN" altLang="en-US" dirty="0"/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2.3.2   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" action="ppaction://noaction"/>
              </a:rPr>
              <a:t>恒定磁场的散度与旋度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4997" name="AutoShape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D4B4E09-361F-33C7-53AA-2BDADA0DD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4998" name="AutoShape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948C87B-A000-13D5-6F1A-0803CC6AB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4999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BB7B468-2F02-B91A-4C1D-5C84996C3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5000" name="AutoShape 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98073EB-5DB9-563C-A9F0-1813DCBE7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5001" name="Rectangle 8">
            <a:extLst>
              <a:ext uri="{FF2B5EF4-FFF2-40B4-BE49-F238E27FC236}">
                <a16:creationId xmlns:a16="http://schemas.microsoft.com/office/drawing/2014/main" id="{43D9862F-CEA7-16BC-232F-5ED2FE60B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533525"/>
            <a:ext cx="828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dirty="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恒定磁场（静磁场）</a:t>
            </a:r>
            <a:r>
              <a:rPr lang="zh-CN" altLang="en-US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 dirty="0">
                <a:latin typeface="楷体_GB2312" pitchFamily="49" charset="-122"/>
              </a:rPr>
              <a:t>由恒定电流</a:t>
            </a:r>
            <a:r>
              <a:rPr lang="en-US" altLang="zh-CN" dirty="0">
                <a:latin typeface="楷体_GB2312" pitchFamily="49" charset="-122"/>
              </a:rPr>
              <a:t>I</a:t>
            </a:r>
            <a:r>
              <a:rPr lang="zh-CN" altLang="en-US" dirty="0">
                <a:latin typeface="楷体_GB2312" pitchFamily="49" charset="-122"/>
              </a:rPr>
              <a:t>产生的磁场。</a:t>
            </a:r>
          </a:p>
        </p:txBody>
      </p:sp>
      <p:sp>
        <p:nvSpPr>
          <p:cNvPr id="85002" name="Rectangle 9">
            <a:extLst>
              <a:ext uri="{FF2B5EF4-FFF2-40B4-BE49-F238E27FC236}">
                <a16:creationId xmlns:a16="http://schemas.microsoft.com/office/drawing/2014/main" id="{416A78E7-EE6D-1C88-AA66-BE535DE28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324100"/>
            <a:ext cx="882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重要特征</a:t>
            </a:r>
            <a:r>
              <a:rPr lang="zh-CN" altLang="en-US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>
                <a:latin typeface="楷体_GB2312" pitchFamily="49" charset="-122"/>
              </a:rPr>
              <a:t>对位于磁场中的电流和运动中的带电体有磁场力作用。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3">
            <a:extLst>
              <a:ext uri="{FF2B5EF4-FFF2-40B4-BE49-F238E27FC236}">
                <a16:creationId xmlns:a16="http://schemas.microsoft.com/office/drawing/2014/main" id="{D2468F1B-6E59-D734-0C06-848F207E40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4D3C6B3-0190-4918-B3E4-1018476F456A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59810" name="Rectangle 2">
            <a:extLst>
              <a:ext uri="{FF2B5EF4-FFF2-40B4-BE49-F238E27FC236}">
                <a16:creationId xmlns:a16="http://schemas.microsoft.com/office/drawing/2014/main" id="{178962DA-BA22-4EE0-14BD-798A9331C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908050"/>
            <a:ext cx="525621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1.</a:t>
            </a:r>
            <a:r>
              <a:rPr lang="en-US" altLang="zh-CN">
                <a:solidFill>
                  <a:srgbClr val="F8A6A6"/>
                </a:solidFill>
                <a:latin typeface="楷体_GB2312" pitchFamily="49" charset="-122"/>
              </a:rPr>
              <a:t> 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安培</a:t>
            </a:r>
            <a:r>
              <a:rPr lang="zh-CN" altLang="en-US">
                <a:solidFill>
                  <a:srgbClr val="F8A6A6"/>
                </a:solidFill>
              </a:rPr>
              <a:t>（</a:t>
            </a: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Ampere</a:t>
            </a:r>
            <a:r>
              <a:rPr lang="zh-CN" altLang="en-US">
                <a:solidFill>
                  <a:srgbClr val="F8A6A6"/>
                </a:solidFill>
              </a:rPr>
              <a:t>）</a:t>
            </a:r>
            <a:r>
              <a:rPr lang="zh-CN" altLang="en-US">
                <a:solidFill>
                  <a:srgbClr val="F8A6A6"/>
                </a:solidFill>
                <a:ea typeface="宋体" panose="02010600030101010101" pitchFamily="2" charset="-122"/>
              </a:rPr>
              <a:t>力</a:t>
            </a:r>
            <a:r>
              <a:rPr lang="zh-CN" altLang="en-US">
                <a:solidFill>
                  <a:srgbClr val="F8A6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定律</a:t>
            </a:r>
          </a:p>
        </p:txBody>
      </p:sp>
      <p:sp>
        <p:nvSpPr>
          <p:cNvPr id="759834" name="Rectangle 26">
            <a:extLst>
              <a:ext uri="{FF2B5EF4-FFF2-40B4-BE49-F238E27FC236}">
                <a16:creationId xmlns:a16="http://schemas.microsoft.com/office/drawing/2014/main" id="{9F2C16F1-A4A2-17DC-5CE1-4A71BA6CB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04813"/>
            <a:ext cx="5786438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2.3.1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安培力定律  磁感应强度 </a:t>
            </a:r>
          </a:p>
        </p:txBody>
      </p:sp>
      <p:graphicFrame>
        <p:nvGraphicFramePr>
          <p:cNvPr id="759835" name="Object 27">
            <a:extLst>
              <a:ext uri="{FF2B5EF4-FFF2-40B4-BE49-F238E27FC236}">
                <a16:creationId xmlns:a16="http://schemas.microsoft.com/office/drawing/2014/main" id="{6CE2D188-9341-BDDB-6CBC-FB3E008658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2405063"/>
          <a:ext cx="4775200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22261" imgH="342900" progId="Equation.3">
                  <p:embed/>
                </p:oleObj>
              </mc:Choice>
              <mc:Fallback>
                <p:oleObj r:id="rId3" imgW="1422261" imgH="3429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405063"/>
                        <a:ext cx="4775200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6" name="AutoShape 2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088BD22-D497-6243-7618-BA9CEA9A7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7047" name="AutoShape 2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40CFDF3-DCC7-F0BB-C82C-1E76F2903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7048" name="AutoShape 3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4C49D68-8225-6675-D61B-32057BE34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7049" name="AutoShape 3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9003EB8-009C-03A5-B1AF-EF8C8944E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759840" name="Object 32">
            <a:extLst>
              <a:ext uri="{FF2B5EF4-FFF2-40B4-BE49-F238E27FC236}">
                <a16:creationId xmlns:a16="http://schemas.microsoft.com/office/drawing/2014/main" id="{F67E32BA-725F-2EAD-F07D-5206167926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2275" y="5392738"/>
          <a:ext cx="3887788" cy="130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55535" imgH="342900" progId="Equation.3">
                  <p:embed/>
                </p:oleObj>
              </mc:Choice>
              <mc:Fallback>
                <p:oleObj r:id="rId5" imgW="1155535" imgH="3429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392738"/>
                        <a:ext cx="3887788" cy="1306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3">
            <a:extLst>
              <a:ext uri="{FF2B5EF4-FFF2-40B4-BE49-F238E27FC236}">
                <a16:creationId xmlns:a16="http://schemas.microsoft.com/office/drawing/2014/main" id="{AA08A9AC-0CC1-AF5A-F090-A68D3C60FB00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1341438"/>
            <a:ext cx="5111750" cy="1041400"/>
            <a:chOff x="204" y="1096"/>
            <a:chExt cx="3220" cy="656"/>
          </a:xfrm>
        </p:grpSpPr>
        <p:sp>
          <p:nvSpPr>
            <p:cNvPr id="87074" name="Text Box 34">
              <a:extLst>
                <a:ext uri="{FF2B5EF4-FFF2-40B4-BE49-F238E27FC236}">
                  <a16:creationId xmlns:a16="http://schemas.microsoft.com/office/drawing/2014/main" id="{1393577F-59F6-60A2-A51D-C3C33B603B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096"/>
              <a:ext cx="2993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</a:rPr>
                <a:t>真空中的载流回路 </a:t>
              </a:r>
              <a:r>
                <a:rPr lang="en-US" altLang="zh-CN" b="0" i="1">
                  <a:latin typeface="Times New Roman" panose="02020603050405020304" pitchFamily="18" charset="0"/>
                </a:rPr>
                <a:t>C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 </a:t>
              </a:r>
              <a:r>
                <a:rPr lang="zh-CN" altLang="en-US">
                  <a:latin typeface="Times New Roman" panose="02020603050405020304" pitchFamily="18" charset="0"/>
                </a:rPr>
                <a:t>对载流回路 </a:t>
              </a:r>
              <a:r>
                <a:rPr lang="en-US" altLang="zh-CN" b="0" i="1">
                  <a:latin typeface="Times New Roman" panose="02020603050405020304" pitchFamily="18" charset="0"/>
                </a:rPr>
                <a:t>C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 </a:t>
              </a:r>
              <a:r>
                <a:rPr lang="zh-CN" altLang="en-US">
                  <a:latin typeface="Times New Roman" panose="02020603050405020304" pitchFamily="18" charset="0"/>
                </a:rPr>
                <a:t>的作用力</a:t>
              </a:r>
            </a:p>
          </p:txBody>
        </p:sp>
        <p:sp>
          <p:nvSpPr>
            <p:cNvPr id="87075" name="Oval 35">
              <a:extLst>
                <a:ext uri="{FF2B5EF4-FFF2-40B4-BE49-F238E27FC236}">
                  <a16:creationId xmlns:a16="http://schemas.microsoft.com/office/drawing/2014/main" id="{A3E78715-A912-1757-DD58-7929ABFB76F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4" y="1253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4" name="Group 36">
            <a:extLst>
              <a:ext uri="{FF2B5EF4-FFF2-40B4-BE49-F238E27FC236}">
                <a16:creationId xmlns:a16="http://schemas.microsoft.com/office/drawing/2014/main" id="{C64DFC85-FB63-3092-DDE9-BCCC24B710D6}"/>
              </a:ext>
            </a:extLst>
          </p:cNvPr>
          <p:cNvGrpSpPr>
            <a:grpSpLocks/>
          </p:cNvGrpSpPr>
          <p:nvPr/>
        </p:nvGrpSpPr>
        <p:grpSpPr bwMode="auto">
          <a:xfrm>
            <a:off x="252413" y="3887788"/>
            <a:ext cx="3743325" cy="549275"/>
            <a:chOff x="159" y="2341"/>
            <a:chExt cx="2358" cy="346"/>
          </a:xfrm>
        </p:grpSpPr>
        <p:sp>
          <p:nvSpPr>
            <p:cNvPr id="87072" name="Rectangle 37">
              <a:extLst>
                <a:ext uri="{FF2B5EF4-FFF2-40B4-BE49-F238E27FC236}">
                  <a16:creationId xmlns:a16="http://schemas.microsoft.com/office/drawing/2014/main" id="{7A416F02-5B71-67B1-D0F1-3AE381E49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" y="2341"/>
              <a:ext cx="2358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zh-CN" altLang="en-US">
                  <a:latin typeface="Times New Roman" panose="02020603050405020304" pitchFamily="18" charset="0"/>
                </a:rPr>
                <a:t>其中  </a:t>
              </a:r>
            </a:p>
          </p:txBody>
        </p:sp>
        <p:graphicFrame>
          <p:nvGraphicFramePr>
            <p:cNvPr id="87073" name="Object 38">
              <a:extLst>
                <a:ext uri="{FF2B5EF4-FFF2-40B4-BE49-F238E27FC236}">
                  <a16:creationId xmlns:a16="http://schemas.microsoft.com/office/drawing/2014/main" id="{5A5EE83F-F97A-DC2E-953F-6506C5BD96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08" y="2369"/>
            <a:ext cx="1728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946232" imgH="139654" progId="Equation.3">
                    <p:embed/>
                  </p:oleObj>
                </mc:Choice>
                <mc:Fallback>
                  <p:oleObj r:id="rId7" imgW="946232" imgH="139654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8" y="2369"/>
                          <a:ext cx="1728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39">
            <a:extLst>
              <a:ext uri="{FF2B5EF4-FFF2-40B4-BE49-F238E27FC236}">
                <a16:creationId xmlns:a16="http://schemas.microsoft.com/office/drawing/2014/main" id="{79EA6AB8-E62F-1DCC-738B-8F08CD694C88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4803775"/>
            <a:ext cx="6751638" cy="569913"/>
            <a:chOff x="249" y="3071"/>
            <a:chExt cx="4253" cy="359"/>
          </a:xfrm>
        </p:grpSpPr>
        <p:grpSp>
          <p:nvGrpSpPr>
            <p:cNvPr id="87067" name="Group 40">
              <a:extLst>
                <a:ext uri="{FF2B5EF4-FFF2-40B4-BE49-F238E27FC236}">
                  <a16:creationId xmlns:a16="http://schemas.microsoft.com/office/drawing/2014/main" id="{0FC6C7B3-F58C-5061-F772-7DC92F957F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" y="3071"/>
              <a:ext cx="4060" cy="359"/>
              <a:chOff x="135" y="3028"/>
              <a:chExt cx="4060" cy="359"/>
            </a:xfrm>
          </p:grpSpPr>
          <p:graphicFrame>
            <p:nvGraphicFramePr>
              <p:cNvPr id="87069" name="Object 41">
                <a:extLst>
                  <a:ext uri="{FF2B5EF4-FFF2-40B4-BE49-F238E27FC236}">
                    <a16:creationId xmlns:a16="http://schemas.microsoft.com/office/drawing/2014/main" id="{3E5CCD86-68CE-66CE-AEC6-A8FFDA2B07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8" y="3067"/>
              <a:ext cx="405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203061" imgH="139654" progId="Equation.3">
                      <p:embed/>
                    </p:oleObj>
                  </mc:Choice>
                  <mc:Fallback>
                    <p:oleObj r:id="rId9" imgW="203061" imgH="139654" progId="Equation.3">
                      <p:embed/>
                      <p:pic>
                        <p:nvPicPr>
                          <p:cNvPr id="0" name="Object 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48" y="3067"/>
                            <a:ext cx="405" cy="3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7070" name="Text Box 42">
                <a:extLst>
                  <a:ext uri="{FF2B5EF4-FFF2-40B4-BE49-F238E27FC236}">
                    <a16:creationId xmlns:a16="http://schemas.microsoft.com/office/drawing/2014/main" id="{66E9D1F8-BD03-7745-2EAB-3C235AE1E9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5" y="3028"/>
                <a:ext cx="4060" cy="3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lang="zh-CN" altLang="en-US">
                    <a:latin typeface="Times New Roman" panose="02020603050405020304" pitchFamily="18" charset="0"/>
                  </a:rPr>
                  <a:t>电流元         对电流元           的作用力</a:t>
                </a:r>
              </a:p>
            </p:txBody>
          </p:sp>
          <p:graphicFrame>
            <p:nvGraphicFramePr>
              <p:cNvPr id="87071" name="Object 43">
                <a:extLst>
                  <a:ext uri="{FF2B5EF4-FFF2-40B4-BE49-F238E27FC236}">
                    <a16:creationId xmlns:a16="http://schemas.microsoft.com/office/drawing/2014/main" id="{04DE1170-1D26-11E4-5B0B-93A09BB7D3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987" y="3065"/>
              <a:ext cx="439" cy="3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215961" imgH="139654" progId="Equation.3">
                      <p:embed/>
                    </p:oleObj>
                  </mc:Choice>
                  <mc:Fallback>
                    <p:oleObj r:id="rId11" imgW="215961" imgH="139654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87" y="3065"/>
                            <a:ext cx="439" cy="3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7068" name="Oval 44">
              <a:extLst>
                <a:ext uri="{FF2B5EF4-FFF2-40B4-BE49-F238E27FC236}">
                  <a16:creationId xmlns:a16="http://schemas.microsoft.com/office/drawing/2014/main" id="{274187E5-4E33-7240-39C4-E05D5397F4E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" y="3218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7" name="Group 45">
            <a:extLst>
              <a:ext uri="{FF2B5EF4-FFF2-40B4-BE49-F238E27FC236}">
                <a16:creationId xmlns:a16="http://schemas.microsoft.com/office/drawing/2014/main" id="{0785440A-9695-B25A-7639-17E57612FDB9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4365625"/>
            <a:ext cx="4105275" cy="406400"/>
            <a:chOff x="748" y="2630"/>
            <a:chExt cx="3221" cy="256"/>
          </a:xfrm>
        </p:grpSpPr>
        <p:sp>
          <p:nvSpPr>
            <p:cNvPr id="87065" name="Rectangle 46">
              <a:extLst>
                <a:ext uri="{FF2B5EF4-FFF2-40B4-BE49-F238E27FC236}">
                  <a16:creationId xmlns:a16="http://schemas.microsoft.com/office/drawing/2014/main" id="{65379E0E-4E28-1D94-2B20-54420B3A9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2630"/>
              <a:ext cx="1497" cy="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CC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真空的磁导率</a:t>
              </a:r>
            </a:p>
          </p:txBody>
        </p:sp>
        <p:sp>
          <p:nvSpPr>
            <p:cNvPr id="87066" name="Freeform 47">
              <a:extLst>
                <a:ext uri="{FF2B5EF4-FFF2-40B4-BE49-F238E27FC236}">
                  <a16:creationId xmlns:a16="http://schemas.microsoft.com/office/drawing/2014/main" id="{CA35F5D3-8737-B4B9-2904-92EC99471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2675"/>
              <a:ext cx="1724" cy="136"/>
            </a:xfrm>
            <a:custGeom>
              <a:avLst/>
              <a:gdLst>
                <a:gd name="T0" fmla="*/ 0 w 1633"/>
                <a:gd name="T1" fmla="*/ 0 h 181"/>
                <a:gd name="T2" fmla="*/ 0 w 1633"/>
                <a:gd name="T3" fmla="*/ 102 h 181"/>
                <a:gd name="T4" fmla="*/ 1820 w 1633"/>
                <a:gd name="T5" fmla="*/ 102 h 1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3" h="181">
                  <a:moveTo>
                    <a:pt x="0" y="0"/>
                  </a:moveTo>
                  <a:lnTo>
                    <a:pt x="0" y="181"/>
                  </a:lnTo>
                  <a:lnTo>
                    <a:pt x="1633" y="181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48">
            <a:extLst>
              <a:ext uri="{FF2B5EF4-FFF2-40B4-BE49-F238E27FC236}">
                <a16:creationId xmlns:a16="http://schemas.microsoft.com/office/drawing/2014/main" id="{A04690B3-72DD-2BE8-E20A-D07F0D285CC7}"/>
              </a:ext>
            </a:extLst>
          </p:cNvPr>
          <p:cNvGrpSpPr>
            <a:grpSpLocks/>
          </p:cNvGrpSpPr>
          <p:nvPr/>
        </p:nvGrpSpPr>
        <p:grpSpPr bwMode="auto">
          <a:xfrm>
            <a:off x="992188" y="2325688"/>
            <a:ext cx="7683500" cy="1966912"/>
            <a:chOff x="657" y="1752"/>
            <a:chExt cx="4840" cy="1239"/>
          </a:xfrm>
        </p:grpSpPr>
        <p:cxnSp>
          <p:nvCxnSpPr>
            <p:cNvPr id="87062" name="AutoShape 49">
              <a:extLst>
                <a:ext uri="{FF2B5EF4-FFF2-40B4-BE49-F238E27FC236}">
                  <a16:creationId xmlns:a16="http://schemas.microsoft.com/office/drawing/2014/main" id="{B5E74FD2-CE83-E860-A9C6-49666C416E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3386" y="2016"/>
              <a:ext cx="136" cy="786"/>
            </a:xfrm>
            <a:prstGeom prst="bentConnector2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063" name="Oval 50">
              <a:extLst>
                <a:ext uri="{FF2B5EF4-FFF2-40B4-BE49-F238E27FC236}">
                  <a16:creationId xmlns:a16="http://schemas.microsoft.com/office/drawing/2014/main" id="{714BB855-B031-B745-51C9-CB8380A06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1752"/>
              <a:ext cx="2949" cy="635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87064" name="Text Box 51">
              <a:extLst>
                <a:ext uri="{FF2B5EF4-FFF2-40B4-BE49-F238E27FC236}">
                  <a16:creationId xmlns:a16="http://schemas.microsoft.com/office/drawing/2014/main" id="{9B197896-6140-30F4-C227-7FA8E2610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" y="2341"/>
              <a:ext cx="1755" cy="650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99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安培力定律的积分形式</a:t>
              </a:r>
              <a:r>
                <a:rPr lang="zh-CN" altLang="en-US" sz="2000" b="0">
                  <a:solidFill>
                    <a:srgbClr val="99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表示：</a:t>
              </a:r>
              <a:r>
                <a:rPr lang="zh-CN" altLang="en-US" sz="2000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源</a:t>
              </a:r>
              <a:r>
                <a:rPr lang="en-US" altLang="zh-CN" sz="2000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aseline="-25000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en-US" altLang="zh-CN" sz="2000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dl</a:t>
              </a:r>
              <a:r>
                <a:rPr lang="en-US" altLang="zh-CN" sz="2000" baseline="-25000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r>
                <a:rPr lang="zh-CN" altLang="en-US" sz="2000" b="0">
                  <a:solidFill>
                    <a:srgbClr val="99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对场点处的电流</a:t>
              </a:r>
              <a:r>
                <a:rPr lang="en-US" altLang="zh-CN" sz="2000" b="0">
                  <a:solidFill>
                    <a:srgbClr val="99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r>
                <a:rPr lang="en-US" altLang="zh-CN" sz="2000" b="0" baseline="-25000">
                  <a:solidFill>
                    <a:srgbClr val="99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000" b="0">
                  <a:solidFill>
                    <a:srgbClr val="99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lang="en-US" altLang="zh-CN" sz="2000">
                  <a:solidFill>
                    <a:srgbClr val="99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</a:t>
              </a:r>
              <a:r>
                <a:rPr lang="en-US" altLang="zh-CN" sz="2000" b="0" baseline="-25000">
                  <a:solidFill>
                    <a:srgbClr val="99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zh-CN" altLang="en-US" sz="2000" b="0">
                  <a:solidFill>
                    <a:srgbClr val="99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的作用力</a:t>
              </a:r>
            </a:p>
          </p:txBody>
        </p:sp>
      </p:grpSp>
      <p:grpSp>
        <p:nvGrpSpPr>
          <p:cNvPr id="9" name="Group 52">
            <a:extLst>
              <a:ext uri="{FF2B5EF4-FFF2-40B4-BE49-F238E27FC236}">
                <a16:creationId xmlns:a16="http://schemas.microsoft.com/office/drawing/2014/main" id="{90186DB5-1DFA-07CB-3344-9E916D969640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391150"/>
            <a:ext cx="7488237" cy="1062038"/>
            <a:chOff x="839" y="3430"/>
            <a:chExt cx="4717" cy="635"/>
          </a:xfrm>
        </p:grpSpPr>
        <p:sp>
          <p:nvSpPr>
            <p:cNvPr id="87059" name="Text Box 53">
              <a:extLst>
                <a:ext uri="{FF2B5EF4-FFF2-40B4-BE49-F238E27FC236}">
                  <a16:creationId xmlns:a16="http://schemas.microsoft.com/office/drawing/2014/main" id="{5EC124A0-BA94-46DE-439F-DA9E6E71F1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1" y="3657"/>
              <a:ext cx="1755" cy="252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2000">
                  <a:solidFill>
                    <a:srgbClr val="99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安培力定律的微分形式</a:t>
              </a:r>
            </a:p>
          </p:txBody>
        </p:sp>
        <p:sp>
          <p:nvSpPr>
            <p:cNvPr id="87060" name="Oval 54">
              <a:extLst>
                <a:ext uri="{FF2B5EF4-FFF2-40B4-BE49-F238E27FC236}">
                  <a16:creationId xmlns:a16="http://schemas.microsoft.com/office/drawing/2014/main" id="{F6B15636-2781-1FF2-7B61-ACEFD037F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3430"/>
              <a:ext cx="2631" cy="635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87061" name="Line 55">
              <a:extLst>
                <a:ext uri="{FF2B5EF4-FFF2-40B4-BE49-F238E27FC236}">
                  <a16:creationId xmlns:a16="http://schemas.microsoft.com/office/drawing/2014/main" id="{21409099-642E-0F8C-AB18-1150E46CD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3748"/>
              <a:ext cx="31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646191" name="Object 47">
            <a:extLst>
              <a:ext uri="{FF2B5EF4-FFF2-40B4-BE49-F238E27FC236}">
                <a16:creationId xmlns:a16="http://schemas.microsoft.com/office/drawing/2014/main" id="{16874553-9C83-F1C4-05D2-62FB82BCB7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5500" y="4405313"/>
          <a:ext cx="3059113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870084" imgH="323781" progId="Equation.3">
                  <p:embed/>
                </p:oleObj>
              </mc:Choice>
              <mc:Fallback>
                <p:oleObj r:id="rId13" imgW="870084" imgH="323781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0" y="4405313"/>
                        <a:ext cx="3059113" cy="111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7058" name="Picture 59">
            <a:extLst>
              <a:ext uri="{FF2B5EF4-FFF2-40B4-BE49-F238E27FC236}">
                <a16:creationId xmlns:a16="http://schemas.microsoft.com/office/drawing/2014/main" id="{68D07F18-7BD9-36D7-156D-37B8B3C34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850" y="404813"/>
            <a:ext cx="31051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灯片编号占位符 4">
            <a:extLst>
              <a:ext uri="{FF2B5EF4-FFF2-40B4-BE49-F238E27FC236}">
                <a16:creationId xmlns:a16="http://schemas.microsoft.com/office/drawing/2014/main" id="{E07117BE-046C-A9E3-9B0C-FE98B75806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41E5CC0-E357-4F98-9F8D-2721A5A58A38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9091" name="AutoShape 2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E52C160-1DC1-ECFE-802F-607DC1A41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9092" name="AutoShape 2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B86A8F5-0F51-9623-3077-377E3C00A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9093" name="AutoShape 3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4D54205-8CC6-63F3-1268-CE7A0DFF7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9094" name="AutoShape 3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A78B81BD-1F97-00E2-4428-AB41D00BF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2" name="Group 73">
            <a:extLst>
              <a:ext uri="{FF2B5EF4-FFF2-40B4-BE49-F238E27FC236}">
                <a16:creationId xmlns:a16="http://schemas.microsoft.com/office/drawing/2014/main" id="{AEEDFBEE-32F0-015E-61CA-5B6EEAD4BE7D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476250"/>
            <a:ext cx="2016125" cy="457200"/>
            <a:chOff x="113" y="2614"/>
            <a:chExt cx="1270" cy="288"/>
          </a:xfrm>
        </p:grpSpPr>
        <p:sp>
          <p:nvSpPr>
            <p:cNvPr id="89099" name="Rectangle 74">
              <a:extLst>
                <a:ext uri="{FF2B5EF4-FFF2-40B4-BE49-F238E27FC236}">
                  <a16:creationId xmlns:a16="http://schemas.microsoft.com/office/drawing/2014/main" id="{16EB67D5-D970-7BA1-7A19-B9FD9556B8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614"/>
              <a:ext cx="11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>
                  <a:solidFill>
                    <a:srgbClr val="FFCC66"/>
                  </a:solidFill>
                  <a:ea typeface="宋体" panose="02010600030101010101" pitchFamily="2" charset="-122"/>
                </a:rPr>
                <a:t>说明：</a:t>
              </a:r>
            </a:p>
          </p:txBody>
        </p:sp>
        <p:sp>
          <p:nvSpPr>
            <p:cNvPr id="89100" name="Rectangle 75">
              <a:extLst>
                <a:ext uri="{FF2B5EF4-FFF2-40B4-BE49-F238E27FC236}">
                  <a16:creationId xmlns:a16="http://schemas.microsoft.com/office/drawing/2014/main" id="{1AFE807F-0E19-97F2-7A29-4D0F7E102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704"/>
              <a:ext cx="136" cy="136"/>
            </a:xfrm>
            <a:prstGeom prst="rect">
              <a:avLst/>
            </a:prstGeom>
            <a:gradFill rotWithShape="1">
              <a:gsLst>
                <a:gs pos="0">
                  <a:srgbClr val="5B1818"/>
                </a:gs>
                <a:gs pos="100000">
                  <a:srgbClr val="F03E3E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728140" name="Rectangle 76">
            <a:extLst>
              <a:ext uri="{FF2B5EF4-FFF2-40B4-BE49-F238E27FC236}">
                <a16:creationId xmlns:a16="http://schemas.microsoft.com/office/drawing/2014/main" id="{A3F04FD0-96F2-ADE2-71C1-64BDC7BC6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08050"/>
            <a:ext cx="8243888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en-US" altLang="zh-CN"/>
              <a:t>  </a:t>
            </a:r>
            <a:r>
              <a:rPr lang="zh-CN" altLang="en-US"/>
              <a:t>安培力大小与电流元的取向和距离有关。</a:t>
            </a:r>
            <a:endParaRPr lang="en-US" altLang="zh-CN"/>
          </a:p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zh-CN" altLang="en-US"/>
              <a:t>  安培力的方向由方向由双重叉积决定 。</a:t>
            </a:r>
          </a:p>
          <a:p>
            <a:pPr eaLnBrk="1" hangingPunct="1">
              <a:lnSpc>
                <a:spcPct val="125000"/>
              </a:lnSpc>
              <a:buFontTx/>
              <a:buChar char="•"/>
            </a:pPr>
            <a:endParaRPr lang="zh-CN" altLang="en-US"/>
          </a:p>
          <a:p>
            <a:pPr eaLnBrk="1" hangingPunct="1">
              <a:lnSpc>
                <a:spcPct val="125000"/>
              </a:lnSpc>
              <a:buFontTx/>
              <a:buChar char="•"/>
            </a:pPr>
            <a:endParaRPr lang="zh-CN" altLang="en-US"/>
          </a:p>
          <a:p>
            <a:pPr eaLnBrk="1" hangingPunct="1">
              <a:lnSpc>
                <a:spcPct val="125000"/>
              </a:lnSpc>
              <a:buFontTx/>
              <a:buChar char="•"/>
            </a:pPr>
            <a:endParaRPr lang="zh-CN" altLang="en-US"/>
          </a:p>
          <a:p>
            <a:pPr eaLnBrk="1" hangingPunct="1">
              <a:lnSpc>
                <a:spcPct val="125000"/>
              </a:lnSpc>
              <a:buFontTx/>
              <a:buChar char="•"/>
            </a:pPr>
            <a:endParaRPr lang="zh-CN" altLang="en-US"/>
          </a:p>
          <a:p>
            <a:pPr eaLnBrk="1" hangingPunct="1">
              <a:lnSpc>
                <a:spcPct val="125000"/>
              </a:lnSpc>
              <a:buFontTx/>
              <a:buChar char="•"/>
            </a:pPr>
            <a:endParaRPr lang="zh-CN" altLang="en-US"/>
          </a:p>
          <a:p>
            <a:pPr eaLnBrk="1" hangingPunct="1">
              <a:lnSpc>
                <a:spcPct val="125000"/>
              </a:lnSpc>
              <a:buFontTx/>
              <a:buChar char="•"/>
            </a:pPr>
            <a:endParaRPr lang="zh-CN" altLang="en-US"/>
          </a:p>
          <a:p>
            <a:pPr eaLnBrk="1" hangingPunct="1">
              <a:lnSpc>
                <a:spcPct val="125000"/>
              </a:lnSpc>
            </a:pPr>
            <a:endParaRPr lang="en-US" altLang="zh-CN"/>
          </a:p>
        </p:txBody>
      </p:sp>
      <p:graphicFrame>
        <p:nvGraphicFramePr>
          <p:cNvPr id="728240" name="Object 176">
            <a:extLst>
              <a:ext uri="{FF2B5EF4-FFF2-40B4-BE49-F238E27FC236}">
                <a16:creationId xmlns:a16="http://schemas.microsoft.com/office/drawing/2014/main" id="{81E97DF4-DDE1-DD23-9342-938AB546F47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1619250" y="4586288"/>
          <a:ext cx="5021263" cy="129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22261" imgH="342900" progId="Equation.3">
                  <p:embed/>
                </p:oleObj>
              </mc:Choice>
              <mc:Fallback>
                <p:oleObj r:id="rId3" imgW="1422261" imgH="342900" progId="Equation.3">
                  <p:embed/>
                  <p:pic>
                    <p:nvPicPr>
                      <p:cNvPr id="0" name="Object 17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586288"/>
                        <a:ext cx="5021263" cy="129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9098" name="图片 2">
            <a:extLst>
              <a:ext uri="{FF2B5EF4-FFF2-40B4-BE49-F238E27FC236}">
                <a16:creationId xmlns:a16="http://schemas.microsoft.com/office/drawing/2014/main" id="{882448F7-6AC8-7CEF-D0CE-B336DE711A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063" y="2000250"/>
            <a:ext cx="4465637" cy="257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灯片编号占位符 2">
            <a:extLst>
              <a:ext uri="{FF2B5EF4-FFF2-40B4-BE49-F238E27FC236}">
                <a16:creationId xmlns:a16="http://schemas.microsoft.com/office/drawing/2014/main" id="{6C09D7A6-F999-C268-5094-DE0859B31F2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5FC3A11-B07A-4302-9F73-2C0F148C7427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4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1139" name="AutoShape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67E529F-D5E0-44B7-E834-4C98CB596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1140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8CFFC97-7F0D-1582-4A2B-391FF62B6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1141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D6730B2-0CB5-5A15-157C-8E3502792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1142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C9A1B89-1762-EBC7-9D11-62BF103DC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6D1B4A0F-C58A-F8AA-DB8B-D072359BE170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476250"/>
            <a:ext cx="2016125" cy="457200"/>
            <a:chOff x="113" y="2614"/>
            <a:chExt cx="1270" cy="288"/>
          </a:xfrm>
        </p:grpSpPr>
        <p:sp>
          <p:nvSpPr>
            <p:cNvPr id="91149" name="Rectangle 7">
              <a:extLst>
                <a:ext uri="{FF2B5EF4-FFF2-40B4-BE49-F238E27FC236}">
                  <a16:creationId xmlns:a16="http://schemas.microsoft.com/office/drawing/2014/main" id="{4FB67400-7972-C295-FF59-9334DC2BE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614"/>
              <a:ext cx="11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>
                  <a:solidFill>
                    <a:srgbClr val="FFCC66"/>
                  </a:solidFill>
                  <a:ea typeface="宋体" panose="02010600030101010101" pitchFamily="2" charset="-122"/>
                </a:rPr>
                <a:t>说明：</a:t>
              </a:r>
            </a:p>
          </p:txBody>
        </p:sp>
        <p:sp>
          <p:nvSpPr>
            <p:cNvPr id="91150" name="Rectangle 8">
              <a:extLst>
                <a:ext uri="{FF2B5EF4-FFF2-40B4-BE49-F238E27FC236}">
                  <a16:creationId xmlns:a16="http://schemas.microsoft.com/office/drawing/2014/main" id="{03D4EBE3-50CA-AA03-75E8-F51EF044C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704"/>
              <a:ext cx="136" cy="136"/>
            </a:xfrm>
            <a:prstGeom prst="rect">
              <a:avLst/>
            </a:prstGeom>
            <a:gradFill rotWithShape="1">
              <a:gsLst>
                <a:gs pos="0">
                  <a:srgbClr val="5B1818"/>
                </a:gs>
                <a:gs pos="100000">
                  <a:srgbClr val="F03E3E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991241" name="Rectangle 9">
            <a:extLst>
              <a:ext uri="{FF2B5EF4-FFF2-40B4-BE49-F238E27FC236}">
                <a16:creationId xmlns:a16="http://schemas.microsoft.com/office/drawing/2014/main" id="{CC3FE0F1-EA2E-B78C-ADEE-90E8F6766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08050"/>
            <a:ext cx="82438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en-US" altLang="zh-CN" dirty="0"/>
              <a:t> </a:t>
            </a:r>
            <a:r>
              <a:rPr lang="zh-CN" altLang="en-US" dirty="0"/>
              <a:t>两个电流元之间的相互作用力不一定符合牛顿第三定律；但两个闭合回路积分后的相互作用力一定符合牛顿第三定律。 </a:t>
            </a:r>
          </a:p>
        </p:txBody>
      </p:sp>
      <p:pic>
        <p:nvPicPr>
          <p:cNvPr id="91146" name="Picture 41">
            <a:extLst>
              <a:ext uri="{FF2B5EF4-FFF2-40B4-BE49-F238E27FC236}">
                <a16:creationId xmlns:a16="http://schemas.microsoft.com/office/drawing/2014/main" id="{639715A2-8D84-0C82-4D92-FBF0EB912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4654550"/>
            <a:ext cx="1944687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7" name="Picture 42">
            <a:extLst>
              <a:ext uri="{FF2B5EF4-FFF2-40B4-BE49-F238E27FC236}">
                <a16:creationId xmlns:a16="http://schemas.microsoft.com/office/drawing/2014/main" id="{2021C97B-7879-B4A7-E3F9-02419D6F1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4659313"/>
            <a:ext cx="3455988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91275" name="Object 43">
            <a:extLst>
              <a:ext uri="{FF2B5EF4-FFF2-40B4-BE49-F238E27FC236}">
                <a16:creationId xmlns:a16="http://schemas.microsoft.com/office/drawing/2014/main" id="{CA60F978-4DCE-88B7-628B-16C0585D3F43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107950" y="5445125"/>
          <a:ext cx="8669338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984335" imgH="342900" progId="Equation.3">
                  <p:embed/>
                </p:oleObj>
              </mc:Choice>
              <mc:Fallback>
                <p:oleObj r:id="rId5" imgW="2984335" imgH="342900" progId="Equation.3">
                  <p:embed/>
                  <p:pic>
                    <p:nvPicPr>
                      <p:cNvPr id="0" name="Object 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5445125"/>
                        <a:ext cx="8669338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1447E75A-3804-99D1-46FA-BF9A8A7834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302" y="2152430"/>
            <a:ext cx="7901012" cy="2549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灯片编号占位符 2">
            <a:extLst>
              <a:ext uri="{FF2B5EF4-FFF2-40B4-BE49-F238E27FC236}">
                <a16:creationId xmlns:a16="http://schemas.microsoft.com/office/drawing/2014/main" id="{B53F753A-DE96-B5CF-792C-4B038ADC9A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0A3DEFD-5AAB-4D6E-A316-327544ECA1C7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5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0736424E-91D7-4FB3-CED3-7D5B5EFFB9D8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04813"/>
            <a:ext cx="8062913" cy="576262"/>
            <a:chOff x="158" y="255"/>
            <a:chExt cx="5079" cy="363"/>
          </a:xfrm>
        </p:grpSpPr>
        <p:sp>
          <p:nvSpPr>
            <p:cNvPr id="93222" name="Rectangle 3">
              <a:extLst>
                <a:ext uri="{FF2B5EF4-FFF2-40B4-BE49-F238E27FC236}">
                  <a16:creationId xmlns:a16="http://schemas.microsoft.com/office/drawing/2014/main" id="{A78C0D3E-77F0-0790-D137-F97BC29E7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255"/>
              <a:ext cx="507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>
                  <a:solidFill>
                    <a:srgbClr val="F8A6A6"/>
                  </a:solidFill>
                  <a:latin typeface="Times New Roman" panose="02020603050405020304" pitchFamily="18" charset="0"/>
                </a:rPr>
                <a:t>2.   </a:t>
              </a:r>
              <a:r>
                <a:rPr lang="zh-CN" altLang="en-US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磁感应强度</a:t>
              </a:r>
              <a:r>
                <a:rPr lang="zh-CN" altLang="en-US" sz="2000">
                  <a:latin typeface="幼圆" panose="02010509060101010101" pitchFamily="49" charset="-122"/>
                  <a:ea typeface="幼圆" panose="02010509060101010101" pitchFamily="49" charset="-122"/>
                </a:rPr>
                <a:t> 	</a:t>
              </a:r>
              <a:endParaRPr lang="zh-CN" altLang="en-US" sz="2000">
                <a:latin typeface="楷体_GB2312" pitchFamily="49" charset="-122"/>
              </a:endParaRPr>
            </a:p>
          </p:txBody>
        </p:sp>
        <p:graphicFrame>
          <p:nvGraphicFramePr>
            <p:cNvPr id="93223" name="Object 4">
              <a:extLst>
                <a:ext uri="{FF2B5EF4-FFF2-40B4-BE49-F238E27FC236}">
                  <a16:creationId xmlns:a16="http://schemas.microsoft.com/office/drawing/2014/main" id="{7E106E11-71F1-3396-5BBB-3C458CCD642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4" y="316"/>
            <a:ext cx="225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69906" imgH="114300" progId="Equation.DSMT4">
                    <p:embed/>
                  </p:oleObj>
                </mc:Choice>
                <mc:Fallback>
                  <p:oleObj r:id="rId3" imgW="69906" imgH="1143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4" y="316"/>
                          <a:ext cx="225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188" name="AutoShape 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F45656A-9C60-C32D-4E93-9D720DEB6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3189" name="AutoShape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AC56EDD-9695-0E68-7468-AA3969A71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3190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6D58860-C82B-499A-F6B4-5804A11E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3191" name="AutoShape 1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88054303-8CA4-C6A9-6FAB-F3506E194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29100" name="Text Box 12">
            <a:extLst>
              <a:ext uri="{FF2B5EF4-FFF2-40B4-BE49-F238E27FC236}">
                <a16:creationId xmlns:a16="http://schemas.microsoft.com/office/drawing/2014/main" id="{B33C4670-72FE-C614-B3F0-CA9D5DBAF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786438"/>
            <a:ext cx="489585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lang="zh-CN" altLang="en-US">
                <a:solidFill>
                  <a:srgbClr val="FFD9D9"/>
                </a:solidFill>
                <a:ea typeface="宋体" panose="02010600030101010101" pitchFamily="2" charset="-122"/>
              </a:rPr>
              <a:t>单位</a:t>
            </a:r>
            <a:r>
              <a:rPr lang="zh-CN" altLang="en-US"/>
              <a:t>：</a:t>
            </a:r>
            <a:r>
              <a:rPr lang="en-US" altLang="zh-CN">
                <a:latin typeface="Times New Roman" panose="02020603050405020304" pitchFamily="18" charset="0"/>
              </a:rPr>
              <a:t>T</a:t>
            </a:r>
            <a:r>
              <a:rPr lang="zh-CN" altLang="en-US"/>
              <a:t>（特斯拉）</a:t>
            </a:r>
          </a:p>
        </p:txBody>
      </p:sp>
      <p:grpSp>
        <p:nvGrpSpPr>
          <p:cNvPr id="3" name="Group 13">
            <a:extLst>
              <a:ext uri="{FF2B5EF4-FFF2-40B4-BE49-F238E27FC236}">
                <a16:creationId xmlns:a16="http://schemas.microsoft.com/office/drawing/2014/main" id="{04E98293-395C-8842-6650-7AE98325FE41}"/>
              </a:ext>
            </a:extLst>
          </p:cNvPr>
          <p:cNvGrpSpPr>
            <a:grpSpLocks/>
          </p:cNvGrpSpPr>
          <p:nvPr/>
        </p:nvGrpSpPr>
        <p:grpSpPr bwMode="auto">
          <a:xfrm>
            <a:off x="-793" y="1042244"/>
            <a:ext cx="5545137" cy="500062"/>
            <a:chOff x="249" y="1707"/>
            <a:chExt cx="3493" cy="315"/>
          </a:xfrm>
        </p:grpSpPr>
        <p:grpSp>
          <p:nvGrpSpPr>
            <p:cNvPr id="93218" name="Group 14">
              <a:extLst>
                <a:ext uri="{FF2B5EF4-FFF2-40B4-BE49-F238E27FC236}">
                  <a16:creationId xmlns:a16="http://schemas.microsoft.com/office/drawing/2014/main" id="{B8CA5732-7DA8-E727-E299-F1B917C8FD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1707"/>
              <a:ext cx="3493" cy="315"/>
              <a:chOff x="204" y="1344"/>
              <a:chExt cx="3493" cy="315"/>
            </a:xfrm>
          </p:grpSpPr>
          <p:sp>
            <p:nvSpPr>
              <p:cNvPr id="93220" name="Text Box 15">
                <a:extLst>
                  <a:ext uri="{FF2B5EF4-FFF2-40B4-BE49-F238E27FC236}">
                    <a16:creationId xmlns:a16="http://schemas.microsoft.com/office/drawing/2014/main" id="{4125F8C5-7856-F909-EE1D-2712E7C035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4" y="1371"/>
                <a:ext cx="349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tabLst>
                    <a:tab pos="0" algn="l"/>
                  </a:tabLs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tabLst>
                    <a:tab pos="0" algn="l"/>
                  </a:tabLs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tabLst>
                    <a:tab pos="0" algn="l"/>
                  </a:tabLs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tabLst>
                    <a:tab pos="0" algn="l"/>
                  </a:tabLs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tabLst>
                    <a:tab pos="0" algn="l"/>
                  </a:tabLs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</a:tabLs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 typeface="Wingdings" panose="05000000000000000000" pitchFamily="2" charset="2"/>
                  <a:buNone/>
                </a:pPr>
                <a:r>
                  <a:rPr lang="en-US" altLang="zh-CN" dirty="0">
                    <a:latin typeface="Times New Roman" panose="02020603050405020304" pitchFamily="18" charset="0"/>
                  </a:rPr>
                  <a:t>     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电流元      产生的安培力</a:t>
                </a:r>
              </a:p>
            </p:txBody>
          </p:sp>
          <p:graphicFrame>
            <p:nvGraphicFramePr>
              <p:cNvPr id="93221" name="Object 16">
                <a:extLst>
                  <a:ext uri="{FF2B5EF4-FFF2-40B4-BE49-F238E27FC236}">
                    <a16:creationId xmlns:a16="http://schemas.microsoft.com/office/drawing/2014/main" id="{4E582F41-A2E4-2D8D-A385-8C460D3A2F4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12" y="1344"/>
              <a:ext cx="317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171437" imgH="120535" progId="Equation.DSMT4">
                      <p:embed/>
                    </p:oleObj>
                  </mc:Choice>
                  <mc:Fallback>
                    <p:oleObj r:id="rId5" imgW="171437" imgH="120535" progId="Equation.DSMT4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2" y="1344"/>
                            <a:ext cx="317" cy="2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3219" name="Oval 17">
              <a:extLst>
                <a:ext uri="{FF2B5EF4-FFF2-40B4-BE49-F238E27FC236}">
                  <a16:creationId xmlns:a16="http://schemas.microsoft.com/office/drawing/2014/main" id="{E426E807-556E-36B4-EBD2-6D74F10DD05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" y="1843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729106" name="Object 18">
            <a:extLst>
              <a:ext uri="{FF2B5EF4-FFF2-40B4-BE49-F238E27FC236}">
                <a16:creationId xmlns:a16="http://schemas.microsoft.com/office/drawing/2014/main" id="{D1075F49-C2EB-17F8-1D02-F00D266FBF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4238" y="1749425"/>
          <a:ext cx="3687762" cy="1266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168435" imgH="355785" progId="Equation.3">
                  <p:embed/>
                </p:oleObj>
              </mc:Choice>
              <mc:Fallback>
                <p:oleObj r:id="rId7" imgW="1168435" imgH="355785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1749425"/>
                        <a:ext cx="3687762" cy="1266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9">
            <a:extLst>
              <a:ext uri="{FF2B5EF4-FFF2-40B4-BE49-F238E27FC236}">
                <a16:creationId xmlns:a16="http://schemas.microsoft.com/office/drawing/2014/main" id="{FFDAF5C3-B180-D8F9-709A-6602CCAFAB6C}"/>
              </a:ext>
            </a:extLst>
          </p:cNvPr>
          <p:cNvGrpSpPr>
            <a:grpSpLocks/>
          </p:cNvGrpSpPr>
          <p:nvPr/>
        </p:nvGrpSpPr>
        <p:grpSpPr bwMode="auto">
          <a:xfrm>
            <a:off x="5228035" y="705443"/>
            <a:ext cx="3168650" cy="2879725"/>
            <a:chOff x="3424" y="1571"/>
            <a:chExt cx="1996" cy="1814"/>
          </a:xfrm>
        </p:grpSpPr>
        <p:sp>
          <p:nvSpPr>
            <p:cNvPr id="93200" name="Rectangle 20">
              <a:extLst>
                <a:ext uri="{FF2B5EF4-FFF2-40B4-BE49-F238E27FC236}">
                  <a16:creationId xmlns:a16="http://schemas.microsoft.com/office/drawing/2014/main" id="{20692D03-C0A4-B4D7-8ABC-BCB4E57FA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571"/>
              <a:ext cx="1996" cy="181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93201" name="Line 21">
              <a:extLst>
                <a:ext uri="{FF2B5EF4-FFF2-40B4-BE49-F238E27FC236}">
                  <a16:creationId xmlns:a16="http://schemas.microsoft.com/office/drawing/2014/main" id="{FE221468-939C-FAB5-4A6D-7018FCE3E8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1" y="1876"/>
              <a:ext cx="0" cy="96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2" name="Line 22">
              <a:extLst>
                <a:ext uri="{FF2B5EF4-FFF2-40B4-BE49-F238E27FC236}">
                  <a16:creationId xmlns:a16="http://schemas.microsoft.com/office/drawing/2014/main" id="{5C5681C4-1A74-33C0-87E9-4D1D48A1FF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59" y="2837"/>
              <a:ext cx="422" cy="33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3203" name="Object 23">
              <a:extLst>
                <a:ext uri="{FF2B5EF4-FFF2-40B4-BE49-F238E27FC236}">
                  <a16:creationId xmlns:a16="http://schemas.microsoft.com/office/drawing/2014/main" id="{64259B68-CA33-5245-3C86-0C2E05FDE2E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45" y="2868"/>
            <a:ext cx="20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0765" imgH="82712" progId="Equation.DSMT4">
                    <p:embed/>
                  </p:oleObj>
                </mc:Choice>
                <mc:Fallback>
                  <p:oleObj r:id="rId9" imgW="50765" imgH="82712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" y="2868"/>
                          <a:ext cx="20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4" name="Object 24">
              <a:extLst>
                <a:ext uri="{FF2B5EF4-FFF2-40B4-BE49-F238E27FC236}">
                  <a16:creationId xmlns:a16="http://schemas.microsoft.com/office/drawing/2014/main" id="{C1657700-2DE2-DC69-C538-B98EF086CC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59" y="3176"/>
            <a:ext cx="18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44524" imgH="50708" progId="Equation.DSMT4">
                    <p:embed/>
                  </p:oleObj>
                </mc:Choice>
                <mc:Fallback>
                  <p:oleObj r:id="rId11" imgW="44524" imgH="50708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9" y="3176"/>
                          <a:ext cx="18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5" name="Object 25">
              <a:extLst>
                <a:ext uri="{FF2B5EF4-FFF2-40B4-BE49-F238E27FC236}">
                  <a16:creationId xmlns:a16="http://schemas.microsoft.com/office/drawing/2014/main" id="{621C2CAC-1E03-5FD3-2054-65CCD0B4BD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08" y="1802"/>
            <a:ext cx="211" cy="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44524" imgH="50708" progId="Equation.DSMT4">
                    <p:embed/>
                  </p:oleObj>
                </mc:Choice>
                <mc:Fallback>
                  <p:oleObj r:id="rId13" imgW="44524" imgH="50708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8" y="1802"/>
                          <a:ext cx="211" cy="1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6" name="Object 26">
              <a:extLst>
                <a:ext uri="{FF2B5EF4-FFF2-40B4-BE49-F238E27FC236}">
                  <a16:creationId xmlns:a16="http://schemas.microsoft.com/office/drawing/2014/main" id="{6A45AEE1-5381-F9DD-61D0-92E84651A7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7" y="2831"/>
            <a:ext cx="187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44524" imgH="50708" progId="Equation.DSMT4">
                    <p:embed/>
                  </p:oleObj>
                </mc:Choice>
                <mc:Fallback>
                  <p:oleObj r:id="rId15" imgW="44524" imgH="50708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7" y="2831"/>
                          <a:ext cx="187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7" name="Object 27">
              <a:extLst>
                <a:ext uri="{FF2B5EF4-FFF2-40B4-BE49-F238E27FC236}">
                  <a16:creationId xmlns:a16="http://schemas.microsoft.com/office/drawing/2014/main" id="{54776CA7-F7CF-D2AF-E0F4-C09B082868F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9" y="2307"/>
            <a:ext cx="22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69906" imgH="82712" progId="Equation.DSMT4">
                    <p:embed/>
                  </p:oleObj>
                </mc:Choice>
                <mc:Fallback>
                  <p:oleObj r:id="rId17" imgW="69906" imgH="82712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307"/>
                          <a:ext cx="22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08" name="Object 28">
              <a:extLst>
                <a:ext uri="{FF2B5EF4-FFF2-40B4-BE49-F238E27FC236}">
                  <a16:creationId xmlns:a16="http://schemas.microsoft.com/office/drawing/2014/main" id="{7164FA15-93F5-D2B9-86D8-CEA990D00B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0" y="1933"/>
            <a:ext cx="374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171437" imgH="120535" progId="Equation.DSMT4">
                    <p:embed/>
                  </p:oleObj>
                </mc:Choice>
                <mc:Fallback>
                  <p:oleObj r:id="rId19" imgW="171437" imgH="120535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933"/>
                          <a:ext cx="374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09" name="Line 29">
              <a:extLst>
                <a:ext uri="{FF2B5EF4-FFF2-40B4-BE49-F238E27FC236}">
                  <a16:creationId xmlns:a16="http://schemas.microsoft.com/office/drawing/2014/main" id="{604E4F8C-D9B5-FAED-DD02-A00E07C653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1" y="2296"/>
              <a:ext cx="351" cy="54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0" name="Line 30">
              <a:extLst>
                <a:ext uri="{FF2B5EF4-FFF2-40B4-BE49-F238E27FC236}">
                  <a16:creationId xmlns:a16="http://schemas.microsoft.com/office/drawing/2014/main" id="{EEF38933-7EEF-A5FA-3691-7DFF0BF7A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2" y="2260"/>
              <a:ext cx="1031" cy="586"/>
            </a:xfrm>
            <a:prstGeom prst="line">
              <a:avLst/>
            </a:prstGeom>
            <a:noFill/>
            <a:ln w="9525">
              <a:solidFill>
                <a:srgbClr val="8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1" name="Line 31">
              <a:extLst>
                <a:ext uri="{FF2B5EF4-FFF2-40B4-BE49-F238E27FC236}">
                  <a16:creationId xmlns:a16="http://schemas.microsoft.com/office/drawing/2014/main" id="{EB42855A-DF03-6020-B5F4-84C903A35B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2251"/>
              <a:ext cx="635" cy="45"/>
            </a:xfrm>
            <a:prstGeom prst="line">
              <a:avLst/>
            </a:prstGeom>
            <a:noFill/>
            <a:ln w="12700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3212" name="Object 32">
              <a:extLst>
                <a:ext uri="{FF2B5EF4-FFF2-40B4-BE49-F238E27FC236}">
                  <a16:creationId xmlns:a16="http://schemas.microsoft.com/office/drawing/2014/main" id="{3EE46ED2-0A10-8F8A-A242-EC5D2CA8A2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9" y="2508"/>
            <a:ext cx="182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44524" imgH="82712" progId="Equation.DSMT4">
                    <p:embed/>
                  </p:oleObj>
                </mc:Choice>
                <mc:Fallback>
                  <p:oleObj r:id="rId21" imgW="44524" imgH="82712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9" y="2508"/>
                          <a:ext cx="182" cy="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213" name="Object 33">
              <a:extLst>
                <a:ext uri="{FF2B5EF4-FFF2-40B4-BE49-F238E27FC236}">
                  <a16:creationId xmlns:a16="http://schemas.microsoft.com/office/drawing/2014/main" id="{69AB95FE-0E86-4A68-53EF-7FE3199455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8" y="2024"/>
            <a:ext cx="226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69906" imgH="114300" progId="Equation.DSMT4">
                    <p:embed/>
                  </p:oleObj>
                </mc:Choice>
                <mc:Fallback>
                  <p:oleObj r:id="rId23" imgW="69906" imgH="1143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2024"/>
                          <a:ext cx="226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14" name="Line 34">
              <a:extLst>
                <a:ext uri="{FF2B5EF4-FFF2-40B4-BE49-F238E27FC236}">
                  <a16:creationId xmlns:a16="http://schemas.microsoft.com/office/drawing/2014/main" id="{652D27D5-5093-6CEE-BA44-AC1786ED89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00000" flipH="1" flipV="1">
              <a:off x="4241" y="2179"/>
              <a:ext cx="158" cy="20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3215" name="Object 35">
              <a:extLst>
                <a:ext uri="{FF2B5EF4-FFF2-40B4-BE49-F238E27FC236}">
                  <a16:creationId xmlns:a16="http://schemas.microsoft.com/office/drawing/2014/main" id="{AD69EC0B-3662-AE3E-9922-D60BC7A338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18" y="2117"/>
            <a:ext cx="249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107772" imgH="82712" progId="Equation.DSMT4">
                    <p:embed/>
                  </p:oleObj>
                </mc:Choice>
                <mc:Fallback>
                  <p:oleObj r:id="rId25" imgW="107772" imgH="82712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8" y="2117"/>
                          <a:ext cx="249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216" name="Oval 36">
              <a:extLst>
                <a:ext uri="{FF2B5EF4-FFF2-40B4-BE49-F238E27FC236}">
                  <a16:creationId xmlns:a16="http://schemas.microsoft.com/office/drawing/2014/main" id="{1237B937-B1C5-DA7A-BC8B-DB2DE0106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6" y="2215"/>
              <a:ext cx="46" cy="45"/>
            </a:xfrm>
            <a:prstGeom prst="ellipse">
              <a:avLst/>
            </a:prstGeom>
            <a:solidFill>
              <a:srgbClr val="800000"/>
            </a:solidFill>
            <a:ln w="9525">
              <a:solidFill>
                <a:srgbClr val="8000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93217" name="Line 37">
              <a:extLst>
                <a:ext uri="{FF2B5EF4-FFF2-40B4-BE49-F238E27FC236}">
                  <a16:creationId xmlns:a16="http://schemas.microsoft.com/office/drawing/2014/main" id="{F8D02649-B5F9-F76C-3718-A906DC5AF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2840"/>
              <a:ext cx="1134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3196" name="AutoShape 41">
            <a:extLst>
              <a:ext uri="{FF2B5EF4-FFF2-40B4-BE49-F238E27FC236}">
                <a16:creationId xmlns:a16="http://schemas.microsoft.com/office/drawing/2014/main" id="{9DA7E583-82A5-4F7F-456F-D80503E80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884407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FFD9D9"/>
          </a:solidFill>
          <a:ln w="9525">
            <a:solidFill>
              <a:srgbClr val="9933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729130" name="Object 42">
            <a:extLst>
              <a:ext uri="{FF2B5EF4-FFF2-40B4-BE49-F238E27FC236}">
                <a16:creationId xmlns:a16="http://schemas.microsoft.com/office/drawing/2014/main" id="{3BB6E1F6-7036-DE2F-77D1-1D1F7603EC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4624388"/>
          <a:ext cx="3516312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1104770" imgH="342900" progId="Equation.3">
                  <p:embed/>
                </p:oleObj>
              </mc:Choice>
              <mc:Fallback>
                <p:oleObj r:id="rId27" imgW="1104770" imgH="342900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624388"/>
                        <a:ext cx="3516312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3198" name="Picture 45">
            <a:extLst>
              <a:ext uri="{FF2B5EF4-FFF2-40B4-BE49-F238E27FC236}">
                <a16:creationId xmlns:a16="http://schemas.microsoft.com/office/drawing/2014/main" id="{E7F316D5-9FDA-5D8C-DA9A-ECDB94A4D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998" y="3708993"/>
            <a:ext cx="4048125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Object 18">
            <a:extLst>
              <a:ext uri="{FF2B5EF4-FFF2-40B4-BE49-F238E27FC236}">
                <a16:creationId xmlns:a16="http://schemas.microsoft.com/office/drawing/2014/main" id="{20C2D215-F5AF-A7F2-6429-96635EA218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951913"/>
              </p:ext>
            </p:extLst>
          </p:nvPr>
        </p:nvGraphicFramePr>
        <p:xfrm>
          <a:off x="1440657" y="3475625"/>
          <a:ext cx="230505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704889" imgH="342900" progId="Equation.3">
                  <p:embed/>
                </p:oleObj>
              </mc:Choice>
              <mc:Fallback>
                <p:oleObj r:id="rId30" imgW="704889" imgH="3429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0657" y="3475625"/>
                        <a:ext cx="2305050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B25AE0E-1E60-107D-92EF-3CF60E2C1FE2}"/>
              </a:ext>
            </a:extLst>
          </p:cNvPr>
          <p:cNvSpPr txBox="1"/>
          <p:nvPr/>
        </p:nvSpPr>
        <p:spPr>
          <a:xfrm>
            <a:off x="343768" y="2931773"/>
            <a:ext cx="45861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C000"/>
                </a:solidFill>
                <a:latin typeface="Times New Roman" panose="02020603050405020304" pitchFamily="18" charset="0"/>
              </a:rPr>
              <a:t>毕奥</a:t>
            </a:r>
            <a:r>
              <a:rPr lang="en-US" altLang="zh-CN" dirty="0">
                <a:solidFill>
                  <a:srgbClr val="FFC000"/>
                </a:solidFill>
                <a:latin typeface="Times New Roman" panose="02020603050405020304" pitchFamily="18" charset="0"/>
              </a:rPr>
              <a:t>-</a:t>
            </a:r>
            <a:r>
              <a:rPr lang="zh-CN" altLang="en-US" dirty="0">
                <a:solidFill>
                  <a:srgbClr val="FFC000"/>
                </a:solidFill>
                <a:latin typeface="Times New Roman" panose="02020603050405020304" pitchFamily="18" charset="0"/>
              </a:rPr>
              <a:t>萨伐尔定律</a:t>
            </a:r>
            <a:r>
              <a:rPr lang="zh-CN" altLang="en-US" dirty="0">
                <a:latin typeface="Times New Roman" panose="02020603050405020304" pitchFamily="18" charset="0"/>
              </a:rPr>
              <a:t>（微分形式）</a:t>
            </a:r>
          </a:p>
        </p:txBody>
      </p:sp>
      <p:sp>
        <p:nvSpPr>
          <p:cNvPr id="8" name="Oval 17">
            <a:extLst>
              <a:ext uri="{FF2B5EF4-FFF2-40B4-BE49-F238E27FC236}">
                <a16:creationId xmlns:a16="http://schemas.microsoft.com/office/drawing/2014/main" id="{3E0F478E-E183-90C5-AE89-6EA159713E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1606" y="3062592"/>
            <a:ext cx="198437" cy="200025"/>
          </a:xfrm>
          <a:prstGeom prst="ellipse">
            <a:avLst/>
          </a:prstGeom>
          <a:gradFill rotWithShape="1">
            <a:gsLst>
              <a:gs pos="0">
                <a:srgbClr val="F60000"/>
              </a:gs>
              <a:gs pos="100000">
                <a:srgbClr val="FF99CC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7E554C27-8BA4-E2AD-D5C7-880294906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63536"/>
            <a:ext cx="9143999" cy="60486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3">
            <a:extLst>
              <a:ext uri="{FF2B5EF4-FFF2-40B4-BE49-F238E27FC236}">
                <a16:creationId xmlns:a16="http://schemas.microsoft.com/office/drawing/2014/main" id="{FC1AE833-5F0A-3EB7-1E2D-7D563682F1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0A5E5CD-52F7-4313-B6FF-C2EC0F3BE2B8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7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31138" name="Rectangle 2">
            <a:extLst>
              <a:ext uri="{FF2B5EF4-FFF2-40B4-BE49-F238E27FC236}">
                <a16:creationId xmlns:a16="http://schemas.microsoft.com/office/drawing/2014/main" id="{E729A6FD-1263-059A-EDAA-E0D28AD4A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692150"/>
            <a:ext cx="5616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67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3.  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几种典型电流分布的磁感应强度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4F83590-2143-1137-7FFF-D52870AFE197}"/>
              </a:ext>
            </a:extLst>
          </p:cNvPr>
          <p:cNvGrpSpPr>
            <a:grpSpLocks/>
          </p:cNvGrpSpPr>
          <p:nvPr/>
        </p:nvGrpSpPr>
        <p:grpSpPr bwMode="auto">
          <a:xfrm>
            <a:off x="922338" y="2033588"/>
            <a:ext cx="5592762" cy="819150"/>
            <a:chOff x="581" y="1117"/>
            <a:chExt cx="3523" cy="516"/>
          </a:xfrm>
        </p:grpSpPr>
        <p:graphicFrame>
          <p:nvGraphicFramePr>
            <p:cNvPr id="97319" name="Object 5">
              <a:extLst>
                <a:ext uri="{FF2B5EF4-FFF2-40B4-BE49-F238E27FC236}">
                  <a16:creationId xmlns:a16="http://schemas.microsoft.com/office/drawing/2014/main" id="{C0C3773C-F53C-A4A7-5BB9-045B14413A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1" y="1117"/>
            <a:ext cx="2172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390637" imgH="298427" progId="Equation.DSMT4">
                    <p:embed/>
                  </p:oleObj>
                </mc:Choice>
                <mc:Fallback>
                  <p:oleObj r:id="rId2" imgW="1390637" imgH="298427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" y="1117"/>
                          <a:ext cx="2172" cy="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320" name="Rectangle 6">
              <a:extLst>
                <a:ext uri="{FF2B5EF4-FFF2-40B4-BE49-F238E27FC236}">
                  <a16:creationId xmlns:a16="http://schemas.microsoft.com/office/drawing/2014/main" id="{27064C3D-9DA4-D083-80C3-5F7C15764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1207"/>
              <a:ext cx="14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（有限长）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01E80868-4665-E515-FFE4-DBAB47B86800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997200"/>
            <a:ext cx="4537075" cy="863600"/>
            <a:chOff x="567" y="1661"/>
            <a:chExt cx="2858" cy="544"/>
          </a:xfrm>
        </p:grpSpPr>
        <p:sp>
          <p:nvSpPr>
            <p:cNvPr id="97317" name="Rectangle 8">
              <a:extLst>
                <a:ext uri="{FF2B5EF4-FFF2-40B4-BE49-F238E27FC236}">
                  <a16:creationId xmlns:a16="http://schemas.microsoft.com/office/drawing/2014/main" id="{E8D84C75-94A1-2D90-3B2B-4FA91C245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827"/>
              <a:ext cx="1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/>
                <a:t>（无限长）</a:t>
              </a:r>
            </a:p>
          </p:txBody>
        </p:sp>
        <p:graphicFrame>
          <p:nvGraphicFramePr>
            <p:cNvPr id="97318" name="Object 9">
              <a:extLst>
                <a:ext uri="{FF2B5EF4-FFF2-40B4-BE49-F238E27FC236}">
                  <a16:creationId xmlns:a16="http://schemas.microsoft.com/office/drawing/2014/main" id="{0389E930-919F-CA84-0148-4D6B43494F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1661"/>
            <a:ext cx="1165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565076" imgH="298427" progId="Equation.DSMT4">
                    <p:embed/>
                  </p:oleObj>
                </mc:Choice>
                <mc:Fallback>
                  <p:oleObj r:id="rId4" imgW="565076" imgH="298427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1661"/>
                          <a:ext cx="1165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305F3108-33F7-DC69-C7D9-97F9A758721B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549275"/>
            <a:ext cx="2592388" cy="2879725"/>
            <a:chOff x="3878" y="346"/>
            <a:chExt cx="1633" cy="1814"/>
          </a:xfrm>
        </p:grpSpPr>
        <p:sp>
          <p:nvSpPr>
            <p:cNvPr id="97300" name="Rectangle 11">
              <a:extLst>
                <a:ext uri="{FF2B5EF4-FFF2-40B4-BE49-F238E27FC236}">
                  <a16:creationId xmlns:a16="http://schemas.microsoft.com/office/drawing/2014/main" id="{56527397-E520-EBE3-2BB7-8808B0112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346"/>
              <a:ext cx="1633" cy="1814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97301" name="Line 12">
              <a:extLst>
                <a:ext uri="{FF2B5EF4-FFF2-40B4-BE49-F238E27FC236}">
                  <a16:creationId xmlns:a16="http://schemas.microsoft.com/office/drawing/2014/main" id="{8EA5C879-292D-7A29-DE4E-C7A3602835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31" y="709"/>
              <a:ext cx="635" cy="7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7302" name="Object 13">
              <a:extLst>
                <a:ext uri="{FF2B5EF4-FFF2-40B4-BE49-F238E27FC236}">
                  <a16:creationId xmlns:a16="http://schemas.microsoft.com/office/drawing/2014/main" id="{32573A6A-89C6-51EF-B643-17AD911A24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37" y="1108"/>
            <a:ext cx="161" cy="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44524" imgH="82712" progId="Equation.DSMT4">
                    <p:embed/>
                  </p:oleObj>
                </mc:Choice>
                <mc:Fallback>
                  <p:oleObj r:id="rId6" imgW="44524" imgH="82712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37" y="1108"/>
                          <a:ext cx="161" cy="1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303" name="Object 14">
              <a:extLst>
                <a:ext uri="{FF2B5EF4-FFF2-40B4-BE49-F238E27FC236}">
                  <a16:creationId xmlns:a16="http://schemas.microsoft.com/office/drawing/2014/main" id="{5D4087EE-235B-2475-217D-84D78EF1CAA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1434"/>
            <a:ext cx="19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69906" imgH="133419" progId="Equation.DSMT4">
                    <p:embed/>
                  </p:oleObj>
                </mc:Choice>
                <mc:Fallback>
                  <p:oleObj r:id="rId8" imgW="69906" imgH="133419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434"/>
                          <a:ext cx="194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304" name="Object 15">
              <a:extLst>
                <a:ext uri="{FF2B5EF4-FFF2-40B4-BE49-F238E27FC236}">
                  <a16:creationId xmlns:a16="http://schemas.microsoft.com/office/drawing/2014/main" id="{F0C626A7-DDBE-1AE1-A04F-608EB7851F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4" y="1253"/>
            <a:ext cx="193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69906" imgH="82712" progId="Equation.DSMT4">
                    <p:embed/>
                  </p:oleObj>
                </mc:Choice>
                <mc:Fallback>
                  <p:oleObj r:id="rId10" imgW="69906" imgH="82712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253"/>
                          <a:ext cx="193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305" name="Object 16">
              <a:extLst>
                <a:ext uri="{FF2B5EF4-FFF2-40B4-BE49-F238E27FC236}">
                  <a16:creationId xmlns:a16="http://schemas.microsoft.com/office/drawing/2014/main" id="{F8C271F9-5767-0581-92FE-1CC653CD5F2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0" y="391"/>
            <a:ext cx="227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44524" imgH="50708" progId="Equation.DSMT4">
                    <p:embed/>
                  </p:oleObj>
                </mc:Choice>
                <mc:Fallback>
                  <p:oleObj r:id="rId12" imgW="44524" imgH="50708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391"/>
                          <a:ext cx="227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306" name="Object 17">
              <a:extLst>
                <a:ext uri="{FF2B5EF4-FFF2-40B4-BE49-F238E27FC236}">
                  <a16:creationId xmlns:a16="http://schemas.microsoft.com/office/drawing/2014/main" id="{C4009470-5A31-10A8-A1F8-33ABEA9B5C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96" y="1283"/>
            <a:ext cx="193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69906" imgH="82712" progId="Equation.DSMT4">
                    <p:embed/>
                  </p:oleObj>
                </mc:Choice>
                <mc:Fallback>
                  <p:oleObj r:id="rId14" imgW="69906" imgH="82712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6" y="1283"/>
                          <a:ext cx="193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307" name="Rectangle 18">
              <a:extLst>
                <a:ext uri="{FF2B5EF4-FFF2-40B4-BE49-F238E27FC236}">
                  <a16:creationId xmlns:a16="http://schemas.microsoft.com/office/drawing/2014/main" id="{3D2BE530-0AE2-7C3B-F9B4-42326E532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" y="709"/>
              <a:ext cx="75" cy="1088"/>
            </a:xfrm>
            <a:prstGeom prst="rect">
              <a:avLst/>
            </a:prstGeom>
            <a:gradFill rotWithShape="1">
              <a:gsLst>
                <a:gs pos="0">
                  <a:srgbClr val="226544"/>
                </a:gs>
                <a:gs pos="100000">
                  <a:srgbClr val="339966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97308" name="Line 19">
              <a:extLst>
                <a:ext uri="{FF2B5EF4-FFF2-40B4-BE49-F238E27FC236}">
                  <a16:creationId xmlns:a16="http://schemas.microsoft.com/office/drawing/2014/main" id="{9137CFEA-0CE6-081A-5D88-145118E58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1" y="482"/>
              <a:ext cx="0" cy="140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09" name="Line 20">
              <a:extLst>
                <a:ext uri="{FF2B5EF4-FFF2-40B4-BE49-F238E27FC236}">
                  <a16:creationId xmlns:a16="http://schemas.microsoft.com/office/drawing/2014/main" id="{6F966862-876D-A949-E8A4-E087F4FBB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1448"/>
              <a:ext cx="6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0" name="Line 21">
              <a:extLst>
                <a:ext uri="{FF2B5EF4-FFF2-40B4-BE49-F238E27FC236}">
                  <a16:creationId xmlns:a16="http://schemas.microsoft.com/office/drawing/2014/main" id="{E181E0D6-3E69-CF8D-4D3D-E50B99BA1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31" y="1434"/>
              <a:ext cx="635" cy="3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1" name="Oval 22">
              <a:extLst>
                <a:ext uri="{FF2B5EF4-FFF2-40B4-BE49-F238E27FC236}">
                  <a16:creationId xmlns:a16="http://schemas.microsoft.com/office/drawing/2014/main" id="{F141C9F8-D93D-1951-CB45-AFACEE51A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1419"/>
              <a:ext cx="46" cy="4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aphicFrame>
          <p:nvGraphicFramePr>
            <p:cNvPr id="97312" name="Object 23">
              <a:extLst>
                <a:ext uri="{FF2B5EF4-FFF2-40B4-BE49-F238E27FC236}">
                  <a16:creationId xmlns:a16="http://schemas.microsoft.com/office/drawing/2014/main" id="{DB3C361A-3D60-7677-9BBA-A66533F9A8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572"/>
            <a:ext cx="21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76148" imgH="133419" progId="Equation.DSMT4">
                    <p:embed/>
                  </p:oleObj>
                </mc:Choice>
                <mc:Fallback>
                  <p:oleObj r:id="rId16" imgW="76148" imgH="133419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572"/>
                          <a:ext cx="21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7313" name="Arc 24">
              <a:extLst>
                <a:ext uri="{FF2B5EF4-FFF2-40B4-BE49-F238E27FC236}">
                  <a16:creationId xmlns:a16="http://schemas.microsoft.com/office/drawing/2014/main" id="{D3E7541C-CAC0-27CB-6942-ED9FECD7C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663"/>
              <a:ext cx="90" cy="180"/>
            </a:xfrm>
            <a:custGeom>
              <a:avLst/>
              <a:gdLst>
                <a:gd name="T0" fmla="*/ 0 w 21273"/>
                <a:gd name="T1" fmla="*/ 0 h 21600"/>
                <a:gd name="T2" fmla="*/ 0 w 21273"/>
                <a:gd name="T3" fmla="*/ 1 h 21600"/>
                <a:gd name="T4" fmla="*/ 0 w 21273"/>
                <a:gd name="T5" fmla="*/ 0 h 21600"/>
                <a:gd name="T6" fmla="*/ 0 w 21273"/>
                <a:gd name="T7" fmla="*/ 1 h 21600"/>
                <a:gd name="T8" fmla="*/ 0 w 21273"/>
                <a:gd name="T9" fmla="*/ 2 h 21600"/>
                <a:gd name="T10" fmla="*/ 0 w 21273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273" h="21600" fill="none">
                  <a:moveTo>
                    <a:pt x="-1" y="0"/>
                  </a:moveTo>
                  <a:cubicBezTo>
                    <a:pt x="10484" y="0"/>
                    <a:pt x="19455" y="7529"/>
                    <a:pt x="21273" y="17855"/>
                  </a:cubicBezTo>
                </a:path>
                <a:path w="21273" h="21600" stroke="0">
                  <a:moveTo>
                    <a:pt x="-1" y="0"/>
                  </a:moveTo>
                  <a:cubicBezTo>
                    <a:pt x="10484" y="0"/>
                    <a:pt x="19455" y="7529"/>
                    <a:pt x="21273" y="1785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4" name="Arc 25">
              <a:extLst>
                <a:ext uri="{FF2B5EF4-FFF2-40B4-BE49-F238E27FC236}">
                  <a16:creationId xmlns:a16="http://schemas.microsoft.com/office/drawing/2014/main" id="{3485B741-BDEF-8131-96C0-A6B1CCEA1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1616"/>
              <a:ext cx="112" cy="180"/>
            </a:xfrm>
            <a:custGeom>
              <a:avLst/>
              <a:gdLst>
                <a:gd name="T0" fmla="*/ 0 w 19646"/>
                <a:gd name="T1" fmla="*/ 0 h 21600"/>
                <a:gd name="T2" fmla="*/ 1 w 19646"/>
                <a:gd name="T3" fmla="*/ 1 h 21600"/>
                <a:gd name="T4" fmla="*/ 0 w 19646"/>
                <a:gd name="T5" fmla="*/ 0 h 21600"/>
                <a:gd name="T6" fmla="*/ 1 w 19646"/>
                <a:gd name="T7" fmla="*/ 1 h 21600"/>
                <a:gd name="T8" fmla="*/ 0 w 19646"/>
                <a:gd name="T9" fmla="*/ 2 h 21600"/>
                <a:gd name="T10" fmla="*/ 0 w 19646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646" h="21600" fill="none">
                  <a:moveTo>
                    <a:pt x="-1" y="0"/>
                  </a:moveTo>
                  <a:cubicBezTo>
                    <a:pt x="8454" y="0"/>
                    <a:pt x="16132" y="4932"/>
                    <a:pt x="19646" y="12622"/>
                  </a:cubicBezTo>
                </a:path>
                <a:path w="19646" h="21600" stroke="0">
                  <a:moveTo>
                    <a:pt x="-1" y="0"/>
                  </a:moveTo>
                  <a:cubicBezTo>
                    <a:pt x="8454" y="0"/>
                    <a:pt x="16132" y="4932"/>
                    <a:pt x="19646" y="1262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315" name="Rectangle 26">
              <a:extLst>
                <a:ext uri="{FF2B5EF4-FFF2-40B4-BE49-F238E27FC236}">
                  <a16:creationId xmlns:a16="http://schemas.microsoft.com/office/drawing/2014/main" id="{FDE82121-2F4C-653F-E924-3255C2913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2" y="1910"/>
              <a:ext cx="154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宋体" panose="02010600030101010101" pitchFamily="2" charset="-122"/>
                </a:rPr>
                <a:t>载流直线段</a:t>
              </a:r>
            </a:p>
          </p:txBody>
        </p:sp>
        <p:sp>
          <p:nvSpPr>
            <p:cNvPr id="97316" name="Line 27">
              <a:extLst>
                <a:ext uri="{FF2B5EF4-FFF2-40B4-BE49-F238E27FC236}">
                  <a16:creationId xmlns:a16="http://schemas.microsoft.com/office/drawing/2014/main" id="{D6A875E8-E536-7FCC-3BA5-E0F6EE3EF3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2" y="1026"/>
              <a:ext cx="0" cy="31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7287" name="AutoShape 4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A000F85-7672-8B14-1D52-DBA486FFB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7288" name="AutoShape 4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2D68FF4-F33F-AEBD-4E2B-D1BF4EEBF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7289" name="AutoShape 5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649356C-2065-FD04-0092-122296951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7290" name="AutoShape 5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0BD86642-AE62-4DB8-483F-D55348702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5" name="Group 52">
            <a:extLst>
              <a:ext uri="{FF2B5EF4-FFF2-40B4-BE49-F238E27FC236}">
                <a16:creationId xmlns:a16="http://schemas.microsoft.com/office/drawing/2014/main" id="{71CE3A6F-C31D-09BE-E47F-D4AF895AABE4}"/>
              </a:ext>
            </a:extLst>
          </p:cNvPr>
          <p:cNvGrpSpPr>
            <a:grpSpLocks/>
          </p:cNvGrpSpPr>
          <p:nvPr/>
        </p:nvGrpSpPr>
        <p:grpSpPr bwMode="auto">
          <a:xfrm>
            <a:off x="412750" y="1325563"/>
            <a:ext cx="5238750" cy="457200"/>
            <a:chOff x="260" y="835"/>
            <a:chExt cx="3300" cy="288"/>
          </a:xfrm>
        </p:grpSpPr>
        <p:sp>
          <p:nvSpPr>
            <p:cNvPr id="97298" name="Rectangle 53">
              <a:extLst>
                <a:ext uri="{FF2B5EF4-FFF2-40B4-BE49-F238E27FC236}">
                  <a16:creationId xmlns:a16="http://schemas.microsoft.com/office/drawing/2014/main" id="{5B28B853-297B-A525-727C-3E15124F1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835"/>
              <a:ext cx="31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/>
                <a:t>载流直线段的磁感应强度</a:t>
              </a:r>
              <a:endParaRPr lang="zh-CN" altLang="en-US" sz="2800">
                <a:ea typeface="幼圆" panose="02010509060101010101" pitchFamily="49" charset="-122"/>
              </a:endParaRPr>
            </a:p>
          </p:txBody>
        </p:sp>
        <p:sp>
          <p:nvSpPr>
            <p:cNvPr id="97299" name="Oval 54">
              <a:extLst>
                <a:ext uri="{FF2B5EF4-FFF2-40B4-BE49-F238E27FC236}">
                  <a16:creationId xmlns:a16="http://schemas.microsoft.com/office/drawing/2014/main" id="{A61FF84A-2A61-BE4D-3836-2D0043DCAF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0" y="981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731194" name="Object 58">
            <a:extLst>
              <a:ext uri="{FF2B5EF4-FFF2-40B4-BE49-F238E27FC236}">
                <a16:creationId xmlns:a16="http://schemas.microsoft.com/office/drawing/2014/main" id="{B7733A43-ABB2-8023-B303-86FF13E3E6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2500" y="4632325"/>
          <a:ext cx="3259138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352355" imgH="317546" progId="Equation.DSMT4">
                  <p:embed/>
                </p:oleObj>
              </mc:Choice>
              <mc:Fallback>
                <p:oleObj r:id="rId18" imgW="1352355" imgH="317546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4632325"/>
                        <a:ext cx="3259138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59">
            <a:extLst>
              <a:ext uri="{FF2B5EF4-FFF2-40B4-BE49-F238E27FC236}">
                <a16:creationId xmlns:a16="http://schemas.microsoft.com/office/drawing/2014/main" id="{35C95CAE-19F6-8F4E-D9E7-1565835D4096}"/>
              </a:ext>
            </a:extLst>
          </p:cNvPr>
          <p:cNvGrpSpPr>
            <a:grpSpLocks/>
          </p:cNvGrpSpPr>
          <p:nvPr/>
        </p:nvGrpSpPr>
        <p:grpSpPr bwMode="auto">
          <a:xfrm>
            <a:off x="412750" y="3984625"/>
            <a:ext cx="5815013" cy="457200"/>
            <a:chOff x="215" y="2568"/>
            <a:chExt cx="3663" cy="288"/>
          </a:xfrm>
        </p:grpSpPr>
        <p:sp>
          <p:nvSpPr>
            <p:cNvPr id="97296" name="Rectangle 60">
              <a:extLst>
                <a:ext uri="{FF2B5EF4-FFF2-40B4-BE49-F238E27FC236}">
                  <a16:creationId xmlns:a16="http://schemas.microsoft.com/office/drawing/2014/main" id="{25321BF6-2DC9-A515-98FA-97ADBD6AD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" y="2568"/>
              <a:ext cx="348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/>
                <a:t>载流圆环轴线上的磁感应强度</a:t>
              </a:r>
            </a:p>
          </p:txBody>
        </p:sp>
        <p:sp>
          <p:nvSpPr>
            <p:cNvPr id="97297" name="Oval 61">
              <a:extLst>
                <a:ext uri="{FF2B5EF4-FFF2-40B4-BE49-F238E27FC236}">
                  <a16:creationId xmlns:a16="http://schemas.microsoft.com/office/drawing/2014/main" id="{92434F56-9B59-D530-4AE6-0045305D9D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5" y="265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pic>
        <p:nvPicPr>
          <p:cNvPr id="731198" name="Picture 62">
            <a:extLst>
              <a:ext uri="{FF2B5EF4-FFF2-40B4-BE49-F238E27FC236}">
                <a16:creationId xmlns:a16="http://schemas.microsoft.com/office/drawing/2014/main" id="{8900631E-EC16-EC04-8ED6-65370FF0D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863" y="3644900"/>
            <a:ext cx="2838450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3548" name="Rectangle 92">
            <a:extLst>
              <a:ext uri="{FF2B5EF4-FFF2-40B4-BE49-F238E27FC236}">
                <a16:creationId xmlns:a16="http://schemas.microsoft.com/office/drawing/2014/main" id="{47C9EFF9-93DB-C2C1-185B-EF4B9B0B7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734050"/>
            <a:ext cx="230346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（线分布电流）</a:t>
            </a:r>
            <a:endParaRPr lang="zh-CN" altLang="en-US" b="0">
              <a:solidFill>
                <a:srgbClr val="FF9900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2">
            <a:extLst>
              <a:ext uri="{FF2B5EF4-FFF2-40B4-BE49-F238E27FC236}">
                <a16:creationId xmlns:a16="http://schemas.microsoft.com/office/drawing/2014/main" id="{E7135758-6B56-D83C-B92B-F736BCD8A07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60CADD5-E2FE-4DAD-BDD6-45BD237D9B55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8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734211" name="Object 3">
            <a:extLst>
              <a:ext uri="{FF2B5EF4-FFF2-40B4-BE49-F238E27FC236}">
                <a16:creationId xmlns:a16="http://schemas.microsoft.com/office/drawing/2014/main" id="{DB610F07-A607-61EB-7A68-15BFD12D8F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3317875"/>
          <a:ext cx="430847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790518" imgH="171658" progId="Equation.DSMT4">
                  <p:embed/>
                </p:oleObj>
              </mc:Choice>
              <mc:Fallback>
                <p:oleObj r:id="rId3" imgW="1790518" imgH="171658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3317875"/>
                        <a:ext cx="430847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2" name="Object 4">
            <a:extLst>
              <a:ext uri="{FF2B5EF4-FFF2-40B4-BE49-F238E27FC236}">
                <a16:creationId xmlns:a16="http://schemas.microsoft.com/office/drawing/2014/main" id="{CA5EA258-D5AF-9244-7508-83EC1B3CC94B}"/>
              </a:ext>
            </a:extLst>
          </p:cNvPr>
          <p:cNvGraphicFramePr>
            <a:graphicFrameLocks/>
          </p:cNvGraphicFramePr>
          <p:nvPr/>
        </p:nvGraphicFramePr>
        <p:xfrm>
          <a:off x="4500563" y="3338513"/>
          <a:ext cx="299561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73146" imgH="152539" progId="Equation.DSMT4">
                  <p:embed/>
                </p:oleObj>
              </mc:Choice>
              <mc:Fallback>
                <p:oleObj r:id="rId5" imgW="1073146" imgH="152539" progId="Equation.DSMT4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338513"/>
                        <a:ext cx="2995612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3" name="Object 5">
            <a:extLst>
              <a:ext uri="{FF2B5EF4-FFF2-40B4-BE49-F238E27FC236}">
                <a16:creationId xmlns:a16="http://schemas.microsoft.com/office/drawing/2014/main" id="{8E5B8066-C748-8420-A3AC-E75B2705C49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1290638"/>
          <a:ext cx="185261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698647" imgH="171658" progId="Equation.DSMT4">
                  <p:embed/>
                </p:oleObj>
              </mc:Choice>
              <mc:Fallback>
                <p:oleObj r:id="rId7" imgW="698647" imgH="171658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290638"/>
                        <a:ext cx="185261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4214" name="Object 6">
            <a:extLst>
              <a:ext uri="{FF2B5EF4-FFF2-40B4-BE49-F238E27FC236}">
                <a16:creationId xmlns:a16="http://schemas.microsoft.com/office/drawing/2014/main" id="{40197881-344F-AB3C-D631-F3A42AE447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7925" y="1773238"/>
          <a:ext cx="10715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74498" imgH="139654" progId="Equation.DSMT4">
                  <p:embed/>
                </p:oleObj>
              </mc:Choice>
              <mc:Fallback>
                <p:oleObj r:id="rId9" imgW="374498" imgH="13965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25" y="1773238"/>
                        <a:ext cx="107156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15" name="Rectangle 7">
            <a:extLst>
              <a:ext uri="{FF2B5EF4-FFF2-40B4-BE49-F238E27FC236}">
                <a16:creationId xmlns:a16="http://schemas.microsoft.com/office/drawing/2014/main" id="{E5864CDD-9272-8FBF-ACBF-76640B196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2276475"/>
            <a:ext cx="414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>
                <a:latin typeface="Times New Roman" panose="02020603050405020304" pitchFamily="18" charset="0"/>
              </a:rPr>
              <a:t>场点</a:t>
            </a:r>
            <a:r>
              <a:rPr lang="en-US" altLang="zh-CN" i="1">
                <a:latin typeface="Times New Roman" panose="02020603050405020304" pitchFamily="18" charset="0"/>
              </a:rPr>
              <a:t>P </a:t>
            </a:r>
            <a:r>
              <a:rPr lang="zh-CN" altLang="en-US">
                <a:latin typeface="Times New Roman" panose="02020603050405020304" pitchFamily="18" charset="0"/>
              </a:rPr>
              <a:t>的位置矢量：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34216" name="Object 8">
            <a:extLst>
              <a:ext uri="{FF2B5EF4-FFF2-40B4-BE49-F238E27FC236}">
                <a16:creationId xmlns:a16="http://schemas.microsoft.com/office/drawing/2014/main" id="{EB2EA595-2405-75FA-4B59-6F1DA41E6D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2750" y="2220913"/>
          <a:ext cx="10795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36632" imgH="133419" progId="Equation.DSMT4">
                  <p:embed/>
                </p:oleObj>
              </mc:Choice>
              <mc:Fallback>
                <p:oleObj r:id="rId11" imgW="336632" imgH="13341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2750" y="2220913"/>
                        <a:ext cx="10795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17" name="Rectangle 9">
            <a:extLst>
              <a:ext uri="{FF2B5EF4-FFF2-40B4-BE49-F238E27FC236}">
                <a16:creationId xmlns:a16="http://schemas.microsoft.com/office/drawing/2014/main" id="{46DB25A4-864D-3747-68E2-A026FCB98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88" y="1196975"/>
            <a:ext cx="5040312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解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>
                <a:latin typeface="Times New Roman" panose="02020603050405020304" pitchFamily="18" charset="0"/>
              </a:rPr>
              <a:t>圆环上的电流元：</a:t>
            </a:r>
          </a:p>
        </p:txBody>
      </p:sp>
      <p:sp>
        <p:nvSpPr>
          <p:cNvPr id="734218" name="Rectangle 10">
            <a:extLst>
              <a:ext uri="{FF2B5EF4-FFF2-40B4-BE49-F238E27FC236}">
                <a16:creationId xmlns:a16="http://schemas.microsoft.com/office/drawing/2014/main" id="{737DC966-80F0-B1B1-E4D6-E4152D006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333375"/>
            <a:ext cx="903763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例 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2.3.1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】</a:t>
            </a:r>
            <a:r>
              <a:rPr lang="zh-CN" altLang="en-US"/>
              <a:t>如图所示，圆环的半径为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/>
              <a:t>，流过的电流为</a:t>
            </a:r>
            <a:r>
              <a:rPr lang="en-US" altLang="zh-CN" i="1">
                <a:latin typeface="Times New Roman" panose="02020603050405020304" pitchFamily="18" charset="0"/>
              </a:rPr>
              <a:t>I</a:t>
            </a:r>
            <a:r>
              <a:rPr lang="zh-CN" altLang="en-US">
                <a:latin typeface="Times New Roman" panose="02020603050405020304" pitchFamily="18" charset="0"/>
              </a:rPr>
              <a:t>。计算线电流圆环轴线上任一点的磁感应强度。</a:t>
            </a:r>
            <a:r>
              <a:rPr lang="zh-CN" altLang="en-US" b="0">
                <a:latin typeface="Times New Roman" panose="02020603050405020304" pitchFamily="18" charset="0"/>
              </a:rPr>
              <a:t>  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087A08A5-6967-5C10-6019-3436D03346AF}"/>
              </a:ext>
            </a:extLst>
          </p:cNvPr>
          <p:cNvGrpSpPr>
            <a:grpSpLocks/>
          </p:cNvGrpSpPr>
          <p:nvPr/>
        </p:nvGrpSpPr>
        <p:grpSpPr bwMode="auto">
          <a:xfrm>
            <a:off x="6300788" y="836613"/>
            <a:ext cx="2557462" cy="2457450"/>
            <a:chOff x="3878" y="2296"/>
            <a:chExt cx="1633" cy="1726"/>
          </a:xfrm>
        </p:grpSpPr>
        <p:sp>
          <p:nvSpPr>
            <p:cNvPr id="98333" name="Rectangle 12">
              <a:extLst>
                <a:ext uri="{FF2B5EF4-FFF2-40B4-BE49-F238E27FC236}">
                  <a16:creationId xmlns:a16="http://schemas.microsoft.com/office/drawing/2014/main" id="{D6FA25CB-D858-B020-0FA1-922E1F911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2296"/>
              <a:ext cx="1633" cy="171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98334" name="Line 13">
              <a:extLst>
                <a:ext uri="{FF2B5EF4-FFF2-40B4-BE49-F238E27FC236}">
                  <a16:creationId xmlns:a16="http://schemas.microsoft.com/office/drawing/2014/main" id="{F0A66E2B-444A-0BCC-060E-CE8F258F45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8" y="2382"/>
              <a:ext cx="0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5" name="Line 14">
              <a:extLst>
                <a:ext uri="{FF2B5EF4-FFF2-40B4-BE49-F238E27FC236}">
                  <a16:creationId xmlns:a16="http://schemas.microsoft.com/office/drawing/2014/main" id="{E83336D0-7689-FE16-6BF4-EC9B8932E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59" y="3289"/>
              <a:ext cx="499" cy="36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6" name="Line 15">
              <a:extLst>
                <a:ext uri="{FF2B5EF4-FFF2-40B4-BE49-F238E27FC236}">
                  <a16:creationId xmlns:a16="http://schemas.microsoft.com/office/drawing/2014/main" id="{2645D860-9914-1CDB-D129-676EEB69FC6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4932" y="2915"/>
              <a:ext cx="0" cy="74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37" name="Line 16">
              <a:extLst>
                <a:ext uri="{FF2B5EF4-FFF2-40B4-BE49-F238E27FC236}">
                  <a16:creationId xmlns:a16="http://schemas.microsoft.com/office/drawing/2014/main" id="{A6686A4C-91E9-18A2-0A65-7DF414860A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58" y="2609"/>
              <a:ext cx="272" cy="8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8338" name="Object 17">
              <a:extLst>
                <a:ext uri="{FF2B5EF4-FFF2-40B4-BE49-F238E27FC236}">
                  <a16:creationId xmlns:a16="http://schemas.microsoft.com/office/drawing/2014/main" id="{B9906A2D-57F7-BF03-9B7D-E63476FC93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19" y="3432"/>
            <a:ext cx="338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71437" imgH="120535" progId="Equation.DSMT4">
                    <p:embed/>
                  </p:oleObj>
                </mc:Choice>
                <mc:Fallback>
                  <p:oleObj r:id="rId13" imgW="171437" imgH="120535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9" y="3432"/>
                          <a:ext cx="338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39" name="Object 18">
              <a:extLst>
                <a:ext uri="{FF2B5EF4-FFF2-40B4-BE49-F238E27FC236}">
                  <a16:creationId xmlns:a16="http://schemas.microsoft.com/office/drawing/2014/main" id="{11577B55-0C68-0E55-FF76-195C5089F3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8" y="3244"/>
            <a:ext cx="177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50765" imgH="82712" progId="Equation.DSMT4">
                    <p:embed/>
                  </p:oleObj>
                </mc:Choice>
                <mc:Fallback>
                  <p:oleObj r:id="rId15" imgW="50765" imgH="82712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8" y="3244"/>
                          <a:ext cx="177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40" name="Object 19">
              <a:extLst>
                <a:ext uri="{FF2B5EF4-FFF2-40B4-BE49-F238E27FC236}">
                  <a16:creationId xmlns:a16="http://schemas.microsoft.com/office/drawing/2014/main" id="{7DF1555D-EB20-5BF0-A5CB-B982E5D745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3" y="3607"/>
            <a:ext cx="161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44524" imgH="50708" progId="Equation.DSMT4">
                    <p:embed/>
                  </p:oleObj>
                </mc:Choice>
                <mc:Fallback>
                  <p:oleObj r:id="rId17" imgW="44524" imgH="50708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3607"/>
                          <a:ext cx="161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41" name="Object 20">
              <a:extLst>
                <a:ext uri="{FF2B5EF4-FFF2-40B4-BE49-F238E27FC236}">
                  <a16:creationId xmlns:a16="http://schemas.microsoft.com/office/drawing/2014/main" id="{D3820D94-461E-A5EC-30D4-3E09D2EB593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8" y="2337"/>
            <a:ext cx="227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44524" imgH="50708" progId="Equation.DSMT4">
                    <p:embed/>
                  </p:oleObj>
                </mc:Choice>
                <mc:Fallback>
                  <p:oleObj r:id="rId19" imgW="44524" imgH="50708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2337"/>
                          <a:ext cx="227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42" name="Object 21">
              <a:extLst>
                <a:ext uri="{FF2B5EF4-FFF2-40B4-BE49-F238E27FC236}">
                  <a16:creationId xmlns:a16="http://schemas.microsoft.com/office/drawing/2014/main" id="{0F879DE0-D46D-A654-F620-BE133AB05A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3220"/>
            <a:ext cx="161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44524" imgH="50708" progId="Equation.DSMT4">
                    <p:embed/>
                  </p:oleObj>
                </mc:Choice>
                <mc:Fallback>
                  <p:oleObj r:id="rId21" imgW="44524" imgH="50708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3220"/>
                          <a:ext cx="161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43" name="Object 22">
              <a:extLst>
                <a:ext uri="{FF2B5EF4-FFF2-40B4-BE49-F238E27FC236}">
                  <a16:creationId xmlns:a16="http://schemas.microsoft.com/office/drawing/2014/main" id="{9EB7233B-8125-C2A3-8687-3272DF9FBF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2" y="2523"/>
            <a:ext cx="226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3" imgW="69906" imgH="82712" progId="Equation.DSMT4">
                    <p:embed/>
                  </p:oleObj>
                </mc:Choice>
                <mc:Fallback>
                  <p:oleObj r:id="rId23" imgW="69906" imgH="82712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2523"/>
                          <a:ext cx="226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44" name="Line 23">
              <a:extLst>
                <a:ext uri="{FF2B5EF4-FFF2-40B4-BE49-F238E27FC236}">
                  <a16:creationId xmlns:a16="http://schemas.microsoft.com/office/drawing/2014/main" id="{4CC793EE-1DAE-EABE-C4A7-2C15805F0D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95" y="3158"/>
              <a:ext cx="363" cy="1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8345" name="Object 24">
              <a:extLst>
                <a:ext uri="{FF2B5EF4-FFF2-40B4-BE49-F238E27FC236}">
                  <a16:creationId xmlns:a16="http://schemas.microsoft.com/office/drawing/2014/main" id="{C0DBCAB3-F50A-D627-3927-EDF19F65DEA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32" y="3067"/>
            <a:ext cx="161" cy="1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5" imgW="44524" imgH="50708" progId="Equation.DSMT4">
                    <p:embed/>
                  </p:oleObj>
                </mc:Choice>
                <mc:Fallback>
                  <p:oleObj r:id="rId25" imgW="44524" imgH="50708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2" y="3067"/>
                          <a:ext cx="161" cy="1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46" name="Oval 25">
              <a:extLst>
                <a:ext uri="{FF2B5EF4-FFF2-40B4-BE49-F238E27FC236}">
                  <a16:creationId xmlns:a16="http://schemas.microsoft.com/office/drawing/2014/main" id="{98458E64-8719-AA0D-DA2D-B178FCCDA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3" y="3063"/>
              <a:ext cx="870" cy="453"/>
            </a:xfrm>
            <a:prstGeom prst="ellips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98347" name="Oval 26">
              <a:extLst>
                <a:ext uri="{FF2B5EF4-FFF2-40B4-BE49-F238E27FC236}">
                  <a16:creationId xmlns:a16="http://schemas.microsoft.com/office/drawing/2014/main" id="{49DAE50C-7D50-07A7-A05B-90A9B8B31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8" y="2609"/>
              <a:ext cx="68" cy="6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98348" name="Rectangle 27">
              <a:extLst>
                <a:ext uri="{FF2B5EF4-FFF2-40B4-BE49-F238E27FC236}">
                  <a16:creationId xmlns:a16="http://schemas.microsoft.com/office/drawing/2014/main" id="{57857BFB-F6C7-DD71-447E-3D6CAE918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743"/>
              <a:ext cx="1452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r>
                <a:rPr lang="zh-CN" altLang="en-US" sz="2000">
                  <a:solidFill>
                    <a:schemeClr val="tx1"/>
                  </a:solidFill>
                  <a:ea typeface="宋体" panose="02010600030101010101" pitchFamily="2" charset="-122"/>
                </a:rPr>
                <a:t>载流圆环</a:t>
              </a:r>
            </a:p>
          </p:txBody>
        </p:sp>
        <p:sp>
          <p:nvSpPr>
            <p:cNvPr id="98349" name="Line 28">
              <a:extLst>
                <a:ext uri="{FF2B5EF4-FFF2-40B4-BE49-F238E27FC236}">
                  <a16:creationId xmlns:a16="http://schemas.microsoft.com/office/drawing/2014/main" id="{236AFF04-2864-5E2F-2564-94A8D76B714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549" y="3286"/>
              <a:ext cx="281" cy="18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8350" name="Object 29">
              <a:extLst>
                <a:ext uri="{FF2B5EF4-FFF2-40B4-BE49-F238E27FC236}">
                  <a16:creationId xmlns:a16="http://schemas.microsoft.com/office/drawing/2014/main" id="{432CA718-C845-E1EF-21C6-41F32DD4BEA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2788"/>
            <a:ext cx="154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126780" imgH="164814" progId="Equation.DSMT4">
                    <p:embed/>
                  </p:oleObj>
                </mc:Choice>
                <mc:Fallback>
                  <p:oleObj r:id="rId27" imgW="126780" imgH="164814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2788"/>
                          <a:ext cx="154" cy="2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51" name="Object 30">
              <a:extLst>
                <a:ext uri="{FF2B5EF4-FFF2-40B4-BE49-F238E27FC236}">
                  <a16:creationId xmlns:a16="http://schemas.microsoft.com/office/drawing/2014/main" id="{32ED72DA-E3FD-5052-1097-CB92739BAA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94" y="2750"/>
            <a:ext cx="18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9" imgW="152268" imgH="203024" progId="Equation.DSMT4">
                    <p:embed/>
                  </p:oleObj>
                </mc:Choice>
                <mc:Fallback>
                  <p:oleObj r:id="rId29" imgW="152268" imgH="203024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2750"/>
                          <a:ext cx="18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52" name="Line 31">
              <a:extLst>
                <a:ext uri="{FF2B5EF4-FFF2-40B4-BE49-F238E27FC236}">
                  <a16:creationId xmlns:a16="http://schemas.microsoft.com/office/drawing/2014/main" id="{E78E0425-6003-1421-E7F5-719279B8BE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07499" flipV="1">
              <a:off x="4748" y="3406"/>
              <a:ext cx="182" cy="11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353" name="Arc 32">
              <a:extLst>
                <a:ext uri="{FF2B5EF4-FFF2-40B4-BE49-F238E27FC236}">
                  <a16:creationId xmlns:a16="http://schemas.microsoft.com/office/drawing/2014/main" id="{F6ECC067-D473-6704-352A-8A7A2FC800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527825" flipV="1">
              <a:off x="4513" y="3307"/>
              <a:ext cx="126" cy="54"/>
            </a:xfrm>
            <a:custGeom>
              <a:avLst/>
              <a:gdLst>
                <a:gd name="T0" fmla="*/ 0 w 21352"/>
                <a:gd name="T1" fmla="*/ 0 h 21600"/>
                <a:gd name="T2" fmla="*/ 1 w 21352"/>
                <a:gd name="T3" fmla="*/ 0 h 21600"/>
                <a:gd name="T4" fmla="*/ 0 w 21352"/>
                <a:gd name="T5" fmla="*/ 0 h 21600"/>
                <a:gd name="T6" fmla="*/ 1 w 21352"/>
                <a:gd name="T7" fmla="*/ 0 h 21600"/>
                <a:gd name="T8" fmla="*/ 0 w 21352"/>
                <a:gd name="T9" fmla="*/ 0 h 21600"/>
                <a:gd name="T10" fmla="*/ 0 w 21352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352" h="21600" fill="none">
                  <a:moveTo>
                    <a:pt x="-1" y="0"/>
                  </a:moveTo>
                  <a:cubicBezTo>
                    <a:pt x="10668" y="0"/>
                    <a:pt x="19738" y="7788"/>
                    <a:pt x="21351" y="18334"/>
                  </a:cubicBezTo>
                </a:path>
                <a:path w="21352" h="21600" stroke="0">
                  <a:moveTo>
                    <a:pt x="-1" y="0"/>
                  </a:moveTo>
                  <a:cubicBezTo>
                    <a:pt x="10668" y="0"/>
                    <a:pt x="19738" y="7788"/>
                    <a:pt x="21351" y="1833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8354" name="Object 33">
              <a:extLst>
                <a:ext uri="{FF2B5EF4-FFF2-40B4-BE49-F238E27FC236}">
                  <a16:creationId xmlns:a16="http://schemas.microsoft.com/office/drawing/2014/main" id="{51AAF9FA-7C93-E414-05BC-75F8BDCB41C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4" y="3339"/>
            <a:ext cx="210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1" imgW="76148" imgH="114300" progId="Equation.DSMT4">
                    <p:embed/>
                  </p:oleObj>
                </mc:Choice>
                <mc:Fallback>
                  <p:oleObj r:id="rId31" imgW="76148" imgH="11430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4" y="3339"/>
                          <a:ext cx="210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355" name="Object 34">
              <a:extLst>
                <a:ext uri="{FF2B5EF4-FFF2-40B4-BE49-F238E27FC236}">
                  <a16:creationId xmlns:a16="http://schemas.microsoft.com/office/drawing/2014/main" id="{C1EEF2AE-576C-2B23-9A3B-A64B5AFE7D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94" y="3203"/>
            <a:ext cx="180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3" imgW="152268" imgH="164957" progId="Equation.DSMT4">
                    <p:embed/>
                  </p:oleObj>
                </mc:Choice>
                <mc:Fallback>
                  <p:oleObj r:id="rId33" imgW="152268" imgH="164957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3203"/>
                          <a:ext cx="180" cy="2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4243" name="Object 35">
            <a:extLst>
              <a:ext uri="{FF2B5EF4-FFF2-40B4-BE49-F238E27FC236}">
                <a16:creationId xmlns:a16="http://schemas.microsoft.com/office/drawing/2014/main" id="{AFE147F4-3B73-0D29-F2E2-8E6B518FA8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4221163"/>
          <a:ext cx="43211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5" imgW="1600356" imgH="317546" progId="Equation.DSMT4">
                  <p:embed/>
                </p:oleObj>
              </mc:Choice>
              <mc:Fallback>
                <p:oleObj r:id="rId35" imgW="1600356" imgH="317546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221163"/>
                        <a:ext cx="43211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4244" name="Rectangle 36">
            <a:extLst>
              <a:ext uri="{FF2B5EF4-FFF2-40B4-BE49-F238E27FC236}">
                <a16:creationId xmlns:a16="http://schemas.microsoft.com/office/drawing/2014/main" id="{575CA7B8-9A20-FE93-48AE-2D22403C8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789363"/>
            <a:ext cx="57959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>
                <a:latin typeface="Times New Roman" panose="02020603050405020304" pitchFamily="18" charset="0"/>
              </a:rPr>
              <a:t>轴线上任一点</a:t>
            </a:r>
            <a:r>
              <a:rPr lang="en-US" altLang="zh-CN" i="1">
                <a:latin typeface="Times New Roman" panose="02020603050405020304" pitchFamily="18" charset="0"/>
              </a:rPr>
              <a:t>P </a:t>
            </a:r>
            <a:r>
              <a:rPr lang="zh-CN" altLang="en-US">
                <a:latin typeface="Times New Roman" panose="02020603050405020304" pitchFamily="18" charset="0"/>
              </a:rPr>
              <a:t>的磁感应强度为</a:t>
            </a:r>
          </a:p>
        </p:txBody>
      </p:sp>
      <p:sp>
        <p:nvSpPr>
          <p:cNvPr id="98318" name="AutoShape 37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7379EBC7-DC6C-8DBC-F289-206BAB678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8319" name="AutoShape 3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47945318-A086-F798-8929-10CC44B97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8320" name="AutoShape 3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9320D6D-4B71-C0E9-59CF-FD8E86DE4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98321" name="AutoShape 4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FD423F5F-0DBD-748B-6CD1-E762E94ED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34249" name="Rectangle 41">
            <a:extLst>
              <a:ext uri="{FF2B5EF4-FFF2-40B4-BE49-F238E27FC236}">
                <a16:creationId xmlns:a16="http://schemas.microsoft.com/office/drawing/2014/main" id="{8D65ECF5-9BDA-68E3-6E4D-D9979BBCA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1628775"/>
            <a:ext cx="39243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/>
              <a:t>源点位置矢量：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" name="Group 43">
            <a:extLst>
              <a:ext uri="{FF2B5EF4-FFF2-40B4-BE49-F238E27FC236}">
                <a16:creationId xmlns:a16="http://schemas.microsoft.com/office/drawing/2014/main" id="{6CDA10D1-E17C-5D7B-A5BD-D76380AF25C8}"/>
              </a:ext>
            </a:extLst>
          </p:cNvPr>
          <p:cNvGrpSpPr>
            <a:grpSpLocks/>
          </p:cNvGrpSpPr>
          <p:nvPr/>
        </p:nvGrpSpPr>
        <p:grpSpPr bwMode="auto">
          <a:xfrm>
            <a:off x="252413" y="5084763"/>
            <a:ext cx="5832475" cy="649287"/>
            <a:chOff x="204" y="436"/>
            <a:chExt cx="3629" cy="409"/>
          </a:xfrm>
        </p:grpSpPr>
        <p:graphicFrame>
          <p:nvGraphicFramePr>
            <p:cNvPr id="98331" name="Object 44">
              <a:extLst>
                <a:ext uri="{FF2B5EF4-FFF2-40B4-BE49-F238E27FC236}">
                  <a16:creationId xmlns:a16="http://schemas.microsoft.com/office/drawing/2014/main" id="{69278836-FFCC-2CEB-EDD7-98D90862D0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15" y="436"/>
            <a:ext cx="2918" cy="4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7" imgW="2051002" imgH="215715" progId="Equation.DSMT4">
                    <p:embed/>
                  </p:oleObj>
                </mc:Choice>
                <mc:Fallback>
                  <p:oleObj r:id="rId37" imgW="2051002" imgH="215715" progId="Equation.DSMT4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5" y="436"/>
                          <a:ext cx="2918" cy="4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8332" name="Rectangle 45">
              <a:extLst>
                <a:ext uri="{FF2B5EF4-FFF2-40B4-BE49-F238E27FC236}">
                  <a16:creationId xmlns:a16="http://schemas.microsoft.com/office/drawing/2014/main" id="{C848947F-E214-C198-745D-7FFEFE72A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484"/>
              <a:ext cx="344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由于</a:t>
              </a:r>
            </a:p>
          </p:txBody>
        </p:sp>
      </p:grpSp>
      <p:graphicFrame>
        <p:nvGraphicFramePr>
          <p:cNvPr id="734254" name="Object 46">
            <a:extLst>
              <a:ext uri="{FF2B5EF4-FFF2-40B4-BE49-F238E27FC236}">
                <a16:creationId xmlns:a16="http://schemas.microsoft.com/office/drawing/2014/main" id="{98952FDF-BE01-3C9F-3064-BD7F09B2F3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5657850"/>
          <a:ext cx="19050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9" imgW="742755" imgH="317546" progId="Equation.DSMT4">
                  <p:embed/>
                </p:oleObj>
              </mc:Choice>
              <mc:Fallback>
                <p:oleObj r:id="rId39" imgW="742755" imgH="317546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5657850"/>
                        <a:ext cx="190500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7">
            <a:extLst>
              <a:ext uri="{FF2B5EF4-FFF2-40B4-BE49-F238E27FC236}">
                <a16:creationId xmlns:a16="http://schemas.microsoft.com/office/drawing/2014/main" id="{F6C07E38-54E1-40D2-89E5-808F5ED32F46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5727700"/>
            <a:ext cx="4968875" cy="796925"/>
            <a:chOff x="431" y="981"/>
            <a:chExt cx="3291" cy="592"/>
          </a:xfrm>
        </p:grpSpPr>
        <p:sp>
          <p:nvSpPr>
            <p:cNvPr id="98329" name="AutoShape 48">
              <a:extLst>
                <a:ext uri="{FF2B5EF4-FFF2-40B4-BE49-F238E27FC236}">
                  <a16:creationId xmlns:a16="http://schemas.microsoft.com/office/drawing/2014/main" id="{1E4C79B7-5CA2-B86A-B6BB-6CA14762D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1207"/>
              <a:ext cx="408" cy="136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FFCC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aphicFrame>
          <p:nvGraphicFramePr>
            <p:cNvPr id="98330" name="Object 49">
              <a:extLst>
                <a:ext uri="{FF2B5EF4-FFF2-40B4-BE49-F238E27FC236}">
                  <a16:creationId xmlns:a16="http://schemas.microsoft.com/office/drawing/2014/main" id="{4BB80AAE-6870-2013-587C-D033DE12EE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84" y="981"/>
            <a:ext cx="2838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1" imgW="1600356" imgH="298427" progId="Equation.DSMT4">
                    <p:embed/>
                  </p:oleObj>
                </mc:Choice>
                <mc:Fallback>
                  <p:oleObj r:id="rId41" imgW="1600356" imgH="298427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4" y="981"/>
                          <a:ext cx="2838" cy="5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0151" name="Object 39">
            <a:extLst>
              <a:ext uri="{FF2B5EF4-FFF2-40B4-BE49-F238E27FC236}">
                <a16:creationId xmlns:a16="http://schemas.microsoft.com/office/drawing/2014/main" id="{5A92CCD9-9153-672D-8AE0-1BE05B71D9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3933825"/>
          <a:ext cx="241141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3" imgW="793936" imgH="342900" progId="Equation.3">
                  <p:embed/>
                </p:oleObj>
              </mc:Choice>
              <mc:Fallback>
                <p:oleObj r:id="rId43" imgW="793936" imgH="34290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3933825"/>
                        <a:ext cx="241141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8410" name="Object 42">
            <a:extLst>
              <a:ext uri="{FF2B5EF4-FFF2-40B4-BE49-F238E27FC236}">
                <a16:creationId xmlns:a16="http://schemas.microsoft.com/office/drawing/2014/main" id="{D308D53C-20F6-51C2-E7EA-822FB7422A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2708275"/>
          <a:ext cx="4986338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5" imgW="2082627" imgH="197012" progId="Equation.3">
                  <p:embed/>
                </p:oleObj>
              </mc:Choice>
              <mc:Fallback>
                <p:oleObj r:id="rId45" imgW="2082627" imgH="197012" progId="Equation.3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708275"/>
                        <a:ext cx="4986338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3548" name="Rectangle 92">
            <a:extLst>
              <a:ext uri="{FF2B5EF4-FFF2-40B4-BE49-F238E27FC236}">
                <a16:creationId xmlns:a16="http://schemas.microsoft.com/office/drawing/2014/main" id="{0517194B-B29A-1085-5117-ADD0BAE7B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775" y="836613"/>
            <a:ext cx="19081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线电流</a:t>
            </a:r>
            <a:endParaRPr lang="en-US" altLang="zh-CN" b="0">
              <a:solidFill>
                <a:srgbClr val="FF9900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2">
            <a:extLst>
              <a:ext uri="{FF2B5EF4-FFF2-40B4-BE49-F238E27FC236}">
                <a16:creationId xmlns:a16="http://schemas.microsoft.com/office/drawing/2014/main" id="{F80A3705-1A46-1F22-513A-BD8D019CF95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AAFDA68-A768-44A4-97C4-A24B288F639D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9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32162" name="Rectangle 2">
            <a:extLst>
              <a:ext uri="{FF2B5EF4-FFF2-40B4-BE49-F238E27FC236}">
                <a16:creationId xmlns:a16="http://schemas.microsoft.com/office/drawing/2014/main" id="{299B481D-01D2-2EDA-D25C-AE46F20EA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243013"/>
            <a:ext cx="824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>
                <a:latin typeface="Times New Roman" panose="02020603050405020304" pitchFamily="18" charset="0"/>
              </a:rPr>
              <a:t>当场点</a:t>
            </a:r>
            <a:r>
              <a:rPr lang="en-US" altLang="zh-CN" b="0" i="1">
                <a:latin typeface="Times New Roman" panose="02020603050405020304" pitchFamily="18" charset="0"/>
              </a:rPr>
              <a:t>P </a:t>
            </a:r>
            <a:r>
              <a:rPr lang="zh-CN" altLang="en-US">
                <a:latin typeface="Times New Roman" panose="02020603050405020304" pitchFamily="18" charset="0"/>
              </a:rPr>
              <a:t>远离圆环（</a:t>
            </a:r>
            <a:r>
              <a:rPr lang="en-US" altLang="zh-CN" b="0" i="1">
                <a:latin typeface="Times New Roman" panose="02020603050405020304" pitchFamily="18" charset="0"/>
              </a:rPr>
              <a:t>z</a:t>
            </a:r>
            <a:r>
              <a:rPr lang="en-US" altLang="zh-CN"/>
              <a:t> </a:t>
            </a:r>
            <a:r>
              <a:rPr lang="en-US" altLang="zh-CN" b="0"/>
              <a:t>&gt;&gt;</a:t>
            </a:r>
            <a:r>
              <a:rPr lang="en-US" altLang="zh-CN" b="0">
                <a:latin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en-US" altLang="zh-CN" b="0" i="1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2167" name="Rectangle 7">
            <a:extLst>
              <a:ext uri="{FF2B5EF4-FFF2-40B4-BE49-F238E27FC236}">
                <a16:creationId xmlns:a16="http://schemas.microsoft.com/office/drawing/2014/main" id="{117D1516-5422-A6AE-4EA0-EAC4A1A3D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33400"/>
            <a:ext cx="6192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>
                <a:latin typeface="Times New Roman" panose="02020603050405020304" pitchFamily="18" charset="0"/>
              </a:rPr>
              <a:t>在圆环的中心点上（</a:t>
            </a:r>
            <a:r>
              <a:rPr lang="en-US" altLang="zh-CN" b="0" i="1">
                <a:latin typeface="Times New Roman" panose="02020603050405020304" pitchFamily="18" charset="0"/>
              </a:rPr>
              <a:t>z </a:t>
            </a:r>
            <a:r>
              <a:rPr lang="en-US" altLang="zh-CN" b="0"/>
              <a:t>=</a:t>
            </a:r>
            <a:r>
              <a:rPr lang="en-US" altLang="zh-CN">
                <a:latin typeface="Times New Roman" panose="02020603050405020304" pitchFamily="18" charset="0"/>
              </a:rPr>
              <a:t> 0</a:t>
            </a:r>
            <a:r>
              <a:rPr lang="zh-CN" altLang="en-US"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100357" name="AutoShape 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22A310EE-67C2-8FF0-D1AB-B042E482A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0358" name="AutoShape 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86CC47E-14D3-7111-FE2F-4A816C390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0359" name="AutoShape 1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B836087-9962-67BE-EFE2-F5A65A510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0360" name="AutoShape 1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7C7F7148-5496-E5A1-D3CF-2969CFCDE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4E4EE8B0-6554-2E8D-08F6-84E811125F20}"/>
              </a:ext>
            </a:extLst>
          </p:cNvPr>
          <p:cNvGrpSpPr>
            <a:grpSpLocks/>
          </p:cNvGrpSpPr>
          <p:nvPr/>
        </p:nvGrpSpPr>
        <p:grpSpPr bwMode="auto">
          <a:xfrm>
            <a:off x="4284663" y="1196975"/>
            <a:ext cx="3024187" cy="576263"/>
            <a:chOff x="2925" y="3175"/>
            <a:chExt cx="1860" cy="346"/>
          </a:xfrm>
        </p:grpSpPr>
        <p:graphicFrame>
          <p:nvGraphicFramePr>
            <p:cNvPr id="100383" name="Object 13">
              <a:extLst>
                <a:ext uri="{FF2B5EF4-FFF2-40B4-BE49-F238E27FC236}">
                  <a16:creationId xmlns:a16="http://schemas.microsoft.com/office/drawing/2014/main" id="{760A0E81-17A0-1370-894C-353CB361A1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9" y="3175"/>
            <a:ext cx="1496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793936" imgH="133419" progId="Equation.DSMT4">
                    <p:embed/>
                  </p:oleObj>
                </mc:Choice>
                <mc:Fallback>
                  <p:oleObj r:id="rId3" imgW="793936" imgH="133419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9" y="3175"/>
                          <a:ext cx="1496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384" name="AutoShape 14">
              <a:extLst>
                <a:ext uri="{FF2B5EF4-FFF2-40B4-BE49-F238E27FC236}">
                  <a16:creationId xmlns:a16="http://schemas.microsoft.com/office/drawing/2014/main" id="{5DE8DE98-7D42-9743-13CE-F871782BA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3294"/>
              <a:ext cx="363" cy="136"/>
            </a:xfrm>
            <a:prstGeom prst="rightArrow">
              <a:avLst>
                <a:gd name="adj1" fmla="val 50000"/>
                <a:gd name="adj2" fmla="val 66716"/>
              </a:avLst>
            </a:prstGeom>
            <a:solidFill>
              <a:srgbClr val="FFCC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3" name="Group 15">
            <a:extLst>
              <a:ext uri="{FF2B5EF4-FFF2-40B4-BE49-F238E27FC236}">
                <a16:creationId xmlns:a16="http://schemas.microsoft.com/office/drawing/2014/main" id="{C1BD0EEB-54BD-6AAE-A514-611862BDAEA9}"/>
              </a:ext>
            </a:extLst>
          </p:cNvPr>
          <p:cNvGrpSpPr>
            <a:grpSpLocks/>
          </p:cNvGrpSpPr>
          <p:nvPr/>
        </p:nvGrpSpPr>
        <p:grpSpPr bwMode="auto">
          <a:xfrm>
            <a:off x="4284663" y="365125"/>
            <a:ext cx="2500312" cy="841375"/>
            <a:chOff x="2971" y="2512"/>
            <a:chExt cx="1575" cy="530"/>
          </a:xfrm>
        </p:grpSpPr>
        <p:graphicFrame>
          <p:nvGraphicFramePr>
            <p:cNvPr id="100381" name="Object 16">
              <a:extLst>
                <a:ext uri="{FF2B5EF4-FFF2-40B4-BE49-F238E27FC236}">
                  <a16:creationId xmlns:a16="http://schemas.microsoft.com/office/drawing/2014/main" id="{F05DA056-7ECD-F8FE-1E57-F470EE885F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9" y="2512"/>
            <a:ext cx="1167" cy="5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679506" imgH="279308" progId="Equation.DSMT4">
                    <p:embed/>
                  </p:oleObj>
                </mc:Choice>
                <mc:Fallback>
                  <p:oleObj r:id="rId5" imgW="679506" imgH="279308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2512"/>
                          <a:ext cx="1167" cy="5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382" name="AutoShape 17">
              <a:extLst>
                <a:ext uri="{FF2B5EF4-FFF2-40B4-BE49-F238E27FC236}">
                  <a16:creationId xmlns:a16="http://schemas.microsoft.com/office/drawing/2014/main" id="{B86965CA-34A6-74B4-CE10-68FCD835D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724"/>
              <a:ext cx="363" cy="136"/>
            </a:xfrm>
            <a:prstGeom prst="rightArrow">
              <a:avLst>
                <a:gd name="adj1" fmla="val 50000"/>
                <a:gd name="adj2" fmla="val 66716"/>
              </a:avLst>
            </a:prstGeom>
            <a:solidFill>
              <a:srgbClr val="FFCC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D10EFEAD-1927-7D72-BDB8-D8C4005D3526}"/>
              </a:ext>
            </a:extLst>
          </p:cNvPr>
          <p:cNvGrpSpPr>
            <a:grpSpLocks/>
          </p:cNvGrpSpPr>
          <p:nvPr/>
        </p:nvGrpSpPr>
        <p:grpSpPr bwMode="auto">
          <a:xfrm>
            <a:off x="7019925" y="404813"/>
            <a:ext cx="1893888" cy="711200"/>
            <a:chOff x="4567" y="2543"/>
            <a:chExt cx="1193" cy="448"/>
          </a:xfrm>
        </p:grpSpPr>
        <p:sp>
          <p:nvSpPr>
            <p:cNvPr id="100379" name="Rectangle 19">
              <a:extLst>
                <a:ext uri="{FF2B5EF4-FFF2-40B4-BE49-F238E27FC236}">
                  <a16:creationId xmlns:a16="http://schemas.microsoft.com/office/drawing/2014/main" id="{D29B2BA8-FEC1-D237-7F19-E568840A4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3" y="2543"/>
              <a:ext cx="907" cy="448"/>
            </a:xfrm>
            <a:prstGeom prst="rect">
              <a:avLst/>
            </a:prstGeom>
            <a:solidFill>
              <a:srgbClr val="FFD9D9"/>
            </a:solidFill>
            <a:ln w="952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磁感应强度最大</a:t>
              </a:r>
            </a:p>
          </p:txBody>
        </p:sp>
        <p:sp>
          <p:nvSpPr>
            <p:cNvPr id="100380" name="Line 20">
              <a:extLst>
                <a:ext uri="{FF2B5EF4-FFF2-40B4-BE49-F238E27FC236}">
                  <a16:creationId xmlns:a16="http://schemas.microsoft.com/office/drawing/2014/main" id="{FD1B8CB7-518B-5E91-A654-4FDC288C4C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7" y="2815"/>
              <a:ext cx="272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1">
            <a:extLst>
              <a:ext uri="{FF2B5EF4-FFF2-40B4-BE49-F238E27FC236}">
                <a16:creationId xmlns:a16="http://schemas.microsoft.com/office/drawing/2014/main" id="{B24AECA2-58FA-F2CA-2CDA-1136BB7A0A32}"/>
              </a:ext>
            </a:extLst>
          </p:cNvPr>
          <p:cNvGrpSpPr>
            <a:grpSpLocks/>
          </p:cNvGrpSpPr>
          <p:nvPr/>
        </p:nvGrpSpPr>
        <p:grpSpPr bwMode="auto">
          <a:xfrm>
            <a:off x="438150" y="1773238"/>
            <a:ext cx="2478088" cy="903287"/>
            <a:chOff x="1610" y="3521"/>
            <a:chExt cx="1561" cy="569"/>
          </a:xfrm>
        </p:grpSpPr>
        <p:graphicFrame>
          <p:nvGraphicFramePr>
            <p:cNvPr id="100377" name="Object 22">
              <a:extLst>
                <a:ext uri="{FF2B5EF4-FFF2-40B4-BE49-F238E27FC236}">
                  <a16:creationId xmlns:a16="http://schemas.microsoft.com/office/drawing/2014/main" id="{69425561-FF3A-DEFF-C77C-600BD6E324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64" y="3521"/>
            <a:ext cx="1107" cy="5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41224" imgH="298427" progId="Equation.DSMT4">
                    <p:embed/>
                  </p:oleObj>
                </mc:Choice>
                <mc:Fallback>
                  <p:oleObj r:id="rId7" imgW="641224" imgH="298427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3521"/>
                          <a:ext cx="1107" cy="5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378" name="AutoShape 23">
              <a:extLst>
                <a:ext uri="{FF2B5EF4-FFF2-40B4-BE49-F238E27FC236}">
                  <a16:creationId xmlns:a16="http://schemas.microsoft.com/office/drawing/2014/main" id="{F32346EB-F6CA-FE22-9C04-A2B7033E6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3748"/>
              <a:ext cx="363" cy="136"/>
            </a:xfrm>
            <a:prstGeom prst="rightArrow">
              <a:avLst>
                <a:gd name="adj1" fmla="val 50000"/>
                <a:gd name="adj2" fmla="val 66716"/>
              </a:avLst>
            </a:prstGeom>
            <a:solidFill>
              <a:srgbClr val="FFCC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6" name="Group 52">
            <a:extLst>
              <a:ext uri="{FF2B5EF4-FFF2-40B4-BE49-F238E27FC236}">
                <a16:creationId xmlns:a16="http://schemas.microsoft.com/office/drawing/2014/main" id="{E1A7CB3E-501B-1B02-8155-4FE54AEFDF98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924175"/>
            <a:ext cx="5238750" cy="457200"/>
            <a:chOff x="260" y="835"/>
            <a:chExt cx="3300" cy="288"/>
          </a:xfrm>
        </p:grpSpPr>
        <p:sp>
          <p:nvSpPr>
            <p:cNvPr id="100375" name="Rectangle 53">
              <a:extLst>
                <a:ext uri="{FF2B5EF4-FFF2-40B4-BE49-F238E27FC236}">
                  <a16:creationId xmlns:a16="http://schemas.microsoft.com/office/drawing/2014/main" id="{3D8786B6-6EAB-09EF-2519-48028A2D4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" y="835"/>
              <a:ext cx="31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>
                  <a:solidFill>
                    <a:srgbClr val="F8A6A6"/>
                  </a:solidFill>
                  <a:ea typeface="宋体" panose="02010600030101010101" pitchFamily="2" charset="-122"/>
                </a:rPr>
                <a:t>磁偶极子</a:t>
              </a:r>
              <a:endParaRPr lang="zh-CN" altLang="en-US" sz="2800">
                <a:solidFill>
                  <a:srgbClr val="F8A6A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00376" name="Oval 54">
              <a:extLst>
                <a:ext uri="{FF2B5EF4-FFF2-40B4-BE49-F238E27FC236}">
                  <a16:creationId xmlns:a16="http://schemas.microsoft.com/office/drawing/2014/main" id="{48E7795E-B423-8642-76C3-F80AF048135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0" y="981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732215" name="Object 55">
            <a:extLst>
              <a:ext uri="{FF2B5EF4-FFF2-40B4-BE49-F238E27FC236}">
                <a16:creationId xmlns:a16="http://schemas.microsoft.com/office/drawing/2014/main" id="{92A9CC85-32A3-F33A-CBE2-48832C0933DA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1547813" y="3429000"/>
          <a:ext cx="1728787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77976" imgH="133419" progId="Equation.3">
                  <p:embed/>
                </p:oleObj>
              </mc:Choice>
              <mc:Fallback>
                <p:oleObj r:id="rId9" imgW="577976" imgH="133419" progId="Equation.3">
                  <p:embed/>
                  <p:pic>
                    <p:nvPicPr>
                      <p:cNvPr id="0" name="Object 5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429000"/>
                        <a:ext cx="1728787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2217" name="Rectangle 57">
            <a:extLst>
              <a:ext uri="{FF2B5EF4-FFF2-40B4-BE49-F238E27FC236}">
                <a16:creationId xmlns:a16="http://schemas.microsoft.com/office/drawing/2014/main" id="{AFD5E83B-76A3-5F45-F84C-0B725C1C6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500438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>
                <a:latin typeface="Times New Roman" panose="02020603050405020304" pitchFamily="18" charset="0"/>
              </a:rPr>
              <a:t>磁矩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2218" name="Picture 58">
            <a:extLst>
              <a:ext uri="{FF2B5EF4-FFF2-40B4-BE49-F238E27FC236}">
                <a16:creationId xmlns:a16="http://schemas.microsoft.com/office/drawing/2014/main" id="{0A269F8D-0625-BD65-DB49-81F0FE43B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988" y="4724400"/>
            <a:ext cx="2232025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59">
            <a:extLst>
              <a:ext uri="{FF2B5EF4-FFF2-40B4-BE49-F238E27FC236}">
                <a16:creationId xmlns:a16="http://schemas.microsoft.com/office/drawing/2014/main" id="{DFD8EEB7-5194-C314-26DD-521824EE9FD9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4005263"/>
            <a:ext cx="2016125" cy="457200"/>
            <a:chOff x="113" y="2614"/>
            <a:chExt cx="1270" cy="288"/>
          </a:xfrm>
        </p:grpSpPr>
        <p:sp>
          <p:nvSpPr>
            <p:cNvPr id="100373" name="Rectangle 60">
              <a:extLst>
                <a:ext uri="{FF2B5EF4-FFF2-40B4-BE49-F238E27FC236}">
                  <a16:creationId xmlns:a16="http://schemas.microsoft.com/office/drawing/2014/main" id="{253667AD-6E94-4DDB-15CA-1D22E4EAB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614"/>
              <a:ext cx="11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zh-CN" altLang="en-US">
                  <a:solidFill>
                    <a:srgbClr val="FFCC66"/>
                  </a:solidFill>
                  <a:ea typeface="宋体" panose="02010600030101010101" pitchFamily="2" charset="-122"/>
                </a:rPr>
                <a:t>说明：</a:t>
              </a:r>
            </a:p>
          </p:txBody>
        </p:sp>
        <p:sp>
          <p:nvSpPr>
            <p:cNvPr id="100374" name="Rectangle 61">
              <a:extLst>
                <a:ext uri="{FF2B5EF4-FFF2-40B4-BE49-F238E27FC236}">
                  <a16:creationId xmlns:a16="http://schemas.microsoft.com/office/drawing/2014/main" id="{016F4895-366D-57B7-B5BB-A4E6C7DFB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704"/>
              <a:ext cx="136" cy="136"/>
            </a:xfrm>
            <a:prstGeom prst="rect">
              <a:avLst/>
            </a:prstGeom>
            <a:gradFill rotWithShape="1">
              <a:gsLst>
                <a:gs pos="0">
                  <a:srgbClr val="5B1818"/>
                </a:gs>
                <a:gs pos="100000">
                  <a:srgbClr val="F03E3E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732222" name="Rectangle 62">
            <a:extLst>
              <a:ext uri="{FF2B5EF4-FFF2-40B4-BE49-F238E27FC236}">
                <a16:creationId xmlns:a16="http://schemas.microsoft.com/office/drawing/2014/main" id="{A5DEC084-8CC6-0958-725E-0053ABB0F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437063"/>
            <a:ext cx="518477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en-US" altLang="zh-CN"/>
              <a:t>  </a:t>
            </a:r>
            <a:r>
              <a:rPr lang="en-US" altLang="zh-CN">
                <a:latin typeface="Times New Roman" panose="02020603050405020304" pitchFamily="18" charset="0"/>
              </a:rPr>
              <a:t>N</a:t>
            </a:r>
            <a:r>
              <a:rPr lang="zh-CN" altLang="en-US"/>
              <a:t>为线圈的匝数。</a:t>
            </a:r>
          </a:p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zh-CN" altLang="en-US"/>
              <a:t>  </a:t>
            </a:r>
            <a:r>
              <a:rPr lang="en-US" altLang="zh-CN">
                <a:latin typeface="Times New Roman" panose="02020603050405020304" pitchFamily="18" charset="0"/>
              </a:rPr>
              <a:t>S</a:t>
            </a:r>
            <a:r>
              <a:rPr lang="zh-CN" altLang="en-US"/>
              <a:t>为线圈的面积。</a:t>
            </a:r>
          </a:p>
          <a:p>
            <a:pPr eaLnBrk="1" hangingPunct="1">
              <a:lnSpc>
                <a:spcPct val="125000"/>
              </a:lnSpc>
              <a:buFontTx/>
              <a:buChar char="•"/>
            </a:pPr>
            <a:r>
              <a:rPr lang="zh-CN" altLang="en-US"/>
              <a:t>      代表线圈平面的法向单位矢量，其方向与电流环绕方向呈右螺旋关系。</a:t>
            </a:r>
          </a:p>
        </p:txBody>
      </p:sp>
      <p:graphicFrame>
        <p:nvGraphicFramePr>
          <p:cNvPr id="732223" name="Object 63">
            <a:extLst>
              <a:ext uri="{FF2B5EF4-FFF2-40B4-BE49-F238E27FC236}">
                <a16:creationId xmlns:a16="http://schemas.microsoft.com/office/drawing/2014/main" id="{A58BB685-4BD3-60EE-0108-2DE660D71F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013" y="5373688"/>
          <a:ext cx="38100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76148" imgH="133419" progId="Equation.3">
                  <p:embed/>
                </p:oleObj>
              </mc:Choice>
              <mc:Fallback>
                <p:oleObj r:id="rId12" imgW="76148" imgH="133419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13" y="5373688"/>
                        <a:ext cx="38100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32224" name="Picture 64">
            <a:extLst>
              <a:ext uri="{FF2B5EF4-FFF2-40B4-BE49-F238E27FC236}">
                <a16:creationId xmlns:a16="http://schemas.microsoft.com/office/drawing/2014/main" id="{61BCE128-63E4-F404-291F-21A1C35B10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205038"/>
            <a:ext cx="4176712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1" name="AutoShape 40">
            <a:extLst>
              <a:ext uri="{FF2B5EF4-FFF2-40B4-BE49-F238E27FC236}">
                <a16:creationId xmlns:a16="http://schemas.microsoft.com/office/drawing/2014/main" id="{CFB124D0-7092-99B1-DD92-17C404168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056" y="5807074"/>
            <a:ext cx="2160588" cy="428625"/>
          </a:xfrm>
          <a:prstGeom prst="wedgeRoundRectCallout">
            <a:avLst>
              <a:gd name="adj1" fmla="val -119827"/>
              <a:gd name="adj2" fmla="val -262093"/>
              <a:gd name="adj3" fmla="val 16667"/>
            </a:avLst>
          </a:prstGeom>
          <a:solidFill>
            <a:srgbClr val="FFFF66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sz="2000" dirty="0">
                <a:solidFill>
                  <a:schemeClr val="tx1"/>
                </a:solidFill>
              </a:rPr>
              <a:t>体电流密度矢量</a:t>
            </a:r>
          </a:p>
        </p:txBody>
      </p:sp>
      <p:sp>
        <p:nvSpPr>
          <p:cNvPr id="102402" name="灯片编号占位符 3">
            <a:extLst>
              <a:ext uri="{FF2B5EF4-FFF2-40B4-BE49-F238E27FC236}">
                <a16:creationId xmlns:a16="http://schemas.microsoft.com/office/drawing/2014/main" id="{F232FA42-22DC-34E0-AB31-96969B6AC68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2670A95-6BF6-470F-8723-E77F2435E864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10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8230" name="Rectangle 6">
            <a:extLst>
              <a:ext uri="{FF2B5EF4-FFF2-40B4-BE49-F238E27FC236}">
                <a16:creationId xmlns:a16="http://schemas.microsoft.com/office/drawing/2014/main" id="{BF1F91AB-2F45-6104-560D-70284A612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76250"/>
            <a:ext cx="5545137" cy="43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幼圆" panose="02010509060101010101" pitchFamily="49" charset="-122"/>
              </a:rPr>
              <a:t>2.3.2 </a:t>
            </a:r>
            <a:r>
              <a:rPr lang="en-US" altLang="zh-CN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>
                <a:latin typeface="幼圆" panose="02010509060101010101" pitchFamily="49" charset="-122"/>
                <a:ea typeface="幼圆" panose="02010509060101010101" pitchFamily="49" charset="-122"/>
              </a:rPr>
              <a:t>恒定磁场的散度和旋度</a:t>
            </a:r>
            <a:r>
              <a:rPr lang="zh-CN" altLang="en-US" sz="200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graphicFrame>
        <p:nvGraphicFramePr>
          <p:cNvPr id="308236" name="Object 12">
            <a:extLst>
              <a:ext uri="{FF2B5EF4-FFF2-40B4-BE49-F238E27FC236}">
                <a16:creationId xmlns:a16="http://schemas.microsoft.com/office/drawing/2014/main" id="{A5B89F81-D927-D7A2-F6D9-FB150D17A9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440238"/>
          <a:ext cx="2376488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27091" imgH="152539" progId="Equation.3">
                  <p:embed/>
                </p:oleObj>
              </mc:Choice>
              <mc:Fallback>
                <p:oleObj r:id="rId3" imgW="927091" imgH="15253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440238"/>
                        <a:ext cx="2376488" cy="557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7" name="Object 13">
            <a:extLst>
              <a:ext uri="{FF2B5EF4-FFF2-40B4-BE49-F238E27FC236}">
                <a16:creationId xmlns:a16="http://schemas.microsoft.com/office/drawing/2014/main" id="{00FEE95A-824B-C19F-669F-4B637900D1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4367213"/>
          <a:ext cx="3346450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44583" imgH="247719" progId="Equation.3">
                  <p:embed/>
                </p:oleObj>
              </mc:Choice>
              <mc:Fallback>
                <p:oleObj r:id="rId5" imgW="1244583" imgH="24771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367213"/>
                        <a:ext cx="3346450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41" name="Rectangle 17">
            <a:extLst>
              <a:ext uri="{FF2B5EF4-FFF2-40B4-BE49-F238E27FC236}">
                <a16:creationId xmlns:a16="http://schemas.microsoft.com/office/drawing/2014/main" id="{2565C1EE-9E62-5BDF-F749-BF83583AB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836613"/>
            <a:ext cx="82296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F8A6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1.</a:t>
            </a:r>
            <a:r>
              <a:rPr lang="en-US" altLang="zh-CN" dirty="0">
                <a:solidFill>
                  <a:srgbClr val="F8A6A6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恒定磁场的散度与通量</a:t>
            </a:r>
            <a:r>
              <a:rPr lang="zh-CN" altLang="en-US" dirty="0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（高斯定理）</a:t>
            </a:r>
          </a:p>
        </p:txBody>
      </p:sp>
      <p:sp>
        <p:nvSpPr>
          <p:cNvPr id="308247" name="Rectangle 23">
            <a:extLst>
              <a:ext uri="{FF2B5EF4-FFF2-40B4-BE49-F238E27FC236}">
                <a16:creationId xmlns:a16="http://schemas.microsoft.com/office/drawing/2014/main" id="{5BEB2F1E-A521-15CE-9B9A-8A61B1F75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88" y="2492375"/>
            <a:ext cx="78835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CC66"/>
                </a:solidFill>
                <a:ea typeface="宋体" panose="02010600030101010101" pitchFamily="2" charset="-122"/>
              </a:rPr>
              <a:t>磁通连续性原理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表明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zh-CN" altLang="en-US">
                <a:latin typeface="Times New Roman" panose="02020603050405020304" pitchFamily="18" charset="0"/>
              </a:rPr>
              <a:t>恒定磁场是无散场。</a:t>
            </a:r>
          </a:p>
        </p:txBody>
      </p:sp>
      <p:sp>
        <p:nvSpPr>
          <p:cNvPr id="308248" name="Rectangle 24">
            <a:extLst>
              <a:ext uri="{FF2B5EF4-FFF2-40B4-BE49-F238E27FC236}">
                <a16:creationId xmlns:a16="http://schemas.microsoft.com/office/drawing/2014/main" id="{E83DBE69-0CE0-B1B7-F141-A3A0B73C3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1341438"/>
            <a:ext cx="388778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25000"/>
              </a:lnSpc>
            </a:pPr>
            <a:r>
              <a:rPr lang="zh-CN" altLang="en-US">
                <a:latin typeface="Times New Roman" panose="02020603050405020304" pitchFamily="18" charset="0"/>
              </a:rPr>
              <a:t>恒定场的散度</a:t>
            </a:r>
            <a:r>
              <a:rPr lang="zh-CN" altLang="en-US" sz="2000">
                <a:latin typeface="Times New Roman" panose="02020603050405020304" pitchFamily="18" charset="0"/>
              </a:rPr>
              <a:t>（微分形式）</a:t>
            </a:r>
          </a:p>
        </p:txBody>
      </p:sp>
      <p:sp>
        <p:nvSpPr>
          <p:cNvPr id="308249" name="Rectangle 25">
            <a:extLst>
              <a:ext uri="{FF2B5EF4-FFF2-40B4-BE49-F238E27FC236}">
                <a16:creationId xmlns:a16="http://schemas.microsoft.com/office/drawing/2014/main" id="{A9831DA3-DE68-CF62-71CC-E3F5D3BB8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4662" y="1339850"/>
            <a:ext cx="4551364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C000"/>
                </a:solidFill>
                <a:latin typeface="Times New Roman" panose="02020603050405020304" pitchFamily="18" charset="0"/>
              </a:rPr>
              <a:t>磁通连续性</a:t>
            </a:r>
            <a:r>
              <a:rPr lang="zh-CN" altLang="en-US" dirty="0">
                <a:latin typeface="Times New Roman" panose="02020603050405020304" pitchFamily="18" charset="0"/>
              </a:rPr>
              <a:t>原理</a:t>
            </a:r>
            <a:r>
              <a:rPr lang="zh-CN" altLang="en-US" sz="1600" dirty="0">
                <a:solidFill>
                  <a:srgbClr val="FFC000"/>
                </a:solidFill>
                <a:latin typeface="Times New Roman" panose="02020603050405020304" pitchFamily="18" charset="0"/>
              </a:rPr>
              <a:t>（通过磁路中任一节点的磁通的代数和为零）</a:t>
            </a:r>
            <a:r>
              <a:rPr lang="zh-CN" altLang="en-US" sz="2000" dirty="0">
                <a:latin typeface="Times New Roman" panose="02020603050405020304" pitchFamily="18" charset="0"/>
              </a:rPr>
              <a:t>（积分形式）</a:t>
            </a:r>
          </a:p>
        </p:txBody>
      </p:sp>
      <p:sp>
        <p:nvSpPr>
          <p:cNvPr id="308252" name="Rectangle 28">
            <a:extLst>
              <a:ext uri="{FF2B5EF4-FFF2-40B4-BE49-F238E27FC236}">
                <a16:creationId xmlns:a16="http://schemas.microsoft.com/office/drawing/2014/main" id="{89C325A4-7DEB-C836-EEA3-3DF42BE80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124450"/>
            <a:ext cx="813752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安培环路定理表明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zh-CN" altLang="en-US"/>
              <a:t>恒定磁场是有旋场，电流是磁场的旋涡源。恒定磁场是非保守场。</a:t>
            </a:r>
          </a:p>
        </p:txBody>
      </p:sp>
      <p:sp>
        <p:nvSpPr>
          <p:cNvPr id="308253" name="Rectangle 29">
            <a:extLst>
              <a:ext uri="{FF2B5EF4-FFF2-40B4-BE49-F238E27FC236}">
                <a16:creationId xmlns:a16="http://schemas.microsoft.com/office/drawing/2014/main" id="{9A457DF9-0E49-0009-FEA4-6AF6796E5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716338"/>
            <a:ext cx="4032250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25000"/>
              </a:lnSpc>
            </a:pPr>
            <a:r>
              <a:rPr lang="zh-CN" altLang="en-US">
                <a:latin typeface="Times New Roman" panose="02020603050405020304" pitchFamily="18" charset="0"/>
              </a:rPr>
              <a:t>恒定磁场的旋度</a:t>
            </a:r>
            <a:r>
              <a:rPr lang="zh-CN" altLang="en-US" sz="2000">
                <a:latin typeface="Times New Roman" panose="02020603050405020304" pitchFamily="18" charset="0"/>
              </a:rPr>
              <a:t>（微分形式）</a:t>
            </a:r>
          </a:p>
        </p:txBody>
      </p:sp>
      <p:sp>
        <p:nvSpPr>
          <p:cNvPr id="308254" name="Rectangle 30">
            <a:extLst>
              <a:ext uri="{FF2B5EF4-FFF2-40B4-BE49-F238E27FC236}">
                <a16:creationId xmlns:a16="http://schemas.microsoft.com/office/drawing/2014/main" id="{34594E1E-77AC-F484-30C0-1FF40E799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88" y="3141663"/>
            <a:ext cx="82296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F8A6A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  </a:t>
            </a:r>
            <a:r>
              <a:rPr lang="zh-CN" altLang="en-US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恒定磁场的旋度与环流</a:t>
            </a:r>
            <a:r>
              <a:rPr lang="zh-CN" altLang="en-US" dirty="0">
                <a:solidFill>
                  <a:srgbClr val="D60093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（安培环路定理）</a:t>
            </a:r>
          </a:p>
        </p:txBody>
      </p:sp>
      <p:sp>
        <p:nvSpPr>
          <p:cNvPr id="308255" name="Rectangle 31">
            <a:extLst>
              <a:ext uri="{FF2B5EF4-FFF2-40B4-BE49-F238E27FC236}">
                <a16:creationId xmlns:a16="http://schemas.microsoft.com/office/drawing/2014/main" id="{8DAABC4F-6C83-8313-D4DF-51B32EEB3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3717925"/>
            <a:ext cx="44640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>
                <a:latin typeface="Times New Roman" panose="02020603050405020304" pitchFamily="18" charset="0"/>
              </a:rPr>
              <a:t>安培环路定理</a:t>
            </a:r>
            <a:r>
              <a:rPr lang="zh-CN" altLang="en-US" sz="2000">
                <a:latin typeface="Times New Roman" panose="02020603050405020304" pitchFamily="18" charset="0"/>
              </a:rPr>
              <a:t>（积分形式）</a:t>
            </a:r>
          </a:p>
        </p:txBody>
      </p:sp>
      <p:graphicFrame>
        <p:nvGraphicFramePr>
          <p:cNvPr id="308256" name="Object 32">
            <a:extLst>
              <a:ext uri="{FF2B5EF4-FFF2-40B4-BE49-F238E27FC236}">
                <a16:creationId xmlns:a16="http://schemas.microsoft.com/office/drawing/2014/main" id="{A9A93E68-976D-82AF-E0A4-6E9322C3B6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094782"/>
              </p:ext>
            </p:extLst>
          </p:nvPr>
        </p:nvGraphicFramePr>
        <p:xfrm>
          <a:off x="6512548" y="2182855"/>
          <a:ext cx="1800225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77976" imgH="234835" progId="Equation.3">
                  <p:embed/>
                </p:oleObj>
              </mc:Choice>
              <mc:Fallback>
                <p:oleObj r:id="rId7" imgW="577976" imgH="234835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2548" y="2182855"/>
                        <a:ext cx="1800225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57" name="Object 33">
            <a:extLst>
              <a:ext uri="{FF2B5EF4-FFF2-40B4-BE49-F238E27FC236}">
                <a16:creationId xmlns:a16="http://schemas.microsoft.com/office/drawing/2014/main" id="{15EE285E-AAD0-5FF1-7C49-BCFAE03922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1989138"/>
          <a:ext cx="158273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77976" imgH="133419" progId="Equation.3">
                  <p:embed/>
                </p:oleObj>
              </mc:Choice>
              <mc:Fallback>
                <p:oleObj r:id="rId9" imgW="577976" imgH="133419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989138"/>
                        <a:ext cx="158273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16" name="AutoShape 3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DB08997-8E5A-4C00-309D-A2AE156F5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238875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2417" name="AutoShape 3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C32A771-D15E-70F4-E832-93D98AEED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238875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2418" name="AutoShape 3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F022A9A-9733-E5F2-F191-D2480E72B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238875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2419" name="AutoShape 3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2890392-B62B-A5F4-C0F7-889F3FC89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238875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2420" name="Oval 39">
            <a:extLst>
              <a:ext uri="{FF2B5EF4-FFF2-40B4-BE49-F238E27FC236}">
                <a16:creationId xmlns:a16="http://schemas.microsoft.com/office/drawing/2014/main" id="{8B8F8E0B-75FD-20A5-684B-B08A243A4DAF}"/>
              </a:ext>
            </a:extLst>
          </p:cNvPr>
          <p:cNvSpPr>
            <a:spLocks noChangeArrowheads="1"/>
          </p:cNvSpPr>
          <p:nvPr/>
        </p:nvSpPr>
        <p:spPr bwMode="auto">
          <a:xfrm rot="-2506749">
            <a:off x="2898775" y="4392613"/>
            <a:ext cx="701675" cy="665162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2">
            <a:extLst>
              <a:ext uri="{FF2B5EF4-FFF2-40B4-BE49-F238E27FC236}">
                <a16:creationId xmlns:a16="http://schemas.microsoft.com/office/drawing/2014/main" id="{2EB89FC5-E30C-6CB3-D379-174772912F9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48DFEA0-85BF-4327-BCBD-D677FA008DC0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11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58094" name="Text Box 14">
            <a:extLst>
              <a:ext uri="{FF2B5EF4-FFF2-40B4-BE49-F238E27FC236}">
                <a16:creationId xmlns:a16="http://schemas.microsoft.com/office/drawing/2014/main" id="{DA4CD6E0-AC95-6CE3-719D-DD85B76EC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04813"/>
            <a:ext cx="80645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3.  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利用安培环路定理计算磁感应强度</a:t>
            </a:r>
          </a:p>
        </p:txBody>
      </p:sp>
      <p:sp>
        <p:nvSpPr>
          <p:cNvPr id="104452" name="AutoShape 5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CF0FF09B-F82E-B7D1-9F36-6DCB13F9F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270625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4453" name="AutoShape 5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ABB5C36-4EFF-7D07-F9AC-F428F3D981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270625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4454" name="AutoShape 5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C2EE596-4AC1-AB2F-9892-2D0B00549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270625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4455" name="AutoShape 54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5B9917C8-14C8-88D2-F6C7-C2264C6A8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270625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58135" name="Text Box 55">
            <a:extLst>
              <a:ext uri="{FF2B5EF4-FFF2-40B4-BE49-F238E27FC236}">
                <a16:creationId xmlns:a16="http://schemas.microsoft.com/office/drawing/2014/main" id="{014CE695-AF62-5E59-ADAF-DEA205A5A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916113"/>
            <a:ext cx="4968875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安培环路定律</a:t>
            </a:r>
            <a:endParaRPr lang="zh-CN" altLang="en-US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558136" name="Object 56">
            <a:extLst>
              <a:ext uri="{FF2B5EF4-FFF2-40B4-BE49-F238E27FC236}">
                <a16:creationId xmlns:a16="http://schemas.microsoft.com/office/drawing/2014/main" id="{58510910-63BB-4886-633D-8FF7EECEC6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2559050"/>
          <a:ext cx="3490912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225442" imgH="197012" progId="Equation.3">
                  <p:embed/>
                </p:oleObj>
              </mc:Choice>
              <mc:Fallback>
                <p:oleObj r:id="rId3" imgW="1225442" imgH="197012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2559050"/>
                        <a:ext cx="3490912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8141" name="Text Box 61">
            <a:extLst>
              <a:ext uri="{FF2B5EF4-FFF2-40B4-BE49-F238E27FC236}">
                <a16:creationId xmlns:a16="http://schemas.microsoft.com/office/drawing/2014/main" id="{1ACE5137-DE86-5AFF-ED98-5F8292CC7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874713"/>
            <a:ext cx="8713787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000">
                <a:latin typeface="幼圆" panose="02010509060101010101" pitchFamily="49" charset="-122"/>
                <a:ea typeface="幼圆" panose="02010509060101010101" pitchFamily="49" charset="-122"/>
              </a:rPr>
              <a:t>     </a:t>
            </a:r>
            <a:r>
              <a:rPr lang="zh-CN" altLang="en-US">
                <a:latin typeface="楷体_GB2312" pitchFamily="49" charset="-122"/>
              </a:rPr>
              <a:t>在磁场分布具有一定对称性的情况下，可以利用安培环路定理计算磁感应强度。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558143" name="Object 63">
            <a:extLst>
              <a:ext uri="{FF2B5EF4-FFF2-40B4-BE49-F238E27FC236}">
                <a16:creationId xmlns:a16="http://schemas.microsoft.com/office/drawing/2014/main" id="{474032D9-4E8A-4E46-9BF8-D0CE4DD245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5407025"/>
          <a:ext cx="33131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03239" imgH="234835" progId="Equation.3">
                  <p:embed/>
                </p:oleObj>
              </mc:Choice>
              <mc:Fallback>
                <p:oleObj r:id="rId5" imgW="1003239" imgH="234835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407025"/>
                        <a:ext cx="33131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8144" name="Object 64">
            <a:extLst>
              <a:ext uri="{FF2B5EF4-FFF2-40B4-BE49-F238E27FC236}">
                <a16:creationId xmlns:a16="http://schemas.microsoft.com/office/drawing/2014/main" id="{1077035F-BD40-30DB-4F87-28E5420237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5413" y="4102100"/>
          <a:ext cx="45243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12839" imgH="197012" progId="Equation.3">
                  <p:embed/>
                </p:oleObj>
              </mc:Choice>
              <mc:Fallback>
                <p:oleObj r:id="rId7" imgW="1612839" imgH="197012" progId="Equation.3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413" y="4102100"/>
                        <a:ext cx="45243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7">
            <a:extLst>
              <a:ext uri="{FF2B5EF4-FFF2-40B4-BE49-F238E27FC236}">
                <a16:creationId xmlns:a16="http://schemas.microsoft.com/office/drawing/2014/main" id="{D15C6C7A-9686-A547-FB1E-3FDAD51AF776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2060575"/>
            <a:ext cx="6607175" cy="457200"/>
            <a:chOff x="204" y="466"/>
            <a:chExt cx="4162" cy="288"/>
          </a:xfrm>
        </p:grpSpPr>
        <p:sp>
          <p:nvSpPr>
            <p:cNvPr id="104477" name="Text Box 68">
              <a:extLst>
                <a:ext uri="{FF2B5EF4-FFF2-40B4-BE49-F238E27FC236}">
                  <a16:creationId xmlns:a16="http://schemas.microsoft.com/office/drawing/2014/main" id="{001D1474-B26F-3607-896D-809CBE104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" y="466"/>
              <a:ext cx="41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  </a:t>
              </a:r>
              <a:r>
                <a:rPr lang="zh-CN" altLang="en-US">
                  <a:latin typeface="Times New Roman" panose="02020603050405020304" pitchFamily="18" charset="0"/>
                </a:rPr>
                <a:t>线电流</a:t>
              </a:r>
            </a:p>
          </p:txBody>
        </p:sp>
        <p:sp>
          <p:nvSpPr>
            <p:cNvPr id="104478" name="Oval 69">
              <a:extLst>
                <a:ext uri="{FF2B5EF4-FFF2-40B4-BE49-F238E27FC236}">
                  <a16:creationId xmlns:a16="http://schemas.microsoft.com/office/drawing/2014/main" id="{2D7AC858-F9E6-4912-57D7-5D4D00B0665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4" y="554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3" name="Group 70">
            <a:extLst>
              <a:ext uri="{FF2B5EF4-FFF2-40B4-BE49-F238E27FC236}">
                <a16:creationId xmlns:a16="http://schemas.microsoft.com/office/drawing/2014/main" id="{0E15CA54-61FB-2844-7B08-77315DD5B6A4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4916488"/>
            <a:ext cx="5035550" cy="457200"/>
            <a:chOff x="206" y="1797"/>
            <a:chExt cx="3172" cy="288"/>
          </a:xfrm>
        </p:grpSpPr>
        <p:sp>
          <p:nvSpPr>
            <p:cNvPr id="104475" name="Text Box 71">
              <a:extLst>
                <a:ext uri="{FF2B5EF4-FFF2-40B4-BE49-F238E27FC236}">
                  <a16:creationId xmlns:a16="http://schemas.microsoft.com/office/drawing/2014/main" id="{DAB5073D-9BBB-E6A0-BE0B-E1CA77320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1797"/>
              <a:ext cx="31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  </a:t>
              </a:r>
              <a:r>
                <a:rPr lang="zh-CN" altLang="en-US">
                  <a:latin typeface="Times New Roman" panose="02020603050405020304" pitchFamily="18" charset="0"/>
                </a:rPr>
                <a:t>体电流</a:t>
              </a:r>
            </a:p>
          </p:txBody>
        </p:sp>
        <p:sp>
          <p:nvSpPr>
            <p:cNvPr id="104476" name="Oval 72">
              <a:extLst>
                <a:ext uri="{FF2B5EF4-FFF2-40B4-BE49-F238E27FC236}">
                  <a16:creationId xmlns:a16="http://schemas.microsoft.com/office/drawing/2014/main" id="{8C1D4461-7F5A-E3B0-FB86-FF9D8B967F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6" y="1878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4" name="Group 73">
            <a:extLst>
              <a:ext uri="{FF2B5EF4-FFF2-40B4-BE49-F238E27FC236}">
                <a16:creationId xmlns:a16="http://schemas.microsoft.com/office/drawing/2014/main" id="{6E5920DB-35B8-8A7C-357B-8BBEE5684FB3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3443288"/>
            <a:ext cx="4968875" cy="457200"/>
            <a:chOff x="214" y="2915"/>
            <a:chExt cx="3130" cy="288"/>
          </a:xfrm>
        </p:grpSpPr>
        <p:sp>
          <p:nvSpPr>
            <p:cNvPr id="104473" name="Text Box 74">
              <a:extLst>
                <a:ext uri="{FF2B5EF4-FFF2-40B4-BE49-F238E27FC236}">
                  <a16:creationId xmlns:a16="http://schemas.microsoft.com/office/drawing/2014/main" id="{BCFC124F-F18C-0F2E-C6EB-A4B28EA1D8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" y="2915"/>
              <a:ext cx="31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   </a:t>
              </a:r>
              <a:r>
                <a:rPr lang="zh-CN" altLang="en-US">
                  <a:latin typeface="Times New Roman" panose="02020603050405020304" pitchFamily="18" charset="0"/>
                </a:rPr>
                <a:t>面电流</a:t>
              </a:r>
            </a:p>
          </p:txBody>
        </p:sp>
        <p:sp>
          <p:nvSpPr>
            <p:cNvPr id="104474" name="Oval 75">
              <a:extLst>
                <a:ext uri="{FF2B5EF4-FFF2-40B4-BE49-F238E27FC236}">
                  <a16:creationId xmlns:a16="http://schemas.microsoft.com/office/drawing/2014/main" id="{F972A148-5315-09D3-E409-14A6C010095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15" y="3002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29" name="Rectangle 43">
            <a:extLst>
              <a:ext uri="{FF2B5EF4-FFF2-40B4-BE49-F238E27FC236}">
                <a16:creationId xmlns:a16="http://schemas.microsoft.com/office/drawing/2014/main" id="{73385560-7486-660B-C1F8-C291B1A85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068638"/>
            <a:ext cx="31686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幼圆" panose="02010509060101010101" pitchFamily="49" charset="-122"/>
              </a:rPr>
              <a:t>安培环路交链的线电流</a:t>
            </a:r>
            <a:endParaRPr lang="zh-CN" altLang="en-US" sz="2000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4465" name="Oval 39">
            <a:extLst>
              <a:ext uri="{FF2B5EF4-FFF2-40B4-BE49-F238E27FC236}">
                <a16:creationId xmlns:a16="http://schemas.microsoft.com/office/drawing/2014/main" id="{4ECAFAE2-DC48-5A81-3E96-52E7DA50630D}"/>
              </a:ext>
            </a:extLst>
          </p:cNvPr>
          <p:cNvSpPr>
            <a:spLocks noChangeArrowheads="1"/>
          </p:cNvSpPr>
          <p:nvPr/>
        </p:nvSpPr>
        <p:spPr bwMode="auto">
          <a:xfrm rot="-2506749">
            <a:off x="4357688" y="2713038"/>
            <a:ext cx="365125" cy="347662"/>
          </a:xfrm>
          <a:prstGeom prst="ellips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4466" name="Oval 39">
            <a:extLst>
              <a:ext uri="{FF2B5EF4-FFF2-40B4-BE49-F238E27FC236}">
                <a16:creationId xmlns:a16="http://schemas.microsoft.com/office/drawing/2014/main" id="{86D17880-87DD-3A6A-E7B0-974953881E24}"/>
              </a:ext>
            </a:extLst>
          </p:cNvPr>
          <p:cNvSpPr>
            <a:spLocks noChangeArrowheads="1"/>
          </p:cNvSpPr>
          <p:nvPr/>
        </p:nvSpPr>
        <p:spPr bwMode="auto">
          <a:xfrm rot="-2506749">
            <a:off x="4356100" y="4221163"/>
            <a:ext cx="365125" cy="347662"/>
          </a:xfrm>
          <a:prstGeom prst="ellips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4467" name="Oval 39">
            <a:extLst>
              <a:ext uri="{FF2B5EF4-FFF2-40B4-BE49-F238E27FC236}">
                <a16:creationId xmlns:a16="http://schemas.microsoft.com/office/drawing/2014/main" id="{BE28D701-0AB1-F05B-327F-239B32E6D953}"/>
              </a:ext>
            </a:extLst>
          </p:cNvPr>
          <p:cNvSpPr>
            <a:spLocks noChangeArrowheads="1"/>
          </p:cNvSpPr>
          <p:nvPr/>
        </p:nvSpPr>
        <p:spPr bwMode="auto">
          <a:xfrm rot="-2506749">
            <a:off x="4067175" y="5702300"/>
            <a:ext cx="287338" cy="215900"/>
          </a:xfrm>
          <a:prstGeom prst="ellips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" name="Rectangle 43">
            <a:extLst>
              <a:ext uri="{FF2B5EF4-FFF2-40B4-BE49-F238E27FC236}">
                <a16:creationId xmlns:a16="http://schemas.microsoft.com/office/drawing/2014/main" id="{A11FCF40-AC23-42B6-26F5-BCE0CFDC0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581525"/>
            <a:ext cx="30241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幼圆" panose="02010509060101010101" pitchFamily="49" charset="-122"/>
              </a:rPr>
              <a:t>安培环路交链的面电流</a:t>
            </a:r>
          </a:p>
        </p:txBody>
      </p:sp>
      <p:sp>
        <p:nvSpPr>
          <p:cNvPr id="104469" name="Line 30">
            <a:extLst>
              <a:ext uri="{FF2B5EF4-FFF2-40B4-BE49-F238E27FC236}">
                <a16:creationId xmlns:a16="http://schemas.microsoft.com/office/drawing/2014/main" id="{35CD8E67-7B74-0331-8CDF-64195D16E0F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00563" y="4581525"/>
            <a:ext cx="215900" cy="2159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id="{B70F99CF-D3F1-414D-B83C-BBE45B67E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6092825"/>
            <a:ext cx="28813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幼圆" panose="02010509060101010101" pitchFamily="49" charset="-122"/>
              </a:rPr>
              <a:t>安培环路交链的体电流</a:t>
            </a:r>
          </a:p>
        </p:txBody>
      </p:sp>
      <p:sp>
        <p:nvSpPr>
          <p:cNvPr id="104471" name="Line 33">
            <a:extLst>
              <a:ext uri="{FF2B5EF4-FFF2-40B4-BE49-F238E27FC236}">
                <a16:creationId xmlns:a16="http://schemas.microsoft.com/office/drawing/2014/main" id="{67B881AB-63F1-EE75-20A2-E803EAE553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43438" y="3068638"/>
            <a:ext cx="215900" cy="2159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472" name="Line 34">
            <a:extLst>
              <a:ext uri="{FF2B5EF4-FFF2-40B4-BE49-F238E27FC236}">
                <a16:creationId xmlns:a16="http://schemas.microsoft.com/office/drawing/2014/main" id="{2D0968D4-E91C-A5B6-139B-48DDD4B476E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40200" y="5949950"/>
            <a:ext cx="215900" cy="215900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2">
            <a:extLst>
              <a:ext uri="{FF2B5EF4-FFF2-40B4-BE49-F238E27FC236}">
                <a16:creationId xmlns:a16="http://schemas.microsoft.com/office/drawing/2014/main" id="{79A92FBA-AFF1-80E2-ACF0-E2E3DEFE90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B5674CB-E1A4-4E20-8A92-3B8FB290C88D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12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06499" name="AutoShape 4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B69431C-FEAB-ADC5-17A4-6DFA44C01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270625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6500" name="AutoShape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B24D618-58CF-C358-C6BF-AE1E3C84F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270625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6501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F96B445-59D6-83C0-9E75-DE87B284B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270625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6502" name="AutoShape 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C3088FD3-A2FF-9792-B39F-9E3621A6B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270625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20938" name="Text Box 10">
            <a:extLst>
              <a:ext uri="{FF2B5EF4-FFF2-40B4-BE49-F238E27FC236}">
                <a16:creationId xmlns:a16="http://schemas.microsoft.com/office/drawing/2014/main" id="{D3280090-4D38-1CA5-220C-4B0E95B2E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2814638"/>
            <a:ext cx="7993063" cy="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技巧：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幼圆" panose="02010509060101010101" pitchFamily="49" charset="-122"/>
              </a:rPr>
              <a:t>选取合适的封闭积分曲线</a:t>
            </a:r>
            <a:r>
              <a:rPr lang="zh-CN" altLang="en-US" dirty="0">
                <a:latin typeface="楷体_GB2312" pitchFamily="49" charset="-122"/>
                <a:ea typeface="幼圆" panose="02010509060101010101" pitchFamily="49" charset="-122"/>
              </a:rPr>
              <a:t>以便使积分符号          中的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  <a:ea typeface="幼圆" panose="02010509060101010101" pitchFamily="49" charset="-122"/>
              </a:rPr>
              <a:t>被积函数的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幼圆" panose="02010509060101010101" pitchFamily="49" charset="-122"/>
              </a:rPr>
              <a:t>点乘得到简化</a:t>
            </a:r>
            <a:r>
              <a:rPr lang="zh-CN" altLang="en-US" dirty="0">
                <a:latin typeface="楷体_GB2312" pitchFamily="49" charset="-122"/>
                <a:ea typeface="幼圆" panose="02010509060101010101" pitchFamily="49" charset="-122"/>
              </a:rPr>
              <a:t>。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graphicFrame>
        <p:nvGraphicFramePr>
          <p:cNvPr id="1020939" name="Object 11">
            <a:extLst>
              <a:ext uri="{FF2B5EF4-FFF2-40B4-BE49-F238E27FC236}">
                <a16:creationId xmlns:a16="http://schemas.microsoft.com/office/drawing/2014/main" id="{F9FAF090-FC86-558D-77E3-BE012FA1F9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0238" y="2865438"/>
          <a:ext cx="996950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36632" imgH="184127" progId="Equation.3">
                  <p:embed/>
                </p:oleObj>
              </mc:Choice>
              <mc:Fallback>
                <p:oleObj r:id="rId3" imgW="336632" imgH="18412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0238" y="2865438"/>
                        <a:ext cx="996950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0941" name="Text Box 13">
            <a:extLst>
              <a:ext uri="{FF2B5EF4-FFF2-40B4-BE49-F238E27FC236}">
                <a16:creationId xmlns:a16="http://schemas.microsoft.com/office/drawing/2014/main" id="{5B1156F3-F183-5DCB-7B8D-D85C50127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268413"/>
            <a:ext cx="7993062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步骤：</a:t>
            </a:r>
            <a:r>
              <a:rPr lang="en-US" altLang="zh-CN"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r>
              <a:rPr lang="zh-CN" altLang="en-US">
                <a:latin typeface="楷体_GB2312" pitchFamily="49" charset="-122"/>
                <a:ea typeface="幼圆" panose="02010509060101010101" pitchFamily="49" charset="-122"/>
              </a:rPr>
              <a:t>、根据电流分布的对称性分析磁场分布的对称性。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Times New Roman" panose="02020603050405020304" pitchFamily="18" charset="0"/>
                <a:ea typeface="幼圆" panose="02010509060101010101" pitchFamily="49" charset="-122"/>
              </a:rPr>
              <a:t>            </a:t>
            </a:r>
            <a:r>
              <a:rPr lang="en-US" altLang="zh-CN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zh-CN" altLang="en-US">
                <a:latin typeface="楷体_GB2312" pitchFamily="49" charset="-122"/>
                <a:ea typeface="幼圆" panose="02010509060101010101" pitchFamily="49" charset="-122"/>
              </a:rPr>
              <a:t>、应用安培环路定律计算磁感应强度的数值。</a:t>
            </a: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983AFD-9C6F-BF9B-480F-33659D14A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766" y="4022591"/>
            <a:ext cx="6785192" cy="20245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2">
            <a:extLst>
              <a:ext uri="{FF2B5EF4-FFF2-40B4-BE49-F238E27FC236}">
                <a16:creationId xmlns:a16="http://schemas.microsoft.com/office/drawing/2014/main" id="{C2A659C8-5932-664B-9B20-48730E27433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0A0D4277-5693-4997-991D-7BE554BFAC4F}" type="slidenum"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13</a:t>
            </a:fld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4754" name="Text Box 2">
            <a:extLst>
              <a:ext uri="{FF2B5EF4-FFF2-40B4-BE49-F238E27FC236}">
                <a16:creationId xmlns:a16="http://schemas.microsoft.com/office/drawing/2014/main" id="{F67CC1D3-361E-640B-B6F6-64CFDD08F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7950" y="333375"/>
            <a:ext cx="8856663" cy="521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例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2.3.3】</a:t>
            </a:r>
            <a:r>
              <a:rPr lang="zh-CN" altLang="en-US" dirty="0"/>
              <a:t>求载流无限长同轴电缆产生的磁感应强度。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108548" name="AutoShape 4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6D51551-63D9-1844-FDB5-00ACF6882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8549" name="AutoShape 4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CAF06E7-8BE7-59D7-EBC7-7C855E790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8550" name="AutoShape 4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0A973CB-9424-BA79-DF66-C4F7ED0B8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08551" name="AutoShape 4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9B3C406-55C7-2492-29FB-F9F4CAFAD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" name="Rectangle 92">
            <a:extLst>
              <a:ext uri="{FF2B5EF4-FFF2-40B4-BE49-F238E27FC236}">
                <a16:creationId xmlns:a16="http://schemas.microsoft.com/office/drawing/2014/main" id="{4260C992-27EA-2E65-B3EA-C4AE28910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88" y="1341438"/>
            <a:ext cx="9194801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&lt;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思考</a:t>
            </a: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/>
              <a:t>源分布</a:t>
            </a:r>
            <a:r>
              <a:rPr lang="zh-CN" altLang="en-US"/>
              <a:t>和场分布</a:t>
            </a:r>
            <a:r>
              <a:rPr lang="zh-CN" altLang="zh-CN"/>
              <a:t>具有什么特性？</a:t>
            </a:r>
            <a:endParaRPr lang="zh-CN" altLang="en-US"/>
          </a:p>
          <a:p>
            <a:r>
              <a:rPr lang="zh-CN" altLang="en-US">
                <a:solidFill>
                  <a:srgbClr val="FFC000"/>
                </a:solidFill>
              </a:rPr>
              <a:t>  （柱对称）</a:t>
            </a:r>
            <a:endParaRPr lang="zh-CN" altLang="en-US"/>
          </a:p>
          <a:p>
            <a:endParaRPr lang="zh-CN" altLang="zh-CN">
              <a:solidFill>
                <a:srgbClr val="FFC000"/>
              </a:solidFill>
            </a:endParaRPr>
          </a:p>
        </p:txBody>
      </p:sp>
      <p:sp>
        <p:nvSpPr>
          <p:cNvPr id="16" name="Rectangle 92">
            <a:extLst>
              <a:ext uri="{FF2B5EF4-FFF2-40B4-BE49-F238E27FC236}">
                <a16:creationId xmlns:a16="http://schemas.microsoft.com/office/drawing/2014/main" id="{DFC5FD6E-F33A-B721-920B-EF09C7563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" y="2492375"/>
            <a:ext cx="74168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坐标系</a:t>
            </a:r>
            <a:r>
              <a:rPr lang="zh-CN" altLang="zh-CN"/>
              <a:t>如何选取</a:t>
            </a:r>
            <a:r>
              <a:rPr lang="zh-CN" altLang="en-US"/>
              <a:t>？</a:t>
            </a:r>
          </a:p>
          <a:p>
            <a:r>
              <a:rPr lang="zh-CN" altLang="en-US">
                <a:solidFill>
                  <a:srgbClr val="FFC000"/>
                </a:solidFill>
              </a:rPr>
              <a:t>（柱坐标系）</a:t>
            </a:r>
            <a:endParaRPr lang="en-US" altLang="zh-CN">
              <a:solidFill>
                <a:srgbClr val="FFC000"/>
              </a:solidFill>
            </a:endParaRPr>
          </a:p>
        </p:txBody>
      </p:sp>
      <p:sp>
        <p:nvSpPr>
          <p:cNvPr id="2" name="Rectangle 92">
            <a:extLst>
              <a:ext uri="{FF2B5EF4-FFF2-40B4-BE49-F238E27FC236}">
                <a16:creationId xmlns:a16="http://schemas.microsoft.com/office/drawing/2014/main" id="{909EE6FC-D709-6099-2494-43C1A8E32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" y="4806950"/>
            <a:ext cx="74168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磁场方向？</a:t>
            </a:r>
            <a:r>
              <a:rPr lang="zh-CN" altLang="en-US">
                <a:solidFill>
                  <a:srgbClr val="FFC000"/>
                </a:solidFill>
              </a:rPr>
              <a:t>（圆柱体横截面上的切向）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安培环路？</a:t>
            </a:r>
            <a:r>
              <a:rPr lang="zh-CN" altLang="en-US">
                <a:solidFill>
                  <a:srgbClr val="FFC000"/>
                </a:solidFill>
              </a:rPr>
              <a:t>（圆柱体横截面上的圆）</a:t>
            </a:r>
          </a:p>
        </p:txBody>
      </p:sp>
      <p:sp>
        <p:nvSpPr>
          <p:cNvPr id="403548" name="Rectangle 92">
            <a:extLst>
              <a:ext uri="{FF2B5EF4-FFF2-40B4-BE49-F238E27FC236}">
                <a16:creationId xmlns:a16="http://schemas.microsoft.com/office/drawing/2014/main" id="{C7ED61E4-CE07-DD9E-AFE6-0CD808996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13" y="400050"/>
            <a:ext cx="2303462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（体分布电流）</a:t>
            </a:r>
            <a:endParaRPr lang="zh-CN" altLang="en-US" b="0">
              <a:solidFill>
                <a:srgbClr val="FF9900"/>
              </a:solidFill>
              <a:latin typeface="楷体_GB2312" pitchFamily="49" charset="-122"/>
            </a:endParaRPr>
          </a:p>
        </p:txBody>
      </p:sp>
      <p:graphicFrame>
        <p:nvGraphicFramePr>
          <p:cNvPr id="560218" name="Object 90">
            <a:extLst>
              <a:ext uri="{FF2B5EF4-FFF2-40B4-BE49-F238E27FC236}">
                <a16:creationId xmlns:a16="http://schemas.microsoft.com/office/drawing/2014/main" id="{C5D3D3DB-40BF-0940-5048-9A3FE1B036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70525" y="4868863"/>
          <a:ext cx="95567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55773" imgH="171658" progId="Equation.3">
                  <p:embed/>
                </p:oleObj>
              </mc:Choice>
              <mc:Fallback>
                <p:oleObj r:id="rId4" imgW="355773" imgH="171658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0525" y="4868863"/>
                        <a:ext cx="95567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8558" name="Picture 18">
            <a:extLst>
              <a:ext uri="{FF2B5EF4-FFF2-40B4-BE49-F238E27FC236}">
                <a16:creationId xmlns:a16="http://schemas.microsoft.com/office/drawing/2014/main" id="{AEA0442E-1AC4-F821-79A3-98056E41F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525" y="1773238"/>
            <a:ext cx="380047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2">
            <a:extLst>
              <a:ext uri="{FF2B5EF4-FFF2-40B4-BE49-F238E27FC236}">
                <a16:creationId xmlns:a16="http://schemas.microsoft.com/office/drawing/2014/main" id="{BCB88C1F-29E7-ACFB-517A-D1B6333C2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6513" y="836613"/>
            <a:ext cx="7345363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&lt;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分析</a:t>
            </a: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&gt;</a:t>
            </a:r>
            <a:r>
              <a:rPr lang="zh-CN" altLang="en-US">
                <a:latin typeface="楷体_GB2312" pitchFamily="49" charset="-122"/>
              </a:rPr>
              <a:t>欲求解呈</a:t>
            </a:r>
            <a:r>
              <a:rPr lang="zh-CN" altLang="en-US" u="sng">
                <a:solidFill>
                  <a:srgbClr val="F8A6A6"/>
                </a:solidFill>
                <a:latin typeface="楷体_GB2312" pitchFamily="49" charset="-122"/>
              </a:rPr>
              <a:t>柱对称分布</a:t>
            </a:r>
            <a:r>
              <a:rPr lang="zh-CN" altLang="en-US">
                <a:latin typeface="楷体_GB2312" pitchFamily="49" charset="-122"/>
              </a:rPr>
              <a:t>的</a:t>
            </a:r>
            <a:r>
              <a:rPr lang="zh-CN" altLang="en-US" u="sng">
                <a:solidFill>
                  <a:srgbClr val="F8A6A6"/>
                </a:solidFill>
                <a:latin typeface="楷体_GB2312" pitchFamily="49" charset="-122"/>
              </a:rPr>
              <a:t>体电流</a:t>
            </a:r>
            <a:r>
              <a:rPr lang="zh-CN" altLang="en-US">
                <a:latin typeface="楷体_GB2312" pitchFamily="49" charset="-122"/>
              </a:rPr>
              <a:t>产生的磁场。</a:t>
            </a:r>
            <a:endParaRPr lang="zh-CN" altLang="en-US" b="0">
              <a:latin typeface="楷体_GB2312" pitchFamily="49" charset="-122"/>
            </a:endParaRPr>
          </a:p>
        </p:txBody>
      </p:sp>
      <p:graphicFrame>
        <p:nvGraphicFramePr>
          <p:cNvPr id="108560" name="Object 140">
            <a:extLst>
              <a:ext uri="{FF2B5EF4-FFF2-40B4-BE49-F238E27FC236}">
                <a16:creationId xmlns:a16="http://schemas.microsoft.com/office/drawing/2014/main" id="{784AB1E1-AB41-3823-184E-6B2F3FF3AA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2792413"/>
          <a:ext cx="2495550" cy="206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211920" imgH="2652840" progId="Visio.Drawing.11">
                  <p:embed/>
                </p:oleObj>
              </mc:Choice>
              <mc:Fallback>
                <p:oleObj r:id="rId7" imgW="3211920" imgH="2652840" progId="Visio.Drawing.11">
                  <p:embed/>
                  <p:pic>
                    <p:nvPicPr>
                      <p:cNvPr id="0" name="Object 1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792413"/>
                        <a:ext cx="2495550" cy="20605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9F6D16E4-5FCD-D446-F5BA-902165675A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535" y="5598833"/>
            <a:ext cx="6768753" cy="9378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2">
            <a:extLst>
              <a:ext uri="{FF2B5EF4-FFF2-40B4-BE49-F238E27FC236}">
                <a16:creationId xmlns:a16="http://schemas.microsoft.com/office/drawing/2014/main" id="{5EC75D88-CBF6-D0AE-15CE-BFE289BD346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6113AFC-53EB-4036-BF8D-87BFD5EC5FDF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14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0132" name="Text Box 4">
            <a:extLst>
              <a:ext uri="{FF2B5EF4-FFF2-40B4-BE49-F238E27FC236}">
                <a16:creationId xmlns:a16="http://schemas.microsoft.com/office/drawing/2014/main" id="{F377A519-BD22-54B0-971C-0CB0383C6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4556125"/>
            <a:ext cx="433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应用安培环路定理，得</a:t>
            </a:r>
          </a:p>
        </p:txBody>
      </p:sp>
      <p:graphicFrame>
        <p:nvGraphicFramePr>
          <p:cNvPr id="560136" name="Object 8">
            <a:extLst>
              <a:ext uri="{FF2B5EF4-FFF2-40B4-BE49-F238E27FC236}">
                <a16:creationId xmlns:a16="http://schemas.microsoft.com/office/drawing/2014/main" id="{937F05CB-1A8E-E462-18E1-7D006D9961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772145"/>
              </p:ext>
            </p:extLst>
          </p:nvPr>
        </p:nvGraphicFramePr>
        <p:xfrm>
          <a:off x="323850" y="2928367"/>
          <a:ext cx="16827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30272" imgH="114300" progId="Equation.DSMT4">
                  <p:embed/>
                </p:oleObj>
              </mc:Choice>
              <mc:Fallback>
                <p:oleObj r:id="rId3" imgW="730272" imgH="1143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928367"/>
                        <a:ext cx="16827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0137" name="Object 9">
            <a:extLst>
              <a:ext uri="{FF2B5EF4-FFF2-40B4-BE49-F238E27FC236}">
                <a16:creationId xmlns:a16="http://schemas.microsoft.com/office/drawing/2014/main" id="{31912CAF-CE44-79E5-9FBD-ACAC68352A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0200" y="3668713"/>
          <a:ext cx="2881313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66904" imgH="298427" progId="Equation.DSMT4">
                  <p:embed/>
                </p:oleObj>
              </mc:Choice>
              <mc:Fallback>
                <p:oleObj r:id="rId5" imgW="1066904" imgH="298427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668713"/>
                        <a:ext cx="2881313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4">
            <a:extLst>
              <a:ext uri="{FF2B5EF4-FFF2-40B4-BE49-F238E27FC236}">
                <a16:creationId xmlns:a16="http://schemas.microsoft.com/office/drawing/2014/main" id="{D4D5EE26-21AE-4D92-77AC-A846EF98A486}"/>
              </a:ext>
            </a:extLst>
          </p:cNvPr>
          <p:cNvGrpSpPr>
            <a:grpSpLocks/>
          </p:cNvGrpSpPr>
          <p:nvPr/>
        </p:nvGrpSpPr>
        <p:grpSpPr bwMode="auto">
          <a:xfrm>
            <a:off x="4011613" y="3284538"/>
            <a:ext cx="4953000" cy="504825"/>
            <a:chOff x="612" y="1389"/>
            <a:chExt cx="3120" cy="318"/>
          </a:xfrm>
        </p:grpSpPr>
        <p:sp>
          <p:nvSpPr>
            <p:cNvPr id="110615" name="Text Box 10">
              <a:extLst>
                <a:ext uri="{FF2B5EF4-FFF2-40B4-BE49-F238E27FC236}">
                  <a16:creationId xmlns:a16="http://schemas.microsoft.com/office/drawing/2014/main" id="{C0D01147-E50F-E0D2-4BE1-3B87938D6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1389"/>
              <a:ext cx="31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latin typeface="楷体_GB2312" pitchFamily="49" charset="-122"/>
                </a:rPr>
                <a:t>取安培环路       ，交链的电流为</a:t>
              </a:r>
            </a:p>
          </p:txBody>
        </p:sp>
        <p:graphicFrame>
          <p:nvGraphicFramePr>
            <p:cNvPr id="110616" name="Object 11">
              <a:extLst>
                <a:ext uri="{FF2B5EF4-FFF2-40B4-BE49-F238E27FC236}">
                  <a16:creationId xmlns:a16="http://schemas.microsoft.com/office/drawing/2014/main" id="{3722D64B-E361-9A87-99FF-3E538CD2FA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07" y="1450"/>
            <a:ext cx="566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349116" imgH="114300" progId="Equation.DSMT4">
                    <p:embed/>
                  </p:oleObj>
                </mc:Choice>
                <mc:Fallback>
                  <p:oleObj r:id="rId7" imgW="349116" imgH="1143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7" y="1450"/>
                          <a:ext cx="566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9">
            <a:extLst>
              <a:ext uri="{FF2B5EF4-FFF2-40B4-BE49-F238E27FC236}">
                <a16:creationId xmlns:a16="http://schemas.microsoft.com/office/drawing/2014/main" id="{D1BAFDA3-802E-0B2B-1281-32317D512F2B}"/>
              </a:ext>
            </a:extLst>
          </p:cNvPr>
          <p:cNvGrpSpPr>
            <a:grpSpLocks/>
          </p:cNvGrpSpPr>
          <p:nvPr/>
        </p:nvGrpSpPr>
        <p:grpSpPr bwMode="auto">
          <a:xfrm>
            <a:off x="4071938" y="5689600"/>
            <a:ext cx="2516187" cy="979488"/>
            <a:chOff x="2823" y="3339"/>
            <a:chExt cx="1509" cy="552"/>
          </a:xfrm>
        </p:grpSpPr>
        <p:graphicFrame>
          <p:nvGraphicFramePr>
            <p:cNvPr id="110613" name="Object 6">
              <a:extLst>
                <a:ext uri="{FF2B5EF4-FFF2-40B4-BE49-F238E27FC236}">
                  <a16:creationId xmlns:a16="http://schemas.microsoft.com/office/drawing/2014/main" id="{FB81D055-166D-77AB-A9DC-C10FED8A85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98" y="3339"/>
            <a:ext cx="1134" cy="5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698647" imgH="279308" progId="Equation.DSMT4">
                    <p:embed/>
                  </p:oleObj>
                </mc:Choice>
                <mc:Fallback>
                  <p:oleObj r:id="rId9" imgW="698647" imgH="279308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8" y="3339"/>
                          <a:ext cx="1134" cy="5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0614" name="AutoShape 68">
              <a:extLst>
                <a:ext uri="{FF2B5EF4-FFF2-40B4-BE49-F238E27FC236}">
                  <a16:creationId xmlns:a16="http://schemas.microsoft.com/office/drawing/2014/main" id="{D4C7F03B-64DD-E8EF-C25B-5946D31C5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3" y="3352"/>
              <a:ext cx="124" cy="475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110600" name="AutoShape 86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D580BED-5873-F9C1-0C34-037C1EDED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0601" name="AutoShape 8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A0D0801-9AC3-9432-AE71-332C0CCA5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0602" name="AutoShape 8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D558844-CEE4-38D7-111A-5C23025DD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0603" name="AutoShape 8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FFE135F-1AFA-C847-4194-4E4C3046D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560218" name="Object 90">
            <a:extLst>
              <a:ext uri="{FF2B5EF4-FFF2-40B4-BE49-F238E27FC236}">
                <a16:creationId xmlns:a16="http://schemas.microsoft.com/office/drawing/2014/main" id="{73DAEA6A-E52A-B153-96AF-4E8681D61D37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142453504"/>
              </p:ext>
            </p:extLst>
          </p:nvPr>
        </p:nvGraphicFramePr>
        <p:xfrm>
          <a:off x="1041400" y="1628776"/>
          <a:ext cx="691356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755891" imgH="463435" progId="Equation.3">
                  <p:embed/>
                </p:oleObj>
              </mc:Choice>
              <mc:Fallback>
                <p:oleObj r:id="rId11" imgW="2755891" imgH="463435" progId="Equation.3">
                  <p:embed/>
                  <p:pic>
                    <p:nvPicPr>
                      <p:cNvPr id="0" name="Object 9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1628776"/>
                        <a:ext cx="6913563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220" name="Text Box 92">
            <a:extLst>
              <a:ext uri="{FF2B5EF4-FFF2-40B4-BE49-F238E27FC236}">
                <a16:creationId xmlns:a16="http://schemas.microsoft.com/office/drawing/2014/main" id="{A293008B-4970-D5BD-E719-64530C711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3906" y="1594877"/>
            <a:ext cx="633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【</a:t>
            </a:r>
            <a:r>
              <a:rPr lang="zh-CN" altLang="en-US" dirty="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解</a:t>
            </a:r>
            <a:r>
              <a:rPr lang="en-US" altLang="zh-CN" dirty="0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】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558143" name="Object 63">
            <a:extLst>
              <a:ext uri="{FF2B5EF4-FFF2-40B4-BE49-F238E27FC236}">
                <a16:creationId xmlns:a16="http://schemas.microsoft.com/office/drawing/2014/main" id="{37F62D77-4A8D-3343-4482-43BF70AC22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5495011"/>
              </p:ext>
            </p:extLst>
          </p:nvPr>
        </p:nvGraphicFramePr>
        <p:xfrm>
          <a:off x="271463" y="404813"/>
          <a:ext cx="2613025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003239" imgH="234835" progId="Equation.3">
                  <p:embed/>
                </p:oleObj>
              </mc:Choice>
              <mc:Fallback>
                <p:oleObj r:id="rId13" imgW="1003239" imgH="234835" progId="Equation.3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463" y="404813"/>
                        <a:ext cx="2613025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CF279F40-1333-FD28-4325-D21584D9C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2899792"/>
            <a:ext cx="433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：内导体内部</a:t>
            </a:r>
            <a:r>
              <a:rPr lang="zh-CN" altLang="en-US" dirty="0"/>
              <a:t>←→</a:t>
            </a:r>
            <a:r>
              <a:rPr lang="zh-CN" altLang="en-US" dirty="0">
                <a:solidFill>
                  <a:srgbClr val="FF3300"/>
                </a:solidFill>
              </a:rPr>
              <a:t>安培环路</a:t>
            </a:r>
            <a:r>
              <a:rPr lang="en-US" altLang="zh-CN" dirty="0">
                <a:solidFill>
                  <a:srgbClr val="FF3300"/>
                </a:solidFill>
              </a:rPr>
              <a:t>1</a:t>
            </a:r>
            <a:endParaRPr lang="zh-CN" altLang="en-US" dirty="0">
              <a:solidFill>
                <a:srgbClr val="FF3300"/>
              </a:solidFill>
            </a:endParaRPr>
          </a:p>
        </p:txBody>
      </p:sp>
      <p:pic>
        <p:nvPicPr>
          <p:cNvPr id="110608" name="Picture 30">
            <a:extLst>
              <a:ext uri="{FF2B5EF4-FFF2-40B4-BE49-F238E27FC236}">
                <a16:creationId xmlns:a16="http://schemas.microsoft.com/office/drawing/2014/main" id="{6190F744-4526-9393-231C-4B6792B71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3429000"/>
            <a:ext cx="3800475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90">
            <a:extLst>
              <a:ext uri="{FF2B5EF4-FFF2-40B4-BE49-F238E27FC236}">
                <a16:creationId xmlns:a16="http://schemas.microsoft.com/office/drawing/2014/main" id="{4539B45B-8D4F-3281-24FD-061BF9F24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929188"/>
          <a:ext cx="4464050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346113" imgH="247719" progId="Equation.3">
                  <p:embed/>
                </p:oleObj>
              </mc:Choice>
              <mc:Fallback>
                <p:oleObj r:id="rId16" imgW="1346113" imgH="247719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929188"/>
                        <a:ext cx="4464050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10" name="Oval 39">
            <a:extLst>
              <a:ext uri="{FF2B5EF4-FFF2-40B4-BE49-F238E27FC236}">
                <a16:creationId xmlns:a16="http://schemas.microsoft.com/office/drawing/2014/main" id="{5155DA1E-3CB6-0469-D031-5139D854E26D}"/>
              </a:ext>
            </a:extLst>
          </p:cNvPr>
          <p:cNvSpPr>
            <a:spLocks noChangeArrowheads="1"/>
          </p:cNvSpPr>
          <p:nvPr/>
        </p:nvSpPr>
        <p:spPr bwMode="auto">
          <a:xfrm rot="-2506749">
            <a:off x="1401763" y="644525"/>
            <a:ext cx="254000" cy="192088"/>
          </a:xfrm>
          <a:prstGeom prst="ellipse">
            <a:avLst/>
          </a:prstGeom>
          <a:noFill/>
          <a:ln w="127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29" name="Rectangle 43">
            <a:extLst>
              <a:ext uri="{FF2B5EF4-FFF2-40B4-BE49-F238E27FC236}">
                <a16:creationId xmlns:a16="http://schemas.microsoft.com/office/drawing/2014/main" id="{D4B90F23-9A0D-A1D5-8277-96A314393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038" y="1076325"/>
            <a:ext cx="28813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000" dirty="0">
                <a:solidFill>
                  <a:srgbClr val="FFFF00"/>
                </a:solidFill>
                <a:latin typeface="楷体_GB2312" pitchFamily="49" charset="-122"/>
                <a:ea typeface="幼圆" panose="02010509060101010101" pitchFamily="49" charset="-122"/>
              </a:rPr>
              <a:t>安培环路交链的体电流</a:t>
            </a:r>
          </a:p>
        </p:txBody>
      </p:sp>
      <p:sp>
        <p:nvSpPr>
          <p:cNvPr id="110612" name="Line 34">
            <a:extLst>
              <a:ext uri="{FF2B5EF4-FFF2-40B4-BE49-F238E27FC236}">
                <a16:creationId xmlns:a16="http://schemas.microsoft.com/office/drawing/2014/main" id="{B481941E-81F4-99EA-74CF-712050DE44A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04950" y="836613"/>
            <a:ext cx="330200" cy="455612"/>
          </a:xfrm>
          <a:prstGeom prst="line">
            <a:avLst/>
          </a:prstGeom>
          <a:noFill/>
          <a:ln w="12700">
            <a:solidFill>
              <a:srgbClr val="FF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057EDD3-F9F6-2442-7E88-41E8ED19BBA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45586" y="358775"/>
            <a:ext cx="3961902" cy="1084697"/>
          </a:xfrm>
          <a:prstGeom prst="rect">
            <a:avLst/>
          </a:prstGeom>
        </p:spPr>
      </p:pic>
      <p:sp>
        <p:nvSpPr>
          <p:cNvPr id="6" name="Rectangle 71">
            <a:extLst>
              <a:ext uri="{FF2B5EF4-FFF2-40B4-BE49-F238E27FC236}">
                <a16:creationId xmlns:a16="http://schemas.microsoft.com/office/drawing/2014/main" id="{D3B21B91-918C-6312-3F10-9BA04A03DF49}"/>
              </a:ext>
            </a:extLst>
          </p:cNvPr>
          <p:cNvSpPr/>
          <p:nvPr/>
        </p:nvSpPr>
        <p:spPr>
          <a:xfrm>
            <a:off x="4960392" y="2350871"/>
            <a:ext cx="4332289" cy="3730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</a:rPr>
              <a:t>③计算标量一重积分（第一类曲线积分</a:t>
            </a:r>
            <a:r>
              <a:rPr lang="zh-CN" altLang="en-US" sz="1400" b="0" dirty="0">
                <a:solidFill>
                  <a:srgbClr val="FFFF00"/>
                </a:solidFill>
              </a:rPr>
              <a:t>）</a:t>
            </a:r>
            <a:r>
              <a:rPr lang="zh-CN" altLang="en-US" sz="1400" b="0" dirty="0">
                <a:solidFill>
                  <a:srgbClr val="FF0000"/>
                </a:solidFill>
              </a:rPr>
              <a:t>（有简化）</a:t>
            </a:r>
          </a:p>
        </p:txBody>
      </p:sp>
      <p:sp>
        <p:nvSpPr>
          <p:cNvPr id="8" name="Rectangle 71">
            <a:extLst>
              <a:ext uri="{FF2B5EF4-FFF2-40B4-BE49-F238E27FC236}">
                <a16:creationId xmlns:a16="http://schemas.microsoft.com/office/drawing/2014/main" id="{4EA9EBEB-9936-7C9F-AB71-BAD3080E8902}"/>
              </a:ext>
            </a:extLst>
          </p:cNvPr>
          <p:cNvSpPr/>
          <p:nvPr/>
        </p:nvSpPr>
        <p:spPr>
          <a:xfrm>
            <a:off x="931051" y="2045727"/>
            <a:ext cx="8429069" cy="3730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strike="sngStrike" dirty="0">
                <a:solidFill>
                  <a:srgbClr val="DBF10F"/>
                </a:solidFill>
                <a:latin typeface="楷体_GB2312" pitchFamily="49" charset="-122"/>
              </a:rPr>
              <a:t>①</a:t>
            </a:r>
            <a:r>
              <a:rPr lang="zh-CN" altLang="en-US" sz="1400" b="0" strike="sngStrike" dirty="0">
                <a:solidFill>
                  <a:srgbClr val="DBF10F"/>
                </a:solidFill>
                <a:latin typeface="楷体_GB2312" pitchFamily="49" charset="-122"/>
                <a:ea typeface="楷体_GB2312" pitchFamily="49" charset="-122"/>
              </a:rPr>
              <a:t>变闭为开：</a:t>
            </a:r>
            <a:r>
              <a:rPr lang="zh-CN" altLang="en-US" sz="1400" b="0" strike="sngStrike" dirty="0">
                <a:solidFill>
                  <a:srgbClr val="DBF10F"/>
                </a:solidFill>
                <a:latin typeface="楷体_GB2312" pitchFamily="49" charset="-122"/>
              </a:rPr>
              <a:t>闭合曲线的积分</a:t>
            </a:r>
            <a:r>
              <a:rPr lang="zh-CN" altLang="en-US" sz="1400" b="0" strike="sngStrike" dirty="0">
                <a:solidFill>
                  <a:srgbClr val="DBF10F"/>
                </a:solidFill>
              </a:rPr>
              <a:t>（第二类曲线积分）</a:t>
            </a:r>
            <a:r>
              <a:rPr lang="en-US" altLang="zh-CN" sz="1400" b="0" strike="sngStrike" dirty="0">
                <a:solidFill>
                  <a:srgbClr val="DBF10F"/>
                </a:solidFill>
                <a:latin typeface="楷体_GB2312" pitchFamily="49" charset="-122"/>
              </a:rPr>
              <a:t>=</a:t>
            </a:r>
            <a:r>
              <a:rPr lang="zh-CN" altLang="en-US" sz="1400" b="0" strike="sngStrike" dirty="0">
                <a:solidFill>
                  <a:srgbClr val="DBF10F"/>
                </a:solidFill>
                <a:latin typeface="楷体_GB2312" pitchFamily="49" charset="-122"/>
              </a:rPr>
              <a:t>围合该闭合面的各开曲线的线积分之和</a:t>
            </a:r>
            <a:endParaRPr lang="zh-CN" altLang="en-US" sz="1400" b="0" strike="sngStrike" dirty="0">
              <a:solidFill>
                <a:srgbClr val="DBF10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9" name="Rectangle 71">
            <a:extLst>
              <a:ext uri="{FF2B5EF4-FFF2-40B4-BE49-F238E27FC236}">
                <a16:creationId xmlns:a16="http://schemas.microsoft.com/office/drawing/2014/main" id="{C0DD07D4-18BF-0D28-285A-51AE0AA05AC7}"/>
              </a:ext>
            </a:extLst>
          </p:cNvPr>
          <p:cNvSpPr/>
          <p:nvPr/>
        </p:nvSpPr>
        <p:spPr>
          <a:xfrm>
            <a:off x="5989172" y="1398858"/>
            <a:ext cx="2611079" cy="36970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1400" b="0" dirty="0">
                <a:solidFill>
                  <a:srgbClr val="DBF10F"/>
                </a:solidFill>
                <a:latin typeface="Arial" panose="020B0604020202020204" pitchFamily="34" charset="0"/>
                <a:ea typeface="楷体_GB2312" pitchFamily="49" charset="-122"/>
              </a:rPr>
              <a:t>被积函数的点乘</a:t>
            </a:r>
            <a:r>
              <a:rPr lang="zh-CN" altLang="en-US" sz="1400" b="0" dirty="0">
                <a:solidFill>
                  <a:srgbClr val="DBF10F"/>
                </a:solidFill>
              </a:rPr>
              <a:t>运算</a:t>
            </a:r>
            <a:endParaRPr lang="zh-CN" altLang="en-US" sz="1400" b="0" dirty="0">
              <a:solidFill>
                <a:srgbClr val="DBF10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2">
            <a:extLst>
              <a:ext uri="{FF2B5EF4-FFF2-40B4-BE49-F238E27FC236}">
                <a16:creationId xmlns:a16="http://schemas.microsoft.com/office/drawing/2014/main" id="{081DF146-1B0F-22F2-60CD-3EF94D83B37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05D1579-7640-4BF3-BAD7-E55129E114FF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15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61154" name="Object 2">
            <a:extLst>
              <a:ext uri="{FF2B5EF4-FFF2-40B4-BE49-F238E27FC236}">
                <a16:creationId xmlns:a16="http://schemas.microsoft.com/office/drawing/2014/main" id="{41D1C00B-786D-3822-C9BA-F20FB0969E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832293"/>
              </p:ext>
            </p:extLst>
          </p:nvPr>
        </p:nvGraphicFramePr>
        <p:xfrm>
          <a:off x="107504" y="1601939"/>
          <a:ext cx="19558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98647" imgH="114300" progId="Equation.DSMT4">
                  <p:embed/>
                </p:oleObj>
              </mc:Choice>
              <mc:Fallback>
                <p:oleObj r:id="rId3" imgW="698647" imgH="1143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601939"/>
                        <a:ext cx="195580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1155" name="Text Box 3">
            <a:extLst>
              <a:ext uri="{FF2B5EF4-FFF2-40B4-BE49-F238E27FC236}">
                <a16:creationId xmlns:a16="http://schemas.microsoft.com/office/drawing/2014/main" id="{DA7E0689-10A6-D122-E31C-85720E076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7" y="2935439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应用安培环路定理，得</a:t>
            </a:r>
          </a:p>
        </p:txBody>
      </p:sp>
      <p:graphicFrame>
        <p:nvGraphicFramePr>
          <p:cNvPr id="561156" name="Object 4">
            <a:extLst>
              <a:ext uri="{FF2B5EF4-FFF2-40B4-BE49-F238E27FC236}">
                <a16:creationId xmlns:a16="http://schemas.microsoft.com/office/drawing/2014/main" id="{B1F92F98-CED7-C92E-8AD0-D90FC42F79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954378"/>
              </p:ext>
            </p:extLst>
          </p:nvPr>
        </p:nvGraphicFramePr>
        <p:xfrm>
          <a:off x="685355" y="3320266"/>
          <a:ext cx="2633662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36810" imgH="298427" progId="Equation.DSMT4">
                  <p:embed/>
                </p:oleObj>
              </mc:Choice>
              <mc:Fallback>
                <p:oleObj r:id="rId5" imgW="1136810" imgH="29842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355" y="3320266"/>
                        <a:ext cx="2633662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57" name="Object 5">
            <a:extLst>
              <a:ext uri="{FF2B5EF4-FFF2-40B4-BE49-F238E27FC236}">
                <a16:creationId xmlns:a16="http://schemas.microsoft.com/office/drawing/2014/main" id="{1FFDF489-92A7-25B4-1CF7-DCFD53F9C0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474294"/>
              </p:ext>
            </p:extLst>
          </p:nvPr>
        </p:nvGraphicFramePr>
        <p:xfrm>
          <a:off x="141091" y="5119655"/>
          <a:ext cx="1722438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42755" imgH="114300" progId="Equation.DSMT4">
                  <p:embed/>
                </p:oleObj>
              </mc:Choice>
              <mc:Fallback>
                <p:oleObj r:id="rId7" imgW="742755" imgH="114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91" y="5119655"/>
                        <a:ext cx="1722438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59" name="Object 7">
            <a:extLst>
              <a:ext uri="{FF2B5EF4-FFF2-40B4-BE49-F238E27FC236}">
                <a16:creationId xmlns:a16="http://schemas.microsoft.com/office/drawing/2014/main" id="{26C3437A-A4F0-4702-84CC-D2A2BA7EE6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303777"/>
              </p:ext>
            </p:extLst>
          </p:nvPr>
        </p:nvGraphicFramePr>
        <p:xfrm>
          <a:off x="117029" y="470052"/>
          <a:ext cx="16287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698647" imgH="114300" progId="Equation.DSMT4">
                  <p:embed/>
                </p:oleObj>
              </mc:Choice>
              <mc:Fallback>
                <p:oleObj r:id="rId9" imgW="698647" imgH="114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029" y="470052"/>
                        <a:ext cx="16287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1166" name="Object 14">
            <a:extLst>
              <a:ext uri="{FF2B5EF4-FFF2-40B4-BE49-F238E27FC236}">
                <a16:creationId xmlns:a16="http://schemas.microsoft.com/office/drawing/2014/main" id="{F9BCE389-CAA4-AF4A-DFA3-8DE60F999D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642992"/>
              </p:ext>
            </p:extLst>
          </p:nvPr>
        </p:nvGraphicFramePr>
        <p:xfrm>
          <a:off x="5862468" y="5119655"/>
          <a:ext cx="8096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72968" imgH="133419" progId="Equation.DSMT4">
                  <p:embed/>
                </p:oleObj>
              </mc:Choice>
              <mc:Fallback>
                <p:oleObj r:id="rId11" imgW="272968" imgH="133419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468" y="5119655"/>
                        <a:ext cx="80962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7">
            <a:extLst>
              <a:ext uri="{FF2B5EF4-FFF2-40B4-BE49-F238E27FC236}">
                <a16:creationId xmlns:a16="http://schemas.microsoft.com/office/drawing/2014/main" id="{8835376F-5904-D20F-63F6-C051B2C57C1F}"/>
              </a:ext>
            </a:extLst>
          </p:cNvPr>
          <p:cNvGrpSpPr>
            <a:grpSpLocks/>
          </p:cNvGrpSpPr>
          <p:nvPr/>
        </p:nvGrpSpPr>
        <p:grpSpPr bwMode="auto">
          <a:xfrm>
            <a:off x="569914" y="4171950"/>
            <a:ext cx="2949575" cy="890588"/>
            <a:chOff x="1981" y="2418"/>
            <a:chExt cx="1858" cy="561"/>
          </a:xfrm>
        </p:grpSpPr>
        <p:graphicFrame>
          <p:nvGraphicFramePr>
            <p:cNvPr id="112667" name="Object 6">
              <a:extLst>
                <a:ext uri="{FF2B5EF4-FFF2-40B4-BE49-F238E27FC236}">
                  <a16:creationId xmlns:a16="http://schemas.microsoft.com/office/drawing/2014/main" id="{D449CDCC-08FC-4CD1-A9B7-3878F7D82E2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39855068"/>
                </p:ext>
              </p:extLst>
            </p:nvPr>
          </p:nvGraphicFramePr>
          <p:xfrm>
            <a:off x="2255" y="2418"/>
            <a:ext cx="1584" cy="5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104770" imgH="317546" progId="Equation.DSMT4">
                    <p:embed/>
                  </p:oleObj>
                </mc:Choice>
                <mc:Fallback>
                  <p:oleObj r:id="rId13" imgW="1104770" imgH="317546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5" y="2418"/>
                          <a:ext cx="1584" cy="5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668" name="AutoShape 16">
              <a:extLst>
                <a:ext uri="{FF2B5EF4-FFF2-40B4-BE49-F238E27FC236}">
                  <a16:creationId xmlns:a16="http://schemas.microsoft.com/office/drawing/2014/main" id="{68853382-975C-DBE3-BF63-8878AD725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" y="2446"/>
              <a:ext cx="130" cy="53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3" name="Group 19">
            <a:extLst>
              <a:ext uri="{FF2B5EF4-FFF2-40B4-BE49-F238E27FC236}">
                <a16:creationId xmlns:a16="http://schemas.microsoft.com/office/drawing/2014/main" id="{DBEE2447-0A91-AA71-795F-2F7E35693F7F}"/>
              </a:ext>
            </a:extLst>
          </p:cNvPr>
          <p:cNvGrpSpPr>
            <a:grpSpLocks/>
          </p:cNvGrpSpPr>
          <p:nvPr/>
        </p:nvGrpSpPr>
        <p:grpSpPr bwMode="auto">
          <a:xfrm>
            <a:off x="2818954" y="838352"/>
            <a:ext cx="1993900" cy="855662"/>
            <a:chOff x="2350" y="651"/>
            <a:chExt cx="1256" cy="539"/>
          </a:xfrm>
        </p:grpSpPr>
        <p:graphicFrame>
          <p:nvGraphicFramePr>
            <p:cNvPr id="112665" name="Object 9">
              <a:extLst>
                <a:ext uri="{FF2B5EF4-FFF2-40B4-BE49-F238E27FC236}">
                  <a16:creationId xmlns:a16="http://schemas.microsoft.com/office/drawing/2014/main" id="{0EFCB17D-3DC3-F830-FD88-DECC338056F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65" y="663"/>
            <a:ext cx="941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641224" imgH="298427" progId="Equation.DSMT4">
                    <p:embed/>
                  </p:oleObj>
                </mc:Choice>
                <mc:Fallback>
                  <p:oleObj r:id="rId15" imgW="641224" imgH="298427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5" y="663"/>
                          <a:ext cx="941" cy="5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666" name="AutoShape 18">
              <a:extLst>
                <a:ext uri="{FF2B5EF4-FFF2-40B4-BE49-F238E27FC236}">
                  <a16:creationId xmlns:a16="http://schemas.microsoft.com/office/drawing/2014/main" id="{1F701433-8B2F-8807-CB59-9B4AC171C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0" y="651"/>
              <a:ext cx="122" cy="524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996C5011-1DED-B10E-3EC9-3919C056414B}"/>
              </a:ext>
            </a:extLst>
          </p:cNvPr>
          <p:cNvGrpSpPr>
            <a:grpSpLocks/>
          </p:cNvGrpSpPr>
          <p:nvPr/>
        </p:nvGrpSpPr>
        <p:grpSpPr bwMode="auto">
          <a:xfrm>
            <a:off x="5295683" y="5270994"/>
            <a:ext cx="1350963" cy="844550"/>
            <a:chOff x="1984" y="3414"/>
            <a:chExt cx="851" cy="532"/>
          </a:xfrm>
        </p:grpSpPr>
        <p:graphicFrame>
          <p:nvGraphicFramePr>
            <p:cNvPr id="112663" name="Object 15">
              <a:extLst>
                <a:ext uri="{FF2B5EF4-FFF2-40B4-BE49-F238E27FC236}">
                  <a16:creationId xmlns:a16="http://schemas.microsoft.com/office/drawing/2014/main" id="{11141453-0CF5-FB21-92F4-CF2B688D2A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91" y="3521"/>
            <a:ext cx="544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336632" imgH="152539" progId="Equation.DSMT4">
                    <p:embed/>
                  </p:oleObj>
                </mc:Choice>
                <mc:Fallback>
                  <p:oleObj r:id="rId17" imgW="336632" imgH="152539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1" y="3521"/>
                          <a:ext cx="544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664" name="AutoShape 20">
              <a:extLst>
                <a:ext uri="{FF2B5EF4-FFF2-40B4-BE49-F238E27FC236}">
                  <a16:creationId xmlns:a16="http://schemas.microsoft.com/office/drawing/2014/main" id="{74C1DAC0-B280-9B39-2771-AD358ABBF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" y="3414"/>
              <a:ext cx="130" cy="53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112653" name="AutoShape 4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101960CD-98DE-6316-633E-3141EDAE6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2654" name="AutoShape 4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20FA8CA-D12E-472C-41B6-2AD17ED95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2655" name="AutoShape 4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B0CA156-4A4E-6DBA-0BF7-29809A8CE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2656" name="AutoShape 4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9E4D68B-1742-C24B-347D-0BFFA9720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561198" name="Object 46">
            <a:extLst>
              <a:ext uri="{FF2B5EF4-FFF2-40B4-BE49-F238E27FC236}">
                <a16:creationId xmlns:a16="http://schemas.microsoft.com/office/drawing/2014/main" id="{7B58F3D0-773B-74E0-4FA3-826782E9A619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587149175"/>
              </p:ext>
            </p:extLst>
          </p:nvPr>
        </p:nvGraphicFramePr>
        <p:xfrm>
          <a:off x="163663" y="2049223"/>
          <a:ext cx="395922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619081" imgH="298427" progId="Equation.3">
                  <p:embed/>
                </p:oleObj>
              </mc:Choice>
              <mc:Fallback>
                <p:oleObj r:id="rId19" imgW="1619081" imgH="298427" progId="Equation.3">
                  <p:embed/>
                  <p:pic>
                    <p:nvPicPr>
                      <p:cNvPr id="0" name="Object 4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63" y="2049223"/>
                        <a:ext cx="3959225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0132" name="Text Box 4">
            <a:extLst>
              <a:ext uri="{FF2B5EF4-FFF2-40B4-BE49-F238E27FC236}">
                <a16:creationId xmlns:a16="http://schemas.microsoft.com/office/drawing/2014/main" id="{777DCAE0-EB00-EED5-6817-512808DF1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5967" y="398614"/>
            <a:ext cx="433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：内外导体之间</a:t>
            </a:r>
            <a:r>
              <a:rPr lang="zh-CN" altLang="en-US"/>
              <a:t>←→</a:t>
            </a:r>
            <a:r>
              <a:rPr lang="zh-CN" altLang="en-US">
                <a:solidFill>
                  <a:srgbClr val="FF0000"/>
                </a:solidFill>
              </a:rPr>
              <a:t>安培环路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64FCF24-2BDC-1B7A-965F-6BC3A9C9D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304" y="1549552"/>
            <a:ext cx="4332288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楷体_GB2312" pitchFamily="49" charset="-122"/>
              </a:rPr>
              <a:t>：外导体内部</a:t>
            </a:r>
            <a:r>
              <a:rPr lang="zh-CN" altLang="en-US"/>
              <a:t>←→</a:t>
            </a:r>
            <a:r>
              <a:rPr lang="zh-CN" altLang="en-US">
                <a:solidFill>
                  <a:srgbClr val="D60093"/>
                </a:solidFill>
              </a:rPr>
              <a:t>安培环路</a:t>
            </a:r>
            <a:r>
              <a:rPr lang="en-US" altLang="zh-CN">
                <a:solidFill>
                  <a:srgbClr val="D60093"/>
                </a:solidFill>
              </a:rPr>
              <a:t>3</a:t>
            </a:r>
          </a:p>
          <a:p>
            <a:pPr eaLnBrk="1" hangingPunct="1">
              <a:spcBef>
                <a:spcPct val="50000"/>
              </a:spcBef>
            </a:pPr>
            <a:endParaRPr lang="zh-CN" altLang="en-US">
              <a:solidFill>
                <a:srgbClr val="D60093"/>
              </a:solidFill>
              <a:latin typeface="楷体_GB2312" pitchFamily="49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7892355-8284-9F06-1895-8A9A20073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7491" y="5094617"/>
            <a:ext cx="4332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：外导体之外←→</a:t>
            </a:r>
            <a:r>
              <a:rPr lang="zh-CN" altLang="en-US" dirty="0">
                <a:solidFill>
                  <a:srgbClr val="FF0000"/>
                </a:solidFill>
                <a:latin typeface="楷体_GB2312" pitchFamily="49" charset="-122"/>
              </a:rPr>
              <a:t>安培环路</a:t>
            </a:r>
            <a:r>
              <a:rPr lang="en-US" altLang="zh-CN" dirty="0">
                <a:solidFill>
                  <a:srgbClr val="FF0000"/>
                </a:solidFill>
                <a:latin typeface="楷体_GB2312" pitchFamily="49" charset="-122"/>
              </a:rPr>
              <a:t>4</a:t>
            </a:r>
          </a:p>
        </p:txBody>
      </p:sp>
      <p:pic>
        <p:nvPicPr>
          <p:cNvPr id="112661" name="Picture 30">
            <a:extLst>
              <a:ext uri="{FF2B5EF4-FFF2-40B4-BE49-F238E27FC236}">
                <a16:creationId xmlns:a16="http://schemas.microsoft.com/office/drawing/2014/main" id="{8F914E57-1E22-54AF-6630-F9C3833C6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888" y="2444983"/>
            <a:ext cx="3190862" cy="25990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62" name="Rectangle 31">
            <a:extLst>
              <a:ext uri="{FF2B5EF4-FFF2-40B4-BE49-F238E27FC236}">
                <a16:creationId xmlns:a16="http://schemas.microsoft.com/office/drawing/2014/main" id="{63D96F05-D3C5-0E73-D600-734F97A6A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7" y="5483225"/>
            <a:ext cx="7156773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4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FF9933"/>
                </a:solidFill>
              </a:rPr>
              <a:t>相关例题；</a:t>
            </a:r>
            <a:r>
              <a:rPr lang="en-US" altLang="zh-CN" sz="2000" dirty="0">
                <a:solidFill>
                  <a:schemeClr val="bg2"/>
                </a:solidFill>
              </a:rPr>
              <a:t>【</a:t>
            </a:r>
            <a:r>
              <a:rPr lang="zh-CN" altLang="en-US" sz="2000" dirty="0">
                <a:solidFill>
                  <a:schemeClr val="bg2"/>
                </a:solidFill>
              </a:rPr>
              <a:t>例</a:t>
            </a:r>
            <a:r>
              <a:rPr lang="en-US" altLang="zh-CN" sz="2000" dirty="0">
                <a:solidFill>
                  <a:schemeClr val="bg2"/>
                </a:solidFill>
              </a:rPr>
              <a:t>2.3.3】 </a:t>
            </a:r>
            <a:r>
              <a:rPr lang="en-US" altLang="zh-CN" sz="2000" dirty="0">
                <a:solidFill>
                  <a:srgbClr val="FF9933"/>
                </a:solidFill>
              </a:rPr>
              <a:t>【</a:t>
            </a:r>
            <a:r>
              <a:rPr lang="zh-CN" altLang="en-US" sz="2000" dirty="0">
                <a:solidFill>
                  <a:srgbClr val="FF9933"/>
                </a:solidFill>
              </a:rPr>
              <a:t>例</a:t>
            </a:r>
            <a:r>
              <a:rPr lang="en-US" altLang="zh-CN" sz="2000" dirty="0">
                <a:solidFill>
                  <a:srgbClr val="FF9933"/>
                </a:solidFill>
              </a:rPr>
              <a:t>2.4.2】</a:t>
            </a:r>
            <a:r>
              <a:rPr lang="zh-CN" altLang="en-US" sz="2000" dirty="0"/>
              <a:t> </a:t>
            </a:r>
          </a:p>
          <a:p>
            <a:pPr eaLnBrk="1" fontAlgn="ctr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9933"/>
                </a:solidFill>
              </a:rPr>
              <a:t>                      【</a:t>
            </a:r>
            <a:r>
              <a:rPr lang="zh-CN" altLang="en-US" sz="2000" dirty="0">
                <a:solidFill>
                  <a:srgbClr val="FF9933"/>
                </a:solidFill>
              </a:rPr>
              <a:t>例</a:t>
            </a:r>
            <a:r>
              <a:rPr lang="en-US" altLang="zh-CN" sz="2000" dirty="0">
                <a:solidFill>
                  <a:srgbClr val="FF9933"/>
                </a:solidFill>
              </a:rPr>
              <a:t>3.1.2 】</a:t>
            </a:r>
            <a:r>
              <a:rPr lang="en-US" altLang="zh-CN" sz="2000" dirty="0">
                <a:solidFill>
                  <a:srgbClr val="EC8C00"/>
                </a:solidFill>
              </a:rPr>
              <a:t>【</a:t>
            </a:r>
            <a:r>
              <a:rPr lang="zh-CN" altLang="en-US" sz="2000" dirty="0">
                <a:solidFill>
                  <a:srgbClr val="EC8C00"/>
                </a:solidFill>
              </a:rPr>
              <a:t>例</a:t>
            </a:r>
            <a:r>
              <a:rPr lang="en-US" altLang="zh-CN" sz="2000" dirty="0">
                <a:solidFill>
                  <a:srgbClr val="EC8C00"/>
                </a:solidFill>
              </a:rPr>
              <a:t>3.2.1】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sz="2000" dirty="0">
                <a:solidFill>
                  <a:srgbClr val="FF9933"/>
                </a:solidFill>
              </a:rPr>
              <a:t>【</a:t>
            </a:r>
            <a:r>
              <a:rPr lang="zh-CN" altLang="en-US" sz="2000" dirty="0">
                <a:solidFill>
                  <a:srgbClr val="FF9933"/>
                </a:solidFill>
              </a:rPr>
              <a:t>例</a:t>
            </a:r>
            <a:r>
              <a:rPr lang="en-US" altLang="zh-CN" sz="2000" dirty="0">
                <a:solidFill>
                  <a:srgbClr val="FF9933"/>
                </a:solidFill>
              </a:rPr>
              <a:t>4.3.2 】</a:t>
            </a:r>
            <a:r>
              <a:rPr lang="en-US" altLang="zh-CN" sz="2000" dirty="0"/>
              <a:t> </a:t>
            </a: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263108B-353F-6D8B-DB08-140B1F261E4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989808" y="404468"/>
            <a:ext cx="3152198" cy="2003355"/>
          </a:xfrm>
          <a:prstGeom prst="rect">
            <a:avLst/>
          </a:prstGeom>
        </p:spPr>
      </p:pic>
      <p:pic>
        <p:nvPicPr>
          <p:cNvPr id="7" name="Picture 62">
            <a:extLst>
              <a:ext uri="{FF2B5EF4-FFF2-40B4-BE49-F238E27FC236}">
                <a16:creationId xmlns:a16="http://schemas.microsoft.com/office/drawing/2014/main" id="{F3951632-8DC8-E2CF-15FC-CAADB2CD9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509" y="2444983"/>
            <a:ext cx="1838278" cy="3914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1771AAF-C39E-6D7F-8A81-6C773E10E5E3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41091" y="986237"/>
            <a:ext cx="2447925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>
            <a:extLst>
              <a:ext uri="{FF2B5EF4-FFF2-40B4-BE49-F238E27FC236}">
                <a16:creationId xmlns:a16="http://schemas.microsoft.com/office/drawing/2014/main" id="{F403CB8B-5662-ABD6-2AEC-07F0FEAAA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700213"/>
            <a:ext cx="84970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【</a:t>
            </a:r>
            <a:r>
              <a:rPr kumimoji="1" lang="zh-CN" altLang="en-US" b="1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解</a:t>
            </a:r>
            <a:r>
              <a:rPr kumimoji="1" lang="en-US" altLang="zh-CN" b="1" dirty="0">
                <a:solidFill>
                  <a:srgbClr val="FF9900"/>
                </a:solidFill>
                <a:latin typeface="Times New Roman" panose="02020603050405020304" pitchFamily="18" charset="0"/>
              </a:rPr>
              <a:t>】</a:t>
            </a:r>
            <a:r>
              <a:rPr kumimoji="1" lang="zh-CN" altLang="en-US" b="1" dirty="0">
                <a:latin typeface="Times New Roman" panose="02020603050405020304" pitchFamily="18" charset="0"/>
              </a:rPr>
              <a:t>分析场的分布，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取安培环路如</a:t>
            </a:r>
            <a:r>
              <a:rPr kumimoji="1"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右下两</a:t>
            </a:r>
            <a:r>
              <a:rPr kumimoji="1"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图</a:t>
            </a:r>
            <a:r>
              <a:rPr kumimoji="1" lang="zh-CN" altLang="en-US" b="1" dirty="0">
                <a:latin typeface="Times New Roman" panose="02020603050405020304" pitchFamily="18" charset="0"/>
              </a:rPr>
              <a:t>，则  </a:t>
            </a:r>
          </a:p>
        </p:txBody>
      </p:sp>
      <p:grpSp>
        <p:nvGrpSpPr>
          <p:cNvPr id="4" name="Group 9">
            <a:extLst>
              <a:ext uri="{FF2B5EF4-FFF2-40B4-BE49-F238E27FC236}">
                <a16:creationId xmlns:a16="http://schemas.microsoft.com/office/drawing/2014/main" id="{EE4FEEF4-673E-7E3D-2B95-DD0DE79A13E0}"/>
              </a:ext>
            </a:extLst>
          </p:cNvPr>
          <p:cNvGrpSpPr>
            <a:grpSpLocks/>
          </p:cNvGrpSpPr>
          <p:nvPr/>
        </p:nvGrpSpPr>
        <p:grpSpPr bwMode="auto">
          <a:xfrm>
            <a:off x="34925" y="476250"/>
            <a:ext cx="9036050" cy="1041400"/>
            <a:chOff x="22" y="1117"/>
            <a:chExt cx="5692" cy="656"/>
          </a:xfrm>
        </p:grpSpPr>
        <p:sp>
          <p:nvSpPr>
            <p:cNvPr id="5" name="Text Box 10">
              <a:extLst>
                <a:ext uri="{FF2B5EF4-FFF2-40B4-BE49-F238E27FC236}">
                  <a16:creationId xmlns:a16="http://schemas.microsoft.com/office/drawing/2014/main" id="{51D6930D-600F-DA56-57C2-26CCB659E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117"/>
              <a:ext cx="5692" cy="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kumimoji="1" lang="en-US" altLang="zh-CN" dirty="0">
                  <a:solidFill>
                    <a:srgbClr val="FF99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【</a:t>
              </a:r>
              <a:r>
                <a:rPr kumimoji="1" lang="zh-CN" altLang="en-US" b="1" dirty="0">
                  <a:solidFill>
                    <a:srgbClr val="FF99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例</a:t>
              </a:r>
              <a:r>
                <a:rPr lang="en-US" altLang="zh-CN" b="1" dirty="0">
                  <a:solidFill>
                    <a:srgbClr val="FF9900"/>
                  </a:solidFill>
                  <a:latin typeface="Times New Roman" panose="02020603050405020304" pitchFamily="18" charset="0"/>
                </a:rPr>
                <a:t>2.3.4】</a:t>
              </a:r>
              <a:r>
                <a:rPr kumimoji="1" lang="en-US" altLang="zh-CN" b="1" dirty="0">
                  <a:solidFill>
                    <a:srgbClr val="FF99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kumimoji="1" lang="zh-CN" altLang="en-US" b="1" dirty="0">
                  <a:latin typeface="楷体_GB2312" pitchFamily="49" charset="-122"/>
                </a:rPr>
                <a:t>求电流面密度为             的无限大电流薄板产生的磁感应强度。</a:t>
              </a:r>
              <a:r>
                <a:rPr kumimoji="1" lang="zh-CN" altLang="en-US" dirty="0">
                  <a:solidFill>
                    <a:srgbClr val="FFC000"/>
                  </a:solidFill>
                  <a:latin typeface="楷体_GB2312" pitchFamily="49" charset="-122"/>
                </a:rPr>
                <a:t>（运算是否</a:t>
              </a:r>
              <a:r>
                <a:rPr kumimoji="1" lang="zh-CN" altLang="en-US" b="1" dirty="0">
                  <a:solidFill>
                    <a:srgbClr val="FFC000"/>
                  </a:solidFill>
                  <a:latin typeface="楷体_GB2312" pitchFamily="49" charset="-122"/>
                </a:rPr>
                <a:t>得到简化？可与</a:t>
              </a:r>
              <a:r>
                <a:rPr kumimoji="1" lang="en-US" altLang="zh-CN" b="1" dirty="0">
                  <a:solidFill>
                    <a:srgbClr val="FFC000"/>
                  </a:solidFill>
                  <a:latin typeface="楷体_GB2312" pitchFamily="49" charset="-122"/>
                </a:rPr>
                <a:t>【</a:t>
              </a:r>
              <a:r>
                <a:rPr kumimoji="1" lang="zh-CN" altLang="en-US" b="1" dirty="0">
                  <a:solidFill>
                    <a:srgbClr val="FFC000"/>
                  </a:solidFill>
                  <a:latin typeface="楷体_GB2312" pitchFamily="49" charset="-122"/>
                </a:rPr>
                <a:t>例</a:t>
              </a:r>
              <a:r>
                <a:rPr kumimoji="1" lang="en-US" altLang="zh-CN" b="1" dirty="0">
                  <a:solidFill>
                    <a:srgbClr val="FFC000"/>
                  </a:solidFill>
                  <a:latin typeface="楷体_GB2312" pitchFamily="49" charset="-122"/>
                </a:rPr>
                <a:t>1.5.2】</a:t>
              </a:r>
              <a:r>
                <a:rPr kumimoji="1" lang="zh-CN" altLang="en-US" b="1" dirty="0">
                  <a:solidFill>
                    <a:srgbClr val="FFC000"/>
                  </a:solidFill>
                  <a:latin typeface="楷体_GB2312" pitchFamily="49" charset="-122"/>
                </a:rPr>
                <a:t>作对比）</a:t>
              </a:r>
            </a:p>
          </p:txBody>
        </p:sp>
        <p:graphicFrame>
          <p:nvGraphicFramePr>
            <p:cNvPr id="6" name="Object 11">
              <a:extLst>
                <a:ext uri="{FF2B5EF4-FFF2-40B4-BE49-F238E27FC236}">
                  <a16:creationId xmlns:a16="http://schemas.microsoft.com/office/drawing/2014/main" id="{9340C340-134C-D0B8-95C5-2551A3D4AE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4175208"/>
                </p:ext>
              </p:extLst>
            </p:nvPr>
          </p:nvGraphicFramePr>
          <p:xfrm>
            <a:off x="2406" y="1149"/>
            <a:ext cx="767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41194" imgH="235085" progId="Equation.DSMT4">
                    <p:embed/>
                  </p:oleObj>
                </mc:Choice>
                <mc:Fallback>
                  <p:oleObj name="Equation" r:id="rId3" imgW="641194" imgH="235085" progId="Equation.DSMT4">
                    <p:embed/>
                    <p:pic>
                      <p:nvPicPr>
                        <p:cNvPr id="106509" name="Object 11">
                          <a:extLst>
                            <a:ext uri="{FF2B5EF4-FFF2-40B4-BE49-F238E27FC236}">
                              <a16:creationId xmlns:a16="http://schemas.microsoft.com/office/drawing/2014/main" id="{E369FE76-9B83-C779-6BF1-5CCD5E85A2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6" y="1149"/>
                          <a:ext cx="767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7" name="Picture 35">
            <a:extLst>
              <a:ext uri="{FF2B5EF4-FFF2-40B4-BE49-F238E27FC236}">
                <a16:creationId xmlns:a16="http://schemas.microsoft.com/office/drawing/2014/main" id="{A0B5AE29-B170-9331-08A7-EBCDFB13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307" y="5620333"/>
            <a:ext cx="1048098" cy="1279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Object 43">
            <a:extLst>
              <a:ext uri="{FF2B5EF4-FFF2-40B4-BE49-F238E27FC236}">
                <a16:creationId xmlns:a16="http://schemas.microsoft.com/office/drawing/2014/main" id="{4F3C6DE8-37C9-32A3-39FA-807E66617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945968"/>
              </p:ext>
            </p:extLst>
          </p:nvPr>
        </p:nvGraphicFramePr>
        <p:xfrm>
          <a:off x="179388" y="2344441"/>
          <a:ext cx="8856662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790861" imgH="997085" progId="Equation.3">
                  <p:embed/>
                </p:oleObj>
              </mc:Choice>
              <mc:Fallback>
                <p:oleObj name="公式" r:id="rId6" imgW="3790861" imgH="997085" progId="Equation.3">
                  <p:embed/>
                  <p:pic>
                    <p:nvPicPr>
                      <p:cNvPr id="747563" name="Object 43">
                        <a:extLst>
                          <a:ext uri="{FF2B5EF4-FFF2-40B4-BE49-F238E27FC236}">
                            <a16:creationId xmlns:a16="http://schemas.microsoft.com/office/drawing/2014/main" id="{CE69A750-5C4E-98F6-537E-A1DE86335F0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344441"/>
                        <a:ext cx="8856662" cy="236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1">
            <a:extLst>
              <a:ext uri="{FF2B5EF4-FFF2-40B4-BE49-F238E27FC236}">
                <a16:creationId xmlns:a16="http://schemas.microsoft.com/office/drawing/2014/main" id="{BED91778-26E2-8198-8BC0-75512B5858A7}"/>
              </a:ext>
            </a:extLst>
          </p:cNvPr>
          <p:cNvSpPr/>
          <p:nvPr/>
        </p:nvSpPr>
        <p:spPr>
          <a:xfrm>
            <a:off x="3105942" y="2932395"/>
            <a:ext cx="4332289" cy="3730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</a:rPr>
              <a:t>③计算标量一重积分（第一类曲线积分</a:t>
            </a:r>
            <a:r>
              <a:rPr lang="zh-CN" altLang="en-US" sz="1400" b="0" dirty="0">
                <a:solidFill>
                  <a:srgbClr val="FFFF00"/>
                </a:solidFill>
              </a:rPr>
              <a:t>）</a:t>
            </a:r>
            <a:r>
              <a:rPr lang="zh-CN" altLang="en-US" sz="1400" b="0" dirty="0">
                <a:solidFill>
                  <a:srgbClr val="FF0000"/>
                </a:solidFill>
              </a:rPr>
              <a:t>（有简化）</a:t>
            </a:r>
          </a:p>
        </p:txBody>
      </p:sp>
      <p:sp>
        <p:nvSpPr>
          <p:cNvPr id="10" name="Rectangle 71">
            <a:extLst>
              <a:ext uri="{FF2B5EF4-FFF2-40B4-BE49-F238E27FC236}">
                <a16:creationId xmlns:a16="http://schemas.microsoft.com/office/drawing/2014/main" id="{51116D79-4DD9-A57A-91AD-5D92B8076998}"/>
              </a:ext>
            </a:extLst>
          </p:cNvPr>
          <p:cNvSpPr/>
          <p:nvPr/>
        </p:nvSpPr>
        <p:spPr>
          <a:xfrm>
            <a:off x="100901" y="2064179"/>
            <a:ext cx="8429069" cy="3730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</a:rPr>
              <a:t>①</a:t>
            </a: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  <a:ea typeface="楷体_GB2312" pitchFamily="49" charset="-122"/>
              </a:rPr>
              <a:t>变闭为开：</a:t>
            </a: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</a:rPr>
              <a:t>闭合曲线的积分</a:t>
            </a:r>
            <a:r>
              <a:rPr lang="zh-CN" altLang="en-US" sz="1400" b="0" dirty="0">
                <a:solidFill>
                  <a:srgbClr val="DBF10F"/>
                </a:solidFill>
              </a:rPr>
              <a:t>（第二类曲线积分）</a:t>
            </a:r>
            <a:r>
              <a:rPr lang="en-US" altLang="zh-CN" sz="1400" b="0" dirty="0">
                <a:solidFill>
                  <a:srgbClr val="DBF10F"/>
                </a:solidFill>
                <a:latin typeface="楷体_GB2312" pitchFamily="49" charset="-122"/>
              </a:rPr>
              <a:t>=</a:t>
            </a:r>
            <a:r>
              <a:rPr lang="zh-CN" altLang="en-US" sz="1400" b="0" dirty="0">
                <a:solidFill>
                  <a:srgbClr val="DBF10F"/>
                </a:solidFill>
                <a:latin typeface="楷体_GB2312" pitchFamily="49" charset="-122"/>
              </a:rPr>
              <a:t>围合该闭合面的各开曲线的线积分之和</a:t>
            </a:r>
            <a:endParaRPr lang="zh-CN" altLang="en-US" sz="1400" b="0" dirty="0">
              <a:solidFill>
                <a:srgbClr val="DBF10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11" name="Rectangle 71">
            <a:extLst>
              <a:ext uri="{FF2B5EF4-FFF2-40B4-BE49-F238E27FC236}">
                <a16:creationId xmlns:a16="http://schemas.microsoft.com/office/drawing/2014/main" id="{EA8BD1D1-CAD0-E10B-0C4A-28754A0CBA34}"/>
              </a:ext>
            </a:extLst>
          </p:cNvPr>
          <p:cNvSpPr/>
          <p:nvPr/>
        </p:nvSpPr>
        <p:spPr>
          <a:xfrm>
            <a:off x="107950" y="2905733"/>
            <a:ext cx="2611079" cy="36970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81000" indent="-381000">
              <a:lnSpc>
                <a:spcPct val="130000"/>
              </a:lnSpc>
              <a:spcBef>
                <a:spcPct val="0"/>
              </a:spcBef>
            </a:pPr>
            <a:r>
              <a:rPr lang="zh-CN" altLang="en-US" sz="1400" b="0" dirty="0">
                <a:solidFill>
                  <a:srgbClr val="DBF10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1400" b="0" dirty="0">
                <a:solidFill>
                  <a:srgbClr val="DBF10F"/>
                </a:solidFill>
                <a:latin typeface="Arial" panose="020B0604020202020204" pitchFamily="34" charset="0"/>
                <a:ea typeface="楷体_GB2312" pitchFamily="49" charset="-122"/>
              </a:rPr>
              <a:t>被积函数的点乘</a:t>
            </a:r>
            <a:r>
              <a:rPr lang="zh-CN" altLang="en-US" sz="1400" b="0" dirty="0">
                <a:solidFill>
                  <a:srgbClr val="DBF10F"/>
                </a:solidFill>
              </a:rPr>
              <a:t>运算</a:t>
            </a:r>
            <a:endParaRPr lang="zh-CN" altLang="en-US" sz="1400" b="0" dirty="0">
              <a:solidFill>
                <a:srgbClr val="DBF10F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12878327-92E1-1CD6-D527-1547813DDF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0603" y="4205423"/>
            <a:ext cx="3142857" cy="2742857"/>
          </a:xfrm>
          <a:prstGeom prst="rect">
            <a:avLst/>
          </a:prstGeom>
        </p:spPr>
      </p:pic>
      <p:graphicFrame>
        <p:nvGraphicFramePr>
          <p:cNvPr id="8" name="Object 39">
            <a:extLst>
              <a:ext uri="{FF2B5EF4-FFF2-40B4-BE49-F238E27FC236}">
                <a16:creationId xmlns:a16="http://schemas.microsoft.com/office/drawing/2014/main" id="{A90F9633-ED8E-44C7-BD29-9586DC05FC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103335"/>
              </p:ext>
            </p:extLst>
          </p:nvPr>
        </p:nvGraphicFramePr>
        <p:xfrm>
          <a:off x="5790638" y="3610062"/>
          <a:ext cx="2314669" cy="3290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9" imgW="1988820" imgH="2827630" progId="Visio.Drawing.11">
                  <p:embed/>
                </p:oleObj>
              </mc:Choice>
              <mc:Fallback>
                <p:oleObj name="Visio" r:id="rId9" imgW="1988820" imgH="2827630" progId="Visio.Drawing.11">
                  <p:embed/>
                  <p:pic>
                    <p:nvPicPr>
                      <p:cNvPr id="747559" name="Object 39">
                        <a:extLst>
                          <a:ext uri="{FF2B5EF4-FFF2-40B4-BE49-F238E27FC236}">
                            <a16:creationId xmlns:a16="http://schemas.microsoft.com/office/drawing/2014/main" id="{B53A37A0-0A1E-2529-211F-0F77FFD8B23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0638" y="3610062"/>
                        <a:ext cx="2314669" cy="329004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165136B0-E96F-9907-17ED-9729599256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51581" y="4828935"/>
            <a:ext cx="2814824" cy="213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0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2870</TotalTime>
  <Words>1130</Words>
  <Application>Microsoft Office PowerPoint</Application>
  <PresentationFormat>全屏显示(4:3)</PresentationFormat>
  <Paragraphs>178</Paragraphs>
  <Slides>16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-apple-system</vt:lpstr>
      <vt:lpstr>Helvetica Neue</vt:lpstr>
      <vt:lpstr>黑体</vt:lpstr>
      <vt:lpstr>楷体_GB2312</vt:lpstr>
      <vt:lpstr>隶书</vt:lpstr>
      <vt:lpstr>宋体</vt:lpstr>
      <vt:lpstr>幼圆</vt:lpstr>
      <vt:lpstr>Arial</vt:lpstr>
      <vt:lpstr>Symbol</vt:lpstr>
      <vt:lpstr>Times New Roman</vt:lpstr>
      <vt:lpstr>Wingdings</vt:lpstr>
      <vt:lpstr>1_默认设计模板</vt:lpstr>
      <vt:lpstr>Equation.3</vt:lpstr>
      <vt:lpstr>Equation.DSMT4</vt:lpstr>
      <vt:lpstr>Visio.Drawing.11</vt:lpstr>
      <vt:lpstr>Equation</vt:lpstr>
      <vt:lpstr>公式</vt:lpstr>
      <vt:lpstr>Visio</vt:lpstr>
      <vt:lpstr>2.3   真空中恒定磁场的基本规律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2394</cp:revision>
  <dcterms:created xsi:type="dcterms:W3CDTF">2004-02-10T07:06:32Z</dcterms:created>
  <dcterms:modified xsi:type="dcterms:W3CDTF">2025-12-26T05:25:45Z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0FF6B3B4C067411E96926C055B61A004</vt:lpwstr>
  </property>
  <property fmtid="{D5CDD505-2E9C-101B-9397-08002B2CF9AE}" pid="3" name="KSOProductBuildVer">
    <vt:lpwstr>2052-11.1.0.10463</vt:lpwstr>
  </property>
</Properties>
</file>