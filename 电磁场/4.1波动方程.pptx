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455" r:id="rId3"/>
    <p:sldId id="357" r:id="rId4"/>
    <p:sldId id="358" r:id="rId5"/>
    <p:sldId id="461" r:id="rId6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5BAB7F"/>
    <a:srgbClr val="CCCCFF"/>
    <a:srgbClr val="6600FF"/>
    <a:srgbClr val="D60093"/>
    <a:srgbClr val="FFFF66"/>
    <a:srgbClr val="FF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85"/>
    <p:restoredTop sz="67130"/>
  </p:normalViewPr>
  <p:slideViewPr>
    <p:cSldViewPr showGuides="1">
      <p:cViewPr varScale="1">
        <p:scale>
          <a:sx n="80" d="100"/>
          <a:sy n="80" d="100"/>
        </p:scale>
        <p:origin x="652" y="60"/>
      </p:cViewPr>
      <p:guideLst>
        <p:guide orient="horz" pos="2187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7584EA-F8F4-468B-838E-6FC41342A7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FA3BE2-94C1-4EC6-874D-79B19FD9F2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2DBF8C-73BE-48EB-9DAD-86366B0D9E7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2025/8/11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FCCE3B-0661-4084-9292-E9FF9DA1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14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2025/8/11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1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61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1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19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2025/8/11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1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81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1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024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2025/8/11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02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02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4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2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229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2025/8/11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22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22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5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22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19813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第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时变电磁场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21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23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3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" Target="slide3.xml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emf"/><Relationship Id="rId4" Type="http://schemas.openxmlformats.org/officeDocument/2006/relationships/image" Target="../media/image6.png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4.w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2" name="WordArt 15"/>
          <p:cNvSpPr>
            <a:spLocks noChangeArrowheads="1" noChangeShapeType="1" noTextEdit="1"/>
          </p:cNvSpPr>
          <p:nvPr/>
        </p:nvSpPr>
        <p:spPr bwMode="auto">
          <a:xfrm>
            <a:off x="827088" y="2349500"/>
            <a:ext cx="7489825" cy="16557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numCol="1" fromWordArt="1">
            <a:prstTxWarp prst="textInflateTop">
              <a:avLst>
                <a:gd name="adj" fmla="val 31917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章 时变电磁场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5123" name="Text Box 3"/>
          <p:cNvSpPr txBox="1"/>
          <p:nvPr/>
        </p:nvSpPr>
        <p:spPr>
          <a:xfrm>
            <a:off x="2051050" y="3913188"/>
            <a:ext cx="5688013" cy="2684462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4.1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rId3" action="ppaction://hlinksldjump"/>
              </a:rPr>
              <a:t>波动方程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（场函数的角度）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indent="-457200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4.2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电磁场的位函数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（位函数的角度）</a:t>
            </a:r>
          </a:p>
          <a:p>
            <a:pPr marL="457200" indent="-457200" algn="just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4.3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电磁能量守恒定律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4.4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惟一性定理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4.5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时谐电磁场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4" name="Rectangle 4"/>
          <p:cNvSpPr/>
          <p:nvPr/>
        </p:nvSpPr>
        <p:spPr>
          <a:xfrm>
            <a:off x="106363" y="404813"/>
            <a:ext cx="8858250" cy="294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buClr>
                <a:srgbClr val="FF9933"/>
              </a:buClr>
              <a:buChar char="•"/>
            </a:pPr>
            <a:r>
              <a:rPr lang="en-US" altLang="zh-CN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</a:rPr>
              <a:t>静态电磁场：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场量不随时间变化，包括静电场、恒定电场和恒定磁场。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电场和磁场由各自的源激发，且相互独立。</a:t>
            </a:r>
          </a:p>
          <a:p>
            <a:pPr eaLnBrk="1" hangingPunct="1">
              <a:lnSpc>
                <a:spcPct val="130000"/>
              </a:lnSpc>
              <a:buClr>
                <a:srgbClr val="FF9933"/>
              </a:buClr>
              <a:buChar char="•"/>
            </a:pP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buClr>
                <a:srgbClr val="FF9933"/>
              </a:buClr>
              <a:buChar char="•"/>
            </a:pP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buClr>
                <a:srgbClr val="FF9933"/>
              </a:buClr>
              <a:buChar char="•"/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</a:rPr>
              <a:t>时变电磁场：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电场和磁场相互关联，构成统一的电磁场。</a:t>
            </a:r>
            <a:endParaRPr lang="zh-CN" altLang="en-US" dirty="0">
              <a:solidFill>
                <a:srgbClr val="FF7C80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30000"/>
              </a:lnSpc>
              <a:buChar char="•"/>
            </a:pPr>
            <a:endParaRPr lang="en-US" altLang="zh-CN" dirty="0">
              <a:solidFill>
                <a:srgbClr val="FF7C80"/>
              </a:solidFill>
              <a:latin typeface="幼圆" panose="02010509060101010101" pitchFamily="49" charset="-122"/>
            </a:endParaRPr>
          </a:p>
        </p:txBody>
      </p:sp>
      <p:graphicFrame>
        <p:nvGraphicFramePr>
          <p:cNvPr id="5125" name="Object 15"/>
          <p:cNvGraphicFramePr>
            <a:graphicFrameLocks noChangeAspect="1"/>
          </p:cNvGraphicFramePr>
          <p:nvPr/>
        </p:nvGraphicFramePr>
        <p:xfrm>
          <a:off x="2411413" y="2852738"/>
          <a:ext cx="3300412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11275" imgH="269875" progId="Equation.3">
                  <p:embed/>
                </p:oleObj>
              </mc:Choice>
              <mc:Fallback>
                <p:oleObj r:id="rId4" imgW="1311275" imgH="26987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2852738"/>
                        <a:ext cx="3300412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5"/>
          <p:cNvGraphicFramePr>
            <a:graphicFrameLocks noChangeAspect="1"/>
          </p:cNvGraphicFramePr>
          <p:nvPr/>
        </p:nvGraphicFramePr>
        <p:xfrm>
          <a:off x="1998663" y="1412875"/>
          <a:ext cx="16827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21360" imgH="121285" progId="Equation.3">
                  <p:embed/>
                </p:oleObj>
              </mc:Choice>
              <mc:Fallback>
                <p:oleObj r:id="rId6" imgW="721360" imgH="12128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8663" y="1412875"/>
                        <a:ext cx="168275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15"/>
          <p:cNvGraphicFramePr>
            <a:graphicFrameLocks noChangeAspect="1"/>
          </p:cNvGraphicFramePr>
          <p:nvPr/>
        </p:nvGraphicFramePr>
        <p:xfrm>
          <a:off x="1979613" y="1844675"/>
          <a:ext cx="17208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37870" imgH="121285" progId="Equation.3">
                  <p:embed/>
                </p:oleObj>
              </mc:Choice>
              <mc:Fallback>
                <p:oleObj r:id="rId8" imgW="737870" imgH="12128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1844675"/>
                        <a:ext cx="1720850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566303" name="Rectangle 31"/>
          <p:cNvSpPr/>
          <p:nvPr/>
        </p:nvSpPr>
        <p:spPr>
          <a:xfrm>
            <a:off x="73025" y="333375"/>
            <a:ext cx="84597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algn="ctr" eaLnBrk="1" hangingPunct="1">
              <a:spcBef>
                <a:spcPct val="2000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4.1  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波动方程</a:t>
            </a:r>
          </a:p>
        </p:txBody>
      </p:sp>
      <p:sp>
        <p:nvSpPr>
          <p:cNvPr id="566313" name="Text Box 41"/>
          <p:cNvSpPr txBox="1"/>
          <p:nvPr/>
        </p:nvSpPr>
        <p:spPr>
          <a:xfrm>
            <a:off x="69850" y="2924175"/>
            <a:ext cx="4070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u="sng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无源区的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波动方程</a:t>
            </a:r>
          </a:p>
        </p:txBody>
      </p:sp>
      <p:sp>
        <p:nvSpPr>
          <p:cNvPr id="566314" name="Text Box 42"/>
          <p:cNvSpPr txBox="1"/>
          <p:nvPr/>
        </p:nvSpPr>
        <p:spPr>
          <a:xfrm>
            <a:off x="217488" y="1998663"/>
            <a:ext cx="88915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波动方程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  <a:r>
              <a:rPr lang="zh-CN" altLang="en-US" u="sng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二</a:t>
            </a:r>
            <a:r>
              <a:rPr lang="zh-CN" altLang="en-US" u="sng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  <a:r>
              <a:rPr lang="zh-CN" altLang="en-US" u="sng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矢量微分方程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揭示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电磁场的波动性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6315" name="Text Box 43"/>
          <p:cNvSpPr txBox="1"/>
          <p:nvPr/>
        </p:nvSpPr>
        <p:spPr>
          <a:xfrm>
            <a:off x="250825" y="1125538"/>
            <a:ext cx="8569325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麦克斯韦方程：</a:t>
            </a:r>
            <a:r>
              <a:rPr lang="zh-CN" altLang="en-US" u="sng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一阶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矢量微分方程组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，描述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电场与磁场                                          间的相互作用关系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566320" name="Group 48"/>
          <p:cNvGrpSpPr/>
          <p:nvPr/>
        </p:nvGrpSpPr>
        <p:grpSpPr>
          <a:xfrm>
            <a:off x="250825" y="2492375"/>
            <a:ext cx="8640763" cy="561975"/>
            <a:chOff x="159" y="1797"/>
            <a:chExt cx="5443" cy="354"/>
          </a:xfrm>
        </p:grpSpPr>
        <p:sp>
          <p:nvSpPr>
            <p:cNvPr id="7184" name="AutoShape 36"/>
            <p:cNvSpPr/>
            <p:nvPr/>
          </p:nvSpPr>
          <p:spPr>
            <a:xfrm>
              <a:off x="1973" y="1933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222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85" name="Text Box 44"/>
            <p:cNvSpPr txBox="1"/>
            <p:nvPr/>
          </p:nvSpPr>
          <p:spPr>
            <a:xfrm>
              <a:off x="159" y="1797"/>
              <a:ext cx="5443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Blip>
                  <a:blip r:embed="rId4"/>
                </a:buBlip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麦克斯韦方程组             电磁场的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波动方程 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566317" name="Text Box 45"/>
          <p:cNvSpPr txBox="1"/>
          <p:nvPr/>
        </p:nvSpPr>
        <p:spPr>
          <a:xfrm>
            <a:off x="69850" y="692150"/>
            <a:ext cx="2773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问题的提出</a:t>
            </a:r>
          </a:p>
        </p:txBody>
      </p:sp>
      <p:graphicFrame>
        <p:nvGraphicFramePr>
          <p:cNvPr id="566327" name="Object 55"/>
          <p:cNvGraphicFramePr>
            <a:graphicFrameLocks noChangeAspect="1"/>
          </p:cNvGraphicFramePr>
          <p:nvPr/>
        </p:nvGraphicFramePr>
        <p:xfrm>
          <a:off x="4860925" y="5807075"/>
          <a:ext cx="25431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37565" imgH="247650" progId="Equation.3">
                  <p:embed/>
                </p:oleObj>
              </mc:Choice>
              <mc:Fallback>
                <p:oleObj r:id="rId5" imgW="837565" imgH="24765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60925" y="5807075"/>
                        <a:ext cx="2543175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328" name="Object 56"/>
          <p:cNvGraphicFramePr>
            <a:graphicFrameLocks noChangeAspect="1"/>
          </p:cNvGraphicFramePr>
          <p:nvPr/>
        </p:nvGraphicFramePr>
        <p:xfrm>
          <a:off x="4260850" y="4510088"/>
          <a:ext cx="39116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55090" imgH="247650" progId="Equation.3">
                  <p:embed/>
                </p:oleObj>
              </mc:Choice>
              <mc:Fallback>
                <p:oleObj r:id="rId7" imgW="1355090" imgH="24765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0850" y="4510088"/>
                        <a:ext cx="3911600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329" name="Object 57"/>
          <p:cNvGraphicFramePr>
            <a:graphicFrameLocks noChangeAspect="1"/>
          </p:cNvGraphicFramePr>
          <p:nvPr/>
        </p:nvGraphicFramePr>
        <p:xfrm>
          <a:off x="4500563" y="3430588"/>
          <a:ext cx="34559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002665" imgH="247650" progId="Equation.3">
                  <p:embed/>
                </p:oleObj>
              </mc:Choice>
              <mc:Fallback>
                <p:oleObj r:id="rId9" imgW="1002665" imgH="24765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3430588"/>
                        <a:ext cx="3455987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330" name="Object 58"/>
          <p:cNvGraphicFramePr>
            <a:graphicFrameLocks noChangeAspect="1"/>
          </p:cNvGraphicFramePr>
          <p:nvPr/>
        </p:nvGraphicFramePr>
        <p:xfrm>
          <a:off x="984250" y="3357563"/>
          <a:ext cx="2363788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16280" imgH="980440" progId="Equation.3">
                  <p:embed/>
                </p:oleObj>
              </mc:Choice>
              <mc:Fallback>
                <p:oleObj r:id="rId11" imgW="716280" imgH="98044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84250" y="3357563"/>
                        <a:ext cx="2363788" cy="309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331" name="AutoShape 59"/>
          <p:cNvSpPr/>
          <p:nvPr/>
        </p:nvSpPr>
        <p:spPr>
          <a:xfrm>
            <a:off x="3514725" y="3790950"/>
            <a:ext cx="841375" cy="215900"/>
          </a:xfrm>
          <a:prstGeom prst="rightArrow">
            <a:avLst>
              <a:gd name="adj1" fmla="val 50000"/>
              <a:gd name="adj2" fmla="val 97408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66332" name="AutoShape 60"/>
          <p:cNvSpPr/>
          <p:nvPr/>
        </p:nvSpPr>
        <p:spPr>
          <a:xfrm rot="5400000">
            <a:off x="5700713" y="4294188"/>
            <a:ext cx="539750" cy="250825"/>
          </a:xfrm>
          <a:prstGeom prst="rightArrow">
            <a:avLst>
              <a:gd name="adj1" fmla="val 50000"/>
              <a:gd name="adj2" fmla="val 53787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66333" name="AutoShape 61"/>
          <p:cNvSpPr/>
          <p:nvPr/>
        </p:nvSpPr>
        <p:spPr>
          <a:xfrm rot="5400000">
            <a:off x="5700713" y="5446713"/>
            <a:ext cx="539750" cy="250825"/>
          </a:xfrm>
          <a:prstGeom prst="rightArrow">
            <a:avLst>
              <a:gd name="adj1" fmla="val 50000"/>
              <a:gd name="adj2" fmla="val 53787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6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6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6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6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6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0"/>
                                        <p:tgtEl>
                                          <p:spTgt spid="56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6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56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56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56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56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56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303" grpId="0"/>
      <p:bldP spid="566313" grpId="0"/>
      <p:bldP spid="566314" grpId="0"/>
      <p:bldP spid="566315" grpId="0"/>
      <p:bldP spid="566317" grpId="0"/>
      <p:bldP spid="566331" grpId="0" animBg="1"/>
      <p:bldP spid="566332" grpId="0" animBg="1"/>
      <p:bldP spid="5663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661514" name="Object 10"/>
          <p:cNvGraphicFramePr>
            <a:graphicFrameLocks noChangeAspect="1"/>
          </p:cNvGraphicFramePr>
          <p:nvPr/>
        </p:nvGraphicFramePr>
        <p:xfrm>
          <a:off x="1692275" y="412750"/>
          <a:ext cx="23749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93115" imgH="247650" progId="Equation.3">
                  <p:embed/>
                </p:oleObj>
              </mc:Choice>
              <mc:Fallback>
                <p:oleObj r:id="rId3" imgW="793115" imgH="24765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412750"/>
                        <a:ext cx="2374900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38" name="Text Box 34"/>
          <p:cNvSpPr txBox="1"/>
          <p:nvPr/>
        </p:nvSpPr>
        <p:spPr>
          <a:xfrm>
            <a:off x="107950" y="620713"/>
            <a:ext cx="8640763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同理可得</a:t>
            </a:r>
          </a:p>
        </p:txBody>
      </p:sp>
      <p:sp>
        <p:nvSpPr>
          <p:cNvPr id="661553" name="Rectangle 49"/>
          <p:cNvSpPr/>
          <p:nvPr/>
        </p:nvSpPr>
        <p:spPr>
          <a:xfrm>
            <a:off x="179388" y="1196975"/>
            <a:ext cx="8785225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在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无源空间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中，充满线性、各向同性的均匀</a:t>
            </a:r>
            <a:r>
              <a:rPr lang="zh-CN" altLang="en-US" dirty="0">
                <a:solidFill>
                  <a:srgbClr val="FF6600"/>
                </a:solidFill>
                <a:latin typeface="Arial" panose="020B0604020202020204" pitchFamily="34" charset="0"/>
                <a:ea typeface="楷体_GB2312" pitchFamily="49" charset="-122"/>
              </a:rPr>
              <a:t>理想介质（无耗）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u="sng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三维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波动方程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为：</a:t>
            </a:r>
          </a:p>
        </p:txBody>
      </p:sp>
      <p:graphicFrame>
        <p:nvGraphicFramePr>
          <p:cNvPr id="661554" name="Object 50"/>
          <p:cNvGraphicFramePr>
            <a:graphicFrameLocks noChangeAspect="1"/>
          </p:cNvGraphicFramePr>
          <p:nvPr/>
        </p:nvGraphicFramePr>
        <p:xfrm>
          <a:off x="4930775" y="2349500"/>
          <a:ext cx="24844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37565" imgH="247650" progId="Equation.DSMT4">
                  <p:embed/>
                </p:oleObj>
              </mc:Choice>
              <mc:Fallback>
                <p:oleObj r:id="rId5" imgW="837565" imgH="24765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/>
                          </a:clrTo>
                        </a:clrChange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0775" y="2349500"/>
                        <a:ext cx="2484438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55" name="Object 51"/>
          <p:cNvGraphicFramePr>
            <a:graphicFrameLocks noChangeAspect="1"/>
          </p:cNvGraphicFramePr>
          <p:nvPr/>
        </p:nvGraphicFramePr>
        <p:xfrm>
          <a:off x="1030288" y="2276475"/>
          <a:ext cx="2641600" cy="177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97890" imgH="584200" progId="Equation.3">
                  <p:embed/>
                </p:oleObj>
              </mc:Choice>
              <mc:Fallback>
                <p:oleObj r:id="rId7" imgW="897890" imgH="584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0288" y="2276475"/>
                        <a:ext cx="2641600" cy="177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1556" name="Group 52"/>
          <p:cNvGrpSpPr/>
          <p:nvPr/>
        </p:nvGrpSpPr>
        <p:grpSpPr>
          <a:xfrm>
            <a:off x="2987675" y="3429000"/>
            <a:ext cx="2663825" cy="1236663"/>
            <a:chOff x="2064" y="3521"/>
            <a:chExt cx="1542" cy="938"/>
          </a:xfrm>
        </p:grpSpPr>
        <p:sp>
          <p:nvSpPr>
            <p:cNvPr id="9233" name="Rectangle 53"/>
            <p:cNvSpPr/>
            <p:nvPr/>
          </p:nvSpPr>
          <p:spPr>
            <a:xfrm>
              <a:off x="2064" y="3763"/>
              <a:ext cx="1542" cy="696"/>
            </a:xfrm>
            <a:prstGeom prst="rect">
              <a:avLst/>
            </a:prstGeom>
            <a:noFill/>
            <a:ln w="222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L="342900" indent="-342900" algn="ctr" eaLnBrk="1" hangingPunct="1"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电磁波动方程</a:t>
              </a:r>
            </a:p>
            <a:p>
              <a:pPr marL="342900" indent="-342900" algn="ctr" eaLnBrk="1" hangingPunct="1"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（时域）</a:t>
              </a:r>
            </a:p>
          </p:txBody>
        </p:sp>
        <p:sp>
          <p:nvSpPr>
            <p:cNvPr id="9234" name="Line 54"/>
            <p:cNvSpPr/>
            <p:nvPr/>
          </p:nvSpPr>
          <p:spPr>
            <a:xfrm flipV="1">
              <a:off x="2971" y="3521"/>
              <a:ext cx="227" cy="22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9235" name="Line 55"/>
            <p:cNvSpPr/>
            <p:nvPr/>
          </p:nvSpPr>
          <p:spPr>
            <a:xfrm flipH="1" flipV="1">
              <a:off x="2336" y="3521"/>
              <a:ext cx="226" cy="22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graphicFrame>
        <p:nvGraphicFramePr>
          <p:cNvPr id="661560" name="Object 56"/>
          <p:cNvGraphicFramePr>
            <a:graphicFrameLocks noChangeAspect="1"/>
          </p:cNvGraphicFramePr>
          <p:nvPr/>
        </p:nvGraphicFramePr>
        <p:xfrm>
          <a:off x="5940425" y="3284538"/>
          <a:ext cx="10795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96900" imgH="457200" progId="Equation.DSMT4">
                  <p:embed/>
                </p:oleObj>
              </mc:Choice>
              <mc:Fallback>
                <p:oleObj r:id="rId9" imgW="596900" imgH="457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40425" y="3284538"/>
                        <a:ext cx="1079500" cy="827087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28575" cap="flat" cmpd="sng">
                        <a:solidFill>
                          <a:srgbClr val="D60093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62" name="Object 58"/>
          <p:cNvGraphicFramePr>
            <a:graphicFrameLocks noChangeAspect="1"/>
          </p:cNvGraphicFramePr>
          <p:nvPr/>
        </p:nvGraphicFramePr>
        <p:xfrm>
          <a:off x="1403350" y="4646613"/>
          <a:ext cx="19097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28015" imgH="93345" progId="Equation.3">
                  <p:embed/>
                </p:oleObj>
              </mc:Choice>
              <mc:Fallback>
                <p:oleObj r:id="rId11" imgW="628015" imgH="9334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646613"/>
                        <a:ext cx="1909763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1563" name="Group 59"/>
          <p:cNvGrpSpPr/>
          <p:nvPr/>
        </p:nvGrpSpPr>
        <p:grpSpPr>
          <a:xfrm>
            <a:off x="2339975" y="5157788"/>
            <a:ext cx="3816350" cy="1228725"/>
            <a:chOff x="2064" y="3521"/>
            <a:chExt cx="1542" cy="774"/>
          </a:xfrm>
        </p:grpSpPr>
        <p:sp>
          <p:nvSpPr>
            <p:cNvPr id="9230" name="Rectangle 60"/>
            <p:cNvSpPr/>
            <p:nvPr/>
          </p:nvSpPr>
          <p:spPr>
            <a:xfrm>
              <a:off x="2064" y="3763"/>
              <a:ext cx="1542" cy="532"/>
            </a:xfrm>
            <a:prstGeom prst="rect">
              <a:avLst/>
            </a:prstGeom>
            <a:noFill/>
            <a:ln w="22225" cap="flat" cmpd="sng">
              <a:solidFill>
                <a:srgbClr val="FF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marL="342900" indent="-342900" algn="ctr" eaLnBrk="1" hangingPunct="1"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电磁波动方程（频域）：亥姆霍兹方程</a:t>
              </a:r>
            </a:p>
          </p:txBody>
        </p:sp>
        <p:sp>
          <p:nvSpPr>
            <p:cNvPr id="9231" name="Line 61"/>
            <p:cNvSpPr/>
            <p:nvPr/>
          </p:nvSpPr>
          <p:spPr>
            <a:xfrm flipV="1">
              <a:off x="2971" y="3521"/>
              <a:ext cx="227" cy="22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9232" name="Line 62"/>
            <p:cNvSpPr/>
            <p:nvPr/>
          </p:nvSpPr>
          <p:spPr>
            <a:xfrm flipH="1" flipV="1">
              <a:off x="2336" y="3521"/>
              <a:ext cx="226" cy="227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graphicFrame>
        <p:nvGraphicFramePr>
          <p:cNvPr id="661567" name="Object 63"/>
          <p:cNvGraphicFramePr>
            <a:graphicFrameLocks noChangeAspect="1"/>
          </p:cNvGraphicFramePr>
          <p:nvPr/>
        </p:nvGraphicFramePr>
        <p:xfrm>
          <a:off x="4938713" y="4652963"/>
          <a:ext cx="20399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77545" imgH="93345" progId="Equation.3">
                  <p:embed/>
                </p:oleObj>
              </mc:Choice>
              <mc:Fallback>
                <p:oleObj r:id="rId13" imgW="677545" imgH="9334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8713" y="4652963"/>
                        <a:ext cx="2039937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68" name="Object 64"/>
          <p:cNvGraphicFramePr>
            <a:graphicFrameLocks noChangeAspect="1"/>
          </p:cNvGraphicFramePr>
          <p:nvPr/>
        </p:nvGraphicFramePr>
        <p:xfrm>
          <a:off x="6300788" y="5373688"/>
          <a:ext cx="14128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446405" imgH="127000" progId="Equation.3">
                  <p:embed/>
                </p:oleObj>
              </mc:Choice>
              <mc:Fallback>
                <p:oleObj r:id="rId15" imgW="446405" imgH="1270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00788" y="5373688"/>
                        <a:ext cx="1412875" cy="52387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33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6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6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6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6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6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6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66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66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66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38" grpId="0"/>
      <p:bldP spid="6615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5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837636" name="Rectangle 4"/>
          <p:cNvSpPr/>
          <p:nvPr/>
        </p:nvSpPr>
        <p:spPr>
          <a:xfrm>
            <a:off x="179388" y="908050"/>
            <a:ext cx="8785225" cy="573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无耗媒质中，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有源空间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的波动方程为</a:t>
            </a:r>
            <a:endParaRPr lang="zh-CN" altLang="en-US" dirty="0">
              <a:solidFill>
                <a:schemeClr val="bg1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graphicFrame>
        <p:nvGraphicFramePr>
          <p:cNvPr id="837638" name="Object 6"/>
          <p:cNvGraphicFramePr>
            <a:graphicFrameLocks noChangeAspect="1"/>
          </p:cNvGraphicFramePr>
          <p:nvPr/>
        </p:nvGraphicFramePr>
        <p:xfrm>
          <a:off x="900113" y="1700213"/>
          <a:ext cx="3976687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82395" imgH="561975" progId="Equation.3">
                  <p:embed/>
                </p:oleObj>
              </mc:Choice>
              <mc:Fallback>
                <p:oleObj r:id="rId3" imgW="1382395" imgH="56197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1700213"/>
                        <a:ext cx="3976687" cy="172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3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3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6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1a7196-b802-4a92-9d60-9ddf0d86c09c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204</Words>
  <Application>Microsoft Office PowerPoint</Application>
  <PresentationFormat>全屏显示(4:3)</PresentationFormat>
  <Paragraphs>43</Paragraphs>
  <Slides>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楷体_GB2312</vt:lpstr>
      <vt:lpstr>宋体</vt:lpstr>
      <vt:lpstr>幼圆</vt:lpstr>
      <vt:lpstr>Arial</vt:lpstr>
      <vt:lpstr>Times New Roman</vt:lpstr>
      <vt:lpstr>1_默认设计模板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823</cp:revision>
  <dcterms:created xsi:type="dcterms:W3CDTF">2004-02-10T07:06:00Z</dcterms:created>
  <dcterms:modified xsi:type="dcterms:W3CDTF">2025-08-11T05:37:50Z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710A780561C24E3CBBBD99ACB8507E6D</vt:lpwstr>
  </property>
  <property fmtid="{D5CDD505-2E9C-101B-9397-08002B2CF9AE}" pid="3" name="KSOProductBuildVer">
    <vt:lpwstr>2052-11.1.0.13703</vt:lpwstr>
  </property>
</Properties>
</file>