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518" r:id="rId2"/>
    <p:sldId id="638" r:id="rId3"/>
    <p:sldId id="599" r:id="rId4"/>
    <p:sldId id="609" r:id="rId5"/>
    <p:sldId id="520" r:id="rId6"/>
    <p:sldId id="628" r:id="rId7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00FF"/>
    <a:srgbClr val="FF5757"/>
    <a:srgbClr val="66FF66"/>
    <a:srgbClr val="B1FFB1"/>
    <a:srgbClr val="4BD0FF"/>
    <a:srgbClr val="FF7C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4" autoAdjust="0"/>
    <p:restoredTop sz="94843" autoAdjust="0"/>
  </p:normalViewPr>
  <p:slideViewPr>
    <p:cSldViewPr>
      <p:cViewPr varScale="1">
        <p:scale>
          <a:sx n="80" d="100"/>
          <a:sy n="80" d="100"/>
        </p:scale>
        <p:origin x="768" y="60"/>
      </p:cViewPr>
      <p:guideLst>
        <p:guide orient="horz" pos="2159"/>
        <p:guide pos="2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34E7D2F8-53A5-DBDB-BB65-DB6174CF9A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3315052E-701C-D693-457F-25F752157A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A6CB71-005D-4B18-A306-6E603DF673B0}" type="datetime1">
              <a:rPr lang="zh-CN" altLang="en-US"/>
              <a:pPr>
                <a:defRPr/>
              </a:pPr>
              <a:t>2025/11/9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10ED10EF-D7C5-F9B6-E0A7-8CF56DDC13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FD0E4026-A420-8D2B-A5F9-41DEE0D2DD6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06BC7B1-9309-4674-A5F2-63C1C758AD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4F7B6B99-A5F6-F5B1-A43C-C924507591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3A00C93-181F-AC7D-1EDB-0A5B78205C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6305FE-F32D-4E82-9988-A92EDDA623DA}" type="datetime1">
              <a:rPr lang="zh-CN" altLang="en-US"/>
              <a:pPr>
                <a:defRPr/>
              </a:pPr>
              <a:t>2025/11/9</a:t>
            </a:fld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850D5B-F9B9-661F-CAFC-80659F33FB4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5455B744-EF74-7390-70D3-8FBDF9A28C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55C15A9C-3714-FFA9-CFE3-56691FE06F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A1E6A4CE-265D-1358-7777-FCBB9A5DC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21CBC6CA-D69F-4DF3-88EB-E706356EB8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94ED3A5A-BC30-4832-A3A4-F6C3BB6858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D703DFAF-83C5-F050-FC9F-E2EA8687D0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9547966-06AE-4479-B886-27DE0A0F6D93}" type="datetime1">
              <a:rPr lang="zh-CN" altLang="en-US" smtClean="0"/>
              <a:pPr/>
              <a:t>2025/11/9</a:t>
            </a:fld>
            <a:endParaRPr lang="zh-CN" altLang="en-US"/>
          </a:p>
        </p:txBody>
      </p:sp>
      <p:sp>
        <p:nvSpPr>
          <p:cNvPr id="67587" name="Rectangle 6">
            <a:extLst>
              <a:ext uri="{FF2B5EF4-FFF2-40B4-BE49-F238E27FC236}">
                <a16:creationId xmlns:a16="http://schemas.microsoft.com/office/drawing/2014/main" id="{313CC60E-C77F-0B3D-A0A2-45FC87EBC5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67588" name="Rectangle 7">
            <a:extLst>
              <a:ext uri="{FF2B5EF4-FFF2-40B4-BE49-F238E27FC236}">
                <a16:creationId xmlns:a16="http://schemas.microsoft.com/office/drawing/2014/main" id="{8EAC84E7-83E0-1D54-C1E0-72B59AC4D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810C4ED-CBEF-4232-A37E-73E86492F784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67589" name="Rectangle 2">
            <a:extLst>
              <a:ext uri="{FF2B5EF4-FFF2-40B4-BE49-F238E27FC236}">
                <a16:creationId xmlns:a16="http://schemas.microsoft.com/office/drawing/2014/main" id="{A3382BE3-4C1E-D40A-362D-FCF94EF8074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90" name="Rectangle 3">
            <a:extLst>
              <a:ext uri="{FF2B5EF4-FFF2-40B4-BE49-F238E27FC236}">
                <a16:creationId xmlns:a16="http://schemas.microsoft.com/office/drawing/2014/main" id="{9E3E9569-34BA-FF70-2E83-5FE18A8C54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4CB75E3D-FF97-D830-DE9B-3FE682D2D3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A99EACE2-4451-87AB-7C62-E1D18EED71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74725D87-1CE8-4A8B-B435-E8E4C678709B}" type="datetime1">
              <a:rPr lang="zh-CN" altLang="en-US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2025/11/9</a:t>
            </a:fld>
            <a:endParaRPr lang="zh-CN" altLang="en-US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Rectangle 6">
            <a:extLst>
              <a:ext uri="{FF2B5EF4-FFF2-40B4-BE49-F238E27FC236}">
                <a16:creationId xmlns:a16="http://schemas.microsoft.com/office/drawing/2014/main" id="{BD3954AA-6EFF-8E24-2C29-3F5346CE4B2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69636" name="Rectangle 7">
            <a:extLst>
              <a:ext uri="{FF2B5EF4-FFF2-40B4-BE49-F238E27FC236}">
                <a16:creationId xmlns:a16="http://schemas.microsoft.com/office/drawing/2014/main" id="{F12726E0-44D7-3B31-2559-9F8F3F6474A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B4B20E3C-47BF-4765-866B-4D67345A3FDB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</a:t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7" name="Rectangle 2">
            <a:extLst>
              <a:ext uri="{FF2B5EF4-FFF2-40B4-BE49-F238E27FC236}">
                <a16:creationId xmlns:a16="http://schemas.microsoft.com/office/drawing/2014/main" id="{52983A5E-92D1-4BF1-7156-4CC5656B8AC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C8AAB9E1-55AB-BFD4-FD16-FE7949B02D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516F2F86-388C-E177-F770-E13ED160A0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AF45E939-5ECE-5B1E-2446-1C2732D5BEE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8F9810E-8D8E-4886-AE26-F749759702A0}" type="datetime1">
              <a:rPr lang="zh-CN" altLang="en-US" smtClean="0"/>
              <a:pPr/>
              <a:t>2025/11/9</a:t>
            </a:fld>
            <a:endParaRPr lang="zh-CN" altLang="en-US"/>
          </a:p>
        </p:txBody>
      </p:sp>
      <p:sp>
        <p:nvSpPr>
          <p:cNvPr id="71683" name="Rectangle 6">
            <a:extLst>
              <a:ext uri="{FF2B5EF4-FFF2-40B4-BE49-F238E27FC236}">
                <a16:creationId xmlns:a16="http://schemas.microsoft.com/office/drawing/2014/main" id="{29BE8FCE-D786-972E-3E48-7EBEB59A1C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1684" name="Rectangle 7">
            <a:extLst>
              <a:ext uri="{FF2B5EF4-FFF2-40B4-BE49-F238E27FC236}">
                <a16:creationId xmlns:a16="http://schemas.microsoft.com/office/drawing/2014/main" id="{39E45726-BD6F-0015-D72B-9C747A0D7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807ABB0-9D44-40C9-8DFD-E3B52477522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BC207FAE-296B-08AD-0113-258C18083AF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13479590-1DF6-B866-D9C9-3F91D2215D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5CDE4783-9116-BE3B-30CD-119A5D580F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D36DC9F4-E93E-EF0B-5F43-C688297FE9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B6572098-6BD9-4DB7-A0FC-A85069CBC4E4}" type="datetime1">
              <a:rPr lang="zh-CN" altLang="en-US" smtClean="0"/>
              <a:pPr/>
              <a:t>2025/11/9</a:t>
            </a:fld>
            <a:endParaRPr lang="zh-CN" altLang="en-US"/>
          </a:p>
        </p:txBody>
      </p:sp>
      <p:sp>
        <p:nvSpPr>
          <p:cNvPr id="73731" name="Rectangle 6">
            <a:extLst>
              <a:ext uri="{FF2B5EF4-FFF2-40B4-BE49-F238E27FC236}">
                <a16:creationId xmlns:a16="http://schemas.microsoft.com/office/drawing/2014/main" id="{224560E0-AF2B-F8AC-347C-679460FE71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3732" name="Rectangle 7">
            <a:extLst>
              <a:ext uri="{FF2B5EF4-FFF2-40B4-BE49-F238E27FC236}">
                <a16:creationId xmlns:a16="http://schemas.microsoft.com/office/drawing/2014/main" id="{922D3D65-9460-FAC7-7B34-696427CD89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9BA92B3-1286-4B07-8C47-1B768F9E1F62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2D7C1354-59D8-FFEE-8586-4B706E1A2EF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80FCFAF7-B4D3-DF3C-F33B-7D1FF812D0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C4952C7F-A685-CEE7-5E02-ABD025BE82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F15B280B-5158-96E9-5F6E-E8367519AD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835BBF0B-CC41-489C-BC0C-603EB05E58E6}" type="datetime1">
              <a:rPr lang="zh-CN" altLang="en-US" smtClean="0"/>
              <a:pPr/>
              <a:t>2025/11/9</a:t>
            </a:fld>
            <a:endParaRPr lang="zh-CN" altLang="en-US"/>
          </a:p>
        </p:txBody>
      </p:sp>
      <p:sp>
        <p:nvSpPr>
          <p:cNvPr id="75779" name="Rectangle 6">
            <a:extLst>
              <a:ext uri="{FF2B5EF4-FFF2-40B4-BE49-F238E27FC236}">
                <a16:creationId xmlns:a16="http://schemas.microsoft.com/office/drawing/2014/main" id="{613CD693-6496-444E-0E58-C2A94BCB3A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5780" name="Rectangle 7">
            <a:extLst>
              <a:ext uri="{FF2B5EF4-FFF2-40B4-BE49-F238E27FC236}">
                <a16:creationId xmlns:a16="http://schemas.microsoft.com/office/drawing/2014/main" id="{FE82AD0C-4440-8792-C850-30300C900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C2B5285-289C-44E2-BF66-F8BA43DABB3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75781" name="Rectangle 2">
            <a:extLst>
              <a:ext uri="{FF2B5EF4-FFF2-40B4-BE49-F238E27FC236}">
                <a16:creationId xmlns:a16="http://schemas.microsoft.com/office/drawing/2014/main" id="{8B58758B-F681-0A15-DA05-F2A84532896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2E392D79-37BA-0F34-08F7-724DDAC06E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u="sn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831FEFA8-E5C7-8703-71F8-6E7F80243E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A4C520CF-07B1-52E6-1104-5F1B3CB1FA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1A80F2C0-1F0F-4432-AADC-747392F76412}" type="datetime1">
              <a:rPr lang="zh-CN" altLang="en-US" smtClean="0"/>
              <a:pPr/>
              <a:t>2025/11/9</a:t>
            </a:fld>
            <a:endParaRPr lang="zh-CN" altLang="en-US"/>
          </a:p>
        </p:txBody>
      </p:sp>
      <p:sp>
        <p:nvSpPr>
          <p:cNvPr id="77827" name="Rectangle 6">
            <a:extLst>
              <a:ext uri="{FF2B5EF4-FFF2-40B4-BE49-F238E27FC236}">
                <a16:creationId xmlns:a16="http://schemas.microsoft.com/office/drawing/2014/main" id="{F7A05279-66CA-3562-47AF-A49BAB0C92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77828" name="Rectangle 7">
            <a:extLst>
              <a:ext uri="{FF2B5EF4-FFF2-40B4-BE49-F238E27FC236}">
                <a16:creationId xmlns:a16="http://schemas.microsoft.com/office/drawing/2014/main" id="{216B5170-22F5-83EB-65A2-0EEC5392A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67E6B12-111C-455B-864E-3D1A2D910A4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77829" name="Rectangle 2">
            <a:extLst>
              <a:ext uri="{FF2B5EF4-FFF2-40B4-BE49-F238E27FC236}">
                <a16:creationId xmlns:a16="http://schemas.microsoft.com/office/drawing/2014/main" id="{C4505856-3AA9-42BE-97F8-2CCEC1E0F0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30" name="Rectangle 3">
            <a:extLst>
              <a:ext uri="{FF2B5EF4-FFF2-40B4-BE49-F238E27FC236}">
                <a16:creationId xmlns:a16="http://schemas.microsoft.com/office/drawing/2014/main" id="{33053217-9740-F985-D969-78C5783C95E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B223367-393D-DA4C-C929-8E05908552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AC941-1B44-4BB8-8AD8-34456B5692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41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21D571B-800E-C6DC-ACFB-C34A65D619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406283-4038-4A99-AB66-D5065B453B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09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718DC2D-3A01-F4D3-CDC6-E86688BE7F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B161B-79FA-46CD-AA87-276FE9B6A6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06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23716DD-EEB6-AE2B-372D-4785B64068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749B85-EC45-4074-BF84-58EC771998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33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CEE2F04-6E16-F89F-C5EF-7402C81D3B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F7CF0-26BD-40FC-87DB-5FF0753B54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03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0F1891E-F48A-E99F-FDFC-747D8D932B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65CBD-ED97-41E2-8A52-61D9BFC92E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88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0ED38B3-094B-6612-747F-2C6BD65AFE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437E3-F5C5-4BBD-A1E6-1C8AC3F8F1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02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D1BD53C-EF7A-E347-885B-F0CCF4E0C3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6238DB-C79A-4C75-B8B4-881757FF67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579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295D60D-AEAC-394E-EE14-51B510F0EF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DC006-06A1-43D0-9A08-022D255AD4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44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0807715-7DD9-9AEE-5545-72B946871C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98B06-5827-499B-8288-A0E7CAD570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02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09E93D8-0B4D-147C-8931-602623C82A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A1462-0EAD-48BB-80E2-E21D0A35EC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937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F1826DF-F88D-5FD9-57AA-E9CE9492D7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CE0DA-8D38-4426-A59D-4B00AC2D7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45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5" name="Rectangle 5">
            <a:extLst>
              <a:ext uri="{FF2B5EF4-FFF2-40B4-BE49-F238E27FC236}">
                <a16:creationId xmlns:a16="http://schemas.microsoft.com/office/drawing/2014/main" id="{7BE41CE0-01A0-E2C4-D4DF-FD22BB718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60000"/>
              </a:lnSpc>
              <a:defRPr/>
            </a:pP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均匀平面波在无界媒质中的传播</a:t>
            </a:r>
            <a:endParaRPr lang="zh-CN" altLang="en-US" b="0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D5D8097E-1100-E475-0779-2D2B674A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2438C84-A5E3-1DE3-06BA-E752D99E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640011" name="Rectangle 11">
            <a:extLst>
              <a:ext uri="{FF2B5EF4-FFF2-40B4-BE49-F238E27FC236}">
                <a16:creationId xmlns:a16="http://schemas.microsoft.com/office/drawing/2014/main" id="{2393A864-1924-A659-045F-65D26B13AF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DF6D973-1814-4336-B946-79208BB6E9A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0" name="Rectangle 12">
            <a:extLst>
              <a:ext uri="{FF2B5EF4-FFF2-40B4-BE49-F238E27FC236}">
                <a16:creationId xmlns:a16="http://schemas.microsoft.com/office/drawing/2014/main" id="{5EE93EBC-F265-6973-2FB9-48E10ACA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17" descr="栎木">
            <a:extLst>
              <a:ext uri="{FF2B5EF4-FFF2-40B4-BE49-F238E27FC236}">
                <a16:creationId xmlns:a16="http://schemas.microsoft.com/office/drawing/2014/main" id="{CE5AB6D9-6C3C-6F1A-2A83-22376C66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19" descr="深色横线">
            <a:extLst>
              <a:ext uri="{FF2B5EF4-FFF2-40B4-BE49-F238E27FC236}">
                <a16:creationId xmlns:a16="http://schemas.microsoft.com/office/drawing/2014/main" id="{E5D13D1F-4883-D4FD-C841-0ABD18AEB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AutoShap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5E263E-16F8-6F04-760D-FB7701CD9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4" name="AutoShape 2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28F55BD-73EC-74FC-2A04-8704398FE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5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E4A3414-7A0D-804A-1FEA-7E3E54ED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6" name="AutoShape 2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2F93482-C51C-5418-CCC3-7F79172D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5.emf"/><Relationship Id="rId3" Type="http://schemas.openxmlformats.org/officeDocument/2006/relationships/image" Target="../media/image6.png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F4AA0950-FC14-3DA5-D838-75E49F555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A6A44-8B33-4685-8F39-B8AEE581BCE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535557" name="Rectangle 5">
            <a:extLst>
              <a:ext uri="{FF2B5EF4-FFF2-40B4-BE49-F238E27FC236}">
                <a16:creationId xmlns:a16="http://schemas.microsoft.com/office/drawing/2014/main" id="{0158F797-9B5C-F5E9-D754-7C25A5CCD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404813"/>
            <a:ext cx="8229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5.3 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色散与群速</a:t>
            </a:r>
            <a:r>
              <a:rPr lang="zh-CN" altLang="en-US" sz="1600">
                <a:solidFill>
                  <a:schemeClr val="bg1"/>
                </a:solidFill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33E0C-1EF3-55B4-5597-D3CA094E7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692150"/>
            <a:ext cx="9037637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A886E0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zh-CN" altLang="en-US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</a:rPr>
              <a:t>色散效应</a:t>
            </a:r>
          </a:p>
          <a:p>
            <a:pPr>
              <a:defRPr/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当</a:t>
            </a:r>
            <a:r>
              <a:rPr lang="zh-CN" altLang="en-US" i="1">
                <a:solidFill>
                  <a:schemeClr val="bg1"/>
                </a:solidFill>
                <a:sym typeface="Symbol" panose="05050102010706020507" pitchFamily="18" charset="2"/>
              </a:rPr>
              <a:t>介质参数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(</a:t>
            </a:r>
            <a:r>
              <a:rPr lang="zh-CN" altLang="en-US" i="1">
                <a:solidFill>
                  <a:schemeClr val="bg1"/>
                </a:solidFill>
                <a:sym typeface="Symbol" panose="05050102010706020507" pitchFamily="18" charset="2"/>
              </a:rPr>
              <a:t>、 和 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和</a:t>
            </a:r>
            <a:r>
              <a:rPr lang="zh-CN" altLang="en-US" i="1">
                <a:solidFill>
                  <a:schemeClr val="bg1"/>
                </a:solidFill>
                <a:sym typeface="Symbol" panose="05050102010706020507" pitchFamily="18" charset="2"/>
              </a:rPr>
              <a:t>传播常数（</a:t>
            </a:r>
            <a:r>
              <a:rPr lang="el-GR" altLang="zh-CN" i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γ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l-GR" altLang="zh-CN" i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+j</a:t>
            </a:r>
            <a:r>
              <a:rPr lang="el-GR" altLang="zh-CN" i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i="1">
                <a:solidFill>
                  <a:schemeClr val="bg1"/>
                </a:solidFill>
                <a:sym typeface="Symbol" panose="05050102010706020507" pitchFamily="18" charset="2"/>
              </a:rPr>
              <a:t>）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随频率变化时，不同频率电磁波的传输特性就会有所不同。</a:t>
            </a:r>
            <a:endParaRPr lang="en-US" altLang="zh-CN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736731-88A1-484D-1F6F-A7F55A23FB3E}"/>
              </a:ext>
            </a:extLst>
          </p:cNvPr>
          <p:cNvSpPr/>
          <p:nvPr/>
        </p:nvSpPr>
        <p:spPr>
          <a:xfrm>
            <a:off x="0" y="1916113"/>
            <a:ext cx="8675688" cy="19177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2">
              <a:lnSpc>
                <a:spcPct val="90000"/>
              </a:lnSpc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介质参数（、 和）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随频率变化时（电磁波在</a:t>
            </a:r>
            <a:r>
              <a:rPr lang="zh-CN" altLang="en-US" u="sng">
                <a:solidFill>
                  <a:srgbClr val="FF0000"/>
                </a:solidFill>
                <a:sym typeface="Symbol" panose="05050102010706020507" pitchFamily="18" charset="2"/>
              </a:rPr>
              <a:t>色散介质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中传播）</a:t>
            </a:r>
            <a:r>
              <a:rPr lang="zh-CN" altLang="en-US" b="0">
                <a:solidFill>
                  <a:schemeClr val="bg1"/>
                </a:solidFill>
                <a:latin typeface="宋体" panose="02010600030101010101" pitchFamily="2" charset="-122"/>
              </a:rPr>
              <a:t>→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会产生失真</a:t>
            </a:r>
            <a:r>
              <a:rPr lang="zh-CN" altLang="en-US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</a:rPr>
              <a:t>。</a:t>
            </a:r>
            <a:endParaRPr lang="en-US" altLang="zh-CN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aramond" panose="02020404030301010803" pitchFamily="18" charset="0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>
                <a:solidFill>
                  <a:schemeClr val="bg1"/>
                </a:solidFill>
              </a:rPr>
              <a:t>若</a:t>
            </a:r>
            <a:r>
              <a:rPr lang="zh-CN" altLang="en-US">
                <a:solidFill>
                  <a:srgbClr val="FF0000"/>
                </a:solidFill>
              </a:rPr>
              <a:t>相速度</a:t>
            </a:r>
            <a:r>
              <a:rPr lang="zh-CN" altLang="en-US">
                <a:solidFill>
                  <a:schemeClr val="bg1"/>
                </a:solidFill>
              </a:rPr>
              <a:t>随频率变化时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→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会造成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相位失真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。</a:t>
            </a:r>
            <a:endParaRPr lang="en-US" altLang="zh-CN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rgbClr val="A886E0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lang="zh-CN" altLang="en-US">
                <a:solidFill>
                  <a:schemeClr val="bg1"/>
                </a:solidFill>
              </a:rPr>
              <a:t>若</a:t>
            </a:r>
            <a:r>
              <a:rPr lang="zh-CN" altLang="en-US">
                <a:solidFill>
                  <a:srgbClr val="FF0000"/>
                </a:solidFill>
              </a:rPr>
              <a:t>衰减常数</a:t>
            </a:r>
            <a:r>
              <a:rPr lang="zh-CN" altLang="en-US">
                <a:solidFill>
                  <a:schemeClr val="bg1"/>
                </a:solidFill>
              </a:rPr>
              <a:t>随频率变化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→</a:t>
            </a:r>
            <a:r>
              <a:rPr lang="zh-CN" altLang="en-US">
                <a:solidFill>
                  <a:schemeClr val="bg1"/>
                </a:solidFill>
              </a:rPr>
              <a:t>会造成</a:t>
            </a:r>
            <a:r>
              <a:rPr lang="zh-CN" altLang="en-US">
                <a:solidFill>
                  <a:srgbClr val="FF0000"/>
                </a:solidFill>
              </a:rPr>
              <a:t>幅度失真</a:t>
            </a:r>
            <a:r>
              <a:rPr lang="zh-CN" altLang="en-US" i="1">
                <a:solidFill>
                  <a:schemeClr val="bg1"/>
                </a:solidFill>
              </a:rPr>
              <a:t>。</a:t>
            </a:r>
            <a:endParaRPr lang="zh-CN" altLang="en-US" b="0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 eaLnBrk="0" hangingPunct="0">
              <a:defRPr/>
            </a:pPr>
            <a:endParaRPr lang="zh-CN" altLang="en-US">
              <a:sym typeface="Symbol" panose="05050102010706020507" pitchFamily="18" charset="2"/>
            </a:endParaRPr>
          </a:p>
        </p:txBody>
      </p:sp>
      <p:pic>
        <p:nvPicPr>
          <p:cNvPr id="364549" name="Picture 5" descr="非色散波">
            <a:extLst>
              <a:ext uri="{FF2B5EF4-FFF2-40B4-BE49-F238E27FC236}">
                <a16:creationId xmlns:a16="http://schemas.microsoft.com/office/drawing/2014/main" id="{D23ABE26-4556-F1BD-1CBD-95DF8FBBD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238" y="4765675"/>
            <a:ext cx="5846762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4551" name="Picture 7" descr="色散波">
            <a:extLst>
              <a:ext uri="{FF2B5EF4-FFF2-40B4-BE49-F238E27FC236}">
                <a16:creationId xmlns:a16="http://schemas.microsoft.com/office/drawing/2014/main" id="{E70B3EE8-79B4-BA63-E2D0-D13784122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84563"/>
            <a:ext cx="5113338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4552" name="Text Box 8">
            <a:extLst>
              <a:ext uri="{FF2B5EF4-FFF2-40B4-BE49-F238E27FC236}">
                <a16:creationId xmlns:a16="http://schemas.microsoft.com/office/drawing/2014/main" id="{61143284-625D-3044-E28F-057DAEC3C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226" y="5145088"/>
            <a:ext cx="1403350" cy="457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无色散波</a:t>
            </a:r>
          </a:p>
        </p:txBody>
      </p:sp>
      <p:sp>
        <p:nvSpPr>
          <p:cNvPr id="364553" name="Text Box 9">
            <a:extLst>
              <a:ext uri="{FF2B5EF4-FFF2-40B4-BE49-F238E27FC236}">
                <a16:creationId xmlns:a16="http://schemas.microsoft.com/office/drawing/2014/main" id="{02889097-0DE9-FEF2-9A25-10B94BEBF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488" y="3673475"/>
            <a:ext cx="1098550" cy="457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色散波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3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7" grpId="0"/>
      <p:bldP spid="3" grpId="0"/>
      <p:bldP spid="364552" grpId="0" animBg="1"/>
      <p:bldP spid="36455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3">
            <a:extLst>
              <a:ext uri="{FF2B5EF4-FFF2-40B4-BE49-F238E27FC236}">
                <a16:creationId xmlns:a16="http://schemas.microsoft.com/office/drawing/2014/main" id="{5E550E14-19D6-6FD2-FADC-B2BA15E774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8CFADBB1-B732-4F1B-9847-B7602399EB44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F0329D15-DF5A-BE99-D593-4EBD83D84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102100"/>
            <a:ext cx="88201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8383"/>
                </a:solidFill>
                <a:ea typeface="宋体" panose="02010600030101010101" pitchFamily="2" charset="-122"/>
              </a:rPr>
              <a:t>群速</a:t>
            </a:r>
            <a:r>
              <a:rPr lang="zh-CN" altLang="en-US" sz="2000">
                <a:solidFill>
                  <a:srgbClr val="FF7C80"/>
                </a:solidFill>
                <a:ea typeface="幼圆" panose="02010509060101010101" pitchFamily="49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载有信息的电磁波通常是由一个高频载波和以载频为中心           向两侧扩展的频带所构成的波包。</a:t>
            </a:r>
          </a:p>
          <a:p>
            <a:pPr>
              <a:lnSpc>
                <a:spcPct val="130000"/>
              </a:lnSpc>
            </a:pPr>
            <a:endParaRPr lang="zh-CN" altLang="en-US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6600"/>
                </a:solidFill>
              </a:rPr>
              <a:t>波包包络传播的速度</a:t>
            </a:r>
            <a:r>
              <a:rPr lang="zh-CN" altLang="en-US">
                <a:solidFill>
                  <a:schemeClr val="bg1"/>
                </a:solidFill>
              </a:rPr>
              <a:t>就是群速。</a:t>
            </a:r>
          </a:p>
        </p:txBody>
      </p:sp>
      <p:sp>
        <p:nvSpPr>
          <p:cNvPr id="657413" name="Text Box 5">
            <a:extLst>
              <a:ext uri="{FF2B5EF4-FFF2-40B4-BE49-F238E27FC236}">
                <a16:creationId xmlns:a16="http://schemas.microsoft.com/office/drawing/2014/main" id="{6D693E24-C77D-34A1-19FA-3BDACBBCF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052513"/>
            <a:ext cx="8893175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  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稳态的单一频率的正弦行波不载有任何有用信息，只有由多 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   个频率的正弦波叠加而成的电磁波才能携带有用信息。</a:t>
            </a:r>
          </a:p>
          <a:p>
            <a:pPr algn="just">
              <a:lnSpc>
                <a:spcPct val="130000"/>
              </a:lnSpc>
            </a:pPr>
            <a:endParaRPr lang="zh-CN" altLang="en-US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 algn="just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信号之所以能传递是由于对电磁波调制的结果，调制波传播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   的速度才是信号传递的速度。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5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5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0"/>
                                        <p:tgtEl>
                                          <p:spTgt spid="5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6" grpId="0"/>
      <p:bldP spid="6574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510A984F-470E-0858-CB51-388F510C7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BF0F02-DFC5-4B4F-9E93-0A8BE636109A}" type="slidenum">
              <a:rPr lang="en-US" altLang="zh-CN"/>
              <a:pPr/>
              <a:t>3</a:t>
            </a:fld>
            <a:endParaRPr lang="en-US" altLang="zh-CN"/>
          </a:p>
        </p:txBody>
      </p:sp>
      <p:grpSp>
        <p:nvGrpSpPr>
          <p:cNvPr id="709634" name="Group 2">
            <a:extLst>
              <a:ext uri="{FF2B5EF4-FFF2-40B4-BE49-F238E27FC236}">
                <a16:creationId xmlns:a16="http://schemas.microsoft.com/office/drawing/2014/main" id="{D261A249-1E94-B4CF-AE13-EB69FF76FE6F}"/>
              </a:ext>
            </a:extLst>
          </p:cNvPr>
          <p:cNvGrpSpPr>
            <a:grpSpLocks/>
          </p:cNvGrpSpPr>
          <p:nvPr/>
        </p:nvGrpSpPr>
        <p:grpSpPr bwMode="auto">
          <a:xfrm>
            <a:off x="2266950" y="4797425"/>
            <a:ext cx="3600450" cy="985838"/>
            <a:chOff x="1728" y="3646"/>
            <a:chExt cx="1736" cy="386"/>
          </a:xfrm>
        </p:grpSpPr>
        <p:sp>
          <p:nvSpPr>
            <p:cNvPr id="70659" name="Rectangle 3">
              <a:extLst>
                <a:ext uri="{FF2B5EF4-FFF2-40B4-BE49-F238E27FC236}">
                  <a16:creationId xmlns:a16="http://schemas.microsoft.com/office/drawing/2014/main" id="{79DBBF05-B0BA-20C4-A0E4-F37AE2E75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" y="3646"/>
              <a:ext cx="1488" cy="240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70660" name="Line 4">
              <a:extLst>
                <a:ext uri="{FF2B5EF4-FFF2-40B4-BE49-F238E27FC236}">
                  <a16:creationId xmlns:a16="http://schemas.microsoft.com/office/drawing/2014/main" id="{510C5F4B-0A43-FB38-4063-ED6C4213B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888"/>
              <a:ext cx="0" cy="4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1" name="Line 5">
              <a:extLst>
                <a:ext uri="{FF2B5EF4-FFF2-40B4-BE49-F238E27FC236}">
                  <a16:creationId xmlns:a16="http://schemas.microsoft.com/office/drawing/2014/main" id="{9F32852F-1226-4C75-2305-B54774207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936"/>
              <a:ext cx="91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2" name="Line 6">
              <a:extLst>
                <a:ext uri="{FF2B5EF4-FFF2-40B4-BE49-F238E27FC236}">
                  <a16:creationId xmlns:a16="http://schemas.microsoft.com/office/drawing/2014/main" id="{C0C1D783-9486-4188-B696-E7674F608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936"/>
              <a:ext cx="0" cy="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9639" name="Text Box 7">
            <a:extLst>
              <a:ext uri="{FF2B5EF4-FFF2-40B4-BE49-F238E27FC236}">
                <a16:creationId xmlns:a16="http://schemas.microsoft.com/office/drawing/2014/main" id="{E42B2320-EC06-AAB7-451F-6CDEE551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1052513"/>
            <a:ext cx="86868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>
                <a:solidFill>
                  <a:schemeClr val="bg1"/>
                </a:solidFill>
              </a:rPr>
              <a:t>        </a:t>
            </a:r>
            <a:r>
              <a:rPr lang="zh-CN" altLang="en-US">
                <a:solidFill>
                  <a:schemeClr val="bg1"/>
                </a:solidFill>
              </a:rPr>
              <a:t>两个振幅均为</a:t>
            </a:r>
            <a:r>
              <a:rPr lang="en-US" altLang="zh-CN" i="1">
                <a:solidFill>
                  <a:schemeClr val="bg1"/>
                </a:solidFill>
              </a:rPr>
              <a:t>E</a:t>
            </a:r>
            <a:r>
              <a:rPr lang="en-US" altLang="zh-CN" baseline="-25000">
                <a:solidFill>
                  <a:schemeClr val="bg1"/>
                </a:solidFill>
              </a:rPr>
              <a:t>m</a:t>
            </a:r>
            <a:r>
              <a:rPr lang="zh-CN" altLang="en-US">
                <a:solidFill>
                  <a:schemeClr val="bg1"/>
                </a:solidFill>
              </a:rPr>
              <a:t>、角频率分别为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r>
              <a:rPr lang="en-US" altLang="zh-CN" b="0" baseline="-2500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r>
              <a:rPr lang="en-US" altLang="zh-CN" b="0" baseline="-25000">
                <a:solidFill>
                  <a:schemeClr val="bg1"/>
                </a:solidFill>
                <a:sym typeface="Symbol" panose="05050102010706020507" pitchFamily="18" charset="2"/>
              </a:rPr>
              <a:t>0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、相位常数分别为 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</a:t>
            </a:r>
            <a:r>
              <a:rPr lang="zh-CN" altLang="en-US" b="0" baseline="-2500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 baseline="-2500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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 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和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0" baseline="-2500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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的同向行波：</a:t>
            </a:r>
          </a:p>
        </p:txBody>
      </p:sp>
      <p:sp>
        <p:nvSpPr>
          <p:cNvPr id="709640" name="Text Box 8">
            <a:extLst>
              <a:ext uri="{FF2B5EF4-FFF2-40B4-BE49-F238E27FC236}">
                <a16:creationId xmlns:a16="http://schemas.microsoft.com/office/drawing/2014/main" id="{769B73AD-4A40-3509-3288-11C8E53E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5811838"/>
            <a:ext cx="4473575" cy="425450"/>
          </a:xfrm>
          <a:prstGeom prst="rect">
            <a:avLst/>
          </a:prstGeom>
          <a:solidFill>
            <a:srgbClr val="CCFFFF"/>
          </a:solidFill>
          <a:ln w="2857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振幅，包络波，以角频率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000" i="1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 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缓慢变化</a:t>
            </a:r>
            <a:endParaRPr lang="zh-CN" altLang="en-US" sz="2000">
              <a:solidFill>
                <a:srgbClr val="990000"/>
              </a:solidFill>
              <a:ea typeface="宋体" panose="02010600030101010101" pitchFamily="2" charset="-122"/>
            </a:endParaRPr>
          </a:p>
        </p:txBody>
      </p:sp>
      <p:sp>
        <p:nvSpPr>
          <p:cNvPr id="709641" name="Text Box 9">
            <a:extLst>
              <a:ext uri="{FF2B5EF4-FFF2-40B4-BE49-F238E27FC236}">
                <a16:creationId xmlns:a16="http://schemas.microsoft.com/office/drawing/2014/main" id="{8088843A-F56E-E3AD-0F06-B2755E98D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560388"/>
            <a:ext cx="8458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不同频率电磁波的叠加</a:t>
            </a:r>
          </a:p>
        </p:txBody>
      </p:sp>
      <p:sp>
        <p:nvSpPr>
          <p:cNvPr id="709642" name="AutoShape 10">
            <a:extLst>
              <a:ext uri="{FF2B5EF4-FFF2-40B4-BE49-F238E27FC236}">
                <a16:creationId xmlns:a16="http://schemas.microsoft.com/office/drawing/2014/main" id="{8EA8F877-D690-1F53-03DF-0827396E1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868863"/>
            <a:ext cx="2232025" cy="530225"/>
          </a:xfrm>
          <a:prstGeom prst="wedgeRectCallout">
            <a:avLst>
              <a:gd name="adj1" fmla="val 38051"/>
              <a:gd name="adj2" fmla="val -129639"/>
            </a:avLst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9643" name="Text Box 11">
            <a:extLst>
              <a:ext uri="{FF2B5EF4-FFF2-40B4-BE49-F238E27FC236}">
                <a16:creationId xmlns:a16="http://schemas.microsoft.com/office/drawing/2014/main" id="{DE0C1DC6-3296-0B3C-2DC0-254479FCD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646488"/>
            <a:ext cx="2232025" cy="790575"/>
          </a:xfrm>
          <a:prstGeom prst="rect">
            <a:avLst/>
          </a:prstGeom>
          <a:solidFill>
            <a:srgbClr val="CCFFFF"/>
          </a:solidFill>
          <a:ln w="28575">
            <a:solidFill>
              <a:srgbClr val="FF99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行波因子，代表沿</a:t>
            </a:r>
            <a:r>
              <a:rPr lang="en-US" altLang="zh-CN" b="0" i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 sz="2000" b="0" i="1">
                <a:solidFill>
                  <a:srgbClr val="99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轴传播的行波</a:t>
            </a:r>
          </a:p>
        </p:txBody>
      </p:sp>
      <p:graphicFrame>
        <p:nvGraphicFramePr>
          <p:cNvPr id="709662" name="Object 30">
            <a:extLst>
              <a:ext uri="{FF2B5EF4-FFF2-40B4-BE49-F238E27FC236}">
                <a16:creationId xmlns:a16="http://schemas.microsoft.com/office/drawing/2014/main" id="{D5DBD650-F085-D5EE-7617-ABDC90F44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6150" y="2205038"/>
          <a:ext cx="63468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69080" imgH="159480" progId="Equation.DSMT4">
                  <p:embed/>
                </p:oleObj>
              </mc:Choice>
              <mc:Fallback>
                <p:oleObj r:id="rId4" imgW="2269080" imgH="159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2205038"/>
                        <a:ext cx="63468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63" name="Object 31">
            <a:extLst>
              <a:ext uri="{FF2B5EF4-FFF2-40B4-BE49-F238E27FC236}">
                <a16:creationId xmlns:a16="http://schemas.microsoft.com/office/drawing/2014/main" id="{F6DAA599-E296-C149-F609-1195C6277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7425" y="4292600"/>
          <a:ext cx="71691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89680" imgH="357480" progId="Equation.DSMT4">
                  <p:embed/>
                </p:oleObj>
              </mc:Choice>
              <mc:Fallback>
                <p:oleObj r:id="rId6" imgW="2389680" imgH="3574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4292600"/>
                        <a:ext cx="71691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64" name="Object 32">
            <a:extLst>
              <a:ext uri="{FF2B5EF4-FFF2-40B4-BE49-F238E27FC236}">
                <a16:creationId xmlns:a16="http://schemas.microsoft.com/office/drawing/2014/main" id="{9035EDCD-2C5E-E3F4-D946-DE1251032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2975" y="2925763"/>
          <a:ext cx="61356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79880" imgH="159480" progId="Equation.DSMT4">
                  <p:embed/>
                </p:oleObj>
              </mc:Choice>
              <mc:Fallback>
                <p:oleObj r:id="rId8" imgW="2279880" imgH="159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925763"/>
                        <a:ext cx="6135688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9667" name="Text Box 35">
            <a:extLst>
              <a:ext uri="{FF2B5EF4-FFF2-40B4-BE49-F238E27FC236}">
                <a16:creationId xmlns:a16="http://schemas.microsoft.com/office/drawing/2014/main" id="{A0AC6D98-17C8-2EFF-A75C-F3B22B5A5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3644900"/>
            <a:ext cx="24098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合成波电场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0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0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70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0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70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0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7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9" grpId="0"/>
      <p:bldP spid="709640" grpId="0" animBg="1"/>
      <p:bldP spid="709641" grpId="0"/>
      <p:bldP spid="709642" grpId="0" animBg="1"/>
      <p:bldP spid="709643" grpId="0" animBg="1"/>
      <p:bldP spid="7096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953" name="Picture 33" descr="3">
            <a:extLst>
              <a:ext uri="{FF2B5EF4-FFF2-40B4-BE49-F238E27FC236}">
                <a16:creationId xmlns:a16="http://schemas.microsoft.com/office/drawing/2014/main" id="{662755F5-65E3-F425-DFF1-642D70BCB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886884"/>
            <a:ext cx="4248150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1975" name="Group 55">
            <a:extLst>
              <a:ext uri="{FF2B5EF4-FFF2-40B4-BE49-F238E27FC236}">
                <a16:creationId xmlns:a16="http://schemas.microsoft.com/office/drawing/2014/main" id="{609017A4-4FB9-53A6-1D04-271011C66ABA}"/>
              </a:ext>
            </a:extLst>
          </p:cNvPr>
          <p:cNvGrpSpPr>
            <a:grpSpLocks/>
          </p:cNvGrpSpPr>
          <p:nvPr/>
        </p:nvGrpSpPr>
        <p:grpSpPr bwMode="auto">
          <a:xfrm>
            <a:off x="706438" y="2348880"/>
            <a:ext cx="7777162" cy="2447925"/>
            <a:chOff x="385" y="890"/>
            <a:chExt cx="4899" cy="1542"/>
          </a:xfrm>
        </p:grpSpPr>
        <p:sp>
          <p:nvSpPr>
            <p:cNvPr id="72709" name="Rectangle 34">
              <a:extLst>
                <a:ext uri="{FF2B5EF4-FFF2-40B4-BE49-F238E27FC236}">
                  <a16:creationId xmlns:a16="http://schemas.microsoft.com/office/drawing/2014/main" id="{4307FB0A-D1DC-726D-CC1C-7C9C31B51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890"/>
              <a:ext cx="4899" cy="154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72710" name="Line 35">
              <a:extLst>
                <a:ext uri="{FF2B5EF4-FFF2-40B4-BE49-F238E27FC236}">
                  <a16:creationId xmlns:a16="http://schemas.microsoft.com/office/drawing/2014/main" id="{93C9EA7B-DF35-9EF8-8647-D5A8FBC2C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658"/>
              <a:ext cx="3019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711" name="Group 36">
              <a:extLst>
                <a:ext uri="{FF2B5EF4-FFF2-40B4-BE49-F238E27FC236}">
                  <a16:creationId xmlns:a16="http://schemas.microsoft.com/office/drawing/2014/main" id="{AD898B9D-A5C0-A53C-30F2-3529E78EE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1072"/>
              <a:ext cx="2777" cy="1174"/>
              <a:chOff x="932" y="2954"/>
              <a:chExt cx="2777" cy="1174"/>
            </a:xfrm>
          </p:grpSpPr>
          <p:sp>
            <p:nvSpPr>
              <p:cNvPr id="72712" name="Freeform 37">
                <a:extLst>
                  <a:ext uri="{FF2B5EF4-FFF2-40B4-BE49-F238E27FC236}">
                    <a16:creationId xmlns:a16="http://schemas.microsoft.com/office/drawing/2014/main" id="{3C807C84-BE28-E97A-36EB-D466531AD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2954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3" name="Freeform 38">
                <a:extLst>
                  <a:ext uri="{FF2B5EF4-FFF2-40B4-BE49-F238E27FC236}">
                    <a16:creationId xmlns:a16="http://schemas.microsoft.com/office/drawing/2014/main" id="{1EA5CA1E-CA5A-4F3A-A085-C3491C34D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035" y="3541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4" name="Freeform 39">
                <a:extLst>
                  <a:ext uri="{FF2B5EF4-FFF2-40B4-BE49-F238E27FC236}">
                    <a16:creationId xmlns:a16="http://schemas.microsoft.com/office/drawing/2014/main" id="{A902D30F-B3CC-A941-763D-20B89DDC8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2" y="2954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5" name="Freeform 40">
                <a:extLst>
                  <a:ext uri="{FF2B5EF4-FFF2-40B4-BE49-F238E27FC236}">
                    <a16:creationId xmlns:a16="http://schemas.microsoft.com/office/drawing/2014/main" id="{7366B1FA-B554-EC93-141B-A7F787A80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372" y="3541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6" name="Line 41">
                <a:extLst>
                  <a:ext uri="{FF2B5EF4-FFF2-40B4-BE49-F238E27FC236}">
                    <a16:creationId xmlns:a16="http://schemas.microsoft.com/office/drawing/2014/main" id="{43EA9E6E-F680-DC54-31FA-57012A58B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2" y="3541"/>
                <a:ext cx="103" cy="14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7" name="Line 42">
                <a:extLst>
                  <a:ext uri="{FF2B5EF4-FFF2-40B4-BE49-F238E27FC236}">
                    <a16:creationId xmlns:a16="http://schemas.microsoft.com/office/drawing/2014/main" id="{E1FF8D23-9606-21A1-68DB-1BB374D13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32" y="3345"/>
                <a:ext cx="103" cy="196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718" name="Group 43">
                <a:extLst>
                  <a:ext uri="{FF2B5EF4-FFF2-40B4-BE49-F238E27FC236}">
                    <a16:creationId xmlns:a16="http://schemas.microsoft.com/office/drawing/2014/main" id="{F4DE34D6-C853-7AF7-7E45-BD666E027D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" y="2954"/>
                <a:ext cx="2000" cy="1162"/>
                <a:chOff x="1326" y="960"/>
                <a:chExt cx="2802" cy="1140"/>
              </a:xfrm>
            </p:grpSpPr>
            <p:sp>
              <p:nvSpPr>
                <p:cNvPr id="72719" name="Freeform 44">
                  <a:extLst>
                    <a:ext uri="{FF2B5EF4-FFF2-40B4-BE49-F238E27FC236}">
                      <a16:creationId xmlns:a16="http://schemas.microsoft.com/office/drawing/2014/main" id="{B10FB640-10E9-4DC2-BEF6-447EAE869F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6" y="96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20" name="Freeform 45">
                  <a:extLst>
                    <a:ext uri="{FF2B5EF4-FFF2-40B4-BE49-F238E27FC236}">
                      <a16:creationId xmlns:a16="http://schemas.microsoft.com/office/drawing/2014/main" id="{732F5994-66CD-A9CB-71EE-ED69851CD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1326" y="98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21" name="Freeform 46">
                  <a:extLst>
                    <a:ext uri="{FF2B5EF4-FFF2-40B4-BE49-F238E27FC236}">
                      <a16:creationId xmlns:a16="http://schemas.microsoft.com/office/drawing/2014/main" id="{78951D22-D20D-25F8-DBD7-4177137599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216" y="97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722" name="Freeform 47">
                <a:extLst>
                  <a:ext uri="{FF2B5EF4-FFF2-40B4-BE49-F238E27FC236}">
                    <a16:creationId xmlns:a16="http://schemas.microsoft.com/office/drawing/2014/main" id="{A6C45C9C-F7C4-419B-228F-1662AC6B9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6" y="2954"/>
                <a:ext cx="651" cy="1142"/>
              </a:xfrm>
              <a:custGeom>
                <a:avLst/>
                <a:gdLst>
                  <a:gd name="T0" fmla="*/ 0 w 912"/>
                  <a:gd name="T1" fmla="*/ 0 h 1120"/>
                  <a:gd name="T2" fmla="*/ 144 w 912"/>
                  <a:gd name="T3" fmla="*/ 1104 h 1120"/>
                  <a:gd name="T4" fmla="*/ 288 w 912"/>
                  <a:gd name="T5" fmla="*/ 96 h 1120"/>
                  <a:gd name="T6" fmla="*/ 432 w 912"/>
                  <a:gd name="T7" fmla="*/ 1008 h 1120"/>
                  <a:gd name="T8" fmla="*/ 576 w 912"/>
                  <a:gd name="T9" fmla="*/ 288 h 1120"/>
                  <a:gd name="T10" fmla="*/ 672 w 912"/>
                  <a:gd name="T11" fmla="*/ 768 h 1120"/>
                  <a:gd name="T12" fmla="*/ 816 w 912"/>
                  <a:gd name="T13" fmla="*/ 480 h 1120"/>
                  <a:gd name="T14" fmla="*/ 912 w 912"/>
                  <a:gd name="T15" fmla="*/ 624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2" h="1120">
                    <a:moveTo>
                      <a:pt x="0" y="0"/>
                    </a:moveTo>
                    <a:cubicBezTo>
                      <a:pt x="48" y="544"/>
                      <a:pt x="96" y="1088"/>
                      <a:pt x="144" y="1104"/>
                    </a:cubicBezTo>
                    <a:cubicBezTo>
                      <a:pt x="192" y="1120"/>
                      <a:pt x="240" y="112"/>
                      <a:pt x="288" y="96"/>
                    </a:cubicBezTo>
                    <a:cubicBezTo>
                      <a:pt x="336" y="80"/>
                      <a:pt x="384" y="976"/>
                      <a:pt x="432" y="1008"/>
                    </a:cubicBezTo>
                    <a:cubicBezTo>
                      <a:pt x="480" y="1040"/>
                      <a:pt x="536" y="328"/>
                      <a:pt x="576" y="288"/>
                    </a:cubicBezTo>
                    <a:cubicBezTo>
                      <a:pt x="616" y="248"/>
                      <a:pt x="632" y="736"/>
                      <a:pt x="672" y="768"/>
                    </a:cubicBezTo>
                    <a:cubicBezTo>
                      <a:pt x="712" y="800"/>
                      <a:pt x="776" y="504"/>
                      <a:pt x="816" y="480"/>
                    </a:cubicBezTo>
                    <a:cubicBezTo>
                      <a:pt x="856" y="456"/>
                      <a:pt x="896" y="600"/>
                      <a:pt x="912" y="624"/>
                    </a:cubicBezTo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723" name="Text Box 50">
              <a:extLst>
                <a:ext uri="{FF2B5EF4-FFF2-40B4-BE49-F238E27FC236}">
                  <a16:creationId xmlns:a16="http://schemas.microsoft.com/office/drawing/2014/main" id="{A9825BEA-3896-1DE8-9F60-2B7D8EFF3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571"/>
              <a:ext cx="205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ea typeface="幼圆" panose="02010509060101010101" pitchFamily="49" charset="-122"/>
                </a:rPr>
                <a:t>z</a:t>
              </a:r>
            </a:p>
          </p:txBody>
        </p:sp>
      </p:grpSp>
      <p:grpSp>
        <p:nvGrpSpPr>
          <p:cNvPr id="721974" name="Group 54">
            <a:extLst>
              <a:ext uri="{FF2B5EF4-FFF2-40B4-BE49-F238E27FC236}">
                <a16:creationId xmlns:a16="http://schemas.microsoft.com/office/drawing/2014/main" id="{4E56B764-F0DD-529D-978A-75468AE63A37}"/>
              </a:ext>
            </a:extLst>
          </p:cNvPr>
          <p:cNvGrpSpPr>
            <a:grpSpLocks/>
          </p:cNvGrpSpPr>
          <p:nvPr/>
        </p:nvGrpSpPr>
        <p:grpSpPr bwMode="auto">
          <a:xfrm>
            <a:off x="4667250" y="3788743"/>
            <a:ext cx="3332163" cy="457200"/>
            <a:chOff x="2896" y="1843"/>
            <a:chExt cx="2099" cy="288"/>
          </a:xfrm>
        </p:grpSpPr>
        <p:sp>
          <p:nvSpPr>
            <p:cNvPr id="72725" name="Line 51">
              <a:extLst>
                <a:ext uri="{FF2B5EF4-FFF2-40B4-BE49-F238E27FC236}">
                  <a16:creationId xmlns:a16="http://schemas.microsoft.com/office/drawing/2014/main" id="{D5CE8CCE-61BC-78B0-7946-585367569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6" y="1979"/>
              <a:ext cx="755" cy="0"/>
            </a:xfrm>
            <a:prstGeom prst="line">
              <a:avLst/>
            </a:prstGeom>
            <a:noFill/>
            <a:ln w="5715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6" name="Text Box 52">
              <a:extLst>
                <a:ext uri="{FF2B5EF4-FFF2-40B4-BE49-F238E27FC236}">
                  <a16:creationId xmlns:a16="http://schemas.microsoft.com/office/drawing/2014/main" id="{10C43365-492D-0490-1CB2-CF51A9A24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843"/>
              <a:ext cx="1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>
                  <a:latin typeface="宋体" panose="02010600030101010101" pitchFamily="2" charset="-122"/>
                  <a:ea typeface="宋体" panose="02010600030101010101" pitchFamily="2" charset="-122"/>
                </a:rPr>
                <a:t>载波，速度</a:t>
              </a: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grpSp>
        <p:nvGrpSpPr>
          <p:cNvPr id="721976" name="Group 56">
            <a:extLst>
              <a:ext uri="{FF2B5EF4-FFF2-40B4-BE49-F238E27FC236}">
                <a16:creationId xmlns:a16="http://schemas.microsoft.com/office/drawing/2014/main" id="{6163E63A-3674-0F21-906A-2C4E0D9846FA}"/>
              </a:ext>
            </a:extLst>
          </p:cNvPr>
          <p:cNvGrpSpPr>
            <a:grpSpLocks/>
          </p:cNvGrpSpPr>
          <p:nvPr/>
        </p:nvGrpSpPr>
        <p:grpSpPr bwMode="auto">
          <a:xfrm>
            <a:off x="4902200" y="2636218"/>
            <a:ext cx="3509963" cy="457200"/>
            <a:chOff x="3107" y="1147"/>
            <a:chExt cx="2211" cy="288"/>
          </a:xfrm>
        </p:grpSpPr>
        <p:sp>
          <p:nvSpPr>
            <p:cNvPr id="72728" name="Line 57">
              <a:extLst>
                <a:ext uri="{FF2B5EF4-FFF2-40B4-BE49-F238E27FC236}">
                  <a16:creationId xmlns:a16="http://schemas.microsoft.com/office/drawing/2014/main" id="{F7F977A5-9514-6D97-0021-03D867D68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299"/>
              <a:ext cx="817" cy="0"/>
            </a:xfrm>
            <a:prstGeom prst="line">
              <a:avLst/>
            </a:prstGeom>
            <a:noFill/>
            <a:ln w="571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9" name="Text Box 58">
              <a:extLst>
                <a:ext uri="{FF2B5EF4-FFF2-40B4-BE49-F238E27FC236}">
                  <a16:creationId xmlns:a16="http://schemas.microsoft.com/office/drawing/2014/main" id="{C26A681F-40A1-AD50-9A98-A689685D0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147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包络波，速度</a:t>
              </a:r>
              <a:r>
                <a:rPr lang="en-US" altLang="zh-CN" i="1">
                  <a:solidFill>
                    <a:srgbClr val="99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solidFill>
                    <a:srgbClr val="990000"/>
                  </a:solidFill>
                  <a:ea typeface="宋体" panose="02010600030101010101" pitchFamily="2" charset="-122"/>
                </a:rPr>
                <a:t>g</a:t>
              </a:r>
              <a:endParaRPr lang="en-US" altLang="zh-CN">
                <a:solidFill>
                  <a:srgbClr val="99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1387D2DE-6DFE-1C2E-003D-6C5E98A1714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861719"/>
            <a:ext cx="3600450" cy="985838"/>
            <a:chOff x="1728" y="3646"/>
            <a:chExt cx="1736" cy="386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EA7DC102-B703-69F8-B2BE-73E055ED5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" y="3646"/>
              <a:ext cx="1488" cy="240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80121BCF-CE1A-3FF5-85A2-1FEE12957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888"/>
              <a:ext cx="0" cy="4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6EB20024-1A43-3CCF-E4F6-224B43B566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936"/>
              <a:ext cx="91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FBD01086-2514-7A4A-F112-699FEEA7B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936"/>
              <a:ext cx="0" cy="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" name="Text Box 8">
            <a:extLst>
              <a:ext uri="{FF2B5EF4-FFF2-40B4-BE49-F238E27FC236}">
                <a16:creationId xmlns:a16="http://schemas.microsoft.com/office/drawing/2014/main" id="{3C4714A4-0A52-B2C3-0497-34957F431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3" y="1876132"/>
            <a:ext cx="4473575" cy="425450"/>
          </a:xfrm>
          <a:prstGeom prst="rect">
            <a:avLst/>
          </a:prstGeom>
          <a:solidFill>
            <a:srgbClr val="CCFFFF"/>
          </a:solidFill>
          <a:ln w="2857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振幅，包络波，以角频率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000" i="1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 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缓慢变化</a:t>
            </a:r>
            <a:endParaRPr lang="zh-CN" altLang="en-US" sz="2000">
              <a:solidFill>
                <a:srgbClr val="99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35683AFB-039B-B120-A853-3E66D0A64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3762" y="-25396"/>
            <a:ext cx="4457701" cy="461665"/>
          </a:xfrm>
          <a:prstGeom prst="rect">
            <a:avLst/>
          </a:prstGeom>
          <a:solidFill>
            <a:srgbClr val="CCFFFF"/>
          </a:solidFill>
          <a:ln w="28575">
            <a:solidFill>
              <a:srgbClr val="FF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行波因子，代表沿</a:t>
            </a:r>
            <a:r>
              <a:rPr lang="en-US" altLang="zh-CN" b="0" i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 sz="2000" b="0" i="1">
                <a:solidFill>
                  <a:srgbClr val="99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轴传播的行波</a:t>
            </a:r>
          </a:p>
        </p:txBody>
      </p:sp>
      <p:graphicFrame>
        <p:nvGraphicFramePr>
          <p:cNvPr id="9" name="Object 31">
            <a:extLst>
              <a:ext uri="{FF2B5EF4-FFF2-40B4-BE49-F238E27FC236}">
                <a16:creationId xmlns:a16="http://schemas.microsoft.com/office/drawing/2014/main" id="{FACE2A78-8A4D-DDF1-0718-29B19FDAA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549420"/>
              </p:ext>
            </p:extLst>
          </p:nvPr>
        </p:nvGraphicFramePr>
        <p:xfrm>
          <a:off x="1082675" y="356894"/>
          <a:ext cx="71691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89680" imgH="357480" progId="Equation.DSMT4">
                  <p:embed/>
                </p:oleObj>
              </mc:Choice>
              <mc:Fallback>
                <p:oleObj r:id="rId4" imgW="2389680" imgH="357480" progId="Equation.DSMT4">
                  <p:embed/>
                  <p:pic>
                    <p:nvPicPr>
                      <p:cNvPr id="709663" name="Object 31">
                        <a:extLst>
                          <a:ext uri="{FF2B5EF4-FFF2-40B4-BE49-F238E27FC236}">
                            <a16:creationId xmlns:a16="http://schemas.microsoft.com/office/drawing/2014/main" id="{F6DAA599-E296-C149-F609-1195C6277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356894"/>
                        <a:ext cx="71691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0">
            <a:extLst>
              <a:ext uri="{FF2B5EF4-FFF2-40B4-BE49-F238E27FC236}">
                <a16:creationId xmlns:a16="http://schemas.microsoft.com/office/drawing/2014/main" id="{E3591D46-5F73-1810-83A8-C20F781A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103" y="901407"/>
            <a:ext cx="2232025" cy="530225"/>
          </a:xfrm>
          <a:prstGeom prst="wedgeRectCallout">
            <a:avLst>
              <a:gd name="adj1" fmla="val 38051"/>
              <a:gd name="adj2" fmla="val -129639"/>
            </a:avLst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2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2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2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2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0">
            <a:extLst>
              <a:ext uri="{FF2B5EF4-FFF2-40B4-BE49-F238E27FC236}">
                <a16:creationId xmlns:a16="http://schemas.microsoft.com/office/drawing/2014/main" id="{A1478228-B7AA-4C5D-E323-A7C133058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138" y="474782"/>
            <a:ext cx="1107431" cy="404694"/>
          </a:xfrm>
          <a:prstGeom prst="wedgeRectCallout">
            <a:avLst>
              <a:gd name="adj1" fmla="val -399216"/>
              <a:gd name="adj2" fmla="val 550501"/>
            </a:avLst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灯片编号占位符 2">
            <a:extLst>
              <a:ext uri="{FF2B5EF4-FFF2-40B4-BE49-F238E27FC236}">
                <a16:creationId xmlns:a16="http://schemas.microsoft.com/office/drawing/2014/main" id="{0D0B2CDB-1104-B27B-62BF-1498DA45D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0C078-EFC2-44A6-8E4D-7CD524FF44E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656386" name="Text Box 2">
            <a:extLst>
              <a:ext uri="{FF2B5EF4-FFF2-40B4-BE49-F238E27FC236}">
                <a16:creationId xmlns:a16="http://schemas.microsoft.com/office/drawing/2014/main" id="{98AA4D05-4759-A02F-94FA-699887544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6" y="2004895"/>
            <a:ext cx="8497888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FF99FF"/>
                </a:solidFill>
                <a:ea typeface="宋体" panose="02010600030101010101" pitchFamily="2" charset="-122"/>
              </a:rPr>
              <a:t>群速</a:t>
            </a:r>
            <a:r>
              <a:rPr lang="en-US" altLang="zh-CN" dirty="0">
                <a:solidFill>
                  <a:srgbClr val="FF99FF"/>
                </a:solidFill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FF99FF"/>
                </a:solidFill>
                <a:ea typeface="宋体" panose="02010600030101010101" pitchFamily="2" charset="-122"/>
              </a:rPr>
              <a:t>g</a:t>
            </a:r>
            <a:r>
              <a:rPr lang="zh-CN" altLang="en-US" dirty="0">
                <a:solidFill>
                  <a:srgbClr val="FF99FF"/>
                </a:solidFill>
                <a:ea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rgbClr val="FF7C80"/>
                </a:solidFill>
              </a:rPr>
              <a:t>包络波</a:t>
            </a:r>
            <a:r>
              <a:rPr lang="zh-CN" altLang="en-US" dirty="0">
                <a:solidFill>
                  <a:schemeClr val="bg1"/>
                </a:solidFill>
              </a:rPr>
              <a:t>的恒定相位点推进速度，是</a:t>
            </a:r>
            <a:r>
              <a:rPr lang="zh-CN" altLang="en-US" dirty="0">
                <a:solidFill>
                  <a:srgbClr val="FF7C80"/>
                </a:solidFill>
              </a:rPr>
              <a:t>窄频电磁波传播的速度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grpSp>
        <p:nvGrpSpPr>
          <p:cNvPr id="656394" name="Group 10">
            <a:extLst>
              <a:ext uri="{FF2B5EF4-FFF2-40B4-BE49-F238E27FC236}">
                <a16:creationId xmlns:a16="http://schemas.microsoft.com/office/drawing/2014/main" id="{9B2C225B-7053-FB9E-547F-A0C007E22E5C}"/>
              </a:ext>
            </a:extLst>
          </p:cNvPr>
          <p:cNvGrpSpPr>
            <a:grpSpLocks/>
          </p:cNvGrpSpPr>
          <p:nvPr/>
        </p:nvGrpSpPr>
        <p:grpSpPr bwMode="auto">
          <a:xfrm>
            <a:off x="1281236" y="1214179"/>
            <a:ext cx="3994150" cy="863600"/>
            <a:chOff x="1239" y="573"/>
            <a:chExt cx="2516" cy="544"/>
          </a:xfrm>
        </p:grpSpPr>
        <p:graphicFrame>
          <p:nvGraphicFramePr>
            <p:cNvPr id="74758" name="Object 5">
              <a:extLst>
                <a:ext uri="{FF2B5EF4-FFF2-40B4-BE49-F238E27FC236}">
                  <a16:creationId xmlns:a16="http://schemas.microsoft.com/office/drawing/2014/main" id="{FEDBD26E-00B3-3CA7-24FD-D108E1B605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9" y="664"/>
            <a:ext cx="114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75720" imgH="137520" progId="Equation.DSMT4">
                    <p:embed/>
                  </p:oleObj>
                </mc:Choice>
                <mc:Fallback>
                  <p:oleObj r:id="rId4" imgW="675720" imgH="1375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664"/>
                          <a:ext cx="114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59" name="AutoShape 7">
              <a:extLst>
                <a:ext uri="{FF2B5EF4-FFF2-40B4-BE49-F238E27FC236}">
                  <a16:creationId xmlns:a16="http://schemas.microsoft.com/office/drawing/2014/main" id="{E31EBFC2-7F45-86A7-8A4A-305413681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754"/>
              <a:ext cx="480" cy="181"/>
            </a:xfrm>
            <a:prstGeom prst="rightArrow">
              <a:avLst>
                <a:gd name="adj1" fmla="val 50000"/>
                <a:gd name="adj2" fmla="val 66274"/>
              </a:avLst>
            </a:prstGeom>
            <a:solidFill>
              <a:srgbClr val="FFCC99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aphicFrame>
          <p:nvGraphicFramePr>
            <p:cNvPr id="74757" name="Object 4">
              <a:extLst>
                <a:ext uri="{FF2B5EF4-FFF2-40B4-BE49-F238E27FC236}">
                  <a16:creationId xmlns:a16="http://schemas.microsoft.com/office/drawing/2014/main" id="{8A2BC1D1-3DA2-94B7-C439-3705071C59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15" y="573"/>
            <a:ext cx="640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79080" imgH="313560" progId="Equation.DSMT4">
                    <p:embed/>
                  </p:oleObj>
                </mc:Choice>
                <mc:Fallback>
                  <p:oleObj r:id="rId6" imgW="379080" imgH="31356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5" y="573"/>
                          <a:ext cx="640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6395" name="Group 11">
            <a:extLst>
              <a:ext uri="{FF2B5EF4-FFF2-40B4-BE49-F238E27FC236}">
                <a16:creationId xmlns:a16="http://schemas.microsoft.com/office/drawing/2014/main" id="{D854F3A8-B8CD-44E1-B82A-EDD8ACECD748}"/>
              </a:ext>
            </a:extLst>
          </p:cNvPr>
          <p:cNvGrpSpPr>
            <a:grpSpLocks/>
          </p:cNvGrpSpPr>
          <p:nvPr/>
        </p:nvGrpSpPr>
        <p:grpSpPr bwMode="auto">
          <a:xfrm>
            <a:off x="2032794" y="2509720"/>
            <a:ext cx="5602287" cy="838200"/>
            <a:chOff x="1189" y="1389"/>
            <a:chExt cx="3529" cy="528"/>
          </a:xfrm>
        </p:grpSpPr>
        <p:graphicFrame>
          <p:nvGraphicFramePr>
            <p:cNvPr id="74761" name="Object 5">
              <a:extLst>
                <a:ext uri="{FF2B5EF4-FFF2-40B4-BE49-F238E27FC236}">
                  <a16:creationId xmlns:a16="http://schemas.microsoft.com/office/drawing/2014/main" id="{868D5CD7-8343-389C-70F1-BA237B8B79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1389"/>
            <a:ext cx="152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83520" imgH="302400" progId="Equation.DSMT4">
                    <p:embed/>
                  </p:oleObj>
                </mc:Choice>
                <mc:Fallback>
                  <p:oleObj r:id="rId8" imgW="983520" imgH="302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1389"/>
                          <a:ext cx="152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62" name="Object 3">
              <a:extLst>
                <a:ext uri="{FF2B5EF4-FFF2-40B4-BE49-F238E27FC236}">
                  <a16:creationId xmlns:a16="http://schemas.microsoft.com/office/drawing/2014/main" id="{6FA6B8EB-555C-F7D5-C703-4C5E54F183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9" y="1576"/>
            <a:ext cx="138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994320" imgH="115560" progId="Equation.DSMT4">
                    <p:embed/>
                  </p:oleObj>
                </mc:Choice>
                <mc:Fallback>
                  <p:oleObj r:id="rId10" imgW="994320" imgH="1155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1576"/>
                          <a:ext cx="138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63" name="AutoShape 8">
              <a:extLst>
                <a:ext uri="{FF2B5EF4-FFF2-40B4-BE49-F238E27FC236}">
                  <a16:creationId xmlns:a16="http://schemas.microsoft.com/office/drawing/2014/main" id="{B09C8432-4049-BE8C-CE1A-8D60422A4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600"/>
              <a:ext cx="480" cy="197"/>
            </a:xfrm>
            <a:prstGeom prst="rightArrow">
              <a:avLst>
                <a:gd name="adj1" fmla="val 50000"/>
                <a:gd name="adj2" fmla="val 60891"/>
              </a:avLst>
            </a:prstGeom>
            <a:solidFill>
              <a:srgbClr val="FFCC99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56402" name="Text Box 18">
            <a:extLst>
              <a:ext uri="{FF2B5EF4-FFF2-40B4-BE49-F238E27FC236}">
                <a16:creationId xmlns:a16="http://schemas.microsoft.com/office/drawing/2014/main" id="{9770EA9D-F478-564C-F195-4B3665626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4" y="3446345"/>
            <a:ext cx="84978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能速</a:t>
            </a:r>
            <a:r>
              <a:rPr lang="en-US" altLang="zh-CN">
                <a:solidFill>
                  <a:srgbClr val="FF99FF"/>
                </a:solidFill>
                <a:ea typeface="宋体" panose="02010600030101010101" pitchFamily="2" charset="-122"/>
              </a:rPr>
              <a:t>v</a:t>
            </a:r>
            <a:r>
              <a:rPr lang="en-US" altLang="zh-CN" baseline="-25000">
                <a:solidFill>
                  <a:srgbClr val="FF99FF"/>
                </a:solidFill>
                <a:ea typeface="宋体" panose="02010600030101010101" pitchFamily="2" charset="-122"/>
              </a:rPr>
              <a:t>e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有电磁波在传播，就伴有电磁能流。指</a:t>
            </a:r>
            <a:r>
              <a:rPr lang="zh-CN" altLang="en-US">
                <a:solidFill>
                  <a:srgbClr val="FF7C80"/>
                </a:solidFill>
              </a:rPr>
              <a:t>能量传播的速度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graphicFrame>
        <p:nvGraphicFramePr>
          <p:cNvPr id="656403" name="Object 19">
            <a:extLst>
              <a:ext uri="{FF2B5EF4-FFF2-40B4-BE49-F238E27FC236}">
                <a16:creationId xmlns:a16="http://schemas.microsoft.com/office/drawing/2014/main" id="{184DD28C-33A5-6A7A-F42D-926A6DC1747E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384317859"/>
              </p:ext>
            </p:extLst>
          </p:nvPr>
        </p:nvGraphicFramePr>
        <p:xfrm>
          <a:off x="2124869" y="3949582"/>
          <a:ext cx="18748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42600" imgH="137520" progId="Equation.3">
                  <p:embed/>
                </p:oleObj>
              </mc:Choice>
              <mc:Fallback>
                <p:oleObj r:id="rId12" imgW="642600" imgH="137520" progId="Equation.3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69" y="3949582"/>
                        <a:ext cx="18748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6405" name="Text Box 21">
            <a:extLst>
              <a:ext uri="{FF2B5EF4-FFF2-40B4-BE49-F238E27FC236}">
                <a16:creationId xmlns:a16="http://schemas.microsoft.com/office/drawing/2014/main" id="{6956EB46-D0A2-CCA4-8751-13F3538EC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031" y="3976570"/>
            <a:ext cx="5040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2"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</a:rPr>
              <a:t>（</a:t>
            </a:r>
            <a:r>
              <a:rPr lang="en-US" altLang="zh-CN" sz="2200">
                <a:solidFill>
                  <a:schemeClr val="bg1"/>
                </a:solidFill>
              </a:rPr>
              <a:t>w</a:t>
            </a:r>
            <a:r>
              <a:rPr lang="en-US" altLang="zh-CN" sz="2200" baseline="-25000">
                <a:solidFill>
                  <a:schemeClr val="bg1"/>
                </a:solidFill>
              </a:rPr>
              <a:t>av</a:t>
            </a:r>
            <a:r>
              <a:rPr lang="zh-CN" altLang="en-US" sz="2200">
                <a:solidFill>
                  <a:schemeClr val="bg1"/>
                </a:solidFill>
              </a:rPr>
              <a:t>为电磁波的平均能量密度）</a:t>
            </a:r>
          </a:p>
        </p:txBody>
      </p:sp>
      <p:grpSp>
        <p:nvGrpSpPr>
          <p:cNvPr id="656422" name="Group 38">
            <a:extLst>
              <a:ext uri="{FF2B5EF4-FFF2-40B4-BE49-F238E27FC236}">
                <a16:creationId xmlns:a16="http://schemas.microsoft.com/office/drawing/2014/main" id="{A17A8A45-CF45-3AFC-957E-092901E13CB3}"/>
              </a:ext>
            </a:extLst>
          </p:cNvPr>
          <p:cNvGrpSpPr>
            <a:grpSpLocks/>
          </p:cNvGrpSpPr>
          <p:nvPr/>
        </p:nvGrpSpPr>
        <p:grpSpPr bwMode="auto">
          <a:xfrm>
            <a:off x="683418" y="4483101"/>
            <a:ext cx="7777163" cy="2447925"/>
            <a:chOff x="385" y="890"/>
            <a:chExt cx="4899" cy="1542"/>
          </a:xfrm>
        </p:grpSpPr>
        <p:sp>
          <p:nvSpPr>
            <p:cNvPr id="74768" name="Rectangle 39">
              <a:extLst>
                <a:ext uri="{FF2B5EF4-FFF2-40B4-BE49-F238E27FC236}">
                  <a16:creationId xmlns:a16="http://schemas.microsoft.com/office/drawing/2014/main" id="{92354D43-3FD2-2249-130C-F4B99ED93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890"/>
              <a:ext cx="4899" cy="154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74769" name="Line 40">
              <a:extLst>
                <a:ext uri="{FF2B5EF4-FFF2-40B4-BE49-F238E27FC236}">
                  <a16:creationId xmlns:a16="http://schemas.microsoft.com/office/drawing/2014/main" id="{8F9FA75A-4292-F220-9812-14D529B08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658"/>
              <a:ext cx="3019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770" name="Group 41">
              <a:extLst>
                <a:ext uri="{FF2B5EF4-FFF2-40B4-BE49-F238E27FC236}">
                  <a16:creationId xmlns:a16="http://schemas.microsoft.com/office/drawing/2014/main" id="{2B5B5B7E-A02E-B1FE-9B07-F319635F8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1072"/>
              <a:ext cx="2777" cy="1174"/>
              <a:chOff x="932" y="2954"/>
              <a:chExt cx="2777" cy="1174"/>
            </a:xfrm>
          </p:grpSpPr>
          <p:sp>
            <p:nvSpPr>
              <p:cNvPr id="74771" name="Freeform 42">
                <a:extLst>
                  <a:ext uri="{FF2B5EF4-FFF2-40B4-BE49-F238E27FC236}">
                    <a16:creationId xmlns:a16="http://schemas.microsoft.com/office/drawing/2014/main" id="{BC26B00E-38E9-365E-F873-A1AFB7A9C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" y="2954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2" name="Freeform 43">
                <a:extLst>
                  <a:ext uri="{FF2B5EF4-FFF2-40B4-BE49-F238E27FC236}">
                    <a16:creationId xmlns:a16="http://schemas.microsoft.com/office/drawing/2014/main" id="{4FBE02BA-7F49-21A4-1D5C-77499D391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035" y="3541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3" name="Freeform 44">
                <a:extLst>
                  <a:ext uri="{FF2B5EF4-FFF2-40B4-BE49-F238E27FC236}">
                    <a16:creationId xmlns:a16="http://schemas.microsoft.com/office/drawing/2014/main" id="{1689567B-3980-39C9-4894-10FAF52BD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2" y="2954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4" name="Freeform 45">
                <a:extLst>
                  <a:ext uri="{FF2B5EF4-FFF2-40B4-BE49-F238E27FC236}">
                    <a16:creationId xmlns:a16="http://schemas.microsoft.com/office/drawing/2014/main" id="{CE7BBEAF-C791-E0F4-89CA-A43F2DF55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372" y="3541"/>
                <a:ext cx="1337" cy="587"/>
              </a:xfrm>
              <a:custGeom>
                <a:avLst/>
                <a:gdLst>
                  <a:gd name="T0" fmla="*/ 0 w 1872"/>
                  <a:gd name="T1" fmla="*/ 576 h 576"/>
                  <a:gd name="T2" fmla="*/ 912 w 1872"/>
                  <a:gd name="T3" fmla="*/ 0 h 576"/>
                  <a:gd name="T4" fmla="*/ 1872 w 187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2" h="576">
                    <a:moveTo>
                      <a:pt x="0" y="576"/>
                    </a:moveTo>
                    <a:cubicBezTo>
                      <a:pt x="300" y="288"/>
                      <a:pt x="600" y="0"/>
                      <a:pt x="912" y="0"/>
                    </a:cubicBezTo>
                    <a:cubicBezTo>
                      <a:pt x="1224" y="0"/>
                      <a:pt x="1712" y="480"/>
                      <a:pt x="1872" y="576"/>
                    </a:cubicBezTo>
                  </a:path>
                </a:pathLst>
              </a:cu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5" name="Line 46">
                <a:extLst>
                  <a:ext uri="{FF2B5EF4-FFF2-40B4-BE49-F238E27FC236}">
                    <a16:creationId xmlns:a16="http://schemas.microsoft.com/office/drawing/2014/main" id="{F42C15BB-F733-FE92-15B1-A94B20DC7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2" y="3541"/>
                <a:ext cx="103" cy="14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6" name="Line 47">
                <a:extLst>
                  <a:ext uri="{FF2B5EF4-FFF2-40B4-BE49-F238E27FC236}">
                    <a16:creationId xmlns:a16="http://schemas.microsoft.com/office/drawing/2014/main" id="{CD031534-96E2-DA5D-4791-C8860A987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32" y="3345"/>
                <a:ext cx="103" cy="196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4777" name="Group 48">
                <a:extLst>
                  <a:ext uri="{FF2B5EF4-FFF2-40B4-BE49-F238E27FC236}">
                    <a16:creationId xmlns:a16="http://schemas.microsoft.com/office/drawing/2014/main" id="{CFCE95D8-5A6E-2155-E38D-694E261CF0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" y="2954"/>
                <a:ext cx="2000" cy="1162"/>
                <a:chOff x="1326" y="960"/>
                <a:chExt cx="2802" cy="1140"/>
              </a:xfrm>
            </p:grpSpPr>
            <p:sp>
              <p:nvSpPr>
                <p:cNvPr id="74778" name="Freeform 49">
                  <a:extLst>
                    <a:ext uri="{FF2B5EF4-FFF2-40B4-BE49-F238E27FC236}">
                      <a16:creationId xmlns:a16="http://schemas.microsoft.com/office/drawing/2014/main" id="{0B382647-5648-FD4C-83F8-8C1FDA9148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6" y="96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779" name="Freeform 50">
                  <a:extLst>
                    <a:ext uri="{FF2B5EF4-FFF2-40B4-BE49-F238E27FC236}">
                      <a16:creationId xmlns:a16="http://schemas.microsoft.com/office/drawing/2014/main" id="{3F3FB0AA-5800-461B-1E5C-50AC4FFF3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1326" y="98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780" name="Freeform 51">
                  <a:extLst>
                    <a:ext uri="{FF2B5EF4-FFF2-40B4-BE49-F238E27FC236}">
                      <a16:creationId xmlns:a16="http://schemas.microsoft.com/office/drawing/2014/main" id="{2C31F2DC-2126-3DE4-EC35-D1FE76F4A2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216" y="970"/>
                  <a:ext cx="912" cy="1120"/>
                </a:xfrm>
                <a:custGeom>
                  <a:avLst/>
                  <a:gdLst>
                    <a:gd name="T0" fmla="*/ 0 w 912"/>
                    <a:gd name="T1" fmla="*/ 0 h 1120"/>
                    <a:gd name="T2" fmla="*/ 144 w 912"/>
                    <a:gd name="T3" fmla="*/ 1104 h 1120"/>
                    <a:gd name="T4" fmla="*/ 288 w 912"/>
                    <a:gd name="T5" fmla="*/ 96 h 1120"/>
                    <a:gd name="T6" fmla="*/ 432 w 912"/>
                    <a:gd name="T7" fmla="*/ 1008 h 1120"/>
                    <a:gd name="T8" fmla="*/ 576 w 912"/>
                    <a:gd name="T9" fmla="*/ 288 h 1120"/>
                    <a:gd name="T10" fmla="*/ 672 w 912"/>
                    <a:gd name="T11" fmla="*/ 768 h 1120"/>
                    <a:gd name="T12" fmla="*/ 816 w 912"/>
                    <a:gd name="T13" fmla="*/ 480 h 1120"/>
                    <a:gd name="T14" fmla="*/ 912 w 912"/>
                    <a:gd name="T15" fmla="*/ 624 h 1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12" h="1120">
                      <a:moveTo>
                        <a:pt x="0" y="0"/>
                      </a:moveTo>
                      <a:cubicBezTo>
                        <a:pt x="48" y="544"/>
                        <a:pt x="96" y="1088"/>
                        <a:pt x="144" y="1104"/>
                      </a:cubicBezTo>
                      <a:cubicBezTo>
                        <a:pt x="192" y="1120"/>
                        <a:pt x="240" y="112"/>
                        <a:pt x="288" y="96"/>
                      </a:cubicBezTo>
                      <a:cubicBezTo>
                        <a:pt x="336" y="80"/>
                        <a:pt x="384" y="976"/>
                        <a:pt x="432" y="1008"/>
                      </a:cubicBezTo>
                      <a:cubicBezTo>
                        <a:pt x="480" y="1040"/>
                        <a:pt x="536" y="328"/>
                        <a:pt x="576" y="288"/>
                      </a:cubicBezTo>
                      <a:cubicBezTo>
                        <a:pt x="616" y="248"/>
                        <a:pt x="632" y="736"/>
                        <a:pt x="672" y="768"/>
                      </a:cubicBezTo>
                      <a:cubicBezTo>
                        <a:pt x="712" y="800"/>
                        <a:pt x="776" y="504"/>
                        <a:pt x="816" y="480"/>
                      </a:cubicBezTo>
                      <a:cubicBezTo>
                        <a:pt x="856" y="456"/>
                        <a:pt x="896" y="600"/>
                        <a:pt x="912" y="624"/>
                      </a:cubicBezTo>
                    </a:path>
                  </a:pathLst>
                </a:custGeom>
                <a:noFill/>
                <a:ln w="28575">
                  <a:solidFill>
                    <a:srgbClr val="CC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4781" name="Freeform 52">
                <a:extLst>
                  <a:ext uri="{FF2B5EF4-FFF2-40B4-BE49-F238E27FC236}">
                    <a16:creationId xmlns:a16="http://schemas.microsoft.com/office/drawing/2014/main" id="{BDF00C87-A277-E943-974B-F07149518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6" y="2954"/>
                <a:ext cx="651" cy="1142"/>
              </a:xfrm>
              <a:custGeom>
                <a:avLst/>
                <a:gdLst>
                  <a:gd name="T0" fmla="*/ 0 w 912"/>
                  <a:gd name="T1" fmla="*/ 0 h 1120"/>
                  <a:gd name="T2" fmla="*/ 144 w 912"/>
                  <a:gd name="T3" fmla="*/ 1104 h 1120"/>
                  <a:gd name="T4" fmla="*/ 288 w 912"/>
                  <a:gd name="T5" fmla="*/ 96 h 1120"/>
                  <a:gd name="T6" fmla="*/ 432 w 912"/>
                  <a:gd name="T7" fmla="*/ 1008 h 1120"/>
                  <a:gd name="T8" fmla="*/ 576 w 912"/>
                  <a:gd name="T9" fmla="*/ 288 h 1120"/>
                  <a:gd name="T10" fmla="*/ 672 w 912"/>
                  <a:gd name="T11" fmla="*/ 768 h 1120"/>
                  <a:gd name="T12" fmla="*/ 816 w 912"/>
                  <a:gd name="T13" fmla="*/ 480 h 1120"/>
                  <a:gd name="T14" fmla="*/ 912 w 912"/>
                  <a:gd name="T15" fmla="*/ 624 h 1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2" h="1120">
                    <a:moveTo>
                      <a:pt x="0" y="0"/>
                    </a:moveTo>
                    <a:cubicBezTo>
                      <a:pt x="48" y="544"/>
                      <a:pt x="96" y="1088"/>
                      <a:pt x="144" y="1104"/>
                    </a:cubicBezTo>
                    <a:cubicBezTo>
                      <a:pt x="192" y="1120"/>
                      <a:pt x="240" y="112"/>
                      <a:pt x="288" y="96"/>
                    </a:cubicBezTo>
                    <a:cubicBezTo>
                      <a:pt x="336" y="80"/>
                      <a:pt x="384" y="976"/>
                      <a:pt x="432" y="1008"/>
                    </a:cubicBezTo>
                    <a:cubicBezTo>
                      <a:pt x="480" y="1040"/>
                      <a:pt x="536" y="328"/>
                      <a:pt x="576" y="288"/>
                    </a:cubicBezTo>
                    <a:cubicBezTo>
                      <a:pt x="616" y="248"/>
                      <a:pt x="632" y="736"/>
                      <a:pt x="672" y="768"/>
                    </a:cubicBezTo>
                    <a:cubicBezTo>
                      <a:pt x="712" y="800"/>
                      <a:pt x="776" y="504"/>
                      <a:pt x="816" y="480"/>
                    </a:cubicBezTo>
                    <a:cubicBezTo>
                      <a:pt x="856" y="456"/>
                      <a:pt x="896" y="600"/>
                      <a:pt x="912" y="624"/>
                    </a:cubicBezTo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782" name="Text Box 53">
              <a:extLst>
                <a:ext uri="{FF2B5EF4-FFF2-40B4-BE49-F238E27FC236}">
                  <a16:creationId xmlns:a16="http://schemas.microsoft.com/office/drawing/2014/main" id="{1A95AAEE-1788-AAEB-7631-403A84DBD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571"/>
              <a:ext cx="205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ea typeface="幼圆" panose="02010509060101010101" pitchFamily="49" charset="-122"/>
                </a:rPr>
                <a:t>z</a:t>
              </a:r>
            </a:p>
          </p:txBody>
        </p:sp>
      </p:grpSp>
      <p:grpSp>
        <p:nvGrpSpPr>
          <p:cNvPr id="656438" name="Group 54">
            <a:extLst>
              <a:ext uri="{FF2B5EF4-FFF2-40B4-BE49-F238E27FC236}">
                <a16:creationId xmlns:a16="http://schemas.microsoft.com/office/drawing/2014/main" id="{397B523B-1C8D-058A-D429-68AC9C507D1F}"/>
              </a:ext>
            </a:extLst>
          </p:cNvPr>
          <p:cNvGrpSpPr>
            <a:grpSpLocks/>
          </p:cNvGrpSpPr>
          <p:nvPr/>
        </p:nvGrpSpPr>
        <p:grpSpPr bwMode="auto">
          <a:xfrm>
            <a:off x="4644231" y="5922964"/>
            <a:ext cx="3332162" cy="457200"/>
            <a:chOff x="2896" y="1843"/>
            <a:chExt cx="2099" cy="288"/>
          </a:xfrm>
        </p:grpSpPr>
        <p:sp>
          <p:nvSpPr>
            <p:cNvPr id="74784" name="Line 55">
              <a:extLst>
                <a:ext uri="{FF2B5EF4-FFF2-40B4-BE49-F238E27FC236}">
                  <a16:creationId xmlns:a16="http://schemas.microsoft.com/office/drawing/2014/main" id="{DFD57446-7132-FED8-E669-A6484A5A4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6" y="1979"/>
              <a:ext cx="755" cy="0"/>
            </a:xfrm>
            <a:prstGeom prst="line">
              <a:avLst/>
            </a:prstGeom>
            <a:noFill/>
            <a:ln w="5715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5" name="Text Box 56">
              <a:extLst>
                <a:ext uri="{FF2B5EF4-FFF2-40B4-BE49-F238E27FC236}">
                  <a16:creationId xmlns:a16="http://schemas.microsoft.com/office/drawing/2014/main" id="{F151EE35-D0AD-C4AA-E8B2-6D62C7D2F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843"/>
              <a:ext cx="1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>
                  <a:latin typeface="宋体" panose="02010600030101010101" pitchFamily="2" charset="-122"/>
                  <a:ea typeface="宋体" panose="02010600030101010101" pitchFamily="2" charset="-122"/>
                </a:rPr>
                <a:t>载波，速度</a:t>
              </a: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p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grpSp>
        <p:nvGrpSpPr>
          <p:cNvPr id="656441" name="Group 57">
            <a:extLst>
              <a:ext uri="{FF2B5EF4-FFF2-40B4-BE49-F238E27FC236}">
                <a16:creationId xmlns:a16="http://schemas.microsoft.com/office/drawing/2014/main" id="{D0253B42-7C6B-AC39-8145-45E303DE7D8E}"/>
              </a:ext>
            </a:extLst>
          </p:cNvPr>
          <p:cNvGrpSpPr>
            <a:grpSpLocks/>
          </p:cNvGrpSpPr>
          <p:nvPr/>
        </p:nvGrpSpPr>
        <p:grpSpPr bwMode="auto">
          <a:xfrm>
            <a:off x="4879181" y="4770439"/>
            <a:ext cx="3509962" cy="457200"/>
            <a:chOff x="3107" y="1147"/>
            <a:chExt cx="2211" cy="288"/>
          </a:xfrm>
        </p:grpSpPr>
        <p:sp>
          <p:nvSpPr>
            <p:cNvPr id="74787" name="Line 58">
              <a:extLst>
                <a:ext uri="{FF2B5EF4-FFF2-40B4-BE49-F238E27FC236}">
                  <a16:creationId xmlns:a16="http://schemas.microsoft.com/office/drawing/2014/main" id="{EBD582FC-1C13-27F3-6B6B-A23D48B2A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299"/>
              <a:ext cx="817" cy="0"/>
            </a:xfrm>
            <a:prstGeom prst="line">
              <a:avLst/>
            </a:prstGeom>
            <a:noFill/>
            <a:ln w="571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8" name="Text Box 59">
              <a:extLst>
                <a:ext uri="{FF2B5EF4-FFF2-40B4-BE49-F238E27FC236}">
                  <a16:creationId xmlns:a16="http://schemas.microsoft.com/office/drawing/2014/main" id="{BA3433A8-F2C1-D993-3306-E1325C5523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147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包络波，速度</a:t>
              </a:r>
              <a:r>
                <a:rPr lang="en-US" altLang="zh-CN" i="1">
                  <a:solidFill>
                    <a:srgbClr val="99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solidFill>
                    <a:srgbClr val="990000"/>
                  </a:solidFill>
                  <a:ea typeface="宋体" panose="02010600030101010101" pitchFamily="2" charset="-122"/>
                </a:rPr>
                <a:t>g</a:t>
              </a:r>
              <a:endParaRPr lang="en-US" altLang="zh-CN">
                <a:solidFill>
                  <a:srgbClr val="990000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" name="Object 31">
            <a:extLst>
              <a:ext uri="{FF2B5EF4-FFF2-40B4-BE49-F238E27FC236}">
                <a16:creationId xmlns:a16="http://schemas.microsoft.com/office/drawing/2014/main" id="{FE5C8719-986D-93A7-E9D3-3841CE0CA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591029"/>
              </p:ext>
            </p:extLst>
          </p:nvPr>
        </p:nvGraphicFramePr>
        <p:xfrm>
          <a:off x="656431" y="383740"/>
          <a:ext cx="797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389760" imgH="159480" progId="Equation.DSMT4">
                  <p:embed/>
                </p:oleObj>
              </mc:Choice>
              <mc:Fallback>
                <p:oleObj r:id="rId14" imgW="3389760" imgH="159480" progId="Equation.DSMT4">
                  <p:embed/>
                  <p:pic>
                    <p:nvPicPr>
                      <p:cNvPr id="721951" name="Object 31">
                        <a:extLst>
                          <a:ext uri="{FF2B5EF4-FFF2-40B4-BE49-F238E27FC236}">
                            <a16:creationId xmlns:a16="http://schemas.microsoft.com/office/drawing/2014/main" id="{742F5FD5-ADD6-8908-3B3C-436FBB96C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" y="383740"/>
                        <a:ext cx="797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">
            <a:extLst>
              <a:ext uri="{FF2B5EF4-FFF2-40B4-BE49-F238E27FC236}">
                <a16:creationId xmlns:a16="http://schemas.microsoft.com/office/drawing/2014/main" id="{3D4844AF-3614-2646-2603-00AC4A64EFB0}"/>
              </a:ext>
            </a:extLst>
          </p:cNvPr>
          <p:cNvGrpSpPr>
            <a:grpSpLocks/>
          </p:cNvGrpSpPr>
          <p:nvPr/>
        </p:nvGrpSpPr>
        <p:grpSpPr bwMode="auto">
          <a:xfrm>
            <a:off x="2627761" y="462882"/>
            <a:ext cx="4197237" cy="1038306"/>
            <a:chOff x="-675" y="3646"/>
            <a:chExt cx="4139" cy="647"/>
          </a:xfrm>
        </p:grpSpPr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EF4A5CBD-FB0E-C0C6-A6A8-6EFF40B1BC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675" y="3891"/>
              <a:ext cx="3315" cy="40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88A6EE04-888F-233B-9F62-DAB343628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" y="3646"/>
              <a:ext cx="1488" cy="240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56390" name="Text Box 6">
            <a:extLst>
              <a:ext uri="{FF2B5EF4-FFF2-40B4-BE49-F238E27FC236}">
                <a16:creationId xmlns:a16="http://schemas.microsoft.com/office/drawing/2014/main" id="{4A326B04-5F94-2F55-7735-EC8A7CE3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5" y="870628"/>
            <a:ext cx="5905129" cy="466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FF99FF"/>
                </a:solidFill>
                <a:ea typeface="宋体" panose="02010600030101010101" pitchFamily="2" charset="-122"/>
              </a:rPr>
              <a:t>相速</a:t>
            </a:r>
            <a:r>
              <a:rPr lang="en-US" altLang="zh-CN" dirty="0" err="1">
                <a:solidFill>
                  <a:srgbClr val="FF99FF"/>
                </a:solidFill>
                <a:ea typeface="宋体" panose="02010600030101010101" pitchFamily="2" charset="-122"/>
              </a:rPr>
              <a:t>v</a:t>
            </a:r>
            <a:r>
              <a:rPr lang="en-US" altLang="zh-CN" baseline="-25000" dirty="0" err="1">
                <a:solidFill>
                  <a:srgbClr val="FF99FF"/>
                </a:solidFill>
                <a:ea typeface="宋体" panose="02010600030101010101" pitchFamily="2" charset="-122"/>
              </a:rPr>
              <a:t>p</a:t>
            </a:r>
            <a:r>
              <a:rPr lang="zh-CN" altLang="en-US" dirty="0">
                <a:solidFill>
                  <a:srgbClr val="FF99FF"/>
                </a:solidFill>
                <a:ea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rgbClr val="FF7C80"/>
                </a:solidFill>
              </a:rPr>
              <a:t>载波</a:t>
            </a:r>
            <a:r>
              <a:rPr lang="zh-CN" altLang="en-US" dirty="0">
                <a:solidFill>
                  <a:schemeClr val="bg1"/>
                </a:solidFill>
              </a:rPr>
              <a:t>的恒定相位点推进速度。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5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5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5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5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5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5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5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56386" grpId="0"/>
      <p:bldP spid="656402" grpId="0"/>
      <p:bldP spid="656405" grpId="0"/>
      <p:bldP spid="6563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>
            <a:extLst>
              <a:ext uri="{FF2B5EF4-FFF2-40B4-BE49-F238E27FC236}">
                <a16:creationId xmlns:a16="http://schemas.microsoft.com/office/drawing/2014/main" id="{59D4B02F-67D7-6CE1-B9A4-9399692B2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8FEBA-2330-4D3E-B258-F7B434129CFC}" type="slidenum">
              <a:rPr lang="en-US" altLang="zh-CN"/>
              <a:pPr/>
              <a:t>6</a:t>
            </a:fld>
            <a:endParaRPr lang="en-US" altLang="zh-CN"/>
          </a:p>
        </p:txBody>
      </p:sp>
      <p:grpSp>
        <p:nvGrpSpPr>
          <p:cNvPr id="781314" name="Group 2">
            <a:extLst>
              <a:ext uri="{FF2B5EF4-FFF2-40B4-BE49-F238E27FC236}">
                <a16:creationId xmlns:a16="http://schemas.microsoft.com/office/drawing/2014/main" id="{81EC8A88-9E20-B750-E25B-ACF655255950}"/>
              </a:ext>
            </a:extLst>
          </p:cNvPr>
          <p:cNvGrpSpPr>
            <a:grpSpLocks/>
          </p:cNvGrpSpPr>
          <p:nvPr/>
        </p:nvGrpSpPr>
        <p:grpSpPr bwMode="auto">
          <a:xfrm>
            <a:off x="384175" y="2698750"/>
            <a:ext cx="2906713" cy="1522413"/>
            <a:chOff x="242" y="2925"/>
            <a:chExt cx="1831" cy="959"/>
          </a:xfrm>
        </p:grpSpPr>
        <p:graphicFrame>
          <p:nvGraphicFramePr>
            <p:cNvPr id="76803" name="Object 3">
              <a:extLst>
                <a:ext uri="{FF2B5EF4-FFF2-40B4-BE49-F238E27FC236}">
                  <a16:creationId xmlns:a16="http://schemas.microsoft.com/office/drawing/2014/main" id="{6083CDF7-E2C3-191B-57DA-1DE5E12EF6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7" y="2925"/>
            <a:ext cx="1296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41600" imgH="533520" progId="Equation.DSMT4">
                    <p:embed/>
                  </p:oleObj>
                </mc:Choice>
                <mc:Fallback>
                  <p:oleObj r:id="rId3" imgW="741600" imgH="53352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" y="2925"/>
                          <a:ext cx="1296" cy="9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04" name="AutoShape 4">
              <a:extLst>
                <a:ext uri="{FF2B5EF4-FFF2-40B4-BE49-F238E27FC236}">
                  <a16:creationId xmlns:a16="http://schemas.microsoft.com/office/drawing/2014/main" id="{BE737EE1-3F31-7785-A541-C37A5A61C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" y="3203"/>
              <a:ext cx="480" cy="182"/>
            </a:xfrm>
            <a:prstGeom prst="rightArrow">
              <a:avLst>
                <a:gd name="adj1" fmla="val 50000"/>
                <a:gd name="adj2" fmla="val 65910"/>
              </a:avLst>
            </a:prstGeom>
            <a:solidFill>
              <a:srgbClr val="FFCC99"/>
            </a:solidFill>
            <a:ln w="19050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781317" name="Text Box 5">
            <a:extLst>
              <a:ext uri="{FF2B5EF4-FFF2-40B4-BE49-F238E27FC236}">
                <a16:creationId xmlns:a16="http://schemas.microsoft.com/office/drawing/2014/main" id="{BA978A49-9FFB-FE05-58D6-4139F99A7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538" y="2276475"/>
            <a:ext cx="221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无色散</a:t>
            </a:r>
          </a:p>
        </p:txBody>
      </p:sp>
      <p:sp>
        <p:nvSpPr>
          <p:cNvPr id="781318" name="Text Box 6">
            <a:extLst>
              <a:ext uri="{FF2B5EF4-FFF2-40B4-BE49-F238E27FC236}">
                <a16:creationId xmlns:a16="http://schemas.microsoft.com/office/drawing/2014/main" id="{F030DD54-83BA-A448-EAC3-2199CAD4E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068638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正常色散</a:t>
            </a:r>
          </a:p>
        </p:txBody>
      </p:sp>
      <p:sp>
        <p:nvSpPr>
          <p:cNvPr id="781319" name="Text Box 7">
            <a:extLst>
              <a:ext uri="{FF2B5EF4-FFF2-40B4-BE49-F238E27FC236}">
                <a16:creationId xmlns:a16="http://schemas.microsoft.com/office/drawing/2014/main" id="{A24292A3-3EAF-A74E-1618-D886C9502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932238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反常色散</a:t>
            </a:r>
          </a:p>
        </p:txBody>
      </p:sp>
      <p:grpSp>
        <p:nvGrpSpPr>
          <p:cNvPr id="781321" name="Group 9">
            <a:extLst>
              <a:ext uri="{FF2B5EF4-FFF2-40B4-BE49-F238E27FC236}">
                <a16:creationId xmlns:a16="http://schemas.microsoft.com/office/drawing/2014/main" id="{9D8F73B4-BD19-A4F3-2552-5DBD1B9D78A1}"/>
              </a:ext>
            </a:extLst>
          </p:cNvPr>
          <p:cNvGrpSpPr>
            <a:grpSpLocks/>
          </p:cNvGrpSpPr>
          <p:nvPr/>
        </p:nvGrpSpPr>
        <p:grpSpPr bwMode="auto">
          <a:xfrm>
            <a:off x="104775" y="908050"/>
            <a:ext cx="8431213" cy="939800"/>
            <a:chOff x="66" y="1933"/>
            <a:chExt cx="5311" cy="592"/>
          </a:xfrm>
        </p:grpSpPr>
        <p:graphicFrame>
          <p:nvGraphicFramePr>
            <p:cNvPr id="76809" name="Object 10">
              <a:extLst>
                <a:ext uri="{FF2B5EF4-FFF2-40B4-BE49-F238E27FC236}">
                  <a16:creationId xmlns:a16="http://schemas.microsoft.com/office/drawing/2014/main" id="{3B78BA9E-9727-54BD-9CD0-B8C45C095D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1" y="1933"/>
            <a:ext cx="4896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301920" imgH="346680" progId="Equation.DSMT4">
                    <p:embed/>
                  </p:oleObj>
                </mc:Choice>
                <mc:Fallback>
                  <p:oleObj r:id="rId5" imgW="3301920" imgH="3466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933"/>
                          <a:ext cx="4896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10" name="Text Box 11">
              <a:extLst>
                <a:ext uri="{FF2B5EF4-FFF2-40B4-BE49-F238E27FC236}">
                  <a16:creationId xmlns:a16="http://schemas.microsoft.com/office/drawing/2014/main" id="{37F64BDB-F813-BF10-3656-66BD73AA8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" y="2053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由</a:t>
              </a:r>
            </a:p>
          </p:txBody>
        </p:sp>
      </p:grpSp>
      <p:grpSp>
        <p:nvGrpSpPr>
          <p:cNvPr id="781333" name="Group 21">
            <a:extLst>
              <a:ext uri="{FF2B5EF4-FFF2-40B4-BE49-F238E27FC236}">
                <a16:creationId xmlns:a16="http://schemas.microsoft.com/office/drawing/2014/main" id="{751672EE-7EE4-86E8-2191-F0331BAE03F0}"/>
              </a:ext>
            </a:extLst>
          </p:cNvPr>
          <p:cNvGrpSpPr>
            <a:grpSpLocks/>
          </p:cNvGrpSpPr>
          <p:nvPr/>
        </p:nvGrpSpPr>
        <p:grpSpPr bwMode="auto">
          <a:xfrm>
            <a:off x="3449638" y="2060575"/>
            <a:ext cx="3030537" cy="2519363"/>
            <a:chOff x="2173" y="2523"/>
            <a:chExt cx="1909" cy="1587"/>
          </a:xfrm>
        </p:grpSpPr>
        <p:graphicFrame>
          <p:nvGraphicFramePr>
            <p:cNvPr id="76812" name="Object 22">
              <a:extLst>
                <a:ext uri="{FF2B5EF4-FFF2-40B4-BE49-F238E27FC236}">
                  <a16:creationId xmlns:a16="http://schemas.microsoft.com/office/drawing/2014/main" id="{2DB4CB54-9137-B6E2-5F25-A2EA4D69CF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2" y="2523"/>
            <a:ext cx="120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763560" imgH="302400" progId="Equation.DSMT4">
                    <p:embed/>
                  </p:oleObj>
                </mc:Choice>
                <mc:Fallback>
                  <p:oleObj r:id="rId7" imgW="763560" imgH="302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2" y="2523"/>
                          <a:ext cx="120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6813" name="Group 23">
              <a:extLst>
                <a:ext uri="{FF2B5EF4-FFF2-40B4-BE49-F238E27FC236}">
                  <a16:creationId xmlns:a16="http://schemas.microsoft.com/office/drawing/2014/main" id="{C42419E3-5D71-6CC5-ABD3-43022EFD13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" y="2704"/>
              <a:ext cx="1909" cy="1406"/>
              <a:chOff x="2173" y="2704"/>
              <a:chExt cx="1909" cy="1406"/>
            </a:xfrm>
          </p:grpSpPr>
          <p:graphicFrame>
            <p:nvGraphicFramePr>
              <p:cNvPr id="76814" name="Object 24">
                <a:extLst>
                  <a:ext uri="{FF2B5EF4-FFF2-40B4-BE49-F238E27FC236}">
                    <a16:creationId xmlns:a16="http://schemas.microsoft.com/office/drawing/2014/main" id="{75582D9A-AB60-1016-8380-5101682DD40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0" y="3038"/>
              <a:ext cx="1184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752760" imgH="302400" progId="Equation.DSMT4">
                      <p:embed/>
                    </p:oleObj>
                  </mc:Choice>
                  <mc:Fallback>
                    <p:oleObj r:id="rId9" imgW="752760" imgH="3024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0" y="3038"/>
                            <a:ext cx="1184" cy="5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15" name="Object 25">
                <a:extLst>
                  <a:ext uri="{FF2B5EF4-FFF2-40B4-BE49-F238E27FC236}">
                    <a16:creationId xmlns:a16="http://schemas.microsoft.com/office/drawing/2014/main" id="{4DAD16AB-29D0-C4D2-E973-9CB72E3D4C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2" y="3582"/>
              <a:ext cx="1200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763560" imgH="302400" progId="Equation.DSMT4">
                      <p:embed/>
                    </p:oleObj>
                  </mc:Choice>
                  <mc:Fallback>
                    <p:oleObj r:id="rId11" imgW="763560" imgH="3024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2" y="3582"/>
                            <a:ext cx="1200" cy="5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816" name="AutoShape 26">
                <a:extLst>
                  <a:ext uri="{FF2B5EF4-FFF2-40B4-BE49-F238E27FC236}">
                    <a16:creationId xmlns:a16="http://schemas.microsoft.com/office/drawing/2014/main" id="{456E4F88-2DD3-34EE-B0F7-4D469863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" y="3191"/>
                <a:ext cx="480" cy="194"/>
              </a:xfrm>
              <a:prstGeom prst="rightArrow">
                <a:avLst>
                  <a:gd name="adj1" fmla="val 50000"/>
                  <a:gd name="adj2" fmla="val 61833"/>
                </a:avLst>
              </a:prstGeom>
              <a:solidFill>
                <a:srgbClr val="FFCC99"/>
              </a:solidFill>
              <a:ln w="25400">
                <a:solidFill>
                  <a:srgbClr val="8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graphicFrame>
            <p:nvGraphicFramePr>
              <p:cNvPr id="76817" name="Object 27">
                <a:extLst>
                  <a:ext uri="{FF2B5EF4-FFF2-40B4-BE49-F238E27FC236}">
                    <a16:creationId xmlns:a16="http://schemas.microsoft.com/office/drawing/2014/main" id="{80EC489A-037F-2A27-D217-D5D2E1AFB6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53" y="2704"/>
              <a:ext cx="316" cy="1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104400" imgH="555480" progId="Equation.DSMT4">
                      <p:embed/>
                    </p:oleObj>
                  </mc:Choice>
                  <mc:Fallback>
                    <p:oleObj r:id="rId13" imgW="104400" imgH="55548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53" y="2704"/>
                            <a:ext cx="316" cy="1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78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78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7" grpId="0"/>
      <p:bldP spid="781318" grpId="0"/>
      <p:bldP spid="7813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77629a7-8530-4f4f-8193-4405e7030d9b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395</Words>
  <Application>Microsoft Office PowerPoint</Application>
  <PresentationFormat>全屏显示(4:3)</PresentationFormat>
  <Paragraphs>69</Paragraphs>
  <Slides>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隶书</vt:lpstr>
      <vt:lpstr>宋体</vt:lpstr>
      <vt:lpstr>幼圆</vt:lpstr>
      <vt:lpstr>Arial</vt:lpstr>
      <vt:lpstr>Garamond</vt:lpstr>
      <vt:lpstr>Symbol</vt:lpstr>
      <vt:lpstr>Times New Roman</vt:lpstr>
      <vt:lpstr>Verdana</vt:lpstr>
      <vt:lpstr>Wingdings</vt:lpstr>
      <vt:lpstr>1_默认设计模板</vt:lpstr>
      <vt:lpstr>Equation.DSMT4</vt:lpstr>
      <vt:lpstr>Equation.3</vt:lpstr>
      <vt:lpstr>5.3  色散与群速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691</cp:revision>
  <dcterms:created xsi:type="dcterms:W3CDTF">2004-02-10T07:06:32Z</dcterms:created>
  <dcterms:modified xsi:type="dcterms:W3CDTF">2025-11-09T10:50:31Z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DC167FB416A642D88F043A07209B5944</vt:lpwstr>
  </property>
  <property fmtid="{D5CDD505-2E9C-101B-9397-08002B2CF9AE}" pid="3" name="KSOProductBuildVer">
    <vt:lpwstr>2052-11.1.0.13703</vt:lpwstr>
  </property>
</Properties>
</file>