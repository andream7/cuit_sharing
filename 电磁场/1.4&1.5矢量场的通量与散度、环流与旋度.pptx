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341" r:id="rId2"/>
    <p:sldId id="343" r:id="rId3"/>
    <p:sldId id="347" r:id="rId4"/>
    <p:sldId id="609" r:id="rId5"/>
    <p:sldId id="610" r:id="rId6"/>
    <p:sldId id="604" r:id="rId7"/>
    <p:sldId id="348" r:id="rId8"/>
    <p:sldId id="497" r:id="rId9"/>
    <p:sldId id="611" r:id="rId10"/>
    <p:sldId id="760" r:id="rId11"/>
    <p:sldId id="761" r:id="rId12"/>
    <p:sldId id="349" r:id="rId13"/>
    <p:sldId id="599" r:id="rId14"/>
    <p:sldId id="612" r:id="rId15"/>
    <p:sldId id="618" r:id="rId16"/>
    <p:sldId id="632" r:id="rId17"/>
    <p:sldId id="352" r:id="rId18"/>
    <p:sldId id="354" r:id="rId19"/>
    <p:sldId id="600" r:id="rId20"/>
    <p:sldId id="356" r:id="rId21"/>
    <p:sldId id="502" r:id="rId22"/>
    <p:sldId id="800" r:id="rId23"/>
    <p:sldId id="500" r:id="rId24"/>
    <p:sldId id="798" r:id="rId25"/>
    <p:sldId id="616" r:id="rId26"/>
    <p:sldId id="613" r:id="rId27"/>
    <p:sldId id="358" r:id="rId28"/>
    <p:sldId id="602" r:id="rId29"/>
    <p:sldId id="615" r:id="rId30"/>
    <p:sldId id="619" r:id="rId31"/>
    <p:sldId id="633" r:id="rId32"/>
  </p:sldIdLst>
  <p:sldSz cx="9144000" cy="6858000" type="screen4x3"/>
  <p:notesSz cx="6858000" cy="9144000"/>
  <p:custDataLst>
    <p:tags r:id="rId35"/>
  </p:custDataLst>
  <p:defaultTextStyle>
    <a:defPPr>
      <a:defRPr lang="zh-CN"/>
    </a:defPPr>
    <a:lvl1pPr marL="0" lvl="0"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9900"/>
    <a:srgbClr val="CC3399"/>
    <a:srgbClr val="FF81C0"/>
    <a:srgbClr val="3333FF"/>
    <a:srgbClr val="0000CC"/>
    <a:srgbClr val="89C4FF"/>
    <a:srgbClr val="EA162F"/>
    <a:srgbClr val="DBF1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35"/>
    <p:restoredTop sz="94843" autoAdjust="0"/>
  </p:normalViewPr>
  <p:slideViewPr>
    <p:cSldViewPr showGuides="1">
      <p:cViewPr varScale="1">
        <p:scale>
          <a:sx n="80" d="100"/>
          <a:sy n="80" d="100"/>
        </p:scale>
        <p:origin x="796" y="60"/>
      </p:cViewPr>
      <p:guideLst>
        <p:guide orient="horz" pos="2160"/>
        <p:guide pos="28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0"/>
              </a:spcBef>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第一课</a:t>
            </a:r>
          </a:p>
        </p:txBody>
      </p:sp>
      <p:sp>
        <p:nvSpPr>
          <p:cNvPr id="15360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defRPr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387F90C-EEAD-4CC9-B85E-7D3C9C0A8C22}" type="datetime1">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2025/10/28</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0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spcBef>
                <a:spcPct val="0"/>
              </a:spcBef>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第一课</a:t>
            </a:r>
          </a:p>
        </p:txBody>
      </p:sp>
      <p:sp>
        <p:nvSpPr>
          <p:cNvPr id="15360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fontAlgn="base" hangingPunct="1">
              <a:spcBef>
                <a:spcPct val="0"/>
              </a:spcBef>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t>‹#›</a:t>
            </a:fld>
            <a:endParaRPr lang="en-US" altLang="zh-CN" sz="1200" b="0" strike="noStrike" noProof="1">
              <a:ea typeface="宋体" panose="02010600030101010101"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0"/>
              </a:spcBef>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第一课</a:t>
            </a:r>
          </a:p>
        </p:txBody>
      </p:sp>
      <p:sp>
        <p:nvSpPr>
          <p:cNvPr id="1556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defRPr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E43813E-55CE-4019-8926-09544A796D2A}" type="datetime1">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2025/10/28</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556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1556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spcBef>
                <a:spcPct val="0"/>
              </a:spcBef>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第一课</a:t>
            </a:r>
          </a:p>
        </p:txBody>
      </p:sp>
      <p:sp>
        <p:nvSpPr>
          <p:cNvPr id="1556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fontAlgn="base" hangingPunct="1">
              <a:spcBef>
                <a:spcPct val="0"/>
              </a:spcBef>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t>‹#›</a:t>
            </a:fld>
            <a:endParaRPr lang="en-US" altLang="zh-CN" sz="1200" b="0" strike="noStrike" noProof="1">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69634"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69635"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69636"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a:t>
            </a:fld>
            <a:endParaRPr lang="en-US" altLang="zh-CN" dirty="0"/>
          </a:p>
        </p:txBody>
      </p:sp>
      <p:sp>
        <p:nvSpPr>
          <p:cNvPr id="69637" name="Rectangle 2"/>
          <p:cNvSpPr>
            <a:spLocks noGrp="1" noRot="1" noChangeAspect="1" noTextEdit="1"/>
          </p:cNvSpPr>
          <p:nvPr>
            <p:ph type="sldImg"/>
          </p:nvPr>
        </p:nvSpPr>
        <p:spPr/>
      </p:sp>
      <p:sp>
        <p:nvSpPr>
          <p:cNvPr id="69638"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71682"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71683"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71684"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a:t>
            </a:fld>
            <a:endParaRPr lang="en-US" altLang="zh-CN" dirty="0"/>
          </a:p>
        </p:txBody>
      </p:sp>
      <p:sp>
        <p:nvSpPr>
          <p:cNvPr id="71685" name="Rectangle 2"/>
          <p:cNvSpPr>
            <a:spLocks noGrp="1" noRot="1" noChangeAspect="1" noTextEdit="1"/>
          </p:cNvSpPr>
          <p:nvPr>
            <p:ph type="sldImg"/>
          </p:nvPr>
        </p:nvSpPr>
        <p:spPr/>
      </p:sp>
      <p:sp>
        <p:nvSpPr>
          <p:cNvPr id="71686" name="Rectangle 3"/>
          <p:cNvSpPr>
            <a:spLocks noGrp="1"/>
          </p:cNvSpPr>
          <p:nvPr>
            <p:ph type="body"/>
          </p:nvPr>
        </p:nvSpPr>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73730"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73731"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73732"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3</a:t>
            </a:fld>
            <a:endParaRPr lang="en-US" altLang="zh-CN" dirty="0"/>
          </a:p>
        </p:txBody>
      </p:sp>
      <p:sp>
        <p:nvSpPr>
          <p:cNvPr id="73733" name="Rectangle 2"/>
          <p:cNvSpPr>
            <a:spLocks noGrp="1" noRot="1" noChangeAspect="1" noTextEdit="1"/>
          </p:cNvSpPr>
          <p:nvPr>
            <p:ph type="sldImg"/>
          </p:nvPr>
        </p:nvSpPr>
        <p:spPr/>
      </p:sp>
      <p:sp>
        <p:nvSpPr>
          <p:cNvPr id="73734"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75778"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75779"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75780"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4</a:t>
            </a:fld>
            <a:endParaRPr lang="en-US" altLang="zh-CN" dirty="0"/>
          </a:p>
        </p:txBody>
      </p:sp>
      <p:sp>
        <p:nvSpPr>
          <p:cNvPr id="75781" name="Rectangle 2"/>
          <p:cNvSpPr>
            <a:spLocks noGrp="1" noRot="1" noChangeAspect="1" noTextEdit="1"/>
          </p:cNvSpPr>
          <p:nvPr>
            <p:ph type="sldImg"/>
          </p:nvPr>
        </p:nvSpPr>
        <p:spPr/>
      </p:sp>
      <p:sp>
        <p:nvSpPr>
          <p:cNvPr id="7578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77826"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77827"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77828"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5</a:t>
            </a:fld>
            <a:endParaRPr lang="en-US" altLang="zh-CN" dirty="0"/>
          </a:p>
        </p:txBody>
      </p:sp>
      <p:sp>
        <p:nvSpPr>
          <p:cNvPr id="77829" name="Rectangle 2"/>
          <p:cNvSpPr>
            <a:spLocks noGrp="1" noRot="1" noChangeAspect="1" noTextEdit="1"/>
          </p:cNvSpPr>
          <p:nvPr>
            <p:ph type="sldImg"/>
          </p:nvPr>
        </p:nvSpPr>
        <p:spPr/>
      </p:sp>
      <p:sp>
        <p:nvSpPr>
          <p:cNvPr id="7783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79874"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79875"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79876"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6</a:t>
            </a:fld>
            <a:endParaRPr lang="en-US" altLang="zh-CN" dirty="0"/>
          </a:p>
        </p:txBody>
      </p:sp>
      <p:sp>
        <p:nvSpPr>
          <p:cNvPr id="79877" name="Rectangle 2"/>
          <p:cNvSpPr>
            <a:spLocks noGrp="1" noRot="1" noChangeAspect="1" noTextEdit="1"/>
          </p:cNvSpPr>
          <p:nvPr>
            <p:ph type="sldImg"/>
          </p:nvPr>
        </p:nvSpPr>
        <p:spPr/>
      </p:sp>
      <p:sp>
        <p:nvSpPr>
          <p:cNvPr id="7987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81922"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81923"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81924"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7</a:t>
            </a:fld>
            <a:endParaRPr lang="en-US" altLang="zh-CN" dirty="0"/>
          </a:p>
        </p:txBody>
      </p:sp>
      <p:sp>
        <p:nvSpPr>
          <p:cNvPr id="81925" name="Rectangle 2"/>
          <p:cNvSpPr>
            <a:spLocks noGrp="1" noRot="1" noChangeAspect="1" noTextEdit="1"/>
          </p:cNvSpPr>
          <p:nvPr>
            <p:ph type="sldImg"/>
          </p:nvPr>
        </p:nvSpPr>
        <p:spPr/>
      </p:sp>
      <p:sp>
        <p:nvSpPr>
          <p:cNvPr id="81926" name="Rectangle 3"/>
          <p:cNvSpPr>
            <a:spLocks noGrp="1"/>
          </p:cNvSpPr>
          <p:nvPr>
            <p:ph type="body"/>
          </p:nvPr>
        </p:nvSpPr>
        <p:spPr/>
        <p:txBody>
          <a:bodyPr wrap="square" lIns="91440" tIns="45720" rIns="91440" bIns="45720" anchor="t" anchorCtr="0"/>
          <a:lstStyle/>
          <a:p>
            <a:pPr lvl="0" eaLnBrk="1" hangingPunct="1"/>
            <a:endParaRPr lang="en-US" altLang="zh-CN" b="1" dirty="0">
              <a:solidFill>
                <a:schemeClr val="bg1"/>
              </a:solidFill>
              <a:latin typeface="黑体" panose="02010609060101010101" pitchFamily="49" charset="-122"/>
              <a:ea typeface="黑体" panose="02010609060101010101" pitchFamily="49"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83970"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83971"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83972"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8</a:t>
            </a:fld>
            <a:endParaRPr lang="en-US" altLang="zh-CN" dirty="0"/>
          </a:p>
        </p:txBody>
      </p:sp>
      <p:sp>
        <p:nvSpPr>
          <p:cNvPr id="83973" name="Rectangle 2"/>
          <p:cNvSpPr>
            <a:spLocks noGrp="1" noRot="1" noChangeAspect="1" noTextEdit="1"/>
          </p:cNvSpPr>
          <p:nvPr>
            <p:ph type="sldImg"/>
          </p:nvPr>
        </p:nvSpPr>
        <p:spPr/>
      </p:sp>
      <p:sp>
        <p:nvSpPr>
          <p:cNvPr id="8397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86018"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86019"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86020"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9</a:t>
            </a:fld>
            <a:endParaRPr lang="en-US" altLang="zh-CN" dirty="0"/>
          </a:p>
        </p:txBody>
      </p:sp>
      <p:sp>
        <p:nvSpPr>
          <p:cNvPr id="86021" name="Rectangle 2"/>
          <p:cNvSpPr>
            <a:spLocks noGrp="1" noRot="1" noChangeAspect="1" noTextEdit="1"/>
          </p:cNvSpPr>
          <p:nvPr>
            <p:ph type="sldImg"/>
          </p:nvPr>
        </p:nvSpPr>
        <p:spPr/>
      </p:sp>
      <p:sp>
        <p:nvSpPr>
          <p:cNvPr id="86022" name="Rectangle 3"/>
          <p:cNvSpPr>
            <a:spLocks noGrp="1"/>
          </p:cNvSpPr>
          <p:nvPr>
            <p:ph type="body"/>
          </p:nvPr>
        </p:nvSpPr>
        <p:spPr/>
        <p:txBody>
          <a:bodyPr wrap="square" lIns="91440" tIns="45720" rIns="91440" bIns="45720" anchor="t" anchorCtr="0"/>
          <a:lstStyle/>
          <a:p>
            <a:pPr lvl="0" eaLnBrk="1" hangingPunct="1"/>
            <a:endParaRPr lang="zh-CN" altLang="en-US" dirty="0">
              <a:solidFill>
                <a:schemeClr val="bg1"/>
              </a:solidFill>
              <a:latin typeface="宋体" panose="02010600030101010101" pitchFamily="2" charset="-122"/>
              <a:ea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TextEdit="1"/>
          </p:cNvSpPr>
          <p:nvPr>
            <p:ph type="sldImg"/>
          </p:nvPr>
        </p:nvSpPr>
        <p:spPr/>
      </p:sp>
      <p:sp>
        <p:nvSpPr>
          <p:cNvPr id="119811" name="Rectangle 3"/>
          <p:cNvSpPr>
            <a:spLocks noGrp="1"/>
          </p:cNvSpPr>
          <p:nvPr>
            <p:ph type="body" idx="1"/>
          </p:nvPr>
        </p:nvSpPr>
        <p:spPr/>
        <p:txBody>
          <a:bodyPr wrap="square" lIns="91440" tIns="45720" rIns="91440" bIns="45720" anchor="t" anchorCtr="0"/>
          <a:lstStyle/>
          <a:p>
            <a:pPr lvl="0"/>
            <a:r>
              <a:rPr lang="zh-CN" altLang="en-US" dirty="0"/>
              <a:t>复合函数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TextEdit="1"/>
          </p:cNvSpPr>
          <p:nvPr>
            <p:ph type="sldImg"/>
          </p:nvPr>
        </p:nvSpPr>
        <p:spPr/>
      </p:sp>
      <p:sp>
        <p:nvSpPr>
          <p:cNvPr id="120835" name="Rectangle 3"/>
          <p:cNvSpPr>
            <a:spLocks noGrp="1"/>
          </p:cNvSpPr>
          <p:nvPr>
            <p:ph type="body" idx="1"/>
          </p:nvPr>
        </p:nvSpPr>
        <p:spPr/>
        <p:txBody>
          <a:bodyPr wrap="square" lIns="91440" tIns="45720" rIns="91440" bIns="45720" anchor="t" anchorCtr="0"/>
          <a:lstStyle/>
          <a:p>
            <a:pPr lvl="0"/>
            <a:r>
              <a:rPr lang="zh-CN" altLang="en-US" dirty="0"/>
              <a:t>复合函数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88066"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88067"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88068"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12</a:t>
            </a:fld>
            <a:endParaRPr lang="en-US" altLang="zh-CN" dirty="0"/>
          </a:p>
        </p:txBody>
      </p:sp>
      <p:sp>
        <p:nvSpPr>
          <p:cNvPr id="88069" name="Rectangle 2"/>
          <p:cNvSpPr>
            <a:spLocks noGrp="1" noRot="1" noChangeAspect="1" noTextEdit="1"/>
          </p:cNvSpPr>
          <p:nvPr>
            <p:ph type="sldImg"/>
          </p:nvPr>
        </p:nvSpPr>
        <p:spPr/>
      </p:sp>
      <p:sp>
        <p:nvSpPr>
          <p:cNvPr id="88070" name="Rectangle 3"/>
          <p:cNvSpPr>
            <a:spLocks noGrp="1"/>
          </p:cNvSpPr>
          <p:nvPr>
            <p:ph type="body"/>
          </p:nvPr>
        </p:nvSpPr>
        <p:spPr/>
        <p:txBody>
          <a:bodyPr wrap="square" lIns="91440" tIns="45720" rIns="91440" bIns="45720" anchor="t" anchorCtr="0"/>
          <a:lstStyle/>
          <a:p>
            <a:pPr lvl="0" eaLnBrk="1" hangingPunct="1"/>
            <a:endParaRPr lang="en-US" altLang="zh-CN"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90114"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90115"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90116"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13</a:t>
            </a:fld>
            <a:endParaRPr lang="en-US" altLang="zh-CN" dirty="0"/>
          </a:p>
        </p:txBody>
      </p:sp>
      <p:sp>
        <p:nvSpPr>
          <p:cNvPr id="90117" name="Rectangle 2"/>
          <p:cNvSpPr>
            <a:spLocks noGrp="1" noRot="1" noChangeAspect="1" noTextEdit="1"/>
          </p:cNvSpPr>
          <p:nvPr>
            <p:ph type="sldImg"/>
          </p:nvPr>
        </p:nvSpPr>
        <p:spPr/>
      </p:sp>
      <p:sp>
        <p:nvSpPr>
          <p:cNvPr id="90118"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92162"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92163"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92164"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14</a:t>
            </a:fld>
            <a:endParaRPr lang="en-US" altLang="zh-CN" dirty="0"/>
          </a:p>
        </p:txBody>
      </p:sp>
      <p:sp>
        <p:nvSpPr>
          <p:cNvPr id="92165" name="Rectangle 2"/>
          <p:cNvSpPr>
            <a:spLocks noGrp="1" noRot="1" noChangeAspect="1" noTextEdit="1"/>
          </p:cNvSpPr>
          <p:nvPr>
            <p:ph type="sldImg"/>
          </p:nvPr>
        </p:nvSpPr>
        <p:spPr/>
      </p:sp>
      <p:sp>
        <p:nvSpPr>
          <p:cNvPr id="9216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94210"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94211"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94212"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15</a:t>
            </a:fld>
            <a:endParaRPr lang="en-US" altLang="zh-CN" dirty="0"/>
          </a:p>
        </p:txBody>
      </p:sp>
      <p:sp>
        <p:nvSpPr>
          <p:cNvPr id="94213" name="Rectangle 2"/>
          <p:cNvSpPr>
            <a:spLocks noGrp="1" noRot="1" noChangeAspect="1" noTextEdit="1"/>
          </p:cNvSpPr>
          <p:nvPr>
            <p:ph type="sldImg"/>
          </p:nvPr>
        </p:nvSpPr>
        <p:spPr/>
      </p:sp>
      <p:sp>
        <p:nvSpPr>
          <p:cNvPr id="9421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97282"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97283"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97284"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17</a:t>
            </a:fld>
            <a:endParaRPr lang="en-US" altLang="zh-CN" dirty="0"/>
          </a:p>
        </p:txBody>
      </p:sp>
      <p:sp>
        <p:nvSpPr>
          <p:cNvPr id="97285" name="Rectangle 2"/>
          <p:cNvSpPr>
            <a:spLocks noGrp="1" noRot="1" noChangeAspect="1" noTextEdit="1"/>
          </p:cNvSpPr>
          <p:nvPr>
            <p:ph type="sldImg"/>
          </p:nvPr>
        </p:nvSpPr>
        <p:spPr/>
      </p:sp>
      <p:sp>
        <p:nvSpPr>
          <p:cNvPr id="97286" name="Rectangle 3"/>
          <p:cNvSpPr>
            <a:spLocks noGrp="1"/>
          </p:cNvSpPr>
          <p:nvPr>
            <p:ph type="body"/>
          </p:nvPr>
        </p:nvSpPr>
        <p:spPr/>
        <p:txBody>
          <a:bodyPr wrap="square" lIns="91440" tIns="45720" rIns="91440" bIns="45720" anchor="t" anchorCtr="0"/>
          <a:lstStyle/>
          <a:p>
            <a:pPr lvl="0" eaLnBrk="1" hangingPunct="1"/>
            <a:endParaRPr lang="zh-CN" altLang="en-US" u="sng"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99330"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99331"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99332"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18</a:t>
            </a:fld>
            <a:endParaRPr lang="en-US" altLang="zh-CN" dirty="0"/>
          </a:p>
        </p:txBody>
      </p:sp>
      <p:sp>
        <p:nvSpPr>
          <p:cNvPr id="99333" name="Rectangle 2"/>
          <p:cNvSpPr>
            <a:spLocks noGrp="1" noRot="1" noChangeAspect="1" noTextEdit="1"/>
          </p:cNvSpPr>
          <p:nvPr>
            <p:ph type="sldImg"/>
          </p:nvPr>
        </p:nvSpPr>
        <p:spPr/>
      </p:sp>
      <p:sp>
        <p:nvSpPr>
          <p:cNvPr id="99334"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01378"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01379"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01380"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19</a:t>
            </a:fld>
            <a:endParaRPr lang="en-US" altLang="zh-CN" dirty="0"/>
          </a:p>
        </p:txBody>
      </p:sp>
      <p:sp>
        <p:nvSpPr>
          <p:cNvPr id="101381" name="Rectangle 2"/>
          <p:cNvSpPr>
            <a:spLocks noGrp="1" noRot="1" noChangeAspect="1" noTextEdit="1"/>
          </p:cNvSpPr>
          <p:nvPr>
            <p:ph type="sldImg"/>
          </p:nvPr>
        </p:nvSpPr>
        <p:spPr/>
      </p:sp>
      <p:sp>
        <p:nvSpPr>
          <p:cNvPr id="10138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03426"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03427"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03428"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20</a:t>
            </a:fld>
            <a:endParaRPr lang="en-US" altLang="zh-CN" dirty="0"/>
          </a:p>
        </p:txBody>
      </p:sp>
      <p:sp>
        <p:nvSpPr>
          <p:cNvPr id="103429" name="Rectangle 2"/>
          <p:cNvSpPr>
            <a:spLocks noGrp="1" noRot="1" noChangeAspect="1" noTextEdit="1"/>
          </p:cNvSpPr>
          <p:nvPr>
            <p:ph type="sldImg"/>
          </p:nvPr>
        </p:nvSpPr>
        <p:spPr/>
      </p:sp>
      <p:sp>
        <p:nvSpPr>
          <p:cNvPr id="103430" name="Rectangle 3"/>
          <p:cNvSpPr>
            <a:spLocks noGrp="1"/>
          </p:cNvSpPr>
          <p:nvPr>
            <p:ph type="body"/>
          </p:nvPr>
        </p:nvSpPr>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06498"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06499"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06500"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23</a:t>
            </a:fld>
            <a:endParaRPr lang="en-US" altLang="zh-CN" dirty="0"/>
          </a:p>
        </p:txBody>
      </p:sp>
      <p:sp>
        <p:nvSpPr>
          <p:cNvPr id="106501" name="Rectangle 2"/>
          <p:cNvSpPr>
            <a:spLocks noGrp="1" noRot="1" noChangeAspect="1" noTextEdit="1"/>
          </p:cNvSpPr>
          <p:nvPr>
            <p:ph type="sldImg"/>
          </p:nvPr>
        </p:nvSpPr>
        <p:spPr/>
      </p:sp>
      <p:sp>
        <p:nvSpPr>
          <p:cNvPr id="106502"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06498"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06499"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06500"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24</a:t>
            </a:fld>
            <a:endParaRPr lang="en-US" altLang="zh-CN" dirty="0"/>
          </a:p>
        </p:txBody>
      </p:sp>
      <p:sp>
        <p:nvSpPr>
          <p:cNvPr id="106501" name="Rectangle 2"/>
          <p:cNvSpPr>
            <a:spLocks noGrp="1" noRot="1" noChangeAspect="1" noTextEdit="1"/>
          </p:cNvSpPr>
          <p:nvPr>
            <p:ph type="sldImg"/>
          </p:nvPr>
        </p:nvSpPr>
        <p:spPr/>
      </p:sp>
      <p:sp>
        <p:nvSpPr>
          <p:cNvPr id="106502"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08546"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08547"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08548"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25</a:t>
            </a:fld>
            <a:endParaRPr lang="en-US" altLang="zh-CN" dirty="0"/>
          </a:p>
        </p:txBody>
      </p:sp>
      <p:sp>
        <p:nvSpPr>
          <p:cNvPr id="108549" name="Rectangle 2"/>
          <p:cNvSpPr>
            <a:spLocks noGrp="1" noRot="1" noChangeAspect="1" noTextEdit="1"/>
          </p:cNvSpPr>
          <p:nvPr>
            <p:ph type="sldImg"/>
          </p:nvPr>
        </p:nvSpPr>
        <p:spPr/>
      </p:sp>
      <p:sp>
        <p:nvSpPr>
          <p:cNvPr id="108550" name="Rectangle 3"/>
          <p:cNvSpPr>
            <a:spLocks noGrp="1"/>
          </p:cNvSpPr>
          <p:nvPr>
            <p:ph type="body"/>
          </p:nvPr>
        </p:nvSpPr>
        <p:spPr/>
        <p:txBody>
          <a:bodyPr wrap="square" lIns="91440" tIns="45720" rIns="91440" bIns="45720" anchor="t" anchorCtr="0"/>
          <a:lstStyle/>
          <a:p>
            <a:pPr lvl="0" eaLnBrk="1" hangingPunct="1"/>
            <a:endParaRPr lang="zh-CN" altLang="en-US" dirty="0">
              <a:solidFill>
                <a:schemeClr val="bg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10594"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10595"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10596"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26</a:t>
            </a:fld>
            <a:endParaRPr lang="en-US" altLang="zh-CN" dirty="0"/>
          </a:p>
        </p:txBody>
      </p:sp>
      <p:sp>
        <p:nvSpPr>
          <p:cNvPr id="110597" name="Rectangle 2"/>
          <p:cNvSpPr>
            <a:spLocks noGrp="1" noRot="1" noChangeAspect="1" noTextEdit="1"/>
          </p:cNvSpPr>
          <p:nvPr>
            <p:ph type="sldImg"/>
          </p:nvPr>
        </p:nvSpPr>
        <p:spPr/>
      </p:sp>
      <p:sp>
        <p:nvSpPr>
          <p:cNvPr id="11059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12642"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12643"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12644"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27</a:t>
            </a:fld>
            <a:endParaRPr lang="en-US" altLang="zh-CN" dirty="0"/>
          </a:p>
        </p:txBody>
      </p:sp>
      <p:sp>
        <p:nvSpPr>
          <p:cNvPr id="112645" name="Rectangle 2"/>
          <p:cNvSpPr>
            <a:spLocks noGrp="1" noRot="1" noChangeAspect="1" noTextEdit="1"/>
          </p:cNvSpPr>
          <p:nvPr>
            <p:ph type="sldImg"/>
          </p:nvPr>
        </p:nvSpPr>
        <p:spPr/>
      </p:sp>
      <p:sp>
        <p:nvSpPr>
          <p:cNvPr id="112646" name="Rectangle 3"/>
          <p:cNvSpPr>
            <a:spLocks noGrp="1"/>
          </p:cNvSpPr>
          <p:nvPr>
            <p:ph type="body"/>
          </p:nvPr>
        </p:nvSpPr>
        <p:spPr/>
        <p:txBody>
          <a:bodyPr wrap="square" lIns="91440" tIns="45720" rIns="91440" bIns="45720" anchor="t" anchorCtr="0"/>
          <a:lstStyle/>
          <a:p>
            <a:pPr lvl="0" eaLnBrk="1" hangingPunct="1"/>
            <a:endParaRPr lang="zh-CN" altLang="en-US"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14690"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14691"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14692"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28</a:t>
            </a:fld>
            <a:endParaRPr lang="en-US" altLang="zh-CN" dirty="0"/>
          </a:p>
        </p:txBody>
      </p:sp>
      <p:sp>
        <p:nvSpPr>
          <p:cNvPr id="114693" name="Rectangle 2"/>
          <p:cNvSpPr>
            <a:spLocks noGrp="1" noRot="1" noChangeAspect="1" noTextEdit="1"/>
          </p:cNvSpPr>
          <p:nvPr>
            <p:ph type="sldImg"/>
          </p:nvPr>
        </p:nvSpPr>
        <p:spPr/>
      </p:sp>
      <p:sp>
        <p:nvSpPr>
          <p:cNvPr id="114694" name="Rectangle 3"/>
          <p:cNvSpPr>
            <a:spLocks noGrp="1"/>
          </p:cNvSpPr>
          <p:nvPr>
            <p:ph type="body"/>
          </p:nvPr>
        </p:nvSpPr>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16738"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16739"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16740"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29</a:t>
            </a:fld>
            <a:endParaRPr lang="en-US" altLang="zh-CN" dirty="0"/>
          </a:p>
        </p:txBody>
      </p:sp>
      <p:sp>
        <p:nvSpPr>
          <p:cNvPr id="116741" name="Rectangle 2"/>
          <p:cNvSpPr>
            <a:spLocks noGrp="1" noRot="1" noChangeAspect="1" noTextEdit="1"/>
          </p:cNvSpPr>
          <p:nvPr>
            <p:ph type="sldImg"/>
          </p:nvPr>
        </p:nvSpPr>
        <p:spPr/>
      </p:sp>
      <p:sp>
        <p:nvSpPr>
          <p:cNvPr id="116742" name="Rectangle 3"/>
          <p:cNvSpPr>
            <a:spLocks noGrp="1"/>
          </p:cNvSpPr>
          <p:nvPr>
            <p:ph type="body"/>
          </p:nvPr>
        </p:nvSpPr>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txBox="1">
            <a:spLocks noGrp="1"/>
          </p:cNvSpPr>
          <p:nvPr>
            <p:ph type="hdr" sz="quarter"/>
          </p:nvPr>
        </p:nvSpPr>
        <p:spPr>
          <a:xfrm>
            <a:off x="0" y="0"/>
            <a:ext cx="2971800" cy="457200"/>
          </a:xfrm>
          <a:prstGeom prst="rect">
            <a:avLst/>
          </a:prstGeom>
          <a:noFill/>
          <a:ln w="9525">
            <a:noFill/>
          </a:ln>
        </p:spPr>
        <p:txBody>
          <a:bodyPr vert="horz" wrap="square" lIns="91440" tIns="45720" rIns="91440" bIns="45720" anchor="t" anchorCtr="0"/>
          <a:lstStyle/>
          <a:p>
            <a:pPr lvl="0">
              <a:spcBef>
                <a:spcPct val="0"/>
              </a:spcBef>
            </a:pPr>
            <a:r>
              <a:rPr lang="en-US" altLang="zh-CN" sz="1200" b="0" dirty="0"/>
              <a:t>第一课</a:t>
            </a:r>
          </a:p>
        </p:txBody>
      </p:sp>
      <p:sp>
        <p:nvSpPr>
          <p:cNvPr id="118786" name="Rectangle 3"/>
          <p:cNvSpPr txBox="1">
            <a:spLocks noGrp="1"/>
          </p:cNvSpPr>
          <p:nvPr>
            <p:ph type="dt" sz="half"/>
          </p:nvPr>
        </p:nvSpPr>
        <p:spPr>
          <a:xfrm>
            <a:off x="3886200" y="0"/>
            <a:ext cx="2971800" cy="457200"/>
          </a:xfrm>
          <a:prstGeom prst="rect">
            <a:avLst/>
          </a:prstGeom>
          <a:noFill/>
          <a:ln w="9525">
            <a:noFill/>
          </a:ln>
        </p:spPr>
        <p:txBody>
          <a:bodyPr vert="horz" wrap="square" lIns="91440" tIns="45720" rIns="91440" bIns="45720" anchor="t" anchorCtr="0"/>
          <a:lstStyle/>
          <a:p>
            <a:pPr lvl="0" algn="r">
              <a:spcBef>
                <a:spcPct val="0"/>
              </a:spcBef>
            </a:pPr>
            <a:fld id="{BB962C8B-B14F-4D97-AF65-F5344CB8AC3E}" type="datetime1">
              <a:rPr lang="zh-CN" altLang="en-US" sz="1200" b="0" dirty="0">
                <a:ea typeface="宋体" panose="02010600030101010101" pitchFamily="2" charset="-122"/>
              </a:rPr>
              <a:t>2025/10/28</a:t>
            </a:fld>
            <a:endParaRPr lang="zh-CN" altLang="en-US" sz="1200" b="0" dirty="0">
              <a:ea typeface="宋体" panose="02010600030101010101" pitchFamily="2" charset="-122"/>
            </a:endParaRPr>
          </a:p>
        </p:txBody>
      </p:sp>
      <p:sp>
        <p:nvSpPr>
          <p:cNvPr id="118787" name="Rectangle 6"/>
          <p:cNvSpPr txBox="1">
            <a:spLocks noGrp="1"/>
          </p:cNvSpPr>
          <p:nvPr>
            <p:ph type="ftr" sz="quarter"/>
          </p:nvPr>
        </p:nvSpPr>
        <p:spPr>
          <a:xfrm>
            <a:off x="0" y="8686800"/>
            <a:ext cx="2971800" cy="457200"/>
          </a:xfrm>
          <a:prstGeom prst="rect">
            <a:avLst/>
          </a:prstGeom>
          <a:noFill/>
          <a:ln w="9525">
            <a:noFill/>
          </a:ln>
        </p:spPr>
        <p:txBody>
          <a:bodyPr vert="horz" wrap="square" lIns="91440" tIns="45720" rIns="91440" bIns="45720" anchor="b" anchorCtr="0"/>
          <a:lstStyle/>
          <a:p>
            <a:pPr lvl="0">
              <a:spcBef>
                <a:spcPct val="0"/>
              </a:spcBef>
            </a:pPr>
            <a:r>
              <a:rPr lang="en-US" altLang="zh-CN" sz="1200" b="0" dirty="0"/>
              <a:t>第一课</a:t>
            </a:r>
          </a:p>
        </p:txBody>
      </p:sp>
      <p:sp>
        <p:nvSpPr>
          <p:cNvPr id="118788"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spcBef>
                <a:spcPct val="0"/>
              </a:spcBef>
            </a:pPr>
            <a:fld id="{9A0DB2DC-4C9A-4742-B13C-FB6460FD3503}" type="slidenum">
              <a:rPr lang="en-US" altLang="zh-CN" dirty="0"/>
              <a:t>30</a:t>
            </a:fld>
            <a:endParaRPr lang="en-US" altLang="zh-CN" dirty="0"/>
          </a:p>
        </p:txBody>
      </p:sp>
      <p:sp>
        <p:nvSpPr>
          <p:cNvPr id="118789" name="Rectangle 2"/>
          <p:cNvSpPr>
            <a:spLocks noGrp="1" noRot="1" noChangeAspect="1" noTextEdit="1"/>
          </p:cNvSpPr>
          <p:nvPr>
            <p:ph type="sldImg"/>
          </p:nvPr>
        </p:nvSpPr>
        <p:spPr/>
      </p:sp>
      <p:sp>
        <p:nvSpPr>
          <p:cNvPr id="11879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hyperlink" Target="&#38543;&#26426;&#28857;&#21517;&#21161;&#25163;.exe"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7"/>
        </a:blipFill>
        <a:effectLst/>
      </p:bgPr>
    </p:bg>
    <p:spTree>
      <p:nvGrpSpPr>
        <p:cNvPr id="1" name=""/>
        <p:cNvGrpSpPr/>
        <p:nvPr/>
      </p:nvGrpSpPr>
      <p:grpSpPr>
        <a:xfrm>
          <a:off x="0" y="0"/>
          <a:ext cx="0" cy="0"/>
          <a:chOff x="0" y="0"/>
          <a:chExt cx="0" cy="0"/>
        </a:xfrm>
      </p:grpSpPr>
      <p:sp>
        <p:nvSpPr>
          <p:cNvPr id="519171" name="Rectangle 3"/>
          <p:cNvSpPr>
            <a:spLocks noChangeArrowheads="1"/>
          </p:cNvSpPr>
          <p:nvPr/>
        </p:nvSpPr>
        <p:spPr bwMode="auto">
          <a:xfrm>
            <a:off x="0" y="404813"/>
            <a:ext cx="9144000" cy="6192838"/>
          </a:xfrm>
          <a:prstGeom prst="rect">
            <a:avLst/>
          </a:prstGeom>
          <a:gradFill rotWithShape="0">
            <a:gsLst>
              <a:gs pos="0">
                <a:srgbClr val="0000E8"/>
              </a:gs>
              <a:gs pos="100000">
                <a:srgbClr val="0000E8">
                  <a:gamma/>
                  <a:shade val="70196"/>
                  <a:invGamma/>
                </a:srgbClr>
              </a:gs>
            </a:gsLst>
            <a:lin ang="0" scaled="1"/>
          </a:gra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20000"/>
              </a:spcBef>
              <a:spcAft>
                <a:spcPct val="0"/>
              </a:spcAft>
              <a:buClrTx/>
              <a:buSzTx/>
              <a:buFontTx/>
              <a:buNone/>
              <a:defRPr/>
            </a:pPr>
            <a:endParaRPr kumimoji="0" lang="zh-CN" altLang="zh-CN" sz="28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19173" name="Rectangle 5"/>
          <p:cNvSpPr>
            <a:spLocks noChangeArrowheads="1"/>
          </p:cNvSpPr>
          <p:nvPr/>
        </p:nvSpPr>
        <p:spPr bwMode="auto">
          <a:xfrm>
            <a:off x="2987675" y="44450"/>
            <a:ext cx="3744913"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6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uLnTx/>
                <a:uFillTx/>
                <a:latin typeface="隶书" panose="02010509060101010101" pitchFamily="49" charset="-122"/>
                <a:ea typeface="隶书" panose="02010509060101010101" pitchFamily="49" charset="-122"/>
                <a:cs typeface="+mn-cs"/>
              </a:rPr>
              <a:t>第</a:t>
            </a:r>
            <a:r>
              <a:rPr kumimoji="0" lang="en-US" altLang="zh-CN" sz="2400" b="1" i="0" u="none" strike="noStrike" kern="1200" cap="none" spc="0" normalizeH="0" baseline="0" noProof="0">
                <a:ln>
                  <a:noFill/>
                </a:ln>
                <a:solidFill>
                  <a:schemeClr val="bg1"/>
                </a:solidFill>
                <a:effectLst/>
                <a:uLnTx/>
                <a:uFillTx/>
                <a:latin typeface="隶书" panose="02010509060101010101" pitchFamily="49" charset="-122"/>
                <a:ea typeface="隶书" panose="02010509060101010101" pitchFamily="49" charset="-122"/>
                <a:cs typeface="+mn-cs"/>
              </a:rPr>
              <a:t>1</a:t>
            </a:r>
            <a:r>
              <a:rPr kumimoji="0" lang="zh-CN" altLang="en-US" sz="2400" b="1" i="0" u="none" strike="noStrike" kern="1200" cap="none" spc="0" normalizeH="0" baseline="0" noProof="0">
                <a:ln>
                  <a:noFill/>
                </a:ln>
                <a:solidFill>
                  <a:schemeClr val="bg1"/>
                </a:solidFill>
                <a:effectLst/>
                <a:uLnTx/>
                <a:uFillTx/>
                <a:latin typeface="隶书" panose="02010509060101010101" pitchFamily="49" charset="-122"/>
                <a:ea typeface="隶书" panose="02010509060101010101" pitchFamily="49" charset="-122"/>
                <a:cs typeface="+mn-cs"/>
              </a:rPr>
              <a:t>章</a:t>
            </a: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隶书" panose="02010509060101010101" pitchFamily="49" charset="-122"/>
                <a:ea typeface="隶书" panose="02010509060101010101" pitchFamily="49" charset="-122"/>
                <a:cs typeface="+mn-cs"/>
              </a:rPr>
              <a:t> </a:t>
            </a:r>
            <a:r>
              <a:rPr kumimoji="0" lang="zh-CN" altLang="en-US" sz="2400" b="1" i="0" u="none" strike="noStrike" kern="1200" cap="none" spc="0" normalizeH="0" baseline="0" noProof="0">
                <a:ln>
                  <a:noFill/>
                </a:ln>
                <a:solidFill>
                  <a:srgbClr val="FFCC99"/>
                </a:solidFill>
                <a:effectDag name="">
                  <a:cont type="tree" name="">
                    <a:effect ref="fillLine"/>
                    <a:outerShdw dist="38100" dir="13500000" algn="br">
                      <a:srgbClr val="FFDDBB"/>
                    </a:outerShdw>
                  </a:cont>
                  <a:cont type="tree" name="">
                    <a:effect ref="fillLine"/>
                    <a:outerShdw dist="38100" dir="2700000" algn="tl">
                      <a:srgbClr val="997A5B"/>
                    </a:outerShdw>
                  </a:cont>
                  <a:effect ref="fillLine"/>
                </a:effectDag>
                <a:uLnTx/>
                <a:uFillTx/>
                <a:latin typeface="隶书" panose="02010509060101010101" pitchFamily="49" charset="-122"/>
                <a:ea typeface="隶书" panose="02010509060101010101" pitchFamily="49" charset="-122"/>
                <a:cs typeface="+mn-cs"/>
              </a:rPr>
              <a:t>矢量分析</a:t>
            </a:r>
          </a:p>
        </p:txBody>
      </p:sp>
      <p:sp>
        <p:nvSpPr>
          <p:cNvPr id="1028" name="Rectangle 10" descr="深色横线"/>
          <p:cNvSpPr>
            <a:spLocks noChangeArrowheads="1"/>
          </p:cNvSpPr>
          <p:nvPr/>
        </p:nvSpPr>
        <p:spPr bwMode="auto">
          <a:xfrm>
            <a:off x="0" y="347663"/>
            <a:ext cx="9144000" cy="71438"/>
          </a:xfrm>
          <a:prstGeom prst="rect">
            <a:avLst/>
          </a:prstGeom>
          <a:pattFill prst="dkHorz">
            <a:fgClr>
              <a:srgbClr val="CC3300"/>
            </a:fgClr>
            <a:bgClr>
              <a:srgbClr val="9A9A9A"/>
            </a:bgClr>
          </a:patt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spcBef>
                <a:spcPct val="20000"/>
              </a:spcBef>
              <a:defRPr sz="2400">
                <a:solidFill>
                  <a:schemeClr val="tx1"/>
                </a:solidFill>
                <a:latin typeface="Arial" panose="020B0604020202020204" pitchFamily="34" charset="0"/>
                <a:ea typeface="楷体_GB2312" pitchFamily="49" charset="-122"/>
              </a:defRPr>
            </a:lvl1pPr>
            <a:lvl2pPr marL="742950" indent="-285750" algn="ctr">
              <a:spcBef>
                <a:spcPct val="20000"/>
              </a:spcBef>
              <a:defRPr sz="2400">
                <a:solidFill>
                  <a:schemeClr val="tx1"/>
                </a:solidFill>
                <a:latin typeface="Arial" panose="020B0604020202020204" pitchFamily="34" charset="0"/>
                <a:ea typeface="楷体_GB2312" pitchFamily="49" charset="-122"/>
              </a:defRPr>
            </a:lvl2pPr>
            <a:lvl3pPr marL="1143000" indent="-228600" algn="ctr">
              <a:spcBef>
                <a:spcPct val="20000"/>
              </a:spcBef>
              <a:defRPr sz="2400">
                <a:solidFill>
                  <a:schemeClr val="tx1"/>
                </a:solidFill>
                <a:latin typeface="Arial" panose="020B0604020202020204" pitchFamily="34" charset="0"/>
                <a:ea typeface="楷体_GB2312" pitchFamily="49" charset="-122"/>
              </a:defRPr>
            </a:lvl3pPr>
            <a:lvl4pPr marL="1600200" indent="-228600" algn="ctr">
              <a:spcBef>
                <a:spcPct val="20000"/>
              </a:spcBef>
              <a:defRPr sz="2400">
                <a:solidFill>
                  <a:schemeClr val="tx1"/>
                </a:solidFill>
                <a:latin typeface="Arial" panose="020B0604020202020204" pitchFamily="34" charset="0"/>
                <a:ea typeface="楷体_GB2312" pitchFamily="49" charset="-122"/>
              </a:defRPr>
            </a:lvl4pPr>
            <a:lvl5pPr marL="2057400" indent="-228600" algn="ctr">
              <a:spcBef>
                <a:spcPct val="20000"/>
              </a:spcBef>
              <a:defRPr sz="2400">
                <a:solidFill>
                  <a:schemeClr val="tx1"/>
                </a:solidFill>
                <a:latin typeface="Arial" panose="020B0604020202020204" pitchFamily="34"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29" name="Rectangle 18"/>
          <p:cNvSpPr>
            <a:spLocks noChangeArrowheads="1"/>
          </p:cNvSpPr>
          <p:nvPr/>
        </p:nvSpPr>
        <p:spPr bwMode="auto">
          <a:xfrm>
            <a:off x="107950" y="44450"/>
            <a:ext cx="208915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lvl1pPr algn="ctr">
              <a:spcBef>
                <a:spcPct val="20000"/>
              </a:spcBef>
              <a:defRPr sz="2400">
                <a:solidFill>
                  <a:schemeClr val="tx1"/>
                </a:solidFill>
                <a:latin typeface="Arial" panose="020B0604020202020204" pitchFamily="34" charset="0"/>
                <a:ea typeface="楷体_GB2312" pitchFamily="49" charset="-122"/>
              </a:defRPr>
            </a:lvl1pPr>
            <a:lvl2pPr marL="742950" indent="-285750" algn="ctr">
              <a:spcBef>
                <a:spcPct val="20000"/>
              </a:spcBef>
              <a:defRPr sz="2400">
                <a:solidFill>
                  <a:schemeClr val="tx1"/>
                </a:solidFill>
                <a:latin typeface="Arial" panose="020B0604020202020204" pitchFamily="34" charset="0"/>
                <a:ea typeface="楷体_GB2312" pitchFamily="49" charset="-122"/>
              </a:defRPr>
            </a:lvl2pPr>
            <a:lvl3pPr marL="1143000" indent="-228600" algn="ctr">
              <a:spcBef>
                <a:spcPct val="20000"/>
              </a:spcBef>
              <a:defRPr sz="2400">
                <a:solidFill>
                  <a:schemeClr val="tx1"/>
                </a:solidFill>
                <a:latin typeface="Arial" panose="020B0604020202020204" pitchFamily="34" charset="0"/>
                <a:ea typeface="楷体_GB2312" pitchFamily="49" charset="-122"/>
              </a:defRPr>
            </a:lvl3pPr>
            <a:lvl4pPr marL="1600200" indent="-228600" algn="ctr">
              <a:spcBef>
                <a:spcPct val="20000"/>
              </a:spcBef>
              <a:defRPr sz="2400">
                <a:solidFill>
                  <a:schemeClr val="tx1"/>
                </a:solidFill>
                <a:latin typeface="Arial" panose="020B0604020202020204" pitchFamily="34" charset="0"/>
                <a:ea typeface="楷体_GB2312" pitchFamily="49" charset="-122"/>
              </a:defRPr>
            </a:lvl4pPr>
            <a:lvl5pPr marL="2057400" indent="-228600" algn="ctr">
              <a:spcBef>
                <a:spcPct val="20000"/>
              </a:spcBef>
              <a:defRPr sz="2400">
                <a:solidFill>
                  <a:schemeClr val="tx1"/>
                </a:solidFill>
                <a:latin typeface="Arial" panose="020B0604020202020204" pitchFamily="34"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573CFC"/>
                </a:solidFill>
                <a:effectLst/>
                <a:uLnTx/>
                <a:uFillTx/>
                <a:latin typeface="Arial" panose="020B0604020202020204" pitchFamily="34" charset="0"/>
                <a:ea typeface="华文行楷" panose="02010800040101010101" pitchFamily="2" charset="-122"/>
                <a:cs typeface="+mn-cs"/>
              </a:rPr>
              <a:t>电磁场与电磁波</a:t>
            </a:r>
          </a:p>
        </p:txBody>
      </p:sp>
      <p:sp>
        <p:nvSpPr>
          <p:cNvPr id="1030" name="Rectangle 28" descr="栎木"/>
          <p:cNvSpPr>
            <a:spLocks noChangeArrowheads="1"/>
          </p:cNvSpPr>
          <p:nvPr/>
        </p:nvSpPr>
        <p:spPr bwMode="auto">
          <a:xfrm>
            <a:off x="0" y="6562725"/>
            <a:ext cx="9144000" cy="333375"/>
          </a:xfrm>
          <a:prstGeom prst="rect">
            <a:avLst/>
          </a:prstGeom>
          <a:blipFill dpi="0" rotWithShape="0">
            <a:blip r:embed="rId17"/>
            <a:srcRect/>
            <a:tile tx="0" ty="0" sx="100000" sy="100000" flip="none" algn="tl"/>
          </a:blip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spcBef>
                <a:spcPct val="20000"/>
              </a:spcBef>
              <a:defRPr sz="2400">
                <a:solidFill>
                  <a:schemeClr val="tx1"/>
                </a:solidFill>
                <a:latin typeface="Arial" panose="020B0604020202020204" pitchFamily="34" charset="0"/>
                <a:ea typeface="楷体_GB2312" pitchFamily="49" charset="-122"/>
              </a:defRPr>
            </a:lvl1pPr>
            <a:lvl2pPr marL="742950" indent="-285750" algn="ctr">
              <a:spcBef>
                <a:spcPct val="20000"/>
              </a:spcBef>
              <a:defRPr sz="2400">
                <a:solidFill>
                  <a:schemeClr val="tx1"/>
                </a:solidFill>
                <a:latin typeface="Arial" panose="020B0604020202020204" pitchFamily="34" charset="0"/>
                <a:ea typeface="楷体_GB2312" pitchFamily="49" charset="-122"/>
              </a:defRPr>
            </a:lvl2pPr>
            <a:lvl3pPr marL="1143000" indent="-228600" algn="ctr">
              <a:spcBef>
                <a:spcPct val="20000"/>
              </a:spcBef>
              <a:defRPr sz="2400">
                <a:solidFill>
                  <a:schemeClr val="tx1"/>
                </a:solidFill>
                <a:latin typeface="Arial" panose="020B0604020202020204" pitchFamily="34" charset="0"/>
                <a:ea typeface="楷体_GB2312" pitchFamily="49" charset="-122"/>
              </a:defRPr>
            </a:lvl3pPr>
            <a:lvl4pPr marL="1600200" indent="-228600" algn="ctr">
              <a:spcBef>
                <a:spcPct val="20000"/>
              </a:spcBef>
              <a:defRPr sz="2400">
                <a:solidFill>
                  <a:schemeClr val="tx1"/>
                </a:solidFill>
                <a:latin typeface="Arial" panose="020B0604020202020204" pitchFamily="34" charset="0"/>
                <a:ea typeface="楷体_GB2312" pitchFamily="49" charset="-122"/>
              </a:defRPr>
            </a:lvl4pPr>
            <a:lvl5pPr marL="2057400" indent="-228600" algn="ctr">
              <a:spcBef>
                <a:spcPct val="20000"/>
              </a:spcBef>
              <a:defRPr sz="2400">
                <a:solidFill>
                  <a:schemeClr val="tx1"/>
                </a:solidFill>
                <a:latin typeface="Arial" panose="020B0604020202020204" pitchFamily="34"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1" name="Rectangle 30" descr="深色横线"/>
          <p:cNvSpPr>
            <a:spLocks noChangeArrowheads="1"/>
          </p:cNvSpPr>
          <p:nvPr/>
        </p:nvSpPr>
        <p:spPr bwMode="auto">
          <a:xfrm>
            <a:off x="0" y="6526213"/>
            <a:ext cx="9144000" cy="71438"/>
          </a:xfrm>
          <a:prstGeom prst="rect">
            <a:avLst/>
          </a:prstGeom>
          <a:pattFill prst="dkHorz">
            <a:fgClr>
              <a:srgbClr val="CC3300"/>
            </a:fgClr>
            <a:bgClr>
              <a:srgbClr val="9A9A9A"/>
            </a:bgClr>
          </a:patt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spcBef>
                <a:spcPct val="20000"/>
              </a:spcBef>
              <a:defRPr sz="2400">
                <a:solidFill>
                  <a:schemeClr val="tx1"/>
                </a:solidFill>
                <a:latin typeface="Arial" panose="020B0604020202020204" pitchFamily="34" charset="0"/>
                <a:ea typeface="楷体_GB2312" pitchFamily="49" charset="-122"/>
              </a:defRPr>
            </a:lvl1pPr>
            <a:lvl2pPr marL="742950" indent="-285750" algn="ctr">
              <a:spcBef>
                <a:spcPct val="20000"/>
              </a:spcBef>
              <a:defRPr sz="2400">
                <a:solidFill>
                  <a:schemeClr val="tx1"/>
                </a:solidFill>
                <a:latin typeface="Arial" panose="020B0604020202020204" pitchFamily="34" charset="0"/>
                <a:ea typeface="楷体_GB2312" pitchFamily="49" charset="-122"/>
              </a:defRPr>
            </a:lvl2pPr>
            <a:lvl3pPr marL="1143000" indent="-228600" algn="ctr">
              <a:spcBef>
                <a:spcPct val="20000"/>
              </a:spcBef>
              <a:defRPr sz="2400">
                <a:solidFill>
                  <a:schemeClr val="tx1"/>
                </a:solidFill>
                <a:latin typeface="Arial" panose="020B0604020202020204" pitchFamily="34" charset="0"/>
                <a:ea typeface="楷体_GB2312" pitchFamily="49" charset="-122"/>
              </a:defRPr>
            </a:lvl3pPr>
            <a:lvl4pPr marL="1600200" indent="-228600" algn="ctr">
              <a:spcBef>
                <a:spcPct val="20000"/>
              </a:spcBef>
              <a:defRPr sz="2400">
                <a:solidFill>
                  <a:schemeClr val="tx1"/>
                </a:solidFill>
                <a:latin typeface="Arial" panose="020B0604020202020204" pitchFamily="34" charset="0"/>
                <a:ea typeface="楷体_GB2312" pitchFamily="49" charset="-122"/>
              </a:defRPr>
            </a:lvl4pPr>
            <a:lvl5pPr marL="2057400" indent="-228600" algn="ctr">
              <a:spcBef>
                <a:spcPct val="20000"/>
              </a:spcBef>
              <a:defRPr sz="2400">
                <a:solidFill>
                  <a:schemeClr val="tx1"/>
                </a:solidFill>
                <a:latin typeface="Arial" panose="020B0604020202020204" pitchFamily="34"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519204" name="Text Box 36"/>
          <p:cNvSpPr txBox="1">
            <a:spLocks noChangeArrowheads="1"/>
          </p:cNvSpPr>
          <p:nvPr/>
        </p:nvSpPr>
        <p:spPr bwMode="auto">
          <a:xfrm>
            <a:off x="8694738" y="38100"/>
            <a:ext cx="414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20000"/>
              </a:spcBef>
              <a:spcAft>
                <a:spcPct val="0"/>
              </a:spcAft>
              <a:buClrTx/>
              <a:buSzTx/>
              <a:buFontTx/>
              <a:buNone/>
              <a:defRPr/>
            </a:pPr>
            <a:r>
              <a:rPr kumimoji="0" lang="zh-CN" altLang="en-US" sz="1800" b="1" i="0" u="none" strike="noStrike" kern="1200" cap="none" spc="0" normalizeH="0" baseline="0" noProof="0">
                <a:ln>
                  <a:noFill/>
                </a:ln>
                <a:solidFill>
                  <a:srgbClr val="FF0000"/>
                </a:solidFill>
                <a:effectLst/>
                <a:uLnTx/>
                <a:uFillTx/>
                <a:latin typeface="Arial" panose="020B0604020202020204" pitchFamily="34" charset="0"/>
                <a:ea typeface="黑体" panose="02010609060101010101" pitchFamily="49" charset="-122"/>
                <a:cs typeface="+mn-cs"/>
                <a:hlinkClick r:id="rId18" action="ppaction://hlinkfile"/>
              </a:rPr>
              <a:t>点</a:t>
            </a:r>
            <a:endParaRPr kumimoji="0" lang="zh-CN" altLang="en-US" sz="1800" b="1" i="0" u="none" strike="noStrike" kern="1200" cap="none" spc="0" normalizeH="0" baseline="0" noProof="0">
              <a:ln>
                <a:noFill/>
              </a:ln>
              <a:solidFill>
                <a:srgbClr val="FF0000"/>
              </a:solidFill>
              <a:effectLst/>
              <a:uLnTx/>
              <a:uFillTx/>
              <a:latin typeface="Arial" panose="020B0604020202020204" pitchFamily="34" charset="0"/>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2000" kern="12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defRPr sz="2800" kern="12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2.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9.emf"/><Relationship Id="rId3" Type="http://schemas.openxmlformats.org/officeDocument/2006/relationships/oleObject" Target="../embeddings/oleObject2.bin"/><Relationship Id="rId7" Type="http://schemas.openxmlformats.org/officeDocument/2006/relationships/slide" Target="slide2.xml"/><Relationship Id="rId12"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emf"/><Relationship Id="rId11" Type="http://schemas.openxmlformats.org/officeDocument/2006/relationships/image" Target="../media/image8.png"/><Relationship Id="rId5" Type="http://schemas.openxmlformats.org/officeDocument/2006/relationships/oleObject" Target="../embeddings/oleObject3.bin"/><Relationship Id="rId10" Type="http://schemas.openxmlformats.org/officeDocument/2006/relationships/image" Target="../media/image7.png"/><Relationship Id="rId4" Type="http://schemas.openxmlformats.org/officeDocument/2006/relationships/image" Target="../media/image4.emf"/><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wmf"/><Relationship Id="rId11" Type="http://schemas.openxmlformats.org/officeDocument/2006/relationships/image" Target="../media/image15.jpeg"/><Relationship Id="rId5" Type="http://schemas.openxmlformats.org/officeDocument/2006/relationships/oleObject" Target="../embeddings/oleObject7.bin"/><Relationship Id="rId10" Type="http://schemas.openxmlformats.org/officeDocument/2006/relationships/image" Target="../media/image14.jpeg"/><Relationship Id="rId4" Type="http://schemas.openxmlformats.org/officeDocument/2006/relationships/image" Target="../media/image10.wmf"/><Relationship Id="rId9" Type="http://schemas.openxmlformats.org/officeDocument/2006/relationships/image" Target="../media/image13.jpeg"/></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1.emf"/><Relationship Id="rId3" Type="http://schemas.openxmlformats.org/officeDocument/2006/relationships/slide" Target="slide2.xml"/><Relationship Id="rId7" Type="http://schemas.openxmlformats.org/officeDocument/2006/relationships/image" Target="../media/image17.emf"/><Relationship Id="rId12"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oleObject" Target="../embeddings/oleObject10.bin"/><Relationship Id="rId11" Type="http://schemas.openxmlformats.org/officeDocument/2006/relationships/image" Target="../media/image20.png"/><Relationship Id="rId5" Type="http://schemas.openxmlformats.org/officeDocument/2006/relationships/image" Target="../media/image16.emf"/><Relationship Id="rId10" Type="http://schemas.openxmlformats.org/officeDocument/2006/relationships/image" Target="../media/image19.png"/><Relationship Id="rId4" Type="http://schemas.openxmlformats.org/officeDocument/2006/relationships/oleObject" Target="../embeddings/oleObject9.bin"/><Relationship Id="rId9" Type="http://schemas.openxmlformats.org/officeDocument/2006/relationships/image" Target="../media/image18.wmf"/><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oleObject" Target="../embeddings/oleObject15.bin"/><Relationship Id="rId3" Type="http://schemas.openxmlformats.org/officeDocument/2006/relationships/slide" Target="slide2.xml"/><Relationship Id="rId7" Type="http://schemas.openxmlformats.org/officeDocument/2006/relationships/image" Target="../media/image24.wmf"/><Relationship Id="rId12"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oleObject" Target="../embeddings/oleObject14.bin"/><Relationship Id="rId11" Type="http://schemas.openxmlformats.org/officeDocument/2006/relationships/image" Target="../media/image20.png"/><Relationship Id="rId5" Type="http://schemas.openxmlformats.org/officeDocument/2006/relationships/image" Target="../media/image23.emf"/><Relationship Id="rId10" Type="http://schemas.openxmlformats.org/officeDocument/2006/relationships/image" Target="../media/image21.emf"/><Relationship Id="rId4" Type="http://schemas.openxmlformats.org/officeDocument/2006/relationships/oleObject" Target="../embeddings/oleObject13.bin"/><Relationship Id="rId9" Type="http://schemas.openxmlformats.org/officeDocument/2006/relationships/oleObject" Target="../embeddings/oleObject12.bin"/><Relationship Id="rId14" Type="http://schemas.openxmlformats.org/officeDocument/2006/relationships/image" Target="../media/image2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slide" Target="slide2.xml"/><Relationship Id="rId4" Type="http://schemas.openxmlformats.org/officeDocument/2006/relationships/image" Target="../media/image26.emf"/></Relationships>
</file>

<file path=ppt/slides/_rels/slide8.xml.rels><?xml version="1.0" encoding="UTF-8" standalone="yes"?>
<Relationships xmlns="http://schemas.openxmlformats.org/package/2006/relationships"><Relationship Id="rId8" Type="http://schemas.openxmlformats.org/officeDocument/2006/relationships/image" Target="../media/image30.emf"/><Relationship Id="rId13" Type="http://schemas.openxmlformats.org/officeDocument/2006/relationships/image" Target="../media/image33.png"/><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9.emf"/><Relationship Id="rId11" Type="http://schemas.openxmlformats.org/officeDocument/2006/relationships/slide" Target="slide2.xml"/><Relationship Id="rId5" Type="http://schemas.openxmlformats.org/officeDocument/2006/relationships/oleObject" Target="../embeddings/oleObject18.bin"/><Relationship Id="rId10" Type="http://schemas.openxmlformats.org/officeDocument/2006/relationships/image" Target="../media/image31.emf"/><Relationship Id="rId4" Type="http://schemas.openxmlformats.org/officeDocument/2006/relationships/image" Target="../media/image28.emf"/><Relationship Id="rId9" Type="http://schemas.openxmlformats.org/officeDocument/2006/relationships/oleObject" Target="../embeddings/oleObject20.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11.wmf"/><Relationship Id="rId18" Type="http://schemas.openxmlformats.org/officeDocument/2006/relationships/image" Target="../media/image15.jpeg"/><Relationship Id="rId3" Type="http://schemas.openxmlformats.org/officeDocument/2006/relationships/slide" Target="slide2.xml"/><Relationship Id="rId7" Type="http://schemas.openxmlformats.org/officeDocument/2006/relationships/image" Target="../media/image35.emf"/><Relationship Id="rId12" Type="http://schemas.openxmlformats.org/officeDocument/2006/relationships/oleObject" Target="../embeddings/oleObject7.bin"/><Relationship Id="rId17" Type="http://schemas.openxmlformats.org/officeDocument/2006/relationships/image" Target="../media/image14.jpeg"/><Relationship Id="rId2" Type="http://schemas.openxmlformats.org/officeDocument/2006/relationships/notesSlide" Target="../notesSlides/notesSlide9.xml"/><Relationship Id="rId16"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image" Target="../media/image10.wmf"/><Relationship Id="rId5" Type="http://schemas.openxmlformats.org/officeDocument/2006/relationships/image" Target="../media/image34.emf"/><Relationship Id="rId15" Type="http://schemas.openxmlformats.org/officeDocument/2006/relationships/image" Target="../media/image12.wmf"/><Relationship Id="rId10" Type="http://schemas.openxmlformats.org/officeDocument/2006/relationships/oleObject" Target="../embeddings/oleObject6.bin"/><Relationship Id="rId4" Type="http://schemas.openxmlformats.org/officeDocument/2006/relationships/oleObject" Target="../embeddings/oleObject21.bin"/><Relationship Id="rId9" Type="http://schemas.openxmlformats.org/officeDocument/2006/relationships/image" Target="../media/image36.emf"/><Relationship Id="rId1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slide" Target="slide2.xml"/><Relationship Id="rId4" Type="http://schemas.openxmlformats.org/officeDocument/2006/relationships/image" Target="../media/image39.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slide" Target="slide2.xml"/><Relationship Id="rId7" Type="http://schemas.openxmlformats.org/officeDocument/2006/relationships/image" Target="../media/image41.emf"/><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oleObject" Target="../embeddings/oleObject26.bin"/><Relationship Id="rId11" Type="http://schemas.openxmlformats.org/officeDocument/2006/relationships/image" Target="../media/image44.emf"/><Relationship Id="rId5" Type="http://schemas.openxmlformats.org/officeDocument/2006/relationships/image" Target="../media/image40.emf"/><Relationship Id="rId10" Type="http://schemas.openxmlformats.org/officeDocument/2006/relationships/oleObject" Target="../embeddings/oleObject27.bin"/><Relationship Id="rId4" Type="http://schemas.openxmlformats.org/officeDocument/2006/relationships/oleObject" Target="../embeddings/oleObject25.bin"/><Relationship Id="rId9"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6.emf"/><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oleObject" Target="../embeddings/oleObject29.bin"/><Relationship Id="rId5" Type="http://schemas.openxmlformats.org/officeDocument/2006/relationships/image" Target="../media/image45.emf"/><Relationship Id="rId4" Type="http://schemas.openxmlformats.org/officeDocument/2006/relationships/oleObject" Target="../embeddings/oleObject28.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47.GIF"/><Relationship Id="rId7" Type="http://schemas.openxmlformats.org/officeDocument/2006/relationships/oleObject" Target="../embeddings/oleObject31.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30.bin"/><Relationship Id="rId4" Type="http://schemas.openxmlformats.org/officeDocument/2006/relationships/slide" Target="slide2.xml"/><Relationship Id="rId9" Type="http://schemas.openxmlformats.org/officeDocument/2006/relationships/image" Target="../media/image50.png"/></Relationships>
</file>

<file path=ppt/slides/_rels/slide18.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32.bin"/><Relationship Id="rId7" Type="http://schemas.openxmlformats.org/officeDocument/2006/relationships/oleObject" Target="../embeddings/oleObject33.bin"/><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slide" Target="slide2.xml"/><Relationship Id="rId4" Type="http://schemas.openxmlformats.org/officeDocument/2006/relationships/image" Target="../media/image51.emf"/><Relationship Id="rId9" Type="http://schemas.openxmlformats.org/officeDocument/2006/relationships/image" Target="../media/image5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oleObject" Target="../embeddings/oleObject39.bin"/><Relationship Id="rId18" Type="http://schemas.openxmlformats.org/officeDocument/2006/relationships/oleObject" Target="../embeddings/oleObject41.bin"/><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59.emf"/><Relationship Id="rId17" Type="http://schemas.openxmlformats.org/officeDocument/2006/relationships/slide" Target="slide2.xml"/><Relationship Id="rId2" Type="http://schemas.openxmlformats.org/officeDocument/2006/relationships/notesSlide" Target="../notesSlides/notesSlide19.xml"/><Relationship Id="rId16" Type="http://schemas.openxmlformats.org/officeDocument/2006/relationships/image" Target="../media/image61.emf"/><Relationship Id="rId20"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56.emf"/><Relationship Id="rId11" Type="http://schemas.openxmlformats.org/officeDocument/2006/relationships/oleObject" Target="../embeddings/oleObject38.bin"/><Relationship Id="rId5" Type="http://schemas.openxmlformats.org/officeDocument/2006/relationships/oleObject" Target="../embeddings/oleObject35.bin"/><Relationship Id="rId15" Type="http://schemas.openxmlformats.org/officeDocument/2006/relationships/oleObject" Target="../embeddings/oleObject40.bin"/><Relationship Id="rId10" Type="http://schemas.openxmlformats.org/officeDocument/2006/relationships/image" Target="../media/image58.emf"/><Relationship Id="rId19" Type="http://schemas.openxmlformats.org/officeDocument/2006/relationships/image" Target="../media/image62.emf"/><Relationship Id="rId4" Type="http://schemas.openxmlformats.org/officeDocument/2006/relationships/image" Target="../media/image55.emf"/><Relationship Id="rId9" Type="http://schemas.openxmlformats.org/officeDocument/2006/relationships/oleObject" Target="../embeddings/oleObject37.bin"/><Relationship Id="rId14" Type="http://schemas.openxmlformats.org/officeDocument/2006/relationships/image" Target="../media/image60.emf"/></Relationships>
</file>

<file path=ppt/slides/_rels/slide21.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65.emf"/><Relationship Id="rId11" Type="http://schemas.openxmlformats.org/officeDocument/2006/relationships/slide" Target="slide2.xml"/><Relationship Id="rId5" Type="http://schemas.openxmlformats.org/officeDocument/2006/relationships/oleObject" Target="../embeddings/oleObject43.bin"/><Relationship Id="rId10" Type="http://schemas.openxmlformats.org/officeDocument/2006/relationships/image" Target="../media/image67.emf"/><Relationship Id="rId4" Type="http://schemas.openxmlformats.org/officeDocument/2006/relationships/image" Target="../media/image64.emf"/><Relationship Id="rId9" Type="http://schemas.openxmlformats.org/officeDocument/2006/relationships/oleObject" Target="../embeddings/oleObject45.bin"/></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oleObject" Target="../embeddings/oleObject51.bin"/><Relationship Id="rId18" Type="http://schemas.openxmlformats.org/officeDocument/2006/relationships/image" Target="../media/image78.png"/><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75.emf"/><Relationship Id="rId17" Type="http://schemas.openxmlformats.org/officeDocument/2006/relationships/slide" Target="slide2.xml"/><Relationship Id="rId2" Type="http://schemas.openxmlformats.org/officeDocument/2006/relationships/notesSlide" Target="../notesSlides/notesSlide20.xml"/><Relationship Id="rId16" Type="http://schemas.openxmlformats.org/officeDocument/2006/relationships/image" Target="../media/image77.emf"/><Relationship Id="rId1" Type="http://schemas.openxmlformats.org/officeDocument/2006/relationships/slideLayout" Target="../slideLayouts/slideLayout2.xml"/><Relationship Id="rId6" Type="http://schemas.openxmlformats.org/officeDocument/2006/relationships/image" Target="../media/image72.e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74.emf"/><Relationship Id="rId4" Type="http://schemas.openxmlformats.org/officeDocument/2006/relationships/image" Target="../media/image71.emf"/><Relationship Id="rId9" Type="http://schemas.openxmlformats.org/officeDocument/2006/relationships/oleObject" Target="../embeddings/oleObject49.bin"/><Relationship Id="rId14" Type="http://schemas.openxmlformats.org/officeDocument/2006/relationships/image" Target="../media/image76.emf"/></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82.emf"/><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oleObject" Target="../embeddings/oleObject54.bin"/><Relationship Id="rId5" Type="http://schemas.openxmlformats.org/officeDocument/2006/relationships/image" Target="../media/image81.emf"/><Relationship Id="rId4" Type="http://schemas.openxmlformats.org/officeDocument/2006/relationships/oleObject" Target="../embeddings/oleObject53.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5.bin"/><Relationship Id="rId7" Type="http://schemas.openxmlformats.org/officeDocument/2006/relationships/image" Target="../media/image8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84.emf"/><Relationship Id="rId4" Type="http://schemas.openxmlformats.org/officeDocument/2006/relationships/image" Target="../media/image83.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image" Target="../media/image86.png"/><Relationship Id="rId7" Type="http://schemas.openxmlformats.org/officeDocument/2006/relationships/oleObject" Target="../embeddings/oleObject57.bin"/><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87.emf"/><Relationship Id="rId5" Type="http://schemas.openxmlformats.org/officeDocument/2006/relationships/oleObject" Target="../embeddings/oleObject56.bin"/><Relationship Id="rId10" Type="http://schemas.openxmlformats.org/officeDocument/2006/relationships/image" Target="../media/image89.emf"/><Relationship Id="rId4" Type="http://schemas.openxmlformats.org/officeDocument/2006/relationships/slide" Target="slide2.xml"/><Relationship Id="rId9" Type="http://schemas.openxmlformats.org/officeDocument/2006/relationships/oleObject" Target="../embeddings/oleObject58.bin"/></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90.emf"/><Relationship Id="rId4" Type="http://schemas.openxmlformats.org/officeDocument/2006/relationships/oleObject" Target="../embeddings/oleObject59.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55" name="Rectangle 11"/>
          <p:cNvSpPr>
            <a:spLocks noGrp="1"/>
          </p:cNvSpPr>
          <p:nvPr>
            <p:ph type="title"/>
          </p:nvPr>
        </p:nvSpPr>
        <p:spPr>
          <a:xfrm>
            <a:off x="592138" y="561975"/>
            <a:ext cx="7724775" cy="490538"/>
          </a:xfrm>
          <a:noFill/>
          <a:ln>
            <a:noFill/>
          </a:ln>
        </p:spPr>
        <p:txBody>
          <a:bodyPr anchor="t" anchorCtr="0"/>
          <a:lstStyle/>
          <a:p>
            <a:pPr algn="ctr" eaLnBrk="1" hangingPunct="1"/>
            <a:r>
              <a:rPr lang="en-US" altLang="zh-CN" sz="2800" b="1" dirty="0">
                <a:solidFill>
                  <a:schemeClr val="bg1"/>
                </a:solidFill>
                <a:latin typeface="Times New Roman" panose="02020603050405020304" pitchFamily="18" charset="0"/>
                <a:ea typeface="幼圆" panose="02010509060101010101" pitchFamily="49" charset="-122"/>
              </a:rPr>
              <a:t>1.4  </a:t>
            </a:r>
            <a:r>
              <a:rPr lang="zh-CN" altLang="en-US" sz="2800" b="1" dirty="0">
                <a:solidFill>
                  <a:schemeClr val="bg1"/>
                </a:solidFill>
                <a:latin typeface="Times New Roman" panose="02020603050405020304" pitchFamily="18" charset="0"/>
                <a:ea typeface="幼圆" panose="02010509060101010101" pitchFamily="49" charset="-122"/>
              </a:rPr>
              <a:t>矢量场的纯通量源与纯散度源</a:t>
            </a:r>
            <a:r>
              <a:rPr lang="zh-CN" altLang="en-US" sz="1800" dirty="0"/>
              <a:t> </a:t>
            </a:r>
          </a:p>
        </p:txBody>
      </p:sp>
      <p:sp>
        <p:nvSpPr>
          <p:cNvPr id="210952" name="Rectangle 8"/>
          <p:cNvSpPr/>
          <p:nvPr/>
        </p:nvSpPr>
        <p:spPr>
          <a:xfrm>
            <a:off x="179388" y="981075"/>
            <a:ext cx="4676775" cy="447675"/>
          </a:xfrm>
          <a:prstGeom prst="rect">
            <a:avLst/>
          </a:prstGeom>
          <a:noFill/>
          <a:ln w="9525">
            <a:noFill/>
          </a:ln>
        </p:spPr>
        <p:txBody>
          <a:bodyPr anchor="t" anchorCtr="0"/>
          <a:lstStyle/>
          <a:p>
            <a:pPr marL="482600" indent="-482600"/>
            <a:r>
              <a:rPr lang="en-US" altLang="zh-CN" dirty="0">
                <a:solidFill>
                  <a:schemeClr val="bg1"/>
                </a:solidFill>
                <a:latin typeface="Times New Roman" panose="02020603050405020304" pitchFamily="18" charset="0"/>
                <a:ea typeface="宋体" panose="02010600030101010101" pitchFamily="2" charset="-122"/>
              </a:rPr>
              <a:t> 1.  </a:t>
            </a:r>
            <a:r>
              <a:rPr lang="zh-CN" altLang="en-US" dirty="0">
                <a:solidFill>
                  <a:schemeClr val="bg1"/>
                </a:solidFill>
                <a:latin typeface="Times New Roman" panose="02020603050405020304" pitchFamily="18" charset="0"/>
                <a:ea typeface="宋体" panose="02010600030101010101" pitchFamily="2" charset="-122"/>
              </a:rPr>
              <a:t>矢量线</a:t>
            </a:r>
            <a:r>
              <a:rPr lang="zh-CN" altLang="en-US" b="0" dirty="0">
                <a:solidFill>
                  <a:schemeClr val="bg1"/>
                </a:solidFill>
                <a:latin typeface="宋体" panose="02010600030101010101" pitchFamily="2" charset="-122"/>
                <a:ea typeface="宋体" panose="02010600030101010101" pitchFamily="2" charset="-122"/>
              </a:rPr>
              <a:t>     </a:t>
            </a:r>
            <a:endParaRPr lang="zh-CN" altLang="en-US" dirty="0">
              <a:solidFill>
                <a:schemeClr val="bg1"/>
              </a:solidFill>
              <a:latin typeface="宋体" panose="02010600030101010101" pitchFamily="2" charset="-122"/>
              <a:ea typeface="宋体" panose="02010600030101010101" pitchFamily="2" charset="-122"/>
            </a:endParaRPr>
          </a:p>
        </p:txBody>
      </p:sp>
      <p:sp>
        <p:nvSpPr>
          <p:cNvPr id="210959" name="Text Box 15"/>
          <p:cNvSpPr txBox="1"/>
          <p:nvPr/>
        </p:nvSpPr>
        <p:spPr>
          <a:xfrm>
            <a:off x="395288" y="2312988"/>
            <a:ext cx="5761037" cy="1187450"/>
          </a:xfrm>
          <a:prstGeom prst="rect">
            <a:avLst/>
          </a:prstGeom>
          <a:noFill/>
          <a:ln w="9525">
            <a:noFill/>
          </a:ln>
        </p:spPr>
        <p:txBody>
          <a:bodyPr anchor="t" anchorCtr="0">
            <a:spAutoFit/>
          </a:bodyPr>
          <a:lstStyle/>
          <a:p>
            <a:pPr>
              <a:lnSpc>
                <a:spcPct val="140000"/>
              </a:lnSpc>
            </a:pPr>
            <a:r>
              <a:rPr lang="zh-CN" altLang="en-US" dirty="0">
                <a:solidFill>
                  <a:srgbClr val="FFB7B7"/>
                </a:solidFill>
                <a:latin typeface="Arial" panose="020B0604020202020204" pitchFamily="34" charset="0"/>
                <a:ea typeface="宋体" panose="02010600030101010101" pitchFamily="2" charset="-122"/>
              </a:rPr>
              <a:t>意义</a:t>
            </a:r>
            <a:r>
              <a:rPr lang="zh-CN" altLang="en-US" dirty="0">
                <a:solidFill>
                  <a:srgbClr val="FFB7B7"/>
                </a:solidFill>
                <a:latin typeface="Arial" panose="020B0604020202020204" pitchFamily="34" charset="0"/>
                <a:ea typeface="幼圆" panose="02010509060101010101" pitchFamily="49" charset="-122"/>
              </a:rPr>
              <a:t>：</a:t>
            </a:r>
            <a:r>
              <a:rPr lang="zh-CN" altLang="en-US" dirty="0">
                <a:solidFill>
                  <a:schemeClr val="bg1"/>
                </a:solidFill>
                <a:latin typeface="Arial" panose="020B0604020202020204" pitchFamily="34" charset="0"/>
                <a:ea typeface="楷体_GB2312" pitchFamily="49" charset="-122"/>
              </a:rPr>
              <a:t>形象直观地描述了矢量场的空间分</a:t>
            </a:r>
          </a:p>
          <a:p>
            <a:pPr>
              <a:lnSpc>
                <a:spcPct val="140000"/>
              </a:lnSpc>
            </a:pPr>
            <a:r>
              <a:rPr lang="zh-CN" altLang="en-US" dirty="0">
                <a:solidFill>
                  <a:schemeClr val="bg1"/>
                </a:solidFill>
                <a:latin typeface="Arial" panose="020B0604020202020204" pitchFamily="34" charset="0"/>
                <a:ea typeface="楷体_GB2312" pitchFamily="49" charset="-122"/>
              </a:rPr>
              <a:t>           布状态。</a:t>
            </a:r>
          </a:p>
        </p:txBody>
      </p:sp>
      <p:graphicFrame>
        <p:nvGraphicFramePr>
          <p:cNvPr id="210960" name="Object 16"/>
          <p:cNvGraphicFramePr>
            <a:graphicFrameLocks noChangeAspect="1"/>
          </p:cNvGraphicFramePr>
          <p:nvPr/>
        </p:nvGraphicFramePr>
        <p:xfrm>
          <a:off x="1835150" y="4357688"/>
          <a:ext cx="5041900" cy="889000"/>
        </p:xfrm>
        <a:graphic>
          <a:graphicData uri="http://schemas.openxmlformats.org/presentationml/2006/ole">
            <mc:AlternateContent xmlns:mc="http://schemas.openxmlformats.org/markup-compatibility/2006">
              <mc:Choice xmlns:v="urn:schemas-microsoft-com:vml" Requires="v">
                <p:oleObj r:id="rId3" imgW="2038350" imgH="286385" progId="Equation.3">
                  <p:embed/>
                </p:oleObj>
              </mc:Choice>
              <mc:Fallback>
                <p:oleObj r:id="rId3" imgW="2038350" imgH="286385" progId="Equation.3">
                  <p:embed/>
                  <p:pic>
                    <p:nvPicPr>
                      <p:cNvPr id="0" name="图片 3216"/>
                      <p:cNvPicPr/>
                      <p:nvPr/>
                    </p:nvPicPr>
                    <p:blipFill>
                      <a:blip r:embed="rId4">
                        <a:clrChange>
                          <a:clrFrom>
                            <a:srgbClr val="000000"/>
                          </a:clrFrom>
                          <a:clrTo>
                            <a:srgbClr val="FFFFFF"/>
                          </a:clrTo>
                        </a:clrChange>
                      </a:blip>
                      <a:stretch>
                        <a:fillRect/>
                      </a:stretch>
                    </p:blipFill>
                    <p:spPr>
                      <a:xfrm>
                        <a:off x="1835150" y="4357688"/>
                        <a:ext cx="5041900" cy="889000"/>
                      </a:xfrm>
                      <a:prstGeom prst="rect">
                        <a:avLst/>
                      </a:prstGeom>
                      <a:noFill/>
                      <a:ln w="38100">
                        <a:noFill/>
                        <a:miter/>
                      </a:ln>
                    </p:spPr>
                  </p:pic>
                </p:oleObj>
              </mc:Fallback>
            </mc:AlternateContent>
          </a:graphicData>
        </a:graphic>
      </p:graphicFrame>
      <p:sp>
        <p:nvSpPr>
          <p:cNvPr id="210961" name="Text Box 17"/>
          <p:cNvSpPr txBox="1"/>
          <p:nvPr/>
        </p:nvSpPr>
        <p:spPr>
          <a:xfrm>
            <a:off x="395288" y="3429000"/>
            <a:ext cx="2663825" cy="457200"/>
          </a:xfrm>
          <a:prstGeom prst="rect">
            <a:avLst/>
          </a:prstGeom>
          <a:noFill/>
          <a:ln w="9525">
            <a:noFill/>
          </a:ln>
        </p:spPr>
        <p:txBody>
          <a:bodyPr anchor="t" anchorCtr="0">
            <a:spAutoFit/>
          </a:bodyPr>
          <a:lstStyle/>
          <a:p>
            <a:pPr>
              <a:spcBef>
                <a:spcPct val="50000"/>
              </a:spcBef>
            </a:pPr>
            <a:r>
              <a:rPr lang="zh-CN" altLang="en-US" dirty="0">
                <a:solidFill>
                  <a:schemeClr val="bg2"/>
                </a:solidFill>
                <a:latin typeface="Arial" panose="020B0604020202020204" pitchFamily="34" charset="0"/>
                <a:ea typeface="宋体" panose="02010600030101010101" pitchFamily="2" charset="-122"/>
              </a:rPr>
              <a:t>矢量线方程（略）</a:t>
            </a:r>
            <a:r>
              <a:rPr lang="zh-CN" altLang="en-US" dirty="0">
                <a:solidFill>
                  <a:schemeClr val="bg2"/>
                </a:solidFill>
                <a:latin typeface="Arial" panose="020B0604020202020204" pitchFamily="34" charset="0"/>
                <a:ea typeface="幼圆" panose="02010509060101010101" pitchFamily="49" charset="-122"/>
              </a:rPr>
              <a:t>：</a:t>
            </a:r>
          </a:p>
        </p:txBody>
      </p:sp>
      <p:sp>
        <p:nvSpPr>
          <p:cNvPr id="210966" name="Text Box 22"/>
          <p:cNvSpPr txBox="1"/>
          <p:nvPr/>
        </p:nvSpPr>
        <p:spPr>
          <a:xfrm>
            <a:off x="395288" y="1341438"/>
            <a:ext cx="5832475" cy="1041400"/>
          </a:xfrm>
          <a:prstGeom prst="rect">
            <a:avLst/>
          </a:prstGeom>
          <a:noFill/>
          <a:ln w="9525">
            <a:noFill/>
          </a:ln>
        </p:spPr>
        <p:txBody>
          <a:bodyPr anchor="t" anchorCtr="0">
            <a:spAutoFit/>
          </a:bodyPr>
          <a:lstStyle/>
          <a:p>
            <a:pPr>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概念：</a:t>
            </a:r>
            <a:r>
              <a:rPr lang="zh-CN" altLang="en-US" dirty="0">
                <a:solidFill>
                  <a:schemeClr val="bg1"/>
                </a:solidFill>
                <a:latin typeface="楷体_GB2312" pitchFamily="49" charset="-122"/>
                <a:ea typeface="楷体_GB2312" pitchFamily="49" charset="-122"/>
              </a:rPr>
              <a:t>矢量线是其上每一点的切线方向。</a:t>
            </a:r>
          </a:p>
          <a:p>
            <a:pPr>
              <a:lnSpc>
                <a:spcPct val="130000"/>
              </a:lnSpc>
              <a:spcBef>
                <a:spcPct val="0"/>
              </a:spcBef>
            </a:pPr>
            <a:r>
              <a:rPr lang="zh-CN" altLang="en-US" dirty="0">
                <a:solidFill>
                  <a:schemeClr val="bg1"/>
                </a:solidFill>
                <a:latin typeface="楷体_GB2312" pitchFamily="49" charset="-122"/>
                <a:ea typeface="楷体_GB2312" pitchFamily="49" charset="-122"/>
              </a:rPr>
              <a:t>      代表了该点</a:t>
            </a:r>
            <a:r>
              <a:rPr lang="zh-CN" altLang="en-US" dirty="0">
                <a:solidFill>
                  <a:srgbClr val="EA162F"/>
                </a:solidFill>
                <a:latin typeface="楷体_GB2312" pitchFamily="49" charset="-122"/>
                <a:ea typeface="楷体_GB2312" pitchFamily="49" charset="-122"/>
              </a:rPr>
              <a:t>矢量场的方向</a:t>
            </a:r>
            <a:r>
              <a:rPr lang="zh-CN" altLang="en-US" dirty="0">
                <a:solidFill>
                  <a:schemeClr val="bg1"/>
                </a:solidFill>
                <a:latin typeface="楷体_GB2312" pitchFamily="49" charset="-122"/>
                <a:ea typeface="楷体_GB2312" pitchFamily="49" charset="-122"/>
              </a:rPr>
              <a:t>的曲线。</a:t>
            </a:r>
          </a:p>
        </p:txBody>
      </p:sp>
      <p:sp>
        <p:nvSpPr>
          <p:cNvPr id="68615" name="AutoShape 111">
            <a:hlinkClick r:id="rId5"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68616" name="AutoShape 112">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68617" name="AutoShape 113">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68618" name="AutoShape 114">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11060" name="Rectangle 116"/>
          <p:cNvSpPr/>
          <p:nvPr/>
        </p:nvSpPr>
        <p:spPr>
          <a:xfrm>
            <a:off x="1403350" y="3933825"/>
            <a:ext cx="7740650" cy="447675"/>
          </a:xfrm>
          <a:prstGeom prst="rect">
            <a:avLst/>
          </a:prstGeom>
          <a:noFill/>
          <a:ln w="9525">
            <a:noFill/>
          </a:ln>
        </p:spPr>
        <p:txBody>
          <a:bodyPr anchor="t" anchorCtr="0"/>
          <a:lstStyle/>
          <a:p>
            <a:pPr marL="482600" indent="-482600"/>
            <a:r>
              <a:rPr lang="en-US" altLang="zh-CN" dirty="0">
                <a:solidFill>
                  <a:schemeClr val="bg1"/>
                </a:solidFill>
                <a:latin typeface="Times New Roman" panose="02020603050405020304" pitchFamily="18" charset="0"/>
                <a:ea typeface="宋体" panose="02010600030101010101" pitchFamily="2" charset="-122"/>
              </a:rPr>
              <a:t> </a:t>
            </a:r>
            <a:r>
              <a:rPr lang="zh-CN" altLang="en-US" dirty="0">
                <a:solidFill>
                  <a:schemeClr val="bg2"/>
                </a:solidFill>
                <a:latin typeface="Times New Roman" panose="02020603050405020304" pitchFamily="18" charset="0"/>
                <a:ea typeface="宋体" panose="02010600030101010101" pitchFamily="2" charset="-122"/>
              </a:rPr>
              <a:t>矢量线上任一点的切线方向必定与该点的矢量方向相同。</a:t>
            </a:r>
            <a:r>
              <a:rPr lang="zh-CN" altLang="en-US" b="0" dirty="0">
                <a:solidFill>
                  <a:schemeClr val="bg1"/>
                </a:solidFill>
                <a:latin typeface="宋体" panose="02010600030101010101" pitchFamily="2" charset="-122"/>
                <a:ea typeface="宋体" panose="02010600030101010101" pitchFamily="2" charset="-122"/>
              </a:rPr>
              <a:t>     </a:t>
            </a:r>
            <a:endParaRPr lang="zh-CN" altLang="en-US" dirty="0">
              <a:solidFill>
                <a:schemeClr val="bg1"/>
              </a:solidFill>
              <a:latin typeface="宋体" panose="02010600030101010101" pitchFamily="2" charset="-122"/>
              <a:ea typeface="宋体" panose="02010600030101010101" pitchFamily="2" charset="-122"/>
            </a:endParaRPr>
          </a:p>
        </p:txBody>
      </p:sp>
      <p:sp>
        <p:nvSpPr>
          <p:cNvPr id="211062" name="Text Box 118"/>
          <p:cNvSpPr txBox="1"/>
          <p:nvPr/>
        </p:nvSpPr>
        <p:spPr>
          <a:xfrm>
            <a:off x="-38100" y="5203825"/>
            <a:ext cx="1177925" cy="457200"/>
          </a:xfrm>
          <a:prstGeom prst="rect">
            <a:avLst/>
          </a:prstGeom>
          <a:noFill/>
          <a:ln w="9525">
            <a:noFill/>
          </a:ln>
        </p:spPr>
        <p:txBody>
          <a:bodyPr anchor="t" anchorCtr="0">
            <a:spAutoFit/>
          </a:bodyPr>
          <a:lstStyle/>
          <a:p>
            <a:pPr>
              <a:spcBef>
                <a:spcPct val="50000"/>
              </a:spcBef>
            </a:pPr>
            <a:r>
              <a:rPr lang="zh-CN" altLang="en-US" dirty="0">
                <a:solidFill>
                  <a:srgbClr val="FFB7B7"/>
                </a:solidFill>
                <a:latin typeface="Arial" panose="020B0604020202020204" pitchFamily="34" charset="0"/>
                <a:ea typeface="宋体" panose="02010600030101010101" pitchFamily="2" charset="-122"/>
              </a:rPr>
              <a:t>优点</a:t>
            </a:r>
            <a:r>
              <a:rPr lang="zh-CN" altLang="en-US" dirty="0">
                <a:solidFill>
                  <a:srgbClr val="FFB7B7"/>
                </a:solidFill>
                <a:latin typeface="Arial" panose="020B0604020202020204" pitchFamily="34" charset="0"/>
                <a:ea typeface="幼圆" panose="02010509060101010101" pitchFamily="49" charset="-122"/>
              </a:rPr>
              <a:t>：</a:t>
            </a:r>
          </a:p>
        </p:txBody>
      </p:sp>
      <p:sp>
        <p:nvSpPr>
          <p:cNvPr id="211063" name="Rectangle 119"/>
          <p:cNvSpPr/>
          <p:nvPr/>
        </p:nvSpPr>
        <p:spPr>
          <a:xfrm>
            <a:off x="682625" y="5229225"/>
            <a:ext cx="8713788" cy="1268413"/>
          </a:xfrm>
          <a:prstGeom prst="rect">
            <a:avLst/>
          </a:prstGeom>
          <a:noFill/>
          <a:ln w="9525">
            <a:noFill/>
          </a:ln>
        </p:spPr>
        <p:txBody>
          <a:bodyPr anchor="t" anchorCtr="0"/>
          <a:lstStyle/>
          <a:p>
            <a:pPr marL="482600" indent="-482600"/>
            <a:r>
              <a:rPr lang="zh-CN" altLang="en-US" dirty="0">
                <a:solidFill>
                  <a:schemeClr val="bg1"/>
                </a:solidFill>
                <a:latin typeface="Times New Roman" panose="02020603050405020304" pitchFamily="18" charset="0"/>
                <a:ea typeface="宋体" panose="02010600030101010101" pitchFamily="2" charset="-122"/>
              </a:rPr>
              <a:t>矢量线能够形象地描述矢量场在空间的方向。</a:t>
            </a:r>
          </a:p>
          <a:p>
            <a:pPr marL="482600" indent="-482600"/>
            <a:r>
              <a:rPr lang="zh-CN" altLang="en-US" dirty="0">
                <a:solidFill>
                  <a:schemeClr val="bg1"/>
                </a:solidFill>
                <a:latin typeface="Times New Roman" panose="02020603050405020304" pitchFamily="18" charset="0"/>
                <a:ea typeface="宋体" panose="02010600030101010101" pitchFamily="2" charset="-122"/>
              </a:rPr>
              <a:t>不能够直观描述矢量场的大小（仅以矢量线的疏密</a:t>
            </a:r>
            <a:r>
              <a:rPr lang="zh-CN" altLang="en-US" dirty="0">
                <a:solidFill>
                  <a:srgbClr val="EA162F"/>
                </a:solidFill>
                <a:latin typeface="Times New Roman" panose="02020603050405020304" pitchFamily="18" charset="0"/>
                <a:ea typeface="宋体" panose="02010600030101010101" pitchFamily="2" charset="-122"/>
              </a:rPr>
              <a:t>定性表示</a:t>
            </a:r>
            <a:r>
              <a:rPr lang="zh-CN" altLang="en-US" dirty="0">
                <a:solidFill>
                  <a:schemeClr val="bg1"/>
                </a:solidFill>
                <a:latin typeface="Times New Roman" panose="02020603050405020304" pitchFamily="18" charset="0"/>
                <a:ea typeface="宋体" panose="02010600030101010101" pitchFamily="2" charset="-122"/>
              </a:rPr>
              <a:t>）。</a:t>
            </a:r>
            <a:r>
              <a:rPr lang="zh-CN" altLang="en-US" b="0" dirty="0">
                <a:solidFill>
                  <a:schemeClr val="bg1"/>
                </a:solidFill>
                <a:latin typeface="宋体" panose="02010600030101010101" pitchFamily="2" charset="-122"/>
                <a:ea typeface="宋体" panose="02010600030101010101" pitchFamily="2" charset="-122"/>
              </a:rPr>
              <a:t>     </a:t>
            </a:r>
          </a:p>
        </p:txBody>
      </p:sp>
      <p:sp>
        <p:nvSpPr>
          <p:cNvPr id="211064" name="Text Box 120"/>
          <p:cNvSpPr txBox="1"/>
          <p:nvPr/>
        </p:nvSpPr>
        <p:spPr>
          <a:xfrm>
            <a:off x="-38100" y="5661025"/>
            <a:ext cx="941388" cy="457200"/>
          </a:xfrm>
          <a:prstGeom prst="rect">
            <a:avLst/>
          </a:prstGeom>
          <a:noFill/>
          <a:ln w="9525">
            <a:noFill/>
          </a:ln>
        </p:spPr>
        <p:txBody>
          <a:bodyPr anchor="t" anchorCtr="0">
            <a:spAutoFit/>
          </a:bodyPr>
          <a:lstStyle/>
          <a:p>
            <a:pPr>
              <a:spcBef>
                <a:spcPct val="50000"/>
              </a:spcBef>
            </a:pPr>
            <a:r>
              <a:rPr lang="zh-CN" altLang="en-US" dirty="0">
                <a:solidFill>
                  <a:srgbClr val="FFB7B7"/>
                </a:solidFill>
                <a:latin typeface="Arial" panose="020B0604020202020204" pitchFamily="34" charset="0"/>
                <a:ea typeface="宋体" panose="02010600030101010101" pitchFamily="2" charset="-122"/>
              </a:rPr>
              <a:t>缺点</a:t>
            </a:r>
            <a:r>
              <a:rPr lang="zh-CN" altLang="en-US" dirty="0">
                <a:solidFill>
                  <a:srgbClr val="FFB7B7"/>
                </a:solidFill>
                <a:latin typeface="Arial" panose="020B0604020202020204" pitchFamily="34" charset="0"/>
                <a:ea typeface="幼圆" panose="02010509060101010101" pitchFamily="49" charset="-122"/>
              </a:rPr>
              <a:t>：</a:t>
            </a:r>
          </a:p>
        </p:txBody>
      </p:sp>
      <p:pic>
        <p:nvPicPr>
          <p:cNvPr id="68623" name="Picture 18"/>
          <p:cNvPicPr>
            <a:picLocks noChangeAspect="1"/>
          </p:cNvPicPr>
          <p:nvPr/>
        </p:nvPicPr>
        <p:blipFill>
          <a:blip r:embed="rId6"/>
          <a:stretch>
            <a:fillRect/>
          </a:stretch>
        </p:blipFill>
        <p:spPr>
          <a:xfrm>
            <a:off x="6156325" y="1196975"/>
            <a:ext cx="2638425" cy="26003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000" name="Rectangle 8"/>
          <p:cNvSpPr/>
          <p:nvPr/>
        </p:nvSpPr>
        <p:spPr>
          <a:xfrm>
            <a:off x="388938" y="549275"/>
            <a:ext cx="4038600" cy="503238"/>
          </a:xfrm>
          <a:prstGeom prst="rect">
            <a:avLst/>
          </a:prstGeom>
          <a:noFill/>
          <a:ln w="9525">
            <a:noFill/>
          </a:ln>
        </p:spPr>
        <p:txBody>
          <a:bodyPr anchor="t" anchorCtr="0"/>
          <a:lstStyle/>
          <a:p>
            <a:pPr marL="381000" indent="-381000"/>
            <a:r>
              <a:rPr lang="en-US" altLang="zh-CN" dirty="0">
                <a:solidFill>
                  <a:schemeClr val="bg1"/>
                </a:solidFill>
                <a:latin typeface="Times New Roman" panose="02020603050405020304" pitchFamily="18" charset="0"/>
                <a:ea typeface="宋体" panose="02010600030101010101" pitchFamily="2" charset="-122"/>
              </a:rPr>
              <a:t>2.  </a:t>
            </a:r>
            <a:r>
              <a:rPr lang="zh-CN" altLang="en-US" dirty="0">
                <a:solidFill>
                  <a:schemeClr val="bg1"/>
                </a:solidFill>
                <a:latin typeface="Times New Roman" panose="02020603050405020304" pitchFamily="18" charset="0"/>
                <a:ea typeface="宋体" panose="02010600030101010101" pitchFamily="2" charset="-122"/>
              </a:rPr>
              <a:t>矢量场的纯通量源</a:t>
            </a:r>
            <a:r>
              <a:rPr lang="zh-CN" altLang="en-US" b="0" dirty="0">
                <a:solidFill>
                  <a:schemeClr val="bg1"/>
                </a:solidFill>
                <a:latin typeface="Arial" panose="020B0604020202020204" pitchFamily="34" charset="0"/>
                <a:ea typeface="宋体" panose="02010600030101010101" pitchFamily="2" charset="-122"/>
              </a:rPr>
              <a:t>   </a:t>
            </a:r>
          </a:p>
        </p:txBody>
      </p:sp>
      <p:sp>
        <p:nvSpPr>
          <p:cNvPr id="213054" name="Rectangle 62"/>
          <p:cNvSpPr/>
          <p:nvPr/>
        </p:nvSpPr>
        <p:spPr>
          <a:xfrm>
            <a:off x="179388" y="2268538"/>
            <a:ext cx="5903912" cy="576262"/>
          </a:xfrm>
          <a:prstGeom prst="rect">
            <a:avLst/>
          </a:prstGeom>
          <a:noFill/>
          <a:ln w="9525">
            <a:noFill/>
          </a:ln>
        </p:spPr>
        <p:txBody>
          <a:bodyPr anchor="t" anchorCtr="0"/>
          <a:lstStyle/>
          <a:p>
            <a:pPr marL="381000" indent="-381000">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通量的概念：</a:t>
            </a:r>
            <a:endParaRPr lang="zh-CN" altLang="en-US" dirty="0">
              <a:solidFill>
                <a:schemeClr val="bg1"/>
              </a:solidFill>
              <a:latin typeface="Arial" panose="020B0604020202020204" pitchFamily="34" charset="0"/>
              <a:ea typeface="幼圆" panose="02010509060101010101" pitchFamily="49" charset="-122"/>
            </a:endParaRPr>
          </a:p>
        </p:txBody>
      </p:sp>
      <p:sp>
        <p:nvSpPr>
          <p:cNvPr id="70659" name="Rectangle 65"/>
          <p:cNvSpPr/>
          <p:nvPr/>
        </p:nvSpPr>
        <p:spPr>
          <a:xfrm>
            <a:off x="1897063" y="2854325"/>
            <a:ext cx="2746375" cy="566738"/>
          </a:xfrm>
          <a:prstGeom prst="rect">
            <a:avLst/>
          </a:prstGeom>
          <a:noFill/>
          <a:ln w="9525">
            <a:noFill/>
          </a:ln>
        </p:spPr>
        <p:txBody>
          <a:bodyPr anchor="t" anchorCtr="0"/>
          <a:lstStyle/>
          <a:p>
            <a:pPr marL="381000" indent="-381000">
              <a:lnSpc>
                <a:spcPct val="130000"/>
              </a:lnSpc>
              <a:spcBef>
                <a:spcPct val="0"/>
              </a:spcBef>
            </a:pPr>
            <a:r>
              <a:rPr lang="en-US" altLang="zh-CN" dirty="0">
                <a:solidFill>
                  <a:schemeClr val="bg1"/>
                </a:solidFill>
                <a:latin typeface="Arial" panose="020B0604020202020204" pitchFamily="34" charset="0"/>
                <a:ea typeface="楷体_GB2312" pitchFamily="49" charset="-122"/>
              </a:rPr>
              <a:t>——</a:t>
            </a:r>
            <a:r>
              <a:rPr lang="zh-CN" altLang="en-US" dirty="0">
                <a:solidFill>
                  <a:schemeClr val="bg1"/>
                </a:solidFill>
                <a:latin typeface="Arial" panose="020B0604020202020204" pitchFamily="34" charset="0"/>
                <a:ea typeface="楷体_GB2312" pitchFamily="49" charset="-122"/>
              </a:rPr>
              <a:t>面积元矢量；</a:t>
            </a:r>
            <a:endParaRPr lang="zh-CN" altLang="en-US" b="0" dirty="0">
              <a:solidFill>
                <a:schemeClr val="bg1"/>
              </a:solidFill>
              <a:latin typeface="Arial" panose="020B0604020202020204" pitchFamily="34" charset="0"/>
              <a:ea typeface="楷体_GB2312" pitchFamily="49" charset="-122"/>
            </a:endParaRPr>
          </a:p>
        </p:txBody>
      </p:sp>
      <p:grpSp>
        <p:nvGrpSpPr>
          <p:cNvPr id="213069" name="Group 77"/>
          <p:cNvGrpSpPr/>
          <p:nvPr/>
        </p:nvGrpSpPr>
        <p:grpSpPr>
          <a:xfrm>
            <a:off x="812800" y="3502025"/>
            <a:ext cx="4622800" cy="647700"/>
            <a:chOff x="792" y="2205"/>
            <a:chExt cx="2814" cy="384"/>
          </a:xfrm>
        </p:grpSpPr>
        <p:graphicFrame>
          <p:nvGraphicFramePr>
            <p:cNvPr id="70661" name="Object 70"/>
            <p:cNvGraphicFramePr>
              <a:graphicFrameLocks noChangeAspect="1"/>
            </p:cNvGraphicFramePr>
            <p:nvPr/>
          </p:nvGraphicFramePr>
          <p:xfrm>
            <a:off x="792" y="2272"/>
            <a:ext cx="227" cy="317"/>
          </p:xfrm>
          <a:graphic>
            <a:graphicData uri="http://schemas.openxmlformats.org/presentationml/2006/ole">
              <mc:AlternateContent xmlns:mc="http://schemas.openxmlformats.org/markup-compatibility/2006">
                <mc:Choice xmlns:v="urn:schemas-microsoft-com:vml" Requires="v">
                  <p:oleObj r:id="rId3" imgW="104775" imgH="160020" progId="Equation.DSMT4">
                    <p:embed/>
                  </p:oleObj>
                </mc:Choice>
                <mc:Fallback>
                  <p:oleObj r:id="rId3" imgW="104775" imgH="160020" progId="Equation.DSMT4">
                    <p:embed/>
                    <p:pic>
                      <p:nvPicPr>
                        <p:cNvPr id="0" name="图片 3217"/>
                        <p:cNvPicPr/>
                        <p:nvPr/>
                      </p:nvPicPr>
                      <p:blipFill>
                        <a:blip r:embed="rId4">
                          <a:clrChange>
                            <a:clrFrom>
                              <a:srgbClr val="000000"/>
                            </a:clrFrom>
                            <a:clrTo>
                              <a:srgbClr val="FFFFFF"/>
                            </a:clrTo>
                          </a:clrChange>
                        </a:blip>
                        <a:stretch>
                          <a:fillRect/>
                        </a:stretch>
                      </p:blipFill>
                      <p:spPr>
                        <a:xfrm>
                          <a:off x="792" y="2272"/>
                          <a:ext cx="227" cy="317"/>
                        </a:xfrm>
                        <a:prstGeom prst="rect">
                          <a:avLst/>
                        </a:prstGeom>
                        <a:noFill/>
                        <a:ln w="38100">
                          <a:noFill/>
                          <a:miter/>
                        </a:ln>
                      </p:spPr>
                    </p:pic>
                  </p:oleObj>
                </mc:Fallback>
              </mc:AlternateContent>
            </a:graphicData>
          </a:graphic>
        </p:graphicFrame>
        <p:sp>
          <p:nvSpPr>
            <p:cNvPr id="70662" name="Rectangle 71"/>
            <p:cNvSpPr/>
            <p:nvPr/>
          </p:nvSpPr>
          <p:spPr>
            <a:xfrm>
              <a:off x="975" y="2205"/>
              <a:ext cx="2631" cy="318"/>
            </a:xfrm>
            <a:prstGeom prst="rect">
              <a:avLst/>
            </a:prstGeom>
            <a:noFill/>
            <a:ln w="9525">
              <a:noFill/>
            </a:ln>
          </p:spPr>
          <p:txBody>
            <a:bodyPr anchor="t" anchorCtr="0"/>
            <a:lstStyle/>
            <a:p>
              <a:pPr marL="381000" indent="-381000">
                <a:lnSpc>
                  <a:spcPct val="130000"/>
                </a:lnSpc>
                <a:spcBef>
                  <a:spcPct val="0"/>
                </a:spcBef>
              </a:pPr>
              <a:r>
                <a:rPr lang="en-US" altLang="zh-CN" dirty="0">
                  <a:solidFill>
                    <a:schemeClr val="bg1"/>
                  </a:solidFill>
                  <a:latin typeface="Arial" panose="020B0604020202020204" pitchFamily="34" charset="0"/>
                  <a:ea typeface="楷体_GB2312" pitchFamily="49" charset="-122"/>
                </a:rPr>
                <a:t>——</a:t>
              </a:r>
              <a:r>
                <a:rPr lang="zh-CN" altLang="en-US" dirty="0">
                  <a:solidFill>
                    <a:schemeClr val="bg1"/>
                  </a:solidFill>
                  <a:latin typeface="Arial" panose="020B0604020202020204" pitchFamily="34" charset="0"/>
                  <a:ea typeface="楷体_GB2312" pitchFamily="49" charset="-122"/>
                </a:rPr>
                <a:t>面积元的法向单位矢量；</a:t>
              </a:r>
              <a:endParaRPr lang="zh-CN" altLang="en-US" b="0" dirty="0">
                <a:solidFill>
                  <a:schemeClr val="bg1"/>
                </a:solidFill>
                <a:latin typeface="Arial" panose="020B0604020202020204" pitchFamily="34" charset="0"/>
                <a:ea typeface="楷体_GB2312" pitchFamily="49" charset="-122"/>
              </a:endParaRPr>
            </a:p>
          </p:txBody>
        </p:sp>
      </p:grpSp>
      <p:sp>
        <p:nvSpPr>
          <p:cNvPr id="213066" name="Rectangle 74"/>
          <p:cNvSpPr/>
          <p:nvPr/>
        </p:nvSpPr>
        <p:spPr>
          <a:xfrm>
            <a:off x="323850" y="4165600"/>
            <a:ext cx="5976938" cy="1079500"/>
          </a:xfrm>
          <a:prstGeom prst="rect">
            <a:avLst/>
          </a:prstGeom>
          <a:noFill/>
          <a:ln w="9525">
            <a:noFill/>
          </a:ln>
        </p:spPr>
        <p:txBody>
          <a:bodyPr anchor="t" anchorCtr="0"/>
          <a:lstStyle/>
          <a:p>
            <a:pPr>
              <a:lnSpc>
                <a:spcPct val="130000"/>
              </a:lnSpc>
              <a:spcBef>
                <a:spcPct val="0"/>
              </a:spcBef>
            </a:pPr>
            <a:r>
              <a:rPr lang="zh-CN" altLang="en-US" dirty="0">
                <a:solidFill>
                  <a:schemeClr val="bg1"/>
                </a:solidFill>
                <a:latin typeface="Times New Roman" panose="02020603050405020304" pitchFamily="18" charset="0"/>
                <a:ea typeface="楷体_GB2312" pitchFamily="49" charset="-122"/>
              </a:rPr>
              <a:t>如果曲面 </a:t>
            </a:r>
            <a:r>
              <a:rPr lang="en-US" altLang="zh-CN" i="1" dirty="0">
                <a:solidFill>
                  <a:schemeClr val="bg1"/>
                </a:solidFill>
                <a:latin typeface="Times New Roman" panose="02020603050405020304" pitchFamily="18" charset="0"/>
                <a:ea typeface="楷体_GB2312" pitchFamily="49" charset="-122"/>
              </a:rPr>
              <a:t>S </a:t>
            </a:r>
            <a:r>
              <a:rPr lang="zh-CN" altLang="en-US" dirty="0">
                <a:solidFill>
                  <a:schemeClr val="bg1"/>
                </a:solidFill>
                <a:latin typeface="Times New Roman" panose="02020603050405020304" pitchFamily="18" charset="0"/>
                <a:ea typeface="楷体_GB2312" pitchFamily="49" charset="-122"/>
              </a:rPr>
              <a:t>是闭合的，则规定曲面的法向矢量由闭合曲面内指向外，矢量场对闭合曲面的通量是</a:t>
            </a:r>
          </a:p>
        </p:txBody>
      </p:sp>
      <p:graphicFrame>
        <p:nvGraphicFramePr>
          <p:cNvPr id="213092" name="Object 100"/>
          <p:cNvGraphicFramePr>
            <a:graphicFrameLocks noChangeAspect="1"/>
          </p:cNvGraphicFramePr>
          <p:nvPr/>
        </p:nvGraphicFramePr>
        <p:xfrm>
          <a:off x="2124075" y="5137150"/>
          <a:ext cx="2879725" cy="776288"/>
        </p:xfrm>
        <a:graphic>
          <a:graphicData uri="http://schemas.openxmlformats.org/presentationml/2006/ole">
            <mc:AlternateContent xmlns:mc="http://schemas.openxmlformats.org/markup-compatibility/2006">
              <mc:Choice xmlns:v="urn:schemas-microsoft-com:vml" Requires="v">
                <p:oleObj r:id="rId5" imgW="1112520" imgH="264160" progId="Equation.3">
                  <p:embed/>
                </p:oleObj>
              </mc:Choice>
              <mc:Fallback>
                <p:oleObj r:id="rId5" imgW="1112520" imgH="264160" progId="Equation.3">
                  <p:embed/>
                  <p:pic>
                    <p:nvPicPr>
                      <p:cNvPr id="0" name="图片 3219"/>
                      <p:cNvPicPr/>
                      <p:nvPr/>
                    </p:nvPicPr>
                    <p:blipFill>
                      <a:blip r:embed="rId6">
                        <a:clrChange>
                          <a:clrFrom>
                            <a:srgbClr val="000000"/>
                          </a:clrFrom>
                          <a:clrTo>
                            <a:srgbClr val="FFFFFF"/>
                          </a:clrTo>
                        </a:clrChange>
                      </a:blip>
                      <a:stretch>
                        <a:fillRect/>
                      </a:stretch>
                    </p:blipFill>
                    <p:spPr>
                      <a:xfrm>
                        <a:off x="2124075" y="5137150"/>
                        <a:ext cx="2879725" cy="776288"/>
                      </a:xfrm>
                      <a:prstGeom prst="rect">
                        <a:avLst/>
                      </a:prstGeom>
                      <a:noFill/>
                      <a:ln w="38100">
                        <a:noFill/>
                        <a:miter/>
                      </a:ln>
                    </p:spPr>
                  </p:pic>
                </p:oleObj>
              </mc:Fallback>
            </mc:AlternateContent>
          </a:graphicData>
        </a:graphic>
      </p:graphicFrame>
      <p:sp>
        <p:nvSpPr>
          <p:cNvPr id="70665" name="AutoShape 103">
            <a:hlinkClick r:id="rId7"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0666" name="AutoShape 10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0667" name="AutoShape 10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0668" name="AutoShape 10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213101" name="Object 109"/>
          <p:cNvGraphicFramePr>
            <a:graphicFrameLocks noChangeAspect="1"/>
          </p:cNvGraphicFramePr>
          <p:nvPr/>
        </p:nvGraphicFramePr>
        <p:xfrm>
          <a:off x="2124075" y="2274888"/>
          <a:ext cx="2879725" cy="787400"/>
        </p:xfrm>
        <a:graphic>
          <a:graphicData uri="http://schemas.openxmlformats.org/presentationml/2006/ole">
            <mc:AlternateContent xmlns:mc="http://schemas.openxmlformats.org/markup-compatibility/2006">
              <mc:Choice xmlns:v="urn:schemas-microsoft-com:vml" Requires="v">
                <p:oleObj r:id="rId8" imgW="1112520" imgH="264160" progId="Equation.3">
                  <p:embed/>
                </p:oleObj>
              </mc:Choice>
              <mc:Fallback>
                <p:oleObj r:id="rId8" imgW="1112520" imgH="264160" progId="Equation.3">
                  <p:embed/>
                  <p:pic>
                    <p:nvPicPr>
                      <p:cNvPr id="0" name="图片 3218"/>
                      <p:cNvPicPr/>
                      <p:nvPr/>
                    </p:nvPicPr>
                    <p:blipFill>
                      <a:blip r:embed="rId9">
                        <a:clrChange>
                          <a:clrFrom>
                            <a:srgbClr val="000000"/>
                          </a:clrFrom>
                          <a:clrTo>
                            <a:srgbClr val="FFFFFF"/>
                          </a:clrTo>
                        </a:clrChange>
                      </a:blip>
                      <a:stretch>
                        <a:fillRect/>
                      </a:stretch>
                    </p:blipFill>
                    <p:spPr>
                      <a:xfrm>
                        <a:off x="2124075" y="2274888"/>
                        <a:ext cx="2879725" cy="787400"/>
                      </a:xfrm>
                      <a:prstGeom prst="rect">
                        <a:avLst/>
                      </a:prstGeom>
                      <a:noFill/>
                      <a:ln w="38100">
                        <a:noFill/>
                        <a:miter/>
                      </a:ln>
                    </p:spPr>
                  </p:pic>
                </p:oleObj>
              </mc:Fallback>
            </mc:AlternateContent>
          </a:graphicData>
        </a:graphic>
      </p:graphicFrame>
      <p:sp>
        <p:nvSpPr>
          <p:cNvPr id="213102" name="Rectangle 110"/>
          <p:cNvSpPr/>
          <p:nvPr/>
        </p:nvSpPr>
        <p:spPr>
          <a:xfrm>
            <a:off x="323850" y="5734050"/>
            <a:ext cx="5103813" cy="576263"/>
          </a:xfrm>
          <a:prstGeom prst="rect">
            <a:avLst/>
          </a:prstGeom>
          <a:noFill/>
          <a:ln w="9525">
            <a:noFill/>
          </a:ln>
        </p:spPr>
        <p:txBody>
          <a:bodyPr anchor="t" anchorCtr="0"/>
          <a:lstStyle/>
          <a:p>
            <a:pPr marL="342900" indent="-342900">
              <a:lnSpc>
                <a:spcPct val="130000"/>
              </a:lnSpc>
              <a:spcBef>
                <a:spcPct val="0"/>
              </a:spcBef>
            </a:pPr>
            <a:r>
              <a:rPr lang="zh-CN" altLang="en-US" dirty="0">
                <a:solidFill>
                  <a:srgbClr val="FFB7B7"/>
                </a:solidFill>
                <a:latin typeface="Times New Roman" panose="02020603050405020304" pitchFamily="18" charset="0"/>
                <a:ea typeface="宋体" panose="02010600030101010101" pitchFamily="2" charset="-122"/>
              </a:rPr>
              <a:t>通量的物理意义</a:t>
            </a:r>
            <a:r>
              <a:rPr lang="zh-CN" altLang="en-US" dirty="0">
                <a:solidFill>
                  <a:srgbClr val="FFB7B7"/>
                </a:solidFill>
                <a:latin typeface="Times New Roman" panose="02020603050405020304" pitchFamily="18" charset="0"/>
                <a:ea typeface="幼圆" panose="02010509060101010101" pitchFamily="49" charset="-122"/>
              </a:rPr>
              <a:t>：</a:t>
            </a:r>
            <a:r>
              <a:rPr lang="zh-CN" altLang="en-US" dirty="0">
                <a:solidFill>
                  <a:schemeClr val="bg1"/>
                </a:solidFill>
                <a:latin typeface="Times New Roman" panose="02020603050405020304" pitchFamily="18" charset="0"/>
                <a:ea typeface="楷体_GB2312" pitchFamily="49" charset="-122"/>
              </a:rPr>
              <a:t>总的通量源强度。</a:t>
            </a:r>
          </a:p>
        </p:txBody>
      </p:sp>
      <p:sp>
        <p:nvSpPr>
          <p:cNvPr id="213103" name="Rectangle 111"/>
          <p:cNvSpPr/>
          <p:nvPr/>
        </p:nvSpPr>
        <p:spPr>
          <a:xfrm>
            <a:off x="250825" y="981075"/>
            <a:ext cx="5903913" cy="576263"/>
          </a:xfrm>
          <a:prstGeom prst="rect">
            <a:avLst/>
          </a:prstGeom>
          <a:noFill/>
          <a:ln w="9525">
            <a:noFill/>
          </a:ln>
        </p:spPr>
        <p:txBody>
          <a:bodyPr anchor="t" anchorCtr="0"/>
          <a:lstStyle/>
          <a:p>
            <a:pPr marL="381000" indent="-381000">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引入通量的意义：</a:t>
            </a:r>
            <a:endParaRPr lang="zh-CN" altLang="en-US" dirty="0">
              <a:solidFill>
                <a:schemeClr val="bg1"/>
              </a:solidFill>
              <a:latin typeface="Arial" panose="020B0604020202020204" pitchFamily="34" charset="0"/>
              <a:ea typeface="幼圆" panose="02010509060101010101" pitchFamily="49" charset="-122"/>
            </a:endParaRPr>
          </a:p>
        </p:txBody>
      </p:sp>
      <p:sp>
        <p:nvSpPr>
          <p:cNvPr id="213104" name="Rectangle 112"/>
          <p:cNvSpPr/>
          <p:nvPr/>
        </p:nvSpPr>
        <p:spPr>
          <a:xfrm>
            <a:off x="323850" y="1484313"/>
            <a:ext cx="5911850" cy="1098550"/>
          </a:xfrm>
          <a:prstGeom prst="rect">
            <a:avLst/>
          </a:prstGeom>
          <a:noFill/>
          <a:ln w="9525">
            <a:noFill/>
          </a:ln>
        </p:spPr>
        <p:txBody>
          <a:bodyPr anchor="t" anchorCtr="0"/>
          <a:lstStyle/>
          <a:p>
            <a:pPr marL="482600" indent="-482600"/>
            <a:r>
              <a:rPr lang="zh-CN" altLang="en-US" dirty="0">
                <a:solidFill>
                  <a:schemeClr val="bg1"/>
                </a:solidFill>
                <a:latin typeface="Times New Roman" panose="02020603050405020304" pitchFamily="18" charset="0"/>
                <a:ea typeface="宋体" panose="02010600030101010101" pitchFamily="2" charset="-122"/>
              </a:rPr>
              <a:t>克服矢量线不能定量描述矢量场的大小的</a:t>
            </a:r>
            <a:endParaRPr lang="en-US" altLang="zh-CN" dirty="0">
              <a:solidFill>
                <a:schemeClr val="bg1"/>
              </a:solidFill>
              <a:latin typeface="Times New Roman" panose="02020603050405020304" pitchFamily="18" charset="0"/>
              <a:ea typeface="宋体" panose="02010600030101010101" pitchFamily="2" charset="-122"/>
            </a:endParaRPr>
          </a:p>
          <a:p>
            <a:pPr marL="482600" indent="-482600"/>
            <a:r>
              <a:rPr lang="zh-CN" altLang="en-US" dirty="0">
                <a:solidFill>
                  <a:schemeClr val="bg1"/>
                </a:solidFill>
                <a:latin typeface="Times New Roman" panose="02020603050405020304" pitchFamily="18" charset="0"/>
                <a:ea typeface="宋体" panose="02010600030101010101" pitchFamily="2" charset="-122"/>
              </a:rPr>
              <a:t>限制，</a:t>
            </a:r>
            <a:r>
              <a:rPr lang="zh-CN" altLang="en-US" dirty="0">
                <a:solidFill>
                  <a:srgbClr val="EA162F"/>
                </a:solidFill>
                <a:latin typeface="Times New Roman" panose="02020603050405020304" pitchFamily="18" charset="0"/>
                <a:ea typeface="宋体" panose="02010600030101010101" pitchFamily="2" charset="-122"/>
              </a:rPr>
              <a:t>定量描述</a:t>
            </a:r>
            <a:r>
              <a:rPr lang="zh-CN" altLang="en-US" dirty="0">
                <a:solidFill>
                  <a:schemeClr val="bg1"/>
                </a:solidFill>
                <a:latin typeface="Times New Roman" panose="02020603050405020304" pitchFamily="18" charset="0"/>
                <a:ea typeface="宋体" panose="02010600030101010101" pitchFamily="2" charset="-122"/>
              </a:rPr>
              <a:t>矢量场的通量源大小。</a:t>
            </a:r>
          </a:p>
        </p:txBody>
      </p:sp>
      <p:pic>
        <p:nvPicPr>
          <p:cNvPr id="53273" name="Picture 25"/>
          <p:cNvPicPr>
            <a:picLocks noChangeAspect="1"/>
          </p:cNvPicPr>
          <p:nvPr/>
        </p:nvPicPr>
        <p:blipFill>
          <a:blip r:embed="rId10"/>
          <a:stretch>
            <a:fillRect/>
          </a:stretch>
        </p:blipFill>
        <p:spPr>
          <a:xfrm>
            <a:off x="6372225" y="3860800"/>
            <a:ext cx="2343150" cy="2524125"/>
          </a:xfrm>
          <a:prstGeom prst="rect">
            <a:avLst/>
          </a:prstGeom>
          <a:noFill/>
          <a:ln w="9525">
            <a:noFill/>
          </a:ln>
        </p:spPr>
      </p:pic>
      <p:pic>
        <p:nvPicPr>
          <p:cNvPr id="53274" name="Picture 26"/>
          <p:cNvPicPr>
            <a:picLocks noChangeAspect="1"/>
          </p:cNvPicPr>
          <p:nvPr/>
        </p:nvPicPr>
        <p:blipFill>
          <a:blip r:embed="rId11"/>
          <a:stretch>
            <a:fillRect/>
          </a:stretch>
        </p:blipFill>
        <p:spPr>
          <a:xfrm>
            <a:off x="6372225" y="1052513"/>
            <a:ext cx="2343150" cy="2524125"/>
          </a:xfrm>
          <a:prstGeom prst="rect">
            <a:avLst/>
          </a:prstGeom>
          <a:noFill/>
          <a:ln w="9525">
            <a:noFill/>
          </a:ln>
        </p:spPr>
      </p:pic>
      <p:graphicFrame>
        <p:nvGraphicFramePr>
          <p:cNvPr id="2" name="Object 100"/>
          <p:cNvGraphicFramePr>
            <a:graphicFrameLocks noChangeAspect="1"/>
          </p:cNvGraphicFramePr>
          <p:nvPr/>
        </p:nvGraphicFramePr>
        <p:xfrm>
          <a:off x="755650" y="2884488"/>
          <a:ext cx="1241425" cy="687387"/>
        </p:xfrm>
        <a:graphic>
          <a:graphicData uri="http://schemas.openxmlformats.org/presentationml/2006/ole">
            <mc:AlternateContent xmlns:mc="http://schemas.openxmlformats.org/markup-compatibility/2006">
              <mc:Choice xmlns:v="urn:schemas-microsoft-com:vml" Requires="v">
                <p:oleObj r:id="rId12" imgW="451485" imgH="220345" progId="Equation.3">
                  <p:embed/>
                </p:oleObj>
              </mc:Choice>
              <mc:Fallback>
                <p:oleObj r:id="rId12" imgW="451485" imgH="220345" progId="Equation.3">
                  <p:embed/>
                  <p:pic>
                    <p:nvPicPr>
                      <p:cNvPr id="0" name="图片 3220"/>
                      <p:cNvPicPr/>
                      <p:nvPr/>
                    </p:nvPicPr>
                    <p:blipFill>
                      <a:blip r:embed="rId13">
                        <a:clrChange>
                          <a:clrFrom>
                            <a:srgbClr val="000000"/>
                          </a:clrFrom>
                          <a:clrTo>
                            <a:srgbClr val="FFFFFF"/>
                          </a:clrTo>
                        </a:clrChange>
                      </a:blip>
                      <a:stretch>
                        <a:fillRect/>
                      </a:stretch>
                    </p:blipFill>
                    <p:spPr>
                      <a:xfrm>
                        <a:off x="755650" y="2884488"/>
                        <a:ext cx="1241425" cy="687387"/>
                      </a:xfrm>
                      <a:prstGeom prst="rect">
                        <a:avLst/>
                      </a:prstGeom>
                      <a:noFill/>
                      <a:ln w="38100">
                        <a:noFill/>
                        <a:miter/>
                      </a:ln>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7099" name="Object 11"/>
          <p:cNvGraphicFramePr>
            <a:graphicFrameLocks noChangeAspect="1"/>
          </p:cNvGraphicFramePr>
          <p:nvPr/>
        </p:nvGraphicFramePr>
        <p:xfrm>
          <a:off x="1030288" y="3195638"/>
          <a:ext cx="877887" cy="409575"/>
        </p:xfrm>
        <a:graphic>
          <a:graphicData uri="http://schemas.openxmlformats.org/presentationml/2006/ole">
            <mc:AlternateContent xmlns:mc="http://schemas.openxmlformats.org/markup-compatibility/2006">
              <mc:Choice xmlns:v="urn:schemas-microsoft-com:vml" Requires="v">
                <p:oleObj r:id="rId3" imgW="381000" imgH="203200" progId="Equation.3">
                  <p:embed/>
                </p:oleObj>
              </mc:Choice>
              <mc:Fallback>
                <p:oleObj r:id="rId3" imgW="381000" imgH="203200" progId="Equation.3">
                  <p:embed/>
                  <p:pic>
                    <p:nvPicPr>
                      <p:cNvPr id="0" name="图片 3212"/>
                      <p:cNvPicPr/>
                      <p:nvPr/>
                    </p:nvPicPr>
                    <p:blipFill>
                      <a:blip r:embed="rId4"/>
                      <a:stretch>
                        <a:fillRect/>
                      </a:stretch>
                    </p:blipFill>
                    <p:spPr>
                      <a:xfrm>
                        <a:off x="1030288" y="3195638"/>
                        <a:ext cx="877887" cy="409575"/>
                      </a:xfrm>
                      <a:prstGeom prst="rect">
                        <a:avLst/>
                      </a:prstGeom>
                      <a:solidFill>
                        <a:schemeClr val="accent1"/>
                      </a:solidFill>
                      <a:ln w="9525" cap="flat" cmpd="sng">
                        <a:solidFill>
                          <a:schemeClr val="bg1"/>
                        </a:solidFill>
                        <a:prstDash val="solid"/>
                        <a:miter/>
                        <a:headEnd type="none" w="med" len="med"/>
                        <a:tailEnd type="none" w="med" len="med"/>
                      </a:ln>
                    </p:spPr>
                  </p:pic>
                </p:oleObj>
              </mc:Fallback>
            </mc:AlternateContent>
          </a:graphicData>
        </a:graphic>
      </p:graphicFrame>
      <p:graphicFrame>
        <p:nvGraphicFramePr>
          <p:cNvPr id="217101" name="Object 13"/>
          <p:cNvGraphicFramePr>
            <a:graphicFrameLocks noChangeAspect="1"/>
          </p:cNvGraphicFramePr>
          <p:nvPr/>
        </p:nvGraphicFramePr>
        <p:xfrm>
          <a:off x="4067175" y="3233738"/>
          <a:ext cx="854075" cy="382587"/>
        </p:xfrm>
        <a:graphic>
          <a:graphicData uri="http://schemas.openxmlformats.org/presentationml/2006/ole">
            <mc:AlternateContent xmlns:mc="http://schemas.openxmlformats.org/markup-compatibility/2006">
              <mc:Choice xmlns:v="urn:schemas-microsoft-com:vml" Requires="v">
                <p:oleObj r:id="rId5" imgW="431800" imgH="215900" progId="Equation.3">
                  <p:embed/>
                </p:oleObj>
              </mc:Choice>
              <mc:Fallback>
                <p:oleObj r:id="rId5" imgW="431800" imgH="215900" progId="Equation.3">
                  <p:embed/>
                  <p:pic>
                    <p:nvPicPr>
                      <p:cNvPr id="0" name="图片 3210"/>
                      <p:cNvPicPr/>
                      <p:nvPr/>
                    </p:nvPicPr>
                    <p:blipFill>
                      <a:blip r:embed="rId6"/>
                      <a:stretch>
                        <a:fillRect/>
                      </a:stretch>
                    </p:blipFill>
                    <p:spPr>
                      <a:xfrm>
                        <a:off x="4067175" y="3233738"/>
                        <a:ext cx="854075" cy="382587"/>
                      </a:xfrm>
                      <a:prstGeom prst="rect">
                        <a:avLst/>
                      </a:prstGeom>
                      <a:solidFill>
                        <a:schemeClr val="accent1"/>
                      </a:solidFill>
                      <a:ln w="38100">
                        <a:noFill/>
                        <a:miter/>
                      </a:ln>
                    </p:spPr>
                  </p:pic>
                </p:oleObj>
              </mc:Fallback>
            </mc:AlternateContent>
          </a:graphicData>
        </a:graphic>
      </p:graphicFrame>
      <p:sp>
        <p:nvSpPr>
          <p:cNvPr id="217106" name="Text Box 18"/>
          <p:cNvSpPr txBox="1"/>
          <p:nvPr/>
        </p:nvSpPr>
        <p:spPr>
          <a:xfrm>
            <a:off x="2987675" y="4016375"/>
            <a:ext cx="3024188" cy="1320800"/>
          </a:xfrm>
          <a:prstGeom prst="rect">
            <a:avLst/>
          </a:prstGeom>
          <a:noFill/>
          <a:ln w="9525" cap="flat" cmpd="sng">
            <a:solidFill>
              <a:schemeClr val="bg1"/>
            </a:solidFill>
            <a:prstDash val="solid"/>
            <a:miter/>
            <a:headEnd type="none" w="med" len="med"/>
            <a:tailEnd type="none" w="med" len="med"/>
          </a:ln>
        </p:spPr>
        <p:txBody>
          <a:bodyPr anchor="t" anchorCtr="0">
            <a:spAutoFit/>
          </a:bodyPr>
          <a:lstStyle/>
          <a:p>
            <a:pPr algn="ctr">
              <a:spcBef>
                <a:spcPct val="50000"/>
              </a:spcBef>
            </a:pPr>
            <a:r>
              <a:rPr lang="zh-CN" altLang="en-US" sz="2000" dirty="0">
                <a:solidFill>
                  <a:schemeClr val="bg1"/>
                </a:solidFill>
                <a:latin typeface="楷体_GB2312" pitchFamily="49" charset="-122"/>
                <a:ea typeface="楷体_GB2312" pitchFamily="49" charset="-122"/>
              </a:rPr>
              <a:t>穿出闭合曲面的通量</a:t>
            </a:r>
          </a:p>
          <a:p>
            <a:pPr algn="ctr">
              <a:spcBef>
                <a:spcPct val="50000"/>
              </a:spcBef>
            </a:pPr>
            <a:r>
              <a:rPr lang="en-US" altLang="zh-CN" sz="2000" dirty="0">
                <a:solidFill>
                  <a:schemeClr val="bg1"/>
                </a:solidFill>
                <a:latin typeface="楷体_GB2312" pitchFamily="49" charset="-122"/>
                <a:ea typeface="楷体_GB2312" pitchFamily="49" charset="-122"/>
              </a:rPr>
              <a:t>&lt;</a:t>
            </a:r>
            <a:r>
              <a:rPr lang="zh-CN" altLang="en-US" sz="2000" dirty="0">
                <a:solidFill>
                  <a:schemeClr val="bg1"/>
                </a:solidFill>
                <a:latin typeface="楷体_GB2312" pitchFamily="49" charset="-122"/>
                <a:ea typeface="楷体_GB2312" pitchFamily="49" charset="-122"/>
              </a:rPr>
              <a:t>进入闭合曲面的通量</a:t>
            </a:r>
          </a:p>
          <a:p>
            <a:pPr algn="ctr">
              <a:spcBef>
                <a:spcPct val="50000"/>
              </a:spcBef>
            </a:pPr>
            <a:r>
              <a:rPr lang="zh-CN" altLang="en-US" sz="2000" dirty="0">
                <a:solidFill>
                  <a:srgbClr val="FF9900"/>
                </a:solidFill>
                <a:latin typeface="Arial" panose="020B0604020202020204" pitchFamily="34" charset="0"/>
                <a:ea typeface="楷体_GB2312" pitchFamily="49" charset="-122"/>
              </a:rPr>
              <a:t>→存在汇聚源（汇）</a:t>
            </a:r>
          </a:p>
        </p:txBody>
      </p:sp>
      <p:graphicFrame>
        <p:nvGraphicFramePr>
          <p:cNvPr id="217110" name="Object 22"/>
          <p:cNvGraphicFramePr>
            <a:graphicFrameLocks noChangeAspect="1"/>
          </p:cNvGraphicFramePr>
          <p:nvPr/>
        </p:nvGraphicFramePr>
        <p:xfrm>
          <a:off x="7308850" y="3213100"/>
          <a:ext cx="719138" cy="428625"/>
        </p:xfrm>
        <a:graphic>
          <a:graphicData uri="http://schemas.openxmlformats.org/presentationml/2006/ole">
            <mc:AlternateContent xmlns:mc="http://schemas.openxmlformats.org/markup-compatibility/2006">
              <mc:Choice xmlns:v="urn:schemas-microsoft-com:vml" Requires="v">
                <p:oleObj r:id="rId7" imgW="431800" imgH="215900" progId="Equation.3">
                  <p:embed/>
                </p:oleObj>
              </mc:Choice>
              <mc:Fallback>
                <p:oleObj r:id="rId7" imgW="431800" imgH="215900" progId="Equation.3">
                  <p:embed/>
                  <p:pic>
                    <p:nvPicPr>
                      <p:cNvPr id="0" name="图片 3211"/>
                      <p:cNvPicPr/>
                      <p:nvPr/>
                    </p:nvPicPr>
                    <p:blipFill>
                      <a:blip r:embed="rId8"/>
                      <a:stretch>
                        <a:fillRect/>
                      </a:stretch>
                    </p:blipFill>
                    <p:spPr>
                      <a:xfrm>
                        <a:off x="7308850" y="3213100"/>
                        <a:ext cx="719138" cy="428625"/>
                      </a:xfrm>
                      <a:prstGeom prst="rect">
                        <a:avLst/>
                      </a:prstGeom>
                      <a:solidFill>
                        <a:schemeClr val="accent1"/>
                      </a:solidFill>
                      <a:ln w="9525" cap="flat" cmpd="sng">
                        <a:solidFill>
                          <a:schemeClr val="bg1"/>
                        </a:solidFill>
                        <a:prstDash val="solid"/>
                        <a:miter/>
                        <a:headEnd type="none" w="med" len="med"/>
                        <a:tailEnd type="none" w="med" len="med"/>
                      </a:ln>
                    </p:spPr>
                  </p:pic>
                </p:oleObj>
              </mc:Fallback>
            </mc:AlternateContent>
          </a:graphicData>
        </a:graphic>
      </p:graphicFrame>
      <p:sp>
        <p:nvSpPr>
          <p:cNvPr id="217111" name="Text Box 23"/>
          <p:cNvSpPr txBox="1"/>
          <p:nvPr/>
        </p:nvSpPr>
        <p:spPr>
          <a:xfrm>
            <a:off x="6156325" y="4005263"/>
            <a:ext cx="2987675" cy="1625600"/>
          </a:xfrm>
          <a:prstGeom prst="rect">
            <a:avLst/>
          </a:prstGeom>
          <a:noFill/>
          <a:ln w="9525" cap="flat" cmpd="sng">
            <a:solidFill>
              <a:schemeClr val="bg1"/>
            </a:solidFill>
            <a:prstDash val="solid"/>
            <a:miter/>
            <a:headEnd type="none" w="med" len="med"/>
            <a:tailEnd type="none" w="med" len="med"/>
          </a:ln>
        </p:spPr>
        <p:txBody>
          <a:bodyPr anchor="t" anchorCtr="0">
            <a:spAutoFit/>
          </a:bodyPr>
          <a:lstStyle/>
          <a:p>
            <a:pPr algn="ctr">
              <a:spcBef>
                <a:spcPct val="50000"/>
              </a:spcBef>
            </a:pPr>
            <a:r>
              <a:rPr lang="zh-CN" altLang="en-US" sz="2000" dirty="0">
                <a:solidFill>
                  <a:schemeClr val="bg1"/>
                </a:solidFill>
                <a:latin typeface="楷体_GB2312" pitchFamily="49" charset="-122"/>
                <a:ea typeface="楷体_GB2312" pitchFamily="49" charset="-122"/>
              </a:rPr>
              <a:t>穿出闭合曲面的通量</a:t>
            </a:r>
          </a:p>
          <a:p>
            <a:pPr algn="ctr">
              <a:spcBef>
                <a:spcPct val="50000"/>
              </a:spcBef>
            </a:pPr>
            <a:r>
              <a:rPr lang="en-US" altLang="zh-CN" sz="2000" dirty="0">
                <a:solidFill>
                  <a:schemeClr val="bg1"/>
                </a:solidFill>
                <a:latin typeface="楷体_GB2312" pitchFamily="49" charset="-122"/>
                <a:ea typeface="楷体_GB2312" pitchFamily="49" charset="-122"/>
              </a:rPr>
              <a:t>=</a:t>
            </a:r>
            <a:r>
              <a:rPr lang="zh-CN" altLang="en-US" sz="2000" dirty="0">
                <a:solidFill>
                  <a:schemeClr val="bg1"/>
                </a:solidFill>
                <a:latin typeface="楷体_GB2312" pitchFamily="49" charset="-122"/>
                <a:ea typeface="楷体_GB2312" pitchFamily="49" charset="-122"/>
              </a:rPr>
              <a:t>进入闭合曲面的通量</a:t>
            </a:r>
          </a:p>
          <a:p>
            <a:pPr algn="ctr">
              <a:spcBef>
                <a:spcPct val="50000"/>
              </a:spcBef>
            </a:pPr>
            <a:r>
              <a:rPr lang="zh-CN" altLang="en-US" sz="2000" dirty="0">
                <a:solidFill>
                  <a:srgbClr val="FF9900"/>
                </a:solidFill>
                <a:latin typeface="楷体_GB2312" pitchFamily="49" charset="-122"/>
                <a:ea typeface="楷体_GB2312" pitchFamily="49" charset="-122"/>
              </a:rPr>
              <a:t>→无发散源</a:t>
            </a:r>
            <a:r>
              <a:rPr lang="en-US" altLang="zh-CN" sz="2000" dirty="0">
                <a:solidFill>
                  <a:srgbClr val="FF9900"/>
                </a:solidFill>
                <a:latin typeface="Arial" panose="020B0604020202020204" pitchFamily="34" charset="0"/>
                <a:ea typeface="楷体_GB2312" pitchFamily="49" charset="-122"/>
              </a:rPr>
              <a:t>&amp;</a:t>
            </a:r>
            <a:r>
              <a:rPr lang="zh-CN" altLang="en-US" sz="2000" dirty="0">
                <a:solidFill>
                  <a:srgbClr val="FF9900"/>
                </a:solidFill>
                <a:latin typeface="楷体_GB2312" pitchFamily="49" charset="-122"/>
                <a:ea typeface="楷体_GB2312" pitchFamily="49" charset="-122"/>
              </a:rPr>
              <a:t>无汇聚源（源汇）</a:t>
            </a:r>
          </a:p>
        </p:txBody>
      </p:sp>
      <p:pic>
        <p:nvPicPr>
          <p:cNvPr id="217120" name="Picture 32" descr="未标题-1 副本"/>
          <p:cNvPicPr>
            <a:picLocks noChangeAspect="1"/>
          </p:cNvPicPr>
          <p:nvPr/>
        </p:nvPicPr>
        <p:blipFill>
          <a:blip r:embed="rId9"/>
          <a:stretch>
            <a:fillRect/>
          </a:stretch>
        </p:blipFill>
        <p:spPr>
          <a:xfrm>
            <a:off x="250825" y="1628775"/>
            <a:ext cx="2308225" cy="1371600"/>
          </a:xfrm>
          <a:prstGeom prst="rect">
            <a:avLst/>
          </a:prstGeom>
          <a:noFill/>
          <a:ln w="9525">
            <a:noFill/>
          </a:ln>
        </p:spPr>
      </p:pic>
      <p:pic>
        <p:nvPicPr>
          <p:cNvPr id="217123" name="Picture 35" descr="未标题-2 副本"/>
          <p:cNvPicPr>
            <a:picLocks noChangeAspect="1"/>
          </p:cNvPicPr>
          <p:nvPr/>
        </p:nvPicPr>
        <p:blipFill>
          <a:blip r:embed="rId10"/>
          <a:stretch>
            <a:fillRect/>
          </a:stretch>
        </p:blipFill>
        <p:spPr>
          <a:xfrm>
            <a:off x="3492500" y="1628775"/>
            <a:ext cx="2159000" cy="1371600"/>
          </a:xfrm>
          <a:prstGeom prst="rect">
            <a:avLst/>
          </a:prstGeom>
          <a:noFill/>
          <a:ln w="9525">
            <a:noFill/>
          </a:ln>
        </p:spPr>
      </p:pic>
      <p:pic>
        <p:nvPicPr>
          <p:cNvPr id="217126" name="Picture 38" descr="未标题-3 副本"/>
          <p:cNvPicPr>
            <a:picLocks noChangeAspect="1"/>
          </p:cNvPicPr>
          <p:nvPr/>
        </p:nvPicPr>
        <p:blipFill>
          <a:blip r:embed="rId11"/>
          <a:stretch>
            <a:fillRect/>
          </a:stretch>
        </p:blipFill>
        <p:spPr>
          <a:xfrm>
            <a:off x="6588125" y="1628775"/>
            <a:ext cx="2089150" cy="1371600"/>
          </a:xfrm>
          <a:prstGeom prst="rect">
            <a:avLst/>
          </a:prstGeom>
          <a:solidFill>
            <a:srgbClr val="FFFFCC"/>
          </a:solidFill>
          <a:ln w="9525">
            <a:noFill/>
          </a:ln>
        </p:spPr>
      </p:pic>
      <p:sp>
        <p:nvSpPr>
          <p:cNvPr id="217130" name="Rectangle 42"/>
          <p:cNvSpPr/>
          <p:nvPr/>
        </p:nvSpPr>
        <p:spPr>
          <a:xfrm>
            <a:off x="0" y="5483225"/>
            <a:ext cx="8964613" cy="1114425"/>
          </a:xfrm>
          <a:prstGeom prst="rect">
            <a:avLst/>
          </a:prstGeom>
          <a:noFill/>
          <a:ln w="9525">
            <a:noFill/>
          </a:ln>
        </p:spPr>
        <p:txBody>
          <a:bodyPr anchor="t" anchorCtr="0">
            <a:spAutoFit/>
          </a:bodyPr>
          <a:lstStyle/>
          <a:p>
            <a:pPr marL="342900" indent="-342900">
              <a:lnSpc>
                <a:spcPct val="140000"/>
              </a:lnSpc>
            </a:pPr>
            <a:r>
              <a:rPr lang="en-US" altLang="zh-CN" dirty="0">
                <a:solidFill>
                  <a:schemeClr val="bg1"/>
                </a:solidFill>
                <a:latin typeface="Times New Roman" panose="02020603050405020304" pitchFamily="18" charset="0"/>
                <a:ea typeface="楷体_GB2312" pitchFamily="49" charset="-122"/>
              </a:rPr>
              <a:t>         </a:t>
            </a:r>
            <a:r>
              <a:rPr lang="en-US" altLang="zh-CN" dirty="0">
                <a:solidFill>
                  <a:schemeClr val="bg1"/>
                </a:solidFill>
                <a:latin typeface="Arial" panose="020B0604020202020204" pitchFamily="34" charset="0"/>
                <a:ea typeface="楷体_GB2312" pitchFamily="49" charset="-122"/>
              </a:rPr>
              <a:t>   </a:t>
            </a:r>
            <a:r>
              <a:rPr lang="zh-CN" altLang="en-US" dirty="0">
                <a:solidFill>
                  <a:schemeClr val="bg1"/>
                </a:solidFill>
                <a:latin typeface="Arial" panose="020B0604020202020204" pitchFamily="34" charset="0"/>
                <a:ea typeface="楷体_GB2312" pitchFamily="49" charset="-122"/>
              </a:rPr>
              <a:t>闭合曲面的通量从</a:t>
            </a:r>
            <a:r>
              <a:rPr lang="zh-CN" altLang="en-US" u="sng" dirty="0">
                <a:solidFill>
                  <a:srgbClr val="FFB7B7"/>
                </a:solidFill>
                <a:latin typeface="Arial" panose="020B0604020202020204" pitchFamily="34" charset="0"/>
                <a:ea typeface="宋体" panose="02010600030101010101" pitchFamily="2" charset="-122"/>
              </a:rPr>
              <a:t>宏观上</a:t>
            </a:r>
            <a:r>
              <a:rPr lang="zh-CN" altLang="en-US" dirty="0">
                <a:solidFill>
                  <a:schemeClr val="bg1"/>
                </a:solidFill>
                <a:latin typeface="Arial" panose="020B0604020202020204" pitchFamily="34" charset="0"/>
                <a:ea typeface="楷体_GB2312" pitchFamily="49" charset="-122"/>
              </a:rPr>
              <a:t>建立了</a:t>
            </a:r>
            <a:r>
              <a:rPr lang="zh-CN" altLang="en-US" dirty="0">
                <a:solidFill>
                  <a:srgbClr val="FF0000"/>
                </a:solidFill>
                <a:latin typeface="Arial" panose="020B0604020202020204" pitchFamily="34" charset="0"/>
                <a:ea typeface="楷体_GB2312" pitchFamily="49" charset="-122"/>
              </a:rPr>
              <a:t>矢量场通过闭合曲面的通量</a:t>
            </a:r>
            <a:r>
              <a:rPr lang="zh-CN" altLang="en-US" dirty="0">
                <a:solidFill>
                  <a:schemeClr val="bg1"/>
                </a:solidFill>
                <a:latin typeface="Arial" panose="020B0604020202020204" pitchFamily="34" charset="0"/>
                <a:ea typeface="楷体_GB2312" pitchFamily="49" charset="-122"/>
              </a:rPr>
              <a:t>与</a:t>
            </a:r>
            <a:r>
              <a:rPr lang="zh-CN" altLang="en-US" dirty="0">
                <a:solidFill>
                  <a:srgbClr val="FF0000"/>
                </a:solidFill>
                <a:latin typeface="Arial" panose="020B0604020202020204" pitchFamily="34" charset="0"/>
                <a:ea typeface="楷体_GB2312" pitchFamily="49" charset="-122"/>
              </a:rPr>
              <a:t>曲面内产生矢量场的通量源</a:t>
            </a:r>
            <a:r>
              <a:rPr lang="zh-CN" altLang="en-US" dirty="0">
                <a:solidFill>
                  <a:schemeClr val="bg1"/>
                </a:solidFill>
                <a:latin typeface="Arial" panose="020B0604020202020204" pitchFamily="34" charset="0"/>
                <a:ea typeface="楷体_GB2312" pitchFamily="49" charset="-122"/>
              </a:rPr>
              <a:t>的关系。</a:t>
            </a:r>
          </a:p>
        </p:txBody>
      </p:sp>
      <p:sp>
        <p:nvSpPr>
          <p:cNvPr id="217131" name="Rectangle 43"/>
          <p:cNvSpPr/>
          <p:nvPr/>
        </p:nvSpPr>
        <p:spPr>
          <a:xfrm>
            <a:off x="250825" y="692150"/>
            <a:ext cx="7885113" cy="504825"/>
          </a:xfrm>
          <a:prstGeom prst="rect">
            <a:avLst/>
          </a:prstGeom>
          <a:noFill/>
          <a:ln w="9525">
            <a:noFill/>
          </a:ln>
        </p:spPr>
        <p:txBody>
          <a:bodyPr anchor="t" anchorCtr="0"/>
          <a:lstStyle/>
          <a:p>
            <a:pPr>
              <a:lnSpc>
                <a:spcPct val="120000"/>
              </a:lnSpc>
            </a:pPr>
            <a:r>
              <a:rPr lang="zh-CN" altLang="en-US" dirty="0">
                <a:solidFill>
                  <a:srgbClr val="FF9900"/>
                </a:solidFill>
                <a:latin typeface="Arial" panose="020B0604020202020204" pitchFamily="34" charset="0"/>
                <a:ea typeface="楷体_GB2312" pitchFamily="49" charset="-122"/>
              </a:rPr>
              <a:t>矢量场通过闭合曲面的通量有三种可能结果：</a:t>
            </a:r>
          </a:p>
        </p:txBody>
      </p:sp>
      <p:sp>
        <p:nvSpPr>
          <p:cNvPr id="72715" name="AutoShape 46">
            <a:hlinkClick r:id="rId12"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2716" name="AutoShape 47">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2717" name="AutoShape 48">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2718" name="AutoShape 49">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17138" name="Text Box 50"/>
          <p:cNvSpPr txBox="1"/>
          <p:nvPr/>
        </p:nvSpPr>
        <p:spPr>
          <a:xfrm>
            <a:off x="0" y="4005263"/>
            <a:ext cx="2843213" cy="1320800"/>
          </a:xfrm>
          <a:prstGeom prst="rect">
            <a:avLst/>
          </a:prstGeom>
          <a:noFill/>
          <a:ln w="9525" cap="flat" cmpd="sng">
            <a:solidFill>
              <a:schemeClr val="bg1"/>
            </a:solidFill>
            <a:prstDash val="solid"/>
            <a:miter/>
            <a:headEnd type="none" w="med" len="med"/>
            <a:tailEnd type="none" w="med" len="med"/>
          </a:ln>
        </p:spPr>
        <p:txBody>
          <a:bodyPr anchor="t" anchorCtr="0">
            <a:spAutoFit/>
          </a:bodyPr>
          <a:lstStyle/>
          <a:p>
            <a:pPr algn="ctr">
              <a:spcBef>
                <a:spcPct val="50000"/>
              </a:spcBef>
            </a:pPr>
            <a:r>
              <a:rPr lang="zh-CN" altLang="en-US" sz="2000" dirty="0">
                <a:solidFill>
                  <a:schemeClr val="bg1"/>
                </a:solidFill>
                <a:latin typeface="楷体_GB2312" pitchFamily="49" charset="-122"/>
                <a:ea typeface="楷体_GB2312" pitchFamily="49" charset="-122"/>
              </a:rPr>
              <a:t>穿出闭合曲面的通量</a:t>
            </a:r>
          </a:p>
          <a:p>
            <a:pPr algn="ctr">
              <a:spcBef>
                <a:spcPct val="50000"/>
              </a:spcBef>
            </a:pPr>
            <a:r>
              <a:rPr lang="en-US" altLang="zh-CN" sz="2000" dirty="0">
                <a:solidFill>
                  <a:schemeClr val="bg1"/>
                </a:solidFill>
                <a:latin typeface="楷体_GB2312" pitchFamily="49" charset="-122"/>
                <a:ea typeface="楷体_GB2312" pitchFamily="49" charset="-122"/>
              </a:rPr>
              <a:t>&gt;</a:t>
            </a:r>
            <a:r>
              <a:rPr lang="zh-CN" altLang="en-US" sz="2000" dirty="0">
                <a:solidFill>
                  <a:schemeClr val="bg1"/>
                </a:solidFill>
                <a:latin typeface="楷体_GB2312" pitchFamily="49" charset="-122"/>
                <a:ea typeface="楷体_GB2312" pitchFamily="49" charset="-122"/>
              </a:rPr>
              <a:t>进入闭合曲面的通量</a:t>
            </a:r>
          </a:p>
          <a:p>
            <a:pPr algn="ctr">
              <a:spcBef>
                <a:spcPct val="50000"/>
              </a:spcBef>
            </a:pPr>
            <a:r>
              <a:rPr lang="zh-CN" altLang="en-US" sz="2000" dirty="0">
                <a:solidFill>
                  <a:srgbClr val="FF9900"/>
                </a:solidFill>
                <a:latin typeface="楷体_GB2312" pitchFamily="49" charset="-122"/>
                <a:ea typeface="楷体_GB2312" pitchFamily="49" charset="-122"/>
              </a:rPr>
              <a:t>→存在发散源（源）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6" name="Rectangle 4"/>
          <p:cNvSpPr/>
          <p:nvPr/>
        </p:nvSpPr>
        <p:spPr>
          <a:xfrm>
            <a:off x="193183" y="422325"/>
            <a:ext cx="8950817" cy="1026701"/>
          </a:xfrm>
          <a:prstGeom prst="rect">
            <a:avLst/>
          </a:prstGeom>
          <a:noFill/>
          <a:ln w="9525">
            <a:noFill/>
          </a:ln>
        </p:spPr>
        <p:txBody>
          <a:bodyPr anchor="t" anchorCtr="0"/>
          <a:lstStyle/>
          <a:p>
            <a:pPr marL="381000" indent="-381000">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例</a:t>
            </a:r>
            <a:r>
              <a:rPr lang="en-US" altLang="zh-CN" dirty="0">
                <a:solidFill>
                  <a:srgbClr val="FFB7B7"/>
                </a:solidFill>
                <a:latin typeface="Arial" panose="020B0604020202020204" pitchFamily="34" charset="0"/>
                <a:ea typeface="宋体" panose="02010600030101010101" pitchFamily="2" charset="-122"/>
              </a:rPr>
              <a:t>1.4.1                            </a:t>
            </a:r>
            <a:r>
              <a:rPr lang="zh-CN" altLang="en-US" dirty="0">
                <a:solidFill>
                  <a:schemeClr val="bg1"/>
                </a:solidFill>
                <a:latin typeface="楷体_GB2312" pitchFamily="49" charset="-122"/>
                <a:ea typeface="楷体_GB2312" pitchFamily="49" charset="-122"/>
              </a:rPr>
              <a:t>，积分面为</a:t>
            </a:r>
            <a:r>
              <a:rPr lang="zh-CN" altLang="en-US" dirty="0">
                <a:solidFill>
                  <a:schemeClr val="bg1"/>
                </a:solidFill>
                <a:latin typeface="Arial" panose="020B0604020202020204" pitchFamily="34" charset="0"/>
                <a:ea typeface="楷体_GB2312" pitchFamily="49" charset="-122"/>
              </a:rPr>
              <a:t>半径</a:t>
            </a:r>
            <a:r>
              <a:rPr lang="en-US" altLang="zh-CN" dirty="0">
                <a:solidFill>
                  <a:schemeClr val="bg1"/>
                </a:solidFill>
                <a:latin typeface="楷体_GB2312" pitchFamily="49" charset="-122"/>
                <a:ea typeface="楷体_GB2312" pitchFamily="49" charset="-122"/>
              </a:rPr>
              <a:t>=2</a:t>
            </a:r>
            <a:r>
              <a:rPr lang="zh-CN" altLang="en-US" dirty="0">
                <a:solidFill>
                  <a:schemeClr val="bg1"/>
                </a:solidFill>
                <a:latin typeface="楷体_GB2312" pitchFamily="49" charset="-122"/>
                <a:ea typeface="楷体_GB2312" pitchFamily="49" charset="-122"/>
              </a:rPr>
              <a:t>、长度限制在</a:t>
            </a:r>
            <a:r>
              <a:rPr lang="en-US" altLang="zh-CN" dirty="0">
                <a:solidFill>
                  <a:schemeClr val="bg1"/>
                </a:solidFill>
                <a:latin typeface="楷体_GB2312" pitchFamily="49" charset="-122"/>
                <a:ea typeface="楷体_GB2312" pitchFamily="49" charset="-122"/>
              </a:rPr>
              <a:t>z=±3</a:t>
            </a:r>
            <a:r>
              <a:rPr lang="zh-CN" altLang="en-US" dirty="0">
                <a:solidFill>
                  <a:schemeClr val="bg1"/>
                </a:solidFill>
                <a:latin typeface="楷体_GB2312" pitchFamily="49" charset="-122"/>
                <a:ea typeface="楷体_GB2312" pitchFamily="49" charset="-122"/>
              </a:rPr>
              <a:t>之间轴线为</a:t>
            </a:r>
            <a:r>
              <a:rPr lang="en-US" altLang="zh-CN" dirty="0">
                <a:solidFill>
                  <a:schemeClr val="bg1"/>
                </a:solidFill>
                <a:latin typeface="楷体_GB2312" pitchFamily="49" charset="-122"/>
                <a:ea typeface="楷体_GB2312" pitchFamily="49" charset="-122"/>
              </a:rPr>
              <a:t>z</a:t>
            </a:r>
            <a:r>
              <a:rPr lang="zh-CN" altLang="en-US" dirty="0">
                <a:solidFill>
                  <a:schemeClr val="bg1"/>
                </a:solidFill>
                <a:latin typeface="楷体_GB2312" pitchFamily="49" charset="-122"/>
                <a:ea typeface="楷体_GB2312" pitchFamily="49" charset="-122"/>
              </a:rPr>
              <a:t>的圆柱表面。求通量。</a:t>
            </a:r>
            <a:r>
              <a:rPr lang="zh-CN" altLang="en-US" dirty="0">
                <a:solidFill>
                  <a:schemeClr val="bg1"/>
                </a:solidFill>
                <a:latin typeface="Arial" panose="020B0604020202020204" pitchFamily="34" charset="0"/>
                <a:ea typeface="宋体" panose="02010600030101010101" pitchFamily="2" charset="-122"/>
              </a:rPr>
              <a:t> </a:t>
            </a:r>
          </a:p>
        </p:txBody>
      </p:sp>
      <p:sp>
        <p:nvSpPr>
          <p:cNvPr id="74754" name="AutoShape 33">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4755" name="AutoShape 3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4756" name="AutoShape 3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4757" name="AutoShape 3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43109" name="Object 37"/>
          <p:cNvGraphicFramePr>
            <a:graphicFrameLocks noGrp="1" noChangeAspect="1"/>
          </p:cNvGraphicFramePr>
          <p:nvPr>
            <p:ph/>
            <p:extLst>
              <p:ext uri="{D42A27DB-BD31-4B8C-83A1-F6EECF244321}">
                <p14:modId xmlns:p14="http://schemas.microsoft.com/office/powerpoint/2010/main" val="3184895744"/>
              </p:ext>
            </p:extLst>
          </p:nvPr>
        </p:nvGraphicFramePr>
        <p:xfrm>
          <a:off x="1440884" y="288645"/>
          <a:ext cx="2192338" cy="871538"/>
        </p:xfrm>
        <a:graphic>
          <a:graphicData uri="http://schemas.openxmlformats.org/presentationml/2006/ole">
            <mc:AlternateContent xmlns:mc="http://schemas.openxmlformats.org/markup-compatibility/2006">
              <mc:Choice xmlns:v="urn:schemas-microsoft-com:vml" Requires="v">
                <p:oleObj r:id="rId4" imgW="875665" imgH="325120" progId="Equation.3">
                  <p:embed/>
                </p:oleObj>
              </mc:Choice>
              <mc:Fallback>
                <p:oleObj r:id="rId4" imgW="875665" imgH="325120" progId="Equation.3">
                  <p:embed/>
                  <p:pic>
                    <p:nvPicPr>
                      <p:cNvPr id="0" name="图片 3224"/>
                      <p:cNvPicPr/>
                      <p:nvPr/>
                    </p:nvPicPr>
                    <p:blipFill>
                      <a:blip r:embed="rId5">
                        <a:clrChange>
                          <a:clrFrom>
                            <a:srgbClr val="000000"/>
                          </a:clrFrom>
                          <a:clrTo>
                            <a:srgbClr val="FFFFFF"/>
                          </a:clrTo>
                        </a:clrChange>
                      </a:blip>
                      <a:stretch>
                        <a:fillRect/>
                      </a:stretch>
                    </p:blipFill>
                    <p:spPr>
                      <a:xfrm>
                        <a:off x="1440884" y="288645"/>
                        <a:ext cx="2192338" cy="871538"/>
                      </a:xfrm>
                      <a:prstGeom prst="rect">
                        <a:avLst/>
                      </a:prstGeom>
                      <a:noFill/>
                      <a:ln w="38100">
                        <a:noFill/>
                        <a:miter/>
                      </a:ln>
                    </p:spPr>
                  </p:pic>
                </p:oleObj>
              </mc:Fallback>
            </mc:AlternateContent>
          </a:graphicData>
        </a:graphic>
      </p:graphicFrame>
      <p:graphicFrame>
        <p:nvGraphicFramePr>
          <p:cNvPr id="643123" name="Object 51"/>
          <p:cNvGraphicFramePr>
            <a:graphicFrameLocks noChangeAspect="1"/>
          </p:cNvGraphicFramePr>
          <p:nvPr>
            <p:extLst>
              <p:ext uri="{D42A27DB-BD31-4B8C-83A1-F6EECF244321}">
                <p14:modId xmlns:p14="http://schemas.microsoft.com/office/powerpoint/2010/main" val="3475956093"/>
              </p:ext>
            </p:extLst>
          </p:nvPr>
        </p:nvGraphicFramePr>
        <p:xfrm>
          <a:off x="913941" y="1784831"/>
          <a:ext cx="4672012" cy="879475"/>
        </p:xfrm>
        <a:graphic>
          <a:graphicData uri="http://schemas.openxmlformats.org/presentationml/2006/ole">
            <mc:AlternateContent xmlns:mc="http://schemas.openxmlformats.org/markup-compatibility/2006">
              <mc:Choice xmlns:v="urn:schemas-microsoft-com:vml" Requires="v">
                <p:oleObj r:id="rId6" imgW="1608455" imgH="264160" progId="Equation.3">
                  <p:embed/>
                </p:oleObj>
              </mc:Choice>
              <mc:Fallback>
                <p:oleObj r:id="rId6" imgW="1608455" imgH="264160" progId="Equation.3">
                  <p:embed/>
                  <p:pic>
                    <p:nvPicPr>
                      <p:cNvPr id="0" name="图片 3223"/>
                      <p:cNvPicPr/>
                      <p:nvPr/>
                    </p:nvPicPr>
                    <p:blipFill>
                      <a:blip r:embed="rId7">
                        <a:clrChange>
                          <a:clrFrom>
                            <a:srgbClr val="000000"/>
                          </a:clrFrom>
                          <a:clrTo>
                            <a:srgbClr val="FFFFFF"/>
                          </a:clrTo>
                        </a:clrChange>
                      </a:blip>
                      <a:stretch>
                        <a:fillRect/>
                      </a:stretch>
                    </p:blipFill>
                    <p:spPr>
                      <a:xfrm>
                        <a:off x="913941" y="1784831"/>
                        <a:ext cx="4672012" cy="879475"/>
                      </a:xfrm>
                      <a:prstGeom prst="rect">
                        <a:avLst/>
                      </a:prstGeom>
                      <a:noFill/>
                      <a:ln w="38100">
                        <a:noFill/>
                        <a:miter/>
                      </a:ln>
                    </p:spPr>
                  </p:pic>
                </p:oleObj>
              </mc:Fallback>
            </mc:AlternateContent>
          </a:graphicData>
        </a:graphic>
      </p:graphicFrame>
      <p:graphicFrame>
        <p:nvGraphicFramePr>
          <p:cNvPr id="643124" name="Object 52"/>
          <p:cNvGraphicFramePr>
            <a:graphicFrameLocks noChangeAspect="1"/>
          </p:cNvGraphicFramePr>
          <p:nvPr>
            <p:extLst>
              <p:ext uri="{D42A27DB-BD31-4B8C-83A1-F6EECF244321}">
                <p14:modId xmlns:p14="http://schemas.microsoft.com/office/powerpoint/2010/main" val="918174684"/>
              </p:ext>
            </p:extLst>
          </p:nvPr>
        </p:nvGraphicFramePr>
        <p:xfrm>
          <a:off x="323528" y="2965618"/>
          <a:ext cx="6813550" cy="2324100"/>
        </p:xfrm>
        <a:graphic>
          <a:graphicData uri="http://schemas.openxmlformats.org/presentationml/2006/ole">
            <mc:AlternateContent xmlns:mc="http://schemas.openxmlformats.org/markup-compatibility/2006">
              <mc:Choice xmlns:v="urn:schemas-microsoft-com:vml" Requires="v">
                <p:oleObj name="Equation" r:id="rId8" imgW="3441600" imgH="1143000" progId="Equation.3">
                  <p:embed/>
                </p:oleObj>
              </mc:Choice>
              <mc:Fallback>
                <p:oleObj name="Equation" r:id="rId8" imgW="3441600" imgH="1143000" progId="Equation.3">
                  <p:embed/>
                  <p:pic>
                    <p:nvPicPr>
                      <p:cNvPr id="0" name="图片 3222"/>
                      <p:cNvPicPr/>
                      <p:nvPr/>
                    </p:nvPicPr>
                    <p:blipFill>
                      <a:blip r:embed="rId9">
                        <a:clrChange>
                          <a:clrFrom>
                            <a:srgbClr val="000000"/>
                          </a:clrFrom>
                          <a:clrTo>
                            <a:srgbClr val="FFFFFF"/>
                          </a:clrTo>
                        </a:clrChange>
                      </a:blip>
                      <a:stretch>
                        <a:fillRect/>
                      </a:stretch>
                    </p:blipFill>
                    <p:spPr>
                      <a:xfrm>
                        <a:off x="323528" y="2965618"/>
                        <a:ext cx="6813550" cy="2324100"/>
                      </a:xfrm>
                      <a:prstGeom prst="rect">
                        <a:avLst/>
                      </a:prstGeom>
                      <a:noFill/>
                      <a:ln w="38100">
                        <a:noFill/>
                        <a:miter/>
                      </a:ln>
                    </p:spPr>
                  </p:pic>
                </p:oleObj>
              </mc:Fallback>
            </mc:AlternateContent>
          </a:graphicData>
        </a:graphic>
      </p:graphicFrame>
      <p:sp>
        <p:nvSpPr>
          <p:cNvPr id="643126" name="Text Box 54"/>
          <p:cNvSpPr txBox="1"/>
          <p:nvPr/>
        </p:nvSpPr>
        <p:spPr>
          <a:xfrm>
            <a:off x="179512" y="1412776"/>
            <a:ext cx="508596" cy="457200"/>
          </a:xfrm>
          <a:prstGeom prst="rect">
            <a:avLst/>
          </a:prstGeom>
          <a:noFill/>
          <a:ln w="9525">
            <a:noFill/>
          </a:ln>
        </p:spPr>
        <p:txBody>
          <a:bodyPr wrap="square" anchor="t" anchorCtr="0">
            <a:spAutoFit/>
          </a:bodyPr>
          <a:lstStyle/>
          <a:p>
            <a:pPr latinLnBrk="1">
              <a:spcBef>
                <a:spcPct val="50000"/>
              </a:spcBef>
            </a:pPr>
            <a:r>
              <a:rPr lang="zh-CN" altLang="en-US" dirty="0">
                <a:solidFill>
                  <a:srgbClr val="FFB7B7"/>
                </a:solidFill>
                <a:latin typeface="幼圆" panose="02010509060101010101" pitchFamily="49" charset="-122"/>
                <a:ea typeface="幼圆" panose="02010509060101010101" pitchFamily="49" charset="-122"/>
              </a:rPr>
              <a:t>解</a:t>
            </a:r>
            <a:endParaRPr lang="zh-CN" altLang="en-US" dirty="0">
              <a:solidFill>
                <a:schemeClr val="bg1"/>
              </a:solidFill>
              <a:latin typeface="Times New Roman" panose="02020603050405020304" pitchFamily="18" charset="0"/>
              <a:ea typeface="楷体_GB2312" pitchFamily="49" charset="-122"/>
            </a:endParaRPr>
          </a:p>
        </p:txBody>
      </p:sp>
      <p:pic>
        <p:nvPicPr>
          <p:cNvPr id="74763" name="Picture 15"/>
          <p:cNvPicPr>
            <a:picLocks noChangeAspect="1"/>
          </p:cNvPicPr>
          <p:nvPr/>
        </p:nvPicPr>
        <p:blipFill>
          <a:blip r:embed="rId10"/>
          <a:stretch>
            <a:fillRect/>
          </a:stretch>
        </p:blipFill>
        <p:spPr>
          <a:xfrm>
            <a:off x="6804248" y="4501442"/>
            <a:ext cx="2339752" cy="2383545"/>
          </a:xfrm>
          <a:prstGeom prst="rect">
            <a:avLst/>
          </a:prstGeom>
          <a:noFill/>
          <a:ln w="9525">
            <a:noFill/>
          </a:ln>
        </p:spPr>
      </p:pic>
      <p:sp>
        <p:nvSpPr>
          <p:cNvPr id="3" name="Rectangle 71">
            <a:extLst>
              <a:ext uri="{FF2B5EF4-FFF2-40B4-BE49-F238E27FC236}">
                <a16:creationId xmlns:a16="http://schemas.microsoft.com/office/drawing/2014/main" id="{FF3818B9-E83B-6226-B11E-D71248804628}"/>
              </a:ext>
            </a:extLst>
          </p:cNvPr>
          <p:cNvSpPr/>
          <p:nvPr/>
        </p:nvSpPr>
        <p:spPr>
          <a:xfrm>
            <a:off x="656246" y="4096984"/>
            <a:ext cx="5953949" cy="341051"/>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rPr>
              <a:t>③计算标量二重积分（第一类曲面积分）</a:t>
            </a:r>
          </a:p>
        </p:txBody>
      </p:sp>
      <p:sp>
        <p:nvSpPr>
          <p:cNvPr id="4" name="Rectangle 71">
            <a:extLst>
              <a:ext uri="{FF2B5EF4-FFF2-40B4-BE49-F238E27FC236}">
                <a16:creationId xmlns:a16="http://schemas.microsoft.com/office/drawing/2014/main" id="{1F897F8A-0FE7-FB3A-CBAD-D7F88AF6C1EE}"/>
              </a:ext>
            </a:extLst>
          </p:cNvPr>
          <p:cNvSpPr/>
          <p:nvPr/>
        </p:nvSpPr>
        <p:spPr>
          <a:xfrm>
            <a:off x="691759" y="1394329"/>
            <a:ext cx="8465912" cy="373062"/>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latin typeface="楷体_GB2312" pitchFamily="49" charset="-122"/>
              </a:rPr>
              <a:t>①</a:t>
            </a:r>
            <a:r>
              <a:rPr lang="zh-CN" altLang="en-US" sz="1600" b="0" dirty="0">
                <a:solidFill>
                  <a:srgbClr val="DBF10F"/>
                </a:solidFill>
                <a:latin typeface="楷体_GB2312" pitchFamily="49" charset="-122"/>
                <a:ea typeface="楷体_GB2312" pitchFamily="49" charset="-122"/>
              </a:rPr>
              <a:t>变闭为开：</a:t>
            </a:r>
            <a:r>
              <a:rPr lang="zh-CN" altLang="en-US" sz="1600" b="0" dirty="0">
                <a:solidFill>
                  <a:srgbClr val="DBF10F"/>
                </a:solidFill>
                <a:latin typeface="楷体_GB2312" pitchFamily="49" charset="-122"/>
              </a:rPr>
              <a:t>闭合曲面的积分</a:t>
            </a:r>
            <a:r>
              <a:rPr lang="zh-CN" altLang="en-US" sz="1600" b="0" dirty="0">
                <a:solidFill>
                  <a:srgbClr val="DBF10F"/>
                </a:solidFill>
              </a:rPr>
              <a:t>（第二类曲面积分）</a:t>
            </a:r>
            <a:r>
              <a:rPr lang="en-US" altLang="zh-CN" sz="1600" b="0" dirty="0">
                <a:solidFill>
                  <a:srgbClr val="DBF10F"/>
                </a:solidFill>
                <a:latin typeface="楷体_GB2312" pitchFamily="49" charset="-122"/>
              </a:rPr>
              <a:t>=</a:t>
            </a:r>
            <a:r>
              <a:rPr lang="zh-CN" altLang="en-US" sz="1600" b="0" dirty="0">
                <a:solidFill>
                  <a:srgbClr val="DBF10F"/>
                </a:solidFill>
                <a:latin typeface="楷体_GB2312" pitchFamily="49" charset="-122"/>
              </a:rPr>
              <a:t>围合该闭合体的各开曲面的面积分之和</a:t>
            </a:r>
            <a:endParaRPr lang="zh-CN" altLang="en-US" sz="1600" b="0" dirty="0">
              <a:solidFill>
                <a:srgbClr val="DBF10F"/>
              </a:solidFill>
              <a:latin typeface="Arial" panose="020B0604020202020204" pitchFamily="34" charset="0"/>
              <a:ea typeface="楷体_GB2312" pitchFamily="49" charset="-122"/>
            </a:endParaRPr>
          </a:p>
        </p:txBody>
      </p:sp>
      <p:sp>
        <p:nvSpPr>
          <p:cNvPr id="5" name="Rectangle 71">
            <a:extLst>
              <a:ext uri="{FF2B5EF4-FFF2-40B4-BE49-F238E27FC236}">
                <a16:creationId xmlns:a16="http://schemas.microsoft.com/office/drawing/2014/main" id="{81BE1485-EA2C-737B-3754-86CFD639B6F7}"/>
              </a:ext>
            </a:extLst>
          </p:cNvPr>
          <p:cNvSpPr/>
          <p:nvPr/>
        </p:nvSpPr>
        <p:spPr>
          <a:xfrm>
            <a:off x="656246" y="3257627"/>
            <a:ext cx="6007013" cy="373062"/>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latin typeface="宋体" panose="02010600030101010101" pitchFamily="2" charset="-122"/>
                <a:ea typeface="宋体" panose="02010600030101010101" pitchFamily="2" charset="-122"/>
              </a:rPr>
              <a:t>②</a:t>
            </a:r>
            <a:r>
              <a:rPr lang="zh-CN" altLang="en-US" sz="1600" b="0" dirty="0">
                <a:solidFill>
                  <a:srgbClr val="DBF10F"/>
                </a:solidFill>
                <a:latin typeface="Arial" panose="020B0604020202020204" pitchFamily="34" charset="0"/>
                <a:ea typeface="楷体_GB2312" pitchFamily="49" charset="-122"/>
              </a:rPr>
              <a:t>被积函数的点乘</a:t>
            </a:r>
            <a:r>
              <a:rPr lang="zh-CN" altLang="en-US" sz="1600" b="0" dirty="0">
                <a:solidFill>
                  <a:srgbClr val="DBF10F"/>
                </a:solidFill>
              </a:rPr>
              <a:t>运算</a:t>
            </a:r>
            <a:endParaRPr lang="zh-CN" altLang="en-US" sz="1600" b="0" dirty="0">
              <a:solidFill>
                <a:srgbClr val="DBF10F"/>
              </a:solidFill>
              <a:latin typeface="Arial" panose="020B0604020202020204" pitchFamily="34" charset="0"/>
              <a:ea typeface="楷体_GB2312" pitchFamily="49" charset="-122"/>
            </a:endParaRPr>
          </a:p>
        </p:txBody>
      </p:sp>
      <p:pic>
        <p:nvPicPr>
          <p:cNvPr id="7" name="图片 6">
            <a:extLst>
              <a:ext uri="{FF2B5EF4-FFF2-40B4-BE49-F238E27FC236}">
                <a16:creationId xmlns:a16="http://schemas.microsoft.com/office/drawing/2014/main" id="{01CE4345-920F-3C26-2252-90B982678995}"/>
              </a:ext>
            </a:extLst>
          </p:cNvPr>
          <p:cNvPicPr>
            <a:picLocks noChangeAspect="1"/>
          </p:cNvPicPr>
          <p:nvPr/>
        </p:nvPicPr>
        <p:blipFill>
          <a:blip r:embed="rId11"/>
          <a:stretch>
            <a:fillRect/>
          </a:stretch>
        </p:blipFill>
        <p:spPr>
          <a:xfrm>
            <a:off x="3304389" y="3145759"/>
            <a:ext cx="3305806" cy="417400"/>
          </a:xfrm>
          <a:prstGeom prst="rect">
            <a:avLst/>
          </a:prstGeom>
        </p:spPr>
      </p:pic>
      <p:graphicFrame>
        <p:nvGraphicFramePr>
          <p:cNvPr id="8" name="Object 140">
            <a:extLst>
              <a:ext uri="{FF2B5EF4-FFF2-40B4-BE49-F238E27FC236}">
                <a16:creationId xmlns:a16="http://schemas.microsoft.com/office/drawing/2014/main" id="{6E3236A3-D010-4BDE-6BCC-7D89F2763B30}"/>
              </a:ext>
            </a:extLst>
          </p:cNvPr>
          <p:cNvGraphicFramePr>
            <a:graphicFrameLocks noChangeAspect="1"/>
          </p:cNvGraphicFramePr>
          <p:nvPr>
            <p:extLst>
              <p:ext uri="{D42A27DB-BD31-4B8C-83A1-F6EECF244321}">
                <p14:modId xmlns:p14="http://schemas.microsoft.com/office/powerpoint/2010/main" val="1209219076"/>
              </p:ext>
            </p:extLst>
          </p:nvPr>
        </p:nvGraphicFramePr>
        <p:xfrm>
          <a:off x="4956384" y="5362654"/>
          <a:ext cx="1817702" cy="1501102"/>
        </p:xfrm>
        <a:graphic>
          <a:graphicData uri="http://schemas.openxmlformats.org/presentationml/2006/ole">
            <mc:AlternateContent xmlns:mc="http://schemas.openxmlformats.org/markup-compatibility/2006">
              <mc:Choice xmlns:v="urn:schemas-microsoft-com:vml" Requires="v">
                <p:oleObj r:id="rId12" imgW="3239770" imgH="2675255" progId="Visio.Drawing.11">
                  <p:embed/>
                </p:oleObj>
              </mc:Choice>
              <mc:Fallback>
                <p:oleObj r:id="rId12" imgW="3239770" imgH="2675255" progId="Visio.Drawing.11">
                  <p:embed/>
                  <p:pic>
                    <p:nvPicPr>
                      <p:cNvPr id="29722" name="Object 140"/>
                      <p:cNvPicPr/>
                      <p:nvPr/>
                    </p:nvPicPr>
                    <p:blipFill>
                      <a:blip r:embed="rId13"/>
                      <a:stretch>
                        <a:fillRect/>
                      </a:stretch>
                    </p:blipFill>
                    <p:spPr>
                      <a:xfrm>
                        <a:off x="4956384" y="5362654"/>
                        <a:ext cx="1817702" cy="1501102"/>
                      </a:xfrm>
                      <a:prstGeom prst="rect">
                        <a:avLst/>
                      </a:prstGeom>
                      <a:solidFill>
                        <a:schemeClr val="bg1"/>
                      </a:solidFill>
                      <a:ln>
                        <a:solidFill>
                          <a:schemeClr val="bg1"/>
                        </a:solidFill>
                        <a:miter/>
                      </a:ln>
                    </p:spPr>
                  </p:pic>
                </p:oleObj>
              </mc:Fallback>
            </mc:AlternateContent>
          </a:graphicData>
        </a:graphic>
      </p:graphicFrame>
      <p:pic>
        <p:nvPicPr>
          <p:cNvPr id="9" name="图片 8">
            <a:extLst>
              <a:ext uri="{FF2B5EF4-FFF2-40B4-BE49-F238E27FC236}">
                <a16:creationId xmlns:a16="http://schemas.microsoft.com/office/drawing/2014/main" id="{CA655DBE-82DE-4B03-40F9-131F63021521}"/>
              </a:ext>
            </a:extLst>
          </p:cNvPr>
          <p:cNvPicPr>
            <a:picLocks noChangeAspect="1"/>
          </p:cNvPicPr>
          <p:nvPr/>
        </p:nvPicPr>
        <p:blipFill>
          <a:blip r:embed="rId14"/>
          <a:stretch>
            <a:fillRect/>
          </a:stretch>
        </p:blipFill>
        <p:spPr>
          <a:xfrm>
            <a:off x="101159" y="5708815"/>
            <a:ext cx="4823556" cy="11761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AutoShape 3">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6802" name="AutoShape 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6803" name="AutoShape 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76804" name="AutoShape 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50249" name="Object 9"/>
          <p:cNvGraphicFramePr>
            <a:graphicFrameLocks noChangeAspect="1"/>
          </p:cNvGraphicFramePr>
          <p:nvPr>
            <p:extLst>
              <p:ext uri="{D42A27DB-BD31-4B8C-83A1-F6EECF244321}">
                <p14:modId xmlns:p14="http://schemas.microsoft.com/office/powerpoint/2010/main" val="3805319152"/>
              </p:ext>
            </p:extLst>
          </p:nvPr>
        </p:nvGraphicFramePr>
        <p:xfrm>
          <a:off x="143496" y="384058"/>
          <a:ext cx="7600950" cy="2236788"/>
        </p:xfrm>
        <a:graphic>
          <a:graphicData uri="http://schemas.openxmlformats.org/presentationml/2006/ole">
            <mc:AlternateContent xmlns:mc="http://schemas.openxmlformats.org/markup-compatibility/2006">
              <mc:Choice xmlns:v="urn:schemas-microsoft-com:vml" Requires="v">
                <p:oleObj r:id="rId4" imgW="2941320" imgH="837565" progId="Equation.3">
                  <p:embed/>
                </p:oleObj>
              </mc:Choice>
              <mc:Fallback>
                <p:oleObj r:id="rId4" imgW="2941320" imgH="837565" progId="Equation.3">
                  <p:embed/>
                  <p:pic>
                    <p:nvPicPr>
                      <p:cNvPr id="0" name="图片 3227"/>
                      <p:cNvPicPr/>
                      <p:nvPr/>
                    </p:nvPicPr>
                    <p:blipFill>
                      <a:blip r:embed="rId5">
                        <a:clrChange>
                          <a:clrFrom>
                            <a:srgbClr val="000000"/>
                          </a:clrFrom>
                          <a:clrTo>
                            <a:srgbClr val="FFFFFF"/>
                          </a:clrTo>
                        </a:clrChange>
                      </a:blip>
                      <a:stretch>
                        <a:fillRect/>
                      </a:stretch>
                    </p:blipFill>
                    <p:spPr>
                      <a:xfrm>
                        <a:off x="143496" y="384058"/>
                        <a:ext cx="7600950" cy="2236788"/>
                      </a:xfrm>
                      <a:prstGeom prst="rect">
                        <a:avLst/>
                      </a:prstGeom>
                      <a:noFill/>
                      <a:ln w="38100">
                        <a:noFill/>
                        <a:miter/>
                      </a:ln>
                    </p:spPr>
                  </p:pic>
                </p:oleObj>
              </mc:Fallback>
            </mc:AlternateContent>
          </a:graphicData>
        </a:graphic>
      </p:graphicFrame>
      <p:graphicFrame>
        <p:nvGraphicFramePr>
          <p:cNvPr id="650250" name="Object 10"/>
          <p:cNvGraphicFramePr>
            <a:graphicFrameLocks noChangeAspect="1"/>
          </p:cNvGraphicFramePr>
          <p:nvPr>
            <p:extLst>
              <p:ext uri="{D42A27DB-BD31-4B8C-83A1-F6EECF244321}">
                <p14:modId xmlns:p14="http://schemas.microsoft.com/office/powerpoint/2010/main" val="993397046"/>
              </p:ext>
            </p:extLst>
          </p:nvPr>
        </p:nvGraphicFramePr>
        <p:xfrm>
          <a:off x="180349" y="2653141"/>
          <a:ext cx="7280275" cy="2562225"/>
        </p:xfrm>
        <a:graphic>
          <a:graphicData uri="http://schemas.openxmlformats.org/presentationml/2006/ole">
            <mc:AlternateContent xmlns:mc="http://schemas.openxmlformats.org/markup-compatibility/2006">
              <mc:Choice xmlns:v="urn:schemas-microsoft-com:vml" Requires="v">
                <p:oleObj name="Equation" r:id="rId6" imgW="3517560" imgH="1206360" progId="Equation.3">
                  <p:embed/>
                </p:oleObj>
              </mc:Choice>
              <mc:Fallback>
                <p:oleObj name="Equation" r:id="rId6" imgW="3517560" imgH="1206360" progId="Equation.3">
                  <p:embed/>
                  <p:pic>
                    <p:nvPicPr>
                      <p:cNvPr id="0" name="图片 3226"/>
                      <p:cNvPicPr/>
                      <p:nvPr/>
                    </p:nvPicPr>
                    <p:blipFill>
                      <a:blip r:embed="rId7">
                        <a:clrChange>
                          <a:clrFrom>
                            <a:srgbClr val="000000"/>
                          </a:clrFrom>
                          <a:clrTo>
                            <a:srgbClr val="FFFFFF"/>
                          </a:clrTo>
                        </a:clrChange>
                      </a:blip>
                      <a:stretch>
                        <a:fillRect/>
                      </a:stretch>
                    </p:blipFill>
                    <p:spPr>
                      <a:xfrm>
                        <a:off x="180349" y="2653141"/>
                        <a:ext cx="7280275" cy="2562225"/>
                      </a:xfrm>
                      <a:prstGeom prst="rect">
                        <a:avLst/>
                      </a:prstGeom>
                      <a:noFill/>
                      <a:ln w="38100">
                        <a:noFill/>
                        <a:miter/>
                      </a:ln>
                    </p:spPr>
                  </p:pic>
                </p:oleObj>
              </mc:Fallback>
            </mc:AlternateContent>
          </a:graphicData>
        </a:graphic>
      </p:graphicFrame>
      <p:pic>
        <p:nvPicPr>
          <p:cNvPr id="76809" name="Picture 13"/>
          <p:cNvPicPr>
            <a:picLocks noChangeAspect="1"/>
          </p:cNvPicPr>
          <p:nvPr/>
        </p:nvPicPr>
        <p:blipFill>
          <a:blip r:embed="rId8"/>
          <a:stretch>
            <a:fillRect/>
          </a:stretch>
        </p:blipFill>
        <p:spPr>
          <a:xfrm>
            <a:off x="7235343" y="4941168"/>
            <a:ext cx="1908657" cy="1943820"/>
          </a:xfrm>
          <a:prstGeom prst="rect">
            <a:avLst/>
          </a:prstGeom>
          <a:noFill/>
          <a:ln w="9525">
            <a:noFill/>
          </a:ln>
        </p:spPr>
      </p:pic>
      <p:graphicFrame>
        <p:nvGraphicFramePr>
          <p:cNvPr id="2" name="Object 140">
            <a:extLst>
              <a:ext uri="{FF2B5EF4-FFF2-40B4-BE49-F238E27FC236}">
                <a16:creationId xmlns:a16="http://schemas.microsoft.com/office/drawing/2014/main" id="{9B081B99-B656-2294-7F92-ABB6793D07FF}"/>
              </a:ext>
            </a:extLst>
          </p:cNvPr>
          <p:cNvGraphicFramePr>
            <a:graphicFrameLocks noChangeAspect="1"/>
          </p:cNvGraphicFramePr>
          <p:nvPr>
            <p:extLst>
              <p:ext uri="{D42A27DB-BD31-4B8C-83A1-F6EECF244321}">
                <p14:modId xmlns:p14="http://schemas.microsoft.com/office/powerpoint/2010/main" val="3232783983"/>
              </p:ext>
            </p:extLst>
          </p:nvPr>
        </p:nvGraphicFramePr>
        <p:xfrm>
          <a:off x="5236975" y="5198976"/>
          <a:ext cx="1999321" cy="1651087"/>
        </p:xfrm>
        <a:graphic>
          <a:graphicData uri="http://schemas.openxmlformats.org/presentationml/2006/ole">
            <mc:AlternateContent xmlns:mc="http://schemas.openxmlformats.org/markup-compatibility/2006">
              <mc:Choice xmlns:v="urn:schemas-microsoft-com:vml" Requires="v">
                <p:oleObj r:id="rId9" imgW="3239770" imgH="2675255" progId="Visio.Drawing.11">
                  <p:embed/>
                </p:oleObj>
              </mc:Choice>
              <mc:Fallback>
                <p:oleObj r:id="rId9" imgW="3239770" imgH="2675255" progId="Visio.Drawing.11">
                  <p:embed/>
                  <p:pic>
                    <p:nvPicPr>
                      <p:cNvPr id="8" name="Object 140">
                        <a:extLst>
                          <a:ext uri="{FF2B5EF4-FFF2-40B4-BE49-F238E27FC236}">
                            <a16:creationId xmlns:a16="http://schemas.microsoft.com/office/drawing/2014/main" id="{6E3236A3-D010-4BDE-6BCC-7D89F2763B30}"/>
                          </a:ext>
                        </a:extLst>
                      </p:cNvPr>
                      <p:cNvPicPr/>
                      <p:nvPr/>
                    </p:nvPicPr>
                    <p:blipFill>
                      <a:blip r:embed="rId10"/>
                      <a:stretch>
                        <a:fillRect/>
                      </a:stretch>
                    </p:blipFill>
                    <p:spPr>
                      <a:xfrm>
                        <a:off x="5236975" y="5198976"/>
                        <a:ext cx="1999321" cy="1651087"/>
                      </a:xfrm>
                      <a:prstGeom prst="rect">
                        <a:avLst/>
                      </a:prstGeom>
                      <a:solidFill>
                        <a:schemeClr val="bg1"/>
                      </a:solidFill>
                      <a:ln>
                        <a:solidFill>
                          <a:schemeClr val="bg1"/>
                        </a:solidFill>
                        <a:miter/>
                      </a:ln>
                    </p:spPr>
                  </p:pic>
                </p:oleObj>
              </mc:Fallback>
            </mc:AlternateContent>
          </a:graphicData>
        </a:graphic>
      </p:graphicFrame>
      <p:pic>
        <p:nvPicPr>
          <p:cNvPr id="3" name="图片 2">
            <a:extLst>
              <a:ext uri="{FF2B5EF4-FFF2-40B4-BE49-F238E27FC236}">
                <a16:creationId xmlns:a16="http://schemas.microsoft.com/office/drawing/2014/main" id="{C0CE824A-DBF1-DEDE-A6D9-0D9629CE1E3E}"/>
              </a:ext>
            </a:extLst>
          </p:cNvPr>
          <p:cNvPicPr>
            <a:picLocks noChangeAspect="1"/>
          </p:cNvPicPr>
          <p:nvPr/>
        </p:nvPicPr>
        <p:blipFill>
          <a:blip r:embed="rId11"/>
          <a:stretch>
            <a:fillRect/>
          </a:stretch>
        </p:blipFill>
        <p:spPr>
          <a:xfrm>
            <a:off x="3707904" y="688013"/>
            <a:ext cx="3305806" cy="417400"/>
          </a:xfrm>
          <a:prstGeom prst="rect">
            <a:avLst/>
          </a:prstGeom>
        </p:spPr>
      </p:pic>
      <p:pic>
        <p:nvPicPr>
          <p:cNvPr id="4" name="图片 3">
            <a:extLst>
              <a:ext uri="{FF2B5EF4-FFF2-40B4-BE49-F238E27FC236}">
                <a16:creationId xmlns:a16="http://schemas.microsoft.com/office/drawing/2014/main" id="{F3DE8F10-16FE-D74A-64AC-44C02FC8F20A}"/>
              </a:ext>
            </a:extLst>
          </p:cNvPr>
          <p:cNvPicPr>
            <a:picLocks noChangeAspect="1"/>
          </p:cNvPicPr>
          <p:nvPr/>
        </p:nvPicPr>
        <p:blipFill>
          <a:blip r:embed="rId11"/>
          <a:stretch>
            <a:fillRect/>
          </a:stretch>
        </p:blipFill>
        <p:spPr>
          <a:xfrm>
            <a:off x="3698168" y="2812094"/>
            <a:ext cx="3305806" cy="417400"/>
          </a:xfrm>
          <a:prstGeom prst="rect">
            <a:avLst/>
          </a:prstGeom>
        </p:spPr>
      </p:pic>
      <p:pic>
        <p:nvPicPr>
          <p:cNvPr id="6" name="图片 5">
            <a:extLst>
              <a:ext uri="{FF2B5EF4-FFF2-40B4-BE49-F238E27FC236}">
                <a16:creationId xmlns:a16="http://schemas.microsoft.com/office/drawing/2014/main" id="{9A6F5D5F-6911-692A-B8AE-C466935F69C9}"/>
              </a:ext>
            </a:extLst>
          </p:cNvPr>
          <p:cNvPicPr>
            <a:picLocks noChangeAspect="1"/>
          </p:cNvPicPr>
          <p:nvPr/>
        </p:nvPicPr>
        <p:blipFill>
          <a:blip r:embed="rId12"/>
          <a:stretch>
            <a:fillRect/>
          </a:stretch>
        </p:blipFill>
        <p:spPr>
          <a:xfrm>
            <a:off x="398338" y="5751281"/>
            <a:ext cx="4823556" cy="1176172"/>
          </a:xfrm>
          <a:prstGeom prst="rect">
            <a:avLst/>
          </a:prstGeom>
        </p:spPr>
      </p:pic>
      <p:graphicFrame>
        <p:nvGraphicFramePr>
          <p:cNvPr id="650253" name="Object 13"/>
          <p:cNvGraphicFramePr>
            <a:graphicFrameLocks noGrp="1" noChangeAspect="1"/>
          </p:cNvGraphicFramePr>
          <p:nvPr>
            <p:ph/>
            <p:extLst>
              <p:ext uri="{D42A27DB-BD31-4B8C-83A1-F6EECF244321}">
                <p14:modId xmlns:p14="http://schemas.microsoft.com/office/powerpoint/2010/main" val="1501621584"/>
              </p:ext>
            </p:extLst>
          </p:nvPr>
        </p:nvGraphicFramePr>
        <p:xfrm>
          <a:off x="173376" y="4984849"/>
          <a:ext cx="4032250" cy="996950"/>
        </p:xfrm>
        <a:graphic>
          <a:graphicData uri="http://schemas.openxmlformats.org/presentationml/2006/ole">
            <mc:AlternateContent xmlns:mc="http://schemas.openxmlformats.org/markup-compatibility/2006">
              <mc:Choice xmlns:v="urn:schemas-microsoft-com:vml" Requires="v">
                <p:oleObj r:id="rId13" imgW="1068705" imgH="264160" progId="Equation.3">
                  <p:embed/>
                </p:oleObj>
              </mc:Choice>
              <mc:Fallback>
                <p:oleObj r:id="rId13" imgW="1068705" imgH="264160" progId="Equation.3">
                  <p:embed/>
                  <p:pic>
                    <p:nvPicPr>
                      <p:cNvPr id="0" name="图片 3228"/>
                      <p:cNvPicPr/>
                      <p:nvPr/>
                    </p:nvPicPr>
                    <p:blipFill>
                      <a:blip r:embed="rId14">
                        <a:clrChange>
                          <a:clrFrom>
                            <a:srgbClr val="000000"/>
                          </a:clrFrom>
                          <a:clrTo>
                            <a:srgbClr val="FFFFFF"/>
                          </a:clrTo>
                        </a:clrChange>
                      </a:blip>
                      <a:stretch>
                        <a:fillRect/>
                      </a:stretch>
                    </p:blipFill>
                    <p:spPr>
                      <a:xfrm>
                        <a:off x="173376" y="4984849"/>
                        <a:ext cx="4032250" cy="996950"/>
                      </a:xfrm>
                      <a:prstGeom prst="rect">
                        <a:avLst/>
                      </a:prstGeom>
                      <a:noFill/>
                      <a:ln w="38100">
                        <a:noFill/>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Text Box 2"/>
          <p:cNvSpPr txBox="1"/>
          <p:nvPr/>
        </p:nvSpPr>
        <p:spPr>
          <a:xfrm>
            <a:off x="827088" y="1916113"/>
            <a:ext cx="7467600" cy="2563812"/>
          </a:xfrm>
          <a:prstGeom prst="rect">
            <a:avLst/>
          </a:prstGeom>
          <a:noFill/>
          <a:ln w="19050">
            <a:noFill/>
          </a:ln>
        </p:spPr>
        <p:txBody>
          <a:bodyPr anchor="t" anchorCtr="0">
            <a:spAutoFit/>
          </a:bodyPr>
          <a:lstStyle/>
          <a:p>
            <a:pPr>
              <a:lnSpc>
                <a:spcPct val="150000"/>
              </a:lnSpc>
              <a:spcBef>
                <a:spcPct val="50000"/>
              </a:spcBef>
            </a:pPr>
            <a:r>
              <a:rPr lang="en-US" altLang="zh-CN" dirty="0">
                <a:solidFill>
                  <a:srgbClr val="3333FF"/>
                </a:solidFill>
                <a:latin typeface="Times New Roman" panose="02020603050405020304" pitchFamily="18" charset="0"/>
                <a:ea typeface="楷体_GB2312" pitchFamily="49" charset="-122"/>
              </a:rPr>
              <a:t>       </a:t>
            </a:r>
            <a:r>
              <a:rPr lang="en-US" altLang="zh-CN" sz="2800" dirty="0">
                <a:solidFill>
                  <a:srgbClr val="3333FF"/>
                </a:solidFill>
                <a:latin typeface="Times New Roman" panose="02020603050405020304" pitchFamily="18" charset="0"/>
                <a:ea typeface="楷体_GB2312" pitchFamily="49" charset="-122"/>
              </a:rPr>
              <a:t> </a:t>
            </a:r>
            <a:r>
              <a:rPr lang="zh-CN" altLang="en-US" sz="2800" u="sng" dirty="0">
                <a:solidFill>
                  <a:srgbClr val="FF9933"/>
                </a:solidFill>
                <a:latin typeface="Times New Roman" panose="02020603050405020304" pitchFamily="18" charset="0"/>
                <a:ea typeface="楷体_GB2312" pitchFamily="49" charset="-122"/>
              </a:rPr>
              <a:t>通量</a:t>
            </a:r>
            <a:r>
              <a:rPr lang="zh-CN" altLang="en-US" u="sng" dirty="0">
                <a:solidFill>
                  <a:schemeClr val="bg1"/>
                </a:solidFill>
                <a:latin typeface="Times New Roman" panose="02020603050405020304" pitchFamily="18" charset="0"/>
                <a:ea typeface="楷体_GB2312" pitchFamily="49" charset="-122"/>
              </a:rPr>
              <a:t>可以表示闭合曲面中通量源的总量</a:t>
            </a:r>
            <a:r>
              <a:rPr lang="zh-CN" altLang="en-US" dirty="0">
                <a:solidFill>
                  <a:schemeClr val="bg1"/>
                </a:solidFill>
                <a:latin typeface="Times New Roman" panose="02020603050405020304" pitchFamily="18" charset="0"/>
                <a:ea typeface="楷体_GB2312" pitchFamily="49" charset="-122"/>
              </a:rPr>
              <a:t>，但是通量代表的是闭合曲面包围的</a:t>
            </a:r>
            <a:r>
              <a:rPr lang="zh-CN" altLang="en-US" sz="2800" dirty="0">
                <a:solidFill>
                  <a:srgbClr val="FF9933"/>
                </a:solidFill>
                <a:latin typeface="Times New Roman" panose="02020603050405020304" pitchFamily="18" charset="0"/>
                <a:ea typeface="楷体_GB2312" pitchFamily="49" charset="-122"/>
              </a:rPr>
              <a:t>总的通量源强度</a:t>
            </a:r>
            <a:r>
              <a:rPr lang="zh-CN" altLang="en-US" dirty="0">
                <a:solidFill>
                  <a:schemeClr val="bg1"/>
                </a:solidFill>
                <a:latin typeface="Times New Roman" panose="02020603050405020304" pitchFamily="18" charset="0"/>
                <a:ea typeface="楷体_GB2312" pitchFamily="49" charset="-122"/>
              </a:rPr>
              <a:t>，它不能显示通量源在区域内每一点的分布特性。为此，需要研究矢量场的</a:t>
            </a:r>
            <a:r>
              <a:rPr lang="zh-CN" altLang="en-US" sz="2800" dirty="0">
                <a:solidFill>
                  <a:srgbClr val="FF9933"/>
                </a:solidFill>
                <a:latin typeface="Times New Roman" panose="02020603050405020304" pitchFamily="18" charset="0"/>
                <a:ea typeface="楷体_GB2312" pitchFamily="49" charset="-122"/>
              </a:rPr>
              <a:t>散度</a:t>
            </a:r>
            <a:r>
              <a:rPr lang="zh-CN" altLang="en-US" dirty="0">
                <a:solidFill>
                  <a:schemeClr val="bg1"/>
                </a:solidFill>
                <a:latin typeface="Times New Roman" panose="02020603050405020304" pitchFamily="18" charset="0"/>
                <a:ea typeface="楷体_GB2312" pitchFamily="49"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39" name="Rectangle 27"/>
          <p:cNvSpPr/>
          <p:nvPr/>
        </p:nvSpPr>
        <p:spPr>
          <a:xfrm>
            <a:off x="179388" y="690563"/>
            <a:ext cx="7227887" cy="504825"/>
          </a:xfrm>
          <a:prstGeom prst="rect">
            <a:avLst/>
          </a:prstGeom>
          <a:noFill/>
          <a:ln w="9525">
            <a:noFill/>
          </a:ln>
        </p:spPr>
        <p:txBody>
          <a:bodyPr anchor="t" anchorCtr="0"/>
          <a:lstStyle/>
          <a:p>
            <a:r>
              <a:rPr lang="en-US" altLang="zh-CN" dirty="0">
                <a:solidFill>
                  <a:schemeClr val="bg1"/>
                </a:solidFill>
                <a:latin typeface="Times New Roman" panose="02020603050405020304" pitchFamily="18" charset="0"/>
                <a:ea typeface="宋体" panose="02010600030101010101" pitchFamily="2" charset="-122"/>
              </a:rPr>
              <a:t>3.  </a:t>
            </a:r>
            <a:r>
              <a:rPr lang="zh-CN" altLang="en-US" dirty="0">
                <a:solidFill>
                  <a:schemeClr val="bg1"/>
                </a:solidFill>
                <a:latin typeface="Times New Roman" panose="02020603050405020304" pitchFamily="18" charset="0"/>
                <a:ea typeface="宋体" panose="02010600030101010101" pitchFamily="2" charset="-122"/>
              </a:rPr>
              <a:t>矢量场的纯散度源</a:t>
            </a:r>
          </a:p>
        </p:txBody>
      </p:sp>
      <p:sp>
        <p:nvSpPr>
          <p:cNvPr id="218146" name="Rectangle 34"/>
          <p:cNvSpPr/>
          <p:nvPr/>
        </p:nvSpPr>
        <p:spPr>
          <a:xfrm>
            <a:off x="179388" y="1198563"/>
            <a:ext cx="8785225" cy="1582737"/>
          </a:xfrm>
          <a:prstGeom prst="rect">
            <a:avLst/>
          </a:prstGeom>
          <a:noFill/>
          <a:ln w="9525">
            <a:noFill/>
          </a:ln>
        </p:spPr>
        <p:txBody>
          <a:bodyPr anchor="t" anchorCtr="0"/>
          <a:lstStyle/>
          <a:p>
            <a:pPr>
              <a:lnSpc>
                <a:spcPct val="130000"/>
              </a:lnSpc>
              <a:spcBef>
                <a:spcPct val="0"/>
              </a:spcBef>
            </a:pPr>
            <a:r>
              <a:rPr lang="en-US" altLang="zh-CN" dirty="0">
                <a:solidFill>
                  <a:schemeClr val="bg1"/>
                </a:solidFill>
                <a:latin typeface="Times New Roman" panose="02020603050405020304" pitchFamily="18" charset="0"/>
                <a:ea typeface="楷体_GB2312" pitchFamily="49" charset="-122"/>
              </a:rPr>
              <a:t>        </a:t>
            </a:r>
            <a:r>
              <a:rPr lang="zh-CN" altLang="en-US" dirty="0">
                <a:solidFill>
                  <a:schemeClr val="bg1"/>
                </a:solidFill>
                <a:latin typeface="Times New Roman" panose="02020603050405020304" pitchFamily="18" charset="0"/>
                <a:ea typeface="楷体_GB2312" pitchFamily="49" charset="-122"/>
              </a:rPr>
              <a:t>为了定量研究场与源之间的关系，需建立场空间任意点（小体积元）的通量源与矢量场（小体积元曲面的通量）的关系。利用极限方法得到这一关系：</a:t>
            </a:r>
          </a:p>
        </p:txBody>
      </p:sp>
      <p:graphicFrame>
        <p:nvGraphicFramePr>
          <p:cNvPr id="218151" name="Object 39"/>
          <p:cNvGraphicFramePr>
            <a:graphicFrameLocks noChangeAspect="1"/>
          </p:cNvGraphicFramePr>
          <p:nvPr>
            <p:extLst>
              <p:ext uri="{D42A27DB-BD31-4B8C-83A1-F6EECF244321}">
                <p14:modId xmlns:p14="http://schemas.microsoft.com/office/powerpoint/2010/main" val="52460441"/>
              </p:ext>
            </p:extLst>
          </p:nvPr>
        </p:nvGraphicFramePr>
        <p:xfrm>
          <a:off x="3131840" y="696118"/>
          <a:ext cx="1560512" cy="430213"/>
        </p:xfrm>
        <a:graphic>
          <a:graphicData uri="http://schemas.openxmlformats.org/presentationml/2006/ole">
            <mc:AlternateContent xmlns:mc="http://schemas.openxmlformats.org/markup-compatibility/2006">
              <mc:Choice xmlns:v="urn:schemas-microsoft-com:vml" Requires="v">
                <p:oleObj r:id="rId3" imgW="644525" imgH="148590" progId="Equation.3">
                  <p:embed/>
                </p:oleObj>
              </mc:Choice>
              <mc:Fallback>
                <p:oleObj r:id="rId3" imgW="644525" imgH="148590" progId="Equation.3">
                  <p:embed/>
                  <p:pic>
                    <p:nvPicPr>
                      <p:cNvPr id="0" name="图片 3231"/>
                      <p:cNvPicPr/>
                      <p:nvPr/>
                    </p:nvPicPr>
                    <p:blipFill>
                      <a:blip r:embed="rId4">
                        <a:clrChange>
                          <a:clrFrom>
                            <a:srgbClr val="000000"/>
                          </a:clrFrom>
                          <a:clrTo>
                            <a:srgbClr val="FFFFFF"/>
                          </a:clrTo>
                        </a:clrChange>
                      </a:blip>
                      <a:stretch>
                        <a:fillRect/>
                      </a:stretch>
                    </p:blipFill>
                    <p:spPr>
                      <a:xfrm>
                        <a:off x="3131840" y="696118"/>
                        <a:ext cx="1560512" cy="430213"/>
                      </a:xfrm>
                      <a:prstGeom prst="rect">
                        <a:avLst/>
                      </a:prstGeom>
                      <a:noFill/>
                      <a:ln w="38100">
                        <a:noFill/>
                        <a:miter/>
                      </a:ln>
                    </p:spPr>
                  </p:pic>
                </p:oleObj>
              </mc:Fallback>
            </mc:AlternateContent>
          </a:graphicData>
        </a:graphic>
      </p:graphicFrame>
      <p:sp>
        <p:nvSpPr>
          <p:cNvPr id="80901" name="AutoShape 45">
            <a:hlinkClick r:id="rId5"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0902" name="AutoShape 46">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0903" name="AutoShape 47">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0904" name="AutoShape 48">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18161" name="Rectangle 49"/>
          <p:cNvSpPr/>
          <p:nvPr/>
        </p:nvSpPr>
        <p:spPr>
          <a:xfrm>
            <a:off x="900113" y="4365625"/>
            <a:ext cx="7885112" cy="504825"/>
          </a:xfrm>
          <a:prstGeom prst="rect">
            <a:avLst/>
          </a:prstGeom>
          <a:noFill/>
          <a:ln w="9525">
            <a:noFill/>
          </a:ln>
        </p:spPr>
        <p:txBody>
          <a:bodyPr anchor="t" anchorCtr="0"/>
          <a:lstStyle/>
          <a:p>
            <a:pPr>
              <a:lnSpc>
                <a:spcPct val="120000"/>
              </a:lnSpc>
            </a:pPr>
            <a:r>
              <a:rPr lang="zh-CN" altLang="en-US" dirty="0">
                <a:solidFill>
                  <a:srgbClr val="FFB7B7"/>
                </a:solidFill>
                <a:latin typeface="宋体" panose="02010600030101010101" pitchFamily="2" charset="-122"/>
                <a:ea typeface="宋体" panose="02010600030101010101" pitchFamily="2" charset="-122"/>
              </a:rPr>
              <a:t>散度的物理意义：</a:t>
            </a:r>
            <a:r>
              <a:rPr lang="zh-CN" altLang="en-US" dirty="0">
                <a:solidFill>
                  <a:schemeClr val="bg1"/>
                </a:solidFill>
                <a:latin typeface="Arial" panose="020B0604020202020204" pitchFamily="34" charset="0"/>
                <a:ea typeface="楷体_GB2312" pitchFamily="49" charset="-122"/>
              </a:rPr>
              <a:t>通量体密度</a:t>
            </a:r>
          </a:p>
        </p:txBody>
      </p:sp>
      <p:sp>
        <p:nvSpPr>
          <p:cNvPr id="218162" name="Rectangle 50"/>
          <p:cNvSpPr/>
          <p:nvPr/>
        </p:nvSpPr>
        <p:spPr>
          <a:xfrm>
            <a:off x="323528" y="3068637"/>
            <a:ext cx="1800225" cy="504825"/>
          </a:xfrm>
          <a:prstGeom prst="rect">
            <a:avLst/>
          </a:prstGeom>
          <a:noFill/>
          <a:ln w="9525">
            <a:noFill/>
          </a:ln>
        </p:spPr>
        <p:txBody>
          <a:bodyPr anchor="t" anchorCtr="0"/>
          <a:lstStyle/>
          <a:p>
            <a:pPr>
              <a:lnSpc>
                <a:spcPct val="120000"/>
              </a:lnSpc>
            </a:pPr>
            <a:r>
              <a:rPr lang="zh-CN" altLang="en-US" dirty="0">
                <a:solidFill>
                  <a:srgbClr val="FF9900"/>
                </a:solidFill>
                <a:latin typeface="楷体_GB2312" pitchFamily="49" charset="-122"/>
                <a:ea typeface="楷体_GB2312" pitchFamily="49" charset="-122"/>
              </a:rPr>
              <a:t>通量</a:t>
            </a:r>
            <a:r>
              <a:rPr lang="zh-CN" altLang="en-US" u="sng" dirty="0">
                <a:solidFill>
                  <a:srgbClr val="FF9900"/>
                </a:solidFill>
                <a:latin typeface="楷体_GB2312" pitchFamily="49" charset="-122"/>
                <a:ea typeface="楷体_GB2312" pitchFamily="49" charset="-122"/>
              </a:rPr>
              <a:t>体密度</a:t>
            </a:r>
            <a:endParaRPr lang="zh-CN" altLang="en-US" u="sng" dirty="0">
              <a:solidFill>
                <a:schemeClr val="bg1"/>
              </a:solidFill>
              <a:latin typeface="楷体_GB2312" pitchFamily="49" charset="-122"/>
              <a:ea typeface="楷体_GB2312" pitchFamily="49" charset="-122"/>
            </a:endParaRPr>
          </a:p>
        </p:txBody>
      </p:sp>
      <p:pic>
        <p:nvPicPr>
          <p:cNvPr id="3" name="图片 2">
            <a:extLst>
              <a:ext uri="{FF2B5EF4-FFF2-40B4-BE49-F238E27FC236}">
                <a16:creationId xmlns:a16="http://schemas.microsoft.com/office/drawing/2014/main" id="{C93B91C4-D2A9-08CA-2FC4-315AA46BA084}"/>
              </a:ext>
            </a:extLst>
          </p:cNvPr>
          <p:cNvPicPr>
            <a:picLocks noChangeAspect="1"/>
          </p:cNvPicPr>
          <p:nvPr/>
        </p:nvPicPr>
        <p:blipFill>
          <a:blip r:embed="rId6"/>
          <a:stretch>
            <a:fillRect/>
          </a:stretch>
        </p:blipFill>
        <p:spPr>
          <a:xfrm>
            <a:off x="2247106" y="2710656"/>
            <a:ext cx="6305550" cy="1171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9" name="Rectangle 5"/>
          <p:cNvSpPr/>
          <p:nvPr/>
        </p:nvSpPr>
        <p:spPr>
          <a:xfrm>
            <a:off x="539750" y="2133600"/>
            <a:ext cx="2232025" cy="433388"/>
          </a:xfrm>
          <a:prstGeom prst="rect">
            <a:avLst/>
          </a:prstGeom>
          <a:noFill/>
          <a:ln w="9525">
            <a:noFill/>
          </a:ln>
        </p:spPr>
        <p:txBody>
          <a:bodyPr anchor="t" anchorCtr="0"/>
          <a:lstStyle/>
          <a:p>
            <a:pPr marL="571500" indent="-571500"/>
            <a:r>
              <a:rPr lang="zh-CN" altLang="en-US" dirty="0">
                <a:solidFill>
                  <a:schemeClr val="bg1"/>
                </a:solidFill>
                <a:latin typeface="楷体_GB2312" pitchFamily="49" charset="-122"/>
                <a:ea typeface="楷体_GB2312" pitchFamily="49" charset="-122"/>
              </a:rPr>
              <a:t>圆柱坐标系</a:t>
            </a:r>
          </a:p>
        </p:txBody>
      </p:sp>
      <p:graphicFrame>
        <p:nvGraphicFramePr>
          <p:cNvPr id="400390" name="Object 6"/>
          <p:cNvGraphicFramePr>
            <a:graphicFrameLocks noChangeAspect="1"/>
          </p:cNvGraphicFramePr>
          <p:nvPr/>
        </p:nvGraphicFramePr>
        <p:xfrm>
          <a:off x="2124075" y="2924175"/>
          <a:ext cx="7019925" cy="866775"/>
        </p:xfrm>
        <a:graphic>
          <a:graphicData uri="http://schemas.openxmlformats.org/presentationml/2006/ole">
            <mc:AlternateContent xmlns:mc="http://schemas.openxmlformats.org/markup-compatibility/2006">
              <mc:Choice xmlns:v="urn:schemas-microsoft-com:vml" Requires="v">
                <p:oleObj r:id="rId3" imgW="3035300" imgH="325120" progId="Equation.3">
                  <p:embed/>
                </p:oleObj>
              </mc:Choice>
              <mc:Fallback>
                <p:oleObj r:id="rId3" imgW="3035300" imgH="325120" progId="Equation.3">
                  <p:embed/>
                  <p:pic>
                    <p:nvPicPr>
                      <p:cNvPr id="0" name="图片 3235"/>
                      <p:cNvPicPr/>
                      <p:nvPr/>
                    </p:nvPicPr>
                    <p:blipFill>
                      <a:blip r:embed="rId4">
                        <a:clrChange>
                          <a:clrFrom>
                            <a:srgbClr val="000000"/>
                          </a:clrFrom>
                          <a:clrTo>
                            <a:srgbClr val="FFFFFF"/>
                          </a:clrTo>
                        </a:clrChange>
                      </a:blip>
                      <a:stretch>
                        <a:fillRect/>
                      </a:stretch>
                    </p:blipFill>
                    <p:spPr>
                      <a:xfrm>
                        <a:off x="2124075" y="2924175"/>
                        <a:ext cx="7019925" cy="866775"/>
                      </a:xfrm>
                      <a:prstGeom prst="rect">
                        <a:avLst/>
                      </a:prstGeom>
                      <a:noFill/>
                      <a:ln w="38100">
                        <a:noFill/>
                        <a:miter/>
                      </a:ln>
                    </p:spPr>
                  </p:pic>
                </p:oleObj>
              </mc:Fallback>
            </mc:AlternateContent>
          </a:graphicData>
        </a:graphic>
      </p:graphicFrame>
      <p:graphicFrame>
        <p:nvGraphicFramePr>
          <p:cNvPr id="400392" name="Object 8"/>
          <p:cNvGraphicFramePr>
            <a:graphicFrameLocks noChangeAspect="1"/>
          </p:cNvGraphicFramePr>
          <p:nvPr/>
        </p:nvGraphicFramePr>
        <p:xfrm>
          <a:off x="2376488" y="1995488"/>
          <a:ext cx="3924300" cy="892175"/>
        </p:xfrm>
        <a:graphic>
          <a:graphicData uri="http://schemas.openxmlformats.org/presentationml/2006/ole">
            <mc:AlternateContent xmlns:mc="http://schemas.openxmlformats.org/markup-compatibility/2006">
              <mc:Choice xmlns:v="urn:schemas-microsoft-com:vml" Requires="v">
                <p:oleObj r:id="rId5" imgW="1470660" imgH="347345" progId="Equation.3">
                  <p:embed/>
                </p:oleObj>
              </mc:Choice>
              <mc:Fallback>
                <p:oleObj r:id="rId5" imgW="1470660" imgH="347345" progId="Equation.3">
                  <p:embed/>
                  <p:pic>
                    <p:nvPicPr>
                      <p:cNvPr id="0" name="图片 3232"/>
                      <p:cNvPicPr/>
                      <p:nvPr/>
                    </p:nvPicPr>
                    <p:blipFill>
                      <a:blip r:embed="rId6">
                        <a:clrChange>
                          <a:clrFrom>
                            <a:srgbClr val="000000"/>
                          </a:clrFrom>
                          <a:clrTo>
                            <a:srgbClr val="FFFFFF"/>
                          </a:clrTo>
                        </a:clrChange>
                      </a:blip>
                      <a:stretch>
                        <a:fillRect/>
                      </a:stretch>
                    </p:blipFill>
                    <p:spPr>
                      <a:xfrm>
                        <a:off x="2376488" y="1995488"/>
                        <a:ext cx="3924300" cy="892175"/>
                      </a:xfrm>
                      <a:prstGeom prst="rect">
                        <a:avLst/>
                      </a:prstGeom>
                      <a:noFill/>
                      <a:ln w="38100">
                        <a:noFill/>
                        <a:miter/>
                      </a:ln>
                    </p:spPr>
                  </p:pic>
                </p:oleObj>
              </mc:Fallback>
            </mc:AlternateContent>
          </a:graphicData>
        </a:graphic>
      </p:graphicFrame>
      <p:sp>
        <p:nvSpPr>
          <p:cNvPr id="400400" name="Rectangle 16"/>
          <p:cNvSpPr/>
          <p:nvPr/>
        </p:nvSpPr>
        <p:spPr>
          <a:xfrm>
            <a:off x="539750" y="3024188"/>
            <a:ext cx="2447925" cy="549275"/>
          </a:xfrm>
          <a:prstGeom prst="rect">
            <a:avLst/>
          </a:prstGeom>
          <a:noFill/>
          <a:ln w="9525">
            <a:noFill/>
          </a:ln>
        </p:spPr>
        <p:txBody>
          <a:bodyPr anchor="t" anchorCtr="0"/>
          <a:lstStyle/>
          <a:p>
            <a:pPr marL="571500" indent="-571500"/>
            <a:r>
              <a:rPr lang="zh-CN" altLang="en-US" dirty="0">
                <a:solidFill>
                  <a:schemeClr val="bg1"/>
                </a:solidFill>
                <a:latin typeface="楷体_GB2312" pitchFamily="49" charset="-122"/>
                <a:ea typeface="楷体_GB2312" pitchFamily="49" charset="-122"/>
              </a:rPr>
              <a:t>球坐标系</a:t>
            </a:r>
          </a:p>
        </p:txBody>
      </p:sp>
      <p:graphicFrame>
        <p:nvGraphicFramePr>
          <p:cNvPr id="400405" name="Object 21"/>
          <p:cNvGraphicFramePr>
            <a:graphicFrameLocks noChangeAspect="1"/>
          </p:cNvGraphicFramePr>
          <p:nvPr>
            <p:extLst>
              <p:ext uri="{D42A27DB-BD31-4B8C-83A1-F6EECF244321}">
                <p14:modId xmlns:p14="http://schemas.microsoft.com/office/powerpoint/2010/main" val="1020143500"/>
              </p:ext>
            </p:extLst>
          </p:nvPr>
        </p:nvGraphicFramePr>
        <p:xfrm>
          <a:off x="2515394" y="694259"/>
          <a:ext cx="3646487" cy="950912"/>
        </p:xfrm>
        <a:graphic>
          <a:graphicData uri="http://schemas.openxmlformats.org/presentationml/2006/ole">
            <mc:AlternateContent xmlns:mc="http://schemas.openxmlformats.org/markup-compatibility/2006">
              <mc:Choice xmlns:v="urn:schemas-microsoft-com:vml" Requires="v">
                <p:oleObj r:id="rId7" imgW="1278255" imgH="363855" progId="Equation.3">
                  <p:embed/>
                </p:oleObj>
              </mc:Choice>
              <mc:Fallback>
                <p:oleObj r:id="rId7" imgW="1278255" imgH="363855" progId="Equation.3">
                  <p:embed/>
                  <p:pic>
                    <p:nvPicPr>
                      <p:cNvPr id="0" name="图片 3233"/>
                      <p:cNvPicPr/>
                      <p:nvPr/>
                    </p:nvPicPr>
                    <p:blipFill>
                      <a:blip r:embed="rId8">
                        <a:clrChange>
                          <a:clrFrom>
                            <a:srgbClr val="000000"/>
                          </a:clrFrom>
                          <a:clrTo>
                            <a:srgbClr val="FFFFFF"/>
                          </a:clrTo>
                        </a:clrChange>
                      </a:blip>
                      <a:stretch>
                        <a:fillRect/>
                      </a:stretch>
                    </p:blipFill>
                    <p:spPr>
                      <a:xfrm>
                        <a:off x="2515394" y="694259"/>
                        <a:ext cx="3646487" cy="950912"/>
                      </a:xfrm>
                      <a:prstGeom prst="rect">
                        <a:avLst/>
                      </a:prstGeom>
                      <a:noFill/>
                      <a:ln w="38100">
                        <a:noFill/>
                        <a:miter/>
                      </a:ln>
                    </p:spPr>
                  </p:pic>
                </p:oleObj>
              </mc:Fallback>
            </mc:AlternateContent>
          </a:graphicData>
        </a:graphic>
      </p:graphicFrame>
      <p:sp>
        <p:nvSpPr>
          <p:cNvPr id="400408" name="Rectangle 24"/>
          <p:cNvSpPr/>
          <p:nvPr/>
        </p:nvSpPr>
        <p:spPr>
          <a:xfrm>
            <a:off x="539750" y="904698"/>
            <a:ext cx="2303463" cy="433387"/>
          </a:xfrm>
          <a:prstGeom prst="rect">
            <a:avLst/>
          </a:prstGeom>
          <a:noFill/>
          <a:ln w="9525">
            <a:noFill/>
          </a:ln>
        </p:spPr>
        <p:txBody>
          <a:bodyPr anchor="t" anchorCtr="0"/>
          <a:lstStyle/>
          <a:p>
            <a:pPr marL="571500" indent="-571500"/>
            <a:r>
              <a:rPr lang="zh-CN" altLang="en-US" dirty="0">
                <a:solidFill>
                  <a:schemeClr val="bg1"/>
                </a:solidFill>
                <a:latin typeface="楷体_GB2312" pitchFamily="49" charset="-122"/>
                <a:ea typeface="楷体_GB2312" pitchFamily="49" charset="-122"/>
              </a:rPr>
              <a:t>直角坐标系</a:t>
            </a:r>
          </a:p>
        </p:txBody>
      </p:sp>
      <p:sp>
        <p:nvSpPr>
          <p:cNvPr id="400409" name="Rectangle 25"/>
          <p:cNvSpPr/>
          <p:nvPr/>
        </p:nvSpPr>
        <p:spPr>
          <a:xfrm>
            <a:off x="179388" y="377929"/>
            <a:ext cx="2663825" cy="477838"/>
          </a:xfrm>
          <a:prstGeom prst="rect">
            <a:avLst/>
          </a:prstGeom>
          <a:noFill/>
          <a:ln w="9525">
            <a:noFill/>
          </a:ln>
        </p:spPr>
        <p:txBody>
          <a:bodyPr anchor="t" anchorCtr="0"/>
          <a:lstStyle/>
          <a:p>
            <a:pPr marL="571500" indent="-571500"/>
            <a:r>
              <a:rPr lang="zh-CN" altLang="en-US" dirty="0">
                <a:solidFill>
                  <a:srgbClr val="FFB7B7"/>
                </a:solidFill>
                <a:latin typeface="宋体" panose="02010600030101010101" pitchFamily="2" charset="-122"/>
                <a:ea typeface="宋体" panose="02010600030101010101" pitchFamily="2" charset="-122"/>
              </a:rPr>
              <a:t>散度的表达式</a:t>
            </a:r>
            <a:r>
              <a:rPr lang="zh-CN" altLang="en-US" dirty="0">
                <a:solidFill>
                  <a:srgbClr val="FF9900"/>
                </a:solidFill>
                <a:latin typeface="幼圆" panose="02010509060101010101" pitchFamily="49" charset="-122"/>
                <a:ea typeface="幼圆" panose="02010509060101010101" pitchFamily="49" charset="-122"/>
              </a:rPr>
              <a:t>：</a:t>
            </a:r>
          </a:p>
        </p:txBody>
      </p:sp>
      <p:sp>
        <p:nvSpPr>
          <p:cNvPr id="400410" name="Rectangle 26"/>
          <p:cNvSpPr/>
          <p:nvPr/>
        </p:nvSpPr>
        <p:spPr>
          <a:xfrm>
            <a:off x="358774" y="4548408"/>
            <a:ext cx="2665413" cy="536575"/>
          </a:xfrm>
          <a:prstGeom prst="rect">
            <a:avLst/>
          </a:prstGeom>
          <a:noFill/>
          <a:ln w="9525">
            <a:noFill/>
          </a:ln>
        </p:spPr>
        <p:txBody>
          <a:bodyPr anchor="t" anchorCtr="0"/>
          <a:lstStyle/>
          <a:p>
            <a:pPr marL="342900" indent="-342900"/>
            <a:r>
              <a:rPr lang="zh-CN" altLang="en-US" dirty="0">
                <a:solidFill>
                  <a:srgbClr val="FFB7B7"/>
                </a:solidFill>
                <a:latin typeface="宋体" panose="02010600030101010101" pitchFamily="2" charset="-122"/>
                <a:ea typeface="宋体" panose="02010600030101010101" pitchFamily="2" charset="-122"/>
              </a:rPr>
              <a:t>散度的有关公式</a:t>
            </a:r>
            <a:r>
              <a:rPr lang="zh-CN" altLang="en-US" sz="2000" dirty="0">
                <a:solidFill>
                  <a:srgbClr val="FF9900"/>
                </a:solidFill>
                <a:latin typeface="幼圆" panose="02010509060101010101" pitchFamily="49" charset="-122"/>
                <a:ea typeface="幼圆" panose="02010509060101010101" pitchFamily="49" charset="-122"/>
              </a:rPr>
              <a:t>：</a:t>
            </a:r>
            <a:endParaRPr lang="zh-CN" altLang="en-US" sz="3200" b="0" dirty="0">
              <a:solidFill>
                <a:srgbClr val="FF9900"/>
              </a:solidFill>
              <a:latin typeface="幼圆" panose="02010509060101010101" pitchFamily="49" charset="-122"/>
              <a:ea typeface="幼圆" panose="02010509060101010101" pitchFamily="49" charset="-122"/>
            </a:endParaRPr>
          </a:p>
        </p:txBody>
      </p:sp>
      <p:graphicFrame>
        <p:nvGraphicFramePr>
          <p:cNvPr id="400411" name="Object 27"/>
          <p:cNvGraphicFramePr>
            <a:graphicFrameLocks noChangeAspect="1"/>
          </p:cNvGraphicFramePr>
          <p:nvPr>
            <p:extLst>
              <p:ext uri="{D42A27DB-BD31-4B8C-83A1-F6EECF244321}">
                <p14:modId xmlns:p14="http://schemas.microsoft.com/office/powerpoint/2010/main" val="853744848"/>
              </p:ext>
            </p:extLst>
          </p:nvPr>
        </p:nvGraphicFramePr>
        <p:xfrm>
          <a:off x="3078203" y="4437112"/>
          <a:ext cx="3803650" cy="2614613"/>
        </p:xfrm>
        <a:graphic>
          <a:graphicData uri="http://schemas.openxmlformats.org/presentationml/2006/ole">
            <mc:AlternateContent xmlns:mc="http://schemas.openxmlformats.org/markup-compatibility/2006">
              <mc:Choice xmlns:v="urn:schemas-microsoft-com:vml" Requires="v">
                <p:oleObj r:id="rId9" imgW="1492885" imgH="1107440" progId="Equation.3">
                  <p:embed/>
                </p:oleObj>
              </mc:Choice>
              <mc:Fallback>
                <p:oleObj r:id="rId9" imgW="1492885" imgH="1107440" progId="Equation.3">
                  <p:embed/>
                  <p:pic>
                    <p:nvPicPr>
                      <p:cNvPr id="0" name="图片 3234"/>
                      <p:cNvPicPr/>
                      <p:nvPr/>
                    </p:nvPicPr>
                    <p:blipFill>
                      <a:blip r:embed="rId10">
                        <a:clrChange>
                          <a:clrFrom>
                            <a:srgbClr val="000000"/>
                          </a:clrFrom>
                          <a:clrTo>
                            <a:srgbClr val="FFFFFF"/>
                          </a:clrTo>
                        </a:clrChange>
                      </a:blip>
                      <a:stretch>
                        <a:fillRect/>
                      </a:stretch>
                    </p:blipFill>
                    <p:spPr>
                      <a:xfrm>
                        <a:off x="3078203" y="4437112"/>
                        <a:ext cx="3803650" cy="2614613"/>
                      </a:xfrm>
                      <a:prstGeom prst="rect">
                        <a:avLst/>
                      </a:prstGeom>
                      <a:noFill/>
                      <a:ln w="38100">
                        <a:noFill/>
                        <a:miter/>
                      </a:ln>
                    </p:spPr>
                  </p:pic>
                </p:oleObj>
              </mc:Fallback>
            </mc:AlternateContent>
          </a:graphicData>
        </a:graphic>
      </p:graphicFrame>
      <p:sp>
        <p:nvSpPr>
          <p:cNvPr id="82954" name="AutoShape 28">
            <a:hlinkClick r:id="rId11"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2955" name="AutoShape 29">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2956" name="AutoShape 30">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2957" name="AutoShape 31">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pic>
        <p:nvPicPr>
          <p:cNvPr id="3" name="图片 2">
            <a:extLst>
              <a:ext uri="{FF2B5EF4-FFF2-40B4-BE49-F238E27FC236}">
                <a16:creationId xmlns:a16="http://schemas.microsoft.com/office/drawing/2014/main" id="{AFCB5CB6-712B-C030-72F4-DE81F28EB675}"/>
              </a:ext>
            </a:extLst>
          </p:cNvPr>
          <p:cNvPicPr>
            <a:picLocks noChangeAspect="1"/>
          </p:cNvPicPr>
          <p:nvPr/>
        </p:nvPicPr>
        <p:blipFill>
          <a:blip r:embed="rId12"/>
          <a:stretch>
            <a:fillRect/>
          </a:stretch>
        </p:blipFill>
        <p:spPr>
          <a:xfrm>
            <a:off x="0" y="1595871"/>
            <a:ext cx="9144000" cy="2932478"/>
          </a:xfrm>
          <a:prstGeom prst="rect">
            <a:avLst/>
          </a:prstGeom>
        </p:spPr>
      </p:pic>
      <p:pic>
        <p:nvPicPr>
          <p:cNvPr id="5" name="图片 4">
            <a:extLst>
              <a:ext uri="{FF2B5EF4-FFF2-40B4-BE49-F238E27FC236}">
                <a16:creationId xmlns:a16="http://schemas.microsoft.com/office/drawing/2014/main" id="{AB723A3E-7E62-9CC4-8812-D1333F88BA5E}"/>
              </a:ext>
            </a:extLst>
          </p:cNvPr>
          <p:cNvPicPr>
            <a:picLocks noChangeAspect="1"/>
          </p:cNvPicPr>
          <p:nvPr/>
        </p:nvPicPr>
        <p:blipFill>
          <a:blip r:embed="rId13"/>
          <a:stretch>
            <a:fillRect/>
          </a:stretch>
        </p:blipFill>
        <p:spPr>
          <a:xfrm>
            <a:off x="4425582" y="1762301"/>
            <a:ext cx="4233195" cy="6886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9" name="Rectangle 11"/>
          <p:cNvSpPr/>
          <p:nvPr/>
        </p:nvSpPr>
        <p:spPr>
          <a:xfrm>
            <a:off x="487362" y="2871647"/>
            <a:ext cx="7885113" cy="504825"/>
          </a:xfrm>
          <a:prstGeom prst="rect">
            <a:avLst/>
          </a:prstGeom>
          <a:noFill/>
          <a:ln w="9525">
            <a:noFill/>
          </a:ln>
        </p:spPr>
        <p:txBody>
          <a:bodyPr anchor="t" anchorCtr="0"/>
          <a:lstStyle/>
          <a:p>
            <a:pPr>
              <a:lnSpc>
                <a:spcPct val="120000"/>
              </a:lnSpc>
            </a:pPr>
            <a:r>
              <a:rPr lang="zh-CN" altLang="en-US" dirty="0">
                <a:solidFill>
                  <a:schemeClr val="bg1"/>
                </a:solidFill>
                <a:latin typeface="楷体_GB2312" pitchFamily="49" charset="-122"/>
                <a:ea typeface="楷体_GB2312" pitchFamily="49" charset="-122"/>
              </a:rPr>
              <a:t>（微观）矢量场</a:t>
            </a:r>
            <a:r>
              <a:rPr lang="zh-CN" altLang="en-US" dirty="0">
                <a:solidFill>
                  <a:srgbClr val="FF9900"/>
                </a:solidFill>
                <a:latin typeface="楷体_GB2312" pitchFamily="49" charset="-122"/>
                <a:ea typeface="楷体_GB2312" pitchFamily="49" charset="-122"/>
              </a:rPr>
              <a:t>散度源</a:t>
            </a:r>
            <a:r>
              <a:rPr lang="zh-CN" altLang="en-US" dirty="0">
                <a:solidFill>
                  <a:schemeClr val="bg1"/>
                </a:solidFill>
                <a:latin typeface="楷体_GB2312" pitchFamily="49" charset="-122"/>
                <a:ea typeface="楷体_GB2312" pitchFamily="49" charset="-122"/>
              </a:rPr>
              <a:t>的三种可能结果：</a:t>
            </a:r>
          </a:p>
        </p:txBody>
      </p:sp>
      <p:sp>
        <p:nvSpPr>
          <p:cNvPr id="84994" name="AutoShape 14">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4995" name="AutoShape 15">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4996" name="AutoShape 16">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4997" name="AutoShape 17">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nvGrpSpPr>
          <p:cNvPr id="652306" name="Group 18"/>
          <p:cNvGrpSpPr/>
          <p:nvPr/>
        </p:nvGrpSpPr>
        <p:grpSpPr>
          <a:xfrm>
            <a:off x="539750" y="3870573"/>
            <a:ext cx="2614614" cy="2316163"/>
            <a:chOff x="612" y="1888"/>
            <a:chExt cx="1647" cy="1459"/>
          </a:xfrm>
        </p:grpSpPr>
        <p:grpSp>
          <p:nvGrpSpPr>
            <p:cNvPr id="84999" name="Group 19"/>
            <p:cNvGrpSpPr/>
            <p:nvPr/>
          </p:nvGrpSpPr>
          <p:grpSpPr>
            <a:xfrm>
              <a:off x="612" y="3067"/>
              <a:ext cx="1647" cy="280"/>
              <a:chOff x="612" y="3067"/>
              <a:chExt cx="1647" cy="280"/>
            </a:xfrm>
          </p:grpSpPr>
          <p:sp>
            <p:nvSpPr>
              <p:cNvPr id="85000" name="Text Box 20"/>
              <p:cNvSpPr txBox="1"/>
              <p:nvPr/>
            </p:nvSpPr>
            <p:spPr>
              <a:xfrm>
                <a:off x="612" y="3095"/>
                <a:ext cx="1647" cy="252"/>
              </a:xfrm>
              <a:prstGeom prst="rect">
                <a:avLst/>
              </a:prstGeom>
              <a:noFill/>
              <a:ln w="9525">
                <a:noFill/>
              </a:ln>
            </p:spPr>
            <p:txBody>
              <a:bodyPr wrap="none" anchor="t" anchorCtr="0">
                <a:spAutoFit/>
              </a:bodyPr>
              <a:lstStyle/>
              <a:p>
                <a:pPr>
                  <a:spcBef>
                    <a:spcPct val="0"/>
                  </a:spcBef>
                </a:pPr>
                <a:r>
                  <a:rPr lang="en-US" altLang="zh-CN" sz="2000" b="0" i="1" dirty="0">
                    <a:solidFill>
                      <a:srgbClr val="FFFFCC"/>
                    </a:solidFill>
                    <a:latin typeface="楷体_GB2312" pitchFamily="49" charset="-122"/>
                    <a:ea typeface="楷体_GB2312" pitchFamily="49" charset="-122"/>
                    <a:sym typeface="Symbol" panose="05050102010706020507" pitchFamily="18" charset="2"/>
                  </a:rPr>
                  <a:t>                </a:t>
                </a:r>
                <a:r>
                  <a:rPr lang="en-US" altLang="zh-CN" sz="2000" dirty="0">
                    <a:solidFill>
                      <a:srgbClr val="FFFFCC"/>
                    </a:solidFill>
                    <a:latin typeface="楷体_GB2312" pitchFamily="49" charset="-122"/>
                    <a:ea typeface="楷体_GB2312" pitchFamily="49" charset="-122"/>
                    <a:sym typeface="Symbol" panose="05050102010706020507" pitchFamily="18" charset="2"/>
                  </a:rPr>
                  <a:t>(</a:t>
                </a:r>
                <a:r>
                  <a:rPr lang="zh-CN" altLang="en-US" sz="2000" dirty="0">
                    <a:solidFill>
                      <a:srgbClr val="FFFFCC"/>
                    </a:solidFill>
                    <a:latin typeface="楷体_GB2312" pitchFamily="49" charset="-122"/>
                    <a:ea typeface="楷体_GB2312" pitchFamily="49" charset="-122"/>
                    <a:sym typeface="Symbol" panose="05050102010706020507" pitchFamily="18" charset="2"/>
                  </a:rPr>
                  <a:t>正散度源</a:t>
                </a:r>
                <a:r>
                  <a:rPr lang="en-US" altLang="zh-CN" sz="2000" dirty="0">
                    <a:solidFill>
                      <a:srgbClr val="FFFFCC"/>
                    </a:solidFill>
                    <a:latin typeface="楷体_GB2312" pitchFamily="49" charset="-122"/>
                    <a:ea typeface="楷体_GB2312" pitchFamily="49" charset="-122"/>
                    <a:sym typeface="Symbol" panose="05050102010706020507" pitchFamily="18" charset="2"/>
                  </a:rPr>
                  <a:t>)</a:t>
                </a:r>
              </a:p>
            </p:txBody>
          </p:sp>
          <p:graphicFrame>
            <p:nvGraphicFramePr>
              <p:cNvPr id="85001" name="Object 21"/>
              <p:cNvGraphicFramePr>
                <a:graphicFrameLocks noChangeAspect="1"/>
              </p:cNvGraphicFramePr>
              <p:nvPr/>
            </p:nvGraphicFramePr>
            <p:xfrm>
              <a:off x="768" y="3067"/>
              <a:ext cx="636" cy="266"/>
            </p:xfrm>
            <a:graphic>
              <a:graphicData uri="http://schemas.openxmlformats.org/presentationml/2006/ole">
                <mc:AlternateContent xmlns:mc="http://schemas.openxmlformats.org/markup-compatibility/2006">
                  <mc:Choice xmlns:v="urn:schemas-microsoft-com:vml" Requires="v">
                    <p:oleObj r:id="rId4" imgW="457200" imgH="148590" progId="Equation.DSMT4">
                      <p:embed/>
                    </p:oleObj>
                  </mc:Choice>
                  <mc:Fallback>
                    <p:oleObj r:id="rId4" imgW="457200" imgH="148590" progId="Equation.DSMT4">
                      <p:embed/>
                      <p:pic>
                        <p:nvPicPr>
                          <p:cNvPr id="0" name="图片 3236"/>
                          <p:cNvPicPr/>
                          <p:nvPr/>
                        </p:nvPicPr>
                        <p:blipFill>
                          <a:blip r:embed="rId5">
                            <a:clrChange>
                              <a:clrFrom>
                                <a:srgbClr val="000000"/>
                              </a:clrFrom>
                              <a:clrTo>
                                <a:srgbClr val="FFFFFF"/>
                              </a:clrTo>
                            </a:clrChange>
                          </a:blip>
                          <a:stretch>
                            <a:fillRect/>
                          </a:stretch>
                        </p:blipFill>
                        <p:spPr>
                          <a:xfrm>
                            <a:off x="768" y="3067"/>
                            <a:ext cx="636" cy="266"/>
                          </a:xfrm>
                          <a:prstGeom prst="rect">
                            <a:avLst/>
                          </a:prstGeom>
                          <a:noFill/>
                          <a:ln w="38100">
                            <a:noFill/>
                            <a:miter/>
                          </a:ln>
                        </p:spPr>
                      </p:pic>
                    </p:oleObj>
                  </mc:Fallback>
                </mc:AlternateContent>
              </a:graphicData>
            </a:graphic>
          </p:graphicFrame>
        </p:grpSp>
        <p:grpSp>
          <p:nvGrpSpPr>
            <p:cNvPr id="85002" name="Group 22"/>
            <p:cNvGrpSpPr/>
            <p:nvPr/>
          </p:nvGrpSpPr>
          <p:grpSpPr>
            <a:xfrm>
              <a:off x="657" y="1888"/>
              <a:ext cx="1270" cy="1044"/>
              <a:chOff x="657" y="1888"/>
              <a:chExt cx="1270" cy="1044"/>
            </a:xfrm>
          </p:grpSpPr>
          <p:sp>
            <p:nvSpPr>
              <p:cNvPr id="85003" name="Rectangle 23"/>
              <p:cNvSpPr/>
              <p:nvPr/>
            </p:nvSpPr>
            <p:spPr>
              <a:xfrm>
                <a:off x="657" y="1888"/>
                <a:ext cx="1270" cy="1044"/>
              </a:xfrm>
              <a:prstGeom prst="rect">
                <a:avLst/>
              </a:prstGeom>
              <a:solidFill>
                <a:srgbClr val="C4E4E6"/>
              </a:solidFill>
              <a:ln w="9525" cap="flat" cmpd="sng">
                <a:solidFill>
                  <a:srgbClr val="993300"/>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5004" name="Freeform 24"/>
              <p:cNvSpPr/>
              <p:nvPr/>
            </p:nvSpPr>
            <p:spPr>
              <a:xfrm flipH="1">
                <a:off x="839" y="2377"/>
                <a:ext cx="401" cy="104"/>
              </a:xfrm>
              <a:custGeom>
                <a:avLst/>
                <a:gdLst/>
                <a:ahLst/>
                <a:cxnLst>
                  <a:cxn ang="0">
                    <a:pos x="0" y="1"/>
                  </a:cxn>
                  <a:cxn ang="0">
                    <a:pos x="2" y="1"/>
                  </a:cxn>
                  <a:cxn ang="0">
                    <a:pos x="5" y="2"/>
                  </a:cxn>
                </a:cxnLst>
                <a:rect l="0" t="0" r="0" b="0"/>
                <a:pathLst>
                  <a:path w="735" h="182">
                    <a:moveTo>
                      <a:pt x="0" y="26"/>
                    </a:moveTo>
                    <a:cubicBezTo>
                      <a:pt x="96" y="13"/>
                      <a:pt x="193" y="0"/>
                      <a:pt x="315" y="26"/>
                    </a:cubicBezTo>
                    <a:cubicBezTo>
                      <a:pt x="437" y="52"/>
                      <a:pt x="665" y="156"/>
                      <a:pt x="735" y="182"/>
                    </a:cubicBezTo>
                  </a:path>
                </a:pathLst>
              </a:custGeom>
              <a:noFill/>
              <a:ln w="22225" cap="flat" cmpd="sng">
                <a:solidFill>
                  <a:srgbClr val="FF00FF"/>
                </a:solidFill>
                <a:prstDash val="solid"/>
                <a:round/>
                <a:headEnd type="none" w="med" len="med"/>
                <a:tailEnd type="triangle" w="sm" len="lg"/>
              </a:ln>
            </p:spPr>
            <p:txBody>
              <a:bodyPr/>
              <a:lstStyle/>
              <a:p>
                <a:endParaRPr lang="zh-CN" altLang="en-US"/>
              </a:p>
            </p:txBody>
          </p:sp>
          <p:sp>
            <p:nvSpPr>
              <p:cNvPr id="85005" name="Freeform 25"/>
              <p:cNvSpPr/>
              <p:nvPr/>
            </p:nvSpPr>
            <p:spPr>
              <a:xfrm rot="5929053">
                <a:off x="948" y="2535"/>
                <a:ext cx="419" cy="100"/>
              </a:xfrm>
              <a:custGeom>
                <a:avLst/>
                <a:gdLst/>
                <a:ahLst/>
                <a:cxnLst>
                  <a:cxn ang="0">
                    <a:pos x="0" y="1"/>
                  </a:cxn>
                  <a:cxn ang="0">
                    <a:pos x="3" y="1"/>
                  </a:cxn>
                  <a:cxn ang="0">
                    <a:pos x="8" y="2"/>
                  </a:cxn>
                </a:cxnLst>
                <a:rect l="0" t="0" r="0" b="0"/>
                <a:pathLst>
                  <a:path w="735" h="182">
                    <a:moveTo>
                      <a:pt x="0" y="26"/>
                    </a:moveTo>
                    <a:cubicBezTo>
                      <a:pt x="96" y="13"/>
                      <a:pt x="193" y="0"/>
                      <a:pt x="315" y="26"/>
                    </a:cubicBezTo>
                    <a:cubicBezTo>
                      <a:pt x="437" y="52"/>
                      <a:pt x="665" y="156"/>
                      <a:pt x="735" y="182"/>
                    </a:cubicBezTo>
                  </a:path>
                </a:pathLst>
              </a:custGeom>
              <a:noFill/>
              <a:ln w="22225" cap="flat" cmpd="sng">
                <a:solidFill>
                  <a:srgbClr val="FF00FF"/>
                </a:solidFill>
                <a:prstDash val="solid"/>
                <a:round/>
                <a:headEnd type="none" w="med" len="med"/>
                <a:tailEnd type="triangle" w="sm" len="med"/>
              </a:ln>
            </p:spPr>
            <p:txBody>
              <a:bodyPr/>
              <a:lstStyle/>
              <a:p>
                <a:endParaRPr lang="zh-CN" altLang="en-US"/>
              </a:p>
            </p:txBody>
          </p:sp>
          <p:sp>
            <p:nvSpPr>
              <p:cNvPr id="85006" name="Freeform 26"/>
              <p:cNvSpPr/>
              <p:nvPr/>
            </p:nvSpPr>
            <p:spPr>
              <a:xfrm rot="-5692006" flipV="1">
                <a:off x="965" y="2138"/>
                <a:ext cx="419" cy="99"/>
              </a:xfrm>
              <a:custGeom>
                <a:avLst/>
                <a:gdLst/>
                <a:ahLst/>
                <a:cxnLst>
                  <a:cxn ang="0">
                    <a:pos x="0" y="1"/>
                  </a:cxn>
                  <a:cxn ang="0">
                    <a:pos x="3" y="1"/>
                  </a:cxn>
                  <a:cxn ang="0">
                    <a:pos x="8" y="2"/>
                  </a:cxn>
                </a:cxnLst>
                <a:rect l="0" t="0" r="0" b="0"/>
                <a:pathLst>
                  <a:path w="735" h="182">
                    <a:moveTo>
                      <a:pt x="0" y="26"/>
                    </a:moveTo>
                    <a:cubicBezTo>
                      <a:pt x="96" y="13"/>
                      <a:pt x="193" y="0"/>
                      <a:pt x="315" y="26"/>
                    </a:cubicBezTo>
                    <a:cubicBezTo>
                      <a:pt x="437" y="52"/>
                      <a:pt x="665" y="156"/>
                      <a:pt x="735" y="182"/>
                    </a:cubicBezTo>
                  </a:path>
                </a:pathLst>
              </a:custGeom>
              <a:noFill/>
              <a:ln w="22225" cap="flat" cmpd="sng">
                <a:solidFill>
                  <a:srgbClr val="FF00FF"/>
                </a:solidFill>
                <a:prstDash val="solid"/>
                <a:round/>
                <a:headEnd type="none" w="med" len="med"/>
                <a:tailEnd type="triangle" w="sm" len="med"/>
              </a:ln>
            </p:spPr>
            <p:txBody>
              <a:bodyPr/>
              <a:lstStyle/>
              <a:p>
                <a:endParaRPr lang="zh-CN" altLang="en-US"/>
              </a:p>
            </p:txBody>
          </p:sp>
          <p:sp>
            <p:nvSpPr>
              <p:cNvPr id="85007" name="Freeform 27"/>
              <p:cNvSpPr/>
              <p:nvPr/>
            </p:nvSpPr>
            <p:spPr>
              <a:xfrm rot="926725">
                <a:off x="1224" y="2429"/>
                <a:ext cx="401" cy="103"/>
              </a:xfrm>
              <a:custGeom>
                <a:avLst/>
                <a:gdLst/>
                <a:ahLst/>
                <a:cxnLst>
                  <a:cxn ang="0">
                    <a:pos x="0" y="1"/>
                  </a:cxn>
                  <a:cxn ang="0">
                    <a:pos x="2" y="1"/>
                  </a:cxn>
                  <a:cxn ang="0">
                    <a:pos x="5" y="2"/>
                  </a:cxn>
                </a:cxnLst>
                <a:rect l="0" t="0" r="0" b="0"/>
                <a:pathLst>
                  <a:path w="735" h="182">
                    <a:moveTo>
                      <a:pt x="0" y="26"/>
                    </a:moveTo>
                    <a:cubicBezTo>
                      <a:pt x="96" y="13"/>
                      <a:pt x="193" y="0"/>
                      <a:pt x="315" y="26"/>
                    </a:cubicBezTo>
                    <a:cubicBezTo>
                      <a:pt x="437" y="52"/>
                      <a:pt x="665" y="156"/>
                      <a:pt x="735" y="182"/>
                    </a:cubicBezTo>
                  </a:path>
                </a:pathLst>
              </a:custGeom>
              <a:noFill/>
              <a:ln w="19050" cap="flat" cmpd="sng">
                <a:solidFill>
                  <a:srgbClr val="FF00FF"/>
                </a:solidFill>
                <a:prstDash val="solid"/>
                <a:round/>
                <a:headEnd type="none" w="med" len="med"/>
                <a:tailEnd type="triangle" w="sm" len="med"/>
              </a:ln>
            </p:spPr>
            <p:txBody>
              <a:bodyPr/>
              <a:lstStyle/>
              <a:p>
                <a:endParaRPr lang="zh-CN" altLang="en-US"/>
              </a:p>
            </p:txBody>
          </p:sp>
          <p:sp>
            <p:nvSpPr>
              <p:cNvPr id="85008" name="Freeform 28"/>
              <p:cNvSpPr/>
              <p:nvPr/>
            </p:nvSpPr>
            <p:spPr>
              <a:xfrm rot="-3322987">
                <a:off x="1181" y="2171"/>
                <a:ext cx="419" cy="100"/>
              </a:xfrm>
              <a:custGeom>
                <a:avLst/>
                <a:gdLst/>
                <a:ahLst/>
                <a:cxnLst>
                  <a:cxn ang="0">
                    <a:pos x="0" y="1"/>
                  </a:cxn>
                  <a:cxn ang="0">
                    <a:pos x="3" y="1"/>
                  </a:cxn>
                  <a:cxn ang="0">
                    <a:pos x="8" y="2"/>
                  </a:cxn>
                </a:cxnLst>
                <a:rect l="0" t="0" r="0" b="0"/>
                <a:pathLst>
                  <a:path w="735" h="182">
                    <a:moveTo>
                      <a:pt x="0" y="26"/>
                    </a:moveTo>
                    <a:cubicBezTo>
                      <a:pt x="96" y="13"/>
                      <a:pt x="193" y="0"/>
                      <a:pt x="315" y="26"/>
                    </a:cubicBezTo>
                    <a:cubicBezTo>
                      <a:pt x="437" y="52"/>
                      <a:pt x="665" y="156"/>
                      <a:pt x="735" y="182"/>
                    </a:cubicBezTo>
                  </a:path>
                </a:pathLst>
              </a:custGeom>
              <a:noFill/>
              <a:ln w="19050" cap="flat" cmpd="sng">
                <a:solidFill>
                  <a:srgbClr val="FF00FF"/>
                </a:solidFill>
                <a:prstDash val="solid"/>
                <a:round/>
                <a:headEnd type="none" w="med" len="med"/>
                <a:tailEnd type="triangle" w="sm" len="med"/>
              </a:ln>
            </p:spPr>
            <p:txBody>
              <a:bodyPr/>
              <a:lstStyle/>
              <a:p>
                <a:endParaRPr lang="zh-CN" altLang="en-US"/>
              </a:p>
            </p:txBody>
          </p:sp>
          <p:sp>
            <p:nvSpPr>
              <p:cNvPr id="85009" name="Oval 29"/>
              <p:cNvSpPr/>
              <p:nvPr/>
            </p:nvSpPr>
            <p:spPr>
              <a:xfrm>
                <a:off x="1198" y="2359"/>
                <a:ext cx="57" cy="57"/>
              </a:xfrm>
              <a:prstGeom prst="ellipse">
                <a:avLst/>
              </a:prstGeom>
              <a:gradFill rotWithShape="1">
                <a:gsLst>
                  <a:gs pos="0">
                    <a:srgbClr val="993300"/>
                  </a:gs>
                  <a:gs pos="100000">
                    <a:srgbClr val="471800"/>
                  </a:gs>
                </a:gsLst>
                <a:path path="shape">
                  <a:fillToRect l="50000" t="50000" r="50000" b="50000"/>
                </a:path>
                <a:tileRect/>
              </a:gradFill>
              <a:ln w="9525" cap="flat" cmpd="sng">
                <a:solidFill>
                  <a:srgbClr val="993300"/>
                </a:solidFill>
                <a:prstDash val="solid"/>
                <a:round/>
                <a:headEnd type="none" w="med" len="med"/>
                <a:tailEnd type="none" w="med" len="med"/>
              </a:ln>
            </p:spPr>
            <p:txBody>
              <a:bodyPr anchor="t" anchorCtr="0"/>
              <a:lstStyle/>
              <a:p>
                <a:pPr algn="ctr"/>
                <a:endParaRPr lang="zh-CN" altLang="en-US" b="0" dirty="0">
                  <a:latin typeface="Arial" panose="020B0604020202020204" pitchFamily="34" charset="0"/>
                  <a:ea typeface="楷体_GB2312" pitchFamily="49" charset="-122"/>
                </a:endParaRPr>
              </a:p>
            </p:txBody>
          </p:sp>
          <p:sp>
            <p:nvSpPr>
              <p:cNvPr id="85010" name="Oval 30"/>
              <p:cNvSpPr/>
              <p:nvPr/>
            </p:nvSpPr>
            <p:spPr>
              <a:xfrm>
                <a:off x="1142" y="2305"/>
                <a:ext cx="170" cy="178"/>
              </a:xfrm>
              <a:prstGeom prst="ellipse">
                <a:avLst/>
              </a:prstGeom>
              <a:noFill/>
              <a:ln w="9525" cap="flat" cmpd="sng">
                <a:solidFill>
                  <a:srgbClr val="3366FF"/>
                </a:solidFill>
                <a:prstDash val="dash"/>
                <a:round/>
                <a:headEnd type="none" w="med" len="med"/>
                <a:tailEnd type="none" w="med" len="med"/>
              </a:ln>
            </p:spPr>
            <p:txBody>
              <a:bodyPr anchor="t" anchorCtr="0"/>
              <a:lstStyle/>
              <a:p>
                <a:pPr algn="ctr"/>
                <a:endParaRPr lang="zh-CN" altLang="en-US" b="0" dirty="0">
                  <a:latin typeface="Arial" panose="020B0604020202020204" pitchFamily="34" charset="0"/>
                  <a:ea typeface="楷体_GB2312" pitchFamily="49" charset="-122"/>
                </a:endParaRPr>
              </a:p>
            </p:txBody>
          </p:sp>
        </p:grpSp>
      </p:grpSp>
      <p:grpSp>
        <p:nvGrpSpPr>
          <p:cNvPr id="652319" name="Group 31"/>
          <p:cNvGrpSpPr/>
          <p:nvPr/>
        </p:nvGrpSpPr>
        <p:grpSpPr>
          <a:xfrm>
            <a:off x="3348038" y="3861048"/>
            <a:ext cx="2660650" cy="2322513"/>
            <a:chOff x="2381" y="1888"/>
            <a:chExt cx="1676" cy="1463"/>
          </a:xfrm>
        </p:grpSpPr>
        <p:grpSp>
          <p:nvGrpSpPr>
            <p:cNvPr id="85012" name="Group 32"/>
            <p:cNvGrpSpPr/>
            <p:nvPr/>
          </p:nvGrpSpPr>
          <p:grpSpPr>
            <a:xfrm>
              <a:off x="2381" y="3067"/>
              <a:ext cx="1676" cy="284"/>
              <a:chOff x="2336" y="3001"/>
              <a:chExt cx="1676" cy="284"/>
            </a:xfrm>
          </p:grpSpPr>
          <p:sp>
            <p:nvSpPr>
              <p:cNvPr id="85013" name="Text Box 33"/>
              <p:cNvSpPr txBox="1"/>
              <p:nvPr/>
            </p:nvSpPr>
            <p:spPr>
              <a:xfrm>
                <a:off x="2336" y="3022"/>
                <a:ext cx="1676" cy="250"/>
              </a:xfrm>
              <a:prstGeom prst="rect">
                <a:avLst/>
              </a:prstGeom>
              <a:noFill/>
              <a:ln w="9525">
                <a:noFill/>
              </a:ln>
            </p:spPr>
            <p:txBody>
              <a:bodyPr anchor="t" anchorCtr="0">
                <a:spAutoFit/>
              </a:bodyPr>
              <a:lstStyle/>
              <a:p>
                <a:pPr>
                  <a:spcBef>
                    <a:spcPct val="0"/>
                  </a:spcBef>
                </a:pPr>
                <a:r>
                  <a:rPr lang="en-US" altLang="zh-CN" sz="2000" b="0" i="1" dirty="0">
                    <a:solidFill>
                      <a:srgbClr val="FFFFCC"/>
                    </a:solidFill>
                    <a:latin typeface="楷体_GB2312" pitchFamily="49" charset="-122"/>
                    <a:ea typeface="楷体_GB2312" pitchFamily="49" charset="-122"/>
                    <a:sym typeface="Symbol" panose="05050102010706020507" pitchFamily="18" charset="2"/>
                  </a:rPr>
                  <a:t>               </a:t>
                </a:r>
                <a:r>
                  <a:rPr lang="en-US" altLang="zh-CN" sz="2000" dirty="0">
                    <a:solidFill>
                      <a:srgbClr val="FFFFCC"/>
                    </a:solidFill>
                    <a:latin typeface="楷体_GB2312" pitchFamily="49" charset="-122"/>
                    <a:ea typeface="楷体_GB2312" pitchFamily="49" charset="-122"/>
                    <a:sym typeface="Symbol" panose="05050102010706020507" pitchFamily="18" charset="2"/>
                  </a:rPr>
                  <a:t>(</a:t>
                </a:r>
                <a:r>
                  <a:rPr lang="zh-CN" altLang="en-US" sz="2000" dirty="0">
                    <a:solidFill>
                      <a:srgbClr val="FFFFCC"/>
                    </a:solidFill>
                    <a:latin typeface="楷体_GB2312" pitchFamily="49" charset="-122"/>
                    <a:ea typeface="楷体_GB2312" pitchFamily="49" charset="-122"/>
                  </a:rPr>
                  <a:t>负散度</a:t>
                </a:r>
                <a:r>
                  <a:rPr lang="zh-CN" altLang="en-US" sz="2000" dirty="0">
                    <a:solidFill>
                      <a:srgbClr val="FFFFCC"/>
                    </a:solidFill>
                    <a:latin typeface="楷体_GB2312" pitchFamily="49" charset="-122"/>
                    <a:ea typeface="楷体_GB2312" pitchFamily="49" charset="-122"/>
                    <a:sym typeface="Symbol" panose="05050102010706020507" pitchFamily="18" charset="2"/>
                  </a:rPr>
                  <a:t>源</a:t>
                </a:r>
                <a:r>
                  <a:rPr lang="en-US" altLang="zh-CN" sz="2000" dirty="0">
                    <a:solidFill>
                      <a:srgbClr val="FFFFCC"/>
                    </a:solidFill>
                    <a:latin typeface="楷体_GB2312" pitchFamily="49" charset="-122"/>
                    <a:ea typeface="楷体_GB2312" pitchFamily="49" charset="-122"/>
                    <a:sym typeface="Symbol" panose="05050102010706020507" pitchFamily="18" charset="2"/>
                  </a:rPr>
                  <a:t>)</a:t>
                </a:r>
              </a:p>
            </p:txBody>
          </p:sp>
          <p:graphicFrame>
            <p:nvGraphicFramePr>
              <p:cNvPr id="85014" name="Object 34"/>
              <p:cNvGraphicFramePr>
                <a:graphicFrameLocks noChangeAspect="1"/>
              </p:cNvGraphicFramePr>
              <p:nvPr/>
            </p:nvGraphicFramePr>
            <p:xfrm>
              <a:off x="2435" y="3001"/>
              <a:ext cx="681" cy="284"/>
            </p:xfrm>
            <a:graphic>
              <a:graphicData uri="http://schemas.openxmlformats.org/presentationml/2006/ole">
                <mc:AlternateContent xmlns:mc="http://schemas.openxmlformats.org/markup-compatibility/2006">
                  <mc:Choice xmlns:v="urn:schemas-microsoft-com:vml" Requires="v">
                    <p:oleObj r:id="rId6" imgW="457200" imgH="148590" progId="Equation.DSMT4">
                      <p:embed/>
                    </p:oleObj>
                  </mc:Choice>
                  <mc:Fallback>
                    <p:oleObj r:id="rId6" imgW="457200" imgH="148590" progId="Equation.DSMT4">
                      <p:embed/>
                      <p:pic>
                        <p:nvPicPr>
                          <p:cNvPr id="0" name="图片 3238"/>
                          <p:cNvPicPr/>
                          <p:nvPr/>
                        </p:nvPicPr>
                        <p:blipFill>
                          <a:blip r:embed="rId7">
                            <a:clrChange>
                              <a:clrFrom>
                                <a:srgbClr val="000000"/>
                              </a:clrFrom>
                              <a:clrTo>
                                <a:srgbClr val="FFFFFF"/>
                              </a:clrTo>
                            </a:clrChange>
                          </a:blip>
                          <a:stretch>
                            <a:fillRect/>
                          </a:stretch>
                        </p:blipFill>
                        <p:spPr>
                          <a:xfrm>
                            <a:off x="2435" y="3001"/>
                            <a:ext cx="681" cy="284"/>
                          </a:xfrm>
                          <a:prstGeom prst="rect">
                            <a:avLst/>
                          </a:prstGeom>
                          <a:noFill/>
                          <a:ln w="38100">
                            <a:noFill/>
                            <a:miter/>
                          </a:ln>
                        </p:spPr>
                      </p:pic>
                    </p:oleObj>
                  </mc:Fallback>
                </mc:AlternateContent>
              </a:graphicData>
            </a:graphic>
          </p:graphicFrame>
        </p:grpSp>
        <p:grpSp>
          <p:nvGrpSpPr>
            <p:cNvPr id="85015" name="Group 35"/>
            <p:cNvGrpSpPr/>
            <p:nvPr/>
          </p:nvGrpSpPr>
          <p:grpSpPr>
            <a:xfrm>
              <a:off x="2426" y="1888"/>
              <a:ext cx="1270" cy="1044"/>
              <a:chOff x="2426" y="1888"/>
              <a:chExt cx="1270" cy="1044"/>
            </a:xfrm>
          </p:grpSpPr>
          <p:sp>
            <p:nvSpPr>
              <p:cNvPr id="85016" name="Rectangle 36"/>
              <p:cNvSpPr/>
              <p:nvPr/>
            </p:nvSpPr>
            <p:spPr>
              <a:xfrm>
                <a:off x="2426" y="1888"/>
                <a:ext cx="1270" cy="1044"/>
              </a:xfrm>
              <a:prstGeom prst="rect">
                <a:avLst/>
              </a:prstGeom>
              <a:solidFill>
                <a:srgbClr val="C4E4E6"/>
              </a:solidFill>
              <a:ln w="9525" cap="flat" cmpd="sng">
                <a:solidFill>
                  <a:srgbClr val="993300"/>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5017" name="Freeform 37"/>
              <p:cNvSpPr/>
              <p:nvPr/>
            </p:nvSpPr>
            <p:spPr>
              <a:xfrm flipH="1">
                <a:off x="2608" y="2377"/>
                <a:ext cx="401" cy="104"/>
              </a:xfrm>
              <a:custGeom>
                <a:avLst/>
                <a:gdLst/>
                <a:ahLst/>
                <a:cxnLst>
                  <a:cxn ang="0">
                    <a:pos x="0" y="1"/>
                  </a:cxn>
                  <a:cxn ang="0">
                    <a:pos x="2" y="1"/>
                  </a:cxn>
                  <a:cxn ang="0">
                    <a:pos x="5" y="2"/>
                  </a:cxn>
                </a:cxnLst>
                <a:rect l="0" t="0" r="0" b="0"/>
                <a:pathLst>
                  <a:path w="735" h="182">
                    <a:moveTo>
                      <a:pt x="0" y="26"/>
                    </a:moveTo>
                    <a:cubicBezTo>
                      <a:pt x="96" y="13"/>
                      <a:pt x="193" y="0"/>
                      <a:pt x="315" y="26"/>
                    </a:cubicBezTo>
                    <a:cubicBezTo>
                      <a:pt x="437" y="52"/>
                      <a:pt x="665" y="156"/>
                      <a:pt x="735" y="182"/>
                    </a:cubicBezTo>
                  </a:path>
                </a:pathLst>
              </a:custGeom>
              <a:noFill/>
              <a:ln w="22225" cap="flat" cmpd="sng">
                <a:solidFill>
                  <a:srgbClr val="FF00FF"/>
                </a:solidFill>
                <a:prstDash val="solid"/>
                <a:round/>
                <a:headEnd type="triangle" w="sm" len="lg"/>
                <a:tailEnd type="none" w="sm" len="lg"/>
              </a:ln>
            </p:spPr>
            <p:txBody>
              <a:bodyPr/>
              <a:lstStyle/>
              <a:p>
                <a:endParaRPr lang="zh-CN" altLang="en-US"/>
              </a:p>
            </p:txBody>
          </p:sp>
          <p:sp>
            <p:nvSpPr>
              <p:cNvPr id="85018" name="Freeform 38"/>
              <p:cNvSpPr/>
              <p:nvPr/>
            </p:nvSpPr>
            <p:spPr>
              <a:xfrm rot="5929053">
                <a:off x="2717" y="2535"/>
                <a:ext cx="419" cy="100"/>
              </a:xfrm>
              <a:custGeom>
                <a:avLst/>
                <a:gdLst/>
                <a:ahLst/>
                <a:cxnLst>
                  <a:cxn ang="0">
                    <a:pos x="0" y="1"/>
                  </a:cxn>
                  <a:cxn ang="0">
                    <a:pos x="3" y="1"/>
                  </a:cxn>
                  <a:cxn ang="0">
                    <a:pos x="8" y="2"/>
                  </a:cxn>
                </a:cxnLst>
                <a:rect l="0" t="0" r="0" b="0"/>
                <a:pathLst>
                  <a:path w="735" h="182">
                    <a:moveTo>
                      <a:pt x="0" y="26"/>
                    </a:moveTo>
                    <a:cubicBezTo>
                      <a:pt x="96" y="13"/>
                      <a:pt x="193" y="0"/>
                      <a:pt x="315" y="26"/>
                    </a:cubicBezTo>
                    <a:cubicBezTo>
                      <a:pt x="437" y="52"/>
                      <a:pt x="665" y="156"/>
                      <a:pt x="735" y="182"/>
                    </a:cubicBezTo>
                  </a:path>
                </a:pathLst>
              </a:custGeom>
              <a:noFill/>
              <a:ln w="22225" cap="flat" cmpd="sng">
                <a:solidFill>
                  <a:srgbClr val="FF00FF"/>
                </a:solidFill>
                <a:prstDash val="solid"/>
                <a:round/>
                <a:headEnd type="triangle" w="sm" len="lg"/>
                <a:tailEnd type="none" w="sm" len="med"/>
              </a:ln>
            </p:spPr>
            <p:txBody>
              <a:bodyPr/>
              <a:lstStyle/>
              <a:p>
                <a:endParaRPr lang="zh-CN" altLang="en-US"/>
              </a:p>
            </p:txBody>
          </p:sp>
          <p:sp>
            <p:nvSpPr>
              <p:cNvPr id="85019" name="Freeform 39"/>
              <p:cNvSpPr/>
              <p:nvPr/>
            </p:nvSpPr>
            <p:spPr>
              <a:xfrm rot="-5692006" flipV="1">
                <a:off x="2734" y="2138"/>
                <a:ext cx="419" cy="99"/>
              </a:xfrm>
              <a:custGeom>
                <a:avLst/>
                <a:gdLst/>
                <a:ahLst/>
                <a:cxnLst>
                  <a:cxn ang="0">
                    <a:pos x="0" y="1"/>
                  </a:cxn>
                  <a:cxn ang="0">
                    <a:pos x="3" y="1"/>
                  </a:cxn>
                  <a:cxn ang="0">
                    <a:pos x="8" y="2"/>
                  </a:cxn>
                </a:cxnLst>
                <a:rect l="0" t="0" r="0" b="0"/>
                <a:pathLst>
                  <a:path w="735" h="182">
                    <a:moveTo>
                      <a:pt x="0" y="26"/>
                    </a:moveTo>
                    <a:cubicBezTo>
                      <a:pt x="96" y="13"/>
                      <a:pt x="193" y="0"/>
                      <a:pt x="315" y="26"/>
                    </a:cubicBezTo>
                    <a:cubicBezTo>
                      <a:pt x="437" y="52"/>
                      <a:pt x="665" y="156"/>
                      <a:pt x="735" y="182"/>
                    </a:cubicBezTo>
                  </a:path>
                </a:pathLst>
              </a:custGeom>
              <a:noFill/>
              <a:ln w="22225" cap="flat" cmpd="sng">
                <a:solidFill>
                  <a:srgbClr val="FF00FF"/>
                </a:solidFill>
                <a:prstDash val="solid"/>
                <a:round/>
                <a:headEnd type="triangle" w="sm" len="lg"/>
                <a:tailEnd type="none" w="sm" len="med"/>
              </a:ln>
            </p:spPr>
            <p:txBody>
              <a:bodyPr/>
              <a:lstStyle/>
              <a:p>
                <a:endParaRPr lang="zh-CN" altLang="en-US"/>
              </a:p>
            </p:txBody>
          </p:sp>
          <p:sp>
            <p:nvSpPr>
              <p:cNvPr id="85020" name="Freeform 40"/>
              <p:cNvSpPr/>
              <p:nvPr/>
            </p:nvSpPr>
            <p:spPr>
              <a:xfrm rot="926725">
                <a:off x="2993" y="2429"/>
                <a:ext cx="401" cy="103"/>
              </a:xfrm>
              <a:custGeom>
                <a:avLst/>
                <a:gdLst/>
                <a:ahLst/>
                <a:cxnLst>
                  <a:cxn ang="0">
                    <a:pos x="0" y="1"/>
                  </a:cxn>
                  <a:cxn ang="0">
                    <a:pos x="2" y="1"/>
                  </a:cxn>
                  <a:cxn ang="0">
                    <a:pos x="5" y="2"/>
                  </a:cxn>
                </a:cxnLst>
                <a:rect l="0" t="0" r="0" b="0"/>
                <a:pathLst>
                  <a:path w="735" h="182">
                    <a:moveTo>
                      <a:pt x="0" y="26"/>
                    </a:moveTo>
                    <a:cubicBezTo>
                      <a:pt x="96" y="13"/>
                      <a:pt x="193" y="0"/>
                      <a:pt x="315" y="26"/>
                    </a:cubicBezTo>
                    <a:cubicBezTo>
                      <a:pt x="437" y="52"/>
                      <a:pt x="665" y="156"/>
                      <a:pt x="735" y="182"/>
                    </a:cubicBezTo>
                  </a:path>
                </a:pathLst>
              </a:custGeom>
              <a:noFill/>
              <a:ln w="19050" cap="flat" cmpd="sng">
                <a:solidFill>
                  <a:srgbClr val="FF00FF"/>
                </a:solidFill>
                <a:prstDash val="solid"/>
                <a:round/>
                <a:headEnd type="triangle" w="sm" len="lg"/>
                <a:tailEnd type="none" w="sm" len="med"/>
              </a:ln>
            </p:spPr>
            <p:txBody>
              <a:bodyPr/>
              <a:lstStyle/>
              <a:p>
                <a:endParaRPr lang="zh-CN" altLang="en-US"/>
              </a:p>
            </p:txBody>
          </p:sp>
          <p:sp>
            <p:nvSpPr>
              <p:cNvPr id="85021" name="Freeform 41"/>
              <p:cNvSpPr/>
              <p:nvPr/>
            </p:nvSpPr>
            <p:spPr>
              <a:xfrm rot="-3322987">
                <a:off x="2950" y="2171"/>
                <a:ext cx="419" cy="100"/>
              </a:xfrm>
              <a:custGeom>
                <a:avLst/>
                <a:gdLst/>
                <a:ahLst/>
                <a:cxnLst>
                  <a:cxn ang="0">
                    <a:pos x="0" y="1"/>
                  </a:cxn>
                  <a:cxn ang="0">
                    <a:pos x="3" y="1"/>
                  </a:cxn>
                  <a:cxn ang="0">
                    <a:pos x="8" y="2"/>
                  </a:cxn>
                </a:cxnLst>
                <a:rect l="0" t="0" r="0" b="0"/>
                <a:pathLst>
                  <a:path w="735" h="182">
                    <a:moveTo>
                      <a:pt x="0" y="26"/>
                    </a:moveTo>
                    <a:cubicBezTo>
                      <a:pt x="96" y="13"/>
                      <a:pt x="193" y="0"/>
                      <a:pt x="315" y="26"/>
                    </a:cubicBezTo>
                    <a:cubicBezTo>
                      <a:pt x="437" y="52"/>
                      <a:pt x="665" y="156"/>
                      <a:pt x="735" y="182"/>
                    </a:cubicBezTo>
                  </a:path>
                </a:pathLst>
              </a:custGeom>
              <a:noFill/>
              <a:ln w="19050" cap="flat" cmpd="sng">
                <a:solidFill>
                  <a:srgbClr val="FF00FF"/>
                </a:solidFill>
                <a:prstDash val="solid"/>
                <a:round/>
                <a:headEnd type="triangle" w="sm" len="lg"/>
                <a:tailEnd type="none" w="sm" len="med"/>
              </a:ln>
            </p:spPr>
            <p:txBody>
              <a:bodyPr/>
              <a:lstStyle/>
              <a:p>
                <a:endParaRPr lang="zh-CN" altLang="en-US"/>
              </a:p>
            </p:txBody>
          </p:sp>
          <p:sp>
            <p:nvSpPr>
              <p:cNvPr id="85022" name="Oval 42"/>
              <p:cNvSpPr/>
              <p:nvPr/>
            </p:nvSpPr>
            <p:spPr>
              <a:xfrm>
                <a:off x="2967" y="2359"/>
                <a:ext cx="57" cy="57"/>
              </a:xfrm>
              <a:prstGeom prst="ellipse">
                <a:avLst/>
              </a:prstGeom>
              <a:gradFill rotWithShape="1">
                <a:gsLst>
                  <a:gs pos="0">
                    <a:srgbClr val="993300"/>
                  </a:gs>
                  <a:gs pos="100000">
                    <a:srgbClr val="471800"/>
                  </a:gs>
                </a:gsLst>
                <a:path path="shape">
                  <a:fillToRect l="50000" t="50000" r="50000" b="50000"/>
                </a:path>
                <a:tileRect/>
              </a:gradFill>
              <a:ln w="9525" cap="flat" cmpd="sng">
                <a:solidFill>
                  <a:srgbClr val="993300"/>
                </a:solidFill>
                <a:prstDash val="solid"/>
                <a:round/>
                <a:headEnd type="none" w="med" len="med"/>
                <a:tailEnd type="none" w="med" len="med"/>
              </a:ln>
            </p:spPr>
            <p:txBody>
              <a:bodyPr anchor="t" anchorCtr="0"/>
              <a:lstStyle/>
              <a:p>
                <a:pPr algn="ctr"/>
                <a:endParaRPr lang="zh-CN" altLang="en-US" b="0" dirty="0">
                  <a:latin typeface="Arial" panose="020B0604020202020204" pitchFamily="34" charset="0"/>
                  <a:ea typeface="楷体_GB2312" pitchFamily="49" charset="-122"/>
                </a:endParaRPr>
              </a:p>
            </p:txBody>
          </p:sp>
          <p:sp>
            <p:nvSpPr>
              <p:cNvPr id="85023" name="Oval 43"/>
              <p:cNvSpPr/>
              <p:nvPr/>
            </p:nvSpPr>
            <p:spPr>
              <a:xfrm>
                <a:off x="2911" y="2305"/>
                <a:ext cx="170" cy="178"/>
              </a:xfrm>
              <a:prstGeom prst="ellipse">
                <a:avLst/>
              </a:prstGeom>
              <a:noFill/>
              <a:ln w="9525" cap="flat" cmpd="sng">
                <a:solidFill>
                  <a:srgbClr val="3366FF"/>
                </a:solidFill>
                <a:prstDash val="dash"/>
                <a:round/>
                <a:headEnd type="none" w="med" len="med"/>
                <a:tailEnd type="none" w="med" len="med"/>
              </a:ln>
            </p:spPr>
            <p:txBody>
              <a:bodyPr anchor="t" anchorCtr="0"/>
              <a:lstStyle/>
              <a:p>
                <a:pPr algn="ctr"/>
                <a:endParaRPr lang="zh-CN" altLang="en-US" b="0" dirty="0">
                  <a:latin typeface="Arial" panose="020B0604020202020204" pitchFamily="34" charset="0"/>
                  <a:ea typeface="楷体_GB2312" pitchFamily="49" charset="-122"/>
                </a:endParaRPr>
              </a:p>
            </p:txBody>
          </p:sp>
        </p:grpSp>
      </p:grpSp>
      <p:grpSp>
        <p:nvGrpSpPr>
          <p:cNvPr id="652332" name="Group 44"/>
          <p:cNvGrpSpPr/>
          <p:nvPr/>
        </p:nvGrpSpPr>
        <p:grpSpPr>
          <a:xfrm>
            <a:off x="6227763" y="3878511"/>
            <a:ext cx="2447925" cy="2189162"/>
            <a:chOff x="4195" y="1932"/>
            <a:chExt cx="1407" cy="1379"/>
          </a:xfrm>
        </p:grpSpPr>
        <p:grpSp>
          <p:nvGrpSpPr>
            <p:cNvPr id="85025" name="Group 45"/>
            <p:cNvGrpSpPr/>
            <p:nvPr/>
          </p:nvGrpSpPr>
          <p:grpSpPr>
            <a:xfrm>
              <a:off x="4199" y="3022"/>
              <a:ext cx="1403" cy="289"/>
              <a:chOff x="4235" y="3022"/>
              <a:chExt cx="1403" cy="289"/>
            </a:xfrm>
          </p:grpSpPr>
          <p:sp>
            <p:nvSpPr>
              <p:cNvPr id="85026" name="Text Box 46"/>
              <p:cNvSpPr txBox="1"/>
              <p:nvPr/>
            </p:nvSpPr>
            <p:spPr>
              <a:xfrm>
                <a:off x="4235" y="3049"/>
                <a:ext cx="1403" cy="250"/>
              </a:xfrm>
              <a:prstGeom prst="rect">
                <a:avLst/>
              </a:prstGeom>
              <a:noFill/>
              <a:ln w="9525">
                <a:noFill/>
              </a:ln>
            </p:spPr>
            <p:txBody>
              <a:bodyPr anchor="t" anchorCtr="0">
                <a:spAutoFit/>
              </a:bodyPr>
              <a:lstStyle/>
              <a:p>
                <a:pPr>
                  <a:spcBef>
                    <a:spcPct val="0"/>
                  </a:spcBef>
                </a:pPr>
                <a:r>
                  <a:rPr lang="en-US" altLang="zh-CN" sz="2000" b="0" dirty="0">
                    <a:solidFill>
                      <a:srgbClr val="FFFFCC"/>
                    </a:solidFill>
                    <a:latin typeface="楷体_GB2312" pitchFamily="49" charset="-122"/>
                    <a:ea typeface="楷体_GB2312" pitchFamily="49" charset="-122"/>
                    <a:sym typeface="Symbol" panose="05050102010706020507" pitchFamily="18" charset="2"/>
                  </a:rPr>
                  <a:t>               </a:t>
                </a:r>
                <a:r>
                  <a:rPr lang="en-US" altLang="zh-CN" sz="2000" dirty="0">
                    <a:solidFill>
                      <a:srgbClr val="FFFFCC"/>
                    </a:solidFill>
                    <a:latin typeface="楷体_GB2312" pitchFamily="49" charset="-122"/>
                    <a:ea typeface="楷体_GB2312" pitchFamily="49" charset="-122"/>
                    <a:sym typeface="Symbol" panose="05050102010706020507" pitchFamily="18" charset="2"/>
                  </a:rPr>
                  <a:t>(</a:t>
                </a:r>
                <a:r>
                  <a:rPr lang="zh-CN" altLang="en-US" sz="2000" dirty="0">
                    <a:solidFill>
                      <a:srgbClr val="FFFFCC"/>
                    </a:solidFill>
                    <a:latin typeface="楷体_GB2312" pitchFamily="49" charset="-122"/>
                    <a:ea typeface="楷体_GB2312" pitchFamily="49" charset="-122"/>
                    <a:sym typeface="Symbol" panose="05050102010706020507" pitchFamily="18" charset="2"/>
                  </a:rPr>
                  <a:t>无散度源）</a:t>
                </a:r>
                <a:endParaRPr lang="zh-CN" altLang="en-US" sz="2000" dirty="0">
                  <a:solidFill>
                    <a:srgbClr val="FFFFCC"/>
                  </a:solidFill>
                  <a:latin typeface="楷体_GB2312" pitchFamily="49" charset="-122"/>
                  <a:ea typeface="楷体_GB2312" pitchFamily="49" charset="-122"/>
                </a:endParaRPr>
              </a:p>
            </p:txBody>
          </p:sp>
          <p:graphicFrame>
            <p:nvGraphicFramePr>
              <p:cNvPr id="85027" name="Object 47"/>
              <p:cNvGraphicFramePr>
                <a:graphicFrameLocks noChangeAspect="1"/>
              </p:cNvGraphicFramePr>
              <p:nvPr/>
            </p:nvGraphicFramePr>
            <p:xfrm>
              <a:off x="4286" y="3022"/>
              <a:ext cx="656" cy="289"/>
            </p:xfrm>
            <a:graphic>
              <a:graphicData uri="http://schemas.openxmlformats.org/presentationml/2006/ole">
                <mc:AlternateContent xmlns:mc="http://schemas.openxmlformats.org/markup-compatibility/2006">
                  <mc:Choice xmlns:v="urn:schemas-microsoft-com:vml" Requires="v">
                    <p:oleObj r:id="rId8" imgW="457200" imgH="148590" progId="Equation.DSMT4">
                      <p:embed/>
                    </p:oleObj>
                  </mc:Choice>
                  <mc:Fallback>
                    <p:oleObj r:id="rId8" imgW="457200" imgH="148590" progId="Equation.DSMT4">
                      <p:embed/>
                      <p:pic>
                        <p:nvPicPr>
                          <p:cNvPr id="0" name="图片 3237"/>
                          <p:cNvPicPr/>
                          <p:nvPr/>
                        </p:nvPicPr>
                        <p:blipFill>
                          <a:blip r:embed="rId9">
                            <a:clrChange>
                              <a:clrFrom>
                                <a:srgbClr val="000000"/>
                              </a:clrFrom>
                              <a:clrTo>
                                <a:srgbClr val="FFFFFF"/>
                              </a:clrTo>
                            </a:clrChange>
                          </a:blip>
                          <a:stretch>
                            <a:fillRect/>
                          </a:stretch>
                        </p:blipFill>
                        <p:spPr>
                          <a:xfrm>
                            <a:off x="4286" y="3022"/>
                            <a:ext cx="656" cy="289"/>
                          </a:xfrm>
                          <a:prstGeom prst="rect">
                            <a:avLst/>
                          </a:prstGeom>
                          <a:noFill/>
                          <a:ln w="38100">
                            <a:noFill/>
                            <a:miter/>
                          </a:ln>
                        </p:spPr>
                      </p:pic>
                    </p:oleObj>
                  </mc:Fallback>
                </mc:AlternateContent>
              </a:graphicData>
            </a:graphic>
          </p:graphicFrame>
        </p:grpSp>
        <p:grpSp>
          <p:nvGrpSpPr>
            <p:cNvPr id="85028" name="Group 48"/>
            <p:cNvGrpSpPr/>
            <p:nvPr/>
          </p:nvGrpSpPr>
          <p:grpSpPr>
            <a:xfrm>
              <a:off x="4195" y="1932"/>
              <a:ext cx="1270" cy="1044"/>
              <a:chOff x="4195" y="1932"/>
              <a:chExt cx="1270" cy="1044"/>
            </a:xfrm>
          </p:grpSpPr>
          <p:sp>
            <p:nvSpPr>
              <p:cNvPr id="85029" name="Rectangle 49"/>
              <p:cNvSpPr/>
              <p:nvPr/>
            </p:nvSpPr>
            <p:spPr>
              <a:xfrm>
                <a:off x="4195" y="1932"/>
                <a:ext cx="1270" cy="1044"/>
              </a:xfrm>
              <a:prstGeom prst="rect">
                <a:avLst/>
              </a:prstGeom>
              <a:solidFill>
                <a:srgbClr val="C4E4E6"/>
              </a:solidFill>
              <a:ln w="9525" cap="flat" cmpd="sng">
                <a:solidFill>
                  <a:srgbClr val="993300"/>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nvGrpSpPr>
              <p:cNvPr id="85030" name="Group 50"/>
              <p:cNvGrpSpPr/>
              <p:nvPr/>
            </p:nvGrpSpPr>
            <p:grpSpPr>
              <a:xfrm>
                <a:off x="4449" y="2159"/>
                <a:ext cx="730" cy="487"/>
                <a:chOff x="5307" y="9121"/>
                <a:chExt cx="1170" cy="747"/>
              </a:xfrm>
            </p:grpSpPr>
            <p:sp>
              <p:nvSpPr>
                <p:cNvPr id="85031" name="Freeform 51"/>
                <p:cNvSpPr/>
                <p:nvPr/>
              </p:nvSpPr>
              <p:spPr>
                <a:xfrm rot="-660277">
                  <a:off x="5307" y="9121"/>
                  <a:ext cx="1050" cy="312"/>
                </a:xfrm>
                <a:custGeom>
                  <a:avLst/>
                  <a:gdLst/>
                  <a:ahLst/>
                  <a:cxnLst>
                    <a:cxn ang="0">
                      <a:pos x="0" y="312"/>
                    </a:cxn>
                    <a:cxn ang="0">
                      <a:pos x="630" y="156"/>
                    </a:cxn>
                    <a:cxn ang="0">
                      <a:pos x="1050" y="0"/>
                    </a:cxn>
                  </a:cxnLst>
                  <a:rect l="0" t="0" r="0" b="0"/>
                  <a:pathLst>
                    <a:path w="1050" h="312">
                      <a:moveTo>
                        <a:pt x="0" y="312"/>
                      </a:moveTo>
                      <a:cubicBezTo>
                        <a:pt x="227" y="260"/>
                        <a:pt x="455" y="208"/>
                        <a:pt x="630" y="156"/>
                      </a:cubicBezTo>
                      <a:cubicBezTo>
                        <a:pt x="805" y="104"/>
                        <a:pt x="980" y="26"/>
                        <a:pt x="1050" y="0"/>
                      </a:cubicBezTo>
                    </a:path>
                  </a:pathLst>
                </a:custGeom>
                <a:noFill/>
                <a:ln w="19050" cap="flat" cmpd="sng">
                  <a:solidFill>
                    <a:srgbClr val="FF00FF"/>
                  </a:solidFill>
                  <a:prstDash val="solid"/>
                  <a:round/>
                  <a:headEnd type="none" w="med" len="med"/>
                  <a:tailEnd type="triangle" w="sm" len="lg"/>
                </a:ln>
              </p:spPr>
              <p:txBody>
                <a:bodyPr/>
                <a:lstStyle/>
                <a:p>
                  <a:endParaRPr lang="zh-CN" altLang="en-US"/>
                </a:p>
              </p:txBody>
            </p:sp>
            <p:sp>
              <p:nvSpPr>
                <p:cNvPr id="85032" name="Freeform 52"/>
                <p:cNvSpPr/>
                <p:nvPr/>
              </p:nvSpPr>
              <p:spPr>
                <a:xfrm>
                  <a:off x="5412" y="9316"/>
                  <a:ext cx="1050" cy="312"/>
                </a:xfrm>
                <a:custGeom>
                  <a:avLst/>
                  <a:gdLst/>
                  <a:ahLst/>
                  <a:cxnLst>
                    <a:cxn ang="0">
                      <a:pos x="0" y="312"/>
                    </a:cxn>
                    <a:cxn ang="0">
                      <a:pos x="630" y="156"/>
                    </a:cxn>
                    <a:cxn ang="0">
                      <a:pos x="1050" y="0"/>
                    </a:cxn>
                  </a:cxnLst>
                  <a:rect l="0" t="0" r="0" b="0"/>
                  <a:pathLst>
                    <a:path w="1050" h="312">
                      <a:moveTo>
                        <a:pt x="0" y="312"/>
                      </a:moveTo>
                      <a:cubicBezTo>
                        <a:pt x="227" y="260"/>
                        <a:pt x="455" y="208"/>
                        <a:pt x="630" y="156"/>
                      </a:cubicBezTo>
                      <a:cubicBezTo>
                        <a:pt x="805" y="104"/>
                        <a:pt x="980" y="26"/>
                        <a:pt x="1050" y="0"/>
                      </a:cubicBezTo>
                    </a:path>
                  </a:pathLst>
                </a:custGeom>
                <a:noFill/>
                <a:ln w="22225" cap="flat" cmpd="sng">
                  <a:solidFill>
                    <a:srgbClr val="FF00FF"/>
                  </a:solidFill>
                  <a:prstDash val="solid"/>
                  <a:round/>
                  <a:headEnd type="none" w="med" len="med"/>
                  <a:tailEnd type="triangle" w="sm" len="lg"/>
                </a:ln>
              </p:spPr>
              <p:txBody>
                <a:bodyPr/>
                <a:lstStyle/>
                <a:p>
                  <a:endParaRPr lang="zh-CN" altLang="en-US"/>
                </a:p>
              </p:txBody>
            </p:sp>
            <p:sp>
              <p:nvSpPr>
                <p:cNvPr id="85033" name="Freeform 53"/>
                <p:cNvSpPr/>
                <p:nvPr/>
              </p:nvSpPr>
              <p:spPr>
                <a:xfrm rot="-1596207" flipV="1">
                  <a:off x="5427" y="9556"/>
                  <a:ext cx="1050" cy="312"/>
                </a:xfrm>
                <a:custGeom>
                  <a:avLst/>
                  <a:gdLst/>
                  <a:ahLst/>
                  <a:cxnLst>
                    <a:cxn ang="0">
                      <a:pos x="0" y="312"/>
                    </a:cxn>
                    <a:cxn ang="0">
                      <a:pos x="630" y="156"/>
                    </a:cxn>
                    <a:cxn ang="0">
                      <a:pos x="1050" y="0"/>
                    </a:cxn>
                  </a:cxnLst>
                  <a:rect l="0" t="0" r="0" b="0"/>
                  <a:pathLst>
                    <a:path w="1050" h="312">
                      <a:moveTo>
                        <a:pt x="0" y="312"/>
                      </a:moveTo>
                      <a:cubicBezTo>
                        <a:pt x="227" y="260"/>
                        <a:pt x="455" y="208"/>
                        <a:pt x="630" y="156"/>
                      </a:cubicBezTo>
                      <a:cubicBezTo>
                        <a:pt x="805" y="104"/>
                        <a:pt x="980" y="26"/>
                        <a:pt x="1050" y="0"/>
                      </a:cubicBezTo>
                    </a:path>
                  </a:pathLst>
                </a:custGeom>
                <a:noFill/>
                <a:ln w="22225" cap="flat" cmpd="sng">
                  <a:solidFill>
                    <a:srgbClr val="FF00FF"/>
                  </a:solidFill>
                  <a:prstDash val="solid"/>
                  <a:round/>
                  <a:headEnd type="none" w="med" len="med"/>
                  <a:tailEnd type="triangle" w="sm" len="lg"/>
                </a:ln>
              </p:spPr>
              <p:txBody>
                <a:bodyPr/>
                <a:lstStyle/>
                <a:p>
                  <a:endParaRPr lang="zh-CN" altLang="en-US"/>
                </a:p>
              </p:txBody>
            </p:sp>
            <p:sp>
              <p:nvSpPr>
                <p:cNvPr id="85034" name="Oval 54"/>
                <p:cNvSpPr/>
                <p:nvPr/>
              </p:nvSpPr>
              <p:spPr>
                <a:xfrm>
                  <a:off x="5712" y="9358"/>
                  <a:ext cx="315" cy="312"/>
                </a:xfrm>
                <a:prstGeom prst="ellipse">
                  <a:avLst/>
                </a:prstGeom>
                <a:noFill/>
                <a:ln w="9525" cap="flat" cmpd="sng">
                  <a:solidFill>
                    <a:srgbClr val="33CCCC"/>
                  </a:solidFill>
                  <a:prstDash val="dash"/>
                  <a:round/>
                  <a:headEnd type="none" w="med" len="med"/>
                  <a:tailEnd type="none" w="med" len="med"/>
                </a:ln>
              </p:spPr>
              <p:txBody>
                <a:bodyPr anchor="t" anchorCtr="0"/>
                <a:lstStyle/>
                <a:p>
                  <a:pPr algn="ctr"/>
                  <a:endParaRPr lang="zh-CN" altLang="en-US" b="0" dirty="0">
                    <a:latin typeface="Arial" panose="020B0604020202020204" pitchFamily="34" charset="0"/>
                    <a:ea typeface="楷体_GB2312" pitchFamily="49" charset="-122"/>
                  </a:endParaRPr>
                </a:p>
              </p:txBody>
            </p:sp>
          </p:grpSp>
          <p:sp>
            <p:nvSpPr>
              <p:cNvPr id="85035" name="Oval 55"/>
              <p:cNvSpPr/>
              <p:nvPr/>
            </p:nvSpPr>
            <p:spPr>
              <a:xfrm>
                <a:off x="4775" y="2383"/>
                <a:ext cx="57" cy="57"/>
              </a:xfrm>
              <a:prstGeom prst="ellipse">
                <a:avLst/>
              </a:prstGeom>
              <a:gradFill rotWithShape="1">
                <a:gsLst>
                  <a:gs pos="0">
                    <a:srgbClr val="993300"/>
                  </a:gs>
                  <a:gs pos="100000">
                    <a:srgbClr val="471800"/>
                  </a:gs>
                </a:gsLst>
                <a:path path="shape">
                  <a:fillToRect l="50000" t="50000" r="50000" b="50000"/>
                </a:path>
                <a:tileRect/>
              </a:gradFill>
              <a:ln w="9525" cap="flat" cmpd="sng">
                <a:solidFill>
                  <a:srgbClr val="993300"/>
                </a:solidFill>
                <a:prstDash val="solid"/>
                <a:round/>
                <a:headEnd type="none" w="med" len="med"/>
                <a:tailEnd type="none" w="med" len="med"/>
              </a:ln>
            </p:spPr>
            <p:txBody>
              <a:bodyPr anchor="t" anchorCtr="0"/>
              <a:lstStyle/>
              <a:p>
                <a:pPr algn="ctr"/>
                <a:endParaRPr lang="zh-CN" altLang="en-US" b="0" dirty="0">
                  <a:latin typeface="Arial" panose="020B0604020202020204" pitchFamily="34" charset="0"/>
                  <a:ea typeface="楷体_GB2312" pitchFamily="49" charset="-122"/>
                </a:endParaRPr>
              </a:p>
            </p:txBody>
          </p:sp>
        </p:grpSp>
      </p:grpSp>
      <p:sp>
        <p:nvSpPr>
          <p:cNvPr id="652345" name="Rectangle 57"/>
          <p:cNvSpPr/>
          <p:nvPr/>
        </p:nvSpPr>
        <p:spPr>
          <a:xfrm>
            <a:off x="827088" y="6114529"/>
            <a:ext cx="2304206" cy="576263"/>
          </a:xfrm>
          <a:prstGeom prst="rect">
            <a:avLst/>
          </a:prstGeom>
          <a:noFill/>
          <a:ln w="9525">
            <a:noFill/>
          </a:ln>
        </p:spPr>
        <p:txBody>
          <a:bodyPr anchor="t" anchorCtr="0"/>
          <a:lstStyle/>
          <a:p>
            <a:pPr>
              <a:lnSpc>
                <a:spcPct val="120000"/>
              </a:lnSpc>
            </a:pPr>
            <a:r>
              <a:rPr lang="zh-CN" altLang="en-US" sz="2000" dirty="0">
                <a:solidFill>
                  <a:srgbClr val="FF9900"/>
                </a:solidFill>
                <a:latin typeface="楷体_GB2312" pitchFamily="49" charset="-122"/>
                <a:ea typeface="楷体_GB2312" pitchFamily="49" charset="-122"/>
              </a:rPr>
              <a:t>发散矢量线（源）</a:t>
            </a:r>
          </a:p>
        </p:txBody>
      </p:sp>
      <p:sp>
        <p:nvSpPr>
          <p:cNvPr id="652346" name="Rectangle 58"/>
          <p:cNvSpPr/>
          <p:nvPr/>
        </p:nvSpPr>
        <p:spPr>
          <a:xfrm>
            <a:off x="3563938" y="6114529"/>
            <a:ext cx="2304206" cy="576263"/>
          </a:xfrm>
          <a:prstGeom prst="rect">
            <a:avLst/>
          </a:prstGeom>
          <a:noFill/>
          <a:ln w="9525">
            <a:noFill/>
          </a:ln>
        </p:spPr>
        <p:txBody>
          <a:bodyPr anchor="t" anchorCtr="0"/>
          <a:lstStyle/>
          <a:p>
            <a:pPr>
              <a:lnSpc>
                <a:spcPct val="120000"/>
              </a:lnSpc>
            </a:pPr>
            <a:r>
              <a:rPr lang="zh-CN" altLang="en-US" sz="2000" dirty="0">
                <a:solidFill>
                  <a:srgbClr val="FF9900"/>
                </a:solidFill>
                <a:latin typeface="楷体_GB2312" pitchFamily="49" charset="-122"/>
                <a:ea typeface="楷体_GB2312" pitchFamily="49" charset="-122"/>
              </a:rPr>
              <a:t>汇聚矢量线（汇）</a:t>
            </a:r>
          </a:p>
        </p:txBody>
      </p:sp>
      <p:graphicFrame>
        <p:nvGraphicFramePr>
          <p:cNvPr id="2" name="Object 11">
            <a:extLst>
              <a:ext uri="{FF2B5EF4-FFF2-40B4-BE49-F238E27FC236}">
                <a16:creationId xmlns:a16="http://schemas.microsoft.com/office/drawing/2014/main" id="{1E7FFC38-A943-AAA9-8484-2FA34524B7F3}"/>
              </a:ext>
            </a:extLst>
          </p:cNvPr>
          <p:cNvGraphicFramePr>
            <a:graphicFrameLocks noChangeAspect="1"/>
          </p:cNvGraphicFramePr>
          <p:nvPr>
            <p:extLst>
              <p:ext uri="{D42A27DB-BD31-4B8C-83A1-F6EECF244321}">
                <p14:modId xmlns:p14="http://schemas.microsoft.com/office/powerpoint/2010/main" val="1566203097"/>
              </p:ext>
            </p:extLst>
          </p:nvPr>
        </p:nvGraphicFramePr>
        <p:xfrm>
          <a:off x="1030288" y="2406849"/>
          <a:ext cx="877887" cy="409575"/>
        </p:xfrm>
        <a:graphic>
          <a:graphicData uri="http://schemas.openxmlformats.org/presentationml/2006/ole">
            <mc:AlternateContent xmlns:mc="http://schemas.openxmlformats.org/markup-compatibility/2006">
              <mc:Choice xmlns:v="urn:schemas-microsoft-com:vml" Requires="v">
                <p:oleObj r:id="rId10" imgW="381000" imgH="203200" progId="Equation.3">
                  <p:embed/>
                </p:oleObj>
              </mc:Choice>
              <mc:Fallback>
                <p:oleObj r:id="rId10" imgW="381000" imgH="203200" progId="Equation.3">
                  <p:embed/>
                  <p:pic>
                    <p:nvPicPr>
                      <p:cNvPr id="217099" name="Object 11"/>
                      <p:cNvPicPr/>
                      <p:nvPr/>
                    </p:nvPicPr>
                    <p:blipFill>
                      <a:blip r:embed="rId11"/>
                      <a:stretch>
                        <a:fillRect/>
                      </a:stretch>
                    </p:blipFill>
                    <p:spPr>
                      <a:xfrm>
                        <a:off x="1030288" y="2406849"/>
                        <a:ext cx="877887" cy="409575"/>
                      </a:xfrm>
                      <a:prstGeom prst="rect">
                        <a:avLst/>
                      </a:prstGeom>
                      <a:solidFill>
                        <a:schemeClr val="accent1"/>
                      </a:solidFill>
                      <a:ln w="9525" cap="flat" cmpd="sng">
                        <a:solidFill>
                          <a:schemeClr val="bg1"/>
                        </a:solidFill>
                        <a:prstDash val="solid"/>
                        <a:miter/>
                        <a:headEnd type="none" w="med" len="med"/>
                        <a:tailEnd type="none" w="med" len="med"/>
                      </a:ln>
                    </p:spPr>
                  </p:pic>
                </p:oleObj>
              </mc:Fallback>
            </mc:AlternateContent>
          </a:graphicData>
        </a:graphic>
      </p:graphicFrame>
      <p:graphicFrame>
        <p:nvGraphicFramePr>
          <p:cNvPr id="3" name="Object 13">
            <a:extLst>
              <a:ext uri="{FF2B5EF4-FFF2-40B4-BE49-F238E27FC236}">
                <a16:creationId xmlns:a16="http://schemas.microsoft.com/office/drawing/2014/main" id="{2CD98987-2BA1-ACBE-0272-5AE81D753DDE}"/>
              </a:ext>
            </a:extLst>
          </p:cNvPr>
          <p:cNvGraphicFramePr>
            <a:graphicFrameLocks noChangeAspect="1"/>
          </p:cNvGraphicFramePr>
          <p:nvPr>
            <p:extLst>
              <p:ext uri="{D42A27DB-BD31-4B8C-83A1-F6EECF244321}">
                <p14:modId xmlns:p14="http://schemas.microsoft.com/office/powerpoint/2010/main" val="2945048896"/>
              </p:ext>
            </p:extLst>
          </p:nvPr>
        </p:nvGraphicFramePr>
        <p:xfrm>
          <a:off x="4067175" y="2444949"/>
          <a:ext cx="854075" cy="382587"/>
        </p:xfrm>
        <a:graphic>
          <a:graphicData uri="http://schemas.openxmlformats.org/presentationml/2006/ole">
            <mc:AlternateContent xmlns:mc="http://schemas.openxmlformats.org/markup-compatibility/2006">
              <mc:Choice xmlns:v="urn:schemas-microsoft-com:vml" Requires="v">
                <p:oleObj r:id="rId12" imgW="431800" imgH="215900" progId="Equation.3">
                  <p:embed/>
                </p:oleObj>
              </mc:Choice>
              <mc:Fallback>
                <p:oleObj r:id="rId12" imgW="431800" imgH="215900" progId="Equation.3">
                  <p:embed/>
                  <p:pic>
                    <p:nvPicPr>
                      <p:cNvPr id="217101" name="Object 13"/>
                      <p:cNvPicPr/>
                      <p:nvPr/>
                    </p:nvPicPr>
                    <p:blipFill>
                      <a:blip r:embed="rId13"/>
                      <a:stretch>
                        <a:fillRect/>
                      </a:stretch>
                    </p:blipFill>
                    <p:spPr>
                      <a:xfrm>
                        <a:off x="4067175" y="2444949"/>
                        <a:ext cx="854075" cy="382587"/>
                      </a:xfrm>
                      <a:prstGeom prst="rect">
                        <a:avLst/>
                      </a:prstGeom>
                      <a:solidFill>
                        <a:schemeClr val="accent1"/>
                      </a:solidFill>
                      <a:ln w="38100">
                        <a:noFill/>
                        <a:miter/>
                      </a:ln>
                    </p:spPr>
                  </p:pic>
                </p:oleObj>
              </mc:Fallback>
            </mc:AlternateContent>
          </a:graphicData>
        </a:graphic>
      </p:graphicFrame>
      <p:graphicFrame>
        <p:nvGraphicFramePr>
          <p:cNvPr id="4" name="Object 22">
            <a:extLst>
              <a:ext uri="{FF2B5EF4-FFF2-40B4-BE49-F238E27FC236}">
                <a16:creationId xmlns:a16="http://schemas.microsoft.com/office/drawing/2014/main" id="{E1C18479-B9E0-D614-D4B0-80F6ED7D406E}"/>
              </a:ext>
            </a:extLst>
          </p:cNvPr>
          <p:cNvGraphicFramePr>
            <a:graphicFrameLocks noChangeAspect="1"/>
          </p:cNvGraphicFramePr>
          <p:nvPr>
            <p:extLst>
              <p:ext uri="{D42A27DB-BD31-4B8C-83A1-F6EECF244321}">
                <p14:modId xmlns:p14="http://schemas.microsoft.com/office/powerpoint/2010/main" val="3446006338"/>
              </p:ext>
            </p:extLst>
          </p:nvPr>
        </p:nvGraphicFramePr>
        <p:xfrm>
          <a:off x="7308850" y="2424311"/>
          <a:ext cx="719138" cy="428625"/>
        </p:xfrm>
        <a:graphic>
          <a:graphicData uri="http://schemas.openxmlformats.org/presentationml/2006/ole">
            <mc:AlternateContent xmlns:mc="http://schemas.openxmlformats.org/markup-compatibility/2006">
              <mc:Choice xmlns:v="urn:schemas-microsoft-com:vml" Requires="v">
                <p:oleObj r:id="rId14" imgW="431800" imgH="215900" progId="Equation.3">
                  <p:embed/>
                </p:oleObj>
              </mc:Choice>
              <mc:Fallback>
                <p:oleObj r:id="rId14" imgW="431800" imgH="215900" progId="Equation.3">
                  <p:embed/>
                  <p:pic>
                    <p:nvPicPr>
                      <p:cNvPr id="217110" name="Object 22"/>
                      <p:cNvPicPr/>
                      <p:nvPr/>
                    </p:nvPicPr>
                    <p:blipFill>
                      <a:blip r:embed="rId15"/>
                      <a:stretch>
                        <a:fillRect/>
                      </a:stretch>
                    </p:blipFill>
                    <p:spPr>
                      <a:xfrm>
                        <a:off x="7308850" y="2424311"/>
                        <a:ext cx="719138" cy="428625"/>
                      </a:xfrm>
                      <a:prstGeom prst="rect">
                        <a:avLst/>
                      </a:prstGeom>
                      <a:solidFill>
                        <a:schemeClr val="accent1"/>
                      </a:solidFill>
                      <a:ln w="9525" cap="flat" cmpd="sng">
                        <a:solidFill>
                          <a:schemeClr val="bg1"/>
                        </a:solidFill>
                        <a:prstDash val="solid"/>
                        <a:miter/>
                        <a:headEnd type="none" w="med" len="med"/>
                        <a:tailEnd type="none" w="med" len="med"/>
                      </a:ln>
                    </p:spPr>
                  </p:pic>
                </p:oleObj>
              </mc:Fallback>
            </mc:AlternateContent>
          </a:graphicData>
        </a:graphic>
      </p:graphicFrame>
      <p:pic>
        <p:nvPicPr>
          <p:cNvPr id="5" name="Picture 32" descr="未标题-1 副本">
            <a:extLst>
              <a:ext uri="{FF2B5EF4-FFF2-40B4-BE49-F238E27FC236}">
                <a16:creationId xmlns:a16="http://schemas.microsoft.com/office/drawing/2014/main" id="{BE115A97-1848-3B0B-D59E-675C594F5056}"/>
              </a:ext>
            </a:extLst>
          </p:cNvPr>
          <p:cNvPicPr>
            <a:picLocks noChangeAspect="1"/>
          </p:cNvPicPr>
          <p:nvPr/>
        </p:nvPicPr>
        <p:blipFill>
          <a:blip r:embed="rId16"/>
          <a:stretch>
            <a:fillRect/>
          </a:stretch>
        </p:blipFill>
        <p:spPr>
          <a:xfrm>
            <a:off x="250825" y="839986"/>
            <a:ext cx="2308225" cy="1371600"/>
          </a:xfrm>
          <a:prstGeom prst="rect">
            <a:avLst/>
          </a:prstGeom>
          <a:noFill/>
          <a:ln w="9525">
            <a:noFill/>
          </a:ln>
        </p:spPr>
      </p:pic>
      <p:pic>
        <p:nvPicPr>
          <p:cNvPr id="6" name="Picture 35" descr="未标题-2 副本">
            <a:extLst>
              <a:ext uri="{FF2B5EF4-FFF2-40B4-BE49-F238E27FC236}">
                <a16:creationId xmlns:a16="http://schemas.microsoft.com/office/drawing/2014/main" id="{3F51B518-517B-D6C9-7E11-A50396EEFE55}"/>
              </a:ext>
            </a:extLst>
          </p:cNvPr>
          <p:cNvPicPr>
            <a:picLocks noChangeAspect="1"/>
          </p:cNvPicPr>
          <p:nvPr/>
        </p:nvPicPr>
        <p:blipFill>
          <a:blip r:embed="rId17"/>
          <a:stretch>
            <a:fillRect/>
          </a:stretch>
        </p:blipFill>
        <p:spPr>
          <a:xfrm>
            <a:off x="3492500" y="839986"/>
            <a:ext cx="2159000" cy="1371600"/>
          </a:xfrm>
          <a:prstGeom prst="rect">
            <a:avLst/>
          </a:prstGeom>
          <a:noFill/>
          <a:ln w="9525">
            <a:noFill/>
          </a:ln>
        </p:spPr>
      </p:pic>
      <p:pic>
        <p:nvPicPr>
          <p:cNvPr id="7" name="Picture 38" descr="未标题-3 副本">
            <a:extLst>
              <a:ext uri="{FF2B5EF4-FFF2-40B4-BE49-F238E27FC236}">
                <a16:creationId xmlns:a16="http://schemas.microsoft.com/office/drawing/2014/main" id="{E092B404-ED16-7612-77DB-1DB073E92E9B}"/>
              </a:ext>
            </a:extLst>
          </p:cNvPr>
          <p:cNvPicPr>
            <a:picLocks noChangeAspect="1"/>
          </p:cNvPicPr>
          <p:nvPr/>
        </p:nvPicPr>
        <p:blipFill>
          <a:blip r:embed="rId18"/>
          <a:stretch>
            <a:fillRect/>
          </a:stretch>
        </p:blipFill>
        <p:spPr>
          <a:xfrm>
            <a:off x="6588125" y="839986"/>
            <a:ext cx="2089150" cy="1371600"/>
          </a:xfrm>
          <a:prstGeom prst="rect">
            <a:avLst/>
          </a:prstGeom>
          <a:solidFill>
            <a:srgbClr val="FFFFCC"/>
          </a:solidFill>
          <a:ln w="9525">
            <a:noFill/>
          </a:ln>
        </p:spPr>
      </p:pic>
      <p:sp>
        <p:nvSpPr>
          <p:cNvPr id="8" name="Rectangle 11">
            <a:extLst>
              <a:ext uri="{FF2B5EF4-FFF2-40B4-BE49-F238E27FC236}">
                <a16:creationId xmlns:a16="http://schemas.microsoft.com/office/drawing/2014/main" id="{E68E41F7-92D4-75C1-A204-FB6A9733BB87}"/>
              </a:ext>
            </a:extLst>
          </p:cNvPr>
          <p:cNvSpPr/>
          <p:nvPr/>
        </p:nvSpPr>
        <p:spPr>
          <a:xfrm>
            <a:off x="602939" y="348456"/>
            <a:ext cx="7885113" cy="504825"/>
          </a:xfrm>
          <a:prstGeom prst="rect">
            <a:avLst/>
          </a:prstGeom>
          <a:noFill/>
          <a:ln w="9525">
            <a:noFill/>
          </a:ln>
        </p:spPr>
        <p:txBody>
          <a:bodyPr anchor="t" anchorCtr="0"/>
          <a:lstStyle/>
          <a:p>
            <a:pPr>
              <a:lnSpc>
                <a:spcPct val="120000"/>
              </a:lnSpc>
            </a:pPr>
            <a:r>
              <a:rPr lang="zh-CN" altLang="en-US" dirty="0">
                <a:solidFill>
                  <a:schemeClr val="bg1"/>
                </a:solidFill>
                <a:latin typeface="楷体_GB2312" pitchFamily="49" charset="-122"/>
                <a:ea typeface="楷体_GB2312" pitchFamily="49" charset="-122"/>
              </a:rPr>
              <a:t>（宏观）矢量场</a:t>
            </a:r>
            <a:r>
              <a:rPr lang="zh-CN" altLang="en-US" dirty="0">
                <a:solidFill>
                  <a:srgbClr val="FF9900"/>
                </a:solidFill>
                <a:latin typeface="楷体_GB2312" pitchFamily="49" charset="-122"/>
                <a:ea typeface="楷体_GB2312" pitchFamily="49" charset="-122"/>
              </a:rPr>
              <a:t>通量源</a:t>
            </a:r>
            <a:r>
              <a:rPr lang="zh-CN" altLang="en-US" dirty="0">
                <a:solidFill>
                  <a:schemeClr val="bg1"/>
                </a:solidFill>
                <a:latin typeface="楷体_GB2312" pitchFamily="49" charset="-122"/>
                <a:ea typeface="楷体_GB2312" pitchFamily="49" charset="-122"/>
              </a:rPr>
              <a:t>的三种可能结果：</a:t>
            </a:r>
          </a:p>
        </p:txBody>
      </p:sp>
      <p:sp>
        <p:nvSpPr>
          <p:cNvPr id="10" name="文本框 9">
            <a:extLst>
              <a:ext uri="{FF2B5EF4-FFF2-40B4-BE49-F238E27FC236}">
                <a16:creationId xmlns:a16="http://schemas.microsoft.com/office/drawing/2014/main" id="{9FCD41E3-050C-D8D7-A13E-7A29C2D42708}"/>
              </a:ext>
            </a:extLst>
          </p:cNvPr>
          <p:cNvSpPr txBox="1"/>
          <p:nvPr/>
        </p:nvSpPr>
        <p:spPr>
          <a:xfrm>
            <a:off x="706667" y="3307047"/>
            <a:ext cx="5661733" cy="461665"/>
          </a:xfrm>
          <a:prstGeom prst="rect">
            <a:avLst/>
          </a:prstGeom>
          <a:noFill/>
        </p:spPr>
        <p:txBody>
          <a:bodyPr wrap="square">
            <a:spAutoFit/>
          </a:bodyPr>
          <a:lstStyle/>
          <a:p>
            <a:pPr>
              <a:spcBef>
                <a:spcPct val="0"/>
              </a:spcBef>
            </a:pPr>
            <a:r>
              <a:rPr lang="zh-CN" altLang="en-US" dirty="0">
                <a:solidFill>
                  <a:srgbClr val="FF0000"/>
                </a:solidFill>
                <a:latin typeface="华文中宋" panose="02010600040101010101" pitchFamily="2" charset="-122"/>
                <a:ea typeface="华文中宋" panose="02010600040101010101" pitchFamily="2" charset="-122"/>
              </a:rPr>
              <a:t>散度表征矢量场通量源的</a:t>
            </a:r>
            <a:r>
              <a:rPr lang="zh-CN" altLang="en-US" u="sng" dirty="0">
                <a:solidFill>
                  <a:srgbClr val="FF0000"/>
                </a:solidFill>
                <a:latin typeface="华文中宋" panose="02010600040101010101" pitchFamily="2" charset="-122"/>
                <a:ea typeface="华文中宋" panose="02010600040101010101" pitchFamily="2" charset="-122"/>
              </a:rPr>
              <a:t>分布特性</a:t>
            </a:r>
            <a:r>
              <a:rPr lang="zh-CN" altLang="en-US" dirty="0">
                <a:solidFill>
                  <a:srgbClr val="FF0000"/>
                </a:solidFill>
                <a:latin typeface="华文中宋" panose="02010600040101010101" pitchFamily="2" charset="-122"/>
                <a:ea typeface="华文中宋" panose="02010600040101010101" pitchFamily="2" charset="-122"/>
              </a:rPr>
              <a:t>。</a:t>
            </a:r>
            <a:endParaRPr lang="zh-CN" altLang="en-US" sz="28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D429AA5-7B25-7C87-33D7-AFD10E29413C}"/>
              </a:ext>
            </a:extLst>
          </p:cNvPr>
          <p:cNvPicPr>
            <a:picLocks noChangeAspect="1"/>
          </p:cNvPicPr>
          <p:nvPr/>
        </p:nvPicPr>
        <p:blipFill>
          <a:blip r:embed="rId3"/>
          <a:stretch>
            <a:fillRect/>
          </a:stretch>
        </p:blipFill>
        <p:spPr>
          <a:xfrm>
            <a:off x="0" y="476672"/>
            <a:ext cx="9112325" cy="60462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3914AE6-D7CC-D8C2-BC2A-18EAB3CF414A}"/>
              </a:ext>
            </a:extLst>
          </p:cNvPr>
          <p:cNvPicPr>
            <a:picLocks noChangeAspect="1"/>
          </p:cNvPicPr>
          <p:nvPr/>
        </p:nvPicPr>
        <p:blipFill>
          <a:blip r:embed="rId3"/>
          <a:stretch>
            <a:fillRect/>
          </a:stretch>
        </p:blipFill>
        <p:spPr>
          <a:xfrm>
            <a:off x="0" y="398413"/>
            <a:ext cx="9125177" cy="60611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52" name="Rectangle 16"/>
          <p:cNvSpPr/>
          <p:nvPr/>
        </p:nvSpPr>
        <p:spPr>
          <a:xfrm>
            <a:off x="179388" y="731838"/>
            <a:ext cx="8458200" cy="503237"/>
          </a:xfrm>
          <a:prstGeom prst="rect">
            <a:avLst/>
          </a:prstGeom>
          <a:noFill/>
          <a:ln w="9525">
            <a:noFill/>
          </a:ln>
        </p:spPr>
        <p:txBody>
          <a:bodyPr anchor="t" anchorCtr="0"/>
          <a:lstStyle/>
          <a:p>
            <a:pPr marL="342900" indent="-342900"/>
            <a:r>
              <a:rPr lang="en-US" altLang="zh-CN" dirty="0">
                <a:solidFill>
                  <a:schemeClr val="bg1"/>
                </a:solidFill>
                <a:latin typeface="Times New Roman" panose="02020603050405020304" pitchFamily="18" charset="0"/>
                <a:ea typeface="宋体" panose="02010600030101010101" pitchFamily="2" charset="-122"/>
              </a:rPr>
              <a:t>4.   </a:t>
            </a:r>
            <a:r>
              <a:rPr lang="zh-CN" altLang="en-US" dirty="0">
                <a:solidFill>
                  <a:schemeClr val="bg1"/>
                </a:solidFill>
                <a:latin typeface="Times New Roman" panose="02020603050405020304" pitchFamily="18" charset="0"/>
                <a:ea typeface="宋体" panose="02010600030101010101" pitchFamily="2" charset="-122"/>
              </a:rPr>
              <a:t>散度定理（高斯定理）</a:t>
            </a:r>
          </a:p>
        </p:txBody>
      </p:sp>
      <p:graphicFrame>
        <p:nvGraphicFramePr>
          <p:cNvPr id="219153" name="Object 17"/>
          <p:cNvGraphicFramePr>
            <a:graphicFrameLocks noChangeAspect="1"/>
          </p:cNvGraphicFramePr>
          <p:nvPr>
            <p:extLst>
              <p:ext uri="{D42A27DB-BD31-4B8C-83A1-F6EECF244321}">
                <p14:modId xmlns:p14="http://schemas.microsoft.com/office/powerpoint/2010/main" val="2474263321"/>
              </p:ext>
            </p:extLst>
          </p:nvPr>
        </p:nvGraphicFramePr>
        <p:xfrm>
          <a:off x="1115616" y="4847878"/>
          <a:ext cx="2568575" cy="741362"/>
        </p:xfrm>
        <a:graphic>
          <a:graphicData uri="http://schemas.openxmlformats.org/presentationml/2006/ole">
            <mc:AlternateContent xmlns:mc="http://schemas.openxmlformats.org/markup-compatibility/2006">
              <mc:Choice xmlns:v="urn:schemas-microsoft-com:vml" Requires="v">
                <p:oleObj r:id="rId3" imgW="925195" imgH="264160" progId="Equation.3">
                  <p:embed/>
                </p:oleObj>
              </mc:Choice>
              <mc:Fallback>
                <p:oleObj r:id="rId3" imgW="925195" imgH="264160" progId="Equation.3">
                  <p:embed/>
                  <p:pic>
                    <p:nvPicPr>
                      <p:cNvPr id="0" name="图片 3221"/>
                      <p:cNvPicPr/>
                      <p:nvPr/>
                    </p:nvPicPr>
                    <p:blipFill>
                      <a:blip r:embed="rId4">
                        <a:clrChange>
                          <a:clrFrom>
                            <a:srgbClr val="000000"/>
                          </a:clrFrom>
                          <a:clrTo>
                            <a:srgbClr val="FFFFFF"/>
                          </a:clrTo>
                        </a:clrChange>
                      </a:blip>
                      <a:stretch>
                        <a:fillRect/>
                      </a:stretch>
                    </p:blipFill>
                    <p:spPr>
                      <a:xfrm>
                        <a:off x="1115616" y="4847878"/>
                        <a:ext cx="2568575" cy="741362"/>
                      </a:xfrm>
                      <a:prstGeom prst="rect">
                        <a:avLst/>
                      </a:prstGeom>
                      <a:noFill/>
                      <a:ln w="38100">
                        <a:noFill/>
                        <a:miter/>
                      </a:ln>
                    </p:spPr>
                  </p:pic>
                </p:oleObj>
              </mc:Fallback>
            </mc:AlternateContent>
          </a:graphicData>
        </a:graphic>
      </p:graphicFrame>
      <p:grpSp>
        <p:nvGrpSpPr>
          <p:cNvPr id="219451" name="Group 315"/>
          <p:cNvGrpSpPr/>
          <p:nvPr/>
        </p:nvGrpSpPr>
        <p:grpSpPr>
          <a:xfrm>
            <a:off x="4356100" y="946150"/>
            <a:ext cx="4535488" cy="2663825"/>
            <a:chOff x="2881" y="2115"/>
            <a:chExt cx="2857" cy="1678"/>
          </a:xfrm>
        </p:grpSpPr>
        <p:sp>
          <p:nvSpPr>
            <p:cNvPr id="87044" name="Rectangle 137"/>
            <p:cNvSpPr/>
            <p:nvPr/>
          </p:nvSpPr>
          <p:spPr>
            <a:xfrm>
              <a:off x="2881" y="2115"/>
              <a:ext cx="2857" cy="1678"/>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nvGrpSpPr>
            <p:cNvPr id="87045" name="Group 139"/>
            <p:cNvGrpSpPr/>
            <p:nvPr/>
          </p:nvGrpSpPr>
          <p:grpSpPr>
            <a:xfrm>
              <a:off x="2972" y="2206"/>
              <a:ext cx="1587" cy="989"/>
              <a:chOff x="7479" y="6494"/>
              <a:chExt cx="4057" cy="2767"/>
            </a:xfrm>
          </p:grpSpPr>
          <p:sp>
            <p:nvSpPr>
              <p:cNvPr id="87046" name="Freeform 140"/>
              <p:cNvSpPr/>
              <p:nvPr/>
            </p:nvSpPr>
            <p:spPr>
              <a:xfrm>
                <a:off x="7479" y="6494"/>
                <a:ext cx="4057" cy="2767"/>
              </a:xfrm>
              <a:custGeom>
                <a:avLst/>
                <a:gdLst/>
                <a:ahLst/>
                <a:cxnLst>
                  <a:cxn ang="0">
                    <a:pos x="2567" y="2579"/>
                  </a:cxn>
                  <a:cxn ang="0">
                    <a:pos x="1478" y="2684"/>
                  </a:cxn>
                  <a:cxn ang="0">
                    <a:pos x="251" y="2080"/>
                  </a:cxn>
                  <a:cxn ang="0">
                    <a:pos x="416" y="725"/>
                  </a:cxn>
                  <a:cxn ang="0">
                    <a:pos x="2748" y="12"/>
                  </a:cxn>
                  <a:cxn ang="0">
                    <a:pos x="3915" y="797"/>
                  </a:cxn>
                  <a:cxn ang="0">
                    <a:pos x="3598" y="2036"/>
                  </a:cxn>
                  <a:cxn ang="0">
                    <a:pos x="2567" y="2579"/>
                  </a:cxn>
                </a:cxnLst>
                <a:rect l="0" t="0" r="0" b="0"/>
                <a:pathLst>
                  <a:path w="4057" h="2767">
                    <a:moveTo>
                      <a:pt x="2567" y="2579"/>
                    </a:moveTo>
                    <a:cubicBezTo>
                      <a:pt x="2214" y="2687"/>
                      <a:pt x="1864" y="2767"/>
                      <a:pt x="1478" y="2684"/>
                    </a:cubicBezTo>
                    <a:cubicBezTo>
                      <a:pt x="1092" y="2601"/>
                      <a:pt x="428" y="2406"/>
                      <a:pt x="251" y="2080"/>
                    </a:cubicBezTo>
                    <a:cubicBezTo>
                      <a:pt x="74" y="1754"/>
                      <a:pt x="0" y="1069"/>
                      <a:pt x="416" y="725"/>
                    </a:cubicBezTo>
                    <a:cubicBezTo>
                      <a:pt x="833" y="380"/>
                      <a:pt x="2165" y="0"/>
                      <a:pt x="2748" y="12"/>
                    </a:cubicBezTo>
                    <a:cubicBezTo>
                      <a:pt x="3332" y="24"/>
                      <a:pt x="3773" y="460"/>
                      <a:pt x="3915" y="797"/>
                    </a:cubicBezTo>
                    <a:cubicBezTo>
                      <a:pt x="4057" y="1135"/>
                      <a:pt x="3823" y="1739"/>
                      <a:pt x="3598" y="2036"/>
                    </a:cubicBezTo>
                    <a:cubicBezTo>
                      <a:pt x="3373" y="2333"/>
                      <a:pt x="2920" y="2471"/>
                      <a:pt x="2567" y="2579"/>
                    </a:cubicBezTo>
                    <a:close/>
                  </a:path>
                </a:pathLst>
              </a:custGeom>
              <a:gradFill rotWithShape="1">
                <a:gsLst>
                  <a:gs pos="0">
                    <a:srgbClr val="359AFF"/>
                  </a:gs>
                  <a:gs pos="100000">
                    <a:srgbClr val="256BB1"/>
                  </a:gs>
                </a:gsLst>
                <a:path path="rect">
                  <a:fillToRect l="50000" t="50000" r="50000" b="50000"/>
                </a:path>
                <a:tileRect/>
              </a:gradFill>
              <a:ln w="22225" cap="flat" cmpd="sng">
                <a:solidFill>
                  <a:srgbClr val="000000"/>
                </a:solidFill>
                <a:prstDash val="solid"/>
                <a:round/>
                <a:headEnd type="none" w="med" len="med"/>
                <a:tailEnd type="none" w="med" len="med"/>
              </a:ln>
            </p:spPr>
            <p:txBody>
              <a:bodyPr/>
              <a:lstStyle/>
              <a:p>
                <a:endParaRPr lang="zh-CN" altLang="en-US"/>
              </a:p>
            </p:txBody>
          </p:sp>
          <p:sp>
            <p:nvSpPr>
              <p:cNvPr id="87047" name="Freeform 141"/>
              <p:cNvSpPr/>
              <p:nvPr/>
            </p:nvSpPr>
            <p:spPr>
              <a:xfrm>
                <a:off x="8994" y="7503"/>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48" name="Freeform 142"/>
              <p:cNvSpPr/>
              <p:nvPr/>
            </p:nvSpPr>
            <p:spPr>
              <a:xfrm>
                <a:off x="9333" y="7771"/>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49" name="Line 143"/>
              <p:cNvSpPr>
                <a:spLocks noChangeAspect="1"/>
              </p:cNvSpPr>
              <p:nvPr/>
            </p:nvSpPr>
            <p:spPr>
              <a:xfrm>
                <a:off x="9439" y="7533"/>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50" name="Freeform 144"/>
              <p:cNvSpPr/>
              <p:nvPr/>
            </p:nvSpPr>
            <p:spPr>
              <a:xfrm>
                <a:off x="9164" y="7990"/>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51" name="Freeform 145"/>
              <p:cNvSpPr/>
              <p:nvPr/>
            </p:nvSpPr>
            <p:spPr>
              <a:xfrm>
                <a:off x="9503" y="8258"/>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52" name="Line 146"/>
              <p:cNvSpPr>
                <a:spLocks noChangeAspect="1"/>
              </p:cNvSpPr>
              <p:nvPr/>
            </p:nvSpPr>
            <p:spPr>
              <a:xfrm>
                <a:off x="9164" y="8197"/>
                <a:ext cx="444"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53" name="Line 147"/>
              <p:cNvSpPr>
                <a:spLocks noChangeAspect="1"/>
              </p:cNvSpPr>
              <p:nvPr/>
            </p:nvSpPr>
            <p:spPr>
              <a:xfrm>
                <a:off x="9608" y="8019"/>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054" name="Group 148"/>
              <p:cNvGrpSpPr/>
              <p:nvPr/>
            </p:nvGrpSpPr>
            <p:grpSpPr>
              <a:xfrm>
                <a:off x="8994" y="7710"/>
                <a:ext cx="572" cy="737"/>
                <a:chOff x="7896" y="3686"/>
                <a:chExt cx="405" cy="648"/>
              </a:xfrm>
            </p:grpSpPr>
            <p:sp>
              <p:nvSpPr>
                <p:cNvPr id="87055" name="Line 149"/>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56" name="Line 150"/>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57" name="Line 151"/>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058" name="Line 152"/>
              <p:cNvSpPr/>
              <p:nvPr/>
            </p:nvSpPr>
            <p:spPr>
              <a:xfrm>
                <a:off x="9884" y="7755"/>
                <a:ext cx="148" cy="533"/>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59" name="Line 153"/>
              <p:cNvSpPr/>
              <p:nvPr/>
            </p:nvSpPr>
            <p:spPr>
              <a:xfrm>
                <a:off x="9474" y="7533"/>
                <a:ext cx="149" cy="532"/>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060" name="Group 154"/>
              <p:cNvGrpSpPr/>
              <p:nvPr/>
            </p:nvGrpSpPr>
            <p:grpSpPr>
              <a:xfrm>
                <a:off x="9997" y="7505"/>
                <a:ext cx="572" cy="737"/>
                <a:chOff x="7896" y="3686"/>
                <a:chExt cx="405" cy="648"/>
              </a:xfrm>
            </p:grpSpPr>
            <p:sp>
              <p:nvSpPr>
                <p:cNvPr id="87061" name="Line 155"/>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62" name="Line 156"/>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63" name="Line 157"/>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064" name="Line 158"/>
              <p:cNvSpPr>
                <a:spLocks noChangeAspect="1"/>
              </p:cNvSpPr>
              <p:nvPr/>
            </p:nvSpPr>
            <p:spPr>
              <a:xfrm>
                <a:off x="10132" y="7978"/>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65" name="Freeform 159"/>
              <p:cNvSpPr/>
              <p:nvPr/>
            </p:nvSpPr>
            <p:spPr>
              <a:xfrm>
                <a:off x="7964" y="7679"/>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66" name="Freeform 160"/>
              <p:cNvSpPr/>
              <p:nvPr/>
            </p:nvSpPr>
            <p:spPr>
              <a:xfrm>
                <a:off x="8303" y="7947"/>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67" name="Line 161"/>
              <p:cNvSpPr>
                <a:spLocks noChangeAspect="1"/>
              </p:cNvSpPr>
              <p:nvPr/>
            </p:nvSpPr>
            <p:spPr>
              <a:xfrm>
                <a:off x="8409" y="7709"/>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68" name="Freeform 162"/>
              <p:cNvSpPr/>
              <p:nvPr/>
            </p:nvSpPr>
            <p:spPr>
              <a:xfrm>
                <a:off x="8134" y="8166"/>
                <a:ext cx="1038" cy="207"/>
              </a:xfrm>
              <a:custGeom>
                <a:avLst/>
                <a:gdLst/>
                <a:ahLst/>
                <a:cxnLst>
                  <a:cxn ang="0">
                    <a:pos x="0" y="510"/>
                  </a:cxn>
                  <a:cxn ang="0">
                    <a:pos x="4987" y="74"/>
                  </a:cxn>
                  <a:cxn ang="0">
                    <a:pos x="11627" y="7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69" name="Line 163"/>
              <p:cNvSpPr>
                <a:spLocks noChangeAspect="1"/>
              </p:cNvSpPr>
              <p:nvPr/>
            </p:nvSpPr>
            <p:spPr>
              <a:xfrm>
                <a:off x="8134" y="8373"/>
                <a:ext cx="444"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70" name="Line 164"/>
              <p:cNvSpPr>
                <a:spLocks noChangeAspect="1"/>
              </p:cNvSpPr>
              <p:nvPr/>
            </p:nvSpPr>
            <p:spPr>
              <a:xfrm>
                <a:off x="8578" y="8195"/>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071" name="Group 165"/>
              <p:cNvGrpSpPr/>
              <p:nvPr/>
            </p:nvGrpSpPr>
            <p:grpSpPr>
              <a:xfrm>
                <a:off x="7964" y="7886"/>
                <a:ext cx="572" cy="737"/>
                <a:chOff x="7896" y="3686"/>
                <a:chExt cx="405" cy="648"/>
              </a:xfrm>
            </p:grpSpPr>
            <p:sp>
              <p:nvSpPr>
                <p:cNvPr id="87072" name="Line 166"/>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73" name="Line 167"/>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74" name="Line 168"/>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075" name="Line 169"/>
              <p:cNvSpPr/>
              <p:nvPr/>
            </p:nvSpPr>
            <p:spPr>
              <a:xfrm>
                <a:off x="8854" y="7931"/>
                <a:ext cx="148" cy="533"/>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76" name="Line 170"/>
              <p:cNvSpPr/>
              <p:nvPr/>
            </p:nvSpPr>
            <p:spPr>
              <a:xfrm>
                <a:off x="8444" y="7709"/>
                <a:ext cx="149" cy="532"/>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77" name="Freeform 171"/>
              <p:cNvSpPr/>
              <p:nvPr/>
            </p:nvSpPr>
            <p:spPr>
              <a:xfrm>
                <a:off x="9503" y="6548"/>
                <a:ext cx="1159" cy="285"/>
              </a:xfrm>
              <a:custGeom>
                <a:avLst/>
                <a:gdLst/>
                <a:ahLst/>
                <a:cxnLst>
                  <a:cxn ang="0">
                    <a:pos x="0" y="285"/>
                  </a:cxn>
                  <a:cxn ang="0">
                    <a:pos x="506" y="41"/>
                  </a:cxn>
                  <a:cxn ang="0">
                    <a:pos x="1159" y="41"/>
                  </a:cxn>
                </a:cxnLst>
                <a:rect l="0" t="0" r="0" b="0"/>
                <a:pathLst>
                  <a:path w="1159" h="285">
                    <a:moveTo>
                      <a:pt x="0" y="285"/>
                    </a:moveTo>
                    <a:cubicBezTo>
                      <a:pt x="81" y="244"/>
                      <a:pt x="313" y="82"/>
                      <a:pt x="506" y="41"/>
                    </a:cubicBezTo>
                    <a:cubicBezTo>
                      <a:pt x="699" y="0"/>
                      <a:pt x="927" y="30"/>
                      <a:pt x="1159" y="41"/>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78" name="Line 172"/>
              <p:cNvSpPr>
                <a:spLocks noChangeAspect="1"/>
              </p:cNvSpPr>
              <p:nvPr/>
            </p:nvSpPr>
            <p:spPr>
              <a:xfrm>
                <a:off x="9859" y="6567"/>
                <a:ext cx="500" cy="299"/>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79" name="Freeform 173"/>
              <p:cNvSpPr/>
              <p:nvPr/>
            </p:nvSpPr>
            <p:spPr>
              <a:xfrm>
                <a:off x="9889" y="8587"/>
                <a:ext cx="1094" cy="45"/>
              </a:xfrm>
              <a:custGeom>
                <a:avLst/>
                <a:gdLst/>
                <a:ahLst/>
                <a:cxnLst>
                  <a:cxn ang="0">
                    <a:pos x="0" y="45"/>
                  </a:cxn>
                  <a:cxn ang="0">
                    <a:pos x="614" y="6"/>
                  </a:cxn>
                  <a:cxn ang="0">
                    <a:pos x="1094" y="6"/>
                  </a:cxn>
                </a:cxnLst>
                <a:rect l="0" t="0" r="0" b="0"/>
                <a:pathLst>
                  <a:path w="1094" h="45">
                    <a:moveTo>
                      <a:pt x="0" y="45"/>
                    </a:moveTo>
                    <a:cubicBezTo>
                      <a:pt x="102" y="39"/>
                      <a:pt x="432" y="12"/>
                      <a:pt x="614" y="6"/>
                    </a:cubicBezTo>
                    <a:cubicBezTo>
                      <a:pt x="796" y="0"/>
                      <a:pt x="994" y="6"/>
                      <a:pt x="1094" y="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80" name="Line 174"/>
              <p:cNvSpPr>
                <a:spLocks noChangeAspect="1"/>
              </p:cNvSpPr>
              <p:nvPr/>
            </p:nvSpPr>
            <p:spPr>
              <a:xfrm>
                <a:off x="9224" y="6683"/>
                <a:ext cx="444"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1" name="Line 175"/>
              <p:cNvSpPr>
                <a:spLocks noChangeAspect="1"/>
              </p:cNvSpPr>
              <p:nvPr/>
            </p:nvSpPr>
            <p:spPr>
              <a:xfrm>
                <a:off x="10629" y="8243"/>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2" name="Line 176"/>
              <p:cNvSpPr>
                <a:spLocks noChangeAspect="1"/>
              </p:cNvSpPr>
              <p:nvPr/>
            </p:nvSpPr>
            <p:spPr>
              <a:xfrm>
                <a:off x="10044" y="8283"/>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3" name="Line 177"/>
              <p:cNvSpPr/>
              <p:nvPr/>
            </p:nvSpPr>
            <p:spPr>
              <a:xfrm>
                <a:off x="10464" y="8595"/>
                <a:ext cx="105" cy="312"/>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4" name="Line 178"/>
              <p:cNvSpPr/>
              <p:nvPr/>
            </p:nvSpPr>
            <p:spPr>
              <a:xfrm>
                <a:off x="10884" y="7659"/>
                <a:ext cx="210" cy="780"/>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5" name="Line 179"/>
              <p:cNvSpPr>
                <a:spLocks noChangeAspect="1"/>
              </p:cNvSpPr>
              <p:nvPr/>
            </p:nvSpPr>
            <p:spPr>
              <a:xfrm>
                <a:off x="7629" y="8127"/>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6" name="Line 180"/>
              <p:cNvSpPr/>
              <p:nvPr/>
            </p:nvSpPr>
            <p:spPr>
              <a:xfrm>
                <a:off x="8154" y="8439"/>
                <a:ext cx="148" cy="532"/>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7" name="Line 181"/>
              <p:cNvSpPr>
                <a:spLocks noChangeAspect="1"/>
              </p:cNvSpPr>
              <p:nvPr/>
            </p:nvSpPr>
            <p:spPr>
              <a:xfrm>
                <a:off x="7629" y="7659"/>
                <a:ext cx="445" cy="26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88" name="Freeform 182"/>
              <p:cNvSpPr/>
              <p:nvPr/>
            </p:nvSpPr>
            <p:spPr>
              <a:xfrm>
                <a:off x="9859" y="6879"/>
                <a:ext cx="1022" cy="193"/>
              </a:xfrm>
              <a:custGeom>
                <a:avLst/>
                <a:gdLst/>
                <a:ahLst/>
                <a:cxnLst>
                  <a:cxn ang="0">
                    <a:pos x="0" y="292"/>
                  </a:cxn>
                  <a:cxn ang="0">
                    <a:pos x="4405" y="42"/>
                  </a:cxn>
                  <a:cxn ang="0">
                    <a:pos x="10273" y="42"/>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89" name="Freeform 183"/>
              <p:cNvSpPr/>
              <p:nvPr/>
            </p:nvSpPr>
            <p:spPr>
              <a:xfrm>
                <a:off x="10193" y="7129"/>
                <a:ext cx="1021" cy="193"/>
              </a:xfrm>
              <a:custGeom>
                <a:avLst/>
                <a:gdLst/>
                <a:ahLst/>
                <a:cxnLst>
                  <a:cxn ang="0">
                    <a:pos x="0" y="292"/>
                  </a:cxn>
                  <a:cxn ang="0">
                    <a:pos x="4373" y="42"/>
                  </a:cxn>
                  <a:cxn ang="0">
                    <a:pos x="10191" y="42"/>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90" name="Line 184"/>
              <p:cNvSpPr>
                <a:spLocks noChangeAspect="1"/>
              </p:cNvSpPr>
              <p:nvPr/>
            </p:nvSpPr>
            <p:spPr>
              <a:xfrm>
                <a:off x="10297" y="6907"/>
                <a:ext cx="438" cy="247"/>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91" name="Freeform 185"/>
              <p:cNvSpPr/>
              <p:nvPr/>
            </p:nvSpPr>
            <p:spPr>
              <a:xfrm>
                <a:off x="10026" y="7332"/>
                <a:ext cx="1022" cy="193"/>
              </a:xfrm>
              <a:custGeom>
                <a:avLst/>
                <a:gdLst/>
                <a:ahLst/>
                <a:cxnLst>
                  <a:cxn ang="0">
                    <a:pos x="0" y="292"/>
                  </a:cxn>
                  <a:cxn ang="0">
                    <a:pos x="4405" y="42"/>
                  </a:cxn>
                  <a:cxn ang="0">
                    <a:pos x="10273" y="42"/>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92" name="Freeform 186"/>
              <p:cNvSpPr/>
              <p:nvPr/>
            </p:nvSpPr>
            <p:spPr>
              <a:xfrm>
                <a:off x="10359" y="7582"/>
                <a:ext cx="1022" cy="193"/>
              </a:xfrm>
              <a:custGeom>
                <a:avLst/>
                <a:gdLst/>
                <a:ahLst/>
                <a:cxnLst>
                  <a:cxn ang="0">
                    <a:pos x="0" y="292"/>
                  </a:cxn>
                  <a:cxn ang="0">
                    <a:pos x="4405" y="42"/>
                  </a:cxn>
                  <a:cxn ang="0">
                    <a:pos x="10273" y="42"/>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093" name="Line 187"/>
              <p:cNvSpPr>
                <a:spLocks noChangeAspect="1"/>
              </p:cNvSpPr>
              <p:nvPr/>
            </p:nvSpPr>
            <p:spPr>
              <a:xfrm>
                <a:off x="10026" y="7525"/>
                <a:ext cx="438" cy="24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94" name="Line 188"/>
              <p:cNvSpPr>
                <a:spLocks noChangeAspect="1"/>
              </p:cNvSpPr>
              <p:nvPr/>
            </p:nvSpPr>
            <p:spPr>
              <a:xfrm>
                <a:off x="10464" y="7360"/>
                <a:ext cx="438" cy="24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095" name="Group 189"/>
              <p:cNvGrpSpPr/>
              <p:nvPr/>
            </p:nvGrpSpPr>
            <p:grpSpPr>
              <a:xfrm>
                <a:off x="9859" y="7072"/>
                <a:ext cx="563" cy="686"/>
                <a:chOff x="7896" y="3686"/>
                <a:chExt cx="405" cy="648"/>
              </a:xfrm>
            </p:grpSpPr>
            <p:sp>
              <p:nvSpPr>
                <p:cNvPr id="87096" name="Line 190"/>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97" name="Line 191"/>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098" name="Line 192"/>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099" name="Line 193"/>
              <p:cNvSpPr/>
              <p:nvPr/>
            </p:nvSpPr>
            <p:spPr>
              <a:xfrm>
                <a:off x="10735" y="7114"/>
                <a:ext cx="146" cy="49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00" name="Line 194"/>
              <p:cNvSpPr/>
              <p:nvPr/>
            </p:nvSpPr>
            <p:spPr>
              <a:xfrm>
                <a:off x="10332" y="6907"/>
                <a:ext cx="146" cy="495"/>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101" name="Group 195"/>
              <p:cNvGrpSpPr/>
              <p:nvPr/>
            </p:nvGrpSpPr>
            <p:grpSpPr>
              <a:xfrm>
                <a:off x="10846" y="6881"/>
                <a:ext cx="563" cy="686"/>
                <a:chOff x="7896" y="3686"/>
                <a:chExt cx="405" cy="648"/>
              </a:xfrm>
            </p:grpSpPr>
            <p:sp>
              <p:nvSpPr>
                <p:cNvPr id="87102" name="Line 196"/>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03" name="Line 197"/>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04" name="Line 198"/>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05" name="Line 199"/>
              <p:cNvSpPr>
                <a:spLocks noChangeAspect="1"/>
              </p:cNvSpPr>
              <p:nvPr/>
            </p:nvSpPr>
            <p:spPr>
              <a:xfrm>
                <a:off x="10881" y="7322"/>
                <a:ext cx="438" cy="24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106" name="Group 200"/>
              <p:cNvGrpSpPr/>
              <p:nvPr/>
            </p:nvGrpSpPr>
            <p:grpSpPr>
              <a:xfrm>
                <a:off x="8569" y="8413"/>
                <a:ext cx="1470" cy="806"/>
                <a:chOff x="7896" y="3504"/>
                <a:chExt cx="1115" cy="846"/>
              </a:xfrm>
            </p:grpSpPr>
            <p:sp>
              <p:nvSpPr>
                <p:cNvPr id="87107" name="Freeform 201"/>
                <p:cNvSpPr/>
                <p:nvPr/>
              </p:nvSpPr>
              <p:spPr>
                <a:xfrm>
                  <a:off x="7896" y="3504"/>
                  <a:ext cx="735" cy="182"/>
                </a:xfrm>
                <a:custGeom>
                  <a:avLst/>
                  <a:gdLst/>
                  <a:ahLst/>
                  <a:cxnLst>
                    <a:cxn ang="0">
                      <a:pos x="0" y="182"/>
                    </a:cxn>
                    <a:cxn ang="0">
                      <a:pos x="315" y="26"/>
                    </a:cxn>
                    <a:cxn ang="0">
                      <a:pos x="735" y="26"/>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08" name="Freeform 202"/>
                <p:cNvSpPr/>
                <p:nvPr/>
              </p:nvSpPr>
              <p:spPr>
                <a:xfrm>
                  <a:off x="8136" y="3740"/>
                  <a:ext cx="735" cy="182"/>
                </a:xfrm>
                <a:custGeom>
                  <a:avLst/>
                  <a:gdLst/>
                  <a:ahLst/>
                  <a:cxnLst>
                    <a:cxn ang="0">
                      <a:pos x="0" y="182"/>
                    </a:cxn>
                    <a:cxn ang="0">
                      <a:pos x="315" y="26"/>
                    </a:cxn>
                    <a:cxn ang="0">
                      <a:pos x="735" y="26"/>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09" name="Line 203"/>
                <p:cNvSpPr>
                  <a:spLocks noChangeAspect="1"/>
                </p:cNvSpPr>
                <p:nvPr/>
              </p:nvSpPr>
              <p:spPr>
                <a:xfrm>
                  <a:off x="8211" y="3530"/>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10" name="Freeform 204"/>
                <p:cNvSpPr/>
                <p:nvPr/>
              </p:nvSpPr>
              <p:spPr>
                <a:xfrm>
                  <a:off x="8016" y="3932"/>
                  <a:ext cx="735" cy="182"/>
                </a:xfrm>
                <a:custGeom>
                  <a:avLst/>
                  <a:gdLst/>
                  <a:ahLst/>
                  <a:cxnLst>
                    <a:cxn ang="0">
                      <a:pos x="0" y="182"/>
                    </a:cxn>
                    <a:cxn ang="0">
                      <a:pos x="315" y="26"/>
                    </a:cxn>
                    <a:cxn ang="0">
                      <a:pos x="735" y="26"/>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11" name="Freeform 205"/>
                <p:cNvSpPr/>
                <p:nvPr/>
              </p:nvSpPr>
              <p:spPr>
                <a:xfrm>
                  <a:off x="8256" y="4168"/>
                  <a:ext cx="735" cy="182"/>
                </a:xfrm>
                <a:custGeom>
                  <a:avLst/>
                  <a:gdLst/>
                  <a:ahLst/>
                  <a:cxnLst>
                    <a:cxn ang="0">
                      <a:pos x="0" y="182"/>
                    </a:cxn>
                    <a:cxn ang="0">
                      <a:pos x="315" y="26"/>
                    </a:cxn>
                    <a:cxn ang="0">
                      <a:pos x="735" y="26"/>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12" name="Line 206"/>
                <p:cNvSpPr>
                  <a:spLocks noChangeAspect="1"/>
                </p:cNvSpPr>
                <p:nvPr/>
              </p:nvSpPr>
              <p:spPr>
                <a:xfrm>
                  <a:off x="8016" y="4114"/>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13" name="Line 207"/>
                <p:cNvSpPr>
                  <a:spLocks noChangeAspect="1"/>
                </p:cNvSpPr>
                <p:nvPr/>
              </p:nvSpPr>
              <p:spPr>
                <a:xfrm>
                  <a:off x="8331" y="3958"/>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114" name="Group 208"/>
                <p:cNvGrpSpPr/>
                <p:nvPr/>
              </p:nvGrpSpPr>
              <p:grpSpPr>
                <a:xfrm>
                  <a:off x="7896" y="3686"/>
                  <a:ext cx="405" cy="648"/>
                  <a:chOff x="7896" y="3686"/>
                  <a:chExt cx="405" cy="648"/>
                </a:xfrm>
              </p:grpSpPr>
              <p:sp>
                <p:nvSpPr>
                  <p:cNvPr id="87115" name="Line 209"/>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16" name="Line 210"/>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17" name="Line 211"/>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18" name="Line 212"/>
                <p:cNvSpPr/>
                <p:nvPr/>
              </p:nvSpPr>
              <p:spPr>
                <a:xfrm>
                  <a:off x="8526" y="372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19" name="Line 213"/>
                <p:cNvSpPr/>
                <p:nvPr/>
              </p:nvSpPr>
              <p:spPr>
                <a:xfrm>
                  <a:off x="8236" y="3530"/>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120" name="Group 214"/>
                <p:cNvGrpSpPr/>
                <p:nvPr/>
              </p:nvGrpSpPr>
              <p:grpSpPr>
                <a:xfrm>
                  <a:off x="8606" y="3506"/>
                  <a:ext cx="405" cy="648"/>
                  <a:chOff x="7896" y="3686"/>
                  <a:chExt cx="405" cy="648"/>
                </a:xfrm>
              </p:grpSpPr>
              <p:sp>
                <p:nvSpPr>
                  <p:cNvPr id="87121" name="Line 215"/>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22" name="Line 216"/>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23" name="Line 217"/>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24" name="Line 218"/>
                <p:cNvSpPr>
                  <a:spLocks noChangeAspect="1"/>
                </p:cNvSpPr>
                <p:nvPr/>
              </p:nvSpPr>
              <p:spPr>
                <a:xfrm>
                  <a:off x="8631" y="3922"/>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25" name="Freeform 219"/>
              <p:cNvSpPr/>
              <p:nvPr/>
            </p:nvSpPr>
            <p:spPr>
              <a:xfrm>
                <a:off x="8044" y="7015"/>
                <a:ext cx="761" cy="168"/>
              </a:xfrm>
              <a:custGeom>
                <a:avLst/>
                <a:gdLst/>
                <a:ahLst/>
                <a:cxnLst>
                  <a:cxn ang="0">
                    <a:pos x="0" y="96"/>
                  </a:cxn>
                  <a:cxn ang="0">
                    <a:pos x="416" y="14"/>
                  </a:cxn>
                  <a:cxn ang="0">
                    <a:pos x="971" y="1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26" name="Freeform 220"/>
              <p:cNvSpPr/>
              <p:nvPr/>
            </p:nvSpPr>
            <p:spPr>
              <a:xfrm>
                <a:off x="8293" y="7232"/>
                <a:ext cx="761" cy="168"/>
              </a:xfrm>
              <a:custGeom>
                <a:avLst/>
                <a:gdLst/>
                <a:ahLst/>
                <a:cxnLst>
                  <a:cxn ang="0">
                    <a:pos x="0" y="96"/>
                  </a:cxn>
                  <a:cxn ang="0">
                    <a:pos x="416" y="14"/>
                  </a:cxn>
                  <a:cxn ang="0">
                    <a:pos x="971" y="1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27" name="Freeform 221"/>
              <p:cNvSpPr/>
              <p:nvPr/>
            </p:nvSpPr>
            <p:spPr>
              <a:xfrm>
                <a:off x="8169" y="7410"/>
                <a:ext cx="761" cy="168"/>
              </a:xfrm>
              <a:custGeom>
                <a:avLst/>
                <a:gdLst/>
                <a:ahLst/>
                <a:cxnLst>
                  <a:cxn ang="0">
                    <a:pos x="0" y="96"/>
                  </a:cxn>
                  <a:cxn ang="0">
                    <a:pos x="416" y="14"/>
                  </a:cxn>
                  <a:cxn ang="0">
                    <a:pos x="971" y="1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28" name="Line 222"/>
              <p:cNvSpPr>
                <a:spLocks noChangeAspect="1"/>
              </p:cNvSpPr>
              <p:nvPr/>
            </p:nvSpPr>
            <p:spPr>
              <a:xfrm>
                <a:off x="8169" y="7578"/>
                <a:ext cx="325" cy="215"/>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129" name="Group 223"/>
              <p:cNvGrpSpPr/>
              <p:nvPr/>
            </p:nvGrpSpPr>
            <p:grpSpPr>
              <a:xfrm>
                <a:off x="8044" y="7183"/>
                <a:ext cx="419" cy="597"/>
                <a:chOff x="7896" y="3686"/>
                <a:chExt cx="405" cy="648"/>
              </a:xfrm>
            </p:grpSpPr>
            <p:sp>
              <p:nvSpPr>
                <p:cNvPr id="87130" name="Line 224"/>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31" name="Line 225"/>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32" name="Line 226"/>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33" name="Line 227"/>
              <p:cNvSpPr>
                <a:spLocks noChangeAspect="1"/>
              </p:cNvSpPr>
              <p:nvPr/>
            </p:nvSpPr>
            <p:spPr>
              <a:xfrm>
                <a:off x="8780" y="7017"/>
                <a:ext cx="326" cy="21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34" name="Line 228"/>
              <p:cNvSpPr/>
              <p:nvPr/>
            </p:nvSpPr>
            <p:spPr>
              <a:xfrm flipH="1">
                <a:off x="8736" y="7017"/>
                <a:ext cx="44" cy="413"/>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35" name="Line 229"/>
              <p:cNvSpPr/>
              <p:nvPr/>
            </p:nvSpPr>
            <p:spPr>
              <a:xfrm flipH="1">
                <a:off x="9051" y="7183"/>
                <a:ext cx="39" cy="559"/>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36" name="Freeform 230"/>
              <p:cNvSpPr/>
              <p:nvPr/>
            </p:nvSpPr>
            <p:spPr>
              <a:xfrm>
                <a:off x="8809" y="6879"/>
                <a:ext cx="761" cy="168"/>
              </a:xfrm>
              <a:custGeom>
                <a:avLst/>
                <a:gdLst/>
                <a:ahLst/>
                <a:cxnLst>
                  <a:cxn ang="0">
                    <a:pos x="0" y="96"/>
                  </a:cxn>
                  <a:cxn ang="0">
                    <a:pos x="416" y="14"/>
                  </a:cxn>
                  <a:cxn ang="0">
                    <a:pos x="971" y="1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37" name="Freeform 231"/>
              <p:cNvSpPr/>
              <p:nvPr/>
            </p:nvSpPr>
            <p:spPr>
              <a:xfrm>
                <a:off x="9058" y="7096"/>
                <a:ext cx="761" cy="168"/>
              </a:xfrm>
              <a:custGeom>
                <a:avLst/>
                <a:gdLst/>
                <a:ahLst/>
                <a:cxnLst>
                  <a:cxn ang="0">
                    <a:pos x="0" y="96"/>
                  </a:cxn>
                  <a:cxn ang="0">
                    <a:pos x="416" y="14"/>
                  </a:cxn>
                  <a:cxn ang="0">
                    <a:pos x="971" y="1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38" name="Freeform 232"/>
              <p:cNvSpPr/>
              <p:nvPr/>
            </p:nvSpPr>
            <p:spPr>
              <a:xfrm>
                <a:off x="8934" y="7274"/>
                <a:ext cx="761" cy="168"/>
              </a:xfrm>
              <a:custGeom>
                <a:avLst/>
                <a:gdLst/>
                <a:ahLst/>
                <a:cxnLst>
                  <a:cxn ang="0">
                    <a:pos x="0" y="96"/>
                  </a:cxn>
                  <a:cxn ang="0">
                    <a:pos x="416" y="14"/>
                  </a:cxn>
                  <a:cxn ang="0">
                    <a:pos x="971" y="14"/>
                  </a:cxn>
                </a:cxnLst>
                <a:rect l="0" t="0" r="0" b="0"/>
                <a:pathLst>
                  <a:path w="735" h="182">
                    <a:moveTo>
                      <a:pt x="0" y="182"/>
                    </a:moveTo>
                    <a:cubicBezTo>
                      <a:pt x="96" y="117"/>
                      <a:pt x="193" y="52"/>
                      <a:pt x="315" y="26"/>
                    </a:cubicBezTo>
                    <a:cubicBezTo>
                      <a:pt x="437" y="0"/>
                      <a:pt x="586" y="13"/>
                      <a:pt x="735" y="26"/>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39" name="Line 233"/>
              <p:cNvSpPr/>
              <p:nvPr/>
            </p:nvSpPr>
            <p:spPr>
              <a:xfrm>
                <a:off x="8736" y="7430"/>
                <a:ext cx="275" cy="292"/>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nvGrpSpPr>
              <p:cNvPr id="87140" name="Group 234"/>
              <p:cNvGrpSpPr/>
              <p:nvPr/>
            </p:nvGrpSpPr>
            <p:grpSpPr>
              <a:xfrm>
                <a:off x="9545" y="6881"/>
                <a:ext cx="419" cy="597"/>
                <a:chOff x="7896" y="3686"/>
                <a:chExt cx="405" cy="648"/>
              </a:xfrm>
            </p:grpSpPr>
            <p:sp>
              <p:nvSpPr>
                <p:cNvPr id="87141" name="Line 235"/>
                <p:cNvSpPr>
                  <a:spLocks noChangeAspect="1"/>
                </p:cNvSpPr>
                <p:nvPr/>
              </p:nvSpPr>
              <p:spPr>
                <a:xfrm>
                  <a:off x="7896" y="3686"/>
                  <a:ext cx="315" cy="234"/>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42" name="Line 236"/>
                <p:cNvSpPr/>
                <p:nvPr/>
              </p:nvSpPr>
              <p:spPr>
                <a:xfrm>
                  <a:off x="7896" y="368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43" name="Line 237"/>
                <p:cNvSpPr/>
                <p:nvPr/>
              </p:nvSpPr>
              <p:spPr>
                <a:xfrm>
                  <a:off x="8196" y="3866"/>
                  <a:ext cx="105" cy="468"/>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44" name="Line 238"/>
              <p:cNvSpPr>
                <a:spLocks noChangeAspect="1"/>
              </p:cNvSpPr>
              <p:nvPr/>
            </p:nvSpPr>
            <p:spPr>
              <a:xfrm>
                <a:off x="9570" y="7264"/>
                <a:ext cx="327" cy="21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45" name="Line 239"/>
              <p:cNvSpPr>
                <a:spLocks noChangeAspect="1"/>
              </p:cNvSpPr>
              <p:nvPr/>
            </p:nvSpPr>
            <p:spPr>
              <a:xfrm>
                <a:off x="10279" y="6567"/>
                <a:ext cx="500" cy="299"/>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46" name="Freeform 240"/>
              <p:cNvSpPr/>
              <p:nvPr/>
            </p:nvSpPr>
            <p:spPr>
              <a:xfrm>
                <a:off x="10359" y="7967"/>
                <a:ext cx="979" cy="337"/>
              </a:xfrm>
              <a:custGeom>
                <a:avLst/>
                <a:gdLst/>
                <a:ahLst/>
                <a:cxnLst>
                  <a:cxn ang="0">
                    <a:pos x="0" y="337"/>
                  </a:cxn>
                  <a:cxn ang="0">
                    <a:pos x="464" y="186"/>
                  </a:cxn>
                  <a:cxn ang="0">
                    <a:pos x="979" y="0"/>
                  </a:cxn>
                </a:cxnLst>
                <a:rect l="0" t="0" r="0" b="0"/>
                <a:pathLst>
                  <a:path w="979" h="337">
                    <a:moveTo>
                      <a:pt x="0" y="337"/>
                    </a:moveTo>
                    <a:cubicBezTo>
                      <a:pt x="77" y="312"/>
                      <a:pt x="301" y="242"/>
                      <a:pt x="464" y="186"/>
                    </a:cubicBezTo>
                    <a:cubicBezTo>
                      <a:pt x="627" y="130"/>
                      <a:pt x="872" y="39"/>
                      <a:pt x="979" y="0"/>
                    </a:cubicBezTo>
                  </a:path>
                </a:pathLst>
              </a:custGeom>
              <a:noFill/>
              <a:ln w="9525" cap="flat" cmpd="sng">
                <a:solidFill>
                  <a:srgbClr val="414141"/>
                </a:solidFill>
                <a:prstDash val="solid"/>
                <a:round/>
                <a:headEnd type="none" w="med" len="med"/>
                <a:tailEnd type="none" w="med" len="med"/>
              </a:ln>
            </p:spPr>
            <p:txBody>
              <a:bodyPr/>
              <a:lstStyle/>
              <a:p>
                <a:endParaRPr lang="zh-CN" altLang="en-US"/>
              </a:p>
            </p:txBody>
          </p:sp>
          <p:sp>
            <p:nvSpPr>
              <p:cNvPr id="87147" name="Line 241"/>
              <p:cNvSpPr/>
              <p:nvPr/>
            </p:nvSpPr>
            <p:spPr>
              <a:xfrm flipV="1">
                <a:off x="7629" y="7500"/>
                <a:ext cx="525" cy="15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48" name="Line 242"/>
              <p:cNvSpPr/>
              <p:nvPr/>
            </p:nvSpPr>
            <p:spPr>
              <a:xfrm>
                <a:off x="9471" y="7118"/>
                <a:ext cx="66" cy="403"/>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49" name="Line 243"/>
              <p:cNvSpPr>
                <a:spLocks noChangeAspect="1"/>
              </p:cNvSpPr>
              <p:nvPr/>
            </p:nvSpPr>
            <p:spPr>
              <a:xfrm>
                <a:off x="9145" y="6902"/>
                <a:ext cx="326" cy="216"/>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sp>
            <p:nvSpPr>
              <p:cNvPr id="87150" name="Line 244"/>
              <p:cNvSpPr/>
              <p:nvPr/>
            </p:nvSpPr>
            <p:spPr>
              <a:xfrm>
                <a:off x="9196" y="7274"/>
                <a:ext cx="275" cy="292"/>
              </a:xfrm>
              <a:prstGeom prst="line">
                <a:avLst/>
              </a:prstGeom>
              <a:ln w="9525" cap="flat" cmpd="sng">
                <a:solidFill>
                  <a:srgbClr val="414141"/>
                </a:solidFill>
                <a:prstDash val="solid"/>
                <a:round/>
                <a:headEnd type="none" w="med" len="med"/>
                <a:tailEnd type="none" w="med" len="med"/>
              </a:ln>
            </p:spPr>
            <p:txBody>
              <a:bodyPr/>
              <a:lstStyle/>
              <a:p>
                <a:endParaRPr lang="zh-CN" altLang="en-US"/>
              </a:p>
            </p:txBody>
          </p:sp>
        </p:grpSp>
        <p:sp>
          <p:nvSpPr>
            <p:cNvPr id="87151" name="Text Box 245"/>
            <p:cNvSpPr txBox="1"/>
            <p:nvPr/>
          </p:nvSpPr>
          <p:spPr>
            <a:xfrm>
              <a:off x="3652" y="3521"/>
              <a:ext cx="1360" cy="212"/>
            </a:xfrm>
            <a:prstGeom prst="rect">
              <a:avLst/>
            </a:prstGeom>
            <a:noFill/>
            <a:ln w="9525">
              <a:noFill/>
            </a:ln>
          </p:spPr>
          <p:txBody>
            <a:bodyPr anchor="t" anchorCtr="0">
              <a:spAutoFit/>
            </a:bodyPr>
            <a:lstStyle/>
            <a:p>
              <a:pPr algn="ctr">
                <a:spcBef>
                  <a:spcPct val="0"/>
                </a:spcBef>
              </a:pPr>
              <a:r>
                <a:rPr lang="zh-CN" altLang="en-US" sz="1600" dirty="0">
                  <a:latin typeface="Times New Roman" panose="02020603050405020304" pitchFamily="18" charset="0"/>
                  <a:ea typeface="宋体" panose="02010600030101010101" pitchFamily="2" charset="-122"/>
                </a:rPr>
                <a:t>体积的剖分</a:t>
              </a:r>
              <a:endParaRPr lang="zh-CN" altLang="en-US" sz="1600" i="1" dirty="0">
                <a:latin typeface="Times New Roman" panose="02020603050405020304" pitchFamily="18" charset="0"/>
                <a:ea typeface="宋体" panose="02010600030101010101" pitchFamily="2" charset="-122"/>
              </a:endParaRPr>
            </a:p>
          </p:txBody>
        </p:sp>
        <p:sp>
          <p:nvSpPr>
            <p:cNvPr id="87152" name="Text Box 275"/>
            <p:cNvSpPr txBox="1"/>
            <p:nvPr/>
          </p:nvSpPr>
          <p:spPr>
            <a:xfrm>
              <a:off x="4060" y="2251"/>
              <a:ext cx="244" cy="288"/>
            </a:xfrm>
            <a:prstGeom prst="rect">
              <a:avLst/>
            </a:prstGeom>
            <a:noFill/>
            <a:ln w="9525">
              <a:noFill/>
            </a:ln>
          </p:spPr>
          <p:txBody>
            <a:bodyPr wrap="none" anchor="t" anchorCtr="0">
              <a:spAutoFit/>
            </a:bodyPr>
            <a:lstStyle/>
            <a:p>
              <a:pPr algn="ctr">
                <a:spcBef>
                  <a:spcPct val="0"/>
                </a:spcBef>
              </a:pPr>
              <a:r>
                <a:rPr lang="en-US" altLang="zh-CN" i="1" dirty="0">
                  <a:solidFill>
                    <a:srgbClr val="FFB7B7"/>
                  </a:solidFill>
                  <a:latin typeface="Times New Roman" panose="02020603050405020304" pitchFamily="18" charset="0"/>
                  <a:ea typeface="宋体" panose="02010600030101010101" pitchFamily="2" charset="-122"/>
                </a:rPr>
                <a:t>V</a:t>
              </a:r>
            </a:p>
          </p:txBody>
        </p:sp>
        <p:sp>
          <p:nvSpPr>
            <p:cNvPr id="87153" name="Oval 276"/>
            <p:cNvSpPr/>
            <p:nvPr/>
          </p:nvSpPr>
          <p:spPr>
            <a:xfrm>
              <a:off x="3561" y="2432"/>
              <a:ext cx="635" cy="590"/>
            </a:xfrm>
            <a:prstGeom prst="ellipse">
              <a:avLst/>
            </a:prstGeom>
            <a:noFill/>
            <a:ln w="9525" cap="flat" cmpd="sng">
              <a:solidFill>
                <a:srgbClr val="FF0000"/>
              </a:solidFill>
              <a:prstDash val="dash"/>
              <a:round/>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7154" name="Freeform 277"/>
            <p:cNvSpPr/>
            <p:nvPr/>
          </p:nvSpPr>
          <p:spPr>
            <a:xfrm>
              <a:off x="4196" y="2750"/>
              <a:ext cx="590" cy="227"/>
            </a:xfrm>
            <a:custGeom>
              <a:avLst/>
              <a:gdLst/>
              <a:ahLst/>
              <a:cxnLst>
                <a:cxn ang="0">
                  <a:pos x="0" y="3"/>
                </a:cxn>
                <a:cxn ang="0">
                  <a:pos x="24" y="3"/>
                </a:cxn>
                <a:cxn ang="0">
                  <a:pos x="42" y="21"/>
                </a:cxn>
              </a:cxnLst>
              <a:rect l="0" t="0" r="0" b="0"/>
              <a:pathLst>
                <a:path w="862" h="318">
                  <a:moveTo>
                    <a:pt x="0" y="45"/>
                  </a:moveTo>
                  <a:cubicBezTo>
                    <a:pt x="177" y="22"/>
                    <a:pt x="355" y="0"/>
                    <a:pt x="499" y="45"/>
                  </a:cubicBezTo>
                  <a:cubicBezTo>
                    <a:pt x="643" y="90"/>
                    <a:pt x="802" y="272"/>
                    <a:pt x="862" y="318"/>
                  </a:cubicBezTo>
                </a:path>
              </a:pathLst>
            </a:custGeom>
            <a:noFill/>
            <a:ln w="9525" cap="flat" cmpd="sng">
              <a:solidFill>
                <a:srgbClr val="FF0000"/>
              </a:solidFill>
              <a:prstDash val="dash"/>
              <a:round/>
              <a:headEnd type="none" w="med" len="med"/>
              <a:tailEnd type="triangle" w="med" len="med"/>
            </a:ln>
          </p:spPr>
          <p:txBody>
            <a:bodyPr/>
            <a:lstStyle/>
            <a:p>
              <a:endParaRPr lang="zh-CN" altLang="en-US"/>
            </a:p>
          </p:txBody>
        </p:sp>
        <p:sp>
          <p:nvSpPr>
            <p:cNvPr id="87155" name="Freeform 283"/>
            <p:cNvSpPr/>
            <p:nvPr/>
          </p:nvSpPr>
          <p:spPr>
            <a:xfrm>
              <a:off x="4922" y="2886"/>
              <a:ext cx="227" cy="544"/>
            </a:xfrm>
            <a:custGeom>
              <a:avLst/>
              <a:gdLst/>
              <a:ahLst/>
              <a:cxnLst>
                <a:cxn ang="0">
                  <a:pos x="0" y="544"/>
                </a:cxn>
                <a:cxn ang="0">
                  <a:pos x="0" y="181"/>
                </a:cxn>
                <a:cxn ang="0">
                  <a:pos x="227" y="0"/>
                </a:cxn>
                <a:cxn ang="0">
                  <a:pos x="227" y="317"/>
                </a:cxn>
                <a:cxn ang="0">
                  <a:pos x="0" y="544"/>
                </a:cxn>
              </a:cxnLst>
              <a:rect l="0" t="0" r="0" b="0"/>
              <a:pathLst>
                <a:path w="227" h="544">
                  <a:moveTo>
                    <a:pt x="0" y="544"/>
                  </a:moveTo>
                  <a:lnTo>
                    <a:pt x="0" y="181"/>
                  </a:lnTo>
                  <a:lnTo>
                    <a:pt x="227" y="0"/>
                  </a:lnTo>
                  <a:lnTo>
                    <a:pt x="227" y="317"/>
                  </a:lnTo>
                  <a:lnTo>
                    <a:pt x="0" y="544"/>
                  </a:lnTo>
                  <a:close/>
                </a:path>
              </a:pathLst>
            </a:custGeom>
            <a:solidFill>
              <a:srgbClr val="C0C0C0"/>
            </a:solidFill>
            <a:ln w="9525">
              <a:noFill/>
            </a:ln>
          </p:spPr>
          <p:txBody>
            <a:bodyPr/>
            <a:lstStyle/>
            <a:p>
              <a:endParaRPr lang="zh-CN" altLang="en-US"/>
            </a:p>
          </p:txBody>
        </p:sp>
        <p:sp>
          <p:nvSpPr>
            <p:cNvPr id="87156" name="Freeform 285"/>
            <p:cNvSpPr/>
            <p:nvPr/>
          </p:nvSpPr>
          <p:spPr>
            <a:xfrm rot="-477106">
              <a:off x="4765" y="2826"/>
              <a:ext cx="734" cy="146"/>
            </a:xfrm>
            <a:custGeom>
              <a:avLst/>
              <a:gdLst/>
              <a:ahLst/>
              <a:cxnLst>
                <a:cxn ang="0">
                  <a:pos x="0" y="0"/>
                </a:cxn>
                <a:cxn ang="0">
                  <a:pos x="1045" y="85"/>
                </a:cxn>
                <a:cxn ang="0">
                  <a:pos x="2093" y="265"/>
                </a:cxn>
              </a:cxnLst>
              <a:rect l="0" t="0" r="0" b="0"/>
              <a:pathLst>
                <a:path w="632" h="134">
                  <a:moveTo>
                    <a:pt x="0" y="0"/>
                  </a:moveTo>
                  <a:cubicBezTo>
                    <a:pt x="52" y="6"/>
                    <a:pt x="210" y="21"/>
                    <a:pt x="315" y="43"/>
                  </a:cubicBezTo>
                  <a:cubicBezTo>
                    <a:pt x="420" y="65"/>
                    <a:pt x="579" y="119"/>
                    <a:pt x="632" y="134"/>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87157" name="Freeform 286"/>
            <p:cNvSpPr/>
            <p:nvPr/>
          </p:nvSpPr>
          <p:spPr>
            <a:xfrm rot="-477106">
              <a:off x="4568" y="3020"/>
              <a:ext cx="716" cy="114"/>
            </a:xfrm>
            <a:custGeom>
              <a:avLst/>
              <a:gdLst/>
              <a:ahLst/>
              <a:cxnLst>
                <a:cxn ang="0">
                  <a:pos x="0" y="0"/>
                </a:cxn>
                <a:cxn ang="0">
                  <a:pos x="691" y="75"/>
                </a:cxn>
                <a:cxn ang="0">
                  <a:pos x="1394" y="190"/>
                </a:cxn>
              </a:cxnLst>
              <a:rect l="0" t="0" r="0" b="0"/>
              <a:pathLst>
                <a:path w="651" h="106">
                  <a:moveTo>
                    <a:pt x="0" y="0"/>
                  </a:moveTo>
                  <a:cubicBezTo>
                    <a:pt x="54" y="7"/>
                    <a:pt x="215" y="24"/>
                    <a:pt x="323" y="42"/>
                  </a:cubicBezTo>
                  <a:cubicBezTo>
                    <a:pt x="431" y="60"/>
                    <a:pt x="583" y="93"/>
                    <a:pt x="651" y="106"/>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87158" name="Freeform 287"/>
            <p:cNvSpPr/>
            <p:nvPr/>
          </p:nvSpPr>
          <p:spPr>
            <a:xfrm rot="-477106">
              <a:off x="4589" y="3398"/>
              <a:ext cx="649" cy="97"/>
            </a:xfrm>
            <a:custGeom>
              <a:avLst/>
              <a:gdLst/>
              <a:ahLst/>
              <a:cxnLst>
                <a:cxn ang="0">
                  <a:pos x="0" y="7"/>
                </a:cxn>
                <a:cxn ang="0">
                  <a:pos x="378" y="7"/>
                </a:cxn>
                <a:cxn ang="0">
                  <a:pos x="756" y="52"/>
                </a:cxn>
              </a:cxnLst>
              <a:rect l="0" t="0" r="0" b="0"/>
              <a:pathLst>
                <a:path w="635" h="106">
                  <a:moveTo>
                    <a:pt x="0" y="15"/>
                  </a:moveTo>
                  <a:cubicBezTo>
                    <a:pt x="106" y="7"/>
                    <a:pt x="212" y="0"/>
                    <a:pt x="318" y="15"/>
                  </a:cubicBezTo>
                  <a:cubicBezTo>
                    <a:pt x="424" y="30"/>
                    <a:pt x="582" y="91"/>
                    <a:pt x="635" y="106"/>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87159" name="Freeform 288"/>
            <p:cNvSpPr/>
            <p:nvPr/>
          </p:nvSpPr>
          <p:spPr>
            <a:xfrm rot="-477106">
              <a:off x="4770" y="3159"/>
              <a:ext cx="704" cy="135"/>
            </a:xfrm>
            <a:custGeom>
              <a:avLst/>
              <a:gdLst/>
              <a:ahLst/>
              <a:cxnLst>
                <a:cxn ang="0">
                  <a:pos x="0" y="0"/>
                </a:cxn>
                <a:cxn ang="0">
                  <a:pos x="692" y="63"/>
                </a:cxn>
                <a:cxn ang="0">
                  <a:pos x="1371" y="233"/>
                </a:cxn>
              </a:cxnLst>
              <a:rect l="0" t="0" r="0" b="0"/>
              <a:pathLst>
                <a:path w="640" h="125">
                  <a:moveTo>
                    <a:pt x="0" y="0"/>
                  </a:moveTo>
                  <a:cubicBezTo>
                    <a:pt x="54" y="7"/>
                    <a:pt x="216" y="13"/>
                    <a:pt x="323" y="34"/>
                  </a:cubicBezTo>
                  <a:cubicBezTo>
                    <a:pt x="430" y="55"/>
                    <a:pt x="587" y="110"/>
                    <a:pt x="640" y="125"/>
                  </a:cubicBezTo>
                </a:path>
              </a:pathLst>
            </a:custGeom>
            <a:noFill/>
            <a:ln w="9525" cap="flat" cmpd="sng">
              <a:solidFill>
                <a:schemeClr val="tx1"/>
              </a:solidFill>
              <a:prstDash val="dash"/>
              <a:round/>
              <a:headEnd type="none" w="med" len="med"/>
              <a:tailEnd type="none" w="med" len="med"/>
            </a:ln>
          </p:spPr>
          <p:txBody>
            <a:bodyPr/>
            <a:lstStyle/>
            <a:p>
              <a:endParaRPr lang="zh-CN" altLang="en-US"/>
            </a:p>
          </p:txBody>
        </p:sp>
        <p:sp>
          <p:nvSpPr>
            <p:cNvPr id="87160" name="Line 289"/>
            <p:cNvSpPr/>
            <p:nvPr/>
          </p:nvSpPr>
          <p:spPr>
            <a:xfrm rot="-477106" flipV="1">
              <a:off x="5281" y="2935"/>
              <a:ext cx="250" cy="14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87161" name="Line 290"/>
            <p:cNvSpPr/>
            <p:nvPr/>
          </p:nvSpPr>
          <p:spPr>
            <a:xfrm rot="-477106" flipV="1">
              <a:off x="5229" y="3270"/>
              <a:ext cx="262" cy="163"/>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87162" name="Line 291"/>
            <p:cNvSpPr/>
            <p:nvPr/>
          </p:nvSpPr>
          <p:spPr>
            <a:xfrm rot="-477106" flipH="1">
              <a:off x="5218" y="3103"/>
              <a:ext cx="99" cy="342"/>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87163" name="Line 292"/>
            <p:cNvSpPr/>
            <p:nvPr/>
          </p:nvSpPr>
          <p:spPr>
            <a:xfrm rot="-477106" flipH="1">
              <a:off x="5456" y="2923"/>
              <a:ext cx="87" cy="326"/>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87164" name="Line 294"/>
            <p:cNvSpPr/>
            <p:nvPr/>
          </p:nvSpPr>
          <p:spPr>
            <a:xfrm rot="-477106" flipV="1">
              <a:off x="4910" y="2887"/>
              <a:ext cx="262" cy="163"/>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87165" name="Line 295"/>
            <p:cNvSpPr/>
            <p:nvPr/>
          </p:nvSpPr>
          <p:spPr>
            <a:xfrm rot="-477106" flipV="1">
              <a:off x="4920" y="3219"/>
              <a:ext cx="234" cy="189"/>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87166" name="Line 296"/>
            <p:cNvSpPr/>
            <p:nvPr/>
          </p:nvSpPr>
          <p:spPr>
            <a:xfrm rot="-477106" flipH="1">
              <a:off x="4901" y="3068"/>
              <a:ext cx="36" cy="326"/>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87167" name="Line 297"/>
            <p:cNvSpPr/>
            <p:nvPr/>
          </p:nvSpPr>
          <p:spPr>
            <a:xfrm rot="-477106" flipH="1">
              <a:off x="5121" y="2871"/>
              <a:ext cx="57" cy="329"/>
            </a:xfrm>
            <a:prstGeom prst="line">
              <a:avLst/>
            </a:prstGeom>
            <a:ln w="9525" cap="flat" cmpd="sng">
              <a:solidFill>
                <a:schemeClr val="tx1"/>
              </a:solidFill>
              <a:prstDash val="dash"/>
              <a:round/>
              <a:headEnd type="none" w="med" len="med"/>
              <a:tailEnd type="none" w="med" len="med"/>
            </a:ln>
          </p:spPr>
          <p:txBody>
            <a:bodyPr/>
            <a:lstStyle/>
            <a:p>
              <a:endParaRPr lang="zh-CN" altLang="en-US"/>
            </a:p>
          </p:txBody>
        </p:sp>
        <p:sp>
          <p:nvSpPr>
            <p:cNvPr id="87168" name="Line 298"/>
            <p:cNvSpPr/>
            <p:nvPr/>
          </p:nvSpPr>
          <p:spPr>
            <a:xfrm rot="-477106" flipV="1">
              <a:off x="4558" y="2891"/>
              <a:ext cx="213" cy="163"/>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87169" name="Line 299"/>
            <p:cNvSpPr/>
            <p:nvPr/>
          </p:nvSpPr>
          <p:spPr>
            <a:xfrm rot="-477106" flipV="1">
              <a:off x="4572" y="3219"/>
              <a:ext cx="212" cy="235"/>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87170" name="Line 300"/>
            <p:cNvSpPr/>
            <p:nvPr/>
          </p:nvSpPr>
          <p:spPr>
            <a:xfrm rot="-477106" flipH="1">
              <a:off x="4560" y="3069"/>
              <a:ext cx="37" cy="374"/>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87171" name="Line 301"/>
            <p:cNvSpPr/>
            <p:nvPr/>
          </p:nvSpPr>
          <p:spPr>
            <a:xfrm rot="-477106" flipH="1">
              <a:off x="4731" y="2879"/>
              <a:ext cx="51" cy="326"/>
            </a:xfrm>
            <a:prstGeom prst="line">
              <a:avLst/>
            </a:prstGeom>
            <a:ln w="9525" cap="flat" cmpd="sng">
              <a:solidFill>
                <a:schemeClr val="tx1"/>
              </a:solidFill>
              <a:prstDash val="dash"/>
              <a:round/>
              <a:headEnd type="none" w="med" len="med"/>
              <a:tailEnd type="none" w="med" len="med"/>
            </a:ln>
          </p:spPr>
          <p:txBody>
            <a:bodyPr/>
            <a:lstStyle/>
            <a:p>
              <a:endParaRPr lang="zh-CN" altLang="en-US"/>
            </a:p>
          </p:txBody>
        </p:sp>
        <p:sp>
          <p:nvSpPr>
            <p:cNvPr id="87172" name="Text Box 302"/>
            <p:cNvSpPr txBox="1"/>
            <p:nvPr/>
          </p:nvSpPr>
          <p:spPr>
            <a:xfrm>
              <a:off x="4823" y="2614"/>
              <a:ext cx="244" cy="231"/>
            </a:xfrm>
            <a:prstGeom prst="rect">
              <a:avLst/>
            </a:prstGeom>
            <a:noFill/>
            <a:ln w="9525">
              <a:noFill/>
            </a:ln>
          </p:spPr>
          <p:txBody>
            <a:bodyPr wrap="none" anchor="t" anchorCtr="0">
              <a:spAutoFit/>
            </a:bodyPr>
            <a:lstStyle/>
            <a:p>
              <a:pPr algn="ctr">
                <a:spcBef>
                  <a:spcPct val="0"/>
                </a:spcBef>
              </a:pPr>
              <a:r>
                <a:rPr lang="en-US" altLang="zh-CN" sz="1800" dirty="0">
                  <a:latin typeface="Times New Roman" panose="02020603050405020304" pitchFamily="18" charset="0"/>
                  <a:ea typeface="宋体" panose="02010600030101010101" pitchFamily="2" charset="-122"/>
                </a:rPr>
                <a:t>S</a:t>
              </a:r>
              <a:r>
                <a:rPr lang="en-US" altLang="zh-CN" sz="1800" baseline="-25000" dirty="0">
                  <a:latin typeface="Times New Roman" panose="02020603050405020304" pitchFamily="18" charset="0"/>
                  <a:ea typeface="宋体" panose="02010600030101010101" pitchFamily="2" charset="-122"/>
                </a:rPr>
                <a:t>1</a:t>
              </a:r>
            </a:p>
          </p:txBody>
        </p:sp>
        <p:sp>
          <p:nvSpPr>
            <p:cNvPr id="87173" name="Text Box 303"/>
            <p:cNvSpPr txBox="1"/>
            <p:nvPr/>
          </p:nvSpPr>
          <p:spPr>
            <a:xfrm>
              <a:off x="5276" y="2659"/>
              <a:ext cx="244" cy="231"/>
            </a:xfrm>
            <a:prstGeom prst="rect">
              <a:avLst/>
            </a:prstGeom>
            <a:noFill/>
            <a:ln w="9525">
              <a:noFill/>
            </a:ln>
          </p:spPr>
          <p:txBody>
            <a:bodyPr wrap="none" anchor="t" anchorCtr="0">
              <a:spAutoFit/>
            </a:bodyPr>
            <a:lstStyle/>
            <a:p>
              <a:pPr algn="ctr">
                <a:spcBef>
                  <a:spcPct val="0"/>
                </a:spcBef>
              </a:pPr>
              <a:r>
                <a:rPr lang="en-US" altLang="zh-CN" sz="1800" dirty="0">
                  <a:latin typeface="Times New Roman" panose="02020603050405020304" pitchFamily="18" charset="0"/>
                  <a:ea typeface="宋体" panose="02010600030101010101" pitchFamily="2" charset="-122"/>
                </a:rPr>
                <a:t>S</a:t>
              </a:r>
              <a:r>
                <a:rPr lang="en-US" altLang="zh-CN" sz="1800" baseline="-25000" dirty="0">
                  <a:latin typeface="Times New Roman" panose="02020603050405020304" pitchFamily="18" charset="0"/>
                  <a:ea typeface="宋体" panose="02010600030101010101" pitchFamily="2" charset="-122"/>
                </a:rPr>
                <a:t>2</a:t>
              </a:r>
            </a:p>
          </p:txBody>
        </p:sp>
        <p:sp>
          <p:nvSpPr>
            <p:cNvPr id="87174" name="Line 304"/>
            <p:cNvSpPr/>
            <p:nvPr/>
          </p:nvSpPr>
          <p:spPr>
            <a:xfrm>
              <a:off x="5034" y="3142"/>
              <a:ext cx="182" cy="0"/>
            </a:xfrm>
            <a:prstGeom prst="line">
              <a:avLst/>
            </a:prstGeom>
            <a:ln w="15875" cap="flat" cmpd="sng">
              <a:solidFill>
                <a:srgbClr val="0000FF"/>
              </a:solidFill>
              <a:prstDash val="solid"/>
              <a:round/>
              <a:headEnd type="none" w="med" len="med"/>
              <a:tailEnd type="triangle" w="med" len="med"/>
            </a:ln>
          </p:spPr>
          <p:txBody>
            <a:bodyPr/>
            <a:lstStyle/>
            <a:p>
              <a:endParaRPr lang="zh-CN" altLang="en-US"/>
            </a:p>
          </p:txBody>
        </p:sp>
        <p:sp>
          <p:nvSpPr>
            <p:cNvPr id="87175" name="Line 305"/>
            <p:cNvSpPr/>
            <p:nvPr/>
          </p:nvSpPr>
          <p:spPr>
            <a:xfrm flipH="1">
              <a:off x="4814" y="3150"/>
              <a:ext cx="182" cy="0"/>
            </a:xfrm>
            <a:prstGeom prst="line">
              <a:avLst/>
            </a:prstGeom>
            <a:ln w="15875" cap="flat" cmpd="sng">
              <a:solidFill>
                <a:srgbClr val="0000FF"/>
              </a:solidFill>
              <a:prstDash val="solid"/>
              <a:round/>
              <a:headEnd type="none" w="med" len="med"/>
              <a:tailEnd type="triangle" w="med" len="med"/>
            </a:ln>
          </p:spPr>
          <p:txBody>
            <a:bodyPr/>
            <a:lstStyle/>
            <a:p>
              <a:endParaRPr lang="zh-CN" altLang="en-US"/>
            </a:p>
          </p:txBody>
        </p:sp>
        <p:sp>
          <p:nvSpPr>
            <p:cNvPr id="87176" name="Text Box 306"/>
            <p:cNvSpPr txBox="1"/>
            <p:nvPr/>
          </p:nvSpPr>
          <p:spPr>
            <a:xfrm>
              <a:off x="4604" y="3052"/>
              <a:ext cx="302" cy="288"/>
            </a:xfrm>
            <a:prstGeom prst="rect">
              <a:avLst/>
            </a:prstGeom>
            <a:noFill/>
            <a:ln w="9525">
              <a:noFill/>
            </a:ln>
          </p:spPr>
          <p:txBody>
            <a:bodyPr wrap="none" anchor="t" anchorCtr="0">
              <a:spAutoFit/>
            </a:bodyPr>
            <a:lstStyle/>
            <a:p>
              <a:pPr algn="ctr">
                <a:spcBef>
                  <a:spcPct val="0"/>
                </a:spcBef>
              </a:pPr>
              <a:r>
                <a:rPr lang="en-US" altLang="zh-CN" i="1" dirty="0">
                  <a:solidFill>
                    <a:srgbClr val="3333FF"/>
                  </a:solidFill>
                  <a:latin typeface="Times New Roman" panose="02020603050405020304" pitchFamily="18" charset="0"/>
                  <a:ea typeface="宋体" panose="02010600030101010101" pitchFamily="2" charset="-122"/>
                </a:rPr>
                <a:t>e</a:t>
              </a:r>
              <a:r>
                <a:rPr lang="en-US" altLang="zh-CN" sz="1800" baseline="-25000" dirty="0">
                  <a:solidFill>
                    <a:srgbClr val="3333FF"/>
                  </a:solidFill>
                  <a:latin typeface="Times New Roman" panose="02020603050405020304" pitchFamily="18" charset="0"/>
                  <a:ea typeface="宋体" panose="02010600030101010101" pitchFamily="2" charset="-122"/>
                </a:rPr>
                <a:t>n2</a:t>
              </a:r>
            </a:p>
          </p:txBody>
        </p:sp>
        <p:sp>
          <p:nvSpPr>
            <p:cNvPr id="87177" name="Text Box 307"/>
            <p:cNvSpPr txBox="1"/>
            <p:nvPr/>
          </p:nvSpPr>
          <p:spPr>
            <a:xfrm>
              <a:off x="5119" y="3067"/>
              <a:ext cx="302" cy="288"/>
            </a:xfrm>
            <a:prstGeom prst="rect">
              <a:avLst/>
            </a:prstGeom>
            <a:noFill/>
            <a:ln w="9525">
              <a:noFill/>
            </a:ln>
          </p:spPr>
          <p:txBody>
            <a:bodyPr wrap="none" anchor="t" anchorCtr="0">
              <a:spAutoFit/>
            </a:bodyPr>
            <a:lstStyle/>
            <a:p>
              <a:pPr algn="ctr">
                <a:spcBef>
                  <a:spcPct val="0"/>
                </a:spcBef>
              </a:pPr>
              <a:r>
                <a:rPr lang="en-US" altLang="zh-CN" i="1" dirty="0">
                  <a:solidFill>
                    <a:srgbClr val="3333FF"/>
                  </a:solidFill>
                  <a:latin typeface="Times New Roman" panose="02020603050405020304" pitchFamily="18" charset="0"/>
                  <a:ea typeface="宋体" panose="02010600030101010101" pitchFamily="2" charset="-122"/>
                </a:rPr>
                <a:t>e</a:t>
              </a:r>
              <a:r>
                <a:rPr lang="en-US" altLang="zh-CN" sz="1800" baseline="-25000" dirty="0">
                  <a:solidFill>
                    <a:srgbClr val="3333FF"/>
                  </a:solidFill>
                  <a:latin typeface="Times New Roman" panose="02020603050405020304" pitchFamily="18" charset="0"/>
                  <a:ea typeface="宋体" panose="02010600030101010101" pitchFamily="2" charset="-122"/>
                </a:rPr>
                <a:t>n1</a:t>
              </a:r>
            </a:p>
          </p:txBody>
        </p:sp>
        <p:sp>
          <p:nvSpPr>
            <p:cNvPr id="87178" name="Text Box 308"/>
            <p:cNvSpPr txBox="1"/>
            <p:nvPr/>
          </p:nvSpPr>
          <p:spPr>
            <a:xfrm>
              <a:off x="4468" y="2296"/>
              <a:ext cx="223" cy="288"/>
            </a:xfrm>
            <a:prstGeom prst="rect">
              <a:avLst/>
            </a:prstGeom>
            <a:noFill/>
            <a:ln w="9525">
              <a:noFill/>
            </a:ln>
          </p:spPr>
          <p:txBody>
            <a:bodyPr wrap="none" anchor="t" anchorCtr="0">
              <a:spAutoFit/>
            </a:bodyPr>
            <a:lstStyle/>
            <a:p>
              <a:pPr algn="ctr">
                <a:spcBef>
                  <a:spcPct val="0"/>
                </a:spcBef>
              </a:pPr>
              <a:r>
                <a:rPr lang="en-US" altLang="zh-CN" i="1" dirty="0">
                  <a:latin typeface="Times New Roman" panose="02020603050405020304" pitchFamily="18" charset="0"/>
                  <a:ea typeface="宋体" panose="02010600030101010101" pitchFamily="2" charset="-122"/>
                </a:rPr>
                <a:t>S</a:t>
              </a:r>
            </a:p>
          </p:txBody>
        </p:sp>
      </p:grpSp>
      <p:sp>
        <p:nvSpPr>
          <p:cNvPr id="219449" name="Text Box 313"/>
          <p:cNvSpPr txBox="1"/>
          <p:nvPr/>
        </p:nvSpPr>
        <p:spPr>
          <a:xfrm>
            <a:off x="142875" y="1273175"/>
            <a:ext cx="4068763" cy="2647950"/>
          </a:xfrm>
          <a:prstGeom prst="rect">
            <a:avLst/>
          </a:prstGeom>
          <a:noFill/>
          <a:ln w="9525">
            <a:noFill/>
          </a:ln>
        </p:spPr>
        <p:txBody>
          <a:bodyPr anchor="t" anchorCtr="0">
            <a:spAutoFit/>
          </a:bodyPr>
          <a:lstStyle/>
          <a:p>
            <a:pPr>
              <a:lnSpc>
                <a:spcPct val="140000"/>
              </a:lnSpc>
              <a:spcBef>
                <a:spcPct val="0"/>
              </a:spcBef>
            </a:pPr>
            <a:r>
              <a:rPr lang="en-US" altLang="zh-CN" dirty="0">
                <a:solidFill>
                  <a:schemeClr val="bg1"/>
                </a:solidFill>
                <a:latin typeface="Arial" panose="020B0604020202020204" pitchFamily="34" charset="0"/>
                <a:ea typeface="楷体_GB2312" pitchFamily="49" charset="-122"/>
              </a:rPr>
              <a:t>       </a:t>
            </a:r>
            <a:r>
              <a:rPr lang="zh-CN" altLang="en-US" dirty="0">
                <a:solidFill>
                  <a:schemeClr val="bg1"/>
                </a:solidFill>
                <a:latin typeface="Arial" panose="020B0604020202020204" pitchFamily="34" charset="0"/>
                <a:ea typeface="楷体_GB2312" pitchFamily="49" charset="-122"/>
              </a:rPr>
              <a:t>从散度的定义出发，可以得到矢量场在空间任意闭合曲面的通量等于该闭合曲面所包含体积中矢量场的散度的体积分，即</a:t>
            </a:r>
          </a:p>
        </p:txBody>
      </p:sp>
      <p:sp>
        <p:nvSpPr>
          <p:cNvPr id="219450" name="Text Box 314"/>
          <p:cNvSpPr txBox="1"/>
          <p:nvPr/>
        </p:nvSpPr>
        <p:spPr>
          <a:xfrm>
            <a:off x="245121" y="5510213"/>
            <a:ext cx="8640762" cy="1041400"/>
          </a:xfrm>
          <a:prstGeom prst="rect">
            <a:avLst/>
          </a:prstGeom>
          <a:noFill/>
          <a:ln w="9525">
            <a:noFill/>
          </a:ln>
        </p:spPr>
        <p:txBody>
          <a:bodyPr anchor="t" anchorCtr="0">
            <a:spAutoFit/>
          </a:bodyPr>
          <a:lstStyle/>
          <a:p>
            <a:pPr>
              <a:lnSpc>
                <a:spcPct val="130000"/>
              </a:lnSpc>
              <a:spcBef>
                <a:spcPct val="0"/>
              </a:spcBef>
            </a:pPr>
            <a:r>
              <a:rPr lang="en-US" altLang="zh-CN" dirty="0">
                <a:solidFill>
                  <a:schemeClr val="bg1"/>
                </a:solidFill>
                <a:latin typeface="Arial" panose="020B0604020202020204" pitchFamily="34" charset="0"/>
                <a:ea typeface="楷体_GB2312" pitchFamily="49" charset="-122"/>
              </a:rPr>
              <a:t>       </a:t>
            </a:r>
            <a:r>
              <a:rPr lang="zh-CN" altLang="en-US" dirty="0">
                <a:solidFill>
                  <a:schemeClr val="bg1"/>
                </a:solidFill>
                <a:latin typeface="Arial" panose="020B0604020202020204" pitchFamily="34" charset="0"/>
                <a:ea typeface="楷体_GB2312" pitchFamily="49" charset="-122"/>
              </a:rPr>
              <a:t>散度定理是闭合曲面积分与体积分之间的一个变换关系，在电磁理论中有着广泛的应用。</a:t>
            </a:r>
          </a:p>
        </p:txBody>
      </p:sp>
      <p:sp>
        <p:nvSpPr>
          <p:cNvPr id="87181" name="AutoShape 317">
            <a:hlinkClick r:id="rId5"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7182" name="AutoShape 318">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7183" name="AutoShape 319">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87184" name="AutoShape 320">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19457" name="Rectangle 321"/>
          <p:cNvSpPr/>
          <p:nvPr/>
        </p:nvSpPr>
        <p:spPr>
          <a:xfrm>
            <a:off x="4015581" y="4841083"/>
            <a:ext cx="4537075" cy="503238"/>
          </a:xfrm>
          <a:prstGeom prst="rect">
            <a:avLst/>
          </a:prstGeom>
          <a:noFill/>
          <a:ln w="9525">
            <a:noFill/>
          </a:ln>
        </p:spPr>
        <p:txBody>
          <a:bodyPr anchor="t" anchorCtr="0"/>
          <a:lstStyle/>
          <a:p>
            <a:pPr marL="342900" indent="-342900"/>
            <a:r>
              <a:rPr lang="zh-CN" altLang="en-US" sz="2000" b="0" dirty="0">
                <a:solidFill>
                  <a:srgbClr val="FF9933"/>
                </a:solidFill>
                <a:latin typeface="Times New Roman" panose="02020603050405020304" pitchFamily="18" charset="0"/>
                <a:ea typeface="宋体" panose="02010600030101010101" pitchFamily="2" charset="-122"/>
              </a:rPr>
              <a:t>（可以对要解决的问题进行</a:t>
            </a:r>
            <a:r>
              <a:rPr lang="zh-CN" altLang="en-US" sz="2000" dirty="0">
                <a:solidFill>
                  <a:srgbClr val="FF9933"/>
                </a:solidFill>
                <a:latin typeface="Times New Roman" panose="02020603050405020304" pitchFamily="18" charset="0"/>
                <a:ea typeface="宋体" panose="02010600030101010101" pitchFamily="2" charset="-122"/>
              </a:rPr>
              <a:t>降维处理</a:t>
            </a:r>
            <a:r>
              <a:rPr lang="zh-CN" altLang="en-US" sz="2000" b="0" dirty="0">
                <a:solidFill>
                  <a:srgbClr val="FF9933"/>
                </a:solidFill>
                <a:latin typeface="Times New Roman" panose="02020603050405020304" pitchFamily="18" charset="0"/>
                <a:ea typeface="宋体" panose="02010600030101010101" pitchFamily="2" charset="-122"/>
              </a:rPr>
              <a:t>）</a:t>
            </a:r>
          </a:p>
        </p:txBody>
      </p:sp>
      <p:sp>
        <p:nvSpPr>
          <p:cNvPr id="87186" name="Rectangle 324"/>
          <p:cNvSpPr/>
          <p:nvPr/>
        </p:nvSpPr>
        <p:spPr>
          <a:xfrm>
            <a:off x="0" y="3789363"/>
            <a:ext cx="9144000" cy="0"/>
          </a:xfrm>
          <a:prstGeom prst="rect">
            <a:avLst/>
          </a:prstGeom>
          <a:noFill/>
          <a:ln w="9525">
            <a:noFill/>
          </a:ln>
        </p:spPr>
        <p:txBody>
          <a:bodyPr wrap="none" anchor="ctr" anchorCtr="0">
            <a:spAutoFit/>
          </a:bodyPr>
          <a:lstStyle/>
          <a:p>
            <a:pPr algn="ctr"/>
            <a:endParaRPr lang="zh-CN" altLang="en-US" b="0" dirty="0">
              <a:latin typeface="Arial" panose="020B0604020202020204" pitchFamily="34" charset="0"/>
              <a:ea typeface="楷体_GB2312" pitchFamily="49" charset="-122"/>
            </a:endParaRPr>
          </a:p>
        </p:txBody>
      </p:sp>
      <p:sp>
        <p:nvSpPr>
          <p:cNvPr id="3" name="Text Box 314">
            <a:extLst>
              <a:ext uri="{FF2B5EF4-FFF2-40B4-BE49-F238E27FC236}">
                <a16:creationId xmlns:a16="http://schemas.microsoft.com/office/drawing/2014/main" id="{26B7772E-CBCC-5AC3-4FE8-F7B3269E2479}"/>
              </a:ext>
            </a:extLst>
          </p:cNvPr>
          <p:cNvSpPr txBox="1"/>
          <p:nvPr/>
        </p:nvSpPr>
        <p:spPr>
          <a:xfrm>
            <a:off x="-487337" y="4938468"/>
            <a:ext cx="8640762" cy="522451"/>
          </a:xfrm>
          <a:prstGeom prst="rect">
            <a:avLst/>
          </a:prstGeom>
          <a:noFill/>
          <a:ln w="9525">
            <a:noFill/>
          </a:ln>
        </p:spPr>
        <p:txBody>
          <a:bodyPr anchor="t" anchorCtr="0">
            <a:spAutoFit/>
          </a:bodyPr>
          <a:lstStyle/>
          <a:p>
            <a:pPr>
              <a:lnSpc>
                <a:spcPct val="130000"/>
              </a:lnSpc>
              <a:spcBef>
                <a:spcPct val="0"/>
              </a:spcBef>
            </a:pPr>
            <a:r>
              <a:rPr lang="en-US" altLang="zh-CN" dirty="0">
                <a:solidFill>
                  <a:schemeClr val="bg1"/>
                </a:solidFill>
                <a:latin typeface="Arial" panose="020B0604020202020204" pitchFamily="34" charset="0"/>
                <a:ea typeface="楷体_GB2312" pitchFamily="49" charset="-122"/>
              </a:rPr>
              <a:t>       </a:t>
            </a:r>
            <a:r>
              <a:rPr lang="zh-CN" altLang="en-US" dirty="0">
                <a:solidFill>
                  <a:schemeClr val="bg1"/>
                </a:solidFill>
                <a:latin typeface="Arial" panose="020B0604020202020204" pitchFamily="34" charset="0"/>
                <a:ea typeface="楷体_GB2312" pitchFamily="49" charset="-122"/>
              </a:rPr>
              <a:t>可得，</a:t>
            </a:r>
          </a:p>
        </p:txBody>
      </p:sp>
      <p:pic>
        <p:nvPicPr>
          <p:cNvPr id="4" name="图片 3">
            <a:extLst>
              <a:ext uri="{FF2B5EF4-FFF2-40B4-BE49-F238E27FC236}">
                <a16:creationId xmlns:a16="http://schemas.microsoft.com/office/drawing/2014/main" id="{8A787AB5-3DA8-B42F-6B34-018A970B19B6}"/>
              </a:ext>
            </a:extLst>
          </p:cNvPr>
          <p:cNvPicPr>
            <a:picLocks noChangeAspect="1"/>
          </p:cNvPicPr>
          <p:nvPr/>
        </p:nvPicPr>
        <p:blipFill>
          <a:blip r:embed="rId6"/>
          <a:stretch>
            <a:fillRect/>
          </a:stretch>
        </p:blipFill>
        <p:spPr>
          <a:xfrm>
            <a:off x="467544" y="3781344"/>
            <a:ext cx="5336728" cy="9915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60" name="Text Box 4"/>
          <p:cNvSpPr txBox="1"/>
          <p:nvPr/>
        </p:nvSpPr>
        <p:spPr>
          <a:xfrm>
            <a:off x="900113" y="1196975"/>
            <a:ext cx="7402512" cy="4113213"/>
          </a:xfrm>
          <a:prstGeom prst="rect">
            <a:avLst/>
          </a:prstGeom>
          <a:noFill/>
          <a:ln w="9525">
            <a:noFill/>
          </a:ln>
        </p:spPr>
        <p:txBody>
          <a:bodyPr anchor="t" anchorCtr="0">
            <a:spAutoFit/>
          </a:bodyPr>
          <a:lstStyle/>
          <a:p>
            <a:pPr>
              <a:lnSpc>
                <a:spcPct val="150000"/>
              </a:lnSpc>
              <a:spcBef>
                <a:spcPct val="0"/>
              </a:spcBef>
            </a:pPr>
            <a:r>
              <a:rPr lang="zh-CN" altLang="en-US" dirty="0">
                <a:solidFill>
                  <a:schemeClr val="bg1"/>
                </a:solidFill>
                <a:latin typeface="楷体_GB2312" pitchFamily="49" charset="-122"/>
                <a:ea typeface="楷体_GB2312" pitchFamily="49" charset="-122"/>
              </a:rPr>
              <a:t>从</a:t>
            </a:r>
            <a:r>
              <a:rPr lang="zh-CN" altLang="en-US" sz="2800" dirty="0">
                <a:solidFill>
                  <a:srgbClr val="FF9933"/>
                </a:solidFill>
                <a:latin typeface="楷体_GB2312" pitchFamily="49" charset="-122"/>
                <a:ea typeface="楷体_GB2312" pitchFamily="49" charset="-122"/>
              </a:rPr>
              <a:t>数学</a:t>
            </a:r>
            <a:r>
              <a:rPr lang="zh-CN" altLang="en-US" dirty="0">
                <a:solidFill>
                  <a:schemeClr val="bg1"/>
                </a:solidFill>
                <a:latin typeface="楷体_GB2312" pitchFamily="49" charset="-122"/>
                <a:ea typeface="楷体_GB2312" pitchFamily="49" charset="-122"/>
              </a:rPr>
              <a:t>角度：可以认为散度定理建立了面积分和体积分的关系。 </a:t>
            </a:r>
          </a:p>
          <a:p>
            <a:pPr>
              <a:lnSpc>
                <a:spcPct val="150000"/>
              </a:lnSpc>
              <a:spcBef>
                <a:spcPct val="0"/>
              </a:spcBef>
            </a:pPr>
            <a:endParaRPr lang="zh-CN" altLang="en-US" dirty="0">
              <a:solidFill>
                <a:schemeClr val="bg1"/>
              </a:solidFill>
              <a:latin typeface="楷体_GB2312" pitchFamily="49" charset="-122"/>
              <a:ea typeface="楷体_GB2312" pitchFamily="49" charset="-122"/>
            </a:endParaRPr>
          </a:p>
          <a:p>
            <a:pPr>
              <a:lnSpc>
                <a:spcPct val="150000"/>
              </a:lnSpc>
              <a:spcBef>
                <a:spcPct val="0"/>
              </a:spcBef>
            </a:pPr>
            <a:r>
              <a:rPr lang="zh-CN" altLang="en-US" dirty="0">
                <a:solidFill>
                  <a:schemeClr val="bg1"/>
                </a:solidFill>
                <a:latin typeface="楷体_GB2312" pitchFamily="49" charset="-122"/>
                <a:ea typeface="楷体_GB2312" pitchFamily="49" charset="-122"/>
              </a:rPr>
              <a:t>从</a:t>
            </a:r>
            <a:r>
              <a:rPr lang="zh-CN" altLang="en-US" sz="2800" dirty="0">
                <a:solidFill>
                  <a:srgbClr val="FF9933"/>
                </a:solidFill>
                <a:latin typeface="楷体_GB2312" pitchFamily="49" charset="-122"/>
                <a:ea typeface="楷体_GB2312" pitchFamily="49" charset="-122"/>
              </a:rPr>
              <a:t>物理</a:t>
            </a:r>
            <a:r>
              <a:rPr lang="zh-CN" altLang="en-US" dirty="0">
                <a:solidFill>
                  <a:schemeClr val="bg1"/>
                </a:solidFill>
                <a:latin typeface="楷体_GB2312" pitchFamily="49" charset="-122"/>
                <a:ea typeface="楷体_GB2312" pitchFamily="49" charset="-122"/>
              </a:rPr>
              <a:t>角度：可以理解为散度定理建立了</a:t>
            </a:r>
            <a:r>
              <a:rPr lang="zh-CN" altLang="en-US" dirty="0">
                <a:solidFill>
                  <a:srgbClr val="FF0000"/>
                </a:solidFill>
                <a:latin typeface="楷体_GB2312" pitchFamily="49" charset="-122"/>
                <a:ea typeface="楷体_GB2312" pitchFamily="49" charset="-122"/>
              </a:rPr>
              <a:t>区域 </a:t>
            </a:r>
            <a:r>
              <a:rPr lang="en-US" altLang="zh-CN" b="0" i="1" dirty="0">
                <a:solidFill>
                  <a:srgbClr val="FF0000"/>
                </a:solidFill>
                <a:latin typeface="Times New Roman" panose="02020603050405020304" pitchFamily="18" charset="0"/>
                <a:ea typeface="楷体_GB2312" pitchFamily="49" charset="-122"/>
              </a:rPr>
              <a:t>V </a:t>
            </a:r>
            <a:r>
              <a:rPr lang="zh-CN" altLang="en-US" dirty="0">
                <a:solidFill>
                  <a:srgbClr val="FF0000"/>
                </a:solidFill>
                <a:latin typeface="Times New Roman" panose="02020603050405020304" pitchFamily="18" charset="0"/>
                <a:ea typeface="楷体_GB2312" pitchFamily="49" charset="-122"/>
              </a:rPr>
              <a:t>中的场</a:t>
            </a:r>
            <a:r>
              <a:rPr lang="zh-CN" altLang="en-US" dirty="0">
                <a:solidFill>
                  <a:schemeClr val="bg1"/>
                </a:solidFill>
                <a:latin typeface="Times New Roman" panose="02020603050405020304" pitchFamily="18" charset="0"/>
                <a:ea typeface="楷体_GB2312" pitchFamily="49" charset="-122"/>
              </a:rPr>
              <a:t>和</a:t>
            </a:r>
            <a:r>
              <a:rPr lang="zh-CN" altLang="en-US" dirty="0">
                <a:solidFill>
                  <a:srgbClr val="FF0000"/>
                </a:solidFill>
                <a:latin typeface="Times New Roman" panose="02020603050405020304" pitchFamily="18" charset="0"/>
                <a:ea typeface="楷体_GB2312" pitchFamily="49" charset="-122"/>
              </a:rPr>
              <a:t>包围区域 </a:t>
            </a:r>
            <a:r>
              <a:rPr lang="en-US" altLang="zh-CN" b="0" i="1" dirty="0">
                <a:solidFill>
                  <a:srgbClr val="FF0000"/>
                </a:solidFill>
                <a:latin typeface="Times New Roman" panose="02020603050405020304" pitchFamily="18" charset="0"/>
                <a:ea typeface="楷体_GB2312" pitchFamily="49" charset="-122"/>
              </a:rPr>
              <a:t>V</a:t>
            </a:r>
            <a:r>
              <a:rPr lang="en-US" altLang="zh-CN" dirty="0">
                <a:solidFill>
                  <a:srgbClr val="FF0000"/>
                </a:solidFill>
                <a:latin typeface="Times New Roman" panose="02020603050405020304" pitchFamily="18" charset="0"/>
                <a:ea typeface="楷体_GB2312" pitchFamily="49" charset="-122"/>
              </a:rPr>
              <a:t> </a:t>
            </a:r>
            <a:r>
              <a:rPr lang="zh-CN" altLang="en-US" dirty="0">
                <a:solidFill>
                  <a:srgbClr val="FF0000"/>
                </a:solidFill>
                <a:latin typeface="Times New Roman" panose="02020603050405020304" pitchFamily="18" charset="0"/>
                <a:ea typeface="楷体_GB2312" pitchFamily="49" charset="-122"/>
              </a:rPr>
              <a:t>的边界 </a:t>
            </a:r>
            <a:r>
              <a:rPr lang="en-US" altLang="zh-CN" i="1" dirty="0">
                <a:solidFill>
                  <a:srgbClr val="FF0000"/>
                </a:solidFill>
                <a:latin typeface="Times New Roman" panose="02020603050405020304" pitchFamily="18" charset="0"/>
                <a:ea typeface="楷体_GB2312" pitchFamily="49" charset="-122"/>
              </a:rPr>
              <a:t>S </a:t>
            </a:r>
            <a:r>
              <a:rPr lang="zh-CN" altLang="en-US" dirty="0">
                <a:solidFill>
                  <a:srgbClr val="FF0000"/>
                </a:solidFill>
                <a:latin typeface="Times New Roman" panose="02020603050405020304" pitchFamily="18" charset="0"/>
                <a:ea typeface="楷体_GB2312" pitchFamily="49" charset="-122"/>
              </a:rPr>
              <a:t>上的场</a:t>
            </a:r>
            <a:r>
              <a:rPr lang="zh-CN" altLang="en-US" dirty="0">
                <a:solidFill>
                  <a:schemeClr val="bg1"/>
                </a:solidFill>
                <a:latin typeface="Times New Roman" panose="02020603050405020304" pitchFamily="18" charset="0"/>
                <a:ea typeface="楷体_GB2312" pitchFamily="49" charset="-122"/>
              </a:rPr>
              <a:t>之间的关系。因此，如果已知区域 </a:t>
            </a:r>
            <a:r>
              <a:rPr lang="en-US" altLang="zh-CN" b="0" i="1" dirty="0">
                <a:solidFill>
                  <a:schemeClr val="bg1"/>
                </a:solidFill>
                <a:latin typeface="Times New Roman" panose="02020603050405020304" pitchFamily="18" charset="0"/>
                <a:ea typeface="楷体_GB2312" pitchFamily="49" charset="-122"/>
              </a:rPr>
              <a:t>V  </a:t>
            </a:r>
            <a:r>
              <a:rPr lang="zh-CN" altLang="en-US" dirty="0">
                <a:solidFill>
                  <a:schemeClr val="bg1"/>
                </a:solidFill>
                <a:latin typeface="Times New Roman" panose="02020603050405020304" pitchFamily="18" charset="0"/>
                <a:ea typeface="楷体_GB2312" pitchFamily="49" charset="-122"/>
              </a:rPr>
              <a:t>中的场， 根据</a:t>
            </a:r>
            <a:r>
              <a:rPr lang="zh-CN" altLang="en-US" dirty="0">
                <a:solidFill>
                  <a:schemeClr val="bg1"/>
                </a:solidFill>
                <a:latin typeface="楷体_GB2312" pitchFamily="49" charset="-122"/>
                <a:ea typeface="楷体_GB2312" pitchFamily="49" charset="-122"/>
              </a:rPr>
              <a:t>散度</a:t>
            </a:r>
            <a:r>
              <a:rPr lang="zh-CN" altLang="en-US" dirty="0">
                <a:solidFill>
                  <a:schemeClr val="bg1"/>
                </a:solidFill>
                <a:latin typeface="Times New Roman" panose="02020603050405020304" pitchFamily="18" charset="0"/>
                <a:ea typeface="楷体_GB2312" pitchFamily="49" charset="-122"/>
              </a:rPr>
              <a:t>定理即可求出边界 </a:t>
            </a:r>
            <a:r>
              <a:rPr lang="en-US" altLang="zh-CN" i="1" dirty="0">
                <a:solidFill>
                  <a:schemeClr val="bg1"/>
                </a:solidFill>
                <a:latin typeface="Times New Roman" panose="02020603050405020304" pitchFamily="18" charset="0"/>
                <a:ea typeface="楷体_GB2312" pitchFamily="49" charset="-122"/>
              </a:rPr>
              <a:t>S </a:t>
            </a:r>
            <a:r>
              <a:rPr lang="zh-CN" altLang="en-US" dirty="0">
                <a:solidFill>
                  <a:schemeClr val="bg1"/>
                </a:solidFill>
                <a:latin typeface="Times New Roman" panose="02020603050405020304" pitchFamily="18" charset="0"/>
                <a:ea typeface="楷体_GB2312" pitchFamily="49" charset="-122"/>
              </a:rPr>
              <a:t>上的场，反之亦然。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p:nvPr/>
        </p:nvSpPr>
        <p:spPr>
          <a:xfrm>
            <a:off x="0" y="404813"/>
            <a:ext cx="9756576" cy="583392"/>
          </a:xfrm>
          <a:prstGeom prst="rect">
            <a:avLst/>
          </a:prstGeom>
          <a:noFill/>
          <a:ln w="9525">
            <a:noFill/>
          </a:ln>
        </p:spPr>
        <p:txBody>
          <a:bodyPr anchor="t" anchorCtr="0"/>
          <a:lstStyle/>
          <a:p>
            <a:pPr marL="381000" indent="-381000">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例</a:t>
            </a:r>
            <a:r>
              <a:rPr lang="en-US" altLang="zh-CN" dirty="0">
                <a:solidFill>
                  <a:srgbClr val="FFB7B7"/>
                </a:solidFill>
                <a:latin typeface="Arial" panose="020B0604020202020204" pitchFamily="34" charset="0"/>
                <a:ea typeface="宋体" panose="02010600030101010101" pitchFamily="2" charset="-122"/>
              </a:rPr>
              <a:t>1.4.3 </a:t>
            </a:r>
            <a:r>
              <a:rPr lang="zh-CN" altLang="en-US" dirty="0">
                <a:solidFill>
                  <a:schemeClr val="bg1"/>
                </a:solidFill>
                <a:latin typeface="Arial" panose="020B0604020202020204" pitchFamily="34" charset="0"/>
                <a:ea typeface="楷体_GB2312" pitchFamily="49" charset="-122"/>
              </a:rPr>
              <a:t>求</a:t>
            </a:r>
            <a:r>
              <a:rPr lang="zh-CN" altLang="en-US" dirty="0">
                <a:solidFill>
                  <a:srgbClr val="FFB7B7"/>
                </a:solidFill>
                <a:latin typeface="Arial" panose="020B060402020202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穿过一边长为</a:t>
            </a:r>
            <a:r>
              <a:rPr lang="en-US" altLang="zh-CN" dirty="0">
                <a:solidFill>
                  <a:schemeClr val="bg1"/>
                </a:solidFill>
                <a:latin typeface="楷体_GB2312" pitchFamily="49" charset="-122"/>
                <a:ea typeface="楷体_GB2312" pitchFamily="49" charset="-122"/>
              </a:rPr>
              <a:t>l</a:t>
            </a:r>
            <a:r>
              <a:rPr lang="zh-CN" altLang="en-US" dirty="0">
                <a:solidFill>
                  <a:schemeClr val="bg1"/>
                </a:solidFill>
                <a:latin typeface="楷体_GB2312" pitchFamily="49" charset="-122"/>
                <a:ea typeface="楷体_GB2312" pitchFamily="49" charset="-122"/>
              </a:rPr>
              <a:t>的立方体的通量。</a:t>
            </a:r>
            <a:r>
              <a:rPr lang="zh-CN" altLang="en-US" dirty="0">
                <a:solidFill>
                  <a:schemeClr val="bg1"/>
                </a:solidFill>
                <a:latin typeface="Arial" panose="020B0604020202020204" pitchFamily="34" charset="0"/>
                <a:ea typeface="宋体" panose="02010600030101010101" pitchFamily="2" charset="-122"/>
              </a:rPr>
              <a:t> </a:t>
            </a:r>
          </a:p>
        </p:txBody>
      </p:sp>
      <p:sp>
        <p:nvSpPr>
          <p:cNvPr id="91138" name="AutoShape 3">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1139" name="AutoShape 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1140" name="AutoShape 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1141" name="AutoShape 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55367" name="Object 7"/>
          <p:cNvGraphicFramePr>
            <a:graphicFrameLocks noGrp="1" noChangeAspect="1"/>
          </p:cNvGraphicFramePr>
          <p:nvPr>
            <p:ph/>
            <p:extLst>
              <p:ext uri="{D42A27DB-BD31-4B8C-83A1-F6EECF244321}">
                <p14:modId xmlns:p14="http://schemas.microsoft.com/office/powerpoint/2010/main" val="1700197604"/>
              </p:ext>
            </p:extLst>
          </p:nvPr>
        </p:nvGraphicFramePr>
        <p:xfrm>
          <a:off x="1403648" y="423054"/>
          <a:ext cx="3579813" cy="565150"/>
        </p:xfrm>
        <a:graphic>
          <a:graphicData uri="http://schemas.openxmlformats.org/presentationml/2006/ole">
            <mc:AlternateContent xmlns:mc="http://schemas.openxmlformats.org/markup-compatibility/2006">
              <mc:Choice xmlns:v="urn:schemas-microsoft-com:vml" Requires="v">
                <p:oleObj r:id="rId4" imgW="1443355" imgH="209550" progId="Equation.3">
                  <p:embed/>
                </p:oleObj>
              </mc:Choice>
              <mc:Fallback>
                <p:oleObj r:id="rId4" imgW="1443355" imgH="209550" progId="Equation.3">
                  <p:embed/>
                  <p:pic>
                    <p:nvPicPr>
                      <p:cNvPr id="0" name="图片 3247"/>
                      <p:cNvPicPr/>
                      <p:nvPr/>
                    </p:nvPicPr>
                    <p:blipFill>
                      <a:blip r:embed="rId5">
                        <a:clrChange>
                          <a:clrFrom>
                            <a:srgbClr val="000000"/>
                          </a:clrFrom>
                          <a:clrTo>
                            <a:srgbClr val="FFFFFF"/>
                          </a:clrTo>
                        </a:clrChange>
                      </a:blip>
                      <a:stretch>
                        <a:fillRect/>
                      </a:stretch>
                    </p:blipFill>
                    <p:spPr>
                      <a:xfrm>
                        <a:off x="1403648" y="423054"/>
                        <a:ext cx="3579813" cy="565150"/>
                      </a:xfrm>
                      <a:prstGeom prst="rect">
                        <a:avLst/>
                      </a:prstGeom>
                      <a:noFill/>
                      <a:ln w="38100">
                        <a:noFill/>
                        <a:miter/>
                      </a:ln>
                    </p:spPr>
                  </p:pic>
                </p:oleObj>
              </mc:Fallback>
            </mc:AlternateContent>
          </a:graphicData>
        </a:graphic>
      </p:graphicFrame>
      <p:graphicFrame>
        <p:nvGraphicFramePr>
          <p:cNvPr id="655371" name="Object 11"/>
          <p:cNvGraphicFramePr>
            <a:graphicFrameLocks noChangeAspect="1"/>
          </p:cNvGraphicFramePr>
          <p:nvPr>
            <p:extLst>
              <p:ext uri="{D42A27DB-BD31-4B8C-83A1-F6EECF244321}">
                <p14:modId xmlns:p14="http://schemas.microsoft.com/office/powerpoint/2010/main" val="184226246"/>
              </p:ext>
            </p:extLst>
          </p:nvPr>
        </p:nvGraphicFramePr>
        <p:xfrm>
          <a:off x="202406" y="1324017"/>
          <a:ext cx="7932738" cy="779462"/>
        </p:xfrm>
        <a:graphic>
          <a:graphicData uri="http://schemas.openxmlformats.org/presentationml/2006/ole">
            <mc:AlternateContent xmlns:mc="http://schemas.openxmlformats.org/markup-compatibility/2006">
              <mc:Choice xmlns:v="urn:schemas-microsoft-com:vml" Requires="v">
                <p:oleObj r:id="rId6" imgW="2886710" imgH="264160" progId="Equation.3">
                  <p:embed/>
                </p:oleObj>
              </mc:Choice>
              <mc:Fallback>
                <p:oleObj r:id="rId6" imgW="2886710" imgH="264160" progId="Equation.3">
                  <p:embed/>
                  <p:pic>
                    <p:nvPicPr>
                      <p:cNvPr id="0" name="图片 3248"/>
                      <p:cNvPicPr/>
                      <p:nvPr/>
                    </p:nvPicPr>
                    <p:blipFill>
                      <a:blip r:embed="rId7">
                        <a:clrChange>
                          <a:clrFrom>
                            <a:srgbClr val="000000"/>
                          </a:clrFrom>
                          <a:clrTo>
                            <a:srgbClr val="FFFFFF"/>
                          </a:clrTo>
                        </a:clrChange>
                      </a:blip>
                      <a:stretch>
                        <a:fillRect/>
                      </a:stretch>
                    </p:blipFill>
                    <p:spPr>
                      <a:xfrm>
                        <a:off x="202406" y="1324017"/>
                        <a:ext cx="7932738" cy="779462"/>
                      </a:xfrm>
                      <a:prstGeom prst="rect">
                        <a:avLst/>
                      </a:prstGeom>
                      <a:noFill/>
                      <a:ln w="38100">
                        <a:noFill/>
                        <a:miter/>
                      </a:ln>
                    </p:spPr>
                  </p:pic>
                </p:oleObj>
              </mc:Fallback>
            </mc:AlternateContent>
          </a:graphicData>
        </a:graphic>
      </p:graphicFrame>
      <p:pic>
        <p:nvPicPr>
          <p:cNvPr id="91147" name="Picture 16"/>
          <p:cNvPicPr>
            <a:picLocks noChangeAspect="1"/>
          </p:cNvPicPr>
          <p:nvPr/>
        </p:nvPicPr>
        <p:blipFill>
          <a:blip r:embed="rId8"/>
          <a:stretch>
            <a:fillRect/>
          </a:stretch>
        </p:blipFill>
        <p:spPr>
          <a:xfrm>
            <a:off x="6385565" y="3344299"/>
            <a:ext cx="2737798" cy="2189684"/>
          </a:xfrm>
          <a:prstGeom prst="rect">
            <a:avLst/>
          </a:prstGeom>
          <a:noFill/>
          <a:ln w="9525">
            <a:noFill/>
          </a:ln>
        </p:spPr>
      </p:pic>
      <p:sp>
        <p:nvSpPr>
          <p:cNvPr id="7" name="Rectangle 71">
            <a:extLst>
              <a:ext uri="{FF2B5EF4-FFF2-40B4-BE49-F238E27FC236}">
                <a16:creationId xmlns:a16="http://schemas.microsoft.com/office/drawing/2014/main" id="{EF649C28-4848-11AC-72DF-B3AAEC342139}"/>
              </a:ext>
            </a:extLst>
          </p:cNvPr>
          <p:cNvSpPr/>
          <p:nvPr/>
        </p:nvSpPr>
        <p:spPr>
          <a:xfrm>
            <a:off x="0" y="921480"/>
            <a:ext cx="8465912" cy="373062"/>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latin typeface="楷体_GB2312" pitchFamily="49" charset="-122"/>
              </a:rPr>
              <a:t>①</a:t>
            </a:r>
            <a:r>
              <a:rPr lang="zh-CN" altLang="en-US" sz="1600" b="0" dirty="0">
                <a:solidFill>
                  <a:srgbClr val="DBF10F"/>
                </a:solidFill>
                <a:latin typeface="楷体_GB2312" pitchFamily="49" charset="-122"/>
                <a:ea typeface="楷体_GB2312" pitchFamily="49" charset="-122"/>
              </a:rPr>
              <a:t>变闭为开：</a:t>
            </a:r>
            <a:r>
              <a:rPr lang="zh-CN" altLang="en-US" sz="1600" b="0" dirty="0">
                <a:solidFill>
                  <a:srgbClr val="DBF10F"/>
                </a:solidFill>
                <a:latin typeface="楷体_GB2312" pitchFamily="49" charset="-122"/>
              </a:rPr>
              <a:t>闭合曲面的积分</a:t>
            </a:r>
            <a:r>
              <a:rPr lang="zh-CN" altLang="en-US" sz="1600" b="0" dirty="0">
                <a:solidFill>
                  <a:srgbClr val="DBF10F"/>
                </a:solidFill>
              </a:rPr>
              <a:t>（第二类曲面积分）</a:t>
            </a:r>
            <a:r>
              <a:rPr lang="en-US" altLang="zh-CN" sz="1600" b="0" dirty="0">
                <a:solidFill>
                  <a:srgbClr val="DBF10F"/>
                </a:solidFill>
                <a:latin typeface="楷体_GB2312" pitchFamily="49" charset="-122"/>
              </a:rPr>
              <a:t>=</a:t>
            </a:r>
            <a:r>
              <a:rPr lang="zh-CN" altLang="en-US" sz="1600" b="0" dirty="0">
                <a:solidFill>
                  <a:srgbClr val="DBF10F"/>
                </a:solidFill>
                <a:latin typeface="楷体_GB2312" pitchFamily="49" charset="-122"/>
              </a:rPr>
              <a:t>围合该闭合体的各开曲面的面积分之和</a:t>
            </a:r>
            <a:endParaRPr lang="zh-CN" altLang="en-US" sz="1600" b="0" dirty="0">
              <a:solidFill>
                <a:srgbClr val="DBF10F"/>
              </a:solidFill>
              <a:latin typeface="Arial" panose="020B0604020202020204" pitchFamily="34" charset="0"/>
              <a:ea typeface="楷体_GB2312" pitchFamily="49" charset="-122"/>
            </a:endParaRPr>
          </a:p>
        </p:txBody>
      </p:sp>
      <p:sp>
        <p:nvSpPr>
          <p:cNvPr id="8" name="Rectangle 71">
            <a:extLst>
              <a:ext uri="{FF2B5EF4-FFF2-40B4-BE49-F238E27FC236}">
                <a16:creationId xmlns:a16="http://schemas.microsoft.com/office/drawing/2014/main" id="{B7CF5638-9C98-875D-30BA-58B20CF07411}"/>
              </a:ext>
            </a:extLst>
          </p:cNvPr>
          <p:cNvSpPr/>
          <p:nvPr/>
        </p:nvSpPr>
        <p:spPr>
          <a:xfrm>
            <a:off x="0" y="1916948"/>
            <a:ext cx="6007013" cy="373062"/>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latin typeface="宋体" panose="02010600030101010101" pitchFamily="2" charset="-122"/>
                <a:ea typeface="宋体" panose="02010600030101010101" pitchFamily="2" charset="-122"/>
              </a:rPr>
              <a:t>②</a:t>
            </a:r>
            <a:r>
              <a:rPr lang="zh-CN" altLang="en-US" sz="1600" b="0" dirty="0">
                <a:solidFill>
                  <a:srgbClr val="DBF10F"/>
                </a:solidFill>
                <a:latin typeface="Arial" panose="020B0604020202020204" pitchFamily="34" charset="0"/>
                <a:ea typeface="楷体_GB2312" pitchFamily="49" charset="-122"/>
              </a:rPr>
              <a:t>被积函数的点乘</a:t>
            </a:r>
            <a:r>
              <a:rPr lang="zh-CN" altLang="en-US" sz="1600" b="0" dirty="0">
                <a:solidFill>
                  <a:srgbClr val="DBF10F"/>
                </a:solidFill>
              </a:rPr>
              <a:t>运算</a:t>
            </a:r>
            <a:endParaRPr lang="zh-CN" altLang="en-US" sz="1600" b="0" dirty="0">
              <a:solidFill>
                <a:srgbClr val="DBF10F"/>
              </a:solidFill>
              <a:latin typeface="Arial" panose="020B0604020202020204" pitchFamily="34" charset="0"/>
              <a:ea typeface="楷体_GB2312" pitchFamily="49" charset="-122"/>
            </a:endParaRPr>
          </a:p>
        </p:txBody>
      </p:sp>
      <p:pic>
        <p:nvPicPr>
          <p:cNvPr id="10" name="图片 9">
            <a:extLst>
              <a:ext uri="{FF2B5EF4-FFF2-40B4-BE49-F238E27FC236}">
                <a16:creationId xmlns:a16="http://schemas.microsoft.com/office/drawing/2014/main" id="{64067A27-5EE3-9D0F-6011-818C9B3049B2}"/>
              </a:ext>
            </a:extLst>
          </p:cNvPr>
          <p:cNvPicPr>
            <a:picLocks noChangeAspect="1"/>
          </p:cNvPicPr>
          <p:nvPr/>
        </p:nvPicPr>
        <p:blipFill>
          <a:blip r:embed="rId9"/>
          <a:stretch>
            <a:fillRect/>
          </a:stretch>
        </p:blipFill>
        <p:spPr>
          <a:xfrm>
            <a:off x="3432184" y="5557572"/>
            <a:ext cx="5703145" cy="1321192"/>
          </a:xfrm>
          <a:prstGeom prst="rect">
            <a:avLst/>
          </a:prstGeom>
        </p:spPr>
      </p:pic>
      <p:graphicFrame>
        <p:nvGraphicFramePr>
          <p:cNvPr id="2" name="Object 11"/>
          <p:cNvGraphicFramePr>
            <a:graphicFrameLocks noChangeAspect="1"/>
          </p:cNvGraphicFramePr>
          <p:nvPr>
            <p:extLst>
              <p:ext uri="{D42A27DB-BD31-4B8C-83A1-F6EECF244321}">
                <p14:modId xmlns:p14="http://schemas.microsoft.com/office/powerpoint/2010/main" val="1956692588"/>
              </p:ext>
            </p:extLst>
          </p:nvPr>
        </p:nvGraphicFramePr>
        <p:xfrm>
          <a:off x="228272" y="2302530"/>
          <a:ext cx="6038850" cy="3500437"/>
        </p:xfrm>
        <a:graphic>
          <a:graphicData uri="http://schemas.openxmlformats.org/presentationml/2006/ole">
            <mc:AlternateContent xmlns:mc="http://schemas.openxmlformats.org/markup-compatibility/2006">
              <mc:Choice xmlns:v="urn:schemas-microsoft-com:vml" Requires="v">
                <p:oleObj r:id="rId10" imgW="2842260" imgH="1630680" progId="Equation.3">
                  <p:embed/>
                </p:oleObj>
              </mc:Choice>
              <mc:Fallback>
                <p:oleObj r:id="rId10" imgW="2842260" imgH="1630680" progId="Equation.3">
                  <p:embed/>
                  <p:pic>
                    <p:nvPicPr>
                      <p:cNvPr id="0" name="图片 3249"/>
                      <p:cNvPicPr/>
                      <p:nvPr/>
                    </p:nvPicPr>
                    <p:blipFill>
                      <a:blip r:embed="rId11">
                        <a:clrChange>
                          <a:clrFrom>
                            <a:srgbClr val="000000"/>
                          </a:clrFrom>
                          <a:clrTo>
                            <a:srgbClr val="FFFFFF"/>
                          </a:clrTo>
                        </a:clrChange>
                      </a:blip>
                      <a:stretch>
                        <a:fillRect/>
                      </a:stretch>
                    </p:blipFill>
                    <p:spPr>
                      <a:xfrm>
                        <a:off x="228272" y="2302530"/>
                        <a:ext cx="6038850" cy="3500437"/>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AutoShape 3">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3186" name="AutoShape 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3187" name="AutoShape 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3188" name="AutoShape 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86088" name="Object 8"/>
          <p:cNvGraphicFramePr>
            <a:graphicFrameLocks noChangeAspect="1"/>
          </p:cNvGraphicFramePr>
          <p:nvPr/>
        </p:nvGraphicFramePr>
        <p:xfrm>
          <a:off x="684213" y="4249738"/>
          <a:ext cx="7127875" cy="1778000"/>
        </p:xfrm>
        <a:graphic>
          <a:graphicData uri="http://schemas.openxmlformats.org/presentationml/2006/ole">
            <mc:AlternateContent xmlns:mc="http://schemas.openxmlformats.org/markup-compatibility/2006">
              <mc:Choice xmlns:v="urn:schemas-microsoft-com:vml" Requires="v">
                <p:oleObj r:id="rId4" imgW="2203450" imgH="528955" progId="Equation.3">
                  <p:embed/>
                </p:oleObj>
              </mc:Choice>
              <mc:Fallback>
                <p:oleObj r:id="rId4" imgW="2203450" imgH="528955" progId="Equation.3">
                  <p:embed/>
                  <p:pic>
                    <p:nvPicPr>
                      <p:cNvPr id="0" name="图片 3251"/>
                      <p:cNvPicPr/>
                      <p:nvPr/>
                    </p:nvPicPr>
                    <p:blipFill>
                      <a:blip r:embed="rId5">
                        <a:clrChange>
                          <a:clrFrom>
                            <a:srgbClr val="000000"/>
                          </a:clrFrom>
                          <a:clrTo>
                            <a:srgbClr val="FFFFFF"/>
                          </a:clrTo>
                        </a:clrChange>
                      </a:blip>
                      <a:stretch>
                        <a:fillRect/>
                      </a:stretch>
                    </p:blipFill>
                    <p:spPr>
                      <a:xfrm>
                        <a:off x="684213" y="4249738"/>
                        <a:ext cx="7127875" cy="1778000"/>
                      </a:xfrm>
                      <a:prstGeom prst="rect">
                        <a:avLst/>
                      </a:prstGeom>
                      <a:noFill/>
                      <a:ln w="38100">
                        <a:noFill/>
                        <a:miter/>
                      </a:ln>
                    </p:spPr>
                  </p:pic>
                </p:oleObj>
              </mc:Fallback>
            </mc:AlternateContent>
          </a:graphicData>
        </a:graphic>
      </p:graphicFrame>
      <p:sp>
        <p:nvSpPr>
          <p:cNvPr id="686089" name="Text Box 9"/>
          <p:cNvSpPr txBox="1"/>
          <p:nvPr/>
        </p:nvSpPr>
        <p:spPr>
          <a:xfrm>
            <a:off x="387350" y="3692525"/>
            <a:ext cx="8001000" cy="457200"/>
          </a:xfrm>
          <a:prstGeom prst="rect">
            <a:avLst/>
          </a:prstGeom>
          <a:noFill/>
          <a:ln w="9525">
            <a:noFill/>
          </a:ln>
        </p:spPr>
        <p:txBody>
          <a:bodyPr anchor="t" anchorCtr="0">
            <a:spAutoFit/>
          </a:bodyPr>
          <a:lstStyle/>
          <a:p>
            <a:pPr latinLnBrk="1">
              <a:spcBef>
                <a:spcPct val="50000"/>
              </a:spcBef>
            </a:pPr>
            <a:r>
              <a:rPr lang="zh-CN" altLang="en-US" dirty="0">
                <a:solidFill>
                  <a:srgbClr val="FFB7B7"/>
                </a:solidFill>
                <a:latin typeface="幼圆" panose="02010509060101010101" pitchFamily="49" charset="-122"/>
                <a:ea typeface="幼圆" panose="02010509060101010101" pitchFamily="49" charset="-122"/>
              </a:rPr>
              <a:t>解二</a:t>
            </a:r>
            <a:endParaRPr lang="zh-CN" altLang="en-US" dirty="0">
              <a:solidFill>
                <a:schemeClr val="bg1"/>
              </a:solidFill>
              <a:latin typeface="Times New Roman" panose="02020603050405020304" pitchFamily="18" charset="0"/>
              <a:ea typeface="楷体_GB2312" pitchFamily="49" charset="-122"/>
            </a:endParaRPr>
          </a:p>
        </p:txBody>
      </p:sp>
      <p:graphicFrame>
        <p:nvGraphicFramePr>
          <p:cNvPr id="686090" name="Object 10"/>
          <p:cNvGraphicFramePr>
            <a:graphicFrameLocks noChangeAspect="1"/>
          </p:cNvGraphicFramePr>
          <p:nvPr>
            <p:extLst>
              <p:ext uri="{D42A27DB-BD31-4B8C-83A1-F6EECF244321}">
                <p14:modId xmlns:p14="http://schemas.microsoft.com/office/powerpoint/2010/main" val="688255023"/>
              </p:ext>
            </p:extLst>
          </p:nvPr>
        </p:nvGraphicFramePr>
        <p:xfrm>
          <a:off x="387350" y="674688"/>
          <a:ext cx="7777162" cy="3005138"/>
        </p:xfrm>
        <a:graphic>
          <a:graphicData uri="http://schemas.openxmlformats.org/presentationml/2006/ole">
            <mc:AlternateContent xmlns:mc="http://schemas.openxmlformats.org/markup-compatibility/2006">
              <mc:Choice xmlns:v="urn:schemas-microsoft-com:vml" Requires="v">
                <p:oleObj r:id="rId6" imgW="2456815" imgH="925195" progId="Equation.3">
                  <p:embed/>
                </p:oleObj>
              </mc:Choice>
              <mc:Fallback>
                <p:oleObj r:id="rId6" imgW="2456815" imgH="925195" progId="Equation.3">
                  <p:embed/>
                  <p:pic>
                    <p:nvPicPr>
                      <p:cNvPr id="0" name="图片 3252"/>
                      <p:cNvPicPr/>
                      <p:nvPr/>
                    </p:nvPicPr>
                    <p:blipFill>
                      <a:blip r:embed="rId7">
                        <a:clrChange>
                          <a:clrFrom>
                            <a:srgbClr val="000000"/>
                          </a:clrFrom>
                          <a:clrTo>
                            <a:srgbClr val="FFFFFF"/>
                          </a:clrTo>
                        </a:clrChange>
                      </a:blip>
                      <a:stretch>
                        <a:fillRect/>
                      </a:stretch>
                    </p:blipFill>
                    <p:spPr>
                      <a:xfrm>
                        <a:off x="387350" y="674688"/>
                        <a:ext cx="7777162" cy="3005138"/>
                      </a:xfrm>
                      <a:prstGeom prst="rect">
                        <a:avLst/>
                      </a:prstGeom>
                      <a:noFill/>
                      <a:ln w="38100">
                        <a:noFill/>
                        <a:miter/>
                      </a:ln>
                    </p:spPr>
                  </p:pic>
                </p:oleObj>
              </mc:Fallback>
            </mc:AlternateContent>
          </a:graphicData>
        </a:graphic>
      </p:graphicFrame>
      <p:sp>
        <p:nvSpPr>
          <p:cNvPr id="6" name="Rectangle 71">
            <a:extLst>
              <a:ext uri="{FF2B5EF4-FFF2-40B4-BE49-F238E27FC236}">
                <a16:creationId xmlns:a16="http://schemas.microsoft.com/office/drawing/2014/main" id="{63C82DBA-5664-541B-F38A-B8976AC341D9}"/>
              </a:ext>
            </a:extLst>
          </p:cNvPr>
          <p:cNvSpPr/>
          <p:nvPr/>
        </p:nvSpPr>
        <p:spPr>
          <a:xfrm>
            <a:off x="1187624" y="1219894"/>
            <a:ext cx="5953949" cy="341051"/>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rPr>
              <a:t>③计算标量二重积分（第一类曲面积分）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4"/>
          <p:cNvSpPr/>
          <p:nvPr/>
        </p:nvSpPr>
        <p:spPr>
          <a:xfrm>
            <a:off x="3933825" y="2708275"/>
            <a:ext cx="784225" cy="461963"/>
          </a:xfrm>
          <a:prstGeom prst="rect">
            <a:avLst/>
          </a:prstGeom>
          <a:noFill/>
          <a:ln w="9525">
            <a:noFill/>
          </a:ln>
        </p:spPr>
        <p:txBody>
          <a:bodyPr wrap="none" anchor="ctr" anchorCtr="0">
            <a:spAutoFit/>
          </a:bodyPr>
          <a:lstStyle/>
          <a:p>
            <a:pPr>
              <a:spcBef>
                <a:spcPct val="0"/>
              </a:spcBef>
            </a:pPr>
            <a:r>
              <a:rPr lang="en-US" altLang="zh-CN" dirty="0">
                <a:solidFill>
                  <a:schemeClr val="bg1"/>
                </a:solidFill>
                <a:latin typeface="Arial" panose="020B0604020202020204" pitchFamily="34" charset="0"/>
                <a:ea typeface="楷体_GB2312" pitchFamily="49" charset="-122"/>
              </a:rPr>
              <a:t>1.18</a:t>
            </a:r>
          </a:p>
        </p:txBody>
      </p:sp>
      <p:sp>
        <p:nvSpPr>
          <p:cNvPr id="667654" name="Text Box 6"/>
          <p:cNvSpPr txBox="1"/>
          <p:nvPr/>
        </p:nvSpPr>
        <p:spPr>
          <a:xfrm>
            <a:off x="3924300" y="1773238"/>
            <a:ext cx="2808288" cy="457200"/>
          </a:xfrm>
          <a:prstGeom prst="rect">
            <a:avLst/>
          </a:prstGeom>
          <a:noFill/>
          <a:ln w="9525">
            <a:noFill/>
          </a:ln>
        </p:spPr>
        <p:txBody>
          <a:bodyPr anchor="t" anchorCtr="0">
            <a:spAutoFit/>
          </a:bodyPr>
          <a:lstStyle/>
          <a:p>
            <a:pPr>
              <a:spcBef>
                <a:spcPct val="0"/>
              </a:spcBef>
            </a:pPr>
            <a:r>
              <a:rPr lang="zh-CN" altLang="en-US" dirty="0">
                <a:solidFill>
                  <a:srgbClr val="FFB7B7"/>
                </a:solidFill>
                <a:latin typeface="Times New Roman" panose="02020603050405020304" pitchFamily="18" charset="0"/>
                <a:ea typeface="楷体_GB2312" pitchFamily="49" charset="-122"/>
              </a:rPr>
              <a:t>作业</a:t>
            </a:r>
            <a:r>
              <a:rPr lang="zh-CN" altLang="en-US" dirty="0">
                <a:solidFill>
                  <a:schemeClr val="bg1"/>
                </a:solidFill>
                <a:latin typeface="Times New Roman" panose="02020603050405020304" pitchFamily="18" charset="0"/>
                <a:ea typeface="楷体_GB2312" pitchFamily="49" charset="-122"/>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41" name="Rectangle 9"/>
          <p:cNvSpPr>
            <a:spLocks noGrp="1"/>
          </p:cNvSpPr>
          <p:nvPr>
            <p:ph type="title"/>
          </p:nvPr>
        </p:nvSpPr>
        <p:spPr>
          <a:xfrm>
            <a:off x="303213" y="476250"/>
            <a:ext cx="8229600" cy="490538"/>
          </a:xfrm>
          <a:noFill/>
          <a:ln>
            <a:noFill/>
          </a:ln>
        </p:spPr>
        <p:txBody>
          <a:bodyPr anchor="t" anchorCtr="0"/>
          <a:lstStyle/>
          <a:p>
            <a:pPr algn="ctr" eaLnBrk="1" hangingPunct="1">
              <a:buNone/>
            </a:pPr>
            <a:r>
              <a:rPr lang="en-US" altLang="zh-CN" sz="2800" b="1" dirty="0">
                <a:solidFill>
                  <a:schemeClr val="bg1"/>
                </a:solidFill>
                <a:latin typeface="Times New Roman" panose="02020603050405020304" pitchFamily="18" charset="0"/>
                <a:ea typeface="幼圆" panose="02010509060101010101" pitchFamily="49" charset="-122"/>
              </a:rPr>
              <a:t>1.5  </a:t>
            </a:r>
            <a:r>
              <a:rPr lang="zh-CN" altLang="en-US" sz="2800" b="1" dirty="0">
                <a:solidFill>
                  <a:schemeClr val="bg1"/>
                </a:solidFill>
                <a:latin typeface="Times New Roman" panose="02020603050405020304" pitchFamily="18" charset="0"/>
                <a:ea typeface="幼圆" panose="02010509060101010101" pitchFamily="49" charset="-122"/>
              </a:rPr>
              <a:t>矢量场的环流与旋度</a:t>
            </a:r>
            <a:r>
              <a:rPr lang="zh-CN" altLang="en-US" sz="1800" dirty="0">
                <a:ea typeface="幼圆" panose="02010509060101010101" pitchFamily="49" charset="-122"/>
              </a:rPr>
              <a:t>   </a:t>
            </a:r>
          </a:p>
        </p:txBody>
      </p:sp>
      <p:sp>
        <p:nvSpPr>
          <p:cNvPr id="223240" name="Rectangle 8"/>
          <p:cNvSpPr/>
          <p:nvPr/>
        </p:nvSpPr>
        <p:spPr>
          <a:xfrm>
            <a:off x="323850" y="981075"/>
            <a:ext cx="8329613" cy="576263"/>
          </a:xfrm>
          <a:prstGeom prst="rect">
            <a:avLst/>
          </a:prstGeom>
          <a:noFill/>
          <a:ln w="9525">
            <a:noFill/>
          </a:ln>
        </p:spPr>
        <p:txBody>
          <a:bodyPr anchor="t" anchorCtr="0"/>
          <a:lstStyle/>
          <a:p>
            <a:pPr marL="381000" indent="-381000">
              <a:buAutoNum type="arabicPeriod"/>
            </a:pPr>
            <a:r>
              <a:rPr lang="en-US" altLang="zh-CN" dirty="0">
                <a:solidFill>
                  <a:schemeClr val="bg1"/>
                </a:solidFill>
                <a:latin typeface="Times New Roman" panose="02020603050405020304" pitchFamily="18" charset="0"/>
                <a:ea typeface="宋体" panose="02010600030101010101" pitchFamily="2" charset="-122"/>
              </a:rPr>
              <a:t> </a:t>
            </a:r>
            <a:r>
              <a:rPr lang="zh-CN" altLang="en-US" dirty="0">
                <a:solidFill>
                  <a:schemeClr val="bg1"/>
                </a:solidFill>
                <a:latin typeface="Times New Roman" panose="02020603050405020304" pitchFamily="18" charset="0"/>
                <a:ea typeface="宋体" panose="02010600030101010101" pitchFamily="2" charset="-122"/>
              </a:rPr>
              <a:t>矢量场的环流</a:t>
            </a:r>
            <a:r>
              <a:rPr lang="zh-CN" altLang="en-US" b="0" dirty="0">
                <a:solidFill>
                  <a:schemeClr val="bg1"/>
                </a:solidFill>
                <a:latin typeface="Times New Roman" panose="02020603050405020304" pitchFamily="18" charset="0"/>
                <a:ea typeface="幼圆" panose="02010509060101010101" pitchFamily="49" charset="-122"/>
              </a:rPr>
              <a:t>      </a:t>
            </a:r>
            <a:endParaRPr lang="zh-CN" altLang="en-US" dirty="0">
              <a:solidFill>
                <a:schemeClr val="bg1"/>
              </a:solidFill>
              <a:latin typeface="Times New Roman" panose="02020603050405020304" pitchFamily="18" charset="0"/>
              <a:ea typeface="幼圆" panose="02010509060101010101" pitchFamily="49" charset="-122"/>
            </a:endParaRPr>
          </a:p>
        </p:txBody>
      </p:sp>
      <p:pic>
        <p:nvPicPr>
          <p:cNvPr id="223247" name="Picture 15" descr="SHUILUN"/>
          <p:cNvPicPr>
            <a:picLocks noChangeAspect="1"/>
          </p:cNvPicPr>
          <p:nvPr/>
        </p:nvPicPr>
        <p:blipFill>
          <a:blip r:embed="rId3"/>
          <a:stretch>
            <a:fillRect/>
          </a:stretch>
        </p:blipFill>
        <p:spPr>
          <a:xfrm>
            <a:off x="395288" y="3860800"/>
            <a:ext cx="8458200" cy="2035175"/>
          </a:xfrm>
          <a:prstGeom prst="rect">
            <a:avLst/>
          </a:prstGeom>
          <a:noFill/>
          <a:ln w="9525">
            <a:noFill/>
          </a:ln>
        </p:spPr>
      </p:pic>
      <p:sp>
        <p:nvSpPr>
          <p:cNvPr id="223249" name="Text Box 17"/>
          <p:cNvSpPr txBox="1"/>
          <p:nvPr/>
        </p:nvSpPr>
        <p:spPr>
          <a:xfrm>
            <a:off x="287338" y="1341438"/>
            <a:ext cx="8677275" cy="1990725"/>
          </a:xfrm>
          <a:prstGeom prst="rect">
            <a:avLst/>
          </a:prstGeom>
          <a:noFill/>
          <a:ln w="9525">
            <a:noFill/>
          </a:ln>
        </p:spPr>
        <p:txBody>
          <a:bodyPr anchor="t" anchorCtr="0">
            <a:spAutoFit/>
          </a:bodyPr>
          <a:lstStyle/>
          <a:p>
            <a:pPr>
              <a:lnSpc>
                <a:spcPct val="130000"/>
              </a:lnSpc>
              <a:spcBef>
                <a:spcPct val="0"/>
              </a:spcBef>
            </a:pPr>
            <a:r>
              <a:rPr lang="en-US" altLang="zh-CN" dirty="0">
                <a:solidFill>
                  <a:schemeClr val="bg1"/>
                </a:solidFill>
                <a:latin typeface="Arial" panose="020B0604020202020204" pitchFamily="34" charset="0"/>
                <a:ea typeface="楷体_GB2312" pitchFamily="49" charset="-122"/>
              </a:rPr>
              <a:t>       </a:t>
            </a:r>
            <a:r>
              <a:rPr lang="zh-CN" altLang="en-US" dirty="0">
                <a:solidFill>
                  <a:schemeClr val="bg1"/>
                </a:solidFill>
                <a:latin typeface="Arial" panose="020B0604020202020204" pitchFamily="34" charset="0"/>
                <a:ea typeface="楷体_GB2312" pitchFamily="49" charset="-122"/>
              </a:rPr>
              <a:t>不是所有的矢量场都由通量源激发。存在另一类不同于通量源的矢量源，它所激发的矢量线是闭合的，它对于任何闭合曲面的通量（面积分）恒等于零。但在场所定义的空间中闭合路径的线积分不为零。</a:t>
            </a:r>
            <a:r>
              <a:rPr lang="zh-CN" altLang="en-US" dirty="0">
                <a:solidFill>
                  <a:srgbClr val="FF9900"/>
                </a:solidFill>
                <a:latin typeface="Arial" panose="020B0604020202020204" pitchFamily="34" charset="0"/>
                <a:ea typeface="楷体_GB2312" pitchFamily="49" charset="-122"/>
              </a:rPr>
              <a:t>例如：流速场。</a:t>
            </a:r>
          </a:p>
        </p:txBody>
      </p:sp>
      <p:sp>
        <p:nvSpPr>
          <p:cNvPr id="96261" name="AutoShape 18">
            <a:hlinkClick r:id="rId4"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6262" name="AutoShape 19">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6263" name="AutoShape 20">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6264" name="AutoShape 21">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23260" name="Text Box 28"/>
          <p:cNvSpPr txBox="1"/>
          <p:nvPr/>
        </p:nvSpPr>
        <p:spPr>
          <a:xfrm>
            <a:off x="3492500" y="6021388"/>
            <a:ext cx="2232025" cy="406400"/>
          </a:xfrm>
          <a:prstGeom prst="rect">
            <a:avLst/>
          </a:prstGeom>
          <a:noFill/>
          <a:ln w="9525" cap="flat" cmpd="sng">
            <a:solidFill>
              <a:schemeClr val="bg1"/>
            </a:solidFill>
            <a:prstDash val="solid"/>
            <a:miter/>
            <a:headEnd type="none" w="med" len="med"/>
            <a:tailEnd type="none" w="med" len="med"/>
          </a:ln>
        </p:spPr>
        <p:txBody>
          <a:bodyPr anchor="t" anchorCtr="0">
            <a:spAutoFit/>
          </a:bodyPr>
          <a:lstStyle/>
          <a:p>
            <a:pPr algn="ctr">
              <a:spcBef>
                <a:spcPct val="50000"/>
              </a:spcBef>
            </a:pPr>
            <a:r>
              <a:rPr lang="zh-CN" altLang="en-US" sz="2000" dirty="0">
                <a:solidFill>
                  <a:srgbClr val="FF9900"/>
                </a:solidFill>
                <a:latin typeface="Arial" panose="020B0604020202020204" pitchFamily="34" charset="0"/>
                <a:ea typeface="楷体_GB2312" pitchFamily="49" charset="-122"/>
              </a:rPr>
              <a:t>存在“涡旋”</a:t>
            </a:r>
          </a:p>
        </p:txBody>
      </p:sp>
      <p:graphicFrame>
        <p:nvGraphicFramePr>
          <p:cNvPr id="223264" name="Object 32"/>
          <p:cNvGraphicFramePr>
            <a:graphicFrameLocks noChangeAspect="1"/>
          </p:cNvGraphicFramePr>
          <p:nvPr/>
        </p:nvGraphicFramePr>
        <p:xfrm>
          <a:off x="4211638" y="4279900"/>
          <a:ext cx="612775" cy="352425"/>
        </p:xfrm>
        <a:graphic>
          <a:graphicData uri="http://schemas.openxmlformats.org/presentationml/2006/ole">
            <mc:AlternateContent xmlns:mc="http://schemas.openxmlformats.org/markup-compatibility/2006">
              <mc:Choice xmlns:v="urn:schemas-microsoft-com:vml" Requires="v">
                <p:oleObj r:id="rId5" imgW="368300" imgH="177800" progId="Equation.3">
                  <p:embed/>
                </p:oleObj>
              </mc:Choice>
              <mc:Fallback>
                <p:oleObj r:id="rId5" imgW="368300" imgH="177800" progId="Equation.3">
                  <p:embed/>
                  <p:pic>
                    <p:nvPicPr>
                      <p:cNvPr id="0" name="图片 3254"/>
                      <p:cNvPicPr/>
                      <p:nvPr/>
                    </p:nvPicPr>
                    <p:blipFill>
                      <a:blip r:embed="rId6"/>
                      <a:stretch>
                        <a:fillRect/>
                      </a:stretch>
                    </p:blipFill>
                    <p:spPr>
                      <a:xfrm>
                        <a:off x="4211638" y="4279900"/>
                        <a:ext cx="612775" cy="352425"/>
                      </a:xfrm>
                      <a:prstGeom prst="rect">
                        <a:avLst/>
                      </a:prstGeom>
                      <a:solidFill>
                        <a:schemeClr val="accent1"/>
                      </a:solidFill>
                      <a:ln w="9525" cap="flat" cmpd="sng">
                        <a:solidFill>
                          <a:schemeClr val="bg1"/>
                        </a:solidFill>
                        <a:prstDash val="solid"/>
                        <a:miter/>
                        <a:headEnd type="none" w="med" len="med"/>
                        <a:tailEnd type="none" w="med" len="med"/>
                      </a:ln>
                    </p:spPr>
                  </p:pic>
                </p:oleObj>
              </mc:Fallback>
            </mc:AlternateContent>
          </a:graphicData>
        </a:graphic>
      </p:graphicFrame>
      <p:graphicFrame>
        <p:nvGraphicFramePr>
          <p:cNvPr id="223265" name="Object 33"/>
          <p:cNvGraphicFramePr>
            <a:graphicFrameLocks noChangeAspect="1"/>
          </p:cNvGraphicFramePr>
          <p:nvPr/>
        </p:nvGraphicFramePr>
        <p:xfrm>
          <a:off x="2236788" y="2838450"/>
          <a:ext cx="3414712" cy="2390775"/>
        </p:xfrm>
        <a:graphic>
          <a:graphicData uri="http://schemas.openxmlformats.org/presentationml/2006/ole">
            <mc:AlternateContent xmlns:mc="http://schemas.openxmlformats.org/markup-compatibility/2006">
              <mc:Choice xmlns:v="urn:schemas-microsoft-com:vml" Requires="v">
                <p:oleObj r:id="rId7" imgW="3115945" imgH="2190115" progId="Visio.Drawing.11">
                  <p:embed/>
                </p:oleObj>
              </mc:Choice>
              <mc:Fallback>
                <p:oleObj r:id="rId7" imgW="3115945" imgH="2190115" progId="Visio.Drawing.11">
                  <p:embed/>
                  <p:pic>
                    <p:nvPicPr>
                      <p:cNvPr id="0" name="图片 3253"/>
                      <p:cNvPicPr/>
                      <p:nvPr/>
                    </p:nvPicPr>
                    <p:blipFill>
                      <a:blip r:embed="rId8"/>
                      <a:stretch>
                        <a:fillRect/>
                      </a:stretch>
                    </p:blipFill>
                    <p:spPr>
                      <a:xfrm>
                        <a:off x="2236788" y="2838450"/>
                        <a:ext cx="3414712" cy="2390775"/>
                      </a:xfrm>
                      <a:prstGeom prst="rect">
                        <a:avLst/>
                      </a:prstGeom>
                      <a:solidFill>
                        <a:schemeClr val="bg1"/>
                      </a:solidFill>
                      <a:ln w="9525" cap="flat" cmpd="sng">
                        <a:solidFill>
                          <a:schemeClr val="bg1"/>
                        </a:solidFill>
                        <a:prstDash val="solid"/>
                        <a:miter/>
                        <a:headEnd type="none" w="med" len="med"/>
                        <a:tailEnd type="none" w="med" len="med"/>
                      </a:ln>
                    </p:spPr>
                  </p:pic>
                </p:oleObj>
              </mc:Fallback>
            </mc:AlternateContent>
          </a:graphicData>
        </a:graphic>
      </p:graphicFrame>
      <p:pic>
        <p:nvPicPr>
          <p:cNvPr id="81935" name="Picture 15"/>
          <p:cNvPicPr>
            <a:picLocks noChangeAspect="1"/>
          </p:cNvPicPr>
          <p:nvPr/>
        </p:nvPicPr>
        <p:blipFill>
          <a:blip r:embed="rId9"/>
          <a:stretch>
            <a:fillRect/>
          </a:stretch>
        </p:blipFill>
        <p:spPr>
          <a:xfrm>
            <a:off x="5664200" y="2822575"/>
            <a:ext cx="3371850" cy="23431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23265"/>
                                        </p:tgtEl>
                                        <p:attrNameLst>
                                          <p:attrName>ppt_x</p:attrName>
                                        </p:attrNameLst>
                                      </p:cBhvr>
                                      <p:tavLst>
                                        <p:tav tm="0">
                                          <p:val>
                                            <p:strVal val="ppt_x"/>
                                          </p:val>
                                        </p:tav>
                                        <p:tav tm="100000">
                                          <p:val>
                                            <p:strVal val="ppt_x"/>
                                          </p:val>
                                        </p:tav>
                                      </p:tavLst>
                                    </p:anim>
                                    <p:anim calcmode="lin" valueType="num">
                                      <p:cBhvr additive="base">
                                        <p:cTn id="7" dur="500"/>
                                        <p:tgtEl>
                                          <p:spTgt spid="223265"/>
                                        </p:tgtEl>
                                        <p:attrNameLst>
                                          <p:attrName>ppt_y</p:attrName>
                                        </p:attrNameLst>
                                      </p:cBhvr>
                                      <p:tavLst>
                                        <p:tav tm="0">
                                          <p:val>
                                            <p:strVal val="ppt_y"/>
                                          </p:val>
                                        </p:tav>
                                        <p:tav tm="100000">
                                          <p:val>
                                            <p:strVal val="1+ppt_h/2"/>
                                          </p:val>
                                        </p:tav>
                                      </p:tavLst>
                                    </p:anim>
                                    <p:set>
                                      <p:cBhvr>
                                        <p:cTn id="8" dur="1" fill="hold">
                                          <p:stCondLst>
                                            <p:cond delay="499"/>
                                          </p:stCondLst>
                                        </p:cTn>
                                        <p:tgtEl>
                                          <p:spTgt spid="22326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1935"/>
                                        </p:tgtEl>
                                        <p:attrNameLst>
                                          <p:attrName>style.visibility</p:attrName>
                                        </p:attrNameLst>
                                      </p:cBhvr>
                                      <p:to>
                                        <p:strVal val="visible"/>
                                      </p:to>
                                    </p:set>
                                    <p:animEffect transition="in" filter="blinds(horizontal)">
                                      <p:cBhvr>
                                        <p:cTn id="13" dur="500"/>
                                        <p:tgtEl>
                                          <p:spTgt spid="8193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xit" presetSubtype="4" fill="hold" nodeType="clickEffect">
                                  <p:stCondLst>
                                    <p:cond delay="0"/>
                                  </p:stCondLst>
                                  <p:childTnLst>
                                    <p:anim calcmode="lin" valueType="num">
                                      <p:cBhvr additive="base">
                                        <p:cTn id="17" dur="500"/>
                                        <p:tgtEl>
                                          <p:spTgt spid="81935"/>
                                        </p:tgtEl>
                                        <p:attrNameLst>
                                          <p:attrName>ppt_x</p:attrName>
                                        </p:attrNameLst>
                                      </p:cBhvr>
                                      <p:tavLst>
                                        <p:tav tm="0">
                                          <p:val>
                                            <p:strVal val="ppt_x"/>
                                          </p:val>
                                        </p:tav>
                                        <p:tav tm="100000">
                                          <p:val>
                                            <p:strVal val="ppt_x"/>
                                          </p:val>
                                        </p:tav>
                                      </p:tavLst>
                                    </p:anim>
                                    <p:anim calcmode="lin" valueType="num">
                                      <p:cBhvr additive="base">
                                        <p:cTn id="18" dur="500"/>
                                        <p:tgtEl>
                                          <p:spTgt spid="81935"/>
                                        </p:tgtEl>
                                        <p:attrNameLst>
                                          <p:attrName>ppt_y</p:attrName>
                                        </p:attrNameLst>
                                      </p:cBhvr>
                                      <p:tavLst>
                                        <p:tav tm="0">
                                          <p:val>
                                            <p:strVal val="ppt_y"/>
                                          </p:val>
                                        </p:tav>
                                        <p:tav tm="100000">
                                          <p:val>
                                            <p:strVal val="1+ppt_h/2"/>
                                          </p:val>
                                        </p:tav>
                                      </p:tavLst>
                                    </p:anim>
                                    <p:set>
                                      <p:cBhvr>
                                        <p:cTn id="19" dur="1" fill="hold">
                                          <p:stCondLst>
                                            <p:cond delay="499"/>
                                          </p:stCondLst>
                                        </p:cTn>
                                        <p:tgtEl>
                                          <p:spTgt spid="8193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23247"/>
                                        </p:tgtEl>
                                        <p:attrNameLst>
                                          <p:attrName>style.visibility</p:attrName>
                                        </p:attrNameLst>
                                      </p:cBhvr>
                                      <p:to>
                                        <p:strVal val="visible"/>
                                      </p:to>
                                    </p:set>
                                    <p:animEffect transition="in" filter="wipe(up)">
                                      <p:cBhvr>
                                        <p:cTn id="24" dur="2000"/>
                                        <p:tgtEl>
                                          <p:spTgt spid="223247"/>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223260"/>
                                        </p:tgtEl>
                                        <p:attrNameLst>
                                          <p:attrName>style.visibility</p:attrName>
                                        </p:attrNameLst>
                                      </p:cBhvr>
                                      <p:to>
                                        <p:strVal val="visible"/>
                                      </p:to>
                                    </p:set>
                                    <p:animEffect transition="in" filter="wipe(up)">
                                      <p:cBhvr>
                                        <p:cTn id="28" dur="2000"/>
                                        <p:tgtEl>
                                          <p:spTgt spid="223260"/>
                                        </p:tgtEl>
                                      </p:cBhvr>
                                    </p:animEffect>
                                  </p:childTnLst>
                                </p:cTn>
                              </p:par>
                            </p:childTnLst>
                          </p:cTn>
                        </p:par>
                        <p:par>
                          <p:cTn id="29" fill="hold">
                            <p:stCondLst>
                              <p:cond delay="4000"/>
                            </p:stCondLst>
                            <p:childTnLst>
                              <p:par>
                                <p:cTn id="30" presetID="22" presetClass="entr" presetSubtype="1" fill="hold" nodeType="afterEffect">
                                  <p:stCondLst>
                                    <p:cond delay="0"/>
                                  </p:stCondLst>
                                  <p:childTnLst>
                                    <p:set>
                                      <p:cBhvr>
                                        <p:cTn id="31" dur="1" fill="hold">
                                          <p:stCondLst>
                                            <p:cond delay="0"/>
                                          </p:stCondLst>
                                        </p:cTn>
                                        <p:tgtEl>
                                          <p:spTgt spid="223264"/>
                                        </p:tgtEl>
                                        <p:attrNameLst>
                                          <p:attrName>style.visibility</p:attrName>
                                        </p:attrNameLst>
                                      </p:cBhvr>
                                      <p:to>
                                        <p:strVal val="visible"/>
                                      </p:to>
                                    </p:set>
                                    <p:animEffect transition="in" filter="wipe(up)">
                                      <p:cBhvr>
                                        <p:cTn id="32" dur="2000"/>
                                        <p:tgtEl>
                                          <p:spTgt spid="223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6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89" name="Object 9"/>
          <p:cNvGraphicFramePr>
            <a:graphicFrameLocks noChangeAspect="1"/>
          </p:cNvGraphicFramePr>
          <p:nvPr/>
        </p:nvGraphicFramePr>
        <p:xfrm>
          <a:off x="755650" y="2554288"/>
          <a:ext cx="3656013" cy="730250"/>
        </p:xfrm>
        <a:graphic>
          <a:graphicData uri="http://schemas.openxmlformats.org/presentationml/2006/ole">
            <mc:AlternateContent xmlns:mc="http://schemas.openxmlformats.org/markup-compatibility/2006">
              <mc:Choice xmlns:v="urn:schemas-microsoft-com:vml" Requires="v">
                <p:oleObj r:id="rId3" imgW="1223010" imgH="253365" progId="Equation.3">
                  <p:embed/>
                </p:oleObj>
              </mc:Choice>
              <mc:Fallback>
                <p:oleObj r:id="rId3" imgW="1223010" imgH="253365" progId="Equation.3">
                  <p:embed/>
                  <p:pic>
                    <p:nvPicPr>
                      <p:cNvPr id="0" name="图片 3255"/>
                      <p:cNvPicPr/>
                      <p:nvPr/>
                    </p:nvPicPr>
                    <p:blipFill>
                      <a:blip r:embed="rId4">
                        <a:clrChange>
                          <a:clrFrom>
                            <a:srgbClr val="000000"/>
                          </a:clrFrom>
                          <a:clrTo>
                            <a:srgbClr val="FFFFFF"/>
                          </a:clrTo>
                        </a:clrChange>
                      </a:blip>
                      <a:stretch>
                        <a:fillRect/>
                      </a:stretch>
                    </p:blipFill>
                    <p:spPr>
                      <a:xfrm>
                        <a:off x="755650" y="2554288"/>
                        <a:ext cx="3656013" cy="730250"/>
                      </a:xfrm>
                      <a:prstGeom prst="rect">
                        <a:avLst/>
                      </a:prstGeom>
                      <a:noFill/>
                      <a:ln w="38100">
                        <a:noFill/>
                        <a:miter/>
                      </a:ln>
                    </p:spPr>
                  </p:pic>
                </p:oleObj>
              </mc:Fallback>
            </mc:AlternateContent>
          </a:graphicData>
        </a:graphic>
      </p:graphicFrame>
      <p:sp>
        <p:nvSpPr>
          <p:cNvPr id="225295" name="Rectangle 15"/>
          <p:cNvSpPr/>
          <p:nvPr/>
        </p:nvSpPr>
        <p:spPr>
          <a:xfrm>
            <a:off x="396875" y="620713"/>
            <a:ext cx="2519363" cy="431800"/>
          </a:xfrm>
          <a:prstGeom prst="rect">
            <a:avLst/>
          </a:prstGeom>
          <a:noFill/>
          <a:ln w="9525">
            <a:noFill/>
          </a:ln>
        </p:spPr>
        <p:txBody>
          <a:bodyPr anchor="t" anchorCtr="0"/>
          <a:lstStyle/>
          <a:p>
            <a:pPr marL="342900" indent="-342900">
              <a:lnSpc>
                <a:spcPct val="90000"/>
              </a:lnSpc>
            </a:pPr>
            <a:r>
              <a:rPr lang="zh-CN" altLang="en-US" dirty="0">
                <a:solidFill>
                  <a:srgbClr val="FFB7B7"/>
                </a:solidFill>
                <a:latin typeface="宋体" panose="02010600030101010101" pitchFamily="2" charset="-122"/>
                <a:ea typeface="宋体" panose="02010600030101010101" pitchFamily="2" charset="-122"/>
              </a:rPr>
              <a:t>环流的概念</a:t>
            </a:r>
          </a:p>
        </p:txBody>
      </p:sp>
      <p:sp>
        <p:nvSpPr>
          <p:cNvPr id="225296" name="Rectangle 16"/>
          <p:cNvSpPr/>
          <p:nvPr/>
        </p:nvSpPr>
        <p:spPr>
          <a:xfrm>
            <a:off x="34925" y="1052513"/>
            <a:ext cx="9036050" cy="1114425"/>
          </a:xfrm>
          <a:prstGeom prst="rect">
            <a:avLst/>
          </a:prstGeom>
          <a:noFill/>
          <a:ln w="9525">
            <a:noFill/>
          </a:ln>
        </p:spPr>
        <p:txBody>
          <a:bodyPr anchor="t" anchorCtr="0">
            <a:spAutoFit/>
          </a:bodyPr>
          <a:lstStyle/>
          <a:p>
            <a:pPr marL="342900" indent="-342900">
              <a:lnSpc>
                <a:spcPct val="140000"/>
              </a:lnSpc>
            </a:pPr>
            <a:r>
              <a:rPr lang="en-US" altLang="zh-CN" dirty="0">
                <a:solidFill>
                  <a:schemeClr val="bg1"/>
                </a:solidFill>
                <a:latin typeface="Times New Roman" panose="02020603050405020304" pitchFamily="18" charset="0"/>
                <a:ea typeface="楷体_GB2312" pitchFamily="49" charset="-122"/>
              </a:rPr>
              <a:t>             </a:t>
            </a:r>
            <a:r>
              <a:rPr lang="zh-CN" altLang="en-US" dirty="0">
                <a:solidFill>
                  <a:schemeClr val="bg1"/>
                </a:solidFill>
                <a:latin typeface="Times New Roman" panose="02020603050405020304" pitchFamily="18" charset="0"/>
                <a:ea typeface="楷体_GB2312" pitchFamily="49" charset="-122"/>
              </a:rPr>
              <a:t>矢量场对于闭合曲线</a:t>
            </a:r>
            <a:r>
              <a:rPr lang="en-US" altLang="zh-CN" i="1" dirty="0">
                <a:solidFill>
                  <a:schemeClr val="bg1"/>
                </a:solidFill>
                <a:latin typeface="Times New Roman" panose="02020603050405020304" pitchFamily="18" charset="0"/>
                <a:ea typeface="楷体_GB2312" pitchFamily="49" charset="-122"/>
              </a:rPr>
              <a:t>C </a:t>
            </a:r>
            <a:r>
              <a:rPr lang="zh-CN" altLang="en-US" dirty="0">
                <a:solidFill>
                  <a:schemeClr val="bg1"/>
                </a:solidFill>
                <a:latin typeface="Times New Roman" panose="02020603050405020304" pitchFamily="18" charset="0"/>
                <a:ea typeface="楷体_GB2312" pitchFamily="49" charset="-122"/>
              </a:rPr>
              <a:t>的环流定义为该矢量对闭合曲线</a:t>
            </a:r>
            <a:r>
              <a:rPr lang="en-US" altLang="zh-CN" i="1" dirty="0">
                <a:solidFill>
                  <a:schemeClr val="bg1"/>
                </a:solidFill>
                <a:latin typeface="Times New Roman" panose="02020603050405020304" pitchFamily="18" charset="0"/>
                <a:ea typeface="楷体_GB2312" pitchFamily="49" charset="-122"/>
              </a:rPr>
              <a:t>C </a:t>
            </a:r>
            <a:r>
              <a:rPr lang="zh-CN" altLang="en-US" dirty="0">
                <a:solidFill>
                  <a:schemeClr val="bg1"/>
                </a:solidFill>
                <a:latin typeface="Times New Roman" panose="02020603050405020304" pitchFamily="18" charset="0"/>
                <a:ea typeface="楷体_GB2312" pitchFamily="49" charset="-122"/>
              </a:rPr>
              <a:t>的线积分，即</a:t>
            </a:r>
            <a:endParaRPr lang="zh-CN" altLang="en-US" dirty="0">
              <a:solidFill>
                <a:schemeClr val="bg1"/>
              </a:solidFill>
              <a:latin typeface="楷体_GB2312" pitchFamily="49" charset="-122"/>
              <a:ea typeface="楷体_GB2312" pitchFamily="49" charset="-122"/>
            </a:endParaRPr>
          </a:p>
        </p:txBody>
      </p:sp>
      <p:sp>
        <p:nvSpPr>
          <p:cNvPr id="98308" name="AutoShape 18">
            <a:hlinkClick r:id="rId5"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8309" name="AutoShape 19">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8310" name="AutoShape 20">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98311" name="AutoShape 21">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pic>
        <p:nvPicPr>
          <p:cNvPr id="98312" name="Picture 46"/>
          <p:cNvPicPr>
            <a:picLocks noChangeAspect="1"/>
          </p:cNvPicPr>
          <p:nvPr/>
        </p:nvPicPr>
        <p:blipFill>
          <a:blip r:embed="rId6"/>
          <a:stretch>
            <a:fillRect/>
          </a:stretch>
        </p:blipFill>
        <p:spPr>
          <a:xfrm>
            <a:off x="5867400" y="2349500"/>
            <a:ext cx="2736850" cy="1612900"/>
          </a:xfrm>
          <a:prstGeom prst="rect">
            <a:avLst/>
          </a:prstGeom>
          <a:noFill/>
          <a:ln w="9525">
            <a:noFill/>
          </a:ln>
        </p:spPr>
      </p:pic>
      <p:sp>
        <p:nvSpPr>
          <p:cNvPr id="225328" name="Rectangle 48"/>
          <p:cNvSpPr/>
          <p:nvPr/>
        </p:nvSpPr>
        <p:spPr>
          <a:xfrm>
            <a:off x="395288" y="3429000"/>
            <a:ext cx="5103812" cy="576263"/>
          </a:xfrm>
          <a:prstGeom prst="rect">
            <a:avLst/>
          </a:prstGeom>
          <a:noFill/>
          <a:ln w="9525">
            <a:noFill/>
          </a:ln>
        </p:spPr>
        <p:txBody>
          <a:bodyPr anchor="t" anchorCtr="0"/>
          <a:lstStyle/>
          <a:p>
            <a:pPr marL="342900" indent="-342900">
              <a:lnSpc>
                <a:spcPct val="130000"/>
              </a:lnSpc>
              <a:spcBef>
                <a:spcPct val="0"/>
              </a:spcBef>
            </a:pPr>
            <a:r>
              <a:rPr lang="zh-CN" altLang="en-US" dirty="0">
                <a:solidFill>
                  <a:srgbClr val="FFB7B7"/>
                </a:solidFill>
                <a:latin typeface="Times New Roman" panose="02020603050405020304" pitchFamily="18" charset="0"/>
                <a:ea typeface="宋体" panose="02010600030101010101" pitchFamily="2" charset="-122"/>
              </a:rPr>
              <a:t>环流的物理意义</a:t>
            </a:r>
            <a:r>
              <a:rPr lang="zh-CN" altLang="en-US" dirty="0">
                <a:solidFill>
                  <a:srgbClr val="FFB7B7"/>
                </a:solidFill>
                <a:latin typeface="Times New Roman" panose="02020603050405020304" pitchFamily="18" charset="0"/>
                <a:ea typeface="幼圆" panose="02010509060101010101" pitchFamily="49" charset="-122"/>
              </a:rPr>
              <a:t>：</a:t>
            </a:r>
            <a:r>
              <a:rPr lang="zh-CN" altLang="en-US" dirty="0">
                <a:solidFill>
                  <a:schemeClr val="bg1"/>
                </a:solidFill>
                <a:latin typeface="Times New Roman" panose="02020603050405020304" pitchFamily="18" charset="0"/>
                <a:ea typeface="楷体_GB2312" pitchFamily="49" charset="-122"/>
              </a:rPr>
              <a:t>总的旋涡源强度。</a:t>
            </a:r>
          </a:p>
        </p:txBody>
      </p:sp>
      <p:graphicFrame>
        <p:nvGraphicFramePr>
          <p:cNvPr id="98314" name="Object 12"/>
          <p:cNvGraphicFramePr>
            <a:graphicFrameLocks noChangeAspect="1"/>
          </p:cNvGraphicFramePr>
          <p:nvPr/>
        </p:nvGraphicFramePr>
        <p:xfrm>
          <a:off x="1116013" y="4076700"/>
          <a:ext cx="2419350" cy="2447925"/>
        </p:xfrm>
        <a:graphic>
          <a:graphicData uri="http://schemas.openxmlformats.org/presentationml/2006/ole">
            <mc:AlternateContent xmlns:mc="http://schemas.openxmlformats.org/markup-compatibility/2006">
              <mc:Choice xmlns:v="urn:schemas-microsoft-com:vml" Requires="v">
                <p:oleObj r:id="rId7" imgW="2077085" imgH="2212340" progId="Visio.Drawing.11">
                  <p:embed/>
                </p:oleObj>
              </mc:Choice>
              <mc:Fallback>
                <p:oleObj r:id="rId7" imgW="2077085" imgH="2212340" progId="Visio.Drawing.11">
                  <p:embed/>
                  <p:pic>
                    <p:nvPicPr>
                      <p:cNvPr id="0" name="图片 3239"/>
                      <p:cNvPicPr/>
                      <p:nvPr/>
                    </p:nvPicPr>
                    <p:blipFill>
                      <a:blip r:embed="rId8"/>
                      <a:stretch>
                        <a:fillRect/>
                      </a:stretch>
                    </p:blipFill>
                    <p:spPr>
                      <a:xfrm>
                        <a:off x="1116013" y="4076700"/>
                        <a:ext cx="2419350" cy="2447925"/>
                      </a:xfrm>
                      <a:prstGeom prst="rect">
                        <a:avLst/>
                      </a:prstGeom>
                      <a:solidFill>
                        <a:schemeClr val="bg1"/>
                      </a:solidFill>
                      <a:ln w="38100">
                        <a:noFill/>
                        <a:miter/>
                      </a:ln>
                    </p:spPr>
                  </p:pic>
                </p:oleObj>
              </mc:Fallback>
            </mc:AlternateContent>
          </a:graphicData>
        </a:graphic>
      </p:graphicFrame>
      <p:pic>
        <p:nvPicPr>
          <p:cNvPr id="98315" name="Picture 13"/>
          <p:cNvPicPr>
            <a:picLocks noChangeAspect="1"/>
          </p:cNvPicPr>
          <p:nvPr/>
        </p:nvPicPr>
        <p:blipFill>
          <a:blip r:embed="rId9"/>
          <a:stretch>
            <a:fillRect/>
          </a:stretch>
        </p:blipFill>
        <p:spPr>
          <a:xfrm>
            <a:off x="4211638" y="4437063"/>
            <a:ext cx="2781300" cy="180022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4" name="Text Box 4"/>
          <p:cNvSpPr txBox="1"/>
          <p:nvPr/>
        </p:nvSpPr>
        <p:spPr>
          <a:xfrm>
            <a:off x="827088" y="1916113"/>
            <a:ext cx="7467600" cy="2563812"/>
          </a:xfrm>
          <a:prstGeom prst="rect">
            <a:avLst/>
          </a:prstGeom>
          <a:noFill/>
          <a:ln w="19050">
            <a:noFill/>
          </a:ln>
        </p:spPr>
        <p:txBody>
          <a:bodyPr anchor="t" anchorCtr="0">
            <a:spAutoFit/>
          </a:bodyPr>
          <a:lstStyle/>
          <a:p>
            <a:pPr>
              <a:lnSpc>
                <a:spcPct val="150000"/>
              </a:lnSpc>
              <a:spcBef>
                <a:spcPct val="50000"/>
              </a:spcBef>
            </a:pPr>
            <a:r>
              <a:rPr lang="en-US" altLang="zh-CN" dirty="0">
                <a:solidFill>
                  <a:srgbClr val="3333FF"/>
                </a:solidFill>
                <a:latin typeface="Times New Roman" panose="02020603050405020304" pitchFamily="18" charset="0"/>
                <a:ea typeface="楷体_GB2312" pitchFamily="49" charset="-122"/>
              </a:rPr>
              <a:t>       </a:t>
            </a:r>
            <a:r>
              <a:rPr lang="en-US" altLang="zh-CN" sz="2800" dirty="0">
                <a:solidFill>
                  <a:srgbClr val="3333FF"/>
                </a:solidFill>
                <a:latin typeface="Times New Roman" panose="02020603050405020304" pitchFamily="18" charset="0"/>
                <a:ea typeface="楷体_GB2312" pitchFamily="49" charset="-122"/>
              </a:rPr>
              <a:t> </a:t>
            </a:r>
            <a:r>
              <a:rPr lang="zh-CN" altLang="en-US" sz="2800" dirty="0">
                <a:solidFill>
                  <a:srgbClr val="FF9933"/>
                </a:solidFill>
                <a:latin typeface="Times New Roman" panose="02020603050405020304" pitchFamily="18" charset="0"/>
                <a:ea typeface="楷体_GB2312" pitchFamily="49" charset="-122"/>
              </a:rPr>
              <a:t>环流</a:t>
            </a:r>
            <a:r>
              <a:rPr lang="zh-CN" altLang="en-US" dirty="0">
                <a:solidFill>
                  <a:schemeClr val="bg1"/>
                </a:solidFill>
                <a:latin typeface="Times New Roman" panose="02020603050405020304" pitchFamily="18" charset="0"/>
                <a:ea typeface="楷体_GB2312" pitchFamily="49" charset="-122"/>
              </a:rPr>
              <a:t>可以表示产生具有旋涡特性的源的强度，但是环量代表的是闭合曲线包围的</a:t>
            </a:r>
            <a:r>
              <a:rPr lang="zh-CN" altLang="en-US" sz="2800" dirty="0">
                <a:solidFill>
                  <a:srgbClr val="FF9933"/>
                </a:solidFill>
                <a:latin typeface="Times New Roman" panose="02020603050405020304" pitchFamily="18" charset="0"/>
                <a:ea typeface="楷体_GB2312" pitchFamily="49" charset="-122"/>
              </a:rPr>
              <a:t>总的涡旋源强度</a:t>
            </a:r>
            <a:r>
              <a:rPr lang="zh-CN" altLang="en-US" dirty="0">
                <a:solidFill>
                  <a:schemeClr val="bg1"/>
                </a:solidFill>
                <a:latin typeface="Times New Roman" panose="02020603050405020304" pitchFamily="18" charset="0"/>
                <a:ea typeface="楷体_GB2312" pitchFamily="49" charset="-122"/>
              </a:rPr>
              <a:t>，它不能显示涡旋源在区域内每一点的分布特性。为此，需要研究矢量场的</a:t>
            </a:r>
            <a:r>
              <a:rPr lang="zh-CN" altLang="en-US" sz="2800" dirty="0">
                <a:solidFill>
                  <a:srgbClr val="FF9900"/>
                </a:solidFill>
                <a:latin typeface="Times New Roman" panose="02020603050405020304" pitchFamily="18" charset="0"/>
                <a:ea typeface="楷体_GB2312" pitchFamily="49" charset="-122"/>
              </a:rPr>
              <a:t>旋度</a:t>
            </a:r>
            <a:r>
              <a:rPr lang="zh-CN" altLang="en-US" dirty="0">
                <a:solidFill>
                  <a:schemeClr val="bg1"/>
                </a:solidFill>
                <a:latin typeface="Times New Roman" panose="02020603050405020304" pitchFamily="18" charset="0"/>
                <a:ea typeface="楷体_GB2312" pitchFamily="49" charset="-122"/>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70" name="Rectangle 42"/>
          <p:cNvSpPr/>
          <p:nvPr/>
        </p:nvSpPr>
        <p:spPr>
          <a:xfrm>
            <a:off x="287338" y="765175"/>
            <a:ext cx="8677275" cy="1512888"/>
          </a:xfrm>
          <a:prstGeom prst="rect">
            <a:avLst/>
          </a:prstGeom>
          <a:noFill/>
          <a:ln w="9525">
            <a:noFill/>
          </a:ln>
        </p:spPr>
        <p:txBody>
          <a:bodyPr anchor="t" anchorCtr="0"/>
          <a:lstStyle/>
          <a:p>
            <a:pPr marL="342900" indent="-342900">
              <a:lnSpc>
                <a:spcPct val="130000"/>
              </a:lnSpc>
              <a:spcBef>
                <a:spcPct val="0"/>
              </a:spcBef>
            </a:pPr>
            <a:r>
              <a:rPr lang="en-US" altLang="zh-CN" dirty="0">
                <a:solidFill>
                  <a:schemeClr val="bg1"/>
                </a:solidFill>
                <a:latin typeface="幼圆" panose="02010509060101010101" pitchFamily="49" charset="-122"/>
                <a:ea typeface="幼圆" panose="02010509060101010101" pitchFamily="49" charset="-122"/>
              </a:rPr>
              <a:t>    </a:t>
            </a:r>
            <a:r>
              <a:rPr lang="zh-CN" altLang="en-US" dirty="0">
                <a:solidFill>
                  <a:schemeClr val="bg1"/>
                </a:solidFill>
                <a:latin typeface="楷体_GB2312" pitchFamily="49" charset="-122"/>
                <a:ea typeface="楷体_GB2312" pitchFamily="49" charset="-122"/>
              </a:rPr>
              <a:t>矢量场的环流给出了矢量场与积分回路所围曲面内旋涡源</a:t>
            </a:r>
          </a:p>
          <a:p>
            <a:pPr marL="342900" indent="-342900">
              <a:lnSpc>
                <a:spcPct val="130000"/>
              </a:lnSpc>
              <a:spcBef>
                <a:spcPct val="0"/>
              </a:spcBef>
            </a:pPr>
            <a:r>
              <a:rPr lang="zh-CN" altLang="en-US" dirty="0">
                <a:solidFill>
                  <a:schemeClr val="bg1"/>
                </a:solidFill>
                <a:latin typeface="楷体_GB2312" pitchFamily="49" charset="-122"/>
                <a:ea typeface="楷体_GB2312" pitchFamily="49" charset="-122"/>
              </a:rPr>
              <a:t>宏观联系。为了给出空间任意点矢量场与旋涡源的关系，引入</a:t>
            </a:r>
          </a:p>
          <a:p>
            <a:pPr marL="342900" indent="-342900">
              <a:lnSpc>
                <a:spcPct val="130000"/>
              </a:lnSpc>
              <a:spcBef>
                <a:spcPct val="0"/>
              </a:spcBef>
            </a:pPr>
            <a:r>
              <a:rPr lang="zh-CN" altLang="en-US" dirty="0">
                <a:solidFill>
                  <a:schemeClr val="bg1"/>
                </a:solidFill>
                <a:latin typeface="楷体_GB2312" pitchFamily="49" charset="-122"/>
                <a:ea typeface="楷体_GB2312" pitchFamily="49" charset="-122"/>
              </a:rPr>
              <a:t>矢量场的旋度。</a:t>
            </a:r>
            <a:r>
              <a:rPr lang="zh-CN" altLang="en-US" sz="2000" dirty="0">
                <a:solidFill>
                  <a:schemeClr val="bg1"/>
                </a:solidFill>
                <a:latin typeface="楷体_GB2312" pitchFamily="49" charset="-122"/>
                <a:ea typeface="楷体_GB2312" pitchFamily="49" charset="-122"/>
              </a:rPr>
              <a:t>  </a:t>
            </a:r>
          </a:p>
        </p:txBody>
      </p:sp>
      <p:grpSp>
        <p:nvGrpSpPr>
          <p:cNvPr id="227394" name="Group 66"/>
          <p:cNvGrpSpPr/>
          <p:nvPr/>
        </p:nvGrpSpPr>
        <p:grpSpPr>
          <a:xfrm>
            <a:off x="6732588" y="4364038"/>
            <a:ext cx="2160587" cy="2160587"/>
            <a:chOff x="4241" y="2568"/>
            <a:chExt cx="1361" cy="1361"/>
          </a:xfrm>
        </p:grpSpPr>
        <p:sp>
          <p:nvSpPr>
            <p:cNvPr id="102403" name="Rectangle 46"/>
            <p:cNvSpPr/>
            <p:nvPr/>
          </p:nvSpPr>
          <p:spPr>
            <a:xfrm>
              <a:off x="4241" y="2568"/>
              <a:ext cx="1361" cy="1361"/>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nvGrpSpPr>
            <p:cNvPr id="102404" name="Group 47"/>
            <p:cNvGrpSpPr/>
            <p:nvPr/>
          </p:nvGrpSpPr>
          <p:grpSpPr>
            <a:xfrm>
              <a:off x="4286" y="2614"/>
              <a:ext cx="1216" cy="1229"/>
              <a:chOff x="4295" y="2292"/>
              <a:chExt cx="1216" cy="1229"/>
            </a:xfrm>
          </p:grpSpPr>
          <p:sp>
            <p:nvSpPr>
              <p:cNvPr id="227376" name="Oval 48"/>
              <p:cNvSpPr>
                <a:spLocks noChangeArrowheads="1"/>
              </p:cNvSpPr>
              <p:nvPr/>
            </p:nvSpPr>
            <p:spPr bwMode="auto">
              <a:xfrm rot="2881200">
                <a:off x="4711" y="2616"/>
                <a:ext cx="458" cy="879"/>
              </a:xfrm>
              <a:prstGeom prst="ellipse">
                <a:avLst/>
              </a:prstGeom>
              <a:gradFill rotWithShape="1">
                <a:gsLst>
                  <a:gs pos="0">
                    <a:schemeClr val="accent2">
                      <a:gamma/>
                      <a:tint val="63137"/>
                      <a:invGamma/>
                    </a:schemeClr>
                  </a:gs>
                  <a:gs pos="100000">
                    <a:schemeClr val="accent2"/>
                  </a:gs>
                </a:gsLst>
                <a:path path="shape">
                  <a:fillToRect l="50000" t="50000" r="50000" b="50000"/>
                </a:path>
              </a:gradFill>
              <a:ln w="38100">
                <a:solidFill>
                  <a:srgbClr val="FF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2406" name="Line 49"/>
              <p:cNvSpPr/>
              <p:nvPr/>
            </p:nvSpPr>
            <p:spPr>
              <a:xfrm flipH="1" flipV="1">
                <a:off x="4537" y="2628"/>
                <a:ext cx="363" cy="408"/>
              </a:xfrm>
              <a:prstGeom prst="line">
                <a:avLst/>
              </a:prstGeom>
              <a:ln w="38100" cap="flat" cmpd="sng">
                <a:solidFill>
                  <a:srgbClr val="CC3300"/>
                </a:solidFill>
                <a:prstDash val="solid"/>
                <a:round/>
                <a:headEnd type="none" w="med" len="med"/>
                <a:tailEnd type="triangle" w="med" len="med"/>
              </a:ln>
            </p:spPr>
            <p:txBody>
              <a:bodyPr/>
              <a:lstStyle/>
              <a:p>
                <a:endParaRPr lang="zh-CN" altLang="en-US"/>
              </a:p>
            </p:txBody>
          </p:sp>
          <p:sp>
            <p:nvSpPr>
              <p:cNvPr id="102407" name="Arc 50"/>
              <p:cNvSpPr/>
              <p:nvPr/>
            </p:nvSpPr>
            <p:spPr>
              <a:xfrm flipV="1">
                <a:off x="4840" y="3001"/>
                <a:ext cx="91" cy="520"/>
              </a:xfrm>
              <a:custGeom>
                <a:avLst/>
                <a:gdLst/>
                <a:ahLst/>
                <a:cxnLst>
                  <a:cxn ang="0">
                    <a:pos x="0" y="0"/>
                  </a:cxn>
                  <a:cxn ang="0">
                    <a:pos x="0" y="0"/>
                  </a:cxn>
                  <a:cxn ang="0">
                    <a:pos x="0" y="0"/>
                  </a:cxn>
                </a:cxnLst>
                <a:rect l="0" t="0" r="0" b="0"/>
                <a:pathLst>
                  <a:path w="21600" h="13573" fill="none">
                    <a:moveTo>
                      <a:pt x="19209" y="-1"/>
                    </a:moveTo>
                    <a:cubicBezTo>
                      <a:pt x="20780" y="3055"/>
                      <a:pt x="21600" y="6441"/>
                      <a:pt x="21600" y="9877"/>
                    </a:cubicBezTo>
                    <a:cubicBezTo>
                      <a:pt x="21600" y="11115"/>
                      <a:pt x="21493" y="12352"/>
                      <a:pt x="21281" y="13573"/>
                    </a:cubicBezTo>
                  </a:path>
                  <a:path w="21600" h="13573" stroke="0">
                    <a:moveTo>
                      <a:pt x="19209" y="-1"/>
                    </a:moveTo>
                    <a:cubicBezTo>
                      <a:pt x="20780" y="3055"/>
                      <a:pt x="21600" y="6441"/>
                      <a:pt x="21600" y="9877"/>
                    </a:cubicBezTo>
                    <a:cubicBezTo>
                      <a:pt x="21600" y="11115"/>
                      <a:pt x="21493" y="12352"/>
                      <a:pt x="21281" y="13573"/>
                    </a:cubicBezTo>
                    <a:lnTo>
                      <a:pt x="0" y="9877"/>
                    </a:lnTo>
                    <a:lnTo>
                      <a:pt x="19209" y="-1"/>
                    </a:lnTo>
                    <a:close/>
                  </a:path>
                </a:pathLst>
              </a:custGeom>
              <a:noFill/>
              <a:ln w="38100" cap="flat" cmpd="sng">
                <a:solidFill>
                  <a:srgbClr val="3366FF"/>
                </a:solidFill>
                <a:prstDash val="dash"/>
                <a:round/>
                <a:headEnd type="none" w="med" len="med"/>
                <a:tailEnd type="none" w="med" len="med"/>
              </a:ln>
            </p:spPr>
            <p:txBody>
              <a:bodyPr/>
              <a:lstStyle/>
              <a:p>
                <a:endParaRPr lang="zh-CN" altLang="en-US"/>
              </a:p>
            </p:txBody>
          </p:sp>
          <p:sp>
            <p:nvSpPr>
              <p:cNvPr id="102408" name="Line 51"/>
              <p:cNvSpPr/>
              <p:nvPr/>
            </p:nvSpPr>
            <p:spPr>
              <a:xfrm flipV="1">
                <a:off x="5027" y="3106"/>
                <a:ext cx="182" cy="181"/>
              </a:xfrm>
              <a:prstGeom prst="line">
                <a:avLst/>
              </a:prstGeom>
              <a:ln w="38100" cap="flat" cmpd="sng">
                <a:solidFill>
                  <a:srgbClr val="FF0000"/>
                </a:solidFill>
                <a:prstDash val="solid"/>
                <a:round/>
                <a:headEnd type="none" w="med" len="med"/>
                <a:tailEnd type="triangle" w="med" len="med"/>
              </a:ln>
            </p:spPr>
            <p:txBody>
              <a:bodyPr/>
              <a:lstStyle/>
              <a:p>
                <a:endParaRPr lang="zh-CN" altLang="en-US"/>
              </a:p>
            </p:txBody>
          </p:sp>
          <p:sp>
            <p:nvSpPr>
              <p:cNvPr id="102409" name="Line 52"/>
              <p:cNvSpPr/>
              <p:nvPr/>
            </p:nvSpPr>
            <p:spPr>
              <a:xfrm flipH="1">
                <a:off x="4600" y="2931"/>
                <a:ext cx="136" cy="181"/>
              </a:xfrm>
              <a:prstGeom prst="line">
                <a:avLst/>
              </a:prstGeom>
              <a:ln w="38100" cap="flat" cmpd="sng">
                <a:solidFill>
                  <a:srgbClr val="FF0000"/>
                </a:solidFill>
                <a:prstDash val="solid"/>
                <a:round/>
                <a:headEnd type="none" w="med" len="med"/>
                <a:tailEnd type="triangle" w="med" len="med"/>
              </a:ln>
            </p:spPr>
            <p:txBody>
              <a:bodyPr/>
              <a:lstStyle/>
              <a:p>
                <a:endParaRPr lang="zh-CN" altLang="en-US"/>
              </a:p>
            </p:txBody>
          </p:sp>
          <p:sp>
            <p:nvSpPr>
              <p:cNvPr id="102410" name="Line 53"/>
              <p:cNvSpPr/>
              <p:nvPr/>
            </p:nvSpPr>
            <p:spPr>
              <a:xfrm flipV="1">
                <a:off x="4931" y="2432"/>
                <a:ext cx="8" cy="603"/>
              </a:xfrm>
              <a:prstGeom prst="line">
                <a:avLst/>
              </a:prstGeom>
              <a:ln w="38100" cap="flat" cmpd="sng">
                <a:solidFill>
                  <a:srgbClr val="0000FF"/>
                </a:solidFill>
                <a:prstDash val="solid"/>
                <a:round/>
                <a:headEnd type="none" w="med" len="med"/>
                <a:tailEnd type="triangle" w="med" len="med"/>
              </a:ln>
            </p:spPr>
            <p:txBody>
              <a:bodyPr/>
              <a:lstStyle/>
              <a:p>
                <a:endParaRPr lang="zh-CN" altLang="en-US"/>
              </a:p>
            </p:txBody>
          </p:sp>
          <p:graphicFrame>
            <p:nvGraphicFramePr>
              <p:cNvPr id="102411" name="Object 54"/>
              <p:cNvGraphicFramePr>
                <a:graphicFrameLocks noChangeAspect="1"/>
              </p:cNvGraphicFramePr>
              <p:nvPr/>
            </p:nvGraphicFramePr>
            <p:xfrm>
              <a:off x="4573" y="3112"/>
              <a:ext cx="357" cy="257"/>
            </p:xfrm>
            <a:graphic>
              <a:graphicData uri="http://schemas.openxmlformats.org/presentationml/2006/ole">
                <mc:AlternateContent xmlns:mc="http://schemas.openxmlformats.org/markup-compatibility/2006">
                  <mc:Choice xmlns:v="urn:schemas-microsoft-com:vml" Requires="v">
                    <p:oleObj r:id="rId3" imgW="160020" imgH="115570" progId="Equation.3">
                      <p:embed/>
                    </p:oleObj>
                  </mc:Choice>
                  <mc:Fallback>
                    <p:oleObj r:id="rId3" imgW="160020" imgH="115570" progId="Equation.3">
                      <p:embed/>
                      <p:pic>
                        <p:nvPicPr>
                          <p:cNvPr id="0" name="图片 3245"/>
                          <p:cNvPicPr/>
                          <p:nvPr/>
                        </p:nvPicPr>
                        <p:blipFill>
                          <a:blip r:embed="rId4">
                            <a:clrChange>
                              <a:clrFrom>
                                <a:srgbClr val="000000"/>
                              </a:clrFrom>
                              <a:clrTo>
                                <a:srgbClr val="FFFFFF"/>
                              </a:clrTo>
                            </a:clrChange>
                          </a:blip>
                          <a:stretch>
                            <a:fillRect/>
                          </a:stretch>
                        </p:blipFill>
                        <p:spPr>
                          <a:xfrm>
                            <a:off x="4573" y="3112"/>
                            <a:ext cx="357" cy="257"/>
                          </a:xfrm>
                          <a:prstGeom prst="rect">
                            <a:avLst/>
                          </a:prstGeom>
                          <a:noFill/>
                          <a:ln w="38100">
                            <a:noFill/>
                            <a:miter/>
                          </a:ln>
                        </p:spPr>
                      </p:pic>
                    </p:oleObj>
                  </mc:Fallback>
                </mc:AlternateContent>
              </a:graphicData>
            </a:graphic>
          </p:graphicFrame>
          <p:graphicFrame>
            <p:nvGraphicFramePr>
              <p:cNvPr id="102412" name="Object 55"/>
              <p:cNvGraphicFramePr>
                <a:graphicFrameLocks noChangeAspect="1"/>
              </p:cNvGraphicFramePr>
              <p:nvPr/>
            </p:nvGraphicFramePr>
            <p:xfrm>
              <a:off x="5272" y="3018"/>
              <a:ext cx="239" cy="258"/>
            </p:xfrm>
            <a:graphic>
              <a:graphicData uri="http://schemas.openxmlformats.org/presentationml/2006/ole">
                <mc:AlternateContent xmlns:mc="http://schemas.openxmlformats.org/markup-compatibility/2006">
                  <mc:Choice xmlns:v="urn:schemas-microsoft-com:vml" Requires="v">
                    <p:oleObj r:id="rId5" imgW="93345" imgH="115570" progId="Equation.DSMT4">
                      <p:embed/>
                    </p:oleObj>
                  </mc:Choice>
                  <mc:Fallback>
                    <p:oleObj r:id="rId5" imgW="93345" imgH="115570" progId="Equation.DSMT4">
                      <p:embed/>
                      <p:pic>
                        <p:nvPicPr>
                          <p:cNvPr id="0" name="图片 3242"/>
                          <p:cNvPicPr/>
                          <p:nvPr/>
                        </p:nvPicPr>
                        <p:blipFill>
                          <a:blip r:embed="rId6">
                            <a:clrChange>
                              <a:clrFrom>
                                <a:srgbClr val="000000"/>
                              </a:clrFrom>
                              <a:clrTo>
                                <a:srgbClr val="000000"/>
                              </a:clrTo>
                            </a:clrChange>
                          </a:blip>
                          <a:stretch>
                            <a:fillRect/>
                          </a:stretch>
                        </p:blipFill>
                        <p:spPr>
                          <a:xfrm>
                            <a:off x="5272" y="3018"/>
                            <a:ext cx="239" cy="258"/>
                          </a:xfrm>
                          <a:prstGeom prst="rect">
                            <a:avLst/>
                          </a:prstGeom>
                          <a:noFill/>
                          <a:ln w="38100">
                            <a:noFill/>
                            <a:miter/>
                          </a:ln>
                        </p:spPr>
                      </p:pic>
                    </p:oleObj>
                  </mc:Fallback>
                </mc:AlternateContent>
              </a:graphicData>
            </a:graphic>
          </p:graphicFrame>
          <p:graphicFrame>
            <p:nvGraphicFramePr>
              <p:cNvPr id="102413" name="Object 56"/>
              <p:cNvGraphicFramePr>
                <a:graphicFrameLocks noChangeAspect="1"/>
              </p:cNvGraphicFramePr>
              <p:nvPr/>
            </p:nvGraphicFramePr>
            <p:xfrm>
              <a:off x="4954" y="2882"/>
              <a:ext cx="195" cy="226"/>
            </p:xfrm>
            <a:graphic>
              <a:graphicData uri="http://schemas.openxmlformats.org/presentationml/2006/ole">
                <mc:AlternateContent xmlns:mc="http://schemas.openxmlformats.org/markup-compatibility/2006">
                  <mc:Choice xmlns:v="urn:schemas-microsoft-com:vml" Requires="v">
                    <p:oleObj r:id="rId7" imgW="137795" imgH="104775" progId="Equation.DSMT4">
                      <p:embed/>
                    </p:oleObj>
                  </mc:Choice>
                  <mc:Fallback>
                    <p:oleObj r:id="rId7" imgW="137795" imgH="104775" progId="Equation.DSMT4">
                      <p:embed/>
                      <p:pic>
                        <p:nvPicPr>
                          <p:cNvPr id="0" name="图片 3246"/>
                          <p:cNvPicPr/>
                          <p:nvPr/>
                        </p:nvPicPr>
                        <p:blipFill>
                          <a:blip r:embed="rId8">
                            <a:clrChange>
                              <a:clrFrom>
                                <a:srgbClr val="000000"/>
                              </a:clrFrom>
                              <a:clrTo>
                                <a:srgbClr val="FFFFFF"/>
                              </a:clrTo>
                            </a:clrChange>
                          </a:blip>
                          <a:stretch>
                            <a:fillRect/>
                          </a:stretch>
                        </p:blipFill>
                        <p:spPr>
                          <a:xfrm>
                            <a:off x="4954" y="2882"/>
                            <a:ext cx="195" cy="226"/>
                          </a:xfrm>
                          <a:prstGeom prst="rect">
                            <a:avLst/>
                          </a:prstGeom>
                          <a:noFill/>
                          <a:ln w="38100">
                            <a:noFill/>
                            <a:miter/>
                          </a:ln>
                        </p:spPr>
                      </p:pic>
                    </p:oleObj>
                  </mc:Fallback>
                </mc:AlternateContent>
              </a:graphicData>
            </a:graphic>
          </p:graphicFrame>
          <p:graphicFrame>
            <p:nvGraphicFramePr>
              <p:cNvPr id="102414" name="Object 57"/>
              <p:cNvGraphicFramePr>
                <a:graphicFrameLocks noChangeAspect="1"/>
              </p:cNvGraphicFramePr>
              <p:nvPr/>
            </p:nvGraphicFramePr>
            <p:xfrm>
              <a:off x="5000" y="2292"/>
              <a:ext cx="259" cy="276"/>
            </p:xfrm>
            <a:graphic>
              <a:graphicData uri="http://schemas.openxmlformats.org/presentationml/2006/ole">
                <mc:AlternateContent xmlns:mc="http://schemas.openxmlformats.org/markup-compatibility/2006">
                  <mc:Choice xmlns:v="urn:schemas-microsoft-com:vml" Requires="v">
                    <p:oleObj r:id="rId9" imgW="104775" imgH="127000" progId="Equation.3">
                      <p:embed/>
                    </p:oleObj>
                  </mc:Choice>
                  <mc:Fallback>
                    <p:oleObj r:id="rId9" imgW="104775" imgH="127000" progId="Equation.3">
                      <p:embed/>
                      <p:pic>
                        <p:nvPicPr>
                          <p:cNvPr id="0" name="图片 3244"/>
                          <p:cNvPicPr/>
                          <p:nvPr/>
                        </p:nvPicPr>
                        <p:blipFill>
                          <a:blip r:embed="rId10">
                            <a:clrChange>
                              <a:clrFrom>
                                <a:srgbClr val="000000"/>
                              </a:clrFrom>
                              <a:clrTo>
                                <a:srgbClr val="000000"/>
                              </a:clrTo>
                            </a:clrChange>
                          </a:blip>
                          <a:stretch>
                            <a:fillRect/>
                          </a:stretch>
                        </p:blipFill>
                        <p:spPr>
                          <a:xfrm>
                            <a:off x="5000" y="2292"/>
                            <a:ext cx="259" cy="276"/>
                          </a:xfrm>
                          <a:prstGeom prst="rect">
                            <a:avLst/>
                          </a:prstGeom>
                          <a:noFill/>
                          <a:ln w="38100">
                            <a:noFill/>
                            <a:miter/>
                          </a:ln>
                        </p:spPr>
                      </p:pic>
                    </p:oleObj>
                  </mc:Fallback>
                </mc:AlternateContent>
              </a:graphicData>
            </a:graphic>
          </p:graphicFrame>
          <p:graphicFrame>
            <p:nvGraphicFramePr>
              <p:cNvPr id="102415" name="Object 58"/>
              <p:cNvGraphicFramePr>
                <a:graphicFrameLocks noChangeAspect="1"/>
              </p:cNvGraphicFramePr>
              <p:nvPr/>
            </p:nvGraphicFramePr>
            <p:xfrm>
              <a:off x="4295" y="2423"/>
              <a:ext cx="219" cy="283"/>
            </p:xfrm>
            <a:graphic>
              <a:graphicData uri="http://schemas.openxmlformats.org/presentationml/2006/ole">
                <mc:AlternateContent xmlns:mc="http://schemas.openxmlformats.org/markup-compatibility/2006">
                  <mc:Choice xmlns:v="urn:schemas-microsoft-com:vml" Requires="v">
                    <p:oleObj r:id="rId11" imgW="71755" imgH="115570" progId="Equation.DSMT4">
                      <p:embed/>
                    </p:oleObj>
                  </mc:Choice>
                  <mc:Fallback>
                    <p:oleObj r:id="rId11" imgW="71755" imgH="115570" progId="Equation.DSMT4">
                      <p:embed/>
                      <p:pic>
                        <p:nvPicPr>
                          <p:cNvPr id="0" name="图片 3241"/>
                          <p:cNvPicPr/>
                          <p:nvPr/>
                        </p:nvPicPr>
                        <p:blipFill>
                          <a:blip r:embed="rId12">
                            <a:clrChange>
                              <a:clrFrom>
                                <a:srgbClr val="000000"/>
                              </a:clrFrom>
                              <a:clrTo>
                                <a:srgbClr val="000000"/>
                              </a:clrTo>
                            </a:clrChange>
                          </a:blip>
                          <a:stretch>
                            <a:fillRect/>
                          </a:stretch>
                        </p:blipFill>
                        <p:spPr>
                          <a:xfrm>
                            <a:off x="4295" y="2423"/>
                            <a:ext cx="219" cy="283"/>
                          </a:xfrm>
                          <a:prstGeom prst="rect">
                            <a:avLst/>
                          </a:prstGeom>
                          <a:noFill/>
                          <a:ln w="38100">
                            <a:noFill/>
                            <a:miter/>
                          </a:ln>
                        </p:spPr>
                      </p:pic>
                    </p:oleObj>
                  </mc:Fallback>
                </mc:AlternateContent>
              </a:graphicData>
            </a:graphic>
          </p:graphicFrame>
        </p:grpSp>
      </p:grpSp>
      <p:grpSp>
        <p:nvGrpSpPr>
          <p:cNvPr id="227405" name="Group 77"/>
          <p:cNvGrpSpPr/>
          <p:nvPr/>
        </p:nvGrpSpPr>
        <p:grpSpPr>
          <a:xfrm>
            <a:off x="360363" y="392113"/>
            <a:ext cx="5291137" cy="444500"/>
            <a:chOff x="227" y="391"/>
            <a:chExt cx="3333" cy="280"/>
          </a:xfrm>
        </p:grpSpPr>
        <p:sp>
          <p:nvSpPr>
            <p:cNvPr id="102417" name="Rectangle 39"/>
            <p:cNvSpPr/>
            <p:nvPr/>
          </p:nvSpPr>
          <p:spPr>
            <a:xfrm>
              <a:off x="227" y="391"/>
              <a:ext cx="3333" cy="272"/>
            </a:xfrm>
            <a:prstGeom prst="rect">
              <a:avLst/>
            </a:prstGeom>
            <a:noFill/>
            <a:ln w="9525">
              <a:noFill/>
            </a:ln>
          </p:spPr>
          <p:txBody>
            <a:bodyPr anchor="t" anchorCtr="0"/>
            <a:lstStyle/>
            <a:p>
              <a:pPr marL="342900" indent="-342900"/>
              <a:r>
                <a:rPr lang="en-US" altLang="zh-CN" dirty="0">
                  <a:solidFill>
                    <a:schemeClr val="bg1"/>
                  </a:solidFill>
                  <a:latin typeface="Times New Roman" panose="02020603050405020304" pitchFamily="18" charset="0"/>
                  <a:ea typeface="宋体" panose="02010600030101010101" pitchFamily="2" charset="-122"/>
                </a:rPr>
                <a:t>2.   </a:t>
              </a:r>
              <a:r>
                <a:rPr lang="zh-CN" altLang="en-US" dirty="0">
                  <a:solidFill>
                    <a:schemeClr val="bg1"/>
                  </a:solidFill>
                  <a:latin typeface="Times New Roman" panose="02020603050405020304" pitchFamily="18" charset="0"/>
                  <a:ea typeface="宋体" panose="02010600030101010101" pitchFamily="2" charset="-122"/>
                </a:rPr>
                <a:t>矢量场的旋度</a:t>
              </a:r>
              <a:r>
                <a:rPr lang="zh-CN" altLang="en-US" dirty="0">
                  <a:solidFill>
                    <a:schemeClr val="bg1"/>
                  </a:solidFill>
                  <a:latin typeface="幼圆" panose="02010509060101010101" pitchFamily="49" charset="-122"/>
                  <a:ea typeface="幼圆" panose="02010509060101010101" pitchFamily="49" charset="-122"/>
                </a:rPr>
                <a:t>（      ）</a:t>
              </a:r>
              <a:r>
                <a:rPr lang="zh-CN" altLang="en-US" sz="2000" dirty="0">
                  <a:solidFill>
                    <a:schemeClr val="bg1"/>
                  </a:solidFill>
                  <a:latin typeface="幼圆" panose="02010509060101010101" pitchFamily="49" charset="-122"/>
                  <a:ea typeface="幼圆" panose="02010509060101010101" pitchFamily="49" charset="-122"/>
                </a:rPr>
                <a:t>  </a:t>
              </a:r>
            </a:p>
          </p:txBody>
        </p:sp>
        <p:graphicFrame>
          <p:nvGraphicFramePr>
            <p:cNvPr id="102418" name="Object 64"/>
            <p:cNvGraphicFramePr>
              <a:graphicFrameLocks noChangeAspect="1"/>
            </p:cNvGraphicFramePr>
            <p:nvPr/>
          </p:nvGraphicFramePr>
          <p:xfrm>
            <a:off x="1946" y="391"/>
            <a:ext cx="589" cy="280"/>
          </p:xfrm>
          <a:graphic>
            <a:graphicData uri="http://schemas.openxmlformats.org/presentationml/2006/ole">
              <mc:AlternateContent xmlns:mc="http://schemas.openxmlformats.org/markup-compatibility/2006">
                <mc:Choice xmlns:v="urn:schemas-microsoft-com:vml" Requires="v">
                  <p:oleObj r:id="rId13" imgW="302895" imgH="148590" progId="Equation.DSMT4">
                    <p:embed/>
                  </p:oleObj>
                </mc:Choice>
                <mc:Fallback>
                  <p:oleObj r:id="rId13" imgW="302895" imgH="148590" progId="Equation.DSMT4">
                    <p:embed/>
                    <p:pic>
                      <p:nvPicPr>
                        <p:cNvPr id="0" name="图片 3240"/>
                        <p:cNvPicPr/>
                        <p:nvPr/>
                      </p:nvPicPr>
                      <p:blipFill>
                        <a:blip r:embed="rId14">
                          <a:clrChange>
                            <a:clrFrom>
                              <a:srgbClr val="000000"/>
                            </a:clrFrom>
                            <a:clrTo>
                              <a:srgbClr val="FFFFFF"/>
                            </a:clrTo>
                          </a:clrChange>
                        </a:blip>
                        <a:stretch>
                          <a:fillRect/>
                        </a:stretch>
                      </p:blipFill>
                      <p:spPr>
                        <a:xfrm>
                          <a:off x="1946" y="391"/>
                          <a:ext cx="589" cy="280"/>
                        </a:xfrm>
                        <a:prstGeom prst="rect">
                          <a:avLst/>
                        </a:prstGeom>
                        <a:noFill/>
                        <a:ln w="38100">
                          <a:noFill/>
                          <a:miter/>
                        </a:ln>
                      </p:spPr>
                    </p:pic>
                  </p:oleObj>
                </mc:Fallback>
              </mc:AlternateContent>
            </a:graphicData>
          </a:graphic>
        </p:graphicFrame>
      </p:grpSp>
      <p:sp>
        <p:nvSpPr>
          <p:cNvPr id="227395" name="Rectangle 67"/>
          <p:cNvSpPr/>
          <p:nvPr/>
        </p:nvSpPr>
        <p:spPr>
          <a:xfrm>
            <a:off x="936625" y="2319338"/>
            <a:ext cx="3203575" cy="895350"/>
          </a:xfrm>
          <a:prstGeom prst="rect">
            <a:avLst/>
          </a:prstGeom>
          <a:noFill/>
          <a:ln w="9525">
            <a:noFill/>
          </a:ln>
        </p:spPr>
        <p:txBody>
          <a:bodyPr anchor="t" anchorCtr="0">
            <a:spAutoFit/>
          </a:bodyPr>
          <a:lstStyle/>
          <a:p>
            <a:pPr marL="342900" indent="-342900"/>
            <a:r>
              <a:rPr lang="zh-CN" altLang="en-US" dirty="0">
                <a:solidFill>
                  <a:srgbClr val="FF9900"/>
                </a:solidFill>
                <a:latin typeface="Times New Roman" panose="02020603050405020304" pitchFamily="18" charset="0"/>
                <a:ea typeface="楷体_GB2312" pitchFamily="49" charset="-122"/>
              </a:rPr>
              <a:t>环流面密度</a:t>
            </a:r>
            <a:r>
              <a:rPr lang="zh-CN" altLang="en-US" dirty="0">
                <a:solidFill>
                  <a:srgbClr val="FF9900"/>
                </a:solidFill>
                <a:latin typeface="Arial" panose="020B0604020202020204" pitchFamily="34" charset="0"/>
                <a:ea typeface="楷体_GB2312" pitchFamily="49" charset="-122"/>
              </a:rPr>
              <a:t>（与</a:t>
            </a:r>
          </a:p>
          <a:p>
            <a:pPr marL="342900" indent="-342900"/>
            <a:r>
              <a:rPr lang="zh-CN" altLang="en-US" dirty="0">
                <a:solidFill>
                  <a:srgbClr val="FF9900"/>
                </a:solidFill>
                <a:latin typeface="Arial" panose="020B0604020202020204" pitchFamily="34" charset="0"/>
                <a:ea typeface="楷体_GB2312" pitchFamily="49" charset="-122"/>
              </a:rPr>
              <a:t>面元的方向有关）</a:t>
            </a:r>
          </a:p>
        </p:txBody>
      </p:sp>
      <p:graphicFrame>
        <p:nvGraphicFramePr>
          <p:cNvPr id="227396" name="Object 68"/>
          <p:cNvGraphicFramePr>
            <a:graphicFrameLocks noChangeAspect="1"/>
          </p:cNvGraphicFramePr>
          <p:nvPr/>
        </p:nvGraphicFramePr>
        <p:xfrm>
          <a:off x="3563938" y="2276475"/>
          <a:ext cx="3605212" cy="823913"/>
        </p:xfrm>
        <a:graphic>
          <a:graphicData uri="http://schemas.openxmlformats.org/presentationml/2006/ole">
            <mc:AlternateContent xmlns:mc="http://schemas.openxmlformats.org/markup-compatibility/2006">
              <mc:Choice xmlns:v="urn:schemas-microsoft-com:vml" Requires="v">
                <p:oleObj r:id="rId15" imgW="1305560" imgH="302895" progId="Equation.3">
                  <p:embed/>
                </p:oleObj>
              </mc:Choice>
              <mc:Fallback>
                <p:oleObj r:id="rId15" imgW="1305560" imgH="302895" progId="Equation.3">
                  <p:embed/>
                  <p:pic>
                    <p:nvPicPr>
                      <p:cNvPr id="0" name="图片 3243"/>
                      <p:cNvPicPr/>
                      <p:nvPr/>
                    </p:nvPicPr>
                    <p:blipFill>
                      <a:blip r:embed="rId16">
                        <a:clrChange>
                          <a:clrFrom>
                            <a:srgbClr val="000000"/>
                          </a:clrFrom>
                          <a:clrTo>
                            <a:srgbClr val="FFFFFF"/>
                          </a:clrTo>
                        </a:clrChange>
                      </a:blip>
                      <a:stretch>
                        <a:fillRect/>
                      </a:stretch>
                    </p:blipFill>
                    <p:spPr>
                      <a:xfrm>
                        <a:off x="3563938" y="2276475"/>
                        <a:ext cx="3605212" cy="823913"/>
                      </a:xfrm>
                      <a:prstGeom prst="rect">
                        <a:avLst/>
                      </a:prstGeom>
                      <a:noFill/>
                      <a:ln w="38100">
                        <a:noFill/>
                        <a:miter/>
                      </a:ln>
                    </p:spPr>
                  </p:pic>
                </p:oleObj>
              </mc:Fallback>
            </mc:AlternateContent>
          </a:graphicData>
        </a:graphic>
      </p:graphicFrame>
      <p:sp>
        <p:nvSpPr>
          <p:cNvPr id="102421" name="AutoShape 78">
            <a:hlinkClick r:id="rId17"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2422" name="AutoShape 79">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2423" name="AutoShape 80">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2424" name="AutoShape 81">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27410" name="Rectangle 82"/>
          <p:cNvSpPr/>
          <p:nvPr/>
        </p:nvSpPr>
        <p:spPr>
          <a:xfrm>
            <a:off x="323850" y="5516563"/>
            <a:ext cx="6119813" cy="1033462"/>
          </a:xfrm>
          <a:prstGeom prst="rect">
            <a:avLst/>
          </a:prstGeom>
          <a:noFill/>
          <a:ln w="9525">
            <a:noFill/>
          </a:ln>
        </p:spPr>
        <p:txBody>
          <a:bodyPr anchor="t" anchorCtr="0"/>
          <a:lstStyle/>
          <a:p>
            <a:pPr marL="342900" indent="-342900">
              <a:lnSpc>
                <a:spcPct val="130000"/>
              </a:lnSpc>
              <a:spcBef>
                <a:spcPct val="0"/>
              </a:spcBef>
            </a:pPr>
            <a:r>
              <a:rPr lang="zh-CN" altLang="en-US" dirty="0">
                <a:solidFill>
                  <a:srgbClr val="FFB7B7"/>
                </a:solidFill>
                <a:latin typeface="Times New Roman" panose="02020603050405020304" pitchFamily="18" charset="0"/>
                <a:ea typeface="宋体" panose="02010600030101010101" pitchFamily="2" charset="-122"/>
              </a:rPr>
              <a:t>旋度物理意义</a:t>
            </a:r>
            <a:r>
              <a:rPr lang="zh-CN" altLang="en-US" dirty="0">
                <a:solidFill>
                  <a:srgbClr val="FFB7B7"/>
                </a:solidFill>
                <a:latin typeface="Times New Roman" panose="02020603050405020304" pitchFamily="18" charset="0"/>
                <a:ea typeface="幼圆" panose="02010509060101010101" pitchFamily="49" charset="-122"/>
              </a:rPr>
              <a:t>：</a:t>
            </a:r>
            <a:r>
              <a:rPr lang="zh-CN" altLang="en-US" dirty="0">
                <a:solidFill>
                  <a:schemeClr val="bg1"/>
                </a:solidFill>
                <a:latin typeface="Times New Roman" panose="02020603050405020304" pitchFamily="18" charset="0"/>
                <a:ea typeface="楷体_GB2312" pitchFamily="49" charset="-122"/>
              </a:rPr>
              <a:t>旋涡源密度矢量。</a:t>
            </a:r>
          </a:p>
          <a:p>
            <a:pPr marL="342900" indent="-342900">
              <a:lnSpc>
                <a:spcPct val="130000"/>
              </a:lnSpc>
              <a:spcBef>
                <a:spcPct val="0"/>
              </a:spcBef>
            </a:pPr>
            <a:r>
              <a:rPr lang="zh-CN" altLang="en-US" dirty="0">
                <a:solidFill>
                  <a:srgbClr val="FFB7B7"/>
                </a:solidFill>
                <a:latin typeface="Arial" panose="020B0604020202020204" pitchFamily="34" charset="0"/>
                <a:ea typeface="楷体_GB2312" pitchFamily="49" charset="-122"/>
              </a:rPr>
              <a:t>旋度表征矢量场涡旋源的分布特性。</a:t>
            </a:r>
          </a:p>
        </p:txBody>
      </p:sp>
      <p:graphicFrame>
        <p:nvGraphicFramePr>
          <p:cNvPr id="227413" name="Object 85"/>
          <p:cNvGraphicFramePr>
            <a:graphicFrameLocks noChangeAspect="1"/>
          </p:cNvGraphicFramePr>
          <p:nvPr>
            <p:extLst>
              <p:ext uri="{D42A27DB-BD31-4B8C-83A1-F6EECF244321}">
                <p14:modId xmlns:p14="http://schemas.microsoft.com/office/powerpoint/2010/main" val="2464046412"/>
              </p:ext>
            </p:extLst>
          </p:nvPr>
        </p:nvGraphicFramePr>
        <p:xfrm>
          <a:off x="959892" y="4837112"/>
          <a:ext cx="3946525" cy="690562"/>
        </p:xfrm>
        <a:graphic>
          <a:graphicData uri="http://schemas.openxmlformats.org/presentationml/2006/ole">
            <mc:AlternateContent xmlns:mc="http://schemas.openxmlformats.org/markup-compatibility/2006">
              <mc:Choice xmlns:v="urn:schemas-microsoft-com:vml" Requires="v">
                <p:oleObj r:id="rId18" imgW="1431925" imgH="242570" progId="Equation.3">
                  <p:embed/>
                </p:oleObj>
              </mc:Choice>
              <mc:Fallback>
                <p:oleObj r:id="rId18" imgW="1431925" imgH="242570" progId="Equation.3">
                  <p:embed/>
                  <p:pic>
                    <p:nvPicPr>
                      <p:cNvPr id="0" name="图片 3257"/>
                      <p:cNvPicPr/>
                      <p:nvPr/>
                    </p:nvPicPr>
                    <p:blipFill>
                      <a:blip r:embed="rId19">
                        <a:clrChange>
                          <a:clrFrom>
                            <a:srgbClr val="000000"/>
                          </a:clrFrom>
                          <a:clrTo>
                            <a:srgbClr val="FFFFFF"/>
                          </a:clrTo>
                        </a:clrChange>
                      </a:blip>
                      <a:stretch>
                        <a:fillRect/>
                      </a:stretch>
                    </p:blipFill>
                    <p:spPr>
                      <a:xfrm>
                        <a:off x="959892" y="4837112"/>
                        <a:ext cx="3946525" cy="690562"/>
                      </a:xfrm>
                      <a:prstGeom prst="rect">
                        <a:avLst/>
                      </a:prstGeom>
                      <a:noFill/>
                      <a:ln w="38100">
                        <a:noFill/>
                        <a:miter/>
                      </a:ln>
                    </p:spPr>
                  </p:pic>
                </p:oleObj>
              </mc:Fallback>
            </mc:AlternateContent>
          </a:graphicData>
        </a:graphic>
      </p:graphicFrame>
      <p:sp>
        <p:nvSpPr>
          <p:cNvPr id="227414" name="Rectangle 86"/>
          <p:cNvSpPr/>
          <p:nvPr/>
        </p:nvSpPr>
        <p:spPr>
          <a:xfrm>
            <a:off x="323850" y="3349625"/>
            <a:ext cx="8596313" cy="1447800"/>
          </a:xfrm>
          <a:prstGeom prst="rect">
            <a:avLst/>
          </a:prstGeom>
          <a:noFill/>
          <a:ln w="9525">
            <a:noFill/>
          </a:ln>
        </p:spPr>
        <p:txBody>
          <a:bodyPr anchor="t" anchorCtr="0"/>
          <a:lstStyle/>
          <a:p>
            <a:pPr marL="342900" indent="-342900">
              <a:lnSpc>
                <a:spcPct val="130000"/>
              </a:lnSpc>
              <a:spcBef>
                <a:spcPct val="0"/>
              </a:spcBef>
            </a:pPr>
            <a:r>
              <a:rPr lang="zh-CN" altLang="en-US" dirty="0">
                <a:solidFill>
                  <a:srgbClr val="FFB7B7"/>
                </a:solidFill>
                <a:latin typeface="Times New Roman" panose="02020603050405020304" pitchFamily="18" charset="0"/>
                <a:ea typeface="宋体" panose="02010600030101010101" pitchFamily="2" charset="-122"/>
              </a:rPr>
              <a:t>旋度概念</a:t>
            </a:r>
            <a:r>
              <a:rPr lang="zh-CN" altLang="en-US" dirty="0">
                <a:solidFill>
                  <a:srgbClr val="FFB7B7"/>
                </a:solidFill>
                <a:latin typeface="Times New Roman" panose="02020603050405020304" pitchFamily="18" charset="0"/>
                <a:ea typeface="幼圆" panose="02010509060101010101" pitchFamily="49" charset="-122"/>
              </a:rPr>
              <a:t>：</a:t>
            </a:r>
            <a:r>
              <a:rPr lang="zh-CN" altLang="en-US" dirty="0">
                <a:solidFill>
                  <a:schemeClr val="bg1"/>
                </a:solidFill>
                <a:latin typeface="Times New Roman" panose="02020603050405020304" pitchFamily="18" charset="0"/>
                <a:ea typeface="楷体_GB2312" pitchFamily="49" charset="-122"/>
              </a:rPr>
              <a:t>矢量场在 </a:t>
            </a:r>
            <a:r>
              <a:rPr lang="en-US" altLang="zh-CN" i="1" dirty="0">
                <a:solidFill>
                  <a:schemeClr val="bg1"/>
                </a:solidFill>
                <a:latin typeface="Times New Roman" panose="02020603050405020304" pitchFamily="18" charset="0"/>
                <a:ea typeface="楷体_GB2312" pitchFamily="49" charset="-122"/>
              </a:rPr>
              <a:t>M </a:t>
            </a:r>
            <a:r>
              <a:rPr lang="zh-CN" altLang="en-US" dirty="0">
                <a:solidFill>
                  <a:schemeClr val="bg1"/>
                </a:solidFill>
                <a:latin typeface="Times New Roman" panose="02020603050405020304" pitchFamily="18" charset="0"/>
                <a:ea typeface="楷体_GB2312" pitchFamily="49" charset="-122"/>
              </a:rPr>
              <a:t>点处的旋度为一矢量，其数值为</a:t>
            </a:r>
            <a:r>
              <a:rPr lang="en-US" altLang="zh-CN" i="1" dirty="0">
                <a:solidFill>
                  <a:schemeClr val="bg1"/>
                </a:solidFill>
                <a:latin typeface="Times New Roman" panose="02020603050405020304" pitchFamily="18" charset="0"/>
                <a:ea typeface="楷体_GB2312" pitchFamily="49" charset="-122"/>
              </a:rPr>
              <a:t>M </a:t>
            </a:r>
            <a:r>
              <a:rPr lang="zh-CN" altLang="en-US" dirty="0">
                <a:solidFill>
                  <a:schemeClr val="bg1"/>
                </a:solidFill>
                <a:latin typeface="Times New Roman" panose="02020603050405020304" pitchFamily="18" charset="0"/>
                <a:ea typeface="楷体_GB2312" pitchFamily="49" charset="-122"/>
              </a:rPr>
              <a:t>点的</a:t>
            </a:r>
          </a:p>
          <a:p>
            <a:pPr marL="342900" indent="-342900">
              <a:lnSpc>
                <a:spcPct val="130000"/>
              </a:lnSpc>
              <a:spcBef>
                <a:spcPct val="0"/>
              </a:spcBef>
            </a:pPr>
            <a:r>
              <a:rPr lang="zh-CN" altLang="en-US" dirty="0">
                <a:solidFill>
                  <a:schemeClr val="bg1"/>
                </a:solidFill>
                <a:latin typeface="Times New Roman" panose="02020603050405020304" pitchFamily="18" charset="0"/>
                <a:ea typeface="楷体_GB2312" pitchFamily="49" charset="-122"/>
              </a:rPr>
              <a:t>环流面密度最大值，其方向为取得环量密度最大值时面积元的</a:t>
            </a:r>
          </a:p>
          <a:p>
            <a:pPr marL="342900" indent="-342900">
              <a:lnSpc>
                <a:spcPct val="130000"/>
              </a:lnSpc>
              <a:spcBef>
                <a:spcPct val="0"/>
              </a:spcBef>
            </a:pPr>
            <a:r>
              <a:rPr lang="zh-CN" altLang="en-US" dirty="0">
                <a:solidFill>
                  <a:schemeClr val="bg1"/>
                </a:solidFill>
                <a:latin typeface="Times New Roman" panose="02020603050405020304" pitchFamily="18" charset="0"/>
                <a:ea typeface="楷体_GB2312" pitchFamily="49" charset="-122"/>
              </a:rPr>
              <a:t>法线方向。</a:t>
            </a:r>
            <a:endParaRPr lang="zh-CN" altLang="en-US" dirty="0">
              <a:solidFill>
                <a:schemeClr val="bg1"/>
              </a:solidFill>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2B038105-8BC2-7541-C6BF-7BB87DA5DB14}"/>
              </a:ext>
            </a:extLst>
          </p:cNvPr>
          <p:cNvPicPr>
            <a:picLocks noChangeAspect="1"/>
          </p:cNvPicPr>
          <p:nvPr/>
        </p:nvPicPr>
        <p:blipFill>
          <a:blip r:embed="rId20"/>
          <a:stretch>
            <a:fillRect/>
          </a:stretch>
        </p:blipFill>
        <p:spPr>
          <a:xfrm>
            <a:off x="4772025" y="2184400"/>
            <a:ext cx="3429000" cy="9334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5A7D3E4-EA69-3B9F-9F5B-9F2071DB9C4A}"/>
              </a:ext>
            </a:extLst>
          </p:cNvPr>
          <p:cNvPicPr>
            <a:picLocks noChangeAspect="1"/>
          </p:cNvPicPr>
          <p:nvPr/>
        </p:nvPicPr>
        <p:blipFill>
          <a:blip r:embed="rId2"/>
          <a:stretch>
            <a:fillRect/>
          </a:stretch>
        </p:blipFill>
        <p:spPr>
          <a:xfrm>
            <a:off x="2666380" y="435958"/>
            <a:ext cx="4678014" cy="761017"/>
          </a:xfrm>
          <a:prstGeom prst="rect">
            <a:avLst/>
          </a:prstGeom>
        </p:spPr>
      </p:pic>
      <p:graphicFrame>
        <p:nvGraphicFramePr>
          <p:cNvPr id="407559" name="Object 7"/>
          <p:cNvGraphicFramePr>
            <a:graphicFrameLocks noChangeAspect="1"/>
          </p:cNvGraphicFramePr>
          <p:nvPr/>
        </p:nvGraphicFramePr>
        <p:xfrm>
          <a:off x="2124075" y="1052513"/>
          <a:ext cx="6911975" cy="966787"/>
        </p:xfrm>
        <a:graphic>
          <a:graphicData uri="http://schemas.openxmlformats.org/presentationml/2006/ole">
            <mc:AlternateContent xmlns:mc="http://schemas.openxmlformats.org/markup-compatibility/2006">
              <mc:Choice xmlns:v="urn:schemas-microsoft-com:vml" Requires="v">
                <p:oleObj r:id="rId3" imgW="2990850" imgH="380365" progId="Equation.3">
                  <p:embed/>
                </p:oleObj>
              </mc:Choice>
              <mc:Fallback>
                <p:oleObj r:id="rId3" imgW="2990850" imgH="380365" progId="Equation.3">
                  <p:embed/>
                  <p:pic>
                    <p:nvPicPr>
                      <p:cNvPr id="0" name="图片 3256"/>
                      <p:cNvPicPr/>
                      <p:nvPr/>
                    </p:nvPicPr>
                    <p:blipFill>
                      <a:blip r:embed="rId4">
                        <a:clrChange>
                          <a:clrFrom>
                            <a:srgbClr val="000000"/>
                          </a:clrFrom>
                          <a:clrTo>
                            <a:srgbClr val="FFFFFF"/>
                          </a:clrTo>
                        </a:clrChange>
                      </a:blip>
                      <a:stretch>
                        <a:fillRect/>
                      </a:stretch>
                    </p:blipFill>
                    <p:spPr>
                      <a:xfrm>
                        <a:off x="2124075" y="1052513"/>
                        <a:ext cx="6911975" cy="966787"/>
                      </a:xfrm>
                      <a:prstGeom prst="rect">
                        <a:avLst/>
                      </a:prstGeom>
                      <a:noFill/>
                      <a:ln w="38100">
                        <a:noFill/>
                        <a:miter/>
                      </a:ln>
                    </p:spPr>
                  </p:pic>
                </p:oleObj>
              </mc:Fallback>
            </mc:AlternateContent>
          </a:graphicData>
        </a:graphic>
      </p:graphicFrame>
      <p:sp>
        <p:nvSpPr>
          <p:cNvPr id="407563" name="Rectangle 11"/>
          <p:cNvSpPr/>
          <p:nvPr/>
        </p:nvSpPr>
        <p:spPr>
          <a:xfrm>
            <a:off x="179388" y="614363"/>
            <a:ext cx="2881312" cy="511175"/>
          </a:xfrm>
          <a:prstGeom prst="rect">
            <a:avLst/>
          </a:prstGeom>
          <a:noFill/>
          <a:ln w="9525">
            <a:noFill/>
          </a:ln>
        </p:spPr>
        <p:txBody>
          <a:bodyPr anchor="t" anchorCtr="0"/>
          <a:lstStyle/>
          <a:p>
            <a:pPr marL="342900" indent="-342900"/>
            <a:r>
              <a:rPr lang="zh-CN" altLang="en-US" dirty="0">
                <a:solidFill>
                  <a:srgbClr val="FFB7B7"/>
                </a:solidFill>
                <a:latin typeface="宋体" panose="02010600030101010101" pitchFamily="2" charset="-122"/>
                <a:ea typeface="宋体" panose="02010600030101010101" pitchFamily="2" charset="-122"/>
              </a:rPr>
              <a:t>旋度的计算公式</a:t>
            </a:r>
            <a:r>
              <a:rPr lang="en-US" altLang="zh-CN" dirty="0">
                <a:solidFill>
                  <a:srgbClr val="FF9900"/>
                </a:solidFill>
                <a:latin typeface="幼圆" panose="02010509060101010101" pitchFamily="49" charset="-122"/>
                <a:ea typeface="幼圆" panose="02010509060101010101" pitchFamily="49" charset="-122"/>
              </a:rPr>
              <a:t>:</a:t>
            </a:r>
          </a:p>
        </p:txBody>
      </p:sp>
      <p:graphicFrame>
        <p:nvGraphicFramePr>
          <p:cNvPr id="407566" name="Object 14"/>
          <p:cNvGraphicFramePr>
            <a:graphicFrameLocks noChangeAspect="1"/>
          </p:cNvGraphicFramePr>
          <p:nvPr/>
        </p:nvGraphicFramePr>
        <p:xfrm>
          <a:off x="468313" y="4652963"/>
          <a:ext cx="3267075" cy="1655762"/>
        </p:xfrm>
        <a:graphic>
          <a:graphicData uri="http://schemas.openxmlformats.org/presentationml/2006/ole">
            <mc:AlternateContent xmlns:mc="http://schemas.openxmlformats.org/markup-compatibility/2006">
              <mc:Choice xmlns:v="urn:schemas-microsoft-com:vml" Requires="v">
                <p:oleObj r:id="rId5" imgW="1558925" imgH="809625" progId="Equation.3">
                  <p:embed/>
                </p:oleObj>
              </mc:Choice>
              <mc:Fallback>
                <p:oleObj r:id="rId5" imgW="1558925" imgH="809625" progId="Equation.3">
                  <p:embed/>
                  <p:pic>
                    <p:nvPicPr>
                      <p:cNvPr id="0" name="图片 3258"/>
                      <p:cNvPicPr/>
                      <p:nvPr/>
                    </p:nvPicPr>
                    <p:blipFill>
                      <a:blip r:embed="rId6">
                        <a:clrChange>
                          <a:clrFrom>
                            <a:srgbClr val="000000"/>
                          </a:clrFrom>
                          <a:clrTo>
                            <a:srgbClr val="FFFFFF"/>
                          </a:clrTo>
                        </a:clrChange>
                      </a:blip>
                      <a:stretch>
                        <a:fillRect/>
                      </a:stretch>
                    </p:blipFill>
                    <p:spPr>
                      <a:xfrm>
                        <a:off x="468313" y="4652963"/>
                        <a:ext cx="3267075" cy="1655762"/>
                      </a:xfrm>
                      <a:prstGeom prst="rect">
                        <a:avLst/>
                      </a:prstGeom>
                      <a:noFill/>
                      <a:ln w="38100">
                        <a:noFill/>
                        <a:miter/>
                      </a:ln>
                    </p:spPr>
                  </p:pic>
                </p:oleObj>
              </mc:Fallback>
            </mc:AlternateContent>
          </a:graphicData>
        </a:graphic>
      </p:graphicFrame>
      <p:graphicFrame>
        <p:nvGraphicFramePr>
          <p:cNvPr id="407567" name="Object 15"/>
          <p:cNvGraphicFramePr>
            <a:graphicFrameLocks noChangeAspect="1"/>
          </p:cNvGraphicFramePr>
          <p:nvPr/>
        </p:nvGraphicFramePr>
        <p:xfrm>
          <a:off x="4427538" y="4581525"/>
          <a:ext cx="4716462" cy="1735138"/>
        </p:xfrm>
        <a:graphic>
          <a:graphicData uri="http://schemas.openxmlformats.org/presentationml/2006/ole">
            <mc:AlternateContent xmlns:mc="http://schemas.openxmlformats.org/markup-compatibility/2006">
              <mc:Choice xmlns:v="urn:schemas-microsoft-com:vml" Requires="v">
                <p:oleObj r:id="rId7" imgW="2153920" imgH="809625" progId="Equation.3">
                  <p:embed/>
                </p:oleObj>
              </mc:Choice>
              <mc:Fallback>
                <p:oleObj r:id="rId7" imgW="2153920" imgH="809625" progId="Equation.3">
                  <p:embed/>
                  <p:pic>
                    <p:nvPicPr>
                      <p:cNvPr id="0" name="图片 3259"/>
                      <p:cNvPicPr/>
                      <p:nvPr/>
                    </p:nvPicPr>
                    <p:blipFill>
                      <a:blip r:embed="rId8">
                        <a:clrChange>
                          <a:clrFrom>
                            <a:srgbClr val="000000"/>
                          </a:clrFrom>
                          <a:clrTo>
                            <a:srgbClr val="FFFFFF"/>
                          </a:clrTo>
                        </a:clrChange>
                      </a:blip>
                      <a:stretch>
                        <a:fillRect/>
                      </a:stretch>
                    </p:blipFill>
                    <p:spPr>
                      <a:xfrm>
                        <a:off x="4427538" y="4581525"/>
                        <a:ext cx="4716462" cy="1735138"/>
                      </a:xfrm>
                      <a:prstGeom prst="rect">
                        <a:avLst/>
                      </a:prstGeom>
                      <a:noFill/>
                      <a:ln w="38100">
                        <a:noFill/>
                        <a:miter/>
                      </a:ln>
                    </p:spPr>
                  </p:pic>
                </p:oleObj>
              </mc:Fallback>
            </mc:AlternateContent>
          </a:graphicData>
        </a:graphic>
      </p:graphicFrame>
      <p:grpSp>
        <p:nvGrpSpPr>
          <p:cNvPr id="407575" name="Group 23"/>
          <p:cNvGrpSpPr/>
          <p:nvPr/>
        </p:nvGrpSpPr>
        <p:grpSpPr>
          <a:xfrm>
            <a:off x="250825" y="1268413"/>
            <a:ext cx="2089150" cy="439737"/>
            <a:chOff x="158" y="799"/>
            <a:chExt cx="1316" cy="277"/>
          </a:xfrm>
        </p:grpSpPr>
        <p:sp>
          <p:nvSpPr>
            <p:cNvPr id="104454" name="Rectangle 12"/>
            <p:cNvSpPr/>
            <p:nvPr/>
          </p:nvSpPr>
          <p:spPr>
            <a:xfrm>
              <a:off x="204" y="799"/>
              <a:ext cx="1270" cy="277"/>
            </a:xfrm>
            <a:prstGeom prst="rect">
              <a:avLst/>
            </a:prstGeom>
            <a:noFill/>
            <a:ln w="9525">
              <a:noFill/>
            </a:ln>
          </p:spPr>
          <p:txBody>
            <a:bodyPr anchor="t" anchorCtr="0"/>
            <a:lstStyle/>
            <a:p>
              <a:pPr marL="342900" indent="-342900"/>
              <a:r>
                <a:rPr lang="en-US" altLang="zh-CN" dirty="0">
                  <a:solidFill>
                    <a:schemeClr val="bg1"/>
                  </a:solidFill>
                  <a:latin typeface="楷体_GB2312" pitchFamily="49" charset="-122"/>
                  <a:ea typeface="楷体_GB2312" pitchFamily="49" charset="-122"/>
                </a:rPr>
                <a:t> </a:t>
              </a:r>
              <a:r>
                <a:rPr lang="zh-CN" altLang="en-US" dirty="0">
                  <a:solidFill>
                    <a:schemeClr val="bg1"/>
                  </a:solidFill>
                  <a:latin typeface="楷体_GB2312" pitchFamily="49" charset="-122"/>
                  <a:ea typeface="楷体_GB2312" pitchFamily="49" charset="-122"/>
                </a:rPr>
                <a:t>直角坐标系</a:t>
              </a:r>
            </a:p>
          </p:txBody>
        </p:sp>
        <p:sp>
          <p:nvSpPr>
            <p:cNvPr id="104455" name="Oval 17"/>
            <p:cNvSpPr>
              <a:spLocks noChangeAspect="1"/>
            </p:cNvSpPr>
            <p:nvPr/>
          </p:nvSpPr>
          <p:spPr>
            <a:xfrm>
              <a:off x="158" y="890"/>
              <a:ext cx="113" cy="113"/>
            </a:xfrm>
            <a:prstGeom prst="ellipse">
              <a:avLst/>
            </a:prstGeom>
            <a:gradFill rotWithShape="1">
              <a:gsLst>
                <a:gs pos="0">
                  <a:srgbClr val="F37D8B"/>
                </a:gs>
                <a:gs pos="100000">
                  <a:srgbClr val="703A40"/>
                </a:gs>
              </a:gsLst>
              <a:lin ang="0" scaled="1"/>
              <a:tileRect/>
            </a:gradFill>
            <a:ln w="9525">
              <a:noFill/>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grpSp>
        <p:nvGrpSpPr>
          <p:cNvPr id="407576" name="Group 24"/>
          <p:cNvGrpSpPr/>
          <p:nvPr/>
        </p:nvGrpSpPr>
        <p:grpSpPr>
          <a:xfrm>
            <a:off x="323850" y="4005263"/>
            <a:ext cx="2592388" cy="431800"/>
            <a:chOff x="113" y="2523"/>
            <a:chExt cx="1633" cy="272"/>
          </a:xfrm>
        </p:grpSpPr>
        <p:sp>
          <p:nvSpPr>
            <p:cNvPr id="104457" name="Rectangle 13"/>
            <p:cNvSpPr/>
            <p:nvPr/>
          </p:nvSpPr>
          <p:spPr>
            <a:xfrm>
              <a:off x="158" y="2523"/>
              <a:ext cx="1588" cy="272"/>
            </a:xfrm>
            <a:prstGeom prst="rect">
              <a:avLst/>
            </a:prstGeom>
            <a:noFill/>
            <a:ln w="9525">
              <a:noFill/>
            </a:ln>
          </p:spPr>
          <p:txBody>
            <a:bodyPr anchor="t" anchorCtr="0"/>
            <a:lstStyle/>
            <a:p>
              <a:pPr marL="342900" indent="-342900"/>
              <a:r>
                <a:rPr lang="en-US" altLang="zh-CN" dirty="0">
                  <a:solidFill>
                    <a:schemeClr val="bg1"/>
                  </a:solidFill>
                  <a:latin typeface="楷体_GB2312" pitchFamily="49" charset="-122"/>
                  <a:ea typeface="楷体_GB2312" pitchFamily="49" charset="-122"/>
                </a:rPr>
                <a:t> </a:t>
              </a:r>
              <a:r>
                <a:rPr lang="zh-CN" altLang="en-US" dirty="0">
                  <a:solidFill>
                    <a:schemeClr val="bg1"/>
                  </a:solidFill>
                  <a:latin typeface="楷体_GB2312" pitchFamily="49" charset="-122"/>
                  <a:ea typeface="楷体_GB2312" pitchFamily="49" charset="-122"/>
                </a:rPr>
                <a:t>圆柱坐标系</a:t>
              </a:r>
              <a:endParaRPr lang="zh-CN" altLang="en-US" b="0" dirty="0">
                <a:solidFill>
                  <a:schemeClr val="bg1"/>
                </a:solidFill>
                <a:latin typeface="楷体_GB2312" pitchFamily="49" charset="-122"/>
                <a:ea typeface="楷体_GB2312" pitchFamily="49" charset="-122"/>
              </a:endParaRPr>
            </a:p>
          </p:txBody>
        </p:sp>
        <p:sp>
          <p:nvSpPr>
            <p:cNvPr id="104458" name="Oval 20"/>
            <p:cNvSpPr>
              <a:spLocks noChangeAspect="1"/>
            </p:cNvSpPr>
            <p:nvPr/>
          </p:nvSpPr>
          <p:spPr>
            <a:xfrm>
              <a:off x="113" y="2614"/>
              <a:ext cx="113" cy="113"/>
            </a:xfrm>
            <a:prstGeom prst="ellipse">
              <a:avLst/>
            </a:prstGeom>
            <a:gradFill rotWithShape="1">
              <a:gsLst>
                <a:gs pos="0">
                  <a:srgbClr val="F37D8B"/>
                </a:gs>
                <a:gs pos="100000">
                  <a:srgbClr val="703A40"/>
                </a:gs>
              </a:gsLst>
              <a:lin ang="0" scaled="1"/>
              <a:tileRect/>
            </a:gradFill>
            <a:ln w="9525">
              <a:noFill/>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grpSp>
        <p:nvGrpSpPr>
          <p:cNvPr id="407574" name="Group 22"/>
          <p:cNvGrpSpPr/>
          <p:nvPr/>
        </p:nvGrpSpPr>
        <p:grpSpPr>
          <a:xfrm>
            <a:off x="4356100" y="4005263"/>
            <a:ext cx="2305050" cy="504825"/>
            <a:chOff x="2653" y="2523"/>
            <a:chExt cx="1452" cy="318"/>
          </a:xfrm>
        </p:grpSpPr>
        <p:sp>
          <p:nvSpPr>
            <p:cNvPr id="104460" name="Rectangle 16"/>
            <p:cNvSpPr/>
            <p:nvPr/>
          </p:nvSpPr>
          <p:spPr>
            <a:xfrm>
              <a:off x="2744" y="2523"/>
              <a:ext cx="1361" cy="318"/>
            </a:xfrm>
            <a:prstGeom prst="rect">
              <a:avLst/>
            </a:prstGeom>
            <a:noFill/>
            <a:ln w="9525">
              <a:noFill/>
            </a:ln>
          </p:spPr>
          <p:txBody>
            <a:bodyPr anchor="t" anchorCtr="0"/>
            <a:lstStyle/>
            <a:p>
              <a:pPr marL="342900" indent="-342900"/>
              <a:r>
                <a:rPr lang="en-US" altLang="zh-CN" dirty="0">
                  <a:solidFill>
                    <a:schemeClr val="bg1"/>
                  </a:solidFill>
                  <a:latin typeface="楷体_GB2312" pitchFamily="49" charset="-122"/>
                  <a:ea typeface="楷体_GB2312" pitchFamily="49" charset="-122"/>
                </a:rPr>
                <a:t> </a:t>
              </a:r>
              <a:r>
                <a:rPr lang="zh-CN" altLang="en-US" dirty="0">
                  <a:solidFill>
                    <a:schemeClr val="bg1"/>
                  </a:solidFill>
                  <a:latin typeface="楷体_GB2312" pitchFamily="49" charset="-122"/>
                  <a:ea typeface="楷体_GB2312" pitchFamily="49" charset="-122"/>
                </a:rPr>
                <a:t>球坐标系</a:t>
              </a:r>
              <a:endParaRPr lang="zh-CN" altLang="en-US" b="0" dirty="0">
                <a:solidFill>
                  <a:schemeClr val="bg1"/>
                </a:solidFill>
                <a:latin typeface="楷体_GB2312" pitchFamily="49" charset="-122"/>
                <a:ea typeface="楷体_GB2312" pitchFamily="49" charset="-122"/>
              </a:endParaRPr>
            </a:p>
          </p:txBody>
        </p:sp>
        <p:sp>
          <p:nvSpPr>
            <p:cNvPr id="104461" name="Oval 21"/>
            <p:cNvSpPr>
              <a:spLocks noChangeAspect="1"/>
            </p:cNvSpPr>
            <p:nvPr/>
          </p:nvSpPr>
          <p:spPr>
            <a:xfrm>
              <a:off x="2653" y="2614"/>
              <a:ext cx="113" cy="113"/>
            </a:xfrm>
            <a:prstGeom prst="ellipse">
              <a:avLst/>
            </a:prstGeom>
            <a:gradFill rotWithShape="1">
              <a:gsLst>
                <a:gs pos="0">
                  <a:srgbClr val="F37D8B"/>
                </a:gs>
                <a:gs pos="100000">
                  <a:srgbClr val="703A40"/>
                </a:gs>
              </a:gsLst>
              <a:lin ang="0" scaled="1"/>
              <a:tileRect/>
            </a:gradFill>
            <a:ln w="9525">
              <a:noFill/>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graphicFrame>
        <p:nvGraphicFramePr>
          <p:cNvPr id="407577" name="Object 25"/>
          <p:cNvGraphicFramePr>
            <a:graphicFrameLocks noChangeAspect="1"/>
          </p:cNvGraphicFramePr>
          <p:nvPr/>
        </p:nvGraphicFramePr>
        <p:xfrm>
          <a:off x="2968625" y="2041525"/>
          <a:ext cx="2025650" cy="1766888"/>
        </p:xfrm>
        <a:graphic>
          <a:graphicData uri="http://schemas.openxmlformats.org/presentationml/2006/ole">
            <mc:AlternateContent xmlns:mc="http://schemas.openxmlformats.org/markup-compatibility/2006">
              <mc:Choice xmlns:v="urn:schemas-microsoft-com:vml" Requires="v">
                <p:oleObj r:id="rId9" imgW="848360" imgH="727075" progId="Equation.3">
                  <p:embed/>
                </p:oleObj>
              </mc:Choice>
              <mc:Fallback>
                <p:oleObj r:id="rId9" imgW="848360" imgH="727075" progId="Equation.3">
                  <p:embed/>
                  <p:pic>
                    <p:nvPicPr>
                      <p:cNvPr id="0" name="图片 3266"/>
                      <p:cNvPicPr/>
                      <p:nvPr/>
                    </p:nvPicPr>
                    <p:blipFill>
                      <a:blip r:embed="rId10">
                        <a:clrChange>
                          <a:clrFrom>
                            <a:srgbClr val="000000"/>
                          </a:clrFrom>
                          <a:clrTo>
                            <a:srgbClr val="FFFFFF"/>
                          </a:clrTo>
                        </a:clrChange>
                      </a:blip>
                      <a:stretch>
                        <a:fillRect/>
                      </a:stretch>
                    </p:blipFill>
                    <p:spPr>
                      <a:xfrm>
                        <a:off x="2968625" y="2041525"/>
                        <a:ext cx="2025650" cy="1766888"/>
                      </a:xfrm>
                      <a:prstGeom prst="rect">
                        <a:avLst/>
                      </a:prstGeom>
                      <a:noFill/>
                      <a:ln w="38100">
                        <a:noFill/>
                        <a:miter/>
                      </a:ln>
                    </p:spPr>
                  </p:pic>
                </p:oleObj>
              </mc:Fallback>
            </mc:AlternateContent>
          </a:graphicData>
        </a:graphic>
      </p:graphicFrame>
      <p:sp>
        <p:nvSpPr>
          <p:cNvPr id="104463" name="AutoShape 26">
            <a:hlinkClick r:id="rId11"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4464" name="AutoShape 27">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4465" name="AutoShape 28">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4466" name="AutoShape 29">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5955BAD-37E0-F217-D6A4-CA083FBEFC4D}"/>
              </a:ext>
            </a:extLst>
          </p:cNvPr>
          <p:cNvPicPr>
            <a:picLocks noChangeAspect="1"/>
          </p:cNvPicPr>
          <p:nvPr/>
        </p:nvPicPr>
        <p:blipFill>
          <a:blip r:embed="rId2"/>
          <a:stretch>
            <a:fillRect/>
          </a:stretch>
        </p:blipFill>
        <p:spPr>
          <a:xfrm>
            <a:off x="0" y="2013640"/>
            <a:ext cx="9144000" cy="3186689"/>
          </a:xfrm>
          <a:prstGeom prst="rect">
            <a:avLst/>
          </a:prstGeom>
        </p:spPr>
      </p:pic>
      <p:pic>
        <p:nvPicPr>
          <p:cNvPr id="6" name="图片 5">
            <a:extLst>
              <a:ext uri="{FF2B5EF4-FFF2-40B4-BE49-F238E27FC236}">
                <a16:creationId xmlns:a16="http://schemas.microsoft.com/office/drawing/2014/main" id="{8BBC298B-7150-A2A1-15CE-9B8C35941180}"/>
              </a:ext>
            </a:extLst>
          </p:cNvPr>
          <p:cNvPicPr>
            <a:picLocks noChangeAspect="1"/>
          </p:cNvPicPr>
          <p:nvPr/>
        </p:nvPicPr>
        <p:blipFill>
          <a:blip r:embed="rId3"/>
          <a:stretch>
            <a:fillRect/>
          </a:stretch>
        </p:blipFill>
        <p:spPr>
          <a:xfrm>
            <a:off x="4473391" y="397961"/>
            <a:ext cx="4680520" cy="2390217"/>
          </a:xfrm>
          <a:prstGeom prst="rect">
            <a:avLst/>
          </a:prstGeom>
        </p:spPr>
      </p:pic>
      <p:sp>
        <p:nvSpPr>
          <p:cNvPr id="7" name="Text Box 4">
            <a:extLst>
              <a:ext uri="{FF2B5EF4-FFF2-40B4-BE49-F238E27FC236}">
                <a16:creationId xmlns:a16="http://schemas.microsoft.com/office/drawing/2014/main" id="{DCC59BEF-18AD-E282-9D5F-043737E34AAB}"/>
              </a:ext>
            </a:extLst>
          </p:cNvPr>
          <p:cNvSpPr txBox="1"/>
          <p:nvPr/>
        </p:nvSpPr>
        <p:spPr>
          <a:xfrm>
            <a:off x="179512" y="642428"/>
            <a:ext cx="9378056" cy="461665"/>
          </a:xfrm>
          <a:prstGeom prst="rect">
            <a:avLst/>
          </a:prstGeom>
          <a:noFill/>
          <a:ln w="9525">
            <a:noFill/>
          </a:ln>
        </p:spPr>
        <p:txBody>
          <a:bodyPr wrap="square" anchor="t" anchorCtr="0">
            <a:spAutoFit/>
          </a:bodyPr>
          <a:lstStyle/>
          <a:p>
            <a:pPr>
              <a:spcBef>
                <a:spcPct val="0"/>
              </a:spcBef>
            </a:pPr>
            <a:r>
              <a:rPr lang="zh-CN" altLang="en-US" dirty="0">
                <a:solidFill>
                  <a:schemeClr val="bg1"/>
                </a:solidFill>
                <a:latin typeface="Times New Roman" panose="02020603050405020304" pitchFamily="18" charset="0"/>
              </a:rPr>
              <a:t>旋度计算：</a:t>
            </a:r>
          </a:p>
        </p:txBody>
      </p:sp>
      <p:pic>
        <p:nvPicPr>
          <p:cNvPr id="9" name="图片 8">
            <a:extLst>
              <a:ext uri="{FF2B5EF4-FFF2-40B4-BE49-F238E27FC236}">
                <a16:creationId xmlns:a16="http://schemas.microsoft.com/office/drawing/2014/main" id="{A44C4FAD-D657-DCEB-CA54-AB1E59401077}"/>
              </a:ext>
            </a:extLst>
          </p:cNvPr>
          <p:cNvPicPr>
            <a:picLocks noChangeAspect="1"/>
          </p:cNvPicPr>
          <p:nvPr/>
        </p:nvPicPr>
        <p:blipFill>
          <a:blip r:embed="rId4"/>
          <a:stretch>
            <a:fillRect/>
          </a:stretch>
        </p:blipFill>
        <p:spPr>
          <a:xfrm>
            <a:off x="179512" y="1196752"/>
            <a:ext cx="4058032" cy="660158"/>
          </a:xfrm>
          <a:prstGeom prst="rect">
            <a:avLst/>
          </a:prstGeom>
        </p:spPr>
      </p:pic>
      <p:pic>
        <p:nvPicPr>
          <p:cNvPr id="2" name="图片 1">
            <a:extLst>
              <a:ext uri="{FF2B5EF4-FFF2-40B4-BE49-F238E27FC236}">
                <a16:creationId xmlns:a16="http://schemas.microsoft.com/office/drawing/2014/main" id="{7C115B68-6078-6EF7-C9BC-E25FACBFAA25}"/>
              </a:ext>
            </a:extLst>
          </p:cNvPr>
          <p:cNvPicPr>
            <a:picLocks noChangeAspect="1"/>
          </p:cNvPicPr>
          <p:nvPr/>
        </p:nvPicPr>
        <p:blipFill>
          <a:blip r:embed="rId5"/>
          <a:stretch>
            <a:fillRect/>
          </a:stretch>
        </p:blipFill>
        <p:spPr>
          <a:xfrm>
            <a:off x="114857" y="5200329"/>
            <a:ext cx="8914286" cy="1742857"/>
          </a:xfrm>
          <a:prstGeom prst="rect">
            <a:avLst/>
          </a:prstGeom>
        </p:spPr>
      </p:pic>
      <p:cxnSp>
        <p:nvCxnSpPr>
          <p:cNvPr id="3" name="直接连接符 2">
            <a:extLst>
              <a:ext uri="{FF2B5EF4-FFF2-40B4-BE49-F238E27FC236}">
                <a16:creationId xmlns:a16="http://schemas.microsoft.com/office/drawing/2014/main" id="{5B633579-2F9D-148C-5373-538174EE0327}"/>
              </a:ext>
            </a:extLst>
          </p:cNvPr>
          <p:cNvCxnSpPr>
            <a:cxnSpLocks/>
          </p:cNvCxnSpPr>
          <p:nvPr/>
        </p:nvCxnSpPr>
        <p:spPr bwMode="auto">
          <a:xfrm>
            <a:off x="1050961" y="5899935"/>
            <a:ext cx="0" cy="1043251"/>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8" name="直接连接符 7">
            <a:extLst>
              <a:ext uri="{FF2B5EF4-FFF2-40B4-BE49-F238E27FC236}">
                <a16:creationId xmlns:a16="http://schemas.microsoft.com/office/drawing/2014/main" id="{21E2974A-D9E4-6857-0513-4715A74C4D76}"/>
              </a:ext>
            </a:extLst>
          </p:cNvPr>
          <p:cNvCxnSpPr>
            <a:cxnSpLocks/>
          </p:cNvCxnSpPr>
          <p:nvPr/>
        </p:nvCxnSpPr>
        <p:spPr bwMode="auto">
          <a:xfrm>
            <a:off x="947203" y="6824405"/>
            <a:ext cx="1080120" cy="0"/>
          </a:xfrm>
          <a:prstGeom prst="line">
            <a:avLst/>
          </a:prstGeom>
          <a:solidFill>
            <a:schemeClr val="accent1"/>
          </a:solidFill>
          <a:ln w="9525" cap="flat" cmpd="sng" algn="ctr">
            <a:solidFill>
              <a:schemeClr val="tx1"/>
            </a:solidFill>
            <a:prstDash val="solid"/>
            <a:round/>
            <a:headEnd type="none" w="med" len="med"/>
            <a:tailEnd type="none" w="med" len="med"/>
          </a:ln>
        </p:spPr>
      </p:cxnSp>
    </p:spTree>
    <p:extLst>
      <p:ext uri="{BB962C8B-B14F-4D97-AF65-F5344CB8AC3E}">
        <p14:creationId xmlns:p14="http://schemas.microsoft.com/office/powerpoint/2010/main" val="1458853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66" name="Rectangle 10"/>
          <p:cNvSpPr/>
          <p:nvPr/>
        </p:nvSpPr>
        <p:spPr>
          <a:xfrm>
            <a:off x="256860" y="458341"/>
            <a:ext cx="2736850" cy="508000"/>
          </a:xfrm>
          <a:prstGeom prst="rect">
            <a:avLst/>
          </a:prstGeom>
          <a:noFill/>
          <a:ln w="9525">
            <a:noFill/>
          </a:ln>
        </p:spPr>
        <p:txBody>
          <a:bodyPr anchor="t" anchorCtr="0"/>
          <a:lstStyle/>
          <a:p>
            <a:pPr marL="342900" indent="-342900"/>
            <a:r>
              <a:rPr lang="zh-CN" altLang="en-US" dirty="0">
                <a:solidFill>
                  <a:srgbClr val="FFB7B7"/>
                </a:solidFill>
                <a:latin typeface="宋体" panose="02010600030101010101" pitchFamily="2" charset="-122"/>
                <a:ea typeface="宋体" panose="02010600030101010101" pitchFamily="2" charset="-122"/>
              </a:rPr>
              <a:t>旋度的有关公式</a:t>
            </a:r>
            <a:r>
              <a:rPr lang="zh-CN" altLang="en-US" dirty="0">
                <a:solidFill>
                  <a:srgbClr val="FF9900"/>
                </a:solidFill>
                <a:latin typeface="幼圆" panose="02010509060101010101" pitchFamily="49" charset="-122"/>
                <a:ea typeface="幼圆" panose="02010509060101010101" pitchFamily="49" charset="-122"/>
              </a:rPr>
              <a:t>：</a:t>
            </a:r>
            <a:endParaRPr lang="zh-CN" altLang="en-US" b="0" dirty="0">
              <a:solidFill>
                <a:srgbClr val="FF9900"/>
              </a:solidFill>
              <a:latin typeface="幼圆" panose="02010509060101010101" pitchFamily="49" charset="-122"/>
              <a:ea typeface="幼圆" panose="02010509060101010101" pitchFamily="49" charset="-122"/>
            </a:endParaRPr>
          </a:p>
        </p:txBody>
      </p:sp>
      <p:grpSp>
        <p:nvGrpSpPr>
          <p:cNvPr id="403475" name="Group 19"/>
          <p:cNvGrpSpPr/>
          <p:nvPr/>
        </p:nvGrpSpPr>
        <p:grpSpPr>
          <a:xfrm>
            <a:off x="34926" y="1485379"/>
            <a:ext cx="4857750" cy="2016125"/>
            <a:chOff x="430" y="1253"/>
            <a:chExt cx="2949" cy="1270"/>
          </a:xfrm>
        </p:grpSpPr>
        <p:sp>
          <p:nvSpPr>
            <p:cNvPr id="105475" name="Rectangle 12"/>
            <p:cNvSpPr/>
            <p:nvPr/>
          </p:nvSpPr>
          <p:spPr>
            <a:xfrm>
              <a:off x="2200" y="2205"/>
              <a:ext cx="1179" cy="318"/>
            </a:xfrm>
            <a:prstGeom prst="rect">
              <a:avLst/>
            </a:prstGeom>
            <a:noFill/>
            <a:ln w="9525" cap="flat" cmpd="sng">
              <a:solidFill>
                <a:srgbClr val="FF0000"/>
              </a:solidFill>
              <a:prstDash val="dash"/>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76" name="Rectangle 13"/>
            <p:cNvSpPr/>
            <p:nvPr/>
          </p:nvSpPr>
          <p:spPr>
            <a:xfrm>
              <a:off x="430" y="1253"/>
              <a:ext cx="1361" cy="589"/>
            </a:xfrm>
            <a:prstGeom prst="rect">
              <a:avLst/>
            </a:prstGeom>
            <a:solidFill>
              <a:srgbClr val="CCFFFF"/>
            </a:solidFill>
            <a:ln w="25400" cap="flat" cmpd="sng">
              <a:solidFill>
                <a:srgbClr val="FF0000"/>
              </a:solidFill>
              <a:prstDash val="solid"/>
              <a:miter/>
              <a:headEnd type="none" w="med" len="med"/>
              <a:tailEnd type="none" w="med" len="med"/>
            </a:ln>
          </p:spPr>
          <p:txBody>
            <a:bodyPr anchor="t" anchorCtr="0"/>
            <a:lstStyle/>
            <a:p>
              <a:pPr marL="342900" indent="-342900" algn="ctr"/>
              <a:r>
                <a:rPr lang="zh-CN" altLang="en-US" sz="2000" dirty="0">
                  <a:solidFill>
                    <a:srgbClr val="990033"/>
                  </a:solidFill>
                  <a:latin typeface="宋体" panose="02010600030101010101" pitchFamily="2" charset="-122"/>
                  <a:ea typeface="宋体" panose="02010600030101010101" pitchFamily="2" charset="-122"/>
                </a:rPr>
                <a:t>矢量场的旋度</a:t>
              </a:r>
            </a:p>
            <a:p>
              <a:pPr marL="342900" indent="-342900" algn="ctr"/>
              <a:r>
                <a:rPr lang="zh-CN" altLang="en-US" sz="2000" dirty="0">
                  <a:solidFill>
                    <a:srgbClr val="990033"/>
                  </a:solidFill>
                  <a:latin typeface="宋体" panose="02010600030101010101" pitchFamily="2" charset="-122"/>
                  <a:ea typeface="宋体" panose="02010600030101010101" pitchFamily="2" charset="-122"/>
                </a:rPr>
                <a:t>的散度恒为零</a:t>
              </a:r>
            </a:p>
          </p:txBody>
        </p:sp>
        <p:sp>
          <p:nvSpPr>
            <p:cNvPr id="105477" name="Line 14"/>
            <p:cNvSpPr/>
            <p:nvPr/>
          </p:nvSpPr>
          <p:spPr>
            <a:xfrm>
              <a:off x="1791" y="1842"/>
              <a:ext cx="409" cy="363"/>
            </a:xfrm>
            <a:prstGeom prst="line">
              <a:avLst/>
            </a:prstGeom>
            <a:ln w="28575" cap="flat" cmpd="sng">
              <a:solidFill>
                <a:srgbClr val="FF0000"/>
              </a:solidFill>
              <a:prstDash val="solid"/>
              <a:round/>
              <a:headEnd type="none" w="med" len="med"/>
              <a:tailEnd type="triangle" w="med" len="med"/>
            </a:ln>
          </p:spPr>
          <p:txBody>
            <a:bodyPr/>
            <a:lstStyle/>
            <a:p>
              <a:endParaRPr lang="zh-CN" altLang="en-US"/>
            </a:p>
          </p:txBody>
        </p:sp>
      </p:grpSp>
      <p:grpSp>
        <p:nvGrpSpPr>
          <p:cNvPr id="403476" name="Group 20"/>
          <p:cNvGrpSpPr/>
          <p:nvPr/>
        </p:nvGrpSpPr>
        <p:grpSpPr>
          <a:xfrm>
            <a:off x="39006" y="2723849"/>
            <a:ext cx="4740275" cy="1368425"/>
            <a:chOff x="295" y="2432"/>
            <a:chExt cx="2986" cy="862"/>
          </a:xfrm>
        </p:grpSpPr>
        <p:sp>
          <p:nvSpPr>
            <p:cNvPr id="105479" name="Rectangle 16"/>
            <p:cNvSpPr/>
            <p:nvPr/>
          </p:nvSpPr>
          <p:spPr>
            <a:xfrm>
              <a:off x="295" y="2432"/>
              <a:ext cx="1360" cy="590"/>
            </a:xfrm>
            <a:prstGeom prst="rect">
              <a:avLst/>
            </a:prstGeom>
            <a:solidFill>
              <a:srgbClr val="CCFFFF"/>
            </a:solidFill>
            <a:ln w="25400" cap="flat" cmpd="sng">
              <a:solidFill>
                <a:srgbClr val="FF0000"/>
              </a:solidFill>
              <a:prstDash val="solid"/>
              <a:miter/>
              <a:headEnd type="none" w="med" len="med"/>
              <a:tailEnd type="none" w="med" len="med"/>
            </a:ln>
          </p:spPr>
          <p:txBody>
            <a:bodyPr anchor="t" anchorCtr="0"/>
            <a:lstStyle/>
            <a:p>
              <a:pPr marL="342900" indent="-342900" algn="ctr"/>
              <a:r>
                <a:rPr lang="zh-CN" altLang="en-US" sz="2000" dirty="0">
                  <a:solidFill>
                    <a:srgbClr val="990033"/>
                  </a:solidFill>
                  <a:latin typeface="宋体" panose="02010600030101010101" pitchFamily="2" charset="-122"/>
                  <a:ea typeface="宋体" panose="02010600030101010101" pitchFamily="2" charset="-122"/>
                </a:rPr>
                <a:t>标量场的梯度</a:t>
              </a:r>
            </a:p>
            <a:p>
              <a:pPr marL="342900" indent="-342900" algn="ctr"/>
              <a:r>
                <a:rPr lang="zh-CN" altLang="en-US" sz="2000" dirty="0">
                  <a:solidFill>
                    <a:srgbClr val="990033"/>
                  </a:solidFill>
                  <a:latin typeface="宋体" panose="02010600030101010101" pitchFamily="2" charset="-122"/>
                  <a:ea typeface="宋体" panose="02010600030101010101" pitchFamily="2" charset="-122"/>
                </a:rPr>
                <a:t>的旋度恒为零</a:t>
              </a:r>
            </a:p>
          </p:txBody>
        </p:sp>
        <p:sp>
          <p:nvSpPr>
            <p:cNvPr id="105480" name="Line 17"/>
            <p:cNvSpPr/>
            <p:nvPr/>
          </p:nvSpPr>
          <p:spPr>
            <a:xfrm>
              <a:off x="1655" y="2931"/>
              <a:ext cx="424" cy="145"/>
            </a:xfrm>
            <a:prstGeom prst="line">
              <a:avLst/>
            </a:prstGeom>
            <a:ln w="28575" cap="flat" cmpd="sng">
              <a:solidFill>
                <a:srgbClr val="FF0000"/>
              </a:solidFill>
              <a:prstDash val="solid"/>
              <a:round/>
              <a:headEnd type="none" w="med" len="med"/>
              <a:tailEnd type="triangle" w="med" len="med"/>
            </a:ln>
          </p:spPr>
          <p:txBody>
            <a:bodyPr/>
            <a:lstStyle/>
            <a:p>
              <a:endParaRPr lang="zh-CN" altLang="en-US"/>
            </a:p>
          </p:txBody>
        </p:sp>
        <p:sp>
          <p:nvSpPr>
            <p:cNvPr id="105481" name="Rectangle 18"/>
            <p:cNvSpPr/>
            <p:nvPr/>
          </p:nvSpPr>
          <p:spPr>
            <a:xfrm>
              <a:off x="2102" y="3022"/>
              <a:ext cx="1179" cy="272"/>
            </a:xfrm>
            <a:prstGeom prst="rect">
              <a:avLst/>
            </a:prstGeom>
            <a:noFill/>
            <a:ln w="9525" cap="flat" cmpd="sng">
              <a:solidFill>
                <a:srgbClr val="FF0000"/>
              </a:solidFill>
              <a:prstDash val="dash"/>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grpSp>
        <p:nvGrpSpPr>
          <p:cNvPr id="403543" name="Group 87"/>
          <p:cNvGrpSpPr/>
          <p:nvPr/>
        </p:nvGrpSpPr>
        <p:grpSpPr>
          <a:xfrm>
            <a:off x="2665413" y="404292"/>
            <a:ext cx="4802938" cy="3673475"/>
            <a:chOff x="2608" y="482"/>
            <a:chExt cx="2889" cy="2362"/>
          </a:xfrm>
        </p:grpSpPr>
        <p:graphicFrame>
          <p:nvGraphicFramePr>
            <p:cNvPr id="105483" name="Object 79"/>
            <p:cNvGraphicFramePr>
              <a:graphicFrameLocks noChangeAspect="1"/>
            </p:cNvGraphicFramePr>
            <p:nvPr/>
          </p:nvGraphicFramePr>
          <p:xfrm>
            <a:off x="2744" y="1117"/>
            <a:ext cx="2277" cy="328"/>
          </p:xfrm>
          <a:graphic>
            <a:graphicData uri="http://schemas.openxmlformats.org/presentationml/2006/ole">
              <mc:AlternateContent xmlns:mc="http://schemas.openxmlformats.org/markup-compatibility/2006">
                <mc:Choice xmlns:v="urn:schemas-microsoft-com:vml" Requires="v">
                  <p:oleObj r:id="rId3" imgW="1415415" imgH="170815" progId="Equation.3">
                    <p:embed/>
                  </p:oleObj>
                </mc:Choice>
                <mc:Fallback>
                  <p:oleObj r:id="rId3" imgW="1415415" imgH="170815" progId="Equation.3">
                    <p:embed/>
                    <p:pic>
                      <p:nvPicPr>
                        <p:cNvPr id="0" name="图片 3263"/>
                        <p:cNvPicPr/>
                        <p:nvPr/>
                      </p:nvPicPr>
                      <p:blipFill>
                        <a:blip r:embed="rId4">
                          <a:clrChange>
                            <a:clrFrom>
                              <a:srgbClr val="000000"/>
                            </a:clrFrom>
                            <a:clrTo>
                              <a:srgbClr val="FFFFFF"/>
                            </a:clrTo>
                          </a:clrChange>
                        </a:blip>
                        <a:stretch>
                          <a:fillRect/>
                        </a:stretch>
                      </p:blipFill>
                      <p:spPr>
                        <a:xfrm>
                          <a:off x="2744" y="1117"/>
                          <a:ext cx="2277" cy="328"/>
                        </a:xfrm>
                        <a:prstGeom prst="rect">
                          <a:avLst/>
                        </a:prstGeom>
                        <a:noFill/>
                        <a:ln w="38100">
                          <a:noFill/>
                          <a:miter/>
                        </a:ln>
                      </p:spPr>
                    </p:pic>
                  </p:oleObj>
                </mc:Fallback>
              </mc:AlternateContent>
            </a:graphicData>
          </a:graphic>
        </p:graphicFrame>
        <p:graphicFrame>
          <p:nvGraphicFramePr>
            <p:cNvPr id="105484" name="Object 80"/>
            <p:cNvGraphicFramePr>
              <a:graphicFrameLocks noChangeAspect="1"/>
            </p:cNvGraphicFramePr>
            <p:nvPr/>
          </p:nvGraphicFramePr>
          <p:xfrm>
            <a:off x="2744" y="799"/>
            <a:ext cx="1518" cy="328"/>
          </p:xfrm>
          <a:graphic>
            <a:graphicData uri="http://schemas.openxmlformats.org/presentationml/2006/ole">
              <mc:AlternateContent xmlns:mc="http://schemas.openxmlformats.org/markup-compatibility/2006">
                <mc:Choice xmlns:v="urn:schemas-microsoft-com:vml" Requires="v">
                  <p:oleObj r:id="rId5" imgW="930910" imgH="170815" progId="Equation.3">
                    <p:embed/>
                  </p:oleObj>
                </mc:Choice>
                <mc:Fallback>
                  <p:oleObj r:id="rId5" imgW="930910" imgH="170815" progId="Equation.3">
                    <p:embed/>
                    <p:pic>
                      <p:nvPicPr>
                        <p:cNvPr id="0" name="图片 3260"/>
                        <p:cNvPicPr/>
                        <p:nvPr/>
                      </p:nvPicPr>
                      <p:blipFill>
                        <a:blip r:embed="rId6">
                          <a:clrChange>
                            <a:clrFrom>
                              <a:srgbClr val="000000"/>
                            </a:clrFrom>
                            <a:clrTo>
                              <a:srgbClr val="FFFFFF"/>
                            </a:clrTo>
                          </a:clrChange>
                        </a:blip>
                        <a:stretch>
                          <a:fillRect/>
                        </a:stretch>
                      </p:blipFill>
                      <p:spPr>
                        <a:xfrm>
                          <a:off x="2744" y="799"/>
                          <a:ext cx="1518" cy="328"/>
                        </a:xfrm>
                        <a:prstGeom prst="rect">
                          <a:avLst/>
                        </a:prstGeom>
                        <a:noFill/>
                        <a:ln w="38100">
                          <a:noFill/>
                          <a:miter/>
                        </a:ln>
                      </p:spPr>
                    </p:pic>
                  </p:oleObj>
                </mc:Fallback>
              </mc:AlternateContent>
            </a:graphicData>
          </a:graphic>
        </p:graphicFrame>
        <p:graphicFrame>
          <p:nvGraphicFramePr>
            <p:cNvPr id="105485" name="Object 81"/>
            <p:cNvGraphicFramePr>
              <a:graphicFrameLocks noChangeAspect="1"/>
            </p:cNvGraphicFramePr>
            <p:nvPr/>
          </p:nvGraphicFramePr>
          <p:xfrm>
            <a:off x="2744" y="482"/>
            <a:ext cx="828" cy="294"/>
          </p:xfrm>
          <a:graphic>
            <a:graphicData uri="http://schemas.openxmlformats.org/presentationml/2006/ole">
              <mc:AlternateContent xmlns:mc="http://schemas.openxmlformats.org/markup-compatibility/2006">
                <mc:Choice xmlns:v="urn:schemas-microsoft-com:vml" Requires="v">
                  <p:oleObj r:id="rId7" imgW="490220" imgH="148590" progId="Equation.3">
                    <p:embed/>
                  </p:oleObj>
                </mc:Choice>
                <mc:Fallback>
                  <p:oleObj r:id="rId7" imgW="490220" imgH="148590" progId="Equation.3">
                    <p:embed/>
                    <p:pic>
                      <p:nvPicPr>
                        <p:cNvPr id="0" name="图片 3261"/>
                        <p:cNvPicPr/>
                        <p:nvPr/>
                      </p:nvPicPr>
                      <p:blipFill>
                        <a:blip r:embed="rId8">
                          <a:clrChange>
                            <a:clrFrom>
                              <a:srgbClr val="000000"/>
                            </a:clrFrom>
                            <a:clrTo>
                              <a:srgbClr val="FFFFFF"/>
                            </a:clrTo>
                          </a:clrChange>
                        </a:blip>
                        <a:stretch>
                          <a:fillRect/>
                        </a:stretch>
                      </p:blipFill>
                      <p:spPr>
                        <a:xfrm>
                          <a:off x="2744" y="482"/>
                          <a:ext cx="828" cy="294"/>
                        </a:xfrm>
                        <a:prstGeom prst="rect">
                          <a:avLst/>
                        </a:prstGeom>
                        <a:noFill/>
                        <a:ln w="38100">
                          <a:noFill/>
                          <a:miter/>
                        </a:ln>
                      </p:spPr>
                    </p:pic>
                  </p:oleObj>
                </mc:Fallback>
              </mc:AlternateContent>
            </a:graphicData>
          </a:graphic>
        </p:graphicFrame>
        <p:graphicFrame>
          <p:nvGraphicFramePr>
            <p:cNvPr id="105486" name="Object 82"/>
            <p:cNvGraphicFramePr>
              <a:graphicFrameLocks noChangeAspect="1"/>
            </p:cNvGraphicFramePr>
            <p:nvPr/>
          </p:nvGraphicFramePr>
          <p:xfrm>
            <a:off x="2744" y="1480"/>
            <a:ext cx="2311" cy="328"/>
          </p:xfrm>
          <a:graphic>
            <a:graphicData uri="http://schemas.openxmlformats.org/presentationml/2006/ole">
              <mc:AlternateContent xmlns:mc="http://schemas.openxmlformats.org/markup-compatibility/2006">
                <mc:Choice xmlns:v="urn:schemas-microsoft-com:vml" Requires="v">
                  <p:oleObj r:id="rId9" imgW="1437640" imgH="170815" progId="Equation.3">
                    <p:embed/>
                  </p:oleObj>
                </mc:Choice>
                <mc:Fallback>
                  <p:oleObj r:id="rId9" imgW="1437640" imgH="170815" progId="Equation.3">
                    <p:embed/>
                    <p:pic>
                      <p:nvPicPr>
                        <p:cNvPr id="0" name="图片 3262"/>
                        <p:cNvPicPr/>
                        <p:nvPr/>
                      </p:nvPicPr>
                      <p:blipFill>
                        <a:blip r:embed="rId10">
                          <a:clrChange>
                            <a:clrFrom>
                              <a:srgbClr val="000000"/>
                            </a:clrFrom>
                            <a:clrTo>
                              <a:srgbClr val="FFFFFF"/>
                            </a:clrTo>
                          </a:clrChange>
                        </a:blip>
                        <a:stretch>
                          <a:fillRect/>
                        </a:stretch>
                      </p:blipFill>
                      <p:spPr>
                        <a:xfrm>
                          <a:off x="2744" y="1480"/>
                          <a:ext cx="2311" cy="328"/>
                        </a:xfrm>
                        <a:prstGeom prst="rect">
                          <a:avLst/>
                        </a:prstGeom>
                        <a:noFill/>
                        <a:ln w="38100">
                          <a:noFill/>
                          <a:miter/>
                        </a:ln>
                      </p:spPr>
                    </p:pic>
                  </p:oleObj>
                </mc:Fallback>
              </mc:AlternateContent>
            </a:graphicData>
          </a:graphic>
        </p:graphicFrame>
        <p:graphicFrame>
          <p:nvGraphicFramePr>
            <p:cNvPr id="105487" name="Object 83"/>
            <p:cNvGraphicFramePr>
              <a:graphicFrameLocks noChangeAspect="1"/>
            </p:cNvGraphicFramePr>
            <p:nvPr>
              <p:extLst>
                <p:ext uri="{D42A27DB-BD31-4B8C-83A1-F6EECF244321}">
                  <p14:modId xmlns:p14="http://schemas.microsoft.com/office/powerpoint/2010/main" val="548480767"/>
                </p:ext>
              </p:extLst>
            </p:nvPr>
          </p:nvGraphicFramePr>
          <p:xfrm>
            <a:off x="2754" y="1784"/>
            <a:ext cx="2743" cy="328"/>
          </p:xfrm>
          <a:graphic>
            <a:graphicData uri="http://schemas.openxmlformats.org/presentationml/2006/ole">
              <mc:AlternateContent xmlns:mc="http://schemas.openxmlformats.org/markup-compatibility/2006">
                <mc:Choice xmlns:v="urn:schemas-microsoft-com:vml" Requires="v">
                  <p:oleObj r:id="rId11" imgW="1713230" imgH="170815" progId="Equation.3">
                    <p:embed/>
                  </p:oleObj>
                </mc:Choice>
                <mc:Fallback>
                  <p:oleObj r:id="rId11" imgW="1713230" imgH="170815" progId="Equation.3">
                    <p:embed/>
                    <p:pic>
                      <p:nvPicPr>
                        <p:cNvPr id="0" name="图片 3264"/>
                        <p:cNvPicPr/>
                        <p:nvPr/>
                      </p:nvPicPr>
                      <p:blipFill>
                        <a:blip r:embed="rId12">
                          <a:clrChange>
                            <a:clrFrom>
                              <a:srgbClr val="000000"/>
                            </a:clrFrom>
                            <a:clrTo>
                              <a:srgbClr val="FFFFFF"/>
                            </a:clrTo>
                          </a:clrChange>
                        </a:blip>
                        <a:stretch>
                          <a:fillRect/>
                        </a:stretch>
                      </p:blipFill>
                      <p:spPr>
                        <a:xfrm>
                          <a:off x="2754" y="1784"/>
                          <a:ext cx="2743" cy="328"/>
                        </a:xfrm>
                        <a:prstGeom prst="rect">
                          <a:avLst/>
                        </a:prstGeom>
                        <a:noFill/>
                        <a:ln w="38100">
                          <a:noFill/>
                          <a:miter/>
                        </a:ln>
                      </p:spPr>
                    </p:pic>
                  </p:oleObj>
                </mc:Fallback>
              </mc:AlternateContent>
            </a:graphicData>
          </a:graphic>
        </p:graphicFrame>
        <p:graphicFrame>
          <p:nvGraphicFramePr>
            <p:cNvPr id="105488" name="Object 84"/>
            <p:cNvGraphicFramePr>
              <a:graphicFrameLocks noChangeAspect="1"/>
            </p:cNvGraphicFramePr>
            <p:nvPr>
              <p:extLst>
                <p:ext uri="{D42A27DB-BD31-4B8C-83A1-F6EECF244321}">
                  <p14:modId xmlns:p14="http://schemas.microsoft.com/office/powerpoint/2010/main" val="3705066850"/>
                </p:ext>
              </p:extLst>
            </p:nvPr>
          </p:nvGraphicFramePr>
          <p:xfrm>
            <a:off x="2691" y="2137"/>
            <a:ext cx="1260" cy="328"/>
          </p:xfrm>
          <a:graphic>
            <a:graphicData uri="http://schemas.openxmlformats.org/presentationml/2006/ole">
              <mc:AlternateContent xmlns:mc="http://schemas.openxmlformats.org/markup-compatibility/2006">
                <mc:Choice xmlns:v="urn:schemas-microsoft-com:vml" Requires="v">
                  <p:oleObj r:id="rId13" imgW="765810" imgH="170815" progId="Equation.3">
                    <p:embed/>
                  </p:oleObj>
                </mc:Choice>
                <mc:Fallback>
                  <p:oleObj r:id="rId13" imgW="765810" imgH="170815" progId="Equation.3">
                    <p:embed/>
                    <p:pic>
                      <p:nvPicPr>
                        <p:cNvPr id="0" name="图片 3265"/>
                        <p:cNvPicPr/>
                        <p:nvPr/>
                      </p:nvPicPr>
                      <p:blipFill>
                        <a:blip r:embed="rId14">
                          <a:clrChange>
                            <a:clrFrom>
                              <a:srgbClr val="000000"/>
                            </a:clrFrom>
                            <a:clrTo>
                              <a:srgbClr val="FFFFFF"/>
                            </a:clrTo>
                          </a:clrChange>
                        </a:blip>
                        <a:stretch>
                          <a:fillRect/>
                        </a:stretch>
                      </p:blipFill>
                      <p:spPr>
                        <a:xfrm>
                          <a:off x="2691" y="2137"/>
                          <a:ext cx="1260" cy="328"/>
                        </a:xfrm>
                        <a:prstGeom prst="rect">
                          <a:avLst/>
                        </a:prstGeom>
                        <a:noFill/>
                        <a:ln w="38100">
                          <a:noFill/>
                          <a:miter/>
                        </a:ln>
                      </p:spPr>
                    </p:pic>
                  </p:oleObj>
                </mc:Fallback>
              </mc:AlternateContent>
            </a:graphicData>
          </a:graphic>
        </p:graphicFrame>
        <p:graphicFrame>
          <p:nvGraphicFramePr>
            <p:cNvPr id="105489" name="Object 85"/>
            <p:cNvGraphicFramePr>
              <a:graphicFrameLocks noChangeAspect="1"/>
            </p:cNvGraphicFramePr>
            <p:nvPr/>
          </p:nvGraphicFramePr>
          <p:xfrm>
            <a:off x="2718" y="2568"/>
            <a:ext cx="1122" cy="276"/>
          </p:xfrm>
          <a:graphic>
            <a:graphicData uri="http://schemas.openxmlformats.org/presentationml/2006/ole">
              <mc:AlternateContent xmlns:mc="http://schemas.openxmlformats.org/markup-compatibility/2006">
                <mc:Choice xmlns:v="urn:schemas-microsoft-com:vml" Requires="v">
                  <p:oleObj r:id="rId15" imgW="677545" imgH="137795" progId="Equation.3">
                    <p:embed/>
                  </p:oleObj>
                </mc:Choice>
                <mc:Fallback>
                  <p:oleObj r:id="rId15" imgW="677545" imgH="137795" progId="Equation.3">
                    <p:embed/>
                    <p:pic>
                      <p:nvPicPr>
                        <p:cNvPr id="0" name="图片 3267"/>
                        <p:cNvPicPr/>
                        <p:nvPr/>
                      </p:nvPicPr>
                      <p:blipFill>
                        <a:blip r:embed="rId16">
                          <a:clrChange>
                            <a:clrFrom>
                              <a:srgbClr val="000000"/>
                            </a:clrFrom>
                            <a:clrTo>
                              <a:srgbClr val="FFFFFF"/>
                            </a:clrTo>
                          </a:clrChange>
                        </a:blip>
                        <a:stretch>
                          <a:fillRect/>
                        </a:stretch>
                      </p:blipFill>
                      <p:spPr>
                        <a:xfrm>
                          <a:off x="2718" y="2568"/>
                          <a:ext cx="1122" cy="276"/>
                        </a:xfrm>
                        <a:prstGeom prst="rect">
                          <a:avLst/>
                        </a:prstGeom>
                        <a:noFill/>
                        <a:ln w="38100">
                          <a:noFill/>
                          <a:miter/>
                        </a:ln>
                      </p:spPr>
                    </p:pic>
                  </p:oleObj>
                </mc:Fallback>
              </mc:AlternateContent>
            </a:graphicData>
          </a:graphic>
        </p:graphicFrame>
        <p:sp>
          <p:nvSpPr>
            <p:cNvPr id="105490" name="AutoShape 86"/>
            <p:cNvSpPr/>
            <p:nvPr/>
          </p:nvSpPr>
          <p:spPr>
            <a:xfrm>
              <a:off x="2608" y="572"/>
              <a:ext cx="91" cy="2177"/>
            </a:xfrm>
            <a:prstGeom prst="leftBrace">
              <a:avLst>
                <a:gd name="adj1" fmla="val 199248"/>
                <a:gd name="adj2" fmla="val 50000"/>
              </a:avLst>
            </a:prstGeom>
            <a:noFill/>
            <a:ln w="9525" cap="flat" cmpd="sng">
              <a:solidFill>
                <a:schemeClr val="bg1"/>
              </a:solidFill>
              <a:prstDash val="solid"/>
              <a:round/>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pSp>
      <p:sp>
        <p:nvSpPr>
          <p:cNvPr id="105491" name="AutoShape 88">
            <a:hlinkClick r:id="rId17"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92" name="AutoShape 89">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93" name="AutoShape 90">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94" name="AutoShape 91">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403548" name="Rectangle 92"/>
          <p:cNvSpPr/>
          <p:nvPr/>
        </p:nvSpPr>
        <p:spPr>
          <a:xfrm>
            <a:off x="4760479" y="3027321"/>
            <a:ext cx="4466206" cy="508000"/>
          </a:xfrm>
          <a:prstGeom prst="rect">
            <a:avLst/>
          </a:prstGeom>
          <a:noFill/>
          <a:ln w="9525">
            <a:noFill/>
          </a:ln>
        </p:spPr>
        <p:txBody>
          <a:bodyPr anchor="t" anchorCtr="0"/>
          <a:lstStyle/>
          <a:p>
            <a:pPr marL="342900" indent="-342900"/>
            <a:r>
              <a:rPr lang="zh-CN" altLang="en-US" sz="2000" dirty="0">
                <a:solidFill>
                  <a:srgbClr val="FF9900"/>
                </a:solidFill>
                <a:latin typeface="楷体_GB2312" pitchFamily="49" charset="-122"/>
              </a:rPr>
              <a:t>“旋无散”</a:t>
            </a:r>
            <a:r>
              <a:rPr lang="zh-CN" altLang="en-US" sz="2000" b="0" dirty="0">
                <a:solidFill>
                  <a:srgbClr val="FF9900"/>
                </a:solidFill>
                <a:latin typeface="楷体_GB2312" pitchFamily="49" charset="-122"/>
              </a:rPr>
              <a:t>恒等式</a:t>
            </a:r>
            <a:r>
              <a:rPr lang="zh-CN" altLang="en-US" sz="2000" dirty="0">
                <a:solidFill>
                  <a:srgbClr val="FF9900"/>
                </a:solidFill>
                <a:cs typeface="Arial" panose="020B0604020202020204" pitchFamily="34" charset="0"/>
              </a:rPr>
              <a:t>→矢量</a:t>
            </a:r>
            <a:r>
              <a:rPr lang="zh-CN" altLang="en-US" sz="2000" b="0" dirty="0">
                <a:solidFill>
                  <a:srgbClr val="FF9900"/>
                </a:solidFill>
                <a:cs typeface="Arial" panose="020B0604020202020204" pitchFamily="34" charset="0"/>
              </a:rPr>
              <a:t>位函数</a:t>
            </a:r>
            <a:endParaRPr lang="zh-CN" altLang="en-US" sz="2000" b="0" dirty="0">
              <a:solidFill>
                <a:srgbClr val="FF9900"/>
              </a:solidFill>
              <a:latin typeface="楷体_GB2312" pitchFamily="49" charset="-122"/>
            </a:endParaRPr>
          </a:p>
        </p:txBody>
      </p:sp>
      <p:sp>
        <p:nvSpPr>
          <p:cNvPr id="403549" name="Rectangle 93"/>
          <p:cNvSpPr/>
          <p:nvPr/>
        </p:nvSpPr>
        <p:spPr>
          <a:xfrm>
            <a:off x="4586722" y="3622708"/>
            <a:ext cx="4466206" cy="508000"/>
          </a:xfrm>
          <a:prstGeom prst="rect">
            <a:avLst/>
          </a:prstGeom>
          <a:noFill/>
          <a:ln w="9525">
            <a:noFill/>
          </a:ln>
        </p:spPr>
        <p:txBody>
          <a:bodyPr anchor="t" anchorCtr="0"/>
          <a:lstStyle/>
          <a:p>
            <a:pPr marL="342900" indent="-342900"/>
            <a:r>
              <a:rPr lang="zh-CN" altLang="en-US" sz="2000" dirty="0">
                <a:solidFill>
                  <a:srgbClr val="FF9900"/>
                </a:solidFill>
                <a:latin typeface="楷体_GB2312" pitchFamily="49" charset="-122"/>
              </a:rPr>
              <a:t>“梯无旋”</a:t>
            </a:r>
            <a:r>
              <a:rPr lang="zh-CN" altLang="en-US" sz="2000" b="0" dirty="0">
                <a:solidFill>
                  <a:srgbClr val="FF9900"/>
                </a:solidFill>
                <a:latin typeface="楷体_GB2312" pitchFamily="49" charset="-122"/>
              </a:rPr>
              <a:t>恒等式</a:t>
            </a:r>
            <a:r>
              <a:rPr lang="zh-CN" altLang="en-US" sz="2000" dirty="0">
                <a:solidFill>
                  <a:srgbClr val="FF9900"/>
                </a:solidFill>
                <a:cs typeface="Arial" panose="020B0604020202020204" pitchFamily="34" charset="0"/>
              </a:rPr>
              <a:t>→标量</a:t>
            </a:r>
            <a:r>
              <a:rPr lang="zh-CN" altLang="en-US" sz="2000" b="0" dirty="0">
                <a:solidFill>
                  <a:srgbClr val="FF9900"/>
                </a:solidFill>
                <a:cs typeface="Arial" panose="020B0604020202020204" pitchFamily="34" charset="0"/>
              </a:rPr>
              <a:t>位函数</a:t>
            </a:r>
            <a:endParaRPr lang="zh-CN" altLang="en-US" sz="2000" b="0" dirty="0">
              <a:solidFill>
                <a:srgbClr val="FF9900"/>
              </a:solidFill>
              <a:latin typeface="楷体_GB2312" pitchFamily="49" charset="-122"/>
            </a:endParaRPr>
          </a:p>
        </p:txBody>
      </p:sp>
      <p:pic>
        <p:nvPicPr>
          <p:cNvPr id="3" name="图片 2">
            <a:extLst>
              <a:ext uri="{FF2B5EF4-FFF2-40B4-BE49-F238E27FC236}">
                <a16:creationId xmlns:a16="http://schemas.microsoft.com/office/drawing/2014/main" id="{27974777-3262-8E6E-97C8-8FCA36744352}"/>
              </a:ext>
            </a:extLst>
          </p:cNvPr>
          <p:cNvPicPr>
            <a:picLocks noChangeAspect="1"/>
          </p:cNvPicPr>
          <p:nvPr/>
        </p:nvPicPr>
        <p:blipFill>
          <a:blip r:embed="rId18"/>
          <a:stretch>
            <a:fillRect/>
          </a:stretch>
        </p:blipFill>
        <p:spPr>
          <a:xfrm>
            <a:off x="1227812" y="4156521"/>
            <a:ext cx="6252488" cy="27351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03466"/>
                                        </p:tgtEl>
                                        <p:attrNameLst>
                                          <p:attrName>style.visibility</p:attrName>
                                        </p:attrNameLst>
                                      </p:cBhvr>
                                      <p:to>
                                        <p:strVal val="visible"/>
                                      </p:to>
                                    </p:set>
                                    <p:animEffect transition="in" filter="wipe(up)">
                                      <p:cBhvr>
                                        <p:cTn id="7" dur="2000"/>
                                        <p:tgtEl>
                                          <p:spTgt spid="403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3543"/>
                                        </p:tgtEl>
                                        <p:attrNameLst>
                                          <p:attrName>style.visibility</p:attrName>
                                        </p:attrNameLst>
                                      </p:cBhvr>
                                      <p:to>
                                        <p:strVal val="visible"/>
                                      </p:to>
                                    </p:set>
                                    <p:animEffect transition="in" filter="wipe(up)">
                                      <p:cBhvr>
                                        <p:cTn id="12" dur="5000"/>
                                        <p:tgtEl>
                                          <p:spTgt spid="4035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3475"/>
                                        </p:tgtEl>
                                        <p:attrNameLst>
                                          <p:attrName>style.visibility</p:attrName>
                                        </p:attrNameLst>
                                      </p:cBhvr>
                                      <p:to>
                                        <p:strVal val="visible"/>
                                      </p:to>
                                    </p:set>
                                    <p:animEffect transition="in" filter="fade">
                                      <p:cBhvr>
                                        <p:cTn id="17" dur="2000"/>
                                        <p:tgtEl>
                                          <p:spTgt spid="4034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3476"/>
                                        </p:tgtEl>
                                        <p:attrNameLst>
                                          <p:attrName>style.visibility</p:attrName>
                                        </p:attrNameLst>
                                      </p:cBhvr>
                                      <p:to>
                                        <p:strVal val="visible"/>
                                      </p:to>
                                    </p:set>
                                    <p:animEffect transition="in" filter="fade">
                                      <p:cBhvr>
                                        <p:cTn id="22" dur="2000"/>
                                        <p:tgtEl>
                                          <p:spTgt spid="40347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403548"/>
                                        </p:tgtEl>
                                        <p:attrNameLst>
                                          <p:attrName>style.visibility</p:attrName>
                                        </p:attrNameLst>
                                      </p:cBhvr>
                                      <p:to>
                                        <p:strVal val="visible"/>
                                      </p:to>
                                    </p:set>
                                    <p:animEffect transition="in" filter="wipe(up)">
                                      <p:cBhvr>
                                        <p:cTn id="25" dur="2000"/>
                                        <p:tgtEl>
                                          <p:spTgt spid="403548"/>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403549"/>
                                        </p:tgtEl>
                                        <p:attrNameLst>
                                          <p:attrName>style.visibility</p:attrName>
                                        </p:attrNameLst>
                                      </p:cBhvr>
                                      <p:to>
                                        <p:strVal val="visible"/>
                                      </p:to>
                                    </p:set>
                                    <p:animEffect transition="in" filter="wipe(up)">
                                      <p:cBhvr>
                                        <p:cTn id="28" dur="2000"/>
                                        <p:tgtEl>
                                          <p:spTgt spid="403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6" grpId="0"/>
      <p:bldP spid="403548" grpId="0"/>
      <p:bldP spid="40354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91" name="AutoShape 88">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92" name="AutoShape 89">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93" name="AutoShape 90">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5494" name="AutoShape 91">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403548" name="Rectangle 92"/>
          <p:cNvSpPr/>
          <p:nvPr/>
        </p:nvSpPr>
        <p:spPr>
          <a:xfrm>
            <a:off x="683895" y="548640"/>
            <a:ext cx="2736850" cy="508000"/>
          </a:xfrm>
          <a:prstGeom prst="rect">
            <a:avLst/>
          </a:prstGeom>
          <a:noFill/>
          <a:ln w="9525">
            <a:noFill/>
          </a:ln>
        </p:spPr>
        <p:txBody>
          <a:bodyPr anchor="t" anchorCtr="0"/>
          <a:lstStyle/>
          <a:p>
            <a:pPr marL="342900" indent="-342900"/>
            <a:r>
              <a:rPr lang="zh-CN" altLang="en-US" dirty="0">
                <a:solidFill>
                  <a:srgbClr val="FF9900"/>
                </a:solidFill>
                <a:latin typeface="楷体_GB2312" pitchFamily="49" charset="-122"/>
                <a:ea typeface="楷体_GB2312" pitchFamily="49" charset="-122"/>
              </a:rPr>
              <a:t>旋无散的证明</a:t>
            </a:r>
          </a:p>
        </p:txBody>
      </p:sp>
      <p:sp>
        <p:nvSpPr>
          <p:cNvPr id="403549" name="Rectangle 93"/>
          <p:cNvSpPr/>
          <p:nvPr/>
        </p:nvSpPr>
        <p:spPr>
          <a:xfrm>
            <a:off x="683578" y="3212783"/>
            <a:ext cx="2736850" cy="508000"/>
          </a:xfrm>
          <a:prstGeom prst="rect">
            <a:avLst/>
          </a:prstGeom>
          <a:noFill/>
          <a:ln w="9525">
            <a:noFill/>
          </a:ln>
        </p:spPr>
        <p:txBody>
          <a:bodyPr anchor="t" anchorCtr="0"/>
          <a:lstStyle/>
          <a:p>
            <a:pPr marL="342900" indent="-342900"/>
            <a:r>
              <a:rPr lang="zh-CN" altLang="en-US" dirty="0">
                <a:solidFill>
                  <a:srgbClr val="FF9900"/>
                </a:solidFill>
                <a:latin typeface="楷体_GB2312" pitchFamily="49" charset="-122"/>
                <a:ea typeface="楷体_GB2312" pitchFamily="49" charset="-122"/>
              </a:rPr>
              <a:t>梯无旋的证明</a:t>
            </a:r>
          </a:p>
        </p:txBody>
      </p:sp>
      <p:pic>
        <p:nvPicPr>
          <p:cNvPr id="2" name="图片 1"/>
          <p:cNvPicPr>
            <a:picLocks noChangeAspect="1"/>
          </p:cNvPicPr>
          <p:nvPr/>
        </p:nvPicPr>
        <p:blipFill>
          <a:blip r:embed="rId4"/>
          <a:stretch>
            <a:fillRect/>
          </a:stretch>
        </p:blipFill>
        <p:spPr>
          <a:xfrm>
            <a:off x="1043940" y="1124585"/>
            <a:ext cx="7215505" cy="1948815"/>
          </a:xfrm>
          <a:prstGeom prst="rect">
            <a:avLst/>
          </a:prstGeom>
        </p:spPr>
      </p:pic>
      <p:pic>
        <p:nvPicPr>
          <p:cNvPr id="3" name="图片 2"/>
          <p:cNvPicPr>
            <a:picLocks noChangeAspect="1"/>
          </p:cNvPicPr>
          <p:nvPr/>
        </p:nvPicPr>
        <p:blipFill>
          <a:blip r:embed="rId5"/>
          <a:stretch>
            <a:fillRect/>
          </a:stretch>
        </p:blipFill>
        <p:spPr>
          <a:xfrm>
            <a:off x="1005840" y="3903980"/>
            <a:ext cx="7282815" cy="24752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Text Box 2"/>
          <p:cNvSpPr txBox="1"/>
          <p:nvPr/>
        </p:nvSpPr>
        <p:spPr>
          <a:xfrm>
            <a:off x="900113" y="1262063"/>
            <a:ext cx="7239000" cy="1735137"/>
          </a:xfrm>
          <a:prstGeom prst="rect">
            <a:avLst/>
          </a:prstGeom>
          <a:noFill/>
          <a:ln w="9525">
            <a:noFill/>
          </a:ln>
        </p:spPr>
        <p:txBody>
          <a:bodyPr anchor="t" anchorCtr="0">
            <a:spAutoFit/>
          </a:bodyPr>
          <a:lstStyle/>
          <a:p>
            <a:pPr>
              <a:lnSpc>
                <a:spcPct val="150000"/>
              </a:lnSpc>
              <a:spcBef>
                <a:spcPct val="50000"/>
              </a:spcBef>
            </a:pPr>
            <a:r>
              <a:rPr lang="en-US" altLang="zh-CN" dirty="0">
                <a:solidFill>
                  <a:srgbClr val="3333FF"/>
                </a:solidFill>
                <a:latin typeface="宋体" panose="02010600030101010101" pitchFamily="2" charset="-122"/>
                <a:ea typeface="楷体_GB2312" pitchFamily="49" charset="-122"/>
              </a:rPr>
              <a:t>    </a:t>
            </a:r>
            <a:r>
              <a:rPr lang="zh-CN" altLang="en-US" dirty="0">
                <a:solidFill>
                  <a:schemeClr val="bg1"/>
                </a:solidFill>
                <a:latin typeface="宋体" panose="02010600030101010101" pitchFamily="2" charset="-122"/>
                <a:ea typeface="楷体_GB2312" pitchFamily="49" charset="-122"/>
              </a:rPr>
              <a:t>无论梯度、散度或旋度都是</a:t>
            </a:r>
            <a:r>
              <a:rPr lang="zh-CN" altLang="en-US" dirty="0">
                <a:solidFill>
                  <a:srgbClr val="FF9933"/>
                </a:solidFill>
                <a:latin typeface="宋体" panose="02010600030101010101" pitchFamily="2" charset="-122"/>
                <a:ea typeface="楷体_GB2312" pitchFamily="49" charset="-122"/>
              </a:rPr>
              <a:t>微分运算</a:t>
            </a:r>
            <a:r>
              <a:rPr lang="zh-CN" altLang="en-US" dirty="0">
                <a:solidFill>
                  <a:schemeClr val="bg1"/>
                </a:solidFill>
                <a:latin typeface="宋体" panose="02010600030101010101" pitchFamily="2" charset="-122"/>
                <a:ea typeface="楷体_GB2312" pitchFamily="49" charset="-122"/>
              </a:rPr>
              <a:t>，它们表示场在</a:t>
            </a:r>
            <a:r>
              <a:rPr lang="zh-CN" altLang="en-US" dirty="0">
                <a:solidFill>
                  <a:srgbClr val="FF9933"/>
                </a:solidFill>
                <a:latin typeface="宋体" panose="02010600030101010101" pitchFamily="2" charset="-122"/>
                <a:ea typeface="楷体_GB2312" pitchFamily="49" charset="-122"/>
              </a:rPr>
              <a:t>某点</a:t>
            </a:r>
            <a:r>
              <a:rPr lang="zh-CN" altLang="en-US" dirty="0">
                <a:solidFill>
                  <a:schemeClr val="bg1"/>
                </a:solidFill>
                <a:latin typeface="宋体" panose="02010600030101010101" pitchFamily="2" charset="-122"/>
                <a:ea typeface="楷体_GB2312" pitchFamily="49" charset="-122"/>
              </a:rPr>
              <a:t>附近的变化特性。因此，</a:t>
            </a:r>
            <a:r>
              <a:rPr lang="zh-CN" altLang="en-US" dirty="0">
                <a:solidFill>
                  <a:schemeClr val="bg1"/>
                </a:solidFill>
                <a:latin typeface="Times New Roman" panose="02020603050405020304" pitchFamily="18" charset="0"/>
                <a:ea typeface="楷体_GB2312" pitchFamily="49" charset="-122"/>
              </a:rPr>
              <a:t>梯度、散度及旋度描述的是</a:t>
            </a:r>
            <a:r>
              <a:rPr lang="zh-CN" altLang="en-US" u="sng" dirty="0">
                <a:solidFill>
                  <a:schemeClr val="bg1"/>
                </a:solidFill>
                <a:latin typeface="Times New Roman" panose="02020603050405020304" pitchFamily="18" charset="0"/>
                <a:ea typeface="楷体_GB2312" pitchFamily="49" charset="-122"/>
              </a:rPr>
              <a:t>场的</a:t>
            </a:r>
            <a:r>
              <a:rPr lang="zh-CN" altLang="en-US" u="sng" dirty="0">
                <a:solidFill>
                  <a:srgbClr val="FF9933"/>
                </a:solidFill>
                <a:latin typeface="Times New Roman" panose="02020603050405020304" pitchFamily="18" charset="0"/>
                <a:ea typeface="楷体_GB2312" pitchFamily="49" charset="-122"/>
              </a:rPr>
              <a:t>点</a:t>
            </a:r>
            <a:r>
              <a:rPr lang="zh-CN" altLang="en-US" u="sng" dirty="0">
                <a:solidFill>
                  <a:schemeClr val="bg1"/>
                </a:solidFill>
                <a:latin typeface="Times New Roman" panose="02020603050405020304" pitchFamily="18" charset="0"/>
                <a:ea typeface="楷体_GB2312" pitchFamily="49" charset="-122"/>
              </a:rPr>
              <a:t>特性</a:t>
            </a:r>
            <a:r>
              <a:rPr lang="zh-CN" altLang="en-US" dirty="0">
                <a:solidFill>
                  <a:schemeClr val="bg1"/>
                </a:solidFill>
                <a:latin typeface="Times New Roman" panose="02020603050405020304" pitchFamily="18" charset="0"/>
                <a:ea typeface="楷体_GB2312" pitchFamily="49" charset="-122"/>
              </a:rPr>
              <a:t>或称为</a:t>
            </a:r>
            <a:r>
              <a:rPr lang="zh-CN" altLang="en-US" dirty="0">
                <a:solidFill>
                  <a:srgbClr val="FF9933"/>
                </a:solidFill>
                <a:latin typeface="Times New Roman" panose="02020603050405020304" pitchFamily="18" charset="0"/>
                <a:ea typeface="楷体_GB2312" pitchFamily="49" charset="-122"/>
              </a:rPr>
              <a:t>微分</a:t>
            </a:r>
            <a:r>
              <a:rPr lang="zh-CN" altLang="en-US" dirty="0">
                <a:solidFill>
                  <a:schemeClr val="bg1"/>
                </a:solidFill>
                <a:latin typeface="Times New Roman" panose="02020603050405020304" pitchFamily="18" charset="0"/>
                <a:ea typeface="楷体_GB2312" pitchFamily="49" charset="-122"/>
              </a:rPr>
              <a:t>特性</a:t>
            </a:r>
            <a:r>
              <a:rPr lang="zh-CN" altLang="en-US" dirty="0">
                <a:solidFill>
                  <a:schemeClr val="bg1"/>
                </a:solidFill>
                <a:latin typeface="宋体" panose="02010600030101010101" pitchFamily="2" charset="-122"/>
                <a:ea typeface="楷体_GB2312" pitchFamily="49" charset="-122"/>
              </a:rPr>
              <a:t>。</a:t>
            </a:r>
            <a:endParaRPr lang="zh-CN" altLang="en-US" sz="2000" dirty="0">
              <a:solidFill>
                <a:schemeClr val="bg1"/>
              </a:solidFill>
              <a:latin typeface="楷体_GB2312" pitchFamily="49" charset="-122"/>
              <a:ea typeface="楷体_GB2312" pitchFamily="49" charset="-122"/>
            </a:endParaRPr>
          </a:p>
        </p:txBody>
      </p:sp>
      <p:sp>
        <p:nvSpPr>
          <p:cNvPr id="681987" name="Text Box 3"/>
          <p:cNvSpPr txBox="1"/>
          <p:nvPr/>
        </p:nvSpPr>
        <p:spPr>
          <a:xfrm>
            <a:off x="971550" y="3249613"/>
            <a:ext cx="7391400" cy="1187450"/>
          </a:xfrm>
          <a:prstGeom prst="rect">
            <a:avLst/>
          </a:prstGeom>
          <a:noFill/>
          <a:ln w="19050">
            <a:noFill/>
          </a:ln>
        </p:spPr>
        <p:txBody>
          <a:bodyPr anchor="t" anchorCtr="0">
            <a:spAutoFit/>
          </a:bodyPr>
          <a:lstStyle/>
          <a:p>
            <a:pPr>
              <a:lnSpc>
                <a:spcPct val="150000"/>
              </a:lnSpc>
              <a:spcBef>
                <a:spcPct val="50000"/>
              </a:spcBef>
            </a:pPr>
            <a:r>
              <a:rPr lang="en-US" altLang="zh-CN" dirty="0">
                <a:solidFill>
                  <a:srgbClr val="3333FF"/>
                </a:solidFill>
                <a:latin typeface="宋体" panose="02010600030101010101" pitchFamily="2" charset="-122"/>
                <a:ea typeface="楷体_GB2312" pitchFamily="49" charset="-122"/>
              </a:rPr>
              <a:t>    </a:t>
            </a:r>
            <a:r>
              <a:rPr lang="zh-CN" altLang="en-US" dirty="0">
                <a:solidFill>
                  <a:schemeClr val="bg1"/>
                </a:solidFill>
                <a:latin typeface="宋体" panose="02010600030101010101" pitchFamily="2" charset="-122"/>
                <a:ea typeface="楷体_GB2312" pitchFamily="49" charset="-122"/>
              </a:rPr>
              <a:t>函数的</a:t>
            </a:r>
            <a:r>
              <a:rPr lang="zh-CN" altLang="en-US" dirty="0">
                <a:solidFill>
                  <a:srgbClr val="FF9933"/>
                </a:solidFill>
                <a:latin typeface="宋体" panose="02010600030101010101" pitchFamily="2" charset="-122"/>
                <a:ea typeface="楷体_GB2312" pitchFamily="49" charset="-122"/>
              </a:rPr>
              <a:t>连续性</a:t>
            </a:r>
            <a:r>
              <a:rPr lang="zh-CN" altLang="en-US" dirty="0">
                <a:solidFill>
                  <a:schemeClr val="bg1"/>
                </a:solidFill>
                <a:latin typeface="宋体" panose="02010600030101010101" pitchFamily="2" charset="-122"/>
                <a:ea typeface="楷体_GB2312" pitchFamily="49" charset="-122"/>
              </a:rPr>
              <a:t>是可微的必要条件。因此在场量发生</a:t>
            </a:r>
            <a:r>
              <a:rPr lang="zh-CN" altLang="en-US" dirty="0">
                <a:solidFill>
                  <a:srgbClr val="FF9933"/>
                </a:solidFill>
                <a:latin typeface="宋体" panose="02010600030101010101" pitchFamily="2" charset="-122"/>
                <a:ea typeface="楷体_GB2312" pitchFamily="49" charset="-122"/>
              </a:rPr>
              <a:t>不连续</a:t>
            </a:r>
            <a:r>
              <a:rPr lang="zh-CN" altLang="en-US" dirty="0">
                <a:solidFill>
                  <a:schemeClr val="bg1"/>
                </a:solidFill>
                <a:latin typeface="宋体" panose="02010600030101010101" pitchFamily="2" charset="-122"/>
                <a:ea typeface="楷体_GB2312" pitchFamily="49" charset="-122"/>
              </a:rPr>
              <a:t>处，也就</a:t>
            </a:r>
            <a:r>
              <a:rPr lang="zh-CN" altLang="en-US" dirty="0">
                <a:solidFill>
                  <a:srgbClr val="FF9933"/>
                </a:solidFill>
                <a:latin typeface="宋体" panose="02010600030101010101" pitchFamily="2" charset="-122"/>
                <a:ea typeface="楷体_GB2312" pitchFamily="49" charset="-122"/>
              </a:rPr>
              <a:t>不存在</a:t>
            </a:r>
            <a:r>
              <a:rPr lang="zh-CN" altLang="en-US" dirty="0">
                <a:solidFill>
                  <a:schemeClr val="bg1"/>
                </a:solidFill>
                <a:latin typeface="宋体" panose="02010600030101010101" pitchFamily="2" charset="-122"/>
                <a:ea typeface="楷体_GB2312" pitchFamily="49" charset="-122"/>
              </a:rPr>
              <a:t>上述的梯度、散度或旋度。</a:t>
            </a:r>
            <a:r>
              <a:rPr lang="zh-CN" altLang="en-US" sz="2000" dirty="0">
                <a:solidFill>
                  <a:srgbClr val="3333FF"/>
                </a:solidFill>
                <a:latin typeface="楷体_GB2312" pitchFamily="49" charset="-122"/>
                <a:ea typeface="楷体_GB2312" pitchFamily="49" charset="-122"/>
              </a:rPr>
              <a:t> </a:t>
            </a:r>
            <a:endParaRPr lang="zh-CN" altLang="en-US" sz="2000" b="0" i="1" dirty="0">
              <a:solidFill>
                <a:srgbClr val="000000"/>
              </a:solidFill>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p:nvPr/>
        </p:nvSpPr>
        <p:spPr>
          <a:xfrm>
            <a:off x="203200" y="549275"/>
            <a:ext cx="8689975" cy="792163"/>
          </a:xfrm>
          <a:prstGeom prst="rect">
            <a:avLst/>
          </a:prstGeom>
          <a:noFill/>
          <a:ln w="9525">
            <a:noFill/>
          </a:ln>
        </p:spPr>
        <p:txBody>
          <a:bodyPr anchor="t" anchorCtr="0"/>
          <a:lstStyle/>
          <a:p>
            <a:pPr marL="381000" indent="-381000">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例</a:t>
            </a:r>
            <a:r>
              <a:rPr lang="en-US" altLang="zh-CN" dirty="0">
                <a:solidFill>
                  <a:srgbClr val="FFB7B7"/>
                </a:solidFill>
                <a:latin typeface="Arial" panose="020B0604020202020204" pitchFamily="34" charset="0"/>
                <a:ea typeface="宋体" panose="02010600030101010101" pitchFamily="2" charset="-122"/>
              </a:rPr>
              <a:t>1.5.1 </a:t>
            </a:r>
            <a:r>
              <a:rPr lang="zh-CN" altLang="en-US" dirty="0">
                <a:solidFill>
                  <a:schemeClr val="bg1"/>
                </a:solidFill>
                <a:latin typeface="Arial" panose="020B0604020202020204" pitchFamily="34" charset="0"/>
                <a:ea typeface="楷体_GB2312" pitchFamily="49" charset="-122"/>
              </a:rPr>
              <a:t>求</a:t>
            </a:r>
            <a:r>
              <a:rPr lang="zh-CN" altLang="en-US" dirty="0">
                <a:solidFill>
                  <a:srgbClr val="FFB7B7"/>
                </a:solidFill>
                <a:latin typeface="Arial" panose="020B060402020202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的旋度。</a:t>
            </a:r>
            <a:r>
              <a:rPr lang="zh-CN" altLang="en-US" dirty="0">
                <a:solidFill>
                  <a:schemeClr val="bg1"/>
                </a:solidFill>
                <a:latin typeface="Arial" panose="020B0604020202020204" pitchFamily="34" charset="0"/>
                <a:ea typeface="宋体" panose="02010600030101010101" pitchFamily="2" charset="-122"/>
              </a:rPr>
              <a:t> </a:t>
            </a:r>
          </a:p>
        </p:txBody>
      </p:sp>
      <p:sp>
        <p:nvSpPr>
          <p:cNvPr id="109570" name="AutoShape 3">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9571" name="AutoShape 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9572" name="AutoShape 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09573" name="AutoShape 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64583" name="Object 7"/>
          <p:cNvGraphicFramePr>
            <a:graphicFrameLocks noGrp="1" noChangeAspect="1"/>
          </p:cNvGraphicFramePr>
          <p:nvPr>
            <p:ph/>
          </p:nvPr>
        </p:nvGraphicFramePr>
        <p:xfrm>
          <a:off x="1817688" y="549275"/>
          <a:ext cx="3351212" cy="577850"/>
        </p:xfrm>
        <a:graphic>
          <a:graphicData uri="http://schemas.openxmlformats.org/presentationml/2006/ole">
            <mc:AlternateContent xmlns:mc="http://schemas.openxmlformats.org/markup-compatibility/2006">
              <mc:Choice xmlns:v="urn:schemas-microsoft-com:vml" Requires="v">
                <p:oleObj r:id="rId4" imgW="1239520" imgH="181610" progId="Equation.3">
                  <p:embed/>
                </p:oleObj>
              </mc:Choice>
              <mc:Fallback>
                <p:oleObj r:id="rId4" imgW="1239520" imgH="181610" progId="Equation.3">
                  <p:embed/>
                  <p:pic>
                    <p:nvPicPr>
                      <p:cNvPr id="0" name="图片 3268"/>
                      <p:cNvPicPr/>
                      <p:nvPr/>
                    </p:nvPicPr>
                    <p:blipFill>
                      <a:blip r:embed="rId5">
                        <a:clrChange>
                          <a:clrFrom>
                            <a:srgbClr val="000000"/>
                          </a:clrFrom>
                          <a:clrTo>
                            <a:srgbClr val="FFFFFF"/>
                          </a:clrTo>
                        </a:clrChange>
                      </a:blip>
                      <a:stretch>
                        <a:fillRect/>
                      </a:stretch>
                    </p:blipFill>
                    <p:spPr>
                      <a:xfrm>
                        <a:off x="1817688" y="549275"/>
                        <a:ext cx="3351212" cy="577850"/>
                      </a:xfrm>
                      <a:prstGeom prst="rect">
                        <a:avLst/>
                      </a:prstGeom>
                      <a:noFill/>
                      <a:ln w="38100">
                        <a:noFill/>
                        <a:miter/>
                      </a:ln>
                    </p:spPr>
                  </p:pic>
                </p:oleObj>
              </mc:Fallback>
            </mc:AlternateContent>
          </a:graphicData>
        </a:graphic>
      </p:graphicFrame>
      <p:graphicFrame>
        <p:nvGraphicFramePr>
          <p:cNvPr id="664586" name="Object 10"/>
          <p:cNvGraphicFramePr>
            <a:graphicFrameLocks noChangeAspect="1"/>
          </p:cNvGraphicFramePr>
          <p:nvPr/>
        </p:nvGraphicFramePr>
        <p:xfrm>
          <a:off x="971550" y="1557338"/>
          <a:ext cx="6156325" cy="1911350"/>
        </p:xfrm>
        <a:graphic>
          <a:graphicData uri="http://schemas.openxmlformats.org/presentationml/2006/ole">
            <mc:AlternateContent xmlns:mc="http://schemas.openxmlformats.org/markup-compatibility/2006">
              <mc:Choice xmlns:v="urn:schemas-microsoft-com:vml" Requires="v">
                <p:oleObj r:id="rId6" imgW="2374265" imgH="710565" progId="Equation.3">
                  <p:embed/>
                </p:oleObj>
              </mc:Choice>
              <mc:Fallback>
                <p:oleObj r:id="rId6" imgW="2374265" imgH="710565" progId="Equation.3">
                  <p:embed/>
                  <p:pic>
                    <p:nvPicPr>
                      <p:cNvPr id="0" name="图片 3269"/>
                      <p:cNvPicPr/>
                      <p:nvPr/>
                    </p:nvPicPr>
                    <p:blipFill>
                      <a:blip r:embed="rId7">
                        <a:clrChange>
                          <a:clrFrom>
                            <a:srgbClr val="000000"/>
                          </a:clrFrom>
                          <a:clrTo>
                            <a:srgbClr val="FFFFFF"/>
                          </a:clrTo>
                        </a:clrChange>
                      </a:blip>
                      <a:stretch>
                        <a:fillRect/>
                      </a:stretch>
                    </p:blipFill>
                    <p:spPr>
                      <a:xfrm>
                        <a:off x="971550" y="1557338"/>
                        <a:ext cx="6156325" cy="1911350"/>
                      </a:xfrm>
                      <a:prstGeom prst="rect">
                        <a:avLst/>
                      </a:prstGeom>
                      <a:noFill/>
                      <a:ln w="38100">
                        <a:noFill/>
                        <a:miter/>
                      </a:ln>
                    </p:spPr>
                  </p:pic>
                </p:oleObj>
              </mc:Fallback>
            </mc:AlternateContent>
          </a:graphicData>
        </a:graphic>
      </p:graphicFrame>
      <p:sp>
        <p:nvSpPr>
          <p:cNvPr id="664587" name="Text Box 11"/>
          <p:cNvSpPr txBox="1"/>
          <p:nvPr/>
        </p:nvSpPr>
        <p:spPr>
          <a:xfrm>
            <a:off x="250825" y="1558925"/>
            <a:ext cx="8001000" cy="457200"/>
          </a:xfrm>
          <a:prstGeom prst="rect">
            <a:avLst/>
          </a:prstGeom>
          <a:noFill/>
          <a:ln w="9525">
            <a:noFill/>
          </a:ln>
        </p:spPr>
        <p:txBody>
          <a:bodyPr anchor="t" anchorCtr="0">
            <a:spAutoFit/>
          </a:bodyPr>
          <a:lstStyle/>
          <a:p>
            <a:pPr latinLnBrk="1">
              <a:spcBef>
                <a:spcPct val="50000"/>
              </a:spcBef>
            </a:pPr>
            <a:r>
              <a:rPr lang="zh-CN" altLang="en-US" dirty="0">
                <a:solidFill>
                  <a:srgbClr val="FFB7B7"/>
                </a:solidFill>
                <a:latin typeface="幼圆" panose="02010509060101010101" pitchFamily="49" charset="-122"/>
                <a:ea typeface="幼圆" panose="02010509060101010101" pitchFamily="49" charset="-122"/>
              </a:rPr>
              <a:t>解</a:t>
            </a:r>
            <a:endParaRPr lang="zh-CN" altLang="en-US" dirty="0">
              <a:solidFill>
                <a:schemeClr val="bg1"/>
              </a:solidFill>
              <a:latin typeface="Times New Roman" panose="02020603050405020304" pitchFamily="18" charset="0"/>
              <a:ea typeface="楷体_GB2312"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9385" name="Object 9"/>
          <p:cNvGraphicFramePr>
            <a:graphicFrameLocks noChangeAspect="1"/>
          </p:cNvGraphicFramePr>
          <p:nvPr>
            <p:extLst>
              <p:ext uri="{D42A27DB-BD31-4B8C-83A1-F6EECF244321}">
                <p14:modId xmlns:p14="http://schemas.microsoft.com/office/powerpoint/2010/main" val="437573184"/>
              </p:ext>
            </p:extLst>
          </p:nvPr>
        </p:nvGraphicFramePr>
        <p:xfrm>
          <a:off x="4679950" y="3206751"/>
          <a:ext cx="2736850" cy="1017587"/>
        </p:xfrm>
        <a:graphic>
          <a:graphicData uri="http://schemas.openxmlformats.org/presentationml/2006/ole">
            <mc:AlternateContent xmlns:mc="http://schemas.openxmlformats.org/markup-compatibility/2006">
              <mc:Choice xmlns:v="urn:schemas-microsoft-com:vml" Requires="v">
                <p:oleObj r:id="rId3" imgW="881380" imgH="275590" progId="Equation.3">
                  <p:embed/>
                </p:oleObj>
              </mc:Choice>
              <mc:Fallback>
                <p:oleObj r:id="rId3" imgW="881380" imgH="275590" progId="Equation.3">
                  <p:embed/>
                  <p:pic>
                    <p:nvPicPr>
                      <p:cNvPr id="0" name="图片 3270"/>
                      <p:cNvPicPr/>
                      <p:nvPr/>
                    </p:nvPicPr>
                    <p:blipFill>
                      <a:blip r:embed="rId4">
                        <a:clrChange>
                          <a:clrFrom>
                            <a:srgbClr val="000000"/>
                          </a:clrFrom>
                          <a:clrTo>
                            <a:srgbClr val="FFFFFF"/>
                          </a:clrTo>
                        </a:clrChange>
                      </a:blip>
                      <a:stretch>
                        <a:fillRect/>
                      </a:stretch>
                    </p:blipFill>
                    <p:spPr>
                      <a:xfrm>
                        <a:off x="4679950" y="3206751"/>
                        <a:ext cx="2736850" cy="1017587"/>
                      </a:xfrm>
                      <a:prstGeom prst="rect">
                        <a:avLst/>
                      </a:prstGeom>
                      <a:noFill/>
                      <a:ln w="38100">
                        <a:noFill/>
                        <a:miter/>
                      </a:ln>
                    </p:spPr>
                  </p:pic>
                </p:oleObj>
              </mc:Fallback>
            </mc:AlternateContent>
          </a:graphicData>
        </a:graphic>
      </p:graphicFrame>
      <p:sp>
        <p:nvSpPr>
          <p:cNvPr id="229397" name="Rectangle 21"/>
          <p:cNvSpPr/>
          <p:nvPr/>
        </p:nvSpPr>
        <p:spPr>
          <a:xfrm>
            <a:off x="395288" y="620713"/>
            <a:ext cx="8280400" cy="504825"/>
          </a:xfrm>
          <a:prstGeom prst="rect">
            <a:avLst/>
          </a:prstGeom>
          <a:noFill/>
          <a:ln w="9525">
            <a:noFill/>
          </a:ln>
        </p:spPr>
        <p:txBody>
          <a:bodyPr anchor="t" anchorCtr="0"/>
          <a:lstStyle/>
          <a:p>
            <a:pPr marL="609600" indent="-609600"/>
            <a:r>
              <a:rPr lang="en-US" altLang="zh-CN" dirty="0">
                <a:solidFill>
                  <a:schemeClr val="bg1"/>
                </a:solidFill>
                <a:latin typeface="Times New Roman" panose="02020603050405020304" pitchFamily="18" charset="0"/>
                <a:ea typeface="宋体" panose="02010600030101010101" pitchFamily="2" charset="-122"/>
              </a:rPr>
              <a:t>3.  </a:t>
            </a:r>
            <a:r>
              <a:rPr lang="zh-CN" altLang="en-US" dirty="0">
                <a:solidFill>
                  <a:schemeClr val="bg1"/>
                </a:solidFill>
                <a:latin typeface="Times New Roman" panose="02020603050405020304" pitchFamily="18" charset="0"/>
                <a:ea typeface="宋体" panose="02010600030101010101" pitchFamily="2" charset="-122"/>
              </a:rPr>
              <a:t>旋度定理（斯托克斯定理）</a:t>
            </a:r>
          </a:p>
        </p:txBody>
      </p:sp>
      <p:grpSp>
        <p:nvGrpSpPr>
          <p:cNvPr id="229459" name="Group 83"/>
          <p:cNvGrpSpPr/>
          <p:nvPr/>
        </p:nvGrpSpPr>
        <p:grpSpPr>
          <a:xfrm>
            <a:off x="179388" y="3573463"/>
            <a:ext cx="2952750" cy="2951162"/>
            <a:chOff x="3334" y="2115"/>
            <a:chExt cx="1860" cy="1859"/>
          </a:xfrm>
        </p:grpSpPr>
        <p:pic>
          <p:nvPicPr>
            <p:cNvPr id="111620" name="Picture 24"/>
            <p:cNvPicPr>
              <a:picLocks noChangeAspect="1"/>
            </p:cNvPicPr>
            <p:nvPr/>
          </p:nvPicPr>
          <p:blipFill>
            <a:blip r:embed="rId5"/>
            <a:stretch>
              <a:fillRect/>
            </a:stretch>
          </p:blipFill>
          <p:spPr>
            <a:xfrm>
              <a:off x="3334" y="2115"/>
              <a:ext cx="1860" cy="1859"/>
            </a:xfrm>
            <a:prstGeom prst="rect">
              <a:avLst/>
            </a:prstGeom>
            <a:solidFill>
              <a:srgbClr val="CCFFFF"/>
            </a:solidFill>
            <a:ln w="9525" cap="flat" cmpd="sng">
              <a:solidFill>
                <a:srgbClr val="FF0000"/>
              </a:solidFill>
              <a:prstDash val="solid"/>
              <a:miter/>
              <a:headEnd type="none" w="med" len="med"/>
              <a:tailEnd type="none" w="med" len="med"/>
            </a:ln>
          </p:spPr>
        </p:pic>
        <p:sp>
          <p:nvSpPr>
            <p:cNvPr id="111621" name="Rectangle 77"/>
            <p:cNvSpPr/>
            <p:nvPr/>
          </p:nvSpPr>
          <p:spPr>
            <a:xfrm>
              <a:off x="3651" y="3747"/>
              <a:ext cx="1179" cy="182"/>
            </a:xfrm>
            <a:prstGeom prst="rect">
              <a:avLst/>
            </a:prstGeom>
            <a:solidFill>
              <a:srgbClr val="CCFFFF"/>
            </a:solidFill>
            <a:ln w="9525">
              <a:noFill/>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1622" name="Rectangle 78"/>
            <p:cNvSpPr/>
            <p:nvPr/>
          </p:nvSpPr>
          <p:spPr>
            <a:xfrm>
              <a:off x="3877" y="3702"/>
              <a:ext cx="1180" cy="227"/>
            </a:xfrm>
            <a:prstGeom prst="rect">
              <a:avLst/>
            </a:prstGeom>
            <a:noFill/>
            <a:ln w="9525">
              <a:noFill/>
            </a:ln>
          </p:spPr>
          <p:txBody>
            <a:bodyPr anchor="t" anchorCtr="0"/>
            <a:lstStyle/>
            <a:p>
              <a:pPr marL="609600" indent="-609600"/>
              <a:r>
                <a:rPr lang="zh-CN" altLang="en-US" sz="2000" dirty="0">
                  <a:latin typeface="幼圆" panose="02010509060101010101" pitchFamily="49" charset="-122"/>
                  <a:ea typeface="宋体" panose="02010600030101010101" pitchFamily="2" charset="-122"/>
                </a:rPr>
                <a:t>曲面的</a:t>
              </a:r>
              <a:r>
                <a:rPr lang="zh-CN" altLang="en-US" sz="2000" dirty="0">
                  <a:latin typeface="Arial" panose="020B0604020202020204" pitchFamily="34" charset="0"/>
                  <a:ea typeface="宋体" panose="02010600030101010101" pitchFamily="2" charset="-122"/>
                </a:rPr>
                <a:t>剖分</a:t>
              </a:r>
            </a:p>
          </p:txBody>
        </p:sp>
      </p:grpSp>
      <p:grpSp>
        <p:nvGrpSpPr>
          <p:cNvPr id="229458" name="Group 82"/>
          <p:cNvGrpSpPr/>
          <p:nvPr/>
        </p:nvGrpSpPr>
        <p:grpSpPr>
          <a:xfrm>
            <a:off x="1258888" y="2420938"/>
            <a:ext cx="1755775" cy="2016125"/>
            <a:chOff x="4241" y="1389"/>
            <a:chExt cx="1106" cy="1270"/>
          </a:xfrm>
        </p:grpSpPr>
        <p:sp>
          <p:nvSpPr>
            <p:cNvPr id="111624" name="Text Box 18"/>
            <p:cNvSpPr txBox="1"/>
            <p:nvPr/>
          </p:nvSpPr>
          <p:spPr>
            <a:xfrm>
              <a:off x="4241" y="1389"/>
              <a:ext cx="1106" cy="572"/>
            </a:xfrm>
            <a:prstGeom prst="rect">
              <a:avLst/>
            </a:prstGeom>
            <a:solidFill>
              <a:srgbClr val="CCFFFF"/>
            </a:solidFill>
            <a:ln w="22225" cap="flat" cmpd="sng">
              <a:solidFill>
                <a:srgbClr val="FF0000"/>
              </a:solidFill>
              <a:prstDash val="solid"/>
              <a:miter/>
              <a:headEnd type="none" w="med" len="med"/>
              <a:tailEnd type="none" w="med" len="med"/>
            </a:ln>
          </p:spPr>
          <p:txBody>
            <a:bodyPr anchor="t" anchorCtr="0">
              <a:spAutoFit/>
            </a:bodyPr>
            <a:lstStyle/>
            <a:p>
              <a:pPr>
                <a:lnSpc>
                  <a:spcPct val="130000"/>
                </a:lnSpc>
                <a:spcBef>
                  <a:spcPct val="0"/>
                </a:spcBef>
              </a:pPr>
              <a:r>
                <a:rPr lang="zh-CN" altLang="en-US" sz="2000" dirty="0">
                  <a:solidFill>
                    <a:srgbClr val="990033"/>
                  </a:solidFill>
                  <a:latin typeface="Arial" panose="020B0604020202020204" pitchFamily="34" charset="0"/>
                  <a:ea typeface="宋体" panose="02010600030101010101" pitchFamily="2" charset="-122"/>
                </a:rPr>
                <a:t>方向相反大小相等结果抵消</a:t>
              </a:r>
            </a:p>
          </p:txBody>
        </p:sp>
        <p:sp>
          <p:nvSpPr>
            <p:cNvPr id="111625" name="Line 79"/>
            <p:cNvSpPr/>
            <p:nvPr/>
          </p:nvSpPr>
          <p:spPr>
            <a:xfrm>
              <a:off x="4241" y="1842"/>
              <a:ext cx="136" cy="817"/>
            </a:xfrm>
            <a:prstGeom prst="line">
              <a:avLst/>
            </a:prstGeom>
            <a:ln w="25400" cap="flat" cmpd="sng">
              <a:solidFill>
                <a:srgbClr val="800000"/>
              </a:solidFill>
              <a:prstDash val="solid"/>
              <a:round/>
              <a:headEnd type="none" w="med" len="med"/>
              <a:tailEnd type="triangle" w="med" len="med"/>
            </a:ln>
          </p:spPr>
          <p:txBody>
            <a:bodyPr/>
            <a:lstStyle/>
            <a:p>
              <a:endParaRPr lang="zh-CN" altLang="en-US"/>
            </a:p>
          </p:txBody>
        </p:sp>
      </p:grpSp>
      <p:sp>
        <p:nvSpPr>
          <p:cNvPr id="229457" name="Rectangle 81"/>
          <p:cNvSpPr/>
          <p:nvPr/>
        </p:nvSpPr>
        <p:spPr>
          <a:xfrm>
            <a:off x="73025" y="1125538"/>
            <a:ext cx="8820150" cy="1152525"/>
          </a:xfrm>
          <a:prstGeom prst="rect">
            <a:avLst/>
          </a:prstGeom>
          <a:noFill/>
          <a:ln w="9525">
            <a:noFill/>
          </a:ln>
        </p:spPr>
        <p:txBody>
          <a:bodyPr anchor="t" anchorCtr="0"/>
          <a:lstStyle/>
          <a:p>
            <a:pPr marL="342900" indent="-342900">
              <a:lnSpc>
                <a:spcPct val="130000"/>
              </a:lnSpc>
              <a:spcBef>
                <a:spcPct val="0"/>
              </a:spcBef>
            </a:pPr>
            <a:r>
              <a:rPr lang="en-US" altLang="zh-CN" dirty="0">
                <a:solidFill>
                  <a:schemeClr val="bg1"/>
                </a:solidFill>
                <a:latin typeface="Times New Roman" panose="02020603050405020304" pitchFamily="18" charset="0"/>
                <a:ea typeface="幼圆" panose="02010509060101010101" pitchFamily="49" charset="-122"/>
              </a:rPr>
              <a:t>            </a:t>
            </a:r>
            <a:r>
              <a:rPr lang="zh-CN" altLang="en-US" dirty="0">
                <a:solidFill>
                  <a:schemeClr val="bg1"/>
                </a:solidFill>
                <a:latin typeface="楷体_GB2312" pitchFamily="49" charset="-122"/>
                <a:ea typeface="楷体_GB2312" pitchFamily="49" charset="-122"/>
              </a:rPr>
              <a:t>从旋度的定义出发，可以得到矢量场沿任意闭合曲线的环流等于矢量场的旋度在该闭合曲线所围的曲面的通量，即</a:t>
            </a:r>
          </a:p>
        </p:txBody>
      </p:sp>
      <p:sp>
        <p:nvSpPr>
          <p:cNvPr id="111627" name="AutoShape 84">
            <a:hlinkClick r:id="rId6"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1628" name="AutoShape 85">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1629" name="AutoShape 86">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1630" name="AutoShape 87">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229465" name="Rectangle 89"/>
          <p:cNvSpPr/>
          <p:nvPr/>
        </p:nvSpPr>
        <p:spPr>
          <a:xfrm>
            <a:off x="3801467" y="4149725"/>
            <a:ext cx="4537075" cy="503238"/>
          </a:xfrm>
          <a:prstGeom prst="rect">
            <a:avLst/>
          </a:prstGeom>
          <a:noFill/>
          <a:ln w="9525">
            <a:noFill/>
          </a:ln>
        </p:spPr>
        <p:txBody>
          <a:bodyPr anchor="t" anchorCtr="0"/>
          <a:lstStyle/>
          <a:p>
            <a:pPr marL="342900" indent="-342900"/>
            <a:r>
              <a:rPr lang="zh-CN" altLang="en-US" sz="2000" b="0" dirty="0">
                <a:solidFill>
                  <a:srgbClr val="FF9933"/>
                </a:solidFill>
                <a:latin typeface="Times New Roman" panose="02020603050405020304" pitchFamily="18" charset="0"/>
                <a:ea typeface="宋体" panose="02010600030101010101" pitchFamily="2" charset="-122"/>
              </a:rPr>
              <a:t>（可以对要解决的问题进行</a:t>
            </a:r>
            <a:r>
              <a:rPr lang="zh-CN" altLang="en-US" sz="2000" dirty="0">
                <a:solidFill>
                  <a:srgbClr val="FF9933"/>
                </a:solidFill>
                <a:latin typeface="Times New Roman" panose="02020603050405020304" pitchFamily="18" charset="0"/>
                <a:ea typeface="宋体" panose="02010600030101010101" pitchFamily="2" charset="-122"/>
              </a:rPr>
              <a:t>降维处理</a:t>
            </a:r>
            <a:r>
              <a:rPr lang="zh-CN" altLang="en-US" sz="2000" b="0" dirty="0">
                <a:solidFill>
                  <a:srgbClr val="FF9933"/>
                </a:solidFill>
                <a:latin typeface="Times New Roman" panose="02020603050405020304" pitchFamily="18" charset="0"/>
                <a:ea typeface="宋体" panose="02010600030101010101" pitchFamily="2" charset="-122"/>
              </a:rPr>
              <a:t>）</a:t>
            </a:r>
          </a:p>
        </p:txBody>
      </p:sp>
      <p:sp>
        <p:nvSpPr>
          <p:cNvPr id="229466" name="Text Box 90"/>
          <p:cNvSpPr txBox="1"/>
          <p:nvPr/>
        </p:nvSpPr>
        <p:spPr>
          <a:xfrm>
            <a:off x="3226792" y="4576763"/>
            <a:ext cx="5111750" cy="1516062"/>
          </a:xfrm>
          <a:prstGeom prst="rect">
            <a:avLst/>
          </a:prstGeom>
          <a:noFill/>
          <a:ln w="9525">
            <a:noFill/>
          </a:ln>
        </p:spPr>
        <p:txBody>
          <a:bodyPr anchor="t" anchorCtr="0">
            <a:spAutoFit/>
          </a:bodyPr>
          <a:lstStyle/>
          <a:p>
            <a:pPr>
              <a:lnSpc>
                <a:spcPct val="130000"/>
              </a:lnSpc>
              <a:spcBef>
                <a:spcPct val="0"/>
              </a:spcBef>
            </a:pPr>
            <a:r>
              <a:rPr lang="en-US" altLang="zh-CN" dirty="0">
                <a:solidFill>
                  <a:schemeClr val="bg1"/>
                </a:solidFill>
                <a:latin typeface="Arial" panose="020B0604020202020204" pitchFamily="34" charset="0"/>
                <a:ea typeface="楷体_GB2312" pitchFamily="49" charset="-122"/>
              </a:rPr>
              <a:t>       </a:t>
            </a:r>
            <a:r>
              <a:rPr lang="zh-CN" altLang="en-US" dirty="0">
                <a:solidFill>
                  <a:schemeClr val="bg1"/>
                </a:solidFill>
                <a:latin typeface="Arial" panose="020B0604020202020204" pitchFamily="34" charset="0"/>
                <a:ea typeface="楷体_GB2312" pitchFamily="49" charset="-122"/>
              </a:rPr>
              <a:t>旋度定理是闭合曲线积分与面积分之间的一个变换关系，在电磁理论中有着广泛的应用。</a:t>
            </a:r>
          </a:p>
        </p:txBody>
      </p:sp>
      <p:sp>
        <p:nvSpPr>
          <p:cNvPr id="3" name="Text Box 90">
            <a:extLst>
              <a:ext uri="{FF2B5EF4-FFF2-40B4-BE49-F238E27FC236}">
                <a16:creationId xmlns:a16="http://schemas.microsoft.com/office/drawing/2014/main" id="{E74CBDDE-6780-07A5-25BC-53C03800D537}"/>
              </a:ext>
            </a:extLst>
          </p:cNvPr>
          <p:cNvSpPr txBox="1"/>
          <p:nvPr/>
        </p:nvSpPr>
        <p:spPr>
          <a:xfrm>
            <a:off x="3563938" y="3299455"/>
            <a:ext cx="5111750" cy="522451"/>
          </a:xfrm>
          <a:prstGeom prst="rect">
            <a:avLst/>
          </a:prstGeom>
          <a:noFill/>
          <a:ln w="9525">
            <a:noFill/>
          </a:ln>
        </p:spPr>
        <p:txBody>
          <a:bodyPr anchor="t" anchorCtr="0">
            <a:spAutoFit/>
          </a:bodyPr>
          <a:lstStyle/>
          <a:p>
            <a:pPr>
              <a:lnSpc>
                <a:spcPct val="130000"/>
              </a:lnSpc>
              <a:spcBef>
                <a:spcPct val="0"/>
              </a:spcBef>
            </a:pPr>
            <a:r>
              <a:rPr lang="zh-CN" altLang="en-US" dirty="0">
                <a:solidFill>
                  <a:schemeClr val="bg1"/>
                </a:solidFill>
              </a:rPr>
              <a:t>可得，</a:t>
            </a:r>
            <a:endParaRPr lang="zh-CN" altLang="en-US" dirty="0">
              <a:solidFill>
                <a:schemeClr val="bg1"/>
              </a:solidFill>
              <a:latin typeface="Arial" panose="020B0604020202020204" pitchFamily="34" charset="0"/>
              <a:ea typeface="楷体_GB2312" pitchFamily="49" charset="-122"/>
            </a:endParaRPr>
          </a:p>
        </p:txBody>
      </p:sp>
      <p:pic>
        <p:nvPicPr>
          <p:cNvPr id="7" name="图片 6">
            <a:extLst>
              <a:ext uri="{FF2B5EF4-FFF2-40B4-BE49-F238E27FC236}">
                <a16:creationId xmlns:a16="http://schemas.microsoft.com/office/drawing/2014/main" id="{3EED234A-29EC-7A86-0E9B-DA3E8EF77BA6}"/>
              </a:ext>
            </a:extLst>
          </p:cNvPr>
          <p:cNvPicPr>
            <a:picLocks noChangeAspect="1"/>
          </p:cNvPicPr>
          <p:nvPr/>
        </p:nvPicPr>
        <p:blipFill>
          <a:blip r:embed="rId7"/>
          <a:stretch>
            <a:fillRect/>
          </a:stretch>
        </p:blipFill>
        <p:spPr>
          <a:xfrm>
            <a:off x="3544094" y="2146930"/>
            <a:ext cx="4591050" cy="10763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2" name="Text Box 4"/>
          <p:cNvSpPr txBox="1"/>
          <p:nvPr/>
        </p:nvSpPr>
        <p:spPr>
          <a:xfrm>
            <a:off x="755650" y="1844675"/>
            <a:ext cx="7315200" cy="3013075"/>
          </a:xfrm>
          <a:prstGeom prst="rect">
            <a:avLst/>
          </a:prstGeom>
          <a:noFill/>
          <a:ln w="9525">
            <a:noFill/>
          </a:ln>
        </p:spPr>
        <p:txBody>
          <a:bodyPr anchor="t" anchorCtr="0">
            <a:spAutoFit/>
          </a:bodyPr>
          <a:lstStyle/>
          <a:p>
            <a:pPr>
              <a:lnSpc>
                <a:spcPct val="150000"/>
              </a:lnSpc>
              <a:spcBef>
                <a:spcPct val="50000"/>
              </a:spcBef>
            </a:pPr>
            <a:r>
              <a:rPr lang="zh-CN" altLang="en-US" dirty="0">
                <a:solidFill>
                  <a:schemeClr val="bg1"/>
                </a:solidFill>
                <a:latin typeface="楷体_GB2312" pitchFamily="49" charset="-122"/>
                <a:ea typeface="楷体_GB2312" pitchFamily="49" charset="-122"/>
              </a:rPr>
              <a:t>从</a:t>
            </a:r>
            <a:r>
              <a:rPr lang="zh-CN" altLang="en-US" dirty="0">
                <a:solidFill>
                  <a:srgbClr val="FF9933"/>
                </a:solidFill>
                <a:latin typeface="楷体_GB2312" pitchFamily="49" charset="-122"/>
                <a:ea typeface="楷体_GB2312" pitchFamily="49" charset="-122"/>
              </a:rPr>
              <a:t>数学</a:t>
            </a:r>
            <a:r>
              <a:rPr lang="zh-CN" altLang="en-US" dirty="0">
                <a:solidFill>
                  <a:schemeClr val="bg1"/>
                </a:solidFill>
                <a:latin typeface="楷体_GB2312" pitchFamily="49" charset="-122"/>
                <a:ea typeface="楷体_GB2312" pitchFamily="49" charset="-122"/>
              </a:rPr>
              <a:t>角度：</a:t>
            </a:r>
            <a:r>
              <a:rPr lang="zh-CN" altLang="en-US" dirty="0">
                <a:solidFill>
                  <a:schemeClr val="bg1"/>
                </a:solidFill>
                <a:latin typeface="Times New Roman" panose="02020603050405020304" pitchFamily="18" charset="0"/>
                <a:ea typeface="楷体_GB2312" pitchFamily="49" charset="-122"/>
              </a:rPr>
              <a:t>旋度</a:t>
            </a:r>
            <a:r>
              <a:rPr lang="zh-CN" altLang="en-US" dirty="0">
                <a:solidFill>
                  <a:schemeClr val="bg1"/>
                </a:solidFill>
                <a:latin typeface="楷体_GB2312" pitchFamily="49" charset="-122"/>
                <a:ea typeface="楷体_GB2312" pitchFamily="49" charset="-122"/>
              </a:rPr>
              <a:t>定理建立了</a:t>
            </a:r>
            <a:r>
              <a:rPr lang="zh-CN" altLang="en-US" dirty="0">
                <a:solidFill>
                  <a:srgbClr val="FF9933"/>
                </a:solidFill>
                <a:latin typeface="楷体_GB2312" pitchFamily="49" charset="-122"/>
                <a:ea typeface="楷体_GB2312" pitchFamily="49" charset="-122"/>
              </a:rPr>
              <a:t>面</a:t>
            </a:r>
            <a:r>
              <a:rPr lang="zh-CN" altLang="en-US" dirty="0">
                <a:solidFill>
                  <a:schemeClr val="bg1"/>
                </a:solidFill>
                <a:latin typeface="楷体_GB2312" pitchFamily="49" charset="-122"/>
                <a:ea typeface="楷体_GB2312" pitchFamily="49" charset="-122"/>
              </a:rPr>
              <a:t>积分和</a:t>
            </a:r>
            <a:r>
              <a:rPr lang="zh-CN" altLang="en-US" dirty="0">
                <a:solidFill>
                  <a:srgbClr val="FF9933"/>
                </a:solidFill>
                <a:latin typeface="楷体_GB2312" pitchFamily="49" charset="-122"/>
                <a:ea typeface="楷体_GB2312" pitchFamily="49" charset="-122"/>
              </a:rPr>
              <a:t>线</a:t>
            </a:r>
            <a:r>
              <a:rPr lang="zh-CN" altLang="en-US" dirty="0">
                <a:solidFill>
                  <a:schemeClr val="bg1"/>
                </a:solidFill>
                <a:latin typeface="楷体_GB2312" pitchFamily="49" charset="-122"/>
                <a:ea typeface="楷体_GB2312" pitchFamily="49" charset="-122"/>
              </a:rPr>
              <a:t>积分的关系。</a:t>
            </a:r>
          </a:p>
          <a:p>
            <a:pPr>
              <a:lnSpc>
                <a:spcPct val="150000"/>
              </a:lnSpc>
              <a:spcBef>
                <a:spcPct val="50000"/>
              </a:spcBef>
            </a:pPr>
            <a:r>
              <a:rPr lang="zh-CN" altLang="en-US" dirty="0">
                <a:solidFill>
                  <a:schemeClr val="bg1"/>
                </a:solidFill>
                <a:latin typeface="楷体_GB2312" pitchFamily="49" charset="-122"/>
                <a:ea typeface="楷体_GB2312" pitchFamily="49" charset="-122"/>
              </a:rPr>
              <a:t>从</a:t>
            </a:r>
            <a:r>
              <a:rPr lang="zh-CN" altLang="en-US" dirty="0">
                <a:solidFill>
                  <a:srgbClr val="FF9933"/>
                </a:solidFill>
                <a:latin typeface="楷体_GB2312" pitchFamily="49" charset="-122"/>
                <a:ea typeface="楷体_GB2312" pitchFamily="49" charset="-122"/>
              </a:rPr>
              <a:t>物理</a:t>
            </a:r>
            <a:r>
              <a:rPr lang="zh-CN" altLang="en-US" dirty="0">
                <a:solidFill>
                  <a:schemeClr val="bg1"/>
                </a:solidFill>
                <a:latin typeface="楷体_GB2312" pitchFamily="49" charset="-122"/>
                <a:ea typeface="楷体_GB2312" pitchFamily="49" charset="-122"/>
              </a:rPr>
              <a:t>角度：</a:t>
            </a:r>
            <a:r>
              <a:rPr lang="zh-CN" altLang="en-US" dirty="0">
                <a:solidFill>
                  <a:schemeClr val="bg1"/>
                </a:solidFill>
                <a:latin typeface="Times New Roman" panose="02020603050405020304" pitchFamily="18" charset="0"/>
                <a:ea typeface="楷体_GB2312" pitchFamily="49" charset="-122"/>
              </a:rPr>
              <a:t>旋度</a:t>
            </a:r>
            <a:r>
              <a:rPr lang="zh-CN" altLang="en-US" dirty="0">
                <a:solidFill>
                  <a:schemeClr val="bg1"/>
                </a:solidFill>
                <a:latin typeface="楷体_GB2312" pitchFamily="49" charset="-122"/>
                <a:ea typeface="楷体_GB2312" pitchFamily="49" charset="-122"/>
              </a:rPr>
              <a:t>定理建立了</a:t>
            </a:r>
            <a:r>
              <a:rPr lang="zh-CN" altLang="en-US" dirty="0">
                <a:solidFill>
                  <a:srgbClr val="EA162F"/>
                </a:solidFill>
                <a:latin typeface="楷体_GB2312" pitchFamily="49" charset="-122"/>
                <a:ea typeface="楷体_GB2312" pitchFamily="49" charset="-122"/>
              </a:rPr>
              <a:t>区域</a:t>
            </a:r>
            <a:r>
              <a:rPr lang="en-US" altLang="zh-CN" b="0" i="1" dirty="0">
                <a:solidFill>
                  <a:srgbClr val="EA162F"/>
                </a:solidFill>
                <a:latin typeface="Times New Roman" panose="02020603050405020304" pitchFamily="18" charset="0"/>
                <a:ea typeface="楷体_GB2312" pitchFamily="49" charset="-122"/>
              </a:rPr>
              <a:t>S</a:t>
            </a:r>
            <a:r>
              <a:rPr lang="zh-CN" altLang="en-US" dirty="0">
                <a:solidFill>
                  <a:srgbClr val="EA162F"/>
                </a:solidFill>
                <a:latin typeface="Times New Roman" panose="02020603050405020304" pitchFamily="18" charset="0"/>
                <a:ea typeface="楷体_GB2312" pitchFamily="49" charset="-122"/>
              </a:rPr>
              <a:t>中的场和包围区域 </a:t>
            </a:r>
            <a:r>
              <a:rPr lang="en-US" altLang="zh-CN" b="0" i="1" dirty="0">
                <a:solidFill>
                  <a:srgbClr val="EA162F"/>
                </a:solidFill>
                <a:latin typeface="Times New Roman" panose="02020603050405020304" pitchFamily="18" charset="0"/>
                <a:ea typeface="楷体_GB2312" pitchFamily="49" charset="-122"/>
              </a:rPr>
              <a:t>S</a:t>
            </a:r>
            <a:r>
              <a:rPr lang="en-US" altLang="zh-CN" dirty="0">
                <a:solidFill>
                  <a:srgbClr val="EA162F"/>
                </a:solidFill>
                <a:latin typeface="Times New Roman" panose="02020603050405020304" pitchFamily="18" charset="0"/>
                <a:ea typeface="楷体_GB2312" pitchFamily="49" charset="-122"/>
              </a:rPr>
              <a:t> </a:t>
            </a:r>
            <a:r>
              <a:rPr lang="zh-CN" altLang="en-US" dirty="0">
                <a:solidFill>
                  <a:srgbClr val="EA162F"/>
                </a:solidFill>
                <a:latin typeface="Times New Roman" panose="02020603050405020304" pitchFamily="18" charset="0"/>
                <a:ea typeface="楷体_GB2312" pitchFamily="49" charset="-122"/>
              </a:rPr>
              <a:t>的边界 </a:t>
            </a:r>
            <a:r>
              <a:rPr lang="en-US" altLang="zh-CN" b="0" i="1" dirty="0">
                <a:solidFill>
                  <a:srgbClr val="EA162F"/>
                </a:solidFill>
                <a:latin typeface="Times New Roman" panose="02020603050405020304" pitchFamily="18" charset="0"/>
                <a:ea typeface="楷体_GB2312" pitchFamily="49" charset="-122"/>
              </a:rPr>
              <a:t>l </a:t>
            </a:r>
            <a:r>
              <a:rPr lang="zh-CN" altLang="en-US" dirty="0">
                <a:solidFill>
                  <a:srgbClr val="EA162F"/>
                </a:solidFill>
                <a:latin typeface="Times New Roman" panose="02020603050405020304" pitchFamily="18" charset="0"/>
                <a:ea typeface="楷体_GB2312" pitchFamily="49" charset="-122"/>
              </a:rPr>
              <a:t>上的场之间的关系</a:t>
            </a:r>
            <a:r>
              <a:rPr lang="zh-CN" altLang="en-US" dirty="0">
                <a:solidFill>
                  <a:schemeClr val="bg1"/>
                </a:solidFill>
                <a:latin typeface="Times New Roman" panose="02020603050405020304" pitchFamily="18" charset="0"/>
                <a:ea typeface="楷体_GB2312" pitchFamily="49" charset="-122"/>
              </a:rPr>
              <a:t>。因此，如果已知区域 </a:t>
            </a:r>
            <a:r>
              <a:rPr lang="en-US" altLang="zh-CN" b="0" i="1" dirty="0">
                <a:solidFill>
                  <a:schemeClr val="bg1"/>
                </a:solidFill>
                <a:latin typeface="Times New Roman" panose="02020603050405020304" pitchFamily="18" charset="0"/>
                <a:ea typeface="楷体_GB2312" pitchFamily="49" charset="-122"/>
              </a:rPr>
              <a:t>S </a:t>
            </a:r>
            <a:r>
              <a:rPr lang="zh-CN" altLang="en-US" dirty="0">
                <a:solidFill>
                  <a:schemeClr val="bg1"/>
                </a:solidFill>
                <a:latin typeface="Times New Roman" panose="02020603050405020304" pitchFamily="18" charset="0"/>
                <a:ea typeface="楷体_GB2312" pitchFamily="49" charset="-122"/>
              </a:rPr>
              <a:t>中的场，根据旋度定理即可求出边界  </a:t>
            </a:r>
            <a:r>
              <a:rPr lang="en-US" altLang="zh-CN" b="0" i="1" dirty="0">
                <a:solidFill>
                  <a:schemeClr val="bg1"/>
                </a:solidFill>
                <a:latin typeface="Times New Roman" panose="02020603050405020304" pitchFamily="18" charset="0"/>
                <a:ea typeface="楷体_GB2312" pitchFamily="49" charset="-122"/>
              </a:rPr>
              <a:t>l  </a:t>
            </a:r>
            <a:r>
              <a:rPr lang="zh-CN" altLang="en-US" dirty="0">
                <a:solidFill>
                  <a:schemeClr val="bg1"/>
                </a:solidFill>
                <a:latin typeface="Times New Roman" panose="02020603050405020304" pitchFamily="18" charset="0"/>
                <a:ea typeface="楷体_GB2312" pitchFamily="49" charset="-122"/>
              </a:rPr>
              <a:t>上的场，反之亦然。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21" name="Picture 16"/>
          <p:cNvPicPr>
            <a:picLocks noChangeAspect="1"/>
          </p:cNvPicPr>
          <p:nvPr/>
        </p:nvPicPr>
        <p:blipFill>
          <a:blip r:embed="rId3"/>
          <a:stretch>
            <a:fillRect/>
          </a:stretch>
        </p:blipFill>
        <p:spPr>
          <a:xfrm>
            <a:off x="7206531" y="4941168"/>
            <a:ext cx="1916832" cy="1916832"/>
          </a:xfrm>
          <a:prstGeom prst="rect">
            <a:avLst/>
          </a:prstGeom>
          <a:noFill/>
          <a:ln w="9525">
            <a:noFill/>
          </a:ln>
        </p:spPr>
      </p:pic>
      <p:sp>
        <p:nvSpPr>
          <p:cNvPr id="677890" name="Rectangle 2"/>
          <p:cNvSpPr/>
          <p:nvPr/>
        </p:nvSpPr>
        <p:spPr>
          <a:xfrm>
            <a:off x="203200" y="476250"/>
            <a:ext cx="8689975" cy="792163"/>
          </a:xfrm>
          <a:prstGeom prst="rect">
            <a:avLst/>
          </a:prstGeom>
          <a:noFill/>
          <a:ln w="9525">
            <a:noFill/>
          </a:ln>
        </p:spPr>
        <p:txBody>
          <a:bodyPr anchor="t" anchorCtr="0"/>
          <a:lstStyle/>
          <a:p>
            <a:pPr marL="381000" indent="-381000">
              <a:lnSpc>
                <a:spcPct val="130000"/>
              </a:lnSpc>
              <a:spcBef>
                <a:spcPct val="0"/>
              </a:spcBef>
            </a:pPr>
            <a:r>
              <a:rPr lang="zh-CN" altLang="en-US" dirty="0">
                <a:solidFill>
                  <a:srgbClr val="FFB7B7"/>
                </a:solidFill>
                <a:latin typeface="Arial" panose="020B0604020202020204" pitchFamily="34" charset="0"/>
                <a:ea typeface="宋体" panose="02010600030101010101" pitchFamily="2" charset="-122"/>
              </a:rPr>
              <a:t>例</a:t>
            </a:r>
            <a:r>
              <a:rPr lang="en-US" altLang="zh-CN" dirty="0">
                <a:solidFill>
                  <a:srgbClr val="FFB7B7"/>
                </a:solidFill>
                <a:latin typeface="Arial" panose="020B0604020202020204" pitchFamily="34" charset="0"/>
                <a:ea typeface="宋体" panose="02010600030101010101" pitchFamily="2" charset="-122"/>
              </a:rPr>
              <a:t>1.5.2 </a:t>
            </a:r>
            <a:r>
              <a:rPr lang="zh-CN" altLang="en-US" dirty="0">
                <a:solidFill>
                  <a:schemeClr val="bg1"/>
                </a:solidFill>
                <a:latin typeface="Arial" panose="020B0604020202020204" pitchFamily="34" charset="0"/>
                <a:ea typeface="楷体_GB2312" pitchFamily="49" charset="-122"/>
              </a:rPr>
              <a:t>求</a:t>
            </a:r>
            <a:r>
              <a:rPr lang="zh-CN" altLang="en-US" dirty="0">
                <a:solidFill>
                  <a:srgbClr val="FFB7B7"/>
                </a:solidFill>
                <a:latin typeface="Arial" panose="020B060402020202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沿着在</a:t>
            </a:r>
            <a:r>
              <a:rPr lang="en-US" altLang="zh-CN" dirty="0">
                <a:solidFill>
                  <a:schemeClr val="bg1"/>
                </a:solidFill>
                <a:latin typeface="Times New Roman" panose="02020603050405020304" pitchFamily="18" charset="0"/>
                <a:ea typeface="楷体_GB2312" pitchFamily="49" charset="-122"/>
              </a:rPr>
              <a:t>xy</a:t>
            </a:r>
            <a:r>
              <a:rPr lang="zh-CN" altLang="en-US" dirty="0">
                <a:solidFill>
                  <a:schemeClr val="bg1"/>
                </a:solidFill>
                <a:latin typeface="楷体_GB2312" pitchFamily="49" charset="-122"/>
                <a:ea typeface="楷体_GB2312" pitchFamily="49" charset="-122"/>
              </a:rPr>
              <a:t>平面上的一个闭合</a:t>
            </a:r>
          </a:p>
          <a:p>
            <a:pPr marL="381000" indent="-381000">
              <a:lnSpc>
                <a:spcPct val="130000"/>
              </a:lnSpc>
              <a:spcBef>
                <a:spcPct val="0"/>
              </a:spcBef>
            </a:pPr>
            <a:r>
              <a:rPr lang="zh-CN" altLang="en-US" dirty="0">
                <a:solidFill>
                  <a:schemeClr val="bg1"/>
                </a:solidFill>
                <a:latin typeface="楷体_GB2312" pitchFamily="49" charset="-122"/>
                <a:ea typeface="楷体_GB2312" pitchFamily="49" charset="-122"/>
              </a:rPr>
              <a:t>路经</a:t>
            </a:r>
            <a:r>
              <a:rPr lang="en-US" altLang="zh-CN" dirty="0">
                <a:solidFill>
                  <a:schemeClr val="bg1"/>
                </a:solidFill>
                <a:latin typeface="Times New Roman" panose="02020603050405020304" pitchFamily="18" charset="0"/>
                <a:ea typeface="楷体_GB2312" pitchFamily="49" charset="-122"/>
              </a:rPr>
              <a:t>C:L1+L2+L3</a:t>
            </a:r>
            <a:r>
              <a:rPr lang="zh-CN" altLang="en-US" dirty="0">
                <a:solidFill>
                  <a:schemeClr val="bg1"/>
                </a:solidFill>
                <a:latin typeface="楷体_GB2312" pitchFamily="49" charset="-122"/>
                <a:ea typeface="楷体_GB2312" pitchFamily="49" charset="-122"/>
              </a:rPr>
              <a:t>的线积分。</a:t>
            </a:r>
            <a:r>
              <a:rPr lang="zh-CN" altLang="en-US" dirty="0">
                <a:solidFill>
                  <a:schemeClr val="bg1"/>
                </a:solidFill>
                <a:latin typeface="Arial" panose="020B0604020202020204" pitchFamily="34" charset="0"/>
                <a:ea typeface="宋体" panose="02010600030101010101" pitchFamily="2" charset="-122"/>
              </a:rPr>
              <a:t> </a:t>
            </a:r>
          </a:p>
        </p:txBody>
      </p:sp>
      <p:sp>
        <p:nvSpPr>
          <p:cNvPr id="115714" name="AutoShape 3">
            <a:hlinkClick r:id="rId4"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5715" name="AutoShape 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5716" name="AutoShape 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5717" name="AutoShape 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77895" name="Object 7"/>
          <p:cNvGraphicFramePr>
            <a:graphicFrameLocks noGrp="1" noChangeAspect="1"/>
          </p:cNvGraphicFramePr>
          <p:nvPr>
            <p:ph/>
          </p:nvPr>
        </p:nvGraphicFramePr>
        <p:xfrm>
          <a:off x="1633538" y="550863"/>
          <a:ext cx="3351212" cy="485775"/>
        </p:xfrm>
        <a:graphic>
          <a:graphicData uri="http://schemas.openxmlformats.org/presentationml/2006/ole">
            <mc:AlternateContent xmlns:mc="http://schemas.openxmlformats.org/markup-compatibility/2006">
              <mc:Choice xmlns:v="urn:schemas-microsoft-com:vml" Requires="v">
                <p:oleObj r:id="rId5" imgW="1558925" imgH="193040" progId="Equation.3">
                  <p:embed/>
                </p:oleObj>
              </mc:Choice>
              <mc:Fallback>
                <p:oleObj r:id="rId5" imgW="1558925" imgH="193040" progId="Equation.3">
                  <p:embed/>
                  <p:pic>
                    <p:nvPicPr>
                      <p:cNvPr id="0" name="图片 3274"/>
                      <p:cNvPicPr/>
                      <p:nvPr/>
                    </p:nvPicPr>
                    <p:blipFill>
                      <a:blip r:embed="rId6">
                        <a:clrChange>
                          <a:clrFrom>
                            <a:srgbClr val="000000"/>
                          </a:clrFrom>
                          <a:clrTo>
                            <a:srgbClr val="FFFFFF"/>
                          </a:clrTo>
                        </a:clrChange>
                      </a:blip>
                      <a:stretch>
                        <a:fillRect/>
                      </a:stretch>
                    </p:blipFill>
                    <p:spPr>
                      <a:xfrm>
                        <a:off x="1633538" y="550863"/>
                        <a:ext cx="3351212" cy="485775"/>
                      </a:xfrm>
                      <a:prstGeom prst="rect">
                        <a:avLst/>
                      </a:prstGeom>
                      <a:noFill/>
                      <a:ln w="38100">
                        <a:noFill/>
                        <a:miter/>
                      </a:ln>
                    </p:spPr>
                  </p:pic>
                </p:oleObj>
              </mc:Fallback>
            </mc:AlternateContent>
          </a:graphicData>
        </a:graphic>
      </p:graphicFrame>
      <p:graphicFrame>
        <p:nvGraphicFramePr>
          <p:cNvPr id="677901" name="Object 13"/>
          <p:cNvGraphicFramePr>
            <a:graphicFrameLocks noChangeAspect="1"/>
          </p:cNvGraphicFramePr>
          <p:nvPr>
            <p:extLst>
              <p:ext uri="{D42A27DB-BD31-4B8C-83A1-F6EECF244321}">
                <p14:modId xmlns:p14="http://schemas.microsoft.com/office/powerpoint/2010/main" val="751612130"/>
              </p:ext>
            </p:extLst>
          </p:nvPr>
        </p:nvGraphicFramePr>
        <p:xfrm>
          <a:off x="269875" y="2160893"/>
          <a:ext cx="8604250" cy="3862387"/>
        </p:xfrm>
        <a:graphic>
          <a:graphicData uri="http://schemas.openxmlformats.org/presentationml/2006/ole">
            <mc:AlternateContent xmlns:mc="http://schemas.openxmlformats.org/markup-compatibility/2006">
              <mc:Choice xmlns:v="urn:schemas-microsoft-com:vml" Requires="v">
                <p:oleObj r:id="rId7" imgW="3591560" imgH="1586230" progId="Equation.3">
                  <p:embed/>
                </p:oleObj>
              </mc:Choice>
              <mc:Fallback>
                <p:oleObj r:id="rId7" imgW="3591560" imgH="1586230" progId="Equation.3">
                  <p:embed/>
                  <p:pic>
                    <p:nvPicPr>
                      <p:cNvPr id="0" name="图片 3273"/>
                      <p:cNvPicPr/>
                      <p:nvPr/>
                    </p:nvPicPr>
                    <p:blipFill>
                      <a:blip r:embed="rId8">
                        <a:clrChange>
                          <a:clrFrom>
                            <a:srgbClr val="000000"/>
                          </a:clrFrom>
                          <a:clrTo>
                            <a:srgbClr val="FFFFFF"/>
                          </a:clrTo>
                        </a:clrChange>
                      </a:blip>
                      <a:stretch>
                        <a:fillRect/>
                      </a:stretch>
                    </p:blipFill>
                    <p:spPr>
                      <a:xfrm>
                        <a:off x="269875" y="2160893"/>
                        <a:ext cx="8604250" cy="3862387"/>
                      </a:xfrm>
                      <a:prstGeom prst="rect">
                        <a:avLst/>
                      </a:prstGeom>
                      <a:noFill/>
                      <a:ln w="38100">
                        <a:noFill/>
                        <a:miter/>
                      </a:ln>
                    </p:spPr>
                  </p:pic>
                </p:oleObj>
              </mc:Fallback>
            </mc:AlternateContent>
          </a:graphicData>
        </a:graphic>
      </p:graphicFrame>
      <p:sp>
        <p:nvSpPr>
          <p:cNvPr id="677902" name="Text Box 14"/>
          <p:cNvSpPr txBox="1"/>
          <p:nvPr/>
        </p:nvSpPr>
        <p:spPr>
          <a:xfrm>
            <a:off x="175534" y="1429517"/>
            <a:ext cx="8001000" cy="457200"/>
          </a:xfrm>
          <a:prstGeom prst="rect">
            <a:avLst/>
          </a:prstGeom>
          <a:noFill/>
          <a:ln w="9525">
            <a:noFill/>
          </a:ln>
        </p:spPr>
        <p:txBody>
          <a:bodyPr anchor="t" anchorCtr="0">
            <a:spAutoFit/>
          </a:bodyPr>
          <a:lstStyle/>
          <a:p>
            <a:pPr latinLnBrk="1">
              <a:spcBef>
                <a:spcPct val="50000"/>
              </a:spcBef>
            </a:pPr>
            <a:r>
              <a:rPr lang="zh-CN" altLang="en-US" dirty="0">
                <a:solidFill>
                  <a:srgbClr val="FFB7B7"/>
                </a:solidFill>
                <a:latin typeface="幼圆" panose="02010509060101010101" pitchFamily="49" charset="-122"/>
                <a:ea typeface="幼圆" panose="02010509060101010101" pitchFamily="49" charset="-122"/>
              </a:rPr>
              <a:t>解一</a:t>
            </a:r>
            <a:endParaRPr lang="zh-CN" altLang="en-US" dirty="0">
              <a:solidFill>
                <a:schemeClr val="bg1"/>
              </a:solidFill>
              <a:latin typeface="Times New Roman" panose="02020603050405020304" pitchFamily="18" charset="0"/>
              <a:ea typeface="楷体_GB2312" pitchFamily="49" charset="-122"/>
            </a:endParaRPr>
          </a:p>
        </p:txBody>
      </p:sp>
      <p:grpSp>
        <p:nvGrpSpPr>
          <p:cNvPr id="365788" name="Group 220"/>
          <p:cNvGrpSpPr/>
          <p:nvPr/>
        </p:nvGrpSpPr>
        <p:grpSpPr>
          <a:xfrm>
            <a:off x="2391569" y="3091218"/>
            <a:ext cx="5145894" cy="732559"/>
            <a:chOff x="279" y="1794"/>
            <a:chExt cx="3179" cy="432"/>
          </a:xfrm>
        </p:grpSpPr>
        <p:sp>
          <p:nvSpPr>
            <p:cNvPr id="115723" name="Text Box 51"/>
            <p:cNvSpPr txBox="1"/>
            <p:nvPr/>
          </p:nvSpPr>
          <p:spPr>
            <a:xfrm>
              <a:off x="279" y="1956"/>
              <a:ext cx="1188" cy="270"/>
            </a:xfrm>
            <a:prstGeom prst="rect">
              <a:avLst/>
            </a:prstGeom>
            <a:noFill/>
            <a:ln w="9525">
              <a:noFill/>
            </a:ln>
          </p:spPr>
          <p:txBody>
            <a:bodyPr anchor="t" anchorCtr="0">
              <a:spAutoFit/>
            </a:bodyPr>
            <a:lstStyle/>
            <a:p>
              <a:pPr>
                <a:spcBef>
                  <a:spcPct val="50000"/>
                </a:spcBef>
              </a:pPr>
              <a:endParaRPr lang="zh-CN" altLang="en-US" u="sng" dirty="0">
                <a:solidFill>
                  <a:srgbClr val="FFB7B7"/>
                </a:solidFill>
                <a:latin typeface="Arial" panose="020B0604020202020204" pitchFamily="34" charset="0"/>
                <a:ea typeface="楷体_GB2312" pitchFamily="49" charset="-122"/>
              </a:endParaRPr>
            </a:p>
          </p:txBody>
        </p:sp>
        <p:graphicFrame>
          <p:nvGraphicFramePr>
            <p:cNvPr id="115724" name="Object 65"/>
            <p:cNvGraphicFramePr>
              <a:graphicFrameLocks noChangeAspect="1"/>
            </p:cNvGraphicFramePr>
            <p:nvPr>
              <p:extLst>
                <p:ext uri="{D42A27DB-BD31-4B8C-83A1-F6EECF244321}">
                  <p14:modId xmlns:p14="http://schemas.microsoft.com/office/powerpoint/2010/main" val="1911536664"/>
                </p:ext>
              </p:extLst>
            </p:nvPr>
          </p:nvGraphicFramePr>
          <p:xfrm>
            <a:off x="1284" y="1794"/>
            <a:ext cx="2174" cy="341"/>
          </p:xfrm>
          <a:graphic>
            <a:graphicData uri="http://schemas.openxmlformats.org/presentationml/2006/ole">
              <mc:AlternateContent xmlns:mc="http://schemas.openxmlformats.org/markup-compatibility/2006">
                <mc:Choice xmlns:v="urn:schemas-microsoft-com:vml" Requires="v">
                  <p:oleObj r:id="rId9" imgW="1553210" imgH="209550" progId="Equation.3">
                    <p:embed/>
                  </p:oleObj>
                </mc:Choice>
                <mc:Fallback>
                  <p:oleObj r:id="rId9" imgW="1553210" imgH="209550" progId="Equation.3">
                    <p:embed/>
                    <p:pic>
                      <p:nvPicPr>
                        <p:cNvPr id="0" name="图片 3272"/>
                        <p:cNvPicPr/>
                        <p:nvPr/>
                      </p:nvPicPr>
                      <p:blipFill>
                        <a:blip r:embed="rId10">
                          <a:clrChange>
                            <a:clrFrom>
                              <a:srgbClr val="000000"/>
                            </a:clrFrom>
                            <a:clrTo>
                              <a:srgbClr val="EA162F"/>
                            </a:clrTo>
                          </a:clrChange>
                        </a:blip>
                        <a:stretch>
                          <a:fillRect/>
                        </a:stretch>
                      </p:blipFill>
                      <p:spPr>
                        <a:xfrm>
                          <a:off x="1284" y="1794"/>
                          <a:ext cx="2174" cy="341"/>
                        </a:xfrm>
                        <a:prstGeom prst="rect">
                          <a:avLst/>
                        </a:prstGeom>
                        <a:noFill/>
                        <a:ln w="38100">
                          <a:noFill/>
                          <a:miter/>
                        </a:ln>
                      </p:spPr>
                    </p:pic>
                  </p:oleObj>
                </mc:Fallback>
              </mc:AlternateContent>
            </a:graphicData>
          </a:graphic>
        </p:graphicFrame>
      </p:grpSp>
      <p:sp>
        <p:nvSpPr>
          <p:cNvPr id="2" name="Rectangle 71">
            <a:extLst>
              <a:ext uri="{FF2B5EF4-FFF2-40B4-BE49-F238E27FC236}">
                <a16:creationId xmlns:a16="http://schemas.microsoft.com/office/drawing/2014/main" id="{A5997314-BD6B-C2AE-57B1-2867134A9E74}"/>
              </a:ext>
            </a:extLst>
          </p:cNvPr>
          <p:cNvSpPr/>
          <p:nvPr/>
        </p:nvSpPr>
        <p:spPr>
          <a:xfrm>
            <a:off x="539552" y="4799155"/>
            <a:ext cx="5953949" cy="341051"/>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rPr>
              <a:t>③计算标量一重积分（第一类曲线积分）</a:t>
            </a:r>
          </a:p>
        </p:txBody>
      </p:sp>
      <p:sp>
        <p:nvSpPr>
          <p:cNvPr id="3" name="Rectangle 71">
            <a:extLst>
              <a:ext uri="{FF2B5EF4-FFF2-40B4-BE49-F238E27FC236}">
                <a16:creationId xmlns:a16="http://schemas.microsoft.com/office/drawing/2014/main" id="{FCB76A6E-2E24-1C67-7F84-A6B625E9EA39}"/>
              </a:ext>
            </a:extLst>
          </p:cNvPr>
          <p:cNvSpPr/>
          <p:nvPr/>
        </p:nvSpPr>
        <p:spPr>
          <a:xfrm>
            <a:off x="142025" y="1787831"/>
            <a:ext cx="8429069" cy="373062"/>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latin typeface="楷体_GB2312" pitchFamily="49" charset="-122"/>
              </a:rPr>
              <a:t>①</a:t>
            </a:r>
            <a:r>
              <a:rPr lang="zh-CN" altLang="en-US" sz="1600" b="0" dirty="0">
                <a:solidFill>
                  <a:srgbClr val="DBF10F"/>
                </a:solidFill>
                <a:latin typeface="楷体_GB2312" pitchFamily="49" charset="-122"/>
                <a:ea typeface="楷体_GB2312" pitchFamily="49" charset="-122"/>
              </a:rPr>
              <a:t>变闭为开：</a:t>
            </a:r>
            <a:r>
              <a:rPr lang="zh-CN" altLang="en-US" sz="1600" b="0" dirty="0">
                <a:solidFill>
                  <a:srgbClr val="DBF10F"/>
                </a:solidFill>
                <a:latin typeface="楷体_GB2312" pitchFamily="49" charset="-122"/>
              </a:rPr>
              <a:t>闭合曲线的积分</a:t>
            </a:r>
            <a:r>
              <a:rPr lang="zh-CN" altLang="en-US" sz="1600" b="0" dirty="0">
                <a:solidFill>
                  <a:srgbClr val="DBF10F"/>
                </a:solidFill>
              </a:rPr>
              <a:t>（第二类曲线积分）</a:t>
            </a:r>
            <a:r>
              <a:rPr lang="en-US" altLang="zh-CN" sz="1600" b="0" dirty="0">
                <a:solidFill>
                  <a:srgbClr val="DBF10F"/>
                </a:solidFill>
                <a:latin typeface="楷体_GB2312" pitchFamily="49" charset="-122"/>
              </a:rPr>
              <a:t>=</a:t>
            </a:r>
            <a:r>
              <a:rPr lang="zh-CN" altLang="en-US" sz="1600" b="0" dirty="0">
                <a:solidFill>
                  <a:srgbClr val="DBF10F"/>
                </a:solidFill>
                <a:latin typeface="楷体_GB2312" pitchFamily="49" charset="-122"/>
              </a:rPr>
              <a:t>围合该闭合面的各开曲线的线积分之和</a:t>
            </a:r>
            <a:endParaRPr lang="zh-CN" altLang="en-US" sz="1600" b="0" dirty="0">
              <a:solidFill>
                <a:srgbClr val="DBF10F"/>
              </a:solidFill>
              <a:latin typeface="Arial" panose="020B0604020202020204" pitchFamily="34" charset="0"/>
              <a:ea typeface="楷体_GB2312" pitchFamily="49" charset="-122"/>
            </a:endParaRPr>
          </a:p>
        </p:txBody>
      </p:sp>
      <p:sp>
        <p:nvSpPr>
          <p:cNvPr id="4" name="Rectangle 71">
            <a:extLst>
              <a:ext uri="{FF2B5EF4-FFF2-40B4-BE49-F238E27FC236}">
                <a16:creationId xmlns:a16="http://schemas.microsoft.com/office/drawing/2014/main" id="{F8B4D0A0-FDC2-2A8F-4E31-20BF764482E9}"/>
              </a:ext>
            </a:extLst>
          </p:cNvPr>
          <p:cNvSpPr/>
          <p:nvPr/>
        </p:nvSpPr>
        <p:spPr>
          <a:xfrm>
            <a:off x="744658" y="3278777"/>
            <a:ext cx="6007013" cy="373062"/>
          </a:xfrm>
          <a:prstGeom prst="rect">
            <a:avLst/>
          </a:prstGeom>
          <a:noFill/>
          <a:ln w="9525">
            <a:noFill/>
          </a:ln>
        </p:spPr>
        <p:txBody>
          <a:bodyPr anchor="t" anchorCtr="0"/>
          <a:lstStyle/>
          <a:p>
            <a:pPr marL="381000" indent="-381000">
              <a:lnSpc>
                <a:spcPct val="130000"/>
              </a:lnSpc>
              <a:spcBef>
                <a:spcPct val="0"/>
              </a:spcBef>
            </a:pPr>
            <a:r>
              <a:rPr lang="zh-CN" altLang="en-US" sz="1600" b="0" dirty="0">
                <a:solidFill>
                  <a:srgbClr val="DBF10F"/>
                </a:solidFill>
                <a:latin typeface="宋体" panose="02010600030101010101" pitchFamily="2" charset="-122"/>
                <a:ea typeface="宋体" panose="02010600030101010101" pitchFamily="2" charset="-122"/>
              </a:rPr>
              <a:t>②</a:t>
            </a:r>
            <a:r>
              <a:rPr lang="zh-CN" altLang="en-US" sz="1600" b="0" dirty="0">
                <a:solidFill>
                  <a:srgbClr val="DBF10F"/>
                </a:solidFill>
                <a:latin typeface="Arial" panose="020B0604020202020204" pitchFamily="34" charset="0"/>
                <a:ea typeface="楷体_GB2312" pitchFamily="49" charset="-122"/>
              </a:rPr>
              <a:t>被积函数的点乘</a:t>
            </a:r>
            <a:r>
              <a:rPr lang="zh-CN" altLang="en-US" sz="1600" b="0" dirty="0">
                <a:solidFill>
                  <a:srgbClr val="DBF10F"/>
                </a:solidFill>
              </a:rPr>
              <a:t>运算</a:t>
            </a:r>
            <a:endParaRPr lang="zh-CN" altLang="en-US" sz="1600" b="0" dirty="0">
              <a:solidFill>
                <a:srgbClr val="DBF10F"/>
              </a:solidFill>
              <a:latin typeface="Arial" panose="020B0604020202020204" pitchFamily="34" charset="0"/>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AutoShape 3">
            <a:hlinkClick r:id="rId3" action="ppaction://hlinksldjump"/>
          </p:cNvPr>
          <p:cNvSpPr/>
          <p:nvPr/>
        </p:nvSpPr>
        <p:spPr>
          <a:xfrm>
            <a:off x="7537450" y="6597650"/>
            <a:ext cx="360363" cy="252413"/>
          </a:xfrm>
          <a:prstGeom prst="actionButtonBeginning">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7762" name="AutoShape 4">
            <a:hlinkClick r:id="" action="ppaction://hlinkshowjump?jump=previousslide"/>
          </p:cNvPr>
          <p:cNvSpPr/>
          <p:nvPr/>
        </p:nvSpPr>
        <p:spPr>
          <a:xfrm>
            <a:off x="7954963" y="6597650"/>
            <a:ext cx="360362" cy="258763"/>
          </a:xfrm>
          <a:prstGeom prst="actionButtonBackPrevious">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7763" name="AutoShape 5">
            <a:hlinkClick r:id="" action="ppaction://hlinkshowjump?jump=nextslide"/>
          </p:cNvPr>
          <p:cNvSpPr/>
          <p:nvPr/>
        </p:nvSpPr>
        <p:spPr>
          <a:xfrm>
            <a:off x="8372475" y="6597650"/>
            <a:ext cx="360363" cy="252413"/>
          </a:xfrm>
          <a:prstGeom prst="actionButtonForwardNext">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sp>
        <p:nvSpPr>
          <p:cNvPr id="117764" name="AutoShape 6">
            <a:hlinkClick r:id="" action="ppaction://hlinkshowjump?jump=lastslide"/>
          </p:cNvPr>
          <p:cNvSpPr/>
          <p:nvPr/>
        </p:nvSpPr>
        <p:spPr>
          <a:xfrm>
            <a:off x="8763000" y="6597650"/>
            <a:ext cx="360363" cy="252413"/>
          </a:xfrm>
          <a:prstGeom prst="actionButtonEnd">
            <a:avLst/>
          </a:prstGeom>
          <a:solidFill>
            <a:srgbClr val="3366FF"/>
          </a:solidFill>
          <a:ln w="9525" cap="flat" cmpd="sng">
            <a:solidFill>
              <a:schemeClr val="bg1"/>
            </a:solidFill>
            <a:prstDash val="solid"/>
            <a:miter/>
            <a:headEnd type="none" w="med" len="med"/>
            <a:tailEnd type="none" w="med" len="med"/>
          </a:ln>
        </p:spPr>
        <p:txBody>
          <a:bodyPr wrap="none" anchor="ctr" anchorCtr="0"/>
          <a:lstStyle/>
          <a:p>
            <a:pPr algn="ctr"/>
            <a:endParaRPr lang="zh-CN" altLang="en-US" b="0" dirty="0">
              <a:latin typeface="Arial" panose="020B0604020202020204" pitchFamily="34" charset="0"/>
              <a:ea typeface="楷体_GB2312" pitchFamily="49" charset="-122"/>
            </a:endParaRPr>
          </a:p>
        </p:txBody>
      </p:sp>
      <p:graphicFrame>
        <p:nvGraphicFramePr>
          <p:cNvPr id="690185" name="Object 9"/>
          <p:cNvGraphicFramePr>
            <a:graphicFrameLocks noChangeAspect="1"/>
          </p:cNvGraphicFramePr>
          <p:nvPr/>
        </p:nvGraphicFramePr>
        <p:xfrm>
          <a:off x="360363" y="1270000"/>
          <a:ext cx="8388350" cy="3546475"/>
        </p:xfrm>
        <a:graphic>
          <a:graphicData uri="http://schemas.openxmlformats.org/presentationml/2006/ole">
            <mc:AlternateContent xmlns:mc="http://schemas.openxmlformats.org/markup-compatibility/2006">
              <mc:Choice xmlns:v="urn:schemas-microsoft-com:vml" Requires="v">
                <p:oleObj r:id="rId4" imgW="2599690" imgH="1079500" progId="Equation.3">
                  <p:embed/>
                </p:oleObj>
              </mc:Choice>
              <mc:Fallback>
                <p:oleObj r:id="rId4" imgW="2599690" imgH="1079500" progId="Equation.3">
                  <p:embed/>
                  <p:pic>
                    <p:nvPicPr>
                      <p:cNvPr id="0" name="图片 3271"/>
                      <p:cNvPicPr/>
                      <p:nvPr/>
                    </p:nvPicPr>
                    <p:blipFill>
                      <a:blip r:embed="rId5">
                        <a:clrChange>
                          <a:clrFrom>
                            <a:srgbClr val="000000"/>
                          </a:clrFrom>
                          <a:clrTo>
                            <a:srgbClr val="FFFFFF"/>
                          </a:clrTo>
                        </a:clrChange>
                      </a:blip>
                      <a:stretch>
                        <a:fillRect/>
                      </a:stretch>
                    </p:blipFill>
                    <p:spPr>
                      <a:xfrm>
                        <a:off x="360363" y="1270000"/>
                        <a:ext cx="8388350" cy="3546475"/>
                      </a:xfrm>
                      <a:prstGeom prst="rect">
                        <a:avLst/>
                      </a:prstGeom>
                      <a:noFill/>
                      <a:ln w="38100">
                        <a:noFill/>
                        <a:miter/>
                      </a:ln>
                    </p:spPr>
                  </p:pic>
                </p:oleObj>
              </mc:Fallback>
            </mc:AlternateContent>
          </a:graphicData>
        </a:graphic>
      </p:graphicFrame>
      <p:sp>
        <p:nvSpPr>
          <p:cNvPr id="690186" name="Text Box 10"/>
          <p:cNvSpPr txBox="1"/>
          <p:nvPr/>
        </p:nvSpPr>
        <p:spPr>
          <a:xfrm>
            <a:off x="250825" y="765175"/>
            <a:ext cx="8001000" cy="457200"/>
          </a:xfrm>
          <a:prstGeom prst="rect">
            <a:avLst/>
          </a:prstGeom>
          <a:noFill/>
          <a:ln w="9525">
            <a:noFill/>
          </a:ln>
        </p:spPr>
        <p:txBody>
          <a:bodyPr anchor="t" anchorCtr="0">
            <a:spAutoFit/>
          </a:bodyPr>
          <a:lstStyle/>
          <a:p>
            <a:pPr latinLnBrk="1">
              <a:spcBef>
                <a:spcPct val="50000"/>
              </a:spcBef>
            </a:pPr>
            <a:r>
              <a:rPr lang="zh-CN" altLang="en-US" dirty="0">
                <a:solidFill>
                  <a:srgbClr val="FFB7B7"/>
                </a:solidFill>
                <a:latin typeface="幼圆" panose="02010509060101010101" pitchFamily="49" charset="-122"/>
                <a:ea typeface="幼圆" panose="02010509060101010101" pitchFamily="49" charset="-122"/>
              </a:rPr>
              <a:t>解二</a:t>
            </a:r>
            <a:endParaRPr lang="zh-CN" altLang="en-US" dirty="0">
              <a:solidFill>
                <a:schemeClr val="bg1"/>
              </a:solidFill>
              <a:latin typeface="Times New Roman" panose="02020603050405020304" pitchFamily="18" charset="0"/>
              <a:ea typeface="楷体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4"/>
          <p:cNvSpPr/>
          <p:nvPr/>
        </p:nvSpPr>
        <p:spPr>
          <a:xfrm>
            <a:off x="3940175" y="2565400"/>
            <a:ext cx="869950" cy="461963"/>
          </a:xfrm>
          <a:prstGeom prst="rect">
            <a:avLst/>
          </a:prstGeom>
          <a:noFill/>
          <a:ln w="9525">
            <a:noFill/>
          </a:ln>
        </p:spPr>
        <p:txBody>
          <a:bodyPr wrap="none" anchor="ctr" anchorCtr="0">
            <a:spAutoFit/>
          </a:bodyPr>
          <a:lstStyle/>
          <a:p>
            <a:pPr>
              <a:spcBef>
                <a:spcPct val="0"/>
              </a:spcBef>
            </a:pPr>
            <a:r>
              <a:rPr lang="en-US" altLang="zh-CN" dirty="0">
                <a:solidFill>
                  <a:schemeClr val="bg1"/>
                </a:solidFill>
                <a:latin typeface="Arial" panose="020B0604020202020204" pitchFamily="34" charset="0"/>
                <a:ea typeface="楷体_GB2312" pitchFamily="49" charset="-122"/>
              </a:rPr>
              <a:t>1.21 </a:t>
            </a:r>
          </a:p>
        </p:txBody>
      </p:sp>
      <p:sp>
        <p:nvSpPr>
          <p:cNvPr id="667654" name="Text Box 6"/>
          <p:cNvSpPr txBox="1"/>
          <p:nvPr/>
        </p:nvSpPr>
        <p:spPr>
          <a:xfrm>
            <a:off x="3924300" y="1773238"/>
            <a:ext cx="2808288" cy="457200"/>
          </a:xfrm>
          <a:prstGeom prst="rect">
            <a:avLst/>
          </a:prstGeom>
          <a:noFill/>
          <a:ln w="9525">
            <a:noFill/>
          </a:ln>
        </p:spPr>
        <p:txBody>
          <a:bodyPr anchor="t" anchorCtr="0">
            <a:spAutoFit/>
          </a:bodyPr>
          <a:lstStyle/>
          <a:p>
            <a:pPr>
              <a:spcBef>
                <a:spcPct val="0"/>
              </a:spcBef>
            </a:pPr>
            <a:r>
              <a:rPr lang="zh-CN" altLang="en-US" dirty="0">
                <a:solidFill>
                  <a:srgbClr val="FFB7B7"/>
                </a:solidFill>
                <a:latin typeface="Times New Roman" panose="02020603050405020304" pitchFamily="18" charset="0"/>
                <a:ea typeface="楷体_GB2312" pitchFamily="49" charset="-122"/>
              </a:rPr>
              <a:t>作业</a:t>
            </a:r>
            <a:r>
              <a:rPr lang="zh-CN" altLang="en-US" dirty="0">
                <a:solidFill>
                  <a:schemeClr val="bg1"/>
                </a:solidFill>
                <a:latin typeface="Times New Roman" panose="02020603050405020304" pitchFamily="18" charset="0"/>
                <a:ea typeface="楷体_GB2312" pitchFamily="49" charset="-122"/>
              </a:rPr>
              <a:t>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k5ZGI1MDEzODM3NTRlMzM1MDZjZWE4NTNjMWYxMDkifQ=="/>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ctr" defTabSz="914400" rtl="0" eaLnBrk="1" fontAlgn="base" latinLnBrk="0" hangingPunct="1">
          <a:lnSpc>
            <a:spcPct val="100000"/>
          </a:lnSpc>
          <a:spcBef>
            <a:spcPct val="2000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ctr" defTabSz="914400" rtl="0" eaLnBrk="1" fontAlgn="base" latinLnBrk="0" hangingPunct="1">
          <a:lnSpc>
            <a:spcPct val="100000"/>
          </a:lnSpc>
          <a:spcBef>
            <a:spcPct val="2000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5175</TotalTime>
  <Words>1520</Words>
  <Application>Microsoft Office PowerPoint</Application>
  <PresentationFormat>全屏显示(4:3)</PresentationFormat>
  <Paragraphs>234</Paragraphs>
  <Slides>31</Slides>
  <Notes>27</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vt:i4>
      </vt:variant>
      <vt:variant>
        <vt:lpstr>幻灯片标题</vt:lpstr>
      </vt:variant>
      <vt:variant>
        <vt:i4>31</vt:i4>
      </vt:variant>
    </vt:vector>
  </HeadingPairs>
  <TitlesOfParts>
    <vt:vector size="44" baseType="lpstr">
      <vt:lpstr>黑体</vt:lpstr>
      <vt:lpstr>华文中宋</vt:lpstr>
      <vt:lpstr>楷体_GB2312</vt:lpstr>
      <vt:lpstr>隶书</vt:lpstr>
      <vt:lpstr>宋体</vt:lpstr>
      <vt:lpstr>幼圆</vt:lpstr>
      <vt:lpstr>Arial</vt:lpstr>
      <vt:lpstr>Times New Roman</vt:lpstr>
      <vt:lpstr>1_默认设计模板</vt:lpstr>
      <vt:lpstr>Equation.3</vt:lpstr>
      <vt:lpstr>Equation.DSMT4</vt:lpstr>
      <vt:lpstr>Equation</vt:lpstr>
      <vt:lpstr>Visio.Drawing.11</vt:lpstr>
      <vt:lpstr>1.4  矢量场的纯通量源与纯散度源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1.5  矢量场的环流与旋度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1393</cp:revision>
  <dcterms:created xsi:type="dcterms:W3CDTF">2004-02-10T07:06:00Z</dcterms:created>
  <dcterms:modified xsi:type="dcterms:W3CDTF">2025-10-28T05:59:01Z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4A58E105F38F4630911501450C2E99AF</vt:lpwstr>
  </property>
  <property fmtid="{D5CDD505-2E9C-101B-9397-08002B2CF9AE}" pid="3" name="KSOProductBuildVer">
    <vt:lpwstr>2052-11.1.0.12358</vt:lpwstr>
  </property>
</Properties>
</file>