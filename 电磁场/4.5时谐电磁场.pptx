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404" r:id="rId2"/>
    <p:sldId id="428" r:id="rId3"/>
    <p:sldId id="447" r:id="rId4"/>
    <p:sldId id="460" r:id="rId5"/>
    <p:sldId id="431" r:id="rId6"/>
    <p:sldId id="418" r:id="rId7"/>
    <p:sldId id="432" r:id="rId8"/>
    <p:sldId id="419" r:id="rId9"/>
    <p:sldId id="426" r:id="rId10"/>
    <p:sldId id="468" r:id="rId11"/>
    <p:sldId id="381" r:id="rId12"/>
    <p:sldId id="383" r:id="rId13"/>
    <p:sldId id="436" r:id="rId14"/>
    <p:sldId id="437" r:id="rId15"/>
    <p:sldId id="438" r:id="rId16"/>
    <p:sldId id="466" r:id="rId17"/>
    <p:sldId id="439" r:id="rId18"/>
    <p:sldId id="450" r:id="rId19"/>
    <p:sldId id="440" r:id="rId20"/>
    <p:sldId id="451" r:id="rId21"/>
    <p:sldId id="465" r:id="rId22"/>
    <p:sldId id="463" r:id="rId23"/>
    <p:sldId id="452" r:id="rId24"/>
    <p:sldId id="444" r:id="rId25"/>
    <p:sldId id="445" r:id="rId26"/>
    <p:sldId id="446" r:id="rId27"/>
    <p:sldId id="448" r:id="rId28"/>
    <p:sldId id="449" r:id="rId29"/>
    <p:sldId id="456" r:id="rId30"/>
  </p:sldIdLst>
  <p:sldSz cx="9144000" cy="6858000" type="screen4x3"/>
  <p:notesSz cx="6858000" cy="9144000"/>
  <p:custDataLst>
    <p:tags r:id="rId3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7" userDrawn="1">
          <p15:clr>
            <a:srgbClr val="A4A3A4"/>
          </p15:clr>
        </p15:guide>
        <p15:guide id="2" pos="29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9900"/>
    <a:srgbClr val="D60093"/>
    <a:srgbClr val="FF99CC"/>
    <a:srgbClr val="5BAB7F"/>
    <a:srgbClr val="CCCCFF"/>
    <a:srgbClr val="6600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843" autoAdjust="0"/>
  </p:normalViewPr>
  <p:slideViewPr>
    <p:cSldViewPr showGuides="1">
      <p:cViewPr varScale="1">
        <p:scale>
          <a:sx n="80" d="100"/>
          <a:sy n="80" d="100"/>
        </p:scale>
        <p:origin x="864" y="60"/>
      </p:cViewPr>
      <p:guideLst>
        <p:guide orient="horz" pos="2187"/>
        <p:guide pos="2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7584EA-F8F4-468B-838E-6FC41342A7C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2025/12/22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="0" smtClean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FA3BE2-94C1-4EC6-874D-79B19FD9F2F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2DBF8C-73BE-48EB-9DAD-86366B0D9E79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2025/12/22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5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55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5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="0" smtClean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FCCE3B-0661-4084-9292-E9FF9DA1212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54275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2025/12/22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5427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542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1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427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427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3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56324" name="页眉占位符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56325" name="日期占位符 4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2025/12/22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56326" name="页脚占位符 5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56327" name="灯片编号占位符 6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2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58371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2025/12/22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5837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583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3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837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l-GR" dirty="0">
              <a:ea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60419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2025/12/22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6042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604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5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6042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2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63491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2025/12/22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6349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634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6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634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349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65539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2025/12/22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6554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6554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7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6554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554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67587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2025/12/22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6758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675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8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6759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9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71683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2025/12/22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7168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716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12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7168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68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73731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2025/12/22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7373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737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13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7373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373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>
              <a:latin typeface="宋体" panose="02010600030101010101" pitchFamily="2" charset="-122"/>
              <a:ea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75779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2025/12/22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7578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757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14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7578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78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77827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2025/12/22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7782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778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15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7783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783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某种材料是导体还是半导体，不但与电导率有关，还与工作频率密切相关。例如在光频以下是良导体的纯铜，在</a:t>
            </a:r>
            <a:r>
              <a:rPr lang="en-US" altLang="zh-CN" dirty="0"/>
              <a:t>x</a:t>
            </a:r>
            <a:r>
              <a:rPr lang="zh-CN" altLang="en-US" dirty="0"/>
              <a:t>射线范围却是电介质（绝缘体）了。</a:t>
            </a:r>
            <a:r>
              <a:rPr lang="el-GR" altLang="zh-CN" dirty="0">
                <a:latin typeface="Arial" panose="020B0604020202020204" pitchFamily="34" charset="0"/>
                <a:cs typeface="Arial" panose="020B0604020202020204" pitchFamily="34" charset="0"/>
              </a:rPr>
              <a:t>σωεα≠→</a:t>
            </a:r>
            <a:r>
              <a:rPr lang="en-US" altLang="zh-CN" sz="1800" dirty="0"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∞</a:t>
            </a:r>
            <a:r>
              <a:rPr lang="en-US" altLang="zh-CN" sz="1800" dirty="0">
                <a:effectLst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≈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79875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2025/12/22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7987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798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17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7987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987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algn="just" eaLnBrk="1" hangingPunct="1">
              <a:lnSpc>
                <a:spcPct val="110000"/>
              </a:lnSpc>
            </a:pPr>
            <a:endParaRPr lang="en-US" altLang="zh-CN" b="1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81923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2025/12/22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8192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819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18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8192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2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algn="just" eaLnBrk="1" hangingPunct="1">
              <a:lnSpc>
                <a:spcPct val="110000"/>
              </a:lnSpc>
            </a:pPr>
            <a:endParaRPr lang="en-US" altLang="zh-CN" b="1" i="1" dirty="0">
              <a:solidFill>
                <a:schemeClr val="bg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83971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2025/12/22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8397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839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19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8397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397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86019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2025/12/22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8602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860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20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8602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602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 txBox="1">
            <a:spLocks noGrp="1"/>
          </p:cNvSpPr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88067" name="Rectangle 3"/>
          <p:cNvSpPr txBox="1">
            <a:spLocks noGrp="1"/>
          </p:cNvSpPr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2025/12/22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88068" name="Rectangle 6"/>
          <p:cNvSpPr txBox="1">
            <a:spLocks noGrp="1"/>
          </p:cNvSpPr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88069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21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8807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7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90115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2025/12/22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9011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901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22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9011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011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algn="just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92163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2025/12/22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9216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9216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23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9216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6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l-GR" altLang="zh-CN" dirty="0">
              <a:ea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94211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2025/12/22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9421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9421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24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9421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421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4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1" name="Rectangle 3"/>
          <p:cNvSpPr>
            <a:spLocks noChangeArrowheads="1"/>
          </p:cNvSpPr>
          <p:nvPr/>
        </p:nvSpPr>
        <p:spPr bwMode="auto">
          <a:xfrm>
            <a:off x="0" y="404813"/>
            <a:ext cx="9144000" cy="6119813"/>
          </a:xfrm>
          <a:prstGeom prst="rect">
            <a:avLst/>
          </a:prstGeom>
          <a:gradFill rotWithShape="0">
            <a:gsLst>
              <a:gs pos="0">
                <a:srgbClr val="0000E8"/>
              </a:gs>
              <a:gs pos="100000">
                <a:srgbClr val="0000E8">
                  <a:gamma/>
                  <a:shade val="70196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3253" name="Rectangle 5"/>
          <p:cNvSpPr>
            <a:spLocks noChangeArrowheads="1"/>
          </p:cNvSpPr>
          <p:nvPr/>
        </p:nvSpPr>
        <p:spPr bwMode="auto">
          <a:xfrm>
            <a:off x="2843213" y="53975"/>
            <a:ext cx="3744913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第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4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章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时变电磁场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CC99"/>
              </a:solidFill>
              <a:effectDag name="">
                <a:cont type="tree" name="">
                  <a:effect ref="fillLine"/>
                  <a:outerShdw dist="38100" dir="13500000" algn="br">
                    <a:srgbClr val="FFDDBB"/>
                  </a:outerShdw>
                </a:cont>
                <a:cont type="tree" name="">
                  <a:effect ref="fillLine"/>
                  <a:outerShdw dist="38100" dir="2700000" algn="tl">
                    <a:srgbClr val="997A5B"/>
                  </a:outerShdw>
                </a:cont>
                <a:effect ref="fillLine"/>
              </a:effectDag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28" name="Rectangle 6"/>
          <p:cNvSpPr>
            <a:spLocks noChangeArrowheads="1"/>
          </p:cNvSpPr>
          <p:nvPr/>
        </p:nvSpPr>
        <p:spPr bwMode="auto">
          <a:xfrm>
            <a:off x="107950" y="44450"/>
            <a:ext cx="2089150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0800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573CF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  <a:t>电磁场与电磁波</a:t>
            </a:r>
          </a:p>
        </p:txBody>
      </p:sp>
      <p:sp>
        <p:nvSpPr>
          <p:cNvPr id="1029" name="Rectangle 10" descr="深色横线"/>
          <p:cNvSpPr>
            <a:spLocks noChangeArrowheads="1"/>
          </p:cNvSpPr>
          <p:nvPr/>
        </p:nvSpPr>
        <p:spPr bwMode="auto">
          <a:xfrm>
            <a:off x="0" y="3333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3259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77050" y="65088"/>
            <a:ext cx="21336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400" b="0" smtClean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21" descr="栎木"/>
          <p:cNvSpPr>
            <a:spLocks noChangeArrowheads="1"/>
          </p:cNvSpPr>
          <p:nvPr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4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23" descr="深色横线"/>
          <p:cNvSpPr>
            <a:spLocks noChangeArrowheads="1"/>
          </p:cNvSpPr>
          <p:nvPr/>
        </p:nvSpPr>
        <p:spPr bwMode="auto">
          <a:xfrm>
            <a:off x="0" y="6526213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AutoShape 2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" name="AutoShape 2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3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AutoShape 2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AutoShape 2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13" Type="http://schemas.openxmlformats.org/officeDocument/2006/relationships/image" Target="../media/image4.png"/><Relationship Id="rId3" Type="http://schemas.openxmlformats.org/officeDocument/2006/relationships/notesSlide" Target="../notesSlides/notesSlide1.xml"/><Relationship Id="rId7" Type="http://schemas.openxmlformats.org/officeDocument/2006/relationships/slide" Target="slide18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slide" Target="slide17.xml"/><Relationship Id="rId11" Type="http://schemas.openxmlformats.org/officeDocument/2006/relationships/oleObject" Target="../embeddings/oleObject2.bin"/><Relationship Id="rId5" Type="http://schemas.openxmlformats.org/officeDocument/2006/relationships/slide" Target="slide13.xml"/><Relationship Id="rId10" Type="http://schemas.openxmlformats.org/officeDocument/2006/relationships/image" Target="../media/image2.emf"/><Relationship Id="rId4" Type="http://schemas.openxmlformats.org/officeDocument/2006/relationships/slide" Target="slide2.xml"/><Relationship Id="rId9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20.png"/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12" Type="http://schemas.openxmlformats.org/officeDocument/2006/relationships/image" Target="../media/image5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9.wmf"/><Relationship Id="rId5" Type="http://schemas.openxmlformats.org/officeDocument/2006/relationships/image" Target="../media/image16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18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31.emf"/><Relationship Id="rId3" Type="http://schemas.openxmlformats.org/officeDocument/2006/relationships/tags" Target="../tags/tag5.xml"/><Relationship Id="rId7" Type="http://schemas.openxmlformats.org/officeDocument/2006/relationships/oleObject" Target="../embeddings/oleObject8.bin"/><Relationship Id="rId12" Type="http://schemas.openxmlformats.org/officeDocument/2006/relationships/image" Target="../media/image28.emf"/><Relationship Id="rId17" Type="http://schemas.openxmlformats.org/officeDocument/2006/relationships/oleObject" Target="../embeddings/oleObject13.bin"/><Relationship Id="rId2" Type="http://schemas.openxmlformats.org/officeDocument/2006/relationships/tags" Target="../tags/tag4.xml"/><Relationship Id="rId16" Type="http://schemas.openxmlformats.org/officeDocument/2006/relationships/image" Target="../media/image30.emf"/><Relationship Id="rId1" Type="http://schemas.openxmlformats.org/officeDocument/2006/relationships/tags" Target="../tags/tag3.xml"/><Relationship Id="rId6" Type="http://schemas.openxmlformats.org/officeDocument/2006/relationships/image" Target="../media/image25.png"/><Relationship Id="rId11" Type="http://schemas.openxmlformats.org/officeDocument/2006/relationships/oleObject" Target="../embeddings/oleObject10.bin"/><Relationship Id="rId5" Type="http://schemas.openxmlformats.org/officeDocument/2006/relationships/notesSlide" Target="../notesSlides/notesSlide5.xml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27.emf"/><Relationship Id="rId4" Type="http://schemas.openxmlformats.org/officeDocument/2006/relationships/slideLayout" Target="../slideLayouts/slideLayout2.xml"/><Relationship Id="rId9" Type="http://schemas.openxmlformats.org/officeDocument/2006/relationships/oleObject" Target="../embeddings/oleObject9.bin"/><Relationship Id="rId14" Type="http://schemas.openxmlformats.org/officeDocument/2006/relationships/image" Target="../media/image29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36.e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3.emf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35.emf"/><Relationship Id="rId5" Type="http://schemas.openxmlformats.org/officeDocument/2006/relationships/image" Target="../media/image32.e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34.emf"/><Relationship Id="rId1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44.png"/><Relationship Id="rId3" Type="http://schemas.openxmlformats.org/officeDocument/2006/relationships/tags" Target="../tags/tag9.xml"/><Relationship Id="rId21" Type="http://schemas.openxmlformats.org/officeDocument/2006/relationships/image" Target="../media/image46.png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9.emf"/><Relationship Id="rId17" Type="http://schemas.openxmlformats.org/officeDocument/2006/relationships/image" Target="../media/image43.png"/><Relationship Id="rId2" Type="http://schemas.openxmlformats.org/officeDocument/2006/relationships/tags" Target="../tags/tag8.xml"/><Relationship Id="rId16" Type="http://schemas.openxmlformats.org/officeDocument/2006/relationships/image" Target="../media/image42.png"/><Relationship Id="rId20" Type="http://schemas.openxmlformats.org/officeDocument/2006/relationships/image" Target="../media/image45.emf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oleObject" Target="../embeddings/oleObject20.bin"/><Relationship Id="rId5" Type="http://schemas.openxmlformats.org/officeDocument/2006/relationships/tags" Target="../tags/tag11.xml"/><Relationship Id="rId15" Type="http://schemas.openxmlformats.org/officeDocument/2006/relationships/image" Target="../media/image41.png"/><Relationship Id="rId10" Type="http://schemas.openxmlformats.org/officeDocument/2006/relationships/image" Target="../media/image38.emf"/><Relationship Id="rId19" Type="http://schemas.openxmlformats.org/officeDocument/2006/relationships/oleObject" Target="../embeddings/oleObject22.bin"/><Relationship Id="rId4" Type="http://schemas.openxmlformats.org/officeDocument/2006/relationships/tags" Target="../tags/tag10.xml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40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52.emf"/><Relationship Id="rId3" Type="http://schemas.openxmlformats.org/officeDocument/2006/relationships/image" Target="../media/image47.emf"/><Relationship Id="rId7" Type="http://schemas.openxmlformats.org/officeDocument/2006/relationships/image" Target="../media/image49.emf"/><Relationship Id="rId12" Type="http://schemas.openxmlformats.org/officeDocument/2006/relationships/oleObject" Target="../embeddings/oleObject28.bin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51.emf"/><Relationship Id="rId5" Type="http://schemas.openxmlformats.org/officeDocument/2006/relationships/image" Target="../media/image48.emf"/><Relationship Id="rId15" Type="http://schemas.openxmlformats.org/officeDocument/2006/relationships/image" Target="../media/image53.e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50.emf"/><Relationship Id="rId14" Type="http://schemas.openxmlformats.org/officeDocument/2006/relationships/oleObject" Target="../embeddings/oleObject2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oleObject" Target="../embeddings/oleObject30.bin"/><Relationship Id="rId7" Type="http://schemas.openxmlformats.org/officeDocument/2006/relationships/image" Target="../media/image56.emf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58.emf"/><Relationship Id="rId5" Type="http://schemas.openxmlformats.org/officeDocument/2006/relationships/image" Target="../media/image55.png"/><Relationship Id="rId10" Type="http://schemas.openxmlformats.org/officeDocument/2006/relationships/oleObject" Target="../embeddings/oleObject33.bin"/><Relationship Id="rId4" Type="http://schemas.openxmlformats.org/officeDocument/2006/relationships/image" Target="../media/image49.emf"/><Relationship Id="rId9" Type="http://schemas.openxmlformats.org/officeDocument/2006/relationships/image" Target="../media/image57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image" Target="../media/image59.emf"/><Relationship Id="rId7" Type="http://schemas.openxmlformats.org/officeDocument/2006/relationships/image" Target="../media/image61.e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60.emf"/><Relationship Id="rId10" Type="http://schemas.openxmlformats.org/officeDocument/2006/relationships/image" Target="../media/image63.png"/><Relationship Id="rId4" Type="http://schemas.openxmlformats.org/officeDocument/2006/relationships/oleObject" Target="../embeddings/oleObject35.bin"/><Relationship Id="rId9" Type="http://schemas.openxmlformats.org/officeDocument/2006/relationships/image" Target="../media/image62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emf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68.png"/><Relationship Id="rId4" Type="http://schemas.openxmlformats.org/officeDocument/2006/relationships/image" Target="../media/image64.emf"/><Relationship Id="rId9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0.emf"/><Relationship Id="rId4" Type="http://schemas.openxmlformats.org/officeDocument/2006/relationships/oleObject" Target="../embeddings/oleObject4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5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6.png"/><Relationship Id="rId9" Type="http://schemas.openxmlformats.org/officeDocument/2006/relationships/image" Target="../media/image7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e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oleObject" Target="../embeddings/oleObject43.bin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e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93.emf"/><Relationship Id="rId9" Type="http://schemas.openxmlformats.org/officeDocument/2006/relationships/image" Target="../media/image9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emf"/><Relationship Id="rId13" Type="http://schemas.openxmlformats.org/officeDocument/2006/relationships/oleObject" Target="../embeddings/oleObject49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100.emf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e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6.bin"/><Relationship Id="rId15" Type="http://schemas.openxmlformats.org/officeDocument/2006/relationships/image" Target="../media/image102.png"/><Relationship Id="rId10" Type="http://schemas.openxmlformats.org/officeDocument/2006/relationships/image" Target="../media/image6.png"/><Relationship Id="rId4" Type="http://schemas.openxmlformats.org/officeDocument/2006/relationships/image" Target="../media/image97.emf"/><Relationship Id="rId9" Type="http://schemas.openxmlformats.org/officeDocument/2006/relationships/image" Target="../media/image5.png"/><Relationship Id="rId14" Type="http://schemas.openxmlformats.org/officeDocument/2006/relationships/image" Target="../media/image101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1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/>
          </p:cNvSpPr>
          <p:nvPr>
            <p:ph type="title"/>
          </p:nvPr>
        </p:nvSpPr>
        <p:spPr>
          <a:xfrm>
            <a:off x="87313" y="836613"/>
            <a:ext cx="8229600" cy="431800"/>
          </a:xfrm>
          <a:noFill/>
          <a:ln>
            <a:noFill/>
          </a:ln>
        </p:spPr>
        <p:txBody>
          <a:bodyPr/>
          <a:lstStyle/>
          <a:p>
            <a:pPr algn="ctr" eaLnBrk="1" hangingPunct="1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4. 5   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时谐电磁场</a:t>
            </a:r>
            <a:r>
              <a:rPr lang="zh-CN" altLang="en-US" sz="1800" dirty="0">
                <a:ea typeface="幼圆" panose="02010509060101010101" pitchFamily="49" charset="-122"/>
              </a:rPr>
              <a:t> </a:t>
            </a:r>
          </a:p>
        </p:txBody>
      </p:sp>
      <p:sp>
        <p:nvSpPr>
          <p:cNvPr id="53252" name="Rectangle 23"/>
          <p:cNvSpPr/>
          <p:nvPr/>
        </p:nvSpPr>
        <p:spPr>
          <a:xfrm>
            <a:off x="34925" y="1773238"/>
            <a:ext cx="4752975" cy="4219575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990000"/>
                </a:solidFill>
                <a:latin typeface="Arial" panose="020B0604020202020204" pitchFamily="34" charset="0"/>
                <a:ea typeface="楷体_GB2312" pitchFamily="49" charset="-122"/>
              </a:rPr>
              <a:t>                </a:t>
            </a:r>
            <a:r>
              <a:rPr lang="zh-CN" altLang="en-US" sz="2800" dirty="0">
                <a:solidFill>
                  <a:srgbClr val="99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本节内容</a:t>
            </a:r>
            <a:endParaRPr lang="zh-CN" altLang="en-US" sz="28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4.5.1  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hlinkClick r:id="rId4" action="ppaction://hlinksldjump"/>
              </a:rPr>
              <a:t>时谐电磁场的复数表示</a:t>
            </a:r>
            <a:endParaRPr lang="zh-CN" altLang="en-US" b="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4.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5.2  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hlinkClick r:id="" action="ppaction://noaction"/>
              </a:rPr>
              <a:t>复矢量的麦克斯韦方程</a:t>
            </a:r>
            <a:endParaRPr lang="zh-CN" altLang="en-US" u="sng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4.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5.3  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hlinkClick r:id="rId5" action="ppaction://hlinksldjump"/>
              </a:rPr>
              <a:t>复介电常数和复磁导率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         （各种介质都存在损耗）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4.5.4  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hlinkClick r:id="rId6" action="ppaction://hlinksldjump"/>
              </a:rPr>
              <a:t>亥姆霍兹方程</a:t>
            </a:r>
            <a:endParaRPr lang="zh-CN" altLang="en-US" b="0" dirty="0">
              <a:solidFill>
                <a:schemeClr val="bg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4.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5.5  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hlinkClick r:id="rId7" action="ppaction://hlinksldjump"/>
              </a:rPr>
              <a:t>时谐场的位函数</a:t>
            </a:r>
            <a:endParaRPr lang="zh-CN" altLang="en-US" u="sng" dirty="0">
              <a:solidFill>
                <a:schemeClr val="bg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4.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5.6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hlinkClick r:id="rId8" action="ppaction://hlinksldjump"/>
              </a:rPr>
              <a:t>平均能流密度矢量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53253" name="Object 15"/>
          <p:cNvGraphicFramePr>
            <a:graphicFrameLocks noChangeAspect="1"/>
          </p:cNvGraphicFramePr>
          <p:nvPr/>
        </p:nvGraphicFramePr>
        <p:xfrm>
          <a:off x="4789488" y="2897188"/>
          <a:ext cx="215900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854075" imgH="292100" progId="Equation.3">
                  <p:embed/>
                </p:oleObj>
              </mc:Choice>
              <mc:Fallback>
                <p:oleObj r:id="rId9" imgW="854075" imgH="292100" progId="Equation.3">
                  <p:embed/>
                  <p:pic>
                    <p:nvPicPr>
                      <p:cNvPr id="53253" name="Object 1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89488" y="2897188"/>
                        <a:ext cx="2159000" cy="1035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2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594724"/>
              </p:ext>
            </p:extLst>
          </p:nvPr>
        </p:nvGraphicFramePr>
        <p:xfrm>
          <a:off x="4787900" y="2348879"/>
          <a:ext cx="4176713" cy="1656383"/>
        </p:xfrm>
        <a:graphic>
          <a:graphicData uri="http://schemas.openxmlformats.org/drawingml/2006/table">
            <a:tbl>
              <a:tblPr/>
              <a:tblGrid>
                <a:gridCol w="2306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37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时域（实数表示）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99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频域（复数表示）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FF99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26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3265" name="Object 15"/>
          <p:cNvGraphicFramePr>
            <a:graphicFrameLocks noChangeAspect="1"/>
          </p:cNvGraphicFramePr>
          <p:nvPr/>
        </p:nvGraphicFramePr>
        <p:xfrm>
          <a:off x="7092950" y="2924175"/>
          <a:ext cx="1898650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749300" imgH="269875" progId="Equation.3">
                  <p:embed/>
                </p:oleObj>
              </mc:Choice>
              <mc:Fallback>
                <p:oleObj r:id="rId11" imgW="749300" imgH="269875" progId="Equation.3">
                  <p:embed/>
                  <p:pic>
                    <p:nvPicPr>
                      <p:cNvPr id="53265" name="Object 15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092950" y="2924175"/>
                        <a:ext cx="1898650" cy="969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356100" y="4220845"/>
            <a:ext cx="471043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2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48550" name="Text Box 6"/>
          <p:cNvSpPr txBox="1"/>
          <p:nvPr/>
        </p:nvSpPr>
        <p:spPr>
          <a:xfrm>
            <a:off x="107950" y="1092200"/>
            <a:ext cx="44640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3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时谐电磁场的概念</a:t>
            </a:r>
          </a:p>
        </p:txBody>
      </p:sp>
      <p:sp>
        <p:nvSpPr>
          <p:cNvPr id="748553" name="Rectangle 9"/>
          <p:cNvSpPr/>
          <p:nvPr/>
        </p:nvSpPr>
        <p:spPr>
          <a:xfrm>
            <a:off x="71438" y="1582738"/>
            <a:ext cx="8964612" cy="19907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>
              <a:lnSpc>
                <a:spcPct val="130000"/>
              </a:lnSpc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如果场源以一定的角频率随时间呈时谐（正弦或余弦）变化，则所产生的电磁场也以同样的角频率随时间呈时谐变化。这种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以一定角频率作时谐变化的电磁场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，称为时谐电磁场或正弦电磁场。</a:t>
            </a:r>
          </a:p>
        </p:txBody>
      </p:sp>
      <p:sp>
        <p:nvSpPr>
          <p:cNvPr id="748556" name="Text Box 12"/>
          <p:cNvSpPr txBox="1"/>
          <p:nvPr/>
        </p:nvSpPr>
        <p:spPr>
          <a:xfrm>
            <a:off x="63500" y="3763963"/>
            <a:ext cx="52562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3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研究时谐电磁场的重要意义</a:t>
            </a:r>
          </a:p>
        </p:txBody>
      </p:sp>
      <p:sp>
        <p:nvSpPr>
          <p:cNvPr id="748557" name="Text Box 13"/>
          <p:cNvSpPr txBox="1"/>
          <p:nvPr/>
        </p:nvSpPr>
        <p:spPr>
          <a:xfrm>
            <a:off x="93663" y="4302125"/>
            <a:ext cx="8856662" cy="104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buBlip>
                <a:blip r:embed="rId4"/>
              </a:buBlip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在工程上，应用最多的就是时谐电磁场。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广播、电视和通信</a:t>
            </a:r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    的载波等都是时谐电磁场。</a:t>
            </a:r>
          </a:p>
        </p:txBody>
      </p:sp>
      <p:sp>
        <p:nvSpPr>
          <p:cNvPr id="748558" name="Text Box 14"/>
          <p:cNvSpPr txBox="1"/>
          <p:nvPr/>
        </p:nvSpPr>
        <p:spPr>
          <a:xfrm>
            <a:off x="79375" y="5340350"/>
            <a:ext cx="9036050" cy="104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buBlip>
                <a:blip r:embed="rId4"/>
              </a:buBlip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任意的时变场在一定的条件下可通过傅里叶分析方法展开为不</a:t>
            </a:r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      同频率的时谐场的叠加。</a:t>
            </a:r>
          </a:p>
        </p:txBody>
      </p:sp>
      <p:sp>
        <p:nvSpPr>
          <p:cNvPr id="748559" name="Text Box 15"/>
          <p:cNvSpPr txBox="1"/>
          <p:nvPr/>
        </p:nvSpPr>
        <p:spPr>
          <a:xfrm>
            <a:off x="107950" y="523875"/>
            <a:ext cx="49688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4.5.1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时谐电磁场的复数表示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48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0"/>
                                        <p:tgtEl>
                                          <p:spTgt spid="74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4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48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748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748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8550" grpId="0"/>
      <p:bldP spid="748553" grpId="0"/>
      <p:bldP spid="748556" grpId="0"/>
      <p:bldP spid="748557" grpId="0"/>
      <p:bldP spid="748558" grpId="0"/>
      <p:bldP spid="74855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FB9B2082-6DE6-F483-D3C2-14AA614D4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543" y="5147558"/>
            <a:ext cx="1752349" cy="600805"/>
          </a:xfrm>
          <a:prstGeom prst="rect">
            <a:avLst/>
          </a:prstGeom>
        </p:spPr>
      </p:pic>
      <p:sp>
        <p:nvSpPr>
          <p:cNvPr id="57365" name="Text Box 14"/>
          <p:cNvSpPr txBox="1"/>
          <p:nvPr/>
        </p:nvSpPr>
        <p:spPr>
          <a:xfrm>
            <a:off x="28561" y="3943399"/>
            <a:ext cx="8534400" cy="493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式中的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baseline="-30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为振幅、       为与坐标有关的相位因子。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98E28AF-F843-7062-1E7B-0BC97390D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3" y="4365104"/>
            <a:ext cx="4284770" cy="63580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4947CE2-130C-D494-361F-F974B56609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9820" y="4382543"/>
            <a:ext cx="4734180" cy="62698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E5E2C8B-126D-8651-C0C9-54384FE6DA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8100" y="5828682"/>
            <a:ext cx="2436962" cy="641306"/>
          </a:xfrm>
          <a:prstGeom prst="rect">
            <a:avLst/>
          </a:prstGeom>
        </p:spPr>
      </p:pic>
      <p:sp>
        <p:nvSpPr>
          <p:cNvPr id="57346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3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73129" name="Rectangle 9"/>
          <p:cNvSpPr/>
          <p:nvPr/>
        </p:nvSpPr>
        <p:spPr>
          <a:xfrm>
            <a:off x="179388" y="743566"/>
            <a:ext cx="8964612" cy="1041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>
              <a:lnSpc>
                <a:spcPct val="13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  </a:t>
            </a: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时谐电磁场可用复数方法来表示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，使得大多数时谐电磁场问题的分析得以简化。</a:t>
            </a:r>
          </a:p>
        </p:txBody>
      </p:sp>
      <p:sp>
        <p:nvSpPr>
          <p:cNvPr id="57369" name="Text Box 11"/>
          <p:cNvSpPr txBox="1"/>
          <p:nvPr/>
        </p:nvSpPr>
        <p:spPr>
          <a:xfrm>
            <a:off x="107950" y="1748454"/>
            <a:ext cx="8893175" cy="15160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　  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设　　　 是一个以角频率</a:t>
            </a:r>
            <a:r>
              <a:rPr lang="zh-CN" altLang="en-US" i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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随时间</a:t>
            </a:r>
            <a:r>
              <a:rPr lang="en-US" altLang="zh-CN" i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t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作正弦变化的场量，它可以是电场和磁场的任意一个分量，也可以是电荷或电流等变量，它与时间的关系可以表示成：</a:t>
            </a:r>
          </a:p>
        </p:txBody>
      </p:sp>
      <p:sp>
        <p:nvSpPr>
          <p:cNvPr id="773143" name="AutoShape 23"/>
          <p:cNvSpPr/>
          <p:nvPr/>
        </p:nvSpPr>
        <p:spPr>
          <a:xfrm>
            <a:off x="5005786" y="5256798"/>
            <a:ext cx="576064" cy="420687"/>
          </a:xfrm>
          <a:prstGeom prst="wedgeRoundRectCallout">
            <a:avLst>
              <a:gd name="adj1" fmla="val -34222"/>
              <a:gd name="adj2" fmla="val -73707"/>
              <a:gd name="adj3" fmla="val 16667"/>
            </a:avLst>
          </a:prstGeom>
          <a:noFill/>
          <a:ln w="28575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1" hangingPunct="1"/>
            <a:endParaRPr lang="zh-CN" altLang="zh-CN" sz="1800" b="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773144" name="Text Box 24"/>
          <p:cNvSpPr txBox="1"/>
          <p:nvPr/>
        </p:nvSpPr>
        <p:spPr>
          <a:xfrm>
            <a:off x="4602564" y="4896877"/>
            <a:ext cx="151923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fontAlgn="ctr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时间因子</a:t>
            </a:r>
          </a:p>
        </p:txBody>
      </p:sp>
      <p:sp>
        <p:nvSpPr>
          <p:cNvPr id="773166" name="Text Box 46"/>
          <p:cNvSpPr txBox="1"/>
          <p:nvPr/>
        </p:nvSpPr>
        <p:spPr>
          <a:xfrm>
            <a:off x="107950" y="404813"/>
            <a:ext cx="44640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7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时谐电磁场的复数表示</a:t>
            </a:r>
          </a:p>
        </p:txBody>
      </p:sp>
      <p:sp>
        <p:nvSpPr>
          <p:cNvPr id="773171" name="AutoShape 51"/>
          <p:cNvSpPr/>
          <p:nvPr/>
        </p:nvSpPr>
        <p:spPr>
          <a:xfrm>
            <a:off x="5608310" y="5211098"/>
            <a:ext cx="676678" cy="431800"/>
          </a:xfrm>
          <a:prstGeom prst="wedgeRoundRectCallout">
            <a:avLst>
              <a:gd name="adj1" fmla="val 74863"/>
              <a:gd name="adj2" fmla="val -39199"/>
              <a:gd name="adj3" fmla="val 16667"/>
            </a:avLst>
          </a:prstGeom>
          <a:noFill/>
          <a:ln w="28575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1" hangingPunct="1"/>
            <a:endParaRPr lang="zh-CN" altLang="zh-CN" sz="1800" b="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773172" name="Text Box 52"/>
          <p:cNvSpPr txBox="1"/>
          <p:nvPr/>
        </p:nvSpPr>
        <p:spPr>
          <a:xfrm>
            <a:off x="5941591" y="4896878"/>
            <a:ext cx="15827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fontAlgn="ctr" hangingPunct="1">
              <a:spcBef>
                <a:spcPct val="50000"/>
              </a:spcBef>
            </a:pP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初相因子</a:t>
            </a:r>
          </a:p>
        </p:txBody>
      </p:sp>
      <p:sp>
        <p:nvSpPr>
          <p:cNvPr id="773173" name="Text Box 53"/>
          <p:cNvSpPr txBox="1"/>
          <p:nvPr/>
        </p:nvSpPr>
        <p:spPr>
          <a:xfrm>
            <a:off x="363531" y="3335954"/>
            <a:ext cx="3996862" cy="52501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30000"/>
              </a:lnSpc>
              <a:buBlip>
                <a:blip r:embed="rId8"/>
              </a:buBlip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实数表示法（瞬时表示法）</a:t>
            </a:r>
          </a:p>
        </p:txBody>
      </p:sp>
      <p:sp>
        <p:nvSpPr>
          <p:cNvPr id="773174" name="Text Box 54"/>
          <p:cNvSpPr txBox="1"/>
          <p:nvPr/>
        </p:nvSpPr>
        <p:spPr>
          <a:xfrm>
            <a:off x="0" y="5166322"/>
            <a:ext cx="4067196" cy="52501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30000"/>
              </a:lnSpc>
              <a:buBlip>
                <a:blip r:embed="rId8"/>
              </a:buBlip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复数完整表示法（三要素）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A824B91-DBD7-51A8-B617-73EEE412F7C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9820" y="3383692"/>
            <a:ext cx="3913443" cy="52680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B5A98EF-F728-A3AF-C451-E9289D9077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7442" y="1825413"/>
            <a:ext cx="955182" cy="41934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3E66593-1DBB-5874-6B9A-28735A0CAE8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61962" y="3916533"/>
            <a:ext cx="676752" cy="520579"/>
          </a:xfrm>
          <a:prstGeom prst="rect">
            <a:avLst/>
          </a:prstGeom>
        </p:spPr>
      </p:pic>
      <p:sp>
        <p:nvSpPr>
          <p:cNvPr id="2" name="AutoShape 23">
            <a:extLst>
              <a:ext uri="{FF2B5EF4-FFF2-40B4-BE49-F238E27FC236}">
                <a16:creationId xmlns:a16="http://schemas.microsoft.com/office/drawing/2014/main" id="{19072DDA-C1F8-EDC4-27F2-3B01591A89DB}"/>
              </a:ext>
            </a:extLst>
          </p:cNvPr>
          <p:cNvSpPr/>
          <p:nvPr/>
        </p:nvSpPr>
        <p:spPr>
          <a:xfrm>
            <a:off x="4525582" y="5297383"/>
            <a:ext cx="482723" cy="420687"/>
          </a:xfrm>
          <a:prstGeom prst="wedgeRoundRectCallout">
            <a:avLst>
              <a:gd name="adj1" fmla="val -51018"/>
              <a:gd name="adj2" fmla="val -98278"/>
              <a:gd name="adj3" fmla="val 16667"/>
            </a:avLst>
          </a:prstGeom>
          <a:noFill/>
          <a:ln w="28575" cap="flat" cmpd="sng">
            <a:solidFill>
              <a:srgbClr val="FF99CC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1" hangingPunct="1"/>
            <a:endParaRPr lang="zh-CN" altLang="zh-CN" sz="1800" b="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8" name="AutoShape 23">
            <a:extLst>
              <a:ext uri="{FF2B5EF4-FFF2-40B4-BE49-F238E27FC236}">
                <a16:creationId xmlns:a16="http://schemas.microsoft.com/office/drawing/2014/main" id="{1CD07366-C57B-EE54-74F2-28BB396DC18C}"/>
              </a:ext>
            </a:extLst>
          </p:cNvPr>
          <p:cNvSpPr/>
          <p:nvPr/>
        </p:nvSpPr>
        <p:spPr>
          <a:xfrm>
            <a:off x="6877050" y="3460346"/>
            <a:ext cx="209617" cy="420687"/>
          </a:xfrm>
          <a:prstGeom prst="wedgeRoundRectCallout">
            <a:avLst>
              <a:gd name="adj1" fmla="val -8192"/>
              <a:gd name="adj2" fmla="val -105839"/>
              <a:gd name="adj3" fmla="val 16667"/>
            </a:avLst>
          </a:prstGeom>
          <a:noFill/>
          <a:ln w="28575" cap="flat" cmpd="sng">
            <a:solidFill>
              <a:srgbClr val="FF99CC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1" hangingPunct="1"/>
            <a:endParaRPr lang="zh-CN" altLang="zh-CN" sz="1800" b="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10" name="AutoShape 23">
            <a:extLst>
              <a:ext uri="{FF2B5EF4-FFF2-40B4-BE49-F238E27FC236}">
                <a16:creationId xmlns:a16="http://schemas.microsoft.com/office/drawing/2014/main" id="{3A936638-8FAC-43EB-5FF1-6CDC9148DD23}"/>
              </a:ext>
            </a:extLst>
          </p:cNvPr>
          <p:cNvSpPr/>
          <p:nvPr/>
        </p:nvSpPr>
        <p:spPr>
          <a:xfrm>
            <a:off x="7567419" y="3465906"/>
            <a:ext cx="676989" cy="420687"/>
          </a:xfrm>
          <a:prstGeom prst="wedgeRoundRectCallout">
            <a:avLst>
              <a:gd name="adj1" fmla="val -8192"/>
              <a:gd name="adj2" fmla="val -105839"/>
              <a:gd name="adj3" fmla="val 16667"/>
            </a:avLst>
          </a:prstGeom>
          <a:noFill/>
          <a:ln w="28575" cap="flat" cmpd="sng">
            <a:solidFill>
              <a:srgbClr val="FF99CC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1" hangingPunct="1"/>
            <a:endParaRPr lang="zh-CN" altLang="zh-CN" sz="1800" b="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13" name="Text Box 24">
            <a:extLst>
              <a:ext uri="{FF2B5EF4-FFF2-40B4-BE49-F238E27FC236}">
                <a16:creationId xmlns:a16="http://schemas.microsoft.com/office/drawing/2014/main" id="{01F4449A-82AA-ED9A-631C-F2F2AE502AD5}"/>
              </a:ext>
            </a:extLst>
          </p:cNvPr>
          <p:cNvSpPr txBox="1"/>
          <p:nvPr/>
        </p:nvSpPr>
        <p:spPr>
          <a:xfrm>
            <a:off x="3867549" y="4858652"/>
            <a:ext cx="756084" cy="3968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 eaLnBrk="1" fontAlgn="ctr" hangingPunct="1">
              <a:spcBef>
                <a:spcPct val="50000"/>
              </a:spcBef>
              <a:defRPr sz="2000">
                <a:solidFill>
                  <a:srgbClr val="FF99CC"/>
                </a:solidFill>
              </a:defRPr>
            </a:lvl1pPr>
          </a:lstStyle>
          <a:p>
            <a:r>
              <a:rPr lang="zh-CN" altLang="en-US" dirty="0"/>
              <a:t>振幅</a:t>
            </a:r>
          </a:p>
        </p:txBody>
      </p:sp>
      <p:sp>
        <p:nvSpPr>
          <p:cNvPr id="14" name="Text Box 24">
            <a:extLst>
              <a:ext uri="{FF2B5EF4-FFF2-40B4-BE49-F238E27FC236}">
                <a16:creationId xmlns:a16="http://schemas.microsoft.com/office/drawing/2014/main" id="{969393AF-A717-8F48-8AB2-DDFEFB7B6264}"/>
              </a:ext>
            </a:extLst>
          </p:cNvPr>
          <p:cNvSpPr txBox="1"/>
          <p:nvPr/>
        </p:nvSpPr>
        <p:spPr>
          <a:xfrm>
            <a:off x="6366541" y="2790238"/>
            <a:ext cx="1095712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 eaLnBrk="1" fontAlgn="ctr" hangingPunct="1">
              <a:spcBef>
                <a:spcPct val="50000"/>
              </a:spcBef>
              <a:defRPr sz="2000">
                <a:solidFill>
                  <a:srgbClr val="FF99CC"/>
                </a:solidFill>
              </a:defRPr>
            </a:lvl1pPr>
          </a:lstStyle>
          <a:p>
            <a:r>
              <a:rPr lang="zh-CN" altLang="en-US" dirty="0"/>
              <a:t>角频率</a:t>
            </a:r>
          </a:p>
        </p:txBody>
      </p:sp>
      <p:sp>
        <p:nvSpPr>
          <p:cNvPr id="15" name="Text Box 24">
            <a:extLst>
              <a:ext uri="{FF2B5EF4-FFF2-40B4-BE49-F238E27FC236}">
                <a16:creationId xmlns:a16="http://schemas.microsoft.com/office/drawing/2014/main" id="{430211DB-AB4D-DD1E-7ADA-177D4E4E4D9C}"/>
              </a:ext>
            </a:extLst>
          </p:cNvPr>
          <p:cNvSpPr txBox="1"/>
          <p:nvPr/>
        </p:nvSpPr>
        <p:spPr>
          <a:xfrm>
            <a:off x="7668344" y="2790238"/>
            <a:ext cx="756084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 eaLnBrk="1" fontAlgn="ctr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FF99CC"/>
                </a:solidFill>
                <a:latin typeface="Times New Roman" panose="02020603050405020304" pitchFamily="18" charset="0"/>
              </a:rPr>
              <a:t>初相</a:t>
            </a:r>
          </a:p>
        </p:txBody>
      </p:sp>
      <p:sp>
        <p:nvSpPr>
          <p:cNvPr id="25" name="Text Box 54">
            <a:extLst>
              <a:ext uri="{FF2B5EF4-FFF2-40B4-BE49-F238E27FC236}">
                <a16:creationId xmlns:a16="http://schemas.microsoft.com/office/drawing/2014/main" id="{4B3A9C25-6AAA-6E15-1026-67A02F18B2B7}"/>
              </a:ext>
            </a:extLst>
          </p:cNvPr>
          <p:cNvSpPr txBox="1"/>
          <p:nvPr/>
        </p:nvSpPr>
        <p:spPr>
          <a:xfrm>
            <a:off x="15473" y="5854720"/>
            <a:ext cx="5893442" cy="52501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30000"/>
              </a:lnSpc>
              <a:buBlip>
                <a:blip r:embed="rId8"/>
              </a:buBlip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复振幅表示法（二要素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缺时间因子） </a:t>
            </a:r>
          </a:p>
        </p:txBody>
      </p:sp>
      <p:sp>
        <p:nvSpPr>
          <p:cNvPr id="26" name="Text Box 24">
            <a:extLst>
              <a:ext uri="{FF2B5EF4-FFF2-40B4-BE49-F238E27FC236}">
                <a16:creationId xmlns:a16="http://schemas.microsoft.com/office/drawing/2014/main" id="{DA0CC6DA-99B5-4EEC-FE68-CB5740ECE411}"/>
              </a:ext>
            </a:extLst>
          </p:cNvPr>
          <p:cNvSpPr txBox="1"/>
          <p:nvPr/>
        </p:nvSpPr>
        <p:spPr>
          <a:xfrm>
            <a:off x="5580112" y="2794356"/>
            <a:ext cx="756084" cy="3968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 eaLnBrk="1" fontAlgn="ctr" hangingPunct="1">
              <a:spcBef>
                <a:spcPct val="50000"/>
              </a:spcBef>
              <a:defRPr sz="2000">
                <a:solidFill>
                  <a:srgbClr val="FF99CC"/>
                </a:solidFill>
              </a:defRPr>
            </a:lvl1pPr>
          </a:lstStyle>
          <a:p>
            <a:r>
              <a:rPr lang="zh-CN" altLang="en-US" dirty="0"/>
              <a:t>振幅</a:t>
            </a:r>
          </a:p>
        </p:txBody>
      </p:sp>
      <p:sp>
        <p:nvSpPr>
          <p:cNvPr id="27" name="AutoShape 23">
            <a:extLst>
              <a:ext uri="{FF2B5EF4-FFF2-40B4-BE49-F238E27FC236}">
                <a16:creationId xmlns:a16="http://schemas.microsoft.com/office/drawing/2014/main" id="{707D9BBB-99A6-3BF3-6207-93C70E939FDA}"/>
              </a:ext>
            </a:extLst>
          </p:cNvPr>
          <p:cNvSpPr/>
          <p:nvPr/>
        </p:nvSpPr>
        <p:spPr>
          <a:xfrm>
            <a:off x="5750747" y="3440283"/>
            <a:ext cx="477438" cy="420687"/>
          </a:xfrm>
          <a:prstGeom prst="wedgeRoundRectCallout">
            <a:avLst>
              <a:gd name="adj1" fmla="val -11048"/>
              <a:gd name="adj2" fmla="val -100168"/>
              <a:gd name="adj3" fmla="val 16667"/>
            </a:avLst>
          </a:prstGeom>
          <a:noFill/>
          <a:ln w="28575" cap="flat" cmpd="sng">
            <a:solidFill>
              <a:srgbClr val="FF99CC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1" hangingPunct="1"/>
            <a:endParaRPr lang="zh-CN" altLang="zh-CN" sz="1800" b="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28" name="AutoShape 51">
            <a:extLst>
              <a:ext uri="{FF2B5EF4-FFF2-40B4-BE49-F238E27FC236}">
                <a16:creationId xmlns:a16="http://schemas.microsoft.com/office/drawing/2014/main" id="{1D8CACBA-C26E-931F-FEA5-83D30EC5B413}"/>
              </a:ext>
            </a:extLst>
          </p:cNvPr>
          <p:cNvSpPr/>
          <p:nvPr/>
        </p:nvSpPr>
        <p:spPr>
          <a:xfrm>
            <a:off x="7206267" y="5952644"/>
            <a:ext cx="676678" cy="431800"/>
          </a:xfrm>
          <a:prstGeom prst="wedgeRoundRectCallout">
            <a:avLst>
              <a:gd name="adj1" fmla="val 74863"/>
              <a:gd name="adj2" fmla="val -39199"/>
              <a:gd name="adj3" fmla="val 16667"/>
            </a:avLst>
          </a:prstGeom>
          <a:noFill/>
          <a:ln w="28575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1" hangingPunct="1"/>
            <a:endParaRPr lang="zh-CN" altLang="zh-CN" sz="1800" b="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29" name="Text Box 52">
            <a:extLst>
              <a:ext uri="{FF2B5EF4-FFF2-40B4-BE49-F238E27FC236}">
                <a16:creationId xmlns:a16="http://schemas.microsoft.com/office/drawing/2014/main" id="{04499573-56DC-8C90-F05F-1772984C2FDA}"/>
              </a:ext>
            </a:extLst>
          </p:cNvPr>
          <p:cNvSpPr txBox="1"/>
          <p:nvPr/>
        </p:nvSpPr>
        <p:spPr>
          <a:xfrm>
            <a:off x="7669783" y="5663655"/>
            <a:ext cx="15827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fontAlgn="ctr" hangingPunct="1">
              <a:spcBef>
                <a:spcPct val="50000"/>
              </a:spcBef>
            </a:pP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初相因子</a:t>
            </a:r>
          </a:p>
        </p:txBody>
      </p:sp>
      <p:sp>
        <p:nvSpPr>
          <p:cNvPr id="30" name="AutoShape 23">
            <a:extLst>
              <a:ext uri="{FF2B5EF4-FFF2-40B4-BE49-F238E27FC236}">
                <a16:creationId xmlns:a16="http://schemas.microsoft.com/office/drawing/2014/main" id="{C1B04BF2-9E25-5AB1-3F3C-3138834C79ED}"/>
              </a:ext>
            </a:extLst>
          </p:cNvPr>
          <p:cNvSpPr/>
          <p:nvPr/>
        </p:nvSpPr>
        <p:spPr>
          <a:xfrm>
            <a:off x="6794650" y="6028154"/>
            <a:ext cx="430752" cy="420687"/>
          </a:xfrm>
          <a:prstGeom prst="wedgeRoundRectCallout">
            <a:avLst>
              <a:gd name="adj1" fmla="val -85712"/>
              <a:gd name="adj2" fmla="val -51026"/>
              <a:gd name="adj3" fmla="val 16667"/>
            </a:avLst>
          </a:prstGeom>
          <a:noFill/>
          <a:ln w="28575" cap="flat" cmpd="sng">
            <a:solidFill>
              <a:srgbClr val="FF99CC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1" hangingPunct="1"/>
            <a:endParaRPr lang="zh-CN" altLang="zh-CN" sz="1800" b="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31" name="Text Box 24">
            <a:extLst>
              <a:ext uri="{FF2B5EF4-FFF2-40B4-BE49-F238E27FC236}">
                <a16:creationId xmlns:a16="http://schemas.microsoft.com/office/drawing/2014/main" id="{1FDB1610-5676-E594-5552-46B40ACC05C1}"/>
              </a:ext>
            </a:extLst>
          </p:cNvPr>
          <p:cNvSpPr txBox="1"/>
          <p:nvPr/>
        </p:nvSpPr>
        <p:spPr>
          <a:xfrm>
            <a:off x="6305678" y="5666527"/>
            <a:ext cx="756084" cy="3968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 eaLnBrk="1" fontAlgn="ctr" hangingPunct="1">
              <a:spcBef>
                <a:spcPct val="50000"/>
              </a:spcBef>
              <a:defRPr sz="2000">
                <a:solidFill>
                  <a:srgbClr val="FF99CC"/>
                </a:solidFill>
              </a:defRPr>
            </a:lvl1pPr>
          </a:lstStyle>
          <a:p>
            <a:r>
              <a:rPr lang="zh-CN" altLang="en-US" dirty="0"/>
              <a:t>振幅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F58A866-F66B-B827-1680-BE658615E38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1061" y="5247935"/>
            <a:ext cx="2181225" cy="400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73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7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73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73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7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77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773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77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3129" grpId="0"/>
      <p:bldP spid="773143" grpId="0" animBg="1"/>
      <p:bldP spid="773144" grpId="0"/>
      <p:bldP spid="773166" grpId="0"/>
      <p:bldP spid="773171" grpId="0" animBg="1"/>
      <p:bldP spid="773172" grpId="0"/>
      <p:bldP spid="773173" grpId="0"/>
      <p:bldP spid="773174" grpId="0"/>
      <p:bldP spid="2" grpId="0" animBg="1"/>
      <p:bldP spid="8" grpId="0" animBg="1"/>
      <p:bldP spid="10" grpId="0" animBg="1"/>
      <p:bldP spid="13" grpId="0"/>
      <p:bldP spid="14" grpId="0"/>
      <p:bldP spid="15" grpId="0"/>
      <p:bldP spid="25" grpId="0"/>
      <p:bldP spid="26" grpId="0"/>
      <p:bldP spid="27" grpId="0" animBg="1"/>
      <p:bldP spid="28" grpId="0" animBg="1"/>
      <p:bldP spid="29" grpId="0"/>
      <p:bldP spid="30" grpId="0" animBg="1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1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4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graphicFrame>
        <p:nvGraphicFramePr>
          <p:cNvPr id="826370" name="Object 2"/>
          <p:cNvGraphicFramePr>
            <a:graphicFrameLocks noChangeAspect="1"/>
          </p:cNvGraphicFramePr>
          <p:nvPr/>
        </p:nvGraphicFramePr>
        <p:xfrm>
          <a:off x="1979613" y="2210435"/>
          <a:ext cx="3817937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54200" imgH="279400" progId="Equation.DSMT4">
                  <p:embed/>
                </p:oleObj>
              </mc:Choice>
              <mc:Fallback>
                <p:oleObj r:id="rId2" imgW="1854200" imgH="279400" progId="Equation.DSMT4">
                  <p:embed/>
                  <p:pic>
                    <p:nvPicPr>
                      <p:cNvPr id="826370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79613" y="2210435"/>
                        <a:ext cx="3817937" cy="5730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6371" name="Text Box 3"/>
          <p:cNvSpPr txBox="1"/>
          <p:nvPr/>
        </p:nvSpPr>
        <p:spPr>
          <a:xfrm>
            <a:off x="6343650" y="2265998"/>
            <a:ext cx="18859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fontAlgn="ctr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瞬时表示法</a:t>
            </a:r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826374" name="Object 6"/>
          <p:cNvGraphicFramePr>
            <a:graphicFrameLocks noChangeAspect="1"/>
          </p:cNvGraphicFramePr>
          <p:nvPr/>
        </p:nvGraphicFramePr>
        <p:xfrm>
          <a:off x="2444433" y="2957513"/>
          <a:ext cx="299402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71600" imgH="292100" progId="Equation.DSMT4">
                  <p:embed/>
                </p:oleObj>
              </mc:Choice>
              <mc:Fallback>
                <p:oleObj r:id="rId4" imgW="1371600" imgH="292100" progId="Equation.DSMT4">
                  <p:embed/>
                  <p:pic>
                    <p:nvPicPr>
                      <p:cNvPr id="826374" name="Objec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44433" y="2957513"/>
                        <a:ext cx="2994025" cy="6445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6375" name="Text Box 7"/>
          <p:cNvSpPr txBox="1"/>
          <p:nvPr/>
        </p:nvSpPr>
        <p:spPr>
          <a:xfrm>
            <a:off x="6353175" y="2890838"/>
            <a:ext cx="2611312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eaLnBrk="1" fontAlgn="ctr" hangingPunct="1">
              <a:spcBef>
                <a:spcPct val="50000"/>
              </a:spcBef>
            </a:pP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含时间因子的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复数完整表示法</a:t>
            </a:r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826378" name="Object 10"/>
          <p:cNvGraphicFramePr>
            <a:graphicFrameLocks noChangeAspect="1"/>
          </p:cNvGraphicFramePr>
          <p:nvPr/>
        </p:nvGraphicFramePr>
        <p:xfrm>
          <a:off x="2813050" y="3814128"/>
          <a:ext cx="22891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54100" imgH="279400" progId="Equation.DSMT4">
                  <p:embed/>
                </p:oleObj>
              </mc:Choice>
              <mc:Fallback>
                <p:oleObj r:id="rId6" imgW="1054100" imgH="279400" progId="Equation.DSMT4">
                  <p:embed/>
                  <p:pic>
                    <p:nvPicPr>
                      <p:cNvPr id="826378" name="Object 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13050" y="3814128"/>
                        <a:ext cx="2289175" cy="6191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6379" name="Text Box 11"/>
          <p:cNvSpPr txBox="1"/>
          <p:nvPr/>
        </p:nvSpPr>
        <p:spPr>
          <a:xfrm>
            <a:off x="6334124" y="3755390"/>
            <a:ext cx="2630363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eaLnBrk="1" fontAlgn="ctr" hangingPunct="1">
              <a:spcBef>
                <a:spcPct val="50000"/>
              </a:spcBef>
            </a:pP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不含时间因子的</a:t>
            </a:r>
            <a:r>
              <a:rPr lang="zh-CN" altLang="en-US" dirty="0">
                <a:solidFill>
                  <a:srgbClr val="D60093"/>
                </a:solidFill>
                <a:latin typeface="楷体_GB2312" pitchFamily="49" charset="-122"/>
                <a:ea typeface="楷体_GB2312" pitchFamily="49" charset="-122"/>
              </a:rPr>
              <a:t>复振幅表示法 </a:t>
            </a:r>
          </a:p>
        </p:txBody>
      </p:sp>
      <p:graphicFrame>
        <p:nvGraphicFramePr>
          <p:cNvPr id="826382" name="Object 14"/>
          <p:cNvGraphicFramePr>
            <a:graphicFrameLocks noChangeAspect="1"/>
          </p:cNvGraphicFramePr>
          <p:nvPr/>
        </p:nvGraphicFramePr>
        <p:xfrm>
          <a:off x="2486025" y="4648835"/>
          <a:ext cx="295275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371600" imgH="292100" progId="Equation.DSMT4">
                  <p:embed/>
                </p:oleObj>
              </mc:Choice>
              <mc:Fallback>
                <p:oleObj r:id="rId8" imgW="1371600" imgH="292100" progId="Equation.DSMT4">
                  <p:embed/>
                  <p:pic>
                    <p:nvPicPr>
                      <p:cNvPr id="826382" name="Object 1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486025" y="4648835"/>
                        <a:ext cx="2952750" cy="6365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6383" name="Text Box 15"/>
          <p:cNvSpPr txBox="1"/>
          <p:nvPr/>
        </p:nvSpPr>
        <p:spPr>
          <a:xfrm>
            <a:off x="6334125" y="4823460"/>
            <a:ext cx="20764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fontAlgn="ctr" hangingPunct="1">
              <a:spcBef>
                <a:spcPct val="50000"/>
              </a:spcBef>
            </a:pPr>
            <a:r>
              <a:rPr lang="zh-CN" altLang="en-US" dirty="0">
                <a:solidFill>
                  <a:srgbClr val="D60093"/>
                </a:solidFill>
                <a:latin typeface="楷体_GB2312" pitchFamily="49" charset="-122"/>
                <a:ea typeface="楷体_GB2312" pitchFamily="49" charset="-122"/>
              </a:rPr>
              <a:t>恢复时间因子</a:t>
            </a:r>
          </a:p>
        </p:txBody>
      </p:sp>
      <p:sp>
        <p:nvSpPr>
          <p:cNvPr id="826386" name="Text Box 18"/>
          <p:cNvSpPr txBox="1"/>
          <p:nvPr/>
        </p:nvSpPr>
        <p:spPr>
          <a:xfrm>
            <a:off x="2652395" y="6130418"/>
            <a:ext cx="649160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eaLnBrk="1" fontAlgn="ctr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复数表达式取实部得到瞬时表示法，即瞬时场</a:t>
            </a:r>
          </a:p>
        </p:txBody>
      </p:sp>
      <p:graphicFrame>
        <p:nvGraphicFramePr>
          <p:cNvPr id="826387" name="Object 19"/>
          <p:cNvGraphicFramePr>
            <a:graphicFrameLocks noChangeAspect="1"/>
          </p:cNvGraphicFramePr>
          <p:nvPr/>
        </p:nvGraphicFramePr>
        <p:xfrm>
          <a:off x="254000" y="5415598"/>
          <a:ext cx="8609013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279900" imgH="355600" progId="Equation.DSMT4">
                  <p:embed/>
                </p:oleObj>
              </mc:Choice>
              <mc:Fallback>
                <p:oleObj r:id="rId10" imgW="4279900" imgH="355600" progId="Equation.DSMT4">
                  <p:embed/>
                  <p:pic>
                    <p:nvPicPr>
                      <p:cNvPr id="826387" name="Object 1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4000" y="5415598"/>
                        <a:ext cx="8609013" cy="7254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6391" name="AutoShape 23"/>
          <p:cNvSpPr/>
          <p:nvPr/>
        </p:nvSpPr>
        <p:spPr>
          <a:xfrm rot="10800000">
            <a:off x="5940425" y="2345373"/>
            <a:ext cx="415925" cy="288925"/>
          </a:xfrm>
          <a:prstGeom prst="leftArrow">
            <a:avLst>
              <a:gd name="adj1" fmla="val 50000"/>
              <a:gd name="adj2" fmla="val 35982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6395" name="AutoShape 27"/>
          <p:cNvSpPr/>
          <p:nvPr/>
        </p:nvSpPr>
        <p:spPr>
          <a:xfrm rot="10800000">
            <a:off x="5940425" y="3136900"/>
            <a:ext cx="415925" cy="288925"/>
          </a:xfrm>
          <a:prstGeom prst="leftArrow">
            <a:avLst>
              <a:gd name="adj1" fmla="val 50000"/>
              <a:gd name="adj2" fmla="val 35982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6396" name="AutoShape 28"/>
          <p:cNvSpPr/>
          <p:nvPr/>
        </p:nvSpPr>
        <p:spPr>
          <a:xfrm rot="10800000">
            <a:off x="5940425" y="4001453"/>
            <a:ext cx="415925" cy="288925"/>
          </a:xfrm>
          <a:prstGeom prst="leftArrow">
            <a:avLst>
              <a:gd name="adj1" fmla="val 50000"/>
              <a:gd name="adj2" fmla="val 35982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6397" name="AutoShape 29"/>
          <p:cNvSpPr/>
          <p:nvPr/>
        </p:nvSpPr>
        <p:spPr>
          <a:xfrm rot="10800000">
            <a:off x="5867400" y="4937760"/>
            <a:ext cx="415925" cy="288925"/>
          </a:xfrm>
          <a:prstGeom prst="leftArrow">
            <a:avLst>
              <a:gd name="adj1" fmla="val 50000"/>
              <a:gd name="adj2" fmla="val 35982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6398" name="AutoShape 30"/>
          <p:cNvSpPr/>
          <p:nvPr/>
        </p:nvSpPr>
        <p:spPr>
          <a:xfrm rot="10800000">
            <a:off x="2236470" y="6234113"/>
            <a:ext cx="415925" cy="288925"/>
          </a:xfrm>
          <a:prstGeom prst="leftArrow">
            <a:avLst>
              <a:gd name="adj1" fmla="val 50000"/>
              <a:gd name="adj2" fmla="val 35982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6390" name="Text Box 22"/>
          <p:cNvSpPr txBox="1"/>
          <p:nvPr/>
        </p:nvSpPr>
        <p:spPr>
          <a:xfrm>
            <a:off x="0" y="1700530"/>
            <a:ext cx="51320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buBlip>
                <a:blip r:embed="rId12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复数表示法与瞬时表示法的变换 </a:t>
            </a:r>
          </a:p>
        </p:txBody>
      </p:sp>
      <p:sp>
        <p:nvSpPr>
          <p:cNvPr id="20" name="AutoShape 23">
            <a:extLst>
              <a:ext uri="{FF2B5EF4-FFF2-40B4-BE49-F238E27FC236}">
                <a16:creationId xmlns:a16="http://schemas.microsoft.com/office/drawing/2014/main" id="{E3F9123A-3D85-4FC7-8642-B9B29981B9B1}"/>
              </a:ext>
            </a:extLst>
          </p:cNvPr>
          <p:cNvSpPr/>
          <p:nvPr/>
        </p:nvSpPr>
        <p:spPr>
          <a:xfrm>
            <a:off x="4067175" y="2265999"/>
            <a:ext cx="1710774" cy="475932"/>
          </a:xfrm>
          <a:prstGeom prst="wedgeRoundRectCallout">
            <a:avLst>
              <a:gd name="adj1" fmla="val -17955"/>
              <a:gd name="adj2" fmla="val 68301"/>
              <a:gd name="adj3" fmla="val 16667"/>
            </a:avLst>
          </a:prstGeom>
          <a:noFill/>
          <a:ln w="28575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1" hangingPunct="1"/>
            <a:endParaRPr lang="zh-CN" altLang="zh-CN" sz="1800" b="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21" name="AutoShape 23">
            <a:extLst>
              <a:ext uri="{FF2B5EF4-FFF2-40B4-BE49-F238E27FC236}">
                <a16:creationId xmlns:a16="http://schemas.microsoft.com/office/drawing/2014/main" id="{AE91F177-65AE-4F9A-8930-AE5161054298}"/>
              </a:ext>
            </a:extLst>
          </p:cNvPr>
          <p:cNvSpPr/>
          <p:nvPr/>
        </p:nvSpPr>
        <p:spPr>
          <a:xfrm>
            <a:off x="4452730" y="2939443"/>
            <a:ext cx="985728" cy="420687"/>
          </a:xfrm>
          <a:prstGeom prst="wedgeRoundRectCallout">
            <a:avLst>
              <a:gd name="adj1" fmla="val -19112"/>
              <a:gd name="adj2" fmla="val -71187"/>
              <a:gd name="adj3" fmla="val 16667"/>
            </a:avLst>
          </a:prstGeom>
          <a:noFill/>
          <a:ln w="28575" cap="flat" cmpd="sng">
            <a:solidFill>
              <a:srgbClr val="FF99CC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1" hangingPunct="1"/>
            <a:endParaRPr lang="zh-CN" altLang="zh-CN" sz="1800" b="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22" name="AutoShape 23">
            <a:extLst>
              <a:ext uri="{FF2B5EF4-FFF2-40B4-BE49-F238E27FC236}">
                <a16:creationId xmlns:a16="http://schemas.microsoft.com/office/drawing/2014/main" id="{6BC99B05-E115-4857-9916-EC3C40FC9153}"/>
              </a:ext>
            </a:extLst>
          </p:cNvPr>
          <p:cNvSpPr/>
          <p:nvPr/>
        </p:nvSpPr>
        <p:spPr>
          <a:xfrm>
            <a:off x="2633772" y="5416551"/>
            <a:ext cx="858108" cy="420687"/>
          </a:xfrm>
          <a:prstGeom prst="wedgeRoundRectCallout">
            <a:avLst>
              <a:gd name="adj1" fmla="val 457783"/>
              <a:gd name="adj2" fmla="val -6295"/>
              <a:gd name="adj3" fmla="val 16667"/>
            </a:avLst>
          </a:prstGeom>
          <a:noFill/>
          <a:ln w="28575" cap="flat" cmpd="sng">
            <a:solidFill>
              <a:srgbClr val="FF99CC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1" hangingPunct="1"/>
            <a:endParaRPr lang="zh-CN" altLang="zh-CN" sz="1800" b="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626A8E4B-4BAF-4E41-8B57-3C7CCDE8746B}"/>
              </a:ext>
            </a:extLst>
          </p:cNvPr>
          <p:cNvSpPr/>
          <p:nvPr/>
        </p:nvSpPr>
        <p:spPr>
          <a:xfrm>
            <a:off x="7236295" y="5469572"/>
            <a:ext cx="1655914" cy="640299"/>
          </a:xfrm>
          <a:prstGeom prst="wedgeRoundRectCallout">
            <a:avLst>
              <a:gd name="adj1" fmla="val -58290"/>
              <a:gd name="adj2" fmla="val -32094"/>
              <a:gd name="adj3" fmla="val 16667"/>
            </a:avLst>
          </a:prstGeom>
          <a:noFill/>
          <a:ln w="28575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1" hangingPunct="1"/>
            <a:endParaRPr lang="zh-CN" altLang="zh-CN" sz="1800" b="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5EC9F8-7495-5639-98D1-56AC94B8298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490959"/>
            <a:ext cx="9144000" cy="1167979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2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82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2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500"/>
                                        <p:tgtEl>
                                          <p:spTgt spid="826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2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826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26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9" dur="500"/>
                                        <p:tgtEl>
                                          <p:spTgt spid="826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2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82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2000"/>
                                        <p:tgtEl>
                                          <p:spTgt spid="82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2000"/>
                                        <p:tgtEl>
                                          <p:spTgt spid="82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2000"/>
                                        <p:tgtEl>
                                          <p:spTgt spid="82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2000"/>
                                        <p:tgtEl>
                                          <p:spTgt spid="82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2000"/>
                                        <p:tgtEl>
                                          <p:spTgt spid="82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95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2000"/>
                                        <p:tgtEl>
                                          <p:spTgt spid="82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6371" grpId="0"/>
      <p:bldP spid="826375" grpId="0"/>
      <p:bldP spid="826379" grpId="0"/>
      <p:bldP spid="826383" grpId="0"/>
      <p:bldP spid="826386" grpId="0"/>
      <p:bldP spid="826391" grpId="0" bldLvl="0" animBg="1"/>
      <p:bldP spid="826395" grpId="0" bldLvl="0" animBg="1"/>
      <p:bldP spid="826396" grpId="0" bldLvl="0" animBg="1"/>
      <p:bldP spid="826397" grpId="0" bldLvl="0" animBg="1"/>
      <p:bldP spid="826398" grpId="0" bldLvl="0" animBg="1"/>
      <p:bldP spid="826390" grpId="0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033C2B3-72DC-9FA9-B94B-BA1406E22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2251430"/>
            <a:ext cx="3744416" cy="577264"/>
          </a:xfrm>
          <a:prstGeom prst="rect">
            <a:avLst/>
          </a:prstGeom>
        </p:spPr>
      </p:pic>
      <p:sp>
        <p:nvSpPr>
          <p:cNvPr id="59394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5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56743" name="Text Box 7"/>
          <p:cNvSpPr txBox="1"/>
          <p:nvPr/>
        </p:nvSpPr>
        <p:spPr>
          <a:xfrm>
            <a:off x="142875" y="4462463"/>
            <a:ext cx="8893175" cy="5667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buBlip>
                <a:blip r:embed="rId4"/>
              </a:buBlip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复数式只是数学表示方式，</a:t>
            </a:r>
            <a:r>
              <a:rPr lang="zh-CN" altLang="en-US" u="sng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复数式不代表真实的场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756746" name="Text Box 10"/>
          <p:cNvSpPr txBox="1"/>
          <p:nvPr/>
        </p:nvSpPr>
        <p:spPr>
          <a:xfrm>
            <a:off x="539750" y="487363"/>
            <a:ext cx="7165975" cy="493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矢量场的各分量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i="1" baseline="-30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表示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或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）可表示成 </a:t>
            </a:r>
          </a:p>
        </p:txBody>
      </p:sp>
      <p:sp>
        <p:nvSpPr>
          <p:cNvPr id="756749" name="AutoShape 13"/>
          <p:cNvSpPr/>
          <p:nvPr/>
        </p:nvSpPr>
        <p:spPr>
          <a:xfrm>
            <a:off x="4788023" y="2173288"/>
            <a:ext cx="936501" cy="750887"/>
          </a:xfrm>
          <a:prstGeom prst="wedgeRectCallout">
            <a:avLst>
              <a:gd name="adj1" fmla="val -116028"/>
              <a:gd name="adj2" fmla="val 65222"/>
            </a:avLst>
          </a:prstGeom>
          <a:noFill/>
          <a:ln w="2857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1" hangingPunct="1"/>
            <a:endParaRPr lang="zh-CN" altLang="zh-CN" sz="1800" b="0" dirty="0">
              <a:latin typeface="Verdana" panose="020B0604030504040204" pitchFamily="34" charset="0"/>
            </a:endParaRPr>
          </a:p>
        </p:txBody>
      </p:sp>
      <p:sp>
        <p:nvSpPr>
          <p:cNvPr id="756751" name="Text Box 15"/>
          <p:cNvSpPr txBox="1"/>
          <p:nvPr/>
        </p:nvSpPr>
        <p:spPr>
          <a:xfrm>
            <a:off x="971550" y="1773238"/>
            <a:ext cx="7704138" cy="493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各分量合成以后的电场强度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56752" name="Text Box 16"/>
          <p:cNvSpPr txBox="1"/>
          <p:nvPr/>
        </p:nvSpPr>
        <p:spPr>
          <a:xfrm>
            <a:off x="34925" y="4005263"/>
            <a:ext cx="52562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5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进一步说明</a:t>
            </a:r>
          </a:p>
        </p:txBody>
      </p:sp>
      <p:grpSp>
        <p:nvGrpSpPr>
          <p:cNvPr id="756755" name="Group 19"/>
          <p:cNvGrpSpPr/>
          <p:nvPr/>
        </p:nvGrpSpPr>
        <p:grpSpPr>
          <a:xfrm>
            <a:off x="395288" y="2276475"/>
            <a:ext cx="1331912" cy="1008063"/>
            <a:chOff x="249" y="1434"/>
            <a:chExt cx="839" cy="635"/>
          </a:xfrm>
        </p:grpSpPr>
        <p:sp>
          <p:nvSpPr>
            <p:cNvPr id="59408" name="Text Box 17"/>
            <p:cNvSpPr txBox="1"/>
            <p:nvPr/>
          </p:nvSpPr>
          <p:spPr>
            <a:xfrm>
              <a:off x="249" y="1434"/>
              <a:ext cx="839" cy="283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lang="zh-CN" altLang="en-US" dirty="0">
                  <a:solidFill>
                    <a:srgbClr val="FF9900"/>
                  </a:solidFill>
                  <a:latin typeface="宋体" panose="02010600030101010101" pitchFamily="2" charset="-122"/>
                </a:rPr>
                <a:t>复振幅</a:t>
              </a:r>
            </a:p>
          </p:txBody>
        </p:sp>
        <p:sp>
          <p:nvSpPr>
            <p:cNvPr id="59409" name="Line 18"/>
            <p:cNvSpPr/>
            <p:nvPr/>
          </p:nvSpPr>
          <p:spPr>
            <a:xfrm>
              <a:off x="249" y="1752"/>
              <a:ext cx="136" cy="317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</p:sp>
      </p:grpSp>
      <p:sp>
        <p:nvSpPr>
          <p:cNvPr id="756756" name="Text Box 20"/>
          <p:cNvSpPr txBox="1"/>
          <p:nvPr/>
        </p:nvSpPr>
        <p:spPr>
          <a:xfrm>
            <a:off x="107950" y="4941888"/>
            <a:ext cx="8893175" cy="5667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buBlip>
                <a:blip r:embed="rId4"/>
              </a:buBlip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真实场是复数式的实部，即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瞬时表达式代表真实的场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756757" name="Text Box 21"/>
          <p:cNvSpPr txBox="1"/>
          <p:nvPr/>
        </p:nvSpPr>
        <p:spPr>
          <a:xfrm>
            <a:off x="142875" y="5483225"/>
            <a:ext cx="8893175" cy="104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buBlip>
                <a:blip r:embed="rId4"/>
              </a:buBlip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由于时间因子是默认的，有时它不用写出来，只用与坐标有</a:t>
            </a:r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  关的部分就可表示复矢量。</a:t>
            </a:r>
          </a:p>
        </p:txBody>
      </p:sp>
      <p:sp>
        <p:nvSpPr>
          <p:cNvPr id="756758" name="AutoShape 22"/>
          <p:cNvSpPr/>
          <p:nvPr/>
        </p:nvSpPr>
        <p:spPr>
          <a:xfrm>
            <a:off x="323850" y="620713"/>
            <a:ext cx="576263" cy="215900"/>
          </a:xfrm>
          <a:prstGeom prst="rightArrow">
            <a:avLst>
              <a:gd name="adj1" fmla="val 50000"/>
              <a:gd name="adj2" fmla="val 66715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56759" name="AutoShape 23"/>
          <p:cNvSpPr/>
          <p:nvPr/>
        </p:nvSpPr>
        <p:spPr>
          <a:xfrm>
            <a:off x="323850" y="1917700"/>
            <a:ext cx="576263" cy="215900"/>
          </a:xfrm>
          <a:prstGeom prst="rightArrow">
            <a:avLst>
              <a:gd name="adj1" fmla="val 50000"/>
              <a:gd name="adj2" fmla="val 66715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42A833D-A0A4-E9B1-C19D-346F832F1E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84" y="919044"/>
            <a:ext cx="6995979" cy="77733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EFACCA8-CB52-5EB0-B5D9-993BFB56B8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188" y="3019646"/>
            <a:ext cx="7921252" cy="771095"/>
          </a:xfrm>
          <a:prstGeom prst="rect">
            <a:avLst/>
          </a:prstGeom>
        </p:spPr>
      </p:pic>
      <p:sp>
        <p:nvSpPr>
          <p:cNvPr id="2" name="Text Box 24">
            <a:extLst>
              <a:ext uri="{FF2B5EF4-FFF2-40B4-BE49-F238E27FC236}">
                <a16:creationId xmlns:a16="http://schemas.microsoft.com/office/drawing/2014/main" id="{394397C5-BD38-F0E4-264B-7FB6AA1A7C0C}"/>
              </a:ext>
            </a:extLst>
          </p:cNvPr>
          <p:cNvSpPr txBox="1"/>
          <p:nvPr/>
        </p:nvSpPr>
        <p:spPr>
          <a:xfrm>
            <a:off x="4692324" y="1772005"/>
            <a:ext cx="1062748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 eaLnBrk="1" fontAlgn="ctr" hangingPunct="1">
              <a:spcBef>
                <a:spcPct val="50000"/>
              </a:spcBef>
              <a:defRPr sz="2000">
                <a:solidFill>
                  <a:srgbClr val="FF99CC"/>
                </a:solidFill>
              </a:defRPr>
            </a:lvl1pPr>
          </a:lstStyle>
          <a:p>
            <a:r>
              <a:rPr lang="zh-CN" altLang="en-US" dirty="0"/>
              <a:t>复振幅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5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56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56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56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56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756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75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756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75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000"/>
                                        <p:tgtEl>
                                          <p:spTgt spid="75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2000"/>
                                        <p:tgtEl>
                                          <p:spTgt spid="756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6743" grpId="0"/>
      <p:bldP spid="756746" grpId="0"/>
      <p:bldP spid="756749" grpId="0" animBg="1"/>
      <p:bldP spid="756751" grpId="0"/>
      <p:bldP spid="756752" grpId="0"/>
      <p:bldP spid="756756" grpId="0"/>
      <p:bldP spid="756757" grpId="0"/>
      <p:bldP spid="756758" grpId="0" animBg="1"/>
      <p:bldP spid="756759" grpId="0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42"/>
          <p:cNvSpPr txBox="1">
            <a:spLocks noRot="1" noChangeAspect="1" noMove="1" noResize="1" noEditPoints="1" noAdjustHandles="1" noChangeArrowheads="1" noChangeShapeType="1" noTextEdit="1"/>
          </p:cNvSpPr>
          <p:nvPr>
            <p:custDataLst>
              <p:tags r:id="rId1"/>
            </p:custDataLst>
          </p:nvPr>
        </p:nvSpPr>
        <p:spPr>
          <a:xfrm>
            <a:off x="4430777" y="2924954"/>
            <a:ext cx="4579652" cy="653128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 </a:t>
            </a:r>
          </a:p>
        </p:txBody>
      </p:sp>
      <p:cxnSp>
        <p:nvCxnSpPr>
          <p:cNvPr id="3" name="直接箭头连接符 2"/>
          <p:cNvCxnSpPr/>
          <p:nvPr>
            <p:custDataLst>
              <p:tags r:id="rId2"/>
            </p:custDataLst>
          </p:nvPr>
        </p:nvCxnSpPr>
        <p:spPr>
          <a:xfrm flipH="1">
            <a:off x="5436235" y="1484630"/>
            <a:ext cx="647700" cy="2304415"/>
          </a:xfrm>
          <a:prstGeom prst="straightConnector1">
            <a:avLst/>
          </a:prstGeom>
          <a:noFill/>
          <a:ln w="28575" cmpd="sng">
            <a:solidFill>
              <a:srgbClr val="FF0000"/>
            </a:solidFill>
            <a:prstDash val="solid"/>
            <a:tailEnd type="arrow"/>
          </a:ln>
        </p:spPr>
      </p:cxnSp>
      <p:sp>
        <p:nvSpPr>
          <p:cNvPr id="62466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6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38319" name="Rectangle 15"/>
          <p:cNvSpPr/>
          <p:nvPr/>
        </p:nvSpPr>
        <p:spPr>
          <a:xfrm>
            <a:off x="-152400" y="549275"/>
            <a:ext cx="810895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indent="266700" eaLnBrk="1" fontAlgn="ctr" hangingPunct="1"/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【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4.5.1】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将下列场矢量的瞬时值形式写为复数形式：</a:t>
            </a:r>
            <a:endParaRPr lang="zh-CN" altLang="en-US" b="0" dirty="0">
              <a:solidFill>
                <a:schemeClr val="bg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738318" name="Object 14"/>
          <p:cNvGraphicFramePr>
            <a:graphicFrameLocks noChangeAspect="1"/>
          </p:cNvGraphicFramePr>
          <p:nvPr/>
        </p:nvGraphicFramePr>
        <p:xfrm>
          <a:off x="756920" y="1023938"/>
          <a:ext cx="735488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506345" imgH="132080" progId="Equation.DSMT4">
                  <p:embed/>
                </p:oleObj>
              </mc:Choice>
              <mc:Fallback>
                <p:oleObj r:id="rId7" imgW="2506345" imgH="132080" progId="Equation.DSMT4">
                  <p:embed/>
                  <p:pic>
                    <p:nvPicPr>
                      <p:cNvPr id="738318" name="Object 1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6920" y="1023938"/>
                        <a:ext cx="7354888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8320" name="Rectangle 16"/>
          <p:cNvSpPr/>
          <p:nvPr/>
        </p:nvSpPr>
        <p:spPr>
          <a:xfrm>
            <a:off x="-106680" y="1747838"/>
            <a:ext cx="1871663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/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</a:rPr>
              <a:t>）</a:t>
            </a:r>
            <a:endParaRPr lang="zh-CN" altLang="en-US" b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38317" name="Object 13"/>
          <p:cNvGraphicFramePr>
            <a:graphicFrameLocks noChangeAspect="1"/>
          </p:cNvGraphicFramePr>
          <p:nvPr/>
        </p:nvGraphicFramePr>
        <p:xfrm>
          <a:off x="769620" y="1557338"/>
          <a:ext cx="5626100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856105" imgH="545465" progId="Equation.DSMT4">
                  <p:embed/>
                </p:oleObj>
              </mc:Choice>
              <mc:Fallback>
                <p:oleObj r:id="rId9" imgW="1856105" imgH="545465" progId="Equation.DSMT4">
                  <p:embed/>
                  <p:pic>
                    <p:nvPicPr>
                      <p:cNvPr id="738317" name="Object 13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69620" y="1557338"/>
                        <a:ext cx="5626100" cy="1655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8321" name="Rectangle 17"/>
          <p:cNvSpPr/>
          <p:nvPr/>
        </p:nvSpPr>
        <p:spPr>
          <a:xfrm>
            <a:off x="179388" y="3043238"/>
            <a:ext cx="266382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/>
            <a:r>
              <a:rPr lang="en-US" altLang="zh-CN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【</a:t>
            </a: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解</a:t>
            </a:r>
            <a:r>
              <a:rPr lang="en-US" altLang="zh-CN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】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）由于</a:t>
            </a:r>
          </a:p>
        </p:txBody>
      </p:sp>
      <p:graphicFrame>
        <p:nvGraphicFramePr>
          <p:cNvPr id="7383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054482"/>
              </p:ext>
            </p:extLst>
          </p:nvPr>
        </p:nvGraphicFramePr>
        <p:xfrm>
          <a:off x="179388" y="3459163"/>
          <a:ext cx="770413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699385" imgH="231140" progId="Equation.DSMT4">
                  <p:embed/>
                </p:oleObj>
              </mc:Choice>
              <mc:Fallback>
                <p:oleObj r:id="rId11" imgW="2699385" imgH="231140" progId="Equation.DSMT4">
                  <p:embed/>
                  <p:pic>
                    <p:nvPicPr>
                      <p:cNvPr id="738316" name="Object 1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9388" y="3459163"/>
                        <a:ext cx="7704137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15" name="Object 11"/>
          <p:cNvGraphicFramePr>
            <a:graphicFrameLocks noChangeAspect="1"/>
          </p:cNvGraphicFramePr>
          <p:nvPr/>
        </p:nvGraphicFramePr>
        <p:xfrm>
          <a:off x="1042988" y="4297363"/>
          <a:ext cx="5573712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851025" imgH="132080" progId="Equation.DSMT4">
                  <p:embed/>
                </p:oleObj>
              </mc:Choice>
              <mc:Fallback>
                <p:oleObj r:id="rId13" imgW="1851025" imgH="132080" progId="Equation.DSMT4">
                  <p:embed/>
                  <p:pic>
                    <p:nvPicPr>
                      <p:cNvPr id="738315" name="Object 11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4297363"/>
                        <a:ext cx="5573712" cy="606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14" name="Object 10"/>
          <p:cNvGraphicFramePr>
            <a:graphicFrameLocks noChangeAspect="1"/>
          </p:cNvGraphicFramePr>
          <p:nvPr/>
        </p:nvGraphicFramePr>
        <p:xfrm>
          <a:off x="995363" y="5084763"/>
          <a:ext cx="5808662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801495" imgH="154305" progId="Equation.DSMT4">
                  <p:embed/>
                </p:oleObj>
              </mc:Choice>
              <mc:Fallback>
                <p:oleObj r:id="rId15" imgW="1801495" imgH="154305" progId="Equation.DSMT4">
                  <p:embed/>
                  <p:pic>
                    <p:nvPicPr>
                      <p:cNvPr id="738314" name="Object 10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95363" y="5084763"/>
                        <a:ext cx="5808662" cy="669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13" name="Object 9"/>
          <p:cNvGraphicFramePr>
            <a:graphicFrameLocks noChangeAspect="1"/>
          </p:cNvGraphicFramePr>
          <p:nvPr/>
        </p:nvGraphicFramePr>
        <p:xfrm>
          <a:off x="1906588" y="5910263"/>
          <a:ext cx="4105275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1278255" imgH="132080" progId="Equation.DSMT4">
                  <p:embed/>
                </p:oleObj>
              </mc:Choice>
              <mc:Fallback>
                <p:oleObj r:id="rId17" imgW="1278255" imgH="132080" progId="Equation.DSMT4">
                  <p:embed/>
                  <p:pic>
                    <p:nvPicPr>
                      <p:cNvPr id="738313" name="Object 9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06588" y="5910263"/>
                        <a:ext cx="4105275" cy="611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8329" name="Rectangle 25"/>
          <p:cNvSpPr/>
          <p:nvPr/>
        </p:nvSpPr>
        <p:spPr>
          <a:xfrm>
            <a:off x="-106680" y="1027113"/>
            <a:ext cx="136842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</a:rPr>
              <a:t>）</a:t>
            </a:r>
            <a:endParaRPr lang="zh-CN" altLang="en-US" b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38330" name="Rectangle 26"/>
          <p:cNvSpPr/>
          <p:nvPr/>
        </p:nvSpPr>
        <p:spPr>
          <a:xfrm>
            <a:off x="179388" y="5157788"/>
            <a:ext cx="266382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所以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 flipV="1">
            <a:off x="7268210" y="3566795"/>
            <a:ext cx="594995" cy="704850"/>
          </a:xfrm>
          <a:prstGeom prst="roundRect">
            <a:avLst/>
          </a:prstGeom>
          <a:noFill/>
          <a:ln w="28575" cmpd="sng">
            <a:solidFill>
              <a:srgbClr val="FF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38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38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738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738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738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38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38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38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38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319" grpId="0"/>
      <p:bldP spid="738320" grpId="0"/>
      <p:bldP spid="738321" grpId="0"/>
      <p:bldP spid="738329" grpId="0"/>
      <p:bldP spid="7383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7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57771" name="Rectangle 11"/>
          <p:cNvSpPr/>
          <p:nvPr/>
        </p:nvSpPr>
        <p:spPr>
          <a:xfrm>
            <a:off x="-179705" y="405130"/>
            <a:ext cx="17145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fontAlgn="ctr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）因为  </a:t>
            </a:r>
          </a:p>
        </p:txBody>
      </p:sp>
      <p:graphicFrame>
        <p:nvGraphicFramePr>
          <p:cNvPr id="757772" name="Object 12"/>
          <p:cNvGraphicFramePr>
            <a:graphicFrameLocks noChangeAspect="1"/>
          </p:cNvGraphicFramePr>
          <p:nvPr/>
        </p:nvGraphicFramePr>
        <p:xfrm>
          <a:off x="1477645" y="433705"/>
          <a:ext cx="3376613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84275" imgH="88265" progId="Equation.DSMT4">
                  <p:embed/>
                </p:oleObj>
              </mc:Choice>
              <mc:Fallback>
                <p:oleObj r:id="rId4" imgW="1184275" imgH="88265" progId="Equation.DSMT4">
                  <p:embed/>
                  <p:pic>
                    <p:nvPicPr>
                      <p:cNvPr id="757772" name="Object 12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7645" y="433705"/>
                        <a:ext cx="3376613" cy="404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3" name="Object 13"/>
          <p:cNvGraphicFramePr>
            <a:graphicFrameLocks noChangeAspect="1"/>
          </p:cNvGraphicFramePr>
          <p:nvPr/>
        </p:nvGraphicFramePr>
        <p:xfrm>
          <a:off x="1504633" y="855980"/>
          <a:ext cx="6532562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181225" imgH="231140" progId="Equation.DSMT4">
                  <p:embed/>
                </p:oleObj>
              </mc:Choice>
              <mc:Fallback>
                <p:oleObj r:id="rId6" imgW="2181225" imgH="231140" progId="Equation.DSMT4">
                  <p:embed/>
                  <p:pic>
                    <p:nvPicPr>
                      <p:cNvPr id="757773" name="Object 13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04633" y="855980"/>
                        <a:ext cx="6532562" cy="846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5" name="Object 15"/>
          <p:cNvGraphicFramePr>
            <a:graphicFrameLocks noChangeAspect="1"/>
          </p:cNvGraphicFramePr>
          <p:nvPr/>
        </p:nvGraphicFramePr>
        <p:xfrm>
          <a:off x="1154113" y="5370513"/>
          <a:ext cx="7142162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555875" imgH="231140" progId="Equation.DSMT4">
                  <p:embed/>
                </p:oleObj>
              </mc:Choice>
              <mc:Fallback>
                <p:oleObj r:id="rId8" imgW="2555875" imgH="231140" progId="Equation.DSMT4">
                  <p:embed/>
                  <p:pic>
                    <p:nvPicPr>
                      <p:cNvPr id="757775" name="Object 15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4113" y="5370513"/>
                        <a:ext cx="7142162" cy="795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778" name="Rectangle 18"/>
          <p:cNvSpPr/>
          <p:nvPr/>
        </p:nvSpPr>
        <p:spPr>
          <a:xfrm>
            <a:off x="179388" y="5516563"/>
            <a:ext cx="1512887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故  </a:t>
            </a:r>
          </a:p>
        </p:txBody>
      </p:sp>
      <p:graphicFrame>
        <p:nvGraphicFramePr>
          <p:cNvPr id="757780" name="Object 20"/>
          <p:cNvGraphicFramePr>
            <a:graphicFrameLocks noChangeAspect="1"/>
          </p:cNvGraphicFramePr>
          <p:nvPr/>
        </p:nvGraphicFramePr>
        <p:xfrm>
          <a:off x="1076325" y="1989138"/>
          <a:ext cx="5876925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944370" imgH="545465" progId="Equation.DSMT4">
                  <p:embed/>
                </p:oleObj>
              </mc:Choice>
              <mc:Fallback>
                <p:oleObj r:id="rId10" imgW="1944370" imgH="545465" progId="Equation.DSMT4">
                  <p:embed/>
                  <p:pic>
                    <p:nvPicPr>
                      <p:cNvPr id="757780" name="Object 20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76325" y="1989138"/>
                        <a:ext cx="5876925" cy="1655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781" name="Rectangle 21"/>
          <p:cNvSpPr/>
          <p:nvPr/>
        </p:nvSpPr>
        <p:spPr>
          <a:xfrm>
            <a:off x="179388" y="2179638"/>
            <a:ext cx="1512887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所以  </a:t>
            </a:r>
          </a:p>
        </p:txBody>
      </p:sp>
      <p:graphicFrame>
        <p:nvGraphicFramePr>
          <p:cNvPr id="757782" name="Object 22"/>
          <p:cNvGraphicFramePr>
            <a:graphicFrameLocks noChangeAspect="1"/>
          </p:cNvGraphicFramePr>
          <p:nvPr/>
        </p:nvGraphicFramePr>
        <p:xfrm>
          <a:off x="2387600" y="3573463"/>
          <a:ext cx="5180013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707515" imgH="545465" progId="Equation.DSMT4">
                  <p:embed/>
                </p:oleObj>
              </mc:Choice>
              <mc:Fallback>
                <p:oleObj r:id="rId12" imgW="1707515" imgH="545465" progId="Equation.DSMT4">
                  <p:embed/>
                  <p:pic>
                    <p:nvPicPr>
                      <p:cNvPr id="757782" name="Object 22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87600" y="3573463"/>
                        <a:ext cx="5180013" cy="1655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534795" y="1629410"/>
            <a:ext cx="2873375" cy="4832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57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57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757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57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757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757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757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757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71" grpId="0"/>
      <p:bldP spid="757778" grpId="0"/>
      <p:bldP spid="75778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8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39350" name="Rectangle 22"/>
          <p:cNvSpPr/>
          <p:nvPr/>
        </p:nvSpPr>
        <p:spPr>
          <a:xfrm>
            <a:off x="215900" y="477203"/>
            <a:ext cx="615632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/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4.5.2 】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已知电场强度复矢量</a:t>
            </a:r>
            <a:endParaRPr lang="zh-CN" altLang="en-US" b="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39349" name="Object 21"/>
          <p:cNvGraphicFramePr>
            <a:graphicFrameLocks noChangeAspect="1"/>
          </p:cNvGraphicFramePr>
          <p:nvPr/>
        </p:nvGraphicFramePr>
        <p:xfrm>
          <a:off x="1919288" y="942023"/>
          <a:ext cx="314166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046480" imgH="143510" progId="Equation.DSMT4">
                  <p:embed/>
                </p:oleObj>
              </mc:Choice>
              <mc:Fallback>
                <p:oleObj r:id="rId9" imgW="1046480" imgH="143510" progId="Equation.DSMT4">
                  <p:embed/>
                  <p:pic>
                    <p:nvPicPr>
                      <p:cNvPr id="739349" name="Object 21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19288" y="942023"/>
                        <a:ext cx="3141662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9351" name="Rectangle 23"/>
          <p:cNvSpPr/>
          <p:nvPr/>
        </p:nvSpPr>
        <p:spPr>
          <a:xfrm>
            <a:off x="250825" y="2206625"/>
            <a:ext cx="1223963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/>
            <a:r>
              <a:rPr lang="en-US" altLang="zh-CN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【</a:t>
            </a: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解</a:t>
            </a:r>
            <a:r>
              <a:rPr lang="en-US" altLang="zh-CN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】</a:t>
            </a:r>
          </a:p>
        </p:txBody>
      </p:sp>
      <p:graphicFrame>
        <p:nvGraphicFramePr>
          <p:cNvPr id="739345" name="Object 17"/>
          <p:cNvGraphicFramePr>
            <a:graphicFrameLocks noChangeAspect="1"/>
          </p:cNvGraphicFramePr>
          <p:nvPr/>
        </p:nvGraphicFramePr>
        <p:xfrm>
          <a:off x="2279650" y="3449320"/>
          <a:ext cx="3948113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250315" imgH="231140" progId="Equation.DSMT4">
                  <p:embed/>
                </p:oleObj>
              </mc:Choice>
              <mc:Fallback>
                <p:oleObj r:id="rId11" imgW="1250315" imgH="231140" progId="Equation.DSMT4">
                  <p:embed/>
                  <p:pic>
                    <p:nvPicPr>
                      <p:cNvPr id="739345" name="Object 17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79650" y="3449320"/>
                        <a:ext cx="3948113" cy="846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9356" name="Rectangle 28"/>
          <p:cNvSpPr/>
          <p:nvPr/>
        </p:nvSpPr>
        <p:spPr>
          <a:xfrm>
            <a:off x="106363" y="1605280"/>
            <a:ext cx="77057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其中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和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为实常数。写出电场强度的瞬时矢量。</a:t>
            </a:r>
          </a:p>
        </p:txBody>
      </p:sp>
      <p:graphicFrame>
        <p:nvGraphicFramePr>
          <p:cNvPr id="739357" name="Object 29"/>
          <p:cNvGraphicFramePr>
            <a:graphicFrameLocks noChangeAspect="1"/>
          </p:cNvGraphicFramePr>
          <p:nvPr/>
        </p:nvGraphicFramePr>
        <p:xfrm>
          <a:off x="2267268" y="4366578"/>
          <a:ext cx="36750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112520" imgH="104775" progId="Equation.DSMT4">
                  <p:embed/>
                </p:oleObj>
              </mc:Choice>
              <mc:Fallback>
                <p:oleObj r:id="rId13" imgW="1112520" imgH="104775" progId="Equation.DSMT4">
                  <p:embed/>
                  <p:pic>
                    <p:nvPicPr>
                      <p:cNvPr id="739357" name="Object 29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67268" y="4366578"/>
                        <a:ext cx="3675062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123440" y="5012690"/>
            <a:ext cx="4733925" cy="173863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V="1">
            <a:off x="3608705" y="2780665"/>
            <a:ext cx="1467485" cy="25400"/>
          </a:xfrm>
          <a:prstGeom prst="line">
            <a:avLst/>
          </a:prstGeom>
          <a:ln>
            <a:solidFill>
              <a:srgbClr val="FF33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" name="圆角矩形 2"/>
          <p:cNvSpPr/>
          <p:nvPr/>
        </p:nvSpPr>
        <p:spPr>
          <a:xfrm>
            <a:off x="3347720" y="2348865"/>
            <a:ext cx="144145" cy="360045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2"/>
            </p:custDataLst>
          </p:nvPr>
        </p:nvSpPr>
        <p:spPr>
          <a:xfrm>
            <a:off x="5147945" y="2204720"/>
            <a:ext cx="504825" cy="64071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3996055" y="2853055"/>
            <a:ext cx="511175" cy="2978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5147945" y="1998980"/>
            <a:ext cx="643255" cy="2095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3096260" y="2059940"/>
            <a:ext cx="647700" cy="195580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H="1">
            <a:off x="683895" y="2708910"/>
            <a:ext cx="2815590" cy="504190"/>
          </a:xfrm>
          <a:prstGeom prst="straightConnector1">
            <a:avLst/>
          </a:prstGeom>
          <a:ln>
            <a:solidFill>
              <a:srgbClr val="FF9900"/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Object 18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1331913" y="2187258"/>
          <a:ext cx="4767262" cy="1328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768475" imgH="457200" progId="Equation.DSMT4">
                  <p:embed/>
                </p:oleObj>
              </mc:Choice>
              <mc:Fallback>
                <p:oleObj r:id="rId19" imgW="1768475" imgH="457200" progId="Equation.DSMT4">
                  <p:embed/>
                  <p:pic>
                    <p:nvPicPr>
                      <p:cNvPr id="10" name="Object 18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2187258"/>
                        <a:ext cx="4767262" cy="1328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图片 14">
            <a:extLst>
              <a:ext uri="{FF2B5EF4-FFF2-40B4-BE49-F238E27FC236}">
                <a16:creationId xmlns:a16="http://schemas.microsoft.com/office/drawing/2014/main" id="{D352BB29-9AC7-ECB3-DCE5-D6188217D80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2992" y="3265616"/>
            <a:ext cx="2282479" cy="772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39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39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739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39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39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739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9350" grpId="0"/>
      <p:bldP spid="739351" grpId="0"/>
      <p:bldP spid="7393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9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graphicFrame>
        <p:nvGraphicFramePr>
          <p:cNvPr id="74651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583720"/>
              </p:ext>
            </p:extLst>
          </p:nvPr>
        </p:nvGraphicFramePr>
        <p:xfrm>
          <a:off x="3152775" y="3073598"/>
          <a:ext cx="3133725" cy="234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80440" imgH="809625" progId="Equation.DSMT4">
                  <p:embed/>
                </p:oleObj>
              </mc:Choice>
              <mc:Fallback>
                <p:oleObj r:id="rId2" imgW="980440" imgH="809625" progId="Equation.DSMT4">
                  <p:embed/>
                  <p:pic>
                    <p:nvPicPr>
                      <p:cNvPr id="746515" name="Object 19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52775" y="3073598"/>
                        <a:ext cx="3133725" cy="2346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1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860946"/>
              </p:ext>
            </p:extLst>
          </p:nvPr>
        </p:nvGraphicFramePr>
        <p:xfrm>
          <a:off x="107950" y="2852936"/>
          <a:ext cx="2649538" cy="282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54380" imgH="963930" progId="Equation.DSMT4">
                  <p:embed/>
                </p:oleObj>
              </mc:Choice>
              <mc:Fallback>
                <p:oleObj r:id="rId4" imgW="754380" imgH="963930" progId="Equation.DSMT4">
                  <p:embed/>
                  <p:pic>
                    <p:nvPicPr>
                      <p:cNvPr id="746516" name="Object 20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7950" y="2852936"/>
                        <a:ext cx="2649538" cy="2827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1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4772263"/>
              </p:ext>
            </p:extLst>
          </p:nvPr>
        </p:nvGraphicFramePr>
        <p:xfrm>
          <a:off x="6732588" y="3295848"/>
          <a:ext cx="2232025" cy="183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98830" imgH="694055" progId="Equation.DSMT4">
                  <p:embed/>
                </p:oleObj>
              </mc:Choice>
              <mc:Fallback>
                <p:oleObj r:id="rId6" imgW="798830" imgH="694055" progId="Equation.DSMT4">
                  <p:embed/>
                  <p:pic>
                    <p:nvPicPr>
                      <p:cNvPr id="746518" name="Object 22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732588" y="3295848"/>
                        <a:ext cx="2232025" cy="1839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46540" name="Group 44"/>
          <p:cNvGrpSpPr/>
          <p:nvPr/>
        </p:nvGrpSpPr>
        <p:grpSpPr>
          <a:xfrm>
            <a:off x="143669" y="1175146"/>
            <a:ext cx="8856662" cy="1697038"/>
            <a:chOff x="95" y="600"/>
            <a:chExt cx="5579" cy="1069"/>
          </a:xfrm>
        </p:grpSpPr>
        <p:sp>
          <p:nvSpPr>
            <p:cNvPr id="68628" name="Rectangle 24"/>
            <p:cNvSpPr/>
            <p:nvPr/>
          </p:nvSpPr>
          <p:spPr>
            <a:xfrm>
              <a:off x="95" y="645"/>
              <a:ext cx="5579" cy="102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 defTabSz="914400" eaLnBrk="1" hangingPunct="1">
                <a:lnSpc>
                  <a:spcPct val="140000"/>
                </a:lnSpc>
                <a:tabLst>
                  <a:tab pos="457200" algn="l"/>
                </a:tabLst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从形式上讲，只要</a:t>
              </a:r>
              <a:r>
                <a:rPr lang="zh-CN" altLang="en-US" dirty="0">
                  <a:solidFill>
                    <a:srgbClr val="FF99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把微分算子      用       代替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，就可以把时谐电磁场的场量之间的关系，转换为复矢量之间关系。因此得到复矢量的麦克斯韦方程：</a:t>
              </a:r>
            </a:p>
          </p:txBody>
        </p:sp>
        <p:graphicFrame>
          <p:nvGraphicFramePr>
            <p:cNvPr id="68629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0341326"/>
                </p:ext>
              </p:extLst>
            </p:nvPr>
          </p:nvGraphicFramePr>
          <p:xfrm>
            <a:off x="3203" y="702"/>
            <a:ext cx="272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93345" imgH="88265" progId="Equation.DSMT4">
                    <p:embed/>
                  </p:oleObj>
                </mc:Choice>
                <mc:Fallback>
                  <p:oleObj r:id="rId8" imgW="93345" imgH="88265" progId="Equation.DSMT4">
                    <p:embed/>
                    <p:pic>
                      <p:nvPicPr>
                        <p:cNvPr id="68629" name="Object 25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03" y="702"/>
                          <a:ext cx="272" cy="2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630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4242065"/>
                </p:ext>
              </p:extLst>
            </p:nvPr>
          </p:nvGraphicFramePr>
          <p:xfrm>
            <a:off x="2673" y="600"/>
            <a:ext cx="254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93345" imgH="275590" progId="Equation.3">
                    <p:embed/>
                  </p:oleObj>
                </mc:Choice>
                <mc:Fallback>
                  <p:oleObj r:id="rId10" imgW="93345" imgH="275590" progId="Equation.3">
                    <p:embed/>
                    <p:pic>
                      <p:nvPicPr>
                        <p:cNvPr id="68630" name="Object 26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73" y="600"/>
                          <a:ext cx="254" cy="4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46542" name="Group 46"/>
          <p:cNvGrpSpPr/>
          <p:nvPr/>
        </p:nvGrpSpPr>
        <p:grpSpPr>
          <a:xfrm>
            <a:off x="1835150" y="4148336"/>
            <a:ext cx="1655763" cy="2232025"/>
            <a:chOff x="1156" y="2341"/>
            <a:chExt cx="1043" cy="1406"/>
          </a:xfrm>
        </p:grpSpPr>
        <p:sp>
          <p:nvSpPr>
            <p:cNvPr id="68622" name="AutoShape 30"/>
            <p:cNvSpPr/>
            <p:nvPr/>
          </p:nvSpPr>
          <p:spPr>
            <a:xfrm flipH="1">
              <a:off x="1474" y="2341"/>
              <a:ext cx="499" cy="136"/>
            </a:xfrm>
            <a:prstGeom prst="leftArrow">
              <a:avLst>
                <a:gd name="adj1" fmla="val 50000"/>
                <a:gd name="adj2" fmla="val 91710"/>
              </a:avLst>
            </a:prstGeom>
            <a:solidFill>
              <a:srgbClr val="FFCCFF"/>
            </a:solidFill>
            <a:ln w="9525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fontAlgn="ctr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68623" name="Group 45"/>
            <p:cNvGrpSpPr/>
            <p:nvPr/>
          </p:nvGrpSpPr>
          <p:grpSpPr>
            <a:xfrm>
              <a:off x="1156" y="2523"/>
              <a:ext cx="1043" cy="1224"/>
              <a:chOff x="1156" y="2614"/>
              <a:chExt cx="1043" cy="1224"/>
            </a:xfrm>
          </p:grpSpPr>
          <p:sp>
            <p:nvSpPr>
              <p:cNvPr id="68624" name="Line 29"/>
              <p:cNvSpPr/>
              <p:nvPr/>
            </p:nvSpPr>
            <p:spPr>
              <a:xfrm flipV="1">
                <a:off x="1685" y="2614"/>
                <a:ext cx="0" cy="771"/>
              </a:xfrm>
              <a:prstGeom prst="line">
                <a:avLst/>
              </a:prstGeom>
              <a:ln w="28575" cap="flat" cmpd="sng">
                <a:solidFill>
                  <a:srgbClr val="FF6600"/>
                </a:solidFill>
                <a:prstDash val="dash"/>
                <a:headEnd type="none" w="med" len="med"/>
                <a:tailEnd type="triangle" w="med" len="med"/>
              </a:ln>
            </p:spPr>
          </p:sp>
          <p:graphicFrame>
            <p:nvGraphicFramePr>
              <p:cNvPr id="68625" name="Object 31"/>
              <p:cNvGraphicFramePr>
                <a:graphicFrameLocks noChangeAspect="1"/>
              </p:cNvGraphicFramePr>
              <p:nvPr/>
            </p:nvGraphicFramePr>
            <p:xfrm>
              <a:off x="1837" y="3524"/>
              <a:ext cx="272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93345" imgH="88265" progId="Equation.DSMT4">
                      <p:embed/>
                    </p:oleObj>
                  </mc:Choice>
                  <mc:Fallback>
                    <p:oleObj r:id="rId12" imgW="93345" imgH="88265" progId="Equation.DSMT4">
                      <p:embed/>
                      <p:pic>
                        <p:nvPicPr>
                          <p:cNvPr id="68625" name="Object 31"/>
                          <p:cNvPicPr/>
                          <p:nvPr/>
                        </p:nvPicPr>
                        <p:blipFill>
                          <a:blip r:embed="rId13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837" y="3524"/>
                            <a:ext cx="272" cy="26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8626" name="Object 32"/>
              <p:cNvGraphicFramePr>
                <a:graphicFrameLocks noChangeAspect="1"/>
              </p:cNvGraphicFramePr>
              <p:nvPr/>
            </p:nvGraphicFramePr>
            <p:xfrm>
              <a:off x="1292" y="3392"/>
              <a:ext cx="254" cy="4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4" imgW="93345" imgH="275590" progId="Equation.3">
                      <p:embed/>
                    </p:oleObj>
                  </mc:Choice>
                  <mc:Fallback>
                    <p:oleObj r:id="rId14" imgW="93345" imgH="275590" progId="Equation.3">
                      <p:embed/>
                      <p:pic>
                        <p:nvPicPr>
                          <p:cNvPr id="68626" name="Object 32"/>
                          <p:cNvPicPr/>
                          <p:nvPr/>
                        </p:nvPicPr>
                        <p:blipFill>
                          <a:blip r:embed="rId15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292" y="3392"/>
                            <a:ext cx="254" cy="44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8627" name="Text Box 33"/>
              <p:cNvSpPr txBox="1"/>
              <p:nvPr/>
            </p:nvSpPr>
            <p:spPr>
              <a:xfrm>
                <a:off x="1156" y="3414"/>
                <a:ext cx="1043" cy="343"/>
              </a:xfrm>
              <a:prstGeom prst="rect">
                <a:avLst/>
              </a:prstGeom>
              <a:noFill/>
              <a:ln w="25400" cap="flat" cmpd="sng">
                <a:solidFill>
                  <a:srgbClr val="FF6600"/>
                </a:solidFill>
                <a:prstDash val="dash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30000"/>
                  </a:spcBef>
                  <a:spcAft>
                    <a:spcPct val="30000"/>
                  </a:spcAft>
                </a:pPr>
                <a:r>
                  <a:rPr lang="en-US" altLang="zh-CN" sz="2800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    </a:t>
                </a: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rPr>
                  <a:t>←→ </a:t>
                </a:r>
              </a:p>
            </p:txBody>
          </p:sp>
        </p:grpSp>
      </p:grpSp>
      <p:grpSp>
        <p:nvGrpSpPr>
          <p:cNvPr id="746539" name="Group 43"/>
          <p:cNvGrpSpPr/>
          <p:nvPr/>
        </p:nvGrpSpPr>
        <p:grpSpPr>
          <a:xfrm>
            <a:off x="4640263" y="4122936"/>
            <a:ext cx="2859087" cy="2070100"/>
            <a:chOff x="2923" y="2325"/>
            <a:chExt cx="1801" cy="1304"/>
          </a:xfrm>
        </p:grpSpPr>
        <p:sp>
          <p:nvSpPr>
            <p:cNvPr id="68618" name="AutoShape 35"/>
            <p:cNvSpPr/>
            <p:nvPr/>
          </p:nvSpPr>
          <p:spPr>
            <a:xfrm flipH="1">
              <a:off x="3587" y="2325"/>
              <a:ext cx="499" cy="136"/>
            </a:xfrm>
            <a:prstGeom prst="leftArrow">
              <a:avLst>
                <a:gd name="adj1" fmla="val 50000"/>
                <a:gd name="adj2" fmla="val 91710"/>
              </a:avLst>
            </a:prstGeom>
            <a:solidFill>
              <a:srgbClr val="FFCCFF"/>
            </a:solidFill>
            <a:ln w="9525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fontAlgn="ctr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68619" name="Group 40"/>
            <p:cNvGrpSpPr/>
            <p:nvPr/>
          </p:nvGrpSpPr>
          <p:grpSpPr>
            <a:xfrm>
              <a:off x="2923" y="2462"/>
              <a:ext cx="1801" cy="1167"/>
              <a:chOff x="2941" y="2342"/>
              <a:chExt cx="1801" cy="1167"/>
            </a:xfrm>
          </p:grpSpPr>
          <p:sp>
            <p:nvSpPr>
              <p:cNvPr id="68620" name="Line 34"/>
              <p:cNvSpPr/>
              <p:nvPr/>
            </p:nvSpPr>
            <p:spPr>
              <a:xfrm flipV="1">
                <a:off x="3846" y="2342"/>
                <a:ext cx="0" cy="861"/>
              </a:xfrm>
              <a:prstGeom prst="line">
                <a:avLst/>
              </a:prstGeom>
              <a:ln w="28575" cap="flat" cmpd="sng">
                <a:solidFill>
                  <a:srgbClr val="FF6600"/>
                </a:solidFill>
                <a:prstDash val="dash"/>
                <a:headEnd type="none" w="med" len="med"/>
                <a:tailEnd type="triangle" w="med" len="med"/>
              </a:ln>
            </p:spPr>
          </p:sp>
          <p:sp>
            <p:nvSpPr>
              <p:cNvPr id="68621" name="Rectangle 39"/>
              <p:cNvSpPr/>
              <p:nvPr/>
            </p:nvSpPr>
            <p:spPr>
              <a:xfrm>
                <a:off x="2941" y="3203"/>
                <a:ext cx="1801" cy="306"/>
              </a:xfrm>
              <a:prstGeom prst="rect">
                <a:avLst/>
              </a:prstGeom>
              <a:noFill/>
              <a:ln w="28575" cap="flat" cmpd="sng">
                <a:solidFill>
                  <a:srgbClr val="FF6600"/>
                </a:solidFill>
                <a:prstDash val="dash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marL="342900" indent="-342900" algn="ctr" eaLnBrk="1" hangingPunct="1">
                  <a:spcBef>
                    <a:spcPct val="20000"/>
                  </a:spcBef>
                </a:pPr>
                <a:r>
                  <a:rPr lang="zh-CN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略去“</a:t>
                </a:r>
                <a: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.”</a:t>
                </a:r>
                <a:r>
                  <a:rPr lang="zh-CN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和下标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m</a:t>
                </a:r>
              </a:p>
            </p:txBody>
          </p:sp>
        </p:grpSp>
      </p:grpSp>
      <p:sp>
        <p:nvSpPr>
          <p:cNvPr id="22" name="Rectangle 24"/>
          <p:cNvSpPr/>
          <p:nvPr/>
        </p:nvSpPr>
        <p:spPr>
          <a:xfrm>
            <a:off x="107950" y="609998"/>
            <a:ext cx="626427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defTabSz="914400" eaLnBrk="1" hangingPunct="1">
              <a:tabLst>
                <a:tab pos="180975" algn="l"/>
                <a:tab pos="266700" algn="l"/>
              </a:tabLst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4.5.2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复矢量的麦克斯韦方程</a:t>
            </a:r>
            <a:endParaRPr lang="zh-CN" altLang="en-US" dirty="0">
              <a:solidFill>
                <a:srgbClr val="FF99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746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0"/>
                                        <p:tgtEl>
                                          <p:spTgt spid="746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46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3000"/>
                                        <p:tgtEl>
                                          <p:spTgt spid="746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46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3000"/>
                                        <p:tgtEl>
                                          <p:spTgt spid="746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5189A2C-0844-5ECA-3E48-5C9DC2249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854" y="4554496"/>
            <a:ext cx="2336089" cy="1922360"/>
          </a:xfrm>
          <a:prstGeom prst="rect">
            <a:avLst/>
          </a:prstGeom>
        </p:spPr>
      </p:pic>
      <p:sp>
        <p:nvSpPr>
          <p:cNvPr id="68610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10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graphicFrame>
        <p:nvGraphicFramePr>
          <p:cNvPr id="74651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062199"/>
              </p:ext>
            </p:extLst>
          </p:nvPr>
        </p:nvGraphicFramePr>
        <p:xfrm>
          <a:off x="1202971" y="4728521"/>
          <a:ext cx="2232025" cy="183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98830" imgH="694055" progId="Equation.DSMT4">
                  <p:embed/>
                </p:oleObj>
              </mc:Choice>
              <mc:Fallback>
                <p:oleObj r:id="rId3" imgW="798830" imgH="694055" progId="Equation.DSMT4">
                  <p:embed/>
                  <p:pic>
                    <p:nvPicPr>
                      <p:cNvPr id="746518" name="Object 2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02971" y="4728521"/>
                        <a:ext cx="2232025" cy="1839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4"/>
          <p:cNvSpPr/>
          <p:nvPr/>
        </p:nvSpPr>
        <p:spPr>
          <a:xfrm>
            <a:off x="3569845" y="773252"/>
            <a:ext cx="626427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defTabSz="914400" eaLnBrk="1" hangingPunct="1">
              <a:tabLst>
                <a:tab pos="180975" algn="l"/>
                <a:tab pos="266700" algn="l"/>
              </a:tabLst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无源区</a:t>
            </a:r>
            <a:endParaRPr lang="zh-CN" altLang="en-US" dirty="0">
              <a:solidFill>
                <a:srgbClr val="FF99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3212CD2-6840-61B6-0DC7-B12A030893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5" y="2855623"/>
            <a:ext cx="9144000" cy="1778000"/>
          </a:xfrm>
          <a:prstGeom prst="rect">
            <a:avLst/>
          </a:prstGeom>
        </p:spPr>
      </p:pic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0CDE268A-5D16-94CA-B663-B3DCE226E2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4431695"/>
              </p:ext>
            </p:extLst>
          </p:nvPr>
        </p:nvGraphicFramePr>
        <p:xfrm>
          <a:off x="3260174" y="5709982"/>
          <a:ext cx="1795463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42755" imgH="139654" progId="Equation.DSMT4">
                  <p:embed/>
                </p:oleObj>
              </mc:Choice>
              <mc:Fallback>
                <p:oleObj r:id="rId6" imgW="742755" imgH="139654" progId="Equation.DSMT4">
                  <p:embed/>
                  <p:pic>
                    <p:nvPicPr>
                      <p:cNvPr id="242704" name="Object 4">
                        <a:extLst>
                          <a:ext uri="{FF2B5EF4-FFF2-40B4-BE49-F238E27FC236}">
                            <a16:creationId xmlns:a16="http://schemas.microsoft.com/office/drawing/2014/main" id="{0E54CE11-6DF7-E296-44AB-2F69F55091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174" y="5709982"/>
                        <a:ext cx="1795463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utoShape 30">
            <a:extLst>
              <a:ext uri="{FF2B5EF4-FFF2-40B4-BE49-F238E27FC236}">
                <a16:creationId xmlns:a16="http://schemas.microsoft.com/office/drawing/2014/main" id="{046E7A70-4C47-1EA4-7BB3-2EE39700661E}"/>
              </a:ext>
            </a:extLst>
          </p:cNvPr>
          <p:cNvSpPr/>
          <p:nvPr/>
        </p:nvSpPr>
        <p:spPr>
          <a:xfrm flipH="1">
            <a:off x="3349402" y="1230452"/>
            <a:ext cx="1582637" cy="215190"/>
          </a:xfrm>
          <a:prstGeom prst="leftArrow">
            <a:avLst>
              <a:gd name="adj1" fmla="val 50000"/>
              <a:gd name="adj2" fmla="val 91710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" name="Object 30">
            <a:extLst>
              <a:ext uri="{FF2B5EF4-FFF2-40B4-BE49-F238E27FC236}">
                <a16:creationId xmlns:a16="http://schemas.microsoft.com/office/drawing/2014/main" id="{CAE52C06-1730-CB3A-24DC-CCC07F95B3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6514272"/>
              </p:ext>
            </p:extLst>
          </p:nvPr>
        </p:nvGraphicFramePr>
        <p:xfrm>
          <a:off x="3349402" y="419159"/>
          <a:ext cx="3377690" cy="2510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555832" imgH="1143000" progId="Equation.3">
                  <p:embed/>
                </p:oleObj>
              </mc:Choice>
              <mc:Fallback>
                <p:oleObj r:id="rId8" imgW="1555832" imgH="1143000" progId="Equation.3">
                  <p:embed/>
                  <p:pic>
                    <p:nvPicPr>
                      <p:cNvPr id="947230" name="Object 30">
                        <a:extLst>
                          <a:ext uri="{FF2B5EF4-FFF2-40B4-BE49-F238E27FC236}">
                            <a16:creationId xmlns:a16="http://schemas.microsoft.com/office/drawing/2014/main" id="{80BD5BBA-587B-EC70-22DD-5A0C0C09DA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402" y="419159"/>
                        <a:ext cx="3377690" cy="25101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D7D08152-FCA1-B95B-41AF-CB99386C7E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259465"/>
              </p:ext>
            </p:extLst>
          </p:nvPr>
        </p:nvGraphicFramePr>
        <p:xfrm>
          <a:off x="1153862" y="540899"/>
          <a:ext cx="2392756" cy="2266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870084" imgH="1143000" progId="Equation.3">
                  <p:embed/>
                </p:oleObj>
              </mc:Choice>
              <mc:Fallback>
                <p:oleObj r:id="rId10" imgW="870084" imgH="1143000" progId="Equation.3">
                  <p:embed/>
                  <p:pic>
                    <p:nvPicPr>
                      <p:cNvPr id="855042" name="Object 2">
                        <a:extLst>
                          <a:ext uri="{FF2B5EF4-FFF2-40B4-BE49-F238E27FC236}">
                            <a16:creationId xmlns:a16="http://schemas.microsoft.com/office/drawing/2014/main" id="{D31A51EF-D6E4-F0A6-A12D-80DA9E6FF2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3862" y="540899"/>
                        <a:ext cx="2392756" cy="22666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4">
            <a:extLst>
              <a:ext uri="{FF2B5EF4-FFF2-40B4-BE49-F238E27FC236}">
                <a16:creationId xmlns:a16="http://schemas.microsoft.com/office/drawing/2014/main" id="{86B99D55-DD51-777A-CA16-4066C08765C7}"/>
              </a:ext>
            </a:extLst>
          </p:cNvPr>
          <p:cNvSpPr/>
          <p:nvPr/>
        </p:nvSpPr>
        <p:spPr>
          <a:xfrm>
            <a:off x="3551813" y="5056709"/>
            <a:ext cx="1236211" cy="4572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defTabSz="914400" eaLnBrk="1" hangingPunct="1">
              <a:tabLst>
                <a:tab pos="180975" algn="l"/>
                <a:tab pos="266700" algn="l"/>
              </a:tabLst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无源区</a:t>
            </a:r>
            <a:endParaRPr lang="zh-CN" altLang="en-US" dirty="0">
              <a:solidFill>
                <a:srgbClr val="FF99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2" name="AutoShape 30">
            <a:extLst>
              <a:ext uri="{FF2B5EF4-FFF2-40B4-BE49-F238E27FC236}">
                <a16:creationId xmlns:a16="http://schemas.microsoft.com/office/drawing/2014/main" id="{AF52BCB6-4030-4DA2-815B-0D3E714B728D}"/>
              </a:ext>
            </a:extLst>
          </p:cNvPr>
          <p:cNvSpPr/>
          <p:nvPr/>
        </p:nvSpPr>
        <p:spPr>
          <a:xfrm flipH="1">
            <a:off x="3198502" y="5488305"/>
            <a:ext cx="1918809" cy="189651"/>
          </a:xfrm>
          <a:prstGeom prst="leftArrow">
            <a:avLst>
              <a:gd name="adj1" fmla="val 50000"/>
              <a:gd name="adj2" fmla="val 91710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" name="Rectangle 24">
            <a:extLst>
              <a:ext uri="{FF2B5EF4-FFF2-40B4-BE49-F238E27FC236}">
                <a16:creationId xmlns:a16="http://schemas.microsoft.com/office/drawing/2014/main" id="{D50E0732-CD64-2E2C-2AEF-E4C068B12D10}"/>
              </a:ext>
            </a:extLst>
          </p:cNvPr>
          <p:cNvSpPr/>
          <p:nvPr/>
        </p:nvSpPr>
        <p:spPr>
          <a:xfrm>
            <a:off x="0" y="1304910"/>
            <a:ext cx="1597781" cy="738664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defTabSz="914400" eaLnBrk="1" hangingPunct="1">
              <a:tabLst>
                <a:tab pos="180975" algn="l"/>
                <a:tab pos="266700" algn="l"/>
              </a:tabLst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时域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defTabSz="914400" eaLnBrk="1" hangingPunct="1">
              <a:tabLst>
                <a:tab pos="180975" algn="l"/>
                <a:tab pos="266700" algn="l"/>
              </a:tabLst>
            </a:pPr>
            <a:r>
              <a:rPr lang="en-US" altLang="zh-CN" sz="1800" dirty="0">
                <a:solidFill>
                  <a:srgbClr val="FF0000"/>
                </a:solidFill>
                <a:ea typeface="幼圆" panose="02010509060101010101" pitchFamily="49" charset="-122"/>
              </a:rPr>
              <a:t>(</a:t>
            </a:r>
            <a:r>
              <a:rPr lang="zh-CN" altLang="en-US" sz="1800" dirty="0">
                <a:solidFill>
                  <a:srgbClr val="FF0000"/>
                </a:solidFill>
                <a:ea typeface="幼圆" panose="02010509060101010101" pitchFamily="49" charset="-122"/>
              </a:rPr>
              <a:t>瞬时表示</a:t>
            </a:r>
            <a:r>
              <a:rPr lang="en-US" altLang="zh-CN" sz="1800" dirty="0">
                <a:solidFill>
                  <a:srgbClr val="FF0000"/>
                </a:solidFill>
                <a:ea typeface="幼圆" panose="02010509060101010101" pitchFamily="49" charset="-122"/>
              </a:rPr>
              <a:t>)</a:t>
            </a:r>
            <a:endParaRPr lang="zh-CN" altLang="en-US" sz="1800" dirty="0">
              <a:solidFill>
                <a:srgbClr val="FF0000"/>
              </a:solidFill>
              <a:ea typeface="幼圆" panose="02010509060101010101" pitchFamily="49" charset="-122"/>
            </a:endParaRPr>
          </a:p>
        </p:txBody>
      </p:sp>
      <p:sp>
        <p:nvSpPr>
          <p:cNvPr id="14" name="Rectangle 24">
            <a:extLst>
              <a:ext uri="{FF2B5EF4-FFF2-40B4-BE49-F238E27FC236}">
                <a16:creationId xmlns:a16="http://schemas.microsoft.com/office/drawing/2014/main" id="{FF726C6F-8767-3FA7-B441-1921C08E00E7}"/>
              </a:ext>
            </a:extLst>
          </p:cNvPr>
          <p:cNvSpPr/>
          <p:nvPr/>
        </p:nvSpPr>
        <p:spPr>
          <a:xfrm>
            <a:off x="-46512" y="5094479"/>
            <a:ext cx="1236211" cy="1107996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defTabSz="914400" eaLnBrk="1" hangingPunct="1">
              <a:tabLst>
                <a:tab pos="180975" algn="l"/>
                <a:tab pos="266700" algn="l"/>
              </a:tabLst>
            </a:pP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</a:rPr>
              <a:t>频域</a:t>
            </a:r>
            <a:endParaRPr lang="en-US" altLang="zh-CN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pPr eaLnBrk="1" hangingPunct="1">
              <a:tabLst>
                <a:tab pos="180975" algn="l"/>
                <a:tab pos="266700" algn="l"/>
              </a:tabLst>
            </a:pPr>
            <a:r>
              <a:rPr lang="en-US" altLang="zh-CN" sz="1800" dirty="0">
                <a:solidFill>
                  <a:srgbClr val="FF9900"/>
                </a:solidFill>
                <a:ea typeface="幼圆" panose="02010509060101010101" pitchFamily="49" charset="-122"/>
              </a:rPr>
              <a:t>(</a:t>
            </a:r>
            <a:r>
              <a:rPr lang="zh-CN" altLang="en-US" sz="1800" dirty="0">
                <a:solidFill>
                  <a:srgbClr val="FF9900"/>
                </a:solidFill>
                <a:ea typeface="幼圆" panose="02010509060101010101" pitchFamily="49" charset="-122"/>
              </a:rPr>
              <a:t>复数表示</a:t>
            </a:r>
            <a:r>
              <a:rPr lang="en-US" altLang="zh-CN" sz="1800" dirty="0">
                <a:solidFill>
                  <a:srgbClr val="FF9900"/>
                </a:solidFill>
                <a:ea typeface="幼圆" panose="02010509060101010101" pitchFamily="49" charset="-122"/>
              </a:rPr>
              <a:t>)</a:t>
            </a:r>
          </a:p>
          <a:p>
            <a:pPr defTabSz="914400" eaLnBrk="1" hangingPunct="1">
              <a:tabLst>
                <a:tab pos="180975" algn="l"/>
                <a:tab pos="266700" algn="l"/>
              </a:tabLst>
            </a:pPr>
            <a:endParaRPr lang="zh-CN" altLang="en-US" dirty="0">
              <a:solidFill>
                <a:srgbClr val="FF99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358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746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1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11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685060" name="Rectangle 4"/>
          <p:cNvSpPr/>
          <p:nvPr/>
        </p:nvSpPr>
        <p:spPr>
          <a:xfrm>
            <a:off x="-252412" y="333375"/>
            <a:ext cx="9144000" cy="5667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6700" algn="just" defTabSz="914400" eaLnBrk="1" hangingPunct="1">
              <a:lnSpc>
                <a:spcPct val="130000"/>
              </a:lnSpc>
              <a:tabLst>
                <a:tab pos="990600" algn="l"/>
              </a:tabLst>
            </a:pPr>
            <a:r>
              <a:rPr lang="en-US" altLang="zh-CN" dirty="0">
                <a:solidFill>
                  <a:srgbClr val="FF99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【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4.5.3】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已知正弦电磁场的电场瞬时值为</a:t>
            </a:r>
          </a:p>
        </p:txBody>
      </p:sp>
      <p:graphicFrame>
        <p:nvGraphicFramePr>
          <p:cNvPr id="685061" name="Object 5"/>
          <p:cNvGraphicFramePr>
            <a:graphicFrameLocks noChangeAspect="1"/>
          </p:cNvGraphicFramePr>
          <p:nvPr/>
        </p:nvGraphicFramePr>
        <p:xfrm>
          <a:off x="5940425" y="427038"/>
          <a:ext cx="314325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34745" imgH="115570" progId="Equation.3">
                  <p:embed/>
                </p:oleObj>
              </mc:Choice>
              <mc:Fallback>
                <p:oleObj r:id="rId2" imgW="1134745" imgH="115570" progId="Equation.3">
                  <p:embed/>
                  <p:pic>
                    <p:nvPicPr>
                      <p:cNvPr id="685061" name="Object 5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40425" y="427038"/>
                        <a:ext cx="3143250" cy="481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5062" name="Object 6"/>
          <p:cNvGraphicFramePr>
            <a:graphicFrameLocks noChangeAspect="1"/>
          </p:cNvGraphicFramePr>
          <p:nvPr/>
        </p:nvGraphicFramePr>
        <p:xfrm>
          <a:off x="900113" y="944563"/>
          <a:ext cx="5897562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46250" imgH="335915" progId="Equation.DSMT4">
                  <p:embed/>
                </p:oleObj>
              </mc:Choice>
              <mc:Fallback>
                <p:oleObj r:id="rId4" imgW="1746250" imgH="335915" progId="Equation.DSMT4">
                  <p:embed/>
                  <p:pic>
                    <p:nvPicPr>
                      <p:cNvPr id="685062" name="Object 6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944563"/>
                        <a:ext cx="5897562" cy="1116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5066" name="Rectangle 10"/>
          <p:cNvSpPr/>
          <p:nvPr/>
        </p:nvSpPr>
        <p:spPr>
          <a:xfrm>
            <a:off x="107950" y="1268413"/>
            <a:ext cx="457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式中</a:t>
            </a:r>
          </a:p>
        </p:txBody>
      </p:sp>
      <p:graphicFrame>
        <p:nvGraphicFramePr>
          <p:cNvPr id="68506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441173"/>
              </p:ext>
            </p:extLst>
          </p:nvPr>
        </p:nvGraphicFramePr>
        <p:xfrm>
          <a:off x="250825" y="3268663"/>
          <a:ext cx="8497888" cy="2611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908300" imgH="887095" progId="Equation.DSMT4">
                  <p:embed/>
                </p:oleObj>
              </mc:Choice>
              <mc:Fallback>
                <p:oleObj r:id="rId6" imgW="2908300" imgH="887095" progId="Equation.DSMT4">
                  <p:embed/>
                  <p:pic>
                    <p:nvPicPr>
                      <p:cNvPr id="685067" name="Object 11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0825" y="3268663"/>
                        <a:ext cx="8497888" cy="2611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5068" name="Rectangle 12"/>
          <p:cNvSpPr/>
          <p:nvPr/>
        </p:nvSpPr>
        <p:spPr>
          <a:xfrm>
            <a:off x="-323850" y="2781300"/>
            <a:ext cx="37703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 </a:t>
            </a: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【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】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）因为</a:t>
            </a:r>
          </a:p>
        </p:txBody>
      </p:sp>
      <p:graphicFrame>
        <p:nvGraphicFramePr>
          <p:cNvPr id="685069" name="Object 13"/>
          <p:cNvGraphicFramePr>
            <a:graphicFrameLocks noChangeAspect="1"/>
          </p:cNvGraphicFramePr>
          <p:nvPr/>
        </p:nvGraphicFramePr>
        <p:xfrm>
          <a:off x="3038475" y="5984875"/>
          <a:ext cx="49180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608455" imgH="127000" progId="Equation.DSMT4">
                  <p:embed/>
                </p:oleObj>
              </mc:Choice>
              <mc:Fallback>
                <p:oleObj r:id="rId8" imgW="1608455" imgH="127000" progId="Equation.DSMT4">
                  <p:embed/>
                  <p:pic>
                    <p:nvPicPr>
                      <p:cNvPr id="685069" name="Object 13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38475" y="5984875"/>
                        <a:ext cx="4918075" cy="55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5070" name="Text Box 14"/>
          <p:cNvSpPr txBox="1"/>
          <p:nvPr/>
        </p:nvSpPr>
        <p:spPr>
          <a:xfrm>
            <a:off x="179388" y="5949950"/>
            <a:ext cx="31686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故电场的复矢量为</a:t>
            </a:r>
          </a:p>
        </p:txBody>
      </p:sp>
      <p:sp>
        <p:nvSpPr>
          <p:cNvPr id="685071" name="Rectangle 15"/>
          <p:cNvSpPr/>
          <p:nvPr/>
        </p:nvSpPr>
        <p:spPr>
          <a:xfrm>
            <a:off x="107950" y="2060575"/>
            <a:ext cx="7943850" cy="5667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342900" indent="-342900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试求：（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）电场的复矢量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）磁场的复矢量和瞬时值。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A7BED1-9BFB-219A-D0C3-CB846E56B8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43808" y="2669400"/>
            <a:ext cx="4320480" cy="5943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8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8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68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68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68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68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0"/>
                                        <p:tgtEl>
                                          <p:spTgt spid="68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68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68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060" grpId="0"/>
      <p:bldP spid="685066" grpId="0"/>
      <p:bldP spid="685068" grpId="0"/>
      <p:bldP spid="685070" grpId="0"/>
      <p:bldP spid="68507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12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687108" name="Rectangle 4"/>
          <p:cNvSpPr/>
          <p:nvPr/>
        </p:nvSpPr>
        <p:spPr>
          <a:xfrm>
            <a:off x="24463" y="335387"/>
            <a:ext cx="88201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6700" algn="just" defTabSz="914400">
              <a:tabLst>
                <a:tab pos="990600" algn="l"/>
              </a:tabLst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）由复数形式的麦克斯韦方程，得到磁场的复矢量</a:t>
            </a:r>
          </a:p>
        </p:txBody>
      </p:sp>
      <p:graphicFrame>
        <p:nvGraphicFramePr>
          <p:cNvPr id="6871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5789475"/>
              </p:ext>
            </p:extLst>
          </p:nvPr>
        </p:nvGraphicFramePr>
        <p:xfrm>
          <a:off x="1259632" y="1565998"/>
          <a:ext cx="5832648" cy="250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098675" imgH="897890" progId="Equation.DSMT4">
                  <p:embed/>
                </p:oleObj>
              </mc:Choice>
              <mc:Fallback>
                <p:oleObj r:id="rId3" imgW="2098675" imgH="897890" progId="Equation.DSMT4">
                  <p:embed/>
                  <p:pic>
                    <p:nvPicPr>
                      <p:cNvPr id="687109" name="Object 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9632" y="1565998"/>
                        <a:ext cx="5832648" cy="2502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71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832333"/>
              </p:ext>
            </p:extLst>
          </p:nvPr>
        </p:nvGraphicFramePr>
        <p:xfrm>
          <a:off x="2231233" y="4001682"/>
          <a:ext cx="6912767" cy="499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467610" imgH="132080" progId="Equation.DSMT4">
                  <p:embed/>
                </p:oleObj>
              </mc:Choice>
              <mc:Fallback>
                <p:oleObj r:id="rId5" imgW="2467610" imgH="132080" progId="Equation.DSMT4">
                  <p:embed/>
                  <p:pic>
                    <p:nvPicPr>
                      <p:cNvPr id="687110" name="Object 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31233" y="4001682"/>
                        <a:ext cx="6912767" cy="49965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3360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376093"/>
              </p:ext>
            </p:extLst>
          </p:nvPr>
        </p:nvGraphicFramePr>
        <p:xfrm>
          <a:off x="3923928" y="4394975"/>
          <a:ext cx="3816424" cy="723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360805" imgH="231140" progId="Equation.DSMT4">
                  <p:embed/>
                </p:oleObj>
              </mc:Choice>
              <mc:Fallback>
                <p:oleObj r:id="rId7" imgW="1360805" imgH="231140" progId="Equation.DSMT4">
                  <p:embed/>
                  <p:pic>
                    <p:nvPicPr>
                      <p:cNvPr id="783360" name="Object 102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23928" y="4394975"/>
                        <a:ext cx="3816424" cy="723066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3361" name="Rectangle 1025"/>
          <p:cNvSpPr/>
          <p:nvPr/>
        </p:nvSpPr>
        <p:spPr>
          <a:xfrm>
            <a:off x="-26690" y="3984350"/>
            <a:ext cx="28606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磁场强度瞬时值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7AF53A6-96AA-2E6C-46FC-39FED1D89F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5094649"/>
            <a:ext cx="9144000" cy="17272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BE35C9A-662C-1DB1-96FE-4132F696C85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007" y="824009"/>
            <a:ext cx="7999417" cy="7473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8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0"/>
                                        <p:tgtEl>
                                          <p:spTgt spid="68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83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68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78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7108" grpId="0"/>
      <p:bldP spid="78336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1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13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61858" name="Text Box 2"/>
          <p:cNvSpPr txBox="1"/>
          <p:nvPr/>
        </p:nvSpPr>
        <p:spPr>
          <a:xfrm>
            <a:off x="107950" y="1012825"/>
            <a:ext cx="8839200" cy="2898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None/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　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实际的介质都存在损耗，是有耗媒质。</a:t>
            </a:r>
          </a:p>
          <a:p>
            <a:pPr algn="just" eaLnBrk="1" hangingPunct="1">
              <a:lnSpc>
                <a:spcPct val="11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导电媒质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：当电导率有限时，存在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欧姆损耗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algn="just" eaLnBrk="1" hangingPunct="1">
              <a:lnSpc>
                <a:spcPct val="11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u="sng" dirty="0">
                <a:solidFill>
                  <a:schemeClr val="bg1"/>
                </a:solidFill>
                <a:latin typeface="宋体" panose="02010600030101010101" pitchFamily="2" charset="-122"/>
              </a:rPr>
              <a:t>电介质</a:t>
            </a:r>
            <a:r>
              <a:rPr lang="zh-CN" altLang="en-US" u="sng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：受到极化时，存在</a:t>
            </a:r>
            <a:r>
              <a:rPr lang="zh-CN" altLang="en-US" u="sng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极化损耗；电导损耗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algn="just" eaLnBrk="1" hangingPunct="1">
              <a:lnSpc>
                <a:spcPct val="11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u="sng" dirty="0">
                <a:solidFill>
                  <a:schemeClr val="bg1"/>
                </a:solidFill>
                <a:latin typeface="宋体" panose="02010600030101010101" pitchFamily="2" charset="-122"/>
              </a:rPr>
              <a:t>磁介质</a:t>
            </a:r>
            <a:r>
              <a:rPr lang="zh-CN" altLang="en-US" u="sng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：受到磁化时，存在</a:t>
            </a:r>
            <a:r>
              <a:rPr lang="zh-CN" altLang="en-US" u="sng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磁化损耗；电导损耗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algn="just" eaLnBrk="1" hangingPunct="1">
              <a:lnSpc>
                <a:spcPct val="11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损耗的大小与媒质性质、随时间变化的频率有关。</a:t>
            </a:r>
          </a:p>
          <a:p>
            <a:pPr algn="just" eaLnBrk="1" hangingPunct="1">
              <a:lnSpc>
                <a:spcPct val="11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 一些媒质的损耗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在低频时可以忽略，但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在高频时就不能忽略。</a:t>
            </a:r>
          </a:p>
        </p:txBody>
      </p:sp>
      <p:sp>
        <p:nvSpPr>
          <p:cNvPr id="761859" name="Text Box 3"/>
          <p:cNvSpPr txBox="1"/>
          <p:nvPr/>
        </p:nvSpPr>
        <p:spPr>
          <a:xfrm>
            <a:off x="209550" y="471488"/>
            <a:ext cx="853916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4.5.3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复介电常数（复电容率）和复磁导率</a:t>
            </a:r>
            <a:r>
              <a:rPr lang="zh-CN" altLang="en-US" sz="2800" dirty="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761860" name="Object 4"/>
          <p:cNvGraphicFramePr/>
          <p:nvPr/>
        </p:nvGraphicFramePr>
        <p:xfrm>
          <a:off x="1460500" y="5283200"/>
          <a:ext cx="6367463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059940" imgH="231140" progId="Equation.DSMT4">
                  <p:embed/>
                </p:oleObj>
              </mc:Choice>
              <mc:Fallback>
                <p:oleObj r:id="rId4" imgW="2059940" imgH="231140" progId="Equation.DSMT4">
                  <p:embed/>
                  <p:pic>
                    <p:nvPicPr>
                      <p:cNvPr id="761860" name="Object 4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60500" y="5283200"/>
                        <a:ext cx="6367463" cy="809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1861" name="Text Box 5"/>
          <p:cNvSpPr txBox="1"/>
          <p:nvPr/>
        </p:nvSpPr>
        <p:spPr>
          <a:xfrm>
            <a:off x="179388" y="4267200"/>
            <a:ext cx="853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6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Wingdings" panose="05000000000000000000" pitchFamily="2" charset="2"/>
              </a:rPr>
              <a:t>存在欧姆损耗的导电媒质 </a:t>
            </a:r>
            <a:endParaRPr lang="zh-CN" altLang="en-US" dirty="0">
              <a:solidFill>
                <a:srgbClr val="FF99C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61863" name="Text Box 7"/>
          <p:cNvSpPr txBox="1"/>
          <p:nvPr/>
        </p:nvSpPr>
        <p:spPr>
          <a:xfrm>
            <a:off x="179388" y="6103938"/>
            <a:ext cx="8534400" cy="493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3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r>
              <a:rPr lang="zh-CN" altLang="en-US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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－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j</a:t>
            </a:r>
            <a:r>
              <a:rPr lang="el-GR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σ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/</a:t>
            </a:r>
            <a:r>
              <a:rPr lang="el-GR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ω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称为</a:t>
            </a:r>
            <a:r>
              <a:rPr lang="zh-CN" altLang="en-US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导电媒质的</a:t>
            </a:r>
            <a:r>
              <a:rPr lang="zh-CN" altLang="en-US" u="sng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等效介电常数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复电容率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761864" name="Text Box 8"/>
          <p:cNvSpPr txBox="1"/>
          <p:nvPr/>
        </p:nvSpPr>
        <p:spPr>
          <a:xfrm>
            <a:off x="214313" y="4806950"/>
            <a:ext cx="8534400" cy="493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30000"/>
              </a:spcBef>
            </a:pPr>
            <a:r>
              <a:rPr lang="en-US" altLang="zh-CN" dirty="0">
                <a:solidFill>
                  <a:schemeClr val="bg1"/>
                </a:solidFill>
                <a:latin typeface="Verdana" panose="020B0604030504040204" pitchFamily="34" charset="0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对于介电常数为</a:t>
            </a:r>
            <a:r>
              <a:rPr lang="zh-CN" altLang="en-US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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、电导率为</a:t>
            </a:r>
            <a:r>
              <a:rPr lang="zh-CN" altLang="en-US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的导电媒质，有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6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61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6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6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761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7618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7618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76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76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76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2000"/>
                                        <p:tgtEl>
                                          <p:spTgt spid="76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1858" grpId="0" build="p"/>
      <p:bldP spid="761859" grpId="0"/>
      <p:bldP spid="761861" grpId="0"/>
      <p:bldP spid="761863" grpId="0"/>
      <p:bldP spid="76186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1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14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62882" name="Text Box 2"/>
          <p:cNvSpPr txBox="1"/>
          <p:nvPr/>
        </p:nvSpPr>
        <p:spPr>
          <a:xfrm>
            <a:off x="107950" y="538163"/>
            <a:ext cx="883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3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Wingdings" panose="05000000000000000000" pitchFamily="2" charset="2"/>
              </a:rPr>
              <a:t>存在极化损耗的电介质 </a:t>
            </a:r>
            <a:endParaRPr lang="zh-CN" altLang="en-US" dirty="0">
              <a:solidFill>
                <a:srgbClr val="FF99C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62884" name="Text Box 4"/>
          <p:cNvSpPr txBox="1"/>
          <p:nvPr/>
        </p:nvSpPr>
        <p:spPr>
          <a:xfrm>
            <a:off x="107950" y="2573338"/>
            <a:ext cx="73437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3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Wingdings" panose="05000000000000000000" pitchFamily="2" charset="2"/>
              </a:rPr>
              <a:t>同时存在极化损耗和电导损耗的介质</a:t>
            </a:r>
            <a:endParaRPr lang="zh-CN" altLang="en-US" dirty="0">
              <a:solidFill>
                <a:srgbClr val="FF99C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62886" name="Text Box 6"/>
          <p:cNvSpPr txBox="1"/>
          <p:nvPr/>
        </p:nvSpPr>
        <p:spPr>
          <a:xfrm>
            <a:off x="107950" y="4652963"/>
            <a:ext cx="66960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3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Wingdings" panose="05000000000000000000" pitchFamily="2" charset="2"/>
              </a:rPr>
              <a:t>存在磁化损耗的磁介质 </a:t>
            </a:r>
          </a:p>
        </p:txBody>
      </p:sp>
      <p:sp>
        <p:nvSpPr>
          <p:cNvPr id="74765" name="Text Box 11"/>
          <p:cNvSpPr txBox="1"/>
          <p:nvPr/>
        </p:nvSpPr>
        <p:spPr>
          <a:xfrm>
            <a:off x="144107" y="1078920"/>
            <a:ext cx="8839200" cy="1531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en-US" altLang="zh-CN" dirty="0">
                <a:solidFill>
                  <a:schemeClr val="bg1"/>
                </a:solidFill>
                <a:latin typeface="Verdana" panose="020B0604030504040204" pitchFamily="34" charset="0"/>
              </a:rPr>
              <a:t>  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对于存在极化损耗的电介质，有                  ，称为复介电常数或复电容率。其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虚部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为大于零的数，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表示电介质的极化损耗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。在高频情况下，实部和虚部都是频率的函数。</a:t>
            </a:r>
          </a:p>
        </p:txBody>
      </p:sp>
      <p:sp>
        <p:nvSpPr>
          <p:cNvPr id="762894" name="Text Box 14"/>
          <p:cNvSpPr txBox="1"/>
          <p:nvPr/>
        </p:nvSpPr>
        <p:spPr>
          <a:xfrm>
            <a:off x="106363" y="3105150"/>
            <a:ext cx="8929687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Verdana" panose="020B0604030504040204" pitchFamily="34" charset="0"/>
                <a:ea typeface="楷体_GB2312" pitchFamily="49" charset="-122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Verdana" panose="020B0604030504040204" pitchFamily="34" charset="0"/>
                <a:ea typeface="楷体_GB2312" pitchFamily="49" charset="-122"/>
              </a:rPr>
              <a:t>对于同时存在电极化损耗和电导损耗的电介质，等效复介电常数为</a:t>
            </a:r>
          </a:p>
        </p:txBody>
      </p:sp>
      <p:sp>
        <p:nvSpPr>
          <p:cNvPr id="74763" name="Text Box 16"/>
          <p:cNvSpPr txBox="1"/>
          <p:nvPr/>
        </p:nvSpPr>
        <p:spPr>
          <a:xfrm>
            <a:off x="61128" y="5140325"/>
            <a:ext cx="8964613" cy="104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en-US" altLang="zh-CN" dirty="0">
                <a:solidFill>
                  <a:schemeClr val="bg1"/>
                </a:solidFill>
                <a:latin typeface="Verdana" panose="020B0604030504040204" pitchFamily="34" charset="0"/>
              </a:rPr>
              <a:t>  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对于磁性介质，复磁导率数为                      ，其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虚部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为大于零的数，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表示磁介质的磁化损耗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362D866-B460-9115-55CF-78ADACCAC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9870" y="1129577"/>
            <a:ext cx="1583953" cy="4649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48288BC-60FB-E6A6-4526-0F83648C8A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632" y="3723358"/>
            <a:ext cx="2256399" cy="6887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D328F16-94FB-7AA0-AD2B-28C6BF574F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8024" y="5184140"/>
            <a:ext cx="1741636" cy="54737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6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6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62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6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2882" grpId="0"/>
      <p:bldP spid="762884" grpId="0"/>
      <p:bldP spid="762886" grpId="0"/>
      <p:bldP spid="76289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灯片编号占位符 1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15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63906" name="Text Box 2"/>
          <p:cNvSpPr txBox="1"/>
          <p:nvPr/>
        </p:nvSpPr>
        <p:spPr>
          <a:xfrm>
            <a:off x="107950" y="333375"/>
            <a:ext cx="87852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3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Wingdings" panose="05000000000000000000" pitchFamily="2" charset="2"/>
              </a:rPr>
              <a:t>损耗角正切</a:t>
            </a:r>
            <a:endParaRPr lang="zh-CN" altLang="en-US" dirty="0">
              <a:solidFill>
                <a:srgbClr val="FF99C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63908" name="Text Box 4"/>
          <p:cNvSpPr txBox="1"/>
          <p:nvPr/>
        </p:nvSpPr>
        <p:spPr>
          <a:xfrm>
            <a:off x="0" y="3908425"/>
            <a:ext cx="87852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3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Wingdings" panose="05000000000000000000" pitchFamily="2" charset="2"/>
              </a:rPr>
              <a:t>导电媒质导电性能的相对性</a:t>
            </a:r>
            <a:endParaRPr lang="zh-CN" altLang="en-US" dirty="0">
              <a:solidFill>
                <a:srgbClr val="FF99C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6825" name="Text Box 12"/>
          <p:cNvSpPr txBox="1"/>
          <p:nvPr/>
        </p:nvSpPr>
        <p:spPr>
          <a:xfrm>
            <a:off x="5613401" y="4081858"/>
            <a:ext cx="3243262" cy="46544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3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弱导电媒质（绝缘体）</a:t>
            </a:r>
          </a:p>
        </p:txBody>
      </p:sp>
      <p:sp>
        <p:nvSpPr>
          <p:cNvPr id="76823" name="Text Box 15"/>
          <p:cNvSpPr txBox="1"/>
          <p:nvPr/>
        </p:nvSpPr>
        <p:spPr>
          <a:xfrm>
            <a:off x="5524942" y="4954761"/>
            <a:ext cx="3675062" cy="40729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： 一般导电媒质（半导体）</a:t>
            </a:r>
          </a:p>
        </p:txBody>
      </p:sp>
      <p:sp>
        <p:nvSpPr>
          <p:cNvPr id="76821" name="Text Box 16"/>
          <p:cNvSpPr txBox="1"/>
          <p:nvPr/>
        </p:nvSpPr>
        <p:spPr>
          <a:xfrm>
            <a:off x="5559716" y="5600079"/>
            <a:ext cx="3563937" cy="4070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zh-CN" altLang="en-US" sz="2000" dirty="0">
                <a:solidFill>
                  <a:srgbClr val="5BAB7F"/>
                </a:solidFill>
                <a:latin typeface="Times New Roman" panose="02020603050405020304" pitchFamily="18" charset="0"/>
                <a:ea typeface="楷体_GB2312" pitchFamily="49" charset="-122"/>
              </a:rPr>
              <a:t>良导体（导体）</a:t>
            </a:r>
          </a:p>
        </p:txBody>
      </p:sp>
      <p:sp>
        <p:nvSpPr>
          <p:cNvPr id="763924" name="Text Box 20"/>
          <p:cNvSpPr txBox="1"/>
          <p:nvPr/>
        </p:nvSpPr>
        <p:spPr>
          <a:xfrm>
            <a:off x="107950" y="692150"/>
            <a:ext cx="8785225" cy="104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en-US" altLang="zh-CN" dirty="0">
                <a:solidFill>
                  <a:schemeClr val="bg1"/>
                </a:solidFill>
                <a:latin typeface="Verdana" panose="020B0604030504040204" pitchFamily="34" charset="0"/>
              </a:rPr>
              <a:t>      </a:t>
            </a:r>
            <a:r>
              <a:rPr lang="zh-CN" altLang="en-US" dirty="0">
                <a:solidFill>
                  <a:schemeClr val="bg1"/>
                </a:solidFill>
                <a:latin typeface="Verdana" panose="020B0604030504040204" pitchFamily="34" charset="0"/>
                <a:ea typeface="楷体_GB2312" pitchFamily="49" charset="-122"/>
              </a:rPr>
              <a:t>工程上通常用损耗角正切来表示</a:t>
            </a:r>
            <a:r>
              <a:rPr lang="zh-CN" altLang="en-US" dirty="0">
                <a:solidFill>
                  <a:srgbClr val="FF9900"/>
                </a:solidFill>
                <a:latin typeface="Verdana" panose="020B0604030504040204" pitchFamily="34" charset="0"/>
                <a:ea typeface="楷体_GB2312" pitchFamily="49" charset="-122"/>
              </a:rPr>
              <a:t>介质的损耗特性</a:t>
            </a:r>
            <a:r>
              <a:rPr lang="zh-CN" altLang="en-US" dirty="0">
                <a:solidFill>
                  <a:schemeClr val="bg1"/>
                </a:solidFill>
                <a:latin typeface="Verdana" panose="020B0604030504040204" pitchFamily="34" charset="0"/>
                <a:ea typeface="楷体_GB2312" pitchFamily="49" charset="-122"/>
              </a:rPr>
              <a:t>，其定义为复介电常数或复磁导率的</a:t>
            </a:r>
            <a:r>
              <a:rPr lang="zh-CN" altLang="en-US" dirty="0">
                <a:solidFill>
                  <a:srgbClr val="FF9900"/>
                </a:solidFill>
                <a:latin typeface="Verdana" panose="020B0604030504040204" pitchFamily="34" charset="0"/>
                <a:ea typeface="楷体_GB2312" pitchFamily="49" charset="-122"/>
              </a:rPr>
              <a:t>虚部与实部之比</a:t>
            </a:r>
            <a:r>
              <a:rPr lang="zh-CN" altLang="en-US" dirty="0">
                <a:solidFill>
                  <a:schemeClr val="bg1"/>
                </a:solidFill>
                <a:latin typeface="Verdana" panose="020B0604030504040204" pitchFamily="34" charset="0"/>
                <a:ea typeface="楷体_GB2312" pitchFamily="49" charset="-122"/>
              </a:rPr>
              <a:t>。</a:t>
            </a:r>
          </a:p>
        </p:txBody>
      </p:sp>
      <p:sp>
        <p:nvSpPr>
          <p:cNvPr id="763925" name="Text Box 21"/>
          <p:cNvSpPr txBox="1"/>
          <p:nvPr/>
        </p:nvSpPr>
        <p:spPr>
          <a:xfrm>
            <a:off x="107950" y="4460875"/>
            <a:ext cx="3384550" cy="1990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Verdana" panose="020B0604030504040204" pitchFamily="34" charset="0"/>
                <a:ea typeface="楷体_GB2312" pitchFamily="49" charset="-122"/>
              </a:rPr>
              <a:t>导电媒质的导电性能具有相对性，在不同频率情况下，导电媒质具有不同的导电性能。</a:t>
            </a:r>
          </a:p>
        </p:txBody>
      </p:sp>
      <p:sp>
        <p:nvSpPr>
          <p:cNvPr id="763926" name="AutoShape 22"/>
          <p:cNvSpPr/>
          <p:nvPr/>
        </p:nvSpPr>
        <p:spPr>
          <a:xfrm flipH="1">
            <a:off x="3635375" y="5300663"/>
            <a:ext cx="720725" cy="290512"/>
          </a:xfrm>
          <a:prstGeom prst="leftArrow">
            <a:avLst>
              <a:gd name="adj1" fmla="val 50000"/>
              <a:gd name="adj2" fmla="val 62010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63933" name="Text Box 29"/>
          <p:cNvSpPr txBox="1"/>
          <p:nvPr/>
        </p:nvSpPr>
        <p:spPr>
          <a:xfrm>
            <a:off x="611188" y="1771650"/>
            <a:ext cx="1512887" cy="5667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buBlip>
                <a:blip r:embed="rId4"/>
              </a:buBlip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电介质</a:t>
            </a:r>
          </a:p>
        </p:txBody>
      </p:sp>
      <p:sp>
        <p:nvSpPr>
          <p:cNvPr id="763934" name="Text Box 30"/>
          <p:cNvSpPr txBox="1"/>
          <p:nvPr/>
        </p:nvSpPr>
        <p:spPr>
          <a:xfrm>
            <a:off x="611188" y="2492375"/>
            <a:ext cx="1512887" cy="5667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buBlip>
                <a:blip r:embed="rId4"/>
              </a:buBlip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磁介质</a:t>
            </a:r>
          </a:p>
        </p:txBody>
      </p:sp>
      <p:sp>
        <p:nvSpPr>
          <p:cNvPr id="763935" name="Text Box 31"/>
          <p:cNvSpPr txBox="1"/>
          <p:nvPr/>
        </p:nvSpPr>
        <p:spPr>
          <a:xfrm>
            <a:off x="611188" y="3222625"/>
            <a:ext cx="2627312" cy="5667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buBlip>
                <a:blip r:embed="rId4"/>
              </a:buBlip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导电媒质</a:t>
            </a:r>
          </a:p>
        </p:txBody>
      </p:sp>
      <p:sp>
        <p:nvSpPr>
          <p:cNvPr id="763936" name="Text Box 32"/>
          <p:cNvSpPr txBox="1"/>
          <p:nvPr/>
        </p:nvSpPr>
        <p:spPr>
          <a:xfrm>
            <a:off x="3274240" y="1805781"/>
            <a:ext cx="5292725" cy="573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（电介质受到极化时存在极化损耗）</a:t>
            </a:r>
          </a:p>
        </p:txBody>
      </p:sp>
      <p:sp>
        <p:nvSpPr>
          <p:cNvPr id="763937" name="Text Box 33"/>
          <p:cNvSpPr txBox="1"/>
          <p:nvPr/>
        </p:nvSpPr>
        <p:spPr>
          <a:xfrm>
            <a:off x="3274849" y="2507214"/>
            <a:ext cx="5292725" cy="5667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（磁介质受到磁化时存在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磁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化损耗）</a:t>
            </a:r>
          </a:p>
        </p:txBody>
      </p:sp>
      <p:sp>
        <p:nvSpPr>
          <p:cNvPr id="763938" name="Text Box 34"/>
          <p:cNvSpPr txBox="1"/>
          <p:nvPr/>
        </p:nvSpPr>
        <p:spPr>
          <a:xfrm>
            <a:off x="3297998" y="3221037"/>
            <a:ext cx="2520950" cy="5667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（欧姆损耗）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BEE10C-5469-42E7-6F84-968B762BA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3322" y="1733550"/>
            <a:ext cx="1215178" cy="6822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B3170E0-E988-4BEF-2944-86F82800AA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6247" y="2472906"/>
            <a:ext cx="1293348" cy="68220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049B317-DCB7-3930-F786-5351883F88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7744" y="3271867"/>
            <a:ext cx="1112558" cy="5653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6BC9637-B476-C132-7B0C-0AE02C5B1A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0334" y="4005064"/>
            <a:ext cx="969729" cy="63913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0BBFC4E-1431-1FE9-5A61-71672CFDDC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9269" y="4852356"/>
            <a:ext cx="810034" cy="5850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BABB3DF-09BE-599A-F456-9A1A317E8AA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6613" y="5568541"/>
            <a:ext cx="895346" cy="55525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508F0AD-A468-FE79-2CB4-197F925A13BD}"/>
              </a:ext>
            </a:extLst>
          </p:cNvPr>
          <p:cNvSpPr txBox="1"/>
          <p:nvPr/>
        </p:nvSpPr>
        <p:spPr>
          <a:xfrm>
            <a:off x="4404806" y="6178748"/>
            <a:ext cx="4828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（见“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2.5.2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位移电流”中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例 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2.5.3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000" dirty="0">
                <a:solidFill>
                  <a:srgbClr val="FF9900"/>
                </a:solidFill>
              </a:rPr>
              <a:t>）</a:t>
            </a:r>
            <a:endParaRPr lang="zh-CN" alt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6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63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6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63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763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763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763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763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763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763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000"/>
                                        <p:tgtEl>
                                          <p:spTgt spid="763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3906" grpId="0"/>
      <p:bldP spid="763908" grpId="0"/>
      <p:bldP spid="763924" grpId="0"/>
      <p:bldP spid="763925" grpId="0"/>
      <p:bldP spid="763926" grpId="0" animBg="1"/>
      <p:bldP spid="763933" grpId="0"/>
      <p:bldP spid="763934" grpId="0"/>
      <p:bldP spid="763935" grpId="0"/>
      <p:bldP spid="763936" grpId="0"/>
      <p:bldP spid="763937" grpId="0"/>
      <p:bldP spid="7639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1">
            <a:extLst>
              <a:ext uri="{FF2B5EF4-FFF2-40B4-BE49-F238E27FC236}">
                <a16:creationId xmlns:a16="http://schemas.microsoft.com/office/drawing/2014/main" id="{48089EAC-3AAC-CD9E-66B8-BBB46A479277}"/>
              </a:ext>
            </a:extLst>
          </p:cNvPr>
          <p:cNvSpPr txBox="1"/>
          <p:nvPr/>
        </p:nvSpPr>
        <p:spPr>
          <a:xfrm>
            <a:off x="323528" y="260648"/>
            <a:ext cx="8712968" cy="52386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Verdana" panose="020B0604030504040204" pitchFamily="34" charset="0"/>
                <a:ea typeface="楷体_GB2312" pitchFamily="49" charset="-122"/>
              </a:rPr>
              <a:t>媒质的导电性能：不但与电导率有关，还与工作频率密切相关。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BE9D3CB-565D-8FB0-995C-5D853E142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5423101"/>
            <a:ext cx="3888432" cy="144116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CFD07DB-A6A4-844F-BE82-A9569C0FA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888" y="838713"/>
            <a:ext cx="6050456" cy="45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20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1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17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64942" name="Text Box 14"/>
          <p:cNvSpPr txBox="1"/>
          <p:nvPr/>
        </p:nvSpPr>
        <p:spPr>
          <a:xfrm>
            <a:off x="77788" y="4797425"/>
            <a:ext cx="2549525" cy="104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导电媒质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（有耗）</a:t>
            </a:r>
          </a:p>
        </p:txBody>
      </p:sp>
      <p:sp>
        <p:nvSpPr>
          <p:cNvPr id="764945" name="Text Box 17"/>
          <p:cNvSpPr txBox="1"/>
          <p:nvPr/>
        </p:nvSpPr>
        <p:spPr>
          <a:xfrm>
            <a:off x="77788" y="2747963"/>
            <a:ext cx="3198812" cy="104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理想介质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（无耗）</a:t>
            </a:r>
          </a:p>
        </p:txBody>
      </p:sp>
      <p:sp>
        <p:nvSpPr>
          <p:cNvPr id="764935" name="Text Box 7"/>
          <p:cNvSpPr txBox="1"/>
          <p:nvPr/>
        </p:nvSpPr>
        <p:spPr>
          <a:xfrm>
            <a:off x="128588" y="333375"/>
            <a:ext cx="7467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4.5.4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亥姆霍兹方程</a:t>
            </a:r>
            <a:r>
              <a:rPr lang="zh-CN" altLang="en-US" sz="2800" dirty="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78867" name="Text Box 8"/>
          <p:cNvSpPr txBox="1"/>
          <p:nvPr/>
        </p:nvSpPr>
        <p:spPr>
          <a:xfrm>
            <a:off x="0" y="946151"/>
            <a:ext cx="9036050" cy="1128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  <a:sym typeface="Wingdings" panose="05000000000000000000" pitchFamily="2" charset="2"/>
              </a:rPr>
              <a:t>在时谐场情况下，将                    ，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即可得到</a:t>
            </a:r>
            <a:r>
              <a:rPr lang="zh-CN" altLang="en-US" u="sng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无源空间</a:t>
            </a:r>
            <a:r>
              <a:rPr lang="zh-CN" altLang="en-US" u="sng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中的</a:t>
            </a:r>
            <a:r>
              <a:rPr lang="zh-CN" altLang="en-US" u="sng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复矢量的波动方程</a:t>
            </a:r>
            <a:r>
              <a:rPr lang="zh-CN" altLang="en-US" u="sng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，称为亥姆霍兹方程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。</a:t>
            </a:r>
          </a:p>
        </p:txBody>
      </p:sp>
      <p:sp>
        <p:nvSpPr>
          <p:cNvPr id="764949" name="Text Box 21"/>
          <p:cNvSpPr txBox="1"/>
          <p:nvPr/>
        </p:nvSpPr>
        <p:spPr>
          <a:xfrm>
            <a:off x="2193925" y="2071688"/>
            <a:ext cx="2665413" cy="493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9900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瞬时矢量</a:t>
            </a:r>
            <a:endParaRPr lang="zh-CN" altLang="en-US" dirty="0">
              <a:solidFill>
                <a:srgbClr val="FF9900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764950" name="Text Box 22"/>
          <p:cNvSpPr txBox="1"/>
          <p:nvPr/>
        </p:nvSpPr>
        <p:spPr>
          <a:xfrm>
            <a:off x="6370638" y="2060575"/>
            <a:ext cx="2089150" cy="493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9900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复矢量</a:t>
            </a:r>
            <a:endParaRPr lang="zh-CN" altLang="en-US" dirty="0">
              <a:solidFill>
                <a:srgbClr val="FF9900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78866" name="AutoShape 24"/>
          <p:cNvSpPr/>
          <p:nvPr/>
        </p:nvSpPr>
        <p:spPr>
          <a:xfrm flipH="1">
            <a:off x="4787900" y="3384291"/>
            <a:ext cx="760714" cy="200997"/>
          </a:xfrm>
          <a:prstGeom prst="leftArrow">
            <a:avLst>
              <a:gd name="adj1" fmla="val 50000"/>
              <a:gd name="adj2" fmla="val 91710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8863" name="AutoShape 30"/>
          <p:cNvSpPr/>
          <p:nvPr/>
        </p:nvSpPr>
        <p:spPr>
          <a:xfrm flipH="1">
            <a:off x="5254625" y="5188616"/>
            <a:ext cx="746863" cy="199189"/>
          </a:xfrm>
          <a:prstGeom prst="leftArrow">
            <a:avLst>
              <a:gd name="adj1" fmla="val 50000"/>
              <a:gd name="adj2" fmla="val 91710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1167ABE-4519-C2A2-4C65-3DAC64243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597" y="2747963"/>
            <a:ext cx="2567504" cy="169652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2C95283-18DF-8EBC-A624-EA77A6A97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176" y="2778813"/>
            <a:ext cx="1971405" cy="141195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4C6AB0C-456E-2BD7-30AF-E2329226A0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5696" y="4627048"/>
            <a:ext cx="3312368" cy="156124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DAC1A2B-08D9-A641-97D6-2690084779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1111" y="4627048"/>
            <a:ext cx="1826470" cy="141195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886F3C5-749A-626D-B8E9-B58CA494A5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428" y="950549"/>
            <a:ext cx="3113657" cy="71169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C30FBC4D-3DF2-F6A0-C930-767A584CD6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0059" y="392003"/>
            <a:ext cx="5142857" cy="571429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6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64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64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64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764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4942" grpId="0"/>
      <p:bldP spid="764945" grpId="0"/>
      <p:bldP spid="764935" grpId="0"/>
      <p:bldP spid="764949" grpId="0"/>
      <p:bldP spid="76495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灯片编号占位符 1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18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86434" name="Text Box 2"/>
          <p:cNvSpPr txBox="1"/>
          <p:nvPr/>
        </p:nvSpPr>
        <p:spPr>
          <a:xfrm>
            <a:off x="106363" y="476250"/>
            <a:ext cx="7467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4.5.5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时谐场的位函数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86435" name="Text Box 3"/>
          <p:cNvSpPr txBox="1"/>
          <p:nvPr/>
        </p:nvSpPr>
        <p:spPr>
          <a:xfrm>
            <a:off x="127000" y="836613"/>
            <a:ext cx="8858250" cy="104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  <a:sym typeface="Wingdings" panose="05000000000000000000" pitchFamily="2" charset="2"/>
              </a:rPr>
              <a:t>在时谐情况下，矢量位和标量位以及它们满足的方程都可以表示成复数形式。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  <a:sym typeface="Wingdings" panose="05000000000000000000" pitchFamily="2" charset="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1A9D85C-3DD6-CF5F-4B8A-A5F483D27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821283"/>
            <a:ext cx="8388424" cy="4560467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598A9AA-0464-C6E2-B9CE-1993CB391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1357353"/>
            <a:ext cx="5142857" cy="571429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86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8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6434" grpId="0"/>
      <p:bldP spid="78643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灯片编号占位符 1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19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65954" name="Text Box 2"/>
          <p:cNvSpPr txBox="1"/>
          <p:nvPr/>
        </p:nvSpPr>
        <p:spPr>
          <a:xfrm>
            <a:off x="200025" y="476250"/>
            <a:ext cx="7467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4.5.6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平均能量密度和平均能流密度矢量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65955" name="Text Box 3"/>
          <p:cNvSpPr txBox="1"/>
          <p:nvPr/>
        </p:nvSpPr>
        <p:spPr>
          <a:xfrm>
            <a:off x="215900" y="4043363"/>
            <a:ext cx="8604250" cy="104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　  </a:t>
            </a:r>
            <a:r>
              <a:rPr lang="zh-CN" altLang="en-US" u="sng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二次式本身不能用复数形式表示</a:t>
            </a:r>
            <a:r>
              <a:rPr lang="zh-CN" altLang="en-US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，其中的场量必须是实数形式，不能将复数形式的场量直接代入。</a:t>
            </a:r>
          </a:p>
        </p:txBody>
      </p:sp>
      <p:sp>
        <p:nvSpPr>
          <p:cNvPr id="765959" name="Text Box 7"/>
          <p:cNvSpPr txBox="1"/>
          <p:nvPr/>
        </p:nvSpPr>
        <p:spPr>
          <a:xfrm>
            <a:off x="179388" y="947738"/>
            <a:ext cx="8856662" cy="104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buBlip>
                <a:blip r:embed="rId3"/>
              </a:buBlip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 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电磁场能量密度和能流密度的表达式中都包含了</a:t>
            </a: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场量的平方</a:t>
            </a:r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     关系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，这种关系式称为</a:t>
            </a: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二次式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。</a:t>
            </a:r>
          </a:p>
        </p:txBody>
      </p:sp>
      <p:sp>
        <p:nvSpPr>
          <p:cNvPr id="765960" name="Text Box 8"/>
          <p:cNvSpPr txBox="1"/>
          <p:nvPr/>
        </p:nvSpPr>
        <p:spPr>
          <a:xfrm>
            <a:off x="144463" y="3332163"/>
            <a:ext cx="76676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4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Wingdings" panose="05000000000000000000" pitchFamily="2" charset="2"/>
              </a:rPr>
              <a:t>时谐场中二次式的表示方法</a:t>
            </a:r>
          </a:p>
        </p:txBody>
      </p:sp>
      <p:sp>
        <p:nvSpPr>
          <p:cNvPr id="82951" name="Rectangle 10"/>
          <p:cNvSpPr/>
          <p:nvPr/>
        </p:nvSpPr>
        <p:spPr>
          <a:xfrm>
            <a:off x="250825" y="2205038"/>
            <a:ext cx="45466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空间区域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中的电磁能量：</a:t>
            </a:r>
          </a:p>
        </p:txBody>
      </p:sp>
      <p:sp>
        <p:nvSpPr>
          <p:cNvPr id="82954" name="Text Box 13"/>
          <p:cNvSpPr txBox="1"/>
          <p:nvPr/>
        </p:nvSpPr>
        <p:spPr>
          <a:xfrm>
            <a:off x="-107950" y="2565400"/>
            <a:ext cx="6121400" cy="52418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                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               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706612" name="Object 52"/>
          <p:cNvGraphicFramePr>
            <a:graphicFrameLocks noChangeAspect="1"/>
          </p:cNvGraphicFramePr>
          <p:nvPr/>
        </p:nvGraphicFramePr>
        <p:xfrm>
          <a:off x="3995738" y="1989138"/>
          <a:ext cx="492442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04620" imgH="226060" progId="Equation.3">
                  <p:embed/>
                </p:oleObj>
              </mc:Choice>
              <mc:Fallback>
                <p:oleObj r:id="rId5" imgW="1404620" imgH="226060" progId="Equation.3">
                  <p:embed/>
                  <p:pic>
                    <p:nvPicPr>
                      <p:cNvPr id="706612" name="Object 5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95738" y="1989138"/>
                        <a:ext cx="4924425" cy="942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93F82324-EA62-E034-D3BA-04E6E6F8E4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1720" y="2868109"/>
            <a:ext cx="1584176" cy="528059"/>
          </a:xfrm>
          <a:prstGeom prst="rect">
            <a:avLst/>
          </a:prstGeom>
        </p:spPr>
      </p:pic>
      <p:sp>
        <p:nvSpPr>
          <p:cNvPr id="2" name="Rectangle 10">
            <a:extLst>
              <a:ext uri="{FF2B5EF4-FFF2-40B4-BE49-F238E27FC236}">
                <a16:creationId xmlns:a16="http://schemas.microsoft.com/office/drawing/2014/main" id="{70BF74F9-BE10-AD3D-23D7-94FE9149059D}"/>
              </a:ext>
            </a:extLst>
          </p:cNvPr>
          <p:cNvSpPr/>
          <p:nvPr/>
        </p:nvSpPr>
        <p:spPr>
          <a:xfrm>
            <a:off x="282181" y="2878108"/>
            <a:ext cx="4546600" cy="40011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/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电磁能量密度：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6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6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65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6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70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5954" grpId="0"/>
      <p:bldP spid="765955" grpId="0"/>
      <p:bldP spid="765959" grpId="0"/>
      <p:bldP spid="76596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灯片编号占位符 1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20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87461" name="Text Box 5"/>
          <p:cNvSpPr txBox="1"/>
          <p:nvPr/>
        </p:nvSpPr>
        <p:spPr>
          <a:xfrm>
            <a:off x="107950" y="404813"/>
            <a:ext cx="883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3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二次式的时间平均值</a:t>
            </a:r>
          </a:p>
        </p:txBody>
      </p:sp>
      <p:sp>
        <p:nvSpPr>
          <p:cNvPr id="787462" name="Text Box 6"/>
          <p:cNvSpPr txBox="1"/>
          <p:nvPr/>
        </p:nvSpPr>
        <p:spPr>
          <a:xfrm>
            <a:off x="107950" y="947738"/>
            <a:ext cx="8856663" cy="104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buBlip>
                <a:blip r:embed="rId4"/>
              </a:buBlip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 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在时谐电磁场中，常常要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关心</a:t>
            </a: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二次式</a:t>
            </a: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在一个时间周期 </a:t>
            </a:r>
            <a:r>
              <a:rPr lang="en-US" altLang="zh-CN" i="1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T </a:t>
            </a: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中的</a:t>
            </a:r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     平均值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，即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楷体_GB2312" pitchFamily="49" charset="-122"/>
              <a:sym typeface="Wingdings" panose="05000000000000000000" pitchFamily="2" charset="2"/>
            </a:endParaRPr>
          </a:p>
        </p:txBody>
      </p:sp>
      <p:sp>
        <p:nvSpPr>
          <p:cNvPr id="787463" name="Rectangle 7"/>
          <p:cNvSpPr/>
          <p:nvPr/>
        </p:nvSpPr>
        <p:spPr>
          <a:xfrm>
            <a:off x="900113" y="3906838"/>
            <a:ext cx="36718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平均能流密度矢量</a:t>
            </a:r>
          </a:p>
        </p:txBody>
      </p:sp>
      <p:sp>
        <p:nvSpPr>
          <p:cNvPr id="787464" name="Rectangle 8"/>
          <p:cNvSpPr/>
          <p:nvPr/>
        </p:nvSpPr>
        <p:spPr>
          <a:xfrm>
            <a:off x="900113" y="2125663"/>
            <a:ext cx="40322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平均电场能量密度</a:t>
            </a:r>
          </a:p>
        </p:txBody>
      </p:sp>
      <p:sp>
        <p:nvSpPr>
          <p:cNvPr id="787465" name="Rectangle 9"/>
          <p:cNvSpPr/>
          <p:nvPr/>
        </p:nvSpPr>
        <p:spPr>
          <a:xfrm>
            <a:off x="900113" y="3036888"/>
            <a:ext cx="36718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平均磁场能量密度</a:t>
            </a:r>
          </a:p>
        </p:txBody>
      </p:sp>
      <p:sp>
        <p:nvSpPr>
          <p:cNvPr id="787471" name="Text Box 15"/>
          <p:cNvSpPr txBox="1"/>
          <p:nvPr/>
        </p:nvSpPr>
        <p:spPr>
          <a:xfrm>
            <a:off x="107950" y="4652963"/>
            <a:ext cx="8891588" cy="104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buBlip>
                <a:blip r:embed="rId4"/>
              </a:buBlip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在</a:t>
            </a: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时谐电磁场中，二次式</a:t>
            </a: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的时间平均值可以直接由复矢量计</a:t>
            </a:r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      算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：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楷体_GB2312" pitchFamily="49" charset="-122"/>
              <a:sym typeface="Wingdings" panose="05000000000000000000" pitchFamily="2" charset="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57FD10-2739-1932-1655-F744E0DEFE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2430" y="5154492"/>
            <a:ext cx="7379866" cy="75577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9F2565C-F658-351D-3AEA-0C5AFB1808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7904" y="1989138"/>
            <a:ext cx="4356798" cy="26638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87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8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8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8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78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787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7461" grpId="0" build="p"/>
      <p:bldP spid="787462" grpId="0"/>
      <p:bldP spid="787463" grpId="0"/>
      <p:bldP spid="787464" grpId="0"/>
      <p:bldP spid="787465" grpId="0"/>
      <p:bldP spid="78747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灯片编号占位符 1"/>
          <p:cNvSpPr txBox="1">
            <a:spLocks noGrp="1"/>
          </p:cNvSpPr>
          <p:nvPr/>
        </p:nvSpPr>
        <p:spPr>
          <a:xfrm>
            <a:off x="6877050" y="65088"/>
            <a:ext cx="2133600" cy="2682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21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graphicFrame>
        <p:nvGraphicFramePr>
          <p:cNvPr id="110620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985075"/>
              </p:ext>
            </p:extLst>
          </p:nvPr>
        </p:nvGraphicFramePr>
        <p:xfrm>
          <a:off x="1547813" y="836613"/>
          <a:ext cx="6192837" cy="3816523"/>
        </p:xfrm>
        <a:graphic>
          <a:graphicData uri="http://schemas.openxmlformats.org/drawingml/2006/table">
            <a:tbl>
              <a:tblPr/>
              <a:tblGrid>
                <a:gridCol w="2592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6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二次式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二次式的平均值（法一）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99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96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7054" name="Object 15"/>
          <p:cNvGraphicFramePr>
            <a:graphicFrameLocks noChangeAspect="1"/>
          </p:cNvGraphicFramePr>
          <p:nvPr/>
        </p:nvGraphicFramePr>
        <p:xfrm>
          <a:off x="1908175" y="1484313"/>
          <a:ext cx="1401763" cy="209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90220" imgH="539750" progId="Equation.3">
                  <p:embed/>
                </p:oleObj>
              </mc:Choice>
              <mc:Fallback>
                <p:oleObj r:id="rId3" imgW="490220" imgH="539750" progId="Equation.3">
                  <p:embed/>
                  <p:pic>
                    <p:nvPicPr>
                      <p:cNvPr id="87054" name="Object 1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08175" y="1484313"/>
                        <a:ext cx="1401763" cy="2092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5" name="Object 15"/>
          <p:cNvGraphicFramePr>
            <a:graphicFrameLocks noChangeAspect="1"/>
          </p:cNvGraphicFramePr>
          <p:nvPr/>
        </p:nvGraphicFramePr>
        <p:xfrm>
          <a:off x="4356100" y="1436688"/>
          <a:ext cx="3240088" cy="271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95070" imgH="732790" progId="Equation.3">
                  <p:embed/>
                </p:oleObj>
              </mc:Choice>
              <mc:Fallback>
                <p:oleObj r:id="rId5" imgW="1195070" imgH="732790" progId="Equation.3">
                  <p:embed/>
                  <p:pic>
                    <p:nvPicPr>
                      <p:cNvPr id="87055" name="Object 1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56100" y="1436688"/>
                        <a:ext cx="3240088" cy="2713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7" name="矩形 1"/>
          <p:cNvSpPr/>
          <p:nvPr/>
        </p:nvSpPr>
        <p:spPr>
          <a:xfrm>
            <a:off x="766763" y="4756150"/>
            <a:ext cx="3570287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dirty="0">
                <a:solidFill>
                  <a:srgbClr val="FF99CC"/>
                </a:solidFill>
                <a:latin typeface="Arial" panose="020B0604020202020204" pitchFamily="34" charset="0"/>
              </a:rPr>
              <a:t>二次式的平均值（法二）</a:t>
            </a:r>
            <a:endParaRPr lang="en-US" altLang="zh-CN" dirty="0">
              <a:solidFill>
                <a:srgbClr val="FF99CC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03103BE-E0CD-002C-C424-51E6EBF894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608" y="5249187"/>
            <a:ext cx="7379866" cy="75577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CE2BEB3-D5C6-9D8C-007F-C05160519A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4092777"/>
            <a:ext cx="2016224" cy="49641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95046AA-2EBB-4DAA-3AE1-451415CC63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8175" y="3629201"/>
            <a:ext cx="1583705" cy="45489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22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graphicFrame>
        <p:nvGraphicFramePr>
          <p:cNvPr id="851973" name="Object 5"/>
          <p:cNvGraphicFramePr>
            <a:graphicFrameLocks noChangeAspect="1"/>
          </p:cNvGraphicFramePr>
          <p:nvPr/>
        </p:nvGraphicFramePr>
        <p:xfrm>
          <a:off x="547688" y="4811713"/>
          <a:ext cx="2389187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70585" imgH="214630" progId="Equation.3">
                  <p:embed/>
                </p:oleObj>
              </mc:Choice>
              <mc:Fallback>
                <p:oleObj r:id="rId3" imgW="870585" imgH="214630" progId="Equation.3">
                  <p:embed/>
                  <p:pic>
                    <p:nvPicPr>
                      <p:cNvPr id="851973" name="Object 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7688" y="4811713"/>
                        <a:ext cx="2389187" cy="777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74" name="Object 6"/>
          <p:cNvGraphicFramePr>
            <a:graphicFrameLocks noChangeAspect="1"/>
          </p:cNvGraphicFramePr>
          <p:nvPr/>
        </p:nvGraphicFramePr>
        <p:xfrm>
          <a:off x="539750" y="4213225"/>
          <a:ext cx="2659063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86155" imgH="214630" progId="Equation.3">
                  <p:embed/>
                </p:oleObj>
              </mc:Choice>
              <mc:Fallback>
                <p:oleObj r:id="rId5" imgW="986155" imgH="214630" progId="Equation.3">
                  <p:embed/>
                  <p:pic>
                    <p:nvPicPr>
                      <p:cNvPr id="851974" name="Object 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4213225"/>
                        <a:ext cx="2659063" cy="769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5537858"/>
              </p:ext>
            </p:extLst>
          </p:nvPr>
        </p:nvGraphicFramePr>
        <p:xfrm>
          <a:off x="567474" y="3331769"/>
          <a:ext cx="183197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55320" imgH="226060" progId="Equation.3">
                  <p:embed/>
                </p:oleObj>
              </mc:Choice>
              <mc:Fallback>
                <p:oleObj r:id="rId7" imgW="655320" imgH="226060" progId="Equation.3">
                  <p:embed/>
                  <p:pic>
                    <p:nvPicPr>
                      <p:cNvPr id="851975" name="Object 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7474" y="3331769"/>
                        <a:ext cx="1831975" cy="774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1977" name="Text Box 9"/>
          <p:cNvSpPr txBox="1"/>
          <p:nvPr/>
        </p:nvSpPr>
        <p:spPr>
          <a:xfrm>
            <a:off x="-76994" y="305805"/>
            <a:ext cx="363855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9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sz="2200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实数形式的坡印廷定理</a:t>
            </a:r>
          </a:p>
        </p:txBody>
      </p:sp>
      <p:sp>
        <p:nvSpPr>
          <p:cNvPr id="851979" name="Text Box 11"/>
          <p:cNvSpPr txBox="1"/>
          <p:nvPr/>
        </p:nvSpPr>
        <p:spPr>
          <a:xfrm>
            <a:off x="73025" y="4332288"/>
            <a:ext cx="9251950" cy="46916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Blip>
                <a:blip r:embed="rId10"/>
              </a:buBlip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                         </a:t>
            </a:r>
            <a:r>
              <a:rPr lang="zh-CN" altLang="en-US" sz="2200" dirty="0">
                <a:solidFill>
                  <a:schemeClr val="bg1"/>
                </a:solidFill>
              </a:rPr>
              <a:t>：</a:t>
            </a:r>
            <a:r>
              <a:rPr lang="zh-CN" altLang="en-US" sz="22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复功率的实部，即功率的时间平均值。</a:t>
            </a:r>
          </a:p>
        </p:txBody>
      </p:sp>
      <p:sp>
        <p:nvSpPr>
          <p:cNvPr id="851980" name="Text Box 12"/>
          <p:cNvSpPr txBox="1"/>
          <p:nvPr/>
        </p:nvSpPr>
        <p:spPr>
          <a:xfrm>
            <a:off x="193069" y="3516990"/>
            <a:ext cx="8937625" cy="8444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Blip>
                <a:blip r:embed="rId10"/>
              </a:buBlip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          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：</a:t>
            </a:r>
            <a:r>
              <a:rPr lang="zh-CN" altLang="en-US" sz="22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平均能流密度矢量</a:t>
            </a:r>
            <a:r>
              <a:rPr lang="en-US" altLang="zh-CN" sz="22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S</a:t>
            </a:r>
            <a:r>
              <a:rPr lang="en-US" altLang="zh-CN" sz="2200" baseline="-250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av</a:t>
            </a:r>
            <a:r>
              <a:rPr lang="zh-CN" altLang="en-US" sz="22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穿过闭合面</a:t>
            </a:r>
            <a:r>
              <a:rPr lang="en-US" altLang="zh-CN" sz="2200" i="1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S</a:t>
            </a:r>
            <a:r>
              <a:rPr lang="zh-CN" altLang="en-US" sz="22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的复功率，实部为有功功率，虚部为无功功率。</a:t>
            </a:r>
          </a:p>
        </p:txBody>
      </p:sp>
      <p:sp>
        <p:nvSpPr>
          <p:cNvPr id="851981" name="Text Box 13"/>
          <p:cNvSpPr txBox="1"/>
          <p:nvPr/>
        </p:nvSpPr>
        <p:spPr>
          <a:xfrm>
            <a:off x="73025" y="4797425"/>
            <a:ext cx="9251950" cy="46705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Blip>
                <a:blip r:embed="rId10"/>
              </a:buBlip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                              </a:t>
            </a:r>
            <a:r>
              <a:rPr lang="zh-CN" altLang="en-US" sz="22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：复功率的虚部，即无功功率。</a:t>
            </a:r>
          </a:p>
        </p:txBody>
      </p:sp>
      <p:sp>
        <p:nvSpPr>
          <p:cNvPr id="851983" name="Text Box 15"/>
          <p:cNvSpPr txBox="1"/>
          <p:nvPr/>
        </p:nvSpPr>
        <p:spPr>
          <a:xfrm>
            <a:off x="73025" y="5439159"/>
            <a:ext cx="8937625" cy="8444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Blip>
                <a:blip r:embed="rId10"/>
              </a:buBlip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                   </a:t>
            </a:r>
            <a:r>
              <a:rPr lang="zh-CN" altLang="en-US" sz="22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分别为单位体积内的</a:t>
            </a:r>
            <a:r>
              <a:rPr lang="zh-CN" altLang="en-US" sz="2200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极化损耗</a:t>
            </a:r>
            <a:r>
              <a:rPr lang="zh-CN" altLang="en-US" sz="22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的平均值、单位体积内的</a:t>
            </a:r>
            <a:r>
              <a:rPr lang="zh-CN" altLang="en-US" sz="2200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磁化损耗</a:t>
            </a:r>
            <a:r>
              <a:rPr lang="zh-CN" altLang="en-US" sz="22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的平均值、单位体积内的</a:t>
            </a:r>
            <a:r>
              <a:rPr lang="zh-CN" altLang="en-US" sz="2200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焦耳热损耗</a:t>
            </a:r>
            <a:r>
              <a:rPr lang="zh-CN" altLang="en-US" sz="22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的平均值。</a:t>
            </a:r>
          </a:p>
        </p:txBody>
      </p:sp>
      <p:sp>
        <p:nvSpPr>
          <p:cNvPr id="851985" name="Text Box 17"/>
          <p:cNvSpPr txBox="1"/>
          <p:nvPr/>
        </p:nvSpPr>
        <p:spPr>
          <a:xfrm>
            <a:off x="93755" y="6311106"/>
            <a:ext cx="9251950" cy="46705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Blip>
                <a:blip r:embed="rId10"/>
              </a:buBlip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              </a:t>
            </a:r>
            <a:r>
              <a:rPr lang="zh-CN" altLang="en-US" sz="22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分别为平均电场能量密度、平均磁场能量密度。</a:t>
            </a:r>
          </a:p>
        </p:txBody>
      </p:sp>
      <p:graphicFrame>
        <p:nvGraphicFramePr>
          <p:cNvPr id="706612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925604"/>
              </p:ext>
            </p:extLst>
          </p:nvPr>
        </p:nvGraphicFramePr>
        <p:xfrm>
          <a:off x="3284126" y="329192"/>
          <a:ext cx="5480462" cy="741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993900" imgH="226060" progId="Equation.3">
                  <p:embed/>
                </p:oleObj>
              </mc:Choice>
              <mc:Fallback>
                <p:oleObj r:id="rId11" imgW="1993900" imgH="226060" progId="Equation.3">
                  <p:embed/>
                  <p:pic>
                    <p:nvPicPr>
                      <p:cNvPr id="706612" name="Object 5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84126" y="329192"/>
                        <a:ext cx="5480462" cy="74104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607284"/>
              </p:ext>
            </p:extLst>
          </p:nvPr>
        </p:nvGraphicFramePr>
        <p:xfrm>
          <a:off x="1120051" y="1117804"/>
          <a:ext cx="6976368" cy="2337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291715" imgH="661035" progId="Equation.3">
                  <p:embed/>
                </p:oleObj>
              </mc:Choice>
              <mc:Fallback>
                <p:oleObj r:id="rId13" imgW="2291715" imgH="661035" progId="Equation.3">
                  <p:embed/>
                  <p:pic>
                    <p:nvPicPr>
                      <p:cNvPr id="2" name="Object 52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20051" y="1117804"/>
                        <a:ext cx="6976368" cy="233745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48BFB625-73FF-98CB-35E9-34160EC3239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5305" y="5525956"/>
            <a:ext cx="1568423" cy="308206"/>
          </a:xfrm>
          <a:prstGeom prst="rect">
            <a:avLst/>
          </a:prstGeom>
        </p:spPr>
      </p:pic>
      <p:sp>
        <p:nvSpPr>
          <p:cNvPr id="5" name="Text Box 9">
            <a:extLst>
              <a:ext uri="{FF2B5EF4-FFF2-40B4-BE49-F238E27FC236}">
                <a16:creationId xmlns:a16="http://schemas.microsoft.com/office/drawing/2014/main" id="{64437E1B-38A3-FFA9-356D-F6047D88F369}"/>
              </a:ext>
            </a:extLst>
          </p:cNvPr>
          <p:cNvSpPr txBox="1"/>
          <p:nvPr/>
        </p:nvSpPr>
        <p:spPr>
          <a:xfrm>
            <a:off x="-76994" y="650346"/>
            <a:ext cx="36385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9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sz="2200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复数形式的坡印廷定理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E641BDE-FA16-9825-2EFC-B8C3F246352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7474" y="6338177"/>
            <a:ext cx="1124205" cy="3282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5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85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85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85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85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851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85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851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85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70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1977" grpId="0"/>
      <p:bldP spid="851979" grpId="0"/>
      <p:bldP spid="851980" grpId="0"/>
      <p:bldP spid="851981" grpId="0"/>
      <p:bldP spid="851983" grpId="0"/>
      <p:bldP spid="851985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B1FE134-0A0E-4F8F-03CC-C89D05CFD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2404"/>
            <a:ext cx="9144000" cy="609319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BEA47F7-31F1-C977-9BD0-6A21420FB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56"/>
            <a:ext cx="9144000" cy="612977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09196FA-520D-DA40-76FC-E4DDF2460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5108814"/>
            <a:ext cx="8142857" cy="1742857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96FF425-5E67-0110-2A74-7CF5BC8ED067}"/>
              </a:ext>
            </a:extLst>
          </p:cNvPr>
          <p:cNvCxnSpPr>
            <a:cxnSpLocks/>
          </p:cNvCxnSpPr>
          <p:nvPr/>
        </p:nvCxnSpPr>
        <p:spPr bwMode="auto">
          <a:xfrm>
            <a:off x="1913721" y="5832187"/>
            <a:ext cx="0" cy="104325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46A10EF-4AC8-32E2-F204-014F6C5D4B82}"/>
              </a:ext>
            </a:extLst>
          </p:cNvPr>
          <p:cNvCxnSpPr>
            <a:cxnSpLocks/>
          </p:cNvCxnSpPr>
          <p:nvPr/>
        </p:nvCxnSpPr>
        <p:spPr bwMode="auto">
          <a:xfrm>
            <a:off x="1331640" y="6741368"/>
            <a:ext cx="10801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3435B03-3379-5590-D0A7-F661D77A9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6" y="397839"/>
            <a:ext cx="9144000" cy="606232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BE8380E-2DE2-EA8E-06C1-8B4100D44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57704"/>
            <a:ext cx="9144000" cy="45975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34AEA2E-664F-66AB-9D92-75555B760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71487"/>
            <a:ext cx="9144000" cy="6115027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58CB6073-578A-71BD-D9EC-532A92822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57704"/>
            <a:ext cx="9144000" cy="45975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2FF2F53-4E0D-49AB-1B1D-31DA349F6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4113"/>
            <a:ext cx="9144000" cy="6129773"/>
          </a:xfrm>
          <a:prstGeom prst="rect">
            <a:avLst/>
          </a:prstGeom>
        </p:spPr>
      </p:pic>
      <p:pic>
        <p:nvPicPr>
          <p:cNvPr id="2" name="Picture 13">
            <a:extLst>
              <a:ext uri="{FF2B5EF4-FFF2-40B4-BE49-F238E27FC236}">
                <a16:creationId xmlns:a16="http://schemas.microsoft.com/office/drawing/2014/main" id="{D9E8181D-D2ED-9250-65BF-BE7B572AC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98001"/>
            <a:ext cx="1923381" cy="1270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C4864D0-E118-7745-892A-AC7F66B91F54}"/>
              </a:ext>
            </a:extLst>
          </p:cNvPr>
          <p:cNvSpPr txBox="1"/>
          <p:nvPr/>
        </p:nvSpPr>
        <p:spPr>
          <a:xfrm>
            <a:off x="5796136" y="1196752"/>
            <a:ext cx="25922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TE</a:t>
            </a:r>
            <a:r>
              <a:rPr lang="zh-CN" altLang="en-US" dirty="0">
                <a:solidFill>
                  <a:srgbClr val="FF0000"/>
                </a:solidFill>
              </a:rPr>
              <a:t>模导行波）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FC9D94B-F55A-3657-ABDE-B1231845E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672"/>
            <a:ext cx="8733333" cy="4885714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D1DD600-B997-8C25-B85D-B391E33B8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17232"/>
            <a:ext cx="9144000" cy="45975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灯片编号占位符 2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29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99331" name="AutoShape 2">
            <a:hlinkClick r:id="" action="ppaction://noaction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9332" name="AutoShape 3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9333" name="AutoShape 4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9334" name="AutoShape 5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04870" name="Text Box 6"/>
          <p:cNvSpPr txBox="1"/>
          <p:nvPr/>
        </p:nvSpPr>
        <p:spPr>
          <a:xfrm>
            <a:off x="3252788" y="2420938"/>
            <a:ext cx="44640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4.8-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）</a:t>
            </a:r>
            <a:r>
              <a:rPr lang="el-GR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, 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4.15</a:t>
            </a:r>
            <a:endParaRPr lang="el-GR" altLang="zh-CN" dirty="0">
              <a:solidFill>
                <a:schemeClr val="bg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04871" name="Text Box 7"/>
          <p:cNvSpPr txBox="1"/>
          <p:nvPr/>
        </p:nvSpPr>
        <p:spPr>
          <a:xfrm>
            <a:off x="3779838" y="1557338"/>
            <a:ext cx="28082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B7B7"/>
                </a:solidFill>
                <a:latin typeface="Times New Roman" panose="02020603050405020304" pitchFamily="18" charset="0"/>
                <a:ea typeface="楷体_GB2312" pitchFamily="49" charset="-122"/>
              </a:rPr>
              <a:t>作业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0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80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4870" grpId="0"/>
      <p:bldP spid="80487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41a7196-b802-4a92-9d60-9ddf0d86c09c"/>
  <p:tag name="COMMONDATA" val="eyJoZGlkIjoiOTk5ZGI1MDEzODM3NTRlMzM1MDZjZWE4NTNjMWYxMD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ctr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ctr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7761</TotalTime>
  <Words>1512</Words>
  <Application>Microsoft Office PowerPoint</Application>
  <PresentationFormat>全屏显示(4:3)</PresentationFormat>
  <Paragraphs>247</Paragraphs>
  <Slides>29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楷体_GB2312</vt:lpstr>
      <vt:lpstr>宋体</vt:lpstr>
      <vt:lpstr>幼圆</vt:lpstr>
      <vt:lpstr>Arial</vt:lpstr>
      <vt:lpstr>Symbol</vt:lpstr>
      <vt:lpstr>Times New Roman</vt:lpstr>
      <vt:lpstr>Verdana</vt:lpstr>
      <vt:lpstr>1_默认设计模板</vt:lpstr>
      <vt:lpstr>Equation.3</vt:lpstr>
      <vt:lpstr>Equation.DSMT4</vt:lpstr>
      <vt:lpstr>4. 5    时谐电磁场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Admin</cp:lastModifiedBy>
  <cp:revision>845</cp:revision>
  <dcterms:created xsi:type="dcterms:W3CDTF">2004-02-10T07:06:00Z</dcterms:created>
  <dcterms:modified xsi:type="dcterms:W3CDTF">2025-12-26T03:16:47Z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710A780561C24E3CBBBD99ACB8507E6D</vt:lpwstr>
  </property>
  <property fmtid="{D5CDD505-2E9C-101B-9397-08002B2CF9AE}" pid="3" name="KSOProductBuildVer">
    <vt:lpwstr>2052-11.1.0.13703</vt:lpwstr>
  </property>
</Properties>
</file>