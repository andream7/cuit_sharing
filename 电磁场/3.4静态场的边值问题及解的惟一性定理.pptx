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"/>
  </p:notesMasterIdLst>
  <p:handoutMasterIdLst>
    <p:handoutMasterId r:id="rId8"/>
  </p:handoutMasterIdLst>
  <p:sldIdLst>
    <p:sldId id="745" r:id="rId2"/>
    <p:sldId id="816" r:id="rId3"/>
    <p:sldId id="747" r:id="rId4"/>
    <p:sldId id="746" r:id="rId5"/>
    <p:sldId id="748" r:id="rId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FF7C80"/>
    <a:srgbClr val="066B94"/>
    <a:srgbClr val="E1E1E1"/>
    <a:srgbClr val="990000"/>
    <a:srgbClr val="D4D4D4"/>
    <a:srgbClr val="CC99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62" autoAdjust="0"/>
    <p:restoredTop sz="94424" autoAdjust="0"/>
  </p:normalViewPr>
  <p:slideViewPr>
    <p:cSldViewPr>
      <p:cViewPr varScale="1">
        <p:scale>
          <a:sx n="80" d="100"/>
          <a:sy n="80" d="100"/>
        </p:scale>
        <p:origin x="84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-91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C88C3BA2-8461-FF19-7417-CA948A83D1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0BE852D8-7BFC-AD77-79FE-951431132A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B381E4B-9AD8-4B7A-9A91-D31B1C45EDFB}" type="datetime1">
              <a:rPr lang="zh-CN" altLang="en-US"/>
              <a:pPr>
                <a:defRPr/>
              </a:pPr>
              <a:t>2025/8/10</a:t>
            </a:fld>
            <a:endParaRPr lang="en-US" altLang="zh-CN"/>
          </a:p>
        </p:txBody>
      </p:sp>
      <p:sp>
        <p:nvSpPr>
          <p:cNvPr id="153604" name="Rectangle 4">
            <a:extLst>
              <a:ext uri="{FF2B5EF4-FFF2-40B4-BE49-F238E27FC236}">
                <a16:creationId xmlns:a16="http://schemas.microsoft.com/office/drawing/2014/main" id="{68125FCA-BAE6-1A5E-C74F-26FF510C13B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7B3705C0-4BA8-BAAC-7D1F-1C820E48C8C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C26EA88-F30E-44B6-B895-21BCE20ECE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68478612-FFDA-F354-0839-23C69DD9CDE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C147BFE4-3FA0-18BE-BF41-BB978E2FDCC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1C58DE0-7C55-4FD7-9492-3AFB2C65A20F}" type="datetime1">
              <a:rPr lang="zh-CN" altLang="en-US"/>
              <a:pPr>
                <a:defRPr/>
              </a:pPr>
              <a:t>2025/8/10</a:t>
            </a:fld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FCD0C65-6C6E-EE5F-2356-E4775D1C3CF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5653" name="Rectangle 5">
            <a:extLst>
              <a:ext uri="{FF2B5EF4-FFF2-40B4-BE49-F238E27FC236}">
                <a16:creationId xmlns:a16="http://schemas.microsoft.com/office/drawing/2014/main" id="{0B0454B4-3D77-1373-587C-39F6BEE1EAE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5654" name="Rectangle 6">
            <a:extLst>
              <a:ext uri="{FF2B5EF4-FFF2-40B4-BE49-F238E27FC236}">
                <a16:creationId xmlns:a16="http://schemas.microsoft.com/office/drawing/2014/main" id="{F27ADE49-04DD-1F1D-7EBA-7C5724FA352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5" name="Rectangle 7">
            <a:extLst>
              <a:ext uri="{FF2B5EF4-FFF2-40B4-BE49-F238E27FC236}">
                <a16:creationId xmlns:a16="http://schemas.microsoft.com/office/drawing/2014/main" id="{7EAC284A-93B3-F49E-0368-5B9F6DF2DF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6D91E24-0AF4-4B97-8054-C268217EB0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6AEF7EC0-136A-3964-6B19-3DF56633EA9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124F061-9E17-D2A2-0195-78C4F2AAABA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92594D8-36D7-49BA-A0D4-D47C3F4DA28B}" type="datetime1">
              <a:rPr lang="zh-CN" altLang="en-US" sz="1200" smtClean="0">
                <a:ea typeface="宋体" panose="02010600030101010101" pitchFamily="2" charset="-122"/>
              </a:rPr>
              <a:pPr/>
              <a:t>2025/8/10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89092" name="Rectangle 6">
            <a:extLst>
              <a:ext uri="{FF2B5EF4-FFF2-40B4-BE49-F238E27FC236}">
                <a16:creationId xmlns:a16="http://schemas.microsoft.com/office/drawing/2014/main" id="{915A58EE-0864-D7EB-8D7F-995F89DD28B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89093" name="Rectangle 7">
            <a:extLst>
              <a:ext uri="{FF2B5EF4-FFF2-40B4-BE49-F238E27FC236}">
                <a16:creationId xmlns:a16="http://schemas.microsoft.com/office/drawing/2014/main" id="{C8B3C5E3-F24E-4E5B-ADF8-E04DBF883A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B450FD2-9E91-4FA7-AF75-5780C81956DF}" type="slidenum">
              <a:rPr lang="en-US" altLang="zh-CN" sz="1200">
                <a:ea typeface="宋体" panose="02010600030101010101" pitchFamily="2" charset="-122"/>
              </a:rPr>
              <a:pPr/>
              <a:t>1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89094" name="Rectangle 2">
            <a:extLst>
              <a:ext uri="{FF2B5EF4-FFF2-40B4-BE49-F238E27FC236}">
                <a16:creationId xmlns:a16="http://schemas.microsoft.com/office/drawing/2014/main" id="{B879FF5E-3158-008F-7D88-77DC70D55F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5" name="Rectangle 3">
            <a:extLst>
              <a:ext uri="{FF2B5EF4-FFF2-40B4-BE49-F238E27FC236}">
                <a16:creationId xmlns:a16="http://schemas.microsoft.com/office/drawing/2014/main" id="{1FA0F3EC-F18B-94A4-7207-B51C1DCF83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49E5C97F-48B6-53ED-EF2C-96B5CAC839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BE5FC08D-E1B6-DEC4-E36C-31E3A786D27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80E00A8-2442-432F-AB38-6A85CF498BB9}" type="datetime1">
              <a:rPr lang="zh-CN" altLang="en-US" sz="1200" smtClean="0">
                <a:ea typeface="宋体" panose="02010600030101010101" pitchFamily="2" charset="-122"/>
              </a:rPr>
              <a:pPr/>
              <a:t>2025/8/10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91140" name="Rectangle 6">
            <a:extLst>
              <a:ext uri="{FF2B5EF4-FFF2-40B4-BE49-F238E27FC236}">
                <a16:creationId xmlns:a16="http://schemas.microsoft.com/office/drawing/2014/main" id="{3D639921-ED92-B8A0-751F-4BB1FA5F80C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91141" name="Rectangle 7">
            <a:extLst>
              <a:ext uri="{FF2B5EF4-FFF2-40B4-BE49-F238E27FC236}">
                <a16:creationId xmlns:a16="http://schemas.microsoft.com/office/drawing/2014/main" id="{D54C63AF-C4E8-A3D7-41C1-14680AB345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FB00602-42F9-4559-BBCF-61CBD1057292}" type="slidenum">
              <a:rPr lang="en-US" altLang="zh-CN" sz="1200">
                <a:ea typeface="宋体" panose="02010600030101010101" pitchFamily="2" charset="-122"/>
              </a:rPr>
              <a:pPr/>
              <a:t>2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91142" name="Rectangle 2">
            <a:extLst>
              <a:ext uri="{FF2B5EF4-FFF2-40B4-BE49-F238E27FC236}">
                <a16:creationId xmlns:a16="http://schemas.microsoft.com/office/drawing/2014/main" id="{FBE24389-BAFE-D1B8-4A6E-1B586247CC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3" name="Rectangle 3">
            <a:extLst>
              <a:ext uri="{FF2B5EF4-FFF2-40B4-BE49-F238E27FC236}">
                <a16:creationId xmlns:a16="http://schemas.microsoft.com/office/drawing/2014/main" id="{40F69EBC-EEEB-B28B-980C-FFD640C7F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A890FDF8-225E-4EEB-308D-6A496F1AF5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6D5939F4-2160-5A6E-C4E9-C0E67134312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D8E8019-7B34-4D2C-8863-6790215E1A79}" type="datetime1">
              <a:rPr lang="zh-CN" altLang="en-US" sz="1200" smtClean="0">
                <a:ea typeface="宋体" panose="02010600030101010101" pitchFamily="2" charset="-122"/>
              </a:rPr>
              <a:pPr/>
              <a:t>2025/8/10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93188" name="Rectangle 6">
            <a:extLst>
              <a:ext uri="{FF2B5EF4-FFF2-40B4-BE49-F238E27FC236}">
                <a16:creationId xmlns:a16="http://schemas.microsoft.com/office/drawing/2014/main" id="{3FBC4D75-E68D-FC10-2866-9B6F92A695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93189" name="Rectangle 7">
            <a:extLst>
              <a:ext uri="{FF2B5EF4-FFF2-40B4-BE49-F238E27FC236}">
                <a16:creationId xmlns:a16="http://schemas.microsoft.com/office/drawing/2014/main" id="{6DE4FD4B-FD16-7610-C1D7-D3A4D46B13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1F7170B-E61D-411E-BEAD-6658D57C8D7C}" type="slidenum">
              <a:rPr lang="en-US" altLang="zh-CN" sz="1200">
                <a:ea typeface="宋体" panose="02010600030101010101" pitchFamily="2" charset="-122"/>
              </a:rPr>
              <a:pPr/>
              <a:t>3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93190" name="Rectangle 2">
            <a:extLst>
              <a:ext uri="{FF2B5EF4-FFF2-40B4-BE49-F238E27FC236}">
                <a16:creationId xmlns:a16="http://schemas.microsoft.com/office/drawing/2014/main" id="{9876BE80-C09D-182F-F9EE-6522317762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91" name="Rectangle 3">
            <a:extLst>
              <a:ext uri="{FF2B5EF4-FFF2-40B4-BE49-F238E27FC236}">
                <a16:creationId xmlns:a16="http://schemas.microsoft.com/office/drawing/2014/main" id="{B0D0FAFD-9A04-B486-1832-CB259D671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DBD9E44F-DFB0-29EF-ABA3-4E39AE5BAE1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20A068A8-D28F-C378-5029-B2F286A56B6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E56DF2D-B12D-4D4F-9796-1804AED01044}" type="datetime1">
              <a:rPr lang="zh-CN" altLang="en-US" sz="1200" smtClean="0">
                <a:ea typeface="宋体" panose="02010600030101010101" pitchFamily="2" charset="-122"/>
              </a:rPr>
              <a:pPr/>
              <a:t>2025/8/10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95236" name="Rectangle 6">
            <a:extLst>
              <a:ext uri="{FF2B5EF4-FFF2-40B4-BE49-F238E27FC236}">
                <a16:creationId xmlns:a16="http://schemas.microsoft.com/office/drawing/2014/main" id="{84CCB2C5-CAE1-F6C9-E6CE-075ACBFF114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95237" name="Rectangle 7">
            <a:extLst>
              <a:ext uri="{FF2B5EF4-FFF2-40B4-BE49-F238E27FC236}">
                <a16:creationId xmlns:a16="http://schemas.microsoft.com/office/drawing/2014/main" id="{4738DB06-C71A-A5D2-BB4C-FC7CB98567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DB2AC48-18DA-4933-A495-C78526BC98DD}" type="slidenum">
              <a:rPr lang="en-US" altLang="zh-CN" sz="1200">
                <a:ea typeface="宋体" panose="02010600030101010101" pitchFamily="2" charset="-122"/>
              </a:rPr>
              <a:pPr/>
              <a:t>4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95238" name="Rectangle 2">
            <a:extLst>
              <a:ext uri="{FF2B5EF4-FFF2-40B4-BE49-F238E27FC236}">
                <a16:creationId xmlns:a16="http://schemas.microsoft.com/office/drawing/2014/main" id="{A4CDA16B-FF0E-218D-91D3-37C69260CD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9" name="Rectangle 3">
            <a:extLst>
              <a:ext uri="{FF2B5EF4-FFF2-40B4-BE49-F238E27FC236}">
                <a16:creationId xmlns:a16="http://schemas.microsoft.com/office/drawing/2014/main" id="{06D30241-AEAF-3A01-E38D-4B9345A60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A215F3B9-D25F-7982-C5BE-82946D7314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10BCCE67-9DBF-A92E-EEC2-52520C6F066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5102D74-5C4D-48B8-B7E2-CDE9BDF4FE4B}" type="datetime1">
              <a:rPr lang="zh-CN" altLang="en-US" sz="1200" smtClean="0">
                <a:ea typeface="宋体" panose="02010600030101010101" pitchFamily="2" charset="-122"/>
              </a:rPr>
              <a:pPr/>
              <a:t>2025/8/10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97284" name="Rectangle 6">
            <a:extLst>
              <a:ext uri="{FF2B5EF4-FFF2-40B4-BE49-F238E27FC236}">
                <a16:creationId xmlns:a16="http://schemas.microsoft.com/office/drawing/2014/main" id="{EA4DF5AC-C840-1E51-1AA7-09D2DC98353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97285" name="Rectangle 7">
            <a:extLst>
              <a:ext uri="{FF2B5EF4-FFF2-40B4-BE49-F238E27FC236}">
                <a16:creationId xmlns:a16="http://schemas.microsoft.com/office/drawing/2014/main" id="{90227EFE-41C1-CDC0-B8CC-C93D783433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1C1A040-EFAE-4322-A890-6345918987FF}" type="slidenum">
              <a:rPr lang="en-US" altLang="zh-CN" sz="1200">
                <a:ea typeface="宋体" panose="02010600030101010101" pitchFamily="2" charset="-122"/>
              </a:rPr>
              <a:pPr/>
              <a:t>5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97286" name="Rectangle 2">
            <a:extLst>
              <a:ext uri="{FF2B5EF4-FFF2-40B4-BE49-F238E27FC236}">
                <a16:creationId xmlns:a16="http://schemas.microsoft.com/office/drawing/2014/main" id="{C4AD9E84-972E-AD0B-931F-2F6CAA4968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7" name="Rectangle 3">
            <a:extLst>
              <a:ext uri="{FF2B5EF4-FFF2-40B4-BE49-F238E27FC236}">
                <a16:creationId xmlns:a16="http://schemas.microsoft.com/office/drawing/2014/main" id="{7C4DD789-CA8C-678A-F8B2-5F94DF069F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58C8DFD-1FE4-2CC4-07E0-07AD08F762B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18F4E5-0835-47FB-A1BD-8B2A2244DA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8298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24C7DF6-6E3D-53E0-2046-FFE17433D13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A2369-6D9F-419D-B2DC-91997EFA41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000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FBEA074-EF3E-59CA-3984-2EC175BCA8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26B1F-5E87-4567-B8A7-174DF3F5EA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3985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F852AE0-F1F5-4649-82D4-44D7D3C5CA3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D5EBB1-338B-4AEE-8E32-985B927E30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967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40FBEFFF-2367-65FB-A31A-CE09A36CB2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14A81C-B249-436B-AC2A-3F4190BE3B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183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DDD0E7F-3404-3A1B-2DC1-032A274FFEA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D87B1A-0919-4D19-B8A6-978B39028C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211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E849194C-1F4A-730D-E793-FC80994486D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F0CCD4-7895-4EE8-92B4-5243F787D8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2644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109F43E-5F99-015C-815D-A3B8781357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757C7-61B9-4A19-91FD-F679C53460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7470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0DE93FB-B19A-48C0-69F9-2747DE1C8AB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00D474-B56F-434B-A87C-C139DD1568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227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578A4FE-C11B-6E54-E02A-30EC706C475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AB7B81-C599-43BB-88F1-6968BF8FAC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3282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0C406CE-093F-8F0D-98A0-EA7A3B22A3B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A871E6-B6C1-4EC3-BB19-CE3C5BDF70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11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969F7DFA-6542-41CC-7F36-D018FF1229A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D8BE1-91A0-440B-A753-AF302F76E1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4204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&#38543;&#26426;&#28857;&#21517;&#21161;&#25163;.exe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7" name="Rectangle 3">
            <a:extLst>
              <a:ext uri="{FF2B5EF4-FFF2-40B4-BE49-F238E27FC236}">
                <a16:creationId xmlns:a16="http://schemas.microsoft.com/office/drawing/2014/main" id="{4138D9DC-E6B5-7FDA-B2DC-72B1E3F8FBC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04813"/>
            <a:ext cx="9144000" cy="6119812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zh-CN" altLang="zh-CN" sz="28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74469" name="Rectangle 5">
            <a:extLst>
              <a:ext uri="{FF2B5EF4-FFF2-40B4-BE49-F238E27FC236}">
                <a16:creationId xmlns:a16="http://schemas.microsoft.com/office/drawing/2014/main" id="{216E290E-C66E-3F36-F686-7306BB61F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4450"/>
            <a:ext cx="5903913" cy="3508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algn="ctr" eaLnBrk="1" hangingPunct="1">
              <a:lnSpc>
                <a:spcPct val="60000"/>
              </a:lnSpc>
              <a:defRPr/>
            </a:pPr>
            <a:r>
              <a:rPr lang="zh-CN" altLang="en-US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静态电磁场及其边值问题的解</a:t>
            </a:r>
          </a:p>
        </p:txBody>
      </p:sp>
      <p:sp>
        <p:nvSpPr>
          <p:cNvPr id="1028" name="Rectangle 6">
            <a:extLst>
              <a:ext uri="{FF2B5EF4-FFF2-40B4-BE49-F238E27FC236}">
                <a16:creationId xmlns:a16="http://schemas.microsoft.com/office/drawing/2014/main" id="{2B4ADFB1-22A4-18EC-0189-AEEC052087A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</p:spPr>
        <p:txBody>
          <a:bodyPr tIns="10800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zh-CN" altLang="en-US" sz="2000" b="1">
                <a:solidFill>
                  <a:srgbClr val="573CFC"/>
                </a:solidFill>
                <a:ea typeface="华文行楷" panose="02010800040101010101" pitchFamily="2" charset="-122"/>
              </a:rPr>
              <a:t>电磁场与电磁波</a:t>
            </a:r>
          </a:p>
        </p:txBody>
      </p:sp>
      <p:sp>
        <p:nvSpPr>
          <p:cNvPr id="1029" name="Rectangle 10" descr="深色横线">
            <a:extLst>
              <a:ext uri="{FF2B5EF4-FFF2-40B4-BE49-F238E27FC236}">
                <a16:creationId xmlns:a16="http://schemas.microsoft.com/office/drawing/2014/main" id="{C0427B4E-89AD-C820-F24E-6D9A13C688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74475" name="Rectangle 11">
            <a:extLst>
              <a:ext uri="{FF2B5EF4-FFF2-40B4-BE49-F238E27FC236}">
                <a16:creationId xmlns:a16="http://schemas.microsoft.com/office/drawing/2014/main" id="{437B4469-E526-F649-6886-7FCB17B61B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67625" y="0"/>
            <a:ext cx="1343025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B22C175-EF0C-4123-AD36-CE8FACE894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Rectangle 17" descr="栎木">
            <a:extLst>
              <a:ext uri="{FF2B5EF4-FFF2-40B4-BE49-F238E27FC236}">
                <a16:creationId xmlns:a16="http://schemas.microsoft.com/office/drawing/2014/main" id="{59227D0D-B340-556D-D0E1-90097736E4B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032" name="Picture 25" descr="听诊器">
            <a:hlinkClick r:id="rId15" action="ppaction://hlinkfile"/>
            <a:extLst>
              <a:ext uri="{FF2B5EF4-FFF2-40B4-BE49-F238E27FC236}">
                <a16:creationId xmlns:a16="http://schemas.microsoft.com/office/drawing/2014/main" id="{94FDC711-1DF3-E3F6-6827-45B1C7D2F8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0" y="5862638"/>
            <a:ext cx="508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slide" Target="slide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8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5.bin"/><Relationship Id="rId2" Type="http://schemas.openxmlformats.org/officeDocument/2006/relationships/notesSlide" Target="../notesSlides/notesSlide2.xml"/><Relationship Id="rId16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3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9.emf"/><Relationship Id="rId10" Type="http://schemas.openxmlformats.org/officeDocument/2006/relationships/image" Target="../media/image7.e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7.emf"/><Relationship Id="rId26" Type="http://schemas.openxmlformats.org/officeDocument/2006/relationships/image" Target="../media/image21.emf"/><Relationship Id="rId39" Type="http://schemas.openxmlformats.org/officeDocument/2006/relationships/oleObject" Target="../embeddings/oleObject25.bin"/><Relationship Id="rId21" Type="http://schemas.openxmlformats.org/officeDocument/2006/relationships/oleObject" Target="../embeddings/oleObject16.bin"/><Relationship Id="rId34" Type="http://schemas.openxmlformats.org/officeDocument/2006/relationships/image" Target="../media/image25.emf"/><Relationship Id="rId42" Type="http://schemas.openxmlformats.org/officeDocument/2006/relationships/image" Target="../media/image29.emf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emf"/><Relationship Id="rId20" Type="http://schemas.openxmlformats.org/officeDocument/2006/relationships/image" Target="../media/image18.emf"/><Relationship Id="rId29" Type="http://schemas.openxmlformats.org/officeDocument/2006/relationships/oleObject" Target="../embeddings/oleObject20.bin"/><Relationship Id="rId41" Type="http://schemas.openxmlformats.org/officeDocument/2006/relationships/oleObject" Target="../embeddings/oleObject26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11" Type="http://schemas.openxmlformats.org/officeDocument/2006/relationships/oleObject" Target="../embeddings/oleObject11.bin"/><Relationship Id="rId24" Type="http://schemas.openxmlformats.org/officeDocument/2006/relationships/image" Target="../media/image20.emf"/><Relationship Id="rId32" Type="http://schemas.openxmlformats.org/officeDocument/2006/relationships/image" Target="../media/image24.emf"/><Relationship Id="rId37" Type="http://schemas.openxmlformats.org/officeDocument/2006/relationships/oleObject" Target="../embeddings/oleObject24.bin"/><Relationship Id="rId40" Type="http://schemas.openxmlformats.org/officeDocument/2006/relationships/image" Target="../media/image28.emf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23" Type="http://schemas.openxmlformats.org/officeDocument/2006/relationships/oleObject" Target="../embeddings/oleObject17.bin"/><Relationship Id="rId28" Type="http://schemas.openxmlformats.org/officeDocument/2006/relationships/image" Target="../media/image22.emf"/><Relationship Id="rId36" Type="http://schemas.openxmlformats.org/officeDocument/2006/relationships/image" Target="../media/image26.emf"/><Relationship Id="rId10" Type="http://schemas.openxmlformats.org/officeDocument/2006/relationships/image" Target="../media/image13.emf"/><Relationship Id="rId19" Type="http://schemas.openxmlformats.org/officeDocument/2006/relationships/oleObject" Target="../embeddings/oleObject15.bin"/><Relationship Id="rId31" Type="http://schemas.openxmlformats.org/officeDocument/2006/relationships/oleObject" Target="../embeddings/oleObject21.bin"/><Relationship Id="rId4" Type="http://schemas.openxmlformats.org/officeDocument/2006/relationships/image" Target="../media/image10.e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5.emf"/><Relationship Id="rId22" Type="http://schemas.openxmlformats.org/officeDocument/2006/relationships/image" Target="../media/image19.emf"/><Relationship Id="rId27" Type="http://schemas.openxmlformats.org/officeDocument/2006/relationships/oleObject" Target="../embeddings/oleObject19.bin"/><Relationship Id="rId30" Type="http://schemas.openxmlformats.org/officeDocument/2006/relationships/image" Target="../media/image23.emf"/><Relationship Id="rId35" Type="http://schemas.openxmlformats.org/officeDocument/2006/relationships/oleObject" Target="../embeddings/oleObject23.bin"/><Relationship Id="rId43" Type="http://schemas.openxmlformats.org/officeDocument/2006/relationships/slide" Target="slide1.xml"/><Relationship Id="rId8" Type="http://schemas.openxmlformats.org/officeDocument/2006/relationships/image" Target="../media/image12.emf"/><Relationship Id="rId3" Type="http://schemas.openxmlformats.org/officeDocument/2006/relationships/oleObject" Target="../embeddings/oleObject7.bin"/><Relationship Id="rId12" Type="http://schemas.openxmlformats.org/officeDocument/2006/relationships/image" Target="../media/image14.emf"/><Relationship Id="rId17" Type="http://schemas.openxmlformats.org/officeDocument/2006/relationships/oleObject" Target="../embeddings/oleObject14.bin"/><Relationship Id="rId25" Type="http://schemas.openxmlformats.org/officeDocument/2006/relationships/oleObject" Target="../embeddings/oleObject18.bin"/><Relationship Id="rId33" Type="http://schemas.openxmlformats.org/officeDocument/2006/relationships/oleObject" Target="../embeddings/oleObject22.bin"/><Relationship Id="rId38" Type="http://schemas.openxmlformats.org/officeDocument/2006/relationships/image" Target="../media/image27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34.emf"/><Relationship Id="rId18" Type="http://schemas.openxmlformats.org/officeDocument/2006/relationships/oleObject" Target="../embeddings/oleObject34.bin"/><Relationship Id="rId26" Type="http://schemas.openxmlformats.org/officeDocument/2006/relationships/slide" Target="slide1.xml"/><Relationship Id="rId3" Type="http://schemas.openxmlformats.org/officeDocument/2006/relationships/oleObject" Target="../embeddings/oleObject27.bin"/><Relationship Id="rId21" Type="http://schemas.openxmlformats.org/officeDocument/2006/relationships/image" Target="../media/image38.emf"/><Relationship Id="rId7" Type="http://schemas.openxmlformats.org/officeDocument/2006/relationships/image" Target="../media/image31.emf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36.emf"/><Relationship Id="rId25" Type="http://schemas.openxmlformats.org/officeDocument/2006/relationships/image" Target="../media/image40.emf"/><Relationship Id="rId2" Type="http://schemas.openxmlformats.org/officeDocument/2006/relationships/notesSlide" Target="../notesSlides/notesSlide4.xml"/><Relationship Id="rId16" Type="http://schemas.openxmlformats.org/officeDocument/2006/relationships/oleObject" Target="../embeddings/oleObject33.bin"/><Relationship Id="rId20" Type="http://schemas.openxmlformats.org/officeDocument/2006/relationships/oleObject" Target="../embeddings/oleObject3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3.emf"/><Relationship Id="rId24" Type="http://schemas.openxmlformats.org/officeDocument/2006/relationships/oleObject" Target="../embeddings/oleObject37.bin"/><Relationship Id="rId5" Type="http://schemas.openxmlformats.org/officeDocument/2006/relationships/image" Target="../media/image3.png"/><Relationship Id="rId15" Type="http://schemas.openxmlformats.org/officeDocument/2006/relationships/image" Target="../media/image35.emf"/><Relationship Id="rId23" Type="http://schemas.openxmlformats.org/officeDocument/2006/relationships/image" Target="../media/image39.emf"/><Relationship Id="rId10" Type="http://schemas.openxmlformats.org/officeDocument/2006/relationships/oleObject" Target="../embeddings/oleObject30.bin"/><Relationship Id="rId19" Type="http://schemas.openxmlformats.org/officeDocument/2006/relationships/image" Target="../media/image37.emf"/><Relationship Id="rId4" Type="http://schemas.openxmlformats.org/officeDocument/2006/relationships/image" Target="../media/image30.emf"/><Relationship Id="rId9" Type="http://schemas.openxmlformats.org/officeDocument/2006/relationships/image" Target="../media/image32.emf"/><Relationship Id="rId14" Type="http://schemas.openxmlformats.org/officeDocument/2006/relationships/oleObject" Target="../embeddings/oleObject32.bin"/><Relationship Id="rId22" Type="http://schemas.openxmlformats.org/officeDocument/2006/relationships/oleObject" Target="../embeddings/oleObject3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slide" Target="slide1.xml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emf"/><Relationship Id="rId11" Type="http://schemas.openxmlformats.org/officeDocument/2006/relationships/image" Target="../media/image45.png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4.emf"/><Relationship Id="rId4" Type="http://schemas.openxmlformats.org/officeDocument/2006/relationships/image" Target="../media/image41.emf"/><Relationship Id="rId9" Type="http://schemas.openxmlformats.org/officeDocument/2006/relationships/oleObject" Target="../embeddings/oleObject4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3">
            <a:extLst>
              <a:ext uri="{FF2B5EF4-FFF2-40B4-BE49-F238E27FC236}">
                <a16:creationId xmlns:a16="http://schemas.microsoft.com/office/drawing/2014/main" id="{80BBE458-9E11-A702-AC9A-F626DABEA4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F2BEF57-2859-462D-98B8-7CB72BC5961D}" type="slidenum">
              <a:rPr lang="en-US" altLang="zh-CN" sz="1400">
                <a:ea typeface="宋体" panose="02010600030101010101" pitchFamily="2" charset="-122"/>
              </a:rPr>
              <a:pPr/>
              <a:t>1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F8AB731D-3D61-F3A9-C6F7-D76F7F5F66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313" y="706438"/>
            <a:ext cx="8805862" cy="490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3.4    </a:t>
            </a:r>
            <a:r>
              <a:rPr lang="zh-CN" altLang="en-US" sz="2800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静态场的边值问题及解的惟一性定理</a:t>
            </a:r>
          </a:p>
        </p:txBody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71D2BD20-9688-FC7A-3346-BFE8508CC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68538" y="3068638"/>
            <a:ext cx="4751387" cy="2089150"/>
          </a:xfrm>
          <a:solidFill>
            <a:srgbClr val="CCFFFF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40000"/>
              </a:lnSpc>
            </a:pPr>
            <a:r>
              <a:rPr kumimoji="1" lang="en-US" altLang="zh-CN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                 </a:t>
            </a:r>
            <a:r>
              <a:rPr kumimoji="1" lang="zh-CN" altLang="en-US" b="1">
                <a:solidFill>
                  <a:srgbClr val="990000"/>
                </a:solidFill>
                <a:effectLst/>
                <a:latin typeface="Times New Roman" panose="02020603050405020304" pitchFamily="18" charset="0"/>
                <a:ea typeface="隶书" panose="02010509060101010101" pitchFamily="49" charset="-122"/>
              </a:rPr>
              <a:t>本节内容</a:t>
            </a:r>
            <a:endParaRPr kumimoji="1" lang="zh-CN" altLang="en-US" b="1"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/>
            <a:r>
              <a:rPr kumimoji="1" lang="zh-CN" altLang="en-US" b="1"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   </a:t>
            </a:r>
            <a:r>
              <a:rPr kumimoji="1" lang="en-US" altLang="zh-CN" sz="2400" b="1"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3.4.1   </a:t>
            </a:r>
            <a:r>
              <a:rPr kumimoji="1" lang="zh-CN" altLang="en-US" sz="2400" b="1">
                <a:effectLst/>
                <a:latin typeface="Times New Roman" panose="02020603050405020304" pitchFamily="18" charset="0"/>
                <a:hlinkClick r:id="rId3" action="ppaction://hlinksldjump"/>
              </a:rPr>
              <a:t>边值问题的类型</a:t>
            </a:r>
            <a:endParaRPr kumimoji="1" lang="zh-CN" altLang="en-US" sz="2400" b="1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kumimoji="1" lang="zh-CN" altLang="en-US" sz="2400" b="1"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   </a:t>
            </a:r>
            <a:r>
              <a:rPr kumimoji="1" lang="en-US" altLang="zh-CN" sz="2400" b="1"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3.4.2   </a:t>
            </a:r>
            <a:r>
              <a:rPr kumimoji="1" lang="zh-CN" altLang="en-US" sz="2400" b="1">
                <a:effectLst/>
                <a:latin typeface="Times New Roman" panose="02020603050405020304" pitchFamily="18" charset="0"/>
                <a:hlinkClick r:id="rId4" action="ppaction://hlinksldjump"/>
              </a:rPr>
              <a:t>惟一性定理</a:t>
            </a:r>
            <a:r>
              <a:rPr kumimoji="1" lang="zh-CN" altLang="en-US" b="1"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	</a:t>
            </a:r>
          </a:p>
        </p:txBody>
      </p:sp>
      <p:sp>
        <p:nvSpPr>
          <p:cNvPr id="88069" name="Text Box 9">
            <a:extLst>
              <a:ext uri="{FF2B5EF4-FFF2-40B4-BE49-F238E27FC236}">
                <a16:creationId xmlns:a16="http://schemas.microsoft.com/office/drawing/2014/main" id="{CC57D7E8-7AA7-3939-9C05-EF1B0F79C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1450975"/>
            <a:ext cx="8843963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5"/>
              </a:buBlip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　</a:t>
            </a:r>
            <a:r>
              <a:rPr kumimoji="1" lang="zh-CN" altLang="en-US" b="1">
                <a:solidFill>
                  <a:srgbClr val="FF9933"/>
                </a:solidFill>
                <a:ea typeface="宋体" panose="02010600030101010101" pitchFamily="2" charset="-122"/>
              </a:rPr>
              <a:t>边值问题</a:t>
            </a:r>
            <a:r>
              <a:rPr kumimoji="1" lang="zh-CN" altLang="en-US" b="1">
                <a:solidFill>
                  <a:srgbClr val="FF9933"/>
                </a:solidFill>
              </a:rPr>
              <a:t>：</a:t>
            </a:r>
            <a:r>
              <a:rPr kumimoji="1" lang="zh-CN" altLang="en-US" b="1">
                <a:solidFill>
                  <a:schemeClr val="bg1"/>
                </a:solidFill>
              </a:rPr>
              <a:t>在给定的边界条件下，求解</a:t>
            </a:r>
            <a:r>
              <a:rPr kumimoji="1" lang="zh-CN" altLang="en-US" b="1" u="sng">
                <a:solidFill>
                  <a:srgbClr val="FF0000"/>
                </a:solidFill>
              </a:rPr>
              <a:t>位函数</a:t>
            </a:r>
            <a:r>
              <a:rPr kumimoji="1" lang="zh-CN" altLang="en-US" b="1" u="sng">
                <a:solidFill>
                  <a:schemeClr val="bg1"/>
                </a:solidFill>
              </a:rPr>
              <a:t>的泊松方程或 </a:t>
            </a:r>
          </a:p>
          <a:p>
            <a:pPr algn="just" eaLnBrk="1" hangingPunct="1">
              <a:lnSpc>
                <a:spcPct val="130000"/>
              </a:lnSpc>
            </a:pPr>
            <a:r>
              <a:rPr kumimoji="1" lang="zh-CN" altLang="en-US" b="1">
                <a:solidFill>
                  <a:schemeClr val="bg1"/>
                </a:solidFill>
              </a:rPr>
              <a:t>                         </a:t>
            </a:r>
            <a:r>
              <a:rPr kumimoji="1" lang="zh-CN" altLang="en-US" b="1" u="sng">
                <a:solidFill>
                  <a:schemeClr val="bg1"/>
                </a:solidFill>
              </a:rPr>
              <a:t>拉普拉斯方程</a:t>
            </a:r>
            <a:r>
              <a:rPr kumimoji="1" lang="zh-CN" altLang="en-US" b="1">
                <a:solidFill>
                  <a:schemeClr val="bg1"/>
                </a:solidFill>
              </a:rPr>
              <a:t>。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88070" name="AutoShape 2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0F9E6EA-881F-61A0-2073-0302EC2F5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88071" name="AutoShape 2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80F97F0-ACEE-35EF-8901-6F33AB59C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88072" name="AutoShape 2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E18F3AA-34AA-6FD8-9B8A-DC524283C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88073" name="AutoShape 23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0825C5A6-0D7A-4133-9355-5E0C5982D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3">
            <a:extLst>
              <a:ext uri="{FF2B5EF4-FFF2-40B4-BE49-F238E27FC236}">
                <a16:creationId xmlns:a16="http://schemas.microsoft.com/office/drawing/2014/main" id="{3A2A01CB-26ED-BFCF-1E03-28F576453D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5B305FE-865D-4605-BA3C-15A68971AA37}" type="slidenum">
              <a:rPr lang="en-US" altLang="zh-CN" sz="1400">
                <a:ea typeface="宋体" panose="02010600030101010101" pitchFamily="2" charset="-122"/>
              </a:rPr>
              <a:pPr/>
              <a:t>2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910339" name="Rectangle 3">
            <a:extLst>
              <a:ext uri="{FF2B5EF4-FFF2-40B4-BE49-F238E27FC236}">
                <a16:creationId xmlns:a16="http://schemas.microsoft.com/office/drawing/2014/main" id="{C1C432F7-2107-562A-937E-8C68E1608F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620713"/>
            <a:ext cx="5111750" cy="503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3.4.1  </a:t>
            </a:r>
            <a:r>
              <a:rPr kumimoji="1" lang="zh-CN" altLang="en-US" sz="24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边值问题的类型</a:t>
            </a:r>
            <a:r>
              <a:rPr kumimoji="1" lang="zh-CN" altLang="en-US" sz="2400" b="1">
                <a:solidFill>
                  <a:schemeClr val="bg1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	</a:t>
            </a:r>
            <a:endParaRPr kumimoji="1" lang="zh-CN" altLang="en-US" sz="2400" b="1">
              <a:solidFill>
                <a:schemeClr val="bg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10340" name="Object 4">
            <a:extLst>
              <a:ext uri="{FF2B5EF4-FFF2-40B4-BE49-F238E27FC236}">
                <a16:creationId xmlns:a16="http://schemas.microsoft.com/office/drawing/2014/main" id="{AF6ADB3A-1FB4-A505-2FF2-F64E6B7F77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2565400"/>
          <a:ext cx="14176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5118" imgH="158885" progId="Equation.DSMT4">
                  <p:embed/>
                </p:oleObj>
              </mc:Choice>
              <mc:Fallback>
                <p:oleObj name="Equation" r:id="rId3" imgW="635118" imgH="15888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565400"/>
                        <a:ext cx="141763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0341" name="Text Box 5">
            <a:extLst>
              <a:ext uri="{FF2B5EF4-FFF2-40B4-BE49-F238E27FC236}">
                <a16:creationId xmlns:a16="http://schemas.microsoft.com/office/drawing/2014/main" id="{8E9CCFCA-4448-5685-23CF-C8BAFE4E2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844675"/>
            <a:ext cx="6172200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已知场域边界面</a:t>
            </a:r>
            <a:r>
              <a:rPr kumimoji="1" lang="en-US" altLang="zh-CN" b="1" i="1">
                <a:solidFill>
                  <a:schemeClr val="bg1"/>
                </a:solidFill>
                <a:latin typeface="Times New Roman" panose="02020603050405020304" pitchFamily="18" charset="0"/>
              </a:rPr>
              <a:t>S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上的位函数值，即</a:t>
            </a:r>
          </a:p>
        </p:txBody>
      </p:sp>
      <p:graphicFrame>
        <p:nvGraphicFramePr>
          <p:cNvPr id="910342" name="Object 6">
            <a:extLst>
              <a:ext uri="{FF2B5EF4-FFF2-40B4-BE49-F238E27FC236}">
                <a16:creationId xmlns:a16="http://schemas.microsoft.com/office/drawing/2014/main" id="{B2D7CA30-4D19-4A88-A2ED-B8C1C00A96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7463" y="5734050"/>
          <a:ext cx="1824037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44529" imgH="323850" progId="Equation.DSMT4">
                  <p:embed/>
                </p:oleObj>
              </mc:Choice>
              <mc:Fallback>
                <p:oleObj name="Equation" r:id="rId5" imgW="844529" imgH="32385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7463" y="5734050"/>
                        <a:ext cx="1824037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0343" name="Object 7">
            <a:extLst>
              <a:ext uri="{FF2B5EF4-FFF2-40B4-BE49-F238E27FC236}">
                <a16:creationId xmlns:a16="http://schemas.microsoft.com/office/drawing/2014/main" id="{03C569F9-C09A-35A9-D606-A1A368C39A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4525" y="5876925"/>
          <a:ext cx="16494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49342" imgH="164965" progId="Equation.DSMT4">
                  <p:embed/>
                </p:oleObj>
              </mc:Choice>
              <mc:Fallback>
                <p:oleObj name="Equation" r:id="rId7" imgW="749342" imgH="16496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5" y="5876925"/>
                        <a:ext cx="16494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0344" name="Object 8">
            <a:extLst>
              <a:ext uri="{FF2B5EF4-FFF2-40B4-BE49-F238E27FC236}">
                <a16:creationId xmlns:a16="http://schemas.microsoft.com/office/drawing/2014/main" id="{7E516494-570E-344F-1FD7-ED2AB59BBC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21525" y="3573463"/>
          <a:ext cx="16700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8380" imgH="323850" progId="Equation.DSMT4">
                  <p:embed/>
                </p:oleObj>
              </mc:Choice>
              <mc:Fallback>
                <p:oleObj name="Equation" r:id="rId9" imgW="768380" imgH="32385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1525" y="3573463"/>
                        <a:ext cx="167005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0346" name="Text Box 10">
            <a:extLst>
              <a:ext uri="{FF2B5EF4-FFF2-40B4-BE49-F238E27FC236}">
                <a16:creationId xmlns:a16="http://schemas.microsoft.com/office/drawing/2014/main" id="{A6E892A0-D3C4-B6BF-7B09-7D71ED252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206500"/>
            <a:ext cx="7067550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11"/>
              </a:buBlip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　</a:t>
            </a:r>
            <a:r>
              <a:rPr kumimoji="1" lang="zh-CN" altLang="en-US" b="1">
                <a:solidFill>
                  <a:schemeClr val="bg1"/>
                </a:solidFill>
              </a:rPr>
              <a:t>第一类边值问题（或狄里赫利问题）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910347" name="Text Box 11">
            <a:extLst>
              <a:ext uri="{FF2B5EF4-FFF2-40B4-BE49-F238E27FC236}">
                <a16:creationId xmlns:a16="http://schemas.microsoft.com/office/drawing/2014/main" id="{7079EE72-994B-4352-BF46-CF0166607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644900"/>
            <a:ext cx="7343775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已知场域边界面</a:t>
            </a:r>
            <a:r>
              <a:rPr kumimoji="1" lang="en-US" altLang="zh-CN" b="1" i="1">
                <a:solidFill>
                  <a:schemeClr val="bg1"/>
                </a:solidFill>
                <a:latin typeface="Times New Roman" panose="02020603050405020304" pitchFamily="18" charset="0"/>
              </a:rPr>
              <a:t>S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上的位函数的法向导数值，即</a:t>
            </a:r>
          </a:p>
        </p:txBody>
      </p:sp>
      <p:sp>
        <p:nvSpPr>
          <p:cNvPr id="910348" name="Text Box 12">
            <a:extLst>
              <a:ext uri="{FF2B5EF4-FFF2-40B4-BE49-F238E27FC236}">
                <a16:creationId xmlns:a16="http://schemas.microsoft.com/office/drawing/2014/main" id="{087F23EF-E059-616D-7660-A8D4E074A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797425"/>
            <a:ext cx="867727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  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已知场域一部分边界面</a:t>
            </a:r>
            <a:r>
              <a:rPr kumimoji="1" lang="en-US" altLang="zh-CN" b="1" i="1">
                <a:solidFill>
                  <a:schemeClr val="bg1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上的</a:t>
            </a:r>
            <a:r>
              <a:rPr kumimoji="1" lang="zh-CN" altLang="en-US" b="1">
                <a:solidFill>
                  <a:schemeClr val="bg1"/>
                </a:solidFill>
              </a:rPr>
              <a:t>位函数值，而另一部分边界面</a:t>
            </a:r>
            <a:r>
              <a:rPr kumimoji="1" lang="en-US" altLang="zh-CN" b="1" i="1">
                <a:solidFill>
                  <a:schemeClr val="bg1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2 </a:t>
            </a:r>
            <a:r>
              <a:rPr kumimoji="1" lang="zh-CN" altLang="en-US" b="1">
                <a:solidFill>
                  <a:schemeClr val="bg1"/>
                </a:solidFill>
              </a:rPr>
              <a:t>上则已知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位函数的法向导数值，即</a:t>
            </a:r>
          </a:p>
        </p:txBody>
      </p:sp>
      <p:sp>
        <p:nvSpPr>
          <p:cNvPr id="910349" name="Text Box 13">
            <a:extLst>
              <a:ext uri="{FF2B5EF4-FFF2-40B4-BE49-F238E27FC236}">
                <a16:creationId xmlns:a16="http://schemas.microsoft.com/office/drawing/2014/main" id="{048078E5-B9EF-2FE2-1D02-9F1BBF8D1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" y="4221163"/>
            <a:ext cx="7067550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11"/>
              </a:buBlip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　</a:t>
            </a:r>
            <a:r>
              <a:rPr kumimoji="1" lang="zh-CN" altLang="en-US" b="1">
                <a:solidFill>
                  <a:schemeClr val="bg1"/>
                </a:solidFill>
              </a:rPr>
              <a:t>第三类边值问题（或混合边值问题）</a:t>
            </a:r>
          </a:p>
        </p:txBody>
      </p:sp>
      <p:sp>
        <p:nvSpPr>
          <p:cNvPr id="910350" name="Text Box 14">
            <a:extLst>
              <a:ext uri="{FF2B5EF4-FFF2-40B4-BE49-F238E27FC236}">
                <a16:creationId xmlns:a16="http://schemas.microsoft.com/office/drawing/2014/main" id="{C5B28DC3-EA23-18E9-55FE-28C680321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" y="3068638"/>
            <a:ext cx="7067550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11"/>
              </a:buBlip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　</a:t>
            </a:r>
            <a:r>
              <a:rPr kumimoji="1" lang="zh-CN" altLang="en-US" b="1">
                <a:solidFill>
                  <a:schemeClr val="bg1"/>
                </a:solidFill>
              </a:rPr>
              <a:t>第二类边值问题（或纽曼问题）</a:t>
            </a:r>
          </a:p>
        </p:txBody>
      </p:sp>
      <p:grpSp>
        <p:nvGrpSpPr>
          <p:cNvPr id="910351" name="Group 15">
            <a:extLst>
              <a:ext uri="{FF2B5EF4-FFF2-40B4-BE49-F238E27FC236}">
                <a16:creationId xmlns:a16="http://schemas.microsoft.com/office/drawing/2014/main" id="{1052E0F7-86EC-5C7A-EAA5-80A9A2F2CEA4}"/>
              </a:ext>
            </a:extLst>
          </p:cNvPr>
          <p:cNvGrpSpPr>
            <a:grpSpLocks/>
          </p:cNvGrpSpPr>
          <p:nvPr/>
        </p:nvGrpSpPr>
        <p:grpSpPr bwMode="auto">
          <a:xfrm>
            <a:off x="6264275" y="836613"/>
            <a:ext cx="2484438" cy="2592387"/>
            <a:chOff x="4195" y="300"/>
            <a:chExt cx="1565" cy="1633"/>
          </a:xfrm>
        </p:grpSpPr>
        <p:sp>
          <p:nvSpPr>
            <p:cNvPr id="90131" name="Rectangle 16">
              <a:extLst>
                <a:ext uri="{FF2B5EF4-FFF2-40B4-BE49-F238E27FC236}">
                  <a16:creationId xmlns:a16="http://schemas.microsoft.com/office/drawing/2014/main" id="{5F9250E0-1A2E-46F8-30AC-36EA8F8BF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00"/>
              <a:ext cx="1565" cy="163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90132" name="Freeform 17">
              <a:extLst>
                <a:ext uri="{FF2B5EF4-FFF2-40B4-BE49-F238E27FC236}">
                  <a16:creationId xmlns:a16="http://schemas.microsoft.com/office/drawing/2014/main" id="{14E407D9-14FB-6FE1-C5A6-645243261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8" y="346"/>
              <a:ext cx="1377" cy="1458"/>
            </a:xfrm>
            <a:custGeom>
              <a:avLst/>
              <a:gdLst>
                <a:gd name="T0" fmla="*/ 27 w 1377"/>
                <a:gd name="T1" fmla="*/ 769 h 1458"/>
                <a:gd name="T2" fmla="*/ 111 w 1377"/>
                <a:gd name="T3" fmla="*/ 297 h 1458"/>
                <a:gd name="T4" fmla="*/ 630 w 1377"/>
                <a:gd name="T5" fmla="*/ 3 h 1458"/>
                <a:gd name="T6" fmla="*/ 1224 w 1377"/>
                <a:gd name="T7" fmla="*/ 313 h 1458"/>
                <a:gd name="T8" fmla="*/ 1362 w 1377"/>
                <a:gd name="T9" fmla="*/ 788 h 1458"/>
                <a:gd name="T10" fmla="*/ 1317 w 1377"/>
                <a:gd name="T11" fmla="*/ 1148 h 1458"/>
                <a:gd name="T12" fmla="*/ 1006 w 1377"/>
                <a:gd name="T13" fmla="*/ 1414 h 1458"/>
                <a:gd name="T14" fmla="*/ 549 w 1377"/>
                <a:gd name="T15" fmla="*/ 1409 h 1458"/>
                <a:gd name="T16" fmla="*/ 146 w 1377"/>
                <a:gd name="T17" fmla="*/ 1130 h 1458"/>
                <a:gd name="T18" fmla="*/ 0 w 1377"/>
                <a:gd name="T19" fmla="*/ 724 h 1458"/>
                <a:gd name="T20" fmla="*/ 27 w 1377"/>
                <a:gd name="T21" fmla="*/ 769 h 14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77" h="1458">
                  <a:moveTo>
                    <a:pt x="27" y="769"/>
                  </a:moveTo>
                  <a:cubicBezTo>
                    <a:pt x="39" y="690"/>
                    <a:pt x="11" y="425"/>
                    <a:pt x="111" y="297"/>
                  </a:cubicBezTo>
                  <a:cubicBezTo>
                    <a:pt x="211" y="169"/>
                    <a:pt x="445" y="0"/>
                    <a:pt x="630" y="3"/>
                  </a:cubicBezTo>
                  <a:cubicBezTo>
                    <a:pt x="815" y="6"/>
                    <a:pt x="1102" y="182"/>
                    <a:pt x="1224" y="313"/>
                  </a:cubicBezTo>
                  <a:cubicBezTo>
                    <a:pt x="1346" y="444"/>
                    <a:pt x="1347" y="649"/>
                    <a:pt x="1362" y="788"/>
                  </a:cubicBezTo>
                  <a:cubicBezTo>
                    <a:pt x="1377" y="927"/>
                    <a:pt x="1376" y="1044"/>
                    <a:pt x="1317" y="1148"/>
                  </a:cubicBezTo>
                  <a:cubicBezTo>
                    <a:pt x="1258" y="1252"/>
                    <a:pt x="1134" y="1370"/>
                    <a:pt x="1006" y="1414"/>
                  </a:cubicBezTo>
                  <a:cubicBezTo>
                    <a:pt x="878" y="1458"/>
                    <a:pt x="692" y="1456"/>
                    <a:pt x="549" y="1409"/>
                  </a:cubicBezTo>
                  <a:cubicBezTo>
                    <a:pt x="406" y="1362"/>
                    <a:pt x="237" y="1244"/>
                    <a:pt x="146" y="1130"/>
                  </a:cubicBezTo>
                  <a:cubicBezTo>
                    <a:pt x="55" y="1016"/>
                    <a:pt x="30" y="809"/>
                    <a:pt x="0" y="724"/>
                  </a:cubicBezTo>
                  <a:cubicBezTo>
                    <a:pt x="0" y="724"/>
                    <a:pt x="27" y="769"/>
                    <a:pt x="27" y="769"/>
                  </a:cubicBezTo>
                  <a:close/>
                </a:path>
              </a:pathLst>
            </a:custGeom>
            <a:gradFill rotWithShape="1">
              <a:gsLst>
                <a:gs pos="0">
                  <a:srgbClr val="373737"/>
                </a:gs>
                <a:gs pos="100000">
                  <a:srgbClr val="777777"/>
                </a:gs>
              </a:gsLst>
              <a:lin ang="18900000" scaled="1"/>
            </a:gradFill>
            <a:ln w="9525">
              <a:round/>
              <a:headEnd/>
              <a:tailEnd/>
            </a:ln>
            <a:effectLst/>
            <a:scene3d>
              <a:camera prst="legacyPerspectiveTopRight">
                <a:rot lat="20699981" lon="20399981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777777"/>
              </a:extrusionClr>
              <a:contourClr>
                <a:srgbClr val="373737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graphicFrame>
          <p:nvGraphicFramePr>
            <p:cNvPr id="90133" name="Object 18">
              <a:extLst>
                <a:ext uri="{FF2B5EF4-FFF2-40B4-BE49-F238E27FC236}">
                  <a16:creationId xmlns:a16="http://schemas.microsoft.com/office/drawing/2014/main" id="{065E6C4D-A34D-C6C3-075C-B11F0B6DF3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65" y="1570"/>
            <a:ext cx="17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3593" imgH="101735" progId="Equation.DSMT4">
                    <p:embed/>
                  </p:oleObj>
                </mc:Choice>
                <mc:Fallback>
                  <p:oleObj name="Equation" r:id="rId12" imgW="63593" imgH="101735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5" y="1570"/>
                          <a:ext cx="178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34" name="Object 19">
              <a:extLst>
                <a:ext uri="{FF2B5EF4-FFF2-40B4-BE49-F238E27FC236}">
                  <a16:creationId xmlns:a16="http://schemas.microsoft.com/office/drawing/2014/main" id="{A9FFCB8D-E12C-403C-39D3-58A5749736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57" y="709"/>
            <a:ext cx="19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82630" imgH="101735" progId="Equation.DSMT4">
                    <p:embed/>
                  </p:oleObj>
                </mc:Choice>
                <mc:Fallback>
                  <p:oleObj name="Equation" r:id="rId14" imgW="82630" imgH="10173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7" y="709"/>
                          <a:ext cx="193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0127" name="AutoShape 21">
            <a:hlinkClick r:id="rId16" action="ppaction://hlinksldjump" highlightClick="1"/>
            <a:extLst>
              <a:ext uri="{FF2B5EF4-FFF2-40B4-BE49-F238E27FC236}">
                <a16:creationId xmlns:a16="http://schemas.microsoft.com/office/drawing/2014/main" id="{369D79CA-9BF6-3189-89D7-590DAB114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90128" name="AutoShape 2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86C33E0-8C30-E919-38E0-2DAA5EF83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90129" name="AutoShape 2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C75B4DB-A1F8-8A3A-76BB-0A74D930F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90130" name="AutoShape 24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D7C64EA5-2A71-3A05-C8A6-1EAF93743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91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910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91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91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91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91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910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91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910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000"/>
                                        <p:tgtEl>
                                          <p:spTgt spid="910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91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91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0339" grpId="0" build="p"/>
      <p:bldP spid="910341" grpId="0"/>
      <p:bldP spid="910346" grpId="0"/>
      <p:bldP spid="910347" grpId="0"/>
      <p:bldP spid="910348" grpId="0"/>
      <p:bldP spid="910349" grpId="0"/>
      <p:bldP spid="91035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2">
            <a:extLst>
              <a:ext uri="{FF2B5EF4-FFF2-40B4-BE49-F238E27FC236}">
                <a16:creationId xmlns:a16="http://schemas.microsoft.com/office/drawing/2014/main" id="{4624F3E6-0A33-C020-F3C9-B21D5D96E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AC40838-7C62-4CE8-9196-C63C21657832}" type="slidenum">
              <a:rPr lang="en-US" altLang="zh-CN" sz="1400">
                <a:ea typeface="宋体" panose="02010600030101010101" pitchFamily="2" charset="-122"/>
              </a:rPr>
              <a:pPr/>
              <a:t>3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graphicFrame>
        <p:nvGraphicFramePr>
          <p:cNvPr id="838658" name="Object 2">
            <a:extLst>
              <a:ext uri="{FF2B5EF4-FFF2-40B4-BE49-F238E27FC236}">
                <a16:creationId xmlns:a16="http://schemas.microsoft.com/office/drawing/2014/main" id="{E4FDE6F3-E278-F8FE-FF6E-0C2E09E993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2738" y="595313"/>
          <a:ext cx="1909762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82604" imgH="368435" progId="Equation.DSMT4">
                  <p:embed/>
                </p:oleObj>
              </mc:Choice>
              <mc:Fallback>
                <p:oleObj name="Equation" r:id="rId3" imgW="882604" imgH="36843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2738" y="595313"/>
                        <a:ext cx="1909762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8659" name="Text Box 3">
            <a:extLst>
              <a:ext uri="{FF2B5EF4-FFF2-40B4-BE49-F238E27FC236}">
                <a16:creationId xmlns:a16="http://schemas.microsoft.com/office/drawing/2014/main" id="{3041BEA6-6A01-403F-DFF1-8013B7EA7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07950" y="620713"/>
            <a:ext cx="350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rgbClr val="FF99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【</a:t>
            </a:r>
            <a:r>
              <a:rPr kumimoji="1" lang="zh-CN" altLang="en-US" b="1">
                <a:solidFill>
                  <a:srgbClr val="FF9933"/>
                </a:solidFill>
                <a:latin typeface="楷体_GB2312" pitchFamily="49" charset="-122"/>
              </a:rPr>
              <a:t>例</a:t>
            </a:r>
            <a:r>
              <a:rPr kumimoji="1" lang="en-US" altLang="zh-CN" b="1">
                <a:solidFill>
                  <a:srgbClr val="FF99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】</a:t>
            </a:r>
          </a:p>
        </p:txBody>
      </p:sp>
      <p:graphicFrame>
        <p:nvGraphicFramePr>
          <p:cNvPr id="838660" name="Object 4">
            <a:extLst>
              <a:ext uri="{FF2B5EF4-FFF2-40B4-BE49-F238E27FC236}">
                <a16:creationId xmlns:a16="http://schemas.microsoft.com/office/drawing/2014/main" id="{002C8836-9CF0-DEA6-C116-26A8160A3D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4963" y="1531938"/>
          <a:ext cx="280035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20868" imgH="133350" progId="Equation.DSMT4">
                  <p:embed/>
                </p:oleObj>
              </mc:Choice>
              <mc:Fallback>
                <p:oleObj name="Equation" r:id="rId5" imgW="1320868" imgH="13335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963" y="1531938"/>
                        <a:ext cx="280035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61" name="Object 5">
            <a:extLst>
              <a:ext uri="{FF2B5EF4-FFF2-40B4-BE49-F238E27FC236}">
                <a16:creationId xmlns:a16="http://schemas.microsoft.com/office/drawing/2014/main" id="{FF5DF430-40CD-52AF-5187-D051DFC50D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4963" y="2108200"/>
          <a:ext cx="290195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77980" imgH="158885" progId="Equation.DSMT4">
                  <p:embed/>
                </p:oleObj>
              </mc:Choice>
              <mc:Fallback>
                <p:oleObj name="Equation" r:id="rId7" imgW="1377980" imgH="15888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963" y="2108200"/>
                        <a:ext cx="290195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8662" name="Text Box 6">
            <a:extLst>
              <a:ext uri="{FF2B5EF4-FFF2-40B4-BE49-F238E27FC236}">
                <a16:creationId xmlns:a16="http://schemas.microsoft.com/office/drawing/2014/main" id="{46C2221F-A28B-FD04-354B-910A68374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738" y="2611438"/>
            <a:ext cx="295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（第一类边值问题）</a:t>
            </a:r>
          </a:p>
        </p:txBody>
      </p:sp>
      <p:grpSp>
        <p:nvGrpSpPr>
          <p:cNvPr id="838663" name="Group 7">
            <a:extLst>
              <a:ext uri="{FF2B5EF4-FFF2-40B4-BE49-F238E27FC236}">
                <a16:creationId xmlns:a16="http://schemas.microsoft.com/office/drawing/2014/main" id="{B46A0384-716C-24CE-F575-76671831BD31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549275"/>
            <a:ext cx="3816350" cy="2592388"/>
            <a:chOff x="567" y="346"/>
            <a:chExt cx="2404" cy="1633"/>
          </a:xfrm>
        </p:grpSpPr>
        <p:sp>
          <p:nvSpPr>
            <p:cNvPr id="92199" name="Rectangle 8">
              <a:extLst>
                <a:ext uri="{FF2B5EF4-FFF2-40B4-BE49-F238E27FC236}">
                  <a16:creationId xmlns:a16="http://schemas.microsoft.com/office/drawing/2014/main" id="{10443AF4-8F62-9BFA-0D19-D7B20A22C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346"/>
              <a:ext cx="2404" cy="163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zh-CN"/>
            </a:p>
          </p:txBody>
        </p:sp>
        <p:sp>
          <p:nvSpPr>
            <p:cNvPr id="92200" name="Line 9">
              <a:extLst>
                <a:ext uri="{FF2B5EF4-FFF2-40B4-BE49-F238E27FC236}">
                  <a16:creationId xmlns:a16="http://schemas.microsoft.com/office/drawing/2014/main" id="{7BA86581-1896-E283-5000-37CEA3BD14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492"/>
              <a:ext cx="0" cy="1217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1" name="Line 10">
              <a:extLst>
                <a:ext uri="{FF2B5EF4-FFF2-40B4-BE49-F238E27FC236}">
                  <a16:creationId xmlns:a16="http://schemas.microsoft.com/office/drawing/2014/main" id="{3E7D0DDA-C366-95C7-A847-69ED86E6B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1713"/>
              <a:ext cx="170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2" name="Line 11">
              <a:extLst>
                <a:ext uri="{FF2B5EF4-FFF2-40B4-BE49-F238E27FC236}">
                  <a16:creationId xmlns:a16="http://schemas.microsoft.com/office/drawing/2014/main" id="{CC85D12F-78E1-0083-99B3-5351B47165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3" y="959"/>
              <a:ext cx="0" cy="75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3" name="Line 12">
              <a:extLst>
                <a:ext uri="{FF2B5EF4-FFF2-40B4-BE49-F238E27FC236}">
                  <a16:creationId xmlns:a16="http://schemas.microsoft.com/office/drawing/2014/main" id="{02A44DA6-4F57-676B-9517-0D005D7E6C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1" y="959"/>
              <a:ext cx="0" cy="75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4" name="Line 13">
              <a:extLst>
                <a:ext uri="{FF2B5EF4-FFF2-40B4-BE49-F238E27FC236}">
                  <a16:creationId xmlns:a16="http://schemas.microsoft.com/office/drawing/2014/main" id="{8FD8A822-49AB-BB60-E4C9-F476149530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928"/>
              <a:ext cx="1192" cy="0"/>
            </a:xfrm>
            <a:prstGeom prst="line">
              <a:avLst/>
            </a:prstGeom>
            <a:noFill/>
            <a:ln w="4127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5" name="Line 14">
              <a:extLst>
                <a:ext uri="{FF2B5EF4-FFF2-40B4-BE49-F238E27FC236}">
                  <a16:creationId xmlns:a16="http://schemas.microsoft.com/office/drawing/2014/main" id="{A582AF20-30F8-4F1B-50A7-71E3799EF8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1713"/>
              <a:ext cx="1192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206" name="Object 15">
              <a:extLst>
                <a:ext uri="{FF2B5EF4-FFF2-40B4-BE49-F238E27FC236}">
                  <a16:creationId xmlns:a16="http://schemas.microsoft.com/office/drawing/2014/main" id="{D25F09C3-E75C-FAE2-3272-C1045F4A46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4" y="666"/>
            <a:ext cx="217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27186" imgH="158885" progId="Equation.3">
                    <p:embed/>
                  </p:oleObj>
                </mc:Choice>
                <mc:Fallback>
                  <p:oleObj name="Equation" r:id="rId9" imgW="127186" imgH="15888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4" y="666"/>
                          <a:ext cx="217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07" name="Object 16">
              <a:extLst>
                <a:ext uri="{FF2B5EF4-FFF2-40B4-BE49-F238E27FC236}">
                  <a16:creationId xmlns:a16="http://schemas.microsoft.com/office/drawing/2014/main" id="{C8757BAC-E22A-EAE5-4B13-47D668B6AB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1" y="812"/>
            <a:ext cx="135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50631" imgH="101735" progId="Equation.3">
                    <p:embed/>
                  </p:oleObj>
                </mc:Choice>
                <mc:Fallback>
                  <p:oleObj name="Equation" r:id="rId11" imgW="50631" imgH="101735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1" y="812"/>
                          <a:ext cx="135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08" name="Object 17">
              <a:extLst>
                <a:ext uri="{FF2B5EF4-FFF2-40B4-BE49-F238E27FC236}">
                  <a16:creationId xmlns:a16="http://schemas.microsoft.com/office/drawing/2014/main" id="{7FB501F2-553B-C154-14E9-4871B7901F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9" y="1755"/>
            <a:ext cx="137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50631" imgH="63635" progId="Equation.DSMT4">
                    <p:embed/>
                  </p:oleObj>
                </mc:Choice>
                <mc:Fallback>
                  <p:oleObj name="Equation" r:id="rId13" imgW="50631" imgH="63635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9" y="1755"/>
                          <a:ext cx="137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09" name="Object 18">
              <a:extLst>
                <a:ext uri="{FF2B5EF4-FFF2-40B4-BE49-F238E27FC236}">
                  <a16:creationId xmlns:a16="http://schemas.microsoft.com/office/drawing/2014/main" id="{7AC17449-2D49-C812-4F9D-B9B0E28E08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6" y="1663"/>
            <a:ext cx="164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82630" imgH="101735" progId="Equation.DSMT4">
                    <p:embed/>
                  </p:oleObj>
                </mc:Choice>
                <mc:Fallback>
                  <p:oleObj name="Equation" r:id="rId15" imgW="82630" imgH="101735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6" y="1663"/>
                          <a:ext cx="164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10" name="Object 19">
              <a:extLst>
                <a:ext uri="{FF2B5EF4-FFF2-40B4-BE49-F238E27FC236}">
                  <a16:creationId xmlns:a16="http://schemas.microsoft.com/office/drawing/2014/main" id="{D25417C4-8B70-788F-BA78-C9DDD16C7F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51" y="1719"/>
            <a:ext cx="148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50631" imgH="63635" progId="Equation.3">
                    <p:embed/>
                  </p:oleObj>
                </mc:Choice>
                <mc:Fallback>
                  <p:oleObj name="Equation" r:id="rId17" imgW="50631" imgH="6363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1" y="1719"/>
                          <a:ext cx="148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11" name="Object 20">
              <a:extLst>
                <a:ext uri="{FF2B5EF4-FFF2-40B4-BE49-F238E27FC236}">
                  <a16:creationId xmlns:a16="http://schemas.microsoft.com/office/drawing/2014/main" id="{69F826A0-6D80-B83F-757E-690BF67050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1" y="431"/>
            <a:ext cx="149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63593" imgH="95250" progId="Equation.3">
                    <p:embed/>
                  </p:oleObj>
                </mc:Choice>
                <mc:Fallback>
                  <p:oleObj name="Equation" r:id="rId19" imgW="63593" imgH="9525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" y="431"/>
                          <a:ext cx="149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212" name="Group 21">
              <a:extLst>
                <a:ext uri="{FF2B5EF4-FFF2-40B4-BE49-F238E27FC236}">
                  <a16:creationId xmlns:a16="http://schemas.microsoft.com/office/drawing/2014/main" id="{933D470A-B2C4-7C18-3CB4-616D2B0916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9" y="1298"/>
              <a:ext cx="289" cy="179"/>
              <a:chOff x="2109" y="2523"/>
              <a:chExt cx="289" cy="179"/>
            </a:xfrm>
          </p:grpSpPr>
          <p:sp>
            <p:nvSpPr>
              <p:cNvPr id="92213" name="Line 22">
                <a:extLst>
                  <a:ext uri="{FF2B5EF4-FFF2-40B4-BE49-F238E27FC236}">
                    <a16:creationId xmlns:a16="http://schemas.microsoft.com/office/drawing/2014/main" id="{443627AE-C11C-2736-DB04-43714F0B0C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2523"/>
                <a:ext cx="202" cy="0"/>
              </a:xfrm>
              <a:prstGeom prst="line">
                <a:avLst/>
              </a:prstGeom>
              <a:noFill/>
              <a:ln w="9525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2214" name="Group 23">
                <a:extLst>
                  <a:ext uri="{FF2B5EF4-FFF2-40B4-BE49-F238E27FC236}">
                    <a16:creationId xmlns:a16="http://schemas.microsoft.com/office/drawing/2014/main" id="{0E9B6912-5B42-BB72-F482-D4009BBD97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24" y="2523"/>
                <a:ext cx="174" cy="179"/>
                <a:chOff x="2224" y="2523"/>
                <a:chExt cx="174" cy="179"/>
              </a:xfrm>
            </p:grpSpPr>
            <p:sp>
              <p:nvSpPr>
                <p:cNvPr id="92215" name="Line 24">
                  <a:extLst>
                    <a:ext uri="{FF2B5EF4-FFF2-40B4-BE49-F238E27FC236}">
                      <a16:creationId xmlns:a16="http://schemas.microsoft.com/office/drawing/2014/main" id="{F6A5742A-A7C4-F1F6-3B32-CAED1B729E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1" y="2523"/>
                  <a:ext cx="0" cy="128"/>
                </a:xfrm>
                <a:prstGeom prst="line">
                  <a:avLst/>
                </a:prstGeom>
                <a:noFill/>
                <a:ln w="952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216" name="Line 25">
                  <a:extLst>
                    <a:ext uri="{FF2B5EF4-FFF2-40B4-BE49-F238E27FC236}">
                      <a16:creationId xmlns:a16="http://schemas.microsoft.com/office/drawing/2014/main" id="{E1020E5A-7600-EBDB-8B48-70477CDB0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4" y="2651"/>
                  <a:ext cx="174" cy="0"/>
                </a:xfrm>
                <a:prstGeom prst="line">
                  <a:avLst/>
                </a:prstGeom>
                <a:noFill/>
                <a:ln w="15875">
                  <a:solidFill>
                    <a:srgbClr val="80008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217" name="Line 26">
                  <a:extLst>
                    <a:ext uri="{FF2B5EF4-FFF2-40B4-BE49-F238E27FC236}">
                      <a16:creationId xmlns:a16="http://schemas.microsoft.com/office/drawing/2014/main" id="{C3FABC55-30F0-5197-FA01-7BE13A7043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60" y="2676"/>
                  <a:ext cx="88" cy="0"/>
                </a:xfrm>
                <a:prstGeom prst="line">
                  <a:avLst/>
                </a:prstGeom>
                <a:noFill/>
                <a:ln w="15875">
                  <a:solidFill>
                    <a:srgbClr val="80008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218" name="Line 27">
                  <a:extLst>
                    <a:ext uri="{FF2B5EF4-FFF2-40B4-BE49-F238E27FC236}">
                      <a16:creationId xmlns:a16="http://schemas.microsoft.com/office/drawing/2014/main" id="{5532BD04-885C-C456-AA28-2BB1B561C4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60" y="2702"/>
                  <a:ext cx="88" cy="0"/>
                </a:xfrm>
                <a:prstGeom prst="line">
                  <a:avLst/>
                </a:prstGeom>
                <a:noFill/>
                <a:ln w="15875">
                  <a:solidFill>
                    <a:srgbClr val="80008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38684" name="Group 28">
            <a:extLst>
              <a:ext uri="{FF2B5EF4-FFF2-40B4-BE49-F238E27FC236}">
                <a16:creationId xmlns:a16="http://schemas.microsoft.com/office/drawing/2014/main" id="{72BDD890-83ED-6BDF-6EFB-128474154122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3571875"/>
            <a:ext cx="3887787" cy="2736850"/>
            <a:chOff x="567" y="2205"/>
            <a:chExt cx="2449" cy="1724"/>
          </a:xfrm>
        </p:grpSpPr>
        <p:sp>
          <p:nvSpPr>
            <p:cNvPr id="92179" name="Rectangle 29">
              <a:extLst>
                <a:ext uri="{FF2B5EF4-FFF2-40B4-BE49-F238E27FC236}">
                  <a16:creationId xmlns:a16="http://schemas.microsoft.com/office/drawing/2014/main" id="{9075F78B-FD8D-E5FF-B138-0410C1B83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2205"/>
              <a:ext cx="2449" cy="172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zh-CN"/>
            </a:p>
          </p:txBody>
        </p:sp>
        <p:sp>
          <p:nvSpPr>
            <p:cNvPr id="92180" name="Line 30">
              <a:extLst>
                <a:ext uri="{FF2B5EF4-FFF2-40B4-BE49-F238E27FC236}">
                  <a16:creationId xmlns:a16="http://schemas.microsoft.com/office/drawing/2014/main" id="{72801108-C85B-61B3-F1AE-FE56EAF695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2430"/>
              <a:ext cx="0" cy="109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1" name="Line 31">
              <a:extLst>
                <a:ext uri="{FF2B5EF4-FFF2-40B4-BE49-F238E27FC236}">
                  <a16:creationId xmlns:a16="http://schemas.microsoft.com/office/drawing/2014/main" id="{6B0007F8-DC35-11E4-1BE8-5A75662308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" y="3520"/>
              <a:ext cx="156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2" name="Line 32">
              <a:extLst>
                <a:ext uri="{FF2B5EF4-FFF2-40B4-BE49-F238E27FC236}">
                  <a16:creationId xmlns:a16="http://schemas.microsoft.com/office/drawing/2014/main" id="{CF70EC21-703C-60BE-3D8C-E1FD234ADC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73" y="2771"/>
              <a:ext cx="0" cy="75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3" name="Line 33">
              <a:extLst>
                <a:ext uri="{FF2B5EF4-FFF2-40B4-BE49-F238E27FC236}">
                  <a16:creationId xmlns:a16="http://schemas.microsoft.com/office/drawing/2014/main" id="{20ECC000-B6EB-0EF7-3E70-3A2B7DF0E6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" y="2771"/>
              <a:ext cx="0" cy="75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4" name="Line 34">
              <a:extLst>
                <a:ext uri="{FF2B5EF4-FFF2-40B4-BE49-F238E27FC236}">
                  <a16:creationId xmlns:a16="http://schemas.microsoft.com/office/drawing/2014/main" id="{838FC491-C12A-7C27-9E86-93CFB2A562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1" y="2740"/>
              <a:ext cx="1192" cy="0"/>
            </a:xfrm>
            <a:prstGeom prst="line">
              <a:avLst/>
            </a:prstGeom>
            <a:noFill/>
            <a:ln w="4127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185" name="Object 35">
              <a:extLst>
                <a:ext uri="{FF2B5EF4-FFF2-40B4-BE49-F238E27FC236}">
                  <a16:creationId xmlns:a16="http://schemas.microsoft.com/office/drawing/2014/main" id="{506A293C-09F8-17CE-559E-D2B54AA71C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4" y="2478"/>
            <a:ext cx="217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27186" imgH="158885" progId="Equation.3">
                    <p:embed/>
                  </p:oleObj>
                </mc:Choice>
                <mc:Fallback>
                  <p:oleObj name="Equation" r:id="rId21" imgW="127186" imgH="158885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4" y="2478"/>
                          <a:ext cx="217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186" name="Object 36">
              <a:extLst>
                <a:ext uri="{FF2B5EF4-FFF2-40B4-BE49-F238E27FC236}">
                  <a16:creationId xmlns:a16="http://schemas.microsoft.com/office/drawing/2014/main" id="{138AD9EB-7E19-4B35-4349-CCD21F79E6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1" y="2624"/>
            <a:ext cx="135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50631" imgH="101735" progId="Equation.3">
                    <p:embed/>
                  </p:oleObj>
                </mc:Choice>
                <mc:Fallback>
                  <p:oleObj name="Equation" r:id="rId23" imgW="50631" imgH="101735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1" y="2624"/>
                          <a:ext cx="135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187" name="Object 37">
              <a:extLst>
                <a:ext uri="{FF2B5EF4-FFF2-40B4-BE49-F238E27FC236}">
                  <a16:creationId xmlns:a16="http://schemas.microsoft.com/office/drawing/2014/main" id="{91B20D9C-FE2B-DE19-1F68-F6116F9480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19" y="3568"/>
            <a:ext cx="137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50631" imgH="63635" progId="Equation.DSMT4">
                    <p:embed/>
                  </p:oleObj>
                </mc:Choice>
                <mc:Fallback>
                  <p:oleObj name="Equation" r:id="rId25" imgW="50631" imgH="63635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9" y="3568"/>
                          <a:ext cx="137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188" name="Object 38">
              <a:extLst>
                <a:ext uri="{FF2B5EF4-FFF2-40B4-BE49-F238E27FC236}">
                  <a16:creationId xmlns:a16="http://schemas.microsoft.com/office/drawing/2014/main" id="{97743A4D-8E82-29E0-E4D3-0FB9C3B95F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46" y="3476"/>
            <a:ext cx="164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82630" imgH="101735" progId="Equation.DSMT4">
                    <p:embed/>
                  </p:oleObj>
                </mc:Choice>
                <mc:Fallback>
                  <p:oleObj name="Equation" r:id="rId27" imgW="82630" imgH="101735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6" y="3476"/>
                          <a:ext cx="164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189" name="Object 39">
              <a:extLst>
                <a:ext uri="{FF2B5EF4-FFF2-40B4-BE49-F238E27FC236}">
                  <a16:creationId xmlns:a16="http://schemas.microsoft.com/office/drawing/2014/main" id="{53D8A9A5-9824-AAD5-2D6E-8717675B75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6" y="3532"/>
            <a:ext cx="148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50631" imgH="63635" progId="Equation.3">
                    <p:embed/>
                  </p:oleObj>
                </mc:Choice>
                <mc:Fallback>
                  <p:oleObj name="Equation" r:id="rId29" imgW="50631" imgH="63635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6" y="3532"/>
                          <a:ext cx="148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190" name="Object 40">
              <a:extLst>
                <a:ext uri="{FF2B5EF4-FFF2-40B4-BE49-F238E27FC236}">
                  <a16:creationId xmlns:a16="http://schemas.microsoft.com/office/drawing/2014/main" id="{CCB1D2C9-8C76-B064-EBD7-1C719472AA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99" y="2341"/>
            <a:ext cx="149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63593" imgH="95250" progId="Equation.3">
                    <p:embed/>
                  </p:oleObj>
                </mc:Choice>
                <mc:Fallback>
                  <p:oleObj name="Equation" r:id="rId31" imgW="63593" imgH="9525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9" y="2341"/>
                          <a:ext cx="149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191" name="Line 41">
              <a:extLst>
                <a:ext uri="{FF2B5EF4-FFF2-40B4-BE49-F238E27FC236}">
                  <a16:creationId xmlns:a16="http://schemas.microsoft.com/office/drawing/2014/main" id="{11957968-C04F-D2F3-FD40-6BE71C53D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3521"/>
              <a:ext cx="1147" cy="0"/>
            </a:xfrm>
            <a:prstGeom prst="line">
              <a:avLst/>
            </a:prstGeom>
            <a:noFill/>
            <a:ln w="4127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2192" name="Group 42">
              <a:extLst>
                <a:ext uri="{FF2B5EF4-FFF2-40B4-BE49-F238E27FC236}">
                  <a16:creationId xmlns:a16="http://schemas.microsoft.com/office/drawing/2014/main" id="{83BC7EAE-89D9-BBC4-B18A-022764BA90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5" y="3521"/>
              <a:ext cx="174" cy="179"/>
              <a:chOff x="2224" y="2523"/>
              <a:chExt cx="174" cy="179"/>
            </a:xfrm>
          </p:grpSpPr>
          <p:sp>
            <p:nvSpPr>
              <p:cNvPr id="92195" name="Line 43">
                <a:extLst>
                  <a:ext uri="{FF2B5EF4-FFF2-40B4-BE49-F238E27FC236}">
                    <a16:creationId xmlns:a16="http://schemas.microsoft.com/office/drawing/2014/main" id="{15A795A2-8F20-211F-A3BB-0A6340E521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1" y="2523"/>
                <a:ext cx="0" cy="128"/>
              </a:xfrm>
              <a:prstGeom prst="line">
                <a:avLst/>
              </a:prstGeom>
              <a:noFill/>
              <a:ln w="9525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196" name="Line 44">
                <a:extLst>
                  <a:ext uri="{FF2B5EF4-FFF2-40B4-BE49-F238E27FC236}">
                    <a16:creationId xmlns:a16="http://schemas.microsoft.com/office/drawing/2014/main" id="{A14DBACB-E68E-5A09-AA68-7E1754CB9F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2651"/>
                <a:ext cx="174" cy="0"/>
              </a:xfrm>
              <a:prstGeom prst="line">
                <a:avLst/>
              </a:prstGeom>
              <a:noFill/>
              <a:ln w="15875">
                <a:solidFill>
                  <a:srgbClr val="800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197" name="Line 45">
                <a:extLst>
                  <a:ext uri="{FF2B5EF4-FFF2-40B4-BE49-F238E27FC236}">
                    <a16:creationId xmlns:a16="http://schemas.microsoft.com/office/drawing/2014/main" id="{F9D4DE6A-F9A5-DB6C-B111-ED77EE5A7C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0" y="2676"/>
                <a:ext cx="88" cy="0"/>
              </a:xfrm>
              <a:prstGeom prst="line">
                <a:avLst/>
              </a:prstGeom>
              <a:noFill/>
              <a:ln w="15875">
                <a:solidFill>
                  <a:srgbClr val="800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198" name="Line 46">
                <a:extLst>
                  <a:ext uri="{FF2B5EF4-FFF2-40B4-BE49-F238E27FC236}">
                    <a16:creationId xmlns:a16="http://schemas.microsoft.com/office/drawing/2014/main" id="{E7FB938E-ED2D-CFBA-6351-9904B8E0F1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0" y="2702"/>
                <a:ext cx="88" cy="0"/>
              </a:xfrm>
              <a:prstGeom prst="line">
                <a:avLst/>
              </a:prstGeom>
              <a:noFill/>
              <a:ln w="15875">
                <a:solidFill>
                  <a:srgbClr val="800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92193" name="Object 47">
              <a:extLst>
                <a:ext uri="{FF2B5EF4-FFF2-40B4-BE49-F238E27FC236}">
                  <a16:creationId xmlns:a16="http://schemas.microsoft.com/office/drawing/2014/main" id="{6C218D41-9723-7854-0654-0ECAC05E38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36" y="2931"/>
            <a:ext cx="502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393708" imgH="323850" progId="Equation.DSMT4">
                    <p:embed/>
                  </p:oleObj>
                </mc:Choice>
                <mc:Fallback>
                  <p:oleObj name="Equation" r:id="rId33" imgW="393708" imgH="32385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2931"/>
                          <a:ext cx="502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194" name="Object 48">
              <a:extLst>
                <a:ext uri="{FF2B5EF4-FFF2-40B4-BE49-F238E27FC236}">
                  <a16:creationId xmlns:a16="http://schemas.microsoft.com/office/drawing/2014/main" id="{EAA8D4DE-25C5-B1DA-E58B-BD1927D497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" y="2886"/>
            <a:ext cx="502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393708" imgH="323850" progId="Equation.DSMT4">
                    <p:embed/>
                  </p:oleObj>
                </mc:Choice>
                <mc:Fallback>
                  <p:oleObj name="Equation" r:id="rId35" imgW="393708" imgH="323850" progId="Equation.DSMT4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886"/>
                          <a:ext cx="502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38705" name="Object 49">
            <a:extLst>
              <a:ext uri="{FF2B5EF4-FFF2-40B4-BE49-F238E27FC236}">
                <a16:creationId xmlns:a16="http://schemas.microsoft.com/office/drawing/2014/main" id="{E96AD1EA-8BBF-F02D-FDDB-CAC533DF5E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8638" y="3619500"/>
          <a:ext cx="1909762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882604" imgH="368435" progId="Equation.DSMT4">
                  <p:embed/>
                </p:oleObj>
              </mc:Choice>
              <mc:Fallback>
                <p:oleObj name="Equation" r:id="rId37" imgW="882604" imgH="368435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8638" y="3619500"/>
                        <a:ext cx="1909762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706" name="Object 50">
            <a:extLst>
              <a:ext uri="{FF2B5EF4-FFF2-40B4-BE49-F238E27FC236}">
                <a16:creationId xmlns:a16="http://schemas.microsoft.com/office/drawing/2014/main" id="{1624EC80-81E7-EE76-5C52-9BE8AF8A67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8000" y="4510088"/>
          <a:ext cx="29019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377980" imgH="323850" progId="Equation.DSMT4">
                  <p:embed/>
                </p:oleObj>
              </mc:Choice>
              <mc:Fallback>
                <p:oleObj name="Equation" r:id="rId39" imgW="1377980" imgH="32385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0" y="4510088"/>
                        <a:ext cx="29019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707" name="Object 51">
            <a:extLst>
              <a:ext uri="{FF2B5EF4-FFF2-40B4-BE49-F238E27FC236}">
                <a16:creationId xmlns:a16="http://schemas.microsoft.com/office/drawing/2014/main" id="{C1181D47-4C78-17B9-9847-37765D0570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8638" y="5373688"/>
          <a:ext cx="29019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377980" imgH="158885" progId="Equation.DSMT4">
                  <p:embed/>
                </p:oleObj>
              </mc:Choice>
              <mc:Fallback>
                <p:oleObj name="Equation" r:id="rId41" imgW="1377980" imgH="158885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8638" y="5373688"/>
                        <a:ext cx="290195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8708" name="Text Box 52">
            <a:extLst>
              <a:ext uri="{FF2B5EF4-FFF2-40B4-BE49-F238E27FC236}">
                <a16:creationId xmlns:a16="http://schemas.microsoft.com/office/drawing/2014/main" id="{18A81594-1A38-D405-AB09-84E62E0A1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5949950"/>
            <a:ext cx="3313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（第三类边值问题）</a:t>
            </a:r>
          </a:p>
        </p:txBody>
      </p:sp>
      <p:sp>
        <p:nvSpPr>
          <p:cNvPr id="92174" name="AutoShape 54">
            <a:hlinkClick r:id="rId43" action="ppaction://hlinksldjump" highlightClick="1"/>
            <a:extLst>
              <a:ext uri="{FF2B5EF4-FFF2-40B4-BE49-F238E27FC236}">
                <a16:creationId xmlns:a16="http://schemas.microsoft.com/office/drawing/2014/main" id="{620046C6-D799-DBF1-940D-C51AC3B1B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92175" name="AutoShape 5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C467BE2-7D27-11B5-464A-588F036EA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92176" name="AutoShape 5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69D3440-0207-C09D-4E4E-C9D9ED9BF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92177" name="AutoShape 57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222DDBFA-3B00-3CC5-5500-F91C48D60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838714" name="Text Box 58">
            <a:extLst>
              <a:ext uri="{FF2B5EF4-FFF2-40B4-BE49-F238E27FC236}">
                <a16:creationId xmlns:a16="http://schemas.microsoft.com/office/drawing/2014/main" id="{207E04D5-31F7-A77B-B8D4-352516CDB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5725" y="3500438"/>
            <a:ext cx="350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rgbClr val="FF99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【</a:t>
            </a:r>
            <a:r>
              <a:rPr kumimoji="1" lang="zh-CN" altLang="en-US" b="1">
                <a:solidFill>
                  <a:srgbClr val="FF9933"/>
                </a:solidFill>
                <a:latin typeface="楷体_GB2312" pitchFamily="49" charset="-122"/>
              </a:rPr>
              <a:t>例</a:t>
            </a:r>
            <a:r>
              <a:rPr kumimoji="1" lang="en-US" altLang="zh-CN" b="1">
                <a:solidFill>
                  <a:srgbClr val="FF99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3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3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3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83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83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83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3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83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83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83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000"/>
                                        <p:tgtEl>
                                          <p:spTgt spid="83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83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8659" grpId="0"/>
      <p:bldP spid="838662" grpId="0"/>
      <p:bldP spid="838708" grpId="0"/>
      <p:bldP spid="8387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2">
            <a:extLst>
              <a:ext uri="{FF2B5EF4-FFF2-40B4-BE49-F238E27FC236}">
                <a16:creationId xmlns:a16="http://schemas.microsoft.com/office/drawing/2014/main" id="{D39FF815-3069-4BE1-73B6-9AC22060B3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B893E5F-032F-4912-B1DA-E0E17ECFE040}" type="slidenum">
              <a:rPr lang="en-US" altLang="zh-CN" sz="1400">
                <a:ea typeface="宋体" panose="02010600030101010101" pitchFamily="2" charset="-122"/>
              </a:rPr>
              <a:pPr/>
              <a:t>4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graphicFrame>
        <p:nvGraphicFramePr>
          <p:cNvPr id="837634" name="Object 2">
            <a:extLst>
              <a:ext uri="{FF2B5EF4-FFF2-40B4-BE49-F238E27FC236}">
                <a16:creationId xmlns:a16="http://schemas.microsoft.com/office/drawing/2014/main" id="{ED293833-C984-DA34-2C6D-DBFD101BBC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375" y="1214438"/>
          <a:ext cx="208438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1715" imgH="203065" progId="Equation.DSMT4">
                  <p:embed/>
                </p:oleObj>
              </mc:Choice>
              <mc:Fallback>
                <p:oleObj name="Equation" r:id="rId3" imgW="971715" imgH="20306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1214438"/>
                        <a:ext cx="208438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7638" name="Text Box 6">
            <a:extLst>
              <a:ext uri="{FF2B5EF4-FFF2-40B4-BE49-F238E27FC236}">
                <a16:creationId xmlns:a16="http://schemas.microsoft.com/office/drawing/2014/main" id="{39EFC408-7B5A-AA2E-749B-0A737F9F5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7888" y="558800"/>
            <a:ext cx="5041900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5"/>
              </a:buBlip>
            </a:pPr>
            <a:r>
              <a:rPr kumimoji="1" lang="en-US" altLang="zh-CN" b="1">
                <a:solidFill>
                  <a:schemeClr val="bg1"/>
                </a:solidFill>
              </a:rPr>
              <a:t>   </a:t>
            </a:r>
            <a:r>
              <a:rPr kumimoji="1" lang="zh-CN" altLang="en-US" b="1">
                <a:solidFill>
                  <a:schemeClr val="bg1"/>
                </a:solidFill>
              </a:rPr>
              <a:t>自然边界条件 （无界空间）</a:t>
            </a:r>
          </a:p>
        </p:txBody>
      </p:sp>
      <p:sp>
        <p:nvSpPr>
          <p:cNvPr id="837640" name="Text Box 8">
            <a:extLst>
              <a:ext uri="{FF2B5EF4-FFF2-40B4-BE49-F238E27FC236}">
                <a16:creationId xmlns:a16="http://schemas.microsoft.com/office/drawing/2014/main" id="{74888B56-C684-8C32-8204-C89793C92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549275"/>
            <a:ext cx="3887788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5"/>
              </a:buBlip>
            </a:pPr>
            <a:r>
              <a:rPr kumimoji="1" lang="en-US" altLang="zh-CN" b="1">
                <a:solidFill>
                  <a:schemeClr val="bg1"/>
                </a:solidFill>
              </a:rPr>
              <a:t>   </a:t>
            </a:r>
            <a:r>
              <a:rPr kumimoji="1" lang="zh-CN" altLang="en-US" b="1">
                <a:solidFill>
                  <a:schemeClr val="bg1"/>
                </a:solidFill>
              </a:rPr>
              <a:t>周期边界条件</a:t>
            </a:r>
          </a:p>
        </p:txBody>
      </p:sp>
      <p:graphicFrame>
        <p:nvGraphicFramePr>
          <p:cNvPr id="837641" name="Object 9">
            <a:extLst>
              <a:ext uri="{FF2B5EF4-FFF2-40B4-BE49-F238E27FC236}">
                <a16:creationId xmlns:a16="http://schemas.microsoft.com/office/drawing/2014/main" id="{5D95CEBE-C97D-E3BE-7D5B-4D12980A8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5838" y="1198563"/>
          <a:ext cx="191611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80936" imgH="203065" progId="Equation.DSMT4">
                  <p:embed/>
                </p:oleObj>
              </mc:Choice>
              <mc:Fallback>
                <p:oleObj name="Equation" r:id="rId6" imgW="780936" imgH="20306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1198563"/>
                        <a:ext cx="191611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7642" name="Text Box 10">
            <a:extLst>
              <a:ext uri="{FF2B5EF4-FFF2-40B4-BE49-F238E27FC236}">
                <a16:creationId xmlns:a16="http://schemas.microsoft.com/office/drawing/2014/main" id="{FD22F2B5-FBE8-FD27-E175-1252E06AD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375150"/>
            <a:ext cx="5041900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5"/>
              </a:buBlip>
            </a:pPr>
            <a:r>
              <a:rPr kumimoji="1" lang="en-US" altLang="zh-CN" b="1">
                <a:solidFill>
                  <a:schemeClr val="bg1"/>
                </a:solidFill>
              </a:rPr>
              <a:t>   </a:t>
            </a:r>
            <a:r>
              <a:rPr kumimoji="1" lang="zh-CN" altLang="en-US" b="1">
                <a:solidFill>
                  <a:schemeClr val="bg1"/>
                </a:solidFill>
              </a:rPr>
              <a:t>衔接条件</a:t>
            </a:r>
          </a:p>
        </p:txBody>
      </p:sp>
      <p:sp>
        <p:nvSpPr>
          <p:cNvPr id="837643" name="Text Box 11">
            <a:extLst>
              <a:ext uri="{FF2B5EF4-FFF2-40B4-BE49-F238E27FC236}">
                <a16:creationId xmlns:a16="http://schemas.microsoft.com/office/drawing/2014/main" id="{D1B8EF32-88F4-2E2F-8BA1-087057816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949825"/>
            <a:ext cx="5041900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kumimoji="1" lang="zh-CN" altLang="en-US" b="1">
                <a:solidFill>
                  <a:schemeClr val="bg1"/>
                </a:solidFill>
              </a:rPr>
              <a:t>不同媒质分界面上的边界条件，如</a:t>
            </a:r>
          </a:p>
        </p:txBody>
      </p:sp>
      <p:graphicFrame>
        <p:nvGraphicFramePr>
          <p:cNvPr id="837644" name="Object 12">
            <a:extLst>
              <a:ext uri="{FF2B5EF4-FFF2-40B4-BE49-F238E27FC236}">
                <a16:creationId xmlns:a16="http://schemas.microsoft.com/office/drawing/2014/main" id="{2963C1F6-4DA7-E193-9BAF-A8D1647616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5589588"/>
          <a:ext cx="3433762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54129" imgH="323850" progId="Equation.DSMT4">
                  <p:embed/>
                </p:oleObj>
              </mc:Choice>
              <mc:Fallback>
                <p:oleObj name="Equation" r:id="rId8" imgW="1454129" imgH="32385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589588"/>
                        <a:ext cx="3433762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37663" name="Group 31">
            <a:extLst>
              <a:ext uri="{FF2B5EF4-FFF2-40B4-BE49-F238E27FC236}">
                <a16:creationId xmlns:a16="http://schemas.microsoft.com/office/drawing/2014/main" id="{91F0D937-F561-A2D5-0DC6-E77E92070B12}"/>
              </a:ext>
            </a:extLst>
          </p:cNvPr>
          <p:cNvGrpSpPr>
            <a:grpSpLocks/>
          </p:cNvGrpSpPr>
          <p:nvPr/>
        </p:nvGrpSpPr>
        <p:grpSpPr bwMode="auto">
          <a:xfrm>
            <a:off x="6154738" y="4624388"/>
            <a:ext cx="2520950" cy="1828800"/>
            <a:chOff x="3877" y="2913"/>
            <a:chExt cx="1588" cy="1152"/>
          </a:xfrm>
        </p:grpSpPr>
        <p:grpSp>
          <p:nvGrpSpPr>
            <p:cNvPr id="94239" name="Group 3">
              <a:extLst>
                <a:ext uri="{FF2B5EF4-FFF2-40B4-BE49-F238E27FC236}">
                  <a16:creationId xmlns:a16="http://schemas.microsoft.com/office/drawing/2014/main" id="{67361335-0E55-8870-E5E0-93E220857F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7" y="2913"/>
              <a:ext cx="1588" cy="1152"/>
              <a:chOff x="2496" y="3017"/>
              <a:chExt cx="2544" cy="1152"/>
            </a:xfrm>
          </p:grpSpPr>
          <p:sp>
            <p:nvSpPr>
              <p:cNvPr id="94244" name="Rectangle 4">
                <a:extLst>
                  <a:ext uri="{FF2B5EF4-FFF2-40B4-BE49-F238E27FC236}">
                    <a16:creationId xmlns:a16="http://schemas.microsoft.com/office/drawing/2014/main" id="{87277F57-E9C1-FE94-CBF2-02736D1AB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593"/>
                <a:ext cx="2544" cy="576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94245" name="Rectangle 5">
                <a:extLst>
                  <a:ext uri="{FF2B5EF4-FFF2-40B4-BE49-F238E27FC236}">
                    <a16:creationId xmlns:a16="http://schemas.microsoft.com/office/drawing/2014/main" id="{8B2B667E-E3B5-95D7-F4C1-312E874E0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017"/>
                <a:ext cx="2544" cy="576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graphicFrame>
          <p:nvGraphicFramePr>
            <p:cNvPr id="94240" name="Object 13">
              <a:extLst>
                <a:ext uri="{FF2B5EF4-FFF2-40B4-BE49-F238E27FC236}">
                  <a16:creationId xmlns:a16="http://schemas.microsoft.com/office/drawing/2014/main" id="{7FA6C7E8-2BFB-9F45-F070-5D0034E5E6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4" y="3158"/>
            <a:ext cx="216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82630" imgH="158885" progId="Equation.DSMT4">
                    <p:embed/>
                  </p:oleObj>
                </mc:Choice>
                <mc:Fallback>
                  <p:oleObj name="Equation" r:id="rId10" imgW="82630" imgH="158885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3158"/>
                          <a:ext cx="216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241" name="Object 14">
              <a:extLst>
                <a:ext uri="{FF2B5EF4-FFF2-40B4-BE49-F238E27FC236}">
                  <a16:creationId xmlns:a16="http://schemas.microsoft.com/office/drawing/2014/main" id="{160866E4-DE3E-876A-840F-C945067BAC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3" y="3502"/>
            <a:ext cx="234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88706" imgH="158885" progId="Equation.DSMT4">
                    <p:embed/>
                  </p:oleObj>
                </mc:Choice>
                <mc:Fallback>
                  <p:oleObj name="Equation" r:id="rId12" imgW="88706" imgH="158885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3" y="3502"/>
                          <a:ext cx="234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242" name="Object 15">
              <a:extLst>
                <a:ext uri="{FF2B5EF4-FFF2-40B4-BE49-F238E27FC236}">
                  <a16:creationId xmlns:a16="http://schemas.microsoft.com/office/drawing/2014/main" id="{1ECCC82C-B0F9-540B-F5CA-CBF8D8146A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3" y="3094"/>
            <a:ext cx="234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88706" imgH="158885" progId="Equation.DSMT4">
                    <p:embed/>
                  </p:oleObj>
                </mc:Choice>
                <mc:Fallback>
                  <p:oleObj name="Equation" r:id="rId14" imgW="88706" imgH="158885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3" y="3094"/>
                          <a:ext cx="234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243" name="Object 16">
              <a:extLst>
                <a:ext uri="{FF2B5EF4-FFF2-40B4-BE49-F238E27FC236}">
                  <a16:creationId xmlns:a16="http://schemas.microsoft.com/office/drawing/2014/main" id="{5F7D42C1-DF64-F453-F8AE-21207232F1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3" y="3502"/>
            <a:ext cx="252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01668" imgH="158885" progId="Equation.DSMT4">
                    <p:embed/>
                  </p:oleObj>
                </mc:Choice>
                <mc:Fallback>
                  <p:oleObj name="Equation" r:id="rId16" imgW="101668" imgH="158885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3" y="3502"/>
                          <a:ext cx="252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37664" name="Group 32">
            <a:extLst>
              <a:ext uri="{FF2B5EF4-FFF2-40B4-BE49-F238E27FC236}">
                <a16:creationId xmlns:a16="http://schemas.microsoft.com/office/drawing/2014/main" id="{D1B0B248-56A9-5351-3B4A-0EC8E4582FED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1258888"/>
            <a:ext cx="2952750" cy="2962275"/>
            <a:chOff x="3742" y="793"/>
            <a:chExt cx="1860" cy="1866"/>
          </a:xfrm>
        </p:grpSpPr>
        <p:sp>
          <p:nvSpPr>
            <p:cNvPr id="94234" name="Oval 7">
              <a:extLst>
                <a:ext uri="{FF2B5EF4-FFF2-40B4-BE49-F238E27FC236}">
                  <a16:creationId xmlns:a16="http://schemas.microsoft.com/office/drawing/2014/main" id="{A563F135-0094-346B-CD40-3FB44BA62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793"/>
              <a:ext cx="1859" cy="1860"/>
            </a:xfrm>
            <a:prstGeom prst="ellipse">
              <a:avLst/>
            </a:prstGeom>
            <a:solidFill>
              <a:srgbClr val="C3C3C3"/>
            </a:solidFill>
            <a:ln w="222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94235" name="Oval 17">
              <a:extLst>
                <a:ext uri="{FF2B5EF4-FFF2-40B4-BE49-F238E27FC236}">
                  <a16:creationId xmlns:a16="http://schemas.microsoft.com/office/drawing/2014/main" id="{E3B8E088-E571-2349-CA3C-2887F5F04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356"/>
              <a:ext cx="725" cy="725"/>
            </a:xfrm>
            <a:prstGeom prst="ellipse">
              <a:avLst/>
            </a:prstGeom>
            <a:gradFill rotWithShape="1">
              <a:gsLst>
                <a:gs pos="0">
                  <a:srgbClr val="787878"/>
                </a:gs>
                <a:gs pos="100000">
                  <a:srgbClr val="5B5B5B"/>
                </a:gs>
              </a:gsLst>
              <a:path path="shape">
                <a:fillToRect l="50000" t="50000" r="50000" b="50000"/>
              </a:path>
            </a:gradFill>
            <a:ln w="222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94236" name="Line 18">
              <a:extLst>
                <a:ext uri="{FF2B5EF4-FFF2-40B4-BE49-F238E27FC236}">
                  <a16:creationId xmlns:a16="http://schemas.microsoft.com/office/drawing/2014/main" id="{203D3338-0912-B766-C89E-CEABF91AF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5" y="1718"/>
              <a:ext cx="927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4237" name="Object 19">
              <a:extLst>
                <a:ext uri="{FF2B5EF4-FFF2-40B4-BE49-F238E27FC236}">
                  <a16:creationId xmlns:a16="http://schemas.microsoft.com/office/drawing/2014/main" id="{486F29DB-5FE1-DCBD-8E79-C9C121D951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9" y="1536"/>
            <a:ext cx="162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4555" imgH="57150" progId="Equation.DSMT4">
                    <p:embed/>
                  </p:oleObj>
                </mc:Choice>
                <mc:Fallback>
                  <p:oleObj name="Equation" r:id="rId18" imgW="44555" imgH="5715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9" y="1536"/>
                          <a:ext cx="162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238" name="Object 20">
              <a:extLst>
                <a:ext uri="{FF2B5EF4-FFF2-40B4-BE49-F238E27FC236}">
                  <a16:creationId xmlns:a16="http://schemas.microsoft.com/office/drawing/2014/main" id="{2795E9E0-3726-3345-B28E-B649EAACF0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4" y="2335"/>
            <a:ext cx="288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27186" imgH="158885" progId="Equation.DSMT4">
                    <p:embed/>
                  </p:oleObj>
                </mc:Choice>
                <mc:Fallback>
                  <p:oleObj name="Equation" r:id="rId20" imgW="127186" imgH="158885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4" y="2335"/>
                          <a:ext cx="288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37662" name="Group 30">
            <a:extLst>
              <a:ext uri="{FF2B5EF4-FFF2-40B4-BE49-F238E27FC236}">
                <a16:creationId xmlns:a16="http://schemas.microsoft.com/office/drawing/2014/main" id="{27060000-D484-353C-E3C2-8A7DA3B2A433}"/>
              </a:ext>
            </a:extLst>
          </p:cNvPr>
          <p:cNvGrpSpPr>
            <a:grpSpLocks/>
          </p:cNvGrpSpPr>
          <p:nvPr/>
        </p:nvGrpSpPr>
        <p:grpSpPr bwMode="auto">
          <a:xfrm>
            <a:off x="1189038" y="2060575"/>
            <a:ext cx="2662237" cy="2160588"/>
            <a:chOff x="749" y="1298"/>
            <a:chExt cx="1677" cy="1361"/>
          </a:xfrm>
        </p:grpSpPr>
        <p:grpSp>
          <p:nvGrpSpPr>
            <p:cNvPr id="94225" name="Group 21">
              <a:extLst>
                <a:ext uri="{FF2B5EF4-FFF2-40B4-BE49-F238E27FC236}">
                  <a16:creationId xmlns:a16="http://schemas.microsoft.com/office/drawing/2014/main" id="{47B04229-07E6-1189-0953-7B72FAE5F8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" y="1298"/>
              <a:ext cx="1360" cy="1361"/>
              <a:chOff x="567" y="1253"/>
              <a:chExt cx="1088" cy="1089"/>
            </a:xfrm>
          </p:grpSpPr>
          <p:sp>
            <p:nvSpPr>
              <p:cNvPr id="94227" name="Oval 22">
                <a:extLst>
                  <a:ext uri="{FF2B5EF4-FFF2-40B4-BE49-F238E27FC236}">
                    <a16:creationId xmlns:a16="http://schemas.microsoft.com/office/drawing/2014/main" id="{32916618-412E-B62D-FBC9-9099DD5FB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" y="1253"/>
                <a:ext cx="1088" cy="1089"/>
              </a:xfrm>
              <a:prstGeom prst="ellipse">
                <a:avLst/>
              </a:prstGeom>
              <a:solidFill>
                <a:srgbClr val="B4B4B4"/>
              </a:solidFill>
              <a:ln w="222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94228" name="Line 23">
                <a:extLst>
                  <a:ext uri="{FF2B5EF4-FFF2-40B4-BE49-F238E27FC236}">
                    <a16:creationId xmlns:a16="http://schemas.microsoft.com/office/drawing/2014/main" id="{049D6A1C-1727-58DB-336A-FB545371DA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9800000" flipV="1">
                <a:off x="1066" y="1664"/>
                <a:ext cx="363" cy="46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29" name="Arc 24">
                <a:extLst>
                  <a:ext uri="{FF2B5EF4-FFF2-40B4-BE49-F238E27FC236}">
                    <a16:creationId xmlns:a16="http://schemas.microsoft.com/office/drawing/2014/main" id="{635A3A6B-78DC-2F81-D23B-7A72752DEE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3" y="1663"/>
                <a:ext cx="86" cy="226"/>
              </a:xfrm>
              <a:custGeom>
                <a:avLst/>
                <a:gdLst>
                  <a:gd name="T0" fmla="*/ 0 w 19366"/>
                  <a:gd name="T1" fmla="*/ 0 h 21600"/>
                  <a:gd name="T2" fmla="*/ 0 w 19366"/>
                  <a:gd name="T3" fmla="*/ 0 h 21600"/>
                  <a:gd name="T4" fmla="*/ 0 w 19366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366" h="21600" fill="none" extrusionOk="0">
                    <a:moveTo>
                      <a:pt x="0" y="0"/>
                    </a:moveTo>
                    <a:cubicBezTo>
                      <a:pt x="8218" y="0"/>
                      <a:pt x="15725" y="4664"/>
                      <a:pt x="19365" y="12033"/>
                    </a:cubicBezTo>
                  </a:path>
                  <a:path w="19366" h="21600" stroke="0" extrusionOk="0">
                    <a:moveTo>
                      <a:pt x="0" y="0"/>
                    </a:moveTo>
                    <a:cubicBezTo>
                      <a:pt x="8218" y="0"/>
                      <a:pt x="15725" y="4664"/>
                      <a:pt x="19365" y="12033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5875">
                <a:solidFill>
                  <a:srgbClr val="8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30" name="Freeform 25">
                <a:extLst>
                  <a:ext uri="{FF2B5EF4-FFF2-40B4-BE49-F238E27FC236}">
                    <a16:creationId xmlns:a16="http://schemas.microsoft.com/office/drawing/2014/main" id="{F40ECDE4-6EAD-6304-F392-7EC94339B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3" y="1692"/>
                <a:ext cx="212" cy="197"/>
              </a:xfrm>
              <a:custGeom>
                <a:avLst/>
                <a:gdLst>
                  <a:gd name="T0" fmla="*/ 189 w 212"/>
                  <a:gd name="T1" fmla="*/ 106 h 197"/>
                  <a:gd name="T2" fmla="*/ 189 w 212"/>
                  <a:gd name="T3" fmla="*/ 15 h 197"/>
                  <a:gd name="T4" fmla="*/ 53 w 212"/>
                  <a:gd name="T5" fmla="*/ 15 h 197"/>
                  <a:gd name="T6" fmla="*/ 8 w 212"/>
                  <a:gd name="T7" fmla="*/ 106 h 197"/>
                  <a:gd name="T8" fmla="*/ 99 w 212"/>
                  <a:gd name="T9" fmla="*/ 197 h 1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2" h="197">
                    <a:moveTo>
                      <a:pt x="189" y="106"/>
                    </a:moveTo>
                    <a:cubicBezTo>
                      <a:pt x="200" y="68"/>
                      <a:pt x="212" y="30"/>
                      <a:pt x="189" y="15"/>
                    </a:cubicBezTo>
                    <a:cubicBezTo>
                      <a:pt x="166" y="0"/>
                      <a:pt x="83" y="0"/>
                      <a:pt x="53" y="15"/>
                    </a:cubicBezTo>
                    <a:cubicBezTo>
                      <a:pt x="23" y="30"/>
                      <a:pt x="0" y="76"/>
                      <a:pt x="8" y="106"/>
                    </a:cubicBezTo>
                    <a:cubicBezTo>
                      <a:pt x="16" y="136"/>
                      <a:pt x="57" y="166"/>
                      <a:pt x="99" y="197"/>
                    </a:cubicBezTo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31" name="Freeform 26">
                <a:extLst>
                  <a:ext uri="{FF2B5EF4-FFF2-40B4-BE49-F238E27FC236}">
                    <a16:creationId xmlns:a16="http://schemas.microsoft.com/office/drawing/2014/main" id="{8CDBCD65-06E7-3770-0C5B-AA6880FA61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1" y="1686"/>
                <a:ext cx="271" cy="248"/>
              </a:xfrm>
              <a:custGeom>
                <a:avLst/>
                <a:gdLst>
                  <a:gd name="T0" fmla="*/ 210 w 271"/>
                  <a:gd name="T1" fmla="*/ 111 h 248"/>
                  <a:gd name="T2" fmla="*/ 172 w 271"/>
                  <a:gd name="T3" fmla="*/ 48 h 248"/>
                  <a:gd name="T4" fmla="*/ 147 w 271"/>
                  <a:gd name="T5" fmla="*/ 19 h 248"/>
                  <a:gd name="T6" fmla="*/ 84 w 271"/>
                  <a:gd name="T7" fmla="*/ 5 h 248"/>
                  <a:gd name="T8" fmla="*/ 21 w 271"/>
                  <a:gd name="T9" fmla="*/ 48 h 248"/>
                  <a:gd name="T10" fmla="*/ 8 w 271"/>
                  <a:gd name="T11" fmla="*/ 148 h 248"/>
                  <a:gd name="T12" fmla="*/ 71 w 271"/>
                  <a:gd name="T13" fmla="*/ 234 h 248"/>
                  <a:gd name="T14" fmla="*/ 185 w 271"/>
                  <a:gd name="T15" fmla="*/ 234 h 248"/>
                  <a:gd name="T16" fmla="*/ 260 w 271"/>
                  <a:gd name="T17" fmla="*/ 148 h 248"/>
                  <a:gd name="T18" fmla="*/ 248 w 271"/>
                  <a:gd name="T19" fmla="*/ 48 h 248"/>
                  <a:gd name="T20" fmla="*/ 219 w 271"/>
                  <a:gd name="T21" fmla="*/ 1 h 24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71" h="248">
                    <a:moveTo>
                      <a:pt x="210" y="111"/>
                    </a:moveTo>
                    <a:cubicBezTo>
                      <a:pt x="202" y="99"/>
                      <a:pt x="182" y="63"/>
                      <a:pt x="172" y="48"/>
                    </a:cubicBezTo>
                    <a:cubicBezTo>
                      <a:pt x="162" y="33"/>
                      <a:pt x="162" y="26"/>
                      <a:pt x="147" y="19"/>
                    </a:cubicBezTo>
                    <a:cubicBezTo>
                      <a:pt x="132" y="12"/>
                      <a:pt x="105" y="0"/>
                      <a:pt x="84" y="5"/>
                    </a:cubicBezTo>
                    <a:cubicBezTo>
                      <a:pt x="63" y="9"/>
                      <a:pt x="34" y="24"/>
                      <a:pt x="21" y="48"/>
                    </a:cubicBezTo>
                    <a:cubicBezTo>
                      <a:pt x="9" y="72"/>
                      <a:pt x="0" y="117"/>
                      <a:pt x="8" y="148"/>
                    </a:cubicBezTo>
                    <a:cubicBezTo>
                      <a:pt x="17" y="179"/>
                      <a:pt x="42" y="220"/>
                      <a:pt x="71" y="234"/>
                    </a:cubicBezTo>
                    <a:cubicBezTo>
                      <a:pt x="101" y="248"/>
                      <a:pt x="153" y="248"/>
                      <a:pt x="185" y="234"/>
                    </a:cubicBezTo>
                    <a:cubicBezTo>
                      <a:pt x="216" y="220"/>
                      <a:pt x="250" y="179"/>
                      <a:pt x="260" y="148"/>
                    </a:cubicBezTo>
                    <a:cubicBezTo>
                      <a:pt x="271" y="117"/>
                      <a:pt x="255" y="72"/>
                      <a:pt x="248" y="48"/>
                    </a:cubicBezTo>
                    <a:cubicBezTo>
                      <a:pt x="241" y="24"/>
                      <a:pt x="225" y="11"/>
                      <a:pt x="219" y="1"/>
                    </a:cubicBezTo>
                  </a:path>
                </a:pathLst>
              </a:cu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94232" name="Object 27">
                <a:extLst>
                  <a:ext uri="{FF2B5EF4-FFF2-40B4-BE49-F238E27FC236}">
                    <a16:creationId xmlns:a16="http://schemas.microsoft.com/office/drawing/2014/main" id="{6E65C6B4-6DD3-72F4-2EE7-8F2FCC12DDD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39" y="1889"/>
              <a:ext cx="528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355634" imgH="133350" progId="Equation.DSMT4">
                      <p:embed/>
                    </p:oleObj>
                  </mc:Choice>
                  <mc:Fallback>
                    <p:oleObj name="Equation" r:id="rId22" imgW="355634" imgH="133350" progId="Equation.DSMT4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39" y="1889"/>
                            <a:ext cx="528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4233" name="Object 28">
                <a:extLst>
                  <a:ext uri="{FF2B5EF4-FFF2-40B4-BE49-F238E27FC236}">
                    <a16:creationId xmlns:a16="http://schemas.microsoft.com/office/drawing/2014/main" id="{F9249498-01F4-1601-F26E-23F24CBB9B5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84" y="1546"/>
              <a:ext cx="185" cy="2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50631" imgH="133350" progId="Equation.DSMT4">
                      <p:embed/>
                    </p:oleObj>
                  </mc:Choice>
                  <mc:Fallback>
                    <p:oleObj name="Equation" r:id="rId24" imgW="50631" imgH="133350" progId="Equation.DSMT4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84" y="1546"/>
                            <a:ext cx="185" cy="2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4226" name="Line 29">
              <a:extLst>
                <a:ext uri="{FF2B5EF4-FFF2-40B4-BE49-F238E27FC236}">
                  <a16:creationId xmlns:a16="http://schemas.microsoft.com/office/drawing/2014/main" id="{3406A6E6-A124-6226-7FE0-DBDF6BBD8B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1979"/>
              <a:ext cx="997" cy="0"/>
            </a:xfrm>
            <a:prstGeom prst="lin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4221" name="AutoShape 33">
            <a:hlinkClick r:id="rId26" action="ppaction://hlinksldjump" highlightClick="1"/>
            <a:extLst>
              <a:ext uri="{FF2B5EF4-FFF2-40B4-BE49-F238E27FC236}">
                <a16:creationId xmlns:a16="http://schemas.microsoft.com/office/drawing/2014/main" id="{AE236344-42BB-2050-D775-470B8060B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94222" name="AutoShape 3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D078D02-DF76-27DA-C93B-6F31219C1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94223" name="AutoShape 3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B83CFBA-6AF1-72DB-58E5-B4B77F940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94224" name="AutoShape 36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6EA68303-54DC-2FFF-83FC-935B07792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3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3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3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83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3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83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83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83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837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837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7638" grpId="0"/>
      <p:bldP spid="837640" grpId="0"/>
      <p:bldP spid="837642" grpId="0"/>
      <p:bldP spid="8376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2">
            <a:extLst>
              <a:ext uri="{FF2B5EF4-FFF2-40B4-BE49-F238E27FC236}">
                <a16:creationId xmlns:a16="http://schemas.microsoft.com/office/drawing/2014/main" id="{0FBD41B0-9B58-C470-98D1-2874ECE93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B79DBF98-866D-4D86-83D1-9B2F1920E220}" type="slidenum">
              <a:rPr lang="en-US" altLang="zh-CN" sz="1400">
                <a:ea typeface="宋体" panose="02010600030101010101" pitchFamily="2" charset="-122"/>
              </a:rPr>
              <a:pPr/>
              <a:t>5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grpSp>
        <p:nvGrpSpPr>
          <p:cNvPr id="839696" name="Group 16">
            <a:extLst>
              <a:ext uri="{FF2B5EF4-FFF2-40B4-BE49-F238E27FC236}">
                <a16:creationId xmlns:a16="http://schemas.microsoft.com/office/drawing/2014/main" id="{7A35EDFF-BB06-2982-90BA-732C3927D85A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1444625"/>
            <a:ext cx="5976937" cy="1697038"/>
            <a:chOff x="113" y="910"/>
            <a:chExt cx="3765" cy="1069"/>
          </a:xfrm>
        </p:grpSpPr>
        <p:sp>
          <p:nvSpPr>
            <p:cNvPr id="96275" name="Text Box 2">
              <a:extLst>
                <a:ext uri="{FF2B5EF4-FFF2-40B4-BE49-F238E27FC236}">
                  <a16:creationId xmlns:a16="http://schemas.microsoft.com/office/drawing/2014/main" id="{B692FF11-BD41-4885-FF74-B260CA058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955"/>
              <a:ext cx="3765" cy="1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40000"/>
                </a:lnSpc>
              </a:pPr>
              <a:r>
                <a:rPr kumimoji="1"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        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在场域</a:t>
              </a:r>
              <a:r>
                <a:rPr kumimoji="1" lang="en-US" altLang="zh-CN" b="1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V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的边界面</a:t>
              </a:r>
              <a:r>
                <a:rPr kumimoji="1" lang="en-US" altLang="zh-CN" b="1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上给定    或      的值，则泊松方程或拉普拉斯方程在场域</a:t>
              </a:r>
              <a:r>
                <a:rPr kumimoji="1" lang="en-US" altLang="zh-CN" b="1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V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内具有惟一值。 </a:t>
              </a:r>
            </a:p>
          </p:txBody>
        </p:sp>
        <p:graphicFrame>
          <p:nvGraphicFramePr>
            <p:cNvPr id="96276" name="Object 3">
              <a:extLst>
                <a:ext uri="{FF2B5EF4-FFF2-40B4-BE49-F238E27FC236}">
                  <a16:creationId xmlns:a16="http://schemas.microsoft.com/office/drawing/2014/main" id="{0F55BDE9-06F4-749D-292C-3F5B37950F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5" y="1091"/>
            <a:ext cx="175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63593" imgH="95250" progId="Equation.3">
                    <p:embed/>
                  </p:oleObj>
                </mc:Choice>
                <mc:Fallback>
                  <p:oleObj name="Equation" r:id="rId3" imgW="63593" imgH="9525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5" y="1091"/>
                          <a:ext cx="175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277" name="Object 4">
              <a:extLst>
                <a:ext uri="{FF2B5EF4-FFF2-40B4-BE49-F238E27FC236}">
                  <a16:creationId xmlns:a16="http://schemas.microsoft.com/office/drawing/2014/main" id="{0CF2E83A-9C71-EC3E-1A9B-8679FF9054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98" y="910"/>
            <a:ext cx="322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77817" imgH="323850" progId="Equation.3">
                    <p:embed/>
                  </p:oleObj>
                </mc:Choice>
                <mc:Fallback>
                  <p:oleObj name="Equation" r:id="rId5" imgW="177817" imgH="32385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" y="910"/>
                          <a:ext cx="322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39685" name="Rectangle 5">
            <a:extLst>
              <a:ext uri="{FF2B5EF4-FFF2-40B4-BE49-F238E27FC236}">
                <a16:creationId xmlns:a16="http://schemas.microsoft.com/office/drawing/2014/main" id="{4C402425-0979-04B0-205A-319E5E4CD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3" y="476250"/>
            <a:ext cx="46037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3.4.2  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惟一性定理</a:t>
            </a:r>
          </a:p>
        </p:txBody>
      </p:sp>
      <p:grpSp>
        <p:nvGrpSpPr>
          <p:cNvPr id="839695" name="Group 15">
            <a:extLst>
              <a:ext uri="{FF2B5EF4-FFF2-40B4-BE49-F238E27FC236}">
                <a16:creationId xmlns:a16="http://schemas.microsoft.com/office/drawing/2014/main" id="{3CD3F919-DCFB-0EC8-0513-D44332E040AC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765175"/>
            <a:ext cx="2484437" cy="2592388"/>
            <a:chOff x="3969" y="482"/>
            <a:chExt cx="1565" cy="1633"/>
          </a:xfrm>
        </p:grpSpPr>
        <p:sp>
          <p:nvSpPr>
            <p:cNvPr id="96271" name="Rectangle 6">
              <a:extLst>
                <a:ext uri="{FF2B5EF4-FFF2-40B4-BE49-F238E27FC236}">
                  <a16:creationId xmlns:a16="http://schemas.microsoft.com/office/drawing/2014/main" id="{60BD154A-B481-7C1D-E603-88945D679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482"/>
              <a:ext cx="1565" cy="163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96272" name="Freeform 7">
              <a:extLst>
                <a:ext uri="{FF2B5EF4-FFF2-40B4-BE49-F238E27FC236}">
                  <a16:creationId xmlns:a16="http://schemas.microsoft.com/office/drawing/2014/main" id="{902B77F9-8E11-2191-9C6D-FE8532D2B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" y="528"/>
              <a:ext cx="1377" cy="1458"/>
            </a:xfrm>
            <a:custGeom>
              <a:avLst/>
              <a:gdLst>
                <a:gd name="T0" fmla="*/ 27 w 1377"/>
                <a:gd name="T1" fmla="*/ 769 h 1458"/>
                <a:gd name="T2" fmla="*/ 111 w 1377"/>
                <a:gd name="T3" fmla="*/ 297 h 1458"/>
                <a:gd name="T4" fmla="*/ 630 w 1377"/>
                <a:gd name="T5" fmla="*/ 3 h 1458"/>
                <a:gd name="T6" fmla="*/ 1224 w 1377"/>
                <a:gd name="T7" fmla="*/ 313 h 1458"/>
                <a:gd name="T8" fmla="*/ 1362 w 1377"/>
                <a:gd name="T9" fmla="*/ 788 h 1458"/>
                <a:gd name="T10" fmla="*/ 1317 w 1377"/>
                <a:gd name="T11" fmla="*/ 1148 h 1458"/>
                <a:gd name="T12" fmla="*/ 1006 w 1377"/>
                <a:gd name="T13" fmla="*/ 1414 h 1458"/>
                <a:gd name="T14" fmla="*/ 549 w 1377"/>
                <a:gd name="T15" fmla="*/ 1409 h 1458"/>
                <a:gd name="T16" fmla="*/ 146 w 1377"/>
                <a:gd name="T17" fmla="*/ 1130 h 1458"/>
                <a:gd name="T18" fmla="*/ 0 w 1377"/>
                <a:gd name="T19" fmla="*/ 724 h 1458"/>
                <a:gd name="T20" fmla="*/ 27 w 1377"/>
                <a:gd name="T21" fmla="*/ 769 h 14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77" h="1458">
                  <a:moveTo>
                    <a:pt x="27" y="769"/>
                  </a:moveTo>
                  <a:cubicBezTo>
                    <a:pt x="39" y="690"/>
                    <a:pt x="11" y="425"/>
                    <a:pt x="111" y="297"/>
                  </a:cubicBezTo>
                  <a:cubicBezTo>
                    <a:pt x="211" y="169"/>
                    <a:pt x="445" y="0"/>
                    <a:pt x="630" y="3"/>
                  </a:cubicBezTo>
                  <a:cubicBezTo>
                    <a:pt x="815" y="6"/>
                    <a:pt x="1102" y="182"/>
                    <a:pt x="1224" y="313"/>
                  </a:cubicBezTo>
                  <a:cubicBezTo>
                    <a:pt x="1346" y="444"/>
                    <a:pt x="1347" y="649"/>
                    <a:pt x="1362" y="788"/>
                  </a:cubicBezTo>
                  <a:cubicBezTo>
                    <a:pt x="1377" y="927"/>
                    <a:pt x="1376" y="1044"/>
                    <a:pt x="1317" y="1148"/>
                  </a:cubicBezTo>
                  <a:cubicBezTo>
                    <a:pt x="1258" y="1252"/>
                    <a:pt x="1134" y="1370"/>
                    <a:pt x="1006" y="1414"/>
                  </a:cubicBezTo>
                  <a:cubicBezTo>
                    <a:pt x="878" y="1458"/>
                    <a:pt x="692" y="1456"/>
                    <a:pt x="549" y="1409"/>
                  </a:cubicBezTo>
                  <a:cubicBezTo>
                    <a:pt x="406" y="1362"/>
                    <a:pt x="237" y="1244"/>
                    <a:pt x="146" y="1130"/>
                  </a:cubicBezTo>
                  <a:cubicBezTo>
                    <a:pt x="55" y="1016"/>
                    <a:pt x="30" y="809"/>
                    <a:pt x="0" y="724"/>
                  </a:cubicBezTo>
                  <a:cubicBezTo>
                    <a:pt x="0" y="724"/>
                    <a:pt x="27" y="769"/>
                    <a:pt x="27" y="769"/>
                  </a:cubicBezTo>
                  <a:close/>
                </a:path>
              </a:pathLst>
            </a:custGeom>
            <a:gradFill rotWithShape="1">
              <a:gsLst>
                <a:gs pos="0">
                  <a:srgbClr val="211929"/>
                </a:gs>
                <a:gs pos="100000">
                  <a:srgbClr val="CC99FF"/>
                </a:gs>
              </a:gsLst>
              <a:lin ang="18900000" scaled="1"/>
            </a:gradFill>
            <a:ln w="9525">
              <a:round/>
              <a:headEnd/>
              <a:tailEnd/>
            </a:ln>
            <a:effectLst/>
            <a:scene3d>
              <a:camera prst="legacyPerspectiveTopRight">
                <a:rot lat="20699981" lon="20399981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C99FF"/>
              </a:extrusionClr>
              <a:contourClr>
                <a:srgbClr val="21192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graphicFrame>
          <p:nvGraphicFramePr>
            <p:cNvPr id="96273" name="Object 8">
              <a:extLst>
                <a:ext uri="{FF2B5EF4-FFF2-40B4-BE49-F238E27FC236}">
                  <a16:creationId xmlns:a16="http://schemas.microsoft.com/office/drawing/2014/main" id="{4177DBEC-A1A0-B471-B402-0604188EB1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9" y="1752"/>
            <a:ext cx="17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63593" imgH="101735" progId="Equation.DSMT4">
                    <p:embed/>
                  </p:oleObj>
                </mc:Choice>
                <mc:Fallback>
                  <p:oleObj name="Equation" r:id="rId7" imgW="63593" imgH="101735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9" y="1752"/>
                          <a:ext cx="178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274" name="Object 9">
              <a:extLst>
                <a:ext uri="{FF2B5EF4-FFF2-40B4-BE49-F238E27FC236}">
                  <a16:creationId xmlns:a16="http://schemas.microsoft.com/office/drawing/2014/main" id="{4B7D09FF-6FE0-9BAD-3805-F0854C6A0F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31" y="891"/>
            <a:ext cx="19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82630" imgH="101735" progId="Equation.DSMT4">
                    <p:embed/>
                  </p:oleObj>
                </mc:Choice>
                <mc:Fallback>
                  <p:oleObj name="Equation" r:id="rId9" imgW="82630" imgH="101735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1" y="891"/>
                          <a:ext cx="193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39690" name="Text Box 10">
            <a:extLst>
              <a:ext uri="{FF2B5EF4-FFF2-40B4-BE49-F238E27FC236}">
                <a16:creationId xmlns:a16="http://schemas.microsoft.com/office/drawing/2014/main" id="{37CE71DA-6EBF-3E81-8910-C71D746BE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3" y="3365500"/>
            <a:ext cx="5113337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11"/>
              </a:buBlip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　</a:t>
            </a:r>
            <a:r>
              <a:rPr kumimoji="1" lang="zh-CN" altLang="en-US" b="1">
                <a:solidFill>
                  <a:schemeClr val="bg1"/>
                </a:solidFill>
                <a:ea typeface="宋体" panose="02010600030101010101" pitchFamily="2" charset="-122"/>
              </a:rPr>
              <a:t>惟一性定理的重要意义</a:t>
            </a:r>
            <a:endParaRPr kumimoji="1" lang="zh-CN" altLang="en-US" b="1">
              <a:solidFill>
                <a:schemeClr val="bg1"/>
              </a:solidFill>
              <a:latin typeface="楷体_GB2312" pitchFamily="49" charset="-122"/>
              <a:ea typeface="宋体" panose="02010600030101010101" pitchFamily="2" charset="-122"/>
            </a:endParaRPr>
          </a:p>
        </p:txBody>
      </p:sp>
      <p:sp>
        <p:nvSpPr>
          <p:cNvPr id="839691" name="Text Box 11">
            <a:extLst>
              <a:ext uri="{FF2B5EF4-FFF2-40B4-BE49-F238E27FC236}">
                <a16:creationId xmlns:a16="http://schemas.microsoft.com/office/drawing/2014/main" id="{532EF45D-FF64-00C2-9C00-89E87FB6F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3951288"/>
            <a:ext cx="7932737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12"/>
              </a:buBlip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　给出了静态场边值问题具有惟一解的条件。</a:t>
            </a:r>
          </a:p>
        </p:txBody>
      </p:sp>
      <p:sp>
        <p:nvSpPr>
          <p:cNvPr id="839692" name="Text Box 12">
            <a:extLst>
              <a:ext uri="{FF2B5EF4-FFF2-40B4-BE49-F238E27FC236}">
                <a16:creationId xmlns:a16="http://schemas.microsoft.com/office/drawing/2014/main" id="{49747AFF-AA82-6E35-A64A-DCB77FE54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13" y="4660900"/>
            <a:ext cx="8437562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12"/>
              </a:buBlip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　为静态场边值问题的各种求解方法提供了理论依据。</a:t>
            </a:r>
          </a:p>
        </p:txBody>
      </p:sp>
      <p:sp>
        <p:nvSpPr>
          <p:cNvPr id="839693" name="Text Box 13">
            <a:extLst>
              <a:ext uri="{FF2B5EF4-FFF2-40B4-BE49-F238E27FC236}">
                <a16:creationId xmlns:a16="http://schemas.microsoft.com/office/drawing/2014/main" id="{47A06512-AB96-55CC-E959-85A4DF0F0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13" y="5310188"/>
            <a:ext cx="8437562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12"/>
              </a:buBlip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　为求解结果的正确性提供了判据。</a:t>
            </a:r>
          </a:p>
        </p:txBody>
      </p:sp>
      <p:sp>
        <p:nvSpPr>
          <p:cNvPr id="839694" name="Text Box 14">
            <a:extLst>
              <a:ext uri="{FF2B5EF4-FFF2-40B4-BE49-F238E27FC236}">
                <a16:creationId xmlns:a16="http://schemas.microsoft.com/office/drawing/2014/main" id="{A1D7167E-747B-1172-510D-4139EFA8D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917575"/>
            <a:ext cx="5113338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11"/>
              </a:buBlip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　</a:t>
            </a:r>
            <a:r>
              <a:rPr kumimoji="1" lang="zh-CN" altLang="en-US" b="1">
                <a:solidFill>
                  <a:schemeClr val="bg1"/>
                </a:solidFill>
                <a:ea typeface="宋体" panose="02010600030101010101" pitchFamily="2" charset="-122"/>
              </a:rPr>
              <a:t>惟一性定理的表述</a:t>
            </a:r>
            <a:endParaRPr kumimoji="1" lang="zh-CN" altLang="en-US" b="1">
              <a:solidFill>
                <a:schemeClr val="bg1"/>
              </a:solidFill>
              <a:latin typeface="楷体_GB2312" pitchFamily="49" charset="-122"/>
              <a:ea typeface="宋体" panose="02010600030101010101" pitchFamily="2" charset="-122"/>
            </a:endParaRPr>
          </a:p>
        </p:txBody>
      </p:sp>
      <p:sp>
        <p:nvSpPr>
          <p:cNvPr id="96267" name="AutoShape 17">
            <a:hlinkClick r:id="rId13" action="ppaction://hlinksldjump" highlightClick="1"/>
            <a:extLst>
              <a:ext uri="{FF2B5EF4-FFF2-40B4-BE49-F238E27FC236}">
                <a16:creationId xmlns:a16="http://schemas.microsoft.com/office/drawing/2014/main" id="{F9BF0ADF-FCDD-BD53-569B-A08CD48CB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96268" name="AutoShape 1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162461D-DDA8-BECF-E91D-EEE9E0D5A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96269" name="AutoShape 1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B2F4946-46FF-0777-6621-60E209C78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96270" name="AutoShape 2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63F435F7-0AB8-5677-7589-3216B92B1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3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39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39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839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839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839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839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839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685" grpId="0"/>
      <p:bldP spid="839690" grpId="0"/>
      <p:bldP spid="839691" grpId="0"/>
      <p:bldP spid="839692" grpId="0"/>
      <p:bldP spid="839693" grpId="0"/>
      <p:bldP spid="839694" grpId="0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09090">
                <a:gamma/>
                <a:shade val="42353"/>
                <a:invGamma/>
              </a:srgbClr>
            </a:gs>
            <a:gs pos="100000">
              <a:srgbClr val="909090"/>
            </a:gs>
          </a:gsLst>
          <a:lin ang="189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09090">
                <a:gamma/>
                <a:shade val="42353"/>
                <a:invGamma/>
              </a:srgbClr>
            </a:gs>
            <a:gs pos="100000">
              <a:srgbClr val="909090"/>
            </a:gs>
          </a:gsLst>
          <a:lin ang="189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20045</TotalTime>
  <Words>276</Words>
  <Application>Microsoft Office PowerPoint</Application>
  <PresentationFormat>全屏显示(4:3)</PresentationFormat>
  <Paragraphs>53</Paragraphs>
  <Slides>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楷体_GB2312</vt:lpstr>
      <vt:lpstr>隶书</vt:lpstr>
      <vt:lpstr>宋体</vt:lpstr>
      <vt:lpstr>幼圆</vt:lpstr>
      <vt:lpstr>Arial</vt:lpstr>
      <vt:lpstr>Times New Roman</vt:lpstr>
      <vt:lpstr>1_默认设计模板</vt:lpstr>
      <vt:lpstr>Equation</vt:lpstr>
      <vt:lpstr>3.4    静态场的边值问题及解的惟一性定理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904</cp:revision>
  <dcterms:created xsi:type="dcterms:W3CDTF">2004-02-10T07:06:32Z</dcterms:created>
  <dcterms:modified xsi:type="dcterms:W3CDTF">2025-08-10T02:33:16Z</dcterms:modified>
</cp:coreProperties>
</file>