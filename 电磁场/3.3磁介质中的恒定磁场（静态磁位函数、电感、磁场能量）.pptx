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4"/>
  </p:notesMasterIdLst>
  <p:handoutMasterIdLst>
    <p:handoutMasterId r:id="rId15"/>
  </p:handoutMasterIdLst>
  <p:sldIdLst>
    <p:sldId id="704" r:id="rId2"/>
    <p:sldId id="705" r:id="rId3"/>
    <p:sldId id="706" r:id="rId4"/>
    <p:sldId id="708" r:id="rId5"/>
    <p:sldId id="836" r:id="rId6"/>
    <p:sldId id="707" r:id="rId7"/>
    <p:sldId id="835" r:id="rId8"/>
    <p:sldId id="713" r:id="rId9"/>
    <p:sldId id="733" r:id="rId10"/>
    <p:sldId id="840" r:id="rId11"/>
    <p:sldId id="839" r:id="rId12"/>
    <p:sldId id="838" r:id="rId13"/>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400"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400"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400"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400"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9900"/>
    <a:srgbClr val="FF7C80"/>
    <a:srgbClr val="066B94"/>
    <a:srgbClr val="E1E1E1"/>
    <a:srgbClr val="990000"/>
    <a:srgbClr val="D4D4D4"/>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3520" autoAdjust="0"/>
  </p:normalViewPr>
  <p:slideViewPr>
    <p:cSldViewPr>
      <p:cViewPr varScale="1">
        <p:scale>
          <a:sx n="67" d="100"/>
          <a:sy n="67" d="100"/>
        </p:scale>
        <p:origin x="123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5" d="100"/>
          <a:sy n="75" d="100"/>
        </p:scale>
        <p:origin x="-91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C88C3BA2-8461-FF19-7417-CA948A83D14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0BE852D8-7BFC-AD77-79FE-951431132A5A}"/>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panose="020B0604020202020204" pitchFamily="34" charset="0"/>
                <a:ea typeface="宋体" panose="02010600030101010101" pitchFamily="2" charset="-122"/>
              </a:defRPr>
            </a:lvl1pPr>
          </a:lstStyle>
          <a:p>
            <a:pPr>
              <a:defRPr/>
            </a:pPr>
            <a:fld id="{1B381E4B-9AD8-4B7A-9A91-D31B1C45EDFB}" type="datetime1">
              <a:rPr lang="zh-CN" altLang="en-US"/>
              <a:pPr>
                <a:defRPr/>
              </a:pPr>
              <a:t>2025/12/1</a:t>
            </a:fld>
            <a:endParaRPr lang="en-US" altLang="zh-CN"/>
          </a:p>
        </p:txBody>
      </p:sp>
      <p:sp>
        <p:nvSpPr>
          <p:cNvPr id="153604" name="Rectangle 4">
            <a:extLst>
              <a:ext uri="{FF2B5EF4-FFF2-40B4-BE49-F238E27FC236}">
                <a16:creationId xmlns:a16="http://schemas.microsoft.com/office/drawing/2014/main" id="{68125FCA-BAE6-1A5E-C74F-26FF510C13BB}"/>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7B3705C0-4BA8-BAAC-7D1F-1C820E48C8C5}"/>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9C26EA88-F30E-44B6-B895-21BCE20ECEF2}"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68478612-FFDA-F354-0839-23C69DD9CDE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C147BFE4-3FA0-18BE-BF41-BB978E2FDCC3}"/>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panose="020B0604020202020204" pitchFamily="34" charset="0"/>
                <a:ea typeface="宋体" panose="02010600030101010101" pitchFamily="2" charset="-122"/>
              </a:defRPr>
            </a:lvl1pPr>
          </a:lstStyle>
          <a:p>
            <a:pPr>
              <a:defRPr/>
            </a:pPr>
            <a:fld id="{21C58DE0-7C55-4FD7-9492-3AFB2C65A20F}" type="datetime1">
              <a:rPr lang="zh-CN" altLang="en-US"/>
              <a:pPr>
                <a:defRPr/>
              </a:pPr>
              <a:t>2025/12/1</a:t>
            </a:fld>
            <a:endParaRPr lang="en-US" altLang="zh-CN"/>
          </a:p>
        </p:txBody>
      </p:sp>
      <p:sp>
        <p:nvSpPr>
          <p:cNvPr id="2052" name="Rectangle 4">
            <a:extLst>
              <a:ext uri="{FF2B5EF4-FFF2-40B4-BE49-F238E27FC236}">
                <a16:creationId xmlns:a16="http://schemas.microsoft.com/office/drawing/2014/main" id="{CFCD0C65-6C6E-EE5F-2356-E4775D1C3CF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5653" name="Rectangle 5">
            <a:extLst>
              <a:ext uri="{FF2B5EF4-FFF2-40B4-BE49-F238E27FC236}">
                <a16:creationId xmlns:a16="http://schemas.microsoft.com/office/drawing/2014/main" id="{0B0454B4-3D77-1373-587C-39F6BEE1EAEC}"/>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F27ADE49-04DD-1F1D-7EBA-7C5724FA3520}"/>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7EAC284A-93B3-F49E-0368-5B9F6DF2DF93}"/>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26D91E24-0AF4-4B97-8054-C268217EB0F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AA4A48C-75BD-6ADD-F1C1-FB4C9790639B}"/>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68611" name="Rectangle 3">
            <a:extLst>
              <a:ext uri="{FF2B5EF4-FFF2-40B4-BE49-F238E27FC236}">
                <a16:creationId xmlns:a16="http://schemas.microsoft.com/office/drawing/2014/main" id="{70323A2D-1EF7-CE40-F867-DF53758EA06F}"/>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EB91F1D8-45E9-4607-8CC4-10061FDF6811}"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68612" name="Rectangle 6">
            <a:extLst>
              <a:ext uri="{FF2B5EF4-FFF2-40B4-BE49-F238E27FC236}">
                <a16:creationId xmlns:a16="http://schemas.microsoft.com/office/drawing/2014/main" id="{CDFFDB59-4D62-5A21-D530-D50123BED90F}"/>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68613" name="Rectangle 7">
            <a:extLst>
              <a:ext uri="{FF2B5EF4-FFF2-40B4-BE49-F238E27FC236}">
                <a16:creationId xmlns:a16="http://schemas.microsoft.com/office/drawing/2014/main" id="{AF22BFC4-ECAC-7928-492B-29BBF0B011D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ECC49270-84C0-4B5D-94B2-62FF90D347E4}" type="slidenum">
              <a:rPr lang="en-US" altLang="zh-CN" sz="1200">
                <a:ea typeface="宋体" panose="02010600030101010101" pitchFamily="2" charset="-122"/>
              </a:rPr>
              <a:pPr/>
              <a:t>1</a:t>
            </a:fld>
            <a:endParaRPr lang="en-US" altLang="zh-CN" sz="1200">
              <a:ea typeface="宋体" panose="02010600030101010101" pitchFamily="2" charset="-122"/>
            </a:endParaRPr>
          </a:p>
        </p:txBody>
      </p:sp>
      <p:sp>
        <p:nvSpPr>
          <p:cNvPr id="68614" name="Rectangle 2">
            <a:extLst>
              <a:ext uri="{FF2B5EF4-FFF2-40B4-BE49-F238E27FC236}">
                <a16:creationId xmlns:a16="http://schemas.microsoft.com/office/drawing/2014/main" id="{1D758574-C7C7-8789-AE15-66ABED5CCDA3}"/>
              </a:ext>
            </a:extLst>
          </p:cNvPr>
          <p:cNvSpPr>
            <a:spLocks noGrp="1" noRot="1" noChangeAspect="1" noChangeArrowheads="1" noTextEdit="1"/>
          </p:cNvSpPr>
          <p:nvPr>
            <p:ph type="sldImg"/>
          </p:nvPr>
        </p:nvSpPr>
        <p:spPr>
          <a:ln/>
        </p:spPr>
      </p:sp>
      <p:sp>
        <p:nvSpPr>
          <p:cNvPr id="68615" name="Rectangle 3">
            <a:extLst>
              <a:ext uri="{FF2B5EF4-FFF2-40B4-BE49-F238E27FC236}">
                <a16:creationId xmlns:a16="http://schemas.microsoft.com/office/drawing/2014/main" id="{F394862C-B662-AC25-F604-CC3F1CA2FA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21D6F24-C235-4948-03C8-DC871AE78994}"/>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0659" name="Rectangle 3">
            <a:extLst>
              <a:ext uri="{FF2B5EF4-FFF2-40B4-BE49-F238E27FC236}">
                <a16:creationId xmlns:a16="http://schemas.microsoft.com/office/drawing/2014/main" id="{52272728-3FC5-18A2-88A9-9DDE818D8A23}"/>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89E601-7770-4C41-A00C-A9F9CCD40B13}"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70660" name="Rectangle 6">
            <a:extLst>
              <a:ext uri="{FF2B5EF4-FFF2-40B4-BE49-F238E27FC236}">
                <a16:creationId xmlns:a16="http://schemas.microsoft.com/office/drawing/2014/main" id="{8635126C-C9E0-7C44-54B6-3C074AC6F072}"/>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0661" name="Rectangle 7">
            <a:extLst>
              <a:ext uri="{FF2B5EF4-FFF2-40B4-BE49-F238E27FC236}">
                <a16:creationId xmlns:a16="http://schemas.microsoft.com/office/drawing/2014/main" id="{153062B2-8C1D-ACAA-A248-D1415055E1D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DFA9099-6F79-4514-A0C0-F21DD94C0F1B}" type="slidenum">
              <a:rPr lang="en-US" altLang="zh-CN" sz="1200">
                <a:ea typeface="宋体" panose="02010600030101010101" pitchFamily="2" charset="-122"/>
              </a:rPr>
              <a:pPr/>
              <a:t>2</a:t>
            </a:fld>
            <a:endParaRPr lang="en-US" altLang="zh-CN" sz="1200">
              <a:ea typeface="宋体" panose="02010600030101010101" pitchFamily="2" charset="-122"/>
            </a:endParaRPr>
          </a:p>
        </p:txBody>
      </p:sp>
      <p:sp>
        <p:nvSpPr>
          <p:cNvPr id="70662" name="Rectangle 2">
            <a:extLst>
              <a:ext uri="{FF2B5EF4-FFF2-40B4-BE49-F238E27FC236}">
                <a16:creationId xmlns:a16="http://schemas.microsoft.com/office/drawing/2014/main" id="{3E14B32D-ADD9-E6A4-F606-7D5C0EAD90BB}"/>
              </a:ext>
            </a:extLst>
          </p:cNvPr>
          <p:cNvSpPr>
            <a:spLocks noGrp="1" noRot="1" noChangeAspect="1" noChangeArrowheads="1" noTextEdit="1"/>
          </p:cNvSpPr>
          <p:nvPr>
            <p:ph type="sldImg"/>
          </p:nvPr>
        </p:nvSpPr>
        <p:spPr>
          <a:ln/>
        </p:spPr>
      </p:sp>
      <p:sp>
        <p:nvSpPr>
          <p:cNvPr id="70663" name="Rectangle 3">
            <a:extLst>
              <a:ext uri="{FF2B5EF4-FFF2-40B4-BE49-F238E27FC236}">
                <a16:creationId xmlns:a16="http://schemas.microsoft.com/office/drawing/2014/main" id="{CD7B2637-E1AC-35C8-8725-F69F13EBDC0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030A518-D7B4-0207-4521-7E7DC8A3572A}"/>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2707" name="Rectangle 3">
            <a:extLst>
              <a:ext uri="{FF2B5EF4-FFF2-40B4-BE49-F238E27FC236}">
                <a16:creationId xmlns:a16="http://schemas.microsoft.com/office/drawing/2014/main" id="{9B38D374-4E92-6174-F482-41564DA2A413}"/>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8B42121-AA35-495B-92A3-392AB2DB539D}"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72708" name="Rectangle 6">
            <a:extLst>
              <a:ext uri="{FF2B5EF4-FFF2-40B4-BE49-F238E27FC236}">
                <a16:creationId xmlns:a16="http://schemas.microsoft.com/office/drawing/2014/main" id="{99EF5929-45D0-819F-EFAA-901B0BAAF733}"/>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2709" name="Rectangle 7">
            <a:extLst>
              <a:ext uri="{FF2B5EF4-FFF2-40B4-BE49-F238E27FC236}">
                <a16:creationId xmlns:a16="http://schemas.microsoft.com/office/drawing/2014/main" id="{C271064C-67A6-6972-BD71-680AA4DFBE8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F7D8609-BAB6-4F80-A9AA-FCBD9C5614CE}" type="slidenum">
              <a:rPr lang="en-US" altLang="zh-CN" sz="1200">
                <a:ea typeface="宋体" panose="02010600030101010101" pitchFamily="2" charset="-122"/>
              </a:rPr>
              <a:pPr/>
              <a:t>3</a:t>
            </a:fld>
            <a:endParaRPr lang="en-US" altLang="zh-CN" sz="1200">
              <a:ea typeface="宋体" panose="02010600030101010101" pitchFamily="2" charset="-122"/>
            </a:endParaRPr>
          </a:p>
        </p:txBody>
      </p:sp>
      <p:sp>
        <p:nvSpPr>
          <p:cNvPr id="72710" name="Rectangle 2">
            <a:extLst>
              <a:ext uri="{FF2B5EF4-FFF2-40B4-BE49-F238E27FC236}">
                <a16:creationId xmlns:a16="http://schemas.microsoft.com/office/drawing/2014/main" id="{561F0C04-93F5-7C20-B2DC-95459FE0D535}"/>
              </a:ext>
            </a:extLst>
          </p:cNvPr>
          <p:cNvSpPr>
            <a:spLocks noGrp="1" noRot="1" noChangeAspect="1" noChangeArrowheads="1" noTextEdit="1"/>
          </p:cNvSpPr>
          <p:nvPr>
            <p:ph type="sldImg"/>
          </p:nvPr>
        </p:nvSpPr>
        <p:spPr>
          <a:ln/>
        </p:spPr>
      </p:sp>
      <p:sp>
        <p:nvSpPr>
          <p:cNvPr id="72711" name="Rectangle 3">
            <a:extLst>
              <a:ext uri="{FF2B5EF4-FFF2-40B4-BE49-F238E27FC236}">
                <a16:creationId xmlns:a16="http://schemas.microsoft.com/office/drawing/2014/main" id="{4CDA8753-8D46-5484-37CF-B4F3361E6B5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80B0BD12-740D-2398-FA08-16B5149C3DAD}"/>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4755" name="Rectangle 3">
            <a:extLst>
              <a:ext uri="{FF2B5EF4-FFF2-40B4-BE49-F238E27FC236}">
                <a16:creationId xmlns:a16="http://schemas.microsoft.com/office/drawing/2014/main" id="{8853AB9A-C506-EAB4-ADA0-3273884EB1A8}"/>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D7B892E-1F3C-436D-9CAA-EC87D6D38550}"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74756" name="Rectangle 6">
            <a:extLst>
              <a:ext uri="{FF2B5EF4-FFF2-40B4-BE49-F238E27FC236}">
                <a16:creationId xmlns:a16="http://schemas.microsoft.com/office/drawing/2014/main" id="{5CF5ECEB-6224-1D5B-AAE5-DC6CE0CEBA61}"/>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4757" name="Rectangle 7">
            <a:extLst>
              <a:ext uri="{FF2B5EF4-FFF2-40B4-BE49-F238E27FC236}">
                <a16:creationId xmlns:a16="http://schemas.microsoft.com/office/drawing/2014/main" id="{5DD762D7-5B97-6D96-2F5A-2F682861892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CA0F4D1-859A-4624-A13F-88C950204971}" type="slidenum">
              <a:rPr lang="en-US" altLang="zh-CN" sz="1200">
                <a:ea typeface="宋体" panose="02010600030101010101" pitchFamily="2" charset="-122"/>
              </a:rPr>
              <a:pPr/>
              <a:t>4</a:t>
            </a:fld>
            <a:endParaRPr lang="en-US" altLang="zh-CN" sz="1200">
              <a:ea typeface="宋体" panose="02010600030101010101" pitchFamily="2" charset="-122"/>
            </a:endParaRPr>
          </a:p>
        </p:txBody>
      </p:sp>
      <p:sp>
        <p:nvSpPr>
          <p:cNvPr id="74758" name="Rectangle 2">
            <a:extLst>
              <a:ext uri="{FF2B5EF4-FFF2-40B4-BE49-F238E27FC236}">
                <a16:creationId xmlns:a16="http://schemas.microsoft.com/office/drawing/2014/main" id="{890C43BA-2FB8-CA2D-C261-8AF10D0F5F41}"/>
              </a:ext>
            </a:extLst>
          </p:cNvPr>
          <p:cNvSpPr>
            <a:spLocks noGrp="1" noRot="1" noChangeAspect="1" noChangeArrowheads="1" noTextEdit="1"/>
          </p:cNvSpPr>
          <p:nvPr>
            <p:ph type="sldImg"/>
          </p:nvPr>
        </p:nvSpPr>
        <p:spPr>
          <a:ln/>
        </p:spPr>
      </p:sp>
      <p:sp>
        <p:nvSpPr>
          <p:cNvPr id="74759" name="Rectangle 3">
            <a:extLst>
              <a:ext uri="{FF2B5EF4-FFF2-40B4-BE49-F238E27FC236}">
                <a16:creationId xmlns:a16="http://schemas.microsoft.com/office/drawing/2014/main" id="{708024E1-5397-A7A4-1E9E-12244D252E4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t>1.3</a:t>
            </a:r>
            <a:r>
              <a:rPr lang="zh-CN" altLang="en-US" dirty="0"/>
              <a:t>节</a:t>
            </a:r>
            <a:r>
              <a:rPr lang="en-US" altLang="zh-CN" dirty="0"/>
              <a:t>【</a:t>
            </a:r>
            <a:r>
              <a:rPr lang="zh-CN" altLang="en-US" dirty="0"/>
              <a:t>例</a:t>
            </a:r>
            <a:r>
              <a:rPr lang="en-US" altLang="zh-CN" dirty="0"/>
              <a:t>1.3.2</a:t>
            </a:r>
            <a:r>
              <a:rPr lang="zh-CN" altLang="en-US" dirty="0"/>
              <a:t>（</a:t>
            </a:r>
            <a:r>
              <a:rPr lang="en-US" altLang="zh-CN" dirty="0"/>
              <a:t>3</a:t>
            </a:r>
            <a:r>
              <a:rPr lang="zh-CN" altLang="en-US" dirty="0"/>
              <a:t>）</a:t>
            </a:r>
            <a:r>
              <a:rPr lang="en-US" altLang="zh-CN" dirty="0"/>
              <a:t>】</a:t>
            </a:r>
            <a:r>
              <a:rPr lang="zh-CN" altLang="en-US" dirty="0"/>
              <a:t>：对场自变量</a:t>
            </a:r>
            <a:r>
              <a:rPr lang="en-US" altLang="zh-CN" dirty="0"/>
              <a:t>r’</a:t>
            </a:r>
            <a:r>
              <a:rPr lang="zh-CN" altLang="en-US" dirty="0"/>
              <a:t>求梯度</a:t>
            </a:r>
            <a:r>
              <a:rPr lang="zh-CN" altLang="en-US" dirty="0">
                <a:latin typeface="宋体" panose="02010600030101010101" pitchFamily="2" charset="-122"/>
                <a:ea typeface="宋体" panose="02010600030101010101" pitchFamily="2" charset="-122"/>
              </a:rPr>
              <a:t>▽‘</a:t>
            </a:r>
            <a:r>
              <a:rPr lang="zh-CN" altLang="en-US" dirty="0"/>
              <a:t>和对源自变量</a:t>
            </a:r>
            <a:r>
              <a:rPr lang="en-US" altLang="zh-CN" dirty="0"/>
              <a:t>r</a:t>
            </a:r>
            <a:r>
              <a:rPr lang="zh-CN" altLang="en-US" dirty="0"/>
              <a:t>求梯度</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eaLnBrk="1" hangingPunct="1"/>
            <a:endParaRPr lang="en-US" altLang="zh-CN" dirty="0">
              <a:latin typeface="宋体" panose="02010600030101010101" pitchFamily="2" charset="-122"/>
              <a:ea typeface="宋体" panose="02010600030101010101" pitchFamily="2" charset="-122"/>
            </a:endParaRPr>
          </a:p>
          <a:p>
            <a:pPr algn="l" fontAlgn="base"/>
            <a:r>
              <a:rPr lang="en-US" altLang="zh-CN" b="1" i="0" dirty="0">
                <a:effectLst/>
                <a:latin typeface="-apple-system"/>
              </a:rPr>
              <a:t>1. </a:t>
            </a:r>
            <a:r>
              <a:rPr lang="zh-CN" altLang="en-US" b="1" i="0" dirty="0">
                <a:effectLst/>
                <a:latin typeface="-apple-system"/>
              </a:rPr>
              <a:t>证明∇</a:t>
            </a:r>
            <a:r>
              <a:rPr lang="en-US" altLang="zh-CN" b="1" i="0" dirty="0">
                <a:effectLst/>
                <a:latin typeface="-apple-system"/>
              </a:rPr>
              <a:t>·A=0</a:t>
            </a:r>
            <a:r>
              <a:rPr lang="zh-CN" altLang="en-US" b="1" i="0" dirty="0">
                <a:effectLst/>
                <a:latin typeface="-apple-system"/>
              </a:rPr>
              <a:t>，先写出 ∇</a:t>
            </a:r>
            <a:r>
              <a:rPr lang="en-US" altLang="zh-CN" b="1" i="0" dirty="0">
                <a:effectLst/>
                <a:latin typeface="-apple-system"/>
              </a:rPr>
              <a:t>·A </a:t>
            </a:r>
            <a:r>
              <a:rPr lang="zh-CN" altLang="en-US" b="1" i="0" dirty="0">
                <a:effectLst/>
                <a:latin typeface="-apple-system"/>
              </a:rPr>
              <a:t>的表达式</a:t>
            </a:r>
          </a:p>
          <a:p>
            <a:pPr algn="l" fontAlgn="base"/>
            <a:r>
              <a:rPr lang="zh-CN" altLang="en-US" b="0" i="0" dirty="0">
                <a:effectLst/>
                <a:latin typeface="-apple-system"/>
              </a:rPr>
              <a:t>把微分算符 ∇ 移到积分号内（</a:t>
            </a:r>
            <a:r>
              <a:rPr lang="zh-CN" altLang="en-US" b="0" i="0" u="sng" dirty="0">
                <a:effectLst/>
                <a:latin typeface="-apple-system"/>
              </a:rPr>
              <a:t>积分变量为 </a:t>
            </a:r>
            <a:r>
              <a:rPr lang="en-US" altLang="zh-CN" b="1" i="0" u="sng" dirty="0">
                <a:effectLst/>
                <a:latin typeface="inherit"/>
              </a:rPr>
              <a:t>r'</a:t>
            </a:r>
            <a:r>
              <a:rPr lang="zh-CN" altLang="en-US" b="0" i="0" u="sng" dirty="0">
                <a:effectLst/>
                <a:latin typeface="-apple-system"/>
              </a:rPr>
              <a:t>，∇ 只对 </a:t>
            </a:r>
            <a:r>
              <a:rPr lang="en-US" altLang="zh-CN" b="1" i="0" u="sng" dirty="0">
                <a:effectLst/>
                <a:latin typeface="inherit"/>
              </a:rPr>
              <a:t>r</a:t>
            </a:r>
            <a:r>
              <a:rPr lang="zh-CN" altLang="en-US" b="0" i="0" u="sng" dirty="0">
                <a:effectLst/>
                <a:latin typeface="-apple-system"/>
              </a:rPr>
              <a:t> 作用</a:t>
            </a:r>
            <a:r>
              <a:rPr lang="zh-CN" altLang="en-US" b="0" i="0" dirty="0">
                <a:effectLst/>
                <a:latin typeface="-apple-system"/>
              </a:rPr>
              <a:t>）：</a:t>
            </a:r>
            <a:r>
              <a:rPr lang="zh-CN" altLang="en-US" b="0" i="0" dirty="0">
                <a:effectLst/>
                <a:latin typeface="KaTeX_Main"/>
              </a:rPr>
              <a:t>∇⋅</a:t>
            </a:r>
            <a:r>
              <a:rPr lang="en-US" altLang="zh-CN" b="1" i="0" dirty="0">
                <a:effectLst/>
                <a:latin typeface="KaTeX_Main"/>
              </a:rPr>
              <a:t>A</a:t>
            </a:r>
            <a:r>
              <a:rPr lang="en-US" altLang="zh-CN" b="0" i="0" dirty="0">
                <a:effectLst/>
                <a:latin typeface="KaTeX_Main"/>
              </a:rPr>
              <a:t>(</a:t>
            </a:r>
            <a:r>
              <a:rPr lang="en-US" altLang="zh-CN" b="1" i="0" dirty="0">
                <a:effectLst/>
                <a:latin typeface="KaTeX_Main"/>
              </a:rPr>
              <a:t>r</a:t>
            </a:r>
            <a:r>
              <a:rPr lang="en-US" altLang="zh-CN" b="0" i="0" dirty="0">
                <a:effectLst/>
                <a:latin typeface="KaTeX_Main"/>
              </a:rPr>
              <a:t>)=(</a:t>
            </a:r>
            <a:r>
              <a:rPr lang="en-US" altLang="zh-CN" b="0" i="1" dirty="0">
                <a:effectLst/>
                <a:latin typeface="KaTeX_Math"/>
              </a:rPr>
              <a:t>μ/</a:t>
            </a:r>
            <a:r>
              <a:rPr lang="en-US" altLang="zh-CN" b="0" i="0" dirty="0">
                <a:effectLst/>
                <a:latin typeface="KaTeX_Main"/>
              </a:rPr>
              <a:t>4</a:t>
            </a:r>
            <a:r>
              <a:rPr lang="en-US" altLang="zh-CN" b="0" i="1" dirty="0">
                <a:effectLst/>
                <a:latin typeface="KaTeX_Math"/>
              </a:rPr>
              <a:t>π)</a:t>
            </a:r>
            <a:r>
              <a:rPr lang="en-US" altLang="zh-CN" b="0" i="0" dirty="0">
                <a:effectLst/>
                <a:latin typeface="inherit"/>
              </a:rPr>
              <a:t>​​</a:t>
            </a:r>
            <a:r>
              <a:rPr lang="zh-CN" altLang="en-US" b="0" i="0" dirty="0">
                <a:effectLst/>
                <a:latin typeface="KaTeX_Size2"/>
              </a:rPr>
              <a:t>∫</a:t>
            </a:r>
            <a:r>
              <a:rPr lang="zh-CN" altLang="en-US" b="0" i="0" dirty="0">
                <a:effectLst/>
                <a:latin typeface="inherit"/>
              </a:rPr>
              <a:t>​</a:t>
            </a:r>
            <a:r>
              <a:rPr lang="en-US" altLang="zh-CN" b="1" i="0" dirty="0">
                <a:effectLst/>
                <a:latin typeface="KaTeX_Main"/>
              </a:rPr>
              <a:t>J</a:t>
            </a:r>
            <a:r>
              <a:rPr lang="en-US" altLang="zh-CN" b="0" i="0" dirty="0">
                <a:effectLst/>
                <a:latin typeface="KaTeX_Main"/>
              </a:rPr>
              <a:t>(</a:t>
            </a:r>
            <a:r>
              <a:rPr lang="en-US" altLang="zh-CN" b="1" i="0" dirty="0">
                <a:effectLst/>
                <a:latin typeface="KaTeX_Main"/>
              </a:rPr>
              <a:t>r</a:t>
            </a:r>
            <a:r>
              <a:rPr lang="en-US" altLang="zh-CN" b="0" i="0" dirty="0">
                <a:effectLst/>
                <a:latin typeface="inherit"/>
              </a:rPr>
              <a:t>′</a:t>
            </a:r>
            <a:r>
              <a:rPr lang="en-US" altLang="zh-CN" b="0" i="0" dirty="0">
                <a:effectLst/>
                <a:latin typeface="KaTeX_Main"/>
              </a:rPr>
              <a:t>)⋅∇</a:t>
            </a:r>
            <a:r>
              <a:rPr lang="en-US" altLang="zh-CN" b="0" i="0" dirty="0">
                <a:effectLst/>
                <a:latin typeface="KaTeX_Size3"/>
              </a:rPr>
              <a:t>(1/</a:t>
            </a:r>
            <a:r>
              <a:rPr lang="zh-CN" altLang="en-US"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zh-CN" altLang="en-US" b="0" i="0" dirty="0">
                <a:effectLst/>
                <a:latin typeface="inherit"/>
              </a:rPr>
              <a:t>​</a:t>
            </a:r>
            <a:r>
              <a:rPr lang="en-US" altLang="zh-CN" b="0" i="0" dirty="0">
                <a:effectLst/>
                <a:latin typeface="KaTeX_Size3"/>
              </a:rPr>
              <a:t>)</a:t>
            </a:r>
            <a:r>
              <a:rPr lang="en-US" altLang="zh-CN" b="0" i="1" dirty="0" err="1">
                <a:effectLst/>
                <a:latin typeface="KaTeX_Math"/>
              </a:rPr>
              <a:t>dV</a:t>
            </a:r>
            <a:r>
              <a:rPr lang="zh-CN" altLang="en-US" b="0" i="1" dirty="0">
                <a:effectLst/>
                <a:latin typeface="KaTeX_Math"/>
              </a:rPr>
              <a:t>‘</a:t>
            </a:r>
            <a:endParaRPr lang="en-US" altLang="zh-CN" b="0" i="0" dirty="0">
              <a:effectLst/>
              <a:latin typeface="inherit"/>
            </a:endParaRPr>
          </a:p>
          <a:p>
            <a:pPr algn="l" fontAlgn="base"/>
            <a:r>
              <a:rPr lang="en-US" altLang="zh-CN" b="1" i="0" dirty="0">
                <a:effectLst/>
                <a:latin typeface="-apple-system"/>
              </a:rPr>
              <a:t>2. </a:t>
            </a:r>
            <a:r>
              <a:rPr lang="zh-CN" altLang="en-US" b="1" i="0" dirty="0">
                <a:effectLst/>
                <a:latin typeface="-apple-system"/>
              </a:rPr>
              <a:t>利用恒等式</a:t>
            </a:r>
          </a:p>
          <a:p>
            <a:pPr algn="l" fontAlgn="base"/>
            <a:r>
              <a:rPr lang="zh-CN" altLang="en-US" b="0" i="0" dirty="0">
                <a:effectLst/>
                <a:latin typeface="-apple-system"/>
              </a:rPr>
              <a:t>对任意标量函数 </a:t>
            </a:r>
            <a:r>
              <a:rPr lang="en-US" altLang="zh-CN" b="0" i="1" dirty="0">
                <a:effectLst/>
                <a:latin typeface="KaTeX_Math"/>
              </a:rPr>
              <a:t>f</a:t>
            </a:r>
            <a:r>
              <a:rPr lang="en-US" altLang="zh-CN"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en-US" altLang="zh-CN" b="0" i="0" dirty="0">
                <a:effectLst/>
                <a:latin typeface="KaTeX_Main"/>
              </a:rPr>
              <a:t>)</a:t>
            </a:r>
            <a:r>
              <a:rPr lang="zh-CN" altLang="en-US" b="0" i="0" dirty="0">
                <a:effectLst/>
                <a:latin typeface="-apple-system"/>
              </a:rPr>
              <a:t> 有</a:t>
            </a:r>
            <a:r>
              <a:rPr lang="zh-CN" altLang="en-US" b="0" i="0" dirty="0">
                <a:effectLst/>
                <a:latin typeface="KaTeX_Main"/>
              </a:rPr>
              <a:t>∇</a:t>
            </a:r>
            <a:r>
              <a:rPr lang="en-US" altLang="zh-CN" b="0" i="0" dirty="0">
                <a:effectLst/>
                <a:latin typeface="KaTeX_Size3"/>
              </a:rPr>
              <a:t>(1/</a:t>
            </a:r>
            <a:r>
              <a:rPr lang="zh-CN" altLang="en-US"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zh-CN" altLang="en-US" b="0" i="0" dirty="0">
                <a:effectLst/>
                <a:latin typeface="inherit"/>
              </a:rPr>
              <a:t>​</a:t>
            </a:r>
            <a:r>
              <a:rPr lang="en-US" altLang="zh-CN" b="0" i="0" dirty="0">
                <a:effectLst/>
                <a:latin typeface="KaTeX_Size3"/>
              </a:rPr>
              <a:t>)</a:t>
            </a:r>
            <a:r>
              <a:rPr lang="en-US" altLang="zh-CN" b="0" i="0" dirty="0">
                <a:effectLst/>
                <a:latin typeface="KaTeX_Main"/>
              </a:rPr>
              <a:t>=−∇</a:t>
            </a:r>
            <a:r>
              <a:rPr lang="en-US" altLang="zh-CN" b="0" i="0" dirty="0">
                <a:effectLst/>
                <a:latin typeface="inherit"/>
              </a:rPr>
              <a:t>′</a:t>
            </a:r>
            <a:r>
              <a:rPr lang="en-US" altLang="zh-CN" b="0" i="0" dirty="0">
                <a:effectLst/>
                <a:latin typeface="KaTeX_Size3"/>
              </a:rPr>
              <a:t>(1/</a:t>
            </a:r>
            <a:r>
              <a:rPr lang="zh-CN" altLang="en-US"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zh-CN" altLang="en-US" b="0" i="0" dirty="0">
                <a:effectLst/>
                <a:latin typeface="inherit"/>
              </a:rPr>
              <a:t>​</a:t>
            </a:r>
            <a:r>
              <a:rPr lang="en-US" altLang="zh-CN" b="0" i="0" dirty="0">
                <a:effectLst/>
                <a:latin typeface="KaTeX_Size3"/>
              </a:rPr>
              <a:t>)</a:t>
            </a:r>
            <a:r>
              <a:rPr lang="en-US" altLang="zh-CN" b="0" i="0" dirty="0">
                <a:effectLst/>
                <a:latin typeface="KaTeX_Main"/>
              </a:rPr>
              <a:t>,</a:t>
            </a:r>
            <a:r>
              <a:rPr lang="zh-CN" altLang="en-US" b="0" i="0" dirty="0">
                <a:effectLst/>
                <a:latin typeface="-apple-system"/>
              </a:rPr>
              <a:t>其中 ∇</a:t>
            </a:r>
            <a:r>
              <a:rPr lang="en-US" altLang="zh-CN" b="0" i="0" dirty="0">
                <a:effectLst/>
                <a:latin typeface="-apple-system"/>
              </a:rPr>
              <a:t>‘ </a:t>
            </a:r>
            <a:r>
              <a:rPr lang="zh-CN" altLang="en-US" b="0" i="0" dirty="0">
                <a:effectLst/>
                <a:latin typeface="-apple-system"/>
              </a:rPr>
              <a:t>表示对源坐标 </a:t>
            </a:r>
            <a:r>
              <a:rPr lang="en-US" altLang="zh-CN" b="1" i="0" dirty="0">
                <a:effectLst/>
                <a:latin typeface="inherit"/>
              </a:rPr>
              <a:t>r’</a:t>
            </a:r>
            <a:r>
              <a:rPr lang="zh-CN" altLang="en-US" b="0" i="0" dirty="0">
                <a:effectLst/>
                <a:latin typeface="-apple-system"/>
              </a:rPr>
              <a:t> 的微分。于是</a:t>
            </a:r>
            <a:r>
              <a:rPr lang="zh-CN" altLang="en-US" b="0" i="0" dirty="0">
                <a:effectLst/>
                <a:latin typeface="KaTeX_Main"/>
              </a:rPr>
              <a:t>∇⋅</a:t>
            </a:r>
            <a:r>
              <a:rPr lang="en-US" altLang="zh-CN" b="1" i="0" dirty="0">
                <a:effectLst/>
                <a:latin typeface="KaTeX_Main"/>
              </a:rPr>
              <a:t>A</a:t>
            </a:r>
            <a:r>
              <a:rPr lang="en-US" altLang="zh-CN" b="0" i="0" dirty="0">
                <a:effectLst/>
                <a:latin typeface="KaTeX_Main"/>
              </a:rPr>
              <a:t>(</a:t>
            </a:r>
            <a:r>
              <a:rPr lang="en-US" altLang="zh-CN" b="1" i="0" dirty="0">
                <a:effectLst/>
                <a:latin typeface="KaTeX_Main"/>
              </a:rPr>
              <a:t>r</a:t>
            </a:r>
            <a:r>
              <a:rPr lang="en-US" altLang="zh-CN" b="0" i="0" dirty="0">
                <a:effectLst/>
                <a:latin typeface="KaTeX_Main"/>
              </a:rPr>
              <a:t>)=−(</a:t>
            </a:r>
            <a:r>
              <a:rPr lang="en-US" altLang="zh-CN" b="0" i="1" dirty="0">
                <a:effectLst/>
                <a:latin typeface="KaTeX_Math"/>
              </a:rPr>
              <a:t>μ/</a:t>
            </a:r>
            <a:r>
              <a:rPr lang="en-US" altLang="zh-CN" b="0" i="0" dirty="0">
                <a:effectLst/>
                <a:latin typeface="KaTeX_Main"/>
              </a:rPr>
              <a:t>4</a:t>
            </a:r>
            <a:r>
              <a:rPr lang="en-US" altLang="zh-CN" b="0" i="1" dirty="0">
                <a:effectLst/>
                <a:latin typeface="KaTeX_Math"/>
              </a:rPr>
              <a:t>π)</a:t>
            </a:r>
            <a:r>
              <a:rPr lang="en-US" altLang="zh-CN" b="0" i="0" dirty="0">
                <a:effectLst/>
                <a:latin typeface="inherit"/>
              </a:rPr>
              <a:t>​​</a:t>
            </a:r>
            <a:r>
              <a:rPr lang="zh-CN" altLang="en-US" b="0" i="0" dirty="0">
                <a:effectLst/>
                <a:latin typeface="KaTeX_Size2"/>
              </a:rPr>
              <a:t>∫</a:t>
            </a:r>
            <a:r>
              <a:rPr lang="en-US" altLang="zh-CN" b="1" i="0" dirty="0">
                <a:effectLst/>
                <a:latin typeface="KaTeX_Main"/>
              </a:rPr>
              <a:t>J</a:t>
            </a:r>
            <a:r>
              <a:rPr lang="en-US" altLang="zh-CN" b="0" i="0" dirty="0">
                <a:effectLst/>
                <a:latin typeface="KaTeX_Main"/>
              </a:rPr>
              <a:t>(</a:t>
            </a:r>
            <a:r>
              <a:rPr lang="en-US" altLang="zh-CN" b="1" i="0" dirty="0">
                <a:effectLst/>
                <a:latin typeface="KaTeX_Main"/>
              </a:rPr>
              <a:t>r</a:t>
            </a:r>
            <a:r>
              <a:rPr lang="en-US" altLang="zh-CN" b="0" i="0" dirty="0">
                <a:effectLst/>
                <a:latin typeface="inherit"/>
              </a:rPr>
              <a:t>′</a:t>
            </a:r>
            <a:r>
              <a:rPr lang="en-US" altLang="zh-CN" b="0" i="0" dirty="0">
                <a:effectLst/>
                <a:latin typeface="KaTeX_Main"/>
              </a:rPr>
              <a:t>)⋅∇</a:t>
            </a:r>
            <a:r>
              <a:rPr lang="en-US" altLang="zh-CN" b="0" i="0" dirty="0">
                <a:effectLst/>
                <a:latin typeface="inherit"/>
              </a:rPr>
              <a:t>′</a:t>
            </a:r>
            <a:r>
              <a:rPr lang="en-US" altLang="zh-CN" b="0" i="0" dirty="0">
                <a:effectLst/>
                <a:latin typeface="KaTeX_Size3"/>
              </a:rPr>
              <a:t>(</a:t>
            </a:r>
            <a:r>
              <a:rPr lang="en-US" altLang="zh-CN" b="0" i="0" dirty="0">
                <a:effectLst/>
                <a:latin typeface="KaTeX_Main"/>
              </a:rPr>
              <a:t>1/</a:t>
            </a:r>
            <a:r>
              <a:rPr lang="zh-CN" altLang="en-US"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zh-CN" altLang="en-US" b="0" i="0" dirty="0">
                <a:effectLst/>
                <a:latin typeface="inherit"/>
              </a:rPr>
              <a:t>​</a:t>
            </a:r>
            <a:r>
              <a:rPr lang="en-US" altLang="zh-CN" b="0" i="0" dirty="0">
                <a:effectLst/>
                <a:latin typeface="KaTeX_Size3"/>
              </a:rPr>
              <a:t>)</a:t>
            </a:r>
            <a:r>
              <a:rPr lang="en-US" altLang="zh-CN" b="0" i="1" dirty="0" err="1">
                <a:effectLst/>
                <a:latin typeface="KaTeX_Math"/>
              </a:rPr>
              <a:t>dV</a:t>
            </a:r>
            <a:r>
              <a:rPr lang="en-US" altLang="zh-CN" b="0" i="0" dirty="0">
                <a:effectLst/>
                <a:latin typeface="inherit"/>
              </a:rPr>
              <a:t>′</a:t>
            </a:r>
            <a:r>
              <a:rPr lang="zh-CN" altLang="en-US" b="0" i="0" dirty="0">
                <a:effectLst/>
                <a:latin typeface="inherit"/>
              </a:rPr>
              <a:t>‘</a:t>
            </a:r>
            <a:endParaRPr lang="en-US" altLang="zh-CN" b="0" i="0" dirty="0">
              <a:effectLst/>
              <a:latin typeface="KaTeX_Main"/>
            </a:endParaRPr>
          </a:p>
          <a:p>
            <a:pPr algn="l" fontAlgn="base"/>
            <a:r>
              <a:rPr lang="en-US" altLang="zh-CN" b="1" i="0" dirty="0">
                <a:effectLst/>
                <a:latin typeface="-apple-system"/>
              </a:rPr>
              <a:t>3. </a:t>
            </a:r>
            <a:r>
              <a:rPr lang="zh-CN" altLang="en-US" b="1" i="0" dirty="0">
                <a:effectLst/>
                <a:latin typeface="-apple-system"/>
              </a:rPr>
              <a:t>分部积分（散度定理）</a:t>
            </a:r>
          </a:p>
          <a:p>
            <a:pPr algn="l" fontAlgn="base"/>
            <a:r>
              <a:rPr lang="zh-CN" altLang="en-US" b="0" i="0" dirty="0">
                <a:effectLst/>
                <a:latin typeface="-apple-system"/>
              </a:rPr>
              <a:t>把 ∇</a:t>
            </a:r>
            <a:r>
              <a:rPr lang="en-US" altLang="zh-CN" b="0" i="0" dirty="0">
                <a:effectLst/>
                <a:latin typeface="-apple-system"/>
              </a:rPr>
              <a:t>' </a:t>
            </a:r>
            <a:r>
              <a:rPr lang="zh-CN" altLang="en-US" b="0" i="0" dirty="0">
                <a:effectLst/>
                <a:latin typeface="-apple-system"/>
              </a:rPr>
              <a:t>作用拆出来：</a:t>
            </a:r>
            <a:r>
              <a:rPr lang="en-US" altLang="zh-CN" b="1" i="0" dirty="0">
                <a:effectLst/>
                <a:latin typeface="KaTeX_Main"/>
              </a:rPr>
              <a:t>J</a:t>
            </a:r>
            <a:r>
              <a:rPr lang="zh-CN" altLang="en-US" b="0" i="0" dirty="0">
                <a:effectLst/>
                <a:latin typeface="KaTeX_Main"/>
              </a:rPr>
              <a:t>⋅∇</a:t>
            </a:r>
            <a:r>
              <a:rPr lang="en-US" altLang="zh-CN" b="0" i="0" dirty="0">
                <a:effectLst/>
                <a:latin typeface="inherit"/>
              </a:rPr>
              <a:t>′</a:t>
            </a:r>
            <a:r>
              <a:rPr lang="en-US" altLang="zh-CN" b="0" i="0" dirty="0">
                <a:effectLst/>
                <a:latin typeface="KaTeX_Size3"/>
              </a:rPr>
              <a:t>(1/</a:t>
            </a:r>
            <a:r>
              <a:rPr lang="en-US" altLang="zh-CN" b="0" i="1" dirty="0">
                <a:effectLst/>
                <a:latin typeface="KaTeX_Math"/>
              </a:rPr>
              <a:t>R</a:t>
            </a:r>
            <a:r>
              <a:rPr lang="zh-CN" altLang="en-US" b="0" i="0" dirty="0">
                <a:effectLst/>
                <a:latin typeface="inherit"/>
              </a:rPr>
              <a:t>​</a:t>
            </a:r>
            <a:r>
              <a:rPr lang="en-US" altLang="zh-CN" b="0" i="0" dirty="0">
                <a:effectLst/>
                <a:latin typeface="KaTeX_Size3"/>
              </a:rPr>
              <a:t>)</a:t>
            </a:r>
            <a:r>
              <a:rPr lang="en-US" altLang="zh-CN" b="0" i="0" dirty="0">
                <a:effectLst/>
                <a:latin typeface="KaTeX_Main"/>
              </a:rPr>
              <a:t>=∇</a:t>
            </a:r>
            <a:r>
              <a:rPr lang="en-US" altLang="zh-CN" b="0" i="0" dirty="0">
                <a:effectLst/>
                <a:latin typeface="inherit"/>
              </a:rPr>
              <a:t>′</a:t>
            </a:r>
            <a:r>
              <a:rPr lang="zh-CN" altLang="en-US" b="0" i="0" dirty="0">
                <a:effectLst/>
                <a:latin typeface="KaTeX_Main"/>
              </a:rPr>
              <a:t>⋅</a:t>
            </a:r>
            <a:r>
              <a:rPr lang="en-US" altLang="zh-CN" b="0" i="0" dirty="0">
                <a:effectLst/>
                <a:latin typeface="KaTeX_Size3"/>
              </a:rPr>
              <a:t>(</a:t>
            </a:r>
            <a:r>
              <a:rPr lang="en-US" altLang="zh-CN" b="1" i="0" dirty="0">
                <a:effectLst/>
                <a:latin typeface="KaTeX_Main"/>
              </a:rPr>
              <a:t>J/</a:t>
            </a:r>
            <a:r>
              <a:rPr lang="en-US" altLang="zh-CN" b="0" i="1" dirty="0">
                <a:effectLst/>
                <a:latin typeface="KaTeX_Math"/>
              </a:rPr>
              <a:t>R</a:t>
            </a:r>
            <a:r>
              <a:rPr lang="zh-CN" altLang="en-US" b="0" i="0" dirty="0">
                <a:effectLst/>
                <a:latin typeface="inherit"/>
              </a:rPr>
              <a:t>​</a:t>
            </a:r>
            <a:r>
              <a:rPr lang="en-US" altLang="zh-CN" b="0" i="0" dirty="0">
                <a:effectLst/>
                <a:latin typeface="KaTeX_Size3"/>
              </a:rPr>
              <a:t>)</a:t>
            </a:r>
            <a:r>
              <a:rPr lang="zh-CN" altLang="en-US" b="0" i="0" dirty="0">
                <a:effectLst/>
                <a:latin typeface="KaTeX_Main"/>
              </a:rPr>
              <a:t>−</a:t>
            </a:r>
            <a:r>
              <a:rPr lang="en-US" altLang="zh-CN" b="0" i="0" dirty="0">
                <a:effectLst/>
                <a:latin typeface="KaTeX_Main"/>
              </a:rPr>
              <a:t>(1/</a:t>
            </a:r>
            <a:r>
              <a:rPr lang="en-US" altLang="zh-CN" b="0" i="1" dirty="0">
                <a:effectLst/>
                <a:latin typeface="KaTeX_Math"/>
              </a:rPr>
              <a:t>R</a:t>
            </a:r>
            <a:r>
              <a:rPr lang="zh-CN" altLang="en-US" b="0" i="0" dirty="0">
                <a:effectLst/>
                <a:latin typeface="inherit"/>
              </a:rPr>
              <a:t>​</a:t>
            </a:r>
            <a:r>
              <a:rPr lang="en-US" altLang="zh-CN" b="0" i="0" dirty="0">
                <a:effectLst/>
                <a:latin typeface="inherit"/>
              </a:rPr>
              <a:t>)</a:t>
            </a:r>
            <a:r>
              <a:rPr lang="zh-CN" altLang="en-US" b="0" i="0" dirty="0">
                <a:effectLst/>
                <a:latin typeface="KaTeX_Main"/>
              </a:rPr>
              <a:t>∇</a:t>
            </a:r>
            <a:r>
              <a:rPr lang="en-US" altLang="zh-CN" b="0" i="0" dirty="0">
                <a:effectLst/>
                <a:latin typeface="inherit"/>
              </a:rPr>
              <a:t>′</a:t>
            </a:r>
            <a:r>
              <a:rPr lang="zh-CN" altLang="en-US" b="0" i="0" dirty="0">
                <a:effectLst/>
                <a:latin typeface="KaTeX_Main"/>
              </a:rPr>
              <a:t>⋅</a:t>
            </a:r>
            <a:r>
              <a:rPr lang="en-US" altLang="zh-CN" b="1" i="0" dirty="0">
                <a:effectLst/>
                <a:latin typeface="KaTeX_Main"/>
              </a:rPr>
              <a:t>J</a:t>
            </a:r>
            <a:r>
              <a:rPr lang="en-US" altLang="zh-CN" b="0" i="0" dirty="0">
                <a:effectLst/>
                <a:latin typeface="KaTeX_Main"/>
              </a:rPr>
              <a:t>,</a:t>
            </a:r>
            <a:r>
              <a:rPr lang="zh-CN" altLang="en-US" b="0" i="0" dirty="0">
                <a:effectLst/>
                <a:latin typeface="-apple-system"/>
              </a:rPr>
              <a:t>其中 </a:t>
            </a:r>
            <a:r>
              <a:rPr lang="en-US" altLang="zh-CN" b="0" i="1" dirty="0">
                <a:effectLst/>
                <a:latin typeface="KaTeX_Math"/>
              </a:rPr>
              <a:t>R</a:t>
            </a:r>
            <a:r>
              <a:rPr lang="en-US" altLang="zh-CN" b="0" i="0" dirty="0">
                <a:effectLst/>
                <a:latin typeface="KaTeX_Main"/>
              </a:rPr>
              <a:t>=∣</a:t>
            </a:r>
            <a:r>
              <a:rPr lang="en-US" altLang="zh-CN" b="1" i="0" dirty="0">
                <a:effectLst/>
                <a:latin typeface="KaTeX_Main"/>
              </a:rPr>
              <a:t>r</a:t>
            </a:r>
            <a:r>
              <a:rPr lang="zh-CN" altLang="en-US" b="0" i="0" dirty="0">
                <a:effectLst/>
                <a:latin typeface="KaTeX_Main"/>
              </a:rPr>
              <a:t>−</a:t>
            </a:r>
            <a:r>
              <a:rPr lang="en-US" altLang="zh-CN" b="1" i="0" dirty="0">
                <a:effectLst/>
                <a:latin typeface="KaTeX_Main"/>
              </a:rPr>
              <a:t>r</a:t>
            </a:r>
            <a:r>
              <a:rPr lang="en-US" altLang="zh-CN" b="0" i="0" dirty="0">
                <a:effectLst/>
                <a:latin typeface="inherit"/>
              </a:rPr>
              <a:t>′</a:t>
            </a:r>
            <a:r>
              <a:rPr lang="zh-CN" altLang="en-US" b="0" i="0" dirty="0">
                <a:effectLst/>
                <a:latin typeface="KaTeX_Main"/>
              </a:rPr>
              <a:t>∣</a:t>
            </a:r>
            <a:r>
              <a:rPr lang="zh-CN" altLang="en-US" b="0" i="0" dirty="0">
                <a:effectLst/>
                <a:latin typeface="-apple-system"/>
              </a:rPr>
              <a:t>。代入积分：</a:t>
            </a:r>
            <a:r>
              <a:rPr lang="zh-CN" altLang="en-US" b="0" i="0" dirty="0">
                <a:effectLst/>
                <a:latin typeface="KaTeX_Main"/>
              </a:rPr>
              <a:t>∇⋅</a:t>
            </a:r>
            <a:r>
              <a:rPr lang="en-US" altLang="zh-CN" b="1" i="0" dirty="0">
                <a:effectLst/>
                <a:latin typeface="KaTeX_Main"/>
              </a:rPr>
              <a:t>A</a:t>
            </a:r>
            <a:r>
              <a:rPr lang="en-US" altLang="zh-CN" b="0" i="0" dirty="0">
                <a:effectLst/>
                <a:latin typeface="KaTeX_Main"/>
              </a:rPr>
              <a:t>=−(</a:t>
            </a:r>
            <a:r>
              <a:rPr lang="en-US" altLang="zh-CN" b="0" i="1" dirty="0">
                <a:effectLst/>
                <a:latin typeface="KaTeX_Math"/>
              </a:rPr>
              <a:t>μ/</a:t>
            </a:r>
            <a:r>
              <a:rPr lang="en-US" altLang="zh-CN" b="0" i="0" dirty="0">
                <a:effectLst/>
                <a:latin typeface="KaTeX_Main"/>
              </a:rPr>
              <a:t>4</a:t>
            </a:r>
            <a:r>
              <a:rPr lang="en-US" altLang="zh-CN" b="0" i="1" dirty="0">
                <a:effectLst/>
                <a:latin typeface="KaTeX_Math"/>
              </a:rPr>
              <a:t>π)</a:t>
            </a:r>
            <a:r>
              <a:rPr lang="en-US" altLang="zh-CN" b="0" i="0" dirty="0">
                <a:effectLst/>
                <a:latin typeface="inherit"/>
              </a:rPr>
              <a:t>​​</a:t>
            </a:r>
            <a:r>
              <a:rPr lang="en-US" altLang="zh-CN" b="0" i="0" dirty="0">
                <a:effectLst/>
                <a:latin typeface="KaTeX_Size3"/>
              </a:rPr>
              <a:t>[</a:t>
            </a:r>
            <a:r>
              <a:rPr lang="zh-CN" altLang="en-US" b="0" i="0" dirty="0">
                <a:effectLst/>
                <a:latin typeface="KaTeX_Size2"/>
              </a:rPr>
              <a:t>∫</a:t>
            </a:r>
            <a:r>
              <a:rPr lang="zh-CN" altLang="en-US" b="0" i="0" dirty="0">
                <a:effectLst/>
                <a:latin typeface="KaTeX_Main"/>
              </a:rPr>
              <a:t>∇</a:t>
            </a:r>
            <a:r>
              <a:rPr lang="en-US" altLang="zh-CN" b="0" i="0" dirty="0">
                <a:effectLst/>
                <a:latin typeface="inherit"/>
              </a:rPr>
              <a:t>′</a:t>
            </a:r>
            <a:r>
              <a:rPr lang="zh-CN" altLang="en-US" b="0" i="0" dirty="0">
                <a:effectLst/>
                <a:latin typeface="KaTeX_Main"/>
              </a:rPr>
              <a:t>⋅</a:t>
            </a:r>
            <a:r>
              <a:rPr lang="en-US" altLang="zh-CN" b="0" i="0" dirty="0">
                <a:effectLst/>
                <a:latin typeface="KaTeX_Size3"/>
              </a:rPr>
              <a:t>(</a:t>
            </a:r>
            <a:r>
              <a:rPr lang="en-US" altLang="zh-CN" b="1" i="0" dirty="0">
                <a:effectLst/>
                <a:latin typeface="KaTeX_Main"/>
              </a:rPr>
              <a:t>J/</a:t>
            </a:r>
            <a:r>
              <a:rPr lang="en-US" altLang="zh-CN" b="0" i="1" dirty="0">
                <a:effectLst/>
                <a:latin typeface="KaTeX_Math"/>
              </a:rPr>
              <a:t>R</a:t>
            </a:r>
            <a:r>
              <a:rPr lang="zh-CN" altLang="en-US" b="0" i="0" dirty="0">
                <a:effectLst/>
                <a:latin typeface="inherit"/>
              </a:rPr>
              <a:t>​</a:t>
            </a:r>
            <a:r>
              <a:rPr lang="en-US" altLang="zh-CN" b="0" i="0" dirty="0">
                <a:effectLst/>
                <a:latin typeface="KaTeX_Size3"/>
              </a:rPr>
              <a:t>)</a:t>
            </a:r>
            <a:r>
              <a:rPr lang="en-US" altLang="zh-CN" b="0" i="1" dirty="0" err="1">
                <a:effectLst/>
                <a:latin typeface="KaTeX_Math"/>
              </a:rPr>
              <a:t>dV</a:t>
            </a:r>
            <a:r>
              <a:rPr lang="en-US" altLang="zh-CN" b="0" i="0" dirty="0">
                <a:effectLst/>
                <a:latin typeface="inherit"/>
              </a:rPr>
              <a:t>′’</a:t>
            </a:r>
            <a:r>
              <a:rPr lang="zh-CN" altLang="en-US" b="0" i="0" dirty="0">
                <a:effectLst/>
                <a:latin typeface="KaTeX_Main"/>
              </a:rPr>
              <a:t>−</a:t>
            </a:r>
            <a:r>
              <a:rPr lang="zh-CN" altLang="en-US" b="0" i="0" dirty="0">
                <a:effectLst/>
                <a:latin typeface="KaTeX_Size2"/>
              </a:rPr>
              <a:t>∫</a:t>
            </a:r>
            <a:r>
              <a:rPr lang="zh-CN" altLang="en-US" b="0" i="0" dirty="0">
                <a:effectLst/>
                <a:latin typeface="inherit"/>
              </a:rPr>
              <a:t>​</a:t>
            </a:r>
            <a:r>
              <a:rPr lang="en-US" altLang="zh-CN" b="0" i="1" dirty="0">
                <a:effectLst/>
                <a:latin typeface="KaTeX_Math"/>
              </a:rPr>
              <a:t>R</a:t>
            </a:r>
            <a:r>
              <a:rPr lang="zh-CN" altLang="en-US" b="0" i="0" dirty="0">
                <a:effectLst/>
                <a:latin typeface="KaTeX_Main"/>
              </a:rPr>
              <a:t>∇</a:t>
            </a:r>
            <a:r>
              <a:rPr lang="en-US" altLang="zh-CN" b="0" i="0" dirty="0">
                <a:effectLst/>
                <a:latin typeface="inherit"/>
              </a:rPr>
              <a:t>′</a:t>
            </a:r>
            <a:r>
              <a:rPr lang="zh-CN" altLang="en-US" b="0" i="0" dirty="0">
                <a:effectLst/>
                <a:latin typeface="KaTeX_Main"/>
              </a:rPr>
              <a:t>⋅</a:t>
            </a:r>
            <a:r>
              <a:rPr lang="en-US" altLang="zh-CN" b="1" i="0" dirty="0">
                <a:effectLst/>
                <a:latin typeface="KaTeX_Main"/>
              </a:rPr>
              <a:t>J</a:t>
            </a:r>
            <a:r>
              <a:rPr lang="zh-CN" altLang="en-US" b="0" i="0" dirty="0">
                <a:effectLst/>
                <a:latin typeface="inherit"/>
              </a:rPr>
              <a:t>​</a:t>
            </a:r>
            <a:r>
              <a:rPr lang="en-US" altLang="zh-CN" b="0" i="1" dirty="0" err="1">
                <a:effectLst/>
                <a:latin typeface="KaTeX_Math"/>
              </a:rPr>
              <a:t>dV</a:t>
            </a:r>
            <a:r>
              <a:rPr lang="en-US" altLang="zh-CN" b="0" i="0" dirty="0">
                <a:effectLst/>
                <a:latin typeface="inherit"/>
              </a:rPr>
              <a:t>’</a:t>
            </a:r>
            <a:r>
              <a:rPr lang="zh-CN" altLang="en-US" b="0" i="0" dirty="0">
                <a:effectLst/>
                <a:latin typeface="inherit"/>
              </a:rPr>
              <a:t>‘</a:t>
            </a:r>
            <a:endParaRPr lang="en-US" altLang="zh-CN" b="0" i="0" dirty="0">
              <a:effectLst/>
              <a:latin typeface="inherit"/>
            </a:endParaRPr>
          </a:p>
          <a:p>
            <a:pPr algn="l" fontAlgn="base"/>
            <a:r>
              <a:rPr lang="en-US" altLang="zh-CN" b="1" i="0" dirty="0">
                <a:effectLst/>
                <a:latin typeface="-apple-system"/>
              </a:rPr>
              <a:t>4. </a:t>
            </a:r>
            <a:r>
              <a:rPr lang="zh-CN" altLang="en-US" b="1" i="0" dirty="0">
                <a:effectLst/>
                <a:latin typeface="-apple-system"/>
              </a:rPr>
              <a:t>应用稳恒电流条件</a:t>
            </a:r>
          </a:p>
          <a:p>
            <a:pPr algn="l" fontAlgn="base"/>
            <a:r>
              <a:rPr lang="zh-CN" altLang="en-US" b="0" i="0" dirty="0">
                <a:effectLst/>
                <a:latin typeface="-apple-system"/>
              </a:rPr>
              <a:t>稳恒电流满足 </a:t>
            </a:r>
            <a:r>
              <a:rPr lang="zh-CN" altLang="en-US" b="1" i="0" dirty="0">
                <a:effectLst/>
                <a:latin typeface="inherit"/>
              </a:rPr>
              <a:t>连续性方程</a:t>
            </a:r>
            <a:r>
              <a:rPr lang="zh-CN" altLang="en-US" b="0" i="0" dirty="0">
                <a:effectLst/>
                <a:latin typeface="-apple-system"/>
              </a:rPr>
              <a:t>：</a:t>
            </a:r>
            <a:r>
              <a:rPr lang="zh-CN" altLang="en-US" b="0" i="0" dirty="0">
                <a:effectLst/>
                <a:latin typeface="KaTeX_Main"/>
              </a:rPr>
              <a:t>∇</a:t>
            </a:r>
            <a:r>
              <a:rPr lang="en-US" altLang="zh-CN" b="0" i="0" dirty="0">
                <a:effectLst/>
                <a:latin typeface="inherit"/>
              </a:rPr>
              <a:t>′</a:t>
            </a:r>
            <a:r>
              <a:rPr lang="zh-CN" altLang="en-US" b="0" i="0" dirty="0">
                <a:effectLst/>
                <a:latin typeface="KaTeX_Main"/>
              </a:rPr>
              <a:t>⋅</a:t>
            </a:r>
            <a:r>
              <a:rPr lang="en-US" altLang="zh-CN" b="1" i="0" dirty="0">
                <a:effectLst/>
                <a:latin typeface="KaTeX_Main"/>
              </a:rPr>
              <a:t>J</a:t>
            </a:r>
            <a:r>
              <a:rPr lang="en-US" altLang="zh-CN" b="0" i="0" dirty="0">
                <a:effectLst/>
                <a:latin typeface="KaTeX_Main"/>
              </a:rPr>
              <a:t>(</a:t>
            </a:r>
            <a:r>
              <a:rPr lang="en-US" altLang="zh-CN" b="1" i="0" dirty="0">
                <a:effectLst/>
                <a:latin typeface="KaTeX_Main"/>
              </a:rPr>
              <a:t>r</a:t>
            </a:r>
            <a:r>
              <a:rPr lang="en-US" altLang="zh-CN" b="0" i="0" dirty="0">
                <a:effectLst/>
                <a:latin typeface="inherit"/>
              </a:rPr>
              <a:t>′</a:t>
            </a:r>
            <a:r>
              <a:rPr lang="en-US" altLang="zh-CN" b="0" i="0" dirty="0">
                <a:effectLst/>
                <a:latin typeface="KaTeX_Main"/>
              </a:rPr>
              <a:t>)=0</a:t>
            </a:r>
            <a:r>
              <a:rPr lang="zh-CN" altLang="en-US" b="0" i="0" dirty="0">
                <a:effectLst/>
                <a:latin typeface="KaTeX_Main"/>
              </a:rPr>
              <a:t>，</a:t>
            </a:r>
            <a:r>
              <a:rPr lang="zh-CN" altLang="en-US" b="0" i="0" dirty="0">
                <a:effectLst/>
                <a:latin typeface="-apple-system"/>
              </a:rPr>
              <a:t>第二项因此为零。第一项再用</a:t>
            </a:r>
            <a:r>
              <a:rPr lang="zh-CN" altLang="en-US" b="1" i="0" dirty="0">
                <a:effectLst/>
                <a:latin typeface="inherit"/>
              </a:rPr>
              <a:t>散度定理</a:t>
            </a:r>
            <a:r>
              <a:rPr lang="zh-CN" altLang="en-US" b="0" i="0" dirty="0">
                <a:effectLst/>
                <a:latin typeface="-apple-system"/>
              </a:rPr>
              <a:t>写成面积分：</a:t>
            </a:r>
            <a:r>
              <a:rPr lang="zh-CN" altLang="en-US" b="0" i="0" dirty="0">
                <a:effectLst/>
                <a:latin typeface="KaTeX_Size2"/>
              </a:rPr>
              <a:t>∫</a:t>
            </a:r>
            <a:r>
              <a:rPr lang="zh-CN" altLang="en-US" b="0" i="0" dirty="0">
                <a:effectLst/>
                <a:latin typeface="KaTeX_Main"/>
              </a:rPr>
              <a:t>∇</a:t>
            </a:r>
            <a:r>
              <a:rPr lang="en-US" altLang="zh-CN" b="0" i="0" dirty="0">
                <a:effectLst/>
                <a:latin typeface="inherit"/>
              </a:rPr>
              <a:t>′</a:t>
            </a:r>
            <a:r>
              <a:rPr lang="zh-CN" altLang="en-US" b="0" i="0" dirty="0">
                <a:effectLst/>
                <a:latin typeface="KaTeX_Main"/>
              </a:rPr>
              <a:t>⋅</a:t>
            </a:r>
            <a:r>
              <a:rPr lang="en-US" altLang="zh-CN" b="0" i="0" dirty="0">
                <a:effectLst/>
                <a:latin typeface="KaTeX_Size3"/>
              </a:rPr>
              <a:t>(</a:t>
            </a:r>
            <a:r>
              <a:rPr lang="en-US" altLang="zh-CN" b="1" i="0" dirty="0">
                <a:effectLst/>
                <a:latin typeface="KaTeX_Main"/>
              </a:rPr>
              <a:t>J</a:t>
            </a:r>
            <a:r>
              <a:rPr lang="zh-CN" altLang="en-US" b="0" i="0" dirty="0">
                <a:effectLst/>
                <a:latin typeface="inherit"/>
              </a:rPr>
              <a:t>​</a:t>
            </a:r>
            <a:r>
              <a:rPr lang="en-US" altLang="zh-CN" b="0" i="0" dirty="0">
                <a:effectLst/>
                <a:latin typeface="inherit"/>
              </a:rPr>
              <a:t>/</a:t>
            </a:r>
            <a:r>
              <a:rPr lang="en-US" altLang="zh-CN" b="0" i="1" dirty="0">
                <a:effectLst/>
                <a:latin typeface="KaTeX_Math"/>
              </a:rPr>
              <a:t>R</a:t>
            </a:r>
            <a:r>
              <a:rPr lang="en-US" altLang="zh-CN" b="0" i="0" dirty="0">
                <a:effectLst/>
                <a:latin typeface="KaTeX_Size3"/>
              </a:rPr>
              <a:t>)</a:t>
            </a:r>
            <a:r>
              <a:rPr lang="en-US" altLang="zh-CN" b="0" i="1" dirty="0" err="1">
                <a:effectLst/>
                <a:latin typeface="KaTeX_Math"/>
              </a:rPr>
              <a:t>dV</a:t>
            </a:r>
            <a:r>
              <a:rPr lang="en-US" altLang="zh-CN" b="0" i="1" dirty="0">
                <a:effectLst/>
                <a:latin typeface="KaTeX_Math"/>
              </a:rPr>
              <a:t>'</a:t>
            </a:r>
            <a:r>
              <a:rPr lang="en-US" altLang="zh-CN" b="0" i="0" dirty="0">
                <a:effectLst/>
                <a:latin typeface="inherit"/>
              </a:rPr>
              <a:t>′</a:t>
            </a:r>
            <a:r>
              <a:rPr lang="en-US" altLang="zh-CN" b="0" i="0" dirty="0">
                <a:effectLst/>
                <a:latin typeface="KaTeX_Main"/>
              </a:rPr>
              <a:t>=</a:t>
            </a:r>
            <a:r>
              <a:rPr lang="zh-CN" altLang="en-US" b="0" i="0" dirty="0">
                <a:effectLst/>
                <a:latin typeface="KaTeX_Size2"/>
              </a:rPr>
              <a:t>∮</a:t>
            </a:r>
            <a:r>
              <a:rPr lang="en-US" altLang="zh-CN" b="1" i="0" dirty="0">
                <a:effectLst/>
                <a:latin typeface="KaTeX_Main"/>
              </a:rPr>
              <a:t>J/</a:t>
            </a:r>
            <a:r>
              <a:rPr lang="en-US" altLang="zh-CN" b="0" i="1" dirty="0">
                <a:effectLst/>
                <a:latin typeface="KaTeX_Math"/>
              </a:rPr>
              <a:t>R</a:t>
            </a:r>
            <a:r>
              <a:rPr lang="zh-CN" altLang="en-US" b="0" i="0" dirty="0">
                <a:effectLst/>
                <a:latin typeface="KaTeX_Main"/>
              </a:rPr>
              <a:t>⋅</a:t>
            </a:r>
            <a:r>
              <a:rPr lang="en-US" altLang="zh-CN" b="0" i="1" dirty="0" err="1">
                <a:effectLst/>
                <a:latin typeface="KaTeX_Math"/>
              </a:rPr>
              <a:t>d</a:t>
            </a:r>
            <a:r>
              <a:rPr lang="en-US" altLang="zh-CN" b="1" i="0" dirty="0" err="1">
                <a:effectLst/>
                <a:latin typeface="KaTeX_Main"/>
              </a:rPr>
              <a:t>S</a:t>
            </a:r>
            <a:r>
              <a:rPr lang="zh-CN" altLang="en-US" b="0" i="0" dirty="0">
                <a:effectLst/>
                <a:latin typeface="inherit"/>
              </a:rPr>
              <a:t>​</a:t>
            </a:r>
            <a:r>
              <a:rPr lang="en-US" altLang="zh-CN" b="0" i="0" dirty="0">
                <a:effectLst/>
                <a:latin typeface="KaTeX_Main"/>
              </a:rPr>
              <a:t>.</a:t>
            </a:r>
            <a:r>
              <a:rPr lang="zh-CN" altLang="en-US" b="0" i="0" dirty="0">
                <a:effectLst/>
                <a:latin typeface="-apple-system"/>
              </a:rPr>
              <a:t>当积分面 </a:t>
            </a:r>
            <a:r>
              <a:rPr lang="en-US" altLang="zh-CN" b="0" i="0" dirty="0">
                <a:effectLst/>
                <a:latin typeface="-apple-system"/>
              </a:rPr>
              <a:t>S </a:t>
            </a:r>
            <a:r>
              <a:rPr lang="zh-CN" altLang="en-US" b="0" i="0" dirty="0">
                <a:effectLst/>
                <a:latin typeface="-apple-system"/>
              </a:rPr>
              <a:t>扩大到整个空间时，</a:t>
            </a:r>
            <a:r>
              <a:rPr lang="zh-CN" altLang="en-US" b="1" i="0" dirty="0">
                <a:effectLst/>
                <a:latin typeface="inherit"/>
              </a:rPr>
              <a:t>电流密度在无穷远处为零</a:t>
            </a:r>
            <a:r>
              <a:rPr lang="zh-CN" altLang="en-US" b="0" i="0" dirty="0">
                <a:effectLst/>
                <a:latin typeface="-apple-system"/>
              </a:rPr>
              <a:t>（物理上电流局限在有限区域），故面积分也为零。</a:t>
            </a:r>
          </a:p>
          <a:p>
            <a:pPr algn="l" fontAlgn="base"/>
            <a:r>
              <a:rPr lang="en-US" altLang="zh-CN" b="1" i="0" dirty="0">
                <a:effectLst/>
                <a:latin typeface="-apple-system"/>
              </a:rPr>
              <a:t>5. </a:t>
            </a:r>
            <a:r>
              <a:rPr lang="zh-CN" altLang="en-US" b="1" i="0" dirty="0">
                <a:effectLst/>
                <a:latin typeface="-apple-system"/>
              </a:rPr>
              <a:t>结论：</a:t>
            </a:r>
            <a:r>
              <a:rPr lang="zh-CN" altLang="en-US" b="0" i="0" dirty="0">
                <a:effectLst/>
                <a:latin typeface="-apple-system"/>
              </a:rPr>
              <a:t>两段积分均为零，因此</a:t>
            </a:r>
            <a:r>
              <a:rPr lang="zh-CN" altLang="en-US" b="0" i="0" dirty="0">
                <a:effectLst/>
                <a:latin typeface="KaTeX_Main"/>
              </a:rPr>
              <a:t>∇⋅</a:t>
            </a:r>
            <a:r>
              <a:rPr lang="en-US" altLang="zh-CN" b="1" i="0" dirty="0">
                <a:effectLst/>
                <a:latin typeface="KaTeX_Main"/>
              </a:rPr>
              <a:t>A</a:t>
            </a:r>
            <a:r>
              <a:rPr lang="en-US" altLang="zh-CN" b="0" i="0" dirty="0">
                <a:effectLst/>
                <a:latin typeface="KaTeX_Main"/>
              </a:rPr>
              <a:t>(</a:t>
            </a:r>
            <a:r>
              <a:rPr lang="en-US" altLang="zh-CN" b="1" i="0" dirty="0">
                <a:effectLst/>
                <a:latin typeface="KaTeX_Main"/>
              </a:rPr>
              <a:t>r</a:t>
            </a:r>
            <a:r>
              <a:rPr lang="en-US" altLang="zh-CN" b="0" i="0" dirty="0">
                <a:effectLst/>
                <a:latin typeface="KaTeX_Main"/>
              </a:rPr>
              <a:t>)=0.</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944D795-2C94-6E55-3948-331A679F7C65}"/>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6803" name="Rectangle 3">
            <a:extLst>
              <a:ext uri="{FF2B5EF4-FFF2-40B4-BE49-F238E27FC236}">
                <a16:creationId xmlns:a16="http://schemas.microsoft.com/office/drawing/2014/main" id="{CD1EAC56-3F39-8391-CAAB-2E8C9F03A9D4}"/>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B1BFA6F-9773-4900-9BA7-D36813292D63}"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76804" name="Rectangle 6">
            <a:extLst>
              <a:ext uri="{FF2B5EF4-FFF2-40B4-BE49-F238E27FC236}">
                <a16:creationId xmlns:a16="http://schemas.microsoft.com/office/drawing/2014/main" id="{10EBFE92-9498-3269-4E64-CDA5CB38AEBF}"/>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6805" name="Rectangle 7">
            <a:extLst>
              <a:ext uri="{FF2B5EF4-FFF2-40B4-BE49-F238E27FC236}">
                <a16:creationId xmlns:a16="http://schemas.microsoft.com/office/drawing/2014/main" id="{F9661AD8-AF22-E877-147B-0CF09E4A3E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42F03F6-1CAE-4AF5-9681-AEB7DCB0C156}" type="slidenum">
              <a:rPr lang="en-US" altLang="zh-CN" sz="1200">
                <a:ea typeface="宋体" panose="02010600030101010101" pitchFamily="2" charset="-122"/>
              </a:rPr>
              <a:pPr/>
              <a:t>5</a:t>
            </a:fld>
            <a:endParaRPr lang="en-US" altLang="zh-CN" sz="1200">
              <a:ea typeface="宋体" panose="02010600030101010101" pitchFamily="2" charset="-122"/>
            </a:endParaRPr>
          </a:p>
        </p:txBody>
      </p:sp>
      <p:sp>
        <p:nvSpPr>
          <p:cNvPr id="76806" name="Rectangle 2">
            <a:extLst>
              <a:ext uri="{FF2B5EF4-FFF2-40B4-BE49-F238E27FC236}">
                <a16:creationId xmlns:a16="http://schemas.microsoft.com/office/drawing/2014/main" id="{8D491705-A158-6802-4294-D8B927F1D89A}"/>
              </a:ext>
            </a:extLst>
          </p:cNvPr>
          <p:cNvSpPr>
            <a:spLocks noGrp="1" noRot="1" noChangeAspect="1" noChangeArrowheads="1" noTextEdit="1"/>
          </p:cNvSpPr>
          <p:nvPr>
            <p:ph type="sldImg"/>
          </p:nvPr>
        </p:nvSpPr>
        <p:spPr>
          <a:ln/>
        </p:spPr>
      </p:sp>
      <p:sp>
        <p:nvSpPr>
          <p:cNvPr id="76807" name="Rectangle 3">
            <a:extLst>
              <a:ext uri="{FF2B5EF4-FFF2-40B4-BE49-F238E27FC236}">
                <a16:creationId xmlns:a16="http://schemas.microsoft.com/office/drawing/2014/main" id="{A3AB14E8-B04E-58CD-0E0C-07A85ABF4F7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kumimoji="1" lang="zh-CN" altLang="en-US" b="1">
              <a:solidFill>
                <a:srgbClr val="000066"/>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15A35D39-564D-7747-038D-F8269A77F864}"/>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8851" name="Rectangle 3">
            <a:extLst>
              <a:ext uri="{FF2B5EF4-FFF2-40B4-BE49-F238E27FC236}">
                <a16:creationId xmlns:a16="http://schemas.microsoft.com/office/drawing/2014/main" id="{56036D4D-5157-9552-1039-A454658BC7AA}"/>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E91D7EF-2B67-4D25-BFC0-302586A32DD6}"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78852" name="Rectangle 6">
            <a:extLst>
              <a:ext uri="{FF2B5EF4-FFF2-40B4-BE49-F238E27FC236}">
                <a16:creationId xmlns:a16="http://schemas.microsoft.com/office/drawing/2014/main" id="{C7EB11FC-BD6F-5648-9901-0F7F226D6BB1}"/>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78853" name="Rectangle 7">
            <a:extLst>
              <a:ext uri="{FF2B5EF4-FFF2-40B4-BE49-F238E27FC236}">
                <a16:creationId xmlns:a16="http://schemas.microsoft.com/office/drawing/2014/main" id="{894FBCF5-1A3D-7DAB-37D8-0882118AA31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D7BB836-A189-4C5D-87B2-F4C630F791E2}" type="slidenum">
              <a:rPr lang="en-US" altLang="zh-CN" sz="1200">
                <a:ea typeface="宋体" panose="02010600030101010101" pitchFamily="2" charset="-122"/>
              </a:rPr>
              <a:pPr/>
              <a:t>6</a:t>
            </a:fld>
            <a:endParaRPr lang="en-US" altLang="zh-CN" sz="1200">
              <a:ea typeface="宋体" panose="02010600030101010101" pitchFamily="2" charset="-122"/>
            </a:endParaRPr>
          </a:p>
        </p:txBody>
      </p:sp>
      <p:sp>
        <p:nvSpPr>
          <p:cNvPr id="78854" name="Rectangle 2">
            <a:extLst>
              <a:ext uri="{FF2B5EF4-FFF2-40B4-BE49-F238E27FC236}">
                <a16:creationId xmlns:a16="http://schemas.microsoft.com/office/drawing/2014/main" id="{A85659A7-E4F6-2A07-27DD-51D881F9C0F0}"/>
              </a:ext>
            </a:extLst>
          </p:cNvPr>
          <p:cNvSpPr>
            <a:spLocks noGrp="1" noRot="1" noChangeAspect="1" noChangeArrowheads="1" noTextEdit="1"/>
          </p:cNvSpPr>
          <p:nvPr>
            <p:ph type="sldImg"/>
          </p:nvPr>
        </p:nvSpPr>
        <p:spPr>
          <a:ln/>
        </p:spPr>
      </p:sp>
      <p:sp>
        <p:nvSpPr>
          <p:cNvPr id="78855" name="Rectangle 3">
            <a:extLst>
              <a:ext uri="{FF2B5EF4-FFF2-40B4-BE49-F238E27FC236}">
                <a16:creationId xmlns:a16="http://schemas.microsoft.com/office/drawing/2014/main" id="{CCFE2164-37B9-9A12-3A12-186976485DA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D3A3DF8-617F-3749-D244-1336492A60BD}"/>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0899" name="Rectangle 3">
            <a:extLst>
              <a:ext uri="{FF2B5EF4-FFF2-40B4-BE49-F238E27FC236}">
                <a16:creationId xmlns:a16="http://schemas.microsoft.com/office/drawing/2014/main" id="{0D2389E1-1381-2269-60E2-96BBB62C95BB}"/>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C5653914-4570-4944-9F24-A588F333707E}"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80900" name="Rectangle 6">
            <a:extLst>
              <a:ext uri="{FF2B5EF4-FFF2-40B4-BE49-F238E27FC236}">
                <a16:creationId xmlns:a16="http://schemas.microsoft.com/office/drawing/2014/main" id="{AAD90EF4-1BCC-9425-8B1B-EFF6E4C3B906}"/>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0901" name="Rectangle 7">
            <a:extLst>
              <a:ext uri="{FF2B5EF4-FFF2-40B4-BE49-F238E27FC236}">
                <a16:creationId xmlns:a16="http://schemas.microsoft.com/office/drawing/2014/main" id="{3355F29C-EFBA-61EE-4B91-0E465CAC21E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DC1283B-DC50-4873-AEFC-D33A701CD66F}" type="slidenum">
              <a:rPr lang="en-US" altLang="zh-CN" sz="1200">
                <a:ea typeface="宋体" panose="02010600030101010101" pitchFamily="2" charset="-122"/>
              </a:rPr>
              <a:pPr/>
              <a:t>7</a:t>
            </a:fld>
            <a:endParaRPr lang="en-US" altLang="zh-CN" sz="1200">
              <a:ea typeface="宋体" panose="02010600030101010101" pitchFamily="2" charset="-122"/>
            </a:endParaRPr>
          </a:p>
        </p:txBody>
      </p:sp>
      <p:sp>
        <p:nvSpPr>
          <p:cNvPr id="80902" name="Rectangle 2">
            <a:extLst>
              <a:ext uri="{FF2B5EF4-FFF2-40B4-BE49-F238E27FC236}">
                <a16:creationId xmlns:a16="http://schemas.microsoft.com/office/drawing/2014/main" id="{7461E010-B034-575F-80EF-C3B937880CE7}"/>
              </a:ext>
            </a:extLst>
          </p:cNvPr>
          <p:cNvSpPr>
            <a:spLocks noGrp="1" noRot="1" noChangeAspect="1" noChangeArrowheads="1" noTextEdit="1"/>
          </p:cNvSpPr>
          <p:nvPr>
            <p:ph type="sldImg"/>
          </p:nvPr>
        </p:nvSpPr>
        <p:spPr>
          <a:ln/>
        </p:spPr>
      </p:sp>
      <p:sp>
        <p:nvSpPr>
          <p:cNvPr id="80903" name="Rectangle 3">
            <a:extLst>
              <a:ext uri="{FF2B5EF4-FFF2-40B4-BE49-F238E27FC236}">
                <a16:creationId xmlns:a16="http://schemas.microsoft.com/office/drawing/2014/main" id="{909031BC-17B8-C257-A6BB-81105DEFF43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4262A27-725B-3E5C-09B8-FEB1AFF15C12}"/>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2947" name="Rectangle 3">
            <a:extLst>
              <a:ext uri="{FF2B5EF4-FFF2-40B4-BE49-F238E27FC236}">
                <a16:creationId xmlns:a16="http://schemas.microsoft.com/office/drawing/2014/main" id="{D78244C1-77A7-4EFA-DE20-FCCABCF86A40}"/>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63D0090-9D93-46C3-AC81-EECB26269648}"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82948" name="Rectangle 6">
            <a:extLst>
              <a:ext uri="{FF2B5EF4-FFF2-40B4-BE49-F238E27FC236}">
                <a16:creationId xmlns:a16="http://schemas.microsoft.com/office/drawing/2014/main" id="{2D62E4E2-6F5B-CC32-E734-A84A7D7F7FA2}"/>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2949" name="Rectangle 7">
            <a:extLst>
              <a:ext uri="{FF2B5EF4-FFF2-40B4-BE49-F238E27FC236}">
                <a16:creationId xmlns:a16="http://schemas.microsoft.com/office/drawing/2014/main" id="{C54F4D5B-3EF5-C8E1-E500-83FB59A8EEC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4EFB436-BA4C-46B2-8232-19F1125C0A55}" type="slidenum">
              <a:rPr lang="en-US" altLang="zh-CN" sz="1200">
                <a:ea typeface="宋体" panose="02010600030101010101" pitchFamily="2" charset="-122"/>
              </a:rPr>
              <a:pPr/>
              <a:t>8</a:t>
            </a:fld>
            <a:endParaRPr lang="en-US" altLang="zh-CN" sz="1200">
              <a:ea typeface="宋体" panose="02010600030101010101" pitchFamily="2" charset="-122"/>
            </a:endParaRPr>
          </a:p>
        </p:txBody>
      </p:sp>
      <p:sp>
        <p:nvSpPr>
          <p:cNvPr id="82950" name="Rectangle 2">
            <a:extLst>
              <a:ext uri="{FF2B5EF4-FFF2-40B4-BE49-F238E27FC236}">
                <a16:creationId xmlns:a16="http://schemas.microsoft.com/office/drawing/2014/main" id="{354BBCF5-6E20-4E05-93A6-55943B9347FE}"/>
              </a:ext>
            </a:extLst>
          </p:cNvPr>
          <p:cNvSpPr>
            <a:spLocks noGrp="1" noRot="1" noChangeAspect="1" noChangeArrowheads="1" noTextEdit="1"/>
          </p:cNvSpPr>
          <p:nvPr>
            <p:ph type="sldImg"/>
          </p:nvPr>
        </p:nvSpPr>
        <p:spPr>
          <a:ln/>
        </p:spPr>
      </p:sp>
      <p:sp>
        <p:nvSpPr>
          <p:cNvPr id="82951" name="Rectangle 3">
            <a:extLst>
              <a:ext uri="{FF2B5EF4-FFF2-40B4-BE49-F238E27FC236}">
                <a16:creationId xmlns:a16="http://schemas.microsoft.com/office/drawing/2014/main" id="{220C77A3-2319-4445-D746-E03B210A43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8AC0046-79F4-DFE8-641A-7AF9E42B4E4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4995" name="Rectangle 3">
            <a:extLst>
              <a:ext uri="{FF2B5EF4-FFF2-40B4-BE49-F238E27FC236}">
                <a16:creationId xmlns:a16="http://schemas.microsoft.com/office/drawing/2014/main" id="{DCEB598A-D183-608A-A93A-FEAE78DC6D94}"/>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1657A18A-6B36-457F-9A83-A69CCC6A5A4A}"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84996" name="Rectangle 6">
            <a:extLst>
              <a:ext uri="{FF2B5EF4-FFF2-40B4-BE49-F238E27FC236}">
                <a16:creationId xmlns:a16="http://schemas.microsoft.com/office/drawing/2014/main" id="{860A9825-31C4-A213-AECC-4280685A264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4997" name="Rectangle 7">
            <a:extLst>
              <a:ext uri="{FF2B5EF4-FFF2-40B4-BE49-F238E27FC236}">
                <a16:creationId xmlns:a16="http://schemas.microsoft.com/office/drawing/2014/main" id="{AE1D73CE-0EB6-58F2-B11D-04155592A1C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8906231-FDE7-4EBA-97AD-9E90535F990F}" type="slidenum">
              <a:rPr lang="en-US" altLang="zh-CN" sz="1200">
                <a:ea typeface="宋体" panose="02010600030101010101" pitchFamily="2" charset="-122"/>
              </a:rPr>
              <a:pPr/>
              <a:t>9</a:t>
            </a:fld>
            <a:endParaRPr lang="en-US" altLang="zh-CN" sz="1200">
              <a:ea typeface="宋体" panose="02010600030101010101" pitchFamily="2" charset="-122"/>
            </a:endParaRPr>
          </a:p>
        </p:txBody>
      </p:sp>
      <p:sp>
        <p:nvSpPr>
          <p:cNvPr id="84998" name="Rectangle 2">
            <a:extLst>
              <a:ext uri="{FF2B5EF4-FFF2-40B4-BE49-F238E27FC236}">
                <a16:creationId xmlns:a16="http://schemas.microsoft.com/office/drawing/2014/main" id="{0C9178DF-17F9-72A7-112E-38001900EAB8}"/>
              </a:ext>
            </a:extLst>
          </p:cNvPr>
          <p:cNvSpPr>
            <a:spLocks noGrp="1" noRot="1" noChangeAspect="1" noChangeArrowheads="1" noTextEdit="1"/>
          </p:cNvSpPr>
          <p:nvPr>
            <p:ph type="sldImg"/>
          </p:nvPr>
        </p:nvSpPr>
        <p:spPr>
          <a:ln/>
        </p:spPr>
      </p:sp>
      <p:sp>
        <p:nvSpPr>
          <p:cNvPr id="84999" name="Rectangle 3">
            <a:extLst>
              <a:ext uri="{FF2B5EF4-FFF2-40B4-BE49-F238E27FC236}">
                <a16:creationId xmlns:a16="http://schemas.microsoft.com/office/drawing/2014/main" id="{A73BB962-F941-9B8D-C6ED-BFC8D36C394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从电子学和物理学的观点看，微波这段电磁谱具有不同于其它波段的如下重要特点：</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）似光性和似声性 </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微波的波长很短，比地球上一般物体</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如飞机、舰船、汽车、坦克、火箭、弹、建筑物等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的尺寸相对要小得多，或在同一量级。这使微波的特点与几何光学相似，即所谓</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似光性</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它的传播规律几乎与几何光学里的光线完全一致</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直线传播、反射、折射、聚焦</a:t>
            </a:r>
            <a:r>
              <a:rPr lang="zh-CN" altLang="zh-CN" sz="1800" kern="100" dirty="0">
                <a:solidFill>
                  <a:srgbClr val="A6A6A6"/>
                </a:solidFill>
                <a:effectLst/>
                <a:latin typeface="等线" panose="02010600030101010101" pitchFamily="2" charset="-122"/>
                <a:ea typeface="等线" panose="02010600030101010101" pitchFamily="2" charset="-122"/>
                <a:cs typeface="Times New Roman" panose="02020603050405020304" pitchFamily="18" charset="0"/>
              </a:rPr>
              <a:t>【抛物面天线把微波束压缩到</a:t>
            </a:r>
            <a:r>
              <a:rPr lang="en-US" altLang="zh-CN" sz="1800" kern="100" dirty="0">
                <a:solidFill>
                  <a:srgbClr val="A6A6A6"/>
                </a:solidFill>
                <a:effectLst/>
                <a:latin typeface="等线" panose="02010600030101010101" pitchFamily="2" charset="-122"/>
                <a:ea typeface="等线" panose="02010600030101010101" pitchFamily="2" charset="-122"/>
                <a:cs typeface="Times New Roman" panose="02020603050405020304" pitchFamily="18" charset="0"/>
              </a:rPr>
              <a:t> 1°–3°</a:t>
            </a:r>
            <a:r>
              <a:rPr lang="zh-CN" altLang="zh-CN" sz="1800" kern="100" dirty="0">
                <a:solidFill>
                  <a:srgbClr val="A6A6A6"/>
                </a:solidFill>
                <a:effectLst/>
                <a:latin typeface="等线" panose="02010600030101010101" pitchFamily="2" charset="-122"/>
                <a:ea typeface="等线" panose="02010600030101010101" pitchFamily="2" charset="-122"/>
                <a:cs typeface="Times New Roman" panose="02020603050405020304" pitchFamily="18" charset="0"/>
              </a:rPr>
              <a:t>，类似于</a:t>
            </a:r>
            <a:r>
              <a:rPr lang="zh-CN" altLang="zh-CN" sz="1800" b="1" kern="100" dirty="0">
                <a:solidFill>
                  <a:srgbClr val="A6A6A6"/>
                </a:solidFill>
                <a:effectLst/>
                <a:latin typeface="等线" panose="02010600030101010101" pitchFamily="2" charset="-122"/>
                <a:ea typeface="等线" panose="02010600030101010101" pitchFamily="2" charset="-122"/>
                <a:cs typeface="Times New Roman" panose="02020603050405020304" pitchFamily="18" charset="0"/>
              </a:rPr>
              <a:t>手电筒光束</a:t>
            </a:r>
            <a:r>
              <a:rPr lang="zh-CN" altLang="zh-CN" sz="1800" kern="100" dirty="0">
                <a:solidFill>
                  <a:srgbClr val="A6A6A6"/>
                </a:solidFill>
                <a:effectLst/>
                <a:latin typeface="等线" panose="02010600030101010101" pitchFamily="2" charset="-122"/>
                <a:ea typeface="等线" panose="02010600030101010101" pitchFamily="2" charset="-122"/>
                <a:cs typeface="Times New Roman" panose="02020603050405020304" pitchFamily="18" charset="0"/>
              </a:rPr>
              <a:t>，从而实现高分辨率测角】</a:t>
            </a:r>
            <a:r>
              <a:rPr lang="zh-CN" altLang="zh-CN" sz="18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、成像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此，使用微波工作，能使电路元件尺寸减小；使系统更加紧凑；可以设计制成体积小、波束很窄、方向性很强、增益很高的天线系统，接收来自地面或宇宙空间各种物体反射回来的微弱信号，从而确定物体的方位和距离，分析目标的特征。</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由于微波的波长与物体</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如实验室中的无线电设备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的尺寸具有相同的量级，使得微波的特点又与声波相近，即所谓</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似声性</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。例如</a:t>
            </a:r>
            <a:r>
              <a:rPr lang="zh-CN" altLang="zh-CN" sz="1800" u="sng" kern="100" dirty="0">
                <a:effectLst/>
                <a:latin typeface="等线" panose="02010600030101010101" pitchFamily="2" charset="-122"/>
                <a:ea typeface="等线" panose="02010600030101010101" pitchFamily="2" charset="-122"/>
                <a:cs typeface="Times New Roman" panose="02020603050405020304" pitchFamily="18" charset="0"/>
              </a:rPr>
              <a:t>微波波导类似于声学中的传声筒</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u="sng" kern="100" dirty="0">
                <a:effectLst/>
                <a:latin typeface="等线" panose="02010600030101010101" pitchFamily="2" charset="-122"/>
                <a:ea typeface="等线" panose="02010600030101010101" pitchFamily="2" charset="-122"/>
                <a:cs typeface="Times New Roman" panose="02020603050405020304" pitchFamily="18" charset="0"/>
              </a:rPr>
              <a:t>喇叭天线和</a:t>
            </a:r>
            <a:r>
              <a:rPr lang="zh-CN" altLang="zh-CN" sz="1800" u="sng"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缝隙天线类似于</a:t>
            </a:r>
            <a:r>
              <a:rPr lang="zh-CN" altLang="zh-CN" sz="1800" u="sng" kern="100" dirty="0">
                <a:effectLst/>
                <a:latin typeface="等线" panose="02010600030101010101" pitchFamily="2" charset="-122"/>
                <a:ea typeface="等线" panose="02010600030101010101" pitchFamily="2" charset="-122"/>
                <a:cs typeface="Times New Roman" panose="02020603050405020304" pitchFamily="18" charset="0"/>
              </a:rPr>
              <a:t>声学喇叭、</a:t>
            </a:r>
            <a:r>
              <a:rPr lang="zh-CN" altLang="zh-CN" sz="1800" u="sng"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萧和笛</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u="sng" kern="100" dirty="0">
                <a:effectLst/>
                <a:latin typeface="等线" panose="02010600030101010101" pitchFamily="2" charset="-122"/>
                <a:ea typeface="等线" panose="02010600030101010101" pitchFamily="2" charset="-122"/>
                <a:cs typeface="Times New Roman" panose="02020603050405020304" pitchFamily="18" charset="0"/>
              </a:rPr>
              <a:t>微波谐振腔类似于声学共鸣箱</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等。</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分析方法的独特性</a:t>
            </a:r>
            <a:endPar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由于微波的频率很高，波长很短，使得</a:t>
            </a:r>
            <a:r>
              <a:rPr lang="zh-CN" altLang="en-US" sz="1800" b="1" u="sng" kern="100" dirty="0">
                <a:effectLst/>
                <a:latin typeface="等线" panose="02010600030101010101" pitchFamily="2" charset="-122"/>
                <a:ea typeface="等线" panose="02010600030101010101" pitchFamily="2" charset="-122"/>
                <a:cs typeface="Times New Roman" panose="02020603050405020304" pitchFamily="18" charset="0"/>
              </a:rPr>
              <a:t>在低频电路中被忽略了的一些现象和效应（如趋肤效应、辐射效应、相位滞后现象等）在微波波段不可以忽略</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。这样</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低频电路常用的集总参数元件电阻、电感、电容已不再适用，电压、电流在微波波段甚至失去了唯一性意义，因此用它们已经无法对微波传输系统进行完全描</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述，而要求建立一套新的能够描述这些现象的理论分析方法一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电磁场理论的场与波传输的分析方法，用新的装置（如传输线、波导、谐振腔等）代替那些我们</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已经熟悉了的电容、电感、电阻。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）穿透性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u="sng" kern="100" dirty="0">
                <a:effectLst/>
                <a:latin typeface="等线" panose="02010600030101010101" pitchFamily="2" charset="-122"/>
                <a:ea typeface="等线" panose="02010600030101010101" pitchFamily="2" charset="-122"/>
                <a:cs typeface="Times New Roman" panose="02020603050405020304" pitchFamily="18" charset="0"/>
              </a:rPr>
              <a:t>微波照射于物体（介质体）时，能深入物质内部</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微波能穿透电离层，成为人类探测外层空间的“宇宙窗口”；微波能穿透云雾、雨、植被、积雪和地表层，具有全天候和全天时的工作能力，成为遥感技术的重要波段；微波能穿透生物体，成为医学透热疗法的重要手段；毫米波还能穿透等离子体，是远程导弹和航天器重返大气层时实现通信和末制导的重要手段。</a:t>
            </a:r>
          </a:p>
          <a:p>
            <a:pPr algn="just"/>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）非电离性</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微波的量子能量还不够大，不足以改变物质分子的内部结构或破坏分子间的键。而由物理学知道，分子、原子和原子核在外加电磁场的周期力作用下所呈现的许多共振现象都发生在微波范围，因而微波为探索物质的内部结构和基本特性提供了有效的研究手段。另一方面，利用这一特性和原理，可研制许多适用于微波波段的器件。</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）信息性 </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由于微波的频率很高，所以在不太大的相对带宽下，其可用的频带很宽，可达数百甚至上千兆赫。这是低频无线电波无法比拟的。这意味着微波的信息容量大。所以现代多路通信系统，包括卫星通信系统，几乎无例外地都是工作在微波波段。另外，微波信号还可提供相位信息、极化信息、多普勒频率信息。这在目标探测、遥感、目标特征分析等应用中是十分重要的。</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页眉占位符 3"/>
          <p:cNvSpPr>
            <a:spLocks noGrp="1"/>
          </p:cNvSpPr>
          <p:nvPr>
            <p:ph type="hdr" sz="quarter"/>
          </p:nvPr>
        </p:nvSpPr>
        <p:spPr/>
        <p:txBody>
          <a:bodyPr/>
          <a:lstStyle/>
          <a:p>
            <a:pPr>
              <a:defRPr/>
            </a:pPr>
            <a:r>
              <a:rPr lang="en-US" altLang="zh-CN"/>
              <a:t>第一课</a:t>
            </a:r>
          </a:p>
        </p:txBody>
      </p:sp>
      <p:sp>
        <p:nvSpPr>
          <p:cNvPr id="5" name="日期占位符 4"/>
          <p:cNvSpPr>
            <a:spLocks noGrp="1"/>
          </p:cNvSpPr>
          <p:nvPr>
            <p:ph type="dt" idx="1"/>
          </p:nvPr>
        </p:nvSpPr>
        <p:spPr/>
        <p:txBody>
          <a:bodyPr/>
          <a:lstStyle/>
          <a:p>
            <a:pPr>
              <a:defRPr/>
            </a:pPr>
            <a:fld id="{21C58DE0-7C55-4FD7-9492-3AFB2C65A20F}" type="datetime1">
              <a:rPr lang="zh-CN" altLang="en-US" smtClean="0"/>
              <a:pPr>
                <a:defRPr/>
              </a:pPr>
              <a:t>2025/12/1</a:t>
            </a:fld>
            <a:endParaRPr lang="en-US" altLang="zh-CN"/>
          </a:p>
        </p:txBody>
      </p:sp>
      <p:sp>
        <p:nvSpPr>
          <p:cNvPr id="6" name="页脚占位符 5"/>
          <p:cNvSpPr>
            <a:spLocks noGrp="1"/>
          </p:cNvSpPr>
          <p:nvPr>
            <p:ph type="ftr" sz="quarter" idx="4"/>
          </p:nvPr>
        </p:nvSpPr>
        <p:spPr/>
        <p:txBody>
          <a:bodyPr/>
          <a:lstStyle/>
          <a:p>
            <a:pPr>
              <a:defRPr/>
            </a:pPr>
            <a:r>
              <a:rPr lang="en-US" altLang="zh-CN"/>
              <a:t>第一课</a:t>
            </a:r>
          </a:p>
        </p:txBody>
      </p:sp>
      <p:sp>
        <p:nvSpPr>
          <p:cNvPr id="7" name="灯片编号占位符 6"/>
          <p:cNvSpPr>
            <a:spLocks noGrp="1"/>
          </p:cNvSpPr>
          <p:nvPr>
            <p:ph type="sldNum" sz="quarter" idx="5"/>
          </p:nvPr>
        </p:nvSpPr>
        <p:spPr/>
        <p:txBody>
          <a:bodyPr/>
          <a:lstStyle/>
          <a:p>
            <a:pPr>
              <a:defRPr/>
            </a:pPr>
            <a:fld id="{26D91E24-0AF4-4B97-8054-C268217EB0F5}" type="slidenum">
              <a:rPr lang="en-US" altLang="zh-CN" smtClean="0"/>
              <a:pPr>
                <a:defRPr/>
              </a:pPr>
              <a:t>11</a:t>
            </a:fld>
            <a:endParaRPr lang="en-US" altLang="zh-CN"/>
          </a:p>
        </p:txBody>
      </p:sp>
    </p:spTree>
    <p:extLst>
      <p:ext uri="{BB962C8B-B14F-4D97-AF65-F5344CB8AC3E}">
        <p14:creationId xmlns:p14="http://schemas.microsoft.com/office/powerpoint/2010/main" val="1404812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F2FE246-0FEE-AC2A-A046-7606B0F660AF}"/>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7043" name="Rectangle 3">
            <a:extLst>
              <a:ext uri="{FF2B5EF4-FFF2-40B4-BE49-F238E27FC236}">
                <a16:creationId xmlns:a16="http://schemas.microsoft.com/office/drawing/2014/main" id="{ECE340EA-02B6-8735-6340-5B75527DE11B}"/>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B8192A3-A6BB-4FAF-8822-A3AC0751835C}" type="datetime1">
              <a:rPr lang="zh-CN" altLang="en-US" sz="1200" smtClean="0">
                <a:ea typeface="宋体" panose="02010600030101010101" pitchFamily="2" charset="-122"/>
              </a:rPr>
              <a:pPr/>
              <a:t>2025/12/1</a:t>
            </a:fld>
            <a:endParaRPr lang="en-US" altLang="zh-CN" sz="1200">
              <a:ea typeface="宋体" panose="02010600030101010101" pitchFamily="2" charset="-122"/>
            </a:endParaRPr>
          </a:p>
        </p:txBody>
      </p:sp>
      <p:sp>
        <p:nvSpPr>
          <p:cNvPr id="87044" name="Rectangle 6">
            <a:extLst>
              <a:ext uri="{FF2B5EF4-FFF2-40B4-BE49-F238E27FC236}">
                <a16:creationId xmlns:a16="http://schemas.microsoft.com/office/drawing/2014/main" id="{2B27FA57-4E81-F7C8-76AC-76C8E3FBD383}"/>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7045" name="Rectangle 7">
            <a:extLst>
              <a:ext uri="{FF2B5EF4-FFF2-40B4-BE49-F238E27FC236}">
                <a16:creationId xmlns:a16="http://schemas.microsoft.com/office/drawing/2014/main" id="{3F6FA41B-329C-0BD4-D2CF-B7EF5BB61F8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106D33BB-5B49-4B3D-972D-D77BB18DF719}" type="slidenum">
              <a:rPr lang="en-US" altLang="zh-CN" sz="1200">
                <a:ea typeface="宋体" panose="02010600030101010101" pitchFamily="2" charset="-122"/>
              </a:rPr>
              <a:pPr/>
              <a:t>12</a:t>
            </a:fld>
            <a:endParaRPr lang="en-US" altLang="zh-CN" sz="1200">
              <a:ea typeface="宋体" panose="02010600030101010101" pitchFamily="2" charset="-122"/>
            </a:endParaRPr>
          </a:p>
        </p:txBody>
      </p:sp>
      <p:sp>
        <p:nvSpPr>
          <p:cNvPr id="87046" name="Rectangle 2">
            <a:extLst>
              <a:ext uri="{FF2B5EF4-FFF2-40B4-BE49-F238E27FC236}">
                <a16:creationId xmlns:a16="http://schemas.microsoft.com/office/drawing/2014/main" id="{6F848746-23B0-99EF-4D96-6A1F726D3472}"/>
              </a:ext>
            </a:extLst>
          </p:cNvPr>
          <p:cNvSpPr>
            <a:spLocks noGrp="1" noRot="1" noChangeAspect="1" noChangeArrowheads="1" noTextEdit="1"/>
          </p:cNvSpPr>
          <p:nvPr>
            <p:ph type="sldImg"/>
          </p:nvPr>
        </p:nvSpPr>
        <p:spPr>
          <a:ln/>
        </p:spPr>
      </p:sp>
      <p:sp>
        <p:nvSpPr>
          <p:cNvPr id="87047" name="Rectangle 3">
            <a:extLst>
              <a:ext uri="{FF2B5EF4-FFF2-40B4-BE49-F238E27FC236}">
                <a16:creationId xmlns:a16="http://schemas.microsoft.com/office/drawing/2014/main" id="{5149F40C-735A-F7CC-831B-CD7579F694B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t>TE/TM</a:t>
            </a:r>
            <a:r>
              <a:rPr lang="zh-CN" altLang="en-US" dirty="0"/>
              <a:t>模导行波、单导体传输线（波导）：不能用“路”分析法，只能用“场”分析法</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EH</a:t>
            </a:r>
            <a:r>
              <a:rPr lang="zh-CN" altLang="en-US" dirty="0"/>
              <a:t>模导行波、无导体的传输线（</a:t>
            </a:r>
            <a:r>
              <a:rPr lang="zh-CN" altLang="en-US" u="sng" dirty="0"/>
              <a:t>介质波导，</a:t>
            </a:r>
            <a:r>
              <a:rPr lang="zh-CN" altLang="en-US" b="1" u="sng" dirty="0">
                <a:solidFill>
                  <a:srgbClr val="FF0000"/>
                </a:solidFill>
              </a:rPr>
              <a:t>如光纤</a:t>
            </a:r>
            <a:r>
              <a:rPr lang="zh-CN" altLang="en-US" dirty="0"/>
              <a:t>）：不能用“路”分析法，只能用“场”分析法</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i="0" dirty="0">
                <a:effectLst/>
                <a:latin typeface="-apple-system"/>
              </a:rPr>
              <a:t>光纤就是</a:t>
            </a:r>
            <a:r>
              <a:rPr lang="zh-CN" altLang="en-US" b="1" i="0" dirty="0">
                <a:effectLst/>
                <a:latin typeface="-apple-system"/>
              </a:rPr>
              <a:t>典型的“介质波导”</a:t>
            </a:r>
            <a:r>
              <a:rPr lang="en-US" altLang="zh-CN" b="0" i="0" dirty="0">
                <a:effectLst/>
                <a:latin typeface="-apple-system"/>
              </a:rPr>
              <a:t>——</a:t>
            </a:r>
            <a:r>
              <a:rPr lang="zh-CN" altLang="en-US" b="0" i="0" dirty="0">
                <a:effectLst/>
                <a:latin typeface="-apple-system"/>
              </a:rPr>
              <a:t>它用</a:t>
            </a:r>
            <a:r>
              <a:rPr lang="zh-CN" altLang="en-US" b="1" i="0" dirty="0">
                <a:effectLst/>
                <a:latin typeface="-apple-system"/>
              </a:rPr>
              <a:t>高折射率的纤芯 </a:t>
            </a:r>
            <a:r>
              <a:rPr lang="en-US" altLang="zh-CN" b="1" i="0" dirty="0">
                <a:effectLst/>
                <a:latin typeface="-apple-system"/>
              </a:rPr>
              <a:t>+ </a:t>
            </a:r>
            <a:r>
              <a:rPr lang="zh-CN" altLang="en-US" b="1" i="0" dirty="0">
                <a:effectLst/>
                <a:latin typeface="-apple-system"/>
              </a:rPr>
              <a:t>低折射率的包层</a:t>
            </a:r>
            <a:r>
              <a:rPr lang="zh-CN" altLang="en-US" b="0" i="0" dirty="0">
                <a:effectLst/>
                <a:latin typeface="-apple-system"/>
              </a:rPr>
              <a:t>形成全反射边界，把光场约束在纤芯内部沿轴向传播，完全不依赖金属导体。</a:t>
            </a:r>
            <a:endParaRPr lang="en-US" altLang="zh-CN" dirty="0"/>
          </a:p>
          <a:p>
            <a:pPr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11">
            <a:extLst>
              <a:ext uri="{FF2B5EF4-FFF2-40B4-BE49-F238E27FC236}">
                <a16:creationId xmlns:a16="http://schemas.microsoft.com/office/drawing/2014/main" id="{158C8DFD-1FE4-2CC4-07E0-07AD08F762BE}"/>
              </a:ext>
            </a:extLst>
          </p:cNvPr>
          <p:cNvSpPr>
            <a:spLocks noGrp="1" noChangeArrowheads="1"/>
          </p:cNvSpPr>
          <p:nvPr>
            <p:ph type="sldNum" sz="quarter" idx="10"/>
          </p:nvPr>
        </p:nvSpPr>
        <p:spPr>
          <a:ln/>
        </p:spPr>
        <p:txBody>
          <a:bodyPr/>
          <a:lstStyle>
            <a:lvl1pPr>
              <a:defRPr/>
            </a:lvl1pPr>
          </a:lstStyle>
          <a:p>
            <a:pPr>
              <a:defRPr/>
            </a:pPr>
            <a:fld id="{2218F4E5-0835-47FB-A1BD-8B2A2244DAA8}" type="slidenum">
              <a:rPr lang="en-US" altLang="zh-CN"/>
              <a:pPr>
                <a:defRPr/>
              </a:pPr>
              <a:t>‹#›</a:t>
            </a:fld>
            <a:endParaRPr lang="en-US" altLang="zh-CN"/>
          </a:p>
        </p:txBody>
      </p:sp>
    </p:spTree>
    <p:extLst>
      <p:ext uri="{BB962C8B-B14F-4D97-AF65-F5344CB8AC3E}">
        <p14:creationId xmlns:p14="http://schemas.microsoft.com/office/powerpoint/2010/main" val="48829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124C7DF6-6E3D-53E0-2046-FFE17433D136}"/>
              </a:ext>
            </a:extLst>
          </p:cNvPr>
          <p:cNvSpPr>
            <a:spLocks noGrp="1" noChangeArrowheads="1"/>
          </p:cNvSpPr>
          <p:nvPr>
            <p:ph type="sldNum" sz="quarter" idx="10"/>
          </p:nvPr>
        </p:nvSpPr>
        <p:spPr>
          <a:ln/>
        </p:spPr>
        <p:txBody>
          <a:bodyPr/>
          <a:lstStyle>
            <a:lvl1pPr>
              <a:defRPr/>
            </a:lvl1pPr>
          </a:lstStyle>
          <a:p>
            <a:pPr>
              <a:defRPr/>
            </a:pPr>
            <a:fld id="{39FA2369-6D9F-419D-B2DC-91997EFA412D}" type="slidenum">
              <a:rPr lang="en-US" altLang="zh-CN"/>
              <a:pPr>
                <a:defRPr/>
              </a:pPr>
              <a:t>‹#›</a:t>
            </a:fld>
            <a:endParaRPr lang="en-US" altLang="zh-CN"/>
          </a:p>
        </p:txBody>
      </p:sp>
    </p:spTree>
    <p:extLst>
      <p:ext uri="{BB962C8B-B14F-4D97-AF65-F5344CB8AC3E}">
        <p14:creationId xmlns:p14="http://schemas.microsoft.com/office/powerpoint/2010/main" val="3190004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9FBEA074-EF3E-59CA-3984-2EC175BCA8FE}"/>
              </a:ext>
            </a:extLst>
          </p:cNvPr>
          <p:cNvSpPr>
            <a:spLocks noGrp="1" noChangeArrowheads="1"/>
          </p:cNvSpPr>
          <p:nvPr>
            <p:ph type="sldNum" sz="quarter" idx="10"/>
          </p:nvPr>
        </p:nvSpPr>
        <p:spPr>
          <a:ln/>
        </p:spPr>
        <p:txBody>
          <a:bodyPr/>
          <a:lstStyle>
            <a:lvl1pPr>
              <a:defRPr/>
            </a:lvl1pPr>
          </a:lstStyle>
          <a:p>
            <a:pPr>
              <a:defRPr/>
            </a:pPr>
            <a:fld id="{EC926B1F-5E87-4567-B8A7-174DF3F5EA1F}" type="slidenum">
              <a:rPr lang="en-US" altLang="zh-CN"/>
              <a:pPr>
                <a:defRPr/>
              </a:pPr>
              <a:t>‹#›</a:t>
            </a:fld>
            <a:endParaRPr lang="en-US" altLang="zh-CN"/>
          </a:p>
        </p:txBody>
      </p:sp>
    </p:spTree>
    <p:extLst>
      <p:ext uri="{BB962C8B-B14F-4D97-AF65-F5344CB8AC3E}">
        <p14:creationId xmlns:p14="http://schemas.microsoft.com/office/powerpoint/2010/main" val="288398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CF852AE0-F1F5-4649-82D4-44D7D3C5CA3E}"/>
              </a:ext>
            </a:extLst>
          </p:cNvPr>
          <p:cNvSpPr>
            <a:spLocks noGrp="1" noChangeArrowheads="1"/>
          </p:cNvSpPr>
          <p:nvPr>
            <p:ph type="sldNum" sz="quarter" idx="10"/>
          </p:nvPr>
        </p:nvSpPr>
        <p:spPr>
          <a:ln/>
        </p:spPr>
        <p:txBody>
          <a:bodyPr/>
          <a:lstStyle>
            <a:lvl1pPr>
              <a:defRPr/>
            </a:lvl1pPr>
          </a:lstStyle>
          <a:p>
            <a:pPr>
              <a:defRPr/>
            </a:pPr>
            <a:fld id="{F0D5EBB1-338B-4AEE-8E32-985B927E30F9}" type="slidenum">
              <a:rPr lang="en-US" altLang="zh-CN"/>
              <a:pPr>
                <a:defRPr/>
              </a:pPr>
              <a:t>‹#›</a:t>
            </a:fld>
            <a:endParaRPr lang="en-US" altLang="zh-CN"/>
          </a:p>
        </p:txBody>
      </p:sp>
    </p:spTree>
    <p:extLst>
      <p:ext uri="{BB962C8B-B14F-4D97-AF65-F5344CB8AC3E}">
        <p14:creationId xmlns:p14="http://schemas.microsoft.com/office/powerpoint/2010/main" val="210967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40FBEFFF-2367-65FB-A31A-CE09A36CB21C}"/>
              </a:ext>
            </a:extLst>
          </p:cNvPr>
          <p:cNvSpPr>
            <a:spLocks noGrp="1" noChangeArrowheads="1"/>
          </p:cNvSpPr>
          <p:nvPr>
            <p:ph type="sldNum" sz="quarter" idx="10"/>
          </p:nvPr>
        </p:nvSpPr>
        <p:spPr>
          <a:ln/>
        </p:spPr>
        <p:txBody>
          <a:bodyPr/>
          <a:lstStyle>
            <a:lvl1pPr>
              <a:defRPr/>
            </a:lvl1pPr>
          </a:lstStyle>
          <a:p>
            <a:pPr>
              <a:defRPr/>
            </a:pPr>
            <a:fld id="{4714A81C-B249-436B-AC2A-3F4190BE3BF5}" type="slidenum">
              <a:rPr lang="en-US" altLang="zh-CN"/>
              <a:pPr>
                <a:defRPr/>
              </a:pPr>
              <a:t>‹#›</a:t>
            </a:fld>
            <a:endParaRPr lang="en-US" altLang="zh-CN"/>
          </a:p>
        </p:txBody>
      </p:sp>
    </p:spTree>
    <p:extLst>
      <p:ext uri="{BB962C8B-B14F-4D97-AF65-F5344CB8AC3E}">
        <p14:creationId xmlns:p14="http://schemas.microsoft.com/office/powerpoint/2010/main" val="92183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BDDD0E7F-3404-3A1B-2DC1-032A274FFEAE}"/>
              </a:ext>
            </a:extLst>
          </p:cNvPr>
          <p:cNvSpPr>
            <a:spLocks noGrp="1" noChangeArrowheads="1"/>
          </p:cNvSpPr>
          <p:nvPr>
            <p:ph type="sldNum" sz="quarter" idx="10"/>
          </p:nvPr>
        </p:nvSpPr>
        <p:spPr>
          <a:ln/>
        </p:spPr>
        <p:txBody>
          <a:bodyPr/>
          <a:lstStyle>
            <a:lvl1pPr>
              <a:defRPr/>
            </a:lvl1pPr>
          </a:lstStyle>
          <a:p>
            <a:pPr>
              <a:defRPr/>
            </a:pPr>
            <a:fld id="{97D87B1A-0919-4D19-B8A6-978B39028CA6}" type="slidenum">
              <a:rPr lang="en-US" altLang="zh-CN"/>
              <a:pPr>
                <a:defRPr/>
              </a:pPr>
              <a:t>‹#›</a:t>
            </a:fld>
            <a:endParaRPr lang="en-US" altLang="zh-CN"/>
          </a:p>
        </p:txBody>
      </p:sp>
    </p:spTree>
    <p:extLst>
      <p:ext uri="{BB962C8B-B14F-4D97-AF65-F5344CB8AC3E}">
        <p14:creationId xmlns:p14="http://schemas.microsoft.com/office/powerpoint/2010/main" val="201521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849194C-1F4A-730D-E793-FC80994486D3}"/>
              </a:ext>
            </a:extLst>
          </p:cNvPr>
          <p:cNvSpPr>
            <a:spLocks noGrp="1" noChangeArrowheads="1"/>
          </p:cNvSpPr>
          <p:nvPr>
            <p:ph type="sldNum" sz="quarter" idx="10"/>
          </p:nvPr>
        </p:nvSpPr>
        <p:spPr>
          <a:ln/>
        </p:spPr>
        <p:txBody>
          <a:bodyPr/>
          <a:lstStyle>
            <a:lvl1pPr>
              <a:defRPr/>
            </a:lvl1pPr>
          </a:lstStyle>
          <a:p>
            <a:pPr>
              <a:defRPr/>
            </a:pPr>
            <a:fld id="{77F0CCD4-7895-4EE8-92B4-5243F787D87F}" type="slidenum">
              <a:rPr lang="en-US" altLang="zh-CN"/>
              <a:pPr>
                <a:defRPr/>
              </a:pPr>
              <a:t>‹#›</a:t>
            </a:fld>
            <a:endParaRPr lang="en-US" altLang="zh-CN"/>
          </a:p>
        </p:txBody>
      </p:sp>
    </p:spTree>
    <p:extLst>
      <p:ext uri="{BB962C8B-B14F-4D97-AF65-F5344CB8AC3E}">
        <p14:creationId xmlns:p14="http://schemas.microsoft.com/office/powerpoint/2010/main" val="195264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E109F43E-5F99-015C-815D-A3B878135785}"/>
              </a:ext>
            </a:extLst>
          </p:cNvPr>
          <p:cNvSpPr>
            <a:spLocks noGrp="1" noChangeArrowheads="1"/>
          </p:cNvSpPr>
          <p:nvPr>
            <p:ph type="sldNum" sz="quarter" idx="10"/>
          </p:nvPr>
        </p:nvSpPr>
        <p:spPr>
          <a:ln/>
        </p:spPr>
        <p:txBody>
          <a:bodyPr/>
          <a:lstStyle>
            <a:lvl1pPr>
              <a:defRPr/>
            </a:lvl1pPr>
          </a:lstStyle>
          <a:p>
            <a:pPr>
              <a:defRPr/>
            </a:pPr>
            <a:fld id="{C6E757C7-61B9-4A19-91FD-F679C534609C}" type="slidenum">
              <a:rPr lang="en-US" altLang="zh-CN"/>
              <a:pPr>
                <a:defRPr/>
              </a:pPr>
              <a:t>‹#›</a:t>
            </a:fld>
            <a:endParaRPr lang="en-US" altLang="zh-CN"/>
          </a:p>
        </p:txBody>
      </p:sp>
    </p:spTree>
    <p:extLst>
      <p:ext uri="{BB962C8B-B14F-4D97-AF65-F5344CB8AC3E}">
        <p14:creationId xmlns:p14="http://schemas.microsoft.com/office/powerpoint/2010/main" val="1917470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30DE93FB-B19A-48C0-69F9-2747DE1C8ABC}"/>
              </a:ext>
            </a:extLst>
          </p:cNvPr>
          <p:cNvSpPr>
            <a:spLocks noGrp="1" noChangeArrowheads="1"/>
          </p:cNvSpPr>
          <p:nvPr>
            <p:ph type="sldNum" sz="quarter" idx="10"/>
          </p:nvPr>
        </p:nvSpPr>
        <p:spPr>
          <a:ln/>
        </p:spPr>
        <p:txBody>
          <a:bodyPr/>
          <a:lstStyle>
            <a:lvl1pPr>
              <a:defRPr/>
            </a:lvl1pPr>
          </a:lstStyle>
          <a:p>
            <a:pPr>
              <a:defRPr/>
            </a:pPr>
            <a:fld id="{3200D474-B56F-434B-A87C-C139DD1568AF}" type="slidenum">
              <a:rPr lang="en-US" altLang="zh-CN"/>
              <a:pPr>
                <a:defRPr/>
              </a:pPr>
              <a:t>‹#›</a:t>
            </a:fld>
            <a:endParaRPr lang="en-US" altLang="zh-CN"/>
          </a:p>
        </p:txBody>
      </p:sp>
    </p:spTree>
    <p:extLst>
      <p:ext uri="{BB962C8B-B14F-4D97-AF65-F5344CB8AC3E}">
        <p14:creationId xmlns:p14="http://schemas.microsoft.com/office/powerpoint/2010/main" val="1332275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0578A4FE-C11B-6E54-E02A-30EC706C475D}"/>
              </a:ext>
            </a:extLst>
          </p:cNvPr>
          <p:cNvSpPr>
            <a:spLocks noGrp="1" noChangeArrowheads="1"/>
          </p:cNvSpPr>
          <p:nvPr>
            <p:ph type="sldNum" sz="quarter" idx="10"/>
          </p:nvPr>
        </p:nvSpPr>
        <p:spPr>
          <a:ln/>
        </p:spPr>
        <p:txBody>
          <a:bodyPr/>
          <a:lstStyle>
            <a:lvl1pPr>
              <a:defRPr/>
            </a:lvl1pPr>
          </a:lstStyle>
          <a:p>
            <a:pPr>
              <a:defRPr/>
            </a:pPr>
            <a:fld id="{BDAB7B81-C599-43BB-88F1-6968BF8FAC23}" type="slidenum">
              <a:rPr lang="en-US" altLang="zh-CN"/>
              <a:pPr>
                <a:defRPr/>
              </a:pPr>
              <a:t>‹#›</a:t>
            </a:fld>
            <a:endParaRPr lang="en-US" altLang="zh-CN"/>
          </a:p>
        </p:txBody>
      </p:sp>
    </p:spTree>
    <p:extLst>
      <p:ext uri="{BB962C8B-B14F-4D97-AF65-F5344CB8AC3E}">
        <p14:creationId xmlns:p14="http://schemas.microsoft.com/office/powerpoint/2010/main" val="401328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00C406CE-093F-8F0D-98A0-EA7A3B22A3B2}"/>
              </a:ext>
            </a:extLst>
          </p:cNvPr>
          <p:cNvSpPr>
            <a:spLocks noGrp="1" noChangeArrowheads="1"/>
          </p:cNvSpPr>
          <p:nvPr>
            <p:ph type="sldNum" sz="quarter" idx="10"/>
          </p:nvPr>
        </p:nvSpPr>
        <p:spPr>
          <a:ln/>
        </p:spPr>
        <p:txBody>
          <a:bodyPr/>
          <a:lstStyle>
            <a:lvl1pPr>
              <a:defRPr/>
            </a:lvl1pPr>
          </a:lstStyle>
          <a:p>
            <a:pPr>
              <a:defRPr/>
            </a:pPr>
            <a:fld id="{29A871E6-B6C1-4EC3-BB19-CE3C5BDF701E}" type="slidenum">
              <a:rPr lang="en-US" altLang="zh-CN"/>
              <a:pPr>
                <a:defRPr/>
              </a:pPr>
              <a:t>‹#›</a:t>
            </a:fld>
            <a:endParaRPr lang="en-US" altLang="zh-CN"/>
          </a:p>
        </p:txBody>
      </p:sp>
    </p:spTree>
    <p:extLst>
      <p:ext uri="{BB962C8B-B14F-4D97-AF65-F5344CB8AC3E}">
        <p14:creationId xmlns:p14="http://schemas.microsoft.com/office/powerpoint/2010/main" val="42511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1">
            <a:extLst>
              <a:ext uri="{FF2B5EF4-FFF2-40B4-BE49-F238E27FC236}">
                <a16:creationId xmlns:a16="http://schemas.microsoft.com/office/drawing/2014/main" id="{969F7DFA-6542-41CC-7F36-D018FF1229A0}"/>
              </a:ext>
            </a:extLst>
          </p:cNvPr>
          <p:cNvSpPr>
            <a:spLocks noGrp="1" noChangeArrowheads="1"/>
          </p:cNvSpPr>
          <p:nvPr>
            <p:ph type="sldNum" sz="quarter" idx="10"/>
          </p:nvPr>
        </p:nvSpPr>
        <p:spPr>
          <a:ln/>
        </p:spPr>
        <p:txBody>
          <a:bodyPr/>
          <a:lstStyle>
            <a:lvl1pPr>
              <a:defRPr/>
            </a:lvl1pPr>
          </a:lstStyle>
          <a:p>
            <a:pPr>
              <a:defRPr/>
            </a:pPr>
            <a:fld id="{2E4D8BE1-91A0-440B-A753-AF302F76E10E}" type="slidenum">
              <a:rPr lang="en-US" altLang="zh-CN"/>
              <a:pPr>
                <a:defRPr/>
              </a:pPr>
              <a:t>‹#›</a:t>
            </a:fld>
            <a:endParaRPr lang="en-US" altLang="zh-CN"/>
          </a:p>
        </p:txBody>
      </p:sp>
    </p:spTree>
    <p:extLst>
      <p:ext uri="{BB962C8B-B14F-4D97-AF65-F5344CB8AC3E}">
        <p14:creationId xmlns:p14="http://schemas.microsoft.com/office/powerpoint/2010/main" val="3324204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38543;&#26426;&#28857;&#21517;&#21161;&#25163;.exe"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574467" name="Rectangle 3">
            <a:extLst>
              <a:ext uri="{FF2B5EF4-FFF2-40B4-BE49-F238E27FC236}">
                <a16:creationId xmlns:a16="http://schemas.microsoft.com/office/drawing/2014/main" id="{4138D9DC-E6B5-7FDA-B2DC-72B1E3F8FBC3}"/>
              </a:ext>
            </a:extLst>
          </p:cNvPr>
          <p:cNvSpPr>
            <a:spLocks noChangeArrowheads="1"/>
          </p:cNvSpPr>
          <p:nvPr userDrawn="1"/>
        </p:nvSpPr>
        <p:spPr bwMode="auto">
          <a:xfrm>
            <a:off x="0" y="404813"/>
            <a:ext cx="9144000" cy="6119812"/>
          </a:xfrm>
          <a:prstGeom prst="rect">
            <a:avLst/>
          </a:prstGeom>
          <a:gradFill rotWithShape="0">
            <a:gsLst>
              <a:gs pos="0">
                <a:srgbClr val="0000E8"/>
              </a:gs>
              <a:gs pos="100000">
                <a:srgbClr val="0000E8">
                  <a:gamma/>
                  <a:shade val="70196"/>
                  <a:invGamma/>
                </a:srgbClr>
              </a:gs>
            </a:gsLst>
            <a:lin ang="0" scaled="1"/>
          </a:gradFill>
          <a:ln>
            <a:noFill/>
          </a:ln>
          <a:effectLst/>
        </p:spPr>
        <p:txBody>
          <a:bodyPr wrap="none" anchor="ct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endParaRPr lang="zh-CN" altLang="zh-CN" sz="2800">
              <a:solidFill>
                <a:schemeClr val="bg1"/>
              </a:solidFill>
              <a:effectLst>
                <a:outerShdw blurRad="38100" dist="38100" dir="2700000" algn="tl">
                  <a:srgbClr val="000000"/>
                </a:outerShdw>
              </a:effectLst>
            </a:endParaRPr>
          </a:p>
        </p:txBody>
      </p:sp>
      <p:sp>
        <p:nvSpPr>
          <p:cNvPr id="574469" name="Rectangle 5">
            <a:extLst>
              <a:ext uri="{FF2B5EF4-FFF2-40B4-BE49-F238E27FC236}">
                <a16:creationId xmlns:a16="http://schemas.microsoft.com/office/drawing/2014/main" id="{216E290E-C66E-3F36-F686-7306BB61F16F}"/>
              </a:ext>
            </a:extLst>
          </p:cNvPr>
          <p:cNvSpPr>
            <a:spLocks noChangeArrowheads="1"/>
          </p:cNvSpPr>
          <p:nvPr/>
        </p:nvSpPr>
        <p:spPr bwMode="auto">
          <a:xfrm>
            <a:off x="2124075" y="44450"/>
            <a:ext cx="5903913" cy="350838"/>
          </a:xfrm>
          <a:prstGeom prst="rect">
            <a:avLst/>
          </a:prstGeom>
          <a:noFill/>
          <a:ln>
            <a:noFill/>
          </a:ln>
          <a:effectLst/>
        </p:spPr>
        <p:txBody>
          <a:bodyPr/>
          <a:lstStyle/>
          <a:p>
            <a:pPr algn="ctr" eaLnBrk="1" hangingPunct="1">
              <a:lnSpc>
                <a:spcPct val="60000"/>
              </a:lnSpc>
              <a:defRPr/>
            </a:pPr>
            <a:r>
              <a:rPr lang="zh-CN" altLang="en-US">
                <a:solidFill>
                  <a:schemeClr val="bg1"/>
                </a:solidFill>
                <a:latin typeface="隶书" panose="02010509060101010101" pitchFamily="49" charset="-122"/>
                <a:ea typeface="隶书" panose="02010509060101010101" pitchFamily="49" charset="-122"/>
              </a:rPr>
              <a:t>第</a:t>
            </a:r>
            <a:r>
              <a:rPr lang="en-US" altLang="zh-CN">
                <a:solidFill>
                  <a:schemeClr val="bg1"/>
                </a:solidFill>
                <a:latin typeface="隶书" panose="02010509060101010101" pitchFamily="49" charset="-122"/>
                <a:ea typeface="隶书" panose="02010509060101010101" pitchFamily="49" charset="-122"/>
              </a:rPr>
              <a:t>3</a:t>
            </a:r>
            <a:r>
              <a:rPr lang="zh-CN" altLang="en-US">
                <a:solidFill>
                  <a:schemeClr val="bg1"/>
                </a:solidFill>
                <a:latin typeface="隶书" panose="02010509060101010101" pitchFamily="49" charset="-122"/>
                <a:ea typeface="隶书" panose="02010509060101010101" pitchFamily="49" charset="-122"/>
              </a:rPr>
              <a:t>章 </a:t>
            </a:r>
            <a:r>
              <a:rPr lang="zh-CN" altLang="en-US">
                <a:solidFill>
                  <a:schemeClr val="bg1"/>
                </a:solidFill>
                <a:effectLst>
                  <a:outerShdw blurRad="38100" dist="38100" dir="2700000" algn="tl">
                    <a:srgbClr val="000000"/>
                  </a:outerShdw>
                </a:effectLst>
                <a:latin typeface="隶书" panose="02010509060101010101" pitchFamily="49" charset="-122"/>
                <a:ea typeface="隶书" panose="02010509060101010101" pitchFamily="49" charset="-122"/>
              </a:rPr>
              <a:t>静态电磁场及其边值问题的解</a:t>
            </a:r>
          </a:p>
        </p:txBody>
      </p:sp>
      <p:sp>
        <p:nvSpPr>
          <p:cNvPr id="1028" name="Rectangle 6">
            <a:extLst>
              <a:ext uri="{FF2B5EF4-FFF2-40B4-BE49-F238E27FC236}">
                <a16:creationId xmlns:a16="http://schemas.microsoft.com/office/drawing/2014/main" id="{2B4ADFB1-22A4-18EC-0189-AEEC052087A5}"/>
              </a:ext>
            </a:extLst>
          </p:cNvPr>
          <p:cNvSpPr>
            <a:spLocks noChangeArrowheads="1"/>
          </p:cNvSpPr>
          <p:nvPr userDrawn="1"/>
        </p:nvSpPr>
        <p:spPr bwMode="auto">
          <a:xfrm>
            <a:off x="107950" y="44450"/>
            <a:ext cx="2089150" cy="360363"/>
          </a:xfrm>
          <a:prstGeom prst="rect">
            <a:avLst/>
          </a:prstGeom>
          <a:noFill/>
          <a:ln>
            <a:noFill/>
          </a:ln>
          <a:effectLst/>
        </p:spPr>
        <p:txBody>
          <a:bodyPr tIns="10800"/>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defRPr/>
            </a:pPr>
            <a:r>
              <a:rPr lang="zh-CN" altLang="en-US" sz="2000" b="1">
                <a:solidFill>
                  <a:srgbClr val="573CFC"/>
                </a:solidFill>
                <a:ea typeface="华文行楷" panose="02010800040101010101" pitchFamily="2" charset="-122"/>
              </a:rPr>
              <a:t>电磁场与电磁波</a:t>
            </a:r>
          </a:p>
        </p:txBody>
      </p:sp>
      <p:sp>
        <p:nvSpPr>
          <p:cNvPr id="1029" name="Rectangle 10" descr="深色横线">
            <a:extLst>
              <a:ext uri="{FF2B5EF4-FFF2-40B4-BE49-F238E27FC236}">
                <a16:creationId xmlns:a16="http://schemas.microsoft.com/office/drawing/2014/main" id="{C0427B4E-89AD-C820-F24E-6D9A13C6889F}"/>
              </a:ext>
            </a:extLst>
          </p:cNvPr>
          <p:cNvSpPr>
            <a:spLocks noChangeArrowheads="1"/>
          </p:cNvSpPr>
          <p:nvPr userDrawn="1"/>
        </p:nvSpPr>
        <p:spPr bwMode="auto">
          <a:xfrm>
            <a:off x="0" y="333375"/>
            <a:ext cx="9144000" cy="71438"/>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574475" name="Rectangle 11">
            <a:extLst>
              <a:ext uri="{FF2B5EF4-FFF2-40B4-BE49-F238E27FC236}">
                <a16:creationId xmlns:a16="http://schemas.microsoft.com/office/drawing/2014/main" id="{437B4469-E526-F649-6886-7FCB17B61BB3}"/>
              </a:ext>
            </a:extLst>
          </p:cNvPr>
          <p:cNvSpPr>
            <a:spLocks noGrp="1" noChangeArrowheads="1"/>
          </p:cNvSpPr>
          <p:nvPr>
            <p:ph type="sldNum" sz="quarter" idx="4"/>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ea typeface="宋体" panose="02010600030101010101" pitchFamily="2" charset="-122"/>
              </a:defRPr>
            </a:lvl1pPr>
          </a:lstStyle>
          <a:p>
            <a:pPr>
              <a:defRPr/>
            </a:pPr>
            <a:fld id="{FB22C175-EF0C-4123-AD36-CE8FACE894BF}" type="slidenum">
              <a:rPr lang="en-US" altLang="zh-CN"/>
              <a:pPr>
                <a:defRPr/>
              </a:pPr>
              <a:t>‹#›</a:t>
            </a:fld>
            <a:endParaRPr lang="en-US" altLang="zh-CN"/>
          </a:p>
        </p:txBody>
      </p:sp>
      <p:sp>
        <p:nvSpPr>
          <p:cNvPr id="1031" name="Rectangle 17" descr="栎木">
            <a:extLst>
              <a:ext uri="{FF2B5EF4-FFF2-40B4-BE49-F238E27FC236}">
                <a16:creationId xmlns:a16="http://schemas.microsoft.com/office/drawing/2014/main" id="{59227D0D-B340-556D-D0E1-90097736E4B9}"/>
              </a:ext>
            </a:extLst>
          </p:cNvPr>
          <p:cNvSpPr>
            <a:spLocks noChangeArrowheads="1"/>
          </p:cNvSpPr>
          <p:nvPr userDrawn="1"/>
        </p:nvSpPr>
        <p:spPr bwMode="auto">
          <a:xfrm>
            <a:off x="0" y="6562725"/>
            <a:ext cx="9144000" cy="333375"/>
          </a:xfrm>
          <a:prstGeom prst="rect">
            <a:avLst/>
          </a:prstGeom>
          <a:blipFill dpi="0" rotWithShape="0">
            <a:blip r:embed="rId14"/>
            <a:srcRect/>
            <a:tile tx="0" ty="0" sx="100000" sy="100000" flip="none" algn="tl"/>
          </a:blip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pic>
        <p:nvPicPr>
          <p:cNvPr id="1032" name="Picture 25" descr="听诊器">
            <a:hlinkClick r:id="rId15" action="ppaction://hlinkfile"/>
            <a:extLst>
              <a:ext uri="{FF2B5EF4-FFF2-40B4-BE49-F238E27FC236}">
                <a16:creationId xmlns:a16="http://schemas.microsoft.com/office/drawing/2014/main" id="{94FDC711-1DF3-E3F6-6827-45B1C7D2F806}"/>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36000" y="5862638"/>
            <a:ext cx="50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8.emf"/><Relationship Id="rId17" Type="http://schemas.openxmlformats.org/officeDocument/2006/relationships/slide" Target="slide1.xml"/><Relationship Id="rId2" Type="http://schemas.openxmlformats.org/officeDocument/2006/relationships/notesSlide" Target="../notesSlides/notesSlide2.xml"/><Relationship Id="rId16" Type="http://schemas.openxmlformats.org/officeDocument/2006/relationships/image" Target="../media/image10.emf"/><Relationship Id="rId1" Type="http://schemas.openxmlformats.org/officeDocument/2006/relationships/slideLayout" Target="../slideLayouts/slideLayout6.xml"/><Relationship Id="rId6" Type="http://schemas.openxmlformats.org/officeDocument/2006/relationships/image" Target="../media/image5.e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oleObject" Target="../embeddings/oleObject8.bin"/><Relationship Id="rId10" Type="http://schemas.openxmlformats.org/officeDocument/2006/relationships/image" Target="../media/image7.emf"/><Relationship Id="rId4" Type="http://schemas.openxmlformats.org/officeDocument/2006/relationships/image" Target="../media/image4.emf"/><Relationship Id="rId9" Type="http://schemas.openxmlformats.org/officeDocument/2006/relationships/oleObject" Target="../embeddings/oleObject5.bin"/><Relationship Id="rId14" Type="http://schemas.openxmlformats.org/officeDocument/2006/relationships/image" Target="../media/image9.e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6.emf"/><Relationship Id="rId3" Type="http://schemas.openxmlformats.org/officeDocument/2006/relationships/image" Target="../media/image11.png"/><Relationship Id="rId7" Type="http://schemas.openxmlformats.org/officeDocument/2006/relationships/image" Target="../media/image13.emf"/><Relationship Id="rId12" Type="http://schemas.openxmlformats.org/officeDocument/2006/relationships/oleObject" Target="../embeddings/oleObject13.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oleObject" Target="../embeddings/oleObject10.bin"/><Relationship Id="rId11" Type="http://schemas.openxmlformats.org/officeDocument/2006/relationships/image" Target="../media/image15.emf"/><Relationship Id="rId5" Type="http://schemas.openxmlformats.org/officeDocument/2006/relationships/image" Target="../media/image12.e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4.emf"/><Relationship Id="rId1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oleObject" Target="../embeddings/oleObject18.bin"/><Relationship Id="rId3" Type="http://schemas.openxmlformats.org/officeDocument/2006/relationships/oleObject" Target="../embeddings/oleObject14.bin"/><Relationship Id="rId7" Type="http://schemas.openxmlformats.org/officeDocument/2006/relationships/slide" Target="slide1.xml"/><Relationship Id="rId12" Type="http://schemas.openxmlformats.org/officeDocument/2006/relationships/image" Target="../media/image20.e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emf"/><Relationship Id="rId11" Type="http://schemas.openxmlformats.org/officeDocument/2006/relationships/oleObject" Target="../embeddings/oleObject17.bin"/><Relationship Id="rId5" Type="http://schemas.openxmlformats.org/officeDocument/2006/relationships/oleObject" Target="../embeddings/oleObject15.bin"/><Relationship Id="rId10" Type="http://schemas.openxmlformats.org/officeDocument/2006/relationships/image" Target="../media/image19.emf"/><Relationship Id="rId4" Type="http://schemas.openxmlformats.org/officeDocument/2006/relationships/image" Target="../media/image17.emf"/><Relationship Id="rId9" Type="http://schemas.openxmlformats.org/officeDocument/2006/relationships/oleObject" Target="../embeddings/oleObject16.bin"/><Relationship Id="rId14" Type="http://schemas.openxmlformats.org/officeDocument/2006/relationships/image" Target="../media/image21.emf"/></Relationships>
</file>

<file path=ppt/slides/_rels/slide5.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oleObject" Target="../embeddings/oleObject23.bin"/><Relationship Id="rId3" Type="http://schemas.openxmlformats.org/officeDocument/2006/relationships/slide" Target="slide3.xml"/><Relationship Id="rId7" Type="http://schemas.openxmlformats.org/officeDocument/2006/relationships/oleObject" Target="../embeddings/oleObject20.bin"/><Relationship Id="rId12" Type="http://schemas.openxmlformats.org/officeDocument/2006/relationships/image" Target="../media/image25.emf"/><Relationship Id="rId2" Type="http://schemas.openxmlformats.org/officeDocument/2006/relationships/notesSlide" Target="../notesSlides/notesSlide5.xml"/><Relationship Id="rId16" Type="http://schemas.openxmlformats.org/officeDocument/2006/relationships/image" Target="../media/image27.emf"/><Relationship Id="rId1" Type="http://schemas.openxmlformats.org/officeDocument/2006/relationships/slideLayout" Target="../slideLayouts/slideLayout12.xml"/><Relationship Id="rId6" Type="http://schemas.openxmlformats.org/officeDocument/2006/relationships/image" Target="../media/image22.e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24.emf"/><Relationship Id="rId4" Type="http://schemas.openxmlformats.org/officeDocument/2006/relationships/image" Target="../media/image11.png"/><Relationship Id="rId9" Type="http://schemas.openxmlformats.org/officeDocument/2006/relationships/oleObject" Target="../embeddings/oleObject21.bin"/><Relationship Id="rId14" Type="http://schemas.openxmlformats.org/officeDocument/2006/relationships/image" Target="../media/image26.e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2.emf"/><Relationship Id="rId18" Type="http://schemas.openxmlformats.org/officeDocument/2006/relationships/slide" Target="slide1.xml"/><Relationship Id="rId3" Type="http://schemas.openxmlformats.org/officeDocument/2006/relationships/image" Target="../media/image11.png"/><Relationship Id="rId21" Type="http://schemas.openxmlformats.org/officeDocument/2006/relationships/oleObject" Target="../embeddings/oleObject33.bin"/><Relationship Id="rId7" Type="http://schemas.openxmlformats.org/officeDocument/2006/relationships/image" Target="../media/image29.emf"/><Relationship Id="rId12" Type="http://schemas.openxmlformats.org/officeDocument/2006/relationships/oleObject" Target="../embeddings/oleObject29.bin"/><Relationship Id="rId17" Type="http://schemas.openxmlformats.org/officeDocument/2006/relationships/image" Target="../media/image34.emf"/><Relationship Id="rId2" Type="http://schemas.openxmlformats.org/officeDocument/2006/relationships/notesSlide" Target="../notesSlides/notesSlide6.xml"/><Relationship Id="rId16" Type="http://schemas.openxmlformats.org/officeDocument/2006/relationships/oleObject" Target="../embeddings/oleObject31.bin"/><Relationship Id="rId20" Type="http://schemas.openxmlformats.org/officeDocument/2006/relationships/image" Target="../media/image35.emf"/><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31.emf"/><Relationship Id="rId5" Type="http://schemas.openxmlformats.org/officeDocument/2006/relationships/image" Target="../media/image28.emf"/><Relationship Id="rId15" Type="http://schemas.openxmlformats.org/officeDocument/2006/relationships/image" Target="../media/image33.emf"/><Relationship Id="rId10" Type="http://schemas.openxmlformats.org/officeDocument/2006/relationships/oleObject" Target="../embeddings/oleObject28.bin"/><Relationship Id="rId19" Type="http://schemas.openxmlformats.org/officeDocument/2006/relationships/oleObject" Target="../embeddings/oleObject32.bin"/><Relationship Id="rId4" Type="http://schemas.openxmlformats.org/officeDocument/2006/relationships/oleObject" Target="../embeddings/oleObject25.bin"/><Relationship Id="rId9" Type="http://schemas.openxmlformats.org/officeDocument/2006/relationships/image" Target="../media/image30.emf"/><Relationship Id="rId14" Type="http://schemas.openxmlformats.org/officeDocument/2006/relationships/oleObject" Target="../embeddings/oleObject30.bin"/><Relationship Id="rId22" Type="http://schemas.openxmlformats.org/officeDocument/2006/relationships/image" Target="../media/image36.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1.emf"/><Relationship Id="rId18" Type="http://schemas.openxmlformats.org/officeDocument/2006/relationships/oleObject" Target="../embeddings/oleObject41.bin"/><Relationship Id="rId3" Type="http://schemas.openxmlformats.org/officeDocument/2006/relationships/image" Target="../media/image11.png"/><Relationship Id="rId21" Type="http://schemas.openxmlformats.org/officeDocument/2006/relationships/image" Target="../media/image45.emf"/><Relationship Id="rId7" Type="http://schemas.openxmlformats.org/officeDocument/2006/relationships/image" Target="../media/image38.emf"/><Relationship Id="rId12" Type="http://schemas.openxmlformats.org/officeDocument/2006/relationships/oleObject" Target="../embeddings/oleObject38.bin"/><Relationship Id="rId17" Type="http://schemas.openxmlformats.org/officeDocument/2006/relationships/image" Target="../media/image43.emf"/><Relationship Id="rId25" Type="http://schemas.openxmlformats.org/officeDocument/2006/relationships/image" Target="../media/image47.png"/><Relationship Id="rId2" Type="http://schemas.openxmlformats.org/officeDocument/2006/relationships/notesSlide" Target="../notesSlides/notesSlide7.xml"/><Relationship Id="rId16" Type="http://schemas.openxmlformats.org/officeDocument/2006/relationships/oleObject" Target="../embeddings/oleObject40.bin"/><Relationship Id="rId20"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35.bin"/><Relationship Id="rId11" Type="http://schemas.openxmlformats.org/officeDocument/2006/relationships/image" Target="../media/image40.emf"/><Relationship Id="rId24" Type="http://schemas.openxmlformats.org/officeDocument/2006/relationships/slide" Target="slide1.xml"/><Relationship Id="rId5" Type="http://schemas.openxmlformats.org/officeDocument/2006/relationships/image" Target="../media/image37.emf"/><Relationship Id="rId15" Type="http://schemas.openxmlformats.org/officeDocument/2006/relationships/image" Target="../media/image42.emf"/><Relationship Id="rId23" Type="http://schemas.openxmlformats.org/officeDocument/2006/relationships/image" Target="../media/image46.emf"/><Relationship Id="rId10" Type="http://schemas.openxmlformats.org/officeDocument/2006/relationships/oleObject" Target="../embeddings/oleObject37.bin"/><Relationship Id="rId19" Type="http://schemas.openxmlformats.org/officeDocument/2006/relationships/image" Target="../media/image44.emf"/><Relationship Id="rId4" Type="http://schemas.openxmlformats.org/officeDocument/2006/relationships/oleObject" Target="../embeddings/oleObject34.bin"/><Relationship Id="rId9" Type="http://schemas.openxmlformats.org/officeDocument/2006/relationships/image" Target="../media/image39.emf"/><Relationship Id="rId14" Type="http://schemas.openxmlformats.org/officeDocument/2006/relationships/oleObject" Target="../embeddings/oleObject39.bin"/><Relationship Id="rId22" Type="http://schemas.openxmlformats.org/officeDocument/2006/relationships/oleObject" Target="../embeddings/oleObject43.bin"/></Relationships>
</file>

<file path=ppt/slides/_rels/slide8.xml.rels><?xml version="1.0" encoding="UTF-8" standalone="yes"?>
<Relationships xmlns="http://schemas.openxmlformats.org/package/2006/relationships"><Relationship Id="rId8" Type="http://schemas.openxmlformats.org/officeDocument/2006/relationships/slide" Target="slide1.xml"/><Relationship Id="rId13" Type="http://schemas.openxmlformats.org/officeDocument/2006/relationships/oleObject" Target="../embeddings/oleObject48.bin"/><Relationship Id="rId3" Type="http://schemas.openxmlformats.org/officeDocument/2006/relationships/image" Target="../media/image11.png"/><Relationship Id="rId7" Type="http://schemas.openxmlformats.org/officeDocument/2006/relationships/image" Target="../media/image49.emf"/><Relationship Id="rId12" Type="http://schemas.openxmlformats.org/officeDocument/2006/relationships/image" Target="../media/image51.e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oleObject" Target="../embeddings/oleObject47.bin"/><Relationship Id="rId5" Type="http://schemas.openxmlformats.org/officeDocument/2006/relationships/image" Target="../media/image48.emf"/><Relationship Id="rId10" Type="http://schemas.openxmlformats.org/officeDocument/2006/relationships/image" Target="../media/image50.emf"/><Relationship Id="rId4" Type="http://schemas.openxmlformats.org/officeDocument/2006/relationships/oleObject" Target="../embeddings/oleObject44.bin"/><Relationship Id="rId9" Type="http://schemas.openxmlformats.org/officeDocument/2006/relationships/oleObject" Target="../embeddings/oleObject46.bin"/><Relationship Id="rId14" Type="http://schemas.openxmlformats.org/officeDocument/2006/relationships/image" Target="../media/image52.emf"/></Relationships>
</file>

<file path=ppt/slides/_rels/slide9.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53.png"/><Relationship Id="rId7" Type="http://schemas.openxmlformats.org/officeDocument/2006/relationships/image" Target="../media/image55.emf"/><Relationship Id="rId12" Type="http://schemas.openxmlformats.org/officeDocument/2006/relationships/image" Target="../media/image57.emf"/><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oleObject" Target="../embeddings/oleObject50.bin"/><Relationship Id="rId11" Type="http://schemas.openxmlformats.org/officeDocument/2006/relationships/oleObject" Target="../embeddings/oleObject52.bin"/><Relationship Id="rId5" Type="http://schemas.openxmlformats.org/officeDocument/2006/relationships/image" Target="../media/image54.emf"/><Relationship Id="rId10" Type="http://schemas.openxmlformats.org/officeDocument/2006/relationships/image" Target="../media/image56.emf"/><Relationship Id="rId4" Type="http://schemas.openxmlformats.org/officeDocument/2006/relationships/oleObject" Target="../embeddings/oleObject49.bin"/><Relationship Id="rId9" Type="http://schemas.openxmlformats.org/officeDocument/2006/relationships/oleObject" Target="../embeddings/oleObject51.bin"/></Relationships>
</file>

<file path=ppt/slides/_rels/slide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2">
            <a:extLst>
              <a:ext uri="{FF2B5EF4-FFF2-40B4-BE49-F238E27FC236}">
                <a16:creationId xmlns:a16="http://schemas.microsoft.com/office/drawing/2014/main" id="{A2468499-24F4-60AB-2633-B3485A77639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728FA34-C275-433F-973A-FAF19AEB3413}" type="slidenum">
              <a:rPr lang="en-US" altLang="zh-CN" sz="1400">
                <a:ea typeface="宋体" panose="02010600030101010101" pitchFamily="2" charset="-122"/>
              </a:rPr>
              <a:pPr/>
              <a:t>1</a:t>
            </a:fld>
            <a:endParaRPr lang="en-US" altLang="zh-CN" sz="1400">
              <a:ea typeface="宋体" panose="02010600030101010101" pitchFamily="2" charset="-122"/>
            </a:endParaRPr>
          </a:p>
        </p:txBody>
      </p:sp>
      <p:sp>
        <p:nvSpPr>
          <p:cNvPr id="67587" name="Rectangle 2">
            <a:extLst>
              <a:ext uri="{FF2B5EF4-FFF2-40B4-BE49-F238E27FC236}">
                <a16:creationId xmlns:a16="http://schemas.microsoft.com/office/drawing/2014/main" id="{F4DC2FF0-F11F-6275-B09B-6DD49F237A6C}"/>
              </a:ext>
            </a:extLst>
          </p:cNvPr>
          <p:cNvSpPr>
            <a:spLocks noChangeArrowheads="1"/>
          </p:cNvSpPr>
          <p:nvPr/>
        </p:nvSpPr>
        <p:spPr bwMode="auto">
          <a:xfrm>
            <a:off x="611188" y="1844675"/>
            <a:ext cx="8064500" cy="33337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40000"/>
              </a:lnSpc>
              <a:buFont typeface="Wingdings" panose="05000000000000000000" pitchFamily="2" charset="2"/>
              <a:buNone/>
            </a:pPr>
            <a:r>
              <a:rPr lang="zh-CN" altLang="en-US" sz="2800" b="1" dirty="0">
                <a:solidFill>
                  <a:srgbClr val="990000"/>
                </a:solidFill>
                <a:ea typeface="隶书" panose="02010509060101010101" pitchFamily="49" charset="-122"/>
              </a:rPr>
              <a:t>本节内容</a:t>
            </a:r>
          </a:p>
          <a:p>
            <a:pPr algn="ctr" eaLnBrk="1" hangingPunct="1">
              <a:lnSpc>
                <a:spcPct val="140000"/>
              </a:lnSpc>
              <a:buFont typeface="Wingdings" panose="05000000000000000000" pitchFamily="2" charset="2"/>
              <a:buNone/>
            </a:pPr>
            <a:endParaRPr kumimoji="1" lang="zh-CN" altLang="en-US" sz="2800" b="1" dirty="0">
              <a:latin typeface="Times New Roman" panose="02020603050405020304" pitchFamily="18" charset="0"/>
              <a:ea typeface="隶书" panose="02010509060101010101" pitchFamily="49" charset="-122"/>
            </a:endParaRPr>
          </a:p>
          <a:p>
            <a:pPr eaLnBrk="1" hangingPunct="1">
              <a:lnSpc>
                <a:spcPct val="140000"/>
              </a:lnSpc>
              <a:buFont typeface="Wingdings" panose="05000000000000000000" pitchFamily="2" charset="2"/>
              <a:buNone/>
            </a:pPr>
            <a:r>
              <a:rPr kumimoji="1" lang="zh-CN" altLang="en-US" b="1" dirty="0">
                <a:latin typeface="Times New Roman" panose="02020603050405020304" pitchFamily="18" charset="0"/>
              </a:rPr>
              <a:t>   </a:t>
            </a:r>
            <a:r>
              <a:rPr kumimoji="1" lang="en-US" altLang="zh-CN" b="1" dirty="0">
                <a:solidFill>
                  <a:schemeClr val="bg1"/>
                </a:solidFill>
                <a:latin typeface="Times New Roman" panose="02020603050405020304" pitchFamily="18" charset="0"/>
              </a:rPr>
              <a:t>3.3.1     </a:t>
            </a:r>
            <a:r>
              <a:rPr kumimoji="1" lang="zh-CN" altLang="en-US" b="1" dirty="0">
                <a:solidFill>
                  <a:schemeClr val="bg1"/>
                </a:solidFill>
                <a:latin typeface="Times New Roman" panose="02020603050405020304" pitchFamily="18" charset="0"/>
                <a:hlinkClick r:id="rId3" action="ppaction://hlinksldjump"/>
              </a:rPr>
              <a:t>恒定磁场的基本方程和边界条件</a:t>
            </a:r>
            <a:r>
              <a:rPr kumimoji="1" lang="zh-CN" altLang="en-US" b="1" u="sng" dirty="0">
                <a:solidFill>
                  <a:schemeClr val="bg1"/>
                </a:solidFill>
                <a:hlinkClick r:id="rId3" action="ppaction://hlinksldjump"/>
              </a:rPr>
              <a:t>（场函数的角度）</a:t>
            </a:r>
            <a:endParaRPr lang="zh-CN" altLang="en-US" b="1" u="sng" dirty="0">
              <a:solidFill>
                <a:schemeClr val="bg1"/>
              </a:solidFill>
              <a:latin typeface="Times New Roman" panose="02020603050405020304" pitchFamily="18" charset="0"/>
            </a:endParaRPr>
          </a:p>
          <a:p>
            <a:pPr eaLnBrk="1" hangingPunct="1">
              <a:lnSpc>
                <a:spcPct val="140000"/>
              </a:lnSpc>
              <a:buFont typeface="Wingdings" panose="05000000000000000000" pitchFamily="2" charset="2"/>
              <a:buNone/>
            </a:pPr>
            <a:r>
              <a:rPr lang="zh-CN" altLang="en-US" b="1" dirty="0">
                <a:solidFill>
                  <a:schemeClr val="bg1"/>
                </a:solidFill>
                <a:latin typeface="Times New Roman" panose="02020603050405020304" pitchFamily="18" charset="0"/>
              </a:rPr>
              <a:t>   </a:t>
            </a:r>
            <a:r>
              <a:rPr lang="en-US" altLang="zh-CN" b="1" dirty="0">
                <a:solidFill>
                  <a:schemeClr val="bg1"/>
                </a:solidFill>
                <a:latin typeface="Times New Roman" panose="02020603050405020304" pitchFamily="18" charset="0"/>
              </a:rPr>
              <a:t>3.3.2</a:t>
            </a:r>
            <a:r>
              <a:rPr lang="en-US" altLang="zh-CN" b="1" dirty="0">
                <a:solidFill>
                  <a:schemeClr val="bg1"/>
                </a:solidFill>
              </a:rPr>
              <a:t>    </a:t>
            </a:r>
            <a:r>
              <a:rPr kumimoji="1" lang="zh-CN" altLang="en-US" b="1" dirty="0">
                <a:solidFill>
                  <a:schemeClr val="bg1"/>
                </a:solidFill>
                <a:hlinkClick r:id="rId4" action="ppaction://hlinksldjump"/>
              </a:rPr>
              <a:t>恒定磁场的</a:t>
            </a:r>
            <a:r>
              <a:rPr kumimoji="1" lang="zh-CN" altLang="en-US" b="1" i="1" dirty="0">
                <a:solidFill>
                  <a:schemeClr val="bg1"/>
                </a:solidFill>
                <a:hlinkClick r:id="rId4" action="ppaction://hlinksldjump"/>
              </a:rPr>
              <a:t>矢量磁位</a:t>
            </a:r>
            <a:r>
              <a:rPr kumimoji="1" lang="zh-CN" altLang="en-US" b="1" dirty="0">
                <a:solidFill>
                  <a:schemeClr val="bg1"/>
                </a:solidFill>
                <a:hlinkClick r:id="rId4" action="ppaction://hlinksldjump"/>
              </a:rPr>
              <a:t>和</a:t>
            </a:r>
            <a:r>
              <a:rPr kumimoji="1" lang="zh-CN" altLang="en-US" b="1" i="1" dirty="0">
                <a:solidFill>
                  <a:schemeClr val="bg1"/>
                </a:solidFill>
                <a:hlinkClick r:id="rId4" action="ppaction://hlinksldjump"/>
              </a:rPr>
              <a:t>标量磁位</a:t>
            </a:r>
            <a:r>
              <a:rPr kumimoji="1" lang="zh-CN" altLang="en-US" b="1" u="sng" dirty="0">
                <a:solidFill>
                  <a:schemeClr val="bg1"/>
                </a:solidFill>
                <a:hlinkClick r:id="rId3" action="ppaction://hlinksldjump"/>
              </a:rPr>
              <a:t>（位函数</a:t>
            </a:r>
            <a:r>
              <a:rPr kumimoji="1" lang="zh-CN" altLang="en-US" b="1" dirty="0">
                <a:solidFill>
                  <a:schemeClr val="bg1"/>
                </a:solidFill>
                <a:hlinkClick r:id="rId3" action="ppaction://hlinksldjump"/>
              </a:rPr>
              <a:t>的角度）</a:t>
            </a:r>
            <a:endParaRPr lang="zh-CN" altLang="en-US" b="1" i="1" dirty="0">
              <a:solidFill>
                <a:schemeClr val="bg1"/>
              </a:solidFill>
              <a:latin typeface="楷体_GB2312" pitchFamily="49" charset="-122"/>
            </a:endParaRPr>
          </a:p>
          <a:p>
            <a:pPr eaLnBrk="1" hangingPunct="1">
              <a:lnSpc>
                <a:spcPct val="140000"/>
              </a:lnSpc>
              <a:buFont typeface="Wingdings" panose="05000000000000000000" pitchFamily="2" charset="2"/>
              <a:buNone/>
            </a:pPr>
            <a:r>
              <a:rPr kumimoji="1" lang="zh-CN" altLang="en-US" b="1" dirty="0">
                <a:solidFill>
                  <a:schemeClr val="bg1"/>
                </a:solidFill>
                <a:latin typeface="Times New Roman" panose="02020603050405020304" pitchFamily="18" charset="0"/>
              </a:rPr>
              <a:t>   </a:t>
            </a:r>
            <a:r>
              <a:rPr kumimoji="1" lang="en-US" altLang="zh-CN" b="1" dirty="0">
                <a:solidFill>
                  <a:schemeClr val="bg1"/>
                </a:solidFill>
                <a:latin typeface="Times New Roman" panose="02020603050405020304" pitchFamily="18" charset="0"/>
              </a:rPr>
              <a:t>3.3.3</a:t>
            </a:r>
            <a:r>
              <a:rPr kumimoji="1" lang="en-US" altLang="zh-CN" b="1" dirty="0">
                <a:solidFill>
                  <a:schemeClr val="bg1"/>
                </a:solidFill>
              </a:rPr>
              <a:t>    </a:t>
            </a:r>
            <a:r>
              <a:rPr kumimoji="1" lang="zh-CN" altLang="en-US" b="1" dirty="0">
                <a:solidFill>
                  <a:schemeClr val="bg1"/>
                </a:solidFill>
                <a:hlinkClick r:id="" action="ppaction://noaction"/>
              </a:rPr>
              <a:t>电感</a:t>
            </a:r>
            <a:r>
              <a:rPr kumimoji="1" lang="zh-CN" altLang="en-US" b="1" dirty="0">
                <a:solidFill>
                  <a:schemeClr val="bg1"/>
                </a:solidFill>
              </a:rPr>
              <a:t>（略）</a:t>
            </a:r>
          </a:p>
          <a:p>
            <a:pPr eaLnBrk="1" hangingPunct="1">
              <a:lnSpc>
                <a:spcPct val="140000"/>
              </a:lnSpc>
              <a:buFont typeface="Wingdings" panose="05000000000000000000" pitchFamily="2" charset="2"/>
              <a:buNone/>
            </a:pPr>
            <a:r>
              <a:rPr kumimoji="1" lang="zh-CN" altLang="en-US" b="1" dirty="0">
                <a:solidFill>
                  <a:schemeClr val="bg1"/>
                </a:solidFill>
                <a:latin typeface="Times New Roman" panose="02020603050405020304" pitchFamily="18" charset="0"/>
              </a:rPr>
              <a:t>   </a:t>
            </a:r>
            <a:r>
              <a:rPr kumimoji="1" lang="en-US" altLang="zh-CN" b="1" dirty="0">
                <a:solidFill>
                  <a:schemeClr val="bg1"/>
                </a:solidFill>
                <a:latin typeface="Times New Roman" panose="02020603050405020304" pitchFamily="18" charset="0"/>
              </a:rPr>
              <a:t>3.3.4</a:t>
            </a:r>
            <a:r>
              <a:rPr kumimoji="1" lang="en-US" altLang="zh-CN" b="1" dirty="0">
                <a:solidFill>
                  <a:schemeClr val="bg1"/>
                </a:solidFill>
              </a:rPr>
              <a:t>    </a:t>
            </a:r>
            <a:r>
              <a:rPr kumimoji="1" lang="zh-CN" altLang="en-US" b="1" dirty="0">
                <a:solidFill>
                  <a:schemeClr val="bg1"/>
                </a:solidFill>
                <a:hlinkClick r:id="" action="ppaction://noaction"/>
              </a:rPr>
              <a:t>恒定磁场的能量</a:t>
            </a:r>
            <a:endParaRPr kumimoji="1" lang="zh-CN" altLang="en-US" b="1" dirty="0">
              <a:solidFill>
                <a:schemeClr val="bg1"/>
              </a:solidFill>
            </a:endParaRPr>
          </a:p>
        </p:txBody>
      </p:sp>
      <p:sp>
        <p:nvSpPr>
          <p:cNvPr id="67588" name="Rectangle 3">
            <a:extLst>
              <a:ext uri="{FF2B5EF4-FFF2-40B4-BE49-F238E27FC236}">
                <a16:creationId xmlns:a16="http://schemas.microsoft.com/office/drawing/2014/main" id="{FBA57BC2-B4A7-64AC-51AB-A321157256D7}"/>
              </a:ext>
            </a:extLst>
          </p:cNvPr>
          <p:cNvSpPr>
            <a:spLocks noGrp="1" noChangeArrowheads="1"/>
          </p:cNvSpPr>
          <p:nvPr>
            <p:ph type="title"/>
          </p:nvPr>
        </p:nvSpPr>
        <p:spPr bwMode="auto">
          <a:xfrm>
            <a:off x="1116013" y="1211263"/>
            <a:ext cx="6840537"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a:latin typeface="幼圆" panose="02010509060101010101" pitchFamily="49" charset="-122"/>
                <a:ea typeface="幼圆" panose="02010509060101010101" pitchFamily="49" charset="-122"/>
              </a:rPr>
              <a:t> </a:t>
            </a:r>
            <a:r>
              <a:rPr lang="en-US" altLang="zh-CN" sz="2800" b="1">
                <a:solidFill>
                  <a:schemeClr val="bg1"/>
                </a:solidFill>
                <a:latin typeface="Times New Roman" panose="02020603050405020304" pitchFamily="18" charset="0"/>
                <a:ea typeface="幼圆" panose="02010509060101010101" pitchFamily="49" charset="-122"/>
              </a:rPr>
              <a:t>3.3  </a:t>
            </a:r>
            <a:r>
              <a:rPr lang="zh-CN" altLang="en-US" sz="2800" b="1">
                <a:solidFill>
                  <a:schemeClr val="bg1"/>
                </a:solidFill>
                <a:latin typeface="Times New Roman" panose="02020603050405020304" pitchFamily="18" charset="0"/>
                <a:ea typeface="幼圆" panose="02010509060101010101" pitchFamily="49" charset="-122"/>
              </a:rPr>
              <a:t>恒定磁场分析</a:t>
            </a:r>
          </a:p>
        </p:txBody>
      </p:sp>
      <p:sp>
        <p:nvSpPr>
          <p:cNvPr id="67589" name="AutoShape 4">
            <a:hlinkClick r:id="rId3" action="ppaction://hlinksldjump" highlightClick="1"/>
            <a:extLst>
              <a:ext uri="{FF2B5EF4-FFF2-40B4-BE49-F238E27FC236}">
                <a16:creationId xmlns:a16="http://schemas.microsoft.com/office/drawing/2014/main" id="{69272ED1-5057-67FC-2548-48F870301F66}"/>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7590" name="AutoShape 5">
            <a:hlinkClick r:id="" action="ppaction://hlinkshowjump?jump=previousslide" highlightClick="1"/>
            <a:extLst>
              <a:ext uri="{FF2B5EF4-FFF2-40B4-BE49-F238E27FC236}">
                <a16:creationId xmlns:a16="http://schemas.microsoft.com/office/drawing/2014/main" id="{4E274DB9-EFC4-6DBA-F691-7CF43D4BE13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7591" name="AutoShape 6">
            <a:hlinkClick r:id="" action="ppaction://hlinkshowjump?jump=nextslide" highlightClick="1"/>
            <a:extLst>
              <a:ext uri="{FF2B5EF4-FFF2-40B4-BE49-F238E27FC236}">
                <a16:creationId xmlns:a16="http://schemas.microsoft.com/office/drawing/2014/main" id="{8FEFAFD1-2140-FDFA-2FE7-23909B1E4818}"/>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7592" name="AutoShape 7">
            <a:hlinkClick r:id="" action="ppaction://hlinkshowjump?jump=lastslide" highlightClick="1"/>
            <a:extLst>
              <a:ext uri="{FF2B5EF4-FFF2-40B4-BE49-F238E27FC236}">
                <a16:creationId xmlns:a16="http://schemas.microsoft.com/office/drawing/2014/main" id="{0176E70F-6EEB-AE0E-D4FE-0F2E35BCC757}"/>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7593" name="AutoShape 11">
            <a:extLst>
              <a:ext uri="{FF2B5EF4-FFF2-40B4-BE49-F238E27FC236}">
                <a16:creationId xmlns:a16="http://schemas.microsoft.com/office/drawing/2014/main" id="{346F8A8F-0A1F-B18A-8BF7-6474F13A3807}"/>
              </a:ext>
            </a:extLst>
          </p:cNvPr>
          <p:cNvSpPr>
            <a:spLocks noChangeArrowheads="1"/>
          </p:cNvSpPr>
          <p:nvPr/>
        </p:nvSpPr>
        <p:spPr bwMode="auto">
          <a:xfrm>
            <a:off x="5292725" y="4437063"/>
            <a:ext cx="3527425" cy="1944687"/>
          </a:xfrm>
          <a:prstGeom prst="irregularSeal1">
            <a:avLst/>
          </a:prstGeom>
          <a:solidFill>
            <a:srgbClr val="FFFF99">
              <a:alpha val="50195"/>
            </a:srgbClr>
          </a:soli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endParaRPr lang="zh-CN" altLang="en-US"/>
          </a:p>
        </p:txBody>
      </p:sp>
      <p:sp>
        <p:nvSpPr>
          <p:cNvPr id="67594" name="Rectangle 6">
            <a:extLst>
              <a:ext uri="{FF2B5EF4-FFF2-40B4-BE49-F238E27FC236}">
                <a16:creationId xmlns:a16="http://schemas.microsoft.com/office/drawing/2014/main" id="{387CAAD8-9B4A-373B-A4CA-9976AA35CA74}"/>
              </a:ext>
            </a:extLst>
          </p:cNvPr>
          <p:cNvSpPr>
            <a:spLocks noChangeArrowheads="1"/>
          </p:cNvSpPr>
          <p:nvPr/>
        </p:nvSpPr>
        <p:spPr bwMode="auto">
          <a:xfrm>
            <a:off x="5076825" y="5013325"/>
            <a:ext cx="3887788"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62000" indent="-285750">
              <a:defRPr sz="2400">
                <a:solidFill>
                  <a:schemeClr val="tx1"/>
                </a:solidFill>
                <a:latin typeface="Arial" panose="020B0604020202020204" pitchFamily="34" charset="0"/>
                <a:ea typeface="楷体_GB2312" pitchFamily="49" charset="-122"/>
              </a:defRPr>
            </a:lvl2pPr>
            <a:lvl3pPr marL="11811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20000"/>
              </a:spcBef>
            </a:pPr>
            <a:r>
              <a:rPr lang="zh-CN" altLang="en-US" sz="1800" b="1" u="sng">
                <a:solidFill>
                  <a:srgbClr val="CC3300"/>
                </a:solidFill>
                <a:latin typeface="宋体" panose="02010600030101010101" pitchFamily="2" charset="-122"/>
                <a:ea typeface="宋体" panose="02010600030101010101" pitchFamily="2" charset="-122"/>
              </a:rPr>
              <a:t>静态</a:t>
            </a:r>
            <a:r>
              <a:rPr lang="zh-CN" altLang="en-US" sz="1800" b="1">
                <a:solidFill>
                  <a:srgbClr val="CC3300"/>
                </a:solidFill>
                <a:latin typeface="宋体" panose="02010600030101010101" pitchFamily="2" charset="-122"/>
                <a:ea typeface="宋体" panose="02010600030101010101" pitchFamily="2" charset="-122"/>
              </a:rPr>
              <a:t>场函数←→</a:t>
            </a:r>
            <a:r>
              <a:rPr lang="zh-CN" altLang="en-US" sz="1800" b="1" u="sng">
                <a:solidFill>
                  <a:srgbClr val="CC3300"/>
                </a:solidFill>
                <a:latin typeface="宋体" panose="02010600030101010101" pitchFamily="2" charset="-122"/>
                <a:ea typeface="宋体" panose="02010600030101010101" pitchFamily="2" charset="-122"/>
              </a:rPr>
              <a:t>静态</a:t>
            </a:r>
            <a:r>
              <a:rPr lang="zh-CN" altLang="en-US" sz="1800" b="1">
                <a:solidFill>
                  <a:srgbClr val="CC3300"/>
                </a:solidFill>
                <a:latin typeface="宋体" panose="02010600030101010101" pitchFamily="2" charset="-122"/>
                <a:ea typeface="宋体" panose="02010600030101010101" pitchFamily="2" charset="-122"/>
              </a:rPr>
              <a:t>位函数</a:t>
            </a:r>
          </a:p>
        </p:txBody>
      </p:sp>
      <p:graphicFrame>
        <p:nvGraphicFramePr>
          <p:cNvPr id="67595" name="Object 15">
            <a:extLst>
              <a:ext uri="{FF2B5EF4-FFF2-40B4-BE49-F238E27FC236}">
                <a16:creationId xmlns:a16="http://schemas.microsoft.com/office/drawing/2014/main" id="{A5EBE031-608F-5D0B-765B-38BC4E568549}"/>
              </a:ext>
            </a:extLst>
          </p:cNvPr>
          <p:cNvGraphicFramePr>
            <a:graphicFrameLocks noChangeAspect="1"/>
          </p:cNvGraphicFramePr>
          <p:nvPr/>
        </p:nvGraphicFramePr>
        <p:xfrm>
          <a:off x="6729413" y="5338763"/>
          <a:ext cx="579437" cy="395287"/>
        </p:xfrm>
        <a:graphic>
          <a:graphicData uri="http://schemas.openxmlformats.org/presentationml/2006/ole">
            <mc:AlternateContent xmlns:mc="http://schemas.openxmlformats.org/markup-compatibility/2006">
              <mc:Choice xmlns:v="urn:schemas-microsoft-com:vml" Requires="v">
                <p:oleObj name="公式" r:id="rId5" imgW="324040" imgH="145915" progId="Equation.3">
                  <p:embed/>
                </p:oleObj>
              </mc:Choice>
              <mc:Fallback>
                <p:oleObj name="公式" r:id="rId5" imgW="324040" imgH="145915"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9413" y="5338763"/>
                        <a:ext cx="579437"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2">
            <a:extLst>
              <a:ext uri="{FF2B5EF4-FFF2-40B4-BE49-F238E27FC236}">
                <a16:creationId xmlns:a16="http://schemas.microsoft.com/office/drawing/2014/main" id="{C8DA895F-992A-617A-280F-B754407B3F3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18359D0-7188-4EE5-AAFB-0EE7872123CD}" type="slidenum">
              <a:rPr lang="en-US" altLang="zh-CN" sz="1400">
                <a:ea typeface="宋体" panose="02010600030101010101" pitchFamily="2" charset="-122"/>
              </a:rPr>
              <a:pPr/>
              <a:t>2</a:t>
            </a:fld>
            <a:endParaRPr lang="en-US" altLang="zh-CN" sz="1400">
              <a:ea typeface="宋体" panose="02010600030101010101" pitchFamily="2" charset="-122"/>
            </a:endParaRPr>
          </a:p>
        </p:txBody>
      </p:sp>
      <p:graphicFrame>
        <p:nvGraphicFramePr>
          <p:cNvPr id="795651" name="Object 3">
            <a:extLst>
              <a:ext uri="{FF2B5EF4-FFF2-40B4-BE49-F238E27FC236}">
                <a16:creationId xmlns:a16="http://schemas.microsoft.com/office/drawing/2014/main" id="{D1B849CC-7268-28D1-3C66-FF2C6D957DB3}"/>
              </a:ext>
            </a:extLst>
          </p:cNvPr>
          <p:cNvGraphicFramePr>
            <a:graphicFrameLocks noChangeAspect="1"/>
          </p:cNvGraphicFramePr>
          <p:nvPr/>
        </p:nvGraphicFramePr>
        <p:xfrm>
          <a:off x="2195513" y="1557338"/>
          <a:ext cx="1584325" cy="1092200"/>
        </p:xfrm>
        <a:graphic>
          <a:graphicData uri="http://schemas.openxmlformats.org/presentationml/2006/ole">
            <mc:AlternateContent xmlns:mc="http://schemas.openxmlformats.org/markup-compatibility/2006">
              <mc:Choice xmlns:v="urn:schemas-microsoft-com:vml" Requires="v">
                <p:oleObj name="Equation" r:id="rId3" imgW="666712" imgH="431665" progId="Equation.DSMT4">
                  <p:embed/>
                </p:oleObj>
              </mc:Choice>
              <mc:Fallback>
                <p:oleObj name="Equation" r:id="rId3" imgW="666712" imgH="43166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557338"/>
                        <a:ext cx="1584325"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52" name="Text Box 4">
            <a:extLst>
              <a:ext uri="{FF2B5EF4-FFF2-40B4-BE49-F238E27FC236}">
                <a16:creationId xmlns:a16="http://schemas.microsoft.com/office/drawing/2014/main" id="{4F749A66-A6F3-E7F7-5749-C76AA44C0AEF}"/>
              </a:ext>
            </a:extLst>
          </p:cNvPr>
          <p:cNvSpPr txBox="1">
            <a:spLocks noChangeArrowheads="1"/>
          </p:cNvSpPr>
          <p:nvPr/>
        </p:nvSpPr>
        <p:spPr bwMode="auto">
          <a:xfrm>
            <a:off x="539750" y="1844675"/>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微分形式</a:t>
            </a:r>
            <a:r>
              <a:rPr kumimoji="1" lang="en-US" altLang="zh-CN" b="1">
                <a:solidFill>
                  <a:schemeClr val="bg1"/>
                </a:solidFill>
                <a:latin typeface="楷体_GB2312" pitchFamily="49" charset="-122"/>
              </a:rPr>
              <a:t>:</a:t>
            </a:r>
          </a:p>
        </p:txBody>
      </p:sp>
      <p:graphicFrame>
        <p:nvGraphicFramePr>
          <p:cNvPr id="795653" name="Object 5">
            <a:extLst>
              <a:ext uri="{FF2B5EF4-FFF2-40B4-BE49-F238E27FC236}">
                <a16:creationId xmlns:a16="http://schemas.microsoft.com/office/drawing/2014/main" id="{B4B96D7B-F5DD-944A-BF73-A60605995FD5}"/>
              </a:ext>
            </a:extLst>
          </p:cNvPr>
          <p:cNvGraphicFramePr>
            <a:graphicFrameLocks noChangeAspect="1"/>
          </p:cNvGraphicFramePr>
          <p:nvPr/>
        </p:nvGraphicFramePr>
        <p:xfrm>
          <a:off x="6156325" y="1341438"/>
          <a:ext cx="2520950" cy="1849437"/>
        </p:xfrm>
        <a:graphic>
          <a:graphicData uri="http://schemas.openxmlformats.org/presentationml/2006/ole">
            <mc:AlternateContent xmlns:mc="http://schemas.openxmlformats.org/markup-compatibility/2006">
              <mc:Choice xmlns:v="urn:schemas-microsoft-com:vml" Requires="v">
                <p:oleObj name="公式" r:id="rId5" imgW="870047" imgH="603115" progId="Equation.3">
                  <p:embed/>
                </p:oleObj>
              </mc:Choice>
              <mc:Fallback>
                <p:oleObj name="公式" r:id="rId5" imgW="870047" imgH="60311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1341438"/>
                        <a:ext cx="2520950" cy="184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54" name="Text Box 6">
            <a:extLst>
              <a:ext uri="{FF2B5EF4-FFF2-40B4-BE49-F238E27FC236}">
                <a16:creationId xmlns:a16="http://schemas.microsoft.com/office/drawing/2014/main" id="{91712C25-BB36-36A7-9D8C-007399E528C0}"/>
              </a:ext>
            </a:extLst>
          </p:cNvPr>
          <p:cNvSpPr txBox="1">
            <a:spLocks noChangeArrowheads="1"/>
          </p:cNvSpPr>
          <p:nvPr/>
        </p:nvSpPr>
        <p:spPr bwMode="auto">
          <a:xfrm>
            <a:off x="179388" y="1196975"/>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1. </a:t>
            </a:r>
            <a:r>
              <a:rPr kumimoji="1" lang="zh-CN" altLang="en-US" b="1">
                <a:solidFill>
                  <a:srgbClr val="FF7C80"/>
                </a:solidFill>
                <a:latin typeface="Times New Roman" panose="02020603050405020304" pitchFamily="18" charset="0"/>
                <a:ea typeface="宋体" panose="02010600030101010101" pitchFamily="2" charset="-122"/>
              </a:rPr>
              <a:t>基本方程</a:t>
            </a:r>
          </a:p>
        </p:txBody>
      </p:sp>
      <p:graphicFrame>
        <p:nvGraphicFramePr>
          <p:cNvPr id="795655" name="Object 7">
            <a:extLst>
              <a:ext uri="{FF2B5EF4-FFF2-40B4-BE49-F238E27FC236}">
                <a16:creationId xmlns:a16="http://schemas.microsoft.com/office/drawing/2014/main" id="{16A5351E-2361-95B2-82AF-4165F9990746}"/>
              </a:ext>
            </a:extLst>
          </p:cNvPr>
          <p:cNvGraphicFramePr>
            <a:graphicFrameLocks noChangeAspect="1"/>
          </p:cNvGraphicFramePr>
          <p:nvPr/>
        </p:nvGraphicFramePr>
        <p:xfrm>
          <a:off x="2284413" y="2768600"/>
          <a:ext cx="1279525" cy="515938"/>
        </p:xfrm>
        <a:graphic>
          <a:graphicData uri="http://schemas.openxmlformats.org/presentationml/2006/ole">
            <mc:AlternateContent xmlns:mc="http://schemas.openxmlformats.org/markup-compatibility/2006">
              <mc:Choice xmlns:v="urn:schemas-microsoft-com:vml" Requires="v">
                <p:oleObj name="Equation" r:id="rId7" imgW="463377" imgH="164965" progId="Equation.DSMT4">
                  <p:embed/>
                </p:oleObj>
              </mc:Choice>
              <mc:Fallback>
                <p:oleObj name="Equation" r:id="rId7" imgW="463377" imgH="164965"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4413" y="2768600"/>
                        <a:ext cx="1279525" cy="515938"/>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56" name="Text Box 8">
            <a:extLst>
              <a:ext uri="{FF2B5EF4-FFF2-40B4-BE49-F238E27FC236}">
                <a16:creationId xmlns:a16="http://schemas.microsoft.com/office/drawing/2014/main" id="{787C6CAB-FF9B-EA7C-7DF5-0CFA7BA2F518}"/>
              </a:ext>
            </a:extLst>
          </p:cNvPr>
          <p:cNvSpPr txBox="1">
            <a:spLocks noChangeArrowheads="1"/>
          </p:cNvSpPr>
          <p:nvPr/>
        </p:nvSpPr>
        <p:spPr bwMode="auto">
          <a:xfrm>
            <a:off x="203200" y="3357563"/>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2.  </a:t>
            </a:r>
            <a:r>
              <a:rPr kumimoji="1" lang="zh-CN" altLang="en-US" b="1">
                <a:solidFill>
                  <a:srgbClr val="FF7C80"/>
                </a:solidFill>
                <a:latin typeface="Times New Roman" panose="02020603050405020304" pitchFamily="18" charset="0"/>
                <a:ea typeface="宋体" panose="02010600030101010101" pitchFamily="2" charset="-122"/>
              </a:rPr>
              <a:t>边界条件</a:t>
            </a:r>
          </a:p>
        </p:txBody>
      </p:sp>
      <p:sp>
        <p:nvSpPr>
          <p:cNvPr id="795657" name="Text Box 9">
            <a:extLst>
              <a:ext uri="{FF2B5EF4-FFF2-40B4-BE49-F238E27FC236}">
                <a16:creationId xmlns:a16="http://schemas.microsoft.com/office/drawing/2014/main" id="{EFD15EC4-1991-97F1-583B-9056ED295684}"/>
              </a:ext>
            </a:extLst>
          </p:cNvPr>
          <p:cNvSpPr txBox="1">
            <a:spLocks noChangeArrowheads="1"/>
          </p:cNvSpPr>
          <p:nvPr/>
        </p:nvSpPr>
        <p:spPr bwMode="auto">
          <a:xfrm>
            <a:off x="539750" y="2781300"/>
            <a:ext cx="2592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本构关系：</a:t>
            </a:r>
          </a:p>
        </p:txBody>
      </p:sp>
      <p:graphicFrame>
        <p:nvGraphicFramePr>
          <p:cNvPr id="795658" name="Object 10">
            <a:extLst>
              <a:ext uri="{FF2B5EF4-FFF2-40B4-BE49-F238E27FC236}">
                <a16:creationId xmlns:a16="http://schemas.microsoft.com/office/drawing/2014/main" id="{CF4DEFDD-CE18-13E6-C6AC-07702439BD52}"/>
              </a:ext>
            </a:extLst>
          </p:cNvPr>
          <p:cNvGraphicFramePr>
            <a:graphicFrameLocks noChangeAspect="1"/>
          </p:cNvGraphicFramePr>
          <p:nvPr/>
        </p:nvGraphicFramePr>
        <p:xfrm>
          <a:off x="1970088" y="3573463"/>
          <a:ext cx="2755900" cy="1152525"/>
        </p:xfrm>
        <a:graphic>
          <a:graphicData uri="http://schemas.openxmlformats.org/presentationml/2006/ole">
            <mc:AlternateContent xmlns:mc="http://schemas.openxmlformats.org/markup-compatibility/2006">
              <mc:Choice xmlns:v="urn:schemas-microsoft-com:vml" Requires="v">
                <p:oleObj name="公式" r:id="rId9" imgW="1206643" imgH="463685" progId="Equation.3">
                  <p:embed/>
                </p:oleObj>
              </mc:Choice>
              <mc:Fallback>
                <p:oleObj name="公式" r:id="rId9" imgW="1206643" imgH="463685"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0088" y="3573463"/>
                        <a:ext cx="27559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5659" name="Object 11">
            <a:extLst>
              <a:ext uri="{FF2B5EF4-FFF2-40B4-BE49-F238E27FC236}">
                <a16:creationId xmlns:a16="http://schemas.microsoft.com/office/drawing/2014/main" id="{C53E45E2-8A98-F45E-9409-0CB68209BCAB}"/>
              </a:ext>
            </a:extLst>
          </p:cNvPr>
          <p:cNvGraphicFramePr>
            <a:graphicFrameLocks noChangeAspect="1"/>
          </p:cNvGraphicFramePr>
          <p:nvPr/>
        </p:nvGraphicFramePr>
        <p:xfrm>
          <a:off x="5810250" y="3716338"/>
          <a:ext cx="2489200" cy="1022350"/>
        </p:xfrm>
        <a:graphic>
          <a:graphicData uri="http://schemas.openxmlformats.org/presentationml/2006/ole">
            <mc:AlternateContent xmlns:mc="http://schemas.openxmlformats.org/markup-compatibility/2006">
              <mc:Choice xmlns:v="urn:schemas-microsoft-com:vml" Requires="v">
                <p:oleObj name="公式" r:id="rId11" imgW="933640" imgH="406535" progId="Equation.3">
                  <p:embed/>
                </p:oleObj>
              </mc:Choice>
              <mc:Fallback>
                <p:oleObj name="公式" r:id="rId11" imgW="933640" imgH="406535"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10250" y="3716338"/>
                        <a:ext cx="248920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60" name="Text Box 12">
            <a:extLst>
              <a:ext uri="{FF2B5EF4-FFF2-40B4-BE49-F238E27FC236}">
                <a16:creationId xmlns:a16="http://schemas.microsoft.com/office/drawing/2014/main" id="{5594154B-5EF0-3A12-7B3F-198E6C43E37F}"/>
              </a:ext>
            </a:extLst>
          </p:cNvPr>
          <p:cNvSpPr txBox="1">
            <a:spLocks noChangeArrowheads="1"/>
          </p:cNvSpPr>
          <p:nvPr/>
        </p:nvSpPr>
        <p:spPr bwMode="auto">
          <a:xfrm>
            <a:off x="4968875" y="4005263"/>
            <a:ext cx="169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或</a:t>
            </a:r>
          </a:p>
        </p:txBody>
      </p:sp>
      <p:sp>
        <p:nvSpPr>
          <p:cNvPr id="795661" name="Text Box 13">
            <a:extLst>
              <a:ext uri="{FF2B5EF4-FFF2-40B4-BE49-F238E27FC236}">
                <a16:creationId xmlns:a16="http://schemas.microsoft.com/office/drawing/2014/main" id="{C4757278-5E94-1CBB-D83A-EDE8038E1AC5}"/>
              </a:ext>
            </a:extLst>
          </p:cNvPr>
          <p:cNvSpPr txBox="1">
            <a:spLocks noChangeArrowheads="1"/>
          </p:cNvSpPr>
          <p:nvPr/>
        </p:nvSpPr>
        <p:spPr bwMode="auto">
          <a:xfrm>
            <a:off x="468313" y="4868863"/>
            <a:ext cx="6408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若分界面上不存在面电流，即</a:t>
            </a:r>
            <a:r>
              <a:rPr kumimoji="1" lang="en-US" altLang="zh-CN" i="1">
                <a:solidFill>
                  <a:schemeClr val="bg1"/>
                </a:solidFill>
                <a:latin typeface="Times New Roman" panose="02020603050405020304" pitchFamily="18" charset="0"/>
              </a:rPr>
              <a:t>J</a:t>
            </a:r>
            <a:r>
              <a:rPr kumimoji="1" lang="en-US" altLang="zh-CN" i="1" baseline="-25000">
                <a:solidFill>
                  <a:schemeClr val="bg1"/>
                </a:solidFill>
                <a:latin typeface="Times New Roman" panose="02020603050405020304" pitchFamily="18" charset="0"/>
              </a:rPr>
              <a:t>S</a:t>
            </a:r>
            <a:r>
              <a:rPr kumimoji="1" lang="zh-CN" altLang="en-US" b="1">
                <a:solidFill>
                  <a:schemeClr val="bg1"/>
                </a:solidFill>
                <a:latin typeface="Times New Roman" panose="02020603050405020304" pitchFamily="18" charset="0"/>
              </a:rPr>
              <a:t>＝</a:t>
            </a:r>
            <a:r>
              <a:rPr kumimoji="1" lang="en-US" altLang="zh-CN" b="1">
                <a:solidFill>
                  <a:schemeClr val="bg1"/>
                </a:solidFill>
                <a:latin typeface="Times New Roman" panose="02020603050405020304" pitchFamily="18" charset="0"/>
              </a:rPr>
              <a:t>0</a:t>
            </a:r>
            <a:r>
              <a:rPr kumimoji="1" lang="zh-CN" altLang="en-US" b="1">
                <a:solidFill>
                  <a:schemeClr val="bg1"/>
                </a:solidFill>
                <a:latin typeface="楷体_GB2312" pitchFamily="49" charset="-122"/>
              </a:rPr>
              <a:t>，则</a:t>
            </a:r>
            <a:endParaRPr kumimoji="1" lang="zh-CN" altLang="el-GR" b="1">
              <a:solidFill>
                <a:schemeClr val="bg1"/>
              </a:solidFill>
              <a:latin typeface="楷体_GB2312" pitchFamily="49" charset="-122"/>
            </a:endParaRPr>
          </a:p>
        </p:txBody>
      </p:sp>
      <p:sp>
        <p:nvSpPr>
          <p:cNvPr id="795662" name="Text Box 14">
            <a:extLst>
              <a:ext uri="{FF2B5EF4-FFF2-40B4-BE49-F238E27FC236}">
                <a16:creationId xmlns:a16="http://schemas.microsoft.com/office/drawing/2014/main" id="{1AEEC79E-ABB8-9619-8778-E0770935DBF5}"/>
              </a:ext>
            </a:extLst>
          </p:cNvPr>
          <p:cNvSpPr txBox="1">
            <a:spLocks noChangeArrowheads="1"/>
          </p:cNvSpPr>
          <p:nvPr/>
        </p:nvSpPr>
        <p:spPr bwMode="auto">
          <a:xfrm>
            <a:off x="4572000" y="1989138"/>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积分形式</a:t>
            </a:r>
            <a:r>
              <a:rPr kumimoji="1" lang="en-US" altLang="zh-CN" b="1">
                <a:solidFill>
                  <a:schemeClr val="bg1"/>
                </a:solidFill>
                <a:latin typeface="楷体_GB2312" pitchFamily="49" charset="-122"/>
              </a:rPr>
              <a:t>:</a:t>
            </a:r>
          </a:p>
        </p:txBody>
      </p:sp>
      <p:graphicFrame>
        <p:nvGraphicFramePr>
          <p:cNvPr id="795663" name="Object 15">
            <a:extLst>
              <a:ext uri="{FF2B5EF4-FFF2-40B4-BE49-F238E27FC236}">
                <a16:creationId xmlns:a16="http://schemas.microsoft.com/office/drawing/2014/main" id="{AE915812-C12B-88E9-3518-720572C2A575}"/>
              </a:ext>
            </a:extLst>
          </p:cNvPr>
          <p:cNvGraphicFramePr>
            <a:graphicFrameLocks noChangeAspect="1"/>
          </p:cNvGraphicFramePr>
          <p:nvPr/>
        </p:nvGraphicFramePr>
        <p:xfrm>
          <a:off x="1774825" y="5372100"/>
          <a:ext cx="2592388" cy="1152525"/>
        </p:xfrm>
        <a:graphic>
          <a:graphicData uri="http://schemas.openxmlformats.org/presentationml/2006/ole">
            <mc:AlternateContent xmlns:mc="http://schemas.openxmlformats.org/markup-compatibility/2006">
              <mc:Choice xmlns:v="urn:schemas-microsoft-com:vml" Requires="v">
                <p:oleObj name="公式" r:id="rId13" imgW="1130494" imgH="463685" progId="Equation.3">
                  <p:embed/>
                </p:oleObj>
              </mc:Choice>
              <mc:Fallback>
                <p:oleObj name="公式" r:id="rId13" imgW="1130494" imgH="463685"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74825" y="5372100"/>
                        <a:ext cx="2592388"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64" name="Text Box 16">
            <a:extLst>
              <a:ext uri="{FF2B5EF4-FFF2-40B4-BE49-F238E27FC236}">
                <a16:creationId xmlns:a16="http://schemas.microsoft.com/office/drawing/2014/main" id="{05F8982D-49F0-CD4D-94DF-D671B05F3E4D}"/>
              </a:ext>
            </a:extLst>
          </p:cNvPr>
          <p:cNvSpPr txBox="1">
            <a:spLocks noChangeArrowheads="1"/>
          </p:cNvSpPr>
          <p:nvPr/>
        </p:nvSpPr>
        <p:spPr bwMode="auto">
          <a:xfrm>
            <a:off x="4932363" y="5708650"/>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或</a:t>
            </a:r>
          </a:p>
        </p:txBody>
      </p:sp>
      <p:graphicFrame>
        <p:nvGraphicFramePr>
          <p:cNvPr id="795665" name="Object 17">
            <a:extLst>
              <a:ext uri="{FF2B5EF4-FFF2-40B4-BE49-F238E27FC236}">
                <a16:creationId xmlns:a16="http://schemas.microsoft.com/office/drawing/2014/main" id="{56B05571-99BA-AFE3-E454-B08452EE8A58}"/>
              </a:ext>
            </a:extLst>
          </p:cNvPr>
          <p:cNvGraphicFramePr>
            <a:graphicFrameLocks noChangeAspect="1"/>
          </p:cNvGraphicFramePr>
          <p:nvPr/>
        </p:nvGraphicFramePr>
        <p:xfrm>
          <a:off x="5867400" y="5430838"/>
          <a:ext cx="2268538" cy="1022350"/>
        </p:xfrm>
        <a:graphic>
          <a:graphicData uri="http://schemas.openxmlformats.org/presentationml/2006/ole">
            <mc:AlternateContent xmlns:mc="http://schemas.openxmlformats.org/markup-compatibility/2006">
              <mc:Choice xmlns:v="urn:schemas-microsoft-com:vml" Requires="v">
                <p:oleObj name="公式" r:id="rId15" imgW="844529" imgH="406535" progId="Equation.3">
                  <p:embed/>
                </p:oleObj>
              </mc:Choice>
              <mc:Fallback>
                <p:oleObj name="公式" r:id="rId15" imgW="844529" imgH="406535"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7400" y="5430838"/>
                        <a:ext cx="2268538"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5666" name="Rectangle 18">
            <a:extLst>
              <a:ext uri="{FF2B5EF4-FFF2-40B4-BE49-F238E27FC236}">
                <a16:creationId xmlns:a16="http://schemas.microsoft.com/office/drawing/2014/main" id="{D1FB8459-1173-C225-A396-0344E6C09901}"/>
              </a:ext>
            </a:extLst>
          </p:cNvPr>
          <p:cNvSpPr>
            <a:spLocks noGrp="1" noChangeArrowheads="1"/>
          </p:cNvSpPr>
          <p:nvPr>
            <p:ph type="title"/>
          </p:nvPr>
        </p:nvSpPr>
        <p:spPr bwMode="auto">
          <a:xfrm>
            <a:off x="85725" y="563563"/>
            <a:ext cx="8878888"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1" lang="en-US" altLang="zh-CN" sz="2400" b="1">
                <a:solidFill>
                  <a:schemeClr val="bg1"/>
                </a:solidFill>
                <a:latin typeface="Times New Roman" panose="02020603050405020304" pitchFamily="18" charset="0"/>
                <a:ea typeface="幼圆" panose="02010509060101010101" pitchFamily="49" charset="-122"/>
              </a:rPr>
              <a:t>3.3.1 </a:t>
            </a:r>
            <a:r>
              <a:rPr kumimoji="1" lang="zh-CN" altLang="en-US" sz="2400" b="1">
                <a:solidFill>
                  <a:schemeClr val="bg1"/>
                </a:solidFill>
                <a:latin typeface="Times New Roman" panose="02020603050405020304" pitchFamily="18" charset="0"/>
                <a:ea typeface="幼圆" panose="02010509060101010101" pitchFamily="49" charset="-122"/>
              </a:rPr>
              <a:t>恒定磁场的基本方程和边界条件</a:t>
            </a:r>
          </a:p>
        </p:txBody>
      </p:sp>
      <p:sp>
        <p:nvSpPr>
          <p:cNvPr id="69651" name="AutoShape 19">
            <a:hlinkClick r:id="rId17" action="ppaction://hlinksldjump" highlightClick="1"/>
            <a:extLst>
              <a:ext uri="{FF2B5EF4-FFF2-40B4-BE49-F238E27FC236}">
                <a16:creationId xmlns:a16="http://schemas.microsoft.com/office/drawing/2014/main" id="{3874E762-CDC2-1974-AE25-8857B31E1E6B}"/>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9652" name="AutoShape 20">
            <a:hlinkClick r:id="" action="ppaction://hlinkshowjump?jump=previousslide" highlightClick="1"/>
            <a:extLst>
              <a:ext uri="{FF2B5EF4-FFF2-40B4-BE49-F238E27FC236}">
                <a16:creationId xmlns:a16="http://schemas.microsoft.com/office/drawing/2014/main" id="{42B40DA8-336D-564C-A920-D29918780A3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9653" name="AutoShape 21">
            <a:hlinkClick r:id="" action="ppaction://hlinkshowjump?jump=nextslide" highlightClick="1"/>
            <a:extLst>
              <a:ext uri="{FF2B5EF4-FFF2-40B4-BE49-F238E27FC236}">
                <a16:creationId xmlns:a16="http://schemas.microsoft.com/office/drawing/2014/main" id="{68DEA55F-CB8A-A4EF-B0E0-B91B81D999F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9654" name="AutoShape 22">
            <a:hlinkClick r:id="" action="ppaction://hlinkshowjump?jump=lastslide" highlightClick="1"/>
            <a:extLst>
              <a:ext uri="{FF2B5EF4-FFF2-40B4-BE49-F238E27FC236}">
                <a16:creationId xmlns:a16="http://schemas.microsoft.com/office/drawing/2014/main" id="{F301C7C9-1C54-D917-2B0C-15FBB20934B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95666"/>
                                        </p:tgtEl>
                                        <p:attrNameLst>
                                          <p:attrName>style.visibility</p:attrName>
                                        </p:attrNameLst>
                                      </p:cBhvr>
                                      <p:to>
                                        <p:strVal val="visible"/>
                                      </p:to>
                                    </p:set>
                                    <p:animEffect transition="in" filter="wipe(up)">
                                      <p:cBhvr>
                                        <p:cTn id="7" dur="2000"/>
                                        <p:tgtEl>
                                          <p:spTgt spid="7956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5654"/>
                                        </p:tgtEl>
                                        <p:attrNameLst>
                                          <p:attrName>style.visibility</p:attrName>
                                        </p:attrNameLst>
                                      </p:cBhvr>
                                      <p:to>
                                        <p:strVal val="visible"/>
                                      </p:to>
                                    </p:set>
                                    <p:animEffect transition="in" filter="wipe(up)">
                                      <p:cBhvr>
                                        <p:cTn id="12" dur="2000"/>
                                        <p:tgtEl>
                                          <p:spTgt spid="7956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95652"/>
                                        </p:tgtEl>
                                        <p:attrNameLst>
                                          <p:attrName>style.visibility</p:attrName>
                                        </p:attrNameLst>
                                      </p:cBhvr>
                                      <p:to>
                                        <p:strVal val="visible"/>
                                      </p:to>
                                    </p:set>
                                    <p:animEffect transition="in" filter="wipe(up)">
                                      <p:cBhvr>
                                        <p:cTn id="17" dur="2000"/>
                                        <p:tgtEl>
                                          <p:spTgt spid="795652"/>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795651"/>
                                        </p:tgtEl>
                                        <p:attrNameLst>
                                          <p:attrName>style.visibility</p:attrName>
                                        </p:attrNameLst>
                                      </p:cBhvr>
                                      <p:to>
                                        <p:strVal val="visible"/>
                                      </p:to>
                                    </p:set>
                                    <p:animEffect transition="in" filter="wipe(up)">
                                      <p:cBhvr>
                                        <p:cTn id="21" dur="2000"/>
                                        <p:tgtEl>
                                          <p:spTgt spid="7956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95662"/>
                                        </p:tgtEl>
                                        <p:attrNameLst>
                                          <p:attrName>style.visibility</p:attrName>
                                        </p:attrNameLst>
                                      </p:cBhvr>
                                      <p:to>
                                        <p:strVal val="visible"/>
                                      </p:to>
                                    </p:set>
                                    <p:animEffect transition="in" filter="wipe(up)">
                                      <p:cBhvr>
                                        <p:cTn id="26" dur="2000"/>
                                        <p:tgtEl>
                                          <p:spTgt spid="795662"/>
                                        </p:tgtEl>
                                      </p:cBhvr>
                                    </p:animEffect>
                                  </p:childTnLst>
                                </p:cTn>
                              </p:par>
                            </p:childTnLst>
                          </p:cTn>
                        </p:par>
                        <p:par>
                          <p:cTn id="27" fill="hold" nodeType="afterGroup">
                            <p:stCondLst>
                              <p:cond delay="2000"/>
                            </p:stCondLst>
                            <p:childTnLst>
                              <p:par>
                                <p:cTn id="28" presetID="22" presetClass="entr" presetSubtype="1" fill="hold" nodeType="afterEffect">
                                  <p:stCondLst>
                                    <p:cond delay="0"/>
                                  </p:stCondLst>
                                  <p:childTnLst>
                                    <p:set>
                                      <p:cBhvr>
                                        <p:cTn id="29" dur="1" fill="hold">
                                          <p:stCondLst>
                                            <p:cond delay="0"/>
                                          </p:stCondLst>
                                        </p:cTn>
                                        <p:tgtEl>
                                          <p:spTgt spid="795653"/>
                                        </p:tgtEl>
                                        <p:attrNameLst>
                                          <p:attrName>style.visibility</p:attrName>
                                        </p:attrNameLst>
                                      </p:cBhvr>
                                      <p:to>
                                        <p:strVal val="visible"/>
                                      </p:to>
                                    </p:set>
                                    <p:animEffect transition="in" filter="wipe(up)">
                                      <p:cBhvr>
                                        <p:cTn id="30" dur="2000"/>
                                        <p:tgtEl>
                                          <p:spTgt spid="7956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795657"/>
                                        </p:tgtEl>
                                        <p:attrNameLst>
                                          <p:attrName>style.visibility</p:attrName>
                                        </p:attrNameLst>
                                      </p:cBhvr>
                                      <p:to>
                                        <p:strVal val="visible"/>
                                      </p:to>
                                    </p:set>
                                    <p:animEffect transition="in" filter="wipe(up)">
                                      <p:cBhvr>
                                        <p:cTn id="35" dur="2000"/>
                                        <p:tgtEl>
                                          <p:spTgt spid="795657"/>
                                        </p:tgtEl>
                                      </p:cBhvr>
                                    </p:animEffect>
                                  </p:childTnLst>
                                </p:cTn>
                              </p:par>
                            </p:childTnLst>
                          </p:cTn>
                        </p:par>
                        <p:par>
                          <p:cTn id="36" fill="hold" nodeType="afterGroup">
                            <p:stCondLst>
                              <p:cond delay="2000"/>
                            </p:stCondLst>
                            <p:childTnLst>
                              <p:par>
                                <p:cTn id="37" presetID="22" presetClass="entr" presetSubtype="1" fill="hold" nodeType="afterEffect">
                                  <p:stCondLst>
                                    <p:cond delay="0"/>
                                  </p:stCondLst>
                                  <p:childTnLst>
                                    <p:set>
                                      <p:cBhvr>
                                        <p:cTn id="38" dur="1" fill="hold">
                                          <p:stCondLst>
                                            <p:cond delay="0"/>
                                          </p:stCondLst>
                                        </p:cTn>
                                        <p:tgtEl>
                                          <p:spTgt spid="795655"/>
                                        </p:tgtEl>
                                        <p:attrNameLst>
                                          <p:attrName>style.visibility</p:attrName>
                                        </p:attrNameLst>
                                      </p:cBhvr>
                                      <p:to>
                                        <p:strVal val="visible"/>
                                      </p:to>
                                    </p:set>
                                    <p:animEffect transition="in" filter="wipe(up)">
                                      <p:cBhvr>
                                        <p:cTn id="39" dur="2000"/>
                                        <p:tgtEl>
                                          <p:spTgt spid="79565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795656"/>
                                        </p:tgtEl>
                                        <p:attrNameLst>
                                          <p:attrName>style.visibility</p:attrName>
                                        </p:attrNameLst>
                                      </p:cBhvr>
                                      <p:to>
                                        <p:strVal val="visible"/>
                                      </p:to>
                                    </p:set>
                                    <p:animEffect transition="in" filter="wipe(up)">
                                      <p:cBhvr>
                                        <p:cTn id="44" dur="2000"/>
                                        <p:tgtEl>
                                          <p:spTgt spid="795656"/>
                                        </p:tgtEl>
                                      </p:cBhvr>
                                    </p:animEffect>
                                  </p:childTnLst>
                                </p:cTn>
                              </p:par>
                            </p:childTnLst>
                          </p:cTn>
                        </p:par>
                        <p:par>
                          <p:cTn id="45" fill="hold" nodeType="afterGroup">
                            <p:stCondLst>
                              <p:cond delay="2000"/>
                            </p:stCondLst>
                            <p:childTnLst>
                              <p:par>
                                <p:cTn id="46" presetID="22" presetClass="entr" presetSubtype="1" fill="hold" nodeType="afterEffect">
                                  <p:stCondLst>
                                    <p:cond delay="0"/>
                                  </p:stCondLst>
                                  <p:childTnLst>
                                    <p:set>
                                      <p:cBhvr>
                                        <p:cTn id="47" dur="1" fill="hold">
                                          <p:stCondLst>
                                            <p:cond delay="0"/>
                                          </p:stCondLst>
                                        </p:cTn>
                                        <p:tgtEl>
                                          <p:spTgt spid="795658"/>
                                        </p:tgtEl>
                                        <p:attrNameLst>
                                          <p:attrName>style.visibility</p:attrName>
                                        </p:attrNameLst>
                                      </p:cBhvr>
                                      <p:to>
                                        <p:strVal val="visible"/>
                                      </p:to>
                                    </p:set>
                                    <p:animEffect transition="in" filter="wipe(up)">
                                      <p:cBhvr>
                                        <p:cTn id="48" dur="2000"/>
                                        <p:tgtEl>
                                          <p:spTgt spid="795658"/>
                                        </p:tgtEl>
                                      </p:cBhvr>
                                    </p:animEffect>
                                  </p:childTnLst>
                                </p:cTn>
                              </p:par>
                            </p:childTnLst>
                          </p:cTn>
                        </p:par>
                        <p:par>
                          <p:cTn id="49" fill="hold" nodeType="afterGroup">
                            <p:stCondLst>
                              <p:cond delay="4000"/>
                            </p:stCondLst>
                            <p:childTnLst>
                              <p:par>
                                <p:cTn id="50" presetID="22" presetClass="entr" presetSubtype="1" fill="hold" grpId="0" nodeType="afterEffect">
                                  <p:stCondLst>
                                    <p:cond delay="0"/>
                                  </p:stCondLst>
                                  <p:childTnLst>
                                    <p:set>
                                      <p:cBhvr>
                                        <p:cTn id="51" dur="1" fill="hold">
                                          <p:stCondLst>
                                            <p:cond delay="0"/>
                                          </p:stCondLst>
                                        </p:cTn>
                                        <p:tgtEl>
                                          <p:spTgt spid="795660"/>
                                        </p:tgtEl>
                                        <p:attrNameLst>
                                          <p:attrName>style.visibility</p:attrName>
                                        </p:attrNameLst>
                                      </p:cBhvr>
                                      <p:to>
                                        <p:strVal val="visible"/>
                                      </p:to>
                                    </p:set>
                                    <p:animEffect transition="in" filter="wipe(up)">
                                      <p:cBhvr>
                                        <p:cTn id="52" dur="2000"/>
                                        <p:tgtEl>
                                          <p:spTgt spid="795660"/>
                                        </p:tgtEl>
                                      </p:cBhvr>
                                    </p:animEffect>
                                  </p:childTnLst>
                                </p:cTn>
                              </p:par>
                            </p:childTnLst>
                          </p:cTn>
                        </p:par>
                        <p:par>
                          <p:cTn id="53" fill="hold" nodeType="afterGroup">
                            <p:stCondLst>
                              <p:cond delay="6000"/>
                            </p:stCondLst>
                            <p:childTnLst>
                              <p:par>
                                <p:cTn id="54" presetID="22" presetClass="entr" presetSubtype="1" fill="hold" nodeType="afterEffect">
                                  <p:stCondLst>
                                    <p:cond delay="0"/>
                                  </p:stCondLst>
                                  <p:childTnLst>
                                    <p:set>
                                      <p:cBhvr>
                                        <p:cTn id="55" dur="1" fill="hold">
                                          <p:stCondLst>
                                            <p:cond delay="0"/>
                                          </p:stCondLst>
                                        </p:cTn>
                                        <p:tgtEl>
                                          <p:spTgt spid="795659"/>
                                        </p:tgtEl>
                                        <p:attrNameLst>
                                          <p:attrName>style.visibility</p:attrName>
                                        </p:attrNameLst>
                                      </p:cBhvr>
                                      <p:to>
                                        <p:strVal val="visible"/>
                                      </p:to>
                                    </p:set>
                                    <p:animEffect transition="in" filter="wipe(up)">
                                      <p:cBhvr>
                                        <p:cTn id="56" dur="2000"/>
                                        <p:tgtEl>
                                          <p:spTgt spid="79565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795661"/>
                                        </p:tgtEl>
                                        <p:attrNameLst>
                                          <p:attrName>style.visibility</p:attrName>
                                        </p:attrNameLst>
                                      </p:cBhvr>
                                      <p:to>
                                        <p:strVal val="visible"/>
                                      </p:to>
                                    </p:set>
                                    <p:animEffect transition="in" filter="wipe(up)">
                                      <p:cBhvr>
                                        <p:cTn id="61" dur="2000"/>
                                        <p:tgtEl>
                                          <p:spTgt spid="795661"/>
                                        </p:tgtEl>
                                      </p:cBhvr>
                                    </p:animEffect>
                                  </p:childTnLst>
                                </p:cTn>
                              </p:par>
                            </p:childTnLst>
                          </p:cTn>
                        </p:par>
                        <p:par>
                          <p:cTn id="62" fill="hold" nodeType="afterGroup">
                            <p:stCondLst>
                              <p:cond delay="2000"/>
                            </p:stCondLst>
                            <p:childTnLst>
                              <p:par>
                                <p:cTn id="63" presetID="22" presetClass="entr" presetSubtype="1" fill="hold" nodeType="afterEffect">
                                  <p:stCondLst>
                                    <p:cond delay="0"/>
                                  </p:stCondLst>
                                  <p:childTnLst>
                                    <p:set>
                                      <p:cBhvr>
                                        <p:cTn id="64" dur="1" fill="hold">
                                          <p:stCondLst>
                                            <p:cond delay="0"/>
                                          </p:stCondLst>
                                        </p:cTn>
                                        <p:tgtEl>
                                          <p:spTgt spid="795663"/>
                                        </p:tgtEl>
                                        <p:attrNameLst>
                                          <p:attrName>style.visibility</p:attrName>
                                        </p:attrNameLst>
                                      </p:cBhvr>
                                      <p:to>
                                        <p:strVal val="visible"/>
                                      </p:to>
                                    </p:set>
                                    <p:animEffect transition="in" filter="wipe(up)">
                                      <p:cBhvr>
                                        <p:cTn id="65" dur="2000"/>
                                        <p:tgtEl>
                                          <p:spTgt spid="795663"/>
                                        </p:tgtEl>
                                      </p:cBhvr>
                                    </p:animEffect>
                                  </p:childTnLst>
                                </p:cTn>
                              </p:par>
                            </p:childTnLst>
                          </p:cTn>
                        </p:par>
                        <p:par>
                          <p:cTn id="66" fill="hold" nodeType="afterGroup">
                            <p:stCondLst>
                              <p:cond delay="4000"/>
                            </p:stCondLst>
                            <p:childTnLst>
                              <p:par>
                                <p:cTn id="67" presetID="22" presetClass="entr" presetSubtype="1" fill="hold" grpId="0" nodeType="afterEffect">
                                  <p:stCondLst>
                                    <p:cond delay="0"/>
                                  </p:stCondLst>
                                  <p:childTnLst>
                                    <p:set>
                                      <p:cBhvr>
                                        <p:cTn id="68" dur="1" fill="hold">
                                          <p:stCondLst>
                                            <p:cond delay="0"/>
                                          </p:stCondLst>
                                        </p:cTn>
                                        <p:tgtEl>
                                          <p:spTgt spid="795664"/>
                                        </p:tgtEl>
                                        <p:attrNameLst>
                                          <p:attrName>style.visibility</p:attrName>
                                        </p:attrNameLst>
                                      </p:cBhvr>
                                      <p:to>
                                        <p:strVal val="visible"/>
                                      </p:to>
                                    </p:set>
                                    <p:animEffect transition="in" filter="wipe(up)">
                                      <p:cBhvr>
                                        <p:cTn id="69" dur="2000"/>
                                        <p:tgtEl>
                                          <p:spTgt spid="795664"/>
                                        </p:tgtEl>
                                      </p:cBhvr>
                                    </p:animEffect>
                                  </p:childTnLst>
                                </p:cTn>
                              </p:par>
                            </p:childTnLst>
                          </p:cTn>
                        </p:par>
                        <p:par>
                          <p:cTn id="70" fill="hold" nodeType="afterGroup">
                            <p:stCondLst>
                              <p:cond delay="6000"/>
                            </p:stCondLst>
                            <p:childTnLst>
                              <p:par>
                                <p:cTn id="71" presetID="22" presetClass="entr" presetSubtype="1" fill="hold" nodeType="afterEffect">
                                  <p:stCondLst>
                                    <p:cond delay="0"/>
                                  </p:stCondLst>
                                  <p:childTnLst>
                                    <p:set>
                                      <p:cBhvr>
                                        <p:cTn id="72" dur="1" fill="hold">
                                          <p:stCondLst>
                                            <p:cond delay="0"/>
                                          </p:stCondLst>
                                        </p:cTn>
                                        <p:tgtEl>
                                          <p:spTgt spid="795665"/>
                                        </p:tgtEl>
                                        <p:attrNameLst>
                                          <p:attrName>style.visibility</p:attrName>
                                        </p:attrNameLst>
                                      </p:cBhvr>
                                      <p:to>
                                        <p:strVal val="visible"/>
                                      </p:to>
                                    </p:set>
                                    <p:animEffect transition="in" filter="wipe(up)">
                                      <p:cBhvr>
                                        <p:cTn id="73" dur="2000"/>
                                        <p:tgtEl>
                                          <p:spTgt spid="795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2" grpId="0"/>
      <p:bldP spid="795654" grpId="0"/>
      <p:bldP spid="795656" grpId="0"/>
      <p:bldP spid="795657" grpId="0"/>
      <p:bldP spid="795660" grpId="0"/>
      <p:bldP spid="795661" grpId="0"/>
      <p:bldP spid="795662" grpId="0"/>
      <p:bldP spid="795664" grpId="0"/>
      <p:bldP spid="7956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46544BCF-AB33-098D-E3FD-4ECEF74884A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185DD82-21F7-45B5-98A7-6701A0B55658}" type="slidenum">
              <a:rPr lang="en-US" altLang="zh-CN" sz="1400">
                <a:ea typeface="宋体" panose="02010600030101010101" pitchFamily="2" charset="-122"/>
              </a:rPr>
              <a:pPr/>
              <a:t>3</a:t>
            </a:fld>
            <a:endParaRPr lang="en-US" altLang="zh-CN" sz="1400">
              <a:ea typeface="宋体" panose="02010600030101010101" pitchFamily="2" charset="-122"/>
            </a:endParaRPr>
          </a:p>
        </p:txBody>
      </p:sp>
      <p:sp>
        <p:nvSpPr>
          <p:cNvPr id="796675" name="Text Box 3">
            <a:extLst>
              <a:ext uri="{FF2B5EF4-FFF2-40B4-BE49-F238E27FC236}">
                <a16:creationId xmlns:a16="http://schemas.microsoft.com/office/drawing/2014/main" id="{BDC890A7-31F3-F078-619A-C2FA68521200}"/>
              </a:ext>
            </a:extLst>
          </p:cNvPr>
          <p:cNvSpPr txBox="1">
            <a:spLocks noChangeArrowheads="1"/>
          </p:cNvSpPr>
          <p:nvPr/>
        </p:nvSpPr>
        <p:spPr bwMode="auto">
          <a:xfrm>
            <a:off x="93663" y="1420813"/>
            <a:ext cx="84105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ea typeface="宋体" panose="02010600030101010101" pitchFamily="2" charset="-122"/>
              </a:rPr>
              <a:t>矢量磁位的定义</a:t>
            </a:r>
          </a:p>
        </p:txBody>
      </p:sp>
      <p:sp>
        <p:nvSpPr>
          <p:cNvPr id="796676" name="Text Box 4">
            <a:extLst>
              <a:ext uri="{FF2B5EF4-FFF2-40B4-BE49-F238E27FC236}">
                <a16:creationId xmlns:a16="http://schemas.microsoft.com/office/drawing/2014/main" id="{FDEC6260-B05B-7296-FEE4-4EB9D432857F}"/>
              </a:ext>
            </a:extLst>
          </p:cNvPr>
          <p:cNvSpPr txBox="1">
            <a:spLocks noChangeArrowheads="1"/>
          </p:cNvSpPr>
          <p:nvPr/>
        </p:nvSpPr>
        <p:spPr bwMode="auto">
          <a:xfrm>
            <a:off x="71438" y="3038475"/>
            <a:ext cx="8964612"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25000"/>
              </a:lnSpc>
              <a:buFontTx/>
              <a:buBlip>
                <a:blip r:embed="rId3"/>
              </a:buBlip>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ea typeface="宋体" panose="02010600030101010101" pitchFamily="2" charset="-122"/>
              </a:rPr>
              <a:t>磁矢位的任意性</a:t>
            </a:r>
          </a:p>
          <a:p>
            <a:pPr algn="just" eaLnBrk="1" hangingPunct="1">
              <a:lnSpc>
                <a:spcPct val="125000"/>
              </a:lnSpc>
            </a:pPr>
            <a:r>
              <a:rPr kumimoji="1" lang="zh-CN" altLang="en-US" b="1">
                <a:solidFill>
                  <a:schemeClr val="bg1"/>
                </a:solidFill>
                <a:latin typeface="Times New Roman" panose="02020603050405020304" pitchFamily="18" charset="0"/>
              </a:rPr>
              <a:t>        与电位一样，磁矢位也不是惟一确定的，它加上任意一个标量</a:t>
            </a:r>
            <a:r>
              <a:rPr kumimoji="1" lang="zh-CN" altLang="en-US" b="1" i="1">
                <a:solidFill>
                  <a:schemeClr val="bg1"/>
                </a:solidFill>
                <a:latin typeface="Times New Roman" panose="02020603050405020304" pitchFamily="18" charset="0"/>
                <a:sym typeface="Symbol" panose="05050102010706020507" pitchFamily="18" charset="2"/>
              </a:rPr>
              <a:t> </a:t>
            </a:r>
            <a:r>
              <a:rPr kumimoji="1" lang="zh-CN" altLang="en-US" b="1">
                <a:solidFill>
                  <a:schemeClr val="bg1"/>
                </a:solidFill>
                <a:latin typeface="Times New Roman" panose="02020603050405020304" pitchFamily="18" charset="0"/>
              </a:rPr>
              <a:t>的梯度以后，仍然表示同一个磁场，即</a:t>
            </a:r>
          </a:p>
        </p:txBody>
      </p:sp>
      <p:sp>
        <p:nvSpPr>
          <p:cNvPr id="796677" name="Text Box 5">
            <a:extLst>
              <a:ext uri="{FF2B5EF4-FFF2-40B4-BE49-F238E27FC236}">
                <a16:creationId xmlns:a16="http://schemas.microsoft.com/office/drawing/2014/main" id="{014026B5-05C6-F102-AD51-352FACBF6A7A}"/>
              </a:ext>
            </a:extLst>
          </p:cNvPr>
          <p:cNvSpPr txBox="1">
            <a:spLocks noChangeArrowheads="1"/>
          </p:cNvSpPr>
          <p:nvPr/>
        </p:nvSpPr>
        <p:spPr bwMode="auto">
          <a:xfrm>
            <a:off x="755650" y="1925638"/>
            <a:ext cx="20161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zh-CN" altLang="en-US" b="1">
                <a:solidFill>
                  <a:schemeClr val="bg1"/>
                </a:solidFill>
                <a:latin typeface="Times New Roman" panose="02020603050405020304" pitchFamily="18" charset="0"/>
              </a:rPr>
              <a:t>由</a:t>
            </a:r>
          </a:p>
        </p:txBody>
      </p:sp>
      <p:graphicFrame>
        <p:nvGraphicFramePr>
          <p:cNvPr id="796679" name="Object 7">
            <a:extLst>
              <a:ext uri="{FF2B5EF4-FFF2-40B4-BE49-F238E27FC236}">
                <a16:creationId xmlns:a16="http://schemas.microsoft.com/office/drawing/2014/main" id="{334F7836-6BCB-59DB-2C76-54AB540A873E}"/>
              </a:ext>
            </a:extLst>
          </p:cNvPr>
          <p:cNvGraphicFramePr>
            <a:graphicFrameLocks noChangeAspect="1"/>
          </p:cNvGraphicFramePr>
          <p:nvPr/>
        </p:nvGraphicFramePr>
        <p:xfrm>
          <a:off x="1403350" y="4551363"/>
          <a:ext cx="1628775" cy="482600"/>
        </p:xfrm>
        <a:graphic>
          <a:graphicData uri="http://schemas.openxmlformats.org/presentationml/2006/ole">
            <mc:AlternateContent xmlns:mc="http://schemas.openxmlformats.org/markup-compatibility/2006">
              <mc:Choice xmlns:v="urn:schemas-microsoft-com:vml" Requires="v">
                <p:oleObj name="Equation" r:id="rId4" imgW="742861" imgH="164965" progId="Equation.DSMT4">
                  <p:embed/>
                </p:oleObj>
              </mc:Choice>
              <mc:Fallback>
                <p:oleObj name="Equation" r:id="rId4" imgW="742861" imgH="164965"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4551363"/>
                        <a:ext cx="1628775" cy="4826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6680" name="Object 8">
            <a:extLst>
              <a:ext uri="{FF2B5EF4-FFF2-40B4-BE49-F238E27FC236}">
                <a16:creationId xmlns:a16="http://schemas.microsoft.com/office/drawing/2014/main" id="{6E053B94-1816-F8FF-2E40-D11557303B55}"/>
              </a:ext>
            </a:extLst>
          </p:cNvPr>
          <p:cNvGraphicFramePr>
            <a:graphicFrameLocks noChangeAspect="1"/>
          </p:cNvGraphicFramePr>
          <p:nvPr/>
        </p:nvGraphicFramePr>
        <p:xfrm>
          <a:off x="1476375" y="2033588"/>
          <a:ext cx="1179513" cy="455612"/>
        </p:xfrm>
        <a:graphic>
          <a:graphicData uri="http://schemas.openxmlformats.org/presentationml/2006/ole">
            <mc:AlternateContent xmlns:mc="http://schemas.openxmlformats.org/markup-compatibility/2006">
              <mc:Choice xmlns:v="urn:schemas-microsoft-com:vml" Requires="v">
                <p:oleObj name="Equation" r:id="rId6" imgW="482414" imgH="139835" progId="Equation.DSMT4">
                  <p:embed/>
                </p:oleObj>
              </mc:Choice>
              <mc:Fallback>
                <p:oleObj name="Equation" r:id="rId6" imgW="482414" imgH="139835"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2033588"/>
                        <a:ext cx="1179513" cy="45561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96693" name="Group 21">
            <a:extLst>
              <a:ext uri="{FF2B5EF4-FFF2-40B4-BE49-F238E27FC236}">
                <a16:creationId xmlns:a16="http://schemas.microsoft.com/office/drawing/2014/main" id="{05E9B606-F396-CC30-094E-EEA1164E9EF9}"/>
              </a:ext>
            </a:extLst>
          </p:cNvPr>
          <p:cNvGrpSpPr>
            <a:grpSpLocks/>
          </p:cNvGrpSpPr>
          <p:nvPr/>
        </p:nvGrpSpPr>
        <p:grpSpPr bwMode="auto">
          <a:xfrm>
            <a:off x="2987675" y="2060575"/>
            <a:ext cx="2065338" cy="431800"/>
            <a:chOff x="1987" y="1253"/>
            <a:chExt cx="1301" cy="272"/>
          </a:xfrm>
        </p:grpSpPr>
        <p:graphicFrame>
          <p:nvGraphicFramePr>
            <p:cNvPr id="71705" name="Object 6">
              <a:extLst>
                <a:ext uri="{FF2B5EF4-FFF2-40B4-BE49-F238E27FC236}">
                  <a16:creationId xmlns:a16="http://schemas.microsoft.com/office/drawing/2014/main" id="{11DD8E5D-B7DB-B5C6-3FE3-7ED60F2EFEDC}"/>
                </a:ext>
              </a:extLst>
            </p:cNvPr>
            <p:cNvGraphicFramePr>
              <a:graphicFrameLocks noChangeAspect="1"/>
            </p:cNvGraphicFramePr>
            <p:nvPr/>
          </p:nvGraphicFramePr>
          <p:xfrm>
            <a:off x="2486" y="1253"/>
            <a:ext cx="802" cy="272"/>
          </p:xfrm>
          <a:graphic>
            <a:graphicData uri="http://schemas.openxmlformats.org/presentationml/2006/ole">
              <mc:AlternateContent xmlns:mc="http://schemas.openxmlformats.org/markup-compatibility/2006">
                <mc:Choice xmlns:v="urn:schemas-microsoft-com:vml" Requires="v">
                  <p:oleObj name="Equation" r:id="rId8" imgW="558969" imgH="139835" progId="Equation.DSMT4">
                    <p:embed/>
                  </p:oleObj>
                </mc:Choice>
                <mc:Fallback>
                  <p:oleObj name="Equation" r:id="rId8" imgW="558969" imgH="139835"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6" y="1253"/>
                          <a:ext cx="802" cy="27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6" name="AutoShape 9">
              <a:extLst>
                <a:ext uri="{FF2B5EF4-FFF2-40B4-BE49-F238E27FC236}">
                  <a16:creationId xmlns:a16="http://schemas.microsoft.com/office/drawing/2014/main" id="{D9CA8F79-F706-2063-8B9D-2F2168089D87}"/>
                </a:ext>
              </a:extLst>
            </p:cNvPr>
            <p:cNvSpPr>
              <a:spLocks noChangeArrowheads="1"/>
            </p:cNvSpPr>
            <p:nvPr/>
          </p:nvSpPr>
          <p:spPr bwMode="auto">
            <a:xfrm>
              <a:off x="1987" y="1344"/>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796682" name="Text Box 10">
            <a:extLst>
              <a:ext uri="{FF2B5EF4-FFF2-40B4-BE49-F238E27FC236}">
                <a16:creationId xmlns:a16="http://schemas.microsoft.com/office/drawing/2014/main" id="{0870F4A6-4388-7539-AF68-4D5E15EC50AC}"/>
              </a:ext>
            </a:extLst>
          </p:cNvPr>
          <p:cNvSpPr txBox="1">
            <a:spLocks noChangeArrowheads="1"/>
          </p:cNvSpPr>
          <p:nvPr/>
        </p:nvSpPr>
        <p:spPr bwMode="auto">
          <a:xfrm>
            <a:off x="71438" y="2489200"/>
            <a:ext cx="89646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25000"/>
              </a:lnSpc>
            </a:pPr>
            <a:r>
              <a:rPr kumimoji="1" lang="zh-CN" altLang="en-US" b="1">
                <a:solidFill>
                  <a:schemeClr val="bg1"/>
                </a:solidFill>
              </a:rPr>
              <a:t>即恒定磁场可以用一个矢量函数的旋度来表示。</a:t>
            </a:r>
            <a:endParaRPr lang="zh-CN" altLang="en-US" b="1">
              <a:solidFill>
                <a:schemeClr val="bg1"/>
              </a:solidFill>
              <a:latin typeface="Times New Roman" panose="02020603050405020304" pitchFamily="18" charset="0"/>
            </a:endParaRPr>
          </a:p>
        </p:txBody>
      </p:sp>
      <p:grpSp>
        <p:nvGrpSpPr>
          <p:cNvPr id="796692" name="Group 20">
            <a:extLst>
              <a:ext uri="{FF2B5EF4-FFF2-40B4-BE49-F238E27FC236}">
                <a16:creationId xmlns:a16="http://schemas.microsoft.com/office/drawing/2014/main" id="{2F2F9424-5676-288A-610F-4541507AFC2F}"/>
              </a:ext>
            </a:extLst>
          </p:cNvPr>
          <p:cNvGrpSpPr>
            <a:grpSpLocks/>
          </p:cNvGrpSpPr>
          <p:nvPr/>
        </p:nvGrpSpPr>
        <p:grpSpPr bwMode="auto">
          <a:xfrm>
            <a:off x="107950" y="5008563"/>
            <a:ext cx="8964613" cy="1516062"/>
            <a:chOff x="68" y="3155"/>
            <a:chExt cx="5647" cy="955"/>
          </a:xfrm>
        </p:grpSpPr>
        <p:sp>
          <p:nvSpPr>
            <p:cNvPr id="71703" name="Text Box 12">
              <a:extLst>
                <a:ext uri="{FF2B5EF4-FFF2-40B4-BE49-F238E27FC236}">
                  <a16:creationId xmlns:a16="http://schemas.microsoft.com/office/drawing/2014/main" id="{5282C231-2A72-10FD-C9BF-C29D1B396083}"/>
                </a:ext>
              </a:extLst>
            </p:cNvPr>
            <p:cNvSpPr txBox="1">
              <a:spLocks noChangeArrowheads="1"/>
            </p:cNvSpPr>
            <p:nvPr/>
          </p:nvSpPr>
          <p:spPr bwMode="auto">
            <a:xfrm>
              <a:off x="68" y="3155"/>
              <a:ext cx="5647" cy="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en-US" altLang="zh-CN" b="1">
                  <a:solidFill>
                    <a:schemeClr val="bg1"/>
                  </a:solidFill>
                  <a:latin typeface="Times New Roman" panose="02020603050405020304" pitchFamily="18" charset="0"/>
                </a:rPr>
                <a:t>        </a:t>
              </a:r>
              <a:r>
                <a:rPr kumimoji="1" lang="zh-CN" altLang="en-US" b="1">
                  <a:solidFill>
                    <a:srgbClr val="FF9933"/>
                  </a:solidFill>
                  <a:latin typeface="Times New Roman" panose="02020603050405020304" pitchFamily="18" charset="0"/>
                </a:rPr>
                <a:t>磁矢位的任意性是因为只规定了它的旋度，没有规定其散度造成的。</a:t>
              </a:r>
              <a:r>
                <a:rPr kumimoji="1" lang="zh-CN" altLang="en-US" b="1">
                  <a:solidFill>
                    <a:schemeClr val="bg1"/>
                  </a:solidFill>
                  <a:latin typeface="Times New Roman" panose="02020603050405020304" pitchFamily="18" charset="0"/>
                </a:rPr>
                <a:t>为了得到确定的</a:t>
              </a:r>
              <a:r>
                <a:rPr kumimoji="1" lang="en-US" altLang="zh-CN" b="1" i="1">
                  <a:solidFill>
                    <a:schemeClr val="bg1"/>
                  </a:solidFill>
                  <a:latin typeface="Times New Roman" panose="02020603050405020304" pitchFamily="18" charset="0"/>
                </a:rPr>
                <a:t>A</a:t>
              </a:r>
              <a:r>
                <a:rPr kumimoji="1" lang="zh-CN" altLang="en-US" b="1">
                  <a:solidFill>
                    <a:schemeClr val="bg1"/>
                  </a:solidFill>
                  <a:latin typeface="Times New Roman" panose="02020603050405020304" pitchFamily="18" charset="0"/>
                </a:rPr>
                <a:t>，可以对</a:t>
              </a:r>
              <a:r>
                <a:rPr kumimoji="1" lang="en-US" altLang="zh-CN" b="1" i="1">
                  <a:solidFill>
                    <a:schemeClr val="bg1"/>
                  </a:solidFill>
                  <a:latin typeface="Times New Roman" panose="02020603050405020304" pitchFamily="18" charset="0"/>
                </a:rPr>
                <a:t>A</a:t>
              </a:r>
              <a:r>
                <a:rPr kumimoji="1" lang="zh-CN" altLang="en-US" b="1">
                  <a:solidFill>
                    <a:schemeClr val="bg1"/>
                  </a:solidFill>
                  <a:latin typeface="Times New Roman" panose="02020603050405020304" pitchFamily="18" charset="0"/>
                </a:rPr>
                <a:t>的散度加以限制，在恒定磁场中通常规定　　　　，并称为</a:t>
              </a:r>
              <a:r>
                <a:rPr kumimoji="1" lang="zh-CN" altLang="en-US" b="1">
                  <a:solidFill>
                    <a:srgbClr val="FF9933"/>
                  </a:solidFill>
                  <a:latin typeface="Times New Roman" panose="02020603050405020304" pitchFamily="18" charset="0"/>
                </a:rPr>
                <a:t>库仑规范</a:t>
              </a:r>
              <a:r>
                <a:rPr kumimoji="1" lang="zh-CN" altLang="en-US" b="1">
                  <a:solidFill>
                    <a:schemeClr val="bg1"/>
                  </a:solidFill>
                  <a:latin typeface="Times New Roman" panose="02020603050405020304" pitchFamily="18" charset="0"/>
                </a:rPr>
                <a:t>。</a:t>
              </a:r>
            </a:p>
          </p:txBody>
        </p:sp>
        <p:graphicFrame>
          <p:nvGraphicFramePr>
            <p:cNvPr id="71704" name="Object 13">
              <a:extLst>
                <a:ext uri="{FF2B5EF4-FFF2-40B4-BE49-F238E27FC236}">
                  <a16:creationId xmlns:a16="http://schemas.microsoft.com/office/drawing/2014/main" id="{AE94A9EB-DD5B-B631-7230-0A891B3B5A1E}"/>
                </a:ext>
              </a:extLst>
            </p:cNvPr>
            <p:cNvGraphicFramePr>
              <a:graphicFrameLocks noChangeAspect="1"/>
            </p:cNvGraphicFramePr>
            <p:nvPr/>
          </p:nvGraphicFramePr>
          <p:xfrm>
            <a:off x="1338" y="3822"/>
            <a:ext cx="698" cy="270"/>
          </p:xfrm>
          <a:graphic>
            <a:graphicData uri="http://schemas.openxmlformats.org/presentationml/2006/ole">
              <mc:AlternateContent xmlns:mc="http://schemas.openxmlformats.org/markup-compatibility/2006">
                <mc:Choice xmlns:v="urn:schemas-microsoft-com:vml" Requires="v">
                  <p:oleObj name="Equation" r:id="rId10" imgW="482414" imgH="139835" progId="Equation.DSMT4">
                    <p:embed/>
                  </p:oleObj>
                </mc:Choice>
                <mc:Fallback>
                  <p:oleObj name="Equation" r:id="rId10" imgW="482414" imgH="139835"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8" y="3822"/>
                          <a:ext cx="698" cy="27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96694" name="Group 22">
            <a:extLst>
              <a:ext uri="{FF2B5EF4-FFF2-40B4-BE49-F238E27FC236}">
                <a16:creationId xmlns:a16="http://schemas.microsoft.com/office/drawing/2014/main" id="{A8C5A73A-9160-3B3F-0BE8-A7CB64243499}"/>
              </a:ext>
            </a:extLst>
          </p:cNvPr>
          <p:cNvGrpSpPr>
            <a:grpSpLocks/>
          </p:cNvGrpSpPr>
          <p:nvPr/>
        </p:nvGrpSpPr>
        <p:grpSpPr bwMode="auto">
          <a:xfrm>
            <a:off x="3059113" y="4581525"/>
            <a:ext cx="4968875" cy="503238"/>
            <a:chOff x="1927" y="2899"/>
            <a:chExt cx="3067" cy="304"/>
          </a:xfrm>
        </p:grpSpPr>
        <p:graphicFrame>
          <p:nvGraphicFramePr>
            <p:cNvPr id="71701" name="Object 11">
              <a:extLst>
                <a:ext uri="{FF2B5EF4-FFF2-40B4-BE49-F238E27FC236}">
                  <a16:creationId xmlns:a16="http://schemas.microsoft.com/office/drawing/2014/main" id="{27EDC83D-9E67-4195-09FF-627F899451A8}"/>
                </a:ext>
              </a:extLst>
            </p:cNvPr>
            <p:cNvGraphicFramePr>
              <a:graphicFrameLocks noChangeAspect="1"/>
            </p:cNvGraphicFramePr>
            <p:nvPr/>
          </p:nvGraphicFramePr>
          <p:xfrm>
            <a:off x="2380" y="2899"/>
            <a:ext cx="2614" cy="304"/>
          </p:xfrm>
          <a:graphic>
            <a:graphicData uri="http://schemas.openxmlformats.org/presentationml/2006/ole">
              <mc:AlternateContent xmlns:mc="http://schemas.openxmlformats.org/markup-compatibility/2006">
                <mc:Choice xmlns:v="urn:schemas-microsoft-com:vml" Requires="v">
                  <p:oleObj name="Equation" r:id="rId12" imgW="1994060" imgH="164965" progId="Equation.DSMT4">
                    <p:embed/>
                  </p:oleObj>
                </mc:Choice>
                <mc:Fallback>
                  <p:oleObj name="Equation" r:id="rId12" imgW="1994060" imgH="164965"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80" y="2899"/>
                          <a:ext cx="2614" cy="304"/>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2" name="AutoShape 14">
              <a:extLst>
                <a:ext uri="{FF2B5EF4-FFF2-40B4-BE49-F238E27FC236}">
                  <a16:creationId xmlns:a16="http://schemas.microsoft.com/office/drawing/2014/main" id="{7FC9F713-B1B9-4B8F-ADE8-AB1C6A1E7330}"/>
                </a:ext>
              </a:extLst>
            </p:cNvPr>
            <p:cNvSpPr>
              <a:spLocks noChangeArrowheads="1"/>
            </p:cNvSpPr>
            <p:nvPr/>
          </p:nvSpPr>
          <p:spPr bwMode="auto">
            <a:xfrm>
              <a:off x="1927" y="2989"/>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796687" name="Text Box 15">
            <a:extLst>
              <a:ext uri="{FF2B5EF4-FFF2-40B4-BE49-F238E27FC236}">
                <a16:creationId xmlns:a16="http://schemas.microsoft.com/office/drawing/2014/main" id="{8183914A-C244-2090-1B7D-42AA0C7AACA7}"/>
              </a:ext>
            </a:extLst>
          </p:cNvPr>
          <p:cNvSpPr txBox="1">
            <a:spLocks noChangeArrowheads="1"/>
          </p:cNvSpPr>
          <p:nvPr/>
        </p:nvSpPr>
        <p:spPr bwMode="auto">
          <a:xfrm>
            <a:off x="115888" y="908050"/>
            <a:ext cx="640080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en-US" altLang="zh-CN" b="1">
                <a:solidFill>
                  <a:srgbClr val="FF7C80"/>
                </a:solidFill>
                <a:latin typeface="Times New Roman" panose="02020603050405020304" pitchFamily="18" charset="0"/>
              </a:rPr>
              <a:t>1.  </a:t>
            </a:r>
            <a:r>
              <a:rPr kumimoji="1" lang="zh-CN" altLang="en-US" b="1">
                <a:solidFill>
                  <a:srgbClr val="FF7C80"/>
                </a:solidFill>
                <a:ea typeface="宋体" panose="02010600030101010101" pitchFamily="2" charset="-122"/>
              </a:rPr>
              <a:t>恒定磁场的矢量磁位</a:t>
            </a:r>
          </a:p>
        </p:txBody>
      </p:sp>
      <p:grpSp>
        <p:nvGrpSpPr>
          <p:cNvPr id="796695" name="Group 23">
            <a:extLst>
              <a:ext uri="{FF2B5EF4-FFF2-40B4-BE49-F238E27FC236}">
                <a16:creationId xmlns:a16="http://schemas.microsoft.com/office/drawing/2014/main" id="{B593E44A-A6CA-3234-0DB5-18107D82DF13}"/>
              </a:ext>
            </a:extLst>
          </p:cNvPr>
          <p:cNvGrpSpPr>
            <a:grpSpLocks/>
          </p:cNvGrpSpPr>
          <p:nvPr/>
        </p:nvGrpSpPr>
        <p:grpSpPr bwMode="auto">
          <a:xfrm>
            <a:off x="5003800" y="1412875"/>
            <a:ext cx="3816350" cy="792163"/>
            <a:chOff x="3288" y="798"/>
            <a:chExt cx="2404" cy="499"/>
          </a:xfrm>
        </p:grpSpPr>
        <p:sp>
          <p:nvSpPr>
            <p:cNvPr id="71699" name="Text Box 16">
              <a:extLst>
                <a:ext uri="{FF2B5EF4-FFF2-40B4-BE49-F238E27FC236}">
                  <a16:creationId xmlns:a16="http://schemas.microsoft.com/office/drawing/2014/main" id="{1BF9B855-ED60-1F48-2CAE-9E9E49C9E028}"/>
                </a:ext>
              </a:extLst>
            </p:cNvPr>
            <p:cNvSpPr txBox="1">
              <a:spLocks noChangeArrowheads="1"/>
            </p:cNvSpPr>
            <p:nvPr/>
          </p:nvSpPr>
          <p:spPr bwMode="auto">
            <a:xfrm>
              <a:off x="3651" y="798"/>
              <a:ext cx="2041" cy="279"/>
            </a:xfrm>
            <a:prstGeom prst="rect">
              <a:avLst/>
            </a:prstGeom>
            <a:solidFill>
              <a:srgbClr val="CCFFFF"/>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90000"/>
                </a:lnSpc>
              </a:pPr>
              <a:r>
                <a:rPr kumimoji="1" lang="zh-CN" altLang="en-US" b="1">
                  <a:solidFill>
                    <a:srgbClr val="990000"/>
                  </a:solidFill>
                  <a:ea typeface="宋体" panose="02010600030101010101" pitchFamily="2" charset="-122"/>
                </a:rPr>
                <a:t>矢量磁位或称磁矢位</a:t>
              </a:r>
              <a:endParaRPr lang="zh-CN" altLang="en-US" b="1">
                <a:solidFill>
                  <a:srgbClr val="990000"/>
                </a:solidFill>
                <a:latin typeface="Times New Roman" panose="02020603050405020304" pitchFamily="18" charset="0"/>
                <a:ea typeface="宋体" panose="02010600030101010101" pitchFamily="2" charset="-122"/>
              </a:endParaRPr>
            </a:p>
          </p:txBody>
        </p:sp>
        <p:sp>
          <p:nvSpPr>
            <p:cNvPr id="71700" name="Line 17">
              <a:extLst>
                <a:ext uri="{FF2B5EF4-FFF2-40B4-BE49-F238E27FC236}">
                  <a16:creationId xmlns:a16="http://schemas.microsoft.com/office/drawing/2014/main" id="{61ED99AB-8CB9-D189-F504-3A9B73735423}"/>
                </a:ext>
              </a:extLst>
            </p:cNvPr>
            <p:cNvSpPr>
              <a:spLocks noChangeShapeType="1"/>
            </p:cNvSpPr>
            <p:nvPr/>
          </p:nvSpPr>
          <p:spPr bwMode="auto">
            <a:xfrm flipH="1">
              <a:off x="3288" y="1071"/>
              <a:ext cx="408" cy="226"/>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96690" name="Rectangle 18">
            <a:extLst>
              <a:ext uri="{FF2B5EF4-FFF2-40B4-BE49-F238E27FC236}">
                <a16:creationId xmlns:a16="http://schemas.microsoft.com/office/drawing/2014/main" id="{6330A833-7536-E08A-93D8-8559D46392B3}"/>
              </a:ext>
            </a:extLst>
          </p:cNvPr>
          <p:cNvSpPr>
            <a:spLocks noChangeArrowheads="1"/>
          </p:cNvSpPr>
          <p:nvPr/>
        </p:nvSpPr>
        <p:spPr bwMode="auto">
          <a:xfrm>
            <a:off x="85725" y="476250"/>
            <a:ext cx="88788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en-US" altLang="zh-CN">
                <a:solidFill>
                  <a:schemeClr val="accent1"/>
                </a:solidFill>
                <a:latin typeface="Times New Roman" panose="02020603050405020304" pitchFamily="18" charset="0"/>
                <a:ea typeface="幼圆" panose="02010509060101010101" pitchFamily="49" charset="-122"/>
                <a:cs typeface="Arial" panose="020B0604020202020204" pitchFamily="34" charset="0"/>
              </a:rPr>
              <a:t> </a:t>
            </a:r>
            <a:r>
              <a:rPr lang="en-US" altLang="zh-CN" b="1">
                <a:solidFill>
                  <a:schemeClr val="bg1"/>
                </a:solidFill>
                <a:latin typeface="Times New Roman" panose="02020603050405020304" pitchFamily="18" charset="0"/>
                <a:ea typeface="幼圆" panose="02010509060101010101" pitchFamily="49" charset="-122"/>
                <a:cs typeface="Arial" panose="020B0604020202020204" pitchFamily="34" charset="0"/>
              </a:rPr>
              <a:t>3.3.2  </a:t>
            </a:r>
            <a:r>
              <a:rPr kumimoji="1" lang="zh-CN" altLang="en-US" b="1">
                <a:solidFill>
                  <a:schemeClr val="bg1"/>
                </a:solidFill>
                <a:latin typeface="Times New Roman" panose="02020603050405020304" pitchFamily="18" charset="0"/>
                <a:ea typeface="幼圆" panose="02010509060101010101" pitchFamily="49" charset="-122"/>
                <a:cs typeface="Arial" panose="020B0604020202020204" pitchFamily="34" charset="0"/>
              </a:rPr>
              <a:t>恒定磁场的矢量磁位和标量磁位</a:t>
            </a:r>
          </a:p>
        </p:txBody>
      </p:sp>
      <p:sp>
        <p:nvSpPr>
          <p:cNvPr id="71695" name="AutoShape 24">
            <a:hlinkClick r:id="rId14" action="ppaction://hlinksldjump" highlightClick="1"/>
            <a:extLst>
              <a:ext uri="{FF2B5EF4-FFF2-40B4-BE49-F238E27FC236}">
                <a16:creationId xmlns:a16="http://schemas.microsoft.com/office/drawing/2014/main" id="{B48BCB01-82FB-1A7F-9F5A-AEF2516E440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696" name="AutoShape 25">
            <a:hlinkClick r:id="" action="ppaction://hlinkshowjump?jump=previousslide" highlightClick="1"/>
            <a:extLst>
              <a:ext uri="{FF2B5EF4-FFF2-40B4-BE49-F238E27FC236}">
                <a16:creationId xmlns:a16="http://schemas.microsoft.com/office/drawing/2014/main" id="{BC6D5E6D-8F34-C393-D2C0-2332BFCE340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697" name="AutoShape 26">
            <a:hlinkClick r:id="" action="ppaction://hlinkshowjump?jump=nextslide" highlightClick="1"/>
            <a:extLst>
              <a:ext uri="{FF2B5EF4-FFF2-40B4-BE49-F238E27FC236}">
                <a16:creationId xmlns:a16="http://schemas.microsoft.com/office/drawing/2014/main" id="{36FD89AC-1AA7-8A38-897C-452D41BA3D0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698" name="AutoShape 27">
            <a:hlinkClick r:id="" action="ppaction://hlinkshowjump?jump=lastslide" highlightClick="1"/>
            <a:extLst>
              <a:ext uri="{FF2B5EF4-FFF2-40B4-BE49-F238E27FC236}">
                <a16:creationId xmlns:a16="http://schemas.microsoft.com/office/drawing/2014/main" id="{EDB6561F-C407-0DA0-D09E-E29F884590E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96690"/>
                                        </p:tgtEl>
                                        <p:attrNameLst>
                                          <p:attrName>style.visibility</p:attrName>
                                        </p:attrNameLst>
                                      </p:cBhvr>
                                      <p:to>
                                        <p:strVal val="visible"/>
                                      </p:to>
                                    </p:set>
                                    <p:animEffect transition="in" filter="wipe(up)">
                                      <p:cBhvr>
                                        <p:cTn id="7" dur="2000"/>
                                        <p:tgtEl>
                                          <p:spTgt spid="7966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6687"/>
                                        </p:tgtEl>
                                        <p:attrNameLst>
                                          <p:attrName>style.visibility</p:attrName>
                                        </p:attrNameLst>
                                      </p:cBhvr>
                                      <p:to>
                                        <p:strVal val="visible"/>
                                      </p:to>
                                    </p:set>
                                    <p:animEffect transition="in" filter="wipe(up)">
                                      <p:cBhvr>
                                        <p:cTn id="12" dur="2000"/>
                                        <p:tgtEl>
                                          <p:spTgt spid="796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96675"/>
                                        </p:tgtEl>
                                        <p:attrNameLst>
                                          <p:attrName>style.visibility</p:attrName>
                                        </p:attrNameLst>
                                      </p:cBhvr>
                                      <p:to>
                                        <p:strVal val="visible"/>
                                      </p:to>
                                    </p:set>
                                    <p:animEffect transition="in" filter="wipe(up)">
                                      <p:cBhvr>
                                        <p:cTn id="17" dur="2000"/>
                                        <p:tgtEl>
                                          <p:spTgt spid="796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96677"/>
                                        </p:tgtEl>
                                        <p:attrNameLst>
                                          <p:attrName>style.visibility</p:attrName>
                                        </p:attrNameLst>
                                      </p:cBhvr>
                                      <p:to>
                                        <p:strVal val="visible"/>
                                      </p:to>
                                    </p:set>
                                    <p:animEffect transition="in" filter="wipe(up)">
                                      <p:cBhvr>
                                        <p:cTn id="22" dur="2000"/>
                                        <p:tgtEl>
                                          <p:spTgt spid="796677"/>
                                        </p:tgtEl>
                                      </p:cBhvr>
                                    </p:animEffect>
                                  </p:childTnLst>
                                </p:cTn>
                              </p:par>
                            </p:childTnLst>
                          </p:cTn>
                        </p:par>
                        <p:par>
                          <p:cTn id="23" fill="hold" nodeType="afterGroup">
                            <p:stCondLst>
                              <p:cond delay="2000"/>
                            </p:stCondLst>
                            <p:childTnLst>
                              <p:par>
                                <p:cTn id="24" presetID="22" presetClass="entr" presetSubtype="1" fill="hold" nodeType="afterEffect">
                                  <p:stCondLst>
                                    <p:cond delay="0"/>
                                  </p:stCondLst>
                                  <p:childTnLst>
                                    <p:set>
                                      <p:cBhvr>
                                        <p:cTn id="25" dur="1" fill="hold">
                                          <p:stCondLst>
                                            <p:cond delay="0"/>
                                          </p:stCondLst>
                                        </p:cTn>
                                        <p:tgtEl>
                                          <p:spTgt spid="796680"/>
                                        </p:tgtEl>
                                        <p:attrNameLst>
                                          <p:attrName>style.visibility</p:attrName>
                                        </p:attrNameLst>
                                      </p:cBhvr>
                                      <p:to>
                                        <p:strVal val="visible"/>
                                      </p:to>
                                    </p:set>
                                    <p:animEffect transition="in" filter="wipe(up)">
                                      <p:cBhvr>
                                        <p:cTn id="26" dur="2000"/>
                                        <p:tgtEl>
                                          <p:spTgt spid="7966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96693"/>
                                        </p:tgtEl>
                                        <p:attrNameLst>
                                          <p:attrName>style.visibility</p:attrName>
                                        </p:attrNameLst>
                                      </p:cBhvr>
                                      <p:to>
                                        <p:strVal val="visible"/>
                                      </p:to>
                                    </p:set>
                                    <p:animEffect transition="in" filter="wipe(up)">
                                      <p:cBhvr>
                                        <p:cTn id="31" dur="2000"/>
                                        <p:tgtEl>
                                          <p:spTgt spid="796693"/>
                                        </p:tgtEl>
                                      </p:cBhvr>
                                    </p:animEffect>
                                  </p:childTnLst>
                                </p:cTn>
                              </p:par>
                            </p:childTnLst>
                          </p:cTn>
                        </p:par>
                        <p:par>
                          <p:cTn id="32" fill="hold" nodeType="afterGroup">
                            <p:stCondLst>
                              <p:cond delay="2000"/>
                            </p:stCondLst>
                            <p:childTnLst>
                              <p:par>
                                <p:cTn id="33" presetID="10" presetClass="entr" presetSubtype="0" fill="hold" nodeType="afterEffect">
                                  <p:stCondLst>
                                    <p:cond delay="0"/>
                                  </p:stCondLst>
                                  <p:childTnLst>
                                    <p:set>
                                      <p:cBhvr>
                                        <p:cTn id="34" dur="1" fill="hold">
                                          <p:stCondLst>
                                            <p:cond delay="0"/>
                                          </p:stCondLst>
                                        </p:cTn>
                                        <p:tgtEl>
                                          <p:spTgt spid="796695"/>
                                        </p:tgtEl>
                                        <p:attrNameLst>
                                          <p:attrName>style.visibility</p:attrName>
                                        </p:attrNameLst>
                                      </p:cBhvr>
                                      <p:to>
                                        <p:strVal val="visible"/>
                                      </p:to>
                                    </p:set>
                                    <p:animEffect transition="in" filter="fade">
                                      <p:cBhvr>
                                        <p:cTn id="35" dur="2000"/>
                                        <p:tgtEl>
                                          <p:spTgt spid="79669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796682"/>
                                        </p:tgtEl>
                                        <p:attrNameLst>
                                          <p:attrName>style.visibility</p:attrName>
                                        </p:attrNameLst>
                                      </p:cBhvr>
                                      <p:to>
                                        <p:strVal val="visible"/>
                                      </p:to>
                                    </p:set>
                                    <p:animEffect transition="in" filter="wipe(up)">
                                      <p:cBhvr>
                                        <p:cTn id="40" dur="2000"/>
                                        <p:tgtEl>
                                          <p:spTgt spid="7966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796676"/>
                                        </p:tgtEl>
                                        <p:attrNameLst>
                                          <p:attrName>style.visibility</p:attrName>
                                        </p:attrNameLst>
                                      </p:cBhvr>
                                      <p:to>
                                        <p:strVal val="visible"/>
                                      </p:to>
                                    </p:set>
                                    <p:animEffect transition="in" filter="wipe(up)">
                                      <p:cBhvr>
                                        <p:cTn id="45" dur="3000"/>
                                        <p:tgtEl>
                                          <p:spTgt spid="796676"/>
                                        </p:tgtEl>
                                      </p:cBhvr>
                                    </p:animEffect>
                                  </p:childTnLst>
                                </p:cTn>
                              </p:par>
                            </p:childTnLst>
                          </p:cTn>
                        </p:par>
                        <p:par>
                          <p:cTn id="46" fill="hold" nodeType="afterGroup">
                            <p:stCondLst>
                              <p:cond delay="3000"/>
                            </p:stCondLst>
                            <p:childTnLst>
                              <p:par>
                                <p:cTn id="47" presetID="22" presetClass="entr" presetSubtype="1" fill="hold" nodeType="afterEffect">
                                  <p:stCondLst>
                                    <p:cond delay="0"/>
                                  </p:stCondLst>
                                  <p:childTnLst>
                                    <p:set>
                                      <p:cBhvr>
                                        <p:cTn id="48" dur="1" fill="hold">
                                          <p:stCondLst>
                                            <p:cond delay="0"/>
                                          </p:stCondLst>
                                        </p:cTn>
                                        <p:tgtEl>
                                          <p:spTgt spid="796679"/>
                                        </p:tgtEl>
                                        <p:attrNameLst>
                                          <p:attrName>style.visibility</p:attrName>
                                        </p:attrNameLst>
                                      </p:cBhvr>
                                      <p:to>
                                        <p:strVal val="visible"/>
                                      </p:to>
                                    </p:set>
                                    <p:animEffect transition="in" filter="wipe(up)">
                                      <p:cBhvr>
                                        <p:cTn id="49" dur="2000"/>
                                        <p:tgtEl>
                                          <p:spTgt spid="79667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796694"/>
                                        </p:tgtEl>
                                        <p:attrNameLst>
                                          <p:attrName>style.visibility</p:attrName>
                                        </p:attrNameLst>
                                      </p:cBhvr>
                                      <p:to>
                                        <p:strVal val="visible"/>
                                      </p:to>
                                    </p:set>
                                    <p:animEffect transition="in" filter="wipe(up)">
                                      <p:cBhvr>
                                        <p:cTn id="54" dur="2000"/>
                                        <p:tgtEl>
                                          <p:spTgt spid="79669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96692"/>
                                        </p:tgtEl>
                                        <p:attrNameLst>
                                          <p:attrName>style.visibility</p:attrName>
                                        </p:attrNameLst>
                                      </p:cBhvr>
                                      <p:to>
                                        <p:strVal val="visible"/>
                                      </p:to>
                                    </p:set>
                                    <p:animEffect transition="in" filter="wipe(up)">
                                      <p:cBhvr>
                                        <p:cTn id="59" dur="3000"/>
                                        <p:tgtEl>
                                          <p:spTgt spid="79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5" grpId="0"/>
      <p:bldP spid="796676" grpId="0"/>
      <p:bldP spid="796677" grpId="0"/>
      <p:bldP spid="796682" grpId="0"/>
      <p:bldP spid="796687" grpId="0"/>
      <p:bldP spid="7966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6EE8999F-39F6-DB4A-EA81-5920DD66A72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F2492CC-E42B-47D2-83A4-91DF47B4BBF5}" type="slidenum">
              <a:rPr lang="en-US" altLang="zh-CN" sz="1400">
                <a:ea typeface="宋体" panose="02010600030101010101" pitchFamily="2" charset="-122"/>
              </a:rPr>
              <a:pPr/>
              <a:t>4</a:t>
            </a:fld>
            <a:endParaRPr lang="en-US" altLang="zh-CN" sz="1400">
              <a:ea typeface="宋体" panose="02010600030101010101" pitchFamily="2" charset="-122"/>
            </a:endParaRPr>
          </a:p>
        </p:txBody>
      </p:sp>
      <p:grpSp>
        <p:nvGrpSpPr>
          <p:cNvPr id="798727" name="Group 7">
            <a:extLst>
              <a:ext uri="{FF2B5EF4-FFF2-40B4-BE49-F238E27FC236}">
                <a16:creationId xmlns:a16="http://schemas.microsoft.com/office/drawing/2014/main" id="{DB6A3AE5-B15A-CDBB-3C3D-DFA37B381E1A}"/>
              </a:ext>
            </a:extLst>
          </p:cNvPr>
          <p:cNvGrpSpPr>
            <a:grpSpLocks/>
          </p:cNvGrpSpPr>
          <p:nvPr/>
        </p:nvGrpSpPr>
        <p:grpSpPr bwMode="auto">
          <a:xfrm>
            <a:off x="5076825" y="4806950"/>
            <a:ext cx="4032250" cy="566738"/>
            <a:chOff x="3016" y="300"/>
            <a:chExt cx="2540" cy="357"/>
          </a:xfrm>
        </p:grpSpPr>
        <p:sp>
          <p:nvSpPr>
            <p:cNvPr id="73744" name="Text Box 8">
              <a:extLst>
                <a:ext uri="{FF2B5EF4-FFF2-40B4-BE49-F238E27FC236}">
                  <a16:creationId xmlns:a16="http://schemas.microsoft.com/office/drawing/2014/main" id="{2AECC736-365B-6FD1-D7BF-F25D9A985CC0}"/>
                </a:ext>
              </a:extLst>
            </p:cNvPr>
            <p:cNvSpPr txBox="1">
              <a:spLocks noChangeArrowheads="1"/>
            </p:cNvSpPr>
            <p:nvPr/>
          </p:nvSpPr>
          <p:spPr bwMode="auto">
            <a:xfrm>
              <a:off x="3016" y="300"/>
              <a:ext cx="254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latin typeface="Times New Roman" panose="02020603050405020304" pitchFamily="18" charset="0"/>
                </a:rPr>
                <a:t>（可以证明满足              ）  </a:t>
              </a:r>
            </a:p>
          </p:txBody>
        </p:sp>
        <p:graphicFrame>
          <p:nvGraphicFramePr>
            <p:cNvPr id="73745" name="Object 9">
              <a:extLst>
                <a:ext uri="{FF2B5EF4-FFF2-40B4-BE49-F238E27FC236}">
                  <a16:creationId xmlns:a16="http://schemas.microsoft.com/office/drawing/2014/main" id="{69DC3E41-B035-7D9B-01B1-D0D9B6400191}"/>
                </a:ext>
              </a:extLst>
            </p:cNvPr>
            <p:cNvGraphicFramePr>
              <a:graphicFrameLocks noChangeAspect="1"/>
            </p:cNvGraphicFramePr>
            <p:nvPr/>
          </p:nvGraphicFramePr>
          <p:xfrm>
            <a:off x="4422" y="362"/>
            <a:ext cx="739" cy="272"/>
          </p:xfrm>
          <a:graphic>
            <a:graphicData uri="http://schemas.openxmlformats.org/presentationml/2006/ole">
              <mc:AlternateContent xmlns:mc="http://schemas.openxmlformats.org/markup-compatibility/2006">
                <mc:Choice xmlns:v="urn:schemas-microsoft-com:vml" Requires="v">
                  <p:oleObj name="Equation" r:id="rId3" imgW="482414" imgH="139835" progId="Equation.DSMT4">
                    <p:embed/>
                  </p:oleObj>
                </mc:Choice>
                <mc:Fallback>
                  <p:oleObj name="Equation" r:id="rId3" imgW="482414" imgH="139835"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 y="362"/>
                          <a:ext cx="739" cy="27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732" name="Text Box 5">
            <a:extLst>
              <a:ext uri="{FF2B5EF4-FFF2-40B4-BE49-F238E27FC236}">
                <a16:creationId xmlns:a16="http://schemas.microsoft.com/office/drawing/2014/main" id="{21E583F5-54AE-2152-888B-CAC553121474}"/>
              </a:ext>
            </a:extLst>
          </p:cNvPr>
          <p:cNvSpPr txBox="1">
            <a:spLocks noChangeArrowheads="1"/>
          </p:cNvSpPr>
          <p:nvPr/>
        </p:nvSpPr>
        <p:spPr bwMode="auto">
          <a:xfrm>
            <a:off x="482600" y="4795838"/>
            <a:ext cx="248443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latin typeface="Times New Roman" panose="02020603050405020304" pitchFamily="18" charset="0"/>
              </a:rPr>
              <a:t>由此可得出</a:t>
            </a:r>
          </a:p>
        </p:txBody>
      </p:sp>
      <p:graphicFrame>
        <p:nvGraphicFramePr>
          <p:cNvPr id="73733" name="Object 41">
            <a:extLst>
              <a:ext uri="{FF2B5EF4-FFF2-40B4-BE49-F238E27FC236}">
                <a16:creationId xmlns:a16="http://schemas.microsoft.com/office/drawing/2014/main" id="{69D4E1F5-46FC-6D38-6482-1649FCD8BC77}"/>
              </a:ext>
            </a:extLst>
          </p:cNvPr>
          <p:cNvGraphicFramePr>
            <a:graphicFrameLocks noChangeAspect="1"/>
          </p:cNvGraphicFramePr>
          <p:nvPr/>
        </p:nvGraphicFramePr>
        <p:xfrm>
          <a:off x="2051050" y="4627563"/>
          <a:ext cx="3241675" cy="1177925"/>
        </p:xfrm>
        <a:graphic>
          <a:graphicData uri="http://schemas.openxmlformats.org/presentationml/2006/ole">
            <mc:AlternateContent xmlns:mc="http://schemas.openxmlformats.org/markup-compatibility/2006">
              <mc:Choice xmlns:v="urn:schemas-microsoft-com:vml" Requires="v">
                <p:oleObj name="公式" r:id="rId5" imgW="1111052" imgH="374515" progId="Equation.3">
                  <p:embed/>
                </p:oleObj>
              </mc:Choice>
              <mc:Fallback>
                <p:oleObj name="公式" r:id="rId5" imgW="1111052" imgH="374515"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4627563"/>
                        <a:ext cx="3241675"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4" name="AutoShape 56">
            <a:hlinkClick r:id="rId7" action="ppaction://hlinksldjump" highlightClick="1"/>
            <a:extLst>
              <a:ext uri="{FF2B5EF4-FFF2-40B4-BE49-F238E27FC236}">
                <a16:creationId xmlns:a16="http://schemas.microsoft.com/office/drawing/2014/main" id="{9CA4258D-4D8F-9943-18BF-643C6E8B835A}"/>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3735" name="AutoShape 57">
            <a:hlinkClick r:id="" action="ppaction://hlinkshowjump?jump=previousslide" highlightClick="1"/>
            <a:extLst>
              <a:ext uri="{FF2B5EF4-FFF2-40B4-BE49-F238E27FC236}">
                <a16:creationId xmlns:a16="http://schemas.microsoft.com/office/drawing/2014/main" id="{36FA8AA8-C8D1-1080-0358-CAB3733DCBB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3736" name="AutoShape 58">
            <a:hlinkClick r:id="" action="ppaction://hlinkshowjump?jump=nextslide" highlightClick="1"/>
            <a:extLst>
              <a:ext uri="{FF2B5EF4-FFF2-40B4-BE49-F238E27FC236}">
                <a16:creationId xmlns:a16="http://schemas.microsoft.com/office/drawing/2014/main" id="{F038B271-AB0E-5870-C985-C91E3AEB1BC2}"/>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3737" name="AutoShape 59">
            <a:hlinkClick r:id="" action="ppaction://hlinkshowjump?jump=lastslide" highlightClick="1"/>
            <a:extLst>
              <a:ext uri="{FF2B5EF4-FFF2-40B4-BE49-F238E27FC236}">
                <a16:creationId xmlns:a16="http://schemas.microsoft.com/office/drawing/2014/main" id="{E3DD4E5D-EF5F-408C-F43A-0906D8B0D3C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8780" name="Text Box 60">
            <a:extLst>
              <a:ext uri="{FF2B5EF4-FFF2-40B4-BE49-F238E27FC236}">
                <a16:creationId xmlns:a16="http://schemas.microsoft.com/office/drawing/2014/main" id="{75919C30-6C99-FDC7-F52E-BB0AAAD96C63}"/>
              </a:ext>
            </a:extLst>
          </p:cNvPr>
          <p:cNvSpPr txBox="1">
            <a:spLocks noChangeArrowheads="1"/>
          </p:cNvSpPr>
          <p:nvPr/>
        </p:nvSpPr>
        <p:spPr bwMode="auto">
          <a:xfrm>
            <a:off x="122238" y="655638"/>
            <a:ext cx="84105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8"/>
              </a:buBlip>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ea typeface="宋体" panose="02010600030101010101" pitchFamily="2" charset="-122"/>
              </a:rPr>
              <a:t>磁矢位的表达式</a:t>
            </a:r>
          </a:p>
        </p:txBody>
      </p:sp>
      <p:graphicFrame>
        <p:nvGraphicFramePr>
          <p:cNvPr id="638042" name="Object 90">
            <a:extLst>
              <a:ext uri="{FF2B5EF4-FFF2-40B4-BE49-F238E27FC236}">
                <a16:creationId xmlns:a16="http://schemas.microsoft.com/office/drawing/2014/main" id="{657D3C2F-6C19-692E-67C2-708979234586}"/>
              </a:ext>
            </a:extLst>
          </p:cNvPr>
          <p:cNvGraphicFramePr>
            <a:graphicFrameLocks noChangeAspect="1"/>
          </p:cNvGraphicFramePr>
          <p:nvPr/>
        </p:nvGraphicFramePr>
        <p:xfrm>
          <a:off x="755650" y="1268413"/>
          <a:ext cx="7167563" cy="2003425"/>
        </p:xfrm>
        <a:graphic>
          <a:graphicData uri="http://schemas.openxmlformats.org/presentationml/2006/ole">
            <mc:AlternateContent xmlns:mc="http://schemas.openxmlformats.org/markup-compatibility/2006">
              <mc:Choice xmlns:v="urn:schemas-microsoft-com:vml" Requires="v">
                <p:oleObj name="公式" r:id="rId9" imgW="2559105" imgH="755515" progId="Equation.3">
                  <p:embed/>
                </p:oleObj>
              </mc:Choice>
              <mc:Fallback>
                <p:oleObj name="公式" r:id="rId9" imgW="2559105" imgH="755515" progId="Equation.3">
                  <p:embed/>
                  <p:pic>
                    <p:nvPicPr>
                      <p:cNvPr id="0" name="Object 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1268413"/>
                        <a:ext cx="7167563" cy="20034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90">
            <a:extLst>
              <a:ext uri="{FF2B5EF4-FFF2-40B4-BE49-F238E27FC236}">
                <a16:creationId xmlns:a16="http://schemas.microsoft.com/office/drawing/2014/main" id="{432C5047-5366-DB22-70FF-57E883A8C773}"/>
              </a:ext>
            </a:extLst>
          </p:cNvPr>
          <p:cNvGraphicFramePr>
            <a:graphicFrameLocks noChangeAspect="1"/>
          </p:cNvGraphicFramePr>
          <p:nvPr/>
        </p:nvGraphicFramePr>
        <p:xfrm>
          <a:off x="755650" y="3084513"/>
          <a:ext cx="7561263" cy="1339850"/>
        </p:xfrm>
        <a:graphic>
          <a:graphicData uri="http://schemas.openxmlformats.org/presentationml/2006/ole">
            <mc:AlternateContent xmlns:mc="http://schemas.openxmlformats.org/markup-compatibility/2006">
              <mc:Choice xmlns:v="urn:schemas-microsoft-com:vml" Requires="v">
                <p:oleObj name="公式" r:id="rId11" imgW="2343213" imgH="425585" progId="Equation.3">
                  <p:embed/>
                </p:oleObj>
              </mc:Choice>
              <mc:Fallback>
                <p:oleObj name="公式" r:id="rId11" imgW="2343213" imgH="425585" progId="Equation.3">
                  <p:embed/>
                  <p:pic>
                    <p:nvPicPr>
                      <p:cNvPr id="0" name="Object 9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3084513"/>
                        <a:ext cx="7561263" cy="133985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1" name="Object 92">
            <a:extLst>
              <a:ext uri="{FF2B5EF4-FFF2-40B4-BE49-F238E27FC236}">
                <a16:creationId xmlns:a16="http://schemas.microsoft.com/office/drawing/2014/main" id="{2874B2F7-CD7C-068E-9DAA-488D9BE82B62}"/>
              </a:ext>
            </a:extLst>
          </p:cNvPr>
          <p:cNvGraphicFramePr>
            <a:graphicFrameLocks noChangeAspect="1"/>
          </p:cNvGraphicFramePr>
          <p:nvPr/>
        </p:nvGraphicFramePr>
        <p:xfrm>
          <a:off x="7524750" y="539750"/>
          <a:ext cx="1606550" cy="944563"/>
        </p:xfrm>
        <a:graphic>
          <a:graphicData uri="http://schemas.openxmlformats.org/presentationml/2006/ole">
            <mc:AlternateContent xmlns:mc="http://schemas.openxmlformats.org/markup-compatibility/2006">
              <mc:Choice xmlns:v="urn:schemas-microsoft-com:vml" Requires="v">
                <p:oleObj name="公式" r:id="rId13" imgW="654155" imgH="400050" progId="Equation.3">
                  <p:embed/>
                </p:oleObj>
              </mc:Choice>
              <mc:Fallback>
                <p:oleObj name="公式" r:id="rId13" imgW="654155" imgH="400050" progId="Equation.3">
                  <p:embed/>
                  <p:pic>
                    <p:nvPicPr>
                      <p:cNvPr id="0" name="Object 9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24750" y="539750"/>
                        <a:ext cx="1606550" cy="944563"/>
                      </a:xfrm>
                      <a:prstGeom prst="rect">
                        <a:avLst/>
                      </a:prstGeom>
                      <a:noFill/>
                      <a:ln w="28575">
                        <a:solidFill>
                          <a:srgbClr val="FF9900"/>
                        </a:solidFill>
                        <a:prstDash val="dash"/>
                        <a:miter lim="800000"/>
                        <a:headEnd/>
                        <a:tailEnd/>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2" name="Line 93">
            <a:extLst>
              <a:ext uri="{FF2B5EF4-FFF2-40B4-BE49-F238E27FC236}">
                <a16:creationId xmlns:a16="http://schemas.microsoft.com/office/drawing/2014/main" id="{C843AE80-681E-0E00-76BC-2609BDA55DF9}"/>
              </a:ext>
            </a:extLst>
          </p:cNvPr>
          <p:cNvSpPr>
            <a:spLocks noChangeShapeType="1"/>
          </p:cNvSpPr>
          <p:nvPr/>
        </p:nvSpPr>
        <p:spPr bwMode="auto">
          <a:xfrm flipH="1">
            <a:off x="6804025" y="1052513"/>
            <a:ext cx="720725" cy="504825"/>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3" name="Line 93">
            <a:extLst>
              <a:ext uri="{FF2B5EF4-FFF2-40B4-BE49-F238E27FC236}">
                <a16:creationId xmlns:a16="http://schemas.microsoft.com/office/drawing/2014/main" id="{CE3F5C24-546B-3DE3-CF39-3544A9D255DE}"/>
              </a:ext>
            </a:extLst>
          </p:cNvPr>
          <p:cNvSpPr>
            <a:spLocks noChangeShapeType="1"/>
          </p:cNvSpPr>
          <p:nvPr/>
        </p:nvSpPr>
        <p:spPr bwMode="auto">
          <a:xfrm flipH="1" flipV="1">
            <a:off x="4500563" y="2924175"/>
            <a:ext cx="503237" cy="576263"/>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98727"/>
                                        </p:tgtEl>
                                        <p:attrNameLst>
                                          <p:attrName>style.visibility</p:attrName>
                                        </p:attrNameLst>
                                      </p:cBhvr>
                                      <p:to>
                                        <p:strVal val="visible"/>
                                      </p:to>
                                    </p:set>
                                    <p:animEffect transition="in" filter="wipe(up)">
                                      <p:cBhvr>
                                        <p:cTn id="7" dur="2000"/>
                                        <p:tgtEl>
                                          <p:spTgt spid="7987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8780"/>
                                        </p:tgtEl>
                                        <p:attrNameLst>
                                          <p:attrName>style.visibility</p:attrName>
                                        </p:attrNameLst>
                                      </p:cBhvr>
                                      <p:to>
                                        <p:strVal val="visible"/>
                                      </p:to>
                                    </p:set>
                                    <p:animEffect transition="in" filter="wipe(up)">
                                      <p:cBhvr>
                                        <p:cTn id="12" dur="2000"/>
                                        <p:tgtEl>
                                          <p:spTgt spid="798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38042"/>
                                        </p:tgtEl>
                                        <p:attrNameLst>
                                          <p:attrName>style.visibility</p:attrName>
                                        </p:attrNameLst>
                                      </p:cBhvr>
                                      <p:to>
                                        <p:strVal val="visible"/>
                                      </p:to>
                                    </p:set>
                                    <p:animEffect transition="in" filter="wipe(up)">
                                      <p:cBhvr>
                                        <p:cTn id="17" dur="2000"/>
                                        <p:tgtEl>
                                          <p:spTgt spid="6380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2">
            <a:extLst>
              <a:ext uri="{FF2B5EF4-FFF2-40B4-BE49-F238E27FC236}">
                <a16:creationId xmlns:a16="http://schemas.microsoft.com/office/drawing/2014/main" id="{D450F380-3759-5FB7-683D-4627AEB998A3}"/>
              </a:ext>
            </a:extLst>
          </p:cNvPr>
          <p:cNvSpPr>
            <a:spLocks noGrp="1"/>
          </p:cNvSpPr>
          <p:nvPr>
            <p:ph type="sldNum" sz="quarter" idx="10"/>
          </p:nvPr>
        </p:nvSpPr>
        <p:spPr>
          <a:xfrm>
            <a:off x="7667625" y="376238"/>
            <a:ext cx="1343025" cy="3333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29A9558-EB8F-4884-80E9-96FE24DE65CD}" type="slidenum">
              <a:rPr lang="en-US" altLang="zh-CN" sz="1400">
                <a:ea typeface="宋体" panose="02010600030101010101" pitchFamily="2" charset="-122"/>
              </a:rPr>
              <a:pPr/>
              <a:t>5</a:t>
            </a:fld>
            <a:endParaRPr lang="en-US" altLang="zh-CN" sz="1400">
              <a:ea typeface="宋体" panose="02010600030101010101" pitchFamily="2" charset="-122"/>
            </a:endParaRPr>
          </a:p>
        </p:txBody>
      </p:sp>
      <p:sp>
        <p:nvSpPr>
          <p:cNvPr id="75779" name="AutoShape 2">
            <a:hlinkClick r:id="rId3" action="ppaction://hlinksldjump" highlightClick="1"/>
            <a:extLst>
              <a:ext uri="{FF2B5EF4-FFF2-40B4-BE49-F238E27FC236}">
                <a16:creationId xmlns:a16="http://schemas.microsoft.com/office/drawing/2014/main" id="{BF0FFAC1-BEFE-C15C-5588-94A52D6EC730}"/>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5780" name="AutoShape 3">
            <a:hlinkClick r:id="" action="ppaction://hlinkshowjump?jump=previousslide" highlightClick="1"/>
            <a:extLst>
              <a:ext uri="{FF2B5EF4-FFF2-40B4-BE49-F238E27FC236}">
                <a16:creationId xmlns:a16="http://schemas.microsoft.com/office/drawing/2014/main" id="{46781B41-32BA-EC26-B1BE-A802CFF92E0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5781" name="AutoShape 4">
            <a:hlinkClick r:id="" action="ppaction://hlinkshowjump?jump=nextslide" highlightClick="1"/>
            <a:extLst>
              <a:ext uri="{FF2B5EF4-FFF2-40B4-BE49-F238E27FC236}">
                <a16:creationId xmlns:a16="http://schemas.microsoft.com/office/drawing/2014/main" id="{1895FBEC-C94A-5C62-D50A-B641AB781827}"/>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5782" name="AutoShape 5">
            <a:hlinkClick r:id="" action="ppaction://hlinkshowjump?jump=lastslide" highlightClick="1"/>
            <a:extLst>
              <a:ext uri="{FF2B5EF4-FFF2-40B4-BE49-F238E27FC236}">
                <a16:creationId xmlns:a16="http://schemas.microsoft.com/office/drawing/2014/main" id="{FA0F3587-4125-71A3-8A5C-9B79D3914167}"/>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94312" name="AutoShape 8">
            <a:extLst>
              <a:ext uri="{FF2B5EF4-FFF2-40B4-BE49-F238E27FC236}">
                <a16:creationId xmlns:a16="http://schemas.microsoft.com/office/drawing/2014/main" id="{4407FFCC-EEDA-B574-DBF6-857023DFE50D}"/>
              </a:ext>
            </a:extLst>
          </p:cNvPr>
          <p:cNvSpPr>
            <a:spLocks noChangeArrowheads="1"/>
          </p:cNvSpPr>
          <p:nvPr/>
        </p:nvSpPr>
        <p:spPr bwMode="auto">
          <a:xfrm>
            <a:off x="4824413" y="1644650"/>
            <a:ext cx="539750" cy="215900"/>
          </a:xfrm>
          <a:prstGeom prst="rightArrow">
            <a:avLst>
              <a:gd name="adj1" fmla="val 50000"/>
              <a:gd name="adj2" fmla="val 62500"/>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94313" name="Rectangle 9">
            <a:extLst>
              <a:ext uri="{FF2B5EF4-FFF2-40B4-BE49-F238E27FC236}">
                <a16:creationId xmlns:a16="http://schemas.microsoft.com/office/drawing/2014/main" id="{3607DC09-B8AD-E451-3771-1DFBAD99AE61}"/>
              </a:ext>
            </a:extLst>
          </p:cNvPr>
          <p:cNvSpPr>
            <a:spLocks noChangeArrowheads="1"/>
          </p:cNvSpPr>
          <p:nvPr/>
        </p:nvSpPr>
        <p:spPr bwMode="auto">
          <a:xfrm>
            <a:off x="250825" y="862013"/>
            <a:ext cx="4105275" cy="566737"/>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4"/>
              </a:buBlip>
            </a:pPr>
            <a:r>
              <a:rPr kumimoji="1" lang="en-US" altLang="zh-CN" b="1">
                <a:solidFill>
                  <a:schemeClr val="bg1"/>
                </a:solidFill>
              </a:rPr>
              <a:t> </a:t>
            </a:r>
            <a:r>
              <a:rPr kumimoji="1" lang="zh-CN" altLang="en-US" b="1">
                <a:solidFill>
                  <a:schemeClr val="bg1"/>
                </a:solidFill>
                <a:ea typeface="宋体" panose="02010600030101010101" pitchFamily="2" charset="-122"/>
              </a:rPr>
              <a:t>体电流</a:t>
            </a:r>
          </a:p>
        </p:txBody>
      </p:sp>
      <p:sp>
        <p:nvSpPr>
          <p:cNvPr id="994314" name="Rectangle 10">
            <a:extLst>
              <a:ext uri="{FF2B5EF4-FFF2-40B4-BE49-F238E27FC236}">
                <a16:creationId xmlns:a16="http://schemas.microsoft.com/office/drawing/2014/main" id="{B3B3FB4E-9D84-4E0C-CB0D-DD1CFF787EC5}"/>
              </a:ext>
            </a:extLst>
          </p:cNvPr>
          <p:cNvSpPr>
            <a:spLocks noChangeArrowheads="1"/>
          </p:cNvSpPr>
          <p:nvPr/>
        </p:nvSpPr>
        <p:spPr bwMode="auto">
          <a:xfrm>
            <a:off x="250825" y="2662238"/>
            <a:ext cx="4105275" cy="566737"/>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4"/>
              </a:buBlip>
            </a:pPr>
            <a:r>
              <a:rPr kumimoji="1" lang="en-US" altLang="zh-CN" b="1">
                <a:solidFill>
                  <a:schemeClr val="bg1"/>
                </a:solidFill>
              </a:rPr>
              <a:t> </a:t>
            </a:r>
            <a:r>
              <a:rPr kumimoji="1" lang="zh-CN" altLang="en-US" b="1">
                <a:solidFill>
                  <a:schemeClr val="bg1"/>
                </a:solidFill>
                <a:ea typeface="宋体" panose="02010600030101010101" pitchFamily="2" charset="-122"/>
              </a:rPr>
              <a:t>面电流</a:t>
            </a:r>
          </a:p>
        </p:txBody>
      </p:sp>
      <p:sp>
        <p:nvSpPr>
          <p:cNvPr id="994317" name="AutoShape 13">
            <a:extLst>
              <a:ext uri="{FF2B5EF4-FFF2-40B4-BE49-F238E27FC236}">
                <a16:creationId xmlns:a16="http://schemas.microsoft.com/office/drawing/2014/main" id="{54D5E1D5-B86C-B320-15D1-073F7719B2D7}"/>
              </a:ext>
            </a:extLst>
          </p:cNvPr>
          <p:cNvSpPr>
            <a:spLocks noChangeArrowheads="1"/>
          </p:cNvSpPr>
          <p:nvPr/>
        </p:nvSpPr>
        <p:spPr bwMode="auto">
          <a:xfrm>
            <a:off x="4752975" y="3494088"/>
            <a:ext cx="539750" cy="215900"/>
          </a:xfrm>
          <a:prstGeom prst="rightArrow">
            <a:avLst>
              <a:gd name="adj1" fmla="val 50000"/>
              <a:gd name="adj2" fmla="val 62500"/>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94318" name="Rectangle 14">
            <a:extLst>
              <a:ext uri="{FF2B5EF4-FFF2-40B4-BE49-F238E27FC236}">
                <a16:creationId xmlns:a16="http://schemas.microsoft.com/office/drawing/2014/main" id="{0F45C6B7-4A5C-5E81-EAF2-C78A95632501}"/>
              </a:ext>
            </a:extLst>
          </p:cNvPr>
          <p:cNvSpPr>
            <a:spLocks noChangeArrowheads="1"/>
          </p:cNvSpPr>
          <p:nvPr/>
        </p:nvSpPr>
        <p:spPr bwMode="auto">
          <a:xfrm>
            <a:off x="250825" y="4606925"/>
            <a:ext cx="4105275" cy="56673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4"/>
              </a:buBlip>
            </a:pPr>
            <a:r>
              <a:rPr kumimoji="1" lang="en-US" altLang="zh-CN" b="1">
                <a:solidFill>
                  <a:schemeClr val="bg1"/>
                </a:solidFill>
                <a:ea typeface="宋体" panose="02010600030101010101" pitchFamily="2" charset="-122"/>
              </a:rPr>
              <a:t> </a:t>
            </a:r>
            <a:r>
              <a:rPr kumimoji="1" lang="zh-CN" altLang="en-US" b="1">
                <a:solidFill>
                  <a:schemeClr val="bg1"/>
                </a:solidFill>
                <a:ea typeface="宋体" panose="02010600030101010101" pitchFamily="2" charset="-122"/>
              </a:rPr>
              <a:t>细导线电流回路</a:t>
            </a:r>
          </a:p>
        </p:txBody>
      </p:sp>
      <p:sp>
        <p:nvSpPr>
          <p:cNvPr id="994319" name="AutoShape 15">
            <a:extLst>
              <a:ext uri="{FF2B5EF4-FFF2-40B4-BE49-F238E27FC236}">
                <a16:creationId xmlns:a16="http://schemas.microsoft.com/office/drawing/2014/main" id="{307DA0B0-497E-6D61-16A6-BECE3E4FA101}"/>
              </a:ext>
            </a:extLst>
          </p:cNvPr>
          <p:cNvSpPr>
            <a:spLocks noChangeArrowheads="1"/>
          </p:cNvSpPr>
          <p:nvPr/>
        </p:nvSpPr>
        <p:spPr bwMode="auto">
          <a:xfrm>
            <a:off x="4067175" y="5534025"/>
            <a:ext cx="539750" cy="215900"/>
          </a:xfrm>
          <a:prstGeom prst="rightArrow">
            <a:avLst>
              <a:gd name="adj1" fmla="val 50000"/>
              <a:gd name="adj2" fmla="val 62500"/>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5789" name="Text Box 24">
            <a:extLst>
              <a:ext uri="{FF2B5EF4-FFF2-40B4-BE49-F238E27FC236}">
                <a16:creationId xmlns:a16="http://schemas.microsoft.com/office/drawing/2014/main" id="{ECF11182-018F-BD02-C92F-0B544FF3B620}"/>
              </a:ext>
            </a:extLst>
          </p:cNvPr>
          <p:cNvSpPr txBox="1">
            <a:spLocks noChangeArrowheads="1"/>
          </p:cNvSpPr>
          <p:nvPr/>
        </p:nvSpPr>
        <p:spPr bwMode="auto">
          <a:xfrm>
            <a:off x="3563938" y="5383213"/>
            <a:ext cx="166052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en-US" altLang="zh-CN" b="1">
                <a:solidFill>
                  <a:srgbClr val="FF7C80"/>
                </a:solidFill>
                <a:latin typeface="Times New Roman" panose="02020603050405020304" pitchFamily="18" charset="0"/>
                <a:ea typeface="宋体" panose="02010600030101010101" pitchFamily="2" charset="-122"/>
              </a:rPr>
              <a:t> </a:t>
            </a:r>
            <a:endParaRPr kumimoji="1" lang="en-US" altLang="zh-CN" b="1">
              <a:solidFill>
                <a:srgbClr val="FF7C80"/>
              </a:solidFill>
              <a:latin typeface="Times New Roman" panose="02020603050405020304" pitchFamily="18" charset="0"/>
            </a:endParaRPr>
          </a:p>
        </p:txBody>
      </p:sp>
      <p:graphicFrame>
        <p:nvGraphicFramePr>
          <p:cNvPr id="75790" name="Object 25">
            <a:extLst>
              <a:ext uri="{FF2B5EF4-FFF2-40B4-BE49-F238E27FC236}">
                <a16:creationId xmlns:a16="http://schemas.microsoft.com/office/drawing/2014/main" id="{BC1F6EB7-5B46-3D74-FB77-A4FE59BAE974}"/>
              </a:ext>
            </a:extLst>
          </p:cNvPr>
          <p:cNvGraphicFramePr>
            <a:graphicFrameLocks noChangeAspect="1"/>
          </p:cNvGraphicFramePr>
          <p:nvPr/>
        </p:nvGraphicFramePr>
        <p:xfrm>
          <a:off x="5194300" y="5121275"/>
          <a:ext cx="2041525" cy="1116013"/>
        </p:xfrm>
        <a:graphic>
          <a:graphicData uri="http://schemas.openxmlformats.org/presentationml/2006/ole">
            <mc:AlternateContent xmlns:mc="http://schemas.openxmlformats.org/markup-compatibility/2006">
              <mc:Choice xmlns:v="urn:schemas-microsoft-com:vml" Requires="v">
                <p:oleObj name="公式" r:id="rId5" imgW="742861" imgH="374515" progId="Equation.3">
                  <p:embed/>
                </p:oleObj>
              </mc:Choice>
              <mc:Fallback>
                <p:oleObj name="公式" r:id="rId5" imgW="742861" imgH="374515"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4300" y="5121275"/>
                        <a:ext cx="2041525" cy="111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4339" name="Object 35">
            <a:extLst>
              <a:ext uri="{FF2B5EF4-FFF2-40B4-BE49-F238E27FC236}">
                <a16:creationId xmlns:a16="http://schemas.microsoft.com/office/drawing/2014/main" id="{78BB4180-15CE-064B-8A59-DF7E6583AD8E}"/>
              </a:ext>
            </a:extLst>
          </p:cNvPr>
          <p:cNvGraphicFramePr>
            <a:graphicFrameLocks noGrp="1" noChangeAspect="1"/>
          </p:cNvGraphicFramePr>
          <p:nvPr>
            <p:ph/>
          </p:nvPr>
        </p:nvGraphicFramePr>
        <p:xfrm>
          <a:off x="971550" y="5184775"/>
          <a:ext cx="2641600" cy="1196975"/>
        </p:xfrm>
        <a:graphic>
          <a:graphicData uri="http://schemas.openxmlformats.org/presentationml/2006/ole">
            <mc:AlternateContent xmlns:mc="http://schemas.openxmlformats.org/markup-compatibility/2006">
              <mc:Choice xmlns:v="urn:schemas-microsoft-com:vml" Requires="v">
                <p:oleObj name="公式" r:id="rId7" imgW="920678" imgH="400050" progId="Equation.3">
                  <p:embed/>
                </p:oleObj>
              </mc:Choice>
              <mc:Fallback>
                <p:oleObj name="公式" r:id="rId7" imgW="920678" imgH="400050" progId="Equation.3">
                  <p:embed/>
                  <p:pic>
                    <p:nvPicPr>
                      <p:cNvPr id="0" name="Object 35"/>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5184775"/>
                        <a:ext cx="26416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0823" name="Object 7">
            <a:extLst>
              <a:ext uri="{FF2B5EF4-FFF2-40B4-BE49-F238E27FC236}">
                <a16:creationId xmlns:a16="http://schemas.microsoft.com/office/drawing/2014/main" id="{DA1815A6-868A-A198-9124-127645948C35}"/>
              </a:ext>
            </a:extLst>
          </p:cNvPr>
          <p:cNvGraphicFramePr>
            <a:graphicFrameLocks noChangeAspect="1"/>
          </p:cNvGraphicFramePr>
          <p:nvPr/>
        </p:nvGraphicFramePr>
        <p:xfrm>
          <a:off x="827088" y="1412875"/>
          <a:ext cx="3598862" cy="1147763"/>
        </p:xfrm>
        <a:graphic>
          <a:graphicData uri="http://schemas.openxmlformats.org/presentationml/2006/ole">
            <mc:AlternateContent xmlns:mc="http://schemas.openxmlformats.org/markup-compatibility/2006">
              <mc:Choice xmlns:v="urn:schemas-microsoft-com:vml" Requires="v">
                <p:oleObj name="公式" r:id="rId9" imgW="1263755" imgH="400050" progId="Equation.3">
                  <p:embed/>
                </p:oleObj>
              </mc:Choice>
              <mc:Fallback>
                <p:oleObj name="公式" r:id="rId9" imgW="1263755" imgH="40005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1412875"/>
                        <a:ext cx="3598862" cy="114776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7">
            <a:extLst>
              <a:ext uri="{FF2B5EF4-FFF2-40B4-BE49-F238E27FC236}">
                <a16:creationId xmlns:a16="http://schemas.microsoft.com/office/drawing/2014/main" id="{D49A3E70-A81D-F4AA-6905-924340B00E2A}"/>
              </a:ext>
            </a:extLst>
          </p:cNvPr>
          <p:cNvGraphicFramePr>
            <a:graphicFrameLocks noChangeAspect="1"/>
          </p:cNvGraphicFramePr>
          <p:nvPr/>
        </p:nvGraphicFramePr>
        <p:xfrm>
          <a:off x="5508625" y="1341438"/>
          <a:ext cx="3175000" cy="1079500"/>
        </p:xfrm>
        <a:graphic>
          <a:graphicData uri="http://schemas.openxmlformats.org/presentationml/2006/ole">
            <mc:AlternateContent xmlns:mc="http://schemas.openxmlformats.org/markup-compatibility/2006">
              <mc:Choice xmlns:v="urn:schemas-microsoft-com:vml" Requires="v">
                <p:oleObj name="公式" r:id="rId11" imgW="1111052" imgH="374515" progId="Equation.3">
                  <p:embed/>
                </p:oleObj>
              </mc:Choice>
              <mc:Fallback>
                <p:oleObj name="公式" r:id="rId11" imgW="1111052" imgH="374515"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625" y="1341438"/>
                        <a:ext cx="3175000" cy="10795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7">
            <a:extLst>
              <a:ext uri="{FF2B5EF4-FFF2-40B4-BE49-F238E27FC236}">
                <a16:creationId xmlns:a16="http://schemas.microsoft.com/office/drawing/2014/main" id="{6D2007F5-C9AC-6C3F-8656-969D8E92FAEC}"/>
              </a:ext>
            </a:extLst>
          </p:cNvPr>
          <p:cNvGraphicFramePr>
            <a:graphicFrameLocks noChangeAspect="1"/>
          </p:cNvGraphicFramePr>
          <p:nvPr/>
        </p:nvGraphicFramePr>
        <p:xfrm>
          <a:off x="755650" y="3217863"/>
          <a:ext cx="3670300" cy="1147762"/>
        </p:xfrm>
        <a:graphic>
          <a:graphicData uri="http://schemas.openxmlformats.org/presentationml/2006/ole">
            <mc:AlternateContent xmlns:mc="http://schemas.openxmlformats.org/markup-compatibility/2006">
              <mc:Choice xmlns:v="urn:schemas-microsoft-com:vml" Requires="v">
                <p:oleObj name="公式" r:id="rId13" imgW="1288869" imgH="400050" progId="Equation.3">
                  <p:embed/>
                </p:oleObj>
              </mc:Choice>
              <mc:Fallback>
                <p:oleObj name="公式" r:id="rId13" imgW="1288869" imgH="40005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50" y="3217863"/>
                        <a:ext cx="3670300" cy="114776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7">
            <a:extLst>
              <a:ext uri="{FF2B5EF4-FFF2-40B4-BE49-F238E27FC236}">
                <a16:creationId xmlns:a16="http://schemas.microsoft.com/office/drawing/2014/main" id="{146ECF2B-2486-9122-51E5-49822793A1E7}"/>
              </a:ext>
            </a:extLst>
          </p:cNvPr>
          <p:cNvGraphicFramePr>
            <a:graphicFrameLocks noChangeAspect="1"/>
          </p:cNvGraphicFramePr>
          <p:nvPr/>
        </p:nvGraphicFramePr>
        <p:xfrm>
          <a:off x="5364163" y="3213100"/>
          <a:ext cx="3211512" cy="1079500"/>
        </p:xfrm>
        <a:graphic>
          <a:graphicData uri="http://schemas.openxmlformats.org/presentationml/2006/ole">
            <mc:AlternateContent xmlns:mc="http://schemas.openxmlformats.org/markup-compatibility/2006">
              <mc:Choice xmlns:v="urn:schemas-microsoft-com:vml" Requires="v">
                <p:oleObj name="公式" r:id="rId15" imgW="1124013" imgH="374515" progId="Equation.3">
                  <p:embed/>
                </p:oleObj>
              </mc:Choice>
              <mc:Fallback>
                <p:oleObj name="公式" r:id="rId15" imgW="1124013" imgH="374515"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4163" y="3213100"/>
                        <a:ext cx="3211512" cy="10795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4312"/>
                                        </p:tgtEl>
                                        <p:attrNameLst>
                                          <p:attrName>style.visibility</p:attrName>
                                        </p:attrNameLst>
                                      </p:cBhvr>
                                      <p:to>
                                        <p:strVal val="visible"/>
                                      </p:to>
                                    </p:set>
                                    <p:animEffect transition="in" filter="wipe(up)">
                                      <p:cBhvr>
                                        <p:cTn id="7" dur="2000"/>
                                        <p:tgtEl>
                                          <p:spTgt spid="9943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94313"/>
                                        </p:tgtEl>
                                        <p:attrNameLst>
                                          <p:attrName>style.visibility</p:attrName>
                                        </p:attrNameLst>
                                      </p:cBhvr>
                                      <p:to>
                                        <p:strVal val="visible"/>
                                      </p:to>
                                    </p:set>
                                    <p:animEffect transition="in" filter="wipe(up)">
                                      <p:cBhvr>
                                        <p:cTn id="10" dur="2000"/>
                                        <p:tgtEl>
                                          <p:spTgt spid="994313"/>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94314"/>
                                        </p:tgtEl>
                                        <p:attrNameLst>
                                          <p:attrName>style.visibility</p:attrName>
                                        </p:attrNameLst>
                                      </p:cBhvr>
                                      <p:to>
                                        <p:strVal val="visible"/>
                                      </p:to>
                                    </p:set>
                                    <p:animEffect transition="in" filter="wipe(up)">
                                      <p:cBhvr>
                                        <p:cTn id="13" dur="2000"/>
                                        <p:tgtEl>
                                          <p:spTgt spid="9943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94317"/>
                                        </p:tgtEl>
                                        <p:attrNameLst>
                                          <p:attrName>style.visibility</p:attrName>
                                        </p:attrNameLst>
                                      </p:cBhvr>
                                      <p:to>
                                        <p:strVal val="visible"/>
                                      </p:to>
                                    </p:set>
                                    <p:animEffect transition="in" filter="wipe(up)">
                                      <p:cBhvr>
                                        <p:cTn id="18" dur="2000"/>
                                        <p:tgtEl>
                                          <p:spTgt spid="994317"/>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994318"/>
                                        </p:tgtEl>
                                        <p:attrNameLst>
                                          <p:attrName>style.visibility</p:attrName>
                                        </p:attrNameLst>
                                      </p:cBhvr>
                                      <p:to>
                                        <p:strVal val="visible"/>
                                      </p:to>
                                    </p:set>
                                    <p:animEffect transition="in" filter="wipe(up)">
                                      <p:cBhvr>
                                        <p:cTn id="21" dur="2000"/>
                                        <p:tgtEl>
                                          <p:spTgt spid="9943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94319"/>
                                        </p:tgtEl>
                                        <p:attrNameLst>
                                          <p:attrName>style.visibility</p:attrName>
                                        </p:attrNameLst>
                                      </p:cBhvr>
                                      <p:to>
                                        <p:strVal val="visible"/>
                                      </p:to>
                                    </p:set>
                                    <p:animEffect transition="in" filter="wipe(up)">
                                      <p:cBhvr>
                                        <p:cTn id="26" dur="2000"/>
                                        <p:tgtEl>
                                          <p:spTgt spid="99431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94339"/>
                                        </p:tgtEl>
                                        <p:attrNameLst>
                                          <p:attrName>style.visibility</p:attrName>
                                        </p:attrNameLst>
                                      </p:cBhvr>
                                      <p:to>
                                        <p:strVal val="visible"/>
                                      </p:to>
                                    </p:set>
                                    <p:animEffect transition="in" filter="wipe(up)">
                                      <p:cBhvr>
                                        <p:cTn id="31" dur="2000"/>
                                        <p:tgtEl>
                                          <p:spTgt spid="9943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30823"/>
                                        </p:tgtEl>
                                        <p:attrNameLst>
                                          <p:attrName>style.visibility</p:attrName>
                                        </p:attrNameLst>
                                      </p:cBhvr>
                                      <p:to>
                                        <p:strVal val="visible"/>
                                      </p:to>
                                    </p:set>
                                    <p:animEffect transition="in" filter="wipe(up)">
                                      <p:cBhvr>
                                        <p:cTn id="36" dur="2000"/>
                                        <p:tgtEl>
                                          <p:spTgt spid="9308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up)">
                                      <p:cBhvr>
                                        <p:cTn id="41" dur="20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up)">
                                      <p:cBhvr>
                                        <p:cTn id="46" dur="2000"/>
                                        <p:tgtEl>
                                          <p:spTgt spid="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up)">
                                      <p:cBhvr>
                                        <p:cTn id="5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12" grpId="0" animBg="1"/>
      <p:bldP spid="994313" grpId="0"/>
      <p:bldP spid="994314" grpId="0"/>
      <p:bldP spid="994317" grpId="0" animBg="1"/>
      <p:bldP spid="994318" grpId="0"/>
      <p:bldP spid="9943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4A33578F-8E69-843C-BD88-90EFDB02086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89111D9-AD4F-4C74-865E-77C7AFB083D3}" type="slidenum">
              <a:rPr lang="en-US" altLang="zh-CN" sz="1400">
                <a:ea typeface="宋体" panose="02010600030101010101" pitchFamily="2" charset="-122"/>
              </a:rPr>
              <a:pPr/>
              <a:t>6</a:t>
            </a:fld>
            <a:endParaRPr lang="en-US" altLang="zh-CN" sz="1400">
              <a:ea typeface="宋体" panose="02010600030101010101" pitchFamily="2" charset="-122"/>
            </a:endParaRPr>
          </a:p>
        </p:txBody>
      </p:sp>
      <p:sp>
        <p:nvSpPr>
          <p:cNvPr id="797698" name="Text Box 2">
            <a:extLst>
              <a:ext uri="{FF2B5EF4-FFF2-40B4-BE49-F238E27FC236}">
                <a16:creationId xmlns:a16="http://schemas.microsoft.com/office/drawing/2014/main" id="{1DBC1EFD-2360-7CAA-C1C8-78379FE4E989}"/>
              </a:ext>
            </a:extLst>
          </p:cNvPr>
          <p:cNvSpPr txBox="1">
            <a:spLocks noChangeArrowheads="1"/>
          </p:cNvSpPr>
          <p:nvPr/>
        </p:nvSpPr>
        <p:spPr bwMode="auto">
          <a:xfrm>
            <a:off x="122238" y="404813"/>
            <a:ext cx="84105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ea typeface="宋体" panose="02010600030101010101" pitchFamily="2" charset="-122"/>
              </a:rPr>
              <a:t>磁矢位的微分方程</a:t>
            </a:r>
          </a:p>
        </p:txBody>
      </p:sp>
      <p:sp>
        <p:nvSpPr>
          <p:cNvPr id="797699" name="Text Box 3">
            <a:extLst>
              <a:ext uri="{FF2B5EF4-FFF2-40B4-BE49-F238E27FC236}">
                <a16:creationId xmlns:a16="http://schemas.microsoft.com/office/drawing/2014/main" id="{7EE60F2E-1E5B-DCC2-D14F-63453ADB85DF}"/>
              </a:ext>
            </a:extLst>
          </p:cNvPr>
          <p:cNvSpPr txBox="1">
            <a:spLocks noChangeArrowheads="1"/>
          </p:cNvSpPr>
          <p:nvPr/>
        </p:nvSpPr>
        <p:spPr bwMode="auto">
          <a:xfrm>
            <a:off x="468313" y="5426075"/>
            <a:ext cx="2519362"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zh-CN" altLang="en-US" b="1">
                <a:solidFill>
                  <a:schemeClr val="bg1"/>
                </a:solidFill>
                <a:latin typeface="Times New Roman" panose="02020603050405020304" pitchFamily="18" charset="0"/>
              </a:rPr>
              <a:t>在无源区：</a:t>
            </a:r>
          </a:p>
        </p:txBody>
      </p:sp>
      <p:graphicFrame>
        <p:nvGraphicFramePr>
          <p:cNvPr id="797700" name="Object 4">
            <a:extLst>
              <a:ext uri="{FF2B5EF4-FFF2-40B4-BE49-F238E27FC236}">
                <a16:creationId xmlns:a16="http://schemas.microsoft.com/office/drawing/2014/main" id="{1DCA7FE5-65EB-9CA8-55FB-4090B650C66F}"/>
              </a:ext>
            </a:extLst>
          </p:cNvPr>
          <p:cNvGraphicFramePr>
            <a:graphicFrameLocks noChangeAspect="1"/>
          </p:cNvGraphicFramePr>
          <p:nvPr/>
        </p:nvGraphicFramePr>
        <p:xfrm>
          <a:off x="611188" y="1284288"/>
          <a:ext cx="1368425" cy="465137"/>
        </p:xfrm>
        <a:graphic>
          <a:graphicData uri="http://schemas.openxmlformats.org/presentationml/2006/ole">
            <mc:AlternateContent xmlns:mc="http://schemas.openxmlformats.org/markup-compatibility/2006">
              <mc:Choice xmlns:v="urn:schemas-microsoft-com:vml" Requires="v">
                <p:oleObj name="公式" r:id="rId4" imgW="558969" imgH="139835" progId="Equation.3">
                  <p:embed/>
                </p:oleObj>
              </mc:Choice>
              <mc:Fallback>
                <p:oleObj name="公式" r:id="rId4" imgW="558969" imgH="13983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1284288"/>
                        <a:ext cx="1368425" cy="4651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7702" name="Object 6">
            <a:extLst>
              <a:ext uri="{FF2B5EF4-FFF2-40B4-BE49-F238E27FC236}">
                <a16:creationId xmlns:a16="http://schemas.microsoft.com/office/drawing/2014/main" id="{2015E44B-9455-5E91-56E5-46BA1B5D6A25}"/>
              </a:ext>
            </a:extLst>
          </p:cNvPr>
          <p:cNvGraphicFramePr>
            <a:graphicFrameLocks noChangeAspect="1"/>
          </p:cNvGraphicFramePr>
          <p:nvPr/>
        </p:nvGraphicFramePr>
        <p:xfrm>
          <a:off x="596900" y="2803525"/>
          <a:ext cx="1382713" cy="481013"/>
        </p:xfrm>
        <a:graphic>
          <a:graphicData uri="http://schemas.openxmlformats.org/presentationml/2006/ole">
            <mc:AlternateContent xmlns:mc="http://schemas.openxmlformats.org/markup-compatibility/2006">
              <mc:Choice xmlns:v="urn:schemas-microsoft-com:vml" Requires="v">
                <p:oleObj name="Equation" r:id="rId6" imgW="482414" imgH="139835" progId="Equation.DSMT4">
                  <p:embed/>
                </p:oleObj>
              </mc:Choice>
              <mc:Fallback>
                <p:oleObj name="Equation" r:id="rId6" imgW="482414" imgH="139835"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900" y="2803525"/>
                        <a:ext cx="1382713" cy="48101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7710" name="Object 14">
            <a:extLst>
              <a:ext uri="{FF2B5EF4-FFF2-40B4-BE49-F238E27FC236}">
                <a16:creationId xmlns:a16="http://schemas.microsoft.com/office/drawing/2014/main" id="{3C64EDF4-AB04-7F2B-EF84-A93CD400F1A5}"/>
              </a:ext>
            </a:extLst>
          </p:cNvPr>
          <p:cNvGraphicFramePr>
            <a:graphicFrameLocks noChangeAspect="1"/>
          </p:cNvGraphicFramePr>
          <p:nvPr/>
        </p:nvGraphicFramePr>
        <p:xfrm>
          <a:off x="2124075" y="5489575"/>
          <a:ext cx="1008063" cy="531813"/>
        </p:xfrm>
        <a:graphic>
          <a:graphicData uri="http://schemas.openxmlformats.org/presentationml/2006/ole">
            <mc:AlternateContent xmlns:mc="http://schemas.openxmlformats.org/markup-compatibility/2006">
              <mc:Choice xmlns:v="urn:schemas-microsoft-com:vml" Requires="v">
                <p:oleObj name="Equation" r:id="rId8" imgW="292041" imgH="139835" progId="Equation.DSMT4">
                  <p:embed/>
                </p:oleObj>
              </mc:Choice>
              <mc:Fallback>
                <p:oleObj name="Equation" r:id="rId8" imgW="292041" imgH="139835"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4075" y="5489575"/>
                        <a:ext cx="1008063" cy="53181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97726" name="Group 30">
            <a:extLst>
              <a:ext uri="{FF2B5EF4-FFF2-40B4-BE49-F238E27FC236}">
                <a16:creationId xmlns:a16="http://schemas.microsoft.com/office/drawing/2014/main" id="{814AE0B2-8723-0E1A-CAF4-B566B8B9DE3B}"/>
              </a:ext>
            </a:extLst>
          </p:cNvPr>
          <p:cNvGrpSpPr>
            <a:grpSpLocks/>
          </p:cNvGrpSpPr>
          <p:nvPr/>
        </p:nvGrpSpPr>
        <p:grpSpPr bwMode="auto">
          <a:xfrm>
            <a:off x="2124075" y="2781300"/>
            <a:ext cx="2808288" cy="576263"/>
            <a:chOff x="1383" y="1329"/>
            <a:chExt cx="1542" cy="303"/>
          </a:xfrm>
        </p:grpSpPr>
        <p:graphicFrame>
          <p:nvGraphicFramePr>
            <p:cNvPr id="77857" name="Object 10">
              <a:extLst>
                <a:ext uri="{FF2B5EF4-FFF2-40B4-BE49-F238E27FC236}">
                  <a16:creationId xmlns:a16="http://schemas.microsoft.com/office/drawing/2014/main" id="{E44DB84E-564E-BD2F-9F16-5721D06C9B02}"/>
                </a:ext>
              </a:extLst>
            </p:cNvPr>
            <p:cNvGraphicFramePr>
              <a:graphicFrameLocks noChangeAspect="1"/>
            </p:cNvGraphicFramePr>
            <p:nvPr/>
          </p:nvGraphicFramePr>
          <p:xfrm>
            <a:off x="1896" y="1329"/>
            <a:ext cx="1029" cy="303"/>
          </p:xfrm>
          <a:graphic>
            <a:graphicData uri="http://schemas.openxmlformats.org/presentationml/2006/ole">
              <mc:AlternateContent xmlns:mc="http://schemas.openxmlformats.org/markup-compatibility/2006">
                <mc:Choice xmlns:v="urn:schemas-microsoft-com:vml" Requires="v">
                  <p:oleObj name="公式" r:id="rId10" imgW="666712" imgH="164965" progId="Equation.3">
                    <p:embed/>
                  </p:oleObj>
                </mc:Choice>
                <mc:Fallback>
                  <p:oleObj name="公式" r:id="rId10" imgW="666712" imgH="164965"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96" y="1329"/>
                          <a:ext cx="1029" cy="30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8" name="AutoShape 15">
              <a:extLst>
                <a:ext uri="{FF2B5EF4-FFF2-40B4-BE49-F238E27FC236}">
                  <a16:creationId xmlns:a16="http://schemas.microsoft.com/office/drawing/2014/main" id="{5CBFB654-379C-863B-C61E-EDC0F41A5F4F}"/>
                </a:ext>
              </a:extLst>
            </p:cNvPr>
            <p:cNvSpPr>
              <a:spLocks noChangeArrowheads="1"/>
            </p:cNvSpPr>
            <p:nvPr/>
          </p:nvSpPr>
          <p:spPr bwMode="auto">
            <a:xfrm>
              <a:off x="1383" y="1420"/>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797727" name="Group 31">
            <a:extLst>
              <a:ext uri="{FF2B5EF4-FFF2-40B4-BE49-F238E27FC236}">
                <a16:creationId xmlns:a16="http://schemas.microsoft.com/office/drawing/2014/main" id="{7FFE405C-BE3E-CA32-0DBB-0EFF175B852A}"/>
              </a:ext>
            </a:extLst>
          </p:cNvPr>
          <p:cNvGrpSpPr>
            <a:grpSpLocks/>
          </p:cNvGrpSpPr>
          <p:nvPr/>
        </p:nvGrpSpPr>
        <p:grpSpPr bwMode="auto">
          <a:xfrm>
            <a:off x="3425825" y="5546725"/>
            <a:ext cx="2009775" cy="446088"/>
            <a:chOff x="1927" y="1721"/>
            <a:chExt cx="1312" cy="257"/>
          </a:xfrm>
        </p:grpSpPr>
        <p:graphicFrame>
          <p:nvGraphicFramePr>
            <p:cNvPr id="77855" name="Object 8">
              <a:extLst>
                <a:ext uri="{FF2B5EF4-FFF2-40B4-BE49-F238E27FC236}">
                  <a16:creationId xmlns:a16="http://schemas.microsoft.com/office/drawing/2014/main" id="{BDA9D82C-EC98-0A0D-1B07-F63AAE90FB4B}"/>
                </a:ext>
              </a:extLst>
            </p:cNvPr>
            <p:cNvGraphicFramePr>
              <a:graphicFrameLocks noChangeAspect="1"/>
            </p:cNvGraphicFramePr>
            <p:nvPr/>
          </p:nvGraphicFramePr>
          <p:xfrm>
            <a:off x="2472" y="1721"/>
            <a:ext cx="767" cy="257"/>
          </p:xfrm>
          <a:graphic>
            <a:graphicData uri="http://schemas.openxmlformats.org/presentationml/2006/ole">
              <mc:AlternateContent xmlns:mc="http://schemas.openxmlformats.org/markup-compatibility/2006">
                <mc:Choice xmlns:v="urn:schemas-microsoft-com:vml" Requires="v">
                  <p:oleObj name="Equation" r:id="rId12" imgW="469858" imgH="133350" progId="Equation.3">
                    <p:embed/>
                  </p:oleObj>
                </mc:Choice>
                <mc:Fallback>
                  <p:oleObj name="Equation" r:id="rId12" imgW="469858" imgH="13335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72" y="1721"/>
                          <a:ext cx="767" cy="25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6" name="AutoShape 16">
              <a:extLst>
                <a:ext uri="{FF2B5EF4-FFF2-40B4-BE49-F238E27FC236}">
                  <a16:creationId xmlns:a16="http://schemas.microsoft.com/office/drawing/2014/main" id="{B1B0AAB5-7038-6A12-B47B-AD08D3989171}"/>
                </a:ext>
              </a:extLst>
            </p:cNvPr>
            <p:cNvSpPr>
              <a:spLocks noChangeArrowheads="1"/>
            </p:cNvSpPr>
            <p:nvPr/>
          </p:nvSpPr>
          <p:spPr bwMode="auto">
            <a:xfrm>
              <a:off x="1927" y="1782"/>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797730" name="Group 34">
            <a:extLst>
              <a:ext uri="{FF2B5EF4-FFF2-40B4-BE49-F238E27FC236}">
                <a16:creationId xmlns:a16="http://schemas.microsoft.com/office/drawing/2014/main" id="{0DFA0987-BA4F-FFCF-3103-84A1B1598A14}"/>
              </a:ext>
            </a:extLst>
          </p:cNvPr>
          <p:cNvGrpSpPr>
            <a:grpSpLocks/>
          </p:cNvGrpSpPr>
          <p:nvPr/>
        </p:nvGrpSpPr>
        <p:grpSpPr bwMode="auto">
          <a:xfrm>
            <a:off x="5076825" y="2925763"/>
            <a:ext cx="2303463" cy="396875"/>
            <a:chOff x="3017" y="1375"/>
            <a:chExt cx="1451" cy="250"/>
          </a:xfrm>
        </p:grpSpPr>
        <p:sp>
          <p:nvSpPr>
            <p:cNvPr id="77853" name="Text Box 7">
              <a:extLst>
                <a:ext uri="{FF2B5EF4-FFF2-40B4-BE49-F238E27FC236}">
                  <a16:creationId xmlns:a16="http://schemas.microsoft.com/office/drawing/2014/main" id="{09F66971-812C-4758-E117-331B4551682C}"/>
                </a:ext>
              </a:extLst>
            </p:cNvPr>
            <p:cNvSpPr txBox="1">
              <a:spLocks noChangeArrowheads="1"/>
            </p:cNvSpPr>
            <p:nvPr/>
          </p:nvSpPr>
          <p:spPr bwMode="auto">
            <a:xfrm>
              <a:off x="3243" y="1375"/>
              <a:ext cx="12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66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r>
                <a:rPr kumimoji="1" lang="zh-CN" altLang="en-US" sz="2000" b="1">
                  <a:solidFill>
                    <a:srgbClr val="FF7C80"/>
                  </a:solidFill>
                  <a:latin typeface="宋体" panose="02010600030101010101" pitchFamily="2" charset="-122"/>
                  <a:ea typeface="宋体" panose="02010600030101010101" pitchFamily="2" charset="-122"/>
                </a:rPr>
                <a:t>矢量泊松方程</a:t>
              </a:r>
            </a:p>
          </p:txBody>
        </p:sp>
        <p:sp>
          <p:nvSpPr>
            <p:cNvPr id="77854" name="Line 17">
              <a:extLst>
                <a:ext uri="{FF2B5EF4-FFF2-40B4-BE49-F238E27FC236}">
                  <a16:creationId xmlns:a16="http://schemas.microsoft.com/office/drawing/2014/main" id="{0FAE0C7E-C75F-2C14-14F1-7F296596F355}"/>
                </a:ext>
              </a:extLst>
            </p:cNvPr>
            <p:cNvSpPr>
              <a:spLocks noChangeShapeType="1"/>
            </p:cNvSpPr>
            <p:nvPr/>
          </p:nvSpPr>
          <p:spPr bwMode="auto">
            <a:xfrm flipH="1">
              <a:off x="3017" y="1511"/>
              <a:ext cx="317" cy="0"/>
            </a:xfrm>
            <a:prstGeom prst="line">
              <a:avLst/>
            </a:prstGeom>
            <a:noFill/>
            <a:ln w="2857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97731" name="Group 35">
            <a:extLst>
              <a:ext uri="{FF2B5EF4-FFF2-40B4-BE49-F238E27FC236}">
                <a16:creationId xmlns:a16="http://schemas.microsoft.com/office/drawing/2014/main" id="{A7541614-E20E-B1C4-23B9-643842CCB889}"/>
              </a:ext>
            </a:extLst>
          </p:cNvPr>
          <p:cNvGrpSpPr>
            <a:grpSpLocks/>
          </p:cNvGrpSpPr>
          <p:nvPr/>
        </p:nvGrpSpPr>
        <p:grpSpPr bwMode="auto">
          <a:xfrm>
            <a:off x="5508625" y="5561013"/>
            <a:ext cx="2808288" cy="396875"/>
            <a:chOff x="3243" y="1737"/>
            <a:chExt cx="1769" cy="250"/>
          </a:xfrm>
        </p:grpSpPr>
        <p:sp>
          <p:nvSpPr>
            <p:cNvPr id="77851" name="Text Box 9">
              <a:extLst>
                <a:ext uri="{FF2B5EF4-FFF2-40B4-BE49-F238E27FC236}">
                  <a16:creationId xmlns:a16="http://schemas.microsoft.com/office/drawing/2014/main" id="{B2AE530A-7701-26CA-1688-DEE211CEE839}"/>
                </a:ext>
              </a:extLst>
            </p:cNvPr>
            <p:cNvSpPr txBox="1">
              <a:spLocks noChangeArrowheads="1"/>
            </p:cNvSpPr>
            <p:nvPr/>
          </p:nvSpPr>
          <p:spPr bwMode="auto">
            <a:xfrm>
              <a:off x="3465" y="1737"/>
              <a:ext cx="1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r>
                <a:rPr kumimoji="1" lang="zh-CN" altLang="en-US" sz="2000" b="1">
                  <a:solidFill>
                    <a:srgbClr val="FF7C80"/>
                  </a:solidFill>
                  <a:latin typeface="宋体" panose="02010600030101010101" pitchFamily="2" charset="-122"/>
                  <a:ea typeface="宋体" panose="02010600030101010101" pitchFamily="2" charset="-122"/>
                </a:rPr>
                <a:t>矢量拉普拉斯方程</a:t>
              </a:r>
            </a:p>
          </p:txBody>
        </p:sp>
        <p:sp>
          <p:nvSpPr>
            <p:cNvPr id="77852" name="Line 18">
              <a:extLst>
                <a:ext uri="{FF2B5EF4-FFF2-40B4-BE49-F238E27FC236}">
                  <a16:creationId xmlns:a16="http://schemas.microsoft.com/office/drawing/2014/main" id="{3D53D9FD-FA09-D62F-4AE0-B9A9C38C314C}"/>
                </a:ext>
              </a:extLst>
            </p:cNvPr>
            <p:cNvSpPr>
              <a:spLocks noChangeShapeType="1"/>
            </p:cNvSpPr>
            <p:nvPr/>
          </p:nvSpPr>
          <p:spPr bwMode="auto">
            <a:xfrm flipH="1">
              <a:off x="3243" y="1888"/>
              <a:ext cx="317" cy="0"/>
            </a:xfrm>
            <a:prstGeom prst="line">
              <a:avLst/>
            </a:prstGeom>
            <a:noFill/>
            <a:ln w="2857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97725" name="Group 29">
            <a:extLst>
              <a:ext uri="{FF2B5EF4-FFF2-40B4-BE49-F238E27FC236}">
                <a16:creationId xmlns:a16="http://schemas.microsoft.com/office/drawing/2014/main" id="{9AE48981-FF1B-C91D-8234-71FE77058EC9}"/>
              </a:ext>
            </a:extLst>
          </p:cNvPr>
          <p:cNvGrpSpPr>
            <a:grpSpLocks/>
          </p:cNvGrpSpPr>
          <p:nvPr/>
        </p:nvGrpSpPr>
        <p:grpSpPr bwMode="auto">
          <a:xfrm>
            <a:off x="2124075" y="1403350"/>
            <a:ext cx="2933700" cy="865188"/>
            <a:chOff x="1338" y="693"/>
            <a:chExt cx="1848" cy="545"/>
          </a:xfrm>
        </p:grpSpPr>
        <p:graphicFrame>
          <p:nvGraphicFramePr>
            <p:cNvPr id="77848" name="Object 11">
              <a:extLst>
                <a:ext uri="{FF2B5EF4-FFF2-40B4-BE49-F238E27FC236}">
                  <a16:creationId xmlns:a16="http://schemas.microsoft.com/office/drawing/2014/main" id="{29577AAB-B7A8-D42F-2CB7-73712A52D384}"/>
                </a:ext>
              </a:extLst>
            </p:cNvPr>
            <p:cNvGraphicFramePr>
              <a:graphicFrameLocks noChangeAspect="1"/>
            </p:cNvGraphicFramePr>
            <p:nvPr/>
          </p:nvGraphicFramePr>
          <p:xfrm>
            <a:off x="1882" y="785"/>
            <a:ext cx="1304" cy="330"/>
          </p:xfrm>
          <a:graphic>
            <a:graphicData uri="http://schemas.openxmlformats.org/presentationml/2006/ole">
              <mc:AlternateContent xmlns:mc="http://schemas.openxmlformats.org/markup-compatibility/2006">
                <mc:Choice xmlns:v="urn:schemas-microsoft-com:vml" Requires="v">
                  <p:oleObj name="Equation" r:id="rId14" imgW="882604" imgH="164965" progId="Equation.DSMT4">
                    <p:embed/>
                  </p:oleObj>
                </mc:Choice>
                <mc:Fallback>
                  <p:oleObj name="Equation" r:id="rId14" imgW="882604" imgH="164965"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82" y="785"/>
                          <a:ext cx="1304" cy="33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49" name="AutoShape 13">
              <a:extLst>
                <a:ext uri="{FF2B5EF4-FFF2-40B4-BE49-F238E27FC236}">
                  <a16:creationId xmlns:a16="http://schemas.microsoft.com/office/drawing/2014/main" id="{D9E72994-8B7B-585D-093D-C0295D63725E}"/>
                </a:ext>
              </a:extLst>
            </p:cNvPr>
            <p:cNvSpPr>
              <a:spLocks noChangeArrowheads="1"/>
            </p:cNvSpPr>
            <p:nvPr/>
          </p:nvSpPr>
          <p:spPr bwMode="auto">
            <a:xfrm>
              <a:off x="1429" y="875"/>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7850" name="AutoShape 19">
              <a:extLst>
                <a:ext uri="{FF2B5EF4-FFF2-40B4-BE49-F238E27FC236}">
                  <a16:creationId xmlns:a16="http://schemas.microsoft.com/office/drawing/2014/main" id="{CE9642B5-F282-1B1A-BAB4-4976F882AAF1}"/>
                </a:ext>
              </a:extLst>
            </p:cNvPr>
            <p:cNvSpPr>
              <a:spLocks/>
            </p:cNvSpPr>
            <p:nvPr/>
          </p:nvSpPr>
          <p:spPr bwMode="auto">
            <a:xfrm>
              <a:off x="1338" y="693"/>
              <a:ext cx="45" cy="545"/>
            </a:xfrm>
            <a:prstGeom prst="rightBrace">
              <a:avLst>
                <a:gd name="adj1" fmla="val 100926"/>
                <a:gd name="adj2" fmla="val 50000"/>
              </a:avLst>
            </a:prstGeom>
            <a:noFill/>
            <a:ln w="222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797724" name="Group 28">
            <a:extLst>
              <a:ext uri="{FF2B5EF4-FFF2-40B4-BE49-F238E27FC236}">
                <a16:creationId xmlns:a16="http://schemas.microsoft.com/office/drawing/2014/main" id="{D102324A-0CEF-8A96-206D-EB44106FC291}"/>
              </a:ext>
            </a:extLst>
          </p:cNvPr>
          <p:cNvGrpSpPr>
            <a:grpSpLocks/>
          </p:cNvGrpSpPr>
          <p:nvPr/>
        </p:nvGrpSpPr>
        <p:grpSpPr bwMode="auto">
          <a:xfrm>
            <a:off x="5076825" y="1528763"/>
            <a:ext cx="3527425" cy="523875"/>
            <a:chOff x="3198" y="772"/>
            <a:chExt cx="2222" cy="330"/>
          </a:xfrm>
        </p:grpSpPr>
        <p:graphicFrame>
          <p:nvGraphicFramePr>
            <p:cNvPr id="77846" name="Object 12">
              <a:extLst>
                <a:ext uri="{FF2B5EF4-FFF2-40B4-BE49-F238E27FC236}">
                  <a16:creationId xmlns:a16="http://schemas.microsoft.com/office/drawing/2014/main" id="{3BDDECC8-05D0-7EDA-6610-724D9B7C0365}"/>
                </a:ext>
              </a:extLst>
            </p:cNvPr>
            <p:cNvGraphicFramePr>
              <a:graphicFrameLocks noChangeAspect="1"/>
            </p:cNvGraphicFramePr>
            <p:nvPr/>
          </p:nvGraphicFramePr>
          <p:xfrm>
            <a:off x="3646" y="772"/>
            <a:ext cx="1774" cy="330"/>
          </p:xfrm>
          <a:graphic>
            <a:graphicData uri="http://schemas.openxmlformats.org/presentationml/2006/ole">
              <mc:AlternateContent xmlns:mc="http://schemas.openxmlformats.org/markup-compatibility/2006">
                <mc:Choice xmlns:v="urn:schemas-microsoft-com:vml" Requires="v">
                  <p:oleObj name="Equation" r:id="rId16" imgW="1225681" imgH="164965" progId="Equation.DSMT4">
                    <p:embed/>
                  </p:oleObj>
                </mc:Choice>
                <mc:Fallback>
                  <p:oleObj name="Equation" r:id="rId16" imgW="1225681" imgH="164965"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46" y="772"/>
                          <a:ext cx="1774" cy="33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47" name="AutoShape 20">
              <a:extLst>
                <a:ext uri="{FF2B5EF4-FFF2-40B4-BE49-F238E27FC236}">
                  <a16:creationId xmlns:a16="http://schemas.microsoft.com/office/drawing/2014/main" id="{24F1F473-44E3-DC10-731B-A7D1EAA5B13E}"/>
                </a:ext>
              </a:extLst>
            </p:cNvPr>
            <p:cNvSpPr>
              <a:spLocks noChangeArrowheads="1"/>
            </p:cNvSpPr>
            <p:nvPr/>
          </p:nvSpPr>
          <p:spPr bwMode="auto">
            <a:xfrm>
              <a:off x="3198" y="875"/>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77838" name="AutoShape 36">
            <a:hlinkClick r:id="rId18" action="ppaction://hlinksldjump" highlightClick="1"/>
            <a:extLst>
              <a:ext uri="{FF2B5EF4-FFF2-40B4-BE49-F238E27FC236}">
                <a16:creationId xmlns:a16="http://schemas.microsoft.com/office/drawing/2014/main" id="{199CEC95-745C-2DA8-2553-EA7A6727BE4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7839" name="AutoShape 37">
            <a:hlinkClick r:id="" action="ppaction://hlinkshowjump?jump=previousslide" highlightClick="1"/>
            <a:extLst>
              <a:ext uri="{FF2B5EF4-FFF2-40B4-BE49-F238E27FC236}">
                <a16:creationId xmlns:a16="http://schemas.microsoft.com/office/drawing/2014/main" id="{A58C78CB-72E8-3E9A-6553-DD131CC4A8C7}"/>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7840" name="AutoShape 38">
            <a:hlinkClick r:id="" action="ppaction://hlinkshowjump?jump=nextslide" highlightClick="1"/>
            <a:extLst>
              <a:ext uri="{FF2B5EF4-FFF2-40B4-BE49-F238E27FC236}">
                <a16:creationId xmlns:a16="http://schemas.microsoft.com/office/drawing/2014/main" id="{F920F8CB-3770-424A-E838-57A20AC4761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7841" name="AutoShape 39">
            <a:hlinkClick r:id="" action="ppaction://hlinkshowjump?jump=lastslide" highlightClick="1"/>
            <a:extLst>
              <a:ext uri="{FF2B5EF4-FFF2-40B4-BE49-F238E27FC236}">
                <a16:creationId xmlns:a16="http://schemas.microsoft.com/office/drawing/2014/main" id="{CF234FAF-30E0-6217-EEC7-5C0B04126CE2}"/>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7737" name="Object 41">
            <a:extLst>
              <a:ext uri="{FF2B5EF4-FFF2-40B4-BE49-F238E27FC236}">
                <a16:creationId xmlns:a16="http://schemas.microsoft.com/office/drawing/2014/main" id="{A575E5BB-059B-8A5F-F1C0-B27BD4A07A30}"/>
              </a:ext>
            </a:extLst>
          </p:cNvPr>
          <p:cNvGraphicFramePr>
            <a:graphicFrameLocks noChangeAspect="1"/>
          </p:cNvGraphicFramePr>
          <p:nvPr/>
        </p:nvGraphicFramePr>
        <p:xfrm>
          <a:off x="539750" y="1836738"/>
          <a:ext cx="1511300" cy="512762"/>
        </p:xfrm>
        <a:graphic>
          <a:graphicData uri="http://schemas.openxmlformats.org/presentationml/2006/ole">
            <mc:AlternateContent xmlns:mc="http://schemas.openxmlformats.org/markup-compatibility/2006">
              <mc:Choice xmlns:v="urn:schemas-microsoft-com:vml" Requires="v">
                <p:oleObj name="公式" r:id="rId19" imgW="635118" imgH="164965" progId="Equation.3">
                  <p:embed/>
                </p:oleObj>
              </mc:Choice>
              <mc:Fallback>
                <p:oleObj name="公式" r:id="rId19" imgW="635118" imgH="164965" progId="Equation.3">
                  <p:embed/>
                  <p:pic>
                    <p:nvPicPr>
                      <p:cNvPr id="0"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9750" y="1836738"/>
                        <a:ext cx="15113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7738" name="Object 42">
            <a:extLst>
              <a:ext uri="{FF2B5EF4-FFF2-40B4-BE49-F238E27FC236}">
                <a16:creationId xmlns:a16="http://schemas.microsoft.com/office/drawing/2014/main" id="{D544E25D-2802-2251-5D29-CDEEC4AAECC4}"/>
              </a:ext>
            </a:extLst>
          </p:cNvPr>
          <p:cNvGraphicFramePr>
            <a:graphicFrameLocks noChangeAspect="1"/>
          </p:cNvGraphicFramePr>
          <p:nvPr/>
        </p:nvGraphicFramePr>
        <p:xfrm>
          <a:off x="6130925" y="3716338"/>
          <a:ext cx="1970088" cy="1565275"/>
        </p:xfrm>
        <a:graphic>
          <a:graphicData uri="http://schemas.openxmlformats.org/presentationml/2006/ole">
            <mc:AlternateContent xmlns:mc="http://schemas.openxmlformats.org/markup-compatibility/2006">
              <mc:Choice xmlns:v="urn:schemas-microsoft-com:vml" Requires="v">
                <p:oleObj name="公式" r:id="rId21" imgW="857085" imgH="666750" progId="Equation.3">
                  <p:embed/>
                </p:oleObj>
              </mc:Choice>
              <mc:Fallback>
                <p:oleObj name="公式" r:id="rId21" imgW="857085" imgH="666750" progId="Equation.3">
                  <p:embed/>
                  <p:pic>
                    <p:nvPicPr>
                      <p:cNvPr id="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30925" y="3716338"/>
                        <a:ext cx="1970088" cy="156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7739" name="Text Box 43">
            <a:extLst>
              <a:ext uri="{FF2B5EF4-FFF2-40B4-BE49-F238E27FC236}">
                <a16:creationId xmlns:a16="http://schemas.microsoft.com/office/drawing/2014/main" id="{852058B0-7C45-D148-B4FD-DE4235F942DD}"/>
              </a:ext>
            </a:extLst>
          </p:cNvPr>
          <p:cNvSpPr txBox="1">
            <a:spLocks noChangeArrowheads="1"/>
          </p:cNvSpPr>
          <p:nvPr/>
        </p:nvSpPr>
        <p:spPr bwMode="auto">
          <a:xfrm>
            <a:off x="539750" y="3716338"/>
            <a:ext cx="536416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zh-CN" altLang="en-US" b="1">
                <a:solidFill>
                  <a:schemeClr val="bg1"/>
                </a:solidFill>
                <a:latin typeface="Times New Roman" panose="02020603050405020304" pitchFamily="18" charset="0"/>
              </a:rPr>
              <a:t>在直角坐标系中可分解为</a:t>
            </a:r>
            <a:r>
              <a:rPr lang="en-US" altLang="zh-CN" b="1">
                <a:solidFill>
                  <a:schemeClr val="bg1"/>
                </a:solidFill>
                <a:latin typeface="Times New Roman" panose="02020603050405020304" pitchFamily="18" charset="0"/>
              </a:rPr>
              <a:t>3</a:t>
            </a:r>
            <a:r>
              <a:rPr lang="zh-CN" altLang="en-US" b="1">
                <a:solidFill>
                  <a:schemeClr val="bg1"/>
                </a:solidFill>
                <a:latin typeface="Times New Roman" panose="02020603050405020304" pitchFamily="18" charset="0"/>
              </a:rPr>
              <a:t>个分量 </a:t>
            </a:r>
          </a:p>
        </p:txBody>
      </p:sp>
      <p:sp>
        <p:nvSpPr>
          <p:cNvPr id="797740" name="AutoShape 44">
            <a:extLst>
              <a:ext uri="{FF2B5EF4-FFF2-40B4-BE49-F238E27FC236}">
                <a16:creationId xmlns:a16="http://schemas.microsoft.com/office/drawing/2014/main" id="{30D60583-F193-67D9-3753-285923823F7B}"/>
              </a:ext>
            </a:extLst>
          </p:cNvPr>
          <p:cNvSpPr>
            <a:spLocks noChangeArrowheads="1"/>
          </p:cNvSpPr>
          <p:nvPr/>
        </p:nvSpPr>
        <p:spPr bwMode="auto">
          <a:xfrm>
            <a:off x="5256213" y="3933825"/>
            <a:ext cx="684212" cy="215900"/>
          </a:xfrm>
          <a:prstGeom prst="rightArrow">
            <a:avLst>
              <a:gd name="adj1" fmla="val 50000"/>
              <a:gd name="adj2" fmla="val 79228"/>
            </a:avLst>
          </a:prstGeom>
          <a:solidFill>
            <a:srgbClr val="FFCC99"/>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97698"/>
                                        </p:tgtEl>
                                        <p:attrNameLst>
                                          <p:attrName>style.visibility</p:attrName>
                                        </p:attrNameLst>
                                      </p:cBhvr>
                                      <p:to>
                                        <p:strVal val="visible"/>
                                      </p:to>
                                    </p:set>
                                    <p:animEffect transition="in" filter="wipe(up)">
                                      <p:cBhvr>
                                        <p:cTn id="7" dur="2000"/>
                                        <p:tgtEl>
                                          <p:spTgt spid="797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97700"/>
                                        </p:tgtEl>
                                        <p:attrNameLst>
                                          <p:attrName>style.visibility</p:attrName>
                                        </p:attrNameLst>
                                      </p:cBhvr>
                                      <p:to>
                                        <p:strVal val="visible"/>
                                      </p:to>
                                    </p:set>
                                    <p:animEffect transition="in" filter="wipe(up)">
                                      <p:cBhvr>
                                        <p:cTn id="12" dur="2000"/>
                                        <p:tgtEl>
                                          <p:spTgt spid="797700"/>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797737"/>
                                        </p:tgtEl>
                                        <p:attrNameLst>
                                          <p:attrName>style.visibility</p:attrName>
                                        </p:attrNameLst>
                                      </p:cBhvr>
                                      <p:to>
                                        <p:strVal val="visible"/>
                                      </p:to>
                                    </p:set>
                                    <p:animEffect transition="in" filter="wipe(up)">
                                      <p:cBhvr>
                                        <p:cTn id="16" dur="2000"/>
                                        <p:tgtEl>
                                          <p:spTgt spid="7977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97725"/>
                                        </p:tgtEl>
                                        <p:attrNameLst>
                                          <p:attrName>style.visibility</p:attrName>
                                        </p:attrNameLst>
                                      </p:cBhvr>
                                      <p:to>
                                        <p:strVal val="visible"/>
                                      </p:to>
                                    </p:set>
                                    <p:animEffect transition="in" filter="wipe(up)">
                                      <p:cBhvr>
                                        <p:cTn id="21" dur="2000"/>
                                        <p:tgtEl>
                                          <p:spTgt spid="79772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97724"/>
                                        </p:tgtEl>
                                        <p:attrNameLst>
                                          <p:attrName>style.visibility</p:attrName>
                                        </p:attrNameLst>
                                      </p:cBhvr>
                                      <p:to>
                                        <p:strVal val="visible"/>
                                      </p:to>
                                    </p:set>
                                    <p:animEffect transition="in" filter="wipe(up)">
                                      <p:cBhvr>
                                        <p:cTn id="26" dur="2000"/>
                                        <p:tgtEl>
                                          <p:spTgt spid="7977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97702"/>
                                        </p:tgtEl>
                                        <p:attrNameLst>
                                          <p:attrName>style.visibility</p:attrName>
                                        </p:attrNameLst>
                                      </p:cBhvr>
                                      <p:to>
                                        <p:strVal val="visible"/>
                                      </p:to>
                                    </p:set>
                                    <p:animEffect transition="in" filter="wipe(up)">
                                      <p:cBhvr>
                                        <p:cTn id="31" dur="2000"/>
                                        <p:tgtEl>
                                          <p:spTgt spid="797702"/>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797726"/>
                                        </p:tgtEl>
                                        <p:attrNameLst>
                                          <p:attrName>style.visibility</p:attrName>
                                        </p:attrNameLst>
                                      </p:cBhvr>
                                      <p:to>
                                        <p:strVal val="visible"/>
                                      </p:to>
                                    </p:set>
                                    <p:animEffect transition="in" filter="wipe(up)">
                                      <p:cBhvr>
                                        <p:cTn id="35" dur="2000"/>
                                        <p:tgtEl>
                                          <p:spTgt spid="797726"/>
                                        </p:tgtEl>
                                      </p:cBhvr>
                                    </p:animEffect>
                                  </p:childTnLst>
                                </p:cTn>
                              </p:par>
                            </p:childTnLst>
                          </p:cTn>
                        </p:par>
                        <p:par>
                          <p:cTn id="36" fill="hold" nodeType="afterGroup">
                            <p:stCondLst>
                              <p:cond delay="4000"/>
                            </p:stCondLst>
                            <p:childTnLst>
                              <p:par>
                                <p:cTn id="37" presetID="10" presetClass="entr" presetSubtype="0" fill="hold" nodeType="afterEffect">
                                  <p:stCondLst>
                                    <p:cond delay="0"/>
                                  </p:stCondLst>
                                  <p:childTnLst>
                                    <p:set>
                                      <p:cBhvr>
                                        <p:cTn id="38" dur="1" fill="hold">
                                          <p:stCondLst>
                                            <p:cond delay="0"/>
                                          </p:stCondLst>
                                        </p:cTn>
                                        <p:tgtEl>
                                          <p:spTgt spid="797730"/>
                                        </p:tgtEl>
                                        <p:attrNameLst>
                                          <p:attrName>style.visibility</p:attrName>
                                        </p:attrNameLst>
                                      </p:cBhvr>
                                      <p:to>
                                        <p:strVal val="visible"/>
                                      </p:to>
                                    </p:set>
                                    <p:animEffect transition="in" filter="fade">
                                      <p:cBhvr>
                                        <p:cTn id="39" dur="2000"/>
                                        <p:tgtEl>
                                          <p:spTgt spid="79773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797699"/>
                                        </p:tgtEl>
                                        <p:attrNameLst>
                                          <p:attrName>style.visibility</p:attrName>
                                        </p:attrNameLst>
                                      </p:cBhvr>
                                      <p:to>
                                        <p:strVal val="visible"/>
                                      </p:to>
                                    </p:set>
                                    <p:animEffect transition="in" filter="wipe(up)">
                                      <p:cBhvr>
                                        <p:cTn id="44" dur="2000"/>
                                        <p:tgtEl>
                                          <p:spTgt spid="797699"/>
                                        </p:tgtEl>
                                      </p:cBhvr>
                                    </p:animEffect>
                                  </p:childTnLst>
                                </p:cTn>
                              </p:par>
                            </p:childTnLst>
                          </p:cTn>
                        </p:par>
                        <p:par>
                          <p:cTn id="45" fill="hold" nodeType="afterGroup">
                            <p:stCondLst>
                              <p:cond delay="2000"/>
                            </p:stCondLst>
                            <p:childTnLst>
                              <p:par>
                                <p:cTn id="46" presetID="22" presetClass="entr" presetSubtype="1" fill="hold" nodeType="afterEffect">
                                  <p:stCondLst>
                                    <p:cond delay="0"/>
                                  </p:stCondLst>
                                  <p:childTnLst>
                                    <p:set>
                                      <p:cBhvr>
                                        <p:cTn id="47" dur="1" fill="hold">
                                          <p:stCondLst>
                                            <p:cond delay="0"/>
                                          </p:stCondLst>
                                        </p:cTn>
                                        <p:tgtEl>
                                          <p:spTgt spid="797710"/>
                                        </p:tgtEl>
                                        <p:attrNameLst>
                                          <p:attrName>style.visibility</p:attrName>
                                        </p:attrNameLst>
                                      </p:cBhvr>
                                      <p:to>
                                        <p:strVal val="visible"/>
                                      </p:to>
                                    </p:set>
                                    <p:animEffect transition="in" filter="wipe(up)">
                                      <p:cBhvr>
                                        <p:cTn id="48" dur="2000"/>
                                        <p:tgtEl>
                                          <p:spTgt spid="7977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797727"/>
                                        </p:tgtEl>
                                        <p:attrNameLst>
                                          <p:attrName>style.visibility</p:attrName>
                                        </p:attrNameLst>
                                      </p:cBhvr>
                                      <p:to>
                                        <p:strVal val="visible"/>
                                      </p:to>
                                    </p:set>
                                    <p:animEffect transition="in" filter="wipe(up)">
                                      <p:cBhvr>
                                        <p:cTn id="53" dur="2000"/>
                                        <p:tgtEl>
                                          <p:spTgt spid="797727"/>
                                        </p:tgtEl>
                                      </p:cBhvr>
                                    </p:animEffect>
                                  </p:childTnLst>
                                </p:cTn>
                              </p:par>
                            </p:childTnLst>
                          </p:cTn>
                        </p:par>
                        <p:par>
                          <p:cTn id="54" fill="hold" nodeType="afterGroup">
                            <p:stCondLst>
                              <p:cond delay="2000"/>
                            </p:stCondLst>
                            <p:childTnLst>
                              <p:par>
                                <p:cTn id="55" presetID="10" presetClass="entr" presetSubtype="0" fill="hold" nodeType="afterEffect">
                                  <p:stCondLst>
                                    <p:cond delay="0"/>
                                  </p:stCondLst>
                                  <p:childTnLst>
                                    <p:set>
                                      <p:cBhvr>
                                        <p:cTn id="56" dur="1" fill="hold">
                                          <p:stCondLst>
                                            <p:cond delay="0"/>
                                          </p:stCondLst>
                                        </p:cTn>
                                        <p:tgtEl>
                                          <p:spTgt spid="797731"/>
                                        </p:tgtEl>
                                        <p:attrNameLst>
                                          <p:attrName>style.visibility</p:attrName>
                                        </p:attrNameLst>
                                      </p:cBhvr>
                                      <p:to>
                                        <p:strVal val="visible"/>
                                      </p:to>
                                    </p:set>
                                    <p:animEffect transition="in" filter="fade">
                                      <p:cBhvr>
                                        <p:cTn id="57" dur="2000"/>
                                        <p:tgtEl>
                                          <p:spTgt spid="797731"/>
                                        </p:tgtEl>
                                      </p:cBhvr>
                                    </p:animEffect>
                                  </p:childTnLst>
                                </p:cTn>
                              </p:par>
                            </p:childTnLst>
                          </p:cTn>
                        </p:par>
                        <p:par>
                          <p:cTn id="58" fill="hold" nodeType="afterGroup">
                            <p:stCondLst>
                              <p:cond delay="4000"/>
                            </p:stCondLst>
                            <p:childTnLst>
                              <p:par>
                                <p:cTn id="59" presetID="22" presetClass="entr" presetSubtype="1" fill="hold" nodeType="afterEffect">
                                  <p:stCondLst>
                                    <p:cond delay="0"/>
                                  </p:stCondLst>
                                  <p:childTnLst>
                                    <p:set>
                                      <p:cBhvr>
                                        <p:cTn id="60" dur="1" fill="hold">
                                          <p:stCondLst>
                                            <p:cond delay="0"/>
                                          </p:stCondLst>
                                        </p:cTn>
                                        <p:tgtEl>
                                          <p:spTgt spid="797738"/>
                                        </p:tgtEl>
                                        <p:attrNameLst>
                                          <p:attrName>style.visibility</p:attrName>
                                        </p:attrNameLst>
                                      </p:cBhvr>
                                      <p:to>
                                        <p:strVal val="visible"/>
                                      </p:to>
                                    </p:set>
                                    <p:animEffect transition="in" filter="wipe(up)">
                                      <p:cBhvr>
                                        <p:cTn id="61" dur="2000"/>
                                        <p:tgtEl>
                                          <p:spTgt spid="79773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797739"/>
                                        </p:tgtEl>
                                        <p:attrNameLst>
                                          <p:attrName>style.visibility</p:attrName>
                                        </p:attrNameLst>
                                      </p:cBhvr>
                                      <p:to>
                                        <p:strVal val="visible"/>
                                      </p:to>
                                    </p:set>
                                    <p:animEffect transition="in" filter="wipe(up)">
                                      <p:cBhvr>
                                        <p:cTn id="66" dur="2000"/>
                                        <p:tgtEl>
                                          <p:spTgt spid="79773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797740"/>
                                        </p:tgtEl>
                                        <p:attrNameLst>
                                          <p:attrName>style.visibility</p:attrName>
                                        </p:attrNameLst>
                                      </p:cBhvr>
                                      <p:to>
                                        <p:strVal val="visible"/>
                                      </p:to>
                                    </p:set>
                                    <p:animEffect transition="in" filter="wipe(up)">
                                      <p:cBhvr>
                                        <p:cTn id="71" dur="1000"/>
                                        <p:tgtEl>
                                          <p:spTgt spid="797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8" grpId="0"/>
      <p:bldP spid="797699" grpId="0"/>
      <p:bldP spid="797739" grpId="0"/>
      <p:bldP spid="7977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7D788EE3-0FC9-947A-8158-187407F22DA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0BED897-B8C9-4E60-941B-600CB9471432}" type="slidenum">
              <a:rPr lang="en-US" altLang="zh-CN" sz="1400">
                <a:ea typeface="宋体" panose="02010600030101010101" pitchFamily="2" charset="-122"/>
              </a:rPr>
              <a:pPr/>
              <a:t>7</a:t>
            </a:fld>
            <a:endParaRPr lang="en-US" altLang="zh-CN" sz="1400">
              <a:ea typeface="宋体" panose="02010600030101010101" pitchFamily="2" charset="-122"/>
            </a:endParaRPr>
          </a:p>
        </p:txBody>
      </p:sp>
      <p:sp>
        <p:nvSpPr>
          <p:cNvPr id="993282" name="Text Box 2">
            <a:extLst>
              <a:ext uri="{FF2B5EF4-FFF2-40B4-BE49-F238E27FC236}">
                <a16:creationId xmlns:a16="http://schemas.microsoft.com/office/drawing/2014/main" id="{81A53127-B0EB-198A-3898-F4B250450403}"/>
              </a:ext>
            </a:extLst>
          </p:cNvPr>
          <p:cNvSpPr txBox="1">
            <a:spLocks noChangeArrowheads="1"/>
          </p:cNvSpPr>
          <p:nvPr/>
        </p:nvSpPr>
        <p:spPr bwMode="auto">
          <a:xfrm>
            <a:off x="49213" y="1484784"/>
            <a:ext cx="430688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en-US" altLang="zh-CN" b="1" dirty="0">
                <a:solidFill>
                  <a:schemeClr val="bg1"/>
                </a:solidFill>
                <a:latin typeface="Times New Roman" panose="02020603050405020304" pitchFamily="18" charset="0"/>
              </a:rPr>
              <a:t>    </a:t>
            </a:r>
            <a:r>
              <a:rPr kumimoji="1" lang="zh-CN" altLang="en-US" b="1" dirty="0">
                <a:solidFill>
                  <a:schemeClr val="bg1"/>
                </a:solidFill>
                <a:latin typeface="Times New Roman" panose="02020603050405020304" pitchFamily="18" charset="0"/>
                <a:ea typeface="宋体" panose="02010600030101010101" pitchFamily="2" charset="-122"/>
              </a:rPr>
              <a:t>磁矢位的边界条件</a:t>
            </a:r>
          </a:p>
        </p:txBody>
      </p:sp>
      <p:sp>
        <p:nvSpPr>
          <p:cNvPr id="993287" name="Text Box 7">
            <a:extLst>
              <a:ext uri="{FF2B5EF4-FFF2-40B4-BE49-F238E27FC236}">
                <a16:creationId xmlns:a16="http://schemas.microsoft.com/office/drawing/2014/main" id="{248D07BC-AE6E-05AD-A6F6-EE14C0D2B7BD}"/>
              </a:ext>
            </a:extLst>
          </p:cNvPr>
          <p:cNvSpPr txBox="1">
            <a:spLocks noChangeArrowheads="1"/>
          </p:cNvSpPr>
          <p:nvPr/>
        </p:nvSpPr>
        <p:spPr bwMode="auto">
          <a:xfrm>
            <a:off x="34925" y="332656"/>
            <a:ext cx="841057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10000"/>
              </a:lnSpc>
              <a:spcBef>
                <a:spcPct val="50000"/>
              </a:spcBef>
              <a:buFontTx/>
              <a:buBlip>
                <a:blip r:embed="rId3"/>
              </a:buBlip>
            </a:pPr>
            <a:r>
              <a:rPr kumimoji="1" lang="en-US" altLang="zh-CN" b="1">
                <a:solidFill>
                  <a:schemeClr val="bg1"/>
                </a:solidFill>
                <a:latin typeface="楷体_GB2312" pitchFamily="49" charset="-122"/>
              </a:rPr>
              <a:t>  </a:t>
            </a:r>
            <a:r>
              <a:rPr kumimoji="1" lang="zh-CN" altLang="en-US" b="1">
                <a:solidFill>
                  <a:schemeClr val="bg1"/>
                </a:solidFill>
                <a:latin typeface="宋体" panose="02010600030101010101" pitchFamily="2" charset="-122"/>
                <a:ea typeface="宋体" panose="02010600030101010101" pitchFamily="2" charset="-122"/>
              </a:rPr>
              <a:t>利用磁矢位计算磁通量 </a:t>
            </a:r>
          </a:p>
        </p:txBody>
      </p:sp>
      <p:graphicFrame>
        <p:nvGraphicFramePr>
          <p:cNvPr id="993288" name="Object 8">
            <a:extLst>
              <a:ext uri="{FF2B5EF4-FFF2-40B4-BE49-F238E27FC236}">
                <a16:creationId xmlns:a16="http://schemas.microsoft.com/office/drawing/2014/main" id="{F83BE3B3-5C61-5A28-30D1-8DAE8727ED3F}"/>
              </a:ext>
            </a:extLst>
          </p:cNvPr>
          <p:cNvGraphicFramePr>
            <a:graphicFrameLocks noChangeAspect="1"/>
          </p:cNvGraphicFramePr>
          <p:nvPr>
            <p:extLst>
              <p:ext uri="{D42A27DB-BD31-4B8C-83A1-F6EECF244321}">
                <p14:modId xmlns:p14="http://schemas.microsoft.com/office/powerpoint/2010/main" val="827907698"/>
              </p:ext>
            </p:extLst>
          </p:nvPr>
        </p:nvGraphicFramePr>
        <p:xfrm>
          <a:off x="684213" y="2840757"/>
          <a:ext cx="1239837" cy="431800"/>
        </p:xfrm>
        <a:graphic>
          <a:graphicData uri="http://schemas.openxmlformats.org/presentationml/2006/ole">
            <mc:AlternateContent xmlns:mc="http://schemas.openxmlformats.org/markup-compatibility/2006">
              <mc:Choice xmlns:v="urn:schemas-microsoft-com:vml" Requires="v">
                <p:oleObj name="Equation" r:id="rId4" imgW="482414" imgH="139835" progId="Equation.DSMT4">
                  <p:embed/>
                </p:oleObj>
              </mc:Choice>
              <mc:Fallback>
                <p:oleObj name="Equation" r:id="rId4" imgW="482414" imgH="139835"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2840757"/>
                        <a:ext cx="1239837" cy="4318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3289" name="Group 9">
            <a:extLst>
              <a:ext uri="{FF2B5EF4-FFF2-40B4-BE49-F238E27FC236}">
                <a16:creationId xmlns:a16="http://schemas.microsoft.com/office/drawing/2014/main" id="{E744D721-2FE1-E67B-E7B3-1BDD80F6654B}"/>
              </a:ext>
            </a:extLst>
          </p:cNvPr>
          <p:cNvGrpSpPr>
            <a:grpSpLocks/>
          </p:cNvGrpSpPr>
          <p:nvPr/>
        </p:nvGrpSpPr>
        <p:grpSpPr bwMode="auto">
          <a:xfrm>
            <a:off x="6162675" y="2313707"/>
            <a:ext cx="1981200" cy="865188"/>
            <a:chOff x="3878" y="2704"/>
            <a:chExt cx="1248" cy="545"/>
          </a:xfrm>
        </p:grpSpPr>
        <p:sp>
          <p:nvSpPr>
            <p:cNvPr id="79900" name="AutoShape 10">
              <a:extLst>
                <a:ext uri="{FF2B5EF4-FFF2-40B4-BE49-F238E27FC236}">
                  <a16:creationId xmlns:a16="http://schemas.microsoft.com/office/drawing/2014/main" id="{ACE539F9-667B-36BE-B7C7-3E66C0065F6D}"/>
                </a:ext>
              </a:extLst>
            </p:cNvPr>
            <p:cNvSpPr>
              <a:spLocks noChangeArrowheads="1"/>
            </p:cNvSpPr>
            <p:nvPr/>
          </p:nvSpPr>
          <p:spPr bwMode="auto">
            <a:xfrm>
              <a:off x="4014" y="2915"/>
              <a:ext cx="363" cy="152"/>
            </a:xfrm>
            <a:prstGeom prst="rightArrow">
              <a:avLst>
                <a:gd name="adj1" fmla="val 50000"/>
                <a:gd name="adj2" fmla="val 59704"/>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901" name="AutoShape 11">
              <a:extLst>
                <a:ext uri="{FF2B5EF4-FFF2-40B4-BE49-F238E27FC236}">
                  <a16:creationId xmlns:a16="http://schemas.microsoft.com/office/drawing/2014/main" id="{1647C1B0-B1B6-BED4-5161-20EE40009643}"/>
                </a:ext>
              </a:extLst>
            </p:cNvPr>
            <p:cNvSpPr>
              <a:spLocks/>
            </p:cNvSpPr>
            <p:nvPr/>
          </p:nvSpPr>
          <p:spPr bwMode="auto">
            <a:xfrm>
              <a:off x="3878" y="2704"/>
              <a:ext cx="45" cy="545"/>
            </a:xfrm>
            <a:prstGeom prst="rightBrace">
              <a:avLst>
                <a:gd name="adj1" fmla="val 100926"/>
                <a:gd name="adj2" fmla="val 50000"/>
              </a:avLst>
            </a:prstGeom>
            <a:noFill/>
            <a:ln w="222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902" name="Object 12">
              <a:extLst>
                <a:ext uri="{FF2B5EF4-FFF2-40B4-BE49-F238E27FC236}">
                  <a16:creationId xmlns:a16="http://schemas.microsoft.com/office/drawing/2014/main" id="{5A78E7D2-27D1-95E5-EDD4-61F973559721}"/>
                </a:ext>
              </a:extLst>
            </p:cNvPr>
            <p:cNvGraphicFramePr>
              <a:graphicFrameLocks noChangeAspect="1"/>
            </p:cNvGraphicFramePr>
            <p:nvPr/>
          </p:nvGraphicFramePr>
          <p:xfrm>
            <a:off x="4489" y="2824"/>
            <a:ext cx="637" cy="320"/>
          </p:xfrm>
          <a:graphic>
            <a:graphicData uri="http://schemas.openxmlformats.org/presentationml/2006/ole">
              <mc:AlternateContent xmlns:mc="http://schemas.openxmlformats.org/markup-compatibility/2006">
                <mc:Choice xmlns:v="urn:schemas-microsoft-com:vml" Requires="v">
                  <p:oleObj name="Equation" r:id="rId6" imgW="406265" imgH="177935" progId="Equation.DSMT4">
                    <p:embed/>
                  </p:oleObj>
                </mc:Choice>
                <mc:Fallback>
                  <p:oleObj name="Equation" r:id="rId6" imgW="406265" imgH="177935"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9" y="2824"/>
                          <a:ext cx="637" cy="32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93293" name="Object 13">
            <a:extLst>
              <a:ext uri="{FF2B5EF4-FFF2-40B4-BE49-F238E27FC236}">
                <a16:creationId xmlns:a16="http://schemas.microsoft.com/office/drawing/2014/main" id="{6D6FA890-D0FE-B5AF-2724-EC94A9A2AAC1}"/>
              </a:ext>
            </a:extLst>
          </p:cNvPr>
          <p:cNvGraphicFramePr>
            <a:graphicFrameLocks noChangeAspect="1"/>
          </p:cNvGraphicFramePr>
          <p:nvPr>
            <p:extLst>
              <p:ext uri="{D42A27DB-BD31-4B8C-83A1-F6EECF244321}">
                <p14:modId xmlns:p14="http://schemas.microsoft.com/office/powerpoint/2010/main" val="2955486873"/>
              </p:ext>
            </p:extLst>
          </p:nvPr>
        </p:nvGraphicFramePr>
        <p:xfrm>
          <a:off x="684213" y="3466232"/>
          <a:ext cx="2411412" cy="522288"/>
        </p:xfrm>
        <a:graphic>
          <a:graphicData uri="http://schemas.openxmlformats.org/presentationml/2006/ole">
            <mc:AlternateContent xmlns:mc="http://schemas.openxmlformats.org/markup-compatibility/2006">
              <mc:Choice xmlns:v="urn:schemas-microsoft-com:vml" Requires="v">
                <p:oleObj name="Equation" r:id="rId8" imgW="1111052" imgH="177935" progId="Equation.DSMT4">
                  <p:embed/>
                </p:oleObj>
              </mc:Choice>
              <mc:Fallback>
                <p:oleObj name="Equation" r:id="rId8" imgW="1111052" imgH="177935"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4213" y="3466232"/>
                        <a:ext cx="2411412"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294" name="Object 14">
            <a:extLst>
              <a:ext uri="{FF2B5EF4-FFF2-40B4-BE49-F238E27FC236}">
                <a16:creationId xmlns:a16="http://schemas.microsoft.com/office/drawing/2014/main" id="{26EE8F4F-E76D-6BBC-E492-FC535C64282A}"/>
              </a:ext>
            </a:extLst>
          </p:cNvPr>
          <p:cNvGraphicFramePr>
            <a:graphicFrameLocks noChangeAspect="1"/>
          </p:cNvGraphicFramePr>
          <p:nvPr>
            <p:extLst>
              <p:ext uri="{D42A27DB-BD31-4B8C-83A1-F6EECF244321}">
                <p14:modId xmlns:p14="http://schemas.microsoft.com/office/powerpoint/2010/main" val="4060191837"/>
              </p:ext>
            </p:extLst>
          </p:nvPr>
        </p:nvGraphicFramePr>
        <p:xfrm>
          <a:off x="727075" y="4044082"/>
          <a:ext cx="1828800" cy="522288"/>
        </p:xfrm>
        <a:graphic>
          <a:graphicData uri="http://schemas.openxmlformats.org/presentationml/2006/ole">
            <mc:AlternateContent xmlns:mc="http://schemas.openxmlformats.org/markup-compatibility/2006">
              <mc:Choice xmlns:v="urn:schemas-microsoft-com:vml" Requires="v">
                <p:oleObj name="Equation" r:id="rId10" imgW="780936" imgH="164965" progId="Equation.DSMT4">
                  <p:embed/>
                </p:oleObj>
              </mc:Choice>
              <mc:Fallback>
                <p:oleObj name="Equation" r:id="rId10" imgW="780936" imgH="164965"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7075" y="4044082"/>
                        <a:ext cx="1828800"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3295" name="Group 15">
            <a:extLst>
              <a:ext uri="{FF2B5EF4-FFF2-40B4-BE49-F238E27FC236}">
                <a16:creationId xmlns:a16="http://schemas.microsoft.com/office/drawing/2014/main" id="{3F381A9E-9857-2E5F-2554-43EDC4A69F9E}"/>
              </a:ext>
            </a:extLst>
          </p:cNvPr>
          <p:cNvGrpSpPr>
            <a:grpSpLocks/>
          </p:cNvGrpSpPr>
          <p:nvPr/>
        </p:nvGrpSpPr>
        <p:grpSpPr bwMode="auto">
          <a:xfrm>
            <a:off x="3276600" y="3539257"/>
            <a:ext cx="5127625" cy="962025"/>
            <a:chOff x="2426" y="3476"/>
            <a:chExt cx="3230" cy="606"/>
          </a:xfrm>
        </p:grpSpPr>
        <p:sp>
          <p:nvSpPr>
            <p:cNvPr id="79897" name="AutoShape 16">
              <a:extLst>
                <a:ext uri="{FF2B5EF4-FFF2-40B4-BE49-F238E27FC236}">
                  <a16:creationId xmlns:a16="http://schemas.microsoft.com/office/drawing/2014/main" id="{813C14A0-2631-6B42-1EDF-75A8480F2C4C}"/>
                </a:ext>
              </a:extLst>
            </p:cNvPr>
            <p:cNvSpPr>
              <a:spLocks noChangeArrowheads="1"/>
            </p:cNvSpPr>
            <p:nvPr/>
          </p:nvSpPr>
          <p:spPr bwMode="auto">
            <a:xfrm>
              <a:off x="2562" y="3748"/>
              <a:ext cx="363" cy="152"/>
            </a:xfrm>
            <a:prstGeom prst="rightArrow">
              <a:avLst>
                <a:gd name="adj1" fmla="val 50000"/>
                <a:gd name="adj2" fmla="val 59704"/>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898" name="AutoShape 17">
              <a:extLst>
                <a:ext uri="{FF2B5EF4-FFF2-40B4-BE49-F238E27FC236}">
                  <a16:creationId xmlns:a16="http://schemas.microsoft.com/office/drawing/2014/main" id="{398B1392-B4D9-1AA1-F1C6-3BD1ED43F8B2}"/>
                </a:ext>
              </a:extLst>
            </p:cNvPr>
            <p:cNvSpPr>
              <a:spLocks/>
            </p:cNvSpPr>
            <p:nvPr/>
          </p:nvSpPr>
          <p:spPr bwMode="auto">
            <a:xfrm>
              <a:off x="2426" y="3537"/>
              <a:ext cx="45" cy="545"/>
            </a:xfrm>
            <a:prstGeom prst="rightBrace">
              <a:avLst>
                <a:gd name="adj1" fmla="val 100926"/>
                <a:gd name="adj2" fmla="val 50000"/>
              </a:avLst>
            </a:prstGeom>
            <a:noFill/>
            <a:ln w="222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899" name="Object 18">
              <a:extLst>
                <a:ext uri="{FF2B5EF4-FFF2-40B4-BE49-F238E27FC236}">
                  <a16:creationId xmlns:a16="http://schemas.microsoft.com/office/drawing/2014/main" id="{79343843-14D0-1DE6-4BFC-22E7F6C9B929}"/>
                </a:ext>
              </a:extLst>
            </p:cNvPr>
            <p:cNvGraphicFramePr>
              <a:graphicFrameLocks noChangeAspect="1"/>
            </p:cNvGraphicFramePr>
            <p:nvPr/>
          </p:nvGraphicFramePr>
          <p:xfrm>
            <a:off x="3008" y="3476"/>
            <a:ext cx="2648" cy="589"/>
          </p:xfrm>
          <a:graphic>
            <a:graphicData uri="http://schemas.openxmlformats.org/presentationml/2006/ole">
              <mc:AlternateContent xmlns:mc="http://schemas.openxmlformats.org/markup-compatibility/2006">
                <mc:Choice xmlns:v="urn:schemas-microsoft-com:vml" Requires="v">
                  <p:oleObj name="Equation" r:id="rId12" imgW="1879431" imgH="361950" progId="Equation.DSMT4">
                    <p:embed/>
                  </p:oleObj>
                </mc:Choice>
                <mc:Fallback>
                  <p:oleObj name="Equation" r:id="rId12" imgW="1879431" imgH="36195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08" y="3476"/>
                          <a:ext cx="2648"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93308" name="Object 28">
            <a:extLst>
              <a:ext uri="{FF2B5EF4-FFF2-40B4-BE49-F238E27FC236}">
                <a16:creationId xmlns:a16="http://schemas.microsoft.com/office/drawing/2014/main" id="{52C278E5-76AA-A832-5F71-9F3B7EF15C5D}"/>
              </a:ext>
            </a:extLst>
          </p:cNvPr>
          <p:cNvGraphicFramePr>
            <a:graphicFrameLocks noChangeAspect="1"/>
          </p:cNvGraphicFramePr>
          <p:nvPr>
            <p:extLst>
              <p:ext uri="{D42A27DB-BD31-4B8C-83A1-F6EECF244321}">
                <p14:modId xmlns:p14="http://schemas.microsoft.com/office/powerpoint/2010/main" val="2749858832"/>
              </p:ext>
            </p:extLst>
          </p:nvPr>
        </p:nvGraphicFramePr>
        <p:xfrm>
          <a:off x="755650" y="1916832"/>
          <a:ext cx="2303463" cy="954088"/>
        </p:xfrm>
        <a:graphic>
          <a:graphicData uri="http://schemas.openxmlformats.org/presentationml/2006/ole">
            <mc:AlternateContent xmlns:mc="http://schemas.openxmlformats.org/markup-compatibility/2006">
              <mc:Choice xmlns:v="urn:schemas-microsoft-com:vml" Requires="v">
                <p:oleObj name="公式" r:id="rId14" imgW="819011" imgH="285750" progId="Equation.3">
                  <p:embed/>
                </p:oleObj>
              </mc:Choice>
              <mc:Fallback>
                <p:oleObj name="公式" r:id="rId14" imgW="819011" imgH="285750"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5650" y="1916832"/>
                        <a:ext cx="2303463"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09" name="Object 29">
            <a:extLst>
              <a:ext uri="{FF2B5EF4-FFF2-40B4-BE49-F238E27FC236}">
                <a16:creationId xmlns:a16="http://schemas.microsoft.com/office/drawing/2014/main" id="{E96957DA-B287-B306-2138-A08B4D77554F}"/>
              </a:ext>
            </a:extLst>
          </p:cNvPr>
          <p:cNvGraphicFramePr>
            <a:graphicFrameLocks noChangeAspect="1"/>
          </p:cNvGraphicFramePr>
          <p:nvPr>
            <p:extLst>
              <p:ext uri="{D42A27DB-BD31-4B8C-83A1-F6EECF244321}">
                <p14:modId xmlns:p14="http://schemas.microsoft.com/office/powerpoint/2010/main" val="3420351763"/>
              </p:ext>
            </p:extLst>
          </p:nvPr>
        </p:nvGraphicFramePr>
        <p:xfrm>
          <a:off x="755650" y="764233"/>
          <a:ext cx="4392613" cy="946150"/>
        </p:xfrm>
        <a:graphic>
          <a:graphicData uri="http://schemas.openxmlformats.org/presentationml/2006/ole">
            <mc:AlternateContent xmlns:mc="http://schemas.openxmlformats.org/markup-compatibility/2006">
              <mc:Choice xmlns:v="urn:schemas-microsoft-com:vml" Requires="v">
                <p:oleObj name="公式" r:id="rId16" imgW="1631946" imgH="285750" progId="Equation.3">
                  <p:embed/>
                </p:oleObj>
              </mc:Choice>
              <mc:Fallback>
                <p:oleObj name="公式" r:id="rId16" imgW="1631946" imgH="285750" progId="Equation.3">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5650" y="764233"/>
                        <a:ext cx="4392613"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3310" name="Group 30">
            <a:extLst>
              <a:ext uri="{FF2B5EF4-FFF2-40B4-BE49-F238E27FC236}">
                <a16:creationId xmlns:a16="http://schemas.microsoft.com/office/drawing/2014/main" id="{8FC50442-0593-0034-57FA-7080A3208D4A}"/>
              </a:ext>
            </a:extLst>
          </p:cNvPr>
          <p:cNvGrpSpPr>
            <a:grpSpLocks/>
          </p:cNvGrpSpPr>
          <p:nvPr/>
        </p:nvGrpSpPr>
        <p:grpSpPr bwMode="auto">
          <a:xfrm>
            <a:off x="2022475" y="2743920"/>
            <a:ext cx="2097088" cy="773112"/>
            <a:chOff x="1383" y="2975"/>
            <a:chExt cx="1321" cy="487"/>
          </a:xfrm>
        </p:grpSpPr>
        <p:sp>
          <p:nvSpPr>
            <p:cNvPr id="79895" name="AutoShape 31">
              <a:extLst>
                <a:ext uri="{FF2B5EF4-FFF2-40B4-BE49-F238E27FC236}">
                  <a16:creationId xmlns:a16="http://schemas.microsoft.com/office/drawing/2014/main" id="{9F2F54C2-8BAE-0352-4C52-0959DA237A32}"/>
                </a:ext>
              </a:extLst>
            </p:cNvPr>
            <p:cNvSpPr>
              <a:spLocks noChangeArrowheads="1"/>
            </p:cNvSpPr>
            <p:nvPr/>
          </p:nvSpPr>
          <p:spPr bwMode="auto">
            <a:xfrm>
              <a:off x="1383" y="3143"/>
              <a:ext cx="318" cy="106"/>
            </a:xfrm>
            <a:prstGeom prst="rightArrow">
              <a:avLst>
                <a:gd name="adj1" fmla="val 50000"/>
                <a:gd name="adj2" fmla="val 75000"/>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896" name="Object 32">
              <a:extLst>
                <a:ext uri="{FF2B5EF4-FFF2-40B4-BE49-F238E27FC236}">
                  <a16:creationId xmlns:a16="http://schemas.microsoft.com/office/drawing/2014/main" id="{8C4F093F-9E2A-7AE3-BD43-D9D086B72FDA}"/>
                </a:ext>
              </a:extLst>
            </p:cNvPr>
            <p:cNvGraphicFramePr>
              <a:graphicFrameLocks noChangeAspect="1"/>
            </p:cNvGraphicFramePr>
            <p:nvPr/>
          </p:nvGraphicFramePr>
          <p:xfrm>
            <a:off x="1848" y="2975"/>
            <a:ext cx="856" cy="487"/>
          </p:xfrm>
          <a:graphic>
            <a:graphicData uri="http://schemas.openxmlformats.org/presentationml/2006/ole">
              <mc:AlternateContent xmlns:mc="http://schemas.openxmlformats.org/markup-compatibility/2006">
                <mc:Choice xmlns:v="urn:schemas-microsoft-com:vml" Requires="v">
                  <p:oleObj name="公式" r:id="rId18" imgW="552488" imgH="273185" progId="Equation.3">
                    <p:embed/>
                  </p:oleObj>
                </mc:Choice>
                <mc:Fallback>
                  <p:oleObj name="公式" r:id="rId18" imgW="552488" imgH="273185" progId="Equation.3">
                    <p:embed/>
                    <p:pic>
                      <p:nvPicPr>
                        <p:cNvPr id="0" name="Object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8" y="2975"/>
                          <a:ext cx="856" cy="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93313" name="Group 33">
            <a:extLst>
              <a:ext uri="{FF2B5EF4-FFF2-40B4-BE49-F238E27FC236}">
                <a16:creationId xmlns:a16="http://schemas.microsoft.com/office/drawing/2014/main" id="{23B47B90-D29F-7021-B23D-AFEE3C5BF70A}"/>
              </a:ext>
            </a:extLst>
          </p:cNvPr>
          <p:cNvGrpSpPr>
            <a:grpSpLocks/>
          </p:cNvGrpSpPr>
          <p:nvPr/>
        </p:nvGrpSpPr>
        <p:grpSpPr bwMode="auto">
          <a:xfrm>
            <a:off x="3535363" y="2140670"/>
            <a:ext cx="1871662" cy="504825"/>
            <a:chOff x="2336" y="2595"/>
            <a:chExt cx="1179" cy="318"/>
          </a:xfrm>
        </p:grpSpPr>
        <p:sp>
          <p:nvSpPr>
            <p:cNvPr id="79893" name="AutoShape 34">
              <a:extLst>
                <a:ext uri="{FF2B5EF4-FFF2-40B4-BE49-F238E27FC236}">
                  <a16:creationId xmlns:a16="http://schemas.microsoft.com/office/drawing/2014/main" id="{3C78390A-B872-37DD-2461-C8938344B0AE}"/>
                </a:ext>
              </a:extLst>
            </p:cNvPr>
            <p:cNvSpPr>
              <a:spLocks noChangeArrowheads="1"/>
            </p:cNvSpPr>
            <p:nvPr/>
          </p:nvSpPr>
          <p:spPr bwMode="auto">
            <a:xfrm>
              <a:off x="2336" y="2703"/>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894" name="Object 35">
              <a:extLst>
                <a:ext uri="{FF2B5EF4-FFF2-40B4-BE49-F238E27FC236}">
                  <a16:creationId xmlns:a16="http://schemas.microsoft.com/office/drawing/2014/main" id="{52AAEA17-EC99-F806-5F22-99B1D917A268}"/>
                </a:ext>
              </a:extLst>
            </p:cNvPr>
            <p:cNvGraphicFramePr>
              <a:graphicFrameLocks noChangeAspect="1"/>
            </p:cNvGraphicFramePr>
            <p:nvPr/>
          </p:nvGraphicFramePr>
          <p:xfrm>
            <a:off x="2755" y="2595"/>
            <a:ext cx="760" cy="318"/>
          </p:xfrm>
          <a:graphic>
            <a:graphicData uri="http://schemas.openxmlformats.org/presentationml/2006/ole">
              <mc:AlternateContent xmlns:mc="http://schemas.openxmlformats.org/markup-compatibility/2006">
                <mc:Choice xmlns:v="urn:schemas-microsoft-com:vml" Requires="v">
                  <p:oleObj name="公式" r:id="rId20" imgW="469858" imgH="158885" progId="Equation.3">
                    <p:embed/>
                  </p:oleObj>
                </mc:Choice>
                <mc:Fallback>
                  <p:oleObj name="公式" r:id="rId20" imgW="469858" imgH="158885" progId="Equation.3">
                    <p:embed/>
                    <p:pic>
                      <p:nvPicPr>
                        <p:cNvPr id="0" name="Object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5" y="2595"/>
                          <a:ext cx="760"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93316" name="Group 36">
            <a:extLst>
              <a:ext uri="{FF2B5EF4-FFF2-40B4-BE49-F238E27FC236}">
                <a16:creationId xmlns:a16="http://schemas.microsoft.com/office/drawing/2014/main" id="{E81FBB7E-E6EE-F2E8-1248-975145A62E13}"/>
              </a:ext>
            </a:extLst>
          </p:cNvPr>
          <p:cNvGrpSpPr>
            <a:grpSpLocks/>
          </p:cNvGrpSpPr>
          <p:nvPr/>
        </p:nvGrpSpPr>
        <p:grpSpPr bwMode="auto">
          <a:xfrm>
            <a:off x="4327525" y="2845520"/>
            <a:ext cx="1793875" cy="476250"/>
            <a:chOff x="2835" y="3039"/>
            <a:chExt cx="1130" cy="300"/>
          </a:xfrm>
        </p:grpSpPr>
        <p:sp>
          <p:nvSpPr>
            <p:cNvPr id="79891" name="AutoShape 37">
              <a:extLst>
                <a:ext uri="{FF2B5EF4-FFF2-40B4-BE49-F238E27FC236}">
                  <a16:creationId xmlns:a16="http://schemas.microsoft.com/office/drawing/2014/main" id="{75585B3D-8299-A656-627A-D367A81E30DD}"/>
                </a:ext>
              </a:extLst>
            </p:cNvPr>
            <p:cNvSpPr>
              <a:spLocks noChangeArrowheads="1"/>
            </p:cNvSpPr>
            <p:nvPr/>
          </p:nvSpPr>
          <p:spPr bwMode="auto">
            <a:xfrm>
              <a:off x="2835" y="3158"/>
              <a:ext cx="318" cy="106"/>
            </a:xfrm>
            <a:prstGeom prst="rightArrow">
              <a:avLst>
                <a:gd name="adj1" fmla="val 50000"/>
                <a:gd name="adj2" fmla="val 75000"/>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79892" name="Object 38">
              <a:extLst>
                <a:ext uri="{FF2B5EF4-FFF2-40B4-BE49-F238E27FC236}">
                  <a16:creationId xmlns:a16="http://schemas.microsoft.com/office/drawing/2014/main" id="{327979FF-3C65-954B-39CB-D810930B0E66}"/>
                </a:ext>
              </a:extLst>
            </p:cNvPr>
            <p:cNvGraphicFramePr>
              <a:graphicFrameLocks noChangeAspect="1"/>
            </p:cNvGraphicFramePr>
            <p:nvPr/>
          </p:nvGraphicFramePr>
          <p:xfrm>
            <a:off x="3152" y="3039"/>
            <a:ext cx="813" cy="300"/>
          </p:xfrm>
          <a:graphic>
            <a:graphicData uri="http://schemas.openxmlformats.org/presentationml/2006/ole">
              <mc:AlternateContent xmlns:mc="http://schemas.openxmlformats.org/markup-compatibility/2006">
                <mc:Choice xmlns:v="urn:schemas-microsoft-com:vml" Requires="v">
                  <p:oleObj name="公式" r:id="rId22" imgW="507932" imgH="139835" progId="Equation.3">
                    <p:embed/>
                  </p:oleObj>
                </mc:Choice>
                <mc:Fallback>
                  <p:oleObj name="公式" r:id="rId22" imgW="507932" imgH="139835" progId="Equation.3">
                    <p:embed/>
                    <p:pic>
                      <p:nvPicPr>
                        <p:cNvPr id="0" name="Object 3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52" y="3039"/>
                          <a:ext cx="813"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9887" name="AutoShape 39">
            <a:hlinkClick r:id="rId24" action="ppaction://hlinksldjump" highlightClick="1"/>
            <a:extLst>
              <a:ext uri="{FF2B5EF4-FFF2-40B4-BE49-F238E27FC236}">
                <a16:creationId xmlns:a16="http://schemas.microsoft.com/office/drawing/2014/main" id="{DA1A17E6-5437-D8DC-1B5C-9751204F42B5}"/>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888" name="AutoShape 40">
            <a:hlinkClick r:id="" action="ppaction://hlinkshowjump?jump=previousslide" highlightClick="1"/>
            <a:extLst>
              <a:ext uri="{FF2B5EF4-FFF2-40B4-BE49-F238E27FC236}">
                <a16:creationId xmlns:a16="http://schemas.microsoft.com/office/drawing/2014/main" id="{C11D2609-69A5-9F2A-CEF9-3DB3FD49AD5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889" name="AutoShape 41">
            <a:hlinkClick r:id="" action="ppaction://hlinkshowjump?jump=nextslide" highlightClick="1"/>
            <a:extLst>
              <a:ext uri="{FF2B5EF4-FFF2-40B4-BE49-F238E27FC236}">
                <a16:creationId xmlns:a16="http://schemas.microsoft.com/office/drawing/2014/main" id="{6EE072D9-FBD2-F0A4-E68C-DDCD350C79A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9890" name="AutoShape 42">
            <a:hlinkClick r:id="" action="ppaction://hlinkshowjump?jump=lastslide" highlightClick="1"/>
            <a:extLst>
              <a:ext uri="{FF2B5EF4-FFF2-40B4-BE49-F238E27FC236}">
                <a16:creationId xmlns:a16="http://schemas.microsoft.com/office/drawing/2014/main" id="{E8C2B0FA-AA4C-F26A-DFB3-274347E281B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pic>
        <p:nvPicPr>
          <p:cNvPr id="6" name="图片 5">
            <a:extLst>
              <a:ext uri="{FF2B5EF4-FFF2-40B4-BE49-F238E27FC236}">
                <a16:creationId xmlns:a16="http://schemas.microsoft.com/office/drawing/2014/main" id="{51B18E03-ECAE-2B66-7567-F8BE7B4C4A18}"/>
              </a:ext>
            </a:extLst>
          </p:cNvPr>
          <p:cNvPicPr>
            <a:picLocks noChangeAspect="1"/>
          </p:cNvPicPr>
          <p:nvPr/>
        </p:nvPicPr>
        <p:blipFill>
          <a:blip r:embed="rId25"/>
          <a:stretch>
            <a:fillRect/>
          </a:stretch>
        </p:blipFill>
        <p:spPr>
          <a:xfrm>
            <a:off x="7937" y="4430341"/>
            <a:ext cx="9144000" cy="249910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287"/>
                                        </p:tgtEl>
                                        <p:attrNameLst>
                                          <p:attrName>style.visibility</p:attrName>
                                        </p:attrNameLst>
                                      </p:cBhvr>
                                      <p:to>
                                        <p:strVal val="visible"/>
                                      </p:to>
                                    </p:set>
                                    <p:animEffect transition="in" filter="wipe(left)">
                                      <p:cBhvr>
                                        <p:cTn id="7" dur="2000"/>
                                        <p:tgtEl>
                                          <p:spTgt spid="993287"/>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993309"/>
                                        </p:tgtEl>
                                        <p:attrNameLst>
                                          <p:attrName>style.visibility</p:attrName>
                                        </p:attrNameLst>
                                      </p:cBhvr>
                                      <p:to>
                                        <p:strVal val="visible"/>
                                      </p:to>
                                    </p:set>
                                    <p:animEffect transition="in" filter="wipe(up)">
                                      <p:cBhvr>
                                        <p:cTn id="11" dur="2000"/>
                                        <p:tgtEl>
                                          <p:spTgt spid="99330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93282"/>
                                        </p:tgtEl>
                                        <p:attrNameLst>
                                          <p:attrName>style.visibility</p:attrName>
                                        </p:attrNameLst>
                                      </p:cBhvr>
                                      <p:to>
                                        <p:strVal val="visible"/>
                                      </p:to>
                                    </p:set>
                                    <p:animEffect transition="in" filter="wipe(left)">
                                      <p:cBhvr>
                                        <p:cTn id="16" dur="2000"/>
                                        <p:tgtEl>
                                          <p:spTgt spid="9932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93308"/>
                                        </p:tgtEl>
                                        <p:attrNameLst>
                                          <p:attrName>style.visibility</p:attrName>
                                        </p:attrNameLst>
                                      </p:cBhvr>
                                      <p:to>
                                        <p:strVal val="visible"/>
                                      </p:to>
                                    </p:set>
                                    <p:animEffect transition="in" filter="wipe(up)">
                                      <p:cBhvr>
                                        <p:cTn id="21" dur="2000"/>
                                        <p:tgtEl>
                                          <p:spTgt spid="9933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93313"/>
                                        </p:tgtEl>
                                        <p:attrNameLst>
                                          <p:attrName>style.visibility</p:attrName>
                                        </p:attrNameLst>
                                      </p:cBhvr>
                                      <p:to>
                                        <p:strVal val="visible"/>
                                      </p:to>
                                    </p:set>
                                    <p:animEffect transition="in" filter="wipe(up)">
                                      <p:cBhvr>
                                        <p:cTn id="26" dur="2000"/>
                                        <p:tgtEl>
                                          <p:spTgt spid="9933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93288"/>
                                        </p:tgtEl>
                                        <p:attrNameLst>
                                          <p:attrName>style.visibility</p:attrName>
                                        </p:attrNameLst>
                                      </p:cBhvr>
                                      <p:to>
                                        <p:strVal val="visible"/>
                                      </p:to>
                                    </p:set>
                                    <p:animEffect transition="in" filter="wipe(up)">
                                      <p:cBhvr>
                                        <p:cTn id="31" dur="2000"/>
                                        <p:tgtEl>
                                          <p:spTgt spid="99328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93310"/>
                                        </p:tgtEl>
                                        <p:attrNameLst>
                                          <p:attrName>style.visibility</p:attrName>
                                        </p:attrNameLst>
                                      </p:cBhvr>
                                      <p:to>
                                        <p:strVal val="visible"/>
                                      </p:to>
                                    </p:set>
                                    <p:animEffect transition="in" filter="wipe(up)">
                                      <p:cBhvr>
                                        <p:cTn id="36" dur="2000"/>
                                        <p:tgtEl>
                                          <p:spTgt spid="9933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993316"/>
                                        </p:tgtEl>
                                        <p:attrNameLst>
                                          <p:attrName>style.visibility</p:attrName>
                                        </p:attrNameLst>
                                      </p:cBhvr>
                                      <p:to>
                                        <p:strVal val="visible"/>
                                      </p:to>
                                    </p:set>
                                    <p:animEffect transition="in" filter="wipe(up)">
                                      <p:cBhvr>
                                        <p:cTn id="41" dur="2000"/>
                                        <p:tgtEl>
                                          <p:spTgt spid="99331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993289"/>
                                        </p:tgtEl>
                                        <p:attrNameLst>
                                          <p:attrName>style.visibility</p:attrName>
                                        </p:attrNameLst>
                                      </p:cBhvr>
                                      <p:to>
                                        <p:strVal val="visible"/>
                                      </p:to>
                                    </p:set>
                                    <p:animEffect transition="in" filter="wipe(up)">
                                      <p:cBhvr>
                                        <p:cTn id="46" dur="2000"/>
                                        <p:tgtEl>
                                          <p:spTgt spid="99328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993293"/>
                                        </p:tgtEl>
                                        <p:attrNameLst>
                                          <p:attrName>style.visibility</p:attrName>
                                        </p:attrNameLst>
                                      </p:cBhvr>
                                      <p:to>
                                        <p:strVal val="visible"/>
                                      </p:to>
                                    </p:set>
                                    <p:animEffect transition="in" filter="wipe(up)">
                                      <p:cBhvr>
                                        <p:cTn id="51" dur="2000"/>
                                        <p:tgtEl>
                                          <p:spTgt spid="99329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993294"/>
                                        </p:tgtEl>
                                        <p:attrNameLst>
                                          <p:attrName>style.visibility</p:attrName>
                                        </p:attrNameLst>
                                      </p:cBhvr>
                                      <p:to>
                                        <p:strVal val="visible"/>
                                      </p:to>
                                    </p:set>
                                    <p:animEffect transition="in" filter="wipe(up)">
                                      <p:cBhvr>
                                        <p:cTn id="56" dur="2000"/>
                                        <p:tgtEl>
                                          <p:spTgt spid="99329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993295"/>
                                        </p:tgtEl>
                                        <p:attrNameLst>
                                          <p:attrName>style.visibility</p:attrName>
                                        </p:attrNameLst>
                                      </p:cBhvr>
                                      <p:to>
                                        <p:strVal val="visible"/>
                                      </p:to>
                                    </p:set>
                                    <p:animEffect transition="in" filter="wipe(up)">
                                      <p:cBhvr>
                                        <p:cTn id="61" dur="2000"/>
                                        <p:tgtEl>
                                          <p:spTgt spid="993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82" grpId="0"/>
      <p:bldP spid="99328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1">
            <a:extLst>
              <a:ext uri="{FF2B5EF4-FFF2-40B4-BE49-F238E27FC236}">
                <a16:creationId xmlns:a16="http://schemas.microsoft.com/office/drawing/2014/main" id="{9F156BBB-D5AF-32E4-D6ED-1C0676A8A7D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53CEC9B-8FFC-457F-8941-F23625ED5631}" type="slidenum">
              <a:rPr lang="en-US" altLang="zh-CN" sz="1400">
                <a:ea typeface="宋体" panose="02010600030101010101" pitchFamily="2" charset="-122"/>
              </a:rPr>
              <a:pPr/>
              <a:t>8</a:t>
            </a:fld>
            <a:endParaRPr lang="en-US" altLang="zh-CN" sz="1400">
              <a:ea typeface="宋体" panose="02010600030101010101" pitchFamily="2" charset="-122"/>
            </a:endParaRPr>
          </a:p>
        </p:txBody>
      </p:sp>
      <p:sp>
        <p:nvSpPr>
          <p:cNvPr id="803842" name="Text Box 2">
            <a:extLst>
              <a:ext uri="{FF2B5EF4-FFF2-40B4-BE49-F238E27FC236}">
                <a16:creationId xmlns:a16="http://schemas.microsoft.com/office/drawing/2014/main" id="{1FBF4644-E85A-691F-4717-3FF8A98B8554}"/>
              </a:ext>
            </a:extLst>
          </p:cNvPr>
          <p:cNvSpPr txBox="1">
            <a:spLocks noChangeArrowheads="1"/>
          </p:cNvSpPr>
          <p:nvPr/>
        </p:nvSpPr>
        <p:spPr bwMode="auto">
          <a:xfrm>
            <a:off x="107950" y="404813"/>
            <a:ext cx="673893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en-US" altLang="zh-CN" b="1">
                <a:solidFill>
                  <a:srgbClr val="FF7C80"/>
                </a:solidFill>
                <a:latin typeface="Times New Roman" panose="02020603050405020304" pitchFamily="18" charset="0"/>
              </a:rPr>
              <a:t>2.  </a:t>
            </a:r>
            <a:r>
              <a:rPr lang="zh-CN" altLang="en-US" b="1">
                <a:solidFill>
                  <a:srgbClr val="FF7C80"/>
                </a:solidFill>
                <a:latin typeface="Times New Roman" panose="02020603050405020304" pitchFamily="18" charset="0"/>
                <a:ea typeface="宋体" panose="02010600030101010101" pitchFamily="2" charset="-122"/>
              </a:rPr>
              <a:t>恒定磁场的标量磁位</a:t>
            </a:r>
          </a:p>
        </p:txBody>
      </p:sp>
      <p:sp>
        <p:nvSpPr>
          <p:cNvPr id="803843" name="Text Box 3">
            <a:extLst>
              <a:ext uri="{FF2B5EF4-FFF2-40B4-BE49-F238E27FC236}">
                <a16:creationId xmlns:a16="http://schemas.microsoft.com/office/drawing/2014/main" id="{16657A70-C1DA-1C8D-4E81-748F5461A9FE}"/>
              </a:ext>
            </a:extLst>
          </p:cNvPr>
          <p:cNvSpPr txBox="1">
            <a:spLocks noChangeArrowheads="1"/>
          </p:cNvSpPr>
          <p:nvPr/>
        </p:nvSpPr>
        <p:spPr bwMode="auto">
          <a:xfrm>
            <a:off x="107950" y="1412875"/>
            <a:ext cx="89646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latin typeface="Times New Roman" panose="02020603050405020304" pitchFamily="18" charset="0"/>
              </a:rPr>
              <a:t>　   </a:t>
            </a:r>
            <a:r>
              <a:rPr kumimoji="1" lang="zh-CN" altLang="en-US" b="1" u="sng">
                <a:solidFill>
                  <a:schemeClr val="bg1"/>
                </a:solidFill>
                <a:latin typeface="Times New Roman" panose="02020603050405020304" pitchFamily="18" charset="0"/>
              </a:rPr>
              <a:t>一般情况下，恒定磁场只能引入磁矢位来描述</a:t>
            </a:r>
            <a:r>
              <a:rPr kumimoji="1" lang="zh-CN" altLang="en-US" b="1">
                <a:solidFill>
                  <a:schemeClr val="bg1"/>
                </a:solidFill>
                <a:latin typeface="Times New Roman" panose="02020603050405020304" pitchFamily="18" charset="0"/>
              </a:rPr>
              <a:t>，但</a:t>
            </a:r>
            <a:r>
              <a:rPr kumimoji="1" lang="zh-CN" altLang="en-US" b="1">
                <a:solidFill>
                  <a:srgbClr val="FF9933"/>
                </a:solidFill>
                <a:latin typeface="Times New Roman" panose="02020603050405020304" pitchFamily="18" charset="0"/>
              </a:rPr>
              <a:t>在无传导电流（</a:t>
            </a:r>
            <a:r>
              <a:rPr kumimoji="1" lang="en-US" altLang="zh-CN" i="1">
                <a:solidFill>
                  <a:srgbClr val="FF9933"/>
                </a:solidFill>
                <a:latin typeface="Times New Roman" panose="02020603050405020304" pitchFamily="18" charset="0"/>
              </a:rPr>
              <a:t>J</a:t>
            </a:r>
            <a:r>
              <a:rPr kumimoji="1" lang="zh-CN" altLang="en-US" b="1">
                <a:solidFill>
                  <a:srgbClr val="FF9933"/>
                </a:solidFill>
                <a:latin typeface="Times New Roman" panose="02020603050405020304" pitchFamily="18" charset="0"/>
              </a:rPr>
              <a:t>＝</a:t>
            </a:r>
            <a:r>
              <a:rPr kumimoji="1" lang="en-US" altLang="zh-CN" b="1">
                <a:solidFill>
                  <a:srgbClr val="FF9933"/>
                </a:solidFill>
                <a:latin typeface="Times New Roman" panose="02020603050405020304" pitchFamily="18" charset="0"/>
              </a:rPr>
              <a:t>0</a:t>
            </a:r>
            <a:r>
              <a:rPr kumimoji="1" lang="zh-CN" altLang="en-US" b="1">
                <a:solidFill>
                  <a:srgbClr val="FF9933"/>
                </a:solidFill>
                <a:latin typeface="Times New Roman" panose="02020603050405020304" pitchFamily="18" charset="0"/>
              </a:rPr>
              <a:t>）的空间 中</a:t>
            </a:r>
            <a:r>
              <a:rPr kumimoji="1" lang="zh-CN" altLang="en-US" b="1">
                <a:solidFill>
                  <a:schemeClr val="bg1"/>
                </a:solidFill>
                <a:latin typeface="Times New Roman" panose="02020603050405020304" pitchFamily="18" charset="0"/>
              </a:rPr>
              <a:t>，则有</a:t>
            </a:r>
          </a:p>
        </p:txBody>
      </p:sp>
      <p:sp>
        <p:nvSpPr>
          <p:cNvPr id="803844" name="Text Box 4">
            <a:extLst>
              <a:ext uri="{FF2B5EF4-FFF2-40B4-BE49-F238E27FC236}">
                <a16:creationId xmlns:a16="http://schemas.microsoft.com/office/drawing/2014/main" id="{D56F0751-7D61-936E-FA36-7A3F173FBDFE}"/>
              </a:ext>
            </a:extLst>
          </p:cNvPr>
          <p:cNvSpPr txBox="1">
            <a:spLocks noChangeArrowheads="1"/>
          </p:cNvSpPr>
          <p:nvPr/>
        </p:nvSpPr>
        <p:spPr bwMode="auto">
          <a:xfrm>
            <a:off x="107950" y="3179763"/>
            <a:ext cx="88249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rPr>
              <a:t>即在无传导电流</a:t>
            </a:r>
            <a:r>
              <a:rPr kumimoji="1" lang="zh-CN" altLang="en-US" b="1">
                <a:solidFill>
                  <a:schemeClr val="bg1"/>
                </a:solidFill>
                <a:latin typeface="Times New Roman" panose="02020603050405020304" pitchFamily="18" charset="0"/>
              </a:rPr>
              <a:t>（</a:t>
            </a:r>
            <a:r>
              <a:rPr kumimoji="1" lang="en-US" altLang="zh-CN" b="1" i="1">
                <a:solidFill>
                  <a:schemeClr val="bg1"/>
                </a:solidFill>
                <a:latin typeface="Times New Roman" panose="02020603050405020304" pitchFamily="18" charset="0"/>
              </a:rPr>
              <a:t>J</a:t>
            </a:r>
            <a:r>
              <a:rPr kumimoji="1" lang="zh-CN" altLang="en-US" b="1">
                <a:solidFill>
                  <a:schemeClr val="bg1"/>
                </a:solidFill>
                <a:latin typeface="Times New Roman" panose="02020603050405020304" pitchFamily="18" charset="0"/>
              </a:rPr>
              <a:t>＝</a:t>
            </a:r>
            <a:r>
              <a:rPr kumimoji="1" lang="en-US" altLang="zh-CN" b="1">
                <a:solidFill>
                  <a:schemeClr val="bg1"/>
                </a:solidFill>
                <a:latin typeface="Times New Roman" panose="02020603050405020304" pitchFamily="18" charset="0"/>
              </a:rPr>
              <a:t>0</a:t>
            </a:r>
            <a:r>
              <a:rPr kumimoji="1" lang="zh-CN" altLang="en-US" b="1">
                <a:solidFill>
                  <a:schemeClr val="bg1"/>
                </a:solidFill>
                <a:latin typeface="Times New Roman" panose="02020603050405020304" pitchFamily="18" charset="0"/>
              </a:rPr>
              <a:t>）</a:t>
            </a:r>
            <a:r>
              <a:rPr kumimoji="1" lang="zh-CN" altLang="en-US" b="1">
                <a:solidFill>
                  <a:schemeClr val="bg1"/>
                </a:solidFill>
              </a:rPr>
              <a:t>的空间中，可以引入一个</a:t>
            </a:r>
            <a:r>
              <a:rPr kumimoji="1" lang="zh-CN" altLang="en-US" b="1">
                <a:solidFill>
                  <a:schemeClr val="bg1"/>
                </a:solidFill>
                <a:latin typeface="Times New Roman" panose="02020603050405020304" pitchFamily="18" charset="0"/>
              </a:rPr>
              <a:t>标量位函数来描述磁场。</a:t>
            </a:r>
          </a:p>
        </p:txBody>
      </p:sp>
      <p:sp>
        <p:nvSpPr>
          <p:cNvPr id="803845" name="Text Box 5">
            <a:extLst>
              <a:ext uri="{FF2B5EF4-FFF2-40B4-BE49-F238E27FC236}">
                <a16:creationId xmlns:a16="http://schemas.microsoft.com/office/drawing/2014/main" id="{15B3C381-6D81-3AF1-859A-7994840EECFB}"/>
              </a:ext>
            </a:extLst>
          </p:cNvPr>
          <p:cNvSpPr txBox="1">
            <a:spLocks noChangeArrowheads="1"/>
          </p:cNvSpPr>
          <p:nvPr/>
        </p:nvSpPr>
        <p:spPr bwMode="auto">
          <a:xfrm>
            <a:off x="127000" y="908050"/>
            <a:ext cx="87661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en-US" altLang="zh-CN" b="1">
                <a:solidFill>
                  <a:schemeClr val="bg1"/>
                </a:solidFill>
              </a:rPr>
              <a:t>  </a:t>
            </a:r>
            <a:r>
              <a:rPr kumimoji="1" lang="zh-CN" altLang="en-US" b="1">
                <a:solidFill>
                  <a:schemeClr val="bg1"/>
                </a:solidFill>
                <a:ea typeface="宋体" panose="02010600030101010101" pitchFamily="2" charset="-122"/>
              </a:rPr>
              <a:t>标量磁位的引入</a:t>
            </a:r>
            <a:endParaRPr kumimoji="1" lang="zh-CN" altLang="en-US" b="1">
              <a:solidFill>
                <a:schemeClr val="bg1"/>
              </a:solidFill>
              <a:latin typeface="楷体_GB2312" pitchFamily="49" charset="-122"/>
              <a:ea typeface="宋体" panose="02010600030101010101" pitchFamily="2" charset="-122"/>
            </a:endParaRPr>
          </a:p>
        </p:txBody>
      </p:sp>
      <p:graphicFrame>
        <p:nvGraphicFramePr>
          <p:cNvPr id="803846" name="Object 6">
            <a:extLst>
              <a:ext uri="{FF2B5EF4-FFF2-40B4-BE49-F238E27FC236}">
                <a16:creationId xmlns:a16="http://schemas.microsoft.com/office/drawing/2014/main" id="{34FE1038-8902-D259-04B1-BF51075F6B56}"/>
              </a:ext>
            </a:extLst>
          </p:cNvPr>
          <p:cNvGraphicFramePr>
            <a:graphicFrameLocks noChangeAspect="1"/>
          </p:cNvGraphicFramePr>
          <p:nvPr/>
        </p:nvGraphicFramePr>
        <p:xfrm>
          <a:off x="1962150" y="2565400"/>
          <a:ext cx="1273175" cy="431800"/>
        </p:xfrm>
        <a:graphic>
          <a:graphicData uri="http://schemas.openxmlformats.org/presentationml/2006/ole">
            <mc:AlternateContent xmlns:mc="http://schemas.openxmlformats.org/markup-compatibility/2006">
              <mc:Choice xmlns:v="urn:schemas-microsoft-com:vml" Requires="v">
                <p:oleObj name="Equation" r:id="rId4" imgW="558969" imgH="139835" progId="Equation.DSMT4">
                  <p:embed/>
                </p:oleObj>
              </mc:Choice>
              <mc:Fallback>
                <p:oleObj name="Equation" r:id="rId4" imgW="558969" imgH="139835"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2150" y="2565400"/>
                        <a:ext cx="1273175" cy="4318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03866" name="Group 26">
            <a:extLst>
              <a:ext uri="{FF2B5EF4-FFF2-40B4-BE49-F238E27FC236}">
                <a16:creationId xmlns:a16="http://schemas.microsoft.com/office/drawing/2014/main" id="{FCCE02FB-AA3D-3969-BA5E-505557C29719}"/>
              </a:ext>
            </a:extLst>
          </p:cNvPr>
          <p:cNvGrpSpPr>
            <a:grpSpLocks/>
          </p:cNvGrpSpPr>
          <p:nvPr/>
        </p:nvGrpSpPr>
        <p:grpSpPr bwMode="auto">
          <a:xfrm>
            <a:off x="3330575" y="2563813"/>
            <a:ext cx="2105025" cy="504825"/>
            <a:chOff x="2098" y="1615"/>
            <a:chExt cx="1326" cy="318"/>
          </a:xfrm>
        </p:grpSpPr>
        <p:graphicFrame>
          <p:nvGraphicFramePr>
            <p:cNvPr id="81944" name="Object 7">
              <a:extLst>
                <a:ext uri="{FF2B5EF4-FFF2-40B4-BE49-F238E27FC236}">
                  <a16:creationId xmlns:a16="http://schemas.microsoft.com/office/drawing/2014/main" id="{21092F9F-926E-9066-BB63-458B13D6E795}"/>
                </a:ext>
              </a:extLst>
            </p:cNvPr>
            <p:cNvGraphicFramePr>
              <a:graphicFrameLocks noChangeAspect="1"/>
            </p:cNvGraphicFramePr>
            <p:nvPr/>
          </p:nvGraphicFramePr>
          <p:xfrm>
            <a:off x="2551" y="1615"/>
            <a:ext cx="873" cy="318"/>
          </p:xfrm>
          <a:graphic>
            <a:graphicData uri="http://schemas.openxmlformats.org/presentationml/2006/ole">
              <mc:AlternateContent xmlns:mc="http://schemas.openxmlformats.org/markup-compatibility/2006">
                <mc:Choice xmlns:v="urn:schemas-microsoft-com:vml" Requires="v">
                  <p:oleObj name="Equation" r:id="rId6" imgW="628637" imgH="177935" progId="Equation.DSMT4">
                    <p:embed/>
                  </p:oleObj>
                </mc:Choice>
                <mc:Fallback>
                  <p:oleObj name="Equation" r:id="rId6" imgW="628637" imgH="177935"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1" y="1615"/>
                          <a:ext cx="873" cy="318"/>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45" name="AutoShape 8">
              <a:extLst>
                <a:ext uri="{FF2B5EF4-FFF2-40B4-BE49-F238E27FC236}">
                  <a16:creationId xmlns:a16="http://schemas.microsoft.com/office/drawing/2014/main" id="{648582D2-C46E-2C54-50B7-048F870C0F8F}"/>
                </a:ext>
              </a:extLst>
            </p:cNvPr>
            <p:cNvSpPr>
              <a:spLocks noChangeArrowheads="1"/>
            </p:cNvSpPr>
            <p:nvPr/>
          </p:nvSpPr>
          <p:spPr bwMode="auto">
            <a:xfrm>
              <a:off x="2098" y="1704"/>
              <a:ext cx="408" cy="137"/>
            </a:xfrm>
            <a:prstGeom prst="rightArrow">
              <a:avLst>
                <a:gd name="adj1" fmla="val 50000"/>
                <a:gd name="adj2" fmla="val 74453"/>
              </a:avLst>
            </a:prstGeom>
            <a:solidFill>
              <a:srgbClr val="FFCC99"/>
            </a:solidFill>
            <a:ln w="222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803865" name="Group 25">
            <a:extLst>
              <a:ext uri="{FF2B5EF4-FFF2-40B4-BE49-F238E27FC236}">
                <a16:creationId xmlns:a16="http://schemas.microsoft.com/office/drawing/2014/main" id="{185D4763-9CD0-476D-28E3-2316B7FEE668}"/>
              </a:ext>
            </a:extLst>
          </p:cNvPr>
          <p:cNvGrpSpPr>
            <a:grpSpLocks/>
          </p:cNvGrpSpPr>
          <p:nvPr/>
        </p:nvGrpSpPr>
        <p:grpSpPr bwMode="auto">
          <a:xfrm>
            <a:off x="5292725" y="2133600"/>
            <a:ext cx="3600450" cy="647700"/>
            <a:chOff x="3334" y="1344"/>
            <a:chExt cx="2268" cy="408"/>
          </a:xfrm>
        </p:grpSpPr>
        <p:sp>
          <p:nvSpPr>
            <p:cNvPr id="81942" name="Text Box 9">
              <a:extLst>
                <a:ext uri="{FF2B5EF4-FFF2-40B4-BE49-F238E27FC236}">
                  <a16:creationId xmlns:a16="http://schemas.microsoft.com/office/drawing/2014/main" id="{297CFAE4-DA1C-E772-78F8-5E77225FFB8E}"/>
                </a:ext>
              </a:extLst>
            </p:cNvPr>
            <p:cNvSpPr txBox="1">
              <a:spLocks noChangeArrowheads="1"/>
            </p:cNvSpPr>
            <p:nvPr/>
          </p:nvSpPr>
          <p:spPr bwMode="auto">
            <a:xfrm>
              <a:off x="3719" y="1344"/>
              <a:ext cx="1883" cy="283"/>
            </a:xfrm>
            <a:prstGeom prst="rect">
              <a:avLst/>
            </a:prstGeom>
            <a:noFill/>
            <a:ln w="28575">
              <a:solidFill>
                <a:srgbClr val="FF66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90000"/>
                </a:lnSpc>
              </a:pPr>
              <a:r>
                <a:rPr kumimoji="1" lang="zh-CN" altLang="en-US" b="1">
                  <a:solidFill>
                    <a:schemeClr val="bg1"/>
                  </a:solidFill>
                </a:rPr>
                <a:t>标量磁位或磁标位</a:t>
              </a:r>
              <a:endParaRPr lang="zh-CN" altLang="en-US" b="1">
                <a:solidFill>
                  <a:schemeClr val="bg1"/>
                </a:solidFill>
                <a:latin typeface="Times New Roman" panose="02020603050405020304" pitchFamily="18" charset="0"/>
              </a:endParaRPr>
            </a:p>
          </p:txBody>
        </p:sp>
        <p:sp>
          <p:nvSpPr>
            <p:cNvPr id="81943" name="Line 10">
              <a:extLst>
                <a:ext uri="{FF2B5EF4-FFF2-40B4-BE49-F238E27FC236}">
                  <a16:creationId xmlns:a16="http://schemas.microsoft.com/office/drawing/2014/main" id="{B9F9BDBC-498A-AD83-1DC7-1C4C7717CCF2}"/>
                </a:ext>
              </a:extLst>
            </p:cNvPr>
            <p:cNvSpPr>
              <a:spLocks noChangeShapeType="1"/>
            </p:cNvSpPr>
            <p:nvPr/>
          </p:nvSpPr>
          <p:spPr bwMode="auto">
            <a:xfrm flipH="1">
              <a:off x="3334" y="1486"/>
              <a:ext cx="385" cy="266"/>
            </a:xfrm>
            <a:prstGeom prst="line">
              <a:avLst/>
            </a:prstGeom>
            <a:noFill/>
            <a:ln w="28575">
              <a:solidFill>
                <a:srgbClr val="FFCC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03851" name="Text Box 11">
            <a:extLst>
              <a:ext uri="{FF2B5EF4-FFF2-40B4-BE49-F238E27FC236}">
                <a16:creationId xmlns:a16="http://schemas.microsoft.com/office/drawing/2014/main" id="{F2014B00-24CC-21BA-E611-439909DCE44F}"/>
              </a:ext>
            </a:extLst>
          </p:cNvPr>
          <p:cNvSpPr txBox="1">
            <a:spLocks noChangeArrowheads="1"/>
          </p:cNvSpPr>
          <p:nvPr/>
        </p:nvSpPr>
        <p:spPr bwMode="auto">
          <a:xfrm>
            <a:off x="34925" y="4230688"/>
            <a:ext cx="46085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en-US" altLang="zh-CN" b="1">
                <a:solidFill>
                  <a:schemeClr val="bg1"/>
                </a:solidFill>
              </a:rPr>
              <a:t>  </a:t>
            </a:r>
            <a:r>
              <a:rPr kumimoji="1" lang="zh-CN" altLang="en-US" b="1">
                <a:solidFill>
                  <a:schemeClr val="bg1"/>
                </a:solidFill>
                <a:ea typeface="宋体" panose="02010600030101010101" pitchFamily="2" charset="-122"/>
              </a:rPr>
              <a:t>磁标位的边界条件</a:t>
            </a:r>
          </a:p>
        </p:txBody>
      </p:sp>
      <p:sp>
        <p:nvSpPr>
          <p:cNvPr id="81931" name="AutoShape 33">
            <a:hlinkClick r:id="rId8" action="ppaction://hlinksldjump" highlightClick="1"/>
            <a:extLst>
              <a:ext uri="{FF2B5EF4-FFF2-40B4-BE49-F238E27FC236}">
                <a16:creationId xmlns:a16="http://schemas.microsoft.com/office/drawing/2014/main" id="{DCB6995B-4A5F-0CDA-E7AB-1F9E9CFF3A0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1932" name="AutoShape 34">
            <a:hlinkClick r:id="" action="ppaction://hlinkshowjump?jump=previousslide" highlightClick="1"/>
            <a:extLst>
              <a:ext uri="{FF2B5EF4-FFF2-40B4-BE49-F238E27FC236}">
                <a16:creationId xmlns:a16="http://schemas.microsoft.com/office/drawing/2014/main" id="{4D47EF66-864D-7921-E0FC-748F80B3B15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1933" name="AutoShape 35">
            <a:hlinkClick r:id="" action="ppaction://hlinkshowjump?jump=nextslide" highlightClick="1"/>
            <a:extLst>
              <a:ext uri="{FF2B5EF4-FFF2-40B4-BE49-F238E27FC236}">
                <a16:creationId xmlns:a16="http://schemas.microsoft.com/office/drawing/2014/main" id="{0A48DFAA-7B82-A583-15D2-A27E8877A75F}"/>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1934" name="AutoShape 36">
            <a:hlinkClick r:id="" action="ppaction://hlinkshowjump?jump=lastslide" highlightClick="1"/>
            <a:extLst>
              <a:ext uri="{FF2B5EF4-FFF2-40B4-BE49-F238E27FC236}">
                <a16:creationId xmlns:a16="http://schemas.microsoft.com/office/drawing/2014/main" id="{07A5B486-4E0D-B8AF-B495-5211B0C58F7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nvGrpSpPr>
          <p:cNvPr id="803877" name="Group 37">
            <a:extLst>
              <a:ext uri="{FF2B5EF4-FFF2-40B4-BE49-F238E27FC236}">
                <a16:creationId xmlns:a16="http://schemas.microsoft.com/office/drawing/2014/main" id="{EB4FAAB1-D069-570C-B12B-A0C10D9ED8F7}"/>
              </a:ext>
            </a:extLst>
          </p:cNvPr>
          <p:cNvGrpSpPr>
            <a:grpSpLocks/>
          </p:cNvGrpSpPr>
          <p:nvPr/>
        </p:nvGrpSpPr>
        <p:grpSpPr bwMode="auto">
          <a:xfrm>
            <a:off x="827088" y="5538788"/>
            <a:ext cx="5040312" cy="842962"/>
            <a:chOff x="984" y="2568"/>
            <a:chExt cx="3175" cy="531"/>
          </a:xfrm>
        </p:grpSpPr>
        <p:graphicFrame>
          <p:nvGraphicFramePr>
            <p:cNvPr id="81939" name="Object 38">
              <a:extLst>
                <a:ext uri="{FF2B5EF4-FFF2-40B4-BE49-F238E27FC236}">
                  <a16:creationId xmlns:a16="http://schemas.microsoft.com/office/drawing/2014/main" id="{C45B969E-3021-F5E9-62F6-9A608FA9B3B3}"/>
                </a:ext>
              </a:extLst>
            </p:cNvPr>
            <p:cNvGraphicFramePr>
              <a:graphicFrameLocks noChangeAspect="1"/>
            </p:cNvGraphicFramePr>
            <p:nvPr/>
          </p:nvGraphicFramePr>
          <p:xfrm>
            <a:off x="2562" y="2568"/>
            <a:ext cx="1597" cy="531"/>
          </p:xfrm>
          <a:graphic>
            <a:graphicData uri="http://schemas.openxmlformats.org/presentationml/2006/ole">
              <mc:AlternateContent xmlns:mc="http://schemas.openxmlformats.org/markup-compatibility/2006">
                <mc:Choice xmlns:v="urn:schemas-microsoft-com:vml" Requires="v">
                  <p:oleObj name="Equation" r:id="rId9" imgW="1092014" imgH="323850" progId="Equation.DSMT4">
                    <p:embed/>
                  </p:oleObj>
                </mc:Choice>
                <mc:Fallback>
                  <p:oleObj name="Equation" r:id="rId9" imgW="1092014" imgH="323850" progId="Equation.DSMT4">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2" y="2568"/>
                          <a:ext cx="1597" cy="531"/>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40" name="Text Box 39">
              <a:extLst>
                <a:ext uri="{FF2B5EF4-FFF2-40B4-BE49-F238E27FC236}">
                  <a16:creationId xmlns:a16="http://schemas.microsoft.com/office/drawing/2014/main" id="{2CE4F9DF-A591-FF2D-7419-50D5614BB6EC}"/>
                </a:ext>
              </a:extLst>
            </p:cNvPr>
            <p:cNvSpPr txBox="1">
              <a:spLocks noChangeArrowheads="1"/>
            </p:cNvSpPr>
            <p:nvPr/>
          </p:nvSpPr>
          <p:spPr bwMode="auto">
            <a:xfrm>
              <a:off x="2085" y="2665"/>
              <a:ext cx="61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楷体_GB2312" pitchFamily="49" charset="-122"/>
                </a:rPr>
                <a:t>和</a:t>
              </a:r>
            </a:p>
          </p:txBody>
        </p:sp>
        <p:graphicFrame>
          <p:nvGraphicFramePr>
            <p:cNvPr id="81941" name="Object 40">
              <a:extLst>
                <a:ext uri="{FF2B5EF4-FFF2-40B4-BE49-F238E27FC236}">
                  <a16:creationId xmlns:a16="http://schemas.microsoft.com/office/drawing/2014/main" id="{222629D7-F425-C06D-B5EB-B49F3785A3F9}"/>
                </a:ext>
              </a:extLst>
            </p:cNvPr>
            <p:cNvGraphicFramePr>
              <a:graphicFrameLocks noChangeAspect="1"/>
            </p:cNvGraphicFramePr>
            <p:nvPr/>
          </p:nvGraphicFramePr>
          <p:xfrm>
            <a:off x="984" y="2640"/>
            <a:ext cx="1000" cy="336"/>
          </p:xfrm>
          <a:graphic>
            <a:graphicData uri="http://schemas.openxmlformats.org/presentationml/2006/ole">
              <mc:AlternateContent xmlns:mc="http://schemas.openxmlformats.org/markup-compatibility/2006">
                <mc:Choice xmlns:v="urn:schemas-microsoft-com:vml" Requires="v">
                  <p:oleObj name="Equation" r:id="rId11" imgW="539931" imgH="158885" progId="Equation.DSMT4">
                    <p:embed/>
                  </p:oleObj>
                </mc:Choice>
                <mc:Fallback>
                  <p:oleObj name="Equation" r:id="rId11" imgW="539931" imgH="158885" progId="Equation.DSMT4">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4" y="2640"/>
                          <a:ext cx="1000" cy="336"/>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03881" name="Text Box 41">
            <a:extLst>
              <a:ext uri="{FF2B5EF4-FFF2-40B4-BE49-F238E27FC236}">
                <a16:creationId xmlns:a16="http://schemas.microsoft.com/office/drawing/2014/main" id="{05A00EBA-EC17-216F-198D-C1D3EF7689A2}"/>
              </a:ext>
            </a:extLst>
          </p:cNvPr>
          <p:cNvSpPr txBox="1">
            <a:spLocks noChangeArrowheads="1"/>
          </p:cNvSpPr>
          <p:nvPr/>
        </p:nvSpPr>
        <p:spPr bwMode="auto">
          <a:xfrm>
            <a:off x="539750" y="4797425"/>
            <a:ext cx="882491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rPr>
              <a:t>在没有自由电流的两种媒质的分界面上</a:t>
            </a:r>
            <a:endParaRPr kumimoji="1" lang="zh-CN" altLang="en-US" b="1">
              <a:solidFill>
                <a:schemeClr val="bg1"/>
              </a:solidFill>
              <a:latin typeface="Times New Roman" panose="02020603050405020304" pitchFamily="18" charset="0"/>
            </a:endParaRPr>
          </a:p>
        </p:txBody>
      </p:sp>
      <p:graphicFrame>
        <p:nvGraphicFramePr>
          <p:cNvPr id="803882" name="Object 42">
            <a:extLst>
              <a:ext uri="{FF2B5EF4-FFF2-40B4-BE49-F238E27FC236}">
                <a16:creationId xmlns:a16="http://schemas.microsoft.com/office/drawing/2014/main" id="{351AF5C0-CF84-37A5-CFC5-7722BD5C3041}"/>
              </a:ext>
            </a:extLst>
          </p:cNvPr>
          <p:cNvGraphicFramePr>
            <a:graphicFrameLocks noChangeAspect="1"/>
          </p:cNvGraphicFramePr>
          <p:nvPr/>
        </p:nvGraphicFramePr>
        <p:xfrm>
          <a:off x="5940425" y="4652963"/>
          <a:ext cx="2516188" cy="1143000"/>
        </p:xfrm>
        <a:graphic>
          <a:graphicData uri="http://schemas.openxmlformats.org/presentationml/2006/ole">
            <mc:AlternateContent xmlns:mc="http://schemas.openxmlformats.org/markup-compatibility/2006">
              <mc:Choice xmlns:v="urn:schemas-microsoft-com:vml" Requires="v">
                <p:oleObj name="公式" r:id="rId13" imgW="1047864" imgH="431665" progId="Equation.3">
                  <p:embed/>
                </p:oleObj>
              </mc:Choice>
              <mc:Fallback>
                <p:oleObj name="公式" r:id="rId13" imgW="1047864" imgH="431665" progId="Equation.3">
                  <p:embed/>
                  <p:pic>
                    <p:nvPicPr>
                      <p:cNvPr id="0"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0425" y="4652963"/>
                        <a:ext cx="251618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3883" name="AutoShape 43">
            <a:extLst>
              <a:ext uri="{FF2B5EF4-FFF2-40B4-BE49-F238E27FC236}">
                <a16:creationId xmlns:a16="http://schemas.microsoft.com/office/drawing/2014/main" id="{497D2EE2-18A1-F995-873A-3333DE44F45C}"/>
              </a:ext>
            </a:extLst>
          </p:cNvPr>
          <p:cNvSpPr>
            <a:spLocks noChangeArrowheads="1"/>
          </p:cNvSpPr>
          <p:nvPr/>
        </p:nvSpPr>
        <p:spPr bwMode="auto">
          <a:xfrm>
            <a:off x="179388" y="5876925"/>
            <a:ext cx="539750" cy="215900"/>
          </a:xfrm>
          <a:prstGeom prst="rightArrow">
            <a:avLst>
              <a:gd name="adj1" fmla="val 50000"/>
              <a:gd name="adj2" fmla="val 62500"/>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03842"/>
                                        </p:tgtEl>
                                        <p:attrNameLst>
                                          <p:attrName>style.visibility</p:attrName>
                                        </p:attrNameLst>
                                      </p:cBhvr>
                                      <p:to>
                                        <p:strVal val="visible"/>
                                      </p:to>
                                    </p:set>
                                    <p:animEffect transition="in" filter="wipe(up)">
                                      <p:cBhvr>
                                        <p:cTn id="7" dur="2000"/>
                                        <p:tgtEl>
                                          <p:spTgt spid="803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03845"/>
                                        </p:tgtEl>
                                        <p:attrNameLst>
                                          <p:attrName>style.visibility</p:attrName>
                                        </p:attrNameLst>
                                      </p:cBhvr>
                                      <p:to>
                                        <p:strVal val="visible"/>
                                      </p:to>
                                    </p:set>
                                    <p:animEffect transition="in" filter="wipe(up)">
                                      <p:cBhvr>
                                        <p:cTn id="12" dur="2000"/>
                                        <p:tgtEl>
                                          <p:spTgt spid="8038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03843"/>
                                        </p:tgtEl>
                                        <p:attrNameLst>
                                          <p:attrName>style.visibility</p:attrName>
                                        </p:attrNameLst>
                                      </p:cBhvr>
                                      <p:to>
                                        <p:strVal val="visible"/>
                                      </p:to>
                                    </p:set>
                                    <p:animEffect transition="in" filter="wipe(up)">
                                      <p:cBhvr>
                                        <p:cTn id="17" dur="2000"/>
                                        <p:tgtEl>
                                          <p:spTgt spid="8038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03846"/>
                                        </p:tgtEl>
                                        <p:attrNameLst>
                                          <p:attrName>style.visibility</p:attrName>
                                        </p:attrNameLst>
                                      </p:cBhvr>
                                      <p:to>
                                        <p:strVal val="visible"/>
                                      </p:to>
                                    </p:set>
                                    <p:animEffect transition="in" filter="wipe(up)">
                                      <p:cBhvr>
                                        <p:cTn id="22" dur="2000"/>
                                        <p:tgtEl>
                                          <p:spTgt spid="803846"/>
                                        </p:tgtEl>
                                      </p:cBhvr>
                                    </p:animEffect>
                                  </p:childTnLst>
                                </p:cTn>
                              </p:par>
                            </p:childTnLst>
                          </p:cTn>
                        </p:par>
                        <p:par>
                          <p:cTn id="23" fill="hold" nodeType="afterGroup">
                            <p:stCondLst>
                              <p:cond delay="2000"/>
                            </p:stCondLst>
                            <p:childTnLst>
                              <p:par>
                                <p:cTn id="24" presetID="22" presetClass="entr" presetSubtype="1" fill="hold" nodeType="afterEffect">
                                  <p:stCondLst>
                                    <p:cond delay="0"/>
                                  </p:stCondLst>
                                  <p:childTnLst>
                                    <p:set>
                                      <p:cBhvr>
                                        <p:cTn id="25" dur="1" fill="hold">
                                          <p:stCondLst>
                                            <p:cond delay="0"/>
                                          </p:stCondLst>
                                        </p:cTn>
                                        <p:tgtEl>
                                          <p:spTgt spid="803866"/>
                                        </p:tgtEl>
                                        <p:attrNameLst>
                                          <p:attrName>style.visibility</p:attrName>
                                        </p:attrNameLst>
                                      </p:cBhvr>
                                      <p:to>
                                        <p:strVal val="visible"/>
                                      </p:to>
                                    </p:set>
                                    <p:animEffect transition="in" filter="wipe(up)">
                                      <p:cBhvr>
                                        <p:cTn id="26" dur="3000"/>
                                        <p:tgtEl>
                                          <p:spTgt spid="803866"/>
                                        </p:tgtEl>
                                      </p:cBhvr>
                                    </p:animEffect>
                                  </p:childTnLst>
                                </p:cTn>
                              </p:par>
                            </p:childTnLst>
                          </p:cTn>
                        </p:par>
                        <p:par>
                          <p:cTn id="27" fill="hold" nodeType="afterGroup">
                            <p:stCondLst>
                              <p:cond delay="5000"/>
                            </p:stCondLst>
                            <p:childTnLst>
                              <p:par>
                                <p:cTn id="28" presetID="10" presetClass="entr" presetSubtype="0" fill="hold" nodeType="afterEffect">
                                  <p:stCondLst>
                                    <p:cond delay="0"/>
                                  </p:stCondLst>
                                  <p:childTnLst>
                                    <p:set>
                                      <p:cBhvr>
                                        <p:cTn id="29" dur="1" fill="hold">
                                          <p:stCondLst>
                                            <p:cond delay="0"/>
                                          </p:stCondLst>
                                        </p:cTn>
                                        <p:tgtEl>
                                          <p:spTgt spid="803865"/>
                                        </p:tgtEl>
                                        <p:attrNameLst>
                                          <p:attrName>style.visibility</p:attrName>
                                        </p:attrNameLst>
                                      </p:cBhvr>
                                      <p:to>
                                        <p:strVal val="visible"/>
                                      </p:to>
                                    </p:set>
                                    <p:animEffect transition="in" filter="fade">
                                      <p:cBhvr>
                                        <p:cTn id="30" dur="2000"/>
                                        <p:tgtEl>
                                          <p:spTgt spid="80386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803844"/>
                                        </p:tgtEl>
                                        <p:attrNameLst>
                                          <p:attrName>style.visibility</p:attrName>
                                        </p:attrNameLst>
                                      </p:cBhvr>
                                      <p:to>
                                        <p:strVal val="visible"/>
                                      </p:to>
                                    </p:set>
                                    <p:animEffect transition="in" filter="wipe(up)">
                                      <p:cBhvr>
                                        <p:cTn id="35" dur="2000"/>
                                        <p:tgtEl>
                                          <p:spTgt spid="80384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803851"/>
                                        </p:tgtEl>
                                        <p:attrNameLst>
                                          <p:attrName>style.visibility</p:attrName>
                                        </p:attrNameLst>
                                      </p:cBhvr>
                                      <p:to>
                                        <p:strVal val="visible"/>
                                      </p:to>
                                    </p:set>
                                    <p:animEffect transition="in" filter="wipe(up)">
                                      <p:cBhvr>
                                        <p:cTn id="40" dur="2000"/>
                                        <p:tgtEl>
                                          <p:spTgt spid="80385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803877"/>
                                        </p:tgtEl>
                                        <p:attrNameLst>
                                          <p:attrName>style.visibility</p:attrName>
                                        </p:attrNameLst>
                                      </p:cBhvr>
                                      <p:to>
                                        <p:strVal val="visible"/>
                                      </p:to>
                                    </p:set>
                                    <p:animEffect transition="in" filter="wipe(up)">
                                      <p:cBhvr>
                                        <p:cTn id="45" dur="3000"/>
                                        <p:tgtEl>
                                          <p:spTgt spid="80387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803881"/>
                                        </p:tgtEl>
                                        <p:attrNameLst>
                                          <p:attrName>style.visibility</p:attrName>
                                        </p:attrNameLst>
                                      </p:cBhvr>
                                      <p:to>
                                        <p:strVal val="visible"/>
                                      </p:to>
                                    </p:set>
                                    <p:animEffect transition="in" filter="wipe(up)">
                                      <p:cBhvr>
                                        <p:cTn id="50" dur="2000"/>
                                        <p:tgtEl>
                                          <p:spTgt spid="803881"/>
                                        </p:tgtEl>
                                      </p:cBhvr>
                                    </p:animEffect>
                                  </p:childTnLst>
                                </p:cTn>
                              </p:par>
                            </p:childTnLst>
                          </p:cTn>
                        </p:par>
                        <p:par>
                          <p:cTn id="51" fill="hold" nodeType="afterGroup">
                            <p:stCondLst>
                              <p:cond delay="2000"/>
                            </p:stCondLst>
                            <p:childTnLst>
                              <p:par>
                                <p:cTn id="52" presetID="22" presetClass="entr" presetSubtype="1" fill="hold" nodeType="afterEffect">
                                  <p:stCondLst>
                                    <p:cond delay="0"/>
                                  </p:stCondLst>
                                  <p:childTnLst>
                                    <p:set>
                                      <p:cBhvr>
                                        <p:cTn id="53" dur="1" fill="hold">
                                          <p:stCondLst>
                                            <p:cond delay="0"/>
                                          </p:stCondLst>
                                        </p:cTn>
                                        <p:tgtEl>
                                          <p:spTgt spid="803882"/>
                                        </p:tgtEl>
                                        <p:attrNameLst>
                                          <p:attrName>style.visibility</p:attrName>
                                        </p:attrNameLst>
                                      </p:cBhvr>
                                      <p:to>
                                        <p:strVal val="visible"/>
                                      </p:to>
                                    </p:set>
                                    <p:animEffect transition="in" filter="wipe(up)">
                                      <p:cBhvr>
                                        <p:cTn id="54" dur="2000"/>
                                        <p:tgtEl>
                                          <p:spTgt spid="80388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803883"/>
                                        </p:tgtEl>
                                        <p:attrNameLst>
                                          <p:attrName>style.visibility</p:attrName>
                                        </p:attrNameLst>
                                      </p:cBhvr>
                                      <p:to>
                                        <p:strVal val="visible"/>
                                      </p:to>
                                    </p:set>
                                    <p:animEffect transition="in" filter="wipe(up)">
                                      <p:cBhvr>
                                        <p:cTn id="59" dur="2000"/>
                                        <p:tgtEl>
                                          <p:spTgt spid="803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2" grpId="0"/>
      <p:bldP spid="803843" grpId="0"/>
      <p:bldP spid="803844" grpId="0"/>
      <p:bldP spid="803845" grpId="0"/>
      <p:bldP spid="803851" grpId="0"/>
      <p:bldP spid="803881" grpId="0"/>
      <p:bldP spid="80388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2">
            <a:extLst>
              <a:ext uri="{FF2B5EF4-FFF2-40B4-BE49-F238E27FC236}">
                <a16:creationId xmlns:a16="http://schemas.microsoft.com/office/drawing/2014/main" id="{3D9DCEBB-B916-8044-7CDD-8A56EE9F875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C3EFC7BF-7987-4BFC-861B-F792FD964802}" type="slidenum">
              <a:rPr lang="en-US" altLang="zh-CN" sz="1400">
                <a:ea typeface="宋体" panose="02010600030101010101" pitchFamily="2" charset="-122"/>
              </a:rPr>
              <a:pPr/>
              <a:t>9</a:t>
            </a:fld>
            <a:endParaRPr lang="en-US" altLang="zh-CN" sz="1400">
              <a:ea typeface="宋体" panose="02010600030101010101" pitchFamily="2" charset="-122"/>
            </a:endParaRPr>
          </a:p>
        </p:txBody>
      </p:sp>
      <p:sp>
        <p:nvSpPr>
          <p:cNvPr id="824322" name="Text Box 2">
            <a:extLst>
              <a:ext uri="{FF2B5EF4-FFF2-40B4-BE49-F238E27FC236}">
                <a16:creationId xmlns:a16="http://schemas.microsoft.com/office/drawing/2014/main" id="{A3A8F833-C17E-B911-F869-48B0E1332F98}"/>
              </a:ext>
            </a:extLst>
          </p:cNvPr>
          <p:cNvSpPr txBox="1">
            <a:spLocks noChangeArrowheads="1"/>
          </p:cNvSpPr>
          <p:nvPr/>
        </p:nvSpPr>
        <p:spPr bwMode="auto">
          <a:xfrm>
            <a:off x="179388" y="619125"/>
            <a:ext cx="6048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en-US" altLang="zh-CN" b="1">
                <a:solidFill>
                  <a:schemeClr val="bg1"/>
                </a:solidFill>
                <a:latin typeface="Times New Roman" panose="02020603050405020304" pitchFamily="18" charset="0"/>
                <a:ea typeface="幼圆" panose="02010509060101010101" pitchFamily="49" charset="-122"/>
                <a:cs typeface="Arial" panose="020B0604020202020204" pitchFamily="34" charset="0"/>
              </a:rPr>
              <a:t>3.3.3.  </a:t>
            </a:r>
            <a:r>
              <a:rPr kumimoji="1" lang="zh-CN" altLang="en-US" b="1">
                <a:solidFill>
                  <a:schemeClr val="bg1"/>
                </a:solidFill>
                <a:latin typeface="Times New Roman" panose="02020603050405020304" pitchFamily="18" charset="0"/>
                <a:ea typeface="幼圆" panose="02010509060101010101" pitchFamily="49" charset="-122"/>
                <a:cs typeface="Arial" panose="020B0604020202020204" pitchFamily="34" charset="0"/>
              </a:rPr>
              <a:t>恒定磁场的能量和磁场能量密度</a:t>
            </a:r>
          </a:p>
        </p:txBody>
      </p:sp>
      <p:sp>
        <p:nvSpPr>
          <p:cNvPr id="824323" name="Text Box 3">
            <a:extLst>
              <a:ext uri="{FF2B5EF4-FFF2-40B4-BE49-F238E27FC236}">
                <a16:creationId xmlns:a16="http://schemas.microsoft.com/office/drawing/2014/main" id="{1D50E0E8-3252-794C-4B23-4EEC4F4DB2C7}"/>
              </a:ext>
            </a:extLst>
          </p:cNvPr>
          <p:cNvSpPr txBox="1">
            <a:spLocks noChangeArrowheads="1"/>
          </p:cNvSpPr>
          <p:nvPr/>
        </p:nvSpPr>
        <p:spPr bwMode="auto">
          <a:xfrm>
            <a:off x="34925" y="987425"/>
            <a:ext cx="9001125"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50000"/>
              </a:lnSpc>
              <a:spcBef>
                <a:spcPct val="50000"/>
              </a:spcBef>
            </a:pPr>
            <a:r>
              <a:rPr kumimoji="1" lang="en-US" altLang="zh-CN" sz="2000" b="1">
                <a:solidFill>
                  <a:schemeClr val="bg1"/>
                </a:solidFill>
                <a:latin typeface="楷体_GB2312" pitchFamily="49" charset="-122"/>
              </a:rPr>
              <a:t>    </a:t>
            </a:r>
            <a:r>
              <a:rPr kumimoji="1" lang="zh-CN" altLang="en-US" b="1">
                <a:solidFill>
                  <a:schemeClr val="bg1"/>
                </a:solidFill>
                <a:latin typeface="楷体_GB2312" pitchFamily="49" charset="-122"/>
              </a:rPr>
              <a:t>从场的观点来看，磁场能量分布于磁场所在的整个空间。</a:t>
            </a:r>
            <a:endParaRPr kumimoji="1" lang="zh-CN" altLang="en-US" b="1">
              <a:solidFill>
                <a:schemeClr val="bg1"/>
              </a:solidFill>
              <a:latin typeface="Times New Roman" panose="02020603050405020304" pitchFamily="18" charset="0"/>
            </a:endParaRPr>
          </a:p>
        </p:txBody>
      </p:sp>
      <p:sp>
        <p:nvSpPr>
          <p:cNvPr id="824324" name="Text Box 4">
            <a:extLst>
              <a:ext uri="{FF2B5EF4-FFF2-40B4-BE49-F238E27FC236}">
                <a16:creationId xmlns:a16="http://schemas.microsoft.com/office/drawing/2014/main" id="{0851DFE8-9BBC-A2D3-7DE3-F9B149DF4865}"/>
              </a:ext>
            </a:extLst>
          </p:cNvPr>
          <p:cNvSpPr txBox="1">
            <a:spLocks noChangeArrowheads="1"/>
          </p:cNvSpPr>
          <p:nvPr/>
        </p:nvSpPr>
        <p:spPr bwMode="auto">
          <a:xfrm>
            <a:off x="193675" y="1797050"/>
            <a:ext cx="53292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磁场能量密度：</a:t>
            </a:r>
            <a:endParaRPr kumimoji="1" lang="zh-CN" altLang="en-US" b="1">
              <a:solidFill>
                <a:schemeClr val="bg1"/>
              </a:solidFill>
              <a:latin typeface="Times New Roman" panose="02020603050405020304" pitchFamily="18" charset="0"/>
            </a:endParaRPr>
          </a:p>
        </p:txBody>
      </p:sp>
      <p:sp>
        <p:nvSpPr>
          <p:cNvPr id="824325" name="Text Box 5">
            <a:extLst>
              <a:ext uri="{FF2B5EF4-FFF2-40B4-BE49-F238E27FC236}">
                <a16:creationId xmlns:a16="http://schemas.microsoft.com/office/drawing/2014/main" id="{C584B55F-7283-B38A-EB50-A898394E1AD6}"/>
              </a:ext>
            </a:extLst>
          </p:cNvPr>
          <p:cNvSpPr txBox="1">
            <a:spLocks noChangeArrowheads="1"/>
          </p:cNvSpPr>
          <p:nvPr/>
        </p:nvSpPr>
        <p:spPr bwMode="auto">
          <a:xfrm>
            <a:off x="179388" y="2566988"/>
            <a:ext cx="576103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磁场的总能量：</a:t>
            </a:r>
          </a:p>
        </p:txBody>
      </p:sp>
      <p:grpSp>
        <p:nvGrpSpPr>
          <p:cNvPr id="824326" name="Group 6">
            <a:extLst>
              <a:ext uri="{FF2B5EF4-FFF2-40B4-BE49-F238E27FC236}">
                <a16:creationId xmlns:a16="http://schemas.microsoft.com/office/drawing/2014/main" id="{E309DC52-6419-9C62-1DD8-25AFA50C60CF}"/>
              </a:ext>
            </a:extLst>
          </p:cNvPr>
          <p:cNvGrpSpPr>
            <a:grpSpLocks/>
          </p:cNvGrpSpPr>
          <p:nvPr/>
        </p:nvGrpSpPr>
        <p:grpSpPr bwMode="auto">
          <a:xfrm>
            <a:off x="5148263" y="2063750"/>
            <a:ext cx="3024187" cy="865188"/>
            <a:chOff x="3243" y="1117"/>
            <a:chExt cx="1905" cy="545"/>
          </a:xfrm>
        </p:grpSpPr>
        <p:sp>
          <p:nvSpPr>
            <p:cNvPr id="83985" name="Text Box 7">
              <a:extLst>
                <a:ext uri="{FF2B5EF4-FFF2-40B4-BE49-F238E27FC236}">
                  <a16:creationId xmlns:a16="http://schemas.microsoft.com/office/drawing/2014/main" id="{CEB5E201-D662-E638-FAF8-10740F537337}"/>
                </a:ext>
              </a:extLst>
            </p:cNvPr>
            <p:cNvSpPr txBox="1">
              <a:spLocks noChangeArrowheads="1"/>
            </p:cNvSpPr>
            <p:nvPr/>
          </p:nvSpPr>
          <p:spPr bwMode="auto">
            <a:xfrm>
              <a:off x="3832" y="1117"/>
              <a:ext cx="1316" cy="528"/>
            </a:xfrm>
            <a:prstGeom prst="rect">
              <a:avLst/>
            </a:prstGeom>
            <a:solidFill>
              <a:srgbClr val="CCFFFF"/>
            </a:solidFill>
            <a:ln w="158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20000"/>
                </a:lnSpc>
              </a:pPr>
              <a:r>
                <a:rPr kumimoji="1" lang="zh-CN" altLang="en-US" sz="2000" b="1">
                  <a:solidFill>
                    <a:srgbClr val="990000"/>
                  </a:solidFill>
                  <a:latin typeface="Times New Roman" panose="02020603050405020304" pitchFamily="18" charset="0"/>
                  <a:ea typeface="宋体" panose="02010600030101010101" pitchFamily="2" charset="-122"/>
                </a:rPr>
                <a:t>积分区域为电场所在的整个空间</a:t>
              </a:r>
            </a:p>
          </p:txBody>
        </p:sp>
        <p:sp>
          <p:nvSpPr>
            <p:cNvPr id="83986" name="Line 8">
              <a:extLst>
                <a:ext uri="{FF2B5EF4-FFF2-40B4-BE49-F238E27FC236}">
                  <a16:creationId xmlns:a16="http://schemas.microsoft.com/office/drawing/2014/main" id="{19AAB191-600B-DE71-1D04-0C556E174985}"/>
                </a:ext>
              </a:extLst>
            </p:cNvPr>
            <p:cNvSpPr>
              <a:spLocks noChangeShapeType="1"/>
            </p:cNvSpPr>
            <p:nvPr/>
          </p:nvSpPr>
          <p:spPr bwMode="auto">
            <a:xfrm flipH="1">
              <a:off x="3243" y="1344"/>
              <a:ext cx="589" cy="318"/>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4329" name="Text Box 9">
            <a:extLst>
              <a:ext uri="{FF2B5EF4-FFF2-40B4-BE49-F238E27FC236}">
                <a16:creationId xmlns:a16="http://schemas.microsoft.com/office/drawing/2014/main" id="{32E1663F-9A61-C13A-97EF-AE10746CFCE6}"/>
              </a:ext>
            </a:extLst>
          </p:cNvPr>
          <p:cNvSpPr txBox="1">
            <a:spLocks noChangeArrowheads="1"/>
          </p:cNvSpPr>
          <p:nvPr/>
        </p:nvSpPr>
        <p:spPr bwMode="auto">
          <a:xfrm>
            <a:off x="179388" y="3481388"/>
            <a:ext cx="62642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3"/>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对于线性、各向同性介质，则有</a:t>
            </a:r>
          </a:p>
        </p:txBody>
      </p:sp>
      <p:graphicFrame>
        <p:nvGraphicFramePr>
          <p:cNvPr id="824330" name="Object 10">
            <a:extLst>
              <a:ext uri="{FF2B5EF4-FFF2-40B4-BE49-F238E27FC236}">
                <a16:creationId xmlns:a16="http://schemas.microsoft.com/office/drawing/2014/main" id="{94EB55A1-5453-7E82-5B15-CE3A9D1A4DB1}"/>
              </a:ext>
            </a:extLst>
          </p:cNvPr>
          <p:cNvGraphicFramePr>
            <a:graphicFrameLocks noChangeAspect="1"/>
          </p:cNvGraphicFramePr>
          <p:nvPr/>
        </p:nvGraphicFramePr>
        <p:xfrm>
          <a:off x="2987675" y="1781175"/>
          <a:ext cx="1622425" cy="785813"/>
        </p:xfrm>
        <a:graphic>
          <a:graphicData uri="http://schemas.openxmlformats.org/presentationml/2006/ole">
            <mc:AlternateContent xmlns:mc="http://schemas.openxmlformats.org/markup-compatibility/2006">
              <mc:Choice xmlns:v="urn:schemas-microsoft-com:vml" Requires="v">
                <p:oleObj name="Equation" r:id="rId4" imgW="742861" imgH="323850" progId="Equation.DSMT4">
                  <p:embed/>
                </p:oleObj>
              </mc:Choice>
              <mc:Fallback>
                <p:oleObj name="Equation" r:id="rId4" imgW="742861" imgH="32385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1781175"/>
                        <a:ext cx="162242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32" name="Object 12">
            <a:extLst>
              <a:ext uri="{FF2B5EF4-FFF2-40B4-BE49-F238E27FC236}">
                <a16:creationId xmlns:a16="http://schemas.microsoft.com/office/drawing/2014/main" id="{65AC83DB-AC33-63E8-2656-14FFDE9CAE9C}"/>
              </a:ext>
            </a:extLst>
          </p:cNvPr>
          <p:cNvGraphicFramePr>
            <a:graphicFrameLocks noChangeAspect="1"/>
          </p:cNvGraphicFramePr>
          <p:nvPr/>
        </p:nvGraphicFramePr>
        <p:xfrm>
          <a:off x="1535113" y="4295775"/>
          <a:ext cx="4181475" cy="785813"/>
        </p:xfrm>
        <a:graphic>
          <a:graphicData uri="http://schemas.openxmlformats.org/presentationml/2006/ole">
            <mc:AlternateContent xmlns:mc="http://schemas.openxmlformats.org/markup-compatibility/2006">
              <mc:Choice xmlns:v="urn:schemas-microsoft-com:vml" Requires="v">
                <p:oleObj name="Equation" r:id="rId6" imgW="2025654" imgH="323850" progId="Equation.DSMT4">
                  <p:embed/>
                </p:oleObj>
              </mc:Choice>
              <mc:Fallback>
                <p:oleObj name="Equation" r:id="rId6" imgW="2025654" imgH="32385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5113" y="4295775"/>
                        <a:ext cx="418147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9" name="AutoShape 14">
            <a:hlinkClick r:id="rId8" action="ppaction://hlinksldjump" highlightClick="1"/>
            <a:extLst>
              <a:ext uri="{FF2B5EF4-FFF2-40B4-BE49-F238E27FC236}">
                <a16:creationId xmlns:a16="http://schemas.microsoft.com/office/drawing/2014/main" id="{7E47645D-5EEE-FA57-D319-183E8489F7F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3980" name="AutoShape 15">
            <a:hlinkClick r:id="" action="ppaction://hlinkshowjump?jump=previousslide" highlightClick="1"/>
            <a:extLst>
              <a:ext uri="{FF2B5EF4-FFF2-40B4-BE49-F238E27FC236}">
                <a16:creationId xmlns:a16="http://schemas.microsoft.com/office/drawing/2014/main" id="{BB00F1D0-B874-678C-399E-162CD411699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3981" name="AutoShape 16">
            <a:hlinkClick r:id="" action="ppaction://hlinkshowjump?jump=nextslide" highlightClick="1"/>
            <a:extLst>
              <a:ext uri="{FF2B5EF4-FFF2-40B4-BE49-F238E27FC236}">
                <a16:creationId xmlns:a16="http://schemas.microsoft.com/office/drawing/2014/main" id="{05E549DA-6B84-1330-4A43-7B199266437C}"/>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3982" name="AutoShape 17">
            <a:hlinkClick r:id="" action="ppaction://hlinkshowjump?jump=lastslide" highlightClick="1"/>
            <a:extLst>
              <a:ext uri="{FF2B5EF4-FFF2-40B4-BE49-F238E27FC236}">
                <a16:creationId xmlns:a16="http://schemas.microsoft.com/office/drawing/2014/main" id="{2E524E18-673E-5642-D7A5-D50917D1091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30836" name="Object 20">
            <a:extLst>
              <a:ext uri="{FF2B5EF4-FFF2-40B4-BE49-F238E27FC236}">
                <a16:creationId xmlns:a16="http://schemas.microsoft.com/office/drawing/2014/main" id="{9E3CE24D-459A-B344-A9E6-0BE0FFE44D78}"/>
              </a:ext>
            </a:extLst>
          </p:cNvPr>
          <p:cNvGraphicFramePr>
            <a:graphicFrameLocks noChangeAspect="1"/>
          </p:cNvGraphicFramePr>
          <p:nvPr/>
        </p:nvGraphicFramePr>
        <p:xfrm>
          <a:off x="2843213" y="2549525"/>
          <a:ext cx="2449512" cy="854075"/>
        </p:xfrm>
        <a:graphic>
          <a:graphicData uri="http://schemas.openxmlformats.org/presentationml/2006/ole">
            <mc:AlternateContent xmlns:mc="http://schemas.openxmlformats.org/markup-compatibility/2006">
              <mc:Choice xmlns:v="urn:schemas-microsoft-com:vml" Requires="v">
                <p:oleObj name="公式" r:id="rId9" imgW="920678" imgH="285750" progId="Equation.3">
                  <p:embed/>
                </p:oleObj>
              </mc:Choice>
              <mc:Fallback>
                <p:oleObj name="公式" r:id="rId9" imgW="920678" imgH="28575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3213" y="2549525"/>
                        <a:ext cx="244951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20">
            <a:extLst>
              <a:ext uri="{FF2B5EF4-FFF2-40B4-BE49-F238E27FC236}">
                <a16:creationId xmlns:a16="http://schemas.microsoft.com/office/drawing/2014/main" id="{97AA9522-5E72-9F74-4783-2A01C30CAABA}"/>
              </a:ext>
            </a:extLst>
          </p:cNvPr>
          <p:cNvGraphicFramePr>
            <a:graphicFrameLocks noChangeAspect="1"/>
          </p:cNvGraphicFramePr>
          <p:nvPr/>
        </p:nvGraphicFramePr>
        <p:xfrm>
          <a:off x="1547813" y="5229225"/>
          <a:ext cx="6405562" cy="830263"/>
        </p:xfrm>
        <a:graphic>
          <a:graphicData uri="http://schemas.openxmlformats.org/presentationml/2006/ole">
            <mc:AlternateContent xmlns:mc="http://schemas.openxmlformats.org/markup-compatibility/2006">
              <mc:Choice xmlns:v="urn:schemas-microsoft-com:vml" Requires="v">
                <p:oleObj name="公式" r:id="rId11" imgW="2533587" imgH="285750" progId="Equation.3">
                  <p:embed/>
                </p:oleObj>
              </mc:Choice>
              <mc:Fallback>
                <p:oleObj name="公式" r:id="rId11" imgW="2533587" imgH="28575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7813" y="5229225"/>
                        <a:ext cx="6405562"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24322"/>
                                        </p:tgtEl>
                                        <p:attrNameLst>
                                          <p:attrName>style.visibility</p:attrName>
                                        </p:attrNameLst>
                                      </p:cBhvr>
                                      <p:to>
                                        <p:strVal val="visible"/>
                                      </p:to>
                                    </p:set>
                                    <p:animEffect transition="in" filter="wipe(up)">
                                      <p:cBhvr>
                                        <p:cTn id="7" dur="2000"/>
                                        <p:tgtEl>
                                          <p:spTgt spid="8243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24323"/>
                                        </p:tgtEl>
                                        <p:attrNameLst>
                                          <p:attrName>style.visibility</p:attrName>
                                        </p:attrNameLst>
                                      </p:cBhvr>
                                      <p:to>
                                        <p:strVal val="visible"/>
                                      </p:to>
                                    </p:set>
                                    <p:animEffect transition="in" filter="wipe(up)">
                                      <p:cBhvr>
                                        <p:cTn id="12" dur="2000"/>
                                        <p:tgtEl>
                                          <p:spTgt spid="8243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24324"/>
                                        </p:tgtEl>
                                        <p:attrNameLst>
                                          <p:attrName>style.visibility</p:attrName>
                                        </p:attrNameLst>
                                      </p:cBhvr>
                                      <p:to>
                                        <p:strVal val="visible"/>
                                      </p:to>
                                    </p:set>
                                    <p:anim calcmode="lin" valueType="num">
                                      <p:cBhvr additive="base">
                                        <p:cTn id="17" dur="2000" fill="hold"/>
                                        <p:tgtEl>
                                          <p:spTgt spid="824324"/>
                                        </p:tgtEl>
                                        <p:attrNameLst>
                                          <p:attrName>ppt_x</p:attrName>
                                        </p:attrNameLst>
                                      </p:cBhvr>
                                      <p:tavLst>
                                        <p:tav tm="0">
                                          <p:val>
                                            <p:strVal val="#ppt_x"/>
                                          </p:val>
                                        </p:tav>
                                        <p:tav tm="100000">
                                          <p:val>
                                            <p:strVal val="#ppt_x"/>
                                          </p:val>
                                        </p:tav>
                                      </p:tavLst>
                                    </p:anim>
                                    <p:anim calcmode="lin" valueType="num">
                                      <p:cBhvr additive="base">
                                        <p:cTn id="18" dur="2000" fill="hold"/>
                                        <p:tgtEl>
                                          <p:spTgt spid="824324"/>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2000"/>
                            </p:stCondLst>
                            <p:childTnLst>
                              <p:par>
                                <p:cTn id="20" presetID="2" presetClass="entr" presetSubtype="4" fill="hold" nodeType="afterEffect">
                                  <p:stCondLst>
                                    <p:cond delay="0"/>
                                  </p:stCondLst>
                                  <p:childTnLst>
                                    <p:set>
                                      <p:cBhvr>
                                        <p:cTn id="21" dur="1" fill="hold">
                                          <p:stCondLst>
                                            <p:cond delay="0"/>
                                          </p:stCondLst>
                                        </p:cTn>
                                        <p:tgtEl>
                                          <p:spTgt spid="824330"/>
                                        </p:tgtEl>
                                        <p:attrNameLst>
                                          <p:attrName>style.visibility</p:attrName>
                                        </p:attrNameLst>
                                      </p:cBhvr>
                                      <p:to>
                                        <p:strVal val="visible"/>
                                      </p:to>
                                    </p:set>
                                    <p:anim calcmode="lin" valueType="num">
                                      <p:cBhvr additive="base">
                                        <p:cTn id="22" dur="2000" fill="hold"/>
                                        <p:tgtEl>
                                          <p:spTgt spid="824330"/>
                                        </p:tgtEl>
                                        <p:attrNameLst>
                                          <p:attrName>ppt_x</p:attrName>
                                        </p:attrNameLst>
                                      </p:cBhvr>
                                      <p:tavLst>
                                        <p:tav tm="0">
                                          <p:val>
                                            <p:strVal val="#ppt_x"/>
                                          </p:val>
                                        </p:tav>
                                        <p:tav tm="100000">
                                          <p:val>
                                            <p:strVal val="#ppt_x"/>
                                          </p:val>
                                        </p:tav>
                                      </p:tavLst>
                                    </p:anim>
                                    <p:anim calcmode="lin" valueType="num">
                                      <p:cBhvr additive="base">
                                        <p:cTn id="23" dur="2000" fill="hold"/>
                                        <p:tgtEl>
                                          <p:spTgt spid="824330"/>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24325"/>
                                        </p:tgtEl>
                                        <p:attrNameLst>
                                          <p:attrName>style.visibility</p:attrName>
                                        </p:attrNameLst>
                                      </p:cBhvr>
                                      <p:to>
                                        <p:strVal val="visible"/>
                                      </p:to>
                                    </p:set>
                                    <p:anim calcmode="lin" valueType="num">
                                      <p:cBhvr additive="base">
                                        <p:cTn id="28" dur="2000" fill="hold"/>
                                        <p:tgtEl>
                                          <p:spTgt spid="824325"/>
                                        </p:tgtEl>
                                        <p:attrNameLst>
                                          <p:attrName>ppt_x</p:attrName>
                                        </p:attrNameLst>
                                      </p:cBhvr>
                                      <p:tavLst>
                                        <p:tav tm="0">
                                          <p:val>
                                            <p:strVal val="#ppt_x"/>
                                          </p:val>
                                        </p:tav>
                                        <p:tav tm="100000">
                                          <p:val>
                                            <p:strVal val="#ppt_x"/>
                                          </p:val>
                                        </p:tav>
                                      </p:tavLst>
                                    </p:anim>
                                    <p:anim calcmode="lin" valueType="num">
                                      <p:cBhvr additive="base">
                                        <p:cTn id="29" dur="2000" fill="hold"/>
                                        <p:tgtEl>
                                          <p:spTgt spid="824325"/>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2000"/>
                            </p:stCondLst>
                            <p:childTnLst>
                              <p:par>
                                <p:cTn id="31" presetID="10" presetClass="entr" presetSubtype="0" fill="hold" nodeType="afterEffect">
                                  <p:stCondLst>
                                    <p:cond delay="0"/>
                                  </p:stCondLst>
                                  <p:childTnLst>
                                    <p:set>
                                      <p:cBhvr>
                                        <p:cTn id="32" dur="1" fill="hold">
                                          <p:stCondLst>
                                            <p:cond delay="0"/>
                                          </p:stCondLst>
                                        </p:cTn>
                                        <p:tgtEl>
                                          <p:spTgt spid="824326"/>
                                        </p:tgtEl>
                                        <p:attrNameLst>
                                          <p:attrName>style.visibility</p:attrName>
                                        </p:attrNameLst>
                                      </p:cBhvr>
                                      <p:to>
                                        <p:strVal val="visible"/>
                                      </p:to>
                                    </p:set>
                                    <p:animEffect transition="in" filter="fade">
                                      <p:cBhvr>
                                        <p:cTn id="33" dur="2000"/>
                                        <p:tgtEl>
                                          <p:spTgt spid="82432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824329"/>
                                        </p:tgtEl>
                                        <p:attrNameLst>
                                          <p:attrName>style.visibility</p:attrName>
                                        </p:attrNameLst>
                                      </p:cBhvr>
                                      <p:to>
                                        <p:strVal val="visible"/>
                                      </p:to>
                                    </p:set>
                                    <p:anim calcmode="lin" valueType="num">
                                      <p:cBhvr additive="base">
                                        <p:cTn id="38" dur="3000" fill="hold"/>
                                        <p:tgtEl>
                                          <p:spTgt spid="824329"/>
                                        </p:tgtEl>
                                        <p:attrNameLst>
                                          <p:attrName>ppt_x</p:attrName>
                                        </p:attrNameLst>
                                      </p:cBhvr>
                                      <p:tavLst>
                                        <p:tav tm="0">
                                          <p:val>
                                            <p:strVal val="#ppt_x"/>
                                          </p:val>
                                        </p:tav>
                                        <p:tav tm="100000">
                                          <p:val>
                                            <p:strVal val="#ppt_x"/>
                                          </p:val>
                                        </p:tav>
                                      </p:tavLst>
                                    </p:anim>
                                    <p:anim calcmode="lin" valueType="num">
                                      <p:cBhvr additive="base">
                                        <p:cTn id="39" dur="3000" fill="hold"/>
                                        <p:tgtEl>
                                          <p:spTgt spid="824329"/>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3000"/>
                            </p:stCondLst>
                            <p:childTnLst>
                              <p:par>
                                <p:cTn id="41" presetID="2" presetClass="entr" presetSubtype="4" fill="hold" nodeType="afterEffect">
                                  <p:stCondLst>
                                    <p:cond delay="0"/>
                                  </p:stCondLst>
                                  <p:childTnLst>
                                    <p:set>
                                      <p:cBhvr>
                                        <p:cTn id="42" dur="1" fill="hold">
                                          <p:stCondLst>
                                            <p:cond delay="0"/>
                                          </p:stCondLst>
                                        </p:cTn>
                                        <p:tgtEl>
                                          <p:spTgt spid="824332"/>
                                        </p:tgtEl>
                                        <p:attrNameLst>
                                          <p:attrName>style.visibility</p:attrName>
                                        </p:attrNameLst>
                                      </p:cBhvr>
                                      <p:to>
                                        <p:strVal val="visible"/>
                                      </p:to>
                                    </p:set>
                                    <p:anim calcmode="lin" valueType="num">
                                      <p:cBhvr additive="base">
                                        <p:cTn id="43" dur="2000" fill="hold"/>
                                        <p:tgtEl>
                                          <p:spTgt spid="824332"/>
                                        </p:tgtEl>
                                        <p:attrNameLst>
                                          <p:attrName>ppt_x</p:attrName>
                                        </p:attrNameLst>
                                      </p:cBhvr>
                                      <p:tavLst>
                                        <p:tav tm="0">
                                          <p:val>
                                            <p:strVal val="#ppt_x"/>
                                          </p:val>
                                        </p:tav>
                                        <p:tav tm="100000">
                                          <p:val>
                                            <p:strVal val="#ppt_x"/>
                                          </p:val>
                                        </p:tav>
                                      </p:tavLst>
                                    </p:anim>
                                    <p:anim calcmode="lin" valueType="num">
                                      <p:cBhvr additive="base">
                                        <p:cTn id="44" dur="2000" fill="hold"/>
                                        <p:tgtEl>
                                          <p:spTgt spid="824332"/>
                                        </p:tgtEl>
                                        <p:attrNameLst>
                                          <p:attrName>ppt_y</p:attrName>
                                        </p:attrNameLst>
                                      </p:cBhvr>
                                      <p:tavLst>
                                        <p:tav tm="0">
                                          <p:val>
                                            <p:strVal val="1+#ppt_h/2"/>
                                          </p:val>
                                        </p:tav>
                                        <p:tav tm="100000">
                                          <p:val>
                                            <p:strVal val="#ppt_y"/>
                                          </p:val>
                                        </p:tav>
                                      </p:tavLst>
                                    </p:anim>
                                  </p:childTnLst>
                                </p:cTn>
                              </p:par>
                            </p:childTnLst>
                          </p:cTn>
                        </p:par>
                        <p:par>
                          <p:cTn id="45" fill="hold" nodeType="afterGroup">
                            <p:stCondLst>
                              <p:cond delay="5000"/>
                            </p:stCondLst>
                            <p:childTnLst>
                              <p:par>
                                <p:cTn id="46" presetID="22" presetClass="entr" presetSubtype="1" fill="hold" nodeType="afterEffect">
                                  <p:stCondLst>
                                    <p:cond delay="0"/>
                                  </p:stCondLst>
                                  <p:childTnLst>
                                    <p:set>
                                      <p:cBhvr>
                                        <p:cTn id="47" dur="1" fill="hold">
                                          <p:stCondLst>
                                            <p:cond delay="0"/>
                                          </p:stCondLst>
                                        </p:cTn>
                                        <p:tgtEl>
                                          <p:spTgt spid="930836"/>
                                        </p:tgtEl>
                                        <p:attrNameLst>
                                          <p:attrName>style.visibility</p:attrName>
                                        </p:attrNameLst>
                                      </p:cBhvr>
                                      <p:to>
                                        <p:strVal val="visible"/>
                                      </p:to>
                                    </p:set>
                                    <p:animEffect transition="in" filter="wipe(up)">
                                      <p:cBhvr>
                                        <p:cTn id="48" dur="2000"/>
                                        <p:tgtEl>
                                          <p:spTgt spid="930836"/>
                                        </p:tgtEl>
                                      </p:cBhvr>
                                    </p:animEffect>
                                  </p:childTnLst>
                                </p:cTn>
                              </p:par>
                            </p:childTnLst>
                          </p:cTn>
                        </p:par>
                        <p:par>
                          <p:cTn id="49" fill="hold" nodeType="afterGroup">
                            <p:stCondLst>
                              <p:cond delay="7000"/>
                            </p:stCondLst>
                            <p:childTnLst>
                              <p:par>
                                <p:cTn id="50" presetID="22" presetClass="entr" presetSubtype="1"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up)">
                                      <p:cBhvr>
                                        <p:cTn id="5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2" grpId="0"/>
      <p:bldP spid="824323" grpId="0"/>
      <p:bldP spid="824324" grpId="0"/>
      <p:bldP spid="824325" grpId="0"/>
      <p:bldP spid="8243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C83D87C-4313-CFB8-51B5-08EBEDADC116}"/>
              </a:ext>
            </a:extLst>
          </p:cNvPr>
          <p:cNvSpPr>
            <a:spLocks noGrp="1"/>
          </p:cNvSpPr>
          <p:nvPr>
            <p:ph type="sldNum" sz="quarter" idx="10"/>
          </p:nvPr>
        </p:nvSpPr>
        <p:spPr/>
        <p:txBody>
          <a:bodyPr/>
          <a:lstStyle/>
          <a:p>
            <a:pPr>
              <a:defRPr/>
            </a:pPr>
            <a:fld id="{2E4D8BE1-91A0-440B-A753-AF302F76E10E}" type="slidenum">
              <a:rPr lang="en-US" altLang="zh-CN" smtClean="0"/>
              <a:pPr>
                <a:defRPr/>
              </a:pPr>
              <a:t>10</a:t>
            </a:fld>
            <a:endParaRPr lang="en-US" altLang="zh-CN"/>
          </a:p>
        </p:txBody>
      </p:sp>
      <p:pic>
        <p:nvPicPr>
          <p:cNvPr id="7" name="图片 6">
            <a:extLst>
              <a:ext uri="{FF2B5EF4-FFF2-40B4-BE49-F238E27FC236}">
                <a16:creationId xmlns:a16="http://schemas.microsoft.com/office/drawing/2014/main" id="{7E5AE82D-5A55-BAEF-5C02-75E25BC42295}"/>
              </a:ext>
            </a:extLst>
          </p:cNvPr>
          <p:cNvPicPr>
            <a:picLocks noChangeAspect="1"/>
          </p:cNvPicPr>
          <p:nvPr/>
        </p:nvPicPr>
        <p:blipFill>
          <a:blip r:embed="rId2"/>
          <a:stretch>
            <a:fillRect/>
          </a:stretch>
        </p:blipFill>
        <p:spPr>
          <a:xfrm>
            <a:off x="0" y="267946"/>
            <a:ext cx="9144000" cy="6322108"/>
          </a:xfrm>
          <a:prstGeom prst="rect">
            <a:avLst/>
          </a:prstGeom>
        </p:spPr>
      </p:pic>
    </p:spTree>
    <p:extLst>
      <p:ext uri="{BB962C8B-B14F-4D97-AF65-F5344CB8AC3E}">
        <p14:creationId xmlns:p14="http://schemas.microsoft.com/office/powerpoint/2010/main" val="375342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166D3B1-8704-0EA8-BD97-C84C765D243E}"/>
              </a:ext>
            </a:extLst>
          </p:cNvPr>
          <p:cNvSpPr>
            <a:spLocks noGrp="1"/>
          </p:cNvSpPr>
          <p:nvPr>
            <p:ph type="sldNum" sz="quarter" idx="10"/>
          </p:nvPr>
        </p:nvSpPr>
        <p:spPr/>
        <p:txBody>
          <a:bodyPr/>
          <a:lstStyle/>
          <a:p>
            <a:pPr>
              <a:defRPr/>
            </a:pPr>
            <a:fld id="{2E4D8BE1-91A0-440B-A753-AF302F76E10E}" type="slidenum">
              <a:rPr lang="en-US" altLang="zh-CN" smtClean="0"/>
              <a:pPr>
                <a:defRPr/>
              </a:pPr>
              <a:t>11</a:t>
            </a:fld>
            <a:endParaRPr lang="en-US" altLang="zh-CN"/>
          </a:p>
        </p:txBody>
      </p:sp>
      <p:pic>
        <p:nvPicPr>
          <p:cNvPr id="5" name="图片 4">
            <a:extLst>
              <a:ext uri="{FF2B5EF4-FFF2-40B4-BE49-F238E27FC236}">
                <a16:creationId xmlns:a16="http://schemas.microsoft.com/office/drawing/2014/main" id="{C1300860-D8A0-821E-E1C1-9FB88F9DBB1E}"/>
              </a:ext>
            </a:extLst>
          </p:cNvPr>
          <p:cNvPicPr>
            <a:picLocks noChangeAspect="1"/>
          </p:cNvPicPr>
          <p:nvPr/>
        </p:nvPicPr>
        <p:blipFill>
          <a:blip r:embed="rId3"/>
          <a:stretch>
            <a:fillRect/>
          </a:stretch>
        </p:blipFill>
        <p:spPr>
          <a:xfrm>
            <a:off x="1274465" y="357672"/>
            <a:ext cx="6595070" cy="6500328"/>
          </a:xfrm>
          <a:prstGeom prst="rect">
            <a:avLst/>
          </a:prstGeom>
        </p:spPr>
      </p:pic>
    </p:spTree>
    <p:extLst>
      <p:ext uri="{BB962C8B-B14F-4D97-AF65-F5344CB8AC3E}">
        <p14:creationId xmlns:p14="http://schemas.microsoft.com/office/powerpoint/2010/main" val="19270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2">
            <a:extLst>
              <a:ext uri="{FF2B5EF4-FFF2-40B4-BE49-F238E27FC236}">
                <a16:creationId xmlns:a16="http://schemas.microsoft.com/office/drawing/2014/main" id="{B61E3BD2-355C-5DA7-56F0-0523B6EAD79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70C0408-296C-4267-8AA5-869DE7E7C033}" type="slidenum">
              <a:rPr lang="en-US" altLang="zh-CN" sz="1400">
                <a:ea typeface="宋体" panose="02010600030101010101" pitchFamily="2" charset="-122"/>
              </a:rPr>
              <a:pPr/>
              <a:t>12</a:t>
            </a:fld>
            <a:endParaRPr lang="en-US" altLang="zh-CN" sz="1400">
              <a:ea typeface="宋体" panose="02010600030101010101" pitchFamily="2" charset="-122"/>
            </a:endParaRPr>
          </a:p>
        </p:txBody>
      </p:sp>
      <p:sp>
        <p:nvSpPr>
          <p:cNvPr id="86019" name="AutoShape 14">
            <a:hlinkClick r:id="rId3" action="ppaction://hlinksldjump" highlightClick="1"/>
            <a:extLst>
              <a:ext uri="{FF2B5EF4-FFF2-40B4-BE49-F238E27FC236}">
                <a16:creationId xmlns:a16="http://schemas.microsoft.com/office/drawing/2014/main" id="{A15AF223-2129-D2B6-A419-AE4D965D054B}"/>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6020" name="AutoShape 15">
            <a:hlinkClick r:id="" action="ppaction://hlinkshowjump?jump=previousslide" highlightClick="1"/>
            <a:extLst>
              <a:ext uri="{FF2B5EF4-FFF2-40B4-BE49-F238E27FC236}">
                <a16:creationId xmlns:a16="http://schemas.microsoft.com/office/drawing/2014/main" id="{8EDCDE50-05A5-5231-70CF-7E8C957F8B18}"/>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6021" name="AutoShape 16">
            <a:hlinkClick r:id="" action="ppaction://hlinkshowjump?jump=nextslide" highlightClick="1"/>
            <a:extLst>
              <a:ext uri="{FF2B5EF4-FFF2-40B4-BE49-F238E27FC236}">
                <a16:creationId xmlns:a16="http://schemas.microsoft.com/office/drawing/2014/main" id="{26B86C1A-8DCB-F16C-0C57-8C6249AC8FA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6022" name="AutoShape 17">
            <a:hlinkClick r:id="" action="ppaction://hlinkshowjump?jump=lastslide" highlightClick="1"/>
            <a:extLst>
              <a:ext uri="{FF2B5EF4-FFF2-40B4-BE49-F238E27FC236}">
                <a16:creationId xmlns:a16="http://schemas.microsoft.com/office/drawing/2014/main" id="{D7955521-FECA-AB44-305D-87384E2F25F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0" name="Text Box 9">
            <a:extLst>
              <a:ext uri="{FF2B5EF4-FFF2-40B4-BE49-F238E27FC236}">
                <a16:creationId xmlns:a16="http://schemas.microsoft.com/office/drawing/2014/main" id="{7B887D07-D161-E940-AB23-C7E185C340F5}"/>
              </a:ext>
            </a:extLst>
          </p:cNvPr>
          <p:cNvSpPr txBox="1">
            <a:spLocks noChangeArrowheads="1"/>
          </p:cNvSpPr>
          <p:nvPr/>
        </p:nvSpPr>
        <p:spPr bwMode="auto">
          <a:xfrm>
            <a:off x="2843213" y="3629025"/>
            <a:ext cx="6264275" cy="45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sz="2000" b="1" dirty="0">
                <a:solidFill>
                  <a:schemeClr val="bg1"/>
                </a:solidFill>
                <a:latin typeface="Times New Roman" panose="02020603050405020304" pitchFamily="18" charset="0"/>
              </a:rPr>
              <a:t>处处储能：分布电容</a:t>
            </a:r>
            <a:r>
              <a:rPr kumimoji="1" lang="en-US" altLang="zh-CN" sz="2000" b="1" dirty="0">
                <a:solidFill>
                  <a:schemeClr val="bg1"/>
                </a:solidFill>
                <a:latin typeface="Times New Roman" panose="02020603050405020304" pitchFamily="18" charset="0"/>
              </a:rPr>
              <a:t>C</a:t>
            </a:r>
            <a:r>
              <a:rPr kumimoji="1" lang="en-US" altLang="zh-CN" sz="2000" b="1" baseline="-25000" dirty="0">
                <a:solidFill>
                  <a:schemeClr val="bg1"/>
                </a:solidFill>
                <a:latin typeface="Times New Roman" panose="02020603050405020304" pitchFamily="18" charset="0"/>
              </a:rPr>
              <a:t>l</a:t>
            </a:r>
            <a:r>
              <a:rPr kumimoji="1" lang="zh-CN" altLang="en-US" sz="2000" b="1" dirty="0">
                <a:solidFill>
                  <a:schemeClr val="bg1"/>
                </a:solidFill>
                <a:latin typeface="Times New Roman" panose="02020603050405020304" pitchFamily="18" charset="0"/>
              </a:rPr>
              <a:t>，分布电感</a:t>
            </a:r>
            <a:r>
              <a:rPr kumimoji="1" lang="en-US" altLang="zh-CN" sz="2000" b="1" dirty="0" err="1">
                <a:solidFill>
                  <a:schemeClr val="bg1"/>
                </a:solidFill>
                <a:latin typeface="Times New Roman" panose="02020603050405020304" pitchFamily="18" charset="0"/>
              </a:rPr>
              <a:t>L</a:t>
            </a:r>
            <a:r>
              <a:rPr kumimoji="1" lang="en-US" altLang="zh-CN" sz="2000" b="1" baseline="-25000" dirty="0" err="1">
                <a:solidFill>
                  <a:schemeClr val="bg1"/>
                </a:solidFill>
                <a:latin typeface="Times New Roman" panose="02020603050405020304" pitchFamily="18" charset="0"/>
              </a:rPr>
              <a:t>l</a:t>
            </a:r>
            <a:endParaRPr kumimoji="1" lang="zh-CN" altLang="en-US" sz="2000" b="1" baseline="-25000" dirty="0">
              <a:solidFill>
                <a:schemeClr val="bg1"/>
              </a:solidFill>
              <a:latin typeface="Times New Roman" panose="02020603050405020304" pitchFamily="18" charset="0"/>
            </a:endParaRPr>
          </a:p>
        </p:txBody>
      </p:sp>
      <p:sp>
        <p:nvSpPr>
          <p:cNvPr id="21" name="Text Box 9">
            <a:extLst>
              <a:ext uri="{FF2B5EF4-FFF2-40B4-BE49-F238E27FC236}">
                <a16:creationId xmlns:a16="http://schemas.microsoft.com/office/drawing/2014/main" id="{272E3D6D-5AA0-2472-3773-B0C0A85C820A}"/>
              </a:ext>
            </a:extLst>
          </p:cNvPr>
          <p:cNvSpPr txBox="1">
            <a:spLocks noChangeArrowheads="1"/>
          </p:cNvSpPr>
          <p:nvPr/>
        </p:nvSpPr>
        <p:spPr bwMode="auto">
          <a:xfrm>
            <a:off x="2836864" y="4048070"/>
            <a:ext cx="4532932" cy="45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sz="2000" b="1" dirty="0">
                <a:solidFill>
                  <a:schemeClr val="bg1"/>
                </a:solidFill>
              </a:rPr>
              <a:t>处处</a:t>
            </a:r>
            <a:r>
              <a:rPr kumimoji="1" lang="zh-CN" altLang="en-US" sz="2000" b="1" dirty="0">
                <a:solidFill>
                  <a:schemeClr val="bg1"/>
                </a:solidFill>
                <a:latin typeface="Times New Roman" panose="02020603050405020304" pitchFamily="18" charset="0"/>
              </a:rPr>
              <a:t>耗能：分布电阻</a:t>
            </a:r>
            <a:r>
              <a:rPr kumimoji="1" lang="en-US" altLang="zh-CN" sz="2000" b="1" dirty="0" err="1">
                <a:solidFill>
                  <a:schemeClr val="bg1"/>
                </a:solidFill>
                <a:latin typeface="Times New Roman" panose="02020603050405020304" pitchFamily="18" charset="0"/>
              </a:rPr>
              <a:t>R</a:t>
            </a:r>
            <a:r>
              <a:rPr kumimoji="1" lang="en-US" altLang="zh-CN" sz="2000" b="1" baseline="-25000" dirty="0" err="1">
                <a:solidFill>
                  <a:schemeClr val="bg1"/>
                </a:solidFill>
                <a:latin typeface="Times New Roman" panose="02020603050405020304" pitchFamily="18" charset="0"/>
              </a:rPr>
              <a:t>l</a:t>
            </a:r>
            <a:r>
              <a:rPr kumimoji="1" lang="zh-CN" altLang="en-US" sz="2000" b="1" dirty="0">
                <a:solidFill>
                  <a:schemeClr val="bg1"/>
                </a:solidFill>
                <a:latin typeface="Times New Roman" panose="02020603050405020304" pitchFamily="18" charset="0"/>
              </a:rPr>
              <a:t> ，分布电导</a:t>
            </a:r>
            <a:r>
              <a:rPr kumimoji="1" lang="en-US" altLang="zh-CN" sz="2000" b="1" dirty="0" err="1">
                <a:solidFill>
                  <a:schemeClr val="bg1"/>
                </a:solidFill>
                <a:latin typeface="Times New Roman" panose="02020603050405020304" pitchFamily="18" charset="0"/>
              </a:rPr>
              <a:t>G</a:t>
            </a:r>
            <a:r>
              <a:rPr kumimoji="1" lang="en-US" altLang="zh-CN" sz="2000" b="1" baseline="-25000" dirty="0" err="1">
                <a:solidFill>
                  <a:schemeClr val="bg1"/>
                </a:solidFill>
                <a:latin typeface="Times New Roman" panose="02020603050405020304" pitchFamily="18" charset="0"/>
              </a:rPr>
              <a:t>l</a:t>
            </a:r>
            <a:endParaRPr kumimoji="1" lang="zh-CN" altLang="en-US" sz="2000" b="1" baseline="-25000" dirty="0">
              <a:solidFill>
                <a:schemeClr val="bg1"/>
              </a:solidFill>
              <a:latin typeface="Times New Roman" panose="02020603050405020304" pitchFamily="18" charset="0"/>
            </a:endParaRPr>
          </a:p>
        </p:txBody>
      </p:sp>
      <p:sp>
        <p:nvSpPr>
          <p:cNvPr id="86025" name="Rectangle 39">
            <a:extLst>
              <a:ext uri="{FF2B5EF4-FFF2-40B4-BE49-F238E27FC236}">
                <a16:creationId xmlns:a16="http://schemas.microsoft.com/office/drawing/2014/main" id="{D919D90F-AF66-A766-DE01-FA3D5A74410E}"/>
              </a:ext>
            </a:extLst>
          </p:cNvPr>
          <p:cNvSpPr>
            <a:spLocks noChangeArrowheads="1"/>
          </p:cNvSpPr>
          <p:nvPr/>
        </p:nvSpPr>
        <p:spPr bwMode="auto">
          <a:xfrm>
            <a:off x="5740748" y="4078289"/>
            <a:ext cx="1327471" cy="421574"/>
          </a:xfrm>
          <a:prstGeom prst="rect">
            <a:avLst/>
          </a:prstGeom>
          <a:noFill/>
          <a:ln w="22225">
            <a:solidFill>
              <a:srgbClr val="FF99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6026" name="Text Box 22">
            <a:extLst>
              <a:ext uri="{FF2B5EF4-FFF2-40B4-BE49-F238E27FC236}">
                <a16:creationId xmlns:a16="http://schemas.microsoft.com/office/drawing/2014/main" id="{3B8E338E-BE9A-683B-7852-7FC8B26FF65C}"/>
              </a:ext>
            </a:extLst>
          </p:cNvPr>
          <p:cNvSpPr txBox="1">
            <a:spLocks noChangeArrowheads="1"/>
          </p:cNvSpPr>
          <p:nvPr/>
        </p:nvSpPr>
        <p:spPr bwMode="auto">
          <a:xfrm>
            <a:off x="5292725" y="4724400"/>
            <a:ext cx="3816350" cy="1022350"/>
          </a:xfrm>
          <a:prstGeom prst="rect">
            <a:avLst/>
          </a:prstGeom>
          <a:solidFill>
            <a:srgbClr val="CCFFFF"/>
          </a:solidFill>
          <a:ln w="254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10000"/>
              </a:lnSpc>
            </a:pPr>
            <a:r>
              <a:rPr lang="zh-CN" altLang="en-US" sz="1800" b="1" i="1" dirty="0">
                <a:solidFill>
                  <a:srgbClr val="990000"/>
                </a:solidFill>
                <a:latin typeface="Times New Roman" panose="02020603050405020304" pitchFamily="18" charset="0"/>
              </a:rPr>
              <a:t>漏电导：表征介质损耗（</a:t>
            </a:r>
            <a:r>
              <a:rPr lang="el-GR" altLang="zh-CN" sz="1800" b="1" i="1" dirty="0">
                <a:solidFill>
                  <a:srgbClr val="990000"/>
                </a:solidFill>
                <a:latin typeface="楷体_GB2312" pitchFamily="49" charset="-122"/>
              </a:rPr>
              <a:t>σ</a:t>
            </a:r>
            <a:r>
              <a:rPr lang="zh-CN" altLang="en-US" sz="1800" b="1" i="1" dirty="0">
                <a:solidFill>
                  <a:srgbClr val="990000"/>
                </a:solidFill>
                <a:latin typeface="楷体_GB2312" pitchFamily="49" charset="-122"/>
              </a:rPr>
              <a:t>很小</a:t>
            </a:r>
            <a:r>
              <a:rPr lang="zh-CN" altLang="en-US" sz="1800" b="1" i="1" dirty="0">
                <a:solidFill>
                  <a:srgbClr val="990000"/>
                </a:solidFill>
                <a:latin typeface="Times New Roman" panose="02020603050405020304" pitchFamily="18" charset="0"/>
              </a:rPr>
              <a:t>）。</a:t>
            </a:r>
          </a:p>
          <a:p>
            <a:pPr eaLnBrk="1" hangingPunct="1">
              <a:lnSpc>
                <a:spcPct val="110000"/>
              </a:lnSpc>
            </a:pPr>
            <a:r>
              <a:rPr lang="zh-CN" altLang="en-US" sz="1800" b="1" i="1" dirty="0">
                <a:solidFill>
                  <a:srgbClr val="990000"/>
                </a:solidFill>
                <a:latin typeface="Times New Roman" panose="02020603050405020304" pitchFamily="18" charset="0"/>
              </a:rPr>
              <a:t>非</a:t>
            </a:r>
            <a:r>
              <a:rPr lang="zh-CN" altLang="en-US" sz="1800" b="1" i="1" u="sng" dirty="0">
                <a:solidFill>
                  <a:srgbClr val="990000"/>
                </a:solidFill>
                <a:latin typeface="Times New Roman" panose="02020603050405020304" pitchFamily="18" charset="0"/>
              </a:rPr>
              <a:t>理想介质（</a:t>
            </a:r>
            <a:r>
              <a:rPr lang="el-GR" altLang="zh-CN" sz="1800" b="1" i="1" u="sng" dirty="0">
                <a:solidFill>
                  <a:srgbClr val="990000"/>
                </a:solidFill>
                <a:latin typeface="楷体_GB2312" pitchFamily="49" charset="-122"/>
              </a:rPr>
              <a:t>σ</a:t>
            </a:r>
            <a:r>
              <a:rPr lang="en-US" altLang="zh-CN" sz="1800" b="1" i="1" u="sng" dirty="0">
                <a:solidFill>
                  <a:srgbClr val="990000"/>
                </a:solidFill>
                <a:latin typeface="楷体_GB2312" pitchFamily="49" charset="-122"/>
              </a:rPr>
              <a:t>=0</a:t>
            </a:r>
            <a:r>
              <a:rPr lang="zh-CN" altLang="en-US" sz="1800" b="1" i="1" u="sng" dirty="0">
                <a:solidFill>
                  <a:srgbClr val="990000"/>
                </a:solidFill>
                <a:latin typeface="Times New Roman" panose="02020603050405020304" pitchFamily="18" charset="0"/>
              </a:rPr>
              <a:t>），非理想绝缘，存在漏电流</a:t>
            </a:r>
          </a:p>
        </p:txBody>
      </p:sp>
      <p:sp>
        <p:nvSpPr>
          <p:cNvPr id="86027" name="Line 40">
            <a:extLst>
              <a:ext uri="{FF2B5EF4-FFF2-40B4-BE49-F238E27FC236}">
                <a16:creationId xmlns:a16="http://schemas.microsoft.com/office/drawing/2014/main" id="{2B55A09F-1819-93A8-E21C-080D46BB4B4E}"/>
              </a:ext>
            </a:extLst>
          </p:cNvPr>
          <p:cNvSpPr>
            <a:spLocks noChangeShapeType="1"/>
          </p:cNvSpPr>
          <p:nvPr/>
        </p:nvSpPr>
        <p:spPr bwMode="auto">
          <a:xfrm flipH="1" flipV="1">
            <a:off x="7045004" y="4499860"/>
            <a:ext cx="1327471" cy="192789"/>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28" name="Rectangle 39">
            <a:extLst>
              <a:ext uri="{FF2B5EF4-FFF2-40B4-BE49-F238E27FC236}">
                <a16:creationId xmlns:a16="http://schemas.microsoft.com/office/drawing/2014/main" id="{8FE03D1C-40D6-70B2-B089-159C7111A3DF}"/>
              </a:ext>
            </a:extLst>
          </p:cNvPr>
          <p:cNvSpPr>
            <a:spLocks noChangeArrowheads="1"/>
          </p:cNvSpPr>
          <p:nvPr/>
        </p:nvSpPr>
        <p:spPr bwMode="auto">
          <a:xfrm>
            <a:off x="4139952" y="4098925"/>
            <a:ext cx="1440160" cy="367541"/>
          </a:xfrm>
          <a:prstGeom prst="rect">
            <a:avLst/>
          </a:prstGeom>
          <a:noFill/>
          <a:ln w="22225">
            <a:solidFill>
              <a:srgbClr val="FF99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6029" name="Text Box 22">
            <a:extLst>
              <a:ext uri="{FF2B5EF4-FFF2-40B4-BE49-F238E27FC236}">
                <a16:creationId xmlns:a16="http://schemas.microsoft.com/office/drawing/2014/main" id="{AECBFD3C-1B26-CCFC-888F-CE374B1537C8}"/>
              </a:ext>
            </a:extLst>
          </p:cNvPr>
          <p:cNvSpPr txBox="1">
            <a:spLocks noChangeArrowheads="1"/>
          </p:cNvSpPr>
          <p:nvPr/>
        </p:nvSpPr>
        <p:spPr bwMode="auto">
          <a:xfrm>
            <a:off x="1981200" y="4724400"/>
            <a:ext cx="3095625" cy="1022350"/>
          </a:xfrm>
          <a:prstGeom prst="rect">
            <a:avLst/>
          </a:prstGeom>
          <a:solidFill>
            <a:srgbClr val="CCFFFF"/>
          </a:solidFill>
          <a:ln w="254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10000"/>
              </a:lnSpc>
            </a:pPr>
            <a:r>
              <a:rPr lang="zh-CN" altLang="en-US" sz="1800" b="1" i="1">
                <a:solidFill>
                  <a:srgbClr val="990000"/>
                </a:solidFill>
                <a:latin typeface="Times New Roman" panose="02020603050405020304" pitchFamily="18" charset="0"/>
              </a:rPr>
              <a:t>表征导体损耗（</a:t>
            </a:r>
            <a:r>
              <a:rPr lang="el-GR" altLang="zh-CN" sz="1800" b="1" i="1">
                <a:solidFill>
                  <a:srgbClr val="990000"/>
                </a:solidFill>
                <a:latin typeface="楷体_GB2312" pitchFamily="49" charset="-122"/>
              </a:rPr>
              <a:t>σ</a:t>
            </a:r>
            <a:r>
              <a:rPr lang="zh-CN" altLang="en-US" sz="1800" b="1" i="1">
                <a:solidFill>
                  <a:srgbClr val="990000"/>
                </a:solidFill>
                <a:latin typeface="楷体_GB2312" pitchFamily="49" charset="-122"/>
              </a:rPr>
              <a:t>很大</a:t>
            </a:r>
            <a:r>
              <a:rPr lang="zh-CN" altLang="en-US" sz="1800" b="1" i="1">
                <a:solidFill>
                  <a:srgbClr val="990000"/>
                </a:solidFill>
                <a:latin typeface="Times New Roman" panose="02020603050405020304" pitchFamily="18" charset="0"/>
              </a:rPr>
              <a:t>）。</a:t>
            </a:r>
          </a:p>
          <a:p>
            <a:pPr eaLnBrk="1" hangingPunct="1">
              <a:lnSpc>
                <a:spcPct val="110000"/>
              </a:lnSpc>
            </a:pPr>
            <a:r>
              <a:rPr lang="zh-CN" altLang="en-US" sz="1800" b="1" i="1">
                <a:solidFill>
                  <a:srgbClr val="990000"/>
                </a:solidFill>
                <a:latin typeface="Times New Roman" panose="02020603050405020304" pitchFamily="18" charset="0"/>
              </a:rPr>
              <a:t>非</a:t>
            </a:r>
            <a:r>
              <a:rPr lang="zh-CN" altLang="en-US" sz="1800" b="1" i="1" u="sng">
                <a:solidFill>
                  <a:srgbClr val="990000"/>
                </a:solidFill>
                <a:latin typeface="Times New Roman" panose="02020603050405020304" pitchFamily="18" charset="0"/>
              </a:rPr>
              <a:t>理想导体（</a:t>
            </a:r>
            <a:r>
              <a:rPr lang="el-GR" altLang="zh-CN" sz="1800" b="1" i="1" u="sng">
                <a:solidFill>
                  <a:srgbClr val="990000"/>
                </a:solidFill>
                <a:latin typeface="楷体_GB2312" pitchFamily="49" charset="-122"/>
              </a:rPr>
              <a:t>σ</a:t>
            </a:r>
            <a:r>
              <a:rPr lang="en-US" altLang="zh-CN" sz="1800" b="1" i="1" u="sng">
                <a:solidFill>
                  <a:srgbClr val="990000"/>
                </a:solidFill>
                <a:latin typeface="楷体_GB2312" pitchFamily="49" charset="-122"/>
              </a:rPr>
              <a:t>=∞</a:t>
            </a:r>
            <a:r>
              <a:rPr lang="zh-CN" altLang="en-US" sz="1800" b="1" i="1" u="sng">
                <a:solidFill>
                  <a:srgbClr val="990000"/>
                </a:solidFill>
                <a:latin typeface="Times New Roman" panose="02020603050405020304" pitchFamily="18" charset="0"/>
              </a:rPr>
              <a:t>）</a:t>
            </a:r>
            <a:r>
              <a:rPr lang="zh-CN" altLang="en-US" sz="1800" b="1" i="1">
                <a:solidFill>
                  <a:srgbClr val="990000"/>
                </a:solidFill>
                <a:latin typeface="Times New Roman" panose="02020603050405020304" pitchFamily="18" charset="0"/>
              </a:rPr>
              <a:t>，存在欧姆热损耗</a:t>
            </a:r>
          </a:p>
        </p:txBody>
      </p:sp>
      <p:sp>
        <p:nvSpPr>
          <p:cNvPr id="86030" name="Line 40">
            <a:extLst>
              <a:ext uri="{FF2B5EF4-FFF2-40B4-BE49-F238E27FC236}">
                <a16:creationId xmlns:a16="http://schemas.microsoft.com/office/drawing/2014/main" id="{F0C680FF-6BB0-026B-DD57-F37FFF5F86ED}"/>
              </a:ext>
            </a:extLst>
          </p:cNvPr>
          <p:cNvSpPr>
            <a:spLocks noChangeShapeType="1"/>
          </p:cNvSpPr>
          <p:nvPr/>
        </p:nvSpPr>
        <p:spPr bwMode="auto">
          <a:xfrm flipV="1">
            <a:off x="3563938" y="4506212"/>
            <a:ext cx="864046" cy="192788"/>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Text Box 9">
            <a:extLst>
              <a:ext uri="{FF2B5EF4-FFF2-40B4-BE49-F238E27FC236}">
                <a16:creationId xmlns:a16="http://schemas.microsoft.com/office/drawing/2014/main" id="{A18ED0DC-9F6C-74AE-6ED8-C8D33EC4BB7E}"/>
              </a:ext>
            </a:extLst>
          </p:cNvPr>
          <p:cNvSpPr txBox="1">
            <a:spLocks noChangeArrowheads="1"/>
          </p:cNvSpPr>
          <p:nvPr/>
        </p:nvSpPr>
        <p:spPr bwMode="auto">
          <a:xfrm>
            <a:off x="345033" y="5704237"/>
            <a:ext cx="8029575" cy="85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4"/>
              </a:buBlip>
            </a:pPr>
            <a:r>
              <a:rPr kumimoji="1" lang="zh-CN" altLang="en-US" sz="2000" b="1" dirty="0">
                <a:solidFill>
                  <a:srgbClr val="FF9900"/>
                </a:solidFill>
                <a:latin typeface="Times New Roman" panose="02020603050405020304" pitchFamily="18" charset="0"/>
              </a:rPr>
              <a:t>集总参数电路      </a:t>
            </a:r>
            <a:r>
              <a:rPr kumimoji="1" lang="zh-CN" altLang="en-US" sz="2000" b="1" dirty="0">
                <a:solidFill>
                  <a:schemeClr val="bg1"/>
                </a:solidFill>
                <a:latin typeface="Times New Roman" panose="02020603050405020304" pitchFamily="18" charset="0"/>
              </a:rPr>
              <a:t>集中储能：集总电容</a:t>
            </a:r>
            <a:r>
              <a:rPr kumimoji="1" lang="en-US" altLang="zh-CN" sz="2000" b="1" dirty="0">
                <a:solidFill>
                  <a:schemeClr val="bg1"/>
                </a:solidFill>
                <a:latin typeface="Times New Roman" panose="02020603050405020304" pitchFamily="18" charset="0"/>
              </a:rPr>
              <a:t>C</a:t>
            </a:r>
            <a:r>
              <a:rPr kumimoji="1" lang="zh-CN" altLang="en-US" sz="2000" b="1" dirty="0">
                <a:solidFill>
                  <a:schemeClr val="bg1"/>
                </a:solidFill>
                <a:latin typeface="Times New Roman" panose="02020603050405020304" pitchFamily="18" charset="0"/>
              </a:rPr>
              <a:t>，集总电感</a:t>
            </a:r>
            <a:r>
              <a:rPr kumimoji="1" lang="en-US" altLang="zh-CN" sz="2000" b="1" dirty="0">
                <a:solidFill>
                  <a:schemeClr val="bg1"/>
                </a:solidFill>
                <a:latin typeface="Times New Roman" panose="02020603050405020304" pitchFamily="18" charset="0"/>
              </a:rPr>
              <a:t>L</a:t>
            </a:r>
          </a:p>
          <a:p>
            <a:pPr algn="just" eaLnBrk="1" hangingPunct="1">
              <a:lnSpc>
                <a:spcPct val="130000"/>
              </a:lnSpc>
            </a:pPr>
            <a:r>
              <a:rPr kumimoji="1" lang="zh-CN" altLang="en-US" sz="2000" b="1" dirty="0">
                <a:solidFill>
                  <a:schemeClr val="bg1"/>
                </a:solidFill>
                <a:latin typeface="Times New Roman" panose="02020603050405020304" pitchFamily="18" charset="0"/>
              </a:rPr>
              <a:t>                                 集中耗能：集总电阻</a:t>
            </a:r>
            <a:r>
              <a:rPr kumimoji="1" lang="en-US" altLang="zh-CN" sz="2000" b="1" dirty="0">
                <a:solidFill>
                  <a:schemeClr val="bg1"/>
                </a:solidFill>
                <a:latin typeface="Times New Roman" panose="02020603050405020304" pitchFamily="18" charset="0"/>
              </a:rPr>
              <a:t>R</a:t>
            </a:r>
            <a:endParaRPr kumimoji="1" lang="zh-CN" altLang="en-US" sz="2000" b="1" baseline="-25000" dirty="0">
              <a:solidFill>
                <a:schemeClr val="bg1"/>
              </a:solidFill>
              <a:latin typeface="Times New Roman" panose="02020603050405020304" pitchFamily="18" charset="0"/>
            </a:endParaRPr>
          </a:p>
        </p:txBody>
      </p:sp>
      <p:sp>
        <p:nvSpPr>
          <p:cNvPr id="18" name="Text Box 9">
            <a:extLst>
              <a:ext uri="{FF2B5EF4-FFF2-40B4-BE49-F238E27FC236}">
                <a16:creationId xmlns:a16="http://schemas.microsoft.com/office/drawing/2014/main" id="{1BA002E2-78C1-F9EE-CE73-A3EB465A6F50}"/>
              </a:ext>
            </a:extLst>
          </p:cNvPr>
          <p:cNvSpPr txBox="1">
            <a:spLocks noChangeArrowheads="1"/>
          </p:cNvSpPr>
          <p:nvPr/>
        </p:nvSpPr>
        <p:spPr bwMode="auto">
          <a:xfrm>
            <a:off x="396876" y="3819525"/>
            <a:ext cx="24320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4"/>
              </a:buBlip>
            </a:pPr>
            <a:r>
              <a:rPr kumimoji="1" lang="zh-CN" altLang="en-US" sz="2000" b="1" dirty="0">
                <a:solidFill>
                  <a:srgbClr val="FF9900"/>
                </a:solidFill>
                <a:latin typeface="Times New Roman" panose="02020603050405020304" pitchFamily="18" charset="0"/>
              </a:rPr>
              <a:t>分布参数电路</a:t>
            </a:r>
            <a:r>
              <a:rPr kumimoji="1" lang="zh-CN" altLang="en-US" b="1" dirty="0">
                <a:solidFill>
                  <a:schemeClr val="bg1"/>
                </a:solidFill>
                <a:latin typeface="Times New Roman" panose="02020603050405020304" pitchFamily="18" charset="0"/>
              </a:rPr>
              <a:t> </a:t>
            </a:r>
            <a:endParaRPr kumimoji="1" lang="zh-CN" altLang="en-US" b="1" baseline="-25000" dirty="0">
              <a:solidFill>
                <a:schemeClr val="bg1"/>
              </a:solidFill>
              <a:latin typeface="Times New Roman" panose="02020603050405020304" pitchFamily="18" charset="0"/>
            </a:endParaRPr>
          </a:p>
        </p:txBody>
      </p:sp>
      <p:pic>
        <p:nvPicPr>
          <p:cNvPr id="86034" name="图片 1">
            <a:extLst>
              <a:ext uri="{FF2B5EF4-FFF2-40B4-BE49-F238E27FC236}">
                <a16:creationId xmlns:a16="http://schemas.microsoft.com/office/drawing/2014/main" id="{DBDE94C5-F706-2925-0C4C-DF971EBDCE4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9392" y="6162252"/>
            <a:ext cx="785141" cy="724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9">
            <a:extLst>
              <a:ext uri="{FF2B5EF4-FFF2-40B4-BE49-F238E27FC236}">
                <a16:creationId xmlns:a16="http://schemas.microsoft.com/office/drawing/2014/main" id="{79CB62E5-D07C-4833-5816-364A0306EFBE}"/>
              </a:ext>
            </a:extLst>
          </p:cNvPr>
          <p:cNvSpPr txBox="1">
            <a:spLocks noChangeArrowheads="1"/>
          </p:cNvSpPr>
          <p:nvPr/>
        </p:nvSpPr>
        <p:spPr bwMode="auto">
          <a:xfrm>
            <a:off x="0" y="333375"/>
            <a:ext cx="2267744" cy="3654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4"/>
              </a:buBlip>
            </a:pPr>
            <a:r>
              <a:rPr kumimoji="1" lang="zh-CN" altLang="en-US" sz="2000" b="1" dirty="0">
                <a:solidFill>
                  <a:srgbClr val="FFC000"/>
                </a:solidFill>
                <a:latin typeface="Times New Roman" panose="02020603050405020304" pitchFamily="18" charset="0"/>
              </a:rPr>
              <a:t>双导体微波传输线</a:t>
            </a:r>
            <a:r>
              <a:rPr kumimoji="1" lang="zh-CN" altLang="en-US" sz="2000" b="1" dirty="0">
                <a:solidFill>
                  <a:schemeClr val="bg1"/>
                </a:solidFill>
                <a:latin typeface="Times New Roman" panose="02020603050405020304" pitchFamily="18" charset="0"/>
              </a:rPr>
              <a:t>（如平行双线、同轴线、微带线、带状线）的等效电路（</a:t>
            </a:r>
            <a:r>
              <a:rPr kumimoji="1" lang="en-US" altLang="zh-CN" sz="2000" b="1" u="sng" dirty="0">
                <a:solidFill>
                  <a:schemeClr val="bg1"/>
                </a:solidFill>
                <a:latin typeface="Times New Roman" panose="02020603050405020304" pitchFamily="18" charset="0"/>
              </a:rPr>
              <a:t>TEM</a:t>
            </a:r>
            <a:r>
              <a:rPr kumimoji="1" lang="zh-CN" altLang="en-US" sz="2000" b="1" u="sng" dirty="0">
                <a:solidFill>
                  <a:schemeClr val="bg1"/>
                </a:solidFill>
                <a:latin typeface="Times New Roman" panose="02020603050405020304" pitchFamily="18" charset="0"/>
              </a:rPr>
              <a:t>模</a:t>
            </a:r>
            <a:r>
              <a:rPr kumimoji="1" lang="zh-CN" altLang="en-US" sz="2000" b="1" u="sng" dirty="0">
                <a:solidFill>
                  <a:srgbClr val="FF0000"/>
                </a:solidFill>
                <a:latin typeface="Times New Roman" panose="02020603050405020304" pitchFamily="18" charset="0"/>
              </a:rPr>
              <a:t>导行波</a:t>
            </a:r>
            <a:r>
              <a:rPr kumimoji="1" lang="zh-CN" altLang="en-US" sz="2000" b="1" dirty="0">
                <a:solidFill>
                  <a:schemeClr val="bg1"/>
                </a:solidFill>
                <a:latin typeface="Times New Roman" panose="02020603050405020304" pitchFamily="18" charset="0"/>
              </a:rPr>
              <a:t>）：</a:t>
            </a:r>
            <a:r>
              <a:rPr kumimoji="1" lang="zh-CN" altLang="en-US" sz="2000" b="1" dirty="0">
                <a:solidFill>
                  <a:srgbClr val="FFC000"/>
                </a:solidFill>
                <a:latin typeface="Times New Roman" panose="02020603050405020304" pitchFamily="18" charset="0"/>
              </a:rPr>
              <a:t>微波等效电路</a:t>
            </a:r>
            <a:r>
              <a:rPr kumimoji="1" lang="zh-CN" altLang="en-US" sz="2000" b="1" dirty="0">
                <a:solidFill>
                  <a:schemeClr val="bg1"/>
                </a:solidFill>
                <a:latin typeface="Times New Roman" panose="02020603050405020304" pitchFamily="18" charset="0"/>
              </a:rPr>
              <a:t>（可借鉴集总参数电路“路”分析法）</a:t>
            </a:r>
            <a:endParaRPr kumimoji="1" lang="zh-CN" altLang="en-US" sz="2000" b="1" baseline="-25000" dirty="0">
              <a:solidFill>
                <a:schemeClr val="bg1"/>
              </a:solidFill>
              <a:latin typeface="Times New Roman" panose="02020603050405020304" pitchFamily="18" charset="0"/>
            </a:endParaRPr>
          </a:p>
        </p:txBody>
      </p:sp>
      <p:pic>
        <p:nvPicPr>
          <p:cNvPr id="7" name="图片 6">
            <a:extLst>
              <a:ext uri="{FF2B5EF4-FFF2-40B4-BE49-F238E27FC236}">
                <a16:creationId xmlns:a16="http://schemas.microsoft.com/office/drawing/2014/main" id="{BA7D5EAF-2333-F098-19DC-744BE5E477DF}"/>
              </a:ext>
            </a:extLst>
          </p:cNvPr>
          <p:cNvPicPr>
            <a:picLocks noChangeAspect="1"/>
          </p:cNvPicPr>
          <p:nvPr/>
        </p:nvPicPr>
        <p:blipFill>
          <a:blip r:embed="rId6"/>
          <a:stretch>
            <a:fillRect/>
          </a:stretch>
        </p:blipFill>
        <p:spPr>
          <a:xfrm>
            <a:off x="2267744" y="430607"/>
            <a:ext cx="6833856" cy="3331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3000" fill="hold"/>
                                        <p:tgtEl>
                                          <p:spTgt spid="20"/>
                                        </p:tgtEl>
                                        <p:attrNameLst>
                                          <p:attrName>ppt_x</p:attrName>
                                        </p:attrNameLst>
                                      </p:cBhvr>
                                      <p:tavLst>
                                        <p:tav tm="0">
                                          <p:val>
                                            <p:strVal val="#ppt_x"/>
                                          </p:val>
                                        </p:tav>
                                        <p:tav tm="100000">
                                          <p:val>
                                            <p:strVal val="#ppt_x"/>
                                          </p:val>
                                        </p:tav>
                                      </p:tavLst>
                                    </p:anim>
                                    <p:anim calcmode="lin" valueType="num">
                                      <p:cBhvr additive="base">
                                        <p:cTn id="8" dur="30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3000" fill="hold"/>
                                        <p:tgtEl>
                                          <p:spTgt spid="21"/>
                                        </p:tgtEl>
                                        <p:attrNameLst>
                                          <p:attrName>ppt_x</p:attrName>
                                        </p:attrNameLst>
                                      </p:cBhvr>
                                      <p:tavLst>
                                        <p:tav tm="0">
                                          <p:val>
                                            <p:strVal val="#ppt_x"/>
                                          </p:val>
                                        </p:tav>
                                        <p:tav tm="100000">
                                          <p:val>
                                            <p:strVal val="#ppt_x"/>
                                          </p:val>
                                        </p:tav>
                                      </p:tavLst>
                                    </p:anim>
                                    <p:anim calcmode="lin" valueType="num">
                                      <p:cBhvr additive="base">
                                        <p:cTn id="14" dur="30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3000" fill="hold"/>
                                        <p:tgtEl>
                                          <p:spTgt spid="17"/>
                                        </p:tgtEl>
                                        <p:attrNameLst>
                                          <p:attrName>ppt_x</p:attrName>
                                        </p:attrNameLst>
                                      </p:cBhvr>
                                      <p:tavLst>
                                        <p:tav tm="0">
                                          <p:val>
                                            <p:strVal val="#ppt_x"/>
                                          </p:val>
                                        </p:tav>
                                        <p:tav tm="100000">
                                          <p:val>
                                            <p:strVal val="#ppt_x"/>
                                          </p:val>
                                        </p:tav>
                                      </p:tavLst>
                                    </p:anim>
                                    <p:anim calcmode="lin" valueType="num">
                                      <p:cBhvr additive="base">
                                        <p:cTn id="20" dur="30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3000" fill="hold"/>
                                        <p:tgtEl>
                                          <p:spTgt spid="18"/>
                                        </p:tgtEl>
                                        <p:attrNameLst>
                                          <p:attrName>ppt_x</p:attrName>
                                        </p:attrNameLst>
                                      </p:cBhvr>
                                      <p:tavLst>
                                        <p:tav tm="0">
                                          <p:val>
                                            <p:strVal val="#ppt_x"/>
                                          </p:val>
                                        </p:tav>
                                        <p:tav tm="100000">
                                          <p:val>
                                            <p:strVal val="#ppt_x"/>
                                          </p:val>
                                        </p:tav>
                                      </p:tavLst>
                                    </p:anim>
                                    <p:anim calcmode="lin" valueType="num">
                                      <p:cBhvr additive="base">
                                        <p:cTn id="26" dur="30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3000" fill="hold"/>
                                        <p:tgtEl>
                                          <p:spTgt spid="2"/>
                                        </p:tgtEl>
                                        <p:attrNameLst>
                                          <p:attrName>ppt_x</p:attrName>
                                        </p:attrNameLst>
                                      </p:cBhvr>
                                      <p:tavLst>
                                        <p:tav tm="0">
                                          <p:val>
                                            <p:strVal val="#ppt_x"/>
                                          </p:val>
                                        </p:tav>
                                        <p:tav tm="100000">
                                          <p:val>
                                            <p:strVal val="#ppt_x"/>
                                          </p:val>
                                        </p:tav>
                                      </p:tavLst>
                                    </p:anim>
                                    <p:anim calcmode="lin" valueType="num">
                                      <p:cBhvr additive="base">
                                        <p:cTn id="32" dur="3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17" grpId="0"/>
      <p:bldP spid="18" grpId="0"/>
      <p:bldP spid="2"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24459</TotalTime>
  <Words>1751</Words>
  <Application>Microsoft Office PowerPoint</Application>
  <PresentationFormat>全屏显示(4:3)</PresentationFormat>
  <Paragraphs>151</Paragraphs>
  <Slides>12</Slides>
  <Notes>11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12</vt:i4>
      </vt:variant>
    </vt:vector>
  </HeadingPairs>
  <TitlesOfParts>
    <vt:vector size="29" baseType="lpstr">
      <vt:lpstr>-apple-system</vt:lpstr>
      <vt:lpstr>inherit</vt:lpstr>
      <vt:lpstr>KaTeX_Main</vt:lpstr>
      <vt:lpstr>KaTeX_Math</vt:lpstr>
      <vt:lpstr>KaTeX_Size2</vt:lpstr>
      <vt:lpstr>KaTeX_Size3</vt:lpstr>
      <vt:lpstr>等线</vt:lpstr>
      <vt:lpstr>楷体_GB2312</vt:lpstr>
      <vt:lpstr>隶书</vt:lpstr>
      <vt:lpstr>宋体</vt:lpstr>
      <vt:lpstr>幼圆</vt:lpstr>
      <vt:lpstr>Arial</vt:lpstr>
      <vt:lpstr>Times New Roman</vt:lpstr>
      <vt:lpstr>Wingdings</vt:lpstr>
      <vt:lpstr>1_默认设计模板</vt:lpstr>
      <vt:lpstr>公式</vt:lpstr>
      <vt:lpstr>Equation</vt:lpstr>
      <vt:lpstr> 3.3  恒定磁场分析</vt:lpstr>
      <vt:lpstr>3.3.1 恒定磁场的基本方程和边界条件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914</cp:revision>
  <dcterms:created xsi:type="dcterms:W3CDTF">2004-02-10T07:06:32Z</dcterms:created>
  <dcterms:modified xsi:type="dcterms:W3CDTF">2025-12-01T05:02:41Z</dcterms:modified>
</cp:coreProperties>
</file>