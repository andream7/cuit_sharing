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68" r:id="rId2"/>
    <p:sldId id="411" r:id="rId3"/>
    <p:sldId id="391" r:id="rId4"/>
    <p:sldId id="393" r:id="rId5"/>
    <p:sldId id="458" r:id="rId6"/>
    <p:sldId id="403" r:id="rId7"/>
    <p:sldId id="429" r:id="rId8"/>
    <p:sldId id="430" r:id="rId9"/>
    <p:sldId id="454" r:id="rId10"/>
    <p:sldId id="414" r:id="rId11"/>
    <p:sldId id="459" r:id="rId12"/>
    <p:sldId id="464" r:id="rId13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5BAB7F"/>
    <a:srgbClr val="CCCCFF"/>
    <a:srgbClr val="6600FF"/>
    <a:srgbClr val="D60093"/>
    <a:srgbClr val="FFFF66"/>
    <a:srgbClr val="FF33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85"/>
    <p:restoredTop sz="84193" autoAdjust="0"/>
  </p:normalViewPr>
  <p:slideViewPr>
    <p:cSldViewPr showGuides="1">
      <p:cViewPr varScale="1">
        <p:scale>
          <a:sx n="68" d="100"/>
          <a:sy n="68" d="100"/>
        </p:scale>
        <p:origin x="1012" y="44"/>
      </p:cViewPr>
      <p:guideLst>
        <p:guide orient="horz" pos="2187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7584EA-F8F4-468B-838E-6FC41342A7C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2025/12/1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FA3BE2-94C1-4EC6-874D-79B19FD9F2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2DBF8C-73BE-48EB-9DAD-86366B0D9E7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2025/12/1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FCCE3B-0661-4084-9292-E9FF9DA121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969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97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97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97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  <a:p>
            <a:pPr lvl="0" eaLnBrk="1" hangingPunct="1"/>
            <a:endParaRPr lang="zh-CN" altLang="en-US" dirty="0"/>
          </a:p>
          <a:p>
            <a:pPr lvl="0" eaLnBrk="1" hangingPunct="1"/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1747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17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17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17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3795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37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37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3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37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>
                <a:solidFill>
                  <a:schemeClr val="bg1"/>
                </a:solidFill>
              </a:rPr>
              <a:t>坡印廷定理（积分形式）的第三项：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例</a:t>
            </a:r>
            <a:r>
              <a:rPr lang="en-US" altLang="zh-CN" b="1" dirty="0">
                <a:solidFill>
                  <a:schemeClr val="bg1"/>
                </a:solidFill>
              </a:rPr>
              <a:t>4.3.2】</a:t>
            </a:r>
            <a:r>
              <a:rPr lang="zh-CN" altLang="en-US" b="1" dirty="0">
                <a:solidFill>
                  <a:schemeClr val="bg1"/>
                </a:solidFill>
              </a:rPr>
              <a:t>（</a:t>
            </a:r>
            <a:r>
              <a:rPr lang="en-US" altLang="zh-CN" b="1" dirty="0">
                <a:solidFill>
                  <a:schemeClr val="bg1"/>
                </a:solidFill>
              </a:rPr>
              <a:t>2</a:t>
            </a:r>
            <a:r>
              <a:rPr lang="zh-CN" altLang="en-US" b="1" dirty="0">
                <a:solidFill>
                  <a:schemeClr val="bg1"/>
                </a:solidFill>
              </a:rPr>
              <a:t>）以同轴线这种双导体传输线（</a:t>
            </a:r>
            <a:r>
              <a:rPr lang="en-US" altLang="zh-CN" b="1" dirty="0">
                <a:solidFill>
                  <a:schemeClr val="bg1"/>
                </a:solidFill>
              </a:rPr>
              <a:t>TEM</a:t>
            </a:r>
            <a:r>
              <a:rPr lang="zh-CN" altLang="en-US" b="1" dirty="0">
                <a:solidFill>
                  <a:schemeClr val="bg1"/>
                </a:solidFill>
              </a:rPr>
              <a:t>传输线）为例，说明导波系统自身的损耗。</a:t>
            </a:r>
            <a:endParaRPr lang="en-US" altLang="zh-CN" b="1" dirty="0">
              <a:solidFill>
                <a:schemeClr val="bg1"/>
              </a:solidFill>
            </a:endParaRPr>
          </a:p>
          <a:p>
            <a:pPr lvl="0" eaLnBrk="1" hangingPunct="1"/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例</a:t>
            </a:r>
            <a:r>
              <a:rPr lang="en-US" altLang="zh-CN" b="1" dirty="0">
                <a:solidFill>
                  <a:schemeClr val="bg1"/>
                </a:solidFill>
              </a:rPr>
              <a:t>4.3.2】</a:t>
            </a:r>
            <a:r>
              <a:rPr lang="zh-CN" altLang="en-US" b="1" dirty="0">
                <a:solidFill>
                  <a:schemeClr val="bg1"/>
                </a:solidFill>
              </a:rPr>
              <a:t>（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）说明同轴线的传输功率如何计算。</a:t>
            </a:r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584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58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58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4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58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789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78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78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5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78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993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99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399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6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99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>
                <a:solidFill>
                  <a:schemeClr val="bg1"/>
                </a:solidFill>
              </a:rPr>
              <a:t>坡印廷定理（积分形式）的第三项：</a:t>
            </a:r>
            <a:r>
              <a:rPr lang="en-US" altLang="zh-CN" dirty="0">
                <a:solidFill>
                  <a:schemeClr val="bg1"/>
                </a:solidFill>
              </a:rPr>
              <a:t>【</a:t>
            </a:r>
            <a:r>
              <a:rPr lang="zh-CN" altLang="en-US" dirty="0">
                <a:solidFill>
                  <a:schemeClr val="bg1"/>
                </a:solidFill>
              </a:rPr>
              <a:t>例</a:t>
            </a:r>
            <a:r>
              <a:rPr lang="en-US" altLang="zh-CN" dirty="0">
                <a:solidFill>
                  <a:schemeClr val="bg1"/>
                </a:solidFill>
              </a:rPr>
              <a:t>4.3.2】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）以同轴线这种双导体传输线（</a:t>
            </a:r>
            <a:r>
              <a:rPr lang="en-US" altLang="zh-CN" dirty="0">
                <a:solidFill>
                  <a:schemeClr val="bg1"/>
                </a:solidFill>
              </a:rPr>
              <a:t>TEM</a:t>
            </a:r>
            <a:r>
              <a:rPr lang="zh-CN" altLang="en-US" dirty="0">
                <a:solidFill>
                  <a:schemeClr val="bg1"/>
                </a:solidFill>
              </a:rPr>
              <a:t>传输线）为例，说明导波系统自身的损耗。</a:t>
            </a:r>
            <a:endParaRPr lang="en-US" altLang="zh-CN" dirty="0">
              <a:solidFill>
                <a:schemeClr val="bg1"/>
              </a:solidFill>
            </a:endParaRPr>
          </a:p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《</a:t>
            </a:r>
            <a:r>
              <a:rPr lang="zh-CN" altLang="en-US" dirty="0">
                <a:solidFill>
                  <a:schemeClr val="bg1"/>
                </a:solidFill>
              </a:rPr>
              <a:t>微波技术与天线</a:t>
            </a:r>
            <a:r>
              <a:rPr lang="en-US" altLang="zh-CN" dirty="0">
                <a:solidFill>
                  <a:schemeClr val="bg1"/>
                </a:solidFill>
              </a:rPr>
              <a:t>》</a:t>
            </a:r>
            <a:r>
              <a:rPr lang="zh-CN" altLang="en-US" dirty="0">
                <a:solidFill>
                  <a:schemeClr val="bg1"/>
                </a:solidFill>
              </a:rPr>
              <a:t>长线的功率特性：入射波功率</a:t>
            </a:r>
            <a:r>
              <a:rPr lang="en-US" altLang="zh-CN" dirty="0">
                <a:solidFill>
                  <a:schemeClr val="bg1"/>
                </a:solidFill>
              </a:rPr>
              <a:t>Pin=</a:t>
            </a:r>
            <a:r>
              <a:rPr lang="zh-CN" altLang="en-US" dirty="0">
                <a:solidFill>
                  <a:schemeClr val="bg1"/>
                </a:solidFill>
              </a:rPr>
              <a:t>反射波功率</a:t>
            </a:r>
            <a:r>
              <a:rPr lang="en-US" altLang="zh-CN" dirty="0">
                <a:solidFill>
                  <a:schemeClr val="bg1"/>
                </a:solidFill>
              </a:rPr>
              <a:t>Pr+</a:t>
            </a:r>
            <a:r>
              <a:rPr lang="zh-CN" altLang="en-US" dirty="0">
                <a:solidFill>
                  <a:schemeClr val="bg1"/>
                </a:solidFill>
              </a:rPr>
              <a:t>透射波功率</a:t>
            </a:r>
            <a:r>
              <a:rPr lang="en-US" altLang="zh-CN" dirty="0">
                <a:solidFill>
                  <a:schemeClr val="bg1"/>
                </a:solidFill>
              </a:rPr>
              <a:t>Pt+</a:t>
            </a:r>
            <a:r>
              <a:rPr lang="zh-CN" altLang="en-US" dirty="0">
                <a:solidFill>
                  <a:schemeClr val="bg1"/>
                </a:solidFill>
              </a:rPr>
              <a:t>传输线损耗</a:t>
            </a:r>
            <a:r>
              <a:rPr lang="en-US" altLang="zh-CN" dirty="0">
                <a:solidFill>
                  <a:schemeClr val="bg1"/>
                </a:solidFill>
              </a:rPr>
              <a:t>Pd</a:t>
            </a:r>
          </a:p>
          <a:p>
            <a:pPr lvl="0" eaLnBrk="1" hangingPunct="1"/>
            <a:r>
              <a:rPr lang="zh-CN" altLang="en-US" dirty="0">
                <a:solidFill>
                  <a:schemeClr val="bg1"/>
                </a:solidFill>
              </a:rPr>
              <a:t>插入损耗</a:t>
            </a:r>
            <a:r>
              <a:rPr lang="en-US" altLang="zh-CN" dirty="0">
                <a:solidFill>
                  <a:schemeClr val="bg1"/>
                </a:solidFill>
              </a:rPr>
              <a:t>=Pin/Pt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对于一分二功分器，若不考虑传输线损耗，插入损耗</a:t>
            </a:r>
            <a:r>
              <a:rPr lang="en-US" altLang="zh-CN" dirty="0"/>
              <a:t>=-3dB</a:t>
            </a:r>
            <a:r>
              <a:rPr lang="zh-CN" altLang="en-US" dirty="0"/>
              <a:t>；若考虑传输线损耗，插入损耗</a:t>
            </a:r>
            <a:r>
              <a:rPr lang="en-US" altLang="zh-CN" dirty="0"/>
              <a:t>&lt;-3dB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  <a:endParaRPr lang="zh-CN" altLang="en-US" dirty="0"/>
          </a:p>
          <a:p>
            <a:pPr lvl="0" eaLnBrk="1" hangingPunct="1"/>
            <a:endParaRPr lang="en-US" altLang="zh-CN" dirty="0">
              <a:solidFill>
                <a:schemeClr val="bg1"/>
              </a:solidFill>
            </a:endParaRPr>
          </a:p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【</a:t>
            </a:r>
            <a:r>
              <a:rPr lang="zh-CN" altLang="en-US" dirty="0">
                <a:solidFill>
                  <a:schemeClr val="bg1"/>
                </a:solidFill>
              </a:rPr>
              <a:t>例</a:t>
            </a:r>
            <a:r>
              <a:rPr lang="en-US" altLang="zh-CN" dirty="0">
                <a:solidFill>
                  <a:schemeClr val="bg1"/>
                </a:solidFill>
              </a:rPr>
              <a:t>4.3.2】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）说明同轴线的传输功率如何计算。</a:t>
            </a:r>
            <a:endParaRPr lang="en-US" altLang="zh-CN" dirty="0">
              <a:solidFill>
                <a:schemeClr val="bg1"/>
              </a:solidFill>
            </a:endParaRPr>
          </a:p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1987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19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19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7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19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4035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40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40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8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40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/>
              <a:t> dS</a:t>
            </a:r>
            <a:r>
              <a:rPr lang="zh-CN" altLang="en-US" dirty="0"/>
              <a:t>的方向是横截面的法向，即纵向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坡印廷矢量和</a:t>
            </a:r>
            <a:r>
              <a:rPr lang="en-US" altLang="zh-CN" dirty="0"/>
              <a:t>dS</a:t>
            </a:r>
            <a:r>
              <a:rPr lang="zh-CN" altLang="en-US" dirty="0"/>
              <a:t>的点乘中：</a:t>
            </a:r>
            <a:r>
              <a:rPr lang="en-US" altLang="zh-CN" dirty="0"/>
              <a:t>S</a:t>
            </a:r>
            <a:r>
              <a:rPr lang="zh-CN" altLang="en-US" dirty="0"/>
              <a:t>是纵向的</a:t>
            </a:r>
            <a:endParaRPr lang="el-GR" altLang="zh-CN" dirty="0">
              <a:latin typeface="宋体" panose="02010600030101010101" pitchFamily="2" charset="-122"/>
            </a:endParaRPr>
          </a:p>
          <a:p>
            <a:pPr lvl="0" eaLnBrk="1" hangingPunct="1"/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608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60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60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9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60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813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81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481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10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81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/>
              <a:t>dS</a:t>
            </a:r>
            <a:r>
              <a:rPr lang="zh-CN" altLang="en-US" dirty="0"/>
              <a:t>的方向是横截面的径向</a:t>
            </a:r>
          </a:p>
          <a:p>
            <a:pPr lvl="0" eaLnBrk="1" hangingPunct="1"/>
            <a:r>
              <a:rPr lang="zh-CN" altLang="en-US" dirty="0"/>
              <a:t>坡印廷矢量和</a:t>
            </a:r>
            <a:r>
              <a:rPr lang="en-US" altLang="zh-CN" dirty="0"/>
              <a:t>dS</a:t>
            </a:r>
            <a:r>
              <a:rPr lang="zh-CN" altLang="en-US" dirty="0"/>
              <a:t>的点乘只有径向分量的</a:t>
            </a:r>
            <a:r>
              <a:rPr lang="en-US" altLang="zh-CN" dirty="0"/>
              <a:t>S</a:t>
            </a:r>
            <a:r>
              <a:rPr lang="zh-CN" altLang="en-US" dirty="0"/>
              <a:t>分量有用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017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01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01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11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01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8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19813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2843213" y="53975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第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4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时变电磁场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21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23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AutoShape 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3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11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9" Type="http://schemas.openxmlformats.org/officeDocument/2006/relationships/image" Target="../media/image5.png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5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image" Target="../media/image33.png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1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4.emf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374650" y="1054100"/>
            <a:ext cx="8229600" cy="490538"/>
          </a:xfrm>
          <a:noFill/>
          <a:ln>
            <a:noFill/>
          </a:ln>
        </p:spPr>
        <p:txBody>
          <a:bodyPr/>
          <a:lstStyle/>
          <a:p>
            <a:pPr algn="ctr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4.3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电磁能量守恒定律</a:t>
            </a:r>
            <a:r>
              <a:rPr lang="zh-CN" altLang="en-US" sz="1800" dirty="0">
                <a:solidFill>
                  <a:schemeClr val="bg1"/>
                </a:solidFill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28676" name="Rectangle 50"/>
          <p:cNvSpPr/>
          <p:nvPr/>
        </p:nvSpPr>
        <p:spPr>
          <a:xfrm>
            <a:off x="1763713" y="2133600"/>
            <a:ext cx="6119812" cy="2270125"/>
          </a:xfrm>
          <a:prstGeom prst="rect">
            <a:avLst/>
          </a:prstGeom>
          <a:solidFill>
            <a:srgbClr val="CCFFFF"/>
          </a:solidFill>
          <a:ln w="222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  </a:t>
            </a:r>
            <a:r>
              <a:rPr lang="zh-CN" altLang="en-US" sz="2800" dirty="0">
                <a:solidFill>
                  <a:srgbClr val="99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本节内容</a:t>
            </a:r>
            <a:endParaRPr lang="zh-CN" altLang="en-US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4.3.1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hlinkClick r:id="rId3" action="ppaction://hlinksldjump"/>
              </a:rPr>
              <a:t>电磁能量及守恒关系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 </a:t>
            </a:r>
            <a:endParaRPr lang="zh-CN" altLang="en-US" b="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en-US" dirty="0"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3.2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u="sng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坡印廷矢量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en-US" dirty="0"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3.3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u="sng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坡印廷定理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pSp>
        <p:nvGrpSpPr>
          <p:cNvPr id="731140" name="Group 4"/>
          <p:cNvGrpSpPr/>
          <p:nvPr/>
        </p:nvGrpSpPr>
        <p:grpSpPr>
          <a:xfrm>
            <a:off x="457200" y="1046163"/>
            <a:ext cx="3898900" cy="869950"/>
            <a:chOff x="249" y="614"/>
            <a:chExt cx="2456" cy="548"/>
          </a:xfrm>
        </p:grpSpPr>
        <p:sp>
          <p:nvSpPr>
            <p:cNvPr id="30740" name="Rectangle 5"/>
            <p:cNvSpPr/>
            <p:nvPr/>
          </p:nvSpPr>
          <p:spPr>
            <a:xfrm>
              <a:off x="249" y="709"/>
              <a:ext cx="17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fontAlgn="ctr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电场能量密度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30741" name="Object 6"/>
            <p:cNvGraphicFramePr>
              <a:graphicFrameLocks noChangeAspect="1"/>
            </p:cNvGraphicFramePr>
            <p:nvPr/>
          </p:nvGraphicFramePr>
          <p:xfrm>
            <a:off x="1647" y="614"/>
            <a:ext cx="105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23240" imgH="231140" progId="Equation.DSMT4">
                    <p:embed/>
                  </p:oleObj>
                </mc:Choice>
                <mc:Fallback>
                  <p:oleObj r:id="rId3" imgW="523240" imgH="231140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47" y="614"/>
                          <a:ext cx="1058" cy="5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1143" name="Group 7"/>
          <p:cNvGrpSpPr/>
          <p:nvPr/>
        </p:nvGrpSpPr>
        <p:grpSpPr>
          <a:xfrm>
            <a:off x="468313" y="2060575"/>
            <a:ext cx="4065587" cy="869950"/>
            <a:chOff x="249" y="1158"/>
            <a:chExt cx="2561" cy="548"/>
          </a:xfrm>
        </p:grpSpPr>
        <p:sp>
          <p:nvSpPr>
            <p:cNvPr id="30738" name="Rectangle 8"/>
            <p:cNvSpPr/>
            <p:nvPr/>
          </p:nvSpPr>
          <p:spPr>
            <a:xfrm>
              <a:off x="249" y="1282"/>
              <a:ext cx="18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fontAlgn="ctr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磁场能量密度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30739" name="Object 9"/>
            <p:cNvGraphicFramePr>
              <a:graphicFrameLocks noChangeAspect="1"/>
            </p:cNvGraphicFramePr>
            <p:nvPr/>
          </p:nvGraphicFramePr>
          <p:xfrm>
            <a:off x="1684" y="1158"/>
            <a:ext cx="1126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61975" imgH="231140" progId="Equation.DSMT4">
                    <p:embed/>
                  </p:oleObj>
                </mc:Choice>
                <mc:Fallback>
                  <p:oleObj r:id="rId5" imgW="561975" imgH="23114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84" y="1158"/>
                          <a:ext cx="1126" cy="5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1146" name="Group 10"/>
          <p:cNvGrpSpPr/>
          <p:nvPr/>
        </p:nvGrpSpPr>
        <p:grpSpPr>
          <a:xfrm>
            <a:off x="468313" y="2990850"/>
            <a:ext cx="6410325" cy="869950"/>
            <a:chOff x="249" y="1616"/>
            <a:chExt cx="4038" cy="548"/>
          </a:xfrm>
        </p:grpSpPr>
        <p:sp>
          <p:nvSpPr>
            <p:cNvPr id="30736" name="Rectangle 11"/>
            <p:cNvSpPr/>
            <p:nvPr/>
          </p:nvSpPr>
          <p:spPr>
            <a:xfrm>
              <a:off x="249" y="1736"/>
              <a:ext cx="21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fontAlgn="ctr" hangingPunct="1"/>
              <a:r>
                <a:rPr lang="zh-CN" altLang="en-US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电磁能量密度：</a:t>
              </a:r>
            </a:p>
          </p:txBody>
        </p:sp>
        <p:graphicFrame>
          <p:nvGraphicFramePr>
            <p:cNvPr id="30737" name="Object 12"/>
            <p:cNvGraphicFramePr>
              <a:graphicFrameLocks noChangeAspect="1"/>
            </p:cNvGraphicFramePr>
            <p:nvPr/>
          </p:nvGraphicFramePr>
          <p:xfrm>
            <a:off x="1693" y="1616"/>
            <a:ext cx="2594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382395" imgH="231140" progId="Equation.DSMT4">
                    <p:embed/>
                  </p:oleObj>
                </mc:Choice>
                <mc:Fallback>
                  <p:oleObj r:id="rId7" imgW="1382395" imgH="231140" progId="Equation.DSMT4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93" y="1616"/>
                          <a:ext cx="2594" cy="5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26" name="Rectangle 14"/>
          <p:cNvSpPr/>
          <p:nvPr/>
        </p:nvSpPr>
        <p:spPr>
          <a:xfrm>
            <a:off x="473075" y="3822700"/>
            <a:ext cx="4546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空间区域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中的电磁能量：</a:t>
            </a:r>
          </a:p>
        </p:txBody>
      </p:sp>
      <p:sp>
        <p:nvSpPr>
          <p:cNvPr id="731152" name="Text Box 16"/>
          <p:cNvSpPr txBox="1"/>
          <p:nvPr/>
        </p:nvSpPr>
        <p:spPr>
          <a:xfrm>
            <a:off x="107950" y="5465841"/>
            <a:ext cx="903605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特点：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当场随时间变化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时，空间各点的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电磁场能量密度也要随时间改变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，从而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引起电磁能量</a:t>
            </a:r>
            <a:r>
              <a:rPr lang="zh-CN" altLang="en-US" u="sng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流动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31155" name="Text Box 19"/>
          <p:cNvSpPr txBox="1"/>
          <p:nvPr/>
        </p:nvSpPr>
        <p:spPr>
          <a:xfrm>
            <a:off x="69850" y="523875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9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电磁能量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3F17D539-D07B-F00A-B2A0-A03D47B403E2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476250"/>
            <a:ext cx="3240087" cy="2160588"/>
            <a:chOff x="3697" y="300"/>
            <a:chExt cx="2041" cy="1361"/>
          </a:xfrm>
        </p:grpSpPr>
        <p:sp>
          <p:nvSpPr>
            <p:cNvPr id="3" name="Rectangle 19">
              <a:extLst>
                <a:ext uri="{FF2B5EF4-FFF2-40B4-BE49-F238E27FC236}">
                  <a16:creationId xmlns:a16="http://schemas.microsoft.com/office/drawing/2014/main" id="{1AA749B5-5E61-3E1F-B9FC-7F1281DE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300"/>
              <a:ext cx="2041" cy="136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Freeform 20">
              <a:extLst>
                <a:ext uri="{FF2B5EF4-FFF2-40B4-BE49-F238E27FC236}">
                  <a16:creationId xmlns:a16="http://schemas.microsoft.com/office/drawing/2014/main" id="{895D4417-58BC-A481-DEF6-61A105127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" y="300"/>
              <a:ext cx="1678" cy="1286"/>
            </a:xfrm>
            <a:custGeom>
              <a:avLst/>
              <a:gdLst>
                <a:gd name="T0" fmla="*/ 140 w 1650"/>
                <a:gd name="T1" fmla="*/ 879 h 1286"/>
                <a:gd name="T2" fmla="*/ 62 w 1650"/>
                <a:gd name="T3" fmla="*/ 494 h 1286"/>
                <a:gd name="T4" fmla="*/ 514 w 1650"/>
                <a:gd name="T5" fmla="*/ 57 h 1286"/>
                <a:gd name="T6" fmla="*/ 1282 w 1650"/>
                <a:gd name="T7" fmla="*/ 154 h 1286"/>
                <a:gd name="T8" fmla="*/ 1643 w 1650"/>
                <a:gd name="T9" fmla="*/ 590 h 1286"/>
                <a:gd name="T10" fmla="*/ 1326 w 1650"/>
                <a:gd name="T11" fmla="*/ 1173 h 1286"/>
                <a:gd name="T12" fmla="*/ 694 w 1650"/>
                <a:gd name="T13" fmla="*/ 1269 h 1286"/>
                <a:gd name="T14" fmla="*/ 412 w 1650"/>
                <a:gd name="T15" fmla="*/ 1183 h 1286"/>
                <a:gd name="T16" fmla="*/ 268 w 1650"/>
                <a:gd name="T17" fmla="*/ 1044 h 1286"/>
                <a:gd name="T18" fmla="*/ 140 w 1650"/>
                <a:gd name="T19" fmla="*/ 879 h 1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0" h="1286">
                  <a:moveTo>
                    <a:pt x="140" y="879"/>
                  </a:moveTo>
                  <a:cubicBezTo>
                    <a:pt x="106" y="787"/>
                    <a:pt x="0" y="631"/>
                    <a:pt x="62" y="494"/>
                  </a:cubicBezTo>
                  <a:cubicBezTo>
                    <a:pt x="124" y="357"/>
                    <a:pt x="311" y="113"/>
                    <a:pt x="514" y="57"/>
                  </a:cubicBezTo>
                  <a:cubicBezTo>
                    <a:pt x="717" y="0"/>
                    <a:pt x="1093" y="65"/>
                    <a:pt x="1282" y="154"/>
                  </a:cubicBezTo>
                  <a:cubicBezTo>
                    <a:pt x="1470" y="243"/>
                    <a:pt x="1636" y="420"/>
                    <a:pt x="1643" y="590"/>
                  </a:cubicBezTo>
                  <a:cubicBezTo>
                    <a:pt x="1650" y="760"/>
                    <a:pt x="1485" y="1059"/>
                    <a:pt x="1326" y="1173"/>
                  </a:cubicBezTo>
                  <a:cubicBezTo>
                    <a:pt x="1168" y="1286"/>
                    <a:pt x="846" y="1267"/>
                    <a:pt x="694" y="1269"/>
                  </a:cubicBezTo>
                  <a:cubicBezTo>
                    <a:pt x="542" y="1271"/>
                    <a:pt x="483" y="1220"/>
                    <a:pt x="412" y="1183"/>
                  </a:cubicBezTo>
                  <a:cubicBezTo>
                    <a:pt x="341" y="1146"/>
                    <a:pt x="313" y="1095"/>
                    <a:pt x="268" y="1044"/>
                  </a:cubicBezTo>
                  <a:cubicBezTo>
                    <a:pt x="223" y="993"/>
                    <a:pt x="174" y="971"/>
                    <a:pt x="140" y="879"/>
                  </a:cubicBezTo>
                  <a:close/>
                </a:path>
              </a:pathLst>
            </a:custGeom>
            <a:gradFill rotWithShape="1">
              <a:gsLst>
                <a:gs pos="0">
                  <a:srgbClr val="72B691">
                    <a:gamma/>
                    <a:shade val="36078"/>
                    <a:invGamma/>
                  </a:srgbClr>
                </a:gs>
                <a:gs pos="100000">
                  <a:srgbClr val="72B691"/>
                </a:gs>
              </a:gsLst>
              <a:lin ang="18900000" scaled="1"/>
            </a:gradFill>
            <a:ln w="158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" name="Object 21">
              <a:extLst>
                <a:ext uri="{FF2B5EF4-FFF2-40B4-BE49-F238E27FC236}">
                  <a16:creationId xmlns:a16="http://schemas.microsoft.com/office/drawing/2014/main" id="{4AEA206C-4ACE-23BE-E9A9-2A3C822BE5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2" y="572"/>
            <a:ext cx="449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1960" imgH="393480" progId="Equation.DSMT4">
                    <p:embed/>
                  </p:oleObj>
                </mc:Choice>
                <mc:Fallback>
                  <p:oleObj name="Equation" r:id="rId10" imgW="291960" imgH="393480" progId="Equation.DSMT4">
                    <p:embed/>
                    <p:pic>
                      <p:nvPicPr>
                        <p:cNvPr id="15381" name="Object 21">
                          <a:extLst>
                            <a:ext uri="{FF2B5EF4-FFF2-40B4-BE49-F238E27FC236}">
                              <a16:creationId xmlns:a16="http://schemas.microsoft.com/office/drawing/2014/main" id="{747FFF22-BAEC-6F2D-48EF-931C21554B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572"/>
                          <a:ext cx="449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22">
              <a:extLst>
                <a:ext uri="{FF2B5EF4-FFF2-40B4-BE49-F238E27FC236}">
                  <a16:creationId xmlns:a16="http://schemas.microsoft.com/office/drawing/2014/main" id="{384F7BCD-5DF1-45AB-D951-1E510885E9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3" y="1026"/>
            <a:ext cx="23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80" imgH="177480" progId="Equation.DSMT4">
                    <p:embed/>
                  </p:oleObj>
                </mc:Choice>
                <mc:Fallback>
                  <p:oleObj name="Equation" r:id="rId12" imgW="152280" imgH="177480" progId="Equation.DSMT4">
                    <p:embed/>
                    <p:pic>
                      <p:nvPicPr>
                        <p:cNvPr id="15382" name="Object 22">
                          <a:extLst>
                            <a:ext uri="{FF2B5EF4-FFF2-40B4-BE49-F238E27FC236}">
                              <a16:creationId xmlns:a16="http://schemas.microsoft.com/office/drawing/2014/main" id="{F025B8A3-A034-30BB-F969-AD7549468F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1026"/>
                          <a:ext cx="234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23">
              <a:extLst>
                <a:ext uri="{FF2B5EF4-FFF2-40B4-BE49-F238E27FC236}">
                  <a16:creationId xmlns:a16="http://schemas.microsoft.com/office/drawing/2014/main" id="{CA07CC24-8B44-BB4A-ABA7-55BC7990B0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1237"/>
            <a:ext cx="21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177480" progId="Equation.DSMT4">
                    <p:embed/>
                  </p:oleObj>
                </mc:Choice>
                <mc:Fallback>
                  <p:oleObj name="Equation" r:id="rId14" imgW="139680" imgH="177480" progId="Equation.DSMT4">
                    <p:embed/>
                    <p:pic>
                      <p:nvPicPr>
                        <p:cNvPr id="15383" name="Object 23">
                          <a:extLst>
                            <a:ext uri="{FF2B5EF4-FFF2-40B4-BE49-F238E27FC236}">
                              <a16:creationId xmlns:a16="http://schemas.microsoft.com/office/drawing/2014/main" id="{9400FA27-C30B-6FFF-AE5C-2D1E4035DC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1237"/>
                          <a:ext cx="214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1DD5B1A5-2ADD-ADE3-A082-1AE70E0A978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737" y="4411447"/>
            <a:ext cx="7248525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3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3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3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52" grpId="0"/>
      <p:bldP spid="7311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3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06608" name="Rectangle 48"/>
          <p:cNvSpPr/>
          <p:nvPr/>
        </p:nvSpPr>
        <p:spPr>
          <a:xfrm>
            <a:off x="1692275" y="450850"/>
            <a:ext cx="55435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68605" font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：表征电磁能量守恒关系的定理。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06610" name="Rectangle 50"/>
          <p:cNvSpPr/>
          <p:nvPr/>
        </p:nvSpPr>
        <p:spPr>
          <a:xfrm>
            <a:off x="-107950" y="1700213"/>
            <a:ext cx="28813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积分形式：</a:t>
            </a:r>
          </a:p>
        </p:txBody>
      </p:sp>
      <p:graphicFrame>
        <p:nvGraphicFramePr>
          <p:cNvPr id="706612" name="Object 52"/>
          <p:cNvGraphicFramePr>
            <a:graphicFrameLocks noChangeAspect="1"/>
          </p:cNvGraphicFramePr>
          <p:nvPr/>
        </p:nvGraphicFramePr>
        <p:xfrm>
          <a:off x="1476375" y="1597025"/>
          <a:ext cx="7667625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97735" imgH="556260" progId="Equation.3">
                  <p:embed/>
                </p:oleObj>
              </mc:Choice>
              <mc:Fallback>
                <p:oleObj r:id="rId3" imgW="2197735" imgH="55626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1597025"/>
                        <a:ext cx="7667625" cy="226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3" name="Object 53"/>
          <p:cNvGraphicFramePr>
            <a:graphicFrameLocks noChangeAspect="1"/>
          </p:cNvGraphicFramePr>
          <p:nvPr/>
        </p:nvGraphicFramePr>
        <p:xfrm>
          <a:off x="284163" y="4767263"/>
          <a:ext cx="140811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13385" imgH="214630" progId="Equation.3">
                  <p:embed/>
                </p:oleObj>
              </mc:Choice>
              <mc:Fallback>
                <p:oleObj r:id="rId5" imgW="413385" imgH="21463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163" y="4767263"/>
                        <a:ext cx="1408112" cy="893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4" name="Object 54"/>
          <p:cNvGraphicFramePr>
            <a:graphicFrameLocks noChangeAspect="1"/>
          </p:cNvGraphicFramePr>
          <p:nvPr/>
        </p:nvGraphicFramePr>
        <p:xfrm>
          <a:off x="250825" y="3952875"/>
          <a:ext cx="309721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58215" imgH="226060" progId="Equation.3">
                  <p:embed/>
                </p:oleObj>
              </mc:Choice>
              <mc:Fallback>
                <p:oleObj r:id="rId7" imgW="958215" imgH="22606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0825" y="3952875"/>
                        <a:ext cx="3097213" cy="915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5" name="Object 55"/>
          <p:cNvGraphicFramePr>
            <a:graphicFrameLocks noChangeAspect="1"/>
          </p:cNvGraphicFramePr>
          <p:nvPr/>
        </p:nvGraphicFramePr>
        <p:xfrm>
          <a:off x="396875" y="3224213"/>
          <a:ext cx="1727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28955" imgH="214630" progId="Equation.3">
                  <p:embed/>
                </p:oleObj>
              </mc:Choice>
              <mc:Fallback>
                <p:oleObj r:id="rId9" imgW="528955" imgH="21463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6875" y="3224213"/>
                        <a:ext cx="17272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7" name="Text Box 57"/>
          <p:cNvSpPr txBox="1"/>
          <p:nvPr/>
        </p:nvSpPr>
        <p:spPr>
          <a:xfrm>
            <a:off x="69850" y="450850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11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坡印廷定理</a:t>
            </a:r>
          </a:p>
        </p:txBody>
      </p:sp>
      <p:sp>
        <p:nvSpPr>
          <p:cNvPr id="706619" name="Rectangle 59"/>
          <p:cNvSpPr/>
          <p:nvPr/>
        </p:nvSpPr>
        <p:spPr>
          <a:xfrm>
            <a:off x="-79375" y="1052513"/>
            <a:ext cx="1801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fontAlgn="ctr"/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微分形式：</a:t>
            </a:r>
          </a:p>
        </p:txBody>
      </p:sp>
      <p:sp>
        <p:nvSpPr>
          <p:cNvPr id="706620" name="Text Box 60"/>
          <p:cNvSpPr txBox="1"/>
          <p:nvPr/>
        </p:nvSpPr>
        <p:spPr>
          <a:xfrm>
            <a:off x="-107950" y="4087813"/>
            <a:ext cx="9251950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2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            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：单位时间内体积</a:t>
            </a:r>
            <a:r>
              <a:rPr lang="en-US" altLang="zh-CN" i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中增加的电磁场能量。</a:t>
            </a:r>
          </a:p>
        </p:txBody>
      </p:sp>
      <p:sp>
        <p:nvSpPr>
          <p:cNvPr id="706622" name="Text Box 62"/>
          <p:cNvSpPr txBox="1"/>
          <p:nvPr/>
        </p:nvSpPr>
        <p:spPr>
          <a:xfrm>
            <a:off x="-107950" y="3367088"/>
            <a:ext cx="9251950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2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：单位时间内通过曲面</a:t>
            </a:r>
            <a:r>
              <a:rPr lang="en-US" altLang="zh-CN" i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S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进入体积</a:t>
            </a:r>
            <a:r>
              <a:rPr lang="en-US" altLang="zh-CN" i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V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的电磁能量。</a:t>
            </a:r>
          </a:p>
        </p:txBody>
      </p:sp>
      <p:sp>
        <p:nvSpPr>
          <p:cNvPr id="706623" name="Text Box 63"/>
          <p:cNvSpPr txBox="1"/>
          <p:nvPr/>
        </p:nvSpPr>
        <p:spPr>
          <a:xfrm>
            <a:off x="-107950" y="4691063"/>
            <a:ext cx="9251950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2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：单位时间内电场对体积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中的电流所做的功。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None/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（在导电媒质中，即为体积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内的焦耳热损耗）</a:t>
            </a:r>
          </a:p>
        </p:txBody>
      </p:sp>
      <p:sp>
        <p:nvSpPr>
          <p:cNvPr id="706624" name="Text Box 64"/>
          <p:cNvSpPr txBox="1"/>
          <p:nvPr/>
        </p:nvSpPr>
        <p:spPr>
          <a:xfrm>
            <a:off x="34925" y="5734050"/>
            <a:ext cx="9072563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2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物理意义：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单位时间内，通过曲面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进入体积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的电磁能量等于体积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中所增加的电磁场能量与损耗的能量之和。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E3D230-2AA5-11ED-A36B-D0DF10784D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7664" y="908022"/>
            <a:ext cx="5035646" cy="7906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0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0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0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0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70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70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70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0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70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70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8" grpId="0"/>
      <p:bldP spid="706610" grpId="0"/>
      <p:bldP spid="706617" grpId="0"/>
      <p:bldP spid="706619" grpId="0"/>
      <p:bldP spid="706620" grpId="0"/>
      <p:bldP spid="706622" grpId="0"/>
      <p:bldP spid="706623" grpId="0"/>
      <p:bldP spid="7066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4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34832" name="Text Box 14"/>
          <p:cNvSpPr txBox="1"/>
          <p:nvPr/>
        </p:nvSpPr>
        <p:spPr>
          <a:xfrm>
            <a:off x="0" y="1989138"/>
            <a:ext cx="6121400" cy="5254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定义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08625" name="Text Box 17"/>
          <p:cNvSpPr txBox="1"/>
          <p:nvPr/>
        </p:nvSpPr>
        <p:spPr>
          <a:xfrm>
            <a:off x="34925" y="3078163"/>
            <a:ext cx="4392613" cy="56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物理意义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30" name="Rectangle 18"/>
          <p:cNvSpPr/>
          <p:nvPr/>
        </p:nvSpPr>
        <p:spPr>
          <a:xfrm>
            <a:off x="468313" y="3979863"/>
            <a:ext cx="5761037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的方向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：能量的流动方向，即电磁</a:t>
            </a:r>
          </a:p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能量传输的方向。</a:t>
            </a:r>
          </a:p>
        </p:txBody>
      </p:sp>
      <p:sp>
        <p:nvSpPr>
          <p:cNvPr id="34828" name="Rectangle 20"/>
          <p:cNvSpPr/>
          <p:nvPr/>
        </p:nvSpPr>
        <p:spPr>
          <a:xfrm>
            <a:off x="468313" y="4878388"/>
            <a:ext cx="8675687" cy="1516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的大小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：表示单位时间内穿过与能量流动方向相垂直的单位</a:t>
            </a:r>
          </a:p>
          <a:p>
            <a:pPr marL="342900" indent="-342900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面积的能量，即通过垂直于能量传输方向的单位面积的电磁功</a:t>
            </a:r>
          </a:p>
          <a:p>
            <a:pPr marL="342900" indent="-342900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率。</a:t>
            </a:r>
          </a:p>
        </p:txBody>
      </p:sp>
      <p:sp>
        <p:nvSpPr>
          <p:cNvPr id="708630" name="Rectangle 22"/>
          <p:cNvSpPr/>
          <p:nvPr/>
        </p:nvSpPr>
        <p:spPr>
          <a:xfrm>
            <a:off x="107950" y="1387475"/>
            <a:ext cx="8424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描述时变电磁场中电磁能量传输的一个重要物理量。</a:t>
            </a:r>
          </a:p>
        </p:txBody>
      </p:sp>
      <p:sp>
        <p:nvSpPr>
          <p:cNvPr id="708644" name="Text Box 36"/>
          <p:cNvSpPr txBox="1"/>
          <p:nvPr/>
        </p:nvSpPr>
        <p:spPr>
          <a:xfrm>
            <a:off x="69850" y="692150"/>
            <a:ext cx="7526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4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坡印廷矢量（电磁能流密度矢量）</a:t>
            </a:r>
          </a:p>
        </p:txBody>
      </p:sp>
      <p:graphicFrame>
        <p:nvGraphicFramePr>
          <p:cNvPr id="34826" name="Object 42"/>
          <p:cNvGraphicFramePr>
            <a:graphicFrameLocks noChangeAspect="1"/>
          </p:cNvGraphicFramePr>
          <p:nvPr/>
        </p:nvGraphicFramePr>
        <p:xfrm>
          <a:off x="5653088" y="2043113"/>
          <a:ext cx="3311525" cy="268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25625" imgH="1420495" progId="Word.Picture.8">
                  <p:embed/>
                </p:oleObj>
              </mc:Choice>
              <mc:Fallback>
                <p:oleObj r:id="rId5" imgW="1825625" imgH="1420495" progId="Word.Picture.8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53088" y="2043113"/>
                        <a:ext cx="3311525" cy="2681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31C6035-E7B0-87A1-58B1-27760CADC6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875" y="1937584"/>
            <a:ext cx="3200000" cy="6285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834603-C229-610D-7E04-E95FFDA1CA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60" y="3955871"/>
            <a:ext cx="240369" cy="3933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BCE1F9-FA3A-1E1E-8CEA-76D01CB7D2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59" y="4913494"/>
            <a:ext cx="240369" cy="3933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0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25" grpId="0"/>
      <p:bldP spid="708630" grpId="0"/>
      <p:bldP spid="7086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5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-107950" y="552450"/>
            <a:ext cx="9251950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4.3.1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一根长度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、横截面</a:t>
            </a:r>
            <a:r>
              <a:rPr lang="en-US" altLang="zh-CN" i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的导线两端电位差为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，导线的电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导率为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。求当电流流过导线时电场能量的损耗。</a:t>
            </a:r>
          </a:p>
        </p:txBody>
      </p:sp>
      <p:sp>
        <p:nvSpPr>
          <p:cNvPr id="813060" name="Text Box 4"/>
          <p:cNvSpPr txBox="1"/>
          <p:nvPr/>
        </p:nvSpPr>
        <p:spPr>
          <a:xfrm>
            <a:off x="-107950" y="1808163"/>
            <a:ext cx="8053388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当导线两端存在电位差时，导线中会产生电场，即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813064" name="Text Box 8"/>
          <p:cNvSpPr txBox="1"/>
          <p:nvPr/>
        </p:nvSpPr>
        <p:spPr>
          <a:xfrm>
            <a:off x="280988" y="4838700"/>
            <a:ext cx="8510587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可见，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电场对电荷做功导致电场能量消耗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电场能量通过做功转换为光、热、机械能或其他形式的能量。</a:t>
            </a:r>
          </a:p>
        </p:txBody>
      </p:sp>
      <p:graphicFrame>
        <p:nvGraphicFramePr>
          <p:cNvPr id="813069" name="Object 13"/>
          <p:cNvGraphicFramePr>
            <a:graphicFrameLocks noChangeAspect="1"/>
          </p:cNvGraphicFramePr>
          <p:nvPr/>
        </p:nvGraphicFramePr>
        <p:xfrm>
          <a:off x="611188" y="2320925"/>
          <a:ext cx="770572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06575" imgH="446405" progId="Equation.3">
                  <p:embed/>
                </p:oleObj>
              </mc:Choice>
              <mc:Fallback>
                <p:oleObj r:id="rId3" imgW="1806575" imgH="44640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2320925"/>
                        <a:ext cx="7705725" cy="208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0" grpId="0"/>
      <p:bldP spid="8130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4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6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21930" name="Rectangle 10"/>
          <p:cNvSpPr/>
          <p:nvPr/>
        </p:nvSpPr>
        <p:spPr>
          <a:xfrm>
            <a:off x="105742" y="211453"/>
            <a:ext cx="9053512" cy="42288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40000"/>
              </a:lnSpc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4.3.2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】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同轴线的内导体半径为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、外导体的内半径为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，其间填充均匀的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理想介质</a:t>
            </a:r>
            <a:r>
              <a:rPr lang="zh-CN" altLang="en-US" i="1" u="sng" dirty="0">
                <a:solidFill>
                  <a:srgbClr val="D60093"/>
                </a:solidFill>
                <a:latin typeface="Times New Roman" panose="02020603050405020304" pitchFamily="18" charset="0"/>
                <a:ea typeface="楷体_GB2312" pitchFamily="49" charset="-122"/>
              </a:rPr>
              <a:t>（无介质损耗、无漏电流）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。设内外导体间的电压为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，导体中流过的电流为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fontAlgn="ctr" hangingPunct="1"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）在导体为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理想导体</a:t>
            </a:r>
            <a:r>
              <a:rPr lang="zh-CN" altLang="en-US" i="1" u="sng" dirty="0">
                <a:solidFill>
                  <a:srgbClr val="D60093"/>
                </a:solidFill>
                <a:latin typeface="Times New Roman" panose="02020603050405020304" pitchFamily="18" charset="0"/>
                <a:ea typeface="楷体_GB2312" pitchFamily="49" charset="-122"/>
              </a:rPr>
              <a:t>（此时</a:t>
            </a:r>
            <a:r>
              <a:rPr lang="zh-CN" altLang="en-US" i="1" u="sng" dirty="0">
                <a:solidFill>
                  <a:srgbClr val="D60093"/>
                </a:solidFill>
                <a:ea typeface="楷体_GB2312" pitchFamily="49" charset="-122"/>
              </a:rPr>
              <a:t>无恒定电场</a:t>
            </a:r>
            <a:r>
              <a:rPr lang="zh-CN" altLang="en-US" i="1" u="sng" dirty="0">
                <a:solidFill>
                  <a:srgbClr val="D60093"/>
                </a:solidFill>
                <a:latin typeface="Times New Roman" panose="02020603050405020304" pitchFamily="18" charset="0"/>
                <a:ea typeface="楷体_GB2312" pitchFamily="49" charset="-122"/>
              </a:rPr>
              <a:t>、不存在导体损耗）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的情况下，计算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同轴线中</a:t>
            </a:r>
            <a:r>
              <a:rPr lang="zh-CN" altLang="en-US" u="sng" dirty="0">
                <a:solidFill>
                  <a:srgbClr val="FF7C80"/>
                </a:solidFill>
                <a:latin typeface="Times New Roman" panose="02020603050405020304" pitchFamily="18" charset="0"/>
                <a:ea typeface="楷体_GB2312" pitchFamily="49" charset="-122"/>
              </a:rPr>
              <a:t>传输的功率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fontAlgn="ctr" hangingPunct="1"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当导体的电导率</a:t>
            </a:r>
            <a:r>
              <a:rPr lang="el-GR" altLang="zh-CN" i="1" u="sng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σ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为有限值</a:t>
            </a:r>
            <a:r>
              <a:rPr lang="zh-CN" altLang="en-US" i="1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（此时</a:t>
            </a:r>
            <a:r>
              <a:rPr lang="zh-CN" altLang="en-US" i="1" u="sng" dirty="0">
                <a:solidFill>
                  <a:srgbClr val="D60093"/>
                </a:solidFill>
              </a:rPr>
              <a:t>要考虑恒定电场、</a:t>
            </a:r>
            <a:r>
              <a:rPr lang="zh-CN" altLang="en-US" i="1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存在导体损耗）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时，计算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通过内导体表面</a:t>
            </a:r>
            <a:r>
              <a:rPr lang="zh-CN" altLang="en-US" u="sng" dirty="0">
                <a:solidFill>
                  <a:srgbClr val="FF7C80"/>
                </a:solidFill>
                <a:latin typeface="Times New Roman" panose="02020603050405020304" pitchFamily="18" charset="0"/>
                <a:ea typeface="楷体_GB2312" pitchFamily="49" charset="-122"/>
              </a:rPr>
              <a:t>进入每单位长度内导体的功率</a:t>
            </a:r>
            <a:r>
              <a:rPr lang="zh-CN" altLang="en-US" i="1" u="sng" dirty="0">
                <a:solidFill>
                  <a:srgbClr val="D60093"/>
                </a:solidFill>
                <a:latin typeface="Times New Roman" panose="02020603050405020304" pitchFamily="18" charset="0"/>
                <a:ea typeface="楷体_GB2312" pitchFamily="49" charset="-122"/>
              </a:rPr>
              <a:t>（对应焦耳热损耗功率</a:t>
            </a:r>
            <a:r>
              <a:rPr lang="zh-CN" altLang="en-US" i="1" u="sng" dirty="0">
                <a:solidFill>
                  <a:srgbClr val="D60093"/>
                </a:solidFill>
                <a:latin typeface="楷体_GB2312" pitchFamily="49" charset="-122"/>
                <a:ea typeface="楷体_GB2312" pitchFamily="49" charset="-122"/>
              </a:rPr>
              <a:t>←→即导体损耗</a:t>
            </a:r>
            <a:r>
              <a:rPr lang="zh-CN" altLang="en-US" i="1" u="sng" dirty="0">
                <a:solidFill>
                  <a:srgbClr val="D60093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721947" name="Group 27"/>
          <p:cNvGrpSpPr/>
          <p:nvPr/>
        </p:nvGrpSpPr>
        <p:grpSpPr>
          <a:xfrm>
            <a:off x="1883109" y="4363158"/>
            <a:ext cx="5498778" cy="2535897"/>
            <a:chOff x="1044" y="1885"/>
            <a:chExt cx="3514" cy="1772"/>
          </a:xfrm>
        </p:grpSpPr>
        <p:sp>
          <p:nvSpPr>
            <p:cNvPr id="38917" name="Rectangle 23"/>
            <p:cNvSpPr/>
            <p:nvPr/>
          </p:nvSpPr>
          <p:spPr>
            <a:xfrm>
              <a:off x="1065" y="1933"/>
              <a:ext cx="3493" cy="17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891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778273"/>
                </p:ext>
              </p:extLst>
            </p:nvPr>
          </p:nvGraphicFramePr>
          <p:xfrm>
            <a:off x="1044" y="1885"/>
            <a:ext cx="3448" cy="1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733800" imgH="1289685" progId="Word.Picture.8">
                    <p:embed/>
                  </p:oleObj>
                </mc:Choice>
                <mc:Fallback>
                  <p:oleObj r:id="rId3" imgW="3733800" imgH="1289685" progId="Word.Picture.8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44" y="1885"/>
                          <a:ext cx="3448" cy="1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9" name="Text Box 26"/>
            <p:cNvSpPr txBox="1"/>
            <p:nvPr/>
          </p:nvSpPr>
          <p:spPr>
            <a:xfrm>
              <a:off x="1383" y="3229"/>
              <a:ext cx="28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fontAlgn="ctr" hangingPunct="1"/>
              <a:r>
                <a:rPr lang="zh-CN" altLang="en-US" sz="2000" dirty="0">
                  <a:latin typeface="Times New Roman" panose="02020603050405020304" pitchFamily="18" charset="0"/>
                </a:rPr>
                <a:t>同轴线</a:t>
              </a:r>
              <a:endParaRPr lang="zh-CN" altLang="en-US" sz="200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4642652-D6A6-6FBF-4C55-F2D7B78B2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144" y="1432145"/>
            <a:ext cx="2000000" cy="5333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C7BB52-C222-A754-4950-D01770897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144" y="2467596"/>
            <a:ext cx="1885714" cy="514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2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2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3C44F3-25B6-62AD-7E87-884AF6F46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164421"/>
            <a:ext cx="5041354" cy="751328"/>
          </a:xfrm>
          <a:prstGeom prst="rect">
            <a:avLst/>
          </a:prstGeom>
        </p:spPr>
      </p:pic>
      <p:sp>
        <p:nvSpPr>
          <p:cNvPr id="40962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7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54690" name="Rectangle 2"/>
          <p:cNvSpPr/>
          <p:nvPr/>
        </p:nvSpPr>
        <p:spPr>
          <a:xfrm>
            <a:off x="106363" y="260350"/>
            <a:ext cx="9037637" cy="1990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在内外导体为理想导体的情况下</a:t>
            </a:r>
            <a:r>
              <a:rPr lang="en-US" altLang="zh-CN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zh-CN" altLang="en-US" u="sng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电场和磁场只存在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于内外导体之间的</a:t>
            </a:r>
            <a:r>
              <a:rPr lang="zh-CN" altLang="en-US" u="sng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理想介质中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，内外导体表面的电场无切向分量，只有电场的径向分量。利用高斯定理和安培环路定理，容易求得内外导体之间理想介质中的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静电场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恒定磁场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分别为</a:t>
            </a:r>
          </a:p>
        </p:txBody>
      </p:sp>
      <p:sp>
        <p:nvSpPr>
          <p:cNvPr id="754696" name="Rectangle 8"/>
          <p:cNvSpPr/>
          <p:nvPr/>
        </p:nvSpPr>
        <p:spPr>
          <a:xfrm>
            <a:off x="107950" y="3284538"/>
            <a:ext cx="6480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内外导体之间任意横截面上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的坡印廷矢量</a:t>
            </a:r>
          </a:p>
        </p:txBody>
      </p:sp>
      <p:sp>
        <p:nvSpPr>
          <p:cNvPr id="40968" name="Oval 10"/>
          <p:cNvSpPr/>
          <p:nvPr/>
        </p:nvSpPr>
        <p:spPr>
          <a:xfrm>
            <a:off x="395288" y="2708275"/>
            <a:ext cx="8064500" cy="187325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0971" name="文本框 1"/>
          <p:cNvSpPr txBox="1"/>
          <p:nvPr/>
        </p:nvSpPr>
        <p:spPr>
          <a:xfrm>
            <a:off x="668338" y="2852738"/>
            <a:ext cx="72723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宋体" panose="02010600030101010101" pitchFamily="2" charset="-122"/>
              </a:rPr>
              <a:t>（由</a:t>
            </a:r>
            <a:r>
              <a:rPr lang="en-US" altLang="zh-CN" sz="1800" dirty="0">
                <a:solidFill>
                  <a:srgbClr val="FF9933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宋体" panose="02010600030101010101" pitchFamily="2" charset="-122"/>
              </a:rPr>
              <a:t>【</a:t>
            </a:r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例</a:t>
            </a:r>
            <a:r>
              <a:rPr lang="en-US" altLang="zh-CN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3.1.2 】U</a:t>
            </a:r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的</a:t>
            </a:r>
            <a:r>
              <a:rPr lang="en-US" altLang="zh-CN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表达式得出）</a:t>
            </a:r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FF9933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宋体" panose="02010600030101010101" pitchFamily="2" charset="-122"/>
              </a:rPr>
              <a:t>【</a:t>
            </a:r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例</a:t>
            </a:r>
            <a:r>
              <a:rPr lang="en-US" altLang="zh-CN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2.3.3 】</a:t>
            </a:r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）的结论）</a:t>
            </a:r>
            <a:r>
              <a:rPr lang="en-US" altLang="zh-CN" sz="1800" dirty="0">
                <a:solidFill>
                  <a:srgbClr val="FF9933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 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13ADF6-1ACD-BB46-29A8-8586C0204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699275"/>
            <a:ext cx="5368408" cy="6996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BAB239-4BBE-C1E5-BB0F-86CD9562C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4398963"/>
            <a:ext cx="5562600" cy="2486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75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5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0" grpId="0"/>
      <p:bldP spid="75469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8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55719" name="Rectangle 7"/>
          <p:cNvSpPr/>
          <p:nvPr/>
        </p:nvSpPr>
        <p:spPr>
          <a:xfrm>
            <a:off x="179388" y="333375"/>
            <a:ext cx="8856662" cy="1041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zh-CN" altLang="en-US" u="sng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电磁能量在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内外导体之间的</a:t>
            </a:r>
            <a:r>
              <a:rPr lang="zh-CN" altLang="en-US" u="sng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介质中沿轴方向流动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，即由电源流向负载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55722" name="Rectangle 10"/>
          <p:cNvSpPr/>
          <p:nvPr/>
        </p:nvSpPr>
        <p:spPr>
          <a:xfrm>
            <a:off x="107950" y="4730750"/>
            <a:ext cx="8856663" cy="5730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zh-CN" altLang="en-US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穿过任意横截面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的功率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</a:p>
        </p:txBody>
      </p:sp>
      <p:graphicFrame>
        <p:nvGraphicFramePr>
          <p:cNvPr id="813069" name="Object 13"/>
          <p:cNvGraphicFramePr>
            <a:graphicFrameLocks noChangeAspect="1"/>
          </p:cNvGraphicFramePr>
          <p:nvPr/>
        </p:nvGraphicFramePr>
        <p:xfrm>
          <a:off x="1330325" y="5443538"/>
          <a:ext cx="6265863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48130" imgH="253365" progId="Equation.3">
                  <p:embed/>
                </p:oleObj>
              </mc:Choice>
              <mc:Fallback>
                <p:oleObj r:id="rId3" imgW="1548130" imgH="25336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0325" y="5443538"/>
                        <a:ext cx="6265863" cy="1154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3E3D3C2-F359-DD56-C8AE-CE158E381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336" y="3803650"/>
            <a:ext cx="3329102" cy="172826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CC03FE8-7756-DF37-5545-04047D90E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44" y="968375"/>
            <a:ext cx="6088312" cy="272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5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19" grpId="0"/>
      <p:bldP spid="7557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9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93608" name="Rectangle 8"/>
          <p:cNvSpPr/>
          <p:nvPr/>
        </p:nvSpPr>
        <p:spPr>
          <a:xfrm>
            <a:off x="107950" y="398463"/>
            <a:ext cx="8964613" cy="10541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）当导体的电导率</a:t>
            </a:r>
            <a:r>
              <a:rPr lang="el-GR" altLang="zh-CN" i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σ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为有限值时，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导体内部只存在沿传导电流方向的</a:t>
            </a:r>
            <a:r>
              <a:rPr lang="zh-CN" altLang="en-US" u="sng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恒定电场</a:t>
            </a:r>
          </a:p>
        </p:txBody>
      </p:sp>
      <p:grpSp>
        <p:nvGrpSpPr>
          <p:cNvPr id="793609" name="Group 9"/>
          <p:cNvGrpSpPr/>
          <p:nvPr/>
        </p:nvGrpSpPr>
        <p:grpSpPr>
          <a:xfrm>
            <a:off x="4284663" y="1052513"/>
            <a:ext cx="2209800" cy="865187"/>
            <a:chOff x="3023" y="709"/>
            <a:chExt cx="1346" cy="500"/>
          </a:xfrm>
        </p:grpSpPr>
        <p:sp>
          <p:nvSpPr>
            <p:cNvPr id="45072" name="Rectangle 10"/>
            <p:cNvSpPr/>
            <p:nvPr/>
          </p:nvSpPr>
          <p:spPr>
            <a:xfrm>
              <a:off x="3107" y="953"/>
              <a:ext cx="220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eaLnBrk="1" fontAlgn="ctr" hangingPunct="1"/>
              <a:r>
                <a:rPr lang="zh-CN" altLang="en-US" sz="1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内</a:t>
              </a:r>
              <a:endParaRPr lang="zh-CN" altLang="en-US" sz="1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5073" name="Object 11"/>
            <p:cNvGraphicFramePr>
              <a:graphicFrameLocks noChangeAspect="1"/>
            </p:cNvGraphicFramePr>
            <p:nvPr/>
          </p:nvGraphicFramePr>
          <p:xfrm>
            <a:off x="3023" y="709"/>
            <a:ext cx="1346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70890" imgH="247650" progId="Equation.DSMT4">
                    <p:embed/>
                  </p:oleObj>
                </mc:Choice>
                <mc:Fallback>
                  <p:oleObj r:id="rId3" imgW="770890" imgH="24765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23" y="709"/>
                          <a:ext cx="1346" cy="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3612" name="Group 12"/>
          <p:cNvGrpSpPr/>
          <p:nvPr/>
        </p:nvGrpSpPr>
        <p:grpSpPr>
          <a:xfrm>
            <a:off x="-107950" y="1989138"/>
            <a:ext cx="9109075" cy="962025"/>
            <a:chOff x="58" y="1298"/>
            <a:chExt cx="5738" cy="606"/>
          </a:xfrm>
        </p:grpSpPr>
        <p:sp>
          <p:nvSpPr>
            <p:cNvPr id="45068" name="Rectangle 13"/>
            <p:cNvSpPr/>
            <p:nvPr/>
          </p:nvSpPr>
          <p:spPr>
            <a:xfrm>
              <a:off x="58" y="1298"/>
              <a:ext cx="56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fontAlgn="ctr" hangingPunct="1"/>
              <a:r>
                <a:rPr lang="zh-CN" altLang="en-US" u="sng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根据边界条件，在</a:t>
              </a:r>
              <a:r>
                <a:rPr lang="zh-CN" altLang="en-US" u="sng" dirty="0">
                  <a:solidFill>
                    <a:srgbClr val="F03E3E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内导体表面上电场的切向分量连续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，即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69" name="Rectangle 14"/>
            <p:cNvSpPr/>
            <p:nvPr/>
          </p:nvSpPr>
          <p:spPr>
            <a:xfrm>
              <a:off x="67" y="1616"/>
              <a:ext cx="35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indent="-342900" eaLnBrk="1" fontAlgn="ctr" hangingPunct="1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因此，在内导体表面外侧的静电场为</a:t>
              </a:r>
            </a:p>
          </p:txBody>
        </p:sp>
        <p:graphicFrame>
          <p:nvGraphicFramePr>
            <p:cNvPr id="45070" name="Object 15"/>
            <p:cNvGraphicFramePr>
              <a:graphicFrameLocks noChangeAspect="1"/>
            </p:cNvGraphicFramePr>
            <p:nvPr/>
          </p:nvGraphicFramePr>
          <p:xfrm>
            <a:off x="4922" y="1298"/>
            <a:ext cx="85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18465" imgH="132080" progId="Equation.DSMT4">
                    <p:embed/>
                  </p:oleObj>
                </mc:Choice>
                <mc:Fallback>
                  <p:oleObj r:id="rId5" imgW="418465" imgH="13208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22" y="1298"/>
                          <a:ext cx="856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1" name="Rectangle 16"/>
            <p:cNvSpPr/>
            <p:nvPr/>
          </p:nvSpPr>
          <p:spPr>
            <a:xfrm>
              <a:off x="5523" y="1434"/>
              <a:ext cx="273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indent="-342900" eaLnBrk="1" fontAlgn="ctr" hangingPunct="1">
                <a:spcBef>
                  <a:spcPct val="50000"/>
                </a:spcBef>
              </a:pPr>
              <a:r>
                <a:rPr lang="zh-CN" altLang="en-US" sz="1400" b="0" dirty="0">
                  <a:solidFill>
                    <a:schemeClr val="bg1"/>
                  </a:solidFill>
                  <a:latin typeface="Arial" panose="020B0604020202020204" pitchFamily="34" charset="0"/>
                </a:rPr>
                <a:t>内</a:t>
              </a:r>
            </a:p>
          </p:txBody>
        </p:sp>
      </p:grpSp>
      <p:graphicFrame>
        <p:nvGraphicFramePr>
          <p:cNvPr id="793617" name="Object 17"/>
          <p:cNvGraphicFramePr>
            <a:graphicFrameLocks noChangeAspect="1"/>
          </p:cNvGraphicFramePr>
          <p:nvPr/>
        </p:nvGraphicFramePr>
        <p:xfrm>
          <a:off x="406400" y="3141663"/>
          <a:ext cx="37211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93825" imgH="259080" progId="Equation.DSMT4">
                  <p:embed/>
                </p:oleObj>
              </mc:Choice>
              <mc:Fallback>
                <p:oleObj r:id="rId7" imgW="1393825" imgH="25908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400" y="3141663"/>
                        <a:ext cx="3721100" cy="884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8" name="Object 18"/>
          <p:cNvGraphicFramePr>
            <a:graphicFrameLocks noChangeAspect="1"/>
          </p:cNvGraphicFramePr>
          <p:nvPr/>
        </p:nvGraphicFramePr>
        <p:xfrm>
          <a:off x="1835150" y="4076700"/>
          <a:ext cx="217963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16280" imgH="231140" progId="Equation.DSMT4">
                  <p:embed/>
                </p:oleObj>
              </mc:Choice>
              <mc:Fallback>
                <p:oleObj r:id="rId9" imgW="716280" imgH="23114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4076700"/>
                        <a:ext cx="2179638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19" name="Rectangle 19"/>
          <p:cNvSpPr/>
          <p:nvPr/>
        </p:nvSpPr>
        <p:spPr>
          <a:xfrm>
            <a:off x="119063" y="4221163"/>
            <a:ext cx="2940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磁场则仍为</a:t>
            </a:r>
          </a:p>
        </p:txBody>
      </p:sp>
      <p:sp>
        <p:nvSpPr>
          <p:cNvPr id="793620" name="Rectangle 20"/>
          <p:cNvSpPr/>
          <p:nvPr/>
        </p:nvSpPr>
        <p:spPr>
          <a:xfrm>
            <a:off x="107950" y="5132388"/>
            <a:ext cx="640873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内导体表面外侧的坡印廷矢量为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793621" name="Object 21"/>
          <p:cNvGraphicFramePr>
            <a:graphicFrameLocks noChangeAspect="1"/>
          </p:cNvGraphicFramePr>
          <p:nvPr/>
        </p:nvGraphicFramePr>
        <p:xfrm>
          <a:off x="1141413" y="5588000"/>
          <a:ext cx="68881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479040" imgH="275590" progId="Equation.DSMT4">
                  <p:embed/>
                </p:oleObj>
              </mc:Choice>
              <mc:Fallback>
                <p:oleObj r:id="rId11" imgW="2479040" imgH="27559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1413" y="5588000"/>
                        <a:ext cx="6888162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EAB36C63-3075-97CD-47B3-AB5A77567B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0328" y="2971870"/>
            <a:ext cx="4593672" cy="2500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9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9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9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9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9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9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9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9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608" grpId="0"/>
      <p:bldP spid="793619" grpId="0"/>
      <p:bldP spid="7936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10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pSp>
        <p:nvGrpSpPr>
          <p:cNvPr id="734236" name="Group 28"/>
          <p:cNvGrpSpPr/>
          <p:nvPr/>
        </p:nvGrpSpPr>
        <p:grpSpPr>
          <a:xfrm>
            <a:off x="107950" y="3643313"/>
            <a:ext cx="8964613" cy="1298575"/>
            <a:chOff x="68" y="1750"/>
            <a:chExt cx="5647" cy="818"/>
          </a:xfrm>
        </p:grpSpPr>
        <p:graphicFrame>
          <p:nvGraphicFramePr>
            <p:cNvPr id="47114" name="Object 15"/>
            <p:cNvGraphicFramePr>
              <a:graphicFrameLocks noChangeAspect="1"/>
            </p:cNvGraphicFramePr>
            <p:nvPr/>
          </p:nvGraphicFramePr>
          <p:xfrm>
            <a:off x="529" y="1762"/>
            <a:ext cx="890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18465" imgH="231140" progId="Equation.DSMT4">
                    <p:embed/>
                  </p:oleObj>
                </mc:Choice>
                <mc:Fallback>
                  <p:oleObj r:id="rId3" imgW="418465" imgH="23114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9" y="1762"/>
                          <a:ext cx="890" cy="5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5" name="Rectangle 21"/>
            <p:cNvSpPr/>
            <p:nvPr/>
          </p:nvSpPr>
          <p:spPr>
            <a:xfrm>
              <a:off x="68" y="1750"/>
              <a:ext cx="5647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fontAlgn="ctr" hangingPunct="1">
                <a:lnSpc>
                  <a:spcPct val="165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式中                    是单位长度内导体的电阻。由此可见，进入内导体中功率等于这段导体的焦耳损耗功率。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734232" name="Rectangle 24"/>
          <p:cNvSpPr/>
          <p:nvPr/>
        </p:nvSpPr>
        <p:spPr>
          <a:xfrm>
            <a:off x="250825" y="382588"/>
            <a:ext cx="3816350" cy="2493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由此可见，内导体表面外侧的坡印廷矢量既有轴向分量，也有径向分量，如图所示。</a:t>
            </a:r>
            <a:r>
              <a:rPr lang="zh-CN" altLang="en-US" u="sng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进入每单位长度内导体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的功率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为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4243" name="Rectangle 35"/>
          <p:cNvSpPr/>
          <p:nvPr/>
        </p:nvSpPr>
        <p:spPr>
          <a:xfrm>
            <a:off x="34925" y="4981575"/>
            <a:ext cx="1296988" cy="5667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法二</a:t>
            </a:r>
            <a:r>
              <a:rPr lang="en-US" altLang="zh-CN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34244" name="Object 36"/>
          <p:cNvGraphicFramePr>
            <a:graphicFrameLocks noGrp="1" noChangeAspect="1"/>
          </p:cNvGraphicFramePr>
          <p:nvPr>
            <p:ph/>
          </p:nvPr>
        </p:nvGraphicFramePr>
        <p:xfrm>
          <a:off x="1258888" y="4872038"/>
          <a:ext cx="6408737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74495" imgH="479425" progId="Equation.3">
                  <p:embed/>
                </p:oleObj>
              </mc:Choice>
              <mc:Fallback>
                <p:oleObj r:id="rId5" imgW="1674495" imgH="479425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4872038"/>
                        <a:ext cx="6408737" cy="188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810727"/>
              </p:ext>
            </p:extLst>
          </p:nvPr>
        </p:nvGraphicFramePr>
        <p:xfrm>
          <a:off x="611560" y="2806700"/>
          <a:ext cx="764222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89125" imgH="253365" progId="Equation.3">
                  <p:embed/>
                </p:oleObj>
              </mc:Choice>
              <mc:Fallback>
                <p:oleObj r:id="rId7" imgW="1889125" imgH="253365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560" y="2806700"/>
                        <a:ext cx="7642225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C50BF2D-7945-8AD2-1B79-B73CF5704D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0671" y="419100"/>
            <a:ext cx="4505325" cy="2457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73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34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73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73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8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32" grpId="0"/>
      <p:bldP spid="7342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814087" name="Rectangle 7"/>
          <p:cNvSpPr/>
          <p:nvPr/>
        </p:nvSpPr>
        <p:spPr>
          <a:xfrm>
            <a:off x="107950" y="341439"/>
            <a:ext cx="8964613" cy="42288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以上分析表明：</a:t>
            </a:r>
          </a:p>
          <a:p>
            <a:pPr eaLnBrk="1" fontAlgn="ctr" hangingPunct="1"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dirty="0">
                <a:solidFill>
                  <a:srgbClr val="D60093"/>
                </a:solidFill>
                <a:latin typeface="Times New Roman" panose="02020603050405020304" pitchFamily="18" charset="0"/>
                <a:ea typeface="楷体_GB2312" pitchFamily="49" charset="-122"/>
              </a:rPr>
              <a:t>电磁能量是由电磁场传输的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u="sng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导体仅起着定向引导电磁能流的作用</a:t>
            </a:r>
            <a:r>
              <a:rPr lang="zh-CN" altLang="en-US" u="sng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（导体可看作导波系统）</a:t>
            </a:r>
            <a:r>
              <a:rPr lang="zh-CN" altLang="en-US" dirty="0">
                <a:solidFill>
                  <a:srgbClr val="FF9900"/>
                </a:solidFill>
                <a:ea typeface="楷体_GB2312" pitchFamily="49" charset="-122"/>
              </a:rPr>
              <a:t>。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同轴线内外导体间的介质中传输的是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TEM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模导行波。</a:t>
            </a:r>
            <a:endParaRPr lang="en-US" altLang="zh-CN" dirty="0">
              <a:solidFill>
                <a:schemeClr val="bg1"/>
              </a:solidFill>
              <a:ea typeface="楷体_GB2312" pitchFamily="49" charset="-122"/>
            </a:endParaRPr>
          </a:p>
          <a:p>
            <a:pPr eaLnBrk="1" fontAlgn="ctr" hangingPunct="1">
              <a:lnSpc>
                <a:spcPct val="140000"/>
              </a:lnSpc>
            </a:pPr>
            <a:endParaRPr lang="zh-CN" altLang="en-US" dirty="0">
              <a:solidFill>
                <a:srgbClr val="FF9900"/>
              </a:solidFill>
              <a:ea typeface="楷体_GB2312" pitchFamily="49" charset="-122"/>
            </a:endParaRPr>
          </a:p>
          <a:p>
            <a:pPr eaLnBrk="1" fontAlgn="ctr" hangingPunct="1"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u="sng" dirty="0">
                <a:solidFill>
                  <a:srgbClr val="FF99CC"/>
                </a:solidFill>
                <a:latin typeface="Times New Roman" panose="02020603050405020304" pitchFamily="18" charset="0"/>
                <a:ea typeface="楷体_GB2312" pitchFamily="49" charset="-122"/>
              </a:rPr>
              <a:t>当导体的电导率为有限值时，进入导体中的功率全部被导体所吸收，成为导体中的焦耳热损耗功率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（当</a:t>
            </a:r>
            <a:r>
              <a:rPr lang="el-GR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σ→∞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时，进入导体内的功率</a:t>
            </a:r>
            <a:r>
              <a:rPr lang="el-GR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此时无焦耳热损耗）。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9156" name="Rectangle 7"/>
          <p:cNvSpPr/>
          <p:nvPr/>
        </p:nvSpPr>
        <p:spPr>
          <a:xfrm>
            <a:off x="-684212" y="5013325"/>
            <a:ext cx="8567737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fontAlgn="ctr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9933"/>
                </a:solidFill>
                <a:latin typeface="Arial" panose="020B0604020202020204" pitchFamily="34" charset="0"/>
                <a:ea typeface="楷体_GB2312" pitchFamily="49" charset="-122"/>
              </a:rPr>
              <a:t>相关例题；</a:t>
            </a:r>
            <a:r>
              <a:rPr lang="en-US" altLang="zh-CN" dirty="0">
                <a:solidFill>
                  <a:srgbClr val="FF9933"/>
                </a:solidFill>
                <a:latin typeface="Arial" panose="020B0604020202020204" pitchFamily="34" charset="0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33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33"/>
                </a:solidFill>
                <a:latin typeface="Arial" panose="020B0604020202020204" pitchFamily="34" charset="0"/>
                <a:ea typeface="楷体_GB2312" pitchFamily="49" charset="-122"/>
              </a:rPr>
              <a:t>2.3.3】</a:t>
            </a: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2.4.2】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</a:p>
          <a:p>
            <a:pPr algn="ctr" eaLnBrk="1" fontAlgn="ctr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                   【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3.1.2 】【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3.2.1】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楷体_GB2312" pitchFamily="49" charset="-122"/>
              </a:rPr>
              <a:t>4.3.2 】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81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40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12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51203" name="AutoShape 2">
            <a:hlinkClick r:id="" action="ppaction://noaction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04" name="AutoShape 3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05" name="AutoShape 4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06" name="AutoShape 5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04870" name="Text Box 6"/>
          <p:cNvSpPr txBox="1"/>
          <p:nvPr/>
        </p:nvSpPr>
        <p:spPr>
          <a:xfrm>
            <a:off x="3432175" y="2492375"/>
            <a:ext cx="4464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4.8-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）（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endParaRPr lang="el-GR" altLang="zh-CN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04871" name="Text Box 7"/>
          <p:cNvSpPr txBox="1"/>
          <p:nvPr/>
        </p:nvSpPr>
        <p:spPr>
          <a:xfrm>
            <a:off x="3779838" y="1557338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作业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0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8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870" grpId="0"/>
      <p:bldP spid="80487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41a7196-b802-4a92-9d60-9ddf0d86c09c"/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1106</Words>
  <Application>Microsoft Office PowerPoint</Application>
  <PresentationFormat>全屏显示(4:3)</PresentationFormat>
  <Paragraphs>130</Paragraphs>
  <Slides>12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楷体_GB2312</vt:lpstr>
      <vt:lpstr>宋体</vt:lpstr>
      <vt:lpstr>幼圆</vt:lpstr>
      <vt:lpstr>Arial</vt:lpstr>
      <vt:lpstr>Times New Roman</vt:lpstr>
      <vt:lpstr>Wingdings</vt:lpstr>
      <vt:lpstr>1_默认设计模板</vt:lpstr>
      <vt:lpstr>Equation.DSMT4</vt:lpstr>
      <vt:lpstr>Equation</vt:lpstr>
      <vt:lpstr>Equation.3</vt:lpstr>
      <vt:lpstr>Microsoft Word Picture</vt:lpstr>
      <vt:lpstr>4.3   电磁能量守恒定律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828</cp:revision>
  <dcterms:created xsi:type="dcterms:W3CDTF">2004-02-10T07:06:00Z</dcterms:created>
  <dcterms:modified xsi:type="dcterms:W3CDTF">2025-12-01T04:19:56Z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710A780561C24E3CBBBD99ACB8507E6D</vt:lpwstr>
  </property>
  <property fmtid="{D5CDD505-2E9C-101B-9397-08002B2CF9AE}" pid="3" name="KSOProductBuildVer">
    <vt:lpwstr>2052-11.1.0.13703</vt:lpwstr>
  </property>
</Properties>
</file>