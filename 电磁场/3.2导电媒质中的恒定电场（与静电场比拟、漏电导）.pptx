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687" r:id="rId2"/>
    <p:sldId id="819" r:id="rId3"/>
    <p:sldId id="832" r:id="rId4"/>
    <p:sldId id="688" r:id="rId5"/>
    <p:sldId id="689" r:id="rId6"/>
    <p:sldId id="690" r:id="rId7"/>
    <p:sldId id="692" r:id="rId8"/>
    <p:sldId id="693" r:id="rId9"/>
    <p:sldId id="835" r:id="rId10"/>
    <p:sldId id="699" r:id="rId11"/>
    <p:sldId id="700" r:id="rId12"/>
    <p:sldId id="701" r:id="rId13"/>
    <p:sldId id="834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7C80"/>
    <a:srgbClr val="066B94"/>
    <a:srgbClr val="E1E1E1"/>
    <a:srgbClr val="990000"/>
    <a:srgbClr val="D4D4D4"/>
    <a:srgbClr val="CC99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71973" autoAdjust="0"/>
  </p:normalViewPr>
  <p:slideViewPr>
    <p:cSldViewPr>
      <p:cViewPr varScale="1">
        <p:scale>
          <a:sx n="58" d="100"/>
          <a:sy n="58" d="100"/>
        </p:scale>
        <p:origin x="148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91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C88C3BA2-8461-FF19-7417-CA948A83D1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0BE852D8-7BFC-AD77-79FE-951431132A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B381E4B-9AD8-4B7A-9A91-D31B1C45EDFB}" type="datetime1">
              <a:rPr lang="zh-CN" altLang="en-US"/>
              <a:pPr>
                <a:defRPr/>
              </a:pPr>
              <a:t>2025/12/1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68125FCA-BAE6-1A5E-C74F-26FF510C13B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7B3705C0-4BA8-BAAC-7D1F-1C820E48C8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C26EA88-F30E-44B6-B895-21BCE20ECE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68478612-FFDA-F354-0839-23C69DD9CD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C147BFE4-3FA0-18BE-BF41-BB978E2FDC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1C58DE0-7C55-4FD7-9492-3AFB2C65A20F}" type="datetime1">
              <a:rPr lang="zh-CN" altLang="en-US"/>
              <a:pPr>
                <a:defRPr/>
              </a:pPr>
              <a:t>2025/12/1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FCD0C65-6C6E-EE5F-2356-E4775D1C3CF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0B0454B4-3D77-1373-587C-39F6BEE1EA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F27ADE49-04DD-1F1D-7EBA-7C5724FA35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7EAC284A-93B3-F49E-0368-5B9F6DF2D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6D91E24-0AF4-4B97-8054-C268217EB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5829BE2-6E33-907E-9220-1AF0C62EF5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51C2F37-0A25-8D46-8894-AF0C55BB05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22CEC55-6A09-401F-BED3-946CED052DC4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75E97F4C-0882-126C-EE2E-7992E30B30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726DC4A3-438D-1FE9-9AE3-92884DFE0B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0F02AD4-2319-4E69-8E37-EB60D520D0DC}" type="slidenum">
              <a:rPr lang="en-US" altLang="zh-CN" sz="1200">
                <a:ea typeface="宋体" panose="02010600030101010101" pitchFamily="2" charset="-122"/>
              </a:rPr>
              <a:pPr/>
              <a:t>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8E053E26-A941-4FC6-BFD0-2F05B67DC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F6F2226B-4370-20A4-49B8-2DFF6246A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233A3BC-BBD1-B945-B715-4023314D70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8B9C0BD-5C50-09DB-255B-EEE56BD9E7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84AF380-9622-4BA2-9B85-9E8209C9F03F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AB160023-1FDD-2652-FD77-70661C3133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458F6D29-9C11-CF19-80E6-C7B85B7F0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4D66CD8-590A-44DF-8BEA-55A5EC11F744}" type="slidenum">
              <a:rPr lang="en-US" altLang="zh-CN" sz="1200">
                <a:ea typeface="宋体" panose="02010600030101010101" pitchFamily="2" charset="-122"/>
              </a:rPr>
              <a:pPr/>
              <a:t>2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63F840D8-792F-09C3-C177-66976F3FA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5234C4BD-0323-A4A5-BEEB-1C70A8727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hangingPunct="1"/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5FE0B99C-BDC1-5ECC-391C-AB5DE696C9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460A13D-0BED-2E6B-5F07-A7814E7CC4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752CD27-9A68-4384-AE97-40BF319CE0EC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740A883C-5361-897D-C68B-9371FF4326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3EAB6E18-25F1-5672-1A49-263D8531F1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7D94922-7154-412B-A08B-BFDA79270123}" type="slidenum">
              <a:rPr lang="en-US" altLang="zh-CN" sz="1200">
                <a:ea typeface="宋体" panose="02010600030101010101" pitchFamily="2" charset="-122"/>
              </a:rPr>
              <a:pPr/>
              <a:t>3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724BD20C-E150-3EF3-4313-7766FE152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5BFA95F1-5DDE-CB26-EAAD-980C00855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>
              <a:solidFill>
                <a:srgbClr val="FF9933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FCEA813-3338-C9A4-0841-73966AD744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C0C723A-DB07-6C38-5DB4-A72D2F8BE9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466EE55-FFDB-4872-9A6C-57C4D15D9F38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068FFB09-478F-A18F-C352-11E8147FA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731355E2-321A-00B4-D6C5-C4B6DDFA8B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733FDEC-7276-449D-B92C-333600091E52}" type="slidenum">
              <a:rPr lang="en-US" altLang="zh-CN" sz="1200">
                <a:ea typeface="宋体" panose="02010600030101010101" pitchFamily="2" charset="-122"/>
              </a:rPr>
              <a:pPr/>
              <a:t>4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55C3E30C-E780-7E4E-4BF5-AD03C3510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F28E85C8-ADE7-829C-46B9-7A1AF42FB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EAF4C07-4402-0968-7B75-3F0D963C72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1F124B0-F94B-3F25-51D5-A7B1AFE7AF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05028CB-68CF-44A5-9987-9B63E1888082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DCA43378-DD26-C654-4254-0812D9FF8E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A46F191A-5D8B-7BDE-0D2D-1E590832B0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E3CFB6E-2375-4503-A40D-4DE690BE8AC3}" type="slidenum">
              <a:rPr lang="en-US" altLang="zh-CN" sz="1200">
                <a:ea typeface="宋体" panose="02010600030101010101" pitchFamily="2" charset="-122"/>
              </a:rPr>
              <a:pPr/>
              <a:t>5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8C924C97-1ACB-B631-3B47-2E160DADE1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BB182B07-F37D-C614-97B5-36D51901D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 b="1">
              <a:cs typeface="Arial" panose="020B0604020202020204" pitchFamily="34" charset="0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FEFB33A-2D86-9ACE-22F6-D3D1BE87E4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014C4FC-E675-4706-1118-94B29895F00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DABB157-5DEF-4C53-9ABA-8854564367A3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FAAEDB25-761A-D8E5-5260-A50344BB70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C5E72AD9-5363-2F78-C019-D4A114AAC5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2978296-8C76-46CA-986C-96EC91C47A83}" type="slidenum">
              <a:rPr lang="en-US" altLang="zh-CN" sz="1200">
                <a:ea typeface="宋体" panose="02010600030101010101" pitchFamily="2" charset="-122"/>
              </a:rPr>
              <a:pPr/>
              <a:t>6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02074FED-A4B2-443D-133D-B01DB5910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B47888ED-1B5E-ADA1-0F52-799619CFD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085C26-731A-B6B5-7F47-96A1195D32C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671DEBD-62EA-6CAE-66F2-E8C4604170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5ECA489-367B-49C1-865B-8EDE6A223D63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9396" name="Rectangle 6">
            <a:extLst>
              <a:ext uri="{FF2B5EF4-FFF2-40B4-BE49-F238E27FC236}">
                <a16:creationId xmlns:a16="http://schemas.microsoft.com/office/drawing/2014/main" id="{E7354276-2B84-AD46-3F76-706F1993B5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59397" name="Rectangle 7">
            <a:extLst>
              <a:ext uri="{FF2B5EF4-FFF2-40B4-BE49-F238E27FC236}">
                <a16:creationId xmlns:a16="http://schemas.microsoft.com/office/drawing/2014/main" id="{57D346F9-7D73-7FC8-814B-A9737793FB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4D012F9-C0C7-4BF2-B571-D9F7B016B1C3}" type="slidenum">
              <a:rPr lang="en-US" altLang="zh-CN" sz="1200">
                <a:ea typeface="宋体" panose="02010600030101010101" pitchFamily="2" charset="-122"/>
              </a:rPr>
              <a:pPr/>
              <a:t>7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3EB03104-767B-313B-0CCB-D5ACFC89A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93F29215-469F-21F0-B00B-4241D7E8C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sz="100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1EDD32B-9239-0F88-0599-4724275913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6669BEC-9230-E9F4-1006-BCE082E78A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BFCC622-0E50-4F64-8F63-90F926E7B94B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FB969889-0ED8-9B1C-D4F7-EF4DE9A751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98A652CE-05D3-82E4-6979-F06EB2468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23C8194-319A-4A49-8C0F-32C575D88B4E}" type="slidenum">
              <a:rPr lang="en-US" altLang="zh-CN" sz="1200">
                <a:ea typeface="宋体" panose="02010600030101010101" pitchFamily="2" charset="-122"/>
              </a:rPr>
              <a:pPr/>
              <a:t>10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1440D5F0-98DB-5163-3C18-5677B30C5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CB2951A-3F4C-E97E-9F36-99F41EE1D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E26885F-02A0-8197-B532-A9F0113A7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37E7E1F-7153-FC07-D543-7601E4719A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F0B90CE-C6FD-4A26-8A08-DDC089959EE4}" type="datetime1">
              <a:rPr lang="zh-CN" altLang="en-US" sz="1200" smtClean="0">
                <a:ea typeface="宋体" panose="02010600030101010101" pitchFamily="2" charset="-122"/>
              </a:rPr>
              <a:pPr/>
              <a:t>2025/12/1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821BF14F-D69D-0C50-9388-E5FE457FBD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5541" name="Rectangle 7">
            <a:extLst>
              <a:ext uri="{FF2B5EF4-FFF2-40B4-BE49-F238E27FC236}">
                <a16:creationId xmlns:a16="http://schemas.microsoft.com/office/drawing/2014/main" id="{750CA36A-A1E2-FE00-10D0-9863C8799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3454ABF-7D2F-4724-8A41-94271561EC4C}" type="slidenum">
              <a:rPr lang="en-US" altLang="zh-CN" sz="1200">
                <a:ea typeface="宋体" panose="02010600030101010101" pitchFamily="2" charset="-122"/>
              </a:rPr>
              <a:pPr/>
              <a:t>12</a:t>
            </a:fld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DDE8CFAD-7F7F-83C6-08C2-69F4224996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DEADD169-A7A3-A4E5-AC1A-030D6CA48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对应</a:t>
            </a:r>
            <a:r>
              <a:rPr lang="zh-CN" altLang="en-US" b="1" dirty="0"/>
              <a:t>着黄绿色的等效电路看，就明白了为什么静电场和恒定电场可以比拟，因为在同轴线内外导体间加的电压不仅在介质内产生了静电场（电场能量储存在介质中，介质可等效为电容）、还在介质内也产生了类似恒定电场的电场（这部分对应于能量在电介质中的介质损耗，可等效为漏电导。如果电压很大的话即便是电介质也会击穿的，击穿的时候原本很小的漏电流就变得很大了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58C8DFD-1FE4-2CC4-07E0-07AD08F762B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8F4E5-0835-47FB-A1BD-8B2A2244DA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29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24C7DF6-6E3D-53E0-2046-FFE17433D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A2369-6D9F-419D-B2DC-91997EFA41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0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FBEA074-EF3E-59CA-3984-2EC175BCA8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26B1F-5E87-4567-B8A7-174DF3F5EA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98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F852AE0-F1F5-4649-82D4-44D7D3C5CA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EBB1-338B-4AEE-8E32-985B927E30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67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0FBEFFF-2367-65FB-A31A-CE09A36CB2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4A81C-B249-436B-AC2A-3F4190BE3B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8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DDD0E7F-3404-3A1B-2DC1-032A274FFE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87B1A-0919-4D19-B8A6-978B39028C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21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49194C-1F4A-730D-E793-FC8099448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0CCD4-7895-4EE8-92B4-5243F787D8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64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09F43E-5F99-015C-815D-A3B8781357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757C7-61B9-4A19-91FD-F679C53460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47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0DE93FB-B19A-48C0-69F9-2747DE1C8A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0D474-B56F-434B-A87C-C139DD1568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27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578A4FE-C11B-6E54-E02A-30EC706C47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B7B81-C599-43BB-88F1-6968BF8FA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28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0C406CE-093F-8F0D-98A0-EA7A3B22A3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871E6-B6C1-4EC3-BB19-CE3C5BDF70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69F7DFA-6542-41CC-7F36-D018FF1229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D8BE1-91A0-440B-A753-AF302F76E1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20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&#38543;&#26426;&#28857;&#21517;&#21161;&#25163;.exe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>
            <a:extLst>
              <a:ext uri="{FF2B5EF4-FFF2-40B4-BE49-F238E27FC236}">
                <a16:creationId xmlns:a16="http://schemas.microsoft.com/office/drawing/2014/main" id="{4138D9DC-E6B5-7FDA-B2DC-72B1E3F8FBC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zh-CN" altLang="zh-CN" sz="28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4469" name="Rectangle 5">
            <a:extLst>
              <a:ext uri="{FF2B5EF4-FFF2-40B4-BE49-F238E27FC236}">
                <a16:creationId xmlns:a16="http://schemas.microsoft.com/office/drawing/2014/main" id="{216E290E-C66E-3F36-F686-7306BB61F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4450"/>
            <a:ext cx="5903913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静态电磁场及其边值问题的解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2B4ADFB1-22A4-18EC-0189-AEEC052087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9" name="Rectangle 10" descr="深色横线">
            <a:extLst>
              <a:ext uri="{FF2B5EF4-FFF2-40B4-BE49-F238E27FC236}">
                <a16:creationId xmlns:a16="http://schemas.microsoft.com/office/drawing/2014/main" id="{C0427B4E-89AD-C820-F24E-6D9A13C688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74475" name="Rectangle 11">
            <a:extLst>
              <a:ext uri="{FF2B5EF4-FFF2-40B4-BE49-F238E27FC236}">
                <a16:creationId xmlns:a16="http://schemas.microsoft.com/office/drawing/2014/main" id="{437B4469-E526-F649-6886-7FCB17B61B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7625" y="0"/>
            <a:ext cx="134302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B22C175-EF0C-4123-AD36-CE8FACE89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17" descr="栎木">
            <a:extLst>
              <a:ext uri="{FF2B5EF4-FFF2-40B4-BE49-F238E27FC236}">
                <a16:creationId xmlns:a16="http://schemas.microsoft.com/office/drawing/2014/main" id="{59227D0D-B340-556D-D0E1-90097736E4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2" name="Picture 25" descr="听诊器">
            <a:hlinkClick r:id="rId15" action="ppaction://hlinkfile"/>
            <a:extLst>
              <a:ext uri="{FF2B5EF4-FFF2-40B4-BE49-F238E27FC236}">
                <a16:creationId xmlns:a16="http://schemas.microsoft.com/office/drawing/2014/main" id="{94FDC711-1DF3-E3F6-6827-45B1C7D2F8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2.emf"/><Relationship Id="rId26" Type="http://schemas.openxmlformats.org/officeDocument/2006/relationships/image" Target="../media/image16.e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e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emf"/><Relationship Id="rId20" Type="http://schemas.openxmlformats.org/officeDocument/2006/relationships/image" Target="../media/image1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5.e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5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emf"/><Relationship Id="rId22" Type="http://schemas.openxmlformats.org/officeDocument/2006/relationships/image" Target="../media/image14.emf"/><Relationship Id="rId27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4.wmf"/><Relationship Id="rId26" Type="http://schemas.openxmlformats.org/officeDocument/2006/relationships/image" Target="../media/image28.e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27.e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9.e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2.bin"/><Relationship Id="rId31" Type="http://schemas.openxmlformats.org/officeDocument/2006/relationships/slide" Target="slide1.xml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wmf"/><Relationship Id="rId22" Type="http://schemas.openxmlformats.org/officeDocument/2006/relationships/image" Target="../media/image26.emf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" Target="slide1.xml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37.bin"/><Relationship Id="rId3" Type="http://schemas.openxmlformats.org/officeDocument/2006/relationships/slide" Target="slide1.xml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0.e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0.bin"/><Relationship Id="rId39" Type="http://schemas.openxmlformats.org/officeDocument/2006/relationships/image" Target="../media/image60.emf"/><Relationship Id="rId21" Type="http://schemas.openxmlformats.org/officeDocument/2006/relationships/image" Target="../media/image51.emf"/><Relationship Id="rId34" Type="http://schemas.openxmlformats.org/officeDocument/2006/relationships/oleObject" Target="../embeddings/oleObject54.bin"/><Relationship Id="rId42" Type="http://schemas.openxmlformats.org/officeDocument/2006/relationships/oleObject" Target="../embeddings/oleObject58.bin"/><Relationship Id="rId47" Type="http://schemas.openxmlformats.org/officeDocument/2006/relationships/image" Target="../media/image64.emf"/><Relationship Id="rId50" Type="http://schemas.openxmlformats.org/officeDocument/2006/relationships/oleObject" Target="../embeddings/oleObject62.bin"/><Relationship Id="rId55" Type="http://schemas.openxmlformats.org/officeDocument/2006/relationships/image" Target="../media/image68.emf"/><Relationship Id="rId7" Type="http://schemas.openxmlformats.org/officeDocument/2006/relationships/image" Target="../media/image44.e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9" Type="http://schemas.openxmlformats.org/officeDocument/2006/relationships/image" Target="../media/image55.emf"/><Relationship Id="rId11" Type="http://schemas.openxmlformats.org/officeDocument/2006/relationships/image" Target="../media/image46.emf"/><Relationship Id="rId24" Type="http://schemas.openxmlformats.org/officeDocument/2006/relationships/oleObject" Target="../embeddings/oleObject49.bin"/><Relationship Id="rId32" Type="http://schemas.openxmlformats.org/officeDocument/2006/relationships/oleObject" Target="../embeddings/oleObject53.bin"/><Relationship Id="rId37" Type="http://schemas.openxmlformats.org/officeDocument/2006/relationships/image" Target="../media/image59.emf"/><Relationship Id="rId40" Type="http://schemas.openxmlformats.org/officeDocument/2006/relationships/oleObject" Target="../embeddings/oleObject57.bin"/><Relationship Id="rId45" Type="http://schemas.openxmlformats.org/officeDocument/2006/relationships/image" Target="../media/image63.emf"/><Relationship Id="rId53" Type="http://schemas.openxmlformats.org/officeDocument/2006/relationships/image" Target="../media/image67.emf"/><Relationship Id="rId58" Type="http://schemas.openxmlformats.org/officeDocument/2006/relationships/image" Target="../media/image70.png"/><Relationship Id="rId5" Type="http://schemas.openxmlformats.org/officeDocument/2006/relationships/image" Target="../media/image43.emf"/><Relationship Id="rId19" Type="http://schemas.openxmlformats.org/officeDocument/2006/relationships/image" Target="../media/image50.e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Relationship Id="rId27" Type="http://schemas.openxmlformats.org/officeDocument/2006/relationships/image" Target="../media/image54.emf"/><Relationship Id="rId30" Type="http://schemas.openxmlformats.org/officeDocument/2006/relationships/oleObject" Target="../embeddings/oleObject52.bin"/><Relationship Id="rId35" Type="http://schemas.openxmlformats.org/officeDocument/2006/relationships/image" Target="../media/image58.emf"/><Relationship Id="rId43" Type="http://schemas.openxmlformats.org/officeDocument/2006/relationships/image" Target="../media/image62.emf"/><Relationship Id="rId48" Type="http://schemas.openxmlformats.org/officeDocument/2006/relationships/oleObject" Target="../embeddings/oleObject61.bin"/><Relationship Id="rId56" Type="http://schemas.openxmlformats.org/officeDocument/2006/relationships/slide" Target="slide1.xml"/><Relationship Id="rId8" Type="http://schemas.openxmlformats.org/officeDocument/2006/relationships/oleObject" Target="../embeddings/oleObject41.bin"/><Relationship Id="rId51" Type="http://schemas.openxmlformats.org/officeDocument/2006/relationships/image" Target="../media/image66.emf"/><Relationship Id="rId3" Type="http://schemas.openxmlformats.org/officeDocument/2006/relationships/image" Target="../media/image42.e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9.emf"/><Relationship Id="rId25" Type="http://schemas.openxmlformats.org/officeDocument/2006/relationships/image" Target="../media/image53.emf"/><Relationship Id="rId33" Type="http://schemas.openxmlformats.org/officeDocument/2006/relationships/image" Target="../media/image57.emf"/><Relationship Id="rId38" Type="http://schemas.openxmlformats.org/officeDocument/2006/relationships/oleObject" Target="../embeddings/oleObject56.bin"/><Relationship Id="rId46" Type="http://schemas.openxmlformats.org/officeDocument/2006/relationships/oleObject" Target="../embeddings/oleObject60.bin"/><Relationship Id="rId59" Type="http://schemas.openxmlformats.org/officeDocument/2006/relationships/image" Target="../media/image71.png"/><Relationship Id="rId20" Type="http://schemas.openxmlformats.org/officeDocument/2006/relationships/oleObject" Target="../embeddings/oleObject47.bin"/><Relationship Id="rId41" Type="http://schemas.openxmlformats.org/officeDocument/2006/relationships/image" Target="../media/image61.emf"/><Relationship Id="rId54" Type="http://schemas.openxmlformats.org/officeDocument/2006/relationships/oleObject" Target="../embeddings/oleObject6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0.bin"/><Relationship Id="rId15" Type="http://schemas.openxmlformats.org/officeDocument/2006/relationships/image" Target="../media/image48.emf"/><Relationship Id="rId23" Type="http://schemas.openxmlformats.org/officeDocument/2006/relationships/image" Target="../media/image52.emf"/><Relationship Id="rId28" Type="http://schemas.openxmlformats.org/officeDocument/2006/relationships/oleObject" Target="../embeddings/oleObject51.bin"/><Relationship Id="rId36" Type="http://schemas.openxmlformats.org/officeDocument/2006/relationships/oleObject" Target="../embeddings/oleObject55.bin"/><Relationship Id="rId49" Type="http://schemas.openxmlformats.org/officeDocument/2006/relationships/image" Target="../media/image65.emf"/><Relationship Id="rId57" Type="http://schemas.openxmlformats.org/officeDocument/2006/relationships/image" Target="../media/image69.png"/><Relationship Id="rId10" Type="http://schemas.openxmlformats.org/officeDocument/2006/relationships/oleObject" Target="../embeddings/oleObject42.bin"/><Relationship Id="rId31" Type="http://schemas.openxmlformats.org/officeDocument/2006/relationships/image" Target="../media/image56.emf"/><Relationship Id="rId44" Type="http://schemas.openxmlformats.org/officeDocument/2006/relationships/oleObject" Target="../embeddings/oleObject59.bin"/><Relationship Id="rId52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81.emf"/><Relationship Id="rId3" Type="http://schemas.openxmlformats.org/officeDocument/2006/relationships/image" Target="../media/image76.emf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72.bin"/><Relationship Id="rId2" Type="http://schemas.openxmlformats.org/officeDocument/2006/relationships/oleObject" Target="../embeddings/oleObject67.bin"/><Relationship Id="rId16" Type="http://schemas.openxmlformats.org/officeDocument/2006/relationships/slide" Target="slide1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80.emf"/><Relationship Id="rId5" Type="http://schemas.openxmlformats.org/officeDocument/2006/relationships/image" Target="../media/image77.emf"/><Relationship Id="rId15" Type="http://schemas.openxmlformats.org/officeDocument/2006/relationships/image" Target="../media/image82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7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slide" Target="slide1.xml"/><Relationship Id="rId3" Type="http://schemas.openxmlformats.org/officeDocument/2006/relationships/image" Target="../media/image83.png"/><Relationship Id="rId7" Type="http://schemas.openxmlformats.org/officeDocument/2006/relationships/image" Target="../media/image85.emf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87.emf"/><Relationship Id="rId5" Type="http://schemas.openxmlformats.org/officeDocument/2006/relationships/image" Target="../media/image84.emf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86.emf"/><Relationship Id="rId14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97.emf"/><Relationship Id="rId3" Type="http://schemas.openxmlformats.org/officeDocument/2006/relationships/image" Target="../media/image90.emf"/><Relationship Id="rId7" Type="http://schemas.openxmlformats.org/officeDocument/2006/relationships/image" Target="../media/image92.emf"/><Relationship Id="rId12" Type="http://schemas.openxmlformats.org/officeDocument/2006/relationships/slide" Target="slide1.xml"/><Relationship Id="rId17" Type="http://schemas.openxmlformats.org/officeDocument/2006/relationships/oleObject" Target="../embeddings/oleObject85.bin"/><Relationship Id="rId2" Type="http://schemas.openxmlformats.org/officeDocument/2006/relationships/oleObject" Target="../embeddings/oleObject78.bin"/><Relationship Id="rId16" Type="http://schemas.openxmlformats.org/officeDocument/2006/relationships/image" Target="../media/image96.e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4.emf"/><Relationship Id="rId5" Type="http://schemas.openxmlformats.org/officeDocument/2006/relationships/image" Target="../media/image91.emf"/><Relationship Id="rId15" Type="http://schemas.openxmlformats.org/officeDocument/2006/relationships/oleObject" Target="../embeddings/oleObject84.bin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93.emf"/><Relationship Id="rId14" Type="http://schemas.openxmlformats.org/officeDocument/2006/relationships/image" Target="../media/image9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>
            <a:extLst>
              <a:ext uri="{FF2B5EF4-FFF2-40B4-BE49-F238E27FC236}">
                <a16:creationId xmlns:a16="http://schemas.microsoft.com/office/drawing/2014/main" id="{1E1E4DA3-4746-E816-300B-954D0D3CE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5965E61-ECE4-4C31-B269-CBE3F6D86A4D}" type="slidenum">
              <a:rPr lang="en-US" altLang="zh-CN" sz="1400">
                <a:ea typeface="宋体" panose="02010600030101010101" pitchFamily="2" charset="-122"/>
              </a:rPr>
              <a:pPr/>
              <a:t>1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72A9D41-44CD-151F-2696-65722852A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3213" y="979488"/>
            <a:ext cx="8301037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3.2  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导电媒质中的恒定电场分析</a:t>
            </a:r>
            <a:r>
              <a:rPr lang="zh-CN" altLang="en-US" sz="1800"/>
              <a:t> </a:t>
            </a:r>
          </a:p>
        </p:txBody>
      </p:sp>
      <p:sp>
        <p:nvSpPr>
          <p:cNvPr id="46084" name="Rectangle 5">
            <a:extLst>
              <a:ext uri="{FF2B5EF4-FFF2-40B4-BE49-F238E27FC236}">
                <a16:creationId xmlns:a16="http://schemas.microsoft.com/office/drawing/2014/main" id="{4D00EF2D-0220-F684-9BE1-AA43BE2F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493963"/>
            <a:ext cx="6265862" cy="2663825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60000"/>
              </a:lnSpc>
            </a:pPr>
            <a:r>
              <a:rPr lang="zh-CN" altLang="en-US" sz="2800" b="1" dirty="0">
                <a:solidFill>
                  <a:srgbClr val="990000"/>
                </a:solidFill>
                <a:ea typeface="隶书" panose="02010509060101010101" pitchFamily="49" charset="-122"/>
              </a:rPr>
              <a:t>本节内容</a:t>
            </a:r>
            <a:endParaRPr kumimoji="1" lang="zh-CN" altLang="en-US" sz="2800" b="1" dirty="0">
              <a:latin typeface="幼圆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lnSpc>
                <a:spcPct val="16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3.2.1   </a:t>
            </a:r>
            <a:r>
              <a:rPr kumimoji="1" lang="zh-CN" altLang="en-US" b="1" dirty="0">
                <a:latin typeface="Times New Roman" panose="02020603050405020304" pitchFamily="18" charset="0"/>
                <a:hlinkClick r:id="rId3" action="ppaction://hlinksldjump"/>
              </a:rPr>
              <a:t>恒定电场的基本方程和边界条件</a:t>
            </a:r>
            <a:endParaRPr kumimoji="1"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6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3.2.2   </a:t>
            </a:r>
            <a:r>
              <a:rPr kumimoji="1" lang="zh-CN" altLang="en-US" b="1" i="1" dirty="0">
                <a:latin typeface="Times New Roman" panose="02020603050405020304" pitchFamily="18" charset="0"/>
                <a:hlinkClick r:id="rId4" action="ppaction://hlinksldjump"/>
              </a:rPr>
              <a:t>恒定电场与静电场的比拟</a:t>
            </a:r>
            <a:endParaRPr kumimoji="1" lang="zh-CN" altLang="en-US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60000"/>
              </a:lnSpc>
            </a:pPr>
            <a:r>
              <a:rPr kumimoji="1" lang="zh-CN" altLang="en-US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3.2.3   </a:t>
            </a:r>
            <a:r>
              <a:rPr kumimoji="1" lang="zh-CN" altLang="en-US" b="1" i="1" dirty="0">
                <a:latin typeface="Times New Roman" panose="02020603050405020304" pitchFamily="18" charset="0"/>
                <a:hlinkClick r:id="rId5" action="ppaction://hlinksldjump"/>
              </a:rPr>
              <a:t>漏电导</a:t>
            </a:r>
            <a:endParaRPr kumimoji="1" lang="zh-CN" altLang="en-US" b="1" i="1" dirty="0">
              <a:latin typeface="Times New Roman" panose="02020603050405020304" pitchFamily="18" charset="0"/>
            </a:endParaRPr>
          </a:p>
        </p:txBody>
      </p:sp>
      <p:sp>
        <p:nvSpPr>
          <p:cNvPr id="46085" name="AutoShape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2BCFBFF-7514-905A-7B28-8617CF2C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6086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6BA7885-F5F0-CA7B-1C05-CCF2EBE0D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6087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60A6FD2-265F-A389-118A-210D79F3D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6088" name="AutoShape 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D308A67-7ECE-7F11-E5B8-BB8C9425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2">
            <a:extLst>
              <a:ext uri="{FF2B5EF4-FFF2-40B4-BE49-F238E27FC236}">
                <a16:creationId xmlns:a16="http://schemas.microsoft.com/office/drawing/2014/main" id="{4B4B919C-2F64-E375-321F-E5B81EBAB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4E0C675-2C6A-4C4C-9A74-1F3D2A1E48F9}" type="slidenum">
              <a:rPr lang="en-US" altLang="zh-CN" sz="1400">
                <a:ea typeface="宋体" panose="02010600030101010101" pitchFamily="2" charset="-122"/>
              </a:rPr>
              <a:pPr/>
              <a:t>2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F6E8FBA1-5ABC-A934-E518-D480EBC66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2351088"/>
            <a:ext cx="8964612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由</a:t>
            </a:r>
            <a:r>
              <a:rPr kumimoji="1" lang="en-US" altLang="zh-CN" b="1" i="1">
                <a:solidFill>
                  <a:schemeClr val="bg1"/>
                </a:solidFill>
                <a:latin typeface="楷体_GB2312" pitchFamily="49" charset="-122"/>
              </a:rPr>
              <a:t>J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＝</a:t>
            </a:r>
            <a:r>
              <a:rPr kumimoji="1" lang="zh-CN" altLang="en-US" b="1" i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b="1" i="1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E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可知，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</a:rPr>
              <a:t>导体中若存在恒定电流，则必有维持该恒定电流的电场。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   恒定电流指电流不随时间变化，则空间的电场也必须是恒定不变的，就要求电荷的空间分布也不随时间变化        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   尽管电流是电荷的运动，但在恒定电流的情况下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</a:rPr>
              <a:t>电荷分布并不随时间改变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。</a:t>
            </a:r>
            <a:r>
              <a:rPr kumimoji="1" lang="zh-CN" altLang="en-US" b="1" u="sng">
                <a:solidFill>
                  <a:schemeClr val="bg1"/>
                </a:solidFill>
                <a:latin typeface="楷体_GB2312" pitchFamily="49" charset="-122"/>
              </a:rPr>
              <a:t>静电场中的电荷分布也不随时间变化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，由此我们可以认定恒定电场和静电场一样、也是保守场，电场强度沿任一闭合路经的线积分恒为</a:t>
            </a: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0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913415" name="Rectangle 7">
            <a:extLst>
              <a:ext uri="{FF2B5EF4-FFF2-40B4-BE49-F238E27FC236}">
                <a16:creationId xmlns:a16="http://schemas.microsoft.com/office/drawing/2014/main" id="{CDD7E424-11BC-880C-0BE2-CF0072C34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20713"/>
            <a:ext cx="65119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3.2.1 </a:t>
            </a:r>
            <a:r>
              <a:rPr kumimoji="1" lang="zh-CN" altLang="en-US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恒定电场的基本方程和边界条件</a:t>
            </a:r>
          </a:p>
        </p:txBody>
      </p:sp>
      <p:sp>
        <p:nvSpPr>
          <p:cNvPr id="48133" name="AutoShape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ACD07EB-B67A-28C0-6F76-419AC7863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8134" name="AutoShape 1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E47CE11-4A36-1BAE-8064-D6AAC3985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8135" name="AutoShape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F30B85D-F177-4404-8BF9-BEDA3D789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8136" name="AutoShape 1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ACFC4D9-5636-5221-1901-740C344D5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913424" name="Object 16">
            <a:extLst>
              <a:ext uri="{FF2B5EF4-FFF2-40B4-BE49-F238E27FC236}">
                <a16:creationId xmlns:a16="http://schemas.microsoft.com/office/drawing/2014/main" id="{C9334F14-3D88-FA16-AB97-473B5C911F4E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948488" y="3838575"/>
          <a:ext cx="10795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01452" imgH="323850" progId="Equation.3">
                  <p:embed/>
                </p:oleObj>
              </mc:Choice>
              <mc:Fallback>
                <p:oleObj name="公式" r:id="rId4" imgW="501452" imgH="323850" progId="Equation.3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838575"/>
                        <a:ext cx="10795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27" name="Rectangle 19">
            <a:extLst>
              <a:ext uri="{FF2B5EF4-FFF2-40B4-BE49-F238E27FC236}">
                <a16:creationId xmlns:a16="http://schemas.microsoft.com/office/drawing/2014/main" id="{C3905C6F-4ADD-748B-3B8E-5FCB83F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96975"/>
            <a:ext cx="8964613" cy="106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恒定电场由密度不随时间变化的电荷产生，但电荷并非静止，即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J≠0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1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91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91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91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411" grpId="0"/>
      <p:bldP spid="913415" grpId="0"/>
      <p:bldP spid="9134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2">
            <a:extLst>
              <a:ext uri="{FF2B5EF4-FFF2-40B4-BE49-F238E27FC236}">
                <a16:creationId xmlns:a16="http://schemas.microsoft.com/office/drawing/2014/main" id="{3ED41842-F87D-726E-B5DD-7AEDA0C4C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00A8D39-3A44-42FC-A158-1CEA16D06773}" type="slidenum">
              <a:rPr lang="en-US" altLang="zh-CN" sz="1400">
                <a:ea typeface="宋体" panose="02010600030101010101" pitchFamily="2" charset="-122"/>
              </a:rPr>
              <a:pPr/>
              <a:t>3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972803" name="Rectangle 3">
            <a:extLst>
              <a:ext uri="{FF2B5EF4-FFF2-40B4-BE49-F238E27FC236}">
                <a16:creationId xmlns:a16="http://schemas.microsoft.com/office/drawing/2014/main" id="{D23BB315-9F67-62E6-1C68-8D5B9FFA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3286125"/>
            <a:ext cx="8963025" cy="208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恒定电场与静电场的重要区别：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   （</a:t>
            </a: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1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）</a:t>
            </a:r>
            <a:r>
              <a:rPr kumimoji="1" lang="zh-CN" altLang="en-US" b="1" u="sng">
                <a:solidFill>
                  <a:schemeClr val="bg1"/>
                </a:solidFill>
                <a:latin typeface="楷体_GB2312" pitchFamily="49" charset="-122"/>
              </a:rPr>
              <a:t>恒定电场可以</a:t>
            </a:r>
            <a:r>
              <a:rPr kumimoji="1" lang="zh-CN" altLang="en-US" b="1" u="sng">
                <a:solidFill>
                  <a:srgbClr val="FF0000"/>
                </a:solidFill>
                <a:latin typeface="楷体_GB2312" pitchFamily="49" charset="-122"/>
              </a:rPr>
              <a:t>存在于导体内部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   （</a:t>
            </a: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2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）恒定电场中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</a:rPr>
              <a:t>有电场能量的损耗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，要维持导体中的恒定电流，就必须有外加电源来不断补充被损耗的电场能量。</a:t>
            </a:r>
          </a:p>
        </p:txBody>
      </p:sp>
      <p:sp>
        <p:nvSpPr>
          <p:cNvPr id="972804" name="Rectangle 4">
            <a:extLst>
              <a:ext uri="{FF2B5EF4-FFF2-40B4-BE49-F238E27FC236}">
                <a16:creationId xmlns:a16="http://schemas.microsoft.com/office/drawing/2014/main" id="{86764BD2-5961-6642-454E-10335E7BB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8413"/>
            <a:ext cx="93249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恒定电场和静电场都是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</a:rPr>
              <a:t>有散无旋场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，具有相同的性质。  </a:t>
            </a:r>
          </a:p>
        </p:txBody>
      </p:sp>
      <p:sp>
        <p:nvSpPr>
          <p:cNvPr id="50181" name="AutoShape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AE3B3E6-E88B-BDA7-8D8C-4B8A0BEF2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0182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8CC0DBA-FE57-6436-3F6D-C5B1DF7C3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0183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6EAD1AD-DFF7-C7BC-EDCC-9924AF1A1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0184" name="AutoShape 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E232EE7C-0BA1-7FD7-C5B9-86DC4A95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972812" name="Text Box 12">
            <a:extLst>
              <a:ext uri="{FF2B5EF4-FFF2-40B4-BE49-F238E27FC236}">
                <a16:creationId xmlns:a16="http://schemas.microsoft.com/office/drawing/2014/main" id="{34EE757D-0478-AE3C-041C-FC726B7AE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630238"/>
            <a:ext cx="277336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</a:t>
            </a:r>
            <a:r>
              <a:rPr kumimoji="1" lang="zh-CN" altLang="en-US" b="1">
                <a:solidFill>
                  <a:srgbClr val="FF9900"/>
                </a:solidFill>
                <a:ea typeface="宋体" panose="02010600030101010101" pitchFamily="2" charset="-122"/>
              </a:rPr>
              <a:t>相同点</a:t>
            </a:r>
            <a:r>
              <a:rPr kumimoji="1" lang="zh-CN" altLang="en-US" b="1">
                <a:solidFill>
                  <a:srgbClr val="FF9933"/>
                </a:solidFill>
              </a:rPr>
              <a:t>：</a:t>
            </a:r>
          </a:p>
        </p:txBody>
      </p:sp>
      <p:sp>
        <p:nvSpPr>
          <p:cNvPr id="972813" name="Text Box 13">
            <a:extLst>
              <a:ext uri="{FF2B5EF4-FFF2-40B4-BE49-F238E27FC236}">
                <a16:creationId xmlns:a16="http://schemas.microsoft.com/office/drawing/2014/main" id="{F26522DD-4FA2-BED3-57CD-20F36A8F7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01900"/>
            <a:ext cx="2773363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</a:t>
            </a:r>
            <a:r>
              <a:rPr kumimoji="1" lang="zh-CN" altLang="en-US" b="1">
                <a:solidFill>
                  <a:srgbClr val="FF9900"/>
                </a:solidFill>
                <a:ea typeface="宋体" panose="02010600030101010101" pitchFamily="2" charset="-122"/>
              </a:rPr>
              <a:t>不同点</a:t>
            </a:r>
            <a:r>
              <a:rPr kumimoji="1" lang="zh-CN" altLang="en-US" b="1">
                <a:solidFill>
                  <a:srgbClr val="FF9933"/>
                </a:solidFill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72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7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97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7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97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12" grpId="0"/>
      <p:bldP spid="9728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2">
            <a:extLst>
              <a:ext uri="{FF2B5EF4-FFF2-40B4-BE49-F238E27FC236}">
                <a16:creationId xmlns:a16="http://schemas.microsoft.com/office/drawing/2014/main" id="{EA034ADD-A881-BEEC-7CB1-743276D1B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CA49E46-FA22-4583-A943-9ED922692BFD}" type="slidenum">
              <a:rPr lang="en-US" altLang="zh-CN" sz="1400">
                <a:ea typeface="宋体" panose="02010600030101010101" pitchFamily="2" charset="-122"/>
              </a:rPr>
              <a:pPr/>
              <a:t>4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graphicFrame>
        <p:nvGraphicFramePr>
          <p:cNvPr id="778242" name="Object 2">
            <a:extLst>
              <a:ext uri="{FF2B5EF4-FFF2-40B4-BE49-F238E27FC236}">
                <a16:creationId xmlns:a16="http://schemas.microsoft.com/office/drawing/2014/main" id="{CDBDEA8B-76C9-61FA-DF02-936DF73FE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716338"/>
          <a:ext cx="10810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06265" imgH="139835" progId="Equation.3">
                  <p:embed/>
                </p:oleObj>
              </mc:Choice>
              <mc:Fallback>
                <p:oleObj name="公式" r:id="rId3" imgW="406265" imgH="139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716338"/>
                        <a:ext cx="10810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3" name="Object 3">
            <a:extLst>
              <a:ext uri="{FF2B5EF4-FFF2-40B4-BE49-F238E27FC236}">
                <a16:creationId xmlns:a16="http://schemas.microsoft.com/office/drawing/2014/main" id="{DD906454-C0B6-B44D-427A-1F932C3E1B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2117725"/>
          <a:ext cx="1990725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78006" imgH="603115" progId="Equation.3">
                  <p:embed/>
                </p:oleObj>
              </mc:Choice>
              <mc:Fallback>
                <p:oleObj name="公式" r:id="rId5" imgW="578006" imgH="6031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117725"/>
                        <a:ext cx="1990725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4" name="Object 4">
            <a:extLst>
              <a:ext uri="{FF2B5EF4-FFF2-40B4-BE49-F238E27FC236}">
                <a16:creationId xmlns:a16="http://schemas.microsoft.com/office/drawing/2014/main" id="{2047A36D-4C06-3C36-10D5-4DE88B1DA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75" y="2490788"/>
          <a:ext cx="141287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97043" imgH="463685" progId="Equation.3">
                  <p:embed/>
                </p:oleObj>
              </mc:Choice>
              <mc:Fallback>
                <p:oleObj name="公式" r:id="rId7" imgW="597043" imgH="4636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2490788"/>
                        <a:ext cx="1412875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50" name="Rectangle 10">
            <a:extLst>
              <a:ext uri="{FF2B5EF4-FFF2-40B4-BE49-F238E27FC236}">
                <a16:creationId xmlns:a16="http://schemas.microsoft.com/office/drawing/2014/main" id="{46E3F5CA-AC6F-60E9-4321-693970010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92150"/>
            <a:ext cx="33845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rgbClr val="FF7C80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基本方程（电源外部）</a:t>
            </a:r>
          </a:p>
        </p:txBody>
      </p:sp>
      <p:sp>
        <p:nvSpPr>
          <p:cNvPr id="778252" name="Rectangle 12">
            <a:extLst>
              <a:ext uri="{FF2B5EF4-FFF2-40B4-BE49-F238E27FC236}">
                <a16:creationId xmlns:a16="http://schemas.microsoft.com/office/drawing/2014/main" id="{5501BB8C-F17A-F582-674C-1A7C5B706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16113"/>
            <a:ext cx="5832475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恒定电场的基本方程为</a:t>
            </a:r>
          </a:p>
        </p:txBody>
      </p:sp>
      <p:sp>
        <p:nvSpPr>
          <p:cNvPr id="778253" name="Rectangle 13">
            <a:extLst>
              <a:ext uri="{FF2B5EF4-FFF2-40B4-BE49-F238E27FC236}">
                <a16:creationId xmlns:a16="http://schemas.microsoft.com/office/drawing/2014/main" id="{623B0AA4-139E-EF54-4663-22A8810E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62238"/>
            <a:ext cx="2124075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微分形式：</a:t>
            </a:r>
          </a:p>
        </p:txBody>
      </p:sp>
      <p:sp>
        <p:nvSpPr>
          <p:cNvPr id="778254" name="Rectangle 14">
            <a:extLst>
              <a:ext uri="{FF2B5EF4-FFF2-40B4-BE49-F238E27FC236}">
                <a16:creationId xmlns:a16="http://schemas.microsoft.com/office/drawing/2014/main" id="{C8FD6E1A-4804-3D2F-64A7-DAD9D639D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2662238"/>
            <a:ext cx="2124075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积分形式：</a:t>
            </a:r>
          </a:p>
        </p:txBody>
      </p:sp>
      <p:graphicFrame>
        <p:nvGraphicFramePr>
          <p:cNvPr id="52234" name="Object 6">
            <a:extLst>
              <a:ext uri="{FF2B5EF4-FFF2-40B4-BE49-F238E27FC236}">
                <a16:creationId xmlns:a16="http://schemas.microsoft.com/office/drawing/2014/main" id="{FBE87E91-C4B5-6689-30A7-E85F07528C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1341438"/>
          <a:ext cx="657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3966" imgH="164965" progId="Equation.3">
                  <p:embed/>
                </p:oleObj>
              </mc:Choice>
              <mc:Fallback>
                <p:oleObj name="公式" r:id="rId9" imgW="253966" imgH="1649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341438"/>
                        <a:ext cx="657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Rectangle 11">
            <a:extLst>
              <a:ext uri="{FF2B5EF4-FFF2-40B4-BE49-F238E27FC236}">
                <a16:creationId xmlns:a16="http://schemas.microsoft.com/office/drawing/2014/main" id="{B8897FE2-201C-343E-B037-C2AFCAE21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8413"/>
            <a:ext cx="709295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1" lang="zh-CN" altLang="en-US" b="1" u="sng">
                <a:solidFill>
                  <a:schemeClr val="bg1"/>
                </a:solidFill>
                <a:latin typeface="Times New Roman" panose="02020603050405020304" pitchFamily="18" charset="0"/>
              </a:rPr>
              <a:t>恒定电场基本场矢量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是</a:t>
            </a:r>
            <a:r>
              <a:rPr kumimoji="1" lang="zh-CN" altLang="en-US" b="1">
                <a:solidFill>
                  <a:srgbClr val="FF9900"/>
                </a:solidFill>
                <a:latin typeface="Times New Roman" panose="02020603050405020304" pitchFamily="18" charset="0"/>
              </a:rPr>
              <a:t>电流密度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       和电场强度</a:t>
            </a:r>
          </a:p>
        </p:txBody>
      </p:sp>
      <p:graphicFrame>
        <p:nvGraphicFramePr>
          <p:cNvPr id="52236" name="Object 16">
            <a:extLst>
              <a:ext uri="{FF2B5EF4-FFF2-40B4-BE49-F238E27FC236}">
                <a16:creationId xmlns:a16="http://schemas.microsoft.com/office/drawing/2014/main" id="{605278D5-C27E-31F1-8065-E1BC9A0B3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1341438"/>
          <a:ext cx="6826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73004" imgH="164965" progId="Equation.3">
                  <p:embed/>
                </p:oleObj>
              </mc:Choice>
              <mc:Fallback>
                <p:oleObj name="公式" r:id="rId11" imgW="273004" imgH="16496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341438"/>
                        <a:ext cx="6826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57" name="Rectangle 17">
            <a:extLst>
              <a:ext uri="{FF2B5EF4-FFF2-40B4-BE49-F238E27FC236}">
                <a16:creationId xmlns:a16="http://schemas.microsoft.com/office/drawing/2014/main" id="{467AF3CA-6812-AEED-9AD6-ABFF7865F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644900"/>
            <a:ext cx="62642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线性各向同性导电媒质的本构关系</a:t>
            </a:r>
          </a:p>
        </p:txBody>
      </p:sp>
      <p:graphicFrame>
        <p:nvGraphicFramePr>
          <p:cNvPr id="778258" name="Object 18">
            <a:extLst>
              <a:ext uri="{FF2B5EF4-FFF2-40B4-BE49-F238E27FC236}">
                <a16:creationId xmlns:a16="http://schemas.microsoft.com/office/drawing/2014/main" id="{BC4296DC-64EE-63E5-77E3-B1578B9C20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2188" y="4279900"/>
          <a:ext cx="33623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19389" imgH="164965" progId="Equation.3">
                  <p:embed/>
                </p:oleObj>
              </mc:Choice>
              <mc:Fallback>
                <p:oleObj name="公式" r:id="rId13" imgW="1619389" imgH="16496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4279900"/>
                        <a:ext cx="33623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60" name="Rectangle 20">
            <a:extLst>
              <a:ext uri="{FF2B5EF4-FFF2-40B4-BE49-F238E27FC236}">
                <a16:creationId xmlns:a16="http://schemas.microsoft.com/office/drawing/2014/main" id="{222DFE17-EF5E-A938-6A57-BA52A8E21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724400"/>
            <a:ext cx="489585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恒定电场的电位函数</a:t>
            </a:r>
          </a:p>
        </p:txBody>
      </p:sp>
      <p:graphicFrame>
        <p:nvGraphicFramePr>
          <p:cNvPr id="778261" name="Object 21">
            <a:extLst>
              <a:ext uri="{FF2B5EF4-FFF2-40B4-BE49-F238E27FC236}">
                <a16:creationId xmlns:a16="http://schemas.microsoft.com/office/drawing/2014/main" id="{FF138FBD-1125-A774-6504-769D7E87F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322888"/>
          <a:ext cx="1255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39931" imgH="139835" progId="Equation.3">
                  <p:embed/>
                </p:oleObj>
              </mc:Choice>
              <mc:Fallback>
                <p:oleObj name="公式" r:id="rId15" imgW="539931" imgH="13983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322888"/>
                        <a:ext cx="1255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275" name="Group 35">
            <a:extLst>
              <a:ext uri="{FF2B5EF4-FFF2-40B4-BE49-F238E27FC236}">
                <a16:creationId xmlns:a16="http://schemas.microsoft.com/office/drawing/2014/main" id="{0C6466D0-AB17-CADB-DCC0-FF784F7F7EF1}"/>
              </a:ext>
            </a:extLst>
          </p:cNvPr>
          <p:cNvGrpSpPr>
            <a:grpSpLocks/>
          </p:cNvGrpSpPr>
          <p:nvPr/>
        </p:nvGrpSpPr>
        <p:grpSpPr bwMode="auto">
          <a:xfrm>
            <a:off x="6989763" y="4221163"/>
            <a:ext cx="1831975" cy="474662"/>
            <a:chOff x="4403" y="2659"/>
            <a:chExt cx="1154" cy="299"/>
          </a:xfrm>
        </p:grpSpPr>
        <p:graphicFrame>
          <p:nvGraphicFramePr>
            <p:cNvPr id="52262" name="Object 19">
              <a:extLst>
                <a:ext uri="{FF2B5EF4-FFF2-40B4-BE49-F238E27FC236}">
                  <a16:creationId xmlns:a16="http://schemas.microsoft.com/office/drawing/2014/main" id="{F7235B44-2EA9-080E-F520-125BC9D885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2659"/>
            <a:ext cx="77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482414" imgH="139835" progId="Equation.3">
                    <p:embed/>
                  </p:oleObj>
                </mc:Choice>
                <mc:Fallback>
                  <p:oleObj name="公式" r:id="rId17" imgW="482414" imgH="13983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2659"/>
                          <a:ext cx="77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63" name="AutoShape 23">
              <a:extLst>
                <a:ext uri="{FF2B5EF4-FFF2-40B4-BE49-F238E27FC236}">
                  <a16:creationId xmlns:a16="http://schemas.microsoft.com/office/drawing/2014/main" id="{CCE248D2-6D74-0787-FCF0-FA7A90C32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2762"/>
              <a:ext cx="363" cy="169"/>
            </a:xfrm>
            <a:prstGeom prst="rightArrow">
              <a:avLst>
                <a:gd name="adj1" fmla="val 50000"/>
                <a:gd name="adj2" fmla="val 53698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778274" name="Group 34">
            <a:extLst>
              <a:ext uri="{FF2B5EF4-FFF2-40B4-BE49-F238E27FC236}">
                <a16:creationId xmlns:a16="http://schemas.microsoft.com/office/drawing/2014/main" id="{01ED4752-B2F9-29F9-E56F-BE880E86DD5D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5322888"/>
            <a:ext cx="1974850" cy="482600"/>
            <a:chOff x="1701" y="3353"/>
            <a:chExt cx="1244" cy="304"/>
          </a:xfrm>
        </p:grpSpPr>
        <p:graphicFrame>
          <p:nvGraphicFramePr>
            <p:cNvPr id="52260" name="Object 5">
              <a:extLst>
                <a:ext uri="{FF2B5EF4-FFF2-40B4-BE49-F238E27FC236}">
                  <a16:creationId xmlns:a16="http://schemas.microsoft.com/office/drawing/2014/main" id="{690A51C1-2B8E-D894-BE3C-34FB3176AA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4" y="3353"/>
            <a:ext cx="79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539931" imgH="164965" progId="Equation.3">
                    <p:embed/>
                  </p:oleObj>
                </mc:Choice>
                <mc:Fallback>
                  <p:oleObj name="公式" r:id="rId19" imgW="539931" imgH="1649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3353"/>
                          <a:ext cx="79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61" name="AutoShape 24">
              <a:extLst>
                <a:ext uri="{FF2B5EF4-FFF2-40B4-BE49-F238E27FC236}">
                  <a16:creationId xmlns:a16="http://schemas.microsoft.com/office/drawing/2014/main" id="{A9E76843-130D-E021-CA14-7FC69B98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444"/>
              <a:ext cx="363" cy="168"/>
            </a:xfrm>
            <a:prstGeom prst="rightArrow">
              <a:avLst>
                <a:gd name="adj1" fmla="val 50000"/>
                <a:gd name="adj2" fmla="val 54018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778273" name="Group 33">
            <a:extLst>
              <a:ext uri="{FF2B5EF4-FFF2-40B4-BE49-F238E27FC236}">
                <a16:creationId xmlns:a16="http://schemas.microsoft.com/office/drawing/2014/main" id="{F283ED03-D437-4CD3-B8E2-D5F1DD89D2F3}"/>
              </a:ext>
            </a:extLst>
          </p:cNvPr>
          <p:cNvGrpSpPr>
            <a:grpSpLocks/>
          </p:cNvGrpSpPr>
          <p:nvPr/>
        </p:nvGrpSpPr>
        <p:grpSpPr bwMode="auto">
          <a:xfrm>
            <a:off x="576263" y="5789613"/>
            <a:ext cx="2124075" cy="649287"/>
            <a:chOff x="363" y="3647"/>
            <a:chExt cx="1338" cy="409"/>
          </a:xfrm>
        </p:grpSpPr>
        <p:graphicFrame>
          <p:nvGraphicFramePr>
            <p:cNvPr id="52258" name="Object 15">
              <a:extLst>
                <a:ext uri="{FF2B5EF4-FFF2-40B4-BE49-F238E27FC236}">
                  <a16:creationId xmlns:a16="http://schemas.microsoft.com/office/drawing/2014/main" id="{B1AD8DFB-60D8-7417-9027-E331AAAFB8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3737"/>
            <a:ext cx="68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469858" imgH="139835" progId="Equation.3">
                    <p:embed/>
                  </p:oleObj>
                </mc:Choice>
                <mc:Fallback>
                  <p:oleObj name="公式" r:id="rId21" imgW="469858" imgH="13983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3737"/>
                          <a:ext cx="68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9" name="Rectangle 25">
              <a:extLst>
                <a:ext uri="{FF2B5EF4-FFF2-40B4-BE49-F238E27FC236}">
                  <a16:creationId xmlns:a16="http://schemas.microsoft.com/office/drawing/2014/main" id="{76C4744A-7892-46D0-B64D-5DBA4E5ED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3647"/>
              <a:ext cx="1338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由</a:t>
              </a:r>
            </a:p>
          </p:txBody>
        </p:sp>
      </p:grpSp>
      <p:grpSp>
        <p:nvGrpSpPr>
          <p:cNvPr id="778277" name="Group 37">
            <a:extLst>
              <a:ext uri="{FF2B5EF4-FFF2-40B4-BE49-F238E27FC236}">
                <a16:creationId xmlns:a16="http://schemas.microsoft.com/office/drawing/2014/main" id="{C5E6F7CB-9BB2-D51C-16FF-C27871CEB514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6005513"/>
            <a:ext cx="2376487" cy="404812"/>
            <a:chOff x="1655" y="3783"/>
            <a:chExt cx="1497" cy="255"/>
          </a:xfrm>
        </p:grpSpPr>
        <p:graphicFrame>
          <p:nvGraphicFramePr>
            <p:cNvPr id="52256" name="Object 7">
              <a:extLst>
                <a:ext uri="{FF2B5EF4-FFF2-40B4-BE49-F238E27FC236}">
                  <a16:creationId xmlns:a16="http://schemas.microsoft.com/office/drawing/2014/main" id="{80391E81-93AF-A400-F270-AAD3ED6742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0" y="3783"/>
            <a:ext cx="107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780936" imgH="133350" progId="Equation.3">
                    <p:embed/>
                  </p:oleObj>
                </mc:Choice>
                <mc:Fallback>
                  <p:oleObj name="公式" r:id="rId23" imgW="780936" imgH="13335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783"/>
                          <a:ext cx="107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7" name="AutoShape 26">
              <a:extLst>
                <a:ext uri="{FF2B5EF4-FFF2-40B4-BE49-F238E27FC236}">
                  <a16:creationId xmlns:a16="http://schemas.microsoft.com/office/drawing/2014/main" id="{103B1AD1-F93D-CFFD-6FD7-FA3A691AB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828"/>
              <a:ext cx="363" cy="146"/>
            </a:xfrm>
            <a:prstGeom prst="rightArrow">
              <a:avLst>
                <a:gd name="adj1" fmla="val 50000"/>
                <a:gd name="adj2" fmla="val 62158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778276" name="Group 36">
            <a:extLst>
              <a:ext uri="{FF2B5EF4-FFF2-40B4-BE49-F238E27FC236}">
                <a16:creationId xmlns:a16="http://schemas.microsoft.com/office/drawing/2014/main" id="{FC073B3C-072E-DE04-D2EE-D6514EDE5748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5932488"/>
            <a:ext cx="2020887" cy="520700"/>
            <a:chOff x="3285" y="3737"/>
            <a:chExt cx="1273" cy="328"/>
          </a:xfrm>
        </p:grpSpPr>
        <p:graphicFrame>
          <p:nvGraphicFramePr>
            <p:cNvPr id="52254" name="Object 22">
              <a:extLst>
                <a:ext uri="{FF2B5EF4-FFF2-40B4-BE49-F238E27FC236}">
                  <a16:creationId xmlns:a16="http://schemas.microsoft.com/office/drawing/2014/main" id="{0947615F-8DF3-A71D-3535-95B9105CB0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3737"/>
            <a:ext cx="77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463377" imgH="158885" progId="Equation.3">
                    <p:embed/>
                  </p:oleObj>
                </mc:Choice>
                <mc:Fallback>
                  <p:oleObj name="公式" r:id="rId25" imgW="463377" imgH="15888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737"/>
                          <a:ext cx="771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5" name="AutoShape 27">
              <a:extLst>
                <a:ext uri="{FF2B5EF4-FFF2-40B4-BE49-F238E27FC236}">
                  <a16:creationId xmlns:a16="http://schemas.microsoft.com/office/drawing/2014/main" id="{4FE31C57-2AC6-ACA7-CCDD-9F63DAC16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3827"/>
              <a:ext cx="363" cy="147"/>
            </a:xfrm>
            <a:prstGeom prst="rightArrow">
              <a:avLst>
                <a:gd name="adj1" fmla="val 50000"/>
                <a:gd name="adj2" fmla="val 61735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 sz="2800">
                <a:ea typeface="宋体" panose="02010600030101010101" pitchFamily="2" charset="-122"/>
              </a:endParaRPr>
            </a:p>
          </p:txBody>
        </p:sp>
      </p:grpSp>
      <p:sp>
        <p:nvSpPr>
          <p:cNvPr id="778268" name="Rectangle 28">
            <a:extLst>
              <a:ext uri="{FF2B5EF4-FFF2-40B4-BE49-F238E27FC236}">
                <a16:creationId xmlns:a16="http://schemas.microsoft.com/office/drawing/2014/main" id="{FC38F73B-05AB-F249-1429-1DD166C5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148138"/>
            <a:ext cx="51831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若媒质是均匀的，则   </a:t>
            </a:r>
          </a:p>
        </p:txBody>
      </p:sp>
      <p:grpSp>
        <p:nvGrpSpPr>
          <p:cNvPr id="778271" name="Group 31">
            <a:extLst>
              <a:ext uri="{FF2B5EF4-FFF2-40B4-BE49-F238E27FC236}">
                <a16:creationId xmlns:a16="http://schemas.microsoft.com/office/drawing/2014/main" id="{075BECAC-E256-1615-6829-4FD0B9757FCF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4724400"/>
            <a:ext cx="2016125" cy="1152525"/>
            <a:chOff x="4377" y="2886"/>
            <a:chExt cx="1270" cy="726"/>
          </a:xfrm>
        </p:grpSpPr>
        <p:sp>
          <p:nvSpPr>
            <p:cNvPr id="52252" name="Rectangle 29">
              <a:extLst>
                <a:ext uri="{FF2B5EF4-FFF2-40B4-BE49-F238E27FC236}">
                  <a16:creationId xmlns:a16="http://schemas.microsoft.com/office/drawing/2014/main" id="{F86F79E7-A270-CC32-A388-5DB39E16B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158"/>
              <a:ext cx="1270" cy="454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kumimoji="1" lang="zh-CN" altLang="en-US" sz="2000" b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均匀导电媒质中没有体分布电荷</a:t>
              </a:r>
            </a:p>
          </p:txBody>
        </p:sp>
        <p:sp>
          <p:nvSpPr>
            <p:cNvPr id="52253" name="Line 30">
              <a:extLst>
                <a:ext uri="{FF2B5EF4-FFF2-40B4-BE49-F238E27FC236}">
                  <a16:creationId xmlns:a16="http://schemas.microsoft.com/office/drawing/2014/main" id="{05F90CAD-78DC-34A7-040A-AA436281A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3" y="2886"/>
              <a:ext cx="317" cy="27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48" name="AutoShape 42">
            <a:hlinkClick r:id="rId27" action="ppaction://hlinksldjump" highlightClick="1"/>
            <a:extLst>
              <a:ext uri="{FF2B5EF4-FFF2-40B4-BE49-F238E27FC236}">
                <a16:creationId xmlns:a16="http://schemas.microsoft.com/office/drawing/2014/main" id="{44848E3D-3839-DA2C-DA02-BCF68055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2249" name="AutoShape 4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72EE5B3-217D-2E8B-C735-035D2D35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2250" name="AutoShape 4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5812D44-C4DF-A235-65B1-4F7CBBF16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2251" name="AutoShape 4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7F61091-E2DB-8ED5-3000-587C38A83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7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7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0"/>
                                        <p:tgtEl>
                                          <p:spTgt spid="77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7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0"/>
                                        <p:tgtEl>
                                          <p:spTgt spid="7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7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7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7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77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7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77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77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77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2000"/>
                                        <p:tgtEl>
                                          <p:spTgt spid="77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000"/>
                                        <p:tgtEl>
                                          <p:spTgt spid="7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7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2000"/>
                                        <p:tgtEl>
                                          <p:spTgt spid="7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50" grpId="0"/>
      <p:bldP spid="778252" grpId="0"/>
      <p:bldP spid="778253" grpId="0"/>
      <p:bldP spid="778254" grpId="0"/>
      <p:bldP spid="778257" grpId="0"/>
      <p:bldP spid="778260" grpId="0"/>
      <p:bldP spid="7782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2">
            <a:extLst>
              <a:ext uri="{FF2B5EF4-FFF2-40B4-BE49-F238E27FC236}">
                <a16:creationId xmlns:a16="http://schemas.microsoft.com/office/drawing/2014/main" id="{B0AB3E31-F1DF-4147-F5DD-0338C1D2E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CA2F886-E4C3-4C81-A00C-3EFFEA2A4541}" type="slidenum">
              <a:rPr lang="en-US" altLang="zh-CN" sz="1400">
                <a:ea typeface="宋体" panose="02010600030101010101" pitchFamily="2" charset="-122"/>
              </a:rPr>
              <a:pPr/>
              <a:t>5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779267" name="Rectangle 3">
            <a:extLst>
              <a:ext uri="{FF2B5EF4-FFF2-40B4-BE49-F238E27FC236}">
                <a16:creationId xmlns:a16="http://schemas.microsoft.com/office/drawing/2014/main" id="{AC81FDF0-B21D-22A2-739B-28CEE86A6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6250"/>
            <a:ext cx="467995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rgbClr val="FF7C80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恒定电场的边界条件</a:t>
            </a:r>
          </a:p>
        </p:txBody>
      </p:sp>
      <p:graphicFrame>
        <p:nvGraphicFramePr>
          <p:cNvPr id="779270" name="Object 6">
            <a:extLst>
              <a:ext uri="{FF2B5EF4-FFF2-40B4-BE49-F238E27FC236}">
                <a16:creationId xmlns:a16="http://schemas.microsoft.com/office/drawing/2014/main" id="{B1D1059E-B418-F494-A5D9-5A9D57BB1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388" y="2290763"/>
          <a:ext cx="16510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92230" imgH="216035" progId="Equation.3">
                  <p:embed/>
                </p:oleObj>
              </mc:Choice>
              <mc:Fallback>
                <p:oleObj name="公式" r:id="rId3" imgW="692230" imgH="2160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2290763"/>
                        <a:ext cx="16510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1" name="Object 7">
            <a:extLst>
              <a:ext uri="{FF2B5EF4-FFF2-40B4-BE49-F238E27FC236}">
                <a16:creationId xmlns:a16="http://schemas.microsoft.com/office/drawing/2014/main" id="{634F9E87-151A-FC45-144A-DA03119AD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449388"/>
          <a:ext cx="16113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26970" imgH="273185" progId="Equation.3">
                  <p:embed/>
                </p:oleObj>
              </mc:Choice>
              <mc:Fallback>
                <p:oleObj name="公式" r:id="rId5" imgW="526970" imgH="2731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49388"/>
                        <a:ext cx="16113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9273" name="Group 9">
            <a:extLst>
              <a:ext uri="{FF2B5EF4-FFF2-40B4-BE49-F238E27FC236}">
                <a16:creationId xmlns:a16="http://schemas.microsoft.com/office/drawing/2014/main" id="{390CDB0C-CE88-B01A-48D1-869E8E745B9D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3355975"/>
            <a:ext cx="3240087" cy="2449513"/>
            <a:chOff x="3651" y="1842"/>
            <a:chExt cx="2041" cy="1543"/>
          </a:xfrm>
        </p:grpSpPr>
        <p:sp>
          <p:nvSpPr>
            <p:cNvPr id="54298" name="Rectangle 10">
              <a:extLst>
                <a:ext uri="{FF2B5EF4-FFF2-40B4-BE49-F238E27FC236}">
                  <a16:creationId xmlns:a16="http://schemas.microsoft.com/office/drawing/2014/main" id="{3EC6289E-496C-625E-BB86-AD3C5CCE1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842"/>
              <a:ext cx="2041" cy="81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54299" name="Rectangle 11">
              <a:extLst>
                <a:ext uri="{FF2B5EF4-FFF2-40B4-BE49-F238E27FC236}">
                  <a16:creationId xmlns:a16="http://schemas.microsoft.com/office/drawing/2014/main" id="{6EDE842B-DD20-602F-9755-C8FA38C4F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659"/>
              <a:ext cx="2041" cy="7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54300" name="Text Box 12">
              <a:extLst>
                <a:ext uri="{FF2B5EF4-FFF2-40B4-BE49-F238E27FC236}">
                  <a16:creationId xmlns:a16="http://schemas.microsoft.com/office/drawing/2014/main" id="{FCE6B60D-A8DC-16E8-7E6C-2BC205194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59"/>
              <a:ext cx="7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楷体_GB2312" pitchFamily="49" charset="-122"/>
                </a:rPr>
                <a:t>媒质</a:t>
              </a:r>
              <a:r>
                <a:rPr kumimoji="1" lang="en-US" altLang="zh-CN" sz="2000" b="1">
                  <a:latin typeface="楷体_GB2312" pitchFamily="49" charset="-122"/>
                </a:rPr>
                <a:t>2</a:t>
              </a:r>
            </a:p>
          </p:txBody>
        </p:sp>
        <p:sp>
          <p:nvSpPr>
            <p:cNvPr id="54301" name="Text Box 13">
              <a:extLst>
                <a:ext uri="{FF2B5EF4-FFF2-40B4-BE49-F238E27FC236}">
                  <a16:creationId xmlns:a16="http://schemas.microsoft.com/office/drawing/2014/main" id="{8953160B-23C1-517A-6D05-182744B60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296"/>
              <a:ext cx="5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楷体_GB2312" pitchFamily="49" charset="-122"/>
                </a:rPr>
                <a:t>媒质</a:t>
              </a:r>
              <a:r>
                <a:rPr kumimoji="1" lang="en-US" altLang="zh-CN" sz="2000" b="1">
                  <a:latin typeface="楷体_GB2312" pitchFamily="49" charset="-122"/>
                </a:rPr>
                <a:t>1</a:t>
              </a:r>
            </a:p>
          </p:txBody>
        </p:sp>
        <p:graphicFrame>
          <p:nvGraphicFramePr>
            <p:cNvPr id="54302" name="Object 14">
              <a:extLst>
                <a:ext uri="{FF2B5EF4-FFF2-40B4-BE49-F238E27FC236}">
                  <a16:creationId xmlns:a16="http://schemas.microsoft.com/office/drawing/2014/main" id="{91F994BD-4ED7-5DFB-4598-4DB94F3A65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9" y="2704"/>
            <a:ext cx="20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335" imgH="215713" progId="Equation.3">
                    <p:embed/>
                  </p:oleObj>
                </mc:Choice>
                <mc:Fallback>
                  <p:oleObj name="Equation" r:id="rId7" imgW="190335" imgH="21571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9" y="2704"/>
                          <a:ext cx="20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3" name="Object 15">
              <a:extLst>
                <a:ext uri="{FF2B5EF4-FFF2-40B4-BE49-F238E27FC236}">
                  <a16:creationId xmlns:a16="http://schemas.microsoft.com/office/drawing/2014/main" id="{748F4A85-4D14-79B8-B778-D26CD44238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9" y="2387"/>
            <a:ext cx="22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77569" imgH="215619" progId="Equation.3">
                    <p:embed/>
                  </p:oleObj>
                </mc:Choice>
                <mc:Fallback>
                  <p:oleObj name="公式" r:id="rId9" imgW="177569" imgH="21561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9" y="2387"/>
                          <a:ext cx="22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4" name="Line 16">
              <a:extLst>
                <a:ext uri="{FF2B5EF4-FFF2-40B4-BE49-F238E27FC236}">
                  <a16:creationId xmlns:a16="http://schemas.microsoft.com/office/drawing/2014/main" id="{EB5AA689-CFD5-A231-2E0E-D50E7D6F9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659"/>
              <a:ext cx="431" cy="31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5" name="Line 17">
              <a:extLst>
                <a:ext uri="{FF2B5EF4-FFF2-40B4-BE49-F238E27FC236}">
                  <a16:creationId xmlns:a16="http://schemas.microsoft.com/office/drawing/2014/main" id="{D0328B57-3FFD-188A-04FD-BE20E4306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0" y="2071"/>
              <a:ext cx="0" cy="1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Line 18">
              <a:extLst>
                <a:ext uri="{FF2B5EF4-FFF2-40B4-BE49-F238E27FC236}">
                  <a16:creationId xmlns:a16="http://schemas.microsoft.com/office/drawing/2014/main" id="{030BD046-CAAD-2B5F-EE8D-4A97DFF27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2088"/>
              <a:ext cx="431" cy="57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7" name="Freeform 19">
              <a:extLst>
                <a:ext uri="{FF2B5EF4-FFF2-40B4-BE49-F238E27FC236}">
                  <a16:creationId xmlns:a16="http://schemas.microsoft.com/office/drawing/2014/main" id="{82839670-889A-2D7B-3874-D52EC60C4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761"/>
              <a:ext cx="170" cy="91"/>
            </a:xfrm>
            <a:custGeom>
              <a:avLst/>
              <a:gdLst>
                <a:gd name="T0" fmla="*/ 0 w 192"/>
                <a:gd name="T1" fmla="*/ 0 h 112"/>
                <a:gd name="T2" fmla="*/ 24 w 192"/>
                <a:gd name="T3" fmla="*/ 10 h 112"/>
                <a:gd name="T4" fmla="*/ 51 w 192"/>
                <a:gd name="T5" fmla="*/ 1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12">
                  <a:moveTo>
                    <a:pt x="0" y="0"/>
                  </a:moveTo>
                  <a:cubicBezTo>
                    <a:pt x="32" y="40"/>
                    <a:pt x="64" y="80"/>
                    <a:pt x="96" y="96"/>
                  </a:cubicBezTo>
                  <a:cubicBezTo>
                    <a:pt x="128" y="112"/>
                    <a:pt x="160" y="104"/>
                    <a:pt x="192" y="96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8" name="Freeform 20">
              <a:extLst>
                <a:ext uri="{FF2B5EF4-FFF2-40B4-BE49-F238E27FC236}">
                  <a16:creationId xmlns:a16="http://schemas.microsoft.com/office/drawing/2014/main" id="{D8076CB0-C132-1926-BEDA-BF7CC304E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2385"/>
              <a:ext cx="148" cy="59"/>
            </a:xfrm>
            <a:custGeom>
              <a:avLst/>
              <a:gdLst>
                <a:gd name="T0" fmla="*/ 0 w 192"/>
                <a:gd name="T1" fmla="*/ 99 h 56"/>
                <a:gd name="T2" fmla="*/ 5 w 192"/>
                <a:gd name="T3" fmla="*/ 8 h 56"/>
                <a:gd name="T4" fmla="*/ 12 w 192"/>
                <a:gd name="T5" fmla="*/ 8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56">
                  <a:moveTo>
                    <a:pt x="0" y="56"/>
                  </a:moveTo>
                  <a:cubicBezTo>
                    <a:pt x="32" y="36"/>
                    <a:pt x="64" y="16"/>
                    <a:pt x="96" y="8"/>
                  </a:cubicBezTo>
                  <a:cubicBezTo>
                    <a:pt x="128" y="0"/>
                    <a:pt x="168" y="8"/>
                    <a:pt x="192" y="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309" name="Object 21">
              <a:extLst>
                <a:ext uri="{FF2B5EF4-FFF2-40B4-BE49-F238E27FC236}">
                  <a16:creationId xmlns:a16="http://schemas.microsoft.com/office/drawing/2014/main" id="{68A935FD-182A-25A4-BFA3-F13206DD1C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2" y="2803"/>
            <a:ext cx="22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5" imgH="215619" progId="Equation.3">
                    <p:embed/>
                  </p:oleObj>
                </mc:Choice>
                <mc:Fallback>
                  <p:oleObj name="Equation" r:id="rId11" imgW="164885" imgH="215619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" y="2803"/>
                          <a:ext cx="228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10" name="Object 22">
              <a:extLst>
                <a:ext uri="{FF2B5EF4-FFF2-40B4-BE49-F238E27FC236}">
                  <a16:creationId xmlns:a16="http://schemas.microsoft.com/office/drawing/2014/main" id="{40C39230-024F-9717-2A87-43C5B1AD1C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9" y="2121"/>
            <a:ext cx="24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215713" progId="Equation.3">
                    <p:embed/>
                  </p:oleObj>
                </mc:Choice>
                <mc:Fallback>
                  <p:oleObj name="Equation" r:id="rId13" imgW="152268" imgH="21571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121"/>
                          <a:ext cx="24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11" name="Object 23">
              <a:extLst>
                <a:ext uri="{FF2B5EF4-FFF2-40B4-BE49-F238E27FC236}">
                  <a16:creationId xmlns:a16="http://schemas.microsoft.com/office/drawing/2014/main" id="{16164FCE-B0C1-7316-2B24-02381516B7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8" y="2846"/>
            <a:ext cx="57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406224" imgH="241195" progId="Equation.3">
                    <p:embed/>
                  </p:oleObj>
                </mc:Choice>
                <mc:Fallback>
                  <p:oleObj name="公式" r:id="rId15" imgW="406224" imgH="24119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2846"/>
                          <a:ext cx="57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12" name="Object 24">
              <a:extLst>
                <a:ext uri="{FF2B5EF4-FFF2-40B4-BE49-F238E27FC236}">
                  <a16:creationId xmlns:a16="http://schemas.microsoft.com/office/drawing/2014/main" id="{F39DD670-F9F5-A031-0066-535EAEF1F6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8" y="1879"/>
            <a:ext cx="583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380835" imgH="241195" progId="Equation.3">
                    <p:embed/>
                  </p:oleObj>
                </mc:Choice>
                <mc:Fallback>
                  <p:oleObj name="公式" r:id="rId17" imgW="380835" imgH="24119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8" y="1879"/>
                          <a:ext cx="583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13" name="Object 25">
              <a:extLst>
                <a:ext uri="{FF2B5EF4-FFF2-40B4-BE49-F238E27FC236}">
                  <a16:creationId xmlns:a16="http://schemas.microsoft.com/office/drawing/2014/main" id="{F7453461-D2B8-58B4-C792-55C89FBFB6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8" y="1939"/>
            <a:ext cx="27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64885" imgH="215619" progId="Equation.3">
                    <p:embed/>
                  </p:oleObj>
                </mc:Choice>
                <mc:Fallback>
                  <p:oleObj name="公式" r:id="rId19" imgW="164885" imgH="21561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1939"/>
                          <a:ext cx="27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14" name="Rectangle 26">
              <a:extLst>
                <a:ext uri="{FF2B5EF4-FFF2-40B4-BE49-F238E27FC236}">
                  <a16:creationId xmlns:a16="http://schemas.microsoft.com/office/drawing/2014/main" id="{82E1F391-8FF8-55E5-6775-F1091939F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842"/>
              <a:ext cx="2041" cy="154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779302" name="Group 38">
            <a:extLst>
              <a:ext uri="{FF2B5EF4-FFF2-40B4-BE49-F238E27FC236}">
                <a16:creationId xmlns:a16="http://schemas.microsoft.com/office/drawing/2014/main" id="{07DBD7AE-EE42-4F61-3475-A5B486B15A0F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497013"/>
            <a:ext cx="3108325" cy="514350"/>
            <a:chOff x="1519" y="898"/>
            <a:chExt cx="1958" cy="324"/>
          </a:xfrm>
        </p:grpSpPr>
        <p:graphicFrame>
          <p:nvGraphicFramePr>
            <p:cNvPr id="54296" name="Object 2">
              <a:extLst>
                <a:ext uri="{FF2B5EF4-FFF2-40B4-BE49-F238E27FC236}">
                  <a16:creationId xmlns:a16="http://schemas.microsoft.com/office/drawing/2014/main" id="{4D82536E-83CA-170A-51FE-4EF5851C30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4" y="898"/>
            <a:ext cx="151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933640" imgH="164965" progId="Equation.3">
                    <p:embed/>
                  </p:oleObj>
                </mc:Choice>
                <mc:Fallback>
                  <p:oleObj name="公式" r:id="rId21" imgW="933640" imgH="164965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898"/>
                          <a:ext cx="1513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7" name="AutoShape 27">
              <a:extLst>
                <a:ext uri="{FF2B5EF4-FFF2-40B4-BE49-F238E27FC236}">
                  <a16:creationId xmlns:a16="http://schemas.microsoft.com/office/drawing/2014/main" id="{201A25D9-2A93-8DFF-044A-7B95B056C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025"/>
              <a:ext cx="363" cy="182"/>
            </a:xfrm>
            <a:prstGeom prst="rightArrow">
              <a:avLst>
                <a:gd name="adj1" fmla="val 50000"/>
                <a:gd name="adj2" fmla="val 49863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779303" name="Group 39">
            <a:extLst>
              <a:ext uri="{FF2B5EF4-FFF2-40B4-BE49-F238E27FC236}">
                <a16:creationId xmlns:a16="http://schemas.microsoft.com/office/drawing/2014/main" id="{C7487F01-4687-86E9-E525-F1C8DF1A0D4A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289175"/>
            <a:ext cx="3270250" cy="508000"/>
            <a:chOff x="1519" y="1397"/>
            <a:chExt cx="2060" cy="320"/>
          </a:xfrm>
        </p:grpSpPr>
        <p:graphicFrame>
          <p:nvGraphicFramePr>
            <p:cNvPr id="54294" name="Object 5">
              <a:extLst>
                <a:ext uri="{FF2B5EF4-FFF2-40B4-BE49-F238E27FC236}">
                  <a16:creationId xmlns:a16="http://schemas.microsoft.com/office/drawing/2014/main" id="{04E2BE24-EF51-9544-5DB4-A7C7A2306A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4" y="1397"/>
            <a:ext cx="162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015865" imgH="164965" progId="Equation.3">
                    <p:embed/>
                  </p:oleObj>
                </mc:Choice>
                <mc:Fallback>
                  <p:oleObj name="公式" r:id="rId23" imgW="1015865" imgH="1649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4" y="1397"/>
                          <a:ext cx="162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5" name="AutoShape 28">
              <a:extLst>
                <a:ext uri="{FF2B5EF4-FFF2-40B4-BE49-F238E27FC236}">
                  <a16:creationId xmlns:a16="http://schemas.microsoft.com/office/drawing/2014/main" id="{C3FF5FB1-CFBD-D145-418D-002270CB6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480"/>
              <a:ext cx="363" cy="182"/>
            </a:xfrm>
            <a:prstGeom prst="rightArrow">
              <a:avLst>
                <a:gd name="adj1" fmla="val 50000"/>
                <a:gd name="adj2" fmla="val 49863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779293" name="Text Box 29">
            <a:extLst>
              <a:ext uri="{FF2B5EF4-FFF2-40B4-BE49-F238E27FC236}">
                <a16:creationId xmlns:a16="http://schemas.microsoft.com/office/drawing/2014/main" id="{21C75EF3-83A4-B31C-DA46-BA8D19BEC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55675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场矢量的边界条件</a:t>
            </a:r>
          </a:p>
        </p:txBody>
      </p:sp>
      <p:grpSp>
        <p:nvGrpSpPr>
          <p:cNvPr id="779300" name="Group 36">
            <a:extLst>
              <a:ext uri="{FF2B5EF4-FFF2-40B4-BE49-F238E27FC236}">
                <a16:creationId xmlns:a16="http://schemas.microsoft.com/office/drawing/2014/main" id="{ED6CD772-C269-6DF2-6599-BEDDBBB7C366}"/>
              </a:ext>
            </a:extLst>
          </p:cNvPr>
          <p:cNvGrpSpPr>
            <a:grpSpLocks/>
          </p:cNvGrpSpPr>
          <p:nvPr/>
        </p:nvGrpSpPr>
        <p:grpSpPr bwMode="auto">
          <a:xfrm>
            <a:off x="5578475" y="1538288"/>
            <a:ext cx="1946275" cy="522287"/>
            <a:chOff x="3514" y="890"/>
            <a:chExt cx="1226" cy="329"/>
          </a:xfrm>
        </p:grpSpPr>
        <p:graphicFrame>
          <p:nvGraphicFramePr>
            <p:cNvPr id="54292" name="Object 4">
              <a:extLst>
                <a:ext uri="{FF2B5EF4-FFF2-40B4-BE49-F238E27FC236}">
                  <a16:creationId xmlns:a16="http://schemas.microsoft.com/office/drawing/2014/main" id="{32E8AAE7-7320-7FE2-B217-1144C1EAE3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6" y="899"/>
            <a:ext cx="95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501452" imgH="139835" progId="Equation.3">
                    <p:embed/>
                  </p:oleObj>
                </mc:Choice>
                <mc:Fallback>
                  <p:oleObj name="公式" r:id="rId25" imgW="501452" imgH="13983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" y="899"/>
                          <a:ext cx="95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3" name="Text Box 30">
              <a:extLst>
                <a:ext uri="{FF2B5EF4-FFF2-40B4-BE49-F238E27FC236}">
                  <a16:creationId xmlns:a16="http://schemas.microsoft.com/office/drawing/2014/main" id="{6DB86FDA-075C-457B-EBAB-E38D0C5F9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890"/>
              <a:ext cx="7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即</a:t>
              </a:r>
            </a:p>
          </p:txBody>
        </p:sp>
      </p:grpSp>
      <p:grpSp>
        <p:nvGrpSpPr>
          <p:cNvPr id="779301" name="Group 37">
            <a:extLst>
              <a:ext uri="{FF2B5EF4-FFF2-40B4-BE49-F238E27FC236}">
                <a16:creationId xmlns:a16="http://schemas.microsoft.com/office/drawing/2014/main" id="{4D4A3DA9-3815-E9B8-9E27-988D5BC98BB0}"/>
              </a:ext>
            </a:extLst>
          </p:cNvPr>
          <p:cNvGrpSpPr>
            <a:grpSpLocks/>
          </p:cNvGrpSpPr>
          <p:nvPr/>
        </p:nvGrpSpPr>
        <p:grpSpPr bwMode="auto">
          <a:xfrm>
            <a:off x="5721350" y="2303463"/>
            <a:ext cx="1946275" cy="549275"/>
            <a:chOff x="3514" y="1360"/>
            <a:chExt cx="1226" cy="346"/>
          </a:xfrm>
        </p:grpSpPr>
        <p:graphicFrame>
          <p:nvGraphicFramePr>
            <p:cNvPr id="54290" name="Object 8">
              <a:extLst>
                <a:ext uri="{FF2B5EF4-FFF2-40B4-BE49-F238E27FC236}">
                  <a16:creationId xmlns:a16="http://schemas.microsoft.com/office/drawing/2014/main" id="{12149322-260E-6933-4ADA-3FD3E974FA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1360"/>
            <a:ext cx="953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482414" imgH="158885" progId="Equation.3">
                    <p:embed/>
                  </p:oleObj>
                </mc:Choice>
                <mc:Fallback>
                  <p:oleObj name="公式" r:id="rId27" imgW="482414" imgH="15888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360"/>
                          <a:ext cx="953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1" name="Text Box 31">
              <a:extLst>
                <a:ext uri="{FF2B5EF4-FFF2-40B4-BE49-F238E27FC236}">
                  <a16:creationId xmlns:a16="http://schemas.microsoft.com/office/drawing/2014/main" id="{FF95F435-ACE4-EB43-FEAD-365EFDA91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389"/>
              <a:ext cx="7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即</a:t>
              </a:r>
            </a:p>
          </p:txBody>
        </p:sp>
      </p:grpSp>
      <p:graphicFrame>
        <p:nvGraphicFramePr>
          <p:cNvPr id="779299" name="Object 35">
            <a:extLst>
              <a:ext uri="{FF2B5EF4-FFF2-40B4-BE49-F238E27FC236}">
                <a16:creationId xmlns:a16="http://schemas.microsoft.com/office/drawing/2014/main" id="{668D91EB-5945-39B2-EC69-96D4488E7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508500"/>
          <a:ext cx="47228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987580" imgH="361950" progId="Equation.3">
                  <p:embed/>
                </p:oleObj>
              </mc:Choice>
              <mc:Fallback>
                <p:oleObj name="公式" r:id="rId29" imgW="1987580" imgH="36195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472281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AutoShape 44">
            <a:hlinkClick r:id="rId31" action="ppaction://hlinksldjump" highlightClick="1"/>
            <a:extLst>
              <a:ext uri="{FF2B5EF4-FFF2-40B4-BE49-F238E27FC236}">
                <a16:creationId xmlns:a16="http://schemas.microsoft.com/office/drawing/2014/main" id="{6950A336-7743-5355-C774-C6E5864B6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4286" name="AutoShape 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A99305D-B882-A7C3-F4D4-D5C933C5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4287" name="AutoShape 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A819909-688F-68AE-B859-C1AF7F9A7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4288" name="AutoShape 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B88A170-D9DE-0286-0AC3-18B4CC8C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779314" name="Text Box 50">
            <a:extLst>
              <a:ext uri="{FF2B5EF4-FFF2-40B4-BE49-F238E27FC236}">
                <a16:creationId xmlns:a16="http://schemas.microsoft.com/office/drawing/2014/main" id="{0CC9AB72-FC82-3456-CDCB-A60851FE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00438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b="1" u="sng">
                <a:solidFill>
                  <a:srgbClr val="FF9900"/>
                </a:solidFill>
                <a:latin typeface="楷体_GB2312" pitchFamily="49" charset="-122"/>
              </a:rPr>
              <a:t>电流线</a:t>
            </a:r>
            <a:r>
              <a:rPr kumimoji="1" lang="zh-CN" altLang="en-US" b="1">
                <a:solidFill>
                  <a:srgbClr val="FF9900"/>
                </a:solidFill>
                <a:latin typeface="楷体_GB2312" pitchFamily="49" charset="-122"/>
              </a:rPr>
              <a:t>在界面上的折射关系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7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7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7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7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7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77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7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7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/>
      <p:bldP spid="779293" grpId="0"/>
      <p:bldP spid="7793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2">
            <a:extLst>
              <a:ext uri="{FF2B5EF4-FFF2-40B4-BE49-F238E27FC236}">
                <a16:creationId xmlns:a16="http://schemas.microsoft.com/office/drawing/2014/main" id="{3F983B89-E646-F557-F70B-293EB366D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5446301-CE85-4E45-86AF-87DC584A9742}" type="slidenum">
              <a:rPr lang="en-US" altLang="zh-CN" sz="1400">
                <a:ea typeface="宋体" panose="02010600030101010101" pitchFamily="2" charset="-122"/>
              </a:rPr>
              <a:pPr/>
              <a:t>6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56323" name="AutoShape 11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18D9F14-A2B2-D0F3-F4BA-E48E67872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6324" name="AutoShape 11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91FA631-5CB5-4EBD-D1A5-A33C549F9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6325" name="AutoShape 12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53A76FF-BEC2-556C-4099-BCB04878B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6326" name="AutoShape 12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CA43482-FB18-8104-39BF-F67BCAC02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780410" name="Text Box 122">
            <a:extLst>
              <a:ext uri="{FF2B5EF4-FFF2-40B4-BE49-F238E27FC236}">
                <a16:creationId xmlns:a16="http://schemas.microsoft.com/office/drawing/2014/main" id="{EF595437-24B8-E5AF-9264-B79C295AF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709714"/>
            <a:ext cx="630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导电媒质分界面上的电荷面密度</a:t>
            </a:r>
          </a:p>
        </p:txBody>
      </p:sp>
      <p:graphicFrame>
        <p:nvGraphicFramePr>
          <p:cNvPr id="780411" name="Object 123">
            <a:extLst>
              <a:ext uri="{FF2B5EF4-FFF2-40B4-BE49-F238E27FC236}">
                <a16:creationId xmlns:a16="http://schemas.microsoft.com/office/drawing/2014/main" id="{06C2B86A-A09F-7018-E698-7CF1C6372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410883"/>
              </p:ext>
            </p:extLst>
          </p:nvPr>
        </p:nvGraphicFramePr>
        <p:xfrm>
          <a:off x="958850" y="3284389"/>
          <a:ext cx="5413375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36732" imgH="812665" progId="Equation.3">
                  <p:embed/>
                </p:oleObj>
              </mc:Choice>
              <mc:Fallback>
                <p:oleObj name="公式" r:id="rId4" imgW="2336732" imgH="812665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3284389"/>
                        <a:ext cx="5413375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412" name="Text Box 124">
            <a:extLst>
              <a:ext uri="{FF2B5EF4-FFF2-40B4-BE49-F238E27FC236}">
                <a16:creationId xmlns:a16="http://schemas.microsoft.com/office/drawing/2014/main" id="{243545F1-2A0D-CD5A-25FD-BAEDE7E5D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404664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电位的边界条件</a:t>
            </a:r>
          </a:p>
        </p:txBody>
      </p:sp>
      <p:graphicFrame>
        <p:nvGraphicFramePr>
          <p:cNvPr id="780413" name="Object 125">
            <a:extLst>
              <a:ext uri="{FF2B5EF4-FFF2-40B4-BE49-F238E27FC236}">
                <a16:creationId xmlns:a16="http://schemas.microsoft.com/office/drawing/2014/main" id="{BED490E4-32AA-DE0A-8EDD-43940CA2E9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83758"/>
              </p:ext>
            </p:extLst>
          </p:nvPr>
        </p:nvGraphicFramePr>
        <p:xfrm>
          <a:off x="920750" y="907901"/>
          <a:ext cx="6315075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30441" imgH="558935" progId="Equation.3">
                  <p:embed/>
                </p:oleObj>
              </mc:Choice>
              <mc:Fallback>
                <p:oleObj name="公式" r:id="rId6" imgW="2730441" imgH="558935" progId="Equation.3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907901"/>
                        <a:ext cx="6315075" cy="127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648C19AF-5758-A24E-ED17-0D9B8610EA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28" y="5225261"/>
            <a:ext cx="9144000" cy="15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8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8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8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410" grpId="0"/>
      <p:bldP spid="7804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2">
            <a:extLst>
              <a:ext uri="{FF2B5EF4-FFF2-40B4-BE49-F238E27FC236}">
                <a16:creationId xmlns:a16="http://schemas.microsoft.com/office/drawing/2014/main" id="{E7A599FB-7A8D-AA9A-1AC3-47A139FF9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8F8D68B-2242-4EC7-97DF-A7911D988AEE}" type="slidenum">
              <a:rPr lang="en-US" altLang="zh-CN" sz="1400">
                <a:ea typeface="宋体" panose="02010600030101010101" pitchFamily="2" charset="-122"/>
              </a:rPr>
              <a:pPr/>
              <a:t>7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782338" name="Rectangle 2">
            <a:extLst>
              <a:ext uri="{FF2B5EF4-FFF2-40B4-BE49-F238E27FC236}">
                <a16:creationId xmlns:a16="http://schemas.microsoft.com/office/drawing/2014/main" id="{66FE0427-491E-0847-B864-A140ECB52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7772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3.2.2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恒定电场与静电场的比拟</a:t>
            </a:r>
            <a:r>
              <a:rPr kumimoji="1" lang="zh-CN" altLang="en-US" sz="20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782339" name="Rectangle 3">
            <a:extLst>
              <a:ext uri="{FF2B5EF4-FFF2-40B4-BE49-F238E27FC236}">
                <a16:creationId xmlns:a16="http://schemas.microsoft.com/office/drawing/2014/main" id="{4CECB774-C6EE-225E-8278-E2AEA2470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08050"/>
            <a:ext cx="8640763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如果两种场，在一定条件下，场方程有相同的形式，边界形状相同，边界条件等效，则其解也必有相同的形式，求解这两种场分布必然是同一个数学问题。只需求出一种场的解，就可以用对应的物理量作替换而得到另一种场的解。这种求解场的方法称为比拟法。</a:t>
            </a:r>
          </a:p>
        </p:txBody>
      </p:sp>
      <p:sp>
        <p:nvSpPr>
          <p:cNvPr id="58373" name="AutoShape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EC51AA0-60F3-E734-8735-ED084505F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8374" name="AutoShape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18B1C21-78C3-C239-EBD6-2E933249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8375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F3B388-D2B5-DE4B-6913-A754FEA09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58376" name="AutoShape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F2CFF9C-840A-E1F1-5752-6C1DD0EA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782419" name="Group 83">
            <a:extLst>
              <a:ext uri="{FF2B5EF4-FFF2-40B4-BE49-F238E27FC236}">
                <a16:creationId xmlns:a16="http://schemas.microsoft.com/office/drawing/2014/main" id="{5BB9462E-9190-C66A-00E2-25CB312D3D7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716338"/>
            <a:ext cx="3743325" cy="2736850"/>
            <a:chOff x="431" y="2341"/>
            <a:chExt cx="2358" cy="1724"/>
          </a:xfrm>
        </p:grpSpPr>
        <p:sp>
          <p:nvSpPr>
            <p:cNvPr id="58399" name="Rectangle 16">
              <a:extLst>
                <a:ext uri="{FF2B5EF4-FFF2-40B4-BE49-F238E27FC236}">
                  <a16:creationId xmlns:a16="http://schemas.microsoft.com/office/drawing/2014/main" id="{8F4E266F-3E1C-4361-54CF-AFADA0209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341"/>
              <a:ext cx="2358" cy="1724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/>
            </a:p>
          </p:txBody>
        </p:sp>
        <p:sp>
          <p:nvSpPr>
            <p:cNvPr id="58400" name="Freeform 19">
              <a:extLst>
                <a:ext uri="{FF2B5EF4-FFF2-40B4-BE49-F238E27FC236}">
                  <a16:creationId xmlns:a16="http://schemas.microsoft.com/office/drawing/2014/main" id="{35AACEFB-51EB-3BE8-E63C-79794A9C0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2448"/>
              <a:ext cx="1015" cy="313"/>
            </a:xfrm>
            <a:custGeom>
              <a:avLst/>
              <a:gdLst>
                <a:gd name="T0" fmla="*/ 0 w 1015"/>
                <a:gd name="T1" fmla="*/ 203 h 313"/>
                <a:gd name="T2" fmla="*/ 320 w 1015"/>
                <a:gd name="T3" fmla="*/ 30 h 313"/>
                <a:gd name="T4" fmla="*/ 640 w 1015"/>
                <a:gd name="T5" fmla="*/ 21 h 313"/>
                <a:gd name="T6" fmla="*/ 923 w 1015"/>
                <a:gd name="T7" fmla="*/ 149 h 313"/>
                <a:gd name="T8" fmla="*/ 1015 w 1015"/>
                <a:gd name="T9" fmla="*/ 313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5" h="313">
                  <a:moveTo>
                    <a:pt x="0" y="203"/>
                  </a:moveTo>
                  <a:cubicBezTo>
                    <a:pt x="52" y="174"/>
                    <a:pt x="213" y="60"/>
                    <a:pt x="320" y="30"/>
                  </a:cubicBezTo>
                  <a:cubicBezTo>
                    <a:pt x="427" y="0"/>
                    <a:pt x="540" y="1"/>
                    <a:pt x="640" y="21"/>
                  </a:cubicBezTo>
                  <a:cubicBezTo>
                    <a:pt x="740" y="41"/>
                    <a:pt x="861" y="100"/>
                    <a:pt x="923" y="149"/>
                  </a:cubicBezTo>
                  <a:cubicBezTo>
                    <a:pt x="985" y="198"/>
                    <a:pt x="996" y="279"/>
                    <a:pt x="1015" y="313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1" name="Freeform 20">
              <a:extLst>
                <a:ext uri="{FF2B5EF4-FFF2-40B4-BE49-F238E27FC236}">
                  <a16:creationId xmlns:a16="http://schemas.microsoft.com/office/drawing/2014/main" id="{529F575D-71A6-A484-6EB5-D15B12D18A86}"/>
                </a:ext>
              </a:extLst>
            </p:cNvPr>
            <p:cNvSpPr>
              <a:spLocks/>
            </p:cNvSpPr>
            <p:nvPr/>
          </p:nvSpPr>
          <p:spPr bwMode="auto">
            <a:xfrm rot="-422291">
              <a:off x="1110" y="3331"/>
              <a:ext cx="91" cy="369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2 h 561"/>
                <a:gd name="T4" fmla="*/ 1 w 130"/>
                <a:gd name="T5" fmla="*/ 4 h 561"/>
                <a:gd name="T6" fmla="*/ 3 w 130"/>
                <a:gd name="T7" fmla="*/ 6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2" name="Freeform 21">
              <a:extLst>
                <a:ext uri="{FF2B5EF4-FFF2-40B4-BE49-F238E27FC236}">
                  <a16:creationId xmlns:a16="http://schemas.microsoft.com/office/drawing/2014/main" id="{6E485424-A927-5952-2B2E-CEBAF7C14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2709"/>
              <a:ext cx="877" cy="171"/>
            </a:xfrm>
            <a:custGeom>
              <a:avLst/>
              <a:gdLst>
                <a:gd name="T0" fmla="*/ 0 w 877"/>
                <a:gd name="T1" fmla="*/ 98 h 171"/>
                <a:gd name="T2" fmla="*/ 311 w 877"/>
                <a:gd name="T3" fmla="*/ 6 h 171"/>
                <a:gd name="T4" fmla="*/ 649 w 877"/>
                <a:gd name="T5" fmla="*/ 61 h 171"/>
                <a:gd name="T6" fmla="*/ 877 w 877"/>
                <a:gd name="T7" fmla="*/ 171 h 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7" h="171">
                  <a:moveTo>
                    <a:pt x="0" y="98"/>
                  </a:moveTo>
                  <a:cubicBezTo>
                    <a:pt x="52" y="84"/>
                    <a:pt x="203" y="12"/>
                    <a:pt x="311" y="6"/>
                  </a:cubicBezTo>
                  <a:cubicBezTo>
                    <a:pt x="419" y="0"/>
                    <a:pt x="555" y="34"/>
                    <a:pt x="649" y="61"/>
                  </a:cubicBezTo>
                  <a:cubicBezTo>
                    <a:pt x="743" y="88"/>
                    <a:pt x="830" y="148"/>
                    <a:pt x="877" y="17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Freeform 22">
              <a:extLst>
                <a:ext uri="{FF2B5EF4-FFF2-40B4-BE49-F238E27FC236}">
                  <a16:creationId xmlns:a16="http://schemas.microsoft.com/office/drawing/2014/main" id="{A68C41AB-A77D-7956-BBFD-12A1CAE24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3036"/>
              <a:ext cx="521" cy="91"/>
            </a:xfrm>
            <a:custGeom>
              <a:avLst/>
              <a:gdLst>
                <a:gd name="T0" fmla="*/ 0 w 521"/>
                <a:gd name="T1" fmla="*/ 82 h 91"/>
                <a:gd name="T2" fmla="*/ 183 w 521"/>
                <a:gd name="T3" fmla="*/ 9 h 91"/>
                <a:gd name="T4" fmla="*/ 393 w 521"/>
                <a:gd name="T5" fmla="*/ 27 h 91"/>
                <a:gd name="T6" fmla="*/ 521 w 521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1" h="91">
                  <a:moveTo>
                    <a:pt x="0" y="82"/>
                  </a:moveTo>
                  <a:cubicBezTo>
                    <a:pt x="30" y="71"/>
                    <a:pt x="118" y="18"/>
                    <a:pt x="183" y="9"/>
                  </a:cubicBezTo>
                  <a:cubicBezTo>
                    <a:pt x="248" y="0"/>
                    <a:pt x="337" y="13"/>
                    <a:pt x="393" y="27"/>
                  </a:cubicBezTo>
                  <a:cubicBezTo>
                    <a:pt x="449" y="41"/>
                    <a:pt x="494" y="78"/>
                    <a:pt x="521" y="9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4" name="Freeform 23">
              <a:extLst>
                <a:ext uri="{FF2B5EF4-FFF2-40B4-BE49-F238E27FC236}">
                  <a16:creationId xmlns:a16="http://schemas.microsoft.com/office/drawing/2014/main" id="{04306080-B109-E777-02B4-0AC857E8A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3282"/>
              <a:ext cx="585" cy="174"/>
            </a:xfrm>
            <a:custGeom>
              <a:avLst/>
              <a:gdLst>
                <a:gd name="T0" fmla="*/ 0 w 585"/>
                <a:gd name="T1" fmla="*/ 37 h 174"/>
                <a:gd name="T2" fmla="*/ 155 w 585"/>
                <a:gd name="T3" fmla="*/ 147 h 174"/>
                <a:gd name="T4" fmla="*/ 292 w 585"/>
                <a:gd name="T5" fmla="*/ 174 h 174"/>
                <a:gd name="T6" fmla="*/ 431 w 585"/>
                <a:gd name="T7" fmla="*/ 145 h 174"/>
                <a:gd name="T8" fmla="*/ 585 w 585"/>
                <a:gd name="T9" fmla="*/ 0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5" h="174">
                  <a:moveTo>
                    <a:pt x="0" y="37"/>
                  </a:moveTo>
                  <a:cubicBezTo>
                    <a:pt x="26" y="55"/>
                    <a:pt x="106" y="124"/>
                    <a:pt x="155" y="147"/>
                  </a:cubicBezTo>
                  <a:cubicBezTo>
                    <a:pt x="204" y="170"/>
                    <a:pt x="246" y="174"/>
                    <a:pt x="292" y="174"/>
                  </a:cubicBezTo>
                  <a:cubicBezTo>
                    <a:pt x="338" y="174"/>
                    <a:pt x="382" y="174"/>
                    <a:pt x="431" y="145"/>
                  </a:cubicBezTo>
                  <a:cubicBezTo>
                    <a:pt x="480" y="116"/>
                    <a:pt x="553" y="30"/>
                    <a:pt x="585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Freeform 24">
              <a:extLst>
                <a:ext uri="{FF2B5EF4-FFF2-40B4-BE49-F238E27FC236}">
                  <a16:creationId xmlns:a16="http://schemas.microsoft.com/office/drawing/2014/main" id="{36B72BEC-3F30-666C-DD38-3599B9E5F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3304"/>
              <a:ext cx="814" cy="312"/>
            </a:xfrm>
            <a:custGeom>
              <a:avLst/>
              <a:gdLst>
                <a:gd name="T0" fmla="*/ 0 w 814"/>
                <a:gd name="T1" fmla="*/ 45 h 312"/>
                <a:gd name="T2" fmla="*/ 73 w 814"/>
                <a:gd name="T3" fmla="*/ 173 h 312"/>
                <a:gd name="T4" fmla="*/ 229 w 814"/>
                <a:gd name="T5" fmla="*/ 292 h 312"/>
                <a:gd name="T6" fmla="*/ 530 w 814"/>
                <a:gd name="T7" fmla="*/ 292 h 312"/>
                <a:gd name="T8" fmla="*/ 722 w 814"/>
                <a:gd name="T9" fmla="*/ 173 h 312"/>
                <a:gd name="T10" fmla="*/ 814 w 814"/>
                <a:gd name="T11" fmla="*/ 0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4" h="312">
                  <a:moveTo>
                    <a:pt x="0" y="45"/>
                  </a:moveTo>
                  <a:cubicBezTo>
                    <a:pt x="12" y="66"/>
                    <a:pt x="35" y="132"/>
                    <a:pt x="73" y="173"/>
                  </a:cubicBezTo>
                  <a:cubicBezTo>
                    <a:pt x="111" y="214"/>
                    <a:pt x="153" y="272"/>
                    <a:pt x="229" y="292"/>
                  </a:cubicBezTo>
                  <a:cubicBezTo>
                    <a:pt x="305" y="312"/>
                    <a:pt x="448" y="312"/>
                    <a:pt x="530" y="292"/>
                  </a:cubicBezTo>
                  <a:cubicBezTo>
                    <a:pt x="612" y="272"/>
                    <a:pt x="675" y="222"/>
                    <a:pt x="722" y="173"/>
                  </a:cubicBezTo>
                  <a:cubicBezTo>
                    <a:pt x="769" y="124"/>
                    <a:pt x="795" y="36"/>
                    <a:pt x="814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Freeform 25">
              <a:extLst>
                <a:ext uri="{FF2B5EF4-FFF2-40B4-BE49-F238E27FC236}">
                  <a16:creationId xmlns:a16="http://schemas.microsoft.com/office/drawing/2014/main" id="{EBE6108C-0CE8-0EB8-CEDC-B8113920A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3237"/>
              <a:ext cx="512" cy="111"/>
            </a:xfrm>
            <a:custGeom>
              <a:avLst/>
              <a:gdLst>
                <a:gd name="T0" fmla="*/ 0 w 512"/>
                <a:gd name="T1" fmla="*/ 27 h 111"/>
                <a:gd name="T2" fmla="*/ 174 w 512"/>
                <a:gd name="T3" fmla="*/ 91 h 111"/>
                <a:gd name="T4" fmla="*/ 275 w 512"/>
                <a:gd name="T5" fmla="*/ 109 h 111"/>
                <a:gd name="T6" fmla="*/ 384 w 512"/>
                <a:gd name="T7" fmla="*/ 82 h 111"/>
                <a:gd name="T8" fmla="*/ 512 w 512"/>
                <a:gd name="T9" fmla="*/ 0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2" h="111">
                  <a:moveTo>
                    <a:pt x="0" y="27"/>
                  </a:moveTo>
                  <a:cubicBezTo>
                    <a:pt x="29" y="38"/>
                    <a:pt x="128" y="77"/>
                    <a:pt x="174" y="91"/>
                  </a:cubicBezTo>
                  <a:cubicBezTo>
                    <a:pt x="220" y="105"/>
                    <a:pt x="240" y="111"/>
                    <a:pt x="275" y="109"/>
                  </a:cubicBezTo>
                  <a:cubicBezTo>
                    <a:pt x="310" y="107"/>
                    <a:pt x="345" y="100"/>
                    <a:pt x="384" y="82"/>
                  </a:cubicBezTo>
                  <a:cubicBezTo>
                    <a:pt x="423" y="64"/>
                    <a:pt x="485" y="17"/>
                    <a:pt x="512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Freeform 26">
              <a:extLst>
                <a:ext uri="{FF2B5EF4-FFF2-40B4-BE49-F238E27FC236}">
                  <a16:creationId xmlns:a16="http://schemas.microsoft.com/office/drawing/2014/main" id="{CCEB645A-A35C-58EE-07DB-1DB7E7FF4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886"/>
              <a:ext cx="771" cy="176"/>
            </a:xfrm>
            <a:custGeom>
              <a:avLst/>
              <a:gdLst>
                <a:gd name="T0" fmla="*/ 0 w 861"/>
                <a:gd name="T1" fmla="*/ 55 h 185"/>
                <a:gd name="T2" fmla="*/ 90 w 861"/>
                <a:gd name="T3" fmla="*/ 6 h 185"/>
                <a:gd name="T4" fmla="*/ 183 w 861"/>
                <a:gd name="T5" fmla="*/ 35 h 185"/>
                <a:gd name="T6" fmla="*/ 256 w 861"/>
                <a:gd name="T7" fmla="*/ 107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1" h="185">
                  <a:moveTo>
                    <a:pt x="0" y="95"/>
                  </a:moveTo>
                  <a:cubicBezTo>
                    <a:pt x="51" y="80"/>
                    <a:pt x="202" y="12"/>
                    <a:pt x="305" y="6"/>
                  </a:cubicBezTo>
                  <a:cubicBezTo>
                    <a:pt x="408" y="0"/>
                    <a:pt x="523" y="31"/>
                    <a:pt x="616" y="61"/>
                  </a:cubicBezTo>
                  <a:cubicBezTo>
                    <a:pt x="709" y="91"/>
                    <a:pt x="810" y="159"/>
                    <a:pt x="861" y="185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Freeform 27">
              <a:extLst>
                <a:ext uri="{FF2B5EF4-FFF2-40B4-BE49-F238E27FC236}">
                  <a16:creationId xmlns:a16="http://schemas.microsoft.com/office/drawing/2014/main" id="{29AFB7C0-D6DB-7EC0-969A-63CC0D5B5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203"/>
              <a:ext cx="499" cy="1"/>
            </a:xfrm>
            <a:custGeom>
              <a:avLst/>
              <a:gdLst>
                <a:gd name="T0" fmla="*/ 0 w 499"/>
                <a:gd name="T1" fmla="*/ 0 h 1"/>
                <a:gd name="T2" fmla="*/ 499 w 49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9" h="1">
                  <a:moveTo>
                    <a:pt x="0" y="0"/>
                  </a:moveTo>
                  <a:cubicBezTo>
                    <a:pt x="208" y="0"/>
                    <a:pt x="416" y="0"/>
                    <a:pt x="499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9" name="Freeform 28">
              <a:extLst>
                <a:ext uri="{FF2B5EF4-FFF2-40B4-BE49-F238E27FC236}">
                  <a16:creationId xmlns:a16="http://schemas.microsoft.com/office/drawing/2014/main" id="{3DB226C7-6938-7808-86CE-9AB456FBCD97}"/>
                </a:ext>
              </a:extLst>
            </p:cNvPr>
            <p:cNvSpPr>
              <a:spLocks/>
            </p:cNvSpPr>
            <p:nvPr/>
          </p:nvSpPr>
          <p:spPr bwMode="auto">
            <a:xfrm rot="744496">
              <a:off x="931" y="3288"/>
              <a:ext cx="47" cy="384"/>
            </a:xfrm>
            <a:custGeom>
              <a:avLst/>
              <a:gdLst>
                <a:gd name="T0" fmla="*/ 0 w 130"/>
                <a:gd name="T1" fmla="*/ 0 h 561"/>
                <a:gd name="T2" fmla="*/ 0 w 130"/>
                <a:gd name="T3" fmla="*/ 3 h 561"/>
                <a:gd name="T4" fmla="*/ 0 w 130"/>
                <a:gd name="T5" fmla="*/ 5 h 561"/>
                <a:gd name="T6" fmla="*/ 0 w 130"/>
                <a:gd name="T7" fmla="*/ 8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0" name="Freeform 30">
              <a:extLst>
                <a:ext uri="{FF2B5EF4-FFF2-40B4-BE49-F238E27FC236}">
                  <a16:creationId xmlns:a16="http://schemas.microsoft.com/office/drawing/2014/main" id="{A3502148-541A-1949-4C82-EDF40C1FD680}"/>
                </a:ext>
              </a:extLst>
            </p:cNvPr>
            <p:cNvSpPr>
              <a:spLocks/>
            </p:cNvSpPr>
            <p:nvPr/>
          </p:nvSpPr>
          <p:spPr bwMode="auto">
            <a:xfrm rot="20884883" flipH="1">
              <a:off x="1837" y="2750"/>
              <a:ext cx="590" cy="589"/>
            </a:xfrm>
            <a:custGeom>
              <a:avLst/>
              <a:gdLst>
                <a:gd name="T0" fmla="*/ 0 w 763"/>
                <a:gd name="T1" fmla="*/ 19 h 730"/>
                <a:gd name="T2" fmla="*/ 5 w 763"/>
                <a:gd name="T3" fmla="*/ 6 h 730"/>
                <a:gd name="T4" fmla="*/ 18 w 763"/>
                <a:gd name="T5" fmla="*/ 2 h 730"/>
                <a:gd name="T6" fmla="*/ 29 w 763"/>
                <a:gd name="T7" fmla="*/ 22 h 730"/>
                <a:gd name="T8" fmla="*/ 33 w 763"/>
                <a:gd name="T9" fmla="*/ 32 h 730"/>
                <a:gd name="T10" fmla="*/ 43 w 763"/>
                <a:gd name="T11" fmla="*/ 42 h 730"/>
                <a:gd name="T12" fmla="*/ 41 w 763"/>
                <a:gd name="T13" fmla="*/ 59 h 730"/>
                <a:gd name="T14" fmla="*/ 21 w 763"/>
                <a:gd name="T15" fmla="*/ 69 h 730"/>
                <a:gd name="T16" fmla="*/ 8 w 763"/>
                <a:gd name="T17" fmla="*/ 56 h 730"/>
                <a:gd name="T18" fmla="*/ 2 w 763"/>
                <a:gd name="T19" fmla="*/ 45 h 730"/>
                <a:gd name="T20" fmla="*/ 0 w 763"/>
                <a:gd name="T21" fmla="*/ 19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1" name="Freeform 31">
              <a:extLst>
                <a:ext uri="{FF2B5EF4-FFF2-40B4-BE49-F238E27FC236}">
                  <a16:creationId xmlns:a16="http://schemas.microsoft.com/office/drawing/2014/main" id="{3ABFFD0D-1C83-ADD7-249A-67748DAE8B1C}"/>
                </a:ext>
              </a:extLst>
            </p:cNvPr>
            <p:cNvSpPr>
              <a:spLocks/>
            </p:cNvSpPr>
            <p:nvPr/>
          </p:nvSpPr>
          <p:spPr bwMode="auto">
            <a:xfrm rot="1270317">
              <a:off x="703" y="2614"/>
              <a:ext cx="763" cy="730"/>
            </a:xfrm>
            <a:custGeom>
              <a:avLst/>
              <a:gdLst>
                <a:gd name="T0" fmla="*/ 0 w 763"/>
                <a:gd name="T1" fmla="*/ 202 h 730"/>
                <a:gd name="T2" fmla="*/ 77 w 763"/>
                <a:gd name="T3" fmla="*/ 73 h 730"/>
                <a:gd name="T4" fmla="*/ 306 w 763"/>
                <a:gd name="T5" fmla="*/ 27 h 730"/>
                <a:gd name="T6" fmla="*/ 480 w 763"/>
                <a:gd name="T7" fmla="*/ 236 h 730"/>
                <a:gd name="T8" fmla="*/ 568 w 763"/>
                <a:gd name="T9" fmla="*/ 341 h 730"/>
                <a:gd name="T10" fmla="*/ 735 w 763"/>
                <a:gd name="T11" fmla="*/ 448 h 730"/>
                <a:gd name="T12" fmla="*/ 699 w 763"/>
                <a:gd name="T13" fmla="*/ 620 h 730"/>
                <a:gd name="T14" fmla="*/ 349 w 763"/>
                <a:gd name="T15" fmla="*/ 725 h 730"/>
                <a:gd name="T16" fmla="*/ 131 w 763"/>
                <a:gd name="T17" fmla="*/ 585 h 730"/>
                <a:gd name="T18" fmla="*/ 44 w 763"/>
                <a:gd name="T19" fmla="*/ 481 h 730"/>
                <a:gd name="T20" fmla="*/ 0 w 763"/>
                <a:gd name="T21" fmla="*/ 202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Freeform 32">
              <a:extLst>
                <a:ext uri="{FF2B5EF4-FFF2-40B4-BE49-F238E27FC236}">
                  <a16:creationId xmlns:a16="http://schemas.microsoft.com/office/drawing/2014/main" id="{A792AF63-A5C0-3705-D2DD-9408BBC689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54" y="3306"/>
              <a:ext cx="91" cy="415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7 h 561"/>
                <a:gd name="T4" fmla="*/ 1 w 130"/>
                <a:gd name="T5" fmla="*/ 14 h 561"/>
                <a:gd name="T6" fmla="*/ 3 w 130"/>
                <a:gd name="T7" fmla="*/ 20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3" name="Freeform 33">
              <a:extLst>
                <a:ext uri="{FF2B5EF4-FFF2-40B4-BE49-F238E27FC236}">
                  <a16:creationId xmlns:a16="http://schemas.microsoft.com/office/drawing/2014/main" id="{0184CE3F-BAF8-CFE1-53B3-E2BA58A5F9C6}"/>
                </a:ext>
              </a:extLst>
            </p:cNvPr>
            <p:cNvSpPr>
              <a:spLocks/>
            </p:cNvSpPr>
            <p:nvPr/>
          </p:nvSpPr>
          <p:spPr bwMode="auto">
            <a:xfrm rot="699248" flipH="1">
              <a:off x="1991" y="3285"/>
              <a:ext cx="108" cy="415"/>
            </a:xfrm>
            <a:custGeom>
              <a:avLst/>
              <a:gdLst>
                <a:gd name="T0" fmla="*/ 4 w 130"/>
                <a:gd name="T1" fmla="*/ 0 h 561"/>
                <a:gd name="T2" fmla="*/ 2 w 130"/>
                <a:gd name="T3" fmla="*/ 7 h 561"/>
                <a:gd name="T4" fmla="*/ 5 w 130"/>
                <a:gd name="T5" fmla="*/ 14 h 561"/>
                <a:gd name="T6" fmla="*/ 17 w 130"/>
                <a:gd name="T7" fmla="*/ 20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414" name="Object 37">
              <a:extLst>
                <a:ext uri="{FF2B5EF4-FFF2-40B4-BE49-F238E27FC236}">
                  <a16:creationId xmlns:a16="http://schemas.microsoft.com/office/drawing/2014/main" id="{0BBE78D0-4A18-978A-B121-A630523DE4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2477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0631" imgH="63635" progId="Equation.3">
                    <p:embed/>
                  </p:oleObj>
                </mc:Choice>
                <mc:Fallback>
                  <p:oleObj name="公式" r:id="rId4" imgW="50631" imgH="6363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477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15" name="Object 39">
              <a:extLst>
                <a:ext uri="{FF2B5EF4-FFF2-40B4-BE49-F238E27FC236}">
                  <a16:creationId xmlns:a16="http://schemas.microsoft.com/office/drawing/2014/main" id="{03FF7017-99BB-0ADC-38E1-0B89A28C2A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0" y="2704"/>
            <a:ext cx="226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8706" imgH="133350" progId="Equation.3">
                    <p:embed/>
                  </p:oleObj>
                </mc:Choice>
                <mc:Fallback>
                  <p:oleObj name="公式" r:id="rId6" imgW="88706" imgH="13335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2704"/>
                          <a:ext cx="226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16" name="Object 40">
              <a:extLst>
                <a:ext uri="{FF2B5EF4-FFF2-40B4-BE49-F238E27FC236}">
                  <a16:creationId xmlns:a16="http://schemas.microsoft.com/office/drawing/2014/main" id="{A33BA802-D5B5-28D4-2F68-BAA3841AB2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0" y="2496"/>
            <a:ext cx="457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92041" imgH="133350" progId="Equation.3">
                    <p:embed/>
                  </p:oleObj>
                </mc:Choice>
                <mc:Fallback>
                  <p:oleObj name="公式" r:id="rId8" imgW="292041" imgH="13335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496"/>
                          <a:ext cx="457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17" name="Object 41">
              <a:extLst>
                <a:ext uri="{FF2B5EF4-FFF2-40B4-BE49-F238E27FC236}">
                  <a16:creationId xmlns:a16="http://schemas.microsoft.com/office/drawing/2014/main" id="{BEC085A6-96AA-390F-AA9D-8F0021B43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1" y="2387"/>
            <a:ext cx="50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30116" imgH="133350" progId="Equation.3">
                    <p:embed/>
                  </p:oleObj>
                </mc:Choice>
                <mc:Fallback>
                  <p:oleObj name="公式" r:id="rId10" imgW="330116" imgH="13335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" y="2387"/>
                          <a:ext cx="50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8" name="Rectangle 81">
              <a:extLst>
                <a:ext uri="{FF2B5EF4-FFF2-40B4-BE49-F238E27FC236}">
                  <a16:creationId xmlns:a16="http://schemas.microsoft.com/office/drawing/2014/main" id="{F2D90E07-8E3B-78EF-3343-8341DC91A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748"/>
              <a:ext cx="95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zh-CN" altLang="en-US" sz="2000" b="1">
                  <a:ea typeface="宋体" panose="02010600030101010101" pitchFamily="2" charset="-122"/>
                </a:rPr>
                <a:t>静电场</a:t>
              </a:r>
            </a:p>
          </p:txBody>
        </p:sp>
      </p:grpSp>
      <p:grpSp>
        <p:nvGrpSpPr>
          <p:cNvPr id="782420" name="Group 84">
            <a:extLst>
              <a:ext uri="{FF2B5EF4-FFF2-40B4-BE49-F238E27FC236}">
                <a16:creationId xmlns:a16="http://schemas.microsoft.com/office/drawing/2014/main" id="{D1CE8786-CCA5-BFA6-5275-9A7C046867FA}"/>
              </a:ext>
            </a:extLst>
          </p:cNvPr>
          <p:cNvGrpSpPr>
            <a:grpSpLocks/>
          </p:cNvGrpSpPr>
          <p:nvPr/>
        </p:nvGrpSpPr>
        <p:grpSpPr bwMode="auto">
          <a:xfrm>
            <a:off x="4789488" y="3716338"/>
            <a:ext cx="3959225" cy="2736850"/>
            <a:chOff x="3016" y="2341"/>
            <a:chExt cx="2494" cy="1724"/>
          </a:xfrm>
        </p:grpSpPr>
        <p:sp>
          <p:nvSpPr>
            <p:cNvPr id="58379" name="Rectangle 62">
              <a:extLst>
                <a:ext uri="{FF2B5EF4-FFF2-40B4-BE49-F238E27FC236}">
                  <a16:creationId xmlns:a16="http://schemas.microsoft.com/office/drawing/2014/main" id="{F2D41D35-5F02-F830-7EDD-9B83458DF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341"/>
              <a:ext cx="2494" cy="1724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58380" name="Freeform 63">
              <a:extLst>
                <a:ext uri="{FF2B5EF4-FFF2-40B4-BE49-F238E27FC236}">
                  <a16:creationId xmlns:a16="http://schemas.microsoft.com/office/drawing/2014/main" id="{5F31DB92-2C8A-BF2B-D9A0-526DE6B09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2448"/>
              <a:ext cx="1015" cy="313"/>
            </a:xfrm>
            <a:custGeom>
              <a:avLst/>
              <a:gdLst>
                <a:gd name="T0" fmla="*/ 0 w 1015"/>
                <a:gd name="T1" fmla="*/ 203 h 313"/>
                <a:gd name="T2" fmla="*/ 320 w 1015"/>
                <a:gd name="T3" fmla="*/ 30 h 313"/>
                <a:gd name="T4" fmla="*/ 640 w 1015"/>
                <a:gd name="T5" fmla="*/ 21 h 313"/>
                <a:gd name="T6" fmla="*/ 923 w 1015"/>
                <a:gd name="T7" fmla="*/ 149 h 313"/>
                <a:gd name="T8" fmla="*/ 1015 w 1015"/>
                <a:gd name="T9" fmla="*/ 313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5" h="313">
                  <a:moveTo>
                    <a:pt x="0" y="203"/>
                  </a:moveTo>
                  <a:cubicBezTo>
                    <a:pt x="52" y="174"/>
                    <a:pt x="213" y="60"/>
                    <a:pt x="320" y="30"/>
                  </a:cubicBezTo>
                  <a:cubicBezTo>
                    <a:pt x="427" y="0"/>
                    <a:pt x="540" y="1"/>
                    <a:pt x="640" y="21"/>
                  </a:cubicBezTo>
                  <a:cubicBezTo>
                    <a:pt x="740" y="41"/>
                    <a:pt x="861" y="100"/>
                    <a:pt x="923" y="149"/>
                  </a:cubicBezTo>
                  <a:cubicBezTo>
                    <a:pt x="985" y="198"/>
                    <a:pt x="996" y="279"/>
                    <a:pt x="1015" y="313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Freeform 64">
              <a:extLst>
                <a:ext uri="{FF2B5EF4-FFF2-40B4-BE49-F238E27FC236}">
                  <a16:creationId xmlns:a16="http://schemas.microsoft.com/office/drawing/2014/main" id="{617FBFBE-02FA-03A3-2982-4511E4A3629A}"/>
                </a:ext>
              </a:extLst>
            </p:cNvPr>
            <p:cNvSpPr>
              <a:spLocks/>
            </p:cNvSpPr>
            <p:nvPr/>
          </p:nvSpPr>
          <p:spPr bwMode="auto">
            <a:xfrm rot="-422291">
              <a:off x="3786" y="3331"/>
              <a:ext cx="91" cy="369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2 h 561"/>
                <a:gd name="T4" fmla="*/ 1 w 130"/>
                <a:gd name="T5" fmla="*/ 4 h 561"/>
                <a:gd name="T6" fmla="*/ 3 w 130"/>
                <a:gd name="T7" fmla="*/ 6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Freeform 65">
              <a:extLst>
                <a:ext uri="{FF2B5EF4-FFF2-40B4-BE49-F238E27FC236}">
                  <a16:creationId xmlns:a16="http://schemas.microsoft.com/office/drawing/2014/main" id="{02BDDBE0-78D1-E807-2BB0-AFE2B3167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709"/>
              <a:ext cx="877" cy="171"/>
            </a:xfrm>
            <a:custGeom>
              <a:avLst/>
              <a:gdLst>
                <a:gd name="T0" fmla="*/ 0 w 877"/>
                <a:gd name="T1" fmla="*/ 98 h 171"/>
                <a:gd name="T2" fmla="*/ 311 w 877"/>
                <a:gd name="T3" fmla="*/ 6 h 171"/>
                <a:gd name="T4" fmla="*/ 649 w 877"/>
                <a:gd name="T5" fmla="*/ 61 h 171"/>
                <a:gd name="T6" fmla="*/ 877 w 877"/>
                <a:gd name="T7" fmla="*/ 171 h 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7" h="171">
                  <a:moveTo>
                    <a:pt x="0" y="98"/>
                  </a:moveTo>
                  <a:cubicBezTo>
                    <a:pt x="52" y="84"/>
                    <a:pt x="203" y="12"/>
                    <a:pt x="311" y="6"/>
                  </a:cubicBezTo>
                  <a:cubicBezTo>
                    <a:pt x="419" y="0"/>
                    <a:pt x="555" y="34"/>
                    <a:pt x="649" y="61"/>
                  </a:cubicBezTo>
                  <a:cubicBezTo>
                    <a:pt x="743" y="88"/>
                    <a:pt x="830" y="148"/>
                    <a:pt x="877" y="17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Freeform 66">
              <a:extLst>
                <a:ext uri="{FF2B5EF4-FFF2-40B4-BE49-F238E27FC236}">
                  <a16:creationId xmlns:a16="http://schemas.microsoft.com/office/drawing/2014/main" id="{4CEB0B8B-B656-7AEB-278E-D8066F217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3036"/>
              <a:ext cx="521" cy="91"/>
            </a:xfrm>
            <a:custGeom>
              <a:avLst/>
              <a:gdLst>
                <a:gd name="T0" fmla="*/ 0 w 521"/>
                <a:gd name="T1" fmla="*/ 82 h 91"/>
                <a:gd name="T2" fmla="*/ 183 w 521"/>
                <a:gd name="T3" fmla="*/ 9 h 91"/>
                <a:gd name="T4" fmla="*/ 393 w 521"/>
                <a:gd name="T5" fmla="*/ 27 h 91"/>
                <a:gd name="T6" fmla="*/ 521 w 521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1" h="91">
                  <a:moveTo>
                    <a:pt x="0" y="82"/>
                  </a:moveTo>
                  <a:cubicBezTo>
                    <a:pt x="30" y="71"/>
                    <a:pt x="118" y="18"/>
                    <a:pt x="183" y="9"/>
                  </a:cubicBezTo>
                  <a:cubicBezTo>
                    <a:pt x="248" y="0"/>
                    <a:pt x="337" y="13"/>
                    <a:pt x="393" y="27"/>
                  </a:cubicBezTo>
                  <a:cubicBezTo>
                    <a:pt x="449" y="41"/>
                    <a:pt x="494" y="78"/>
                    <a:pt x="521" y="9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Freeform 67">
              <a:extLst>
                <a:ext uri="{FF2B5EF4-FFF2-40B4-BE49-F238E27FC236}">
                  <a16:creationId xmlns:a16="http://schemas.microsoft.com/office/drawing/2014/main" id="{8B67E763-9E72-863F-723C-FE52A3EE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3282"/>
              <a:ext cx="585" cy="174"/>
            </a:xfrm>
            <a:custGeom>
              <a:avLst/>
              <a:gdLst>
                <a:gd name="T0" fmla="*/ 0 w 585"/>
                <a:gd name="T1" fmla="*/ 37 h 174"/>
                <a:gd name="T2" fmla="*/ 155 w 585"/>
                <a:gd name="T3" fmla="*/ 147 h 174"/>
                <a:gd name="T4" fmla="*/ 292 w 585"/>
                <a:gd name="T5" fmla="*/ 174 h 174"/>
                <a:gd name="T6" fmla="*/ 431 w 585"/>
                <a:gd name="T7" fmla="*/ 145 h 174"/>
                <a:gd name="T8" fmla="*/ 585 w 585"/>
                <a:gd name="T9" fmla="*/ 0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5" h="174">
                  <a:moveTo>
                    <a:pt x="0" y="37"/>
                  </a:moveTo>
                  <a:cubicBezTo>
                    <a:pt x="26" y="55"/>
                    <a:pt x="106" y="124"/>
                    <a:pt x="155" y="147"/>
                  </a:cubicBezTo>
                  <a:cubicBezTo>
                    <a:pt x="204" y="170"/>
                    <a:pt x="246" y="174"/>
                    <a:pt x="292" y="174"/>
                  </a:cubicBezTo>
                  <a:cubicBezTo>
                    <a:pt x="338" y="174"/>
                    <a:pt x="382" y="174"/>
                    <a:pt x="431" y="145"/>
                  </a:cubicBezTo>
                  <a:cubicBezTo>
                    <a:pt x="480" y="116"/>
                    <a:pt x="553" y="30"/>
                    <a:pt x="585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Freeform 68">
              <a:extLst>
                <a:ext uri="{FF2B5EF4-FFF2-40B4-BE49-F238E27FC236}">
                  <a16:creationId xmlns:a16="http://schemas.microsoft.com/office/drawing/2014/main" id="{02522934-CB18-05BD-BCDA-B84894835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304"/>
              <a:ext cx="814" cy="312"/>
            </a:xfrm>
            <a:custGeom>
              <a:avLst/>
              <a:gdLst>
                <a:gd name="T0" fmla="*/ 0 w 814"/>
                <a:gd name="T1" fmla="*/ 45 h 312"/>
                <a:gd name="T2" fmla="*/ 73 w 814"/>
                <a:gd name="T3" fmla="*/ 173 h 312"/>
                <a:gd name="T4" fmla="*/ 229 w 814"/>
                <a:gd name="T5" fmla="*/ 292 h 312"/>
                <a:gd name="T6" fmla="*/ 530 w 814"/>
                <a:gd name="T7" fmla="*/ 292 h 312"/>
                <a:gd name="T8" fmla="*/ 722 w 814"/>
                <a:gd name="T9" fmla="*/ 173 h 312"/>
                <a:gd name="T10" fmla="*/ 814 w 814"/>
                <a:gd name="T11" fmla="*/ 0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4" h="312">
                  <a:moveTo>
                    <a:pt x="0" y="45"/>
                  </a:moveTo>
                  <a:cubicBezTo>
                    <a:pt x="12" y="66"/>
                    <a:pt x="35" y="132"/>
                    <a:pt x="73" y="173"/>
                  </a:cubicBezTo>
                  <a:cubicBezTo>
                    <a:pt x="111" y="214"/>
                    <a:pt x="153" y="272"/>
                    <a:pt x="229" y="292"/>
                  </a:cubicBezTo>
                  <a:cubicBezTo>
                    <a:pt x="305" y="312"/>
                    <a:pt x="448" y="312"/>
                    <a:pt x="530" y="292"/>
                  </a:cubicBezTo>
                  <a:cubicBezTo>
                    <a:pt x="612" y="272"/>
                    <a:pt x="675" y="222"/>
                    <a:pt x="722" y="173"/>
                  </a:cubicBezTo>
                  <a:cubicBezTo>
                    <a:pt x="769" y="124"/>
                    <a:pt x="795" y="36"/>
                    <a:pt x="814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Freeform 69">
              <a:extLst>
                <a:ext uri="{FF2B5EF4-FFF2-40B4-BE49-F238E27FC236}">
                  <a16:creationId xmlns:a16="http://schemas.microsoft.com/office/drawing/2014/main" id="{B555378E-9314-458B-A305-7A8B15E19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3237"/>
              <a:ext cx="512" cy="111"/>
            </a:xfrm>
            <a:custGeom>
              <a:avLst/>
              <a:gdLst>
                <a:gd name="T0" fmla="*/ 0 w 512"/>
                <a:gd name="T1" fmla="*/ 27 h 111"/>
                <a:gd name="T2" fmla="*/ 174 w 512"/>
                <a:gd name="T3" fmla="*/ 91 h 111"/>
                <a:gd name="T4" fmla="*/ 275 w 512"/>
                <a:gd name="T5" fmla="*/ 109 h 111"/>
                <a:gd name="T6" fmla="*/ 384 w 512"/>
                <a:gd name="T7" fmla="*/ 82 h 111"/>
                <a:gd name="T8" fmla="*/ 512 w 512"/>
                <a:gd name="T9" fmla="*/ 0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2" h="111">
                  <a:moveTo>
                    <a:pt x="0" y="27"/>
                  </a:moveTo>
                  <a:cubicBezTo>
                    <a:pt x="29" y="38"/>
                    <a:pt x="128" y="77"/>
                    <a:pt x="174" y="91"/>
                  </a:cubicBezTo>
                  <a:cubicBezTo>
                    <a:pt x="220" y="105"/>
                    <a:pt x="240" y="111"/>
                    <a:pt x="275" y="109"/>
                  </a:cubicBezTo>
                  <a:cubicBezTo>
                    <a:pt x="310" y="107"/>
                    <a:pt x="345" y="100"/>
                    <a:pt x="384" y="82"/>
                  </a:cubicBezTo>
                  <a:cubicBezTo>
                    <a:pt x="423" y="64"/>
                    <a:pt x="485" y="17"/>
                    <a:pt x="512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Freeform 70">
              <a:extLst>
                <a:ext uri="{FF2B5EF4-FFF2-40B4-BE49-F238E27FC236}">
                  <a16:creationId xmlns:a16="http://schemas.microsoft.com/office/drawing/2014/main" id="{5CA7E586-8EFE-0F0F-81CE-17BCD7596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886"/>
              <a:ext cx="771" cy="176"/>
            </a:xfrm>
            <a:custGeom>
              <a:avLst/>
              <a:gdLst>
                <a:gd name="T0" fmla="*/ 0 w 861"/>
                <a:gd name="T1" fmla="*/ 55 h 185"/>
                <a:gd name="T2" fmla="*/ 90 w 861"/>
                <a:gd name="T3" fmla="*/ 6 h 185"/>
                <a:gd name="T4" fmla="*/ 183 w 861"/>
                <a:gd name="T5" fmla="*/ 35 h 185"/>
                <a:gd name="T6" fmla="*/ 256 w 861"/>
                <a:gd name="T7" fmla="*/ 107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1" h="185">
                  <a:moveTo>
                    <a:pt x="0" y="95"/>
                  </a:moveTo>
                  <a:cubicBezTo>
                    <a:pt x="51" y="80"/>
                    <a:pt x="202" y="12"/>
                    <a:pt x="305" y="6"/>
                  </a:cubicBezTo>
                  <a:cubicBezTo>
                    <a:pt x="408" y="0"/>
                    <a:pt x="523" y="31"/>
                    <a:pt x="616" y="61"/>
                  </a:cubicBezTo>
                  <a:cubicBezTo>
                    <a:pt x="709" y="91"/>
                    <a:pt x="810" y="159"/>
                    <a:pt x="861" y="185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8" name="Freeform 71">
              <a:extLst>
                <a:ext uri="{FF2B5EF4-FFF2-40B4-BE49-F238E27FC236}">
                  <a16:creationId xmlns:a16="http://schemas.microsoft.com/office/drawing/2014/main" id="{C7D65554-6DF2-7B96-C83D-FF6E836A8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3203"/>
              <a:ext cx="499" cy="1"/>
            </a:xfrm>
            <a:custGeom>
              <a:avLst/>
              <a:gdLst>
                <a:gd name="T0" fmla="*/ 0 w 499"/>
                <a:gd name="T1" fmla="*/ 0 h 1"/>
                <a:gd name="T2" fmla="*/ 499 w 49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9" h="1">
                  <a:moveTo>
                    <a:pt x="0" y="0"/>
                  </a:moveTo>
                  <a:cubicBezTo>
                    <a:pt x="208" y="0"/>
                    <a:pt x="416" y="0"/>
                    <a:pt x="499" y="0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Freeform 72">
              <a:extLst>
                <a:ext uri="{FF2B5EF4-FFF2-40B4-BE49-F238E27FC236}">
                  <a16:creationId xmlns:a16="http://schemas.microsoft.com/office/drawing/2014/main" id="{D9D49A06-E985-3748-0A4E-5BD4007ADF6B}"/>
                </a:ext>
              </a:extLst>
            </p:cNvPr>
            <p:cNvSpPr>
              <a:spLocks/>
            </p:cNvSpPr>
            <p:nvPr/>
          </p:nvSpPr>
          <p:spPr bwMode="auto">
            <a:xfrm rot="744496">
              <a:off x="3607" y="3288"/>
              <a:ext cx="47" cy="384"/>
            </a:xfrm>
            <a:custGeom>
              <a:avLst/>
              <a:gdLst>
                <a:gd name="T0" fmla="*/ 0 w 130"/>
                <a:gd name="T1" fmla="*/ 0 h 561"/>
                <a:gd name="T2" fmla="*/ 0 w 130"/>
                <a:gd name="T3" fmla="*/ 3 h 561"/>
                <a:gd name="T4" fmla="*/ 0 w 130"/>
                <a:gd name="T5" fmla="*/ 5 h 561"/>
                <a:gd name="T6" fmla="*/ 0 w 130"/>
                <a:gd name="T7" fmla="*/ 8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Freeform 73">
              <a:extLst>
                <a:ext uri="{FF2B5EF4-FFF2-40B4-BE49-F238E27FC236}">
                  <a16:creationId xmlns:a16="http://schemas.microsoft.com/office/drawing/2014/main" id="{CACA87D7-318B-CCA3-4F0B-3FC51A7A223C}"/>
                </a:ext>
              </a:extLst>
            </p:cNvPr>
            <p:cNvSpPr>
              <a:spLocks/>
            </p:cNvSpPr>
            <p:nvPr/>
          </p:nvSpPr>
          <p:spPr bwMode="auto">
            <a:xfrm rot="20884883" flipH="1">
              <a:off x="4513" y="2750"/>
              <a:ext cx="590" cy="589"/>
            </a:xfrm>
            <a:custGeom>
              <a:avLst/>
              <a:gdLst>
                <a:gd name="T0" fmla="*/ 0 w 763"/>
                <a:gd name="T1" fmla="*/ 19 h 730"/>
                <a:gd name="T2" fmla="*/ 5 w 763"/>
                <a:gd name="T3" fmla="*/ 6 h 730"/>
                <a:gd name="T4" fmla="*/ 18 w 763"/>
                <a:gd name="T5" fmla="*/ 2 h 730"/>
                <a:gd name="T6" fmla="*/ 29 w 763"/>
                <a:gd name="T7" fmla="*/ 22 h 730"/>
                <a:gd name="T8" fmla="*/ 33 w 763"/>
                <a:gd name="T9" fmla="*/ 32 h 730"/>
                <a:gd name="T10" fmla="*/ 43 w 763"/>
                <a:gd name="T11" fmla="*/ 42 h 730"/>
                <a:gd name="T12" fmla="*/ 41 w 763"/>
                <a:gd name="T13" fmla="*/ 59 h 730"/>
                <a:gd name="T14" fmla="*/ 21 w 763"/>
                <a:gd name="T15" fmla="*/ 69 h 730"/>
                <a:gd name="T16" fmla="*/ 8 w 763"/>
                <a:gd name="T17" fmla="*/ 56 h 730"/>
                <a:gd name="T18" fmla="*/ 2 w 763"/>
                <a:gd name="T19" fmla="*/ 45 h 730"/>
                <a:gd name="T20" fmla="*/ 0 w 763"/>
                <a:gd name="T21" fmla="*/ 19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Freeform 74">
              <a:extLst>
                <a:ext uri="{FF2B5EF4-FFF2-40B4-BE49-F238E27FC236}">
                  <a16:creationId xmlns:a16="http://schemas.microsoft.com/office/drawing/2014/main" id="{A551FDA8-3CD8-53D4-0BD5-CE6DD8602DCC}"/>
                </a:ext>
              </a:extLst>
            </p:cNvPr>
            <p:cNvSpPr>
              <a:spLocks/>
            </p:cNvSpPr>
            <p:nvPr/>
          </p:nvSpPr>
          <p:spPr bwMode="auto">
            <a:xfrm rot="1270317">
              <a:off x="3379" y="2614"/>
              <a:ext cx="763" cy="730"/>
            </a:xfrm>
            <a:custGeom>
              <a:avLst/>
              <a:gdLst>
                <a:gd name="T0" fmla="*/ 0 w 763"/>
                <a:gd name="T1" fmla="*/ 202 h 730"/>
                <a:gd name="T2" fmla="*/ 77 w 763"/>
                <a:gd name="T3" fmla="*/ 73 h 730"/>
                <a:gd name="T4" fmla="*/ 306 w 763"/>
                <a:gd name="T5" fmla="*/ 27 h 730"/>
                <a:gd name="T6" fmla="*/ 480 w 763"/>
                <a:gd name="T7" fmla="*/ 236 h 730"/>
                <a:gd name="T8" fmla="*/ 568 w 763"/>
                <a:gd name="T9" fmla="*/ 341 h 730"/>
                <a:gd name="T10" fmla="*/ 735 w 763"/>
                <a:gd name="T11" fmla="*/ 448 h 730"/>
                <a:gd name="T12" fmla="*/ 699 w 763"/>
                <a:gd name="T13" fmla="*/ 620 h 730"/>
                <a:gd name="T14" fmla="*/ 349 w 763"/>
                <a:gd name="T15" fmla="*/ 725 h 730"/>
                <a:gd name="T16" fmla="*/ 131 w 763"/>
                <a:gd name="T17" fmla="*/ 585 h 730"/>
                <a:gd name="T18" fmla="*/ 44 w 763"/>
                <a:gd name="T19" fmla="*/ 481 h 730"/>
                <a:gd name="T20" fmla="*/ 0 w 763"/>
                <a:gd name="T21" fmla="*/ 202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2" name="Freeform 75">
              <a:extLst>
                <a:ext uri="{FF2B5EF4-FFF2-40B4-BE49-F238E27FC236}">
                  <a16:creationId xmlns:a16="http://schemas.microsoft.com/office/drawing/2014/main" id="{55A6B952-A4C9-8A12-4AC5-2560067D87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30" y="3306"/>
              <a:ext cx="91" cy="415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7 h 561"/>
                <a:gd name="T4" fmla="*/ 1 w 130"/>
                <a:gd name="T5" fmla="*/ 14 h 561"/>
                <a:gd name="T6" fmla="*/ 3 w 130"/>
                <a:gd name="T7" fmla="*/ 20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3" name="Freeform 76">
              <a:extLst>
                <a:ext uri="{FF2B5EF4-FFF2-40B4-BE49-F238E27FC236}">
                  <a16:creationId xmlns:a16="http://schemas.microsoft.com/office/drawing/2014/main" id="{59DFDB99-BA7E-66AD-72F6-0337DC33D75F}"/>
                </a:ext>
              </a:extLst>
            </p:cNvPr>
            <p:cNvSpPr>
              <a:spLocks/>
            </p:cNvSpPr>
            <p:nvPr/>
          </p:nvSpPr>
          <p:spPr bwMode="auto">
            <a:xfrm rot="699248" flipH="1">
              <a:off x="4667" y="3285"/>
              <a:ext cx="108" cy="415"/>
            </a:xfrm>
            <a:custGeom>
              <a:avLst/>
              <a:gdLst>
                <a:gd name="T0" fmla="*/ 4 w 130"/>
                <a:gd name="T1" fmla="*/ 0 h 561"/>
                <a:gd name="T2" fmla="*/ 2 w 130"/>
                <a:gd name="T3" fmla="*/ 7 h 561"/>
                <a:gd name="T4" fmla="*/ 5 w 130"/>
                <a:gd name="T5" fmla="*/ 14 h 561"/>
                <a:gd name="T6" fmla="*/ 17 w 130"/>
                <a:gd name="T7" fmla="*/ 20 h 5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94" name="Object 77">
              <a:extLst>
                <a:ext uri="{FF2B5EF4-FFF2-40B4-BE49-F238E27FC236}">
                  <a16:creationId xmlns:a16="http://schemas.microsoft.com/office/drawing/2014/main" id="{23E44927-2785-5A59-38CF-4F83594DDC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1" y="2477"/>
            <a:ext cx="24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2630" imgH="63635" progId="Equation.3">
                    <p:embed/>
                  </p:oleObj>
                </mc:Choice>
                <mc:Fallback>
                  <p:oleObj name="公式" r:id="rId12" imgW="82630" imgH="63635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477"/>
                          <a:ext cx="24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5" name="Object 78">
              <a:extLst>
                <a:ext uri="{FF2B5EF4-FFF2-40B4-BE49-F238E27FC236}">
                  <a16:creationId xmlns:a16="http://schemas.microsoft.com/office/drawing/2014/main" id="{4BFE6B51-7AD8-7BBC-7B35-D986F4EE74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9" y="2726"/>
            <a:ext cx="19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63593" imgH="139835" progId="Equation.3">
                    <p:embed/>
                  </p:oleObj>
                </mc:Choice>
                <mc:Fallback>
                  <p:oleObj name="公式" r:id="rId14" imgW="63593" imgH="139835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9" y="2726"/>
                          <a:ext cx="19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6" name="Object 79">
              <a:extLst>
                <a:ext uri="{FF2B5EF4-FFF2-40B4-BE49-F238E27FC236}">
                  <a16:creationId xmlns:a16="http://schemas.microsoft.com/office/drawing/2014/main" id="{B575E597-0772-5B2F-30DB-B2139D9FFA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2" y="2495"/>
            <a:ext cx="457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92041" imgH="133350" progId="Equation.3">
                    <p:embed/>
                  </p:oleObj>
                </mc:Choice>
                <mc:Fallback>
                  <p:oleObj name="公式" r:id="rId16" imgW="292041" imgH="133350" progId="Equation.3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2495"/>
                          <a:ext cx="457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7" name="Object 80">
              <a:extLst>
                <a:ext uri="{FF2B5EF4-FFF2-40B4-BE49-F238E27FC236}">
                  <a16:creationId xmlns:a16="http://schemas.microsoft.com/office/drawing/2014/main" id="{33576410-7DA3-0F61-B073-B54FE5F9CE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4" y="2405"/>
            <a:ext cx="50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30116" imgH="133350" progId="Equation.3">
                    <p:embed/>
                  </p:oleObj>
                </mc:Choice>
                <mc:Fallback>
                  <p:oleObj name="公式" r:id="rId18" imgW="330116" imgH="133350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405"/>
                          <a:ext cx="50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8" name="Rectangle 82">
              <a:extLst>
                <a:ext uri="{FF2B5EF4-FFF2-40B4-BE49-F238E27FC236}">
                  <a16:creationId xmlns:a16="http://schemas.microsoft.com/office/drawing/2014/main" id="{546A04EA-878A-9752-108C-ACCE827F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3748"/>
              <a:ext cx="95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09090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 </a:t>
              </a:r>
              <a:r>
                <a:rPr lang="zh-CN" altLang="en-US" sz="2000" b="1">
                  <a:ea typeface="宋体" panose="02010600030101010101" pitchFamily="2" charset="-122"/>
                </a:rPr>
                <a:t>恒定电场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8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8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0"/>
                                        <p:tgtEl>
                                          <p:spTgt spid="78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38" grpId="0"/>
      <p:bldP spid="7823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2">
            <a:extLst>
              <a:ext uri="{FF2B5EF4-FFF2-40B4-BE49-F238E27FC236}">
                <a16:creationId xmlns:a16="http://schemas.microsoft.com/office/drawing/2014/main" id="{1E16272B-3A89-7DD9-1962-8330BFDA2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664854" y="168621"/>
            <a:ext cx="1343025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ED4E23C-259C-4671-A744-118C404F391B}" type="slidenum">
              <a:rPr lang="en-US" altLang="zh-CN" sz="1400">
                <a:ea typeface="宋体" panose="02010600030101010101" pitchFamily="2" charset="-122"/>
              </a:rPr>
              <a:pPr/>
              <a:t>8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60420" name="Line 3">
            <a:extLst>
              <a:ext uri="{FF2B5EF4-FFF2-40B4-BE49-F238E27FC236}">
                <a16:creationId xmlns:a16="http://schemas.microsoft.com/office/drawing/2014/main" id="{81E4509D-9BC8-79B5-A3C0-43F116CED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442" y="1221134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Line 4">
            <a:extLst>
              <a:ext uri="{FF2B5EF4-FFF2-40B4-BE49-F238E27FC236}">
                <a16:creationId xmlns:a16="http://schemas.microsoft.com/office/drawing/2014/main" id="{1BF1A3D4-1762-9239-543E-320EC2EC2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42" y="1725959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Text Box 5">
            <a:extLst>
              <a:ext uri="{FF2B5EF4-FFF2-40B4-BE49-F238E27FC236}">
                <a16:creationId xmlns:a16="http://schemas.microsoft.com/office/drawing/2014/main" id="{58F3EEF3-6C25-4B52-1438-5E5D56289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55" y="2035521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楷体_GB2312" pitchFamily="49" charset="-122"/>
              </a:rPr>
              <a:t>基本方程</a:t>
            </a:r>
          </a:p>
        </p:txBody>
      </p:sp>
      <p:graphicFrame>
        <p:nvGraphicFramePr>
          <p:cNvPr id="60423" name="Object 6">
            <a:extLst>
              <a:ext uri="{FF2B5EF4-FFF2-40B4-BE49-F238E27FC236}">
                <a16:creationId xmlns:a16="http://schemas.microsoft.com/office/drawing/2014/main" id="{C82D651E-A1C9-9995-D629-FD1C7E4A0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580427"/>
              </p:ext>
            </p:extLst>
          </p:nvPr>
        </p:nvGraphicFramePr>
        <p:xfrm>
          <a:off x="2892830" y="2927696"/>
          <a:ext cx="11509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265" imgH="139835" progId="Equation.3">
                  <p:embed/>
                </p:oleObj>
              </mc:Choice>
              <mc:Fallback>
                <p:oleObj name="公式" r:id="rId2" imgW="406265" imgH="1398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830" y="2927696"/>
                        <a:ext cx="115093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7">
            <a:extLst>
              <a:ext uri="{FF2B5EF4-FFF2-40B4-BE49-F238E27FC236}">
                <a16:creationId xmlns:a16="http://schemas.microsoft.com/office/drawing/2014/main" id="{175D1D17-A381-A509-34F5-49BB4BEEF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958631"/>
              </p:ext>
            </p:extLst>
          </p:nvPr>
        </p:nvGraphicFramePr>
        <p:xfrm>
          <a:off x="2245130" y="3415059"/>
          <a:ext cx="12239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8969" imgH="164965" progId="Equation.3">
                  <p:embed/>
                </p:oleObj>
              </mc:Choice>
              <mc:Fallback>
                <p:oleObj name="公式" r:id="rId4" imgW="558969" imgH="1649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130" y="3415059"/>
                        <a:ext cx="12239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8">
            <a:extLst>
              <a:ext uri="{FF2B5EF4-FFF2-40B4-BE49-F238E27FC236}">
                <a16:creationId xmlns:a16="http://schemas.microsoft.com/office/drawing/2014/main" id="{CDE1A237-CE4A-AD6A-E575-5399817C4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656977"/>
              </p:ext>
            </p:extLst>
          </p:nvPr>
        </p:nvGraphicFramePr>
        <p:xfrm>
          <a:off x="6132917" y="2913409"/>
          <a:ext cx="12954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6265" imgH="139835" progId="Equation.3">
                  <p:embed/>
                </p:oleObj>
              </mc:Choice>
              <mc:Fallback>
                <p:oleObj name="公式" r:id="rId6" imgW="406265" imgH="1398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917" y="2913409"/>
                        <a:ext cx="12954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9">
            <a:extLst>
              <a:ext uri="{FF2B5EF4-FFF2-40B4-BE49-F238E27FC236}">
                <a16:creationId xmlns:a16="http://schemas.microsoft.com/office/drawing/2014/main" id="{621A8831-1713-233B-5873-B7FE54DBDF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2008606"/>
              </p:ext>
            </p:extLst>
          </p:nvPr>
        </p:nvGraphicFramePr>
        <p:xfrm>
          <a:off x="7140980" y="3464271"/>
          <a:ext cx="12954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63377" imgH="158885" progId="Equation.3">
                  <p:embed/>
                </p:oleObj>
              </mc:Choice>
              <mc:Fallback>
                <p:oleObj name="公式" r:id="rId8" imgW="463377" imgH="15888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980" y="3464271"/>
                        <a:ext cx="12954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0">
            <a:extLst>
              <a:ext uri="{FF2B5EF4-FFF2-40B4-BE49-F238E27FC236}">
                <a16:creationId xmlns:a16="http://schemas.microsoft.com/office/drawing/2014/main" id="{4E3964B1-E42C-E5A0-6B2B-3ADC44290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059862"/>
              </p:ext>
            </p:extLst>
          </p:nvPr>
        </p:nvGraphicFramePr>
        <p:xfrm>
          <a:off x="3900892" y="3464271"/>
          <a:ext cx="10795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3377" imgH="158885" progId="Equation.3">
                  <p:embed/>
                </p:oleObj>
              </mc:Choice>
              <mc:Fallback>
                <p:oleObj name="公式" r:id="rId10" imgW="463377" imgH="1588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892" y="3464271"/>
                        <a:ext cx="10795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1">
            <a:extLst>
              <a:ext uri="{FF2B5EF4-FFF2-40B4-BE49-F238E27FC236}">
                <a16:creationId xmlns:a16="http://schemas.microsoft.com/office/drawing/2014/main" id="{09E310EE-CB73-A48F-59C4-EAFFB80020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316352"/>
              </p:ext>
            </p:extLst>
          </p:nvPr>
        </p:nvGraphicFramePr>
        <p:xfrm>
          <a:off x="2172105" y="4050059"/>
          <a:ext cx="29527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25681" imgH="158885" progId="Equation.3">
                  <p:embed/>
                </p:oleObj>
              </mc:Choice>
              <mc:Fallback>
                <p:oleObj name="公式" r:id="rId12" imgW="1225681" imgH="1588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105" y="4050059"/>
                        <a:ext cx="29527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2">
            <a:extLst>
              <a:ext uri="{FF2B5EF4-FFF2-40B4-BE49-F238E27FC236}">
                <a16:creationId xmlns:a16="http://schemas.microsoft.com/office/drawing/2014/main" id="{69DA96FB-F135-C059-7AFC-B13536FC8A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586818"/>
              </p:ext>
            </p:extLst>
          </p:nvPr>
        </p:nvGraphicFramePr>
        <p:xfrm>
          <a:off x="5613805" y="3978621"/>
          <a:ext cx="30543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87606" imgH="158885" progId="Equation.3">
                  <p:embed/>
                </p:oleObj>
              </mc:Choice>
              <mc:Fallback>
                <p:oleObj name="公式" r:id="rId14" imgW="1187606" imgH="15888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805" y="3978621"/>
                        <a:ext cx="30543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30" name="Group 13">
            <a:extLst>
              <a:ext uri="{FF2B5EF4-FFF2-40B4-BE49-F238E27FC236}">
                <a16:creationId xmlns:a16="http://schemas.microsoft.com/office/drawing/2014/main" id="{BC19F109-E678-4A83-45D6-14F937979523}"/>
              </a:ext>
            </a:extLst>
          </p:cNvPr>
          <p:cNvGrpSpPr>
            <a:grpSpLocks/>
          </p:cNvGrpSpPr>
          <p:nvPr/>
        </p:nvGrpSpPr>
        <p:grpSpPr bwMode="auto">
          <a:xfrm>
            <a:off x="2141942" y="1268760"/>
            <a:ext cx="3168650" cy="461963"/>
            <a:chOff x="521" y="572"/>
            <a:chExt cx="1996" cy="291"/>
          </a:xfrm>
        </p:grpSpPr>
        <p:sp>
          <p:nvSpPr>
            <p:cNvPr id="60485" name="Text Box 14">
              <a:extLst>
                <a:ext uri="{FF2B5EF4-FFF2-40B4-BE49-F238E27FC236}">
                  <a16:creationId xmlns:a16="http://schemas.microsoft.com/office/drawing/2014/main" id="{D0A9BC17-8976-1D4A-33E2-B576592A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572"/>
              <a:ext cx="19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楷体_GB2312" pitchFamily="49" charset="-122"/>
                </a:rPr>
                <a:t>静电场</a:t>
              </a:r>
              <a:r>
                <a:rPr kumimoji="1" lang="zh-CN" altLang="en-US" b="1" dirty="0">
                  <a:solidFill>
                    <a:srgbClr val="FF9900"/>
                  </a:solidFill>
                  <a:latin typeface="楷体_GB2312" pitchFamily="49" charset="-122"/>
                </a:rPr>
                <a:t>（       区域）</a:t>
              </a:r>
              <a:r>
                <a:rPr kumimoji="1" lang="zh-CN" altLang="en-US" b="1" dirty="0">
                  <a:solidFill>
                    <a:schemeClr val="bg1"/>
                  </a:solidFill>
                  <a:latin typeface="楷体_GB2312" pitchFamily="49" charset="-122"/>
                </a:rPr>
                <a:t> </a:t>
              </a:r>
            </a:p>
          </p:txBody>
        </p:sp>
        <p:graphicFrame>
          <p:nvGraphicFramePr>
            <p:cNvPr id="60486" name="Object 15">
              <a:extLst>
                <a:ext uri="{FF2B5EF4-FFF2-40B4-BE49-F238E27FC236}">
                  <a16:creationId xmlns:a16="http://schemas.microsoft.com/office/drawing/2014/main" id="{3FCC058E-BCA6-6604-CAF2-53EDEE50F4F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27416979"/>
                </p:ext>
              </p:extLst>
            </p:nvPr>
          </p:nvGraphicFramePr>
          <p:xfrm>
            <a:off x="1297" y="595"/>
            <a:ext cx="4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11078" imgH="133350" progId="Equation.3">
                    <p:embed/>
                  </p:oleObj>
                </mc:Choice>
                <mc:Fallback>
                  <p:oleObj name="公式" r:id="rId16" imgW="311078" imgH="133350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595"/>
                          <a:ext cx="4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31" name="Object 16">
            <a:extLst>
              <a:ext uri="{FF2B5EF4-FFF2-40B4-BE49-F238E27FC236}">
                <a16:creationId xmlns:a16="http://schemas.microsoft.com/office/drawing/2014/main" id="{902E1E93-1BE0-3052-E402-A555283AA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233898"/>
              </p:ext>
            </p:extLst>
          </p:nvPr>
        </p:nvGraphicFramePr>
        <p:xfrm>
          <a:off x="5772555" y="1700559"/>
          <a:ext cx="245745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98495" imgH="273185" progId="Equation.3">
                  <p:embed/>
                </p:oleObj>
              </mc:Choice>
              <mc:Fallback>
                <p:oleObj name="公式" r:id="rId18" imgW="1098495" imgH="2731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555" y="1700559"/>
                        <a:ext cx="245745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17">
            <a:extLst>
              <a:ext uri="{FF2B5EF4-FFF2-40B4-BE49-F238E27FC236}">
                <a16:creationId xmlns:a16="http://schemas.microsoft.com/office/drawing/2014/main" id="{4D9C5E54-F6AE-902C-843C-2C3973F9E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428131"/>
              </p:ext>
            </p:extLst>
          </p:nvPr>
        </p:nvGraphicFramePr>
        <p:xfrm>
          <a:off x="5843992" y="2502246"/>
          <a:ext cx="2520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25681" imgH="164965" progId="Equation.3">
                  <p:embed/>
                </p:oleObj>
              </mc:Choice>
              <mc:Fallback>
                <p:oleObj name="公式" r:id="rId20" imgW="1225681" imgH="16496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992" y="2502246"/>
                        <a:ext cx="25209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3" name="Line 18">
            <a:extLst>
              <a:ext uri="{FF2B5EF4-FFF2-40B4-BE49-F238E27FC236}">
                <a16:creationId xmlns:a16="http://schemas.microsoft.com/office/drawing/2014/main" id="{031692A6-7CE9-AADD-1C16-95B19AC39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6205" y="2445096"/>
            <a:ext cx="6913562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4" name="Line 19">
            <a:extLst>
              <a:ext uri="{FF2B5EF4-FFF2-40B4-BE49-F238E27FC236}">
                <a16:creationId xmlns:a16="http://schemas.microsoft.com/office/drawing/2014/main" id="{EFFE9DBC-9571-E2BB-E11F-38AF9BC72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42" y="3969096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5" name="Line 20">
            <a:extLst>
              <a:ext uri="{FF2B5EF4-FFF2-40B4-BE49-F238E27FC236}">
                <a16:creationId xmlns:a16="http://schemas.microsoft.com/office/drawing/2014/main" id="{F75F05F2-511A-3400-26F9-DFCF2099C3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0755" y="1221134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6" name="Line 21">
            <a:extLst>
              <a:ext uri="{FF2B5EF4-FFF2-40B4-BE49-F238E27FC236}">
                <a16:creationId xmlns:a16="http://schemas.microsoft.com/office/drawing/2014/main" id="{315B2C46-7B1A-D164-999D-43211941B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42" y="3392834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7" name="Line 22">
            <a:extLst>
              <a:ext uri="{FF2B5EF4-FFF2-40B4-BE49-F238E27FC236}">
                <a16:creationId xmlns:a16="http://schemas.microsoft.com/office/drawing/2014/main" id="{5C4AC15F-5348-650F-B61D-500A55DA4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42" y="2934046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438" name="Object 23">
            <a:extLst>
              <a:ext uri="{FF2B5EF4-FFF2-40B4-BE49-F238E27FC236}">
                <a16:creationId xmlns:a16="http://schemas.microsoft.com/office/drawing/2014/main" id="{046FC501-4309-C3C1-F44E-73F56AADB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339303"/>
              </p:ext>
            </p:extLst>
          </p:nvPr>
        </p:nvGraphicFramePr>
        <p:xfrm>
          <a:off x="5629680" y="3415059"/>
          <a:ext cx="12239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58969" imgH="164965" progId="Equation.3">
                  <p:embed/>
                </p:oleObj>
              </mc:Choice>
              <mc:Fallback>
                <p:oleObj name="公式" r:id="rId22" imgW="558969" imgH="16496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680" y="3415059"/>
                        <a:ext cx="12239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5">
            <a:extLst>
              <a:ext uri="{FF2B5EF4-FFF2-40B4-BE49-F238E27FC236}">
                <a16:creationId xmlns:a16="http://schemas.microsoft.com/office/drawing/2014/main" id="{9A95EB6D-60CB-CC56-D8D8-47E229730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786270"/>
              </p:ext>
            </p:extLst>
          </p:nvPr>
        </p:nvGraphicFramePr>
        <p:xfrm>
          <a:off x="2451505" y="2445096"/>
          <a:ext cx="246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62088" imgH="164965" progId="Equation.DSMT4">
                  <p:embed/>
                </p:oleObj>
              </mc:Choice>
              <mc:Fallback>
                <p:oleObj name="Equation" r:id="rId24" imgW="1162088" imgH="164965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505" y="2445096"/>
                        <a:ext cx="2463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0" name="Line 26">
            <a:extLst>
              <a:ext uri="{FF2B5EF4-FFF2-40B4-BE49-F238E27FC236}">
                <a16:creationId xmlns:a16="http://schemas.microsoft.com/office/drawing/2014/main" id="{D9A98392-7BD5-16B1-E4A2-A0D44D66B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6205" y="4545359"/>
            <a:ext cx="6913562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441" name="Object 27">
            <a:extLst>
              <a:ext uri="{FF2B5EF4-FFF2-40B4-BE49-F238E27FC236}">
                <a16:creationId xmlns:a16="http://schemas.microsoft.com/office/drawing/2014/main" id="{ECD43675-C71C-464C-86D8-DC58BC965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730310"/>
              </p:ext>
            </p:extLst>
          </p:nvPr>
        </p:nvGraphicFramePr>
        <p:xfrm>
          <a:off x="2172105" y="4554884"/>
          <a:ext cx="2952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30278" imgH="323850" progId="Equation.3">
                  <p:embed/>
                </p:oleObj>
              </mc:Choice>
              <mc:Fallback>
                <p:oleObj name="公式" r:id="rId26" imgW="1530278" imgH="32385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105" y="4554884"/>
                        <a:ext cx="29527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2" name="Object 28">
            <a:extLst>
              <a:ext uri="{FF2B5EF4-FFF2-40B4-BE49-F238E27FC236}">
                <a16:creationId xmlns:a16="http://schemas.microsoft.com/office/drawing/2014/main" id="{02EEF073-BA0A-4124-3C20-1138FB8B0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168555"/>
              </p:ext>
            </p:extLst>
          </p:nvPr>
        </p:nvGraphicFramePr>
        <p:xfrm>
          <a:off x="5504267" y="4543771"/>
          <a:ext cx="32924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81315" imgH="323850" progId="Equation.3">
                  <p:embed/>
                </p:oleObj>
              </mc:Choice>
              <mc:Fallback>
                <p:oleObj name="公式" r:id="rId28" imgW="1581315" imgH="32385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4267" y="4543771"/>
                        <a:ext cx="32924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3" name="Line 29">
            <a:extLst>
              <a:ext uri="{FF2B5EF4-FFF2-40B4-BE49-F238E27FC236}">
                <a16:creationId xmlns:a16="http://schemas.microsoft.com/office/drawing/2014/main" id="{AAA3E86E-D5C6-006B-68E5-78DA051AB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42" y="5347046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4" name="Line 30">
            <a:extLst>
              <a:ext uri="{FF2B5EF4-FFF2-40B4-BE49-F238E27FC236}">
                <a16:creationId xmlns:a16="http://schemas.microsoft.com/office/drawing/2014/main" id="{A85E4952-B1D2-50B4-8739-374E60678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69767" y="1232246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5" name="Line 31">
            <a:extLst>
              <a:ext uri="{FF2B5EF4-FFF2-40B4-BE49-F238E27FC236}">
                <a16:creationId xmlns:a16="http://schemas.microsoft.com/office/drawing/2014/main" id="{AE4445F5-2D2E-6B68-E34D-1E9E4C5AE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6205" y="1232246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6" name="Line 32">
            <a:extLst>
              <a:ext uri="{FF2B5EF4-FFF2-40B4-BE49-F238E27FC236}">
                <a16:creationId xmlns:a16="http://schemas.microsoft.com/office/drawing/2014/main" id="{E18241E1-03A6-C08E-DFE4-98A828F849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442" y="1232246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7" name="Text Box 33">
            <a:extLst>
              <a:ext uri="{FF2B5EF4-FFF2-40B4-BE49-F238E27FC236}">
                <a16:creationId xmlns:a16="http://schemas.microsoft.com/office/drawing/2014/main" id="{A76074E4-6B7A-F12C-DBAE-6EC8660B9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55" y="2899121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本构关系</a:t>
            </a:r>
          </a:p>
        </p:txBody>
      </p:sp>
      <p:sp>
        <p:nvSpPr>
          <p:cNvPr id="60448" name="Text Box 34">
            <a:extLst>
              <a:ext uri="{FF2B5EF4-FFF2-40B4-BE49-F238E27FC236}">
                <a16:creationId xmlns:a16="http://schemas.microsoft.com/office/drawing/2014/main" id="{171776AE-4D64-4EC9-95EE-7266CA0C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442" y="3475384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位函数</a:t>
            </a:r>
          </a:p>
        </p:txBody>
      </p:sp>
      <p:sp>
        <p:nvSpPr>
          <p:cNvPr id="60449" name="Text Box 35">
            <a:extLst>
              <a:ext uri="{FF2B5EF4-FFF2-40B4-BE49-F238E27FC236}">
                <a16:creationId xmlns:a16="http://schemas.microsoft.com/office/drawing/2014/main" id="{607E0F8F-9438-3924-A06D-EA91F429B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17" y="4338984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边界条件</a:t>
            </a:r>
          </a:p>
        </p:txBody>
      </p:sp>
      <p:sp>
        <p:nvSpPr>
          <p:cNvPr id="60450" name="Text Box 61">
            <a:extLst>
              <a:ext uri="{FF2B5EF4-FFF2-40B4-BE49-F238E27FC236}">
                <a16:creationId xmlns:a16="http://schemas.microsoft.com/office/drawing/2014/main" id="{52EC541A-BCAB-4A7D-901C-335794353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455" y="1243359"/>
            <a:ext cx="351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恒定电场</a:t>
            </a:r>
            <a:r>
              <a:rPr kumimoji="1" lang="zh-CN" altLang="en-US" b="1">
                <a:solidFill>
                  <a:srgbClr val="FF9900"/>
                </a:solidFill>
                <a:latin typeface="楷体_GB2312" pitchFamily="49" charset="-122"/>
              </a:rPr>
              <a:t>（电源外）</a:t>
            </a:r>
          </a:p>
        </p:txBody>
      </p:sp>
      <p:grpSp>
        <p:nvGrpSpPr>
          <p:cNvPr id="783425" name="Group 65">
            <a:extLst>
              <a:ext uri="{FF2B5EF4-FFF2-40B4-BE49-F238E27FC236}">
                <a16:creationId xmlns:a16="http://schemas.microsoft.com/office/drawing/2014/main" id="{C72D37C9-A1B4-35CC-F5CC-BC39CA47E42B}"/>
              </a:ext>
            </a:extLst>
          </p:cNvPr>
          <p:cNvGrpSpPr>
            <a:grpSpLocks/>
          </p:cNvGrpSpPr>
          <p:nvPr/>
        </p:nvGrpSpPr>
        <p:grpSpPr bwMode="auto">
          <a:xfrm>
            <a:off x="192492" y="5523259"/>
            <a:ext cx="8677275" cy="1027112"/>
            <a:chOff x="136" y="3357"/>
            <a:chExt cx="5466" cy="647"/>
          </a:xfrm>
        </p:grpSpPr>
        <p:sp>
          <p:nvSpPr>
            <p:cNvPr id="60458" name="Text Box 36">
              <a:extLst>
                <a:ext uri="{FF2B5EF4-FFF2-40B4-BE49-F238E27FC236}">
                  <a16:creationId xmlns:a16="http://schemas.microsoft.com/office/drawing/2014/main" id="{327EE693-4697-00C8-383D-D196104F9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3566"/>
              <a:ext cx="1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对应物理量</a:t>
              </a:r>
            </a:p>
          </p:txBody>
        </p:sp>
        <p:sp>
          <p:nvSpPr>
            <p:cNvPr id="60459" name="Text Box 37">
              <a:extLst>
                <a:ext uri="{FF2B5EF4-FFF2-40B4-BE49-F238E27FC236}">
                  <a16:creationId xmlns:a16="http://schemas.microsoft.com/office/drawing/2014/main" id="{11D364E0-681E-8797-46CC-8E69E03DB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3357"/>
              <a:ext cx="8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静电场</a:t>
              </a:r>
            </a:p>
          </p:txBody>
        </p:sp>
        <p:graphicFrame>
          <p:nvGraphicFramePr>
            <p:cNvPr id="60460" name="Object 38">
              <a:extLst>
                <a:ext uri="{FF2B5EF4-FFF2-40B4-BE49-F238E27FC236}">
                  <a16:creationId xmlns:a16="http://schemas.microsoft.com/office/drawing/2014/main" id="{87F5D79F-7A9B-7997-80E9-5FCD0892FF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2" y="3402"/>
            <a:ext cx="24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3593" imgH="95250" progId="Equation.3">
                    <p:embed/>
                  </p:oleObj>
                </mc:Choice>
                <mc:Fallback>
                  <p:oleObj name="Equation" r:id="rId30" imgW="63593" imgH="9525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402"/>
                          <a:ext cx="24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1" name="Object 39">
              <a:extLst>
                <a:ext uri="{FF2B5EF4-FFF2-40B4-BE49-F238E27FC236}">
                  <a16:creationId xmlns:a16="http://schemas.microsoft.com/office/drawing/2014/main" id="{036B37EE-EC71-BE9D-4603-526DD32DCA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3402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50631" imgH="63635" progId="Equation.3">
                    <p:embed/>
                  </p:oleObj>
                </mc:Choice>
                <mc:Fallback>
                  <p:oleObj name="公式" r:id="rId32" imgW="50631" imgH="6363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3402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2" name="Object 40">
              <a:extLst>
                <a:ext uri="{FF2B5EF4-FFF2-40B4-BE49-F238E27FC236}">
                  <a16:creationId xmlns:a16="http://schemas.microsoft.com/office/drawing/2014/main" id="{DFE9F9AF-B2CC-13DF-EFF6-4566478137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3720"/>
            <a:ext cx="27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82630" imgH="63635" progId="Equation.3">
                    <p:embed/>
                  </p:oleObj>
                </mc:Choice>
                <mc:Fallback>
                  <p:oleObj name="公式" r:id="rId34" imgW="82630" imgH="6363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3720"/>
                          <a:ext cx="272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3" name="Object 41">
              <a:extLst>
                <a:ext uri="{FF2B5EF4-FFF2-40B4-BE49-F238E27FC236}">
                  <a16:creationId xmlns:a16="http://schemas.microsoft.com/office/drawing/2014/main" id="{107A1170-AE6F-1898-DFF4-345F936400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385"/>
            <a:ext cx="24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82630" imgH="133350" progId="Equation.3">
                    <p:embed/>
                  </p:oleObj>
                </mc:Choice>
                <mc:Fallback>
                  <p:oleObj name="公式" r:id="rId36" imgW="82630" imgH="13335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385"/>
                          <a:ext cx="24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4" name="Object 42">
              <a:extLst>
                <a:ext uri="{FF2B5EF4-FFF2-40B4-BE49-F238E27FC236}">
                  <a16:creationId xmlns:a16="http://schemas.microsoft.com/office/drawing/2014/main" id="{943F3430-0042-A12A-CF50-3E2233CAAD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675"/>
            <a:ext cx="26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82630" imgH="133350" progId="Equation.3">
                    <p:embed/>
                  </p:oleObj>
                </mc:Choice>
                <mc:Fallback>
                  <p:oleObj name="公式" r:id="rId38" imgW="82630" imgH="13335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675"/>
                          <a:ext cx="26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5" name="Object 43">
              <a:extLst>
                <a:ext uri="{FF2B5EF4-FFF2-40B4-BE49-F238E27FC236}">
                  <a16:creationId xmlns:a16="http://schemas.microsoft.com/office/drawing/2014/main" id="{520BC5E5-A105-B0B8-0077-15C00B85B2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3" y="3385"/>
            <a:ext cx="23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88706" imgH="133350" progId="Equation.3">
                    <p:embed/>
                  </p:oleObj>
                </mc:Choice>
                <mc:Fallback>
                  <p:oleObj name="公式" r:id="rId40" imgW="88706" imgH="13335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3" y="3385"/>
                          <a:ext cx="23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6" name="Object 44">
              <a:extLst>
                <a:ext uri="{FF2B5EF4-FFF2-40B4-BE49-F238E27FC236}">
                  <a16:creationId xmlns:a16="http://schemas.microsoft.com/office/drawing/2014/main" id="{5DCB0926-87FA-1C6A-94F5-8DABE7C40E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3658"/>
            <a:ext cx="26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63593" imgH="139835" progId="Equation.3">
                    <p:embed/>
                  </p:oleObj>
                </mc:Choice>
                <mc:Fallback>
                  <p:oleObj name="公式" r:id="rId42" imgW="63593" imgH="139835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3658"/>
                          <a:ext cx="264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7" name="Object 45">
              <a:extLst>
                <a:ext uri="{FF2B5EF4-FFF2-40B4-BE49-F238E27FC236}">
                  <a16:creationId xmlns:a16="http://schemas.microsoft.com/office/drawing/2014/main" id="{57BC030F-241E-2B19-DFAB-8D426DD62D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3385"/>
            <a:ext cx="2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50631" imgH="95250" progId="Equation.3">
                    <p:embed/>
                  </p:oleObj>
                </mc:Choice>
                <mc:Fallback>
                  <p:oleObj name="公式" r:id="rId44" imgW="50631" imgH="9525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385"/>
                          <a:ext cx="2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68" name="Object 46">
              <a:extLst>
                <a:ext uri="{FF2B5EF4-FFF2-40B4-BE49-F238E27FC236}">
                  <a16:creationId xmlns:a16="http://schemas.microsoft.com/office/drawing/2014/main" id="{ED78B166-90AF-50AF-6A8C-ABCD743C43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7" y="3692"/>
            <a:ext cx="24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50631" imgH="95250" progId="Equation.3">
                    <p:embed/>
                  </p:oleObj>
                </mc:Choice>
                <mc:Fallback>
                  <p:oleObj name="公式" r:id="rId46" imgW="50631" imgH="9525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7" y="3692"/>
                          <a:ext cx="24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69" name="Text Box 47">
              <a:extLst>
                <a:ext uri="{FF2B5EF4-FFF2-40B4-BE49-F238E27FC236}">
                  <a16:creationId xmlns:a16="http://schemas.microsoft.com/office/drawing/2014/main" id="{27037EDA-890D-4BA3-0891-988E85D82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3674"/>
              <a:ext cx="10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chemeClr val="bg1"/>
                  </a:solidFill>
                  <a:latin typeface="楷体_GB2312" pitchFamily="49" charset="-122"/>
                </a:rPr>
                <a:t>恒定电场</a:t>
              </a:r>
            </a:p>
          </p:txBody>
        </p:sp>
        <p:sp>
          <p:nvSpPr>
            <p:cNvPr id="60470" name="Line 48">
              <a:extLst>
                <a:ext uri="{FF2B5EF4-FFF2-40B4-BE49-F238E27FC236}">
                  <a16:creationId xmlns:a16="http://schemas.microsoft.com/office/drawing/2014/main" id="{FBBB9065-AC5A-FCEF-CE1C-71488C538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0471" name="Object 49">
              <a:extLst>
                <a:ext uri="{FF2B5EF4-FFF2-40B4-BE49-F238E27FC236}">
                  <a16:creationId xmlns:a16="http://schemas.microsoft.com/office/drawing/2014/main" id="{10A1DC32-35BF-4165-9FC2-EA6A22E42E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2" y="3691"/>
            <a:ext cx="24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63593" imgH="95250" progId="Equation.3">
                    <p:embed/>
                  </p:oleObj>
                </mc:Choice>
                <mc:Fallback>
                  <p:oleObj name="Equation" r:id="rId48" imgW="63593" imgH="9525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691"/>
                          <a:ext cx="24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72" name="Line 50">
              <a:extLst>
                <a:ext uri="{FF2B5EF4-FFF2-40B4-BE49-F238E27FC236}">
                  <a16:creationId xmlns:a16="http://schemas.microsoft.com/office/drawing/2014/main" id="{42BE9444-7046-8F96-2739-27FCC0EA5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3" name="Line 51">
              <a:extLst>
                <a:ext uri="{FF2B5EF4-FFF2-40B4-BE49-F238E27FC236}">
                  <a16:creationId xmlns:a16="http://schemas.microsoft.com/office/drawing/2014/main" id="{A4C8EDFC-167F-A22A-F685-9E84DBA4B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4" name="Line 52">
              <a:extLst>
                <a:ext uri="{FF2B5EF4-FFF2-40B4-BE49-F238E27FC236}">
                  <a16:creationId xmlns:a16="http://schemas.microsoft.com/office/drawing/2014/main" id="{EFE75819-791D-9E1B-5E5C-3FAEAB244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5" name="Line 53">
              <a:extLst>
                <a:ext uri="{FF2B5EF4-FFF2-40B4-BE49-F238E27FC236}">
                  <a16:creationId xmlns:a16="http://schemas.microsoft.com/office/drawing/2014/main" id="{1F33E1C3-C41F-1E86-3E64-2475FD570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6" name="Line 54">
              <a:extLst>
                <a:ext uri="{FF2B5EF4-FFF2-40B4-BE49-F238E27FC236}">
                  <a16:creationId xmlns:a16="http://schemas.microsoft.com/office/drawing/2014/main" id="{C4F8DFF6-C8FB-4929-56E1-27A55AE5C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7" name="Line 55">
              <a:extLst>
                <a:ext uri="{FF2B5EF4-FFF2-40B4-BE49-F238E27FC236}">
                  <a16:creationId xmlns:a16="http://schemas.microsoft.com/office/drawing/2014/main" id="{7C33838E-C488-4A64-B259-4B3B00D69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8" name="Line 56">
              <a:extLst>
                <a:ext uri="{FF2B5EF4-FFF2-40B4-BE49-F238E27FC236}">
                  <a16:creationId xmlns:a16="http://schemas.microsoft.com/office/drawing/2014/main" id="{555B34E5-0B82-5D1A-8CB1-459466E93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2" y="3369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0479" name="Object 57">
              <a:extLst>
                <a:ext uri="{FF2B5EF4-FFF2-40B4-BE49-F238E27FC236}">
                  <a16:creationId xmlns:a16="http://schemas.microsoft.com/office/drawing/2014/main" id="{191D3A81-12DF-510C-5590-9506553FA3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3714"/>
            <a:ext cx="2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88706" imgH="101735" progId="Equation.3">
                    <p:embed/>
                  </p:oleObj>
                </mc:Choice>
                <mc:Fallback>
                  <p:oleObj name="公式" r:id="rId50" imgW="88706" imgH="101735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3714"/>
                          <a:ext cx="27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80" name="Object 58">
              <a:extLst>
                <a:ext uri="{FF2B5EF4-FFF2-40B4-BE49-F238E27FC236}">
                  <a16:creationId xmlns:a16="http://schemas.microsoft.com/office/drawing/2014/main" id="{081652DE-D616-89E3-DCF5-3D80D61570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4" y="3416"/>
            <a:ext cx="22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2" imgW="82630" imgH="101735" progId="Equation.3">
                    <p:embed/>
                  </p:oleObj>
                </mc:Choice>
                <mc:Fallback>
                  <p:oleObj name="公式" r:id="rId52" imgW="82630" imgH="101735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3416"/>
                          <a:ext cx="22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81" name="Line 59">
              <a:extLst>
                <a:ext uri="{FF2B5EF4-FFF2-40B4-BE49-F238E27FC236}">
                  <a16:creationId xmlns:a16="http://schemas.microsoft.com/office/drawing/2014/main" id="{1F6B73CB-83CA-6C62-6CFB-945C56401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674"/>
              <a:ext cx="412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2" name="Line 60">
              <a:extLst>
                <a:ext uri="{FF2B5EF4-FFF2-40B4-BE49-F238E27FC236}">
                  <a16:creationId xmlns:a16="http://schemas.microsoft.com/office/drawing/2014/main" id="{3DFA9257-DAD0-FBC6-BD67-A86441756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369"/>
              <a:ext cx="539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3" name="Line 62">
              <a:extLst>
                <a:ext uri="{FF2B5EF4-FFF2-40B4-BE49-F238E27FC236}">
                  <a16:creationId xmlns:a16="http://schemas.microsoft.com/office/drawing/2014/main" id="{58443D6B-9B03-A61B-7E35-2E3543950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4004"/>
              <a:ext cx="539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4" name="Line 63">
              <a:extLst>
                <a:ext uri="{FF2B5EF4-FFF2-40B4-BE49-F238E27FC236}">
                  <a16:creationId xmlns:a16="http://schemas.microsoft.com/office/drawing/2014/main" id="{07637EE7-6845-4749-81F8-86750E85E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369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0452" name="Object 66">
            <a:extLst>
              <a:ext uri="{FF2B5EF4-FFF2-40B4-BE49-F238E27FC236}">
                <a16:creationId xmlns:a16="http://schemas.microsoft.com/office/drawing/2014/main" id="{F3877C80-D99B-F7F0-3584-08C4FE79F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843544"/>
              </p:ext>
            </p:extLst>
          </p:nvPr>
        </p:nvGraphicFramePr>
        <p:xfrm>
          <a:off x="2245130" y="1713259"/>
          <a:ext cx="256698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4" imgW="1111052" imgH="273185" progId="Equation.3">
                  <p:embed/>
                </p:oleObj>
              </mc:Choice>
              <mc:Fallback>
                <p:oleObj name="公式" r:id="rId54" imgW="1111052" imgH="273185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130" y="1713259"/>
                        <a:ext cx="256698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53" name="AutoShape 71">
            <a:hlinkClick r:id="rId56" action="ppaction://hlinksldjump" highlightClick="1"/>
            <a:extLst>
              <a:ext uri="{FF2B5EF4-FFF2-40B4-BE49-F238E27FC236}">
                <a16:creationId xmlns:a16="http://schemas.microsoft.com/office/drawing/2014/main" id="{20368F18-43AC-D102-441D-F3F40E26C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679" y="6766271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0454" name="AutoShape 7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D7E352B-54F8-49D9-0428-0DE5DBA8D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192" y="6766271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0455" name="AutoShape 7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F311130-6ED7-A4DB-2C6E-0D9D90963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9704" y="6766271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0456" name="AutoShape 7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E8A4D02-2564-DE23-0BDC-823E0AAD5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229" y="6766271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D0453E0-A1A5-43D1-7AD5-5B60603AE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36" y="1250503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 dirty="0">
                <a:solidFill>
                  <a:srgbClr val="FF0000"/>
                </a:solidFill>
                <a:latin typeface="楷体_GB2312" pitchFamily="49" charset="-122"/>
              </a:rPr>
              <a:t>相比拟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D73C8E-5F32-9133-31B7-3990BD3303CD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336759" y="145367"/>
            <a:ext cx="3570342" cy="10595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9A67D1-D213-C917-49D4-F0EECC4FF776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486991" y="129144"/>
            <a:ext cx="1629801" cy="11054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AB11E3-92AC-B8E8-C982-735083E1B3AA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400790" y="1861187"/>
            <a:ext cx="2708939" cy="2909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8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FE7812-D179-9BCA-39C9-EB901752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D87B1A-0919-4D19-B8A6-978B39028CA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EDD00E-303C-C047-1E8E-84A4EB46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88" y="17839"/>
            <a:ext cx="8345221" cy="23687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EA1BE6-111E-B978-1336-08C6E34E4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23" y="2386570"/>
            <a:ext cx="5940153" cy="446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2">
            <a:extLst>
              <a:ext uri="{FF2B5EF4-FFF2-40B4-BE49-F238E27FC236}">
                <a16:creationId xmlns:a16="http://schemas.microsoft.com/office/drawing/2014/main" id="{52F2D8AE-97A0-8666-0A5B-0F4684133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92EA69E-CF93-4DD5-93A9-8531DB1D5400}" type="slidenum">
              <a:rPr lang="en-US" altLang="zh-CN" sz="1400">
                <a:ea typeface="宋体" panose="02010600030101010101" pitchFamily="2" charset="-122"/>
              </a:rPr>
              <a:pPr/>
              <a:t>10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789506" name="Rectangle 2">
            <a:extLst>
              <a:ext uri="{FF2B5EF4-FFF2-40B4-BE49-F238E27FC236}">
                <a16:creationId xmlns:a16="http://schemas.microsoft.com/office/drawing/2014/main" id="{9DFF29A0-492F-B60E-9B66-802EFA3F8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工程上，常在电容器两极板之间、同轴电缆的芯线与外壳之间填充不导电的材料作电绝缘。这些</a:t>
            </a:r>
            <a:r>
              <a:rPr kumimoji="1" lang="zh-CN" altLang="en-US" b="1" i="1" u="sng">
                <a:solidFill>
                  <a:srgbClr val="FF0000"/>
                </a:solidFill>
                <a:latin typeface="Times New Roman" panose="02020603050405020304" pitchFamily="18" charset="0"/>
              </a:rPr>
              <a:t>绝缘材料</a:t>
            </a:r>
            <a:r>
              <a:rPr kumimoji="1" lang="zh-CN" altLang="en-US" b="1" i="1" u="sng">
                <a:solidFill>
                  <a:schemeClr val="bg1"/>
                </a:solidFill>
                <a:latin typeface="Times New Roman" panose="02020603050405020304" pitchFamily="18" charset="0"/>
              </a:rPr>
              <a:t>的电导率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远远小于金属材料的电导率，但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</a:rPr>
              <a:t>毕竟</a:t>
            </a:r>
            <a:r>
              <a:rPr kumimoji="1" lang="el-GR" altLang="zh-CN" b="1">
                <a:solidFill>
                  <a:srgbClr val="FF7C80"/>
                </a:solidFill>
                <a:latin typeface="Times New Roman" panose="02020603050405020304" pitchFamily="18" charset="0"/>
              </a:rPr>
              <a:t>σ</a:t>
            </a:r>
            <a:r>
              <a:rPr kumimoji="1" lang="en-US" altLang="zh-CN" b="1">
                <a:solidFill>
                  <a:srgbClr val="FF7C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，因而当在电极间加上电压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U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时，必定会</a:t>
            </a:r>
            <a:r>
              <a:rPr kumimoji="1" lang="zh-CN" altLang="en-US" b="1" u="sng">
                <a:solidFill>
                  <a:schemeClr val="bg1"/>
                </a:solidFill>
                <a:latin typeface="Times New Roman" panose="02020603050405020304" pitchFamily="18" charset="0"/>
              </a:rPr>
              <a:t>有微小的</a:t>
            </a:r>
            <a:r>
              <a:rPr kumimoji="1" lang="zh-CN" altLang="en-US" b="1" u="sng">
                <a:solidFill>
                  <a:srgbClr val="FF7C80"/>
                </a:solidFill>
                <a:latin typeface="Times New Roman" panose="02020603050405020304" pitchFamily="18" charset="0"/>
              </a:rPr>
              <a:t>漏电流 </a:t>
            </a:r>
            <a:r>
              <a:rPr kumimoji="1" lang="en-US" altLang="zh-CN" b="1" i="1" u="sng">
                <a:solidFill>
                  <a:srgbClr val="FF7C80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b="1" i="1" u="sng" baseline="-25000">
                <a:solidFill>
                  <a:srgbClr val="FF7C80"/>
                </a:solidFill>
                <a:latin typeface="Times New Roman" panose="02020603050405020304" pitchFamily="18" charset="0"/>
              </a:rPr>
              <a:t>leakage</a:t>
            </a:r>
            <a:r>
              <a:rPr kumimoji="1" lang="en-US" altLang="zh-CN" b="1" i="1">
                <a:solidFill>
                  <a:srgbClr val="FF7C8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存在。  </a:t>
            </a:r>
          </a:p>
        </p:txBody>
      </p:sp>
      <p:sp>
        <p:nvSpPr>
          <p:cNvPr id="789507" name="Rectangle 3">
            <a:extLst>
              <a:ext uri="{FF2B5EF4-FFF2-40B4-BE49-F238E27FC236}">
                <a16:creationId xmlns:a16="http://schemas.microsoft.com/office/drawing/2014/main" id="{5CE3155D-C15C-5DAB-43E2-37110FAEA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3086100"/>
            <a:ext cx="80772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漏电流与电压之比为</a:t>
            </a:r>
            <a:r>
              <a:rPr kumimoji="1" lang="zh-CN" altLang="en-US" b="1">
                <a:solidFill>
                  <a:srgbClr val="FF9933"/>
                </a:solidFill>
                <a:latin typeface="楷体_GB2312" pitchFamily="49" charset="-122"/>
              </a:rPr>
              <a:t>漏电导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，即</a:t>
            </a:r>
          </a:p>
        </p:txBody>
      </p:sp>
      <p:graphicFrame>
        <p:nvGraphicFramePr>
          <p:cNvPr id="789508" name="Object 4">
            <a:extLst>
              <a:ext uri="{FF2B5EF4-FFF2-40B4-BE49-F238E27FC236}">
                <a16:creationId xmlns:a16="http://schemas.microsoft.com/office/drawing/2014/main" id="{2B489220-0C9D-9695-F285-DE30F6005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795713"/>
          <a:ext cx="9112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87228" imgH="323850" progId="Equation.3">
                  <p:embed/>
                </p:oleObj>
              </mc:Choice>
              <mc:Fallback>
                <p:oleObj name="公式" r:id="rId3" imgW="387228" imgH="3238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95713"/>
                        <a:ext cx="9112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09" name="Rectangle 5">
            <a:extLst>
              <a:ext uri="{FF2B5EF4-FFF2-40B4-BE49-F238E27FC236}">
                <a16:creationId xmlns:a16="http://schemas.microsoft.com/office/drawing/2014/main" id="{DB352240-F823-4FD5-3BE0-826816E8E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19613"/>
            <a:ext cx="4679950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其倒数称为</a:t>
            </a:r>
            <a:r>
              <a:rPr kumimoji="1" lang="zh-CN" altLang="en-US" b="1" u="sng">
                <a:solidFill>
                  <a:srgbClr val="FF9933"/>
                </a:solidFill>
                <a:latin typeface="楷体_GB2312" pitchFamily="49" charset="-122"/>
              </a:rPr>
              <a:t>绝缘电阻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，即</a:t>
            </a:r>
          </a:p>
        </p:txBody>
      </p:sp>
      <p:graphicFrame>
        <p:nvGraphicFramePr>
          <p:cNvPr id="789510" name="Object 6">
            <a:extLst>
              <a:ext uri="{FF2B5EF4-FFF2-40B4-BE49-F238E27FC236}">
                <a16:creationId xmlns:a16="http://schemas.microsoft.com/office/drawing/2014/main" id="{6DCA2BF4-127D-BECF-B178-261933546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5235575"/>
          <a:ext cx="146843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66712" imgH="323850" progId="Equation.3">
                  <p:embed/>
                </p:oleObj>
              </mc:Choice>
              <mc:Fallback>
                <p:oleObj name="公式" r:id="rId5" imgW="666712" imgH="3238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235575"/>
                        <a:ext cx="146843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11" name="Rectangle 7">
            <a:extLst>
              <a:ext uri="{FF2B5EF4-FFF2-40B4-BE49-F238E27FC236}">
                <a16:creationId xmlns:a16="http://schemas.microsoft.com/office/drawing/2014/main" id="{B32F5E2C-5B67-71B6-CAD3-32D7BCDDD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549275"/>
            <a:ext cx="4964112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3.2.3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漏电导</a:t>
            </a:r>
          </a:p>
        </p:txBody>
      </p:sp>
      <p:sp>
        <p:nvSpPr>
          <p:cNvPr id="61449" name="AutoShape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360FA69-0035-9741-78B9-7ACB23257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1450" name="AutoShape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FD6CDA1-B425-2D81-8469-6A37658F4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1451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254432-6F0D-F651-FC8F-3E82F7EB2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1452" name="AutoShape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0DE81D0-8E44-7ACC-E38C-02D65530C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8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8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8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8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06" grpId="0"/>
      <p:bldP spid="789507" grpId="0"/>
      <p:bldP spid="789509" grpId="0"/>
      <p:bldP spid="7895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2">
            <a:extLst>
              <a:ext uri="{FF2B5EF4-FFF2-40B4-BE49-F238E27FC236}">
                <a16:creationId xmlns:a16="http://schemas.microsoft.com/office/drawing/2014/main" id="{7F54D54A-3990-5FBB-7281-2E0FA62FB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3DEB43E-5599-4E2B-8703-B1E68DF4A2E7}" type="slidenum">
              <a:rPr lang="en-US" altLang="zh-CN" sz="1400">
                <a:ea typeface="宋体" panose="02010600030101010101" pitchFamily="2" charset="-122"/>
              </a:rPr>
              <a:pPr/>
              <a:t>11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grpSp>
        <p:nvGrpSpPr>
          <p:cNvPr id="790544" name="Group 16">
            <a:extLst>
              <a:ext uri="{FF2B5EF4-FFF2-40B4-BE49-F238E27FC236}">
                <a16:creationId xmlns:a16="http://schemas.microsoft.com/office/drawing/2014/main" id="{B5E7E7EA-05D5-72C6-A16A-9036DDD14A5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981075"/>
            <a:ext cx="4392613" cy="3889375"/>
            <a:chOff x="68" y="572"/>
            <a:chExt cx="2767" cy="2450"/>
          </a:xfrm>
        </p:grpSpPr>
        <p:sp>
          <p:nvSpPr>
            <p:cNvPr id="63510" name="Rectangle 2">
              <a:extLst>
                <a:ext uri="{FF2B5EF4-FFF2-40B4-BE49-F238E27FC236}">
                  <a16:creationId xmlns:a16="http://schemas.microsoft.com/office/drawing/2014/main" id="{2B7C4ABF-917C-4572-F59F-06BCE132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572"/>
              <a:ext cx="2767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8001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2573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7145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1717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6289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30861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5433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40005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(1)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假定两电极间的电流为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；</a:t>
              </a:r>
            </a:p>
            <a:p>
              <a:pPr eaLnBrk="1" hangingPunct="1">
                <a:lnSpc>
                  <a:spcPct val="130000"/>
                </a:lnSpc>
                <a:buFontTx/>
                <a:buAutoNum type="arabicParenBoth" startAt="2"/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计算两电极间的电流密度</a:t>
              </a:r>
            </a:p>
            <a:p>
              <a:pPr eaLnBrk="1" hangingPunct="1">
                <a:lnSpc>
                  <a:spcPct val="130000"/>
                </a:lnSpc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   矢量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J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；</a:t>
              </a:r>
            </a:p>
            <a:p>
              <a:pPr eaLnBrk="1" hangingPunct="1">
                <a:lnSpc>
                  <a:spcPct val="130000"/>
                </a:lnSpc>
                <a:buFontTx/>
                <a:buAutoNum type="arabicParenBoth" startAt="3"/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由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J </a:t>
              </a:r>
              <a:r>
                <a:rPr kumimoji="1" lang="en-US" altLang="zh-CN">
                  <a:solidFill>
                    <a:schemeClr val="bg1"/>
                  </a:solidFill>
                  <a:latin typeface="Times New Roman" panose="02020603050405020304" pitchFamily="18" charset="0"/>
                </a:rPr>
                <a:t>= 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 E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得到 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;</a:t>
              </a:r>
            </a:p>
            <a:p>
              <a:pPr eaLnBrk="1" hangingPunct="1">
                <a:lnSpc>
                  <a:spcPct val="130000"/>
                </a:lnSpc>
                <a:buFontTx/>
                <a:buAutoNum type="arabicParenBoth" startAt="3"/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由                     ，求出两导 </a:t>
              </a:r>
            </a:p>
            <a:p>
              <a:pPr eaLnBrk="1" hangingPunct="1">
                <a:lnSpc>
                  <a:spcPct val="130000"/>
                </a:lnSpc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   体间的电位差；</a:t>
              </a:r>
            </a:p>
            <a:p>
              <a:pPr eaLnBrk="1" hangingPunct="1">
                <a:lnSpc>
                  <a:spcPct val="130000"/>
                </a:lnSpc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(5)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求比值                 ，即得出</a:t>
              </a:r>
            </a:p>
            <a:p>
              <a:pPr eaLnBrk="1" hangingPunct="1">
                <a:lnSpc>
                  <a:spcPct val="130000"/>
                </a:lnSpc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       所求电导。</a:t>
              </a:r>
            </a:p>
          </p:txBody>
        </p:sp>
        <p:graphicFrame>
          <p:nvGraphicFramePr>
            <p:cNvPr id="63511" name="Object 3">
              <a:extLst>
                <a:ext uri="{FF2B5EF4-FFF2-40B4-BE49-F238E27FC236}">
                  <a16:creationId xmlns:a16="http://schemas.microsoft.com/office/drawing/2014/main" id="{0AD36176-64F5-0AED-30B4-CDC84B3144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9" y="1775"/>
            <a:ext cx="103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749342" imgH="279265" progId="Equation.3">
                    <p:embed/>
                  </p:oleObj>
                </mc:Choice>
                <mc:Fallback>
                  <p:oleObj name="公式" r:id="rId2" imgW="749342" imgH="27926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1775"/>
                          <a:ext cx="1036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12" name="Object 4">
              <a:extLst>
                <a:ext uri="{FF2B5EF4-FFF2-40B4-BE49-F238E27FC236}">
                  <a16:creationId xmlns:a16="http://schemas.microsoft.com/office/drawing/2014/main" id="{1B51CAD3-7CDD-6033-A3D5-32A8823BD1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0" y="2477"/>
            <a:ext cx="75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20894" imgH="101735" progId="Equation.3">
                    <p:embed/>
                  </p:oleObj>
                </mc:Choice>
                <mc:Fallback>
                  <p:oleObj name="公式" r:id="rId4" imgW="520894" imgH="10173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477"/>
                          <a:ext cx="75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0533" name="Rectangle 5">
            <a:extLst>
              <a:ext uri="{FF2B5EF4-FFF2-40B4-BE49-F238E27FC236}">
                <a16:creationId xmlns:a16="http://schemas.microsoft.com/office/drawing/2014/main" id="{B395A695-6926-ECAB-F9C0-5240E16D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03238"/>
            <a:ext cx="3636962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计算电导的方法一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790535" name="Rectangle 7">
            <a:extLst>
              <a:ext uri="{FF2B5EF4-FFF2-40B4-BE49-F238E27FC236}">
                <a16:creationId xmlns:a16="http://schemas.microsoft.com/office/drawing/2014/main" id="{C478AC4D-F7E9-0597-5F68-976387E61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49275"/>
            <a:ext cx="4067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b="1">
                <a:solidFill>
                  <a:srgbClr val="FF7C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计算电导的方法二</a:t>
            </a:r>
            <a:r>
              <a:rPr kumimoji="1" lang="zh-CN" altLang="en-US" b="1">
                <a:solidFill>
                  <a:srgbClr val="FF7C80"/>
                </a:solidFill>
                <a:latin typeface="楷体_GB2312" pitchFamily="49" charset="-122"/>
              </a:rPr>
              <a:t>：</a:t>
            </a: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52BE2415-6668-F89D-3862-5D969003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981075"/>
            <a:ext cx="4716462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(1)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假定两电极间的电位差为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(2)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计算两电极间的电位分布</a:t>
            </a:r>
            <a:r>
              <a:rPr kumimoji="1" lang="zh-CN" altLang="en-US" i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zh-CN" altLang="en-US" b="1" i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(3)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由               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得到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(4)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由 </a:t>
            </a:r>
            <a:r>
              <a:rPr kumimoji="1" lang="en-US" altLang="zh-CN" i="1">
                <a:solidFill>
                  <a:schemeClr val="bg1"/>
                </a:solidFill>
                <a:latin typeface="Times New Roman" panose="02020603050405020304" pitchFamily="18" charset="0"/>
              </a:rPr>
              <a:t>J = </a:t>
            </a:r>
            <a:r>
              <a:rPr kumimoji="1" lang="en-US" altLang="zh-CN" i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E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得到</a:t>
            </a: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</a:rPr>
              <a:t>J 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kumimoji="1" lang="en-US" altLang="zh-CN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(5)  		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，求出两导体间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      电流；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(6)  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求比值                ，即得出所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        求电导。</a:t>
            </a:r>
          </a:p>
        </p:txBody>
      </p:sp>
      <p:graphicFrame>
        <p:nvGraphicFramePr>
          <p:cNvPr id="63495" name="Object 8">
            <a:extLst>
              <a:ext uri="{FF2B5EF4-FFF2-40B4-BE49-F238E27FC236}">
                <a16:creationId xmlns:a16="http://schemas.microsoft.com/office/drawing/2014/main" id="{BE8A6524-0115-95B2-B948-88C453AFD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1989138"/>
          <a:ext cx="12223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9931" imgH="164965" progId="Equation.3">
                  <p:embed/>
                </p:oleObj>
              </mc:Choice>
              <mc:Fallback>
                <p:oleObj name="公式" r:id="rId6" imgW="539931" imgH="16496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989138"/>
                        <a:ext cx="122237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9">
            <a:extLst>
              <a:ext uri="{FF2B5EF4-FFF2-40B4-BE49-F238E27FC236}">
                <a16:creationId xmlns:a16="http://schemas.microsoft.com/office/drawing/2014/main" id="{17C40D02-9DFF-FE39-0A8E-2CCD67566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851150"/>
          <a:ext cx="12906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26970" imgH="273185" progId="Equation.3">
                  <p:embed/>
                </p:oleObj>
              </mc:Choice>
              <mc:Fallback>
                <p:oleObj name="公式" r:id="rId8" imgW="526970" imgH="2731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851150"/>
                        <a:ext cx="12906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10">
            <a:extLst>
              <a:ext uri="{FF2B5EF4-FFF2-40B4-BE49-F238E27FC236}">
                <a16:creationId xmlns:a16="http://schemas.microsoft.com/office/drawing/2014/main" id="{A19D1CEC-1368-A788-CB5A-A2E312AB35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3300" y="4006850"/>
          <a:ext cx="119856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20894" imgH="101735" progId="Equation.3">
                  <p:embed/>
                </p:oleObj>
              </mc:Choice>
              <mc:Fallback>
                <p:oleObj name="公式" r:id="rId10" imgW="520894" imgH="1017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4006850"/>
                        <a:ext cx="119856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39" name="Line 11">
            <a:extLst>
              <a:ext uri="{FF2B5EF4-FFF2-40B4-BE49-F238E27FC236}">
                <a16:creationId xmlns:a16="http://schemas.microsoft.com/office/drawing/2014/main" id="{C025CBB2-3948-7CBF-35AA-DAB56C78F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77838"/>
            <a:ext cx="0" cy="4464050"/>
          </a:xfrm>
          <a:prstGeom prst="line">
            <a:avLst/>
          </a:prstGeom>
          <a:noFill/>
          <a:ln w="9525">
            <a:solidFill>
              <a:srgbClr val="FFCC99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0540" name="Line 12">
            <a:extLst>
              <a:ext uri="{FF2B5EF4-FFF2-40B4-BE49-F238E27FC236}">
                <a16:creationId xmlns:a16="http://schemas.microsoft.com/office/drawing/2014/main" id="{720C770F-7C34-DF7D-CB0E-30E9617B9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4941888"/>
            <a:ext cx="8496300" cy="0"/>
          </a:xfrm>
          <a:prstGeom prst="line">
            <a:avLst/>
          </a:prstGeom>
          <a:noFill/>
          <a:ln w="9525">
            <a:solidFill>
              <a:srgbClr val="FFCC99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0541" name="Rectangle 13">
            <a:extLst>
              <a:ext uri="{FF2B5EF4-FFF2-40B4-BE49-F238E27FC236}">
                <a16:creationId xmlns:a16="http://schemas.microsoft.com/office/drawing/2014/main" id="{E114B3A8-C63B-5374-4B5F-D905AECE2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6663"/>
            <a:ext cx="406717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计算电导的方法三</a:t>
            </a:r>
            <a:r>
              <a:rPr kumimoji="1" lang="zh-CN" altLang="en-US" b="1">
                <a:solidFill>
                  <a:srgbClr val="FF7C80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790542" name="Rectangle 14">
            <a:extLst>
              <a:ext uri="{FF2B5EF4-FFF2-40B4-BE49-F238E27FC236}">
                <a16:creationId xmlns:a16="http://schemas.microsoft.com/office/drawing/2014/main" id="{DC139D8C-982D-8753-4140-400FAE63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5621338"/>
            <a:ext cx="2376488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静电比拟法：</a:t>
            </a:r>
          </a:p>
        </p:txBody>
      </p:sp>
      <p:graphicFrame>
        <p:nvGraphicFramePr>
          <p:cNvPr id="790543" name="Object 15">
            <a:extLst>
              <a:ext uri="{FF2B5EF4-FFF2-40B4-BE49-F238E27FC236}">
                <a16:creationId xmlns:a16="http://schemas.microsoft.com/office/drawing/2014/main" id="{64ECE4C3-75D4-9063-3129-2A93A641F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516563"/>
          <a:ext cx="1081088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708" imgH="323850" progId="Equation.3">
                  <p:embed/>
                </p:oleObj>
              </mc:Choice>
              <mc:Fallback>
                <p:oleObj name="公式" r:id="rId12" imgW="393708" imgH="32385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516563"/>
                        <a:ext cx="1081088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0552" name="Group 24">
            <a:extLst>
              <a:ext uri="{FF2B5EF4-FFF2-40B4-BE49-F238E27FC236}">
                <a16:creationId xmlns:a16="http://schemas.microsoft.com/office/drawing/2014/main" id="{05A46202-E3CA-B7DD-F900-7DA95A8BDA95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5516563"/>
            <a:ext cx="1990725" cy="903287"/>
            <a:chOff x="2835" y="3475"/>
            <a:chExt cx="1254" cy="569"/>
          </a:xfrm>
        </p:grpSpPr>
        <p:graphicFrame>
          <p:nvGraphicFramePr>
            <p:cNvPr id="63508" name="Object 22">
              <a:extLst>
                <a:ext uri="{FF2B5EF4-FFF2-40B4-BE49-F238E27FC236}">
                  <a16:creationId xmlns:a16="http://schemas.microsoft.com/office/drawing/2014/main" id="{3ED960FA-E290-9560-528C-3C9C59F131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1" y="3475"/>
            <a:ext cx="828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01452" imgH="323850" progId="Equation.3">
                    <p:embed/>
                  </p:oleObj>
                </mc:Choice>
                <mc:Fallback>
                  <p:oleObj name="公式" r:id="rId14" imgW="501452" imgH="32385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1" y="3475"/>
                          <a:ext cx="828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9" name="AutoShape 23">
              <a:extLst>
                <a:ext uri="{FF2B5EF4-FFF2-40B4-BE49-F238E27FC236}">
                  <a16:creationId xmlns:a16="http://schemas.microsoft.com/office/drawing/2014/main" id="{376A63FE-AEC0-D49A-F8EE-A49572450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3702"/>
              <a:ext cx="363" cy="136"/>
            </a:xfrm>
            <a:prstGeom prst="rightArrow">
              <a:avLst>
                <a:gd name="adj1" fmla="val 50000"/>
                <a:gd name="adj2" fmla="val 66728"/>
              </a:avLst>
            </a:prstGeom>
            <a:solidFill>
              <a:srgbClr val="FFCC99"/>
            </a:solidFill>
            <a:ln w="222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3504" name="AutoShape 25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6400D1CB-B165-D769-2262-5A475736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3505" name="AutoShape 2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7A94553-8730-DF02-BC8D-CD8F9E904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350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BC63081-62C5-0446-D456-1EF6398E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3507" name="AutoShape 2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FE7122A2-8C5C-1569-7ABF-8515B93FE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9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9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9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79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0"/>
                                        <p:tgtEl>
                                          <p:spTgt spid="79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0"/>
                                        <p:tgtEl>
                                          <p:spTgt spid="79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79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0"/>
                                        <p:tgtEl>
                                          <p:spTgt spid="79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79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3" grpId="0"/>
      <p:bldP spid="790535" grpId="0"/>
      <p:bldP spid="790541" grpId="0"/>
      <p:bldP spid="7905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94FAAD-E210-CBE0-7BC8-0622BB66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04" y="4221088"/>
            <a:ext cx="5579496" cy="2719811"/>
          </a:xfrm>
          <a:prstGeom prst="rect">
            <a:avLst/>
          </a:prstGeom>
        </p:spPr>
      </p:pic>
      <p:sp>
        <p:nvSpPr>
          <p:cNvPr id="64514" name="灯片编号占位符 2">
            <a:extLst>
              <a:ext uri="{FF2B5EF4-FFF2-40B4-BE49-F238E27FC236}">
                <a16:creationId xmlns:a16="http://schemas.microsoft.com/office/drawing/2014/main" id="{D2202D44-2CC6-240E-1680-F26BD1DDC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3750750-A0DC-48EF-BDDF-F664EBA36032}" type="slidenum">
              <a:rPr lang="en-US" altLang="zh-CN" sz="1400">
                <a:ea typeface="宋体" panose="02010600030101010101" pitchFamily="2" charset="-122"/>
              </a:rPr>
              <a:pPr/>
              <a:t>12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791554" name="Text Box 2">
            <a:extLst>
              <a:ext uri="{FF2B5EF4-FFF2-40B4-BE49-F238E27FC236}">
                <a16:creationId xmlns:a16="http://schemas.microsoft.com/office/drawing/2014/main" id="{B6FF4245-C154-1A54-D11D-B3058C480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22877"/>
            <a:ext cx="9072562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EC8C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kumimoji="1" lang="zh-CN" altLang="en-US" b="1" dirty="0">
                <a:solidFill>
                  <a:srgbClr val="EC8C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b="1" dirty="0">
                <a:solidFill>
                  <a:srgbClr val="EC8C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3.2.1】</a:t>
            </a:r>
            <a:r>
              <a:rPr kumimoji="1"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求同轴电缆的绝缘电阻。设内外的半径分别为</a:t>
            </a:r>
            <a:r>
              <a:rPr kumimoji="1"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长度为</a:t>
            </a:r>
            <a:r>
              <a:rPr kumimoji="1"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en-US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，其间媒质的电导率为</a:t>
            </a:r>
            <a:r>
              <a:rPr kumimoji="1" lang="el-GR" altLang="zh-CN" i="1" dirty="0">
                <a:solidFill>
                  <a:schemeClr val="bg1"/>
                </a:solidFill>
                <a:latin typeface="楷体_GB2312" pitchFamily="49" charset="-122"/>
              </a:rPr>
              <a:t>σ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、介电常数为</a:t>
            </a:r>
            <a:r>
              <a:rPr kumimoji="1" lang="el-GR" altLang="zh-CN" b="1" i="1" dirty="0">
                <a:solidFill>
                  <a:schemeClr val="bg1"/>
                </a:solidFill>
                <a:latin typeface="楷体_GB2312" pitchFamily="49" charset="-122"/>
              </a:rPr>
              <a:t>ε</a:t>
            </a:r>
            <a:r>
              <a:rPr kumimoji="1"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91555" name="Text Box 3">
            <a:extLst>
              <a:ext uri="{FF2B5EF4-FFF2-40B4-BE49-F238E27FC236}">
                <a16:creationId xmlns:a16="http://schemas.microsoft.com/office/drawing/2014/main" id="{407F8DEC-D18F-87E9-65EA-1BA8E6E1C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600" y="1230983"/>
            <a:ext cx="919854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FF9933"/>
                </a:solidFill>
              </a:rPr>
              <a:t>【</a:t>
            </a:r>
            <a:r>
              <a:rPr kumimoji="1" lang="zh-CN" altLang="en-US" b="1" dirty="0">
                <a:solidFill>
                  <a:srgbClr val="FF9933"/>
                </a:solidFill>
              </a:rPr>
              <a:t>解</a:t>
            </a:r>
            <a:r>
              <a:rPr kumimoji="1" lang="en-US" altLang="zh-CN" b="1" dirty="0">
                <a:solidFill>
                  <a:srgbClr val="FF9933"/>
                </a:solidFill>
              </a:rPr>
              <a:t>】</a:t>
            </a:r>
            <a:r>
              <a:rPr kumimoji="1" lang="zh-CN" altLang="en-US" b="1" dirty="0">
                <a:solidFill>
                  <a:srgbClr val="FF7C80"/>
                </a:solidFill>
                <a:ea typeface="幼圆" panose="02010509060101010101" pitchFamily="49" charset="-122"/>
              </a:rPr>
              <a:t>方法一：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直接用恒定电场的计算方法。假设同轴线的内外导体间加恒定电压</a:t>
            </a:r>
            <a:r>
              <a:rPr kumimoji="1"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b="1" dirty="0">
                <a:solidFill>
                  <a:schemeClr val="bg1"/>
                </a:solidFill>
              </a:rPr>
              <a:t>设</a:t>
            </a:r>
            <a:r>
              <a:rPr kumimoji="1" lang="zh-CN" altLang="en-US" b="1" u="sng" dirty="0">
                <a:solidFill>
                  <a:schemeClr val="bg1"/>
                </a:solidFill>
              </a:rPr>
              <a:t>由内导体流向外导体的</a:t>
            </a:r>
            <a:r>
              <a:rPr kumimoji="1" lang="zh-CN" altLang="en-US" b="1" u="sng" dirty="0">
                <a:solidFill>
                  <a:srgbClr val="FF0000"/>
                </a:solidFill>
              </a:rPr>
              <a:t>漏电流</a:t>
            </a:r>
            <a:r>
              <a:rPr kumimoji="1" lang="zh-CN" altLang="en-US" b="1" dirty="0">
                <a:solidFill>
                  <a:schemeClr val="bg1"/>
                </a:solidFill>
              </a:rPr>
              <a:t>为</a:t>
            </a:r>
            <a:r>
              <a:rPr kumimoji="1" lang="en-US" altLang="zh-CN" i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i="1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leakage</a:t>
            </a:r>
            <a:r>
              <a:rPr kumimoji="1"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1F9B4C1D-7FA6-E232-5608-E4B1A51FF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6" y="361518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漏电导</a:t>
            </a:r>
          </a:p>
        </p:txBody>
      </p:sp>
      <p:graphicFrame>
        <p:nvGraphicFramePr>
          <p:cNvPr id="64518" name="Object 8">
            <a:extLst>
              <a:ext uri="{FF2B5EF4-FFF2-40B4-BE49-F238E27FC236}">
                <a16:creationId xmlns:a16="http://schemas.microsoft.com/office/drawing/2014/main" id="{F1466EEB-FB65-BCE4-C396-DF16AD667B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105829"/>
              </p:ext>
            </p:extLst>
          </p:nvPr>
        </p:nvGraphicFramePr>
        <p:xfrm>
          <a:off x="1112283" y="3686618"/>
          <a:ext cx="3659577" cy="363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6428" imgH="133350" progId="Equation.3">
                  <p:embed/>
                </p:oleObj>
              </mc:Choice>
              <mc:Fallback>
                <p:oleObj name="公式" r:id="rId4" imgW="1606428" imgH="13335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283" y="3686618"/>
                        <a:ext cx="3659577" cy="363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Text Box 9">
            <a:extLst>
              <a:ext uri="{FF2B5EF4-FFF2-40B4-BE49-F238E27FC236}">
                <a16:creationId xmlns:a16="http://schemas.microsoft.com/office/drawing/2014/main" id="{B95C1072-89B2-99F8-0C63-7A772B262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" y="411079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绝缘电阻</a:t>
            </a:r>
          </a:p>
        </p:txBody>
      </p:sp>
      <p:graphicFrame>
        <p:nvGraphicFramePr>
          <p:cNvPr id="64520" name="Object 10">
            <a:extLst>
              <a:ext uri="{FF2B5EF4-FFF2-40B4-BE49-F238E27FC236}">
                <a16:creationId xmlns:a16="http://schemas.microsoft.com/office/drawing/2014/main" id="{794BFF17-71B6-2252-1C75-8485EE5F4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04036"/>
              </p:ext>
            </p:extLst>
          </p:nvPr>
        </p:nvGraphicFramePr>
        <p:xfrm>
          <a:off x="57742" y="4593279"/>
          <a:ext cx="3511885" cy="38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06428" imgH="133350" progId="Equation.3">
                  <p:embed/>
                </p:oleObj>
              </mc:Choice>
              <mc:Fallback>
                <p:oleObj name="公式" r:id="rId6" imgW="1606428" imgH="1333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2" y="4593279"/>
                        <a:ext cx="3511885" cy="385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563" name="Object 11">
            <a:extLst>
              <a:ext uri="{FF2B5EF4-FFF2-40B4-BE49-F238E27FC236}">
                <a16:creationId xmlns:a16="http://schemas.microsoft.com/office/drawing/2014/main" id="{D1551F32-53D7-255A-46F9-7A7CE23A4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717527"/>
              </p:ext>
            </p:extLst>
          </p:nvPr>
        </p:nvGraphicFramePr>
        <p:xfrm>
          <a:off x="113023" y="2766504"/>
          <a:ext cx="4799012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11214" imgH="361950" progId="Equation.3">
                  <p:embed/>
                </p:oleObj>
              </mc:Choice>
              <mc:Fallback>
                <p:oleObj name="公式" r:id="rId8" imgW="2311214" imgH="3619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23" y="2766504"/>
                        <a:ext cx="4799012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2" name="Text Box 4">
            <a:extLst>
              <a:ext uri="{FF2B5EF4-FFF2-40B4-BE49-F238E27FC236}">
                <a16:creationId xmlns:a16="http://schemas.microsoft.com/office/drawing/2014/main" id="{7CFBD819-5854-72EC-508B-596BDA2E3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" y="2237867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64523" name="Object 29">
            <a:extLst>
              <a:ext uri="{FF2B5EF4-FFF2-40B4-BE49-F238E27FC236}">
                <a16:creationId xmlns:a16="http://schemas.microsoft.com/office/drawing/2014/main" id="{08DCFE13-7348-D653-23F5-5D69DADEB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737292"/>
              </p:ext>
            </p:extLst>
          </p:nvPr>
        </p:nvGraphicFramePr>
        <p:xfrm>
          <a:off x="872755" y="2044489"/>
          <a:ext cx="2187077" cy="751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82604" imgH="285750" progId="Equation.3">
                  <p:embed/>
                </p:oleObj>
              </mc:Choice>
              <mc:Fallback>
                <p:oleObj name="公式" r:id="rId10" imgW="882604" imgH="28575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755" y="2044489"/>
                        <a:ext cx="2187077" cy="751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4" name="AutoShape 30">
            <a:extLst>
              <a:ext uri="{FF2B5EF4-FFF2-40B4-BE49-F238E27FC236}">
                <a16:creationId xmlns:a16="http://schemas.microsoft.com/office/drawing/2014/main" id="{5578BDA9-8C8D-7C53-5F01-54FF9F040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55" y="2364867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525" name="Object 28">
                <a:extLst>
                  <a:ext uri="{FF2B5EF4-FFF2-40B4-BE49-F238E27FC236}">
                    <a16:creationId xmlns:a16="http://schemas.microsoft.com/office/drawing/2014/main" id="{437AE072-4933-F9A6-DBA4-476108295228}"/>
                  </a:ext>
                </a:extLst>
              </p:cNvPr>
              <p:cNvSpPr txBox="1"/>
              <p:nvPr/>
            </p:nvSpPr>
            <p:spPr bwMode="auto">
              <a:xfrm>
                <a:off x="3569627" y="2084002"/>
                <a:ext cx="2942870" cy="1216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𝑙𝑒𝑎𝑘𝑎𝑔𝑒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𝑙𝑒𝑎𝑘𝑎𝑔𝑒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525" name="Object 28">
                <a:extLst>
                  <a:ext uri="{FF2B5EF4-FFF2-40B4-BE49-F238E27FC236}">
                    <a16:creationId xmlns:a16="http://schemas.microsoft.com/office/drawing/2014/main" id="{437AE072-4933-F9A6-DBA4-476108295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9627" y="2084002"/>
                <a:ext cx="2942870" cy="12160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6" name="AutoShape 31">
            <a:extLst>
              <a:ext uri="{FF2B5EF4-FFF2-40B4-BE49-F238E27FC236}">
                <a16:creationId xmlns:a16="http://schemas.microsoft.com/office/drawing/2014/main" id="{D50EA769-F58C-AE87-DCCE-D17AEA741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076" y="2358517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4527" name="AutoShape 43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3D228D63-CD5E-9DA1-FC9A-50118631C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4528" name="AutoShape 4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B489684-2766-4E1F-DAC0-5806AF4A3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4529" name="AutoShape 4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66D2D68-5070-E87D-25EE-87CB8FAC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4530" name="AutoShape 4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A768CA28-4502-13D2-DC22-AA3CB104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pic>
        <p:nvPicPr>
          <p:cNvPr id="64532" name="图片 1">
            <a:extLst>
              <a:ext uri="{FF2B5EF4-FFF2-40B4-BE49-F238E27FC236}">
                <a16:creationId xmlns:a16="http://schemas.microsoft.com/office/drawing/2014/main" id="{4CB1B553-95AE-D490-9D26-CAB0FCB80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392" y="2853003"/>
            <a:ext cx="4195947" cy="1482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34" name="Text Box 9">
            <a:extLst>
              <a:ext uri="{FF2B5EF4-FFF2-40B4-BE49-F238E27FC236}">
                <a16:creationId xmlns:a16="http://schemas.microsoft.com/office/drawing/2014/main" id="{B7D0F230-8059-2806-09AD-98E1F06D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976277"/>
            <a:ext cx="32797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rgbClr val="FF9900"/>
                </a:solidFill>
                <a:latin typeface="Times New Roman" panose="02020603050405020304" pitchFamily="18" charset="0"/>
              </a:rPr>
              <a:t>同轴线等效电路：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E281767-3E8A-F605-F0D4-773993E01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168" y="2212675"/>
            <a:ext cx="31613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（外加电源导致的介质间分布的类似恒定电场的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9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9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9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54" grpId="0"/>
      <p:bldP spid="7915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4">
            <a:extLst>
              <a:ext uri="{FF2B5EF4-FFF2-40B4-BE49-F238E27FC236}">
                <a16:creationId xmlns:a16="http://schemas.microsoft.com/office/drawing/2014/main" id="{F2657C98-C141-01C3-9C9E-3A48BE444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DE6CBE0-CB70-45CD-97D2-EFCC365AE4E3}" type="slidenum">
              <a:rPr lang="en-US" altLang="zh-CN" sz="1400">
                <a:ea typeface="宋体" panose="02010600030101010101" pitchFamily="2" charset="-122"/>
              </a:rPr>
              <a:pPr/>
              <a:t>13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985091" name="Text Box 3">
            <a:extLst>
              <a:ext uri="{FF2B5EF4-FFF2-40B4-BE49-F238E27FC236}">
                <a16:creationId xmlns:a16="http://schemas.microsoft.com/office/drawing/2014/main" id="{1B22F3F0-D2BA-DE74-99DE-CE36DCEF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0713"/>
            <a:ext cx="518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rgbClr val="FF7C80"/>
                </a:solidFill>
                <a:ea typeface="幼圆" panose="02010509060101010101" pitchFamily="49" charset="-122"/>
              </a:rPr>
              <a:t>方法二：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用静电比拟法求解</a:t>
            </a:r>
          </a:p>
        </p:txBody>
      </p:sp>
      <p:grpSp>
        <p:nvGrpSpPr>
          <p:cNvPr id="985099" name="Group 11">
            <a:extLst>
              <a:ext uri="{FF2B5EF4-FFF2-40B4-BE49-F238E27FC236}">
                <a16:creationId xmlns:a16="http://schemas.microsoft.com/office/drawing/2014/main" id="{54CCD917-1A93-258A-FB46-28786F1DED5A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404813"/>
            <a:ext cx="3241675" cy="2952750"/>
            <a:chOff x="158" y="1525"/>
            <a:chExt cx="2042" cy="1860"/>
          </a:xfrm>
        </p:grpSpPr>
        <p:sp>
          <p:nvSpPr>
            <p:cNvPr id="66578" name="Line 12">
              <a:extLst>
                <a:ext uri="{FF2B5EF4-FFF2-40B4-BE49-F238E27FC236}">
                  <a16:creationId xmlns:a16="http://schemas.microsoft.com/office/drawing/2014/main" id="{CBFB64A0-1A8C-A426-CC7E-56F0F1717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2659"/>
              <a:ext cx="0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579" name="Group 13">
              <a:extLst>
                <a:ext uri="{FF2B5EF4-FFF2-40B4-BE49-F238E27FC236}">
                  <a16:creationId xmlns:a16="http://schemas.microsoft.com/office/drawing/2014/main" id="{74F71113-8430-DB77-B34E-4A159966B1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1525"/>
              <a:ext cx="2042" cy="1860"/>
              <a:chOff x="158" y="1525"/>
              <a:chExt cx="2042" cy="1860"/>
            </a:xfrm>
          </p:grpSpPr>
          <p:sp>
            <p:nvSpPr>
              <p:cNvPr id="66580" name="Rectangle 14">
                <a:extLst>
                  <a:ext uri="{FF2B5EF4-FFF2-40B4-BE49-F238E27FC236}">
                    <a16:creationId xmlns:a16="http://schemas.microsoft.com/office/drawing/2014/main" id="{2B680B1F-1699-5DCE-A500-F09EDD0C3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" y="1525"/>
                <a:ext cx="2042" cy="186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66581" name="AutoShape 15">
                <a:extLst>
                  <a:ext uri="{FF2B5EF4-FFF2-40B4-BE49-F238E27FC236}">
                    <a16:creationId xmlns:a16="http://schemas.microsoft.com/office/drawing/2014/main" id="{10F49BBF-222F-AE6E-2D3F-BA5057063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" y="2070"/>
                <a:ext cx="953" cy="90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3 w 21600"/>
                  <a:gd name="T25" fmla="*/ 3171 h 21600"/>
                  <a:gd name="T26" fmla="*/ 18427 w 21600"/>
                  <a:gd name="T27" fmla="*/ 1842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17" y="10800"/>
                    </a:moveTo>
                    <a:cubicBezTo>
                      <a:pt x="817" y="16313"/>
                      <a:pt x="5287" y="20783"/>
                      <a:pt x="10800" y="20783"/>
                    </a:cubicBezTo>
                    <a:cubicBezTo>
                      <a:pt x="16313" y="20783"/>
                      <a:pt x="20783" y="16313"/>
                      <a:pt x="20783" y="10800"/>
                    </a:cubicBezTo>
                    <a:cubicBezTo>
                      <a:pt x="20783" y="5287"/>
                      <a:pt x="16313" y="817"/>
                      <a:pt x="10800" y="817"/>
                    </a:cubicBezTo>
                    <a:cubicBezTo>
                      <a:pt x="5287" y="817"/>
                      <a:pt x="817" y="5287"/>
                      <a:pt x="817" y="10800"/>
                    </a:cubicBezTo>
                    <a:close/>
                  </a:path>
                </a:pathLst>
              </a:custGeom>
              <a:solidFill>
                <a:srgbClr val="FF9900"/>
              </a:solidFill>
              <a:ln w="9525">
                <a:round/>
                <a:headEnd/>
                <a:tailEnd/>
              </a:ln>
              <a:effectLst/>
              <a:scene3d>
                <a:camera prst="legacyPerspectiveTopRight">
                  <a:rot lat="600000" lon="1799995" rev="0"/>
                </a:camera>
                <a:lightRig rig="legacyFlat4" dir="b"/>
              </a:scene3d>
              <a:sp3d extrusionH="1801800" prstMaterial="legacyMatte">
                <a:bevelT w="13500" h="13500" prst="angle"/>
                <a:bevelB w="13500" h="13500" prst="angle"/>
                <a:extrusionClr>
                  <a:srgbClr val="FF9900"/>
                </a:extrusionClr>
                <a:contourClr>
                  <a:srgbClr val="FF9900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66582" name="Oval 16">
                <a:extLst>
                  <a:ext uri="{FF2B5EF4-FFF2-40B4-BE49-F238E27FC236}">
                    <a16:creationId xmlns:a16="http://schemas.microsoft.com/office/drawing/2014/main" id="{997DCF23-4F46-4D8D-6BE3-7642004A72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" y="2093"/>
                <a:ext cx="929" cy="929"/>
              </a:xfrm>
              <a:prstGeom prst="ellipse">
                <a:avLst/>
              </a:prstGeom>
              <a:solidFill>
                <a:srgbClr val="FFBA7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66583" name="Line 17">
                <a:extLst>
                  <a:ext uri="{FF2B5EF4-FFF2-40B4-BE49-F238E27FC236}">
                    <a16:creationId xmlns:a16="http://schemas.microsoft.com/office/drawing/2014/main" id="{0C257151-7C2B-8243-62BB-FE74152F5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1810"/>
                <a:ext cx="4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4" name="Line 18">
                <a:extLst>
                  <a:ext uri="{FF2B5EF4-FFF2-40B4-BE49-F238E27FC236}">
                    <a16:creationId xmlns:a16="http://schemas.microsoft.com/office/drawing/2014/main" id="{40964EB5-20A3-FE8D-1775-CDCB0EED3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" y="2098"/>
                <a:ext cx="4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5" name="Line 19">
                <a:extLst>
                  <a:ext uri="{FF2B5EF4-FFF2-40B4-BE49-F238E27FC236}">
                    <a16:creationId xmlns:a16="http://schemas.microsoft.com/office/drawing/2014/main" id="{5D1F8D6D-1C9D-5CAD-531A-47B378F84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" y="1797"/>
                <a:ext cx="728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6586" name="Object 20">
                <a:extLst>
                  <a:ext uri="{FF2B5EF4-FFF2-40B4-BE49-F238E27FC236}">
                    <a16:creationId xmlns:a16="http://schemas.microsoft.com/office/drawing/2014/main" id="{12785576-028A-8619-FF02-F0DE3B3D83D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6" y="1752"/>
              <a:ext cx="10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557" imgH="101735" progId="Equation.3">
                      <p:embed/>
                    </p:oleObj>
                  </mc:Choice>
                  <mc:Fallback>
                    <p:oleObj name="Equation" r:id="rId2" imgW="12557" imgH="101735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6" y="1752"/>
                            <a:ext cx="10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6587" name="Oval 21">
                <a:extLst>
                  <a:ext uri="{FF2B5EF4-FFF2-40B4-BE49-F238E27FC236}">
                    <a16:creationId xmlns:a16="http://schemas.microsoft.com/office/drawing/2014/main" id="{BA16E375-8F57-6AEB-08B4-BACEDFE92A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9" y="2153"/>
                <a:ext cx="816" cy="815"/>
              </a:xfrm>
              <a:prstGeom prst="ellips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66588" name="Oval 22">
                <a:extLst>
                  <a:ext uri="{FF2B5EF4-FFF2-40B4-BE49-F238E27FC236}">
                    <a16:creationId xmlns:a16="http://schemas.microsoft.com/office/drawing/2014/main" id="{522A1A03-440C-05C4-DA65-30251C3150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81" y="2342"/>
                <a:ext cx="453" cy="453"/>
              </a:xfrm>
              <a:prstGeom prst="ellipse">
                <a:avLst/>
              </a:prstGeom>
              <a:solidFill>
                <a:srgbClr val="FFAB5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endParaRPr lang="zh-CN" altLang="en-US"/>
              </a:p>
            </p:txBody>
          </p:sp>
          <p:graphicFrame>
            <p:nvGraphicFramePr>
              <p:cNvPr id="66589" name="Object 23">
                <a:extLst>
                  <a:ext uri="{FF2B5EF4-FFF2-40B4-BE49-F238E27FC236}">
                    <a16:creationId xmlns:a16="http://schemas.microsoft.com/office/drawing/2014/main" id="{3B6BAF1B-2BCF-18F0-ED90-39988B5BD6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0" y="2166"/>
              <a:ext cx="197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82630" imgH="63635" progId="Equation.3">
                      <p:embed/>
                    </p:oleObj>
                  </mc:Choice>
                  <mc:Fallback>
                    <p:oleObj name="Equation" r:id="rId4" imgW="82630" imgH="63635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" y="2166"/>
                            <a:ext cx="197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590" name="Object 24">
                <a:extLst>
                  <a:ext uri="{FF2B5EF4-FFF2-40B4-BE49-F238E27FC236}">
                    <a16:creationId xmlns:a16="http://schemas.microsoft.com/office/drawing/2014/main" id="{E0CE2FC6-D793-990E-D76D-E7726C9309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4" y="2212"/>
              <a:ext cx="181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50631" imgH="63635" progId="Equation.3">
                      <p:embed/>
                    </p:oleObj>
                  </mc:Choice>
                  <mc:Fallback>
                    <p:oleObj name="Equation" r:id="rId6" imgW="50631" imgH="6363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4" y="2212"/>
                            <a:ext cx="181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6591" name="Line 25">
                <a:extLst>
                  <a:ext uri="{FF2B5EF4-FFF2-40B4-BE49-F238E27FC236}">
                    <a16:creationId xmlns:a16="http://schemas.microsoft.com/office/drawing/2014/main" id="{D8F44D38-CFF9-9F12-FAFD-EA7735925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4" y="2296"/>
                <a:ext cx="305" cy="285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92" name="Line 26">
                <a:extLst>
                  <a:ext uri="{FF2B5EF4-FFF2-40B4-BE49-F238E27FC236}">
                    <a16:creationId xmlns:a16="http://schemas.microsoft.com/office/drawing/2014/main" id="{799CDA60-117A-EB71-C23A-4D3DF98812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90" y="2405"/>
                <a:ext cx="199" cy="16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6593" name="Object 27">
                <a:extLst>
                  <a:ext uri="{FF2B5EF4-FFF2-40B4-BE49-F238E27FC236}">
                    <a16:creationId xmlns:a16="http://schemas.microsoft.com/office/drawing/2014/main" id="{591A51B5-06D7-B2B5-1DE2-329EB87F7A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8" y="2365"/>
              <a:ext cx="181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50631" imgH="101735" progId="Equation.3">
                      <p:embed/>
                    </p:oleObj>
                  </mc:Choice>
                  <mc:Fallback>
                    <p:oleObj name="公式" r:id="rId8" imgW="50631" imgH="101735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" y="2365"/>
                            <a:ext cx="181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594" name="Object 28">
                <a:extLst>
                  <a:ext uri="{FF2B5EF4-FFF2-40B4-BE49-F238E27FC236}">
                    <a16:creationId xmlns:a16="http://schemas.microsoft.com/office/drawing/2014/main" id="{D2033E18-895D-1C49-39BB-D0EAC2015E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76" y="2480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50631" imgH="63635" progId="Equation.3">
                      <p:embed/>
                    </p:oleObj>
                  </mc:Choice>
                  <mc:Fallback>
                    <p:oleObj name="公式" r:id="rId10" imgW="50631" imgH="63635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6" y="2480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85125" name="Text Box 37">
            <a:extLst>
              <a:ext uri="{FF2B5EF4-FFF2-40B4-BE49-F238E27FC236}">
                <a16:creationId xmlns:a16="http://schemas.microsoft.com/office/drawing/2014/main" id="{768D3EBC-6A86-D74F-8391-E7EACF35B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5"/>
            <a:ext cx="53641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由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【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3.1.2】</a:t>
            </a:r>
            <a:r>
              <a:rPr kumimoji="1" lang="zh-CN" altLang="en-US" b="1" i="1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得到同轴线单位长度的电容为</a:t>
            </a:r>
          </a:p>
        </p:txBody>
      </p:sp>
      <p:sp>
        <p:nvSpPr>
          <p:cNvPr id="66566" name="AutoShape 38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7D226885-C50C-3156-4A0D-B63C04AC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6567" name="AutoShape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E67B626-222E-EB9D-3786-F8915353E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6568" name="AutoShape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8D6BFB9-70FC-11CA-0907-1AA979706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sp>
        <p:nvSpPr>
          <p:cNvPr id="66569" name="AutoShape 4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AB12527-9C98-2555-A85B-611FB2B2F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985130" name="Object 42">
            <a:extLst>
              <a:ext uri="{FF2B5EF4-FFF2-40B4-BE49-F238E27FC236}">
                <a16:creationId xmlns:a16="http://schemas.microsoft.com/office/drawing/2014/main" id="{2AB9B06E-8B74-6421-63BC-3A3316A12A1D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403350" y="1989138"/>
          <a:ext cx="33829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390" imgH="349385" progId="Equation.DSMT4">
                  <p:embed/>
                </p:oleObj>
              </mc:Choice>
              <mc:Fallback>
                <p:oleObj name="Equation" r:id="rId13" imgW="1587390" imgH="349385" progId="Equation.DSMT4">
                  <p:embed/>
                  <p:pic>
                    <p:nvPicPr>
                      <p:cNvPr id="0" name="Object 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989138"/>
                        <a:ext cx="338296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132" name="Text Box 44">
            <a:extLst>
              <a:ext uri="{FF2B5EF4-FFF2-40B4-BE49-F238E27FC236}">
                <a16:creationId xmlns:a16="http://schemas.microsoft.com/office/drawing/2014/main" id="{A3B81E3E-0F6A-AA57-DC4B-3110424CE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924175"/>
            <a:ext cx="536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同轴线单位长度的漏电导为</a:t>
            </a:r>
          </a:p>
        </p:txBody>
      </p:sp>
      <p:sp>
        <p:nvSpPr>
          <p:cNvPr id="985133" name="AutoShape 45">
            <a:extLst>
              <a:ext uri="{FF2B5EF4-FFF2-40B4-BE49-F238E27FC236}">
                <a16:creationId xmlns:a16="http://schemas.microsoft.com/office/drawing/2014/main" id="{1B2B66D7-35C2-BC0D-14CF-35B0F423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068638"/>
            <a:ext cx="684213" cy="215900"/>
          </a:xfrm>
          <a:prstGeom prst="rightArrow">
            <a:avLst>
              <a:gd name="adj1" fmla="val 50000"/>
              <a:gd name="adj2" fmla="val 79228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985141" name="Object 53">
            <a:extLst>
              <a:ext uri="{FF2B5EF4-FFF2-40B4-BE49-F238E27FC236}">
                <a16:creationId xmlns:a16="http://schemas.microsoft.com/office/drawing/2014/main" id="{F1871B0B-5A6A-812F-2354-4F557BFEFCF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476375" y="3500438"/>
          <a:ext cx="24479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187606" imgH="349385" progId="Equation.3">
                  <p:embed/>
                </p:oleObj>
              </mc:Choice>
              <mc:Fallback>
                <p:oleObj name="公式" r:id="rId15" imgW="1187606" imgH="349385" progId="Equation.3">
                  <p:embed/>
                  <p:pic>
                    <p:nvPicPr>
                      <p:cNvPr id="0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00438"/>
                        <a:ext cx="24479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144" name="Text Box 56">
            <a:extLst>
              <a:ext uri="{FF2B5EF4-FFF2-40B4-BE49-F238E27FC236}">
                <a16:creationId xmlns:a16="http://schemas.microsoft.com/office/drawing/2014/main" id="{49549E12-D510-EE62-FC84-38D9D1C3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437063"/>
            <a:ext cx="5364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</a:rPr>
              <a:t>单位长度的</a:t>
            </a:r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绝缘电阻为</a:t>
            </a:r>
          </a:p>
        </p:txBody>
      </p:sp>
      <p:sp>
        <p:nvSpPr>
          <p:cNvPr id="985145" name="AutoShape 57">
            <a:extLst>
              <a:ext uri="{FF2B5EF4-FFF2-40B4-BE49-F238E27FC236}">
                <a16:creationId xmlns:a16="http://schemas.microsoft.com/office/drawing/2014/main" id="{18E9C052-779E-700E-B98B-90CD7DF79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81525"/>
            <a:ext cx="684213" cy="215900"/>
          </a:xfrm>
          <a:prstGeom prst="rightArrow">
            <a:avLst>
              <a:gd name="adj1" fmla="val 50000"/>
              <a:gd name="adj2" fmla="val 79228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985146" name="Object 58">
            <a:extLst>
              <a:ext uri="{FF2B5EF4-FFF2-40B4-BE49-F238E27FC236}">
                <a16:creationId xmlns:a16="http://schemas.microsoft.com/office/drawing/2014/main" id="{60CC9CD7-F9B4-73B9-0290-63C6348ABC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1363" y="4314825"/>
          <a:ext cx="3116262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30278" imgH="361950" progId="Equation.3">
                  <p:embed/>
                </p:oleObj>
              </mc:Choice>
              <mc:Fallback>
                <p:oleObj name="公式" r:id="rId17" imgW="1530278" imgH="36195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4314825"/>
                        <a:ext cx="3116262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7" name="Rectangle 37">
            <a:extLst>
              <a:ext uri="{FF2B5EF4-FFF2-40B4-BE49-F238E27FC236}">
                <a16:creationId xmlns:a16="http://schemas.microsoft.com/office/drawing/2014/main" id="{D7910D0B-EDB7-2553-DE8B-D15167535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4213" y="5445125"/>
            <a:ext cx="8567738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kumimoji="1" lang="zh-CN" altLang="en-US" b="1">
                <a:solidFill>
                  <a:srgbClr val="FF9933"/>
                </a:solidFill>
              </a:rPr>
              <a:t>相关例题；</a:t>
            </a:r>
            <a:r>
              <a:rPr kumimoji="1" lang="en-US" altLang="zh-CN" b="1">
                <a:solidFill>
                  <a:srgbClr val="FF9933"/>
                </a:solidFill>
              </a:rPr>
              <a:t>【</a:t>
            </a:r>
            <a:r>
              <a:rPr kumimoji="1" lang="zh-CN" altLang="en-US" b="1">
                <a:solidFill>
                  <a:srgbClr val="FF9933"/>
                </a:solidFill>
              </a:rPr>
              <a:t>例</a:t>
            </a:r>
            <a:r>
              <a:rPr kumimoji="1" lang="en-US" altLang="zh-CN" b="1">
                <a:solidFill>
                  <a:srgbClr val="FF9933"/>
                </a:solidFill>
              </a:rPr>
              <a:t>2.3.3】</a:t>
            </a:r>
            <a:r>
              <a:rPr kumimoji="1" lang="en-US" altLang="zh-CN" b="1">
                <a:solidFill>
                  <a:schemeClr val="bg2"/>
                </a:solidFill>
              </a:rPr>
              <a:t> </a:t>
            </a:r>
            <a:r>
              <a:rPr kumimoji="1" lang="en-US" altLang="zh-CN" b="1">
                <a:solidFill>
                  <a:srgbClr val="FF9900"/>
                </a:solidFill>
              </a:rPr>
              <a:t>【</a:t>
            </a:r>
            <a:r>
              <a:rPr kumimoji="1" lang="zh-CN" altLang="en-US" b="1">
                <a:solidFill>
                  <a:srgbClr val="FF9900"/>
                </a:solidFill>
              </a:rPr>
              <a:t>例</a:t>
            </a:r>
            <a:r>
              <a:rPr kumimoji="1" lang="en-US" altLang="zh-CN" b="1">
                <a:solidFill>
                  <a:srgbClr val="FF9900"/>
                </a:solidFill>
              </a:rPr>
              <a:t>2.4.2】</a:t>
            </a:r>
            <a:r>
              <a:rPr kumimoji="1" lang="zh-CN" altLang="en-US" b="1">
                <a:solidFill>
                  <a:schemeClr val="bg1"/>
                </a:solidFill>
              </a:rPr>
              <a:t> </a:t>
            </a:r>
          </a:p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FF9900"/>
                </a:solidFill>
              </a:rPr>
              <a:t>                                         【</a:t>
            </a:r>
            <a:r>
              <a:rPr kumimoji="1" lang="zh-CN" altLang="en-US" b="1">
                <a:solidFill>
                  <a:srgbClr val="FF9900"/>
                </a:solidFill>
              </a:rPr>
              <a:t>例</a:t>
            </a:r>
            <a:r>
              <a:rPr kumimoji="1" lang="en-US" altLang="zh-CN" b="1">
                <a:solidFill>
                  <a:srgbClr val="FF9900"/>
                </a:solidFill>
              </a:rPr>
              <a:t>3.1.2 】</a:t>
            </a:r>
            <a:r>
              <a:rPr kumimoji="1" lang="en-US" altLang="zh-CN" b="1">
                <a:solidFill>
                  <a:schemeClr val="bg2"/>
                </a:solidFill>
              </a:rPr>
              <a:t>【</a:t>
            </a:r>
            <a:r>
              <a:rPr kumimoji="1" lang="zh-CN" altLang="en-US" b="1">
                <a:solidFill>
                  <a:schemeClr val="bg2"/>
                </a:solidFill>
              </a:rPr>
              <a:t>例</a:t>
            </a:r>
            <a:r>
              <a:rPr kumimoji="1" lang="en-US" altLang="zh-CN" b="1">
                <a:solidFill>
                  <a:schemeClr val="bg2"/>
                </a:solidFill>
              </a:rPr>
              <a:t>3.2.1】</a:t>
            </a:r>
            <a:r>
              <a:rPr kumimoji="1" lang="en-US" altLang="zh-CN" b="1"/>
              <a:t> </a:t>
            </a:r>
            <a:r>
              <a:rPr lang="en-US" altLang="zh-CN" b="1">
                <a:solidFill>
                  <a:srgbClr val="FF9933"/>
                </a:solidFill>
              </a:rPr>
              <a:t>【</a:t>
            </a:r>
            <a:r>
              <a:rPr lang="zh-CN" altLang="en-US" b="1">
                <a:solidFill>
                  <a:srgbClr val="FF9933"/>
                </a:solidFill>
              </a:rPr>
              <a:t>例</a:t>
            </a:r>
            <a:r>
              <a:rPr lang="en-US" altLang="zh-CN" b="1">
                <a:solidFill>
                  <a:srgbClr val="FF9933"/>
                </a:solidFill>
              </a:rPr>
              <a:t>4.3.2 】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8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8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8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98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98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98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98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8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98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91" grpId="0"/>
      <p:bldP spid="985125" grpId="0"/>
      <p:bldP spid="985132" grpId="0"/>
      <p:bldP spid="985133" grpId="0" animBg="1"/>
      <p:bldP spid="985144" grpId="0"/>
      <p:bldP spid="985145" grpId="0" animBg="1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20279</TotalTime>
  <Words>1014</Words>
  <Application>Microsoft Office PowerPoint</Application>
  <PresentationFormat>全屏显示(4:3)</PresentationFormat>
  <Paragraphs>137</Paragraphs>
  <Slides>13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楷体_GB2312</vt:lpstr>
      <vt:lpstr>隶书</vt:lpstr>
      <vt:lpstr>宋体</vt:lpstr>
      <vt:lpstr>幼圆</vt:lpstr>
      <vt:lpstr>Arial</vt:lpstr>
      <vt:lpstr>Cambria Math</vt:lpstr>
      <vt:lpstr>Times New Roman</vt:lpstr>
      <vt:lpstr>Wingdings</vt:lpstr>
      <vt:lpstr>1_默认设计模板</vt:lpstr>
      <vt:lpstr>公式</vt:lpstr>
      <vt:lpstr>Equation</vt:lpstr>
      <vt:lpstr>3.2   导电媒质中的恒定电场分析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911</cp:revision>
  <dcterms:created xsi:type="dcterms:W3CDTF">2004-02-10T07:06:32Z</dcterms:created>
  <dcterms:modified xsi:type="dcterms:W3CDTF">2025-12-01T05:03:58Z</dcterms:modified>
</cp:coreProperties>
</file>