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75" r:id="rId2"/>
    <p:sldId id="333" r:id="rId3"/>
    <p:sldId id="605" r:id="rId4"/>
    <p:sldId id="620" r:id="rId5"/>
    <p:sldId id="335" r:id="rId6"/>
    <p:sldId id="337" r:id="rId7"/>
    <p:sldId id="606" r:id="rId8"/>
    <p:sldId id="607" r:id="rId9"/>
    <p:sldId id="583" r:id="rId10"/>
    <p:sldId id="584" r:id="rId11"/>
    <p:sldId id="586" r:id="rId12"/>
    <p:sldId id="757" r:id="rId13"/>
    <p:sldId id="758" r:id="rId14"/>
    <p:sldId id="759" r:id="rId15"/>
    <p:sldId id="631" r:id="rId16"/>
  </p:sldIdLst>
  <p:sldSz cx="9144000" cy="6858000" type="screen4x3"/>
  <p:notesSz cx="6858000" cy="9144000"/>
  <p:custDataLst>
    <p:tags r:id="rId19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2000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2000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2000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2000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2000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2000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2000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2000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2000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9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FF81C0"/>
    <a:srgbClr val="FF9900"/>
    <a:srgbClr val="CC3399"/>
    <a:srgbClr val="3333FF"/>
    <a:srgbClr val="0000CC"/>
    <a:srgbClr val="89C4FF"/>
    <a:srgbClr val="EA162F"/>
    <a:srgbClr val="DBF10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835"/>
    <p:restoredTop sz="94843" autoAdjust="0"/>
  </p:normalViewPr>
  <p:slideViewPr>
    <p:cSldViewPr showGuides="1">
      <p:cViewPr varScale="1">
        <p:scale>
          <a:sx n="80" d="100"/>
          <a:sy n="80" d="100"/>
        </p:scale>
        <p:origin x="796" y="120"/>
      </p:cViewPr>
      <p:guideLst>
        <p:guide orient="horz" pos="2160"/>
        <p:guide pos="289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1" d="100"/>
          <a:sy n="61" d="100"/>
        </p:scale>
        <p:origin x="2484" y="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spcBef>
                <a:spcPct val="0"/>
              </a:spcBef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第一课</a:t>
            </a:r>
          </a:p>
        </p:txBody>
      </p:sp>
      <p:sp>
        <p:nvSpPr>
          <p:cNvPr id="1536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spcBef>
                <a:spcPct val="0"/>
              </a:spcBef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387F90C-EEAD-4CC9-B85E-7D3C9C0A8C22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2025/10/28</a:t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36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spcBef>
                <a:spcPct val="0"/>
              </a:spcBef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第一课</a:t>
            </a:r>
          </a:p>
        </p:txBody>
      </p:sp>
      <p:sp>
        <p:nvSpPr>
          <p:cNvPr id="1536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 algn="r" eaLnBrk="1" fontAlgn="base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200" b="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z="1200" b="0" strike="noStrike" noProof="1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spcBef>
                <a:spcPct val="0"/>
              </a:spcBef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第一课</a:t>
            </a:r>
          </a:p>
        </p:txBody>
      </p:sp>
      <p:sp>
        <p:nvSpPr>
          <p:cNvPr id="1556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spcBef>
                <a:spcPct val="0"/>
              </a:spcBef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E43813E-55CE-4019-8926-09544A796D2A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2025/10/28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6" name="Rectangle 4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556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</a:p>
        </p:txBody>
      </p:sp>
      <p:sp>
        <p:nvSpPr>
          <p:cNvPr id="1556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spcBef>
                <a:spcPct val="0"/>
              </a:spcBef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第一课</a:t>
            </a:r>
          </a:p>
        </p:txBody>
      </p:sp>
      <p:sp>
        <p:nvSpPr>
          <p:cNvPr id="1556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 algn="r" eaLnBrk="1" fontAlgn="base" hangingPunct="1">
              <a:spcBef>
                <a:spcPct val="0"/>
              </a:spcBef>
              <a:buNone/>
            </a:pPr>
            <a:fld id="{9A0DB2DC-4C9A-4742-B13C-FB6460FD3503}" type="slidenum">
              <a:rPr lang="en-US" altLang="zh-CN" sz="1200" b="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z="1200" b="0" strike="noStrike" noProof="1"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/>
          <a:p>
            <a:pPr lvl="0">
              <a:spcBef>
                <a:spcPct val="0"/>
              </a:spcBef>
            </a:pPr>
            <a:r>
              <a:rPr lang="en-US" altLang="zh-CN" sz="1200" b="0" dirty="0"/>
              <a:t>第一课</a:t>
            </a:r>
          </a:p>
        </p:txBody>
      </p:sp>
      <p:sp>
        <p:nvSpPr>
          <p:cNvPr id="50178" name="Rectangle 3"/>
          <p:cNvSpPr txBox="1">
            <a:spLocks noGrp="1"/>
          </p:cNvSpPr>
          <p:nvPr>
            <p:ph type="dt" sz="half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/>
          <a:p>
            <a:pPr lvl="0" algn="r">
              <a:spcBef>
                <a:spcPct val="0"/>
              </a:spcBef>
            </a:pPr>
            <a:fld id="{BB962C8B-B14F-4D97-AF65-F5344CB8AC3E}" type="datetime1">
              <a:rPr lang="zh-CN" altLang="en-US" sz="1200" b="0" dirty="0">
                <a:ea typeface="宋体" panose="02010600030101010101" pitchFamily="2" charset="-122"/>
              </a:rPr>
              <a:t>2025/10/28</a:t>
            </a:fld>
            <a:endParaRPr lang="zh-CN" altLang="en-US" sz="1200" b="0" dirty="0">
              <a:ea typeface="宋体" panose="02010600030101010101" pitchFamily="2" charset="-122"/>
            </a:endParaRPr>
          </a:p>
        </p:txBody>
      </p:sp>
      <p:sp>
        <p:nvSpPr>
          <p:cNvPr id="50179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>
              <a:spcBef>
                <a:spcPct val="0"/>
              </a:spcBef>
            </a:pPr>
            <a:r>
              <a:rPr lang="en-US" altLang="zh-CN" sz="1200" b="0" dirty="0"/>
              <a:t>第一课</a:t>
            </a:r>
          </a:p>
        </p:txBody>
      </p:sp>
      <p:sp>
        <p:nvSpPr>
          <p:cNvPr id="5018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>
              <a:spcBef>
                <a:spcPct val="0"/>
              </a:spcBef>
            </a:pPr>
            <a:fld id="{9A0DB2DC-4C9A-4742-B13C-FB6460FD3503}" type="slidenum">
              <a:rPr lang="en-US" altLang="zh-CN" dirty="0"/>
              <a:t>1</a:t>
            </a:fld>
            <a:endParaRPr lang="en-US" altLang="zh-CN" dirty="0"/>
          </a:p>
        </p:txBody>
      </p:sp>
      <p:sp>
        <p:nvSpPr>
          <p:cNvPr id="50181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0182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en-US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/>
          <a:p>
            <a:pPr lvl="0">
              <a:spcBef>
                <a:spcPct val="0"/>
              </a:spcBef>
            </a:pPr>
            <a:r>
              <a:rPr lang="en-US" altLang="zh-CN" sz="1200" b="0" dirty="0"/>
              <a:t>第一课</a:t>
            </a:r>
          </a:p>
        </p:txBody>
      </p:sp>
      <p:sp>
        <p:nvSpPr>
          <p:cNvPr id="52226" name="Rectangle 3"/>
          <p:cNvSpPr txBox="1">
            <a:spLocks noGrp="1"/>
          </p:cNvSpPr>
          <p:nvPr>
            <p:ph type="dt" sz="half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/>
          <a:p>
            <a:pPr lvl="0" algn="r">
              <a:spcBef>
                <a:spcPct val="0"/>
              </a:spcBef>
            </a:pPr>
            <a:fld id="{BB962C8B-B14F-4D97-AF65-F5344CB8AC3E}" type="datetime1">
              <a:rPr lang="zh-CN" altLang="en-US" sz="1200" b="0" dirty="0">
                <a:ea typeface="宋体" panose="02010600030101010101" pitchFamily="2" charset="-122"/>
              </a:rPr>
              <a:t>2025/10/28</a:t>
            </a:fld>
            <a:endParaRPr lang="zh-CN" altLang="en-US" sz="1200" b="0" dirty="0">
              <a:ea typeface="宋体" panose="02010600030101010101" pitchFamily="2" charset="-122"/>
            </a:endParaRPr>
          </a:p>
        </p:txBody>
      </p:sp>
      <p:sp>
        <p:nvSpPr>
          <p:cNvPr id="52227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>
              <a:spcBef>
                <a:spcPct val="0"/>
              </a:spcBef>
            </a:pPr>
            <a:r>
              <a:rPr lang="en-US" altLang="zh-CN" sz="1200" b="0" dirty="0"/>
              <a:t>第一课</a:t>
            </a:r>
          </a:p>
        </p:txBody>
      </p:sp>
      <p:sp>
        <p:nvSpPr>
          <p:cNvPr id="5222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>
              <a:spcBef>
                <a:spcPct val="0"/>
              </a:spcBef>
            </a:pPr>
            <a:fld id="{9A0DB2DC-4C9A-4742-B13C-FB6460FD3503}" type="slidenum">
              <a:rPr lang="en-US" altLang="zh-CN" dirty="0"/>
              <a:t>2</a:t>
            </a:fld>
            <a:endParaRPr lang="en-US" altLang="zh-CN" dirty="0"/>
          </a:p>
        </p:txBody>
      </p:sp>
      <p:sp>
        <p:nvSpPr>
          <p:cNvPr id="52229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2230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/>
          <a:p>
            <a:pPr lvl="0">
              <a:spcBef>
                <a:spcPct val="0"/>
              </a:spcBef>
            </a:pPr>
            <a:r>
              <a:rPr lang="en-US" altLang="zh-CN" sz="1200" b="0" dirty="0"/>
              <a:t>第一课</a:t>
            </a:r>
          </a:p>
        </p:txBody>
      </p:sp>
      <p:sp>
        <p:nvSpPr>
          <p:cNvPr id="54274" name="Rectangle 3"/>
          <p:cNvSpPr txBox="1">
            <a:spLocks noGrp="1"/>
          </p:cNvSpPr>
          <p:nvPr>
            <p:ph type="dt" sz="half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/>
          <a:p>
            <a:pPr lvl="0" algn="r">
              <a:spcBef>
                <a:spcPct val="0"/>
              </a:spcBef>
            </a:pPr>
            <a:fld id="{BB962C8B-B14F-4D97-AF65-F5344CB8AC3E}" type="datetime1">
              <a:rPr lang="zh-CN" altLang="en-US" sz="1200" b="0" dirty="0">
                <a:ea typeface="宋体" panose="02010600030101010101" pitchFamily="2" charset="-122"/>
              </a:rPr>
              <a:t>2025/10/28</a:t>
            </a:fld>
            <a:endParaRPr lang="zh-CN" altLang="en-US" sz="1200" b="0" dirty="0">
              <a:ea typeface="宋体" panose="02010600030101010101" pitchFamily="2" charset="-122"/>
            </a:endParaRPr>
          </a:p>
        </p:txBody>
      </p:sp>
      <p:sp>
        <p:nvSpPr>
          <p:cNvPr id="54275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>
              <a:spcBef>
                <a:spcPct val="0"/>
              </a:spcBef>
            </a:pPr>
            <a:r>
              <a:rPr lang="en-US" altLang="zh-CN" sz="1200" b="0" dirty="0"/>
              <a:t>第一课</a:t>
            </a:r>
          </a:p>
        </p:txBody>
      </p:sp>
      <p:sp>
        <p:nvSpPr>
          <p:cNvPr id="5427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>
              <a:spcBef>
                <a:spcPct val="0"/>
              </a:spcBef>
            </a:pPr>
            <a:fld id="{9A0DB2DC-4C9A-4742-B13C-FB6460FD3503}" type="slidenum">
              <a:rPr lang="en-US" altLang="zh-CN" dirty="0"/>
              <a:t>3</a:t>
            </a:fld>
            <a:endParaRPr lang="en-US" altLang="zh-CN" dirty="0"/>
          </a:p>
        </p:txBody>
      </p:sp>
      <p:sp>
        <p:nvSpPr>
          <p:cNvPr id="54277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4278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/>
          <a:p>
            <a:pPr lvl="0">
              <a:spcBef>
                <a:spcPct val="0"/>
              </a:spcBef>
            </a:pPr>
            <a:r>
              <a:rPr lang="en-US" altLang="zh-CN" sz="1200" b="0" dirty="0"/>
              <a:t>第一课</a:t>
            </a:r>
          </a:p>
        </p:txBody>
      </p:sp>
      <p:sp>
        <p:nvSpPr>
          <p:cNvPr id="56322" name="Rectangle 3"/>
          <p:cNvSpPr txBox="1">
            <a:spLocks noGrp="1"/>
          </p:cNvSpPr>
          <p:nvPr>
            <p:ph type="dt" sz="half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/>
          <a:p>
            <a:pPr lvl="0" algn="r">
              <a:spcBef>
                <a:spcPct val="0"/>
              </a:spcBef>
            </a:pPr>
            <a:fld id="{BB962C8B-B14F-4D97-AF65-F5344CB8AC3E}" type="datetime1">
              <a:rPr lang="zh-CN" altLang="en-US" sz="1200" b="0" dirty="0">
                <a:ea typeface="宋体" panose="02010600030101010101" pitchFamily="2" charset="-122"/>
              </a:rPr>
              <a:t>2025/10/28</a:t>
            </a:fld>
            <a:endParaRPr lang="zh-CN" altLang="en-US" sz="1200" b="0" dirty="0">
              <a:ea typeface="宋体" panose="02010600030101010101" pitchFamily="2" charset="-122"/>
            </a:endParaRPr>
          </a:p>
        </p:txBody>
      </p:sp>
      <p:sp>
        <p:nvSpPr>
          <p:cNvPr id="56323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>
              <a:spcBef>
                <a:spcPct val="0"/>
              </a:spcBef>
            </a:pPr>
            <a:r>
              <a:rPr lang="en-US" altLang="zh-CN" sz="1200" b="0" dirty="0"/>
              <a:t>第一课</a:t>
            </a:r>
          </a:p>
        </p:txBody>
      </p:sp>
      <p:sp>
        <p:nvSpPr>
          <p:cNvPr id="5632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>
              <a:spcBef>
                <a:spcPct val="0"/>
              </a:spcBef>
            </a:pPr>
            <a:fld id="{9A0DB2DC-4C9A-4742-B13C-FB6460FD3503}" type="slidenum">
              <a:rPr lang="en-US" altLang="zh-CN" dirty="0"/>
              <a:t>4</a:t>
            </a:fld>
            <a:endParaRPr lang="en-US" altLang="zh-CN" dirty="0"/>
          </a:p>
        </p:txBody>
      </p:sp>
      <p:sp>
        <p:nvSpPr>
          <p:cNvPr id="56325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6326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/>
          <a:p>
            <a:pPr lvl="0">
              <a:spcBef>
                <a:spcPct val="0"/>
              </a:spcBef>
            </a:pPr>
            <a:r>
              <a:rPr lang="en-US" altLang="zh-CN" sz="1200" b="0" dirty="0"/>
              <a:t>第一课</a:t>
            </a:r>
          </a:p>
        </p:txBody>
      </p:sp>
      <p:sp>
        <p:nvSpPr>
          <p:cNvPr id="58370" name="Rectangle 3"/>
          <p:cNvSpPr txBox="1">
            <a:spLocks noGrp="1"/>
          </p:cNvSpPr>
          <p:nvPr>
            <p:ph type="dt" sz="half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/>
          <a:p>
            <a:pPr lvl="0" algn="r">
              <a:spcBef>
                <a:spcPct val="0"/>
              </a:spcBef>
            </a:pPr>
            <a:fld id="{BB962C8B-B14F-4D97-AF65-F5344CB8AC3E}" type="datetime1">
              <a:rPr lang="zh-CN" altLang="en-US" sz="1200" b="0" dirty="0">
                <a:ea typeface="宋体" panose="02010600030101010101" pitchFamily="2" charset="-122"/>
              </a:rPr>
              <a:t>2025/10/28</a:t>
            </a:fld>
            <a:endParaRPr lang="zh-CN" altLang="en-US" sz="1200" b="0" dirty="0">
              <a:ea typeface="宋体" panose="02010600030101010101" pitchFamily="2" charset="-122"/>
            </a:endParaRPr>
          </a:p>
        </p:txBody>
      </p:sp>
      <p:sp>
        <p:nvSpPr>
          <p:cNvPr id="58371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>
              <a:spcBef>
                <a:spcPct val="0"/>
              </a:spcBef>
            </a:pPr>
            <a:r>
              <a:rPr lang="en-US" altLang="zh-CN" sz="1200" b="0" dirty="0"/>
              <a:t>第一课</a:t>
            </a:r>
          </a:p>
        </p:txBody>
      </p:sp>
      <p:sp>
        <p:nvSpPr>
          <p:cNvPr id="5837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>
              <a:spcBef>
                <a:spcPct val="0"/>
              </a:spcBef>
            </a:pPr>
            <a:fld id="{9A0DB2DC-4C9A-4742-B13C-FB6460FD3503}" type="slidenum">
              <a:rPr lang="en-US" altLang="zh-CN" dirty="0"/>
              <a:t>5</a:t>
            </a:fld>
            <a:endParaRPr lang="en-US" altLang="zh-CN" dirty="0"/>
          </a:p>
        </p:txBody>
      </p:sp>
      <p:sp>
        <p:nvSpPr>
          <p:cNvPr id="58373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8374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en-US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/>
          <a:p>
            <a:pPr lvl="0">
              <a:spcBef>
                <a:spcPct val="0"/>
              </a:spcBef>
            </a:pPr>
            <a:r>
              <a:rPr lang="en-US" altLang="zh-CN" sz="1200" b="0" dirty="0"/>
              <a:t>第一课</a:t>
            </a:r>
          </a:p>
        </p:txBody>
      </p:sp>
      <p:sp>
        <p:nvSpPr>
          <p:cNvPr id="60418" name="Rectangle 3"/>
          <p:cNvSpPr txBox="1">
            <a:spLocks noGrp="1"/>
          </p:cNvSpPr>
          <p:nvPr>
            <p:ph type="dt" sz="half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/>
          <a:p>
            <a:pPr lvl="0" algn="r">
              <a:spcBef>
                <a:spcPct val="0"/>
              </a:spcBef>
            </a:pPr>
            <a:fld id="{BB962C8B-B14F-4D97-AF65-F5344CB8AC3E}" type="datetime1">
              <a:rPr lang="zh-CN" altLang="en-US" sz="1200" b="0" dirty="0">
                <a:ea typeface="宋体" panose="02010600030101010101" pitchFamily="2" charset="-122"/>
              </a:rPr>
              <a:t>2025/10/28</a:t>
            </a:fld>
            <a:endParaRPr lang="zh-CN" altLang="en-US" sz="1200" b="0" dirty="0">
              <a:ea typeface="宋体" panose="02010600030101010101" pitchFamily="2" charset="-122"/>
            </a:endParaRPr>
          </a:p>
        </p:txBody>
      </p:sp>
      <p:sp>
        <p:nvSpPr>
          <p:cNvPr id="60419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>
              <a:spcBef>
                <a:spcPct val="0"/>
              </a:spcBef>
            </a:pPr>
            <a:r>
              <a:rPr lang="en-US" altLang="zh-CN" sz="1200" b="0" dirty="0"/>
              <a:t>第一课</a:t>
            </a:r>
          </a:p>
        </p:txBody>
      </p:sp>
      <p:sp>
        <p:nvSpPr>
          <p:cNvPr id="6042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>
              <a:spcBef>
                <a:spcPct val="0"/>
              </a:spcBef>
            </a:pPr>
            <a:fld id="{9A0DB2DC-4C9A-4742-B13C-FB6460FD3503}" type="slidenum">
              <a:rPr lang="en-US" altLang="zh-CN" dirty="0"/>
              <a:t>6</a:t>
            </a:fld>
            <a:endParaRPr lang="en-US" altLang="zh-CN" dirty="0"/>
          </a:p>
        </p:txBody>
      </p:sp>
      <p:sp>
        <p:nvSpPr>
          <p:cNvPr id="60421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0422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endParaRPr lang="en-US" altLang="zh-CN" dirty="0">
              <a:solidFill>
                <a:schemeClr val="bg1"/>
              </a:solidFill>
              <a:ea typeface="黑体" panose="02010609060101010101" pitchFamily="49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/>
          <a:p>
            <a:pPr lvl="0">
              <a:spcBef>
                <a:spcPct val="0"/>
              </a:spcBef>
            </a:pPr>
            <a:r>
              <a:rPr lang="en-US" altLang="zh-CN" sz="1200" b="0" dirty="0"/>
              <a:t>第一课</a:t>
            </a:r>
          </a:p>
        </p:txBody>
      </p:sp>
      <p:sp>
        <p:nvSpPr>
          <p:cNvPr id="63490" name="Rectangle 3"/>
          <p:cNvSpPr txBox="1">
            <a:spLocks noGrp="1"/>
          </p:cNvSpPr>
          <p:nvPr>
            <p:ph type="dt" sz="half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/>
          <a:p>
            <a:pPr lvl="0" algn="r">
              <a:spcBef>
                <a:spcPct val="0"/>
              </a:spcBef>
            </a:pPr>
            <a:fld id="{BB962C8B-B14F-4D97-AF65-F5344CB8AC3E}" type="datetime1">
              <a:rPr lang="zh-CN" altLang="en-US" sz="1200" b="0" dirty="0">
                <a:ea typeface="宋体" panose="02010600030101010101" pitchFamily="2" charset="-122"/>
              </a:rPr>
              <a:t>2025/10/28</a:t>
            </a:fld>
            <a:endParaRPr lang="zh-CN" altLang="en-US" sz="1200" b="0" dirty="0">
              <a:ea typeface="宋体" panose="02010600030101010101" pitchFamily="2" charset="-122"/>
            </a:endParaRPr>
          </a:p>
        </p:txBody>
      </p:sp>
      <p:sp>
        <p:nvSpPr>
          <p:cNvPr id="63491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>
              <a:spcBef>
                <a:spcPct val="0"/>
              </a:spcBef>
            </a:pPr>
            <a:r>
              <a:rPr lang="en-US" altLang="zh-CN" sz="1200" b="0" dirty="0"/>
              <a:t>第一课</a:t>
            </a:r>
          </a:p>
        </p:txBody>
      </p:sp>
      <p:sp>
        <p:nvSpPr>
          <p:cNvPr id="6349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>
              <a:spcBef>
                <a:spcPct val="0"/>
              </a:spcBef>
            </a:pPr>
            <a:fld id="{9A0DB2DC-4C9A-4742-B13C-FB6460FD3503}" type="slidenum">
              <a:rPr lang="en-US" altLang="zh-CN" dirty="0"/>
              <a:t>8</a:t>
            </a:fld>
            <a:endParaRPr lang="en-US" altLang="zh-CN" dirty="0"/>
          </a:p>
        </p:txBody>
      </p:sp>
      <p:sp>
        <p:nvSpPr>
          <p:cNvPr id="63493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3494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zh-CN" dirty="0">
              <a:solidFill>
                <a:schemeClr val="bg1"/>
              </a:solidFill>
              <a:ea typeface="黑体" panose="02010609060101010101" pitchFamily="49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6499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/>
            <a:r>
              <a:rPr lang="zh-CN" altLang="en-US" dirty="0"/>
              <a:t>复合函数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7523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 eaLnBrk="1" latin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EA162F"/>
                </a:solidFill>
              </a:rPr>
              <a:t>场点坐标</a:t>
            </a:r>
            <a:r>
              <a:rPr lang="en-US" altLang="zh-CN" b="1" dirty="0">
                <a:solidFill>
                  <a:srgbClr val="EA162F"/>
                </a:solidFill>
              </a:rPr>
              <a:t>(x,y,z)</a:t>
            </a:r>
          </a:p>
          <a:p>
            <a:pPr lvl="0" eaLnBrk="1" latin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EA162F"/>
                </a:solidFill>
              </a:rPr>
              <a:t>源点坐标</a:t>
            </a:r>
            <a:r>
              <a:rPr lang="en-US" altLang="zh-CN" b="1" dirty="0">
                <a:solidFill>
                  <a:srgbClr val="EA162F"/>
                </a:solidFill>
              </a:rPr>
              <a:t>(x’,y’,z’)</a:t>
            </a:r>
          </a:p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FFFFFF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28650" y="365125"/>
            <a:ext cx="7886700" cy="5811838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825625"/>
            <a:ext cx="3867150" cy="2098675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4076700"/>
            <a:ext cx="3867150" cy="2100263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825625"/>
            <a:ext cx="3867150" cy="2098675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4076700"/>
            <a:ext cx="3867150" cy="2100263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hyperlink" Target="&#38543;&#26426;&#28857;&#21517;&#21161;&#25163;.exe" TargetMode="Externa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7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171" name="Rectangle 3"/>
          <p:cNvSpPr>
            <a:spLocks noChangeArrowheads="1"/>
          </p:cNvSpPr>
          <p:nvPr/>
        </p:nvSpPr>
        <p:spPr bwMode="auto">
          <a:xfrm>
            <a:off x="0" y="404813"/>
            <a:ext cx="9144000" cy="6192838"/>
          </a:xfrm>
          <a:prstGeom prst="rect">
            <a:avLst/>
          </a:prstGeom>
          <a:gradFill rotWithShape="0">
            <a:gsLst>
              <a:gs pos="0">
                <a:srgbClr val="0000E8"/>
              </a:gs>
              <a:gs pos="100000">
                <a:srgbClr val="0000E8">
                  <a:gamma/>
                  <a:shade val="70196"/>
                  <a:invGamma/>
                </a:srgb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marL="342900" indent="-3429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2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9173" name="Rectangle 5"/>
          <p:cNvSpPr>
            <a:spLocks noChangeArrowheads="1"/>
          </p:cNvSpPr>
          <p:nvPr/>
        </p:nvSpPr>
        <p:spPr bwMode="auto">
          <a:xfrm>
            <a:off x="2987675" y="44450"/>
            <a:ext cx="3744913" cy="350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第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1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章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 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矢量分析</a:t>
            </a:r>
          </a:p>
        </p:txBody>
      </p:sp>
      <p:sp>
        <p:nvSpPr>
          <p:cNvPr id="1028" name="Rectangle 10" descr="深色横线"/>
          <p:cNvSpPr>
            <a:spLocks noChangeArrowheads="1"/>
          </p:cNvSpPr>
          <p:nvPr/>
        </p:nvSpPr>
        <p:spPr bwMode="auto">
          <a:xfrm>
            <a:off x="0" y="347663"/>
            <a:ext cx="9144000" cy="71438"/>
          </a:xfrm>
          <a:prstGeom prst="rect">
            <a:avLst/>
          </a:prstGeom>
          <a:pattFill prst="dkHorz">
            <a:fgClr>
              <a:srgbClr val="CC3300"/>
            </a:fgClr>
            <a:bgClr>
              <a:srgbClr val="9A9A9A"/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algn="ctr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algn="ctr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algn="ctr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algn="ctr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1029" name="Rectangle 18"/>
          <p:cNvSpPr>
            <a:spLocks noChangeArrowheads="1"/>
          </p:cNvSpPr>
          <p:nvPr/>
        </p:nvSpPr>
        <p:spPr bwMode="auto">
          <a:xfrm>
            <a:off x="107950" y="44450"/>
            <a:ext cx="2089150" cy="360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10800"/>
          <a:lstStyle>
            <a:lvl1pPr algn="ctr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algn="ctr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algn="ctr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algn="ctr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algn="ctr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573CFC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  <a:cs typeface="+mn-cs"/>
              </a:rPr>
              <a:t>电磁场与电磁波</a:t>
            </a:r>
          </a:p>
        </p:txBody>
      </p:sp>
      <p:sp>
        <p:nvSpPr>
          <p:cNvPr id="1030" name="Rectangle 28" descr="栎木"/>
          <p:cNvSpPr>
            <a:spLocks noChangeArrowheads="1"/>
          </p:cNvSpPr>
          <p:nvPr/>
        </p:nvSpPr>
        <p:spPr bwMode="auto">
          <a:xfrm>
            <a:off x="0" y="6562725"/>
            <a:ext cx="9144000" cy="333375"/>
          </a:xfrm>
          <a:prstGeom prst="rect">
            <a:avLst/>
          </a:prstGeom>
          <a:blipFill dpi="0" rotWithShape="0">
            <a:blip r:embed="rId17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algn="ctr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algn="ctr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algn="ctr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algn="ctr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1031" name="Rectangle 30" descr="深色横线"/>
          <p:cNvSpPr>
            <a:spLocks noChangeArrowheads="1"/>
          </p:cNvSpPr>
          <p:nvPr/>
        </p:nvSpPr>
        <p:spPr bwMode="auto">
          <a:xfrm>
            <a:off x="0" y="6526213"/>
            <a:ext cx="9144000" cy="71438"/>
          </a:xfrm>
          <a:prstGeom prst="rect">
            <a:avLst/>
          </a:prstGeom>
          <a:pattFill prst="dkHorz">
            <a:fgClr>
              <a:srgbClr val="CC3300"/>
            </a:fgClr>
            <a:bgClr>
              <a:srgbClr val="9A9A9A"/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algn="ctr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algn="ctr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algn="ctr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algn="ctr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519204" name="Text Box 36"/>
          <p:cNvSpPr txBox="1">
            <a:spLocks noChangeArrowheads="1"/>
          </p:cNvSpPr>
          <p:nvPr/>
        </p:nvSpPr>
        <p:spPr bwMode="auto">
          <a:xfrm>
            <a:off x="8694738" y="38100"/>
            <a:ext cx="41433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  <a:hlinkClick r:id="rId18" action="ppaction://hlinkfile"/>
              </a:rPr>
              <a:t>点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000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2800" kern="1200">
          <a:solidFill>
            <a:schemeClr val="tx1"/>
          </a:solidFill>
          <a:effectLst>
            <a:outerShdw blurRad="38100" dist="38100" dir="2700000" algn="tl">
              <a:srgbClr val="FFFFFF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emf"/><Relationship Id="rId11" Type="http://schemas.openxmlformats.org/officeDocument/2006/relationships/slide" Target="slide2.xml"/><Relationship Id="rId5" Type="http://schemas.openxmlformats.org/officeDocument/2006/relationships/oleObject" Target="../embeddings/oleObject2.bin"/><Relationship Id="rId10" Type="http://schemas.openxmlformats.org/officeDocument/2006/relationships/image" Target="../media/image5.emf"/><Relationship Id="rId4" Type="http://schemas.openxmlformats.org/officeDocument/2006/relationships/image" Target="../media/image2.emf"/><Relationship Id="rId9" Type="http://schemas.openxmlformats.org/officeDocument/2006/relationships/oleObject" Target="../embeddings/oleObject4.bin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oleObject" Target="../embeddings/oleObject5.bin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6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emf"/><Relationship Id="rId13" Type="http://schemas.openxmlformats.org/officeDocument/2006/relationships/oleObject" Target="../embeddings/oleObject12.bin"/><Relationship Id="rId18" Type="http://schemas.openxmlformats.org/officeDocument/2006/relationships/image" Target="../media/image16.png"/><Relationship Id="rId3" Type="http://schemas.openxmlformats.org/officeDocument/2006/relationships/oleObject" Target="../embeddings/oleObject7.bin"/><Relationship Id="rId21" Type="http://schemas.openxmlformats.org/officeDocument/2006/relationships/image" Target="../media/image18.png"/><Relationship Id="rId7" Type="http://schemas.openxmlformats.org/officeDocument/2006/relationships/oleObject" Target="../embeddings/oleObject9.bin"/><Relationship Id="rId12" Type="http://schemas.openxmlformats.org/officeDocument/2006/relationships/image" Target="../media/image13.emf"/><Relationship Id="rId17" Type="http://schemas.openxmlformats.org/officeDocument/2006/relationships/slide" Target="slide2.xml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5.emf"/><Relationship Id="rId20" Type="http://schemas.openxmlformats.org/officeDocument/2006/relationships/image" Target="../media/image17.emf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emf"/><Relationship Id="rId11" Type="http://schemas.openxmlformats.org/officeDocument/2006/relationships/oleObject" Target="../embeddings/oleObject11.bin"/><Relationship Id="rId5" Type="http://schemas.openxmlformats.org/officeDocument/2006/relationships/oleObject" Target="../embeddings/oleObject8.bin"/><Relationship Id="rId15" Type="http://schemas.openxmlformats.org/officeDocument/2006/relationships/oleObject" Target="../embeddings/oleObject13.bin"/><Relationship Id="rId10" Type="http://schemas.openxmlformats.org/officeDocument/2006/relationships/image" Target="../media/image12.emf"/><Relationship Id="rId19" Type="http://schemas.openxmlformats.org/officeDocument/2006/relationships/oleObject" Target="../embeddings/oleObject14.bin"/><Relationship Id="rId4" Type="http://schemas.openxmlformats.org/officeDocument/2006/relationships/image" Target="../media/image9.emf"/><Relationship Id="rId9" Type="http://schemas.openxmlformats.org/officeDocument/2006/relationships/oleObject" Target="../embeddings/oleObject10.bin"/><Relationship Id="rId14" Type="http://schemas.openxmlformats.org/officeDocument/2006/relationships/image" Target="../media/image14.emf"/><Relationship Id="rId22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.bin"/><Relationship Id="rId3" Type="http://schemas.openxmlformats.org/officeDocument/2006/relationships/oleObject" Target="../embeddings/oleObject15.bin"/><Relationship Id="rId7" Type="http://schemas.openxmlformats.org/officeDocument/2006/relationships/slide" Target="slide2.xml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emf"/><Relationship Id="rId11" Type="http://schemas.openxmlformats.org/officeDocument/2006/relationships/image" Target="../media/image23.emf"/><Relationship Id="rId5" Type="http://schemas.openxmlformats.org/officeDocument/2006/relationships/oleObject" Target="../embeddings/oleObject16.bin"/><Relationship Id="rId10" Type="http://schemas.openxmlformats.org/officeDocument/2006/relationships/oleObject" Target="../embeddings/oleObject18.bin"/><Relationship Id="rId4" Type="http://schemas.openxmlformats.org/officeDocument/2006/relationships/image" Target="../media/image20.emf"/><Relationship Id="rId9" Type="http://schemas.openxmlformats.org/officeDocument/2006/relationships/image" Target="../media/image22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.bin"/><Relationship Id="rId13" Type="http://schemas.openxmlformats.org/officeDocument/2006/relationships/image" Target="../media/image29.emf"/><Relationship Id="rId18" Type="http://schemas.openxmlformats.org/officeDocument/2006/relationships/oleObject" Target="../embeddings/oleObject26.bin"/><Relationship Id="rId3" Type="http://schemas.openxmlformats.org/officeDocument/2006/relationships/oleObject" Target="../embeddings/oleObject19.bin"/><Relationship Id="rId21" Type="http://schemas.openxmlformats.org/officeDocument/2006/relationships/image" Target="../media/image34.png"/><Relationship Id="rId7" Type="http://schemas.openxmlformats.org/officeDocument/2006/relationships/slide" Target="slide2.xml"/><Relationship Id="rId12" Type="http://schemas.openxmlformats.org/officeDocument/2006/relationships/oleObject" Target="../embeddings/oleObject23.bin"/><Relationship Id="rId17" Type="http://schemas.openxmlformats.org/officeDocument/2006/relationships/image" Target="../media/image31.emf"/><Relationship Id="rId2" Type="http://schemas.openxmlformats.org/officeDocument/2006/relationships/notesSlide" Target="../notesSlides/notesSlide5.xml"/><Relationship Id="rId16" Type="http://schemas.openxmlformats.org/officeDocument/2006/relationships/oleObject" Target="../embeddings/oleObject25.bin"/><Relationship Id="rId20" Type="http://schemas.openxmlformats.org/officeDocument/2006/relationships/image" Target="../media/image3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6.emf"/><Relationship Id="rId11" Type="http://schemas.openxmlformats.org/officeDocument/2006/relationships/image" Target="../media/image28.emf"/><Relationship Id="rId5" Type="http://schemas.openxmlformats.org/officeDocument/2006/relationships/oleObject" Target="../embeddings/oleObject20.bin"/><Relationship Id="rId15" Type="http://schemas.openxmlformats.org/officeDocument/2006/relationships/image" Target="../media/image30.emf"/><Relationship Id="rId10" Type="http://schemas.openxmlformats.org/officeDocument/2006/relationships/oleObject" Target="../embeddings/oleObject22.bin"/><Relationship Id="rId19" Type="http://schemas.openxmlformats.org/officeDocument/2006/relationships/image" Target="../media/image32.emf"/><Relationship Id="rId4" Type="http://schemas.openxmlformats.org/officeDocument/2006/relationships/image" Target="../media/image25.emf"/><Relationship Id="rId9" Type="http://schemas.openxmlformats.org/officeDocument/2006/relationships/image" Target="../media/image27.emf"/><Relationship Id="rId14" Type="http://schemas.openxmlformats.org/officeDocument/2006/relationships/oleObject" Target="../embeddings/oleObject24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9.bin"/><Relationship Id="rId3" Type="http://schemas.openxmlformats.org/officeDocument/2006/relationships/oleObject" Target="../embeddings/oleObject27.bin"/><Relationship Id="rId7" Type="http://schemas.openxmlformats.org/officeDocument/2006/relationships/image" Target="../media/image36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28.bin"/><Relationship Id="rId5" Type="http://schemas.openxmlformats.org/officeDocument/2006/relationships/slide" Target="slide2.xml"/><Relationship Id="rId4" Type="http://schemas.openxmlformats.org/officeDocument/2006/relationships/image" Target="../media/image35.png"/><Relationship Id="rId9" Type="http://schemas.openxmlformats.org/officeDocument/2006/relationships/image" Target="../media/image37.e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3.bin"/><Relationship Id="rId3" Type="http://schemas.openxmlformats.org/officeDocument/2006/relationships/image" Target="../media/image38.emf"/><Relationship Id="rId7" Type="http://schemas.openxmlformats.org/officeDocument/2006/relationships/image" Target="../media/image40.emf"/><Relationship Id="rId2" Type="http://schemas.openxmlformats.org/officeDocument/2006/relationships/oleObject" Target="../embeddings/oleObject3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2.bin"/><Relationship Id="rId5" Type="http://schemas.openxmlformats.org/officeDocument/2006/relationships/image" Target="../media/image39.emf"/><Relationship Id="rId4" Type="http://schemas.openxmlformats.org/officeDocument/2006/relationships/oleObject" Target="../embeddings/oleObject31.bin"/><Relationship Id="rId9" Type="http://schemas.openxmlformats.org/officeDocument/2006/relationships/image" Target="../media/image41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4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slide" Target="slide2.xml"/><Relationship Id="rId4" Type="http://schemas.openxmlformats.org/officeDocument/2006/relationships/image" Target="../media/image42.e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image" Target="../media/image43.emf"/><Relationship Id="rId7" Type="http://schemas.openxmlformats.org/officeDocument/2006/relationships/image" Target="../media/image45.emf"/><Relationship Id="rId2" Type="http://schemas.openxmlformats.org/officeDocument/2006/relationships/oleObject" Target="../embeddings/oleObject35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37.bin"/><Relationship Id="rId5" Type="http://schemas.openxmlformats.org/officeDocument/2006/relationships/image" Target="../media/image44.emf"/><Relationship Id="rId4" Type="http://schemas.openxmlformats.org/officeDocument/2006/relationships/oleObject" Target="../embeddings/oleObject36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1.bin"/><Relationship Id="rId3" Type="http://schemas.openxmlformats.org/officeDocument/2006/relationships/image" Target="../media/image46.emf"/><Relationship Id="rId7" Type="http://schemas.openxmlformats.org/officeDocument/2006/relationships/image" Target="../media/image48.emf"/><Relationship Id="rId12" Type="http://schemas.openxmlformats.org/officeDocument/2006/relationships/image" Target="../media/image51.png"/><Relationship Id="rId2" Type="http://schemas.openxmlformats.org/officeDocument/2006/relationships/oleObject" Target="../embeddings/oleObject3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0.bin"/><Relationship Id="rId11" Type="http://schemas.openxmlformats.org/officeDocument/2006/relationships/image" Target="../media/image50.png"/><Relationship Id="rId5" Type="http://schemas.openxmlformats.org/officeDocument/2006/relationships/image" Target="../media/image47.emf"/><Relationship Id="rId10" Type="http://schemas.openxmlformats.org/officeDocument/2006/relationships/slide" Target="slide2.xml"/><Relationship Id="rId4" Type="http://schemas.openxmlformats.org/officeDocument/2006/relationships/oleObject" Target="../embeddings/oleObject39.bin"/><Relationship Id="rId9" Type="http://schemas.openxmlformats.org/officeDocument/2006/relationships/image" Target="../media/image49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image" Target="../media/image52.emf"/><Relationship Id="rId7" Type="http://schemas.openxmlformats.org/officeDocument/2006/relationships/image" Target="../media/image54.emf"/><Relationship Id="rId2" Type="http://schemas.openxmlformats.org/officeDocument/2006/relationships/oleObject" Target="../embeddings/oleObject4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4.bin"/><Relationship Id="rId5" Type="http://schemas.openxmlformats.org/officeDocument/2006/relationships/image" Target="../media/image53.emf"/><Relationship Id="rId4" Type="http://schemas.openxmlformats.org/officeDocument/2006/relationships/oleObject" Target="../embeddings/oleObject43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5.bin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8.png"/><Relationship Id="rId4" Type="http://schemas.openxmlformats.org/officeDocument/2006/relationships/image" Target="../media/image57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12" name="Rectangle 8"/>
          <p:cNvSpPr>
            <a:spLocks noGrp="1"/>
          </p:cNvSpPr>
          <p:nvPr>
            <p:ph type="title"/>
          </p:nvPr>
        </p:nvSpPr>
        <p:spPr>
          <a:xfrm>
            <a:off x="466725" y="476250"/>
            <a:ext cx="7921625" cy="417513"/>
          </a:xfrm>
          <a:noFill/>
          <a:ln>
            <a:noFill/>
          </a:ln>
        </p:spPr>
        <p:txBody>
          <a:bodyPr anchor="t" anchorCtr="0"/>
          <a:lstStyle/>
          <a:p>
            <a:pPr algn="ctr" eaLnBrk="1" hangingPunct="1">
              <a:buNone/>
            </a:pP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1.3   </a:t>
            </a: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标量场的梯度</a:t>
            </a:r>
          </a:p>
        </p:txBody>
      </p:sp>
      <p:sp>
        <p:nvSpPr>
          <p:cNvPr id="21514" name="Rectangle 10"/>
          <p:cNvSpPr/>
          <p:nvPr/>
        </p:nvSpPr>
        <p:spPr>
          <a:xfrm>
            <a:off x="107504" y="2552346"/>
            <a:ext cx="8985696" cy="1999009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marL="381000" indent="-381000">
              <a:lnSpc>
                <a:spcPct val="140000"/>
              </a:lnSpc>
              <a:spcBef>
                <a:spcPct val="50000"/>
              </a:spcBef>
              <a:buFont typeface="Wingdings" panose="05000000000000000000" pitchFamily="2" charset="2"/>
              <a:buChar char="q"/>
            </a:pP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物理量</a:t>
            </a:r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——</a:t>
            </a: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标量，称该场为</a:t>
            </a:r>
            <a:r>
              <a:rPr lang="zh-CN" altLang="en-US" dirty="0">
                <a:solidFill>
                  <a:srgbClr val="FFB7B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标量场</a:t>
            </a:r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（例如：温度场、压力场）</a:t>
            </a: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。</a:t>
            </a:r>
          </a:p>
          <a:p>
            <a:pPr marL="381000" indent="-381000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物理量</a:t>
            </a:r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——</a:t>
            </a: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矢量，称该场为</a:t>
            </a:r>
            <a:r>
              <a:rPr lang="zh-CN" altLang="en-US" dirty="0">
                <a:solidFill>
                  <a:srgbClr val="FFB7B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矢量场</a:t>
            </a:r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（例如：速度场、流量场）</a:t>
            </a: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。</a:t>
            </a:r>
          </a:p>
          <a:p>
            <a:pPr marL="381000" indent="-381000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</a:pPr>
            <a:endParaRPr lang="zh-CN" altLang="en-US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381000" indent="-381000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如果场与时间无关，称为</a:t>
            </a:r>
            <a:r>
              <a:rPr lang="zh-CN" altLang="en-US" dirty="0">
                <a:solidFill>
                  <a:srgbClr val="FFB7B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静态场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；</a:t>
            </a: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反之为</a:t>
            </a:r>
            <a:r>
              <a:rPr lang="zh-CN" altLang="en-US" dirty="0">
                <a:solidFill>
                  <a:srgbClr val="FFB7B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时变场</a:t>
            </a:r>
            <a:r>
              <a:rPr lang="zh-CN" altLang="en-US" dirty="0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。</a:t>
            </a:r>
          </a:p>
        </p:txBody>
      </p:sp>
      <p:sp>
        <p:nvSpPr>
          <p:cNvPr id="49155" name="Rectangle 11"/>
          <p:cNvSpPr/>
          <p:nvPr/>
        </p:nvSpPr>
        <p:spPr>
          <a:xfrm>
            <a:off x="771525" y="5805488"/>
            <a:ext cx="8337550" cy="6477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>
              <a:lnSpc>
                <a:spcPct val="140000"/>
              </a:lnSpc>
            </a:pPr>
            <a:r>
              <a:rPr lang="zh-CN" altLang="en-US" dirty="0">
                <a:solidFill>
                  <a:srgbClr val="EA162F"/>
                </a:solidFill>
                <a:latin typeface="楷体_GB2312" pitchFamily="49" charset="-122"/>
                <a:ea typeface="楷体_GB2312" pitchFamily="49" charset="-122"/>
              </a:rPr>
              <a:t>时变场：</a:t>
            </a: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标量场和矢量场可分别表示为</a:t>
            </a:r>
            <a:r>
              <a:rPr lang="zh-CN" altLang="en-US" b="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</a:p>
        </p:txBody>
      </p:sp>
      <p:grpSp>
        <p:nvGrpSpPr>
          <p:cNvPr id="49156" name="Group 24"/>
          <p:cNvGrpSpPr/>
          <p:nvPr/>
        </p:nvGrpSpPr>
        <p:grpSpPr>
          <a:xfrm>
            <a:off x="6067425" y="5805488"/>
            <a:ext cx="2825750" cy="549275"/>
            <a:chOff x="3560" y="3702"/>
            <a:chExt cx="1780" cy="346"/>
          </a:xfrm>
        </p:grpSpPr>
        <p:graphicFrame>
          <p:nvGraphicFramePr>
            <p:cNvPr id="49157" name="Object 14"/>
            <p:cNvGraphicFramePr>
              <a:graphicFrameLocks noChangeAspect="1"/>
            </p:cNvGraphicFramePr>
            <p:nvPr/>
          </p:nvGraphicFramePr>
          <p:xfrm>
            <a:off x="3560" y="3793"/>
            <a:ext cx="811" cy="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622300" imgH="137795" progId="Equation.3">
                    <p:embed/>
                  </p:oleObj>
                </mc:Choice>
                <mc:Fallback>
                  <p:oleObj r:id="rId3" imgW="622300" imgH="137795" progId="Equation.3">
                    <p:embed/>
                    <p:pic>
                      <p:nvPicPr>
                        <p:cNvPr id="0" name="图片 3160"/>
                        <p:cNvPicPr/>
                        <p:nvPr/>
                      </p:nvPicPr>
                      <p:blipFill>
                        <a:blip r:embed="rId4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560" y="3793"/>
                          <a:ext cx="811" cy="25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9158" name="Object 15"/>
            <p:cNvGraphicFramePr>
              <a:graphicFrameLocks noChangeAspect="1"/>
            </p:cNvGraphicFramePr>
            <p:nvPr/>
          </p:nvGraphicFramePr>
          <p:xfrm>
            <a:off x="4468" y="3702"/>
            <a:ext cx="872" cy="3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589280" imgH="170815" progId="Equation.3">
                    <p:embed/>
                  </p:oleObj>
                </mc:Choice>
                <mc:Fallback>
                  <p:oleObj r:id="rId5" imgW="589280" imgH="170815" progId="Equation.3">
                    <p:embed/>
                    <p:pic>
                      <p:nvPicPr>
                        <p:cNvPr id="0" name="图片 3163"/>
                        <p:cNvPicPr/>
                        <p:nvPr/>
                      </p:nvPicPr>
                      <p:blipFill>
                        <a:blip r:embed="rId6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468" y="3702"/>
                          <a:ext cx="872" cy="34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520" name="Rectangle 16"/>
          <p:cNvSpPr/>
          <p:nvPr/>
        </p:nvSpPr>
        <p:spPr>
          <a:xfrm>
            <a:off x="323850" y="1369836"/>
            <a:ext cx="8799513" cy="1066446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40000"/>
              </a:lnSpc>
              <a:spcBef>
                <a:spcPct val="0"/>
              </a:spcBef>
            </a:pP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确定</a:t>
            </a:r>
            <a:r>
              <a:rPr lang="zh-CN" altLang="en-US" dirty="0">
                <a:solidFill>
                  <a:srgbClr val="EA162F"/>
                </a:solidFill>
                <a:latin typeface="楷体_GB2312" pitchFamily="49" charset="-122"/>
              </a:rPr>
              <a:t>时</a:t>
            </a:r>
            <a:r>
              <a:rPr lang="zh-CN" altLang="en-US" dirty="0">
                <a:solidFill>
                  <a:srgbClr val="EA162F"/>
                </a:solidFill>
                <a:latin typeface="楷体_GB2312" pitchFamily="49" charset="-122"/>
                <a:ea typeface="楷体_GB2312" pitchFamily="49" charset="-122"/>
              </a:rPr>
              <a:t>空</a:t>
            </a:r>
            <a:r>
              <a:rPr lang="zh-CN" altLang="en-US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区域上的每一点（自变量）</a:t>
            </a: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都有确定的</a:t>
            </a:r>
            <a:r>
              <a:rPr lang="zh-CN" altLang="en-US" dirty="0">
                <a:solidFill>
                  <a:srgbClr val="FF9900"/>
                </a:solidFill>
                <a:latin typeface="楷体_GB2312" pitchFamily="49" charset="-122"/>
                <a:ea typeface="楷体_GB2312" pitchFamily="49" charset="-122"/>
              </a:rPr>
              <a:t>物理量（函数值）</a:t>
            </a: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与之对应，称在该区域上定义了一个</a:t>
            </a:r>
            <a:r>
              <a:rPr lang="zh-CN" altLang="en-US" dirty="0">
                <a:solidFill>
                  <a:srgbClr val="FFB7B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场</a:t>
            </a: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。</a:t>
            </a:r>
          </a:p>
        </p:txBody>
      </p:sp>
      <p:sp>
        <p:nvSpPr>
          <p:cNvPr id="21521" name="Rectangle 17"/>
          <p:cNvSpPr/>
          <p:nvPr/>
        </p:nvSpPr>
        <p:spPr>
          <a:xfrm>
            <a:off x="0" y="4795838"/>
            <a:ext cx="9144000" cy="50482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从数学上看</a:t>
            </a:r>
            <a:r>
              <a:rPr lang="zh-CN" altLang="en-US" dirty="0">
                <a:solidFill>
                  <a:srgbClr val="FF81C0"/>
                </a:solidFill>
                <a:latin typeface="Arial" panose="020B0604020202020204" pitchFamily="34" charset="0"/>
                <a:ea typeface="楷体_GB2312" pitchFamily="49" charset="-122"/>
              </a:rPr>
              <a:t>（以直角坐标系为例）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，</a:t>
            </a:r>
            <a:r>
              <a:rPr lang="zh-CN" altLang="en-US" u="sng" dirty="0">
                <a:solidFill>
                  <a:srgbClr val="EA162F"/>
                </a:solidFill>
                <a:latin typeface="Arial" panose="020B0604020202020204" pitchFamily="34" charset="0"/>
                <a:ea typeface="楷体_GB2312" pitchFamily="49" charset="-122"/>
              </a:rPr>
              <a:t>场是</a:t>
            </a:r>
            <a:r>
              <a:rPr lang="zh-CN" altLang="en-US" u="sng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定义在</a:t>
            </a:r>
            <a:r>
              <a:rPr lang="zh-CN" altLang="en-US" u="sng" dirty="0">
                <a:solidFill>
                  <a:srgbClr val="FF9900"/>
                </a:solidFill>
                <a:latin typeface="Arial" panose="020B0604020202020204" pitchFamily="34" charset="0"/>
                <a:ea typeface="楷体_GB2312" pitchFamily="49" charset="-122"/>
              </a:rPr>
              <a:t>时空区域上</a:t>
            </a:r>
            <a:r>
              <a:rPr lang="zh-CN" altLang="en-US" u="sng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的</a:t>
            </a:r>
            <a:r>
              <a:rPr lang="zh-CN" altLang="en-US" u="sng" dirty="0">
                <a:solidFill>
                  <a:srgbClr val="EA162F"/>
                </a:solidFill>
                <a:latin typeface="Arial" panose="020B0604020202020204" pitchFamily="34" charset="0"/>
                <a:ea typeface="楷体_GB2312" pitchFamily="49" charset="-122"/>
              </a:rPr>
              <a:t>函数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。</a:t>
            </a:r>
          </a:p>
        </p:txBody>
      </p:sp>
      <p:sp>
        <p:nvSpPr>
          <p:cNvPr id="21522" name="Rectangle 18"/>
          <p:cNvSpPr/>
          <p:nvPr/>
        </p:nvSpPr>
        <p:spPr>
          <a:xfrm>
            <a:off x="323850" y="981075"/>
            <a:ext cx="3816350" cy="431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r>
              <a:rPr lang="zh-CN" altLang="en-US" dirty="0">
                <a:solidFill>
                  <a:srgbClr val="FFB7B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标量场和矢量场</a:t>
            </a:r>
          </a:p>
        </p:txBody>
      </p:sp>
      <p:grpSp>
        <p:nvGrpSpPr>
          <p:cNvPr id="49162" name="Group 23"/>
          <p:cNvGrpSpPr/>
          <p:nvPr/>
        </p:nvGrpSpPr>
        <p:grpSpPr>
          <a:xfrm>
            <a:off x="6011863" y="5351463"/>
            <a:ext cx="2600325" cy="500062"/>
            <a:chOff x="3560" y="3339"/>
            <a:chExt cx="1638" cy="315"/>
          </a:xfrm>
        </p:grpSpPr>
        <p:graphicFrame>
          <p:nvGraphicFramePr>
            <p:cNvPr id="49163" name="Object 12"/>
            <p:cNvGraphicFramePr>
              <a:graphicFrameLocks noChangeAspect="1"/>
            </p:cNvGraphicFramePr>
            <p:nvPr/>
          </p:nvGraphicFramePr>
          <p:xfrm>
            <a:off x="3560" y="3384"/>
            <a:ext cx="835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" imgW="512445" imgH="137795" progId="Equation.3">
                    <p:embed/>
                  </p:oleObj>
                </mc:Choice>
                <mc:Fallback>
                  <p:oleObj r:id="rId7" imgW="512445" imgH="137795" progId="Equation.3">
                    <p:embed/>
                    <p:pic>
                      <p:nvPicPr>
                        <p:cNvPr id="0" name="图片 3165"/>
                        <p:cNvPicPr/>
                        <p:nvPr/>
                      </p:nvPicPr>
                      <p:blipFill>
                        <a:blip r:embed="rId8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560" y="3384"/>
                          <a:ext cx="835" cy="25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9164" name="Object 13"/>
            <p:cNvGraphicFramePr>
              <a:graphicFrameLocks noChangeAspect="1"/>
            </p:cNvGraphicFramePr>
            <p:nvPr/>
          </p:nvGraphicFramePr>
          <p:xfrm>
            <a:off x="4468" y="3339"/>
            <a:ext cx="730" cy="3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9" imgW="567055" imgH="193040" progId="Equation.3">
                    <p:embed/>
                  </p:oleObj>
                </mc:Choice>
                <mc:Fallback>
                  <p:oleObj r:id="rId9" imgW="567055" imgH="193040" progId="Equation.3">
                    <p:embed/>
                    <p:pic>
                      <p:nvPicPr>
                        <p:cNvPr id="0" name="图片 3164"/>
                        <p:cNvPicPr/>
                        <p:nvPr/>
                      </p:nvPicPr>
                      <p:blipFill>
                        <a:blip r:embed="rId10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468" y="3339"/>
                          <a:ext cx="730" cy="31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9165" name="Rectangle 25"/>
          <p:cNvSpPr/>
          <p:nvPr/>
        </p:nvSpPr>
        <p:spPr>
          <a:xfrm>
            <a:off x="755650" y="5229225"/>
            <a:ext cx="8337550" cy="72072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>
              <a:lnSpc>
                <a:spcPct val="140000"/>
              </a:lnSpc>
            </a:pPr>
            <a:r>
              <a:rPr lang="zh-CN" altLang="en-US" dirty="0">
                <a:solidFill>
                  <a:srgbClr val="EA162F"/>
                </a:solidFill>
                <a:latin typeface="楷体_GB2312" pitchFamily="49" charset="-122"/>
                <a:ea typeface="楷体_GB2312" pitchFamily="49" charset="-122"/>
              </a:rPr>
              <a:t>静态场：</a:t>
            </a: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标量场和矢量场可分别表示为</a:t>
            </a:r>
            <a:endParaRPr lang="zh-CN" altLang="en-US" b="0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9166" name="AutoShape 28">
            <a:hlinkClick r:id="rId11" action="ppaction://hlinksldjump"/>
          </p:cNvPr>
          <p:cNvSpPr/>
          <p:nvPr/>
        </p:nvSpPr>
        <p:spPr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49167" name="AutoShape 29">
            <a:hlinkClick r:id="" action="ppaction://hlinkshowjump?jump=previousslide"/>
          </p:cNvPr>
          <p:cNvSpPr/>
          <p:nvPr/>
        </p:nvSpPr>
        <p:spPr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49168" name="AutoShape 30">
            <a:hlinkClick r:id="" action="ppaction://hlinkshowjump?jump=nextslide"/>
          </p:cNvPr>
          <p:cNvSpPr/>
          <p:nvPr/>
        </p:nvSpPr>
        <p:spPr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49169" name="AutoShape 31">
            <a:hlinkClick r:id="" action="ppaction://hlinkshowjump?jump=lastslide"/>
          </p:cNvPr>
          <p:cNvSpPr/>
          <p:nvPr/>
        </p:nvSpPr>
        <p:spPr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62" name="Rectangle 10"/>
          <p:cNvSpPr/>
          <p:nvPr/>
        </p:nvSpPr>
        <p:spPr>
          <a:xfrm>
            <a:off x="250825" y="549275"/>
            <a:ext cx="4038600" cy="431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81000" indent="-381000">
              <a:buAutoNum type="arabicPeriod"/>
            </a:pPr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标量场的等值面</a:t>
            </a:r>
            <a:r>
              <a:rPr lang="zh-CN" altLang="en-US" sz="2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</a:p>
        </p:txBody>
      </p:sp>
      <p:sp>
        <p:nvSpPr>
          <p:cNvPr id="202781" name="Rectangle 29"/>
          <p:cNvSpPr/>
          <p:nvPr/>
        </p:nvSpPr>
        <p:spPr>
          <a:xfrm>
            <a:off x="395288" y="1125538"/>
            <a:ext cx="5472112" cy="1008062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81000" indent="-381000">
              <a:lnSpc>
                <a:spcPct val="130000"/>
              </a:lnSpc>
              <a:spcBef>
                <a:spcPct val="0"/>
              </a:spcBef>
            </a:pPr>
            <a:r>
              <a:rPr lang="zh-CN" altLang="en-US" dirty="0">
                <a:solidFill>
                  <a:srgbClr val="FFB7B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等值面</a:t>
            </a:r>
            <a:r>
              <a:rPr lang="en-US" altLang="zh-CN" dirty="0">
                <a:solidFill>
                  <a:srgbClr val="FFB7B7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: 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标量场取得同一数值的点在空</a:t>
            </a:r>
          </a:p>
          <a:p>
            <a:pPr marL="381000" indent="-381000">
              <a:lnSpc>
                <a:spcPct val="130000"/>
              </a:lnSpc>
              <a:spcBef>
                <a:spcPct val="0"/>
              </a:spcBef>
            </a:pP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                间形成的曲面。</a:t>
            </a:r>
          </a:p>
        </p:txBody>
      </p:sp>
      <p:grpSp>
        <p:nvGrpSpPr>
          <p:cNvPr id="203083" name="Group 331"/>
          <p:cNvGrpSpPr/>
          <p:nvPr/>
        </p:nvGrpSpPr>
        <p:grpSpPr>
          <a:xfrm>
            <a:off x="395288" y="3213100"/>
            <a:ext cx="3852862" cy="450850"/>
            <a:chOff x="249" y="1480"/>
            <a:chExt cx="2427" cy="284"/>
          </a:xfrm>
        </p:grpSpPr>
        <p:graphicFrame>
          <p:nvGraphicFramePr>
            <p:cNvPr id="51204" name="Object 11"/>
            <p:cNvGraphicFramePr>
              <a:graphicFrameLocks noChangeAspect="1"/>
            </p:cNvGraphicFramePr>
            <p:nvPr/>
          </p:nvGraphicFramePr>
          <p:xfrm>
            <a:off x="1528" y="1539"/>
            <a:ext cx="1148" cy="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710565" imgH="137795" progId="Equation.3">
                    <p:embed/>
                  </p:oleObj>
                </mc:Choice>
                <mc:Fallback>
                  <p:oleObj r:id="rId3" imgW="710565" imgH="137795" progId="Equation.3">
                    <p:embed/>
                    <p:pic>
                      <p:nvPicPr>
                        <p:cNvPr id="0" name="图片 3181"/>
                        <p:cNvPicPr/>
                        <p:nvPr/>
                      </p:nvPicPr>
                      <p:blipFill>
                        <a:blip r:embed="rId4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528" y="1539"/>
                          <a:ext cx="1148" cy="22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205" name="Rectangle 30"/>
            <p:cNvSpPr/>
            <p:nvPr/>
          </p:nvSpPr>
          <p:spPr>
            <a:xfrm>
              <a:off x="249" y="1480"/>
              <a:ext cx="1951" cy="27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lstStyle/>
            <a:p>
              <a:pPr marL="381000" indent="-381000"/>
              <a:r>
                <a:rPr lang="zh-CN" altLang="en-US" dirty="0">
                  <a:solidFill>
                    <a:srgbClr val="FFB7B7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等值面方程</a:t>
              </a:r>
              <a:r>
                <a:rPr lang="zh-CN" altLang="en-US" dirty="0">
                  <a:solidFill>
                    <a:srgbClr val="FFB7B7"/>
                  </a:solidFill>
                  <a:latin typeface="Arial" panose="020B0604020202020204" pitchFamily="34" charset="0"/>
                  <a:ea typeface="幼圆" panose="02010509060101010101" pitchFamily="49" charset="-122"/>
                </a:rPr>
                <a:t>：</a:t>
              </a:r>
              <a:endParaRPr lang="zh-CN" altLang="en-US" b="0" dirty="0">
                <a:solidFill>
                  <a:srgbClr val="FFB7B7"/>
                </a:solidFill>
                <a:latin typeface="Arial" panose="020B0604020202020204" pitchFamily="34" charset="0"/>
                <a:ea typeface="幼圆" panose="02010509060101010101" pitchFamily="49" charset="-122"/>
              </a:endParaRPr>
            </a:p>
          </p:txBody>
        </p:sp>
      </p:grpSp>
      <p:sp>
        <p:nvSpPr>
          <p:cNvPr id="202783" name="Rectangle 31"/>
          <p:cNvSpPr/>
          <p:nvPr/>
        </p:nvSpPr>
        <p:spPr>
          <a:xfrm>
            <a:off x="323850" y="4076700"/>
            <a:ext cx="6192838" cy="201612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81000" indent="-381000">
              <a:lnSpc>
                <a:spcPct val="130000"/>
              </a:lnSpc>
              <a:spcBef>
                <a:spcPct val="0"/>
              </a:spcBef>
              <a:buChar char="•"/>
            </a:pP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常数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C 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取一系列不同的值，就得到一系列不同的等值面，形成等值面族；</a:t>
            </a:r>
          </a:p>
          <a:p>
            <a:pPr marL="381000" indent="-381000">
              <a:lnSpc>
                <a:spcPct val="130000"/>
              </a:lnSpc>
              <a:spcBef>
                <a:spcPct val="0"/>
              </a:spcBef>
              <a:buChar char="•"/>
            </a:pP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标量场的等值面充满场所在的整个空间；</a:t>
            </a:r>
          </a:p>
          <a:p>
            <a:pPr marL="381000" indent="-381000">
              <a:lnSpc>
                <a:spcPct val="130000"/>
              </a:lnSpc>
              <a:spcBef>
                <a:spcPct val="0"/>
              </a:spcBef>
              <a:buChar char="•"/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标量场的等值面互不相交。</a:t>
            </a:r>
            <a:endParaRPr lang="zh-CN" altLang="en-US" b="0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02785" name="Rectangle 33"/>
          <p:cNvSpPr/>
          <p:nvPr/>
        </p:nvSpPr>
        <p:spPr>
          <a:xfrm>
            <a:off x="379413" y="3644900"/>
            <a:ext cx="4608512" cy="431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81000" indent="-381000"/>
            <a:r>
              <a:rPr lang="zh-CN" altLang="en-US" dirty="0">
                <a:solidFill>
                  <a:srgbClr val="FFB7B7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等值面的特点</a:t>
            </a:r>
            <a:r>
              <a:rPr lang="zh-CN" altLang="en-US" dirty="0">
                <a:solidFill>
                  <a:srgbClr val="FFB7B7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：</a:t>
            </a:r>
            <a:endParaRPr lang="zh-CN" altLang="en-US" b="0" dirty="0">
              <a:solidFill>
                <a:srgbClr val="FFB7B7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  <p:graphicFrame>
        <p:nvGraphicFramePr>
          <p:cNvPr id="202786" name="Object 34"/>
          <p:cNvGraphicFramePr>
            <a:graphicFrameLocks noGrp="1" noChangeAspect="1"/>
          </p:cNvGraphicFramePr>
          <p:nvPr>
            <p:ph sz="half" idx="1"/>
          </p:nvPr>
        </p:nvGraphicFramePr>
        <p:xfrm>
          <a:off x="6443663" y="3789363"/>
          <a:ext cx="2484437" cy="1998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801495" imgH="1447800" progId="Word.Picture.8">
                  <p:embed/>
                </p:oleObj>
              </mc:Choice>
              <mc:Fallback>
                <p:oleObj r:id="rId5" imgW="1801495" imgH="1447800" progId="Word.Picture.8">
                  <p:embed/>
                  <p:pic>
                    <p:nvPicPr>
                      <p:cNvPr id="0" name="图片 318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443663" y="3789363"/>
                        <a:ext cx="2484437" cy="19986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3084" name="Rectangle 332"/>
          <p:cNvSpPr/>
          <p:nvPr/>
        </p:nvSpPr>
        <p:spPr>
          <a:xfrm>
            <a:off x="395288" y="2133600"/>
            <a:ext cx="5472112" cy="10080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81000" indent="-381000">
              <a:lnSpc>
                <a:spcPct val="130000"/>
              </a:lnSpc>
              <a:spcBef>
                <a:spcPct val="0"/>
              </a:spcBef>
            </a:pPr>
            <a:r>
              <a:rPr lang="zh-CN" altLang="en-US" dirty="0">
                <a:solidFill>
                  <a:srgbClr val="FFB7B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意义</a:t>
            </a:r>
            <a:r>
              <a:rPr lang="en-US" altLang="zh-CN" dirty="0">
                <a:solidFill>
                  <a:srgbClr val="FFB7B7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: 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形象直观地描述了物理量在空间</a:t>
            </a:r>
          </a:p>
          <a:p>
            <a:pPr marL="381000" indent="-381000">
              <a:lnSpc>
                <a:spcPct val="130000"/>
              </a:lnSpc>
              <a:spcBef>
                <a:spcPct val="0"/>
              </a:spcBef>
            </a:pP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            的分布状态。</a:t>
            </a:r>
          </a:p>
        </p:txBody>
      </p:sp>
      <p:grpSp>
        <p:nvGrpSpPr>
          <p:cNvPr id="203090" name="Group 338"/>
          <p:cNvGrpSpPr/>
          <p:nvPr/>
        </p:nvGrpSpPr>
        <p:grpSpPr>
          <a:xfrm>
            <a:off x="6156325" y="692150"/>
            <a:ext cx="2808288" cy="2736850"/>
            <a:chOff x="3742" y="436"/>
            <a:chExt cx="1769" cy="1724"/>
          </a:xfrm>
        </p:grpSpPr>
        <p:sp>
          <p:nvSpPr>
            <p:cNvPr id="51211" name="Rectangle 334"/>
            <p:cNvSpPr/>
            <p:nvPr/>
          </p:nvSpPr>
          <p:spPr>
            <a:xfrm>
              <a:off x="3742" y="436"/>
              <a:ext cx="1769" cy="1724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/>
              <a:endParaRPr lang="zh-CN" altLang="en-US" b="0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grpSp>
          <p:nvGrpSpPr>
            <p:cNvPr id="51212" name="Group 335"/>
            <p:cNvGrpSpPr/>
            <p:nvPr/>
          </p:nvGrpSpPr>
          <p:grpSpPr>
            <a:xfrm>
              <a:off x="3759" y="470"/>
              <a:ext cx="1724" cy="1645"/>
              <a:chOff x="3879" y="470"/>
              <a:chExt cx="1768" cy="1645"/>
            </a:xfrm>
          </p:grpSpPr>
          <p:sp>
            <p:nvSpPr>
              <p:cNvPr id="51213" name="Text Box 336"/>
              <p:cNvSpPr txBox="1"/>
              <p:nvPr/>
            </p:nvSpPr>
            <p:spPr>
              <a:xfrm>
                <a:off x="3906" y="1865"/>
                <a:ext cx="1650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>
                <a:spAutoFit/>
              </a:bodyPr>
              <a:lstStyle/>
              <a:p>
                <a:pPr algn="ctr"/>
                <a:r>
                  <a:rPr lang="zh-CN" altLang="en-US" sz="20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标量场的等值线</a:t>
                </a:r>
                <a:r>
                  <a:rPr lang="en-US" altLang="zh-CN" sz="20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(</a:t>
                </a:r>
                <a:r>
                  <a:rPr lang="zh-CN" altLang="en-US" sz="20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面</a:t>
                </a:r>
                <a:r>
                  <a:rPr lang="en-US" altLang="zh-CN" sz="20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)</a:t>
                </a:r>
              </a:p>
            </p:txBody>
          </p:sp>
          <p:pic>
            <p:nvPicPr>
              <p:cNvPr id="51214" name="Picture 337" descr="SM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879" y="470"/>
                <a:ext cx="1768" cy="1372"/>
              </a:xfrm>
              <a:prstGeom prst="rect">
                <a:avLst/>
              </a:prstGeom>
              <a:solidFill>
                <a:srgbClr val="FFFFCC"/>
              </a:solidFill>
              <a:ln w="9525">
                <a:noFill/>
              </a:ln>
            </p:spPr>
          </p:pic>
        </p:grpSp>
      </p:grpSp>
      <p:sp>
        <p:nvSpPr>
          <p:cNvPr id="51215" name="AutoShape 339">
            <a:hlinkClick r:id="rId8" action="ppaction://hlinksldjump"/>
          </p:cNvPr>
          <p:cNvSpPr/>
          <p:nvPr/>
        </p:nvSpPr>
        <p:spPr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51216" name="AutoShape 340">
            <a:hlinkClick r:id="" action="ppaction://hlinkshowjump?jump=previousslide"/>
          </p:cNvPr>
          <p:cNvSpPr/>
          <p:nvPr/>
        </p:nvSpPr>
        <p:spPr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51217" name="AutoShape 341">
            <a:hlinkClick r:id="" action="ppaction://hlinkshowjump?jump=nextslide"/>
          </p:cNvPr>
          <p:cNvSpPr/>
          <p:nvPr/>
        </p:nvSpPr>
        <p:spPr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51218" name="AutoShape 342">
            <a:hlinkClick r:id="" action="ppaction://hlinkshowjump?jump=lastslide"/>
          </p:cNvPr>
          <p:cNvSpPr/>
          <p:nvPr/>
        </p:nvSpPr>
        <p:spPr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786" name="Rectangle 2"/>
          <p:cNvSpPr/>
          <p:nvPr/>
        </p:nvSpPr>
        <p:spPr>
          <a:xfrm>
            <a:off x="212724" y="371475"/>
            <a:ext cx="6664324" cy="50482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285750" indent="-285750"/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2.  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标量场的方向导数</a:t>
            </a:r>
            <a:r>
              <a:rPr lang="zh-CN" altLang="en-US" dirty="0">
                <a:solidFill>
                  <a:srgbClr val="FFC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（偏导的扩展）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（是标量）</a:t>
            </a:r>
          </a:p>
        </p:txBody>
      </p:sp>
      <p:sp>
        <p:nvSpPr>
          <p:cNvPr id="630787" name="Text Box 3"/>
          <p:cNvSpPr txBox="1"/>
          <p:nvPr/>
        </p:nvSpPr>
        <p:spPr>
          <a:xfrm>
            <a:off x="35496" y="2924944"/>
            <a:ext cx="7129463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rgbClr val="FFB7B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意义</a:t>
            </a:r>
            <a:r>
              <a:rPr lang="zh-CN" altLang="en-US" dirty="0">
                <a:solidFill>
                  <a:srgbClr val="FFB7B7"/>
                </a:solidFill>
                <a:latin typeface="楷体_GB2312" pitchFamily="49" charset="-122"/>
                <a:ea typeface="楷体_GB2312" pitchFamily="49" charset="-122"/>
              </a:rPr>
              <a:t>：</a:t>
            </a: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方向导数表示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场沿某方向的空间变化率</a:t>
            </a:r>
            <a:r>
              <a:rPr lang="zh-CN" altLang="en-US" dirty="0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。</a:t>
            </a:r>
          </a:p>
        </p:txBody>
      </p:sp>
      <p:grpSp>
        <p:nvGrpSpPr>
          <p:cNvPr id="630791" name="Group 7"/>
          <p:cNvGrpSpPr/>
          <p:nvPr/>
        </p:nvGrpSpPr>
        <p:grpSpPr>
          <a:xfrm>
            <a:off x="1042991" y="3486919"/>
            <a:ext cx="5689601" cy="792162"/>
            <a:chOff x="657" y="1826"/>
            <a:chExt cx="3584" cy="499"/>
          </a:xfrm>
        </p:grpSpPr>
        <p:graphicFrame>
          <p:nvGraphicFramePr>
            <p:cNvPr id="53252" name="Object 8"/>
            <p:cNvGraphicFramePr>
              <a:graphicFrameLocks noChangeAspect="1"/>
            </p:cNvGraphicFramePr>
            <p:nvPr/>
          </p:nvGraphicFramePr>
          <p:xfrm>
            <a:off x="2429" y="1888"/>
            <a:ext cx="180" cy="3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60325" imgH="148590" progId="Equation.DSMT4">
                    <p:embed/>
                  </p:oleObj>
                </mc:Choice>
                <mc:Fallback>
                  <p:oleObj r:id="rId3" imgW="60325" imgH="148590" progId="Equation.DSMT4">
                    <p:embed/>
                    <p:pic>
                      <p:nvPicPr>
                        <p:cNvPr id="0" name="图片 3182"/>
                        <p:cNvPicPr/>
                        <p:nvPr/>
                      </p:nvPicPr>
                      <p:blipFill>
                        <a:blip r:embed="rId4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429" y="1888"/>
                          <a:ext cx="180" cy="33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3253" name="Object 9"/>
            <p:cNvGraphicFramePr/>
            <p:nvPr/>
          </p:nvGraphicFramePr>
          <p:xfrm>
            <a:off x="657" y="1826"/>
            <a:ext cx="726" cy="4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358140" imgH="302895" progId="Equation.DSMT4">
                    <p:embed/>
                  </p:oleObj>
                </mc:Choice>
                <mc:Fallback>
                  <p:oleObj r:id="rId5" imgW="358140" imgH="302895" progId="Equation.DSMT4">
                    <p:embed/>
                    <p:pic>
                      <p:nvPicPr>
                        <p:cNvPr id="0" name="图片 3188"/>
                        <p:cNvPicPr/>
                        <p:nvPr/>
                      </p:nvPicPr>
                      <p:blipFill>
                        <a:blip r:embed="rId6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657" y="1826"/>
                          <a:ext cx="726" cy="49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3254" name="Text Box 10"/>
            <p:cNvSpPr txBox="1"/>
            <p:nvPr/>
          </p:nvSpPr>
          <p:spPr>
            <a:xfrm>
              <a:off x="839" y="1917"/>
              <a:ext cx="340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  <a:buChar char="•"/>
              </a:pPr>
              <a:r>
                <a:rPr lang="en-US" altLang="zh-CN" dirty="0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rPr>
                <a:t>        </a:t>
              </a:r>
              <a:r>
                <a:rPr lang="en-US" altLang="zh-CN" dirty="0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rPr>
                <a:t>——</a:t>
              </a:r>
              <a:r>
                <a:rPr lang="en-US" altLang="zh-CN" dirty="0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rPr>
                <a:t> </a:t>
              </a:r>
              <a:r>
                <a:rPr lang="en-US" altLang="zh-CN" i="1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u</a:t>
              </a:r>
              <a:r>
                <a:rPr lang="en-US" altLang="zh-CN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(</a:t>
              </a:r>
              <a:r>
                <a:rPr lang="en-US" altLang="zh-CN" i="1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M</a:t>
              </a:r>
              <a:r>
                <a:rPr lang="en-US" altLang="zh-CN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)</a:t>
              </a:r>
              <a:r>
                <a:rPr lang="zh-CN" altLang="en-US" dirty="0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rPr>
                <a:t>沿  方向增加；</a:t>
              </a:r>
              <a:r>
                <a:rPr lang="zh-CN" altLang="en-US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</a:t>
              </a:r>
            </a:p>
          </p:txBody>
        </p:sp>
      </p:grpSp>
      <p:grpSp>
        <p:nvGrpSpPr>
          <p:cNvPr id="630795" name="Group 11"/>
          <p:cNvGrpSpPr/>
          <p:nvPr/>
        </p:nvGrpSpPr>
        <p:grpSpPr>
          <a:xfrm>
            <a:off x="1117602" y="4279081"/>
            <a:ext cx="5399088" cy="792163"/>
            <a:chOff x="704" y="2235"/>
            <a:chExt cx="3401" cy="499"/>
          </a:xfrm>
        </p:grpSpPr>
        <p:graphicFrame>
          <p:nvGraphicFramePr>
            <p:cNvPr id="53256" name="Object 12"/>
            <p:cNvGraphicFramePr>
              <a:graphicFrameLocks noChangeAspect="1"/>
            </p:cNvGraphicFramePr>
            <p:nvPr/>
          </p:nvGraphicFramePr>
          <p:xfrm>
            <a:off x="2442" y="2280"/>
            <a:ext cx="196" cy="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" imgW="60325" imgH="148590" progId="Equation.DSMT4">
                    <p:embed/>
                  </p:oleObj>
                </mc:Choice>
                <mc:Fallback>
                  <p:oleObj r:id="rId7" imgW="60325" imgH="148590" progId="Equation.DSMT4">
                    <p:embed/>
                    <p:pic>
                      <p:nvPicPr>
                        <p:cNvPr id="0" name="图片 3183"/>
                        <p:cNvPicPr/>
                        <p:nvPr/>
                      </p:nvPicPr>
                      <p:blipFill>
                        <a:blip r:embed="rId8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442" y="2280"/>
                          <a:ext cx="196" cy="36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3257" name="Object 13"/>
            <p:cNvGraphicFramePr/>
            <p:nvPr/>
          </p:nvGraphicFramePr>
          <p:xfrm>
            <a:off x="704" y="2235"/>
            <a:ext cx="626" cy="4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9" imgW="347345" imgH="302895" progId="Equation.DSMT4">
                    <p:embed/>
                  </p:oleObj>
                </mc:Choice>
                <mc:Fallback>
                  <p:oleObj r:id="rId9" imgW="347345" imgH="302895" progId="Equation.DSMT4">
                    <p:embed/>
                    <p:pic>
                      <p:nvPicPr>
                        <p:cNvPr id="0" name="图片 3187"/>
                        <p:cNvPicPr/>
                        <p:nvPr/>
                      </p:nvPicPr>
                      <p:blipFill>
                        <a:blip r:embed="rId10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704" y="2235"/>
                          <a:ext cx="626" cy="49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3258" name="Text Box 14"/>
            <p:cNvSpPr txBox="1"/>
            <p:nvPr/>
          </p:nvSpPr>
          <p:spPr>
            <a:xfrm>
              <a:off x="839" y="2326"/>
              <a:ext cx="326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  <a:buChar char="•"/>
              </a:pPr>
              <a:r>
                <a:rPr lang="en-US" altLang="zh-CN" dirty="0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rPr>
                <a:t>        </a:t>
              </a:r>
              <a:r>
                <a:rPr lang="en-US" altLang="zh-CN" dirty="0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rPr>
                <a:t>——</a:t>
              </a:r>
              <a:r>
                <a:rPr lang="en-US" altLang="zh-CN" dirty="0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rPr>
                <a:t> </a:t>
              </a:r>
              <a:r>
                <a:rPr lang="en-US" altLang="zh-CN" i="1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u</a:t>
              </a:r>
              <a:r>
                <a:rPr lang="en-US" altLang="zh-CN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(</a:t>
              </a:r>
              <a:r>
                <a:rPr lang="en-US" altLang="zh-CN" i="1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M</a:t>
              </a:r>
              <a:r>
                <a:rPr lang="en-US" altLang="zh-CN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)</a:t>
              </a:r>
              <a:r>
                <a:rPr lang="zh-CN" altLang="en-US" dirty="0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rPr>
                <a:t>沿   方向减小；</a:t>
              </a:r>
              <a:r>
                <a:rPr lang="zh-CN" altLang="en-US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</a:t>
              </a:r>
            </a:p>
          </p:txBody>
        </p:sp>
      </p:grpSp>
      <p:grpSp>
        <p:nvGrpSpPr>
          <p:cNvPr id="630799" name="Group 15"/>
          <p:cNvGrpSpPr/>
          <p:nvPr/>
        </p:nvGrpSpPr>
        <p:grpSpPr>
          <a:xfrm>
            <a:off x="1082674" y="5071244"/>
            <a:ext cx="5794374" cy="831850"/>
            <a:chOff x="430" y="2684"/>
            <a:chExt cx="3650" cy="524"/>
          </a:xfrm>
        </p:grpSpPr>
        <p:graphicFrame>
          <p:nvGraphicFramePr>
            <p:cNvPr id="53260" name="Object 16"/>
            <p:cNvGraphicFramePr>
              <a:graphicFrameLocks noChangeAspect="1"/>
            </p:cNvGraphicFramePr>
            <p:nvPr/>
          </p:nvGraphicFramePr>
          <p:xfrm>
            <a:off x="2216" y="2732"/>
            <a:ext cx="181" cy="3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1" imgW="60325" imgH="148590" progId="Equation.DSMT4">
                    <p:embed/>
                  </p:oleObj>
                </mc:Choice>
                <mc:Fallback>
                  <p:oleObj r:id="rId11" imgW="60325" imgH="148590" progId="Equation.DSMT4">
                    <p:embed/>
                    <p:pic>
                      <p:nvPicPr>
                        <p:cNvPr id="0" name="图片 3185"/>
                        <p:cNvPicPr/>
                        <p:nvPr/>
                      </p:nvPicPr>
                      <p:blipFill>
                        <a:blip r:embed="rId12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216" y="2732"/>
                          <a:ext cx="181" cy="33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3261" name="Object 17"/>
            <p:cNvGraphicFramePr/>
            <p:nvPr/>
          </p:nvGraphicFramePr>
          <p:xfrm>
            <a:off x="430" y="2684"/>
            <a:ext cx="656" cy="5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3" imgW="358140" imgH="302895" progId="Equation.DSMT4">
                    <p:embed/>
                  </p:oleObj>
                </mc:Choice>
                <mc:Fallback>
                  <p:oleObj r:id="rId13" imgW="358140" imgH="302895" progId="Equation.DSMT4">
                    <p:embed/>
                    <p:pic>
                      <p:nvPicPr>
                        <p:cNvPr id="0" name="图片 3184"/>
                        <p:cNvPicPr/>
                        <p:nvPr/>
                      </p:nvPicPr>
                      <p:blipFill>
                        <a:blip r:embed="rId14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30" y="2684"/>
                          <a:ext cx="656" cy="52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3262" name="Text Box 18"/>
            <p:cNvSpPr txBox="1"/>
            <p:nvPr/>
          </p:nvSpPr>
          <p:spPr>
            <a:xfrm>
              <a:off x="587" y="2774"/>
              <a:ext cx="349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  <a:buChar char="•"/>
              </a:pPr>
              <a:r>
                <a:rPr lang="en-US" altLang="zh-CN" dirty="0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rPr>
                <a:t>        </a:t>
              </a:r>
              <a:r>
                <a:rPr lang="en-US" altLang="zh-CN" dirty="0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rPr>
                <a:t>——</a:t>
              </a:r>
              <a:r>
                <a:rPr lang="en-US" altLang="zh-CN" dirty="0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rPr>
                <a:t> </a:t>
              </a:r>
              <a:r>
                <a:rPr lang="en-US" altLang="zh-CN" i="1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u</a:t>
              </a:r>
              <a:r>
                <a:rPr lang="en-US" altLang="zh-CN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(</a:t>
              </a:r>
              <a:r>
                <a:rPr lang="en-US" altLang="zh-CN" i="1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M</a:t>
              </a:r>
              <a:r>
                <a:rPr lang="en-US" altLang="zh-CN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)</a:t>
              </a:r>
              <a:r>
                <a:rPr lang="zh-CN" altLang="en-US" dirty="0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rPr>
                <a:t>沿   方向无变化。</a:t>
              </a:r>
              <a:r>
                <a:rPr lang="zh-CN" altLang="en-US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</a:t>
              </a:r>
            </a:p>
          </p:txBody>
        </p:sp>
      </p:grpSp>
      <p:grpSp>
        <p:nvGrpSpPr>
          <p:cNvPr id="630817" name="Group 33"/>
          <p:cNvGrpSpPr/>
          <p:nvPr/>
        </p:nvGrpSpPr>
        <p:grpSpPr>
          <a:xfrm>
            <a:off x="395288" y="5725294"/>
            <a:ext cx="5761037" cy="1041400"/>
            <a:chOff x="249" y="3182"/>
            <a:chExt cx="3629" cy="656"/>
          </a:xfrm>
        </p:grpSpPr>
        <p:graphicFrame>
          <p:nvGraphicFramePr>
            <p:cNvPr id="53264" name="Object 34"/>
            <p:cNvGraphicFramePr/>
            <p:nvPr/>
          </p:nvGraphicFramePr>
          <p:xfrm>
            <a:off x="3424" y="3226"/>
            <a:ext cx="182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5" imgW="60325" imgH="148590" progId="Equation.DSMT4">
                    <p:embed/>
                  </p:oleObj>
                </mc:Choice>
                <mc:Fallback>
                  <p:oleObj r:id="rId15" imgW="60325" imgH="148590" progId="Equation.DSMT4">
                    <p:embed/>
                    <p:pic>
                      <p:nvPicPr>
                        <p:cNvPr id="0" name="图片 3186"/>
                        <p:cNvPicPr/>
                        <p:nvPr/>
                      </p:nvPicPr>
                      <p:blipFill>
                        <a:blip r:embed="rId16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424" y="3226"/>
                          <a:ext cx="182" cy="29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3265" name="Text Box 35"/>
            <p:cNvSpPr txBox="1"/>
            <p:nvPr/>
          </p:nvSpPr>
          <p:spPr>
            <a:xfrm>
              <a:off x="249" y="3182"/>
              <a:ext cx="3629" cy="65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lnSpc>
                  <a:spcPct val="130000"/>
                </a:lnSpc>
                <a:spcBef>
                  <a:spcPct val="0"/>
                </a:spcBef>
              </a:pPr>
              <a:r>
                <a:rPr lang="zh-CN" altLang="en-US" dirty="0">
                  <a:solidFill>
                    <a:srgbClr val="FFB7B7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特点</a:t>
              </a:r>
              <a:r>
                <a:rPr lang="zh-CN" altLang="en-US" dirty="0">
                  <a:solidFill>
                    <a:srgbClr val="FFB7B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：</a:t>
              </a:r>
              <a:r>
                <a:rPr lang="zh-CN" altLang="en-US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方向导数既与点</a:t>
              </a:r>
              <a:r>
                <a:rPr lang="en-US" altLang="zh-CN" i="1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M</a:t>
              </a:r>
              <a:r>
                <a:rPr lang="en-US" altLang="zh-CN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0</a:t>
              </a:r>
              <a:r>
                <a:rPr lang="zh-CN" altLang="en-US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有关，也与</a:t>
              </a:r>
            </a:p>
            <a:p>
              <a:pPr>
                <a:lnSpc>
                  <a:spcPct val="130000"/>
                </a:lnSpc>
                <a:spcBef>
                  <a:spcPct val="0"/>
                </a:spcBef>
              </a:pPr>
              <a:r>
                <a:rPr lang="zh-CN" altLang="en-US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           方向有关</a:t>
              </a:r>
              <a:r>
                <a:rPr lang="zh-CN" altLang="en-US" dirty="0">
                  <a:solidFill>
                    <a:schemeClr val="bg1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。</a:t>
              </a:r>
            </a:p>
          </p:txBody>
        </p:sp>
      </p:grpSp>
      <p:sp>
        <p:nvSpPr>
          <p:cNvPr id="53266" name="AutoShape 42">
            <a:hlinkClick r:id="rId17" action="ppaction://hlinksldjump"/>
          </p:cNvPr>
          <p:cNvSpPr/>
          <p:nvPr/>
        </p:nvSpPr>
        <p:spPr>
          <a:xfrm>
            <a:off x="7537450" y="670560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53267" name="AutoShape 43">
            <a:hlinkClick r:id="" action="ppaction://hlinkshowjump?jump=previousslide"/>
          </p:cNvPr>
          <p:cNvSpPr/>
          <p:nvPr/>
        </p:nvSpPr>
        <p:spPr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53268" name="AutoShape 44">
            <a:hlinkClick r:id="" action="ppaction://hlinkshowjump?jump=nextslide"/>
          </p:cNvPr>
          <p:cNvSpPr/>
          <p:nvPr/>
        </p:nvSpPr>
        <p:spPr>
          <a:xfrm>
            <a:off x="8372475" y="670560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53269" name="AutoShape 45">
            <a:hlinkClick r:id="" action="ppaction://hlinkshowjump?jump=lastslide"/>
          </p:cNvPr>
          <p:cNvSpPr/>
          <p:nvPr/>
        </p:nvSpPr>
        <p:spPr>
          <a:xfrm>
            <a:off x="8763000" y="6705600"/>
            <a:ext cx="360363" cy="252413"/>
          </a:xfrm>
          <a:prstGeom prst="actionButtonEnd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630830" name="Text Box 46"/>
          <p:cNvSpPr txBox="1"/>
          <p:nvPr/>
        </p:nvSpPr>
        <p:spPr>
          <a:xfrm>
            <a:off x="323850" y="762409"/>
            <a:ext cx="8820150" cy="83099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rgbClr val="FFB7B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引入</a:t>
            </a:r>
            <a:r>
              <a:rPr lang="zh-CN" altLang="en-US" dirty="0">
                <a:solidFill>
                  <a:srgbClr val="FFB7B7"/>
                </a:solidFill>
                <a:latin typeface="楷体_GB2312" pitchFamily="49" charset="-122"/>
                <a:ea typeface="楷体_GB2312" pitchFamily="49" charset="-122"/>
              </a:rPr>
              <a:t>：</a:t>
            </a: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标量场的等值面只描述了场量的分布状况，还要研究场量在场中任一点的邻域内</a:t>
            </a:r>
            <a:r>
              <a:rPr lang="zh-CN" altLang="en-US" dirty="0">
                <a:solidFill>
                  <a:srgbClr val="FFC000"/>
                </a:solidFill>
                <a:latin typeface="楷体_GB2312" pitchFamily="49" charset="-122"/>
                <a:ea typeface="楷体_GB2312" pitchFamily="49" charset="-122"/>
              </a:rPr>
              <a:t>沿各个方向</a:t>
            </a: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的变化规律</a:t>
            </a:r>
            <a:r>
              <a:rPr lang="zh-CN" altLang="en-US" dirty="0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。</a:t>
            </a:r>
          </a:p>
        </p:txBody>
      </p:sp>
      <p:pic>
        <p:nvPicPr>
          <p:cNvPr id="53271" name="Picture 47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70638" y="4169958"/>
            <a:ext cx="2752725" cy="2676525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630832" name="Group 48"/>
          <p:cNvGrpSpPr/>
          <p:nvPr/>
        </p:nvGrpSpPr>
        <p:grpSpPr>
          <a:xfrm>
            <a:off x="442175" y="1585898"/>
            <a:ext cx="4818062" cy="692150"/>
            <a:chOff x="249" y="1480"/>
            <a:chExt cx="3035" cy="436"/>
          </a:xfrm>
        </p:grpSpPr>
        <p:graphicFrame>
          <p:nvGraphicFramePr>
            <p:cNvPr id="53273" name="Object 4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39691471"/>
                </p:ext>
              </p:extLst>
            </p:nvPr>
          </p:nvGraphicFramePr>
          <p:xfrm>
            <a:off x="920" y="1480"/>
            <a:ext cx="2364" cy="4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9" imgW="1503680" imgH="302895" progId="Equation.3">
                    <p:embed/>
                  </p:oleObj>
                </mc:Choice>
                <mc:Fallback>
                  <p:oleObj r:id="rId19" imgW="1503680" imgH="302895" progId="Equation.3">
                    <p:embed/>
                    <p:pic>
                      <p:nvPicPr>
                        <p:cNvPr id="0" name="图片 3189"/>
                        <p:cNvPicPr/>
                        <p:nvPr/>
                      </p:nvPicPr>
                      <p:blipFill>
                        <a:blip r:embed="rId20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920" y="1480"/>
                          <a:ext cx="2364" cy="43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3274" name="Rectangle 50"/>
            <p:cNvSpPr/>
            <p:nvPr/>
          </p:nvSpPr>
          <p:spPr>
            <a:xfrm>
              <a:off x="249" y="1480"/>
              <a:ext cx="1951" cy="27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lstStyle/>
            <a:p>
              <a:pPr marL="381000" indent="-381000"/>
              <a:endParaRPr lang="zh-CN" altLang="zh-CN" b="0" dirty="0">
                <a:solidFill>
                  <a:srgbClr val="FFB7B7"/>
                </a:solidFill>
                <a:latin typeface="Arial" panose="020B0604020202020204" pitchFamily="34" charset="0"/>
                <a:ea typeface="幼圆" panose="02010509060101010101" pitchFamily="49" charset="-122"/>
              </a:endParaRPr>
            </a:p>
          </p:txBody>
        </p:sp>
      </p:grpSp>
      <p:sp>
        <p:nvSpPr>
          <p:cNvPr id="630835" name="Rectangle 51"/>
          <p:cNvSpPr/>
          <p:nvPr/>
        </p:nvSpPr>
        <p:spPr>
          <a:xfrm>
            <a:off x="326738" y="1696229"/>
            <a:ext cx="3816350" cy="431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r>
              <a:rPr lang="zh-CN" altLang="en-US" dirty="0">
                <a:solidFill>
                  <a:srgbClr val="FFB7B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定义式：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D92670B-4700-3C9E-8C0A-E2279CC6576B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356612" y="2892085"/>
            <a:ext cx="2752726" cy="1257418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B73854D9-CEC9-F7BF-EB61-77343497DB4C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260237" y="2164418"/>
            <a:ext cx="3683472" cy="759959"/>
          </a:xfrm>
          <a:prstGeom prst="rect">
            <a:avLst/>
          </a:prstGeom>
        </p:spPr>
      </p:pic>
      <p:sp>
        <p:nvSpPr>
          <p:cNvPr id="5" name="Rectangle 51">
            <a:extLst>
              <a:ext uri="{FF2B5EF4-FFF2-40B4-BE49-F238E27FC236}">
                <a16:creationId xmlns:a16="http://schemas.microsoft.com/office/drawing/2014/main" id="{A9CB5757-7592-4607-F019-FD163F1074F5}"/>
              </a:ext>
            </a:extLst>
          </p:cNvPr>
          <p:cNvSpPr/>
          <p:nvPr/>
        </p:nvSpPr>
        <p:spPr>
          <a:xfrm>
            <a:off x="200291" y="2315537"/>
            <a:ext cx="5222875" cy="617696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r>
              <a:rPr lang="en-US" altLang="zh-CN" dirty="0">
                <a:solidFill>
                  <a:srgbClr val="FFC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【</a:t>
            </a:r>
            <a:r>
              <a:rPr lang="zh-CN" altLang="en-US" dirty="0">
                <a:solidFill>
                  <a:srgbClr val="FFC000"/>
                </a:solidFill>
              </a:rPr>
              <a:t>对</a:t>
            </a:r>
            <a:r>
              <a:rPr lang="en-US" altLang="zh-CN" dirty="0">
                <a:solidFill>
                  <a:srgbClr val="FFC000"/>
                </a:solidFill>
              </a:rPr>
              <a:t>x</a:t>
            </a:r>
            <a:r>
              <a:rPr lang="zh-CN" altLang="en-US" dirty="0">
                <a:solidFill>
                  <a:srgbClr val="FFC000"/>
                </a:solidFill>
              </a:rPr>
              <a:t>的偏导</a:t>
            </a:r>
            <a:r>
              <a:rPr lang="en-US" altLang="zh-CN" dirty="0">
                <a:solidFill>
                  <a:srgbClr val="FFC000"/>
                </a:solidFill>
              </a:rPr>
              <a:t>=</a:t>
            </a:r>
            <a:r>
              <a:rPr lang="zh-CN" altLang="en-US" dirty="0">
                <a:solidFill>
                  <a:srgbClr val="FFC000"/>
                </a:solidFill>
              </a:rPr>
              <a:t>沿</a:t>
            </a:r>
            <a:r>
              <a:rPr lang="en-US" altLang="zh-CN" dirty="0">
                <a:solidFill>
                  <a:srgbClr val="FFC000"/>
                </a:solidFill>
              </a:rPr>
              <a:t>x</a:t>
            </a:r>
            <a:r>
              <a:rPr lang="zh-CN" altLang="en-US" dirty="0">
                <a:solidFill>
                  <a:srgbClr val="FFC000"/>
                </a:solidFill>
              </a:rPr>
              <a:t>轴方向的方向导数</a:t>
            </a:r>
            <a:r>
              <a:rPr lang="en-US" altLang="zh-CN" dirty="0">
                <a:solidFill>
                  <a:srgbClr val="FFC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】</a:t>
            </a:r>
            <a:endParaRPr lang="zh-CN" altLang="en-US" dirty="0">
              <a:solidFill>
                <a:srgbClr val="FFC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226" name="Rectangle 2"/>
          <p:cNvSpPr/>
          <p:nvPr/>
        </p:nvSpPr>
        <p:spPr>
          <a:xfrm>
            <a:off x="250825" y="593725"/>
            <a:ext cx="6842125" cy="50482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285750" indent="-285750"/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3. 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方向导数的计算公式（直角坐标系中）</a:t>
            </a:r>
          </a:p>
        </p:txBody>
      </p:sp>
      <p:sp>
        <p:nvSpPr>
          <p:cNvPr id="692243" name="Text Box 19"/>
          <p:cNvSpPr txBox="1"/>
          <p:nvPr/>
        </p:nvSpPr>
        <p:spPr>
          <a:xfrm>
            <a:off x="539750" y="1398541"/>
            <a:ext cx="2016472" cy="40011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由全微分方程</a:t>
            </a:r>
            <a:endParaRPr lang="zh-CN" altLang="en-US" sz="2000" dirty="0">
              <a:solidFill>
                <a:schemeClr val="bg1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grpSp>
        <p:nvGrpSpPr>
          <p:cNvPr id="692244" name="Group 20"/>
          <p:cNvGrpSpPr/>
          <p:nvPr/>
        </p:nvGrpSpPr>
        <p:grpSpPr>
          <a:xfrm>
            <a:off x="-323850" y="4454223"/>
            <a:ext cx="7200900" cy="673098"/>
            <a:chOff x="294" y="1192"/>
            <a:chExt cx="4536" cy="424"/>
          </a:xfrm>
        </p:grpSpPr>
        <p:sp>
          <p:nvSpPr>
            <p:cNvPr id="55300" name="Text Box 21"/>
            <p:cNvSpPr txBox="1"/>
            <p:nvPr/>
          </p:nvSpPr>
          <p:spPr>
            <a:xfrm>
              <a:off x="2766" y="1327"/>
              <a:ext cx="206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rPr>
                <a:t>——</a:t>
              </a:r>
              <a:r>
                <a:rPr lang="en-US" altLang="zh-CN" dirty="0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rPr>
                <a:t>       </a:t>
              </a:r>
              <a:r>
                <a:rPr lang="zh-CN" altLang="en-US" dirty="0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rPr>
                <a:t>的方向余弦。</a:t>
              </a:r>
              <a:r>
                <a:rPr lang="zh-CN" altLang="en-US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</a:t>
              </a:r>
            </a:p>
          </p:txBody>
        </p:sp>
        <p:graphicFrame>
          <p:nvGraphicFramePr>
            <p:cNvPr id="55301" name="Object 2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38860591"/>
                </p:ext>
              </p:extLst>
            </p:nvPr>
          </p:nvGraphicFramePr>
          <p:xfrm>
            <a:off x="3265" y="1327"/>
            <a:ext cx="288" cy="2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148590" imgH="148590" progId="Equation.3">
                    <p:embed/>
                  </p:oleObj>
                </mc:Choice>
                <mc:Fallback>
                  <p:oleObj r:id="rId3" imgW="148590" imgH="148590" progId="Equation.3">
                    <p:embed/>
                    <p:pic>
                      <p:nvPicPr>
                        <p:cNvPr id="0" name="图片 3174"/>
                        <p:cNvPicPr/>
                        <p:nvPr/>
                      </p:nvPicPr>
                      <p:blipFill>
                        <a:blip r:embed="rId4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265" y="1327"/>
                          <a:ext cx="288" cy="28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5302" name="Text Box 23"/>
            <p:cNvSpPr txBox="1"/>
            <p:nvPr/>
          </p:nvSpPr>
          <p:spPr>
            <a:xfrm>
              <a:off x="294" y="1192"/>
              <a:ext cx="206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endParaRPr lang="zh-CN" altLang="zh-CN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aphicFrame>
          <p:nvGraphicFramePr>
            <p:cNvPr id="55303" name="Object 2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77901393"/>
                </p:ext>
              </p:extLst>
            </p:nvPr>
          </p:nvGraphicFramePr>
          <p:xfrm>
            <a:off x="839" y="1344"/>
            <a:ext cx="1996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1041400" imgH="137795" progId="Equation.DSMT4">
                    <p:embed/>
                  </p:oleObj>
                </mc:Choice>
                <mc:Fallback>
                  <p:oleObj r:id="rId5" imgW="1041400" imgH="137795" progId="Equation.DSMT4">
                    <p:embed/>
                    <p:pic>
                      <p:nvPicPr>
                        <p:cNvPr id="0" name="图片 3173"/>
                        <p:cNvPicPr/>
                        <p:nvPr/>
                      </p:nvPicPr>
                      <p:blipFill>
                        <a:blip r:embed="rId6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839" y="1344"/>
                          <a:ext cx="1996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5304" name="AutoShape 25">
            <a:hlinkClick r:id="rId7" action="ppaction://hlinksldjump"/>
          </p:cNvPr>
          <p:cNvSpPr/>
          <p:nvPr/>
        </p:nvSpPr>
        <p:spPr>
          <a:xfrm>
            <a:off x="7537450" y="670560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55305" name="AutoShape 26">
            <a:hlinkClick r:id="" action="ppaction://hlinkshowjump?jump=previousslide"/>
          </p:cNvPr>
          <p:cNvSpPr/>
          <p:nvPr/>
        </p:nvSpPr>
        <p:spPr>
          <a:xfrm>
            <a:off x="7954963" y="66992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55306" name="AutoShape 27">
            <a:hlinkClick r:id="" action="ppaction://hlinkshowjump?jump=nextslide"/>
          </p:cNvPr>
          <p:cNvSpPr/>
          <p:nvPr/>
        </p:nvSpPr>
        <p:spPr>
          <a:xfrm>
            <a:off x="8372475" y="670560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55307" name="AutoShape 28">
            <a:hlinkClick r:id="" action="ppaction://hlinkshowjump?jump=lastslide"/>
          </p:cNvPr>
          <p:cNvSpPr/>
          <p:nvPr/>
        </p:nvSpPr>
        <p:spPr>
          <a:xfrm>
            <a:off x="8763000" y="6705600"/>
            <a:ext cx="360363" cy="252413"/>
          </a:xfrm>
          <a:prstGeom prst="actionButtonEnd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grpSp>
        <p:nvGrpSpPr>
          <p:cNvPr id="692259" name="Group 35"/>
          <p:cNvGrpSpPr/>
          <p:nvPr/>
        </p:nvGrpSpPr>
        <p:grpSpPr>
          <a:xfrm>
            <a:off x="1764506" y="1229484"/>
            <a:ext cx="5953125" cy="2516188"/>
            <a:chOff x="249" y="928"/>
            <a:chExt cx="3449" cy="1449"/>
          </a:xfrm>
        </p:grpSpPr>
        <p:graphicFrame>
          <p:nvGraphicFramePr>
            <p:cNvPr id="55309" name="Object 36"/>
            <p:cNvGraphicFramePr>
              <a:graphicFrameLocks noChangeAspect="1"/>
            </p:cNvGraphicFramePr>
            <p:nvPr/>
          </p:nvGraphicFramePr>
          <p:xfrm>
            <a:off x="507" y="928"/>
            <a:ext cx="3191" cy="14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" imgW="2043430" imgH="1096010" progId="Equation.3">
                    <p:embed/>
                  </p:oleObj>
                </mc:Choice>
                <mc:Fallback>
                  <p:oleObj r:id="rId8" imgW="2043430" imgH="1096010" progId="Equation.3">
                    <p:embed/>
                    <p:pic>
                      <p:nvPicPr>
                        <p:cNvPr id="0" name="图片 3178"/>
                        <p:cNvPicPr/>
                        <p:nvPr/>
                      </p:nvPicPr>
                      <p:blipFill>
                        <a:blip r:embed="rId9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507" y="928"/>
                          <a:ext cx="3191" cy="144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5310" name="Rectangle 37"/>
            <p:cNvSpPr/>
            <p:nvPr/>
          </p:nvSpPr>
          <p:spPr>
            <a:xfrm>
              <a:off x="249" y="1480"/>
              <a:ext cx="1951" cy="27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lstStyle/>
            <a:p>
              <a:pPr marL="381000" indent="-381000"/>
              <a:endParaRPr lang="zh-CN" altLang="zh-CN" b="0" dirty="0">
                <a:solidFill>
                  <a:srgbClr val="FFB7B7"/>
                </a:solidFill>
                <a:latin typeface="Arial" panose="020B0604020202020204" pitchFamily="34" charset="0"/>
                <a:ea typeface="幼圆" panose="02010509060101010101" pitchFamily="49" charset="-122"/>
              </a:endParaRPr>
            </a:p>
          </p:txBody>
        </p:sp>
      </p:grpSp>
      <p:graphicFrame>
        <p:nvGraphicFramePr>
          <p:cNvPr id="38929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4138797"/>
              </p:ext>
            </p:extLst>
          </p:nvPr>
        </p:nvGraphicFramePr>
        <p:xfrm>
          <a:off x="539750" y="5198765"/>
          <a:ext cx="6264275" cy="1398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2545080" imgH="550545" progId="Equation.3">
                  <p:embed/>
                </p:oleObj>
              </mc:Choice>
              <mc:Fallback>
                <p:oleObj r:id="rId10" imgW="2545080" imgH="550545" progId="Equation.3">
                  <p:embed/>
                  <p:pic>
                    <p:nvPicPr>
                      <p:cNvPr id="0" name="图片 3176"/>
                      <p:cNvPicPr/>
                      <p:nvPr/>
                    </p:nvPicPr>
                    <p:blipFill>
                      <a:blip r:embed="rId11">
                        <a:clrChange>
                          <a:clrFrom>
                            <a:srgbClr val="000000"/>
                          </a:clrFrom>
                          <a:clrTo>
                            <a:srgbClr val="EA162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39750" y="5198765"/>
                        <a:ext cx="6264275" cy="13985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Box 19">
            <a:extLst>
              <a:ext uri="{FF2B5EF4-FFF2-40B4-BE49-F238E27FC236}">
                <a16:creationId xmlns:a16="http://schemas.microsoft.com/office/drawing/2014/main" id="{A01013F0-9822-A45D-5B00-C8E1A176784F}"/>
              </a:ext>
            </a:extLst>
          </p:cNvPr>
          <p:cNvSpPr txBox="1"/>
          <p:nvPr/>
        </p:nvSpPr>
        <p:spPr>
          <a:xfrm>
            <a:off x="827584" y="2977890"/>
            <a:ext cx="1691680" cy="707886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dirty="0">
                <a:solidFill>
                  <a:srgbClr val="FFC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方向导数的计算式一</a:t>
            </a:r>
            <a:r>
              <a:rPr lang="zh-CN" altLang="en-US" sz="2000" dirty="0">
                <a:solidFill>
                  <a:srgbClr val="FFC000"/>
                </a:solidFill>
                <a:latin typeface="楷体_GB2312" pitchFamily="49" charset="-122"/>
                <a:ea typeface="楷体_GB2312" pitchFamily="49" charset="-122"/>
              </a:rPr>
              <a:t>：</a:t>
            </a:r>
            <a:endParaRPr lang="zh-CN" altLang="en-US" sz="2000" dirty="0">
              <a:solidFill>
                <a:srgbClr val="FFC00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3" name="Text Box 19">
            <a:extLst>
              <a:ext uri="{FF2B5EF4-FFF2-40B4-BE49-F238E27FC236}">
                <a16:creationId xmlns:a16="http://schemas.microsoft.com/office/drawing/2014/main" id="{98C1CAD5-72E4-7E6F-11AE-585B69DBA476}"/>
              </a:ext>
            </a:extLst>
          </p:cNvPr>
          <p:cNvSpPr txBox="1"/>
          <p:nvPr/>
        </p:nvSpPr>
        <p:spPr>
          <a:xfrm>
            <a:off x="6804025" y="5519509"/>
            <a:ext cx="2232471" cy="707886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dirty="0">
                <a:solidFill>
                  <a:srgbClr val="FFC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方向导数的计算式二（已知梯度时）</a:t>
            </a:r>
            <a:endParaRPr lang="zh-CN" altLang="en-US" sz="2000" dirty="0">
              <a:solidFill>
                <a:srgbClr val="FFC00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4" name="Text Box 19">
            <a:extLst>
              <a:ext uri="{FF2B5EF4-FFF2-40B4-BE49-F238E27FC236}">
                <a16:creationId xmlns:a16="http://schemas.microsoft.com/office/drawing/2014/main" id="{0D8881AE-EB3A-BA0E-91DD-35891623E1D3}"/>
              </a:ext>
            </a:extLst>
          </p:cNvPr>
          <p:cNvSpPr txBox="1"/>
          <p:nvPr/>
        </p:nvSpPr>
        <p:spPr>
          <a:xfrm>
            <a:off x="1511028" y="2218330"/>
            <a:ext cx="2016472" cy="40011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可得，</a:t>
            </a:r>
            <a:endParaRPr lang="zh-CN" altLang="en-US" sz="2000" dirty="0">
              <a:solidFill>
                <a:schemeClr val="bg1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312884C-6872-43D8-E4F3-4C79DBF10D1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53984" y="3801010"/>
            <a:ext cx="3537268" cy="839174"/>
          </a:xfrm>
          <a:prstGeom prst="rect">
            <a:avLst/>
          </a:prstGeom>
          <a:solidFill>
            <a:schemeClr val="accent1"/>
          </a:solidFill>
          <a:ln w="19050">
            <a:solidFill>
              <a:srgbClr val="FF0000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838" name="Group 38"/>
          <p:cNvGrpSpPr/>
          <p:nvPr/>
        </p:nvGrpSpPr>
        <p:grpSpPr>
          <a:xfrm>
            <a:off x="250825" y="466725"/>
            <a:ext cx="6769447" cy="468313"/>
            <a:chOff x="158" y="355"/>
            <a:chExt cx="3870" cy="295"/>
          </a:xfrm>
        </p:grpSpPr>
        <p:sp>
          <p:nvSpPr>
            <p:cNvPr id="57346" name="Rectangle 8"/>
            <p:cNvSpPr/>
            <p:nvPr/>
          </p:nvSpPr>
          <p:spPr>
            <a:xfrm>
              <a:off x="158" y="355"/>
              <a:ext cx="3870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CN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4.   </a:t>
              </a:r>
              <a:r>
                <a:rPr lang="zh-CN" altLang="en-US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标量场的梯度</a:t>
              </a:r>
              <a:r>
                <a:rPr lang="zh-CN" altLang="en-US" dirty="0">
                  <a:solidFill>
                    <a:schemeClr val="bg1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（            </a:t>
              </a:r>
              <a:r>
                <a:rPr lang="zh-CN" altLang="en-US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或</a:t>
              </a:r>
              <a:r>
                <a:rPr lang="zh-CN" altLang="en-US" dirty="0">
                  <a:solidFill>
                    <a:schemeClr val="bg1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       ）</a:t>
              </a:r>
              <a:r>
                <a:rPr lang="zh-CN" altLang="en-US" dirty="0">
                  <a:solidFill>
                    <a:srgbClr val="FF00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（是矢量）</a:t>
              </a:r>
            </a:p>
          </p:txBody>
        </p:sp>
        <p:graphicFrame>
          <p:nvGraphicFramePr>
            <p:cNvPr id="57347" name="Object 2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11205404"/>
                </p:ext>
              </p:extLst>
            </p:nvPr>
          </p:nvGraphicFramePr>
          <p:xfrm>
            <a:off x="1706" y="378"/>
            <a:ext cx="525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302895" imgH="137795" progId="Equation.DSMT4">
                    <p:embed/>
                  </p:oleObj>
                </mc:Choice>
                <mc:Fallback>
                  <p:oleObj r:id="rId3" imgW="302895" imgH="137795" progId="Equation.DSMT4">
                    <p:embed/>
                    <p:pic>
                      <p:nvPicPr>
                        <p:cNvPr id="0" name="图片 3179"/>
                        <p:cNvPicPr/>
                        <p:nvPr/>
                      </p:nvPicPr>
                      <p:blipFill>
                        <a:blip r:embed="rId4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706" y="378"/>
                          <a:ext cx="525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7348" name="Object 3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09017454"/>
                </p:ext>
              </p:extLst>
            </p:nvPr>
          </p:nvGraphicFramePr>
          <p:xfrm>
            <a:off x="2381" y="399"/>
            <a:ext cx="322" cy="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170815" imgH="115570" progId="Equation.DSMT4">
                    <p:embed/>
                  </p:oleObj>
                </mc:Choice>
                <mc:Fallback>
                  <p:oleObj r:id="rId5" imgW="170815" imgH="115570" progId="Equation.DSMT4">
                    <p:embed/>
                    <p:pic>
                      <p:nvPicPr>
                        <p:cNvPr id="0" name="图片 3175"/>
                        <p:cNvPicPr/>
                        <p:nvPr/>
                      </p:nvPicPr>
                      <p:blipFill>
                        <a:blip r:embed="rId6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381" y="399"/>
                          <a:ext cx="322" cy="23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04831" name="Rectangle 31"/>
          <p:cNvSpPr/>
          <p:nvPr/>
        </p:nvSpPr>
        <p:spPr>
          <a:xfrm>
            <a:off x="0" y="5876925"/>
            <a:ext cx="9144000" cy="5762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>
              <a:lnSpc>
                <a:spcPct val="140000"/>
              </a:lnSpc>
            </a:pPr>
            <a:r>
              <a:rPr lang="zh-CN" altLang="en-US" dirty="0">
                <a:solidFill>
                  <a:srgbClr val="FFB7B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意义</a:t>
            </a:r>
            <a:r>
              <a:rPr lang="zh-CN" altLang="en-US" dirty="0">
                <a:solidFill>
                  <a:srgbClr val="FFB7B7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：</a:t>
            </a: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梯度</a:t>
            </a:r>
            <a:r>
              <a:rPr lang="zh-CN" altLang="en-US" dirty="0">
                <a:solidFill>
                  <a:schemeClr val="bg1"/>
                </a:solidFill>
                <a:latin typeface="幼圆" panose="02010509060101010101" pitchFamily="49" charset="-122"/>
                <a:ea typeface="楷体_GB2312" pitchFamily="49" charset="-122"/>
              </a:rPr>
              <a:t>描述标量</a:t>
            </a: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场在某点的最大变化率及其变化最大的方向。</a:t>
            </a:r>
          </a:p>
        </p:txBody>
      </p:sp>
      <p:sp>
        <p:nvSpPr>
          <p:cNvPr id="57350" name="AutoShape 39">
            <a:hlinkClick r:id="rId7" action="ppaction://hlinksldjump"/>
          </p:cNvPr>
          <p:cNvSpPr/>
          <p:nvPr/>
        </p:nvSpPr>
        <p:spPr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57351" name="AutoShape 40">
            <a:hlinkClick r:id="" action="ppaction://hlinkshowjump?jump=previousslide"/>
          </p:cNvPr>
          <p:cNvSpPr/>
          <p:nvPr/>
        </p:nvSpPr>
        <p:spPr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57352" name="AutoShape 41">
            <a:hlinkClick r:id="" action="ppaction://hlinkshowjump?jump=nextslide"/>
          </p:cNvPr>
          <p:cNvSpPr/>
          <p:nvPr/>
        </p:nvSpPr>
        <p:spPr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57353" name="AutoShape 42">
            <a:hlinkClick r:id="" action="ppaction://hlinkshowjump?jump=lastslide"/>
          </p:cNvPr>
          <p:cNvSpPr/>
          <p:nvPr/>
        </p:nvSpPr>
        <p:spPr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graphicFrame>
        <p:nvGraphicFramePr>
          <p:cNvPr id="204843" name="Object 43"/>
          <p:cNvGraphicFramePr>
            <a:graphicFrameLocks noGrp="1" noChangeAspect="1"/>
          </p:cNvGraphicFramePr>
          <p:nvPr>
            <p:ph/>
            <p:extLst>
              <p:ext uri="{D42A27DB-BD31-4B8C-83A1-F6EECF244321}">
                <p14:modId xmlns:p14="http://schemas.microsoft.com/office/powerpoint/2010/main" val="1514363175"/>
              </p:ext>
            </p:extLst>
          </p:nvPr>
        </p:nvGraphicFramePr>
        <p:xfrm>
          <a:off x="2832322" y="4278462"/>
          <a:ext cx="6329362" cy="169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2985770" imgH="782320" progId="Equation.3">
                  <p:embed/>
                </p:oleObj>
              </mc:Choice>
              <mc:Fallback>
                <p:oleObj r:id="rId8" imgW="2985770" imgH="782320" progId="Equation.3">
                  <p:embed/>
                  <p:pic>
                    <p:nvPicPr>
                      <p:cNvPr id="0" name="图片 3177"/>
                      <p:cNvPicPr/>
                      <p:nvPr/>
                    </p:nvPicPr>
                    <p:blipFill>
                      <a:blip r:embed="rId9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832322" y="4278462"/>
                        <a:ext cx="6329362" cy="1692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46" name="Object 46"/>
          <p:cNvGraphicFramePr>
            <a:graphicFrameLocks noChangeAspect="1"/>
          </p:cNvGraphicFramePr>
          <p:nvPr/>
        </p:nvGraphicFramePr>
        <p:xfrm>
          <a:off x="9640888" y="3370263"/>
          <a:ext cx="231775" cy="43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60325" imgH="148590" progId="Equation.3">
                  <p:embed/>
                </p:oleObj>
              </mc:Choice>
              <mc:Fallback>
                <p:oleObj r:id="rId10" imgW="60325" imgH="148590" progId="Equation.3">
                  <p:embed/>
                  <p:pic>
                    <p:nvPicPr>
                      <p:cNvPr id="0" name="图片 3190"/>
                      <p:cNvPicPr/>
                      <p:nvPr/>
                    </p:nvPicPr>
                    <p:blipFill>
                      <a:blip r:embed="rId11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640888" y="3370263"/>
                        <a:ext cx="231775" cy="4365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58" name="Text Box 58"/>
          <p:cNvSpPr txBox="1"/>
          <p:nvPr/>
        </p:nvSpPr>
        <p:spPr>
          <a:xfrm>
            <a:off x="-17241" y="887263"/>
            <a:ext cx="9178925" cy="8223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rgbClr val="FFB7B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引入</a:t>
            </a:r>
            <a:r>
              <a:rPr lang="zh-CN" altLang="en-US" dirty="0">
                <a:solidFill>
                  <a:srgbClr val="FFB7B7"/>
                </a:solidFill>
                <a:latin typeface="楷体_GB2312" pitchFamily="49" charset="-122"/>
                <a:ea typeface="楷体_GB2312" pitchFamily="49" charset="-122"/>
              </a:rPr>
              <a:t>：</a:t>
            </a: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标量场中，从一个给定点出发有无穷多个方向，所以标量场在同一点</a:t>
            </a:r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M</a:t>
            </a:r>
            <a:r>
              <a:rPr lang="en-US" altLang="zh-CN" baseline="-25000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0</a:t>
            </a: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处沿不同方向的变化率是不同的</a:t>
            </a:r>
            <a:r>
              <a:rPr lang="zh-CN" altLang="en-US" dirty="0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。    </a:t>
            </a:r>
          </a:p>
        </p:txBody>
      </p:sp>
      <p:sp>
        <p:nvSpPr>
          <p:cNvPr id="204859" name="Text Box 59"/>
          <p:cNvSpPr txBox="1"/>
          <p:nvPr/>
        </p:nvSpPr>
        <p:spPr>
          <a:xfrm>
            <a:off x="0" y="1727631"/>
            <a:ext cx="9072563" cy="1015663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rgbClr val="FFB7B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问题</a:t>
            </a:r>
            <a:r>
              <a:rPr lang="zh-CN" altLang="en-US" dirty="0">
                <a:solidFill>
                  <a:srgbClr val="FFB7B7"/>
                </a:solidFill>
                <a:latin typeface="楷体_GB2312" pitchFamily="49" charset="-122"/>
                <a:ea typeface="楷体_GB2312" pitchFamily="49" charset="-122"/>
              </a:rPr>
              <a:t>：</a:t>
            </a: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在什么方向上</a:t>
            </a: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</a:rPr>
              <a:t>变化率</a:t>
            </a: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最大</a:t>
            </a: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</a:rPr>
              <a:t>（</a:t>
            </a: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方向导数可取到</a:t>
            </a:r>
            <a:r>
              <a:rPr lang="en-US" altLang="zh-CN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max</a:t>
            </a: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值） ？</a:t>
            </a:r>
            <a:endParaRPr lang="en-US" altLang="zh-CN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dirty="0">
                <a:solidFill>
                  <a:schemeClr val="bg1"/>
                </a:solidFill>
                <a:latin typeface="楷体_GB2312" pitchFamily="49" charset="-122"/>
              </a:rPr>
              <a:t>          </a:t>
            </a: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方向导数</a:t>
            </a:r>
            <a:r>
              <a:rPr lang="en-US" altLang="zh-CN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max= </a:t>
            </a: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？</a:t>
            </a:r>
            <a:endParaRPr lang="zh-CN" altLang="en-US" dirty="0">
              <a:solidFill>
                <a:schemeClr val="bg1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204860" name="Text Box 60"/>
          <p:cNvSpPr txBox="1"/>
          <p:nvPr/>
        </p:nvSpPr>
        <p:spPr>
          <a:xfrm>
            <a:off x="34925" y="2708275"/>
            <a:ext cx="1223963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rgbClr val="FFB7B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定义式</a:t>
            </a:r>
            <a:r>
              <a:rPr lang="zh-CN" altLang="en-US" dirty="0">
                <a:solidFill>
                  <a:srgbClr val="FFB7B7"/>
                </a:solidFill>
                <a:latin typeface="楷体_GB2312" pitchFamily="49" charset="-122"/>
                <a:ea typeface="楷体_GB2312" pitchFamily="49" charset="-122"/>
              </a:rPr>
              <a:t>：</a:t>
            </a:r>
            <a:endParaRPr lang="zh-CN" altLang="en-US" dirty="0">
              <a:solidFill>
                <a:schemeClr val="bg1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graphicFrame>
        <p:nvGraphicFramePr>
          <p:cNvPr id="204861" name="Object 61"/>
          <p:cNvGraphicFramePr>
            <a:graphicFrameLocks noChangeAspect="1"/>
          </p:cNvGraphicFramePr>
          <p:nvPr/>
        </p:nvGraphicFramePr>
        <p:xfrm>
          <a:off x="1296988" y="2619375"/>
          <a:ext cx="1662112" cy="849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749300" imgH="363855" progId="Equation.3">
                  <p:embed/>
                </p:oleObj>
              </mc:Choice>
              <mc:Fallback>
                <p:oleObj r:id="rId12" imgW="749300" imgH="363855" progId="Equation.3">
                  <p:embed/>
                  <p:pic>
                    <p:nvPicPr>
                      <p:cNvPr id="0" name="图片 3198"/>
                      <p:cNvPicPr/>
                      <p:nvPr/>
                    </p:nvPicPr>
                    <p:blipFill>
                      <a:blip r:embed="rId13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296988" y="2619375"/>
                        <a:ext cx="1662112" cy="8493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62" name="Object 6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3869166"/>
              </p:ext>
            </p:extLst>
          </p:nvPr>
        </p:nvGraphicFramePr>
        <p:xfrm>
          <a:off x="3770152" y="2721655"/>
          <a:ext cx="34925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121285" imgH="176530" progId="Equation.3">
                  <p:embed/>
                </p:oleObj>
              </mc:Choice>
              <mc:Fallback>
                <p:oleObj r:id="rId14" imgW="121285" imgH="176530" progId="Equation.3">
                  <p:embed/>
                  <p:pic>
                    <p:nvPicPr>
                      <p:cNvPr id="0" name="图片 3195"/>
                      <p:cNvPicPr/>
                      <p:nvPr/>
                    </p:nvPicPr>
                    <p:blipFill>
                      <a:blip r:embed="rId15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770152" y="2721655"/>
                        <a:ext cx="349250" cy="454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63" name="Object 6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8959911"/>
              </p:ext>
            </p:extLst>
          </p:nvPr>
        </p:nvGraphicFramePr>
        <p:xfrm>
          <a:off x="4702567" y="2657061"/>
          <a:ext cx="417513" cy="719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6" imgW="160020" imgH="302895" progId="Equation.3">
                  <p:embed/>
                </p:oleObj>
              </mc:Choice>
              <mc:Fallback>
                <p:oleObj r:id="rId16" imgW="160020" imgH="302895" progId="Equation.3">
                  <p:embed/>
                  <p:pic>
                    <p:nvPicPr>
                      <p:cNvPr id="0" name="图片 3199"/>
                      <p:cNvPicPr/>
                      <p:nvPr/>
                    </p:nvPicPr>
                    <p:blipFill>
                      <a:blip r:embed="rId17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702567" y="2657061"/>
                        <a:ext cx="417513" cy="7191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64" name="Text Box 64"/>
          <p:cNvSpPr txBox="1"/>
          <p:nvPr/>
        </p:nvSpPr>
        <p:spPr>
          <a:xfrm>
            <a:off x="2651385" y="2728655"/>
            <a:ext cx="5663940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（其中：  是沿    变化最大的方向</a:t>
            </a:r>
            <a:r>
              <a:rPr lang="en-US" altLang="zh-CN" dirty="0">
                <a:solidFill>
                  <a:srgbClr val="FF9900"/>
                </a:solidFill>
                <a:latin typeface="楷体_GB2312" pitchFamily="49" charset="-122"/>
                <a:ea typeface="楷体_GB2312" pitchFamily="49" charset="-122"/>
              </a:rPr>
              <a:t>/</a:t>
            </a:r>
            <a:r>
              <a:rPr lang="zh-CN" altLang="en-US" dirty="0">
                <a:solidFill>
                  <a:srgbClr val="FF9900"/>
                </a:solidFill>
                <a:latin typeface="楷体_GB2312" pitchFamily="49" charset="-122"/>
                <a:ea typeface="楷体_GB2312" pitchFamily="49" charset="-122"/>
              </a:rPr>
              <a:t>法向）</a:t>
            </a:r>
            <a:endParaRPr lang="zh-CN" altLang="en-US" dirty="0">
              <a:solidFill>
                <a:schemeClr val="bg1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graphicFrame>
        <p:nvGraphicFramePr>
          <p:cNvPr id="2" name="Object 43"/>
          <p:cNvGraphicFramePr>
            <a:graphicFrameLocks noChangeAspect="1"/>
          </p:cNvGraphicFramePr>
          <p:nvPr/>
        </p:nvGraphicFramePr>
        <p:xfrm>
          <a:off x="2894013" y="3357563"/>
          <a:ext cx="4383087" cy="811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8" imgW="2059940" imgH="363855" progId="Equation.3">
                  <p:embed/>
                </p:oleObj>
              </mc:Choice>
              <mc:Fallback>
                <p:oleObj r:id="rId18" imgW="2059940" imgH="363855" progId="Equation.3">
                  <p:embed/>
                  <p:pic>
                    <p:nvPicPr>
                      <p:cNvPr id="0" name="图片 3197"/>
                      <p:cNvPicPr/>
                      <p:nvPr/>
                    </p:nvPicPr>
                    <p:blipFill>
                      <a:blip r:embed="rId19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894013" y="3357563"/>
                        <a:ext cx="4383087" cy="8112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图片 3">
            <a:extLst>
              <a:ext uri="{FF2B5EF4-FFF2-40B4-BE49-F238E27FC236}">
                <a16:creationId xmlns:a16="http://schemas.microsoft.com/office/drawing/2014/main" id="{96F161FA-D409-8B1E-DD34-CF59847A986F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0" y="3549501"/>
            <a:ext cx="2874831" cy="215612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578E20B7-FBD7-2E0C-1C50-FCF67E62D1C6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635121" y="5039992"/>
            <a:ext cx="1474707" cy="91254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4" name="Rectangle 6"/>
          <p:cNvSpPr/>
          <p:nvPr/>
        </p:nvSpPr>
        <p:spPr>
          <a:xfrm>
            <a:off x="250825" y="3284538"/>
            <a:ext cx="8642350" cy="194468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476250" indent="-476250">
              <a:lnSpc>
                <a:spcPct val="130000"/>
              </a:lnSpc>
              <a:spcBef>
                <a:spcPct val="0"/>
              </a:spcBef>
              <a:buChar char="•"/>
            </a:pP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标量场的梯度是矢量场，它在空间某点的方向表示该点场变化最大（增大）的方向，其数值表示变化最大方向上场的空间变化率。</a:t>
            </a:r>
            <a:endParaRPr lang="zh-CN" altLang="en-US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206860" name="Object 12"/>
          <p:cNvGraphicFramePr>
            <a:graphicFrameLocks noChangeAspect="1"/>
          </p:cNvGraphicFramePr>
          <p:nvPr/>
        </p:nvGraphicFramePr>
        <p:xfrm>
          <a:off x="2484438" y="549275"/>
          <a:ext cx="2898775" cy="2035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6696075" imgH="3838575" progId="MSPhotoEd.3">
                  <p:embed/>
                </p:oleObj>
              </mc:Choice>
              <mc:Fallback>
                <p:oleObj r:id="rId3" imgW="6696075" imgH="3838575" progId="MSPhotoEd.3">
                  <p:embed/>
                  <p:pic>
                    <p:nvPicPr>
                      <p:cNvPr id="0" name="图片 3196"/>
                      <p:cNvPicPr/>
                      <p:nvPr/>
                    </p:nvPicPr>
                    <p:blipFill>
                      <a:blip r:embed="rId4">
                        <a:biLevel thresh="50000"/>
                        <a:grayscl/>
                        <a:lum bright="-12000" contrast="41999"/>
                      </a:blip>
                      <a:stretch>
                        <a:fillRect/>
                      </a:stretch>
                    </p:blipFill>
                    <p:spPr>
                      <a:xfrm>
                        <a:off x="2484438" y="549275"/>
                        <a:ext cx="2898775" cy="2035175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6862" name="Rectangle 14"/>
          <p:cNvSpPr/>
          <p:nvPr/>
        </p:nvSpPr>
        <p:spPr>
          <a:xfrm>
            <a:off x="252413" y="476250"/>
            <a:ext cx="2447925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marL="342900" indent="-342900"/>
            <a:r>
              <a:rPr lang="zh-CN" altLang="en-US" dirty="0">
                <a:solidFill>
                  <a:srgbClr val="FFB7B7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梯度的性质</a:t>
            </a:r>
            <a:r>
              <a:rPr lang="zh-CN" altLang="en-US" dirty="0">
                <a:solidFill>
                  <a:srgbClr val="FFB7B7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：</a:t>
            </a:r>
          </a:p>
        </p:txBody>
      </p:sp>
      <p:sp>
        <p:nvSpPr>
          <p:cNvPr id="206865" name="Rectangle 17"/>
          <p:cNvSpPr/>
          <p:nvPr/>
        </p:nvSpPr>
        <p:spPr>
          <a:xfrm>
            <a:off x="250825" y="2636838"/>
            <a:ext cx="7848600" cy="6032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476250" indent="-476250">
              <a:lnSpc>
                <a:spcPct val="130000"/>
              </a:lnSpc>
              <a:spcBef>
                <a:spcPct val="0"/>
              </a:spcBef>
              <a:buChar char="•"/>
            </a:pP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标量场的梯度垂直于通过该点的等值面（或切平面）。</a:t>
            </a:r>
          </a:p>
        </p:txBody>
      </p:sp>
      <p:sp>
        <p:nvSpPr>
          <p:cNvPr id="59397" name="AutoShape 18">
            <a:hlinkClick r:id="rId5" action="ppaction://hlinksldjump"/>
          </p:cNvPr>
          <p:cNvSpPr/>
          <p:nvPr/>
        </p:nvSpPr>
        <p:spPr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59398" name="AutoShape 19">
            <a:hlinkClick r:id="" action="ppaction://hlinkshowjump?jump=previousslide"/>
          </p:cNvPr>
          <p:cNvSpPr/>
          <p:nvPr/>
        </p:nvSpPr>
        <p:spPr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59399" name="AutoShape 20">
            <a:hlinkClick r:id="" action="ppaction://hlinkshowjump?jump=nextslide"/>
          </p:cNvPr>
          <p:cNvSpPr/>
          <p:nvPr/>
        </p:nvSpPr>
        <p:spPr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59400" name="AutoShape 21">
            <a:hlinkClick r:id="" action="ppaction://hlinkshowjump?jump=lastslide"/>
          </p:cNvPr>
          <p:cNvSpPr/>
          <p:nvPr/>
        </p:nvSpPr>
        <p:spPr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graphicFrame>
        <p:nvGraphicFramePr>
          <p:cNvPr id="206878" name="Object 30"/>
          <p:cNvGraphicFramePr>
            <a:graphicFrameLocks noChangeAspect="1"/>
          </p:cNvGraphicFramePr>
          <p:nvPr/>
        </p:nvGraphicFramePr>
        <p:xfrm>
          <a:off x="2484438" y="4365625"/>
          <a:ext cx="1871662" cy="938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776605" imgH="368935" progId="Equation.3">
                  <p:embed/>
                </p:oleObj>
              </mc:Choice>
              <mc:Fallback>
                <p:oleObj r:id="rId6" imgW="776605" imgH="368935" progId="Equation.3">
                  <p:embed/>
                  <p:pic>
                    <p:nvPicPr>
                      <p:cNvPr id="0" name="图片 3201"/>
                      <p:cNvPicPr/>
                      <p:nvPr/>
                    </p:nvPicPr>
                    <p:blipFill>
                      <a:blip r:embed="rId7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484438" y="4365625"/>
                        <a:ext cx="1871662" cy="9382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6879" name="Rectangle 31"/>
          <p:cNvSpPr/>
          <p:nvPr/>
        </p:nvSpPr>
        <p:spPr>
          <a:xfrm>
            <a:off x="250825" y="5157788"/>
            <a:ext cx="8893175" cy="6032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476250" indent="-476250">
              <a:lnSpc>
                <a:spcPct val="130000"/>
              </a:lnSpc>
              <a:spcBef>
                <a:spcPct val="0"/>
              </a:spcBef>
              <a:buChar char="•"/>
            </a:pPr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  <a:ea typeface="楷体_GB2312" pitchFamily="49" charset="-122"/>
              </a:rPr>
              <a:t>标量场在某个方向上的方向导数，是梯度在该方向上的投影。</a:t>
            </a:r>
          </a:p>
        </p:txBody>
      </p:sp>
      <p:graphicFrame>
        <p:nvGraphicFramePr>
          <p:cNvPr id="206880" name="Object 32"/>
          <p:cNvGraphicFramePr>
            <a:graphicFrameLocks noChangeAspect="1"/>
          </p:cNvGraphicFramePr>
          <p:nvPr/>
        </p:nvGraphicFramePr>
        <p:xfrm>
          <a:off x="827088" y="5672138"/>
          <a:ext cx="1800225" cy="925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754380" imgH="368935" progId="Equation.3">
                  <p:embed/>
                </p:oleObj>
              </mc:Choice>
              <mc:Fallback>
                <p:oleObj r:id="rId8" imgW="754380" imgH="368935" progId="Equation.3">
                  <p:embed/>
                  <p:pic>
                    <p:nvPicPr>
                      <p:cNvPr id="0" name="图片 3205"/>
                      <p:cNvPicPr/>
                      <p:nvPr/>
                    </p:nvPicPr>
                    <p:blipFill>
                      <a:blip r:embed="rId9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827088" y="5672138"/>
                        <a:ext cx="1800225" cy="9255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Box 19">
            <a:extLst>
              <a:ext uri="{FF2B5EF4-FFF2-40B4-BE49-F238E27FC236}">
                <a16:creationId xmlns:a16="http://schemas.microsoft.com/office/drawing/2014/main" id="{28D66889-0A18-0E4B-54AF-65ECB81F1961}"/>
              </a:ext>
            </a:extLst>
          </p:cNvPr>
          <p:cNvSpPr txBox="1"/>
          <p:nvPr/>
        </p:nvSpPr>
        <p:spPr>
          <a:xfrm>
            <a:off x="2692128" y="5895946"/>
            <a:ext cx="2807766" cy="40011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dirty="0">
                <a:solidFill>
                  <a:srgbClr val="FFC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方向导数的计算式二</a:t>
            </a:r>
            <a:endParaRPr lang="zh-CN" altLang="en-US" sz="2000" dirty="0">
              <a:solidFill>
                <a:srgbClr val="FFC00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860" name="Rectangle 4"/>
          <p:cNvSpPr/>
          <p:nvPr/>
        </p:nvSpPr>
        <p:spPr>
          <a:xfrm>
            <a:off x="468313" y="2708275"/>
            <a:ext cx="3671887" cy="50482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42900" indent="-342900"/>
            <a:r>
              <a:rPr lang="zh-CN" altLang="en-US" dirty="0">
                <a:solidFill>
                  <a:srgbClr val="FFB7B7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梯度的计算式：</a:t>
            </a:r>
            <a:endParaRPr lang="zh-CN" altLang="en-US" b="0" dirty="0">
              <a:solidFill>
                <a:schemeClr val="bg1"/>
              </a:solidFill>
              <a:latin typeface="宋体" panose="02010600030101010101" pitchFamily="2" charset="-122"/>
              <a:ea typeface="幼圆" panose="02010509060101010101" pitchFamily="49" charset="-122"/>
            </a:endParaRPr>
          </a:p>
        </p:txBody>
      </p:sp>
      <p:grpSp>
        <p:nvGrpSpPr>
          <p:cNvPr id="633861" name="Group 5"/>
          <p:cNvGrpSpPr/>
          <p:nvPr/>
        </p:nvGrpSpPr>
        <p:grpSpPr>
          <a:xfrm>
            <a:off x="1547813" y="4305300"/>
            <a:ext cx="6048375" cy="923925"/>
            <a:chOff x="431" y="2767"/>
            <a:chExt cx="3766" cy="519"/>
          </a:xfrm>
        </p:grpSpPr>
        <p:graphicFrame>
          <p:nvGraphicFramePr>
            <p:cNvPr id="61443" name="Object 6"/>
            <p:cNvGraphicFramePr>
              <a:graphicFrameLocks noChangeAspect="1"/>
            </p:cNvGraphicFramePr>
            <p:nvPr/>
          </p:nvGraphicFramePr>
          <p:xfrm>
            <a:off x="1791" y="2767"/>
            <a:ext cx="2406" cy="5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1746250" imgH="380365" progId="Equation.3">
                    <p:embed/>
                  </p:oleObj>
                </mc:Choice>
                <mc:Fallback>
                  <p:oleObj r:id="rId2" imgW="1746250" imgH="380365" progId="Equation.3">
                    <p:embed/>
                    <p:pic>
                      <p:nvPicPr>
                        <p:cNvPr id="0" name="图片 3202"/>
                        <p:cNvPicPr/>
                        <p:nvPr/>
                      </p:nvPicPr>
                      <p:blipFill>
                        <a:blip r:embed="rId3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791" y="2767"/>
                          <a:ext cx="2406" cy="51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444" name="Rectangle 7"/>
            <p:cNvSpPr/>
            <p:nvPr/>
          </p:nvSpPr>
          <p:spPr>
            <a:xfrm>
              <a:off x="431" y="2878"/>
              <a:ext cx="1542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lstStyle/>
            <a:p>
              <a:pPr marL="342900" indent="-342900"/>
              <a:r>
                <a:rPr lang="zh-CN" altLang="en-US" dirty="0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rPr>
                <a:t>圆柱坐标系</a:t>
              </a:r>
              <a:r>
                <a:rPr lang="zh-CN" altLang="en-US" b="0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</a:t>
              </a:r>
            </a:p>
          </p:txBody>
        </p:sp>
      </p:grpSp>
      <p:grpSp>
        <p:nvGrpSpPr>
          <p:cNvPr id="633864" name="Group 8"/>
          <p:cNvGrpSpPr/>
          <p:nvPr/>
        </p:nvGrpSpPr>
        <p:grpSpPr>
          <a:xfrm>
            <a:off x="1546225" y="5588000"/>
            <a:ext cx="6697663" cy="865188"/>
            <a:chOff x="430" y="3394"/>
            <a:chExt cx="4134" cy="490"/>
          </a:xfrm>
        </p:grpSpPr>
        <p:graphicFrame>
          <p:nvGraphicFramePr>
            <p:cNvPr id="61446" name="Object 9"/>
            <p:cNvGraphicFramePr>
              <a:graphicFrameLocks noChangeAspect="1"/>
            </p:cNvGraphicFramePr>
            <p:nvPr/>
          </p:nvGraphicFramePr>
          <p:xfrm>
            <a:off x="1791" y="3394"/>
            <a:ext cx="2773" cy="4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1867535" imgH="325120" progId="Equation.3">
                    <p:embed/>
                  </p:oleObj>
                </mc:Choice>
                <mc:Fallback>
                  <p:oleObj r:id="rId4" imgW="1867535" imgH="325120" progId="Equation.3">
                    <p:embed/>
                    <p:pic>
                      <p:nvPicPr>
                        <p:cNvPr id="0" name="图片 3204"/>
                        <p:cNvPicPr/>
                        <p:nvPr/>
                      </p:nvPicPr>
                      <p:blipFill>
                        <a:blip r:embed="rId5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791" y="3394"/>
                          <a:ext cx="2773" cy="49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447" name="Rectangle 10"/>
            <p:cNvSpPr/>
            <p:nvPr/>
          </p:nvSpPr>
          <p:spPr>
            <a:xfrm>
              <a:off x="430" y="3468"/>
              <a:ext cx="1407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lstStyle/>
            <a:p>
              <a:pPr marL="342900" indent="-342900"/>
              <a:r>
                <a:rPr lang="zh-CN" altLang="en-US" dirty="0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rPr>
                <a:t>球坐标系</a:t>
              </a:r>
              <a:endParaRPr lang="zh-CN" altLang="en-US" b="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</p:grpSp>
      <p:grpSp>
        <p:nvGrpSpPr>
          <p:cNvPr id="633867" name="Group 11"/>
          <p:cNvGrpSpPr/>
          <p:nvPr/>
        </p:nvGrpSpPr>
        <p:grpSpPr>
          <a:xfrm>
            <a:off x="1546225" y="3224213"/>
            <a:ext cx="5603875" cy="873125"/>
            <a:chOff x="430" y="2186"/>
            <a:chExt cx="3394" cy="511"/>
          </a:xfrm>
        </p:grpSpPr>
        <p:graphicFrame>
          <p:nvGraphicFramePr>
            <p:cNvPr id="61449" name="Object 12"/>
            <p:cNvGraphicFramePr>
              <a:graphicFrameLocks noChangeAspect="1"/>
            </p:cNvGraphicFramePr>
            <p:nvPr/>
          </p:nvGraphicFramePr>
          <p:xfrm>
            <a:off x="1756" y="2186"/>
            <a:ext cx="2068" cy="5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1431925" imgH="341630" progId="Equation.3">
                    <p:embed/>
                  </p:oleObj>
                </mc:Choice>
                <mc:Fallback>
                  <p:oleObj r:id="rId6" imgW="1431925" imgH="341630" progId="Equation.3">
                    <p:embed/>
                    <p:pic>
                      <p:nvPicPr>
                        <p:cNvPr id="0" name="图片 3200"/>
                        <p:cNvPicPr/>
                        <p:nvPr/>
                      </p:nvPicPr>
                      <p:blipFill>
                        <a:blip r:embed="rId7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756" y="2186"/>
                          <a:ext cx="2068" cy="51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450" name="Rectangle 13"/>
            <p:cNvSpPr/>
            <p:nvPr/>
          </p:nvSpPr>
          <p:spPr>
            <a:xfrm>
              <a:off x="430" y="2288"/>
              <a:ext cx="1542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lstStyle/>
            <a:p>
              <a:pPr marL="342900" indent="-342900"/>
              <a:r>
                <a:rPr lang="zh-CN" altLang="en-US" dirty="0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rPr>
                <a:t>直角坐标系</a:t>
              </a:r>
              <a:r>
                <a:rPr lang="zh-CN" altLang="en-US" b="0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</a:t>
              </a:r>
            </a:p>
          </p:txBody>
        </p:sp>
      </p:grpSp>
      <p:grpSp>
        <p:nvGrpSpPr>
          <p:cNvPr id="633870" name="Group 14"/>
          <p:cNvGrpSpPr/>
          <p:nvPr/>
        </p:nvGrpSpPr>
        <p:grpSpPr>
          <a:xfrm>
            <a:off x="1692275" y="765175"/>
            <a:ext cx="4608513" cy="863600"/>
            <a:chOff x="249" y="1420"/>
            <a:chExt cx="2863" cy="464"/>
          </a:xfrm>
        </p:grpSpPr>
        <p:graphicFrame>
          <p:nvGraphicFramePr>
            <p:cNvPr id="61452" name="Object 15"/>
            <p:cNvGraphicFramePr>
              <a:graphicFrameLocks noChangeAspect="1"/>
            </p:cNvGraphicFramePr>
            <p:nvPr/>
          </p:nvGraphicFramePr>
          <p:xfrm>
            <a:off x="1092" y="1420"/>
            <a:ext cx="2020" cy="4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" imgW="1283335" imgH="325120" progId="Equation.3">
                    <p:embed/>
                  </p:oleObj>
                </mc:Choice>
                <mc:Fallback>
                  <p:oleObj r:id="rId8" imgW="1283335" imgH="325120" progId="Equation.3">
                    <p:embed/>
                    <p:pic>
                      <p:nvPicPr>
                        <p:cNvPr id="0" name="图片 3203"/>
                        <p:cNvPicPr/>
                        <p:nvPr/>
                      </p:nvPicPr>
                      <p:blipFill>
                        <a:blip r:embed="rId9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092" y="1420"/>
                          <a:ext cx="2020" cy="46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453" name="Rectangle 16"/>
            <p:cNvSpPr/>
            <p:nvPr/>
          </p:nvSpPr>
          <p:spPr>
            <a:xfrm>
              <a:off x="249" y="1480"/>
              <a:ext cx="1951" cy="27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lstStyle/>
            <a:p>
              <a:pPr marL="381000" indent="-381000"/>
              <a:endParaRPr lang="zh-CN" altLang="zh-CN" b="0" dirty="0">
                <a:solidFill>
                  <a:srgbClr val="FFB7B7"/>
                </a:solidFill>
                <a:latin typeface="Arial" panose="020B0604020202020204" pitchFamily="34" charset="0"/>
                <a:ea typeface="幼圆" panose="02010509060101010101" pitchFamily="49" charset="-122"/>
              </a:endParaRPr>
            </a:p>
          </p:txBody>
        </p:sp>
      </p:grpSp>
      <p:sp>
        <p:nvSpPr>
          <p:cNvPr id="633873" name="Rectangle 17"/>
          <p:cNvSpPr/>
          <p:nvPr/>
        </p:nvSpPr>
        <p:spPr>
          <a:xfrm>
            <a:off x="684213" y="1700213"/>
            <a:ext cx="7272337" cy="576262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>
              <a:lnSpc>
                <a:spcPct val="140000"/>
              </a:lnSpc>
            </a:pP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矢性微分算符：</a:t>
            </a:r>
            <a:r>
              <a:rPr lang="zh-CN" altLang="en-US" dirty="0">
                <a:solidFill>
                  <a:srgbClr val="FF9900"/>
                </a:solidFill>
                <a:latin typeface="楷体_GB2312" pitchFamily="49" charset="-122"/>
                <a:ea typeface="楷体_GB2312" pitchFamily="49" charset="-122"/>
              </a:rPr>
              <a:t>先做矢量乘法，再做微分运算。</a:t>
            </a:r>
          </a:p>
        </p:txBody>
      </p:sp>
      <p:sp>
        <p:nvSpPr>
          <p:cNvPr id="633874" name="Rectangle 18"/>
          <p:cNvSpPr/>
          <p:nvPr/>
        </p:nvSpPr>
        <p:spPr>
          <a:xfrm>
            <a:off x="534812" y="964789"/>
            <a:ext cx="3671887" cy="50482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42900" indent="-342900"/>
            <a:r>
              <a:rPr lang="zh-CN" altLang="en-US">
                <a:solidFill>
                  <a:srgbClr val="EA162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哈密顿算符</a:t>
            </a:r>
            <a:r>
              <a:rPr lang="zh-CN" altLang="en-US">
                <a:solidFill>
                  <a:srgbClr val="EA162F"/>
                </a:solidFill>
                <a:latin typeface="Arial" panose="020B0604020202020204" pitchFamily="34" charset="0"/>
                <a:ea typeface="楷体_GB2312" pitchFamily="49" charset="-122"/>
              </a:rPr>
              <a:t>：</a:t>
            </a:r>
            <a:endParaRPr lang="zh-CN" altLang="en-US" dirty="0">
              <a:solidFill>
                <a:srgbClr val="EA162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/>
            <a:r>
              <a:rPr lang="zh-CN" altLang="en-US" dirty="0">
                <a:solidFill>
                  <a:srgbClr val="EA162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（重要的桥梁矢量）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85" name="Rectangle 5"/>
          <p:cNvSpPr/>
          <p:nvPr/>
        </p:nvSpPr>
        <p:spPr>
          <a:xfrm>
            <a:off x="539750" y="765175"/>
            <a:ext cx="3551238" cy="43021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42900" indent="-342900"/>
            <a:r>
              <a:rPr lang="zh-CN" altLang="en-US" dirty="0">
                <a:solidFill>
                  <a:srgbClr val="FFB7B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梯度的有关公式</a:t>
            </a:r>
            <a:r>
              <a:rPr lang="zh-CN" altLang="en-US" dirty="0">
                <a:solidFill>
                  <a:srgbClr val="FFB7B7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：</a:t>
            </a:r>
          </a:p>
        </p:txBody>
      </p:sp>
      <p:graphicFrame>
        <p:nvGraphicFramePr>
          <p:cNvPr id="634886" name="Object 6"/>
          <p:cNvGraphicFramePr>
            <a:graphicFrameLocks noChangeAspect="1"/>
          </p:cNvGraphicFramePr>
          <p:nvPr/>
        </p:nvGraphicFramePr>
        <p:xfrm>
          <a:off x="2098675" y="1538288"/>
          <a:ext cx="3363913" cy="2390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090930" imgH="991235" progId="Equation.3">
                  <p:embed/>
                </p:oleObj>
              </mc:Choice>
              <mc:Fallback>
                <p:oleObj r:id="rId3" imgW="1090930" imgH="991235" progId="Equation.3">
                  <p:embed/>
                  <p:pic>
                    <p:nvPicPr>
                      <p:cNvPr id="0" name="图片 3206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098675" y="1538288"/>
                        <a:ext cx="3363913" cy="2390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67" name="AutoShape 8">
            <a:hlinkClick r:id="rId5" action="ppaction://hlinksldjump"/>
          </p:cNvPr>
          <p:cNvSpPr/>
          <p:nvPr/>
        </p:nvSpPr>
        <p:spPr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62468" name="AutoShape 9">
            <a:hlinkClick r:id="" action="ppaction://hlinkshowjump?jump=previousslide"/>
          </p:cNvPr>
          <p:cNvSpPr/>
          <p:nvPr/>
        </p:nvSpPr>
        <p:spPr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62469" name="AutoShape 10">
            <a:hlinkClick r:id="" action="ppaction://hlinkshowjump?jump=nextslide"/>
          </p:cNvPr>
          <p:cNvSpPr/>
          <p:nvPr/>
        </p:nvSpPr>
        <p:spPr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62470" name="AutoShape 11">
            <a:hlinkClick r:id="" action="ppaction://hlinkshowjump?jump=lastslide"/>
          </p:cNvPr>
          <p:cNvSpPr/>
          <p:nvPr/>
        </p:nvSpPr>
        <p:spPr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897" name="Text Box 9"/>
          <p:cNvSpPr txBox="1"/>
          <p:nvPr/>
        </p:nvSpPr>
        <p:spPr>
          <a:xfrm>
            <a:off x="179388" y="4076700"/>
            <a:ext cx="80010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latinLnBrk="1">
              <a:spcBef>
                <a:spcPct val="50000"/>
              </a:spcBef>
            </a:pPr>
            <a:r>
              <a:rPr lang="en-US" altLang="zh-CN" dirty="0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    </a:t>
            </a:r>
            <a:r>
              <a:rPr lang="zh-CN" altLang="en-US" dirty="0">
                <a:solidFill>
                  <a:srgbClr val="FFB7B7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解</a:t>
            </a:r>
            <a:r>
              <a:rPr lang="zh-CN" altLang="en-US" dirty="0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 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(1)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由梯度计算公式，可求得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点的梯度为</a:t>
            </a:r>
          </a:p>
        </p:txBody>
      </p:sp>
      <p:graphicFrame>
        <p:nvGraphicFramePr>
          <p:cNvPr id="549905" name="Object 17"/>
          <p:cNvGraphicFramePr>
            <a:graphicFrameLocks noChangeAspect="1"/>
          </p:cNvGraphicFramePr>
          <p:nvPr/>
        </p:nvGraphicFramePr>
        <p:xfrm>
          <a:off x="1651000" y="4652963"/>
          <a:ext cx="3903663" cy="833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668780" imgH="325120" progId="Equation.3">
                  <p:embed/>
                </p:oleObj>
              </mc:Choice>
              <mc:Fallback>
                <p:oleObj r:id="rId2" imgW="1668780" imgH="325120" progId="Equation.3">
                  <p:embed/>
                  <p:pic>
                    <p:nvPicPr>
                      <p:cNvPr id="0" name="图片 3208"/>
                      <p:cNvPicPr/>
                      <p:nvPr/>
                    </p:nvPicPr>
                    <p:blipFill>
                      <a:blip r:embed="rId3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651000" y="4652963"/>
                        <a:ext cx="3903663" cy="8334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9906" name="Object 18"/>
          <p:cNvGraphicFramePr>
            <a:graphicFrameLocks noChangeAspect="1"/>
          </p:cNvGraphicFramePr>
          <p:nvPr/>
        </p:nvGraphicFramePr>
        <p:xfrm>
          <a:off x="2324100" y="5610225"/>
          <a:ext cx="4911725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109470" imgH="203835" progId="Equation.3">
                  <p:embed/>
                </p:oleObj>
              </mc:Choice>
              <mc:Fallback>
                <p:oleObj r:id="rId4" imgW="2109470" imgH="203835" progId="Equation.3">
                  <p:embed/>
                  <p:pic>
                    <p:nvPicPr>
                      <p:cNvPr id="0" name="图片 3209"/>
                      <p:cNvPicPr/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324100" y="5610225"/>
                        <a:ext cx="4911725" cy="555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49910" name="Group 22"/>
          <p:cNvGrpSpPr/>
          <p:nvPr/>
        </p:nvGrpSpPr>
        <p:grpSpPr>
          <a:xfrm>
            <a:off x="179388" y="549275"/>
            <a:ext cx="8797925" cy="3414713"/>
            <a:chOff x="113" y="346"/>
            <a:chExt cx="5542" cy="2151"/>
          </a:xfrm>
        </p:grpSpPr>
        <p:sp>
          <p:nvSpPr>
            <p:cNvPr id="64517" name="Text Box 19"/>
            <p:cNvSpPr txBox="1"/>
            <p:nvPr/>
          </p:nvSpPr>
          <p:spPr>
            <a:xfrm>
              <a:off x="113" y="346"/>
              <a:ext cx="5534" cy="215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algn="just" latinLnBrk="1">
                <a:lnSpc>
                  <a:spcPct val="130000"/>
                </a:lnSpc>
                <a:spcBef>
                  <a:spcPct val="0"/>
                </a:spcBef>
              </a:pPr>
              <a:r>
                <a:rPr lang="en-US" altLang="zh-CN" dirty="0">
                  <a:solidFill>
                    <a:schemeClr val="bg1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    </a:t>
              </a:r>
              <a:r>
                <a:rPr lang="zh-CN" altLang="en-US" dirty="0">
                  <a:solidFill>
                    <a:srgbClr val="FFB7B7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例</a:t>
              </a:r>
              <a:r>
                <a:rPr lang="en-US" altLang="zh-CN" dirty="0">
                  <a:solidFill>
                    <a:srgbClr val="FFB7B7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1.3</a:t>
              </a:r>
              <a:r>
                <a:rPr lang="en-US" altLang="zh-CN" dirty="0">
                  <a:solidFill>
                    <a:srgbClr val="FFB7B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.1</a:t>
              </a:r>
              <a:r>
                <a:rPr lang="en-US" altLang="zh-CN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</a:t>
              </a:r>
              <a:r>
                <a:rPr lang="zh-CN" altLang="en-US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设一标量函数</a:t>
              </a:r>
              <a:r>
                <a:rPr lang="zh-CN" altLang="en-US" i="1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 </a:t>
              </a:r>
              <a:r>
                <a:rPr lang="en-US" altLang="zh-CN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( </a:t>
              </a:r>
              <a:r>
                <a:rPr lang="en-US" altLang="zh-CN" i="1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x, y, </a:t>
              </a: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z </a:t>
              </a:r>
              <a:r>
                <a:rPr lang="en-US" altLang="zh-CN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) = </a:t>
              </a:r>
              <a:r>
                <a:rPr lang="en-US" altLang="zh-CN" i="1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lang="en-US" altLang="zh-CN" baseline="30000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2</a:t>
              </a:r>
              <a:r>
                <a:rPr lang="zh-CN" altLang="en-US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＋</a:t>
              </a:r>
              <a:r>
                <a:rPr lang="en-US" altLang="zh-CN" i="1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y</a:t>
              </a:r>
              <a:r>
                <a:rPr lang="en-US" altLang="zh-CN" baseline="30000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2</a:t>
              </a:r>
              <a:r>
                <a:rPr lang="zh-CN" altLang="en-US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－</a:t>
              </a: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z</a:t>
              </a:r>
              <a:r>
                <a:rPr lang="en-US" altLang="zh-CN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r>
                <a:rPr lang="zh-CN" altLang="en-US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描述了空间标量场。试求：</a:t>
              </a:r>
            </a:p>
            <a:p>
              <a:pPr algn="just" latinLnBrk="1">
                <a:lnSpc>
                  <a:spcPct val="130000"/>
                </a:lnSpc>
                <a:spcBef>
                  <a:spcPct val="0"/>
                </a:spcBef>
              </a:pPr>
              <a:r>
                <a:rPr lang="zh-CN" altLang="en-US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       </a:t>
              </a:r>
              <a:r>
                <a:rPr lang="en-US" altLang="zh-CN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(1) </a:t>
              </a:r>
              <a:r>
                <a:rPr lang="zh-CN" altLang="en-US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该函数</a:t>
              </a:r>
              <a:r>
                <a:rPr lang="zh-CN" altLang="en-US" i="1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 </a:t>
              </a:r>
              <a:r>
                <a:rPr lang="zh-CN" altLang="en-US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在点 </a:t>
              </a:r>
              <a:r>
                <a:rPr lang="en-US" altLang="zh-CN" i="1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P</a:t>
              </a:r>
              <a:r>
                <a:rPr lang="en-US" altLang="zh-CN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(1,1,1) </a:t>
              </a:r>
              <a:r>
                <a:rPr lang="zh-CN" altLang="en-US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处的梯度，以及表示该梯度方向的单位矢量。</a:t>
              </a:r>
            </a:p>
            <a:p>
              <a:pPr algn="just" latinLnBrk="1">
                <a:lnSpc>
                  <a:spcPct val="130000"/>
                </a:lnSpc>
                <a:spcBef>
                  <a:spcPct val="0"/>
                </a:spcBef>
              </a:pPr>
              <a:r>
                <a:rPr lang="zh-CN" altLang="en-US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       </a:t>
              </a:r>
              <a:r>
                <a:rPr lang="en-US" altLang="zh-CN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(2) </a:t>
              </a:r>
              <a:r>
                <a:rPr lang="zh-CN" altLang="en-US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求该函数</a:t>
              </a:r>
              <a:r>
                <a:rPr lang="zh-CN" altLang="en-US" i="1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 </a:t>
              </a:r>
              <a:r>
                <a:rPr lang="zh-CN" altLang="en-US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沿单位矢量</a:t>
              </a:r>
            </a:p>
            <a:p>
              <a:pPr algn="just" latinLnBrk="1">
                <a:lnSpc>
                  <a:spcPct val="130000"/>
                </a:lnSpc>
                <a:spcBef>
                  <a:spcPct val="0"/>
                </a:spcBef>
              </a:pPr>
              <a:r>
                <a:rPr lang="zh-CN" altLang="en-US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方向的方向导数，并以点 </a:t>
              </a:r>
              <a:r>
                <a:rPr lang="en-US" altLang="zh-CN" i="1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P</a:t>
              </a:r>
              <a:r>
                <a:rPr lang="en-US" altLang="zh-CN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(1,1,1) </a:t>
              </a:r>
              <a:r>
                <a:rPr lang="zh-CN" altLang="en-US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处的方向导数值与该点的梯度值作以比较，得出相应结论。</a:t>
              </a:r>
            </a:p>
          </p:txBody>
        </p:sp>
        <p:graphicFrame>
          <p:nvGraphicFramePr>
            <p:cNvPr id="64518" name="Object 20"/>
            <p:cNvGraphicFramePr>
              <a:graphicFrameLocks noChangeAspect="1"/>
            </p:cNvGraphicFramePr>
            <p:nvPr/>
          </p:nvGraphicFramePr>
          <p:xfrm>
            <a:off x="2736" y="1616"/>
            <a:ext cx="2919" cy="3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1988820" imgH="181610" progId="Equation.3">
                    <p:embed/>
                  </p:oleObj>
                </mc:Choice>
                <mc:Fallback>
                  <p:oleObj r:id="rId6" imgW="1988820" imgH="181610" progId="Equation.3">
                    <p:embed/>
                    <p:pic>
                      <p:nvPicPr>
                        <p:cNvPr id="0" name="图片 3207"/>
                        <p:cNvPicPr/>
                        <p:nvPr/>
                      </p:nvPicPr>
                      <p:blipFill>
                        <a:blip r:embed="rId7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736" y="1616"/>
                          <a:ext cx="2919" cy="31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4519" name="AutoShape 23">
            <a:hlinkClick r:id="rId8" action="ppaction://hlinksldjump"/>
          </p:cNvPr>
          <p:cNvSpPr/>
          <p:nvPr/>
        </p:nvSpPr>
        <p:spPr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64520" name="AutoShape 24">
            <a:hlinkClick r:id="" action="ppaction://hlinkshowjump?jump=previousslide"/>
          </p:cNvPr>
          <p:cNvSpPr/>
          <p:nvPr/>
        </p:nvSpPr>
        <p:spPr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64521" name="AutoShape 25">
            <a:hlinkClick r:id="" action="ppaction://hlinkshowjump?jump=nextslide"/>
          </p:cNvPr>
          <p:cNvSpPr/>
          <p:nvPr/>
        </p:nvSpPr>
        <p:spPr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64522" name="AutoShape 26">
            <a:hlinkClick r:id="" action="ppaction://hlinkshowjump?jump=lastslide"/>
          </p:cNvPr>
          <p:cNvSpPr/>
          <p:nvPr/>
        </p:nvSpPr>
        <p:spPr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916" name="Text Box 4"/>
          <p:cNvSpPr txBox="1"/>
          <p:nvPr/>
        </p:nvSpPr>
        <p:spPr>
          <a:xfrm>
            <a:off x="179388" y="595313"/>
            <a:ext cx="6324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latinLnBrk="1"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表征其方向的单位矢量</a:t>
            </a:r>
            <a:r>
              <a:rPr lang="zh-CN" altLang="en-US" sz="2000" b="0" dirty="0">
                <a:solidFill>
                  <a:schemeClr val="bg1"/>
                </a:solidFill>
                <a:latin typeface="Gulim" pitchFamily="34" charset="-127"/>
                <a:ea typeface="Gulim" pitchFamily="34" charset="-127"/>
              </a:rPr>
              <a:t> </a:t>
            </a:r>
          </a:p>
        </p:txBody>
      </p:sp>
      <p:graphicFrame>
        <p:nvGraphicFramePr>
          <p:cNvPr id="550917" name="Object 5"/>
          <p:cNvGraphicFramePr>
            <a:graphicFrameLocks noChangeAspect="1"/>
          </p:cNvGraphicFramePr>
          <p:nvPr/>
        </p:nvGraphicFramePr>
        <p:xfrm>
          <a:off x="1042988" y="1006475"/>
          <a:ext cx="7632700" cy="1198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178175" imgH="467995" progId="Equation.DSMT4">
                  <p:embed/>
                </p:oleObj>
              </mc:Choice>
              <mc:Fallback>
                <p:oleObj r:id="rId2" imgW="3178175" imgH="467995" progId="Equation.DSMT4">
                  <p:embed/>
                  <p:pic>
                    <p:nvPicPr>
                      <p:cNvPr id="0" name="图片 3192"/>
                      <p:cNvPicPr/>
                      <p:nvPr/>
                    </p:nvPicPr>
                    <p:blipFill>
                      <a:blip r:embed="rId3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042988" y="1006475"/>
                        <a:ext cx="7632700" cy="11985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0918" name="Text Box 6"/>
          <p:cNvSpPr txBox="1"/>
          <p:nvPr/>
        </p:nvSpPr>
        <p:spPr>
          <a:xfrm>
            <a:off x="130175" y="2060575"/>
            <a:ext cx="8763000" cy="11874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just" latinLnBrk="1">
              <a:lnSpc>
                <a:spcPct val="150000"/>
              </a:lnSpc>
              <a:spcBef>
                <a:spcPct val="50000"/>
              </a:spcBef>
            </a:pPr>
            <a:r>
              <a:rPr lang="en-US" altLang="zh-CN" sz="2000" b="0" dirty="0">
                <a:latin typeface="宋体" panose="02010600030101010101" pitchFamily="2" charset="-122"/>
                <a:ea typeface="宋体" panose="02010600030101010101" pitchFamily="2" charset="-122"/>
              </a:rPr>
              <a:t>     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(2) 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由方向导数与梯度之间的关系式可知，沿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lang="en-US" altLang="zh-CN" i="1" baseline="-300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l 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方向的方向导数为</a:t>
            </a:r>
          </a:p>
        </p:txBody>
      </p:sp>
      <p:sp>
        <p:nvSpPr>
          <p:cNvPr id="550920" name="Text Box 8"/>
          <p:cNvSpPr txBox="1"/>
          <p:nvPr/>
        </p:nvSpPr>
        <p:spPr>
          <a:xfrm>
            <a:off x="179388" y="4868863"/>
            <a:ext cx="7272337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latinLnBrk="1"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对于给定的</a:t>
            </a:r>
            <a:r>
              <a:rPr lang="en-US" altLang="zh-CN" i="1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P </a:t>
            </a: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点，上述方向导数在该点取值为</a:t>
            </a:r>
          </a:p>
        </p:txBody>
      </p:sp>
      <p:graphicFrame>
        <p:nvGraphicFramePr>
          <p:cNvPr id="550921" name="Object 9"/>
          <p:cNvGraphicFramePr>
            <a:graphicFrameLocks noChangeAspect="1"/>
          </p:cNvGraphicFramePr>
          <p:nvPr/>
        </p:nvGraphicFramePr>
        <p:xfrm>
          <a:off x="1763713" y="5359400"/>
          <a:ext cx="4752975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790065" imgH="380365" progId="Equation.DSMT4">
                  <p:embed/>
                </p:oleObj>
              </mc:Choice>
              <mc:Fallback>
                <p:oleObj r:id="rId4" imgW="1790065" imgH="380365" progId="Equation.DSMT4">
                  <p:embed/>
                  <p:pic>
                    <p:nvPicPr>
                      <p:cNvPr id="0" name="图片 3193"/>
                      <p:cNvPicPr/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763713" y="5359400"/>
                        <a:ext cx="4752975" cy="9493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0922" name="Object 10"/>
          <p:cNvGraphicFramePr>
            <a:graphicFrameLocks noChangeAspect="1"/>
          </p:cNvGraphicFramePr>
          <p:nvPr/>
        </p:nvGraphicFramePr>
        <p:xfrm>
          <a:off x="1190625" y="3146425"/>
          <a:ext cx="6623050" cy="858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2858770" imgH="335915" progId="Equation.3">
                  <p:embed/>
                </p:oleObj>
              </mc:Choice>
              <mc:Fallback>
                <p:oleObj r:id="rId6" imgW="2858770" imgH="335915" progId="Equation.3">
                  <p:embed/>
                  <p:pic>
                    <p:nvPicPr>
                      <p:cNvPr id="0" name="图片 3191"/>
                      <p:cNvPicPr/>
                      <p:nvPr/>
                    </p:nvPicPr>
                    <p:blipFill>
                      <a:blip r:embed="rId7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90625" y="3146425"/>
                        <a:ext cx="6623050" cy="8588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0923" name="Object 11"/>
          <p:cNvGraphicFramePr>
            <a:graphicFrameLocks noChangeAspect="1"/>
          </p:cNvGraphicFramePr>
          <p:nvPr/>
        </p:nvGraphicFramePr>
        <p:xfrm>
          <a:off x="1657350" y="4014788"/>
          <a:ext cx="1762125" cy="782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732790" imgH="302895" progId="Equation.3">
                  <p:embed/>
                </p:oleObj>
              </mc:Choice>
              <mc:Fallback>
                <p:oleObj r:id="rId8" imgW="732790" imgH="302895" progId="Equation.3">
                  <p:embed/>
                  <p:pic>
                    <p:nvPicPr>
                      <p:cNvPr id="0" name="图片 3194"/>
                      <p:cNvPicPr/>
                      <p:nvPr/>
                    </p:nvPicPr>
                    <p:blipFill>
                      <a:blip r:embed="rId9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657350" y="4014788"/>
                        <a:ext cx="1762125" cy="7826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44" name="AutoShape 12">
            <a:hlinkClick r:id="rId10" action="ppaction://hlinksldjump"/>
          </p:cNvPr>
          <p:cNvSpPr/>
          <p:nvPr/>
        </p:nvSpPr>
        <p:spPr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65545" name="AutoShape 13">
            <a:hlinkClick r:id="" action="ppaction://hlinkshowjump?jump=previousslide"/>
          </p:cNvPr>
          <p:cNvSpPr/>
          <p:nvPr/>
        </p:nvSpPr>
        <p:spPr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65546" name="AutoShape 14">
            <a:hlinkClick r:id="" action="ppaction://hlinkshowjump?jump=nextslide"/>
          </p:cNvPr>
          <p:cNvSpPr/>
          <p:nvPr/>
        </p:nvSpPr>
        <p:spPr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65547" name="AutoShape 15">
            <a:hlinkClick r:id="" action="ppaction://hlinkshowjump?jump=lastslide"/>
          </p:cNvPr>
          <p:cNvSpPr/>
          <p:nvPr/>
        </p:nvSpPr>
        <p:spPr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709F2AA-E5EB-496E-725B-234D88C9C16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00457" y="4085674"/>
            <a:ext cx="4082104" cy="718503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94E7D0C1-45D6-B340-852C-868F3B1B377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419474" y="451885"/>
            <a:ext cx="824513" cy="728918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62" name="Text Box 2"/>
          <p:cNvSpPr txBox="1"/>
          <p:nvPr/>
        </p:nvSpPr>
        <p:spPr>
          <a:xfrm>
            <a:off x="250825" y="692150"/>
            <a:ext cx="66294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latinLnBrk="1"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而该点的梯度值为 </a:t>
            </a:r>
          </a:p>
        </p:txBody>
      </p:sp>
      <p:graphicFrame>
        <p:nvGraphicFramePr>
          <p:cNvPr id="552963" name="Object 3"/>
          <p:cNvGraphicFramePr>
            <a:graphicFrameLocks noChangeAspect="1"/>
          </p:cNvGraphicFramePr>
          <p:nvPr/>
        </p:nvGraphicFramePr>
        <p:xfrm>
          <a:off x="1763713" y="1268413"/>
          <a:ext cx="5257800" cy="839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032635" imgH="292100" progId="Equation.DSMT4">
                  <p:embed/>
                </p:oleObj>
              </mc:Choice>
              <mc:Fallback>
                <p:oleObj r:id="rId2" imgW="2032635" imgH="292100" progId="Equation.DSMT4">
                  <p:embed/>
                  <p:pic>
                    <p:nvPicPr>
                      <p:cNvPr id="0" name="图片 3215"/>
                      <p:cNvPicPr/>
                      <p:nvPr/>
                    </p:nvPicPr>
                    <p:blipFill>
                      <a:blip r:embed="rId3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763713" y="1268413"/>
                        <a:ext cx="5257800" cy="8397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52967" name="Group 7"/>
          <p:cNvGrpSpPr/>
          <p:nvPr/>
        </p:nvGrpSpPr>
        <p:grpSpPr>
          <a:xfrm>
            <a:off x="246302" y="1945051"/>
            <a:ext cx="8458200" cy="1508125"/>
            <a:chOff x="158" y="1220"/>
            <a:chExt cx="5328" cy="950"/>
          </a:xfrm>
        </p:grpSpPr>
        <p:sp>
          <p:nvSpPr>
            <p:cNvPr id="66564" name="Rectangle 4"/>
            <p:cNvSpPr/>
            <p:nvPr/>
          </p:nvSpPr>
          <p:spPr>
            <a:xfrm>
              <a:off x="158" y="1220"/>
              <a:ext cx="5328" cy="9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indent="266700" algn="just">
                <a:lnSpc>
                  <a:spcPct val="150000"/>
                </a:lnSpc>
                <a:spcBef>
                  <a:spcPct val="0"/>
                </a:spcBef>
              </a:pPr>
              <a:r>
                <a:rPr lang="en-US" altLang="zh-CN" sz="2000" b="0" dirty="0">
                  <a:latin typeface="宋体" panose="02010600030101010101" pitchFamily="2" charset="-122"/>
                  <a:ea typeface="宋体" panose="02010600030101010101" pitchFamily="2" charset="-122"/>
                </a:rPr>
                <a:t>  </a:t>
              </a:r>
              <a:r>
                <a:rPr lang="zh-CN" altLang="en-US" dirty="0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rPr>
                <a:t>显然，梯度     描述了</a:t>
              </a:r>
              <a:r>
                <a:rPr lang="en-US" altLang="zh-CN" i="1" dirty="0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rPr>
                <a:t>P</a:t>
              </a:r>
              <a:r>
                <a:rPr lang="zh-CN" altLang="en-US" dirty="0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rPr>
                <a:t>点处标量函数</a:t>
              </a:r>
              <a:r>
                <a:rPr lang="zh-CN" altLang="en-US" i="1" dirty="0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  <a:sym typeface="Symbol" panose="05050102010706020507" pitchFamily="18" charset="2"/>
                </a:rPr>
                <a:t> </a:t>
              </a:r>
              <a:r>
                <a:rPr lang="zh-CN" altLang="en-US" dirty="0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rPr>
                <a:t>的最大变化率，即最大的方向导数，故                 </a:t>
              </a:r>
              <a:r>
                <a:rPr lang="zh-CN" altLang="en-US" dirty="0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  <a:sym typeface="Symbol" panose="05050102010706020507" pitchFamily="18" charset="2"/>
                </a:rPr>
                <a:t>恒成立。</a:t>
              </a:r>
              <a:endParaRPr lang="zh-CN" altLang="en-US" i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endParaRPr>
            </a:p>
            <a:p>
              <a:pPr indent="266700" eaLnBrk="0" hangingPunct="0">
                <a:spcBef>
                  <a:spcPct val="0"/>
                </a:spcBef>
              </a:pPr>
              <a:endParaRPr lang="en-US" altLang="zh-CN" sz="2000" i="1" dirty="0"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graphicFrame>
          <p:nvGraphicFramePr>
            <p:cNvPr id="66565" name="Object 5"/>
            <p:cNvGraphicFramePr>
              <a:graphicFrameLocks noChangeAspect="1"/>
            </p:cNvGraphicFramePr>
            <p:nvPr/>
          </p:nvGraphicFramePr>
          <p:xfrm>
            <a:off x="1565" y="1316"/>
            <a:ext cx="408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280670" imgH="181610" progId="Equation.DSMT4">
                    <p:embed/>
                  </p:oleObj>
                </mc:Choice>
                <mc:Fallback>
                  <p:oleObj r:id="rId4" imgW="280670" imgH="181610" progId="Equation.DSMT4">
                    <p:embed/>
                    <p:pic>
                      <p:nvPicPr>
                        <p:cNvPr id="0" name="图片 3213"/>
                        <p:cNvPicPr/>
                        <p:nvPr/>
                      </p:nvPicPr>
                      <p:blipFill>
                        <a:blip r:embed="rId5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565" y="1316"/>
                          <a:ext cx="408" cy="28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6566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47351138"/>
                </p:ext>
              </p:extLst>
            </p:nvPr>
          </p:nvGraphicFramePr>
          <p:xfrm>
            <a:off x="1962" y="1551"/>
            <a:ext cx="953" cy="5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644525" imgH="347345" progId="Equation.DSMT4">
                    <p:embed/>
                  </p:oleObj>
                </mc:Choice>
                <mc:Fallback>
                  <p:oleObj r:id="rId6" imgW="644525" imgH="347345" progId="Equation.DSMT4">
                    <p:embed/>
                    <p:pic>
                      <p:nvPicPr>
                        <p:cNvPr id="0" name="图片 3214"/>
                        <p:cNvPicPr/>
                        <p:nvPr/>
                      </p:nvPicPr>
                      <p:blipFill>
                        <a:blip r:embed="rId7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962" y="1551"/>
                          <a:ext cx="953" cy="54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6567" name="AutoShape 8">
            <a:hlinkClick r:id="rId8" action="ppaction://hlinksldjump"/>
          </p:cNvPr>
          <p:cNvSpPr/>
          <p:nvPr/>
        </p:nvSpPr>
        <p:spPr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66568" name="AutoShape 9">
            <a:hlinkClick r:id="" action="ppaction://hlinkshowjump?jump=previousslide"/>
          </p:cNvPr>
          <p:cNvSpPr/>
          <p:nvPr/>
        </p:nvSpPr>
        <p:spPr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66569" name="AutoShape 10">
            <a:hlinkClick r:id="" action="ppaction://hlinkshowjump?jump=nextslide"/>
          </p:cNvPr>
          <p:cNvSpPr/>
          <p:nvPr/>
        </p:nvSpPr>
        <p:spPr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66570" name="AutoShape 11">
            <a:hlinkClick r:id="" action="ppaction://hlinkshowjump?jump=lastslide"/>
          </p:cNvPr>
          <p:cNvSpPr/>
          <p:nvPr/>
        </p:nvSpPr>
        <p:spPr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b="0" dirty="0">
              <a:latin typeface="Arial" panose="020B0604020202020204" pitchFamily="34" charset="0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6" name="AutoShape 23">
            <a:hlinkClick r:id="rId3" action="ppaction://hlinksldjump"/>
          </p:cNvPr>
          <p:cNvSpPr/>
          <p:nvPr/>
        </p:nvSpPr>
        <p:spPr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hangingPunct="1">
              <a:spcBef>
                <a:spcPct val="20000"/>
              </a:spcBef>
            </a:pP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3797" name="AutoShape 24">
            <a:hlinkClick r:id="" action="ppaction://hlinkshowjump?jump=previousslide"/>
          </p:cNvPr>
          <p:cNvSpPr/>
          <p:nvPr/>
        </p:nvSpPr>
        <p:spPr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hangingPunct="1">
              <a:spcBef>
                <a:spcPct val="20000"/>
              </a:spcBef>
            </a:pP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3798" name="AutoShape 25">
            <a:hlinkClick r:id="" action="ppaction://hlinkshowjump?jump=nextslide"/>
          </p:cNvPr>
          <p:cNvSpPr/>
          <p:nvPr/>
        </p:nvSpPr>
        <p:spPr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hangingPunct="1">
              <a:spcBef>
                <a:spcPct val="20000"/>
              </a:spcBef>
            </a:pP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3799" name="AutoShape 26">
            <a:hlinkClick r:id="" action="ppaction://hlinkshowjump?jump=lastslide"/>
          </p:cNvPr>
          <p:cNvSpPr/>
          <p:nvPr/>
        </p:nvSpPr>
        <p:spPr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hangingPunct="1">
              <a:spcBef>
                <a:spcPct val="20000"/>
              </a:spcBef>
            </a:pPr>
            <a:endParaRPr lang="zh-CN" altLang="en-US" dirty="0">
              <a:latin typeface="Arial" panose="020B06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049941E-F384-82DD-4B30-DFA8E7465F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90317"/>
            <a:ext cx="9144000" cy="6077366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8E36E32C-0584-1FF4-54A3-FDE2A96DA4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7644" y="1160208"/>
            <a:ext cx="2116356" cy="176473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AutoShape 23">
            <a:hlinkClick r:id="rId2" action="ppaction://hlinksldjump"/>
          </p:cNvPr>
          <p:cNvSpPr/>
          <p:nvPr/>
        </p:nvSpPr>
        <p:spPr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hangingPunct="1">
              <a:spcBef>
                <a:spcPct val="20000"/>
              </a:spcBef>
            </a:pP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4820" name="AutoShape 24">
            <a:hlinkClick r:id="" action="ppaction://hlinkshowjump?jump=previousslide"/>
          </p:cNvPr>
          <p:cNvSpPr/>
          <p:nvPr/>
        </p:nvSpPr>
        <p:spPr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hangingPunct="1">
              <a:spcBef>
                <a:spcPct val="20000"/>
              </a:spcBef>
            </a:pP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4821" name="AutoShape 25">
            <a:hlinkClick r:id="" action="ppaction://hlinkshowjump?jump=nextslide"/>
          </p:cNvPr>
          <p:cNvSpPr/>
          <p:nvPr/>
        </p:nvSpPr>
        <p:spPr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hangingPunct="1">
              <a:spcBef>
                <a:spcPct val="20000"/>
              </a:spcBef>
            </a:pP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4822" name="AutoShape 26">
            <a:hlinkClick r:id="" action="ppaction://hlinkshowjump?jump=lastslide"/>
          </p:cNvPr>
          <p:cNvSpPr/>
          <p:nvPr/>
        </p:nvSpPr>
        <p:spPr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hangingPunct="1">
              <a:spcBef>
                <a:spcPct val="20000"/>
              </a:spcBef>
            </a:pPr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126989" name="Object 13"/>
          <p:cNvGraphicFramePr>
            <a:graphicFrameLocks noChangeAspect="1"/>
          </p:cNvGraphicFramePr>
          <p:nvPr/>
        </p:nvGraphicFramePr>
        <p:xfrm>
          <a:off x="395288" y="4508500"/>
          <a:ext cx="4595812" cy="199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828800" imgH="760095" progId="Equation.3">
                  <p:embed/>
                </p:oleObj>
              </mc:Choice>
              <mc:Fallback>
                <p:oleObj r:id="rId3" imgW="1828800" imgH="760095" progId="Equation.3">
                  <p:embed/>
                  <p:pic>
                    <p:nvPicPr>
                      <p:cNvPr id="0" name="图片 3210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EA162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95288" y="4508500"/>
                        <a:ext cx="4595812" cy="19907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图片 2">
            <a:extLst>
              <a:ext uri="{FF2B5EF4-FFF2-40B4-BE49-F238E27FC236}">
                <a16:creationId xmlns:a16="http://schemas.microsoft.com/office/drawing/2014/main" id="{2B33806D-5F41-4956-FA77-75E7E91912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80750"/>
            <a:ext cx="9123363" cy="385897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DA034976-C939-9876-AF4F-3B6A7964A1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-1993"/>
            <a:ext cx="9141344" cy="685999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3"/>
          <p:cNvSpPr/>
          <p:nvPr/>
        </p:nvSpPr>
        <p:spPr>
          <a:xfrm>
            <a:off x="3563938" y="2565400"/>
            <a:ext cx="3168650" cy="4572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1.11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，</a:t>
            </a:r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1.12 </a:t>
            </a:r>
          </a:p>
        </p:txBody>
      </p:sp>
      <p:sp>
        <p:nvSpPr>
          <p:cNvPr id="667654" name="Text Box 6"/>
          <p:cNvSpPr txBox="1"/>
          <p:nvPr/>
        </p:nvSpPr>
        <p:spPr>
          <a:xfrm>
            <a:off x="3924300" y="1773238"/>
            <a:ext cx="2808288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dirty="0">
                <a:solidFill>
                  <a:srgbClr val="FFB7B7"/>
                </a:solidFill>
                <a:latin typeface="Times New Roman" panose="02020603050405020304" pitchFamily="18" charset="0"/>
                <a:ea typeface="楷体_GB2312" pitchFamily="49" charset="-122"/>
              </a:rPr>
              <a:t>作业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  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Tk5ZGI1MDEzODM3NTRlMzM1MDZjZWE4NTNjMWYxMDkifQ=="/>
</p:tagLst>
</file>

<file path=ppt/theme/theme1.xml><?xml version="1.0" encoding="utf-8"?>
<a:theme xmlns:a="http://schemas.openxmlformats.org/drawingml/2006/main" name="1_默认设计模板">
  <a:themeElements>
    <a:clrScheme name="1_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默认设计模板">
      <a:majorFont>
        <a:latin typeface="Arial"/>
        <a:ea typeface="宋体"/>
        <a:cs typeface="Arial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ctr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ctr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lnDef>
  </a:objectDefaults>
  <a:extraClrSchemeLst>
    <a:extraClrScheme>
      <a:clrScheme name="1_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3723</TotalTime>
  <Words>835</Words>
  <Application>Microsoft Office PowerPoint</Application>
  <PresentationFormat>全屏显示(4:3)</PresentationFormat>
  <Paragraphs>100</Paragraphs>
  <Slides>15</Slides>
  <Notes>9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15</vt:i4>
      </vt:variant>
    </vt:vector>
  </HeadingPairs>
  <TitlesOfParts>
    <vt:vector size="29" baseType="lpstr">
      <vt:lpstr>Gulim</vt:lpstr>
      <vt:lpstr>黑体</vt:lpstr>
      <vt:lpstr>楷体_GB2312</vt:lpstr>
      <vt:lpstr>隶书</vt:lpstr>
      <vt:lpstr>宋体</vt:lpstr>
      <vt:lpstr>幼圆</vt:lpstr>
      <vt:lpstr>Arial</vt:lpstr>
      <vt:lpstr>Times New Roman</vt:lpstr>
      <vt:lpstr>Wingdings</vt:lpstr>
      <vt:lpstr>1_默认设计模板</vt:lpstr>
      <vt:lpstr>Equation.3</vt:lpstr>
      <vt:lpstr>Microsoft Word Picture</vt:lpstr>
      <vt:lpstr>Equation.DSMT4</vt:lpstr>
      <vt:lpstr>MSPhotoEd.3</vt:lpstr>
      <vt:lpstr>1.3   标量场的梯度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武汉大学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lsp</dc:creator>
  <cp:lastModifiedBy>Admin</cp:lastModifiedBy>
  <cp:revision>1403</cp:revision>
  <dcterms:created xsi:type="dcterms:W3CDTF">2004-02-10T07:06:00Z</dcterms:created>
  <dcterms:modified xsi:type="dcterms:W3CDTF">2025-10-28T05:51:40Z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4A58E105F38F4630911501450C2E99AF</vt:lpwstr>
  </property>
  <property fmtid="{D5CDD505-2E9C-101B-9397-08002B2CF9AE}" pid="3" name="KSOProductBuildVer">
    <vt:lpwstr>2052-11.1.0.12358</vt:lpwstr>
  </property>
</Properties>
</file>