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88" r:id="rId2"/>
    <p:sldId id="580" r:id="rId3"/>
    <p:sldId id="582" r:id="rId4"/>
    <p:sldId id="570" r:id="rId5"/>
    <p:sldId id="564" r:id="rId6"/>
    <p:sldId id="565" r:id="rId7"/>
    <p:sldId id="689" r:id="rId8"/>
    <p:sldId id="581" r:id="rId9"/>
    <p:sldId id="690" r:id="rId10"/>
    <p:sldId id="691" r:id="rId11"/>
    <p:sldId id="568" r:id="rId12"/>
    <p:sldId id="629" r:id="rId13"/>
    <p:sldId id="469" r:id="rId14"/>
    <p:sldId id="470" r:id="rId15"/>
    <p:sldId id="472" r:id="rId16"/>
    <p:sldId id="627" r:id="rId17"/>
    <p:sldId id="628" r:id="rId18"/>
    <p:sldId id="626" r:id="rId19"/>
    <p:sldId id="473" r:id="rId20"/>
    <p:sldId id="625" r:id="rId21"/>
    <p:sldId id="475" r:id="rId22"/>
    <p:sldId id="608" r:id="rId23"/>
    <p:sldId id="621" r:id="rId24"/>
    <p:sldId id="630" r:id="rId25"/>
  </p:sldIdLst>
  <p:sldSz cx="9144000" cy="6858000" type="screen4x3"/>
  <p:notesSz cx="6858000" cy="9144000"/>
  <p:custDataLst>
    <p:tags r:id="rId2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C0"/>
    <a:srgbClr val="EA162F"/>
    <a:srgbClr val="FF0000"/>
    <a:srgbClr val="FF9900"/>
    <a:srgbClr val="CC3399"/>
    <a:srgbClr val="3333FF"/>
    <a:srgbClr val="0000CC"/>
    <a:srgbClr val="89C4FF"/>
    <a:srgbClr val="DBF1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35"/>
    <p:restoredTop sz="94843" autoAdjust="0"/>
  </p:normalViewPr>
  <p:slideViewPr>
    <p:cSldViewPr showGuides="1">
      <p:cViewPr>
        <p:scale>
          <a:sx n="100" d="100"/>
          <a:sy n="100" d="100"/>
        </p:scale>
        <p:origin x="216" y="-824"/>
      </p:cViewPr>
      <p:guideLst>
        <p:guide orient="horz" pos="2160"/>
        <p:guide pos="28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87F90C-EEAD-4CC9-B85E-7D3C9C0A8C22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2025/10/28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z="1200" b="0" strike="noStrike" noProof="1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43813E-55CE-4019-8926-09544A796D2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2025/10/28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z="1200" b="0" strike="noStrike" noProof="1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6146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6147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614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2</a:t>
            </a:fld>
            <a:endParaRPr lang="en-US" altLang="zh-CN" dirty="0"/>
          </a:p>
        </p:txBody>
      </p:sp>
      <p:sp>
        <p:nvSpPr>
          <p:cNvPr id="614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5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8194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8195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819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3</a:t>
            </a:fld>
            <a:endParaRPr lang="en-US" altLang="zh-CN" dirty="0"/>
          </a:p>
        </p:txBody>
      </p:sp>
      <p:sp>
        <p:nvSpPr>
          <p:cNvPr id="819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0242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0243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024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4</a:t>
            </a:fld>
            <a:endParaRPr lang="en-US" altLang="zh-CN" dirty="0"/>
          </a:p>
        </p:txBody>
      </p:sp>
      <p:sp>
        <p:nvSpPr>
          <p:cNvPr id="1024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3314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3315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331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6</a:t>
            </a:fld>
            <a:endParaRPr lang="en-US" altLang="zh-CN" dirty="0"/>
          </a:p>
        </p:txBody>
      </p:sp>
      <p:sp>
        <p:nvSpPr>
          <p:cNvPr id="1331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5362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5363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536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7</a:t>
            </a:fld>
            <a:endParaRPr lang="en-US" altLang="zh-CN" dirty="0"/>
          </a:p>
        </p:txBody>
      </p:sp>
      <p:sp>
        <p:nvSpPr>
          <p:cNvPr id="1536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7410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7411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741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8</a:t>
            </a:fld>
            <a:endParaRPr lang="en-US" altLang="zh-CN" dirty="0"/>
          </a:p>
        </p:txBody>
      </p:sp>
      <p:sp>
        <p:nvSpPr>
          <p:cNvPr id="1741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9458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19459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1946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9</a:t>
            </a:fld>
            <a:endParaRPr lang="en-US" altLang="zh-CN" dirty="0"/>
          </a:p>
        </p:txBody>
      </p:sp>
      <p:sp>
        <p:nvSpPr>
          <p:cNvPr id="1946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21506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21507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2150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10</a:t>
            </a:fld>
            <a:endParaRPr lang="en-US" altLang="zh-CN" dirty="0"/>
          </a:p>
        </p:txBody>
      </p:sp>
      <p:sp>
        <p:nvSpPr>
          <p:cNvPr id="2150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1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23554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23555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2355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11</a:t>
            </a:fld>
            <a:endParaRPr lang="en-US" altLang="zh-CN" dirty="0"/>
          </a:p>
        </p:txBody>
      </p:sp>
      <p:sp>
        <p:nvSpPr>
          <p:cNvPr id="2355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26626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26627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2662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13</a:t>
            </a:fld>
            <a:endParaRPr lang="en-US" altLang="zh-CN" dirty="0"/>
          </a:p>
        </p:txBody>
      </p:sp>
      <p:sp>
        <p:nvSpPr>
          <p:cNvPr id="2662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3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28674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28675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2867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14</a:t>
            </a:fld>
            <a:endParaRPr lang="en-US" altLang="zh-CN" dirty="0"/>
          </a:p>
        </p:txBody>
      </p:sp>
      <p:sp>
        <p:nvSpPr>
          <p:cNvPr id="2867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30722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30723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3072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15</a:t>
            </a:fld>
            <a:endParaRPr lang="en-US" altLang="zh-CN" dirty="0"/>
          </a:p>
        </p:txBody>
      </p:sp>
      <p:sp>
        <p:nvSpPr>
          <p:cNvPr id="3072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 txBox="1">
            <a:spLocks noGrp="1"/>
          </p:cNvSpPr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>
              <a:spcBef>
                <a:spcPct val="0"/>
              </a:spcBef>
            </a:pPr>
            <a:r>
              <a:rPr lang="en-US" altLang="zh-CN" dirty="0"/>
              <a:t>第一课</a:t>
            </a:r>
          </a:p>
        </p:txBody>
      </p:sp>
      <p:sp>
        <p:nvSpPr>
          <p:cNvPr id="32770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dirty="0"/>
              <a:t>2025/10/28</a:t>
            </a:fld>
            <a:endParaRPr lang="zh-CN" altLang="en-US" dirty="0"/>
          </a:p>
        </p:txBody>
      </p:sp>
      <p:sp>
        <p:nvSpPr>
          <p:cNvPr id="32771" name="Rectangle 6"/>
          <p:cNvSpPr txBox="1">
            <a:spLocks noGrp="1"/>
          </p:cNvSpPr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>
              <a:spcBef>
                <a:spcPct val="0"/>
              </a:spcBef>
            </a:pPr>
            <a:r>
              <a:rPr lang="en-US" altLang="zh-CN" dirty="0"/>
              <a:t>第一课</a:t>
            </a:r>
          </a:p>
        </p:txBody>
      </p:sp>
      <p:sp>
        <p:nvSpPr>
          <p:cNvPr id="32772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16</a:t>
            </a:fld>
            <a:endParaRPr lang="en-US" altLang="zh-CN" dirty="0"/>
          </a:p>
        </p:txBody>
      </p:sp>
      <p:sp>
        <p:nvSpPr>
          <p:cNvPr id="3277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 txBox="1">
            <a:spLocks noGrp="1"/>
          </p:cNvSpPr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>
              <a:spcBef>
                <a:spcPct val="0"/>
              </a:spcBef>
            </a:pPr>
            <a:r>
              <a:rPr lang="en-US" altLang="zh-CN" dirty="0"/>
              <a:t>第一课</a:t>
            </a:r>
          </a:p>
        </p:txBody>
      </p:sp>
      <p:sp>
        <p:nvSpPr>
          <p:cNvPr id="34818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dirty="0"/>
              <a:t>2025/10/28</a:t>
            </a:fld>
            <a:endParaRPr lang="zh-CN" altLang="en-US" dirty="0"/>
          </a:p>
        </p:txBody>
      </p:sp>
      <p:sp>
        <p:nvSpPr>
          <p:cNvPr id="34819" name="Rectangle 6"/>
          <p:cNvSpPr txBox="1">
            <a:spLocks noGrp="1"/>
          </p:cNvSpPr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>
              <a:spcBef>
                <a:spcPct val="0"/>
              </a:spcBef>
            </a:pPr>
            <a:r>
              <a:rPr lang="en-US" altLang="zh-CN" dirty="0"/>
              <a:t>第一课</a:t>
            </a:r>
          </a:p>
        </p:txBody>
      </p:sp>
      <p:sp>
        <p:nvSpPr>
          <p:cNvPr id="34820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17</a:t>
            </a:fld>
            <a:endParaRPr lang="en-US" altLang="zh-CN" dirty="0"/>
          </a:p>
        </p:txBody>
      </p:sp>
      <p:sp>
        <p:nvSpPr>
          <p:cNvPr id="3482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2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 txBox="1">
            <a:spLocks noGrp="1"/>
          </p:cNvSpPr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>
              <a:spcBef>
                <a:spcPct val="0"/>
              </a:spcBef>
            </a:pPr>
            <a:r>
              <a:rPr lang="en-US" altLang="zh-CN" dirty="0"/>
              <a:t>第一课</a:t>
            </a:r>
          </a:p>
        </p:txBody>
      </p:sp>
      <p:sp>
        <p:nvSpPr>
          <p:cNvPr id="36866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dirty="0"/>
              <a:t>2025/10/28</a:t>
            </a:fld>
            <a:endParaRPr lang="zh-CN" altLang="en-US" dirty="0"/>
          </a:p>
        </p:txBody>
      </p:sp>
      <p:sp>
        <p:nvSpPr>
          <p:cNvPr id="36867" name="Rectangle 6"/>
          <p:cNvSpPr txBox="1">
            <a:spLocks noGrp="1"/>
          </p:cNvSpPr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>
              <a:spcBef>
                <a:spcPct val="0"/>
              </a:spcBef>
            </a:pPr>
            <a:r>
              <a:rPr lang="en-US" altLang="zh-CN" dirty="0"/>
              <a:t>第一课</a:t>
            </a:r>
          </a:p>
        </p:txBody>
      </p:sp>
      <p:sp>
        <p:nvSpPr>
          <p:cNvPr id="36868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18</a:t>
            </a:fld>
            <a:endParaRPr lang="en-US" altLang="zh-CN" dirty="0"/>
          </a:p>
        </p:txBody>
      </p:sp>
      <p:sp>
        <p:nvSpPr>
          <p:cNvPr id="3686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7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38914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38915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3891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19</a:t>
            </a:fld>
            <a:endParaRPr lang="en-US" altLang="zh-CN" dirty="0"/>
          </a:p>
        </p:txBody>
      </p:sp>
      <p:sp>
        <p:nvSpPr>
          <p:cNvPr id="3891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 txBox="1">
            <a:spLocks noGrp="1"/>
          </p:cNvSpPr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>
              <a:spcBef>
                <a:spcPct val="0"/>
              </a:spcBef>
            </a:pPr>
            <a:r>
              <a:rPr lang="en-US" altLang="zh-CN" dirty="0"/>
              <a:t>第一课</a:t>
            </a:r>
          </a:p>
        </p:txBody>
      </p:sp>
      <p:sp>
        <p:nvSpPr>
          <p:cNvPr id="40962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dirty="0"/>
              <a:t>2025/10/28</a:t>
            </a:fld>
            <a:endParaRPr lang="zh-CN" altLang="en-US" dirty="0"/>
          </a:p>
        </p:txBody>
      </p:sp>
      <p:sp>
        <p:nvSpPr>
          <p:cNvPr id="40963" name="Rectangle 6"/>
          <p:cNvSpPr txBox="1">
            <a:spLocks noGrp="1"/>
          </p:cNvSpPr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>
              <a:spcBef>
                <a:spcPct val="0"/>
              </a:spcBef>
            </a:pPr>
            <a:r>
              <a:rPr lang="en-US" altLang="zh-CN" dirty="0"/>
              <a:t>第一课</a:t>
            </a:r>
          </a:p>
        </p:txBody>
      </p:sp>
      <p:sp>
        <p:nvSpPr>
          <p:cNvPr id="40964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20</a:t>
            </a:fld>
            <a:endParaRPr lang="en-US" altLang="zh-CN" dirty="0"/>
          </a:p>
        </p:txBody>
      </p:sp>
      <p:sp>
        <p:nvSpPr>
          <p:cNvPr id="4096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b="1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43010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43011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4301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21</a:t>
            </a:fld>
            <a:endParaRPr lang="en-US" altLang="zh-CN" dirty="0"/>
          </a:p>
        </p:txBody>
      </p:sp>
      <p:sp>
        <p:nvSpPr>
          <p:cNvPr id="4301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45058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45059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4506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22</a:t>
            </a:fld>
            <a:endParaRPr lang="en-US" altLang="zh-CN" dirty="0"/>
          </a:p>
        </p:txBody>
      </p:sp>
      <p:sp>
        <p:nvSpPr>
          <p:cNvPr id="4506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6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47106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47107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4710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23</a:t>
            </a:fld>
            <a:endParaRPr lang="en-US" altLang="zh-CN" dirty="0"/>
          </a:p>
        </p:txBody>
      </p:sp>
      <p:sp>
        <p:nvSpPr>
          <p:cNvPr id="4710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1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hyperlink" Target="&#38543;&#26426;&#28857;&#21517;&#21161;&#25163;.exe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7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/>
          <p:cNvSpPr>
            <a:spLocks noChangeArrowheads="1"/>
          </p:cNvSpPr>
          <p:nvPr/>
        </p:nvSpPr>
        <p:spPr bwMode="auto">
          <a:xfrm>
            <a:off x="0" y="404813"/>
            <a:ext cx="9144000" cy="6192838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9173" name="Rectangle 5"/>
          <p:cNvSpPr>
            <a:spLocks noChangeArrowheads="1"/>
          </p:cNvSpPr>
          <p:nvPr/>
        </p:nvSpPr>
        <p:spPr bwMode="auto">
          <a:xfrm>
            <a:off x="2987675" y="44450"/>
            <a:ext cx="374491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矢量分析</a:t>
            </a:r>
          </a:p>
        </p:txBody>
      </p:sp>
      <p:sp>
        <p:nvSpPr>
          <p:cNvPr id="1028" name="Rectangle 10" descr="深色横线"/>
          <p:cNvSpPr>
            <a:spLocks noChangeArrowheads="1"/>
          </p:cNvSpPr>
          <p:nvPr/>
        </p:nvSpPr>
        <p:spPr bwMode="auto">
          <a:xfrm>
            <a:off x="0" y="34766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573CF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电磁场与电磁波</a:t>
            </a:r>
          </a:p>
        </p:txBody>
      </p:sp>
      <p:sp>
        <p:nvSpPr>
          <p:cNvPr id="1030" name="Rectangle 28" descr="栎木"/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7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30" descr="深色横线"/>
          <p:cNvSpPr>
            <a:spLocks noChangeArrowheads="1"/>
          </p:cNvSpPr>
          <p:nvPr/>
        </p:nvSpPr>
        <p:spPr bwMode="auto">
          <a:xfrm>
            <a:off x="0" y="652621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19204" name="Text Box 36"/>
          <p:cNvSpPr txBox="1">
            <a:spLocks noChangeArrowheads="1"/>
          </p:cNvSpPr>
          <p:nvPr/>
        </p:nvSpPr>
        <p:spPr bwMode="auto">
          <a:xfrm>
            <a:off x="8694738" y="38100"/>
            <a:ext cx="414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  <a:hlinkClick r:id="rId18" action="ppaction://hlinkfile"/>
              </a:rPr>
              <a:t>点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8.emf"/><Relationship Id="rId26" Type="http://schemas.openxmlformats.org/officeDocument/2006/relationships/image" Target="../media/image13.png"/><Relationship Id="rId3" Type="http://schemas.openxmlformats.org/officeDocument/2006/relationships/slide" Target="slide3.xml"/><Relationship Id="rId21" Type="http://schemas.openxmlformats.org/officeDocument/2006/relationships/oleObject" Target="../embeddings/oleObject9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5.emf"/><Relationship Id="rId17" Type="http://schemas.openxmlformats.org/officeDocument/2006/relationships/oleObject" Target="../embeddings/oleObject7.bin"/><Relationship Id="rId25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emf"/><Relationship Id="rId20" Type="http://schemas.openxmlformats.org/officeDocument/2006/relationships/image" Target="../media/image9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4.bin"/><Relationship Id="rId24" Type="http://schemas.openxmlformats.org/officeDocument/2006/relationships/image" Target="../media/image11.emf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23" Type="http://schemas.openxmlformats.org/officeDocument/2006/relationships/oleObject" Target="../embeddings/oleObject10.bin"/><Relationship Id="rId28" Type="http://schemas.openxmlformats.org/officeDocument/2006/relationships/image" Target="../media/image15.png"/><Relationship Id="rId10" Type="http://schemas.openxmlformats.org/officeDocument/2006/relationships/image" Target="../media/image4.emf"/><Relationship Id="rId19" Type="http://schemas.openxmlformats.org/officeDocument/2006/relationships/oleObject" Target="../embeddings/oleObject8.bin"/><Relationship Id="rId4" Type="http://schemas.openxmlformats.org/officeDocument/2006/relationships/slide" Target="slide13.xml"/><Relationship Id="rId9" Type="http://schemas.openxmlformats.org/officeDocument/2006/relationships/oleObject" Target="../embeddings/oleObject3.bin"/><Relationship Id="rId14" Type="http://schemas.openxmlformats.org/officeDocument/2006/relationships/image" Target="../media/image6.emf"/><Relationship Id="rId22" Type="http://schemas.openxmlformats.org/officeDocument/2006/relationships/image" Target="../media/image10.emf"/><Relationship Id="rId27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slide" Target="slide2.xml"/><Relationship Id="rId4" Type="http://schemas.openxmlformats.org/officeDocument/2006/relationships/image" Target="../media/image1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oleObject" Target="../embeddings/oleObject12.bin"/><Relationship Id="rId7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emf"/><Relationship Id="rId11" Type="http://schemas.openxmlformats.org/officeDocument/2006/relationships/image" Target="../media/image22.png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1.png"/><Relationship Id="rId4" Type="http://schemas.openxmlformats.org/officeDocument/2006/relationships/image" Target="../media/image18.emf"/><Relationship Id="rId9" Type="http://schemas.openxmlformats.org/officeDocument/2006/relationships/image" Target="../media/image2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8.e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23.emf"/><Relationship Id="rId21" Type="http://schemas.openxmlformats.org/officeDocument/2006/relationships/image" Target="../media/image32.emf"/><Relationship Id="rId7" Type="http://schemas.openxmlformats.org/officeDocument/2006/relationships/image" Target="../media/image25.e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30.e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7.emf"/><Relationship Id="rId5" Type="http://schemas.openxmlformats.org/officeDocument/2006/relationships/image" Target="../media/image24.emf"/><Relationship Id="rId15" Type="http://schemas.openxmlformats.org/officeDocument/2006/relationships/image" Target="../media/image29.e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31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6.emf"/><Relationship Id="rId14" Type="http://schemas.openxmlformats.org/officeDocument/2006/relationships/oleObject" Target="../embeddings/oleObject21.bin"/><Relationship Id="rId22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.bin"/><Relationship Id="rId18" Type="http://schemas.openxmlformats.org/officeDocument/2006/relationships/image" Target="../media/image40.emf"/><Relationship Id="rId26" Type="http://schemas.openxmlformats.org/officeDocument/2006/relationships/image" Target="../media/image44.emf"/><Relationship Id="rId21" Type="http://schemas.openxmlformats.org/officeDocument/2006/relationships/oleObject" Target="../embeddings/oleObject34.bin"/><Relationship Id="rId34" Type="http://schemas.openxmlformats.org/officeDocument/2006/relationships/oleObject" Target="../embeddings/oleObject40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7.emf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6.bin"/><Relationship Id="rId33" Type="http://schemas.openxmlformats.org/officeDocument/2006/relationships/image" Target="../media/image47.e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.emf"/><Relationship Id="rId20" Type="http://schemas.openxmlformats.org/officeDocument/2006/relationships/image" Target="../media/image41.emf"/><Relationship Id="rId29" Type="http://schemas.openxmlformats.org/officeDocument/2006/relationships/slide" Target="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43.emf"/><Relationship Id="rId32" Type="http://schemas.openxmlformats.org/officeDocument/2006/relationships/oleObject" Target="../embeddings/oleObject39.bin"/><Relationship Id="rId37" Type="http://schemas.openxmlformats.org/officeDocument/2006/relationships/image" Target="../media/image50.png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28" Type="http://schemas.openxmlformats.org/officeDocument/2006/relationships/image" Target="../media/image45.emf"/><Relationship Id="rId36" Type="http://schemas.openxmlformats.org/officeDocument/2006/relationships/image" Target="../media/image49.png"/><Relationship Id="rId10" Type="http://schemas.openxmlformats.org/officeDocument/2006/relationships/image" Target="../media/image36.emf"/><Relationship Id="rId19" Type="http://schemas.openxmlformats.org/officeDocument/2006/relationships/oleObject" Target="../embeddings/oleObject33.bin"/><Relationship Id="rId31" Type="http://schemas.openxmlformats.org/officeDocument/2006/relationships/image" Target="../media/image46.emf"/><Relationship Id="rId4" Type="http://schemas.openxmlformats.org/officeDocument/2006/relationships/image" Target="../media/image33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8.emf"/><Relationship Id="rId22" Type="http://schemas.openxmlformats.org/officeDocument/2006/relationships/image" Target="../media/image42.emf"/><Relationship Id="rId27" Type="http://schemas.openxmlformats.org/officeDocument/2006/relationships/oleObject" Target="../embeddings/oleObject37.bin"/><Relationship Id="rId30" Type="http://schemas.openxmlformats.org/officeDocument/2006/relationships/oleObject" Target="../embeddings/oleObject38.bin"/><Relationship Id="rId35" Type="http://schemas.openxmlformats.org/officeDocument/2006/relationships/image" Target="../media/image48.emf"/><Relationship Id="rId8" Type="http://schemas.openxmlformats.org/officeDocument/2006/relationships/image" Target="../media/image35.emf"/><Relationship Id="rId3" Type="http://schemas.openxmlformats.org/officeDocument/2006/relationships/oleObject" Target="../embeddings/oleObject2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2.e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1.png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.bin"/><Relationship Id="rId18" Type="http://schemas.openxmlformats.org/officeDocument/2006/relationships/image" Target="../media/image61.emf"/><Relationship Id="rId26" Type="http://schemas.openxmlformats.org/officeDocument/2006/relationships/image" Target="../media/image65.emf"/><Relationship Id="rId21" Type="http://schemas.openxmlformats.org/officeDocument/2006/relationships/oleObject" Target="../embeddings/oleObject51.bin"/><Relationship Id="rId34" Type="http://schemas.openxmlformats.org/officeDocument/2006/relationships/oleObject" Target="../embeddings/oleObject57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8.e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33" Type="http://schemas.openxmlformats.org/officeDocument/2006/relationships/image" Target="../media/image68.emf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0.emf"/><Relationship Id="rId20" Type="http://schemas.openxmlformats.org/officeDocument/2006/relationships/image" Target="../media/image62.emf"/><Relationship Id="rId29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64.emf"/><Relationship Id="rId32" Type="http://schemas.openxmlformats.org/officeDocument/2006/relationships/oleObject" Target="../embeddings/oleObject56.bin"/><Relationship Id="rId37" Type="http://schemas.openxmlformats.org/officeDocument/2006/relationships/image" Target="../media/image71.png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66.emf"/><Relationship Id="rId36" Type="http://schemas.openxmlformats.org/officeDocument/2006/relationships/image" Target="../media/image70.png"/><Relationship Id="rId10" Type="http://schemas.openxmlformats.org/officeDocument/2006/relationships/image" Target="../media/image57.emf"/><Relationship Id="rId19" Type="http://schemas.openxmlformats.org/officeDocument/2006/relationships/oleObject" Target="../embeddings/oleObject50.bin"/><Relationship Id="rId31" Type="http://schemas.openxmlformats.org/officeDocument/2006/relationships/image" Target="../media/image67.emf"/><Relationship Id="rId4" Type="http://schemas.openxmlformats.org/officeDocument/2006/relationships/image" Target="../media/image54.e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9.emf"/><Relationship Id="rId22" Type="http://schemas.openxmlformats.org/officeDocument/2006/relationships/image" Target="../media/image63.emf"/><Relationship Id="rId27" Type="http://schemas.openxmlformats.org/officeDocument/2006/relationships/oleObject" Target="../embeddings/oleObject54.bin"/><Relationship Id="rId30" Type="http://schemas.openxmlformats.org/officeDocument/2006/relationships/oleObject" Target="../embeddings/oleObject55.bin"/><Relationship Id="rId35" Type="http://schemas.openxmlformats.org/officeDocument/2006/relationships/image" Target="../media/image69.emf"/><Relationship Id="rId8" Type="http://schemas.openxmlformats.org/officeDocument/2006/relationships/image" Target="../media/image56.emf"/><Relationship Id="rId3" Type="http://schemas.openxmlformats.org/officeDocument/2006/relationships/oleObject" Target="../embeddings/oleObject4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emf"/><Relationship Id="rId11" Type="http://schemas.openxmlformats.org/officeDocument/2006/relationships/slide" Target="slide2.xml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81.e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6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89.wmf"/><Relationship Id="rId3" Type="http://schemas.openxmlformats.org/officeDocument/2006/relationships/oleObject" Target="../embeddings/oleObject62.bin"/><Relationship Id="rId21" Type="http://schemas.openxmlformats.org/officeDocument/2006/relationships/image" Target="../media/image90.emf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86.emf"/><Relationship Id="rId17" Type="http://schemas.openxmlformats.org/officeDocument/2006/relationships/oleObject" Target="../embeddings/oleObject69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8.wmf"/><Relationship Id="rId20" Type="http://schemas.openxmlformats.org/officeDocument/2006/relationships/oleObject" Target="../embeddings/oleObject70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92.e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1.bin"/><Relationship Id="rId10" Type="http://schemas.openxmlformats.org/officeDocument/2006/relationships/image" Target="../media/image85.emf"/><Relationship Id="rId19" Type="http://schemas.openxmlformats.org/officeDocument/2006/relationships/slide" Target="slide2.xml"/><Relationship Id="rId4" Type="http://schemas.openxmlformats.org/officeDocument/2006/relationships/image" Target="../media/image82.e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87.wmf"/><Relationship Id="rId22" Type="http://schemas.openxmlformats.org/officeDocument/2006/relationships/image" Target="../media/image9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98.emf"/><Relationship Id="rId18" Type="http://schemas.openxmlformats.org/officeDocument/2006/relationships/image" Target="../media/image100.emf"/><Relationship Id="rId3" Type="http://schemas.openxmlformats.org/officeDocument/2006/relationships/oleObject" Target="../embeddings/oleObject72.bin"/><Relationship Id="rId21" Type="http://schemas.openxmlformats.org/officeDocument/2006/relationships/image" Target="../media/image102.png"/><Relationship Id="rId7" Type="http://schemas.openxmlformats.org/officeDocument/2006/relationships/image" Target="../media/image95.png"/><Relationship Id="rId12" Type="http://schemas.openxmlformats.org/officeDocument/2006/relationships/oleObject" Target="../embeddings/oleObject76.bin"/><Relationship Id="rId17" Type="http://schemas.openxmlformats.org/officeDocument/2006/relationships/oleObject" Target="../embeddings/oleObject78.bin"/><Relationship Id="rId2" Type="http://schemas.openxmlformats.org/officeDocument/2006/relationships/notesSlide" Target="../notesSlides/notesSlide12.xml"/><Relationship Id="rId16" Type="http://schemas.openxmlformats.org/officeDocument/2006/relationships/slide" Target="slide2.xml"/><Relationship Id="rId20" Type="http://schemas.openxmlformats.org/officeDocument/2006/relationships/image" Target="../media/image101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4.emf"/><Relationship Id="rId11" Type="http://schemas.openxmlformats.org/officeDocument/2006/relationships/image" Target="../media/image97.emf"/><Relationship Id="rId5" Type="http://schemas.openxmlformats.org/officeDocument/2006/relationships/oleObject" Target="../embeddings/oleObject73.bin"/><Relationship Id="rId15" Type="http://schemas.openxmlformats.org/officeDocument/2006/relationships/image" Target="../media/image99.emf"/><Relationship Id="rId10" Type="http://schemas.openxmlformats.org/officeDocument/2006/relationships/oleObject" Target="../embeddings/oleObject75.bin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93.emf"/><Relationship Id="rId9" Type="http://schemas.openxmlformats.org/officeDocument/2006/relationships/image" Target="../media/image96.emf"/><Relationship Id="rId14" Type="http://schemas.openxmlformats.org/officeDocument/2006/relationships/oleObject" Target="../embeddings/oleObject7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oleObject" Target="../embeddings/oleObject80.bin"/><Relationship Id="rId7" Type="http://schemas.openxmlformats.org/officeDocument/2006/relationships/image" Target="../media/image10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1.bin"/><Relationship Id="rId5" Type="http://schemas.openxmlformats.org/officeDocument/2006/relationships/slide" Target="slide2.xml"/><Relationship Id="rId10" Type="http://schemas.openxmlformats.org/officeDocument/2006/relationships/image" Target="../media/image106.png"/><Relationship Id="rId4" Type="http://schemas.openxmlformats.org/officeDocument/2006/relationships/image" Target="../media/image103.emf"/><Relationship Id="rId9" Type="http://schemas.openxmlformats.org/officeDocument/2006/relationships/image" Target="../media/image10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3" Type="http://schemas.openxmlformats.org/officeDocument/2006/relationships/oleObject" Target="../embeddings/oleObject82.bin"/><Relationship Id="rId7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emf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109.png"/><Relationship Id="rId4" Type="http://schemas.openxmlformats.org/officeDocument/2006/relationships/image" Target="../media/image107.emf"/><Relationship Id="rId9" Type="http://schemas.openxmlformats.org/officeDocument/2006/relationships/image" Target="../media/image100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115.emf"/><Relationship Id="rId18" Type="http://schemas.openxmlformats.org/officeDocument/2006/relationships/image" Target="../media/image117.emf"/><Relationship Id="rId3" Type="http://schemas.openxmlformats.org/officeDocument/2006/relationships/oleObject" Target="../embeddings/oleObject85.bin"/><Relationship Id="rId21" Type="http://schemas.openxmlformats.org/officeDocument/2006/relationships/image" Target="../media/image119.png"/><Relationship Id="rId7" Type="http://schemas.openxmlformats.org/officeDocument/2006/relationships/image" Target="../media/image112.png"/><Relationship Id="rId12" Type="http://schemas.openxmlformats.org/officeDocument/2006/relationships/oleObject" Target="../embeddings/oleObject89.bin"/><Relationship Id="rId17" Type="http://schemas.openxmlformats.org/officeDocument/2006/relationships/oleObject" Target="../embeddings/oleObject91.bin"/><Relationship Id="rId2" Type="http://schemas.openxmlformats.org/officeDocument/2006/relationships/notesSlide" Target="../notesSlides/notesSlide15.xml"/><Relationship Id="rId16" Type="http://schemas.openxmlformats.org/officeDocument/2006/relationships/slide" Target="slide2.xml"/><Relationship Id="rId20" Type="http://schemas.openxmlformats.org/officeDocument/2006/relationships/image" Target="../media/image11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emf"/><Relationship Id="rId11" Type="http://schemas.openxmlformats.org/officeDocument/2006/relationships/image" Target="../media/image114.emf"/><Relationship Id="rId5" Type="http://schemas.openxmlformats.org/officeDocument/2006/relationships/oleObject" Target="../embeddings/oleObject86.bin"/><Relationship Id="rId15" Type="http://schemas.openxmlformats.org/officeDocument/2006/relationships/image" Target="../media/image116.emf"/><Relationship Id="rId10" Type="http://schemas.openxmlformats.org/officeDocument/2006/relationships/oleObject" Target="../embeddings/oleObject88.bin"/><Relationship Id="rId19" Type="http://schemas.openxmlformats.org/officeDocument/2006/relationships/oleObject" Target="../embeddings/oleObject92.bin"/><Relationship Id="rId4" Type="http://schemas.openxmlformats.org/officeDocument/2006/relationships/image" Target="../media/image110.emf"/><Relationship Id="rId9" Type="http://schemas.openxmlformats.org/officeDocument/2006/relationships/image" Target="../media/image113.emf"/><Relationship Id="rId14" Type="http://schemas.openxmlformats.org/officeDocument/2006/relationships/oleObject" Target="../embeddings/oleObject9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slide" Target="slide2.xml"/><Relationship Id="rId7" Type="http://schemas.openxmlformats.org/officeDocument/2006/relationships/image" Target="../media/image12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124.png"/><Relationship Id="rId5" Type="http://schemas.openxmlformats.org/officeDocument/2006/relationships/image" Target="../media/image117.emf"/><Relationship Id="rId10" Type="http://schemas.openxmlformats.org/officeDocument/2006/relationships/image" Target="../media/image123.png"/><Relationship Id="rId4" Type="http://schemas.openxmlformats.org/officeDocument/2006/relationships/oleObject" Target="../embeddings/oleObject93.bin"/><Relationship Id="rId9" Type="http://schemas.openxmlformats.org/officeDocument/2006/relationships/image" Target="../media/image1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oleObject" Target="../embeddings/oleObject95.bin"/><Relationship Id="rId7" Type="http://schemas.openxmlformats.org/officeDocument/2006/relationships/image" Target="../media/image11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6.bin"/><Relationship Id="rId5" Type="http://schemas.openxmlformats.org/officeDocument/2006/relationships/slide" Target="slide2.xml"/><Relationship Id="rId4" Type="http://schemas.openxmlformats.org/officeDocument/2006/relationships/image" Target="../media/image125.emf"/><Relationship Id="rId9" Type="http://schemas.openxmlformats.org/officeDocument/2006/relationships/image" Target="../media/image127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9.wmf"/><Relationship Id="rId21" Type="http://schemas.openxmlformats.org/officeDocument/2006/relationships/oleObject" Target="../embeddings/oleObject106.bin"/><Relationship Id="rId42" Type="http://schemas.openxmlformats.org/officeDocument/2006/relationships/oleObject" Target="../embeddings/oleObject118.bin"/><Relationship Id="rId47" Type="http://schemas.openxmlformats.org/officeDocument/2006/relationships/oleObject" Target="../embeddings/oleObject121.bin"/><Relationship Id="rId63" Type="http://schemas.openxmlformats.org/officeDocument/2006/relationships/image" Target="../media/image153.wmf"/><Relationship Id="rId68" Type="http://schemas.openxmlformats.org/officeDocument/2006/relationships/oleObject" Target="../embeddings/oleObject134.bin"/><Relationship Id="rId84" Type="http://schemas.openxmlformats.org/officeDocument/2006/relationships/image" Target="../media/image160.emf"/><Relationship Id="rId16" Type="http://schemas.openxmlformats.org/officeDocument/2006/relationships/image" Target="../media/image134.wmf"/><Relationship Id="rId11" Type="http://schemas.openxmlformats.org/officeDocument/2006/relationships/oleObject" Target="../embeddings/oleObject101.bin"/><Relationship Id="rId32" Type="http://schemas.openxmlformats.org/officeDocument/2006/relationships/image" Target="../media/image141.wmf"/><Relationship Id="rId37" Type="http://schemas.openxmlformats.org/officeDocument/2006/relationships/image" Target="../media/image143.wmf"/><Relationship Id="rId53" Type="http://schemas.openxmlformats.org/officeDocument/2006/relationships/oleObject" Target="../embeddings/oleObject125.bin"/><Relationship Id="rId58" Type="http://schemas.openxmlformats.org/officeDocument/2006/relationships/oleObject" Target="../embeddings/oleObject129.bin"/><Relationship Id="rId74" Type="http://schemas.openxmlformats.org/officeDocument/2006/relationships/image" Target="../media/image157.wmf"/><Relationship Id="rId79" Type="http://schemas.openxmlformats.org/officeDocument/2006/relationships/oleObject" Target="../embeddings/oleObject142.bin"/><Relationship Id="rId5" Type="http://schemas.openxmlformats.org/officeDocument/2006/relationships/oleObject" Target="../embeddings/oleObject98.bin"/><Relationship Id="rId19" Type="http://schemas.openxmlformats.org/officeDocument/2006/relationships/oleObject" Target="../embeddings/oleObject105.bin"/><Relationship Id="rId14" Type="http://schemas.openxmlformats.org/officeDocument/2006/relationships/image" Target="../media/image133.wmf"/><Relationship Id="rId22" Type="http://schemas.openxmlformats.org/officeDocument/2006/relationships/image" Target="../media/image137.wmf"/><Relationship Id="rId27" Type="http://schemas.openxmlformats.org/officeDocument/2006/relationships/oleObject" Target="../embeddings/oleObject109.bin"/><Relationship Id="rId30" Type="http://schemas.openxmlformats.org/officeDocument/2006/relationships/image" Target="../media/image140.wmf"/><Relationship Id="rId35" Type="http://schemas.openxmlformats.org/officeDocument/2006/relationships/oleObject" Target="../embeddings/oleObject114.bin"/><Relationship Id="rId43" Type="http://schemas.openxmlformats.org/officeDocument/2006/relationships/image" Target="../media/image146.wmf"/><Relationship Id="rId48" Type="http://schemas.openxmlformats.org/officeDocument/2006/relationships/image" Target="../media/image148.wmf"/><Relationship Id="rId56" Type="http://schemas.openxmlformats.org/officeDocument/2006/relationships/oleObject" Target="../embeddings/oleObject128.bin"/><Relationship Id="rId64" Type="http://schemas.openxmlformats.org/officeDocument/2006/relationships/oleObject" Target="../embeddings/oleObject132.bin"/><Relationship Id="rId69" Type="http://schemas.openxmlformats.org/officeDocument/2006/relationships/image" Target="../media/image156.wmf"/><Relationship Id="rId77" Type="http://schemas.openxmlformats.org/officeDocument/2006/relationships/oleObject" Target="../embeddings/oleObject140.bin"/><Relationship Id="rId8" Type="http://schemas.openxmlformats.org/officeDocument/2006/relationships/image" Target="../media/image130.wmf"/><Relationship Id="rId51" Type="http://schemas.openxmlformats.org/officeDocument/2006/relationships/oleObject" Target="../embeddings/oleObject123.bin"/><Relationship Id="rId72" Type="http://schemas.openxmlformats.org/officeDocument/2006/relationships/oleObject" Target="../embeddings/oleObject137.bin"/><Relationship Id="rId80" Type="http://schemas.openxmlformats.org/officeDocument/2006/relationships/oleObject" Target="../embeddings/oleObject143.bin"/><Relationship Id="rId85" Type="http://schemas.openxmlformats.org/officeDocument/2006/relationships/slide" Target="slide2.xml"/><Relationship Id="rId3" Type="http://schemas.openxmlformats.org/officeDocument/2006/relationships/oleObject" Target="../embeddings/oleObject97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04.bin"/><Relationship Id="rId25" Type="http://schemas.openxmlformats.org/officeDocument/2006/relationships/oleObject" Target="../embeddings/oleObject108.bin"/><Relationship Id="rId33" Type="http://schemas.openxmlformats.org/officeDocument/2006/relationships/oleObject" Target="../embeddings/oleObject113.bin"/><Relationship Id="rId38" Type="http://schemas.openxmlformats.org/officeDocument/2006/relationships/oleObject" Target="../embeddings/oleObject116.bin"/><Relationship Id="rId46" Type="http://schemas.openxmlformats.org/officeDocument/2006/relationships/image" Target="../media/image147.wmf"/><Relationship Id="rId59" Type="http://schemas.openxmlformats.org/officeDocument/2006/relationships/image" Target="../media/image151.wmf"/><Relationship Id="rId67" Type="http://schemas.openxmlformats.org/officeDocument/2006/relationships/image" Target="../media/image155.wmf"/><Relationship Id="rId20" Type="http://schemas.openxmlformats.org/officeDocument/2006/relationships/image" Target="../media/image136.wmf"/><Relationship Id="rId41" Type="http://schemas.openxmlformats.org/officeDocument/2006/relationships/image" Target="../media/image145.wmf"/><Relationship Id="rId54" Type="http://schemas.openxmlformats.org/officeDocument/2006/relationships/oleObject" Target="../embeddings/oleObject126.bin"/><Relationship Id="rId62" Type="http://schemas.openxmlformats.org/officeDocument/2006/relationships/oleObject" Target="../embeddings/oleObject131.bin"/><Relationship Id="rId70" Type="http://schemas.openxmlformats.org/officeDocument/2006/relationships/oleObject" Target="../embeddings/oleObject135.bin"/><Relationship Id="rId75" Type="http://schemas.openxmlformats.org/officeDocument/2006/relationships/oleObject" Target="../embeddings/oleObject139.bin"/><Relationship Id="rId83" Type="http://schemas.openxmlformats.org/officeDocument/2006/relationships/oleObject" Target="../embeddings/oleObject145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9.wmf"/><Relationship Id="rId15" Type="http://schemas.openxmlformats.org/officeDocument/2006/relationships/oleObject" Target="../embeddings/oleObject103.bin"/><Relationship Id="rId23" Type="http://schemas.openxmlformats.org/officeDocument/2006/relationships/oleObject" Target="../embeddings/oleObject107.bin"/><Relationship Id="rId28" Type="http://schemas.openxmlformats.org/officeDocument/2006/relationships/oleObject" Target="../embeddings/oleObject110.bin"/><Relationship Id="rId36" Type="http://schemas.openxmlformats.org/officeDocument/2006/relationships/oleObject" Target="../embeddings/oleObject115.bin"/><Relationship Id="rId49" Type="http://schemas.openxmlformats.org/officeDocument/2006/relationships/oleObject" Target="../embeddings/oleObject122.bin"/><Relationship Id="rId57" Type="http://schemas.openxmlformats.org/officeDocument/2006/relationships/image" Target="../media/image150.wmf"/><Relationship Id="rId10" Type="http://schemas.openxmlformats.org/officeDocument/2006/relationships/image" Target="../media/image131.wmf"/><Relationship Id="rId31" Type="http://schemas.openxmlformats.org/officeDocument/2006/relationships/oleObject" Target="../embeddings/oleObject112.bin"/><Relationship Id="rId44" Type="http://schemas.openxmlformats.org/officeDocument/2006/relationships/oleObject" Target="../embeddings/oleObject119.bin"/><Relationship Id="rId52" Type="http://schemas.openxmlformats.org/officeDocument/2006/relationships/oleObject" Target="../embeddings/oleObject124.bin"/><Relationship Id="rId60" Type="http://schemas.openxmlformats.org/officeDocument/2006/relationships/oleObject" Target="../embeddings/oleObject130.bin"/><Relationship Id="rId65" Type="http://schemas.openxmlformats.org/officeDocument/2006/relationships/image" Target="../media/image154.wmf"/><Relationship Id="rId73" Type="http://schemas.openxmlformats.org/officeDocument/2006/relationships/oleObject" Target="../embeddings/oleObject138.bin"/><Relationship Id="rId78" Type="http://schemas.openxmlformats.org/officeDocument/2006/relationships/oleObject" Target="../embeddings/oleObject141.bin"/><Relationship Id="rId81" Type="http://schemas.openxmlformats.org/officeDocument/2006/relationships/oleObject" Target="../embeddings/oleObject144.bin"/><Relationship Id="rId86" Type="http://schemas.openxmlformats.org/officeDocument/2006/relationships/image" Target="../media/image161.png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00.bin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135.wmf"/><Relationship Id="rId39" Type="http://schemas.openxmlformats.org/officeDocument/2006/relationships/image" Target="../media/image144.wmf"/><Relationship Id="rId34" Type="http://schemas.openxmlformats.org/officeDocument/2006/relationships/image" Target="../media/image142.wmf"/><Relationship Id="rId50" Type="http://schemas.openxmlformats.org/officeDocument/2006/relationships/image" Target="../media/image149.wmf"/><Relationship Id="rId55" Type="http://schemas.openxmlformats.org/officeDocument/2006/relationships/oleObject" Target="../embeddings/oleObject127.bin"/><Relationship Id="rId76" Type="http://schemas.openxmlformats.org/officeDocument/2006/relationships/image" Target="../media/image158.wmf"/><Relationship Id="rId7" Type="http://schemas.openxmlformats.org/officeDocument/2006/relationships/oleObject" Target="../embeddings/oleObject99.bin"/><Relationship Id="rId71" Type="http://schemas.openxmlformats.org/officeDocument/2006/relationships/oleObject" Target="../embeddings/oleObject136.bin"/><Relationship Id="rId2" Type="http://schemas.openxmlformats.org/officeDocument/2006/relationships/notesSlide" Target="../notesSlides/notesSlide18.xml"/><Relationship Id="rId29" Type="http://schemas.openxmlformats.org/officeDocument/2006/relationships/oleObject" Target="../embeddings/oleObject111.bin"/><Relationship Id="rId24" Type="http://schemas.openxmlformats.org/officeDocument/2006/relationships/image" Target="../media/image138.wmf"/><Relationship Id="rId40" Type="http://schemas.openxmlformats.org/officeDocument/2006/relationships/oleObject" Target="../embeddings/oleObject117.bin"/><Relationship Id="rId45" Type="http://schemas.openxmlformats.org/officeDocument/2006/relationships/oleObject" Target="../embeddings/oleObject120.bin"/><Relationship Id="rId66" Type="http://schemas.openxmlformats.org/officeDocument/2006/relationships/oleObject" Target="../embeddings/oleObject133.bin"/><Relationship Id="rId61" Type="http://schemas.openxmlformats.org/officeDocument/2006/relationships/image" Target="../media/image152.wmf"/><Relationship Id="rId82" Type="http://schemas.openxmlformats.org/officeDocument/2006/relationships/image" Target="../media/image159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13" Type="http://schemas.openxmlformats.org/officeDocument/2006/relationships/image" Target="../media/image168.png"/><Relationship Id="rId3" Type="http://schemas.openxmlformats.org/officeDocument/2006/relationships/slide" Target="slide2.xml"/><Relationship Id="rId7" Type="http://schemas.openxmlformats.org/officeDocument/2006/relationships/image" Target="../media/image163.emf"/><Relationship Id="rId12" Type="http://schemas.openxmlformats.org/officeDocument/2006/relationships/image" Target="../media/image1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66.png"/><Relationship Id="rId5" Type="http://schemas.openxmlformats.org/officeDocument/2006/relationships/image" Target="../media/image162.emf"/><Relationship Id="rId10" Type="http://schemas.openxmlformats.org/officeDocument/2006/relationships/image" Target="../media/image165.png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6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17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0.bin"/><Relationship Id="rId5" Type="http://schemas.openxmlformats.org/officeDocument/2006/relationships/image" Target="../media/image169.emf"/><Relationship Id="rId4" Type="http://schemas.openxmlformats.org/officeDocument/2006/relationships/oleObject" Target="../embeddings/oleObject149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3">
            <a:hlinkClick r:id="" action="ppaction://hlinkshowjump?jump=firstslide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098" name="AutoShape 14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099" name="AutoShape 15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100" name="AutoShape 16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101" name="WordArt 17"/>
          <p:cNvSpPr>
            <a:spLocks noTextEdit="1"/>
          </p:cNvSpPr>
          <p:nvPr/>
        </p:nvSpPr>
        <p:spPr>
          <a:xfrm>
            <a:off x="827088" y="2349500"/>
            <a:ext cx="7489825" cy="1655763"/>
          </a:xfrm>
          <a:prstGeom prst="rect">
            <a:avLst/>
          </a:prstGeom>
        </p:spPr>
        <p:txBody>
          <a:bodyPr wrap="none" fromWordArt="1">
            <a:prstTxWarp prst="textInflateTop">
              <a:avLst>
                <a:gd name="adj" fmla="val 31917"/>
              </a:avLst>
            </a:prstTxWarp>
            <a:normAutofit/>
          </a:bodyPr>
          <a:lstStyle/>
          <a:p>
            <a:pPr algn="ctr"/>
            <a:r>
              <a:rPr lang="zh-CN" altLang="en-US" sz="3600">
                <a:gradFill rotWithShape="0">
                  <a:gsLst>
                    <a:gs pos="0">
                      <a:srgbClr val="FF9966"/>
                    </a:gs>
                    <a:gs pos="100000">
                      <a:srgbClr val="009999"/>
                    </a:gs>
                  </a:gsLst>
                  <a:lin ang="5400000" scaled="1"/>
                  <a:tileRect/>
                </a:gradFill>
                <a:effectLst>
                  <a:outerShdw dist="53882" dir="2699999" algn="ctr" rotWithShape="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第1章 矢量分析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3"/>
          <p:cNvSpPr txBox="1"/>
          <p:nvPr/>
        </p:nvSpPr>
        <p:spPr>
          <a:xfrm>
            <a:off x="36114" y="566738"/>
            <a:ext cx="9000382" cy="4960332"/>
          </a:xfrm>
          <a:prstGeom prst="rect">
            <a:avLst/>
          </a:prstGeom>
          <a:noFill/>
          <a:ln w="25400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本章内容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1.1   </a:t>
            </a: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rId3" action="ppaction://hlinksldjump"/>
              </a:rPr>
              <a:t>矢量代数</a:t>
            </a:r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1.2   </a:t>
            </a: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rId4" action="ppaction://hlinksldjump"/>
              </a:rPr>
              <a:t>三种常用的正交曲线坐标系</a:t>
            </a:r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1.3</a:t>
            </a: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</a:t>
            </a: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" action="ppaction://noaction"/>
              </a:rPr>
              <a:t>标量场的方向导数</a:t>
            </a:r>
            <a:r>
              <a:rPr lang="zh-CN" altLang="en-US" sz="1800" u="sng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" action="ppaction://noaction"/>
              </a:rPr>
              <a:t>      </a:t>
            </a: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" action="ppaction://noaction"/>
              </a:rPr>
              <a:t>与梯度</a:t>
            </a:r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600" i="1" dirty="0">
                <a:solidFill>
                  <a:srgbClr val="FF81C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（两类）源</a:t>
            </a:r>
            <a:r>
              <a:rPr lang="zh-CN" altLang="en-US" sz="1600" i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的角度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1.4</a:t>
            </a: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</a:t>
            </a: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" action="ppaction://noaction"/>
              </a:rPr>
              <a:t>矢量场的纯通量源            与纯散度源      （高斯定理</a:t>
            </a: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    </a:t>
            </a:r>
            <a:r>
              <a:rPr lang="zh-CN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）</a:t>
            </a:r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1.5</a:t>
            </a: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</a:t>
            </a: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" action="ppaction://noaction"/>
              </a:rPr>
              <a:t>矢量场的纯环流源          与纯旋度源        （斯托克斯定理</a:t>
            </a: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</a:t>
            </a:r>
            <a:r>
              <a:rPr lang="zh-CN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）</a:t>
            </a:r>
            <a:endParaRPr lang="en-US" altLang="zh-CN" sz="1800" dirty="0">
              <a:solidFill>
                <a:schemeClr val="hlink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endParaRPr lang="en-US" altLang="zh-CN" sz="1800" dirty="0">
              <a:solidFill>
                <a:schemeClr val="hlink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600" i="1" dirty="0">
                <a:solidFill>
                  <a:srgbClr val="FFC000"/>
                </a:solidFill>
                <a:latin typeface="Times New Roman" panose="02020603050405020304" pitchFamily="18" charset="0"/>
              </a:rPr>
              <a:t>（四类）</a:t>
            </a:r>
            <a:r>
              <a:rPr lang="zh-CN" altLang="en-US" sz="1600" i="1" dirty="0">
                <a:solidFill>
                  <a:srgbClr val="FFC000"/>
                </a:solidFill>
                <a:latin typeface="Times New Roman" panose="02020603050405020304" pitchFamily="18" charset="0"/>
                <a:ea typeface="楷体_GB2312" pitchFamily="49" charset="-122"/>
              </a:rPr>
              <a:t>场</a:t>
            </a:r>
            <a:r>
              <a:rPr lang="zh-CN" altLang="en-US" sz="160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的角度</a:t>
            </a:r>
            <a:endParaRPr lang="en-US" altLang="zh-CN" sz="1600" i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1.6</a:t>
            </a: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</a:t>
            </a:r>
            <a:r>
              <a:rPr lang="zh-CN" altLang="en-US" sz="1800" u="sng" dirty="0">
                <a:solidFill>
                  <a:schemeClr val="hlink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（有散）</a:t>
            </a:r>
            <a:r>
              <a:rPr lang="zh-CN" altLang="en-US" sz="1800" dirty="0">
                <a:solidFill>
                  <a:srgbClr val="009999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无旋</a:t>
            </a:r>
            <a:r>
              <a:rPr lang="zh-CN" altLang="en-US" sz="1800" dirty="0">
                <a:solidFill>
                  <a:srgbClr val="FFC000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场</a:t>
            </a:r>
            <a:r>
              <a:rPr lang="zh-CN" altLang="en-US" sz="1800" dirty="0">
                <a:solidFill>
                  <a:srgbClr val="009999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与（有旋）无散</a:t>
            </a:r>
            <a:r>
              <a:rPr lang="zh-CN" altLang="en-US" sz="1800" dirty="0">
                <a:solidFill>
                  <a:srgbClr val="FFC000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场</a:t>
            </a:r>
            <a:endParaRPr lang="zh-CN" altLang="en-US" sz="1800" dirty="0">
              <a:solidFill>
                <a:srgbClr val="FFC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1.7</a:t>
            </a: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18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hlinkClick r:id="" action="ppaction://noaction"/>
              </a:rPr>
              <a:t>亥姆霍兹定理</a:t>
            </a:r>
            <a:endParaRPr lang="zh-CN" altLang="en-US" sz="18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122" name="AutoShape 6">
            <a:hlinkClick r:id="" action="ppaction://hlinkshowjump?jump=firstslide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23" name="AutoShape 7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24" name="AutoShape 8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25" name="AutoShape 9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823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863736"/>
              </p:ext>
            </p:extLst>
          </p:nvPr>
        </p:nvGraphicFramePr>
        <p:xfrm>
          <a:off x="1512932" y="918642"/>
          <a:ext cx="16224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94055" imgH="165100" progId="Equation.3">
                  <p:embed/>
                </p:oleObj>
              </mc:Choice>
              <mc:Fallback>
                <p:oleObj r:id="rId5" imgW="694055" imgH="1651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12932" y="918642"/>
                        <a:ext cx="1622425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826122"/>
              </p:ext>
            </p:extLst>
          </p:nvPr>
        </p:nvGraphicFramePr>
        <p:xfrm>
          <a:off x="3443030" y="2189345"/>
          <a:ext cx="299188" cy="268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54305" imgH="121285" progId="Equation.3">
                  <p:embed/>
                </p:oleObj>
              </mc:Choice>
              <mc:Fallback>
                <p:oleObj r:id="rId7" imgW="154305" imgH="12128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43030" y="2189345"/>
                        <a:ext cx="299188" cy="26887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336251"/>
              </p:ext>
            </p:extLst>
          </p:nvPr>
        </p:nvGraphicFramePr>
        <p:xfrm>
          <a:off x="2441875" y="2034449"/>
          <a:ext cx="299188" cy="561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54305" imgH="253365" progId="Equation.3">
                  <p:embed/>
                </p:oleObj>
              </mc:Choice>
              <mc:Fallback>
                <p:oleObj r:id="rId9" imgW="154305" imgH="25336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41875" y="2034449"/>
                        <a:ext cx="299188" cy="56147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143428"/>
              </p:ext>
            </p:extLst>
          </p:nvPr>
        </p:nvGraphicFramePr>
        <p:xfrm>
          <a:off x="2434258" y="2790903"/>
          <a:ext cx="687674" cy="554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74650" imgH="264160" progId="Equation.3">
                  <p:embed/>
                </p:oleObj>
              </mc:Choice>
              <mc:Fallback>
                <p:oleObj r:id="rId11" imgW="374650" imgH="26416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34258" y="2790903"/>
                        <a:ext cx="687674" cy="55413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823440"/>
              </p:ext>
            </p:extLst>
          </p:nvPr>
        </p:nvGraphicFramePr>
        <p:xfrm>
          <a:off x="4303338" y="2896626"/>
          <a:ext cx="385199" cy="286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20345" imgH="143510" progId="Equation.3">
                  <p:embed/>
                </p:oleObj>
              </mc:Choice>
              <mc:Fallback>
                <p:oleObj r:id="rId13" imgW="220345" imgH="14351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03338" y="2896626"/>
                        <a:ext cx="385199" cy="28652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997002"/>
              </p:ext>
            </p:extLst>
          </p:nvPr>
        </p:nvGraphicFramePr>
        <p:xfrm>
          <a:off x="2411950" y="3553365"/>
          <a:ext cx="647882" cy="612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319405" imgH="264160" progId="Equation.3">
                  <p:embed/>
                </p:oleObj>
              </mc:Choice>
              <mc:Fallback>
                <p:oleObj r:id="rId15" imgW="319405" imgH="26416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950" y="3553365"/>
                        <a:ext cx="647882" cy="61204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868275"/>
              </p:ext>
            </p:extLst>
          </p:nvPr>
        </p:nvGraphicFramePr>
        <p:xfrm>
          <a:off x="4172740" y="3642862"/>
          <a:ext cx="520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53365" imgH="143510" progId="Equation.3">
                  <p:embed/>
                </p:oleObj>
              </mc:Choice>
              <mc:Fallback>
                <p:oleObj r:id="rId17" imgW="253365" imgH="14351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72740" y="3642862"/>
                        <a:ext cx="520700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34715"/>
              </p:ext>
            </p:extLst>
          </p:nvPr>
        </p:nvGraphicFramePr>
        <p:xfrm>
          <a:off x="3419873" y="1055911"/>
          <a:ext cx="432048" cy="1208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98120" imgH="484505" progId="Equation.3">
                  <p:embed/>
                </p:oleObj>
              </mc:Choice>
              <mc:Fallback>
                <p:oleObj r:id="rId19" imgW="198120" imgH="48450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9873" y="1055911"/>
                        <a:ext cx="432048" cy="12085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625763"/>
              </p:ext>
            </p:extLst>
          </p:nvPr>
        </p:nvGraphicFramePr>
        <p:xfrm>
          <a:off x="603520" y="1844861"/>
          <a:ext cx="59213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286385" imgH="143510" progId="Equation.3">
                  <p:embed/>
                </p:oleObj>
              </mc:Choice>
              <mc:Fallback>
                <p:oleObj r:id="rId21" imgW="286385" imgH="14351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3520" y="1844861"/>
                        <a:ext cx="592138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369849"/>
              </p:ext>
            </p:extLst>
          </p:nvPr>
        </p:nvGraphicFramePr>
        <p:xfrm>
          <a:off x="574829" y="3217068"/>
          <a:ext cx="5762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286385" imgH="154305" progId="Equation.3">
                  <p:embed/>
                </p:oleObj>
              </mc:Choice>
              <mc:Fallback>
                <p:oleObj r:id="rId23" imgW="286385" imgH="15430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4829" y="3217068"/>
                        <a:ext cx="576263" cy="423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7" name="Rectangle 71"/>
          <p:cNvSpPr/>
          <p:nvPr/>
        </p:nvSpPr>
        <p:spPr>
          <a:xfrm>
            <a:off x="3761185" y="1052736"/>
            <a:ext cx="1622425" cy="936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：线元</a:t>
            </a:r>
            <a:r>
              <a:rPr lang="zh-CN" altLang="en-US" sz="1600" b="0" dirty="0">
                <a:solidFill>
                  <a:srgbClr val="FF81C0"/>
                </a:solidFill>
                <a:latin typeface="楷体_GB2312" pitchFamily="49" charset="-122"/>
                <a:ea typeface="楷体_GB2312" pitchFamily="49" charset="-122"/>
              </a:rPr>
              <a:t>矢量</a:t>
            </a:r>
          </a:p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：面积元</a:t>
            </a:r>
            <a:r>
              <a:rPr lang="zh-CN" altLang="en-US" sz="1600" b="0" dirty="0">
                <a:solidFill>
                  <a:srgbClr val="FF81C0"/>
                </a:solidFill>
                <a:latin typeface="楷体_GB2312" pitchFamily="49" charset="-122"/>
                <a:ea typeface="楷体_GB2312" pitchFamily="49" charset="-122"/>
              </a:rPr>
              <a:t>矢量</a:t>
            </a:r>
          </a:p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：体积元标量</a:t>
            </a:r>
            <a:endParaRPr lang="zh-CN" altLang="en-US" sz="1600" b="0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03548" name="Rectangle 92"/>
          <p:cNvSpPr/>
          <p:nvPr/>
        </p:nvSpPr>
        <p:spPr>
          <a:xfrm>
            <a:off x="1503212" y="391134"/>
            <a:ext cx="7101236" cy="61968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1.3</a:t>
            </a:r>
            <a:r>
              <a:rPr lang="zh-CN" altLang="en-US" sz="1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由任意标量场引入</a:t>
            </a:r>
            <a:r>
              <a:rPr lang="zh-CN" alt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→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FF81C0"/>
                </a:highlight>
                <a:cs typeface="Arial" panose="020B0604020202020204" pitchFamily="34" charset="0"/>
              </a:rPr>
              <a:t>后续章节只专注于</a:t>
            </a:r>
            <a:r>
              <a:rPr lang="zh-CN" altLang="en-US" sz="1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电位</a:t>
            </a:r>
            <a:r>
              <a:rPr lang="el-GR" altLang="zh-CN" sz="1600" dirty="0">
                <a:solidFill>
                  <a:schemeClr val="bg1"/>
                </a:solidFill>
                <a:cs typeface="Arial" panose="020B0604020202020204" pitchFamily="34" charset="0"/>
              </a:rPr>
              <a:t>φ</a:t>
            </a:r>
            <a:endParaRPr lang="zh-CN" altLang="en-US" sz="16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1.4&amp;1.5</a:t>
            </a:r>
            <a:r>
              <a:rPr lang="zh-CN" altLang="en-US" sz="1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由任意矢量场引入</a:t>
            </a:r>
            <a:r>
              <a:rPr lang="zh-CN" alt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→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FF81C0"/>
                </a:highlight>
                <a:cs typeface="Arial" panose="020B0604020202020204" pitchFamily="34" charset="0"/>
              </a:rPr>
              <a:t>后续章节只专注于</a:t>
            </a:r>
            <a:r>
              <a:rPr lang="zh-CN" alt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电场</a:t>
            </a:r>
            <a:r>
              <a:rPr lang="en-US" altLang="zh-CN" sz="1600" dirty="0">
                <a:solidFill>
                  <a:schemeClr val="bg1"/>
                </a:solidFill>
                <a:cs typeface="Arial" panose="020B0604020202020204" pitchFamily="34" charset="0"/>
              </a:rPr>
              <a:t>E/</a:t>
            </a:r>
            <a:r>
              <a:rPr lang="zh-CN" alt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磁场</a:t>
            </a:r>
            <a:r>
              <a:rPr lang="en-US" altLang="zh-CN" sz="1600" dirty="0">
                <a:solidFill>
                  <a:schemeClr val="bg1"/>
                </a:solidFill>
                <a:cs typeface="Arial" panose="020B0604020202020204" pitchFamily="34" charset="0"/>
              </a:rPr>
              <a:t>B/</a:t>
            </a:r>
            <a:r>
              <a:rPr lang="zh-CN" alt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时变电磁场</a:t>
            </a:r>
            <a:endParaRPr lang="zh-CN" altLang="en-US" sz="16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BAF4653-D216-69EE-920D-3A32E963DA0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86579" y="2809086"/>
            <a:ext cx="1680636" cy="45529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8342C1D-B210-0924-F7C7-0BE9EC36FC5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09927" y="3507516"/>
            <a:ext cx="1509911" cy="48932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3EAD1A5-096E-0685-0C93-7C87531CB89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41096" y="4005151"/>
            <a:ext cx="3202904" cy="104710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C5936AA-8B4D-06B2-CC81-3D45F012850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75856" y="5040682"/>
            <a:ext cx="5868143" cy="18457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4" name="Text Box 4"/>
          <p:cNvSpPr txBox="1"/>
          <p:nvPr/>
        </p:nvSpPr>
        <p:spPr>
          <a:xfrm>
            <a:off x="276225" y="908050"/>
            <a:ext cx="7391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1.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标量和矢量</a:t>
            </a:r>
            <a:endParaRPr lang="zh-CN" altLang="en-US" b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7848" name="Text Box 8"/>
          <p:cNvSpPr txBox="1"/>
          <p:nvPr/>
        </p:nvSpPr>
        <p:spPr>
          <a:xfrm>
            <a:off x="755650" y="1447800"/>
            <a:ext cx="60340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标量</a:t>
            </a:r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一个只用大小描述的物理量。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  <a:ea typeface="楷体_GB2312" pitchFamily="49" charset="-122"/>
            </a:endParaRPr>
          </a:p>
        </p:txBody>
      </p:sp>
      <p:sp>
        <p:nvSpPr>
          <p:cNvPr id="547852" name="Rectangle 12"/>
          <p:cNvSpPr>
            <a:spLocks noGrp="1"/>
          </p:cNvSpPr>
          <p:nvPr>
            <p:ph type="title"/>
          </p:nvPr>
        </p:nvSpPr>
        <p:spPr>
          <a:xfrm>
            <a:off x="250825" y="476250"/>
            <a:ext cx="8229600" cy="504825"/>
          </a:xfrm>
          <a:noFill/>
          <a:ln>
            <a:noFill/>
          </a:ln>
        </p:spPr>
        <p:txBody>
          <a:bodyPr anchor="t" anchorCtr="0"/>
          <a:lstStyle/>
          <a:p>
            <a:pPr algn="ctr" eaLnBrk="1" hangingPunct="1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1.1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矢量代数</a:t>
            </a:r>
          </a:p>
        </p:txBody>
      </p:sp>
      <p:sp>
        <p:nvSpPr>
          <p:cNvPr id="547856" name="Text Box 16"/>
          <p:cNvSpPr txBox="1"/>
          <p:nvPr/>
        </p:nvSpPr>
        <p:spPr>
          <a:xfrm>
            <a:off x="769938" y="1916113"/>
            <a:ext cx="7905750" cy="1041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矢量</a:t>
            </a:r>
            <a:r>
              <a:rPr lang="zh-CN" altLang="en-US" dirty="0">
                <a:solidFill>
                  <a:srgbClr val="FFB7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一个既有大小又有方向特性的物理量，常用</a:t>
            </a:r>
            <a:r>
              <a:rPr lang="zh-CN" altLang="en-US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黑体字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      母（印刷体）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zh-CN" altLang="en-US" dirty="0">
                <a:solidFill>
                  <a:srgbClr val="EA162F"/>
                </a:solidFill>
                <a:latin typeface="楷体_GB2312" pitchFamily="49" charset="-122"/>
                <a:ea typeface="楷体_GB2312" pitchFamily="49" charset="-122"/>
              </a:rPr>
              <a:t>带箭头的字母</a:t>
            </a:r>
            <a:r>
              <a:rPr lang="zh-CN" altLang="en-US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（手写体）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表示。</a:t>
            </a:r>
            <a:r>
              <a:rPr lang="zh-CN" altLang="en-US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547857" name="Text Box 17"/>
          <p:cNvSpPr txBox="1"/>
          <p:nvPr/>
        </p:nvSpPr>
        <p:spPr>
          <a:xfrm>
            <a:off x="769938" y="3116263"/>
            <a:ext cx="837406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①矢量的</a:t>
            </a:r>
            <a:r>
              <a:rPr lang="zh-CN" altLang="en-US" dirty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几何表示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幼圆" panose="02010509060101010101" pitchFamily="49" charset="-122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一个矢量可用一条有方向的线段来表示。</a:t>
            </a:r>
            <a:r>
              <a: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47858" name="Text Box 18"/>
          <p:cNvSpPr txBox="1"/>
          <p:nvPr/>
        </p:nvSpPr>
        <p:spPr>
          <a:xfrm>
            <a:off x="755650" y="6067425"/>
            <a:ext cx="597659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单位矢量不一定是常矢量（留待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1.2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验证）。</a:t>
            </a:r>
            <a:r>
              <a:rPr lang="zh-CN" altLang="en-US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547861" name="Group 21"/>
          <p:cNvGrpSpPr/>
          <p:nvPr/>
        </p:nvGrpSpPr>
        <p:grpSpPr>
          <a:xfrm>
            <a:off x="6372225" y="3789363"/>
            <a:ext cx="2160588" cy="2016125"/>
            <a:chOff x="4014" y="2387"/>
            <a:chExt cx="1361" cy="1270"/>
          </a:xfrm>
        </p:grpSpPr>
        <p:sp>
          <p:nvSpPr>
            <p:cNvPr id="7183" name="Rectangle 13"/>
            <p:cNvSpPr/>
            <p:nvPr/>
          </p:nvSpPr>
          <p:spPr>
            <a:xfrm>
              <a:off x="4014" y="2387"/>
              <a:ext cx="1361" cy="1270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DA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184" name="Line 14"/>
            <p:cNvSpPr/>
            <p:nvPr/>
          </p:nvSpPr>
          <p:spPr>
            <a:xfrm flipV="1">
              <a:off x="4468" y="2523"/>
              <a:ext cx="544" cy="63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185" name="Object 15"/>
            <p:cNvGraphicFramePr>
              <a:graphicFrameLocks noChangeAspect="1"/>
            </p:cNvGraphicFramePr>
            <p:nvPr/>
          </p:nvGraphicFramePr>
          <p:xfrm>
            <a:off x="4649" y="2478"/>
            <a:ext cx="168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93345" imgH="127000" progId="Equation.DSMT4">
                    <p:embed/>
                  </p:oleObj>
                </mc:Choice>
                <mc:Fallback>
                  <p:oleObj r:id="rId3" imgW="93345" imgH="127000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EA162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49" y="2478"/>
                          <a:ext cx="168" cy="2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6" name="Text Box 19"/>
            <p:cNvSpPr txBox="1"/>
            <p:nvPr/>
          </p:nvSpPr>
          <p:spPr>
            <a:xfrm>
              <a:off x="4059" y="3340"/>
              <a:ext cx="127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楷体_GB2312" pitchFamily="49" charset="-122"/>
                  <a:ea typeface="楷体_GB2312" pitchFamily="49" charset="-122"/>
                </a:rPr>
                <a:t>矢量的几何表示</a:t>
              </a:r>
              <a:endParaRPr lang="zh-CN" altLang="en-US" sz="2000" b="0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547860" name="Text Box 20"/>
          <p:cNvSpPr txBox="1"/>
          <p:nvPr/>
        </p:nvSpPr>
        <p:spPr>
          <a:xfrm>
            <a:off x="754063" y="5492750"/>
            <a:ext cx="51133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常矢量</a:t>
            </a:r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大小和方向均不变的矢量。</a:t>
            </a:r>
            <a:r>
              <a:rPr lang="zh-CN" altLang="en-US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7188" name="AutoShape 26">
            <a:hlinkClick r:id="rId5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189" name="AutoShape 27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190" name="AutoShape 28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191" name="AutoShape 29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340DA3-3325-F0FD-FE95-F5050A1A10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04" y="3501840"/>
            <a:ext cx="5164931" cy="1972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3586" name="Object 18"/>
          <p:cNvGraphicFramePr>
            <a:graphicFrameLocks noChangeAspect="1"/>
          </p:cNvGraphicFramePr>
          <p:nvPr/>
        </p:nvGraphicFramePr>
        <p:xfrm>
          <a:off x="179388" y="5805488"/>
          <a:ext cx="895508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54705" imgH="193040" progId="Equation.3">
                  <p:embed/>
                </p:oleObj>
              </mc:Choice>
              <mc:Fallback>
                <p:oleObj r:id="rId3" imgW="3354705" imgH="19304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9388" y="5805488"/>
                        <a:ext cx="8955087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93" name="Text Box 25"/>
          <p:cNvSpPr txBox="1"/>
          <p:nvPr/>
        </p:nvSpPr>
        <p:spPr>
          <a:xfrm>
            <a:off x="539750" y="765175"/>
            <a:ext cx="412273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B7B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矢量用直角坐标分量表示</a:t>
            </a:r>
          </a:p>
        </p:txBody>
      </p:sp>
      <p:graphicFrame>
        <p:nvGraphicFramePr>
          <p:cNvPr id="493629" name="Object 61"/>
          <p:cNvGraphicFramePr>
            <a:graphicFrameLocks noChangeAspect="1"/>
          </p:cNvGraphicFramePr>
          <p:nvPr/>
        </p:nvGraphicFramePr>
        <p:xfrm>
          <a:off x="755650" y="4578350"/>
          <a:ext cx="4252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701800" imgH="170815" progId="Equation.3">
                  <p:embed/>
                </p:oleObj>
              </mc:Choice>
              <mc:Fallback>
                <p:oleObj r:id="rId5" imgW="1701800" imgH="17081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4578350"/>
                        <a:ext cx="4252913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AutoShape 67">
            <a:hlinkClick r:id="rId7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223" name="AutoShape 68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224" name="AutoShape 69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225" name="AutoShape 70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93642" name="Object 74"/>
          <p:cNvGraphicFramePr>
            <a:graphicFrameLocks noChangeAspect="1"/>
          </p:cNvGraphicFramePr>
          <p:nvPr/>
        </p:nvGraphicFramePr>
        <p:xfrm>
          <a:off x="827088" y="1268413"/>
          <a:ext cx="31686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62050" imgH="193040" progId="Equation.3">
                  <p:embed/>
                </p:oleObj>
              </mc:Choice>
              <mc:Fallback>
                <p:oleObj r:id="rId8" imgW="1162050" imgH="19304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1268413"/>
                        <a:ext cx="3168650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647" name="Text Box 79"/>
          <p:cNvSpPr txBox="1"/>
          <p:nvPr/>
        </p:nvSpPr>
        <p:spPr>
          <a:xfrm>
            <a:off x="611188" y="5229225"/>
            <a:ext cx="468089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矢量的不变特性（坐标系转换）</a:t>
            </a:r>
          </a:p>
        </p:txBody>
      </p:sp>
      <p:pic>
        <p:nvPicPr>
          <p:cNvPr id="9228" name="Picture 8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0113" y="447675"/>
            <a:ext cx="3200400" cy="3486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8AC94BF-EEA8-9606-7B83-04BD7C1434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353" y="1811096"/>
            <a:ext cx="5396508" cy="2560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Text Box 2"/>
          <p:cNvSpPr txBox="1"/>
          <p:nvPr/>
        </p:nvSpPr>
        <p:spPr>
          <a:xfrm>
            <a:off x="107950" y="1341438"/>
            <a:ext cx="315753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）矢量的加减法</a:t>
            </a:r>
          </a:p>
        </p:txBody>
      </p:sp>
      <p:graphicFrame>
        <p:nvGraphicFramePr>
          <p:cNvPr id="481283" name="Object 3"/>
          <p:cNvGraphicFramePr>
            <a:graphicFrameLocks noChangeAspect="1"/>
          </p:cNvGraphicFramePr>
          <p:nvPr/>
        </p:nvGraphicFramePr>
        <p:xfrm>
          <a:off x="1060450" y="3573463"/>
          <a:ext cx="58166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51100" imgH="193040" progId="Equation.3">
                  <p:embed/>
                </p:oleObj>
              </mc:Choice>
              <mc:Fallback>
                <p:oleObj r:id="rId2" imgW="2451100" imgH="19304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60450" y="3573463"/>
                        <a:ext cx="5816600" cy="534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84" name="Text Box 4"/>
          <p:cNvSpPr txBox="1"/>
          <p:nvPr/>
        </p:nvSpPr>
        <p:spPr>
          <a:xfrm>
            <a:off x="250825" y="1738313"/>
            <a:ext cx="6049963" cy="1114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两矢量的加减在几何上是以这两矢量为邻边的平行四边形的对角线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如图所示。</a:t>
            </a:r>
          </a:p>
        </p:txBody>
      </p:sp>
      <p:sp>
        <p:nvSpPr>
          <p:cNvPr id="481285" name="Text Box 5"/>
          <p:cNvSpPr txBox="1"/>
          <p:nvPr/>
        </p:nvSpPr>
        <p:spPr>
          <a:xfrm>
            <a:off x="250825" y="4367213"/>
            <a:ext cx="504031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矢量的加减符合交换律和结合律。</a:t>
            </a:r>
          </a:p>
        </p:txBody>
      </p:sp>
      <p:sp>
        <p:nvSpPr>
          <p:cNvPr id="481298" name="Text Box 18"/>
          <p:cNvSpPr txBox="1"/>
          <p:nvPr/>
        </p:nvSpPr>
        <p:spPr>
          <a:xfrm>
            <a:off x="250825" y="693738"/>
            <a:ext cx="38163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矢量的代数运算 </a:t>
            </a:r>
          </a:p>
        </p:txBody>
      </p:sp>
      <p:grpSp>
        <p:nvGrpSpPr>
          <p:cNvPr id="481424" name="Group 144"/>
          <p:cNvGrpSpPr/>
          <p:nvPr/>
        </p:nvGrpSpPr>
        <p:grpSpPr>
          <a:xfrm>
            <a:off x="6588125" y="1125538"/>
            <a:ext cx="2249488" cy="2087562"/>
            <a:chOff x="4241" y="709"/>
            <a:chExt cx="1326" cy="1224"/>
          </a:xfrm>
        </p:grpSpPr>
        <p:sp>
          <p:nvSpPr>
            <p:cNvPr id="11271" name="AutoShape 47"/>
            <p:cNvSpPr>
              <a:spLocks noChangeAspect="1" noTextEdit="1"/>
            </p:cNvSpPr>
            <p:nvPr/>
          </p:nvSpPr>
          <p:spPr>
            <a:xfrm>
              <a:off x="4241" y="709"/>
              <a:ext cx="1326" cy="12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21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1272" name="Rectangle 56"/>
            <p:cNvSpPr/>
            <p:nvPr/>
          </p:nvSpPr>
          <p:spPr>
            <a:xfrm>
              <a:off x="4287" y="1734"/>
              <a:ext cx="1224" cy="14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marL="342900" indent="-342900" algn="ctr"/>
              <a:r>
                <a:rPr lang="zh-CN" altLang="en-US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矢量的加法</a:t>
              </a:r>
              <a:endPara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273" name="Line 70"/>
            <p:cNvSpPr/>
            <p:nvPr/>
          </p:nvSpPr>
          <p:spPr>
            <a:xfrm flipV="1">
              <a:off x="4476" y="789"/>
              <a:ext cx="852" cy="703"/>
            </a:xfrm>
            <a:prstGeom prst="line">
              <a:avLst/>
            </a:prstGeom>
            <a:ln w="444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" name="Line 71"/>
            <p:cNvSpPr/>
            <p:nvPr/>
          </p:nvSpPr>
          <p:spPr>
            <a:xfrm flipV="1">
              <a:off x="4460" y="1237"/>
              <a:ext cx="816" cy="271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5" name="Line 72"/>
            <p:cNvSpPr/>
            <p:nvPr/>
          </p:nvSpPr>
          <p:spPr>
            <a:xfrm flipV="1">
              <a:off x="4467" y="1047"/>
              <a:ext cx="46" cy="454"/>
            </a:xfrm>
            <a:prstGeom prst="line">
              <a:avLst/>
            </a:prstGeom>
            <a:ln w="444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Line 73"/>
            <p:cNvSpPr/>
            <p:nvPr/>
          </p:nvSpPr>
          <p:spPr>
            <a:xfrm flipV="1">
              <a:off x="4513" y="783"/>
              <a:ext cx="816" cy="27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7" name="Line 74"/>
            <p:cNvSpPr/>
            <p:nvPr/>
          </p:nvSpPr>
          <p:spPr>
            <a:xfrm flipV="1">
              <a:off x="5271" y="791"/>
              <a:ext cx="46" cy="454"/>
            </a:xfrm>
            <a:prstGeom prst="line">
              <a:avLst/>
            </a:prstGeom>
            <a:ln w="1587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78" name="Object 75"/>
            <p:cNvGraphicFramePr>
              <a:graphicFrameLocks noChangeAspect="1"/>
            </p:cNvGraphicFramePr>
            <p:nvPr/>
          </p:nvGraphicFramePr>
          <p:xfrm>
            <a:off x="5039" y="965"/>
            <a:ext cx="45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02895" imgH="137795" progId="Equation.3">
                    <p:embed/>
                  </p:oleObj>
                </mc:Choice>
                <mc:Fallback>
                  <p:oleObj r:id="rId4" imgW="302895" imgH="137795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39" y="965"/>
                          <a:ext cx="453" cy="2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9" name="Object 111"/>
            <p:cNvGraphicFramePr>
              <a:graphicFrameLocks noChangeAspect="1"/>
            </p:cNvGraphicFramePr>
            <p:nvPr/>
          </p:nvGraphicFramePr>
          <p:xfrm>
            <a:off x="4921" y="1344"/>
            <a:ext cx="21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93345" imgH="137795" progId="Equation.3">
                    <p:embed/>
                  </p:oleObj>
                </mc:Choice>
                <mc:Fallback>
                  <p:oleObj r:id="rId6" imgW="93345" imgH="137795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21" y="1344"/>
                          <a:ext cx="216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Object 113"/>
            <p:cNvGraphicFramePr>
              <a:graphicFrameLocks noChangeAspect="1"/>
            </p:cNvGraphicFramePr>
            <p:nvPr/>
          </p:nvGraphicFramePr>
          <p:xfrm>
            <a:off x="4286" y="1117"/>
            <a:ext cx="193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93345" imgH="137795" progId="Equation.3">
                    <p:embed/>
                  </p:oleObj>
                </mc:Choice>
                <mc:Fallback>
                  <p:oleObj r:id="rId8" imgW="93345" imgH="137795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6" y="1117"/>
                          <a:ext cx="193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25" name="Group 145"/>
          <p:cNvGrpSpPr/>
          <p:nvPr/>
        </p:nvGrpSpPr>
        <p:grpSpPr>
          <a:xfrm>
            <a:off x="6588125" y="4149725"/>
            <a:ext cx="2249488" cy="2016125"/>
            <a:chOff x="4241" y="2251"/>
            <a:chExt cx="1326" cy="1224"/>
          </a:xfrm>
        </p:grpSpPr>
        <p:sp>
          <p:nvSpPr>
            <p:cNvPr id="11282" name="AutoShape 117"/>
            <p:cNvSpPr>
              <a:spLocks noChangeAspect="1" noTextEdit="1"/>
            </p:cNvSpPr>
            <p:nvPr/>
          </p:nvSpPr>
          <p:spPr>
            <a:xfrm>
              <a:off x="4241" y="2251"/>
              <a:ext cx="1326" cy="12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21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1283" name="Rectangle 118"/>
            <p:cNvSpPr/>
            <p:nvPr/>
          </p:nvSpPr>
          <p:spPr>
            <a:xfrm>
              <a:off x="4286" y="3276"/>
              <a:ext cx="122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marL="342900" indent="-342900" algn="ctr"/>
              <a:r>
                <a:rPr lang="zh-CN" altLang="en-US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矢量的减法</a:t>
              </a:r>
              <a:endPara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284" name="Line 120"/>
            <p:cNvSpPr/>
            <p:nvPr/>
          </p:nvSpPr>
          <p:spPr>
            <a:xfrm flipV="1">
              <a:off x="4596" y="2507"/>
              <a:ext cx="816" cy="271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5" name="Line 121"/>
            <p:cNvSpPr/>
            <p:nvPr/>
          </p:nvSpPr>
          <p:spPr>
            <a:xfrm flipV="1">
              <a:off x="4603" y="2317"/>
              <a:ext cx="46" cy="454"/>
            </a:xfrm>
            <a:prstGeom prst="line">
              <a:avLst/>
            </a:prstGeom>
            <a:ln w="444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6" name="Line 122"/>
            <p:cNvSpPr/>
            <p:nvPr/>
          </p:nvSpPr>
          <p:spPr>
            <a:xfrm flipV="1">
              <a:off x="4558" y="2940"/>
              <a:ext cx="816" cy="27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Line 123"/>
            <p:cNvSpPr/>
            <p:nvPr/>
          </p:nvSpPr>
          <p:spPr>
            <a:xfrm flipV="1">
              <a:off x="5375" y="2498"/>
              <a:ext cx="46" cy="454"/>
            </a:xfrm>
            <a:prstGeom prst="line">
              <a:avLst/>
            </a:prstGeom>
            <a:ln w="1587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88" name="Object 124"/>
            <p:cNvGraphicFramePr>
              <a:graphicFrameLocks noChangeAspect="1"/>
            </p:cNvGraphicFramePr>
            <p:nvPr/>
          </p:nvGraphicFramePr>
          <p:xfrm>
            <a:off x="4980" y="2652"/>
            <a:ext cx="438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92100" imgH="137795" progId="Equation.3">
                    <p:embed/>
                  </p:oleObj>
                </mc:Choice>
                <mc:Fallback>
                  <p:oleObj r:id="rId10" imgW="292100" imgH="137795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80" y="2652"/>
                          <a:ext cx="438" cy="2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9" name="Object 125"/>
            <p:cNvGraphicFramePr>
              <a:graphicFrameLocks noChangeAspect="1"/>
            </p:cNvGraphicFramePr>
            <p:nvPr/>
          </p:nvGraphicFramePr>
          <p:xfrm>
            <a:off x="5012" y="2341"/>
            <a:ext cx="21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93345" imgH="137795" progId="Equation.3">
                    <p:embed/>
                  </p:oleObj>
                </mc:Choice>
                <mc:Fallback>
                  <p:oleObj r:id="rId12" imgW="93345" imgH="137795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12" y="2341"/>
                          <a:ext cx="216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0" name="Object 126"/>
            <p:cNvGraphicFramePr>
              <a:graphicFrameLocks noChangeAspect="1"/>
            </p:cNvGraphicFramePr>
            <p:nvPr/>
          </p:nvGraphicFramePr>
          <p:xfrm>
            <a:off x="4422" y="2387"/>
            <a:ext cx="193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93345" imgH="137795" progId="Equation.3">
                    <p:embed/>
                  </p:oleObj>
                </mc:Choice>
                <mc:Fallback>
                  <p:oleObj r:id="rId14" imgW="93345" imgH="137795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22" y="2387"/>
                          <a:ext cx="193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1" name="Line 138"/>
            <p:cNvSpPr/>
            <p:nvPr/>
          </p:nvSpPr>
          <p:spPr>
            <a:xfrm rot="-10800000" flipV="1">
              <a:off x="4555" y="2773"/>
              <a:ext cx="46" cy="454"/>
            </a:xfrm>
            <a:prstGeom prst="line">
              <a:avLst/>
            </a:prstGeom>
            <a:ln w="44450" cap="flat" cmpd="sng">
              <a:solidFill>
                <a:srgbClr val="80008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Line 139"/>
            <p:cNvSpPr/>
            <p:nvPr/>
          </p:nvSpPr>
          <p:spPr>
            <a:xfrm>
              <a:off x="4604" y="2786"/>
              <a:ext cx="771" cy="159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93" name="Object 141"/>
            <p:cNvGraphicFramePr>
              <a:graphicFrameLocks noChangeAspect="1"/>
            </p:cNvGraphicFramePr>
            <p:nvPr/>
          </p:nvGraphicFramePr>
          <p:xfrm>
            <a:off x="4241" y="2840"/>
            <a:ext cx="321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81610" imgH="137795" progId="Equation.3">
                    <p:embed/>
                  </p:oleObj>
                </mc:Choice>
                <mc:Fallback>
                  <p:oleObj r:id="rId16" imgW="181610" imgH="137795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8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41" y="2840"/>
                          <a:ext cx="321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426" name="Text Box 146"/>
          <p:cNvSpPr txBox="1"/>
          <p:nvPr/>
        </p:nvSpPr>
        <p:spPr>
          <a:xfrm>
            <a:off x="34925" y="2827338"/>
            <a:ext cx="6049963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在直角坐标系中两矢量的加法和减法：</a:t>
            </a:r>
          </a:p>
        </p:txBody>
      </p:sp>
      <p:grpSp>
        <p:nvGrpSpPr>
          <p:cNvPr id="481430" name="Group 150"/>
          <p:cNvGrpSpPr/>
          <p:nvPr/>
        </p:nvGrpSpPr>
        <p:grpSpPr>
          <a:xfrm>
            <a:off x="971550" y="5562600"/>
            <a:ext cx="4392613" cy="603250"/>
            <a:chOff x="612" y="3413"/>
            <a:chExt cx="2767" cy="380"/>
          </a:xfrm>
        </p:grpSpPr>
        <p:sp>
          <p:nvSpPr>
            <p:cNvPr id="11296" name="Text Box 17"/>
            <p:cNvSpPr txBox="1"/>
            <p:nvPr/>
          </p:nvSpPr>
          <p:spPr>
            <a:xfrm>
              <a:off x="612" y="3413"/>
              <a:ext cx="917" cy="3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dirty="0">
                  <a:solidFill>
                    <a:srgbClr val="FFB7B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结合律</a:t>
              </a:r>
            </a:p>
          </p:txBody>
        </p:sp>
        <p:graphicFrame>
          <p:nvGraphicFramePr>
            <p:cNvPr id="11297" name="Object 147"/>
            <p:cNvGraphicFramePr>
              <a:graphicFrameLocks noChangeAspect="1"/>
            </p:cNvGraphicFramePr>
            <p:nvPr/>
          </p:nvGraphicFramePr>
          <p:xfrm>
            <a:off x="1384" y="3489"/>
            <a:ext cx="1995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327785" imgH="170815" progId="Equation.DSMT4">
                    <p:embed/>
                  </p:oleObj>
                </mc:Choice>
                <mc:Fallback>
                  <p:oleObj r:id="rId18" imgW="1327785" imgH="170815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84" y="3489"/>
                          <a:ext cx="1995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29" name="Group 149"/>
          <p:cNvGrpSpPr/>
          <p:nvPr/>
        </p:nvGrpSpPr>
        <p:grpSpPr>
          <a:xfrm>
            <a:off x="971550" y="4841875"/>
            <a:ext cx="2952750" cy="603250"/>
            <a:chOff x="612" y="2959"/>
            <a:chExt cx="1860" cy="380"/>
          </a:xfrm>
        </p:grpSpPr>
        <p:graphicFrame>
          <p:nvGraphicFramePr>
            <p:cNvPr id="11299" name="Object 16"/>
            <p:cNvGraphicFramePr>
              <a:graphicFrameLocks noChangeAspect="1"/>
            </p:cNvGraphicFramePr>
            <p:nvPr/>
          </p:nvGraphicFramePr>
          <p:xfrm>
            <a:off x="1362" y="3038"/>
            <a:ext cx="111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721360" imgH="137795" progId="Equation.DSMT4">
                    <p:embed/>
                  </p:oleObj>
                </mc:Choice>
                <mc:Fallback>
                  <p:oleObj r:id="rId20" imgW="721360" imgH="137795" progId="Equation.DSMT4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62" y="3038"/>
                          <a:ext cx="1110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00" name="Text Box 148"/>
            <p:cNvSpPr txBox="1"/>
            <p:nvPr/>
          </p:nvSpPr>
          <p:spPr>
            <a:xfrm>
              <a:off x="612" y="2959"/>
              <a:ext cx="917" cy="3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dirty="0">
                  <a:solidFill>
                    <a:srgbClr val="FFB7B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交换律</a:t>
              </a:r>
            </a:p>
          </p:txBody>
        </p:sp>
      </p:grpSp>
      <p:sp>
        <p:nvSpPr>
          <p:cNvPr id="11301" name="AutoShape 151">
            <a:hlinkClick r:id="rId22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1302" name="AutoShape 152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1303" name="AutoShape 153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1304" name="AutoShape 154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7" name="Text Box 3"/>
          <p:cNvSpPr txBox="1"/>
          <p:nvPr/>
        </p:nvSpPr>
        <p:spPr>
          <a:xfrm>
            <a:off x="276225" y="476250"/>
            <a:ext cx="400843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）标量乘矢量</a:t>
            </a:r>
          </a:p>
        </p:txBody>
      </p:sp>
      <p:sp>
        <p:nvSpPr>
          <p:cNvPr id="482308" name="Text Box 4"/>
          <p:cNvSpPr txBox="1"/>
          <p:nvPr/>
        </p:nvSpPr>
        <p:spPr>
          <a:xfrm>
            <a:off x="250824" y="1412875"/>
            <a:ext cx="6561139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矢量的标积（</a:t>
            </a:r>
            <a:r>
              <a:rPr lang="zh-CN" altLang="en-US" u="sng" dirty="0">
                <a:solidFill>
                  <a:srgbClr val="EA162F"/>
                </a:solidFill>
                <a:latin typeface="Times New Roman" panose="02020603050405020304" pitchFamily="18" charset="0"/>
                <a:ea typeface="楷体_GB2312" pitchFamily="49" charset="-122"/>
              </a:rPr>
              <a:t>点乘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：数字相乘是特例</a:t>
            </a:r>
          </a:p>
        </p:txBody>
      </p:sp>
      <p:graphicFrame>
        <p:nvGraphicFramePr>
          <p:cNvPr id="482309" name="Object 5"/>
          <p:cNvGraphicFramePr>
            <a:graphicFrameLocks noChangeAspect="1"/>
          </p:cNvGraphicFramePr>
          <p:nvPr/>
        </p:nvGraphicFramePr>
        <p:xfrm>
          <a:off x="1187450" y="908050"/>
          <a:ext cx="3313113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60805" imgH="193040" progId="Equation.3">
                  <p:embed/>
                </p:oleObj>
              </mc:Choice>
              <mc:Fallback>
                <p:oleObj r:id="rId3" imgW="1360805" imgH="19304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908050"/>
                        <a:ext cx="3313113" cy="54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0" name="Object 6"/>
          <p:cNvGraphicFramePr>
            <a:graphicFrameLocks noChangeAspect="1"/>
          </p:cNvGraphicFramePr>
          <p:nvPr/>
        </p:nvGraphicFramePr>
        <p:xfrm>
          <a:off x="1003300" y="1843088"/>
          <a:ext cx="48641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082165" imgH="242570" progId="Equation.3">
                  <p:embed/>
                </p:oleObj>
              </mc:Choice>
              <mc:Fallback>
                <p:oleObj r:id="rId5" imgW="2082165" imgH="24257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03300" y="1843088"/>
                        <a:ext cx="4864100" cy="649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1" name="Object 7"/>
          <p:cNvGraphicFramePr>
            <a:graphicFrameLocks noChangeAspect="1"/>
          </p:cNvGraphicFramePr>
          <p:nvPr/>
        </p:nvGraphicFramePr>
        <p:xfrm>
          <a:off x="1042988" y="4175125"/>
          <a:ext cx="15478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33730" imgH="127000" progId="Equation.3">
                  <p:embed/>
                </p:oleObj>
              </mc:Choice>
              <mc:Fallback>
                <p:oleObj r:id="rId7" imgW="633730" imgH="1270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4175125"/>
                        <a:ext cx="1547812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12" name="Text Box 8"/>
          <p:cNvSpPr txBox="1"/>
          <p:nvPr/>
        </p:nvSpPr>
        <p:spPr>
          <a:xfrm>
            <a:off x="2574925" y="4149725"/>
            <a:ext cx="458946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矢量的标积符合交换律</a:t>
            </a:r>
          </a:p>
        </p:txBody>
      </p:sp>
      <p:graphicFrame>
        <p:nvGraphicFramePr>
          <p:cNvPr id="482326" name="Object 22"/>
          <p:cNvGraphicFramePr>
            <a:graphicFrameLocks noChangeAspect="1"/>
          </p:cNvGraphicFramePr>
          <p:nvPr/>
        </p:nvGraphicFramePr>
        <p:xfrm>
          <a:off x="4637088" y="5783263"/>
          <a:ext cx="353536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464945" imgH="187325" progId="Equation.3">
                  <p:embed/>
                </p:oleObj>
              </mc:Choice>
              <mc:Fallback>
                <p:oleObj r:id="rId9" imgW="1464945" imgH="18732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37088" y="5783263"/>
                        <a:ext cx="3535362" cy="525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27" name="Object 23"/>
          <p:cNvGraphicFramePr>
            <a:graphicFrameLocks noChangeAspect="1"/>
          </p:cNvGraphicFramePr>
          <p:nvPr/>
        </p:nvGraphicFramePr>
        <p:xfrm>
          <a:off x="425450" y="5799138"/>
          <a:ext cx="34988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487170" imgH="187325" progId="Equation.3">
                  <p:embed/>
                </p:oleObj>
              </mc:Choice>
              <mc:Fallback>
                <p:oleObj r:id="rId11" imgW="1487170" imgH="187325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5450" y="5799138"/>
                        <a:ext cx="3498850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2416" name="Group 112"/>
          <p:cNvGrpSpPr/>
          <p:nvPr/>
        </p:nvGrpSpPr>
        <p:grpSpPr>
          <a:xfrm>
            <a:off x="6588125" y="404813"/>
            <a:ext cx="2355850" cy="2014537"/>
            <a:chOff x="4276" y="890"/>
            <a:chExt cx="1484" cy="1269"/>
          </a:xfrm>
        </p:grpSpPr>
        <p:sp>
          <p:nvSpPr>
            <p:cNvPr id="12298" name="AutoShape 59"/>
            <p:cNvSpPr>
              <a:spLocks noChangeAspect="1" noTextEdit="1"/>
            </p:cNvSpPr>
            <p:nvPr/>
          </p:nvSpPr>
          <p:spPr>
            <a:xfrm>
              <a:off x="4276" y="890"/>
              <a:ext cx="1484" cy="1269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21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2299" name="Line 62"/>
            <p:cNvSpPr/>
            <p:nvPr/>
          </p:nvSpPr>
          <p:spPr>
            <a:xfrm flipV="1">
              <a:off x="4632" y="1275"/>
              <a:ext cx="913" cy="281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Line 63"/>
            <p:cNvSpPr/>
            <p:nvPr/>
          </p:nvSpPr>
          <p:spPr>
            <a:xfrm flipV="1">
              <a:off x="4640" y="1078"/>
              <a:ext cx="51" cy="470"/>
            </a:xfrm>
            <a:prstGeom prst="line">
              <a:avLst/>
            </a:prstGeom>
            <a:ln w="444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01" name="Object 67"/>
            <p:cNvGraphicFramePr>
              <a:graphicFrameLocks noChangeAspect="1"/>
            </p:cNvGraphicFramePr>
            <p:nvPr/>
          </p:nvGraphicFramePr>
          <p:xfrm>
            <a:off x="5148" y="1386"/>
            <a:ext cx="24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93345" imgH="137795" progId="Equation.3">
                    <p:embed/>
                  </p:oleObj>
                </mc:Choice>
                <mc:Fallback>
                  <p:oleObj r:id="rId13" imgW="93345" imgH="137795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48" y="1386"/>
                          <a:ext cx="242" cy="2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2" name="Object 68"/>
            <p:cNvGraphicFramePr>
              <a:graphicFrameLocks noChangeAspect="1"/>
            </p:cNvGraphicFramePr>
            <p:nvPr/>
          </p:nvGraphicFramePr>
          <p:xfrm>
            <a:off x="4437" y="1150"/>
            <a:ext cx="216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93345" imgH="137795" progId="Equation.3">
                    <p:embed/>
                  </p:oleObj>
                </mc:Choice>
                <mc:Fallback>
                  <p:oleObj r:id="rId15" imgW="93345" imgH="137795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37" y="1150"/>
                          <a:ext cx="216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3" name="Rectangle 69"/>
            <p:cNvSpPr/>
            <p:nvPr/>
          </p:nvSpPr>
          <p:spPr>
            <a:xfrm>
              <a:off x="4742" y="1280"/>
              <a:ext cx="84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2000" b="0" i="1" dirty="0">
                  <a:solidFill>
                    <a:srgbClr val="0000FF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4" name="Freeform 71"/>
            <p:cNvSpPr/>
            <p:nvPr/>
          </p:nvSpPr>
          <p:spPr>
            <a:xfrm>
              <a:off x="4659" y="1408"/>
              <a:ext cx="134" cy="9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0" b="0"/>
              <a:pathLst>
                <a:path w="229" h="143">
                  <a:moveTo>
                    <a:pt x="0" y="6"/>
                  </a:moveTo>
                  <a:lnTo>
                    <a:pt x="11" y="4"/>
                  </a:lnTo>
                  <a:lnTo>
                    <a:pt x="22" y="1"/>
                  </a:lnTo>
                  <a:lnTo>
                    <a:pt x="33" y="0"/>
                  </a:lnTo>
                  <a:lnTo>
                    <a:pt x="45" y="0"/>
                  </a:lnTo>
                  <a:lnTo>
                    <a:pt x="56" y="0"/>
                  </a:lnTo>
                  <a:lnTo>
                    <a:pt x="68" y="0"/>
                  </a:lnTo>
                  <a:lnTo>
                    <a:pt x="80" y="3"/>
                  </a:lnTo>
                  <a:lnTo>
                    <a:pt x="85" y="4"/>
                  </a:lnTo>
                  <a:lnTo>
                    <a:pt x="91" y="6"/>
                  </a:lnTo>
                  <a:lnTo>
                    <a:pt x="97" y="9"/>
                  </a:lnTo>
                  <a:lnTo>
                    <a:pt x="104" y="11"/>
                  </a:lnTo>
                  <a:lnTo>
                    <a:pt x="108" y="14"/>
                  </a:lnTo>
                  <a:lnTo>
                    <a:pt x="115" y="19"/>
                  </a:lnTo>
                  <a:lnTo>
                    <a:pt x="127" y="26"/>
                  </a:lnTo>
                  <a:lnTo>
                    <a:pt x="140" y="36"/>
                  </a:lnTo>
                  <a:lnTo>
                    <a:pt x="152" y="45"/>
                  </a:lnTo>
                  <a:lnTo>
                    <a:pt x="163" y="56"/>
                  </a:lnTo>
                  <a:lnTo>
                    <a:pt x="174" y="66"/>
                  </a:lnTo>
                  <a:lnTo>
                    <a:pt x="184" y="74"/>
                  </a:lnTo>
                  <a:lnTo>
                    <a:pt x="192" y="83"/>
                  </a:lnTo>
                  <a:lnTo>
                    <a:pt x="198" y="91"/>
                  </a:lnTo>
                  <a:lnTo>
                    <a:pt x="204" y="100"/>
                  </a:lnTo>
                  <a:lnTo>
                    <a:pt x="211" y="108"/>
                  </a:lnTo>
                  <a:lnTo>
                    <a:pt x="215" y="118"/>
                  </a:lnTo>
                  <a:lnTo>
                    <a:pt x="220" y="126"/>
                  </a:lnTo>
                  <a:lnTo>
                    <a:pt x="229" y="143"/>
                  </a:lnTo>
                </a:path>
              </a:pathLst>
            </a:custGeom>
            <a:noFill/>
            <a:ln w="142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05" name="Group 111"/>
            <p:cNvGrpSpPr/>
            <p:nvPr/>
          </p:nvGrpSpPr>
          <p:grpSpPr>
            <a:xfrm>
              <a:off x="4296" y="1842"/>
              <a:ext cx="1464" cy="231"/>
              <a:chOff x="4296" y="1842"/>
              <a:chExt cx="1464" cy="231"/>
            </a:xfrm>
          </p:grpSpPr>
          <p:sp>
            <p:nvSpPr>
              <p:cNvPr id="12306" name="Rectangle 99"/>
              <p:cNvSpPr/>
              <p:nvPr/>
            </p:nvSpPr>
            <p:spPr>
              <a:xfrm>
                <a:off x="4296" y="1842"/>
                <a:ext cx="146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marL="342900" indent="-342900"/>
                <a:r>
                  <a:rPr lang="zh-CN" altLang="en-US" sz="18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矢量  与   的夹角</a:t>
                </a:r>
              </a:p>
            </p:txBody>
          </p:sp>
          <p:graphicFrame>
            <p:nvGraphicFramePr>
              <p:cNvPr id="12307" name="Object 100"/>
              <p:cNvGraphicFramePr/>
              <p:nvPr/>
            </p:nvGraphicFramePr>
            <p:xfrm>
              <a:off x="4633" y="1852"/>
              <a:ext cx="193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7" imgW="93345" imgH="137795" progId="Equation.3">
                      <p:embed/>
                    </p:oleObj>
                  </mc:Choice>
                  <mc:Fallback>
                    <p:oleObj r:id="rId17" imgW="93345" imgH="137795" progId="Equation.3">
                      <p:embed/>
                      <p:pic>
                        <p:nvPicPr>
                          <p:cNvPr id="0" name="图片 3093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633" y="1852"/>
                            <a:ext cx="193" cy="2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8" name="Object 101"/>
              <p:cNvGraphicFramePr/>
              <p:nvPr/>
            </p:nvGraphicFramePr>
            <p:xfrm>
              <a:off x="4950" y="1852"/>
              <a:ext cx="193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9" imgW="93345" imgH="137795" progId="Equation.3">
                      <p:embed/>
                    </p:oleObj>
                  </mc:Choice>
                  <mc:Fallback>
                    <p:oleObj r:id="rId19" imgW="93345" imgH="137795" progId="Equation.3">
                      <p:embed/>
                      <p:pic>
                        <p:nvPicPr>
                          <p:cNvPr id="0" name="图片 3095"/>
                          <p:cNvPicPr/>
                          <p:nvPr/>
                        </p:nvPicPr>
                        <p:blipFill>
                          <a:blip r:embed="rId20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950" y="1852"/>
                            <a:ext cx="193" cy="2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82413" name="Group 109"/>
          <p:cNvGrpSpPr/>
          <p:nvPr/>
        </p:nvGrpSpPr>
        <p:grpSpPr>
          <a:xfrm>
            <a:off x="468313" y="4724400"/>
            <a:ext cx="2560637" cy="425450"/>
            <a:chOff x="1086" y="2478"/>
            <a:chExt cx="1613" cy="268"/>
          </a:xfrm>
        </p:grpSpPr>
        <p:graphicFrame>
          <p:nvGraphicFramePr>
            <p:cNvPr id="12310" name="Object 9"/>
            <p:cNvGraphicFramePr>
              <a:graphicFrameLocks noChangeAspect="1"/>
            </p:cNvGraphicFramePr>
            <p:nvPr/>
          </p:nvGraphicFramePr>
          <p:xfrm>
            <a:off x="1086" y="2506"/>
            <a:ext cx="44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269875" imgH="127000" progId="Equation.3">
                    <p:embed/>
                  </p:oleObj>
                </mc:Choice>
                <mc:Fallback>
                  <p:oleObj r:id="rId21" imgW="269875" imgH="1270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86" y="2506"/>
                          <a:ext cx="44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1" name="Object 10"/>
            <p:cNvGraphicFramePr>
              <a:graphicFrameLocks noChangeAspect="1"/>
            </p:cNvGraphicFramePr>
            <p:nvPr/>
          </p:nvGraphicFramePr>
          <p:xfrm>
            <a:off x="1989" y="2478"/>
            <a:ext cx="71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446405" imgH="127000" progId="Equation.3">
                    <p:embed/>
                  </p:oleObj>
                </mc:Choice>
                <mc:Fallback>
                  <p:oleObj r:id="rId23" imgW="446405" imgH="1270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89" y="2478"/>
                          <a:ext cx="71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2" name="AutoShape 107"/>
            <p:cNvSpPr/>
            <p:nvPr/>
          </p:nvSpPr>
          <p:spPr>
            <a:xfrm>
              <a:off x="1565" y="2568"/>
              <a:ext cx="409" cy="136"/>
            </a:xfrm>
            <a:prstGeom prst="rightArrow">
              <a:avLst>
                <a:gd name="adj1" fmla="val 50000"/>
                <a:gd name="adj2" fmla="val 75169"/>
              </a:avLst>
            </a:prstGeom>
            <a:solidFill>
              <a:srgbClr val="FFCC99">
                <a:alpha val="98822"/>
              </a:srgbClr>
            </a:solidFill>
            <a:ln w="22225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82414" name="Group 110"/>
          <p:cNvGrpSpPr/>
          <p:nvPr/>
        </p:nvGrpSpPr>
        <p:grpSpPr>
          <a:xfrm>
            <a:off x="4716463" y="4724400"/>
            <a:ext cx="2797175" cy="430213"/>
            <a:chOff x="2977" y="2480"/>
            <a:chExt cx="1717" cy="271"/>
          </a:xfrm>
        </p:grpSpPr>
        <p:graphicFrame>
          <p:nvGraphicFramePr>
            <p:cNvPr id="12314" name="Object 11"/>
            <p:cNvGraphicFramePr>
              <a:graphicFrameLocks noChangeAspect="1"/>
            </p:cNvGraphicFramePr>
            <p:nvPr/>
          </p:nvGraphicFramePr>
          <p:xfrm>
            <a:off x="2977" y="2480"/>
            <a:ext cx="40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292100" imgH="148590" progId="Equation.3">
                    <p:embed/>
                  </p:oleObj>
                </mc:Choice>
                <mc:Fallback>
                  <p:oleObj r:id="rId25" imgW="292100" imgH="14859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77" y="2480"/>
                          <a:ext cx="402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5" name="Object 12"/>
            <p:cNvGraphicFramePr>
              <a:graphicFrameLocks noChangeAspect="1"/>
            </p:cNvGraphicFramePr>
            <p:nvPr/>
          </p:nvGraphicFramePr>
          <p:xfrm>
            <a:off x="3805" y="2496"/>
            <a:ext cx="889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567055" imgH="127000" progId="Equation.3">
                    <p:embed/>
                  </p:oleObj>
                </mc:Choice>
                <mc:Fallback>
                  <p:oleObj r:id="rId27" imgW="567055" imgH="1270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05" y="2496"/>
                          <a:ext cx="889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6" name="AutoShape 108"/>
            <p:cNvSpPr/>
            <p:nvPr/>
          </p:nvSpPr>
          <p:spPr>
            <a:xfrm>
              <a:off x="3424" y="2568"/>
              <a:ext cx="409" cy="136"/>
            </a:xfrm>
            <a:prstGeom prst="rightArrow">
              <a:avLst>
                <a:gd name="adj1" fmla="val 50000"/>
                <a:gd name="adj2" fmla="val 75169"/>
              </a:avLst>
            </a:prstGeom>
            <a:solidFill>
              <a:srgbClr val="FFCC99">
                <a:alpha val="98822"/>
              </a:srgbClr>
            </a:solidFill>
            <a:ln w="22225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12317" name="AutoShape 113">
            <a:hlinkClick r:id="rId29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318" name="AutoShape 114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319" name="AutoShape 115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320" name="AutoShape 116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82422" name="Object 118"/>
          <p:cNvGraphicFramePr>
            <a:graphicFrameLocks noChangeAspect="1"/>
          </p:cNvGraphicFramePr>
          <p:nvPr/>
        </p:nvGraphicFramePr>
        <p:xfrm>
          <a:off x="1547813" y="2420938"/>
          <a:ext cx="47196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1944370" imgH="193040" progId="Equation.3">
                  <p:embed/>
                </p:oleObj>
              </mc:Choice>
              <mc:Fallback>
                <p:oleObj r:id="rId30" imgW="1944370" imgH="19304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3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2420938"/>
                        <a:ext cx="4719637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426" name="Text Box 122"/>
          <p:cNvSpPr txBox="1"/>
          <p:nvPr/>
        </p:nvSpPr>
        <p:spPr>
          <a:xfrm>
            <a:off x="468313" y="2466975"/>
            <a:ext cx="84963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B7B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rgbClr val="FFB7B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1.1.1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                       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，求向量间夹角。</a:t>
            </a:r>
          </a:p>
        </p:txBody>
      </p:sp>
      <p:graphicFrame>
        <p:nvGraphicFramePr>
          <p:cNvPr id="482427" name="Object 123"/>
          <p:cNvGraphicFramePr>
            <a:graphicFrameLocks noChangeAspect="1"/>
          </p:cNvGraphicFramePr>
          <p:nvPr/>
        </p:nvGraphicFramePr>
        <p:xfrm>
          <a:off x="938213" y="2865438"/>
          <a:ext cx="752475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3123565" imgH="413385" progId="Equation.3">
                  <p:embed/>
                </p:oleObj>
              </mc:Choice>
              <mc:Fallback>
                <p:oleObj r:id="rId32" imgW="3123565" imgH="413385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3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38213" y="2865438"/>
                        <a:ext cx="7524750" cy="1068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428" name="Rectangle 124"/>
          <p:cNvSpPr/>
          <p:nvPr/>
        </p:nvSpPr>
        <p:spPr>
          <a:xfrm>
            <a:off x="466725" y="3068638"/>
            <a:ext cx="4968875" cy="576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" name="Object 23"/>
          <p:cNvGraphicFramePr>
            <a:graphicFrameLocks noChangeAspect="1"/>
          </p:cNvGraphicFramePr>
          <p:nvPr/>
        </p:nvGraphicFramePr>
        <p:xfrm>
          <a:off x="646113" y="5300663"/>
          <a:ext cx="20542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859155" imgH="132080" progId="Equation.3">
                  <p:embed/>
                </p:oleObj>
              </mc:Choice>
              <mc:Fallback>
                <p:oleObj r:id="rId34" imgW="859155" imgH="13208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35">
                        <a:clrChange>
                          <a:clrFrom>
                            <a:srgbClr val="000000"/>
                          </a:clrFrom>
                          <a:clrTo>
                            <a:srgbClr val="EA162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6113" y="5300663"/>
                        <a:ext cx="2054225" cy="369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094605" y="5300980"/>
            <a:ext cx="2339340" cy="4622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868F249-788E-9408-860B-B100519F6FC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002462" y="4728527"/>
            <a:ext cx="6000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113">
            <a:hlinkClick r:id="rId4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338" name="AutoShape 114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339" name="AutoShape 115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340" name="AutoShape 116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14341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9137650" cy="25717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33870" name="Group 14"/>
          <p:cNvGrpSpPr/>
          <p:nvPr/>
        </p:nvGrpSpPr>
        <p:grpSpPr>
          <a:xfrm>
            <a:off x="2963948" y="2525713"/>
            <a:ext cx="4608512" cy="863600"/>
            <a:chOff x="249" y="1420"/>
            <a:chExt cx="2863" cy="464"/>
          </a:xfrm>
        </p:grpSpPr>
        <p:graphicFrame>
          <p:nvGraphicFramePr>
            <p:cNvPr id="14344" name="Object 15"/>
            <p:cNvGraphicFramePr>
              <a:graphicFrameLocks noChangeAspect="1"/>
            </p:cNvGraphicFramePr>
            <p:nvPr/>
          </p:nvGraphicFramePr>
          <p:xfrm>
            <a:off x="1092" y="1420"/>
            <a:ext cx="2020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283335" imgH="325120" progId="Equation.3">
                    <p:embed/>
                  </p:oleObj>
                </mc:Choice>
                <mc:Fallback>
                  <p:oleObj r:id="rId6" imgW="1283335" imgH="32512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92" y="1420"/>
                          <a:ext cx="2020" cy="4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5" name="Rectangle 16"/>
            <p:cNvSpPr/>
            <p:nvPr/>
          </p:nvSpPr>
          <p:spPr>
            <a:xfrm>
              <a:off x="249" y="1480"/>
              <a:ext cx="1951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marL="381000" indent="-381000"/>
              <a:endParaRPr lang="zh-CN" altLang="zh-CN" b="0" dirty="0">
                <a:solidFill>
                  <a:srgbClr val="FFB7B7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</p:grpSp>
      <p:sp>
        <p:nvSpPr>
          <p:cNvPr id="633873" name="Rectangle 17"/>
          <p:cNvSpPr/>
          <p:nvPr/>
        </p:nvSpPr>
        <p:spPr>
          <a:xfrm>
            <a:off x="-36512" y="3141663"/>
            <a:ext cx="7272337" cy="576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矢性微分算符：先做矢量乘法，再做微分运算。</a:t>
            </a:r>
          </a:p>
        </p:txBody>
      </p:sp>
      <p:sp>
        <p:nvSpPr>
          <p:cNvPr id="633874" name="Rectangle 18"/>
          <p:cNvSpPr/>
          <p:nvPr/>
        </p:nvSpPr>
        <p:spPr>
          <a:xfrm>
            <a:off x="107950" y="2708275"/>
            <a:ext cx="440055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 dirty="0">
                <a:solidFill>
                  <a:srgbClr val="EA162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哈密顿算符（重要的桥梁矢量）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2FF99D-1FB8-21FC-DB5D-F42D8622C6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291" y="3636963"/>
            <a:ext cx="8229068" cy="32382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20" name="Text Box 4"/>
          <p:cNvSpPr txBox="1"/>
          <p:nvPr/>
        </p:nvSpPr>
        <p:spPr>
          <a:xfrm>
            <a:off x="-39237" y="672771"/>
            <a:ext cx="937805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矢量的矢积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zh-CN" altLang="en-US" dirty="0">
                <a:solidFill>
                  <a:srgbClr val="EA162F"/>
                </a:solidFill>
                <a:latin typeface="Times New Roman" panose="02020603050405020304" pitchFamily="18" charset="0"/>
              </a:rPr>
              <a:t>叉乘）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：大小为两个向量构成的平行四边形面积</a:t>
            </a:r>
          </a:p>
        </p:txBody>
      </p:sp>
      <p:graphicFrame>
        <p:nvGraphicFramePr>
          <p:cNvPr id="546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84183"/>
              </p:ext>
            </p:extLst>
          </p:nvPr>
        </p:nvGraphicFramePr>
        <p:xfrm>
          <a:off x="3074988" y="1144289"/>
          <a:ext cx="2505075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57910" imgH="242570" progId="Equation.3">
                  <p:embed/>
                </p:oleObj>
              </mc:Choice>
              <mc:Fallback>
                <p:oleObj r:id="rId3" imgW="1057910" imgH="24257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74988" y="1144289"/>
                        <a:ext cx="2505075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22" name="Object 6"/>
          <p:cNvGraphicFramePr>
            <a:graphicFrameLocks noChangeAspect="1"/>
          </p:cNvGraphicFramePr>
          <p:nvPr/>
        </p:nvGraphicFramePr>
        <p:xfrm>
          <a:off x="1082675" y="1708150"/>
          <a:ext cx="75215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211195" imgH="193040" progId="Equation.3">
                  <p:embed/>
                </p:oleObj>
              </mc:Choice>
              <mc:Fallback>
                <p:oleObj r:id="rId5" imgW="3211195" imgH="19304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82675" y="1708150"/>
                        <a:ext cx="7521575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23" name="Object 7"/>
          <p:cNvGraphicFramePr>
            <a:graphicFrameLocks noChangeAspect="1"/>
          </p:cNvGraphicFramePr>
          <p:nvPr/>
        </p:nvGraphicFramePr>
        <p:xfrm>
          <a:off x="890588" y="2781300"/>
          <a:ext cx="2673350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18235" imgH="600710" progId="Equation.3">
                  <p:embed/>
                </p:oleObj>
              </mc:Choice>
              <mc:Fallback>
                <p:oleObj r:id="rId7" imgW="1118235" imgH="60071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90588" y="2781300"/>
                        <a:ext cx="2673350" cy="1476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24" name="Object 8"/>
          <p:cNvGraphicFramePr>
            <a:graphicFrameLocks noChangeAspect="1"/>
          </p:cNvGraphicFramePr>
          <p:nvPr/>
        </p:nvGraphicFramePr>
        <p:xfrm>
          <a:off x="827088" y="4292600"/>
          <a:ext cx="20161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76605" imgH="137795" progId="Equation.3">
                  <p:embed/>
                </p:oleObj>
              </mc:Choice>
              <mc:Fallback>
                <p:oleObj r:id="rId9" imgW="776605" imgH="13779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4292600"/>
                        <a:ext cx="2016125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6872" name="Group 56"/>
          <p:cNvGrpSpPr/>
          <p:nvPr/>
        </p:nvGrpSpPr>
        <p:grpSpPr>
          <a:xfrm>
            <a:off x="5794375" y="2339695"/>
            <a:ext cx="2881313" cy="2376488"/>
            <a:chOff x="3606" y="2206"/>
            <a:chExt cx="1633" cy="1406"/>
          </a:xfrm>
        </p:grpSpPr>
        <p:sp>
          <p:nvSpPr>
            <p:cNvPr id="16391" name="Rectangle 16"/>
            <p:cNvSpPr/>
            <p:nvPr/>
          </p:nvSpPr>
          <p:spPr>
            <a:xfrm>
              <a:off x="3606" y="2206"/>
              <a:ext cx="1633" cy="1406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21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392" name="Freeform 31"/>
            <p:cNvSpPr/>
            <p:nvPr/>
          </p:nvSpPr>
          <p:spPr>
            <a:xfrm>
              <a:off x="3800" y="2958"/>
              <a:ext cx="1101" cy="186"/>
            </a:xfrm>
            <a:custGeom>
              <a:avLst/>
              <a:gdLst/>
              <a:ahLst/>
              <a:cxnLst>
                <a:cxn ang="0">
                  <a:pos x="275" y="0"/>
                </a:cxn>
                <a:cxn ang="0">
                  <a:pos x="0" y="186"/>
                </a:cxn>
                <a:cxn ang="0">
                  <a:pos x="825" y="186"/>
                </a:cxn>
                <a:cxn ang="0">
                  <a:pos x="1101" y="0"/>
                </a:cxn>
                <a:cxn ang="0">
                  <a:pos x="275" y="0"/>
                </a:cxn>
              </a:cxnLst>
              <a:rect l="0" t="0" r="0" b="0"/>
              <a:pathLst>
                <a:path w="1101" h="186">
                  <a:moveTo>
                    <a:pt x="275" y="0"/>
                  </a:moveTo>
                  <a:lnTo>
                    <a:pt x="0" y="186"/>
                  </a:lnTo>
                  <a:lnTo>
                    <a:pt x="825" y="186"/>
                  </a:lnTo>
                  <a:lnTo>
                    <a:pt x="1101" y="0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D9ADB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3" name="Freeform 32"/>
            <p:cNvSpPr/>
            <p:nvPr/>
          </p:nvSpPr>
          <p:spPr>
            <a:xfrm>
              <a:off x="4043" y="2795"/>
              <a:ext cx="1100" cy="185"/>
            </a:xfrm>
            <a:custGeom>
              <a:avLst/>
              <a:gdLst/>
              <a:ahLst/>
              <a:cxnLst>
                <a:cxn ang="0">
                  <a:pos x="274" y="0"/>
                </a:cxn>
                <a:cxn ang="0">
                  <a:pos x="0" y="185"/>
                </a:cxn>
                <a:cxn ang="0">
                  <a:pos x="825" y="185"/>
                </a:cxn>
                <a:cxn ang="0">
                  <a:pos x="1100" y="0"/>
                </a:cxn>
                <a:cxn ang="0">
                  <a:pos x="274" y="0"/>
                </a:cxn>
              </a:cxnLst>
              <a:rect l="0" t="0" r="0" b="0"/>
              <a:pathLst>
                <a:path w="1100" h="185">
                  <a:moveTo>
                    <a:pt x="274" y="0"/>
                  </a:moveTo>
                  <a:lnTo>
                    <a:pt x="0" y="185"/>
                  </a:lnTo>
                  <a:lnTo>
                    <a:pt x="825" y="185"/>
                  </a:lnTo>
                  <a:lnTo>
                    <a:pt x="1100" y="0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D9ADB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4" name="Freeform 35"/>
            <p:cNvSpPr/>
            <p:nvPr/>
          </p:nvSpPr>
          <p:spPr>
            <a:xfrm>
              <a:off x="3912" y="3072"/>
              <a:ext cx="110" cy="6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1" y="4"/>
                </a:cxn>
                <a:cxn ang="0">
                  <a:pos x="21" y="2"/>
                </a:cxn>
                <a:cxn ang="0">
                  <a:pos x="31" y="0"/>
                </a:cxn>
                <a:cxn ang="0">
                  <a:pos x="41" y="0"/>
                </a:cxn>
                <a:cxn ang="0">
                  <a:pos x="51" y="0"/>
                </a:cxn>
                <a:cxn ang="0">
                  <a:pos x="59" y="0"/>
                </a:cxn>
                <a:cxn ang="0">
                  <a:pos x="66" y="3"/>
                </a:cxn>
                <a:cxn ang="0">
                  <a:pos x="70" y="4"/>
                </a:cxn>
                <a:cxn ang="0">
                  <a:pos x="74" y="5"/>
                </a:cxn>
                <a:cxn ang="0">
                  <a:pos x="78" y="8"/>
                </a:cxn>
                <a:cxn ang="0">
                  <a:pos x="81" y="9"/>
                </a:cxn>
                <a:cxn ang="0">
                  <a:pos x="86" y="16"/>
                </a:cxn>
                <a:cxn ang="0">
                  <a:pos x="91" y="22"/>
                </a:cxn>
                <a:cxn ang="0">
                  <a:pos x="96" y="29"/>
                </a:cxn>
                <a:cxn ang="0">
                  <a:pos x="100" y="37"/>
                </a:cxn>
                <a:cxn ang="0">
                  <a:pos x="104" y="46"/>
                </a:cxn>
                <a:cxn ang="0">
                  <a:pos x="108" y="55"/>
                </a:cxn>
                <a:cxn ang="0">
                  <a:pos x="110" y="64"/>
                </a:cxn>
              </a:cxnLst>
              <a:rect l="0" t="0" r="0" b="0"/>
              <a:pathLst>
                <a:path w="110" h="64">
                  <a:moveTo>
                    <a:pt x="0" y="5"/>
                  </a:moveTo>
                  <a:lnTo>
                    <a:pt x="11" y="4"/>
                  </a:lnTo>
                  <a:lnTo>
                    <a:pt x="21" y="2"/>
                  </a:lnTo>
                  <a:lnTo>
                    <a:pt x="31" y="0"/>
                  </a:lnTo>
                  <a:lnTo>
                    <a:pt x="41" y="0"/>
                  </a:lnTo>
                  <a:lnTo>
                    <a:pt x="51" y="0"/>
                  </a:lnTo>
                  <a:lnTo>
                    <a:pt x="59" y="0"/>
                  </a:lnTo>
                  <a:lnTo>
                    <a:pt x="66" y="3"/>
                  </a:lnTo>
                  <a:lnTo>
                    <a:pt x="70" y="4"/>
                  </a:lnTo>
                  <a:lnTo>
                    <a:pt x="74" y="5"/>
                  </a:lnTo>
                  <a:lnTo>
                    <a:pt x="78" y="8"/>
                  </a:lnTo>
                  <a:lnTo>
                    <a:pt x="81" y="9"/>
                  </a:lnTo>
                  <a:lnTo>
                    <a:pt x="86" y="16"/>
                  </a:lnTo>
                  <a:lnTo>
                    <a:pt x="91" y="22"/>
                  </a:lnTo>
                  <a:lnTo>
                    <a:pt x="96" y="29"/>
                  </a:lnTo>
                  <a:lnTo>
                    <a:pt x="100" y="37"/>
                  </a:lnTo>
                  <a:lnTo>
                    <a:pt x="104" y="46"/>
                  </a:lnTo>
                  <a:lnTo>
                    <a:pt x="108" y="55"/>
                  </a:lnTo>
                  <a:lnTo>
                    <a:pt x="110" y="64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Rectangle 36"/>
            <p:cNvSpPr/>
            <p:nvPr/>
          </p:nvSpPr>
          <p:spPr>
            <a:xfrm>
              <a:off x="4032" y="2982"/>
              <a:ext cx="63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700" b="0" i="1" dirty="0">
                  <a:solidFill>
                    <a:srgbClr val="0000FF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6" name="Rectangle 38"/>
            <p:cNvSpPr/>
            <p:nvPr/>
          </p:nvSpPr>
          <p:spPr>
            <a:xfrm>
              <a:off x="4535" y="2852"/>
              <a:ext cx="143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7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sin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7" name="Rectangle 39"/>
            <p:cNvSpPr/>
            <p:nvPr/>
          </p:nvSpPr>
          <p:spPr>
            <a:xfrm>
              <a:off x="4340" y="2852"/>
              <a:ext cx="150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7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8" name="Rectangle 40"/>
            <p:cNvSpPr/>
            <p:nvPr/>
          </p:nvSpPr>
          <p:spPr>
            <a:xfrm>
              <a:off x="4716" y="2864"/>
              <a:ext cx="64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700" b="0" i="1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9" name="Line 43"/>
            <p:cNvSpPr/>
            <p:nvPr/>
          </p:nvSpPr>
          <p:spPr>
            <a:xfrm>
              <a:off x="3833" y="3158"/>
              <a:ext cx="81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Line 44"/>
            <p:cNvSpPr>
              <a:spLocks noChangeAspect="1"/>
            </p:cNvSpPr>
            <p:nvPr/>
          </p:nvSpPr>
          <p:spPr>
            <a:xfrm flipV="1">
              <a:off x="3827" y="2782"/>
              <a:ext cx="517" cy="363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1" name="Line 45"/>
            <p:cNvSpPr/>
            <p:nvPr/>
          </p:nvSpPr>
          <p:spPr>
            <a:xfrm>
              <a:off x="4308" y="2795"/>
              <a:ext cx="816" cy="0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2" name="Line 46"/>
            <p:cNvSpPr/>
            <p:nvPr/>
          </p:nvSpPr>
          <p:spPr>
            <a:xfrm flipV="1">
              <a:off x="3833" y="2296"/>
              <a:ext cx="0" cy="862"/>
            </a:xfrm>
            <a:prstGeom prst="line">
              <a:avLst/>
            </a:prstGeom>
            <a:ln w="38100" cap="flat" cmpd="sng">
              <a:solidFill>
                <a:srgbClr val="80008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Line 47"/>
            <p:cNvSpPr>
              <a:spLocks noChangeAspect="1"/>
            </p:cNvSpPr>
            <p:nvPr/>
          </p:nvSpPr>
          <p:spPr>
            <a:xfrm flipV="1">
              <a:off x="4610" y="2795"/>
              <a:ext cx="517" cy="363"/>
            </a:xfrm>
            <a:prstGeom prst="line">
              <a:avLst/>
            </a:prstGeom>
            <a:ln w="1587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04" name="Object 48"/>
            <p:cNvGraphicFramePr>
              <a:graphicFrameLocks noChangeAspect="1"/>
            </p:cNvGraphicFramePr>
            <p:nvPr/>
          </p:nvGraphicFramePr>
          <p:xfrm>
            <a:off x="3878" y="2251"/>
            <a:ext cx="39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280670" imgH="137795" progId="Equation.3">
                    <p:embed/>
                  </p:oleObj>
                </mc:Choice>
                <mc:Fallback>
                  <p:oleObj r:id="rId11" imgW="280670" imgH="137795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8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78" y="2251"/>
                          <a:ext cx="398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5" name="Object 49"/>
            <p:cNvGraphicFramePr>
              <a:graphicFrameLocks noChangeAspect="1"/>
            </p:cNvGraphicFramePr>
            <p:nvPr/>
          </p:nvGraphicFramePr>
          <p:xfrm>
            <a:off x="4014" y="2659"/>
            <a:ext cx="19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93345" imgH="137795" progId="Equation.3">
                    <p:embed/>
                  </p:oleObj>
                </mc:Choice>
                <mc:Fallback>
                  <p:oleObj r:id="rId13" imgW="93345" imgH="137795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14" y="2659"/>
                          <a:ext cx="194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6" name="Object 50"/>
            <p:cNvGraphicFramePr>
              <a:graphicFrameLocks noChangeAspect="1"/>
            </p:cNvGraphicFramePr>
            <p:nvPr/>
          </p:nvGraphicFramePr>
          <p:xfrm>
            <a:off x="4286" y="3158"/>
            <a:ext cx="165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93345" imgH="137795" progId="Equation.3">
                    <p:embed/>
                  </p:oleObj>
                </mc:Choice>
                <mc:Fallback>
                  <p:oleObj r:id="rId15" imgW="93345" imgH="137795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6" y="3158"/>
                          <a:ext cx="165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407" name="Group 55"/>
            <p:cNvGrpSpPr/>
            <p:nvPr/>
          </p:nvGrpSpPr>
          <p:grpSpPr>
            <a:xfrm>
              <a:off x="3787" y="3362"/>
              <a:ext cx="1270" cy="204"/>
              <a:chOff x="3787" y="3362"/>
              <a:chExt cx="1270" cy="204"/>
            </a:xfrm>
          </p:grpSpPr>
          <p:sp>
            <p:nvSpPr>
              <p:cNvPr id="16408" name="Rectangle 52"/>
              <p:cNvSpPr/>
              <p:nvPr/>
            </p:nvSpPr>
            <p:spPr>
              <a:xfrm>
                <a:off x="3787" y="3412"/>
                <a:ext cx="1270" cy="1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>
                <a:spAutoFit/>
              </a:bodyPr>
              <a:lstStyle/>
              <a:p>
                <a:pPr marL="342900" indent="-342900" algn="ctr"/>
                <a:r>
                  <a:rPr lang="zh-CN" altLang="en-US" sz="16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矢量  与  的叉积</a:t>
                </a:r>
              </a:p>
            </p:txBody>
          </p:sp>
          <p:graphicFrame>
            <p:nvGraphicFramePr>
              <p:cNvPr id="16409" name="Object 53"/>
              <p:cNvGraphicFramePr/>
              <p:nvPr/>
            </p:nvGraphicFramePr>
            <p:xfrm>
              <a:off x="4128" y="3362"/>
              <a:ext cx="159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7" imgW="93345" imgH="137795" progId="Equation.3">
                      <p:embed/>
                    </p:oleObj>
                  </mc:Choice>
                  <mc:Fallback>
                    <p:oleObj r:id="rId17" imgW="93345" imgH="137795" progId="Equation.3">
                      <p:embed/>
                      <p:pic>
                        <p:nvPicPr>
                          <p:cNvPr id="0" name="图片 3124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28" y="3362"/>
                            <a:ext cx="159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0" name="Object 54"/>
              <p:cNvGraphicFramePr/>
              <p:nvPr/>
            </p:nvGraphicFramePr>
            <p:xfrm>
              <a:off x="4393" y="3362"/>
              <a:ext cx="159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9" imgW="93345" imgH="137795" progId="Equation.3">
                      <p:embed/>
                    </p:oleObj>
                  </mc:Choice>
                  <mc:Fallback>
                    <p:oleObj r:id="rId19" imgW="93345" imgH="137795" progId="Equation.3">
                      <p:embed/>
                      <p:pic>
                        <p:nvPicPr>
                          <p:cNvPr id="0" name="图片 3128"/>
                          <p:cNvPicPr/>
                          <p:nvPr/>
                        </p:nvPicPr>
                        <p:blipFill>
                          <a:blip r:embed="rId20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393" y="3362"/>
                            <a:ext cx="159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46873" name="Text Box 57"/>
          <p:cNvSpPr txBox="1"/>
          <p:nvPr/>
        </p:nvSpPr>
        <p:spPr>
          <a:xfrm>
            <a:off x="327025" y="1196975"/>
            <a:ext cx="51085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坐标分量表示为</a:t>
            </a:r>
          </a:p>
        </p:txBody>
      </p:sp>
      <p:sp>
        <p:nvSpPr>
          <p:cNvPr id="546874" name="Text Box 58"/>
          <p:cNvSpPr txBox="1"/>
          <p:nvPr/>
        </p:nvSpPr>
        <p:spPr>
          <a:xfrm>
            <a:off x="327025" y="2276475"/>
            <a:ext cx="366871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写成行列式形式为</a:t>
            </a:r>
          </a:p>
        </p:txBody>
      </p:sp>
      <p:graphicFrame>
        <p:nvGraphicFramePr>
          <p:cNvPr id="16413" name="Object 9"/>
          <p:cNvGraphicFramePr>
            <a:graphicFrameLocks noChangeAspect="1"/>
          </p:cNvGraphicFramePr>
          <p:nvPr/>
        </p:nvGraphicFramePr>
        <p:xfrm>
          <a:off x="611188" y="4951413"/>
          <a:ext cx="86518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325120" imgH="137795" progId="Equation.3">
                  <p:embed/>
                </p:oleObj>
              </mc:Choice>
              <mc:Fallback>
                <p:oleObj r:id="rId21" imgW="325120" imgH="137795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4951413"/>
                        <a:ext cx="865187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4" name="Object 10"/>
          <p:cNvGraphicFramePr>
            <a:graphicFrameLocks noChangeAspect="1"/>
          </p:cNvGraphicFramePr>
          <p:nvPr/>
        </p:nvGraphicFramePr>
        <p:xfrm>
          <a:off x="2185988" y="4875213"/>
          <a:ext cx="13779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550545" imgH="220345" progId="Equation.3">
                  <p:embed/>
                </p:oleObj>
              </mc:Choice>
              <mc:Fallback>
                <p:oleObj r:id="rId23" imgW="550545" imgH="220345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85988" y="4875213"/>
                        <a:ext cx="1377950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5" name="Text Box 59"/>
          <p:cNvSpPr txBox="1"/>
          <p:nvPr/>
        </p:nvSpPr>
        <p:spPr>
          <a:xfrm>
            <a:off x="179388" y="4916488"/>
            <a:ext cx="20161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若            ，则</a:t>
            </a:r>
          </a:p>
        </p:txBody>
      </p:sp>
      <p:grpSp>
        <p:nvGrpSpPr>
          <p:cNvPr id="546882" name="Group 66"/>
          <p:cNvGrpSpPr/>
          <p:nvPr/>
        </p:nvGrpSpPr>
        <p:grpSpPr>
          <a:xfrm>
            <a:off x="5292725" y="4868863"/>
            <a:ext cx="3382963" cy="595312"/>
            <a:chOff x="613" y="3702"/>
            <a:chExt cx="2131" cy="375"/>
          </a:xfrm>
        </p:grpSpPr>
        <p:graphicFrame>
          <p:nvGraphicFramePr>
            <p:cNvPr id="16417" name="Object 11"/>
            <p:cNvGraphicFramePr>
              <a:graphicFrameLocks noChangeAspect="1"/>
            </p:cNvGraphicFramePr>
            <p:nvPr/>
          </p:nvGraphicFramePr>
          <p:xfrm>
            <a:off x="902" y="3702"/>
            <a:ext cx="48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292100" imgH="148590" progId="Equation.3">
                    <p:embed/>
                  </p:oleObj>
                </mc:Choice>
                <mc:Fallback>
                  <p:oleObj r:id="rId25" imgW="292100" imgH="14859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02" y="3702"/>
                          <a:ext cx="48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8" name="Object 12"/>
            <p:cNvGraphicFramePr>
              <a:graphicFrameLocks noChangeAspect="1"/>
            </p:cNvGraphicFramePr>
            <p:nvPr/>
          </p:nvGraphicFramePr>
          <p:xfrm>
            <a:off x="1883" y="3714"/>
            <a:ext cx="73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528955" imgH="242570" progId="Equation.3">
                    <p:embed/>
                  </p:oleObj>
                </mc:Choice>
                <mc:Fallback>
                  <p:oleObj r:id="rId27" imgW="528955" imgH="24257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83" y="3714"/>
                          <a:ext cx="736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9" name="Text Box 61"/>
            <p:cNvSpPr txBox="1"/>
            <p:nvPr/>
          </p:nvSpPr>
          <p:spPr>
            <a:xfrm>
              <a:off x="613" y="3725"/>
              <a:ext cx="213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若            ，则</a:t>
              </a:r>
            </a:p>
          </p:txBody>
        </p:sp>
      </p:grpSp>
      <p:sp>
        <p:nvSpPr>
          <p:cNvPr id="16420" name="AutoShape 68">
            <a:hlinkClick r:id="rId29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421" name="AutoShape 69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422" name="AutoShape 70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423" name="AutoShape 71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82327" name="Object 23"/>
          <p:cNvGraphicFramePr>
            <a:graphicFrameLocks noChangeAspect="1"/>
          </p:cNvGraphicFramePr>
          <p:nvPr/>
        </p:nvGraphicFramePr>
        <p:xfrm>
          <a:off x="827088" y="5516563"/>
          <a:ext cx="22685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947420" imgH="132080" progId="Equation.3">
                  <p:embed/>
                </p:oleObj>
              </mc:Choice>
              <mc:Fallback>
                <p:oleObj r:id="rId30" imgW="947420" imgH="13208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1">
                        <a:clrChange>
                          <a:clrFrom>
                            <a:srgbClr val="000000"/>
                          </a:clrFrom>
                          <a:clrTo>
                            <a:srgbClr val="EA162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5516563"/>
                        <a:ext cx="2268537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3"/>
          <p:cNvGraphicFramePr>
            <a:graphicFrameLocks noChangeAspect="1"/>
          </p:cNvGraphicFramePr>
          <p:nvPr/>
        </p:nvGraphicFramePr>
        <p:xfrm>
          <a:off x="5580063" y="5445125"/>
          <a:ext cx="27781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1134745" imgH="154305" progId="Equation.3">
                  <p:embed/>
                </p:oleObj>
              </mc:Choice>
              <mc:Fallback>
                <p:oleObj r:id="rId32" imgW="1134745" imgH="154305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33">
                        <a:clrChange>
                          <a:clrFrom>
                            <a:srgbClr val="000000"/>
                          </a:clrFrom>
                          <a:clrTo>
                            <a:srgbClr val="EA162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80063" y="5445125"/>
                        <a:ext cx="277812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3"/>
          <p:cNvGraphicFramePr>
            <a:graphicFrameLocks noChangeAspect="1"/>
          </p:cNvGraphicFramePr>
          <p:nvPr/>
        </p:nvGraphicFramePr>
        <p:xfrm>
          <a:off x="179388" y="5949950"/>
          <a:ext cx="47529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1960880" imgH="187325" progId="Equation.3">
                  <p:embed/>
                </p:oleObj>
              </mc:Choice>
              <mc:Fallback>
                <p:oleObj r:id="rId34" imgW="1960880" imgH="187325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3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9388" y="5949950"/>
                        <a:ext cx="475297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71726" y="2350460"/>
            <a:ext cx="2156131" cy="2185348"/>
          </a:xfrm>
          <a:prstGeom prst="rect">
            <a:avLst/>
          </a:prstGeom>
        </p:spPr>
      </p:pic>
      <p:sp>
        <p:nvSpPr>
          <p:cNvPr id="7" name="Text Box 57">
            <a:extLst>
              <a:ext uri="{FF2B5EF4-FFF2-40B4-BE49-F238E27FC236}">
                <a16:creationId xmlns:a16="http://schemas.microsoft.com/office/drawing/2014/main" id="{0A8E5DE6-C2AA-34BB-8892-C0A949548D4B}"/>
              </a:ext>
            </a:extLst>
          </p:cNvPr>
          <p:cNvSpPr txBox="1"/>
          <p:nvPr/>
        </p:nvSpPr>
        <p:spPr>
          <a:xfrm>
            <a:off x="3934267" y="4571266"/>
            <a:ext cx="2291503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 dirty="0">
                <a:solidFill>
                  <a:srgbClr val="FF81C0"/>
                </a:solidFill>
                <a:latin typeface="Times New Roman" panose="02020603050405020304" pitchFamily="18" charset="0"/>
                <a:ea typeface="楷体_GB2312" pitchFamily="49" charset="-122"/>
              </a:rPr>
              <a:t>右手螺旋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7B1B697-6268-7A2B-BA04-C16935C9BB39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323097" y="5930313"/>
            <a:ext cx="3546854" cy="4997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AutoShape 113">
            <a:hlinkClick r:id="rId3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434" name="AutoShape 114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435" name="AutoShape 115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436" name="AutoShape 116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18437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5" y="620713"/>
            <a:ext cx="5614988" cy="2390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8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84538"/>
            <a:ext cx="9175750" cy="2117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1F12067D-C7F8-B207-5265-B877C5B64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5088146"/>
            <a:ext cx="8914286" cy="1742857"/>
          </a:xfrm>
          <a:prstGeom prst="rect">
            <a:avLst/>
          </a:prstGeom>
        </p:spPr>
      </p:pic>
      <p:sp>
        <p:nvSpPr>
          <p:cNvPr id="20481" name="AutoShape 113">
            <a:hlinkClick r:id="rId4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0482" name="AutoShape 114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0483" name="AutoShape 115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0484" name="AutoShape 116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E425D0-499A-4542-1D4C-483FFA92C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13640"/>
            <a:ext cx="9144000" cy="31866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ABED6C6-439D-2CBD-BFE2-3A2F318ADF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391" y="397961"/>
            <a:ext cx="4680520" cy="2390217"/>
          </a:xfrm>
          <a:prstGeom prst="rect">
            <a:avLst/>
          </a:prstGeom>
        </p:spPr>
      </p:pic>
      <p:sp>
        <p:nvSpPr>
          <p:cNvPr id="12" name="Text Box 4">
            <a:extLst>
              <a:ext uri="{FF2B5EF4-FFF2-40B4-BE49-F238E27FC236}">
                <a16:creationId xmlns:a16="http://schemas.microsoft.com/office/drawing/2014/main" id="{ED4D340E-FF73-86E5-2491-CEE7378F9D61}"/>
              </a:ext>
            </a:extLst>
          </p:cNvPr>
          <p:cNvSpPr txBox="1"/>
          <p:nvPr/>
        </p:nvSpPr>
        <p:spPr>
          <a:xfrm>
            <a:off x="179512" y="642428"/>
            <a:ext cx="410445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旋度计算：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4BF5E52-E4FA-A31D-0E5B-AC9386E444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34681"/>
            <a:ext cx="4455785" cy="724865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50CDDE7-B29E-837D-A63E-6491B57FBA64}"/>
              </a:ext>
            </a:extLst>
          </p:cNvPr>
          <p:cNvCxnSpPr>
            <a:cxnSpLocks/>
          </p:cNvCxnSpPr>
          <p:nvPr/>
        </p:nvCxnSpPr>
        <p:spPr bwMode="auto">
          <a:xfrm>
            <a:off x="1115616" y="5787752"/>
            <a:ext cx="0" cy="104325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C7A18B7-2FA9-911D-E08A-BA5679897B61}"/>
              </a:ext>
            </a:extLst>
          </p:cNvPr>
          <p:cNvCxnSpPr>
            <a:cxnSpLocks/>
          </p:cNvCxnSpPr>
          <p:nvPr/>
        </p:nvCxnSpPr>
        <p:spPr bwMode="auto">
          <a:xfrm>
            <a:off x="1011858" y="6712222"/>
            <a:ext cx="10801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Text Box 2"/>
          <p:cNvSpPr txBox="1"/>
          <p:nvPr/>
        </p:nvSpPr>
        <p:spPr>
          <a:xfrm>
            <a:off x="250825" y="765175"/>
            <a:ext cx="460851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）矢量的混合运算</a:t>
            </a:r>
          </a:p>
        </p:txBody>
      </p:sp>
      <p:graphicFrame>
        <p:nvGraphicFramePr>
          <p:cNvPr id="485379" name="Object 3"/>
          <p:cNvGraphicFramePr>
            <a:graphicFrameLocks noChangeAspect="1"/>
          </p:cNvGraphicFramePr>
          <p:nvPr/>
        </p:nvGraphicFramePr>
        <p:xfrm>
          <a:off x="1268413" y="1501775"/>
          <a:ext cx="29432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83335" imgH="170815" progId="Equation.3">
                  <p:embed/>
                </p:oleObj>
              </mc:Choice>
              <mc:Fallback>
                <p:oleObj r:id="rId3" imgW="1283335" imgH="17081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68413" y="1501775"/>
                        <a:ext cx="2943225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0" name="Object 4"/>
          <p:cNvGraphicFramePr>
            <a:graphicFrameLocks noChangeAspect="1"/>
          </p:cNvGraphicFramePr>
          <p:nvPr/>
        </p:nvGraphicFramePr>
        <p:xfrm>
          <a:off x="1260475" y="2192338"/>
          <a:ext cx="32210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04620" imgH="170815" progId="Equation.3">
                  <p:embed/>
                </p:oleObj>
              </mc:Choice>
              <mc:Fallback>
                <p:oleObj r:id="rId5" imgW="1404620" imgH="17081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60475" y="2192338"/>
                        <a:ext cx="3221038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1" name="Object 5"/>
          <p:cNvGraphicFramePr>
            <a:graphicFrameLocks noChangeAspect="1"/>
          </p:cNvGraphicFramePr>
          <p:nvPr/>
        </p:nvGraphicFramePr>
        <p:xfrm>
          <a:off x="1266825" y="2900363"/>
          <a:ext cx="42497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856105" imgH="170815" progId="Equation.3">
                  <p:embed/>
                </p:oleObj>
              </mc:Choice>
              <mc:Fallback>
                <p:oleObj r:id="rId7" imgW="1856105" imgH="17081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66825" y="2900363"/>
                        <a:ext cx="4249738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2" name="Object 6"/>
          <p:cNvGraphicFramePr>
            <a:graphicFrameLocks noChangeAspect="1"/>
          </p:cNvGraphicFramePr>
          <p:nvPr/>
        </p:nvGraphicFramePr>
        <p:xfrm>
          <a:off x="1271588" y="4089400"/>
          <a:ext cx="3829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668780" imgH="170815" progId="Equation.3">
                  <p:embed/>
                </p:oleObj>
              </mc:Choice>
              <mc:Fallback>
                <p:oleObj r:id="rId9" imgW="1668780" imgH="17081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71588" y="4089400"/>
                        <a:ext cx="3829050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386" name="Text Box 10"/>
          <p:cNvSpPr txBox="1"/>
          <p:nvPr/>
        </p:nvSpPr>
        <p:spPr>
          <a:xfrm>
            <a:off x="4643438" y="1484313"/>
            <a:ext cx="216058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en-US" altLang="zh-CN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分配律</a:t>
            </a:r>
          </a:p>
        </p:txBody>
      </p:sp>
      <p:sp>
        <p:nvSpPr>
          <p:cNvPr id="485387" name="Text Box 11"/>
          <p:cNvSpPr txBox="1"/>
          <p:nvPr/>
        </p:nvSpPr>
        <p:spPr>
          <a:xfrm>
            <a:off x="4716463" y="2205038"/>
            <a:ext cx="20161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分配律</a:t>
            </a:r>
          </a:p>
        </p:txBody>
      </p:sp>
      <p:sp>
        <p:nvSpPr>
          <p:cNvPr id="485388" name="Text Box 12"/>
          <p:cNvSpPr txBox="1"/>
          <p:nvPr/>
        </p:nvSpPr>
        <p:spPr>
          <a:xfrm>
            <a:off x="5651500" y="2936875"/>
            <a:ext cx="2881313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标量三重积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（</a:t>
            </a:r>
            <a:r>
              <a:rPr lang="zh-CN" altLang="en-US" dirty="0">
                <a:solidFill>
                  <a:srgbClr val="EA162F"/>
                </a:solidFill>
                <a:latin typeface="楷体_GB2312" pitchFamily="49" charset="-122"/>
                <a:ea typeface="楷体_GB2312" pitchFamily="49" charset="-122"/>
              </a:rPr>
              <a:t>混合乘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485389" name="Text Box 13"/>
          <p:cNvSpPr txBox="1"/>
          <p:nvPr/>
        </p:nvSpPr>
        <p:spPr>
          <a:xfrm>
            <a:off x="5651500" y="4124325"/>
            <a:ext cx="288131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矢量三重积</a:t>
            </a:r>
          </a:p>
        </p:txBody>
      </p:sp>
      <p:sp>
        <p:nvSpPr>
          <p:cNvPr id="22538" name="AutoShape 14">
            <a:hlinkClick r:id="rId11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2539" name="AutoShape 15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2540" name="AutoShape 16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2541" name="AutoShape 17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3"/>
          <p:cNvSpPr/>
          <p:nvPr/>
        </p:nvSpPr>
        <p:spPr>
          <a:xfrm>
            <a:off x="3995738" y="2565400"/>
            <a:ext cx="316865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1.1</a:t>
            </a:r>
          </a:p>
        </p:txBody>
      </p:sp>
      <p:sp>
        <p:nvSpPr>
          <p:cNvPr id="667654" name="Text Box 6"/>
          <p:cNvSpPr txBox="1"/>
          <p:nvPr/>
        </p:nvSpPr>
        <p:spPr>
          <a:xfrm>
            <a:off x="3924300" y="1773238"/>
            <a:ext cx="28082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FFB7B7"/>
                </a:solidFill>
                <a:latin typeface="Times New Roman" panose="02020603050405020304" pitchFamily="18" charset="0"/>
                <a:ea typeface="楷体_GB2312" pitchFamily="49" charset="-122"/>
              </a:rPr>
              <a:t>作业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6" name="Rectangle 6"/>
          <p:cNvSpPr/>
          <p:nvPr/>
        </p:nvSpPr>
        <p:spPr>
          <a:xfrm>
            <a:off x="107950" y="1206500"/>
            <a:ext cx="8856663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三维空间任意一点的位置可通过三条相互正交曲线的交点来确定。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3563" name="Rectangle 43"/>
          <p:cNvSpPr>
            <a:spLocks noGrp="1"/>
          </p:cNvSpPr>
          <p:nvPr>
            <p:ph type="title"/>
          </p:nvPr>
        </p:nvSpPr>
        <p:spPr>
          <a:xfrm>
            <a:off x="374650" y="620713"/>
            <a:ext cx="8229600" cy="417512"/>
          </a:xfrm>
          <a:noFill/>
          <a:ln>
            <a:noFill/>
          </a:ln>
        </p:spPr>
        <p:txBody>
          <a:bodyPr anchor="t" anchorCtr="0"/>
          <a:lstStyle/>
          <a:p>
            <a:pPr algn="ctr" eaLnBrk="1" hangingPunct="1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1.2</a:t>
            </a:r>
            <a:r>
              <a:rPr lang="en-US" altLang="zh-CN" sz="28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三种常用的正交曲线坐标系</a:t>
            </a:r>
          </a:p>
        </p:txBody>
      </p:sp>
      <p:sp>
        <p:nvSpPr>
          <p:cNvPr id="363565" name="Rectangle 45"/>
          <p:cNvSpPr/>
          <p:nvPr/>
        </p:nvSpPr>
        <p:spPr>
          <a:xfrm>
            <a:off x="107950" y="4014788"/>
            <a:ext cx="8964613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en-US" altLang="zh-CN" sz="20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在电磁场与波理论中，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三种常用的正交曲线坐标系为：</a:t>
            </a:r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直角</a:t>
            </a:r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宋体" panose="02010600030101010101" pitchFamily="2" charset="-122"/>
              </a:rPr>
              <a:t>坐标系、圆柱坐标系和球坐标系</a:t>
            </a:r>
            <a:r>
              <a:rPr lang="zh-CN" altLang="en-US" sz="2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63566" name="Rectangle 46"/>
          <p:cNvSpPr/>
          <p:nvPr/>
        </p:nvSpPr>
        <p:spPr>
          <a:xfrm>
            <a:off x="107950" y="2287588"/>
            <a:ext cx="8856663" cy="16462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三条正交曲线组成的确定三维空间任意点位置的体系，称为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正交曲线坐标系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；三条正交曲线称为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坐标轴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；描述坐标轴的量称为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坐标变量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5" name="AutoShape 47">
            <a:hlinkClick r:id="rId3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5606" name="AutoShape 48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5607" name="AutoShape 49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5608" name="AutoShape 50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608" name="Rectangle 40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95534" y="435750"/>
            <a:ext cx="4038600" cy="431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lvl="0" indent="0" eaLnBrk="1" hangingPunct="1"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直角坐标系</a:t>
            </a:r>
            <a:r>
              <a:rPr lang="zh-CN" altLang="en-US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（略）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grpSp>
        <p:nvGrpSpPr>
          <p:cNvPr id="365787" name="Group 219"/>
          <p:cNvGrpSpPr/>
          <p:nvPr/>
        </p:nvGrpSpPr>
        <p:grpSpPr>
          <a:xfrm>
            <a:off x="411434" y="2475688"/>
            <a:ext cx="5689600" cy="984250"/>
            <a:chOff x="273" y="1351"/>
            <a:chExt cx="3702" cy="756"/>
          </a:xfrm>
        </p:grpSpPr>
        <p:graphicFrame>
          <p:nvGraphicFramePr>
            <p:cNvPr id="27651" name="Object 11"/>
            <p:cNvGraphicFramePr>
              <a:graphicFrameLocks noChangeAspect="1"/>
            </p:cNvGraphicFramePr>
            <p:nvPr/>
          </p:nvGraphicFramePr>
          <p:xfrm>
            <a:off x="642" y="1351"/>
            <a:ext cx="3333" cy="7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159000" imgH="440690" progId="Equation.3">
                    <p:embed/>
                  </p:oleObj>
                </mc:Choice>
                <mc:Fallback>
                  <p:oleObj r:id="rId3" imgW="2159000" imgH="44069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42" y="1351"/>
                          <a:ext cx="3333" cy="7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2" name="Text Box 50"/>
            <p:cNvSpPr txBox="1"/>
            <p:nvPr/>
          </p:nvSpPr>
          <p:spPr>
            <a:xfrm>
              <a:off x="273" y="1570"/>
              <a:ext cx="1156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u="sng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65621" name="Text Box 53"/>
          <p:cNvSpPr txBox="1"/>
          <p:nvPr/>
        </p:nvSpPr>
        <p:spPr>
          <a:xfrm>
            <a:off x="250825" y="4149725"/>
            <a:ext cx="6121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u="sng" dirty="0">
                <a:solidFill>
                  <a:srgbClr val="FF81C0"/>
                </a:solidFill>
                <a:latin typeface="Times New Roman" panose="02020603050405020304" pitchFamily="18" charset="0"/>
                <a:ea typeface="楷体_GB2312" pitchFamily="49" charset="-122"/>
              </a:rPr>
              <a:t>面积元矢量</a:t>
            </a:r>
          </a:p>
        </p:txBody>
      </p:sp>
      <p:grpSp>
        <p:nvGrpSpPr>
          <p:cNvPr id="365788" name="Group 220"/>
          <p:cNvGrpSpPr/>
          <p:nvPr/>
        </p:nvGrpSpPr>
        <p:grpSpPr>
          <a:xfrm>
            <a:off x="250825" y="3500438"/>
            <a:ext cx="5167313" cy="576262"/>
            <a:chOff x="279" y="1956"/>
            <a:chExt cx="3192" cy="340"/>
          </a:xfrm>
        </p:grpSpPr>
        <p:sp>
          <p:nvSpPr>
            <p:cNvPr id="27655" name="Text Box 51"/>
            <p:cNvSpPr txBox="1"/>
            <p:nvPr/>
          </p:nvSpPr>
          <p:spPr>
            <a:xfrm>
              <a:off x="279" y="1956"/>
              <a:ext cx="1188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u="sng" dirty="0">
                  <a:solidFill>
                    <a:srgbClr val="FFB7B7"/>
                  </a:solidFill>
                  <a:latin typeface="Arial" panose="020B0604020202020204" pitchFamily="34" charset="0"/>
                  <a:ea typeface="楷体_GB2312" pitchFamily="49" charset="-122"/>
                </a:rPr>
                <a:t>位移矢量</a:t>
              </a:r>
            </a:p>
          </p:txBody>
        </p:sp>
        <p:graphicFrame>
          <p:nvGraphicFramePr>
            <p:cNvPr id="27656" name="Object 65"/>
            <p:cNvGraphicFramePr>
              <a:graphicFrameLocks noChangeAspect="1"/>
            </p:cNvGraphicFramePr>
            <p:nvPr/>
          </p:nvGraphicFramePr>
          <p:xfrm>
            <a:off x="1319" y="1979"/>
            <a:ext cx="215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36700" imgH="193040" progId="Equation.3">
                    <p:embed/>
                  </p:oleObj>
                </mc:Choice>
                <mc:Fallback>
                  <p:oleObj r:id="rId5" imgW="1536700" imgH="19304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19" y="1979"/>
                          <a:ext cx="2152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5634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786088"/>
              </p:ext>
            </p:extLst>
          </p:nvPr>
        </p:nvGraphicFramePr>
        <p:xfrm>
          <a:off x="2787529" y="4712798"/>
          <a:ext cx="3455988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65885" imgH="572770" progId="Equation.3">
                  <p:embed/>
                </p:oleObj>
              </mc:Choice>
              <mc:Fallback>
                <p:oleObj r:id="rId7" imgW="1365885" imgH="57277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87529" y="4712798"/>
                        <a:ext cx="3455988" cy="1509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5789" name="Group 221"/>
          <p:cNvGrpSpPr/>
          <p:nvPr/>
        </p:nvGrpSpPr>
        <p:grpSpPr>
          <a:xfrm>
            <a:off x="290513" y="6218238"/>
            <a:ext cx="3944938" cy="469900"/>
            <a:chOff x="278" y="3666"/>
            <a:chExt cx="2485" cy="296"/>
          </a:xfrm>
        </p:grpSpPr>
        <p:sp>
          <p:nvSpPr>
            <p:cNvPr id="27659" name="Text Box 52"/>
            <p:cNvSpPr txBox="1"/>
            <p:nvPr/>
          </p:nvSpPr>
          <p:spPr>
            <a:xfrm>
              <a:off x="278" y="3666"/>
              <a:ext cx="11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u="sng" dirty="0">
                  <a:solidFill>
                    <a:srgbClr val="FFB7B7"/>
                  </a:solidFill>
                  <a:latin typeface="Arial" panose="020B0604020202020204" pitchFamily="34" charset="0"/>
                  <a:ea typeface="楷体_GB2312" pitchFamily="49" charset="-122"/>
                </a:rPr>
                <a:t>体积元标量</a:t>
              </a:r>
            </a:p>
          </p:txBody>
        </p:sp>
        <p:graphicFrame>
          <p:nvGraphicFramePr>
            <p:cNvPr id="27660" name="Object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491475"/>
                </p:ext>
              </p:extLst>
            </p:nvPr>
          </p:nvGraphicFramePr>
          <p:xfrm>
            <a:off x="1498" y="3709"/>
            <a:ext cx="1265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776605" imgH="160020" progId="Equation.3">
                    <p:embed/>
                  </p:oleObj>
                </mc:Choice>
                <mc:Fallback>
                  <p:oleObj r:id="rId9" imgW="776605" imgH="16002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98" y="3709"/>
                          <a:ext cx="1265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5786" name="Group 218"/>
          <p:cNvGrpSpPr/>
          <p:nvPr/>
        </p:nvGrpSpPr>
        <p:grpSpPr>
          <a:xfrm>
            <a:off x="250825" y="1700213"/>
            <a:ext cx="3135313" cy="504825"/>
            <a:chOff x="270" y="1184"/>
            <a:chExt cx="1930" cy="296"/>
          </a:xfrm>
        </p:grpSpPr>
        <p:sp>
          <p:nvSpPr>
            <p:cNvPr id="27662" name="Text Box 49"/>
            <p:cNvSpPr txBox="1"/>
            <p:nvPr/>
          </p:nvSpPr>
          <p:spPr>
            <a:xfrm>
              <a:off x="270" y="1184"/>
              <a:ext cx="1340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FFB7B7"/>
                  </a:solidFill>
                  <a:latin typeface="Arial" panose="020B0604020202020204" pitchFamily="34" charset="0"/>
                  <a:ea typeface="楷体_GB2312" pitchFamily="49" charset="-122"/>
                </a:rPr>
                <a:t>坐标单位矢量</a:t>
              </a:r>
            </a:p>
          </p:txBody>
        </p:sp>
        <p:graphicFrame>
          <p:nvGraphicFramePr>
            <p:cNvPr id="27663" name="Object 72"/>
            <p:cNvGraphicFramePr>
              <a:graphicFrameLocks noChangeAspect="1"/>
            </p:cNvGraphicFramePr>
            <p:nvPr/>
          </p:nvGraphicFramePr>
          <p:xfrm>
            <a:off x="1568" y="1185"/>
            <a:ext cx="63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413385" imgH="170815" progId="Equation.3">
                    <p:embed/>
                  </p:oleObj>
                </mc:Choice>
                <mc:Fallback>
                  <p:oleObj r:id="rId11" imgW="413385" imgH="170815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68" y="1185"/>
                          <a:ext cx="632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64" name="Rectangle 147"/>
          <p:cNvSpPr/>
          <p:nvPr/>
        </p:nvSpPr>
        <p:spPr>
          <a:xfrm>
            <a:off x="8893175" y="6542088"/>
            <a:ext cx="41275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342900" indent="-342900"/>
            <a:r>
              <a:rPr lang="en-US" altLang="zh-CN" sz="13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65784" name="Group 216"/>
          <p:cNvGrpSpPr/>
          <p:nvPr/>
        </p:nvGrpSpPr>
        <p:grpSpPr>
          <a:xfrm>
            <a:off x="6210901" y="-10171"/>
            <a:ext cx="2935287" cy="2665412"/>
            <a:chOff x="3651" y="391"/>
            <a:chExt cx="1951" cy="1769"/>
          </a:xfrm>
        </p:grpSpPr>
        <p:sp>
          <p:nvSpPr>
            <p:cNvPr id="27666" name="AutoShape 75"/>
            <p:cNvSpPr>
              <a:spLocks noChangeAspect="1" noTextEdit="1"/>
            </p:cNvSpPr>
            <p:nvPr/>
          </p:nvSpPr>
          <p:spPr>
            <a:xfrm>
              <a:off x="3652" y="392"/>
              <a:ext cx="1950" cy="1768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667" name="Rectangle 78"/>
            <p:cNvSpPr/>
            <p:nvPr/>
          </p:nvSpPr>
          <p:spPr>
            <a:xfrm>
              <a:off x="4849" y="1242"/>
              <a:ext cx="118" cy="1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zh-CN" altLang="en-US" sz="1400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点</a:t>
              </a:r>
              <a:endParaRPr lang="zh-CN" altLang="en-US" sz="1400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68" name="Rectangle 81"/>
            <p:cNvSpPr/>
            <p:nvPr/>
          </p:nvSpPr>
          <p:spPr>
            <a:xfrm>
              <a:off x="4967" y="1239"/>
              <a:ext cx="593" cy="14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400" b="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14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1400" b="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sz="1400" b="0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14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  <a:r>
                <a:rPr lang="en-US" altLang="zh-CN" sz="1400" b="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1400" b="0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14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,z</a:t>
              </a:r>
              <a:r>
                <a:rPr lang="en-US" altLang="zh-CN" sz="1400" b="0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14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9" name="Rectangle 83"/>
            <p:cNvSpPr/>
            <p:nvPr/>
          </p:nvSpPr>
          <p:spPr>
            <a:xfrm>
              <a:off x="4898" y="1667"/>
              <a:ext cx="38" cy="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900" b="0" dirty="0">
                  <a:solidFill>
                    <a:srgbClr val="7F003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0" name="Rectangle 84"/>
            <p:cNvSpPr/>
            <p:nvPr/>
          </p:nvSpPr>
          <p:spPr>
            <a:xfrm>
              <a:off x="4848" y="1601"/>
              <a:ext cx="52" cy="1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400" b="0" i="1" dirty="0">
                  <a:solidFill>
                    <a:srgbClr val="7F003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1" name="Rectangle 85"/>
            <p:cNvSpPr/>
            <p:nvPr/>
          </p:nvSpPr>
          <p:spPr>
            <a:xfrm>
              <a:off x="4663" y="1592"/>
              <a:ext cx="56" cy="1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500" b="0" i="1" dirty="0">
                  <a:solidFill>
                    <a:srgbClr val="7F003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2" name="Rectangle 86"/>
            <p:cNvSpPr/>
            <p:nvPr/>
          </p:nvSpPr>
          <p:spPr>
            <a:xfrm>
              <a:off x="4749" y="1590"/>
              <a:ext cx="65" cy="1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400" b="0" dirty="0">
                  <a:solidFill>
                    <a:srgbClr val="7F003F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3" name="Rectangle 87"/>
            <p:cNvSpPr/>
            <p:nvPr/>
          </p:nvSpPr>
          <p:spPr>
            <a:xfrm>
              <a:off x="4932" y="1623"/>
              <a:ext cx="405" cy="1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zh-CN" altLang="en-US" sz="1200" dirty="0">
                  <a:solidFill>
                    <a:srgbClr val="993366"/>
                  </a:solidFill>
                  <a:latin typeface="楷体_GB2312" pitchFamily="49" charset="-122"/>
                  <a:ea typeface="楷体_GB2312" pitchFamily="49" charset="-122"/>
                </a:rPr>
                <a:t>（平面）</a:t>
              </a:r>
              <a:endParaRPr lang="zh-CN" altLang="en-US" sz="1200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74" name="Freeform 89"/>
            <p:cNvSpPr>
              <a:spLocks noEditPoints="1"/>
            </p:cNvSpPr>
            <p:nvPr/>
          </p:nvSpPr>
          <p:spPr>
            <a:xfrm>
              <a:off x="4192" y="1397"/>
              <a:ext cx="882" cy="40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791" y="13"/>
                </a:cxn>
                <a:cxn ang="0">
                  <a:pos x="791" y="27"/>
                </a:cxn>
                <a:cxn ang="0">
                  <a:pos x="0" y="27"/>
                </a:cxn>
                <a:cxn ang="0">
                  <a:pos x="0" y="13"/>
                </a:cxn>
                <a:cxn ang="0">
                  <a:pos x="781" y="0"/>
                </a:cxn>
                <a:cxn ang="0">
                  <a:pos x="882" y="21"/>
                </a:cxn>
                <a:cxn ang="0">
                  <a:pos x="781" y="40"/>
                </a:cxn>
                <a:cxn ang="0">
                  <a:pos x="781" y="0"/>
                </a:cxn>
              </a:cxnLst>
              <a:rect l="0" t="0" r="0" b="0"/>
              <a:pathLst>
                <a:path w="882" h="40">
                  <a:moveTo>
                    <a:pt x="0" y="13"/>
                  </a:moveTo>
                  <a:lnTo>
                    <a:pt x="791" y="13"/>
                  </a:lnTo>
                  <a:lnTo>
                    <a:pt x="791" y="27"/>
                  </a:lnTo>
                  <a:lnTo>
                    <a:pt x="0" y="27"/>
                  </a:lnTo>
                  <a:lnTo>
                    <a:pt x="0" y="13"/>
                  </a:lnTo>
                  <a:close/>
                  <a:moveTo>
                    <a:pt x="781" y="0"/>
                  </a:moveTo>
                  <a:lnTo>
                    <a:pt x="882" y="21"/>
                  </a:lnTo>
                  <a:lnTo>
                    <a:pt x="781" y="4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rgbClr val="0000FF"/>
            </a:solidFill>
            <a:ln w="15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5" name="Freeform 90"/>
            <p:cNvSpPr>
              <a:spLocks noEditPoints="1"/>
            </p:cNvSpPr>
            <p:nvPr/>
          </p:nvSpPr>
          <p:spPr>
            <a:xfrm>
              <a:off x="3682" y="1404"/>
              <a:ext cx="524" cy="435"/>
            </a:xfrm>
            <a:custGeom>
              <a:avLst/>
              <a:gdLst/>
              <a:ahLst/>
              <a:cxnLst>
                <a:cxn ang="0">
                  <a:pos x="524" y="10"/>
                </a:cxn>
                <a:cxn ang="0">
                  <a:pos x="73" y="382"/>
                </a:cxn>
                <a:cxn ang="0">
                  <a:pos x="66" y="373"/>
                </a:cxn>
                <a:cxn ang="0">
                  <a:pos x="517" y="0"/>
                </a:cxn>
                <a:cxn ang="0">
                  <a:pos x="524" y="10"/>
                </a:cxn>
                <a:cxn ang="0">
                  <a:pos x="90" y="386"/>
                </a:cxn>
                <a:cxn ang="0">
                  <a:pos x="0" y="435"/>
                </a:cxn>
                <a:cxn ang="0">
                  <a:pos x="64" y="356"/>
                </a:cxn>
                <a:cxn ang="0">
                  <a:pos x="90" y="386"/>
                </a:cxn>
              </a:cxnLst>
              <a:rect l="0" t="0" r="0" b="0"/>
              <a:pathLst>
                <a:path w="524" h="435">
                  <a:moveTo>
                    <a:pt x="524" y="10"/>
                  </a:moveTo>
                  <a:lnTo>
                    <a:pt x="73" y="382"/>
                  </a:lnTo>
                  <a:lnTo>
                    <a:pt x="66" y="373"/>
                  </a:lnTo>
                  <a:lnTo>
                    <a:pt x="517" y="0"/>
                  </a:lnTo>
                  <a:lnTo>
                    <a:pt x="524" y="10"/>
                  </a:lnTo>
                  <a:close/>
                  <a:moveTo>
                    <a:pt x="90" y="386"/>
                  </a:moveTo>
                  <a:lnTo>
                    <a:pt x="0" y="435"/>
                  </a:lnTo>
                  <a:lnTo>
                    <a:pt x="64" y="356"/>
                  </a:lnTo>
                  <a:lnTo>
                    <a:pt x="90" y="386"/>
                  </a:lnTo>
                  <a:close/>
                </a:path>
              </a:pathLst>
            </a:custGeom>
            <a:solidFill>
              <a:srgbClr val="0000FF"/>
            </a:solidFill>
            <a:ln w="15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Freeform 91"/>
            <p:cNvSpPr>
              <a:spLocks noEditPoints="1"/>
            </p:cNvSpPr>
            <p:nvPr/>
          </p:nvSpPr>
          <p:spPr>
            <a:xfrm>
              <a:off x="4178" y="487"/>
              <a:ext cx="42" cy="926"/>
            </a:xfrm>
            <a:custGeom>
              <a:avLst/>
              <a:gdLst/>
              <a:ahLst/>
              <a:cxnLst>
                <a:cxn ang="0">
                  <a:pos x="14" y="926"/>
                </a:cxn>
                <a:cxn ang="0">
                  <a:pos x="15" y="90"/>
                </a:cxn>
                <a:cxn ang="0">
                  <a:pos x="27" y="90"/>
                </a:cxn>
                <a:cxn ang="0">
                  <a:pos x="27" y="926"/>
                </a:cxn>
                <a:cxn ang="0">
                  <a:pos x="14" y="926"/>
                </a:cxn>
                <a:cxn ang="0">
                  <a:pos x="0" y="99"/>
                </a:cxn>
                <a:cxn ang="0">
                  <a:pos x="21" y="0"/>
                </a:cxn>
                <a:cxn ang="0">
                  <a:pos x="42" y="99"/>
                </a:cxn>
                <a:cxn ang="0">
                  <a:pos x="0" y="99"/>
                </a:cxn>
              </a:cxnLst>
              <a:rect l="0" t="0" r="0" b="0"/>
              <a:pathLst>
                <a:path w="42" h="926">
                  <a:moveTo>
                    <a:pt x="14" y="926"/>
                  </a:moveTo>
                  <a:lnTo>
                    <a:pt x="15" y="90"/>
                  </a:lnTo>
                  <a:lnTo>
                    <a:pt x="27" y="90"/>
                  </a:lnTo>
                  <a:lnTo>
                    <a:pt x="27" y="926"/>
                  </a:lnTo>
                  <a:lnTo>
                    <a:pt x="14" y="926"/>
                  </a:lnTo>
                  <a:close/>
                  <a:moveTo>
                    <a:pt x="0" y="99"/>
                  </a:moveTo>
                  <a:lnTo>
                    <a:pt x="21" y="0"/>
                  </a:lnTo>
                  <a:lnTo>
                    <a:pt x="42" y="9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0000FF"/>
            </a:solidFill>
            <a:ln w="15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Freeform 92"/>
            <p:cNvSpPr/>
            <p:nvPr/>
          </p:nvSpPr>
          <p:spPr>
            <a:xfrm>
              <a:off x="3989" y="1416"/>
              <a:ext cx="812" cy="168"/>
            </a:xfrm>
            <a:custGeom>
              <a:avLst/>
              <a:gdLst/>
              <a:ahLst/>
              <a:cxnLst>
                <a:cxn ang="0">
                  <a:pos x="203" y="0"/>
                </a:cxn>
                <a:cxn ang="0">
                  <a:pos x="0" y="168"/>
                </a:cxn>
                <a:cxn ang="0">
                  <a:pos x="609" y="168"/>
                </a:cxn>
                <a:cxn ang="0">
                  <a:pos x="812" y="0"/>
                </a:cxn>
                <a:cxn ang="0">
                  <a:pos x="203" y="0"/>
                </a:cxn>
              </a:cxnLst>
              <a:rect l="0" t="0" r="0" b="0"/>
              <a:pathLst>
                <a:path w="812" h="168">
                  <a:moveTo>
                    <a:pt x="203" y="0"/>
                  </a:moveTo>
                  <a:lnTo>
                    <a:pt x="0" y="168"/>
                  </a:lnTo>
                  <a:lnTo>
                    <a:pt x="609" y="168"/>
                  </a:lnTo>
                  <a:lnTo>
                    <a:pt x="812" y="0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Freeform 93"/>
            <p:cNvSpPr/>
            <p:nvPr/>
          </p:nvSpPr>
          <p:spPr>
            <a:xfrm>
              <a:off x="3989" y="1416"/>
              <a:ext cx="812" cy="168"/>
            </a:xfrm>
            <a:custGeom>
              <a:avLst/>
              <a:gdLst/>
              <a:ahLst/>
              <a:cxnLst>
                <a:cxn ang="0">
                  <a:pos x="203" y="0"/>
                </a:cxn>
                <a:cxn ang="0">
                  <a:pos x="0" y="168"/>
                </a:cxn>
                <a:cxn ang="0">
                  <a:pos x="609" y="168"/>
                </a:cxn>
                <a:cxn ang="0">
                  <a:pos x="812" y="0"/>
                </a:cxn>
                <a:cxn ang="0">
                  <a:pos x="203" y="0"/>
                </a:cxn>
              </a:cxnLst>
              <a:rect l="0" t="0" r="0" b="0"/>
              <a:pathLst>
                <a:path w="812" h="168">
                  <a:moveTo>
                    <a:pt x="203" y="0"/>
                  </a:moveTo>
                  <a:lnTo>
                    <a:pt x="0" y="168"/>
                  </a:lnTo>
                  <a:lnTo>
                    <a:pt x="609" y="168"/>
                  </a:lnTo>
                  <a:lnTo>
                    <a:pt x="812" y="0"/>
                  </a:lnTo>
                  <a:lnTo>
                    <a:pt x="203" y="0"/>
                  </a:lnTo>
                  <a:close/>
                </a:path>
              </a:pathLst>
            </a:custGeom>
            <a:noFill/>
            <a:ln w="111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Freeform 94"/>
            <p:cNvSpPr/>
            <p:nvPr/>
          </p:nvSpPr>
          <p:spPr>
            <a:xfrm>
              <a:off x="4591" y="917"/>
              <a:ext cx="212" cy="666"/>
            </a:xfrm>
            <a:custGeom>
              <a:avLst/>
              <a:gdLst/>
              <a:ahLst/>
              <a:cxnLst>
                <a:cxn ang="0">
                  <a:pos x="212" y="499"/>
                </a:cxn>
                <a:cxn ang="0">
                  <a:pos x="0" y="666"/>
                </a:cxn>
                <a:cxn ang="0">
                  <a:pos x="0" y="166"/>
                </a:cxn>
                <a:cxn ang="0">
                  <a:pos x="212" y="0"/>
                </a:cxn>
                <a:cxn ang="0">
                  <a:pos x="212" y="499"/>
                </a:cxn>
              </a:cxnLst>
              <a:rect l="0" t="0" r="0" b="0"/>
              <a:pathLst>
                <a:path w="212" h="666">
                  <a:moveTo>
                    <a:pt x="212" y="499"/>
                  </a:moveTo>
                  <a:lnTo>
                    <a:pt x="0" y="666"/>
                  </a:lnTo>
                  <a:lnTo>
                    <a:pt x="0" y="166"/>
                  </a:lnTo>
                  <a:lnTo>
                    <a:pt x="212" y="0"/>
                  </a:lnTo>
                  <a:lnTo>
                    <a:pt x="212" y="499"/>
                  </a:lnTo>
                  <a:close/>
                </a:path>
              </a:pathLst>
            </a:custGeom>
            <a:solidFill>
              <a:srgbClr val="C1636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0" name="Freeform 95"/>
            <p:cNvSpPr/>
            <p:nvPr/>
          </p:nvSpPr>
          <p:spPr>
            <a:xfrm>
              <a:off x="4591" y="917"/>
              <a:ext cx="212" cy="666"/>
            </a:xfrm>
            <a:custGeom>
              <a:avLst/>
              <a:gdLst/>
              <a:ahLst/>
              <a:cxnLst>
                <a:cxn ang="0">
                  <a:pos x="212" y="499"/>
                </a:cxn>
                <a:cxn ang="0">
                  <a:pos x="0" y="666"/>
                </a:cxn>
                <a:cxn ang="0">
                  <a:pos x="0" y="166"/>
                </a:cxn>
                <a:cxn ang="0">
                  <a:pos x="212" y="0"/>
                </a:cxn>
                <a:cxn ang="0">
                  <a:pos x="212" y="499"/>
                </a:cxn>
              </a:cxnLst>
              <a:rect l="0" t="0" r="0" b="0"/>
              <a:pathLst>
                <a:path w="212" h="666">
                  <a:moveTo>
                    <a:pt x="212" y="499"/>
                  </a:moveTo>
                  <a:lnTo>
                    <a:pt x="0" y="666"/>
                  </a:lnTo>
                  <a:lnTo>
                    <a:pt x="0" y="166"/>
                  </a:lnTo>
                  <a:lnTo>
                    <a:pt x="212" y="0"/>
                  </a:lnTo>
                  <a:lnTo>
                    <a:pt x="212" y="499"/>
                  </a:lnTo>
                  <a:close/>
                </a:path>
              </a:pathLst>
            </a:custGeom>
            <a:noFill/>
            <a:ln w="111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1" name="Freeform 96"/>
            <p:cNvSpPr/>
            <p:nvPr/>
          </p:nvSpPr>
          <p:spPr>
            <a:xfrm>
              <a:off x="4001" y="911"/>
              <a:ext cx="801" cy="160"/>
            </a:xfrm>
            <a:custGeom>
              <a:avLst/>
              <a:gdLst/>
              <a:ahLst/>
              <a:cxnLst>
                <a:cxn ang="0">
                  <a:pos x="199" y="0"/>
                </a:cxn>
                <a:cxn ang="0">
                  <a:pos x="0" y="160"/>
                </a:cxn>
                <a:cxn ang="0">
                  <a:pos x="600" y="160"/>
                </a:cxn>
                <a:cxn ang="0">
                  <a:pos x="801" y="0"/>
                </a:cxn>
                <a:cxn ang="0">
                  <a:pos x="199" y="0"/>
                </a:cxn>
              </a:cxnLst>
              <a:rect l="0" t="0" r="0" b="0"/>
              <a:pathLst>
                <a:path w="801" h="160">
                  <a:moveTo>
                    <a:pt x="199" y="0"/>
                  </a:moveTo>
                  <a:lnTo>
                    <a:pt x="0" y="160"/>
                  </a:lnTo>
                  <a:lnTo>
                    <a:pt x="600" y="160"/>
                  </a:lnTo>
                  <a:lnTo>
                    <a:pt x="801" y="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59B7F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Freeform 97"/>
            <p:cNvSpPr/>
            <p:nvPr/>
          </p:nvSpPr>
          <p:spPr>
            <a:xfrm>
              <a:off x="4001" y="911"/>
              <a:ext cx="801" cy="160"/>
            </a:xfrm>
            <a:custGeom>
              <a:avLst/>
              <a:gdLst/>
              <a:ahLst/>
              <a:cxnLst>
                <a:cxn ang="0">
                  <a:pos x="199" y="0"/>
                </a:cxn>
                <a:cxn ang="0">
                  <a:pos x="0" y="160"/>
                </a:cxn>
                <a:cxn ang="0">
                  <a:pos x="600" y="160"/>
                </a:cxn>
                <a:cxn ang="0">
                  <a:pos x="801" y="0"/>
                </a:cxn>
                <a:cxn ang="0">
                  <a:pos x="199" y="0"/>
                </a:cxn>
              </a:cxnLst>
              <a:rect l="0" t="0" r="0" b="0"/>
              <a:pathLst>
                <a:path w="801" h="160">
                  <a:moveTo>
                    <a:pt x="199" y="0"/>
                  </a:moveTo>
                  <a:lnTo>
                    <a:pt x="0" y="160"/>
                  </a:lnTo>
                  <a:lnTo>
                    <a:pt x="600" y="160"/>
                  </a:lnTo>
                  <a:lnTo>
                    <a:pt x="801" y="0"/>
                  </a:lnTo>
                  <a:lnTo>
                    <a:pt x="199" y="0"/>
                  </a:lnTo>
                  <a:close/>
                </a:path>
              </a:pathLst>
            </a:custGeom>
            <a:noFill/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3" name="Rectangle 98"/>
            <p:cNvSpPr/>
            <p:nvPr/>
          </p:nvSpPr>
          <p:spPr>
            <a:xfrm>
              <a:off x="3997" y="1076"/>
              <a:ext cx="590" cy="512"/>
            </a:xfrm>
            <a:prstGeom prst="rect">
              <a:avLst/>
            </a:prstGeom>
            <a:solidFill>
              <a:srgbClr val="89B2FD"/>
            </a:solid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684" name="Rectangle 99"/>
            <p:cNvSpPr/>
            <p:nvPr/>
          </p:nvSpPr>
          <p:spPr>
            <a:xfrm>
              <a:off x="3997" y="1076"/>
              <a:ext cx="590" cy="512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685" name="Freeform 100"/>
            <p:cNvSpPr>
              <a:spLocks noEditPoints="1"/>
            </p:cNvSpPr>
            <p:nvPr/>
          </p:nvSpPr>
          <p:spPr>
            <a:xfrm>
              <a:off x="4197" y="856"/>
              <a:ext cx="11" cy="562"/>
            </a:xfrm>
            <a:custGeom>
              <a:avLst/>
              <a:gdLst/>
              <a:ahLst/>
              <a:cxnLst>
                <a:cxn ang="0">
                  <a:pos x="0" y="562"/>
                </a:cxn>
                <a:cxn ang="0">
                  <a:pos x="0" y="522"/>
                </a:cxn>
                <a:cxn ang="0">
                  <a:pos x="9" y="522"/>
                </a:cxn>
                <a:cxn ang="0">
                  <a:pos x="9" y="562"/>
                </a:cxn>
                <a:cxn ang="0">
                  <a:pos x="0" y="562"/>
                </a:cxn>
                <a:cxn ang="0">
                  <a:pos x="0" y="493"/>
                </a:cxn>
                <a:cxn ang="0">
                  <a:pos x="0" y="452"/>
                </a:cxn>
                <a:cxn ang="0">
                  <a:pos x="9" y="452"/>
                </a:cxn>
                <a:cxn ang="0">
                  <a:pos x="9" y="493"/>
                </a:cxn>
                <a:cxn ang="0">
                  <a:pos x="0" y="493"/>
                </a:cxn>
                <a:cxn ang="0">
                  <a:pos x="0" y="422"/>
                </a:cxn>
                <a:cxn ang="0">
                  <a:pos x="0" y="383"/>
                </a:cxn>
                <a:cxn ang="0">
                  <a:pos x="9" y="383"/>
                </a:cxn>
                <a:cxn ang="0">
                  <a:pos x="9" y="422"/>
                </a:cxn>
                <a:cxn ang="0">
                  <a:pos x="0" y="422"/>
                </a:cxn>
                <a:cxn ang="0">
                  <a:pos x="0" y="353"/>
                </a:cxn>
                <a:cxn ang="0">
                  <a:pos x="0" y="314"/>
                </a:cxn>
                <a:cxn ang="0">
                  <a:pos x="9" y="314"/>
                </a:cxn>
                <a:cxn ang="0">
                  <a:pos x="9" y="353"/>
                </a:cxn>
                <a:cxn ang="0">
                  <a:pos x="0" y="353"/>
                </a:cxn>
                <a:cxn ang="0">
                  <a:pos x="0" y="284"/>
                </a:cxn>
                <a:cxn ang="0">
                  <a:pos x="0" y="244"/>
                </a:cxn>
                <a:cxn ang="0">
                  <a:pos x="9" y="244"/>
                </a:cxn>
                <a:cxn ang="0">
                  <a:pos x="9" y="284"/>
                </a:cxn>
                <a:cxn ang="0">
                  <a:pos x="0" y="284"/>
                </a:cxn>
                <a:cxn ang="0">
                  <a:pos x="0" y="214"/>
                </a:cxn>
                <a:cxn ang="0">
                  <a:pos x="0" y="175"/>
                </a:cxn>
                <a:cxn ang="0">
                  <a:pos x="11" y="175"/>
                </a:cxn>
                <a:cxn ang="0">
                  <a:pos x="9" y="214"/>
                </a:cxn>
                <a:cxn ang="0">
                  <a:pos x="0" y="214"/>
                </a:cxn>
                <a:cxn ang="0">
                  <a:pos x="0" y="145"/>
                </a:cxn>
                <a:cxn ang="0">
                  <a:pos x="0" y="106"/>
                </a:cxn>
                <a:cxn ang="0">
                  <a:pos x="11" y="106"/>
                </a:cxn>
                <a:cxn ang="0">
                  <a:pos x="11" y="145"/>
                </a:cxn>
                <a:cxn ang="0">
                  <a:pos x="0" y="145"/>
                </a:cxn>
                <a:cxn ang="0">
                  <a:pos x="0" y="76"/>
                </a:cxn>
                <a:cxn ang="0">
                  <a:pos x="0" y="36"/>
                </a:cxn>
                <a:cxn ang="0">
                  <a:pos x="11" y="36"/>
                </a:cxn>
                <a:cxn ang="0">
                  <a:pos x="11" y="76"/>
                </a:cxn>
                <a:cxn ang="0">
                  <a:pos x="0" y="76"/>
                </a:cxn>
                <a:cxn ang="0">
                  <a:pos x="0" y="6"/>
                </a:cxn>
                <a:cxn ang="0">
                  <a:pos x="0" y="0"/>
                </a:cxn>
                <a:cxn ang="0">
                  <a:pos x="11" y="0"/>
                </a:cxn>
                <a:cxn ang="0">
                  <a:pos x="11" y="6"/>
                </a:cxn>
                <a:cxn ang="0">
                  <a:pos x="0" y="6"/>
                </a:cxn>
              </a:cxnLst>
              <a:rect l="0" t="0" r="0" b="0"/>
              <a:pathLst>
                <a:path w="11" h="562">
                  <a:moveTo>
                    <a:pt x="0" y="562"/>
                  </a:moveTo>
                  <a:lnTo>
                    <a:pt x="0" y="522"/>
                  </a:lnTo>
                  <a:lnTo>
                    <a:pt x="9" y="522"/>
                  </a:lnTo>
                  <a:lnTo>
                    <a:pt x="9" y="562"/>
                  </a:lnTo>
                  <a:lnTo>
                    <a:pt x="0" y="562"/>
                  </a:lnTo>
                  <a:close/>
                  <a:moveTo>
                    <a:pt x="0" y="493"/>
                  </a:moveTo>
                  <a:lnTo>
                    <a:pt x="0" y="452"/>
                  </a:lnTo>
                  <a:lnTo>
                    <a:pt x="9" y="452"/>
                  </a:lnTo>
                  <a:lnTo>
                    <a:pt x="9" y="493"/>
                  </a:lnTo>
                  <a:lnTo>
                    <a:pt x="0" y="493"/>
                  </a:lnTo>
                  <a:close/>
                  <a:moveTo>
                    <a:pt x="0" y="422"/>
                  </a:moveTo>
                  <a:lnTo>
                    <a:pt x="0" y="383"/>
                  </a:lnTo>
                  <a:lnTo>
                    <a:pt x="9" y="383"/>
                  </a:lnTo>
                  <a:lnTo>
                    <a:pt x="9" y="422"/>
                  </a:lnTo>
                  <a:lnTo>
                    <a:pt x="0" y="422"/>
                  </a:lnTo>
                  <a:close/>
                  <a:moveTo>
                    <a:pt x="0" y="353"/>
                  </a:moveTo>
                  <a:lnTo>
                    <a:pt x="0" y="314"/>
                  </a:lnTo>
                  <a:lnTo>
                    <a:pt x="9" y="314"/>
                  </a:lnTo>
                  <a:lnTo>
                    <a:pt x="9" y="353"/>
                  </a:lnTo>
                  <a:lnTo>
                    <a:pt x="0" y="353"/>
                  </a:lnTo>
                  <a:close/>
                  <a:moveTo>
                    <a:pt x="0" y="284"/>
                  </a:moveTo>
                  <a:lnTo>
                    <a:pt x="0" y="244"/>
                  </a:lnTo>
                  <a:lnTo>
                    <a:pt x="9" y="244"/>
                  </a:lnTo>
                  <a:lnTo>
                    <a:pt x="9" y="284"/>
                  </a:lnTo>
                  <a:lnTo>
                    <a:pt x="0" y="284"/>
                  </a:lnTo>
                  <a:close/>
                  <a:moveTo>
                    <a:pt x="0" y="214"/>
                  </a:moveTo>
                  <a:lnTo>
                    <a:pt x="0" y="175"/>
                  </a:lnTo>
                  <a:lnTo>
                    <a:pt x="11" y="175"/>
                  </a:lnTo>
                  <a:lnTo>
                    <a:pt x="9" y="214"/>
                  </a:lnTo>
                  <a:lnTo>
                    <a:pt x="0" y="214"/>
                  </a:lnTo>
                  <a:close/>
                  <a:moveTo>
                    <a:pt x="0" y="145"/>
                  </a:moveTo>
                  <a:lnTo>
                    <a:pt x="0" y="106"/>
                  </a:lnTo>
                  <a:lnTo>
                    <a:pt x="11" y="106"/>
                  </a:lnTo>
                  <a:lnTo>
                    <a:pt x="11" y="145"/>
                  </a:lnTo>
                  <a:lnTo>
                    <a:pt x="0" y="145"/>
                  </a:lnTo>
                  <a:close/>
                  <a:moveTo>
                    <a:pt x="0" y="76"/>
                  </a:moveTo>
                  <a:lnTo>
                    <a:pt x="0" y="36"/>
                  </a:lnTo>
                  <a:lnTo>
                    <a:pt x="11" y="36"/>
                  </a:lnTo>
                  <a:lnTo>
                    <a:pt x="11" y="76"/>
                  </a:lnTo>
                  <a:lnTo>
                    <a:pt x="0" y="76"/>
                  </a:lnTo>
                  <a:close/>
                  <a:moveTo>
                    <a:pt x="0" y="6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66FF"/>
            </a:solidFill>
            <a:ln w="1588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Freeform 101"/>
            <p:cNvSpPr>
              <a:spLocks noEditPoints="1"/>
            </p:cNvSpPr>
            <p:nvPr/>
          </p:nvSpPr>
          <p:spPr>
            <a:xfrm>
              <a:off x="3952" y="1410"/>
              <a:ext cx="252" cy="210"/>
            </a:xfrm>
            <a:custGeom>
              <a:avLst/>
              <a:gdLst/>
              <a:ahLst/>
              <a:cxnLst>
                <a:cxn ang="0">
                  <a:pos x="252" y="8"/>
                </a:cxn>
                <a:cxn ang="0">
                  <a:pos x="220" y="34"/>
                </a:cxn>
                <a:cxn ang="0">
                  <a:pos x="214" y="25"/>
                </a:cxn>
                <a:cxn ang="0">
                  <a:pos x="245" y="0"/>
                </a:cxn>
                <a:cxn ang="0">
                  <a:pos x="252" y="8"/>
                </a:cxn>
                <a:cxn ang="0">
                  <a:pos x="197" y="53"/>
                </a:cxn>
                <a:cxn ang="0">
                  <a:pos x="167" y="78"/>
                </a:cxn>
                <a:cxn ang="0">
                  <a:pos x="160" y="71"/>
                </a:cxn>
                <a:cxn ang="0">
                  <a:pos x="191" y="44"/>
                </a:cxn>
                <a:cxn ang="0">
                  <a:pos x="197" y="53"/>
                </a:cxn>
                <a:cxn ang="0">
                  <a:pos x="143" y="97"/>
                </a:cxn>
                <a:cxn ang="0">
                  <a:pos x="112" y="123"/>
                </a:cxn>
                <a:cxn ang="0">
                  <a:pos x="106" y="116"/>
                </a:cxn>
                <a:cxn ang="0">
                  <a:pos x="136" y="90"/>
                </a:cxn>
                <a:cxn ang="0">
                  <a:pos x="143" y="97"/>
                </a:cxn>
                <a:cxn ang="0">
                  <a:pos x="89" y="142"/>
                </a:cxn>
                <a:cxn ang="0">
                  <a:pos x="59" y="168"/>
                </a:cxn>
                <a:cxn ang="0">
                  <a:pos x="51" y="160"/>
                </a:cxn>
                <a:cxn ang="0">
                  <a:pos x="83" y="135"/>
                </a:cxn>
                <a:cxn ang="0">
                  <a:pos x="89" y="142"/>
                </a:cxn>
                <a:cxn ang="0">
                  <a:pos x="34" y="187"/>
                </a:cxn>
                <a:cxn ang="0">
                  <a:pos x="6" y="210"/>
                </a:cxn>
                <a:cxn ang="0">
                  <a:pos x="0" y="203"/>
                </a:cxn>
                <a:cxn ang="0">
                  <a:pos x="28" y="179"/>
                </a:cxn>
                <a:cxn ang="0">
                  <a:pos x="34" y="187"/>
                </a:cxn>
              </a:cxnLst>
              <a:rect l="0" t="0" r="0" b="0"/>
              <a:pathLst>
                <a:path w="252" h="210">
                  <a:moveTo>
                    <a:pt x="252" y="8"/>
                  </a:moveTo>
                  <a:lnTo>
                    <a:pt x="220" y="34"/>
                  </a:lnTo>
                  <a:lnTo>
                    <a:pt x="214" y="25"/>
                  </a:lnTo>
                  <a:lnTo>
                    <a:pt x="245" y="0"/>
                  </a:lnTo>
                  <a:lnTo>
                    <a:pt x="252" y="8"/>
                  </a:lnTo>
                  <a:close/>
                  <a:moveTo>
                    <a:pt x="197" y="53"/>
                  </a:moveTo>
                  <a:lnTo>
                    <a:pt x="167" y="78"/>
                  </a:lnTo>
                  <a:lnTo>
                    <a:pt x="160" y="71"/>
                  </a:lnTo>
                  <a:lnTo>
                    <a:pt x="191" y="44"/>
                  </a:lnTo>
                  <a:lnTo>
                    <a:pt x="197" y="53"/>
                  </a:lnTo>
                  <a:close/>
                  <a:moveTo>
                    <a:pt x="143" y="97"/>
                  </a:moveTo>
                  <a:lnTo>
                    <a:pt x="112" y="123"/>
                  </a:lnTo>
                  <a:lnTo>
                    <a:pt x="106" y="116"/>
                  </a:lnTo>
                  <a:lnTo>
                    <a:pt x="136" y="90"/>
                  </a:lnTo>
                  <a:lnTo>
                    <a:pt x="143" y="97"/>
                  </a:lnTo>
                  <a:close/>
                  <a:moveTo>
                    <a:pt x="89" y="142"/>
                  </a:moveTo>
                  <a:lnTo>
                    <a:pt x="59" y="168"/>
                  </a:lnTo>
                  <a:lnTo>
                    <a:pt x="51" y="160"/>
                  </a:lnTo>
                  <a:lnTo>
                    <a:pt x="83" y="135"/>
                  </a:lnTo>
                  <a:lnTo>
                    <a:pt x="89" y="142"/>
                  </a:lnTo>
                  <a:close/>
                  <a:moveTo>
                    <a:pt x="34" y="187"/>
                  </a:moveTo>
                  <a:lnTo>
                    <a:pt x="6" y="210"/>
                  </a:lnTo>
                  <a:lnTo>
                    <a:pt x="0" y="203"/>
                  </a:lnTo>
                  <a:lnTo>
                    <a:pt x="28" y="179"/>
                  </a:lnTo>
                  <a:lnTo>
                    <a:pt x="34" y="187"/>
                  </a:lnTo>
                  <a:close/>
                </a:path>
              </a:pathLst>
            </a:custGeom>
            <a:solidFill>
              <a:srgbClr val="3366FF"/>
            </a:solidFill>
            <a:ln w="1588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7" name="Freeform 102"/>
            <p:cNvSpPr>
              <a:spLocks noEditPoints="1"/>
            </p:cNvSpPr>
            <p:nvPr/>
          </p:nvSpPr>
          <p:spPr>
            <a:xfrm>
              <a:off x="4195" y="1412"/>
              <a:ext cx="602" cy="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" y="0"/>
                </a:cxn>
                <a:cxn ang="0">
                  <a:pos x="41" y="10"/>
                </a:cxn>
                <a:cxn ang="0">
                  <a:pos x="0" y="9"/>
                </a:cxn>
                <a:cxn ang="0">
                  <a:pos x="0" y="0"/>
                </a:cxn>
                <a:cxn ang="0">
                  <a:pos x="71" y="0"/>
                </a:cxn>
                <a:cxn ang="0">
                  <a:pos x="112" y="0"/>
                </a:cxn>
                <a:cxn ang="0">
                  <a:pos x="112" y="10"/>
                </a:cxn>
                <a:cxn ang="0">
                  <a:pos x="71" y="10"/>
                </a:cxn>
                <a:cxn ang="0">
                  <a:pos x="71" y="0"/>
                </a:cxn>
                <a:cxn ang="0">
                  <a:pos x="143" y="0"/>
                </a:cxn>
                <a:cxn ang="0">
                  <a:pos x="183" y="0"/>
                </a:cxn>
                <a:cxn ang="0">
                  <a:pos x="183" y="10"/>
                </a:cxn>
                <a:cxn ang="0">
                  <a:pos x="143" y="10"/>
                </a:cxn>
                <a:cxn ang="0">
                  <a:pos x="143" y="0"/>
                </a:cxn>
                <a:cxn ang="0">
                  <a:pos x="213" y="0"/>
                </a:cxn>
                <a:cxn ang="0">
                  <a:pos x="253" y="0"/>
                </a:cxn>
                <a:cxn ang="0">
                  <a:pos x="253" y="10"/>
                </a:cxn>
                <a:cxn ang="0">
                  <a:pos x="213" y="10"/>
                </a:cxn>
                <a:cxn ang="0">
                  <a:pos x="213" y="0"/>
                </a:cxn>
                <a:cxn ang="0">
                  <a:pos x="284" y="0"/>
                </a:cxn>
                <a:cxn ang="0">
                  <a:pos x="325" y="0"/>
                </a:cxn>
                <a:cxn ang="0">
                  <a:pos x="325" y="10"/>
                </a:cxn>
                <a:cxn ang="0">
                  <a:pos x="284" y="10"/>
                </a:cxn>
                <a:cxn ang="0">
                  <a:pos x="284" y="0"/>
                </a:cxn>
                <a:cxn ang="0">
                  <a:pos x="355" y="0"/>
                </a:cxn>
                <a:cxn ang="0">
                  <a:pos x="396" y="0"/>
                </a:cxn>
                <a:cxn ang="0">
                  <a:pos x="396" y="10"/>
                </a:cxn>
                <a:cxn ang="0">
                  <a:pos x="355" y="10"/>
                </a:cxn>
                <a:cxn ang="0">
                  <a:pos x="355" y="0"/>
                </a:cxn>
                <a:cxn ang="0">
                  <a:pos x="426" y="0"/>
                </a:cxn>
                <a:cxn ang="0">
                  <a:pos x="466" y="0"/>
                </a:cxn>
                <a:cxn ang="0">
                  <a:pos x="466" y="10"/>
                </a:cxn>
                <a:cxn ang="0">
                  <a:pos x="426" y="10"/>
                </a:cxn>
                <a:cxn ang="0">
                  <a:pos x="426" y="0"/>
                </a:cxn>
                <a:cxn ang="0">
                  <a:pos x="496" y="0"/>
                </a:cxn>
                <a:cxn ang="0">
                  <a:pos x="538" y="1"/>
                </a:cxn>
                <a:cxn ang="0">
                  <a:pos x="538" y="10"/>
                </a:cxn>
                <a:cxn ang="0">
                  <a:pos x="496" y="10"/>
                </a:cxn>
                <a:cxn ang="0">
                  <a:pos x="496" y="0"/>
                </a:cxn>
                <a:cxn ang="0">
                  <a:pos x="568" y="1"/>
                </a:cxn>
                <a:cxn ang="0">
                  <a:pos x="602" y="1"/>
                </a:cxn>
                <a:cxn ang="0">
                  <a:pos x="602" y="10"/>
                </a:cxn>
                <a:cxn ang="0">
                  <a:pos x="568" y="10"/>
                </a:cxn>
                <a:cxn ang="0">
                  <a:pos x="568" y="1"/>
                </a:cxn>
              </a:cxnLst>
              <a:rect l="0" t="0" r="0" b="0"/>
              <a:pathLst>
                <a:path w="602" h="10">
                  <a:moveTo>
                    <a:pt x="0" y="0"/>
                  </a:moveTo>
                  <a:lnTo>
                    <a:pt x="41" y="0"/>
                  </a:lnTo>
                  <a:lnTo>
                    <a:pt x="41" y="10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71" y="0"/>
                  </a:moveTo>
                  <a:lnTo>
                    <a:pt x="112" y="0"/>
                  </a:lnTo>
                  <a:lnTo>
                    <a:pt x="112" y="10"/>
                  </a:lnTo>
                  <a:lnTo>
                    <a:pt x="71" y="10"/>
                  </a:lnTo>
                  <a:lnTo>
                    <a:pt x="71" y="0"/>
                  </a:lnTo>
                  <a:close/>
                  <a:moveTo>
                    <a:pt x="143" y="0"/>
                  </a:moveTo>
                  <a:lnTo>
                    <a:pt x="183" y="0"/>
                  </a:lnTo>
                  <a:lnTo>
                    <a:pt x="183" y="10"/>
                  </a:lnTo>
                  <a:lnTo>
                    <a:pt x="143" y="10"/>
                  </a:lnTo>
                  <a:lnTo>
                    <a:pt x="143" y="0"/>
                  </a:lnTo>
                  <a:close/>
                  <a:moveTo>
                    <a:pt x="213" y="0"/>
                  </a:moveTo>
                  <a:lnTo>
                    <a:pt x="253" y="0"/>
                  </a:lnTo>
                  <a:lnTo>
                    <a:pt x="253" y="10"/>
                  </a:lnTo>
                  <a:lnTo>
                    <a:pt x="213" y="10"/>
                  </a:lnTo>
                  <a:lnTo>
                    <a:pt x="213" y="0"/>
                  </a:lnTo>
                  <a:close/>
                  <a:moveTo>
                    <a:pt x="284" y="0"/>
                  </a:moveTo>
                  <a:lnTo>
                    <a:pt x="325" y="0"/>
                  </a:lnTo>
                  <a:lnTo>
                    <a:pt x="325" y="10"/>
                  </a:lnTo>
                  <a:lnTo>
                    <a:pt x="284" y="10"/>
                  </a:lnTo>
                  <a:lnTo>
                    <a:pt x="284" y="0"/>
                  </a:lnTo>
                  <a:close/>
                  <a:moveTo>
                    <a:pt x="355" y="0"/>
                  </a:moveTo>
                  <a:lnTo>
                    <a:pt x="396" y="0"/>
                  </a:lnTo>
                  <a:lnTo>
                    <a:pt x="396" y="10"/>
                  </a:lnTo>
                  <a:lnTo>
                    <a:pt x="355" y="10"/>
                  </a:lnTo>
                  <a:lnTo>
                    <a:pt x="355" y="0"/>
                  </a:lnTo>
                  <a:close/>
                  <a:moveTo>
                    <a:pt x="426" y="0"/>
                  </a:moveTo>
                  <a:lnTo>
                    <a:pt x="466" y="0"/>
                  </a:lnTo>
                  <a:lnTo>
                    <a:pt x="466" y="10"/>
                  </a:lnTo>
                  <a:lnTo>
                    <a:pt x="426" y="10"/>
                  </a:lnTo>
                  <a:lnTo>
                    <a:pt x="426" y="0"/>
                  </a:lnTo>
                  <a:close/>
                  <a:moveTo>
                    <a:pt x="496" y="0"/>
                  </a:moveTo>
                  <a:lnTo>
                    <a:pt x="538" y="1"/>
                  </a:lnTo>
                  <a:lnTo>
                    <a:pt x="538" y="10"/>
                  </a:lnTo>
                  <a:lnTo>
                    <a:pt x="496" y="10"/>
                  </a:lnTo>
                  <a:lnTo>
                    <a:pt x="496" y="0"/>
                  </a:lnTo>
                  <a:close/>
                  <a:moveTo>
                    <a:pt x="568" y="1"/>
                  </a:moveTo>
                  <a:lnTo>
                    <a:pt x="602" y="1"/>
                  </a:lnTo>
                  <a:lnTo>
                    <a:pt x="602" y="10"/>
                  </a:lnTo>
                  <a:lnTo>
                    <a:pt x="568" y="10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3366FF"/>
            </a:solidFill>
            <a:ln w="1588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Freeform 103"/>
            <p:cNvSpPr>
              <a:spLocks noEditPoints="1"/>
            </p:cNvSpPr>
            <p:nvPr/>
          </p:nvSpPr>
          <p:spPr>
            <a:xfrm>
              <a:off x="4412" y="1066"/>
              <a:ext cx="185" cy="155"/>
            </a:xfrm>
            <a:custGeom>
              <a:avLst/>
              <a:gdLst/>
              <a:ahLst/>
              <a:cxnLst>
                <a:cxn ang="0">
                  <a:pos x="185" y="11"/>
                </a:cxn>
                <a:cxn ang="0">
                  <a:pos x="74" y="103"/>
                </a:cxn>
                <a:cxn ang="0">
                  <a:pos x="64" y="92"/>
                </a:cxn>
                <a:cxn ang="0">
                  <a:pos x="175" y="0"/>
                </a:cxn>
                <a:cxn ang="0">
                  <a:pos x="185" y="11"/>
                </a:cxn>
                <a:cxn ang="0">
                  <a:pos x="90" y="107"/>
                </a:cxn>
                <a:cxn ang="0">
                  <a:pos x="0" y="155"/>
                </a:cxn>
                <a:cxn ang="0">
                  <a:pos x="63" y="77"/>
                </a:cxn>
                <a:cxn ang="0">
                  <a:pos x="90" y="107"/>
                </a:cxn>
              </a:cxnLst>
              <a:rect l="0" t="0" r="0" b="0"/>
              <a:pathLst>
                <a:path w="185" h="155">
                  <a:moveTo>
                    <a:pt x="185" y="11"/>
                  </a:moveTo>
                  <a:lnTo>
                    <a:pt x="74" y="103"/>
                  </a:lnTo>
                  <a:lnTo>
                    <a:pt x="64" y="92"/>
                  </a:lnTo>
                  <a:lnTo>
                    <a:pt x="175" y="0"/>
                  </a:lnTo>
                  <a:lnTo>
                    <a:pt x="185" y="11"/>
                  </a:lnTo>
                  <a:close/>
                  <a:moveTo>
                    <a:pt x="90" y="107"/>
                  </a:moveTo>
                  <a:lnTo>
                    <a:pt x="0" y="155"/>
                  </a:lnTo>
                  <a:lnTo>
                    <a:pt x="63" y="77"/>
                  </a:lnTo>
                  <a:lnTo>
                    <a:pt x="90" y="107"/>
                  </a:lnTo>
                  <a:close/>
                </a:path>
              </a:pathLst>
            </a:custGeom>
            <a:solidFill>
              <a:srgbClr val="0000FF"/>
            </a:solidFill>
            <a:ln w="15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Freeform 104"/>
            <p:cNvSpPr>
              <a:spLocks noEditPoints="1"/>
            </p:cNvSpPr>
            <p:nvPr/>
          </p:nvSpPr>
          <p:spPr>
            <a:xfrm>
              <a:off x="4599" y="1063"/>
              <a:ext cx="221" cy="39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130" y="14"/>
                </a:cxn>
                <a:cxn ang="0">
                  <a:pos x="130" y="26"/>
                </a:cxn>
                <a:cxn ang="0">
                  <a:pos x="0" y="26"/>
                </a:cxn>
                <a:cxn ang="0">
                  <a:pos x="0" y="13"/>
                </a:cxn>
                <a:cxn ang="0">
                  <a:pos x="120" y="0"/>
                </a:cxn>
                <a:cxn ang="0">
                  <a:pos x="221" y="20"/>
                </a:cxn>
                <a:cxn ang="0">
                  <a:pos x="119" y="39"/>
                </a:cxn>
                <a:cxn ang="0">
                  <a:pos x="120" y="0"/>
                </a:cxn>
              </a:cxnLst>
              <a:rect l="0" t="0" r="0" b="0"/>
              <a:pathLst>
                <a:path w="221" h="39">
                  <a:moveTo>
                    <a:pt x="0" y="13"/>
                  </a:moveTo>
                  <a:lnTo>
                    <a:pt x="130" y="14"/>
                  </a:lnTo>
                  <a:lnTo>
                    <a:pt x="130" y="26"/>
                  </a:lnTo>
                  <a:lnTo>
                    <a:pt x="0" y="26"/>
                  </a:lnTo>
                  <a:lnTo>
                    <a:pt x="0" y="13"/>
                  </a:lnTo>
                  <a:close/>
                  <a:moveTo>
                    <a:pt x="120" y="0"/>
                  </a:moveTo>
                  <a:lnTo>
                    <a:pt x="221" y="20"/>
                  </a:lnTo>
                  <a:lnTo>
                    <a:pt x="119" y="3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00FF"/>
            </a:solidFill>
            <a:ln w="15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0" name="Freeform 105"/>
            <p:cNvSpPr>
              <a:spLocks noEditPoints="1"/>
            </p:cNvSpPr>
            <p:nvPr/>
          </p:nvSpPr>
          <p:spPr>
            <a:xfrm>
              <a:off x="4567" y="860"/>
              <a:ext cx="41" cy="216"/>
            </a:xfrm>
            <a:custGeom>
              <a:avLst/>
              <a:gdLst/>
              <a:ahLst/>
              <a:cxnLst>
                <a:cxn ang="0">
                  <a:pos x="14" y="216"/>
                </a:cxn>
                <a:cxn ang="0">
                  <a:pos x="15" y="89"/>
                </a:cxn>
                <a:cxn ang="0">
                  <a:pos x="27" y="89"/>
                </a:cxn>
                <a:cxn ang="0">
                  <a:pos x="27" y="216"/>
                </a:cxn>
                <a:cxn ang="0">
                  <a:pos x="14" y="216"/>
                </a:cxn>
                <a:cxn ang="0">
                  <a:pos x="0" y="98"/>
                </a:cxn>
                <a:cxn ang="0">
                  <a:pos x="21" y="0"/>
                </a:cxn>
                <a:cxn ang="0">
                  <a:pos x="41" y="98"/>
                </a:cxn>
                <a:cxn ang="0">
                  <a:pos x="0" y="98"/>
                </a:cxn>
              </a:cxnLst>
              <a:rect l="0" t="0" r="0" b="0"/>
              <a:pathLst>
                <a:path w="41" h="216">
                  <a:moveTo>
                    <a:pt x="14" y="216"/>
                  </a:moveTo>
                  <a:lnTo>
                    <a:pt x="15" y="89"/>
                  </a:lnTo>
                  <a:lnTo>
                    <a:pt x="27" y="89"/>
                  </a:lnTo>
                  <a:lnTo>
                    <a:pt x="27" y="216"/>
                  </a:lnTo>
                  <a:lnTo>
                    <a:pt x="14" y="216"/>
                  </a:lnTo>
                  <a:close/>
                  <a:moveTo>
                    <a:pt x="0" y="98"/>
                  </a:moveTo>
                  <a:lnTo>
                    <a:pt x="21" y="0"/>
                  </a:lnTo>
                  <a:lnTo>
                    <a:pt x="41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FF"/>
            </a:solidFill>
            <a:ln w="15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1" name="Rectangle 111"/>
            <p:cNvSpPr/>
            <p:nvPr/>
          </p:nvSpPr>
          <p:spPr>
            <a:xfrm>
              <a:off x="4722" y="780"/>
              <a:ext cx="27" cy="1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3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2" name="Rectangle 115"/>
            <p:cNvSpPr/>
            <p:nvPr/>
          </p:nvSpPr>
          <p:spPr>
            <a:xfrm>
              <a:off x="4130" y="1314"/>
              <a:ext cx="63" cy="1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5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3" name="Rectangle 116"/>
            <p:cNvSpPr/>
            <p:nvPr/>
          </p:nvSpPr>
          <p:spPr>
            <a:xfrm>
              <a:off x="4214" y="1327"/>
              <a:ext cx="28" cy="1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3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4" name="Rectangle 117"/>
            <p:cNvSpPr/>
            <p:nvPr/>
          </p:nvSpPr>
          <p:spPr>
            <a:xfrm>
              <a:off x="3749" y="1770"/>
              <a:ext cx="7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5" name="Rectangle 118"/>
            <p:cNvSpPr/>
            <p:nvPr/>
          </p:nvSpPr>
          <p:spPr>
            <a:xfrm>
              <a:off x="3826" y="1781"/>
              <a:ext cx="28" cy="1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3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6" name="Rectangle 119"/>
            <p:cNvSpPr/>
            <p:nvPr/>
          </p:nvSpPr>
          <p:spPr>
            <a:xfrm>
              <a:off x="5042" y="1402"/>
              <a:ext cx="56" cy="1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5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7" name="Rectangle 120"/>
            <p:cNvSpPr/>
            <p:nvPr/>
          </p:nvSpPr>
          <p:spPr>
            <a:xfrm>
              <a:off x="5122" y="1412"/>
              <a:ext cx="27" cy="1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3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8" name="Rectangle 121"/>
            <p:cNvSpPr/>
            <p:nvPr/>
          </p:nvSpPr>
          <p:spPr>
            <a:xfrm>
              <a:off x="4243" y="391"/>
              <a:ext cx="50" cy="1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5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9" name="Rectangle 123"/>
            <p:cNvSpPr/>
            <p:nvPr/>
          </p:nvSpPr>
          <p:spPr>
            <a:xfrm>
              <a:off x="4244" y="1845"/>
              <a:ext cx="38" cy="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900" b="0" dirty="0">
                  <a:solidFill>
                    <a:srgbClr val="007FB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00" name="Rectangle 124"/>
            <p:cNvSpPr/>
            <p:nvPr/>
          </p:nvSpPr>
          <p:spPr>
            <a:xfrm>
              <a:off x="4195" y="1779"/>
              <a:ext cx="53" cy="1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400" b="0" i="1" dirty="0">
                  <a:solidFill>
                    <a:srgbClr val="007FB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01" name="Rectangle 125"/>
            <p:cNvSpPr/>
            <p:nvPr/>
          </p:nvSpPr>
          <p:spPr>
            <a:xfrm>
              <a:off x="4017" y="1770"/>
              <a:ext cx="56" cy="1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500" b="0" i="1" dirty="0">
                  <a:solidFill>
                    <a:srgbClr val="007FB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02" name="Rectangle 126"/>
            <p:cNvSpPr/>
            <p:nvPr/>
          </p:nvSpPr>
          <p:spPr>
            <a:xfrm>
              <a:off x="4101" y="1768"/>
              <a:ext cx="64" cy="1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400" b="0" dirty="0">
                  <a:solidFill>
                    <a:srgbClr val="007FBF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03" name="Rectangle 127"/>
            <p:cNvSpPr/>
            <p:nvPr/>
          </p:nvSpPr>
          <p:spPr>
            <a:xfrm>
              <a:off x="4295" y="1799"/>
              <a:ext cx="405" cy="1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zh-CN" altLang="en-US" sz="1200" dirty="0">
                  <a:solidFill>
                    <a:srgbClr val="5DAEFF"/>
                  </a:solidFill>
                  <a:latin typeface="宋体" panose="02010600030101010101" pitchFamily="2" charset="-122"/>
                  <a:ea typeface="楷体_GB2312" pitchFamily="49" charset="-122"/>
                </a:rPr>
                <a:t>（平面）</a:t>
              </a:r>
              <a:endParaRPr lang="zh-CN" altLang="en-US" sz="120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704" name="Freeform 129"/>
            <p:cNvSpPr>
              <a:spLocks noEditPoints="1"/>
            </p:cNvSpPr>
            <p:nvPr/>
          </p:nvSpPr>
          <p:spPr>
            <a:xfrm>
              <a:off x="4109" y="1516"/>
              <a:ext cx="71" cy="235"/>
            </a:xfrm>
            <a:custGeom>
              <a:avLst/>
              <a:gdLst/>
              <a:ahLst/>
              <a:cxnLst>
                <a:cxn ang="0">
                  <a:pos x="0" y="231"/>
                </a:cxn>
                <a:cxn ang="0">
                  <a:pos x="46" y="29"/>
                </a:cxn>
                <a:cxn ang="0">
                  <a:pos x="58" y="31"/>
                </a:cxn>
                <a:cxn ang="0">
                  <a:pos x="12" y="235"/>
                </a:cxn>
                <a:cxn ang="0">
                  <a:pos x="0" y="231"/>
                </a:cxn>
                <a:cxn ang="0">
                  <a:pos x="31" y="35"/>
                </a:cxn>
                <a:cxn ang="0">
                  <a:pos x="60" y="0"/>
                </a:cxn>
                <a:cxn ang="0">
                  <a:pos x="71" y="44"/>
                </a:cxn>
                <a:cxn ang="0">
                  <a:pos x="31" y="35"/>
                </a:cxn>
              </a:cxnLst>
              <a:rect l="0" t="0" r="0" b="0"/>
              <a:pathLst>
                <a:path w="71" h="235">
                  <a:moveTo>
                    <a:pt x="0" y="231"/>
                  </a:moveTo>
                  <a:lnTo>
                    <a:pt x="46" y="29"/>
                  </a:lnTo>
                  <a:lnTo>
                    <a:pt x="58" y="31"/>
                  </a:lnTo>
                  <a:lnTo>
                    <a:pt x="12" y="235"/>
                  </a:lnTo>
                  <a:lnTo>
                    <a:pt x="0" y="231"/>
                  </a:lnTo>
                  <a:close/>
                  <a:moveTo>
                    <a:pt x="31" y="35"/>
                  </a:moveTo>
                  <a:lnTo>
                    <a:pt x="60" y="0"/>
                  </a:lnTo>
                  <a:lnTo>
                    <a:pt x="71" y="44"/>
                  </a:lnTo>
                  <a:lnTo>
                    <a:pt x="31" y="35"/>
                  </a:lnTo>
                  <a:close/>
                </a:path>
              </a:pathLst>
            </a:custGeom>
            <a:solidFill>
              <a:srgbClr val="00CCFF"/>
            </a:solidFill>
            <a:ln w="1588" cap="flat" cmpd="sng">
              <a:solidFill>
                <a:srgbClr val="00CC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5" name="Rectangle 130"/>
            <p:cNvSpPr/>
            <p:nvPr/>
          </p:nvSpPr>
          <p:spPr>
            <a:xfrm>
              <a:off x="4503" y="697"/>
              <a:ext cx="38" cy="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900" b="0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06" name="Rectangle 131"/>
            <p:cNvSpPr/>
            <p:nvPr/>
          </p:nvSpPr>
          <p:spPr>
            <a:xfrm>
              <a:off x="4457" y="631"/>
              <a:ext cx="47" cy="1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400" b="0" i="1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07" name="Rectangle 132"/>
            <p:cNvSpPr/>
            <p:nvPr/>
          </p:nvSpPr>
          <p:spPr>
            <a:xfrm>
              <a:off x="4282" y="622"/>
              <a:ext cx="50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500" b="0" i="1" dirty="0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08" name="Rectangle 133"/>
            <p:cNvSpPr/>
            <p:nvPr/>
          </p:nvSpPr>
          <p:spPr>
            <a:xfrm>
              <a:off x="4362" y="620"/>
              <a:ext cx="65" cy="1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400" b="0" dirty="0">
                  <a:solidFill>
                    <a:srgbClr val="FF00FF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09" name="Rectangle 134"/>
            <p:cNvSpPr/>
            <p:nvPr/>
          </p:nvSpPr>
          <p:spPr>
            <a:xfrm>
              <a:off x="4559" y="653"/>
              <a:ext cx="397" cy="1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zh-CN" altLang="en-US" sz="1200" dirty="0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（平面</a:t>
              </a:r>
              <a:r>
                <a:rPr lang="zh-CN" altLang="en-US" sz="1100" b="0" dirty="0">
                  <a:solidFill>
                    <a:srgbClr val="FF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  <a:endParaRPr lang="zh-CN" altLang="en-US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10" name="Freeform 136"/>
            <p:cNvSpPr>
              <a:spLocks noEditPoints="1"/>
            </p:cNvSpPr>
            <p:nvPr/>
          </p:nvSpPr>
          <p:spPr>
            <a:xfrm>
              <a:off x="4638" y="1324"/>
              <a:ext cx="70" cy="233"/>
            </a:xfrm>
            <a:custGeom>
              <a:avLst/>
              <a:gdLst/>
              <a:ahLst/>
              <a:cxnLst>
                <a:cxn ang="0">
                  <a:pos x="58" y="233"/>
                </a:cxn>
                <a:cxn ang="0">
                  <a:pos x="11" y="31"/>
                </a:cxn>
                <a:cxn ang="0">
                  <a:pos x="24" y="27"/>
                </a:cxn>
                <a:cxn ang="0">
                  <a:pos x="70" y="230"/>
                </a:cxn>
                <a:cxn ang="0">
                  <a:pos x="58" y="233"/>
                </a:cxn>
                <a:cxn ang="0">
                  <a:pos x="0" y="42"/>
                </a:cxn>
                <a:cxn ang="0">
                  <a:pos x="11" y="0"/>
                </a:cxn>
                <a:cxn ang="0">
                  <a:pos x="40" y="34"/>
                </a:cxn>
                <a:cxn ang="0">
                  <a:pos x="0" y="42"/>
                </a:cxn>
              </a:cxnLst>
              <a:rect l="0" t="0" r="0" b="0"/>
              <a:pathLst>
                <a:path w="70" h="233">
                  <a:moveTo>
                    <a:pt x="58" y="233"/>
                  </a:moveTo>
                  <a:lnTo>
                    <a:pt x="11" y="31"/>
                  </a:lnTo>
                  <a:lnTo>
                    <a:pt x="24" y="27"/>
                  </a:lnTo>
                  <a:lnTo>
                    <a:pt x="70" y="230"/>
                  </a:lnTo>
                  <a:lnTo>
                    <a:pt x="58" y="233"/>
                  </a:lnTo>
                  <a:close/>
                  <a:moveTo>
                    <a:pt x="0" y="42"/>
                  </a:moveTo>
                  <a:lnTo>
                    <a:pt x="11" y="0"/>
                  </a:lnTo>
                  <a:lnTo>
                    <a:pt x="40" y="34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89B2FD"/>
            </a:solidFill>
            <a:ln w="1588" cap="flat" cmpd="sng">
              <a:solidFill>
                <a:srgbClr val="89B2F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1" name="Freeform 137"/>
            <p:cNvSpPr>
              <a:spLocks noEditPoints="1"/>
            </p:cNvSpPr>
            <p:nvPr/>
          </p:nvSpPr>
          <p:spPr>
            <a:xfrm>
              <a:off x="4306" y="742"/>
              <a:ext cx="71" cy="23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60" y="203"/>
                </a:cxn>
                <a:cxn ang="0">
                  <a:pos x="47" y="206"/>
                </a:cxn>
                <a:cxn ang="0">
                  <a:pos x="0" y="4"/>
                </a:cxn>
                <a:cxn ang="0">
                  <a:pos x="12" y="0"/>
                </a:cxn>
                <a:cxn ang="0">
                  <a:pos x="71" y="190"/>
                </a:cxn>
                <a:cxn ang="0">
                  <a:pos x="60" y="233"/>
                </a:cxn>
                <a:cxn ang="0">
                  <a:pos x="32" y="200"/>
                </a:cxn>
                <a:cxn ang="0">
                  <a:pos x="71" y="190"/>
                </a:cxn>
              </a:cxnLst>
              <a:rect l="0" t="0" r="0" b="0"/>
              <a:pathLst>
                <a:path w="71" h="233">
                  <a:moveTo>
                    <a:pt x="12" y="0"/>
                  </a:moveTo>
                  <a:lnTo>
                    <a:pt x="60" y="203"/>
                  </a:lnTo>
                  <a:lnTo>
                    <a:pt x="47" y="206"/>
                  </a:lnTo>
                  <a:lnTo>
                    <a:pt x="0" y="4"/>
                  </a:lnTo>
                  <a:lnTo>
                    <a:pt x="12" y="0"/>
                  </a:lnTo>
                  <a:close/>
                  <a:moveTo>
                    <a:pt x="71" y="190"/>
                  </a:moveTo>
                  <a:lnTo>
                    <a:pt x="60" y="233"/>
                  </a:lnTo>
                  <a:lnTo>
                    <a:pt x="32" y="200"/>
                  </a:lnTo>
                  <a:lnTo>
                    <a:pt x="71" y="190"/>
                  </a:lnTo>
                  <a:close/>
                </a:path>
              </a:pathLst>
            </a:custGeom>
            <a:solidFill>
              <a:srgbClr val="FF00FF"/>
            </a:solidFill>
            <a:ln w="1588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2" name="Freeform 138"/>
            <p:cNvSpPr>
              <a:spLocks noEditPoints="1"/>
            </p:cNvSpPr>
            <p:nvPr/>
          </p:nvSpPr>
          <p:spPr>
            <a:xfrm>
              <a:off x="4609" y="1092"/>
              <a:ext cx="225" cy="238"/>
            </a:xfrm>
            <a:custGeom>
              <a:avLst/>
              <a:gdLst/>
              <a:ahLst/>
              <a:cxnLst>
                <a:cxn ang="0">
                  <a:pos x="215" y="238"/>
                </a:cxn>
                <a:cxn ang="0">
                  <a:pos x="16" y="26"/>
                </a:cxn>
                <a:cxn ang="0">
                  <a:pos x="25" y="18"/>
                </a:cxn>
                <a:cxn ang="0">
                  <a:pos x="225" y="229"/>
                </a:cxn>
                <a:cxn ang="0">
                  <a:pos x="215" y="238"/>
                </a:cxn>
                <a:cxn ang="0">
                  <a:pos x="12" y="42"/>
                </a:cxn>
                <a:cxn ang="0">
                  <a:pos x="0" y="0"/>
                </a:cxn>
                <a:cxn ang="0">
                  <a:pos x="42" y="15"/>
                </a:cxn>
                <a:cxn ang="0">
                  <a:pos x="12" y="42"/>
                </a:cxn>
              </a:cxnLst>
              <a:rect l="0" t="0" r="0" b="0"/>
              <a:pathLst>
                <a:path w="225" h="238">
                  <a:moveTo>
                    <a:pt x="215" y="238"/>
                  </a:moveTo>
                  <a:lnTo>
                    <a:pt x="16" y="26"/>
                  </a:lnTo>
                  <a:lnTo>
                    <a:pt x="25" y="18"/>
                  </a:lnTo>
                  <a:lnTo>
                    <a:pt x="225" y="229"/>
                  </a:lnTo>
                  <a:lnTo>
                    <a:pt x="215" y="238"/>
                  </a:lnTo>
                  <a:close/>
                  <a:moveTo>
                    <a:pt x="12" y="42"/>
                  </a:moveTo>
                  <a:lnTo>
                    <a:pt x="0" y="0"/>
                  </a:lnTo>
                  <a:lnTo>
                    <a:pt x="42" y="15"/>
                  </a:lnTo>
                  <a:lnTo>
                    <a:pt x="12" y="42"/>
                  </a:lnTo>
                  <a:close/>
                </a:path>
              </a:pathLst>
            </a:custGeom>
            <a:solidFill>
              <a:srgbClr val="59B7FD"/>
            </a:solidFill>
            <a:ln w="1588" cap="flat" cmpd="sng">
              <a:solidFill>
                <a:srgbClr val="59B7F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3" name="Rectangle 139"/>
            <p:cNvSpPr/>
            <p:nvPr/>
          </p:nvSpPr>
          <p:spPr>
            <a:xfrm>
              <a:off x="4452" y="969"/>
              <a:ext cx="77" cy="1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5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14" name="Rectangle 140"/>
            <p:cNvSpPr/>
            <p:nvPr/>
          </p:nvSpPr>
          <p:spPr>
            <a:xfrm>
              <a:off x="4552" y="982"/>
              <a:ext cx="28" cy="1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3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15" name="Rectangle 141"/>
            <p:cNvSpPr/>
            <p:nvPr/>
          </p:nvSpPr>
          <p:spPr>
            <a:xfrm>
              <a:off x="3651" y="1981"/>
              <a:ext cx="1905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marL="342900" indent="-342900" algn="ctr"/>
              <a:r>
                <a:rPr lang="zh-CN" altLang="en-US" sz="16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直角坐标系</a:t>
              </a:r>
              <a:endPara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716" name="Rectangle 142"/>
            <p:cNvSpPr/>
            <p:nvPr/>
          </p:nvSpPr>
          <p:spPr>
            <a:xfrm>
              <a:off x="4848" y="1955"/>
              <a:ext cx="27" cy="1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3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17" name="Freeform 143"/>
            <p:cNvSpPr/>
            <p:nvPr/>
          </p:nvSpPr>
          <p:spPr>
            <a:xfrm>
              <a:off x="4566" y="1058"/>
              <a:ext cx="43" cy="43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17" y="2"/>
                </a:cxn>
                <a:cxn ang="0">
                  <a:pos x="12" y="3"/>
                </a:cxn>
                <a:cxn ang="0">
                  <a:pos x="9" y="4"/>
                </a:cxn>
                <a:cxn ang="0">
                  <a:pos x="6" y="8"/>
                </a:cxn>
                <a:cxn ang="0">
                  <a:pos x="4" y="10"/>
                </a:cxn>
                <a:cxn ang="0">
                  <a:pos x="1" y="13"/>
                </a:cxn>
                <a:cxn ang="0">
                  <a:pos x="0" y="18"/>
                </a:cxn>
                <a:cxn ang="0">
                  <a:pos x="0" y="22"/>
                </a:cxn>
                <a:cxn ang="0">
                  <a:pos x="0" y="27"/>
                </a:cxn>
                <a:cxn ang="0">
                  <a:pos x="1" y="30"/>
                </a:cxn>
                <a:cxn ang="0">
                  <a:pos x="4" y="34"/>
                </a:cxn>
                <a:cxn ang="0">
                  <a:pos x="6" y="37"/>
                </a:cxn>
                <a:cxn ang="0">
                  <a:pos x="9" y="40"/>
                </a:cxn>
                <a:cxn ang="0">
                  <a:pos x="12" y="42"/>
                </a:cxn>
                <a:cxn ang="0">
                  <a:pos x="17" y="43"/>
                </a:cxn>
                <a:cxn ang="0">
                  <a:pos x="21" y="43"/>
                </a:cxn>
                <a:cxn ang="0">
                  <a:pos x="26" y="43"/>
                </a:cxn>
                <a:cxn ang="0">
                  <a:pos x="29" y="42"/>
                </a:cxn>
                <a:cxn ang="0">
                  <a:pos x="33" y="40"/>
                </a:cxn>
                <a:cxn ang="0">
                  <a:pos x="37" y="37"/>
                </a:cxn>
                <a:cxn ang="0">
                  <a:pos x="39" y="34"/>
                </a:cxn>
                <a:cxn ang="0">
                  <a:pos x="42" y="30"/>
                </a:cxn>
                <a:cxn ang="0">
                  <a:pos x="43" y="27"/>
                </a:cxn>
                <a:cxn ang="0">
                  <a:pos x="43" y="22"/>
                </a:cxn>
                <a:cxn ang="0">
                  <a:pos x="43" y="18"/>
                </a:cxn>
                <a:cxn ang="0">
                  <a:pos x="42" y="13"/>
                </a:cxn>
                <a:cxn ang="0">
                  <a:pos x="39" y="10"/>
                </a:cxn>
                <a:cxn ang="0">
                  <a:pos x="37" y="8"/>
                </a:cxn>
                <a:cxn ang="0">
                  <a:pos x="33" y="4"/>
                </a:cxn>
                <a:cxn ang="0">
                  <a:pos x="29" y="3"/>
                </a:cxn>
                <a:cxn ang="0">
                  <a:pos x="26" y="2"/>
                </a:cxn>
                <a:cxn ang="0">
                  <a:pos x="21" y="0"/>
                </a:cxn>
              </a:cxnLst>
              <a:rect l="0" t="0" r="0" b="0"/>
              <a:pathLst>
                <a:path w="43" h="43">
                  <a:moveTo>
                    <a:pt x="21" y="0"/>
                  </a:moveTo>
                  <a:lnTo>
                    <a:pt x="17" y="2"/>
                  </a:lnTo>
                  <a:lnTo>
                    <a:pt x="12" y="3"/>
                  </a:lnTo>
                  <a:lnTo>
                    <a:pt x="9" y="4"/>
                  </a:lnTo>
                  <a:lnTo>
                    <a:pt x="6" y="8"/>
                  </a:lnTo>
                  <a:lnTo>
                    <a:pt x="4" y="10"/>
                  </a:lnTo>
                  <a:lnTo>
                    <a:pt x="1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7"/>
                  </a:lnTo>
                  <a:lnTo>
                    <a:pt x="1" y="30"/>
                  </a:lnTo>
                  <a:lnTo>
                    <a:pt x="4" y="34"/>
                  </a:lnTo>
                  <a:lnTo>
                    <a:pt x="6" y="37"/>
                  </a:lnTo>
                  <a:lnTo>
                    <a:pt x="9" y="40"/>
                  </a:lnTo>
                  <a:lnTo>
                    <a:pt x="12" y="42"/>
                  </a:lnTo>
                  <a:lnTo>
                    <a:pt x="17" y="43"/>
                  </a:lnTo>
                  <a:lnTo>
                    <a:pt x="21" y="43"/>
                  </a:lnTo>
                  <a:lnTo>
                    <a:pt x="26" y="43"/>
                  </a:lnTo>
                  <a:lnTo>
                    <a:pt x="29" y="42"/>
                  </a:lnTo>
                  <a:lnTo>
                    <a:pt x="33" y="40"/>
                  </a:lnTo>
                  <a:lnTo>
                    <a:pt x="37" y="37"/>
                  </a:lnTo>
                  <a:lnTo>
                    <a:pt x="39" y="34"/>
                  </a:lnTo>
                  <a:lnTo>
                    <a:pt x="42" y="30"/>
                  </a:lnTo>
                  <a:lnTo>
                    <a:pt x="43" y="27"/>
                  </a:lnTo>
                  <a:lnTo>
                    <a:pt x="43" y="22"/>
                  </a:lnTo>
                  <a:lnTo>
                    <a:pt x="43" y="18"/>
                  </a:lnTo>
                  <a:lnTo>
                    <a:pt x="42" y="13"/>
                  </a:lnTo>
                  <a:lnTo>
                    <a:pt x="39" y="10"/>
                  </a:lnTo>
                  <a:lnTo>
                    <a:pt x="37" y="8"/>
                  </a:lnTo>
                  <a:lnTo>
                    <a:pt x="33" y="4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8" name="Freeform 144"/>
            <p:cNvSpPr/>
            <p:nvPr/>
          </p:nvSpPr>
          <p:spPr>
            <a:xfrm>
              <a:off x="4566" y="1058"/>
              <a:ext cx="43" cy="43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17" y="2"/>
                </a:cxn>
                <a:cxn ang="0">
                  <a:pos x="12" y="3"/>
                </a:cxn>
                <a:cxn ang="0">
                  <a:pos x="9" y="4"/>
                </a:cxn>
                <a:cxn ang="0">
                  <a:pos x="6" y="8"/>
                </a:cxn>
                <a:cxn ang="0">
                  <a:pos x="4" y="10"/>
                </a:cxn>
                <a:cxn ang="0">
                  <a:pos x="1" y="13"/>
                </a:cxn>
                <a:cxn ang="0">
                  <a:pos x="0" y="18"/>
                </a:cxn>
                <a:cxn ang="0">
                  <a:pos x="0" y="22"/>
                </a:cxn>
                <a:cxn ang="0">
                  <a:pos x="0" y="27"/>
                </a:cxn>
                <a:cxn ang="0">
                  <a:pos x="1" y="30"/>
                </a:cxn>
                <a:cxn ang="0">
                  <a:pos x="4" y="34"/>
                </a:cxn>
                <a:cxn ang="0">
                  <a:pos x="6" y="37"/>
                </a:cxn>
                <a:cxn ang="0">
                  <a:pos x="9" y="40"/>
                </a:cxn>
                <a:cxn ang="0">
                  <a:pos x="12" y="42"/>
                </a:cxn>
                <a:cxn ang="0">
                  <a:pos x="17" y="43"/>
                </a:cxn>
                <a:cxn ang="0">
                  <a:pos x="21" y="43"/>
                </a:cxn>
                <a:cxn ang="0">
                  <a:pos x="26" y="43"/>
                </a:cxn>
                <a:cxn ang="0">
                  <a:pos x="29" y="42"/>
                </a:cxn>
                <a:cxn ang="0">
                  <a:pos x="33" y="40"/>
                </a:cxn>
                <a:cxn ang="0">
                  <a:pos x="37" y="37"/>
                </a:cxn>
                <a:cxn ang="0">
                  <a:pos x="39" y="34"/>
                </a:cxn>
                <a:cxn ang="0">
                  <a:pos x="42" y="30"/>
                </a:cxn>
                <a:cxn ang="0">
                  <a:pos x="43" y="27"/>
                </a:cxn>
                <a:cxn ang="0">
                  <a:pos x="43" y="22"/>
                </a:cxn>
                <a:cxn ang="0">
                  <a:pos x="43" y="18"/>
                </a:cxn>
                <a:cxn ang="0">
                  <a:pos x="42" y="13"/>
                </a:cxn>
                <a:cxn ang="0">
                  <a:pos x="39" y="10"/>
                </a:cxn>
                <a:cxn ang="0">
                  <a:pos x="37" y="8"/>
                </a:cxn>
                <a:cxn ang="0">
                  <a:pos x="33" y="4"/>
                </a:cxn>
                <a:cxn ang="0">
                  <a:pos x="29" y="3"/>
                </a:cxn>
                <a:cxn ang="0">
                  <a:pos x="26" y="2"/>
                </a:cxn>
                <a:cxn ang="0">
                  <a:pos x="21" y="0"/>
                </a:cxn>
              </a:cxnLst>
              <a:rect l="0" t="0" r="0" b="0"/>
              <a:pathLst>
                <a:path w="43" h="43">
                  <a:moveTo>
                    <a:pt x="21" y="0"/>
                  </a:moveTo>
                  <a:lnTo>
                    <a:pt x="17" y="2"/>
                  </a:lnTo>
                  <a:lnTo>
                    <a:pt x="12" y="3"/>
                  </a:lnTo>
                  <a:lnTo>
                    <a:pt x="9" y="4"/>
                  </a:lnTo>
                  <a:lnTo>
                    <a:pt x="6" y="8"/>
                  </a:lnTo>
                  <a:lnTo>
                    <a:pt x="4" y="10"/>
                  </a:lnTo>
                  <a:lnTo>
                    <a:pt x="1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7"/>
                  </a:lnTo>
                  <a:lnTo>
                    <a:pt x="1" y="30"/>
                  </a:lnTo>
                  <a:lnTo>
                    <a:pt x="4" y="34"/>
                  </a:lnTo>
                  <a:lnTo>
                    <a:pt x="6" y="37"/>
                  </a:lnTo>
                  <a:lnTo>
                    <a:pt x="9" y="40"/>
                  </a:lnTo>
                  <a:lnTo>
                    <a:pt x="12" y="42"/>
                  </a:lnTo>
                  <a:lnTo>
                    <a:pt x="17" y="43"/>
                  </a:lnTo>
                  <a:lnTo>
                    <a:pt x="21" y="43"/>
                  </a:lnTo>
                  <a:lnTo>
                    <a:pt x="26" y="43"/>
                  </a:lnTo>
                  <a:lnTo>
                    <a:pt x="29" y="42"/>
                  </a:lnTo>
                  <a:lnTo>
                    <a:pt x="33" y="40"/>
                  </a:lnTo>
                  <a:lnTo>
                    <a:pt x="37" y="37"/>
                  </a:lnTo>
                  <a:lnTo>
                    <a:pt x="39" y="34"/>
                  </a:lnTo>
                  <a:lnTo>
                    <a:pt x="42" y="30"/>
                  </a:lnTo>
                  <a:lnTo>
                    <a:pt x="43" y="27"/>
                  </a:lnTo>
                  <a:lnTo>
                    <a:pt x="43" y="22"/>
                  </a:lnTo>
                  <a:lnTo>
                    <a:pt x="43" y="18"/>
                  </a:lnTo>
                  <a:lnTo>
                    <a:pt x="42" y="13"/>
                  </a:lnTo>
                  <a:lnTo>
                    <a:pt x="39" y="10"/>
                  </a:lnTo>
                  <a:lnTo>
                    <a:pt x="37" y="8"/>
                  </a:lnTo>
                  <a:lnTo>
                    <a:pt x="33" y="4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1" y="0"/>
                  </a:lnTo>
                </a:path>
              </a:pathLst>
            </a:custGeom>
            <a:noFill/>
            <a:ln w="111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719" name="Object 206"/>
            <p:cNvGraphicFramePr>
              <a:graphicFrameLocks noChangeAspect="1"/>
            </p:cNvGraphicFramePr>
            <p:nvPr/>
          </p:nvGraphicFramePr>
          <p:xfrm>
            <a:off x="4286" y="1117"/>
            <a:ext cx="145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65100" imgH="228600" progId="Equation.3">
                    <p:embed/>
                  </p:oleObj>
                </mc:Choice>
                <mc:Fallback>
                  <p:oleObj r:id="rId13" imgW="165100" imgH="2286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286" y="1117"/>
                          <a:ext cx="145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20" name="Object 207"/>
            <p:cNvGraphicFramePr>
              <a:graphicFrameLocks noChangeAspect="1"/>
            </p:cNvGraphicFramePr>
            <p:nvPr/>
          </p:nvGraphicFramePr>
          <p:xfrm>
            <a:off x="4558" y="709"/>
            <a:ext cx="14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52400" imgH="215900" progId="Equation.3">
                    <p:embed/>
                  </p:oleObj>
                </mc:Choice>
                <mc:Fallback>
                  <p:oleObj r:id="rId15" imgW="152400" imgH="2159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558" y="709"/>
                          <a:ext cx="145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21" name="Object 208"/>
            <p:cNvGraphicFramePr>
              <a:graphicFrameLocks noChangeAspect="1"/>
            </p:cNvGraphicFramePr>
            <p:nvPr/>
          </p:nvGraphicFramePr>
          <p:xfrm>
            <a:off x="4830" y="935"/>
            <a:ext cx="141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65100" imgH="241300" progId="Equation.3">
                    <p:embed/>
                  </p:oleObj>
                </mc:Choice>
                <mc:Fallback>
                  <p:oleObj r:id="rId17" imgW="165100" imgH="2413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830" y="935"/>
                          <a:ext cx="141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722" name="AutoShape 223">
            <a:hlinkClick r:id="rId19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7723" name="AutoShape 224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7724" name="AutoShape 225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7725" name="AutoShape 226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65798" name="Rectangle 230"/>
          <p:cNvSpPr/>
          <p:nvPr/>
        </p:nvSpPr>
        <p:spPr>
          <a:xfrm>
            <a:off x="250825" y="836613"/>
            <a:ext cx="381635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rPr>
              <a:t>坐标变量</a:t>
            </a:r>
          </a:p>
        </p:txBody>
      </p:sp>
      <p:sp>
        <p:nvSpPr>
          <p:cNvPr id="365806" name="Text Box 238"/>
          <p:cNvSpPr txBox="1"/>
          <p:nvPr/>
        </p:nvSpPr>
        <p:spPr>
          <a:xfrm>
            <a:off x="-31790" y="4836559"/>
            <a:ext cx="3052428" cy="338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海蓝色平面（长方体前</a:t>
            </a:r>
            <a:r>
              <a:rPr lang="en-US" altLang="zh-CN" sz="160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/</a:t>
            </a:r>
            <a:r>
              <a:rPr lang="zh-CN" altLang="en-US" sz="160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后表面）</a:t>
            </a:r>
          </a:p>
        </p:txBody>
      </p:sp>
      <p:sp>
        <p:nvSpPr>
          <p:cNvPr id="365807" name="Text Box 239"/>
          <p:cNvSpPr txBox="1"/>
          <p:nvPr/>
        </p:nvSpPr>
        <p:spPr>
          <a:xfrm>
            <a:off x="-31790" y="5700159"/>
            <a:ext cx="2908412" cy="338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00CCFF"/>
                </a:solidFill>
                <a:latin typeface="Times New Roman" panose="02020603050405020304" pitchFamily="18" charset="0"/>
                <a:ea typeface="楷体_GB2312" pitchFamily="49" charset="-122"/>
              </a:rPr>
              <a:t>天兰色平面（长方体上</a:t>
            </a:r>
            <a:r>
              <a:rPr lang="en-US" altLang="zh-CN" sz="1600" dirty="0">
                <a:solidFill>
                  <a:srgbClr val="00CCFF"/>
                </a:solidFill>
                <a:latin typeface="Times New Roman" panose="02020603050405020304" pitchFamily="18" charset="0"/>
                <a:ea typeface="楷体_GB2312" pitchFamily="49" charset="-122"/>
              </a:rPr>
              <a:t>/</a:t>
            </a:r>
            <a:r>
              <a:rPr lang="zh-CN" altLang="en-US" sz="1600" dirty="0">
                <a:solidFill>
                  <a:srgbClr val="00CCFF"/>
                </a:solidFill>
                <a:latin typeface="Times New Roman" panose="02020603050405020304" pitchFamily="18" charset="0"/>
                <a:ea typeface="楷体_GB2312" pitchFamily="49" charset="-122"/>
              </a:rPr>
              <a:t>下表面）</a:t>
            </a:r>
          </a:p>
        </p:txBody>
      </p:sp>
      <p:sp>
        <p:nvSpPr>
          <p:cNvPr id="365808" name="Text Box 240"/>
          <p:cNvSpPr txBox="1"/>
          <p:nvPr/>
        </p:nvSpPr>
        <p:spPr>
          <a:xfrm>
            <a:off x="-31790" y="5268359"/>
            <a:ext cx="2762785" cy="338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B7B7"/>
                </a:solidFill>
                <a:latin typeface="Times New Roman" panose="02020603050405020304" pitchFamily="18" charset="0"/>
                <a:ea typeface="楷体_GB2312" pitchFamily="49" charset="-122"/>
              </a:rPr>
              <a:t>粉色平面（长方体左</a:t>
            </a:r>
            <a:r>
              <a:rPr lang="en-US" altLang="zh-CN" sz="1600" dirty="0">
                <a:solidFill>
                  <a:srgbClr val="FFB7B7"/>
                </a:solidFill>
                <a:latin typeface="Times New Roman" panose="02020603050405020304" pitchFamily="18" charset="0"/>
                <a:ea typeface="楷体_GB2312" pitchFamily="49" charset="-122"/>
              </a:rPr>
              <a:t>/</a:t>
            </a:r>
            <a:r>
              <a:rPr lang="zh-CN" altLang="en-US" sz="1600" dirty="0">
                <a:solidFill>
                  <a:srgbClr val="FFB7B7"/>
                </a:solidFill>
                <a:latin typeface="Times New Roman" panose="02020603050405020304" pitchFamily="18" charset="0"/>
                <a:ea typeface="楷体_GB2312" pitchFamily="49" charset="-122"/>
              </a:rPr>
              <a:t>右表面）</a:t>
            </a:r>
          </a:p>
        </p:txBody>
      </p:sp>
      <p:grpSp>
        <p:nvGrpSpPr>
          <p:cNvPr id="365785" name="Group 217"/>
          <p:cNvGrpSpPr/>
          <p:nvPr/>
        </p:nvGrpSpPr>
        <p:grpSpPr>
          <a:xfrm>
            <a:off x="684213" y="908050"/>
            <a:ext cx="3862387" cy="815975"/>
            <a:chOff x="271" y="701"/>
            <a:chExt cx="2433" cy="514"/>
          </a:xfrm>
        </p:grpSpPr>
        <p:sp>
          <p:nvSpPr>
            <p:cNvPr id="27731" name="Text Box 41"/>
            <p:cNvSpPr txBox="1"/>
            <p:nvPr/>
          </p:nvSpPr>
          <p:spPr>
            <a:xfrm>
              <a:off x="271" y="799"/>
              <a:ext cx="12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7732" name="Object 71"/>
            <p:cNvGraphicFramePr>
              <a:graphicFrameLocks noChangeAspect="1"/>
            </p:cNvGraphicFramePr>
            <p:nvPr/>
          </p:nvGraphicFramePr>
          <p:xfrm>
            <a:off x="895" y="701"/>
            <a:ext cx="1809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283335" imgH="335915" progId="Equation.3">
                    <p:embed/>
                  </p:oleObj>
                </mc:Choice>
                <mc:Fallback>
                  <p:oleObj r:id="rId20" imgW="1283335" imgH="335915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95" y="701"/>
                          <a:ext cx="1809" cy="5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0884" name="Rectangle 1220"/>
          <p:cNvSpPr/>
          <p:nvPr/>
        </p:nvSpPr>
        <p:spPr>
          <a:xfrm>
            <a:off x="250825" y="2133600"/>
            <a:ext cx="381635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rPr>
              <a:t>位置矢量</a:t>
            </a:r>
          </a:p>
        </p:txBody>
      </p:sp>
      <p:pic>
        <p:nvPicPr>
          <p:cNvPr id="27734" name="Picture 10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10901" y="2691647"/>
            <a:ext cx="2924109" cy="233830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7735" name="Object 17"/>
          <p:cNvGraphicFramePr>
            <a:graphicFrameLocks noChangeAspect="1"/>
          </p:cNvGraphicFramePr>
          <p:nvPr/>
        </p:nvGraphicFramePr>
        <p:xfrm>
          <a:off x="1979613" y="4149725"/>
          <a:ext cx="123983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523240" imgH="181610" progId="Equation.DSMT4">
                  <p:embed/>
                </p:oleObj>
              </mc:Choice>
              <mc:Fallback>
                <p:oleObj r:id="rId23" imgW="523240" imgH="18161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4149725"/>
                        <a:ext cx="1239837" cy="538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36" name="Rectangle 29"/>
          <p:cNvSpPr/>
          <p:nvPr/>
        </p:nvSpPr>
        <p:spPr>
          <a:xfrm>
            <a:off x="-180975" y="3933825"/>
            <a:ext cx="1296988" cy="565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endParaRPr lang="zh-CN" altLang="zh-CN" b="0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7737" name="Rectangle 71"/>
          <p:cNvSpPr/>
          <p:nvPr/>
        </p:nvSpPr>
        <p:spPr>
          <a:xfrm>
            <a:off x="1979613" y="3860800"/>
            <a:ext cx="2592387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面积元的法向单位矢量</a:t>
            </a:r>
            <a:endParaRPr lang="zh-CN" altLang="en-US" sz="1600" b="0" dirty="0">
              <a:solidFill>
                <a:srgbClr val="EA162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7738" name="Oval 96"/>
          <p:cNvSpPr/>
          <p:nvPr/>
        </p:nvSpPr>
        <p:spPr>
          <a:xfrm>
            <a:off x="2627313" y="4221163"/>
            <a:ext cx="215900" cy="503237"/>
          </a:xfrm>
          <a:prstGeom prst="ellipse">
            <a:avLst/>
          </a:prstGeom>
          <a:noFill/>
          <a:ln w="25400" cap="flat" cmpd="sng">
            <a:solidFill>
              <a:srgbClr val="EA162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706" name="Rectangle 42"/>
          <p:cNvSpPr>
            <a:spLocks noGrp="1"/>
          </p:cNvSpPr>
          <p:nvPr>
            <p:ph type="body" sz="half" idx="1"/>
          </p:nvPr>
        </p:nvSpPr>
        <p:spPr>
          <a:xfrm>
            <a:off x="457200" y="442913"/>
            <a:ext cx="4038600" cy="5649912"/>
          </a:xfrm>
          <a:noFill/>
          <a:ln>
            <a:noFill/>
          </a:ln>
        </p:spPr>
        <p:txBody>
          <a:bodyPr anchor="t" anchorCtr="0"/>
          <a:lstStyle/>
          <a:p>
            <a:pPr marL="0" indent="0" eaLnBrk="1" hangingPunct="1">
              <a:buClrTx/>
              <a:buSzTx/>
              <a:buFontTx/>
            </a:pPr>
            <a:r>
              <a:rPr lang="en-US" altLang="zh-CN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2.  </a:t>
            </a:r>
            <a:r>
              <a:rPr lang="zh-CN" altLang="en-US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圆柱坐标系（略）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2400" b="1" dirty="0"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grpSp>
        <p:nvGrpSpPr>
          <p:cNvPr id="369760" name="Group 96"/>
          <p:cNvGrpSpPr/>
          <p:nvPr/>
        </p:nvGrpSpPr>
        <p:grpSpPr>
          <a:xfrm>
            <a:off x="4932363" y="549275"/>
            <a:ext cx="3351212" cy="576263"/>
            <a:chOff x="270" y="1184"/>
            <a:chExt cx="1957" cy="341"/>
          </a:xfrm>
        </p:grpSpPr>
        <p:graphicFrame>
          <p:nvGraphicFramePr>
            <p:cNvPr id="29699" name="Object 68"/>
            <p:cNvGraphicFramePr>
              <a:graphicFrameLocks noChangeAspect="1"/>
            </p:cNvGraphicFramePr>
            <p:nvPr/>
          </p:nvGraphicFramePr>
          <p:xfrm>
            <a:off x="1576" y="1230"/>
            <a:ext cx="65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24180" imgH="170815" progId="Equation.3">
                    <p:embed/>
                  </p:oleObj>
                </mc:Choice>
                <mc:Fallback>
                  <p:oleObj r:id="rId3" imgW="424180" imgH="170815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76" y="1230"/>
                          <a:ext cx="651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0" name="Text Box 90"/>
            <p:cNvSpPr txBox="1"/>
            <p:nvPr/>
          </p:nvSpPr>
          <p:spPr>
            <a:xfrm>
              <a:off x="270" y="1184"/>
              <a:ext cx="134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FFB7B7"/>
                  </a:solidFill>
                  <a:latin typeface="Arial" panose="020B0604020202020204" pitchFamily="34" charset="0"/>
                  <a:ea typeface="楷体_GB2312" pitchFamily="49" charset="-122"/>
                </a:rPr>
                <a:t>坐标单位矢量</a:t>
              </a:r>
            </a:p>
          </p:txBody>
        </p:sp>
      </p:grpSp>
      <p:grpSp>
        <p:nvGrpSpPr>
          <p:cNvPr id="369761" name="Group 97"/>
          <p:cNvGrpSpPr/>
          <p:nvPr/>
        </p:nvGrpSpPr>
        <p:grpSpPr>
          <a:xfrm>
            <a:off x="611188" y="5589588"/>
            <a:ext cx="4308475" cy="1008062"/>
            <a:chOff x="273" y="1389"/>
            <a:chExt cx="3007" cy="703"/>
          </a:xfrm>
        </p:grpSpPr>
        <p:graphicFrame>
          <p:nvGraphicFramePr>
            <p:cNvPr id="29702" name="Object 50"/>
            <p:cNvGraphicFramePr>
              <a:graphicFrameLocks noChangeAspect="1"/>
            </p:cNvGraphicFramePr>
            <p:nvPr/>
          </p:nvGraphicFramePr>
          <p:xfrm>
            <a:off x="942" y="1389"/>
            <a:ext cx="2338" cy="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75435" imgH="440690" progId="Equation.3">
                    <p:embed/>
                  </p:oleObj>
                </mc:Choice>
                <mc:Fallback>
                  <p:oleObj r:id="rId5" imgW="1575435" imgH="44069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42" y="1389"/>
                          <a:ext cx="2338" cy="7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3" name="Text Box 91"/>
            <p:cNvSpPr txBox="1"/>
            <p:nvPr/>
          </p:nvSpPr>
          <p:spPr>
            <a:xfrm>
              <a:off x="273" y="1569"/>
              <a:ext cx="1156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u="sng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9704" name="Group 131"/>
          <p:cNvGrpSpPr/>
          <p:nvPr/>
        </p:nvGrpSpPr>
        <p:grpSpPr>
          <a:xfrm>
            <a:off x="5435600" y="3357563"/>
            <a:ext cx="3097213" cy="2735262"/>
            <a:chOff x="3651" y="300"/>
            <a:chExt cx="2055" cy="1740"/>
          </a:xfrm>
        </p:grpSpPr>
        <p:pic>
          <p:nvPicPr>
            <p:cNvPr id="29705" name="Picture 103" descr="圆柱坐标系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51" y="300"/>
              <a:ext cx="1951" cy="17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06" name="Rectangle 104"/>
            <p:cNvSpPr/>
            <p:nvPr/>
          </p:nvSpPr>
          <p:spPr>
            <a:xfrm>
              <a:off x="3923" y="1842"/>
              <a:ext cx="1497" cy="1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marL="342900" indent="-342900" algn="ctr"/>
              <a:r>
                <a:rPr lang="zh-CN" altLang="en-US" sz="1400" dirty="0">
                  <a:latin typeface="Arial" panose="020B0604020202020204" pitchFamily="34" charset="0"/>
                  <a:ea typeface="宋体" panose="02010600030101010101" pitchFamily="2" charset="-122"/>
                </a:rPr>
                <a:t>圆柱坐标系</a:t>
              </a:r>
            </a:p>
          </p:txBody>
        </p:sp>
        <p:sp>
          <p:nvSpPr>
            <p:cNvPr id="29707" name="AutoShape 111"/>
            <p:cNvSpPr/>
            <p:nvPr/>
          </p:nvSpPr>
          <p:spPr>
            <a:xfrm>
              <a:off x="4572" y="1753"/>
              <a:ext cx="703" cy="91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 cap="flat" cmpd="sng">
              <a:solidFill>
                <a:srgbClr val="CC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9708" name="Object 112"/>
            <p:cNvGraphicFramePr>
              <a:graphicFrameLocks noChangeAspect="1"/>
            </p:cNvGraphicFramePr>
            <p:nvPr/>
          </p:nvGraphicFramePr>
          <p:xfrm>
            <a:off x="4390" y="1661"/>
            <a:ext cx="409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302895" imgH="160020" progId="Equation.3">
                    <p:embed/>
                  </p:oleObj>
                </mc:Choice>
                <mc:Fallback>
                  <p:oleObj r:id="rId8" imgW="302895" imgH="16002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390" y="1661"/>
                          <a:ext cx="409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9" name="Text Box 113"/>
            <p:cNvSpPr txBox="1"/>
            <p:nvPr/>
          </p:nvSpPr>
          <p:spPr>
            <a:xfrm>
              <a:off x="4694" y="1696"/>
              <a:ext cx="68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半平面</a:t>
              </a:r>
              <a:r>
                <a:rPr lang="zh-CN" altLang="en-US" sz="14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</a:p>
          </p:txBody>
        </p:sp>
        <p:sp>
          <p:nvSpPr>
            <p:cNvPr id="29710" name="AutoShape 114"/>
            <p:cNvSpPr/>
            <p:nvPr/>
          </p:nvSpPr>
          <p:spPr>
            <a:xfrm>
              <a:off x="3696" y="1525"/>
              <a:ext cx="721" cy="113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 cap="flat" cmpd="sng">
              <a:solidFill>
                <a:srgbClr val="CC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9711" name="Object 115"/>
            <p:cNvGraphicFramePr/>
            <p:nvPr/>
          </p:nvGraphicFramePr>
          <p:xfrm>
            <a:off x="3757" y="1310"/>
            <a:ext cx="46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47345" imgH="160020" progId="Equation.3">
                    <p:embed/>
                  </p:oleObj>
                </mc:Choice>
                <mc:Fallback>
                  <p:oleObj r:id="rId10" imgW="347345" imgH="16002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57" y="1310"/>
                          <a:ext cx="460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2" name="Text Box 118"/>
            <p:cNvSpPr txBox="1"/>
            <p:nvPr/>
          </p:nvSpPr>
          <p:spPr>
            <a:xfrm>
              <a:off x="3652" y="1469"/>
              <a:ext cx="68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（</a:t>
              </a:r>
              <a:r>
                <a:rPr lang="zh-CN" altLang="en-US" sz="1400" dirty="0">
                  <a:latin typeface="Arial" panose="020B0604020202020204" pitchFamily="34" charset="0"/>
                  <a:ea typeface="宋体" panose="02010600030101010101" pitchFamily="2" charset="-122"/>
                </a:rPr>
                <a:t>圆柱面</a:t>
              </a:r>
              <a:r>
                <a:rPr lang="zh-CN" altLang="en-US" sz="14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</a:p>
          </p:txBody>
        </p:sp>
        <p:sp>
          <p:nvSpPr>
            <p:cNvPr id="29713" name="AutoShape 119"/>
            <p:cNvSpPr/>
            <p:nvPr/>
          </p:nvSpPr>
          <p:spPr>
            <a:xfrm>
              <a:off x="4830" y="436"/>
              <a:ext cx="721" cy="113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 cap="flat" cmpd="sng">
              <a:solidFill>
                <a:srgbClr val="CC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9714" name="Object 121"/>
            <p:cNvGraphicFramePr/>
            <p:nvPr/>
          </p:nvGraphicFramePr>
          <p:xfrm>
            <a:off x="4758" y="357"/>
            <a:ext cx="407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302895" imgH="160020" progId="Equation.3">
                    <p:embed/>
                  </p:oleObj>
                </mc:Choice>
                <mc:Fallback>
                  <p:oleObj r:id="rId12" imgW="302895" imgH="16002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758" y="357"/>
                          <a:ext cx="407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5" name="Text Box 122"/>
            <p:cNvSpPr txBox="1"/>
            <p:nvPr/>
          </p:nvSpPr>
          <p:spPr>
            <a:xfrm>
              <a:off x="5049" y="380"/>
              <a:ext cx="657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（</a:t>
              </a:r>
              <a:r>
                <a:rPr lang="zh-CN" altLang="en-US" sz="1400" dirty="0">
                  <a:latin typeface="Arial" panose="020B0604020202020204" pitchFamily="34" charset="0"/>
                  <a:ea typeface="宋体" panose="02010600030101010101" pitchFamily="2" charset="-122"/>
                </a:rPr>
                <a:t>平面</a:t>
              </a:r>
              <a:r>
                <a:rPr lang="zh-CN" altLang="en-US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）</a:t>
              </a:r>
            </a:p>
          </p:txBody>
        </p:sp>
        <p:sp>
          <p:nvSpPr>
            <p:cNvPr id="29716" name="Rectangle 123"/>
            <p:cNvSpPr/>
            <p:nvPr/>
          </p:nvSpPr>
          <p:spPr>
            <a:xfrm>
              <a:off x="5076" y="946"/>
              <a:ext cx="480" cy="171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CC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9717" name="Object 124"/>
            <p:cNvGraphicFramePr/>
            <p:nvPr/>
          </p:nvGraphicFramePr>
          <p:xfrm>
            <a:off x="5038" y="935"/>
            <a:ext cx="596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644525" imgH="160020" progId="Equation.3">
                    <p:embed/>
                  </p:oleObj>
                </mc:Choice>
                <mc:Fallback>
                  <p:oleObj r:id="rId14" imgW="644525" imgH="16002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038" y="935"/>
                          <a:ext cx="596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18" name="AutoShape 127">
            <a:hlinkClick r:id="rId16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9719" name="AutoShape 128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9720" name="AutoShape 129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9721" name="AutoShape 130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9722" name="Object 140"/>
          <p:cNvGraphicFramePr>
            <a:graphicFrameLocks noGrp="1" noChangeAspect="1"/>
          </p:cNvGraphicFramePr>
          <p:nvPr>
            <p:ph sz="half" idx="2"/>
          </p:nvPr>
        </p:nvGraphicFramePr>
        <p:xfrm>
          <a:off x="5580063" y="1196975"/>
          <a:ext cx="2360612" cy="194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3239770" imgH="2675255" progId="Visio.Drawing.11">
                  <p:embed/>
                </p:oleObj>
              </mc:Choice>
              <mc:Fallback>
                <p:oleObj r:id="rId17" imgW="3239770" imgH="2675255" progId="Visio.Drawing.11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80063" y="1196975"/>
                        <a:ext cx="2360612" cy="1949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9807" name="Group 143"/>
          <p:cNvGrpSpPr/>
          <p:nvPr/>
        </p:nvGrpSpPr>
        <p:grpSpPr>
          <a:xfrm>
            <a:off x="649288" y="836613"/>
            <a:ext cx="3922712" cy="815975"/>
            <a:chOff x="271" y="701"/>
            <a:chExt cx="2471" cy="514"/>
          </a:xfrm>
        </p:grpSpPr>
        <p:sp>
          <p:nvSpPr>
            <p:cNvPr id="29724" name="Text Box 144"/>
            <p:cNvSpPr txBox="1"/>
            <p:nvPr/>
          </p:nvSpPr>
          <p:spPr>
            <a:xfrm>
              <a:off x="271" y="799"/>
              <a:ext cx="12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9725" name="Object 145"/>
            <p:cNvGraphicFramePr>
              <a:graphicFrameLocks noChangeAspect="1"/>
            </p:cNvGraphicFramePr>
            <p:nvPr/>
          </p:nvGraphicFramePr>
          <p:xfrm>
            <a:off x="857" y="701"/>
            <a:ext cx="1885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338580" imgH="335915" progId="Equation.3">
                    <p:embed/>
                  </p:oleObj>
                </mc:Choice>
                <mc:Fallback>
                  <p:oleObj r:id="rId19" imgW="1338580" imgH="335915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57" y="701"/>
                          <a:ext cx="1885" cy="5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9810" name="Rectangle 146"/>
          <p:cNvSpPr/>
          <p:nvPr/>
        </p:nvSpPr>
        <p:spPr>
          <a:xfrm>
            <a:off x="107950" y="765175"/>
            <a:ext cx="381635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rPr>
              <a:t>坐标变量</a:t>
            </a:r>
          </a:p>
        </p:txBody>
      </p:sp>
      <p:pic>
        <p:nvPicPr>
          <p:cNvPr id="29727" name="Picture 4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1338" y="1728788"/>
            <a:ext cx="3770312" cy="3787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884" name="Rectangle 1220"/>
          <p:cNvSpPr/>
          <p:nvPr/>
        </p:nvSpPr>
        <p:spPr>
          <a:xfrm>
            <a:off x="107950" y="5516563"/>
            <a:ext cx="381635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rPr>
              <a:t>位置矢量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764" name="Group 100"/>
          <p:cNvGrpSpPr/>
          <p:nvPr/>
        </p:nvGrpSpPr>
        <p:grpSpPr>
          <a:xfrm>
            <a:off x="-160337" y="2924175"/>
            <a:ext cx="5380037" cy="576263"/>
            <a:chOff x="279" y="1956"/>
            <a:chExt cx="3341" cy="340"/>
          </a:xfrm>
        </p:grpSpPr>
        <p:graphicFrame>
          <p:nvGraphicFramePr>
            <p:cNvPr id="31746" name="Object 62"/>
            <p:cNvGraphicFramePr>
              <a:graphicFrameLocks noChangeAspect="1"/>
            </p:cNvGraphicFramePr>
            <p:nvPr/>
          </p:nvGraphicFramePr>
          <p:xfrm>
            <a:off x="1294" y="1978"/>
            <a:ext cx="232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668780" imgH="193040" progId="Equation.3">
                    <p:embed/>
                  </p:oleObj>
                </mc:Choice>
                <mc:Fallback>
                  <p:oleObj r:id="rId3" imgW="1668780" imgH="19304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94" y="1978"/>
                          <a:ext cx="2326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47" name="Text Box 92"/>
            <p:cNvSpPr txBox="1"/>
            <p:nvPr/>
          </p:nvSpPr>
          <p:spPr>
            <a:xfrm>
              <a:off x="279" y="1956"/>
              <a:ext cx="1188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u="sng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1748" name="AutoShape 127">
            <a:hlinkClick r:id="rId5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1749" name="AutoShape 128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1750" name="AutoShape 129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1751" name="AutoShape 130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1752" name="Object 140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11188" y="471488"/>
          <a:ext cx="2360612" cy="194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239770" imgH="2675255" progId="Visio.Drawing.11">
                  <p:embed/>
                </p:oleObj>
              </mc:Choice>
              <mc:Fallback>
                <p:oleObj r:id="rId6" imgW="3239770" imgH="2675255" progId="Visio.Drawing.11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1188" y="471488"/>
                        <a:ext cx="2360612" cy="1949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3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7838" y="0"/>
            <a:ext cx="3586162" cy="3644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4" name="Picture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3660775"/>
            <a:ext cx="3160713" cy="3197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5" name="Picture 4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3575" y="3651250"/>
            <a:ext cx="3240088" cy="32337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884" name="Rectangle 1220"/>
          <p:cNvSpPr/>
          <p:nvPr/>
        </p:nvSpPr>
        <p:spPr>
          <a:xfrm>
            <a:off x="179388" y="2492375"/>
            <a:ext cx="381635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rPr>
              <a:t>位移矢量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9727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077851"/>
              </p:ext>
            </p:extLst>
          </p:nvPr>
        </p:nvGraphicFramePr>
        <p:xfrm>
          <a:off x="2822576" y="1104107"/>
          <a:ext cx="3849687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31925" imgH="572770" progId="Equation.3">
                  <p:embed/>
                </p:oleObj>
              </mc:Choice>
              <mc:Fallback>
                <p:oleObj r:id="rId3" imgW="1431925" imgH="57277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22576" y="1104107"/>
                        <a:ext cx="3849687" cy="160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9763" name="Group 99"/>
          <p:cNvGrpSpPr/>
          <p:nvPr/>
        </p:nvGrpSpPr>
        <p:grpSpPr>
          <a:xfrm>
            <a:off x="250825" y="3022285"/>
            <a:ext cx="3997325" cy="469900"/>
            <a:chOff x="299" y="3497"/>
            <a:chExt cx="2518" cy="296"/>
          </a:xfrm>
        </p:grpSpPr>
        <p:graphicFrame>
          <p:nvGraphicFramePr>
            <p:cNvPr id="33795" name="Object 65"/>
            <p:cNvGraphicFramePr>
              <a:graphicFrameLocks noChangeAspect="1"/>
            </p:cNvGraphicFramePr>
            <p:nvPr/>
          </p:nvGraphicFramePr>
          <p:xfrm>
            <a:off x="1570" y="3566"/>
            <a:ext cx="124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97890" imgH="148590" progId="Equation.3">
                    <p:embed/>
                  </p:oleObj>
                </mc:Choice>
                <mc:Fallback>
                  <p:oleObj r:id="rId5" imgW="897890" imgH="14859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70" y="3566"/>
                          <a:ext cx="124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796" name="Text Box 93"/>
            <p:cNvSpPr txBox="1"/>
            <p:nvPr/>
          </p:nvSpPr>
          <p:spPr>
            <a:xfrm>
              <a:off x="299" y="3497"/>
              <a:ext cx="11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u="sng" dirty="0">
                  <a:solidFill>
                    <a:srgbClr val="FFB7B7"/>
                  </a:solidFill>
                  <a:latin typeface="Arial" panose="020B0604020202020204" pitchFamily="34" charset="0"/>
                  <a:ea typeface="楷体_GB2312" pitchFamily="49" charset="-122"/>
                </a:rPr>
                <a:t>体积元标量</a:t>
              </a:r>
            </a:p>
          </p:txBody>
        </p:sp>
      </p:grpSp>
      <p:sp>
        <p:nvSpPr>
          <p:cNvPr id="369758" name="Text Box 94"/>
          <p:cNvSpPr txBox="1"/>
          <p:nvPr/>
        </p:nvSpPr>
        <p:spPr>
          <a:xfrm>
            <a:off x="250825" y="557212"/>
            <a:ext cx="642143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u="sng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rPr>
              <a:t>面积元矢量</a:t>
            </a:r>
          </a:p>
        </p:txBody>
      </p:sp>
      <p:sp>
        <p:nvSpPr>
          <p:cNvPr id="33798" name="AutoShape 127">
            <a:hlinkClick r:id="rId7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3799" name="AutoShape 128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3800" name="AutoShape 129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3801" name="AutoShape 130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69798" name="Text Box 134"/>
          <p:cNvSpPr txBox="1"/>
          <p:nvPr/>
        </p:nvSpPr>
        <p:spPr>
          <a:xfrm>
            <a:off x="468313" y="1231504"/>
            <a:ext cx="2233612" cy="336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蓝色平面（圆柱体侧面）</a:t>
            </a:r>
          </a:p>
        </p:txBody>
      </p:sp>
      <p:sp>
        <p:nvSpPr>
          <p:cNvPr id="369799" name="Text Box 135"/>
          <p:cNvSpPr txBox="1"/>
          <p:nvPr/>
        </p:nvSpPr>
        <p:spPr>
          <a:xfrm>
            <a:off x="468313" y="2116892"/>
            <a:ext cx="2233612" cy="584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CC3399"/>
                </a:solidFill>
                <a:latin typeface="Times New Roman" panose="02020603050405020304" pitchFamily="18" charset="0"/>
                <a:ea typeface="楷体_GB2312" pitchFamily="49" charset="-122"/>
              </a:rPr>
              <a:t>粉紫色平面（圆柱体上顶面</a:t>
            </a:r>
            <a:r>
              <a:rPr lang="en-US" altLang="zh-CN" sz="1600" dirty="0">
                <a:solidFill>
                  <a:srgbClr val="CC3399"/>
                </a:solidFill>
                <a:latin typeface="Times New Roman" panose="02020603050405020304" pitchFamily="18" charset="0"/>
                <a:ea typeface="楷体_GB2312" pitchFamily="49" charset="-122"/>
              </a:rPr>
              <a:t>/</a:t>
            </a:r>
            <a:r>
              <a:rPr lang="zh-CN" altLang="en-US" sz="1600" dirty="0">
                <a:solidFill>
                  <a:srgbClr val="CC3399"/>
                </a:solidFill>
                <a:latin typeface="Times New Roman" panose="02020603050405020304" pitchFamily="18" charset="0"/>
                <a:ea typeface="楷体_GB2312" pitchFamily="49" charset="-122"/>
              </a:rPr>
              <a:t>下底面）</a:t>
            </a:r>
          </a:p>
        </p:txBody>
      </p:sp>
      <p:sp>
        <p:nvSpPr>
          <p:cNvPr id="369800" name="Text Box 136"/>
          <p:cNvSpPr txBox="1"/>
          <p:nvPr/>
        </p:nvSpPr>
        <p:spPr>
          <a:xfrm>
            <a:off x="488434" y="1689361"/>
            <a:ext cx="2233612" cy="336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B7B7"/>
                </a:solidFill>
                <a:latin typeface="Times New Roman" panose="02020603050405020304" pitchFamily="18" charset="0"/>
                <a:ea typeface="楷体_GB2312" pitchFamily="49" charset="-122"/>
              </a:rPr>
              <a:t>粉色平面</a:t>
            </a:r>
          </a:p>
        </p:txBody>
      </p:sp>
      <p:graphicFrame>
        <p:nvGraphicFramePr>
          <p:cNvPr id="33805" name="Object 140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11188" y="3933825"/>
          <a:ext cx="2360612" cy="194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239770" imgH="2675255" progId="Visio.Drawing.11">
                  <p:embed/>
                </p:oleObj>
              </mc:Choice>
              <mc:Fallback>
                <p:oleObj r:id="rId8" imgW="3239770" imgH="2675255" progId="Visio.Drawing.11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1188" y="3933825"/>
                        <a:ext cx="2360612" cy="1949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0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4312" y="2964250"/>
            <a:ext cx="3849688" cy="39207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810" name="Text Box 1146"/>
          <p:cNvSpPr txBox="1"/>
          <p:nvPr/>
        </p:nvSpPr>
        <p:spPr>
          <a:xfrm>
            <a:off x="179388" y="595313"/>
            <a:ext cx="259238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球坐标系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（略）</a:t>
            </a:r>
            <a:r>
              <a:rPr lang="zh-CN" alt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70829" name="Group 1165"/>
          <p:cNvGrpSpPr/>
          <p:nvPr/>
        </p:nvGrpSpPr>
        <p:grpSpPr>
          <a:xfrm>
            <a:off x="4932363" y="549275"/>
            <a:ext cx="3295650" cy="568325"/>
            <a:chOff x="204" y="1162"/>
            <a:chExt cx="2076" cy="358"/>
          </a:xfrm>
        </p:grpSpPr>
        <p:graphicFrame>
          <p:nvGraphicFramePr>
            <p:cNvPr id="35843" name="Object 1145"/>
            <p:cNvGraphicFramePr>
              <a:graphicFrameLocks noChangeAspect="1"/>
            </p:cNvGraphicFramePr>
            <p:nvPr/>
          </p:nvGraphicFramePr>
          <p:xfrm>
            <a:off x="1528" y="1162"/>
            <a:ext cx="752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01955" imgH="170815" progId="Equation.3">
                    <p:embed/>
                  </p:oleObj>
                </mc:Choice>
                <mc:Fallback>
                  <p:oleObj r:id="rId3" imgW="401955" imgH="170815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28" y="1162"/>
                          <a:ext cx="752" cy="3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4" name="Text Box 1159"/>
            <p:cNvSpPr txBox="1"/>
            <p:nvPr/>
          </p:nvSpPr>
          <p:spPr>
            <a:xfrm>
              <a:off x="204" y="1184"/>
              <a:ext cx="1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FFB7B7"/>
                  </a:solidFill>
                  <a:latin typeface="Arial" panose="020B0604020202020204" pitchFamily="34" charset="0"/>
                  <a:ea typeface="楷体_GB2312" pitchFamily="49" charset="-122"/>
                </a:rPr>
                <a:t>坐标单位矢量</a:t>
              </a:r>
            </a:p>
          </p:txBody>
        </p:sp>
      </p:grpSp>
      <p:grpSp>
        <p:nvGrpSpPr>
          <p:cNvPr id="370830" name="Group 1166"/>
          <p:cNvGrpSpPr/>
          <p:nvPr/>
        </p:nvGrpSpPr>
        <p:grpSpPr>
          <a:xfrm>
            <a:off x="34925" y="5491163"/>
            <a:ext cx="3500438" cy="931862"/>
            <a:chOff x="206" y="1404"/>
            <a:chExt cx="2245" cy="693"/>
          </a:xfrm>
        </p:grpSpPr>
        <p:graphicFrame>
          <p:nvGraphicFramePr>
            <p:cNvPr id="35846" name="Object 1127"/>
            <p:cNvGraphicFramePr>
              <a:graphicFrameLocks noChangeAspect="1"/>
            </p:cNvGraphicFramePr>
            <p:nvPr/>
          </p:nvGraphicFramePr>
          <p:xfrm>
            <a:off x="1084" y="1404"/>
            <a:ext cx="1367" cy="6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81380" imgH="418465" progId="Equation.3">
                    <p:embed/>
                  </p:oleObj>
                </mc:Choice>
                <mc:Fallback>
                  <p:oleObj r:id="rId5" imgW="881380" imgH="418465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84" y="1404"/>
                          <a:ext cx="1367" cy="6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7" name="Text Box 1160"/>
            <p:cNvSpPr txBox="1"/>
            <p:nvPr/>
          </p:nvSpPr>
          <p:spPr>
            <a:xfrm>
              <a:off x="206" y="1578"/>
              <a:ext cx="1156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u="sng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5848" name="Group 1204"/>
          <p:cNvGrpSpPr/>
          <p:nvPr/>
        </p:nvGrpSpPr>
        <p:grpSpPr>
          <a:xfrm>
            <a:off x="5364163" y="3573463"/>
            <a:ext cx="2879725" cy="2879725"/>
            <a:chOff x="3788" y="275"/>
            <a:chExt cx="1936" cy="1931"/>
          </a:xfrm>
        </p:grpSpPr>
        <p:grpSp>
          <p:nvGrpSpPr>
            <p:cNvPr id="35849" name="Group 1186"/>
            <p:cNvGrpSpPr/>
            <p:nvPr/>
          </p:nvGrpSpPr>
          <p:grpSpPr>
            <a:xfrm>
              <a:off x="3796" y="275"/>
              <a:ext cx="1910" cy="1931"/>
              <a:chOff x="3814" y="293"/>
              <a:chExt cx="1910" cy="1931"/>
            </a:xfrm>
          </p:grpSpPr>
          <p:grpSp>
            <p:nvGrpSpPr>
              <p:cNvPr id="35850" name="Group 1185"/>
              <p:cNvGrpSpPr/>
              <p:nvPr/>
            </p:nvGrpSpPr>
            <p:grpSpPr>
              <a:xfrm>
                <a:off x="3814" y="293"/>
                <a:ext cx="1910" cy="1905"/>
                <a:chOff x="3814" y="300"/>
                <a:chExt cx="1910" cy="1905"/>
              </a:xfrm>
            </p:grpSpPr>
            <p:sp>
              <p:nvSpPr>
                <p:cNvPr id="35851" name="Rectangle 1179"/>
                <p:cNvSpPr/>
                <p:nvPr/>
              </p:nvSpPr>
              <p:spPr>
                <a:xfrm>
                  <a:off x="3819" y="300"/>
                  <a:ext cx="1905" cy="1904"/>
                </a:xfrm>
                <a:prstGeom prst="rect">
                  <a:avLst/>
                </a:prstGeom>
                <a:solidFill>
                  <a:srgbClr val="CCFFFF"/>
                </a:solidFill>
                <a:ln w="15875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b="0" dirty="0">
                    <a:latin typeface="Arial" panose="020B0604020202020204" pitchFamily="34" charset="0"/>
                    <a:ea typeface="楷体_GB2312" pitchFamily="49" charset="-122"/>
                  </a:endParaRPr>
                </a:p>
              </p:txBody>
            </p:sp>
            <p:pic>
              <p:nvPicPr>
                <p:cNvPr id="35852" name="Picture 1180" descr="1-球坐标系1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15" y="301"/>
                  <a:ext cx="1882" cy="17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35853" name="Line 1182"/>
                <p:cNvSpPr/>
                <p:nvPr/>
              </p:nvSpPr>
              <p:spPr>
                <a:xfrm>
                  <a:off x="3861" y="2051"/>
                  <a:ext cx="1791" cy="0"/>
                </a:xfrm>
                <a:prstGeom prst="line">
                  <a:avLst/>
                </a:prstGeom>
                <a:ln w="15875" cap="flat" cmpd="sng">
                  <a:solidFill>
                    <a:srgbClr val="CCFF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54" name="Line 1183"/>
                <p:cNvSpPr/>
                <p:nvPr/>
              </p:nvSpPr>
              <p:spPr>
                <a:xfrm>
                  <a:off x="3814" y="300"/>
                  <a:ext cx="0" cy="1905"/>
                </a:xfrm>
                <a:prstGeom prst="line">
                  <a:avLst/>
                </a:prstGeom>
                <a:ln w="158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855" name="Rectangle 1184"/>
              <p:cNvSpPr/>
              <p:nvPr/>
            </p:nvSpPr>
            <p:spPr>
              <a:xfrm>
                <a:off x="4014" y="1998"/>
                <a:ext cx="1610" cy="2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marL="342900" indent="-342900" algn="ctr"/>
                <a:r>
                  <a:rPr lang="zh-CN" altLang="en-US" sz="1400" dirty="0">
                    <a:latin typeface="Arial" panose="020B0604020202020204" pitchFamily="34" charset="0"/>
                    <a:ea typeface="宋体" panose="02010600030101010101" pitchFamily="2" charset="-122"/>
                  </a:rPr>
                  <a:t>球坐标系</a:t>
                </a:r>
              </a:p>
            </p:txBody>
          </p:sp>
        </p:grpSp>
        <p:sp>
          <p:nvSpPr>
            <p:cNvPr id="35856" name="AutoShape 1188"/>
            <p:cNvSpPr/>
            <p:nvPr/>
          </p:nvSpPr>
          <p:spPr>
            <a:xfrm>
              <a:off x="4277" y="1897"/>
              <a:ext cx="703" cy="91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 cap="flat" cmpd="sng">
              <a:solidFill>
                <a:srgbClr val="CC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857" name="AutoShape 1190"/>
            <p:cNvSpPr/>
            <p:nvPr/>
          </p:nvSpPr>
          <p:spPr>
            <a:xfrm>
              <a:off x="3969" y="391"/>
              <a:ext cx="703" cy="91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 cap="flat" cmpd="sng">
              <a:solidFill>
                <a:srgbClr val="CC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858" name="AutoShape 1191"/>
            <p:cNvSpPr/>
            <p:nvPr/>
          </p:nvSpPr>
          <p:spPr>
            <a:xfrm>
              <a:off x="3815" y="935"/>
              <a:ext cx="544" cy="91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 cap="flat" cmpd="sng">
              <a:solidFill>
                <a:srgbClr val="CC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35859" name="Object 1193"/>
            <p:cNvGraphicFramePr>
              <a:graphicFrameLocks noChangeAspect="1"/>
            </p:cNvGraphicFramePr>
            <p:nvPr/>
          </p:nvGraphicFramePr>
          <p:xfrm>
            <a:off x="4095" y="1836"/>
            <a:ext cx="409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302895" imgH="160020" progId="Equation.3">
                    <p:embed/>
                  </p:oleObj>
                </mc:Choice>
                <mc:Fallback>
                  <p:oleObj r:id="rId8" imgW="302895" imgH="16002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095" y="1836"/>
                          <a:ext cx="409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0" name="Text Box 1197"/>
            <p:cNvSpPr txBox="1"/>
            <p:nvPr/>
          </p:nvSpPr>
          <p:spPr>
            <a:xfrm>
              <a:off x="4413" y="1859"/>
              <a:ext cx="680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（</a:t>
              </a:r>
              <a:r>
                <a:rPr lang="zh-CN" altLang="en-US" sz="1400" dirty="0">
                  <a:latin typeface="Arial" panose="020B0604020202020204" pitchFamily="34" charset="0"/>
                  <a:ea typeface="宋体" panose="02010600030101010101" pitchFamily="2" charset="-122"/>
                </a:rPr>
                <a:t>半平面</a:t>
              </a:r>
              <a:r>
                <a:rPr lang="zh-CN" altLang="en-US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）</a:t>
              </a:r>
            </a:p>
          </p:txBody>
        </p:sp>
        <p:graphicFrame>
          <p:nvGraphicFramePr>
            <p:cNvPr id="35861" name="Object 1198"/>
            <p:cNvGraphicFramePr>
              <a:graphicFrameLocks noChangeAspect="1"/>
            </p:cNvGraphicFramePr>
            <p:nvPr/>
          </p:nvGraphicFramePr>
          <p:xfrm>
            <a:off x="3833" y="300"/>
            <a:ext cx="42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13690" imgH="160020" progId="Equation.3">
                    <p:embed/>
                  </p:oleObj>
                </mc:Choice>
                <mc:Fallback>
                  <p:oleObj r:id="rId10" imgW="313690" imgH="16002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833" y="300"/>
                          <a:ext cx="422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2" name="Text Box 1199"/>
            <p:cNvSpPr txBox="1"/>
            <p:nvPr/>
          </p:nvSpPr>
          <p:spPr>
            <a:xfrm>
              <a:off x="4150" y="299"/>
              <a:ext cx="680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（</a:t>
              </a:r>
              <a:r>
                <a:rPr lang="zh-CN" altLang="en-US" sz="1400" dirty="0">
                  <a:latin typeface="Arial" panose="020B0604020202020204" pitchFamily="34" charset="0"/>
                  <a:ea typeface="宋体" panose="02010600030101010101" pitchFamily="2" charset="-122"/>
                </a:rPr>
                <a:t>圆锥面</a:t>
              </a:r>
              <a:r>
                <a:rPr lang="zh-CN" altLang="en-US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）</a:t>
              </a:r>
            </a:p>
          </p:txBody>
        </p:sp>
        <p:graphicFrame>
          <p:nvGraphicFramePr>
            <p:cNvPr id="35863" name="Object 1200"/>
            <p:cNvGraphicFramePr>
              <a:graphicFrameLocks noChangeAspect="1"/>
            </p:cNvGraphicFramePr>
            <p:nvPr/>
          </p:nvGraphicFramePr>
          <p:xfrm>
            <a:off x="3880" y="745"/>
            <a:ext cx="369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69875" imgH="160020" progId="Equation.3">
                    <p:embed/>
                  </p:oleObj>
                </mc:Choice>
                <mc:Fallback>
                  <p:oleObj r:id="rId12" imgW="269875" imgH="16002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880" y="745"/>
                          <a:ext cx="369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4" name="Text Box 1201"/>
            <p:cNvSpPr txBox="1"/>
            <p:nvPr/>
          </p:nvSpPr>
          <p:spPr>
            <a:xfrm>
              <a:off x="3788" y="879"/>
              <a:ext cx="680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（</a:t>
              </a:r>
              <a:r>
                <a:rPr lang="zh-CN" altLang="en-US" sz="1400" dirty="0">
                  <a:latin typeface="Arial" panose="020B0604020202020204" pitchFamily="34" charset="0"/>
                  <a:ea typeface="宋体" panose="02010600030101010101" pitchFamily="2" charset="-122"/>
                </a:rPr>
                <a:t>球面</a:t>
              </a:r>
              <a:r>
                <a:rPr lang="zh-CN" altLang="en-US" sz="1400" b="0" dirty="0">
                  <a:latin typeface="Arial" panose="020B0604020202020204" pitchFamily="34" charset="0"/>
                  <a:ea typeface="宋体" panose="02010600030101010101" pitchFamily="2" charset="-122"/>
                </a:rPr>
                <a:t>）</a:t>
              </a:r>
            </a:p>
          </p:txBody>
        </p:sp>
        <p:sp>
          <p:nvSpPr>
            <p:cNvPr id="35865" name="Rectangle 1202"/>
            <p:cNvSpPr/>
            <p:nvPr/>
          </p:nvSpPr>
          <p:spPr>
            <a:xfrm>
              <a:off x="5211" y="1071"/>
              <a:ext cx="453" cy="136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CC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35866" name="Object 1203"/>
            <p:cNvGraphicFramePr/>
            <p:nvPr/>
          </p:nvGraphicFramePr>
          <p:xfrm>
            <a:off x="5166" y="1042"/>
            <a:ext cx="55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600710" imgH="160020" progId="Equation.3">
                    <p:embed/>
                  </p:oleObj>
                </mc:Choice>
                <mc:Fallback>
                  <p:oleObj r:id="rId14" imgW="600710" imgH="16002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166" y="1042"/>
                          <a:ext cx="558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67" name="AutoShape 1205">
            <a:hlinkClick r:id="rId16" action="ppaction://hlinksldjump"/>
          </p:cNvPr>
          <p:cNvSpPr/>
          <p:nvPr/>
        </p:nvSpPr>
        <p:spPr>
          <a:xfrm>
            <a:off x="7537450" y="6524625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5868" name="AutoShape 1206">
            <a:hlinkClick r:id="" action="ppaction://hlinkshowjump?jump=previousslide"/>
          </p:cNvPr>
          <p:cNvSpPr/>
          <p:nvPr/>
        </p:nvSpPr>
        <p:spPr>
          <a:xfrm>
            <a:off x="7954963" y="6524625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5869" name="AutoShape 1207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5870" name="AutoShape 1208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5871" name="Object 1216"/>
          <p:cNvGraphicFramePr>
            <a:graphicFrameLocks noGrp="1" noChangeAspect="1"/>
          </p:cNvGraphicFramePr>
          <p:nvPr>
            <p:ph idx="4294967295"/>
          </p:nvPr>
        </p:nvGraphicFramePr>
        <p:xfrm>
          <a:off x="5364163" y="1052513"/>
          <a:ext cx="2868612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3206115" imgH="2799715" progId="Visio.Drawing.11">
                  <p:embed/>
                </p:oleObj>
              </mc:Choice>
              <mc:Fallback>
                <p:oleObj r:id="rId17" imgW="3206115" imgH="2799715" progId="Visio.Drawing.11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64163" y="1052513"/>
                        <a:ext cx="2868612" cy="25082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0881" name="Group 1217"/>
          <p:cNvGrpSpPr/>
          <p:nvPr/>
        </p:nvGrpSpPr>
        <p:grpSpPr>
          <a:xfrm>
            <a:off x="755650" y="1052513"/>
            <a:ext cx="3903663" cy="852487"/>
            <a:chOff x="271" y="690"/>
            <a:chExt cx="2459" cy="537"/>
          </a:xfrm>
        </p:grpSpPr>
        <p:sp>
          <p:nvSpPr>
            <p:cNvPr id="35873" name="Text Box 1218"/>
            <p:cNvSpPr txBox="1"/>
            <p:nvPr/>
          </p:nvSpPr>
          <p:spPr>
            <a:xfrm>
              <a:off x="271" y="799"/>
              <a:ext cx="12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35874" name="Object 1219"/>
            <p:cNvGraphicFramePr>
              <a:graphicFrameLocks noChangeAspect="1"/>
            </p:cNvGraphicFramePr>
            <p:nvPr/>
          </p:nvGraphicFramePr>
          <p:xfrm>
            <a:off x="867" y="690"/>
            <a:ext cx="1863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322070" imgH="352425" progId="Equation.3">
                    <p:embed/>
                  </p:oleObj>
                </mc:Choice>
                <mc:Fallback>
                  <p:oleObj r:id="rId19" imgW="1322070" imgH="352425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67" y="690"/>
                          <a:ext cx="1863" cy="5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0884" name="Rectangle 1220"/>
          <p:cNvSpPr/>
          <p:nvPr/>
        </p:nvSpPr>
        <p:spPr>
          <a:xfrm>
            <a:off x="107950" y="981075"/>
            <a:ext cx="381635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rPr>
              <a:t>坐标变量</a:t>
            </a:r>
          </a:p>
        </p:txBody>
      </p:sp>
      <p:sp>
        <p:nvSpPr>
          <p:cNvPr id="2" name="Rectangle 1220"/>
          <p:cNvSpPr/>
          <p:nvPr/>
        </p:nvSpPr>
        <p:spPr>
          <a:xfrm>
            <a:off x="0" y="5445125"/>
            <a:ext cx="381635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rPr>
              <a:t>位置矢量</a:t>
            </a:r>
          </a:p>
        </p:txBody>
      </p:sp>
      <p:pic>
        <p:nvPicPr>
          <p:cNvPr id="35877" name="Picture 4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9300" y="1916113"/>
            <a:ext cx="3414713" cy="3533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1205">
            <a:hlinkClick r:id="rId3" action="ppaction://hlinksldjump"/>
          </p:cNvPr>
          <p:cNvSpPr/>
          <p:nvPr/>
        </p:nvSpPr>
        <p:spPr>
          <a:xfrm>
            <a:off x="7537450" y="6524625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890" name="AutoShape 1206">
            <a:hlinkClick r:id="" action="ppaction://hlinkshowjump?jump=previousslide"/>
          </p:cNvPr>
          <p:cNvSpPr/>
          <p:nvPr/>
        </p:nvSpPr>
        <p:spPr>
          <a:xfrm>
            <a:off x="7954963" y="6524625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891" name="AutoShape 1207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892" name="AutoShape 1208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7893" name="Object 1216"/>
          <p:cNvGraphicFramePr>
            <a:graphicFrameLocks noGrp="1" noChangeAspect="1"/>
          </p:cNvGraphicFramePr>
          <p:nvPr>
            <p:ph sz="half" idx="1"/>
          </p:nvPr>
        </p:nvGraphicFramePr>
        <p:xfrm>
          <a:off x="2051050" y="633413"/>
          <a:ext cx="2868613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206115" imgH="2799715" progId="Visio.Drawing.11">
                  <p:embed/>
                </p:oleObj>
              </mc:Choice>
              <mc:Fallback>
                <p:oleObj r:id="rId4" imgW="3206115" imgH="2799715" progId="Visio.Drawing.11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51050" y="633413"/>
                        <a:ext cx="2868613" cy="25082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0885" name="Group 1221"/>
          <p:cNvGrpSpPr/>
          <p:nvPr/>
        </p:nvGrpSpPr>
        <p:grpSpPr>
          <a:xfrm>
            <a:off x="-757237" y="3406775"/>
            <a:ext cx="5772150" cy="598488"/>
            <a:chOff x="279" y="1956"/>
            <a:chExt cx="3585" cy="353"/>
          </a:xfrm>
        </p:grpSpPr>
        <p:graphicFrame>
          <p:nvGraphicFramePr>
            <p:cNvPr id="37895" name="Object 1222"/>
            <p:cNvGraphicFramePr>
              <a:graphicFrameLocks noChangeAspect="1"/>
            </p:cNvGraphicFramePr>
            <p:nvPr/>
          </p:nvGraphicFramePr>
          <p:xfrm>
            <a:off x="1052" y="1965"/>
            <a:ext cx="2812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026920" imgH="209550" progId="Equation.3">
                    <p:embed/>
                  </p:oleObj>
                </mc:Choice>
                <mc:Fallback>
                  <p:oleObj r:id="rId6" imgW="2026920" imgH="20955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2" y="1965"/>
                          <a:ext cx="2812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6" name="Text Box 1223"/>
            <p:cNvSpPr txBox="1"/>
            <p:nvPr/>
          </p:nvSpPr>
          <p:spPr>
            <a:xfrm>
              <a:off x="279" y="1956"/>
              <a:ext cx="1188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70884" name="Rectangle 1220"/>
          <p:cNvSpPr/>
          <p:nvPr/>
        </p:nvSpPr>
        <p:spPr>
          <a:xfrm>
            <a:off x="179388" y="2708275"/>
            <a:ext cx="381635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rPr>
              <a:t>位移矢量</a:t>
            </a:r>
          </a:p>
        </p:txBody>
      </p:sp>
      <p:pic>
        <p:nvPicPr>
          <p:cNvPr id="37898" name="Picture 5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488" y="0"/>
            <a:ext cx="3973512" cy="4265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9" name="Picture 6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8" y="4233863"/>
            <a:ext cx="2581275" cy="2636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900" name="Picture 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9475" y="4246563"/>
            <a:ext cx="2584450" cy="2636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901" name="Picture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8613" y="4279900"/>
            <a:ext cx="2463800" cy="2565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832" name="Group 1168"/>
          <p:cNvGrpSpPr/>
          <p:nvPr/>
        </p:nvGrpSpPr>
        <p:grpSpPr>
          <a:xfrm>
            <a:off x="152400" y="3078163"/>
            <a:ext cx="4562475" cy="457200"/>
            <a:chOff x="232" y="3505"/>
            <a:chExt cx="2874" cy="288"/>
          </a:xfrm>
        </p:grpSpPr>
        <p:graphicFrame>
          <p:nvGraphicFramePr>
            <p:cNvPr id="39939" name="Object 1142"/>
            <p:cNvGraphicFramePr>
              <a:graphicFrameLocks noChangeAspect="1"/>
            </p:cNvGraphicFramePr>
            <p:nvPr/>
          </p:nvGraphicFramePr>
          <p:xfrm>
            <a:off x="1434" y="3533"/>
            <a:ext cx="1672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184275" imgH="170815" progId="Equation.3">
                    <p:embed/>
                  </p:oleObj>
                </mc:Choice>
                <mc:Fallback>
                  <p:oleObj r:id="rId3" imgW="1184275" imgH="170815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34" y="3533"/>
                          <a:ext cx="1672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0" name="Text Box 1162"/>
            <p:cNvSpPr txBox="1"/>
            <p:nvPr/>
          </p:nvSpPr>
          <p:spPr>
            <a:xfrm>
              <a:off x="232" y="3505"/>
              <a:ext cx="11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u="sng" dirty="0">
                  <a:solidFill>
                    <a:srgbClr val="FFB7B7"/>
                  </a:solidFill>
                  <a:latin typeface="Arial" panose="020B0604020202020204" pitchFamily="34" charset="0"/>
                  <a:ea typeface="楷体_GB2312" pitchFamily="49" charset="-122"/>
                </a:rPr>
                <a:t>体积元标量</a:t>
              </a:r>
              <a:endParaRPr lang="en-US" altLang="zh-CN" u="sng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70827" name="Text Box 1163"/>
          <p:cNvSpPr txBox="1"/>
          <p:nvPr/>
        </p:nvSpPr>
        <p:spPr>
          <a:xfrm>
            <a:off x="107950" y="404813"/>
            <a:ext cx="64801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u="sng" dirty="0">
                <a:solidFill>
                  <a:srgbClr val="FFB7B7"/>
                </a:solidFill>
                <a:latin typeface="Arial" panose="020B0604020202020204" pitchFamily="34" charset="0"/>
                <a:ea typeface="楷体_GB2312" pitchFamily="49" charset="-122"/>
              </a:rPr>
              <a:t>面积元矢量</a:t>
            </a:r>
          </a:p>
        </p:txBody>
      </p:sp>
      <p:sp>
        <p:nvSpPr>
          <p:cNvPr id="39942" name="AutoShape 1205">
            <a:hlinkClick r:id="rId5" action="ppaction://hlinksldjump"/>
          </p:cNvPr>
          <p:cNvSpPr/>
          <p:nvPr/>
        </p:nvSpPr>
        <p:spPr>
          <a:xfrm>
            <a:off x="7537450" y="6524625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9943" name="AutoShape 1206">
            <a:hlinkClick r:id="" action="ppaction://hlinkshowjump?jump=previousslide"/>
          </p:cNvPr>
          <p:cNvSpPr/>
          <p:nvPr/>
        </p:nvSpPr>
        <p:spPr>
          <a:xfrm>
            <a:off x="7954963" y="6524625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9944" name="AutoShape 1207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9945" name="AutoShape 1208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0876" name="Text Box 1212"/>
          <p:cNvSpPr txBox="1"/>
          <p:nvPr/>
        </p:nvSpPr>
        <p:spPr>
          <a:xfrm>
            <a:off x="250825" y="1062038"/>
            <a:ext cx="288101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蓝色平面（球体的球面）</a:t>
            </a:r>
          </a:p>
        </p:txBody>
      </p:sp>
      <p:sp>
        <p:nvSpPr>
          <p:cNvPr id="370877" name="Text Box 1213"/>
          <p:cNvSpPr txBox="1"/>
          <p:nvPr/>
        </p:nvSpPr>
        <p:spPr>
          <a:xfrm>
            <a:off x="250825" y="1633062"/>
            <a:ext cx="2233613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CC3399"/>
                </a:solidFill>
                <a:latin typeface="Times New Roman" panose="02020603050405020304" pitchFamily="18" charset="0"/>
                <a:ea typeface="楷体_GB2312" pitchFamily="49" charset="-122"/>
              </a:rPr>
              <a:t>粉紫色平面</a:t>
            </a:r>
          </a:p>
        </p:txBody>
      </p:sp>
      <p:sp>
        <p:nvSpPr>
          <p:cNvPr id="370878" name="Text Box 1214"/>
          <p:cNvSpPr txBox="1"/>
          <p:nvPr/>
        </p:nvSpPr>
        <p:spPr>
          <a:xfrm>
            <a:off x="275775" y="2178209"/>
            <a:ext cx="2233612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B7B7"/>
                </a:solidFill>
                <a:latin typeface="Times New Roman" panose="02020603050405020304" pitchFamily="18" charset="0"/>
                <a:ea typeface="楷体_GB2312" pitchFamily="49" charset="-122"/>
              </a:rPr>
              <a:t>粉色平面</a:t>
            </a:r>
          </a:p>
        </p:txBody>
      </p:sp>
      <p:graphicFrame>
        <p:nvGraphicFramePr>
          <p:cNvPr id="39949" name="Object 1216"/>
          <p:cNvGraphicFramePr>
            <a:graphicFrameLocks noGrp="1" noChangeAspect="1"/>
          </p:cNvGraphicFramePr>
          <p:nvPr>
            <p:ph idx="4294967295"/>
          </p:nvPr>
        </p:nvGraphicFramePr>
        <p:xfrm>
          <a:off x="1042988" y="4005263"/>
          <a:ext cx="2868612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206115" imgH="2799715" progId="Visio.Drawing.11">
                  <p:embed/>
                </p:oleObj>
              </mc:Choice>
              <mc:Fallback>
                <p:oleObj r:id="rId6" imgW="3206115" imgH="2799715" progId="Visio.Drawing.11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2988" y="4005263"/>
                        <a:ext cx="2868612" cy="25082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950" name="Picture 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6235" y="2997200"/>
            <a:ext cx="3797300" cy="4076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1800" y="989648"/>
            <a:ext cx="4243705" cy="17545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80" name="Rectangle 44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79387" y="476250"/>
            <a:ext cx="5286375" cy="431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4.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坐标单位矢量之间的关系（略）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 </a:t>
            </a:r>
          </a:p>
        </p:txBody>
      </p:sp>
      <p:sp>
        <p:nvSpPr>
          <p:cNvPr id="372840" name="Rectangle 104"/>
          <p:cNvSpPr/>
          <p:nvPr/>
        </p:nvSpPr>
        <p:spPr>
          <a:xfrm>
            <a:off x="1835150" y="1340768"/>
            <a:ext cx="4321175" cy="1585913"/>
          </a:xfrm>
          <a:prstGeom prst="rect">
            <a:avLst/>
          </a:prstGeom>
          <a:solidFill>
            <a:srgbClr val="C7E3FF"/>
          </a:solidFill>
          <a:ln w="9525" cap="flat" cmpd="sng">
            <a:solidFill>
              <a:srgbClr val="DA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73030" name="Group 2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562277"/>
              </p:ext>
            </p:extLst>
          </p:nvPr>
        </p:nvGraphicFramePr>
        <p:xfrm>
          <a:off x="1901825" y="1413793"/>
          <a:ext cx="4183063" cy="1439864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73194" name="Group 458"/>
          <p:cNvGrpSpPr/>
          <p:nvPr/>
        </p:nvGrpSpPr>
        <p:grpSpPr>
          <a:xfrm>
            <a:off x="2051050" y="1413793"/>
            <a:ext cx="3617913" cy="1447800"/>
            <a:chOff x="1292" y="754"/>
            <a:chExt cx="2279" cy="912"/>
          </a:xfrm>
        </p:grpSpPr>
        <p:graphicFrame>
          <p:nvGraphicFramePr>
            <p:cNvPr id="42015" name="Object 169"/>
            <p:cNvGraphicFramePr/>
            <p:nvPr/>
          </p:nvGraphicFramePr>
          <p:xfrm>
            <a:off x="1832" y="754"/>
            <a:ext cx="183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65100" imgH="241300" progId="Equation.3">
                    <p:embed/>
                  </p:oleObj>
                </mc:Choice>
                <mc:Fallback>
                  <p:oleObj r:id="rId3" imgW="165100" imgH="2413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32" y="754"/>
                          <a:ext cx="183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6" name="Object 171"/>
            <p:cNvGraphicFramePr/>
            <p:nvPr/>
          </p:nvGraphicFramePr>
          <p:xfrm>
            <a:off x="2668" y="754"/>
            <a:ext cx="18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77800" imgH="266065" progId="Equation.3">
                    <p:embed/>
                  </p:oleObj>
                </mc:Choice>
                <mc:Fallback>
                  <p:oleObj r:id="rId5" imgW="177800" imgH="266065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68" y="754"/>
                          <a:ext cx="186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7" name="Object 173"/>
            <p:cNvGraphicFramePr/>
            <p:nvPr/>
          </p:nvGraphicFramePr>
          <p:xfrm>
            <a:off x="3401" y="754"/>
            <a:ext cx="17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65100" imgH="241300" progId="Equation.3">
                    <p:embed/>
                  </p:oleObj>
                </mc:Choice>
                <mc:Fallback>
                  <p:oleObj r:id="rId7" imgW="165100" imgH="2413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01" y="754"/>
                          <a:ext cx="17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8" name="Object 174"/>
            <p:cNvGraphicFramePr/>
            <p:nvPr/>
          </p:nvGraphicFramePr>
          <p:xfrm>
            <a:off x="1292" y="965"/>
            <a:ext cx="18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77800" imgH="253365" progId="Equation.3">
                    <p:embed/>
                  </p:oleObj>
                </mc:Choice>
                <mc:Fallback>
                  <p:oleObj r:id="rId9" imgW="177800" imgH="253365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92" y="965"/>
                          <a:ext cx="184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9" name="Object 175"/>
            <p:cNvGraphicFramePr>
              <a:graphicFrameLocks noChangeAspect="1"/>
            </p:cNvGraphicFramePr>
            <p:nvPr/>
          </p:nvGraphicFramePr>
          <p:xfrm>
            <a:off x="1292" y="1188"/>
            <a:ext cx="171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65100" imgH="254000" progId="Equation.3">
                    <p:embed/>
                  </p:oleObj>
                </mc:Choice>
                <mc:Fallback>
                  <p:oleObj r:id="rId11" imgW="165100" imgH="2540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92" y="1188"/>
                          <a:ext cx="171" cy="2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0" name="Object 176"/>
            <p:cNvGraphicFramePr>
              <a:graphicFrameLocks noChangeAspect="1"/>
            </p:cNvGraphicFramePr>
            <p:nvPr/>
          </p:nvGraphicFramePr>
          <p:xfrm>
            <a:off x="1298" y="1413"/>
            <a:ext cx="172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65100" imgH="241300" progId="Equation.3">
                    <p:embed/>
                  </p:oleObj>
                </mc:Choice>
                <mc:Fallback>
                  <p:oleObj r:id="rId13" imgW="165100" imgH="2413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98" y="1413"/>
                          <a:ext cx="172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1" name="Object 180"/>
            <p:cNvGraphicFramePr>
              <a:graphicFrameLocks noChangeAspect="1"/>
            </p:cNvGraphicFramePr>
            <p:nvPr/>
          </p:nvGraphicFramePr>
          <p:xfrm>
            <a:off x="1714" y="987"/>
            <a:ext cx="40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393065" imgH="215900" progId="Equation.3">
                    <p:embed/>
                  </p:oleObj>
                </mc:Choice>
                <mc:Fallback>
                  <p:oleObj r:id="rId15" imgW="393065" imgH="2159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714" y="987"/>
                          <a:ext cx="408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2" name="Object 181"/>
            <p:cNvGraphicFramePr>
              <a:graphicFrameLocks noChangeAspect="1"/>
            </p:cNvGraphicFramePr>
            <p:nvPr/>
          </p:nvGraphicFramePr>
          <p:xfrm>
            <a:off x="2525" y="1000"/>
            <a:ext cx="383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368300" imgH="215900" progId="Equation.3">
                    <p:embed/>
                  </p:oleObj>
                </mc:Choice>
                <mc:Fallback>
                  <p:oleObj r:id="rId17" imgW="368300" imgH="2159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525" y="1000"/>
                          <a:ext cx="383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3" name="Object 182"/>
            <p:cNvGraphicFramePr>
              <a:graphicFrameLocks noChangeAspect="1"/>
            </p:cNvGraphicFramePr>
            <p:nvPr/>
          </p:nvGraphicFramePr>
          <p:xfrm>
            <a:off x="3421" y="1013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27000" imgH="190500" progId="Equation.3">
                    <p:embed/>
                  </p:oleObj>
                </mc:Choice>
                <mc:Fallback>
                  <p:oleObj r:id="rId19" imgW="127000" imgH="1905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421" y="1013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4" name="Object 186"/>
            <p:cNvGraphicFramePr>
              <a:graphicFrameLocks noChangeAspect="1"/>
            </p:cNvGraphicFramePr>
            <p:nvPr/>
          </p:nvGraphicFramePr>
          <p:xfrm>
            <a:off x="2517" y="1222"/>
            <a:ext cx="40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393065" imgH="215900" progId="Equation.3">
                    <p:embed/>
                  </p:oleObj>
                </mc:Choice>
                <mc:Fallback>
                  <p:oleObj r:id="rId21" imgW="393065" imgH="2159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517" y="1222"/>
                          <a:ext cx="408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5" name="Object 187"/>
            <p:cNvGraphicFramePr>
              <a:graphicFrameLocks noChangeAspect="1"/>
            </p:cNvGraphicFramePr>
            <p:nvPr/>
          </p:nvGraphicFramePr>
          <p:xfrm>
            <a:off x="1655" y="1229"/>
            <a:ext cx="51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494665" imgH="215900" progId="Equation.3">
                    <p:embed/>
                  </p:oleObj>
                </mc:Choice>
                <mc:Fallback>
                  <p:oleObj r:id="rId23" imgW="494665" imgH="2159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655" y="1229"/>
                          <a:ext cx="516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6" name="Object 188"/>
            <p:cNvGraphicFramePr>
              <a:graphicFrameLocks noChangeAspect="1"/>
            </p:cNvGraphicFramePr>
            <p:nvPr/>
          </p:nvGraphicFramePr>
          <p:xfrm>
            <a:off x="3427" y="1227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127000" imgH="190500" progId="Equation.3">
                    <p:embed/>
                  </p:oleObj>
                </mc:Choice>
                <mc:Fallback>
                  <p:oleObj r:id="rId25" imgW="127000" imgH="1905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427" y="1227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7" name="Object 189"/>
            <p:cNvGraphicFramePr>
              <a:graphicFrameLocks noChangeAspect="1"/>
            </p:cNvGraphicFramePr>
            <p:nvPr/>
          </p:nvGraphicFramePr>
          <p:xfrm>
            <a:off x="1832" y="1464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127000" imgH="190500" progId="Equation.3">
                    <p:embed/>
                  </p:oleObj>
                </mc:Choice>
                <mc:Fallback>
                  <p:oleObj r:id="rId27" imgW="127000" imgH="1905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832" y="1464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8" name="Object 190"/>
            <p:cNvGraphicFramePr>
              <a:graphicFrameLocks noChangeAspect="1"/>
            </p:cNvGraphicFramePr>
            <p:nvPr/>
          </p:nvGraphicFramePr>
          <p:xfrm>
            <a:off x="2659" y="1461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127000" imgH="190500" progId="Equation.3">
                    <p:embed/>
                  </p:oleObj>
                </mc:Choice>
                <mc:Fallback>
                  <p:oleObj r:id="rId28" imgW="127000" imgH="1905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659" y="1461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9" name="Object 192"/>
            <p:cNvGraphicFramePr>
              <a:graphicFrameLocks noChangeAspect="1"/>
            </p:cNvGraphicFramePr>
            <p:nvPr/>
          </p:nvGraphicFramePr>
          <p:xfrm>
            <a:off x="3443" y="1435"/>
            <a:ext cx="105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9" imgW="101600" imgH="177800" progId="Equation.3">
                    <p:embed/>
                  </p:oleObj>
                </mc:Choice>
                <mc:Fallback>
                  <p:oleObj r:id="rId29" imgW="101600" imgH="1778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443" y="1435"/>
                          <a:ext cx="105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2929" name="Rectangle 193"/>
          <p:cNvSpPr/>
          <p:nvPr/>
        </p:nvSpPr>
        <p:spPr>
          <a:xfrm>
            <a:off x="107950" y="1629693"/>
            <a:ext cx="1728788" cy="792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直角坐标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</a:p>
          <a:p>
            <a:pPr marL="342900" indent="-342900"/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圆柱坐标系</a:t>
            </a:r>
          </a:p>
        </p:txBody>
      </p:sp>
      <p:sp>
        <p:nvSpPr>
          <p:cNvPr id="372979" name="Rectangle 243"/>
          <p:cNvSpPr/>
          <p:nvPr/>
        </p:nvSpPr>
        <p:spPr>
          <a:xfrm>
            <a:off x="1835150" y="3067968"/>
            <a:ext cx="4321175" cy="1585913"/>
          </a:xfrm>
          <a:prstGeom prst="rect">
            <a:avLst/>
          </a:prstGeom>
          <a:solidFill>
            <a:srgbClr val="C7E3FF"/>
          </a:solidFill>
          <a:ln w="9525" cap="flat" cmpd="sng">
            <a:solidFill>
              <a:srgbClr val="DA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73031" name="Group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822066"/>
              </p:ext>
            </p:extLst>
          </p:nvPr>
        </p:nvGraphicFramePr>
        <p:xfrm>
          <a:off x="1906588" y="3142581"/>
          <a:ext cx="4183062" cy="1439861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73195" name="Group 459"/>
          <p:cNvGrpSpPr/>
          <p:nvPr/>
        </p:nvGrpSpPr>
        <p:grpSpPr>
          <a:xfrm>
            <a:off x="2039938" y="3133056"/>
            <a:ext cx="3900487" cy="1468437"/>
            <a:chOff x="1285" y="1837"/>
            <a:chExt cx="2457" cy="925"/>
          </a:xfrm>
        </p:grpSpPr>
        <p:graphicFrame>
          <p:nvGraphicFramePr>
            <p:cNvPr id="42060" name="Object 271"/>
            <p:cNvGraphicFramePr/>
            <p:nvPr/>
          </p:nvGraphicFramePr>
          <p:xfrm>
            <a:off x="1825" y="1837"/>
            <a:ext cx="19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1" imgW="177800" imgH="253365" progId="Equation.3">
                    <p:embed/>
                  </p:oleObj>
                </mc:Choice>
                <mc:Fallback>
                  <p:oleObj r:id="rId31" imgW="177800" imgH="253365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825" y="1837"/>
                          <a:ext cx="197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61" name="Object 272"/>
            <p:cNvGraphicFramePr/>
            <p:nvPr/>
          </p:nvGraphicFramePr>
          <p:xfrm>
            <a:off x="2674" y="1849"/>
            <a:ext cx="173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3" imgW="165100" imgH="254000" progId="Equation.3">
                    <p:embed/>
                  </p:oleObj>
                </mc:Choice>
                <mc:Fallback>
                  <p:oleObj r:id="rId33" imgW="165100" imgH="2540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2674" y="1849"/>
                          <a:ext cx="173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62" name="Object 273"/>
            <p:cNvGraphicFramePr/>
            <p:nvPr/>
          </p:nvGraphicFramePr>
          <p:xfrm>
            <a:off x="3401" y="1843"/>
            <a:ext cx="17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5" imgW="165100" imgH="241300" progId="Equation.3">
                    <p:embed/>
                  </p:oleObj>
                </mc:Choice>
                <mc:Fallback>
                  <p:oleObj r:id="rId35" imgW="165100" imgH="2413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01" y="1843"/>
                          <a:ext cx="17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63" name="Object 274"/>
            <p:cNvGraphicFramePr/>
            <p:nvPr/>
          </p:nvGraphicFramePr>
          <p:xfrm>
            <a:off x="1298" y="2060"/>
            <a:ext cx="17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6" imgW="165100" imgH="241300" progId="Equation.3">
                    <p:embed/>
                  </p:oleObj>
                </mc:Choice>
                <mc:Fallback>
                  <p:oleObj r:id="rId36" imgW="165100" imgH="2413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1298" y="2060"/>
                          <a:ext cx="171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64" name="Object 275"/>
            <p:cNvGraphicFramePr>
              <a:graphicFrameLocks noChangeAspect="1"/>
            </p:cNvGraphicFramePr>
            <p:nvPr/>
          </p:nvGraphicFramePr>
          <p:xfrm>
            <a:off x="1285" y="2284"/>
            <a:ext cx="185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8" imgW="177800" imgH="241300" progId="Equation.3">
                    <p:embed/>
                  </p:oleObj>
                </mc:Choice>
                <mc:Fallback>
                  <p:oleObj r:id="rId38" imgW="177800" imgH="24130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1285" y="2284"/>
                          <a:ext cx="185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65" name="Object 276"/>
            <p:cNvGraphicFramePr>
              <a:graphicFrameLocks noChangeAspect="1"/>
            </p:cNvGraphicFramePr>
            <p:nvPr/>
          </p:nvGraphicFramePr>
          <p:xfrm>
            <a:off x="1298" y="2496"/>
            <a:ext cx="1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0" imgW="165100" imgH="254000" progId="Equation.3">
                    <p:embed/>
                  </p:oleObj>
                </mc:Choice>
                <mc:Fallback>
                  <p:oleObj r:id="rId40" imgW="165100" imgH="2540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1298" y="2496"/>
                          <a:ext cx="172" cy="2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66" name="Object 277"/>
            <p:cNvGraphicFramePr>
              <a:graphicFrameLocks noChangeAspect="1"/>
            </p:cNvGraphicFramePr>
            <p:nvPr/>
          </p:nvGraphicFramePr>
          <p:xfrm>
            <a:off x="1727" y="2089"/>
            <a:ext cx="381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2" imgW="368300" imgH="190500" progId="Equation.3">
                    <p:embed/>
                  </p:oleObj>
                </mc:Choice>
                <mc:Fallback>
                  <p:oleObj r:id="rId42" imgW="368300" imgH="1905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1727" y="2089"/>
                          <a:ext cx="381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67" name="Object 278"/>
            <p:cNvGraphicFramePr>
              <a:graphicFrameLocks noChangeAspect="1"/>
            </p:cNvGraphicFramePr>
            <p:nvPr/>
          </p:nvGraphicFramePr>
          <p:xfrm>
            <a:off x="2657" y="2102"/>
            <a:ext cx="132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4" imgW="127000" imgH="190500" progId="Equation.3">
                    <p:embed/>
                  </p:oleObj>
                </mc:Choice>
                <mc:Fallback>
                  <p:oleObj r:id="rId44" imgW="127000" imgH="1905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657" y="2102"/>
                          <a:ext cx="132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68" name="Object 279"/>
            <p:cNvGraphicFramePr>
              <a:graphicFrameLocks noChangeAspect="1"/>
            </p:cNvGraphicFramePr>
            <p:nvPr/>
          </p:nvGraphicFramePr>
          <p:xfrm>
            <a:off x="3283" y="2102"/>
            <a:ext cx="40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5" imgW="393700" imgH="190500" progId="Equation.3">
                    <p:embed/>
                  </p:oleObj>
                </mc:Choice>
                <mc:Fallback>
                  <p:oleObj r:id="rId45" imgW="393700" imgH="19050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3283" y="2102"/>
                          <a:ext cx="409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69" name="Object 280"/>
            <p:cNvGraphicFramePr>
              <a:graphicFrameLocks noChangeAspect="1"/>
            </p:cNvGraphicFramePr>
            <p:nvPr/>
          </p:nvGraphicFramePr>
          <p:xfrm>
            <a:off x="3215" y="2296"/>
            <a:ext cx="52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7" imgW="508000" imgH="190500" progId="Equation.3">
                    <p:embed/>
                  </p:oleObj>
                </mc:Choice>
                <mc:Fallback>
                  <p:oleObj r:id="rId47" imgW="508000" imgH="1905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3215" y="2296"/>
                          <a:ext cx="527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70" name="Object 281"/>
            <p:cNvGraphicFramePr>
              <a:graphicFrameLocks noChangeAspect="1"/>
            </p:cNvGraphicFramePr>
            <p:nvPr/>
          </p:nvGraphicFramePr>
          <p:xfrm>
            <a:off x="1708" y="2315"/>
            <a:ext cx="41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9" imgW="393700" imgH="190500" progId="Equation.3">
                    <p:embed/>
                  </p:oleObj>
                </mc:Choice>
                <mc:Fallback>
                  <p:oleObj r:id="rId49" imgW="393700" imgH="1905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1708" y="2315"/>
                          <a:ext cx="41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71" name="Object 282"/>
            <p:cNvGraphicFramePr>
              <a:graphicFrameLocks noChangeAspect="1"/>
            </p:cNvGraphicFramePr>
            <p:nvPr/>
          </p:nvGraphicFramePr>
          <p:xfrm>
            <a:off x="2653" y="2296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1" imgW="127000" imgH="190500" progId="Equation.3">
                    <p:embed/>
                  </p:oleObj>
                </mc:Choice>
                <mc:Fallback>
                  <p:oleObj r:id="rId51" imgW="127000" imgH="1905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653" y="2296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72" name="Object 283"/>
            <p:cNvGraphicFramePr>
              <a:graphicFrameLocks noChangeAspect="1"/>
            </p:cNvGraphicFramePr>
            <p:nvPr/>
          </p:nvGraphicFramePr>
          <p:xfrm>
            <a:off x="1832" y="2529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2" imgW="127000" imgH="190500" progId="Equation.3">
                    <p:embed/>
                  </p:oleObj>
                </mc:Choice>
                <mc:Fallback>
                  <p:oleObj r:id="rId52" imgW="127000" imgH="1905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832" y="2529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73" name="Object 284"/>
            <p:cNvGraphicFramePr>
              <a:graphicFrameLocks noChangeAspect="1"/>
            </p:cNvGraphicFramePr>
            <p:nvPr/>
          </p:nvGraphicFramePr>
          <p:xfrm>
            <a:off x="3419" y="2534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3" imgW="127000" imgH="190500" progId="Equation.3">
                    <p:embed/>
                  </p:oleObj>
                </mc:Choice>
                <mc:Fallback>
                  <p:oleObj r:id="rId53" imgW="127000" imgH="1905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419" y="2534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74" name="Object 285"/>
            <p:cNvGraphicFramePr>
              <a:graphicFrameLocks noChangeAspect="1"/>
            </p:cNvGraphicFramePr>
            <p:nvPr/>
          </p:nvGraphicFramePr>
          <p:xfrm>
            <a:off x="2669" y="2539"/>
            <a:ext cx="105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4" imgW="101600" imgH="177800" progId="Equation.3">
                    <p:embed/>
                  </p:oleObj>
                </mc:Choice>
                <mc:Fallback>
                  <p:oleObj r:id="rId54" imgW="101600" imgH="1778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669" y="2539"/>
                          <a:ext cx="105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3022" name="Rectangle 286"/>
          <p:cNvSpPr/>
          <p:nvPr/>
        </p:nvSpPr>
        <p:spPr>
          <a:xfrm>
            <a:off x="109538" y="3358481"/>
            <a:ext cx="1728787" cy="7921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圆柱坐标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</a:p>
          <a:p>
            <a:pPr marL="342900" indent="-342900"/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球坐标系</a:t>
            </a:r>
          </a:p>
        </p:txBody>
      </p:sp>
      <p:sp>
        <p:nvSpPr>
          <p:cNvPr id="373032" name="Rectangle 296"/>
          <p:cNvSpPr/>
          <p:nvPr/>
        </p:nvSpPr>
        <p:spPr>
          <a:xfrm>
            <a:off x="1835150" y="4868193"/>
            <a:ext cx="4321175" cy="1585913"/>
          </a:xfrm>
          <a:prstGeom prst="rect">
            <a:avLst/>
          </a:prstGeom>
          <a:solidFill>
            <a:srgbClr val="C7E3FF"/>
          </a:solidFill>
          <a:ln w="9525" cap="flat" cmpd="sng">
            <a:solidFill>
              <a:srgbClr val="DA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73092" name="Group 3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97119"/>
              </p:ext>
            </p:extLst>
          </p:nvPr>
        </p:nvGraphicFramePr>
        <p:xfrm>
          <a:off x="1908175" y="4942806"/>
          <a:ext cx="4183063" cy="1439861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3075" name="Rectangle 339"/>
          <p:cNvSpPr/>
          <p:nvPr/>
        </p:nvSpPr>
        <p:spPr>
          <a:xfrm>
            <a:off x="109538" y="5157118"/>
            <a:ext cx="1728787" cy="792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直角坐标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</a:p>
          <a:p>
            <a:pPr marL="342900" indent="-342900"/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球坐标系</a:t>
            </a:r>
          </a:p>
        </p:txBody>
      </p:sp>
      <p:grpSp>
        <p:nvGrpSpPr>
          <p:cNvPr id="373193" name="Group 457"/>
          <p:cNvGrpSpPr/>
          <p:nvPr/>
        </p:nvGrpSpPr>
        <p:grpSpPr>
          <a:xfrm>
            <a:off x="2039938" y="4941218"/>
            <a:ext cx="4043362" cy="1458913"/>
            <a:chOff x="1285" y="2976"/>
            <a:chExt cx="2547" cy="919"/>
          </a:xfrm>
        </p:grpSpPr>
        <p:graphicFrame>
          <p:nvGraphicFramePr>
            <p:cNvPr id="42106" name="Object 326"/>
            <p:cNvGraphicFramePr/>
            <p:nvPr/>
          </p:nvGraphicFramePr>
          <p:xfrm>
            <a:off x="3491" y="2976"/>
            <a:ext cx="17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5" imgW="165100" imgH="241300" progId="Equation.3">
                    <p:embed/>
                  </p:oleObj>
                </mc:Choice>
                <mc:Fallback>
                  <p:oleObj r:id="rId55" imgW="165100" imgH="2413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91" y="2976"/>
                          <a:ext cx="17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07" name="Object 327"/>
            <p:cNvGraphicFramePr/>
            <p:nvPr/>
          </p:nvGraphicFramePr>
          <p:xfrm>
            <a:off x="1298" y="3193"/>
            <a:ext cx="17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6" imgW="165100" imgH="241300" progId="Equation.3">
                    <p:embed/>
                  </p:oleObj>
                </mc:Choice>
                <mc:Fallback>
                  <p:oleObj r:id="rId56" imgW="165100" imgH="2413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57"/>
                        <a:stretch>
                          <a:fillRect/>
                        </a:stretch>
                      </p:blipFill>
                      <p:spPr>
                        <a:xfrm>
                          <a:off x="1298" y="3193"/>
                          <a:ext cx="171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08" name="Object 328"/>
            <p:cNvGraphicFramePr>
              <a:graphicFrameLocks noChangeAspect="1"/>
            </p:cNvGraphicFramePr>
            <p:nvPr/>
          </p:nvGraphicFramePr>
          <p:xfrm>
            <a:off x="1285" y="3417"/>
            <a:ext cx="185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8" imgW="177800" imgH="241300" progId="Equation.3">
                    <p:embed/>
                  </p:oleObj>
                </mc:Choice>
                <mc:Fallback>
                  <p:oleObj r:id="rId58" imgW="177800" imgH="2413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59"/>
                        <a:stretch>
                          <a:fillRect/>
                        </a:stretch>
                      </p:blipFill>
                      <p:spPr>
                        <a:xfrm>
                          <a:off x="1285" y="3417"/>
                          <a:ext cx="185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09" name="Object 329"/>
            <p:cNvGraphicFramePr>
              <a:graphicFrameLocks noChangeAspect="1"/>
            </p:cNvGraphicFramePr>
            <p:nvPr/>
          </p:nvGraphicFramePr>
          <p:xfrm>
            <a:off x="1298" y="3629"/>
            <a:ext cx="1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0" imgW="165100" imgH="254000" progId="Equation.3">
                    <p:embed/>
                  </p:oleObj>
                </mc:Choice>
                <mc:Fallback>
                  <p:oleObj r:id="rId60" imgW="165100" imgH="2540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61"/>
                        <a:stretch>
                          <a:fillRect/>
                        </a:stretch>
                      </p:blipFill>
                      <p:spPr>
                        <a:xfrm>
                          <a:off x="1298" y="3629"/>
                          <a:ext cx="172" cy="2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10" name="Object 330"/>
            <p:cNvGraphicFramePr>
              <a:graphicFrameLocks noChangeAspect="1"/>
            </p:cNvGraphicFramePr>
            <p:nvPr/>
          </p:nvGraphicFramePr>
          <p:xfrm>
            <a:off x="1573" y="3209"/>
            <a:ext cx="76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2" imgW="735965" imgH="215900" progId="Equation.3">
                    <p:embed/>
                  </p:oleObj>
                </mc:Choice>
                <mc:Fallback>
                  <p:oleObj r:id="rId62" imgW="735965" imgH="2159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63"/>
                        <a:stretch>
                          <a:fillRect/>
                        </a:stretch>
                      </p:blipFill>
                      <p:spPr>
                        <a:xfrm>
                          <a:off x="1573" y="3209"/>
                          <a:ext cx="762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11" name="Object 332"/>
            <p:cNvGraphicFramePr>
              <a:graphicFrameLocks noChangeAspect="1"/>
            </p:cNvGraphicFramePr>
            <p:nvPr/>
          </p:nvGraphicFramePr>
          <p:xfrm>
            <a:off x="3373" y="3235"/>
            <a:ext cx="40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4" imgW="393700" imgH="190500" progId="Equation.3">
                    <p:embed/>
                  </p:oleObj>
                </mc:Choice>
                <mc:Fallback>
                  <p:oleObj r:id="rId64" imgW="393700" imgH="190500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65"/>
                        <a:stretch>
                          <a:fillRect/>
                        </a:stretch>
                      </p:blipFill>
                      <p:spPr>
                        <a:xfrm>
                          <a:off x="3373" y="3235"/>
                          <a:ext cx="409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12" name="Object 333"/>
            <p:cNvGraphicFramePr>
              <a:graphicFrameLocks noChangeAspect="1"/>
            </p:cNvGraphicFramePr>
            <p:nvPr/>
          </p:nvGraphicFramePr>
          <p:xfrm>
            <a:off x="3305" y="3429"/>
            <a:ext cx="52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6" imgW="508000" imgH="190500" progId="Equation.3">
                    <p:embed/>
                  </p:oleObj>
                </mc:Choice>
                <mc:Fallback>
                  <p:oleObj r:id="rId66" imgW="508000" imgH="19050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67"/>
                        <a:stretch>
                          <a:fillRect/>
                        </a:stretch>
                      </p:blipFill>
                      <p:spPr>
                        <a:xfrm>
                          <a:off x="3305" y="3429"/>
                          <a:ext cx="527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13" name="Object 334"/>
            <p:cNvGraphicFramePr>
              <a:graphicFrameLocks noChangeAspect="1"/>
            </p:cNvGraphicFramePr>
            <p:nvPr/>
          </p:nvGraphicFramePr>
          <p:xfrm>
            <a:off x="1563" y="3446"/>
            <a:ext cx="78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8" imgW="786765" imgH="203200" progId="Equation.3">
                    <p:embed/>
                  </p:oleObj>
                </mc:Choice>
                <mc:Fallback>
                  <p:oleObj r:id="rId68" imgW="786765" imgH="2032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69"/>
                        <a:stretch>
                          <a:fillRect/>
                        </a:stretch>
                      </p:blipFill>
                      <p:spPr>
                        <a:xfrm>
                          <a:off x="1563" y="3446"/>
                          <a:ext cx="789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14" name="Object 337"/>
            <p:cNvGraphicFramePr>
              <a:graphicFrameLocks noChangeAspect="1"/>
            </p:cNvGraphicFramePr>
            <p:nvPr/>
          </p:nvGraphicFramePr>
          <p:xfrm>
            <a:off x="3509" y="3667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0" imgW="127000" imgH="190500" progId="Equation.3">
                    <p:embed/>
                  </p:oleObj>
                </mc:Choice>
                <mc:Fallback>
                  <p:oleObj r:id="rId70" imgW="127000" imgH="190500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509" y="3667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15" name="Object 340"/>
            <p:cNvGraphicFramePr/>
            <p:nvPr/>
          </p:nvGraphicFramePr>
          <p:xfrm>
            <a:off x="1812" y="2984"/>
            <a:ext cx="183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1" imgW="165100" imgH="241300" progId="Equation.3">
                    <p:embed/>
                  </p:oleObj>
                </mc:Choice>
                <mc:Fallback>
                  <p:oleObj r:id="rId71" imgW="165100" imgH="2413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12" y="2984"/>
                          <a:ext cx="183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16" name="Object 341"/>
            <p:cNvGraphicFramePr/>
            <p:nvPr/>
          </p:nvGraphicFramePr>
          <p:xfrm>
            <a:off x="2648" y="2984"/>
            <a:ext cx="18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2" imgW="177800" imgH="266065" progId="Equation.3">
                    <p:embed/>
                  </p:oleObj>
                </mc:Choice>
                <mc:Fallback>
                  <p:oleObj r:id="rId72" imgW="177800" imgH="266065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48" y="2984"/>
                          <a:ext cx="186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17" name="Object 349"/>
            <p:cNvGraphicFramePr>
              <a:graphicFrameLocks noChangeAspect="1"/>
            </p:cNvGraphicFramePr>
            <p:nvPr/>
          </p:nvGraphicFramePr>
          <p:xfrm>
            <a:off x="2508" y="3220"/>
            <a:ext cx="73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3" imgW="711200" imgH="215900" progId="Equation.3">
                    <p:embed/>
                  </p:oleObj>
                </mc:Choice>
                <mc:Fallback>
                  <p:oleObj r:id="rId73" imgW="711200" imgH="2159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74"/>
                        <a:stretch>
                          <a:fillRect/>
                        </a:stretch>
                      </p:blipFill>
                      <p:spPr>
                        <a:xfrm>
                          <a:off x="2508" y="3220"/>
                          <a:ext cx="735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18" name="Object 352"/>
            <p:cNvGraphicFramePr>
              <a:graphicFrameLocks noChangeAspect="1"/>
            </p:cNvGraphicFramePr>
            <p:nvPr/>
          </p:nvGraphicFramePr>
          <p:xfrm>
            <a:off x="2481" y="3430"/>
            <a:ext cx="76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5" imgW="735965" imgH="215900" progId="Equation.3">
                    <p:embed/>
                  </p:oleObj>
                </mc:Choice>
                <mc:Fallback>
                  <p:oleObj r:id="rId75" imgW="735965" imgH="2159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76"/>
                        <a:stretch>
                          <a:fillRect/>
                        </a:stretch>
                      </p:blipFill>
                      <p:spPr>
                        <a:xfrm>
                          <a:off x="2481" y="3430"/>
                          <a:ext cx="762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19" name="Object 354"/>
            <p:cNvGraphicFramePr>
              <a:graphicFrameLocks noChangeAspect="1"/>
            </p:cNvGraphicFramePr>
            <p:nvPr/>
          </p:nvGraphicFramePr>
          <p:xfrm>
            <a:off x="2653" y="3651"/>
            <a:ext cx="40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7" imgW="393065" imgH="215900" progId="Equation.3">
                    <p:embed/>
                  </p:oleObj>
                </mc:Choice>
                <mc:Fallback>
                  <p:oleObj r:id="rId77" imgW="393065" imgH="2159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653" y="3651"/>
                          <a:ext cx="408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20" name="Object 355"/>
            <p:cNvGraphicFramePr>
              <a:graphicFrameLocks noChangeAspect="1"/>
            </p:cNvGraphicFramePr>
            <p:nvPr/>
          </p:nvGraphicFramePr>
          <p:xfrm>
            <a:off x="1700" y="3658"/>
            <a:ext cx="51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8" imgW="494665" imgH="215900" progId="Equation.3">
                    <p:embed/>
                  </p:oleObj>
                </mc:Choice>
                <mc:Fallback>
                  <p:oleObj r:id="rId78" imgW="494665" imgH="215900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700" y="3658"/>
                          <a:ext cx="516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3192" name="Group 456"/>
          <p:cNvGrpSpPr/>
          <p:nvPr/>
        </p:nvGrpSpPr>
        <p:grpSpPr>
          <a:xfrm>
            <a:off x="6321425" y="3429000"/>
            <a:ext cx="2700338" cy="3011488"/>
            <a:chOff x="3982" y="2160"/>
            <a:chExt cx="1701" cy="1897"/>
          </a:xfrm>
        </p:grpSpPr>
        <p:sp>
          <p:nvSpPr>
            <p:cNvPr id="42122" name="Rectangle 56"/>
            <p:cNvSpPr/>
            <p:nvPr/>
          </p:nvSpPr>
          <p:spPr>
            <a:xfrm>
              <a:off x="3982" y="2243"/>
              <a:ext cx="1701" cy="181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DA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2123" name="AutoShape 357"/>
            <p:cNvSpPr>
              <a:spLocks noChangeAspect="1" noTextEdit="1"/>
            </p:cNvSpPr>
            <p:nvPr/>
          </p:nvSpPr>
          <p:spPr>
            <a:xfrm>
              <a:off x="4065" y="2160"/>
              <a:ext cx="1550" cy="18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2124" name="Rectangle 362"/>
            <p:cNvSpPr/>
            <p:nvPr/>
          </p:nvSpPr>
          <p:spPr>
            <a:xfrm>
              <a:off x="4139" y="3435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21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25" name="Freeform 363"/>
            <p:cNvSpPr>
              <a:spLocks noEditPoints="1"/>
            </p:cNvSpPr>
            <p:nvPr/>
          </p:nvSpPr>
          <p:spPr>
            <a:xfrm>
              <a:off x="4235" y="2390"/>
              <a:ext cx="41" cy="1147"/>
            </a:xfrm>
            <a:custGeom>
              <a:avLst/>
              <a:gdLst/>
              <a:ahLst/>
              <a:cxnLst>
                <a:cxn ang="0">
                  <a:pos x="11" y="1147"/>
                </a:cxn>
                <a:cxn ang="0">
                  <a:pos x="11" y="49"/>
                </a:cxn>
                <a:cxn ang="0">
                  <a:pos x="30" y="49"/>
                </a:cxn>
                <a:cxn ang="0">
                  <a:pos x="28" y="1147"/>
                </a:cxn>
                <a:cxn ang="0">
                  <a:pos x="11" y="1147"/>
                </a:cxn>
                <a:cxn ang="0">
                  <a:pos x="0" y="60"/>
                </a:cxn>
                <a:cxn ang="0">
                  <a:pos x="20" y="0"/>
                </a:cxn>
                <a:cxn ang="0">
                  <a:pos x="41" y="60"/>
                </a:cxn>
                <a:cxn ang="0">
                  <a:pos x="0" y="60"/>
                </a:cxn>
              </a:cxnLst>
              <a:rect l="0" t="0" r="0" b="0"/>
              <a:pathLst>
                <a:path w="41" h="1147">
                  <a:moveTo>
                    <a:pt x="11" y="1147"/>
                  </a:moveTo>
                  <a:lnTo>
                    <a:pt x="11" y="49"/>
                  </a:lnTo>
                  <a:lnTo>
                    <a:pt x="30" y="49"/>
                  </a:lnTo>
                  <a:lnTo>
                    <a:pt x="28" y="1147"/>
                  </a:lnTo>
                  <a:lnTo>
                    <a:pt x="11" y="1147"/>
                  </a:lnTo>
                  <a:close/>
                  <a:moveTo>
                    <a:pt x="0" y="60"/>
                  </a:moveTo>
                  <a:lnTo>
                    <a:pt x="20" y="0"/>
                  </a:lnTo>
                  <a:lnTo>
                    <a:pt x="41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0000FF"/>
            </a:solidFill>
            <a:ln w="15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6" name="Freeform 364"/>
            <p:cNvSpPr>
              <a:spLocks noEditPoints="1"/>
            </p:cNvSpPr>
            <p:nvPr/>
          </p:nvSpPr>
          <p:spPr>
            <a:xfrm>
              <a:off x="4255" y="3519"/>
              <a:ext cx="1221" cy="40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170" y="11"/>
                </a:cxn>
                <a:cxn ang="0">
                  <a:pos x="1170" y="29"/>
                </a:cxn>
                <a:cxn ang="0">
                  <a:pos x="0" y="29"/>
                </a:cxn>
                <a:cxn ang="0">
                  <a:pos x="0" y="12"/>
                </a:cxn>
                <a:cxn ang="0">
                  <a:pos x="1160" y="0"/>
                </a:cxn>
                <a:cxn ang="0">
                  <a:pos x="1221" y="19"/>
                </a:cxn>
                <a:cxn ang="0">
                  <a:pos x="1160" y="40"/>
                </a:cxn>
                <a:cxn ang="0">
                  <a:pos x="1160" y="0"/>
                </a:cxn>
              </a:cxnLst>
              <a:rect l="0" t="0" r="0" b="0"/>
              <a:pathLst>
                <a:path w="1221" h="40">
                  <a:moveTo>
                    <a:pt x="0" y="12"/>
                  </a:moveTo>
                  <a:lnTo>
                    <a:pt x="1170" y="11"/>
                  </a:lnTo>
                  <a:lnTo>
                    <a:pt x="1170" y="29"/>
                  </a:lnTo>
                  <a:lnTo>
                    <a:pt x="0" y="29"/>
                  </a:lnTo>
                  <a:lnTo>
                    <a:pt x="0" y="12"/>
                  </a:lnTo>
                  <a:close/>
                  <a:moveTo>
                    <a:pt x="1160" y="0"/>
                  </a:moveTo>
                  <a:lnTo>
                    <a:pt x="1221" y="19"/>
                  </a:lnTo>
                  <a:lnTo>
                    <a:pt x="1160" y="40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0000FF"/>
            </a:solidFill>
            <a:ln w="15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7" name="Freeform 365"/>
            <p:cNvSpPr/>
            <p:nvPr/>
          </p:nvSpPr>
          <p:spPr>
            <a:xfrm>
              <a:off x="4552" y="2472"/>
              <a:ext cx="785" cy="782"/>
            </a:xfrm>
            <a:custGeom>
              <a:avLst/>
              <a:gdLst/>
              <a:ahLst/>
              <a:cxnLst>
                <a:cxn ang="0">
                  <a:pos x="352" y="3"/>
                </a:cxn>
                <a:cxn ang="0">
                  <a:pos x="293" y="13"/>
                </a:cxn>
                <a:cxn ang="0">
                  <a:pos x="240" y="32"/>
                </a:cxn>
                <a:cxn ang="0">
                  <a:pos x="189" y="57"/>
                </a:cxn>
                <a:cxn ang="0">
                  <a:pos x="142" y="90"/>
                </a:cxn>
                <a:cxn ang="0">
                  <a:pos x="101" y="129"/>
                </a:cxn>
                <a:cxn ang="0">
                  <a:pos x="67" y="173"/>
                </a:cxn>
                <a:cxn ang="0">
                  <a:pos x="38" y="222"/>
                </a:cxn>
                <a:cxn ang="0">
                  <a:pos x="17" y="276"/>
                </a:cxn>
                <a:cxn ang="0">
                  <a:pos x="4" y="332"/>
                </a:cxn>
                <a:cxn ang="0">
                  <a:pos x="0" y="391"/>
                </a:cxn>
                <a:cxn ang="0">
                  <a:pos x="4" y="451"/>
                </a:cxn>
                <a:cxn ang="0">
                  <a:pos x="17" y="508"/>
                </a:cxn>
                <a:cxn ang="0">
                  <a:pos x="38" y="561"/>
                </a:cxn>
                <a:cxn ang="0">
                  <a:pos x="67" y="610"/>
                </a:cxn>
                <a:cxn ang="0">
                  <a:pos x="101" y="655"/>
                </a:cxn>
                <a:cxn ang="0">
                  <a:pos x="142" y="693"/>
                </a:cxn>
                <a:cxn ang="0">
                  <a:pos x="189" y="726"/>
                </a:cxn>
                <a:cxn ang="0">
                  <a:pos x="240" y="752"/>
                </a:cxn>
                <a:cxn ang="0">
                  <a:pos x="293" y="770"/>
                </a:cxn>
                <a:cxn ang="0">
                  <a:pos x="352" y="781"/>
                </a:cxn>
                <a:cxn ang="0">
                  <a:pos x="413" y="782"/>
                </a:cxn>
                <a:cxn ang="0">
                  <a:pos x="471" y="775"/>
                </a:cxn>
                <a:cxn ang="0">
                  <a:pos x="527" y="759"/>
                </a:cxn>
                <a:cxn ang="0">
                  <a:pos x="579" y="735"/>
                </a:cxn>
                <a:cxn ang="0">
                  <a:pos x="627" y="704"/>
                </a:cxn>
                <a:cxn ang="0">
                  <a:pos x="670" y="668"/>
                </a:cxn>
                <a:cxn ang="0">
                  <a:pos x="706" y="625"/>
                </a:cxn>
                <a:cxn ang="0">
                  <a:pos x="738" y="578"/>
                </a:cxn>
                <a:cxn ang="0">
                  <a:pos x="761" y="526"/>
                </a:cxn>
                <a:cxn ang="0">
                  <a:pos x="777" y="470"/>
                </a:cxn>
                <a:cxn ang="0">
                  <a:pos x="784" y="412"/>
                </a:cxn>
                <a:cxn ang="0">
                  <a:pos x="783" y="351"/>
                </a:cxn>
                <a:cxn ang="0">
                  <a:pos x="772" y="294"/>
                </a:cxn>
                <a:cxn ang="0">
                  <a:pos x="754" y="239"/>
                </a:cxn>
                <a:cxn ang="0">
                  <a:pos x="728" y="188"/>
                </a:cxn>
                <a:cxn ang="0">
                  <a:pos x="695" y="143"/>
                </a:cxn>
                <a:cxn ang="0">
                  <a:pos x="656" y="102"/>
                </a:cxn>
                <a:cxn ang="0">
                  <a:pos x="611" y="67"/>
                </a:cxn>
                <a:cxn ang="0">
                  <a:pos x="562" y="39"/>
                </a:cxn>
                <a:cxn ang="0">
                  <a:pos x="509" y="18"/>
                </a:cxn>
                <a:cxn ang="0">
                  <a:pos x="452" y="5"/>
                </a:cxn>
                <a:cxn ang="0">
                  <a:pos x="392" y="0"/>
                </a:cxn>
              </a:cxnLst>
              <a:rect l="0" t="0" r="0" b="0"/>
              <a:pathLst>
                <a:path w="785" h="782">
                  <a:moveTo>
                    <a:pt x="392" y="0"/>
                  </a:moveTo>
                  <a:lnTo>
                    <a:pt x="371" y="1"/>
                  </a:lnTo>
                  <a:lnTo>
                    <a:pt x="352" y="3"/>
                  </a:lnTo>
                  <a:lnTo>
                    <a:pt x="332" y="5"/>
                  </a:lnTo>
                  <a:lnTo>
                    <a:pt x="313" y="9"/>
                  </a:lnTo>
                  <a:lnTo>
                    <a:pt x="293" y="13"/>
                  </a:lnTo>
                  <a:lnTo>
                    <a:pt x="275" y="18"/>
                  </a:lnTo>
                  <a:lnTo>
                    <a:pt x="257" y="24"/>
                  </a:lnTo>
                  <a:lnTo>
                    <a:pt x="240" y="32"/>
                  </a:lnTo>
                  <a:lnTo>
                    <a:pt x="222" y="39"/>
                  </a:lnTo>
                  <a:lnTo>
                    <a:pt x="204" y="47"/>
                  </a:lnTo>
                  <a:lnTo>
                    <a:pt x="189" y="57"/>
                  </a:lnTo>
                  <a:lnTo>
                    <a:pt x="173" y="67"/>
                  </a:lnTo>
                  <a:lnTo>
                    <a:pt x="157" y="78"/>
                  </a:lnTo>
                  <a:lnTo>
                    <a:pt x="142" y="90"/>
                  </a:lnTo>
                  <a:lnTo>
                    <a:pt x="128" y="102"/>
                  </a:lnTo>
                  <a:lnTo>
                    <a:pt x="114" y="115"/>
                  </a:lnTo>
                  <a:lnTo>
                    <a:pt x="101" y="129"/>
                  </a:lnTo>
                  <a:lnTo>
                    <a:pt x="89" y="143"/>
                  </a:lnTo>
                  <a:lnTo>
                    <a:pt x="78" y="158"/>
                  </a:lnTo>
                  <a:lnTo>
                    <a:pt x="67" y="173"/>
                  </a:lnTo>
                  <a:lnTo>
                    <a:pt x="56" y="188"/>
                  </a:lnTo>
                  <a:lnTo>
                    <a:pt x="46" y="205"/>
                  </a:lnTo>
                  <a:lnTo>
                    <a:pt x="38" y="222"/>
                  </a:lnTo>
                  <a:lnTo>
                    <a:pt x="30" y="239"/>
                  </a:lnTo>
                  <a:lnTo>
                    <a:pt x="23" y="258"/>
                  </a:lnTo>
                  <a:lnTo>
                    <a:pt x="17" y="276"/>
                  </a:lnTo>
                  <a:lnTo>
                    <a:pt x="12" y="294"/>
                  </a:lnTo>
                  <a:lnTo>
                    <a:pt x="7" y="312"/>
                  </a:lnTo>
                  <a:lnTo>
                    <a:pt x="4" y="332"/>
                  </a:lnTo>
                  <a:lnTo>
                    <a:pt x="1" y="351"/>
                  </a:lnTo>
                  <a:lnTo>
                    <a:pt x="0" y="372"/>
                  </a:lnTo>
                  <a:lnTo>
                    <a:pt x="0" y="391"/>
                  </a:lnTo>
                  <a:lnTo>
                    <a:pt x="0" y="412"/>
                  </a:lnTo>
                  <a:lnTo>
                    <a:pt x="1" y="431"/>
                  </a:lnTo>
                  <a:lnTo>
                    <a:pt x="4" y="451"/>
                  </a:lnTo>
                  <a:lnTo>
                    <a:pt x="7" y="470"/>
                  </a:lnTo>
                  <a:lnTo>
                    <a:pt x="12" y="489"/>
                  </a:lnTo>
                  <a:lnTo>
                    <a:pt x="17" y="508"/>
                  </a:lnTo>
                  <a:lnTo>
                    <a:pt x="23" y="526"/>
                  </a:lnTo>
                  <a:lnTo>
                    <a:pt x="30" y="544"/>
                  </a:lnTo>
                  <a:lnTo>
                    <a:pt x="38" y="561"/>
                  </a:lnTo>
                  <a:lnTo>
                    <a:pt x="46" y="578"/>
                  </a:lnTo>
                  <a:lnTo>
                    <a:pt x="56" y="594"/>
                  </a:lnTo>
                  <a:lnTo>
                    <a:pt x="67" y="610"/>
                  </a:lnTo>
                  <a:lnTo>
                    <a:pt x="78" y="625"/>
                  </a:lnTo>
                  <a:lnTo>
                    <a:pt x="89" y="640"/>
                  </a:lnTo>
                  <a:lnTo>
                    <a:pt x="101" y="655"/>
                  </a:lnTo>
                  <a:lnTo>
                    <a:pt x="114" y="668"/>
                  </a:lnTo>
                  <a:lnTo>
                    <a:pt x="128" y="681"/>
                  </a:lnTo>
                  <a:lnTo>
                    <a:pt x="142" y="693"/>
                  </a:lnTo>
                  <a:lnTo>
                    <a:pt x="157" y="704"/>
                  </a:lnTo>
                  <a:lnTo>
                    <a:pt x="173" y="715"/>
                  </a:lnTo>
                  <a:lnTo>
                    <a:pt x="189" y="726"/>
                  </a:lnTo>
                  <a:lnTo>
                    <a:pt x="204" y="735"/>
                  </a:lnTo>
                  <a:lnTo>
                    <a:pt x="222" y="743"/>
                  </a:lnTo>
                  <a:lnTo>
                    <a:pt x="240" y="752"/>
                  </a:lnTo>
                  <a:lnTo>
                    <a:pt x="257" y="759"/>
                  </a:lnTo>
                  <a:lnTo>
                    <a:pt x="275" y="765"/>
                  </a:lnTo>
                  <a:lnTo>
                    <a:pt x="293" y="770"/>
                  </a:lnTo>
                  <a:lnTo>
                    <a:pt x="313" y="775"/>
                  </a:lnTo>
                  <a:lnTo>
                    <a:pt x="332" y="778"/>
                  </a:lnTo>
                  <a:lnTo>
                    <a:pt x="352" y="781"/>
                  </a:lnTo>
                  <a:lnTo>
                    <a:pt x="371" y="782"/>
                  </a:lnTo>
                  <a:lnTo>
                    <a:pt x="392" y="782"/>
                  </a:lnTo>
                  <a:lnTo>
                    <a:pt x="413" y="782"/>
                  </a:lnTo>
                  <a:lnTo>
                    <a:pt x="432" y="781"/>
                  </a:lnTo>
                  <a:lnTo>
                    <a:pt x="452" y="778"/>
                  </a:lnTo>
                  <a:lnTo>
                    <a:pt x="471" y="775"/>
                  </a:lnTo>
                  <a:lnTo>
                    <a:pt x="491" y="770"/>
                  </a:lnTo>
                  <a:lnTo>
                    <a:pt x="509" y="765"/>
                  </a:lnTo>
                  <a:lnTo>
                    <a:pt x="527" y="759"/>
                  </a:lnTo>
                  <a:lnTo>
                    <a:pt x="545" y="752"/>
                  </a:lnTo>
                  <a:lnTo>
                    <a:pt x="562" y="743"/>
                  </a:lnTo>
                  <a:lnTo>
                    <a:pt x="579" y="735"/>
                  </a:lnTo>
                  <a:lnTo>
                    <a:pt x="595" y="726"/>
                  </a:lnTo>
                  <a:lnTo>
                    <a:pt x="611" y="715"/>
                  </a:lnTo>
                  <a:lnTo>
                    <a:pt x="627" y="704"/>
                  </a:lnTo>
                  <a:lnTo>
                    <a:pt x="642" y="693"/>
                  </a:lnTo>
                  <a:lnTo>
                    <a:pt x="656" y="681"/>
                  </a:lnTo>
                  <a:lnTo>
                    <a:pt x="670" y="668"/>
                  </a:lnTo>
                  <a:lnTo>
                    <a:pt x="683" y="655"/>
                  </a:lnTo>
                  <a:lnTo>
                    <a:pt x="695" y="640"/>
                  </a:lnTo>
                  <a:lnTo>
                    <a:pt x="706" y="625"/>
                  </a:lnTo>
                  <a:lnTo>
                    <a:pt x="717" y="610"/>
                  </a:lnTo>
                  <a:lnTo>
                    <a:pt x="728" y="594"/>
                  </a:lnTo>
                  <a:lnTo>
                    <a:pt x="738" y="578"/>
                  </a:lnTo>
                  <a:lnTo>
                    <a:pt x="746" y="561"/>
                  </a:lnTo>
                  <a:lnTo>
                    <a:pt x="754" y="544"/>
                  </a:lnTo>
                  <a:lnTo>
                    <a:pt x="761" y="526"/>
                  </a:lnTo>
                  <a:lnTo>
                    <a:pt x="767" y="508"/>
                  </a:lnTo>
                  <a:lnTo>
                    <a:pt x="772" y="489"/>
                  </a:lnTo>
                  <a:lnTo>
                    <a:pt x="777" y="470"/>
                  </a:lnTo>
                  <a:lnTo>
                    <a:pt x="780" y="451"/>
                  </a:lnTo>
                  <a:lnTo>
                    <a:pt x="783" y="431"/>
                  </a:lnTo>
                  <a:lnTo>
                    <a:pt x="784" y="412"/>
                  </a:lnTo>
                  <a:lnTo>
                    <a:pt x="785" y="391"/>
                  </a:lnTo>
                  <a:lnTo>
                    <a:pt x="784" y="372"/>
                  </a:lnTo>
                  <a:lnTo>
                    <a:pt x="783" y="351"/>
                  </a:lnTo>
                  <a:lnTo>
                    <a:pt x="780" y="332"/>
                  </a:lnTo>
                  <a:lnTo>
                    <a:pt x="777" y="312"/>
                  </a:lnTo>
                  <a:lnTo>
                    <a:pt x="772" y="294"/>
                  </a:lnTo>
                  <a:lnTo>
                    <a:pt x="767" y="276"/>
                  </a:lnTo>
                  <a:lnTo>
                    <a:pt x="761" y="258"/>
                  </a:lnTo>
                  <a:lnTo>
                    <a:pt x="754" y="239"/>
                  </a:lnTo>
                  <a:lnTo>
                    <a:pt x="746" y="222"/>
                  </a:lnTo>
                  <a:lnTo>
                    <a:pt x="738" y="205"/>
                  </a:lnTo>
                  <a:lnTo>
                    <a:pt x="728" y="188"/>
                  </a:lnTo>
                  <a:lnTo>
                    <a:pt x="717" y="173"/>
                  </a:lnTo>
                  <a:lnTo>
                    <a:pt x="706" y="158"/>
                  </a:lnTo>
                  <a:lnTo>
                    <a:pt x="695" y="143"/>
                  </a:lnTo>
                  <a:lnTo>
                    <a:pt x="683" y="129"/>
                  </a:lnTo>
                  <a:lnTo>
                    <a:pt x="670" y="115"/>
                  </a:lnTo>
                  <a:lnTo>
                    <a:pt x="656" y="102"/>
                  </a:lnTo>
                  <a:lnTo>
                    <a:pt x="642" y="90"/>
                  </a:lnTo>
                  <a:lnTo>
                    <a:pt x="627" y="78"/>
                  </a:lnTo>
                  <a:lnTo>
                    <a:pt x="611" y="67"/>
                  </a:lnTo>
                  <a:lnTo>
                    <a:pt x="595" y="57"/>
                  </a:lnTo>
                  <a:lnTo>
                    <a:pt x="579" y="47"/>
                  </a:lnTo>
                  <a:lnTo>
                    <a:pt x="562" y="39"/>
                  </a:lnTo>
                  <a:lnTo>
                    <a:pt x="545" y="32"/>
                  </a:lnTo>
                  <a:lnTo>
                    <a:pt x="527" y="24"/>
                  </a:lnTo>
                  <a:lnTo>
                    <a:pt x="509" y="18"/>
                  </a:lnTo>
                  <a:lnTo>
                    <a:pt x="491" y="13"/>
                  </a:lnTo>
                  <a:lnTo>
                    <a:pt x="471" y="9"/>
                  </a:lnTo>
                  <a:lnTo>
                    <a:pt x="452" y="5"/>
                  </a:lnTo>
                  <a:lnTo>
                    <a:pt x="432" y="3"/>
                  </a:lnTo>
                  <a:lnTo>
                    <a:pt x="413" y="1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FFC3E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8" name="Freeform 366"/>
            <p:cNvSpPr/>
            <p:nvPr/>
          </p:nvSpPr>
          <p:spPr>
            <a:xfrm>
              <a:off x="4552" y="2472"/>
              <a:ext cx="785" cy="782"/>
            </a:xfrm>
            <a:custGeom>
              <a:avLst/>
              <a:gdLst/>
              <a:ahLst/>
              <a:cxnLst>
                <a:cxn ang="0">
                  <a:pos x="352" y="3"/>
                </a:cxn>
                <a:cxn ang="0">
                  <a:pos x="293" y="13"/>
                </a:cxn>
                <a:cxn ang="0">
                  <a:pos x="240" y="32"/>
                </a:cxn>
                <a:cxn ang="0">
                  <a:pos x="189" y="57"/>
                </a:cxn>
                <a:cxn ang="0">
                  <a:pos x="142" y="90"/>
                </a:cxn>
                <a:cxn ang="0">
                  <a:pos x="101" y="129"/>
                </a:cxn>
                <a:cxn ang="0">
                  <a:pos x="67" y="173"/>
                </a:cxn>
                <a:cxn ang="0">
                  <a:pos x="38" y="222"/>
                </a:cxn>
                <a:cxn ang="0">
                  <a:pos x="17" y="276"/>
                </a:cxn>
                <a:cxn ang="0">
                  <a:pos x="4" y="332"/>
                </a:cxn>
                <a:cxn ang="0">
                  <a:pos x="0" y="391"/>
                </a:cxn>
                <a:cxn ang="0">
                  <a:pos x="4" y="451"/>
                </a:cxn>
                <a:cxn ang="0">
                  <a:pos x="17" y="508"/>
                </a:cxn>
                <a:cxn ang="0">
                  <a:pos x="38" y="561"/>
                </a:cxn>
                <a:cxn ang="0">
                  <a:pos x="67" y="610"/>
                </a:cxn>
                <a:cxn ang="0">
                  <a:pos x="101" y="655"/>
                </a:cxn>
                <a:cxn ang="0">
                  <a:pos x="142" y="693"/>
                </a:cxn>
                <a:cxn ang="0">
                  <a:pos x="189" y="726"/>
                </a:cxn>
                <a:cxn ang="0">
                  <a:pos x="240" y="752"/>
                </a:cxn>
                <a:cxn ang="0">
                  <a:pos x="293" y="770"/>
                </a:cxn>
                <a:cxn ang="0">
                  <a:pos x="352" y="781"/>
                </a:cxn>
                <a:cxn ang="0">
                  <a:pos x="413" y="782"/>
                </a:cxn>
                <a:cxn ang="0">
                  <a:pos x="471" y="775"/>
                </a:cxn>
                <a:cxn ang="0">
                  <a:pos x="527" y="759"/>
                </a:cxn>
                <a:cxn ang="0">
                  <a:pos x="579" y="735"/>
                </a:cxn>
                <a:cxn ang="0">
                  <a:pos x="627" y="704"/>
                </a:cxn>
                <a:cxn ang="0">
                  <a:pos x="670" y="668"/>
                </a:cxn>
                <a:cxn ang="0">
                  <a:pos x="706" y="625"/>
                </a:cxn>
                <a:cxn ang="0">
                  <a:pos x="738" y="578"/>
                </a:cxn>
                <a:cxn ang="0">
                  <a:pos x="761" y="526"/>
                </a:cxn>
                <a:cxn ang="0">
                  <a:pos x="777" y="470"/>
                </a:cxn>
                <a:cxn ang="0">
                  <a:pos x="784" y="412"/>
                </a:cxn>
                <a:cxn ang="0">
                  <a:pos x="783" y="351"/>
                </a:cxn>
                <a:cxn ang="0">
                  <a:pos x="772" y="294"/>
                </a:cxn>
                <a:cxn ang="0">
                  <a:pos x="754" y="239"/>
                </a:cxn>
                <a:cxn ang="0">
                  <a:pos x="728" y="188"/>
                </a:cxn>
                <a:cxn ang="0">
                  <a:pos x="695" y="143"/>
                </a:cxn>
                <a:cxn ang="0">
                  <a:pos x="656" y="102"/>
                </a:cxn>
                <a:cxn ang="0">
                  <a:pos x="611" y="67"/>
                </a:cxn>
                <a:cxn ang="0">
                  <a:pos x="562" y="39"/>
                </a:cxn>
                <a:cxn ang="0">
                  <a:pos x="509" y="18"/>
                </a:cxn>
                <a:cxn ang="0">
                  <a:pos x="452" y="5"/>
                </a:cxn>
                <a:cxn ang="0">
                  <a:pos x="392" y="0"/>
                </a:cxn>
              </a:cxnLst>
              <a:rect l="0" t="0" r="0" b="0"/>
              <a:pathLst>
                <a:path w="785" h="782">
                  <a:moveTo>
                    <a:pt x="392" y="0"/>
                  </a:moveTo>
                  <a:lnTo>
                    <a:pt x="371" y="1"/>
                  </a:lnTo>
                  <a:lnTo>
                    <a:pt x="352" y="3"/>
                  </a:lnTo>
                  <a:lnTo>
                    <a:pt x="332" y="5"/>
                  </a:lnTo>
                  <a:lnTo>
                    <a:pt x="313" y="9"/>
                  </a:lnTo>
                  <a:lnTo>
                    <a:pt x="293" y="13"/>
                  </a:lnTo>
                  <a:lnTo>
                    <a:pt x="275" y="18"/>
                  </a:lnTo>
                  <a:lnTo>
                    <a:pt x="257" y="24"/>
                  </a:lnTo>
                  <a:lnTo>
                    <a:pt x="240" y="32"/>
                  </a:lnTo>
                  <a:lnTo>
                    <a:pt x="222" y="39"/>
                  </a:lnTo>
                  <a:lnTo>
                    <a:pt x="204" y="47"/>
                  </a:lnTo>
                  <a:lnTo>
                    <a:pt x="189" y="57"/>
                  </a:lnTo>
                  <a:lnTo>
                    <a:pt x="173" y="67"/>
                  </a:lnTo>
                  <a:lnTo>
                    <a:pt x="157" y="78"/>
                  </a:lnTo>
                  <a:lnTo>
                    <a:pt x="142" y="90"/>
                  </a:lnTo>
                  <a:lnTo>
                    <a:pt x="128" y="102"/>
                  </a:lnTo>
                  <a:lnTo>
                    <a:pt x="114" y="115"/>
                  </a:lnTo>
                  <a:lnTo>
                    <a:pt x="101" y="129"/>
                  </a:lnTo>
                  <a:lnTo>
                    <a:pt x="89" y="143"/>
                  </a:lnTo>
                  <a:lnTo>
                    <a:pt x="78" y="158"/>
                  </a:lnTo>
                  <a:lnTo>
                    <a:pt x="67" y="173"/>
                  </a:lnTo>
                  <a:lnTo>
                    <a:pt x="56" y="188"/>
                  </a:lnTo>
                  <a:lnTo>
                    <a:pt x="46" y="205"/>
                  </a:lnTo>
                  <a:lnTo>
                    <a:pt x="38" y="222"/>
                  </a:lnTo>
                  <a:lnTo>
                    <a:pt x="30" y="239"/>
                  </a:lnTo>
                  <a:lnTo>
                    <a:pt x="23" y="258"/>
                  </a:lnTo>
                  <a:lnTo>
                    <a:pt x="17" y="276"/>
                  </a:lnTo>
                  <a:lnTo>
                    <a:pt x="12" y="294"/>
                  </a:lnTo>
                  <a:lnTo>
                    <a:pt x="7" y="312"/>
                  </a:lnTo>
                  <a:lnTo>
                    <a:pt x="4" y="332"/>
                  </a:lnTo>
                  <a:lnTo>
                    <a:pt x="1" y="351"/>
                  </a:lnTo>
                  <a:lnTo>
                    <a:pt x="0" y="372"/>
                  </a:lnTo>
                  <a:lnTo>
                    <a:pt x="0" y="391"/>
                  </a:lnTo>
                  <a:lnTo>
                    <a:pt x="0" y="412"/>
                  </a:lnTo>
                  <a:lnTo>
                    <a:pt x="1" y="431"/>
                  </a:lnTo>
                  <a:lnTo>
                    <a:pt x="4" y="451"/>
                  </a:lnTo>
                  <a:lnTo>
                    <a:pt x="7" y="470"/>
                  </a:lnTo>
                  <a:lnTo>
                    <a:pt x="12" y="489"/>
                  </a:lnTo>
                  <a:lnTo>
                    <a:pt x="17" y="508"/>
                  </a:lnTo>
                  <a:lnTo>
                    <a:pt x="23" y="526"/>
                  </a:lnTo>
                  <a:lnTo>
                    <a:pt x="30" y="544"/>
                  </a:lnTo>
                  <a:lnTo>
                    <a:pt x="38" y="561"/>
                  </a:lnTo>
                  <a:lnTo>
                    <a:pt x="46" y="578"/>
                  </a:lnTo>
                  <a:lnTo>
                    <a:pt x="56" y="594"/>
                  </a:lnTo>
                  <a:lnTo>
                    <a:pt x="67" y="610"/>
                  </a:lnTo>
                  <a:lnTo>
                    <a:pt x="78" y="625"/>
                  </a:lnTo>
                  <a:lnTo>
                    <a:pt x="89" y="640"/>
                  </a:lnTo>
                  <a:lnTo>
                    <a:pt x="101" y="655"/>
                  </a:lnTo>
                  <a:lnTo>
                    <a:pt x="114" y="668"/>
                  </a:lnTo>
                  <a:lnTo>
                    <a:pt x="128" y="681"/>
                  </a:lnTo>
                  <a:lnTo>
                    <a:pt x="142" y="693"/>
                  </a:lnTo>
                  <a:lnTo>
                    <a:pt x="157" y="704"/>
                  </a:lnTo>
                  <a:lnTo>
                    <a:pt x="173" y="715"/>
                  </a:lnTo>
                  <a:lnTo>
                    <a:pt x="189" y="726"/>
                  </a:lnTo>
                  <a:lnTo>
                    <a:pt x="204" y="735"/>
                  </a:lnTo>
                  <a:lnTo>
                    <a:pt x="222" y="743"/>
                  </a:lnTo>
                  <a:lnTo>
                    <a:pt x="240" y="752"/>
                  </a:lnTo>
                  <a:lnTo>
                    <a:pt x="257" y="759"/>
                  </a:lnTo>
                  <a:lnTo>
                    <a:pt x="275" y="765"/>
                  </a:lnTo>
                  <a:lnTo>
                    <a:pt x="293" y="770"/>
                  </a:lnTo>
                  <a:lnTo>
                    <a:pt x="313" y="775"/>
                  </a:lnTo>
                  <a:lnTo>
                    <a:pt x="332" y="778"/>
                  </a:lnTo>
                  <a:lnTo>
                    <a:pt x="352" y="781"/>
                  </a:lnTo>
                  <a:lnTo>
                    <a:pt x="371" y="782"/>
                  </a:lnTo>
                  <a:lnTo>
                    <a:pt x="392" y="782"/>
                  </a:lnTo>
                  <a:lnTo>
                    <a:pt x="413" y="782"/>
                  </a:lnTo>
                  <a:lnTo>
                    <a:pt x="432" y="781"/>
                  </a:lnTo>
                  <a:lnTo>
                    <a:pt x="452" y="778"/>
                  </a:lnTo>
                  <a:lnTo>
                    <a:pt x="471" y="775"/>
                  </a:lnTo>
                  <a:lnTo>
                    <a:pt x="491" y="770"/>
                  </a:lnTo>
                  <a:lnTo>
                    <a:pt x="509" y="765"/>
                  </a:lnTo>
                  <a:lnTo>
                    <a:pt x="527" y="759"/>
                  </a:lnTo>
                  <a:lnTo>
                    <a:pt x="545" y="752"/>
                  </a:lnTo>
                  <a:lnTo>
                    <a:pt x="562" y="743"/>
                  </a:lnTo>
                  <a:lnTo>
                    <a:pt x="579" y="735"/>
                  </a:lnTo>
                  <a:lnTo>
                    <a:pt x="595" y="726"/>
                  </a:lnTo>
                  <a:lnTo>
                    <a:pt x="611" y="715"/>
                  </a:lnTo>
                  <a:lnTo>
                    <a:pt x="627" y="704"/>
                  </a:lnTo>
                  <a:lnTo>
                    <a:pt x="642" y="693"/>
                  </a:lnTo>
                  <a:lnTo>
                    <a:pt x="656" y="681"/>
                  </a:lnTo>
                  <a:lnTo>
                    <a:pt x="670" y="668"/>
                  </a:lnTo>
                  <a:lnTo>
                    <a:pt x="683" y="655"/>
                  </a:lnTo>
                  <a:lnTo>
                    <a:pt x="695" y="640"/>
                  </a:lnTo>
                  <a:lnTo>
                    <a:pt x="706" y="625"/>
                  </a:lnTo>
                  <a:lnTo>
                    <a:pt x="717" y="610"/>
                  </a:lnTo>
                  <a:lnTo>
                    <a:pt x="728" y="594"/>
                  </a:lnTo>
                  <a:lnTo>
                    <a:pt x="738" y="578"/>
                  </a:lnTo>
                  <a:lnTo>
                    <a:pt x="746" y="561"/>
                  </a:lnTo>
                  <a:lnTo>
                    <a:pt x="754" y="544"/>
                  </a:lnTo>
                  <a:lnTo>
                    <a:pt x="761" y="526"/>
                  </a:lnTo>
                  <a:lnTo>
                    <a:pt x="767" y="508"/>
                  </a:lnTo>
                  <a:lnTo>
                    <a:pt x="772" y="489"/>
                  </a:lnTo>
                  <a:lnTo>
                    <a:pt x="777" y="470"/>
                  </a:lnTo>
                  <a:lnTo>
                    <a:pt x="780" y="451"/>
                  </a:lnTo>
                  <a:lnTo>
                    <a:pt x="783" y="431"/>
                  </a:lnTo>
                  <a:lnTo>
                    <a:pt x="784" y="412"/>
                  </a:lnTo>
                  <a:lnTo>
                    <a:pt x="785" y="391"/>
                  </a:lnTo>
                  <a:lnTo>
                    <a:pt x="784" y="372"/>
                  </a:lnTo>
                  <a:lnTo>
                    <a:pt x="783" y="351"/>
                  </a:lnTo>
                  <a:lnTo>
                    <a:pt x="780" y="332"/>
                  </a:lnTo>
                  <a:lnTo>
                    <a:pt x="777" y="312"/>
                  </a:lnTo>
                  <a:lnTo>
                    <a:pt x="772" y="294"/>
                  </a:lnTo>
                  <a:lnTo>
                    <a:pt x="767" y="276"/>
                  </a:lnTo>
                  <a:lnTo>
                    <a:pt x="761" y="258"/>
                  </a:lnTo>
                  <a:lnTo>
                    <a:pt x="754" y="239"/>
                  </a:lnTo>
                  <a:lnTo>
                    <a:pt x="746" y="222"/>
                  </a:lnTo>
                  <a:lnTo>
                    <a:pt x="738" y="205"/>
                  </a:lnTo>
                  <a:lnTo>
                    <a:pt x="728" y="188"/>
                  </a:lnTo>
                  <a:lnTo>
                    <a:pt x="717" y="173"/>
                  </a:lnTo>
                  <a:lnTo>
                    <a:pt x="706" y="158"/>
                  </a:lnTo>
                  <a:lnTo>
                    <a:pt x="695" y="143"/>
                  </a:lnTo>
                  <a:lnTo>
                    <a:pt x="683" y="129"/>
                  </a:lnTo>
                  <a:lnTo>
                    <a:pt x="670" y="115"/>
                  </a:lnTo>
                  <a:lnTo>
                    <a:pt x="656" y="102"/>
                  </a:lnTo>
                  <a:lnTo>
                    <a:pt x="642" y="90"/>
                  </a:lnTo>
                  <a:lnTo>
                    <a:pt x="627" y="78"/>
                  </a:lnTo>
                  <a:lnTo>
                    <a:pt x="611" y="67"/>
                  </a:lnTo>
                  <a:lnTo>
                    <a:pt x="595" y="57"/>
                  </a:lnTo>
                  <a:lnTo>
                    <a:pt x="579" y="47"/>
                  </a:lnTo>
                  <a:lnTo>
                    <a:pt x="562" y="39"/>
                  </a:lnTo>
                  <a:lnTo>
                    <a:pt x="545" y="32"/>
                  </a:lnTo>
                  <a:lnTo>
                    <a:pt x="527" y="24"/>
                  </a:lnTo>
                  <a:lnTo>
                    <a:pt x="509" y="18"/>
                  </a:lnTo>
                  <a:lnTo>
                    <a:pt x="491" y="13"/>
                  </a:lnTo>
                  <a:lnTo>
                    <a:pt x="471" y="9"/>
                  </a:lnTo>
                  <a:lnTo>
                    <a:pt x="452" y="5"/>
                  </a:lnTo>
                  <a:lnTo>
                    <a:pt x="432" y="3"/>
                  </a:lnTo>
                  <a:lnTo>
                    <a:pt x="413" y="1"/>
                  </a:lnTo>
                  <a:lnTo>
                    <a:pt x="392" y="0"/>
                  </a:lnTo>
                </a:path>
              </a:pathLst>
            </a:custGeom>
            <a:noFill/>
            <a:ln w="33338" cap="flat" cmpd="sng">
              <a:solidFill>
                <a:srgbClr val="99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29" name="Freeform 367"/>
            <p:cNvSpPr>
              <a:spLocks noEditPoints="1"/>
            </p:cNvSpPr>
            <p:nvPr/>
          </p:nvSpPr>
          <p:spPr>
            <a:xfrm>
              <a:off x="4251" y="2863"/>
              <a:ext cx="689" cy="9"/>
            </a:xfrm>
            <a:custGeom>
              <a:avLst/>
              <a:gdLst/>
              <a:ahLst/>
              <a:cxnLst>
                <a:cxn ang="0">
                  <a:pos x="59" y="1"/>
                </a:cxn>
                <a:cxn ang="0">
                  <a:pos x="61" y="5"/>
                </a:cxn>
                <a:cxn ang="0">
                  <a:pos x="59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88" y="0"/>
                </a:cxn>
                <a:cxn ang="0">
                  <a:pos x="144" y="1"/>
                </a:cxn>
                <a:cxn ang="0">
                  <a:pos x="144" y="6"/>
                </a:cxn>
                <a:cxn ang="0">
                  <a:pos x="140" y="9"/>
                </a:cxn>
                <a:cxn ang="0">
                  <a:pos x="84" y="7"/>
                </a:cxn>
                <a:cxn ang="0">
                  <a:pos x="84" y="3"/>
                </a:cxn>
                <a:cxn ang="0">
                  <a:pos x="88" y="0"/>
                </a:cxn>
                <a:cxn ang="0">
                  <a:pos x="224" y="0"/>
                </a:cxn>
                <a:cxn ang="0">
                  <a:pos x="228" y="3"/>
                </a:cxn>
                <a:cxn ang="0">
                  <a:pos x="227" y="7"/>
                </a:cxn>
                <a:cxn ang="0">
                  <a:pos x="171" y="9"/>
                </a:cxn>
                <a:cxn ang="0">
                  <a:pos x="167" y="6"/>
                </a:cxn>
                <a:cxn ang="0">
                  <a:pos x="168" y="1"/>
                </a:cxn>
                <a:cxn ang="0">
                  <a:pos x="171" y="0"/>
                </a:cxn>
                <a:cxn ang="0">
                  <a:pos x="309" y="1"/>
                </a:cxn>
                <a:cxn ang="0">
                  <a:pos x="312" y="5"/>
                </a:cxn>
                <a:cxn ang="0">
                  <a:pos x="309" y="9"/>
                </a:cxn>
                <a:cxn ang="0">
                  <a:pos x="253" y="9"/>
                </a:cxn>
                <a:cxn ang="0">
                  <a:pos x="251" y="5"/>
                </a:cxn>
                <a:cxn ang="0">
                  <a:pos x="253" y="1"/>
                </a:cxn>
                <a:cxn ang="0">
                  <a:pos x="339" y="1"/>
                </a:cxn>
                <a:cxn ang="0">
                  <a:pos x="395" y="3"/>
                </a:cxn>
                <a:cxn ang="0">
                  <a:pos x="395" y="6"/>
                </a:cxn>
                <a:cxn ang="0">
                  <a:pos x="392" y="9"/>
                </a:cxn>
                <a:cxn ang="0">
                  <a:pos x="336" y="7"/>
                </a:cxn>
                <a:cxn ang="0">
                  <a:pos x="335" y="3"/>
                </a:cxn>
                <a:cxn ang="0">
                  <a:pos x="339" y="1"/>
                </a:cxn>
                <a:cxn ang="0">
                  <a:pos x="475" y="1"/>
                </a:cxn>
                <a:cxn ang="0">
                  <a:pos x="479" y="4"/>
                </a:cxn>
                <a:cxn ang="0">
                  <a:pos x="477" y="7"/>
                </a:cxn>
                <a:cxn ang="0">
                  <a:pos x="423" y="9"/>
                </a:cxn>
                <a:cxn ang="0">
                  <a:pos x="419" y="6"/>
                </a:cxn>
                <a:cxn ang="0">
                  <a:pos x="419" y="3"/>
                </a:cxn>
                <a:cxn ang="0">
                  <a:pos x="423" y="1"/>
                </a:cxn>
                <a:cxn ang="0">
                  <a:pos x="560" y="1"/>
                </a:cxn>
                <a:cxn ang="0">
                  <a:pos x="563" y="5"/>
                </a:cxn>
                <a:cxn ang="0">
                  <a:pos x="560" y="9"/>
                </a:cxn>
                <a:cxn ang="0">
                  <a:pos x="504" y="9"/>
                </a:cxn>
                <a:cxn ang="0">
                  <a:pos x="502" y="5"/>
                </a:cxn>
                <a:cxn ang="0">
                  <a:pos x="504" y="1"/>
                </a:cxn>
                <a:cxn ang="0">
                  <a:pos x="589" y="1"/>
                </a:cxn>
                <a:cxn ang="0">
                  <a:pos x="646" y="3"/>
                </a:cxn>
                <a:cxn ang="0">
                  <a:pos x="647" y="6"/>
                </a:cxn>
                <a:cxn ang="0">
                  <a:pos x="643" y="9"/>
                </a:cxn>
                <a:cxn ang="0">
                  <a:pos x="587" y="7"/>
                </a:cxn>
                <a:cxn ang="0">
                  <a:pos x="586" y="4"/>
                </a:cxn>
                <a:cxn ang="0">
                  <a:pos x="589" y="1"/>
                </a:cxn>
                <a:cxn ang="0">
                  <a:pos x="686" y="1"/>
                </a:cxn>
                <a:cxn ang="0">
                  <a:pos x="689" y="4"/>
                </a:cxn>
                <a:cxn ang="0">
                  <a:pos x="688" y="7"/>
                </a:cxn>
                <a:cxn ang="0">
                  <a:pos x="674" y="9"/>
                </a:cxn>
                <a:cxn ang="0">
                  <a:pos x="670" y="6"/>
                </a:cxn>
                <a:cxn ang="0">
                  <a:pos x="671" y="3"/>
                </a:cxn>
                <a:cxn ang="0">
                  <a:pos x="674" y="1"/>
                </a:cxn>
              </a:cxnLst>
              <a:rect l="0" t="0" r="0" b="0"/>
              <a:pathLst>
                <a:path w="689" h="9">
                  <a:moveTo>
                    <a:pt x="4" y="0"/>
                  </a:moveTo>
                  <a:lnTo>
                    <a:pt x="57" y="0"/>
                  </a:lnTo>
                  <a:lnTo>
                    <a:pt x="59" y="1"/>
                  </a:lnTo>
                  <a:lnTo>
                    <a:pt x="60" y="1"/>
                  </a:lnTo>
                  <a:lnTo>
                    <a:pt x="60" y="3"/>
                  </a:lnTo>
                  <a:lnTo>
                    <a:pt x="61" y="5"/>
                  </a:lnTo>
                  <a:lnTo>
                    <a:pt x="60" y="6"/>
                  </a:lnTo>
                  <a:lnTo>
                    <a:pt x="60" y="7"/>
                  </a:lnTo>
                  <a:lnTo>
                    <a:pt x="59" y="7"/>
                  </a:lnTo>
                  <a:lnTo>
                    <a:pt x="57" y="9"/>
                  </a:lnTo>
                  <a:lnTo>
                    <a:pt x="4" y="9"/>
                  </a:lnTo>
                  <a:lnTo>
                    <a:pt x="3" y="7"/>
                  </a:lnTo>
                  <a:lnTo>
                    <a:pt x="1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1"/>
                  </a:lnTo>
                  <a:lnTo>
                    <a:pt x="3" y="1"/>
                  </a:lnTo>
                  <a:lnTo>
                    <a:pt x="4" y="0"/>
                  </a:lnTo>
                  <a:close/>
                  <a:moveTo>
                    <a:pt x="88" y="0"/>
                  </a:moveTo>
                  <a:lnTo>
                    <a:pt x="140" y="0"/>
                  </a:lnTo>
                  <a:lnTo>
                    <a:pt x="143" y="1"/>
                  </a:lnTo>
                  <a:lnTo>
                    <a:pt x="144" y="1"/>
                  </a:lnTo>
                  <a:lnTo>
                    <a:pt x="144" y="3"/>
                  </a:lnTo>
                  <a:lnTo>
                    <a:pt x="144" y="5"/>
                  </a:lnTo>
                  <a:lnTo>
                    <a:pt x="144" y="6"/>
                  </a:lnTo>
                  <a:lnTo>
                    <a:pt x="143" y="7"/>
                  </a:lnTo>
                  <a:lnTo>
                    <a:pt x="141" y="7"/>
                  </a:lnTo>
                  <a:lnTo>
                    <a:pt x="140" y="9"/>
                  </a:lnTo>
                  <a:lnTo>
                    <a:pt x="88" y="9"/>
                  </a:lnTo>
                  <a:lnTo>
                    <a:pt x="85" y="7"/>
                  </a:lnTo>
                  <a:lnTo>
                    <a:pt x="84" y="7"/>
                  </a:lnTo>
                  <a:lnTo>
                    <a:pt x="84" y="6"/>
                  </a:lnTo>
                  <a:lnTo>
                    <a:pt x="83" y="5"/>
                  </a:lnTo>
                  <a:lnTo>
                    <a:pt x="84" y="3"/>
                  </a:lnTo>
                  <a:lnTo>
                    <a:pt x="84" y="1"/>
                  </a:lnTo>
                  <a:lnTo>
                    <a:pt x="85" y="1"/>
                  </a:lnTo>
                  <a:lnTo>
                    <a:pt x="88" y="0"/>
                  </a:lnTo>
                  <a:close/>
                  <a:moveTo>
                    <a:pt x="171" y="0"/>
                  </a:moveTo>
                  <a:lnTo>
                    <a:pt x="224" y="0"/>
                  </a:lnTo>
                  <a:lnTo>
                    <a:pt x="225" y="1"/>
                  </a:lnTo>
                  <a:lnTo>
                    <a:pt x="227" y="1"/>
                  </a:lnTo>
                  <a:lnTo>
                    <a:pt x="228" y="3"/>
                  </a:lnTo>
                  <a:lnTo>
                    <a:pt x="228" y="5"/>
                  </a:lnTo>
                  <a:lnTo>
                    <a:pt x="228" y="6"/>
                  </a:lnTo>
                  <a:lnTo>
                    <a:pt x="227" y="7"/>
                  </a:lnTo>
                  <a:lnTo>
                    <a:pt x="225" y="7"/>
                  </a:lnTo>
                  <a:lnTo>
                    <a:pt x="224" y="9"/>
                  </a:lnTo>
                  <a:lnTo>
                    <a:pt x="171" y="9"/>
                  </a:lnTo>
                  <a:lnTo>
                    <a:pt x="169" y="7"/>
                  </a:lnTo>
                  <a:lnTo>
                    <a:pt x="168" y="7"/>
                  </a:lnTo>
                  <a:lnTo>
                    <a:pt x="167" y="6"/>
                  </a:lnTo>
                  <a:lnTo>
                    <a:pt x="167" y="5"/>
                  </a:lnTo>
                  <a:lnTo>
                    <a:pt x="167" y="3"/>
                  </a:lnTo>
                  <a:lnTo>
                    <a:pt x="168" y="1"/>
                  </a:lnTo>
                  <a:lnTo>
                    <a:pt x="169" y="1"/>
                  </a:lnTo>
                  <a:lnTo>
                    <a:pt x="171" y="0"/>
                  </a:lnTo>
                  <a:close/>
                  <a:moveTo>
                    <a:pt x="255" y="1"/>
                  </a:moveTo>
                  <a:lnTo>
                    <a:pt x="308" y="1"/>
                  </a:lnTo>
                  <a:lnTo>
                    <a:pt x="309" y="1"/>
                  </a:lnTo>
                  <a:lnTo>
                    <a:pt x="311" y="1"/>
                  </a:lnTo>
                  <a:lnTo>
                    <a:pt x="312" y="3"/>
                  </a:lnTo>
                  <a:lnTo>
                    <a:pt x="312" y="5"/>
                  </a:lnTo>
                  <a:lnTo>
                    <a:pt x="312" y="6"/>
                  </a:lnTo>
                  <a:lnTo>
                    <a:pt x="311" y="7"/>
                  </a:lnTo>
                  <a:lnTo>
                    <a:pt x="309" y="9"/>
                  </a:lnTo>
                  <a:lnTo>
                    <a:pt x="308" y="9"/>
                  </a:lnTo>
                  <a:lnTo>
                    <a:pt x="255" y="9"/>
                  </a:lnTo>
                  <a:lnTo>
                    <a:pt x="253" y="9"/>
                  </a:lnTo>
                  <a:lnTo>
                    <a:pt x="252" y="7"/>
                  </a:lnTo>
                  <a:lnTo>
                    <a:pt x="251" y="6"/>
                  </a:lnTo>
                  <a:lnTo>
                    <a:pt x="251" y="5"/>
                  </a:lnTo>
                  <a:lnTo>
                    <a:pt x="251" y="3"/>
                  </a:lnTo>
                  <a:lnTo>
                    <a:pt x="252" y="1"/>
                  </a:lnTo>
                  <a:lnTo>
                    <a:pt x="253" y="1"/>
                  </a:lnTo>
                  <a:lnTo>
                    <a:pt x="255" y="1"/>
                  </a:lnTo>
                  <a:close/>
                  <a:moveTo>
                    <a:pt x="339" y="1"/>
                  </a:moveTo>
                  <a:lnTo>
                    <a:pt x="392" y="1"/>
                  </a:lnTo>
                  <a:lnTo>
                    <a:pt x="393" y="1"/>
                  </a:lnTo>
                  <a:lnTo>
                    <a:pt x="395" y="3"/>
                  </a:lnTo>
                  <a:lnTo>
                    <a:pt x="395" y="4"/>
                  </a:lnTo>
                  <a:lnTo>
                    <a:pt x="396" y="5"/>
                  </a:lnTo>
                  <a:lnTo>
                    <a:pt x="395" y="6"/>
                  </a:lnTo>
                  <a:lnTo>
                    <a:pt x="395" y="7"/>
                  </a:lnTo>
                  <a:lnTo>
                    <a:pt x="393" y="9"/>
                  </a:lnTo>
                  <a:lnTo>
                    <a:pt x="392" y="9"/>
                  </a:lnTo>
                  <a:lnTo>
                    <a:pt x="339" y="9"/>
                  </a:lnTo>
                  <a:lnTo>
                    <a:pt x="337" y="9"/>
                  </a:lnTo>
                  <a:lnTo>
                    <a:pt x="336" y="7"/>
                  </a:lnTo>
                  <a:lnTo>
                    <a:pt x="335" y="6"/>
                  </a:lnTo>
                  <a:lnTo>
                    <a:pt x="335" y="5"/>
                  </a:lnTo>
                  <a:lnTo>
                    <a:pt x="335" y="3"/>
                  </a:lnTo>
                  <a:lnTo>
                    <a:pt x="336" y="1"/>
                  </a:lnTo>
                  <a:lnTo>
                    <a:pt x="337" y="1"/>
                  </a:lnTo>
                  <a:lnTo>
                    <a:pt x="339" y="1"/>
                  </a:lnTo>
                  <a:close/>
                  <a:moveTo>
                    <a:pt x="423" y="1"/>
                  </a:moveTo>
                  <a:lnTo>
                    <a:pt x="475" y="1"/>
                  </a:lnTo>
                  <a:lnTo>
                    <a:pt x="477" y="1"/>
                  </a:lnTo>
                  <a:lnTo>
                    <a:pt x="479" y="3"/>
                  </a:lnTo>
                  <a:lnTo>
                    <a:pt x="479" y="4"/>
                  </a:lnTo>
                  <a:lnTo>
                    <a:pt x="479" y="5"/>
                  </a:lnTo>
                  <a:lnTo>
                    <a:pt x="479" y="6"/>
                  </a:lnTo>
                  <a:lnTo>
                    <a:pt x="477" y="7"/>
                  </a:lnTo>
                  <a:lnTo>
                    <a:pt x="476" y="9"/>
                  </a:lnTo>
                  <a:lnTo>
                    <a:pt x="475" y="9"/>
                  </a:lnTo>
                  <a:lnTo>
                    <a:pt x="423" y="9"/>
                  </a:lnTo>
                  <a:lnTo>
                    <a:pt x="420" y="9"/>
                  </a:lnTo>
                  <a:lnTo>
                    <a:pt x="419" y="7"/>
                  </a:lnTo>
                  <a:lnTo>
                    <a:pt x="419" y="6"/>
                  </a:lnTo>
                  <a:lnTo>
                    <a:pt x="418" y="5"/>
                  </a:lnTo>
                  <a:lnTo>
                    <a:pt x="419" y="4"/>
                  </a:lnTo>
                  <a:lnTo>
                    <a:pt x="419" y="3"/>
                  </a:lnTo>
                  <a:lnTo>
                    <a:pt x="420" y="1"/>
                  </a:lnTo>
                  <a:lnTo>
                    <a:pt x="423" y="1"/>
                  </a:lnTo>
                  <a:close/>
                  <a:moveTo>
                    <a:pt x="505" y="1"/>
                  </a:moveTo>
                  <a:lnTo>
                    <a:pt x="559" y="1"/>
                  </a:lnTo>
                  <a:lnTo>
                    <a:pt x="560" y="1"/>
                  </a:lnTo>
                  <a:lnTo>
                    <a:pt x="561" y="3"/>
                  </a:lnTo>
                  <a:lnTo>
                    <a:pt x="563" y="4"/>
                  </a:lnTo>
                  <a:lnTo>
                    <a:pt x="563" y="5"/>
                  </a:lnTo>
                  <a:lnTo>
                    <a:pt x="563" y="6"/>
                  </a:lnTo>
                  <a:lnTo>
                    <a:pt x="561" y="7"/>
                  </a:lnTo>
                  <a:lnTo>
                    <a:pt x="560" y="9"/>
                  </a:lnTo>
                  <a:lnTo>
                    <a:pt x="559" y="9"/>
                  </a:lnTo>
                  <a:lnTo>
                    <a:pt x="505" y="9"/>
                  </a:lnTo>
                  <a:lnTo>
                    <a:pt x="504" y="9"/>
                  </a:lnTo>
                  <a:lnTo>
                    <a:pt x="503" y="7"/>
                  </a:lnTo>
                  <a:lnTo>
                    <a:pt x="502" y="6"/>
                  </a:lnTo>
                  <a:lnTo>
                    <a:pt x="502" y="5"/>
                  </a:lnTo>
                  <a:lnTo>
                    <a:pt x="502" y="4"/>
                  </a:lnTo>
                  <a:lnTo>
                    <a:pt x="503" y="3"/>
                  </a:lnTo>
                  <a:lnTo>
                    <a:pt x="504" y="1"/>
                  </a:lnTo>
                  <a:lnTo>
                    <a:pt x="505" y="1"/>
                  </a:lnTo>
                  <a:close/>
                  <a:moveTo>
                    <a:pt x="589" y="1"/>
                  </a:moveTo>
                  <a:lnTo>
                    <a:pt x="643" y="1"/>
                  </a:lnTo>
                  <a:lnTo>
                    <a:pt x="644" y="1"/>
                  </a:lnTo>
                  <a:lnTo>
                    <a:pt x="646" y="3"/>
                  </a:lnTo>
                  <a:lnTo>
                    <a:pt x="647" y="4"/>
                  </a:lnTo>
                  <a:lnTo>
                    <a:pt x="647" y="5"/>
                  </a:lnTo>
                  <a:lnTo>
                    <a:pt x="647" y="6"/>
                  </a:lnTo>
                  <a:lnTo>
                    <a:pt x="646" y="7"/>
                  </a:lnTo>
                  <a:lnTo>
                    <a:pt x="644" y="9"/>
                  </a:lnTo>
                  <a:lnTo>
                    <a:pt x="643" y="9"/>
                  </a:lnTo>
                  <a:lnTo>
                    <a:pt x="589" y="9"/>
                  </a:lnTo>
                  <a:lnTo>
                    <a:pt x="588" y="9"/>
                  </a:lnTo>
                  <a:lnTo>
                    <a:pt x="587" y="7"/>
                  </a:lnTo>
                  <a:lnTo>
                    <a:pt x="586" y="6"/>
                  </a:lnTo>
                  <a:lnTo>
                    <a:pt x="586" y="5"/>
                  </a:lnTo>
                  <a:lnTo>
                    <a:pt x="586" y="4"/>
                  </a:lnTo>
                  <a:lnTo>
                    <a:pt x="587" y="3"/>
                  </a:lnTo>
                  <a:lnTo>
                    <a:pt x="588" y="1"/>
                  </a:lnTo>
                  <a:lnTo>
                    <a:pt x="589" y="1"/>
                  </a:lnTo>
                  <a:close/>
                  <a:moveTo>
                    <a:pt x="674" y="1"/>
                  </a:moveTo>
                  <a:lnTo>
                    <a:pt x="686" y="1"/>
                  </a:lnTo>
                  <a:lnTo>
                    <a:pt x="687" y="1"/>
                  </a:lnTo>
                  <a:lnTo>
                    <a:pt x="688" y="3"/>
                  </a:lnTo>
                  <a:lnTo>
                    <a:pt x="689" y="4"/>
                  </a:lnTo>
                  <a:lnTo>
                    <a:pt x="689" y="5"/>
                  </a:lnTo>
                  <a:lnTo>
                    <a:pt x="689" y="6"/>
                  </a:lnTo>
                  <a:lnTo>
                    <a:pt x="688" y="7"/>
                  </a:lnTo>
                  <a:lnTo>
                    <a:pt x="687" y="9"/>
                  </a:lnTo>
                  <a:lnTo>
                    <a:pt x="686" y="9"/>
                  </a:lnTo>
                  <a:lnTo>
                    <a:pt x="674" y="9"/>
                  </a:lnTo>
                  <a:lnTo>
                    <a:pt x="672" y="9"/>
                  </a:lnTo>
                  <a:lnTo>
                    <a:pt x="671" y="7"/>
                  </a:lnTo>
                  <a:lnTo>
                    <a:pt x="670" y="6"/>
                  </a:lnTo>
                  <a:lnTo>
                    <a:pt x="670" y="5"/>
                  </a:lnTo>
                  <a:lnTo>
                    <a:pt x="670" y="4"/>
                  </a:lnTo>
                  <a:lnTo>
                    <a:pt x="671" y="3"/>
                  </a:lnTo>
                  <a:lnTo>
                    <a:pt x="672" y="1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000000"/>
            </a:solidFill>
            <a:ln w="15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0" name="Freeform 368"/>
            <p:cNvSpPr>
              <a:spLocks noEditPoints="1"/>
            </p:cNvSpPr>
            <p:nvPr/>
          </p:nvSpPr>
          <p:spPr>
            <a:xfrm>
              <a:off x="4943" y="2863"/>
              <a:ext cx="8" cy="646"/>
            </a:xfrm>
            <a:custGeom>
              <a:avLst/>
              <a:gdLst/>
              <a:ahLst/>
              <a:cxnLst>
                <a:cxn ang="0">
                  <a:pos x="7" y="58"/>
                </a:cxn>
                <a:cxn ang="0">
                  <a:pos x="5" y="61"/>
                </a:cxn>
                <a:cxn ang="0">
                  <a:pos x="1" y="58"/>
                </a:cxn>
                <a:cxn ang="0">
                  <a:pos x="1" y="3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88"/>
                </a:cxn>
                <a:cxn ang="0">
                  <a:pos x="7" y="143"/>
                </a:cxn>
                <a:cxn ang="0">
                  <a:pos x="2" y="145"/>
                </a:cxn>
                <a:cxn ang="0">
                  <a:pos x="1" y="141"/>
                </a:cxn>
                <a:cxn ang="0">
                  <a:pos x="1" y="85"/>
                </a:cxn>
                <a:cxn ang="0">
                  <a:pos x="6" y="84"/>
                </a:cxn>
                <a:cxn ang="0">
                  <a:pos x="8" y="88"/>
                </a:cxn>
                <a:cxn ang="0">
                  <a:pos x="8" y="225"/>
                </a:cxn>
                <a:cxn ang="0">
                  <a:pos x="6" y="228"/>
                </a:cxn>
                <a:cxn ang="0">
                  <a:pos x="2" y="227"/>
                </a:cxn>
                <a:cxn ang="0">
                  <a:pos x="1" y="171"/>
                </a:cxn>
                <a:cxn ang="0">
                  <a:pos x="2" y="168"/>
                </a:cxn>
                <a:cxn ang="0">
                  <a:pos x="7" y="169"/>
                </a:cxn>
                <a:cxn ang="0">
                  <a:pos x="8" y="171"/>
                </a:cxn>
                <a:cxn ang="0">
                  <a:pos x="8" y="310"/>
                </a:cxn>
                <a:cxn ang="0">
                  <a:pos x="5" y="312"/>
                </a:cxn>
                <a:cxn ang="0">
                  <a:pos x="1" y="310"/>
                </a:cxn>
                <a:cxn ang="0">
                  <a:pos x="1" y="254"/>
                </a:cxn>
                <a:cxn ang="0">
                  <a:pos x="5" y="251"/>
                </a:cxn>
                <a:cxn ang="0">
                  <a:pos x="8" y="254"/>
                </a:cxn>
                <a:cxn ang="0">
                  <a:pos x="8" y="338"/>
                </a:cxn>
                <a:cxn ang="0">
                  <a:pos x="7" y="394"/>
                </a:cxn>
                <a:cxn ang="0">
                  <a:pos x="3" y="395"/>
                </a:cxn>
                <a:cxn ang="0">
                  <a:pos x="1" y="391"/>
                </a:cxn>
                <a:cxn ang="0">
                  <a:pos x="2" y="335"/>
                </a:cxn>
                <a:cxn ang="0">
                  <a:pos x="6" y="335"/>
                </a:cxn>
                <a:cxn ang="0">
                  <a:pos x="8" y="338"/>
                </a:cxn>
                <a:cxn ang="0">
                  <a:pos x="8" y="475"/>
                </a:cxn>
                <a:cxn ang="0">
                  <a:pos x="6" y="479"/>
                </a:cxn>
                <a:cxn ang="0">
                  <a:pos x="2" y="477"/>
                </a:cxn>
                <a:cxn ang="0">
                  <a:pos x="1" y="421"/>
                </a:cxn>
                <a:cxn ang="0">
                  <a:pos x="3" y="418"/>
                </a:cxn>
                <a:cxn ang="0">
                  <a:pos x="7" y="419"/>
                </a:cxn>
                <a:cxn ang="0">
                  <a:pos x="8" y="421"/>
                </a:cxn>
                <a:cxn ang="0">
                  <a:pos x="8" y="560"/>
                </a:cxn>
                <a:cxn ang="0">
                  <a:pos x="5" y="562"/>
                </a:cxn>
                <a:cxn ang="0">
                  <a:pos x="1" y="560"/>
                </a:cxn>
                <a:cxn ang="0">
                  <a:pos x="1" y="504"/>
                </a:cxn>
                <a:cxn ang="0">
                  <a:pos x="5" y="502"/>
                </a:cxn>
                <a:cxn ang="0">
                  <a:pos x="8" y="504"/>
                </a:cxn>
                <a:cxn ang="0">
                  <a:pos x="8" y="589"/>
                </a:cxn>
                <a:cxn ang="0">
                  <a:pos x="7" y="645"/>
                </a:cxn>
                <a:cxn ang="0">
                  <a:pos x="3" y="645"/>
                </a:cxn>
                <a:cxn ang="0">
                  <a:pos x="1" y="641"/>
                </a:cxn>
                <a:cxn ang="0">
                  <a:pos x="2" y="587"/>
                </a:cxn>
                <a:cxn ang="0">
                  <a:pos x="6" y="585"/>
                </a:cxn>
                <a:cxn ang="0">
                  <a:pos x="8" y="589"/>
                </a:cxn>
              </a:cxnLst>
              <a:rect l="0" t="0" r="0" b="0"/>
              <a:pathLst>
                <a:path w="8" h="646">
                  <a:moveTo>
                    <a:pt x="8" y="4"/>
                  </a:moveTo>
                  <a:lnTo>
                    <a:pt x="8" y="57"/>
                  </a:lnTo>
                  <a:lnTo>
                    <a:pt x="7" y="58"/>
                  </a:lnTo>
                  <a:lnTo>
                    <a:pt x="7" y="60"/>
                  </a:lnTo>
                  <a:lnTo>
                    <a:pt x="6" y="61"/>
                  </a:lnTo>
                  <a:lnTo>
                    <a:pt x="5" y="61"/>
                  </a:lnTo>
                  <a:lnTo>
                    <a:pt x="2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0" y="57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1"/>
                  </a:lnTo>
                  <a:lnTo>
                    <a:pt x="2" y="1"/>
                  </a:lnTo>
                  <a:lnTo>
                    <a:pt x="5" y="0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3"/>
                  </a:lnTo>
                  <a:lnTo>
                    <a:pt x="8" y="4"/>
                  </a:lnTo>
                  <a:close/>
                  <a:moveTo>
                    <a:pt x="8" y="88"/>
                  </a:moveTo>
                  <a:lnTo>
                    <a:pt x="8" y="141"/>
                  </a:lnTo>
                  <a:lnTo>
                    <a:pt x="8" y="142"/>
                  </a:lnTo>
                  <a:lnTo>
                    <a:pt x="7" y="143"/>
                  </a:lnTo>
                  <a:lnTo>
                    <a:pt x="6" y="145"/>
                  </a:lnTo>
                  <a:lnTo>
                    <a:pt x="5" y="145"/>
                  </a:lnTo>
                  <a:lnTo>
                    <a:pt x="2" y="145"/>
                  </a:lnTo>
                  <a:lnTo>
                    <a:pt x="1" y="143"/>
                  </a:lnTo>
                  <a:lnTo>
                    <a:pt x="1" y="142"/>
                  </a:lnTo>
                  <a:lnTo>
                    <a:pt x="1" y="141"/>
                  </a:lnTo>
                  <a:lnTo>
                    <a:pt x="0" y="88"/>
                  </a:lnTo>
                  <a:lnTo>
                    <a:pt x="1" y="86"/>
                  </a:lnTo>
                  <a:lnTo>
                    <a:pt x="1" y="85"/>
                  </a:lnTo>
                  <a:lnTo>
                    <a:pt x="2" y="84"/>
                  </a:lnTo>
                  <a:lnTo>
                    <a:pt x="5" y="84"/>
                  </a:lnTo>
                  <a:lnTo>
                    <a:pt x="6" y="84"/>
                  </a:lnTo>
                  <a:lnTo>
                    <a:pt x="7" y="85"/>
                  </a:lnTo>
                  <a:lnTo>
                    <a:pt x="7" y="86"/>
                  </a:lnTo>
                  <a:lnTo>
                    <a:pt x="8" y="88"/>
                  </a:lnTo>
                  <a:close/>
                  <a:moveTo>
                    <a:pt x="8" y="171"/>
                  </a:moveTo>
                  <a:lnTo>
                    <a:pt x="8" y="225"/>
                  </a:lnTo>
                  <a:lnTo>
                    <a:pt x="8" y="226"/>
                  </a:lnTo>
                  <a:lnTo>
                    <a:pt x="7" y="227"/>
                  </a:lnTo>
                  <a:lnTo>
                    <a:pt x="6" y="228"/>
                  </a:lnTo>
                  <a:lnTo>
                    <a:pt x="5" y="228"/>
                  </a:lnTo>
                  <a:lnTo>
                    <a:pt x="3" y="228"/>
                  </a:lnTo>
                  <a:lnTo>
                    <a:pt x="2" y="227"/>
                  </a:lnTo>
                  <a:lnTo>
                    <a:pt x="1" y="226"/>
                  </a:lnTo>
                  <a:lnTo>
                    <a:pt x="1" y="225"/>
                  </a:lnTo>
                  <a:lnTo>
                    <a:pt x="1" y="171"/>
                  </a:lnTo>
                  <a:lnTo>
                    <a:pt x="1" y="170"/>
                  </a:lnTo>
                  <a:lnTo>
                    <a:pt x="1" y="169"/>
                  </a:lnTo>
                  <a:lnTo>
                    <a:pt x="2" y="168"/>
                  </a:lnTo>
                  <a:lnTo>
                    <a:pt x="5" y="168"/>
                  </a:lnTo>
                  <a:lnTo>
                    <a:pt x="6" y="168"/>
                  </a:lnTo>
                  <a:lnTo>
                    <a:pt x="7" y="169"/>
                  </a:lnTo>
                  <a:lnTo>
                    <a:pt x="8" y="170"/>
                  </a:lnTo>
                  <a:lnTo>
                    <a:pt x="8" y="171"/>
                  </a:lnTo>
                  <a:close/>
                  <a:moveTo>
                    <a:pt x="8" y="255"/>
                  </a:moveTo>
                  <a:lnTo>
                    <a:pt x="8" y="307"/>
                  </a:lnTo>
                  <a:lnTo>
                    <a:pt x="8" y="310"/>
                  </a:lnTo>
                  <a:lnTo>
                    <a:pt x="7" y="311"/>
                  </a:lnTo>
                  <a:lnTo>
                    <a:pt x="6" y="311"/>
                  </a:lnTo>
                  <a:lnTo>
                    <a:pt x="5" y="312"/>
                  </a:lnTo>
                  <a:lnTo>
                    <a:pt x="3" y="311"/>
                  </a:lnTo>
                  <a:lnTo>
                    <a:pt x="2" y="311"/>
                  </a:lnTo>
                  <a:lnTo>
                    <a:pt x="1" y="310"/>
                  </a:lnTo>
                  <a:lnTo>
                    <a:pt x="1" y="307"/>
                  </a:lnTo>
                  <a:lnTo>
                    <a:pt x="1" y="255"/>
                  </a:lnTo>
                  <a:lnTo>
                    <a:pt x="1" y="254"/>
                  </a:lnTo>
                  <a:lnTo>
                    <a:pt x="2" y="253"/>
                  </a:lnTo>
                  <a:lnTo>
                    <a:pt x="3" y="251"/>
                  </a:lnTo>
                  <a:lnTo>
                    <a:pt x="5" y="251"/>
                  </a:lnTo>
                  <a:lnTo>
                    <a:pt x="6" y="251"/>
                  </a:lnTo>
                  <a:lnTo>
                    <a:pt x="7" y="253"/>
                  </a:lnTo>
                  <a:lnTo>
                    <a:pt x="8" y="254"/>
                  </a:lnTo>
                  <a:lnTo>
                    <a:pt x="8" y="255"/>
                  </a:lnTo>
                  <a:close/>
                  <a:moveTo>
                    <a:pt x="8" y="338"/>
                  </a:moveTo>
                  <a:lnTo>
                    <a:pt x="8" y="391"/>
                  </a:lnTo>
                  <a:lnTo>
                    <a:pt x="8" y="392"/>
                  </a:lnTo>
                  <a:lnTo>
                    <a:pt x="7" y="394"/>
                  </a:lnTo>
                  <a:lnTo>
                    <a:pt x="6" y="395"/>
                  </a:lnTo>
                  <a:lnTo>
                    <a:pt x="5" y="395"/>
                  </a:lnTo>
                  <a:lnTo>
                    <a:pt x="3" y="395"/>
                  </a:lnTo>
                  <a:lnTo>
                    <a:pt x="2" y="394"/>
                  </a:lnTo>
                  <a:lnTo>
                    <a:pt x="1" y="392"/>
                  </a:lnTo>
                  <a:lnTo>
                    <a:pt x="1" y="391"/>
                  </a:lnTo>
                  <a:lnTo>
                    <a:pt x="1" y="338"/>
                  </a:lnTo>
                  <a:lnTo>
                    <a:pt x="1" y="336"/>
                  </a:lnTo>
                  <a:lnTo>
                    <a:pt x="2" y="335"/>
                  </a:lnTo>
                  <a:lnTo>
                    <a:pt x="3" y="335"/>
                  </a:lnTo>
                  <a:lnTo>
                    <a:pt x="5" y="334"/>
                  </a:lnTo>
                  <a:lnTo>
                    <a:pt x="6" y="335"/>
                  </a:lnTo>
                  <a:lnTo>
                    <a:pt x="7" y="335"/>
                  </a:lnTo>
                  <a:lnTo>
                    <a:pt x="8" y="336"/>
                  </a:lnTo>
                  <a:lnTo>
                    <a:pt x="8" y="338"/>
                  </a:lnTo>
                  <a:close/>
                  <a:moveTo>
                    <a:pt x="8" y="421"/>
                  </a:moveTo>
                  <a:lnTo>
                    <a:pt x="8" y="475"/>
                  </a:lnTo>
                  <a:lnTo>
                    <a:pt x="8" y="476"/>
                  </a:lnTo>
                  <a:lnTo>
                    <a:pt x="7" y="477"/>
                  </a:lnTo>
                  <a:lnTo>
                    <a:pt x="6" y="479"/>
                  </a:lnTo>
                  <a:lnTo>
                    <a:pt x="5" y="479"/>
                  </a:lnTo>
                  <a:lnTo>
                    <a:pt x="3" y="479"/>
                  </a:lnTo>
                  <a:lnTo>
                    <a:pt x="2" y="477"/>
                  </a:lnTo>
                  <a:lnTo>
                    <a:pt x="1" y="476"/>
                  </a:lnTo>
                  <a:lnTo>
                    <a:pt x="1" y="475"/>
                  </a:lnTo>
                  <a:lnTo>
                    <a:pt x="1" y="421"/>
                  </a:lnTo>
                  <a:lnTo>
                    <a:pt x="1" y="420"/>
                  </a:lnTo>
                  <a:lnTo>
                    <a:pt x="2" y="419"/>
                  </a:lnTo>
                  <a:lnTo>
                    <a:pt x="3" y="418"/>
                  </a:lnTo>
                  <a:lnTo>
                    <a:pt x="5" y="418"/>
                  </a:lnTo>
                  <a:lnTo>
                    <a:pt x="6" y="418"/>
                  </a:lnTo>
                  <a:lnTo>
                    <a:pt x="7" y="419"/>
                  </a:lnTo>
                  <a:lnTo>
                    <a:pt x="8" y="420"/>
                  </a:lnTo>
                  <a:lnTo>
                    <a:pt x="8" y="421"/>
                  </a:lnTo>
                  <a:close/>
                  <a:moveTo>
                    <a:pt x="8" y="505"/>
                  </a:moveTo>
                  <a:lnTo>
                    <a:pt x="8" y="559"/>
                  </a:lnTo>
                  <a:lnTo>
                    <a:pt x="8" y="560"/>
                  </a:lnTo>
                  <a:lnTo>
                    <a:pt x="7" y="561"/>
                  </a:lnTo>
                  <a:lnTo>
                    <a:pt x="6" y="562"/>
                  </a:lnTo>
                  <a:lnTo>
                    <a:pt x="5" y="562"/>
                  </a:lnTo>
                  <a:lnTo>
                    <a:pt x="3" y="562"/>
                  </a:lnTo>
                  <a:lnTo>
                    <a:pt x="2" y="561"/>
                  </a:lnTo>
                  <a:lnTo>
                    <a:pt x="1" y="560"/>
                  </a:lnTo>
                  <a:lnTo>
                    <a:pt x="1" y="559"/>
                  </a:lnTo>
                  <a:lnTo>
                    <a:pt x="1" y="505"/>
                  </a:lnTo>
                  <a:lnTo>
                    <a:pt x="1" y="504"/>
                  </a:lnTo>
                  <a:lnTo>
                    <a:pt x="2" y="503"/>
                  </a:lnTo>
                  <a:lnTo>
                    <a:pt x="3" y="502"/>
                  </a:lnTo>
                  <a:lnTo>
                    <a:pt x="5" y="502"/>
                  </a:lnTo>
                  <a:lnTo>
                    <a:pt x="6" y="502"/>
                  </a:lnTo>
                  <a:lnTo>
                    <a:pt x="7" y="503"/>
                  </a:lnTo>
                  <a:lnTo>
                    <a:pt x="8" y="504"/>
                  </a:lnTo>
                  <a:lnTo>
                    <a:pt x="8" y="505"/>
                  </a:lnTo>
                  <a:close/>
                  <a:moveTo>
                    <a:pt x="8" y="589"/>
                  </a:moveTo>
                  <a:lnTo>
                    <a:pt x="8" y="641"/>
                  </a:lnTo>
                  <a:lnTo>
                    <a:pt x="8" y="644"/>
                  </a:lnTo>
                  <a:lnTo>
                    <a:pt x="7" y="645"/>
                  </a:lnTo>
                  <a:lnTo>
                    <a:pt x="6" y="645"/>
                  </a:lnTo>
                  <a:lnTo>
                    <a:pt x="5" y="646"/>
                  </a:lnTo>
                  <a:lnTo>
                    <a:pt x="3" y="645"/>
                  </a:lnTo>
                  <a:lnTo>
                    <a:pt x="2" y="645"/>
                  </a:lnTo>
                  <a:lnTo>
                    <a:pt x="1" y="644"/>
                  </a:lnTo>
                  <a:lnTo>
                    <a:pt x="1" y="641"/>
                  </a:lnTo>
                  <a:lnTo>
                    <a:pt x="1" y="589"/>
                  </a:lnTo>
                  <a:lnTo>
                    <a:pt x="1" y="588"/>
                  </a:lnTo>
                  <a:lnTo>
                    <a:pt x="2" y="587"/>
                  </a:lnTo>
                  <a:lnTo>
                    <a:pt x="3" y="585"/>
                  </a:lnTo>
                  <a:lnTo>
                    <a:pt x="5" y="585"/>
                  </a:lnTo>
                  <a:lnTo>
                    <a:pt x="6" y="585"/>
                  </a:lnTo>
                  <a:lnTo>
                    <a:pt x="7" y="587"/>
                  </a:lnTo>
                  <a:lnTo>
                    <a:pt x="8" y="588"/>
                  </a:lnTo>
                  <a:lnTo>
                    <a:pt x="8" y="589"/>
                  </a:lnTo>
                  <a:close/>
                </a:path>
              </a:pathLst>
            </a:custGeom>
            <a:solidFill>
              <a:srgbClr val="000000"/>
            </a:solidFill>
            <a:ln w="158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1" name="Line 369"/>
            <p:cNvSpPr/>
            <p:nvPr/>
          </p:nvSpPr>
          <p:spPr>
            <a:xfrm flipV="1">
              <a:off x="4255" y="2868"/>
              <a:ext cx="693" cy="659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2" name="Freeform 370"/>
            <p:cNvSpPr>
              <a:spLocks noEditPoints="1"/>
            </p:cNvSpPr>
            <p:nvPr/>
          </p:nvSpPr>
          <p:spPr>
            <a:xfrm>
              <a:off x="4937" y="2595"/>
              <a:ext cx="298" cy="284"/>
            </a:xfrm>
            <a:custGeom>
              <a:avLst/>
              <a:gdLst/>
              <a:ahLst/>
              <a:cxnLst>
                <a:cxn ang="0">
                  <a:pos x="0" y="269"/>
                </a:cxn>
                <a:cxn ang="0">
                  <a:pos x="254" y="28"/>
                </a:cxn>
                <a:cxn ang="0">
                  <a:pos x="268" y="42"/>
                </a:cxn>
                <a:cxn ang="0">
                  <a:pos x="14" y="284"/>
                </a:cxn>
                <a:cxn ang="0">
                  <a:pos x="0" y="269"/>
                </a:cxn>
                <a:cxn ang="0">
                  <a:pos x="240" y="28"/>
                </a:cxn>
                <a:cxn ang="0">
                  <a:pos x="298" y="0"/>
                </a:cxn>
                <a:cxn ang="0">
                  <a:pos x="268" y="57"/>
                </a:cxn>
                <a:cxn ang="0">
                  <a:pos x="240" y="28"/>
                </a:cxn>
              </a:cxnLst>
              <a:rect l="0" t="0" r="0" b="0"/>
              <a:pathLst>
                <a:path w="298" h="284">
                  <a:moveTo>
                    <a:pt x="0" y="269"/>
                  </a:moveTo>
                  <a:lnTo>
                    <a:pt x="254" y="28"/>
                  </a:lnTo>
                  <a:lnTo>
                    <a:pt x="268" y="42"/>
                  </a:lnTo>
                  <a:lnTo>
                    <a:pt x="14" y="284"/>
                  </a:lnTo>
                  <a:lnTo>
                    <a:pt x="0" y="269"/>
                  </a:lnTo>
                  <a:close/>
                  <a:moveTo>
                    <a:pt x="240" y="28"/>
                  </a:moveTo>
                  <a:lnTo>
                    <a:pt x="298" y="0"/>
                  </a:lnTo>
                  <a:lnTo>
                    <a:pt x="268" y="57"/>
                  </a:lnTo>
                  <a:lnTo>
                    <a:pt x="240" y="28"/>
                  </a:lnTo>
                  <a:close/>
                </a:path>
              </a:pathLst>
            </a:custGeom>
            <a:solidFill>
              <a:srgbClr val="FF00FF"/>
            </a:solidFill>
            <a:ln w="1588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3" name="Freeform 371"/>
            <p:cNvSpPr>
              <a:spLocks noEditPoints="1"/>
            </p:cNvSpPr>
            <p:nvPr/>
          </p:nvSpPr>
          <p:spPr>
            <a:xfrm>
              <a:off x="4935" y="2862"/>
              <a:ext cx="285" cy="297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257" y="254"/>
                </a:cxn>
                <a:cxn ang="0">
                  <a:pos x="243" y="268"/>
                </a:cxn>
                <a:cxn ang="0">
                  <a:pos x="0" y="14"/>
                </a:cxn>
                <a:cxn ang="0">
                  <a:pos x="15" y="0"/>
                </a:cxn>
                <a:cxn ang="0">
                  <a:pos x="259" y="239"/>
                </a:cxn>
                <a:cxn ang="0">
                  <a:pos x="285" y="297"/>
                </a:cxn>
                <a:cxn ang="0">
                  <a:pos x="229" y="267"/>
                </a:cxn>
                <a:cxn ang="0">
                  <a:pos x="259" y="239"/>
                </a:cxn>
              </a:cxnLst>
              <a:rect l="0" t="0" r="0" b="0"/>
              <a:pathLst>
                <a:path w="285" h="297">
                  <a:moveTo>
                    <a:pt x="15" y="0"/>
                  </a:moveTo>
                  <a:lnTo>
                    <a:pt x="257" y="254"/>
                  </a:lnTo>
                  <a:lnTo>
                    <a:pt x="243" y="268"/>
                  </a:lnTo>
                  <a:lnTo>
                    <a:pt x="0" y="14"/>
                  </a:lnTo>
                  <a:lnTo>
                    <a:pt x="15" y="0"/>
                  </a:lnTo>
                  <a:close/>
                  <a:moveTo>
                    <a:pt x="259" y="239"/>
                  </a:moveTo>
                  <a:lnTo>
                    <a:pt x="285" y="297"/>
                  </a:lnTo>
                  <a:lnTo>
                    <a:pt x="229" y="267"/>
                  </a:lnTo>
                  <a:lnTo>
                    <a:pt x="259" y="239"/>
                  </a:lnTo>
                  <a:close/>
                </a:path>
              </a:pathLst>
            </a:custGeom>
            <a:solidFill>
              <a:srgbClr val="FF00FF"/>
            </a:solidFill>
            <a:ln w="1588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4" name="Freeform 372"/>
            <p:cNvSpPr>
              <a:spLocks noEditPoints="1"/>
            </p:cNvSpPr>
            <p:nvPr/>
          </p:nvSpPr>
          <p:spPr>
            <a:xfrm>
              <a:off x="4944" y="2852"/>
              <a:ext cx="393" cy="4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342" y="10"/>
                </a:cxn>
                <a:cxn ang="0">
                  <a:pos x="342" y="31"/>
                </a:cxn>
                <a:cxn ang="0">
                  <a:pos x="0" y="31"/>
                </a:cxn>
                <a:cxn ang="0">
                  <a:pos x="0" y="10"/>
                </a:cxn>
                <a:cxn ang="0">
                  <a:pos x="332" y="0"/>
                </a:cxn>
                <a:cxn ang="0">
                  <a:pos x="393" y="21"/>
                </a:cxn>
                <a:cxn ang="0">
                  <a:pos x="332" y="40"/>
                </a:cxn>
                <a:cxn ang="0">
                  <a:pos x="332" y="0"/>
                </a:cxn>
              </a:cxnLst>
              <a:rect l="0" t="0" r="0" b="0"/>
              <a:pathLst>
                <a:path w="393" h="40">
                  <a:moveTo>
                    <a:pt x="0" y="10"/>
                  </a:moveTo>
                  <a:lnTo>
                    <a:pt x="342" y="10"/>
                  </a:lnTo>
                  <a:lnTo>
                    <a:pt x="342" y="31"/>
                  </a:lnTo>
                  <a:lnTo>
                    <a:pt x="0" y="31"/>
                  </a:lnTo>
                  <a:lnTo>
                    <a:pt x="0" y="10"/>
                  </a:lnTo>
                  <a:close/>
                  <a:moveTo>
                    <a:pt x="332" y="0"/>
                  </a:moveTo>
                  <a:lnTo>
                    <a:pt x="393" y="21"/>
                  </a:lnTo>
                  <a:lnTo>
                    <a:pt x="332" y="40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0000FF"/>
            </a:solidFill>
            <a:ln w="15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5" name="Freeform 373"/>
            <p:cNvSpPr>
              <a:spLocks noEditPoints="1"/>
            </p:cNvSpPr>
            <p:nvPr/>
          </p:nvSpPr>
          <p:spPr>
            <a:xfrm>
              <a:off x="4931" y="2471"/>
              <a:ext cx="40" cy="392"/>
            </a:xfrm>
            <a:custGeom>
              <a:avLst/>
              <a:gdLst/>
              <a:ahLst/>
              <a:cxnLst>
                <a:cxn ang="0">
                  <a:pos x="9" y="392"/>
                </a:cxn>
                <a:cxn ang="0">
                  <a:pos x="9" y="51"/>
                </a:cxn>
                <a:cxn ang="0">
                  <a:pos x="30" y="51"/>
                </a:cxn>
                <a:cxn ang="0">
                  <a:pos x="29" y="392"/>
                </a:cxn>
                <a:cxn ang="0">
                  <a:pos x="9" y="392"/>
                </a:cxn>
                <a:cxn ang="0">
                  <a:pos x="0" y="61"/>
                </a:cxn>
                <a:cxn ang="0">
                  <a:pos x="19" y="0"/>
                </a:cxn>
                <a:cxn ang="0">
                  <a:pos x="40" y="61"/>
                </a:cxn>
                <a:cxn ang="0">
                  <a:pos x="0" y="61"/>
                </a:cxn>
              </a:cxnLst>
              <a:rect l="0" t="0" r="0" b="0"/>
              <a:pathLst>
                <a:path w="40" h="392">
                  <a:moveTo>
                    <a:pt x="9" y="392"/>
                  </a:moveTo>
                  <a:lnTo>
                    <a:pt x="9" y="51"/>
                  </a:lnTo>
                  <a:lnTo>
                    <a:pt x="30" y="51"/>
                  </a:lnTo>
                  <a:lnTo>
                    <a:pt x="29" y="392"/>
                  </a:lnTo>
                  <a:lnTo>
                    <a:pt x="9" y="392"/>
                  </a:lnTo>
                  <a:close/>
                  <a:moveTo>
                    <a:pt x="0" y="61"/>
                  </a:moveTo>
                  <a:lnTo>
                    <a:pt x="19" y="0"/>
                  </a:lnTo>
                  <a:lnTo>
                    <a:pt x="40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0000FF"/>
            </a:solidFill>
            <a:ln w="1588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6" name="Freeform 374"/>
            <p:cNvSpPr/>
            <p:nvPr/>
          </p:nvSpPr>
          <p:spPr>
            <a:xfrm>
              <a:off x="4255" y="3331"/>
              <a:ext cx="117" cy="8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19" y="1"/>
                </a:cxn>
                <a:cxn ang="0">
                  <a:pos x="29" y="3"/>
                </a:cxn>
                <a:cxn ang="0">
                  <a:pos x="39" y="6"/>
                </a:cxn>
                <a:cxn ang="0">
                  <a:pos x="47" y="8"/>
                </a:cxn>
                <a:cxn ang="0">
                  <a:pos x="57" y="13"/>
                </a:cxn>
                <a:cxn ang="0">
                  <a:pos x="64" y="17"/>
                </a:cxn>
                <a:cxn ang="0">
                  <a:pos x="73" y="23"/>
                </a:cxn>
                <a:cxn ang="0">
                  <a:pos x="80" y="29"/>
                </a:cxn>
                <a:cxn ang="0">
                  <a:pos x="88" y="35"/>
                </a:cxn>
                <a:cxn ang="0">
                  <a:pos x="94" y="41"/>
                </a:cxn>
                <a:cxn ang="0">
                  <a:pos x="100" y="48"/>
                </a:cxn>
                <a:cxn ang="0">
                  <a:pos x="106" y="57"/>
                </a:cxn>
                <a:cxn ang="0">
                  <a:pos x="109" y="65"/>
                </a:cxn>
                <a:cxn ang="0">
                  <a:pos x="114" y="74"/>
                </a:cxn>
                <a:cxn ang="0">
                  <a:pos x="117" y="82"/>
                </a:cxn>
              </a:cxnLst>
              <a:rect l="0" t="0" r="0" b="0"/>
              <a:pathLst>
                <a:path w="117" h="82">
                  <a:moveTo>
                    <a:pt x="0" y="0"/>
                  </a:moveTo>
                  <a:lnTo>
                    <a:pt x="10" y="0"/>
                  </a:lnTo>
                  <a:lnTo>
                    <a:pt x="19" y="1"/>
                  </a:lnTo>
                  <a:lnTo>
                    <a:pt x="29" y="3"/>
                  </a:lnTo>
                  <a:lnTo>
                    <a:pt x="39" y="6"/>
                  </a:lnTo>
                  <a:lnTo>
                    <a:pt x="47" y="8"/>
                  </a:lnTo>
                  <a:lnTo>
                    <a:pt x="57" y="13"/>
                  </a:lnTo>
                  <a:lnTo>
                    <a:pt x="64" y="17"/>
                  </a:lnTo>
                  <a:lnTo>
                    <a:pt x="73" y="23"/>
                  </a:lnTo>
                  <a:lnTo>
                    <a:pt x="80" y="29"/>
                  </a:lnTo>
                  <a:lnTo>
                    <a:pt x="88" y="35"/>
                  </a:lnTo>
                  <a:lnTo>
                    <a:pt x="94" y="41"/>
                  </a:lnTo>
                  <a:lnTo>
                    <a:pt x="100" y="48"/>
                  </a:lnTo>
                  <a:lnTo>
                    <a:pt x="106" y="57"/>
                  </a:lnTo>
                  <a:lnTo>
                    <a:pt x="109" y="65"/>
                  </a:lnTo>
                  <a:lnTo>
                    <a:pt x="114" y="74"/>
                  </a:lnTo>
                  <a:lnTo>
                    <a:pt x="117" y="82"/>
                  </a:lnTo>
                </a:path>
              </a:pathLst>
            </a:custGeom>
            <a:noFill/>
            <a:ln w="111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37" name="Rectangle 375"/>
            <p:cNvSpPr/>
            <p:nvPr/>
          </p:nvSpPr>
          <p:spPr>
            <a:xfrm>
              <a:off x="4316" y="3201"/>
              <a:ext cx="6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500" b="0" i="1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38" name="Rectangle 382"/>
            <p:cNvSpPr/>
            <p:nvPr/>
          </p:nvSpPr>
          <p:spPr>
            <a:xfrm>
              <a:off x="5429" y="3476"/>
              <a:ext cx="79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800" b="0" i="1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r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39" name="Rectangle 383"/>
            <p:cNvSpPr/>
            <p:nvPr/>
          </p:nvSpPr>
          <p:spPr>
            <a:xfrm>
              <a:off x="4293" y="2267"/>
              <a:ext cx="8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27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40" name="Line 384"/>
            <p:cNvSpPr/>
            <p:nvPr/>
          </p:nvSpPr>
          <p:spPr>
            <a:xfrm>
              <a:off x="4859" y="2959"/>
              <a:ext cx="73" cy="78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1" name="Line 385"/>
            <p:cNvSpPr/>
            <p:nvPr/>
          </p:nvSpPr>
          <p:spPr>
            <a:xfrm flipV="1">
              <a:off x="4937" y="2959"/>
              <a:ext cx="86" cy="78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2" name="Rectangle 386"/>
            <p:cNvSpPr/>
            <p:nvPr/>
          </p:nvSpPr>
          <p:spPr>
            <a:xfrm>
              <a:off x="4596" y="3298"/>
              <a:ext cx="312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zh-CN" altLang="en-US" sz="13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单位圆</a:t>
              </a:r>
              <a:endParaRPr lang="zh-CN" altLang="en-US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43" name="Rectangle 387"/>
            <p:cNvSpPr/>
            <p:nvPr/>
          </p:nvSpPr>
          <p:spPr>
            <a:xfrm>
              <a:off x="4917" y="3290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3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44" name="Rectangle 389"/>
            <p:cNvSpPr/>
            <p:nvPr/>
          </p:nvSpPr>
          <p:spPr>
            <a:xfrm>
              <a:off x="4210" y="3702"/>
              <a:ext cx="1360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marL="342900" indent="-342900" algn="ctr"/>
              <a:r>
                <a:rPr lang="zh-CN" altLang="en-US" sz="1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柱坐标系与球坐标系之间</a:t>
              </a:r>
            </a:p>
            <a:p>
              <a:pPr marL="342900" indent="-342900" algn="ctr"/>
              <a:r>
                <a:rPr lang="zh-CN" altLang="en-US" sz="1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坐标单位矢量的关系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45" name="Freeform 397"/>
            <p:cNvSpPr/>
            <p:nvPr/>
          </p:nvSpPr>
          <p:spPr>
            <a:xfrm>
              <a:off x="4946" y="2731"/>
              <a:ext cx="89" cy="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6" y="0"/>
                </a:cxn>
                <a:cxn ang="0">
                  <a:pos x="24" y="2"/>
                </a:cxn>
                <a:cxn ang="0">
                  <a:pos x="30" y="3"/>
                </a:cxn>
                <a:cxn ang="0">
                  <a:pos x="37" y="6"/>
                </a:cxn>
                <a:cxn ang="0">
                  <a:pos x="44" y="9"/>
                </a:cxn>
                <a:cxn ang="0">
                  <a:pos x="50" y="13"/>
                </a:cxn>
                <a:cxn ang="0">
                  <a:pos x="56" y="17"/>
                </a:cxn>
                <a:cxn ang="0">
                  <a:pos x="63" y="22"/>
                </a:cxn>
                <a:cxn ang="0">
                  <a:pos x="67" y="26"/>
                </a:cxn>
                <a:cxn ang="0">
                  <a:pos x="72" y="31"/>
                </a:cxn>
                <a:cxn ang="0">
                  <a:pos x="77" y="36"/>
                </a:cxn>
                <a:cxn ang="0">
                  <a:pos x="81" y="42"/>
                </a:cxn>
                <a:cxn ang="0">
                  <a:pos x="84" y="50"/>
                </a:cxn>
                <a:cxn ang="0">
                  <a:pos x="87" y="56"/>
                </a:cxn>
                <a:cxn ang="0">
                  <a:pos x="89" y="63"/>
                </a:cxn>
              </a:cxnLst>
              <a:rect l="0" t="0" r="0" b="0"/>
              <a:pathLst>
                <a:path w="89" h="63">
                  <a:moveTo>
                    <a:pt x="0" y="0"/>
                  </a:moveTo>
                  <a:lnTo>
                    <a:pt x="8" y="0"/>
                  </a:lnTo>
                  <a:lnTo>
                    <a:pt x="16" y="0"/>
                  </a:lnTo>
                  <a:lnTo>
                    <a:pt x="24" y="2"/>
                  </a:lnTo>
                  <a:lnTo>
                    <a:pt x="30" y="3"/>
                  </a:lnTo>
                  <a:lnTo>
                    <a:pt x="37" y="6"/>
                  </a:lnTo>
                  <a:lnTo>
                    <a:pt x="44" y="9"/>
                  </a:lnTo>
                  <a:lnTo>
                    <a:pt x="50" y="13"/>
                  </a:lnTo>
                  <a:lnTo>
                    <a:pt x="56" y="17"/>
                  </a:lnTo>
                  <a:lnTo>
                    <a:pt x="63" y="22"/>
                  </a:lnTo>
                  <a:lnTo>
                    <a:pt x="67" y="26"/>
                  </a:lnTo>
                  <a:lnTo>
                    <a:pt x="72" y="31"/>
                  </a:lnTo>
                  <a:lnTo>
                    <a:pt x="77" y="36"/>
                  </a:lnTo>
                  <a:lnTo>
                    <a:pt x="81" y="42"/>
                  </a:lnTo>
                  <a:lnTo>
                    <a:pt x="84" y="50"/>
                  </a:lnTo>
                  <a:lnTo>
                    <a:pt x="87" y="56"/>
                  </a:lnTo>
                  <a:lnTo>
                    <a:pt x="89" y="63"/>
                  </a:lnTo>
                </a:path>
              </a:pathLst>
            </a:custGeom>
            <a:noFill/>
            <a:ln w="111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6" name="Freeform 398"/>
            <p:cNvSpPr/>
            <p:nvPr/>
          </p:nvSpPr>
          <p:spPr>
            <a:xfrm>
              <a:off x="5000" y="2878"/>
              <a:ext cx="89" cy="63"/>
            </a:xfrm>
            <a:custGeom>
              <a:avLst/>
              <a:gdLst/>
              <a:ahLst/>
              <a:cxnLst>
                <a:cxn ang="0">
                  <a:pos x="0" y="63"/>
                </a:cxn>
                <a:cxn ang="0">
                  <a:pos x="7" y="63"/>
                </a:cxn>
                <a:cxn ang="0">
                  <a:pos x="15" y="62"/>
                </a:cxn>
                <a:cxn ang="0">
                  <a:pos x="22" y="60"/>
                </a:cxn>
                <a:cxn ang="0">
                  <a:pos x="29" y="58"/>
                </a:cxn>
                <a:cxn ang="0">
                  <a:pos x="37" y="56"/>
                </a:cxn>
                <a:cxn ang="0">
                  <a:pos x="43" y="53"/>
                </a:cxn>
                <a:cxn ang="0">
                  <a:pos x="50" y="49"/>
                </a:cxn>
                <a:cxn ang="0">
                  <a:pos x="56" y="45"/>
                </a:cxn>
                <a:cxn ang="0">
                  <a:pos x="61" y="41"/>
                </a:cxn>
                <a:cxn ang="0">
                  <a:pos x="67" y="36"/>
                </a:cxn>
                <a:cxn ang="0">
                  <a:pos x="72" y="31"/>
                </a:cxn>
                <a:cxn ang="0">
                  <a:pos x="75" y="25"/>
                </a:cxn>
                <a:cxn ang="0">
                  <a:pos x="80" y="19"/>
                </a:cxn>
                <a:cxn ang="0">
                  <a:pos x="84" y="13"/>
                </a:cxn>
                <a:cxn ang="0">
                  <a:pos x="86" y="6"/>
                </a:cxn>
                <a:cxn ang="0">
                  <a:pos x="89" y="0"/>
                </a:cxn>
              </a:cxnLst>
              <a:rect l="0" t="0" r="0" b="0"/>
              <a:pathLst>
                <a:path w="89" h="63">
                  <a:moveTo>
                    <a:pt x="0" y="63"/>
                  </a:moveTo>
                  <a:lnTo>
                    <a:pt x="7" y="63"/>
                  </a:lnTo>
                  <a:lnTo>
                    <a:pt x="15" y="62"/>
                  </a:lnTo>
                  <a:lnTo>
                    <a:pt x="22" y="60"/>
                  </a:lnTo>
                  <a:lnTo>
                    <a:pt x="29" y="58"/>
                  </a:lnTo>
                  <a:lnTo>
                    <a:pt x="37" y="56"/>
                  </a:lnTo>
                  <a:lnTo>
                    <a:pt x="43" y="53"/>
                  </a:lnTo>
                  <a:lnTo>
                    <a:pt x="50" y="49"/>
                  </a:lnTo>
                  <a:lnTo>
                    <a:pt x="56" y="45"/>
                  </a:lnTo>
                  <a:lnTo>
                    <a:pt x="61" y="41"/>
                  </a:lnTo>
                  <a:lnTo>
                    <a:pt x="67" y="36"/>
                  </a:lnTo>
                  <a:lnTo>
                    <a:pt x="72" y="31"/>
                  </a:lnTo>
                  <a:lnTo>
                    <a:pt x="75" y="25"/>
                  </a:lnTo>
                  <a:lnTo>
                    <a:pt x="80" y="19"/>
                  </a:lnTo>
                  <a:lnTo>
                    <a:pt x="84" y="13"/>
                  </a:lnTo>
                  <a:lnTo>
                    <a:pt x="86" y="6"/>
                  </a:lnTo>
                  <a:lnTo>
                    <a:pt x="89" y="0"/>
                  </a:lnTo>
                </a:path>
              </a:pathLst>
            </a:custGeom>
            <a:noFill/>
            <a:ln w="111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7" name="Rectangle 399"/>
            <p:cNvSpPr/>
            <p:nvPr/>
          </p:nvSpPr>
          <p:spPr>
            <a:xfrm>
              <a:off x="4985" y="2603"/>
              <a:ext cx="6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500" b="0" i="1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148" name="Rectangle 400"/>
            <p:cNvSpPr/>
            <p:nvPr/>
          </p:nvSpPr>
          <p:spPr>
            <a:xfrm>
              <a:off x="5077" y="2872"/>
              <a:ext cx="6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indent="-342900"/>
              <a:r>
                <a:rPr lang="en-US" altLang="zh-CN" sz="1500" b="0" i="1" dirty="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2149" name="Object 448"/>
            <p:cNvGraphicFramePr/>
            <p:nvPr/>
          </p:nvGraphicFramePr>
          <p:xfrm>
            <a:off x="4889" y="2251"/>
            <a:ext cx="17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9" imgW="165100" imgH="241300" progId="Equation.3">
                    <p:embed/>
                  </p:oleObj>
                </mc:Choice>
                <mc:Fallback>
                  <p:oleObj r:id="rId79" imgW="165100" imgH="241300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89" y="2251"/>
                          <a:ext cx="17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50" name="Object 451"/>
            <p:cNvGraphicFramePr/>
            <p:nvPr/>
          </p:nvGraphicFramePr>
          <p:xfrm>
            <a:off x="5343" y="2750"/>
            <a:ext cx="159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0" imgW="177800" imgH="253365" progId="Equation.3">
                    <p:embed/>
                  </p:oleObj>
                </mc:Choice>
                <mc:Fallback>
                  <p:oleObj r:id="rId80" imgW="177800" imgH="253365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343" y="2750"/>
                          <a:ext cx="159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51" name="Object 453"/>
            <p:cNvGraphicFramePr/>
            <p:nvPr/>
          </p:nvGraphicFramePr>
          <p:xfrm>
            <a:off x="5236" y="2432"/>
            <a:ext cx="17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1" imgW="104775" imgH="170815" progId="Equation.3">
                    <p:embed/>
                  </p:oleObj>
                </mc:Choice>
                <mc:Fallback>
                  <p:oleObj r:id="rId81" imgW="104775" imgH="170815" progId="Equation.3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82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36" y="2432"/>
                          <a:ext cx="171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152" name="Object 454"/>
            <p:cNvGraphicFramePr>
              <a:graphicFrameLocks noChangeAspect="1"/>
            </p:cNvGraphicFramePr>
            <p:nvPr/>
          </p:nvGraphicFramePr>
          <p:xfrm>
            <a:off x="5196" y="3113"/>
            <a:ext cx="185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3" imgW="115570" imgH="170815" progId="Equation.3">
                    <p:embed/>
                  </p:oleObj>
                </mc:Choice>
                <mc:Fallback>
                  <p:oleObj r:id="rId83" imgW="115570" imgH="170815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84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96" y="3113"/>
                          <a:ext cx="185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153" name="AutoShape 507">
            <a:hlinkClick r:id="rId85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2154" name="AutoShape 508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2155" name="AutoShape 509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2156" name="AutoShape 510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73247" name="Picture 511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6300788" y="549275"/>
            <a:ext cx="2676525" cy="2886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79">
            <a:extLst>
              <a:ext uri="{FF2B5EF4-FFF2-40B4-BE49-F238E27FC236}">
                <a16:creationId xmlns:a16="http://schemas.microsoft.com/office/drawing/2014/main" id="{3EF5D128-DBF5-7D03-BBDC-0CB1F9C63D0C}"/>
              </a:ext>
            </a:extLst>
          </p:cNvPr>
          <p:cNvSpPr txBox="1"/>
          <p:nvPr/>
        </p:nvSpPr>
        <p:spPr>
          <a:xfrm>
            <a:off x="2510631" y="876845"/>
            <a:ext cx="41227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矢量的不变特性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E242787F-4105-129A-B4F4-711C27F9B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328249"/>
              </p:ext>
            </p:extLst>
          </p:nvPr>
        </p:nvGraphicFramePr>
        <p:xfrm>
          <a:off x="178818" y="1988840"/>
          <a:ext cx="878567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59">
                  <a:extLst>
                    <a:ext uri="{9D8B030D-6E8A-4147-A177-3AD203B41FA5}">
                      <a16:colId xmlns:a16="http://schemas.microsoft.com/office/drawing/2014/main" val="3629216034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864427602"/>
                    </a:ext>
                  </a:extLst>
                </a:gridCol>
                <a:gridCol w="4609207">
                  <a:extLst>
                    <a:ext uri="{9D8B030D-6E8A-4147-A177-3AD203B41FA5}">
                      <a16:colId xmlns:a16="http://schemas.microsoft.com/office/drawing/2014/main" val="385801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3333FF"/>
                          </a:solidFill>
                        </a:rPr>
                        <a:t>自变量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3333FF"/>
                          </a:solidFill>
                        </a:rPr>
                        <a:t>场函数的抽象表达式和具体表达式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13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直角坐标系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45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柱坐标系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499716"/>
                  </a:ext>
                </a:extLst>
              </a:tr>
            </a:tbl>
          </a:graphicData>
        </a:graphic>
      </p:graphicFrame>
      <p:sp>
        <p:nvSpPr>
          <p:cNvPr id="44033" name="AutoShape 170">
            <a:hlinkClick r:id="rId3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4034" name="AutoShape 171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4035" name="AutoShape 172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4036" name="AutoShape 173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38129" name="Rectangle 177"/>
          <p:cNvSpPr/>
          <p:nvPr/>
        </p:nvSpPr>
        <p:spPr>
          <a:xfrm>
            <a:off x="323850" y="693738"/>
            <a:ext cx="8569325" cy="5032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1.2.1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转换为圆柱坐标系下向量。</a:t>
            </a:r>
          </a:p>
        </p:txBody>
      </p:sp>
      <p:graphicFrame>
        <p:nvGraphicFramePr>
          <p:cNvPr id="638130" name="Object 178"/>
          <p:cNvGraphicFramePr>
            <a:graphicFrameLocks noGrp="1" noChangeAspect="1"/>
          </p:cNvGraphicFramePr>
          <p:nvPr>
            <p:ph/>
          </p:nvPr>
        </p:nvGraphicFramePr>
        <p:xfrm>
          <a:off x="1979613" y="692150"/>
          <a:ext cx="33845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38580" imgH="193040" progId="Equation.3">
                  <p:embed/>
                </p:oleObj>
              </mc:Choice>
              <mc:Fallback>
                <p:oleObj r:id="rId4" imgW="1338580" imgH="19304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692150"/>
                        <a:ext cx="3384550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132" name="Object 1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13915"/>
              </p:ext>
            </p:extLst>
          </p:nvPr>
        </p:nvGraphicFramePr>
        <p:xfrm>
          <a:off x="909638" y="5035351"/>
          <a:ext cx="777081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123565" imgH="302895" progId="Equation.3">
                  <p:embed/>
                </p:oleObj>
              </mc:Choice>
              <mc:Fallback>
                <p:oleObj r:id="rId6" imgW="3123565" imgH="302895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9638" y="5035351"/>
                        <a:ext cx="7770813" cy="836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8134" name="Rectangle 182"/>
          <p:cNvSpPr/>
          <p:nvPr/>
        </p:nvSpPr>
        <p:spPr>
          <a:xfrm>
            <a:off x="2576562" y="1448774"/>
            <a:ext cx="4968875" cy="576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自变量</a:t>
            </a:r>
            <a:r>
              <a:rPr lang="zh-CN" altLang="en-US" sz="2000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←映射关系→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场函数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638143" name="Object 1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973121"/>
              </p:ext>
            </p:extLst>
          </p:nvPr>
        </p:nvGraphicFramePr>
        <p:xfrm>
          <a:off x="981076" y="4459089"/>
          <a:ext cx="582136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329815" imgH="170815" progId="Equation.3">
                  <p:embed/>
                </p:oleObj>
              </mc:Choice>
              <mc:Fallback>
                <p:oleObj r:id="rId8" imgW="2329815" imgH="170815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81076" y="4459089"/>
                        <a:ext cx="5821362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82">
            <a:extLst>
              <a:ext uri="{FF2B5EF4-FFF2-40B4-BE49-F238E27FC236}">
                <a16:creationId xmlns:a16="http://schemas.microsoft.com/office/drawing/2014/main" id="{D8B5D36E-2170-25C3-6A5D-8F7BF0111581}"/>
              </a:ext>
            </a:extLst>
          </p:cNvPr>
          <p:cNvSpPr/>
          <p:nvPr/>
        </p:nvSpPr>
        <p:spPr>
          <a:xfrm>
            <a:off x="179512" y="4005064"/>
            <a:ext cx="4968875" cy="576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解：（</a:t>
            </a:r>
            <a:r>
              <a:rPr lang="en-US" altLang="zh-CN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）自变量的转换：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15F714E-DF05-D1F7-A574-CE87D930F8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0014" y="2500231"/>
            <a:ext cx="1793180" cy="36308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AB56C9-D9C8-E3F1-1194-971E8B2B67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5258" y="3115112"/>
            <a:ext cx="2506588" cy="41226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7BC9642-A6A1-2B2C-76FB-EABED9119F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478" y="2444526"/>
            <a:ext cx="3316188" cy="52926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E7CE755-F3BE-0B68-7B87-48DDA0EB1E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6378" y="3116208"/>
            <a:ext cx="4288333" cy="44218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AutoShape 2">
            <a:hlinkClick r:id="rId3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6082" name="AutoShape 3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6083" name="AutoShape 4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6084" name="AutoShape 5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696328" name="Object 8"/>
          <p:cNvGraphicFramePr>
            <a:graphicFrameLocks noChangeAspect="1"/>
          </p:cNvGraphicFramePr>
          <p:nvPr/>
        </p:nvGraphicFramePr>
        <p:xfrm>
          <a:off x="900113" y="2060575"/>
          <a:ext cx="7500937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013075" imgH="1470660" progId="Equation.3">
                  <p:embed/>
                </p:oleObj>
              </mc:Choice>
              <mc:Fallback>
                <p:oleObj r:id="rId4" imgW="3013075" imgH="147066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2060575"/>
                        <a:ext cx="7500937" cy="3697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29" name="Object 9"/>
          <p:cNvGraphicFramePr>
            <a:graphicFrameLocks noChangeAspect="1"/>
          </p:cNvGraphicFramePr>
          <p:nvPr/>
        </p:nvGraphicFramePr>
        <p:xfrm>
          <a:off x="684213" y="1268413"/>
          <a:ext cx="82010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299460" imgH="193040" progId="Equation.3">
                  <p:embed/>
                </p:oleObj>
              </mc:Choice>
              <mc:Fallback>
                <p:oleObj r:id="rId6" imgW="3299460" imgH="19304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1268413"/>
                        <a:ext cx="8201025" cy="566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30" name="Rectangle 10"/>
          <p:cNvSpPr/>
          <p:nvPr/>
        </p:nvSpPr>
        <p:spPr>
          <a:xfrm>
            <a:off x="323850" y="620713"/>
            <a:ext cx="4968875" cy="576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）函数值的转换（略）</a:t>
            </a:r>
            <a:r>
              <a:rPr lang="zh-CN" alt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3"/>
          <p:cNvSpPr/>
          <p:nvPr/>
        </p:nvSpPr>
        <p:spPr>
          <a:xfrm>
            <a:off x="4067175" y="2636838"/>
            <a:ext cx="316865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1.8</a:t>
            </a:r>
          </a:p>
        </p:txBody>
      </p:sp>
      <p:sp>
        <p:nvSpPr>
          <p:cNvPr id="667654" name="Text Box 6"/>
          <p:cNvSpPr txBox="1"/>
          <p:nvPr/>
        </p:nvSpPr>
        <p:spPr>
          <a:xfrm>
            <a:off x="3924300" y="1773238"/>
            <a:ext cx="28082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FFB7B7"/>
                </a:solidFill>
                <a:latin typeface="Times New Roman" panose="02020603050405020304" pitchFamily="18" charset="0"/>
                <a:ea typeface="楷体_GB2312" pitchFamily="49" charset="-122"/>
              </a:rPr>
              <a:t>作业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5ZGI1MDEzODM3NTRlMzM1MDZjZWE4NTNjMWYxM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208,&quot;width&quot;:14955}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5973</TotalTime>
  <Words>890</Words>
  <Application>Microsoft Office PowerPoint</Application>
  <PresentationFormat>全屏显示(4:3)</PresentationFormat>
  <Paragraphs>249</Paragraphs>
  <Slides>24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楷体_GB2312</vt:lpstr>
      <vt:lpstr>隶书</vt:lpstr>
      <vt:lpstr>宋体</vt:lpstr>
      <vt:lpstr>幼圆</vt:lpstr>
      <vt:lpstr>Arial</vt:lpstr>
      <vt:lpstr>Symbol</vt:lpstr>
      <vt:lpstr>Times New Roman</vt:lpstr>
      <vt:lpstr>Wingdings</vt:lpstr>
      <vt:lpstr>1_默认设计模板</vt:lpstr>
      <vt:lpstr>Equation.3</vt:lpstr>
      <vt:lpstr>Equation.DSMT4</vt:lpstr>
      <vt:lpstr>Visio.Drawing.11</vt:lpstr>
      <vt:lpstr>PowerPoint 演示文稿</vt:lpstr>
      <vt:lpstr>PowerPoint 演示文稿</vt:lpstr>
      <vt:lpstr>1.1  矢量代数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  三种常用的正交曲线坐标系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1401</cp:revision>
  <dcterms:created xsi:type="dcterms:W3CDTF">2004-02-10T07:06:00Z</dcterms:created>
  <dcterms:modified xsi:type="dcterms:W3CDTF">2025-10-28T05:58:15Z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4A58E105F38F4630911501450C2E99AF</vt:lpwstr>
  </property>
  <property fmtid="{D5CDD505-2E9C-101B-9397-08002B2CF9AE}" pid="3" name="KSOProductBuildVer">
    <vt:lpwstr>2052-11.1.0.12358</vt:lpwstr>
  </property>
</Properties>
</file>